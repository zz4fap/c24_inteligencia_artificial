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2" r:id="rId2"/>
    <p:sldId id="257" r:id="rId3"/>
    <p:sldId id="258" r:id="rId4"/>
    <p:sldId id="259" r:id="rId5"/>
    <p:sldId id="273" r:id="rId6"/>
    <p:sldId id="260" r:id="rId7"/>
    <p:sldId id="270" r:id="rId8"/>
    <p:sldId id="271" r:id="rId9"/>
    <p:sldId id="274" r:id="rId10"/>
    <p:sldId id="275" r:id="rId11"/>
    <p:sldId id="276" r:id="rId12"/>
    <p:sldId id="277" r:id="rId13"/>
    <p:sldId id="281" r:id="rId14"/>
    <p:sldId id="280" r:id="rId15"/>
    <p:sldId id="282" r:id="rId16"/>
    <p:sldId id="278" r:id="rId17"/>
    <p:sldId id="279" r:id="rId1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9" d="100"/>
          <a:sy n="69" d="100"/>
        </p:scale>
        <p:origin x="75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AC5948-295E-41BB-AF2D-CF0178596AB8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44D4CA-00E6-44CA-9843-70925F602B6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9736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275851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err="1">
                <a:ea typeface="Calibri"/>
                <a:cs typeface="Calibri"/>
              </a:rPr>
              <a:t>Promover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avanços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nos</a:t>
            </a:r>
            <a:r>
              <a:rPr lang="en-US">
                <a:ea typeface="Calibri"/>
                <a:cs typeface="Calibri"/>
              </a:rPr>
              <a:t> campos das redes </a:t>
            </a:r>
            <a:r>
              <a:rPr lang="en-US" err="1">
                <a:ea typeface="Calibri"/>
                <a:cs typeface="Calibri"/>
              </a:rPr>
              <a:t>sem</a:t>
            </a:r>
            <a:r>
              <a:rPr lang="en-US">
                <a:ea typeface="Calibri"/>
                <a:cs typeface="Calibri"/>
              </a:rPr>
              <a:t> </a:t>
            </a:r>
            <a:r>
              <a:rPr lang="en-US" err="1">
                <a:ea typeface="Calibri"/>
                <a:cs typeface="Calibri"/>
              </a:rPr>
              <a:t>fio</a:t>
            </a:r>
            <a:r>
              <a:rPr lang="en-US">
                <a:ea typeface="Calibri"/>
                <a:cs typeface="Calibri"/>
              </a:rPr>
              <a:t> e </a:t>
            </a:r>
            <a:r>
              <a:rPr lang="en-US" err="1">
                <a:ea typeface="Calibri"/>
                <a:cs typeface="Calibri"/>
              </a:rPr>
              <a:t>inteligência</a:t>
            </a:r>
            <a:r>
              <a:rPr lang="en-US">
                <a:ea typeface="Calibri"/>
                <a:cs typeface="Calibri"/>
              </a:rPr>
              <a:t> artificial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06B94C-BD8B-450D-964E-9978D5554078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3073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44D4CA-00E6-44CA-9843-70925F602B6A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76358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44D4CA-00E6-44CA-9843-70925F602B6A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7218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1952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495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048003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52796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32961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1083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54872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7634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1885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7755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3163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E1868-566B-483E-BF8E-8AA790BE173D}" type="datetimeFigureOut">
              <a:rPr lang="pt-BR" smtClean="0"/>
              <a:t>23/02/2026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8D9D13-7D6B-4E08-8208-16E38100871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28443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felipe.figueiredo@Inatel.b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jpe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1767" y="836433"/>
            <a:ext cx="10906298" cy="2690156"/>
          </a:xfrm>
        </p:spPr>
        <p:txBody>
          <a:bodyPr anchor="ctr">
            <a:noAutofit/>
          </a:bodyPr>
          <a:lstStyle/>
          <a:p>
            <a:r>
              <a:rPr lang="pt-BR" sz="6600" dirty="0"/>
              <a:t>C24 - Inteligência Artificial:</a:t>
            </a:r>
            <a:r>
              <a:rPr lang="pt-BR" sz="7200" dirty="0"/>
              <a:t/>
            </a:r>
            <a:br>
              <a:rPr lang="pt-BR" sz="7200" dirty="0"/>
            </a:br>
            <a:r>
              <a:rPr lang="pt-BR" sz="7200" b="1" i="1" dirty="0"/>
              <a:t>Projetos selecionados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A. P. de Figueiredo</a:t>
            </a:r>
          </a:p>
          <a:p>
            <a:r>
              <a:rPr lang="pt-BR" dirty="0">
                <a:hlinkClick r:id="rId3"/>
              </a:rPr>
              <a:t>felipe.figueiredo@Inatel.br</a:t>
            </a:r>
            <a:endParaRPr lang="pt-BR" dirty="0"/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4965305" y="3439886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6579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DDEEE62-556D-1D9E-D6DA-2D6170733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laboratório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C58AF3A-EF39-F1E1-874C-C72D74487F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pt-BR" b="1" dirty="0">
                <a:solidFill>
                  <a:srgbClr val="0F1115"/>
                </a:solidFill>
              </a:rPr>
              <a:t>Wireless </a:t>
            </a:r>
            <a:r>
              <a:rPr lang="pt-BR" b="1" dirty="0" err="1">
                <a:solidFill>
                  <a:srgbClr val="0F1115"/>
                </a:solidFill>
              </a:rPr>
              <a:t>and</a:t>
            </a:r>
            <a:r>
              <a:rPr lang="pt-BR" b="1" dirty="0">
                <a:solidFill>
                  <a:srgbClr val="0F1115"/>
                </a:solidFill>
              </a:rPr>
              <a:t> Artificial </a:t>
            </a:r>
            <a:r>
              <a:rPr lang="pt-BR" b="1" dirty="0" err="1">
                <a:solidFill>
                  <a:srgbClr val="0F1115"/>
                </a:solidFill>
              </a:rPr>
              <a:t>Intelligence</a:t>
            </a:r>
            <a:r>
              <a:rPr lang="pt-BR" b="1" dirty="0">
                <a:solidFill>
                  <a:srgbClr val="0F1115"/>
                </a:solidFill>
              </a:rPr>
              <a:t> </a:t>
            </a:r>
            <a:r>
              <a:rPr lang="pt-BR" b="1" dirty="0" err="1">
                <a:solidFill>
                  <a:srgbClr val="0F1115"/>
                </a:solidFill>
              </a:rPr>
              <a:t>Laboratory</a:t>
            </a:r>
            <a:r>
              <a:rPr lang="pt-BR" b="1" dirty="0">
                <a:solidFill>
                  <a:srgbClr val="0F1115"/>
                </a:solidFill>
              </a:rPr>
              <a:t> (WAI </a:t>
            </a:r>
            <a:r>
              <a:rPr lang="pt-BR" b="1" dirty="0" err="1">
                <a:solidFill>
                  <a:srgbClr val="0F1115"/>
                </a:solidFill>
              </a:rPr>
              <a:t>Lab</a:t>
            </a:r>
            <a:r>
              <a:rPr lang="pt-BR" b="1" dirty="0">
                <a:solidFill>
                  <a:srgbClr val="0F1115"/>
                </a:solidFill>
              </a:rPr>
              <a:t>)</a:t>
            </a:r>
            <a:endParaRPr lang="pt-BR" dirty="0"/>
          </a:p>
          <a:p>
            <a:pPr marL="0" indent="0" algn="ctr">
              <a:lnSpc>
                <a:spcPct val="100000"/>
              </a:lnSpc>
              <a:buNone/>
            </a:pPr>
            <a:endParaRPr lang="pt-BR" sz="1200" dirty="0">
              <a:solidFill>
                <a:srgbClr val="0F1115"/>
              </a:solidFill>
            </a:endParaRPr>
          </a:p>
          <a:p>
            <a:pPr marL="0" indent="0" algn="ctr">
              <a:lnSpc>
                <a:spcPct val="100000"/>
              </a:lnSpc>
              <a:buNone/>
            </a:pPr>
            <a:r>
              <a:rPr lang="pt-BR" dirty="0">
                <a:solidFill>
                  <a:srgbClr val="0F1115"/>
                </a:solidFill>
              </a:rPr>
              <a:t>Comunicações Sem Fio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BR" dirty="0">
                <a:solidFill>
                  <a:srgbClr val="0F1115"/>
                </a:solidFill>
              </a:rPr>
              <a:t>+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pt-BR" dirty="0">
                <a:solidFill>
                  <a:srgbClr val="0F1115"/>
                </a:solidFill>
              </a:rPr>
              <a:t>Inteligência Artificial</a:t>
            </a:r>
          </a:p>
        </p:txBody>
      </p:sp>
      <p:pic>
        <p:nvPicPr>
          <p:cNvPr id="5" name="Imagem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27045" y="4675909"/>
            <a:ext cx="6137910" cy="182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7218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462F6F1-1EC8-7595-AE7C-1AFF97D434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CCD7435-A80E-9553-384F-E3BB9619D5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Áreas de pesquisa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35B9097-2937-DDAD-E0C3-FED3B0EBFC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pt-BR" dirty="0"/>
              <a:t>ML na borda (</a:t>
            </a:r>
            <a:r>
              <a:rPr lang="pt-BR" dirty="0" err="1"/>
              <a:t>EdgeML</a:t>
            </a:r>
            <a:r>
              <a:rPr lang="pt-BR" dirty="0"/>
              <a:t>) e IoT</a:t>
            </a:r>
          </a:p>
          <a:p>
            <a:r>
              <a:rPr lang="pt-BR" dirty="0"/>
              <a:t>Visão </a:t>
            </a:r>
            <a:r>
              <a:rPr lang="pt-BR" dirty="0" smtClean="0"/>
              <a:t>computacional </a:t>
            </a:r>
            <a:r>
              <a:rPr lang="pt-BR" dirty="0"/>
              <a:t>(embarcada)</a:t>
            </a:r>
          </a:p>
          <a:p>
            <a:r>
              <a:rPr lang="pt-BR" dirty="0"/>
              <a:t>Sistemas de </a:t>
            </a:r>
            <a:r>
              <a:rPr lang="pt-BR" dirty="0" smtClean="0"/>
              <a:t>antenas </a:t>
            </a:r>
            <a:r>
              <a:rPr lang="pt-BR" dirty="0"/>
              <a:t>r</a:t>
            </a:r>
            <a:r>
              <a:rPr lang="pt-BR" dirty="0" smtClean="0"/>
              <a:t>econfiguráveis</a:t>
            </a:r>
            <a:endParaRPr lang="pt-BR" dirty="0"/>
          </a:p>
          <a:p>
            <a:r>
              <a:rPr lang="pt-BR" dirty="0"/>
              <a:t>Sistemas com múltiplas antenas</a:t>
            </a:r>
          </a:p>
          <a:p>
            <a:r>
              <a:rPr lang="pt-BR" dirty="0"/>
              <a:t>Transferência de energia sem </a:t>
            </a:r>
            <a:r>
              <a:rPr lang="pt-BR" dirty="0" smtClean="0"/>
              <a:t>fio</a:t>
            </a:r>
            <a:endParaRPr lang="pt-BR" dirty="0"/>
          </a:p>
          <a:p>
            <a:r>
              <a:rPr lang="pt-BR" dirty="0"/>
              <a:t>IA aplicada a problemas de </a:t>
            </a:r>
            <a:r>
              <a:rPr lang="pt-BR" dirty="0" err="1"/>
              <a:t>telecom</a:t>
            </a:r>
            <a:endParaRPr lang="pt-BR" dirty="0"/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6493" y="1690688"/>
            <a:ext cx="3057307" cy="2540776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09148" y="4618926"/>
            <a:ext cx="4639522" cy="2239074"/>
          </a:xfrm>
          <a:prstGeom prst="rect">
            <a:avLst/>
          </a:prstGeom>
        </p:spPr>
      </p:pic>
      <p:pic>
        <p:nvPicPr>
          <p:cNvPr id="9" name="Imagem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587" y="4899484"/>
            <a:ext cx="3188208" cy="1938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316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17B18462-FA2D-4E56-C4F8-8B892F715B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B1CD0BC-35C3-6D5A-8567-751DB88AA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Parcerias</a:t>
            </a:r>
            <a:endParaRPr lang="en-US" dirty="0"/>
          </a:p>
        </p:txBody>
      </p:sp>
      <p:pic>
        <p:nvPicPr>
          <p:cNvPr id="10" name="Content Placeholder 9" descr="A black background with pink and red diamonds&#10;&#10;AI-generated content may be incorrect.">
            <a:extLst>
              <a:ext uri="{FF2B5EF4-FFF2-40B4-BE49-F238E27FC236}">
                <a16:creationId xmlns:a16="http://schemas.microsoft.com/office/drawing/2014/main" xmlns="" id="{063CCDCE-8D25-3EAF-49BF-D2C9EAC9F3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56475" y="1797827"/>
            <a:ext cx="2209482" cy="969966"/>
          </a:xfrm>
          <a:prstGeom prst="rect">
            <a:avLst/>
          </a:prstGeom>
        </p:spPr>
      </p:pic>
      <p:pic>
        <p:nvPicPr>
          <p:cNvPr id="16" name="Picture 15" descr="A logo with a shield and text&#10;&#10;AI-generated content may be incorrect.">
            <a:extLst>
              <a:ext uri="{FF2B5EF4-FFF2-40B4-BE49-F238E27FC236}">
                <a16:creationId xmlns:a16="http://schemas.microsoft.com/office/drawing/2014/main" xmlns="" id="{68207325-02D5-CDEE-481E-A8C24F5FE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057" y="1465973"/>
            <a:ext cx="1906363" cy="1887487"/>
          </a:xfrm>
          <a:prstGeom prst="rect">
            <a:avLst/>
          </a:prstGeom>
        </p:spPr>
      </p:pic>
      <p:pic>
        <p:nvPicPr>
          <p:cNvPr id="3" name="Picture 2" descr="A green and yellow text on a black background&#10;&#10;AI-generated content may be incorrect.">
            <a:extLst>
              <a:ext uri="{FF2B5EF4-FFF2-40B4-BE49-F238E27FC236}">
                <a16:creationId xmlns:a16="http://schemas.microsoft.com/office/drawing/2014/main" xmlns="" id="{20DBE42B-648A-5925-82E2-2B3396433C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96496" y="3560636"/>
            <a:ext cx="1925411" cy="699409"/>
          </a:xfrm>
          <a:prstGeom prst="rect">
            <a:avLst/>
          </a:prstGeom>
        </p:spPr>
      </p:pic>
      <p:pic>
        <p:nvPicPr>
          <p:cNvPr id="4" name="Picture 3" descr="A logo with red dots and black lines&#10;&#10;AI-generated content may be incorrect.">
            <a:extLst>
              <a:ext uri="{FF2B5EF4-FFF2-40B4-BE49-F238E27FC236}">
                <a16:creationId xmlns:a16="http://schemas.microsoft.com/office/drawing/2014/main" xmlns="" id="{5E978759-3D4B-05B4-09E6-79679A589A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43106" y="5166631"/>
            <a:ext cx="1666876" cy="850448"/>
          </a:xfrm>
          <a:prstGeom prst="rect">
            <a:avLst/>
          </a:prstGeom>
        </p:spPr>
      </p:pic>
      <p:pic>
        <p:nvPicPr>
          <p:cNvPr id="5" name="Picture 4" descr="A purple and black letter&#10;&#10;AI-generated content may be incorrect.">
            <a:extLst>
              <a:ext uri="{FF2B5EF4-FFF2-40B4-BE49-F238E27FC236}">
                <a16:creationId xmlns:a16="http://schemas.microsoft.com/office/drawing/2014/main" xmlns="" id="{47E06371-C825-779C-B203-AFFE04F7EB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33832" y="5498324"/>
            <a:ext cx="2462893" cy="360590"/>
          </a:xfrm>
          <a:prstGeom prst="rect">
            <a:avLst/>
          </a:prstGeom>
        </p:spPr>
      </p:pic>
      <p:pic>
        <p:nvPicPr>
          <p:cNvPr id="6" name="Picture 5" descr="A logo with blue and green squares&#10;&#10;AI-generated content may be incorrect.">
            <a:extLst>
              <a:ext uri="{FF2B5EF4-FFF2-40B4-BE49-F238E27FC236}">
                <a16:creationId xmlns:a16="http://schemas.microsoft.com/office/drawing/2014/main" xmlns="" id="{5B4B8A5A-F4E2-A8D7-1A33-EB108C1EC47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50419" y="5166631"/>
            <a:ext cx="942976" cy="862694"/>
          </a:xfrm>
          <a:prstGeom prst="rect">
            <a:avLst/>
          </a:prstGeom>
        </p:spPr>
      </p:pic>
      <p:pic>
        <p:nvPicPr>
          <p:cNvPr id="7" name="Picture 6" descr="A black and white logo&#10;&#10;AI-generated content may be incorrect.">
            <a:extLst>
              <a:ext uri="{FF2B5EF4-FFF2-40B4-BE49-F238E27FC236}">
                <a16:creationId xmlns:a16="http://schemas.microsoft.com/office/drawing/2014/main" xmlns="" id="{4A0B2E5F-C318-0CBD-5E53-366FC148A44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914659" y="1690688"/>
            <a:ext cx="2721430" cy="979715"/>
          </a:xfrm>
          <a:prstGeom prst="rect">
            <a:avLst/>
          </a:prstGeom>
        </p:spPr>
      </p:pic>
      <p:pic>
        <p:nvPicPr>
          <p:cNvPr id="9" name="Picture 8" descr="A blue text on a black background&#10;&#10;AI-generated content may be incorrect.">
            <a:extLst>
              <a:ext uri="{FF2B5EF4-FFF2-40B4-BE49-F238E27FC236}">
                <a16:creationId xmlns:a16="http://schemas.microsoft.com/office/drawing/2014/main" xmlns="" id="{6A2368CF-F895-D9E2-86AB-D814BC1E0DB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88829" y="3179507"/>
            <a:ext cx="1657350" cy="1477737"/>
          </a:xfrm>
          <a:prstGeom prst="rect">
            <a:avLst/>
          </a:prstGeom>
        </p:spPr>
      </p:pic>
      <p:pic>
        <p:nvPicPr>
          <p:cNvPr id="13" name="Picture 12" descr="A logo of a university&#10;&#10;AI-generated content may be incorrect.">
            <a:extLst>
              <a:ext uri="{FF2B5EF4-FFF2-40B4-BE49-F238E27FC236}">
                <a16:creationId xmlns:a16="http://schemas.microsoft.com/office/drawing/2014/main" xmlns="" id="{3554F3EF-2B0B-7F22-CE87-214779F21CE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75954" y="3163661"/>
            <a:ext cx="1231448" cy="1238251"/>
          </a:xfrm>
          <a:prstGeom prst="rect">
            <a:avLst/>
          </a:prstGeom>
        </p:spPr>
      </p:pic>
      <p:pic>
        <p:nvPicPr>
          <p:cNvPr id="1026" name="Picture 2" descr="Universidade Metropolitana de Toronto – Wikipédia, a enciclopédia livre"/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9131" y="3384777"/>
            <a:ext cx="1964170" cy="1067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260741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Oportunidades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1007436" cy="4351338"/>
          </a:xfrm>
        </p:spPr>
        <p:txBody>
          <a:bodyPr/>
          <a:lstStyle/>
          <a:p>
            <a:r>
              <a:rPr lang="pt-BR" dirty="0"/>
              <a:t>Bolsas de estudo (IC, mestrado e doutorado)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Bolsas de IC regulares e diferenciadas </a:t>
            </a:r>
          </a:p>
          <a:p>
            <a:r>
              <a:rPr lang="pt-BR" dirty="0"/>
              <a:t>Bolsas complementação</a:t>
            </a:r>
          </a:p>
          <a:p>
            <a:r>
              <a:rPr lang="pt-BR" dirty="0"/>
              <a:t>Estágio (não-)remunerado com assinatura das horas obrigatórias</a:t>
            </a:r>
          </a:p>
          <a:p>
            <a:r>
              <a:rPr lang="pt-BR" dirty="0"/>
              <a:t>Visitas técnicas às instituições parceiras</a:t>
            </a:r>
          </a:p>
          <a:p>
            <a:r>
              <a:rPr lang="pt-BR" dirty="0"/>
              <a:t>Doutorado sanduíche nas instituições parceiras</a:t>
            </a:r>
          </a:p>
          <a:p>
            <a:r>
              <a:rPr lang="pt-BR" dirty="0"/>
              <a:t>Doutorado em </a:t>
            </a:r>
            <a:r>
              <a:rPr lang="pt-BR" dirty="0" err="1"/>
              <a:t>co-titulação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69411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9D6A4AD-1DE2-5360-01E8-4E42DB9A88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5" y="2688095"/>
            <a:ext cx="12191855" cy="1478570"/>
          </a:xfrm>
        </p:spPr>
        <p:txBody>
          <a:bodyPr>
            <a:normAutofit/>
          </a:bodyPr>
          <a:lstStyle/>
          <a:p>
            <a:pPr algn="ctr"/>
            <a:r>
              <a:rPr lang="pt-BR" sz="5400" dirty="0">
                <a:latin typeface="+mn-lt"/>
              </a:rPr>
              <a:t>Projetos selecionados</a:t>
            </a:r>
          </a:p>
        </p:txBody>
      </p:sp>
    </p:spTree>
    <p:extLst>
      <p:ext uri="{BB962C8B-B14F-4D97-AF65-F5344CB8AC3E}">
        <p14:creationId xmlns:p14="http://schemas.microsoft.com/office/powerpoint/2010/main" val="3604022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Detecção de incêndios florestais</a:t>
            </a:r>
            <a:br>
              <a:rPr lang="pt-BR" dirty="0"/>
            </a:br>
            <a:r>
              <a:rPr lang="pt-BR" sz="2400" dirty="0" err="1"/>
              <a:t>IoT</a:t>
            </a:r>
            <a:r>
              <a:rPr lang="pt-BR" sz="2400" dirty="0"/>
              <a:t> + VC + </a:t>
            </a:r>
            <a:r>
              <a:rPr lang="pt-BR" sz="2400" dirty="0" err="1"/>
              <a:t>LoRA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199" y="1825625"/>
            <a:ext cx="11229109" cy="3425248"/>
          </a:xfrm>
        </p:spPr>
        <p:txBody>
          <a:bodyPr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Objetivo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: desenvolver um sistema de </a:t>
            </a: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baixo custo e consumo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 que opere em </a:t>
            </a: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tempo real 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e use uma </a:t>
            </a: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câmera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simples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 e uma </a:t>
            </a:r>
            <a:r>
              <a:rPr lang="pt-BR" sz="2000" dirty="0" err="1">
                <a:solidFill>
                  <a:srgbClr val="0F1115"/>
                </a:solidFill>
                <a:ea typeface="+mn-lt"/>
                <a:cs typeface="+mn-lt"/>
              </a:rPr>
              <a:t>Raspberry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pt-BR" sz="2000" dirty="0" err="1">
                <a:solidFill>
                  <a:srgbClr val="0F1115"/>
                </a:solidFill>
                <a:ea typeface="+mn-lt"/>
                <a:cs typeface="+mn-lt"/>
              </a:rPr>
              <a:t>Pi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 Pico ou ESP32 para identificação de incêndios.</a:t>
            </a:r>
            <a:endParaRPr lang="pt-BR" sz="2000" dirty="0">
              <a:ea typeface="+mn-lt"/>
              <a:cs typeface="+mn-lt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Como funciona:</a:t>
            </a:r>
            <a:endParaRPr lang="pt-BR" sz="2000" dirty="0"/>
          </a:p>
          <a:p>
            <a:pPr>
              <a:lnSpc>
                <a:spcPct val="100000"/>
              </a:lnSpc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A câmera captura imagens do ambiente.</a:t>
            </a:r>
            <a:endParaRPr lang="pt-BR" sz="2000" dirty="0"/>
          </a:p>
          <a:p>
            <a:pPr>
              <a:lnSpc>
                <a:spcPct val="100000"/>
              </a:lnSpc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O modelo de IA, otimizado para o dispositivo, analisa as imagens para identificar a presença de fogo.</a:t>
            </a:r>
            <a:endParaRPr lang="pt-BR" sz="2000" dirty="0"/>
          </a:p>
          <a:p>
            <a:pPr>
              <a:lnSpc>
                <a:spcPct val="100000"/>
              </a:lnSpc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Se um incêndio é detectado, um alerta é enviado automaticamente via rádio (</a:t>
            </a:r>
            <a:r>
              <a:rPr lang="pt-BR" sz="2000" dirty="0" err="1">
                <a:solidFill>
                  <a:srgbClr val="0F1115"/>
                </a:solidFill>
                <a:ea typeface="+mn-lt"/>
                <a:cs typeface="+mn-lt"/>
              </a:rPr>
              <a:t>LoRa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), que transmite a longas distâncias com baixo consumo de energia.</a:t>
            </a:r>
            <a:endParaRPr lang="pt-BR" sz="20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7E635054-5A8A-3A5A-DA2A-074A2D3C87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5624" y="4923861"/>
            <a:ext cx="6297284" cy="1869824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8CC604FE-B905-5124-B99A-D59971A64A75}"/>
              </a:ext>
            </a:extLst>
          </p:cNvPr>
          <p:cNvSpPr txBox="1"/>
          <p:nvPr/>
        </p:nvSpPr>
        <p:spPr>
          <a:xfrm>
            <a:off x="641230" y="5155721"/>
            <a:ext cx="2958860" cy="83099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600" dirty="0" err="1">
                <a:solidFill>
                  <a:srgbClr val="0F1115"/>
                </a:solidFill>
              </a:rPr>
              <a:t>Pode</a:t>
            </a:r>
            <a:r>
              <a:rPr lang="en-US" sz="1600" dirty="0">
                <a:solidFill>
                  <a:srgbClr val="0F1115"/>
                </a:solidFill>
              </a:rPr>
              <a:t> </a:t>
            </a:r>
            <a:r>
              <a:rPr lang="en-US" sz="1600" dirty="0" err="1">
                <a:solidFill>
                  <a:srgbClr val="0F1115"/>
                </a:solidFill>
              </a:rPr>
              <a:t>ser</a:t>
            </a:r>
            <a:r>
              <a:rPr lang="en-US" sz="1600" dirty="0">
                <a:solidFill>
                  <a:srgbClr val="0F1115"/>
                </a:solidFill>
              </a:rPr>
              <a:t> </a:t>
            </a:r>
            <a:r>
              <a:rPr lang="en-US" sz="1600" dirty="0" err="1">
                <a:solidFill>
                  <a:srgbClr val="0F1115"/>
                </a:solidFill>
              </a:rPr>
              <a:t>adaptado</a:t>
            </a:r>
            <a:r>
              <a:rPr lang="en-US" sz="1600" dirty="0">
                <a:solidFill>
                  <a:srgbClr val="0F1115"/>
                </a:solidFill>
              </a:rPr>
              <a:t> para outros </a:t>
            </a:r>
            <a:r>
              <a:rPr lang="en-US" sz="1600" dirty="0" err="1">
                <a:solidFill>
                  <a:srgbClr val="0F1115"/>
                </a:solidFill>
              </a:rPr>
              <a:t>usos</a:t>
            </a:r>
            <a:r>
              <a:rPr lang="en-US" sz="1600" dirty="0">
                <a:solidFill>
                  <a:srgbClr val="0F1115"/>
                </a:solidFill>
              </a:rPr>
              <a:t>, </a:t>
            </a:r>
            <a:r>
              <a:rPr lang="en-US" sz="1600" dirty="0" err="1">
                <a:solidFill>
                  <a:srgbClr val="0F1115"/>
                </a:solidFill>
              </a:rPr>
              <a:t>como</a:t>
            </a:r>
            <a:r>
              <a:rPr lang="en-US" sz="1600" dirty="0">
                <a:solidFill>
                  <a:srgbClr val="0F1115"/>
                </a:solidFill>
              </a:rPr>
              <a:t> </a:t>
            </a:r>
            <a:r>
              <a:rPr lang="en-US" sz="1600" b="1" dirty="0" err="1">
                <a:solidFill>
                  <a:srgbClr val="0F1115"/>
                </a:solidFill>
              </a:rPr>
              <a:t>monitoramento</a:t>
            </a:r>
            <a:r>
              <a:rPr lang="en-US" sz="1600" b="1" dirty="0">
                <a:solidFill>
                  <a:srgbClr val="0F1115"/>
                </a:solidFill>
              </a:rPr>
              <a:t> de </a:t>
            </a:r>
            <a:r>
              <a:rPr lang="en-US" sz="1600" b="1" dirty="0" err="1">
                <a:solidFill>
                  <a:srgbClr val="0F1115"/>
                </a:solidFill>
              </a:rPr>
              <a:t>lavouras</a:t>
            </a:r>
            <a:r>
              <a:rPr lang="en-US" sz="1600" b="1" dirty="0">
                <a:solidFill>
                  <a:srgbClr val="0F1115"/>
                </a:solidFill>
              </a:rPr>
              <a:t> e </a:t>
            </a:r>
            <a:r>
              <a:rPr lang="en-US" sz="1600" b="1" dirty="0" err="1">
                <a:solidFill>
                  <a:srgbClr val="0F1115"/>
                </a:solidFill>
              </a:rPr>
              <a:t>segurança</a:t>
            </a:r>
            <a:r>
              <a:rPr lang="en-US" sz="1600" b="1" dirty="0">
                <a:solidFill>
                  <a:srgbClr val="0F1115"/>
                </a:solidFill>
              </a:rPr>
              <a:t> industrial</a:t>
            </a:r>
            <a:r>
              <a:rPr lang="en-US" sz="1600" dirty="0">
                <a:solidFill>
                  <a:srgbClr val="0F1115"/>
                </a:solidFill>
              </a:rPr>
              <a:t>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9055093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Gestão</a:t>
            </a:r>
            <a:r>
              <a:rPr lang="pt-BR" dirty="0">
                <a:ea typeface="+mj-lt"/>
                <a:cs typeface="+mj-lt"/>
              </a:rPr>
              <a:t> inteligente de tráfego</a:t>
            </a:r>
            <a:br>
              <a:rPr lang="pt-BR" dirty="0">
                <a:ea typeface="+mj-lt"/>
                <a:cs typeface="+mj-lt"/>
              </a:rPr>
            </a:br>
            <a:r>
              <a:rPr lang="pt-BR" sz="2400" dirty="0" err="1"/>
              <a:t>IoT</a:t>
            </a:r>
            <a:r>
              <a:rPr lang="pt-BR" sz="2400" dirty="0"/>
              <a:t> + </a:t>
            </a:r>
            <a:r>
              <a:rPr lang="pt-BR" sz="2400" dirty="0" smtClean="0"/>
              <a:t>VC + </a:t>
            </a:r>
            <a:r>
              <a:rPr lang="pt-BR" sz="2400" dirty="0" err="1" smtClean="0"/>
              <a:t>Smart</a:t>
            </a:r>
            <a:r>
              <a:rPr lang="pt-BR" sz="2400" dirty="0" smtClean="0"/>
              <a:t> </a:t>
            </a:r>
            <a:r>
              <a:rPr lang="pt-BR" sz="2400" dirty="0" err="1" smtClean="0"/>
              <a:t>Cities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292436" y="1825624"/>
            <a:ext cx="6788728" cy="5032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000" b="1" dirty="0" err="1">
                <a:solidFill>
                  <a:srgbClr val="0F1115"/>
                </a:solidFill>
                <a:ea typeface="+mn-lt"/>
                <a:cs typeface="+mn-lt"/>
              </a:rPr>
              <a:t>Objetivo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: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desenvolver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um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sistema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embarcado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baixo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custo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que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ajude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reduzir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acidentes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melhorar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segurança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no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trânsito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pt-BR" sz="2000" dirty="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buNone/>
            </a:pPr>
            <a:r>
              <a:rPr lang="en-US" sz="2000" b="1" dirty="0">
                <a:solidFill>
                  <a:srgbClr val="0F1115"/>
                </a:solidFill>
                <a:ea typeface="+mn-lt"/>
                <a:cs typeface="+mn-lt"/>
              </a:rPr>
              <a:t>Como </a:t>
            </a:r>
            <a:r>
              <a:rPr lang="en-US" sz="2000" b="1" dirty="0" err="1">
                <a:solidFill>
                  <a:srgbClr val="0F1115"/>
                </a:solidFill>
                <a:ea typeface="+mn-lt"/>
                <a:cs typeface="+mn-lt"/>
              </a:rPr>
              <a:t>funciona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:</a:t>
            </a: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Uma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câmera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instalada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em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via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pública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utiliza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 IA para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detectar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veículos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placas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pedestres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O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sistema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calcula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velocidade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dos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veículos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distância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entre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eles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pedestres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Identifica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automaticamente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infrações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como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excesso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 smtClean="0">
                <a:solidFill>
                  <a:srgbClr val="0F1115"/>
                </a:solidFill>
                <a:ea typeface="+mn-lt"/>
                <a:cs typeface="+mn-lt"/>
              </a:rPr>
              <a:t>velocidade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e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 smtClean="0">
                <a:solidFill>
                  <a:srgbClr val="0F1115"/>
                </a:solidFill>
                <a:ea typeface="+mn-lt"/>
                <a:cs typeface="+mn-lt"/>
              </a:rPr>
              <a:t>colisões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sz="2000" dirty="0" err="1" smtClean="0">
                <a:solidFill>
                  <a:srgbClr val="0F1115"/>
                </a:solidFill>
                <a:ea typeface="+mn-lt"/>
                <a:cs typeface="+mn-lt"/>
              </a:rPr>
              <a:t>além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 smtClean="0">
                <a:solidFill>
                  <a:srgbClr val="0F1115"/>
                </a:solidFill>
                <a:ea typeface="+mn-lt"/>
                <a:cs typeface="+mn-lt"/>
              </a:rPr>
              <a:t>identificar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 smtClean="0">
                <a:solidFill>
                  <a:srgbClr val="0F1115"/>
                </a:solidFill>
                <a:ea typeface="+mn-lt"/>
                <a:cs typeface="+mn-lt"/>
              </a:rPr>
              <a:t>colisões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 smtClean="0">
                <a:solidFill>
                  <a:srgbClr val="0F1115"/>
                </a:solidFill>
                <a:ea typeface="+mn-lt"/>
                <a:cs typeface="+mn-lt"/>
              </a:rPr>
              <a:t>eminentes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en-US" sz="2000" dirty="0">
              <a:solidFill>
                <a:srgbClr val="0F1115"/>
              </a:solidFill>
              <a:ea typeface="+mn-lt"/>
              <a:cs typeface="+mn-lt"/>
            </a:endParaRP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Faz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análise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do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contexto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das imagens via LLM (</a:t>
            </a:r>
            <a:r>
              <a:rPr lang="en-US" sz="2000" i="1" dirty="0" err="1">
                <a:solidFill>
                  <a:srgbClr val="0F1115"/>
                </a:solidFill>
                <a:ea typeface="+mn-lt"/>
                <a:cs typeface="+mn-lt"/>
              </a:rPr>
              <a:t>gemini</a:t>
            </a:r>
            <a:r>
              <a:rPr lang="en-US" sz="2000" i="1" dirty="0">
                <a:solidFill>
                  <a:srgbClr val="0F1115"/>
                </a:solidFill>
                <a:ea typeface="+mn-lt"/>
                <a:cs typeface="+mn-lt"/>
              </a:rPr>
              <a:t> flash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).</a:t>
            </a:r>
          </a:p>
          <a:p>
            <a:pPr>
              <a:lnSpc>
                <a:spcPct val="100000"/>
              </a:lnSpc>
              <a:spcBef>
                <a:spcPts val="800"/>
              </a:spcBef>
              <a:buFont typeface="Arial"/>
              <a:buChar char="•"/>
            </a:pP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dados </a:t>
            </a:r>
            <a:r>
              <a:rPr lang="en-US" sz="2000" dirty="0" err="1" smtClean="0">
                <a:solidFill>
                  <a:srgbClr val="0F1115"/>
                </a:solidFill>
                <a:ea typeface="+mn-lt"/>
                <a:cs typeface="+mn-lt"/>
              </a:rPr>
              <a:t>são</a:t>
            </a:r>
            <a:r>
              <a:rPr lang="en-US" sz="2000" dirty="0" smtClean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processados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localmente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enviados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para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uma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central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gestão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controle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</a:p>
        </p:txBody>
      </p:sp>
      <p:pic>
        <p:nvPicPr>
          <p:cNvPr id="4" name="Imagem 3" descr="Diagrama, Aplicativo&#10;&#10;O conteúdo gerado por IA pode estar incorreto.">
            <a:extLst>
              <a:ext uri="{FF2B5EF4-FFF2-40B4-BE49-F238E27FC236}">
                <a16:creationId xmlns:a16="http://schemas.microsoft.com/office/drawing/2014/main" xmlns="" id="{C2FB7C01-48EA-3BAA-D62D-C1F244A74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545" y="2266393"/>
            <a:ext cx="5056909" cy="3728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4406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/>
              <a:t>Detecção</a:t>
            </a:r>
            <a:r>
              <a:rPr lang="en-US" dirty="0"/>
              <a:t> de </a:t>
            </a:r>
            <a:r>
              <a:rPr lang="en-US" dirty="0" err="1"/>
              <a:t>comportamentos</a:t>
            </a:r>
            <a:r>
              <a:rPr lang="en-US" dirty="0"/>
              <a:t> de </a:t>
            </a:r>
            <a:r>
              <a:rPr lang="en-US" dirty="0" err="1"/>
              <a:t>risco</a:t>
            </a:r>
            <a:r>
              <a:rPr lang="en-US" dirty="0"/>
              <a:t> </a:t>
            </a:r>
            <a:r>
              <a:rPr lang="en-US" dirty="0" err="1"/>
              <a:t>ao</a:t>
            </a:r>
            <a:r>
              <a:rPr lang="en-US" dirty="0"/>
              <a:t> volante</a:t>
            </a:r>
            <a:br>
              <a:rPr lang="en-US" dirty="0"/>
            </a:br>
            <a:r>
              <a:rPr lang="en-US" sz="2700" dirty="0" err="1"/>
              <a:t>IoT</a:t>
            </a:r>
            <a:r>
              <a:rPr lang="en-US" sz="2700" dirty="0"/>
              <a:t> + VC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847582" y="1825624"/>
            <a:ext cx="6344417" cy="5032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900"/>
              </a:spcBef>
              <a:buNone/>
            </a:pPr>
            <a:r>
              <a:rPr lang="en-US" sz="2000" b="1" dirty="0" err="1">
                <a:solidFill>
                  <a:srgbClr val="0F1115"/>
                </a:solidFill>
                <a:ea typeface="+mn-lt"/>
                <a:cs typeface="+mn-lt"/>
              </a:rPr>
              <a:t>Objetivo</a:t>
            </a:r>
            <a:r>
              <a:rPr lang="en-US" sz="2000" b="1" dirty="0">
                <a:solidFill>
                  <a:srgbClr val="0F1115"/>
                </a:solidFill>
                <a:ea typeface="+mn-lt"/>
                <a:cs typeface="+mn-lt"/>
              </a:rPr>
              <a:t>: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desenvolver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um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sistema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embarcado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baixo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custo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para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detectar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comportamentos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risco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como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 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sonolência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uso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celular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,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fumo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falta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do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cinto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segurança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, para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reduzir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acidentes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pt-BR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F1115"/>
                </a:solidFill>
                <a:ea typeface="+mn-lt"/>
                <a:cs typeface="+mn-lt"/>
              </a:rPr>
              <a:t>Como </a:t>
            </a:r>
            <a:r>
              <a:rPr lang="en-US" sz="2000" b="1" dirty="0" err="1">
                <a:solidFill>
                  <a:srgbClr val="0F1115"/>
                </a:solidFill>
                <a:ea typeface="+mn-lt"/>
                <a:cs typeface="+mn-lt"/>
              </a:rPr>
              <a:t>funciona</a:t>
            </a:r>
            <a:r>
              <a:rPr lang="en-US" sz="2000" b="1" dirty="0">
                <a:solidFill>
                  <a:srgbClr val="0F1115"/>
                </a:solidFill>
                <a:ea typeface="+mn-lt"/>
                <a:cs typeface="+mn-lt"/>
              </a:rPr>
              <a:t>:</a:t>
            </a: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Uma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câmera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filma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o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motorista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em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tempo real.</a:t>
            </a: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Um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comitê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modelos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 IA,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rodando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em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uma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Raspberry Pi,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analisa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o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vídeo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para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identificar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comportamentos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de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risco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en-US" sz="2000" dirty="0">
              <a:ea typeface="+mn-lt"/>
              <a:cs typeface="+mn-lt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Alertas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sonoros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ou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visuais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são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acionados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sempre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que um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risco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 é </a:t>
            </a:r>
            <a:r>
              <a:rPr lang="en-US" sz="2000" dirty="0" err="1">
                <a:solidFill>
                  <a:srgbClr val="0F1115"/>
                </a:solidFill>
                <a:ea typeface="+mn-lt"/>
                <a:cs typeface="+mn-lt"/>
              </a:rPr>
              <a:t>detectado</a:t>
            </a:r>
            <a:r>
              <a:rPr lang="en-US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en-US" sz="2000" dirty="0">
              <a:ea typeface="+mn-lt"/>
              <a:cs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46700A7B-1D8D-7914-0662-5768144755B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91" b="5917"/>
          <a:stretch>
            <a:fillRect/>
          </a:stretch>
        </p:blipFill>
        <p:spPr>
          <a:xfrm>
            <a:off x="492016" y="2508106"/>
            <a:ext cx="5123748" cy="3261973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7318DEEA-B3A3-2046-7E1E-B6EB38364341}"/>
              </a:ext>
            </a:extLst>
          </p:cNvPr>
          <p:cNvSpPr txBox="1"/>
          <p:nvPr/>
        </p:nvSpPr>
        <p:spPr>
          <a:xfrm>
            <a:off x="1423498" y="5770079"/>
            <a:ext cx="3260784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Pode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ser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instalado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em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qualquer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veículo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, e.g.,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frotas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 de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caminhões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,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ônibus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 e </a:t>
            </a:r>
            <a:r>
              <a:rPr lang="en-US" sz="1400" dirty="0" err="1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táxis</a:t>
            </a:r>
            <a:r>
              <a:rPr lang="en-US" sz="1400" dirty="0">
                <a:solidFill>
                  <a:srgbClr val="0F1115"/>
                </a:solidFill>
                <a:latin typeface="TW Cen MT"/>
                <a:ea typeface="+mn-lt"/>
                <a:cs typeface="+mn-lt"/>
              </a:rPr>
              <a:t>.</a:t>
            </a:r>
            <a:endParaRPr lang="pt-BR" sz="1400" dirty="0">
              <a:solidFill>
                <a:srgbClr val="0F1115"/>
              </a:solidFill>
              <a:latin typeface="TW Cen MT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334446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1201400" cy="1325563"/>
          </a:xfrm>
        </p:spPr>
        <p:txBody>
          <a:bodyPr>
            <a:normAutofit fontScale="90000"/>
          </a:bodyPr>
          <a:lstStyle/>
          <a:p>
            <a:r>
              <a:rPr lang="pt-BR" dirty="0"/>
              <a:t>Rastreamento ocular para interação homem-máquina</a:t>
            </a:r>
            <a:br>
              <a:rPr lang="pt-BR" dirty="0"/>
            </a:br>
            <a:r>
              <a:rPr lang="pt-BR" sz="2700" dirty="0" err="1"/>
              <a:t>IoT</a:t>
            </a:r>
            <a:r>
              <a:rPr lang="pt-BR" sz="2700" dirty="0"/>
              <a:t> + VC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6400800" y="1825624"/>
            <a:ext cx="56388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Objetivo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: desenvolver um sistema acessível e de baixo custo para que pessoas com limitações motoras possam controlar um computador usando apenas o movimento dos olhos.</a:t>
            </a:r>
            <a:endParaRPr lang="pt-BR" sz="2000" dirty="0"/>
          </a:p>
          <a:p>
            <a:pPr marL="0" indent="0">
              <a:lnSpc>
                <a:spcPct val="100000"/>
              </a:lnSpc>
              <a:spcBef>
                <a:spcPts val="800"/>
              </a:spcBef>
              <a:buNone/>
            </a:pP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Como funciona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: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Utiliza uma webcam comum e IA para </a:t>
            </a: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detectar a direção do olhar e mover o cursor na tela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  <a:endParaRPr lang="pt-BR" sz="2000" dirty="0"/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Piscadas longas são identificadas como cliques do mouse.</a:t>
            </a:r>
          </a:p>
          <a:p>
            <a:pPr>
              <a:lnSpc>
                <a:spcPct val="100000"/>
              </a:lnSpc>
              <a:spcBef>
                <a:spcPts val="800"/>
              </a:spcBef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A interface é simplificada, com ícones grandes para facilitar a navegação.</a:t>
            </a:r>
          </a:p>
        </p:txBody>
      </p:sp>
      <p:pic>
        <p:nvPicPr>
          <p:cNvPr id="4" name="Imagem 3" descr="Interface gráfica do usuário&#10;&#10;O conteúdo gerado por IA pode estar incorreto.">
            <a:extLst>
              <a:ext uri="{FF2B5EF4-FFF2-40B4-BE49-F238E27FC236}">
                <a16:creationId xmlns:a16="http://schemas.microsoft.com/office/drawing/2014/main" xmlns="" id="{1647FB52-EE51-37FF-F51B-B6A07EA148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33" y="2081535"/>
            <a:ext cx="5330167" cy="3062379"/>
          </a:xfrm>
          <a:prstGeom prst="rect">
            <a:avLst/>
          </a:prstGeom>
        </p:spPr>
      </p:pic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E5DB6FEB-055D-1E46-DBA2-095BB07E2337}"/>
              </a:ext>
            </a:extLst>
          </p:cNvPr>
          <p:cNvSpPr txBox="1"/>
          <p:nvPr/>
        </p:nvSpPr>
        <p:spPr>
          <a:xfrm>
            <a:off x="1858033" y="5143914"/>
            <a:ext cx="3145766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pt-BR" sz="1400" dirty="0">
                <a:solidFill>
                  <a:srgbClr val="0F1115"/>
                </a:solidFill>
                <a:latin typeface="TW Cen MT"/>
              </a:rPr>
              <a:t>Roda em PCs e laptops e, em breve, em tablets e </a:t>
            </a:r>
            <a:r>
              <a:rPr lang="pt-BR" sz="1400" dirty="0" err="1">
                <a:solidFill>
                  <a:srgbClr val="0F1115"/>
                </a:solidFill>
                <a:latin typeface="TW Cen MT"/>
              </a:rPr>
              <a:t>mini-computadores</a:t>
            </a:r>
            <a:r>
              <a:rPr lang="pt-BR" sz="1400" dirty="0">
                <a:solidFill>
                  <a:srgbClr val="0F1115"/>
                </a:solidFill>
                <a:latin typeface="TW Cen MT"/>
              </a:rPr>
              <a:t> (e.g., </a:t>
            </a:r>
            <a:r>
              <a:rPr lang="pt-BR" sz="1400" dirty="0" err="1">
                <a:solidFill>
                  <a:srgbClr val="0F1115"/>
                </a:solidFill>
                <a:latin typeface="TW Cen MT"/>
              </a:rPr>
              <a:t>raspberry</a:t>
            </a:r>
            <a:r>
              <a:rPr lang="pt-BR" sz="1400" dirty="0">
                <a:solidFill>
                  <a:srgbClr val="0F1115"/>
                </a:solidFill>
                <a:latin typeface="TW Cen MT"/>
              </a:rPr>
              <a:t> pi).</a:t>
            </a:r>
            <a:endParaRPr lang="pt-BR" sz="1400" dirty="0"/>
          </a:p>
        </p:txBody>
      </p:sp>
    </p:spTree>
    <p:extLst>
      <p:ext uri="{BB962C8B-B14F-4D97-AF65-F5344CB8AC3E}">
        <p14:creationId xmlns:p14="http://schemas.microsoft.com/office/powerpoint/2010/main" val="83561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Classificação</a:t>
            </a:r>
            <a:r>
              <a:rPr lang="en-US" dirty="0"/>
              <a:t> da </a:t>
            </a:r>
            <a:r>
              <a:rPr lang="en-US" dirty="0" err="1"/>
              <a:t>qualidade</a:t>
            </a:r>
            <a:r>
              <a:rPr lang="en-US" dirty="0"/>
              <a:t> do café</a:t>
            </a:r>
            <a:br>
              <a:rPr lang="en-US" dirty="0"/>
            </a:br>
            <a:r>
              <a:rPr lang="en-US" sz="2400" dirty="0"/>
              <a:t>VC + </a:t>
            </a:r>
            <a:r>
              <a:rPr lang="en-US" sz="2400" dirty="0" err="1"/>
              <a:t>EdgeML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779818" y="1825624"/>
            <a:ext cx="7245926" cy="50323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buNone/>
            </a:pP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Objetivo: 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desenvolver um aplicativo móvel que classifique a qualidade dos grãos de café Arábica, eliminando a subjetividade e diminuindo o tempo de avaliação.</a:t>
            </a:r>
            <a:endParaRPr lang="pt-BR" sz="2000" dirty="0"/>
          </a:p>
          <a:p>
            <a:pPr>
              <a:lnSpc>
                <a:spcPct val="100000"/>
              </a:lnSpc>
              <a:buNone/>
            </a:pP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Como funciona:</a:t>
            </a:r>
            <a:endParaRPr lang="pt-BR"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O usuário fotografa os grãos de café com o celular.</a:t>
            </a:r>
            <a:endParaRPr lang="pt-BR"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O aplicativo captura três imagens em sequência e classifica cada uma com um modelo de IA.</a:t>
            </a:r>
            <a:endParaRPr lang="pt-BR" sz="2000" dirty="0"/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Usando votação majoritária, ele define a classe final: </a:t>
            </a: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Mole, Duro, </a:t>
            </a:r>
            <a:r>
              <a:rPr lang="pt-BR" sz="2000" b="1" dirty="0" err="1">
                <a:solidFill>
                  <a:srgbClr val="0F1115"/>
                </a:solidFill>
                <a:ea typeface="+mn-lt"/>
                <a:cs typeface="+mn-lt"/>
              </a:rPr>
              <a:t>Riado</a:t>
            </a:r>
            <a:r>
              <a:rPr lang="pt-BR" sz="2000" b="1" dirty="0">
                <a:solidFill>
                  <a:srgbClr val="0F1115"/>
                </a:solidFill>
                <a:ea typeface="+mn-lt"/>
                <a:cs typeface="+mn-lt"/>
              </a:rPr>
              <a:t>, Rio ou Rio Zona</a:t>
            </a:r>
            <a:r>
              <a:rPr lang="pt-BR" sz="2000" dirty="0">
                <a:solidFill>
                  <a:srgbClr val="0F1115"/>
                </a:solidFill>
                <a:ea typeface="+mn-lt"/>
                <a:cs typeface="+mn-lt"/>
              </a:rPr>
              <a:t>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000" b="1" dirty="0">
                <a:solidFill>
                  <a:srgbClr val="0F1115"/>
                </a:solidFill>
              </a:rPr>
              <a:t>Aplicação</a:t>
            </a:r>
            <a:r>
              <a:rPr lang="pt-BR" sz="2000" dirty="0">
                <a:solidFill>
                  <a:srgbClr val="0F1115"/>
                </a:solidFill>
              </a:rPr>
              <a:t>: ferramenta para produtores avaliarem a qualidade do café de forma rápida, objetiva, sem necessidade de conexão com a internet e </a:t>
            </a:r>
            <a:r>
              <a:rPr lang="pt-BR" sz="2000" i="1" dirty="0">
                <a:solidFill>
                  <a:srgbClr val="0F1115"/>
                </a:solidFill>
              </a:rPr>
              <a:t>in loco</a:t>
            </a:r>
            <a:r>
              <a:rPr lang="pt-BR" sz="2000" dirty="0">
                <a:solidFill>
                  <a:srgbClr val="0F1115"/>
                </a:solidFill>
              </a:rPr>
              <a:t>.</a:t>
            </a:r>
            <a:endParaRPr lang="pt-BR" sz="2000" dirty="0">
              <a:ea typeface="+mn-lt"/>
              <a:cs typeface="+mn-lt"/>
            </a:endParaRP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xmlns="" id="{7148D374-6FA6-C430-7F17-E9B2FEE7ED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2075828"/>
            <a:ext cx="3620183" cy="3982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41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Criação de antenas auxiliada por IA</a:t>
            </a:r>
            <a:br>
              <a:rPr lang="pt-BR" dirty="0"/>
            </a:br>
            <a:r>
              <a:rPr lang="pt-BR" sz="2700" dirty="0"/>
              <a:t>ML + Eletromagnetismo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30982" y="1825624"/>
            <a:ext cx="6553200" cy="503237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pt-BR" sz="2000" b="1" dirty="0">
                <a:ea typeface="+mn-lt"/>
                <a:cs typeface="+mn-lt"/>
              </a:rPr>
              <a:t>Objetivo: </a:t>
            </a:r>
            <a:r>
              <a:rPr lang="pt-BR" sz="2000" dirty="0">
                <a:ea typeface="+mn-lt"/>
                <a:cs typeface="+mn-lt"/>
              </a:rPr>
              <a:t>desenvolver antenas </a:t>
            </a:r>
            <a:r>
              <a:rPr lang="pt-BR" sz="2000" dirty="0" err="1">
                <a:ea typeface="+mn-lt"/>
                <a:cs typeface="+mn-lt"/>
              </a:rPr>
              <a:t>pixeladas</a:t>
            </a:r>
            <a:r>
              <a:rPr lang="pt-BR" sz="2000" dirty="0">
                <a:ea typeface="+mn-lt"/>
                <a:cs typeface="+mn-lt"/>
              </a:rPr>
              <a:t> ou baseadas na superfórmula utilizando IA para otimizar seu formato e garantir o máximo desempenho.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pt-BR" sz="2000" b="1" dirty="0">
                <a:ea typeface="Calibri"/>
                <a:cs typeface="Times New Roman"/>
              </a:rPr>
              <a:t>Como funciona:</a:t>
            </a:r>
          </a:p>
          <a:p>
            <a:pPr>
              <a:lnSpc>
                <a:spcPct val="100000"/>
              </a:lnSpc>
            </a:pPr>
            <a:r>
              <a:rPr lang="pt-BR" sz="2000" dirty="0">
                <a:ea typeface="+mn-lt"/>
                <a:cs typeface="+mn-lt"/>
              </a:rPr>
              <a:t>O formato da antena é definido por uma matriz de pixels (com ou sem metal) ou pelos parâmetros da superfórmula. 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Um algoritmo de IA gera diferentes configurações, que são simuladas para testar seu desempenho eletromagnético.</a:t>
            </a:r>
          </a:p>
          <a:p>
            <a:pPr>
              <a:lnSpc>
                <a:spcPct val="100000"/>
              </a:lnSpc>
              <a:buFont typeface="Arial"/>
              <a:buChar char="•"/>
            </a:pPr>
            <a:r>
              <a:rPr lang="pt-BR" sz="2000" dirty="0">
                <a:ea typeface="+mn-lt"/>
                <a:cs typeface="+mn-lt"/>
              </a:rPr>
              <a:t>O algoritmo aprende iterativamente com esses testes para encontrar uma configuração que atenda às especificações desejadas.</a:t>
            </a:r>
            <a:endParaRPr lang="pt-BR" sz="2000" dirty="0"/>
          </a:p>
        </p:txBody>
      </p:sp>
      <p:pic>
        <p:nvPicPr>
          <p:cNvPr id="4" name="Imagem 3" descr="Diagrama, Desenho técnico&#10;&#10;O conteúdo gerado por IA pode estar incorreto.">
            <a:extLst>
              <a:ext uri="{FF2B5EF4-FFF2-40B4-BE49-F238E27FC236}">
                <a16:creationId xmlns:a16="http://schemas.microsoft.com/office/drawing/2014/main" xmlns="" id="{2E52396F-E2A7-86EE-014E-168F9F33C1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627" y="1891850"/>
            <a:ext cx="3602608" cy="224879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xmlns="" id="{0BCAF80E-3BC3-FD38-565D-F84C8221DE9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00" t="-1188" r="2785"/>
          <a:stretch>
            <a:fillRect/>
          </a:stretch>
        </p:blipFill>
        <p:spPr>
          <a:xfrm>
            <a:off x="1801091" y="4341811"/>
            <a:ext cx="3410194" cy="2488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9811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pt-BR" dirty="0" err="1"/>
              <a:t>TerraSentinel</a:t>
            </a:r>
            <a:r>
              <a:rPr lang="pt-BR" dirty="0"/>
              <a:t>: detecção de mineração </a:t>
            </a:r>
            <a:r>
              <a:rPr lang="pt-BR" dirty="0" smtClean="0"/>
              <a:t>ilegal, incêndio </a:t>
            </a:r>
            <a:r>
              <a:rPr lang="pt-BR" dirty="0"/>
              <a:t>e desmatamento</a:t>
            </a:r>
            <a:br>
              <a:rPr lang="pt-BR" dirty="0"/>
            </a:br>
            <a:r>
              <a:rPr lang="pt-BR" sz="3000" dirty="0" err="1"/>
              <a:t>IoT</a:t>
            </a:r>
            <a:r>
              <a:rPr lang="pt-BR" sz="3000" dirty="0"/>
              <a:t> + VC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68112" y="1825624"/>
            <a:ext cx="6723888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sz="2400" b="1" dirty="0"/>
              <a:t>Objetivo</a:t>
            </a:r>
            <a:r>
              <a:rPr lang="pt-BR" sz="2400" dirty="0"/>
              <a:t>: criar um sistema de baixo custo e escalável para a detecção em tempo real de </a:t>
            </a:r>
            <a:r>
              <a:rPr lang="pt-BR" sz="2400" b="1" dirty="0"/>
              <a:t>mineração ilegal</a:t>
            </a:r>
            <a:r>
              <a:rPr lang="pt-BR" sz="2400" dirty="0"/>
              <a:t>, </a:t>
            </a:r>
            <a:r>
              <a:rPr lang="pt-BR" sz="2400" b="1" dirty="0"/>
              <a:t>desmatamento</a:t>
            </a:r>
            <a:r>
              <a:rPr lang="pt-BR" sz="2400" dirty="0"/>
              <a:t> e </a:t>
            </a:r>
            <a:r>
              <a:rPr lang="pt-BR" sz="2400" b="1" dirty="0"/>
              <a:t>incêndios</a:t>
            </a:r>
            <a:r>
              <a:rPr lang="pt-BR" sz="2400" dirty="0"/>
              <a:t> florestais na Amazônia.</a:t>
            </a:r>
          </a:p>
          <a:p>
            <a:pPr marL="0" indent="0">
              <a:buNone/>
            </a:pPr>
            <a:r>
              <a:rPr lang="pt-BR" sz="2400" b="1" dirty="0"/>
              <a:t>Como funciona</a:t>
            </a:r>
            <a:r>
              <a:rPr lang="pt-BR" sz="2400" dirty="0"/>
              <a:t>:</a:t>
            </a:r>
          </a:p>
          <a:p>
            <a:r>
              <a:rPr lang="pt-BR" sz="2400" dirty="0"/>
              <a:t>Utiliza uma rede </a:t>
            </a:r>
            <a:r>
              <a:rPr lang="pt-BR" sz="2400" dirty="0" smtClean="0"/>
              <a:t>de dispositivos: </a:t>
            </a:r>
            <a:r>
              <a:rPr lang="pt-BR" sz="2400" dirty="0" err="1"/>
              <a:t>CubeSats</a:t>
            </a:r>
            <a:r>
              <a:rPr lang="pt-BR" sz="2400" dirty="0"/>
              <a:t>, drones e sensores ribeirinhos.</a:t>
            </a:r>
          </a:p>
          <a:p>
            <a:r>
              <a:rPr lang="pt-BR" sz="2400" dirty="0"/>
              <a:t>O processamento dos dados ocorre diretamente nos dispositivos.</a:t>
            </a:r>
          </a:p>
          <a:p>
            <a:r>
              <a:rPr lang="pt-BR" sz="2400" dirty="0"/>
              <a:t>Em vez de enviar dados para a nuvem, os dispositivos treinam modelos localmente e compartilham apenas os pesos.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1800" dirty="0"/>
              <a:t>O </a:t>
            </a:r>
            <a:r>
              <a:rPr lang="pt-BR" sz="1800" dirty="0" err="1"/>
              <a:t>CubeSat</a:t>
            </a:r>
            <a:r>
              <a:rPr lang="pt-BR" sz="1800" dirty="0"/>
              <a:t> atua como um agregador, refinando um "modelo global" e redistribuindo-o para melhorar a eficiência do sistema.</a:t>
            </a:r>
          </a:p>
          <a:p>
            <a:r>
              <a:rPr lang="pt-BR" sz="2400" dirty="0"/>
              <a:t>Para conectar os dispositivos, utiliza-se </a:t>
            </a:r>
            <a:r>
              <a:rPr lang="pt-BR" sz="2400" dirty="0" err="1"/>
              <a:t>LoRa</a:t>
            </a:r>
            <a:r>
              <a:rPr lang="pt-BR" sz="2400" dirty="0"/>
              <a:t>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109" y="2576946"/>
            <a:ext cx="5181599" cy="2914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84404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Triagem de alertas utilizando </a:t>
            </a:r>
            <a:r>
              <a:rPr lang="pt-BR" dirty="0" err="1"/>
              <a:t>LLMs</a:t>
            </a:r>
            <a:r>
              <a:rPr lang="pt-BR" dirty="0"/>
              <a:t/>
            </a:r>
            <a:br>
              <a:rPr lang="pt-BR" dirty="0"/>
            </a:br>
            <a:r>
              <a:rPr lang="pt-BR" sz="2700" dirty="0" smtClean="0"/>
              <a:t>ML + </a:t>
            </a:r>
            <a:r>
              <a:rPr lang="pt-BR" sz="2700" dirty="0" err="1" smtClean="0"/>
              <a:t>cibersegurança</a:t>
            </a:r>
            <a:endParaRPr lang="pt-BR" sz="2700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95454" y="1825624"/>
            <a:ext cx="6996545" cy="5032375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pt-BR" sz="2100" b="1" dirty="0"/>
              <a:t>Objetivo</a:t>
            </a:r>
            <a:r>
              <a:rPr lang="pt-BR" sz="2100" dirty="0"/>
              <a:t>: automatizar e otimizar a triagem de alertas de segurança, combatendo a sobrecarga dos analistas e aumentando a precisão na detecção de ameaças.</a:t>
            </a:r>
          </a:p>
          <a:p>
            <a:pPr marL="0" indent="0">
              <a:buNone/>
            </a:pPr>
            <a:r>
              <a:rPr lang="pt-BR" sz="2100" b="1" dirty="0"/>
              <a:t>Como funciona</a:t>
            </a:r>
            <a:r>
              <a:rPr lang="pt-BR" sz="2100" dirty="0"/>
              <a:t>: utiliza um pipeline de duas etapas</a:t>
            </a:r>
          </a:p>
          <a:p>
            <a:r>
              <a:rPr lang="pt-BR" sz="2100" dirty="0"/>
              <a:t>Primeira Etapa - </a:t>
            </a:r>
            <a:r>
              <a:rPr lang="pt-BR" sz="2100" b="1" dirty="0"/>
              <a:t>Filtragem de </a:t>
            </a:r>
            <a:r>
              <a:rPr lang="pt-BR" sz="2100" b="1" i="1" dirty="0"/>
              <a:t>l</a:t>
            </a:r>
            <a:r>
              <a:rPr lang="pt-BR" sz="2100" b="1" i="1" dirty="0" smtClean="0"/>
              <a:t>ogs</a:t>
            </a:r>
            <a:r>
              <a:rPr lang="pt-BR" sz="2100" dirty="0"/>
              <a:t>: </a:t>
            </a:r>
            <a:r>
              <a:rPr lang="pt-BR" sz="2100" dirty="0" err="1"/>
              <a:t>LLMs</a:t>
            </a:r>
            <a:r>
              <a:rPr lang="pt-BR" sz="2100" dirty="0"/>
              <a:t> leves (e.g., </a:t>
            </a:r>
            <a:r>
              <a:rPr lang="pt-BR" sz="2100" dirty="0" err="1"/>
              <a:t>Llama</a:t>
            </a:r>
            <a:r>
              <a:rPr lang="pt-BR" sz="2100" dirty="0"/>
              <a:t> 3.2 3B ou Phi-4 Mini) realizam análise inicial dos </a:t>
            </a:r>
            <a:r>
              <a:rPr lang="pt-BR" sz="2100" i="1" dirty="0"/>
              <a:t>logs</a:t>
            </a:r>
            <a:r>
              <a:rPr lang="pt-BR" sz="2100" dirty="0"/>
              <a:t> brutos. Eles </a:t>
            </a:r>
            <a:r>
              <a:rPr lang="pt-BR" sz="2100" b="1" dirty="0"/>
              <a:t>descartam informações irrelevantes</a:t>
            </a:r>
            <a:r>
              <a:rPr lang="pt-BR" sz="2100" dirty="0"/>
              <a:t>, </a:t>
            </a:r>
            <a:r>
              <a:rPr lang="pt-BR" sz="2100" b="1" dirty="0"/>
              <a:t>reduzindo</a:t>
            </a:r>
            <a:r>
              <a:rPr lang="pt-BR" sz="2100" dirty="0"/>
              <a:t> significativamente a </a:t>
            </a:r>
            <a:r>
              <a:rPr lang="pt-BR" sz="2100" b="1" dirty="0"/>
              <a:t>quantidade de dados </a:t>
            </a:r>
            <a:r>
              <a:rPr lang="pt-BR" sz="2100" dirty="0"/>
              <a:t>que precisam ser processados na </a:t>
            </a:r>
            <a:r>
              <a:rPr lang="pt-BR" sz="2100" b="1" dirty="0"/>
              <a:t>fase seguinte</a:t>
            </a:r>
            <a:r>
              <a:rPr lang="pt-BR" sz="2100" dirty="0"/>
              <a:t>.</a:t>
            </a:r>
          </a:p>
          <a:p>
            <a:r>
              <a:rPr lang="pt-BR" sz="2100" dirty="0"/>
              <a:t>Segunda Etapa - </a:t>
            </a:r>
            <a:r>
              <a:rPr lang="pt-BR" sz="2100" b="1" dirty="0"/>
              <a:t>Classificação de </a:t>
            </a:r>
            <a:r>
              <a:rPr lang="pt-BR" sz="2100" b="1" dirty="0" smtClean="0"/>
              <a:t>alertas</a:t>
            </a:r>
            <a:r>
              <a:rPr lang="pt-BR" sz="2100" dirty="0"/>
              <a:t>: Os dados filtrados são enviados para </a:t>
            </a:r>
            <a:r>
              <a:rPr lang="pt-BR" sz="2100" dirty="0" err="1"/>
              <a:t>LLMs</a:t>
            </a:r>
            <a:r>
              <a:rPr lang="pt-BR" sz="2100" dirty="0"/>
              <a:t> mais robustas (e.g., DeepSeek-R1 ou Mistral-Nemo) para a classificação final.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sz="2100" dirty="0"/>
              <a:t>Nesta fase, utiliza-se uma estratégia de </a:t>
            </a:r>
            <a:r>
              <a:rPr lang="pt-BR" sz="2100" i="1" dirty="0"/>
              <a:t>ensemble</a:t>
            </a:r>
            <a:r>
              <a:rPr lang="pt-BR" sz="2100" dirty="0"/>
              <a:t>, onde os resultados de múltiplos modelos são combinados.</a:t>
            </a:r>
          </a:p>
        </p:txBody>
      </p:sp>
      <p:pic>
        <p:nvPicPr>
          <p:cNvPr id="4" name="Imagem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224" y="2822537"/>
            <a:ext cx="4866976" cy="2634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586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Seleção de portas para antenas fluidas via IA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444837" y="1825624"/>
            <a:ext cx="6567054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pt-BR" b="1" dirty="0"/>
              <a:t>Objetivo</a:t>
            </a:r>
            <a:r>
              <a:rPr lang="pt-BR" dirty="0"/>
              <a:t>: criar um método de seleção de portas baseado em ML, com reduzido </a:t>
            </a:r>
            <a:r>
              <a:rPr lang="pt-BR" i="1" dirty="0"/>
              <a:t>overhead</a:t>
            </a:r>
            <a:r>
              <a:rPr lang="pt-BR" dirty="0"/>
              <a:t> de </a:t>
            </a:r>
            <a:r>
              <a:rPr lang="pt-BR" b="1" dirty="0"/>
              <a:t>medição e o consumo de energia</a:t>
            </a:r>
            <a:r>
              <a:rPr lang="pt-BR" dirty="0"/>
              <a:t>, eliminando a necessidade de realizar medições exaustivas em todas as portas do sistema.</a:t>
            </a:r>
          </a:p>
          <a:p>
            <a:pPr marL="0" indent="0">
              <a:buNone/>
            </a:pPr>
            <a:r>
              <a:rPr lang="pt-BR" b="1" dirty="0"/>
              <a:t>Como funciona</a:t>
            </a:r>
          </a:p>
          <a:p>
            <a:r>
              <a:rPr lang="pt-BR" dirty="0"/>
              <a:t>O sistema observa a SNR de um pequeno subconjunto de portas (e.g., 5 portas de 100).</a:t>
            </a:r>
          </a:p>
          <a:p>
            <a:r>
              <a:rPr lang="pt-BR" dirty="0"/>
              <a:t>A partir do subconjunto, o modelo estima a SNR de todas as 100 portas, permitindo selecionar a melhor opção para recepção.</a:t>
            </a: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4" r="7836"/>
          <a:stretch/>
        </p:blipFill>
        <p:spPr>
          <a:xfrm>
            <a:off x="290944" y="2335458"/>
            <a:ext cx="4843235" cy="3081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1319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6573405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23157188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180</TotalTime>
  <Words>742</Words>
  <Application>Microsoft Office PowerPoint</Application>
  <PresentationFormat>Widescreen</PresentationFormat>
  <Paragraphs>94</Paragraphs>
  <Slides>17</Slides>
  <Notes>4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TW Cen MT</vt:lpstr>
      <vt:lpstr>Wingdings</vt:lpstr>
      <vt:lpstr>Tema do Office</vt:lpstr>
      <vt:lpstr>C24 - Inteligência Artificial: Projetos selecionados</vt:lpstr>
      <vt:lpstr>O laboratório</vt:lpstr>
      <vt:lpstr>Áreas de pesquisa</vt:lpstr>
      <vt:lpstr>Parcerias</vt:lpstr>
      <vt:lpstr>Oportunidades</vt:lpstr>
      <vt:lpstr>Projetos selecionados</vt:lpstr>
      <vt:lpstr>Detecção de incêndios florestais IoT + VC + LoRA</vt:lpstr>
      <vt:lpstr>Gestão inteligente de tráfego IoT + VC + Smart Cities</vt:lpstr>
      <vt:lpstr>Detecção de comportamentos de risco ao volante IoT + VC</vt:lpstr>
      <vt:lpstr>Rastreamento ocular para interação homem-máquina IoT + VC</vt:lpstr>
      <vt:lpstr>Classificação da qualidade do café VC + EdgeML</vt:lpstr>
      <vt:lpstr>Criação de antenas auxiliada por IA ML + Eletromagnetismo</vt:lpstr>
      <vt:lpstr>TerraSentinel: detecção de mineração ilegal, incêndio e desmatamento IoT + VC</vt:lpstr>
      <vt:lpstr>Triagem de alertas utilizando LLMs ML + cibersegurança</vt:lpstr>
      <vt:lpstr>Seleção de portas para antenas fluidas via IA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Felipe Augusto Pereira de Figueiredo</dc:creator>
  <cp:lastModifiedBy>Felipe Augusto Pereira de Figueiredo</cp:lastModifiedBy>
  <cp:revision>58</cp:revision>
  <dcterms:created xsi:type="dcterms:W3CDTF">2026-01-16T01:57:31Z</dcterms:created>
  <dcterms:modified xsi:type="dcterms:W3CDTF">2026-02-23T21:15:43Z</dcterms:modified>
</cp:coreProperties>
</file>