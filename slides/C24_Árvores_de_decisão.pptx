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6"/>
  </p:notesMasterIdLst>
  <p:sldIdLst>
    <p:sldId id="256" r:id="rId2"/>
    <p:sldId id="379" r:id="rId3"/>
    <p:sldId id="310" r:id="rId4"/>
    <p:sldId id="381" r:id="rId5"/>
    <p:sldId id="383" r:id="rId6"/>
    <p:sldId id="382" r:id="rId7"/>
    <p:sldId id="384" r:id="rId8"/>
    <p:sldId id="334" r:id="rId9"/>
    <p:sldId id="333" r:id="rId10"/>
    <p:sldId id="376" r:id="rId11"/>
    <p:sldId id="335" r:id="rId12"/>
    <p:sldId id="336" r:id="rId13"/>
    <p:sldId id="337" r:id="rId14"/>
    <p:sldId id="338" r:id="rId15"/>
    <p:sldId id="339" r:id="rId16"/>
    <p:sldId id="340" r:id="rId17"/>
    <p:sldId id="341" r:id="rId18"/>
    <p:sldId id="342" r:id="rId19"/>
    <p:sldId id="343" r:id="rId20"/>
    <p:sldId id="344" r:id="rId21"/>
    <p:sldId id="345" r:id="rId22"/>
    <p:sldId id="346" r:id="rId23"/>
    <p:sldId id="348" r:id="rId24"/>
    <p:sldId id="349" r:id="rId25"/>
    <p:sldId id="350" r:id="rId26"/>
    <p:sldId id="358" r:id="rId27"/>
    <p:sldId id="351" r:id="rId28"/>
    <p:sldId id="352" r:id="rId29"/>
    <p:sldId id="353" r:id="rId30"/>
    <p:sldId id="354" r:id="rId31"/>
    <p:sldId id="356" r:id="rId32"/>
    <p:sldId id="357" r:id="rId33"/>
    <p:sldId id="359" r:id="rId34"/>
    <p:sldId id="361" r:id="rId35"/>
    <p:sldId id="362" r:id="rId36"/>
    <p:sldId id="363" r:id="rId37"/>
    <p:sldId id="301" r:id="rId38"/>
    <p:sldId id="318" r:id="rId39"/>
    <p:sldId id="369" r:id="rId40"/>
    <p:sldId id="319" r:id="rId41"/>
    <p:sldId id="364" r:id="rId42"/>
    <p:sldId id="367" r:id="rId43"/>
    <p:sldId id="368" r:id="rId44"/>
    <p:sldId id="277" r:id="rId45"/>
    <p:sldId id="283" r:id="rId46"/>
    <p:sldId id="284" r:id="rId47"/>
    <p:sldId id="285" r:id="rId48"/>
    <p:sldId id="291" r:id="rId49"/>
    <p:sldId id="292" r:id="rId50"/>
    <p:sldId id="296" r:id="rId51"/>
    <p:sldId id="321" r:id="rId52"/>
    <p:sldId id="322" r:id="rId53"/>
    <p:sldId id="371" r:id="rId54"/>
    <p:sldId id="374" r:id="rId55"/>
    <p:sldId id="375" r:id="rId56"/>
    <p:sldId id="377" r:id="rId57"/>
    <p:sldId id="456" r:id="rId58"/>
    <p:sldId id="457" r:id="rId59"/>
    <p:sldId id="378" r:id="rId60"/>
    <p:sldId id="306" r:id="rId61"/>
    <p:sldId id="265" r:id="rId62"/>
    <p:sldId id="347" r:id="rId63"/>
    <p:sldId id="328" r:id="rId64"/>
    <p:sldId id="329" r:id="rId65"/>
    <p:sldId id="355" r:id="rId66"/>
    <p:sldId id="330" r:id="rId67"/>
    <p:sldId id="271" r:id="rId68"/>
    <p:sldId id="279" r:id="rId69"/>
    <p:sldId id="293" r:id="rId70"/>
    <p:sldId id="289" r:id="rId71"/>
    <p:sldId id="290" r:id="rId72"/>
    <p:sldId id="294" r:id="rId73"/>
    <p:sldId id="295" r:id="rId74"/>
    <p:sldId id="307" r:id="rId75"/>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05" autoAdjust="0"/>
    <p:restoredTop sz="72276" autoAdjust="0"/>
  </p:normalViewPr>
  <p:slideViewPr>
    <p:cSldViewPr snapToGrid="0">
      <p:cViewPr varScale="1">
        <p:scale>
          <a:sx n="80" d="100"/>
          <a:sy n="80" d="100"/>
        </p:scale>
        <p:origin x="1746"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8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31/03/2026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19432339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Esse modelo é frequentemente chamado de modelo </a:t>
            </a:r>
            <a:r>
              <a:rPr lang="pt-BR" b="1" i="1" dirty="0"/>
              <a:t>não-paramétrico</a:t>
            </a:r>
            <a:r>
              <a:rPr lang="pt-BR" dirty="0"/>
              <a:t>, não porque não tenha nenhum parâmetro (ele geralmente tem muitos), mas porque o </a:t>
            </a:r>
            <a:r>
              <a:rPr lang="pt-BR" b="1" i="1" dirty="0"/>
              <a:t>número de parâmetros não é determinado antes do treinamento</a:t>
            </a:r>
            <a:r>
              <a:rPr lang="pt-BR" dirty="0"/>
              <a:t>, de modo que a estrutura do modelo é livre para se adaptar aos dados.</a:t>
            </a:r>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9</a:t>
            </a:fld>
            <a:endParaRPr lang="pt-BR"/>
          </a:p>
        </p:txBody>
      </p:sp>
    </p:spTree>
    <p:extLst>
      <p:ext uri="{BB962C8B-B14F-4D97-AF65-F5344CB8AC3E}">
        <p14:creationId xmlns:p14="http://schemas.microsoft.com/office/powerpoint/2010/main" val="5637056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21911642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10259945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31212912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29694653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17241648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12251991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22385871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2285126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3640080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26976510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51</a:t>
            </a:fld>
            <a:endParaRPr lang="pt-BR"/>
          </a:p>
        </p:txBody>
      </p:sp>
    </p:spTree>
    <p:extLst>
      <p:ext uri="{BB962C8B-B14F-4D97-AF65-F5344CB8AC3E}">
        <p14:creationId xmlns:p14="http://schemas.microsoft.com/office/powerpoint/2010/main" val="420728913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118808580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55</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1940039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31/03/2026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31/03/2026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31/03/2026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31/03/2026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31/03/2026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31/03/2026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31/03/2026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ConcentricClassesClassification.ipynb"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OverlappingClassesClassification.ipynb"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Rotation.ipynb"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Details.ipynb"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RegularizationHyperparameters.ipynb"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NoisyQuadraticDatasetRegression.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jpeg"/><Relationship Id="rId1" Type="http://schemas.openxmlformats.org/officeDocument/2006/relationships/slideLayout" Target="../slideLayouts/slideLayout2.xml"/><Relationship Id="rId4" Type="http://schemas.openxmlformats.org/officeDocument/2006/relationships/image" Target="../media/image32.jpe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r>
              <a:rPr lang="pt-BR" b="1" dirty="0">
                <a:solidFill>
                  <a:srgbClr val="FF0000"/>
                </a:solidFill>
              </a:rPr>
              <a:t>aprendizado supervisionado não-paramétrico</a:t>
            </a:r>
            <a:r>
              <a:rPr lang="pt-BR" dirty="0"/>
              <a:t> 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F32CE-81E7-EB7D-79AF-4781ED60C122}"/>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AEA6CDEB-1A83-6E6A-F3A5-9A6772677239}"/>
              </a:ext>
            </a:extLst>
          </p:cNvPr>
          <p:cNvSpPr>
            <a:spLocks noGrp="1"/>
          </p:cNvSpPr>
          <p:nvPr>
            <p:ph idx="1"/>
          </p:nvPr>
        </p:nvSpPr>
        <p:spPr/>
        <p:txBody>
          <a:bodyPr>
            <a:normAutofit/>
          </a:bodyPr>
          <a:lstStyle/>
          <a:p>
            <a:r>
              <a:rPr lang="pt-BR" sz="6600" b="1" dirty="0">
                <a:solidFill>
                  <a:srgbClr val="FF0000"/>
                </a:solidFill>
              </a:rPr>
              <a:t>PAREI AQUI!!!</a:t>
            </a:r>
            <a:endParaRPr lang="en-US" sz="6600" b="1" dirty="0">
              <a:solidFill>
                <a:srgbClr val="FF0000"/>
              </a:solidFill>
            </a:endParaRPr>
          </a:p>
        </p:txBody>
      </p:sp>
    </p:spTree>
    <p:extLst>
      <p:ext uri="{BB962C8B-B14F-4D97-AF65-F5344CB8AC3E}">
        <p14:creationId xmlns:p14="http://schemas.microsoft.com/office/powerpoint/2010/main" val="2032108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506741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F4DB-750B-5DBC-68F9-CF0E2508ACE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5685B4A-8005-3134-A07B-6D58D92E194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050853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25440" y="1825624"/>
            <a:ext cx="6624452" cy="5032376"/>
          </a:xfrm>
        </p:spPr>
        <p:txBody>
          <a:bodyPr>
            <a:normAutofit/>
          </a:bodyPr>
          <a:lstStyle/>
          <a:p>
            <a:r>
              <a:rPr lang="pt-BR" b="1" i="1" dirty="0"/>
              <a:t>Não-paramétrico</a:t>
            </a:r>
            <a:r>
              <a:rPr lang="pt-BR" dirty="0"/>
              <a:t>: elas </a:t>
            </a:r>
            <a:r>
              <a:rPr lang="pt-BR" b="1" i="1" dirty="0">
                <a:solidFill>
                  <a:srgbClr val="7030A0"/>
                </a:solidFill>
              </a:rPr>
              <a:t>não fazem suposições sobre a distribuição</a:t>
            </a:r>
            <a:r>
              <a:rPr lang="pt-BR" dirty="0"/>
              <a:t> dos dados ou </a:t>
            </a:r>
            <a:r>
              <a:rPr lang="pt-BR" b="1" i="1" dirty="0">
                <a:solidFill>
                  <a:srgbClr val="7030A0"/>
                </a:solidFill>
              </a:rPr>
              <a:t>sobre a forma da função</a:t>
            </a:r>
            <a:r>
              <a:rPr lang="pt-BR" dirty="0"/>
              <a:t> que estão tentando aprender.</a:t>
            </a:r>
          </a:p>
          <a:p>
            <a:r>
              <a:rPr lang="pt-BR" b="1" i="1" dirty="0">
                <a:solidFill>
                  <a:srgbClr val="00B050"/>
                </a:solidFill>
              </a:rPr>
              <a:t>Não definem um número fixo de parâmetros </a:t>
            </a:r>
            <a:r>
              <a:rPr lang="pt-BR" dirty="0"/>
              <a:t>como em modelos lineares, que têm um número fixo de pesos.</a:t>
            </a:r>
          </a:p>
          <a:p>
            <a:r>
              <a:rPr lang="pt-BR" dirty="0"/>
              <a:t>Em vez de definir um número fixo de parâmetros, as </a:t>
            </a:r>
            <a:r>
              <a:rPr lang="pt-BR" b="1" i="1" dirty="0">
                <a:solidFill>
                  <a:schemeClr val="accent2"/>
                </a:solidFill>
              </a:rPr>
              <a:t>árvores de decisão ajustam sua complexidade à medida que crescem</a:t>
            </a:r>
            <a:r>
              <a:rPr lang="pt-BR" dirty="0"/>
              <a:t>, dependendo da estrutura dos dados.</a:t>
            </a:r>
          </a:p>
          <a:p>
            <a:endParaRPr lang="pt-BR" dirty="0"/>
          </a:p>
          <a:p>
            <a:endParaRPr lang="pt-BR" dirty="0"/>
          </a:p>
          <a:p>
            <a:endParaRPr lang="pt-BR" dirty="0"/>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107" y="2446890"/>
            <a:ext cx="5103877"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97330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52796" y="1825624"/>
            <a:ext cx="6597096" cy="5032376"/>
          </a:xfrm>
        </p:spPr>
        <p:txBody>
          <a:bodyPr>
            <a:normAutofit/>
          </a:bodyPr>
          <a:lstStyle/>
          <a:p>
            <a:r>
              <a:rPr lang="pt-BR" dirty="0"/>
              <a:t>Ou seja, os </a:t>
            </a:r>
            <a:r>
              <a:rPr lang="pt-BR" b="1" i="1" dirty="0">
                <a:solidFill>
                  <a:schemeClr val="accent2"/>
                </a:solidFill>
              </a:rPr>
              <a:t>parâmetros são criados durante o treinamento</a:t>
            </a:r>
            <a:r>
              <a:rPr lang="pt-BR" b="1" i="1" dirty="0"/>
              <a:t> para explicar os dados</a:t>
            </a:r>
            <a:r>
              <a:rPr lang="pt-BR" dirty="0"/>
              <a:t>.</a:t>
            </a:r>
          </a:p>
          <a:p>
            <a:r>
              <a:rPr lang="pt-BR" dirty="0"/>
              <a:t>O </a:t>
            </a:r>
            <a:r>
              <a:rPr lang="pt-BR" b="1" i="1" dirty="0">
                <a:solidFill>
                  <a:srgbClr val="7030A0"/>
                </a:solidFill>
              </a:rPr>
              <a:t>modelo é construído apenas com base nos dados observados</a:t>
            </a:r>
            <a:r>
              <a:rPr lang="pt-BR" dirty="0"/>
              <a:t> </a:t>
            </a:r>
          </a:p>
          <a:p>
            <a:r>
              <a:rPr lang="pt-BR" dirty="0"/>
              <a:t>O </a:t>
            </a:r>
            <a:r>
              <a:rPr lang="pt-BR" b="1" i="1" dirty="0">
                <a:solidFill>
                  <a:srgbClr val="0070C0"/>
                </a:solidFill>
              </a:rPr>
              <a:t>tamanho da árvore</a:t>
            </a:r>
            <a:r>
              <a:rPr lang="pt-BR" dirty="0"/>
              <a:t>, i.e., o número de parâmetros, </a:t>
            </a:r>
            <a:r>
              <a:rPr lang="pt-BR" b="1" i="1" dirty="0">
                <a:solidFill>
                  <a:srgbClr val="0070C0"/>
                </a:solidFill>
              </a:rPr>
              <a:t>tende a crescer com a base de dados</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4347" y="2385930"/>
            <a:ext cx="5168449" cy="3252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37591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52796" y="1825624"/>
            <a:ext cx="6597096" cy="5032376"/>
          </a:xfrm>
        </p:spPr>
        <p:txBody>
          <a:bodyPr>
            <a:normAutofit/>
          </a:bodyPr>
          <a:lstStyle/>
          <a:p>
            <a:r>
              <a:rPr lang="pt-BR" dirty="0"/>
              <a:t>Esse modelo é </a:t>
            </a:r>
            <a:r>
              <a:rPr lang="pt-BR" b="1" i="1" dirty="0"/>
              <a:t>não-paramétrico</a:t>
            </a:r>
            <a:r>
              <a:rPr lang="pt-BR" dirty="0"/>
              <a:t>, não porque não tenha nenhum parâmetro, mas porque o </a:t>
            </a:r>
            <a:r>
              <a:rPr lang="pt-BR" b="1" i="1" dirty="0"/>
              <a:t>número de parâmetros não é determinado antes do treinamento</a:t>
            </a:r>
            <a:r>
              <a:rPr lang="pt-BR" dirty="0"/>
              <a:t>, de modo que a árvore é livre para se adaptar aos dados de treinamento.</a:t>
            </a:r>
            <a:endParaRPr lang="pt-BR" b="1" i="1" dirty="0"/>
          </a:p>
          <a:p>
            <a:r>
              <a:rPr lang="pt-BR" b="1" i="1" dirty="0"/>
              <a:t>Não-linear</a:t>
            </a:r>
            <a:r>
              <a:rPr lang="pt-BR" dirty="0"/>
              <a:t>: funções hipótese e discriminante são </a:t>
            </a:r>
            <a:r>
              <a:rPr lang="pt-BR" b="1" i="1" dirty="0"/>
              <a:t>funções não-lineares</a:t>
            </a:r>
            <a:r>
              <a:rPr lang="pt-BR" dirty="0"/>
              <a:t>, i.e., os dados não são aproximados ou separados por um </a:t>
            </a:r>
            <a:r>
              <a:rPr lang="pt-BR" b="1" i="1" dirty="0"/>
              <a:t>hiperplano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4347" y="2385930"/>
            <a:ext cx="5168449" cy="3252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35316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O objetivo é criar um modelo que realize predições aprendendo </a:t>
            </a:r>
            <a:r>
              <a:rPr lang="pt-BR" b="1" i="1" dirty="0">
                <a:solidFill>
                  <a:srgbClr val="00B050"/>
                </a:solidFill>
              </a:rPr>
              <a:t>regras simples de decisão</a:t>
            </a:r>
            <a:r>
              <a:rPr lang="pt-BR" dirty="0"/>
              <a:t> </a:t>
            </a:r>
            <a:r>
              <a:rPr lang="pt-BR" b="1" i="1" dirty="0">
                <a:solidFill>
                  <a:srgbClr val="7030A0"/>
                </a:solidFill>
              </a:rPr>
              <a:t>inferidas</a:t>
            </a:r>
            <a:r>
              <a:rPr lang="pt-BR" dirty="0"/>
              <a:t> a partir dos </a:t>
            </a:r>
            <a:r>
              <a:rPr lang="pt-BR" b="1" i="1" dirty="0">
                <a:solidFill>
                  <a:srgbClr val="7030A0"/>
                </a:solidFill>
              </a:rPr>
              <a:t>atributos do conjunto de treinamento</a:t>
            </a:r>
            <a:r>
              <a:rPr lang="pt-BR" dirty="0"/>
              <a:t>.</a:t>
            </a:r>
          </a:p>
          <a:p>
            <a:r>
              <a:rPr lang="pt-BR" dirty="0"/>
              <a:t>As </a:t>
            </a:r>
            <a:r>
              <a:rPr lang="pt-BR" b="1" i="1" dirty="0"/>
              <a:t>árvores de decisão </a:t>
            </a:r>
            <a:r>
              <a:rPr lang="pt-BR" dirty="0"/>
              <a:t>são os componentes fundamentais das </a:t>
            </a:r>
            <a:r>
              <a:rPr lang="pt-BR" b="1" i="1" dirty="0"/>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i="1" dirty="0"/>
              <a:t>algoritmos mais poderosos de aprendizado de máquina </a:t>
            </a:r>
            <a:r>
              <a:rPr lang="pt-BR" dirty="0"/>
              <a:t>disponíveis atualmente.</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3317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Formalmente, uma árvore é um </a:t>
            </a:r>
            <a:r>
              <a:rPr lang="pt-BR" b="1" i="1" dirty="0">
                <a:solidFill>
                  <a:srgbClr val="7030A0"/>
                </a:solidFill>
              </a:rPr>
              <a:t>grafo não-direcionado</a:t>
            </a:r>
            <a:r>
              <a:rPr lang="pt-BR" b="1" i="1" dirty="0"/>
              <a:t> </a:t>
            </a:r>
            <a:r>
              <a:rPr lang="pt-BR" dirty="0"/>
              <a:t>no qual dois </a:t>
            </a:r>
            <a:r>
              <a:rPr lang="pt-BR" b="1" i="1" dirty="0"/>
              <a:t>vértices</a:t>
            </a:r>
            <a:r>
              <a:rPr lang="pt-BR" dirty="0"/>
              <a:t> quaisquer se conectam por um único caminho (ou seja, um </a:t>
            </a:r>
            <a:r>
              <a:rPr lang="pt-BR" b="1" i="1" dirty="0"/>
              <a:t>grafo acíclico não-direcionado</a:t>
            </a:r>
            <a:r>
              <a:rPr lang="pt-BR" dirty="0"/>
              <a:t>) [Wikipedia, 2019].</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i="1" dirty="0"/>
              <a:t>nó raiz</a:t>
            </a:r>
            <a:r>
              <a:rPr lang="pt-BR" dirty="0"/>
              <a:t>, do qual </a:t>
            </a:r>
            <a:r>
              <a:rPr lang="pt-BR" b="1" i="1" dirty="0"/>
              <a:t>parte o processo de decisão</a:t>
            </a:r>
            <a:r>
              <a:rPr lang="pt-BR" dirty="0"/>
              <a:t>. </a:t>
            </a:r>
          </a:p>
          <a:p>
            <a:r>
              <a:rPr lang="pt-BR" dirty="0"/>
              <a:t>Nesse processo, </a:t>
            </a:r>
            <a:r>
              <a:rPr lang="pt-BR" b="1" i="1" dirty="0">
                <a:solidFill>
                  <a:schemeClr val="accent2"/>
                </a:solidFill>
              </a:rPr>
              <a:t>valores distintos dos atributos geram arestas</a:t>
            </a:r>
            <a:r>
              <a:rPr lang="pt-BR" dirty="0"/>
              <a:t> (i.e., </a:t>
            </a:r>
            <a:r>
              <a:rPr lang="pt-BR" b="1" i="1" dirty="0">
                <a:solidFill>
                  <a:srgbClr val="00B050"/>
                </a:solidFill>
              </a:rPr>
              <a:t>ramificações</a:t>
            </a:r>
            <a:r>
              <a:rPr lang="pt-BR" dirty="0"/>
              <a:t>) e, quando se chega a um </a:t>
            </a:r>
            <a:r>
              <a:rPr lang="pt-BR" b="1" i="1" dirty="0">
                <a:solidFill>
                  <a:srgbClr val="7030A0"/>
                </a:solidFill>
              </a:rPr>
              <a:t>nó folha</a:t>
            </a:r>
            <a:r>
              <a:rPr lang="pt-BR" dirty="0"/>
              <a:t>, ocorre uma </a:t>
            </a:r>
            <a:r>
              <a:rPr lang="pt-BR" b="1" i="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b="1" i="1" dirty="0"/>
              <a:t>Árvores de decisão </a:t>
            </a:r>
            <a:r>
              <a:rPr lang="pt-BR" dirty="0"/>
              <a:t>são modelos de </a:t>
            </a:r>
            <a:r>
              <a:rPr lang="pt-BR" b="1" i="1" dirty="0">
                <a:solidFill>
                  <a:srgbClr val="00B050"/>
                </a:solidFill>
              </a:rPr>
              <a:t>caixa branca</a:t>
            </a:r>
            <a:r>
              <a:rPr lang="pt-BR" dirty="0"/>
              <a:t>, ou seja, é possível entender e </a:t>
            </a:r>
            <a:r>
              <a:rPr lang="pt-BR" b="1" i="1" dirty="0">
                <a:solidFill>
                  <a:schemeClr val="accent2"/>
                </a:solidFill>
              </a:rPr>
              <a:t>explicar facilmente como o modelo realiza a classificação ou regressão</a:t>
            </a:r>
            <a:r>
              <a:rPr lang="pt-BR" dirty="0"/>
              <a:t> baseando-se nos atributos.</a:t>
            </a:r>
          </a:p>
          <a:p>
            <a:r>
              <a:rPr lang="pt-BR" dirty="0"/>
              <a:t>Elas são o oposto dos modelos de </a:t>
            </a:r>
            <a:r>
              <a:rPr lang="pt-BR" b="1" i="1" dirty="0">
                <a:solidFill>
                  <a:srgbClr val="7030A0"/>
                </a:solidFill>
              </a:rPr>
              <a:t>caixa preta</a:t>
            </a:r>
            <a:r>
              <a:rPr lang="pt-BR" dirty="0"/>
              <a:t>, onde os resultados são difíceis de interpretar e </a:t>
            </a:r>
            <a:r>
              <a:rPr lang="pt-BR" b="1" i="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i="1" dirty="0"/>
              <a:t>Clima</a:t>
            </a:r>
            <a:r>
              <a:rPr lang="pt-BR" dirty="0"/>
              <a:t>, </a:t>
            </a:r>
            <a:r>
              <a:rPr lang="pt-BR" b="1" i="1" dirty="0"/>
              <a:t>Humidade</a:t>
            </a:r>
            <a:r>
              <a:rPr lang="pt-BR" dirty="0"/>
              <a:t> e </a:t>
            </a:r>
            <a:r>
              <a:rPr lang="pt-BR" b="1" i="1" dirty="0"/>
              <a:t>Vento</a:t>
            </a:r>
            <a:r>
              <a:rPr lang="pt-BR" dirty="0"/>
              <a:t>.</a:t>
            </a:r>
          </a:p>
          <a:p>
            <a:r>
              <a:rPr lang="pt-BR" dirty="0"/>
              <a:t>Cada </a:t>
            </a:r>
            <a:r>
              <a:rPr lang="pt-BR" b="1" i="1" dirty="0"/>
              <a:t>nó da árvore atua como um </a:t>
            </a:r>
            <a:r>
              <a:rPr lang="pt-BR" b="1" i="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i="1" dirty="0">
                <a:solidFill>
                  <a:srgbClr val="00B050"/>
                </a:solidFill>
              </a:rPr>
              <a:t>uso da árvore para classificar padrões é direto</a:t>
            </a:r>
            <a:r>
              <a:rPr lang="pt-BR" dirty="0"/>
              <a:t>, mas é preciso responder uma questão crucial: </a:t>
            </a:r>
            <a:r>
              <a:rPr lang="pt-BR" b="1" i="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i="1" dirty="0"/>
              <a:t>construir, </a:t>
            </a:r>
            <a:r>
              <a:rPr lang="pt-BR" b="1" i="1" dirty="0">
                <a:solidFill>
                  <a:schemeClr val="accent2"/>
                </a:solidFill>
              </a:rPr>
              <a:t>de maneira exaustiva</a:t>
            </a:r>
            <a:r>
              <a:rPr lang="pt-BR" dirty="0"/>
              <a:t>, todas as árvores </a:t>
            </a:r>
            <a:r>
              <a:rPr lang="pt-BR" b="1" i="1" dirty="0"/>
              <a:t>capazes de resolver o problema </a:t>
            </a:r>
            <a:r>
              <a:rPr lang="pt-BR" dirty="0"/>
              <a:t>da classificação ou regressão e </a:t>
            </a:r>
            <a:r>
              <a:rPr lang="pt-BR" b="1" i="1" dirty="0">
                <a:solidFill>
                  <a:schemeClr val="accent2"/>
                </a:solidFill>
              </a:rPr>
              <a:t>selecionar a mais simples</a:t>
            </a:r>
            <a:r>
              <a:rPr lang="pt-BR" b="1" i="1" dirty="0"/>
              <a:t> </a:t>
            </a:r>
            <a:r>
              <a:rPr lang="pt-BR" dirty="0"/>
              <a:t>(menos complexa) utilizando a </a:t>
            </a:r>
            <a:r>
              <a:rPr lang="pt-BR" b="1" i="1" dirty="0">
                <a:solidFill>
                  <a:srgbClr val="00B050"/>
                </a:solidFill>
              </a:rPr>
              <a:t>regra da Navalha de </a:t>
            </a:r>
            <a:r>
              <a:rPr lang="pt-BR" b="1" i="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211692" cy="5032376"/>
              </a:xfrm>
            </p:spPr>
            <p:txBody>
              <a:bodyPr>
                <a:normAutofit/>
              </a:bodyPr>
              <a:lstStyle/>
              <a:p>
                <a:r>
                  <a:rPr lang="pt-BR" dirty="0"/>
                  <a:t>Encontrar uma árvore de decisão ótima é um problema </a:t>
                </a:r>
                <a:r>
                  <a:rPr lang="pt-BR" b="1" i="1" dirty="0">
                    <a:solidFill>
                      <a:srgbClr val="7030A0"/>
                    </a:solidFill>
                  </a:rPr>
                  <a:t>tempo polinomial não-determinístico completo</a:t>
                </a:r>
                <a:r>
                  <a:rPr lang="pt-BR" dirty="0"/>
                  <a:t> (NP-completo).</a:t>
                </a:r>
              </a:p>
              <a:p>
                <a:r>
                  <a:rPr lang="en-US" altLang="en-US" dirty="0"/>
                  <a:t>São </a:t>
                </a:r>
                <a:r>
                  <a:rPr lang="en-US" altLang="en-US" dirty="0" err="1"/>
                  <a:t>problemas</a:t>
                </a:r>
                <a:r>
                  <a:rPr lang="en-US" altLang="en-US" dirty="0"/>
                  <a:t>:</a:t>
                </a:r>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en-US" altLang="en-US" dirty="0"/>
              </a:p>
              <a:p>
                <a:r>
                  <a:rPr lang="en-US" altLang="en-US" dirty="0" err="1"/>
                  <a:t>Exemplos</a:t>
                </a:r>
                <a:r>
                  <a:rPr lang="en-US" altLang="en-US" dirty="0"/>
                  <a:t> </a:t>
                </a:r>
                <a:r>
                  <a:rPr lang="en-US" altLang="en-US" dirty="0" err="1"/>
                  <a:t>incluem</a:t>
                </a:r>
                <a:r>
                  <a:rPr lang="en-US" altLang="en-US" dirty="0"/>
                  <a:t> </a:t>
                </a:r>
                <a:r>
                  <a:rPr lang="en-US" altLang="en-US" dirty="0" err="1"/>
                  <a:t>problemas</a:t>
                </a:r>
                <a:r>
                  <a:rPr lang="en-US" altLang="en-US" dirty="0"/>
                  <a:t> </a:t>
                </a:r>
                <a:r>
                  <a:rPr lang="en-US" altLang="en-US" dirty="0" err="1"/>
                  <a:t>clássicos</a:t>
                </a:r>
                <a:r>
                  <a:rPr lang="en-US" altLang="en-US" dirty="0"/>
                  <a:t> </a:t>
                </a:r>
                <a:r>
                  <a:rPr lang="en-US" altLang="en-US" dirty="0" err="1"/>
                  <a:t>como</a:t>
                </a:r>
                <a:r>
                  <a:rPr lang="en-US" altLang="en-US" dirty="0"/>
                  <a:t> da </a:t>
                </a:r>
                <a:r>
                  <a:rPr lang="en-US" dirty="0" err="1"/>
                  <a:t>Satisfatibilidade</a:t>
                </a:r>
                <a:r>
                  <a:rPr lang="en-US" dirty="0"/>
                  <a:t> </a:t>
                </a:r>
                <a:r>
                  <a:rPr lang="en-US" dirty="0" err="1"/>
                  <a:t>Booleana</a:t>
                </a:r>
                <a:r>
                  <a:rPr lang="en-US" altLang="en-US" dirty="0"/>
                  <a:t>, </a:t>
                </a:r>
                <a:r>
                  <a:rPr lang="en-US" altLang="en-US" dirty="0" err="1"/>
                  <a:t>Caixeiro</a:t>
                </a:r>
                <a:r>
                  <a:rPr lang="en-US" altLang="en-US" dirty="0"/>
                  <a:t> </a:t>
                </a:r>
                <a:r>
                  <a:rPr lang="en-US" altLang="en-US" dirty="0" err="1"/>
                  <a:t>Viajante</a:t>
                </a:r>
                <a:r>
                  <a:rPr lang="en-US" altLang="en-US" dirty="0"/>
                  <a:t> e o </a:t>
                </a:r>
                <a:r>
                  <a:rPr lang="en-US" altLang="en-US" dirty="0" err="1"/>
                  <a:t>C</a:t>
                </a:r>
                <a:r>
                  <a:rPr lang="en-US" dirty="0" err="1"/>
                  <a:t>aminho</a:t>
                </a:r>
                <a:r>
                  <a:rPr lang="en-US" dirty="0"/>
                  <a:t> </a:t>
                </a:r>
                <a:r>
                  <a:rPr lang="en-US" dirty="0" err="1"/>
                  <a:t>Hamiltoniano</a:t>
                </a:r>
                <a:r>
                  <a:rPr lang="en-US" altLang="en-US" dirty="0"/>
                  <a:t>. </a:t>
                </a:r>
              </a:p>
              <a:p>
                <a:endParaRPr lang="pt-BR" dirty="0"/>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211692" cy="5032376"/>
              </a:xfrm>
              <a:blipFill>
                <a:blip r:embed="rId3"/>
                <a:stretch>
                  <a:fillRect l="-979" t="-1937" r="-1359"/>
                </a:stretch>
              </a:blipFill>
            </p:spPr>
            <p:txBody>
              <a:bodyPr/>
              <a:lstStyle/>
              <a:p>
                <a:r>
                  <a:rPr lang="en-US">
                    <a:noFill/>
                  </a:rPr>
                  <a:t> </a:t>
                </a:r>
              </a:p>
            </p:txBody>
          </p:sp>
        </mc:Fallback>
      </mc:AlternateContent>
    </p:spTree>
    <p:extLst>
      <p:ext uri="{BB962C8B-B14F-4D97-AF65-F5344CB8AC3E}">
        <p14:creationId xmlns:p14="http://schemas.microsoft.com/office/powerpoint/2010/main" val="3586180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são problemas NP-completos, em geral, usa-se </a:t>
            </a:r>
            <a:r>
              <a:rPr lang="pt-BR" b="1" i="1" dirty="0"/>
              <a:t>abordagens heurísticas </a:t>
            </a:r>
            <a:r>
              <a:rPr lang="pt-BR" dirty="0"/>
              <a:t>para induzir árvores de decisão. </a:t>
            </a:r>
          </a:p>
          <a:p>
            <a:r>
              <a:rPr lang="pt-BR" dirty="0"/>
              <a:t>Dentre os mais conhecidos 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i="1" dirty="0">
                <a:solidFill>
                  <a:srgbClr val="7030A0"/>
                </a:solidFill>
              </a:rPr>
              <a:t>heurísticos</a:t>
            </a:r>
            <a:r>
              <a:rPr lang="pt-BR" dirty="0"/>
              <a:t> de indução de árvores de decisão mais utilizados é o </a:t>
            </a:r>
            <a:r>
              <a:rPr lang="pt-BR" b="1" i="1" dirty="0"/>
              <a:t>ID3 </a:t>
            </a:r>
            <a:r>
              <a:rPr lang="pt-BR" dirty="0"/>
              <a:t>(do inglês, </a:t>
            </a:r>
            <a:r>
              <a:rPr lang="pt-BR" b="1" i="1" dirty="0" err="1"/>
              <a:t>Iterative</a:t>
            </a:r>
            <a:r>
              <a:rPr lang="pt-BR" b="1" i="1" dirty="0"/>
              <a:t> </a:t>
            </a:r>
            <a:r>
              <a:rPr lang="pt-BR" b="1" i="1" dirty="0" err="1"/>
              <a:t>Dichotomiser</a:t>
            </a:r>
            <a:r>
              <a:rPr lang="pt-BR" b="1" i="1" dirty="0"/>
              <a:t> 3</a:t>
            </a:r>
            <a:r>
              <a:rPr lang="pt-BR" dirty="0"/>
              <a:t>).</a:t>
            </a:r>
          </a:p>
          <a:p>
            <a:pPr lvl="1">
              <a:buFont typeface="Wingdings" panose="05000000000000000000" pitchFamily="2" charset="2"/>
              <a:buChar char="§"/>
            </a:pPr>
            <a:r>
              <a:rPr lang="pt-BR" b="1" i="1" dirty="0">
                <a:solidFill>
                  <a:srgbClr val="7030A0"/>
                </a:solidFill>
              </a:rPr>
              <a:t>Heurística: </a:t>
            </a:r>
            <a:r>
              <a:rPr lang="pt-BR" dirty="0"/>
              <a:t>estratégia prática para encontrar uma solução rápida e aproximada.</a:t>
            </a:r>
            <a:endParaRPr lang="pt-BR" b="1" i="1" dirty="0"/>
          </a:p>
          <a:p>
            <a:pPr lvl="1">
              <a:buFont typeface="Wingdings" panose="05000000000000000000" pitchFamily="2" charset="2"/>
              <a:buChar char="§"/>
            </a:pPr>
            <a:r>
              <a:rPr lang="pt-BR" b="1" i="1" dirty="0" err="1">
                <a:solidFill>
                  <a:srgbClr val="00B050"/>
                </a:solidFill>
              </a:rPr>
              <a:t>Dicotomização</a:t>
            </a:r>
            <a:r>
              <a:rPr lang="pt-BR" b="1" i="1" dirty="0">
                <a:solidFill>
                  <a:srgbClr val="00B050"/>
                </a:solidFill>
              </a:rPr>
              <a:t> iterativa</a:t>
            </a:r>
            <a:r>
              <a:rPr lang="pt-BR" b="1" i="1" dirty="0"/>
              <a:t> </a:t>
            </a:r>
            <a:r>
              <a:rPr lang="pt-BR" dirty="0"/>
              <a:t>significa </a:t>
            </a:r>
            <a:r>
              <a:rPr lang="pt-BR" b="1" i="1" dirty="0">
                <a:solidFill>
                  <a:schemeClr val="accent2"/>
                </a:solidFill>
              </a:rPr>
              <a:t>dividir-se repetidamente os atributos em duas ou mais classes</a:t>
            </a:r>
            <a:r>
              <a:rPr lang="pt-BR" dirty="0"/>
              <a:t> a cada iteração (ou passo).</a:t>
            </a:r>
          </a:p>
          <a:p>
            <a:r>
              <a:rPr lang="pt-BR" dirty="0"/>
              <a:t>O </a:t>
            </a:r>
            <a:r>
              <a:rPr lang="pt-BR" b="1" i="1" dirty="0"/>
              <a:t>método ID3</a:t>
            </a:r>
            <a:r>
              <a:rPr lang="pt-BR" dirty="0"/>
              <a:t> é uma abordagem que </a:t>
            </a:r>
            <a:r>
              <a:rPr lang="pt-BR" b="1" i="1" dirty="0">
                <a:solidFill>
                  <a:srgbClr val="0070C0"/>
                </a:solidFill>
              </a:rPr>
              <a:t>não garante</a:t>
            </a:r>
            <a:r>
              <a:rPr lang="pt-BR" b="1" i="1" dirty="0"/>
              <a:t> </a:t>
            </a:r>
            <a:r>
              <a:rPr lang="pt-BR" dirty="0"/>
              <a:t>a obtenção da </a:t>
            </a:r>
            <a:r>
              <a:rPr lang="pt-BR" b="1" i="1" dirty="0">
                <a:solidFill>
                  <a:srgbClr val="0070C0"/>
                </a:solidFill>
              </a:rPr>
              <a:t>menor árvore possível</a:t>
            </a:r>
            <a:r>
              <a:rPr lang="pt-BR" dirty="0"/>
              <a:t>, mas busca obter </a:t>
            </a:r>
            <a:r>
              <a:rPr lang="pt-BR" b="1" i="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9871108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i="1" dirty="0"/>
              <a:t>estratégia </a:t>
            </a:r>
            <a:r>
              <a:rPr lang="pt-BR" b="1" i="1" dirty="0">
                <a:solidFill>
                  <a:srgbClr val="7030A0"/>
                </a:solidFill>
              </a:rPr>
              <a:t>gananciosa</a:t>
            </a:r>
            <a:r>
              <a:rPr lang="pt-BR" b="1" i="1" dirty="0"/>
              <a:t> </a:t>
            </a:r>
            <a:r>
              <a:rPr lang="pt-BR" b="1" i="1" dirty="0">
                <a:solidFill>
                  <a:schemeClr val="accent2"/>
                </a:solidFill>
              </a:rPr>
              <a:t>top-</a:t>
            </a:r>
            <a:r>
              <a:rPr lang="pt-BR" b="1" i="1" dirty="0" err="1">
                <a:solidFill>
                  <a:schemeClr val="accent2"/>
                </a:solidFill>
              </a:rPr>
              <a:t>down</a:t>
            </a:r>
            <a:r>
              <a:rPr lang="pt-BR" b="1" i="1" dirty="0"/>
              <a:t>.</a:t>
            </a:r>
            <a:endParaRPr lang="pt-BR" dirty="0"/>
          </a:p>
          <a:p>
            <a:r>
              <a:rPr lang="pt-BR" dirty="0"/>
              <a:t>Ou seja, a árvore é </a:t>
            </a:r>
            <a:r>
              <a:rPr lang="pt-BR" b="1" i="1" dirty="0">
                <a:solidFill>
                  <a:schemeClr val="accent2"/>
                </a:solidFill>
              </a:rPr>
              <a:t>criada de cima para baixo</a:t>
            </a:r>
            <a:r>
              <a:rPr lang="pt-BR" dirty="0"/>
              <a:t> e um </a:t>
            </a:r>
            <a:r>
              <a:rPr lang="pt-BR" b="1" i="1" dirty="0">
                <a:solidFill>
                  <a:srgbClr val="00B050"/>
                </a:solidFill>
              </a:rPr>
              <a:t>nó é escolhido </a:t>
            </a:r>
            <a:r>
              <a:rPr lang="pt-BR" dirty="0"/>
              <a:t>selecionando-se o </a:t>
            </a:r>
            <a:r>
              <a:rPr lang="pt-BR" b="1" i="1" dirty="0">
                <a:solidFill>
                  <a:srgbClr val="00B050"/>
                </a:solidFill>
              </a:rPr>
              <a:t>atributo que melhor divide o conjunto de dados</a:t>
            </a:r>
            <a:r>
              <a:rPr lang="pt-BR" dirty="0"/>
              <a:t> </a:t>
            </a:r>
            <a:r>
              <a:rPr lang="pt-BR" b="1" i="1" dirty="0">
                <a:solidFill>
                  <a:srgbClr val="7030A0"/>
                </a:solidFill>
              </a:rPr>
              <a:t>naquele</a:t>
            </a:r>
            <a:r>
              <a:rPr lang="pt-BR" dirty="0"/>
              <a:t> </a:t>
            </a:r>
            <a:r>
              <a:rPr lang="pt-BR" b="1" i="1" dirty="0">
                <a:solidFill>
                  <a:srgbClr val="7030A0"/>
                </a:solidFill>
              </a:rPr>
              <a:t>momento</a:t>
            </a:r>
            <a:r>
              <a:rPr lang="pt-BR" dirty="0"/>
              <a:t>.</a:t>
            </a:r>
            <a:endParaRPr lang="pt-BR" b="1" i="1" dirty="0"/>
          </a:p>
          <a:p>
            <a:r>
              <a:rPr lang="pt-BR" dirty="0"/>
              <a:t>Mas como se decide qual é o melhor atributo? </a:t>
            </a:r>
          </a:p>
          <a:p>
            <a:r>
              <a:rPr lang="pt-BR" dirty="0"/>
              <a:t>Qual é a métrica usada?</a:t>
            </a:r>
          </a:p>
          <a:p>
            <a:r>
              <a:rPr lang="pt-BR" dirty="0"/>
              <a:t>O </a:t>
            </a:r>
            <a:r>
              <a:rPr lang="pt-BR" b="1" i="1" dirty="0"/>
              <a:t>método ID3</a:t>
            </a:r>
            <a:r>
              <a:rPr lang="pt-BR" dirty="0"/>
              <a:t> se baseia na </a:t>
            </a:r>
            <a:r>
              <a:rPr lang="pt-BR" b="1" i="1" dirty="0"/>
              <a:t>teoria da informação</a:t>
            </a:r>
            <a:r>
              <a:rPr lang="pt-BR" dirty="0"/>
              <a:t> para selecionar o melhor atributo de cada nó da árvore.</a:t>
            </a:r>
          </a:p>
        </p:txBody>
      </p:sp>
    </p:spTree>
    <p:extLst>
      <p:ext uri="{BB962C8B-B14F-4D97-AF65-F5344CB8AC3E}">
        <p14:creationId xmlns:p14="http://schemas.microsoft.com/office/powerpoint/2010/main" val="36828767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A ideia do </a:t>
            </a:r>
            <a:r>
              <a:rPr lang="pt-BR" b="1" i="1" dirty="0"/>
              <a:t>método ID3</a:t>
            </a:r>
            <a:r>
              <a:rPr lang="pt-BR" dirty="0"/>
              <a:t> é escolher como </a:t>
            </a:r>
            <a:r>
              <a:rPr lang="pt-BR" b="1" i="1" dirty="0"/>
              <a:t>nó</a:t>
            </a:r>
            <a:r>
              <a:rPr lang="pt-BR" dirty="0"/>
              <a:t> o </a:t>
            </a:r>
            <a:r>
              <a:rPr lang="pt-BR" b="1" i="1" dirty="0">
                <a:solidFill>
                  <a:schemeClr val="accent2"/>
                </a:solidFill>
              </a:rPr>
              <a:t>atributo que for o mais longe possível em dividir os exemplos</a:t>
            </a:r>
            <a:r>
              <a:rPr lang="pt-BR" dirty="0"/>
              <a:t>. </a:t>
            </a:r>
          </a:p>
          <a:p>
            <a:r>
              <a:rPr lang="pt-BR" dirty="0"/>
              <a:t>Um </a:t>
            </a:r>
            <a:r>
              <a:rPr lang="pt-BR" b="1" i="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i="1" dirty="0">
                <a:solidFill>
                  <a:srgbClr val="00B050"/>
                </a:solidFill>
              </a:rPr>
              <a:t>explicar perfeitamente o conjunto de dados</a:t>
            </a:r>
            <a:r>
              <a:rPr lang="pt-BR" dirty="0"/>
              <a:t>.</a:t>
            </a:r>
          </a:p>
          <a:p>
            <a:r>
              <a:rPr lang="pt-BR" dirty="0"/>
              <a:t>Por exemplo, o atributo </a:t>
            </a:r>
            <a:r>
              <a:rPr lang="pt-BR" b="1" dirty="0" err="1"/>
              <a:t>Windy</a:t>
            </a:r>
            <a:r>
              <a:rPr lang="pt-BR" dirty="0"/>
              <a:t> divido as exemplos perfeitamente em duas classes.</a:t>
            </a:r>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3727843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i="1" dirty="0">
                <a:solidFill>
                  <a:srgbClr val="00B050"/>
                </a:solidFill>
              </a:rPr>
              <a:t>atributo razoavelmente bom </a:t>
            </a:r>
            <a:r>
              <a:rPr lang="pt-BR" dirty="0"/>
              <a:t>ou </a:t>
            </a:r>
            <a:r>
              <a:rPr lang="pt-BR" b="1" i="1" dirty="0">
                <a:solidFill>
                  <a:srgbClr val="00B050"/>
                </a:solidFill>
              </a:rPr>
              <a:t>realmente inútil</a:t>
            </a:r>
            <a:r>
              <a:rPr lang="pt-BR" dirty="0"/>
              <a:t>.</a:t>
            </a:r>
          </a:p>
          <a:p>
            <a:r>
              <a:rPr lang="pt-BR" dirty="0"/>
              <a:t>O </a:t>
            </a:r>
            <a:r>
              <a:rPr lang="pt-BR" b="1" i="1" dirty="0"/>
              <a:t>método ID3</a:t>
            </a:r>
            <a:r>
              <a:rPr lang="pt-BR" dirty="0"/>
              <a:t> utiliza a noção de </a:t>
            </a:r>
            <a:r>
              <a:rPr lang="pt-BR" b="1" i="1" dirty="0">
                <a:solidFill>
                  <a:schemeClr val="accent2"/>
                </a:solidFill>
              </a:rPr>
              <a:t>ganho de informação</a:t>
            </a:r>
            <a:r>
              <a:rPr lang="pt-BR" dirty="0"/>
              <a:t>, o qual é </a:t>
            </a:r>
            <a:r>
              <a:rPr lang="pt-BR" b="1" i="1" dirty="0">
                <a:solidFill>
                  <a:srgbClr val="7030A0"/>
                </a:solidFill>
              </a:rPr>
              <a:t>definido em termos da entropia</a:t>
            </a:r>
            <a:r>
              <a:rPr lang="pt-BR" dirty="0"/>
              <a:t>, que é uma quantidade fundamental em </a:t>
            </a:r>
            <a:r>
              <a:rPr lang="pt-BR" b="1" i="1" dirty="0"/>
              <a:t>teoria da informação</a:t>
            </a:r>
            <a:r>
              <a:rPr lang="pt-BR" dirty="0"/>
              <a:t>.</a:t>
            </a:r>
          </a:p>
          <a:p>
            <a:r>
              <a:rPr lang="pt-BR" dirty="0"/>
              <a:t>A seguir, veremos alguns conceitos úteis para que possamos usar o </a:t>
            </a:r>
            <a:r>
              <a:rPr lang="pt-BR" b="1" i="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35188538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É uma </a:t>
            </a:r>
            <a:r>
              <a:rPr lang="pt-BR" b="1" i="1" dirty="0">
                <a:solidFill>
                  <a:srgbClr val="7030A0"/>
                </a:solidFill>
              </a:rPr>
              <a:t>propriedade estatística</a:t>
            </a:r>
            <a:r>
              <a:rPr lang="pt-BR" b="1" i="1" dirty="0"/>
              <a:t> </a:t>
            </a:r>
            <a:r>
              <a:rPr lang="pt-BR" dirty="0"/>
              <a:t>que </a:t>
            </a:r>
            <a:r>
              <a:rPr lang="pt-BR" b="1" i="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i="1" dirty="0"/>
              <a:t>árvore de decisão </a:t>
            </a:r>
            <a:r>
              <a:rPr lang="pt-BR" dirty="0"/>
              <a:t>tem tudo a ver com encontrar, a cada momento (i.e., a cada nó), um </a:t>
            </a:r>
            <a:r>
              <a:rPr lang="pt-BR" b="1" i="1" dirty="0"/>
              <a:t>atributo</a:t>
            </a:r>
            <a:r>
              <a:rPr lang="pt-BR" dirty="0"/>
              <a:t> que retorne o maior </a:t>
            </a:r>
            <a:r>
              <a:rPr lang="pt-BR" b="1" i="1" dirty="0"/>
              <a:t>ganho de informação</a:t>
            </a:r>
            <a:r>
              <a:rPr lang="pt-BR" dirty="0"/>
              <a:t>.</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53929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É uma medida da </a:t>
            </a:r>
            <a:r>
              <a:rPr lang="pt-BR" b="1" i="1" dirty="0">
                <a:solidFill>
                  <a:srgbClr val="00B050"/>
                </a:solidFill>
              </a:rPr>
              <a:t>quantidade de incerteza ou aleatoriedade</a:t>
            </a:r>
            <a:r>
              <a:rPr lang="pt-BR" dirty="0"/>
              <a:t> de uma variável aleatória (i.e., um conjunto de dados).</a:t>
            </a:r>
          </a:p>
          <a:p>
            <a:r>
              <a:rPr lang="pt-BR" dirty="0"/>
              <a:t>Portanto, </a:t>
            </a:r>
            <a:r>
              <a:rPr lang="pt-BR" b="1" i="1" dirty="0">
                <a:solidFill>
                  <a:schemeClr val="accent2"/>
                </a:solidFill>
              </a:rPr>
              <a:t>um ganho de informação </a:t>
            </a:r>
            <a:r>
              <a:rPr lang="pt-BR" dirty="0"/>
              <a:t>corresponde a uma </a:t>
            </a:r>
            <a:r>
              <a:rPr lang="pt-BR" b="1" i="1" dirty="0">
                <a:solidFill>
                  <a:schemeClr val="accent2"/>
                </a:solidFill>
              </a:rPr>
              <a:t>redução na entropia</a:t>
            </a:r>
            <a:r>
              <a:rPr lang="pt-BR" dirty="0"/>
              <a:t>.</a:t>
            </a:r>
          </a:p>
          <a:p>
            <a:r>
              <a:rPr lang="pt-BR" dirty="0"/>
              <a:t>Quando </a:t>
            </a:r>
            <a:r>
              <a:rPr lang="pt-BR" b="1" i="1" dirty="0">
                <a:solidFill>
                  <a:srgbClr val="7030A0"/>
                </a:solidFill>
              </a:rPr>
              <a:t>ganhamos informação</a:t>
            </a:r>
            <a:r>
              <a:rPr lang="pt-BR" dirty="0"/>
              <a:t> sobre o conjunto, a </a:t>
            </a:r>
            <a:r>
              <a:rPr lang="pt-BR" b="1" i="1" dirty="0">
                <a:solidFill>
                  <a:srgbClr val="7030A0"/>
                </a:solidFill>
              </a:rPr>
              <a:t>incerteza diminui</a:t>
            </a:r>
            <a:r>
              <a:rPr lang="pt-BR" dirty="0"/>
              <a:t>.</a:t>
            </a:r>
          </a:p>
          <a:p>
            <a:r>
              <a:rPr lang="pt-BR" dirty="0"/>
              <a:t>O ganho é o quanto conseguimos explicar do conjunto com aquele atributo.</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211053" y="1825624"/>
                <a:ext cx="7838839" cy="5032376"/>
              </a:xfrm>
            </p:spPr>
            <p:txBody>
              <a:bodyPr>
                <a:normAutofit/>
              </a:bodyPr>
              <a:lstStyle/>
              <a:p>
                <a:r>
                  <a:rPr lang="pt-BR" dirty="0"/>
                  <a:t>O </a:t>
                </a:r>
                <a:r>
                  <a:rPr lang="pt-BR" b="1" i="1" dirty="0">
                    <a:solidFill>
                      <a:schemeClr val="accent2"/>
                    </a:solidFill>
                  </a:rPr>
                  <a:t>ganho de informação</a:t>
                </a:r>
                <a:r>
                  <a:rPr lang="pt-BR" dirty="0"/>
                  <a:t> nos dá a </a:t>
                </a:r>
                <a:r>
                  <a:rPr lang="pt-BR" b="1" i="1" dirty="0">
                    <a:solidFill>
                      <a:srgbClr val="00B050"/>
                    </a:solidFill>
                  </a:rPr>
                  <a:t>diferença entre a entropia antes e após a divisão do conjunto de dados</a:t>
                </a:r>
                <a:r>
                  <a:rPr lang="pt-BR" dirty="0"/>
                  <a:t> com base nos valores de um determinado atributo.</a:t>
                </a:r>
                <a:r>
                  <a:rPr lang="pt-BR" baseline="0" dirty="0"/>
                  <a:t> </a:t>
                </a:r>
              </a:p>
              <a:p>
                <a:r>
                  <a:rPr lang="pt-BR" baseline="0" dirty="0"/>
                  <a:t>Assim, podemos escrever que o </a:t>
                </a:r>
                <a:r>
                  <a:rPr lang="pt-BR" b="1" i="1" baseline="0" dirty="0">
                    <a:solidFill>
                      <a:schemeClr val="accent2"/>
                    </a:solidFill>
                  </a:rPr>
                  <a:t>ganho de informação</a:t>
                </a:r>
                <a:r>
                  <a:rPr lang="pt-BR" baseline="0" dirty="0"/>
                  <a:t> é dado por</a:t>
                </a:r>
              </a:p>
              <a:p>
                <a:pPr marL="0" indent="0">
                  <a:buNone/>
                </a:pPr>
                <a:endParaRPr lang="pt-BR" sz="2000" dirty="0"/>
              </a:p>
              <a:p>
                <a:pPr marL="0" indent="0" algn="ctr">
                  <a:buNone/>
                </a:pPr>
                <a14:m>
                  <m:oMathPara xmlns:m="http://schemas.openxmlformats.org/officeDocument/2006/math">
                    <m:oMathParaPr>
                      <m:jc m:val="centerGroup"/>
                    </m:oMathParaPr>
                    <m:oMath xmlns:m="http://schemas.openxmlformats.org/officeDocument/2006/math">
                      <m:r>
                        <a:rPr lang="pt-BR" sz="2300" i="1">
                          <a:latin typeface="Cambria Math" panose="02040503050406030204" pitchFamily="18" charset="0"/>
                        </a:rPr>
                        <m:t>𝐺𝑎𝑖𝑛</m:t>
                      </m:r>
                      <m:r>
                        <a:rPr lang="pt-BR" sz="2300" i="1">
                          <a:latin typeface="Cambria Math" panose="02040503050406030204" pitchFamily="18" charset="0"/>
                        </a:rPr>
                        <m:t>=</m:t>
                      </m:r>
                      <m:r>
                        <a:rPr lang="pt-BR" sz="2300" i="1">
                          <a:latin typeface="Cambria Math" panose="02040503050406030204" pitchFamily="18" charset="0"/>
                        </a:rPr>
                        <m:t>𝑒𝑛𝑡𝑟𝑜𝑝𝑖𝑎𝐴𝑛𝑡𝑒𝑠𝐷𝑎𝐷𝑖𝑣𝑖𝑠</m:t>
                      </m:r>
                      <m:r>
                        <a:rPr lang="pt-BR" sz="2300" i="1">
                          <a:latin typeface="Cambria Math" panose="02040503050406030204" pitchFamily="18" charset="0"/>
                        </a:rPr>
                        <m:t>ã</m:t>
                      </m:r>
                      <m:r>
                        <a:rPr lang="pt-BR" sz="2300" i="1">
                          <a:latin typeface="Cambria Math" panose="02040503050406030204" pitchFamily="18" charset="0"/>
                        </a:rPr>
                        <m:t>𝑜</m:t>
                      </m:r>
                      <m:r>
                        <a:rPr lang="pt-BR" sz="2300" i="1">
                          <a:latin typeface="Cambria Math" panose="02040503050406030204" pitchFamily="18" charset="0"/>
                        </a:rPr>
                        <m:t> −</m:t>
                      </m:r>
                      <m:r>
                        <a:rPr lang="pt-BR" sz="2300" i="1">
                          <a:latin typeface="Cambria Math" panose="02040503050406030204" pitchFamily="18" charset="0"/>
                        </a:rPr>
                        <m:t>𝑒𝑛𝑡𝑟𝑜𝑝𝑖𝑎𝐴𝑝</m:t>
                      </m:r>
                      <m:r>
                        <a:rPr lang="pt-BR" sz="2300" b="0" i="1" smtClean="0">
                          <a:latin typeface="Cambria Math" panose="02040503050406030204" pitchFamily="18" charset="0"/>
                        </a:rPr>
                        <m:t>ó</m:t>
                      </m:r>
                      <m:r>
                        <a:rPr lang="pt-BR" sz="2300" b="0" i="1" smtClean="0">
                          <a:latin typeface="Cambria Math" panose="02040503050406030204" pitchFamily="18" charset="0"/>
                        </a:rPr>
                        <m:t>𝑠𝐴𝐷𝑖𝑣𝑖𝑠</m:t>
                      </m:r>
                      <m:r>
                        <a:rPr lang="pt-BR" sz="2300" i="1">
                          <a:latin typeface="Cambria Math" panose="02040503050406030204" pitchFamily="18" charset="0"/>
                        </a:rPr>
                        <m:t>ã</m:t>
                      </m:r>
                      <m:r>
                        <a:rPr lang="pt-BR" sz="2300" i="1">
                          <a:latin typeface="Cambria Math" panose="02040503050406030204" pitchFamily="18" charset="0"/>
                        </a:rPr>
                        <m:t>𝑜</m:t>
                      </m:r>
                    </m:oMath>
                  </m:oMathPara>
                </a14:m>
                <a:endParaRPr lang="pt-BR" sz="2300" i="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211053" y="1825624"/>
                <a:ext cx="7838839" cy="5032376"/>
              </a:xfrm>
              <a:blipFill>
                <a:blip r:embed="rId3"/>
                <a:stretch>
                  <a:fillRect l="-1400" t="-1937" r="-1477"/>
                </a:stretch>
              </a:blipFill>
            </p:spPr>
            <p:txBody>
              <a:bodyPr/>
              <a:lstStyle/>
              <a:p>
                <a:r>
                  <a:rPr lang="pt-BR">
                    <a:noFill/>
                  </a:rPr>
                  <a:t> </a:t>
                </a:r>
              </a:p>
            </p:txBody>
          </p:sp>
        </mc:Fallback>
      </mc:AlternateContent>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278270" y="2466474"/>
            <a:ext cx="3845110" cy="2977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61133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Uma variável com apenas um único valor (e.g., o arremesso de uma moeda com </a:t>
            </a:r>
            <a:r>
              <a:rPr lang="pt-BR" b="1" i="1" dirty="0"/>
              <a:t>cara</a:t>
            </a:r>
            <a:r>
              <a:rPr lang="pt-BR" dirty="0"/>
              <a:t> em ambos os lados) não tem nenhuma </a:t>
            </a:r>
            <a:r>
              <a:rPr lang="pt-BR" b="1" i="1" dirty="0"/>
              <a:t>incerteza</a:t>
            </a:r>
            <a:r>
              <a:rPr lang="pt-BR" dirty="0"/>
              <a:t> associada </a:t>
            </a:r>
          </a:p>
          <a:p>
            <a:r>
              <a:rPr lang="pt-BR" dirty="0"/>
              <a:t>Portanto, sua </a:t>
            </a:r>
            <a:r>
              <a:rPr lang="pt-BR" b="1" i="1" dirty="0">
                <a:solidFill>
                  <a:srgbClr val="7030A0"/>
                </a:solidFill>
              </a:rPr>
              <a:t>entropia é igual a zero</a:t>
            </a:r>
            <a:r>
              <a:rPr lang="pt-BR" dirty="0"/>
              <a:t>. </a:t>
            </a:r>
          </a:p>
          <a:p>
            <a:r>
              <a:rPr lang="pt-BR" dirty="0"/>
              <a:t>Isso significa que </a:t>
            </a:r>
            <a:r>
              <a:rPr lang="pt-BR" b="1" i="1" dirty="0"/>
              <a:t>não se ganha nenhuma informação nova ao se observar o valor</a:t>
            </a:r>
            <a:r>
              <a:rPr lang="pt-BR" dirty="0"/>
              <a:t>.</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7111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i="1" dirty="0"/>
              <a:t>moeda honesta </a:t>
            </a:r>
            <a:r>
              <a:rPr lang="pt-BR" dirty="0"/>
              <a:t>é igualmente provável de resultar em </a:t>
            </a:r>
            <a:r>
              <a:rPr lang="pt-BR" b="1" i="1" dirty="0"/>
              <a:t>cara</a:t>
            </a:r>
            <a:r>
              <a:rPr lang="pt-BR" dirty="0"/>
              <a:t> ou </a:t>
            </a:r>
            <a:r>
              <a:rPr lang="pt-BR" b="1" i="1" dirty="0"/>
              <a:t>coroa</a:t>
            </a:r>
            <a:r>
              <a:rPr lang="pt-BR" dirty="0"/>
              <a:t>, os quais são associados aos valores 0 ou 1, respectivamente. </a:t>
            </a:r>
          </a:p>
          <a:p>
            <a:r>
              <a:rPr lang="pt-BR" dirty="0"/>
              <a:t>Neste caso, esta variável tem</a:t>
            </a:r>
            <a:r>
              <a:rPr lang="pt-BR" b="1" i="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15946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i="1" dirty="0">
                <a:solidFill>
                  <a:srgbClr val="7030A0"/>
                </a:solidFill>
              </a:rPr>
              <a:t>dado honesto de 4 lados</a:t>
            </a:r>
            <a:r>
              <a:rPr lang="pt-BR" dirty="0"/>
              <a:t>, </a:t>
            </a:r>
            <a:r>
              <a:rPr lang="pt-BR" b="1" i="1" dirty="0">
                <a:solidFill>
                  <a:srgbClr val="7030A0"/>
                </a:solidFill>
              </a:rPr>
              <a:t>tem 2 bits de entropia</a:t>
            </a:r>
            <a:r>
              <a:rPr lang="pt-BR" dirty="0"/>
              <a:t>, pois necessita-se de 2 bits para se representar os 4 possíveis valores.</a:t>
            </a:r>
          </a:p>
          <a:p>
            <a:r>
              <a:rPr lang="pt-BR" dirty="0"/>
              <a:t>Agora imaginem um </a:t>
            </a:r>
            <a:r>
              <a:rPr lang="pt-BR" b="1" i="1" dirty="0">
                <a:solidFill>
                  <a:schemeClr val="accent2"/>
                </a:solidFill>
              </a:rPr>
              <a:t>moeda desonesta </a:t>
            </a:r>
            <a:r>
              <a:rPr lang="pt-BR" dirty="0"/>
              <a:t>que tenha uma probabilidade de resultar em </a:t>
            </a:r>
            <a:r>
              <a:rPr lang="pt-BR" b="1" i="1" dirty="0"/>
              <a:t>cara</a:t>
            </a:r>
            <a:r>
              <a:rPr lang="pt-BR" dirty="0"/>
              <a:t> em 99% dos arremessos. </a:t>
            </a:r>
          </a:p>
          <a:p>
            <a:r>
              <a:rPr lang="pt-BR" dirty="0"/>
              <a:t>Nesse caso, a </a:t>
            </a:r>
            <a:r>
              <a:rPr lang="pt-BR" b="1" i="1" dirty="0">
                <a:solidFill>
                  <a:srgbClr val="00B050"/>
                </a:solidFill>
              </a:rPr>
              <a:t>entropia</a:t>
            </a:r>
            <a:r>
              <a:rPr lang="pt-BR" dirty="0"/>
              <a:t> deve ser um </a:t>
            </a:r>
            <a:r>
              <a:rPr lang="pt-BR" b="1" i="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79217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665092" cy="5032376"/>
              </a:xfrm>
            </p:spPr>
            <p:txBody>
              <a:bodyPr>
                <a:normAutofit/>
              </a:bodyPr>
              <a:lstStyle/>
              <a:p>
                <a:r>
                  <a:rPr lang="pt-BR" dirty="0"/>
                  <a:t>Assim, a </a:t>
                </a:r>
                <a:r>
                  <a:rPr lang="pt-BR" b="1" i="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665092" cy="5032376"/>
              </a:xfrm>
              <a:blipFill>
                <a:blip r:embed="rId3"/>
                <a:stretch>
                  <a:fillRect l="-1645" t="-1937" r="-2834"/>
                </a:stretch>
              </a:blipFill>
            </p:spPr>
            <p:txBody>
              <a:bodyPr/>
              <a:lstStyle/>
              <a:p>
                <a:r>
                  <a:rPr lang="pt-BR">
                    <a:noFill/>
                  </a:rPr>
                  <a:t> </a:t>
                </a:r>
              </a:p>
            </p:txBody>
          </p:sp>
        </mc:Fallback>
      </mc:AlternateContent>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5411" cy="5032376"/>
              </a:xfrm>
            </p:spPr>
            <p:txBody>
              <a:bodyPr>
                <a:normAutofit/>
              </a:bodyPr>
              <a:lstStyle/>
              <a:p>
                <a:r>
                  <a:rPr lang="pt-BR" dirty="0"/>
                  <a:t>Retornando ao problema da indução de </a:t>
                </a:r>
                <a:r>
                  <a:rPr lang="pt-BR" b="1" i="1" dirty="0"/>
                  <a:t>árvores de decisão</a:t>
                </a:r>
                <a:r>
                  <a:rPr lang="pt-BR" dirty="0"/>
                  <a:t> nós temos que 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i="1" dirty="0"/>
                  <a:t>entropia de uma variável booleana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5411" cy="5032376"/>
              </a:xfrm>
              <a:blipFill>
                <a:blip r:embed="rId3"/>
                <a:stretch>
                  <a:fillRect l="-1088" t="-1937" r="-1577"/>
                </a:stretch>
              </a:blipFill>
            </p:spPr>
            <p:txBody>
              <a:bodyPr/>
              <a:lstStyle/>
              <a:p>
                <a:r>
                  <a:rPr lang="pt-BR">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69316"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i="1" dirty="0">
                    <a:solidFill>
                      <a:srgbClr val="00B050"/>
                    </a:solidFill>
                  </a:rPr>
                  <a:t>toda ou apenas parte da </a:t>
                </a:r>
                <a:r>
                  <a:rPr lang="pt-BR" b="1" i="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i="1" dirty="0"/>
                  <a:t>quanto cada atributo contribui para a </a:t>
                </a:r>
                <a:r>
                  <a:rPr lang="pt-BR" b="1" i="1" dirty="0">
                    <a:solidFill>
                      <a:srgbClr val="00B050"/>
                    </a:solidFill>
                  </a:rPr>
                  <a:t>entropia do objetivo </a:t>
                </a:r>
                <a:r>
                  <a:rPr lang="pt-BR" dirty="0"/>
                  <a:t>através do cálculo da </a:t>
                </a:r>
                <a:r>
                  <a:rPr lang="pt-BR" b="1" i="1" dirty="0">
                    <a:solidFill>
                      <a:schemeClr val="accent2"/>
                    </a:solidFill>
                  </a:rPr>
                  <a:t>entropia restante após o teste do atributo</a:t>
                </a:r>
                <a:r>
                  <a:rPr lang="pt-BR" dirty="0"/>
                  <a:t>.</a:t>
                </a:r>
              </a:p>
              <a:p>
                <a:r>
                  <a:rPr lang="pt-BR" dirty="0"/>
                  <a:t>Um </a:t>
                </a:r>
                <a:r>
                  <a:rPr lang="pt-BR" b="1" i="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i="1" dirty="0"/>
                  <a:t>com </a:t>
                </a:r>
                <a14:m>
                  <m:oMath xmlns:m="http://schemas.openxmlformats.org/officeDocument/2006/math">
                    <m:r>
                      <a:rPr lang="pt-BR" b="0" i="1" smtClean="0">
                        <a:latin typeface="Cambria Math" panose="02040503050406030204" pitchFamily="18" charset="0"/>
                      </a:rPr>
                      <m:t>𝑑</m:t>
                    </m:r>
                  </m:oMath>
                </a14:m>
                <a:r>
                  <a:rPr lang="pt-BR" b="1" i="1" dirty="0"/>
                  <a:t> 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em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i="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69316" cy="5032376"/>
              </a:xfrm>
              <a:blipFill>
                <a:blip r:embed="rId3"/>
                <a:stretch>
                  <a:fillRect l="-983" t="-1937" r="-1310"/>
                </a:stretch>
              </a:blipFill>
            </p:spPr>
            <p:txBody>
              <a:bodyPr/>
              <a:lstStyle/>
              <a:p>
                <a:r>
                  <a:rPr lang="pt-BR">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217442"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i="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i="1" dirty="0">
                    <a:solidFill>
                      <a:schemeClr val="accent2"/>
                    </a:solidFill>
                  </a:rPr>
                  <a:t>ganho de informação</a:t>
                </a:r>
                <a:r>
                  <a:rPr lang="pt-BR" b="1" i="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i="1" dirty="0">
                    <a:solidFill>
                      <a:srgbClr val="7030A0"/>
                    </a:solidFill>
                  </a:rPr>
                  <a:t>redução na entropia</a:t>
                </a:r>
                <a:r>
                  <a:rPr lang="pt-BR" dirty="0">
                    <a:solidFill>
                      <a:srgbClr val="7030A0"/>
                    </a:solidFill>
                  </a:rPr>
                  <a:t> </a:t>
                </a:r>
                <a:r>
                  <a:rPr lang="pt-BR" b="1" i="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217442" cy="5032376"/>
              </a:xfrm>
              <a:blipFill>
                <a:blip r:embed="rId3"/>
                <a:stretch>
                  <a:fillRect l="-978" t="-1937"/>
                </a:stretch>
              </a:blipFill>
            </p:spPr>
            <p:txBody>
              <a:bodyPr/>
              <a:lstStyle/>
              <a:p>
                <a:r>
                  <a:rPr lang="pt-BR">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i="1" dirty="0"/>
                  <a:t>método ID3 </a:t>
                </a:r>
                <a:r>
                  <a:rPr lang="pt-BR" dirty="0"/>
                  <a:t>é encontrar o </a:t>
                </a:r>
                <a:r>
                  <a:rPr lang="pt-BR" b="1" i="1" dirty="0">
                    <a:solidFill>
                      <a:schemeClr val="accent2"/>
                    </a:solidFill>
                  </a:rPr>
                  <a:t>atributo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que maximiza o ganho de informação</a:t>
                </a:r>
                <a:r>
                  <a:rPr lang="pt-BR" dirty="0"/>
                  <a:t> e, então, usar o procedimento </a:t>
                </a:r>
                <a:r>
                  <a:rPr lang="pt-BR" b="1" i="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3052"/>
                </a:stretch>
              </a:blipFill>
            </p:spPr>
            <p:txBody>
              <a:bodyPr/>
              <a:lstStyle/>
              <a:p>
                <a:r>
                  <a:rPr lang="pt-BR">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57284" cy="5032376"/>
              </a:xfrm>
            </p:spPr>
            <p:txBody>
              <a:bodyPr>
                <a:normAutofit fontScale="92500" lnSpcReduction="10000"/>
              </a:bodyPr>
              <a:lstStyle/>
              <a:p>
                <a:pPr marL="457200" indent="-457200">
                  <a:buFont typeface="+mj-lt"/>
                  <a:buAutoNum type="alphaLcParenR"/>
                </a:pPr>
                <a:r>
                  <a:rPr lang="pt-BR" dirty="0"/>
                  <a:t>Cálculo da </a:t>
                </a:r>
                <a:r>
                  <a:rPr lang="pt-BR" b="1" i="1" dirty="0"/>
                  <a:t>entropia do objetivo </a:t>
                </a:r>
                <a:r>
                  <a:rPr lang="pt-BR" dirty="0"/>
                  <a:t>para o (sub)conjunto de treinamento </a:t>
                </a:r>
                <a:r>
                  <a:rPr lang="pt-BR" b="1" i="1" dirty="0"/>
                  <a:t>corrente</a:t>
                </a:r>
                <a:r>
                  <a:rPr lang="pt-BR" dirty="0"/>
                  <a:t>.</a:t>
                </a:r>
                <a:endParaRPr lang="pt-BR" b="1" i="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i="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i="1" dirty="0"/>
                  <a:t>ganho de informação</a:t>
                </a:r>
                <a:r>
                  <a:rPr lang="pt-BR" dirty="0"/>
                  <a:t>.</a:t>
                </a:r>
              </a:p>
              <a:p>
                <a:pPr marL="457200" indent="-457200">
                  <a:buFont typeface="+mj-lt"/>
                  <a:buAutoNum type="alphaLcParenR"/>
                </a:pPr>
                <a:r>
                  <a:rPr lang="pt-BR" b="1" i="1" dirty="0"/>
                  <a:t>Particionamento do (sub)conjunto em subconjuntos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i="1" dirty="0"/>
                  <a:t>ganho de informação </a:t>
                </a:r>
                <a:r>
                  <a:rPr lang="pt-BR" dirty="0"/>
                  <a:t>resultante após a divisão é maximizado.</a:t>
                </a:r>
              </a:p>
              <a:p>
                <a:pPr marL="457200" indent="-457200">
                  <a:buFont typeface="+mj-lt"/>
                  <a:buAutoNum type="alphaLcParenR"/>
                </a:pPr>
                <a:r>
                  <a:rPr lang="pt-BR" dirty="0"/>
                  <a:t>Repetir os itens a) até d) em </a:t>
                </a:r>
                <a:r>
                  <a:rPr lang="pt-BR" b="1" i="1" dirty="0"/>
                  <a:t>subconjuntos de treinamento </a:t>
                </a:r>
                <a:r>
                  <a:rPr lang="pt-BR" dirty="0"/>
                  <a:t>usando os atributos restantes. Essa sequência</a:t>
                </a:r>
                <a:r>
                  <a:rPr lang="pt-BR" b="1" i="1" dirty="0"/>
                  <a:t> continua </a:t>
                </a:r>
                <a:r>
                  <a:rPr lang="pt-BR" b="1" i="1" dirty="0">
                    <a:solidFill>
                      <a:srgbClr val="00B050"/>
                    </a:solidFill>
                  </a:rPr>
                  <a:t>até que</a:t>
                </a:r>
                <a:r>
                  <a:rPr lang="pt-BR" b="1" i="1" dirty="0"/>
                  <a:t> </a:t>
                </a:r>
                <a:r>
                  <a:rPr lang="pt-BR" b="1" i="1" dirty="0">
                    <a:solidFill>
                      <a:srgbClr val="00B050"/>
                    </a:solidFill>
                  </a:rPr>
                  <a:t>a</a:t>
                </a:r>
                <a:r>
                  <a:rPr lang="pt-BR" b="1" i="1" dirty="0"/>
                  <a:t> </a:t>
                </a:r>
                <a:r>
                  <a:rPr lang="pt-BR" b="1" i="1" dirty="0">
                    <a:solidFill>
                      <a:srgbClr val="00B050"/>
                    </a:solidFill>
                  </a:rPr>
                  <a:t>árvore classifique perfeitamente</a:t>
                </a:r>
                <a:r>
                  <a:rPr lang="pt-BR" b="1" i="1" dirty="0"/>
                  <a:t> </a:t>
                </a:r>
                <a:r>
                  <a:rPr lang="pt-BR" b="1" i="1" dirty="0">
                    <a:solidFill>
                      <a:srgbClr val="00B050"/>
                    </a:solidFill>
                  </a:rPr>
                  <a:t>todos os exemplos</a:t>
                </a:r>
                <a:r>
                  <a:rPr lang="pt-BR" b="1" i="1" dirty="0"/>
                  <a:t> de treinamento </a:t>
                </a:r>
                <a:r>
                  <a:rPr lang="pt-BR" dirty="0"/>
                  <a:t>ou </a:t>
                </a:r>
                <a:r>
                  <a:rPr lang="pt-BR" b="1" i="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57284" cy="5032376"/>
              </a:xfrm>
              <a:blipFill>
                <a:blip r:embed="rId3"/>
                <a:stretch>
                  <a:fillRect l="-1038" t="-2542" r="-1366"/>
                </a:stretch>
              </a:blipFill>
            </p:spPr>
            <p:txBody>
              <a:bodyPr/>
              <a:lstStyle/>
              <a:p>
                <a:r>
                  <a:rPr lang="pt-BR">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1" y="1825624"/>
            <a:ext cx="6424862" cy="5032376"/>
          </a:xfrm>
        </p:spPr>
        <p:txBody>
          <a:bodyPr>
            <a:normAutofit/>
          </a:bodyPr>
          <a:lstStyle/>
          <a:p>
            <a:r>
              <a:rPr lang="pt-BR" dirty="0"/>
              <a:t>O </a:t>
            </a:r>
            <a:r>
              <a:rPr lang="pt-BR" b="1" i="1" dirty="0"/>
              <a:t>ID3</a:t>
            </a:r>
            <a:r>
              <a:rPr lang="pt-BR" dirty="0"/>
              <a:t> segue a regra: um </a:t>
            </a:r>
            <a:r>
              <a:rPr lang="pt-BR" b="1" i="1" dirty="0">
                <a:solidFill>
                  <a:schemeClr val="accent2"/>
                </a:solidFill>
              </a:rPr>
              <a:t>ramo</a:t>
            </a:r>
            <a:r>
              <a:rPr lang="pt-BR" dirty="0"/>
              <a:t> com uma </a:t>
            </a:r>
            <a:r>
              <a:rPr lang="pt-BR" b="1" i="1" dirty="0">
                <a:solidFill>
                  <a:schemeClr val="accent2"/>
                </a:solidFill>
              </a:rPr>
              <a:t>entropia igual a zero</a:t>
            </a:r>
            <a:r>
              <a:rPr lang="pt-BR" dirty="0"/>
              <a:t> é uma </a:t>
            </a:r>
            <a:r>
              <a:rPr lang="pt-BR" b="1" i="1" dirty="0">
                <a:solidFill>
                  <a:srgbClr val="00B050"/>
                </a:solidFill>
              </a:rPr>
              <a:t>folha</a:t>
            </a:r>
            <a:r>
              <a:rPr lang="pt-BR" dirty="0"/>
              <a:t> e um </a:t>
            </a:r>
            <a:r>
              <a:rPr lang="pt-BR" b="1" i="1" dirty="0">
                <a:solidFill>
                  <a:srgbClr val="7030A0"/>
                </a:solidFill>
              </a:rPr>
              <a:t>ramo</a:t>
            </a:r>
            <a:r>
              <a:rPr lang="pt-BR" dirty="0"/>
              <a:t> com </a:t>
            </a:r>
            <a:r>
              <a:rPr lang="pt-BR" b="1" i="1" dirty="0">
                <a:solidFill>
                  <a:srgbClr val="7030A0"/>
                </a:solidFill>
              </a:rPr>
              <a:t>entropia maior do que zero</a:t>
            </a:r>
            <a:r>
              <a:rPr lang="pt-BR" dirty="0"/>
              <a:t> </a:t>
            </a:r>
            <a:r>
              <a:rPr lang="pt-BR" b="1" i="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067661" cy="5032375"/>
          </a:xfrm>
        </p:spPr>
        <p:txBody>
          <a:bodyPr>
            <a:normAutofit/>
          </a:bodyPr>
          <a:lstStyle/>
          <a:p>
            <a:r>
              <a:rPr lang="pt-BR" dirty="0"/>
              <a:t>Por usar uma abordagem baseada em uma </a:t>
            </a:r>
            <a:r>
              <a:rPr lang="pt-BR" b="1" i="1" dirty="0">
                <a:solidFill>
                  <a:schemeClr val="accent2"/>
                </a:solidFill>
              </a:rPr>
              <a:t>heurística gananciosa</a:t>
            </a:r>
            <a:r>
              <a:rPr lang="pt-BR" dirty="0"/>
              <a:t>, o ID3 </a:t>
            </a:r>
            <a:r>
              <a:rPr lang="pt-BR" b="1" i="1" dirty="0">
                <a:solidFill>
                  <a:srgbClr val="7030A0"/>
                </a:solidFill>
              </a:rPr>
              <a:t>não garante uma solução ideal</a:t>
            </a:r>
            <a:r>
              <a:rPr lang="pt-BR" dirty="0"/>
              <a:t>.</a:t>
            </a:r>
          </a:p>
          <a:p>
            <a:pPr marL="171450" indent="-171450"/>
            <a:r>
              <a:rPr lang="pt-BR" dirty="0"/>
              <a:t>Pode sobreajustar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i="1" dirty="0">
                <a:solidFill>
                  <a:srgbClr val="002060"/>
                </a:solidFill>
              </a:rPr>
              <a:t>mas nem sempre</a:t>
            </a:r>
            <a:r>
              <a:rPr lang="pt-BR" dirty="0"/>
              <a:t> produz </a:t>
            </a:r>
            <a:r>
              <a:rPr lang="pt-BR" b="1" i="1" dirty="0">
                <a:solidFill>
                  <a:srgbClr val="002060"/>
                </a:solidFill>
              </a:rPr>
              <a:t>a menor árvore possível</a:t>
            </a:r>
            <a:r>
              <a:rPr lang="pt-BR" dirty="0"/>
              <a:t>.</a:t>
            </a:r>
          </a:p>
          <a:p>
            <a:pPr marL="171450" indent="-171450"/>
            <a:r>
              <a:rPr lang="pt-BR" dirty="0"/>
              <a:t>É mais </a:t>
            </a:r>
            <a:r>
              <a:rPr lang="pt-BR" b="1" i="1" dirty="0">
                <a:solidFill>
                  <a:srgbClr val="FF0000"/>
                </a:solidFill>
              </a:rPr>
              <a:t>difícil de usar com dados contínuos</a:t>
            </a:r>
            <a:r>
              <a:rPr lang="pt-BR" dirty="0"/>
              <a:t>. </a:t>
            </a:r>
          </a:p>
          <a:p>
            <a:pPr marL="171450" indent="-171450"/>
            <a:r>
              <a:rPr lang="pt-BR" dirty="0"/>
              <a:t>Se os valores de um atributo forem contínuos, haverá muito mais pontos para se dividir os dados com esse atributo, e a busca pelo melhor valor a ser dividido pode se tornar demorada.</a:t>
            </a:r>
          </a:p>
          <a:p>
            <a:endParaRPr lang="pt-BR" dirty="0"/>
          </a:p>
        </p:txBody>
      </p:sp>
    </p:spTree>
    <p:extLst>
      <p:ext uri="{BB962C8B-B14F-4D97-AF65-F5344CB8AC3E}">
        <p14:creationId xmlns:p14="http://schemas.microsoft.com/office/powerpoint/2010/main" val="3802744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1" y="1690688"/>
            <a:ext cx="7543800" cy="5167312"/>
          </a:xfrm>
        </p:spPr>
        <p:txBody>
          <a:bodyPr>
            <a:normAutofit/>
          </a:bodyPr>
          <a:lstStyle/>
          <a:p>
            <a:r>
              <a:rPr lang="pt-BR" dirty="0"/>
              <a:t>Além do </a:t>
            </a:r>
            <a:r>
              <a:rPr lang="pt-BR" b="1" i="1" dirty="0"/>
              <a:t>ganho de informação</a:t>
            </a:r>
            <a:r>
              <a:rPr lang="pt-BR" dirty="0"/>
              <a:t>, existem outras métricas que podem ser usadas para indução. </a:t>
            </a:r>
          </a:p>
          <a:p>
            <a:r>
              <a:rPr lang="pt-BR" dirty="0"/>
              <a:t>Uma possibilidade é usar uma </a:t>
            </a:r>
            <a:r>
              <a:rPr lang="pt-BR" b="1" i="1" dirty="0">
                <a:solidFill>
                  <a:srgbClr val="7030A0"/>
                </a:solidFill>
              </a:rPr>
              <a:t>métrica de impureza</a:t>
            </a:r>
            <a:r>
              <a:rPr lang="pt-BR" dirty="0"/>
              <a:t>, como o </a:t>
            </a:r>
            <a:r>
              <a:rPr lang="pt-BR" b="1" i="1" dirty="0">
                <a:solidFill>
                  <a:srgbClr val="00B050"/>
                </a:solidFill>
              </a:rPr>
              <a:t>índice de Gini</a:t>
            </a:r>
            <a:r>
              <a:rPr lang="pt-BR" dirty="0"/>
              <a:t>.</a:t>
            </a:r>
          </a:p>
          <a:p>
            <a:pPr lvl="1">
              <a:buFont typeface="Wingdings" panose="05000000000000000000" pitchFamily="2" charset="2"/>
              <a:buChar char="§"/>
            </a:pPr>
            <a:r>
              <a:rPr lang="pt-BR" dirty="0"/>
              <a:t>Usado no método CART do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i="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208549"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O conjunto de treinamento é a base para definirmos a </a:t>
            </a:r>
            <a:r>
              <a:rPr lang="pt-BR" b="1" i="1" dirty="0"/>
              <a:t>árvore de decisão</a:t>
            </a:r>
            <a:r>
              <a:rPr lang="pt-BR" dirty="0"/>
              <a:t>.</a:t>
            </a:r>
          </a:p>
          <a:p>
            <a:r>
              <a:rPr lang="pt-BR" dirty="0"/>
              <a:t>Um conjunto que contenha inconsistências, como, por exemplo, </a:t>
            </a:r>
            <a:r>
              <a:rPr lang="pt-BR" b="1" i="1" dirty="0"/>
              <a:t>dois exemplos com os mesmos valores de atributos, porém classes diferentes</a:t>
            </a:r>
            <a:r>
              <a:rPr lang="pt-BR" dirty="0"/>
              <a:t>, precisará ser reconsiderado, pois os atributos atuais podem não ser suficientes, por exemplo, </a:t>
            </a:r>
            <a:r>
              <a:rPr lang="pt-BR" b="1" i="1" dirty="0"/>
              <a:t>precisando de mais atributos</a:t>
            </a:r>
            <a:r>
              <a:rPr lang="pt-BR" dirty="0"/>
              <a:t>.</a:t>
            </a:r>
          </a:p>
        </p:txBody>
      </p:sp>
      <p:pic>
        <p:nvPicPr>
          <p:cNvPr id="4" name="Picture 2" descr="Id3 sales learning algorithm">
            <a:extLst>
              <a:ext uri="{FF2B5EF4-FFF2-40B4-BE49-F238E27FC236}">
                <a16:creationId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3" y="1825624"/>
            <a:ext cx="6833937" cy="5032376"/>
          </a:xfrm>
        </p:spPr>
        <p:txBody>
          <a:bodyPr>
            <a:normAutofit/>
          </a:bodyPr>
          <a:lstStyle/>
          <a:p>
            <a:r>
              <a:rPr lang="pt-BR" dirty="0"/>
              <a:t>Um problema muito comum das </a:t>
            </a:r>
            <a:r>
              <a:rPr lang="pt-BR" b="1" i="1" dirty="0"/>
              <a:t>árvores de decisão</a:t>
            </a:r>
            <a:r>
              <a:rPr lang="pt-BR" dirty="0"/>
              <a:t>, especialmente quando se tem um número muito grande de atributos, é o </a:t>
            </a:r>
            <a:r>
              <a:rPr lang="pt-BR" b="1" i="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i="1" dirty="0"/>
              <a:t>florestas aleatórias</a:t>
            </a:r>
            <a:r>
              <a:rPr lang="pt-BR" dirty="0"/>
              <a:t>.</a:t>
            </a:r>
          </a:p>
        </p:txBody>
      </p:sp>
      <p:pic>
        <p:nvPicPr>
          <p:cNvPr id="4" name="Picture 2" descr="Id3 sales learning algorithm">
            <a:extLst>
              <a:ext uri="{FF2B5EF4-FFF2-40B4-BE49-F238E27FC236}">
                <a16:creationId xmlns:a16="http://schemas.microsoft.com/office/drawing/2014/main"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de uma árvore de decisão com o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629401" cy="5032375"/>
              </a:xfrm>
            </p:spPr>
            <p:txBody>
              <a:bodyPr>
                <a:normAutofit/>
              </a:bodyPr>
              <a:lstStyle/>
              <a:p>
                <a:r>
                  <a:rPr lang="pt-BR" dirty="0"/>
                  <a:t>Vamos construir uma árvore de decisão para </a:t>
                </a:r>
                <a:r>
                  <a:rPr lang="pt-BR" b="1" i="1" dirty="0">
                    <a:solidFill>
                      <a:srgbClr val="FF0000"/>
                    </a:solidFill>
                  </a:rPr>
                  <a:t>predizer se jogadores irão ou não praticar um determinado esporte</a:t>
                </a:r>
                <a:r>
                  <a:rPr lang="pt-BR" b="1" i="1" dirty="0"/>
                  <a:t> </a:t>
                </a:r>
                <a:r>
                  <a:rPr lang="pt-BR" dirty="0"/>
                  <a:t>baseado em algumas </a:t>
                </a:r>
                <a:r>
                  <a:rPr lang="pt-BR" b="1" i="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𝑖</m:t>
                        </m:r>
                      </m:sub>
                    </m:sSub>
                  </m:oMath>
                </a14:m>
                <a:r>
                  <a:rPr lang="pt-BR" dirty="0"/>
                  <a:t> é um vetor de atributos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i="1">
                            <a:latin typeface="Cambria Math" panose="02040503050406030204" pitchFamily="18" charset="0"/>
                          </a:rPr>
                          <m:t>𝑖</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629401" cy="5032375"/>
              </a:xfrm>
              <a:blipFill>
                <a:blip r:embed="rId2"/>
                <a:stretch>
                  <a:fillRect l="-1654" t="-1937" r="-2757"/>
                </a:stretch>
              </a:blipFill>
            </p:spPr>
            <p:txBody>
              <a:bodyPr/>
              <a:lstStyle/>
              <a:p>
                <a:r>
                  <a:rPr lang="pt-BR">
                    <a:noFill/>
                  </a:rPr>
                  <a:t> </a:t>
                </a:r>
              </a:p>
            </p:txBody>
          </p:sp>
        </mc:Fallback>
      </mc:AlternateContent>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de uma árvore de decisão com o método ID3</a:t>
            </a:r>
          </a:p>
        </p:txBody>
      </p:sp>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728207" cy="5032375"/>
          </a:xfrm>
        </p:spPr>
        <p:txBody>
          <a:bodyPr>
            <a:normAutofit lnSpcReduction="10000"/>
          </a:bodyPr>
          <a:lstStyle/>
          <a:p>
            <a:r>
              <a:rPr lang="pt-BR" dirty="0"/>
              <a:t>Existem </a:t>
            </a:r>
            <a:r>
              <a:rPr lang="pt-BR" b="1" i="1" dirty="0"/>
              <a:t>quatro</a:t>
            </a:r>
            <a:r>
              <a:rPr lang="pt-BR" dirty="0"/>
              <a:t> atributos </a:t>
            </a:r>
            <a:r>
              <a:rPr lang="pt-BR" b="1" i="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i="1" dirty="0"/>
              <a:t>positivo</a:t>
            </a:r>
            <a:r>
              <a:rPr lang="pt-BR" dirty="0"/>
              <a:t> (</a:t>
            </a:r>
            <a:r>
              <a:rPr lang="pt-BR" i="1" dirty="0"/>
              <a:t>P</a:t>
            </a:r>
            <a:r>
              <a:rPr lang="pt-BR" dirty="0"/>
              <a:t>), i.e., jogar, e </a:t>
            </a:r>
            <a:r>
              <a:rPr lang="pt-BR" b="1" i="1" dirty="0"/>
              <a:t>negativo</a:t>
            </a:r>
            <a:r>
              <a:rPr lang="pt-BR" dirty="0"/>
              <a:t> (</a:t>
            </a:r>
            <a:r>
              <a:rPr lang="pt-BR" i="1" dirty="0"/>
              <a:t>N</a:t>
            </a:r>
            <a:r>
              <a:rPr lang="pt-BR" dirty="0"/>
              <a:t>),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val="20000"/>
                    </a:ext>
                  </a:extLst>
                </a:gridCol>
                <a:gridCol w="786008">
                  <a:extLst>
                    <a:ext uri="{9D8B030D-6E8A-4147-A177-3AD203B41FA5}">
                      <a16:colId xmlns:a16="http://schemas.microsoft.com/office/drawing/2014/main" val="20001"/>
                    </a:ext>
                  </a:extLst>
                </a:gridCol>
                <a:gridCol w="894865">
                  <a:extLst>
                    <a:ext uri="{9D8B030D-6E8A-4147-A177-3AD203B41FA5}">
                      <a16:colId xmlns:a16="http://schemas.microsoft.com/office/drawing/2014/main" val="20002"/>
                    </a:ext>
                  </a:extLst>
                </a:gridCol>
                <a:gridCol w="677151">
                  <a:extLst>
                    <a:ext uri="{9D8B030D-6E8A-4147-A177-3AD203B41FA5}">
                      <a16:colId xmlns:a16="http://schemas.microsoft.com/office/drawing/2014/main" val="20003"/>
                    </a:ext>
                  </a:extLst>
                </a:gridCol>
                <a:gridCol w="786008">
                  <a:extLst>
                    <a:ext uri="{9D8B030D-6E8A-4147-A177-3AD203B41FA5}">
                      <a16:colId xmlns:a16="http://schemas.microsoft.com/office/drawing/2014/main" val="20004"/>
                    </a:ext>
                  </a:extLst>
                </a:gridCol>
                <a:gridCol w="786008">
                  <a:extLst>
                    <a:ext uri="{9D8B030D-6E8A-4147-A177-3AD203B41FA5}">
                      <a16:colId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6" name="CaixaDeTexto 5">
            <a:extLst>
              <a:ext uri="{FF2B5EF4-FFF2-40B4-BE49-F238E27FC236}">
                <a16:creationId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i="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i="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𝐨𝐮𝐭𝐥𝐨𝐨𝐤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𝐭𝐞𝐦𝐩𝐞𝐫𝐚𝐭𝐮𝐫𝐞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𝐡𝐮𝐦𝐢𝐝𝐢𝐭𝐲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𝐰𝐢𝐧𝐝𝐲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val="20000"/>
                    </a:ext>
                  </a:extLst>
                </a:gridCol>
                <a:gridCol w="684266">
                  <a:extLst>
                    <a:ext uri="{9D8B030D-6E8A-4147-A177-3AD203B41FA5}">
                      <a16:colId xmlns:a16="http://schemas.microsoft.com/office/drawing/2014/main" val="20001"/>
                    </a:ext>
                  </a:extLst>
                </a:gridCol>
                <a:gridCol w="293254">
                  <a:extLst>
                    <a:ext uri="{9D8B030D-6E8A-4147-A177-3AD203B41FA5}">
                      <a16:colId xmlns:a16="http://schemas.microsoft.com/office/drawing/2014/main" val="20002"/>
                    </a:ext>
                  </a:extLst>
                </a:gridCol>
                <a:gridCol w="293254">
                  <a:extLst>
                    <a:ext uri="{9D8B030D-6E8A-4147-A177-3AD203B41FA5}">
                      <a16:colId xmlns:a16="http://schemas.microsoft.com/office/drawing/2014/main" val="20003"/>
                    </a:ext>
                  </a:extLst>
                </a:gridCol>
                <a:gridCol w="470222">
                  <a:extLst>
                    <a:ext uri="{9D8B030D-6E8A-4147-A177-3AD203B41FA5}">
                      <a16:colId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val="20000"/>
                    </a:ext>
                  </a:extLst>
                </a:gridCol>
                <a:gridCol w="697339">
                  <a:extLst>
                    <a:ext uri="{9D8B030D-6E8A-4147-A177-3AD203B41FA5}">
                      <a16:colId xmlns:a16="http://schemas.microsoft.com/office/drawing/2014/main" val="20001"/>
                    </a:ext>
                  </a:extLst>
                </a:gridCol>
                <a:gridCol w="298859">
                  <a:extLst>
                    <a:ext uri="{9D8B030D-6E8A-4147-A177-3AD203B41FA5}">
                      <a16:colId xmlns:a16="http://schemas.microsoft.com/office/drawing/2014/main" val="20002"/>
                    </a:ext>
                  </a:extLst>
                </a:gridCol>
                <a:gridCol w="298859">
                  <a:extLst>
                    <a:ext uri="{9D8B030D-6E8A-4147-A177-3AD203B41FA5}">
                      <a16:colId xmlns:a16="http://schemas.microsoft.com/office/drawing/2014/main" val="20003"/>
                    </a:ext>
                  </a:extLst>
                </a:gridCol>
                <a:gridCol w="298859">
                  <a:extLst>
                    <a:ext uri="{9D8B030D-6E8A-4147-A177-3AD203B41FA5}">
                      <a16:colId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val="20000"/>
                    </a:ext>
                  </a:extLst>
                </a:gridCol>
                <a:gridCol w="621695">
                  <a:extLst>
                    <a:ext uri="{9D8B030D-6E8A-4147-A177-3AD203B41FA5}">
                      <a16:colId xmlns:a16="http://schemas.microsoft.com/office/drawing/2014/main" val="20001"/>
                    </a:ext>
                  </a:extLst>
                </a:gridCol>
                <a:gridCol w="266441">
                  <a:extLst>
                    <a:ext uri="{9D8B030D-6E8A-4147-A177-3AD203B41FA5}">
                      <a16:colId xmlns:a16="http://schemas.microsoft.com/office/drawing/2014/main" val="20002"/>
                    </a:ext>
                  </a:extLst>
                </a:gridCol>
                <a:gridCol w="266441">
                  <a:extLst>
                    <a:ext uri="{9D8B030D-6E8A-4147-A177-3AD203B41FA5}">
                      <a16:colId xmlns:a16="http://schemas.microsoft.com/office/drawing/2014/main" val="20003"/>
                    </a:ext>
                  </a:extLst>
                </a:gridCol>
                <a:gridCol w="266441">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val="20000"/>
                    </a:ext>
                  </a:extLst>
                </a:gridCol>
                <a:gridCol w="631367">
                  <a:extLst>
                    <a:ext uri="{9D8B030D-6E8A-4147-A177-3AD203B41FA5}">
                      <a16:colId xmlns:a16="http://schemas.microsoft.com/office/drawing/2014/main" val="20001"/>
                    </a:ext>
                  </a:extLst>
                </a:gridCol>
                <a:gridCol w="270586">
                  <a:extLst>
                    <a:ext uri="{9D8B030D-6E8A-4147-A177-3AD203B41FA5}">
                      <a16:colId xmlns:a16="http://schemas.microsoft.com/office/drawing/2014/main" val="20002"/>
                    </a:ext>
                  </a:extLst>
                </a:gridCol>
                <a:gridCol w="270586">
                  <a:extLst>
                    <a:ext uri="{9D8B030D-6E8A-4147-A177-3AD203B41FA5}">
                      <a16:colId xmlns:a16="http://schemas.microsoft.com/office/drawing/2014/main" val="20003"/>
                    </a:ext>
                  </a:extLst>
                </a:gridCol>
                <a:gridCol w="270586">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i="1" dirty="0"/>
              <a:t>ganho de informação </a:t>
            </a:r>
            <a:r>
              <a:rPr lang="pt-BR" dirty="0"/>
              <a:t>é maximizado com o atributo </a:t>
            </a:r>
            <a:r>
              <a:rPr lang="pt-BR" b="1" i="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i="1" dirty="0">
                <a:solidFill>
                  <a:srgbClr val="00B050"/>
                </a:solidFill>
              </a:rPr>
              <a:t>subconjuntos para cada um dos valores</a:t>
            </a:r>
            <a:r>
              <a:rPr lang="pt-BR" dirty="0"/>
              <a:t> do atributo </a:t>
            </a:r>
            <a:r>
              <a:rPr lang="pt-BR" b="1" i="1" dirty="0"/>
              <a:t>Outlook</a:t>
            </a:r>
            <a:r>
              <a:rPr lang="pt-BR" dirty="0"/>
              <a:t> e refazemos os cálculos do </a:t>
            </a:r>
            <a:r>
              <a:rPr lang="pt-BR" b="1" i="1" dirty="0"/>
              <a:t>ganho de informação </a:t>
            </a:r>
            <a:r>
              <a:rPr lang="pt-BR" dirty="0"/>
              <a:t>para cada um deles.</a:t>
            </a:r>
          </a:p>
          <a:p>
            <a:r>
              <a:rPr lang="pt-BR" dirty="0"/>
              <a:t>Quando </a:t>
            </a:r>
            <a:r>
              <a:rPr lang="pt-BR" b="1" i="1" dirty="0"/>
              <a:t>Outlook = overcast</a:t>
            </a:r>
            <a:r>
              <a:rPr lang="pt-BR" dirty="0"/>
              <a:t>, o subconjunto abaixo mostra que os valores dos outros atributos não importam, sendo a classe escolhida sempre a </a:t>
            </a:r>
            <a:r>
              <a:rPr lang="pt-BR" b="1" i="1" dirty="0"/>
              <a:t>Positiva</a:t>
            </a:r>
            <a:r>
              <a:rPr lang="pt-BR" dirty="0"/>
              <a:t> (</a:t>
            </a:r>
            <a:r>
              <a:rPr lang="pt-BR" i="1" dirty="0"/>
              <a:t>P</a:t>
            </a:r>
            <a:r>
              <a:rPr lang="pt-BR" dirty="0"/>
              <a:t>), ou seja, a </a:t>
            </a:r>
            <a:r>
              <a:rPr lang="pt-BR" b="1" i="1" dirty="0">
                <a:solidFill>
                  <a:srgbClr val="00B050"/>
                </a:solidFill>
              </a:rPr>
              <a:t>decisão será sempre pela classe Positiva se o tempo estiver nublado</a:t>
            </a:r>
            <a:r>
              <a:rPr lang="pt-BR" dirty="0"/>
              <a:t>.</a:t>
            </a:r>
          </a:p>
          <a:p>
            <a:r>
              <a:rPr lang="pt-BR" dirty="0"/>
              <a:t>A </a:t>
            </a:r>
            <a:r>
              <a:rPr lang="pt-BR" b="1" i="1" dirty="0">
                <a:solidFill>
                  <a:srgbClr val="00B050"/>
                </a:solidFill>
              </a:rPr>
              <a:t>entropia nessa caso é igual a zero</a:t>
            </a:r>
            <a:r>
              <a:rPr lang="pt-BR" dirty="0"/>
              <a:t> (pois não há incerteza), indicando uma </a:t>
            </a:r>
            <a:r>
              <a:rPr lang="pt-BR" b="1" i="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val="20000"/>
                    </a:ext>
                  </a:extLst>
                </a:gridCol>
                <a:gridCol w="1019175">
                  <a:extLst>
                    <a:ext uri="{9D8B030D-6E8A-4147-A177-3AD203B41FA5}">
                      <a16:colId xmlns:a16="http://schemas.microsoft.com/office/drawing/2014/main" val="20001"/>
                    </a:ext>
                  </a:extLst>
                </a:gridCol>
                <a:gridCol w="1019175">
                  <a:extLst>
                    <a:ext uri="{9D8B030D-6E8A-4147-A177-3AD203B41FA5}">
                      <a16:colId xmlns:a16="http://schemas.microsoft.com/office/drawing/2014/main" val="20002"/>
                    </a:ext>
                  </a:extLst>
                </a:gridCol>
                <a:gridCol w="1019175">
                  <a:extLst>
                    <a:ext uri="{9D8B030D-6E8A-4147-A177-3AD203B41FA5}">
                      <a16:colId xmlns:a16="http://schemas.microsoft.com/office/drawing/2014/main" val="20003"/>
                    </a:ext>
                  </a:extLst>
                </a:gridCol>
                <a:gridCol w="1019175">
                  <a:extLst>
                    <a:ext uri="{9D8B030D-6E8A-4147-A177-3AD203B41FA5}">
                      <a16:colId xmlns:a16="http://schemas.microsoft.com/office/drawing/2014/main" val="20004"/>
                    </a:ext>
                  </a:extLst>
                </a:gridCol>
                <a:gridCol w="1019175">
                  <a:extLst>
                    <a:ext uri="{9D8B030D-6E8A-4147-A177-3AD203B41FA5}">
                      <a16:colId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i="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i="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a:latin typeface="Cambria Math" panose="02040503050406030204" pitchFamily="18" charset="0"/>
                            </a:rPr>
                            <m:t>𝐭𝐞𝐦𝐩𝐞𝐫𝐚𝐭𝐮𝐫𝐞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𝐡𝐮𝐦𝐢𝐝𝐢𝐭𝐲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𝐰𝐢𝐧𝐝𝐲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i="1" dirty="0"/>
                  <a:t>windy</a:t>
                </a:r>
                <a:r>
                  <a:rPr lang="pt-BR" dirty="0"/>
                  <a:t> resulta no valor de </a:t>
                </a:r>
                <a:r>
                  <a:rPr lang="pt-BR" b="1" i="1" dirty="0"/>
                  <a:t>ganho de informação </a:t>
                </a:r>
                <a:r>
                  <a:rPr lang="pt-BR" dirty="0"/>
                  <a:t>mais alto quando o tempo estiver chuvoso (i.e., </a:t>
                </a:r>
                <a:r>
                  <a:rPr lang="pt-BR" b="1" i="1" dirty="0"/>
                  <a:t>Outlook = rain</a:t>
                </a:r>
                <a:r>
                  <a:rPr lang="pt-BR" dirty="0"/>
                  <a:t>). </a:t>
                </a:r>
              </a:p>
              <a:p>
                <a:r>
                  <a:rPr lang="pt-BR" dirty="0"/>
                  <a:t>Por isso, o atributo </a:t>
                </a:r>
                <a:r>
                  <a:rPr lang="pt-BR" b="1" i="1" dirty="0"/>
                  <a:t>windy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r="-741"/>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val="20000"/>
                    </a:ext>
                  </a:extLst>
                </a:gridCol>
                <a:gridCol w="678430">
                  <a:extLst>
                    <a:ext uri="{9D8B030D-6E8A-4147-A177-3AD203B41FA5}">
                      <a16:colId xmlns:a16="http://schemas.microsoft.com/office/drawing/2014/main" val="20001"/>
                    </a:ext>
                  </a:extLst>
                </a:gridCol>
                <a:gridCol w="290756">
                  <a:extLst>
                    <a:ext uri="{9D8B030D-6E8A-4147-A177-3AD203B41FA5}">
                      <a16:colId xmlns:a16="http://schemas.microsoft.com/office/drawing/2014/main" val="20002"/>
                    </a:ext>
                  </a:extLst>
                </a:gridCol>
                <a:gridCol w="290756">
                  <a:extLst>
                    <a:ext uri="{9D8B030D-6E8A-4147-A177-3AD203B41FA5}">
                      <a16:colId xmlns:a16="http://schemas.microsoft.com/office/drawing/2014/main" val="20003"/>
                    </a:ext>
                  </a:extLst>
                </a:gridCol>
                <a:gridCol w="290756">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val="20000"/>
                    </a:ext>
                  </a:extLst>
                </a:gridCol>
                <a:gridCol w="645270">
                  <a:extLst>
                    <a:ext uri="{9D8B030D-6E8A-4147-A177-3AD203B41FA5}">
                      <a16:colId xmlns:a16="http://schemas.microsoft.com/office/drawing/2014/main" val="20001"/>
                    </a:ext>
                  </a:extLst>
                </a:gridCol>
                <a:gridCol w="276544">
                  <a:extLst>
                    <a:ext uri="{9D8B030D-6E8A-4147-A177-3AD203B41FA5}">
                      <a16:colId xmlns:a16="http://schemas.microsoft.com/office/drawing/2014/main" val="20002"/>
                    </a:ext>
                  </a:extLst>
                </a:gridCol>
                <a:gridCol w="276544">
                  <a:extLst>
                    <a:ext uri="{9D8B030D-6E8A-4147-A177-3AD203B41FA5}">
                      <a16:colId xmlns:a16="http://schemas.microsoft.com/office/drawing/2014/main" val="20003"/>
                    </a:ext>
                  </a:extLst>
                </a:gridCol>
                <a:gridCol w="27654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val="20000"/>
                    </a:ext>
                  </a:extLst>
                </a:gridCol>
                <a:gridCol w="641513">
                  <a:extLst>
                    <a:ext uri="{9D8B030D-6E8A-4147-A177-3AD203B41FA5}">
                      <a16:colId xmlns:a16="http://schemas.microsoft.com/office/drawing/2014/main" val="20001"/>
                    </a:ext>
                  </a:extLst>
                </a:gridCol>
                <a:gridCol w="274934">
                  <a:extLst>
                    <a:ext uri="{9D8B030D-6E8A-4147-A177-3AD203B41FA5}">
                      <a16:colId xmlns:a16="http://schemas.microsoft.com/office/drawing/2014/main" val="20002"/>
                    </a:ext>
                  </a:extLst>
                </a:gridCol>
                <a:gridCol w="274934">
                  <a:extLst>
                    <a:ext uri="{9D8B030D-6E8A-4147-A177-3AD203B41FA5}">
                      <a16:colId xmlns:a16="http://schemas.microsoft.com/office/drawing/2014/main" val="20003"/>
                    </a:ext>
                  </a:extLst>
                </a:gridCol>
                <a:gridCol w="27493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i="1" dirty="0"/>
                  <a:t>Outlook = rain </a:t>
                </a:r>
                <a:r>
                  <a:rPr lang="pt-BR" dirty="0"/>
                  <a:t>e </a:t>
                </a:r>
                <a:r>
                  <a:rPr lang="pt-BR" b="1" i="1" dirty="0"/>
                  <a:t>windy</a:t>
                </a:r>
                <a:r>
                  <a:rPr lang="pt-BR" b="1" dirty="0"/>
                  <a:t> </a:t>
                </a:r>
                <a:r>
                  <a:rPr lang="pt-BR" b="1" i="1" dirty="0"/>
                  <a:t>=</a:t>
                </a:r>
                <a:r>
                  <a:rPr lang="pt-BR" b="1" dirty="0"/>
                  <a:t> </a:t>
                </a:r>
                <a:r>
                  <a:rPr lang="pt-BR" b="1" i="1" dirty="0"/>
                  <a:t>false</a:t>
                </a:r>
                <a:r>
                  <a:rPr lang="pt-BR" dirty="0"/>
                  <a:t>, percebemos que a decisão será sempre pela classe </a:t>
                </a:r>
                <a:r>
                  <a:rPr lang="pt-BR" b="1" i="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i="1" dirty="0"/>
                  <a:t>Outlook = rain </a:t>
                </a:r>
                <a:r>
                  <a:rPr lang="pt-BR" dirty="0"/>
                  <a:t>e </a:t>
                </a:r>
                <a:r>
                  <a:rPr lang="pt-BR" b="1" dirty="0"/>
                  <a:t>windy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rotWithShape="0">
                <a:blip r:embed="rId2"/>
                <a:stretch>
                  <a:fillRect l="-930" t="-2402"/>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val="20000"/>
                    </a:ext>
                  </a:extLst>
                </a:gridCol>
                <a:gridCol w="1010861">
                  <a:extLst>
                    <a:ext uri="{9D8B030D-6E8A-4147-A177-3AD203B41FA5}">
                      <a16:colId xmlns:a16="http://schemas.microsoft.com/office/drawing/2014/main" val="20001"/>
                    </a:ext>
                  </a:extLst>
                </a:gridCol>
                <a:gridCol w="1010861">
                  <a:extLst>
                    <a:ext uri="{9D8B030D-6E8A-4147-A177-3AD203B41FA5}">
                      <a16:colId xmlns:a16="http://schemas.microsoft.com/office/drawing/2014/main" val="20002"/>
                    </a:ext>
                  </a:extLst>
                </a:gridCol>
                <a:gridCol w="1010861">
                  <a:extLst>
                    <a:ext uri="{9D8B030D-6E8A-4147-A177-3AD203B41FA5}">
                      <a16:colId xmlns:a16="http://schemas.microsoft.com/office/drawing/2014/main" val="20003"/>
                    </a:ext>
                  </a:extLst>
                </a:gridCol>
                <a:gridCol w="1010861">
                  <a:extLst>
                    <a:ext uri="{9D8B030D-6E8A-4147-A177-3AD203B41FA5}">
                      <a16:colId xmlns:a16="http://schemas.microsoft.com/office/drawing/2014/main" val="20004"/>
                    </a:ext>
                  </a:extLst>
                </a:gridCol>
                <a:gridCol w="1010861">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val="20000"/>
                    </a:ext>
                  </a:extLst>
                </a:gridCol>
                <a:gridCol w="1020536">
                  <a:extLst>
                    <a:ext uri="{9D8B030D-6E8A-4147-A177-3AD203B41FA5}">
                      <a16:colId xmlns:a16="http://schemas.microsoft.com/office/drawing/2014/main" val="20001"/>
                    </a:ext>
                  </a:extLst>
                </a:gridCol>
                <a:gridCol w="1020536">
                  <a:extLst>
                    <a:ext uri="{9D8B030D-6E8A-4147-A177-3AD203B41FA5}">
                      <a16:colId xmlns:a16="http://schemas.microsoft.com/office/drawing/2014/main" val="20002"/>
                    </a:ext>
                  </a:extLst>
                </a:gridCol>
                <a:gridCol w="1020536">
                  <a:extLst>
                    <a:ext uri="{9D8B030D-6E8A-4147-A177-3AD203B41FA5}">
                      <a16:colId xmlns:a16="http://schemas.microsoft.com/office/drawing/2014/main" val="20003"/>
                    </a:ext>
                  </a:extLst>
                </a:gridCol>
                <a:gridCol w="1020536">
                  <a:extLst>
                    <a:ext uri="{9D8B030D-6E8A-4147-A177-3AD203B41FA5}">
                      <a16:colId xmlns:a16="http://schemas.microsoft.com/office/drawing/2014/main" val="20004"/>
                    </a:ext>
                  </a:extLst>
                </a:gridCol>
                <a:gridCol w="1020536">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i="1" dirty="0"/>
              <a:t>true</a:t>
            </a:r>
            <a:r>
              <a:rPr lang="pt-BR" sz="2800" dirty="0"/>
              <a:t> e </a:t>
            </a:r>
            <a:r>
              <a:rPr lang="pt-BR" sz="2800" b="1" i="1" dirty="0"/>
              <a:t>false </a:t>
            </a:r>
            <a:r>
              <a:rPr lang="pt-BR" sz="2800" dirty="0"/>
              <a:t>do nó </a:t>
            </a:r>
            <a:r>
              <a:rPr lang="pt-BR" sz="2800" b="1" i="1" dirty="0"/>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0910977" cy="5314950"/>
              </a:xfrm>
            </p:spPr>
            <p:txBody>
              <a:bodyPr>
                <a:normAutofit fontScale="92500" lnSpcReduction="10000"/>
              </a:bodyPr>
              <a:lstStyle/>
              <a:p>
                <a:r>
                  <a:rPr lang="pt-BR" dirty="0"/>
                  <a:t>Quando </a:t>
                </a:r>
                <a:r>
                  <a:rPr lang="pt-BR" b="1" i="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𝐭𝐞𝐦𝐩𝐞𝐫𝐚𝐭𝐮𝐫𝐞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𝐡𝐮𝐦𝐢𝐝𝐢𝐭𝐲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𝐰𝐢𝐧𝐝𝐲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i="1" dirty="0"/>
                  <a:t>humidity</a:t>
                </a:r>
                <a:r>
                  <a:rPr lang="pt-BR" dirty="0"/>
                  <a:t> resulta no </a:t>
                </a:r>
                <a:r>
                  <a:rPr lang="pt-BR" b="1" i="1" dirty="0"/>
                  <a:t>ganho de informação </a:t>
                </a:r>
                <a:r>
                  <a:rPr lang="pt-BR" dirty="0"/>
                  <a:t>mais alto quando o tempo estiver ensolarado (i.e., </a:t>
                </a:r>
                <a:r>
                  <a:rPr lang="pt-BR" b="1" i="1" dirty="0"/>
                  <a:t>Outlook = sunny</a:t>
                </a:r>
                <a:r>
                  <a:rPr lang="pt-BR" dirty="0"/>
                  <a:t>). </a:t>
                </a:r>
              </a:p>
              <a:p>
                <a:r>
                  <a:rPr lang="pt-BR" dirty="0"/>
                  <a:t>Por isso, o atributo </a:t>
                </a:r>
                <a:r>
                  <a:rPr lang="pt-BR" b="1" i="1" dirty="0"/>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0910977" cy="5314950"/>
              </a:xfrm>
              <a:blipFill>
                <a:blip r:embed="rId2"/>
                <a:stretch>
                  <a:fillRect l="-838" t="-2294" r="-1397" b="-459"/>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val="20000"/>
                    </a:ext>
                  </a:extLst>
                </a:gridCol>
                <a:gridCol w="663560">
                  <a:extLst>
                    <a:ext uri="{9D8B030D-6E8A-4147-A177-3AD203B41FA5}">
                      <a16:colId xmlns:a16="http://schemas.microsoft.com/office/drawing/2014/main" val="20001"/>
                    </a:ext>
                  </a:extLst>
                </a:gridCol>
                <a:gridCol w="284383">
                  <a:extLst>
                    <a:ext uri="{9D8B030D-6E8A-4147-A177-3AD203B41FA5}">
                      <a16:colId xmlns:a16="http://schemas.microsoft.com/office/drawing/2014/main" val="20002"/>
                    </a:ext>
                  </a:extLst>
                </a:gridCol>
                <a:gridCol w="284383">
                  <a:extLst>
                    <a:ext uri="{9D8B030D-6E8A-4147-A177-3AD203B41FA5}">
                      <a16:colId xmlns:a16="http://schemas.microsoft.com/office/drawing/2014/main" val="20003"/>
                    </a:ext>
                  </a:extLst>
                </a:gridCol>
                <a:gridCol w="284383">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val="20000"/>
                    </a:ext>
                  </a:extLst>
                </a:gridCol>
                <a:gridCol w="647820">
                  <a:extLst>
                    <a:ext uri="{9D8B030D-6E8A-4147-A177-3AD203B41FA5}">
                      <a16:colId xmlns:a16="http://schemas.microsoft.com/office/drawing/2014/main" val="20001"/>
                    </a:ext>
                  </a:extLst>
                </a:gridCol>
                <a:gridCol w="277637">
                  <a:extLst>
                    <a:ext uri="{9D8B030D-6E8A-4147-A177-3AD203B41FA5}">
                      <a16:colId xmlns:a16="http://schemas.microsoft.com/office/drawing/2014/main" val="20002"/>
                    </a:ext>
                  </a:extLst>
                </a:gridCol>
                <a:gridCol w="277637">
                  <a:extLst>
                    <a:ext uri="{9D8B030D-6E8A-4147-A177-3AD203B41FA5}">
                      <a16:colId xmlns:a16="http://schemas.microsoft.com/office/drawing/2014/main" val="20003"/>
                    </a:ext>
                  </a:extLst>
                </a:gridCol>
                <a:gridCol w="277637">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val="20000"/>
                    </a:ext>
                  </a:extLst>
                </a:gridCol>
                <a:gridCol w="644002">
                  <a:extLst>
                    <a:ext uri="{9D8B030D-6E8A-4147-A177-3AD203B41FA5}">
                      <a16:colId xmlns:a16="http://schemas.microsoft.com/office/drawing/2014/main" val="20001"/>
                    </a:ext>
                  </a:extLst>
                </a:gridCol>
                <a:gridCol w="276001">
                  <a:extLst>
                    <a:ext uri="{9D8B030D-6E8A-4147-A177-3AD203B41FA5}">
                      <a16:colId xmlns:a16="http://schemas.microsoft.com/office/drawing/2014/main" val="20002"/>
                    </a:ext>
                  </a:extLst>
                </a:gridCol>
                <a:gridCol w="276001">
                  <a:extLst>
                    <a:ext uri="{9D8B030D-6E8A-4147-A177-3AD203B41FA5}">
                      <a16:colId xmlns:a16="http://schemas.microsoft.com/office/drawing/2014/main" val="20003"/>
                    </a:ext>
                  </a:extLst>
                </a:gridCol>
                <a:gridCol w="276001">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fontScale="90000"/>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253539" cy="5625966"/>
              </a:xfrm>
            </p:spPr>
            <p:txBody>
              <a:bodyPr>
                <a:normAutofit fontScale="85000" lnSpcReduction="20000"/>
              </a:bodyPr>
              <a:lstStyle/>
              <a:p>
                <a:r>
                  <a:rPr lang="pt-BR" dirty="0"/>
                  <a:t>O decisão sempre será pela classe </a:t>
                </a:r>
                <a:r>
                  <a:rPr lang="pt-BR" b="1" i="1" dirty="0"/>
                  <a:t>Positiva</a:t>
                </a:r>
                <a:r>
                  <a:rPr lang="pt-BR" dirty="0"/>
                  <a:t> (</a:t>
                </a:r>
                <a:r>
                  <a:rPr lang="pt-BR" i="1" dirty="0"/>
                  <a:t>P</a:t>
                </a:r>
                <a:r>
                  <a:rPr lang="pt-BR" dirty="0"/>
                  <a:t>) quando </a:t>
                </a:r>
                <a:r>
                  <a:rPr lang="pt-BR" b="1" i="1" dirty="0"/>
                  <a:t>Outlook = sunny </a:t>
                </a:r>
                <a:r>
                  <a:rPr lang="pt-BR" dirty="0"/>
                  <a:t>e </a:t>
                </a:r>
                <a:r>
                  <a:rPr lang="pt-BR" b="1" i="1" dirty="0"/>
                  <a:t>humidity</a:t>
                </a:r>
                <a:r>
                  <a:rPr lang="pt-BR" dirty="0"/>
                  <a:t> </a:t>
                </a:r>
                <a:r>
                  <a:rPr lang="pt-BR" b="1" dirty="0"/>
                  <a:t>= </a:t>
                </a:r>
                <a:r>
                  <a:rPr lang="pt-BR" b="1" i="1" dirty="0"/>
                  <a:t>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humidity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i="1" dirty="0"/>
                  <a:t>Negativa</a:t>
                </a:r>
                <a:r>
                  <a:rPr lang="pt-BR" dirty="0"/>
                  <a:t> (</a:t>
                </a:r>
                <a:r>
                  <a:rPr lang="pt-BR" i="1" dirty="0"/>
                  <a:t>N</a:t>
                </a:r>
                <a:r>
                  <a:rPr lang="pt-BR" dirty="0"/>
                  <a:t>) quando </a:t>
                </a:r>
                <a:r>
                  <a:rPr lang="pt-BR" b="1" i="1" dirty="0"/>
                  <a:t>Outlook = sunny </a:t>
                </a:r>
                <a:r>
                  <a:rPr lang="pt-BR" dirty="0"/>
                  <a:t>e</a:t>
                </a:r>
                <a:r>
                  <a:rPr lang="pt-BR" b="1" i="1" dirty="0"/>
                  <a:t> humidity</a:t>
                </a:r>
                <a:r>
                  <a:rPr lang="pt-BR" dirty="0"/>
                  <a:t> </a:t>
                </a:r>
                <a:r>
                  <a:rPr lang="pt-BR" b="1" dirty="0"/>
                  <a:t>= </a:t>
                </a:r>
                <a:r>
                  <a:rPr lang="pt-BR" b="1" i="1" dirty="0"/>
                  <a:t>high</a:t>
                </a:r>
                <a:r>
                  <a:rPr lang="pt-BR" dirty="0"/>
                  <a:t>. A entropia H(</a:t>
                </a:r>
                <a14:m>
                  <m:oMath xmlns:m="http://schemas.openxmlformats.org/officeDocument/2006/math">
                    <m:r>
                      <a:rPr lang="pt-BR" b="1">
                        <a:latin typeface="Cambria Math" panose="02040503050406030204" pitchFamily="18" charset="0"/>
                      </a:rPr>
                      <m:t>𝑦</m:t>
                    </m:r>
                    <m:r>
                      <a:rPr lang="pt-BR" b="1">
                        <a:latin typeface="Cambria Math" panose="02040503050406030204" pitchFamily="18" charset="0"/>
                      </a:rPr>
                      <m:t> </m:t>
                    </m:r>
                  </m:oMath>
                </a14:m>
                <a:r>
                  <a:rPr lang="pt-BR" dirty="0"/>
                  <a:t>Outlook = sunny, humidity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i="1" dirty="0"/>
                  <a:t>normal </a:t>
                </a:r>
                <a:r>
                  <a:rPr lang="pt-BR" dirty="0"/>
                  <a:t>e </a:t>
                </a:r>
                <a:r>
                  <a:rPr lang="pt-BR" b="1" i="1" dirty="0"/>
                  <a:t>high </a:t>
                </a:r>
                <a:r>
                  <a:rPr lang="pt-BR" dirty="0"/>
                  <a:t>do nó </a:t>
                </a:r>
                <a:r>
                  <a:rPr lang="pt-BR" b="1" i="1" dirty="0"/>
                  <a:t>humidity</a:t>
                </a:r>
                <a:r>
                  <a:rPr lang="pt-BR" dirty="0"/>
                  <a:t>.</a:t>
                </a:r>
              </a:p>
              <a:p>
                <a:r>
                  <a:rPr lang="pt-BR" dirty="0"/>
                  <a:t>Com isso, a construção da </a:t>
                </a:r>
                <a:r>
                  <a:rPr lang="pt-BR" b="1" i="1" dirty="0"/>
                  <a:t>árvore de decisão </a:t>
                </a:r>
                <a:r>
                  <a:rPr lang="pt-BR" dirty="0"/>
                  <a:t>se encerra e podemos usar as regras encontradas para classificar novos exemplos.</a:t>
                </a:r>
              </a:p>
              <a:p>
                <a:r>
                  <a:rPr lang="pt-BR" dirty="0">
                    <a:solidFill>
                      <a:srgbClr val="00B0F0"/>
                    </a:solidFill>
                  </a:rPr>
                  <a:t>Algum atributo ficou de fora?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253539" cy="5625966"/>
              </a:xfrm>
              <a:blipFill>
                <a:blip r:embed="rId2"/>
                <a:stretch>
                  <a:fillRect l="-704" t="-2492" r="-379" b="-2059"/>
                </a:stretch>
              </a:blipFill>
            </p:spPr>
            <p:txBody>
              <a:bodyPr/>
              <a:lstStyle/>
              <a:p>
                <a:r>
                  <a:rPr lang="pt-BR">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val="20000"/>
                    </a:ext>
                  </a:extLst>
                </a:gridCol>
                <a:gridCol w="1025374">
                  <a:extLst>
                    <a:ext uri="{9D8B030D-6E8A-4147-A177-3AD203B41FA5}">
                      <a16:colId xmlns:a16="http://schemas.microsoft.com/office/drawing/2014/main" val="20001"/>
                    </a:ext>
                  </a:extLst>
                </a:gridCol>
                <a:gridCol w="1025374">
                  <a:extLst>
                    <a:ext uri="{9D8B030D-6E8A-4147-A177-3AD203B41FA5}">
                      <a16:colId xmlns:a16="http://schemas.microsoft.com/office/drawing/2014/main" val="20002"/>
                    </a:ext>
                  </a:extLst>
                </a:gridCol>
                <a:gridCol w="1025374">
                  <a:extLst>
                    <a:ext uri="{9D8B030D-6E8A-4147-A177-3AD203B41FA5}">
                      <a16:colId xmlns:a16="http://schemas.microsoft.com/office/drawing/2014/main" val="20003"/>
                    </a:ext>
                  </a:extLst>
                </a:gridCol>
                <a:gridCol w="1025374">
                  <a:extLst>
                    <a:ext uri="{9D8B030D-6E8A-4147-A177-3AD203B41FA5}">
                      <a16:colId xmlns:a16="http://schemas.microsoft.com/office/drawing/2014/main" val="20004"/>
                    </a:ext>
                  </a:extLst>
                </a:gridCol>
                <a:gridCol w="1025374">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val="20000"/>
                    </a:ext>
                  </a:extLst>
                </a:gridCol>
                <a:gridCol w="1013883">
                  <a:extLst>
                    <a:ext uri="{9D8B030D-6E8A-4147-A177-3AD203B41FA5}">
                      <a16:colId xmlns:a16="http://schemas.microsoft.com/office/drawing/2014/main" val="20001"/>
                    </a:ext>
                  </a:extLst>
                </a:gridCol>
                <a:gridCol w="1013883">
                  <a:extLst>
                    <a:ext uri="{9D8B030D-6E8A-4147-A177-3AD203B41FA5}">
                      <a16:colId xmlns:a16="http://schemas.microsoft.com/office/drawing/2014/main" val="20002"/>
                    </a:ext>
                  </a:extLst>
                </a:gridCol>
                <a:gridCol w="1013883">
                  <a:extLst>
                    <a:ext uri="{9D8B030D-6E8A-4147-A177-3AD203B41FA5}">
                      <a16:colId xmlns:a16="http://schemas.microsoft.com/office/drawing/2014/main" val="20003"/>
                    </a:ext>
                  </a:extLst>
                </a:gridCol>
                <a:gridCol w="1013883">
                  <a:extLst>
                    <a:ext uri="{9D8B030D-6E8A-4147-A177-3AD203B41FA5}">
                      <a16:colId xmlns:a16="http://schemas.microsoft.com/office/drawing/2014/main" val="20004"/>
                    </a:ext>
                  </a:extLst>
                </a:gridCol>
                <a:gridCol w="1013883">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64515" cy="5032375"/>
          </a:xfrm>
        </p:spPr>
        <p:txBody>
          <a:bodyPr/>
          <a:lstStyle/>
          <a:p>
            <a:r>
              <a:rPr lang="pt-BR" dirty="0"/>
              <a:t>Embora as </a:t>
            </a:r>
            <a:r>
              <a:rPr lang="pt-BR" b="1" i="1" dirty="0"/>
              <a:t>árvores de decisão </a:t>
            </a:r>
            <a:r>
              <a:rPr lang="pt-BR" dirty="0"/>
              <a:t>sejam poderosos algoritmos de </a:t>
            </a:r>
            <a:r>
              <a:rPr lang="pt-BR" b="1" i="1" dirty="0"/>
              <a:t>classificação</a:t>
            </a:r>
            <a:r>
              <a:rPr lang="pt-BR" dirty="0"/>
              <a:t>, elas podem apresentar um </a:t>
            </a:r>
            <a:r>
              <a:rPr lang="pt-BR" b="1" i="1" dirty="0">
                <a:solidFill>
                  <a:srgbClr val="7030A0"/>
                </a:solidFill>
              </a:rPr>
              <a:t>longo tempo de treinamento</a:t>
            </a:r>
            <a:r>
              <a:rPr lang="pt-BR" b="1" i="1" dirty="0">
                <a:solidFill>
                  <a:srgbClr val="00B050"/>
                </a:solidFill>
              </a:rPr>
              <a:t>, principalmente quando os atributos são contínuos</a:t>
            </a:r>
            <a:r>
              <a:rPr lang="pt-BR" dirty="0"/>
              <a:t>.</a:t>
            </a:r>
          </a:p>
          <a:p>
            <a:r>
              <a:rPr lang="pt-BR" dirty="0"/>
              <a:t>Árvores de decisão</a:t>
            </a:r>
            <a:r>
              <a:rPr lang="pt-BR" b="1" i="1" dirty="0"/>
              <a:t> </a:t>
            </a:r>
            <a:r>
              <a:rPr lang="pt-BR" b="1" i="1" dirty="0">
                <a:solidFill>
                  <a:srgbClr val="00B050"/>
                </a:solidFill>
              </a:rPr>
              <a:t>precisam de muito pouco pré-processamento dos dados</a:t>
            </a:r>
            <a:r>
              <a:rPr lang="pt-BR" dirty="0"/>
              <a:t>. Em particular, elas </a:t>
            </a:r>
            <a:r>
              <a:rPr lang="pt-BR" b="1" i="1" dirty="0">
                <a:solidFill>
                  <a:schemeClr val="accent5"/>
                </a:solidFill>
              </a:rPr>
              <a:t>não necessitam de escalonamento dos atributos</a:t>
            </a:r>
            <a:r>
              <a:rPr lang="pt-BR" dirty="0"/>
              <a:t>, mas </a:t>
            </a:r>
            <a:r>
              <a:rPr lang="pt-BR" b="1" i="1" dirty="0">
                <a:solidFill>
                  <a:srgbClr val="FF0000"/>
                </a:solidFill>
              </a:rPr>
              <a:t>valores faltantes devem ser tratados de alguma forma</a:t>
            </a:r>
            <a:r>
              <a:rPr lang="pt-BR" dirty="0"/>
              <a:t>.</a:t>
            </a:r>
          </a:p>
          <a:p>
            <a:r>
              <a:rPr lang="pt-BR" dirty="0"/>
              <a:t>Em casos onde as classes são separadas por </a:t>
            </a:r>
            <a:r>
              <a:rPr lang="pt-BR" b="1" i="1" dirty="0"/>
              <a:t>fronteiras de decisão não-lineares</a:t>
            </a:r>
            <a:r>
              <a:rPr lang="pt-BR" dirty="0"/>
              <a:t>, as árvores de decisão apresentam um </a:t>
            </a:r>
            <a:r>
              <a:rPr lang="pt-BR" b="1" i="1" dirty="0">
                <a:solidFill>
                  <a:srgbClr val="00B050"/>
                </a:solidFill>
              </a:rPr>
              <a:t>desempenho de classificação superior</a:t>
            </a:r>
            <a:r>
              <a:rPr lang="pt-BR" dirty="0"/>
              <a:t> ao apresentado por </a:t>
            </a:r>
            <a:r>
              <a:rPr lang="pt-BR" b="1" i="1" dirty="0">
                <a:solidFill>
                  <a:schemeClr val="accent5"/>
                </a:solidFill>
              </a:rPr>
              <a:t>classificadores com fronteiras de decisão formadas por hiperplanos</a:t>
            </a:r>
            <a:r>
              <a:rPr lang="pt-BR" dirty="0"/>
              <a:t>.</a:t>
            </a:r>
          </a:p>
          <a:p>
            <a:pPr lvl="1">
              <a:buFont typeface="Wingdings" panose="05000000000000000000" pitchFamily="2" charset="2"/>
              <a:buChar char="§"/>
            </a:pPr>
            <a:r>
              <a:rPr lang="pt-BR" dirty="0"/>
              <a:t> </a:t>
            </a:r>
            <a:r>
              <a:rPr lang="pt-BR" b="1" i="1" dirty="0"/>
              <a:t>Exemplo</a:t>
            </a:r>
            <a:r>
              <a:rPr lang="pt-BR" dirty="0"/>
              <a:t>: </a:t>
            </a:r>
            <a:r>
              <a:rPr lang="pt-BR" dirty="0">
                <a:hlinkClick r:id="rId3"/>
              </a:rPr>
              <a:t>DTTwoConcentricClassesClassification.ipynb</a:t>
            </a:r>
            <a:endParaRPr lang="pt-BR" dirty="0"/>
          </a:p>
        </p:txBody>
      </p:sp>
    </p:spTree>
    <p:extLst>
      <p:ext uri="{BB962C8B-B14F-4D97-AF65-F5344CB8AC3E}">
        <p14:creationId xmlns:p14="http://schemas.microsoft.com/office/powerpoint/2010/main" val="5673625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838200" y="1690688"/>
            <a:ext cx="11078498" cy="5167311"/>
          </a:xfrm>
        </p:spPr>
        <p:txBody>
          <a:bodyPr>
            <a:normAutofit/>
          </a:bodyPr>
          <a:lstStyle/>
          <a:p>
            <a:r>
              <a:rPr lang="pt-BR" dirty="0"/>
              <a:t>Quando as </a:t>
            </a:r>
            <a:r>
              <a:rPr lang="pt-BR" b="1" i="1" dirty="0">
                <a:solidFill>
                  <a:srgbClr val="00B050"/>
                </a:solidFill>
              </a:rPr>
              <a:t>classes não são bem separadas</a:t>
            </a:r>
            <a:r>
              <a:rPr lang="pt-BR" dirty="0"/>
              <a:t> (i.e., se elas se sobrepõem), </a:t>
            </a:r>
            <a:r>
              <a:rPr lang="pt-BR" b="1" i="1" dirty="0">
                <a:solidFill>
                  <a:srgbClr val="00B050"/>
                </a:solidFill>
              </a:rPr>
              <a:t>as árvores são suscetíveis a sobreajustar</a:t>
            </a:r>
            <a:r>
              <a:rPr lang="pt-BR" dirty="0"/>
              <a:t> ao conjunto de treinamento, de modo que a </a:t>
            </a:r>
            <a:r>
              <a:rPr lang="pt-BR" b="1" i="1" dirty="0"/>
              <a:t>fronteira de decisão linear</a:t>
            </a:r>
            <a:r>
              <a:rPr lang="pt-BR" dirty="0"/>
              <a:t> de </a:t>
            </a:r>
            <a:r>
              <a:rPr lang="pt-BR" b="1" i="1" dirty="0"/>
              <a:t>classificadores</a:t>
            </a:r>
            <a:r>
              <a:rPr lang="pt-BR" dirty="0"/>
              <a:t> </a:t>
            </a:r>
            <a:r>
              <a:rPr lang="pt-BR" b="1" i="1" dirty="0"/>
              <a:t>lineares</a:t>
            </a:r>
            <a:r>
              <a:rPr lang="pt-BR" dirty="0"/>
              <a:t> separa melhor as classes, apresentando melhor desempenho de </a:t>
            </a:r>
            <a:r>
              <a:rPr lang="pt-BR" b="1" i="1" dirty="0"/>
              <a:t>classificação</a:t>
            </a:r>
            <a:r>
              <a:rPr lang="pt-BR" dirty="0"/>
              <a:t>.</a:t>
            </a:r>
          </a:p>
          <a:p>
            <a:pPr lvl="0">
              <a:defRPr/>
            </a:pPr>
            <a:r>
              <a:rPr lang="pt-BR" dirty="0"/>
              <a:t>Para evitar </a:t>
            </a:r>
            <a:r>
              <a:rPr lang="pt-BR" b="1" i="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p>
          <a:p>
            <a:pPr>
              <a:defRPr/>
            </a:pPr>
            <a:r>
              <a:rPr lang="pt-BR" b="1" i="1" dirty="0"/>
              <a:t>Exemplo</a:t>
            </a:r>
            <a:r>
              <a:rPr lang="pt-BR" dirty="0"/>
              <a:t>: </a:t>
            </a:r>
            <a:r>
              <a:rPr lang="pt-BR" dirty="0" err="1">
                <a:hlinkClick r:id="rId3"/>
              </a:rPr>
              <a:t>DTTwoOverlappingClassesClassification.ipynb</a:t>
            </a:r>
            <a:endParaRPr lang="pt-BR" dirty="0"/>
          </a:p>
        </p:txBody>
      </p:sp>
    </p:spTree>
    <p:extLst>
      <p:ext uri="{BB962C8B-B14F-4D97-AF65-F5344CB8AC3E}">
        <p14:creationId xmlns:p14="http://schemas.microsoft.com/office/powerpoint/2010/main" val="213990367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049000" cy="5032375"/>
          </a:xfrm>
        </p:spPr>
        <p:txBody>
          <a:bodyPr/>
          <a:lstStyle/>
          <a:p>
            <a:r>
              <a:rPr lang="pt-BR" dirty="0"/>
              <a:t>O </a:t>
            </a:r>
            <a:r>
              <a:rPr lang="pt-BR" b="1" i="1" dirty="0">
                <a:solidFill>
                  <a:srgbClr val="FF0000"/>
                </a:solidFill>
              </a:rPr>
              <a:t>principal problema </a:t>
            </a:r>
            <a:r>
              <a:rPr lang="pt-BR" dirty="0"/>
              <a:t>das árvores de decisão</a:t>
            </a:r>
            <a:r>
              <a:rPr lang="pt-BR" b="1" i="1" dirty="0"/>
              <a:t> </a:t>
            </a:r>
            <a:r>
              <a:rPr lang="pt-BR" dirty="0"/>
              <a:t>é que elas são</a:t>
            </a:r>
            <a:r>
              <a:rPr lang="pt-BR" b="1" i="1" dirty="0">
                <a:solidFill>
                  <a:srgbClr val="00B050"/>
                </a:solidFill>
              </a:rPr>
              <a:t> muito sensíveis a pequenas variações nos dados de treinamento</a:t>
            </a:r>
            <a:r>
              <a:rPr lang="pt-BR" dirty="0"/>
              <a:t> (e.g., rotação). </a:t>
            </a:r>
            <a:endParaRPr lang="pt-BR" b="1" i="1" dirty="0"/>
          </a:p>
          <a:p>
            <a:r>
              <a:rPr lang="pt-BR" dirty="0"/>
              <a:t>Árvores de decisão</a:t>
            </a:r>
            <a:r>
              <a:rPr lang="pt-BR" b="1" i="1" dirty="0"/>
              <a:t> </a:t>
            </a:r>
            <a:r>
              <a:rPr lang="pt-BR" dirty="0"/>
              <a:t>criam </a:t>
            </a:r>
            <a:r>
              <a:rPr lang="pt-BR" b="1" i="1" dirty="0">
                <a:solidFill>
                  <a:srgbClr val="7030A0"/>
                </a:solidFill>
              </a:rPr>
              <a:t>fronteiras de decisão compostas por trechos perpendiculares aos eixos</a:t>
            </a:r>
            <a:r>
              <a:rPr lang="pt-BR" dirty="0"/>
              <a:t>, o que as torna </a:t>
            </a:r>
            <a:r>
              <a:rPr lang="pt-BR" b="1" i="1" dirty="0"/>
              <a:t>sensíveis à rotação do conjunto de treinamento</a:t>
            </a:r>
            <a:r>
              <a:rPr lang="pt-BR" dirty="0"/>
              <a:t>.</a:t>
            </a:r>
          </a:p>
          <a:p>
            <a:r>
              <a:rPr lang="pt-BR" b="1" i="1" dirty="0"/>
              <a:t>Exemplo</a:t>
            </a:r>
            <a:r>
              <a:rPr lang="pt-BR" dirty="0"/>
              <a:t>: </a:t>
            </a:r>
            <a:r>
              <a:rPr lang="pt-BR" dirty="0" err="1">
                <a:hlinkClick r:id="rId3"/>
              </a:rPr>
              <a:t>DTSensitivityToTrainingSetRotation.ipynb</a:t>
            </a:r>
            <a:r>
              <a:rPr lang="pt-BR" dirty="0"/>
              <a:t> </a:t>
            </a:r>
          </a:p>
          <a:p>
            <a:r>
              <a:rPr lang="pt-BR" dirty="0"/>
              <a:t>Uma maneira para </a:t>
            </a:r>
            <a:r>
              <a:rPr lang="pt-BR" b="1" i="1" dirty="0">
                <a:solidFill>
                  <a:srgbClr val="FF0000"/>
                </a:solidFill>
              </a:rPr>
              <a:t>minimizar</a:t>
            </a:r>
            <a:r>
              <a:rPr lang="pt-BR" dirty="0"/>
              <a:t> esse problema da sensibilidade à rotação é usar a técnica conhecida como </a:t>
            </a:r>
            <a:r>
              <a:rPr lang="pt-BR" b="1" i="1" dirty="0"/>
              <a:t>Análise de Componentes Principais (PCA)</a:t>
            </a:r>
            <a:r>
              <a:rPr lang="pt-BR" dirty="0"/>
              <a:t>, que rotaciona e dimensiona linearmente a matriz de atributos.</a:t>
            </a:r>
          </a:p>
        </p:txBody>
      </p:sp>
    </p:spTree>
    <p:extLst>
      <p:ext uri="{BB962C8B-B14F-4D97-AF65-F5344CB8AC3E}">
        <p14:creationId xmlns:p14="http://schemas.microsoft.com/office/powerpoint/2010/main" val="24763091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199" y="1825624"/>
            <a:ext cx="11217443" cy="5032375"/>
          </a:xfrm>
        </p:spPr>
        <p:txBody>
          <a:bodyPr>
            <a:normAutofit/>
          </a:bodyPr>
          <a:lstStyle/>
          <a:p>
            <a:r>
              <a:rPr lang="pt-BR" dirty="0"/>
              <a:t>Alguns </a:t>
            </a:r>
            <a:r>
              <a:rPr lang="pt-BR" b="1" i="1" dirty="0">
                <a:solidFill>
                  <a:srgbClr val="00B050"/>
                </a:solidFill>
              </a:rPr>
              <a:t>algoritmos para inferência de árvores de decisão são </a:t>
            </a:r>
            <a:r>
              <a:rPr lang="pt-BR" b="1" i="1" dirty="0">
                <a:solidFill>
                  <a:srgbClr val="7030A0"/>
                </a:solidFill>
              </a:rPr>
              <a:t>estocásticos</a:t>
            </a:r>
            <a:r>
              <a:rPr lang="pt-BR" b="1" i="1" dirty="0">
                <a:solidFill>
                  <a:srgbClr val="00B050"/>
                </a:solidFill>
              </a:rPr>
              <a:t> </a:t>
            </a:r>
            <a:r>
              <a:rPr lang="pt-BR" dirty="0"/>
              <a:t>e, portanto, </a:t>
            </a:r>
            <a:r>
              <a:rPr lang="pt-BR" b="1" i="1" dirty="0">
                <a:solidFill>
                  <a:srgbClr val="00B050"/>
                </a:solidFill>
              </a:rPr>
              <a:t>podem gerar árvores </a:t>
            </a:r>
            <a:r>
              <a:rPr lang="pt-BR" b="1" i="1" dirty="0">
                <a:solidFill>
                  <a:srgbClr val="FF0000"/>
                </a:solidFill>
              </a:rPr>
              <a:t>completamente diferentes</a:t>
            </a:r>
            <a:r>
              <a:rPr lang="pt-BR" b="1" i="1" dirty="0">
                <a:solidFill>
                  <a:srgbClr val="00B050"/>
                </a:solidFill>
              </a:rPr>
              <a:t> com o </a:t>
            </a:r>
            <a:r>
              <a:rPr lang="pt-BR" b="1" i="1" dirty="0">
                <a:solidFill>
                  <a:srgbClr val="0070C0"/>
                </a:solidFill>
              </a:rPr>
              <a:t>mesmo modelo e conjunto de dados</a:t>
            </a:r>
            <a:r>
              <a:rPr lang="pt-BR" dirty="0"/>
              <a:t>,</a:t>
            </a:r>
            <a:r>
              <a:rPr lang="pt-BR" b="1" i="1" dirty="0">
                <a:solidFill>
                  <a:srgbClr val="00B050"/>
                </a:solidFill>
              </a:rPr>
              <a:t> </a:t>
            </a:r>
            <a:r>
              <a:rPr lang="pt-BR" b="1" i="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b="1" i="1" dirty="0"/>
              <a:t>Exemplo</a:t>
            </a:r>
            <a:r>
              <a:rPr lang="pt-BR" dirty="0"/>
              <a:t>: </a:t>
            </a:r>
            <a:r>
              <a:rPr lang="pt-BR" dirty="0" err="1">
                <a:hlinkClick r:id="rId3"/>
              </a:rPr>
              <a:t>DTSensitivityToTrainingSetDetails.ipynb</a:t>
            </a:r>
            <a:endParaRPr lang="pt-BR" dirty="0"/>
          </a:p>
          <a:p>
            <a:r>
              <a:rPr lang="pt-BR" dirty="0"/>
              <a:t>As </a:t>
            </a:r>
            <a:r>
              <a:rPr lang="pt-BR" b="1" i="1" dirty="0"/>
              <a:t>florestas aleatórias </a:t>
            </a:r>
            <a:r>
              <a:rPr lang="pt-BR" dirty="0"/>
              <a:t>podem limitar essa instabilidade calculando a média ou voto majoritário das predições feitas por diversas </a:t>
            </a:r>
            <a:r>
              <a:rPr lang="pt-BR" b="1" i="1" dirty="0"/>
              <a:t>árvores de decisão</a:t>
            </a:r>
            <a:r>
              <a:rPr lang="pt-BR" dirty="0"/>
              <a:t>.</a:t>
            </a:r>
            <a:endParaRPr lang="pt-BR" b="1" i="1" dirty="0"/>
          </a:p>
        </p:txBody>
      </p:sp>
    </p:spTree>
    <p:extLst>
      <p:ext uri="{BB962C8B-B14F-4D97-AF65-F5344CB8AC3E}">
        <p14:creationId xmlns:p14="http://schemas.microsoft.com/office/powerpoint/2010/main" val="26774920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199" y="1825624"/>
            <a:ext cx="11169317" cy="5032375"/>
          </a:xfrm>
        </p:spPr>
        <p:txBody>
          <a:bodyPr>
            <a:normAutofit/>
          </a:bodyPr>
          <a:lstStyle/>
          <a:p>
            <a:r>
              <a:rPr lang="pt-BR" dirty="0"/>
              <a:t>Se não for restringida, a </a:t>
            </a:r>
            <a:r>
              <a:rPr lang="pt-BR" b="1" i="1" dirty="0"/>
              <a:t>árvore de decisão</a:t>
            </a:r>
            <a:r>
              <a:rPr lang="pt-BR" dirty="0"/>
              <a:t> se adaptará aos dados de treinamento, ajustando-se muito bem e, provavelmente, se </a:t>
            </a:r>
            <a:r>
              <a:rPr lang="pt-BR" b="1" i="1" dirty="0" err="1">
                <a:solidFill>
                  <a:srgbClr val="7030A0"/>
                </a:solidFill>
              </a:rPr>
              <a:t>sobreajustando</a:t>
            </a:r>
            <a:r>
              <a:rPr lang="pt-BR" dirty="0"/>
              <a:t> a eles. </a:t>
            </a:r>
          </a:p>
          <a:p>
            <a:r>
              <a:rPr lang="pt-BR" dirty="0"/>
              <a:t>Para evitar o </a:t>
            </a:r>
            <a:r>
              <a:rPr lang="pt-BR" b="1" i="1" dirty="0"/>
              <a:t>sobreajuste</a:t>
            </a:r>
            <a:r>
              <a:rPr lang="pt-BR" dirty="0"/>
              <a:t> do modelo, nós precisamos </a:t>
            </a:r>
            <a:r>
              <a:rPr lang="pt-BR" b="1" i="1" dirty="0">
                <a:solidFill>
                  <a:srgbClr val="7030A0"/>
                </a:solidFill>
              </a:rPr>
              <a:t>restringir</a:t>
            </a:r>
            <a:r>
              <a:rPr lang="pt-BR" dirty="0"/>
              <a:t> </a:t>
            </a:r>
            <a:r>
              <a:rPr lang="pt-BR" b="1" i="1" dirty="0">
                <a:solidFill>
                  <a:srgbClr val="7030A0"/>
                </a:solidFill>
              </a:rPr>
              <a:t>a liberdade de crescer</a:t>
            </a:r>
            <a:r>
              <a:rPr lang="pt-BR" dirty="0"/>
              <a:t> da árvore de decisão durante seu treinamento.</a:t>
            </a:r>
          </a:p>
          <a:p>
            <a:pPr lvl="1">
              <a:buFont typeface="Wingdings" panose="05000000000000000000" pitchFamily="2" charset="2"/>
              <a:buChar char="§"/>
            </a:pPr>
            <a:r>
              <a:rPr lang="pt-BR" dirty="0"/>
              <a:t>Essa restrição pode ser visto como uma forma de</a:t>
            </a:r>
            <a:r>
              <a:rPr lang="pt-BR" b="1" i="1" dirty="0"/>
              <a:t> </a:t>
            </a:r>
            <a:r>
              <a:rPr lang="pt-BR" b="1" i="1" dirty="0">
                <a:solidFill>
                  <a:srgbClr val="FF0000"/>
                </a:solidFill>
              </a:rPr>
              <a:t>regularização</a:t>
            </a:r>
            <a:r>
              <a:rPr lang="pt-BR" b="1" i="1" dirty="0"/>
              <a:t>.</a:t>
            </a:r>
            <a:endParaRPr lang="pt-BR" dirty="0"/>
          </a:p>
          <a:p>
            <a:r>
              <a:rPr lang="pt-BR" dirty="0"/>
              <a:t>No </a:t>
            </a:r>
            <a:r>
              <a:rPr lang="pt-BR" dirty="0" err="1"/>
              <a:t>Scikit-Learn</a:t>
            </a:r>
            <a:r>
              <a:rPr lang="pt-BR" dirty="0"/>
              <a:t>, a regularização pode ser controlada pelos hiperparâmetros: </a:t>
            </a:r>
            <a:r>
              <a:rPr lang="pt-BR" b="1" i="1" dirty="0" err="1"/>
              <a:t>max_depth</a:t>
            </a:r>
            <a:r>
              <a:rPr lang="pt-BR" dirty="0"/>
              <a:t>, </a:t>
            </a:r>
            <a:r>
              <a:rPr lang="pt-BR" b="1" i="1" dirty="0" err="1"/>
              <a:t>min_samples_split</a:t>
            </a:r>
            <a:r>
              <a:rPr lang="pt-BR" dirty="0"/>
              <a:t>, </a:t>
            </a:r>
            <a:r>
              <a:rPr lang="pt-BR" b="1" i="1" dirty="0" err="1"/>
              <a:t>min_samples_leaf</a:t>
            </a:r>
            <a:r>
              <a:rPr lang="pt-BR" dirty="0"/>
              <a:t>, </a:t>
            </a:r>
            <a:r>
              <a:rPr lang="pt-BR" b="1" i="1" dirty="0" err="1"/>
              <a:t>min_weight_fraction_leaf</a:t>
            </a:r>
            <a:r>
              <a:rPr lang="pt-BR" dirty="0"/>
              <a:t>, </a:t>
            </a:r>
            <a:r>
              <a:rPr lang="pt-BR" b="1" i="1" dirty="0" err="1"/>
              <a:t>max_leaf_nodes</a:t>
            </a:r>
            <a:r>
              <a:rPr lang="pt-BR" dirty="0"/>
              <a:t> e </a:t>
            </a:r>
            <a:r>
              <a:rPr lang="pt-BR" b="1" i="1" dirty="0" err="1"/>
              <a:t>max_features</a:t>
            </a:r>
            <a:r>
              <a:rPr lang="pt-BR" dirty="0"/>
              <a:t>.</a:t>
            </a:r>
          </a:p>
          <a:p>
            <a:r>
              <a:rPr lang="pt-BR" b="1" i="1" dirty="0"/>
              <a:t>Exemplo</a:t>
            </a:r>
            <a:r>
              <a:rPr lang="pt-BR" dirty="0"/>
              <a:t>: </a:t>
            </a:r>
            <a:r>
              <a:rPr lang="pt-BR" dirty="0" err="1">
                <a:hlinkClick r:id="rId3"/>
              </a:rPr>
              <a:t>DTRegularizationHyperparameters.ipynb</a:t>
            </a:r>
            <a:endParaRPr lang="pt-BR" dirty="0"/>
          </a:p>
        </p:txBody>
      </p:sp>
    </p:spTree>
    <p:extLst>
      <p:ext uri="{BB962C8B-B14F-4D97-AF65-F5344CB8AC3E}">
        <p14:creationId xmlns:p14="http://schemas.microsoft.com/office/powerpoint/2010/main" val="354351971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4608095" y="1825624"/>
            <a:ext cx="7399421" cy="5032375"/>
          </a:xfrm>
        </p:spPr>
        <p:txBody>
          <a:bodyPr>
            <a:normAutofit/>
          </a:bodyPr>
          <a:lstStyle/>
          <a:p>
            <a:r>
              <a:rPr lang="pt-BR" b="1" i="1" dirty="0"/>
              <a:t>Árvores de decisão </a:t>
            </a:r>
            <a:r>
              <a:rPr lang="pt-BR" dirty="0"/>
              <a:t>também podem ser utilizadas para </a:t>
            </a:r>
            <a:r>
              <a:rPr lang="pt-BR" b="1" i="1" dirty="0"/>
              <a:t>regressão</a:t>
            </a:r>
            <a:r>
              <a:rPr lang="pt-BR" dirty="0"/>
              <a:t>.</a:t>
            </a:r>
          </a:p>
          <a:p>
            <a:pPr lvl="1">
              <a:buFont typeface="Wingdings" panose="05000000000000000000" pitchFamily="2" charset="2"/>
              <a:buChar char="§"/>
            </a:pPr>
            <a:r>
              <a:rPr lang="pt-BR" dirty="0"/>
              <a:t>As </a:t>
            </a:r>
            <a:r>
              <a:rPr lang="pt-BR" b="1" i="1" dirty="0"/>
              <a:t>árvores de decisão</a:t>
            </a:r>
            <a:r>
              <a:rPr lang="pt-BR" dirty="0"/>
              <a:t> também tendem a se </a:t>
            </a:r>
            <a:r>
              <a:rPr lang="pt-BR" b="1" i="1" dirty="0"/>
              <a:t>sobreajustar</a:t>
            </a:r>
            <a:r>
              <a:rPr lang="pt-BR" dirty="0"/>
              <a:t> ao lidar com tarefas de </a:t>
            </a:r>
            <a:r>
              <a:rPr lang="pt-BR" b="1" i="1" dirty="0"/>
              <a:t>regressão</a:t>
            </a:r>
            <a:r>
              <a:rPr lang="pt-BR" dirty="0"/>
              <a:t>.</a:t>
            </a:r>
          </a:p>
          <a:p>
            <a:pPr lvl="1">
              <a:buFont typeface="Wingdings" panose="05000000000000000000" pitchFamily="2" charset="2"/>
              <a:buChar char="§"/>
            </a:pPr>
            <a:r>
              <a:rPr lang="pt-BR" b="1" i="1" dirty="0"/>
              <a:t>Exemplo</a:t>
            </a:r>
            <a:r>
              <a:rPr lang="pt-BR" dirty="0"/>
              <a:t>: </a:t>
            </a:r>
            <a:r>
              <a:rPr lang="pt-BR" dirty="0" err="1">
                <a:hlinkClick r:id="rId3"/>
              </a:rPr>
              <a:t>DTNoisyQuadraticDatasetRegression.ipynb</a:t>
            </a:r>
            <a:endParaRPr lang="pt-BR" dirty="0"/>
          </a:p>
          <a:p>
            <a:r>
              <a:rPr lang="pt-BR" dirty="0"/>
              <a:t>Predições feitas por </a:t>
            </a:r>
            <a:r>
              <a:rPr lang="pt-BR" b="1" i="1" dirty="0"/>
              <a:t>árvores de decisão </a:t>
            </a:r>
            <a:r>
              <a:rPr lang="pt-BR" b="1" i="1" dirty="0">
                <a:solidFill>
                  <a:srgbClr val="7030A0"/>
                </a:solidFill>
              </a:rPr>
              <a:t>não são suaves nem contínuas</a:t>
            </a:r>
            <a:r>
              <a:rPr lang="pt-BR" dirty="0"/>
              <a:t>, mas </a:t>
            </a:r>
            <a:r>
              <a:rPr lang="pt-BR" b="1" i="1" dirty="0">
                <a:solidFill>
                  <a:schemeClr val="accent2"/>
                </a:solidFill>
              </a:rPr>
              <a:t>aproximações constantes por partes/trechos</a:t>
            </a:r>
            <a:r>
              <a:rPr lang="pt-BR" dirty="0"/>
              <a:t>, conforme visto na figura ao lado.</a:t>
            </a:r>
          </a:p>
          <a:p>
            <a:r>
              <a:rPr lang="pt-BR" dirty="0"/>
              <a:t>O valor previsto para cada trecho é sempre o </a:t>
            </a:r>
            <a:r>
              <a:rPr lang="pt-BR" b="1" i="1" dirty="0">
                <a:solidFill>
                  <a:srgbClr val="00B050"/>
                </a:solidFill>
              </a:rPr>
              <a:t>valor médio</a:t>
            </a:r>
            <a:r>
              <a:rPr lang="pt-BR" dirty="0"/>
              <a:t> dos exemplos </a:t>
            </a:r>
            <a:r>
              <a:rPr lang="pt-BR" b="1" i="1" dirty="0">
                <a:solidFill>
                  <a:srgbClr val="00B050"/>
                </a:solidFill>
              </a:rPr>
              <a:t>nesse trecho</a:t>
            </a:r>
            <a:r>
              <a:rPr lang="pt-BR" dirty="0"/>
              <a:t>.</a:t>
            </a:r>
          </a:p>
        </p:txBody>
      </p:sp>
      <p:pic>
        <p:nvPicPr>
          <p:cNvPr id="4" name="Picture 2" descr="../_images/sphx_glr_plot_tree_regression_001.png">
            <a:extLst>
              <a:ext uri="{FF2B5EF4-FFF2-40B4-BE49-F238E27FC236}">
                <a16:creationId xmlns:a16="http://schemas.microsoft.com/office/drawing/2014/main" id="{B95AB935-03CF-444D-A124-A5ABCD677CB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79" t="6852" r="9556" b="2180"/>
          <a:stretch/>
        </p:blipFill>
        <p:spPr bwMode="auto">
          <a:xfrm>
            <a:off x="184484" y="2333104"/>
            <a:ext cx="4199021" cy="325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928554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t>Exemplo: </a:t>
            </a:r>
            <a:r>
              <a:rPr lang="pt-BR" dirty="0" err="1"/>
              <a:t>árvores_de_decisão.ipynb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t>Lista #12 – </a:t>
            </a:r>
            <a:r>
              <a:rPr lang="en-US" dirty="0" err="1"/>
              <a:t>Árvores</a:t>
            </a:r>
            <a:r>
              <a:rPr lang="en-US" dirty="0"/>
              <a:t> de </a:t>
            </a:r>
            <a:r>
              <a:rPr lang="en-US" dirty="0" err="1"/>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s://i.pinimg.com/originals/ed/2f/b8/ed2fb8b8566efe627ba894983bd1e316.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2858" y="291514"/>
            <a:ext cx="4281714" cy="27336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p:cNvPicPr>
            <a:picLocks noChangeAspect="1"/>
          </p:cNvPicPr>
          <p:nvPr/>
        </p:nvPicPr>
        <p:blipFill>
          <a:blip r:embed="rId3"/>
          <a:stretch>
            <a:fillRect/>
          </a:stretch>
        </p:blipFill>
        <p:spPr>
          <a:xfrm>
            <a:off x="3323771" y="3025117"/>
            <a:ext cx="4572000" cy="3429000"/>
          </a:xfrm>
          <a:prstGeom prst="rect">
            <a:avLst/>
          </a:prstGeom>
        </p:spPr>
      </p:pic>
      <p:pic>
        <p:nvPicPr>
          <p:cNvPr id="1034" name="Picture 10" descr="I love this decision tree on how to choose the right kind of pet for you. I want the giraffe.                                                                                                                                                                                 Mo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80374" y="291514"/>
            <a:ext cx="3255283" cy="49521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7904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val="20000"/>
                    </a:ext>
                  </a:extLst>
                </a:gridCol>
                <a:gridCol w="209114">
                  <a:extLst>
                    <a:ext uri="{9D8B030D-6E8A-4147-A177-3AD203B41FA5}">
                      <a16:colId xmlns:a16="http://schemas.microsoft.com/office/drawing/2014/main" val="20001"/>
                    </a:ext>
                  </a:extLst>
                </a:gridCol>
                <a:gridCol w="298734">
                  <a:extLst>
                    <a:ext uri="{9D8B030D-6E8A-4147-A177-3AD203B41FA5}">
                      <a16:colId xmlns:a16="http://schemas.microsoft.com/office/drawing/2014/main" val="20002"/>
                    </a:ext>
                  </a:extLst>
                </a:gridCol>
                <a:gridCol w="268861">
                  <a:extLst>
                    <a:ext uri="{9D8B030D-6E8A-4147-A177-3AD203B41FA5}">
                      <a16:colId xmlns:a16="http://schemas.microsoft.com/office/drawing/2014/main" val="20003"/>
                    </a:ext>
                  </a:extLst>
                </a:gridCol>
                <a:gridCol w="298734">
                  <a:extLst>
                    <a:ext uri="{9D8B030D-6E8A-4147-A177-3AD203B41FA5}">
                      <a16:colId xmlns:a16="http://schemas.microsoft.com/office/drawing/2014/main" val="20004"/>
                    </a:ext>
                  </a:extLst>
                </a:gridCol>
                <a:gridCol w="25001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val="20000"/>
                    </a:ext>
                  </a:extLst>
                </a:gridCol>
                <a:gridCol w="213002">
                  <a:extLst>
                    <a:ext uri="{9D8B030D-6E8A-4147-A177-3AD203B41FA5}">
                      <a16:colId xmlns:a16="http://schemas.microsoft.com/office/drawing/2014/main" val="20001"/>
                    </a:ext>
                  </a:extLst>
                </a:gridCol>
                <a:gridCol w="304290">
                  <a:extLst>
                    <a:ext uri="{9D8B030D-6E8A-4147-A177-3AD203B41FA5}">
                      <a16:colId xmlns:a16="http://schemas.microsoft.com/office/drawing/2014/main" val="20002"/>
                    </a:ext>
                  </a:extLst>
                </a:gridCol>
                <a:gridCol w="273861">
                  <a:extLst>
                    <a:ext uri="{9D8B030D-6E8A-4147-A177-3AD203B41FA5}">
                      <a16:colId xmlns:a16="http://schemas.microsoft.com/office/drawing/2014/main" val="20003"/>
                    </a:ext>
                  </a:extLst>
                </a:gridCol>
                <a:gridCol w="304290">
                  <a:extLst>
                    <a:ext uri="{9D8B030D-6E8A-4147-A177-3AD203B41FA5}">
                      <a16:colId xmlns:a16="http://schemas.microsoft.com/office/drawing/2014/main" val="20004"/>
                    </a:ext>
                  </a:extLst>
                </a:gridCol>
                <a:gridCol w="25466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17664</TotalTime>
  <Words>12309</Words>
  <Application>Microsoft Office PowerPoint</Application>
  <PresentationFormat>Widescreen</PresentationFormat>
  <Paragraphs>1279</Paragraphs>
  <Slides>74</Slides>
  <Notes>45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74</vt:i4>
      </vt:variant>
    </vt:vector>
  </HeadingPairs>
  <TitlesOfParts>
    <vt:vector size="83"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PowerPoint Presentation</vt:lpstr>
      <vt:lpstr>Árvores de decisão</vt:lpstr>
      <vt:lpstr>PowerPoint Presentation</vt:lpstr>
      <vt:lpstr>PowerPoint Presentation</vt:lpstr>
      <vt:lpstr>O que significa ser não-paramétrico?</vt:lpstr>
      <vt:lpstr>PowerPoint Presentation</vt:lpstr>
      <vt:lpstr>Árvores de decisão</vt:lpstr>
      <vt:lpstr>Árvores de decisão</vt:lpstr>
      <vt:lpstr>Árvores de decisão</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Exemplo de indução de uma árvore de decisão com o método ID3</vt:lpstr>
      <vt:lpstr>Exemplo de 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Exemplo</vt:lpstr>
      <vt:lpstr>Lista de exercícios</vt:lpstr>
      <vt:lpstr>PowerPoint Presentation</vt:lpstr>
      <vt:lpstr>PowerPoint Presentation</vt:lpstr>
      <vt:lpstr>PowerPoint Presentation</vt:lpstr>
      <vt:lpstr>PowerPoint Presentation</vt:lpstr>
      <vt:lpstr>Cálculo da entropia para mais de duas classes </vt:lpstr>
      <vt:lpstr>Cálculo da entropia para mais de duas classes </vt:lpstr>
      <vt:lpstr>PowerPoint Presentation</vt:lpstr>
      <vt:lpstr>Qual a entropia de 0?</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1204</cp:revision>
  <dcterms:created xsi:type="dcterms:W3CDTF">2020-04-06T23:46:10Z</dcterms:created>
  <dcterms:modified xsi:type="dcterms:W3CDTF">2026-03-31T20:05:13Z</dcterms:modified>
</cp:coreProperties>
</file>