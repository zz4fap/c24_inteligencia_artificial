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74" r:id="rId57"/>
    <p:sldId id="475" r:id="rId58"/>
    <p:sldId id="371" r:id="rId59"/>
    <p:sldId id="484" r:id="rId60"/>
    <p:sldId id="374" r:id="rId61"/>
    <p:sldId id="375" r:id="rId62"/>
    <p:sldId id="476" r:id="rId63"/>
    <p:sldId id="477" r:id="rId64"/>
    <p:sldId id="479" r:id="rId65"/>
    <p:sldId id="456" r:id="rId66"/>
    <p:sldId id="457" r:id="rId67"/>
    <p:sldId id="378" r:id="rId68"/>
    <p:sldId id="306" r:id="rId69"/>
    <p:sldId id="347" r:id="rId70"/>
    <p:sldId id="328" r:id="rId71"/>
    <p:sldId id="329" r:id="rId72"/>
    <p:sldId id="355" r:id="rId73"/>
    <p:sldId id="330" r:id="rId74"/>
    <p:sldId id="271" r:id="rId75"/>
    <p:sldId id="279" r:id="rId76"/>
    <p:sldId id="293" r:id="rId77"/>
    <p:sldId id="289" r:id="rId78"/>
    <p:sldId id="290" r:id="rId79"/>
    <p:sldId id="294" r:id="rId80"/>
    <p:sldId id="295" r:id="rId81"/>
    <p:sldId id="307" r:id="rId82"/>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6271" autoAdjust="0"/>
  </p:normalViewPr>
  <p:slideViewPr>
    <p:cSldViewPr snapToGrid="0">
      <p:cViewPr varScale="1">
        <p:scale>
          <a:sx n="84" d="100"/>
          <a:sy n="84" d="100"/>
        </p:scale>
        <p:origin x="158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31/05/2026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E191E-6173-1A9C-7608-19BEC89DF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1CFC8-40E4-39E6-FDE7-187621020A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E7EB-B0C5-2724-4E44-C5E5DB7D289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476D3C9-51BE-1E0E-0E52-6862AB52BF3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6839FBB-0194-2643-1E2F-273A4B1D3D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a:extLst>
              <a:ext uri="{FF2B5EF4-FFF2-40B4-BE49-F238E27FC236}">
                <a16:creationId xmlns:a16="http://schemas.microsoft.com/office/drawing/2014/main" id="{6D80D7D8-443F-6FAF-52D2-2DF7B31BFBBC}"/>
              </a:ext>
            </a:extLst>
          </p:cNvPr>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300730983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31/05/2026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31/05/2026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31/05/2026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31/05/2026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31/05/2026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31/05/2026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6.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t>
            </a:r>
            <a:r>
              <a:rPr lang="pt-BR" i="1" noProof="0" dirty="0"/>
              <a:t>a priori</a:t>
            </a:r>
            <a:r>
              <a:rPr lang="pt-BR" noProof="0" dirty="0"/>
              <a:t>.</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pela linha laranja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ramificação dos dados </a:t>
            </a:r>
            <a:r>
              <a:rPr lang="pt-BR" dirty="0"/>
              <a:t>(</a:t>
            </a:r>
            <a:r>
              <a:rPr lang="pt-BR" i="1" dirty="0" err="1"/>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o </a:t>
            </a:r>
            <a:r>
              <a:rPr lang="pt-BR" b="1" dirty="0">
                <a:solidFill>
                  <a:srgbClr val="00B050"/>
                </a:solidFill>
              </a:rPr>
              <a:t>valor final da predição</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Como podemos ver, 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i="1" dirty="0" err="1"/>
              <a:t>Iterative</a:t>
            </a:r>
            <a:r>
              <a:rPr lang="pt-BR" b="1" i="1" dirty="0"/>
              <a:t> </a:t>
            </a:r>
            <a:r>
              <a:rPr lang="pt-BR" b="1" i="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id="{16E0645F-F9FB-6D44-0DE6-2A1B273743D7}"/>
              </a:ext>
            </a:extLst>
          </p:cNvPr>
          <p:cNvSpPr>
            <a:spLocks noGrp="1"/>
          </p:cNvSpPr>
          <p:nvPr>
            <p:ph idx="1"/>
          </p:nvPr>
        </p:nvSpPr>
        <p:spPr>
          <a:xfrm>
            <a:off x="5572664" y="1825624"/>
            <a:ext cx="6477228" cy="5032376"/>
          </a:xfrm>
        </p:spPr>
        <p:txBody>
          <a:bodyPr>
            <a:normAutofit/>
          </a:bodyPr>
          <a:lstStyle/>
          <a:p>
            <a:r>
              <a:rPr lang="pt-BR" dirty="0"/>
              <a:t>O método constrói a árvore </a:t>
            </a:r>
            <a:r>
              <a:rPr lang="pt-BR" b="1" dirty="0">
                <a:solidFill>
                  <a:srgbClr val="00B050"/>
                </a:solidFill>
              </a:rPr>
              <a:t>iterativamente</a:t>
            </a:r>
            <a:r>
              <a:rPr lang="pt-BR" dirty="0"/>
              <a:t>:</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chemeClr val="accent2"/>
                </a:solidFill>
              </a:rPr>
              <a:t>árvores apropriadas</a:t>
            </a:r>
            <a:r>
              <a:rPr lang="pt-BR" b="1" dirty="0">
                <a:solidFill>
                  <a:srgbClr val="0070C0"/>
                </a:solidFill>
              </a:rPr>
              <a:t>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t>
            </a:r>
            <a:r>
              <a:rPr lang="pt-BR" b="1" dirty="0">
                <a:solidFill>
                  <a:schemeClr val="accent5"/>
                </a:solidFill>
              </a:rPr>
              <a:t>a cada passo</a:t>
            </a:r>
            <a:r>
              <a:rPr lang="pt-BR" dirty="0"/>
              <a:t>, o </a:t>
            </a:r>
            <a:r>
              <a:rPr lang="pt-BR" b="1" dirty="0">
                <a:solidFill>
                  <a:srgbClr val="00B050"/>
                </a:solidFill>
              </a:rPr>
              <a:t>atributo que mais reduz a </a:t>
            </a:r>
            <a:r>
              <a:rPr lang="pt-BR" b="1" dirty="0">
                <a:solidFill>
                  <a:schemeClr val="accent5"/>
                </a:solidFill>
              </a:rPr>
              <a:t>incerteza</a:t>
            </a:r>
            <a:r>
              <a:rPr lang="pt-BR" b="1" dirty="0">
                <a:solidFill>
                  <a:srgbClr val="00B050"/>
                </a:solidFill>
              </a:rPr>
              <a:t>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a:t>
                </a:r>
                <a:r>
                  <a:rPr lang="pt-BR" b="1" dirty="0">
                    <a:solidFill>
                      <a:srgbClr val="7030A0"/>
                    </a:solidFill>
                  </a:rPr>
                  <a:t>mede o quanto a incerteza sobre </a:t>
                </a:r>
                <a14:m>
                  <m:oMath xmlns:m="http://schemas.openxmlformats.org/officeDocument/2006/math">
                    <m:r>
                      <a:rPr lang="pt-BR" b="1" i="1" smtClean="0">
                        <a:solidFill>
                          <a:srgbClr val="7030A0"/>
                        </a:solidFill>
                        <a:latin typeface="Cambria Math" panose="02040503050406030204" pitchFamily="18" charset="0"/>
                      </a:rPr>
                      <m:t>𝒚</m:t>
                    </m:r>
                  </m:oMath>
                </a14:m>
                <a:r>
                  <a:rPr lang="pt-BR" b="1" dirty="0">
                    <a:solidFill>
                      <a:srgbClr val="7030A0"/>
                    </a:solidFill>
                  </a:rPr>
                  <a:t> diminui após conhecermos </a:t>
                </a:r>
                <a14:m>
                  <m:oMath xmlns:m="http://schemas.openxmlformats.org/officeDocument/2006/math">
                    <m:r>
                      <a:rPr lang="pt-BR" b="1" i="1">
                        <a:solidFill>
                          <a:srgbClr val="7030A0"/>
                        </a:solidFill>
                        <a:latin typeface="Cambria Math" panose="02040503050406030204" pitchFamily="18" charset="0"/>
                      </a:rPr>
                      <m:t>𝒙</m:t>
                    </m:r>
                  </m:oMath>
                </a14:m>
                <a:endParaRPr lang="pt-BR" b="1" dirty="0">
                  <a:solidFill>
                    <a:srgbClr val="7030A0"/>
                  </a:solidFill>
                </a:endParaRPr>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o conhecimento 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a:solidFill>
                      <a:srgbClr val="7030A0"/>
                    </a:solidFill>
                  </a:rPr>
                  <a:t>entropia média ponderada da entropia de cada subconjunto </a:t>
                </a:r>
                <a:r>
                  <a:rPr lang="pt-BR" dirty="0"/>
                  <a:t>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 </a:t>
                </a:r>
                <a:r>
                  <a:rPr lang="pt-BR" b="1" dirty="0">
                    <a:solidFill>
                      <a:srgbClr val="00B050"/>
                    </a:solidFill>
                  </a:rPr>
                  <a:t>entropia restante</a:t>
                </a:r>
                <a:r>
                  <a:rPr lang="pt-BR" dirty="0"/>
                  <a:t> é a </a:t>
                </a:r>
                <a:r>
                  <a:rPr lang="pt-BR" b="1" dirty="0">
                    <a:solidFill>
                      <a:schemeClr val="accent2"/>
                    </a:solidFill>
                  </a:rPr>
                  <a:t>medida da incerteza que sobra depois do teste do atributo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r="-155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588FC6-7187-4B40-897E-EB587D85894B}"/>
                  </a:ext>
                </a:extLst>
              </p:cNvPr>
              <p:cNvSpPr>
                <a:spLocks noGrp="1"/>
              </p:cNvSpPr>
              <p:nvPr>
                <p:ph idx="1"/>
              </p:nvPr>
            </p:nvSpPr>
            <p:spPr>
              <a:xfrm>
                <a:off x="838200" y="1825624"/>
                <a:ext cx="11353800" cy="5032376"/>
              </a:xfrm>
            </p:spPr>
            <p:txBody>
              <a:bodyPr>
                <a:normAutofit/>
              </a:bodyPr>
              <a:lstStyle/>
              <a:p>
                <a:r>
                  <a:rPr lang="pt-BR" dirty="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00B050"/>
                    </a:solidFill>
                  </a:rPr>
                  <a:t>redução</a:t>
                </a:r>
                <a:r>
                  <a:rPr lang="pt-BR" b="1" dirty="0">
                    <a:solidFill>
                      <a:srgbClr val="7030A0"/>
                    </a:solidFill>
                  </a:rPr>
                  <a:t>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se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r>
                      <a:rPr lang="pt-BR" b="0" i="0" smtClean="0">
                        <a:latin typeface="Cambria Math" panose="02040503050406030204" pitchFamily="18" charset="0"/>
                      </a:rPr>
                      <m:t>=0</m:t>
                    </m:r>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xmlns="">
          <p:sp>
            <p:nvSpPr>
              <p:cNvPr id="3" name="Content Placeholder 2">
                <a:extLst>
                  <a:ext uri="{FF2B5EF4-FFF2-40B4-BE49-F238E27FC236}">
                    <a16:creationId xmlns:a16="http://schemas.microsoft.com/office/drawing/2014/main" xmlns:a14="http://schemas.microsoft.com/office/drawing/2010/main" xmlns=""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a:t>
            </a:r>
            <a:r>
              <a:rPr lang="pt-BR" dirty="0" err="1"/>
              <a:t>sobreajuste</a:t>
            </a:r>
            <a:r>
              <a:rPr lang="pt-BR" dirty="0"/>
              <a:t> (e.g., uma </a:t>
            </a:r>
            <a:r>
              <a:rPr lang="pt-BR" b="1" dirty="0">
                <a:solidFill>
                  <a:srgbClr val="7030A0"/>
                </a:solidFill>
              </a:rPr>
              <a:t>árvore muito grande</a:t>
            </a:r>
            <a:r>
              <a:rPr lang="pt-BR" dirty="0"/>
              <a:t>), </a:t>
            </a:r>
            <a:r>
              <a:rPr lang="pt-BR" b="1" dirty="0">
                <a:solidFill>
                  <a:srgbClr val="00B050"/>
                </a:solidFill>
              </a:rPr>
              <a:t>árvores de decisão menores</a:t>
            </a:r>
            <a:r>
              <a:rPr lang="pt-BR" dirty="0"/>
              <a:t> </a:t>
            </a:r>
            <a:r>
              <a:rPr lang="pt-BR" b="1" dirty="0">
                <a:solidFill>
                  <a:srgbClr val="00B050"/>
                </a:solidFill>
              </a:rPr>
              <a:t>devem ser preferidas </a:t>
            </a:r>
            <a:r>
              <a:rPr lang="pt-BR" dirty="0"/>
              <a:t>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a:t>precisando, talvez, de mais atributos ou ser removido</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a:t>
                </a:r>
                <a:r>
                  <a:rPr lang="pt-BR" b="1" dirty="0">
                    <a:solidFill>
                      <a:schemeClr val="accent2"/>
                    </a:solidFill>
                  </a:rPr>
                  <a:t>vetor de atributos</a:t>
                </a:r>
                <a:r>
                  <a:rPr lang="pt-BR" dirty="0"/>
                  <a:t> e </a:t>
                </a:r>
                <a14:m>
                  <m:oMath xmlns:m="http://schemas.openxmlformats.org/officeDocument/2006/math">
                    <m:sSub>
                      <m:sSubPr>
                        <m:ctrlPr>
                          <a:rPr lang="pt-BR" i="1">
                            <a:latin typeface="Cambria Math" panose="02040503050406030204" pitchFamily="18" charset="0"/>
                          </a:rPr>
                        </m:ctrlPr>
                      </m:sSubPr>
                      <m:e>
                        <m:r>
                          <a:rPr lang="pt-BR" i="1" smtClean="0">
                            <a:latin typeface="Cambria Math" panose="02040503050406030204" pitchFamily="18" charset="0"/>
                          </a:rPr>
                          <m:t>𝑑</m:t>
                        </m:r>
                      </m:e>
                      <m:sub>
                        <m:r>
                          <a:rPr lang="pt-BR" i="1" smtClean="0">
                            <a:latin typeface="Cambria Math" panose="02040503050406030204" pitchFamily="18" charset="0"/>
                          </a:rPr>
                          <m:t>𝑖</m:t>
                        </m:r>
                      </m:sub>
                    </m:sSub>
                  </m:oMath>
                </a14:m>
                <a:r>
                  <a:rPr lang="pt-BR" i="1" dirty="0"/>
                  <a:t> </a:t>
                </a:r>
                <a:r>
                  <a:rPr lang="pt-BR" dirty="0"/>
                  <a:t>é o </a:t>
                </a:r>
                <a:r>
                  <a:rPr lang="pt-BR" b="1" dirty="0">
                    <a:solidFill>
                      <a:schemeClr val="accent2"/>
                    </a:solidFill>
                  </a:rPr>
                  <a:t>rótulo</a:t>
                </a:r>
                <a:r>
                  <a:rPr lang="pt-BR" dirty="0"/>
                  <a:t> correspondente ao vetor de atributos. </a:t>
                </a:r>
              </a:p>
              <a:p>
                <a:r>
                  <a:rPr lang="pt-BR" dirty="0"/>
                  <a:t>Nesse conjunto, cada entrada diz respeito à condição meteorológica de um dia e se os jogadores jogaram ou não. </a:t>
                </a:r>
              </a:p>
            </p:txBody>
          </p:sp>
        </mc:Choice>
        <mc:Fallback>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a:t>
            </a:r>
            <a:r>
              <a:rPr lang="pt-BR" b="1" dirty="0"/>
              <a:t>positivo</a:t>
            </a:r>
            <a:r>
              <a:rPr lang="pt-BR" dirty="0"/>
              <a:t> (P), i.e., jogar, e </a:t>
            </a:r>
            <a:r>
              <a:rPr lang="pt-BR" b="1" dirty="0"/>
              <a:t>negativo</a:t>
            </a:r>
            <a:r>
              <a:rPr lang="pt-BR" dirty="0"/>
              <a:t> (N), i.e., não jogar (problema binário).</a:t>
            </a:r>
          </a:p>
          <a:p>
            <a:r>
              <a:rPr lang="pt-BR" dirty="0"/>
              <a:t>Um exemplo de condição meteorológica de um dado dia pode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chemeClr val="accent2"/>
                </a:solidFill>
              </a:rPr>
              <a:t>classes não são bem separadas</a:t>
            </a:r>
            <a:r>
              <a:rPr lang="pt-BR" dirty="0">
                <a:solidFill>
                  <a:schemeClr val="accent2"/>
                </a:solidFill>
              </a:rPr>
              <a:t> </a:t>
            </a:r>
            <a:r>
              <a:rPr lang="pt-BR" dirty="0"/>
              <a:t>(sobreposição), </a:t>
            </a:r>
            <a:r>
              <a:rPr lang="pt-BR" b="1" dirty="0">
                <a:solidFill>
                  <a:srgbClr val="00B050"/>
                </a:solidFill>
              </a:rPr>
              <a:t>as árvores são suscetíveis a se sobreajustar</a:t>
            </a:r>
            <a:r>
              <a:rPr lang="pt-BR" dirty="0"/>
              <a:t> ao conjunto de treinamento.</a:t>
            </a:r>
          </a:p>
          <a:p>
            <a:r>
              <a:rPr lang="pt-BR" dirty="0"/>
              <a:t>Podemos evitar o </a:t>
            </a:r>
            <a:r>
              <a:rPr lang="pt-BR" b="1" dirty="0"/>
              <a:t>sobreajuste</a:t>
            </a:r>
            <a:r>
              <a:rPr lang="pt-BR" dirty="0"/>
              <a:t>: </a:t>
            </a:r>
          </a:p>
          <a:p>
            <a:pPr marL="971550" lvl="1" indent="-514350">
              <a:buFont typeface="+mj-lt"/>
              <a:buAutoNum type="arabicPeriod"/>
              <a:defRPr/>
            </a:pPr>
            <a:r>
              <a:rPr lang="pt-BR" dirty="0"/>
              <a:t>Limitando a profundidade.</a:t>
            </a:r>
          </a:p>
          <a:p>
            <a:pPr marL="971550" lvl="1" indent="-514350">
              <a:buFont typeface="+mj-lt"/>
              <a:buAutoNum type="arabicPeriod"/>
              <a:defRPr/>
            </a:pPr>
            <a:r>
              <a:rPr lang="pt-BR" dirty="0"/>
              <a:t>Aumentando o número mínimo de amostras necessárias em um nó folha.</a:t>
            </a:r>
          </a:p>
          <a:p>
            <a:pPr lvl="2">
              <a:buFont typeface="Wingdings" panose="05000000000000000000" pitchFamily="2" charset="2"/>
              <a:buChar char="§"/>
              <a:defRPr/>
            </a:pPr>
            <a:r>
              <a:rPr lang="pt-BR" dirty="0"/>
              <a:t>Impede divisões baseadas em poucos amostras.</a:t>
            </a:r>
          </a:p>
          <a:p>
            <a:pPr marL="971550" lvl="1" indent="-514350">
              <a:buFont typeface="+mj-lt"/>
              <a:buAutoNum type="arabicPeriod"/>
              <a:defRPr/>
            </a:pPr>
            <a:r>
              <a:rPr lang="pt-BR" dirty="0"/>
              <a:t>Eliminando alguns ramos (podar a árvore).</a:t>
            </a:r>
          </a:p>
          <a:p>
            <a:pPr lvl="2">
              <a:buFont typeface="Wingdings" panose="05000000000000000000" pitchFamily="2" charset="2"/>
              <a:buChar char="§"/>
              <a:defRPr/>
            </a:pPr>
            <a:r>
              <a:rPr lang="pt-BR" dirty="0"/>
              <a:t>Remove ramos que trazem pouco ganho.</a:t>
            </a:r>
          </a:p>
          <a:p>
            <a:pPr marL="971550" lvl="1" indent="-514350">
              <a:buFont typeface="+mj-lt"/>
              <a:buAutoNum type="arabicPeriod"/>
              <a:defRPr/>
            </a:pPr>
            <a:r>
              <a:rPr lang="en-US" dirty="0"/>
              <a:t>Usar </a:t>
            </a:r>
            <a:r>
              <a:rPr lang="en-US" i="1" dirty="0"/>
              <a:t>ensembles.</a:t>
            </a:r>
          </a:p>
          <a:p>
            <a:pPr lvl="2">
              <a:buFont typeface="Wingdings" panose="05000000000000000000" pitchFamily="2" charset="2"/>
              <a:buChar char="§"/>
              <a:defRPr/>
            </a:pPr>
            <a:r>
              <a:rPr lang="pt-BR" dirty="0"/>
              <a:t>Generalizam melhor do que uma árvore única.</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284720" cy="5032375"/>
          </a:xfrm>
        </p:spPr>
        <p:txBody>
          <a:bodyPr/>
          <a:lstStyle/>
          <a:p>
            <a:r>
              <a:rPr lang="pt-BR" dirty="0"/>
              <a:t>Um dos </a:t>
            </a:r>
            <a:r>
              <a:rPr lang="pt-BR" b="1" dirty="0">
                <a:solidFill>
                  <a:srgbClr val="FF0000"/>
                </a:solidFill>
              </a:rPr>
              <a:t>principais problemas </a:t>
            </a:r>
            <a:r>
              <a:rPr lang="pt-BR" dirty="0"/>
              <a:t>das árvores é sua </a:t>
            </a:r>
            <a:r>
              <a:rPr lang="pt-BR" b="1" dirty="0">
                <a:solidFill>
                  <a:schemeClr val="accent2"/>
                </a:solidFill>
              </a:rPr>
              <a:t>sensibilidade a rotações </a:t>
            </a:r>
            <a:r>
              <a:rPr lang="pt-BR" b="1" dirty="0">
                <a:solidFill>
                  <a:srgbClr val="00B050"/>
                </a:solidFill>
              </a:rPr>
              <a:t>nos dados de treinamento</a:t>
            </a:r>
            <a:r>
              <a:rPr lang="pt-BR" dirty="0"/>
              <a:t>. </a:t>
            </a:r>
            <a:endParaRPr lang="pt-BR" b="1" dirty="0"/>
          </a:p>
          <a:p>
            <a:r>
              <a:rPr lang="pt-BR" dirty="0"/>
              <a:t>Elas criam </a:t>
            </a:r>
            <a:r>
              <a:rPr lang="pt-BR" b="1" dirty="0">
                <a:solidFill>
                  <a:schemeClr val="accent2"/>
                </a:solidFill>
              </a:rPr>
              <a:t>fronteiras de decisão </a:t>
            </a:r>
            <a:r>
              <a:rPr lang="pt-BR" dirty="0"/>
              <a:t>compostas por</a:t>
            </a:r>
            <a:r>
              <a:rPr lang="pt-BR" b="1" dirty="0">
                <a:solidFill>
                  <a:srgbClr val="7030A0"/>
                </a:solidFill>
              </a:rPr>
              <a:t> trechos perpendiculares aos eixos</a:t>
            </a:r>
            <a:r>
              <a:rPr lang="pt-BR" dirty="0"/>
              <a:t>, o que as torna </a:t>
            </a:r>
            <a:r>
              <a:rPr lang="pt-BR" b="1" dirty="0"/>
              <a:t>sensíveis à rotação do conjunto de treinamento</a:t>
            </a:r>
            <a:r>
              <a:rPr lang="pt-BR" dirty="0"/>
              <a:t>.</a:t>
            </a:r>
          </a:p>
          <a:p>
            <a:r>
              <a:rPr lang="pt-BR" dirty="0"/>
              <a:t>Uma árvore </a:t>
            </a:r>
            <a:r>
              <a:rPr lang="pt-BR" b="1" dirty="0">
                <a:solidFill>
                  <a:srgbClr val="7030A0"/>
                </a:solidFill>
              </a:rPr>
              <a:t>não consegue fazer um corte diagonal</a:t>
            </a:r>
            <a:r>
              <a:rPr lang="pt-BR" dirty="0"/>
              <a:t> para separar as classes da figura.</a:t>
            </a:r>
          </a:p>
          <a:p>
            <a:r>
              <a:rPr lang="pt-BR" dirty="0"/>
              <a:t>Ela </a:t>
            </a:r>
            <a:r>
              <a:rPr lang="pt-BR" b="1" dirty="0">
                <a:solidFill>
                  <a:schemeClr val="accent2"/>
                </a:solidFill>
              </a:rPr>
              <a:t>aproxima</a:t>
            </a:r>
            <a:r>
              <a:rPr lang="pt-BR" dirty="0"/>
              <a:t> a diagonal com vários cortes horizontais e verticais.</a:t>
            </a:r>
          </a:p>
          <a:p>
            <a:endParaRPr lang="pt-BR" dirty="0"/>
          </a:p>
        </p:txBody>
      </p:sp>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57" y="2353628"/>
            <a:ext cx="3781738" cy="2904172"/>
          </a:xfrm>
          <a:prstGeom prst="rect">
            <a:avLst/>
          </a:prstGeom>
        </p:spPr>
      </p:pic>
    </p:spTree>
    <p:extLst>
      <p:ext uri="{BB962C8B-B14F-4D97-AF65-F5344CB8AC3E}">
        <p14:creationId xmlns:p14="http://schemas.microsoft.com/office/powerpoint/2010/main" val="2476309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1AD46-B926-846D-EB2A-F4A7743CD7B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83E1206-44F0-7D84-8BED-C8DC67CC9B92}"/>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E6F3CE70-7FAA-987D-8231-5E882FF0BF2A}"/>
              </a:ext>
            </a:extLst>
          </p:cNvPr>
          <p:cNvSpPr>
            <a:spLocks noGrp="1"/>
          </p:cNvSpPr>
          <p:nvPr>
            <p:ph idx="1"/>
          </p:nvPr>
        </p:nvSpPr>
        <p:spPr>
          <a:xfrm>
            <a:off x="4640580" y="1825624"/>
            <a:ext cx="7551420" cy="5032375"/>
          </a:xfrm>
        </p:spPr>
        <p:txBody>
          <a:bodyPr>
            <a:normAutofit lnSpcReduction="10000"/>
          </a:bodyPr>
          <a:lstStyle/>
          <a:p>
            <a:r>
              <a:rPr lang="pt-BR" dirty="0"/>
              <a:t>Isso gera:</a:t>
            </a:r>
          </a:p>
          <a:p>
            <a:pPr lvl="1">
              <a:buFont typeface="Wingdings" panose="05000000000000000000" pitchFamily="2" charset="2"/>
              <a:buChar char="§"/>
            </a:pPr>
            <a:r>
              <a:rPr lang="pt-BR" dirty="0"/>
              <a:t>uma árvore maior (complexa) do que o necessário; </a:t>
            </a:r>
          </a:p>
          <a:p>
            <a:pPr lvl="1">
              <a:buFont typeface="Wingdings" panose="05000000000000000000" pitchFamily="2" charset="2"/>
              <a:buChar char="§"/>
            </a:pPr>
            <a:r>
              <a:rPr lang="pt-BR" dirty="0"/>
              <a:t>e um maior risco de sobreajuste.</a:t>
            </a:r>
          </a:p>
          <a:p>
            <a:r>
              <a:rPr lang="pt-BR" dirty="0"/>
              <a:t>Uma maneira para </a:t>
            </a:r>
            <a:r>
              <a:rPr lang="pt-BR" b="1" dirty="0">
                <a:solidFill>
                  <a:srgbClr val="FF0000"/>
                </a:solidFill>
              </a:rPr>
              <a:t>minimizar</a:t>
            </a:r>
            <a:r>
              <a:rPr lang="pt-BR" dirty="0"/>
              <a:t> a sensibilidade à rotação é usar </a:t>
            </a:r>
            <a:r>
              <a:rPr lang="pt-BR" b="1" dirty="0"/>
              <a:t>análise de componentes principais (PCA)</a:t>
            </a:r>
            <a:r>
              <a:rPr lang="pt-BR" dirty="0"/>
              <a:t>, que </a:t>
            </a:r>
            <a:r>
              <a:rPr lang="pt-BR" b="1" dirty="0">
                <a:solidFill>
                  <a:schemeClr val="accent2"/>
                </a:solidFill>
              </a:rPr>
              <a:t>rotaciona</a:t>
            </a:r>
            <a:r>
              <a:rPr lang="pt-BR" dirty="0"/>
              <a:t> e dimensiona linearmente a matriz de atributos.</a:t>
            </a:r>
          </a:p>
          <a:p>
            <a:r>
              <a:rPr lang="pt-BR" dirty="0"/>
              <a:t>Na figura, após a aplicação do PCA, o novo sistema de coordenadas deixa a separação muito mais simples.</a:t>
            </a:r>
          </a:p>
          <a:p>
            <a:r>
              <a:rPr lang="pt-BR" dirty="0"/>
              <a:t>Podemos usar também </a:t>
            </a:r>
            <a:r>
              <a:rPr lang="pt-BR" i="1" dirty="0"/>
              <a:t>ensembles</a:t>
            </a:r>
            <a:r>
              <a:rPr lang="pt-BR" dirty="0"/>
              <a:t> </a:t>
            </a:r>
            <a:r>
              <a:rPr lang="en-US" dirty="0"/>
              <a:t>e </a:t>
            </a:r>
            <a:r>
              <a:rPr lang="en-US" dirty="0" err="1"/>
              <a:t>engenharia</a:t>
            </a:r>
            <a:r>
              <a:rPr lang="en-US" dirty="0"/>
              <a:t> de </a:t>
            </a:r>
            <a:r>
              <a:rPr lang="en-US" dirty="0" err="1"/>
              <a:t>atributos</a:t>
            </a:r>
            <a:r>
              <a:rPr lang="en-US" dirty="0"/>
              <a:t> (</a:t>
            </a:r>
            <a:r>
              <a:rPr lang="en-US" dirty="0" err="1"/>
              <a:t>aumentando</a:t>
            </a:r>
            <a:r>
              <a:rPr lang="en-US" dirty="0"/>
              <a:t> as </a:t>
            </a:r>
            <a:r>
              <a:rPr lang="en-US" dirty="0" err="1"/>
              <a:t>dimensões</a:t>
            </a:r>
            <a:r>
              <a:rPr lang="en-US"/>
              <a:t>).</a:t>
            </a:r>
            <a:endParaRPr lang="pt-BR" dirty="0"/>
          </a:p>
        </p:txBody>
      </p:sp>
      <p:pic>
        <p:nvPicPr>
          <p:cNvPr id="6" name="Imagem 5">
            <a:extLst>
              <a:ext uri="{FF2B5EF4-FFF2-40B4-BE49-F238E27FC236}">
                <a16:creationId xmlns:a16="http://schemas.microsoft.com/office/drawing/2014/main" id="{040E48A1-D605-B050-206E-22037687E9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a:extLst>
              <a:ext uri="{FF2B5EF4-FFF2-40B4-BE49-F238E27FC236}">
                <a16:creationId xmlns:a16="http://schemas.microsoft.com/office/drawing/2014/main" id="{BC54310F-2331-295C-169D-A7433D38A0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a:extLst>
              <a:ext uri="{FF2B5EF4-FFF2-40B4-BE49-F238E27FC236}">
                <a16:creationId xmlns:a16="http://schemas.microsoft.com/office/drawing/2014/main" id="{DB52FA60-743D-37C4-6EF5-534303D34C5D}"/>
              </a:ext>
            </a:extLst>
          </p:cNvPr>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5BAE8B30-1F44-FA72-2D4D-E2E32F41E568}"/>
              </a:ext>
            </a:extLst>
          </p:cNvPr>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6712178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a:t>As </a:t>
            </a:r>
            <a:r>
              <a:rPr lang="pt-BR" b="1" dirty="0"/>
              <a:t>florestas aleatórias </a:t>
            </a:r>
            <a:r>
              <a:rPr lang="pt-BR" dirty="0"/>
              <a:t>podem limitar essa instabilidade calculando a média ou voto majoritário das predições feitas por diversas </a:t>
            </a:r>
            <a:r>
              <a:rPr lang="pt-BR" b="1" dirty="0"/>
              <a:t>árvores</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18524</TotalTime>
  <Words>14576</Words>
  <Application>Microsoft Office PowerPoint</Application>
  <PresentationFormat>Widescreen</PresentationFormat>
  <Paragraphs>1519</Paragraphs>
  <Slides>81</Slides>
  <Notes>53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81</vt:i4>
      </vt:variant>
    </vt:vector>
  </HeadingPairs>
  <TitlesOfParts>
    <vt:vector size="90"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1407</cp:revision>
  <dcterms:created xsi:type="dcterms:W3CDTF">2020-04-06T23:46:10Z</dcterms:created>
  <dcterms:modified xsi:type="dcterms:W3CDTF">2026-06-01T02:14:18Z</dcterms:modified>
</cp:coreProperties>
</file>