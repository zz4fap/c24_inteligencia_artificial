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54" r:id="rId31"/>
    <p:sldId id="356" r:id="rId32"/>
    <p:sldId id="357" r:id="rId33"/>
    <p:sldId id="359" r:id="rId34"/>
    <p:sldId id="361" r:id="rId35"/>
    <p:sldId id="362" r:id="rId36"/>
    <p:sldId id="363" r:id="rId37"/>
    <p:sldId id="301" r:id="rId38"/>
    <p:sldId id="318" r:id="rId39"/>
    <p:sldId id="369" r:id="rId40"/>
    <p:sldId id="319" r:id="rId41"/>
    <p:sldId id="364" r:id="rId42"/>
    <p:sldId id="473" r:id="rId43"/>
    <p:sldId id="367" r:id="rId44"/>
    <p:sldId id="368" r:id="rId45"/>
    <p:sldId id="277" r:id="rId46"/>
    <p:sldId id="283" r:id="rId47"/>
    <p:sldId id="284" r:id="rId48"/>
    <p:sldId id="285" r:id="rId49"/>
    <p:sldId id="291" r:id="rId50"/>
    <p:sldId id="292" r:id="rId51"/>
    <p:sldId id="296" r:id="rId52"/>
    <p:sldId id="383" r:id="rId53"/>
    <p:sldId id="321" r:id="rId54"/>
    <p:sldId id="322" r:id="rId55"/>
    <p:sldId id="371" r:id="rId56"/>
    <p:sldId id="374" r:id="rId57"/>
    <p:sldId id="375" r:id="rId58"/>
    <p:sldId id="377" r:id="rId59"/>
    <p:sldId id="461" r:id="rId60"/>
    <p:sldId id="456" r:id="rId61"/>
    <p:sldId id="457" r:id="rId62"/>
    <p:sldId id="378" r:id="rId63"/>
    <p:sldId id="306"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86077" autoAdjust="0"/>
  </p:normalViewPr>
  <p:slideViewPr>
    <p:cSldViewPr snapToGrid="0">
      <p:cViewPr varScale="1">
        <p:scale>
          <a:sx n="63" d="100"/>
          <a:sy n="63" d="100"/>
        </p:scale>
        <p:origin x="98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5/10/relationships/revisionInfo" Target="revisionInfo.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03/04/2026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42055365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03/04/2026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03/04/2026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03/04/2026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03/04/2026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03/04/2026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03/04/2026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9.xml.rels><?xml version="1.0" encoding="UTF-8" standalone="yes"?>
<Relationships xmlns="http://schemas.openxmlformats.org/package/2006/relationships"><Relationship Id="rId3" Type="http://schemas.openxmlformats.org/officeDocument/2006/relationships/hyperlink" Target="https://www.zhihu.com/en/answer/43590280?utm_source=chatgpt.com"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praudyog.com/data-science-interview-questions/cart-c4-5-id3-algorithms/?utm_source=chatgpt.com" TargetMode="External"/><Relationship Id="rId5" Type="http://schemas.openxmlformats.org/officeDocument/2006/relationships/hyperlink" Target="https://www.zhihu.com/en/answer/119503150?utm_source=chatgpt.com" TargetMode="External"/><Relationship Id="rId4" Type="http://schemas.openxmlformats.org/officeDocument/2006/relationships/hyperlink" Target="https://stackoverflow.com/questions/20092632/can-someone-explain-me-the-difference-between-id3-and-cart-algorithm?utm_source=chatgpt.com"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São </a:t>
            </a:r>
            <a:r>
              <a:rPr lang="en-US" altLang="en-US" dirty="0" err="1"/>
              <a:t>problemas</a:t>
            </a:r>
            <a:r>
              <a:rPr lang="en-US" altLang="en-US" dirty="0"/>
              <a:t> </a:t>
            </a:r>
            <a:r>
              <a:rPr lang="pt-BR" dirty="0"/>
              <a:t>onde conferir uma solução é fácil, mas descobrir a resposta é extremamente difícil.</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é um problema NP-completo, em geral, usa-se </a:t>
            </a:r>
            <a:r>
              <a:rPr lang="pt-BR" b="1" dirty="0"/>
              <a:t>abordagens heurísticas </a:t>
            </a:r>
            <a:r>
              <a:rPr lang="pt-BR" dirty="0"/>
              <a:t>para induzir árvores de decisão. </a:t>
            </a:r>
          </a:p>
          <a:p>
            <a:r>
              <a:rPr lang="pt-BR" dirty="0"/>
              <a:t>Dentre as mais conhecidas 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não reconsidera decisões anteriores e não testa 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atributo que </a:t>
            </a:r>
            <a:r>
              <a:rPr lang="pt-BR" b="1" dirty="0"/>
              <a:t>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a:t>
            </a:r>
            <a:r>
              <a:rPr lang="pt-BR" dirty="0"/>
              <a:t>.</a:t>
            </a:r>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ponto (i.e.,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de um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mede o quanto um atributo reduz a incerteza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mede o quanto conseguimos explicar do conjunto com aquele atributo.</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rgbClr val="00B050"/>
                    </a:solidFill>
                  </a:rPr>
                  <a:t>diferença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a:p>
              <a:p>
                <a:pPr marL="0" indent="0">
                  <a:buNone/>
                </a:pPr>
                <a:endParaRPr lang="pt-BR" sz="600" dirty="0"/>
              </a:p>
              <a:p>
                <a:r>
                  <a:rPr lang="pt-BR" dirty="0"/>
                  <a:t>Vejamos como a entropia é calculada.</a:t>
                </a:r>
                <a:endParaRPr lang="pt-BR" sz="23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não tem nenhuma </a:t>
            </a:r>
            <a:r>
              <a:rPr lang="pt-BR" b="1" dirty="0"/>
              <a:t>incerteza</a:t>
            </a:r>
            <a:r>
              <a:rPr lang="pt-BR" dirty="0"/>
              <a:t> associada.</a:t>
            </a:r>
          </a:p>
          <a:p>
            <a:pPr lvl="1"/>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do arremesso</a:t>
            </a:r>
            <a:r>
              <a:rPr lang="pt-BR" dirty="0"/>
              <a:t>.</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dirty="0"/>
                  <a:t>entropia de uma </a:t>
                </a:r>
                <a:r>
                  <a:rPr lang="pt-BR" b="1" dirty="0">
                    <a:solidFill>
                      <a:schemeClr val="accent2"/>
                    </a:solidFill>
                  </a:rPr>
                  <a:t>variável booleana</a:t>
                </a:r>
                <a:r>
                  <a:rPr lang="pt-BR" b="1" dirty="0"/>
                  <a:t>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1074"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41505"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dirty="0">
                    <a:solidFill>
                      <a:srgbClr val="00B050"/>
                    </a:solidFill>
                  </a:rPr>
                  <a:t>toda ou apenas parte da </a:t>
                </a:r>
                <a:r>
                  <a:rPr lang="pt-BR" b="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572"/>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sz="2600" dirty="0"/>
                  <a:t>O menor valor de </a:t>
                </a:r>
                <a14:m>
                  <m:oMath xmlns:m="http://schemas.openxmlformats.org/officeDocument/2006/math">
                    <m:r>
                      <a:rPr lang="pt-BR" sz="2600" i="1">
                        <a:latin typeface="Cambria Math" panose="02040503050406030204" pitchFamily="18" charset="0"/>
                      </a:rPr>
                      <m:t>𝐺𝑎𝑖𝑛</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oMath>
                </a14:m>
                <a:r>
                  <a:rPr lang="pt-BR" sz="2600" dirty="0"/>
                  <a:t> é 0, pois </a:t>
                </a:r>
                <a14:m>
                  <m:oMath xmlns:m="http://schemas.openxmlformats.org/officeDocument/2006/math">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oMath>
                </a14:m>
                <a:r>
                  <a:rPr lang="pt-BR" sz="2600" dirty="0"/>
                  <a:t> pode explicar todo o conjunto.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b="-1453"/>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dirty="0"/>
                  <a:t>método ID3 </a:t>
                </a:r>
                <a:r>
                  <a:rPr lang="pt-BR" dirty="0"/>
                  <a:t>é encontrar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e, então, usar o procedimento </a:t>
                </a:r>
                <a:r>
                  <a:rPr lang="pt-BR" b="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2848"/>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dirty="0"/>
              <a:t>Ideal para variáveis discretas.</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Se os valores de um atributo forem contínuos, haverá muito mais pontos para se dividir os dados com esse atributo, e a busca pelo melhor valor a ser dividido pode se tornar demorada.</a:t>
            </a:r>
          </a:p>
        </p:txBody>
      </p:sp>
    </p:spTree>
    <p:extLst>
      <p:ext uri="{BB962C8B-B14F-4D97-AF65-F5344CB8AC3E}">
        <p14:creationId xmlns:p14="http://schemas.microsoft.com/office/powerpoint/2010/main" val="3802744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t>dois exemplos com os mesmos valores de atributos, porém classes diferentes</a:t>
            </a:r>
            <a:r>
              <a:rPr lang="pt-BR" dirty="0"/>
              <a:t>, precisará ser reconsiderado, pois os atributos atuais podem não ser suficientes, por exemplo, </a:t>
            </a:r>
            <a:r>
              <a:rPr lang="pt-BR" b="1" dirty="0"/>
              <a:t>precisando de mais atributos</a:t>
            </a:r>
            <a:r>
              <a:rPr lang="pt-BR" dirty="0"/>
              <a:t>.</a:t>
            </a:r>
          </a:p>
        </p:txBody>
      </p:sp>
      <p:pic>
        <p:nvPicPr>
          <p:cNvPr id="4" name="Picture 2" descr="Id3 sales learning algorithm">
            <a:extLst>
              <a:ext uri="{FF2B5EF4-FFF2-40B4-BE49-F238E27FC236}">
                <a16:creationId xmlns=""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2" y="1825624"/>
            <a:ext cx="7054517" cy="5032376"/>
          </a:xfrm>
        </p:spPr>
        <p:txBody>
          <a:bodyPr>
            <a:normAutofit/>
          </a:bodyPr>
          <a:lstStyle/>
          <a:p>
            <a:r>
              <a:rPr lang="pt-BR" dirty="0"/>
              <a:t>Um problema muito comum das </a:t>
            </a:r>
            <a:r>
              <a:rPr lang="pt-BR" b="1" dirty="0"/>
              <a:t>árvores de decisão</a:t>
            </a:r>
            <a:r>
              <a:rPr lang="pt-BR" dirty="0"/>
              <a:t>, especialmente quando se tem um número muito grande de atributos, é o </a:t>
            </a:r>
            <a:r>
              <a:rPr lang="pt-BR" b="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a:t>
            </a:r>
          </a:p>
        </p:txBody>
      </p:sp>
      <p:pic>
        <p:nvPicPr>
          <p:cNvPr id="4" name="Picture 2" descr="Id3 sales learning algorithm">
            <a:extLst>
              <a:ext uri="{FF2B5EF4-FFF2-40B4-BE49-F238E27FC236}">
                <a16:creationId xmlns=""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 xmlns:a16="http://schemas.microsoft.com/office/drawing/2014/main" val="20000"/>
                    </a:ext>
                  </a:extLst>
                </a:gridCol>
                <a:gridCol w="786008">
                  <a:extLst>
                    <a:ext uri="{9D8B030D-6E8A-4147-A177-3AD203B41FA5}">
                      <a16:colId xmlns="" xmlns:a16="http://schemas.microsoft.com/office/drawing/2014/main" val="20001"/>
                    </a:ext>
                  </a:extLst>
                </a:gridCol>
                <a:gridCol w="894865">
                  <a:extLst>
                    <a:ext uri="{9D8B030D-6E8A-4147-A177-3AD203B41FA5}">
                      <a16:colId xmlns="" xmlns:a16="http://schemas.microsoft.com/office/drawing/2014/main" val="20002"/>
                    </a:ext>
                  </a:extLst>
                </a:gridCol>
                <a:gridCol w="677151">
                  <a:extLst>
                    <a:ext uri="{9D8B030D-6E8A-4147-A177-3AD203B41FA5}">
                      <a16:colId xmlns="" xmlns:a16="http://schemas.microsoft.com/office/drawing/2014/main" val="20003"/>
                    </a:ext>
                  </a:extLst>
                </a:gridCol>
                <a:gridCol w="786008">
                  <a:extLst>
                    <a:ext uri="{9D8B030D-6E8A-4147-A177-3AD203B41FA5}">
                      <a16:colId xmlns="" xmlns:a16="http://schemas.microsoft.com/office/drawing/2014/main" val="20004"/>
                    </a:ext>
                  </a:extLst>
                </a:gridCol>
                <a:gridCol w="786008">
                  <a:extLst>
                    <a:ext uri="{9D8B030D-6E8A-4147-A177-3AD203B41FA5}">
                      <a16:colId xmlns=""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15"/>
                  </a:ext>
                </a:extLst>
              </a:tr>
            </a:tbl>
          </a:graphicData>
        </a:graphic>
      </p:graphicFrame>
      <p:sp>
        <p:nvSpPr>
          <p:cNvPr id="6" name="CaixaDeTexto 5">
            <a:extLst>
              <a:ext uri="{FF2B5EF4-FFF2-40B4-BE49-F238E27FC236}">
                <a16:creationId xmlns=""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 xmlns:a16="http://schemas.microsoft.com/office/drawing/2014/main" val="20000"/>
                    </a:ext>
                  </a:extLst>
                </a:gridCol>
                <a:gridCol w="684266">
                  <a:extLst>
                    <a:ext uri="{9D8B030D-6E8A-4147-A177-3AD203B41FA5}">
                      <a16:colId xmlns="" xmlns:a16="http://schemas.microsoft.com/office/drawing/2014/main" val="20001"/>
                    </a:ext>
                  </a:extLst>
                </a:gridCol>
                <a:gridCol w="293254">
                  <a:extLst>
                    <a:ext uri="{9D8B030D-6E8A-4147-A177-3AD203B41FA5}">
                      <a16:colId xmlns="" xmlns:a16="http://schemas.microsoft.com/office/drawing/2014/main" val="20002"/>
                    </a:ext>
                  </a:extLst>
                </a:gridCol>
                <a:gridCol w="293254">
                  <a:extLst>
                    <a:ext uri="{9D8B030D-6E8A-4147-A177-3AD203B41FA5}">
                      <a16:colId xmlns="" xmlns:a16="http://schemas.microsoft.com/office/drawing/2014/main" val="20003"/>
                    </a:ext>
                  </a:extLst>
                </a:gridCol>
                <a:gridCol w="470222">
                  <a:extLst>
                    <a:ext uri="{9D8B030D-6E8A-4147-A177-3AD203B41FA5}">
                      <a16:colId xmlns=""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 xmlns:a16="http://schemas.microsoft.com/office/drawing/2014/main" val="20000"/>
                    </a:ext>
                  </a:extLst>
                </a:gridCol>
                <a:gridCol w="697339">
                  <a:extLst>
                    <a:ext uri="{9D8B030D-6E8A-4147-A177-3AD203B41FA5}">
                      <a16:colId xmlns="" xmlns:a16="http://schemas.microsoft.com/office/drawing/2014/main" val="20001"/>
                    </a:ext>
                  </a:extLst>
                </a:gridCol>
                <a:gridCol w="298859">
                  <a:extLst>
                    <a:ext uri="{9D8B030D-6E8A-4147-A177-3AD203B41FA5}">
                      <a16:colId xmlns="" xmlns:a16="http://schemas.microsoft.com/office/drawing/2014/main" val="20002"/>
                    </a:ext>
                  </a:extLst>
                </a:gridCol>
                <a:gridCol w="298859">
                  <a:extLst>
                    <a:ext uri="{9D8B030D-6E8A-4147-A177-3AD203B41FA5}">
                      <a16:colId xmlns="" xmlns:a16="http://schemas.microsoft.com/office/drawing/2014/main" val="20003"/>
                    </a:ext>
                  </a:extLst>
                </a:gridCol>
                <a:gridCol w="298859">
                  <a:extLst>
                    <a:ext uri="{9D8B030D-6E8A-4147-A177-3AD203B41FA5}">
                      <a16:colId xmlns=""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 xmlns:a16="http://schemas.microsoft.com/office/drawing/2014/main" val="20000"/>
                    </a:ext>
                  </a:extLst>
                </a:gridCol>
                <a:gridCol w="621695">
                  <a:extLst>
                    <a:ext uri="{9D8B030D-6E8A-4147-A177-3AD203B41FA5}">
                      <a16:colId xmlns="" xmlns:a16="http://schemas.microsoft.com/office/drawing/2014/main" val="20001"/>
                    </a:ext>
                  </a:extLst>
                </a:gridCol>
                <a:gridCol w="266441">
                  <a:extLst>
                    <a:ext uri="{9D8B030D-6E8A-4147-A177-3AD203B41FA5}">
                      <a16:colId xmlns="" xmlns:a16="http://schemas.microsoft.com/office/drawing/2014/main" val="20002"/>
                    </a:ext>
                  </a:extLst>
                </a:gridCol>
                <a:gridCol w="266441">
                  <a:extLst>
                    <a:ext uri="{9D8B030D-6E8A-4147-A177-3AD203B41FA5}">
                      <a16:colId xmlns="" xmlns:a16="http://schemas.microsoft.com/office/drawing/2014/main" val="20003"/>
                    </a:ext>
                  </a:extLst>
                </a:gridCol>
                <a:gridCol w="266441">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 xmlns:a16="http://schemas.microsoft.com/office/drawing/2014/main" val="20000"/>
                    </a:ext>
                  </a:extLst>
                </a:gridCol>
                <a:gridCol w="631367">
                  <a:extLst>
                    <a:ext uri="{9D8B030D-6E8A-4147-A177-3AD203B41FA5}">
                      <a16:colId xmlns="" xmlns:a16="http://schemas.microsoft.com/office/drawing/2014/main" val="20001"/>
                    </a:ext>
                  </a:extLst>
                </a:gridCol>
                <a:gridCol w="270586">
                  <a:extLst>
                    <a:ext uri="{9D8B030D-6E8A-4147-A177-3AD203B41FA5}">
                      <a16:colId xmlns="" xmlns:a16="http://schemas.microsoft.com/office/drawing/2014/main" val="20002"/>
                    </a:ext>
                  </a:extLst>
                </a:gridCol>
                <a:gridCol w="270586">
                  <a:extLst>
                    <a:ext uri="{9D8B030D-6E8A-4147-A177-3AD203B41FA5}">
                      <a16:colId xmlns="" xmlns:a16="http://schemas.microsoft.com/office/drawing/2014/main" val="20003"/>
                    </a:ext>
                  </a:extLst>
                </a:gridCol>
                <a:gridCol w="270586">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 xmlns:a16="http://schemas.microsoft.com/office/drawing/2014/main" val="20000"/>
                    </a:ext>
                  </a:extLst>
                </a:gridCol>
                <a:gridCol w="1019175">
                  <a:extLst>
                    <a:ext uri="{9D8B030D-6E8A-4147-A177-3AD203B41FA5}">
                      <a16:colId xmlns="" xmlns:a16="http://schemas.microsoft.com/office/drawing/2014/main" val="20001"/>
                    </a:ext>
                  </a:extLst>
                </a:gridCol>
                <a:gridCol w="1019175">
                  <a:extLst>
                    <a:ext uri="{9D8B030D-6E8A-4147-A177-3AD203B41FA5}">
                      <a16:colId xmlns="" xmlns:a16="http://schemas.microsoft.com/office/drawing/2014/main" val="20002"/>
                    </a:ext>
                  </a:extLst>
                </a:gridCol>
                <a:gridCol w="1019175">
                  <a:extLst>
                    <a:ext uri="{9D8B030D-6E8A-4147-A177-3AD203B41FA5}">
                      <a16:colId xmlns="" xmlns:a16="http://schemas.microsoft.com/office/drawing/2014/main" val="20003"/>
                    </a:ext>
                  </a:extLst>
                </a:gridCol>
                <a:gridCol w="1019175">
                  <a:extLst>
                    <a:ext uri="{9D8B030D-6E8A-4147-A177-3AD203B41FA5}">
                      <a16:colId xmlns="" xmlns:a16="http://schemas.microsoft.com/office/drawing/2014/main" val="20004"/>
                    </a:ext>
                  </a:extLst>
                </a:gridCol>
                <a:gridCol w="1019175">
                  <a:extLst>
                    <a:ext uri="{9D8B030D-6E8A-4147-A177-3AD203B41FA5}">
                      <a16:colId xmlns=""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 xmlns:a16="http://schemas.microsoft.com/office/drawing/2014/main" val="20000"/>
                    </a:ext>
                  </a:extLst>
                </a:gridCol>
                <a:gridCol w="678430">
                  <a:extLst>
                    <a:ext uri="{9D8B030D-6E8A-4147-A177-3AD203B41FA5}">
                      <a16:colId xmlns="" xmlns:a16="http://schemas.microsoft.com/office/drawing/2014/main" val="20001"/>
                    </a:ext>
                  </a:extLst>
                </a:gridCol>
                <a:gridCol w="290756">
                  <a:extLst>
                    <a:ext uri="{9D8B030D-6E8A-4147-A177-3AD203B41FA5}">
                      <a16:colId xmlns="" xmlns:a16="http://schemas.microsoft.com/office/drawing/2014/main" val="20002"/>
                    </a:ext>
                  </a:extLst>
                </a:gridCol>
                <a:gridCol w="290756">
                  <a:extLst>
                    <a:ext uri="{9D8B030D-6E8A-4147-A177-3AD203B41FA5}">
                      <a16:colId xmlns="" xmlns:a16="http://schemas.microsoft.com/office/drawing/2014/main" val="20003"/>
                    </a:ext>
                  </a:extLst>
                </a:gridCol>
                <a:gridCol w="290756">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 xmlns:a16="http://schemas.microsoft.com/office/drawing/2014/main" val="20000"/>
                    </a:ext>
                  </a:extLst>
                </a:gridCol>
                <a:gridCol w="645270">
                  <a:extLst>
                    <a:ext uri="{9D8B030D-6E8A-4147-A177-3AD203B41FA5}">
                      <a16:colId xmlns="" xmlns:a16="http://schemas.microsoft.com/office/drawing/2014/main" val="20001"/>
                    </a:ext>
                  </a:extLst>
                </a:gridCol>
                <a:gridCol w="276544">
                  <a:extLst>
                    <a:ext uri="{9D8B030D-6E8A-4147-A177-3AD203B41FA5}">
                      <a16:colId xmlns="" xmlns:a16="http://schemas.microsoft.com/office/drawing/2014/main" val="20002"/>
                    </a:ext>
                  </a:extLst>
                </a:gridCol>
                <a:gridCol w="276544">
                  <a:extLst>
                    <a:ext uri="{9D8B030D-6E8A-4147-A177-3AD203B41FA5}">
                      <a16:colId xmlns="" xmlns:a16="http://schemas.microsoft.com/office/drawing/2014/main" val="20003"/>
                    </a:ext>
                  </a:extLst>
                </a:gridCol>
                <a:gridCol w="27654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 xmlns:a16="http://schemas.microsoft.com/office/drawing/2014/main" val="20000"/>
                    </a:ext>
                  </a:extLst>
                </a:gridCol>
                <a:gridCol w="641513">
                  <a:extLst>
                    <a:ext uri="{9D8B030D-6E8A-4147-A177-3AD203B41FA5}">
                      <a16:colId xmlns="" xmlns:a16="http://schemas.microsoft.com/office/drawing/2014/main" val="20001"/>
                    </a:ext>
                  </a:extLst>
                </a:gridCol>
                <a:gridCol w="274934">
                  <a:extLst>
                    <a:ext uri="{9D8B030D-6E8A-4147-A177-3AD203B41FA5}">
                      <a16:colId xmlns="" xmlns:a16="http://schemas.microsoft.com/office/drawing/2014/main" val="20002"/>
                    </a:ext>
                  </a:extLst>
                </a:gridCol>
                <a:gridCol w="274934">
                  <a:extLst>
                    <a:ext uri="{9D8B030D-6E8A-4147-A177-3AD203B41FA5}">
                      <a16:colId xmlns="" xmlns:a16="http://schemas.microsoft.com/office/drawing/2014/main" val="20003"/>
                    </a:ext>
                  </a:extLst>
                </a:gridCol>
                <a:gridCol w="27493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 xmlns:a16="http://schemas.microsoft.com/office/drawing/2014/main" val="20000"/>
                    </a:ext>
                  </a:extLst>
                </a:gridCol>
                <a:gridCol w="1010861">
                  <a:extLst>
                    <a:ext uri="{9D8B030D-6E8A-4147-A177-3AD203B41FA5}">
                      <a16:colId xmlns="" xmlns:a16="http://schemas.microsoft.com/office/drawing/2014/main" val="20001"/>
                    </a:ext>
                  </a:extLst>
                </a:gridCol>
                <a:gridCol w="1010861">
                  <a:extLst>
                    <a:ext uri="{9D8B030D-6E8A-4147-A177-3AD203B41FA5}">
                      <a16:colId xmlns="" xmlns:a16="http://schemas.microsoft.com/office/drawing/2014/main" val="20002"/>
                    </a:ext>
                  </a:extLst>
                </a:gridCol>
                <a:gridCol w="1010861">
                  <a:extLst>
                    <a:ext uri="{9D8B030D-6E8A-4147-A177-3AD203B41FA5}">
                      <a16:colId xmlns="" xmlns:a16="http://schemas.microsoft.com/office/drawing/2014/main" val="20003"/>
                    </a:ext>
                  </a:extLst>
                </a:gridCol>
                <a:gridCol w="1010861">
                  <a:extLst>
                    <a:ext uri="{9D8B030D-6E8A-4147-A177-3AD203B41FA5}">
                      <a16:colId xmlns="" xmlns:a16="http://schemas.microsoft.com/office/drawing/2014/main" val="20004"/>
                    </a:ext>
                  </a:extLst>
                </a:gridCol>
                <a:gridCol w="1010861">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 xmlns:a16="http://schemas.microsoft.com/office/drawing/2014/main" val="20000"/>
                    </a:ext>
                  </a:extLst>
                </a:gridCol>
                <a:gridCol w="1020536">
                  <a:extLst>
                    <a:ext uri="{9D8B030D-6E8A-4147-A177-3AD203B41FA5}">
                      <a16:colId xmlns="" xmlns:a16="http://schemas.microsoft.com/office/drawing/2014/main" val="20001"/>
                    </a:ext>
                  </a:extLst>
                </a:gridCol>
                <a:gridCol w="1020536">
                  <a:extLst>
                    <a:ext uri="{9D8B030D-6E8A-4147-A177-3AD203B41FA5}">
                      <a16:colId xmlns="" xmlns:a16="http://schemas.microsoft.com/office/drawing/2014/main" val="20002"/>
                    </a:ext>
                  </a:extLst>
                </a:gridCol>
                <a:gridCol w="1020536">
                  <a:extLst>
                    <a:ext uri="{9D8B030D-6E8A-4147-A177-3AD203B41FA5}">
                      <a16:colId xmlns="" xmlns:a16="http://schemas.microsoft.com/office/drawing/2014/main" val="20003"/>
                    </a:ext>
                  </a:extLst>
                </a:gridCol>
                <a:gridCol w="1020536">
                  <a:extLst>
                    <a:ext uri="{9D8B030D-6E8A-4147-A177-3AD203B41FA5}">
                      <a16:colId xmlns="" xmlns:a16="http://schemas.microsoft.com/office/drawing/2014/main" val="20004"/>
                    </a:ext>
                  </a:extLst>
                </a:gridCol>
                <a:gridCol w="1020536">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 xmlns:a16="http://schemas.microsoft.com/office/drawing/2014/main" val="20000"/>
                    </a:ext>
                  </a:extLst>
                </a:gridCol>
                <a:gridCol w="663560">
                  <a:extLst>
                    <a:ext uri="{9D8B030D-6E8A-4147-A177-3AD203B41FA5}">
                      <a16:colId xmlns="" xmlns:a16="http://schemas.microsoft.com/office/drawing/2014/main" val="20001"/>
                    </a:ext>
                  </a:extLst>
                </a:gridCol>
                <a:gridCol w="284383">
                  <a:extLst>
                    <a:ext uri="{9D8B030D-6E8A-4147-A177-3AD203B41FA5}">
                      <a16:colId xmlns="" xmlns:a16="http://schemas.microsoft.com/office/drawing/2014/main" val="20002"/>
                    </a:ext>
                  </a:extLst>
                </a:gridCol>
                <a:gridCol w="284383">
                  <a:extLst>
                    <a:ext uri="{9D8B030D-6E8A-4147-A177-3AD203B41FA5}">
                      <a16:colId xmlns="" xmlns:a16="http://schemas.microsoft.com/office/drawing/2014/main" val="20003"/>
                    </a:ext>
                  </a:extLst>
                </a:gridCol>
                <a:gridCol w="284383">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 xmlns:a16="http://schemas.microsoft.com/office/drawing/2014/main" val="20000"/>
                    </a:ext>
                  </a:extLst>
                </a:gridCol>
                <a:gridCol w="647820">
                  <a:extLst>
                    <a:ext uri="{9D8B030D-6E8A-4147-A177-3AD203B41FA5}">
                      <a16:colId xmlns="" xmlns:a16="http://schemas.microsoft.com/office/drawing/2014/main" val="20001"/>
                    </a:ext>
                  </a:extLst>
                </a:gridCol>
                <a:gridCol w="277637">
                  <a:extLst>
                    <a:ext uri="{9D8B030D-6E8A-4147-A177-3AD203B41FA5}">
                      <a16:colId xmlns="" xmlns:a16="http://schemas.microsoft.com/office/drawing/2014/main" val="20002"/>
                    </a:ext>
                  </a:extLst>
                </a:gridCol>
                <a:gridCol w="277637">
                  <a:extLst>
                    <a:ext uri="{9D8B030D-6E8A-4147-A177-3AD203B41FA5}">
                      <a16:colId xmlns="" xmlns:a16="http://schemas.microsoft.com/office/drawing/2014/main" val="20003"/>
                    </a:ext>
                  </a:extLst>
                </a:gridCol>
                <a:gridCol w="277637">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 xmlns:a16="http://schemas.microsoft.com/office/drawing/2014/main" val="20000"/>
                    </a:ext>
                  </a:extLst>
                </a:gridCol>
                <a:gridCol w="644002">
                  <a:extLst>
                    <a:ext uri="{9D8B030D-6E8A-4147-A177-3AD203B41FA5}">
                      <a16:colId xmlns="" xmlns:a16="http://schemas.microsoft.com/office/drawing/2014/main" val="20001"/>
                    </a:ext>
                  </a:extLst>
                </a:gridCol>
                <a:gridCol w="276001">
                  <a:extLst>
                    <a:ext uri="{9D8B030D-6E8A-4147-A177-3AD203B41FA5}">
                      <a16:colId xmlns="" xmlns:a16="http://schemas.microsoft.com/office/drawing/2014/main" val="20002"/>
                    </a:ext>
                  </a:extLst>
                </a:gridCol>
                <a:gridCol w="276001">
                  <a:extLst>
                    <a:ext uri="{9D8B030D-6E8A-4147-A177-3AD203B41FA5}">
                      <a16:colId xmlns="" xmlns:a16="http://schemas.microsoft.com/office/drawing/2014/main" val="20003"/>
                    </a:ext>
                  </a:extLst>
                </a:gridCol>
                <a:gridCol w="276001">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 xmlns:a16="http://schemas.microsoft.com/office/drawing/2014/main" val="20000"/>
                    </a:ext>
                  </a:extLst>
                </a:gridCol>
                <a:gridCol w="1025374">
                  <a:extLst>
                    <a:ext uri="{9D8B030D-6E8A-4147-A177-3AD203B41FA5}">
                      <a16:colId xmlns="" xmlns:a16="http://schemas.microsoft.com/office/drawing/2014/main" val="20001"/>
                    </a:ext>
                  </a:extLst>
                </a:gridCol>
                <a:gridCol w="1025374">
                  <a:extLst>
                    <a:ext uri="{9D8B030D-6E8A-4147-A177-3AD203B41FA5}">
                      <a16:colId xmlns="" xmlns:a16="http://schemas.microsoft.com/office/drawing/2014/main" val="20002"/>
                    </a:ext>
                  </a:extLst>
                </a:gridCol>
                <a:gridCol w="1025374">
                  <a:extLst>
                    <a:ext uri="{9D8B030D-6E8A-4147-A177-3AD203B41FA5}">
                      <a16:colId xmlns="" xmlns:a16="http://schemas.microsoft.com/office/drawing/2014/main" val="20003"/>
                    </a:ext>
                  </a:extLst>
                </a:gridCol>
                <a:gridCol w="1025374">
                  <a:extLst>
                    <a:ext uri="{9D8B030D-6E8A-4147-A177-3AD203B41FA5}">
                      <a16:colId xmlns="" xmlns:a16="http://schemas.microsoft.com/office/drawing/2014/main" val="20004"/>
                    </a:ext>
                  </a:extLst>
                </a:gridCol>
                <a:gridCol w="1025374">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 xmlns:a16="http://schemas.microsoft.com/office/drawing/2014/main" val="20000"/>
                    </a:ext>
                  </a:extLst>
                </a:gridCol>
                <a:gridCol w="1013883">
                  <a:extLst>
                    <a:ext uri="{9D8B030D-6E8A-4147-A177-3AD203B41FA5}">
                      <a16:colId xmlns="" xmlns:a16="http://schemas.microsoft.com/office/drawing/2014/main" val="20001"/>
                    </a:ext>
                  </a:extLst>
                </a:gridCol>
                <a:gridCol w="1013883">
                  <a:extLst>
                    <a:ext uri="{9D8B030D-6E8A-4147-A177-3AD203B41FA5}">
                      <a16:colId xmlns="" xmlns:a16="http://schemas.microsoft.com/office/drawing/2014/main" val="20002"/>
                    </a:ext>
                  </a:extLst>
                </a:gridCol>
                <a:gridCol w="1013883">
                  <a:extLst>
                    <a:ext uri="{9D8B030D-6E8A-4147-A177-3AD203B41FA5}">
                      <a16:colId xmlns="" xmlns:a16="http://schemas.microsoft.com/office/drawing/2014/main" val="20003"/>
                    </a:ext>
                  </a:extLst>
                </a:gridCol>
                <a:gridCol w="1013883">
                  <a:extLst>
                    <a:ext uri="{9D8B030D-6E8A-4147-A177-3AD203B41FA5}">
                      <a16:colId xmlns="" xmlns:a16="http://schemas.microsoft.com/office/drawing/2014/main" val="20004"/>
                    </a:ext>
                  </a:extLst>
                </a:gridCol>
                <a:gridCol w="1013883">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 xmlns:a16="http://schemas.microsoft.com/office/drawing/2014/main"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18312915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endParaRPr lang="pt-BR" dirty="0" smtClean="0"/>
          </a:p>
          <a:p>
            <a:r>
              <a:rPr lang="pt-BR" dirty="0" smtClean="0"/>
              <a:t>Em </a:t>
            </a:r>
            <a:r>
              <a:rPr lang="pt-BR" dirty="0"/>
              <a:t>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smtClean="0"/>
              <a:t>.</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dirty="0">
                <a:solidFill>
                  <a:srgbClr val="00B050"/>
                </a:solidFill>
              </a:rPr>
              <a:t>classes não são bem separadas</a:t>
            </a:r>
            <a:r>
              <a:rPr lang="pt-BR" dirty="0"/>
              <a:t> (i.e., se elas se sobrepõem), </a:t>
            </a:r>
            <a:r>
              <a:rPr lang="pt-BR" b="1" dirty="0">
                <a:solidFill>
                  <a:srgbClr val="00B050"/>
                </a:solidFill>
              </a:rPr>
              <a:t>as árvores são suscetíveis a sobreajustar</a:t>
            </a:r>
            <a:r>
              <a:rPr lang="pt-BR" dirty="0"/>
              <a:t> ao conjunto de treinamento, de modo que a </a:t>
            </a:r>
            <a:r>
              <a:rPr lang="pt-BR" b="1" dirty="0"/>
              <a:t>fronteira de decisão linear</a:t>
            </a:r>
            <a:r>
              <a:rPr lang="pt-BR" dirty="0"/>
              <a:t> de </a:t>
            </a:r>
            <a:r>
              <a:rPr lang="pt-BR" b="1" dirty="0"/>
              <a:t>classificadores</a:t>
            </a:r>
            <a:r>
              <a:rPr lang="pt-BR" dirty="0"/>
              <a:t> </a:t>
            </a:r>
            <a:r>
              <a:rPr lang="pt-BR" b="1" dirty="0"/>
              <a:t>lineares</a:t>
            </a:r>
            <a:r>
              <a:rPr lang="pt-BR" dirty="0"/>
              <a:t> separa melhor as classes, apresentando melhor desempenho de </a:t>
            </a:r>
            <a:r>
              <a:rPr lang="pt-BR" b="1" dirty="0"/>
              <a:t>classificação</a:t>
            </a:r>
            <a:r>
              <a:rPr lang="pt-BR" dirty="0"/>
              <a:t>.</a:t>
            </a:r>
          </a:p>
          <a:p>
            <a:pPr lvl="0">
              <a:defRPr/>
            </a:pPr>
            <a:r>
              <a:rPr lang="pt-BR" dirty="0"/>
              <a:t>Para 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200" y="1825624"/>
            <a:ext cx="11049000" cy="5032375"/>
          </a:xfrm>
        </p:spPr>
        <p:txBody>
          <a:bodyPr/>
          <a:lstStyle/>
          <a:p>
            <a:r>
              <a:rPr lang="pt-BR" dirty="0"/>
              <a:t>O </a:t>
            </a:r>
            <a:r>
              <a:rPr lang="pt-BR" b="1" dirty="0">
                <a:solidFill>
                  <a:srgbClr val="FF0000"/>
                </a:solidFill>
              </a:rPr>
              <a:t>principal problema </a:t>
            </a:r>
            <a:r>
              <a:rPr lang="pt-BR" dirty="0"/>
              <a:t>das árvores de decisão</a:t>
            </a:r>
            <a:r>
              <a:rPr lang="pt-BR" b="1" dirty="0"/>
              <a:t> </a:t>
            </a:r>
            <a:r>
              <a:rPr lang="pt-BR" dirty="0"/>
              <a:t>é que elas são</a:t>
            </a:r>
            <a:r>
              <a:rPr lang="pt-BR" b="1" dirty="0">
                <a:solidFill>
                  <a:srgbClr val="00B050"/>
                </a:solidFill>
              </a:rPr>
              <a:t> muito sensíveis a pequenas variações nos dados de treinamento</a:t>
            </a:r>
            <a:r>
              <a:rPr lang="pt-BR" dirty="0"/>
              <a:t> (e.g., rotação). </a:t>
            </a:r>
            <a:endParaRPr lang="pt-BR" b="1" dirty="0"/>
          </a:p>
          <a:p>
            <a:r>
              <a:rPr lang="pt-BR" dirty="0"/>
              <a:t>Árvores de decisão</a:t>
            </a:r>
            <a:r>
              <a:rPr lang="pt-BR" b="1" dirty="0"/>
              <a:t> </a:t>
            </a:r>
            <a:r>
              <a:rPr lang="pt-BR" dirty="0"/>
              <a:t>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b="1" dirty="0"/>
              <a:t>Exemplo</a:t>
            </a:r>
            <a:r>
              <a:rPr lang="pt-BR" dirty="0"/>
              <a:t>: </a:t>
            </a:r>
            <a:r>
              <a:rPr lang="pt-BR" dirty="0" err="1">
                <a:hlinkClick r:id="rId3"/>
              </a:rPr>
              <a:t>DTSensitivityToTrainingSetRotation.ipynb</a:t>
            </a:r>
            <a:r>
              <a:rPr lang="pt-BR" dirty="0"/>
              <a:t> </a:t>
            </a:r>
          </a:p>
          <a:p>
            <a:r>
              <a:rPr lang="pt-BR" dirty="0"/>
              <a:t>Uma maneira para </a:t>
            </a:r>
            <a:r>
              <a:rPr lang="pt-BR" b="1" dirty="0">
                <a:solidFill>
                  <a:srgbClr val="FF0000"/>
                </a:solidFill>
              </a:rPr>
              <a:t>minimizar</a:t>
            </a:r>
            <a:r>
              <a:rPr lang="pt-BR" dirty="0"/>
              <a:t> esse problema da sensibilidade à rotação é usar a técnica conhecida como </a:t>
            </a:r>
            <a:r>
              <a:rPr lang="pt-BR" b="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199" y="1825624"/>
            <a:ext cx="11217443" cy="5032375"/>
          </a:xfrm>
        </p:spPr>
        <p:txBody>
          <a:bodyPr>
            <a:normAutofit lnSpcReduction="10000"/>
          </a:bodyPr>
          <a:lstStyle/>
          <a:p>
            <a:r>
              <a:rPr lang="pt-BR" dirty="0"/>
              <a:t>Alguns </a:t>
            </a:r>
            <a:r>
              <a:rPr lang="pt-BR" b="1" dirty="0">
                <a:solidFill>
                  <a:srgbClr val="00B050"/>
                </a:solidFill>
              </a:rPr>
              <a:t>algoritmos para inferência de árvores de decisão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dirty="0"/>
              <a:t>Exemplo</a:t>
            </a:r>
            <a:r>
              <a:rPr lang="pt-BR" dirty="0"/>
              <a:t>: </a:t>
            </a:r>
            <a:r>
              <a:rPr lang="pt-BR" dirty="0" err="1">
                <a:hlinkClick r:id="rId3"/>
              </a:rPr>
              <a:t>DTSensitivityToTrainingSetDetails.ipynb</a:t>
            </a:r>
            <a:endParaRPr lang="pt-BR" dirty="0"/>
          </a:p>
          <a:p>
            <a:r>
              <a:rPr lang="pt-BR" dirty="0"/>
              <a:t>As </a:t>
            </a:r>
            <a:r>
              <a:rPr lang="pt-BR" b="1" dirty="0"/>
              <a:t>florestas aleatórias </a:t>
            </a:r>
            <a:r>
              <a:rPr lang="pt-BR" dirty="0"/>
              <a:t>podem limitar essa instabilidade calculando a média ou voto majoritário das predições feitas por diversas </a:t>
            </a:r>
            <a:r>
              <a:rPr lang="pt-BR" b="1" dirty="0"/>
              <a:t>árvores de decisão</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dirty="0"/>
              <a:t>árvore de decisão</a:t>
            </a:r>
            <a:r>
              <a:rPr lang="pt-BR" dirty="0"/>
              <a:t> se adaptará aos dados de treinamento, ajustando-se muito bem e, provavelmente, se </a:t>
            </a:r>
            <a:r>
              <a:rPr lang="pt-BR" b="1" dirty="0" err="1">
                <a:solidFill>
                  <a:srgbClr val="7030A0"/>
                </a:solidFill>
              </a:rPr>
              <a:t>sobreajustando</a:t>
            </a:r>
            <a:r>
              <a:rPr lang="pt-BR" dirty="0"/>
              <a:t> a eles. </a:t>
            </a:r>
          </a:p>
          <a:p>
            <a:r>
              <a:rPr lang="pt-BR" dirty="0"/>
              <a:t>Para evitar o </a:t>
            </a:r>
            <a:r>
              <a:rPr lang="pt-BR" b="1" dirty="0"/>
              <a:t>sobreajuste</a:t>
            </a:r>
            <a:r>
              <a:rPr lang="pt-BR" dirty="0"/>
              <a:t> 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a:p>
            <a:r>
              <a:rPr lang="pt-BR" dirty="0"/>
              <a:t>No </a:t>
            </a:r>
            <a:r>
              <a:rPr lang="pt-BR" dirty="0" err="1"/>
              <a:t>Scikit-Learn</a:t>
            </a:r>
            <a:r>
              <a:rPr lang="pt-BR" dirty="0"/>
              <a:t>, a regularização pode ser controlada pelos hiperparâmetros: </a:t>
            </a:r>
            <a:r>
              <a:rPr lang="pt-BR" b="1" dirty="0" err="1"/>
              <a:t>max_depth</a:t>
            </a:r>
            <a:r>
              <a:rPr lang="pt-BR" dirty="0"/>
              <a:t>, </a:t>
            </a:r>
            <a:r>
              <a:rPr lang="pt-BR" b="1" dirty="0" err="1"/>
              <a:t>min_samples_split</a:t>
            </a:r>
            <a:r>
              <a:rPr lang="pt-BR" dirty="0"/>
              <a:t>, </a:t>
            </a:r>
            <a:r>
              <a:rPr lang="pt-BR" b="1" dirty="0" err="1"/>
              <a:t>min_samples_leaf</a:t>
            </a:r>
            <a:r>
              <a:rPr lang="pt-BR" dirty="0"/>
              <a:t>, </a:t>
            </a:r>
            <a:r>
              <a:rPr lang="pt-BR" b="1" dirty="0" err="1"/>
              <a:t>min_weight_fraction_leaf</a:t>
            </a:r>
            <a:r>
              <a:rPr lang="pt-BR" dirty="0"/>
              <a:t>, </a:t>
            </a:r>
            <a:r>
              <a:rPr lang="pt-BR" b="1" dirty="0" err="1"/>
              <a:t>max_leaf_nodes</a:t>
            </a:r>
            <a:r>
              <a:rPr lang="pt-BR" dirty="0"/>
              <a:t> e </a:t>
            </a:r>
            <a:r>
              <a:rPr lang="pt-BR" b="1" dirty="0" err="1"/>
              <a:t>max_features</a:t>
            </a:r>
            <a:r>
              <a:rPr lang="pt-BR" dirty="0"/>
              <a:t>.</a:t>
            </a:r>
          </a:p>
          <a:p>
            <a:r>
              <a:rPr lang="pt-BR" b="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4608095" y="1825624"/>
            <a:ext cx="7399421" cy="5032375"/>
          </a:xfrm>
        </p:spPr>
        <p:txBody>
          <a:bodyPr>
            <a:normAutofit/>
          </a:bodyPr>
          <a:lstStyle/>
          <a:p>
            <a:r>
              <a:rPr lang="pt-BR" b="1" dirty="0"/>
              <a:t>Árvores de decisão </a:t>
            </a:r>
            <a:r>
              <a:rPr lang="pt-BR" dirty="0"/>
              <a:t>também podem ser utilizadas para </a:t>
            </a:r>
            <a:r>
              <a:rPr lang="pt-BR" b="1" dirty="0"/>
              <a:t>regressão</a:t>
            </a:r>
            <a:r>
              <a:rPr lang="pt-BR" dirty="0"/>
              <a:t>.</a:t>
            </a:r>
          </a:p>
          <a:p>
            <a:pPr lvl="1">
              <a:buFont typeface="Wingdings" panose="05000000000000000000" pitchFamily="2" charset="2"/>
              <a:buChar char="§"/>
            </a:pPr>
            <a:r>
              <a:rPr lang="pt-BR" dirty="0"/>
              <a:t>As </a:t>
            </a:r>
            <a:r>
              <a:rPr lang="pt-BR" b="1" dirty="0"/>
              <a:t>árvores de decisão</a:t>
            </a:r>
            <a:r>
              <a:rPr lang="pt-BR" dirty="0"/>
              <a:t> também tendem a se </a:t>
            </a:r>
            <a:r>
              <a:rPr lang="pt-BR" b="1" dirty="0"/>
              <a:t>sobreajustar</a:t>
            </a:r>
            <a:r>
              <a:rPr lang="pt-BR" dirty="0"/>
              <a:t> ao lidar com tarefas de </a:t>
            </a:r>
            <a:r>
              <a:rPr lang="pt-BR" b="1" dirty="0"/>
              <a:t>regressão</a:t>
            </a:r>
            <a:r>
              <a:rPr lang="pt-BR" dirty="0"/>
              <a:t>.</a:t>
            </a:r>
          </a:p>
          <a:p>
            <a:pPr lvl="1">
              <a:buFont typeface="Wingdings" panose="05000000000000000000" pitchFamily="2" charset="2"/>
              <a:buChar char="§"/>
            </a:pPr>
            <a:r>
              <a:rPr lang="pt-BR" b="1" dirty="0"/>
              <a:t>Exemplo</a:t>
            </a:r>
            <a:r>
              <a:rPr lang="pt-BR" dirty="0"/>
              <a:t>: </a:t>
            </a:r>
            <a:r>
              <a:rPr lang="pt-BR" dirty="0" err="1">
                <a:hlinkClick r:id="rId3"/>
              </a:rPr>
              <a:t>DTNoisyQuadraticDatasetRegression.ipynb</a:t>
            </a:r>
            <a:endParaRPr lang="pt-BR" dirty="0"/>
          </a:p>
          <a:p>
            <a:r>
              <a:rPr lang="pt-BR" dirty="0"/>
              <a:t>Predições feitas por </a:t>
            </a:r>
            <a:r>
              <a:rPr lang="pt-BR" b="1" dirty="0"/>
              <a:t>árvores de decisão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p:txBody>
      </p:sp>
      <p:pic>
        <p:nvPicPr>
          <p:cNvPr id="4" name="Picture 2" descr="../_images/sphx_glr_plot_tree_regression_001.png">
            <a:extLst>
              <a:ext uri="{FF2B5EF4-FFF2-40B4-BE49-F238E27FC236}">
                <a16:creationId xmlns="" xmlns:a16="http://schemas.microsoft.com/office/drawing/2014/main"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sp>
        <p:nvSpPr>
          <p:cNvPr id="3" name="Espaço Reservado para Conteúdo 2"/>
          <p:cNvSpPr>
            <a:spLocks noGrp="1"/>
          </p:cNvSpPr>
          <p:nvPr>
            <p:ph idx="1"/>
          </p:nvPr>
        </p:nvSpPr>
        <p:spPr/>
        <p:txBody>
          <a:bodyPr>
            <a:normAutofit fontScale="25000" lnSpcReduction="20000"/>
          </a:bodyPr>
          <a:lstStyle/>
          <a:p>
            <a:endParaRPr lang="pt-BR" dirty="0"/>
          </a:p>
          <a:p>
            <a:r>
              <a:rPr lang="pt-BR" b="1" dirty="0"/>
              <a:t>🌳 Diferença entre CART e ID3</a:t>
            </a:r>
          </a:p>
          <a:p>
            <a:r>
              <a:rPr lang="pt-BR" b="1" dirty="0"/>
              <a:t>🔹 1. Tipo de problema</a:t>
            </a:r>
          </a:p>
          <a:p>
            <a:r>
              <a:rPr lang="pt-BR" b="1" dirty="0"/>
              <a:t>ID3</a:t>
            </a:r>
            <a:endParaRPr lang="pt-BR" dirty="0"/>
          </a:p>
          <a:p>
            <a:pPr lvl="1"/>
            <a:r>
              <a:rPr lang="pt-BR" dirty="0"/>
              <a:t>Apenas </a:t>
            </a:r>
            <a:r>
              <a:rPr lang="pt-BR" b="1" dirty="0"/>
              <a:t>classificação</a:t>
            </a:r>
            <a:endParaRPr lang="pt-BR" dirty="0"/>
          </a:p>
          <a:p>
            <a:r>
              <a:rPr lang="pt-BR" b="1" dirty="0"/>
              <a:t>CART</a:t>
            </a:r>
            <a:endParaRPr lang="pt-BR" dirty="0"/>
          </a:p>
          <a:p>
            <a:pPr lvl="1"/>
            <a:r>
              <a:rPr lang="pt-BR" b="1" dirty="0"/>
              <a:t>Classificação + regressão</a:t>
            </a:r>
            <a:endParaRPr lang="pt-BR" dirty="0"/>
          </a:p>
          <a:p>
            <a:r>
              <a:rPr lang="pt-BR" dirty="0"/>
              <a:t>👉 CART é mais geral (</a:t>
            </a:r>
            <a:r>
              <a:rPr lang="pt-BR" dirty="0">
                <a:hlinkClick r:id="rId3" tooltip="The differences between CART and ID3, C4.5 in feature selection within decision tree algorithms can have significant impacts on actual applications. Which one performs better is yet to be determined.-zhihu"/>
              </a:rPr>
              <a:t>zhihu.com</a:t>
            </a:r>
            <a:r>
              <a:rPr lang="pt-BR" dirty="0"/>
              <a:t>)</a:t>
            </a:r>
          </a:p>
          <a:p>
            <a:r>
              <a:rPr lang="pt-BR" b="1" dirty="0"/>
              <a:t>🔹 2. Critério de divisão (</a:t>
            </a:r>
            <a:r>
              <a:rPr lang="pt-BR" b="1" dirty="0" err="1"/>
              <a:t>split</a:t>
            </a:r>
            <a:r>
              <a:rPr lang="pt-BR" b="1" dirty="0"/>
              <a:t>)</a:t>
            </a:r>
          </a:p>
          <a:p>
            <a:r>
              <a:rPr lang="pt-BR" b="1" dirty="0"/>
              <a:t>ID3</a:t>
            </a:r>
            <a:endParaRPr lang="pt-BR" dirty="0"/>
          </a:p>
          <a:p>
            <a:pPr lvl="1"/>
            <a:r>
              <a:rPr lang="pt-BR" dirty="0"/>
              <a:t>Usa </a:t>
            </a:r>
            <a:r>
              <a:rPr lang="pt-BR" b="1" dirty="0" err="1"/>
              <a:t>Information</a:t>
            </a:r>
            <a:r>
              <a:rPr lang="pt-BR" b="1" dirty="0"/>
              <a:t> </a:t>
            </a:r>
            <a:r>
              <a:rPr lang="pt-BR" b="1" dirty="0" err="1"/>
              <a:t>Gain</a:t>
            </a:r>
            <a:r>
              <a:rPr lang="pt-BR" b="1" dirty="0"/>
              <a:t> (entropia)</a:t>
            </a:r>
            <a:endParaRPr lang="pt-BR" dirty="0"/>
          </a:p>
          <a:p>
            <a:pPr lvl="1"/>
            <a:r>
              <a:rPr lang="pt-BR" dirty="0"/>
              <a:t>Escolhe o atributo que mais reduz a incerteza</a:t>
            </a:r>
          </a:p>
          <a:p>
            <a:r>
              <a:rPr lang="pt-BR" b="1" dirty="0"/>
              <a:t>CART</a:t>
            </a:r>
            <a:endParaRPr lang="pt-BR" dirty="0"/>
          </a:p>
          <a:p>
            <a:pPr lvl="1"/>
            <a:r>
              <a:rPr lang="pt-BR" dirty="0"/>
              <a:t>Classificação → </a:t>
            </a:r>
            <a:r>
              <a:rPr lang="pt-BR" b="1" dirty="0" err="1"/>
              <a:t>Gini</a:t>
            </a:r>
            <a:endParaRPr lang="pt-BR" dirty="0"/>
          </a:p>
          <a:p>
            <a:pPr lvl="1"/>
            <a:r>
              <a:rPr lang="pt-BR" dirty="0"/>
              <a:t>Regressão → </a:t>
            </a:r>
            <a:r>
              <a:rPr lang="pt-BR" b="1" dirty="0"/>
              <a:t>erro quadrático (MSE)</a:t>
            </a:r>
            <a:endParaRPr lang="pt-BR" dirty="0"/>
          </a:p>
          <a:p>
            <a:r>
              <a:rPr lang="pt-BR" dirty="0"/>
              <a:t>👉 Principal diferença prática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3. Formato da árvore</a:t>
            </a:r>
          </a:p>
          <a:p>
            <a:r>
              <a:rPr lang="pt-BR" b="1" dirty="0"/>
              <a:t>ID3</a:t>
            </a:r>
            <a:endParaRPr lang="pt-BR" dirty="0"/>
          </a:p>
          <a:p>
            <a:pPr lvl="1"/>
            <a:r>
              <a:rPr lang="pt-BR" dirty="0"/>
              <a:t>Pode gerar </a:t>
            </a:r>
            <a:r>
              <a:rPr lang="pt-BR" b="1" dirty="0"/>
              <a:t>múltiplos ramos</a:t>
            </a:r>
            <a:endParaRPr lang="pt-BR" dirty="0"/>
          </a:p>
          <a:p>
            <a:pPr lvl="1"/>
            <a:r>
              <a:rPr lang="pt-BR" dirty="0" err="1"/>
              <a:t>Ex</a:t>
            </a:r>
            <a:r>
              <a:rPr lang="pt-BR" dirty="0"/>
              <a:t>:</a:t>
            </a:r>
          </a:p>
          <a:p>
            <a:pPr lvl="1"/>
            <a:r>
              <a:rPr lang="pt-BR" dirty="0"/>
              <a:t>Cor = {vermelho, azul, verde} → 3 ramos </a:t>
            </a:r>
          </a:p>
          <a:p>
            <a:r>
              <a:rPr lang="pt-BR" b="1" dirty="0"/>
              <a:t>CART</a:t>
            </a:r>
            <a:endParaRPr lang="pt-BR" dirty="0"/>
          </a:p>
          <a:p>
            <a:pPr lvl="1"/>
            <a:r>
              <a:rPr lang="pt-BR" dirty="0"/>
              <a:t>Sempre </a:t>
            </a:r>
            <a:r>
              <a:rPr lang="pt-BR" b="1" dirty="0"/>
              <a:t>binária (2 ramos)</a:t>
            </a:r>
            <a:endParaRPr lang="pt-BR" dirty="0"/>
          </a:p>
          <a:p>
            <a:pPr lvl="1"/>
            <a:r>
              <a:rPr lang="pt-BR" dirty="0" err="1"/>
              <a:t>Ex</a:t>
            </a:r>
            <a:r>
              <a:rPr lang="pt-BR" dirty="0"/>
              <a:t>:</a:t>
            </a:r>
          </a:p>
          <a:p>
            <a:pPr lvl="1"/>
            <a:r>
              <a:rPr lang="pt-BR" dirty="0"/>
              <a:t>Cor ∈ {vermelho}? → sim/não </a:t>
            </a:r>
          </a:p>
          <a:p>
            <a:r>
              <a:rPr lang="pt-BR" dirty="0"/>
              <a:t>👉 CART = árvore binária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4. Tipo de atributos</a:t>
            </a:r>
          </a:p>
          <a:p>
            <a:r>
              <a:rPr lang="pt-BR" b="1" dirty="0"/>
              <a:t>ID3</a:t>
            </a:r>
            <a:endParaRPr lang="pt-BR" dirty="0"/>
          </a:p>
          <a:p>
            <a:pPr lvl="1"/>
            <a:r>
              <a:rPr lang="pt-BR" dirty="0"/>
              <a:t>Funciona melhor com </a:t>
            </a:r>
            <a:r>
              <a:rPr lang="pt-BR" b="1" dirty="0"/>
              <a:t>dados categóricos</a:t>
            </a:r>
            <a:endParaRPr lang="pt-BR" dirty="0"/>
          </a:p>
          <a:p>
            <a:pPr lvl="1"/>
            <a:r>
              <a:rPr lang="pt-BR" dirty="0"/>
              <a:t>Não lida bem com contínuos</a:t>
            </a:r>
          </a:p>
          <a:p>
            <a:r>
              <a:rPr lang="pt-BR" b="1" dirty="0"/>
              <a:t>CART</a:t>
            </a:r>
            <a:endParaRPr lang="pt-BR" dirty="0"/>
          </a:p>
          <a:p>
            <a:pPr lvl="1"/>
            <a:r>
              <a:rPr lang="pt-BR" dirty="0"/>
              <a:t>Lida naturalmente com:</a:t>
            </a:r>
          </a:p>
          <a:p>
            <a:pPr lvl="2"/>
            <a:r>
              <a:rPr lang="pt-BR" dirty="0"/>
              <a:t>dados </a:t>
            </a:r>
            <a:r>
              <a:rPr lang="pt-BR" b="1" dirty="0"/>
              <a:t>contínuos</a:t>
            </a:r>
            <a:endParaRPr lang="pt-BR" dirty="0"/>
          </a:p>
          <a:p>
            <a:pPr lvl="2"/>
            <a:r>
              <a:rPr lang="pt-BR" dirty="0"/>
              <a:t>dados categóricos</a:t>
            </a:r>
          </a:p>
          <a:p>
            <a:r>
              <a:rPr lang="pt-BR" dirty="0"/>
              <a:t>👉 Mais flexível na prática (</a:t>
            </a:r>
            <a:r>
              <a:rPr lang="pt-BR" dirty="0">
                <a:hlinkClick r:id="rId5" tooltip="The differences between CART and ID3, C4.5 in feature selection within decision tree algorithms can have impacts on actual applications. Which one performs better is not clear.-zhihu"/>
              </a:rPr>
              <a:t>zhihu.com</a:t>
            </a:r>
            <a:r>
              <a:rPr lang="pt-BR" dirty="0"/>
              <a:t>)</a:t>
            </a:r>
          </a:p>
          <a:p>
            <a:r>
              <a:rPr lang="pt-BR" b="1" dirty="0"/>
              <a:t>🔹 5. </a:t>
            </a:r>
            <a:r>
              <a:rPr lang="pt-BR" b="1" dirty="0" err="1"/>
              <a:t>Overfitting</a:t>
            </a:r>
            <a:r>
              <a:rPr lang="pt-BR" b="1" dirty="0"/>
              <a:t> / poda</a:t>
            </a:r>
          </a:p>
          <a:p>
            <a:r>
              <a:rPr lang="pt-BR" b="1" dirty="0"/>
              <a:t>ID3</a:t>
            </a:r>
            <a:endParaRPr lang="pt-BR" dirty="0"/>
          </a:p>
          <a:p>
            <a:pPr lvl="1"/>
            <a:r>
              <a:rPr lang="pt-BR" dirty="0"/>
              <a:t>Não possui poda nativa</a:t>
            </a:r>
          </a:p>
          <a:p>
            <a:pPr lvl="1"/>
            <a:r>
              <a:rPr lang="pt-BR" dirty="0"/>
              <a:t>Pode gerar árvores muito profundas</a:t>
            </a:r>
          </a:p>
          <a:p>
            <a:r>
              <a:rPr lang="pt-BR" b="1" dirty="0"/>
              <a:t>CART</a:t>
            </a:r>
            <a:endParaRPr lang="pt-BR" dirty="0"/>
          </a:p>
          <a:p>
            <a:pPr lvl="1"/>
            <a:r>
              <a:rPr lang="pt-BR" dirty="0"/>
              <a:t>Usa </a:t>
            </a:r>
            <a:r>
              <a:rPr lang="pt-BR" b="1" dirty="0" err="1"/>
              <a:t>pruning</a:t>
            </a:r>
            <a:r>
              <a:rPr lang="pt-BR" b="1" dirty="0"/>
              <a:t> (poda)</a:t>
            </a:r>
            <a:endParaRPr lang="pt-BR" dirty="0"/>
          </a:p>
          <a:p>
            <a:pPr lvl="1"/>
            <a:r>
              <a:rPr lang="pt-BR" dirty="0"/>
              <a:t>Melhor generalização</a:t>
            </a:r>
          </a:p>
          <a:p>
            <a:r>
              <a:rPr lang="pt-BR" dirty="0"/>
              <a:t>👉 CART é mais robusto (</a:t>
            </a:r>
            <a:r>
              <a:rPr lang="pt-BR" dirty="0" err="1">
                <a:hlinkClick r:id="rId6" tooltip="CART, C4.5, ID3 Algorithms – Praudyog"/>
              </a:rPr>
              <a:t>Praudyog</a:t>
            </a:r>
            <a:r>
              <a:rPr lang="pt-BR" dirty="0"/>
              <a:t>)</a:t>
            </a:r>
          </a:p>
          <a:p>
            <a:r>
              <a:rPr lang="pt-BR" b="1" dirty="0"/>
              <a:t>🧠 Intuição simples</a:t>
            </a:r>
          </a:p>
          <a:p>
            <a:r>
              <a:rPr lang="pt-BR" b="1" dirty="0"/>
              <a:t>🔵 ID3:</a:t>
            </a:r>
          </a:p>
          <a:p>
            <a:r>
              <a:rPr lang="pt-BR" dirty="0"/>
              <a:t>“Escolhe a variável que mais reduz a incerteza e cria vários ramos”</a:t>
            </a:r>
          </a:p>
          <a:p>
            <a:r>
              <a:rPr lang="pt-BR" b="1" dirty="0"/>
              <a:t>🌲 CART:</a:t>
            </a:r>
          </a:p>
          <a:p>
            <a:r>
              <a:rPr lang="pt-BR" dirty="0"/>
              <a:t>“Divide sempre em dois grupos e otimiza a pureza (</a:t>
            </a:r>
            <a:r>
              <a:rPr lang="pt-BR" dirty="0" err="1"/>
              <a:t>Gini</a:t>
            </a:r>
            <a:r>
              <a:rPr lang="pt-BR" dirty="0"/>
              <a:t> ou erro)”</a:t>
            </a:r>
          </a:p>
          <a:p>
            <a:r>
              <a:rPr lang="pt-BR" b="1" dirty="0"/>
              <a:t>📊 Resumo final</a:t>
            </a:r>
          </a:p>
          <a:p>
            <a:r>
              <a:rPr lang="pt-BR" dirty="0"/>
              <a:t>CaracterísticaID3CARTTipoClassificaçãoClassificação + </a:t>
            </a:r>
            <a:r>
              <a:rPr lang="pt-BR" dirty="0" err="1"/>
              <a:t>RegressãoCritérioEntropia</a:t>
            </a:r>
            <a:r>
              <a:rPr lang="pt-BR" dirty="0"/>
              <a:t> (Info </a:t>
            </a:r>
            <a:r>
              <a:rPr lang="pt-BR" dirty="0" err="1"/>
              <a:t>Gain</a:t>
            </a:r>
            <a:r>
              <a:rPr lang="pt-BR" dirty="0"/>
              <a:t>)</a:t>
            </a:r>
            <a:r>
              <a:rPr lang="pt-BR" dirty="0" err="1"/>
              <a:t>Gini</a:t>
            </a:r>
            <a:r>
              <a:rPr lang="pt-BR" dirty="0"/>
              <a:t> / </a:t>
            </a:r>
            <a:r>
              <a:rPr lang="pt-BR" dirty="0" err="1"/>
              <a:t>MSEEstruturaMulti-ramoBináriaDados</a:t>
            </a:r>
            <a:r>
              <a:rPr lang="pt-BR" dirty="0"/>
              <a:t> </a:t>
            </a:r>
            <a:r>
              <a:rPr lang="pt-BR" dirty="0" err="1"/>
              <a:t>contínuosLimitadoNaturalPodaNãoSim</a:t>
            </a:r>
            <a:r>
              <a:rPr lang="pt-BR" b="1" dirty="0"/>
              <a:t>🎯 Conclusão (bem direta)</a:t>
            </a:r>
          </a:p>
          <a:p>
            <a:r>
              <a:rPr lang="pt-BR" dirty="0"/>
              <a:t>👉 </a:t>
            </a:r>
            <a:r>
              <a:rPr lang="pt-BR" b="1" dirty="0"/>
              <a:t>ID3 é mais simples e didático</a:t>
            </a:r>
            <a:r>
              <a:rPr lang="pt-BR" dirty="0"/>
              <a:t/>
            </a:r>
            <a:br>
              <a:rPr lang="pt-BR" dirty="0"/>
            </a:br>
            <a:r>
              <a:rPr lang="pt-BR" dirty="0"/>
              <a:t>👉 </a:t>
            </a:r>
            <a:r>
              <a:rPr lang="pt-BR" b="1" dirty="0"/>
              <a:t>CART é mais usado na prática (</a:t>
            </a:r>
            <a:r>
              <a:rPr lang="pt-BR" b="1" dirty="0" err="1"/>
              <a:t>ex</a:t>
            </a:r>
            <a:r>
              <a:rPr lang="pt-BR" b="1" dirty="0"/>
              <a:t>: </a:t>
            </a:r>
            <a:r>
              <a:rPr lang="pt-BR" b="1" dirty="0" err="1"/>
              <a:t>scikit-learn</a:t>
            </a:r>
            <a:r>
              <a:rPr lang="pt-BR" b="1" dirty="0"/>
              <a:t>)</a:t>
            </a:r>
            <a:endParaRPr lang="pt-BR" dirty="0"/>
          </a:p>
          <a:p>
            <a:endParaRPr lang="pt-BR" dirty="0"/>
          </a:p>
          <a:p>
            <a:pPr marL="0" indent="0">
              <a:buNone/>
            </a:pPr>
            <a:endParaRPr lang="pt-BR" dirty="0"/>
          </a:p>
        </p:txBody>
      </p:sp>
    </p:spTree>
    <p:extLst>
      <p:ext uri="{BB962C8B-B14F-4D97-AF65-F5344CB8AC3E}">
        <p14:creationId xmlns:p14="http://schemas.microsoft.com/office/powerpoint/2010/main" val="389550178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 xmlns:a16="http://schemas.microsoft.com/office/drawing/2014/main" val="20000"/>
                    </a:ext>
                  </a:extLst>
                </a:gridCol>
                <a:gridCol w="952500">
                  <a:extLst>
                    <a:ext uri="{9D8B030D-6E8A-4147-A177-3AD203B41FA5}">
                      <a16:colId xmlns="" xmlns:a16="http://schemas.microsoft.com/office/drawing/2014/main" val="20001"/>
                    </a:ext>
                  </a:extLst>
                </a:gridCol>
                <a:gridCol w="952500">
                  <a:extLst>
                    <a:ext uri="{9D8B030D-6E8A-4147-A177-3AD203B41FA5}">
                      <a16:colId xmlns=""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 xmlns:a16="http://schemas.microsoft.com/office/drawing/2014/main" val="20000"/>
                    </a:ext>
                  </a:extLst>
                </a:gridCol>
                <a:gridCol w="209114">
                  <a:extLst>
                    <a:ext uri="{9D8B030D-6E8A-4147-A177-3AD203B41FA5}">
                      <a16:colId xmlns="" xmlns:a16="http://schemas.microsoft.com/office/drawing/2014/main" val="20001"/>
                    </a:ext>
                  </a:extLst>
                </a:gridCol>
                <a:gridCol w="298734">
                  <a:extLst>
                    <a:ext uri="{9D8B030D-6E8A-4147-A177-3AD203B41FA5}">
                      <a16:colId xmlns="" xmlns:a16="http://schemas.microsoft.com/office/drawing/2014/main" val="20002"/>
                    </a:ext>
                  </a:extLst>
                </a:gridCol>
                <a:gridCol w="268861">
                  <a:extLst>
                    <a:ext uri="{9D8B030D-6E8A-4147-A177-3AD203B41FA5}">
                      <a16:colId xmlns="" xmlns:a16="http://schemas.microsoft.com/office/drawing/2014/main" val="20003"/>
                    </a:ext>
                  </a:extLst>
                </a:gridCol>
                <a:gridCol w="298734">
                  <a:extLst>
                    <a:ext uri="{9D8B030D-6E8A-4147-A177-3AD203B41FA5}">
                      <a16:colId xmlns="" xmlns:a16="http://schemas.microsoft.com/office/drawing/2014/main" val="20004"/>
                    </a:ext>
                  </a:extLst>
                </a:gridCol>
                <a:gridCol w="25001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 xmlns:a16="http://schemas.microsoft.com/office/drawing/2014/main" val="20000"/>
                    </a:ext>
                  </a:extLst>
                </a:gridCol>
                <a:gridCol w="213002">
                  <a:extLst>
                    <a:ext uri="{9D8B030D-6E8A-4147-A177-3AD203B41FA5}">
                      <a16:colId xmlns="" xmlns:a16="http://schemas.microsoft.com/office/drawing/2014/main" val="20001"/>
                    </a:ext>
                  </a:extLst>
                </a:gridCol>
                <a:gridCol w="304290">
                  <a:extLst>
                    <a:ext uri="{9D8B030D-6E8A-4147-A177-3AD203B41FA5}">
                      <a16:colId xmlns="" xmlns:a16="http://schemas.microsoft.com/office/drawing/2014/main" val="20002"/>
                    </a:ext>
                  </a:extLst>
                </a:gridCol>
                <a:gridCol w="273861">
                  <a:extLst>
                    <a:ext uri="{9D8B030D-6E8A-4147-A177-3AD203B41FA5}">
                      <a16:colId xmlns="" xmlns:a16="http://schemas.microsoft.com/office/drawing/2014/main" val="20003"/>
                    </a:ext>
                  </a:extLst>
                </a:gridCol>
                <a:gridCol w="304290">
                  <a:extLst>
                    <a:ext uri="{9D8B030D-6E8A-4147-A177-3AD203B41FA5}">
                      <a16:colId xmlns="" xmlns:a16="http://schemas.microsoft.com/office/drawing/2014/main" val="20004"/>
                    </a:ext>
                  </a:extLst>
                </a:gridCol>
                <a:gridCol w="25466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18086</TotalTime>
  <Words>11162</Words>
  <Application>Microsoft Office PowerPoint</Application>
  <PresentationFormat>Widescreen</PresentationFormat>
  <Paragraphs>1402</Paragraphs>
  <Slides>76</Slides>
  <Notes>49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Apresentação do PowerPoint</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1260</cp:revision>
  <dcterms:created xsi:type="dcterms:W3CDTF">2020-04-06T23:46:10Z</dcterms:created>
  <dcterms:modified xsi:type="dcterms:W3CDTF">2026-04-03T16:01:43Z</dcterms:modified>
</cp:coreProperties>
</file>