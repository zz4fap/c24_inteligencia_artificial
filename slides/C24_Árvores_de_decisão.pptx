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82" r:id="rId22"/>
    <p:sldId id="463" r:id="rId23"/>
    <p:sldId id="464" r:id="rId24"/>
    <p:sldId id="467" r:id="rId25"/>
    <p:sldId id="465" r:id="rId26"/>
    <p:sldId id="466" r:id="rId27"/>
    <p:sldId id="350" r:id="rId28"/>
    <p:sldId id="468" r:id="rId29"/>
    <p:sldId id="469" r:id="rId30"/>
    <p:sldId id="470" r:id="rId31"/>
    <p:sldId id="471" r:id="rId32"/>
    <p:sldId id="472" r:id="rId33"/>
    <p:sldId id="354" r:id="rId34"/>
    <p:sldId id="356" r:id="rId35"/>
    <p:sldId id="357" r:id="rId36"/>
    <p:sldId id="359" r:id="rId37"/>
    <p:sldId id="483" r:id="rId38"/>
    <p:sldId id="361" r:id="rId39"/>
    <p:sldId id="362" r:id="rId40"/>
    <p:sldId id="363" r:id="rId41"/>
    <p:sldId id="301" r:id="rId42"/>
    <p:sldId id="318" r:id="rId43"/>
    <p:sldId id="369" r:id="rId44"/>
    <p:sldId id="319" r:id="rId45"/>
    <p:sldId id="364" r:id="rId46"/>
    <p:sldId id="473" r:id="rId47"/>
    <p:sldId id="367" r:id="rId48"/>
    <p:sldId id="368" r:id="rId49"/>
    <p:sldId id="277" r:id="rId50"/>
    <p:sldId id="283" r:id="rId51"/>
    <p:sldId id="284" r:id="rId52"/>
    <p:sldId id="285" r:id="rId53"/>
    <p:sldId id="291" r:id="rId54"/>
    <p:sldId id="292" r:id="rId55"/>
    <p:sldId id="296" r:id="rId56"/>
    <p:sldId id="474" r:id="rId57"/>
    <p:sldId id="475" r:id="rId58"/>
    <p:sldId id="371" r:id="rId59"/>
    <p:sldId id="374" r:id="rId60"/>
    <p:sldId id="375" r:id="rId61"/>
    <p:sldId id="476" r:id="rId62"/>
    <p:sldId id="477" r:id="rId63"/>
    <p:sldId id="479" r:id="rId64"/>
    <p:sldId id="456" r:id="rId65"/>
    <p:sldId id="457" r:id="rId66"/>
    <p:sldId id="378" r:id="rId67"/>
    <p:sldId id="306" r:id="rId68"/>
    <p:sldId id="347" r:id="rId69"/>
    <p:sldId id="328" r:id="rId70"/>
    <p:sldId id="329" r:id="rId71"/>
    <p:sldId id="355" r:id="rId72"/>
    <p:sldId id="330" r:id="rId73"/>
    <p:sldId id="271" r:id="rId74"/>
    <p:sldId id="279" r:id="rId75"/>
    <p:sldId id="293" r:id="rId76"/>
    <p:sldId id="289" r:id="rId77"/>
    <p:sldId id="290" r:id="rId78"/>
    <p:sldId id="294" r:id="rId79"/>
    <p:sldId id="295" r:id="rId80"/>
    <p:sldId id="307" r:id="rId81"/>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6271" autoAdjust="0"/>
  </p:normalViewPr>
  <p:slideViewPr>
    <p:cSldViewPr snapToGrid="0">
      <p:cViewPr varScale="1">
        <p:scale>
          <a:sx n="56" d="100"/>
          <a:sy n="56" d="100"/>
        </p:scale>
        <p:origin x="126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25/05/2026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3FD0EF8-D345-C641-2DF9-0FC619222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xmlns=""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a:t>
            </a:r>
            <a:r>
              <a:rPr lang="pt-BR" b="1" dirty="0"/>
              <a:t>C4.5</a:t>
            </a:r>
            <a:r>
              <a:rPr lang="pt-BR" dirty="0"/>
              <a:t> e o </a:t>
            </a:r>
            <a:r>
              <a:rPr lang="pt-BR" b="1" dirty="0"/>
              <a:t>C5.0</a:t>
            </a:r>
            <a:r>
              <a:rPr lang="pt-BR" dirty="0"/>
              <a:t> são evoluções diretas do </a:t>
            </a:r>
            <a:r>
              <a:rPr lang="pt-BR" b="1" dirty="0"/>
              <a:t>ID3</a:t>
            </a:r>
            <a:r>
              <a:rPr lang="pt-BR" dirty="0"/>
              <a:t>.</a:t>
            </a:r>
            <a:br>
              <a:rPr lang="pt-BR" dirty="0"/>
            </a:br>
            <a:r>
              <a:rPr lang="pt-BR" dirty="0"/>
              <a:t>Eles pertencem à mesma família de algoritmos de indução de árvores de decisão desenvolvidos por Ross </a:t>
            </a:r>
            <a:r>
              <a:rPr lang="pt-BR" dirty="0" err="1"/>
              <a:t>Quinlan</a:t>
            </a:r>
            <a:r>
              <a:rPr lang="pt-BR" dirty="0"/>
              <a:t>.</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Por que não é usado para regressão?</a:t>
            </a:r>
          </a:p>
          <a:p>
            <a:r>
              <a:rPr lang="pt-BR" dirty="0"/>
              <a:t>Porque o ID3 foi formulado usando:</a:t>
            </a:r>
          </a:p>
          <a:p>
            <a:r>
              <a:rPr lang="pt-BR" dirty="0"/>
              <a:t>entropia; </a:t>
            </a:r>
          </a:p>
          <a:p>
            <a:r>
              <a:rPr lang="pt-BR" dirty="0"/>
              <a:t>teoria da informação; </a:t>
            </a:r>
          </a:p>
          <a:p>
            <a:r>
              <a:rPr lang="pt-BR" dirty="0"/>
              <a:t>ganho de informação. </a:t>
            </a:r>
          </a:p>
          <a:p>
            <a:r>
              <a:rPr lang="pt-BR" dirty="0"/>
              <a:t>Esses conceitos dependem de probabilidades de classes.</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874D708-AA7E-CB9A-5318-3EF4C9E85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2DE191E-6173-1A9C-7608-19BEC89DFC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FD389746-6EB9-5C27-E4E7-30BBD99F9879}"/>
              </a:ext>
            </a:extLst>
          </p:cNvPr>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a:extLst>
              <a:ext uri="{FF2B5EF4-FFF2-40B4-BE49-F238E27FC236}">
                <a16:creationId xmlns:a16="http://schemas.microsoft.com/office/drawing/2014/main" xmlns="" id="{D000A64E-61CA-09E9-0866-54D63DEDD069}"/>
              </a:ext>
            </a:extLst>
          </p:cNvPr>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87896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2369616-6279-718F-3DFF-E76CA1C82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301CFC8-40E4-39E6-FDE7-187621020A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75DD19D-EED5-C458-5EC4-53559A7B3E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a:extLst>
              <a:ext uri="{FF2B5EF4-FFF2-40B4-BE49-F238E27FC236}">
                <a16:creationId xmlns:a16="http://schemas.microsoft.com/office/drawing/2014/main" xmlns="" id="{408E860F-82AC-0991-03A9-8A5329F177C7}"/>
              </a:ext>
            </a:extLst>
          </p:cNvPr>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9480895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25/05/2026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25/05/2026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25/05/2026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25/05/2026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6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xmlns=""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xmlns=""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t>
            </a:r>
            <a:r>
              <a:rPr lang="pt-BR" i="1" noProof="0" dirty="0"/>
              <a:t>a priori</a:t>
            </a:r>
            <a:r>
              <a:rPr lang="pt-BR" noProof="0" dirty="0"/>
              <a:t>.</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a:t>
            </a:r>
            <a:r>
              <a:rPr lang="pt-BR" dirty="0" smtClean="0"/>
              <a:t>mostrado pela linha laranja </a:t>
            </a:r>
            <a:r>
              <a:rPr lang="pt-BR" dirty="0"/>
              <a:t>na figura ao lado.</a:t>
            </a:r>
          </a:p>
          <a:p>
            <a:pPr marL="0" indent="0">
              <a:buNone/>
            </a:pPr>
            <a:endParaRPr lang="pt-BR" dirty="0"/>
          </a:p>
        </p:txBody>
      </p:sp>
      <p:pic>
        <p:nvPicPr>
          <p:cNvPr id="1027" name="Picture 3">
            <a:extLst>
              <a:ext uri="{FF2B5EF4-FFF2-40B4-BE49-F238E27FC236}">
                <a16:creationId xmlns:a16="http://schemas.microsoft.com/office/drawing/2014/main" xmlns=""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a:t>
            </a:r>
            <a:r>
              <a:rPr lang="pt-BR" b="1" dirty="0" smtClean="0">
                <a:solidFill>
                  <a:srgbClr val="00B050"/>
                </a:solidFill>
              </a:rPr>
              <a:t>de </a:t>
            </a:r>
            <a:r>
              <a:rPr lang="pt-BR" b="1" dirty="0">
                <a:solidFill>
                  <a:srgbClr val="00B050"/>
                </a:solidFill>
              </a:rPr>
              <a:t>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a:t>
            </a:r>
            <a:r>
              <a:rPr lang="pt-BR" b="1" dirty="0" smtClean="0">
                <a:solidFill>
                  <a:srgbClr val="00B050"/>
                </a:solidFill>
              </a:rPr>
              <a:t>ramificação dos </a:t>
            </a:r>
            <a:r>
              <a:rPr lang="pt-BR" b="1" dirty="0">
                <a:solidFill>
                  <a:srgbClr val="00B050"/>
                </a:solidFill>
              </a:rPr>
              <a:t>dados </a:t>
            </a:r>
            <a:r>
              <a:rPr lang="pt-BR" dirty="0" smtClean="0"/>
              <a:t>(</a:t>
            </a:r>
            <a:r>
              <a:rPr lang="pt-BR" i="1" dirty="0" err="1" smtClean="0"/>
              <a:t>split</a:t>
            </a:r>
            <a:r>
              <a:rPr lang="pt-BR" dirty="0" smtClean="0"/>
              <a:t>)</a:t>
            </a:r>
            <a:endParaRPr lang="pt-BR" dirty="0"/>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a:t>
            </a:r>
            <a:r>
              <a:rPr lang="pt-BR" dirty="0" smtClean="0"/>
              <a:t>o </a:t>
            </a:r>
            <a:r>
              <a:rPr lang="pt-BR" b="1" dirty="0" smtClean="0">
                <a:solidFill>
                  <a:srgbClr val="00B050"/>
                </a:solidFill>
              </a:rPr>
              <a:t>valor final da predição</a:t>
            </a:r>
            <a:endParaRPr lang="pt-BR" b="1" dirty="0">
              <a:solidFill>
                <a:srgbClr val="00B050"/>
              </a:solidFill>
            </a:endParaRPr>
          </a:p>
        </p:txBody>
      </p:sp>
      <p:grpSp>
        <p:nvGrpSpPr>
          <p:cNvPr id="18" name="Agrupar 17">
            <a:extLst>
              <a:ext uri="{FF2B5EF4-FFF2-40B4-BE49-F238E27FC236}">
                <a16:creationId xmlns:a16="http://schemas.microsoft.com/office/drawing/2014/main" xmlns=""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xmlns=""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xmlns=""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xmlns=""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xmlns=""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xmlns=""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xmlns=""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xmlns=""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direcionado</a:t>
            </a:r>
            <a:r>
              <a:rPr lang="pt-BR" b="1" dirty="0"/>
              <a:t> </a:t>
            </a:r>
            <a:r>
              <a:rPr lang="pt-BR" b="1" dirty="0">
                <a:solidFill>
                  <a:srgbClr val="7030A0"/>
                </a:solidFill>
              </a:rPr>
              <a:t>acíclico</a:t>
            </a:r>
            <a:r>
              <a:rPr lang="pt-BR" b="1" dirty="0"/>
              <a:t> </a:t>
            </a:r>
            <a:r>
              <a:rPr lang="pt-BR" dirty="0"/>
              <a:t>(sem realimentação) no qual </a:t>
            </a:r>
            <a:r>
              <a:rPr lang="pt-BR" b="1" dirty="0">
                <a:solidFill>
                  <a:schemeClr val="accent2"/>
                </a:solidFill>
              </a:rPr>
              <a:t>dois nós quaisquer se conectam por um único caminho</a:t>
            </a:r>
            <a:r>
              <a:rPr lang="pt-BR" dirty="0"/>
              <a:t>.</a:t>
            </a:r>
            <a:endParaRPr lang="pt-BR" sz="2400" dirty="0"/>
          </a:p>
          <a:p>
            <a:pPr lvl="1">
              <a:buFont typeface="Wingdings" panose="05000000000000000000" pitchFamily="2" charset="2"/>
              <a:buChar char="§"/>
            </a:pPr>
            <a:r>
              <a:rPr lang="pt-BR" dirty="0"/>
              <a:t>Um ciclo é um caminho em que o primeiro e o último nó coincidem.</a:t>
            </a:r>
          </a:p>
          <a:p>
            <a:r>
              <a:rPr lang="pt-BR" dirty="0"/>
              <a:t>Por exemplo, na árvore ao lado, o </a:t>
            </a:r>
            <a:r>
              <a:rPr lang="pt-BR" b="1" dirty="0">
                <a:solidFill>
                  <a:srgbClr val="00B050"/>
                </a:solidFill>
              </a:rPr>
              <a:t>nó “Pássaro”</a:t>
            </a:r>
            <a:r>
              <a:rPr lang="pt-BR" dirty="0"/>
              <a:t> só se conecta ao </a:t>
            </a:r>
            <a:r>
              <a:rPr lang="pt-BR" b="1" dirty="0">
                <a:solidFill>
                  <a:srgbClr val="00B050"/>
                </a:solidFill>
              </a:rPr>
              <a:t>nó “Mamífero”</a:t>
            </a:r>
            <a:r>
              <a:rPr lang="pt-BR" dirty="0"/>
              <a:t> através do </a:t>
            </a:r>
            <a:r>
              <a:rPr lang="pt-BR" b="1" dirty="0">
                <a:solidFill>
                  <a:srgbClr val="00B050"/>
                </a:solidFill>
              </a:rPr>
              <a:t>nó “Bota ovo?”</a:t>
            </a:r>
            <a:r>
              <a:rPr lang="pt-BR" dirty="0"/>
              <a:t> e </a:t>
            </a:r>
            <a:r>
              <a:rPr lang="pt-BR" b="1" dirty="0">
                <a:solidFill>
                  <a:srgbClr val="7030A0"/>
                </a:solidFill>
              </a:rPr>
              <a:t>não existem ciclos</a:t>
            </a:r>
            <a:r>
              <a:rPr lang="pt-BR" dirty="0"/>
              <a:t>.</a:t>
            </a:r>
          </a:p>
          <a:p>
            <a:r>
              <a:rPr lang="pt-BR" dirty="0"/>
              <a:t>É </a:t>
            </a:r>
            <a:r>
              <a:rPr lang="pt-BR" b="1" dirty="0">
                <a:solidFill>
                  <a:srgbClr val="7030A0"/>
                </a:solidFill>
              </a:rPr>
              <a:t>direcionado</a:t>
            </a:r>
            <a:r>
              <a:rPr lang="pt-BR" dirty="0"/>
              <a:t>, pois a informação percorre a árvore do </a:t>
            </a:r>
            <a:r>
              <a:rPr lang="pt-BR" b="1" dirty="0">
                <a:solidFill>
                  <a:srgbClr val="7030A0"/>
                </a:solidFill>
              </a:rPr>
              <a:t>topo para baixo</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a:t>
            </a:r>
            <a:r>
              <a:rPr lang="pt-BR" b="1" dirty="0"/>
              <a:t>processo de decisão</a:t>
            </a:r>
            <a:r>
              <a:rPr lang="pt-BR" dirty="0"/>
              <a:t> se </a:t>
            </a:r>
            <a:r>
              <a:rPr lang="pt-BR" b="1" dirty="0">
                <a:solidFill>
                  <a:srgbClr val="7030A0"/>
                </a:solidFill>
              </a:rPr>
              <a:t>inicia</a:t>
            </a:r>
            <a:r>
              <a:rPr lang="pt-BR" dirty="0"/>
              <a:t> pelo </a:t>
            </a:r>
            <a:r>
              <a:rPr lang="pt-BR" b="1" dirty="0"/>
              <a:t>nó raiz</a:t>
            </a:r>
            <a:r>
              <a:rPr lang="pt-BR" dirty="0"/>
              <a:t>. </a:t>
            </a:r>
          </a:p>
          <a:p>
            <a:r>
              <a:rPr lang="pt-BR" dirty="0"/>
              <a:t>Nesse processo, </a:t>
            </a:r>
            <a:r>
              <a:rPr lang="pt-BR" b="1" dirty="0">
                <a:solidFill>
                  <a:schemeClr val="accent2"/>
                </a:solidFill>
              </a:rPr>
              <a:t>valores distintos dos atributos geram </a:t>
            </a:r>
            <a:r>
              <a:rPr lang="pt-BR" b="1" dirty="0">
                <a:solidFill>
                  <a:srgbClr val="00B050"/>
                </a:solidFill>
              </a:rPr>
              <a:t>ramificações</a:t>
            </a:r>
            <a:r>
              <a:rPr lang="pt-BR" dirty="0"/>
              <a:t> (</a:t>
            </a:r>
            <a:r>
              <a:rPr lang="pt-BR" b="1" dirty="0">
                <a:solidFill>
                  <a:schemeClr val="accent5"/>
                </a:solidFill>
              </a:rPr>
              <a:t>nós de decisão</a:t>
            </a:r>
            <a:r>
              <a:rPr lang="pt-BR" dirty="0"/>
              <a:t>) e, quando se chega a um </a:t>
            </a:r>
            <a:r>
              <a:rPr lang="pt-BR" b="1" dirty="0">
                <a:solidFill>
                  <a:srgbClr val="7030A0"/>
                </a:solidFill>
              </a:rPr>
              <a:t>nó folha</a:t>
            </a:r>
            <a:r>
              <a:rPr lang="pt-BR" dirty="0"/>
              <a:t>, ocorre 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endParaRPr lang="pt-BR" dirty="0"/>
          </a:p>
          <a:p>
            <a:r>
              <a:rPr lang="pt-BR" dirty="0"/>
              <a:t>Ou seja, é possível </a:t>
            </a:r>
            <a:r>
              <a:rPr lang="pt-BR" b="1" dirty="0">
                <a:solidFill>
                  <a:schemeClr val="accent2"/>
                </a:solidFill>
              </a:rPr>
              <a:t>entender e explicar </a:t>
            </a:r>
            <a:r>
              <a:rPr lang="pt-BR" b="1" dirty="0">
                <a:solidFill>
                  <a:schemeClr val="accent5"/>
                </a:solidFill>
              </a:rPr>
              <a:t>facilmente</a:t>
            </a:r>
            <a:r>
              <a:rPr lang="pt-BR" b="1" dirty="0">
                <a:solidFill>
                  <a:schemeClr val="accent2"/>
                </a:solidFill>
              </a:rPr>
              <a:t> como o modelo realiza a </a:t>
            </a:r>
            <a:r>
              <a:rPr lang="pt-BR" b="1" dirty="0">
                <a:solidFill>
                  <a:schemeClr val="accent5"/>
                </a:solidFill>
              </a:rPr>
              <a:t>predição</a:t>
            </a:r>
            <a:r>
              <a:rPr lang="pt-BR" b="1" dirty="0">
                <a:solidFill>
                  <a:schemeClr val="accent2"/>
                </a:solidFill>
              </a:rPr>
              <a:t> </a:t>
            </a:r>
            <a:r>
              <a:rPr lang="pt-BR" dirty="0"/>
              <a:t>(classificação ou regressão) baseando-se nos atributos.</a:t>
            </a:r>
          </a:p>
          <a:p>
            <a:r>
              <a:rPr lang="pt-BR" dirty="0"/>
              <a:t>Elas são o oposto dos modelos de </a:t>
            </a:r>
            <a:r>
              <a:rPr lang="pt-BR" b="1" dirty="0">
                <a:solidFill>
                  <a:srgbClr val="7030A0"/>
                </a:solidFill>
              </a:rPr>
              <a:t>caixa preta</a:t>
            </a:r>
            <a:r>
              <a:rPr lang="pt-BR" dirty="0"/>
              <a:t>, onde os </a:t>
            </a:r>
            <a:r>
              <a:rPr lang="pt-BR" b="1" dirty="0">
                <a:solidFill>
                  <a:srgbClr val="0070C0"/>
                </a:solidFill>
              </a:rPr>
              <a:t>resultados</a:t>
            </a:r>
            <a:r>
              <a:rPr lang="pt-BR" dirty="0"/>
              <a:t> </a:t>
            </a:r>
            <a:r>
              <a:rPr lang="pt-BR" b="1" dirty="0">
                <a:solidFill>
                  <a:srgbClr val="0070C0"/>
                </a:solidFill>
              </a:rPr>
              <a:t>são difíceis de interpretar</a:t>
            </a:r>
            <a:r>
              <a:rPr lang="pt-BR" dirty="0"/>
              <a:t> e </a:t>
            </a:r>
            <a:r>
              <a:rPr lang="pt-BR" b="1" dirty="0">
                <a:solidFill>
                  <a:srgbClr val="7030A0"/>
                </a:solidFill>
              </a:rPr>
              <a:t>não é fácil entender como os atributos interagem entre si para gerar a saída.</a:t>
            </a:r>
            <a:r>
              <a:rPr lang="pt-BR" dirty="0"/>
              <a:t> </a:t>
            </a:r>
          </a:p>
          <a:p>
            <a:pPr lvl="1">
              <a:buFont typeface="Wingdings" panose="05000000000000000000" pitchFamily="2" charset="2"/>
              <a:buChar char="§"/>
            </a:pPr>
            <a:r>
              <a:rPr lang="pt-BR" dirty="0"/>
              <a:t>Redes neurais artificiais são exemplos de modelos de caixa preta.</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a:t>
            </a:r>
            <a:r>
              <a:rPr lang="pt-BR" b="1" dirty="0"/>
              <a:t>árvore de decisão para classificação</a:t>
            </a:r>
            <a:r>
              <a:rPr lang="pt-BR" dirty="0"/>
              <a:t> criada a partir de informações se </a:t>
            </a:r>
            <a:r>
              <a:rPr lang="pt-BR" b="1" dirty="0">
                <a:solidFill>
                  <a:schemeClr val="accent2"/>
                </a:solidFill>
              </a:rPr>
              <a:t>jogadores jogarão tênis ou não</a:t>
            </a:r>
            <a:r>
              <a:rPr lang="pt-BR" dirty="0"/>
              <a:t>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terminação ou folha, corresponde a uma classe.</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smtClean="0"/>
              <a:t>Como podemos ver, 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Uma primeira abordagem para induzir uma árvore poderia ser </a:t>
            </a:r>
            <a:r>
              <a:rPr lang="pt-BR" b="1" dirty="0">
                <a:solidFill>
                  <a:schemeClr val="accent2"/>
                </a:solidFill>
              </a:rPr>
              <a:t>construir</a:t>
            </a:r>
            <a:r>
              <a:rPr lang="pt-BR" dirty="0"/>
              <a:t>,</a:t>
            </a:r>
            <a:r>
              <a:rPr lang="pt-BR" b="1" dirty="0"/>
              <a:t> </a:t>
            </a:r>
            <a:r>
              <a:rPr lang="pt-BR" b="1" dirty="0">
                <a:solidFill>
                  <a:schemeClr val="accent2"/>
                </a:solidFill>
              </a:rPr>
              <a:t>de maneira exaustiva</a:t>
            </a:r>
            <a:r>
              <a:rPr lang="pt-BR" dirty="0"/>
              <a:t>, </a:t>
            </a:r>
            <a:r>
              <a:rPr lang="pt-BR" b="1" dirty="0">
                <a:solidFill>
                  <a:srgbClr val="7030A0"/>
                </a:solidFill>
              </a:rPr>
              <a:t>todas as árvores</a:t>
            </a:r>
            <a:r>
              <a:rPr lang="pt-BR" dirty="0"/>
              <a:t>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a:t>
            </a:r>
            <a:r>
              <a:rPr lang="pt-BR" b="1" dirty="0">
                <a:solidFill>
                  <a:srgbClr val="7030A0"/>
                </a:solidFill>
              </a:rPr>
              <a:t>computacionalmente muito custosa</a:t>
            </a:r>
            <a:r>
              <a:rPr lang="pt-BR" dirty="0"/>
              <a:t>. </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Esses </a:t>
            </a:r>
            <a:r>
              <a:rPr lang="en-US" altLang="en-US" dirty="0" err="1"/>
              <a:t>são</a:t>
            </a:r>
            <a:r>
              <a:rPr lang="en-US" altLang="en-US" dirty="0"/>
              <a:t> </a:t>
            </a:r>
            <a:r>
              <a:rPr lang="en-US" altLang="en-US" dirty="0" err="1"/>
              <a:t>problemas</a:t>
            </a:r>
            <a:r>
              <a:rPr lang="en-US" altLang="en-US" dirty="0"/>
              <a:t> </a:t>
            </a:r>
            <a:r>
              <a:rPr lang="pt-BR" dirty="0"/>
              <a:t>onde </a:t>
            </a:r>
            <a:r>
              <a:rPr lang="pt-BR" b="1" dirty="0"/>
              <a:t>conferir uma solução é fácil</a:t>
            </a:r>
            <a:r>
              <a:rPr lang="pt-BR" dirty="0"/>
              <a:t>, </a:t>
            </a:r>
            <a:r>
              <a:rPr lang="pt-BR" b="1" dirty="0">
                <a:solidFill>
                  <a:schemeClr val="accent5"/>
                </a:solidFill>
              </a:rPr>
              <a:t>mas descobrir a resposta</a:t>
            </a:r>
            <a:r>
              <a:rPr lang="pt-BR" dirty="0"/>
              <a:t> é </a:t>
            </a:r>
            <a:r>
              <a:rPr lang="pt-BR" b="1" dirty="0">
                <a:solidFill>
                  <a:schemeClr val="accent2"/>
                </a:solidFill>
              </a:rPr>
              <a:t>extremamente difícil</a:t>
            </a:r>
            <a:r>
              <a:rPr lang="pt-BR" dirty="0"/>
              <a:t>.</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Como a indução de árvores é um </a:t>
            </a:r>
            <a:r>
              <a:rPr lang="pt-BR" b="1" dirty="0">
                <a:solidFill>
                  <a:schemeClr val="accent5"/>
                </a:solidFill>
              </a:rPr>
              <a:t>problema NP-completo</a:t>
            </a:r>
            <a:r>
              <a:rPr lang="pt-BR" dirty="0"/>
              <a:t>, em geral, usa-se </a:t>
            </a:r>
            <a:r>
              <a:rPr lang="pt-BR" b="1" dirty="0">
                <a:solidFill>
                  <a:schemeClr val="accent2"/>
                </a:solidFill>
              </a:rPr>
              <a:t>abordagens heurísticas </a:t>
            </a:r>
            <a:r>
              <a:rPr lang="pt-BR" dirty="0"/>
              <a:t>para induzir árvores de decisão.</a:t>
            </a:r>
          </a:p>
          <a:p>
            <a:pPr lvl="1">
              <a:buFont typeface="Wingdings" panose="05000000000000000000" pitchFamily="2" charset="2"/>
              <a:buChar char="§"/>
            </a:pPr>
            <a:r>
              <a:rPr lang="pt-BR" b="1" dirty="0"/>
              <a:t>Heurística</a:t>
            </a:r>
            <a:r>
              <a:rPr lang="pt-BR" dirty="0"/>
              <a:t>: </a:t>
            </a:r>
            <a:r>
              <a:rPr lang="pt-BR" b="1" dirty="0">
                <a:solidFill>
                  <a:schemeClr val="accent2"/>
                </a:solidFill>
              </a:rPr>
              <a:t>regra prática</a:t>
            </a:r>
            <a:r>
              <a:rPr lang="pt-BR" dirty="0"/>
              <a:t> que guia a busca por boas soluções, mas </a:t>
            </a:r>
            <a:r>
              <a:rPr lang="pt-BR" b="1" dirty="0">
                <a:solidFill>
                  <a:schemeClr val="accent2"/>
                </a:solidFill>
              </a:rPr>
              <a:t>não garante a melhor solução</a:t>
            </a:r>
            <a:r>
              <a:rPr lang="pt-BR" dirty="0"/>
              <a:t> possível.</a:t>
            </a:r>
          </a:p>
          <a:p>
            <a:r>
              <a:rPr lang="pt-BR" dirty="0"/>
              <a:t>As </a:t>
            </a:r>
            <a:r>
              <a:rPr lang="pt-BR" b="1" dirty="0"/>
              <a:t>heurísticas</a:t>
            </a:r>
            <a:r>
              <a:rPr lang="pt-BR" dirty="0"/>
              <a:t> mais conhecidas são: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886450" y="1825624"/>
            <a:ext cx="6206490"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conhecidos é o </a:t>
            </a:r>
            <a:r>
              <a:rPr lang="pt-BR" b="1" dirty="0"/>
              <a:t>ID3 </a:t>
            </a:r>
            <a:r>
              <a:rPr lang="pt-BR" dirty="0"/>
              <a:t>(do inglês, </a:t>
            </a:r>
            <a:r>
              <a:rPr lang="pt-BR" b="1" i="1" dirty="0" err="1"/>
              <a:t>Iterative</a:t>
            </a:r>
            <a:r>
              <a:rPr lang="pt-BR" b="1" i="1" dirty="0"/>
              <a:t> </a:t>
            </a:r>
            <a:r>
              <a:rPr lang="pt-BR" b="1" i="1" dirty="0" err="1"/>
              <a:t>Dichotomiser</a:t>
            </a:r>
            <a:r>
              <a:rPr lang="pt-BR" b="1" dirty="0"/>
              <a:t> 3</a:t>
            </a:r>
            <a:r>
              <a:rPr lang="pt-BR" dirty="0"/>
              <a:t>).</a:t>
            </a:r>
          </a:p>
          <a:p>
            <a:r>
              <a:rPr lang="pt-BR" dirty="0"/>
              <a:t>Ele foi desenvolvido </a:t>
            </a:r>
            <a:r>
              <a:rPr lang="pt-BR" b="1" dirty="0">
                <a:solidFill>
                  <a:schemeClr val="accent5"/>
                </a:solidFill>
              </a:rPr>
              <a:t>especificamente para classificação</a:t>
            </a:r>
            <a:r>
              <a:rPr lang="pt-BR" dirty="0"/>
              <a:t>, não para regressão.</a:t>
            </a:r>
          </a:p>
          <a:p>
            <a:pPr lvl="1">
              <a:buFont typeface="Wingdings" panose="05000000000000000000" pitchFamily="2" charset="2"/>
              <a:buChar char="§"/>
            </a:pPr>
            <a:r>
              <a:rPr lang="pt-BR" dirty="0"/>
              <a:t>O CART suporta regressão e classificação.</a:t>
            </a:r>
          </a:p>
          <a:p>
            <a:r>
              <a:rPr lang="pt-BR" b="1" dirty="0">
                <a:solidFill>
                  <a:srgbClr val="00B050"/>
                </a:solidFill>
              </a:rPr>
              <a:t>Dicotomização iterativa</a:t>
            </a:r>
            <a:r>
              <a:rPr lang="pt-BR" b="1" dirty="0"/>
              <a:t> </a:t>
            </a:r>
            <a:r>
              <a:rPr lang="pt-BR" dirty="0"/>
              <a:t>significa </a:t>
            </a:r>
            <a:r>
              <a:rPr lang="pt-BR" b="1" dirty="0">
                <a:solidFill>
                  <a:schemeClr val="accent2"/>
                </a:solidFill>
              </a:rPr>
              <a:t>dividir-se sucessivamente o conjunto de dados.</a:t>
            </a:r>
          </a:p>
        </p:txBody>
      </p:sp>
      <p:pic>
        <p:nvPicPr>
          <p:cNvPr id="4" name="Imagem 3" descr="Classic Supervised Learning Methods - Introduction to Machine Learning">
            <a:extLst>
              <a:ext uri="{FF2B5EF4-FFF2-40B4-BE49-F238E27FC236}">
                <a16:creationId xmlns:a16="http://schemas.microsoft.com/office/drawing/2014/main" xmlns="" id="{6B7119BD-9E21-67EF-6C72-BAA9B307F8D4}"/>
              </a:ext>
            </a:extLst>
          </p:cNvPr>
          <p:cNvPicPr>
            <a:picLocks noChangeAspect="1"/>
          </p:cNvPicPr>
          <p:nvPr/>
        </p:nvPicPr>
        <p:blipFill>
          <a:blip r:embed="rId3"/>
          <a:srcRect r="52749"/>
          <a:stretch>
            <a:fillRect/>
          </a:stretch>
        </p:blipFill>
        <p:spPr>
          <a:xfrm>
            <a:off x="661511" y="2104504"/>
            <a:ext cx="4790599" cy="4388371"/>
          </a:xfrm>
          <a:prstGeom prst="rect">
            <a:avLst/>
          </a:prstGeom>
        </p:spPr>
      </p:pic>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9660B1-B4FE-BB69-F610-8A22FEE87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3DEE0F8-DB4C-9E0E-E630-C9536966F31B}"/>
              </a:ext>
            </a:extLst>
          </p:cNvPr>
          <p:cNvSpPr>
            <a:spLocks noGrp="1"/>
          </p:cNvSpPr>
          <p:nvPr>
            <p:ph type="title"/>
          </p:nvPr>
        </p:nvSpPr>
        <p:spPr/>
        <p:txBody>
          <a:bodyPr/>
          <a:lstStyle/>
          <a:p>
            <a:r>
              <a:rPr lang="pt-BR" dirty="0"/>
              <a:t>O processo de indução de uma árvore de decisão</a:t>
            </a:r>
          </a:p>
        </p:txBody>
      </p:sp>
      <p:sp>
        <p:nvSpPr>
          <p:cNvPr id="3" name="Content Placeholder 2">
            <a:extLst>
              <a:ext uri="{FF2B5EF4-FFF2-40B4-BE49-F238E27FC236}">
                <a16:creationId xmlns:a16="http://schemas.microsoft.com/office/drawing/2014/main" xmlns="" id="{16E0645F-F9FB-6D44-0DE6-2A1B273743D7}"/>
              </a:ext>
            </a:extLst>
          </p:cNvPr>
          <p:cNvSpPr>
            <a:spLocks noGrp="1"/>
          </p:cNvSpPr>
          <p:nvPr>
            <p:ph idx="1"/>
          </p:nvPr>
        </p:nvSpPr>
        <p:spPr>
          <a:xfrm>
            <a:off x="5572664" y="1825624"/>
            <a:ext cx="6477228" cy="5032376"/>
          </a:xfrm>
        </p:spPr>
        <p:txBody>
          <a:bodyPr>
            <a:normAutofit/>
          </a:bodyPr>
          <a:lstStyle/>
          <a:p>
            <a:r>
              <a:rPr lang="pt-BR" dirty="0"/>
              <a:t>O método constrói a árvore </a:t>
            </a:r>
            <a:r>
              <a:rPr lang="pt-BR" b="1" dirty="0">
                <a:solidFill>
                  <a:srgbClr val="00B050"/>
                </a:solidFill>
              </a:rPr>
              <a:t>iterativamente</a:t>
            </a:r>
            <a:r>
              <a:rPr lang="pt-BR" dirty="0"/>
              <a:t>:</a:t>
            </a:r>
          </a:p>
          <a:p>
            <a:pPr lvl="1">
              <a:buFont typeface="Wingdings" panose="05000000000000000000" pitchFamily="2" charset="2"/>
              <a:buChar char="§"/>
            </a:pPr>
            <a:r>
              <a:rPr lang="pt-BR" dirty="0"/>
              <a:t>escolhe um atributo que </a:t>
            </a:r>
            <a:r>
              <a:rPr lang="pt-BR" b="1" dirty="0">
                <a:solidFill>
                  <a:srgbClr val="7030A0"/>
                </a:solidFill>
              </a:rPr>
              <a:t>melhor separa os dados</a:t>
            </a:r>
            <a:r>
              <a:rPr lang="pt-BR" dirty="0"/>
              <a:t> </a:t>
            </a:r>
          </a:p>
          <a:p>
            <a:pPr lvl="1">
              <a:buFont typeface="Wingdings" panose="05000000000000000000" pitchFamily="2" charset="2"/>
              <a:buChar char="§"/>
            </a:pPr>
            <a:r>
              <a:rPr lang="pt-BR" dirty="0"/>
              <a:t>divide os dados</a:t>
            </a:r>
          </a:p>
          <a:p>
            <a:pPr lvl="1">
              <a:buFont typeface="Wingdings" panose="05000000000000000000" pitchFamily="2" charset="2"/>
              <a:buChar char="§"/>
            </a:pPr>
            <a:r>
              <a:rPr lang="pt-BR" dirty="0"/>
              <a:t>repete o processo nos subconjuntos.</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chemeClr val="accent2"/>
                </a:solidFill>
              </a:rPr>
              <a:t>árvores apropriadas</a:t>
            </a:r>
            <a:r>
              <a:rPr lang="pt-BR" b="1" dirty="0">
                <a:solidFill>
                  <a:srgbClr val="0070C0"/>
                </a:solidFill>
              </a:rPr>
              <a:t> num intervalo de tempo relativamente curto</a:t>
            </a:r>
            <a:r>
              <a:rPr lang="pt-BR" dirty="0"/>
              <a:t>.</a:t>
            </a:r>
          </a:p>
        </p:txBody>
      </p:sp>
      <p:pic>
        <p:nvPicPr>
          <p:cNvPr id="4" name="Imagem 3" descr="Classic Supervised Learning Methods - Introduction to Machine Learning">
            <a:extLst>
              <a:ext uri="{FF2B5EF4-FFF2-40B4-BE49-F238E27FC236}">
                <a16:creationId xmlns:a16="http://schemas.microsoft.com/office/drawing/2014/main" xmlns="" id="{D266BF97-6580-D600-6185-71A4982D15C3}"/>
              </a:ext>
            </a:extLst>
          </p:cNvPr>
          <p:cNvPicPr>
            <a:picLocks noChangeAspect="1"/>
          </p:cNvPicPr>
          <p:nvPr/>
        </p:nvPicPr>
        <p:blipFill>
          <a:blip r:embed="rId3"/>
          <a:srcRect r="52749"/>
          <a:stretch>
            <a:fillRect/>
          </a:stretch>
        </p:blipFill>
        <p:spPr>
          <a:xfrm>
            <a:off x="627221" y="2104504"/>
            <a:ext cx="4790599" cy="4388371"/>
          </a:xfrm>
          <a:prstGeom prst="rect">
            <a:avLst/>
          </a:prstGeom>
        </p:spPr>
      </p:pic>
    </p:spTree>
    <p:extLst>
      <p:ext uri="{BB962C8B-B14F-4D97-AF65-F5344CB8AC3E}">
        <p14:creationId xmlns:p14="http://schemas.microsoft.com/office/powerpoint/2010/main" val="3366286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O ID3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a:t>
            </a:r>
            <a:r>
              <a:rPr lang="pt-BR" b="1" dirty="0">
                <a:solidFill>
                  <a:schemeClr val="accent2"/>
                </a:solidFill>
              </a:rPr>
              <a:t>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a:t>
            </a:r>
            <a:r>
              <a:rPr lang="pt-BR" b="1" dirty="0">
                <a:solidFill>
                  <a:srgbClr val="7030A0"/>
                </a:solidFill>
              </a:rPr>
              <a:t>não reconsidera</a:t>
            </a:r>
            <a:r>
              <a:rPr lang="pt-BR" dirty="0"/>
              <a:t> decisões </a:t>
            </a:r>
            <a:r>
              <a:rPr lang="pt-BR" b="1" dirty="0">
                <a:solidFill>
                  <a:srgbClr val="7030A0"/>
                </a:solidFill>
              </a:rPr>
              <a:t>anteriores</a:t>
            </a:r>
            <a:r>
              <a:rPr lang="pt-BR" dirty="0"/>
              <a:t> e não testa </a:t>
            </a:r>
            <a:r>
              <a:rPr lang="pt-BR" b="1" dirty="0">
                <a:solidFill>
                  <a:srgbClr val="7030A0"/>
                </a:solidFill>
              </a:rPr>
              <a:t>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do nó raiz e vai descendo.</a:t>
            </a:r>
          </a:p>
          <a:p>
            <a:pPr lvl="1">
              <a:buFont typeface="Wingdings" panose="05000000000000000000" pitchFamily="2" charset="2"/>
              <a:buChar char="§"/>
            </a:pPr>
            <a:r>
              <a:rPr lang="pt-BR" dirty="0"/>
              <a:t>Ou seja, a árvore é </a:t>
            </a:r>
            <a:r>
              <a:rPr lang="pt-BR" b="1" dirty="0">
                <a:solidFill>
                  <a:schemeClr val="accent2"/>
                </a:solidFill>
              </a:rPr>
              <a:t>criada de cima para baixo</a:t>
            </a:r>
            <a:r>
              <a:rPr lang="pt-BR" dirty="0"/>
              <a:t> e um </a:t>
            </a:r>
            <a:r>
              <a:rPr lang="pt-BR" b="1" dirty="0">
                <a:solidFill>
                  <a:srgbClr val="00B050"/>
                </a:solidFill>
              </a:rPr>
              <a:t>nó é definido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naquela iteração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a:t>
            </a:r>
            <a:r>
              <a:rPr lang="pt-BR" b="1" dirty="0">
                <a:solidFill>
                  <a:srgbClr val="7030A0"/>
                </a:solidFill>
              </a:rPr>
              <a:t>qual é o melhor atributo</a:t>
            </a:r>
            <a:r>
              <a:rPr lang="pt-BR" dirty="0"/>
              <a:t>? </a:t>
            </a:r>
          </a:p>
          <a:p>
            <a:pPr lvl="1">
              <a:buFont typeface="Wingdings" panose="05000000000000000000" pitchFamily="2" charset="2"/>
              <a:buChar char="§"/>
            </a:pPr>
            <a:r>
              <a:rPr lang="pt-BR" dirty="0"/>
              <a:t>O ID3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t>
            </a:r>
            <a:r>
              <a:rPr lang="pt-BR" b="1" dirty="0">
                <a:solidFill>
                  <a:schemeClr val="accent5"/>
                </a:solidFill>
              </a:rPr>
              <a:t>a cada passo</a:t>
            </a:r>
            <a:r>
              <a:rPr lang="pt-BR" dirty="0"/>
              <a:t>, o </a:t>
            </a:r>
            <a:r>
              <a:rPr lang="pt-BR" b="1" dirty="0">
                <a:solidFill>
                  <a:srgbClr val="00B050"/>
                </a:solidFill>
              </a:rPr>
              <a:t>atributo que mais reduz a </a:t>
            </a:r>
            <a:r>
              <a:rPr lang="pt-BR" b="1" dirty="0">
                <a:solidFill>
                  <a:schemeClr val="accent5"/>
                </a:solidFill>
              </a:rPr>
              <a:t>incerteza</a:t>
            </a:r>
            <a:r>
              <a:rPr lang="pt-BR" b="1" dirty="0">
                <a:solidFill>
                  <a:srgbClr val="00B050"/>
                </a:solidFill>
              </a:rPr>
              <a:t>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 nas classes corretas.</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No caso da classificação, um </a:t>
            </a:r>
            <a:r>
              <a:rPr lang="pt-BR" b="1" dirty="0">
                <a:solidFill>
                  <a:srgbClr val="00B050"/>
                </a:solidFill>
              </a:rPr>
              <a:t>atributo perfeito</a:t>
            </a:r>
            <a:r>
              <a:rPr lang="pt-BR" dirty="0">
                <a:solidFill>
                  <a:srgbClr val="00B050"/>
                </a:solidFill>
              </a:rPr>
              <a:t> </a:t>
            </a:r>
            <a:r>
              <a:rPr lang="pt-BR" dirty="0"/>
              <a:t>divide perfeitamente todos os exemplos em suas respectivas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para cada nó, </a:t>
            </a:r>
            <a:r>
              <a:rPr lang="pt-BR" b="1" dirty="0">
                <a:solidFill>
                  <a:schemeClr val="accent5"/>
                </a:solidFill>
              </a:rPr>
              <a:t>um atributo que retorne o maior ganho de informação</a:t>
            </a:r>
            <a:r>
              <a:rPr lang="pt-BR" dirty="0"/>
              <a:t>.</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a:t>
            </a:r>
          </a:p>
          <a:p>
            <a:pPr lvl="1">
              <a:buFont typeface="Wingdings" panose="05000000000000000000" pitchFamily="2" charset="2"/>
              <a:buChar char="§"/>
            </a:pPr>
            <a:r>
              <a:rPr lang="pt-BR" dirty="0"/>
              <a:t>No nosso caso, a </a:t>
            </a:r>
            <a:r>
              <a:rPr lang="pt-BR" b="1" dirty="0">
                <a:solidFill>
                  <a:srgbClr val="00B050"/>
                </a:solidFill>
              </a:rPr>
              <a:t>aleatoriedade </a:t>
            </a:r>
            <a:r>
              <a:rPr lang="pt-BR" dirty="0"/>
              <a:t>do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a:t>
            </a:r>
            <a:r>
              <a:rPr lang="pt-BR" b="1" dirty="0">
                <a:solidFill>
                  <a:srgbClr val="00B050"/>
                </a:solidFill>
              </a:rPr>
              <a:t>mede o quanto um atributo reduz a incerteza</a:t>
            </a:r>
            <a:r>
              <a:rPr lang="pt-BR" dirty="0"/>
              <a:t>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Portanto, o </a:t>
            </a:r>
            <a:r>
              <a:rPr lang="pt-BR" b="1" dirty="0">
                <a:solidFill>
                  <a:schemeClr val="accent5"/>
                </a:solidFill>
              </a:rPr>
              <a:t>ganho</a:t>
            </a:r>
            <a:r>
              <a:rPr lang="pt-BR" dirty="0"/>
              <a:t> mede o </a:t>
            </a:r>
            <a:r>
              <a:rPr lang="pt-BR" b="1" dirty="0">
                <a:solidFill>
                  <a:schemeClr val="accent5"/>
                </a:solidFill>
              </a:rPr>
              <a:t>quanto conseguimos explicar do conjunto</a:t>
            </a:r>
            <a:r>
              <a:rPr lang="pt-BR" dirty="0"/>
              <a:t> com um dado atributo.</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353800"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chemeClr val="accent5"/>
                    </a:solidFill>
                  </a:rPr>
                  <a:t>diferença</a:t>
                </a:r>
                <a:r>
                  <a:rPr lang="pt-BR" b="1" dirty="0">
                    <a:solidFill>
                      <a:srgbClr val="00B050"/>
                    </a:solidFill>
                  </a:rPr>
                  <a:t>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600" b="0" i="0" smtClean="0">
                          <a:latin typeface="Cambria Math" panose="02040503050406030204" pitchFamily="18" charset="0"/>
                        </a:rPr>
                        <m:t>Ganho</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de</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informa</m:t>
                      </m:r>
                      <m:r>
                        <a:rPr lang="pt-BR" sz="2600" b="0" i="0" smtClean="0">
                          <a:latin typeface="Cambria Math" panose="02040503050406030204" pitchFamily="18" charset="0"/>
                        </a:rPr>
                        <m:t>çã</m:t>
                      </m:r>
                      <m:r>
                        <m:rPr>
                          <m:sty m:val="p"/>
                        </m:rPr>
                        <a:rPr lang="pt-BR" sz="2600" b="0" i="0" smtClean="0">
                          <a:latin typeface="Cambria Math" panose="02040503050406030204" pitchFamily="18" charset="0"/>
                        </a:rPr>
                        <m:t>o</m:t>
                      </m:r>
                      <m:r>
                        <a:rPr lang="pt-BR" sz="2600" i="0">
                          <a:latin typeface="Cambria Math" panose="02040503050406030204" pitchFamily="18" charset="0"/>
                        </a:rPr>
                        <m:t>=</m:t>
                      </m:r>
                      <m:r>
                        <m:rPr>
                          <m:sty m:val="p"/>
                        </m:rPr>
                        <a:rPr lang="pt-BR" sz="2600" i="0">
                          <a:latin typeface="Cambria Math" panose="02040503050406030204" pitchFamily="18" charset="0"/>
                        </a:rPr>
                        <m:t>entropiaAntesDaDivis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i="0">
                          <a:latin typeface="Cambria Math" panose="02040503050406030204" pitchFamily="18" charset="0"/>
                        </a:rPr>
                        <m:t> −</m:t>
                      </m:r>
                      <m:r>
                        <m:rPr>
                          <m:sty m:val="p"/>
                        </m:rPr>
                        <a:rPr lang="pt-BR" sz="2600" i="0">
                          <a:latin typeface="Cambria Math" panose="02040503050406030204" pitchFamily="18" charset="0"/>
                        </a:rPr>
                        <m:t>entropiaAp</m:t>
                      </m:r>
                      <m:r>
                        <a:rPr lang="pt-BR" sz="2600" b="0" i="0" smtClean="0">
                          <a:latin typeface="Cambria Math" panose="02040503050406030204" pitchFamily="18" charset="0"/>
                        </a:rPr>
                        <m:t>ó</m:t>
                      </m:r>
                      <m:r>
                        <m:rPr>
                          <m:sty m:val="p"/>
                        </m:rPr>
                        <a:rPr lang="pt-BR" sz="2600" b="0" i="0" smtClean="0">
                          <a:latin typeface="Cambria Math" panose="02040503050406030204" pitchFamily="18" charset="0"/>
                        </a:rPr>
                        <m:t>sADivis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b="0" i="0" smtClean="0">
                          <a:latin typeface="Cambria Math" panose="02040503050406030204" pitchFamily="18" charset="0"/>
                        </a:rPr>
                        <m:t>.</m:t>
                      </m:r>
                    </m:oMath>
                  </m:oMathPara>
                </a14:m>
                <a:endParaRPr lang="pt-BR" sz="2300" dirty="0"/>
              </a:p>
              <a:p>
                <a:r>
                  <a:rPr lang="pt-BR" dirty="0"/>
                  <a:t>Ela </a:t>
                </a:r>
                <a:r>
                  <a:rPr lang="pt-BR" b="1" dirty="0" smtClean="0">
                    <a:solidFill>
                      <a:srgbClr val="7030A0"/>
                    </a:solidFill>
                  </a:rPr>
                  <a:t>mede o quanto a incerteza sobre </a:t>
                </a:r>
                <a14:m>
                  <m:oMath xmlns:m="http://schemas.openxmlformats.org/officeDocument/2006/math">
                    <m:r>
                      <a:rPr lang="pt-BR" b="1" i="1" smtClean="0">
                        <a:solidFill>
                          <a:srgbClr val="7030A0"/>
                        </a:solidFill>
                        <a:latin typeface="Cambria Math" panose="02040503050406030204" pitchFamily="18" charset="0"/>
                      </a:rPr>
                      <m:t>𝒚</m:t>
                    </m:r>
                  </m:oMath>
                </a14:m>
                <a:r>
                  <a:rPr lang="pt-BR" b="1" dirty="0">
                    <a:solidFill>
                      <a:srgbClr val="7030A0"/>
                    </a:solidFill>
                  </a:rPr>
                  <a:t> diminui após conhecermos </a:t>
                </a:r>
                <a14:m>
                  <m:oMath xmlns:m="http://schemas.openxmlformats.org/officeDocument/2006/math">
                    <m:r>
                      <a:rPr lang="pt-BR" b="1" i="1">
                        <a:solidFill>
                          <a:srgbClr val="7030A0"/>
                        </a:solidFill>
                        <a:latin typeface="Cambria Math" panose="02040503050406030204" pitchFamily="18" charset="0"/>
                      </a:rPr>
                      <m:t>𝒙</m:t>
                    </m:r>
                  </m:oMath>
                </a14:m>
                <a:endParaRPr lang="pt-BR" b="1" dirty="0">
                  <a:solidFill>
                    <a:srgbClr val="7030A0"/>
                  </a:solidFill>
                </a:endParaRPr>
              </a:p>
              <a:p>
                <a:pPr marL="0" indent="0">
                  <a:buNone/>
                </a:pPr>
                <a:r>
                  <a:rPr lang="pt-BR" sz="100" dirty="0"/>
                  <a:t>a</a:t>
                </a:r>
                <a:endParaRPr lang="pt-BR" sz="2000" dirty="0"/>
              </a:p>
              <a:p>
                <a:pPr marL="0" indent="0" algn="ctr">
                  <a:buNone/>
                </a:pPr>
                <a14:m>
                  <m:oMathPara xmlns:m="http://schemas.openxmlformats.org/officeDocument/2006/math">
                    <m:oMathParaPr>
                      <m:jc m:val="center"/>
                    </m:oMathParaPr>
                    <m:oMath xmlns:m="http://schemas.openxmlformats.org/officeDocument/2006/math">
                      <m:r>
                        <m:rPr>
                          <m:sty m:val="p"/>
                        </m:rPr>
                        <a:rPr lang="pt-BR" sz="2600">
                          <a:latin typeface="Cambria Math" panose="02040503050406030204" pitchFamily="18" charset="0"/>
                        </a:rPr>
                        <m:t>Ganho</m:t>
                      </m:r>
                      <m:r>
                        <a:rPr lang="pt-BR" sz="2600">
                          <a:latin typeface="Cambria Math" panose="02040503050406030204" pitchFamily="18" charset="0"/>
                        </a:rPr>
                        <m:t> </m:t>
                      </m:r>
                      <m:r>
                        <m:rPr>
                          <m:sty m:val="p"/>
                        </m:rPr>
                        <a:rPr lang="pt-BR" sz="2600">
                          <a:latin typeface="Cambria Math" panose="02040503050406030204" pitchFamily="18" charset="0"/>
                        </a:rPr>
                        <m:t>de</m:t>
                      </m:r>
                      <m:r>
                        <a:rPr lang="pt-BR" sz="2600">
                          <a:latin typeface="Cambria Math" panose="02040503050406030204" pitchFamily="18" charset="0"/>
                        </a:rPr>
                        <m:t> </m:t>
                      </m:r>
                      <m:r>
                        <m:rPr>
                          <m:sty m:val="p"/>
                        </m:rPr>
                        <a:rPr lang="pt-BR" sz="2600">
                          <a:latin typeface="Cambria Math" panose="02040503050406030204" pitchFamily="18" charset="0"/>
                        </a:rPr>
                        <m:t>informa</m:t>
                      </m:r>
                      <m:r>
                        <a:rPr lang="pt-BR" sz="2600">
                          <a:latin typeface="Cambria Math" panose="02040503050406030204" pitchFamily="18" charset="0"/>
                        </a:rPr>
                        <m:t>çã</m:t>
                      </m:r>
                      <m:r>
                        <m:rPr>
                          <m:sty m:val="p"/>
                        </m:rPr>
                        <a:rPr lang="pt-BR" sz="2600">
                          <a:latin typeface="Cambria Math" panose="02040503050406030204" pitchFamily="18" charset="0"/>
                        </a:rPr>
                        <m:t>o</m:t>
                      </m:r>
                      <m:r>
                        <a:rPr lang="pt-BR" sz="2600" b="0" i="0"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d>
                      <m:r>
                        <a:rPr lang="pt-BR" sz="2600" b="0" i="1"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e>
                          <m:r>
                            <a:rPr lang="pt-BR" sz="2600" b="0" i="1" smtClean="0">
                              <a:latin typeface="Cambria Math" panose="02040503050406030204" pitchFamily="18" charset="0"/>
                            </a:rPr>
                            <m:t>𝑥</m:t>
                          </m:r>
                        </m:e>
                      </m:d>
                      <m:r>
                        <a:rPr lang="pt-BR" sz="2600" b="0" i="1" smtClean="0">
                          <a:latin typeface="Cambria Math" panose="02040503050406030204" pitchFamily="18" charset="0"/>
                        </a:rPr>
                        <m:t>,</m:t>
                      </m:r>
                    </m:oMath>
                  </m:oMathPara>
                </a14:m>
                <a:endParaRPr lang="pt-BR" sz="600" dirty="0"/>
              </a:p>
              <a:p>
                <a:pPr marL="0" indent="0">
                  <a:buNone/>
                </a:pPr>
                <a:r>
                  <a:rPr lang="pt-BR" dirty="0"/>
                  <a:t>ou seja, o quanto </a:t>
                </a:r>
                <a:r>
                  <a:rPr lang="pt-BR" dirty="0" smtClean="0"/>
                  <a:t>o conhecimento </a:t>
                </a:r>
                <a:r>
                  <a:rPr lang="pt-BR" dirty="0"/>
                  <a:t>sobre </a:t>
                </a:r>
                <a14:m>
                  <m:oMath xmlns:m="http://schemas.openxmlformats.org/officeDocument/2006/math">
                    <m:r>
                      <a:rPr lang="pt-BR" b="0" i="1" smtClean="0">
                        <a:latin typeface="Cambria Math" panose="02040503050406030204" pitchFamily="18" charset="0"/>
                      </a:rPr>
                      <m:t>𝑥</m:t>
                    </m:r>
                  </m:oMath>
                </a14:m>
                <a:r>
                  <a:rPr lang="pt-BR" dirty="0"/>
                  <a:t> reduz a incerteza sobre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Vejamos alguns exemplos de como a entropia é calculada.</a:t>
                </a:r>
                <a:endParaRPr lang="pt-BR" sz="2300"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527156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a:t>
            </a:r>
            <a:r>
              <a:rPr lang="pt-BR" b="1" dirty="0">
                <a:solidFill>
                  <a:schemeClr val="accent2"/>
                </a:solidFill>
              </a:rPr>
              <a:t>não tem nenhuma incerteza</a:t>
            </a:r>
            <a:r>
              <a:rPr lang="pt-BR" dirty="0"/>
              <a:t> associada.</a:t>
            </a:r>
          </a:p>
          <a:p>
            <a:pPr lvl="1">
              <a:buFont typeface="Wingdings" panose="05000000000000000000" pitchFamily="2" charset="2"/>
              <a:buChar char="§"/>
            </a:pPr>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de um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4" name="Picture 2" descr="Id3 sales learning algorithm">
            <a:extLst>
              <a:ext uri="{FF2B5EF4-FFF2-40B4-BE49-F238E27FC236}">
                <a16:creationId xmlns:a16="http://schemas.microsoft.com/office/drawing/2014/main" xmlns="" id="{58B7FC57-3C42-0C3A-B525-89740BA830E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do rótulo) para </a:t>
                </a:r>
                <a:r>
                  <a:rPr lang="pt-BR" b="1" dirty="0">
                    <a:solidFill>
                      <a:srgbClr val="7030A0"/>
                    </a:solidFill>
                  </a:rPr>
                  <a:t>todo</a:t>
                </a:r>
                <a:r>
                  <a:rPr lang="pt-BR" dirty="0"/>
                  <a:t>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r>
                  <a:rPr lang="pt-BR" dirty="0"/>
                  <a:t>Assim,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e>
                    </m:d>
                  </m:oMath>
                </a14:m>
                <a:r>
                  <a:rPr lang="pt-BR" dirty="0"/>
                  <a:t> é a </a:t>
                </a:r>
                <a:r>
                  <a:rPr lang="pt-BR" b="1" dirty="0"/>
                  <a:t>entropia de uma </a:t>
                </a:r>
                <a:r>
                  <a:rPr lang="pt-BR" b="1" dirty="0">
                    <a:solidFill>
                      <a:schemeClr val="accent2"/>
                    </a:solidFill>
                  </a:rPr>
                  <a:t>variável booleana</a:t>
                </a:r>
                <a:r>
                  <a:rPr lang="pt-BR" b="1" dirty="0"/>
                  <a:t> que é positiva com probabilidade igual a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913"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00B050"/>
                    </a:solidFill>
                  </a:rPr>
                  <a:t>reduzir toda ou apenas parte</a:t>
                </a:r>
                <a:r>
                  <a:rPr lang="pt-BR" dirty="0"/>
                  <a:t> da </a:t>
                </a:r>
                <a:r>
                  <a:rPr lang="pt-BR" b="1" dirty="0">
                    <a:solidFill>
                      <a:srgbClr val="7030A0"/>
                    </a:solidFill>
                  </a:rPr>
                  <a:t>incerteza (entropia)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a:t>
                </a:r>
              </a:p>
              <a:p>
                <a:r>
                  <a:rPr lang="pt-BR" dirty="0"/>
                  <a:t>Nós podemos medir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Para o cálculo da </a:t>
                </a:r>
                <a:r>
                  <a:rPr lang="pt-BR" b="1" dirty="0">
                    <a:solidFill>
                      <a:schemeClr val="accent5"/>
                    </a:solidFill>
                  </a:rPr>
                  <a:t>entropia restante</a:t>
                </a:r>
                <a:r>
                  <a:rPr lang="pt-BR" dirty="0"/>
                  <a:t>, precisamos definir que:</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247"/>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Ela é a </a:t>
                </a:r>
                <a:r>
                  <a:rPr lang="pt-BR" b="1" dirty="0">
                    <a:solidFill>
                      <a:srgbClr val="7030A0"/>
                    </a:solidFill>
                  </a:rPr>
                  <a:t>entropia média </a:t>
                </a:r>
                <a:r>
                  <a:rPr lang="pt-BR" b="1" dirty="0" smtClean="0">
                    <a:solidFill>
                      <a:srgbClr val="7030A0"/>
                    </a:solidFill>
                  </a:rPr>
                  <a:t>ponderada da entropia de cada subconjunto </a:t>
                </a:r>
                <a:r>
                  <a:rPr lang="pt-BR" dirty="0" smtClean="0"/>
                  <a:t>após </a:t>
                </a:r>
                <a:r>
                  <a:rPr lang="pt-BR" dirty="0"/>
                  <a:t>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 </a:t>
                </a:r>
                <a:r>
                  <a:rPr lang="pt-BR" b="1" dirty="0" smtClean="0">
                    <a:solidFill>
                      <a:srgbClr val="00B050"/>
                    </a:solidFill>
                  </a:rPr>
                  <a:t>entropia </a:t>
                </a:r>
                <a:r>
                  <a:rPr lang="pt-BR" b="1" dirty="0">
                    <a:solidFill>
                      <a:srgbClr val="00B050"/>
                    </a:solidFill>
                  </a:rPr>
                  <a:t>restante</a:t>
                </a:r>
                <a:r>
                  <a:rPr lang="pt-BR" dirty="0" smtClean="0"/>
                  <a:t> </a:t>
                </a:r>
                <a:r>
                  <a:rPr lang="pt-BR" dirty="0"/>
                  <a:t>é a </a:t>
                </a:r>
                <a:r>
                  <a:rPr lang="pt-BR" b="1" dirty="0">
                    <a:solidFill>
                      <a:schemeClr val="accent2"/>
                    </a:solidFill>
                  </a:rPr>
                  <a:t>medida da incerteza que sobra depois do teste do atributo</a:t>
                </a:r>
                <a:r>
                  <a:rPr lang="pt-BR"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r="-155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9CA304D-3A5F-BC98-92FD-1AF062C0FE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28CD19FD-C1F3-9494-9F70-655700E20611}"/>
              </a:ext>
            </a:extLst>
          </p:cNvPr>
          <p:cNvSpPr>
            <a:spLocks noGrp="1"/>
          </p:cNvSpPr>
          <p:nvPr>
            <p:ph type="title"/>
          </p:nvPr>
        </p:nvSpPr>
        <p:spPr/>
        <p:txBody>
          <a:bodyPr/>
          <a:lstStyle/>
          <a:p>
            <a:r>
              <a:rPr lang="pt-BR" dirty="0"/>
              <a:t>Indução de uma árvore de decisão</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E1588FC6-7187-4B40-897E-EB587D85894B}"/>
                  </a:ext>
                </a:extLst>
              </p:cNvPr>
              <p:cNvSpPr>
                <a:spLocks noGrp="1"/>
              </p:cNvSpPr>
              <p:nvPr>
                <p:ph idx="1"/>
              </p:nvPr>
            </p:nvSpPr>
            <p:spPr>
              <a:xfrm>
                <a:off x="838200" y="1825624"/>
                <a:ext cx="11353800" cy="5032376"/>
              </a:xfrm>
            </p:spPr>
            <p:txBody>
              <a:bodyPr>
                <a:normAutofit/>
              </a:bodyPr>
              <a:lstStyle/>
              <a:p>
                <a:r>
                  <a:rPr lang="pt-BR" dirty="0" smtClean="0"/>
                  <a:t>Assim, 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00B050"/>
                    </a:solidFill>
                  </a:rPr>
                  <a:t>redução</a:t>
                </a:r>
                <a:r>
                  <a:rPr lang="pt-BR" b="1" dirty="0">
                    <a:solidFill>
                      <a:srgbClr val="7030A0"/>
                    </a:solidFill>
                  </a:rPr>
                  <a:t>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dirty="0"/>
                  <a:t>O menor valor de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oMath>
                </a14:m>
                <a:r>
                  <a:rPr lang="pt-BR" dirty="0"/>
                  <a:t> é 0, pois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7030A0"/>
                    </a:solidFill>
                  </a:rPr>
                  <a:t>explicar toda a incerteza do conjunto</a:t>
                </a:r>
                <a:r>
                  <a:rPr lang="pt-BR" dirty="0"/>
                  <a:t>.</a:t>
                </a:r>
              </a:p>
              <a:p>
                <a:r>
                  <a:rPr lang="pt-BR" dirty="0"/>
                  <a:t>Ou seja, </a:t>
                </a:r>
                <a:r>
                  <a:rPr lang="pt-BR" dirty="0" smtClean="0"/>
                  <a:t>se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r>
                      <a:rPr lang="pt-BR" b="0" i="0" smtClean="0">
                        <a:latin typeface="Cambria Math" panose="02040503050406030204" pitchFamily="18" charset="0"/>
                      </a:rPr>
                      <m:t>=0</m:t>
                    </m:r>
                  </m:oMath>
                </a14:m>
                <a:r>
                  <a:rPr lang="pt-BR" dirty="0" smtClean="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t>
                </a:r>
                <a:r>
                  <a:rPr lang="pt-BR" b="1" dirty="0">
                    <a:solidFill>
                      <a:srgbClr val="00B050"/>
                    </a:solidFill>
                  </a:rPr>
                  <a:t>responsável por toda a bagunça</a:t>
                </a:r>
                <a:r>
                  <a:rPr lang="pt-BR" dirty="0"/>
                  <a:t> do conjunto de dados.</a:t>
                </a:r>
              </a:p>
            </p:txBody>
          </p:sp>
        </mc:Choice>
        <mc:Fallback>
          <p:sp>
            <p:nvSpPr>
              <p:cNvPr id="3" name="Content Placeholder 2">
                <a:extLst>
                  <a:ext uri="{FF2B5EF4-FFF2-40B4-BE49-F238E27FC236}">
                    <a16:creationId xmlns:a16="http://schemas.microsoft.com/office/drawing/2014/main" xmlns:a14="http://schemas.microsoft.com/office/drawing/2010/main" xmlns="" id="{E1588FC6-7187-4B40-897E-EB587D85894B}"/>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87107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6188242" cy="5032376"/>
              </a:xfrm>
            </p:spPr>
            <p:txBody>
              <a:bodyPr>
                <a:normAutofit/>
              </a:bodyPr>
              <a:lstStyle/>
              <a:p>
                <a:r>
                  <a:rPr lang="pt-BR" dirty="0"/>
                  <a:t>A ideia central do </a:t>
                </a:r>
                <a:r>
                  <a:rPr lang="pt-BR" b="1" dirty="0"/>
                  <a:t>método ID3 </a:t>
                </a:r>
                <a:r>
                  <a:rPr lang="pt-BR" dirty="0"/>
                  <a:t>é selecionar, </a:t>
                </a:r>
                <a:r>
                  <a:rPr lang="pt-BR" b="1" dirty="0">
                    <a:solidFill>
                      <a:srgbClr val="7030A0"/>
                    </a:solidFill>
                  </a:rPr>
                  <a:t>em cada etapa</a:t>
                </a:r>
                <a:r>
                  <a:rPr lang="pt-BR" dirty="0"/>
                  <a:t>,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a:t>
                </a:r>
              </a:p>
              <a:p>
                <a:r>
                  <a:rPr lang="pt-BR" dirty="0"/>
                  <a:t>Esse </a:t>
                </a:r>
                <a:r>
                  <a:rPr lang="pt-BR" b="1" dirty="0">
                    <a:solidFill>
                      <a:srgbClr val="7030A0"/>
                    </a:solidFill>
                  </a:rPr>
                  <a:t>atributo</a:t>
                </a:r>
                <a:r>
                  <a:rPr lang="pt-BR" dirty="0"/>
                  <a:t> é usado para </a:t>
                </a:r>
                <a:r>
                  <a:rPr lang="pt-BR" b="1" dirty="0">
                    <a:solidFill>
                      <a:srgbClr val="7030A0"/>
                    </a:solidFill>
                  </a:rPr>
                  <a:t>dividir o conjunto de treinamento</a:t>
                </a:r>
                <a:r>
                  <a:rPr lang="pt-BR" dirty="0"/>
                  <a:t> em </a:t>
                </a:r>
                <a:r>
                  <a:rPr lang="pt-BR" b="1" dirty="0">
                    <a:solidFill>
                      <a:srgbClr val="00B050"/>
                    </a:solidFill>
                  </a:rPr>
                  <a:t>subconjuntos</a:t>
                </a:r>
                <a:r>
                  <a:rPr lang="pt-BR" dirty="0"/>
                  <a:t>. </a:t>
                </a:r>
              </a:p>
              <a:p>
                <a:r>
                  <a:rPr lang="pt-BR" dirty="0"/>
                  <a:t>O processo é </a:t>
                </a:r>
                <a:r>
                  <a:rPr lang="pt-BR" b="1" dirty="0">
                    <a:solidFill>
                      <a:schemeClr val="accent5"/>
                    </a:solidFill>
                  </a:rPr>
                  <a:t>repetido recursivamente usando-se os demais atributos</a:t>
                </a:r>
                <a:r>
                  <a:rPr lang="pt-BR" dirty="0"/>
                  <a:t> até a construção completa da árvore de decisão.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6188242" cy="5032376"/>
              </a:xfrm>
              <a:blipFill>
                <a:blip r:embed="rId3"/>
                <a:stretch>
                  <a:fillRect l="-1773" t="-1937"/>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xmlns=""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a:t>
            </a:r>
          </a:p>
          <a:p>
            <a:pPr lvl="1">
              <a:buFont typeface="Wingdings" panose="05000000000000000000" pitchFamily="2" charset="2"/>
              <a:buChar char="§"/>
            </a:pPr>
            <a:r>
              <a:rPr lang="pt-BR" dirty="0"/>
              <a:t>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a:t>
            </a:r>
          </a:p>
          <a:p>
            <a:pPr lvl="1">
              <a:buFont typeface="Wingdings" panose="05000000000000000000" pitchFamily="2" charset="2"/>
              <a:buChar char="§"/>
            </a:pPr>
            <a:r>
              <a:rPr lang="pt-BR" dirty="0"/>
              <a:t>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xmlns=""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a:t>
            </a:r>
            <a:r>
              <a:rPr lang="pt-BR" dirty="0" err="1"/>
              <a:t>sobreajuste</a:t>
            </a:r>
            <a:r>
              <a:rPr lang="pt-BR" dirty="0"/>
              <a:t> </a:t>
            </a:r>
            <a:r>
              <a:rPr lang="pt-BR" dirty="0" smtClean="0"/>
              <a:t>(e.g., uma </a:t>
            </a:r>
            <a:r>
              <a:rPr lang="pt-BR" b="1" dirty="0" smtClean="0">
                <a:solidFill>
                  <a:srgbClr val="7030A0"/>
                </a:solidFill>
              </a:rPr>
              <a:t>árvore </a:t>
            </a:r>
            <a:r>
              <a:rPr lang="pt-BR" b="1" dirty="0">
                <a:solidFill>
                  <a:srgbClr val="7030A0"/>
                </a:solidFill>
              </a:rPr>
              <a:t>muito grande</a:t>
            </a:r>
            <a:r>
              <a:rPr lang="pt-BR" dirty="0"/>
              <a:t>), </a:t>
            </a:r>
            <a:r>
              <a:rPr lang="pt-BR" b="1" dirty="0">
                <a:solidFill>
                  <a:srgbClr val="00B050"/>
                </a:solidFill>
              </a:rPr>
              <a:t>árvores de decisão menores</a:t>
            </a:r>
            <a:r>
              <a:rPr lang="pt-BR" dirty="0"/>
              <a:t> </a:t>
            </a:r>
            <a:r>
              <a:rPr lang="pt-BR" b="1" dirty="0">
                <a:solidFill>
                  <a:srgbClr val="00B050"/>
                </a:solidFill>
              </a:rPr>
              <a:t>devem ser preferidas </a:t>
            </a:r>
            <a:r>
              <a:rPr lang="pt-BR" dirty="0"/>
              <a:t>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b="1" dirty="0">
                <a:solidFill>
                  <a:srgbClr val="00B050"/>
                </a:solidFill>
              </a:rPr>
              <a:t>Ideal para atributos categóricos</a:t>
            </a:r>
            <a:r>
              <a:rPr lang="pt-BR" dirty="0"/>
              <a:t>.</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Atributos contínuos </a:t>
            </a:r>
            <a:r>
              <a:rPr lang="pt-BR" b="1" dirty="0">
                <a:solidFill>
                  <a:srgbClr val="7030A0"/>
                </a:solidFill>
              </a:rPr>
              <a:t>aumentam significativamente o número de possíveis pontos de divisão</a:t>
            </a:r>
            <a:r>
              <a:rPr lang="pt-BR" dirty="0"/>
              <a:t> e a busca pelo melhor ponto de divisão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4" y="1690688"/>
            <a:ext cx="7198895" cy="5167312"/>
          </a:xfrm>
        </p:spPr>
        <p:txBody>
          <a:bodyPr>
            <a:normAutofit/>
          </a:bodyPr>
          <a:lstStyle/>
          <a:p>
            <a:r>
              <a:rPr lang="pt-BR" dirty="0"/>
              <a:t>Outro ponto importante é que as árvores são, em geral, </a:t>
            </a:r>
            <a:r>
              <a:rPr lang="en-US" b="1" dirty="0" err="1">
                <a:solidFill>
                  <a:srgbClr val="7030A0"/>
                </a:solidFill>
              </a:rPr>
              <a:t>sensíveis</a:t>
            </a:r>
            <a:r>
              <a:rPr lang="en-US" b="1" dirty="0">
                <a:solidFill>
                  <a:srgbClr val="7030A0"/>
                </a:solidFill>
              </a:rPr>
              <a:t> a dados </a:t>
            </a:r>
            <a:r>
              <a:rPr lang="en-US" b="1" dirty="0" err="1">
                <a:solidFill>
                  <a:srgbClr val="7030A0"/>
                </a:solidFill>
              </a:rPr>
              <a:t>faltantes</a:t>
            </a:r>
            <a:r>
              <a:rPr lang="en-US" dirty="0"/>
              <a:t>.</a:t>
            </a:r>
            <a:endParaRPr lang="pt-BR" dirty="0"/>
          </a:p>
          <a:p>
            <a:r>
              <a:rPr lang="pt-BR" dirty="0"/>
              <a:t>Assim, se for o caso, deve-se buscar metodologias para se </a:t>
            </a:r>
            <a:r>
              <a:rPr lang="pt-BR" b="1" dirty="0">
                <a:solidFill>
                  <a:srgbClr val="00B050"/>
                </a:solidFill>
              </a:rPr>
              <a:t>lidar com atributos com valores faltantes</a:t>
            </a:r>
            <a:r>
              <a:rPr lang="pt-BR" dirty="0"/>
              <a:t>. </a:t>
            </a:r>
          </a:p>
          <a:p>
            <a:r>
              <a:rPr lang="pt-BR" dirty="0"/>
              <a:t>Existem várias soluções, como por exemplo:</a:t>
            </a:r>
          </a:p>
          <a:p>
            <a:pPr lvl="1">
              <a:buFont typeface="Wingdings" panose="05000000000000000000" pitchFamily="2" charset="2"/>
              <a:buChar char="§"/>
            </a:pPr>
            <a:r>
              <a:rPr lang="pt-BR" dirty="0"/>
              <a:t>Remover exemplos incompletos.</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solidFill>
                  <a:srgbClr val="7030A0"/>
                </a:solidFill>
              </a:rPr>
              <a:t>dois exemplos com os mesmos valores de atributos</a:t>
            </a:r>
            <a:r>
              <a:rPr lang="pt-BR" dirty="0"/>
              <a:t>,</a:t>
            </a:r>
            <a:r>
              <a:rPr lang="pt-BR" b="1" dirty="0"/>
              <a:t> </a:t>
            </a:r>
            <a:r>
              <a:rPr lang="pt-BR" b="1" dirty="0">
                <a:solidFill>
                  <a:schemeClr val="accent2"/>
                </a:solidFill>
              </a:rPr>
              <a:t>porém classes diferentes</a:t>
            </a:r>
            <a:r>
              <a:rPr lang="pt-BR" dirty="0"/>
              <a:t>, precisará ser reconsiderado, pois os atributos atuais podem </a:t>
            </a:r>
            <a:r>
              <a:rPr lang="pt-BR" b="1" dirty="0">
                <a:solidFill>
                  <a:schemeClr val="accent5"/>
                </a:solidFill>
              </a:rPr>
              <a:t>não ser suficientes para a classificação</a:t>
            </a:r>
            <a:r>
              <a:rPr lang="pt-BR" dirty="0"/>
              <a:t>, </a:t>
            </a:r>
            <a:r>
              <a:rPr lang="pt-BR" b="1" dirty="0" smtClean="0"/>
              <a:t>precisando, talvez, </a:t>
            </a:r>
            <a:r>
              <a:rPr lang="pt-BR" b="1" dirty="0"/>
              <a:t>de mais </a:t>
            </a:r>
            <a:r>
              <a:rPr lang="pt-BR" b="1" dirty="0" smtClean="0"/>
              <a:t>atributos ou ser removido</a:t>
            </a:r>
            <a:r>
              <a:rPr lang="pt-BR" dirty="0" smtClean="0"/>
              <a:t>.</a:t>
            </a:r>
            <a:endParaRPr lang="pt-BR" dirty="0"/>
          </a:p>
        </p:txBody>
      </p:sp>
      <p:pic>
        <p:nvPicPr>
          <p:cNvPr id="4" name="Picture 2" descr="Id3 sales learning algorithm">
            <a:extLst>
              <a:ext uri="{FF2B5EF4-FFF2-40B4-BE49-F238E27FC236}">
                <a16:creationId xmlns:a16="http://schemas.microsoft.com/office/drawing/2014/main" xmlns=""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 problema muito comum das </a:t>
            </a:r>
            <a:r>
              <a:rPr lang="pt-BR" b="1" dirty="0"/>
              <a:t>árvores de decisão</a:t>
            </a:r>
            <a:r>
              <a:rPr lang="pt-BR" dirty="0"/>
              <a:t> é o </a:t>
            </a:r>
            <a:r>
              <a:rPr lang="pt-BR" b="1" dirty="0"/>
              <a:t>sobreajuste.</a:t>
            </a:r>
          </a:p>
          <a:p>
            <a:r>
              <a:rPr lang="pt-BR" dirty="0"/>
              <a:t>Que pode ocorrer quando se tem</a:t>
            </a:r>
          </a:p>
          <a:p>
            <a:pPr lvl="1">
              <a:buFont typeface="Wingdings" panose="05000000000000000000" pitchFamily="2" charset="2"/>
              <a:buChar char="§"/>
            </a:pPr>
            <a:r>
              <a:rPr lang="pt-BR" dirty="0"/>
              <a:t>um número muito grande de atributos,</a:t>
            </a:r>
          </a:p>
          <a:p>
            <a:pPr lvl="1">
              <a:buFont typeface="Wingdings" panose="05000000000000000000" pitchFamily="2" charset="2"/>
              <a:buChar char="§"/>
            </a:pPr>
            <a:r>
              <a:rPr lang="en-US" dirty="0" err="1"/>
              <a:t>poucos</a:t>
            </a:r>
            <a:r>
              <a:rPr lang="en-US" dirty="0"/>
              <a:t> dados,</a:t>
            </a:r>
          </a:p>
          <a:p>
            <a:pPr lvl="1">
              <a:buFont typeface="Wingdings" panose="05000000000000000000" pitchFamily="2" charset="2"/>
              <a:buChar char="§"/>
            </a:pPr>
            <a:r>
              <a:rPr lang="pt-BR" dirty="0"/>
              <a:t>árvores muito profundas,</a:t>
            </a:r>
          </a:p>
          <a:p>
            <a:pPr lvl="1">
              <a:buFont typeface="Wingdings" panose="05000000000000000000" pitchFamily="2" charset="2"/>
              <a:buChar char="§"/>
            </a:pPr>
            <a:r>
              <a:rPr lang="pt-BR" dirty="0"/>
              <a:t>e ruído nos dados</a:t>
            </a:r>
          </a:p>
          <a:p>
            <a:r>
              <a:rPr lang="pt-BR" dirty="0"/>
              <a:t>Algumas formas para se minimizar o problema:</a:t>
            </a:r>
          </a:p>
          <a:p>
            <a:pPr lvl="1">
              <a:buFont typeface="Wingdings" panose="05000000000000000000" pitchFamily="2" charset="2"/>
              <a:buChar char="§"/>
            </a:pPr>
            <a:r>
              <a:rPr lang="pt-BR" dirty="0"/>
              <a:t>Coletar mais dados</a:t>
            </a:r>
          </a:p>
          <a:p>
            <a:pPr lvl="1">
              <a:buFont typeface="Wingdings" panose="05000000000000000000" pitchFamily="2" charset="2"/>
              <a:buChar char="§"/>
            </a:pPr>
            <a:r>
              <a:rPr lang="pt-BR" dirty="0"/>
              <a:t>Limitar a profundidade da árvore</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 ao combinar várias árvores.</a:t>
            </a:r>
          </a:p>
        </p:txBody>
      </p:sp>
    </p:spTree>
    <p:extLst>
      <p:ext uri="{BB962C8B-B14F-4D97-AF65-F5344CB8AC3E}">
        <p14:creationId xmlns:p14="http://schemas.microsoft.com/office/powerpoint/2010/main" val="19781850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xmlns="" val="20000"/>
                    </a:ext>
                  </a:extLst>
                </a:gridCol>
                <a:gridCol w="786008">
                  <a:extLst>
                    <a:ext uri="{9D8B030D-6E8A-4147-A177-3AD203B41FA5}">
                      <a16:colId xmlns:a16="http://schemas.microsoft.com/office/drawing/2014/main" xmlns="" val="20001"/>
                    </a:ext>
                  </a:extLst>
                </a:gridCol>
                <a:gridCol w="894865">
                  <a:extLst>
                    <a:ext uri="{9D8B030D-6E8A-4147-A177-3AD203B41FA5}">
                      <a16:colId xmlns:a16="http://schemas.microsoft.com/office/drawing/2014/main" xmlns="" val="20002"/>
                    </a:ext>
                  </a:extLst>
                </a:gridCol>
                <a:gridCol w="677151">
                  <a:extLst>
                    <a:ext uri="{9D8B030D-6E8A-4147-A177-3AD203B41FA5}">
                      <a16:colId xmlns:a16="http://schemas.microsoft.com/office/drawing/2014/main" xmlns="" val="20003"/>
                    </a:ext>
                  </a:extLst>
                </a:gridCol>
                <a:gridCol w="786008">
                  <a:extLst>
                    <a:ext uri="{9D8B030D-6E8A-4147-A177-3AD203B41FA5}">
                      <a16:colId xmlns:a16="http://schemas.microsoft.com/office/drawing/2014/main" xmlns="" val="20004"/>
                    </a:ext>
                  </a:extLst>
                </a:gridCol>
                <a:gridCol w="786008">
                  <a:extLst>
                    <a:ext uri="{9D8B030D-6E8A-4147-A177-3AD203B41FA5}">
                      <a16:colId xmlns:a16="http://schemas.microsoft.com/office/drawing/2014/main" xmlns=""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15"/>
                  </a:ext>
                </a:extLst>
              </a:tr>
            </a:tbl>
          </a:graphicData>
        </a:graphic>
      </p:graphicFrame>
      <p:sp>
        <p:nvSpPr>
          <p:cNvPr id="6" name="CaixaDeTexto 5">
            <a:extLst>
              <a:ext uri="{FF2B5EF4-FFF2-40B4-BE49-F238E27FC236}">
                <a16:creationId xmlns:a16="http://schemas.microsoft.com/office/drawing/2014/main" xmlns=""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xmlns="" val="20000"/>
                    </a:ext>
                  </a:extLst>
                </a:gridCol>
                <a:gridCol w="684266">
                  <a:extLst>
                    <a:ext uri="{9D8B030D-6E8A-4147-A177-3AD203B41FA5}">
                      <a16:colId xmlns:a16="http://schemas.microsoft.com/office/drawing/2014/main" xmlns="" val="20001"/>
                    </a:ext>
                  </a:extLst>
                </a:gridCol>
                <a:gridCol w="293254">
                  <a:extLst>
                    <a:ext uri="{9D8B030D-6E8A-4147-A177-3AD203B41FA5}">
                      <a16:colId xmlns:a16="http://schemas.microsoft.com/office/drawing/2014/main" xmlns="" val="20002"/>
                    </a:ext>
                  </a:extLst>
                </a:gridCol>
                <a:gridCol w="293254">
                  <a:extLst>
                    <a:ext uri="{9D8B030D-6E8A-4147-A177-3AD203B41FA5}">
                      <a16:colId xmlns:a16="http://schemas.microsoft.com/office/drawing/2014/main" xmlns="" val="20003"/>
                    </a:ext>
                  </a:extLst>
                </a:gridCol>
                <a:gridCol w="470222">
                  <a:extLst>
                    <a:ext uri="{9D8B030D-6E8A-4147-A177-3AD203B41FA5}">
                      <a16:colId xmlns:a16="http://schemas.microsoft.com/office/drawing/2014/main" xmlns=""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xmlns="" val="20000"/>
                    </a:ext>
                  </a:extLst>
                </a:gridCol>
                <a:gridCol w="697339">
                  <a:extLst>
                    <a:ext uri="{9D8B030D-6E8A-4147-A177-3AD203B41FA5}">
                      <a16:colId xmlns:a16="http://schemas.microsoft.com/office/drawing/2014/main" xmlns="" val="20001"/>
                    </a:ext>
                  </a:extLst>
                </a:gridCol>
                <a:gridCol w="298859">
                  <a:extLst>
                    <a:ext uri="{9D8B030D-6E8A-4147-A177-3AD203B41FA5}">
                      <a16:colId xmlns:a16="http://schemas.microsoft.com/office/drawing/2014/main" xmlns="" val="20002"/>
                    </a:ext>
                  </a:extLst>
                </a:gridCol>
                <a:gridCol w="298859">
                  <a:extLst>
                    <a:ext uri="{9D8B030D-6E8A-4147-A177-3AD203B41FA5}">
                      <a16:colId xmlns:a16="http://schemas.microsoft.com/office/drawing/2014/main" xmlns="" val="20003"/>
                    </a:ext>
                  </a:extLst>
                </a:gridCol>
                <a:gridCol w="298859">
                  <a:extLst>
                    <a:ext uri="{9D8B030D-6E8A-4147-A177-3AD203B41FA5}">
                      <a16:colId xmlns:a16="http://schemas.microsoft.com/office/drawing/2014/main" xmlns=""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xmlns="" val="20000"/>
                    </a:ext>
                  </a:extLst>
                </a:gridCol>
                <a:gridCol w="621695">
                  <a:extLst>
                    <a:ext uri="{9D8B030D-6E8A-4147-A177-3AD203B41FA5}">
                      <a16:colId xmlns:a16="http://schemas.microsoft.com/office/drawing/2014/main" xmlns="" val="20001"/>
                    </a:ext>
                  </a:extLst>
                </a:gridCol>
                <a:gridCol w="266441">
                  <a:extLst>
                    <a:ext uri="{9D8B030D-6E8A-4147-A177-3AD203B41FA5}">
                      <a16:colId xmlns:a16="http://schemas.microsoft.com/office/drawing/2014/main" xmlns="" val="20002"/>
                    </a:ext>
                  </a:extLst>
                </a:gridCol>
                <a:gridCol w="266441">
                  <a:extLst>
                    <a:ext uri="{9D8B030D-6E8A-4147-A177-3AD203B41FA5}">
                      <a16:colId xmlns:a16="http://schemas.microsoft.com/office/drawing/2014/main" xmlns="" val="20003"/>
                    </a:ext>
                  </a:extLst>
                </a:gridCol>
                <a:gridCol w="266441">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xmlns="" val="20000"/>
                    </a:ext>
                  </a:extLst>
                </a:gridCol>
                <a:gridCol w="631367">
                  <a:extLst>
                    <a:ext uri="{9D8B030D-6E8A-4147-A177-3AD203B41FA5}">
                      <a16:colId xmlns:a16="http://schemas.microsoft.com/office/drawing/2014/main" xmlns="" val="20001"/>
                    </a:ext>
                  </a:extLst>
                </a:gridCol>
                <a:gridCol w="270586">
                  <a:extLst>
                    <a:ext uri="{9D8B030D-6E8A-4147-A177-3AD203B41FA5}">
                      <a16:colId xmlns:a16="http://schemas.microsoft.com/office/drawing/2014/main" xmlns="" val="20002"/>
                    </a:ext>
                  </a:extLst>
                </a:gridCol>
                <a:gridCol w="270586">
                  <a:extLst>
                    <a:ext uri="{9D8B030D-6E8A-4147-A177-3AD203B41FA5}">
                      <a16:colId xmlns:a16="http://schemas.microsoft.com/office/drawing/2014/main" xmlns="" val="20003"/>
                    </a:ext>
                  </a:extLst>
                </a:gridCol>
                <a:gridCol w="270586">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xmlns="" val="20000"/>
                    </a:ext>
                  </a:extLst>
                </a:gridCol>
                <a:gridCol w="1019175">
                  <a:extLst>
                    <a:ext uri="{9D8B030D-6E8A-4147-A177-3AD203B41FA5}">
                      <a16:colId xmlns:a16="http://schemas.microsoft.com/office/drawing/2014/main" xmlns="" val="20001"/>
                    </a:ext>
                  </a:extLst>
                </a:gridCol>
                <a:gridCol w="1019175">
                  <a:extLst>
                    <a:ext uri="{9D8B030D-6E8A-4147-A177-3AD203B41FA5}">
                      <a16:colId xmlns:a16="http://schemas.microsoft.com/office/drawing/2014/main" xmlns="" val="20002"/>
                    </a:ext>
                  </a:extLst>
                </a:gridCol>
                <a:gridCol w="1019175">
                  <a:extLst>
                    <a:ext uri="{9D8B030D-6E8A-4147-A177-3AD203B41FA5}">
                      <a16:colId xmlns:a16="http://schemas.microsoft.com/office/drawing/2014/main" xmlns="" val="20003"/>
                    </a:ext>
                  </a:extLst>
                </a:gridCol>
                <a:gridCol w="1019175">
                  <a:extLst>
                    <a:ext uri="{9D8B030D-6E8A-4147-A177-3AD203B41FA5}">
                      <a16:colId xmlns:a16="http://schemas.microsoft.com/office/drawing/2014/main" xmlns="" val="20004"/>
                    </a:ext>
                  </a:extLst>
                </a:gridCol>
                <a:gridCol w="1019175">
                  <a:extLst>
                    <a:ext uri="{9D8B030D-6E8A-4147-A177-3AD203B41FA5}">
                      <a16:colId xmlns:a16="http://schemas.microsoft.com/office/drawing/2014/main" xmlns=""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xmlns="" val="20000"/>
                    </a:ext>
                  </a:extLst>
                </a:gridCol>
                <a:gridCol w="678430">
                  <a:extLst>
                    <a:ext uri="{9D8B030D-6E8A-4147-A177-3AD203B41FA5}">
                      <a16:colId xmlns:a16="http://schemas.microsoft.com/office/drawing/2014/main" xmlns="" val="20001"/>
                    </a:ext>
                  </a:extLst>
                </a:gridCol>
                <a:gridCol w="290756">
                  <a:extLst>
                    <a:ext uri="{9D8B030D-6E8A-4147-A177-3AD203B41FA5}">
                      <a16:colId xmlns:a16="http://schemas.microsoft.com/office/drawing/2014/main" xmlns="" val="20002"/>
                    </a:ext>
                  </a:extLst>
                </a:gridCol>
                <a:gridCol w="290756">
                  <a:extLst>
                    <a:ext uri="{9D8B030D-6E8A-4147-A177-3AD203B41FA5}">
                      <a16:colId xmlns:a16="http://schemas.microsoft.com/office/drawing/2014/main" xmlns="" val="20003"/>
                    </a:ext>
                  </a:extLst>
                </a:gridCol>
                <a:gridCol w="290756">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xmlns="" val="20000"/>
                    </a:ext>
                  </a:extLst>
                </a:gridCol>
                <a:gridCol w="645270">
                  <a:extLst>
                    <a:ext uri="{9D8B030D-6E8A-4147-A177-3AD203B41FA5}">
                      <a16:colId xmlns:a16="http://schemas.microsoft.com/office/drawing/2014/main" xmlns="" val="20001"/>
                    </a:ext>
                  </a:extLst>
                </a:gridCol>
                <a:gridCol w="276544">
                  <a:extLst>
                    <a:ext uri="{9D8B030D-6E8A-4147-A177-3AD203B41FA5}">
                      <a16:colId xmlns:a16="http://schemas.microsoft.com/office/drawing/2014/main" xmlns="" val="20002"/>
                    </a:ext>
                  </a:extLst>
                </a:gridCol>
                <a:gridCol w="276544">
                  <a:extLst>
                    <a:ext uri="{9D8B030D-6E8A-4147-A177-3AD203B41FA5}">
                      <a16:colId xmlns:a16="http://schemas.microsoft.com/office/drawing/2014/main" xmlns="" val="20003"/>
                    </a:ext>
                  </a:extLst>
                </a:gridCol>
                <a:gridCol w="27654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xmlns="" val="20000"/>
                    </a:ext>
                  </a:extLst>
                </a:gridCol>
                <a:gridCol w="641513">
                  <a:extLst>
                    <a:ext uri="{9D8B030D-6E8A-4147-A177-3AD203B41FA5}">
                      <a16:colId xmlns:a16="http://schemas.microsoft.com/office/drawing/2014/main" xmlns="" val="20001"/>
                    </a:ext>
                  </a:extLst>
                </a:gridCol>
                <a:gridCol w="274934">
                  <a:extLst>
                    <a:ext uri="{9D8B030D-6E8A-4147-A177-3AD203B41FA5}">
                      <a16:colId xmlns:a16="http://schemas.microsoft.com/office/drawing/2014/main" xmlns="" val="20002"/>
                    </a:ext>
                  </a:extLst>
                </a:gridCol>
                <a:gridCol w="274934">
                  <a:extLst>
                    <a:ext uri="{9D8B030D-6E8A-4147-A177-3AD203B41FA5}">
                      <a16:colId xmlns:a16="http://schemas.microsoft.com/office/drawing/2014/main" xmlns="" val="20003"/>
                    </a:ext>
                  </a:extLst>
                </a:gridCol>
                <a:gridCol w="27493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xmlns="" val="20000"/>
                    </a:ext>
                  </a:extLst>
                </a:gridCol>
                <a:gridCol w="1010861">
                  <a:extLst>
                    <a:ext uri="{9D8B030D-6E8A-4147-A177-3AD203B41FA5}">
                      <a16:colId xmlns:a16="http://schemas.microsoft.com/office/drawing/2014/main" xmlns="" val="20001"/>
                    </a:ext>
                  </a:extLst>
                </a:gridCol>
                <a:gridCol w="1010861">
                  <a:extLst>
                    <a:ext uri="{9D8B030D-6E8A-4147-A177-3AD203B41FA5}">
                      <a16:colId xmlns:a16="http://schemas.microsoft.com/office/drawing/2014/main" xmlns="" val="20002"/>
                    </a:ext>
                  </a:extLst>
                </a:gridCol>
                <a:gridCol w="1010861">
                  <a:extLst>
                    <a:ext uri="{9D8B030D-6E8A-4147-A177-3AD203B41FA5}">
                      <a16:colId xmlns:a16="http://schemas.microsoft.com/office/drawing/2014/main" xmlns="" val="20003"/>
                    </a:ext>
                  </a:extLst>
                </a:gridCol>
                <a:gridCol w="1010861">
                  <a:extLst>
                    <a:ext uri="{9D8B030D-6E8A-4147-A177-3AD203B41FA5}">
                      <a16:colId xmlns:a16="http://schemas.microsoft.com/office/drawing/2014/main" xmlns="" val="20004"/>
                    </a:ext>
                  </a:extLst>
                </a:gridCol>
                <a:gridCol w="1010861">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xmlns="" val="20000"/>
                    </a:ext>
                  </a:extLst>
                </a:gridCol>
                <a:gridCol w="1020536">
                  <a:extLst>
                    <a:ext uri="{9D8B030D-6E8A-4147-A177-3AD203B41FA5}">
                      <a16:colId xmlns:a16="http://schemas.microsoft.com/office/drawing/2014/main" xmlns="" val="20001"/>
                    </a:ext>
                  </a:extLst>
                </a:gridCol>
                <a:gridCol w="1020536">
                  <a:extLst>
                    <a:ext uri="{9D8B030D-6E8A-4147-A177-3AD203B41FA5}">
                      <a16:colId xmlns:a16="http://schemas.microsoft.com/office/drawing/2014/main" xmlns="" val="20002"/>
                    </a:ext>
                  </a:extLst>
                </a:gridCol>
                <a:gridCol w="1020536">
                  <a:extLst>
                    <a:ext uri="{9D8B030D-6E8A-4147-A177-3AD203B41FA5}">
                      <a16:colId xmlns:a16="http://schemas.microsoft.com/office/drawing/2014/main" xmlns="" val="20003"/>
                    </a:ext>
                  </a:extLst>
                </a:gridCol>
                <a:gridCol w="1020536">
                  <a:extLst>
                    <a:ext uri="{9D8B030D-6E8A-4147-A177-3AD203B41FA5}">
                      <a16:colId xmlns:a16="http://schemas.microsoft.com/office/drawing/2014/main" xmlns="" val="20004"/>
                    </a:ext>
                  </a:extLst>
                </a:gridCol>
                <a:gridCol w="1020536">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xmlns="" val="20000"/>
                    </a:ext>
                  </a:extLst>
                </a:gridCol>
                <a:gridCol w="663560">
                  <a:extLst>
                    <a:ext uri="{9D8B030D-6E8A-4147-A177-3AD203B41FA5}">
                      <a16:colId xmlns:a16="http://schemas.microsoft.com/office/drawing/2014/main" xmlns="" val="20001"/>
                    </a:ext>
                  </a:extLst>
                </a:gridCol>
                <a:gridCol w="284383">
                  <a:extLst>
                    <a:ext uri="{9D8B030D-6E8A-4147-A177-3AD203B41FA5}">
                      <a16:colId xmlns:a16="http://schemas.microsoft.com/office/drawing/2014/main" xmlns="" val="20002"/>
                    </a:ext>
                  </a:extLst>
                </a:gridCol>
                <a:gridCol w="284383">
                  <a:extLst>
                    <a:ext uri="{9D8B030D-6E8A-4147-A177-3AD203B41FA5}">
                      <a16:colId xmlns:a16="http://schemas.microsoft.com/office/drawing/2014/main" xmlns="" val="20003"/>
                    </a:ext>
                  </a:extLst>
                </a:gridCol>
                <a:gridCol w="284383">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xmlns="" val="20000"/>
                    </a:ext>
                  </a:extLst>
                </a:gridCol>
                <a:gridCol w="647820">
                  <a:extLst>
                    <a:ext uri="{9D8B030D-6E8A-4147-A177-3AD203B41FA5}">
                      <a16:colId xmlns:a16="http://schemas.microsoft.com/office/drawing/2014/main" xmlns="" val="20001"/>
                    </a:ext>
                  </a:extLst>
                </a:gridCol>
                <a:gridCol w="277637">
                  <a:extLst>
                    <a:ext uri="{9D8B030D-6E8A-4147-A177-3AD203B41FA5}">
                      <a16:colId xmlns:a16="http://schemas.microsoft.com/office/drawing/2014/main" xmlns="" val="20002"/>
                    </a:ext>
                  </a:extLst>
                </a:gridCol>
                <a:gridCol w="277637">
                  <a:extLst>
                    <a:ext uri="{9D8B030D-6E8A-4147-A177-3AD203B41FA5}">
                      <a16:colId xmlns:a16="http://schemas.microsoft.com/office/drawing/2014/main" xmlns="" val="20003"/>
                    </a:ext>
                  </a:extLst>
                </a:gridCol>
                <a:gridCol w="277637">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xmlns="" val="20000"/>
                    </a:ext>
                  </a:extLst>
                </a:gridCol>
                <a:gridCol w="644002">
                  <a:extLst>
                    <a:ext uri="{9D8B030D-6E8A-4147-A177-3AD203B41FA5}">
                      <a16:colId xmlns:a16="http://schemas.microsoft.com/office/drawing/2014/main" xmlns="" val="20001"/>
                    </a:ext>
                  </a:extLst>
                </a:gridCol>
                <a:gridCol w="276001">
                  <a:extLst>
                    <a:ext uri="{9D8B030D-6E8A-4147-A177-3AD203B41FA5}">
                      <a16:colId xmlns:a16="http://schemas.microsoft.com/office/drawing/2014/main" xmlns="" val="20002"/>
                    </a:ext>
                  </a:extLst>
                </a:gridCol>
                <a:gridCol w="276001">
                  <a:extLst>
                    <a:ext uri="{9D8B030D-6E8A-4147-A177-3AD203B41FA5}">
                      <a16:colId xmlns:a16="http://schemas.microsoft.com/office/drawing/2014/main" xmlns="" val="20003"/>
                    </a:ext>
                  </a:extLst>
                </a:gridCol>
                <a:gridCol w="276001">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xmlns="" val="20000"/>
                    </a:ext>
                  </a:extLst>
                </a:gridCol>
                <a:gridCol w="1025374">
                  <a:extLst>
                    <a:ext uri="{9D8B030D-6E8A-4147-A177-3AD203B41FA5}">
                      <a16:colId xmlns:a16="http://schemas.microsoft.com/office/drawing/2014/main" xmlns="" val="20001"/>
                    </a:ext>
                  </a:extLst>
                </a:gridCol>
                <a:gridCol w="1025374">
                  <a:extLst>
                    <a:ext uri="{9D8B030D-6E8A-4147-A177-3AD203B41FA5}">
                      <a16:colId xmlns:a16="http://schemas.microsoft.com/office/drawing/2014/main" xmlns="" val="20002"/>
                    </a:ext>
                  </a:extLst>
                </a:gridCol>
                <a:gridCol w="1025374">
                  <a:extLst>
                    <a:ext uri="{9D8B030D-6E8A-4147-A177-3AD203B41FA5}">
                      <a16:colId xmlns:a16="http://schemas.microsoft.com/office/drawing/2014/main" xmlns="" val="20003"/>
                    </a:ext>
                  </a:extLst>
                </a:gridCol>
                <a:gridCol w="1025374">
                  <a:extLst>
                    <a:ext uri="{9D8B030D-6E8A-4147-A177-3AD203B41FA5}">
                      <a16:colId xmlns:a16="http://schemas.microsoft.com/office/drawing/2014/main" xmlns="" val="20004"/>
                    </a:ext>
                  </a:extLst>
                </a:gridCol>
                <a:gridCol w="1025374">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xmlns="" val="20000"/>
                    </a:ext>
                  </a:extLst>
                </a:gridCol>
                <a:gridCol w="1013883">
                  <a:extLst>
                    <a:ext uri="{9D8B030D-6E8A-4147-A177-3AD203B41FA5}">
                      <a16:colId xmlns:a16="http://schemas.microsoft.com/office/drawing/2014/main" xmlns="" val="20001"/>
                    </a:ext>
                  </a:extLst>
                </a:gridCol>
                <a:gridCol w="1013883">
                  <a:extLst>
                    <a:ext uri="{9D8B030D-6E8A-4147-A177-3AD203B41FA5}">
                      <a16:colId xmlns:a16="http://schemas.microsoft.com/office/drawing/2014/main" xmlns="" val="20002"/>
                    </a:ext>
                  </a:extLst>
                </a:gridCol>
                <a:gridCol w="1013883">
                  <a:extLst>
                    <a:ext uri="{9D8B030D-6E8A-4147-A177-3AD203B41FA5}">
                      <a16:colId xmlns:a16="http://schemas.microsoft.com/office/drawing/2014/main" xmlns="" val="20003"/>
                    </a:ext>
                  </a:extLst>
                </a:gridCol>
                <a:gridCol w="1013883">
                  <a:extLst>
                    <a:ext uri="{9D8B030D-6E8A-4147-A177-3AD203B41FA5}">
                      <a16:colId xmlns:a16="http://schemas.microsoft.com/office/drawing/2014/main" xmlns="" val="20004"/>
                    </a:ext>
                  </a:extLst>
                </a:gridCol>
                <a:gridCol w="1013883">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(sobreposição), </a:t>
            </a:r>
            <a:r>
              <a:rPr lang="pt-BR" b="1" dirty="0">
                <a:solidFill>
                  <a:srgbClr val="00B050"/>
                </a:solidFill>
              </a:rPr>
              <a:t>as árvores são suscetíveis a sobreajustar</a:t>
            </a:r>
            <a:r>
              <a:rPr lang="pt-BR" dirty="0"/>
              <a:t> ao conjunto de treinamento.</a:t>
            </a:r>
          </a:p>
          <a:p>
            <a:r>
              <a:rPr lang="pt-BR" dirty="0"/>
              <a:t>Para 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é que elas são</a:t>
            </a:r>
            <a:r>
              <a:rPr lang="pt-BR" b="1" dirty="0">
                <a:solidFill>
                  <a:srgbClr val="00B050"/>
                </a:solidFill>
              </a:rPr>
              <a:t> muito sensíveis a rotações nos dados de treinamento</a:t>
            </a:r>
            <a:r>
              <a:rPr lang="pt-BR" dirty="0"/>
              <a:t>. </a:t>
            </a:r>
            <a:endParaRPr lang="pt-BR" b="1" dirty="0"/>
          </a:p>
          <a:p>
            <a:r>
              <a:rPr lang="pt-BR" dirty="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a:t>Uma maneira para </a:t>
            </a:r>
            <a:r>
              <a:rPr lang="pt-BR" b="1" dirty="0">
                <a:solidFill>
                  <a:srgbClr val="FF0000"/>
                </a:solidFill>
              </a:rPr>
              <a:t>minimizar</a:t>
            </a:r>
            <a:r>
              <a:rPr lang="pt-BR" dirty="0"/>
              <a:t> esse problema da sensibilidade à rotação é usar </a:t>
            </a:r>
            <a:r>
              <a:rPr lang="pt-BR" b="1" dirty="0"/>
              <a:t>análise de componentes principais (PCA)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476309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a:t>As </a:t>
            </a:r>
            <a:r>
              <a:rPr lang="pt-BR" b="1" dirty="0"/>
              <a:t>florestas aleatórias </a:t>
            </a:r>
            <a:r>
              <a:rPr lang="pt-BR" dirty="0"/>
              <a:t>podem limitar essa instabilidade calculando a média ou voto majoritário das predições feitas por diversas </a:t>
            </a:r>
            <a:r>
              <a:rPr lang="pt-BR" b="1" dirty="0"/>
              <a:t>árvores</a:t>
            </a:r>
            <a:r>
              <a:rPr lang="pt-BR" dirty="0"/>
              <a:t>.</a:t>
            </a:r>
            <a:endParaRPr lang="pt-BR" b="1" dirty="0"/>
          </a:p>
        </p:txBody>
      </p:sp>
    </p:spTree>
    <p:extLst>
      <p:ext uri="{BB962C8B-B14F-4D97-AF65-F5344CB8AC3E}">
        <p14:creationId xmlns:p14="http://schemas.microsoft.com/office/powerpoint/2010/main" val="26774920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5394960" y="1825624"/>
            <a:ext cx="6690360" cy="5032375"/>
          </a:xfrm>
        </p:spPr>
        <p:txBody>
          <a:bodyPr>
            <a:normAutofit/>
          </a:bodyPr>
          <a:lstStyle/>
          <a:p>
            <a:r>
              <a:rPr lang="pt-BR" dirty="0"/>
              <a:t>Se não for restringida, a </a:t>
            </a:r>
            <a:r>
              <a:rPr lang="pt-BR" b="1" dirty="0"/>
              <a:t>árvore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durante seu treinamento.</a:t>
            </a:r>
          </a:p>
          <a:p>
            <a:pPr lvl="1">
              <a:buFont typeface="Wingdings" panose="05000000000000000000" pitchFamily="2" charset="2"/>
              <a:buChar char="§"/>
            </a:pPr>
            <a:r>
              <a:rPr lang="pt-BR" dirty="0"/>
              <a:t>Essa restrição é feita através de alguns </a:t>
            </a:r>
            <a:r>
              <a:rPr lang="pt-BR" dirty="0" err="1"/>
              <a:t>hiperparâmetros</a:t>
            </a:r>
            <a:r>
              <a:rPr lang="pt-BR" dirty="0"/>
              <a:t>.</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a:t>Regularização</a:t>
            </a:r>
          </a:p>
        </p:txBody>
      </p:sp>
    </p:spTree>
    <p:extLst>
      <p:ext uri="{BB962C8B-B14F-4D97-AF65-F5344CB8AC3E}">
        <p14:creationId xmlns:p14="http://schemas.microsoft.com/office/powerpoint/2010/main" val="35435197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xmlns=""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353800" cy="5032375"/>
          </a:xfrm>
        </p:spPr>
        <p:txBody>
          <a:bodyPr>
            <a:normAutofit/>
          </a:bodyPr>
          <a:lstStyle/>
          <a:p>
            <a:r>
              <a:rPr lang="pt-BR" dirty="0"/>
              <a:t>A regularização destas árvores pode ser controlada pelos hiperparâmetros: </a:t>
            </a:r>
          </a:p>
          <a:p>
            <a:pPr lvl="1">
              <a:buFont typeface="Wingdings" panose="05000000000000000000" pitchFamily="2" charset="2"/>
              <a:buChar char="§"/>
            </a:pPr>
            <a:r>
              <a:rPr lang="pt-BR" b="1" dirty="0" err="1"/>
              <a:t>max_depth</a:t>
            </a:r>
            <a:r>
              <a:rPr lang="pt-BR" dirty="0"/>
              <a:t>: profundidade máxima (i.e., número de níveis).</a:t>
            </a:r>
          </a:p>
          <a:p>
            <a:pPr lvl="1">
              <a:buFont typeface="Wingdings" panose="05000000000000000000" pitchFamily="2" charset="2"/>
              <a:buChar char="§"/>
            </a:pPr>
            <a:r>
              <a:rPr lang="pt-BR" b="1" dirty="0" err="1"/>
              <a:t>min_samples_split</a:t>
            </a:r>
            <a:r>
              <a:rPr lang="pt-BR" dirty="0"/>
              <a:t>: número mínimo de exemplos um nó deve ter para poder ser dividido.</a:t>
            </a:r>
          </a:p>
          <a:p>
            <a:pPr lvl="1">
              <a:buFont typeface="Wingdings" panose="05000000000000000000" pitchFamily="2" charset="2"/>
              <a:buChar char="§"/>
            </a:pPr>
            <a:r>
              <a:rPr lang="pt-BR" b="1" dirty="0" err="1"/>
              <a:t>min_samples_leaf</a:t>
            </a:r>
            <a:r>
              <a:rPr lang="pt-BR" dirty="0"/>
              <a:t>: número mínimo de exemplos que um nó folha deve ter.</a:t>
            </a:r>
          </a:p>
          <a:p>
            <a:pPr lvl="1">
              <a:buFont typeface="Wingdings" panose="05000000000000000000" pitchFamily="2" charset="2"/>
              <a:buChar char="§"/>
            </a:pPr>
            <a:r>
              <a:rPr lang="pt-BR" b="1" dirty="0" err="1"/>
              <a:t>max_leaf_nodes</a:t>
            </a:r>
            <a:r>
              <a:rPr lang="pt-BR" dirty="0"/>
              <a:t>: número máximo de nós folha.</a:t>
            </a:r>
          </a:p>
          <a:p>
            <a:pPr lvl="1">
              <a:buFont typeface="Wingdings" panose="05000000000000000000" pitchFamily="2" charset="2"/>
              <a:buChar char="§"/>
            </a:pPr>
            <a:r>
              <a:rPr lang="pt-BR" b="1" dirty="0" err="1"/>
              <a:t>max_features</a:t>
            </a:r>
            <a:r>
              <a:rPr lang="pt-BR" dirty="0"/>
              <a:t>: número máximo de atributos que são avaliados para criação de uma divisão (i.e., </a:t>
            </a:r>
            <a:r>
              <a:rPr lang="pt-BR" dirty="0" err="1"/>
              <a:t>split</a:t>
            </a:r>
            <a:r>
              <a:rPr lang="pt-BR" dirty="0"/>
              <a:t>).</a:t>
            </a:r>
          </a:p>
          <a:p>
            <a:r>
              <a:rPr lang="pt-BR" dirty="0"/>
              <a:t>Aumentar os </a:t>
            </a:r>
            <a:r>
              <a:rPr lang="pt-BR" dirty="0" err="1"/>
              <a:t>hiperparâmetros</a:t>
            </a:r>
            <a:r>
              <a:rPr lang="pt-BR" dirty="0"/>
              <a:t> </a:t>
            </a:r>
            <a:r>
              <a:rPr lang="pt-BR" b="1" dirty="0"/>
              <a:t>min_*</a:t>
            </a:r>
            <a:r>
              <a:rPr lang="pt-BR" dirty="0"/>
              <a:t> ou reduzir os </a:t>
            </a:r>
            <a:r>
              <a:rPr lang="pt-BR" dirty="0" err="1"/>
              <a:t>hiperparâmetros</a:t>
            </a:r>
            <a:r>
              <a:rPr lang="pt-BR" dirty="0"/>
              <a:t> </a:t>
            </a:r>
            <a:r>
              <a:rPr lang="pt-BR" b="1" dirty="0" err="1"/>
              <a:t>max</a:t>
            </a:r>
            <a:r>
              <a:rPr lang="pt-BR" b="1" dirty="0"/>
              <a:t>_*</a:t>
            </a:r>
            <a:r>
              <a:rPr lang="pt-BR" dirty="0"/>
              <a:t> regularizará o modelo.</a:t>
            </a:r>
          </a:p>
          <a:p>
            <a:r>
              <a:rPr lang="pt-BR" dirty="0"/>
              <a:t>Como encontramos os melhores valores para os </a:t>
            </a:r>
            <a:r>
              <a:rPr lang="pt-BR" dirty="0" err="1"/>
              <a:t>hiperparâmetros</a:t>
            </a:r>
            <a:r>
              <a:rPr lang="pt-BR" dirty="0"/>
              <a:t>?</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xmlns="" val="20000"/>
                    </a:ext>
                  </a:extLst>
                </a:gridCol>
                <a:gridCol w="4678680">
                  <a:extLst>
                    <a:ext uri="{9D8B030D-6E8A-4147-A177-3AD203B41FA5}">
                      <a16:colId xmlns:a16="http://schemas.microsoft.com/office/drawing/2014/main" xmlns="" val="20001"/>
                    </a:ext>
                  </a:extLst>
                </a:gridCol>
                <a:gridCol w="4846320">
                  <a:extLst>
                    <a:ext uri="{9D8B030D-6E8A-4147-A177-3AD203B41FA5}">
                      <a16:colId xmlns:a16="http://schemas.microsoft.com/office/drawing/2014/main" xmlns=""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a:t>
                      </a:r>
                      <a:r>
                        <a:rPr lang="pt-BR" sz="1900" b="0" dirty="0" err="1"/>
                        <a:t>Gini</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binária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xmlns="" val="20000"/>
                    </a:ext>
                  </a:extLst>
                </a:gridCol>
                <a:gridCol w="952500">
                  <a:extLst>
                    <a:ext uri="{9D8B030D-6E8A-4147-A177-3AD203B41FA5}">
                      <a16:colId xmlns:a16="http://schemas.microsoft.com/office/drawing/2014/main" xmlns="" val="20001"/>
                    </a:ext>
                  </a:extLst>
                </a:gridCol>
                <a:gridCol w="952500">
                  <a:extLst>
                    <a:ext uri="{9D8B030D-6E8A-4147-A177-3AD203B41FA5}">
                      <a16:colId xmlns:a16="http://schemas.microsoft.com/office/drawing/2014/main" xmlns=""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xmlns="" val="20000"/>
                    </a:ext>
                  </a:extLst>
                </a:gridCol>
                <a:gridCol w="209114">
                  <a:extLst>
                    <a:ext uri="{9D8B030D-6E8A-4147-A177-3AD203B41FA5}">
                      <a16:colId xmlns:a16="http://schemas.microsoft.com/office/drawing/2014/main" xmlns="" val="20001"/>
                    </a:ext>
                  </a:extLst>
                </a:gridCol>
                <a:gridCol w="298734">
                  <a:extLst>
                    <a:ext uri="{9D8B030D-6E8A-4147-A177-3AD203B41FA5}">
                      <a16:colId xmlns:a16="http://schemas.microsoft.com/office/drawing/2014/main" xmlns="" val="20002"/>
                    </a:ext>
                  </a:extLst>
                </a:gridCol>
                <a:gridCol w="268861">
                  <a:extLst>
                    <a:ext uri="{9D8B030D-6E8A-4147-A177-3AD203B41FA5}">
                      <a16:colId xmlns:a16="http://schemas.microsoft.com/office/drawing/2014/main" xmlns="" val="20003"/>
                    </a:ext>
                  </a:extLst>
                </a:gridCol>
                <a:gridCol w="298734">
                  <a:extLst>
                    <a:ext uri="{9D8B030D-6E8A-4147-A177-3AD203B41FA5}">
                      <a16:colId xmlns:a16="http://schemas.microsoft.com/office/drawing/2014/main" xmlns="" val="20004"/>
                    </a:ext>
                  </a:extLst>
                </a:gridCol>
                <a:gridCol w="25001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xmlns="" val="20000"/>
                    </a:ext>
                  </a:extLst>
                </a:gridCol>
                <a:gridCol w="213002">
                  <a:extLst>
                    <a:ext uri="{9D8B030D-6E8A-4147-A177-3AD203B41FA5}">
                      <a16:colId xmlns:a16="http://schemas.microsoft.com/office/drawing/2014/main" xmlns="" val="20001"/>
                    </a:ext>
                  </a:extLst>
                </a:gridCol>
                <a:gridCol w="304290">
                  <a:extLst>
                    <a:ext uri="{9D8B030D-6E8A-4147-A177-3AD203B41FA5}">
                      <a16:colId xmlns:a16="http://schemas.microsoft.com/office/drawing/2014/main" xmlns="" val="20002"/>
                    </a:ext>
                  </a:extLst>
                </a:gridCol>
                <a:gridCol w="273861">
                  <a:extLst>
                    <a:ext uri="{9D8B030D-6E8A-4147-A177-3AD203B41FA5}">
                      <a16:colId xmlns:a16="http://schemas.microsoft.com/office/drawing/2014/main" xmlns="" val="20003"/>
                    </a:ext>
                  </a:extLst>
                </a:gridCol>
                <a:gridCol w="304290">
                  <a:extLst>
                    <a:ext uri="{9D8B030D-6E8A-4147-A177-3AD203B41FA5}">
                      <a16:colId xmlns:a16="http://schemas.microsoft.com/office/drawing/2014/main" xmlns="" val="20004"/>
                    </a:ext>
                  </a:extLst>
                </a:gridCol>
                <a:gridCol w="25466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18480</TotalTime>
  <Words>11692</Words>
  <Application>Microsoft Office PowerPoint</Application>
  <PresentationFormat>Widescreen</PresentationFormat>
  <Paragraphs>1495</Paragraphs>
  <Slides>80</Slides>
  <Notes>52</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80</vt:i4>
      </vt:variant>
    </vt:vector>
  </HeadingPairs>
  <TitlesOfParts>
    <vt:vector size="89"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1387</cp:revision>
  <dcterms:created xsi:type="dcterms:W3CDTF">2020-04-06T23:46:10Z</dcterms:created>
  <dcterms:modified xsi:type="dcterms:W3CDTF">2026-05-25T21:57:46Z</dcterms:modified>
</cp:coreProperties>
</file>