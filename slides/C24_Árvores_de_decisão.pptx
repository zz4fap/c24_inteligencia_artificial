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83" r:id="rId17"/>
    <p:sldId id="342" r:id="rId18"/>
    <p:sldId id="343" r:id="rId19"/>
    <p:sldId id="344" r:id="rId20"/>
    <p:sldId id="345" r:id="rId21"/>
    <p:sldId id="346" r:id="rId22"/>
    <p:sldId id="348" r:id="rId23"/>
    <p:sldId id="349" r:id="rId24"/>
    <p:sldId id="350" r:id="rId25"/>
    <p:sldId id="358" r:id="rId26"/>
    <p:sldId id="351" r:id="rId27"/>
    <p:sldId id="352" r:id="rId28"/>
    <p:sldId id="353" r:id="rId29"/>
    <p:sldId id="354" r:id="rId30"/>
    <p:sldId id="356" r:id="rId31"/>
    <p:sldId id="357" r:id="rId32"/>
    <p:sldId id="359" r:id="rId33"/>
    <p:sldId id="361" r:id="rId34"/>
    <p:sldId id="362" r:id="rId35"/>
    <p:sldId id="363" r:id="rId36"/>
    <p:sldId id="301" r:id="rId37"/>
    <p:sldId id="318" r:id="rId38"/>
    <p:sldId id="369" r:id="rId39"/>
    <p:sldId id="319" r:id="rId40"/>
    <p:sldId id="364" r:id="rId41"/>
    <p:sldId id="367" r:id="rId42"/>
    <p:sldId id="368" r:id="rId43"/>
    <p:sldId id="277" r:id="rId44"/>
    <p:sldId id="283" r:id="rId45"/>
    <p:sldId id="284" r:id="rId46"/>
    <p:sldId id="285" r:id="rId47"/>
    <p:sldId id="291" r:id="rId48"/>
    <p:sldId id="292" r:id="rId49"/>
    <p:sldId id="296" r:id="rId50"/>
    <p:sldId id="321" r:id="rId51"/>
    <p:sldId id="322" r:id="rId52"/>
    <p:sldId id="371" r:id="rId53"/>
    <p:sldId id="374" r:id="rId54"/>
    <p:sldId id="375" r:id="rId55"/>
    <p:sldId id="377" r:id="rId56"/>
    <p:sldId id="456" r:id="rId57"/>
    <p:sldId id="457" r:id="rId58"/>
    <p:sldId id="378" r:id="rId59"/>
    <p:sldId id="306" r:id="rId60"/>
    <p:sldId id="265" r:id="rId61"/>
    <p:sldId id="347" r:id="rId62"/>
    <p:sldId id="328" r:id="rId63"/>
    <p:sldId id="329" r:id="rId64"/>
    <p:sldId id="355" r:id="rId65"/>
    <p:sldId id="330" r:id="rId66"/>
    <p:sldId id="271" r:id="rId67"/>
    <p:sldId id="279" r:id="rId68"/>
    <p:sldId id="293" r:id="rId69"/>
    <p:sldId id="289" r:id="rId70"/>
    <p:sldId id="290" r:id="rId71"/>
    <p:sldId id="294" r:id="rId72"/>
    <p:sldId id="295" r:id="rId73"/>
    <p:sldId id="307" r:id="rId7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72276" autoAdjust="0"/>
  </p:normalViewPr>
  <p:slideViewPr>
    <p:cSldViewPr snapToGrid="0">
      <p:cViewPr varScale="1">
        <p:scale>
          <a:sx n="80" d="100"/>
          <a:sy n="80" d="100"/>
        </p:scale>
        <p:origin x="174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02/04/2026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0259945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1212912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9694653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241648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12251991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22385871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28512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13640080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2697651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02/04/2026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02/04/2026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02/04/2026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02/04/2026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2032108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211692" cy="5032376"/>
              </a:xfrm>
            </p:spPr>
            <p:txBody>
              <a:bodyPr>
                <a:normAutofit/>
              </a:bodyPr>
              <a:lstStyle/>
              <a:p>
                <a:r>
                  <a:rPr lang="pt-BR" dirty="0"/>
                  <a:t>Encontrar uma árvore de decisão ótima é um problema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en-US" altLang="en-US" dirty="0"/>
              </a:p>
              <a:p>
                <a:r>
                  <a:rPr lang="en-US" altLang="en-US" dirty="0" err="1"/>
                  <a:t>Exemplos</a:t>
                </a:r>
                <a:r>
                  <a:rPr lang="en-US" altLang="en-US" dirty="0"/>
                  <a:t> </a:t>
                </a:r>
                <a:r>
                  <a:rPr lang="en-US" altLang="en-US" dirty="0" err="1"/>
                  <a:t>incluem</a:t>
                </a:r>
                <a:r>
                  <a:rPr lang="en-US" altLang="en-US" dirty="0"/>
                  <a:t> </a:t>
                </a:r>
                <a:r>
                  <a:rPr lang="en-US" altLang="en-US" dirty="0" err="1"/>
                  <a:t>problemas</a:t>
                </a:r>
                <a:r>
                  <a:rPr lang="en-US" altLang="en-US" dirty="0"/>
                  <a:t> </a:t>
                </a:r>
                <a:r>
                  <a:rPr lang="en-US" altLang="en-US" dirty="0" err="1"/>
                  <a:t>clássicos</a:t>
                </a:r>
                <a:r>
                  <a:rPr lang="en-US" altLang="en-US" dirty="0"/>
                  <a:t> </a:t>
                </a:r>
                <a:r>
                  <a:rPr lang="en-US" altLang="en-US" dirty="0" err="1"/>
                  <a:t>como</a:t>
                </a:r>
                <a:r>
                  <a:rPr lang="en-US" altLang="en-US" dirty="0"/>
                  <a:t> da </a:t>
                </a:r>
                <a:r>
                  <a:rPr lang="en-US" dirty="0" err="1"/>
                  <a:t>Satisfatibilidade</a:t>
                </a:r>
                <a:r>
                  <a:rPr lang="en-US" dirty="0"/>
                  <a:t> </a:t>
                </a:r>
                <a:r>
                  <a:rPr lang="en-US" dirty="0" err="1"/>
                  <a:t>Booleana</a:t>
                </a:r>
                <a:r>
                  <a:rPr lang="en-US" altLang="en-US" dirty="0"/>
                  <a:t>, </a:t>
                </a:r>
                <a:r>
                  <a:rPr lang="en-US" altLang="en-US" dirty="0" err="1"/>
                  <a:t>Caixeiro</a:t>
                </a:r>
                <a:r>
                  <a:rPr lang="en-US" altLang="en-US" dirty="0"/>
                  <a:t> </a:t>
                </a:r>
                <a:r>
                  <a:rPr lang="en-US" altLang="en-US" dirty="0" err="1"/>
                  <a:t>Viajante</a:t>
                </a:r>
                <a:r>
                  <a:rPr lang="en-US" altLang="en-US" dirty="0"/>
                  <a:t> e o </a:t>
                </a:r>
                <a:r>
                  <a:rPr lang="en-US" altLang="en-US" dirty="0" err="1"/>
                  <a:t>C</a:t>
                </a:r>
                <a:r>
                  <a:rPr lang="en-US" dirty="0" err="1"/>
                  <a:t>aminho</a:t>
                </a:r>
                <a:r>
                  <a:rPr lang="en-US" dirty="0"/>
                  <a:t> </a:t>
                </a:r>
                <a:r>
                  <a:rPr lang="en-US" dirty="0" err="1"/>
                  <a:t>Hamiltoniano</a:t>
                </a:r>
                <a:r>
                  <a:rPr lang="en-US" altLang="en-US"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1692" cy="5032376"/>
              </a:xfrm>
              <a:blipFill>
                <a:blip r:embed="rId3"/>
                <a:stretch>
                  <a:fillRect l="-979" t="-1937" r="-1359"/>
                </a:stretch>
              </a:blipFill>
            </p:spPr>
            <p:txBody>
              <a:bodyPr/>
              <a:lstStyle/>
              <a:p>
                <a:r>
                  <a:rPr lang="en-US">
                    <a:noFill/>
                  </a:rPr>
                  <a:t> </a:t>
                </a:r>
              </a:p>
            </p:txBody>
          </p:sp>
        </mc:Fallback>
      </mc:AlternateContent>
    </p:spTree>
    <p:extLst>
      <p:ext uri="{BB962C8B-B14F-4D97-AF65-F5344CB8AC3E}">
        <p14:creationId xmlns:p14="http://schemas.microsoft.com/office/powerpoint/2010/main" val="35861804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são problemas NP-completos, em geral, usa-se </a:t>
            </a:r>
            <a:r>
              <a:rPr lang="pt-BR" b="1" i="1" dirty="0"/>
              <a:t>abordagens heurísticas </a:t>
            </a:r>
            <a:r>
              <a:rPr lang="pt-BR" dirty="0"/>
              <a:t>para induzir árvores de decisão. </a:t>
            </a:r>
          </a:p>
          <a:p>
            <a:r>
              <a:rPr lang="pt-BR" dirty="0"/>
              <a:t>Dentre os mais conhecidos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i="1" dirty="0">
                <a:solidFill>
                  <a:srgbClr val="7030A0"/>
                </a:solidFill>
              </a:rPr>
              <a:t>heurísticos</a:t>
            </a:r>
            <a:r>
              <a:rPr lang="pt-BR" dirty="0"/>
              <a:t> de indução de árvores de decisão mais utilizados é o </a:t>
            </a:r>
            <a:r>
              <a:rPr lang="pt-BR" b="1" i="1" dirty="0"/>
              <a:t>ID3 </a:t>
            </a:r>
            <a:r>
              <a:rPr lang="pt-BR" dirty="0"/>
              <a:t>(do inglês, </a:t>
            </a:r>
            <a:r>
              <a:rPr lang="pt-BR" b="1" i="1" dirty="0" err="1"/>
              <a:t>Iterative</a:t>
            </a:r>
            <a:r>
              <a:rPr lang="pt-BR" b="1" i="1" dirty="0"/>
              <a:t> </a:t>
            </a:r>
            <a:r>
              <a:rPr lang="pt-BR" b="1" i="1" dirty="0" err="1"/>
              <a:t>Dichotomiser</a:t>
            </a:r>
            <a:r>
              <a:rPr lang="pt-BR" b="1" i="1" dirty="0"/>
              <a:t> 3</a:t>
            </a:r>
            <a:r>
              <a:rPr lang="pt-BR" dirty="0"/>
              <a:t>).</a:t>
            </a:r>
          </a:p>
          <a:p>
            <a:pPr lvl="1">
              <a:buFont typeface="Wingdings" panose="05000000000000000000" pitchFamily="2" charset="2"/>
              <a:buChar char="§"/>
            </a:pPr>
            <a:r>
              <a:rPr lang="pt-BR" b="1" i="1" dirty="0">
                <a:solidFill>
                  <a:srgbClr val="7030A0"/>
                </a:solidFill>
              </a:rPr>
              <a:t>Heurística: </a:t>
            </a:r>
            <a:r>
              <a:rPr lang="pt-BR" dirty="0"/>
              <a:t>estratégia prática para encontrar uma solução rápida e aproximada.</a:t>
            </a:r>
            <a:endParaRPr lang="pt-BR" b="1" i="1" dirty="0"/>
          </a:p>
          <a:p>
            <a:pPr lvl="1">
              <a:buFont typeface="Wingdings" panose="05000000000000000000" pitchFamily="2" charset="2"/>
              <a:buChar char="§"/>
            </a:pPr>
            <a:r>
              <a:rPr lang="pt-BR" b="1" i="1" dirty="0" err="1">
                <a:solidFill>
                  <a:srgbClr val="00B050"/>
                </a:solidFill>
              </a:rPr>
              <a:t>Dicotomização</a:t>
            </a:r>
            <a:r>
              <a:rPr lang="pt-BR" b="1" i="1" dirty="0">
                <a:solidFill>
                  <a:srgbClr val="00B050"/>
                </a:solidFill>
              </a:rPr>
              <a:t> iterativa</a:t>
            </a:r>
            <a:r>
              <a:rPr lang="pt-BR" b="1" i="1" dirty="0"/>
              <a:t> </a:t>
            </a:r>
            <a:r>
              <a:rPr lang="pt-BR" dirty="0"/>
              <a:t>significa </a:t>
            </a:r>
            <a:r>
              <a:rPr lang="pt-BR" b="1" i="1" dirty="0">
                <a:solidFill>
                  <a:schemeClr val="accent2"/>
                </a:solidFill>
              </a:rPr>
              <a:t>dividir-se repetidamente os atributos em duas ou mais classes</a:t>
            </a:r>
            <a:r>
              <a:rPr lang="pt-BR" dirty="0"/>
              <a:t> a cada iteração (ou passo).</a:t>
            </a:r>
          </a:p>
          <a:p>
            <a:r>
              <a:rPr lang="pt-BR" dirty="0"/>
              <a:t>O </a:t>
            </a:r>
            <a:r>
              <a:rPr lang="pt-BR" b="1" i="1" dirty="0"/>
              <a:t>método ID3</a:t>
            </a:r>
            <a:r>
              <a:rPr lang="pt-BR" dirty="0"/>
              <a:t> é uma abordagem que </a:t>
            </a:r>
            <a:r>
              <a:rPr lang="pt-BR" b="1" i="1" dirty="0">
                <a:solidFill>
                  <a:srgbClr val="0070C0"/>
                </a:solidFill>
              </a:rPr>
              <a:t>não garante</a:t>
            </a:r>
            <a:r>
              <a:rPr lang="pt-BR" b="1" i="1" dirty="0"/>
              <a:t> </a:t>
            </a:r>
            <a:r>
              <a:rPr lang="pt-BR" dirty="0"/>
              <a:t>a obtenção da </a:t>
            </a:r>
            <a:r>
              <a:rPr lang="pt-BR" b="1" i="1" dirty="0">
                <a:solidFill>
                  <a:srgbClr val="0070C0"/>
                </a:solidFill>
              </a:rPr>
              <a:t>menor árvore possível</a:t>
            </a:r>
            <a:r>
              <a:rPr lang="pt-BR" dirty="0"/>
              <a:t>, mas busca obter </a:t>
            </a:r>
            <a:r>
              <a:rPr lang="pt-BR" b="1" i="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9871108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i="1" dirty="0"/>
              <a:t>estratégia </a:t>
            </a:r>
            <a:r>
              <a:rPr lang="pt-BR" b="1" i="1" dirty="0">
                <a:solidFill>
                  <a:srgbClr val="7030A0"/>
                </a:solidFill>
              </a:rPr>
              <a:t>gananciosa</a:t>
            </a:r>
            <a:r>
              <a:rPr lang="pt-BR" b="1" i="1" dirty="0"/>
              <a:t> </a:t>
            </a:r>
            <a:r>
              <a:rPr lang="pt-BR" b="1" i="1" dirty="0">
                <a:solidFill>
                  <a:schemeClr val="accent2"/>
                </a:solidFill>
              </a:rPr>
              <a:t>top-</a:t>
            </a:r>
            <a:r>
              <a:rPr lang="pt-BR" b="1" i="1" dirty="0" err="1">
                <a:solidFill>
                  <a:schemeClr val="accent2"/>
                </a:solidFill>
              </a:rPr>
              <a:t>down</a:t>
            </a:r>
            <a:r>
              <a:rPr lang="pt-BR" b="1" i="1" dirty="0"/>
              <a:t>.</a:t>
            </a:r>
            <a:endParaRPr lang="pt-BR" dirty="0"/>
          </a:p>
          <a:p>
            <a:r>
              <a:rPr lang="pt-BR" dirty="0"/>
              <a:t>Ou seja, a árvore é </a:t>
            </a:r>
            <a:r>
              <a:rPr lang="pt-BR" b="1" i="1" dirty="0">
                <a:solidFill>
                  <a:schemeClr val="accent2"/>
                </a:solidFill>
              </a:rPr>
              <a:t>criada de cima para baixo</a:t>
            </a:r>
            <a:r>
              <a:rPr lang="pt-BR" dirty="0"/>
              <a:t> e um </a:t>
            </a:r>
            <a:r>
              <a:rPr lang="pt-BR" b="1" i="1" dirty="0">
                <a:solidFill>
                  <a:srgbClr val="00B050"/>
                </a:solidFill>
              </a:rPr>
              <a:t>nó é escolhido </a:t>
            </a:r>
            <a:r>
              <a:rPr lang="pt-BR" dirty="0"/>
              <a:t>selecionando-se o </a:t>
            </a:r>
            <a:r>
              <a:rPr lang="pt-BR" b="1" i="1" dirty="0">
                <a:solidFill>
                  <a:srgbClr val="00B050"/>
                </a:solidFill>
              </a:rPr>
              <a:t>atributo que melhor divide o conjunto de dados</a:t>
            </a:r>
            <a:r>
              <a:rPr lang="pt-BR" dirty="0"/>
              <a:t> </a:t>
            </a:r>
            <a:r>
              <a:rPr lang="pt-BR" b="1" i="1" dirty="0">
                <a:solidFill>
                  <a:srgbClr val="7030A0"/>
                </a:solidFill>
              </a:rPr>
              <a:t>naquele</a:t>
            </a:r>
            <a:r>
              <a:rPr lang="pt-BR" dirty="0"/>
              <a:t> </a:t>
            </a:r>
            <a:r>
              <a:rPr lang="pt-BR" b="1" i="1" dirty="0">
                <a:solidFill>
                  <a:srgbClr val="7030A0"/>
                </a:solidFill>
              </a:rPr>
              <a:t>momento</a:t>
            </a:r>
            <a:r>
              <a:rPr lang="pt-BR" dirty="0"/>
              <a:t>.</a:t>
            </a:r>
            <a:endParaRPr lang="pt-BR" b="1" i="1" dirty="0"/>
          </a:p>
          <a:p>
            <a:r>
              <a:rPr lang="pt-BR" dirty="0"/>
              <a:t>Mas como se decide qual é o melhor atributo? </a:t>
            </a:r>
          </a:p>
          <a:p>
            <a:r>
              <a:rPr lang="pt-BR" dirty="0"/>
              <a:t>Qual é a métrica usada?</a:t>
            </a:r>
          </a:p>
          <a:p>
            <a:r>
              <a:rPr lang="pt-BR" dirty="0"/>
              <a:t>O </a:t>
            </a:r>
            <a:r>
              <a:rPr lang="pt-BR" b="1" i="1" dirty="0"/>
              <a:t>método ID3</a:t>
            </a:r>
            <a:r>
              <a:rPr lang="pt-BR" dirty="0"/>
              <a:t> se baseia na </a:t>
            </a:r>
            <a:r>
              <a:rPr lang="pt-BR" b="1" i="1" dirty="0"/>
              <a:t>teoria da informação</a:t>
            </a:r>
            <a:r>
              <a:rPr lang="pt-BR" dirty="0"/>
              <a:t> para selecionar o melhor atributo de cada nó da árvore.</a:t>
            </a:r>
          </a:p>
        </p:txBody>
      </p:sp>
    </p:spTree>
    <p:extLst>
      <p:ext uri="{BB962C8B-B14F-4D97-AF65-F5344CB8AC3E}">
        <p14:creationId xmlns:p14="http://schemas.microsoft.com/office/powerpoint/2010/main" val="36828767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A ideia do </a:t>
            </a:r>
            <a:r>
              <a:rPr lang="pt-BR" b="1" i="1" dirty="0"/>
              <a:t>método ID3</a:t>
            </a:r>
            <a:r>
              <a:rPr lang="pt-BR" dirty="0"/>
              <a:t> é escolher como </a:t>
            </a:r>
            <a:r>
              <a:rPr lang="pt-BR" b="1" i="1" dirty="0"/>
              <a:t>nó</a:t>
            </a:r>
            <a:r>
              <a:rPr lang="pt-BR" dirty="0"/>
              <a:t> o </a:t>
            </a:r>
            <a:r>
              <a:rPr lang="pt-BR" b="1" i="1" dirty="0">
                <a:solidFill>
                  <a:schemeClr val="accent2"/>
                </a:solidFill>
              </a:rPr>
              <a:t>atributo que for o mais longe possível em dividir os exemplos</a:t>
            </a:r>
            <a:r>
              <a:rPr lang="pt-BR" dirty="0"/>
              <a:t>. </a:t>
            </a:r>
          </a:p>
          <a:p>
            <a:r>
              <a:rPr lang="pt-BR" dirty="0"/>
              <a:t>Um </a:t>
            </a:r>
            <a:r>
              <a:rPr lang="pt-BR" b="1" i="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i="1" dirty="0">
                <a:solidFill>
                  <a:srgbClr val="00B050"/>
                </a:solidFill>
              </a:rPr>
              <a:t>explicar perfeitamente o conjunto de dados</a:t>
            </a:r>
            <a:r>
              <a:rPr lang="pt-BR" dirty="0"/>
              <a:t>.</a:t>
            </a:r>
          </a:p>
          <a:p>
            <a:r>
              <a:rPr lang="pt-BR" dirty="0"/>
              <a:t>Por exemplo, o atributo </a:t>
            </a:r>
            <a:r>
              <a:rPr lang="pt-BR" b="1" dirty="0" err="1"/>
              <a:t>Windy</a:t>
            </a:r>
            <a:r>
              <a:rPr lang="pt-BR" dirty="0"/>
              <a:t> divido as exemplos perfeitamente em duas classes.</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727843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i="1" dirty="0">
                <a:solidFill>
                  <a:srgbClr val="00B050"/>
                </a:solidFill>
              </a:rPr>
              <a:t>atributo razoavelmente bom </a:t>
            </a:r>
            <a:r>
              <a:rPr lang="pt-BR" dirty="0"/>
              <a:t>ou </a:t>
            </a:r>
            <a:r>
              <a:rPr lang="pt-BR" b="1" i="1" dirty="0">
                <a:solidFill>
                  <a:srgbClr val="00B050"/>
                </a:solidFill>
              </a:rPr>
              <a:t>realmente inútil</a:t>
            </a:r>
            <a:r>
              <a:rPr lang="pt-BR" dirty="0"/>
              <a:t>.</a:t>
            </a:r>
          </a:p>
          <a:p>
            <a:r>
              <a:rPr lang="pt-BR" dirty="0"/>
              <a:t>O </a:t>
            </a:r>
            <a:r>
              <a:rPr lang="pt-BR" b="1" i="1" dirty="0"/>
              <a:t>método ID3</a:t>
            </a:r>
            <a:r>
              <a:rPr lang="pt-BR" dirty="0"/>
              <a:t> utiliza a noção de </a:t>
            </a:r>
            <a:r>
              <a:rPr lang="pt-BR" b="1" i="1" dirty="0">
                <a:solidFill>
                  <a:schemeClr val="accent2"/>
                </a:solidFill>
              </a:rPr>
              <a:t>ganho de informação</a:t>
            </a:r>
            <a:r>
              <a:rPr lang="pt-BR" dirty="0"/>
              <a:t>, o qual é </a:t>
            </a:r>
            <a:r>
              <a:rPr lang="pt-BR" b="1" i="1" dirty="0">
                <a:solidFill>
                  <a:srgbClr val="7030A0"/>
                </a:solidFill>
              </a:rPr>
              <a:t>definido em termos da entropia</a:t>
            </a:r>
            <a:r>
              <a:rPr lang="pt-BR" dirty="0"/>
              <a:t>, que é uma quantidade fundamental em </a:t>
            </a:r>
            <a:r>
              <a:rPr lang="pt-BR" b="1" i="1" dirty="0"/>
              <a:t>teoria da informação</a:t>
            </a:r>
            <a:r>
              <a:rPr lang="pt-BR" dirty="0"/>
              <a:t>.</a:t>
            </a:r>
          </a:p>
          <a:p>
            <a:r>
              <a:rPr lang="pt-BR" dirty="0"/>
              <a:t>A seguir, veremos alguns conceitos úteis para que possamos usar o </a:t>
            </a:r>
            <a:r>
              <a:rPr lang="pt-BR" b="1" i="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5188538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a:t>
            </a:r>
            <a:r>
              <a:rPr lang="pt-BR" b="1" i="1" dirty="0">
                <a:solidFill>
                  <a:srgbClr val="7030A0"/>
                </a:solidFill>
              </a:rPr>
              <a:t>propriedade estatística</a:t>
            </a:r>
            <a:r>
              <a:rPr lang="pt-BR" b="1" i="1" dirty="0"/>
              <a:t> </a:t>
            </a:r>
            <a:r>
              <a:rPr lang="pt-BR" dirty="0"/>
              <a:t>que </a:t>
            </a:r>
            <a:r>
              <a:rPr lang="pt-BR" b="1" i="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i="1" dirty="0"/>
              <a:t>árvore de decisão </a:t>
            </a:r>
            <a:r>
              <a:rPr lang="pt-BR" dirty="0"/>
              <a:t>tem tudo a ver com encontrar, a cada momento (i.e., a cada nó), um </a:t>
            </a:r>
            <a:r>
              <a:rPr lang="pt-BR" b="1" i="1" dirty="0"/>
              <a:t>atributo</a:t>
            </a:r>
            <a:r>
              <a:rPr lang="pt-BR" dirty="0"/>
              <a:t> que retorne o maior </a:t>
            </a:r>
            <a:r>
              <a:rPr lang="pt-BR" b="1" i="1" dirty="0"/>
              <a:t>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92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medida da </a:t>
            </a:r>
            <a:r>
              <a:rPr lang="pt-BR" b="1" i="1" dirty="0">
                <a:solidFill>
                  <a:srgbClr val="00B050"/>
                </a:solidFill>
              </a:rPr>
              <a:t>quantidade de incerteza ou aleatoriedade</a:t>
            </a:r>
            <a:r>
              <a:rPr lang="pt-BR" dirty="0"/>
              <a:t> de uma variável aleatória (i.e., um conjunto de dados).</a:t>
            </a:r>
          </a:p>
          <a:p>
            <a:r>
              <a:rPr lang="pt-BR" dirty="0"/>
              <a:t>Portanto, </a:t>
            </a:r>
            <a:r>
              <a:rPr lang="pt-BR" b="1" i="1" dirty="0">
                <a:solidFill>
                  <a:schemeClr val="accent2"/>
                </a:solidFill>
              </a:rPr>
              <a:t>um ganho de informação </a:t>
            </a:r>
            <a:r>
              <a:rPr lang="pt-BR" dirty="0"/>
              <a:t>corresponde a uma </a:t>
            </a:r>
            <a:r>
              <a:rPr lang="pt-BR" b="1" i="1" dirty="0">
                <a:solidFill>
                  <a:schemeClr val="accent2"/>
                </a:solidFill>
              </a:rPr>
              <a:t>redução na entropia</a:t>
            </a:r>
            <a:r>
              <a:rPr lang="pt-BR" dirty="0"/>
              <a:t>.</a:t>
            </a:r>
          </a:p>
          <a:p>
            <a:r>
              <a:rPr lang="pt-BR" dirty="0"/>
              <a:t>Quando </a:t>
            </a:r>
            <a:r>
              <a:rPr lang="pt-BR" b="1" i="1" dirty="0">
                <a:solidFill>
                  <a:srgbClr val="7030A0"/>
                </a:solidFill>
              </a:rPr>
              <a:t>ganhamos informação</a:t>
            </a:r>
            <a:r>
              <a:rPr lang="pt-BR" dirty="0"/>
              <a:t> sobre o conjunto, a </a:t>
            </a:r>
            <a:r>
              <a:rPr lang="pt-BR" b="1" i="1" dirty="0">
                <a:solidFill>
                  <a:srgbClr val="7030A0"/>
                </a:solidFill>
              </a:rPr>
              <a:t>incerteza diminui</a:t>
            </a:r>
            <a:r>
              <a:rPr lang="pt-BR" dirty="0"/>
              <a:t>.</a:t>
            </a:r>
          </a:p>
          <a:p>
            <a:r>
              <a:rPr lang="pt-BR" dirty="0"/>
              <a:t>O ganho é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11053" y="1825624"/>
                <a:ext cx="7838839" cy="5032376"/>
              </a:xfrm>
            </p:spPr>
            <p:txBody>
              <a:bodyPr>
                <a:normAutofit/>
              </a:bodyPr>
              <a:lstStyle/>
              <a:p>
                <a:r>
                  <a:rPr lang="pt-BR" dirty="0"/>
                  <a:t>O </a:t>
                </a:r>
                <a:r>
                  <a:rPr lang="pt-BR" b="1" i="1" dirty="0">
                    <a:solidFill>
                      <a:schemeClr val="accent2"/>
                    </a:solidFill>
                  </a:rPr>
                  <a:t>ganho de informação</a:t>
                </a:r>
                <a:r>
                  <a:rPr lang="pt-BR" dirty="0"/>
                  <a:t> nos dá a </a:t>
                </a:r>
                <a:r>
                  <a:rPr lang="pt-BR" b="1" i="1" dirty="0">
                    <a:solidFill>
                      <a:srgbClr val="00B050"/>
                    </a:solidFill>
                  </a:rPr>
                  <a:t>diferença entre a entropia antes e após a divisão do conjunto de dados</a:t>
                </a:r>
                <a:r>
                  <a:rPr lang="pt-BR" dirty="0"/>
                  <a:t> com base nos valores de um determinado atributo.</a:t>
                </a:r>
                <a:r>
                  <a:rPr lang="pt-BR" baseline="0" dirty="0"/>
                  <a:t> </a:t>
                </a:r>
              </a:p>
              <a:p>
                <a:r>
                  <a:rPr lang="pt-BR" baseline="0" dirty="0"/>
                  <a:t>Assim, podemos escrever que o </a:t>
                </a:r>
                <a:r>
                  <a:rPr lang="pt-BR" b="1" i="1" baseline="0" dirty="0">
                    <a:solidFill>
                      <a:schemeClr val="accent2"/>
                    </a:solidFill>
                  </a:rPr>
                  <a:t>ganho de informação</a:t>
                </a:r>
                <a:r>
                  <a:rPr lang="pt-BR" baseline="0" dirty="0"/>
                  <a:t> é dado por</a:t>
                </a:r>
              </a:p>
              <a:p>
                <a:pPr marL="0" indent="0">
                  <a:buNone/>
                </a:pPr>
                <a:endParaRPr lang="pt-BR" sz="2000" dirty="0"/>
              </a:p>
              <a:p>
                <a:pPr marL="0" indent="0" algn="ctr">
                  <a:buNone/>
                </a:pPr>
                <a14:m>
                  <m:oMathPara xmlns:m="http://schemas.openxmlformats.org/officeDocument/2006/math">
                    <m:oMathParaPr>
                      <m:jc m:val="centerGroup"/>
                    </m:oMathParaPr>
                    <m:oMath xmlns:m="http://schemas.openxmlformats.org/officeDocument/2006/math">
                      <m:r>
                        <a:rPr lang="pt-BR" sz="2300" i="1">
                          <a:latin typeface="Cambria Math" panose="02040503050406030204" pitchFamily="18" charset="0"/>
                        </a:rPr>
                        <m:t>𝐺𝑎𝑖𝑛</m:t>
                      </m:r>
                      <m:r>
                        <a:rPr lang="pt-BR" sz="2300" i="1">
                          <a:latin typeface="Cambria Math" panose="02040503050406030204" pitchFamily="18" charset="0"/>
                        </a:rPr>
                        <m:t>=</m:t>
                      </m:r>
                      <m:r>
                        <a:rPr lang="pt-BR" sz="2300" i="1">
                          <a:latin typeface="Cambria Math" panose="02040503050406030204" pitchFamily="18" charset="0"/>
                        </a:rPr>
                        <m:t>𝑒𝑛𝑡𝑟𝑜𝑝𝑖𝑎𝐴𝑛𝑡𝑒𝑠𝐷𝑎𝐷𝑖𝑣𝑖𝑠</m:t>
                      </m:r>
                      <m:r>
                        <a:rPr lang="pt-BR" sz="2300" i="1">
                          <a:latin typeface="Cambria Math" panose="02040503050406030204" pitchFamily="18" charset="0"/>
                        </a:rPr>
                        <m:t>ã</m:t>
                      </m:r>
                      <m:r>
                        <a:rPr lang="pt-BR" sz="2300" i="1">
                          <a:latin typeface="Cambria Math" panose="02040503050406030204" pitchFamily="18" charset="0"/>
                        </a:rPr>
                        <m:t>𝑜</m:t>
                      </m:r>
                      <m:r>
                        <a:rPr lang="pt-BR" sz="2300" i="1">
                          <a:latin typeface="Cambria Math" panose="02040503050406030204" pitchFamily="18" charset="0"/>
                        </a:rPr>
                        <m:t> −</m:t>
                      </m:r>
                      <m:r>
                        <a:rPr lang="pt-BR" sz="2300" i="1">
                          <a:latin typeface="Cambria Math" panose="02040503050406030204" pitchFamily="18" charset="0"/>
                        </a:rPr>
                        <m:t>𝑒𝑛𝑡𝑟𝑜𝑝𝑖𝑎𝐴𝑝</m:t>
                      </m:r>
                      <m:r>
                        <a:rPr lang="pt-BR" sz="2300" b="0" i="1" smtClean="0">
                          <a:latin typeface="Cambria Math" panose="02040503050406030204" pitchFamily="18" charset="0"/>
                        </a:rPr>
                        <m:t>ó</m:t>
                      </m:r>
                      <m:r>
                        <a:rPr lang="pt-BR" sz="2300" b="0" i="1" smtClean="0">
                          <a:latin typeface="Cambria Math" panose="02040503050406030204" pitchFamily="18" charset="0"/>
                        </a:rPr>
                        <m:t>𝑠𝐴𝐷𝑖𝑣𝑖𝑠</m:t>
                      </m:r>
                      <m:r>
                        <a:rPr lang="pt-BR" sz="2300" i="1">
                          <a:latin typeface="Cambria Math" panose="02040503050406030204" pitchFamily="18" charset="0"/>
                        </a:rPr>
                        <m:t>ã</m:t>
                      </m:r>
                      <m:r>
                        <a:rPr lang="pt-BR" sz="2300" i="1">
                          <a:latin typeface="Cambria Math" panose="02040503050406030204" pitchFamily="18" charset="0"/>
                        </a:rPr>
                        <m:t>𝑜</m:t>
                      </m:r>
                    </m:oMath>
                  </m:oMathPara>
                </a14:m>
                <a:endParaRPr lang="pt-BR" sz="2300"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11053" y="1825624"/>
                <a:ext cx="7838839" cy="5032376"/>
              </a:xfrm>
              <a:blipFill>
                <a:blip r:embed="rId3"/>
                <a:stretch>
                  <a:fillRect l="-1400" t="-1937" r="-1477"/>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654" t="5172" r="4491"/>
          <a:stretch/>
        </p:blipFill>
        <p:spPr bwMode="auto">
          <a:xfrm>
            <a:off x="278270" y="2466474"/>
            <a:ext cx="3845110" cy="2977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1133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Uma variável com apenas um único valor (e.g., o arremesso de uma moeda com </a:t>
            </a:r>
            <a:r>
              <a:rPr lang="pt-BR" b="1" i="1" dirty="0"/>
              <a:t>cara</a:t>
            </a:r>
            <a:r>
              <a:rPr lang="pt-BR" dirty="0"/>
              <a:t> em ambos os lados) não tem nenhuma </a:t>
            </a:r>
            <a:r>
              <a:rPr lang="pt-BR" b="1" i="1" dirty="0"/>
              <a:t>incerteza</a:t>
            </a:r>
            <a:r>
              <a:rPr lang="pt-BR" dirty="0"/>
              <a:t> associada </a:t>
            </a:r>
          </a:p>
          <a:p>
            <a:r>
              <a:rPr lang="pt-BR" dirty="0"/>
              <a:t>Portanto, sua </a:t>
            </a:r>
            <a:r>
              <a:rPr lang="pt-BR" b="1" i="1" dirty="0">
                <a:solidFill>
                  <a:srgbClr val="7030A0"/>
                </a:solidFill>
              </a:rPr>
              <a:t>entropia é igual a zero</a:t>
            </a:r>
            <a:r>
              <a:rPr lang="pt-BR" dirty="0"/>
              <a:t>. </a:t>
            </a:r>
          </a:p>
          <a:p>
            <a:r>
              <a:rPr lang="pt-BR" dirty="0"/>
              <a:t>Isso significa que </a:t>
            </a:r>
            <a:r>
              <a:rPr lang="pt-BR" b="1" i="1" dirty="0"/>
              <a:t>não se ganha nenhuma informação nova ao se observar o valor</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7111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i="1" dirty="0"/>
              <a:t>moeda honesta </a:t>
            </a:r>
            <a:r>
              <a:rPr lang="pt-BR" dirty="0"/>
              <a:t>é igualmente provável de resultar em </a:t>
            </a:r>
            <a:r>
              <a:rPr lang="pt-BR" b="1" i="1" dirty="0"/>
              <a:t>cara</a:t>
            </a:r>
            <a:r>
              <a:rPr lang="pt-BR" dirty="0"/>
              <a:t> ou </a:t>
            </a:r>
            <a:r>
              <a:rPr lang="pt-BR" b="1" i="1" dirty="0"/>
              <a:t>coroa</a:t>
            </a:r>
            <a:r>
              <a:rPr lang="pt-BR" dirty="0"/>
              <a:t>, os quais são associados aos valores 0 ou 1, respectivamente. </a:t>
            </a:r>
          </a:p>
          <a:p>
            <a:r>
              <a:rPr lang="pt-BR" dirty="0"/>
              <a:t>Neste caso, esta variável tem</a:t>
            </a:r>
            <a:r>
              <a:rPr lang="pt-BR" b="1" i="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1594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i="1" dirty="0">
                <a:solidFill>
                  <a:srgbClr val="7030A0"/>
                </a:solidFill>
              </a:rPr>
              <a:t>dado honesto de 4 lados</a:t>
            </a:r>
            <a:r>
              <a:rPr lang="pt-BR" dirty="0"/>
              <a:t>, </a:t>
            </a:r>
            <a:r>
              <a:rPr lang="pt-BR" b="1" i="1" dirty="0">
                <a:solidFill>
                  <a:srgbClr val="7030A0"/>
                </a:solidFill>
              </a:rPr>
              <a:t>tem 2 bits de entropia</a:t>
            </a:r>
            <a:r>
              <a:rPr lang="pt-BR" dirty="0"/>
              <a:t>, pois necessita-se de 2 bits para se representar os 4 possíveis valores.</a:t>
            </a:r>
          </a:p>
          <a:p>
            <a:r>
              <a:rPr lang="pt-BR" dirty="0"/>
              <a:t>Agora imaginem um </a:t>
            </a:r>
            <a:r>
              <a:rPr lang="pt-BR" b="1" i="1" dirty="0">
                <a:solidFill>
                  <a:schemeClr val="accent2"/>
                </a:solidFill>
              </a:rPr>
              <a:t>moeda desonesta </a:t>
            </a:r>
            <a:r>
              <a:rPr lang="pt-BR" dirty="0"/>
              <a:t>que tenha uma probabilidade de resultar em </a:t>
            </a:r>
            <a:r>
              <a:rPr lang="pt-BR" b="1" i="1" dirty="0"/>
              <a:t>cara</a:t>
            </a:r>
            <a:r>
              <a:rPr lang="pt-BR" dirty="0"/>
              <a:t> em 99% dos arremessos. </a:t>
            </a:r>
          </a:p>
          <a:p>
            <a:r>
              <a:rPr lang="pt-BR" dirty="0"/>
              <a:t>Nesse caso, a </a:t>
            </a:r>
            <a:r>
              <a:rPr lang="pt-BR" b="1" i="1" dirty="0">
                <a:solidFill>
                  <a:srgbClr val="00B050"/>
                </a:solidFill>
              </a:rPr>
              <a:t>entropia</a:t>
            </a:r>
            <a:r>
              <a:rPr lang="pt-BR" dirty="0"/>
              <a:t> deve ser um </a:t>
            </a:r>
            <a:r>
              <a:rPr lang="pt-BR" b="1" i="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9217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i="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17859</TotalTime>
  <Words>12515</Words>
  <Application>Microsoft Office PowerPoint</Application>
  <PresentationFormat>Widescreen</PresentationFormat>
  <Paragraphs>1306</Paragraphs>
  <Slides>73</Slides>
  <Notes>46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73</vt:i4>
      </vt:variant>
    </vt:vector>
  </HeadingPairs>
  <TitlesOfParts>
    <vt:vector size="82"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PowerPoint Presentation</vt:lpstr>
      <vt:lpstr>Árvores de decisão</vt:lpstr>
      <vt:lpstr>PowerPoint Presentation</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PowerPoint Presentation</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Exemplo</vt:lpstr>
      <vt:lpstr>Lista de exercícios</vt:lpstr>
      <vt:lpstr>PowerPoint Presentation</vt:lpstr>
      <vt:lpstr>PowerPoint Presentation</vt:lpstr>
      <vt:lpstr>PowerPoint Presentation</vt:lpstr>
      <vt:lpstr>PowerPoint Presentation</vt:lpstr>
      <vt:lpstr>Cálculo da entropia para mais de duas classes </vt:lpstr>
      <vt:lpstr>Cálculo da entropia para mais de duas classes </vt:lpstr>
      <vt:lpstr>PowerPoint Presentation</vt:lpstr>
      <vt:lpstr>Qual a entropia de 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1217</cp:revision>
  <dcterms:created xsi:type="dcterms:W3CDTF">2020-04-06T23:46:10Z</dcterms:created>
  <dcterms:modified xsi:type="dcterms:W3CDTF">2026-04-02T15:33:45Z</dcterms:modified>
</cp:coreProperties>
</file>