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4"/>
  </p:notesMasterIdLst>
  <p:sldIdLst>
    <p:sldId id="256" r:id="rId2"/>
    <p:sldId id="379" r:id="rId3"/>
    <p:sldId id="310" r:id="rId4"/>
    <p:sldId id="381" r:id="rId5"/>
    <p:sldId id="382" r:id="rId6"/>
    <p:sldId id="458" r:id="rId7"/>
    <p:sldId id="459" r:id="rId8"/>
    <p:sldId id="460" r:id="rId9"/>
    <p:sldId id="481" r:id="rId10"/>
    <p:sldId id="335" r:id="rId11"/>
    <p:sldId id="480" r:id="rId12"/>
    <p:sldId id="336" r:id="rId13"/>
    <p:sldId id="337" r:id="rId14"/>
    <p:sldId id="338" r:id="rId15"/>
    <p:sldId id="339" r:id="rId16"/>
    <p:sldId id="340" r:id="rId17"/>
    <p:sldId id="341" r:id="rId18"/>
    <p:sldId id="342" r:id="rId19"/>
    <p:sldId id="343" r:id="rId20"/>
    <p:sldId id="462" r:id="rId21"/>
    <p:sldId id="482" r:id="rId22"/>
    <p:sldId id="463" r:id="rId23"/>
    <p:sldId id="464" r:id="rId24"/>
    <p:sldId id="467" r:id="rId25"/>
    <p:sldId id="465" r:id="rId26"/>
    <p:sldId id="466" r:id="rId27"/>
    <p:sldId id="350" r:id="rId28"/>
    <p:sldId id="468" r:id="rId29"/>
    <p:sldId id="469" r:id="rId30"/>
    <p:sldId id="470" r:id="rId31"/>
    <p:sldId id="471" r:id="rId32"/>
    <p:sldId id="472" r:id="rId33"/>
    <p:sldId id="354" r:id="rId34"/>
    <p:sldId id="356" r:id="rId35"/>
    <p:sldId id="357" r:id="rId36"/>
    <p:sldId id="359" r:id="rId37"/>
    <p:sldId id="483" r:id="rId38"/>
    <p:sldId id="361" r:id="rId39"/>
    <p:sldId id="362" r:id="rId40"/>
    <p:sldId id="363" r:id="rId41"/>
    <p:sldId id="301" r:id="rId42"/>
    <p:sldId id="318" r:id="rId43"/>
    <p:sldId id="369" r:id="rId44"/>
    <p:sldId id="319" r:id="rId45"/>
    <p:sldId id="364" r:id="rId46"/>
    <p:sldId id="473" r:id="rId47"/>
    <p:sldId id="367" r:id="rId48"/>
    <p:sldId id="368" r:id="rId49"/>
    <p:sldId id="277" r:id="rId50"/>
    <p:sldId id="283" r:id="rId51"/>
    <p:sldId id="284" r:id="rId52"/>
    <p:sldId id="285" r:id="rId53"/>
    <p:sldId id="291" r:id="rId54"/>
    <p:sldId id="292" r:id="rId55"/>
    <p:sldId id="296" r:id="rId56"/>
    <p:sldId id="486" r:id="rId57"/>
    <p:sldId id="474" r:id="rId58"/>
    <p:sldId id="475" r:id="rId59"/>
    <p:sldId id="371" r:id="rId60"/>
    <p:sldId id="484" r:id="rId61"/>
    <p:sldId id="374" r:id="rId62"/>
    <p:sldId id="375" r:id="rId63"/>
    <p:sldId id="476" r:id="rId64"/>
    <p:sldId id="477" r:id="rId65"/>
    <p:sldId id="479" r:id="rId66"/>
    <p:sldId id="456" r:id="rId67"/>
    <p:sldId id="457" r:id="rId68"/>
    <p:sldId id="378" r:id="rId69"/>
    <p:sldId id="306" r:id="rId70"/>
    <p:sldId id="347" r:id="rId71"/>
    <p:sldId id="328" r:id="rId72"/>
    <p:sldId id="329" r:id="rId73"/>
    <p:sldId id="355" r:id="rId74"/>
    <p:sldId id="330" r:id="rId75"/>
    <p:sldId id="271" r:id="rId76"/>
    <p:sldId id="279" r:id="rId77"/>
    <p:sldId id="293" r:id="rId78"/>
    <p:sldId id="289" r:id="rId79"/>
    <p:sldId id="290" r:id="rId80"/>
    <p:sldId id="294" r:id="rId81"/>
    <p:sldId id="295" r:id="rId82"/>
    <p:sldId id="307" r:id="rId83"/>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05" autoAdjust="0"/>
    <p:restoredTop sz="76271" autoAdjust="0"/>
  </p:normalViewPr>
  <p:slideViewPr>
    <p:cSldViewPr snapToGrid="0">
      <p:cViewPr varScale="1">
        <p:scale>
          <a:sx n="56" d="100"/>
          <a:sy n="56" d="100"/>
        </p:scale>
        <p:origin x="126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notesMaster" Target="notesMasters/notesMaster1.xml"/><Relationship Id="rId89"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microsoft.com/office/2015/10/relationships/revisionInfo" Target="revisionInfo.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01/06/2026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D907F16-3DAD-2C89-7AAA-E8344EF28D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C3FD0EF8-D345-C641-2DF9-0FC619222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A3BB0238-B6D1-6E51-760C-B50DDE4F94DC}"/>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a:extLst>
              <a:ext uri="{FF2B5EF4-FFF2-40B4-BE49-F238E27FC236}">
                <a16:creationId xmlns:a16="http://schemas.microsoft.com/office/drawing/2014/main" xmlns="" id="{CBC1C544-6AD9-7EEA-FFA2-51867FEE694E}"/>
              </a:ext>
            </a:extLst>
          </p:cNvPr>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264598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dirty="0"/>
                  <a:t>:</a:t>
                </a:r>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a:t>
            </a:r>
            <a:r>
              <a:rPr lang="pt-BR" b="1" dirty="0"/>
              <a:t>C4.5</a:t>
            </a:r>
            <a:r>
              <a:rPr lang="pt-BR" dirty="0"/>
              <a:t> e o </a:t>
            </a:r>
            <a:r>
              <a:rPr lang="pt-BR" b="1" dirty="0"/>
              <a:t>C5.0</a:t>
            </a:r>
            <a:r>
              <a:rPr lang="pt-BR" dirty="0"/>
              <a:t> são evoluções diretas do </a:t>
            </a:r>
            <a:r>
              <a:rPr lang="pt-BR" b="1" dirty="0"/>
              <a:t>ID3</a:t>
            </a:r>
            <a:r>
              <a:rPr lang="pt-BR" dirty="0"/>
              <a:t>.</a:t>
            </a:r>
            <a:br>
              <a:rPr lang="pt-BR" dirty="0"/>
            </a:br>
            <a:r>
              <a:rPr lang="pt-BR" dirty="0"/>
              <a:t>Eles pertencem à mesma família de algoritmos de indução de árvores de decisão desenvolvidos por Ross </a:t>
            </a:r>
            <a:r>
              <a:rPr lang="pt-BR" dirty="0" err="1"/>
              <a:t>Quinlan</a:t>
            </a:r>
            <a:r>
              <a:rPr lang="pt-BR" dirty="0"/>
              <a:t>.</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b="1" dirty="0"/>
              <a:t>Por que não é usado para regressão?</a:t>
            </a:r>
          </a:p>
          <a:p>
            <a:r>
              <a:rPr lang="pt-BR" dirty="0"/>
              <a:t>Porque o ID3 foi formulado usando:</a:t>
            </a:r>
          </a:p>
          <a:p>
            <a:r>
              <a:rPr lang="pt-BR" dirty="0"/>
              <a:t>entropia; </a:t>
            </a:r>
          </a:p>
          <a:p>
            <a:r>
              <a:rPr lang="pt-BR" dirty="0"/>
              <a:t>teoria da informação; </a:t>
            </a:r>
          </a:p>
          <a:p>
            <a:r>
              <a:rPr lang="pt-BR" dirty="0"/>
              <a:t>ganho de informação. </a:t>
            </a:r>
          </a:p>
          <a:p>
            <a:r>
              <a:rPr lang="pt-BR" dirty="0"/>
              <a:t>Esses conceitos dependem de probabilidades de classes.</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874D708-AA7E-CB9A-5318-3EF4C9E85A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B2DE191E-6173-1A9C-7608-19BEC89DFC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FD389746-6EB9-5C27-E4E7-30BBD99F9879}"/>
              </a:ext>
            </a:extLst>
          </p:cNvPr>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a:extLst>
              <a:ext uri="{FF2B5EF4-FFF2-40B4-BE49-F238E27FC236}">
                <a16:creationId xmlns:a16="http://schemas.microsoft.com/office/drawing/2014/main" xmlns="" id="{D000A64E-61CA-09E9-0866-54D63DEDD069}"/>
              </a:ext>
            </a:extLst>
          </p:cNvPr>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878960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2369616-6279-718F-3DFF-E76CA1C82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301CFC8-40E4-39E6-FDE7-187621020A0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075DD19D-EED5-C458-5EC4-53559A7B3EB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a:extLst>
              <a:ext uri="{FF2B5EF4-FFF2-40B4-BE49-F238E27FC236}">
                <a16:creationId xmlns:a16="http://schemas.microsoft.com/office/drawing/2014/main" xmlns="" id="{408E860F-82AC-0991-03A9-8A5329F177C7}"/>
              </a:ext>
            </a:extLst>
          </p:cNvPr>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29480895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42</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300691411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388738115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número de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00DE7EB-B0C5-2724-4E44-C5E5DB7D289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0476D3C9-51BE-1E0E-0E52-6862AB52BF3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76839FBB-0194-2643-1E2F-273A4B1D3D2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número de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a:extLst>
              <a:ext uri="{FF2B5EF4-FFF2-40B4-BE49-F238E27FC236}">
                <a16:creationId xmlns:a16="http://schemas.microsoft.com/office/drawing/2014/main" xmlns="" id="{6D80D7D8-443F-6FAF-52D2-2DF7B31BFBBC}"/>
              </a:ext>
            </a:extLst>
          </p:cNvPr>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30073098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r>
              <a:rPr lang="en-US" b="0" i="0" dirty="0">
                <a:solidFill>
                  <a:srgbClr val="0C0D0E"/>
                </a:solidFill>
                <a:effectLst/>
                <a:latin typeface="-apple-system"/>
              </a:rPr>
              <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a:t>
            </a:r>
            <a:r>
              <a:rPr lang="pt-BR" dirty="0" err="1"/>
              <a:t>sobreajuste</a:t>
            </a:r>
            <a:r>
              <a:rPr lang="pt-BR" dirty="0"/>
              <a:t> (mas aumentando o risco de </a:t>
            </a:r>
            <a:r>
              <a:rPr lang="pt-BR" dirty="0" err="1"/>
              <a:t>sobajuste</a:t>
            </a:r>
            <a:r>
              <a:rPr lang="pt-BR" dirty="0"/>
              <a:t>).</a:t>
            </a:r>
          </a:p>
          <a:p>
            <a:endParaRPr lang="pt-BR" dirty="0"/>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63</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No </a:t>
            </a:r>
            <a:r>
              <a:rPr lang="pt-BR" sz="1200" b="0" i="0" kern="1200" dirty="0" err="1">
                <a:solidFill>
                  <a:schemeClr val="tx1"/>
                </a:solidFill>
                <a:effectLst/>
                <a:latin typeface="+mn-lt"/>
                <a:ea typeface="+mn-ea"/>
                <a:cs typeface="+mn-cs"/>
              </a:rPr>
              <a:t>Scikit-Learn</a:t>
            </a:r>
            <a:r>
              <a:rPr lang="pt-BR" sz="1200" b="0" i="0" kern="1200" dirty="0">
                <a:solidFill>
                  <a:schemeClr val="tx1"/>
                </a:solidFill>
                <a:effectLst/>
                <a:latin typeface="+mn-lt"/>
                <a:ea typeface="+mn-ea"/>
                <a:cs typeface="+mn-cs"/>
              </a:rPr>
              <a:t> isso é controlado pelo </a:t>
            </a:r>
            <a:r>
              <a:rPr lang="pt-BR" sz="1200" b="0" i="0" kern="1200" dirty="0" err="1">
                <a:solidFill>
                  <a:schemeClr val="tx1"/>
                </a:solidFill>
                <a:effectLst/>
                <a:latin typeface="+mn-lt"/>
                <a:ea typeface="+mn-ea"/>
                <a:cs typeface="+mn-cs"/>
              </a:rPr>
              <a:t>hiperparâmetro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(o valor padrão é </a:t>
            </a:r>
            <a:r>
              <a:rPr lang="pt-BR" sz="1200" b="0" i="0" kern="1200" dirty="0" err="1">
                <a:solidFill>
                  <a:schemeClr val="tx1"/>
                </a:solidFill>
                <a:effectLst/>
                <a:latin typeface="+mn-lt"/>
                <a:ea typeface="+mn-ea"/>
                <a:cs typeface="+mn-cs"/>
              </a:rPr>
              <a:t>None</a:t>
            </a:r>
            <a:r>
              <a:rPr lang="pt-BR" sz="1200" b="0" i="0" kern="1200" dirty="0">
                <a:solidFill>
                  <a:schemeClr val="tx1"/>
                </a:solidFill>
                <a:effectLst/>
                <a:latin typeface="+mn-lt"/>
                <a:ea typeface="+mn-ea"/>
                <a:cs typeface="+mn-cs"/>
              </a:rPr>
              <a:t>, o que significa liberdade ilimitada).</a:t>
            </a:r>
          </a:p>
          <a:p>
            <a:pPr lvl="1"/>
            <a:r>
              <a:rPr lang="pt-BR" sz="1200" b="0" i="0" kern="1200" dirty="0">
                <a:solidFill>
                  <a:schemeClr val="tx1"/>
                </a:solidFill>
                <a:effectLst/>
                <a:latin typeface="+mn-lt"/>
                <a:ea typeface="+mn-ea"/>
                <a:cs typeface="+mn-cs"/>
              </a:rPr>
              <a:t>Reduzir o valor de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regularizará o modelo e, assim, reduzirá o risco de </a:t>
            </a:r>
            <a:r>
              <a:rPr lang="pt-BR" sz="1200" b="0" i="0" kern="1200" dirty="0" err="1">
                <a:solidFill>
                  <a:schemeClr val="tx1"/>
                </a:solidFill>
                <a:effectLst/>
                <a:latin typeface="+mn-lt"/>
                <a:ea typeface="+mn-ea"/>
                <a:cs typeface="+mn-cs"/>
              </a:rPr>
              <a:t>sobreajuste</a:t>
            </a:r>
            <a:r>
              <a:rPr lang="pt-BR" sz="1200" b="0" i="0" kern="1200" dirty="0">
                <a:solidFill>
                  <a:schemeClr val="tx1"/>
                </a:solidFill>
                <a:effectLst/>
                <a:latin typeface="+mn-lt"/>
                <a:ea typeface="+mn-ea"/>
                <a:cs typeface="+mn-cs"/>
              </a:rPr>
              <a:t>.</a:t>
            </a:r>
          </a:p>
          <a:p>
            <a:pPr lvl="1"/>
            <a:r>
              <a:rPr lang="pt-BR" sz="1200" b="0" i="0" kern="1200" dirty="0">
                <a:solidFill>
                  <a:schemeClr val="tx1"/>
                </a:solidFill>
                <a:effectLst/>
                <a:latin typeface="+mn-lt"/>
                <a:ea typeface="+mn-ea"/>
                <a:cs typeface="+mn-cs"/>
              </a:rPr>
              <a:t>Porém, se reduzido demais pode causar </a:t>
            </a:r>
            <a:r>
              <a:rPr lang="pt-BR" sz="1200" b="1" i="0" kern="1200" dirty="0" err="1">
                <a:solidFill>
                  <a:schemeClr val="tx1"/>
                </a:solidFill>
                <a:effectLst/>
                <a:latin typeface="+mn-lt"/>
                <a:ea typeface="+mn-ea"/>
                <a:cs typeface="+mn-cs"/>
              </a:rPr>
              <a:t>subajuste</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 classe </a:t>
            </a:r>
            <a:r>
              <a:rPr lang="pt-BR" sz="1200" b="0" i="0" kern="1200" dirty="0" err="1">
                <a:solidFill>
                  <a:schemeClr val="tx1"/>
                </a:solidFill>
                <a:effectLst/>
                <a:latin typeface="+mn-lt"/>
                <a:ea typeface="+mn-ea"/>
                <a:cs typeface="+mn-cs"/>
              </a:rPr>
              <a:t>DecisionTreeClassifier</a:t>
            </a:r>
            <a:r>
              <a:rPr lang="pt-BR" sz="1200" b="0" i="0" kern="1200" dirty="0">
                <a:solidFill>
                  <a:schemeClr val="tx1"/>
                </a:solidFill>
                <a:effectLst/>
                <a:latin typeface="+mn-lt"/>
                <a:ea typeface="+mn-ea"/>
                <a:cs typeface="+mn-cs"/>
              </a:rPr>
              <a:t> tem alguns outros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que restringem de forma semelhante o crescimento da árvore de decisão:</a:t>
            </a:r>
          </a:p>
          <a:p>
            <a:pPr lvl="1"/>
            <a:r>
              <a:rPr lang="pt-BR" sz="1200" b="0" i="0" kern="1200" dirty="0" err="1">
                <a:solidFill>
                  <a:schemeClr val="tx1"/>
                </a:solidFill>
                <a:effectLst/>
                <a:latin typeface="+mn-lt"/>
                <a:ea typeface="+mn-ea"/>
                <a:cs typeface="+mn-cs"/>
              </a:rPr>
              <a:t>min_samples_split</a:t>
            </a:r>
            <a:r>
              <a:rPr lang="pt-BR" sz="1200" b="0" i="0" kern="1200" dirty="0">
                <a:solidFill>
                  <a:schemeClr val="tx1"/>
                </a:solidFill>
                <a:effectLst/>
                <a:latin typeface="+mn-lt"/>
                <a:ea typeface="+mn-ea"/>
                <a:cs typeface="+mn-cs"/>
              </a:rPr>
              <a:t>: define o número mínimo de exemplos um nó deve ter para poder ser dividido.</a:t>
            </a:r>
          </a:p>
          <a:p>
            <a:pPr lvl="1"/>
            <a:r>
              <a:rPr lang="pt-BR" sz="1200" b="0" i="0" kern="1200" dirty="0" err="1">
                <a:solidFill>
                  <a:schemeClr val="tx1"/>
                </a:solidFill>
                <a:effectLst/>
                <a:latin typeface="+mn-lt"/>
                <a:ea typeface="+mn-ea"/>
                <a:cs typeface="+mn-cs"/>
              </a:rPr>
              <a:t>min_samples_leaf</a:t>
            </a:r>
            <a:r>
              <a:rPr lang="pt-BR" sz="1200" b="0" i="0" kern="1200" dirty="0">
                <a:solidFill>
                  <a:schemeClr val="tx1"/>
                </a:solidFill>
                <a:effectLst/>
                <a:latin typeface="+mn-lt"/>
                <a:ea typeface="+mn-ea"/>
                <a:cs typeface="+mn-cs"/>
              </a:rPr>
              <a:t>: define o número mínimo de exemplos um nó folha deve ter.</a:t>
            </a:r>
          </a:p>
          <a:p>
            <a:pPr lvl="1"/>
            <a:r>
              <a:rPr lang="pt-BR" sz="1200" b="0" i="0" kern="1200" dirty="0" err="1">
                <a:solidFill>
                  <a:schemeClr val="tx1"/>
                </a:solidFill>
                <a:effectLst/>
                <a:latin typeface="+mn-lt"/>
                <a:ea typeface="+mn-ea"/>
                <a:cs typeface="+mn-cs"/>
              </a:rPr>
              <a:t>max_leaf_nodes</a:t>
            </a:r>
            <a:r>
              <a:rPr lang="pt-BR" sz="1200" b="0" i="0" kern="1200" dirty="0">
                <a:solidFill>
                  <a:schemeClr val="tx1"/>
                </a:solidFill>
                <a:effectLst/>
                <a:latin typeface="+mn-lt"/>
                <a:ea typeface="+mn-ea"/>
                <a:cs typeface="+mn-cs"/>
              </a:rPr>
              <a:t>: define o número máximo de nós folha.</a:t>
            </a:r>
          </a:p>
          <a:p>
            <a:pPr lvl="1"/>
            <a:r>
              <a:rPr lang="pt-BR" sz="1200" b="0" i="0" kern="1200" dirty="0" err="1">
                <a:solidFill>
                  <a:schemeClr val="tx1"/>
                </a:solidFill>
                <a:effectLst/>
                <a:latin typeface="+mn-lt"/>
                <a:ea typeface="+mn-ea"/>
                <a:cs typeface="+mn-cs"/>
              </a:rPr>
              <a:t>max_features</a:t>
            </a:r>
            <a:r>
              <a:rPr lang="pt-BR" sz="1200" b="0" i="0" kern="1200" dirty="0">
                <a:solidFill>
                  <a:schemeClr val="tx1"/>
                </a:solidFill>
                <a:effectLst/>
                <a:latin typeface="+mn-lt"/>
                <a:ea typeface="+mn-ea"/>
                <a:cs typeface="+mn-cs"/>
              </a:rPr>
              <a:t>: define o número máximo de atributos que são avaliados para criação de uma divisão (i.e., </a:t>
            </a:r>
            <a:r>
              <a:rPr lang="pt-BR" sz="1200" b="0" i="0" kern="1200" dirty="0" err="1">
                <a:solidFill>
                  <a:schemeClr val="tx1"/>
                </a:solidFill>
                <a:effectLst/>
                <a:latin typeface="+mn-lt"/>
                <a:ea typeface="+mn-ea"/>
                <a:cs typeface="+mn-cs"/>
              </a:rPr>
              <a:t>split</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Aumentar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min_* ou reduzir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a:t>
            </a:r>
            <a:r>
              <a:rPr lang="pt-BR" sz="1200" b="0" i="0" kern="1200" dirty="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5485475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Intuição geral</a:t>
            </a:r>
          </a:p>
          <a:p>
            <a:r>
              <a:rPr lang="pt-BR" dirty="0"/>
              <a:t>Uma árvore de decisão é construída fazendo perguntas do tipo:</a:t>
            </a:r>
          </a:p>
          <a:p>
            <a:pPr rtl="0"/>
            <a:r>
              <a:rPr lang="pt-BR" sz="1200" kern="1200" dirty="0">
                <a:solidFill>
                  <a:schemeClr val="tx1"/>
                </a:solidFill>
                <a:latin typeface="+mn-lt"/>
                <a:ea typeface="+mn-ea"/>
                <a:cs typeface="+mn-cs"/>
              </a:rPr>
              <a:t>"Qual característica melhor separa os dados?"</a:t>
            </a:r>
          </a:p>
          <a:p>
            <a:r>
              <a:rPr lang="pt-BR" dirty="0"/>
              <a:t>A diferença é que:</a:t>
            </a:r>
          </a:p>
          <a:p>
            <a:r>
              <a:rPr lang="pt-BR" b="1" dirty="0"/>
              <a:t>ID3</a:t>
            </a:r>
            <a:r>
              <a:rPr lang="pt-BR" dirty="0"/>
              <a:t> costuma fazer perguntas com </a:t>
            </a:r>
            <a:r>
              <a:rPr lang="pt-BR" b="1" dirty="0"/>
              <a:t>múltiplas respostas possíveis</a:t>
            </a:r>
            <a:r>
              <a:rPr lang="pt-BR" dirty="0"/>
              <a:t>; </a:t>
            </a:r>
          </a:p>
          <a:p>
            <a:r>
              <a:rPr lang="pt-BR" b="1" dirty="0"/>
              <a:t>CART</a:t>
            </a:r>
            <a:r>
              <a:rPr lang="pt-BR" dirty="0"/>
              <a:t> sempre faz perguntas com apenas </a:t>
            </a:r>
            <a:r>
              <a:rPr lang="pt-BR" b="1" dirty="0"/>
              <a:t>duas respostas possíveis</a:t>
            </a:r>
            <a:r>
              <a:rPr lang="pt-BR" dirty="0"/>
              <a:t>.</a:t>
            </a:r>
          </a:p>
          <a:p>
            <a:endParaRPr lang="en-US"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112286184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árvores_de_decisão</a:t>
            </a:r>
            <a:r>
              <a:rPr lang="en-US" dirty="0"/>
              <a:t>.</a:t>
            </a:r>
            <a:r>
              <a:rPr lang="en-US" dirty="0" err="1"/>
              <a:t>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01/06/2026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01/06/2026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01/06/2026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01/06/2026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01/06/2026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01/06/2026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01/06/2026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9.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5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6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225;rvores_de_decis&#227;o.ipynb"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jpeg"/><Relationship Id="rId4" Type="http://schemas.openxmlformats.org/officeDocument/2006/relationships/image" Target="../media/image37.png"/></Relationships>
</file>

<file path=ppt/slides/_rels/slide67.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12%20-%20%C3%81rvores%20de%20decis%C3%A3o.pdf" TargetMode="Externa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xmlns=""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p>
          <a:p>
            <a:pPr lvl="1">
              <a:buFont typeface="Wingdings" panose="05000000000000000000" pitchFamily="2" charset="2"/>
              <a:buChar char="§"/>
            </a:pPr>
            <a:r>
              <a:rPr lang="pt-BR" b="1" dirty="0">
                <a:solidFill>
                  <a:srgbClr val="FF0000"/>
                </a:solidFill>
              </a:rPr>
              <a:t>aprendizado supervisionado </a:t>
            </a:r>
            <a:r>
              <a:rPr lang="pt-BR" b="1" dirty="0">
                <a:solidFill>
                  <a:srgbClr val="00B050"/>
                </a:solidFill>
              </a:rPr>
              <a:t>não-paramétrico</a:t>
            </a:r>
            <a:r>
              <a:rPr lang="pt-BR" dirty="0"/>
              <a:t> </a:t>
            </a:r>
          </a:p>
          <a:p>
            <a:pPr lvl="1">
              <a:buFont typeface="Wingdings" panose="05000000000000000000" pitchFamily="2" charset="2"/>
              <a:buChar char="§"/>
            </a:pPr>
            <a:r>
              <a:rPr lang="pt-BR" dirty="0"/>
              <a:t>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xmlns=""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705856" y="1825624"/>
            <a:ext cx="6486144" cy="5032375"/>
          </a:xfrm>
        </p:spPr>
        <p:txBody>
          <a:bodyPr>
            <a:normAutofit/>
          </a:bodyPr>
          <a:lstStyle/>
          <a:p>
            <a:r>
              <a:rPr lang="pt-BR" noProof="0" dirty="0"/>
              <a:t>Um modelo </a:t>
            </a:r>
            <a:r>
              <a:rPr lang="pt-BR" b="1" noProof="0" dirty="0">
                <a:solidFill>
                  <a:srgbClr val="00B050"/>
                </a:solidFill>
              </a:rPr>
              <a:t>paramétrico</a:t>
            </a:r>
            <a:r>
              <a:rPr lang="pt-BR" noProof="0" dirty="0"/>
              <a:t>:</a:t>
            </a:r>
          </a:p>
          <a:p>
            <a:pPr lvl="1">
              <a:buFont typeface="Wingdings" panose="05000000000000000000" pitchFamily="2" charset="2"/>
              <a:buChar char="§"/>
            </a:pPr>
            <a:r>
              <a:rPr lang="pt-BR" noProof="0" dirty="0"/>
              <a:t>assume uma </a:t>
            </a:r>
            <a:r>
              <a:rPr lang="pt-BR" b="1" noProof="0" dirty="0">
                <a:solidFill>
                  <a:schemeClr val="accent2"/>
                </a:solidFill>
              </a:rPr>
              <a:t>forma funcional fixa</a:t>
            </a:r>
            <a:r>
              <a:rPr lang="pt-BR" noProof="0" dirty="0"/>
              <a:t>.</a:t>
            </a:r>
          </a:p>
          <a:p>
            <a:pPr lvl="2">
              <a:buFont typeface="Courier New" panose="02070309020205020404" pitchFamily="49" charset="0"/>
              <a:buChar char="o"/>
            </a:pPr>
            <a:r>
              <a:rPr lang="pt-BR" noProof="0" dirty="0"/>
              <a:t>Uma </a:t>
            </a:r>
            <a:r>
              <a:rPr lang="pt-BR" b="1" noProof="0" dirty="0">
                <a:solidFill>
                  <a:schemeClr val="accent2"/>
                </a:solidFill>
              </a:rPr>
              <a:t>equação</a:t>
            </a:r>
            <a:r>
              <a:rPr lang="pt-BR" noProof="0" dirty="0"/>
              <a:t> como no caso da regressão linear.</a:t>
            </a:r>
          </a:p>
          <a:p>
            <a:pPr lvl="1">
              <a:buFont typeface="Wingdings" panose="05000000000000000000" pitchFamily="2" charset="2"/>
              <a:buChar char="§"/>
            </a:pPr>
            <a:r>
              <a:rPr lang="pt-BR" noProof="0" dirty="0"/>
              <a:t>possui um </a:t>
            </a:r>
            <a:r>
              <a:rPr lang="pt-BR" b="1" noProof="0" dirty="0">
                <a:solidFill>
                  <a:srgbClr val="7030A0"/>
                </a:solidFill>
              </a:rPr>
              <a:t>número fixo de parâmetros</a:t>
            </a:r>
            <a:r>
              <a:rPr lang="pt-BR" noProof="0" dirty="0"/>
              <a:t>.</a:t>
            </a:r>
          </a:p>
          <a:p>
            <a:pPr lvl="2">
              <a:buFont typeface="Courier New" panose="02070309020205020404" pitchFamily="49" charset="0"/>
              <a:buChar char="o"/>
            </a:pPr>
            <a:r>
              <a:rPr lang="pt-BR" noProof="0" dirty="0"/>
              <a:t>Por exemplo, na </a:t>
            </a:r>
            <a:r>
              <a:rPr lang="pt-BR" b="1" noProof="0" dirty="0">
                <a:solidFill>
                  <a:srgbClr val="7030A0"/>
                </a:solidFill>
              </a:rPr>
              <a:t>regressão linear</a:t>
            </a:r>
            <a:r>
              <a:rPr lang="pt-BR" noProof="0" dirty="0"/>
              <a:t>, a </a:t>
            </a:r>
            <a:r>
              <a:rPr lang="pt-BR" b="1" noProof="0" dirty="0">
                <a:solidFill>
                  <a:srgbClr val="7030A0"/>
                </a:solidFill>
              </a:rPr>
              <a:t>quantidade de pesos</a:t>
            </a:r>
            <a:r>
              <a:rPr lang="pt-BR" noProof="0" dirty="0"/>
              <a:t> de uma </a:t>
            </a:r>
            <a:r>
              <a:rPr lang="pt-BR" b="1" noProof="0" dirty="0">
                <a:solidFill>
                  <a:srgbClr val="7030A0"/>
                </a:solidFill>
              </a:rPr>
              <a:t>função hipótese é constante</a:t>
            </a:r>
            <a:r>
              <a:rPr lang="pt-BR" noProof="0" dirty="0"/>
              <a:t>.</a:t>
            </a:r>
          </a:p>
          <a:p>
            <a:pPr lvl="1">
              <a:buFont typeface="Wingdings" panose="05000000000000000000" pitchFamily="2" charset="2"/>
              <a:buChar char="§"/>
            </a:pPr>
            <a:r>
              <a:rPr lang="pt-BR" noProof="0" dirty="0"/>
              <a:t>Complexidade constante.</a:t>
            </a:r>
          </a:p>
          <a:p>
            <a:pPr lvl="2">
              <a:buFont typeface="Courier New" panose="02070309020205020404" pitchFamily="49" charset="0"/>
              <a:buChar char="o"/>
            </a:pPr>
            <a:r>
              <a:rPr lang="pt-BR" noProof="0" dirty="0"/>
              <a:t>Não varia com a quantidade de dados.</a:t>
            </a:r>
          </a:p>
          <a:p>
            <a:pPr lvl="1">
              <a:buFont typeface="Wingdings" panose="05000000000000000000" pitchFamily="2" charset="2"/>
              <a:buChar char="§"/>
            </a:pPr>
            <a:r>
              <a:rPr lang="pt-BR" noProof="0" dirty="0"/>
              <a:t>Alguns modelos fazem suposições sobre a distribuição dos dados.</a:t>
            </a:r>
          </a:p>
          <a:p>
            <a:pPr lvl="2">
              <a:buFont typeface="Courier New" panose="02070309020205020404" pitchFamily="49" charset="0"/>
              <a:buChar char="o"/>
            </a:pPr>
            <a:r>
              <a:rPr lang="pt-BR" b="1" noProof="0" dirty="0" err="1"/>
              <a:t>Naive</a:t>
            </a:r>
            <a:r>
              <a:rPr lang="pt-BR" b="1" noProof="0" dirty="0"/>
              <a:t> </a:t>
            </a:r>
            <a:r>
              <a:rPr lang="pt-BR" b="1" noProof="0" dirty="0" err="1"/>
              <a:t>Bayes</a:t>
            </a:r>
            <a:r>
              <a:rPr lang="pt-BR" noProof="0" dirty="0"/>
              <a:t>: dependendo da versão, assume distribuições normal, multinominal ou Bernoulli.</a:t>
            </a:r>
          </a:p>
          <a:p>
            <a:pPr lvl="2">
              <a:buFont typeface="Courier New" panose="02070309020205020404" pitchFamily="49" charset="0"/>
              <a:buChar char="o"/>
            </a:pPr>
            <a:r>
              <a:rPr lang="en-US" b="1" dirty="0"/>
              <a:t>Gaussian Mixture Models (GMMs)</a:t>
            </a:r>
            <a:r>
              <a:rPr lang="en-US" dirty="0"/>
              <a:t>: </a:t>
            </a:r>
            <a:r>
              <a:rPr lang="pt-BR" dirty="0"/>
              <a:t>assume que os dados vêm de uma mistura de gaussianas.</a:t>
            </a:r>
            <a:endParaRPr lang="pt-BR" noProof="0" dirty="0"/>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516545" y="1825624"/>
            <a:ext cx="6675455" cy="5032375"/>
          </a:xfrm>
        </p:spPr>
        <p:txBody>
          <a:bodyPr>
            <a:normAutofit/>
          </a:bodyPr>
          <a:lstStyle/>
          <a:p>
            <a:r>
              <a:rPr lang="pt-BR" noProof="0" dirty="0"/>
              <a:t>Um modelo </a:t>
            </a:r>
            <a:r>
              <a:rPr lang="pt-BR" b="1" noProof="0" dirty="0">
                <a:solidFill>
                  <a:srgbClr val="7030A0"/>
                </a:solidFill>
              </a:rPr>
              <a:t>não-paramétrico</a:t>
            </a:r>
            <a:r>
              <a:rPr lang="pt-BR" noProof="0" dirty="0"/>
              <a:t>:</a:t>
            </a:r>
          </a:p>
          <a:p>
            <a:pPr lvl="1">
              <a:buFont typeface="Wingdings" panose="05000000000000000000" pitchFamily="2" charset="2"/>
              <a:buChar char="§"/>
            </a:pPr>
            <a:r>
              <a:rPr lang="pt-BR" b="1" noProof="0" dirty="0">
                <a:solidFill>
                  <a:schemeClr val="accent2"/>
                </a:solidFill>
              </a:rPr>
              <a:t>não</a:t>
            </a:r>
            <a:r>
              <a:rPr lang="pt-BR" noProof="0" dirty="0"/>
              <a:t> assume forma funcional fixa</a:t>
            </a:r>
          </a:p>
          <a:p>
            <a:pPr lvl="2">
              <a:buFont typeface="Courier New" panose="02070309020205020404" pitchFamily="49" charset="0"/>
              <a:buChar char="o"/>
            </a:pPr>
            <a:r>
              <a:rPr lang="pt-BR" noProof="0" dirty="0"/>
              <a:t>Não tem uma equação como no caso da regressão linear.</a:t>
            </a:r>
          </a:p>
          <a:p>
            <a:pPr lvl="1">
              <a:buFont typeface="Wingdings" panose="05000000000000000000" pitchFamily="2" charset="2"/>
              <a:buChar char="§"/>
            </a:pPr>
            <a:r>
              <a:rPr lang="pt-BR" b="1" noProof="0" dirty="0">
                <a:solidFill>
                  <a:schemeClr val="accent2"/>
                </a:solidFill>
              </a:rPr>
              <a:t>não</a:t>
            </a:r>
            <a:r>
              <a:rPr lang="pt-BR" noProof="0" dirty="0"/>
              <a:t> fixa o número de parâmetros</a:t>
            </a:r>
          </a:p>
          <a:p>
            <a:pPr lvl="2">
              <a:buFont typeface="Courier New" panose="02070309020205020404" pitchFamily="49" charset="0"/>
              <a:buChar char="o"/>
            </a:pPr>
            <a:r>
              <a:rPr lang="pt-BR" noProof="0" dirty="0"/>
              <a:t>a complexidade do modelo não é fixa </a:t>
            </a:r>
            <a:r>
              <a:rPr lang="pt-BR" i="1" noProof="0" dirty="0"/>
              <a:t>a priori</a:t>
            </a:r>
            <a:r>
              <a:rPr lang="pt-BR" noProof="0" dirty="0"/>
              <a:t>.</a:t>
            </a:r>
          </a:p>
          <a:p>
            <a:pPr lvl="1">
              <a:buFont typeface="Wingdings" panose="05000000000000000000" pitchFamily="2" charset="2"/>
              <a:buChar char="§"/>
            </a:pPr>
            <a:r>
              <a:rPr lang="pt-BR" noProof="0" dirty="0"/>
              <a:t>a </a:t>
            </a:r>
            <a:r>
              <a:rPr lang="pt-BR" b="1" noProof="0" dirty="0">
                <a:solidFill>
                  <a:schemeClr val="accent2"/>
                </a:solidFill>
              </a:rPr>
              <a:t>complexidade depende dos dados</a:t>
            </a:r>
          </a:p>
          <a:p>
            <a:pPr lvl="2">
              <a:buFont typeface="Courier New" panose="02070309020205020404" pitchFamily="49" charset="0"/>
              <a:buChar char="o"/>
            </a:pPr>
            <a:r>
              <a:rPr lang="pt-BR" noProof="0" dirty="0"/>
              <a:t>Sua complexidade (número de parâmetros) aumenta à medida que os dados crescem</a:t>
            </a:r>
          </a:p>
          <a:p>
            <a:pPr lvl="2">
              <a:buFont typeface="Courier New" panose="02070309020205020404" pitchFamily="49" charset="0"/>
              <a:buChar char="o"/>
            </a:pPr>
            <a:r>
              <a:rPr lang="pt-BR" noProof="0" dirty="0"/>
              <a:t>Ou seja, a estrutura do modelo cresce dinamicamente</a:t>
            </a:r>
          </a:p>
          <a:p>
            <a:pPr lvl="1">
              <a:buFont typeface="Wingdings" panose="05000000000000000000" pitchFamily="2" charset="2"/>
              <a:buChar char="§"/>
            </a:pPr>
            <a:r>
              <a:rPr lang="pt-BR" noProof="0" dirty="0"/>
              <a:t>fazem </a:t>
            </a:r>
            <a:r>
              <a:rPr lang="pt-BR" b="1" noProof="0" dirty="0">
                <a:solidFill>
                  <a:schemeClr val="accent2"/>
                </a:solidFill>
              </a:rPr>
              <a:t>menos suposições fortes</a:t>
            </a:r>
            <a:r>
              <a:rPr lang="pt-BR" noProof="0" dirty="0"/>
              <a:t>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908430" y="1825624"/>
            <a:ext cx="6283569" cy="5032375"/>
          </a:xfrm>
        </p:spPr>
        <p:txBody>
          <a:bodyPr>
            <a:normAutofit/>
          </a:bodyPr>
          <a:lstStyle/>
          <a:p>
            <a:r>
              <a:rPr lang="pt-BR" dirty="0"/>
              <a:t>Os </a:t>
            </a:r>
            <a:r>
              <a:rPr lang="pt-BR" b="1" dirty="0">
                <a:solidFill>
                  <a:srgbClr val="00B050"/>
                </a:solidFill>
              </a:rPr>
              <a:t>parâmetros</a:t>
            </a:r>
            <a:r>
              <a:rPr lang="pt-BR" dirty="0"/>
              <a:t> são </a:t>
            </a:r>
            <a:r>
              <a:rPr lang="pt-BR" b="1" dirty="0">
                <a:solidFill>
                  <a:srgbClr val="00B050"/>
                </a:solidFill>
              </a:rPr>
              <a:t>criados</a:t>
            </a:r>
            <a:r>
              <a:rPr lang="pt-BR" dirty="0"/>
              <a:t> </a:t>
            </a:r>
            <a:r>
              <a:rPr lang="pt-BR" b="1" dirty="0">
                <a:solidFill>
                  <a:srgbClr val="00B050"/>
                </a:solidFill>
              </a:rPr>
              <a:t>durante o treinamento</a:t>
            </a:r>
            <a:r>
              <a:rPr lang="pt-BR" dirty="0"/>
              <a:t> para explicar os dados.</a:t>
            </a:r>
          </a:p>
          <a:p>
            <a:r>
              <a:rPr lang="pt-BR" dirty="0"/>
              <a:t>O </a:t>
            </a:r>
            <a:r>
              <a:rPr lang="pt-BR" b="1" dirty="0">
                <a:solidFill>
                  <a:schemeClr val="accent2"/>
                </a:solidFill>
              </a:rPr>
              <a:t>tamanho da árvore</a:t>
            </a:r>
            <a:r>
              <a:rPr lang="pt-BR" dirty="0"/>
              <a:t>, i.e., o número de parâmetros, tende a </a:t>
            </a:r>
            <a:r>
              <a:rPr lang="pt-BR" b="1" dirty="0">
                <a:solidFill>
                  <a:schemeClr val="accent2"/>
                </a:solidFill>
              </a:rPr>
              <a:t>crescer</a:t>
            </a:r>
            <a:r>
              <a:rPr lang="pt-BR" dirty="0"/>
              <a:t> com o </a:t>
            </a:r>
            <a:r>
              <a:rPr lang="pt-BR" b="1" dirty="0">
                <a:solidFill>
                  <a:schemeClr val="accent2"/>
                </a:solidFill>
              </a:rPr>
              <a:t>tamanho da base de dados</a:t>
            </a:r>
            <a:r>
              <a:rPr lang="pt-BR" dirty="0"/>
              <a:t>.</a:t>
            </a:r>
          </a:p>
          <a:p>
            <a:r>
              <a:rPr lang="pt-BR" dirty="0"/>
              <a:t>O </a:t>
            </a:r>
            <a:r>
              <a:rPr lang="pt-BR" b="1" dirty="0">
                <a:solidFill>
                  <a:srgbClr val="7030A0"/>
                </a:solidFill>
              </a:rPr>
              <a:t>número de parâmetros</a:t>
            </a:r>
            <a:r>
              <a:rPr lang="pt-BR" dirty="0"/>
              <a:t> </a:t>
            </a:r>
            <a:r>
              <a:rPr lang="pt-BR" b="1" dirty="0">
                <a:solidFill>
                  <a:srgbClr val="7030A0"/>
                </a:solidFill>
              </a:rPr>
              <a:t>não é determinado antes do treinamento</a:t>
            </a:r>
            <a:r>
              <a:rPr lang="pt-BR" dirty="0"/>
              <a:t>, de modo que a </a:t>
            </a:r>
            <a:r>
              <a:rPr lang="pt-BR" b="1" dirty="0">
                <a:solidFill>
                  <a:srgbClr val="7030A0"/>
                </a:solidFill>
              </a:rPr>
              <a:t>árvore é livre para se adaptar</a:t>
            </a:r>
            <a:r>
              <a:rPr lang="pt-BR" dirty="0"/>
              <a:t> aos dados de treinamento.</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534526" y="1825624"/>
            <a:ext cx="6657474" cy="5032375"/>
          </a:xfrm>
        </p:spPr>
        <p:txBody>
          <a:bodyPr>
            <a:normAutofit/>
          </a:bodyPr>
          <a:lstStyle/>
          <a:p>
            <a:r>
              <a:rPr lang="pt-BR" dirty="0"/>
              <a:t>As </a:t>
            </a:r>
            <a:r>
              <a:rPr lang="pt-BR" b="1" dirty="0">
                <a:solidFill>
                  <a:srgbClr val="7030A0"/>
                </a:solidFill>
              </a:rPr>
              <a:t>funções aproximadora e discriminante são funções não-lineares</a:t>
            </a:r>
            <a:r>
              <a:rPr lang="pt-BR" dirty="0"/>
              <a:t>, i.e., os dados </a:t>
            </a:r>
            <a:r>
              <a:rPr lang="pt-BR" b="1" dirty="0">
                <a:solidFill>
                  <a:schemeClr val="accent2"/>
                </a:solidFill>
              </a:rPr>
              <a:t>não são </a:t>
            </a:r>
            <a:r>
              <a:rPr lang="pt-BR" dirty="0"/>
              <a:t>aproximados ou separados por </a:t>
            </a:r>
            <a:r>
              <a:rPr lang="pt-BR" b="1" dirty="0">
                <a:solidFill>
                  <a:schemeClr val="accent2"/>
                </a:solidFill>
              </a:rPr>
              <a:t>hiperplanos</a:t>
            </a:r>
            <a:r>
              <a:rPr lang="pt-BR" dirty="0"/>
              <a:t>.</a:t>
            </a:r>
          </a:p>
          <a:p>
            <a:r>
              <a:rPr lang="pt-BR" dirty="0"/>
              <a:t>Cada nó faz um “</a:t>
            </a:r>
            <a:r>
              <a:rPr lang="pt-BR" b="1" dirty="0">
                <a:solidFill>
                  <a:srgbClr val="00B050"/>
                </a:solidFill>
              </a:rPr>
              <a:t>corte” no espaço de atributos</a:t>
            </a:r>
            <a:r>
              <a:rPr lang="pt-BR" dirty="0"/>
              <a:t>.</a:t>
            </a:r>
          </a:p>
          <a:p>
            <a:pPr lvl="1">
              <a:buFont typeface="Wingdings" panose="05000000000000000000" pitchFamily="2" charset="2"/>
              <a:buChar char="§"/>
            </a:pPr>
            <a:r>
              <a:rPr lang="pt-BR" dirty="0"/>
              <a:t>Os cortes são </a:t>
            </a:r>
            <a:r>
              <a:rPr lang="pt-BR" b="1" dirty="0">
                <a:solidFill>
                  <a:srgbClr val="00B050"/>
                </a:solidFill>
              </a:rPr>
              <a:t>paralelos aos eixos </a:t>
            </a:r>
            <a:r>
              <a:rPr lang="pt-BR" dirty="0"/>
              <a:t>do espaço de atributos.</a:t>
            </a:r>
          </a:p>
          <a:p>
            <a:r>
              <a:rPr lang="pt-BR" dirty="0"/>
              <a:t>A </a:t>
            </a:r>
            <a:r>
              <a:rPr lang="pt-BR" b="1" dirty="0">
                <a:solidFill>
                  <a:srgbClr val="0070C0"/>
                </a:solidFill>
              </a:rPr>
              <a:t>combinação</a:t>
            </a:r>
            <a:r>
              <a:rPr lang="pt-BR" dirty="0"/>
              <a:t> desses cortes </a:t>
            </a:r>
            <a:r>
              <a:rPr lang="pt-BR" b="1" dirty="0">
                <a:solidFill>
                  <a:srgbClr val="0070C0"/>
                </a:solidFill>
              </a:rPr>
              <a:t>gera uma função</a:t>
            </a:r>
            <a:r>
              <a:rPr lang="pt-BR" dirty="0"/>
              <a:t> altamente </a:t>
            </a:r>
            <a:r>
              <a:rPr lang="pt-BR" b="1" dirty="0">
                <a:solidFill>
                  <a:srgbClr val="0070C0"/>
                </a:solidFill>
              </a:rPr>
              <a:t>não-linear</a:t>
            </a:r>
            <a:r>
              <a:rPr lang="pt-BR" dirty="0"/>
              <a:t>, conforme mostrado pela linha laranja na figura ao lado.</a:t>
            </a:r>
          </a:p>
          <a:p>
            <a:pPr marL="0" indent="0">
              <a:buNone/>
            </a:pPr>
            <a:endParaRPr lang="pt-BR" dirty="0"/>
          </a:p>
        </p:txBody>
      </p:sp>
      <p:pic>
        <p:nvPicPr>
          <p:cNvPr id="1027" name="Picture 3">
            <a:extLst>
              <a:ext uri="{FF2B5EF4-FFF2-40B4-BE49-F238E27FC236}">
                <a16:creationId xmlns:a16="http://schemas.microsoft.com/office/drawing/2014/main" xmlns=""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95DB4D16-CBEC-519C-9CF5-A326098DA2F8}"/>
              </a:ext>
            </a:extLst>
          </p:cNvPr>
          <p:cNvSpPr>
            <a:spLocks noGrp="1"/>
          </p:cNvSpPr>
          <p:nvPr>
            <p:ph idx="1"/>
          </p:nvPr>
        </p:nvSpPr>
        <p:spPr>
          <a:xfrm>
            <a:off x="838200" y="2477843"/>
            <a:ext cx="10515600" cy="1902313"/>
          </a:xfrm>
        </p:spPr>
        <p:txBody>
          <a:bodyPr>
            <a:normAutofit/>
          </a:bodyPr>
          <a:lstStyle/>
          <a:p>
            <a:pPr marL="0" indent="0" algn="ctr">
              <a:buNone/>
            </a:pPr>
            <a:r>
              <a:rPr lang="pt-BR" sz="6000" dirty="0"/>
              <a:t>Qual o objetivo de uma árvore de decisão?</a:t>
            </a:r>
            <a:endParaRPr lang="en-US" sz="6000" dirty="0"/>
          </a:p>
        </p:txBody>
      </p:sp>
    </p:spTree>
    <p:extLst>
      <p:ext uri="{BB962C8B-B14F-4D97-AF65-F5344CB8AC3E}">
        <p14:creationId xmlns:p14="http://schemas.microsoft.com/office/powerpoint/2010/main" val="28477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253241" y="1825624"/>
            <a:ext cx="6938759" cy="5032376"/>
          </a:xfrm>
        </p:spPr>
        <p:txBody>
          <a:bodyPr>
            <a:normAutofit lnSpcReduction="10000"/>
          </a:bodyPr>
          <a:lstStyle/>
          <a:p>
            <a:r>
              <a:rPr lang="pt-BR" dirty="0"/>
              <a:t>O objetivo é criar um modelo que realize predições aprendendo </a:t>
            </a:r>
            <a:r>
              <a:rPr lang="pt-BR" b="1" dirty="0">
                <a:solidFill>
                  <a:srgbClr val="00B050"/>
                </a:solidFill>
              </a:rPr>
              <a:t>regras de decisão</a:t>
            </a:r>
            <a:r>
              <a:rPr lang="pt-BR" dirty="0"/>
              <a:t> </a:t>
            </a:r>
            <a:r>
              <a:rPr lang="pt-BR" b="1" dirty="0">
                <a:solidFill>
                  <a:schemeClr val="accent2"/>
                </a:solidFill>
              </a:rPr>
              <a:t>inferidas</a:t>
            </a:r>
            <a:r>
              <a:rPr lang="pt-BR" dirty="0"/>
              <a:t> a partir dos </a:t>
            </a:r>
            <a:r>
              <a:rPr lang="pt-BR" b="1" dirty="0">
                <a:solidFill>
                  <a:srgbClr val="7030A0"/>
                </a:solidFill>
              </a:rPr>
              <a:t>atributos do conjunto de treinamento</a:t>
            </a:r>
            <a:r>
              <a:rPr lang="pt-BR" dirty="0"/>
              <a:t>.</a:t>
            </a:r>
          </a:p>
          <a:p>
            <a:r>
              <a:rPr lang="pt-BR" dirty="0"/>
              <a:t>As árvores são compostas por</a:t>
            </a:r>
          </a:p>
          <a:p>
            <a:pPr lvl="1">
              <a:buFont typeface="Wingdings" panose="05000000000000000000" pitchFamily="2" charset="2"/>
              <a:buChar char="§"/>
            </a:pPr>
            <a:r>
              <a:rPr lang="pt-BR" dirty="0"/>
              <a:t>um nó raiz: </a:t>
            </a:r>
            <a:r>
              <a:rPr lang="en-US" b="1" dirty="0" err="1">
                <a:solidFill>
                  <a:schemeClr val="accent2"/>
                </a:solidFill>
              </a:rPr>
              <a:t>primeiro</a:t>
            </a:r>
            <a:r>
              <a:rPr lang="en-US" b="1" dirty="0">
                <a:solidFill>
                  <a:schemeClr val="accent2"/>
                </a:solidFill>
              </a:rPr>
              <a:t> </a:t>
            </a:r>
            <a:r>
              <a:rPr lang="en-US" b="1" dirty="0" err="1">
                <a:solidFill>
                  <a:schemeClr val="accent2"/>
                </a:solidFill>
              </a:rPr>
              <a:t>nó</a:t>
            </a:r>
            <a:r>
              <a:rPr lang="en-US" b="1" dirty="0">
                <a:solidFill>
                  <a:schemeClr val="accent2"/>
                </a:solidFill>
              </a:rPr>
              <a:t> da </a:t>
            </a:r>
            <a:r>
              <a:rPr lang="en-US" b="1" dirty="0" err="1">
                <a:solidFill>
                  <a:schemeClr val="accent2"/>
                </a:solidFill>
              </a:rPr>
              <a:t>árvore</a:t>
            </a:r>
            <a:r>
              <a:rPr lang="en-US" dirty="0"/>
              <a:t>.</a:t>
            </a:r>
          </a:p>
          <a:p>
            <a:pPr lvl="2">
              <a:buFont typeface="Courier New" panose="02070309020205020404" pitchFamily="49" charset="0"/>
              <a:buChar char="o"/>
            </a:pPr>
            <a:r>
              <a:rPr lang="pt-BR" dirty="0"/>
              <a:t>realiza a </a:t>
            </a:r>
            <a:r>
              <a:rPr lang="pt-BR" b="1" dirty="0">
                <a:solidFill>
                  <a:srgbClr val="00B050"/>
                </a:solidFill>
              </a:rPr>
              <a:t>primeira ramificação dos dados </a:t>
            </a:r>
            <a:r>
              <a:rPr lang="pt-BR" dirty="0"/>
              <a:t>(</a:t>
            </a:r>
            <a:r>
              <a:rPr lang="pt-BR" i="1" dirty="0" err="1"/>
              <a:t>split</a:t>
            </a:r>
            <a:r>
              <a:rPr lang="pt-BR" dirty="0"/>
              <a:t>)</a:t>
            </a:r>
          </a:p>
          <a:p>
            <a:pPr lvl="1">
              <a:buFont typeface="Wingdings" panose="05000000000000000000" pitchFamily="2" charset="2"/>
              <a:buChar char="§"/>
            </a:pPr>
            <a:r>
              <a:rPr lang="pt-BR" dirty="0"/>
              <a:t>nós de decisão</a:t>
            </a:r>
          </a:p>
          <a:p>
            <a:pPr lvl="2">
              <a:buFont typeface="Courier New" panose="02070309020205020404" pitchFamily="49" charset="0"/>
              <a:buChar char="o"/>
            </a:pPr>
            <a:r>
              <a:rPr lang="en-US" dirty="0" err="1"/>
              <a:t>representam</a:t>
            </a:r>
            <a:r>
              <a:rPr lang="en-US" dirty="0"/>
              <a:t> </a:t>
            </a:r>
            <a:r>
              <a:rPr lang="en-US" b="1" dirty="0">
                <a:solidFill>
                  <a:srgbClr val="00B050"/>
                </a:solidFill>
              </a:rPr>
              <a:t>testes/</a:t>
            </a:r>
            <a:r>
              <a:rPr lang="en-US" b="1" dirty="0" err="1">
                <a:solidFill>
                  <a:srgbClr val="00B050"/>
                </a:solidFill>
              </a:rPr>
              <a:t>condições</a:t>
            </a:r>
            <a:endParaRPr lang="en-US" b="1" dirty="0">
              <a:solidFill>
                <a:srgbClr val="00B050"/>
              </a:solidFill>
            </a:endParaRPr>
          </a:p>
          <a:p>
            <a:pPr lvl="2">
              <a:buFont typeface="Courier New" panose="02070309020205020404" pitchFamily="49" charset="0"/>
              <a:buChar char="o"/>
            </a:pPr>
            <a:r>
              <a:rPr lang="pt-BR" b="1" dirty="0">
                <a:solidFill>
                  <a:srgbClr val="00B050"/>
                </a:solidFill>
              </a:rPr>
              <a:t>dividem os dados em subconjuntos</a:t>
            </a:r>
            <a:r>
              <a:rPr lang="pt-BR" dirty="0"/>
              <a:t> menores</a:t>
            </a:r>
          </a:p>
          <a:p>
            <a:pPr lvl="1">
              <a:buFont typeface="Wingdings" panose="05000000000000000000" pitchFamily="2" charset="2"/>
              <a:buChar char="§"/>
            </a:pPr>
            <a:r>
              <a:rPr lang="pt-BR" dirty="0"/>
              <a:t>ramificações</a:t>
            </a:r>
          </a:p>
          <a:p>
            <a:pPr lvl="2">
              <a:buFont typeface="Courier New" panose="02070309020205020404" pitchFamily="49" charset="0"/>
              <a:buChar char="o"/>
            </a:pPr>
            <a:r>
              <a:rPr lang="pt-BR" dirty="0"/>
              <a:t>representam o </a:t>
            </a:r>
            <a:r>
              <a:rPr lang="pt-BR" b="1" dirty="0">
                <a:solidFill>
                  <a:srgbClr val="00B050"/>
                </a:solidFill>
              </a:rPr>
              <a:t>resultado de uma condição</a:t>
            </a:r>
          </a:p>
          <a:p>
            <a:pPr lvl="1">
              <a:buFont typeface="Wingdings" panose="05000000000000000000" pitchFamily="2" charset="2"/>
              <a:buChar char="§"/>
            </a:pPr>
            <a:r>
              <a:rPr lang="pt-BR" dirty="0"/>
              <a:t>e (nós) folhas</a:t>
            </a:r>
          </a:p>
          <a:p>
            <a:pPr lvl="2">
              <a:buFont typeface="Courier New" panose="02070309020205020404" pitchFamily="49" charset="0"/>
              <a:buChar char="o"/>
            </a:pPr>
            <a:r>
              <a:rPr lang="pt-BR" dirty="0"/>
              <a:t>representam o </a:t>
            </a:r>
            <a:r>
              <a:rPr lang="pt-BR" b="1" dirty="0">
                <a:solidFill>
                  <a:srgbClr val="00B050"/>
                </a:solidFill>
              </a:rPr>
              <a:t>valor final da predição</a:t>
            </a:r>
          </a:p>
        </p:txBody>
      </p:sp>
      <p:grpSp>
        <p:nvGrpSpPr>
          <p:cNvPr id="18" name="Agrupar 17">
            <a:extLst>
              <a:ext uri="{FF2B5EF4-FFF2-40B4-BE49-F238E27FC236}">
                <a16:creationId xmlns:a16="http://schemas.microsoft.com/office/drawing/2014/main" xmlns="" id="{030A68DD-FD1B-ABCA-7216-39A98E33EE4B}"/>
              </a:ext>
            </a:extLst>
          </p:cNvPr>
          <p:cNvGrpSpPr/>
          <p:nvPr/>
        </p:nvGrpSpPr>
        <p:grpSpPr>
          <a:xfrm>
            <a:off x="-211042" y="2127157"/>
            <a:ext cx="5454236" cy="3863217"/>
            <a:chOff x="100456" y="2157302"/>
            <a:chExt cx="5454236" cy="3863217"/>
          </a:xfrm>
        </p:grpSpPr>
        <p:pic>
          <p:nvPicPr>
            <p:cNvPr id="10" name="Imagem 9" descr="DECISION TREE. What is a Decision Tree? | by Vanshika Mishra | Medium">
              <a:extLst>
                <a:ext uri="{FF2B5EF4-FFF2-40B4-BE49-F238E27FC236}">
                  <a16:creationId xmlns:a16="http://schemas.microsoft.com/office/drawing/2014/main" xmlns="" id="{CDE00997-335E-6514-48F8-4515FE54C64B}"/>
                </a:ext>
              </a:extLst>
            </p:cNvPr>
            <p:cNvPicPr>
              <a:picLocks noChangeAspect="1"/>
            </p:cNvPicPr>
            <p:nvPr/>
          </p:nvPicPr>
          <p:blipFill>
            <a:blip r:embed="rId3"/>
            <a:stretch>
              <a:fillRect/>
            </a:stretch>
          </p:blipFill>
          <p:spPr>
            <a:xfrm>
              <a:off x="472139" y="2371246"/>
              <a:ext cx="5082553" cy="3649273"/>
            </a:xfrm>
            <a:prstGeom prst="rect">
              <a:avLst/>
            </a:prstGeom>
          </p:spPr>
        </p:pic>
        <p:sp>
          <p:nvSpPr>
            <p:cNvPr id="12" name="CaixaDeTexto 11">
              <a:extLst>
                <a:ext uri="{FF2B5EF4-FFF2-40B4-BE49-F238E27FC236}">
                  <a16:creationId xmlns:a16="http://schemas.microsoft.com/office/drawing/2014/main" xmlns="" id="{A1FC081E-41A1-F9E4-5070-942EEE2F3C31}"/>
                </a:ext>
              </a:extLst>
            </p:cNvPr>
            <p:cNvSpPr txBox="1"/>
            <p:nvPr/>
          </p:nvSpPr>
          <p:spPr>
            <a:xfrm>
              <a:off x="100456" y="2434301"/>
              <a:ext cx="1400539" cy="276999"/>
            </a:xfrm>
            <a:prstGeom prst="rect">
              <a:avLst/>
            </a:prstGeom>
            <a:noFill/>
          </p:spPr>
          <p:txBody>
            <a:bodyPr wrap="square" rtlCol="0">
              <a:spAutoFit/>
            </a:bodyPr>
            <a:lstStyle/>
            <a:p>
              <a:pPr algn="ctr"/>
              <a:r>
                <a:rPr lang="pt-BR" sz="1200" dirty="0"/>
                <a:t>ramificação</a:t>
              </a:r>
            </a:p>
          </p:txBody>
        </p:sp>
        <p:sp>
          <p:nvSpPr>
            <p:cNvPr id="14" name="CaixaDeTexto 13">
              <a:extLst>
                <a:ext uri="{FF2B5EF4-FFF2-40B4-BE49-F238E27FC236}">
                  <a16:creationId xmlns:a16="http://schemas.microsoft.com/office/drawing/2014/main" xmlns="" id="{70B2D665-5EC1-D0F9-2708-A5727D450CEF}"/>
                </a:ext>
              </a:extLst>
            </p:cNvPr>
            <p:cNvSpPr txBox="1"/>
            <p:nvPr/>
          </p:nvSpPr>
          <p:spPr>
            <a:xfrm>
              <a:off x="2529851" y="2157302"/>
              <a:ext cx="1016729" cy="276999"/>
            </a:xfrm>
            <a:prstGeom prst="rect">
              <a:avLst/>
            </a:prstGeom>
            <a:noFill/>
          </p:spPr>
          <p:txBody>
            <a:bodyPr wrap="square" rtlCol="0">
              <a:spAutoFit/>
            </a:bodyPr>
            <a:lstStyle/>
            <a:p>
              <a:pPr algn="ctr"/>
              <a:r>
                <a:rPr lang="pt-BR" sz="1200" dirty="0"/>
                <a:t>Nó raiz</a:t>
              </a:r>
            </a:p>
          </p:txBody>
        </p:sp>
        <p:sp>
          <p:nvSpPr>
            <p:cNvPr id="16" name="CaixaDeTexto 15">
              <a:extLst>
                <a:ext uri="{FF2B5EF4-FFF2-40B4-BE49-F238E27FC236}">
                  <a16:creationId xmlns:a16="http://schemas.microsoft.com/office/drawing/2014/main" xmlns="" id="{A5D66DA8-19F3-492D-DDCB-7D5D95EDD323}"/>
                </a:ext>
              </a:extLst>
            </p:cNvPr>
            <p:cNvSpPr txBox="1"/>
            <p:nvPr/>
          </p:nvSpPr>
          <p:spPr>
            <a:xfrm>
              <a:off x="472139" y="3206798"/>
              <a:ext cx="1400539" cy="276999"/>
            </a:xfrm>
            <a:prstGeom prst="rect">
              <a:avLst/>
            </a:prstGeom>
            <a:noFill/>
          </p:spPr>
          <p:txBody>
            <a:bodyPr wrap="square" rtlCol="0">
              <a:spAutoFit/>
            </a:bodyPr>
            <a:lstStyle/>
            <a:p>
              <a:pPr algn="ctr"/>
              <a:r>
                <a:rPr lang="pt-BR" sz="1200" dirty="0"/>
                <a:t>Nó de decisão</a:t>
              </a:r>
            </a:p>
          </p:txBody>
        </p:sp>
        <p:sp>
          <p:nvSpPr>
            <p:cNvPr id="17" name="CaixaDeTexto 16">
              <a:extLst>
                <a:ext uri="{FF2B5EF4-FFF2-40B4-BE49-F238E27FC236}">
                  <a16:creationId xmlns:a16="http://schemas.microsoft.com/office/drawing/2014/main" xmlns="" id="{0D635674-ECCA-95F3-416C-B9786F33D7F1}"/>
                </a:ext>
              </a:extLst>
            </p:cNvPr>
            <p:cNvSpPr txBox="1"/>
            <p:nvPr/>
          </p:nvSpPr>
          <p:spPr>
            <a:xfrm>
              <a:off x="2832977" y="5213675"/>
              <a:ext cx="1016729" cy="276999"/>
            </a:xfrm>
            <a:prstGeom prst="rect">
              <a:avLst/>
            </a:prstGeom>
            <a:noFill/>
          </p:spPr>
          <p:txBody>
            <a:bodyPr wrap="square" rtlCol="0">
              <a:spAutoFit/>
            </a:bodyPr>
            <a:lstStyle/>
            <a:p>
              <a:pPr algn="ctr"/>
              <a:r>
                <a:rPr lang="pt-BR" sz="1200" dirty="0"/>
                <a:t>folha</a:t>
              </a:r>
            </a:p>
          </p:txBody>
        </p:sp>
      </p:grpSp>
    </p:spTree>
    <p:extLst>
      <p:ext uri="{BB962C8B-B14F-4D97-AF65-F5344CB8AC3E}">
        <p14:creationId xmlns:p14="http://schemas.microsoft.com/office/powerpoint/2010/main" val="300331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A6C61E2-C9D9-4579-F948-99A2D5BE7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C721F01-9B60-CE83-1A1E-B8A9ECB604FD}"/>
              </a:ext>
            </a:extLst>
          </p:cNvPr>
          <p:cNvSpPr>
            <a:spLocks noGrp="1"/>
          </p:cNvSpPr>
          <p:nvPr>
            <p:ph type="title"/>
          </p:nvPr>
        </p:nvSpPr>
        <p:spPr/>
        <p:txBody>
          <a:bodyPr/>
          <a:lstStyle/>
          <a:p>
            <a:r>
              <a:rPr lang="pt-BR" dirty="0"/>
              <a:t>Árvores de decisão</a:t>
            </a:r>
          </a:p>
        </p:txBody>
      </p:sp>
      <p:sp>
        <p:nvSpPr>
          <p:cNvPr id="3" name="Content Placeholder 2">
            <a:extLst>
              <a:ext uri="{FF2B5EF4-FFF2-40B4-BE49-F238E27FC236}">
                <a16:creationId xmlns:a16="http://schemas.microsoft.com/office/drawing/2014/main" xmlns="" id="{1896005C-B1E7-4590-24A9-D43FCF96F44C}"/>
              </a:ext>
            </a:extLst>
          </p:cNvPr>
          <p:cNvSpPr>
            <a:spLocks noGrp="1"/>
          </p:cNvSpPr>
          <p:nvPr>
            <p:ph idx="1"/>
          </p:nvPr>
        </p:nvSpPr>
        <p:spPr>
          <a:xfrm>
            <a:off x="6008914" y="1825624"/>
            <a:ext cx="6183086" cy="5032376"/>
          </a:xfrm>
        </p:spPr>
        <p:txBody>
          <a:bodyPr>
            <a:normAutofit/>
          </a:bodyPr>
          <a:lstStyle/>
          <a:p>
            <a:r>
              <a:rPr lang="pt-BR" dirty="0"/>
              <a:t>As </a:t>
            </a:r>
            <a:r>
              <a:rPr lang="pt-BR" b="1" dirty="0"/>
              <a:t>árvores de decisão </a:t>
            </a:r>
            <a:r>
              <a:rPr lang="pt-BR" dirty="0"/>
              <a:t>são os componentes fundamentais das </a:t>
            </a:r>
            <a:r>
              <a:rPr lang="pt-BR" b="1" dirty="0">
                <a:solidFill>
                  <a:srgbClr val="00B050"/>
                </a:solidFill>
              </a:rPr>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solidFill>
                  <a:schemeClr val="accent2"/>
                </a:solidFill>
              </a:rPr>
              <a:t>algoritmos mais robustos e populares</a:t>
            </a:r>
            <a:r>
              <a:rPr lang="pt-BR" dirty="0"/>
              <a:t> para </a:t>
            </a:r>
            <a:r>
              <a:rPr lang="pt-BR" b="1" dirty="0">
                <a:solidFill>
                  <a:schemeClr val="accent2"/>
                </a:solidFill>
              </a:rPr>
              <a:t>dados tabulares</a:t>
            </a:r>
            <a:r>
              <a:rPr lang="pt-BR" dirty="0"/>
              <a:t>.</a:t>
            </a:r>
          </a:p>
          <a:p>
            <a:r>
              <a:rPr lang="pt-BR" b="1" dirty="0">
                <a:solidFill>
                  <a:srgbClr val="7030A0"/>
                </a:solidFill>
              </a:rPr>
              <a:t>Florestas aleatórias</a:t>
            </a:r>
            <a:r>
              <a:rPr lang="pt-BR" dirty="0"/>
              <a:t> são compostas por </a:t>
            </a:r>
            <a:r>
              <a:rPr lang="pt-BR" b="1" dirty="0">
                <a:solidFill>
                  <a:srgbClr val="00B050"/>
                </a:solidFill>
              </a:rPr>
              <a:t>várias pequenas árvores</a:t>
            </a:r>
            <a:r>
              <a:rPr lang="pt-BR" dirty="0"/>
              <a:t> treinadas com subconjuntos aleatórios dos dados. </a:t>
            </a:r>
          </a:p>
          <a:p>
            <a:r>
              <a:rPr lang="pt-BR" dirty="0"/>
              <a:t>As </a:t>
            </a:r>
            <a:r>
              <a:rPr lang="pt-BR" b="1" dirty="0">
                <a:solidFill>
                  <a:schemeClr val="accent5"/>
                </a:solidFill>
              </a:rPr>
              <a:t>predições combinam suas respostas </a:t>
            </a:r>
            <a:r>
              <a:rPr lang="pt-BR" dirty="0"/>
              <a:t>através de </a:t>
            </a:r>
            <a:r>
              <a:rPr lang="pt-BR" b="1" dirty="0">
                <a:solidFill>
                  <a:schemeClr val="accent5"/>
                </a:solidFill>
              </a:rPr>
              <a:t>média</a:t>
            </a:r>
            <a:r>
              <a:rPr lang="pt-BR" dirty="0"/>
              <a:t> (regressão) ou </a:t>
            </a:r>
            <a:r>
              <a:rPr lang="pt-BR" b="1" dirty="0">
                <a:solidFill>
                  <a:schemeClr val="accent5"/>
                </a:solidFill>
              </a:rPr>
              <a:t>votação</a:t>
            </a:r>
            <a:r>
              <a:rPr lang="pt-BR" dirty="0"/>
              <a:t> (classificação).</a:t>
            </a:r>
          </a:p>
        </p:txBody>
      </p:sp>
      <p:pic>
        <p:nvPicPr>
          <p:cNvPr id="10" name="Imagem 9" descr="Decision Tree vs Random Forest | Which Is Right for You?">
            <a:extLst>
              <a:ext uri="{FF2B5EF4-FFF2-40B4-BE49-F238E27FC236}">
                <a16:creationId xmlns:a16="http://schemas.microsoft.com/office/drawing/2014/main" xmlns="" id="{1DAD4555-E873-D48B-2822-9CA7FFE514A3}"/>
              </a:ext>
            </a:extLst>
          </p:cNvPr>
          <p:cNvPicPr>
            <a:picLocks noChangeAspect="1"/>
          </p:cNvPicPr>
          <p:nvPr/>
        </p:nvPicPr>
        <p:blipFill>
          <a:blip r:embed="rId3"/>
          <a:stretch>
            <a:fillRect/>
          </a:stretch>
        </p:blipFill>
        <p:spPr>
          <a:xfrm>
            <a:off x="99788" y="2130251"/>
            <a:ext cx="5746446" cy="3893004"/>
          </a:xfrm>
          <a:prstGeom prst="rect">
            <a:avLst/>
          </a:prstGeom>
        </p:spPr>
      </p:pic>
    </p:spTree>
    <p:extLst>
      <p:ext uri="{BB962C8B-B14F-4D97-AF65-F5344CB8AC3E}">
        <p14:creationId xmlns:p14="http://schemas.microsoft.com/office/powerpoint/2010/main" val="771794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direcionado</a:t>
            </a:r>
            <a:r>
              <a:rPr lang="pt-BR" b="1" dirty="0"/>
              <a:t> </a:t>
            </a:r>
            <a:r>
              <a:rPr lang="pt-BR" b="1" dirty="0">
                <a:solidFill>
                  <a:srgbClr val="7030A0"/>
                </a:solidFill>
              </a:rPr>
              <a:t>acíclico</a:t>
            </a:r>
            <a:r>
              <a:rPr lang="pt-BR" b="1" dirty="0"/>
              <a:t> </a:t>
            </a:r>
            <a:r>
              <a:rPr lang="pt-BR" dirty="0"/>
              <a:t>(sem realimentação) no qual </a:t>
            </a:r>
            <a:r>
              <a:rPr lang="pt-BR" b="1" dirty="0">
                <a:solidFill>
                  <a:schemeClr val="accent2"/>
                </a:solidFill>
              </a:rPr>
              <a:t>dois nós quaisquer se conectam por um único caminho</a:t>
            </a:r>
            <a:r>
              <a:rPr lang="pt-BR" dirty="0"/>
              <a:t>.</a:t>
            </a:r>
            <a:endParaRPr lang="pt-BR" sz="2400" dirty="0"/>
          </a:p>
          <a:p>
            <a:pPr lvl="1">
              <a:buFont typeface="Wingdings" panose="05000000000000000000" pitchFamily="2" charset="2"/>
              <a:buChar char="§"/>
            </a:pPr>
            <a:r>
              <a:rPr lang="pt-BR" dirty="0"/>
              <a:t>Um ciclo é um caminho em que o primeiro e o último nó coincidem.</a:t>
            </a:r>
          </a:p>
          <a:p>
            <a:r>
              <a:rPr lang="pt-BR" dirty="0"/>
              <a:t>Por exemplo, na árvore ao lado, o </a:t>
            </a:r>
            <a:r>
              <a:rPr lang="pt-BR" b="1" dirty="0">
                <a:solidFill>
                  <a:srgbClr val="00B050"/>
                </a:solidFill>
              </a:rPr>
              <a:t>nó “Pássaro”</a:t>
            </a:r>
            <a:r>
              <a:rPr lang="pt-BR" dirty="0"/>
              <a:t> só se conecta ao </a:t>
            </a:r>
            <a:r>
              <a:rPr lang="pt-BR" b="1" dirty="0">
                <a:solidFill>
                  <a:srgbClr val="00B050"/>
                </a:solidFill>
              </a:rPr>
              <a:t>nó “Mamífero”</a:t>
            </a:r>
            <a:r>
              <a:rPr lang="pt-BR" dirty="0"/>
              <a:t> através do </a:t>
            </a:r>
            <a:r>
              <a:rPr lang="pt-BR" b="1" dirty="0">
                <a:solidFill>
                  <a:srgbClr val="00B050"/>
                </a:solidFill>
              </a:rPr>
              <a:t>nó “Bota ovo?”</a:t>
            </a:r>
            <a:r>
              <a:rPr lang="pt-BR" dirty="0"/>
              <a:t> e </a:t>
            </a:r>
            <a:r>
              <a:rPr lang="pt-BR" b="1" dirty="0">
                <a:solidFill>
                  <a:srgbClr val="7030A0"/>
                </a:solidFill>
              </a:rPr>
              <a:t>não existem ciclos</a:t>
            </a:r>
            <a:r>
              <a:rPr lang="pt-BR" dirty="0"/>
              <a:t>.</a:t>
            </a:r>
          </a:p>
          <a:p>
            <a:r>
              <a:rPr lang="pt-BR" dirty="0"/>
              <a:t>É </a:t>
            </a:r>
            <a:r>
              <a:rPr lang="pt-BR" b="1" dirty="0">
                <a:solidFill>
                  <a:srgbClr val="7030A0"/>
                </a:solidFill>
              </a:rPr>
              <a:t>direcionado</a:t>
            </a:r>
            <a:r>
              <a:rPr lang="pt-BR" dirty="0"/>
              <a:t>, pois a informação percorre a árvore do </a:t>
            </a:r>
            <a:r>
              <a:rPr lang="pt-BR" b="1" dirty="0">
                <a:solidFill>
                  <a:srgbClr val="7030A0"/>
                </a:solidFill>
              </a:rPr>
              <a:t>topo para baixo</a:t>
            </a:r>
            <a:r>
              <a:rPr lang="pt-BR" dirty="0"/>
              <a:t>.</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O </a:t>
            </a:r>
            <a:r>
              <a:rPr lang="pt-BR" b="1" dirty="0"/>
              <a:t>processo de decisão</a:t>
            </a:r>
            <a:r>
              <a:rPr lang="pt-BR" dirty="0"/>
              <a:t> se </a:t>
            </a:r>
            <a:r>
              <a:rPr lang="pt-BR" b="1" dirty="0">
                <a:solidFill>
                  <a:srgbClr val="7030A0"/>
                </a:solidFill>
              </a:rPr>
              <a:t>inicia</a:t>
            </a:r>
            <a:r>
              <a:rPr lang="pt-BR" dirty="0"/>
              <a:t> pelo </a:t>
            </a:r>
            <a:r>
              <a:rPr lang="pt-BR" b="1" dirty="0"/>
              <a:t>nó raiz</a:t>
            </a:r>
            <a:r>
              <a:rPr lang="pt-BR" dirty="0"/>
              <a:t>. </a:t>
            </a:r>
          </a:p>
          <a:p>
            <a:r>
              <a:rPr lang="pt-BR" dirty="0"/>
              <a:t>Nesse processo, </a:t>
            </a:r>
            <a:r>
              <a:rPr lang="pt-BR" b="1" dirty="0">
                <a:solidFill>
                  <a:schemeClr val="accent2"/>
                </a:solidFill>
              </a:rPr>
              <a:t>valores distintos dos atributos geram </a:t>
            </a:r>
            <a:r>
              <a:rPr lang="pt-BR" b="1" dirty="0">
                <a:solidFill>
                  <a:srgbClr val="00B050"/>
                </a:solidFill>
              </a:rPr>
              <a:t>ramificações</a:t>
            </a:r>
            <a:r>
              <a:rPr lang="pt-BR" dirty="0"/>
              <a:t> (</a:t>
            </a:r>
            <a:r>
              <a:rPr lang="pt-BR" b="1" dirty="0">
                <a:solidFill>
                  <a:schemeClr val="accent5"/>
                </a:solidFill>
              </a:rPr>
              <a:t>nós de decisão</a:t>
            </a:r>
            <a:r>
              <a:rPr lang="pt-BR" dirty="0"/>
              <a:t>) e, quando se chega a um </a:t>
            </a:r>
            <a:r>
              <a:rPr lang="pt-BR" b="1" dirty="0">
                <a:solidFill>
                  <a:srgbClr val="7030A0"/>
                </a:solidFill>
              </a:rPr>
              <a:t>nó folha</a:t>
            </a:r>
            <a:r>
              <a:rPr lang="pt-BR" dirty="0"/>
              <a:t>, ocorre 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endParaRPr lang="pt-BR" dirty="0"/>
          </a:p>
          <a:p>
            <a:r>
              <a:rPr lang="pt-BR" dirty="0"/>
              <a:t>Ou seja, é possível </a:t>
            </a:r>
            <a:r>
              <a:rPr lang="pt-BR" b="1" dirty="0">
                <a:solidFill>
                  <a:schemeClr val="accent2"/>
                </a:solidFill>
              </a:rPr>
              <a:t>entender e explicar </a:t>
            </a:r>
            <a:r>
              <a:rPr lang="pt-BR" b="1" dirty="0">
                <a:solidFill>
                  <a:schemeClr val="accent5"/>
                </a:solidFill>
              </a:rPr>
              <a:t>facilmente</a:t>
            </a:r>
            <a:r>
              <a:rPr lang="pt-BR" b="1" dirty="0">
                <a:solidFill>
                  <a:schemeClr val="accent2"/>
                </a:solidFill>
              </a:rPr>
              <a:t> como o modelo realiza a </a:t>
            </a:r>
            <a:r>
              <a:rPr lang="pt-BR" b="1" dirty="0">
                <a:solidFill>
                  <a:schemeClr val="accent5"/>
                </a:solidFill>
              </a:rPr>
              <a:t>predição</a:t>
            </a:r>
            <a:r>
              <a:rPr lang="pt-BR" b="1" dirty="0">
                <a:solidFill>
                  <a:schemeClr val="accent2"/>
                </a:solidFill>
              </a:rPr>
              <a:t> </a:t>
            </a:r>
            <a:r>
              <a:rPr lang="pt-BR" dirty="0"/>
              <a:t>(classificação ou regressão) baseando-se nos atributos.</a:t>
            </a:r>
          </a:p>
          <a:p>
            <a:r>
              <a:rPr lang="pt-BR" dirty="0"/>
              <a:t>Elas são o oposto dos modelos de </a:t>
            </a:r>
            <a:r>
              <a:rPr lang="pt-BR" b="1" dirty="0">
                <a:solidFill>
                  <a:srgbClr val="7030A0"/>
                </a:solidFill>
              </a:rPr>
              <a:t>caixa preta</a:t>
            </a:r>
            <a:r>
              <a:rPr lang="pt-BR" dirty="0"/>
              <a:t>, onde os </a:t>
            </a:r>
            <a:r>
              <a:rPr lang="pt-BR" b="1" dirty="0">
                <a:solidFill>
                  <a:srgbClr val="0070C0"/>
                </a:solidFill>
              </a:rPr>
              <a:t>resultados</a:t>
            </a:r>
            <a:r>
              <a:rPr lang="pt-BR" dirty="0"/>
              <a:t> </a:t>
            </a:r>
            <a:r>
              <a:rPr lang="pt-BR" b="1" dirty="0">
                <a:solidFill>
                  <a:srgbClr val="0070C0"/>
                </a:solidFill>
              </a:rPr>
              <a:t>são difíceis de interpretar</a:t>
            </a:r>
            <a:r>
              <a:rPr lang="pt-BR" dirty="0"/>
              <a:t> e </a:t>
            </a:r>
            <a:r>
              <a:rPr lang="pt-BR" b="1" dirty="0">
                <a:solidFill>
                  <a:srgbClr val="7030A0"/>
                </a:solidFill>
              </a:rPr>
              <a:t>não é fácil entender como os atributos interagem entre si para gerar a saída.</a:t>
            </a:r>
            <a:r>
              <a:rPr lang="pt-BR" dirty="0"/>
              <a:t> </a:t>
            </a:r>
          </a:p>
          <a:p>
            <a:pPr lvl="1">
              <a:buFont typeface="Wingdings" panose="05000000000000000000" pitchFamily="2" charset="2"/>
              <a:buChar char="§"/>
            </a:pPr>
            <a:r>
              <a:rPr lang="pt-BR" dirty="0"/>
              <a:t>Redes neurais artificiais são exemplos de modelos de caixa preta.</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a:t>
            </a:r>
            <a:r>
              <a:rPr lang="pt-BR" b="1" dirty="0"/>
              <a:t>árvore de decisão para classificação</a:t>
            </a:r>
            <a:r>
              <a:rPr lang="pt-BR" dirty="0"/>
              <a:t> criada a partir de informações se </a:t>
            </a:r>
            <a:r>
              <a:rPr lang="pt-BR" b="1" dirty="0">
                <a:solidFill>
                  <a:schemeClr val="accent2"/>
                </a:solidFill>
              </a:rPr>
              <a:t>jogadores jogarão tênis ou não</a:t>
            </a:r>
            <a:r>
              <a:rPr lang="pt-BR" dirty="0"/>
              <a:t>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terminação ou folha, corresponde a uma classe.</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Como podemos ver, 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Uma primeira abordagem para induzir uma árvore poderia ser </a:t>
            </a:r>
            <a:r>
              <a:rPr lang="pt-BR" b="1" dirty="0">
                <a:solidFill>
                  <a:schemeClr val="accent2"/>
                </a:solidFill>
              </a:rPr>
              <a:t>construir</a:t>
            </a:r>
            <a:r>
              <a:rPr lang="pt-BR" dirty="0"/>
              <a:t>,</a:t>
            </a:r>
            <a:r>
              <a:rPr lang="pt-BR" b="1" dirty="0"/>
              <a:t> </a:t>
            </a:r>
            <a:r>
              <a:rPr lang="pt-BR" b="1" dirty="0">
                <a:solidFill>
                  <a:schemeClr val="accent2"/>
                </a:solidFill>
              </a:rPr>
              <a:t>de maneira exaustiva</a:t>
            </a:r>
            <a:r>
              <a:rPr lang="pt-BR" dirty="0"/>
              <a:t>, </a:t>
            </a:r>
            <a:r>
              <a:rPr lang="pt-BR" b="1" dirty="0">
                <a:solidFill>
                  <a:srgbClr val="7030A0"/>
                </a:solidFill>
              </a:rPr>
              <a:t>todas as árvores</a:t>
            </a:r>
            <a:r>
              <a:rPr lang="pt-BR" dirty="0"/>
              <a:t>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a:t>
            </a:r>
            <a:r>
              <a:rPr lang="pt-BR" b="1" dirty="0">
                <a:solidFill>
                  <a:srgbClr val="7030A0"/>
                </a:solidFill>
              </a:rPr>
              <a:t>computacionalmente muito custosa</a:t>
            </a:r>
            <a:r>
              <a:rPr lang="pt-BR" dirty="0"/>
              <a:t>. </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Esses </a:t>
            </a:r>
            <a:r>
              <a:rPr lang="en-US" altLang="en-US" dirty="0" err="1"/>
              <a:t>são</a:t>
            </a:r>
            <a:r>
              <a:rPr lang="en-US" altLang="en-US" dirty="0"/>
              <a:t> </a:t>
            </a:r>
            <a:r>
              <a:rPr lang="en-US" altLang="en-US" dirty="0" err="1"/>
              <a:t>problemas</a:t>
            </a:r>
            <a:r>
              <a:rPr lang="en-US" altLang="en-US" dirty="0"/>
              <a:t> </a:t>
            </a:r>
            <a:r>
              <a:rPr lang="pt-BR" dirty="0"/>
              <a:t>onde </a:t>
            </a:r>
            <a:r>
              <a:rPr lang="pt-BR" b="1" dirty="0"/>
              <a:t>conferir uma solução é fácil</a:t>
            </a:r>
            <a:r>
              <a:rPr lang="pt-BR" dirty="0"/>
              <a:t>, </a:t>
            </a:r>
            <a:r>
              <a:rPr lang="pt-BR" b="1" dirty="0">
                <a:solidFill>
                  <a:schemeClr val="accent5"/>
                </a:solidFill>
              </a:rPr>
              <a:t>mas descobrir a resposta</a:t>
            </a:r>
            <a:r>
              <a:rPr lang="pt-BR" dirty="0"/>
              <a:t> é </a:t>
            </a:r>
            <a:r>
              <a:rPr lang="pt-BR" b="1" dirty="0">
                <a:solidFill>
                  <a:schemeClr val="accent2"/>
                </a:solidFill>
              </a:rPr>
              <a:t>extremamente difícil</a:t>
            </a:r>
            <a:r>
              <a:rPr lang="pt-BR" dirty="0"/>
              <a:t>.</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Como a indução de árvores é um </a:t>
            </a:r>
            <a:r>
              <a:rPr lang="pt-BR" b="1" dirty="0">
                <a:solidFill>
                  <a:schemeClr val="accent5"/>
                </a:solidFill>
              </a:rPr>
              <a:t>problema NP-completo</a:t>
            </a:r>
            <a:r>
              <a:rPr lang="pt-BR" dirty="0"/>
              <a:t>, em geral, usa-se </a:t>
            </a:r>
            <a:r>
              <a:rPr lang="pt-BR" b="1" dirty="0">
                <a:solidFill>
                  <a:schemeClr val="accent2"/>
                </a:solidFill>
              </a:rPr>
              <a:t>abordagens heurísticas </a:t>
            </a:r>
            <a:r>
              <a:rPr lang="pt-BR" dirty="0"/>
              <a:t>para induzir árvores de decisão.</a:t>
            </a:r>
          </a:p>
          <a:p>
            <a:pPr lvl="1">
              <a:buFont typeface="Wingdings" panose="05000000000000000000" pitchFamily="2" charset="2"/>
              <a:buChar char="§"/>
            </a:pPr>
            <a:r>
              <a:rPr lang="pt-BR" b="1" dirty="0"/>
              <a:t>Heurística</a:t>
            </a:r>
            <a:r>
              <a:rPr lang="pt-BR" dirty="0"/>
              <a:t>: </a:t>
            </a:r>
            <a:r>
              <a:rPr lang="pt-BR" b="1" dirty="0">
                <a:solidFill>
                  <a:schemeClr val="accent2"/>
                </a:solidFill>
              </a:rPr>
              <a:t>regra prática</a:t>
            </a:r>
            <a:r>
              <a:rPr lang="pt-BR" dirty="0"/>
              <a:t> que guia a busca por boas soluções, mas </a:t>
            </a:r>
            <a:r>
              <a:rPr lang="pt-BR" b="1" dirty="0">
                <a:solidFill>
                  <a:schemeClr val="accent2"/>
                </a:solidFill>
              </a:rPr>
              <a:t>não garante a melhor solução</a:t>
            </a:r>
            <a:r>
              <a:rPr lang="pt-BR" dirty="0"/>
              <a:t> possível.</a:t>
            </a:r>
          </a:p>
          <a:p>
            <a:r>
              <a:rPr lang="pt-BR" dirty="0"/>
              <a:t>As </a:t>
            </a:r>
            <a:r>
              <a:rPr lang="pt-BR" b="1" dirty="0"/>
              <a:t>heurísticas</a:t>
            </a:r>
            <a:r>
              <a:rPr lang="pt-BR" dirty="0"/>
              <a:t> mais conhecidas são: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886450" y="1825624"/>
            <a:ext cx="6206490"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conhecidos é o </a:t>
            </a:r>
            <a:r>
              <a:rPr lang="pt-BR" b="1" dirty="0"/>
              <a:t>ID3 </a:t>
            </a:r>
            <a:r>
              <a:rPr lang="pt-BR" dirty="0"/>
              <a:t>(do inglês, </a:t>
            </a:r>
            <a:r>
              <a:rPr lang="pt-BR" b="1" i="1" dirty="0" err="1"/>
              <a:t>Iterative</a:t>
            </a:r>
            <a:r>
              <a:rPr lang="pt-BR" b="1" i="1" dirty="0"/>
              <a:t> </a:t>
            </a:r>
            <a:r>
              <a:rPr lang="pt-BR" b="1" i="1" dirty="0" err="1"/>
              <a:t>Dichotomiser</a:t>
            </a:r>
            <a:r>
              <a:rPr lang="pt-BR" b="1" dirty="0"/>
              <a:t> 3</a:t>
            </a:r>
            <a:r>
              <a:rPr lang="pt-BR" dirty="0"/>
              <a:t>).</a:t>
            </a:r>
          </a:p>
          <a:p>
            <a:r>
              <a:rPr lang="pt-BR" dirty="0"/>
              <a:t>Ele foi desenvolvido </a:t>
            </a:r>
            <a:r>
              <a:rPr lang="pt-BR" b="1" dirty="0">
                <a:solidFill>
                  <a:schemeClr val="accent5"/>
                </a:solidFill>
              </a:rPr>
              <a:t>especificamente para classificação</a:t>
            </a:r>
            <a:r>
              <a:rPr lang="pt-BR" dirty="0"/>
              <a:t>, não para regressão.</a:t>
            </a:r>
          </a:p>
          <a:p>
            <a:pPr lvl="1">
              <a:buFont typeface="Wingdings" panose="05000000000000000000" pitchFamily="2" charset="2"/>
              <a:buChar char="§"/>
            </a:pPr>
            <a:r>
              <a:rPr lang="pt-BR" dirty="0"/>
              <a:t>O CART suporta regressão e classificação.</a:t>
            </a:r>
          </a:p>
          <a:p>
            <a:r>
              <a:rPr lang="pt-BR" b="1" dirty="0">
                <a:solidFill>
                  <a:srgbClr val="00B050"/>
                </a:solidFill>
              </a:rPr>
              <a:t>Dicotomização iterativa</a:t>
            </a:r>
            <a:r>
              <a:rPr lang="pt-BR" b="1" dirty="0"/>
              <a:t> </a:t>
            </a:r>
            <a:r>
              <a:rPr lang="pt-BR" dirty="0"/>
              <a:t>significa </a:t>
            </a:r>
            <a:r>
              <a:rPr lang="pt-BR" b="1" dirty="0">
                <a:solidFill>
                  <a:schemeClr val="accent2"/>
                </a:solidFill>
              </a:rPr>
              <a:t>dividir-se sucessivamente o conjunto de dados.</a:t>
            </a:r>
          </a:p>
        </p:txBody>
      </p:sp>
      <p:pic>
        <p:nvPicPr>
          <p:cNvPr id="4" name="Imagem 3" descr="Classic Supervised Learning Methods - Introduction to Machine Learning">
            <a:extLst>
              <a:ext uri="{FF2B5EF4-FFF2-40B4-BE49-F238E27FC236}">
                <a16:creationId xmlns:a16="http://schemas.microsoft.com/office/drawing/2014/main" xmlns="" id="{6B7119BD-9E21-67EF-6C72-BAA9B307F8D4}"/>
              </a:ext>
            </a:extLst>
          </p:cNvPr>
          <p:cNvPicPr>
            <a:picLocks noChangeAspect="1"/>
          </p:cNvPicPr>
          <p:nvPr/>
        </p:nvPicPr>
        <p:blipFill>
          <a:blip r:embed="rId3"/>
          <a:srcRect r="52749"/>
          <a:stretch>
            <a:fillRect/>
          </a:stretch>
        </p:blipFill>
        <p:spPr>
          <a:xfrm>
            <a:off x="661511" y="2104504"/>
            <a:ext cx="4790599" cy="4388371"/>
          </a:xfrm>
          <a:prstGeom prst="rect">
            <a:avLst/>
          </a:prstGeom>
        </p:spPr>
      </p:pic>
    </p:spTree>
    <p:extLst>
      <p:ext uri="{BB962C8B-B14F-4D97-AF65-F5344CB8AC3E}">
        <p14:creationId xmlns:p14="http://schemas.microsoft.com/office/powerpoint/2010/main" val="17121492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D9660B1-B4FE-BB69-F610-8A22FEE875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3DEE0F8-DB4C-9E0E-E630-C9536966F31B}"/>
              </a:ext>
            </a:extLst>
          </p:cNvPr>
          <p:cNvSpPr>
            <a:spLocks noGrp="1"/>
          </p:cNvSpPr>
          <p:nvPr>
            <p:ph type="title"/>
          </p:nvPr>
        </p:nvSpPr>
        <p:spPr/>
        <p:txBody>
          <a:bodyPr/>
          <a:lstStyle/>
          <a:p>
            <a:r>
              <a:rPr lang="pt-BR" dirty="0"/>
              <a:t>O processo de indução de uma árvore de decisão</a:t>
            </a:r>
          </a:p>
        </p:txBody>
      </p:sp>
      <p:sp>
        <p:nvSpPr>
          <p:cNvPr id="3" name="Content Placeholder 2">
            <a:extLst>
              <a:ext uri="{FF2B5EF4-FFF2-40B4-BE49-F238E27FC236}">
                <a16:creationId xmlns:a16="http://schemas.microsoft.com/office/drawing/2014/main" xmlns="" id="{16E0645F-F9FB-6D44-0DE6-2A1B273743D7}"/>
              </a:ext>
            </a:extLst>
          </p:cNvPr>
          <p:cNvSpPr>
            <a:spLocks noGrp="1"/>
          </p:cNvSpPr>
          <p:nvPr>
            <p:ph idx="1"/>
          </p:nvPr>
        </p:nvSpPr>
        <p:spPr>
          <a:xfrm>
            <a:off x="5572664" y="1825624"/>
            <a:ext cx="6477228" cy="5032376"/>
          </a:xfrm>
        </p:spPr>
        <p:txBody>
          <a:bodyPr>
            <a:normAutofit/>
          </a:bodyPr>
          <a:lstStyle/>
          <a:p>
            <a:r>
              <a:rPr lang="pt-BR" dirty="0"/>
              <a:t>O método constrói a árvore </a:t>
            </a:r>
            <a:r>
              <a:rPr lang="pt-BR" b="1" dirty="0">
                <a:solidFill>
                  <a:srgbClr val="00B050"/>
                </a:solidFill>
              </a:rPr>
              <a:t>iterativamente</a:t>
            </a:r>
            <a:r>
              <a:rPr lang="pt-BR" dirty="0"/>
              <a:t>:</a:t>
            </a:r>
          </a:p>
          <a:p>
            <a:pPr lvl="1">
              <a:buFont typeface="Wingdings" panose="05000000000000000000" pitchFamily="2" charset="2"/>
              <a:buChar char="§"/>
            </a:pPr>
            <a:r>
              <a:rPr lang="pt-BR" dirty="0"/>
              <a:t>escolhe um atributo que </a:t>
            </a:r>
            <a:r>
              <a:rPr lang="pt-BR" b="1" dirty="0">
                <a:solidFill>
                  <a:srgbClr val="7030A0"/>
                </a:solidFill>
              </a:rPr>
              <a:t>melhor separa os dados</a:t>
            </a:r>
            <a:r>
              <a:rPr lang="pt-BR" dirty="0"/>
              <a:t> </a:t>
            </a:r>
          </a:p>
          <a:p>
            <a:pPr lvl="1">
              <a:buFont typeface="Wingdings" panose="05000000000000000000" pitchFamily="2" charset="2"/>
              <a:buChar char="§"/>
            </a:pPr>
            <a:r>
              <a:rPr lang="pt-BR" dirty="0"/>
              <a:t>divide os dados</a:t>
            </a:r>
          </a:p>
          <a:p>
            <a:pPr lvl="1">
              <a:buFont typeface="Wingdings" panose="05000000000000000000" pitchFamily="2" charset="2"/>
              <a:buChar char="§"/>
            </a:pPr>
            <a:r>
              <a:rPr lang="pt-BR" dirty="0"/>
              <a:t>repete o processo nos subconjuntos.</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chemeClr val="accent2"/>
                </a:solidFill>
              </a:rPr>
              <a:t>árvores apropriadas</a:t>
            </a:r>
            <a:r>
              <a:rPr lang="pt-BR" b="1" dirty="0">
                <a:solidFill>
                  <a:srgbClr val="0070C0"/>
                </a:solidFill>
              </a:rPr>
              <a:t> num intervalo de tempo relativamente curto</a:t>
            </a:r>
            <a:r>
              <a:rPr lang="pt-BR" dirty="0"/>
              <a:t>.</a:t>
            </a:r>
          </a:p>
        </p:txBody>
      </p:sp>
      <p:pic>
        <p:nvPicPr>
          <p:cNvPr id="4" name="Imagem 3" descr="Classic Supervised Learning Methods - Introduction to Machine Learning">
            <a:extLst>
              <a:ext uri="{FF2B5EF4-FFF2-40B4-BE49-F238E27FC236}">
                <a16:creationId xmlns:a16="http://schemas.microsoft.com/office/drawing/2014/main" xmlns="" id="{D266BF97-6580-D600-6185-71A4982D15C3}"/>
              </a:ext>
            </a:extLst>
          </p:cNvPr>
          <p:cNvPicPr>
            <a:picLocks noChangeAspect="1"/>
          </p:cNvPicPr>
          <p:nvPr/>
        </p:nvPicPr>
        <p:blipFill>
          <a:blip r:embed="rId3"/>
          <a:srcRect r="52749"/>
          <a:stretch>
            <a:fillRect/>
          </a:stretch>
        </p:blipFill>
        <p:spPr>
          <a:xfrm>
            <a:off x="627221" y="2104504"/>
            <a:ext cx="4790599" cy="4388371"/>
          </a:xfrm>
          <a:prstGeom prst="rect">
            <a:avLst/>
          </a:prstGeom>
        </p:spPr>
      </p:pic>
    </p:spTree>
    <p:extLst>
      <p:ext uri="{BB962C8B-B14F-4D97-AF65-F5344CB8AC3E}">
        <p14:creationId xmlns:p14="http://schemas.microsoft.com/office/powerpoint/2010/main" val="33662866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O ID3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a:t>
            </a:r>
            <a:r>
              <a:rPr lang="pt-BR" b="1" dirty="0">
                <a:solidFill>
                  <a:schemeClr val="accent2"/>
                </a:solidFill>
              </a:rPr>
              <a:t>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a:t>
            </a:r>
            <a:r>
              <a:rPr lang="pt-BR" b="1" dirty="0">
                <a:solidFill>
                  <a:srgbClr val="7030A0"/>
                </a:solidFill>
              </a:rPr>
              <a:t>não reconsidera</a:t>
            </a:r>
            <a:r>
              <a:rPr lang="pt-BR" dirty="0"/>
              <a:t> decisões </a:t>
            </a:r>
            <a:r>
              <a:rPr lang="pt-BR" b="1" dirty="0">
                <a:solidFill>
                  <a:srgbClr val="7030A0"/>
                </a:solidFill>
              </a:rPr>
              <a:t>anteriores</a:t>
            </a:r>
            <a:r>
              <a:rPr lang="pt-BR" dirty="0"/>
              <a:t> e não testa </a:t>
            </a:r>
            <a:r>
              <a:rPr lang="pt-BR" b="1" dirty="0">
                <a:solidFill>
                  <a:srgbClr val="7030A0"/>
                </a:solidFill>
              </a:rPr>
              <a:t>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do nó raiz e vai descendo.</a:t>
            </a:r>
          </a:p>
          <a:p>
            <a:pPr lvl="1">
              <a:buFont typeface="Wingdings" panose="05000000000000000000" pitchFamily="2" charset="2"/>
              <a:buChar char="§"/>
            </a:pPr>
            <a:r>
              <a:rPr lang="pt-BR" dirty="0"/>
              <a:t>Ou seja, a árvore é </a:t>
            </a:r>
            <a:r>
              <a:rPr lang="pt-BR" b="1" dirty="0">
                <a:solidFill>
                  <a:schemeClr val="accent2"/>
                </a:solidFill>
              </a:rPr>
              <a:t>criada de cima para baixo</a:t>
            </a:r>
            <a:r>
              <a:rPr lang="pt-BR" dirty="0"/>
              <a:t> e um </a:t>
            </a:r>
            <a:r>
              <a:rPr lang="pt-BR" b="1" dirty="0">
                <a:solidFill>
                  <a:srgbClr val="00B050"/>
                </a:solidFill>
              </a:rPr>
              <a:t>nó é definido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naquela iteração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a:t>
            </a:r>
            <a:r>
              <a:rPr lang="pt-BR" b="1" dirty="0">
                <a:solidFill>
                  <a:srgbClr val="7030A0"/>
                </a:solidFill>
              </a:rPr>
              <a:t>qual é o melhor atributo</a:t>
            </a:r>
            <a:r>
              <a:rPr lang="pt-BR" dirty="0"/>
              <a:t>? </a:t>
            </a:r>
          </a:p>
          <a:p>
            <a:pPr lvl="1">
              <a:buFont typeface="Wingdings" panose="05000000000000000000" pitchFamily="2" charset="2"/>
              <a:buChar char="§"/>
            </a:pPr>
            <a:r>
              <a:rPr lang="pt-BR" dirty="0"/>
              <a:t>O ID3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t>
            </a:r>
            <a:r>
              <a:rPr lang="pt-BR" b="1" dirty="0">
                <a:solidFill>
                  <a:schemeClr val="accent5"/>
                </a:solidFill>
              </a:rPr>
              <a:t>a cada passo</a:t>
            </a:r>
            <a:r>
              <a:rPr lang="pt-BR" dirty="0"/>
              <a:t>, o </a:t>
            </a:r>
            <a:r>
              <a:rPr lang="pt-BR" b="1" dirty="0">
                <a:solidFill>
                  <a:srgbClr val="00B050"/>
                </a:solidFill>
              </a:rPr>
              <a:t>atributo que mais reduz a </a:t>
            </a:r>
            <a:r>
              <a:rPr lang="pt-BR" b="1" dirty="0">
                <a:solidFill>
                  <a:schemeClr val="accent5"/>
                </a:solidFill>
              </a:rPr>
              <a:t>incerteza</a:t>
            </a:r>
            <a:r>
              <a:rPr lang="pt-BR" b="1" dirty="0">
                <a:solidFill>
                  <a:srgbClr val="00B050"/>
                </a:solidFill>
              </a:rPr>
              <a:t>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 nas classes corretas.</a:t>
            </a:r>
            <a:endParaRPr lang="pt-BR" dirty="0"/>
          </a:p>
        </p:txBody>
      </p:sp>
    </p:spTree>
    <p:extLst>
      <p:ext uri="{BB962C8B-B14F-4D97-AF65-F5344CB8AC3E}">
        <p14:creationId xmlns:p14="http://schemas.microsoft.com/office/powerpoint/2010/main" val="34187358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No caso da classificação, um </a:t>
            </a:r>
            <a:r>
              <a:rPr lang="pt-BR" b="1" dirty="0">
                <a:solidFill>
                  <a:srgbClr val="00B050"/>
                </a:solidFill>
              </a:rPr>
              <a:t>atributo perfeito</a:t>
            </a:r>
            <a:r>
              <a:rPr lang="pt-BR" dirty="0">
                <a:solidFill>
                  <a:srgbClr val="00B050"/>
                </a:solidFill>
              </a:rPr>
              <a:t> </a:t>
            </a:r>
            <a:r>
              <a:rPr lang="pt-BR" dirty="0"/>
              <a:t>divide perfeitamente todos os exemplos em suas respectivas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para cada nó, </a:t>
            </a:r>
            <a:r>
              <a:rPr lang="pt-BR" b="1" dirty="0">
                <a:solidFill>
                  <a:schemeClr val="accent5"/>
                </a:solidFill>
              </a:rPr>
              <a:t>um atributo que retorne o maior ganho de informação</a:t>
            </a:r>
            <a:r>
              <a:rPr lang="pt-BR" dirty="0"/>
              <a:t>.</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a:t>
            </a:r>
          </a:p>
          <a:p>
            <a:pPr lvl="1">
              <a:buFont typeface="Wingdings" panose="05000000000000000000" pitchFamily="2" charset="2"/>
              <a:buChar char="§"/>
            </a:pPr>
            <a:r>
              <a:rPr lang="pt-BR" dirty="0"/>
              <a:t>No nosso caso, a </a:t>
            </a:r>
            <a:r>
              <a:rPr lang="pt-BR" b="1" dirty="0">
                <a:solidFill>
                  <a:srgbClr val="00B050"/>
                </a:solidFill>
              </a:rPr>
              <a:t>aleatoriedade </a:t>
            </a:r>
            <a:r>
              <a:rPr lang="pt-BR" dirty="0"/>
              <a:t>do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a:t>
            </a:r>
            <a:r>
              <a:rPr lang="pt-BR" b="1" dirty="0">
                <a:solidFill>
                  <a:srgbClr val="00B050"/>
                </a:solidFill>
              </a:rPr>
              <a:t>mede o quanto um atributo reduz a incerteza</a:t>
            </a:r>
            <a:r>
              <a:rPr lang="pt-BR" dirty="0"/>
              <a:t>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Portanto, o </a:t>
            </a:r>
            <a:r>
              <a:rPr lang="pt-BR" b="1" dirty="0">
                <a:solidFill>
                  <a:schemeClr val="accent5"/>
                </a:solidFill>
              </a:rPr>
              <a:t>ganho</a:t>
            </a:r>
            <a:r>
              <a:rPr lang="pt-BR" dirty="0"/>
              <a:t> mede o </a:t>
            </a:r>
            <a:r>
              <a:rPr lang="pt-BR" b="1" dirty="0">
                <a:solidFill>
                  <a:schemeClr val="accent5"/>
                </a:solidFill>
              </a:rPr>
              <a:t>quanto conseguimos explicar do conjunto</a:t>
            </a:r>
            <a:r>
              <a:rPr lang="pt-BR" dirty="0"/>
              <a:t> com um dado atributo.</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chemeClr val="accent5"/>
                    </a:solidFill>
                  </a:rPr>
                  <a:t>diferença</a:t>
                </a:r>
                <a:r>
                  <a:rPr lang="pt-BR" b="1" dirty="0">
                    <a:solidFill>
                      <a:srgbClr val="00B050"/>
                    </a:solidFill>
                  </a:rPr>
                  <a:t>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600" b="0" i="0" smtClean="0">
                          <a:latin typeface="Cambria Math" panose="02040503050406030204" pitchFamily="18" charset="0"/>
                        </a:rPr>
                        <m:t>Ganho</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de</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informa</m:t>
                      </m:r>
                      <m:r>
                        <a:rPr lang="pt-BR" sz="2600" b="0" i="0" smtClean="0">
                          <a:latin typeface="Cambria Math" panose="02040503050406030204" pitchFamily="18" charset="0"/>
                        </a:rPr>
                        <m:t>çã</m:t>
                      </m:r>
                      <m:r>
                        <m:rPr>
                          <m:sty m:val="p"/>
                        </m:rPr>
                        <a:rPr lang="pt-BR" sz="2600" b="0" i="0" smtClean="0">
                          <a:latin typeface="Cambria Math" panose="02040503050406030204" pitchFamily="18" charset="0"/>
                        </a:rPr>
                        <m:t>o</m:t>
                      </m:r>
                      <m:r>
                        <a:rPr lang="pt-BR" sz="2600" i="0">
                          <a:latin typeface="Cambria Math" panose="02040503050406030204" pitchFamily="18" charset="0"/>
                        </a:rPr>
                        <m:t>=</m:t>
                      </m:r>
                      <m:r>
                        <m:rPr>
                          <m:sty m:val="p"/>
                        </m:rPr>
                        <a:rPr lang="pt-BR" sz="2600" i="0">
                          <a:latin typeface="Cambria Math" panose="02040503050406030204" pitchFamily="18" charset="0"/>
                        </a:rPr>
                        <m:t>entropiaAntesDaDivis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i="0">
                          <a:latin typeface="Cambria Math" panose="02040503050406030204" pitchFamily="18" charset="0"/>
                        </a:rPr>
                        <m:t> −</m:t>
                      </m:r>
                      <m:r>
                        <m:rPr>
                          <m:sty m:val="p"/>
                        </m:rPr>
                        <a:rPr lang="pt-BR" sz="2600" i="0">
                          <a:latin typeface="Cambria Math" panose="02040503050406030204" pitchFamily="18" charset="0"/>
                        </a:rPr>
                        <m:t>entropiaAp</m:t>
                      </m:r>
                      <m:r>
                        <a:rPr lang="pt-BR" sz="2600" b="0" i="0" smtClean="0">
                          <a:latin typeface="Cambria Math" panose="02040503050406030204" pitchFamily="18" charset="0"/>
                        </a:rPr>
                        <m:t>ó</m:t>
                      </m:r>
                      <m:r>
                        <m:rPr>
                          <m:sty m:val="p"/>
                        </m:rPr>
                        <a:rPr lang="pt-BR" sz="2600" b="0" i="0" smtClean="0">
                          <a:latin typeface="Cambria Math" panose="02040503050406030204" pitchFamily="18" charset="0"/>
                        </a:rPr>
                        <m:t>sADivis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b="0" i="0" smtClean="0">
                          <a:latin typeface="Cambria Math" panose="02040503050406030204" pitchFamily="18" charset="0"/>
                        </a:rPr>
                        <m:t>.</m:t>
                      </m:r>
                    </m:oMath>
                  </m:oMathPara>
                </a14:m>
                <a:endParaRPr lang="pt-BR" sz="2300" dirty="0"/>
              </a:p>
              <a:p>
                <a:r>
                  <a:rPr lang="pt-BR" dirty="0"/>
                  <a:t>Ela </a:t>
                </a:r>
                <a:r>
                  <a:rPr lang="pt-BR" b="1" dirty="0">
                    <a:solidFill>
                      <a:srgbClr val="7030A0"/>
                    </a:solidFill>
                  </a:rPr>
                  <a:t>mede o quanto a incerteza sobre </a:t>
                </a:r>
                <a14:m>
                  <m:oMath xmlns:m="http://schemas.openxmlformats.org/officeDocument/2006/math">
                    <m:r>
                      <a:rPr lang="pt-BR" b="1" i="1" smtClean="0">
                        <a:solidFill>
                          <a:srgbClr val="7030A0"/>
                        </a:solidFill>
                        <a:latin typeface="Cambria Math" panose="02040503050406030204" pitchFamily="18" charset="0"/>
                      </a:rPr>
                      <m:t>𝒚</m:t>
                    </m:r>
                  </m:oMath>
                </a14:m>
                <a:r>
                  <a:rPr lang="pt-BR" b="1" dirty="0">
                    <a:solidFill>
                      <a:srgbClr val="7030A0"/>
                    </a:solidFill>
                  </a:rPr>
                  <a:t> diminui após conhecermos </a:t>
                </a:r>
                <a14:m>
                  <m:oMath xmlns:m="http://schemas.openxmlformats.org/officeDocument/2006/math">
                    <m:r>
                      <a:rPr lang="pt-BR" b="1" i="1">
                        <a:solidFill>
                          <a:srgbClr val="7030A0"/>
                        </a:solidFill>
                        <a:latin typeface="Cambria Math" panose="02040503050406030204" pitchFamily="18" charset="0"/>
                      </a:rPr>
                      <m:t>𝒙</m:t>
                    </m:r>
                  </m:oMath>
                </a14:m>
                <a:endParaRPr lang="pt-BR" b="1" dirty="0">
                  <a:solidFill>
                    <a:srgbClr val="7030A0"/>
                  </a:solidFill>
                </a:endParaRPr>
              </a:p>
              <a:p>
                <a:pPr marL="0" indent="0">
                  <a:buNone/>
                </a:pPr>
                <a:r>
                  <a:rPr lang="pt-BR" sz="100" dirty="0"/>
                  <a:t>a</a:t>
                </a:r>
                <a:endParaRPr lang="pt-BR" sz="2000" dirty="0"/>
              </a:p>
              <a:p>
                <a:pPr marL="0" indent="0" algn="ctr">
                  <a:buNone/>
                </a:pPr>
                <a14:m>
                  <m:oMathPara xmlns:m="http://schemas.openxmlformats.org/officeDocument/2006/math">
                    <m:oMathParaPr>
                      <m:jc m:val="center"/>
                    </m:oMathParaPr>
                    <m:oMath xmlns:m="http://schemas.openxmlformats.org/officeDocument/2006/math">
                      <m:r>
                        <m:rPr>
                          <m:sty m:val="p"/>
                        </m:rPr>
                        <a:rPr lang="pt-BR" sz="2600">
                          <a:latin typeface="Cambria Math" panose="02040503050406030204" pitchFamily="18" charset="0"/>
                        </a:rPr>
                        <m:t>Ganho</m:t>
                      </m:r>
                      <m:r>
                        <a:rPr lang="pt-BR" sz="2600">
                          <a:latin typeface="Cambria Math" panose="02040503050406030204" pitchFamily="18" charset="0"/>
                        </a:rPr>
                        <m:t> </m:t>
                      </m:r>
                      <m:r>
                        <m:rPr>
                          <m:sty m:val="p"/>
                        </m:rPr>
                        <a:rPr lang="pt-BR" sz="2600">
                          <a:latin typeface="Cambria Math" panose="02040503050406030204" pitchFamily="18" charset="0"/>
                        </a:rPr>
                        <m:t>de</m:t>
                      </m:r>
                      <m:r>
                        <a:rPr lang="pt-BR" sz="2600">
                          <a:latin typeface="Cambria Math" panose="02040503050406030204" pitchFamily="18" charset="0"/>
                        </a:rPr>
                        <m:t> </m:t>
                      </m:r>
                      <m:r>
                        <m:rPr>
                          <m:sty m:val="p"/>
                        </m:rPr>
                        <a:rPr lang="pt-BR" sz="2600">
                          <a:latin typeface="Cambria Math" panose="02040503050406030204" pitchFamily="18" charset="0"/>
                        </a:rPr>
                        <m:t>informa</m:t>
                      </m:r>
                      <m:r>
                        <a:rPr lang="pt-BR" sz="2600">
                          <a:latin typeface="Cambria Math" panose="02040503050406030204" pitchFamily="18" charset="0"/>
                        </a:rPr>
                        <m:t>çã</m:t>
                      </m:r>
                      <m:r>
                        <m:rPr>
                          <m:sty m:val="p"/>
                        </m:rPr>
                        <a:rPr lang="pt-BR" sz="2600">
                          <a:latin typeface="Cambria Math" panose="02040503050406030204" pitchFamily="18" charset="0"/>
                        </a:rPr>
                        <m:t>o</m:t>
                      </m:r>
                      <m:r>
                        <a:rPr lang="pt-BR" sz="2600" b="0" i="0"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d>
                      <m:r>
                        <a:rPr lang="pt-BR" sz="2600" b="0" i="1"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e>
                          <m:r>
                            <a:rPr lang="pt-BR" sz="2600" b="0" i="1" smtClean="0">
                              <a:latin typeface="Cambria Math" panose="02040503050406030204" pitchFamily="18" charset="0"/>
                            </a:rPr>
                            <m:t>𝑥</m:t>
                          </m:r>
                        </m:e>
                      </m:d>
                      <m:r>
                        <a:rPr lang="pt-BR" sz="2600" b="0" i="1" smtClean="0">
                          <a:latin typeface="Cambria Math" panose="02040503050406030204" pitchFamily="18" charset="0"/>
                        </a:rPr>
                        <m:t>,</m:t>
                      </m:r>
                    </m:oMath>
                  </m:oMathPara>
                </a14:m>
                <a:endParaRPr lang="pt-BR" sz="600" dirty="0"/>
              </a:p>
              <a:p>
                <a:pPr marL="0" indent="0">
                  <a:buNone/>
                </a:pPr>
                <a:r>
                  <a:rPr lang="pt-BR" dirty="0"/>
                  <a:t>ou seja, o quanto o conhecimento sobre </a:t>
                </a:r>
                <a14:m>
                  <m:oMath xmlns:m="http://schemas.openxmlformats.org/officeDocument/2006/math">
                    <m:r>
                      <a:rPr lang="pt-BR" b="0" i="1" smtClean="0">
                        <a:latin typeface="Cambria Math" panose="02040503050406030204" pitchFamily="18" charset="0"/>
                      </a:rPr>
                      <m:t>𝑥</m:t>
                    </m:r>
                  </m:oMath>
                </a14:m>
                <a:r>
                  <a:rPr lang="pt-BR" dirty="0"/>
                  <a:t> reduz a incerteza sobre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Vejamos alguns exemplos de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1128" t="-1937"/>
                </a:stretch>
              </a:blipFill>
            </p:spPr>
            <p:txBody>
              <a:bodyPr/>
              <a:lstStyle/>
              <a:p>
                <a:r>
                  <a:rPr lang="pt-BR">
                    <a:noFill/>
                  </a:rPr>
                  <a:t> </a:t>
                </a:r>
              </a:p>
            </p:txBody>
          </p:sp>
        </mc:Fallback>
      </mc:AlternateContent>
    </p:spTree>
    <p:extLst>
      <p:ext uri="{BB962C8B-B14F-4D97-AF65-F5344CB8AC3E}">
        <p14:creationId xmlns:p14="http://schemas.microsoft.com/office/powerpoint/2010/main" val="35271564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a:t>
            </a:r>
            <a:r>
              <a:rPr lang="pt-BR" b="1" dirty="0">
                <a:solidFill>
                  <a:schemeClr val="accent2"/>
                </a:solidFill>
              </a:rPr>
              <a:t>não tem nenhuma incerteza</a:t>
            </a:r>
            <a:r>
              <a:rPr lang="pt-BR" dirty="0"/>
              <a:t> associada.</a:t>
            </a:r>
          </a:p>
          <a:p>
            <a:pPr lvl="1">
              <a:buFont typeface="Wingdings" panose="05000000000000000000" pitchFamily="2" charset="2"/>
              <a:buChar char="§"/>
            </a:pPr>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de um arremesso</a:t>
            </a:r>
            <a:r>
              <a:rPr lang="pt-BR" dirty="0"/>
              <a:t>.</a:t>
            </a:r>
          </a:p>
          <a:p>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4" name="Picture 2" descr="Id3 sales learning algorithm">
            <a:extLst>
              <a:ext uri="{FF2B5EF4-FFF2-40B4-BE49-F238E27FC236}">
                <a16:creationId xmlns:a16="http://schemas.microsoft.com/office/drawing/2014/main" xmlns="" id="{58B7FC57-3C42-0C3A-B525-89740BA830E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do rótulo) para </a:t>
                </a:r>
                <a:r>
                  <a:rPr lang="pt-BR" b="1" dirty="0">
                    <a:solidFill>
                      <a:srgbClr val="7030A0"/>
                    </a:solidFill>
                  </a:rPr>
                  <a:t>todo</a:t>
                </a:r>
                <a:r>
                  <a:rPr lang="pt-BR" dirty="0"/>
                  <a:t>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r>
                  <a:rPr lang="pt-BR" dirty="0"/>
                  <a:t>Assim,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e>
                    </m:d>
                  </m:oMath>
                </a14:m>
                <a:r>
                  <a:rPr lang="pt-BR" dirty="0"/>
                  <a:t> é a </a:t>
                </a:r>
                <a:r>
                  <a:rPr lang="pt-BR" b="1" dirty="0"/>
                  <a:t>entropia de uma </a:t>
                </a:r>
                <a:r>
                  <a:rPr lang="pt-BR" b="1" dirty="0">
                    <a:solidFill>
                      <a:schemeClr val="accent2"/>
                    </a:solidFill>
                  </a:rPr>
                  <a:t>variável booleana</a:t>
                </a:r>
                <a:r>
                  <a:rPr lang="pt-BR" b="1" dirty="0"/>
                  <a:t> que é positiva com probabilidade igual a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913"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00B050"/>
                    </a:solidFill>
                  </a:rPr>
                  <a:t>reduzir toda ou apenas parte</a:t>
                </a:r>
                <a:r>
                  <a:rPr lang="pt-BR" dirty="0"/>
                  <a:t> da </a:t>
                </a:r>
                <a:r>
                  <a:rPr lang="pt-BR" b="1" dirty="0">
                    <a:solidFill>
                      <a:srgbClr val="7030A0"/>
                    </a:solidFill>
                  </a:rPr>
                  <a:t>incerteza (entropia)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a:t>
                </a:r>
              </a:p>
              <a:p>
                <a:r>
                  <a:rPr lang="pt-BR" dirty="0"/>
                  <a:t>Nós podemos medir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Para o cálculo da </a:t>
                </a:r>
                <a:r>
                  <a:rPr lang="pt-BR" b="1" dirty="0">
                    <a:solidFill>
                      <a:schemeClr val="accent5"/>
                    </a:solidFill>
                  </a:rPr>
                  <a:t>entropia restante</a:t>
                </a:r>
                <a:r>
                  <a:rPr lang="pt-BR" dirty="0"/>
                  <a:t>, precisamos definir que:</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247"/>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Ela é a </a:t>
                </a:r>
                <a:r>
                  <a:rPr lang="pt-BR" b="1" dirty="0" smtClean="0">
                    <a:solidFill>
                      <a:srgbClr val="7030A0"/>
                    </a:solidFill>
                  </a:rPr>
                  <a:t>média </a:t>
                </a:r>
                <a:r>
                  <a:rPr lang="pt-BR" b="1" dirty="0">
                    <a:solidFill>
                      <a:srgbClr val="7030A0"/>
                    </a:solidFill>
                  </a:rPr>
                  <a:t>ponderada </a:t>
                </a:r>
                <a:r>
                  <a:rPr lang="pt-BR" b="1" dirty="0" smtClean="0">
                    <a:solidFill>
                      <a:srgbClr val="7030A0"/>
                    </a:solidFill>
                  </a:rPr>
                  <a:t>das entropias </a:t>
                </a:r>
                <a:r>
                  <a:rPr lang="pt-BR" b="1" dirty="0">
                    <a:solidFill>
                      <a:srgbClr val="7030A0"/>
                    </a:solidFill>
                  </a:rPr>
                  <a:t>de cada subconjunto </a:t>
                </a:r>
                <a:r>
                  <a:rPr lang="pt-BR" dirty="0"/>
                  <a:t>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 </a:t>
                </a:r>
                <a:r>
                  <a:rPr lang="pt-BR" b="1" dirty="0">
                    <a:solidFill>
                      <a:srgbClr val="00B050"/>
                    </a:solidFill>
                  </a:rPr>
                  <a:t>entropia restante</a:t>
                </a:r>
                <a:r>
                  <a:rPr lang="pt-BR" dirty="0"/>
                  <a:t> é a </a:t>
                </a:r>
                <a:r>
                  <a:rPr lang="pt-BR" b="1" dirty="0">
                    <a:solidFill>
                      <a:schemeClr val="accent2"/>
                    </a:solidFill>
                  </a:rPr>
                  <a:t>medida da incerteza que sobra depois do teste do atributo</a:t>
                </a:r>
                <a:r>
                  <a:rPr lang="pt-BR"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r="-269"/>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9CA304D-3A5F-BC98-92FD-1AF062C0FE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28CD19FD-C1F3-9494-9F70-655700E20611}"/>
              </a:ext>
            </a:extLst>
          </p:cNvPr>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E1588FC6-7187-4B40-897E-EB587D85894B}"/>
                  </a:ext>
                </a:extLst>
              </p:cNvPr>
              <p:cNvSpPr>
                <a:spLocks noGrp="1"/>
              </p:cNvSpPr>
              <p:nvPr>
                <p:ph idx="1"/>
              </p:nvPr>
            </p:nvSpPr>
            <p:spPr>
              <a:xfrm>
                <a:off x="838200" y="1825624"/>
                <a:ext cx="11353800" cy="5032376"/>
              </a:xfrm>
            </p:spPr>
            <p:txBody>
              <a:bodyPr>
                <a:normAutofit/>
              </a:bodyPr>
              <a:lstStyle/>
              <a:p>
                <a:r>
                  <a:rPr lang="pt-BR" dirty="0"/>
                  <a:t>Assim, 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00B050"/>
                    </a:solidFill>
                  </a:rPr>
                  <a:t>redução</a:t>
                </a:r>
                <a:r>
                  <a:rPr lang="pt-BR" b="1" dirty="0">
                    <a:solidFill>
                      <a:srgbClr val="7030A0"/>
                    </a:solidFill>
                  </a:rPr>
                  <a:t>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dirty="0"/>
                  <a:t>O menor valor de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oMath>
                </a14:m>
                <a:r>
                  <a:rPr lang="pt-BR" dirty="0"/>
                  <a:t> é 0, pois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7030A0"/>
                    </a:solidFill>
                  </a:rPr>
                  <a:t>explicar toda a incerteza do conjunto</a:t>
                </a:r>
                <a:r>
                  <a:rPr lang="pt-BR" dirty="0"/>
                  <a:t>.</a:t>
                </a:r>
              </a:p>
              <a:p>
                <a:r>
                  <a:rPr lang="pt-BR" dirty="0"/>
                  <a:t>Ou seja, se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r>
                      <a:rPr lang="pt-BR" b="0" i="0" smtClean="0">
                        <a:latin typeface="Cambria Math" panose="02040503050406030204" pitchFamily="18" charset="0"/>
                      </a:rPr>
                      <m:t>=0</m:t>
                    </m:r>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t>
                </a:r>
                <a:r>
                  <a:rPr lang="pt-BR" b="1" dirty="0">
                    <a:solidFill>
                      <a:srgbClr val="00B050"/>
                    </a:solidFill>
                  </a:rPr>
                  <a:t>responsável por toda a bagunça</a:t>
                </a:r>
                <a:r>
                  <a:rPr lang="pt-BR" dirty="0"/>
                  <a:t> do conjunto de dados.</a:t>
                </a:r>
              </a:p>
            </p:txBody>
          </p:sp>
        </mc:Choice>
        <mc:Fallback xmlns="">
          <p:sp>
            <p:nvSpPr>
              <p:cNvPr id="3" name="Content Placeholder 2">
                <a:extLst>
                  <a:ext uri="{FF2B5EF4-FFF2-40B4-BE49-F238E27FC236}">
                    <a16:creationId xmlns:a16="http://schemas.microsoft.com/office/drawing/2014/main" xmlns:a14="http://schemas.microsoft.com/office/drawing/2010/main" xmlns="" id="{E1588FC6-7187-4B40-897E-EB587D85894B}"/>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a:stretch>
              </a:blipFill>
            </p:spPr>
            <p:txBody>
              <a:bodyPr/>
              <a:lstStyle/>
              <a:p>
                <a:r>
                  <a:rPr lang="pt-BR">
                    <a:noFill/>
                  </a:rPr>
                  <a:t> </a:t>
                </a:r>
              </a:p>
            </p:txBody>
          </p:sp>
        </mc:Fallback>
      </mc:AlternateContent>
    </p:spTree>
    <p:extLst>
      <p:ext uri="{BB962C8B-B14F-4D97-AF65-F5344CB8AC3E}">
        <p14:creationId xmlns:p14="http://schemas.microsoft.com/office/powerpoint/2010/main" val="8710772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6188242" cy="5032376"/>
              </a:xfrm>
            </p:spPr>
            <p:txBody>
              <a:bodyPr>
                <a:normAutofit/>
              </a:bodyPr>
              <a:lstStyle/>
              <a:p>
                <a:r>
                  <a:rPr lang="pt-BR" dirty="0"/>
                  <a:t>A ideia central do </a:t>
                </a:r>
                <a:r>
                  <a:rPr lang="pt-BR" b="1" dirty="0"/>
                  <a:t>método ID3 </a:t>
                </a:r>
                <a:r>
                  <a:rPr lang="pt-BR" dirty="0"/>
                  <a:t>é selecionar, </a:t>
                </a:r>
                <a:r>
                  <a:rPr lang="pt-BR" b="1" dirty="0">
                    <a:solidFill>
                      <a:srgbClr val="7030A0"/>
                    </a:solidFill>
                  </a:rPr>
                  <a:t>em cada etapa</a:t>
                </a:r>
                <a:r>
                  <a:rPr lang="pt-BR" dirty="0"/>
                  <a:t>,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a:t>
                </a:r>
              </a:p>
              <a:p>
                <a:r>
                  <a:rPr lang="pt-BR" dirty="0"/>
                  <a:t>Esse </a:t>
                </a:r>
                <a:r>
                  <a:rPr lang="pt-BR" b="1" dirty="0">
                    <a:solidFill>
                      <a:srgbClr val="7030A0"/>
                    </a:solidFill>
                  </a:rPr>
                  <a:t>atributo</a:t>
                </a:r>
                <a:r>
                  <a:rPr lang="pt-BR" dirty="0"/>
                  <a:t> é usado para </a:t>
                </a:r>
                <a:r>
                  <a:rPr lang="pt-BR" b="1" dirty="0">
                    <a:solidFill>
                      <a:srgbClr val="7030A0"/>
                    </a:solidFill>
                  </a:rPr>
                  <a:t>dividir o conjunto de treinamento</a:t>
                </a:r>
                <a:r>
                  <a:rPr lang="pt-BR" dirty="0"/>
                  <a:t> em </a:t>
                </a:r>
                <a:r>
                  <a:rPr lang="pt-BR" b="1" dirty="0">
                    <a:solidFill>
                      <a:srgbClr val="00B050"/>
                    </a:solidFill>
                  </a:rPr>
                  <a:t>subconjuntos</a:t>
                </a:r>
                <a:r>
                  <a:rPr lang="pt-BR" dirty="0"/>
                  <a:t>. </a:t>
                </a:r>
              </a:p>
              <a:p>
                <a:r>
                  <a:rPr lang="pt-BR" dirty="0"/>
                  <a:t>O processo é </a:t>
                </a:r>
                <a:r>
                  <a:rPr lang="pt-BR" b="1" dirty="0">
                    <a:solidFill>
                      <a:schemeClr val="accent5"/>
                    </a:solidFill>
                  </a:rPr>
                  <a:t>repetido recursivamente usando-se os demais atributos</a:t>
                </a:r>
                <a:r>
                  <a:rPr lang="pt-BR" dirty="0"/>
                  <a:t> até a construção completa da árvore de decisão.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6188242" cy="5032376"/>
              </a:xfrm>
              <a:blipFill>
                <a:blip r:embed="rId3"/>
                <a:stretch>
                  <a:fillRect l="-1773" t="-1937"/>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xmlns=""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a:t>
            </a:r>
          </a:p>
          <a:p>
            <a:pPr lvl="1">
              <a:buFont typeface="Wingdings" panose="05000000000000000000" pitchFamily="2" charset="2"/>
              <a:buChar char="§"/>
            </a:pPr>
            <a:r>
              <a:rPr lang="pt-BR" dirty="0"/>
              <a:t>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a:t>
            </a:r>
          </a:p>
          <a:p>
            <a:pPr lvl="1">
              <a:buFont typeface="Wingdings" panose="05000000000000000000" pitchFamily="2" charset="2"/>
              <a:buChar char="§"/>
            </a:pPr>
            <a:r>
              <a:rPr lang="pt-BR" dirty="0"/>
              <a:t>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xmlns=""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a:t>
            </a:r>
            <a:r>
              <a:rPr lang="pt-BR" dirty="0" err="1"/>
              <a:t>sobreajuste</a:t>
            </a:r>
            <a:r>
              <a:rPr lang="pt-BR" dirty="0"/>
              <a:t> (e.g., uma </a:t>
            </a:r>
            <a:r>
              <a:rPr lang="pt-BR" b="1" dirty="0">
                <a:solidFill>
                  <a:srgbClr val="7030A0"/>
                </a:solidFill>
              </a:rPr>
              <a:t>árvore muito grande</a:t>
            </a:r>
            <a:r>
              <a:rPr lang="pt-BR" dirty="0"/>
              <a:t>), </a:t>
            </a:r>
            <a:r>
              <a:rPr lang="pt-BR" b="1" dirty="0">
                <a:solidFill>
                  <a:srgbClr val="00B050"/>
                </a:solidFill>
              </a:rPr>
              <a:t>árvores de decisão menores</a:t>
            </a:r>
            <a:r>
              <a:rPr lang="pt-BR" dirty="0"/>
              <a:t> </a:t>
            </a:r>
            <a:r>
              <a:rPr lang="pt-BR" b="1" dirty="0">
                <a:solidFill>
                  <a:srgbClr val="00B050"/>
                </a:solidFill>
              </a:rPr>
              <a:t>devem ser preferidas </a:t>
            </a:r>
            <a:r>
              <a:rPr lang="pt-BR" dirty="0"/>
              <a:t>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b="1" dirty="0">
                <a:solidFill>
                  <a:srgbClr val="00B050"/>
                </a:solidFill>
              </a:rPr>
              <a:t>Ideal para atributos categóricos</a:t>
            </a:r>
            <a:r>
              <a:rPr lang="pt-BR" dirty="0"/>
              <a:t>.</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Atributos contínuos </a:t>
            </a:r>
            <a:r>
              <a:rPr lang="pt-BR" b="1" dirty="0">
                <a:solidFill>
                  <a:srgbClr val="7030A0"/>
                </a:solidFill>
              </a:rPr>
              <a:t>aumentam significativamente o número de possíveis pontos de divisão</a:t>
            </a:r>
            <a:r>
              <a:rPr lang="pt-BR" dirty="0"/>
              <a:t> e a busca pelo melhor ponto de divisão pode se tornar demorada.</a:t>
            </a:r>
          </a:p>
        </p:txBody>
      </p:sp>
    </p:spTree>
    <p:extLst>
      <p:ext uri="{BB962C8B-B14F-4D97-AF65-F5344CB8AC3E}">
        <p14:creationId xmlns:p14="http://schemas.microsoft.com/office/powerpoint/2010/main" val="3802744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a:t>
            </a:r>
            <a:r>
              <a:rPr lang="pt-BR" i="1" dirty="0" err="1"/>
              <a:t>Classification</a:t>
            </a:r>
            <a:r>
              <a:rPr lang="pt-BR" i="1" dirty="0"/>
              <a:t> </a:t>
            </a:r>
            <a:r>
              <a:rPr lang="pt-BR" i="1" dirty="0" err="1"/>
              <a:t>and</a:t>
            </a:r>
            <a:r>
              <a:rPr lang="pt-BR" i="1" dirty="0"/>
              <a:t> </a:t>
            </a:r>
            <a:r>
              <a:rPr lang="pt-BR" i="1" dirty="0" err="1"/>
              <a:t>Regression</a:t>
            </a:r>
            <a:r>
              <a:rPr lang="pt-BR" i="1" dirty="0"/>
              <a:t> </a:t>
            </a:r>
            <a:r>
              <a:rPr lang="pt-BR" i="1" dirty="0" err="1"/>
              <a:t>Trees</a:t>
            </a:r>
            <a:r>
              <a:rPr lang="pt-BR" i="1" dirty="0"/>
              <a:t> </a:t>
            </a:r>
            <a:r>
              <a:rPr lang="pt-BR" dirty="0"/>
              <a:t>(CART)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4" y="1690688"/>
            <a:ext cx="7198895" cy="5167312"/>
          </a:xfrm>
        </p:spPr>
        <p:txBody>
          <a:bodyPr>
            <a:normAutofit/>
          </a:bodyPr>
          <a:lstStyle/>
          <a:p>
            <a:r>
              <a:rPr lang="pt-BR" dirty="0"/>
              <a:t>Outro ponto importante é que as árvores são, em geral, </a:t>
            </a:r>
            <a:r>
              <a:rPr lang="en-US" b="1" dirty="0" err="1">
                <a:solidFill>
                  <a:srgbClr val="7030A0"/>
                </a:solidFill>
              </a:rPr>
              <a:t>sensíveis</a:t>
            </a:r>
            <a:r>
              <a:rPr lang="en-US" b="1" dirty="0">
                <a:solidFill>
                  <a:srgbClr val="7030A0"/>
                </a:solidFill>
              </a:rPr>
              <a:t> a dados </a:t>
            </a:r>
            <a:r>
              <a:rPr lang="en-US" b="1" dirty="0" err="1">
                <a:solidFill>
                  <a:srgbClr val="7030A0"/>
                </a:solidFill>
              </a:rPr>
              <a:t>faltantes</a:t>
            </a:r>
            <a:r>
              <a:rPr lang="en-US" dirty="0"/>
              <a:t>.</a:t>
            </a:r>
            <a:endParaRPr lang="pt-BR" dirty="0"/>
          </a:p>
          <a:p>
            <a:r>
              <a:rPr lang="pt-BR" dirty="0"/>
              <a:t>Assim, se for o caso, deve-se buscar metodologias para se </a:t>
            </a:r>
            <a:r>
              <a:rPr lang="pt-BR" b="1" dirty="0">
                <a:solidFill>
                  <a:srgbClr val="00B050"/>
                </a:solidFill>
              </a:rPr>
              <a:t>lidar com atributos com valores faltantes</a:t>
            </a:r>
            <a:r>
              <a:rPr lang="pt-BR" dirty="0"/>
              <a:t>. </a:t>
            </a:r>
          </a:p>
          <a:p>
            <a:r>
              <a:rPr lang="pt-BR" dirty="0"/>
              <a:t>Existem várias soluções, como por exemplo:</a:t>
            </a:r>
          </a:p>
          <a:p>
            <a:pPr lvl="1">
              <a:buFont typeface="Wingdings" panose="05000000000000000000" pitchFamily="2" charset="2"/>
              <a:buChar char="§"/>
            </a:pPr>
            <a:r>
              <a:rPr lang="pt-BR" dirty="0"/>
              <a:t>Remover exemplos incompletos.</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solidFill>
                  <a:srgbClr val="7030A0"/>
                </a:solidFill>
              </a:rPr>
              <a:t>dois exemplos com os mesmos valores de atributos</a:t>
            </a:r>
            <a:r>
              <a:rPr lang="pt-BR" dirty="0"/>
              <a:t>,</a:t>
            </a:r>
            <a:r>
              <a:rPr lang="pt-BR" b="1" dirty="0"/>
              <a:t> </a:t>
            </a:r>
            <a:r>
              <a:rPr lang="pt-BR" b="1" dirty="0">
                <a:solidFill>
                  <a:schemeClr val="accent2"/>
                </a:solidFill>
              </a:rPr>
              <a:t>porém classes diferentes</a:t>
            </a:r>
            <a:r>
              <a:rPr lang="pt-BR" dirty="0"/>
              <a:t>, precisará ser reconsiderado, pois os atributos atuais podem </a:t>
            </a:r>
            <a:r>
              <a:rPr lang="pt-BR" b="1" dirty="0">
                <a:solidFill>
                  <a:schemeClr val="accent5"/>
                </a:solidFill>
              </a:rPr>
              <a:t>não ser suficientes para a classificação</a:t>
            </a:r>
            <a:r>
              <a:rPr lang="pt-BR" dirty="0"/>
              <a:t>, </a:t>
            </a:r>
            <a:r>
              <a:rPr lang="pt-BR" b="1" dirty="0"/>
              <a:t>precisando, talvez, de mais atributos ou ser removido</a:t>
            </a:r>
            <a:r>
              <a:rPr lang="pt-BR" dirty="0"/>
              <a:t>.</a:t>
            </a:r>
          </a:p>
        </p:txBody>
      </p:sp>
      <p:pic>
        <p:nvPicPr>
          <p:cNvPr id="4" name="Picture 2" descr="Id3 sales learning algorithm">
            <a:extLst>
              <a:ext uri="{FF2B5EF4-FFF2-40B4-BE49-F238E27FC236}">
                <a16:creationId xmlns:a16="http://schemas.microsoft.com/office/drawing/2014/main" xmlns=""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 problema muito comum das </a:t>
            </a:r>
            <a:r>
              <a:rPr lang="pt-BR" b="1" dirty="0"/>
              <a:t>árvores de decisão</a:t>
            </a:r>
            <a:r>
              <a:rPr lang="pt-BR" dirty="0"/>
              <a:t> é o </a:t>
            </a:r>
            <a:r>
              <a:rPr lang="pt-BR" b="1" dirty="0"/>
              <a:t>sobreajuste.</a:t>
            </a:r>
          </a:p>
          <a:p>
            <a:r>
              <a:rPr lang="pt-BR" dirty="0"/>
              <a:t>Que pode ocorrer quando se tem</a:t>
            </a:r>
          </a:p>
          <a:p>
            <a:pPr lvl="1">
              <a:buFont typeface="Wingdings" panose="05000000000000000000" pitchFamily="2" charset="2"/>
              <a:buChar char="§"/>
            </a:pPr>
            <a:r>
              <a:rPr lang="pt-BR" dirty="0"/>
              <a:t>um número muito grande de atributos,</a:t>
            </a:r>
          </a:p>
          <a:p>
            <a:pPr lvl="1">
              <a:buFont typeface="Wingdings" panose="05000000000000000000" pitchFamily="2" charset="2"/>
              <a:buChar char="§"/>
            </a:pPr>
            <a:r>
              <a:rPr lang="en-US" dirty="0" err="1"/>
              <a:t>poucos</a:t>
            </a:r>
            <a:r>
              <a:rPr lang="en-US" dirty="0"/>
              <a:t> dados,</a:t>
            </a:r>
          </a:p>
          <a:p>
            <a:pPr lvl="1">
              <a:buFont typeface="Wingdings" panose="05000000000000000000" pitchFamily="2" charset="2"/>
              <a:buChar char="§"/>
            </a:pPr>
            <a:r>
              <a:rPr lang="pt-BR" dirty="0"/>
              <a:t>árvores muito profundas,</a:t>
            </a:r>
          </a:p>
          <a:p>
            <a:pPr lvl="1">
              <a:buFont typeface="Wingdings" panose="05000000000000000000" pitchFamily="2" charset="2"/>
              <a:buChar char="§"/>
            </a:pPr>
            <a:r>
              <a:rPr lang="pt-BR" dirty="0"/>
              <a:t>e ruído nos dados</a:t>
            </a:r>
          </a:p>
          <a:p>
            <a:r>
              <a:rPr lang="pt-BR" dirty="0"/>
              <a:t>Algumas formas para se minimizar o problema:</a:t>
            </a:r>
          </a:p>
          <a:p>
            <a:pPr lvl="1">
              <a:buFont typeface="Wingdings" panose="05000000000000000000" pitchFamily="2" charset="2"/>
              <a:buChar char="§"/>
            </a:pPr>
            <a:r>
              <a:rPr lang="pt-BR" dirty="0"/>
              <a:t>Coletar mais dados</a:t>
            </a:r>
          </a:p>
          <a:p>
            <a:pPr lvl="1">
              <a:buFont typeface="Wingdings" panose="05000000000000000000" pitchFamily="2" charset="2"/>
              <a:buChar char="§"/>
            </a:pPr>
            <a:r>
              <a:rPr lang="pt-BR" dirty="0"/>
              <a:t>Limitar a profundidade da árvore</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 ao combinar várias árvores.</a:t>
            </a:r>
          </a:p>
        </p:txBody>
      </p:sp>
    </p:spTree>
    <p:extLst>
      <p:ext uri="{BB962C8B-B14F-4D97-AF65-F5344CB8AC3E}">
        <p14:creationId xmlns:p14="http://schemas.microsoft.com/office/powerpoint/2010/main" val="19781850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a:t>
                </a:r>
                <a:r>
                  <a:rPr lang="pt-BR" b="1" dirty="0">
                    <a:solidFill>
                      <a:schemeClr val="accent2"/>
                    </a:solidFill>
                  </a:rPr>
                  <a:t>vetor de atributos</a:t>
                </a:r>
                <a:r>
                  <a:rPr lang="pt-BR" dirty="0"/>
                  <a:t> e </a:t>
                </a:r>
                <a14:m>
                  <m:oMath xmlns:m="http://schemas.openxmlformats.org/officeDocument/2006/math">
                    <m:sSub>
                      <m:sSubPr>
                        <m:ctrlPr>
                          <a:rPr lang="pt-BR" i="1">
                            <a:latin typeface="Cambria Math" panose="02040503050406030204" pitchFamily="18" charset="0"/>
                          </a:rPr>
                        </m:ctrlPr>
                      </m:sSubPr>
                      <m:e>
                        <m:r>
                          <a:rPr lang="pt-BR" i="1" smtClean="0">
                            <a:latin typeface="Cambria Math" panose="02040503050406030204" pitchFamily="18" charset="0"/>
                          </a:rPr>
                          <m:t>𝑑</m:t>
                        </m:r>
                      </m:e>
                      <m:sub>
                        <m:r>
                          <a:rPr lang="pt-BR" i="1" smtClean="0">
                            <a:latin typeface="Cambria Math" panose="02040503050406030204" pitchFamily="18" charset="0"/>
                          </a:rPr>
                          <m:t>𝑖</m:t>
                        </m:r>
                      </m:sub>
                    </m:sSub>
                  </m:oMath>
                </a14:m>
                <a:r>
                  <a:rPr lang="pt-BR" i="1" dirty="0"/>
                  <a:t> </a:t>
                </a:r>
                <a:r>
                  <a:rPr lang="pt-BR" dirty="0"/>
                  <a:t>é o </a:t>
                </a:r>
                <a:r>
                  <a:rPr lang="pt-BR" b="1" dirty="0">
                    <a:solidFill>
                      <a:schemeClr val="accent2"/>
                    </a:solidFill>
                  </a:rPr>
                  <a:t>rótulo</a:t>
                </a:r>
                <a:r>
                  <a:rPr lang="pt-BR" dirty="0"/>
                  <a:t>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837948" cy="5032375"/>
          </a:xfrm>
        </p:spPr>
        <p:txBody>
          <a:bodyPr>
            <a:normAutofit/>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a:t>
            </a:r>
            <a:r>
              <a:rPr lang="pt-BR" b="1" dirty="0"/>
              <a:t>positivo</a:t>
            </a:r>
            <a:r>
              <a:rPr lang="pt-BR" dirty="0"/>
              <a:t> (P), i.e., jogar, e </a:t>
            </a:r>
            <a:r>
              <a:rPr lang="pt-BR" b="1" dirty="0"/>
              <a:t>negativo</a:t>
            </a:r>
            <a:r>
              <a:rPr lang="pt-BR" dirty="0"/>
              <a:t> (N), i.e., não jogar (problema binário).</a:t>
            </a:r>
          </a:p>
          <a:p>
            <a:r>
              <a:rPr lang="pt-BR" dirty="0"/>
              <a:t>Um exemplo de condição meteorológica de um dado dia pode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1109883640"/>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xmlns="" val="20000"/>
                    </a:ext>
                  </a:extLst>
                </a:gridCol>
                <a:gridCol w="786008">
                  <a:extLst>
                    <a:ext uri="{9D8B030D-6E8A-4147-A177-3AD203B41FA5}">
                      <a16:colId xmlns:a16="http://schemas.microsoft.com/office/drawing/2014/main" xmlns="" val="20001"/>
                    </a:ext>
                  </a:extLst>
                </a:gridCol>
                <a:gridCol w="894865">
                  <a:extLst>
                    <a:ext uri="{9D8B030D-6E8A-4147-A177-3AD203B41FA5}">
                      <a16:colId xmlns:a16="http://schemas.microsoft.com/office/drawing/2014/main" xmlns="" val="20002"/>
                    </a:ext>
                  </a:extLst>
                </a:gridCol>
                <a:gridCol w="677151">
                  <a:extLst>
                    <a:ext uri="{9D8B030D-6E8A-4147-A177-3AD203B41FA5}">
                      <a16:colId xmlns:a16="http://schemas.microsoft.com/office/drawing/2014/main" xmlns="" val="20003"/>
                    </a:ext>
                  </a:extLst>
                </a:gridCol>
                <a:gridCol w="786008">
                  <a:extLst>
                    <a:ext uri="{9D8B030D-6E8A-4147-A177-3AD203B41FA5}">
                      <a16:colId xmlns:a16="http://schemas.microsoft.com/office/drawing/2014/main" xmlns="" val="20004"/>
                    </a:ext>
                  </a:extLst>
                </a:gridCol>
                <a:gridCol w="786008">
                  <a:extLst>
                    <a:ext uri="{9D8B030D-6E8A-4147-A177-3AD203B41FA5}">
                      <a16:colId xmlns:a16="http://schemas.microsoft.com/office/drawing/2014/main" xmlns="" val="20005"/>
                    </a:ext>
                  </a:extLst>
                </a:gridCol>
              </a:tblGrid>
              <a:tr h="257810">
                <a:tc rowSpan="2">
                  <a:txBody>
                    <a:bodyPr/>
                    <a:lstStyle/>
                    <a:p>
                      <a:pPr algn="ctr" rtl="0" fontAlgn="ctr"/>
                      <a:r>
                        <a:rPr lang="pt-BR" sz="1200" b="1" dirty="0">
                          <a:effectLst/>
                        </a:rPr>
                        <a:t>Dia</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a:effectLst/>
                        </a:rPr>
                        <a:t>Atributos</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Rótulo</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15"/>
                  </a:ext>
                </a:extLst>
              </a:tr>
            </a:tbl>
          </a:graphicData>
        </a:graphic>
      </p:graphicFrame>
      <p:sp>
        <p:nvSpPr>
          <p:cNvPr id="6" name="CaixaDeTexto 5">
            <a:extLst>
              <a:ext uri="{FF2B5EF4-FFF2-40B4-BE49-F238E27FC236}">
                <a16:creationId xmlns:a16="http://schemas.microsoft.com/office/drawing/2014/main" xmlns=""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xmlns="" val="20000"/>
                    </a:ext>
                  </a:extLst>
                </a:gridCol>
                <a:gridCol w="684266">
                  <a:extLst>
                    <a:ext uri="{9D8B030D-6E8A-4147-A177-3AD203B41FA5}">
                      <a16:colId xmlns:a16="http://schemas.microsoft.com/office/drawing/2014/main" xmlns="" val="20001"/>
                    </a:ext>
                  </a:extLst>
                </a:gridCol>
                <a:gridCol w="293254">
                  <a:extLst>
                    <a:ext uri="{9D8B030D-6E8A-4147-A177-3AD203B41FA5}">
                      <a16:colId xmlns:a16="http://schemas.microsoft.com/office/drawing/2014/main" xmlns="" val="20002"/>
                    </a:ext>
                  </a:extLst>
                </a:gridCol>
                <a:gridCol w="293254">
                  <a:extLst>
                    <a:ext uri="{9D8B030D-6E8A-4147-A177-3AD203B41FA5}">
                      <a16:colId xmlns:a16="http://schemas.microsoft.com/office/drawing/2014/main" xmlns="" val="20003"/>
                    </a:ext>
                  </a:extLst>
                </a:gridCol>
                <a:gridCol w="470222">
                  <a:extLst>
                    <a:ext uri="{9D8B030D-6E8A-4147-A177-3AD203B41FA5}">
                      <a16:colId xmlns:a16="http://schemas.microsoft.com/office/drawing/2014/main" xmlns=""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xmlns="" val="20000"/>
                    </a:ext>
                  </a:extLst>
                </a:gridCol>
                <a:gridCol w="697339">
                  <a:extLst>
                    <a:ext uri="{9D8B030D-6E8A-4147-A177-3AD203B41FA5}">
                      <a16:colId xmlns:a16="http://schemas.microsoft.com/office/drawing/2014/main" xmlns="" val="20001"/>
                    </a:ext>
                  </a:extLst>
                </a:gridCol>
                <a:gridCol w="298859">
                  <a:extLst>
                    <a:ext uri="{9D8B030D-6E8A-4147-A177-3AD203B41FA5}">
                      <a16:colId xmlns:a16="http://schemas.microsoft.com/office/drawing/2014/main" xmlns="" val="20002"/>
                    </a:ext>
                  </a:extLst>
                </a:gridCol>
                <a:gridCol w="298859">
                  <a:extLst>
                    <a:ext uri="{9D8B030D-6E8A-4147-A177-3AD203B41FA5}">
                      <a16:colId xmlns:a16="http://schemas.microsoft.com/office/drawing/2014/main" xmlns="" val="20003"/>
                    </a:ext>
                  </a:extLst>
                </a:gridCol>
                <a:gridCol w="298859">
                  <a:extLst>
                    <a:ext uri="{9D8B030D-6E8A-4147-A177-3AD203B41FA5}">
                      <a16:colId xmlns:a16="http://schemas.microsoft.com/office/drawing/2014/main" xmlns=""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xmlns="" val="20000"/>
                    </a:ext>
                  </a:extLst>
                </a:gridCol>
                <a:gridCol w="621695">
                  <a:extLst>
                    <a:ext uri="{9D8B030D-6E8A-4147-A177-3AD203B41FA5}">
                      <a16:colId xmlns:a16="http://schemas.microsoft.com/office/drawing/2014/main" xmlns="" val="20001"/>
                    </a:ext>
                  </a:extLst>
                </a:gridCol>
                <a:gridCol w="266441">
                  <a:extLst>
                    <a:ext uri="{9D8B030D-6E8A-4147-A177-3AD203B41FA5}">
                      <a16:colId xmlns:a16="http://schemas.microsoft.com/office/drawing/2014/main" xmlns="" val="20002"/>
                    </a:ext>
                  </a:extLst>
                </a:gridCol>
                <a:gridCol w="266441">
                  <a:extLst>
                    <a:ext uri="{9D8B030D-6E8A-4147-A177-3AD203B41FA5}">
                      <a16:colId xmlns:a16="http://schemas.microsoft.com/office/drawing/2014/main" xmlns="" val="20003"/>
                    </a:ext>
                  </a:extLst>
                </a:gridCol>
                <a:gridCol w="266441">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xmlns="" val="20000"/>
                    </a:ext>
                  </a:extLst>
                </a:gridCol>
                <a:gridCol w="631367">
                  <a:extLst>
                    <a:ext uri="{9D8B030D-6E8A-4147-A177-3AD203B41FA5}">
                      <a16:colId xmlns:a16="http://schemas.microsoft.com/office/drawing/2014/main" xmlns="" val="20001"/>
                    </a:ext>
                  </a:extLst>
                </a:gridCol>
                <a:gridCol w="270586">
                  <a:extLst>
                    <a:ext uri="{9D8B030D-6E8A-4147-A177-3AD203B41FA5}">
                      <a16:colId xmlns:a16="http://schemas.microsoft.com/office/drawing/2014/main" xmlns="" val="20002"/>
                    </a:ext>
                  </a:extLst>
                </a:gridCol>
                <a:gridCol w="270586">
                  <a:extLst>
                    <a:ext uri="{9D8B030D-6E8A-4147-A177-3AD203B41FA5}">
                      <a16:colId xmlns:a16="http://schemas.microsoft.com/office/drawing/2014/main" xmlns="" val="20003"/>
                    </a:ext>
                  </a:extLst>
                </a:gridCol>
                <a:gridCol w="270586">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1" name="TextBox 10"/>
          <p:cNvSpPr txBox="1"/>
          <p:nvPr/>
        </p:nvSpPr>
        <p:spPr>
          <a:xfrm>
            <a:off x="8195731" y="408103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4997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chemeClr val="accent2"/>
                </a:solidFill>
              </a:rPr>
              <a:t>subconjuntos</a:t>
            </a:r>
            <a:r>
              <a:rPr lang="pt-BR" b="1" dirty="0">
                <a:solidFill>
                  <a:srgbClr val="00B050"/>
                </a:solidFill>
              </a:rPr>
              <a:t> para cada um dos valores</a:t>
            </a:r>
            <a:r>
              <a:rPr lang="pt-BR" dirty="0"/>
              <a:t> do atributo </a:t>
            </a:r>
            <a:r>
              <a:rPr lang="pt-BR" b="1" dirty="0"/>
              <a:t>Outlook</a:t>
            </a:r>
            <a:r>
              <a:rPr lang="pt-BR" dirty="0"/>
              <a:t> e </a:t>
            </a:r>
            <a:r>
              <a:rPr lang="pt-BR" b="1" dirty="0">
                <a:solidFill>
                  <a:schemeClr val="accent2"/>
                </a:solidFill>
              </a:rPr>
              <a:t>refazemos</a:t>
            </a:r>
            <a:r>
              <a:rPr lang="pt-BR" dirty="0"/>
              <a:t>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xmlns="" val="20000"/>
                    </a:ext>
                  </a:extLst>
                </a:gridCol>
                <a:gridCol w="1019175">
                  <a:extLst>
                    <a:ext uri="{9D8B030D-6E8A-4147-A177-3AD203B41FA5}">
                      <a16:colId xmlns:a16="http://schemas.microsoft.com/office/drawing/2014/main" xmlns="" val="20001"/>
                    </a:ext>
                  </a:extLst>
                </a:gridCol>
                <a:gridCol w="1019175">
                  <a:extLst>
                    <a:ext uri="{9D8B030D-6E8A-4147-A177-3AD203B41FA5}">
                      <a16:colId xmlns:a16="http://schemas.microsoft.com/office/drawing/2014/main" xmlns="" val="20002"/>
                    </a:ext>
                  </a:extLst>
                </a:gridCol>
                <a:gridCol w="1019175">
                  <a:extLst>
                    <a:ext uri="{9D8B030D-6E8A-4147-A177-3AD203B41FA5}">
                      <a16:colId xmlns:a16="http://schemas.microsoft.com/office/drawing/2014/main" xmlns="" val="20003"/>
                    </a:ext>
                  </a:extLst>
                </a:gridCol>
                <a:gridCol w="1019175">
                  <a:extLst>
                    <a:ext uri="{9D8B030D-6E8A-4147-A177-3AD203B41FA5}">
                      <a16:colId xmlns:a16="http://schemas.microsoft.com/office/drawing/2014/main" xmlns="" val="20004"/>
                    </a:ext>
                  </a:extLst>
                </a:gridCol>
                <a:gridCol w="1019175">
                  <a:extLst>
                    <a:ext uri="{9D8B030D-6E8A-4147-A177-3AD203B41FA5}">
                      <a16:colId xmlns:a16="http://schemas.microsoft.com/office/drawing/2014/main" xmlns=""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sSup>
                            <m:sSupPr>
                              <m:ctrlPr>
                                <a:rPr lang="pt-BR" sz="2300" b="0" i="1" smtClean="0">
                                  <a:latin typeface="Cambria Math" panose="02040503050406030204" pitchFamily="18" charset="0"/>
                                </a:rPr>
                              </m:ctrlPr>
                            </m:sSupPr>
                            <m:e>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i="1">
                                          <a:latin typeface="Cambria Math" panose="02040503050406030204" pitchFamily="18" charset="0"/>
                                        </a:rPr>
                                        <m:t>0</m:t>
                                      </m:r>
                                    </m:num>
                                    <m:den>
                                      <m:r>
                                        <a:rPr lang="pt-BR" sz="2300" i="1">
                                          <a:latin typeface="Cambria Math" panose="02040503050406030204" pitchFamily="18" charset="0"/>
                                        </a:rPr>
                                        <m:t>0</m:t>
                                      </m:r>
                                    </m:den>
                                  </m:f>
                                </m:e>
                              </m:d>
                            </m:e>
                            <m:sup>
                              <m:r>
                                <a:rPr lang="pt-BR" sz="2300" b="0" i="1" smtClean="0">
                                  <a:latin typeface="Cambria Math" panose="02040503050406030204" pitchFamily="18" charset="0"/>
                                </a:rPr>
                                <m:t>∗</m:t>
                              </m:r>
                            </m:sup>
                          </m:sSup>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  (</a:t>
                </a:r>
                <a:r>
                  <a:rPr lang="pt-BR" sz="2400" b="1" dirty="0">
                    <a:solidFill>
                      <a:srgbClr val="7030A0"/>
                    </a:solidFill>
                  </a:rPr>
                  <a:t>entropia do nó é 0</a:t>
                </a:r>
                <a:r>
                  <a:rPr lang="pt-BR" sz="2400" dirty="0"/>
                  <a:t>)</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3"/>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xmlns="" val="20000"/>
                    </a:ext>
                  </a:extLst>
                </a:gridCol>
                <a:gridCol w="678430">
                  <a:extLst>
                    <a:ext uri="{9D8B030D-6E8A-4147-A177-3AD203B41FA5}">
                      <a16:colId xmlns:a16="http://schemas.microsoft.com/office/drawing/2014/main" xmlns="" val="20001"/>
                    </a:ext>
                  </a:extLst>
                </a:gridCol>
                <a:gridCol w="290756">
                  <a:extLst>
                    <a:ext uri="{9D8B030D-6E8A-4147-A177-3AD203B41FA5}">
                      <a16:colId xmlns:a16="http://schemas.microsoft.com/office/drawing/2014/main" xmlns="" val="20002"/>
                    </a:ext>
                  </a:extLst>
                </a:gridCol>
                <a:gridCol w="290756">
                  <a:extLst>
                    <a:ext uri="{9D8B030D-6E8A-4147-A177-3AD203B41FA5}">
                      <a16:colId xmlns:a16="http://schemas.microsoft.com/office/drawing/2014/main" xmlns="" val="20003"/>
                    </a:ext>
                  </a:extLst>
                </a:gridCol>
                <a:gridCol w="290756">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xmlns="" val="20000"/>
                    </a:ext>
                  </a:extLst>
                </a:gridCol>
                <a:gridCol w="645270">
                  <a:extLst>
                    <a:ext uri="{9D8B030D-6E8A-4147-A177-3AD203B41FA5}">
                      <a16:colId xmlns:a16="http://schemas.microsoft.com/office/drawing/2014/main" xmlns="" val="20001"/>
                    </a:ext>
                  </a:extLst>
                </a:gridCol>
                <a:gridCol w="276544">
                  <a:extLst>
                    <a:ext uri="{9D8B030D-6E8A-4147-A177-3AD203B41FA5}">
                      <a16:colId xmlns:a16="http://schemas.microsoft.com/office/drawing/2014/main" xmlns="" val="20002"/>
                    </a:ext>
                  </a:extLst>
                </a:gridCol>
                <a:gridCol w="276544">
                  <a:extLst>
                    <a:ext uri="{9D8B030D-6E8A-4147-A177-3AD203B41FA5}">
                      <a16:colId xmlns:a16="http://schemas.microsoft.com/office/drawing/2014/main" xmlns="" val="20003"/>
                    </a:ext>
                  </a:extLst>
                </a:gridCol>
                <a:gridCol w="27654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xmlns="" val="20000"/>
                    </a:ext>
                  </a:extLst>
                </a:gridCol>
                <a:gridCol w="641513">
                  <a:extLst>
                    <a:ext uri="{9D8B030D-6E8A-4147-A177-3AD203B41FA5}">
                      <a16:colId xmlns:a16="http://schemas.microsoft.com/office/drawing/2014/main" xmlns="" val="20001"/>
                    </a:ext>
                  </a:extLst>
                </a:gridCol>
                <a:gridCol w="274934">
                  <a:extLst>
                    <a:ext uri="{9D8B030D-6E8A-4147-A177-3AD203B41FA5}">
                      <a16:colId xmlns:a16="http://schemas.microsoft.com/office/drawing/2014/main" xmlns="" val="20002"/>
                    </a:ext>
                  </a:extLst>
                </a:gridCol>
                <a:gridCol w="274934">
                  <a:extLst>
                    <a:ext uri="{9D8B030D-6E8A-4147-A177-3AD203B41FA5}">
                      <a16:colId xmlns:a16="http://schemas.microsoft.com/office/drawing/2014/main" xmlns="" val="20003"/>
                    </a:ext>
                  </a:extLst>
                </a:gridCol>
                <a:gridCol w="27493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8" name="Picture 7"/>
          <p:cNvPicPr>
            <a:picLocks noChangeAspect="1"/>
          </p:cNvPicPr>
          <p:nvPr/>
        </p:nvPicPr>
        <p:blipFill rotWithShape="1">
          <a:blip r:embed="rId4"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8280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xmlns="" id="{A1E6FEC2-585F-6AC4-88DC-B4AEB62E9E2F}"/>
              </a:ext>
            </a:extLst>
          </p:cNvPr>
          <p:cNvSpPr txBox="1"/>
          <p:nvPr/>
        </p:nvSpPr>
        <p:spPr>
          <a:xfrm>
            <a:off x="7848952" y="6550223"/>
            <a:ext cx="4343048" cy="307777"/>
          </a:xfrm>
          <a:prstGeom prst="rect">
            <a:avLst/>
          </a:prstGeom>
          <a:noFill/>
        </p:spPr>
        <p:txBody>
          <a:bodyPr wrap="none" rtlCol="0">
            <a:spAutoFit/>
          </a:bodyPr>
          <a:lstStyle/>
          <a:p>
            <a:r>
              <a:rPr lang="pt-BR" sz="1400" dirty="0"/>
              <a:t>* Por convenção, um </a:t>
            </a:r>
            <a:r>
              <a:rPr lang="pt-BR" sz="1400" dirty="0" err="1"/>
              <a:t>ra</a:t>
            </a:r>
            <a:r>
              <a:rPr lang="en-US" sz="1400" dirty="0" err="1"/>
              <a:t>mo</a:t>
            </a:r>
            <a:r>
              <a:rPr lang="en-US" sz="1400" dirty="0"/>
              <a:t> </a:t>
            </a:r>
            <a:r>
              <a:rPr lang="en-US" sz="1400" dirty="0" err="1"/>
              <a:t>sem</a:t>
            </a:r>
            <a:r>
              <a:rPr lang="en-US" sz="1400" dirty="0"/>
              <a:t> </a:t>
            </a:r>
            <a:r>
              <a:rPr lang="en-US" sz="1400" dirty="0" err="1"/>
              <a:t>amostras</a:t>
            </a:r>
            <a:r>
              <a:rPr lang="en-US" sz="1400" dirty="0"/>
              <a:t> </a:t>
            </a:r>
            <a:r>
              <a:rPr lang="en-US" sz="1400" dirty="0" err="1"/>
              <a:t>tem</a:t>
            </a:r>
            <a:r>
              <a:rPr lang="en-US" sz="1400" dirty="0"/>
              <a:t> </a:t>
            </a:r>
            <a:r>
              <a:rPr lang="en-US" sz="1400" dirty="0" err="1"/>
              <a:t>entropia</a:t>
            </a:r>
            <a:r>
              <a:rPr lang="en-US" sz="1400" dirty="0"/>
              <a:t> 0.</a:t>
            </a:r>
          </a:p>
        </p:txBody>
      </p:sp>
    </p:spTree>
    <p:extLst>
      <p:ext uri="{BB962C8B-B14F-4D97-AF65-F5344CB8AC3E}">
        <p14:creationId xmlns:p14="http://schemas.microsoft.com/office/powerpoint/2010/main" val="25236784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xmlns="" val="20000"/>
                    </a:ext>
                  </a:extLst>
                </a:gridCol>
                <a:gridCol w="1010861">
                  <a:extLst>
                    <a:ext uri="{9D8B030D-6E8A-4147-A177-3AD203B41FA5}">
                      <a16:colId xmlns:a16="http://schemas.microsoft.com/office/drawing/2014/main" xmlns="" val="20001"/>
                    </a:ext>
                  </a:extLst>
                </a:gridCol>
                <a:gridCol w="1010861">
                  <a:extLst>
                    <a:ext uri="{9D8B030D-6E8A-4147-A177-3AD203B41FA5}">
                      <a16:colId xmlns:a16="http://schemas.microsoft.com/office/drawing/2014/main" xmlns="" val="20002"/>
                    </a:ext>
                  </a:extLst>
                </a:gridCol>
                <a:gridCol w="1010861">
                  <a:extLst>
                    <a:ext uri="{9D8B030D-6E8A-4147-A177-3AD203B41FA5}">
                      <a16:colId xmlns:a16="http://schemas.microsoft.com/office/drawing/2014/main" xmlns="" val="20003"/>
                    </a:ext>
                  </a:extLst>
                </a:gridCol>
                <a:gridCol w="1010861">
                  <a:extLst>
                    <a:ext uri="{9D8B030D-6E8A-4147-A177-3AD203B41FA5}">
                      <a16:colId xmlns:a16="http://schemas.microsoft.com/office/drawing/2014/main" xmlns="" val="20004"/>
                    </a:ext>
                  </a:extLst>
                </a:gridCol>
                <a:gridCol w="1010861">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xmlns="" val="20000"/>
                    </a:ext>
                  </a:extLst>
                </a:gridCol>
                <a:gridCol w="1020536">
                  <a:extLst>
                    <a:ext uri="{9D8B030D-6E8A-4147-A177-3AD203B41FA5}">
                      <a16:colId xmlns:a16="http://schemas.microsoft.com/office/drawing/2014/main" xmlns="" val="20001"/>
                    </a:ext>
                  </a:extLst>
                </a:gridCol>
                <a:gridCol w="1020536">
                  <a:extLst>
                    <a:ext uri="{9D8B030D-6E8A-4147-A177-3AD203B41FA5}">
                      <a16:colId xmlns:a16="http://schemas.microsoft.com/office/drawing/2014/main" xmlns="" val="20002"/>
                    </a:ext>
                  </a:extLst>
                </a:gridCol>
                <a:gridCol w="1020536">
                  <a:extLst>
                    <a:ext uri="{9D8B030D-6E8A-4147-A177-3AD203B41FA5}">
                      <a16:colId xmlns:a16="http://schemas.microsoft.com/office/drawing/2014/main" xmlns="" val="20003"/>
                    </a:ext>
                  </a:extLst>
                </a:gridCol>
                <a:gridCol w="1020536">
                  <a:extLst>
                    <a:ext uri="{9D8B030D-6E8A-4147-A177-3AD203B41FA5}">
                      <a16:colId xmlns:a16="http://schemas.microsoft.com/office/drawing/2014/main" xmlns="" val="20004"/>
                    </a:ext>
                  </a:extLst>
                </a:gridCol>
                <a:gridCol w="1020536">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dirty="0"/>
                  <a:t>A </a:t>
                </a:r>
                <a:r>
                  <a:rPr lang="pt-BR" sz="2000" b="1" dirty="0"/>
                  <a:t>entropia do objetivo </a:t>
                </a:r>
                <a:r>
                  <a:rPr lang="pt-BR" sz="2000" dirty="0"/>
                  <a:t>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 (</a:t>
                </a:r>
                <a:r>
                  <a:rPr lang="pt-BR" sz="2000" b="1" dirty="0">
                    <a:solidFill>
                      <a:srgbClr val="7030A0"/>
                    </a:solidFill>
                  </a:rPr>
                  <a:t>entropia nó é 0</a:t>
                </a:r>
                <a:r>
                  <a:rPr lang="pt-BR" sz="2000" dirty="0"/>
                  <a:t>)</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xmlns="" val="20000"/>
                    </a:ext>
                  </a:extLst>
                </a:gridCol>
                <a:gridCol w="663560">
                  <a:extLst>
                    <a:ext uri="{9D8B030D-6E8A-4147-A177-3AD203B41FA5}">
                      <a16:colId xmlns:a16="http://schemas.microsoft.com/office/drawing/2014/main" xmlns="" val="20001"/>
                    </a:ext>
                  </a:extLst>
                </a:gridCol>
                <a:gridCol w="284383">
                  <a:extLst>
                    <a:ext uri="{9D8B030D-6E8A-4147-A177-3AD203B41FA5}">
                      <a16:colId xmlns:a16="http://schemas.microsoft.com/office/drawing/2014/main" xmlns="" val="20002"/>
                    </a:ext>
                  </a:extLst>
                </a:gridCol>
                <a:gridCol w="284383">
                  <a:extLst>
                    <a:ext uri="{9D8B030D-6E8A-4147-A177-3AD203B41FA5}">
                      <a16:colId xmlns:a16="http://schemas.microsoft.com/office/drawing/2014/main" xmlns="" val="20003"/>
                    </a:ext>
                  </a:extLst>
                </a:gridCol>
                <a:gridCol w="284383">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xmlns="" val="20000"/>
                    </a:ext>
                  </a:extLst>
                </a:gridCol>
                <a:gridCol w="647820">
                  <a:extLst>
                    <a:ext uri="{9D8B030D-6E8A-4147-A177-3AD203B41FA5}">
                      <a16:colId xmlns:a16="http://schemas.microsoft.com/office/drawing/2014/main" xmlns="" val="20001"/>
                    </a:ext>
                  </a:extLst>
                </a:gridCol>
                <a:gridCol w="277637">
                  <a:extLst>
                    <a:ext uri="{9D8B030D-6E8A-4147-A177-3AD203B41FA5}">
                      <a16:colId xmlns:a16="http://schemas.microsoft.com/office/drawing/2014/main" xmlns="" val="20002"/>
                    </a:ext>
                  </a:extLst>
                </a:gridCol>
                <a:gridCol w="277637">
                  <a:extLst>
                    <a:ext uri="{9D8B030D-6E8A-4147-A177-3AD203B41FA5}">
                      <a16:colId xmlns:a16="http://schemas.microsoft.com/office/drawing/2014/main" xmlns="" val="20003"/>
                    </a:ext>
                  </a:extLst>
                </a:gridCol>
                <a:gridCol w="277637">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xmlns="" val="20000"/>
                    </a:ext>
                  </a:extLst>
                </a:gridCol>
                <a:gridCol w="644002">
                  <a:extLst>
                    <a:ext uri="{9D8B030D-6E8A-4147-A177-3AD203B41FA5}">
                      <a16:colId xmlns:a16="http://schemas.microsoft.com/office/drawing/2014/main" xmlns="" val="20001"/>
                    </a:ext>
                  </a:extLst>
                </a:gridCol>
                <a:gridCol w="276001">
                  <a:extLst>
                    <a:ext uri="{9D8B030D-6E8A-4147-A177-3AD203B41FA5}">
                      <a16:colId xmlns:a16="http://schemas.microsoft.com/office/drawing/2014/main" xmlns="" val="20002"/>
                    </a:ext>
                  </a:extLst>
                </a:gridCol>
                <a:gridCol w="276001">
                  <a:extLst>
                    <a:ext uri="{9D8B030D-6E8A-4147-A177-3AD203B41FA5}">
                      <a16:colId xmlns:a16="http://schemas.microsoft.com/office/drawing/2014/main" xmlns="" val="20003"/>
                    </a:ext>
                  </a:extLst>
                </a:gridCol>
                <a:gridCol w="276001">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pPr marL="0" indent="0">
                  <a:buNone/>
                </a:pPr>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913" t="-1733" r="-429" b="-2384"/>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1475131218"/>
              </p:ext>
            </p:extLst>
          </p:nvPr>
        </p:nvGraphicFramePr>
        <p:xfrm>
          <a:off x="1171126" y="2447024"/>
          <a:ext cx="6152244" cy="1005840"/>
        </p:xfrm>
        <a:graphic>
          <a:graphicData uri="http://schemas.openxmlformats.org/drawingml/2006/table">
            <a:tbl>
              <a:tblPr/>
              <a:tblGrid>
                <a:gridCol w="1025374">
                  <a:extLst>
                    <a:ext uri="{9D8B030D-6E8A-4147-A177-3AD203B41FA5}">
                      <a16:colId xmlns:a16="http://schemas.microsoft.com/office/drawing/2014/main" xmlns="" val="20000"/>
                    </a:ext>
                  </a:extLst>
                </a:gridCol>
                <a:gridCol w="1025374">
                  <a:extLst>
                    <a:ext uri="{9D8B030D-6E8A-4147-A177-3AD203B41FA5}">
                      <a16:colId xmlns:a16="http://schemas.microsoft.com/office/drawing/2014/main" xmlns="" val="20001"/>
                    </a:ext>
                  </a:extLst>
                </a:gridCol>
                <a:gridCol w="1025374">
                  <a:extLst>
                    <a:ext uri="{9D8B030D-6E8A-4147-A177-3AD203B41FA5}">
                      <a16:colId xmlns:a16="http://schemas.microsoft.com/office/drawing/2014/main" xmlns="" val="20002"/>
                    </a:ext>
                  </a:extLst>
                </a:gridCol>
                <a:gridCol w="1025374">
                  <a:extLst>
                    <a:ext uri="{9D8B030D-6E8A-4147-A177-3AD203B41FA5}">
                      <a16:colId xmlns:a16="http://schemas.microsoft.com/office/drawing/2014/main" xmlns="" val="20003"/>
                    </a:ext>
                  </a:extLst>
                </a:gridCol>
                <a:gridCol w="1025374">
                  <a:extLst>
                    <a:ext uri="{9D8B030D-6E8A-4147-A177-3AD203B41FA5}">
                      <a16:colId xmlns:a16="http://schemas.microsoft.com/office/drawing/2014/main" xmlns="" val="20004"/>
                    </a:ext>
                  </a:extLst>
                </a:gridCol>
                <a:gridCol w="1025374">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216406514"/>
              </p:ext>
            </p:extLst>
          </p:nvPr>
        </p:nvGraphicFramePr>
        <p:xfrm>
          <a:off x="1171126" y="4553554"/>
          <a:ext cx="6083298" cy="1257300"/>
        </p:xfrm>
        <a:graphic>
          <a:graphicData uri="http://schemas.openxmlformats.org/drawingml/2006/table">
            <a:tbl>
              <a:tblPr/>
              <a:tblGrid>
                <a:gridCol w="1013883">
                  <a:extLst>
                    <a:ext uri="{9D8B030D-6E8A-4147-A177-3AD203B41FA5}">
                      <a16:colId xmlns:a16="http://schemas.microsoft.com/office/drawing/2014/main" xmlns="" val="20000"/>
                    </a:ext>
                  </a:extLst>
                </a:gridCol>
                <a:gridCol w="1013883">
                  <a:extLst>
                    <a:ext uri="{9D8B030D-6E8A-4147-A177-3AD203B41FA5}">
                      <a16:colId xmlns:a16="http://schemas.microsoft.com/office/drawing/2014/main" xmlns="" val="20001"/>
                    </a:ext>
                  </a:extLst>
                </a:gridCol>
                <a:gridCol w="1013883">
                  <a:extLst>
                    <a:ext uri="{9D8B030D-6E8A-4147-A177-3AD203B41FA5}">
                      <a16:colId xmlns:a16="http://schemas.microsoft.com/office/drawing/2014/main" xmlns="" val="20002"/>
                    </a:ext>
                  </a:extLst>
                </a:gridCol>
                <a:gridCol w="1013883">
                  <a:extLst>
                    <a:ext uri="{9D8B030D-6E8A-4147-A177-3AD203B41FA5}">
                      <a16:colId xmlns:a16="http://schemas.microsoft.com/office/drawing/2014/main" xmlns="" val="20003"/>
                    </a:ext>
                  </a:extLst>
                </a:gridCol>
                <a:gridCol w="1013883">
                  <a:extLst>
                    <a:ext uri="{9D8B030D-6E8A-4147-A177-3AD203B41FA5}">
                      <a16:colId xmlns:a16="http://schemas.microsoft.com/office/drawing/2014/main" xmlns="" val="20004"/>
                    </a:ext>
                  </a:extLst>
                </a:gridCol>
                <a:gridCol w="1013883">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01651" y="4512118"/>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4EDB850-1B3E-7D3C-EB8B-E32C912D9B53}"/>
              </a:ext>
            </a:extLst>
          </p:cNvPr>
          <p:cNvSpPr>
            <a:spLocks noGrp="1"/>
          </p:cNvSpPr>
          <p:nvPr>
            <p:ph type="title"/>
          </p:nvPr>
        </p:nvSpPr>
        <p:spPr/>
        <p:txBody>
          <a:bodyPr/>
          <a:lstStyle/>
          <a:p>
            <a:r>
              <a:rPr lang="pt-BR" dirty="0"/>
              <a:t>Exemplo de indução com método ID3</a:t>
            </a:r>
            <a:endParaRPr lang="en-US" dirty="0"/>
          </a:p>
        </p:txBody>
      </p:sp>
      <p:sp>
        <p:nvSpPr>
          <p:cNvPr id="3" name="Espaço Reservado para Conteúdo 2">
            <a:extLst>
              <a:ext uri="{FF2B5EF4-FFF2-40B4-BE49-F238E27FC236}">
                <a16:creationId xmlns:a16="http://schemas.microsoft.com/office/drawing/2014/main" xmlns="" id="{5CD197FA-D6CF-2076-BBA6-ABA290FB18AC}"/>
              </a:ext>
            </a:extLst>
          </p:cNvPr>
          <p:cNvSpPr>
            <a:spLocks noGrp="1"/>
          </p:cNvSpPr>
          <p:nvPr>
            <p:ph idx="1"/>
          </p:nvPr>
        </p:nvSpPr>
        <p:spPr>
          <a:xfrm>
            <a:off x="5429250" y="1825624"/>
            <a:ext cx="6762750" cy="5032375"/>
          </a:xfrm>
        </p:spPr>
        <p:txBody>
          <a:bodyPr/>
          <a:lstStyle/>
          <a:p>
            <a:r>
              <a:rPr lang="pt-BR" dirty="0"/>
              <a:t>Com isso, a construção da </a:t>
            </a:r>
            <a:r>
              <a:rPr lang="pt-BR" b="1" dirty="0"/>
              <a:t>árvore de decisão </a:t>
            </a:r>
            <a:r>
              <a:rPr lang="pt-BR" dirty="0"/>
              <a:t>se encerra e podemos usar as regras encontradas para </a:t>
            </a:r>
            <a:r>
              <a:rPr lang="pt-BR" dirty="0" smtClean="0"/>
              <a:t>classificar exemplos inéditos.</a:t>
            </a:r>
            <a:endParaRPr lang="pt-BR" dirty="0"/>
          </a:p>
          <a:p>
            <a:r>
              <a:rPr lang="pt-BR" b="1" dirty="0">
                <a:solidFill>
                  <a:srgbClr val="00B0F0"/>
                </a:solidFill>
              </a:rPr>
              <a:t>Algum atributo ficou de fora?</a:t>
            </a:r>
            <a:r>
              <a:rPr lang="pt-BR" dirty="0">
                <a:solidFill>
                  <a:srgbClr val="00B0F0"/>
                </a:solidFill>
              </a:rPr>
              <a:t> </a:t>
            </a:r>
          </a:p>
          <a:p>
            <a:pPr lvl="1">
              <a:buFont typeface="Wingdings" panose="05000000000000000000" pitchFamily="2" charset="2"/>
              <a:buChar char="§"/>
            </a:pPr>
            <a:r>
              <a:rPr lang="pt-BR" dirty="0"/>
              <a:t>Sim, </a:t>
            </a:r>
            <a:r>
              <a:rPr lang="pt-BR" b="1" dirty="0" err="1"/>
              <a:t>Temperature</a:t>
            </a:r>
            <a:r>
              <a:rPr lang="pt-BR" dirty="0"/>
              <a:t>, indicando que ele </a:t>
            </a:r>
            <a:r>
              <a:rPr lang="pt-BR" b="1" dirty="0">
                <a:solidFill>
                  <a:srgbClr val="00B050"/>
                </a:solidFill>
              </a:rPr>
              <a:t>não trouxe ganho de informação suficiente para ser selecionado</a:t>
            </a:r>
            <a:r>
              <a:rPr lang="pt-BR" dirty="0"/>
              <a:t> em nenhum nó da árvore.</a:t>
            </a:r>
          </a:p>
          <a:p>
            <a:r>
              <a:rPr lang="pt-BR" dirty="0"/>
              <a:t>Isso mostra uma característica fundamental de algoritmos de </a:t>
            </a:r>
            <a:r>
              <a:rPr lang="pt-BR" dirty="0" smtClean="0"/>
              <a:t>indução de árvores:</a:t>
            </a:r>
            <a:endParaRPr lang="pt-BR" dirty="0"/>
          </a:p>
          <a:p>
            <a:pPr lvl="1">
              <a:buFont typeface="Wingdings" panose="05000000000000000000" pitchFamily="2" charset="2"/>
              <a:buChar char="§"/>
            </a:pPr>
            <a:r>
              <a:rPr lang="pt-BR" dirty="0"/>
              <a:t>Eles fazem </a:t>
            </a:r>
            <a:r>
              <a:rPr lang="pt-BR" b="1" dirty="0">
                <a:solidFill>
                  <a:schemeClr val="accent2"/>
                </a:solidFill>
              </a:rPr>
              <a:t>seleção embutida de atributos</a:t>
            </a:r>
            <a:r>
              <a:rPr lang="pt-BR" dirty="0"/>
              <a:t> durante a indução da árvore.</a:t>
            </a:r>
            <a:endParaRPr lang="en-US" dirty="0"/>
          </a:p>
        </p:txBody>
      </p:sp>
      <p:pic>
        <p:nvPicPr>
          <p:cNvPr id="7" name="Picture 6">
            <a:extLst>
              <a:ext uri="{FF2B5EF4-FFF2-40B4-BE49-F238E27FC236}">
                <a16:creationId xmlns:a16="http://schemas.microsoft.com/office/drawing/2014/main" xmlns="" id="{C2739E6B-3B0B-476C-AFCB-819C1DC4D8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0979" y="3257550"/>
            <a:ext cx="5055467" cy="1611630"/>
          </a:xfrm>
          <a:prstGeom prst="rect">
            <a:avLst/>
          </a:prstGeom>
        </p:spPr>
      </p:pic>
    </p:spTree>
    <p:extLst>
      <p:ext uri="{BB962C8B-B14F-4D97-AF65-F5344CB8AC3E}">
        <p14:creationId xmlns:p14="http://schemas.microsoft.com/office/powerpoint/2010/main" val="10634349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
            </a:r>
            <a:r>
              <a:rPr lang="pt-BR" b="1" dirty="0">
                <a:solidFill>
                  <a:schemeClr val="accent2"/>
                </a:solidFill>
              </a:rPr>
              <a:t>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p>
          <a:p>
            <a:r>
              <a:rPr lang="pt-BR" dirty="0"/>
              <a:t>Em 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a:t>.</a:t>
            </a:r>
          </a:p>
        </p:txBody>
      </p:sp>
    </p:spTree>
    <p:extLst>
      <p:ext uri="{BB962C8B-B14F-4D97-AF65-F5344CB8AC3E}">
        <p14:creationId xmlns:p14="http://schemas.microsoft.com/office/powerpoint/2010/main" val="137586511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chemeClr val="accent2"/>
                </a:solidFill>
              </a:rPr>
              <a:t>classes não são bem separadas</a:t>
            </a:r>
            <a:r>
              <a:rPr lang="pt-BR" dirty="0">
                <a:solidFill>
                  <a:schemeClr val="accent2"/>
                </a:solidFill>
              </a:rPr>
              <a:t> </a:t>
            </a:r>
            <a:r>
              <a:rPr lang="pt-BR" dirty="0"/>
              <a:t>(sobreposição), </a:t>
            </a:r>
            <a:r>
              <a:rPr lang="pt-BR" b="1" dirty="0">
                <a:solidFill>
                  <a:srgbClr val="00B050"/>
                </a:solidFill>
              </a:rPr>
              <a:t>as árvores são suscetíveis a se sobreajustar</a:t>
            </a:r>
            <a:r>
              <a:rPr lang="pt-BR" dirty="0"/>
              <a:t> ao conjunto de treinamento.</a:t>
            </a:r>
          </a:p>
          <a:p>
            <a:r>
              <a:rPr lang="pt-BR" dirty="0"/>
              <a:t>Podemos evitar o </a:t>
            </a:r>
            <a:r>
              <a:rPr lang="pt-BR" b="1" dirty="0"/>
              <a:t>sobreajuste</a:t>
            </a:r>
            <a:r>
              <a:rPr lang="pt-BR" dirty="0"/>
              <a:t>: </a:t>
            </a:r>
          </a:p>
          <a:p>
            <a:pPr marL="971550" lvl="1" indent="-514350">
              <a:buFont typeface="+mj-lt"/>
              <a:buAutoNum type="arabicPeriod"/>
              <a:defRPr/>
            </a:pPr>
            <a:r>
              <a:rPr lang="pt-BR" dirty="0"/>
              <a:t>Limitando a profundidade.</a:t>
            </a:r>
          </a:p>
          <a:p>
            <a:pPr marL="971550" lvl="1" indent="-514350">
              <a:buFont typeface="+mj-lt"/>
              <a:buAutoNum type="arabicPeriod"/>
              <a:defRPr/>
            </a:pPr>
            <a:r>
              <a:rPr lang="pt-BR" dirty="0"/>
              <a:t>Aumentando o número mínimo de amostras necessárias em um nó folha.</a:t>
            </a:r>
          </a:p>
          <a:p>
            <a:pPr lvl="2">
              <a:buFont typeface="Wingdings" panose="05000000000000000000" pitchFamily="2" charset="2"/>
              <a:buChar char="§"/>
              <a:defRPr/>
            </a:pPr>
            <a:r>
              <a:rPr lang="pt-BR" dirty="0"/>
              <a:t>Impede divisões baseadas em poucos amostras.</a:t>
            </a:r>
          </a:p>
          <a:p>
            <a:pPr marL="971550" lvl="1" indent="-514350">
              <a:buFont typeface="+mj-lt"/>
              <a:buAutoNum type="arabicPeriod"/>
              <a:defRPr/>
            </a:pPr>
            <a:r>
              <a:rPr lang="pt-BR" dirty="0"/>
              <a:t>Eliminando alguns ramos (podar a árvore).</a:t>
            </a:r>
          </a:p>
          <a:p>
            <a:pPr lvl="2">
              <a:buFont typeface="Wingdings" panose="05000000000000000000" pitchFamily="2" charset="2"/>
              <a:buChar char="§"/>
              <a:defRPr/>
            </a:pPr>
            <a:r>
              <a:rPr lang="pt-BR" dirty="0"/>
              <a:t>Remove ramos que trazem pouco ganho.</a:t>
            </a:r>
          </a:p>
          <a:p>
            <a:pPr marL="971550" lvl="1" indent="-514350">
              <a:buFont typeface="+mj-lt"/>
              <a:buAutoNum type="arabicPeriod"/>
              <a:defRPr/>
            </a:pPr>
            <a:r>
              <a:rPr lang="en-US" dirty="0"/>
              <a:t>Usar </a:t>
            </a:r>
            <a:r>
              <a:rPr lang="en-US" i="1" dirty="0"/>
              <a:t>ensembles.</a:t>
            </a:r>
          </a:p>
          <a:p>
            <a:pPr lvl="2">
              <a:buFont typeface="Wingdings" panose="05000000000000000000" pitchFamily="2" charset="2"/>
              <a:buChar char="§"/>
              <a:defRPr/>
            </a:pPr>
            <a:r>
              <a:rPr lang="pt-BR" dirty="0"/>
              <a:t>Generalizam melhor do que uma árvore única.</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4907280" y="1825624"/>
            <a:ext cx="7284720" cy="5032375"/>
          </a:xfrm>
        </p:spPr>
        <p:txBody>
          <a:bodyPr/>
          <a:lstStyle/>
          <a:p>
            <a:r>
              <a:rPr lang="pt-BR" dirty="0"/>
              <a:t>Um dos </a:t>
            </a:r>
            <a:r>
              <a:rPr lang="pt-BR" b="1" dirty="0">
                <a:solidFill>
                  <a:srgbClr val="FF0000"/>
                </a:solidFill>
              </a:rPr>
              <a:t>principais problemas </a:t>
            </a:r>
            <a:r>
              <a:rPr lang="pt-BR" dirty="0"/>
              <a:t>das árvores é sua </a:t>
            </a:r>
            <a:r>
              <a:rPr lang="pt-BR" b="1" dirty="0">
                <a:solidFill>
                  <a:schemeClr val="accent2"/>
                </a:solidFill>
              </a:rPr>
              <a:t>sensibilidade a rotações </a:t>
            </a:r>
            <a:r>
              <a:rPr lang="pt-BR" b="1" dirty="0">
                <a:solidFill>
                  <a:srgbClr val="00B050"/>
                </a:solidFill>
              </a:rPr>
              <a:t>nos dados de treinamento</a:t>
            </a:r>
            <a:r>
              <a:rPr lang="pt-BR" dirty="0"/>
              <a:t>. </a:t>
            </a:r>
            <a:endParaRPr lang="pt-BR" b="1" dirty="0"/>
          </a:p>
          <a:p>
            <a:r>
              <a:rPr lang="pt-BR" dirty="0"/>
              <a:t>Elas criam </a:t>
            </a:r>
            <a:r>
              <a:rPr lang="pt-BR" b="1" dirty="0">
                <a:solidFill>
                  <a:schemeClr val="accent2"/>
                </a:solidFill>
              </a:rPr>
              <a:t>fronteiras de decisão </a:t>
            </a:r>
            <a:r>
              <a:rPr lang="pt-BR" dirty="0"/>
              <a:t>compostas por</a:t>
            </a:r>
            <a:r>
              <a:rPr lang="pt-BR" b="1" dirty="0">
                <a:solidFill>
                  <a:srgbClr val="7030A0"/>
                </a:solidFill>
              </a:rPr>
              <a:t> </a:t>
            </a:r>
            <a:r>
              <a:rPr lang="pt-BR" b="1" dirty="0" smtClean="0">
                <a:solidFill>
                  <a:srgbClr val="7030A0"/>
                </a:solidFill>
              </a:rPr>
              <a:t>vários trechos </a:t>
            </a:r>
            <a:r>
              <a:rPr lang="pt-BR" b="1" dirty="0">
                <a:solidFill>
                  <a:srgbClr val="7030A0"/>
                </a:solidFill>
              </a:rPr>
              <a:t>perpendiculares aos eixos</a:t>
            </a:r>
            <a:r>
              <a:rPr lang="pt-BR" dirty="0"/>
              <a:t>, o que as torna </a:t>
            </a:r>
            <a:r>
              <a:rPr lang="pt-BR" b="1" dirty="0"/>
              <a:t>sensíveis à rotação do conjunto de treinamento</a:t>
            </a:r>
            <a:r>
              <a:rPr lang="pt-BR" dirty="0"/>
              <a:t>.</a:t>
            </a:r>
          </a:p>
          <a:p>
            <a:r>
              <a:rPr lang="pt-BR" dirty="0"/>
              <a:t>Uma árvore </a:t>
            </a:r>
            <a:r>
              <a:rPr lang="pt-BR" b="1" dirty="0">
                <a:solidFill>
                  <a:srgbClr val="7030A0"/>
                </a:solidFill>
              </a:rPr>
              <a:t>não consegue fazer um corte diagonal</a:t>
            </a:r>
            <a:r>
              <a:rPr lang="pt-BR" dirty="0"/>
              <a:t> para separar as classes da figura.</a:t>
            </a:r>
          </a:p>
          <a:p>
            <a:r>
              <a:rPr lang="pt-BR" dirty="0"/>
              <a:t>Ela </a:t>
            </a:r>
            <a:r>
              <a:rPr lang="pt-BR" b="1" dirty="0">
                <a:solidFill>
                  <a:schemeClr val="accent2"/>
                </a:solidFill>
              </a:rPr>
              <a:t>aproxima</a:t>
            </a:r>
            <a:r>
              <a:rPr lang="pt-BR" dirty="0"/>
              <a:t> a diagonal com </a:t>
            </a:r>
            <a:r>
              <a:rPr lang="pt-BR" b="1" dirty="0">
                <a:solidFill>
                  <a:schemeClr val="accent5"/>
                </a:solidFill>
              </a:rPr>
              <a:t>vários cortes horizontais e verticais</a:t>
            </a:r>
            <a:r>
              <a:rPr lang="pt-BR" dirty="0"/>
              <a:t>.</a:t>
            </a:r>
          </a:p>
          <a:p>
            <a:endParaRPr lang="pt-BR" dirty="0"/>
          </a:p>
        </p:txBody>
      </p:sp>
      <p:pic>
        <p:nvPicPr>
          <p:cNvPr id="7" name="Imagem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4357" y="2353628"/>
            <a:ext cx="3781738" cy="2904172"/>
          </a:xfrm>
          <a:prstGeom prst="rect">
            <a:avLst/>
          </a:prstGeom>
        </p:spPr>
      </p:pic>
    </p:spTree>
    <p:extLst>
      <p:ext uri="{BB962C8B-B14F-4D97-AF65-F5344CB8AC3E}">
        <p14:creationId xmlns:p14="http://schemas.microsoft.com/office/powerpoint/2010/main" val="24763091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971AD46-B926-846D-EB2A-F4A7743CD7B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83E1206-44F0-7D84-8BED-C8DC67CC9B92}"/>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E6F3CE70-7FAA-987D-8231-5E882FF0BF2A}"/>
              </a:ext>
            </a:extLst>
          </p:cNvPr>
          <p:cNvSpPr>
            <a:spLocks noGrp="1"/>
          </p:cNvSpPr>
          <p:nvPr>
            <p:ph idx="1"/>
          </p:nvPr>
        </p:nvSpPr>
        <p:spPr>
          <a:xfrm>
            <a:off x="4640580" y="1825624"/>
            <a:ext cx="7551420" cy="5032375"/>
          </a:xfrm>
        </p:spPr>
        <p:txBody>
          <a:bodyPr>
            <a:normAutofit lnSpcReduction="10000"/>
          </a:bodyPr>
          <a:lstStyle/>
          <a:p>
            <a:r>
              <a:rPr lang="pt-BR" dirty="0"/>
              <a:t>Isso gera:</a:t>
            </a:r>
          </a:p>
          <a:p>
            <a:pPr lvl="1">
              <a:buFont typeface="Wingdings" panose="05000000000000000000" pitchFamily="2" charset="2"/>
              <a:buChar char="§"/>
            </a:pPr>
            <a:r>
              <a:rPr lang="pt-BR" dirty="0"/>
              <a:t>uma árvore maior (complexa) do que o necessário; </a:t>
            </a:r>
          </a:p>
          <a:p>
            <a:pPr lvl="1">
              <a:buFont typeface="Wingdings" panose="05000000000000000000" pitchFamily="2" charset="2"/>
              <a:buChar char="§"/>
            </a:pPr>
            <a:r>
              <a:rPr lang="pt-BR" dirty="0"/>
              <a:t>e um maior risco de sobreajuste.</a:t>
            </a:r>
          </a:p>
          <a:p>
            <a:r>
              <a:rPr lang="pt-BR" dirty="0"/>
              <a:t>Uma maneira para </a:t>
            </a:r>
            <a:r>
              <a:rPr lang="pt-BR" b="1" dirty="0">
                <a:solidFill>
                  <a:srgbClr val="FF0000"/>
                </a:solidFill>
              </a:rPr>
              <a:t>minimizar</a:t>
            </a:r>
            <a:r>
              <a:rPr lang="pt-BR" dirty="0"/>
              <a:t> a sensibilidade à rotação é usar </a:t>
            </a:r>
            <a:r>
              <a:rPr lang="pt-BR" b="1" dirty="0"/>
              <a:t>análise de componentes principais (PCA)</a:t>
            </a:r>
            <a:r>
              <a:rPr lang="pt-BR" dirty="0"/>
              <a:t>, que </a:t>
            </a:r>
            <a:r>
              <a:rPr lang="pt-BR" b="1" dirty="0">
                <a:solidFill>
                  <a:schemeClr val="accent2"/>
                </a:solidFill>
              </a:rPr>
              <a:t>rotaciona</a:t>
            </a:r>
            <a:r>
              <a:rPr lang="pt-BR" dirty="0"/>
              <a:t> e dimensiona linearmente a matriz de atributos.</a:t>
            </a:r>
          </a:p>
          <a:p>
            <a:r>
              <a:rPr lang="pt-BR" dirty="0"/>
              <a:t>Na figura, após a aplicação do PCA, o </a:t>
            </a:r>
            <a:r>
              <a:rPr lang="pt-BR" b="1" dirty="0">
                <a:solidFill>
                  <a:srgbClr val="00B050"/>
                </a:solidFill>
              </a:rPr>
              <a:t>novo sistema de coordenadas</a:t>
            </a:r>
            <a:r>
              <a:rPr lang="pt-BR" dirty="0"/>
              <a:t> deixa a separação muito mais simples.</a:t>
            </a:r>
          </a:p>
          <a:p>
            <a:r>
              <a:rPr lang="pt-BR" dirty="0"/>
              <a:t>Podemos usar também </a:t>
            </a:r>
            <a:r>
              <a:rPr lang="pt-BR" i="1" dirty="0"/>
              <a:t>ensembles</a:t>
            </a:r>
            <a:r>
              <a:rPr lang="pt-BR" dirty="0"/>
              <a:t> </a:t>
            </a:r>
            <a:r>
              <a:rPr lang="en-US" dirty="0"/>
              <a:t>e </a:t>
            </a:r>
            <a:r>
              <a:rPr lang="en-US" dirty="0" err="1"/>
              <a:t>engenharia</a:t>
            </a:r>
            <a:r>
              <a:rPr lang="en-US" dirty="0"/>
              <a:t> de </a:t>
            </a:r>
            <a:r>
              <a:rPr lang="en-US" dirty="0" err="1"/>
              <a:t>atributos</a:t>
            </a:r>
            <a:r>
              <a:rPr lang="en-US" dirty="0"/>
              <a:t> (</a:t>
            </a:r>
            <a:r>
              <a:rPr lang="en-US" dirty="0" err="1"/>
              <a:t>aumentando</a:t>
            </a:r>
            <a:r>
              <a:rPr lang="en-US" dirty="0"/>
              <a:t> as </a:t>
            </a:r>
            <a:r>
              <a:rPr lang="en-US" dirty="0" err="1"/>
              <a:t>dimensões</a:t>
            </a:r>
            <a:r>
              <a:rPr lang="en-US" dirty="0"/>
              <a:t>).</a:t>
            </a:r>
            <a:endParaRPr lang="pt-BR" dirty="0"/>
          </a:p>
        </p:txBody>
      </p:sp>
      <p:pic>
        <p:nvPicPr>
          <p:cNvPr id="6" name="Imagem 5">
            <a:extLst>
              <a:ext uri="{FF2B5EF4-FFF2-40B4-BE49-F238E27FC236}">
                <a16:creationId xmlns:a16="http://schemas.microsoft.com/office/drawing/2014/main" xmlns="" id="{040E48A1-D605-B050-206E-22037687E9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a:extLst>
              <a:ext uri="{FF2B5EF4-FFF2-40B4-BE49-F238E27FC236}">
                <a16:creationId xmlns:a16="http://schemas.microsoft.com/office/drawing/2014/main" xmlns="" id="{BC54310F-2331-295C-169D-A7433D38A08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a:extLst>
              <a:ext uri="{FF2B5EF4-FFF2-40B4-BE49-F238E27FC236}">
                <a16:creationId xmlns:a16="http://schemas.microsoft.com/office/drawing/2014/main" xmlns="" id="{DB52FA60-743D-37C4-6EF5-534303D34C5D}"/>
              </a:ext>
            </a:extLst>
          </p:cNvPr>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xmlns="" id="{5BAE8B30-1F44-FA72-2D4D-E2E32F41E568}"/>
              </a:ext>
            </a:extLst>
          </p:cNvPr>
          <p:cNvSpPr txBox="1"/>
          <p:nvPr/>
        </p:nvSpPr>
        <p:spPr>
          <a:xfrm>
            <a:off x="2816263" y="4069417"/>
            <a:ext cx="559769" cy="369332"/>
          </a:xfrm>
          <a:prstGeom prst="rect">
            <a:avLst/>
          </a:prstGeom>
          <a:noFill/>
        </p:spPr>
        <p:txBody>
          <a:bodyPr wrap="none" rtlCol="0">
            <a:spAutoFit/>
          </a:bodyPr>
          <a:lstStyle/>
          <a:p>
            <a:r>
              <a:rPr lang="pt-BR" dirty="0"/>
              <a:t>PCA</a:t>
            </a:r>
          </a:p>
        </p:txBody>
      </p:sp>
    </p:spTree>
    <p:extLst>
      <p:ext uri="{BB962C8B-B14F-4D97-AF65-F5344CB8AC3E}">
        <p14:creationId xmlns:p14="http://schemas.microsoft.com/office/powerpoint/2010/main" val="26712178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200" y="1825624"/>
            <a:ext cx="11353800" cy="5032375"/>
          </a:xfrm>
        </p:spPr>
        <p:txBody>
          <a:bodyPr>
            <a:normAutofit lnSpcReduction="10000"/>
          </a:bodyPr>
          <a:lstStyle/>
          <a:p>
            <a:r>
              <a:rPr lang="pt-BR" dirty="0"/>
              <a:t>Alguns algoritmos de indução de árvores introduzem </a:t>
            </a:r>
            <a:r>
              <a:rPr lang="pt-BR" b="1" dirty="0">
                <a:solidFill>
                  <a:srgbClr val="7030A0"/>
                </a:solidFill>
              </a:rPr>
              <a:t>aleatoriedade</a:t>
            </a:r>
            <a:r>
              <a:rPr lang="pt-BR" dirty="0"/>
              <a:t> </a:t>
            </a:r>
            <a:r>
              <a:rPr lang="pt-BR" b="1" dirty="0">
                <a:solidFill>
                  <a:srgbClr val="7030A0"/>
                </a:solidFill>
              </a:rPr>
              <a:t>durante o treinamento </a:t>
            </a:r>
            <a:r>
              <a:rPr lang="pt-BR" dirty="0"/>
              <a:t>e podem </a:t>
            </a:r>
            <a:r>
              <a:rPr lang="pt-BR" b="1" dirty="0">
                <a:solidFill>
                  <a:schemeClr val="accent2"/>
                </a:solidFill>
              </a:rPr>
              <a:t>gerar árvores diferentes</a:t>
            </a:r>
            <a:r>
              <a:rPr lang="pt-BR" dirty="0"/>
              <a:t> quando a </a:t>
            </a:r>
            <a:r>
              <a:rPr lang="pt-BR" b="1" dirty="0">
                <a:solidFill>
                  <a:schemeClr val="accent2"/>
                </a:solidFill>
              </a:rPr>
              <a:t>semente aleatória muda</a:t>
            </a:r>
            <a:r>
              <a:rPr lang="pt-BR" dirty="0"/>
              <a:t>.</a:t>
            </a:r>
          </a:p>
          <a:p>
            <a:pPr lvl="1">
              <a:buFont typeface="Wingdings" panose="05000000000000000000" pitchFamily="2" charset="2"/>
              <a:buChar char="§"/>
            </a:pPr>
            <a:r>
              <a:rPr lang="pt-BR" dirty="0"/>
              <a:t>Se a semente for fixa, o comportamento se torna determinístico.</a:t>
            </a:r>
          </a:p>
          <a:p>
            <a:r>
              <a:rPr lang="pt-BR" dirty="0"/>
              <a:t>Por exemplo, o CART </a:t>
            </a:r>
            <a:r>
              <a:rPr lang="pt-BR" b="1" dirty="0">
                <a:solidFill>
                  <a:srgbClr val="00B050"/>
                </a:solidFill>
              </a:rPr>
              <a:t>permuta aleatoriamente os atributos a cada divisão (</a:t>
            </a:r>
            <a:r>
              <a:rPr lang="pt-BR" b="1" i="1" dirty="0">
                <a:solidFill>
                  <a:srgbClr val="00B050"/>
                </a:solidFill>
              </a:rPr>
              <a:t>split</a:t>
            </a:r>
            <a:r>
              <a:rPr lang="pt-BR" b="1" dirty="0">
                <a:solidFill>
                  <a:srgbClr val="00B050"/>
                </a:solidFill>
              </a:rPr>
              <a:t>)</a:t>
            </a:r>
            <a:r>
              <a:rPr lang="pt-BR" dirty="0"/>
              <a:t>, podendo gerar diferentes divisões. </a:t>
            </a:r>
          </a:p>
          <a:p>
            <a:pPr lvl="1">
              <a:buFont typeface="Wingdings" panose="05000000000000000000" pitchFamily="2" charset="2"/>
              <a:buChar char="§"/>
            </a:pPr>
            <a:r>
              <a:rPr lang="pt-BR" dirty="0"/>
              <a:t>Se o </a:t>
            </a:r>
            <a:r>
              <a:rPr lang="pt-BR" b="1" dirty="0">
                <a:solidFill>
                  <a:schemeClr val="accent5"/>
                </a:solidFill>
              </a:rPr>
              <a:t>valor do critério de escolha de um nó</a:t>
            </a:r>
            <a:r>
              <a:rPr lang="pt-BR" dirty="0"/>
              <a:t> (e.g., ganho de informação ou </a:t>
            </a:r>
            <a:r>
              <a:rPr lang="pt-BR" dirty="0" err="1"/>
              <a:t>gini</a:t>
            </a:r>
            <a:r>
              <a:rPr lang="pt-BR" dirty="0"/>
              <a:t>) for </a:t>
            </a:r>
            <a:r>
              <a:rPr lang="pt-BR" b="1" dirty="0">
                <a:solidFill>
                  <a:schemeClr val="accent5"/>
                </a:solidFill>
              </a:rPr>
              <a:t>idêntico para vários atributos</a:t>
            </a:r>
            <a:r>
              <a:rPr lang="pt-BR" dirty="0"/>
              <a:t>, </a:t>
            </a:r>
            <a:r>
              <a:rPr lang="pt-BR" b="1" dirty="0">
                <a:solidFill>
                  <a:schemeClr val="accent5"/>
                </a:solidFill>
              </a:rPr>
              <a:t>escolhe-se o atributo de forma aleatória</a:t>
            </a:r>
            <a:r>
              <a:rPr lang="pt-BR" dirty="0"/>
              <a:t>, o que pode gerar árvores diferentes.</a:t>
            </a:r>
          </a:p>
          <a:p>
            <a:r>
              <a:rPr lang="pt-BR" dirty="0"/>
              <a:t>Dependendo da configuração, o CART testa um </a:t>
            </a:r>
            <a:r>
              <a:rPr lang="pt-BR" b="1" dirty="0">
                <a:solidFill>
                  <a:srgbClr val="002060"/>
                </a:solidFill>
              </a:rPr>
              <a:t>subconjunto aleatório de atributos</a:t>
            </a:r>
            <a:r>
              <a:rPr lang="pt-BR" dirty="0"/>
              <a:t> </a:t>
            </a:r>
            <a:r>
              <a:rPr lang="pt-BR" dirty="0" smtClean="0"/>
              <a:t>e não todos por </a:t>
            </a:r>
            <a:r>
              <a:rPr lang="pt-BR" dirty="0"/>
              <a:t>nó. </a:t>
            </a:r>
          </a:p>
          <a:p>
            <a:pPr lvl="1">
              <a:buFont typeface="Wingdings" panose="05000000000000000000" pitchFamily="2" charset="2"/>
              <a:buChar char="§"/>
            </a:pPr>
            <a:r>
              <a:rPr lang="pt-BR" dirty="0"/>
              <a:t>Se o melhor atributo não estiver no subconjunto sorteado, a divisão escolhida será outra.</a:t>
            </a:r>
          </a:p>
        </p:txBody>
      </p:sp>
    </p:spTree>
    <p:extLst>
      <p:ext uri="{BB962C8B-B14F-4D97-AF65-F5344CB8AC3E}">
        <p14:creationId xmlns:p14="http://schemas.microsoft.com/office/powerpoint/2010/main" val="26774920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4949190" y="1825624"/>
            <a:ext cx="7242812" cy="5032375"/>
          </a:xfrm>
        </p:spPr>
        <p:txBody>
          <a:bodyPr>
            <a:normAutofit/>
          </a:bodyPr>
          <a:lstStyle/>
          <a:p>
            <a:r>
              <a:rPr lang="pt-BR" dirty="0"/>
              <a:t>Se </a:t>
            </a:r>
            <a:r>
              <a:rPr lang="pt-BR" b="1" dirty="0">
                <a:solidFill>
                  <a:schemeClr val="accent2"/>
                </a:solidFill>
              </a:rPr>
              <a:t>não for restringida</a:t>
            </a:r>
            <a:r>
              <a:rPr lang="pt-BR" dirty="0"/>
              <a:t>, </a:t>
            </a:r>
            <a:r>
              <a:rPr lang="pt-BR" dirty="0" smtClean="0"/>
              <a:t>uma </a:t>
            </a:r>
            <a:r>
              <a:rPr lang="pt-BR" dirty="0"/>
              <a:t>árvore</a:t>
            </a:r>
            <a:r>
              <a:rPr lang="pt-BR" b="1" dirty="0"/>
              <a:t> </a:t>
            </a:r>
            <a:r>
              <a:rPr lang="pt-BR" dirty="0" smtClean="0"/>
              <a:t>pode se </a:t>
            </a:r>
            <a:r>
              <a:rPr lang="pt-BR" b="1" dirty="0" err="1" smtClean="0">
                <a:solidFill>
                  <a:srgbClr val="7030A0"/>
                </a:solidFill>
              </a:rPr>
              <a:t>sobreajustar</a:t>
            </a:r>
            <a:r>
              <a:rPr lang="pt-BR" b="1" dirty="0" smtClean="0">
                <a:solidFill>
                  <a:srgbClr val="7030A0"/>
                </a:solidFill>
              </a:rPr>
              <a:t> ao conjunto de treinamento</a:t>
            </a:r>
            <a:r>
              <a:rPr lang="pt-BR" dirty="0" smtClean="0"/>
              <a:t>. </a:t>
            </a:r>
            <a:endParaRPr lang="pt-BR" dirty="0"/>
          </a:p>
          <a:p>
            <a:r>
              <a:rPr lang="pt-BR" dirty="0"/>
              <a:t>Para evitar o </a:t>
            </a:r>
            <a:r>
              <a:rPr lang="pt-BR" b="1" dirty="0">
                <a:solidFill>
                  <a:schemeClr val="accent2"/>
                </a:solidFill>
              </a:rPr>
              <a:t>sobreajuste</a:t>
            </a:r>
            <a:r>
              <a:rPr lang="pt-BR" dirty="0"/>
              <a:t>, pode-se </a:t>
            </a:r>
            <a:r>
              <a:rPr lang="pt-BR" b="1" dirty="0">
                <a:solidFill>
                  <a:srgbClr val="7030A0"/>
                </a:solidFill>
              </a:rPr>
              <a:t>restringir</a:t>
            </a:r>
            <a:r>
              <a:rPr lang="pt-BR" dirty="0"/>
              <a:t> o </a:t>
            </a:r>
            <a:r>
              <a:rPr lang="pt-BR" b="1" dirty="0">
                <a:solidFill>
                  <a:srgbClr val="7030A0"/>
                </a:solidFill>
              </a:rPr>
              <a:t>crescimento </a:t>
            </a:r>
            <a:r>
              <a:rPr lang="pt-BR" dirty="0"/>
              <a:t>da árvore durante sua indução ou </a:t>
            </a:r>
            <a:r>
              <a:rPr lang="pt-BR" b="1" dirty="0">
                <a:solidFill>
                  <a:srgbClr val="00B050"/>
                </a:solidFill>
              </a:rPr>
              <a:t>podar partes pouco úteis</a:t>
            </a:r>
            <a:r>
              <a:rPr lang="pt-BR" dirty="0"/>
              <a:t>.</a:t>
            </a:r>
          </a:p>
          <a:p>
            <a:pPr lvl="1">
              <a:buFont typeface="Wingdings" panose="05000000000000000000" pitchFamily="2" charset="2"/>
              <a:buChar char="§"/>
            </a:pPr>
            <a:r>
              <a:rPr lang="pt-BR" dirty="0"/>
              <a:t>A restrição é feita através </a:t>
            </a:r>
            <a:r>
              <a:rPr lang="pt-BR" dirty="0" smtClean="0"/>
              <a:t>de </a:t>
            </a:r>
            <a:r>
              <a:rPr lang="pt-BR" dirty="0"/>
              <a:t>hiperparâmetros da </a:t>
            </a:r>
            <a:r>
              <a:rPr lang="pt-BR" dirty="0" smtClean="0"/>
              <a:t>árvore.</a:t>
            </a:r>
            <a:endParaRPr lang="pt-BR" dirty="0"/>
          </a:p>
          <a:p>
            <a:pPr lvl="1">
              <a:buFont typeface="Wingdings" panose="05000000000000000000" pitchFamily="2" charset="2"/>
              <a:buChar char="§"/>
            </a:pPr>
            <a:r>
              <a:rPr lang="pt-BR" dirty="0" smtClean="0"/>
              <a:t>É uma forma </a:t>
            </a:r>
            <a:r>
              <a:rPr lang="pt-BR" dirty="0"/>
              <a:t>de</a:t>
            </a:r>
            <a:r>
              <a:rPr lang="pt-BR" b="1" dirty="0"/>
              <a:t> </a:t>
            </a:r>
            <a:r>
              <a:rPr lang="pt-BR" b="1" dirty="0">
                <a:solidFill>
                  <a:srgbClr val="FF0000"/>
                </a:solidFill>
              </a:rPr>
              <a:t>regularização</a:t>
            </a:r>
            <a:r>
              <a:rPr lang="pt-BR" dirty="0"/>
              <a:t> (i.e., penalização).</a:t>
            </a:r>
          </a:p>
          <a:p>
            <a:r>
              <a:rPr lang="pt-BR" dirty="0"/>
              <a:t>A poda pode ocorrer durante ou após a indução.</a:t>
            </a:r>
          </a:p>
        </p:txBody>
      </p:sp>
      <p:grpSp>
        <p:nvGrpSpPr>
          <p:cNvPr id="8" name="Agrupar 7">
            <a:extLst>
              <a:ext uri="{FF2B5EF4-FFF2-40B4-BE49-F238E27FC236}">
                <a16:creationId xmlns:a16="http://schemas.microsoft.com/office/drawing/2014/main" xmlns="" id="{621E6FDC-5CCB-396E-54D0-B7BFC98214F2}"/>
              </a:ext>
            </a:extLst>
          </p:cNvPr>
          <p:cNvGrpSpPr/>
          <p:nvPr/>
        </p:nvGrpSpPr>
        <p:grpSpPr>
          <a:xfrm>
            <a:off x="1120140" y="1644968"/>
            <a:ext cx="3166531" cy="5213031"/>
            <a:chOff x="1017270" y="1644968"/>
            <a:chExt cx="3166531" cy="5213031"/>
          </a:xfrm>
        </p:grpSpPr>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7270" y="1644968"/>
              <a:ext cx="2971800" cy="2337883"/>
            </a:xfrm>
            <a:prstGeom prst="rect">
              <a:avLst/>
            </a:prstGeom>
          </p:spPr>
        </p:pic>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7270" y="4520115"/>
              <a:ext cx="2971800" cy="2337884"/>
            </a:xfrm>
            <a:prstGeom prst="rect">
              <a:avLst/>
            </a:prstGeom>
          </p:spPr>
        </p:pic>
        <p:sp>
          <p:nvSpPr>
            <p:cNvPr id="6" name="Seta para baixo 5"/>
            <p:cNvSpPr/>
            <p:nvPr/>
          </p:nvSpPr>
          <p:spPr>
            <a:xfrm>
              <a:off x="2297430" y="4048348"/>
              <a:ext cx="411480" cy="40626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p:cNvSpPr txBox="1"/>
            <p:nvPr/>
          </p:nvSpPr>
          <p:spPr>
            <a:xfrm>
              <a:off x="2708910" y="4066817"/>
              <a:ext cx="1474891" cy="369332"/>
            </a:xfrm>
            <a:prstGeom prst="rect">
              <a:avLst/>
            </a:prstGeom>
            <a:noFill/>
          </p:spPr>
          <p:txBody>
            <a:bodyPr wrap="none" rtlCol="0">
              <a:spAutoFit/>
            </a:bodyPr>
            <a:lstStyle/>
            <a:p>
              <a:r>
                <a:rPr lang="pt-BR" dirty="0"/>
                <a:t>Regularização</a:t>
              </a:r>
            </a:p>
          </p:txBody>
        </p:sp>
      </p:grpSp>
    </p:spTree>
    <p:extLst>
      <p:ext uri="{BB962C8B-B14F-4D97-AF65-F5344CB8AC3E}">
        <p14:creationId xmlns:p14="http://schemas.microsoft.com/office/powerpoint/2010/main" val="354351971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5440680" y="1825624"/>
            <a:ext cx="6751320" cy="5032375"/>
          </a:xfrm>
        </p:spPr>
        <p:txBody>
          <a:bodyPr>
            <a:normAutofit fontScale="92500"/>
          </a:bodyPr>
          <a:lstStyle/>
          <a:p>
            <a:r>
              <a:rPr lang="pt-BR" dirty="0"/>
              <a:t>O </a:t>
            </a:r>
            <a:r>
              <a:rPr lang="pt-BR" dirty="0" err="1"/>
              <a:t>Scikit-Learn</a:t>
            </a:r>
            <a:r>
              <a:rPr lang="pt-BR" dirty="0"/>
              <a:t> tem 2 classes de árvores que implementam o algoritmo CART:</a:t>
            </a:r>
          </a:p>
          <a:p>
            <a:pPr lvl="1">
              <a:buFont typeface="Wingdings" panose="05000000000000000000" pitchFamily="2" charset="2"/>
              <a:buChar char="§"/>
            </a:pPr>
            <a:r>
              <a:rPr lang="pt-BR" dirty="0" err="1"/>
              <a:t>DecisionTreeClassifier</a:t>
            </a:r>
            <a:endParaRPr lang="pt-BR" dirty="0"/>
          </a:p>
          <a:p>
            <a:pPr lvl="1">
              <a:buFont typeface="Wingdings" panose="05000000000000000000" pitchFamily="2" charset="2"/>
              <a:buChar char="§"/>
            </a:pPr>
            <a:r>
              <a:rPr lang="pt-BR" dirty="0" err="1"/>
              <a:t>DecisionTreeRegressor</a:t>
            </a:r>
            <a:endParaRPr lang="pt-BR" dirty="0"/>
          </a:p>
          <a:p>
            <a:r>
              <a:rPr lang="pt-BR" dirty="0"/>
              <a:t>As </a:t>
            </a:r>
            <a:r>
              <a:rPr lang="pt-BR" b="1" dirty="0"/>
              <a:t>árvores de decisão</a:t>
            </a:r>
            <a:r>
              <a:rPr lang="pt-BR" dirty="0"/>
              <a:t> também podem se </a:t>
            </a:r>
            <a:r>
              <a:rPr lang="pt-BR" b="1" dirty="0"/>
              <a:t>sobreajustar</a:t>
            </a:r>
            <a:r>
              <a:rPr lang="pt-BR" dirty="0"/>
              <a:t> ao lidar com tarefas de </a:t>
            </a:r>
            <a:r>
              <a:rPr lang="pt-BR" b="1" dirty="0"/>
              <a:t>regressão</a:t>
            </a:r>
            <a:r>
              <a:rPr lang="pt-BR" dirty="0"/>
              <a:t>.</a:t>
            </a:r>
          </a:p>
          <a:p>
            <a:r>
              <a:rPr lang="pt-BR" dirty="0"/>
              <a:t>Predições feitas por </a:t>
            </a:r>
            <a:r>
              <a:rPr lang="pt-BR" b="1" dirty="0">
                <a:solidFill>
                  <a:srgbClr val="0070C0"/>
                </a:solidFill>
              </a:rPr>
              <a:t>árvores de regressão</a:t>
            </a:r>
            <a:r>
              <a:rPr lang="pt-BR" b="1" dirty="0"/>
              <a:t>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smtClean="0">
                <a:solidFill>
                  <a:srgbClr val="00B050"/>
                </a:solidFill>
              </a:rPr>
              <a:t>no trecho</a:t>
            </a:r>
            <a:r>
              <a:rPr lang="pt-BR" dirty="0"/>
              <a:t>.</a:t>
            </a:r>
          </a:p>
          <a:p>
            <a:endParaRPr lang="pt-BR" dirty="0"/>
          </a:p>
        </p:txBody>
      </p:sp>
      <p:pic>
        <p:nvPicPr>
          <p:cNvPr id="4" name="Picture 2" descr="../_images/sphx_glr_plot_tree_regression_001.png">
            <a:extLst>
              <a:ext uri="{FF2B5EF4-FFF2-40B4-BE49-F238E27FC236}">
                <a16:creationId xmlns:a16="http://schemas.microsoft.com/office/drawing/2014/main" xmlns=""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306404" y="22264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99098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200" y="1825624"/>
            <a:ext cx="11353800" cy="5032375"/>
          </a:xfrm>
        </p:spPr>
        <p:txBody>
          <a:bodyPr>
            <a:normAutofit lnSpcReduction="10000"/>
          </a:bodyPr>
          <a:lstStyle/>
          <a:p>
            <a:r>
              <a:rPr lang="pt-BR" dirty="0"/>
              <a:t>Hiperparâmetros que regularizam as árvores da biblioteca </a:t>
            </a:r>
            <a:r>
              <a:rPr lang="pt-BR" i="1" dirty="0" err="1"/>
              <a:t>scikit-learn</a:t>
            </a:r>
            <a:r>
              <a:rPr lang="pt-BR" dirty="0"/>
              <a:t>: </a:t>
            </a:r>
          </a:p>
          <a:p>
            <a:pPr lvl="1">
              <a:buFont typeface="Wingdings" panose="05000000000000000000" pitchFamily="2" charset="2"/>
              <a:buChar char="§"/>
            </a:pPr>
            <a:r>
              <a:rPr lang="pt-BR" b="1" i="1" dirty="0" err="1"/>
              <a:t>max_depth</a:t>
            </a:r>
            <a:r>
              <a:rPr lang="pt-BR" dirty="0"/>
              <a:t>: profundidade máxima (i.e., número de níveis).</a:t>
            </a:r>
          </a:p>
          <a:p>
            <a:pPr lvl="1">
              <a:buFont typeface="Wingdings" panose="05000000000000000000" pitchFamily="2" charset="2"/>
              <a:buChar char="§"/>
            </a:pPr>
            <a:r>
              <a:rPr lang="pt-BR" b="1" i="1" dirty="0" err="1"/>
              <a:t>min_samples_split</a:t>
            </a:r>
            <a:r>
              <a:rPr lang="pt-BR" dirty="0"/>
              <a:t>: número mínimo de amostras um nó deve ter </a:t>
            </a:r>
            <a:r>
              <a:rPr lang="en-US" dirty="0"/>
              <a:t>antes de </a:t>
            </a:r>
            <a:r>
              <a:rPr lang="en-US" dirty="0" err="1"/>
              <a:t>poder</a:t>
            </a:r>
            <a:r>
              <a:rPr lang="en-US" dirty="0"/>
              <a:t> ser </a:t>
            </a:r>
            <a:r>
              <a:rPr lang="en-US" dirty="0" err="1"/>
              <a:t>dividido</a:t>
            </a:r>
            <a:r>
              <a:rPr lang="pt-BR" dirty="0"/>
              <a:t>.</a:t>
            </a:r>
          </a:p>
          <a:p>
            <a:pPr lvl="1">
              <a:buFont typeface="Wingdings" panose="05000000000000000000" pitchFamily="2" charset="2"/>
              <a:buChar char="§"/>
            </a:pPr>
            <a:r>
              <a:rPr lang="pt-BR" b="1" i="1" dirty="0" err="1"/>
              <a:t>min_samples_leaf</a:t>
            </a:r>
            <a:r>
              <a:rPr lang="pt-BR" dirty="0"/>
              <a:t>: número mínimo de amostras um nó folha deve ter.</a:t>
            </a:r>
          </a:p>
          <a:p>
            <a:pPr lvl="1">
              <a:buFont typeface="Wingdings" panose="05000000000000000000" pitchFamily="2" charset="2"/>
              <a:buChar char="§"/>
            </a:pPr>
            <a:r>
              <a:rPr lang="pt-BR" b="1" i="1" dirty="0" err="1"/>
              <a:t>max_leaf_nodes</a:t>
            </a:r>
            <a:r>
              <a:rPr lang="pt-BR" dirty="0"/>
              <a:t>: número máximo de nós folha.</a:t>
            </a:r>
          </a:p>
          <a:p>
            <a:pPr lvl="1">
              <a:buFont typeface="Wingdings" panose="05000000000000000000" pitchFamily="2" charset="2"/>
              <a:buChar char="§"/>
            </a:pPr>
            <a:r>
              <a:rPr lang="pt-BR" b="1" i="1" dirty="0" err="1"/>
              <a:t>max_features</a:t>
            </a:r>
            <a:r>
              <a:rPr lang="pt-BR" dirty="0"/>
              <a:t>: número máximo de atributos que são avaliados para criação de uma divisão (i.e., split).</a:t>
            </a:r>
          </a:p>
          <a:p>
            <a:pPr lvl="1">
              <a:buFont typeface="Wingdings" panose="05000000000000000000" pitchFamily="2" charset="2"/>
              <a:buChar char="§"/>
            </a:pPr>
            <a:r>
              <a:rPr lang="en-US" b="1" i="1" dirty="0" err="1"/>
              <a:t>ccp_alpha</a:t>
            </a:r>
            <a:r>
              <a:rPr lang="en-US" dirty="0"/>
              <a:t>: </a:t>
            </a:r>
            <a:r>
              <a:rPr lang="en-US" dirty="0" err="1"/>
              <a:t>controla</a:t>
            </a:r>
            <a:r>
              <a:rPr lang="en-US" dirty="0"/>
              <a:t> o </a:t>
            </a:r>
            <a:r>
              <a:rPr lang="en-US" dirty="0" err="1"/>
              <a:t>número</a:t>
            </a:r>
            <a:r>
              <a:rPr lang="en-US" dirty="0"/>
              <a:t> de </a:t>
            </a:r>
            <a:r>
              <a:rPr lang="en-US" dirty="0" err="1"/>
              <a:t>nós</a:t>
            </a:r>
            <a:r>
              <a:rPr lang="en-US" dirty="0"/>
              <a:t> </a:t>
            </a:r>
            <a:r>
              <a:rPr lang="en-US" dirty="0" err="1"/>
              <a:t>podados</a:t>
            </a:r>
            <a:r>
              <a:rPr lang="en-US" dirty="0"/>
              <a:t> (i.e., </a:t>
            </a:r>
            <a:r>
              <a:rPr lang="en-US" dirty="0" err="1"/>
              <a:t>removidos</a:t>
            </a:r>
            <a:r>
              <a:rPr lang="en-US" dirty="0"/>
              <a:t>).</a:t>
            </a:r>
            <a:endParaRPr lang="pt-BR" dirty="0"/>
          </a:p>
          <a:p>
            <a:r>
              <a:rPr lang="pt-BR" dirty="0"/>
              <a:t>Aumentar os hiperparâmetros </a:t>
            </a:r>
            <a:r>
              <a:rPr lang="pt-BR" b="1" i="1" dirty="0"/>
              <a:t>min_</a:t>
            </a:r>
            <a:r>
              <a:rPr lang="pt-BR" b="1" dirty="0"/>
              <a:t>*</a:t>
            </a:r>
            <a:r>
              <a:rPr lang="pt-BR" dirty="0"/>
              <a:t> e </a:t>
            </a:r>
            <a:r>
              <a:rPr lang="en-US" b="1" i="1" dirty="0" err="1"/>
              <a:t>ccp_alpha</a:t>
            </a:r>
            <a:r>
              <a:rPr lang="en-US" b="1" i="1" dirty="0"/>
              <a:t> </a:t>
            </a:r>
            <a:r>
              <a:rPr lang="pt-BR" dirty="0"/>
              <a:t>ou reduzir os </a:t>
            </a:r>
            <a:r>
              <a:rPr lang="pt-BR" b="1" i="1" dirty="0" err="1"/>
              <a:t>max</a:t>
            </a:r>
            <a:r>
              <a:rPr lang="pt-BR" b="1" i="1" dirty="0"/>
              <a:t>_</a:t>
            </a:r>
            <a:r>
              <a:rPr lang="pt-BR" b="1" dirty="0"/>
              <a:t>*</a:t>
            </a:r>
            <a:r>
              <a:rPr lang="pt-BR" dirty="0"/>
              <a:t> regularizará o modelo.</a:t>
            </a:r>
          </a:p>
          <a:p>
            <a:r>
              <a:rPr lang="pt-BR" dirty="0"/>
              <a:t>Como encontramos os melhores valores para os hiperparâmetros?</a:t>
            </a:r>
          </a:p>
          <a:p>
            <a:pPr lvl="1">
              <a:buFont typeface="Wingdings" panose="05000000000000000000" pitchFamily="2" charset="2"/>
              <a:buChar char="§"/>
            </a:pPr>
            <a:r>
              <a:rPr lang="pt-BR" dirty="0"/>
              <a:t>Usando validação cruzada, por exemplo.</a:t>
            </a:r>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354805937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graphicFrame>
        <p:nvGraphicFramePr>
          <p:cNvPr id="5" name="Espaço Reservado para Conteúdo 4"/>
          <p:cNvGraphicFramePr>
            <a:graphicFrameLocks noGrp="1"/>
          </p:cNvGraphicFramePr>
          <p:nvPr>
            <p:ph idx="1"/>
            <p:extLst>
              <p:ext uri="{D42A27DB-BD31-4B8C-83A1-F6EECF244321}">
                <p14:modId xmlns:p14="http://schemas.microsoft.com/office/powerpoint/2010/main" val="3957659603"/>
              </p:ext>
            </p:extLst>
          </p:nvPr>
        </p:nvGraphicFramePr>
        <p:xfrm>
          <a:off x="304800" y="1947545"/>
          <a:ext cx="11582400" cy="4602480"/>
        </p:xfrm>
        <a:graphic>
          <a:graphicData uri="http://schemas.openxmlformats.org/drawingml/2006/table">
            <a:tbl>
              <a:tblPr firstRow="1" bandRow="1">
                <a:tableStyleId>{2D5ABB26-0587-4C30-8999-92F81FD0307C}</a:tableStyleId>
              </a:tblPr>
              <a:tblGrid>
                <a:gridCol w="2057400">
                  <a:extLst>
                    <a:ext uri="{9D8B030D-6E8A-4147-A177-3AD203B41FA5}">
                      <a16:colId xmlns:a16="http://schemas.microsoft.com/office/drawing/2014/main" xmlns="" val="20000"/>
                    </a:ext>
                  </a:extLst>
                </a:gridCol>
                <a:gridCol w="4678680">
                  <a:extLst>
                    <a:ext uri="{9D8B030D-6E8A-4147-A177-3AD203B41FA5}">
                      <a16:colId xmlns:a16="http://schemas.microsoft.com/office/drawing/2014/main" xmlns="" val="20001"/>
                    </a:ext>
                  </a:extLst>
                </a:gridCol>
                <a:gridCol w="4846320">
                  <a:extLst>
                    <a:ext uri="{9D8B030D-6E8A-4147-A177-3AD203B41FA5}">
                      <a16:colId xmlns:a16="http://schemas.microsoft.com/office/drawing/2014/main" xmlns="" val="20002"/>
                    </a:ext>
                  </a:extLst>
                </a:gridCol>
              </a:tblGrid>
              <a:tr h="370840">
                <a:tc>
                  <a:txBody>
                    <a:bodyPr/>
                    <a:lstStyle/>
                    <a:p>
                      <a:pPr algn="ctr"/>
                      <a:r>
                        <a:rPr lang="pt-BR" sz="1900" b="1" dirty="0"/>
                        <a:t>Característica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pt-BR" sz="1900" b="1" dirty="0"/>
                        <a:t>ID3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900" b="1" dirty="0"/>
                        <a:t>CART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problema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900" b="0" dirty="0"/>
                        <a:t>Apenas classificação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Classificação &amp; regressão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Critério de divisão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Ganho</a:t>
                      </a:r>
                      <a:r>
                        <a:rPr lang="pt-BR" sz="1900" b="0" baseline="0" dirty="0"/>
                        <a:t> de informação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lgn="l">
                        <a:buFont typeface="Arial" panose="020B0604020202020204" pitchFamily="34" charset="0"/>
                        <a:buChar char="•"/>
                      </a:pPr>
                      <a:r>
                        <a:rPr lang="pt-BR" sz="1900" b="0" dirty="0"/>
                        <a:t>Classificação: Gini, </a:t>
                      </a:r>
                      <a:r>
                        <a:rPr lang="pt-BR" sz="1900" b="0" i="1" dirty="0"/>
                        <a:t>log </a:t>
                      </a:r>
                      <a:r>
                        <a:rPr lang="pt-BR" sz="1900" b="0" i="1" dirty="0" err="1"/>
                        <a:t>loss</a:t>
                      </a:r>
                      <a:r>
                        <a:rPr lang="pt-BR" sz="1900" b="0" dirty="0"/>
                        <a:t>, e entropia</a:t>
                      </a:r>
                    </a:p>
                    <a:p>
                      <a:pPr marL="285750" lvl="0" indent="-285750" algn="l">
                        <a:buFont typeface="Arial" panose="020B0604020202020204" pitchFamily="34" charset="0"/>
                        <a:buChar char="•"/>
                      </a:pPr>
                      <a:r>
                        <a:rPr lang="pt-BR" sz="1900" b="0" dirty="0"/>
                        <a:t>Regressão: EQM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atributos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Funciona melhor com dados categóricos</a:t>
                      </a:r>
                    </a:p>
                    <a:p>
                      <a:pPr marL="285750" lvl="0" indent="-285750">
                        <a:buFont typeface="Arial" panose="020B0604020202020204" pitchFamily="34" charset="0"/>
                        <a:buChar char="•"/>
                      </a:pPr>
                      <a:r>
                        <a:rPr lang="pt-BR" sz="1900" b="0" dirty="0"/>
                        <a:t>Não lida bem com dados contínuos, </a:t>
                      </a:r>
                      <a:r>
                        <a:rPr lang="pt-BR" sz="1900" b="0" kern="1200" dirty="0">
                          <a:solidFill>
                            <a:schemeClr val="tx1"/>
                          </a:solidFill>
                          <a:latin typeface="+mn-lt"/>
                          <a:ea typeface="+mn-ea"/>
                          <a:cs typeface="+mn-cs"/>
                        </a:rPr>
                        <a:t>precisando </a:t>
                      </a:r>
                      <a:r>
                        <a:rPr lang="en-US" sz="1900" b="0" kern="1200" dirty="0" err="1">
                          <a:solidFill>
                            <a:schemeClr val="tx1"/>
                          </a:solidFill>
                          <a:latin typeface="+mn-lt"/>
                          <a:ea typeface="+mn-ea"/>
                          <a:cs typeface="+mn-cs"/>
                        </a:rPr>
                        <a:t>discretizá-los</a:t>
                      </a:r>
                      <a:r>
                        <a:rPr lang="en-US" sz="1900" b="0" kern="1200" dirty="0">
                          <a:solidFill>
                            <a:schemeClr val="tx1"/>
                          </a:solidFill>
                          <a:latin typeface="+mn-lt"/>
                          <a:ea typeface="+mn-ea"/>
                          <a:cs typeface="+mn-cs"/>
                        </a:rPr>
                        <a:t> antes.</a:t>
                      </a:r>
                      <a:endParaRPr lang="pt-BR" sz="1900" b="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Lida naturalmente com:</a:t>
                      </a:r>
                    </a:p>
                    <a:p>
                      <a:pPr marL="742950" lvl="1" indent="-285750">
                        <a:buFont typeface="Wingdings" panose="05000000000000000000" pitchFamily="2" charset="2"/>
                        <a:buChar char="§"/>
                      </a:pPr>
                      <a:r>
                        <a:rPr lang="pt-BR" sz="1900" b="0" dirty="0"/>
                        <a:t>dados contínuos</a:t>
                      </a:r>
                    </a:p>
                    <a:p>
                      <a:pPr marL="742950" lvl="1" indent="-285750">
                        <a:buFont typeface="Wingdings" panose="05000000000000000000" pitchFamily="2" charset="2"/>
                        <a:buChar char="§"/>
                      </a:pPr>
                      <a:r>
                        <a:rPr lang="pt-BR" sz="1900" b="0" dirty="0"/>
                        <a:t>dados categóricos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Formato da árvore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Pode gerar múltiplos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azul, verde} → 3 ramos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Sempre faz divisões binárias (i.e., cada nó sempre tem 2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 sim/não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370840">
                <a:tc>
                  <a:txBody>
                    <a:bodyPr/>
                    <a:lstStyle/>
                    <a:p>
                      <a:pPr algn="ctr"/>
                      <a:r>
                        <a:rPr lang="pt-BR" sz="1900" b="0" dirty="0"/>
                        <a:t>Repete </a:t>
                      </a:r>
                      <a:r>
                        <a:rPr lang="pt-BR" sz="1900" b="0" dirty="0" smtClean="0"/>
                        <a:t>atributo em um caminho?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Não repete atributos no mesmo caminho (raiz → folha)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pt-BR" sz="1900" b="0" dirty="0"/>
                        <a:t>Pode repetir atributos várias vezes no mesmo caminho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900" b="0" dirty="0"/>
                        <a:t>A cada divisão, todos os atributos são testados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spTree>
    <p:extLst>
      <p:ext uri="{BB962C8B-B14F-4D97-AF65-F5344CB8AC3E}">
        <p14:creationId xmlns:p14="http://schemas.microsoft.com/office/powerpoint/2010/main" val="78418201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árvores_de_decisão.ipynb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hlinkClick r:id="rId2"/>
              </a:rPr>
              <a:t>Lista #12 – </a:t>
            </a:r>
            <a:r>
              <a:rPr lang="en-US" dirty="0" err="1">
                <a:hlinkClick r:id="rId2"/>
              </a:rPr>
              <a:t>Árvores</a:t>
            </a:r>
            <a:r>
              <a:rPr lang="en-US" dirty="0">
                <a:hlinkClick r:id="rId2"/>
              </a:rPr>
              <a:t> de </a:t>
            </a:r>
            <a:r>
              <a:rPr lang="en-US" dirty="0" err="1">
                <a:hlinkClick r:id="rId2"/>
              </a:rPr>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xmlns="" val="20000"/>
                    </a:ext>
                  </a:extLst>
                </a:gridCol>
                <a:gridCol w="952500">
                  <a:extLst>
                    <a:ext uri="{9D8B030D-6E8A-4147-A177-3AD203B41FA5}">
                      <a16:colId xmlns:a16="http://schemas.microsoft.com/office/drawing/2014/main" xmlns="" val="20001"/>
                    </a:ext>
                  </a:extLst>
                </a:gridCol>
                <a:gridCol w="952500">
                  <a:extLst>
                    <a:ext uri="{9D8B030D-6E8A-4147-A177-3AD203B41FA5}">
                      <a16:colId xmlns:a16="http://schemas.microsoft.com/office/drawing/2014/main" xmlns=""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xmlns="" val="20000"/>
                    </a:ext>
                  </a:extLst>
                </a:gridCol>
                <a:gridCol w="209114">
                  <a:extLst>
                    <a:ext uri="{9D8B030D-6E8A-4147-A177-3AD203B41FA5}">
                      <a16:colId xmlns:a16="http://schemas.microsoft.com/office/drawing/2014/main" xmlns="" val="20001"/>
                    </a:ext>
                  </a:extLst>
                </a:gridCol>
                <a:gridCol w="298734">
                  <a:extLst>
                    <a:ext uri="{9D8B030D-6E8A-4147-A177-3AD203B41FA5}">
                      <a16:colId xmlns:a16="http://schemas.microsoft.com/office/drawing/2014/main" xmlns="" val="20002"/>
                    </a:ext>
                  </a:extLst>
                </a:gridCol>
                <a:gridCol w="268861">
                  <a:extLst>
                    <a:ext uri="{9D8B030D-6E8A-4147-A177-3AD203B41FA5}">
                      <a16:colId xmlns:a16="http://schemas.microsoft.com/office/drawing/2014/main" xmlns="" val="20003"/>
                    </a:ext>
                  </a:extLst>
                </a:gridCol>
                <a:gridCol w="298734">
                  <a:extLst>
                    <a:ext uri="{9D8B030D-6E8A-4147-A177-3AD203B41FA5}">
                      <a16:colId xmlns:a16="http://schemas.microsoft.com/office/drawing/2014/main" xmlns="" val="20004"/>
                    </a:ext>
                  </a:extLst>
                </a:gridCol>
                <a:gridCol w="25001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xmlns="" val="20000"/>
                    </a:ext>
                  </a:extLst>
                </a:gridCol>
                <a:gridCol w="213002">
                  <a:extLst>
                    <a:ext uri="{9D8B030D-6E8A-4147-A177-3AD203B41FA5}">
                      <a16:colId xmlns:a16="http://schemas.microsoft.com/office/drawing/2014/main" xmlns="" val="20001"/>
                    </a:ext>
                  </a:extLst>
                </a:gridCol>
                <a:gridCol w="304290">
                  <a:extLst>
                    <a:ext uri="{9D8B030D-6E8A-4147-A177-3AD203B41FA5}">
                      <a16:colId xmlns:a16="http://schemas.microsoft.com/office/drawing/2014/main" xmlns="" val="20002"/>
                    </a:ext>
                  </a:extLst>
                </a:gridCol>
                <a:gridCol w="273861">
                  <a:extLst>
                    <a:ext uri="{9D8B030D-6E8A-4147-A177-3AD203B41FA5}">
                      <a16:colId xmlns:a16="http://schemas.microsoft.com/office/drawing/2014/main" xmlns="" val="20003"/>
                    </a:ext>
                  </a:extLst>
                </a:gridCol>
                <a:gridCol w="304290">
                  <a:extLst>
                    <a:ext uri="{9D8B030D-6E8A-4147-A177-3AD203B41FA5}">
                      <a16:colId xmlns:a16="http://schemas.microsoft.com/office/drawing/2014/main" xmlns="" val="20004"/>
                    </a:ext>
                  </a:extLst>
                </a:gridCol>
                <a:gridCol w="25466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oMath>
                </a14:m>
                <a:r>
                  <a:rPr lang="pt-BR" dirty="0"/>
                  <a:t>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=0</m:t>
                    </m:r>
                  </m:oMath>
                </a14:m>
                <a:r>
                  <a:rPr lang="pt-BR" dirty="0"/>
                  <a:t> 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856"/>
                </a:stretch>
              </a:blipFill>
            </p:spPr>
            <p:txBody>
              <a:bodyPr/>
              <a:lstStyle/>
              <a:p>
                <a:r>
                  <a:rPr lang="en-US">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18773</TotalTime>
  <Words>12117</Words>
  <Application>Microsoft Office PowerPoint</Application>
  <PresentationFormat>Widescreen</PresentationFormat>
  <Paragraphs>1535</Paragraphs>
  <Slides>82</Slides>
  <Notes>56</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82</vt:i4>
      </vt:variant>
    </vt:vector>
  </HeadingPairs>
  <TitlesOfParts>
    <vt:vector size="91"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Apresentação do PowerPoint</vt:lpstr>
      <vt:lpstr>Árvores de decisão</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1465</cp:revision>
  <dcterms:created xsi:type="dcterms:W3CDTF">2020-04-06T23:46:10Z</dcterms:created>
  <dcterms:modified xsi:type="dcterms:W3CDTF">2026-06-01T21:25:09Z</dcterms:modified>
</cp:coreProperties>
</file>