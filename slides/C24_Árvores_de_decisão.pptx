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383" r:id="rId27"/>
    <p:sldId id="358" r:id="rId28"/>
    <p:sldId id="351" r:id="rId29"/>
    <p:sldId id="352" r:id="rId30"/>
    <p:sldId id="353" r:id="rId31"/>
    <p:sldId id="354" r:id="rId32"/>
    <p:sldId id="356" r:id="rId33"/>
    <p:sldId id="357" r:id="rId34"/>
    <p:sldId id="359" r:id="rId35"/>
    <p:sldId id="361" r:id="rId36"/>
    <p:sldId id="362" r:id="rId37"/>
    <p:sldId id="363" r:id="rId38"/>
    <p:sldId id="301" r:id="rId39"/>
    <p:sldId id="318" r:id="rId40"/>
    <p:sldId id="369" r:id="rId41"/>
    <p:sldId id="319" r:id="rId42"/>
    <p:sldId id="364" r:id="rId43"/>
    <p:sldId id="367" r:id="rId44"/>
    <p:sldId id="368" r:id="rId45"/>
    <p:sldId id="277" r:id="rId46"/>
    <p:sldId id="283" r:id="rId47"/>
    <p:sldId id="284" r:id="rId48"/>
    <p:sldId id="285" r:id="rId49"/>
    <p:sldId id="291" r:id="rId50"/>
    <p:sldId id="292" r:id="rId51"/>
    <p:sldId id="296" r:id="rId52"/>
    <p:sldId id="321" r:id="rId53"/>
    <p:sldId id="322" r:id="rId54"/>
    <p:sldId id="371" r:id="rId55"/>
    <p:sldId id="374" r:id="rId56"/>
    <p:sldId id="375" r:id="rId57"/>
    <p:sldId id="377" r:id="rId58"/>
    <p:sldId id="461" r:id="rId59"/>
    <p:sldId id="456" r:id="rId60"/>
    <p:sldId id="457" r:id="rId61"/>
    <p:sldId id="378" r:id="rId62"/>
    <p:sldId id="306" r:id="rId63"/>
    <p:sldId id="265"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2276" autoAdjust="0"/>
  </p:normalViewPr>
  <p:slideViewPr>
    <p:cSldViewPr snapToGrid="0">
      <p:cViewPr varScale="1">
        <p:scale>
          <a:sx n="53" d="100"/>
          <a:sy n="53" d="100"/>
        </p:scale>
        <p:origin x="138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02/04/2026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42055365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02/04/2026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02/04/2026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02/04/2026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02/04/2026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58.xml.rels><?xml version="1.0" encoding="UTF-8" standalone="yes"?>
<Relationships xmlns="http://schemas.openxmlformats.org/package/2006/relationships"><Relationship Id="rId3" Type="http://schemas.openxmlformats.org/officeDocument/2006/relationships/hyperlink" Target="https://www.zhihu.com/en/answer/43590280?utm_source=chatgpt.com"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praudyog.com/data-science-interview-questions/cart-c4-5-id3-algorithms/?utm_source=chatgpt.com" TargetMode="External"/><Relationship Id="rId5" Type="http://schemas.openxmlformats.org/officeDocument/2006/relationships/hyperlink" Target="https://www.zhihu.com/en/answer/119503150?utm_source=chatgpt.com" TargetMode="External"/><Relationship Id="rId4" Type="http://schemas.openxmlformats.org/officeDocument/2006/relationships/hyperlink" Target="https://stackoverflow.com/questions/20092632/can-someone-explain-me-the-difference-between-id3-and-cart-algorithm?utm_source=chatgpt.com"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jpeg"/><Relationship Id="rId1" Type="http://schemas.openxmlformats.org/officeDocument/2006/relationships/slideLayout" Target="../slideLayouts/slideLayout2.xml"/><Relationship Id="rId4" Type="http://schemas.openxmlformats.org/officeDocument/2006/relationships/image" Target="../media/image31.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a16="http://schemas.microsoft.com/office/drawing/2014/main" xmlns=""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a:t>
            </a:r>
            <a:r>
              <a:rPr lang="pt-BR" dirty="0" smtClean="0"/>
              <a:t>de </a:t>
            </a:r>
            <a:r>
              <a:rPr lang="pt-BR" b="1" dirty="0" smtClean="0">
                <a:solidFill>
                  <a:srgbClr val="7030A0"/>
                </a:solidFill>
              </a:rPr>
              <a:t>tempo </a:t>
            </a:r>
            <a:r>
              <a:rPr lang="pt-BR" b="1" dirty="0">
                <a:solidFill>
                  <a:srgbClr val="7030A0"/>
                </a:solidFill>
              </a:rPr>
              <a:t>polinomial não-determinístico completo</a:t>
            </a:r>
            <a:r>
              <a:rPr lang="pt-BR" dirty="0"/>
              <a:t> (NP-completo).</a:t>
            </a:r>
          </a:p>
          <a:p>
            <a:r>
              <a:rPr lang="en-US" altLang="en-US" dirty="0"/>
              <a:t>São </a:t>
            </a:r>
            <a:r>
              <a:rPr lang="en-US" altLang="en-US" dirty="0" err="1" smtClean="0"/>
              <a:t>problemas</a:t>
            </a:r>
            <a:r>
              <a:rPr lang="en-US" altLang="en-US" dirty="0"/>
              <a:t> </a:t>
            </a:r>
            <a:r>
              <a:rPr lang="pt-BR" dirty="0" smtClean="0"/>
              <a:t>onde </a:t>
            </a:r>
            <a:r>
              <a:rPr lang="pt-BR" dirty="0"/>
              <a:t>conferir </a:t>
            </a:r>
            <a:r>
              <a:rPr lang="pt-BR" dirty="0" smtClean="0"/>
              <a:t>uma solução é </a:t>
            </a:r>
            <a:r>
              <a:rPr lang="pt-BR" dirty="0"/>
              <a:t>fácil, mas descobrir a resposta é extremamente </a:t>
            </a:r>
            <a:r>
              <a:rPr lang="pt-BR" dirty="0" smtClean="0"/>
              <a:t>difícil.</a:t>
            </a:r>
            <a:endParaRPr lang="en-US" altLang="en-US" dirty="0"/>
          </a:p>
          <a:p>
            <a:r>
              <a:rPr lang="en-US" altLang="en-US" dirty="0" err="1" smtClean="0"/>
              <a:t>Exemplo</a:t>
            </a:r>
            <a:r>
              <a:rPr lang="en-US" altLang="en-US" dirty="0" smtClean="0"/>
              <a:t>: O </a:t>
            </a:r>
            <a:r>
              <a:rPr lang="en-US" altLang="en-US" dirty="0" err="1" smtClean="0"/>
              <a:t>problema</a:t>
            </a:r>
            <a:r>
              <a:rPr lang="en-US" altLang="en-US" dirty="0" smtClean="0"/>
              <a:t> do </a:t>
            </a:r>
            <a:r>
              <a:rPr lang="en-US" altLang="en-US" dirty="0" err="1" smtClean="0"/>
              <a:t>caixeiro</a:t>
            </a:r>
            <a:r>
              <a:rPr lang="en-US" altLang="en-US" dirty="0" smtClean="0"/>
              <a:t> </a:t>
            </a:r>
            <a:r>
              <a:rPr lang="en-US" altLang="en-US" dirty="0" err="1"/>
              <a:t>v</a:t>
            </a:r>
            <a:r>
              <a:rPr lang="en-US" altLang="en-US" dirty="0" err="1" smtClean="0"/>
              <a:t>iajante</a:t>
            </a:r>
            <a:r>
              <a:rPr lang="en-US" altLang="en-US" dirty="0" smtClean="0"/>
              <a:t>.</a:t>
            </a:r>
          </a:p>
          <a:p>
            <a:pPr lvl="1">
              <a:buFont typeface="Wingdings" panose="05000000000000000000" pitchFamily="2" charset="2"/>
              <a:buChar char="§"/>
            </a:pPr>
            <a:r>
              <a:rPr lang="en-US" altLang="en-US" dirty="0" err="1" smtClean="0"/>
              <a:t>Objetivo</a:t>
            </a:r>
            <a:r>
              <a:rPr lang="en-US" altLang="en-US" dirty="0" smtClean="0"/>
              <a:t>: </a:t>
            </a:r>
            <a:r>
              <a:rPr lang="pt-BR" dirty="0" smtClean="0"/>
              <a:t>Encontrar </a:t>
            </a:r>
            <a:r>
              <a:rPr lang="pt-BR" dirty="0"/>
              <a:t>o </a:t>
            </a:r>
            <a:r>
              <a:rPr lang="pt-BR" b="1" dirty="0"/>
              <a:t>menor caminho que </a:t>
            </a:r>
            <a:r>
              <a:rPr lang="pt-BR" b="1" dirty="0" smtClean="0"/>
              <a:t>visite todas as cidades.</a:t>
            </a:r>
          </a:p>
          <a:p>
            <a:pPr lvl="2">
              <a:buFont typeface="Courier New" panose="02070309020205020404" pitchFamily="49" charset="0"/>
              <a:buChar char="o"/>
            </a:pPr>
            <a:r>
              <a:rPr lang="pt-BR" dirty="0"/>
              <a:t>Se alguém te dá um </a:t>
            </a:r>
            <a:r>
              <a:rPr lang="pt-BR" dirty="0" smtClean="0"/>
              <a:t>caminho: A </a:t>
            </a:r>
            <a:r>
              <a:rPr lang="pt-BR" dirty="0"/>
              <a:t>→ B → C → D → </a:t>
            </a:r>
            <a:r>
              <a:rPr lang="pt-BR" dirty="0" smtClean="0"/>
              <a:t>A</a:t>
            </a:r>
          </a:p>
          <a:p>
            <a:pPr lvl="3">
              <a:buFont typeface="Wingdings" panose="05000000000000000000" pitchFamily="2" charset="2"/>
              <a:buChar char="ü"/>
            </a:pPr>
            <a:r>
              <a:rPr lang="pt-BR" dirty="0" smtClean="0"/>
              <a:t>Nós </a:t>
            </a:r>
            <a:r>
              <a:rPr lang="pt-BR" dirty="0"/>
              <a:t>só </a:t>
            </a:r>
            <a:r>
              <a:rPr lang="pt-BR" dirty="0" smtClean="0"/>
              <a:t>precisamos somar as distâncias para conferir a solução (rápido).</a:t>
            </a:r>
          </a:p>
          <a:p>
            <a:pPr lvl="2">
              <a:buFont typeface="Courier New" panose="02070309020205020404" pitchFamily="49" charset="0"/>
              <a:buChar char="o"/>
            </a:pPr>
            <a:r>
              <a:rPr lang="pt-BR" altLang="en-US" dirty="0"/>
              <a:t>Mas encontrar o melhor caminho entre todos </a:t>
            </a:r>
            <a:r>
              <a:rPr lang="pt-BR" altLang="en-US" dirty="0" smtClean="0"/>
              <a:t>os possíveis:</a:t>
            </a:r>
            <a:endParaRPr lang="pt-BR" altLang="en-US" dirty="0"/>
          </a:p>
          <a:p>
            <a:pPr lvl="3">
              <a:buFont typeface="Wingdings" panose="05000000000000000000" pitchFamily="2" charset="2"/>
              <a:buChar char="ü"/>
            </a:pPr>
            <a:r>
              <a:rPr lang="pt-BR" altLang="en-US" dirty="0"/>
              <a:t>5 cidades → já </a:t>
            </a:r>
            <a:r>
              <a:rPr lang="pt-BR" altLang="en-US" dirty="0" smtClean="0"/>
              <a:t>são muitas </a:t>
            </a:r>
            <a:r>
              <a:rPr lang="pt-BR" altLang="en-US" dirty="0"/>
              <a:t>combinações</a:t>
            </a:r>
          </a:p>
          <a:p>
            <a:pPr lvl="3">
              <a:buFont typeface="Wingdings" panose="05000000000000000000" pitchFamily="2" charset="2"/>
              <a:buChar char="ü"/>
            </a:pPr>
            <a:r>
              <a:rPr lang="pt-BR" altLang="en-US" dirty="0"/>
              <a:t>20 cidades → número </a:t>
            </a:r>
            <a:r>
              <a:rPr lang="pt-BR" altLang="en-US" dirty="0" smtClean="0"/>
              <a:t>gigantesco</a:t>
            </a:r>
            <a:endParaRPr lang="pt-BR" altLang="en-US" dirty="0"/>
          </a:p>
          <a:p>
            <a:pPr lvl="3">
              <a:buFont typeface="Wingdings" panose="05000000000000000000" pitchFamily="2" charset="2"/>
              <a:buChar char="ü"/>
            </a:pPr>
            <a:r>
              <a:rPr lang="pt-BR" altLang="en-US" dirty="0" smtClean="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a:t>
            </a:r>
            <a:r>
              <a:rPr lang="pt-BR" dirty="0" smtClean="0"/>
              <a:t>é um problema NP-completo, </a:t>
            </a:r>
            <a:r>
              <a:rPr lang="pt-BR" dirty="0"/>
              <a:t>em geral, usa-se </a:t>
            </a:r>
            <a:r>
              <a:rPr lang="pt-BR" b="1" dirty="0"/>
              <a:t>abordagens heurísticas </a:t>
            </a:r>
            <a:r>
              <a:rPr lang="pt-BR" dirty="0"/>
              <a:t>para induzir árvores de decisão. </a:t>
            </a:r>
          </a:p>
          <a:p>
            <a:r>
              <a:rPr lang="pt-BR" dirty="0"/>
              <a:t>Dentre </a:t>
            </a:r>
            <a:r>
              <a:rPr lang="pt-BR" dirty="0" smtClean="0"/>
              <a:t>as </a:t>
            </a:r>
            <a:r>
              <a:rPr lang="pt-BR" dirty="0"/>
              <a:t>mais </a:t>
            </a:r>
            <a:r>
              <a:rPr lang="pt-BR" dirty="0" smtClean="0"/>
              <a:t>conhecidas </a:t>
            </a:r>
            <a:r>
              <a:rPr lang="pt-BR" dirty="0"/>
              <a:t>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b="1" dirty="0"/>
              <a:t> </a:t>
            </a:r>
            <a:endParaRPr lang="pt-BR" b="1" dirty="0" smtClean="0"/>
          </a:p>
          <a:p>
            <a:pPr lvl="1">
              <a:buFont typeface="Wingdings" panose="05000000000000000000" pitchFamily="2" charset="2"/>
              <a:buChar char="§"/>
            </a:pPr>
            <a:r>
              <a:rPr lang="pt-BR" dirty="0"/>
              <a:t>Sempre escolhe o melhor atributo </a:t>
            </a:r>
            <a:r>
              <a:rPr lang="pt-BR" dirty="0" smtClean="0"/>
              <a:t>localmente</a:t>
            </a:r>
          </a:p>
          <a:p>
            <a:pPr lvl="2">
              <a:buFont typeface="Courier New" panose="02070309020205020404" pitchFamily="49" charset="0"/>
              <a:buChar char="o"/>
            </a:pPr>
            <a:r>
              <a:rPr lang="pt-BR" dirty="0" smtClean="0"/>
              <a:t>Qual atributo separa </a:t>
            </a:r>
            <a:r>
              <a:rPr lang="pt-BR" dirty="0"/>
              <a:t>melhor os dados AGORA</a:t>
            </a:r>
            <a:r>
              <a:rPr lang="pt-BR" dirty="0" smtClean="0"/>
              <a:t>?</a:t>
            </a:r>
          </a:p>
          <a:p>
            <a:pPr lvl="2">
              <a:buFont typeface="Courier New" panose="02070309020205020404" pitchFamily="49" charset="0"/>
              <a:buChar char="o"/>
            </a:pPr>
            <a:r>
              <a:rPr lang="pt-BR" dirty="0"/>
              <a:t>Ele não reconsidera decisões </a:t>
            </a:r>
            <a:r>
              <a:rPr lang="pt-BR" dirty="0" smtClean="0"/>
              <a:t>anteriores e não </a:t>
            </a:r>
            <a:r>
              <a:rPr lang="pt-BR" dirty="0"/>
              <a:t>testa combinações futuras</a:t>
            </a:r>
          </a:p>
          <a:p>
            <a:pPr lvl="1">
              <a:buFont typeface="Wingdings" panose="05000000000000000000" pitchFamily="2" charset="2"/>
              <a:buChar char="§"/>
            </a:pPr>
            <a:r>
              <a:rPr lang="pt-BR" dirty="0"/>
              <a:t>Não garante solução ótima </a:t>
            </a:r>
            <a:r>
              <a:rPr lang="pt-BR" dirty="0" smtClean="0"/>
              <a:t>global</a:t>
            </a:r>
          </a:p>
          <a:p>
            <a:pPr lvl="2">
              <a:buFont typeface="Courier New" panose="02070309020205020404" pitchFamily="49" charset="0"/>
              <a:buChar char="o"/>
            </a:pPr>
            <a:r>
              <a:rPr lang="pt-BR" dirty="0"/>
              <a:t>Escolher o melhor </a:t>
            </a:r>
            <a:r>
              <a:rPr lang="pt-BR" dirty="0" smtClean="0"/>
              <a:t>atributo agora </a:t>
            </a:r>
            <a:r>
              <a:rPr lang="pt-BR" b="1" dirty="0"/>
              <a:t>não garante o melhor resultado </a:t>
            </a:r>
            <a:r>
              <a:rPr lang="pt-BR" b="1" dirty="0" smtClean="0"/>
              <a:t>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smtClean="0"/>
              <a:t>.</a:t>
            </a:r>
            <a:endParaRPr lang="pt-BR" dirty="0"/>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é aplicado apenas a problemas de classificação.</a:t>
            </a:r>
          </a:p>
          <a:p>
            <a:r>
              <a:rPr lang="pt-BR" dirty="0"/>
              <a:t>Mas 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r>
              <a:rPr lang="pt-BR" dirty="0" smtClean="0"/>
              <a:t>.</a:t>
            </a:r>
            <a:endParaRPr lang="pt-BR" dirty="0" smtClean="0"/>
          </a:p>
          <a:p>
            <a:r>
              <a:rPr lang="pt-BR" dirty="0" smtClean="0"/>
              <a:t>A </a:t>
            </a:r>
            <a:r>
              <a:rPr lang="pt-BR" dirty="0"/>
              <a:t>ideia </a:t>
            </a:r>
            <a:r>
              <a:rPr lang="pt-BR" dirty="0" smtClean="0"/>
              <a:t>central do </a:t>
            </a:r>
            <a:r>
              <a:rPr lang="pt-BR" b="1" dirty="0"/>
              <a:t>método </a:t>
            </a:r>
            <a:r>
              <a:rPr lang="pt-BR" b="1" dirty="0" smtClean="0"/>
              <a:t>ID3</a:t>
            </a:r>
            <a:r>
              <a:rPr lang="pt-BR" dirty="0"/>
              <a:t> </a:t>
            </a:r>
            <a:r>
              <a:rPr lang="pt-BR" dirty="0" smtClean="0"/>
              <a:t>é construir </a:t>
            </a:r>
            <a:r>
              <a:rPr lang="pt-BR" dirty="0"/>
              <a:t>uma árvore escolhendo, a cada passo, o atributo que </a:t>
            </a:r>
            <a:r>
              <a:rPr lang="pt-BR" b="1" dirty="0"/>
              <a:t>mais reduz a incerteza dos dados</a:t>
            </a:r>
            <a:r>
              <a:rPr lang="pt-BR" dirty="0" smtClean="0"/>
              <a:t>.</a:t>
            </a:r>
            <a:endParaRPr lang="pt-BR" dirty="0"/>
          </a:p>
          <a:p>
            <a:r>
              <a:rPr lang="pt-BR" dirty="0" smtClean="0"/>
              <a:t>Ou seja, a cada passo, escolhe-se </a:t>
            </a:r>
            <a:r>
              <a:rPr lang="pt-BR" dirty="0"/>
              <a:t>como </a:t>
            </a:r>
            <a:r>
              <a:rPr lang="pt-BR" b="1" dirty="0"/>
              <a:t>nó</a:t>
            </a:r>
            <a:r>
              <a:rPr lang="pt-BR" dirty="0"/>
              <a:t> o </a:t>
            </a:r>
            <a:r>
              <a:rPr lang="pt-BR" b="1" dirty="0">
                <a:solidFill>
                  <a:schemeClr val="accent2"/>
                </a:solidFill>
              </a:rPr>
              <a:t>atributo que for o mais longe possível em dividir os exemplos</a:t>
            </a:r>
            <a:r>
              <a:rPr lang="pt-BR" dirty="0" smtClean="0"/>
              <a:t>.</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smtClean="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a:t>
            </a:r>
            <a:r>
              <a:rPr lang="pt-BR" dirty="0" smtClean="0"/>
              <a:t>divide </a:t>
            </a:r>
            <a:r>
              <a:rPr lang="pt-BR" dirty="0"/>
              <a:t>as </a:t>
            </a:r>
            <a:r>
              <a:rPr lang="pt-BR" dirty="0" smtClean="0"/>
              <a:t>amostras em </a:t>
            </a:r>
            <a:r>
              <a:rPr lang="pt-BR" dirty="0"/>
              <a:t>duas </a:t>
            </a:r>
            <a:r>
              <a:rPr lang="pt-BR" dirty="0"/>
              <a:t>classes </a:t>
            </a:r>
            <a:r>
              <a:rPr lang="pt-BR" dirty="0" smtClean="0"/>
              <a:t>perfeitamente.</a:t>
            </a:r>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a:t>
            </a:r>
            <a:r>
              <a:rPr lang="pt-BR" dirty="0" smtClean="0"/>
              <a:t>ponto (i.e</a:t>
            </a:r>
            <a:r>
              <a:rPr lang="pt-BR" dirty="0"/>
              <a:t>.,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a:t>
            </a:r>
            <a:r>
              <a:rPr lang="pt-BR" dirty="0" smtClean="0"/>
              <a:t>de um </a:t>
            </a:r>
            <a:r>
              <a:rPr lang="pt-BR" dirty="0"/>
              <a:t>conjunto de dados).</a:t>
            </a:r>
          </a:p>
          <a:p>
            <a:r>
              <a:rPr lang="pt-BR" dirty="0" smtClean="0"/>
              <a:t>Ela mede </a:t>
            </a:r>
            <a:r>
              <a:rPr lang="pt-BR" dirty="0"/>
              <a:t>o quão “bagunçado” está o conjunto de </a:t>
            </a:r>
            <a:r>
              <a:rPr lang="pt-BR" dirty="0" smtClean="0"/>
              <a:t>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smtClean="0"/>
              <a:t>Se </a:t>
            </a:r>
            <a:r>
              <a:rPr lang="pt-BR" dirty="0"/>
              <a:t>todos são da mesma classe → entropia = </a:t>
            </a:r>
            <a:r>
              <a:rPr lang="pt-BR" dirty="0" smtClean="0"/>
              <a:t>0</a:t>
            </a:r>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smtClean="0"/>
              <a:t>Portanto</a:t>
            </a:r>
            <a:r>
              <a:rPr lang="pt-BR" dirty="0"/>
              <a:t>,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smtClean="0"/>
              <a:t>.</a:t>
            </a:r>
          </a:p>
          <a:p>
            <a:r>
              <a:rPr lang="pt-BR" dirty="0" smtClean="0"/>
              <a:t>Em </a:t>
            </a:r>
            <a:r>
              <a:rPr lang="pt-BR" dirty="0"/>
              <a:t>outras palavras, </a:t>
            </a:r>
            <a:r>
              <a:rPr lang="pt-BR" dirty="0" smtClean="0"/>
              <a:t>ele mede o quanto um atributo reduz </a:t>
            </a:r>
            <a:r>
              <a:rPr lang="pt-BR" dirty="0"/>
              <a:t>a </a:t>
            </a:r>
            <a:r>
              <a:rPr lang="pt-BR" dirty="0" smtClean="0"/>
              <a:t>incerteza (“bagunça”).</a:t>
            </a:r>
            <a:endParaRPr lang="pt-BR" dirty="0"/>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a:t>
            </a:r>
            <a:r>
              <a:rPr lang="pt-BR" dirty="0" smtClean="0"/>
              <a:t>mede </a:t>
            </a:r>
            <a:r>
              <a:rPr lang="pt-BR" dirty="0"/>
              <a:t>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xmlns=""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nos dá a </a:t>
                </a:r>
                <a:r>
                  <a:rPr lang="pt-BR" b="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a:t>
                </a:r>
                <a:r>
                  <a:rPr lang="pt-BR" baseline="0"/>
                  <a:t>dado </a:t>
                </a:r>
                <a:r>
                  <a:rPr lang="pt-BR" baseline="0" smtClean="0"/>
                  <a:t>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r="-2256"/>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dirty="0"/>
              <a:t>cara</a:t>
            </a:r>
            <a:r>
              <a:rPr lang="pt-BR" dirty="0"/>
              <a:t> em ambos os lados) não tem nenhuma </a:t>
            </a:r>
            <a:r>
              <a:rPr lang="pt-BR" b="1" dirty="0"/>
              <a:t>incerteza</a:t>
            </a:r>
            <a:r>
              <a:rPr lang="pt-BR" dirty="0"/>
              <a:t> associada </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a16="http://schemas.microsoft.com/office/drawing/2014/main" xmlns=""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Diferenças entre ID3 e CART</a:t>
            </a:r>
            <a:endParaRPr lang="pt-BR" dirty="0"/>
          </a:p>
        </p:txBody>
      </p:sp>
      <p:sp>
        <p:nvSpPr>
          <p:cNvPr id="3" name="Espaço Reservado para Conteúdo 2"/>
          <p:cNvSpPr>
            <a:spLocks noGrp="1"/>
          </p:cNvSpPr>
          <p:nvPr>
            <p:ph idx="1"/>
          </p:nvPr>
        </p:nvSpPr>
        <p:spPr/>
        <p:txBody>
          <a:bodyPr>
            <a:normAutofit fontScale="25000" lnSpcReduction="20000"/>
          </a:bodyPr>
          <a:lstStyle/>
          <a:p>
            <a:endParaRPr lang="pt-BR" dirty="0"/>
          </a:p>
          <a:p>
            <a:r>
              <a:rPr lang="pt-BR" b="1" dirty="0"/>
              <a:t>🌳 Diferença entre CART e ID3</a:t>
            </a:r>
          </a:p>
          <a:p>
            <a:r>
              <a:rPr lang="pt-BR" b="1" dirty="0"/>
              <a:t>🔹 1. Tipo de problema</a:t>
            </a:r>
          </a:p>
          <a:p>
            <a:r>
              <a:rPr lang="pt-BR" b="1" dirty="0"/>
              <a:t>ID3</a:t>
            </a:r>
            <a:endParaRPr lang="pt-BR" dirty="0"/>
          </a:p>
          <a:p>
            <a:pPr lvl="1"/>
            <a:r>
              <a:rPr lang="pt-BR" dirty="0"/>
              <a:t>Apenas </a:t>
            </a:r>
            <a:r>
              <a:rPr lang="pt-BR" b="1" dirty="0"/>
              <a:t>classificação</a:t>
            </a:r>
            <a:endParaRPr lang="pt-BR" dirty="0"/>
          </a:p>
          <a:p>
            <a:r>
              <a:rPr lang="pt-BR" b="1" dirty="0"/>
              <a:t>CART</a:t>
            </a:r>
            <a:endParaRPr lang="pt-BR" dirty="0"/>
          </a:p>
          <a:p>
            <a:pPr lvl="1"/>
            <a:r>
              <a:rPr lang="pt-BR" b="1" dirty="0"/>
              <a:t>Classificação + regressão</a:t>
            </a:r>
            <a:endParaRPr lang="pt-BR" dirty="0"/>
          </a:p>
          <a:p>
            <a:r>
              <a:rPr lang="pt-BR" dirty="0"/>
              <a:t>👉 CART é mais geral (</a:t>
            </a:r>
            <a:r>
              <a:rPr lang="pt-BR" dirty="0">
                <a:hlinkClick r:id="rId3" tooltip="The differences between CART and ID3, C4.5 in feature selection within decision tree algorithms can have significant impacts on actual applications. Which one performs better is yet to be determined.-zhihu"/>
              </a:rPr>
              <a:t>zhihu.com</a:t>
            </a:r>
            <a:r>
              <a:rPr lang="pt-BR" dirty="0"/>
              <a:t>)</a:t>
            </a:r>
          </a:p>
          <a:p>
            <a:r>
              <a:rPr lang="pt-BR" b="1" dirty="0"/>
              <a:t>🔹 2. Critério de divisão (</a:t>
            </a:r>
            <a:r>
              <a:rPr lang="pt-BR" b="1" dirty="0" err="1"/>
              <a:t>split</a:t>
            </a:r>
            <a:r>
              <a:rPr lang="pt-BR" b="1" dirty="0"/>
              <a:t>)</a:t>
            </a:r>
          </a:p>
          <a:p>
            <a:r>
              <a:rPr lang="pt-BR" b="1" dirty="0"/>
              <a:t>ID3</a:t>
            </a:r>
            <a:endParaRPr lang="pt-BR" dirty="0"/>
          </a:p>
          <a:p>
            <a:pPr lvl="1"/>
            <a:r>
              <a:rPr lang="pt-BR" dirty="0"/>
              <a:t>Usa </a:t>
            </a:r>
            <a:r>
              <a:rPr lang="pt-BR" b="1" dirty="0" err="1"/>
              <a:t>Information</a:t>
            </a:r>
            <a:r>
              <a:rPr lang="pt-BR" b="1" dirty="0"/>
              <a:t> </a:t>
            </a:r>
            <a:r>
              <a:rPr lang="pt-BR" b="1" dirty="0" err="1"/>
              <a:t>Gain</a:t>
            </a:r>
            <a:r>
              <a:rPr lang="pt-BR" b="1" dirty="0"/>
              <a:t> (entropia)</a:t>
            </a:r>
            <a:endParaRPr lang="pt-BR" dirty="0"/>
          </a:p>
          <a:p>
            <a:pPr lvl="1"/>
            <a:r>
              <a:rPr lang="pt-BR" dirty="0"/>
              <a:t>Escolhe o atributo que mais reduz a incerteza</a:t>
            </a:r>
          </a:p>
          <a:p>
            <a:r>
              <a:rPr lang="pt-BR" b="1" dirty="0"/>
              <a:t>CART</a:t>
            </a:r>
            <a:endParaRPr lang="pt-BR" dirty="0"/>
          </a:p>
          <a:p>
            <a:pPr lvl="1"/>
            <a:r>
              <a:rPr lang="pt-BR" dirty="0"/>
              <a:t>Classificação → </a:t>
            </a:r>
            <a:r>
              <a:rPr lang="pt-BR" b="1" dirty="0" err="1"/>
              <a:t>Gini</a:t>
            </a:r>
            <a:endParaRPr lang="pt-BR" dirty="0"/>
          </a:p>
          <a:p>
            <a:pPr lvl="1"/>
            <a:r>
              <a:rPr lang="pt-BR" dirty="0"/>
              <a:t>Regressão → </a:t>
            </a:r>
            <a:r>
              <a:rPr lang="pt-BR" b="1" dirty="0"/>
              <a:t>erro quadrático (MSE)</a:t>
            </a:r>
            <a:endParaRPr lang="pt-BR" dirty="0"/>
          </a:p>
          <a:p>
            <a:r>
              <a:rPr lang="pt-BR" dirty="0"/>
              <a:t>👉 Principal diferença prática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3. Formato da árvore</a:t>
            </a:r>
          </a:p>
          <a:p>
            <a:r>
              <a:rPr lang="pt-BR" b="1" dirty="0"/>
              <a:t>ID3</a:t>
            </a:r>
            <a:endParaRPr lang="pt-BR" dirty="0"/>
          </a:p>
          <a:p>
            <a:pPr lvl="1"/>
            <a:r>
              <a:rPr lang="pt-BR" dirty="0"/>
              <a:t>Pode gerar </a:t>
            </a:r>
            <a:r>
              <a:rPr lang="pt-BR" b="1" dirty="0"/>
              <a:t>múltiplos ramos</a:t>
            </a:r>
            <a:endParaRPr lang="pt-BR" dirty="0"/>
          </a:p>
          <a:p>
            <a:pPr lvl="1"/>
            <a:r>
              <a:rPr lang="pt-BR" dirty="0" err="1"/>
              <a:t>Ex</a:t>
            </a:r>
            <a:r>
              <a:rPr lang="pt-BR" dirty="0"/>
              <a:t>:</a:t>
            </a:r>
          </a:p>
          <a:p>
            <a:pPr lvl="1"/>
            <a:r>
              <a:rPr lang="pt-BR" dirty="0"/>
              <a:t>Cor = {vermelho, azul, verde} → 3 ramos </a:t>
            </a:r>
          </a:p>
          <a:p>
            <a:r>
              <a:rPr lang="pt-BR" b="1" dirty="0"/>
              <a:t>CART</a:t>
            </a:r>
            <a:endParaRPr lang="pt-BR" dirty="0"/>
          </a:p>
          <a:p>
            <a:pPr lvl="1"/>
            <a:r>
              <a:rPr lang="pt-BR" dirty="0"/>
              <a:t>Sempre </a:t>
            </a:r>
            <a:r>
              <a:rPr lang="pt-BR" b="1" dirty="0"/>
              <a:t>binária (2 ramos)</a:t>
            </a:r>
            <a:endParaRPr lang="pt-BR" dirty="0"/>
          </a:p>
          <a:p>
            <a:pPr lvl="1"/>
            <a:r>
              <a:rPr lang="pt-BR" dirty="0" err="1"/>
              <a:t>Ex</a:t>
            </a:r>
            <a:r>
              <a:rPr lang="pt-BR" dirty="0"/>
              <a:t>:</a:t>
            </a:r>
          </a:p>
          <a:p>
            <a:pPr lvl="1"/>
            <a:r>
              <a:rPr lang="pt-BR" dirty="0"/>
              <a:t>Cor ∈ {vermelho}? → sim/não </a:t>
            </a:r>
          </a:p>
          <a:p>
            <a:r>
              <a:rPr lang="pt-BR" dirty="0"/>
              <a:t>👉 CART = árvore binária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4. Tipo de atributos</a:t>
            </a:r>
          </a:p>
          <a:p>
            <a:r>
              <a:rPr lang="pt-BR" b="1" dirty="0"/>
              <a:t>ID3</a:t>
            </a:r>
            <a:endParaRPr lang="pt-BR" dirty="0"/>
          </a:p>
          <a:p>
            <a:pPr lvl="1"/>
            <a:r>
              <a:rPr lang="pt-BR" dirty="0"/>
              <a:t>Funciona melhor com </a:t>
            </a:r>
            <a:r>
              <a:rPr lang="pt-BR" b="1" dirty="0"/>
              <a:t>dados categóricos</a:t>
            </a:r>
            <a:endParaRPr lang="pt-BR" dirty="0"/>
          </a:p>
          <a:p>
            <a:pPr lvl="1"/>
            <a:r>
              <a:rPr lang="pt-BR" dirty="0"/>
              <a:t>Não lida bem com contínuos</a:t>
            </a:r>
          </a:p>
          <a:p>
            <a:r>
              <a:rPr lang="pt-BR" b="1" dirty="0"/>
              <a:t>CART</a:t>
            </a:r>
            <a:endParaRPr lang="pt-BR" dirty="0"/>
          </a:p>
          <a:p>
            <a:pPr lvl="1"/>
            <a:r>
              <a:rPr lang="pt-BR" dirty="0"/>
              <a:t>Lida naturalmente com:</a:t>
            </a:r>
          </a:p>
          <a:p>
            <a:pPr lvl="2"/>
            <a:r>
              <a:rPr lang="pt-BR" dirty="0"/>
              <a:t>dados </a:t>
            </a:r>
            <a:r>
              <a:rPr lang="pt-BR" b="1" dirty="0"/>
              <a:t>contínuos</a:t>
            </a:r>
            <a:endParaRPr lang="pt-BR" dirty="0"/>
          </a:p>
          <a:p>
            <a:pPr lvl="2"/>
            <a:r>
              <a:rPr lang="pt-BR" dirty="0"/>
              <a:t>dados categóricos</a:t>
            </a:r>
          </a:p>
          <a:p>
            <a:r>
              <a:rPr lang="pt-BR" dirty="0"/>
              <a:t>👉 Mais flexível na prática (</a:t>
            </a:r>
            <a:r>
              <a:rPr lang="pt-BR" dirty="0">
                <a:hlinkClick r:id="rId5" tooltip="The differences between CART and ID3, C4.5 in feature selection within decision tree algorithms can have impacts on actual applications. Which one performs better is not clear.-zhihu"/>
              </a:rPr>
              <a:t>zhihu.com</a:t>
            </a:r>
            <a:r>
              <a:rPr lang="pt-BR" dirty="0"/>
              <a:t>)</a:t>
            </a:r>
          </a:p>
          <a:p>
            <a:r>
              <a:rPr lang="pt-BR" b="1" dirty="0"/>
              <a:t>🔹 5. </a:t>
            </a:r>
            <a:r>
              <a:rPr lang="pt-BR" b="1" dirty="0" err="1"/>
              <a:t>Overfitting</a:t>
            </a:r>
            <a:r>
              <a:rPr lang="pt-BR" b="1" dirty="0"/>
              <a:t> / poda</a:t>
            </a:r>
          </a:p>
          <a:p>
            <a:r>
              <a:rPr lang="pt-BR" b="1" dirty="0"/>
              <a:t>ID3</a:t>
            </a:r>
            <a:endParaRPr lang="pt-BR" dirty="0"/>
          </a:p>
          <a:p>
            <a:pPr lvl="1"/>
            <a:r>
              <a:rPr lang="pt-BR" dirty="0"/>
              <a:t>Não possui poda nativa</a:t>
            </a:r>
          </a:p>
          <a:p>
            <a:pPr lvl="1"/>
            <a:r>
              <a:rPr lang="pt-BR" dirty="0"/>
              <a:t>Pode gerar árvores muito profundas</a:t>
            </a:r>
          </a:p>
          <a:p>
            <a:r>
              <a:rPr lang="pt-BR" b="1" dirty="0"/>
              <a:t>CART</a:t>
            </a:r>
            <a:endParaRPr lang="pt-BR" dirty="0"/>
          </a:p>
          <a:p>
            <a:pPr lvl="1"/>
            <a:r>
              <a:rPr lang="pt-BR" dirty="0"/>
              <a:t>Usa </a:t>
            </a:r>
            <a:r>
              <a:rPr lang="pt-BR" b="1" dirty="0" err="1"/>
              <a:t>pruning</a:t>
            </a:r>
            <a:r>
              <a:rPr lang="pt-BR" b="1" dirty="0"/>
              <a:t> (poda)</a:t>
            </a:r>
            <a:endParaRPr lang="pt-BR" dirty="0"/>
          </a:p>
          <a:p>
            <a:pPr lvl="1"/>
            <a:r>
              <a:rPr lang="pt-BR" dirty="0"/>
              <a:t>Melhor generalização</a:t>
            </a:r>
          </a:p>
          <a:p>
            <a:r>
              <a:rPr lang="pt-BR" dirty="0"/>
              <a:t>👉 CART é mais robusto (</a:t>
            </a:r>
            <a:r>
              <a:rPr lang="pt-BR" dirty="0" err="1">
                <a:hlinkClick r:id="rId6" tooltip="CART, C4.5, ID3 Algorithms – Praudyog"/>
              </a:rPr>
              <a:t>Praudyog</a:t>
            </a:r>
            <a:r>
              <a:rPr lang="pt-BR" dirty="0"/>
              <a:t>)</a:t>
            </a:r>
          </a:p>
          <a:p>
            <a:r>
              <a:rPr lang="pt-BR" b="1" dirty="0"/>
              <a:t>🧠 Intuição simples</a:t>
            </a:r>
          </a:p>
          <a:p>
            <a:r>
              <a:rPr lang="pt-BR" b="1" dirty="0"/>
              <a:t>🔵 ID3:</a:t>
            </a:r>
          </a:p>
          <a:p>
            <a:r>
              <a:rPr lang="pt-BR" dirty="0"/>
              <a:t>“Escolhe a variável que mais reduz a incerteza e cria vários ramos”</a:t>
            </a:r>
          </a:p>
          <a:p>
            <a:r>
              <a:rPr lang="pt-BR" b="1" dirty="0"/>
              <a:t>🌲 CART:</a:t>
            </a:r>
          </a:p>
          <a:p>
            <a:r>
              <a:rPr lang="pt-BR" dirty="0"/>
              <a:t>“Divide sempre em dois grupos e otimiza a pureza (</a:t>
            </a:r>
            <a:r>
              <a:rPr lang="pt-BR" dirty="0" err="1"/>
              <a:t>Gini</a:t>
            </a:r>
            <a:r>
              <a:rPr lang="pt-BR" dirty="0"/>
              <a:t> ou erro)”</a:t>
            </a:r>
          </a:p>
          <a:p>
            <a:r>
              <a:rPr lang="pt-BR" b="1" dirty="0"/>
              <a:t>📊 Resumo final</a:t>
            </a:r>
          </a:p>
          <a:p>
            <a:r>
              <a:rPr lang="pt-BR" dirty="0"/>
              <a:t>CaracterísticaID3CARTTipoClassificaçãoClassificação + </a:t>
            </a:r>
            <a:r>
              <a:rPr lang="pt-BR" dirty="0" err="1"/>
              <a:t>RegressãoCritérioEntropia</a:t>
            </a:r>
            <a:r>
              <a:rPr lang="pt-BR" dirty="0"/>
              <a:t> (Info </a:t>
            </a:r>
            <a:r>
              <a:rPr lang="pt-BR" dirty="0" err="1"/>
              <a:t>Gain</a:t>
            </a:r>
            <a:r>
              <a:rPr lang="pt-BR" dirty="0"/>
              <a:t>)</a:t>
            </a:r>
            <a:r>
              <a:rPr lang="pt-BR" dirty="0" err="1"/>
              <a:t>Gini</a:t>
            </a:r>
            <a:r>
              <a:rPr lang="pt-BR" dirty="0"/>
              <a:t> / </a:t>
            </a:r>
            <a:r>
              <a:rPr lang="pt-BR" dirty="0" err="1"/>
              <a:t>MSEEstruturaMulti-ramoBináriaDados</a:t>
            </a:r>
            <a:r>
              <a:rPr lang="pt-BR" dirty="0"/>
              <a:t> </a:t>
            </a:r>
            <a:r>
              <a:rPr lang="pt-BR" dirty="0" err="1"/>
              <a:t>contínuosLimitadoNaturalPodaNãoSim</a:t>
            </a:r>
            <a:r>
              <a:rPr lang="pt-BR" b="1" dirty="0"/>
              <a:t>🎯 Conclusão (bem direta)</a:t>
            </a:r>
          </a:p>
          <a:p>
            <a:r>
              <a:rPr lang="pt-BR" dirty="0"/>
              <a:t>👉 </a:t>
            </a:r>
            <a:r>
              <a:rPr lang="pt-BR" b="1" dirty="0"/>
              <a:t>ID3 é mais simples e didático</a:t>
            </a:r>
            <a:r>
              <a:rPr lang="pt-BR" dirty="0"/>
              <a:t/>
            </a:r>
            <a:br>
              <a:rPr lang="pt-BR" dirty="0"/>
            </a:br>
            <a:r>
              <a:rPr lang="pt-BR" dirty="0"/>
              <a:t>👉 </a:t>
            </a:r>
            <a:r>
              <a:rPr lang="pt-BR" b="1" dirty="0"/>
              <a:t>CART é mais usado na prática (</a:t>
            </a:r>
            <a:r>
              <a:rPr lang="pt-BR" b="1" dirty="0" err="1"/>
              <a:t>ex</a:t>
            </a:r>
            <a:r>
              <a:rPr lang="pt-BR" b="1" dirty="0"/>
              <a:t>: </a:t>
            </a:r>
            <a:r>
              <a:rPr lang="pt-BR" b="1" dirty="0" err="1"/>
              <a:t>scikit-learn</a:t>
            </a:r>
            <a:r>
              <a:rPr lang="pt-BR" b="1" dirty="0"/>
              <a:t>)</a:t>
            </a:r>
            <a:endParaRPr lang="pt-BR" dirty="0"/>
          </a:p>
          <a:p>
            <a:endParaRPr lang="pt-BR" dirty="0"/>
          </a:p>
          <a:p>
            <a:pPr marL="0" indent="0">
              <a:buNone/>
            </a:pPr>
            <a:endParaRPr lang="pt-BR" dirty="0"/>
          </a:p>
        </p:txBody>
      </p:sp>
    </p:spTree>
    <p:extLst>
      <p:ext uri="{BB962C8B-B14F-4D97-AF65-F5344CB8AC3E}">
        <p14:creationId xmlns:p14="http://schemas.microsoft.com/office/powerpoint/2010/main" val="38955017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17952</TotalTime>
  <Words>11229</Words>
  <Application>Microsoft Office PowerPoint</Application>
  <PresentationFormat>Widescreen</PresentationFormat>
  <Paragraphs>1395</Paragraphs>
  <Slides>76</Slides>
  <Notes>49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Apresentação do PowerPoint</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1237</cp:revision>
  <dcterms:created xsi:type="dcterms:W3CDTF">2020-04-06T23:46:10Z</dcterms:created>
  <dcterms:modified xsi:type="dcterms:W3CDTF">2026-04-02T21:31:00Z</dcterms:modified>
</cp:coreProperties>
</file>