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0"/>
  </p:notesMasterIdLst>
  <p:sldIdLst>
    <p:sldId id="256" r:id="rId2"/>
    <p:sldId id="379" r:id="rId3"/>
    <p:sldId id="310" r:id="rId4"/>
    <p:sldId id="381" r:id="rId5"/>
    <p:sldId id="382" r:id="rId6"/>
    <p:sldId id="458" r:id="rId7"/>
    <p:sldId id="459" r:id="rId8"/>
    <p:sldId id="460" r:id="rId9"/>
    <p:sldId id="481" r:id="rId10"/>
    <p:sldId id="335" r:id="rId11"/>
    <p:sldId id="480" r:id="rId12"/>
    <p:sldId id="336" r:id="rId13"/>
    <p:sldId id="337" r:id="rId14"/>
    <p:sldId id="338" r:id="rId15"/>
    <p:sldId id="339" r:id="rId16"/>
    <p:sldId id="340" r:id="rId17"/>
    <p:sldId id="341" r:id="rId18"/>
    <p:sldId id="342" r:id="rId19"/>
    <p:sldId id="343" r:id="rId20"/>
    <p:sldId id="462" r:id="rId21"/>
    <p:sldId id="463" r:id="rId22"/>
    <p:sldId id="464" r:id="rId23"/>
    <p:sldId id="467" r:id="rId24"/>
    <p:sldId id="465" r:id="rId25"/>
    <p:sldId id="466" r:id="rId26"/>
    <p:sldId id="350" r:id="rId27"/>
    <p:sldId id="468" r:id="rId28"/>
    <p:sldId id="469" r:id="rId29"/>
    <p:sldId id="470" r:id="rId30"/>
    <p:sldId id="471" r:id="rId31"/>
    <p:sldId id="472" r:id="rId32"/>
    <p:sldId id="354" r:id="rId33"/>
    <p:sldId id="356" r:id="rId34"/>
    <p:sldId id="357" r:id="rId35"/>
    <p:sldId id="359" r:id="rId36"/>
    <p:sldId id="361" r:id="rId37"/>
    <p:sldId id="362" r:id="rId38"/>
    <p:sldId id="363" r:id="rId39"/>
    <p:sldId id="301" r:id="rId40"/>
    <p:sldId id="318" r:id="rId41"/>
    <p:sldId id="369" r:id="rId42"/>
    <p:sldId id="319" r:id="rId43"/>
    <p:sldId id="364" r:id="rId44"/>
    <p:sldId id="473" r:id="rId45"/>
    <p:sldId id="367" r:id="rId46"/>
    <p:sldId id="368" r:id="rId47"/>
    <p:sldId id="277" r:id="rId48"/>
    <p:sldId id="283" r:id="rId49"/>
    <p:sldId id="284" r:id="rId50"/>
    <p:sldId id="285" r:id="rId51"/>
    <p:sldId id="291" r:id="rId52"/>
    <p:sldId id="292" r:id="rId53"/>
    <p:sldId id="296" r:id="rId54"/>
    <p:sldId id="474" r:id="rId55"/>
    <p:sldId id="475" r:id="rId56"/>
    <p:sldId id="371" r:id="rId57"/>
    <p:sldId id="374" r:id="rId58"/>
    <p:sldId id="375" r:id="rId59"/>
    <p:sldId id="476" r:id="rId60"/>
    <p:sldId id="477" r:id="rId61"/>
    <p:sldId id="479" r:id="rId62"/>
    <p:sldId id="456" r:id="rId63"/>
    <p:sldId id="457" r:id="rId64"/>
    <p:sldId id="378" r:id="rId65"/>
    <p:sldId id="306" r:id="rId66"/>
    <p:sldId id="347" r:id="rId67"/>
    <p:sldId id="328" r:id="rId68"/>
    <p:sldId id="329" r:id="rId69"/>
    <p:sldId id="355" r:id="rId70"/>
    <p:sldId id="330" r:id="rId71"/>
    <p:sldId id="271" r:id="rId72"/>
    <p:sldId id="279" r:id="rId73"/>
    <p:sldId id="293" r:id="rId74"/>
    <p:sldId id="289" r:id="rId75"/>
    <p:sldId id="290" r:id="rId76"/>
    <p:sldId id="294" r:id="rId77"/>
    <p:sldId id="295" r:id="rId78"/>
    <p:sldId id="307" r:id="rId79"/>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A7399A-4647-4E30-9A28-A3EC912238AF}" v="25" dt="2020-10-24T10:39:15.39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05" autoAdjust="0"/>
    <p:restoredTop sz="86077" autoAdjust="0"/>
  </p:normalViewPr>
  <p:slideViewPr>
    <p:cSldViewPr snapToGrid="0">
      <p:cViewPr varScale="1">
        <p:scale>
          <a:sx n="95" d="100"/>
          <a:sy n="95" d="100"/>
        </p:scale>
        <p:origin x="1146"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notesMaster" Target="notesMasters/notesMaster1.xml"/><Relationship Id="rId85"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presProps" Target="presProps.xml"/><Relationship Id="rId86"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EFA7399A-4647-4E30-9A28-A3EC912238AF}"/>
    <pc:docChg chg="modSld">
      <pc:chgData name="Felipe Augusto Pereira de Figueiredo" userId="e1771b70d906f94b" providerId="Windows Live" clId="Web-{EFA7399A-4647-4E30-9A28-A3EC912238AF}" dt="2020-10-24T10:39:14.990" v="23" actId="20577"/>
      <pc:docMkLst>
        <pc:docMk/>
      </pc:docMkLst>
      <pc:sldChg chg="modSp">
        <pc:chgData name="Felipe Augusto Pereira de Figueiredo" userId="e1771b70d906f94b" providerId="Windows Live" clId="Web-{EFA7399A-4647-4E30-9A28-A3EC912238AF}" dt="2020-10-24T10:39:14.990" v="22" actId="20577"/>
        <pc:sldMkLst>
          <pc:docMk/>
          <pc:sldMk cId="2760830662" sldId="300"/>
        </pc:sldMkLst>
        <pc:spChg chg="mod">
          <ac:chgData name="Felipe Augusto Pereira de Figueiredo" userId="e1771b70d906f94b" providerId="Windows Live" clId="Web-{EFA7399A-4647-4E30-9A28-A3EC912238AF}" dt="2020-10-24T10:39:14.990" v="22" actId="20577"/>
          <ac:spMkLst>
            <pc:docMk/>
            <pc:sldMk cId="2760830662" sldId="300"/>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C82C08-3EFC-4473-8294-F0E229C19EFF}" type="datetimeFigureOut">
              <a:rPr lang="pt-BR" smtClean="0"/>
              <a:t>25/05/2026</a:t>
            </a:fld>
            <a:endParaRPr lang="pt-B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30A2A4-8C14-4B1A-AD48-7B6401078BF7}" type="slidenum">
              <a:rPr lang="pt-BR" smtClean="0"/>
              <a:t>‹nº›</a:t>
            </a:fld>
            <a:endParaRPr lang="pt-BR"/>
          </a:p>
        </p:txBody>
      </p:sp>
    </p:spTree>
    <p:extLst>
      <p:ext uri="{BB962C8B-B14F-4D97-AF65-F5344CB8AC3E}">
        <p14:creationId xmlns:p14="http://schemas.microsoft.com/office/powerpoint/2010/main" val="30081366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Gaussian Naive Bayes são</a:t>
            </a:r>
            <a:r>
              <a:rPr lang="pt-BR" sz="1200" b="0" i="0" kern="1200" baseline="0" dirty="0">
                <a:solidFill>
                  <a:schemeClr val="tx1"/>
                </a:solidFill>
                <a:effectLst/>
                <a:latin typeface="+mn-lt"/>
                <a:ea typeface="+mn-ea"/>
                <a:cs typeface="+mn-cs"/>
              </a:rPr>
              <a:t> modelos paramêtricos,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a:t>
            </a:fld>
            <a:endParaRPr lang="pt-BR"/>
          </a:p>
        </p:txBody>
      </p:sp>
    </p:spTree>
    <p:extLst>
      <p:ext uri="{BB962C8B-B14F-4D97-AF65-F5344CB8AC3E}">
        <p14:creationId xmlns:p14="http://schemas.microsoft.com/office/powerpoint/2010/main" val="4625285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5</a:t>
            </a:fld>
            <a:endParaRPr lang="pt-BR"/>
          </a:p>
        </p:txBody>
      </p:sp>
    </p:spTree>
    <p:extLst>
      <p:ext uri="{BB962C8B-B14F-4D97-AF65-F5344CB8AC3E}">
        <p14:creationId xmlns:p14="http://schemas.microsoft.com/office/powerpoint/2010/main" val="11153787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a:t>
            </a:fld>
            <a:endParaRPr lang="pt-BR"/>
          </a:p>
        </p:txBody>
      </p:sp>
    </p:spTree>
    <p:extLst>
      <p:ext uri="{BB962C8B-B14F-4D97-AF65-F5344CB8AC3E}">
        <p14:creationId xmlns:p14="http://schemas.microsoft.com/office/powerpoint/2010/main" val="37960448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7</a:t>
            </a:fld>
            <a:endParaRPr lang="pt-BR"/>
          </a:p>
        </p:txBody>
      </p:sp>
    </p:spTree>
    <p:extLst>
      <p:ext uri="{BB962C8B-B14F-4D97-AF65-F5344CB8AC3E}">
        <p14:creationId xmlns:p14="http://schemas.microsoft.com/office/powerpoint/2010/main" val="1363988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8</a:t>
            </a:fld>
            <a:endParaRPr lang="pt-BR"/>
          </a:p>
        </p:txBody>
      </p:sp>
    </p:spTree>
    <p:extLst>
      <p:ext uri="{BB962C8B-B14F-4D97-AF65-F5344CB8AC3E}">
        <p14:creationId xmlns:p14="http://schemas.microsoft.com/office/powerpoint/2010/main" val="6620004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18159532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07F16-3DAD-2C89-7AAA-E8344EF28D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FD0EF8-D345-C641-2DF9-0FC619222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BB0238-B6D1-6E51-760C-B50DDE4F94DC}"/>
              </a:ext>
            </a:extLst>
          </p:cNvPr>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a:extLst>
              <a:ext uri="{FF2B5EF4-FFF2-40B4-BE49-F238E27FC236}">
                <a16:creationId xmlns:a16="http://schemas.microsoft.com/office/drawing/2014/main" id="{CBC1C544-6AD9-7EEA-FFA2-51867FEE694E}"/>
              </a:ext>
            </a:extLst>
          </p:cNvPr>
          <p:cNvSpPr>
            <a:spLocks noGrp="1"/>
          </p:cNvSpPr>
          <p:nvPr>
            <p:ph type="sldNum" sz="quarter" idx="10"/>
          </p:nvPr>
        </p:nvSpPr>
        <p:spPr/>
        <p:txBody>
          <a:bodyPr/>
          <a:lstStyle/>
          <a:p>
            <a:fld id="{F430A2A4-8C14-4B1A-AD48-7B6401078BF7}" type="slidenum">
              <a:rPr lang="pt-BR" smtClean="0"/>
              <a:t>11</a:t>
            </a:fld>
            <a:endParaRPr lang="pt-BR"/>
          </a:p>
        </p:txBody>
      </p:sp>
    </p:spTree>
    <p:extLst>
      <p:ext uri="{BB962C8B-B14F-4D97-AF65-F5344CB8AC3E}">
        <p14:creationId xmlns:p14="http://schemas.microsoft.com/office/powerpoint/2010/main" val="2645986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12</a:t>
            </a:fld>
            <a:endParaRPr lang="pt-BR"/>
          </a:p>
        </p:txBody>
      </p:sp>
    </p:spTree>
    <p:extLst>
      <p:ext uri="{BB962C8B-B14F-4D97-AF65-F5344CB8AC3E}">
        <p14:creationId xmlns:p14="http://schemas.microsoft.com/office/powerpoint/2010/main" val="16298609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13</a:t>
            </a:fld>
            <a:endParaRPr lang="pt-BR"/>
          </a:p>
        </p:txBody>
      </p:sp>
    </p:spTree>
    <p:extLst>
      <p:ext uri="{BB962C8B-B14F-4D97-AF65-F5344CB8AC3E}">
        <p14:creationId xmlns:p14="http://schemas.microsoft.com/office/powerpoint/2010/main" val="38641677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Um grafo não-direcionado é um grafo, isto é, um conjunto de objetos (chamados vértices ou nós) que são conectados juntos, em que todas as arestas são bidirecionais. Um grafo não-direcionado é também chamado de rede não-direcionada. Por outro lado, um grafo em que as bordas apontam em uma direção é chamado de grafo direcionado.</a:t>
            </a:r>
            <a:r>
              <a:rPr lang="pt-BR" baseline="0" dirty="0"/>
              <a:t> </a:t>
            </a:r>
            <a:r>
              <a:rPr lang="pt-BR" dirty="0"/>
              <a:t>Grafos não-direcionados têm arestas que não têm uma direção. As arestas indicam uma relação de mão dupla, na qual cada aresta pode ser deslocada nas duas direções.</a:t>
            </a:r>
          </a:p>
          <a:p>
            <a:endParaRPr lang="pt-BR" noProof="0" dirty="0"/>
          </a:p>
          <a:p>
            <a:r>
              <a:rPr lang="pt-BR" b="1" noProof="0" dirty="0"/>
              <a:t>Modelos de caixa branca </a:t>
            </a:r>
            <a:r>
              <a:rPr lang="pt-BR" noProof="0" dirty="0"/>
              <a:t>são o tipo de modelo que se pode entender e explicar claramente como eles se comportam, como produzem previsões e quais são as variáveis influentes.</a:t>
            </a:r>
          </a:p>
          <a:p>
            <a:endParaRPr lang="pt-BR" noProof="0" dirty="0"/>
          </a:p>
          <a:p>
            <a:r>
              <a:rPr lang="pt-BR" b="1" noProof="0" dirty="0"/>
              <a:t>Modelo</a:t>
            </a:r>
            <a:r>
              <a:rPr lang="pt-BR" b="1" baseline="0" noProof="0" dirty="0"/>
              <a:t> de c</a:t>
            </a:r>
            <a:r>
              <a:rPr lang="pt-BR" b="1" noProof="0" dirty="0"/>
              <a:t>aixa preta</a:t>
            </a:r>
            <a:r>
              <a:rPr lang="pt-BR" noProof="0" dirty="0"/>
              <a:t>: o</a:t>
            </a:r>
            <a:r>
              <a:rPr lang="pt-BR" baseline="0" noProof="0" dirty="0"/>
              <a:t> </a:t>
            </a:r>
            <a:r>
              <a:rPr lang="pt-BR" noProof="0" dirty="0"/>
              <a:t>funcionamento interno desses modelos é mais difícil de entender e não fornece uma estimativa da importância de cada atributo</a:t>
            </a:r>
            <a:r>
              <a:rPr lang="pt-BR" baseline="0" noProof="0" dirty="0"/>
              <a:t> </a:t>
            </a:r>
            <a:r>
              <a:rPr lang="pt-BR" noProof="0" dirty="0"/>
              <a:t>nas previsões do modelo, nem é fácil entender como os diferentes atributos interagem entre si. Modelos</a:t>
            </a:r>
            <a:r>
              <a:rPr lang="pt-BR" baseline="0" noProof="0" dirty="0"/>
              <a:t> de caixa preta são altamente não-lineares.</a:t>
            </a:r>
            <a:endParaRPr lang="pt-BR" noProof="0"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14</a:t>
            </a:fld>
            <a:endParaRPr lang="pt-BR"/>
          </a:p>
        </p:txBody>
      </p:sp>
    </p:spTree>
    <p:extLst>
      <p:ext uri="{BB962C8B-B14F-4D97-AF65-F5344CB8AC3E}">
        <p14:creationId xmlns:p14="http://schemas.microsoft.com/office/powerpoint/2010/main" val="32329205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15</a:t>
            </a:fld>
            <a:endParaRPr lang="pt-BR"/>
          </a:p>
        </p:txBody>
      </p:sp>
    </p:spTree>
    <p:extLst>
      <p:ext uri="{BB962C8B-B14F-4D97-AF65-F5344CB8AC3E}">
        <p14:creationId xmlns:p14="http://schemas.microsoft.com/office/powerpoint/2010/main" val="2422214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16</a:t>
            </a:fld>
            <a:endParaRPr lang="pt-BR"/>
          </a:p>
        </p:txBody>
      </p:sp>
    </p:spTree>
    <p:extLst>
      <p:ext uri="{BB962C8B-B14F-4D97-AF65-F5344CB8AC3E}">
        <p14:creationId xmlns:p14="http://schemas.microsoft.com/office/powerpoint/2010/main" val="25686154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17</a:t>
            </a:fld>
            <a:endParaRPr lang="pt-BR"/>
          </a:p>
        </p:txBody>
      </p:sp>
    </p:spTree>
    <p:extLst>
      <p:ext uri="{BB962C8B-B14F-4D97-AF65-F5344CB8AC3E}">
        <p14:creationId xmlns:p14="http://schemas.microsoft.com/office/powerpoint/2010/main" val="12702318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altLang="en-US" dirty="0"/>
                  <a:t>São </a:t>
                </a:r>
                <a:r>
                  <a:rPr lang="en-US" altLang="en-US" dirty="0" err="1"/>
                  <a:t>problemas</a:t>
                </a:r>
                <a:r>
                  <a:rPr lang="en-US" altLang="en-US"/>
                  <a:t>:</a:t>
                </a:r>
                <a:endParaRPr lang="en-US" altLang="en-US" dirty="0"/>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14:m>
                  <m:oMath xmlns:m="http://schemas.openxmlformats.org/officeDocument/2006/math">
                    <m:r>
                      <a:rPr lang="pt-BR" altLang="en-US" i="1" smtClean="0">
                        <a:latin typeface="Cambria Math" panose="02040503050406030204" pitchFamily="18" charset="0"/>
                      </a:rPr>
                      <m:t>𝑛</m:t>
                    </m:r>
                  </m:oMath>
                </a14:m>
                <a:r>
                  <a:rPr lang="pt-BR" dirty="0"/>
                  <a:t> é limitado por uma função polinomial de </a:t>
                </a:r>
                <a14:m>
                  <m:oMath xmlns:m="http://schemas.openxmlformats.org/officeDocument/2006/math">
                    <m:r>
                      <a:rPr lang="pt-BR" altLang="en-US" i="1" smtClean="0">
                        <a:latin typeface="Cambria Math" panose="02040503050406030204" pitchFamily="18" charset="0"/>
                      </a:rPr>
                      <m:t>𝑛</m:t>
                    </m:r>
                  </m:oMath>
                </a14:m>
                <a:r>
                  <a:rPr lang="pt-BR" dirty="0"/>
                  <a:t>.</a:t>
                </a:r>
              </a:p>
              <a:p>
                <a:pPr lvl="2">
                  <a:buFont typeface="Courier New" panose="02070309020205020404" pitchFamily="49" charset="0"/>
                  <a:buChar char="o"/>
                </a:pPr>
                <a:r>
                  <a:rPr lang="pt-BR" altLang="en-US" dirty="0"/>
                  <a:t>Por exemplo, a inversa de uma matriz </a:t>
                </a:r>
                <a14:m>
                  <m:oMath xmlns:m="http://schemas.openxmlformats.org/officeDocument/2006/math">
                    <m:r>
                      <a:rPr lang="pt-BR" altLang="en-US" b="0" i="1" smtClean="0">
                        <a:latin typeface="Cambria Math" panose="02040503050406030204" pitchFamily="18" charset="0"/>
                      </a:rPr>
                      <m:t>𝑛</m:t>
                    </m:r>
                    <m:r>
                      <a:rPr lang="pt-BR" altLang="en-US" b="0" i="1" smtClean="0">
                        <a:latin typeface="Cambria Math" panose="02040503050406030204" pitchFamily="18" charset="0"/>
                        <a:ea typeface="Cambria Math" panose="02040503050406030204" pitchFamily="18" charset="0"/>
                      </a:rPr>
                      <m:t>×</m:t>
                    </m:r>
                    <m:r>
                      <a:rPr lang="pt-BR" altLang="en-US" b="0" i="1" smtClean="0">
                        <a:latin typeface="Cambria Math" panose="02040503050406030204" pitchFamily="18" charset="0"/>
                        <a:ea typeface="Cambria Math" panose="02040503050406030204" pitchFamily="18" charset="0"/>
                      </a:rPr>
                      <m:t>𝑛</m:t>
                    </m:r>
                  </m:oMath>
                </a14:m>
                <a:r>
                  <a:rPr lang="pt-BR" altLang="en-US" dirty="0"/>
                  <a:t> pode ser calculada em </a:t>
                </a:r>
                <a14:m>
                  <m:oMath xmlns:m="http://schemas.openxmlformats.org/officeDocument/2006/math">
                    <m:sSup>
                      <m:sSupPr>
                        <m:ctrlPr>
                          <a:rPr lang="pt-BR" altLang="en-US" i="1" smtClean="0">
                            <a:latin typeface="Cambria Math" panose="02040503050406030204" pitchFamily="18" charset="0"/>
                          </a:rPr>
                        </m:ctrlPr>
                      </m:sSupPr>
                      <m:e>
                        <m:r>
                          <a:rPr lang="pt-BR" altLang="en-US" b="0" i="1" smtClean="0">
                            <a:latin typeface="Cambria Math" panose="02040503050406030204" pitchFamily="18" charset="0"/>
                          </a:rPr>
                          <m:t>𝑛</m:t>
                        </m:r>
                      </m:e>
                      <m:sup>
                        <m:r>
                          <a:rPr lang="pt-BR" altLang="en-US" b="0" i="1" smtClean="0">
                            <a:latin typeface="Cambria Math" panose="02040503050406030204" pitchFamily="18" charset="0"/>
                          </a:rPr>
                          <m:t>3</m:t>
                        </m:r>
                      </m:sup>
                    </m:sSup>
                  </m:oMath>
                </a14:m>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p>
              <a:p>
                <a:endParaRPr lang="pt-BR" dirty="0"/>
              </a:p>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Choice>
        <mc:Fallback xmlns="">
          <p:sp>
            <p:nvSpPr>
              <p:cNvPr id="3" name="Notes Placeholder 2"/>
              <p:cNvSpPr>
                <a:spLocks noGrp="1"/>
              </p:cNvSpPr>
              <p:nvPr>
                <p:ph type="body" idx="1"/>
              </p:nvPr>
            </p:nvSpPr>
            <p:spPr/>
            <p:txBody>
              <a:bodyPr/>
              <a:lstStyle/>
              <a:p>
                <a:r>
                  <a:rPr lang="en-US" altLang="en-US" dirty="0" smtClean="0"/>
                  <a:t>São </a:t>
                </a:r>
                <a:r>
                  <a:rPr lang="en-US" altLang="en-US" dirty="0" err="1" smtClean="0"/>
                  <a:t>problemas</a:t>
                </a:r>
                <a:r>
                  <a:rPr lang="en-US" altLang="en-US"/>
                  <a:t>:</a:t>
                </a:r>
                <a:endParaRPr lang="en-US" altLang="en-US" dirty="0"/>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r>
                  <a:rPr lang="pt-BR" altLang="en-US" i="0" smtClean="0">
                    <a:latin typeface="Cambria Math" panose="02040503050406030204" pitchFamily="18" charset="0"/>
                  </a:rPr>
                  <a:t>𝑛</a:t>
                </a:r>
                <a:r>
                  <a:rPr lang="pt-BR" dirty="0"/>
                  <a:t> é limitado por uma função polinomial de </a:t>
                </a:r>
                <a:r>
                  <a:rPr lang="pt-BR" altLang="en-US" i="0" smtClean="0">
                    <a:latin typeface="Cambria Math" panose="02040503050406030204" pitchFamily="18" charset="0"/>
                  </a:rPr>
                  <a:t>𝑛</a:t>
                </a:r>
                <a:r>
                  <a:rPr lang="pt-BR" dirty="0"/>
                  <a:t>.</a:t>
                </a:r>
              </a:p>
              <a:p>
                <a:pPr lvl="2">
                  <a:buFont typeface="Courier New" panose="02070309020205020404" pitchFamily="49" charset="0"/>
                  <a:buChar char="o"/>
                </a:pPr>
                <a:r>
                  <a:rPr lang="pt-BR" altLang="en-US" dirty="0"/>
                  <a:t>Por exemplo, a inversa de uma matriz </a:t>
                </a:r>
                <a:r>
                  <a:rPr lang="pt-BR" altLang="en-US" b="0" i="0" smtClean="0">
                    <a:latin typeface="Cambria Math" panose="02040503050406030204" pitchFamily="18" charset="0"/>
                  </a:rPr>
                  <a:t>𝑛</a:t>
                </a:r>
                <a:r>
                  <a:rPr lang="pt-BR" altLang="en-US" b="0" i="0" smtClean="0">
                    <a:latin typeface="Cambria Math" panose="02040503050406030204" pitchFamily="18" charset="0"/>
                    <a:ea typeface="Cambria Math" panose="02040503050406030204" pitchFamily="18" charset="0"/>
                  </a:rPr>
                  <a:t>×𝑛</a:t>
                </a:r>
                <a:r>
                  <a:rPr lang="pt-BR" altLang="en-US" dirty="0"/>
                  <a:t> pode ser calculada em </a:t>
                </a:r>
                <a:r>
                  <a:rPr lang="pt-BR" altLang="en-US" b="0" i="0" smtClean="0">
                    <a:latin typeface="Cambria Math" panose="02040503050406030204" pitchFamily="18" charset="0"/>
                  </a:rPr>
                  <a:t>𝑛^3</a:t>
                </a:r>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endParaRPr lang="pt-BR" dirty="0" smtClean="0"/>
              </a:p>
              <a:p>
                <a:endParaRPr lang="pt-BR" dirty="0" smtClean="0"/>
              </a:p>
              <a:p>
                <a:r>
                  <a:rPr lang="pt-BR" dirty="0" smtClean="0"/>
                  <a:t>Referências</a:t>
                </a:r>
                <a:endParaRPr lang="pt-BR" dirty="0"/>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Fallback>
      </mc:AlternateContent>
      <p:sp>
        <p:nvSpPr>
          <p:cNvPr id="4" name="Slide Number Placeholder 3"/>
          <p:cNvSpPr>
            <a:spLocks noGrp="1"/>
          </p:cNvSpPr>
          <p:nvPr>
            <p:ph type="sldNum" sz="quarter" idx="10"/>
          </p:nvPr>
        </p:nvSpPr>
        <p:spPr/>
        <p:txBody>
          <a:bodyPr/>
          <a:lstStyle/>
          <a:p>
            <a:fld id="{F430A2A4-8C14-4B1A-AD48-7B6401078BF7}" type="slidenum">
              <a:rPr lang="pt-BR" smtClean="0"/>
              <a:t>18</a:t>
            </a:fld>
            <a:endParaRPr lang="pt-BR"/>
          </a:p>
        </p:txBody>
      </p:sp>
    </p:spTree>
    <p:extLst>
      <p:ext uri="{BB962C8B-B14F-4D97-AF65-F5344CB8AC3E}">
        <p14:creationId xmlns:p14="http://schemas.microsoft.com/office/powerpoint/2010/main" val="20040741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19</a:t>
            </a:fld>
            <a:endParaRPr lang="pt-BR"/>
          </a:p>
        </p:txBody>
      </p:sp>
    </p:spTree>
    <p:extLst>
      <p:ext uri="{BB962C8B-B14F-4D97-AF65-F5344CB8AC3E}">
        <p14:creationId xmlns:p14="http://schemas.microsoft.com/office/powerpoint/2010/main" val="13928227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20</a:t>
            </a:fld>
            <a:endParaRPr lang="pt-BR"/>
          </a:p>
        </p:txBody>
      </p:sp>
    </p:spTree>
    <p:extLst>
      <p:ext uri="{BB962C8B-B14F-4D97-AF65-F5344CB8AC3E}">
        <p14:creationId xmlns:p14="http://schemas.microsoft.com/office/powerpoint/2010/main" val="11079631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21</a:t>
            </a:fld>
            <a:endParaRPr lang="pt-BR"/>
          </a:p>
        </p:txBody>
      </p:sp>
    </p:spTree>
    <p:extLst>
      <p:ext uri="{BB962C8B-B14F-4D97-AF65-F5344CB8AC3E}">
        <p14:creationId xmlns:p14="http://schemas.microsoft.com/office/powerpoint/2010/main" val="39244378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22</a:t>
            </a:fld>
            <a:endParaRPr lang="pt-BR"/>
          </a:p>
        </p:txBody>
      </p:sp>
    </p:spTree>
    <p:extLst>
      <p:ext uri="{BB962C8B-B14F-4D97-AF65-F5344CB8AC3E}">
        <p14:creationId xmlns:p14="http://schemas.microsoft.com/office/powerpoint/2010/main" val="39000398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23</a:t>
            </a:fld>
            <a:endParaRPr lang="pt-BR"/>
          </a:p>
        </p:txBody>
      </p:sp>
    </p:spTree>
    <p:extLst>
      <p:ext uri="{BB962C8B-B14F-4D97-AF65-F5344CB8AC3E}">
        <p14:creationId xmlns:p14="http://schemas.microsoft.com/office/powerpoint/2010/main" val="223277475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24</a:t>
            </a:fld>
            <a:endParaRPr lang="pt-BR"/>
          </a:p>
        </p:txBody>
      </p:sp>
    </p:spTree>
    <p:extLst>
      <p:ext uri="{BB962C8B-B14F-4D97-AF65-F5344CB8AC3E}">
        <p14:creationId xmlns:p14="http://schemas.microsoft.com/office/powerpoint/2010/main" val="17003888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369899397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26</a:t>
            </a:fld>
            <a:endParaRPr lang="pt-BR"/>
          </a:p>
        </p:txBody>
      </p:sp>
    </p:spTree>
    <p:extLst>
      <p:ext uri="{BB962C8B-B14F-4D97-AF65-F5344CB8AC3E}">
        <p14:creationId xmlns:p14="http://schemas.microsoft.com/office/powerpoint/2010/main" val="326955159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27</a:t>
            </a:fld>
            <a:endParaRPr lang="pt-BR"/>
          </a:p>
        </p:txBody>
      </p:sp>
    </p:spTree>
    <p:extLst>
      <p:ext uri="{BB962C8B-B14F-4D97-AF65-F5344CB8AC3E}">
        <p14:creationId xmlns:p14="http://schemas.microsoft.com/office/powerpoint/2010/main" val="111724301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32459047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6343020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30</a:t>
            </a:fld>
            <a:endParaRPr lang="pt-BR"/>
          </a:p>
        </p:txBody>
      </p:sp>
    </p:spTree>
    <p:extLst>
      <p:ext uri="{BB962C8B-B14F-4D97-AF65-F5344CB8AC3E}">
        <p14:creationId xmlns:p14="http://schemas.microsoft.com/office/powerpoint/2010/main" val="152665392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31</a:t>
            </a:fld>
            <a:endParaRPr lang="pt-BR"/>
          </a:p>
        </p:txBody>
      </p:sp>
    </p:spTree>
    <p:extLst>
      <p:ext uri="{BB962C8B-B14F-4D97-AF65-F5344CB8AC3E}">
        <p14:creationId xmlns:p14="http://schemas.microsoft.com/office/powerpoint/2010/main" val="261470317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32</a:t>
            </a:fld>
            <a:endParaRPr lang="pt-BR"/>
          </a:p>
        </p:txBody>
      </p:sp>
    </p:spTree>
    <p:extLst>
      <p:ext uri="{BB962C8B-B14F-4D97-AF65-F5344CB8AC3E}">
        <p14:creationId xmlns:p14="http://schemas.microsoft.com/office/powerpoint/2010/main" val="366345773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33</a:t>
            </a:fld>
            <a:endParaRPr lang="pt-BR"/>
          </a:p>
        </p:txBody>
      </p:sp>
    </p:spTree>
    <p:extLst>
      <p:ext uri="{BB962C8B-B14F-4D97-AF65-F5344CB8AC3E}">
        <p14:creationId xmlns:p14="http://schemas.microsoft.com/office/powerpoint/2010/main" val="123065406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34</a:t>
            </a:fld>
            <a:endParaRPr lang="pt-BR"/>
          </a:p>
        </p:txBody>
      </p:sp>
    </p:spTree>
    <p:extLst>
      <p:ext uri="{BB962C8B-B14F-4D97-AF65-F5344CB8AC3E}">
        <p14:creationId xmlns:p14="http://schemas.microsoft.com/office/powerpoint/2010/main" val="269425086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121321913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209611080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37</a:t>
            </a:fld>
            <a:endParaRPr lang="pt-BR"/>
          </a:p>
        </p:txBody>
      </p:sp>
    </p:spTree>
    <p:extLst>
      <p:ext uri="{BB962C8B-B14F-4D97-AF65-F5344CB8AC3E}">
        <p14:creationId xmlns:p14="http://schemas.microsoft.com/office/powerpoint/2010/main" val="316736968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38</a:t>
            </a:fld>
            <a:endParaRPr lang="pt-BR"/>
          </a:p>
        </p:txBody>
      </p:sp>
    </p:spTree>
    <p:extLst>
      <p:ext uri="{BB962C8B-B14F-4D97-AF65-F5344CB8AC3E}">
        <p14:creationId xmlns:p14="http://schemas.microsoft.com/office/powerpoint/2010/main" val="230264986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39</a:t>
            </a:fld>
            <a:endParaRPr lang="pt-BR"/>
          </a:p>
        </p:txBody>
      </p:sp>
    </p:spTree>
    <p:extLst>
      <p:ext uri="{BB962C8B-B14F-4D97-AF65-F5344CB8AC3E}">
        <p14:creationId xmlns:p14="http://schemas.microsoft.com/office/powerpoint/2010/main" val="61867171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202122"/>
                </a:solidFill>
                <a:effectLst/>
                <a:latin typeface="Arial" panose="020B0604020202020204" pitchFamily="34" charset="0"/>
              </a:rPr>
              <a:t>CART (classification and regression tree)</a:t>
            </a:r>
            <a:endParaRPr lang="pt-BR" dirty="0"/>
          </a:p>
          <a:p>
            <a:endParaRPr lang="pt-BR" dirty="0"/>
          </a:p>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40</a:t>
            </a:fld>
            <a:endParaRPr lang="pt-BR"/>
          </a:p>
        </p:txBody>
      </p:sp>
    </p:spTree>
    <p:extLst>
      <p:ext uri="{BB962C8B-B14F-4D97-AF65-F5344CB8AC3E}">
        <p14:creationId xmlns:p14="http://schemas.microsoft.com/office/powerpoint/2010/main" val="17354441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41</a:t>
            </a:fld>
            <a:endParaRPr lang="pt-BR"/>
          </a:p>
        </p:txBody>
      </p:sp>
    </p:spTree>
    <p:extLst>
      <p:ext uri="{BB962C8B-B14F-4D97-AF65-F5344CB8AC3E}">
        <p14:creationId xmlns:p14="http://schemas.microsoft.com/office/powerpoint/2010/main" val="296660290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42</a:t>
            </a:fld>
            <a:endParaRPr lang="pt-BR"/>
          </a:p>
        </p:txBody>
      </p:sp>
    </p:spTree>
    <p:extLst>
      <p:ext uri="{BB962C8B-B14F-4D97-AF65-F5344CB8AC3E}">
        <p14:creationId xmlns:p14="http://schemas.microsoft.com/office/powerpoint/2010/main" val="349148815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43</a:t>
            </a:fld>
            <a:endParaRPr lang="pt-BR"/>
          </a:p>
        </p:txBody>
      </p:sp>
    </p:spTree>
    <p:extLst>
      <p:ext uri="{BB962C8B-B14F-4D97-AF65-F5344CB8AC3E}">
        <p14:creationId xmlns:p14="http://schemas.microsoft.com/office/powerpoint/2010/main" val="218551200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47</a:t>
            </a:fld>
            <a:endParaRPr lang="pt-BR"/>
          </a:p>
        </p:txBody>
      </p:sp>
    </p:spTree>
    <p:extLst>
      <p:ext uri="{BB962C8B-B14F-4D97-AF65-F5344CB8AC3E}">
        <p14:creationId xmlns:p14="http://schemas.microsoft.com/office/powerpoint/2010/main" val="179133089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https://docs.google.com/spreadsheets/d/1VsWmcVYymhsLHxCrPFLZFZGe-SW1a8PnnBhazxh3OVM/edit?usp=sharing</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48</a:t>
            </a:fld>
            <a:endParaRPr lang="pt-BR"/>
          </a:p>
        </p:txBody>
      </p:sp>
    </p:spTree>
    <p:extLst>
      <p:ext uri="{BB962C8B-B14F-4D97-AF65-F5344CB8AC3E}">
        <p14:creationId xmlns:p14="http://schemas.microsoft.com/office/powerpoint/2010/main" val="210033412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overfitting,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54</a:t>
            </a:fld>
            <a:endParaRPr lang="pt-BR"/>
          </a:p>
        </p:txBody>
      </p:sp>
    </p:spTree>
    <p:extLst>
      <p:ext uri="{BB962C8B-B14F-4D97-AF65-F5344CB8AC3E}">
        <p14:creationId xmlns:p14="http://schemas.microsoft.com/office/powerpoint/2010/main" val="38725749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 </a:t>
            </a:r>
            <a:r>
              <a:rPr lang="pt-BR" b="1" dirty="0" err="1"/>
              <a:t>min_samples_leaf</a:t>
            </a:r>
            <a:r>
              <a:rPr lang="pt-BR" b="1" dirty="0"/>
              <a:t>=5</a:t>
            </a:r>
            <a:r>
              <a:rPr lang="pt-BR" dirty="0"/>
              <a:t>: Cada nó folha terá no mínimo 5 amostras. Se, ao tentar dividir um nó, um dos ramos teria menos que 5 amostras, essa divisão não será feita.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a:t>
            </a:r>
            <a:r>
              <a:rPr lang="pt-BR" dirty="0" err="1"/>
              <a:t>overfitting</a:t>
            </a:r>
            <a:r>
              <a:rPr lang="pt-BR" dirty="0"/>
              <a:t>,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55</a:t>
            </a:fld>
            <a:endParaRPr lang="pt-BR"/>
          </a:p>
        </p:txBody>
      </p:sp>
    </p:spTree>
    <p:extLst>
      <p:ext uri="{BB962C8B-B14F-4D97-AF65-F5344CB8AC3E}">
        <p14:creationId xmlns:p14="http://schemas.microsoft.com/office/powerpoint/2010/main" val="102504911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Florestas de decisão aleatória (ou florestas aleatórias) são um método de aprendizado conjunto para classificação</a:t>
            </a:r>
            <a:r>
              <a:rPr lang="pt-BR" baseline="0" dirty="0"/>
              <a:t> e </a:t>
            </a:r>
            <a:r>
              <a:rPr lang="pt-BR" dirty="0"/>
              <a:t>regressão, que operam através da construção de uma infinidade de árvores de decisão no momento do treinamento e gerando a classe que tem</a:t>
            </a:r>
            <a:r>
              <a:rPr lang="pt-BR" baseline="0" dirty="0"/>
              <a:t> o maior </a:t>
            </a:r>
            <a:r>
              <a:rPr lang="pt-BR" baseline="0" dirty="0" err="1"/>
              <a:t>númerode</a:t>
            </a:r>
            <a:r>
              <a:rPr lang="pt-BR" baseline="0" dirty="0"/>
              <a:t> votos</a:t>
            </a:r>
            <a:r>
              <a:rPr lang="pt-BR" dirty="0"/>
              <a:t> (classificação) ou a</a:t>
            </a:r>
            <a:r>
              <a:rPr lang="pt-BR" baseline="0" dirty="0"/>
              <a:t> </a:t>
            </a:r>
            <a:r>
              <a:rPr lang="pt-BR" dirty="0"/>
              <a:t>média dos valores de saída das várias árvores (regressão).</a:t>
            </a:r>
            <a:r>
              <a:rPr lang="pt-BR" baseline="0" dirty="0"/>
              <a:t> </a:t>
            </a:r>
            <a:r>
              <a:rPr lang="pt-BR" dirty="0"/>
              <a:t>As florestas de decisão aleatória corrigem o hábito das árvores de decisão de se sobreajustar ao conjunto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Iris dataset: é um conjunto de dados famoso que contém o comprimento e largura das sépalas e pétalas de 150 flores de íris de três espécies diferentes: Iris-</a:t>
            </a:r>
            <a:r>
              <a:rPr lang="pt-BR" dirty="0" err="1"/>
              <a:t>Setosa</a:t>
            </a:r>
            <a:r>
              <a:rPr lang="pt-BR" dirty="0"/>
              <a:t>, Iris-Versicolor e Iris-</a:t>
            </a:r>
            <a:r>
              <a:rPr lang="pt-BR" dirty="0" err="1"/>
              <a:t>Virginica</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PCA é um algoritmo que gira e dimensiona linearmente uma matriz</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56</a:t>
            </a:fld>
            <a:endParaRPr lang="pt-BR"/>
          </a:p>
        </p:txBody>
      </p:sp>
    </p:spTree>
    <p:extLst>
      <p:ext uri="{BB962C8B-B14F-4D97-AF65-F5344CB8AC3E}">
        <p14:creationId xmlns:p14="http://schemas.microsoft.com/office/powerpoint/2010/main" val="312962135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1" dirty="0">
                <a:solidFill>
                  <a:srgbClr val="0C0D0E"/>
                </a:solidFill>
                <a:effectLst/>
                <a:latin typeface="inherit"/>
              </a:rPr>
              <a:t>Short </a:t>
            </a:r>
            <a:r>
              <a:rPr lang="en-US" b="1" i="1" dirty="0" err="1">
                <a:solidFill>
                  <a:srgbClr val="0C0D0E"/>
                </a:solidFill>
                <a:effectLst/>
                <a:latin typeface="inherit"/>
              </a:rPr>
              <a:t>ans</a:t>
            </a:r>
            <a:r>
              <a:rPr lang="en-US" b="1" i="1" dirty="0">
                <a:solidFill>
                  <a:srgbClr val="0C0D0E"/>
                </a:solidFill>
                <a:effectLst/>
                <a:latin typeface="inherit"/>
              </a:rPr>
              <a:t>:</a:t>
            </a:r>
            <a:endParaRPr lang="en-US" b="0" i="0" dirty="0">
              <a:solidFill>
                <a:srgbClr val="0C0D0E"/>
              </a:solidFill>
              <a:effectLst/>
              <a:latin typeface="-apple-system"/>
            </a:endParaRPr>
          </a:p>
          <a:p>
            <a:pPr algn="l" fontAlgn="base"/>
            <a:r>
              <a:rPr lang="en-US" b="0" i="0" dirty="0" err="1">
                <a:solidFill>
                  <a:srgbClr val="0C0D0E"/>
                </a:solidFill>
                <a:effectLst/>
                <a:latin typeface="-apple-system"/>
              </a:rPr>
              <a:t>RandomSplitter</a:t>
            </a:r>
            <a:r>
              <a:rPr lang="en-US" b="0" i="0" dirty="0">
                <a:solidFill>
                  <a:srgbClr val="0C0D0E"/>
                </a:solidFill>
                <a:effectLst/>
                <a:latin typeface="-apple-system"/>
              </a:rPr>
              <a:t> initiates a **random split on each chosen feature**, whereas </a:t>
            </a:r>
            <a:r>
              <a:rPr lang="en-US" b="0" i="0" dirty="0" err="1">
                <a:solidFill>
                  <a:srgbClr val="0C0D0E"/>
                </a:solidFill>
                <a:effectLst/>
                <a:latin typeface="-apple-system"/>
              </a:rPr>
              <a:t>BestSplitter</a:t>
            </a:r>
            <a:r>
              <a:rPr lang="en-US" b="0" i="0" dirty="0">
                <a:solidFill>
                  <a:srgbClr val="0C0D0E"/>
                </a:solidFill>
                <a:effectLst/>
                <a:latin typeface="-apple-system"/>
              </a:rPr>
              <a:t> goes through **all possible splits on each chosen feature**.</a:t>
            </a:r>
          </a:p>
          <a:p>
            <a:pPr algn="l" fontAlgn="base"/>
            <a:r>
              <a:rPr lang="en-US" b="1" i="1" dirty="0">
                <a:solidFill>
                  <a:srgbClr val="0C0D0E"/>
                </a:solidFill>
                <a:effectLst/>
                <a:latin typeface="inherit"/>
              </a:rPr>
              <a:t>Longer explanation:</a:t>
            </a:r>
            <a:br>
              <a:rPr lang="en-US" b="0" i="0" dirty="0">
                <a:solidFill>
                  <a:srgbClr val="0C0D0E"/>
                </a:solidFill>
                <a:effectLst/>
                <a:latin typeface="-apple-system"/>
              </a:rPr>
            </a:br>
            <a:endParaRPr lang="en-US" b="0" i="0" dirty="0">
              <a:solidFill>
                <a:srgbClr val="0C0D0E"/>
              </a:solidFill>
              <a:effectLst/>
              <a:latin typeface="-apple-system"/>
            </a:endParaRPr>
          </a:p>
          <a:p>
            <a:pPr algn="l" fontAlgn="base"/>
            <a:r>
              <a:rPr lang="en-US" b="0" i="0" dirty="0">
                <a:solidFill>
                  <a:srgbClr val="0C0D0E"/>
                </a:solidFill>
                <a:effectLst/>
                <a:latin typeface="-apple-system"/>
              </a:rPr>
              <a:t>This is clear when you go thru _</a:t>
            </a:r>
            <a:r>
              <a:rPr lang="en-US" b="0" i="0" dirty="0" err="1">
                <a:solidFill>
                  <a:srgbClr val="0C0D0E"/>
                </a:solidFill>
                <a:effectLst/>
                <a:latin typeface="-apple-system"/>
              </a:rPr>
              <a:t>splitter.pyx</a:t>
            </a:r>
            <a:r>
              <a:rPr lang="en-US" b="0" i="0" dirty="0">
                <a:solidFill>
                  <a:srgbClr val="0C0D0E"/>
                </a:solidFill>
                <a:effectLst/>
                <a:latin typeface="-apple-system"/>
              </a:rPr>
              <a:t>.</a:t>
            </a:r>
          </a:p>
          <a:p>
            <a:pPr algn="l" fontAlgn="base"/>
            <a:r>
              <a:rPr lang="en-US" dirty="0" err="1"/>
              <a:t>RandomSplitter</a:t>
            </a:r>
            <a:r>
              <a:rPr lang="en-US" dirty="0"/>
              <a:t> calculates improvement only on threshold that is randomly initiated (ref. lines 761 and 801). </a:t>
            </a:r>
            <a:r>
              <a:rPr lang="en-US" dirty="0" err="1"/>
              <a:t>BestSplitter</a:t>
            </a:r>
            <a:r>
              <a:rPr lang="en-US" dirty="0"/>
              <a:t> goes through all possible splits in a while loop (ref. lines 436 (which is where loop starts) and 462). </a:t>
            </a:r>
            <a:r>
              <a:rPr lang="en-US" i="1" dirty="0">
                <a:effectLst/>
                <a:latin typeface="inherit"/>
              </a:rPr>
              <a:t>[Note: Lines are in relation to version 0.21.2.]</a:t>
            </a:r>
            <a:endParaRPr lang="en-US" b="0" i="0" dirty="0">
              <a:solidFill>
                <a:srgbClr val="0C0D0E"/>
              </a:solidFill>
              <a:effectLst/>
              <a:latin typeface="-apple-system"/>
            </a:endParaRPr>
          </a:p>
          <a:p>
            <a:r>
              <a:rPr lang="en-US" dirty="0"/>
              <a:t>As opposed to earlier responses from 15 Oct 2017 and 1 Feb 2018, </a:t>
            </a:r>
            <a:r>
              <a:rPr lang="en-US" b="1" dirty="0" err="1">
                <a:effectLst/>
                <a:latin typeface="inherit"/>
              </a:rPr>
              <a:t>RandomSplitter</a:t>
            </a:r>
            <a:r>
              <a:rPr lang="en-US" b="1" dirty="0">
                <a:effectLst/>
                <a:latin typeface="inherit"/>
              </a:rPr>
              <a:t> and </a:t>
            </a:r>
            <a:r>
              <a:rPr lang="en-US" b="1" dirty="0" err="1">
                <a:effectLst/>
                <a:latin typeface="inherit"/>
              </a:rPr>
              <a:t>BestSplitter</a:t>
            </a:r>
            <a:r>
              <a:rPr lang="en-US" b="1" dirty="0">
                <a:effectLst/>
                <a:latin typeface="inherit"/>
              </a:rPr>
              <a:t> both loop through all relevant features</a:t>
            </a:r>
            <a:r>
              <a:rPr lang="en-US" dirty="0"/>
              <a:t>. This is also evident in _</a:t>
            </a:r>
            <a:r>
              <a:rPr lang="en-US" dirty="0" err="1"/>
              <a:t>splitter.pyx</a:t>
            </a:r>
            <a:r>
              <a:rPr lang="en-US" dirty="0"/>
              <a:t>.</a:t>
            </a:r>
            <a:endParaRPr lang="pt-BR" dirty="0"/>
          </a:p>
          <a:p>
            <a:endParaRPr lang="pt-BR" dirty="0"/>
          </a:p>
          <a:p>
            <a:r>
              <a:rPr lang="pt-BR" b="1" dirty="0"/>
              <a:t>Referência</a:t>
            </a:r>
          </a:p>
          <a:p>
            <a:endParaRPr lang="pt-BR" dirty="0"/>
          </a:p>
          <a:p>
            <a:r>
              <a:rPr lang="pt-BR" dirty="0"/>
              <a:t>[1] https://datascience.stackexchange.com/questions/115359/splitter-in-decision-trees-in-sklearn-implementation</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57</a:t>
            </a:fld>
            <a:endParaRPr lang="pt-BR"/>
          </a:p>
        </p:txBody>
      </p:sp>
    </p:spTree>
    <p:extLst>
      <p:ext uri="{BB962C8B-B14F-4D97-AF65-F5344CB8AC3E}">
        <p14:creationId xmlns:p14="http://schemas.microsoft.com/office/powerpoint/2010/main" val="76171416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endParaRPr lang="en-US" b="1" i="1" dirty="0">
              <a:solidFill>
                <a:srgbClr val="0C0D0E"/>
              </a:solidFill>
              <a:effectLst/>
              <a:latin typeface="inherit"/>
            </a:endParaRPr>
          </a:p>
          <a:p>
            <a:pPr algn="l" fontAlgn="base"/>
            <a:endParaRPr lang="en-US" b="1" i="1" dirty="0">
              <a:solidFill>
                <a:srgbClr val="0C0D0E"/>
              </a:solidFill>
              <a:effectLst/>
              <a:latin typeface="inherit"/>
            </a:endParaRPr>
          </a:p>
          <a:p>
            <a:r>
              <a:rPr lang="pt-BR" dirty="0"/>
              <a:t>O parâmetro </a:t>
            </a:r>
            <a:r>
              <a:rPr lang="pt-BR" b="1" dirty="0" err="1"/>
              <a:t>min_samples_split</a:t>
            </a:r>
            <a:r>
              <a:rPr lang="pt-BR" dirty="0"/>
              <a:t> na classe </a:t>
            </a:r>
            <a:r>
              <a:rPr lang="pt-BR" dirty="0" err="1"/>
              <a:t>DecisionTreeClassifier</a:t>
            </a:r>
            <a:r>
              <a:rPr lang="pt-BR" dirty="0"/>
              <a:t> (e </a:t>
            </a:r>
            <a:r>
              <a:rPr lang="pt-BR" dirty="0" err="1"/>
              <a:t>DecisionTreeRegressor</a:t>
            </a:r>
            <a:r>
              <a:rPr lang="pt-BR" dirty="0"/>
              <a:t>) do </a:t>
            </a:r>
            <a:r>
              <a:rPr lang="pt-BR" dirty="0" err="1"/>
              <a:t>scikit-learn</a:t>
            </a:r>
            <a:r>
              <a:rPr lang="pt-BR" dirty="0"/>
              <a:t> define o </a:t>
            </a:r>
            <a:r>
              <a:rPr lang="pt-BR" b="1" dirty="0"/>
              <a:t>número mínimo de amostras necessárias para que um nó interno seja dividido</a:t>
            </a:r>
            <a:r>
              <a:rPr lang="pt-BR" dirty="0"/>
              <a:t>. Em outras palavras, é o número mínimo de exemplos que precisam estar em um nó para que ele seja elegível para uma nova divisão (split) na árvore.</a:t>
            </a:r>
          </a:p>
          <a:p>
            <a:r>
              <a:rPr lang="pt-BR" b="1" dirty="0"/>
              <a:t>Funcionalidade:</a:t>
            </a:r>
          </a:p>
          <a:p>
            <a:pPr>
              <a:buFont typeface="Arial" panose="020B0604020202020204" pitchFamily="34" charset="0"/>
              <a:buChar char="•"/>
            </a:pPr>
            <a:r>
              <a:rPr lang="pt-BR" b="1" dirty="0" err="1"/>
              <a:t>min_samples_split</a:t>
            </a:r>
            <a:r>
              <a:rPr lang="pt-BR" b="1" dirty="0"/>
              <a:t>=2</a:t>
            </a:r>
            <a:r>
              <a:rPr lang="pt-BR" dirty="0"/>
              <a:t> (padrão): Um nó só será dividido se houver pelo menos 2 amostras. Isso significa que o nó pode ser dividido se tiver 2 ou mais amostras.</a:t>
            </a:r>
          </a:p>
          <a:p>
            <a:pPr>
              <a:buFont typeface="Arial" panose="020B0604020202020204" pitchFamily="34" charset="0"/>
              <a:buChar char="•"/>
            </a:pPr>
            <a:r>
              <a:rPr lang="pt-BR" b="1" dirty="0"/>
              <a:t>Valores maiores</a:t>
            </a:r>
            <a:r>
              <a:rPr lang="pt-BR" dirty="0"/>
              <a:t>: Aumentar esse valor faz com que o modelo exija mais dados em cada nó antes de dividi-lo, o que pode resultar em uma árvore menos profunda e com menor risco de </a:t>
            </a:r>
            <a:r>
              <a:rPr lang="pt-BR" b="1" dirty="0" err="1"/>
              <a:t>overfitting</a:t>
            </a:r>
            <a:r>
              <a:rPr lang="pt-BR" dirty="0"/>
              <a:t>.</a:t>
            </a:r>
          </a:p>
          <a:p>
            <a:pPr>
              <a:buFont typeface="Arial" panose="020B0604020202020204" pitchFamily="34" charset="0"/>
              <a:buChar char="•"/>
            </a:pPr>
            <a:r>
              <a:rPr lang="pt-BR" b="1" dirty="0"/>
              <a:t>Valores como fração</a:t>
            </a:r>
            <a:r>
              <a:rPr lang="pt-BR" dirty="0"/>
              <a:t>: O parâmetro também pode ser definido como uma fração entre 0 e 1, indicando uma porcentagem do número total de amostras. Por exemplo, </a:t>
            </a:r>
            <a:r>
              <a:rPr lang="pt-BR" dirty="0" err="1"/>
              <a:t>min_samples_split</a:t>
            </a:r>
            <a:r>
              <a:rPr lang="pt-BR" dirty="0"/>
              <a:t>=0.05 significa que um nó precisa ter pelo menos 5% do total de amostras para ser dividido.</a:t>
            </a:r>
          </a:p>
          <a:p>
            <a:r>
              <a:rPr lang="pt-BR" b="1" dirty="0"/>
              <a:t>Exemplos de uso:</a:t>
            </a:r>
          </a:p>
          <a:p>
            <a:pPr>
              <a:buFont typeface="+mj-lt"/>
              <a:buAutoNum type="arabicPeriod"/>
            </a:pPr>
            <a:r>
              <a:rPr lang="pt-BR" b="1" dirty="0" err="1"/>
              <a:t>min_samples_split</a:t>
            </a:r>
            <a:r>
              <a:rPr lang="pt-BR" b="1" dirty="0"/>
              <a:t>=2 (padrão)</a:t>
            </a:r>
            <a:r>
              <a:rPr lang="pt-BR" dirty="0"/>
              <a:t>:</a:t>
            </a:r>
          </a:p>
          <a:p>
            <a:pPr marL="742950" lvl="1" indent="-285750">
              <a:buFont typeface="+mj-lt"/>
              <a:buAutoNum type="arabicPeriod"/>
            </a:pPr>
            <a:r>
              <a:rPr lang="pt-BR" dirty="0"/>
              <a:t>O nó será dividido sempre que houver pelo menos 2 amostras.</a:t>
            </a:r>
          </a:p>
          <a:p>
            <a:pPr>
              <a:buFont typeface="+mj-lt"/>
              <a:buAutoNum type="arabicPeriod"/>
            </a:pPr>
            <a:r>
              <a:rPr lang="pt-BR" b="1" dirty="0" err="1"/>
              <a:t>min_samples_split</a:t>
            </a:r>
            <a:r>
              <a:rPr lang="pt-BR" b="1" dirty="0"/>
              <a:t>=10</a:t>
            </a:r>
            <a:r>
              <a:rPr lang="pt-BR" dirty="0"/>
              <a:t>:</a:t>
            </a:r>
          </a:p>
          <a:p>
            <a:pPr marL="742950" lvl="1" indent="-285750">
              <a:buFont typeface="+mj-lt"/>
              <a:buAutoNum type="arabicPeriod"/>
            </a:pPr>
            <a:r>
              <a:rPr lang="pt-BR" dirty="0"/>
              <a:t>O nó precisará de pelo menos 10 amostras para que seja dividido, o que pode evitar divisões muito pequenas que levam a sobreajuste (</a:t>
            </a:r>
            <a:r>
              <a:rPr lang="pt-BR" dirty="0" err="1"/>
              <a:t>overfitting</a:t>
            </a:r>
            <a:r>
              <a:rPr lang="pt-BR" dirty="0"/>
              <a:t>).</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58</a:t>
            </a:fld>
            <a:endParaRPr lang="pt-BR"/>
          </a:p>
        </p:txBody>
      </p:sp>
    </p:spTree>
    <p:extLst>
      <p:ext uri="{BB962C8B-B14F-4D97-AF65-F5344CB8AC3E}">
        <p14:creationId xmlns:p14="http://schemas.microsoft.com/office/powerpoint/2010/main" val="22411814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a:t>
            </a:r>
            <a:r>
              <a:rPr lang="pt-BR" dirty="0" err="1"/>
              <a:t>sobreajuste</a:t>
            </a:r>
            <a:r>
              <a:rPr lang="pt-BR" dirty="0"/>
              <a:t> (mas aumentando o risco de </a:t>
            </a:r>
            <a:r>
              <a:rPr lang="pt-BR" dirty="0" err="1"/>
              <a:t>sobajuste</a:t>
            </a:r>
            <a:r>
              <a:rPr lang="pt-BR" dirty="0"/>
              <a:t>).</a:t>
            </a:r>
          </a:p>
          <a:p>
            <a:endParaRPr lang="pt-BR" dirty="0"/>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59</a:t>
            </a:fld>
            <a:endParaRPr lang="pt-BR"/>
          </a:p>
        </p:txBody>
      </p:sp>
    </p:spTree>
    <p:extLst>
      <p:ext uri="{BB962C8B-B14F-4D97-AF65-F5344CB8AC3E}">
        <p14:creationId xmlns:p14="http://schemas.microsoft.com/office/powerpoint/2010/main" val="364255925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No </a:t>
            </a:r>
            <a:r>
              <a:rPr lang="pt-BR" sz="1200" b="0" i="0" kern="1200" dirty="0" err="1">
                <a:solidFill>
                  <a:schemeClr val="tx1"/>
                </a:solidFill>
                <a:effectLst/>
                <a:latin typeface="+mn-lt"/>
                <a:ea typeface="+mn-ea"/>
                <a:cs typeface="+mn-cs"/>
              </a:rPr>
              <a:t>Scikit-Learn</a:t>
            </a:r>
            <a:r>
              <a:rPr lang="pt-BR" sz="1200" b="0" i="0" kern="1200" dirty="0">
                <a:solidFill>
                  <a:schemeClr val="tx1"/>
                </a:solidFill>
                <a:effectLst/>
                <a:latin typeface="+mn-lt"/>
                <a:ea typeface="+mn-ea"/>
                <a:cs typeface="+mn-cs"/>
              </a:rPr>
              <a:t> isso é controlado pelo </a:t>
            </a:r>
            <a:r>
              <a:rPr lang="pt-BR" sz="1200" b="0" i="0" kern="1200" dirty="0" err="1">
                <a:solidFill>
                  <a:schemeClr val="tx1"/>
                </a:solidFill>
                <a:effectLst/>
                <a:latin typeface="+mn-lt"/>
                <a:ea typeface="+mn-ea"/>
                <a:cs typeface="+mn-cs"/>
              </a:rPr>
              <a:t>hiperparâmetro</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max_depth</a:t>
            </a:r>
            <a:r>
              <a:rPr lang="pt-BR" sz="1200" b="0" i="0" kern="1200" dirty="0">
                <a:solidFill>
                  <a:schemeClr val="tx1"/>
                </a:solidFill>
                <a:effectLst/>
                <a:latin typeface="+mn-lt"/>
                <a:ea typeface="+mn-ea"/>
                <a:cs typeface="+mn-cs"/>
              </a:rPr>
              <a:t> (o valor padrão é </a:t>
            </a:r>
            <a:r>
              <a:rPr lang="pt-BR" sz="1200" b="0" i="0" kern="1200" dirty="0" err="1">
                <a:solidFill>
                  <a:schemeClr val="tx1"/>
                </a:solidFill>
                <a:effectLst/>
                <a:latin typeface="+mn-lt"/>
                <a:ea typeface="+mn-ea"/>
                <a:cs typeface="+mn-cs"/>
              </a:rPr>
              <a:t>None</a:t>
            </a:r>
            <a:r>
              <a:rPr lang="pt-BR" sz="1200" b="0" i="0" kern="1200" dirty="0">
                <a:solidFill>
                  <a:schemeClr val="tx1"/>
                </a:solidFill>
                <a:effectLst/>
                <a:latin typeface="+mn-lt"/>
                <a:ea typeface="+mn-ea"/>
                <a:cs typeface="+mn-cs"/>
              </a:rPr>
              <a:t>, o que significa liberdade ilimitada).</a:t>
            </a:r>
          </a:p>
          <a:p>
            <a:pPr lvl="1"/>
            <a:r>
              <a:rPr lang="pt-BR" sz="1200" b="0" i="0" kern="1200" dirty="0">
                <a:solidFill>
                  <a:schemeClr val="tx1"/>
                </a:solidFill>
                <a:effectLst/>
                <a:latin typeface="+mn-lt"/>
                <a:ea typeface="+mn-ea"/>
                <a:cs typeface="+mn-cs"/>
              </a:rPr>
              <a:t>Reduzir o valor de </a:t>
            </a:r>
            <a:r>
              <a:rPr lang="pt-BR" sz="1200" b="0" i="0" kern="1200" dirty="0" err="1">
                <a:solidFill>
                  <a:schemeClr val="tx1"/>
                </a:solidFill>
                <a:effectLst/>
                <a:latin typeface="+mn-lt"/>
                <a:ea typeface="+mn-ea"/>
                <a:cs typeface="+mn-cs"/>
              </a:rPr>
              <a:t>max_depth</a:t>
            </a:r>
            <a:r>
              <a:rPr lang="pt-BR" sz="1200" b="0" i="0" kern="1200" dirty="0">
                <a:solidFill>
                  <a:schemeClr val="tx1"/>
                </a:solidFill>
                <a:effectLst/>
                <a:latin typeface="+mn-lt"/>
                <a:ea typeface="+mn-ea"/>
                <a:cs typeface="+mn-cs"/>
              </a:rPr>
              <a:t> regularizará o modelo e, assim, reduzirá o risco de </a:t>
            </a:r>
            <a:r>
              <a:rPr lang="pt-BR" sz="1200" b="0" i="0" kern="1200" dirty="0" err="1">
                <a:solidFill>
                  <a:schemeClr val="tx1"/>
                </a:solidFill>
                <a:effectLst/>
                <a:latin typeface="+mn-lt"/>
                <a:ea typeface="+mn-ea"/>
                <a:cs typeface="+mn-cs"/>
              </a:rPr>
              <a:t>sobreajuste</a:t>
            </a:r>
            <a:r>
              <a:rPr lang="pt-BR" sz="1200" b="0" i="0" kern="1200" dirty="0">
                <a:solidFill>
                  <a:schemeClr val="tx1"/>
                </a:solidFill>
                <a:effectLst/>
                <a:latin typeface="+mn-lt"/>
                <a:ea typeface="+mn-ea"/>
                <a:cs typeface="+mn-cs"/>
              </a:rPr>
              <a:t>.</a:t>
            </a:r>
          </a:p>
          <a:p>
            <a:pPr lvl="1"/>
            <a:r>
              <a:rPr lang="pt-BR" sz="1200" b="0" i="0" kern="1200" dirty="0">
                <a:solidFill>
                  <a:schemeClr val="tx1"/>
                </a:solidFill>
                <a:effectLst/>
                <a:latin typeface="+mn-lt"/>
                <a:ea typeface="+mn-ea"/>
                <a:cs typeface="+mn-cs"/>
              </a:rPr>
              <a:t>Porém, se reduzido demais pode causar </a:t>
            </a:r>
            <a:r>
              <a:rPr lang="pt-BR" sz="1200" b="1" i="0" kern="1200" dirty="0" err="1">
                <a:solidFill>
                  <a:schemeClr val="tx1"/>
                </a:solidFill>
                <a:effectLst/>
                <a:latin typeface="+mn-lt"/>
                <a:ea typeface="+mn-ea"/>
                <a:cs typeface="+mn-cs"/>
              </a:rPr>
              <a:t>subajuste</a:t>
            </a:r>
            <a:r>
              <a:rPr lang="pt-BR" sz="1200" b="0" i="0" kern="1200" dirty="0">
                <a:solidFill>
                  <a:schemeClr val="tx1"/>
                </a:solidFill>
                <a:effectLst/>
                <a:latin typeface="+mn-lt"/>
                <a:ea typeface="+mn-ea"/>
                <a:cs typeface="+mn-cs"/>
              </a:rPr>
              <a:t>.</a:t>
            </a:r>
          </a:p>
          <a:p>
            <a:r>
              <a:rPr lang="pt-BR" sz="1200" b="0" i="0" kern="1200" dirty="0">
                <a:solidFill>
                  <a:schemeClr val="tx1"/>
                </a:solidFill>
                <a:effectLst/>
                <a:latin typeface="+mn-lt"/>
                <a:ea typeface="+mn-ea"/>
                <a:cs typeface="+mn-cs"/>
              </a:rPr>
              <a:t>A classe </a:t>
            </a:r>
            <a:r>
              <a:rPr lang="pt-BR" sz="1200" b="0" i="0" kern="1200" dirty="0" err="1">
                <a:solidFill>
                  <a:schemeClr val="tx1"/>
                </a:solidFill>
                <a:effectLst/>
                <a:latin typeface="+mn-lt"/>
                <a:ea typeface="+mn-ea"/>
                <a:cs typeface="+mn-cs"/>
              </a:rPr>
              <a:t>DecisionTreeClassifier</a:t>
            </a:r>
            <a:r>
              <a:rPr lang="pt-BR" sz="1200" b="0" i="0" kern="1200" dirty="0">
                <a:solidFill>
                  <a:schemeClr val="tx1"/>
                </a:solidFill>
                <a:effectLst/>
                <a:latin typeface="+mn-lt"/>
                <a:ea typeface="+mn-ea"/>
                <a:cs typeface="+mn-cs"/>
              </a:rPr>
              <a:t> tem alguns outros </a:t>
            </a:r>
            <a:r>
              <a:rPr lang="pt-BR" sz="1200" b="0" i="0" kern="1200" dirty="0" err="1">
                <a:solidFill>
                  <a:schemeClr val="tx1"/>
                </a:solidFill>
                <a:effectLst/>
                <a:latin typeface="+mn-lt"/>
                <a:ea typeface="+mn-ea"/>
                <a:cs typeface="+mn-cs"/>
              </a:rPr>
              <a:t>hiperparâmetros</a:t>
            </a:r>
            <a:r>
              <a:rPr lang="pt-BR" sz="1200" b="0" i="0" kern="1200" dirty="0">
                <a:solidFill>
                  <a:schemeClr val="tx1"/>
                </a:solidFill>
                <a:effectLst/>
                <a:latin typeface="+mn-lt"/>
                <a:ea typeface="+mn-ea"/>
                <a:cs typeface="+mn-cs"/>
              </a:rPr>
              <a:t> que restringem de forma semelhante o crescimento da árvore de decisão:</a:t>
            </a:r>
          </a:p>
          <a:p>
            <a:pPr lvl="1"/>
            <a:r>
              <a:rPr lang="pt-BR" sz="1200" b="0" i="0" kern="1200" dirty="0" err="1">
                <a:solidFill>
                  <a:schemeClr val="tx1"/>
                </a:solidFill>
                <a:effectLst/>
                <a:latin typeface="+mn-lt"/>
                <a:ea typeface="+mn-ea"/>
                <a:cs typeface="+mn-cs"/>
              </a:rPr>
              <a:t>min_samples_split</a:t>
            </a:r>
            <a:r>
              <a:rPr lang="pt-BR" sz="1200" b="0" i="0" kern="1200" dirty="0">
                <a:solidFill>
                  <a:schemeClr val="tx1"/>
                </a:solidFill>
                <a:effectLst/>
                <a:latin typeface="+mn-lt"/>
                <a:ea typeface="+mn-ea"/>
                <a:cs typeface="+mn-cs"/>
              </a:rPr>
              <a:t>: define o número mínimo de exemplos um nó deve ter para poder ser dividido.</a:t>
            </a:r>
          </a:p>
          <a:p>
            <a:pPr lvl="1"/>
            <a:r>
              <a:rPr lang="pt-BR" sz="1200" b="0" i="0" kern="1200" dirty="0" err="1">
                <a:solidFill>
                  <a:schemeClr val="tx1"/>
                </a:solidFill>
                <a:effectLst/>
                <a:latin typeface="+mn-lt"/>
                <a:ea typeface="+mn-ea"/>
                <a:cs typeface="+mn-cs"/>
              </a:rPr>
              <a:t>min_samples_leaf</a:t>
            </a:r>
            <a:r>
              <a:rPr lang="pt-BR" sz="1200" b="0" i="0" kern="1200" dirty="0">
                <a:solidFill>
                  <a:schemeClr val="tx1"/>
                </a:solidFill>
                <a:effectLst/>
                <a:latin typeface="+mn-lt"/>
                <a:ea typeface="+mn-ea"/>
                <a:cs typeface="+mn-cs"/>
              </a:rPr>
              <a:t>: define o número mínimo de exemplos um nó folha deve ter.</a:t>
            </a:r>
          </a:p>
          <a:p>
            <a:pPr lvl="1"/>
            <a:r>
              <a:rPr lang="pt-BR" sz="1200" b="0" i="0" kern="1200" dirty="0" err="1">
                <a:solidFill>
                  <a:schemeClr val="tx1"/>
                </a:solidFill>
                <a:effectLst/>
                <a:latin typeface="+mn-lt"/>
                <a:ea typeface="+mn-ea"/>
                <a:cs typeface="+mn-cs"/>
              </a:rPr>
              <a:t>max_leaf_nodes</a:t>
            </a:r>
            <a:r>
              <a:rPr lang="pt-BR" sz="1200" b="0" i="0" kern="1200" dirty="0">
                <a:solidFill>
                  <a:schemeClr val="tx1"/>
                </a:solidFill>
                <a:effectLst/>
                <a:latin typeface="+mn-lt"/>
                <a:ea typeface="+mn-ea"/>
                <a:cs typeface="+mn-cs"/>
              </a:rPr>
              <a:t>: define o número máximo de nós folha.</a:t>
            </a:r>
          </a:p>
          <a:p>
            <a:pPr lvl="1"/>
            <a:r>
              <a:rPr lang="pt-BR" sz="1200" b="0" i="0" kern="1200" dirty="0" err="1">
                <a:solidFill>
                  <a:schemeClr val="tx1"/>
                </a:solidFill>
                <a:effectLst/>
                <a:latin typeface="+mn-lt"/>
                <a:ea typeface="+mn-ea"/>
                <a:cs typeface="+mn-cs"/>
              </a:rPr>
              <a:t>max_features</a:t>
            </a:r>
            <a:r>
              <a:rPr lang="pt-BR" sz="1200" b="0" i="0" kern="1200" dirty="0">
                <a:solidFill>
                  <a:schemeClr val="tx1"/>
                </a:solidFill>
                <a:effectLst/>
                <a:latin typeface="+mn-lt"/>
                <a:ea typeface="+mn-ea"/>
                <a:cs typeface="+mn-cs"/>
              </a:rPr>
              <a:t>: define o número máximo de atributos que são avaliados para criação de uma divisão (i.e., </a:t>
            </a:r>
            <a:r>
              <a:rPr lang="pt-BR" sz="1200" b="0" i="0" kern="1200" dirty="0" err="1">
                <a:solidFill>
                  <a:schemeClr val="tx1"/>
                </a:solidFill>
                <a:effectLst/>
                <a:latin typeface="+mn-lt"/>
                <a:ea typeface="+mn-ea"/>
                <a:cs typeface="+mn-cs"/>
              </a:rPr>
              <a:t>split</a:t>
            </a:r>
            <a:r>
              <a:rPr lang="pt-BR" sz="1200" b="0" i="0" kern="1200" dirty="0">
                <a:solidFill>
                  <a:schemeClr val="tx1"/>
                </a:solidFill>
                <a:effectLst/>
                <a:latin typeface="+mn-lt"/>
                <a:ea typeface="+mn-ea"/>
                <a:cs typeface="+mn-cs"/>
              </a:rPr>
              <a:t>).</a:t>
            </a:r>
          </a:p>
          <a:p>
            <a:r>
              <a:rPr lang="pt-BR" sz="1200" b="0" i="0" kern="1200" dirty="0">
                <a:solidFill>
                  <a:schemeClr val="tx1"/>
                </a:solidFill>
                <a:effectLst/>
                <a:latin typeface="+mn-lt"/>
                <a:ea typeface="+mn-ea"/>
                <a:cs typeface="+mn-cs"/>
              </a:rPr>
              <a:t>Aumentar os </a:t>
            </a:r>
            <a:r>
              <a:rPr lang="pt-BR" sz="1200" b="0" i="0" kern="1200" dirty="0" err="1">
                <a:solidFill>
                  <a:schemeClr val="tx1"/>
                </a:solidFill>
                <a:effectLst/>
                <a:latin typeface="+mn-lt"/>
                <a:ea typeface="+mn-ea"/>
                <a:cs typeface="+mn-cs"/>
              </a:rPr>
              <a:t>hiperparâmetros</a:t>
            </a:r>
            <a:r>
              <a:rPr lang="pt-BR" sz="1200" b="0" i="0" kern="1200" dirty="0">
                <a:solidFill>
                  <a:schemeClr val="tx1"/>
                </a:solidFill>
                <a:effectLst/>
                <a:latin typeface="+mn-lt"/>
                <a:ea typeface="+mn-ea"/>
                <a:cs typeface="+mn-cs"/>
              </a:rPr>
              <a:t> min_* ou reduzir os </a:t>
            </a:r>
            <a:r>
              <a:rPr lang="pt-BR" sz="1200" b="0" i="0" kern="1200" dirty="0" err="1">
                <a:solidFill>
                  <a:schemeClr val="tx1"/>
                </a:solidFill>
                <a:effectLst/>
                <a:latin typeface="+mn-lt"/>
                <a:ea typeface="+mn-ea"/>
                <a:cs typeface="+mn-cs"/>
              </a:rPr>
              <a:t>hiperparâmetros</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max</a:t>
            </a:r>
            <a:r>
              <a:rPr lang="pt-BR" sz="1200" b="0" i="0" kern="1200" dirty="0">
                <a:solidFill>
                  <a:schemeClr val="tx1"/>
                </a:solidFill>
                <a:effectLst/>
                <a:latin typeface="+mn-lt"/>
                <a:ea typeface="+mn-ea"/>
                <a:cs typeface="+mn-cs"/>
              </a:rPr>
              <a:t>_* regularizará o modelo.</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60</a:t>
            </a:fld>
            <a:endParaRPr lang="pt-BR"/>
          </a:p>
        </p:txBody>
      </p:sp>
    </p:spTree>
    <p:extLst>
      <p:ext uri="{BB962C8B-B14F-4D97-AF65-F5344CB8AC3E}">
        <p14:creationId xmlns:p14="http://schemas.microsoft.com/office/powerpoint/2010/main" val="54854752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a:t>
            </a:r>
            <a:r>
              <a:rPr lang="pt-BR" dirty="0" err="1"/>
              <a:t>árvores_de_decisão</a:t>
            </a:r>
            <a:r>
              <a:rPr lang="en-US" dirty="0"/>
              <a:t>.</a:t>
            </a:r>
            <a:r>
              <a:rPr lang="en-US" dirty="0" err="1"/>
              <a:t>ipynb</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4205649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pt-B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25/05/2026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208614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25/05/2026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351458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pt-B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21D0464-8C8A-49C0-859F-777E51766A35}" type="datetimeFigureOut">
              <a:rPr lang="pt-BR" smtClean="0"/>
              <a:t>25/05/2026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875213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Date Placeholder 4"/>
          <p:cNvSpPr>
            <a:spLocks noGrp="1"/>
          </p:cNvSpPr>
          <p:nvPr>
            <p:ph type="dt" sz="half" idx="10"/>
          </p:nvPr>
        </p:nvSpPr>
        <p:spPr/>
        <p:txBody>
          <a:bodyPr/>
          <a:lstStyle/>
          <a:p>
            <a:fld id="{221D0464-8C8A-49C0-859F-777E51766A35}" type="datetimeFigureOut">
              <a:rPr lang="pt-BR" smtClean="0"/>
              <a:t>25/05/2026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636662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pt-B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7" name="Date Placeholder 6"/>
          <p:cNvSpPr>
            <a:spLocks noGrp="1"/>
          </p:cNvSpPr>
          <p:nvPr>
            <p:ph type="dt" sz="half" idx="10"/>
          </p:nvPr>
        </p:nvSpPr>
        <p:spPr/>
        <p:txBody>
          <a:bodyPr/>
          <a:lstStyle/>
          <a:p>
            <a:fld id="{221D0464-8C8A-49C0-859F-777E51766A35}" type="datetimeFigureOut">
              <a:rPr lang="pt-BR" smtClean="0"/>
              <a:t>25/05/2026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603967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Date Placeholder 2"/>
          <p:cNvSpPr>
            <a:spLocks noGrp="1"/>
          </p:cNvSpPr>
          <p:nvPr>
            <p:ph type="dt" sz="half" idx="10"/>
          </p:nvPr>
        </p:nvSpPr>
        <p:spPr/>
        <p:txBody>
          <a:bodyPr/>
          <a:lstStyle/>
          <a:p>
            <a:fld id="{221D0464-8C8A-49C0-859F-777E51766A35}" type="datetimeFigureOut">
              <a:rPr lang="pt-BR" smtClean="0"/>
              <a:t>25/05/2026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014102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1D0464-8C8A-49C0-859F-777E51766A35}" type="datetimeFigureOut">
              <a:rPr lang="pt-BR" smtClean="0"/>
              <a:t>25/05/2026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6652598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25/05/2026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765599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25/05/2026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9210605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25/05/2026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013950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pt-B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25/05/2026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445891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pt-B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1D0464-8C8A-49C0-859F-777E51766A35}" type="datetimeFigureOut">
              <a:rPr lang="pt-BR" smtClean="0"/>
              <a:t>25/05/2026</a:t>
            </a:fld>
            <a:endParaRPr lang="pt-B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CB2E8FC-741C-4BF1-B071-7D772D706EF9}" type="slidenum">
              <a:rPr lang="pt-BR" smtClean="0"/>
              <a:t>‹nº›</a:t>
            </a:fld>
            <a:endParaRPr lang="pt-BR"/>
          </a:p>
        </p:txBody>
      </p:sp>
    </p:spTree>
    <p:extLst>
      <p:ext uri="{BB962C8B-B14F-4D97-AF65-F5344CB8AC3E}">
        <p14:creationId xmlns:p14="http://schemas.microsoft.com/office/powerpoint/2010/main" val="20608898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3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hyperlink" Target="https://docs.google.com/spreadsheets/d/1VsWmcVYymhsLHxCrPFLZFZGe-SW1a8PnnBhazxh3OVM/edit?usp=sharing"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4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5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225;rvores_de_decis&#227;o.ipynb" TargetMode="Externa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jpeg"/><Relationship Id="rId4" Type="http://schemas.openxmlformats.org/officeDocument/2006/relationships/image" Target="../media/image36.png"/></Relationships>
</file>

<file path=ppt/slides/_rels/slide63.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12%20-%20%C3%81rvores%20de%20decis%C3%A3o.pdf" TargetMode="Externa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280.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Árvores de decisão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4 Simple Ways to Split a Decision Tree (2026) - Analytics Vidhya">
            <a:extLst>
              <a:ext uri="{FF2B5EF4-FFF2-40B4-BE49-F238E27FC236}">
                <a16:creationId xmlns:a16="http://schemas.microsoft.com/office/drawing/2014/main" id="{1FA47475-FDC4-00A0-ED09-96379FFD26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0695" y="1592179"/>
            <a:ext cx="7250609" cy="3673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4432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466080" y="1825624"/>
            <a:ext cx="6725920" cy="5032376"/>
          </a:xfrm>
        </p:spPr>
        <p:txBody>
          <a:bodyPr>
            <a:normAutofit/>
          </a:bodyPr>
          <a:lstStyle/>
          <a:p>
            <a:r>
              <a:rPr lang="pt-BR" b="1" dirty="0"/>
              <a:t>Árvores de decisão </a:t>
            </a:r>
            <a:r>
              <a:rPr lang="pt-BR" dirty="0"/>
              <a:t>(do inglês, </a:t>
            </a:r>
            <a:r>
              <a:rPr lang="pt-BR" b="1" i="1" dirty="0"/>
              <a:t>decision trees</a:t>
            </a:r>
            <a:r>
              <a:rPr lang="pt-BR" dirty="0"/>
              <a:t>), são modelos de </a:t>
            </a:r>
          </a:p>
          <a:p>
            <a:pPr lvl="1">
              <a:buFont typeface="Wingdings" panose="05000000000000000000" pitchFamily="2" charset="2"/>
              <a:buChar char="§"/>
            </a:pPr>
            <a:r>
              <a:rPr lang="pt-BR" b="1" dirty="0">
                <a:solidFill>
                  <a:srgbClr val="FF0000"/>
                </a:solidFill>
              </a:rPr>
              <a:t>aprendizado supervisionado </a:t>
            </a:r>
            <a:r>
              <a:rPr lang="pt-BR" b="1" dirty="0">
                <a:solidFill>
                  <a:srgbClr val="00B050"/>
                </a:solidFill>
              </a:rPr>
              <a:t>não-paramétrico</a:t>
            </a:r>
            <a:r>
              <a:rPr lang="pt-BR" dirty="0"/>
              <a:t> </a:t>
            </a:r>
          </a:p>
          <a:p>
            <a:pPr lvl="1">
              <a:buFont typeface="Wingdings" panose="05000000000000000000" pitchFamily="2" charset="2"/>
              <a:buChar char="§"/>
            </a:pPr>
            <a:r>
              <a:rPr lang="pt-BR" dirty="0"/>
              <a:t>e</a:t>
            </a:r>
            <a:r>
              <a:rPr lang="pt-BR" b="1" dirty="0"/>
              <a:t> </a:t>
            </a:r>
            <a:r>
              <a:rPr lang="pt-BR" b="1" dirty="0">
                <a:solidFill>
                  <a:srgbClr val="7030A0"/>
                </a:solidFill>
              </a:rPr>
              <a:t>não-lineares.</a:t>
            </a:r>
            <a:r>
              <a:rPr lang="pt-BR" b="1" dirty="0"/>
              <a:t> </a:t>
            </a:r>
            <a:endParaRPr lang="pt-BR" dirty="0"/>
          </a:p>
          <a:p>
            <a:r>
              <a:rPr lang="pt-BR" dirty="0"/>
              <a:t>Elas podem ser utilizadas tanto para </a:t>
            </a:r>
            <a:r>
              <a:rPr lang="pt-BR" b="1" dirty="0"/>
              <a:t>classificação</a:t>
            </a:r>
            <a:r>
              <a:rPr lang="pt-BR" dirty="0"/>
              <a:t> quanto para </a:t>
            </a:r>
            <a:r>
              <a:rPr lang="pt-BR" b="1" dirty="0"/>
              <a:t>regressão</a:t>
            </a:r>
            <a:r>
              <a:rPr lang="pt-BR" dirty="0"/>
              <a:t>.</a:t>
            </a:r>
          </a:p>
        </p:txBody>
      </p:sp>
      <p:pic>
        <p:nvPicPr>
          <p:cNvPr id="1026"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188" y="2355449"/>
            <a:ext cx="5120772" cy="32228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9511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6C4E9-DA48-0222-E1BC-067F2EEBF84B}"/>
            </a:ext>
          </a:extLst>
        </p:cNvPr>
        <p:cNvGrpSpPr/>
        <p:nvPr/>
      </p:nvGrpSpPr>
      <p:grpSpPr>
        <a:xfrm>
          <a:off x="0" y="0"/>
          <a:ext cx="0" cy="0"/>
          <a:chOff x="0" y="0"/>
          <a:chExt cx="0" cy="0"/>
        </a:xfrm>
      </p:grpSpPr>
      <p:pic>
        <p:nvPicPr>
          <p:cNvPr id="2050" name="Picture 2" descr="youKnowItsTrue : r/ProgrammerHumor">
            <a:extLst>
              <a:ext uri="{FF2B5EF4-FFF2-40B4-BE49-F238E27FC236}">
                <a16:creationId xmlns:a16="http://schemas.microsoft.com/office/drawing/2014/main" id="{F2B464FA-C8AA-60D5-B201-B6DD07B2F1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4031" y="355393"/>
            <a:ext cx="5919538" cy="614721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BB9CE13-5650-53F7-7002-4DED22ECDBB7}"/>
              </a:ext>
            </a:extLst>
          </p:cNvPr>
          <p:cNvSpPr txBox="1"/>
          <p:nvPr/>
        </p:nvSpPr>
        <p:spPr>
          <a:xfrm>
            <a:off x="7041481" y="2696759"/>
            <a:ext cx="4376488" cy="2062103"/>
          </a:xfrm>
          <a:prstGeom prst="rect">
            <a:avLst/>
          </a:prstGeom>
          <a:noFill/>
        </p:spPr>
        <p:txBody>
          <a:bodyPr wrap="square">
            <a:spAutoFit/>
          </a:bodyPr>
          <a:lstStyle/>
          <a:p>
            <a:pPr algn="ctr"/>
            <a:r>
              <a:rPr lang="pt-BR" sz="3200" dirty="0"/>
              <a:t>Árvores de decisão podem ser interpretadas como </a:t>
            </a:r>
            <a:r>
              <a:rPr lang="pt-BR" sz="3200" b="1" dirty="0">
                <a:solidFill>
                  <a:srgbClr val="00B050"/>
                </a:solidFill>
              </a:rPr>
              <a:t>estruturas de controle de fluxo</a:t>
            </a:r>
            <a:r>
              <a:rPr lang="pt-BR" sz="3200" dirty="0"/>
              <a:t>.</a:t>
            </a:r>
          </a:p>
        </p:txBody>
      </p:sp>
    </p:spTree>
    <p:extLst>
      <p:ext uri="{BB962C8B-B14F-4D97-AF65-F5344CB8AC3E}">
        <p14:creationId xmlns:p14="http://schemas.microsoft.com/office/powerpoint/2010/main" val="11853760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paramétrico?</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705856" y="1825624"/>
            <a:ext cx="6486144" cy="5032375"/>
          </a:xfrm>
        </p:spPr>
        <p:txBody>
          <a:bodyPr>
            <a:normAutofit/>
          </a:bodyPr>
          <a:lstStyle/>
          <a:p>
            <a:r>
              <a:rPr lang="pt-BR" noProof="0" dirty="0"/>
              <a:t>Um modelo </a:t>
            </a:r>
            <a:r>
              <a:rPr lang="pt-BR" b="1" noProof="0" dirty="0">
                <a:solidFill>
                  <a:srgbClr val="00B050"/>
                </a:solidFill>
              </a:rPr>
              <a:t>paramétrico</a:t>
            </a:r>
            <a:r>
              <a:rPr lang="pt-BR" noProof="0" dirty="0"/>
              <a:t>:</a:t>
            </a:r>
          </a:p>
          <a:p>
            <a:pPr lvl="1">
              <a:buFont typeface="Wingdings" panose="05000000000000000000" pitchFamily="2" charset="2"/>
              <a:buChar char="§"/>
            </a:pPr>
            <a:r>
              <a:rPr lang="pt-BR" noProof="0" dirty="0"/>
              <a:t>assume uma </a:t>
            </a:r>
            <a:r>
              <a:rPr lang="pt-BR" b="1" noProof="0" dirty="0">
                <a:solidFill>
                  <a:schemeClr val="accent2"/>
                </a:solidFill>
              </a:rPr>
              <a:t>forma funcional fixa</a:t>
            </a:r>
            <a:r>
              <a:rPr lang="pt-BR" noProof="0" dirty="0"/>
              <a:t>.</a:t>
            </a:r>
          </a:p>
          <a:p>
            <a:pPr lvl="2">
              <a:buFont typeface="Courier New" panose="02070309020205020404" pitchFamily="49" charset="0"/>
              <a:buChar char="o"/>
            </a:pPr>
            <a:r>
              <a:rPr lang="pt-BR" noProof="0" dirty="0"/>
              <a:t>Uma </a:t>
            </a:r>
            <a:r>
              <a:rPr lang="pt-BR" b="1" noProof="0" dirty="0">
                <a:solidFill>
                  <a:schemeClr val="accent2"/>
                </a:solidFill>
              </a:rPr>
              <a:t>equação</a:t>
            </a:r>
            <a:r>
              <a:rPr lang="pt-BR" noProof="0" dirty="0"/>
              <a:t> como no caso da regressão linear.</a:t>
            </a:r>
          </a:p>
          <a:p>
            <a:pPr lvl="1">
              <a:buFont typeface="Wingdings" panose="05000000000000000000" pitchFamily="2" charset="2"/>
              <a:buChar char="§"/>
            </a:pPr>
            <a:r>
              <a:rPr lang="pt-BR" noProof="0" dirty="0"/>
              <a:t>possui um </a:t>
            </a:r>
            <a:r>
              <a:rPr lang="pt-BR" b="1" noProof="0" dirty="0">
                <a:solidFill>
                  <a:srgbClr val="7030A0"/>
                </a:solidFill>
              </a:rPr>
              <a:t>número fixo de parâmetros</a:t>
            </a:r>
            <a:r>
              <a:rPr lang="pt-BR" noProof="0" dirty="0"/>
              <a:t>.</a:t>
            </a:r>
          </a:p>
          <a:p>
            <a:pPr lvl="2">
              <a:buFont typeface="Courier New" panose="02070309020205020404" pitchFamily="49" charset="0"/>
              <a:buChar char="o"/>
            </a:pPr>
            <a:r>
              <a:rPr lang="pt-BR" noProof="0" dirty="0"/>
              <a:t>Por exemplo, na </a:t>
            </a:r>
            <a:r>
              <a:rPr lang="pt-BR" b="1" noProof="0" dirty="0">
                <a:solidFill>
                  <a:srgbClr val="7030A0"/>
                </a:solidFill>
              </a:rPr>
              <a:t>regressão linear</a:t>
            </a:r>
            <a:r>
              <a:rPr lang="pt-BR" noProof="0" dirty="0"/>
              <a:t>, a </a:t>
            </a:r>
            <a:r>
              <a:rPr lang="pt-BR" b="1" noProof="0" dirty="0">
                <a:solidFill>
                  <a:srgbClr val="7030A0"/>
                </a:solidFill>
              </a:rPr>
              <a:t>quantidade de pesos</a:t>
            </a:r>
            <a:r>
              <a:rPr lang="pt-BR" noProof="0" dirty="0"/>
              <a:t> de uma </a:t>
            </a:r>
            <a:r>
              <a:rPr lang="pt-BR" b="1" noProof="0" dirty="0">
                <a:solidFill>
                  <a:srgbClr val="7030A0"/>
                </a:solidFill>
              </a:rPr>
              <a:t>função hipótese é constante</a:t>
            </a:r>
            <a:r>
              <a:rPr lang="pt-BR" noProof="0" dirty="0"/>
              <a:t>.</a:t>
            </a:r>
          </a:p>
          <a:p>
            <a:pPr lvl="1">
              <a:buFont typeface="Wingdings" panose="05000000000000000000" pitchFamily="2" charset="2"/>
              <a:buChar char="§"/>
            </a:pPr>
            <a:r>
              <a:rPr lang="pt-BR" noProof="0" dirty="0"/>
              <a:t>Complexidade constante.</a:t>
            </a:r>
          </a:p>
          <a:p>
            <a:pPr lvl="2">
              <a:buFont typeface="Courier New" panose="02070309020205020404" pitchFamily="49" charset="0"/>
              <a:buChar char="o"/>
            </a:pPr>
            <a:r>
              <a:rPr lang="pt-BR" noProof="0" dirty="0"/>
              <a:t>Não varia com a quantidade de dados.</a:t>
            </a:r>
          </a:p>
          <a:p>
            <a:pPr lvl="1">
              <a:buFont typeface="Wingdings" panose="05000000000000000000" pitchFamily="2" charset="2"/>
              <a:buChar char="§"/>
            </a:pPr>
            <a:r>
              <a:rPr lang="pt-BR" noProof="0" dirty="0"/>
              <a:t>Alguns modelos fazem suposições sobre a distribuição dos dados.</a:t>
            </a:r>
          </a:p>
          <a:p>
            <a:pPr lvl="2">
              <a:buFont typeface="Courier New" panose="02070309020205020404" pitchFamily="49" charset="0"/>
              <a:buChar char="o"/>
            </a:pPr>
            <a:r>
              <a:rPr lang="pt-BR" b="1" noProof="0" dirty="0" err="1"/>
              <a:t>Naive</a:t>
            </a:r>
            <a:r>
              <a:rPr lang="pt-BR" b="1" noProof="0" dirty="0"/>
              <a:t> </a:t>
            </a:r>
            <a:r>
              <a:rPr lang="pt-BR" b="1" noProof="0" dirty="0" err="1"/>
              <a:t>Bayes</a:t>
            </a:r>
            <a:r>
              <a:rPr lang="pt-BR" noProof="0" dirty="0"/>
              <a:t>: dependendo da versão, assume distribuições normal, multinominal ou Bernoulli.</a:t>
            </a:r>
          </a:p>
          <a:p>
            <a:pPr lvl="2">
              <a:buFont typeface="Courier New" panose="02070309020205020404" pitchFamily="49" charset="0"/>
              <a:buChar char="o"/>
            </a:pPr>
            <a:r>
              <a:rPr lang="en-US" b="1" dirty="0"/>
              <a:t>Gaussian Mixture Models (GMMs)</a:t>
            </a:r>
            <a:r>
              <a:rPr lang="en-US" dirty="0"/>
              <a:t>: </a:t>
            </a:r>
            <a:r>
              <a:rPr lang="pt-BR" dirty="0"/>
              <a:t>assume que os dados vêm de uma mistura de gaussianas.</a:t>
            </a:r>
            <a:endParaRPr lang="pt-BR" noProof="0" dirty="0"/>
          </a:p>
        </p:txBody>
      </p:sp>
      <p:pic>
        <p:nvPicPr>
          <p:cNvPr id="4"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640080" y="2428602"/>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0674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516545" y="1825624"/>
            <a:ext cx="6675455" cy="5032375"/>
          </a:xfrm>
        </p:spPr>
        <p:txBody>
          <a:bodyPr>
            <a:normAutofit/>
          </a:bodyPr>
          <a:lstStyle/>
          <a:p>
            <a:r>
              <a:rPr lang="pt-BR" noProof="0" dirty="0"/>
              <a:t>Um modelo </a:t>
            </a:r>
            <a:r>
              <a:rPr lang="pt-BR" b="1" noProof="0" dirty="0">
                <a:solidFill>
                  <a:srgbClr val="7030A0"/>
                </a:solidFill>
              </a:rPr>
              <a:t>não-paramétrico</a:t>
            </a:r>
            <a:r>
              <a:rPr lang="pt-BR" noProof="0" dirty="0"/>
              <a:t>:</a:t>
            </a:r>
          </a:p>
          <a:p>
            <a:pPr lvl="1">
              <a:buFont typeface="Wingdings" panose="05000000000000000000" pitchFamily="2" charset="2"/>
              <a:buChar char="§"/>
            </a:pPr>
            <a:r>
              <a:rPr lang="pt-BR" b="1" noProof="0" dirty="0">
                <a:solidFill>
                  <a:schemeClr val="accent2"/>
                </a:solidFill>
              </a:rPr>
              <a:t>não</a:t>
            </a:r>
            <a:r>
              <a:rPr lang="pt-BR" noProof="0" dirty="0"/>
              <a:t> assume forma funcional fixa</a:t>
            </a:r>
          </a:p>
          <a:p>
            <a:pPr lvl="2">
              <a:buFont typeface="Courier New" panose="02070309020205020404" pitchFamily="49" charset="0"/>
              <a:buChar char="o"/>
            </a:pPr>
            <a:r>
              <a:rPr lang="pt-BR" noProof="0" dirty="0"/>
              <a:t>Não tem uma equação como no caso da regressão linear.</a:t>
            </a:r>
          </a:p>
          <a:p>
            <a:pPr lvl="1">
              <a:buFont typeface="Wingdings" panose="05000000000000000000" pitchFamily="2" charset="2"/>
              <a:buChar char="§"/>
            </a:pPr>
            <a:r>
              <a:rPr lang="pt-BR" b="1" noProof="0" dirty="0">
                <a:solidFill>
                  <a:schemeClr val="accent2"/>
                </a:solidFill>
              </a:rPr>
              <a:t>não</a:t>
            </a:r>
            <a:r>
              <a:rPr lang="pt-BR" noProof="0" dirty="0"/>
              <a:t> fixa o número de parâmetros</a:t>
            </a:r>
          </a:p>
          <a:p>
            <a:pPr lvl="2">
              <a:buFont typeface="Courier New" panose="02070309020205020404" pitchFamily="49" charset="0"/>
              <a:buChar char="o"/>
            </a:pPr>
            <a:r>
              <a:rPr lang="pt-BR" noProof="0" dirty="0"/>
              <a:t>a complexidade do modelo não é fixa a priori.</a:t>
            </a:r>
          </a:p>
          <a:p>
            <a:pPr lvl="1">
              <a:buFont typeface="Wingdings" panose="05000000000000000000" pitchFamily="2" charset="2"/>
              <a:buChar char="§"/>
            </a:pPr>
            <a:r>
              <a:rPr lang="pt-BR" noProof="0" dirty="0"/>
              <a:t>a </a:t>
            </a:r>
            <a:r>
              <a:rPr lang="pt-BR" b="1" noProof="0" dirty="0">
                <a:solidFill>
                  <a:schemeClr val="accent2"/>
                </a:solidFill>
              </a:rPr>
              <a:t>complexidade depende dos dados</a:t>
            </a:r>
          </a:p>
          <a:p>
            <a:pPr lvl="2">
              <a:buFont typeface="Courier New" panose="02070309020205020404" pitchFamily="49" charset="0"/>
              <a:buChar char="o"/>
            </a:pPr>
            <a:r>
              <a:rPr lang="pt-BR" noProof="0" dirty="0"/>
              <a:t>Sua complexidade (número de parâmetros) aumenta à medida que os dados crescem</a:t>
            </a:r>
          </a:p>
          <a:p>
            <a:pPr lvl="2">
              <a:buFont typeface="Courier New" panose="02070309020205020404" pitchFamily="49" charset="0"/>
              <a:buChar char="o"/>
            </a:pPr>
            <a:r>
              <a:rPr lang="pt-BR" noProof="0" dirty="0"/>
              <a:t>Ou seja, a estrutura do modelo cresce dinamicamente</a:t>
            </a:r>
          </a:p>
          <a:p>
            <a:pPr lvl="1">
              <a:buFont typeface="Wingdings" panose="05000000000000000000" pitchFamily="2" charset="2"/>
              <a:buChar char="§"/>
            </a:pPr>
            <a:r>
              <a:rPr lang="pt-BR" noProof="0" dirty="0"/>
              <a:t>fazem </a:t>
            </a:r>
            <a:r>
              <a:rPr lang="pt-BR" b="1" noProof="0" dirty="0">
                <a:solidFill>
                  <a:schemeClr val="accent2"/>
                </a:solidFill>
              </a:rPr>
              <a:t>menos suposições fortes</a:t>
            </a:r>
            <a:r>
              <a:rPr lang="pt-BR" noProof="0" dirty="0"/>
              <a:t> sobre a distribuição dos dados.</a:t>
            </a:r>
          </a:p>
        </p:txBody>
      </p:sp>
      <p:pic>
        <p:nvPicPr>
          <p:cNvPr id="4"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76917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908430" y="1825624"/>
            <a:ext cx="6283569" cy="5032375"/>
          </a:xfrm>
        </p:spPr>
        <p:txBody>
          <a:bodyPr>
            <a:normAutofit/>
          </a:bodyPr>
          <a:lstStyle/>
          <a:p>
            <a:r>
              <a:rPr lang="pt-BR" dirty="0"/>
              <a:t>Os </a:t>
            </a:r>
            <a:r>
              <a:rPr lang="pt-BR" b="1" dirty="0">
                <a:solidFill>
                  <a:srgbClr val="00B050"/>
                </a:solidFill>
              </a:rPr>
              <a:t>parâmetros</a:t>
            </a:r>
            <a:r>
              <a:rPr lang="pt-BR" dirty="0"/>
              <a:t> são </a:t>
            </a:r>
            <a:r>
              <a:rPr lang="pt-BR" b="1" dirty="0">
                <a:solidFill>
                  <a:srgbClr val="00B050"/>
                </a:solidFill>
              </a:rPr>
              <a:t>criados</a:t>
            </a:r>
            <a:r>
              <a:rPr lang="pt-BR" dirty="0"/>
              <a:t> </a:t>
            </a:r>
            <a:r>
              <a:rPr lang="pt-BR" b="1" dirty="0">
                <a:solidFill>
                  <a:srgbClr val="00B050"/>
                </a:solidFill>
              </a:rPr>
              <a:t>durante o treinamento</a:t>
            </a:r>
            <a:r>
              <a:rPr lang="pt-BR" dirty="0"/>
              <a:t> para explicar os dados.</a:t>
            </a:r>
          </a:p>
          <a:p>
            <a:r>
              <a:rPr lang="pt-BR" dirty="0"/>
              <a:t>O </a:t>
            </a:r>
            <a:r>
              <a:rPr lang="pt-BR" b="1" dirty="0">
                <a:solidFill>
                  <a:schemeClr val="accent2"/>
                </a:solidFill>
              </a:rPr>
              <a:t>tamanho da árvore</a:t>
            </a:r>
            <a:r>
              <a:rPr lang="pt-BR" dirty="0"/>
              <a:t>, i.e., o número de parâmetros, tende a </a:t>
            </a:r>
            <a:r>
              <a:rPr lang="pt-BR" b="1" dirty="0">
                <a:solidFill>
                  <a:schemeClr val="accent2"/>
                </a:solidFill>
              </a:rPr>
              <a:t>crescer</a:t>
            </a:r>
            <a:r>
              <a:rPr lang="pt-BR" dirty="0"/>
              <a:t> com o </a:t>
            </a:r>
            <a:r>
              <a:rPr lang="pt-BR" b="1" dirty="0">
                <a:solidFill>
                  <a:schemeClr val="accent2"/>
                </a:solidFill>
              </a:rPr>
              <a:t>tamanho da base de dados</a:t>
            </a:r>
            <a:r>
              <a:rPr lang="pt-BR" dirty="0"/>
              <a:t>.</a:t>
            </a:r>
          </a:p>
          <a:p>
            <a:r>
              <a:rPr lang="pt-BR" dirty="0"/>
              <a:t>O </a:t>
            </a:r>
            <a:r>
              <a:rPr lang="pt-BR" b="1" dirty="0">
                <a:solidFill>
                  <a:srgbClr val="7030A0"/>
                </a:solidFill>
              </a:rPr>
              <a:t>número de parâmetros</a:t>
            </a:r>
            <a:r>
              <a:rPr lang="pt-BR" dirty="0"/>
              <a:t> </a:t>
            </a:r>
            <a:r>
              <a:rPr lang="pt-BR" b="1" dirty="0">
                <a:solidFill>
                  <a:srgbClr val="7030A0"/>
                </a:solidFill>
              </a:rPr>
              <a:t>não é determinado antes do treinamento</a:t>
            </a:r>
            <a:r>
              <a:rPr lang="pt-BR" dirty="0"/>
              <a:t>, de modo que a </a:t>
            </a:r>
            <a:r>
              <a:rPr lang="pt-BR" b="1" dirty="0">
                <a:solidFill>
                  <a:srgbClr val="7030A0"/>
                </a:solidFill>
              </a:rPr>
              <a:t>árvore é livre para se adaptar</a:t>
            </a:r>
            <a:r>
              <a:rPr lang="pt-BR" dirty="0"/>
              <a:t> aos dados de treinamento.</a:t>
            </a:r>
          </a:p>
        </p:txBody>
      </p:sp>
      <p:pic>
        <p:nvPicPr>
          <p:cNvPr id="4"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20288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não-linear?</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534526" y="1825624"/>
            <a:ext cx="6657474" cy="5032375"/>
          </a:xfrm>
        </p:spPr>
        <p:txBody>
          <a:bodyPr>
            <a:normAutofit/>
          </a:bodyPr>
          <a:lstStyle/>
          <a:p>
            <a:r>
              <a:rPr lang="pt-BR" dirty="0"/>
              <a:t>As </a:t>
            </a:r>
            <a:r>
              <a:rPr lang="pt-BR" b="1" dirty="0">
                <a:solidFill>
                  <a:srgbClr val="7030A0"/>
                </a:solidFill>
              </a:rPr>
              <a:t>funções aproximadora e discriminante são funções não-lineares</a:t>
            </a:r>
            <a:r>
              <a:rPr lang="pt-BR" dirty="0"/>
              <a:t>, i.e., os dados </a:t>
            </a:r>
            <a:r>
              <a:rPr lang="pt-BR" b="1" dirty="0">
                <a:solidFill>
                  <a:schemeClr val="accent2"/>
                </a:solidFill>
              </a:rPr>
              <a:t>não são </a:t>
            </a:r>
            <a:r>
              <a:rPr lang="pt-BR" dirty="0"/>
              <a:t>aproximados ou separados por </a:t>
            </a:r>
            <a:r>
              <a:rPr lang="pt-BR" b="1" dirty="0">
                <a:solidFill>
                  <a:schemeClr val="accent2"/>
                </a:solidFill>
              </a:rPr>
              <a:t>hiperplanos</a:t>
            </a:r>
            <a:r>
              <a:rPr lang="pt-BR" dirty="0"/>
              <a:t>.</a:t>
            </a:r>
          </a:p>
          <a:p>
            <a:r>
              <a:rPr lang="pt-BR" dirty="0"/>
              <a:t>Cada nó faz um “</a:t>
            </a:r>
            <a:r>
              <a:rPr lang="pt-BR" b="1" dirty="0">
                <a:solidFill>
                  <a:srgbClr val="00B050"/>
                </a:solidFill>
              </a:rPr>
              <a:t>corte” no espaço de atributos</a:t>
            </a:r>
            <a:r>
              <a:rPr lang="pt-BR" dirty="0"/>
              <a:t>.</a:t>
            </a:r>
          </a:p>
          <a:p>
            <a:pPr lvl="1">
              <a:buFont typeface="Wingdings" panose="05000000000000000000" pitchFamily="2" charset="2"/>
              <a:buChar char="§"/>
            </a:pPr>
            <a:r>
              <a:rPr lang="pt-BR" dirty="0"/>
              <a:t>Os cortes são </a:t>
            </a:r>
            <a:r>
              <a:rPr lang="pt-BR" b="1" dirty="0">
                <a:solidFill>
                  <a:srgbClr val="00B050"/>
                </a:solidFill>
              </a:rPr>
              <a:t>paralelos aos eixos </a:t>
            </a:r>
            <a:r>
              <a:rPr lang="pt-BR" dirty="0"/>
              <a:t>do espaço de atributos.</a:t>
            </a:r>
          </a:p>
          <a:p>
            <a:r>
              <a:rPr lang="pt-BR" dirty="0"/>
              <a:t>A </a:t>
            </a:r>
            <a:r>
              <a:rPr lang="pt-BR" b="1" dirty="0">
                <a:solidFill>
                  <a:srgbClr val="0070C0"/>
                </a:solidFill>
              </a:rPr>
              <a:t>combinação</a:t>
            </a:r>
            <a:r>
              <a:rPr lang="pt-BR" dirty="0"/>
              <a:t> desses cortes </a:t>
            </a:r>
            <a:r>
              <a:rPr lang="pt-BR" b="1" dirty="0">
                <a:solidFill>
                  <a:srgbClr val="0070C0"/>
                </a:solidFill>
              </a:rPr>
              <a:t>gera uma função</a:t>
            </a:r>
            <a:r>
              <a:rPr lang="pt-BR" dirty="0"/>
              <a:t> altamente </a:t>
            </a:r>
            <a:r>
              <a:rPr lang="pt-BR" b="1" dirty="0">
                <a:solidFill>
                  <a:srgbClr val="0070C0"/>
                </a:solidFill>
              </a:rPr>
              <a:t>não-linear</a:t>
            </a:r>
            <a:r>
              <a:rPr lang="pt-BR" dirty="0"/>
              <a:t>, conforme mostrado na figura ao lado.</a:t>
            </a:r>
          </a:p>
          <a:p>
            <a:pPr marL="0" indent="0">
              <a:buNone/>
            </a:pPr>
            <a:endParaRPr lang="pt-BR" dirty="0"/>
          </a:p>
        </p:txBody>
      </p:sp>
      <p:pic>
        <p:nvPicPr>
          <p:cNvPr id="1027" name="Picture 3">
            <a:extLst>
              <a:ext uri="{FF2B5EF4-FFF2-40B4-BE49-F238E27FC236}">
                <a16:creationId xmlns:a16="http://schemas.microsoft.com/office/drawing/2014/main" id="{06FD5E89-F237-38A6-CEE4-579AD45E9A7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62" t="12220" r="40198" b="5835"/>
          <a:stretch>
            <a:fillRect/>
          </a:stretch>
        </p:blipFill>
        <p:spPr bwMode="auto">
          <a:xfrm>
            <a:off x="476208" y="2233945"/>
            <a:ext cx="4620293" cy="35011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2134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95DB4D16-CBEC-519C-9CF5-A326098DA2F8}"/>
              </a:ext>
            </a:extLst>
          </p:cNvPr>
          <p:cNvSpPr>
            <a:spLocks noGrp="1"/>
          </p:cNvSpPr>
          <p:nvPr>
            <p:ph idx="1"/>
          </p:nvPr>
        </p:nvSpPr>
        <p:spPr>
          <a:xfrm>
            <a:off x="838200" y="2477843"/>
            <a:ext cx="10515600" cy="1902313"/>
          </a:xfrm>
        </p:spPr>
        <p:txBody>
          <a:bodyPr>
            <a:normAutofit/>
          </a:bodyPr>
          <a:lstStyle/>
          <a:p>
            <a:pPr marL="0" indent="0" algn="ctr">
              <a:buNone/>
            </a:pPr>
            <a:r>
              <a:rPr lang="pt-BR" sz="6000" dirty="0"/>
              <a:t>Qual o objetivo de uma árvore de decisão?</a:t>
            </a:r>
            <a:endParaRPr lang="en-US" sz="6000" dirty="0"/>
          </a:p>
        </p:txBody>
      </p:sp>
    </p:spTree>
    <p:extLst>
      <p:ext uri="{BB962C8B-B14F-4D97-AF65-F5344CB8AC3E}">
        <p14:creationId xmlns:p14="http://schemas.microsoft.com/office/powerpoint/2010/main" val="2847721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253241" y="1825624"/>
            <a:ext cx="6938759" cy="5032376"/>
          </a:xfrm>
        </p:spPr>
        <p:txBody>
          <a:bodyPr>
            <a:normAutofit lnSpcReduction="10000"/>
          </a:bodyPr>
          <a:lstStyle/>
          <a:p>
            <a:r>
              <a:rPr lang="pt-BR" dirty="0"/>
              <a:t>O objetivo é criar um modelo que realize predições aprendendo </a:t>
            </a:r>
            <a:r>
              <a:rPr lang="pt-BR" b="1" dirty="0">
                <a:solidFill>
                  <a:srgbClr val="00B050"/>
                </a:solidFill>
              </a:rPr>
              <a:t>regras simples de decisão</a:t>
            </a:r>
            <a:r>
              <a:rPr lang="pt-BR" dirty="0"/>
              <a:t> </a:t>
            </a:r>
            <a:r>
              <a:rPr lang="pt-BR" b="1" dirty="0">
                <a:solidFill>
                  <a:schemeClr val="accent2"/>
                </a:solidFill>
              </a:rPr>
              <a:t>inferidas</a:t>
            </a:r>
            <a:r>
              <a:rPr lang="pt-BR" dirty="0"/>
              <a:t> a partir dos </a:t>
            </a:r>
            <a:r>
              <a:rPr lang="pt-BR" b="1" dirty="0">
                <a:solidFill>
                  <a:srgbClr val="7030A0"/>
                </a:solidFill>
              </a:rPr>
              <a:t>atributos do conjunto de treinamento</a:t>
            </a:r>
            <a:r>
              <a:rPr lang="pt-BR" dirty="0"/>
              <a:t>.</a:t>
            </a:r>
          </a:p>
          <a:p>
            <a:r>
              <a:rPr lang="pt-BR" dirty="0"/>
              <a:t>As árvores são compostas por</a:t>
            </a:r>
          </a:p>
          <a:p>
            <a:pPr lvl="1">
              <a:buFont typeface="Wingdings" panose="05000000000000000000" pitchFamily="2" charset="2"/>
              <a:buChar char="§"/>
            </a:pPr>
            <a:r>
              <a:rPr lang="pt-BR" dirty="0"/>
              <a:t>um nó raiz: </a:t>
            </a:r>
            <a:r>
              <a:rPr lang="en-US" b="1" dirty="0" err="1">
                <a:solidFill>
                  <a:schemeClr val="accent2"/>
                </a:solidFill>
              </a:rPr>
              <a:t>primeiro</a:t>
            </a:r>
            <a:r>
              <a:rPr lang="en-US" b="1" dirty="0">
                <a:solidFill>
                  <a:schemeClr val="accent2"/>
                </a:solidFill>
              </a:rPr>
              <a:t> </a:t>
            </a:r>
            <a:r>
              <a:rPr lang="en-US" b="1" dirty="0" err="1">
                <a:solidFill>
                  <a:schemeClr val="accent2"/>
                </a:solidFill>
              </a:rPr>
              <a:t>nó</a:t>
            </a:r>
            <a:r>
              <a:rPr lang="en-US" b="1" dirty="0">
                <a:solidFill>
                  <a:schemeClr val="accent2"/>
                </a:solidFill>
              </a:rPr>
              <a:t> da </a:t>
            </a:r>
            <a:r>
              <a:rPr lang="en-US" b="1" dirty="0" err="1">
                <a:solidFill>
                  <a:schemeClr val="accent2"/>
                </a:solidFill>
              </a:rPr>
              <a:t>árvore</a:t>
            </a:r>
            <a:r>
              <a:rPr lang="en-US" dirty="0"/>
              <a:t>.</a:t>
            </a:r>
          </a:p>
          <a:p>
            <a:pPr lvl="2">
              <a:buFont typeface="Courier New" panose="02070309020205020404" pitchFamily="49" charset="0"/>
              <a:buChar char="o"/>
            </a:pPr>
            <a:r>
              <a:rPr lang="pt-BR" dirty="0"/>
              <a:t>realiza a </a:t>
            </a:r>
            <a:r>
              <a:rPr lang="pt-BR" b="1" dirty="0">
                <a:solidFill>
                  <a:srgbClr val="00B050"/>
                </a:solidFill>
              </a:rPr>
              <a:t>primeira divisão dos dados </a:t>
            </a:r>
            <a:r>
              <a:rPr lang="pt-BR" dirty="0"/>
              <a:t>(</a:t>
            </a:r>
            <a:r>
              <a:rPr lang="pt-BR" i="1" dirty="0"/>
              <a:t>split</a:t>
            </a:r>
            <a:r>
              <a:rPr lang="pt-BR" dirty="0"/>
              <a:t>)</a:t>
            </a:r>
          </a:p>
          <a:p>
            <a:pPr lvl="1">
              <a:buFont typeface="Wingdings" panose="05000000000000000000" pitchFamily="2" charset="2"/>
              <a:buChar char="§"/>
            </a:pPr>
            <a:r>
              <a:rPr lang="pt-BR" dirty="0"/>
              <a:t>nós de decisão</a:t>
            </a:r>
          </a:p>
          <a:p>
            <a:pPr lvl="2">
              <a:buFont typeface="Courier New" panose="02070309020205020404" pitchFamily="49" charset="0"/>
              <a:buChar char="o"/>
            </a:pPr>
            <a:r>
              <a:rPr lang="en-US" dirty="0" err="1"/>
              <a:t>representam</a:t>
            </a:r>
            <a:r>
              <a:rPr lang="en-US" dirty="0"/>
              <a:t> </a:t>
            </a:r>
            <a:r>
              <a:rPr lang="en-US" b="1" dirty="0">
                <a:solidFill>
                  <a:srgbClr val="00B050"/>
                </a:solidFill>
              </a:rPr>
              <a:t>testes/</a:t>
            </a:r>
            <a:r>
              <a:rPr lang="en-US" b="1" dirty="0" err="1">
                <a:solidFill>
                  <a:srgbClr val="00B050"/>
                </a:solidFill>
              </a:rPr>
              <a:t>condições</a:t>
            </a:r>
            <a:endParaRPr lang="en-US" b="1" dirty="0">
              <a:solidFill>
                <a:srgbClr val="00B050"/>
              </a:solidFill>
            </a:endParaRPr>
          </a:p>
          <a:p>
            <a:pPr lvl="2">
              <a:buFont typeface="Courier New" panose="02070309020205020404" pitchFamily="49" charset="0"/>
              <a:buChar char="o"/>
            </a:pPr>
            <a:r>
              <a:rPr lang="pt-BR" b="1" dirty="0">
                <a:solidFill>
                  <a:srgbClr val="00B050"/>
                </a:solidFill>
              </a:rPr>
              <a:t>dividem os dados em subconjuntos</a:t>
            </a:r>
            <a:r>
              <a:rPr lang="pt-BR" dirty="0"/>
              <a:t> menores</a:t>
            </a:r>
          </a:p>
          <a:p>
            <a:pPr lvl="1">
              <a:buFont typeface="Wingdings" panose="05000000000000000000" pitchFamily="2" charset="2"/>
              <a:buChar char="§"/>
            </a:pPr>
            <a:r>
              <a:rPr lang="pt-BR" dirty="0"/>
              <a:t>ramificações</a:t>
            </a:r>
          </a:p>
          <a:p>
            <a:pPr lvl="2">
              <a:buFont typeface="Courier New" panose="02070309020205020404" pitchFamily="49" charset="0"/>
              <a:buChar char="o"/>
            </a:pPr>
            <a:r>
              <a:rPr lang="pt-BR" dirty="0"/>
              <a:t>representam o </a:t>
            </a:r>
            <a:r>
              <a:rPr lang="pt-BR" b="1" dirty="0">
                <a:solidFill>
                  <a:srgbClr val="00B050"/>
                </a:solidFill>
              </a:rPr>
              <a:t>resultado de uma condição</a:t>
            </a:r>
          </a:p>
          <a:p>
            <a:pPr lvl="1">
              <a:buFont typeface="Wingdings" panose="05000000000000000000" pitchFamily="2" charset="2"/>
              <a:buChar char="§"/>
            </a:pPr>
            <a:r>
              <a:rPr lang="pt-BR" dirty="0"/>
              <a:t>e (nós) folhas</a:t>
            </a:r>
          </a:p>
          <a:p>
            <a:pPr lvl="2">
              <a:buFont typeface="Courier New" panose="02070309020205020404" pitchFamily="49" charset="0"/>
              <a:buChar char="o"/>
            </a:pPr>
            <a:r>
              <a:rPr lang="pt-BR" dirty="0"/>
              <a:t>representam a </a:t>
            </a:r>
            <a:r>
              <a:rPr lang="pt-BR" b="1" dirty="0">
                <a:solidFill>
                  <a:srgbClr val="00B050"/>
                </a:solidFill>
              </a:rPr>
              <a:t>predição final</a:t>
            </a:r>
          </a:p>
        </p:txBody>
      </p:sp>
      <p:grpSp>
        <p:nvGrpSpPr>
          <p:cNvPr id="18" name="Agrupar 17">
            <a:extLst>
              <a:ext uri="{FF2B5EF4-FFF2-40B4-BE49-F238E27FC236}">
                <a16:creationId xmlns:a16="http://schemas.microsoft.com/office/drawing/2014/main" id="{030A68DD-FD1B-ABCA-7216-39A98E33EE4B}"/>
              </a:ext>
            </a:extLst>
          </p:cNvPr>
          <p:cNvGrpSpPr/>
          <p:nvPr/>
        </p:nvGrpSpPr>
        <p:grpSpPr>
          <a:xfrm>
            <a:off x="-211042" y="2127157"/>
            <a:ext cx="5454236" cy="3863217"/>
            <a:chOff x="100456" y="2157302"/>
            <a:chExt cx="5454236" cy="3863217"/>
          </a:xfrm>
        </p:grpSpPr>
        <p:pic>
          <p:nvPicPr>
            <p:cNvPr id="10" name="Imagem 9" descr="DECISION TREE. What is a Decision Tree? | by Vanshika Mishra | Medium">
              <a:extLst>
                <a:ext uri="{FF2B5EF4-FFF2-40B4-BE49-F238E27FC236}">
                  <a16:creationId xmlns:a16="http://schemas.microsoft.com/office/drawing/2014/main" id="{CDE00997-335E-6514-48F8-4515FE54C64B}"/>
                </a:ext>
              </a:extLst>
            </p:cNvPr>
            <p:cNvPicPr>
              <a:picLocks noChangeAspect="1"/>
            </p:cNvPicPr>
            <p:nvPr/>
          </p:nvPicPr>
          <p:blipFill>
            <a:blip r:embed="rId3"/>
            <a:stretch>
              <a:fillRect/>
            </a:stretch>
          </p:blipFill>
          <p:spPr>
            <a:xfrm>
              <a:off x="472139" y="2371246"/>
              <a:ext cx="5082553" cy="3649273"/>
            </a:xfrm>
            <a:prstGeom prst="rect">
              <a:avLst/>
            </a:prstGeom>
          </p:spPr>
        </p:pic>
        <p:sp>
          <p:nvSpPr>
            <p:cNvPr id="12" name="CaixaDeTexto 11">
              <a:extLst>
                <a:ext uri="{FF2B5EF4-FFF2-40B4-BE49-F238E27FC236}">
                  <a16:creationId xmlns:a16="http://schemas.microsoft.com/office/drawing/2014/main" id="{A1FC081E-41A1-F9E4-5070-942EEE2F3C31}"/>
                </a:ext>
              </a:extLst>
            </p:cNvPr>
            <p:cNvSpPr txBox="1"/>
            <p:nvPr/>
          </p:nvSpPr>
          <p:spPr>
            <a:xfrm>
              <a:off x="100456" y="2434301"/>
              <a:ext cx="1400539" cy="276999"/>
            </a:xfrm>
            <a:prstGeom prst="rect">
              <a:avLst/>
            </a:prstGeom>
            <a:noFill/>
          </p:spPr>
          <p:txBody>
            <a:bodyPr wrap="square" rtlCol="0">
              <a:spAutoFit/>
            </a:bodyPr>
            <a:lstStyle/>
            <a:p>
              <a:pPr algn="ctr"/>
              <a:r>
                <a:rPr lang="pt-BR" sz="1200" dirty="0"/>
                <a:t>ramificação</a:t>
              </a:r>
            </a:p>
          </p:txBody>
        </p:sp>
        <p:sp>
          <p:nvSpPr>
            <p:cNvPr id="14" name="CaixaDeTexto 13">
              <a:extLst>
                <a:ext uri="{FF2B5EF4-FFF2-40B4-BE49-F238E27FC236}">
                  <a16:creationId xmlns:a16="http://schemas.microsoft.com/office/drawing/2014/main" id="{70B2D665-5EC1-D0F9-2708-A5727D450CEF}"/>
                </a:ext>
              </a:extLst>
            </p:cNvPr>
            <p:cNvSpPr txBox="1"/>
            <p:nvPr/>
          </p:nvSpPr>
          <p:spPr>
            <a:xfrm>
              <a:off x="2529851" y="2157302"/>
              <a:ext cx="1016729" cy="276999"/>
            </a:xfrm>
            <a:prstGeom prst="rect">
              <a:avLst/>
            </a:prstGeom>
            <a:noFill/>
          </p:spPr>
          <p:txBody>
            <a:bodyPr wrap="square" rtlCol="0">
              <a:spAutoFit/>
            </a:bodyPr>
            <a:lstStyle/>
            <a:p>
              <a:pPr algn="ctr"/>
              <a:r>
                <a:rPr lang="pt-BR" sz="1200" dirty="0"/>
                <a:t>Nó raiz</a:t>
              </a:r>
            </a:p>
          </p:txBody>
        </p:sp>
        <p:sp>
          <p:nvSpPr>
            <p:cNvPr id="16" name="CaixaDeTexto 15">
              <a:extLst>
                <a:ext uri="{FF2B5EF4-FFF2-40B4-BE49-F238E27FC236}">
                  <a16:creationId xmlns:a16="http://schemas.microsoft.com/office/drawing/2014/main" id="{A5D66DA8-19F3-492D-DDCB-7D5D95EDD323}"/>
                </a:ext>
              </a:extLst>
            </p:cNvPr>
            <p:cNvSpPr txBox="1"/>
            <p:nvPr/>
          </p:nvSpPr>
          <p:spPr>
            <a:xfrm>
              <a:off x="472139" y="3206798"/>
              <a:ext cx="1400539" cy="276999"/>
            </a:xfrm>
            <a:prstGeom prst="rect">
              <a:avLst/>
            </a:prstGeom>
            <a:noFill/>
          </p:spPr>
          <p:txBody>
            <a:bodyPr wrap="square" rtlCol="0">
              <a:spAutoFit/>
            </a:bodyPr>
            <a:lstStyle/>
            <a:p>
              <a:pPr algn="ctr"/>
              <a:r>
                <a:rPr lang="pt-BR" sz="1200" dirty="0"/>
                <a:t>Nó de decisão</a:t>
              </a:r>
            </a:p>
          </p:txBody>
        </p:sp>
        <p:sp>
          <p:nvSpPr>
            <p:cNvPr id="17" name="CaixaDeTexto 16">
              <a:extLst>
                <a:ext uri="{FF2B5EF4-FFF2-40B4-BE49-F238E27FC236}">
                  <a16:creationId xmlns:a16="http://schemas.microsoft.com/office/drawing/2014/main" id="{0D635674-ECCA-95F3-416C-B9786F33D7F1}"/>
                </a:ext>
              </a:extLst>
            </p:cNvPr>
            <p:cNvSpPr txBox="1"/>
            <p:nvPr/>
          </p:nvSpPr>
          <p:spPr>
            <a:xfrm>
              <a:off x="2832977" y="5213675"/>
              <a:ext cx="1016729" cy="276999"/>
            </a:xfrm>
            <a:prstGeom prst="rect">
              <a:avLst/>
            </a:prstGeom>
            <a:noFill/>
          </p:spPr>
          <p:txBody>
            <a:bodyPr wrap="square" rtlCol="0">
              <a:spAutoFit/>
            </a:bodyPr>
            <a:lstStyle/>
            <a:p>
              <a:pPr algn="ctr"/>
              <a:r>
                <a:rPr lang="pt-BR" sz="1200" dirty="0"/>
                <a:t>folha</a:t>
              </a:r>
            </a:p>
          </p:txBody>
        </p:sp>
      </p:grpSp>
    </p:spTree>
    <p:extLst>
      <p:ext uri="{BB962C8B-B14F-4D97-AF65-F5344CB8AC3E}">
        <p14:creationId xmlns:p14="http://schemas.microsoft.com/office/powerpoint/2010/main" val="3003317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C61E2-C9D9-4579-F948-99A2D5BE73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721F01-9B60-CE83-1A1E-B8A9ECB604FD}"/>
              </a:ext>
            </a:extLst>
          </p:cNvPr>
          <p:cNvSpPr>
            <a:spLocks noGrp="1"/>
          </p:cNvSpPr>
          <p:nvPr>
            <p:ph type="title"/>
          </p:nvPr>
        </p:nvSpPr>
        <p:spPr/>
        <p:txBody>
          <a:bodyPr/>
          <a:lstStyle/>
          <a:p>
            <a:r>
              <a:rPr lang="pt-BR" dirty="0"/>
              <a:t>Árvores de decisão</a:t>
            </a:r>
          </a:p>
        </p:txBody>
      </p:sp>
      <p:sp>
        <p:nvSpPr>
          <p:cNvPr id="3" name="Content Placeholder 2">
            <a:extLst>
              <a:ext uri="{FF2B5EF4-FFF2-40B4-BE49-F238E27FC236}">
                <a16:creationId xmlns:a16="http://schemas.microsoft.com/office/drawing/2014/main" id="{1896005C-B1E7-4590-24A9-D43FCF96F44C}"/>
              </a:ext>
            </a:extLst>
          </p:cNvPr>
          <p:cNvSpPr>
            <a:spLocks noGrp="1"/>
          </p:cNvSpPr>
          <p:nvPr>
            <p:ph idx="1"/>
          </p:nvPr>
        </p:nvSpPr>
        <p:spPr>
          <a:xfrm>
            <a:off x="6008914" y="1825624"/>
            <a:ext cx="6183086" cy="5032376"/>
          </a:xfrm>
        </p:spPr>
        <p:txBody>
          <a:bodyPr>
            <a:normAutofit/>
          </a:bodyPr>
          <a:lstStyle/>
          <a:p>
            <a:r>
              <a:rPr lang="pt-BR" dirty="0"/>
              <a:t>As </a:t>
            </a:r>
            <a:r>
              <a:rPr lang="pt-BR" b="1" dirty="0"/>
              <a:t>árvores de decisão </a:t>
            </a:r>
            <a:r>
              <a:rPr lang="pt-BR" dirty="0"/>
              <a:t>são os componentes fundamentais das </a:t>
            </a:r>
            <a:r>
              <a:rPr lang="pt-BR" b="1" dirty="0">
                <a:solidFill>
                  <a:srgbClr val="00B050"/>
                </a:solidFill>
              </a:rPr>
              <a:t>florestas aleatórias</a:t>
            </a:r>
            <a:r>
              <a:rPr lang="pt-BR" dirty="0"/>
              <a:t> (do inglês, </a:t>
            </a:r>
            <a:r>
              <a:rPr lang="pt-BR" b="1" i="1" dirty="0" err="1"/>
              <a:t>random</a:t>
            </a:r>
            <a:r>
              <a:rPr lang="pt-BR" b="1" i="1" dirty="0"/>
              <a:t> </a:t>
            </a:r>
            <a:r>
              <a:rPr lang="pt-BR" b="1" i="1" dirty="0" err="1"/>
              <a:t>forests</a:t>
            </a:r>
            <a:r>
              <a:rPr lang="pt-BR" dirty="0"/>
              <a:t>) que estão entre os </a:t>
            </a:r>
            <a:r>
              <a:rPr lang="pt-BR" b="1" dirty="0">
                <a:solidFill>
                  <a:schemeClr val="accent2"/>
                </a:solidFill>
              </a:rPr>
              <a:t>algoritmos mais robustos e populares</a:t>
            </a:r>
            <a:r>
              <a:rPr lang="pt-BR" dirty="0"/>
              <a:t> para </a:t>
            </a:r>
            <a:r>
              <a:rPr lang="pt-BR" b="1" dirty="0">
                <a:solidFill>
                  <a:schemeClr val="accent2"/>
                </a:solidFill>
              </a:rPr>
              <a:t>dados tabulares</a:t>
            </a:r>
            <a:r>
              <a:rPr lang="pt-BR" dirty="0"/>
              <a:t>.</a:t>
            </a:r>
          </a:p>
          <a:p>
            <a:r>
              <a:rPr lang="pt-BR" b="1" dirty="0">
                <a:solidFill>
                  <a:srgbClr val="7030A0"/>
                </a:solidFill>
              </a:rPr>
              <a:t>Florestas aleatórias</a:t>
            </a:r>
            <a:r>
              <a:rPr lang="pt-BR" dirty="0"/>
              <a:t> são compostas por </a:t>
            </a:r>
            <a:r>
              <a:rPr lang="pt-BR" b="1" dirty="0">
                <a:solidFill>
                  <a:srgbClr val="00B050"/>
                </a:solidFill>
              </a:rPr>
              <a:t>várias pequenas árvores</a:t>
            </a:r>
            <a:r>
              <a:rPr lang="pt-BR" dirty="0"/>
              <a:t> treinadas com subconjuntos aleatórios dos dados. </a:t>
            </a:r>
          </a:p>
          <a:p>
            <a:r>
              <a:rPr lang="pt-BR" dirty="0"/>
              <a:t>As </a:t>
            </a:r>
            <a:r>
              <a:rPr lang="pt-BR" b="1" dirty="0">
                <a:solidFill>
                  <a:schemeClr val="accent5"/>
                </a:solidFill>
              </a:rPr>
              <a:t>predições combinam suas respostas </a:t>
            </a:r>
            <a:r>
              <a:rPr lang="pt-BR" dirty="0"/>
              <a:t>através de </a:t>
            </a:r>
            <a:r>
              <a:rPr lang="pt-BR" b="1" dirty="0">
                <a:solidFill>
                  <a:schemeClr val="accent5"/>
                </a:solidFill>
              </a:rPr>
              <a:t>média</a:t>
            </a:r>
            <a:r>
              <a:rPr lang="pt-BR" dirty="0"/>
              <a:t> (regressão) ou </a:t>
            </a:r>
            <a:r>
              <a:rPr lang="pt-BR" b="1" dirty="0">
                <a:solidFill>
                  <a:schemeClr val="accent5"/>
                </a:solidFill>
              </a:rPr>
              <a:t>votação</a:t>
            </a:r>
            <a:r>
              <a:rPr lang="pt-BR" dirty="0"/>
              <a:t> (classificação).</a:t>
            </a:r>
          </a:p>
        </p:txBody>
      </p:sp>
      <p:pic>
        <p:nvPicPr>
          <p:cNvPr id="10" name="Imagem 9" descr="Decision Tree vs Random Forest | Which Is Right for You?">
            <a:extLst>
              <a:ext uri="{FF2B5EF4-FFF2-40B4-BE49-F238E27FC236}">
                <a16:creationId xmlns:a16="http://schemas.microsoft.com/office/drawing/2014/main" id="{1DAD4555-E873-D48B-2822-9CA7FFE514A3}"/>
              </a:ext>
            </a:extLst>
          </p:cNvPr>
          <p:cNvPicPr>
            <a:picLocks noChangeAspect="1"/>
          </p:cNvPicPr>
          <p:nvPr/>
        </p:nvPicPr>
        <p:blipFill>
          <a:blip r:embed="rId3"/>
          <a:stretch>
            <a:fillRect/>
          </a:stretch>
        </p:blipFill>
        <p:spPr>
          <a:xfrm>
            <a:off x="99788" y="2130251"/>
            <a:ext cx="5746446" cy="3893004"/>
          </a:xfrm>
          <a:prstGeom prst="rect">
            <a:avLst/>
          </a:prstGeom>
        </p:spPr>
      </p:pic>
    </p:spTree>
    <p:extLst>
      <p:ext uri="{BB962C8B-B14F-4D97-AF65-F5344CB8AC3E}">
        <p14:creationId xmlns:p14="http://schemas.microsoft.com/office/powerpoint/2010/main" val="7717948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Formalmente, uma árvore é um </a:t>
            </a:r>
            <a:r>
              <a:rPr lang="pt-BR" b="1" dirty="0">
                <a:solidFill>
                  <a:srgbClr val="7030A0"/>
                </a:solidFill>
              </a:rPr>
              <a:t>grafo não-direcionado</a:t>
            </a:r>
            <a:r>
              <a:rPr lang="pt-BR" b="1" dirty="0"/>
              <a:t> </a:t>
            </a:r>
            <a:r>
              <a:rPr lang="pt-BR" dirty="0"/>
              <a:t>no qual dois </a:t>
            </a:r>
            <a:r>
              <a:rPr lang="pt-BR" b="1" dirty="0"/>
              <a:t>vértices</a:t>
            </a:r>
            <a:r>
              <a:rPr lang="pt-BR" dirty="0"/>
              <a:t> quaisquer se conectam por um único caminho (ou seja, um </a:t>
            </a:r>
            <a:r>
              <a:rPr lang="pt-BR" b="1" dirty="0"/>
              <a:t>grafo acíclico não-direcionado</a:t>
            </a:r>
            <a:r>
              <a:rPr lang="pt-BR" dirty="0"/>
              <a:t>).</a:t>
            </a:r>
          </a:p>
          <a:p>
            <a:pPr lvl="1">
              <a:buFont typeface="Wingdings" panose="05000000000000000000" pitchFamily="2" charset="2"/>
              <a:buChar char="§"/>
            </a:pPr>
            <a:r>
              <a:rPr lang="pt-BR" sz="2400" b="0" i="0" kern="1200" dirty="0">
                <a:solidFill>
                  <a:schemeClr val="tx1"/>
                </a:solidFill>
                <a:effectLst/>
                <a:latin typeface="+mn-lt"/>
                <a:ea typeface="+mn-ea"/>
                <a:cs typeface="+mn-cs"/>
              </a:rPr>
              <a:t>Um ciclo é um caminho em que o primeiro e o último vértice coincidem.</a:t>
            </a:r>
            <a:endParaRPr lang="pt-BR" dirty="0"/>
          </a:p>
          <a:p>
            <a:r>
              <a:rPr lang="pt-BR" dirty="0"/>
              <a:t>Por exemplo, na árvore ao lado, o vértice “Pássaro” só se conecta com o vértice “Mamífero” através do vértice “Bota ovo?” e não existe um caminho que termine no mesmo vértice de início.</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00018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dirty="0"/>
              <a:t>A árvore possui um </a:t>
            </a:r>
            <a:r>
              <a:rPr lang="pt-BR" b="1" dirty="0"/>
              <a:t>nó raiz</a:t>
            </a:r>
            <a:r>
              <a:rPr lang="pt-BR" dirty="0"/>
              <a:t>, do qual </a:t>
            </a:r>
            <a:r>
              <a:rPr lang="pt-BR" b="1" dirty="0"/>
              <a:t>parte o processo de decisão</a:t>
            </a:r>
            <a:r>
              <a:rPr lang="pt-BR" dirty="0"/>
              <a:t>. </a:t>
            </a:r>
          </a:p>
          <a:p>
            <a:r>
              <a:rPr lang="pt-BR" dirty="0"/>
              <a:t>Nesse processo, </a:t>
            </a:r>
            <a:r>
              <a:rPr lang="pt-BR" b="1" dirty="0">
                <a:solidFill>
                  <a:schemeClr val="accent2"/>
                </a:solidFill>
              </a:rPr>
              <a:t>valores distintos dos atributos geram arestas</a:t>
            </a:r>
            <a:r>
              <a:rPr lang="pt-BR" dirty="0"/>
              <a:t> (i.e., </a:t>
            </a:r>
            <a:r>
              <a:rPr lang="pt-BR" b="1" dirty="0">
                <a:solidFill>
                  <a:srgbClr val="00B050"/>
                </a:solidFill>
              </a:rPr>
              <a:t>ramificações</a:t>
            </a:r>
            <a:r>
              <a:rPr lang="pt-BR" dirty="0"/>
              <a:t>) e, quando se chega a um </a:t>
            </a:r>
            <a:r>
              <a:rPr lang="pt-BR" b="1" dirty="0">
                <a:solidFill>
                  <a:srgbClr val="7030A0"/>
                </a:solidFill>
              </a:rPr>
              <a:t>nó folha</a:t>
            </a:r>
            <a:r>
              <a:rPr lang="pt-BR" dirty="0"/>
              <a:t>, ocorre uma </a:t>
            </a:r>
            <a:r>
              <a:rPr lang="pt-BR" b="1" dirty="0">
                <a:solidFill>
                  <a:srgbClr val="7030A0"/>
                </a:solidFill>
              </a:rPr>
              <a:t>atribuição de uma classe ou valor</a:t>
            </a:r>
            <a:r>
              <a:rPr lang="pt-BR" dirty="0"/>
              <a:t>.</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93414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b="1" dirty="0"/>
              <a:t>Árvores de decisão </a:t>
            </a:r>
            <a:r>
              <a:rPr lang="pt-BR" dirty="0"/>
              <a:t>são modelos de </a:t>
            </a:r>
            <a:r>
              <a:rPr lang="pt-BR" b="1" dirty="0">
                <a:solidFill>
                  <a:srgbClr val="00B050"/>
                </a:solidFill>
              </a:rPr>
              <a:t>caixa branca</a:t>
            </a:r>
            <a:r>
              <a:rPr lang="pt-BR" dirty="0"/>
              <a:t>, ou seja, é possível </a:t>
            </a:r>
            <a:r>
              <a:rPr lang="pt-BR" b="1" dirty="0">
                <a:solidFill>
                  <a:schemeClr val="accent2"/>
                </a:solidFill>
              </a:rPr>
              <a:t>entender e explicar facilmente como o modelo realiza a classificação ou regressão</a:t>
            </a:r>
            <a:r>
              <a:rPr lang="pt-BR" dirty="0"/>
              <a:t> baseando-se nos atributos.</a:t>
            </a:r>
          </a:p>
          <a:p>
            <a:r>
              <a:rPr lang="pt-BR" dirty="0"/>
              <a:t>Elas são o oposto dos modelos de </a:t>
            </a:r>
            <a:r>
              <a:rPr lang="pt-BR" b="1" dirty="0">
                <a:solidFill>
                  <a:srgbClr val="7030A0"/>
                </a:solidFill>
              </a:rPr>
              <a:t>caixa preta</a:t>
            </a:r>
            <a:r>
              <a:rPr lang="pt-BR" dirty="0"/>
              <a:t>, onde os resultados são difíceis de interpretar e </a:t>
            </a:r>
            <a:r>
              <a:rPr lang="pt-BR" b="1" dirty="0">
                <a:solidFill>
                  <a:srgbClr val="7030A0"/>
                </a:solidFill>
              </a:rPr>
              <a:t>não é fácil entender como os diferentes atributos interagem entre si para gerar a saída</a:t>
            </a:r>
            <a:r>
              <a:rPr lang="pt-BR" dirty="0"/>
              <a:t> (e.g., redes neurais artificiais).</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0003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A figura abaixo mostra uma árvore de decisão criada a partir de informações se jogadores jogarão tênis ou não dependendo dos valores dos atributos </a:t>
            </a:r>
            <a:r>
              <a:rPr lang="pt-BR" b="1" dirty="0"/>
              <a:t>Clima</a:t>
            </a:r>
            <a:r>
              <a:rPr lang="pt-BR" dirty="0"/>
              <a:t>, </a:t>
            </a:r>
            <a:r>
              <a:rPr lang="pt-BR" b="1" dirty="0"/>
              <a:t>Humidade</a:t>
            </a:r>
            <a:r>
              <a:rPr lang="pt-BR" dirty="0"/>
              <a:t> e </a:t>
            </a:r>
            <a:r>
              <a:rPr lang="pt-BR" b="1" dirty="0"/>
              <a:t>Vento</a:t>
            </a:r>
            <a:r>
              <a:rPr lang="pt-BR" dirty="0"/>
              <a:t>.</a:t>
            </a:r>
          </a:p>
          <a:p>
            <a:r>
              <a:rPr lang="pt-BR" dirty="0"/>
              <a:t>Cada </a:t>
            </a:r>
            <a:r>
              <a:rPr lang="pt-BR" b="1" dirty="0"/>
              <a:t>nó da árvore atua como um </a:t>
            </a:r>
            <a:r>
              <a:rPr lang="pt-BR" b="1" dirty="0">
                <a:solidFill>
                  <a:srgbClr val="00B0F0"/>
                </a:solidFill>
              </a:rPr>
              <a:t>caso de teste </a:t>
            </a:r>
            <a:r>
              <a:rPr lang="pt-BR" dirty="0"/>
              <a:t>para algum atributo, e cada extremidade, ou seja, uma terminação ou folha, corresponde a uma classe.</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21837403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Na figura, cada atributo leva a uma ramificação até que se atinja um nó folha, onde decide-se sobre jogar ou não.</a:t>
            </a:r>
          </a:p>
          <a:p>
            <a:r>
              <a:rPr lang="pt-BR" dirty="0"/>
              <a:t>O </a:t>
            </a:r>
            <a:r>
              <a:rPr lang="pt-BR" b="1" dirty="0">
                <a:solidFill>
                  <a:srgbClr val="00B050"/>
                </a:solidFill>
              </a:rPr>
              <a:t>uso da árvore para classificar padrões é direto</a:t>
            </a:r>
            <a:r>
              <a:rPr lang="pt-BR" dirty="0"/>
              <a:t>, mas é preciso responder uma questão crucial: </a:t>
            </a:r>
            <a:r>
              <a:rPr lang="pt-BR" b="1" dirty="0">
                <a:solidFill>
                  <a:srgbClr val="7030A0"/>
                </a:solidFill>
              </a:rPr>
              <a:t>como induzir uma árvore de decisão a partir dos dados de treinamento</a:t>
            </a:r>
            <a:r>
              <a:rPr lang="pt-BR" dirty="0">
                <a:solidFill>
                  <a:srgbClr val="7030A0"/>
                </a:solidFill>
              </a:rPr>
              <a:t>?</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3975784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Uma primeira abordagem para induzir uma árvore poderia ser </a:t>
            </a:r>
            <a:r>
              <a:rPr lang="pt-BR" b="1" dirty="0"/>
              <a:t>construir, </a:t>
            </a:r>
            <a:r>
              <a:rPr lang="pt-BR" b="1" dirty="0">
                <a:solidFill>
                  <a:schemeClr val="accent2"/>
                </a:solidFill>
              </a:rPr>
              <a:t>de maneira exaustiva</a:t>
            </a:r>
            <a:r>
              <a:rPr lang="pt-BR" dirty="0"/>
              <a:t>, todas as árvores </a:t>
            </a:r>
            <a:r>
              <a:rPr lang="pt-BR" b="1" dirty="0"/>
              <a:t>capazes de resolver o problema </a:t>
            </a:r>
            <a:r>
              <a:rPr lang="pt-BR" dirty="0"/>
              <a:t>da classificação ou regressão e </a:t>
            </a:r>
            <a:r>
              <a:rPr lang="pt-BR" b="1" dirty="0">
                <a:solidFill>
                  <a:schemeClr val="accent2"/>
                </a:solidFill>
              </a:rPr>
              <a:t>selecionar a mais simples</a:t>
            </a:r>
            <a:r>
              <a:rPr lang="pt-BR" b="1" dirty="0"/>
              <a:t> </a:t>
            </a:r>
            <a:r>
              <a:rPr lang="pt-BR" dirty="0"/>
              <a:t>(menos complexa) utilizando a </a:t>
            </a:r>
            <a:r>
              <a:rPr lang="pt-BR" b="1" dirty="0">
                <a:solidFill>
                  <a:srgbClr val="00B050"/>
                </a:solidFill>
              </a:rPr>
              <a:t>regra da Navalha de </a:t>
            </a:r>
            <a:r>
              <a:rPr lang="pt-BR" b="1" dirty="0" err="1">
                <a:solidFill>
                  <a:srgbClr val="00B050"/>
                </a:solidFill>
              </a:rPr>
              <a:t>Occam</a:t>
            </a:r>
            <a:r>
              <a:rPr lang="pt-BR" dirty="0"/>
              <a:t>. </a:t>
            </a:r>
          </a:p>
          <a:p>
            <a:r>
              <a:rPr lang="pt-BR" dirty="0"/>
              <a:t>Entretanto, essa abordagem pode ser computacionalmente muito custosa. </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6751512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Encontrar uma árvore de decisão ótima é um problema de </a:t>
            </a:r>
            <a:r>
              <a:rPr lang="pt-BR" b="1" dirty="0">
                <a:solidFill>
                  <a:srgbClr val="7030A0"/>
                </a:solidFill>
              </a:rPr>
              <a:t>tempo polinomial não-determinístico completo</a:t>
            </a:r>
            <a:r>
              <a:rPr lang="pt-BR" dirty="0"/>
              <a:t> (NP-completo).</a:t>
            </a:r>
          </a:p>
          <a:p>
            <a:r>
              <a:rPr lang="en-US" altLang="en-US" dirty="0"/>
              <a:t>São </a:t>
            </a:r>
            <a:r>
              <a:rPr lang="en-US" altLang="en-US" dirty="0" err="1"/>
              <a:t>problemas</a:t>
            </a:r>
            <a:r>
              <a:rPr lang="en-US" altLang="en-US" dirty="0"/>
              <a:t> </a:t>
            </a:r>
            <a:r>
              <a:rPr lang="pt-BR" dirty="0"/>
              <a:t>onde conferir uma solução é fácil, mas descobrir a resposta é extremamente difícil.</a:t>
            </a:r>
            <a:endParaRPr lang="en-US" altLang="en-US" dirty="0"/>
          </a:p>
          <a:p>
            <a:r>
              <a:rPr lang="en-US" altLang="en-US" dirty="0" err="1"/>
              <a:t>Exemplo</a:t>
            </a:r>
            <a:r>
              <a:rPr lang="en-US" altLang="en-US" dirty="0"/>
              <a:t>: O </a:t>
            </a:r>
            <a:r>
              <a:rPr lang="en-US" altLang="en-US" dirty="0" err="1"/>
              <a:t>problema</a:t>
            </a:r>
            <a:r>
              <a:rPr lang="en-US" altLang="en-US" dirty="0"/>
              <a:t> do </a:t>
            </a:r>
            <a:r>
              <a:rPr lang="en-US" altLang="en-US" dirty="0" err="1"/>
              <a:t>caixeiro</a:t>
            </a:r>
            <a:r>
              <a:rPr lang="en-US" altLang="en-US" dirty="0"/>
              <a:t> </a:t>
            </a:r>
            <a:r>
              <a:rPr lang="en-US" altLang="en-US" dirty="0" err="1"/>
              <a:t>viajante</a:t>
            </a:r>
            <a:r>
              <a:rPr lang="en-US" altLang="en-US" dirty="0"/>
              <a:t>.</a:t>
            </a:r>
          </a:p>
          <a:p>
            <a:pPr lvl="1">
              <a:buFont typeface="Wingdings" panose="05000000000000000000" pitchFamily="2" charset="2"/>
              <a:buChar char="§"/>
            </a:pPr>
            <a:r>
              <a:rPr lang="en-US" altLang="en-US" dirty="0" err="1"/>
              <a:t>Objetivo</a:t>
            </a:r>
            <a:r>
              <a:rPr lang="en-US" altLang="en-US" dirty="0"/>
              <a:t>: </a:t>
            </a:r>
            <a:r>
              <a:rPr lang="pt-BR" dirty="0"/>
              <a:t>Encontrar o </a:t>
            </a:r>
            <a:r>
              <a:rPr lang="pt-BR" b="1" dirty="0"/>
              <a:t>menor caminho que visite todas as cidades.</a:t>
            </a:r>
          </a:p>
          <a:p>
            <a:pPr lvl="2">
              <a:buFont typeface="Courier New" panose="02070309020205020404" pitchFamily="49" charset="0"/>
              <a:buChar char="o"/>
            </a:pPr>
            <a:r>
              <a:rPr lang="pt-BR" dirty="0"/>
              <a:t>Se alguém te dá um caminho: A → B → C → D → A</a:t>
            </a:r>
          </a:p>
          <a:p>
            <a:pPr lvl="3">
              <a:buFont typeface="Wingdings" panose="05000000000000000000" pitchFamily="2" charset="2"/>
              <a:buChar char="ü"/>
            </a:pPr>
            <a:r>
              <a:rPr lang="pt-BR" dirty="0"/>
              <a:t>Nós só precisamos somar as distâncias para conferir a solução (rápido).</a:t>
            </a:r>
          </a:p>
          <a:p>
            <a:pPr lvl="2">
              <a:buFont typeface="Courier New" panose="02070309020205020404" pitchFamily="49" charset="0"/>
              <a:buChar char="o"/>
            </a:pPr>
            <a:r>
              <a:rPr lang="pt-BR" altLang="en-US" dirty="0"/>
              <a:t>Mas encontrar o melhor caminho entre todos os possíveis:</a:t>
            </a:r>
          </a:p>
          <a:p>
            <a:pPr lvl="3">
              <a:buFont typeface="Wingdings" panose="05000000000000000000" pitchFamily="2" charset="2"/>
              <a:buChar char="ü"/>
            </a:pPr>
            <a:r>
              <a:rPr lang="pt-BR" altLang="en-US" dirty="0"/>
              <a:t>5 cidades → já são muitas combinações</a:t>
            </a:r>
          </a:p>
          <a:p>
            <a:pPr lvl="3">
              <a:buFont typeface="Wingdings" panose="05000000000000000000" pitchFamily="2" charset="2"/>
              <a:buChar char="ü"/>
            </a:pPr>
            <a:r>
              <a:rPr lang="pt-BR" altLang="en-US" dirty="0"/>
              <a:t>20 cidades → número gigantesco</a:t>
            </a:r>
          </a:p>
          <a:p>
            <a:pPr lvl="3">
              <a:buFont typeface="Wingdings" panose="05000000000000000000" pitchFamily="2" charset="2"/>
              <a:buChar char="ü"/>
            </a:pPr>
            <a:r>
              <a:rPr lang="pt-BR" altLang="en-US" dirty="0"/>
              <a:t>O problema cresce exponencialmente.</a:t>
            </a:r>
            <a:endParaRPr lang="en-US" altLang="en-US" dirty="0"/>
          </a:p>
        </p:txBody>
      </p:sp>
    </p:spTree>
    <p:extLst>
      <p:ext uri="{BB962C8B-B14F-4D97-AF65-F5344CB8AC3E}">
        <p14:creationId xmlns:p14="http://schemas.microsoft.com/office/powerpoint/2010/main" val="35861804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Como a indução de árvores é um problema NP-completo, em geral, usa-se </a:t>
            </a:r>
            <a:r>
              <a:rPr lang="pt-BR" b="1" dirty="0"/>
              <a:t>abordagens heurísticas </a:t>
            </a:r>
            <a:r>
              <a:rPr lang="pt-BR" dirty="0"/>
              <a:t>para induzir árvores de decisão. </a:t>
            </a:r>
          </a:p>
          <a:p>
            <a:r>
              <a:rPr lang="pt-BR" dirty="0"/>
              <a:t>Dentre as mais conhecidas podemos citar: </a:t>
            </a:r>
            <a:r>
              <a:rPr lang="pt-BR" b="1" dirty="0">
                <a:solidFill>
                  <a:srgbClr val="00B0F0"/>
                </a:solidFill>
              </a:rPr>
              <a:t>ID3</a:t>
            </a:r>
            <a:r>
              <a:rPr lang="pt-BR" dirty="0"/>
              <a:t>, C4.5, C5.0 e </a:t>
            </a:r>
            <a:r>
              <a:rPr lang="pt-BR" b="1" dirty="0">
                <a:solidFill>
                  <a:srgbClr val="7030A0"/>
                </a:solidFill>
              </a:rPr>
              <a:t>CART (</a:t>
            </a:r>
            <a:r>
              <a:rPr lang="pt-BR" b="1" dirty="0" err="1">
                <a:solidFill>
                  <a:srgbClr val="7030A0"/>
                </a:solidFill>
              </a:rPr>
              <a:t>scikit-learn</a:t>
            </a:r>
            <a:r>
              <a:rPr lang="pt-BR" b="1" dirty="0">
                <a:solidFill>
                  <a:srgbClr val="7030A0"/>
                </a:solidFill>
              </a:rPr>
              <a:t>)</a:t>
            </a:r>
            <a:r>
              <a:rPr lang="pt-BR" dirty="0"/>
              <a:t>.</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4191030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Um dos métodos </a:t>
            </a:r>
            <a:r>
              <a:rPr lang="pt-BR" b="1" dirty="0">
                <a:solidFill>
                  <a:srgbClr val="7030A0"/>
                </a:solidFill>
              </a:rPr>
              <a:t>heurísticos</a:t>
            </a:r>
            <a:r>
              <a:rPr lang="pt-BR" dirty="0"/>
              <a:t> de indução de árvores de decisão mais utilizados é o </a:t>
            </a:r>
            <a:r>
              <a:rPr lang="pt-BR" b="1" dirty="0"/>
              <a:t>ID3 </a:t>
            </a:r>
            <a:r>
              <a:rPr lang="pt-BR" dirty="0"/>
              <a:t>(do inglês, </a:t>
            </a:r>
            <a:r>
              <a:rPr lang="pt-BR" b="1" dirty="0" err="1"/>
              <a:t>Iterative</a:t>
            </a:r>
            <a:r>
              <a:rPr lang="pt-BR" b="1" dirty="0"/>
              <a:t> </a:t>
            </a:r>
            <a:r>
              <a:rPr lang="pt-BR" b="1" dirty="0" err="1"/>
              <a:t>Dichotomiser</a:t>
            </a:r>
            <a:r>
              <a:rPr lang="pt-BR" b="1" dirty="0"/>
              <a:t> 3</a:t>
            </a:r>
            <a:r>
              <a:rPr lang="pt-BR" dirty="0"/>
              <a:t>).</a:t>
            </a:r>
          </a:p>
          <a:p>
            <a:pPr lvl="1">
              <a:buFont typeface="Wingdings" panose="05000000000000000000" pitchFamily="2" charset="2"/>
              <a:buChar char="§"/>
            </a:pPr>
            <a:r>
              <a:rPr lang="pt-BR" b="1" dirty="0">
                <a:solidFill>
                  <a:srgbClr val="7030A0"/>
                </a:solidFill>
              </a:rPr>
              <a:t>Heurística: </a:t>
            </a:r>
            <a:r>
              <a:rPr lang="pt-BR" dirty="0"/>
              <a:t>estratégia prática para encontrar uma solução rápida e aproximada.</a:t>
            </a:r>
            <a:endParaRPr lang="pt-BR" b="1" dirty="0"/>
          </a:p>
          <a:p>
            <a:pPr lvl="1">
              <a:buFont typeface="Wingdings" panose="05000000000000000000" pitchFamily="2" charset="2"/>
              <a:buChar char="§"/>
            </a:pPr>
            <a:r>
              <a:rPr lang="pt-BR" b="1" dirty="0" err="1">
                <a:solidFill>
                  <a:srgbClr val="00B050"/>
                </a:solidFill>
              </a:rPr>
              <a:t>Dicotomização</a:t>
            </a:r>
            <a:r>
              <a:rPr lang="pt-BR" b="1" dirty="0">
                <a:solidFill>
                  <a:srgbClr val="00B050"/>
                </a:solidFill>
              </a:rPr>
              <a:t> iterativa</a:t>
            </a:r>
            <a:r>
              <a:rPr lang="pt-BR" b="1" dirty="0"/>
              <a:t> </a:t>
            </a:r>
            <a:r>
              <a:rPr lang="pt-BR" dirty="0"/>
              <a:t>significa </a:t>
            </a:r>
            <a:r>
              <a:rPr lang="pt-BR" b="1" dirty="0">
                <a:solidFill>
                  <a:schemeClr val="accent2"/>
                </a:solidFill>
              </a:rPr>
              <a:t>dividir-se repetidamente os atributos em duas ou mais classes</a:t>
            </a:r>
            <a:r>
              <a:rPr lang="pt-BR" dirty="0"/>
              <a:t> a cada iteração (ou passo).</a:t>
            </a:r>
          </a:p>
          <a:p>
            <a:r>
              <a:rPr lang="pt-BR" dirty="0"/>
              <a:t>O </a:t>
            </a:r>
            <a:r>
              <a:rPr lang="pt-BR" b="1" dirty="0"/>
              <a:t>método ID3</a:t>
            </a:r>
            <a:r>
              <a:rPr lang="pt-BR" dirty="0"/>
              <a:t> é uma abordagem que </a:t>
            </a:r>
            <a:r>
              <a:rPr lang="pt-BR" b="1" dirty="0">
                <a:solidFill>
                  <a:srgbClr val="0070C0"/>
                </a:solidFill>
              </a:rPr>
              <a:t>não garante</a:t>
            </a:r>
            <a:r>
              <a:rPr lang="pt-BR" b="1" dirty="0"/>
              <a:t> </a:t>
            </a:r>
            <a:r>
              <a:rPr lang="pt-BR" dirty="0"/>
              <a:t>a obtenção da </a:t>
            </a:r>
            <a:r>
              <a:rPr lang="pt-BR" b="1" dirty="0">
                <a:solidFill>
                  <a:srgbClr val="0070C0"/>
                </a:solidFill>
              </a:rPr>
              <a:t>menor árvore possível</a:t>
            </a:r>
            <a:r>
              <a:rPr lang="pt-BR" dirty="0"/>
              <a:t>, mas busca obter </a:t>
            </a:r>
            <a:r>
              <a:rPr lang="pt-BR" b="1" dirty="0">
                <a:solidFill>
                  <a:srgbClr val="0070C0"/>
                </a:solidFill>
              </a:rPr>
              <a:t>árvores apropriadas num intervalo de tempo relativamente curto</a:t>
            </a:r>
            <a:r>
              <a:rPr lang="pt-BR" dirty="0"/>
              <a:t>.</a:t>
            </a:r>
          </a:p>
        </p:txBody>
      </p:sp>
    </p:spTree>
    <p:extLst>
      <p:ext uri="{BB962C8B-B14F-4D97-AF65-F5344CB8AC3E}">
        <p14:creationId xmlns:p14="http://schemas.microsoft.com/office/powerpoint/2010/main" val="17121492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Ele usa uma </a:t>
            </a:r>
            <a:r>
              <a:rPr lang="pt-BR" b="1" dirty="0"/>
              <a:t>estratégia </a:t>
            </a:r>
            <a:r>
              <a:rPr lang="pt-BR" b="1" dirty="0">
                <a:solidFill>
                  <a:srgbClr val="7030A0"/>
                </a:solidFill>
              </a:rPr>
              <a:t>gananciosa</a:t>
            </a:r>
            <a:r>
              <a:rPr lang="pt-BR" dirty="0"/>
              <a:t>.</a:t>
            </a:r>
          </a:p>
          <a:p>
            <a:pPr lvl="1">
              <a:buFont typeface="Wingdings" panose="05000000000000000000" pitchFamily="2" charset="2"/>
              <a:buChar char="§"/>
            </a:pPr>
            <a:r>
              <a:rPr lang="pt-BR" dirty="0"/>
              <a:t>Sempre escolhe o melhor atributo localmente</a:t>
            </a:r>
          </a:p>
          <a:p>
            <a:pPr lvl="2">
              <a:buFont typeface="Courier New" panose="02070309020205020404" pitchFamily="49" charset="0"/>
              <a:buChar char="o"/>
            </a:pPr>
            <a:r>
              <a:rPr lang="pt-BR" dirty="0"/>
              <a:t>Qual atributo separa melhor os dados AGORA?</a:t>
            </a:r>
          </a:p>
          <a:p>
            <a:pPr lvl="2">
              <a:buFont typeface="Courier New" panose="02070309020205020404" pitchFamily="49" charset="0"/>
              <a:buChar char="o"/>
            </a:pPr>
            <a:r>
              <a:rPr lang="pt-BR" dirty="0"/>
              <a:t>Ele não reconsidera decisões anteriores e não testa combinações futuras</a:t>
            </a:r>
          </a:p>
          <a:p>
            <a:pPr lvl="1">
              <a:buFont typeface="Wingdings" panose="05000000000000000000" pitchFamily="2" charset="2"/>
              <a:buChar char="§"/>
            </a:pPr>
            <a:r>
              <a:rPr lang="pt-BR" dirty="0"/>
              <a:t>Não garante solução ótima global.</a:t>
            </a:r>
          </a:p>
          <a:p>
            <a:pPr lvl="2">
              <a:buFont typeface="Courier New" panose="02070309020205020404" pitchFamily="49" charset="0"/>
              <a:buChar char="o"/>
            </a:pPr>
            <a:r>
              <a:rPr lang="pt-BR" dirty="0"/>
              <a:t>Escolher o melhor atributo agora </a:t>
            </a:r>
            <a:r>
              <a:rPr lang="pt-BR" b="1" dirty="0"/>
              <a:t>não garante o melhor resultado final</a:t>
            </a:r>
          </a:p>
          <a:p>
            <a:r>
              <a:rPr lang="pt-BR" dirty="0"/>
              <a:t>É </a:t>
            </a:r>
            <a:r>
              <a:rPr lang="pt-BR" b="1" i="1" dirty="0">
                <a:solidFill>
                  <a:schemeClr val="accent2"/>
                </a:solidFill>
              </a:rPr>
              <a:t>top-</a:t>
            </a:r>
            <a:r>
              <a:rPr lang="pt-BR" b="1" i="1" dirty="0" err="1">
                <a:solidFill>
                  <a:schemeClr val="accent2"/>
                </a:solidFill>
              </a:rPr>
              <a:t>down</a:t>
            </a:r>
            <a:r>
              <a:rPr lang="pt-BR" dirty="0"/>
              <a:t>.</a:t>
            </a:r>
          </a:p>
          <a:p>
            <a:pPr lvl="1">
              <a:buFont typeface="Wingdings" panose="05000000000000000000" pitchFamily="2" charset="2"/>
              <a:buChar char="§"/>
            </a:pPr>
            <a:r>
              <a:rPr lang="pt-BR" dirty="0"/>
              <a:t>Começa da raiz e vai descendo, ou seja, a árvore é </a:t>
            </a:r>
            <a:r>
              <a:rPr lang="pt-BR" b="1" dirty="0">
                <a:solidFill>
                  <a:schemeClr val="accent2"/>
                </a:solidFill>
              </a:rPr>
              <a:t>criada de cima para baixo</a:t>
            </a:r>
            <a:r>
              <a:rPr lang="pt-BR" dirty="0"/>
              <a:t> e um </a:t>
            </a:r>
            <a:r>
              <a:rPr lang="pt-BR" b="1" dirty="0">
                <a:solidFill>
                  <a:srgbClr val="00B050"/>
                </a:solidFill>
              </a:rPr>
              <a:t>nó é escolhido </a:t>
            </a:r>
            <a:r>
              <a:rPr lang="pt-BR" dirty="0"/>
              <a:t>selecionando-se o </a:t>
            </a:r>
            <a:r>
              <a:rPr lang="pt-BR" b="1" dirty="0">
                <a:solidFill>
                  <a:srgbClr val="00B050"/>
                </a:solidFill>
              </a:rPr>
              <a:t>atributo que melhor divide o conjunto de dados</a:t>
            </a:r>
            <a:r>
              <a:rPr lang="pt-BR" dirty="0"/>
              <a:t> </a:t>
            </a:r>
            <a:r>
              <a:rPr lang="pt-BR" b="1" dirty="0">
                <a:solidFill>
                  <a:srgbClr val="7030A0"/>
                </a:solidFill>
              </a:rPr>
              <a:t>naquele</a:t>
            </a:r>
            <a:r>
              <a:rPr lang="pt-BR" dirty="0"/>
              <a:t> </a:t>
            </a:r>
            <a:r>
              <a:rPr lang="pt-BR" b="1" dirty="0">
                <a:solidFill>
                  <a:srgbClr val="7030A0"/>
                </a:solidFill>
              </a:rPr>
              <a:t>passo</a:t>
            </a:r>
            <a:r>
              <a:rPr lang="pt-BR" dirty="0"/>
              <a:t>.</a:t>
            </a:r>
          </a:p>
        </p:txBody>
      </p:sp>
    </p:spTree>
    <p:extLst>
      <p:ext uri="{BB962C8B-B14F-4D97-AF65-F5344CB8AC3E}">
        <p14:creationId xmlns:p14="http://schemas.microsoft.com/office/powerpoint/2010/main" val="24264436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Como se decide (métrica) qual é o melhor atributo? </a:t>
            </a:r>
          </a:p>
          <a:p>
            <a:pPr lvl="1">
              <a:buFont typeface="Wingdings" panose="05000000000000000000" pitchFamily="2" charset="2"/>
              <a:buChar char="§"/>
            </a:pPr>
            <a:r>
              <a:rPr lang="pt-BR" dirty="0"/>
              <a:t>Ele se baseia na </a:t>
            </a:r>
            <a:r>
              <a:rPr lang="pt-BR" b="1" dirty="0"/>
              <a:t>teoria da informação</a:t>
            </a:r>
            <a:r>
              <a:rPr lang="pt-BR" dirty="0"/>
              <a:t> para selecionar o melhor atributo de cada nó da árvore.</a:t>
            </a:r>
          </a:p>
          <a:p>
            <a:r>
              <a:rPr lang="pt-BR" dirty="0"/>
              <a:t>A ideia central do </a:t>
            </a:r>
            <a:r>
              <a:rPr lang="pt-BR" b="1" dirty="0"/>
              <a:t>método ID3</a:t>
            </a:r>
            <a:r>
              <a:rPr lang="pt-BR" dirty="0"/>
              <a:t> é construir uma árvore escolhendo, a cada passo, o atributo que </a:t>
            </a:r>
            <a:r>
              <a:rPr lang="pt-BR" b="1" dirty="0"/>
              <a:t>mais reduz a incerteza dos dados</a:t>
            </a:r>
            <a:r>
              <a:rPr lang="pt-BR" dirty="0"/>
              <a:t>.</a:t>
            </a:r>
          </a:p>
          <a:p>
            <a:r>
              <a:rPr lang="pt-BR" dirty="0"/>
              <a:t>Ou seja, a cada passo, escolhe-se como </a:t>
            </a:r>
            <a:r>
              <a:rPr lang="pt-BR" b="1" dirty="0"/>
              <a:t>nó</a:t>
            </a:r>
            <a:r>
              <a:rPr lang="pt-BR" dirty="0"/>
              <a:t> o </a:t>
            </a:r>
            <a:r>
              <a:rPr lang="pt-BR" b="1" dirty="0">
                <a:solidFill>
                  <a:schemeClr val="accent2"/>
                </a:solidFill>
              </a:rPr>
              <a:t>atributo que for o mais longe possível em dividir os exemplos</a:t>
            </a:r>
            <a:r>
              <a:rPr lang="pt-BR" dirty="0"/>
              <a:t>.</a:t>
            </a:r>
          </a:p>
        </p:txBody>
      </p:sp>
    </p:spTree>
    <p:extLst>
      <p:ext uri="{BB962C8B-B14F-4D97-AF65-F5344CB8AC3E}">
        <p14:creationId xmlns:p14="http://schemas.microsoft.com/office/powerpoint/2010/main" val="34187358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415280" y="1825624"/>
            <a:ext cx="6634612" cy="5032376"/>
          </a:xfrm>
        </p:spPr>
        <p:txBody>
          <a:bodyPr>
            <a:normAutofit/>
          </a:bodyPr>
          <a:lstStyle/>
          <a:p>
            <a:r>
              <a:rPr lang="pt-BR" dirty="0"/>
              <a:t>Um </a:t>
            </a:r>
            <a:r>
              <a:rPr lang="pt-BR" b="1" dirty="0">
                <a:solidFill>
                  <a:srgbClr val="00B050"/>
                </a:solidFill>
              </a:rPr>
              <a:t>atributo perfeito</a:t>
            </a:r>
            <a:r>
              <a:rPr lang="pt-BR" dirty="0">
                <a:solidFill>
                  <a:srgbClr val="00B050"/>
                </a:solidFill>
              </a:rPr>
              <a:t> </a:t>
            </a:r>
            <a:r>
              <a:rPr lang="pt-BR" dirty="0"/>
              <a:t>divide perfeitamente todos os exemplos em grupos (ou classes).</a:t>
            </a:r>
          </a:p>
          <a:p>
            <a:r>
              <a:rPr lang="pt-BR" dirty="0"/>
              <a:t>Ou seja, é o atributo que consegue </a:t>
            </a:r>
            <a:r>
              <a:rPr lang="pt-BR" b="1" dirty="0">
                <a:solidFill>
                  <a:srgbClr val="00B050"/>
                </a:solidFill>
              </a:rPr>
              <a:t>explicar perfeitamente o conjunto de dados</a:t>
            </a:r>
            <a:r>
              <a:rPr lang="pt-BR" dirty="0"/>
              <a:t>.</a:t>
            </a:r>
          </a:p>
          <a:p>
            <a:r>
              <a:rPr lang="pt-BR" dirty="0"/>
              <a:t>Por exemplo, o atributo </a:t>
            </a:r>
            <a:r>
              <a:rPr lang="pt-BR" b="1" dirty="0" err="1"/>
              <a:t>Windy</a:t>
            </a:r>
            <a:r>
              <a:rPr lang="pt-BR" dirty="0"/>
              <a:t> divide as amostras em duas classes perfeitamente.</a:t>
            </a:r>
          </a:p>
        </p:txBody>
      </p:sp>
      <p:grpSp>
        <p:nvGrpSpPr>
          <p:cNvPr id="11" name="Agrupar 10">
            <a:extLst>
              <a:ext uri="{FF2B5EF4-FFF2-40B4-BE49-F238E27FC236}">
                <a16:creationId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290547636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029200" y="1825624"/>
            <a:ext cx="7020692" cy="5032376"/>
          </a:xfrm>
        </p:spPr>
        <p:txBody>
          <a:bodyPr>
            <a:normAutofit/>
          </a:bodyPr>
          <a:lstStyle/>
          <a:p>
            <a:r>
              <a:rPr lang="pt-BR" dirty="0"/>
              <a:t>Então, tudo o que precisamos é uma medida formal de </a:t>
            </a:r>
            <a:r>
              <a:rPr lang="pt-BR" b="1" dirty="0">
                <a:solidFill>
                  <a:srgbClr val="00B050"/>
                </a:solidFill>
              </a:rPr>
              <a:t>atributo razoavelmente bom </a:t>
            </a:r>
            <a:r>
              <a:rPr lang="pt-BR" dirty="0"/>
              <a:t>ou </a:t>
            </a:r>
            <a:r>
              <a:rPr lang="pt-BR" b="1" dirty="0">
                <a:solidFill>
                  <a:srgbClr val="00B050"/>
                </a:solidFill>
              </a:rPr>
              <a:t>realmente inútil</a:t>
            </a:r>
            <a:r>
              <a:rPr lang="pt-BR" dirty="0"/>
              <a:t>.</a:t>
            </a:r>
          </a:p>
          <a:p>
            <a:r>
              <a:rPr lang="pt-BR" dirty="0"/>
              <a:t>O </a:t>
            </a:r>
            <a:r>
              <a:rPr lang="pt-BR" b="1" dirty="0"/>
              <a:t>método ID3</a:t>
            </a:r>
            <a:r>
              <a:rPr lang="pt-BR" dirty="0"/>
              <a:t> utiliza a noção de </a:t>
            </a:r>
            <a:r>
              <a:rPr lang="pt-BR" b="1" dirty="0">
                <a:solidFill>
                  <a:schemeClr val="accent2"/>
                </a:solidFill>
              </a:rPr>
              <a:t>ganho de informação</a:t>
            </a:r>
            <a:r>
              <a:rPr lang="pt-BR" dirty="0"/>
              <a:t>, o qual é </a:t>
            </a:r>
            <a:r>
              <a:rPr lang="pt-BR" b="1" dirty="0">
                <a:solidFill>
                  <a:srgbClr val="7030A0"/>
                </a:solidFill>
              </a:rPr>
              <a:t>definido em termos da entropia</a:t>
            </a:r>
            <a:r>
              <a:rPr lang="pt-BR" dirty="0"/>
              <a:t>, que é uma quantidade fundamental em </a:t>
            </a:r>
            <a:r>
              <a:rPr lang="pt-BR" b="1" dirty="0"/>
              <a:t>teoria da informação</a:t>
            </a:r>
            <a:r>
              <a:rPr lang="pt-BR" dirty="0"/>
              <a:t>.</a:t>
            </a:r>
          </a:p>
          <a:p>
            <a:r>
              <a:rPr lang="pt-BR" dirty="0"/>
              <a:t>A seguir, veremos alguns conceitos úteis para que possamos usar o </a:t>
            </a:r>
            <a:r>
              <a:rPr lang="pt-BR" b="1" dirty="0"/>
              <a:t>método ID3</a:t>
            </a:r>
            <a:r>
              <a:rPr lang="pt-BR" dirty="0"/>
              <a:t> para inferir árvores de decisão.</a:t>
            </a:r>
          </a:p>
          <a:p>
            <a:endParaRPr lang="pt-BR" dirty="0"/>
          </a:p>
        </p:txBody>
      </p:sp>
      <p:grpSp>
        <p:nvGrpSpPr>
          <p:cNvPr id="11" name="Agrupar 10">
            <a:extLst>
              <a:ext uri="{FF2B5EF4-FFF2-40B4-BE49-F238E27FC236}">
                <a16:creationId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1515536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Ganho de informação</a:t>
            </a:r>
          </a:p>
        </p:txBody>
      </p:sp>
      <p:sp>
        <p:nvSpPr>
          <p:cNvPr id="3" name="Content Placeholder 2"/>
          <p:cNvSpPr>
            <a:spLocks noGrp="1"/>
          </p:cNvSpPr>
          <p:nvPr>
            <p:ph idx="1"/>
          </p:nvPr>
        </p:nvSpPr>
        <p:spPr>
          <a:xfrm>
            <a:off x="5384800" y="1825624"/>
            <a:ext cx="6648704" cy="5032376"/>
          </a:xfrm>
        </p:spPr>
        <p:txBody>
          <a:bodyPr>
            <a:normAutofit/>
          </a:bodyPr>
          <a:lstStyle/>
          <a:p>
            <a:r>
              <a:rPr lang="pt-BR" dirty="0"/>
              <a:t>É uma </a:t>
            </a:r>
            <a:r>
              <a:rPr lang="pt-BR" b="1" dirty="0">
                <a:solidFill>
                  <a:srgbClr val="7030A0"/>
                </a:solidFill>
              </a:rPr>
              <a:t>propriedade estatística</a:t>
            </a:r>
            <a:r>
              <a:rPr lang="pt-BR" b="1" dirty="0"/>
              <a:t> </a:t>
            </a:r>
            <a:r>
              <a:rPr lang="pt-BR" dirty="0"/>
              <a:t>que </a:t>
            </a:r>
            <a:r>
              <a:rPr lang="pt-BR" b="1" dirty="0">
                <a:solidFill>
                  <a:schemeClr val="accent2"/>
                </a:solidFill>
              </a:rPr>
              <a:t>mede o quão bem um determinado atributo separa os exemplos</a:t>
            </a:r>
            <a:r>
              <a:rPr lang="pt-BR" dirty="0"/>
              <a:t> de treinamento de acordo com suas classes.</a:t>
            </a:r>
          </a:p>
          <a:p>
            <a:r>
              <a:rPr lang="pt-BR" dirty="0"/>
              <a:t>Portanto, construir uma </a:t>
            </a:r>
            <a:r>
              <a:rPr lang="pt-BR" b="1" dirty="0"/>
              <a:t>árvore de decisão </a:t>
            </a:r>
            <a:r>
              <a:rPr lang="pt-BR" dirty="0"/>
              <a:t>tem tudo a ver com encontrar, a cada ponto (i.e., a cada nó), um </a:t>
            </a:r>
            <a:r>
              <a:rPr lang="pt-BR" b="1" dirty="0"/>
              <a:t>atributo</a:t>
            </a:r>
            <a:r>
              <a:rPr lang="pt-BR" dirty="0"/>
              <a:t> que retorne o maior </a:t>
            </a:r>
            <a:r>
              <a:rPr lang="pt-BR" b="1" dirty="0"/>
              <a:t>ganho de informação</a:t>
            </a:r>
            <a:r>
              <a:rPr lang="pt-BR" dirty="0"/>
              <a:t>.</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23691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É uma medida da </a:t>
            </a:r>
            <a:r>
              <a:rPr lang="pt-BR" b="1" dirty="0">
                <a:solidFill>
                  <a:srgbClr val="00B050"/>
                </a:solidFill>
              </a:rPr>
              <a:t>quantidade de incerteza ou aleatoriedade</a:t>
            </a:r>
            <a:r>
              <a:rPr lang="pt-BR" dirty="0"/>
              <a:t> de uma variável aleatória (i.e., de um conjunto de dados).</a:t>
            </a:r>
          </a:p>
          <a:p>
            <a:r>
              <a:rPr lang="pt-BR" dirty="0"/>
              <a:t>Ela mede o quão “bagunçado” está o conjunto de dados.</a:t>
            </a:r>
          </a:p>
          <a:p>
            <a:pPr lvl="1">
              <a:buFont typeface="Wingdings" panose="05000000000000000000" pitchFamily="2" charset="2"/>
              <a:buChar char="§"/>
            </a:pPr>
            <a:r>
              <a:rPr lang="pt-BR" dirty="0"/>
              <a:t>Alta entropia → dados misturados </a:t>
            </a:r>
          </a:p>
          <a:p>
            <a:pPr lvl="1">
              <a:buFont typeface="Wingdings" panose="05000000000000000000" pitchFamily="2" charset="2"/>
              <a:buChar char="§"/>
            </a:pPr>
            <a:r>
              <a:rPr lang="pt-BR" dirty="0"/>
              <a:t>Baixa entropia → dados “puros” </a:t>
            </a:r>
          </a:p>
          <a:p>
            <a:pPr lvl="1">
              <a:buFont typeface="Wingdings" panose="05000000000000000000" pitchFamily="2" charset="2"/>
              <a:buChar char="§"/>
            </a:pPr>
            <a:r>
              <a:rPr lang="pt-BR" dirty="0"/>
              <a:t>Se todos são da mesma classe → entropia = 0</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79539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Portanto, </a:t>
            </a:r>
            <a:r>
              <a:rPr lang="pt-BR" b="1" dirty="0">
                <a:solidFill>
                  <a:schemeClr val="accent2"/>
                </a:solidFill>
              </a:rPr>
              <a:t>um ganho de informação </a:t>
            </a:r>
            <a:r>
              <a:rPr lang="pt-BR" dirty="0"/>
              <a:t>corresponde a uma </a:t>
            </a:r>
            <a:r>
              <a:rPr lang="pt-BR" b="1" dirty="0">
                <a:solidFill>
                  <a:schemeClr val="accent2"/>
                </a:solidFill>
              </a:rPr>
              <a:t>redução na entropia</a:t>
            </a:r>
            <a:r>
              <a:rPr lang="pt-BR" dirty="0"/>
              <a:t>.</a:t>
            </a:r>
          </a:p>
          <a:p>
            <a:r>
              <a:rPr lang="pt-BR" dirty="0"/>
              <a:t>Em outras palavras, ele mede o quanto um atributo reduz a incerteza (“bagunça”).</a:t>
            </a:r>
          </a:p>
          <a:p>
            <a:r>
              <a:rPr lang="pt-BR" dirty="0"/>
              <a:t>Quando </a:t>
            </a:r>
            <a:r>
              <a:rPr lang="pt-BR" b="1" dirty="0">
                <a:solidFill>
                  <a:srgbClr val="7030A0"/>
                </a:solidFill>
              </a:rPr>
              <a:t>ganhamos informação</a:t>
            </a:r>
            <a:r>
              <a:rPr lang="pt-BR" dirty="0"/>
              <a:t> sobre o conjunto, a </a:t>
            </a:r>
            <a:r>
              <a:rPr lang="pt-BR" b="1" dirty="0">
                <a:solidFill>
                  <a:srgbClr val="7030A0"/>
                </a:solidFill>
              </a:rPr>
              <a:t>incerteza diminui</a:t>
            </a:r>
            <a:r>
              <a:rPr lang="pt-BR" dirty="0"/>
              <a:t>.</a:t>
            </a:r>
          </a:p>
          <a:p>
            <a:r>
              <a:rPr lang="pt-BR" dirty="0"/>
              <a:t>O ganho mede o quanto conseguimos explicar do conjunto com aquele atributo.</a:t>
            </a:r>
          </a:p>
          <a:p>
            <a:endParaRPr lang="pt-BR" dirty="0"/>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966262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626864" y="1825624"/>
                <a:ext cx="7565136" cy="5032376"/>
              </a:xfrm>
            </p:spPr>
            <p:txBody>
              <a:bodyPr>
                <a:normAutofit/>
              </a:bodyPr>
              <a:lstStyle/>
              <a:p>
                <a:r>
                  <a:rPr lang="pt-BR" dirty="0"/>
                  <a:t>O </a:t>
                </a:r>
                <a:r>
                  <a:rPr lang="pt-BR" b="1" dirty="0">
                    <a:solidFill>
                      <a:schemeClr val="accent2"/>
                    </a:solidFill>
                  </a:rPr>
                  <a:t>ganho de informação</a:t>
                </a:r>
                <a:r>
                  <a:rPr lang="pt-BR" dirty="0"/>
                  <a:t> dá a </a:t>
                </a:r>
                <a:r>
                  <a:rPr lang="pt-BR" b="1" dirty="0">
                    <a:solidFill>
                      <a:srgbClr val="00B050"/>
                    </a:solidFill>
                  </a:rPr>
                  <a:t>diferença entre a entropia antes e depois da divisão do conjunto de dados</a:t>
                </a:r>
                <a:r>
                  <a:rPr lang="pt-BR" dirty="0"/>
                  <a:t> com base nos valores de um determinado atributo.</a:t>
                </a:r>
                <a:r>
                  <a:rPr lang="pt-BR" baseline="0" dirty="0"/>
                  <a:t> </a:t>
                </a:r>
              </a:p>
              <a:p>
                <a:r>
                  <a:rPr lang="pt-BR" baseline="0" dirty="0"/>
                  <a:t>Assim, podemos escrever que o </a:t>
                </a:r>
                <a:r>
                  <a:rPr lang="pt-BR" b="1" baseline="0" dirty="0">
                    <a:solidFill>
                      <a:schemeClr val="accent2"/>
                    </a:solidFill>
                  </a:rPr>
                  <a:t>ganho de informação</a:t>
                </a:r>
                <a:r>
                  <a:rPr lang="pt-BR" baseline="0" dirty="0"/>
                  <a:t> é dado por</a:t>
                </a:r>
              </a:p>
              <a:p>
                <a:pPr marL="0" indent="0">
                  <a:buNone/>
                </a:pPr>
                <a:endParaRPr lang="pt-BR" sz="600" dirty="0"/>
              </a:p>
              <a:p>
                <a:pPr marL="0" indent="0" algn="ctr">
                  <a:buNone/>
                </a:pPr>
                <a14:m>
                  <m:oMathPara xmlns:m="http://schemas.openxmlformats.org/officeDocument/2006/math">
                    <m:oMathParaPr>
                      <m:jc m:val="center"/>
                    </m:oMathParaPr>
                    <m:oMath xmlns:m="http://schemas.openxmlformats.org/officeDocument/2006/math">
                      <m:r>
                        <m:rPr>
                          <m:sty m:val="p"/>
                        </m:rPr>
                        <a:rPr lang="pt-BR" sz="2300" i="0">
                          <a:latin typeface="Cambria Math" panose="02040503050406030204" pitchFamily="18" charset="0"/>
                        </a:rPr>
                        <m:t>Gain</m:t>
                      </m:r>
                      <m:r>
                        <a:rPr lang="pt-BR" sz="2300" i="0">
                          <a:latin typeface="Cambria Math" panose="02040503050406030204" pitchFamily="18" charset="0"/>
                        </a:rPr>
                        <m:t>=</m:t>
                      </m:r>
                      <m:r>
                        <m:rPr>
                          <m:sty m:val="p"/>
                        </m:rPr>
                        <a:rPr lang="pt-BR" sz="2300" i="0">
                          <a:latin typeface="Cambria Math" panose="02040503050406030204" pitchFamily="18" charset="0"/>
                        </a:rPr>
                        <m:t>entropiaAntesDaDivis</m:t>
                      </m:r>
                      <m:r>
                        <a:rPr lang="pt-BR" sz="2300" i="0">
                          <a:latin typeface="Cambria Math" panose="02040503050406030204" pitchFamily="18" charset="0"/>
                        </a:rPr>
                        <m:t>ã</m:t>
                      </m:r>
                      <m:r>
                        <m:rPr>
                          <m:sty m:val="p"/>
                        </m:rPr>
                        <a:rPr lang="pt-BR" sz="2300" i="0">
                          <a:latin typeface="Cambria Math" panose="02040503050406030204" pitchFamily="18" charset="0"/>
                        </a:rPr>
                        <m:t>o</m:t>
                      </m:r>
                      <m:r>
                        <a:rPr lang="pt-BR" sz="2300" i="0">
                          <a:latin typeface="Cambria Math" panose="02040503050406030204" pitchFamily="18" charset="0"/>
                        </a:rPr>
                        <m:t> −</m:t>
                      </m:r>
                      <m:r>
                        <m:rPr>
                          <m:sty m:val="p"/>
                        </m:rPr>
                        <a:rPr lang="pt-BR" sz="2300" i="0">
                          <a:latin typeface="Cambria Math" panose="02040503050406030204" pitchFamily="18" charset="0"/>
                        </a:rPr>
                        <m:t>entropiaAp</m:t>
                      </m:r>
                      <m:r>
                        <a:rPr lang="pt-BR" sz="2300" b="0" i="0" smtClean="0">
                          <a:latin typeface="Cambria Math" panose="02040503050406030204" pitchFamily="18" charset="0"/>
                        </a:rPr>
                        <m:t>ó</m:t>
                      </m:r>
                      <m:r>
                        <m:rPr>
                          <m:sty m:val="p"/>
                        </m:rPr>
                        <a:rPr lang="pt-BR" sz="2300" b="0" i="0" smtClean="0">
                          <a:latin typeface="Cambria Math" panose="02040503050406030204" pitchFamily="18" charset="0"/>
                        </a:rPr>
                        <m:t>sADivis</m:t>
                      </m:r>
                      <m:r>
                        <a:rPr lang="pt-BR" sz="2300" i="0">
                          <a:latin typeface="Cambria Math" panose="02040503050406030204" pitchFamily="18" charset="0"/>
                        </a:rPr>
                        <m:t>ã</m:t>
                      </m:r>
                      <m:r>
                        <m:rPr>
                          <m:sty m:val="p"/>
                        </m:rPr>
                        <a:rPr lang="pt-BR" sz="2300" i="0">
                          <a:latin typeface="Cambria Math" panose="02040503050406030204" pitchFamily="18" charset="0"/>
                        </a:rPr>
                        <m:t>o</m:t>
                      </m:r>
                    </m:oMath>
                  </m:oMathPara>
                </a14:m>
                <a:endParaRPr lang="pt-BR" sz="2300" dirty="0"/>
              </a:p>
              <a:p>
                <a:pPr marL="0" indent="0">
                  <a:buNone/>
                </a:pPr>
                <a:endParaRPr lang="pt-BR" sz="600" dirty="0"/>
              </a:p>
              <a:p>
                <a:r>
                  <a:rPr lang="pt-BR" dirty="0"/>
                  <a:t>Vejamos como a entropia é calculada.</a:t>
                </a:r>
                <a:endParaRPr lang="pt-BR" sz="23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626864" y="1825624"/>
                <a:ext cx="7565136" cy="5032376"/>
              </a:xfrm>
              <a:blipFill rotWithShape="0">
                <a:blip r:embed="rId3"/>
                <a:stretch>
                  <a:fillRect l="-1450" t="-1937"/>
                </a:stretch>
              </a:blipFill>
            </p:spPr>
            <p:txBody>
              <a:bodyPr/>
              <a:lstStyle/>
              <a:p>
                <a:r>
                  <a:rPr lang="pt-BR">
                    <a:noFill/>
                  </a:rPr>
                  <a:t> </a:t>
                </a:r>
              </a:p>
            </p:txBody>
          </p:sp>
        </mc:Fallback>
      </mc:AlternateContent>
      <p:pic>
        <p:nvPicPr>
          <p:cNvPr id="5"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487168"/>
            <a:ext cx="3945181" cy="30547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715644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Uma variável com apenas um único valor não tem nenhuma </a:t>
            </a:r>
            <a:r>
              <a:rPr lang="pt-BR" b="1" dirty="0"/>
              <a:t>incerteza</a:t>
            </a:r>
            <a:r>
              <a:rPr lang="pt-BR" dirty="0"/>
              <a:t> associada.</a:t>
            </a:r>
          </a:p>
          <a:p>
            <a:pPr lvl="1"/>
            <a:r>
              <a:rPr lang="pt-BR" dirty="0"/>
              <a:t>Por exemplo, o arremesso de uma moeda com </a:t>
            </a:r>
            <a:r>
              <a:rPr lang="pt-BR" b="1" dirty="0"/>
              <a:t>cara</a:t>
            </a:r>
            <a:r>
              <a:rPr lang="pt-BR" dirty="0"/>
              <a:t> em ambos os lados.</a:t>
            </a:r>
          </a:p>
          <a:p>
            <a:r>
              <a:rPr lang="pt-BR" dirty="0"/>
              <a:t>Portanto, sua </a:t>
            </a:r>
            <a:r>
              <a:rPr lang="pt-BR" b="1" dirty="0">
                <a:solidFill>
                  <a:srgbClr val="7030A0"/>
                </a:solidFill>
              </a:rPr>
              <a:t>entropia é igual a zero</a:t>
            </a:r>
            <a:r>
              <a:rPr lang="pt-BR" dirty="0"/>
              <a:t>. </a:t>
            </a:r>
          </a:p>
          <a:p>
            <a:r>
              <a:rPr lang="pt-BR" dirty="0"/>
              <a:t>Isso significa que </a:t>
            </a:r>
            <a:r>
              <a:rPr lang="pt-BR" b="1" dirty="0"/>
              <a:t>não se ganha nenhuma informação nova ao se observar o valor do arremesso</a:t>
            </a:r>
            <a:r>
              <a:rPr lang="pt-BR" dirty="0"/>
              <a:t>.</a:t>
            </a:r>
          </a:p>
          <a:p>
            <a:endParaRPr lang="pt-BR" dirty="0"/>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632656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Por outro lado, o resultado de se arremessar uma </a:t>
            </a:r>
            <a:r>
              <a:rPr lang="pt-BR" b="1" dirty="0"/>
              <a:t>moeda honesta </a:t>
            </a:r>
            <a:r>
              <a:rPr lang="pt-BR" dirty="0"/>
              <a:t>é igualmente provável de resultar em </a:t>
            </a:r>
            <a:r>
              <a:rPr lang="pt-BR" b="1" dirty="0"/>
              <a:t>cara</a:t>
            </a:r>
            <a:r>
              <a:rPr lang="pt-BR" dirty="0"/>
              <a:t> ou </a:t>
            </a:r>
            <a:r>
              <a:rPr lang="pt-BR" b="1" dirty="0"/>
              <a:t>coroa</a:t>
            </a:r>
            <a:r>
              <a:rPr lang="pt-BR" dirty="0"/>
              <a:t>, os quais são associados aos valores 0 ou 1, respectivamente. </a:t>
            </a:r>
          </a:p>
          <a:p>
            <a:r>
              <a:rPr lang="pt-BR" dirty="0"/>
              <a:t>Neste caso, esta variável tem</a:t>
            </a:r>
            <a:r>
              <a:rPr lang="pt-BR" b="1" dirty="0"/>
              <a:t> 1 bit de entropia</a:t>
            </a:r>
            <a:r>
              <a:rPr lang="pt-BR" dirty="0"/>
              <a:t>, significando que se necessita de 1 bit para representar os 2 possíveis resultados.</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347399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Dessa forma, a variável aleatória que representa o resultado de se rolar um </a:t>
            </a:r>
            <a:r>
              <a:rPr lang="pt-BR" b="1" dirty="0">
                <a:solidFill>
                  <a:srgbClr val="7030A0"/>
                </a:solidFill>
              </a:rPr>
              <a:t>dado honesto de 4 lados</a:t>
            </a:r>
            <a:r>
              <a:rPr lang="pt-BR" dirty="0"/>
              <a:t>, </a:t>
            </a:r>
            <a:r>
              <a:rPr lang="pt-BR" b="1" dirty="0">
                <a:solidFill>
                  <a:srgbClr val="7030A0"/>
                </a:solidFill>
              </a:rPr>
              <a:t>tem 2 bits de entropia</a:t>
            </a:r>
            <a:r>
              <a:rPr lang="pt-BR" dirty="0"/>
              <a:t>, pois necessita-se de 2 bits para se representar os 4 possíveis valores.</a:t>
            </a:r>
          </a:p>
          <a:p>
            <a:r>
              <a:rPr lang="pt-BR" dirty="0"/>
              <a:t>Agora imaginem um </a:t>
            </a:r>
            <a:r>
              <a:rPr lang="pt-BR" b="1" dirty="0">
                <a:solidFill>
                  <a:schemeClr val="accent2"/>
                </a:solidFill>
              </a:rPr>
              <a:t>moeda desonesta </a:t>
            </a:r>
            <a:r>
              <a:rPr lang="pt-BR" dirty="0"/>
              <a:t>que tenha uma probabilidade de resultar em </a:t>
            </a:r>
            <a:r>
              <a:rPr lang="pt-BR" b="1" dirty="0"/>
              <a:t>cara</a:t>
            </a:r>
            <a:r>
              <a:rPr lang="pt-BR" dirty="0"/>
              <a:t> em 99% dos arremessos. </a:t>
            </a:r>
          </a:p>
          <a:p>
            <a:r>
              <a:rPr lang="pt-BR" dirty="0"/>
              <a:t>Nesse caso, a </a:t>
            </a:r>
            <a:r>
              <a:rPr lang="pt-BR" b="1" dirty="0">
                <a:solidFill>
                  <a:srgbClr val="00B050"/>
                </a:solidFill>
              </a:rPr>
              <a:t>entropia</a:t>
            </a:r>
            <a:r>
              <a:rPr lang="pt-BR" dirty="0"/>
              <a:t> deve ser um </a:t>
            </a:r>
            <a:r>
              <a:rPr lang="pt-BR" b="1" dirty="0">
                <a:solidFill>
                  <a:srgbClr val="00B050"/>
                </a:solidFill>
              </a:rPr>
              <a:t>valor positivo muito próximo de zero</a:t>
            </a:r>
            <a:r>
              <a:rPr lang="pt-BR" dirty="0"/>
              <a:t>, pois a incerteza do resultado é muito baixa.</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8428273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Cálculo da 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84800" y="1825624"/>
                <a:ext cx="6807200" cy="5032376"/>
              </a:xfrm>
            </p:spPr>
            <p:txBody>
              <a:bodyPr>
                <a:normAutofit/>
              </a:bodyPr>
              <a:lstStyle/>
              <a:p>
                <a:r>
                  <a:rPr lang="pt-BR" dirty="0"/>
                  <a:t>Assim, a </a:t>
                </a:r>
                <a:r>
                  <a:rPr lang="pt-BR" b="1" dirty="0"/>
                  <a:t>entropia</a:t>
                </a:r>
                <a:r>
                  <a:rPr lang="pt-BR" dirty="0"/>
                  <a:t> de uma variável aleatória discreta, </a:t>
                </a:r>
                <a14:m>
                  <m:oMath xmlns:m="http://schemas.openxmlformats.org/officeDocument/2006/math">
                    <m:r>
                      <a:rPr lang="pt-BR" b="0" i="1" smtClean="0">
                        <a:latin typeface="Cambria Math" panose="02040503050406030204" pitchFamily="18" charset="0"/>
                      </a:rPr>
                      <m:t>𝑉</m:t>
                    </m:r>
                  </m:oMath>
                </a14:m>
                <a:r>
                  <a:rPr lang="pt-BR" dirty="0"/>
                  <a:t>, com valores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oMath>
                </a14:m>
                <a:r>
                  <a:rPr lang="pt-BR" dirty="0"/>
                  <a:t>, onde cada um dos valores tem probabilidade </a:t>
                </a:r>
                <a14:m>
                  <m:oMath xmlns:m="http://schemas.openxmlformats.org/officeDocument/2006/math">
                    <m:r>
                      <a:rPr lang="pt-BR" b="0" i="1" smtClean="0">
                        <a:latin typeface="Cambria Math" panose="02040503050406030204" pitchFamily="18" charset="0"/>
                      </a:rPr>
                      <m:t>𝑃</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r>
                      <a:rPr lang="pt-BR" b="0" i="1" smtClean="0">
                        <a:latin typeface="Cambria Math" panose="02040503050406030204" pitchFamily="18" charset="0"/>
                      </a:rPr>
                      <m:t>)</m:t>
                    </m:r>
                  </m:oMath>
                </a14:m>
                <a:r>
                  <a:rPr lang="pt-BR" dirty="0"/>
                  <a:t>, é definida como</a:t>
                </a:r>
              </a:p>
              <a:p>
                <a:pPr marL="0" indent="0" algn="ctr">
                  <a:buNone/>
                </a:pP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𝑉</m:t>
                        </m:r>
                      </m:e>
                    </m:d>
                    <m:r>
                      <a:rPr lang="pt-BR" b="0" i="1" smtClean="0">
                        <a:latin typeface="Cambria Math" panose="02040503050406030204" pitchFamily="18" charset="0"/>
                      </a:rPr>
                      <m:t>=−</m:t>
                    </m:r>
                    <m:nary>
                      <m:naryPr>
                        <m:chr m:val="∑"/>
                        <m:supHide m:val="on"/>
                        <m:ctrlPr>
                          <a:rPr lang="pt-BR" b="0" i="1" smtClean="0">
                            <a:latin typeface="Cambria Math" panose="02040503050406030204" pitchFamily="18" charset="0"/>
                          </a:rPr>
                        </m:ctrlPr>
                      </m:naryPr>
                      <m:sub>
                        <m:r>
                          <m:rPr>
                            <m:brk m:alnAt="7"/>
                          </m:rPr>
                          <a:rPr lang="pt-BR" b="0" i="1" smtClean="0">
                            <a:latin typeface="Cambria Math" panose="02040503050406030204" pitchFamily="18" charset="0"/>
                          </a:rPr>
                          <m:t>𝑖</m:t>
                        </m:r>
                      </m:sub>
                      <m:sup/>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func>
                          <m:funcPr>
                            <m:ctrlPr>
                              <a:rPr lang="pt-BR" i="1" smtClean="0">
                                <a:latin typeface="Cambria Math" panose="02040503050406030204" pitchFamily="18" charset="0"/>
                              </a:rPr>
                            </m:ctrlPr>
                          </m:funcPr>
                          <m:fName>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i="1" smtClean="0">
                                    <a:latin typeface="Cambria Math" panose="02040503050406030204" pitchFamily="18" charset="0"/>
                                  </a:rPr>
                                </m:ctrlPr>
                              </m:dPr>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e>
                            </m:d>
                          </m:e>
                        </m:func>
                      </m:e>
                    </m:nary>
                  </m:oMath>
                </a14:m>
                <a:r>
                  <a:rPr lang="pt-BR" dirty="0"/>
                  <a:t>.</a:t>
                </a:r>
              </a:p>
              <a:p>
                <a:r>
                  <a:rPr lang="pt-BR" dirty="0"/>
                  <a:t>Agora retornamos ao problema da indução de </a:t>
                </a:r>
                <a:r>
                  <a:rPr lang="pt-BR" b="1" dirty="0"/>
                  <a:t>árvores de decisão.</a:t>
                </a: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84800" y="1825624"/>
                <a:ext cx="6807200" cy="5032376"/>
              </a:xfrm>
              <a:blipFill>
                <a:blip r:embed="rId3"/>
                <a:stretch>
                  <a:fillRect l="-1611" t="-1937" r="-716"/>
                </a:stretch>
              </a:blipFill>
            </p:spPr>
            <p:txBody>
              <a:bodyPr/>
              <a:lstStyle/>
              <a:p>
                <a:r>
                  <a:rPr lang="en-US">
                    <a:noFill/>
                  </a:rPr>
                  <a:t> </a:t>
                </a:r>
              </a:p>
            </p:txBody>
          </p:sp>
        </mc:Fallback>
      </mc:AlternateContent>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53869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353801" cy="5032376"/>
              </a:xfrm>
            </p:spPr>
            <p:txBody>
              <a:bodyPr>
                <a:normAutofit/>
              </a:bodyPr>
              <a:lstStyle/>
              <a:p>
                <a:r>
                  <a:rPr lang="pt-BR" dirty="0"/>
                  <a:t>Se um conjunto de treinamento, </a:t>
                </a:r>
                <a14:m>
                  <m:oMath xmlns:m="http://schemas.openxmlformats.org/officeDocument/2006/math">
                    <m:r>
                      <a:rPr lang="pt-BR" b="0" i="1" smtClean="0">
                        <a:latin typeface="Cambria Math" panose="02040503050406030204" pitchFamily="18" charset="0"/>
                      </a:rPr>
                      <m:t>𝐸</m:t>
                    </m:r>
                  </m:oMath>
                </a14:m>
                <a:r>
                  <a:rPr lang="pt-BR" dirty="0"/>
                  <a:t>, contém </a:t>
                </a:r>
                <a14:m>
                  <m:oMath xmlns:m="http://schemas.openxmlformats.org/officeDocument/2006/math">
                    <m:r>
                      <a:rPr lang="pt-BR" b="0" i="1" smtClean="0">
                        <a:latin typeface="Cambria Math" panose="02040503050406030204" pitchFamily="18" charset="0"/>
                      </a:rPr>
                      <m:t>𝑝</m:t>
                    </m:r>
                  </m:oMath>
                </a14:m>
                <a:r>
                  <a:rPr lang="pt-BR" dirty="0"/>
                  <a:t> exemplos pertencentes à classe positiva (</a:t>
                </a:r>
                <a:r>
                  <a:rPr lang="pt-BR" i="1" dirty="0"/>
                  <a:t>P</a:t>
                </a:r>
                <a:r>
                  <a:rPr lang="pt-BR" dirty="0"/>
                  <a:t>) e </a:t>
                </a:r>
                <a14:m>
                  <m:oMath xmlns:m="http://schemas.openxmlformats.org/officeDocument/2006/math">
                    <m:r>
                      <a:rPr lang="pt-BR" b="0" i="1" smtClean="0">
                        <a:latin typeface="Cambria Math" panose="02040503050406030204" pitchFamily="18" charset="0"/>
                      </a:rPr>
                      <m:t>𝑛</m:t>
                    </m:r>
                  </m:oMath>
                </a14:m>
                <a:r>
                  <a:rPr lang="pt-BR" dirty="0"/>
                  <a:t> exemplos pertencentes à classe negativa (</a:t>
                </a:r>
                <a:r>
                  <a:rPr lang="pt-BR" i="1" dirty="0"/>
                  <a:t>N</a:t>
                </a:r>
                <a:r>
                  <a:rPr lang="pt-BR" dirty="0"/>
                  <a:t>), então a </a:t>
                </a:r>
                <a:r>
                  <a:rPr lang="pt-BR" b="1" i="1" dirty="0">
                    <a:solidFill>
                      <a:srgbClr val="00B050"/>
                    </a:solidFill>
                  </a:rPr>
                  <a:t>entropia do objetivo</a:t>
                </a:r>
                <a:r>
                  <a:rPr lang="pt-BR" b="1" i="1" dirty="0"/>
                  <a:t> </a:t>
                </a:r>
                <a:r>
                  <a:rPr lang="pt-BR" dirty="0"/>
                  <a:t>(i.e., o rótulo) para todo o conjunto de treinamento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𝐺𝑜𝑎𝑙</m:t>
                          </m:r>
                        </m:e>
                      </m:d>
                      <m:r>
                        <a:rPr lang="pt-BR" sz="2600" b="0" i="1" smtClean="0">
                          <a:latin typeface="Cambria Math" panose="02040503050406030204" pitchFamily="18" charset="0"/>
                        </a:rPr>
                        <m:t>=</m:t>
                      </m:r>
                      <m:r>
                        <a:rPr lang="pt-BR" sz="2600" b="0" i="1" smtClean="0">
                          <a:latin typeface="Cambria Math" panose="02040503050406030204" pitchFamily="18" charset="0"/>
                        </a:rPr>
                        <m:t>𝐵</m:t>
                      </m:r>
                      <m:d>
                        <m:dPr>
                          <m:ctrlPr>
                            <a:rPr lang="pt-BR" sz="2600" b="0" i="1" smtClean="0">
                              <a:latin typeface="Cambria Math" panose="02040503050406030204" pitchFamily="18" charset="0"/>
                            </a:rPr>
                          </m:ctrlPr>
                        </m:dPr>
                        <m:e>
                          <m:f>
                            <m:fPr>
                              <m:ctrlPr>
                                <a:rPr lang="pt-BR" sz="2600" b="0" i="1" smtClean="0">
                                  <a:latin typeface="Cambria Math" panose="02040503050406030204" pitchFamily="18" charset="0"/>
                                </a:rPr>
                              </m:ctrlPr>
                            </m:fPr>
                            <m:num>
                              <m:r>
                                <a:rPr lang="pt-BR" sz="2600" b="0" i="1" smtClean="0">
                                  <a:latin typeface="Cambria Math" panose="02040503050406030204" pitchFamily="18" charset="0"/>
                                </a:rPr>
                                <m:t>𝑝</m:t>
                              </m:r>
                            </m:num>
                            <m:den>
                              <m:r>
                                <a:rPr lang="pt-BR" sz="2600" b="0" i="1" smtClean="0">
                                  <a:latin typeface="Cambria Math" panose="02040503050406030204" pitchFamily="18" charset="0"/>
                                </a:rPr>
                                <m:t>𝑝</m:t>
                              </m:r>
                              <m:r>
                                <a:rPr lang="pt-BR" sz="2600" b="0" i="1" smtClean="0">
                                  <a:latin typeface="Cambria Math" panose="02040503050406030204" pitchFamily="18" charset="0"/>
                                </a:rPr>
                                <m:t>+</m:t>
                              </m:r>
                              <m:r>
                                <a:rPr lang="pt-BR" sz="2600" b="0" i="1" smtClean="0">
                                  <a:latin typeface="Cambria Math" panose="02040503050406030204" pitchFamily="18" charset="0"/>
                                </a:rPr>
                                <m:t>𝑛</m:t>
                              </m:r>
                            </m:den>
                          </m:f>
                        </m:e>
                      </m:d>
                      <m:r>
                        <a:rPr lang="pt-BR" sz="2600" b="0" i="1" smtClean="0">
                          <a:latin typeface="Cambria Math" panose="02040503050406030204" pitchFamily="18" charset="0"/>
                        </a:rPr>
                        <m:t>=−</m:t>
                      </m:r>
                      <m:d>
                        <m:dPr>
                          <m:begChr m:val="["/>
                          <m:endChr m:val="]"/>
                          <m:ctrlPr>
                            <a:rPr lang="pt-BR" sz="2600" b="0" i="1" smtClean="0">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e>
                      </m:d>
                      <m:r>
                        <a:rPr lang="pt-BR" sz="2600" b="0" i="0" smtClean="0">
                          <a:latin typeface="Cambria Math" panose="02040503050406030204" pitchFamily="18" charset="0"/>
                        </a:rPr>
                        <m:t>,</m:t>
                      </m:r>
                    </m:oMath>
                  </m:oMathPara>
                </a14:m>
                <a:endParaRPr lang="pt-BR" sz="2600" dirty="0"/>
              </a:p>
              <a:p>
                <a:pPr marL="0" indent="0">
                  <a:buNone/>
                </a:pPr>
                <a:r>
                  <a:rPr lang="pt-BR" dirty="0"/>
                  <a:t>onde </a:t>
                </a:r>
                <a14:m>
                  <m:oMath xmlns:m="http://schemas.openxmlformats.org/officeDocument/2006/math">
                    <m:r>
                      <a:rPr lang="pt-BR" i="1">
                        <a:latin typeface="Cambria Math" panose="02040503050406030204" pitchFamily="18" charset="0"/>
                      </a:rPr>
                      <m:t>𝐵</m:t>
                    </m:r>
                    <m:d>
                      <m:dPr>
                        <m:ctrlPr>
                          <a:rPr lang="pt-BR" i="1">
                            <a:latin typeface="Cambria Math" panose="02040503050406030204" pitchFamily="18" charset="0"/>
                          </a:rPr>
                        </m:ctrlPr>
                      </m:dPr>
                      <m:e>
                        <m:r>
                          <a:rPr lang="pt-BR" b="0" i="1" smtClean="0">
                            <a:latin typeface="Cambria Math" panose="02040503050406030204" pitchFamily="18" charset="0"/>
                          </a:rPr>
                          <m:t>𝑞</m:t>
                        </m:r>
                      </m:e>
                    </m:d>
                  </m:oMath>
                </a14:m>
                <a:r>
                  <a:rPr lang="pt-BR" dirty="0"/>
                  <a:t> é a </a:t>
                </a:r>
                <a:r>
                  <a:rPr lang="pt-BR" b="1" dirty="0"/>
                  <a:t>entropia de uma </a:t>
                </a:r>
                <a:r>
                  <a:rPr lang="pt-BR" b="1" dirty="0">
                    <a:solidFill>
                      <a:schemeClr val="accent2"/>
                    </a:solidFill>
                  </a:rPr>
                  <a:t>variável booleana</a:t>
                </a:r>
                <a:r>
                  <a:rPr lang="pt-BR" b="1" dirty="0"/>
                  <a:t> que é verdadeira com probabilidade igual a </a:t>
                </a:r>
                <a14:m>
                  <m:oMath xmlns:m="http://schemas.openxmlformats.org/officeDocument/2006/math">
                    <m:r>
                      <a:rPr lang="pt-BR" i="1">
                        <a:latin typeface="Cambria Math" panose="02040503050406030204" pitchFamily="18" charset="0"/>
                      </a:rPr>
                      <m:t>𝑞</m:t>
                    </m:r>
                  </m:oMath>
                </a14:m>
                <a:r>
                  <a:rPr lang="pt-BR" dirty="0"/>
                  <a:t>, ou seja </a:t>
                </a:r>
              </a:p>
              <a:p>
                <a:pPr marL="0" indent="0">
                  <a:buNone/>
                </a:pPr>
                <a14:m>
                  <m:oMathPara xmlns:m="http://schemas.openxmlformats.org/officeDocument/2006/math">
                    <m:oMathParaPr>
                      <m:jc m:val="centerGroup"/>
                    </m:oMathParaPr>
                    <m:oMath xmlns:m="http://schemas.openxmlformats.org/officeDocument/2006/math">
                      <m:r>
                        <a:rPr lang="pt-BR" sz="2600" i="1">
                          <a:latin typeface="Cambria Math" panose="02040503050406030204" pitchFamily="18" charset="0"/>
                        </a:rPr>
                        <m:t>𝐵</m:t>
                      </m:r>
                      <m:d>
                        <m:dPr>
                          <m:ctrlPr>
                            <a:rPr lang="pt-BR" sz="2600" i="1">
                              <a:latin typeface="Cambria Math" panose="02040503050406030204" pitchFamily="18" charset="0"/>
                            </a:rPr>
                          </m:ctrlPr>
                        </m:dPr>
                        <m:e>
                          <m:r>
                            <a:rPr lang="pt-BR" sz="2600" i="1">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e>
                      </m:d>
                      <m:r>
                        <a:rPr lang="pt-BR" sz="2600" b="0" i="0" smtClean="0">
                          <a:latin typeface="Cambria Math" panose="02040503050406030204" pitchFamily="18" charset="0"/>
                        </a:rPr>
                        <m:t>.</m:t>
                      </m:r>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353801" cy="5032376"/>
              </a:xfrm>
              <a:blipFill>
                <a:blip r:embed="rId3"/>
                <a:stretch>
                  <a:fillRect l="-1074" t="-1937" r="-537"/>
                </a:stretch>
              </a:blipFill>
            </p:spPr>
            <p:txBody>
              <a:bodyPr/>
              <a:lstStyle/>
              <a:p>
                <a:r>
                  <a:rPr lang="en-US">
                    <a:noFill/>
                  </a:rPr>
                  <a:t> </a:t>
                </a:r>
              </a:p>
            </p:txBody>
          </p:sp>
        </mc:Fallback>
      </mc:AlternateContent>
    </p:spTree>
    <p:extLst>
      <p:ext uri="{BB962C8B-B14F-4D97-AF65-F5344CB8AC3E}">
        <p14:creationId xmlns:p14="http://schemas.microsoft.com/office/powerpoint/2010/main" val="4825139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41505" cy="5032376"/>
              </a:xfrm>
            </p:spPr>
            <p:txBody>
              <a:bodyPr>
                <a:normAutofit/>
              </a:bodyPr>
              <a:lstStyle/>
              <a:p>
                <a:r>
                  <a:rPr lang="pt-BR" dirty="0"/>
                  <a:t>Um teste em um único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pode nos dar </a:t>
                </a:r>
                <a:r>
                  <a:rPr lang="pt-BR" b="1" dirty="0">
                    <a:solidFill>
                      <a:srgbClr val="00B050"/>
                    </a:solidFill>
                  </a:rPr>
                  <a:t>toda ou apenas parte da </a:t>
                </a:r>
                <a:r>
                  <a:rPr lang="pt-BR" b="1" dirty="0">
                    <a:solidFill>
                      <a:srgbClr val="7030A0"/>
                    </a:solidFill>
                  </a:rPr>
                  <a:t>entropia do objetivo</a:t>
                </a:r>
                <a:r>
                  <a:rPr lang="pt-BR" dirty="0"/>
                  <a:t>,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𝐺𝑜𝑎𝑙</m:t>
                        </m:r>
                      </m:e>
                    </m:d>
                  </m:oMath>
                </a14:m>
                <a:r>
                  <a:rPr lang="pt-BR" dirty="0"/>
                  <a:t>. </a:t>
                </a:r>
              </a:p>
              <a:p>
                <a:r>
                  <a:rPr lang="pt-BR" dirty="0"/>
                  <a:t>Nós podemos medir exatamente o </a:t>
                </a:r>
                <a:r>
                  <a:rPr lang="pt-BR" b="1" dirty="0"/>
                  <a:t>quanto cada atributo contribui para a </a:t>
                </a:r>
                <a:r>
                  <a:rPr lang="pt-BR" b="1" dirty="0">
                    <a:solidFill>
                      <a:srgbClr val="00B050"/>
                    </a:solidFill>
                  </a:rPr>
                  <a:t>entropia do objetivo </a:t>
                </a:r>
                <a:r>
                  <a:rPr lang="pt-BR" dirty="0"/>
                  <a:t>através do cálculo da </a:t>
                </a:r>
                <a:r>
                  <a:rPr lang="pt-BR" b="1" dirty="0">
                    <a:solidFill>
                      <a:schemeClr val="accent2"/>
                    </a:solidFill>
                  </a:rPr>
                  <a:t>entropia restante após o teste do atributo</a:t>
                </a:r>
                <a:r>
                  <a:rPr lang="pt-BR" dirty="0"/>
                  <a:t>.</a:t>
                </a:r>
              </a:p>
              <a:p>
                <a:r>
                  <a:rPr lang="pt-BR" dirty="0"/>
                  <a:t>Um </a:t>
                </a:r>
                <a:r>
                  <a:rPr lang="pt-BR" b="1" dirty="0"/>
                  <a:t>atributo</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𝑘</m:t>
                        </m:r>
                      </m:sub>
                    </m:sSub>
                  </m:oMath>
                </a14:m>
                <a:r>
                  <a:rPr lang="pt-BR" dirty="0"/>
                  <a:t> </a:t>
                </a:r>
                <a:r>
                  <a:rPr lang="pt-BR" b="1" dirty="0"/>
                  <a:t>com</a:t>
                </a:r>
                <a:r>
                  <a:rPr lang="pt-BR" b="1" i="1" dirty="0"/>
                  <a:t> </a:t>
                </a:r>
                <a14:m>
                  <m:oMath xmlns:m="http://schemas.openxmlformats.org/officeDocument/2006/math">
                    <m:r>
                      <a:rPr lang="pt-BR" b="0" i="1" smtClean="0">
                        <a:latin typeface="Cambria Math" panose="02040503050406030204" pitchFamily="18" charset="0"/>
                      </a:rPr>
                      <m:t>𝑑</m:t>
                    </m:r>
                  </m:oMath>
                </a14:m>
                <a:r>
                  <a:rPr lang="pt-BR" b="1" i="1" dirty="0"/>
                  <a:t> </a:t>
                </a:r>
                <a:r>
                  <a:rPr lang="pt-BR" b="1" dirty="0"/>
                  <a:t>valores distintos divide o conjunto de treinamento </a:t>
                </a:r>
                <a14:m>
                  <m:oMath xmlns:m="http://schemas.openxmlformats.org/officeDocument/2006/math">
                    <m:r>
                      <a:rPr lang="pt-BR" b="0" i="1" smtClean="0">
                        <a:latin typeface="Cambria Math" panose="02040503050406030204" pitchFamily="18" charset="0"/>
                      </a:rPr>
                      <m:t>𝐸</m:t>
                    </m:r>
                  </m:oMath>
                </a14:m>
                <a:r>
                  <a:rPr lang="pt-BR" b="1" i="1" dirty="0"/>
                  <a:t> </a:t>
                </a:r>
                <a:r>
                  <a:rPr lang="pt-BR" b="1" dirty="0"/>
                  <a:t>em</a:t>
                </a:r>
                <a:r>
                  <a:rPr lang="pt-BR" b="1" i="1" dirty="0"/>
                  <a:t> </a:t>
                </a:r>
                <a14:m>
                  <m:oMath xmlns:m="http://schemas.openxmlformats.org/officeDocument/2006/math">
                    <m:r>
                      <a:rPr lang="pt-BR" b="0" i="1">
                        <a:latin typeface="Cambria Math" panose="02040503050406030204" pitchFamily="18" charset="0"/>
                      </a:rPr>
                      <m:t>𝑑</m:t>
                    </m:r>
                    <m:r>
                      <a:rPr lang="pt-BR" b="1" i="1">
                        <a:latin typeface="Cambria Math" panose="02040503050406030204" pitchFamily="18" charset="0"/>
                      </a:rPr>
                      <m:t> </m:t>
                    </m:r>
                  </m:oMath>
                </a14:m>
                <a:r>
                  <a:rPr lang="pt-BR" b="1" dirty="0"/>
                  <a:t>subconjuntos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𝑑</m:t>
                        </m:r>
                      </m:sub>
                    </m:sSub>
                  </m:oMath>
                </a14:m>
                <a:r>
                  <a:rPr lang="pt-BR" dirty="0"/>
                  <a:t>. </a:t>
                </a:r>
              </a:p>
              <a:p>
                <a:r>
                  <a:rPr lang="pt-BR" dirty="0"/>
                  <a:t>Cada subconjunto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rPr>
                      <m:t>𝑖</m:t>
                    </m:r>
                    <m:r>
                      <a:rPr lang="pt-BR" b="0" i="1" smtClean="0">
                        <a:latin typeface="Cambria Math" panose="02040503050406030204" pitchFamily="18" charset="0"/>
                        <a:ea typeface="Cambria Math" panose="02040503050406030204" pitchFamily="18" charset="0"/>
                      </a:rPr>
                      <m:t>∈{1, …</m:t>
                    </m:r>
                    <m:r>
                      <a:rPr lang="pt-BR" b="0" i="1" smtClean="0">
                        <a:latin typeface="Cambria Math" panose="02040503050406030204" pitchFamily="18" charset="0"/>
                        <a:ea typeface="Cambria Math" panose="02040503050406030204" pitchFamily="18" charset="0"/>
                      </a:rPr>
                      <m:t>𝑑</m:t>
                    </m:r>
                    <m:r>
                      <a:rPr lang="pt-BR" b="0" i="1" smtClean="0">
                        <a:latin typeface="Cambria Math" panose="02040503050406030204" pitchFamily="18" charset="0"/>
                        <a:ea typeface="Cambria Math" panose="02040503050406030204" pitchFamily="18" charset="0"/>
                      </a:rPr>
                      <m:t>}</m:t>
                    </m:r>
                  </m:oMath>
                </a14:m>
                <a:r>
                  <a:rPr lang="pt-BR" dirty="0"/>
                  <a:t>, possui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𝑝</m:t>
                        </m:r>
                      </m:e>
                      <m:sub>
                        <m:r>
                          <a:rPr lang="pt-BR" b="0" i="1" smtClean="0">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positiva, </a:t>
                </a:r>
                <a:r>
                  <a:rPr lang="pt-BR" i="1" dirty="0"/>
                  <a:t>P</a:t>
                </a:r>
                <a:r>
                  <a:rPr lang="pt-BR" dirty="0"/>
                  <a:t>, e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negativa, </a:t>
                </a:r>
                <a:r>
                  <a:rPr lang="pt-BR" i="1" dirty="0"/>
                  <a:t>N</a:t>
                </a:r>
                <a:r>
                  <a:rPr lang="pt-BR" dirty="0"/>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41505" cy="5032376"/>
              </a:xfrm>
              <a:blipFill>
                <a:blip r:embed="rId3"/>
                <a:stretch>
                  <a:fillRect l="-921" t="-1937" r="-1572"/>
                </a:stretch>
              </a:blipFill>
            </p:spPr>
            <p:txBody>
              <a:bodyPr/>
              <a:lstStyle/>
              <a:p>
                <a:r>
                  <a:rPr lang="en-US">
                    <a:noFill/>
                  </a:rPr>
                  <a:t> </a:t>
                </a:r>
              </a:p>
            </p:txBody>
          </p:sp>
        </mc:Fallback>
      </mc:AlternateContent>
    </p:spTree>
    <p:extLst>
      <p:ext uri="{BB962C8B-B14F-4D97-AF65-F5344CB8AC3E}">
        <p14:creationId xmlns:p14="http://schemas.microsoft.com/office/powerpoint/2010/main" val="14841463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a:bodyPr>
              <a:lstStyle/>
              <a:p>
                <a:r>
                  <a:rPr lang="pt-BR" dirty="0"/>
                  <a:t>Um exemplo escolhido aleatoriamente do conjunto de treinamento tem probabilidade igual a </a:t>
                </a:r>
                <a14:m>
                  <m:oMath xmlns:m="http://schemas.openxmlformats.org/officeDocument/2006/math">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𝑝</m:t>
                        </m:r>
                      </m:e>
                      <m:sub>
                        <m:r>
                          <a:rPr lang="pt-BR" i="1">
                            <a:latin typeface="Cambria Math" panose="02040503050406030204" pitchFamily="18" charset="0"/>
                          </a:rPr>
                          <m:t>𝑖</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b="0" i="1" smtClean="0">
                        <a:latin typeface="Cambria Math" panose="02040503050406030204" pitchFamily="18" charset="0"/>
                      </a:rPr>
                      <m:t>𝑝</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de pertencer ao </a:t>
                </a:r>
                <a14:m>
                  <m:oMath xmlns:m="http://schemas.openxmlformats.org/officeDocument/2006/math">
                    <m:r>
                      <a:rPr lang="pt-BR" b="0" i="1" smtClean="0">
                        <a:latin typeface="Cambria Math" panose="02040503050406030204" pitchFamily="18" charset="0"/>
                      </a:rPr>
                      <m:t>𝑖</m:t>
                    </m:r>
                  </m:oMath>
                </a14:m>
                <a:r>
                  <a:rPr lang="pt-BR" dirty="0"/>
                  <a:t>-ésimo subconjunto,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b="0" i="1" smtClean="0">
                            <a:latin typeface="Cambria Math" panose="02040503050406030204" pitchFamily="18" charset="0"/>
                          </a:rPr>
                          <m:t>𝑖</m:t>
                        </m:r>
                      </m:sub>
                    </m:sSub>
                  </m:oMath>
                </a14:m>
                <a:r>
                  <a:rPr lang="pt-BR" dirty="0"/>
                  <a:t>,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a:t>
                </a:r>
              </a:p>
              <a:p>
                <a:r>
                  <a:rPr lang="pt-BR" dirty="0"/>
                  <a:t>Assim, a </a:t>
                </a:r>
                <a:r>
                  <a:rPr lang="pt-BR" b="1" dirty="0">
                    <a:solidFill>
                      <a:srgbClr val="00B050"/>
                    </a:solidFill>
                  </a:rPr>
                  <a:t>entropia restante</a:t>
                </a:r>
                <a:r>
                  <a:rPr lang="pt-BR" dirty="0"/>
                  <a:t> após o teste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𝑅𝑒𝑚𝑎𝑖𝑛𝑑𝑒𝑟</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nary>
                        <m:naryPr>
                          <m:chr m:val="∑"/>
                          <m:ctrlPr>
                            <a:rPr lang="pt-BR" sz="2600" b="0" i="1" smtClean="0">
                              <a:latin typeface="Cambria Math" panose="02040503050406030204" pitchFamily="18" charset="0"/>
                            </a:rPr>
                          </m:ctrlPr>
                        </m:naryPr>
                        <m:sub>
                          <m:r>
                            <m:rPr>
                              <m:brk m:alnAt="23"/>
                            </m:rPr>
                            <a:rPr lang="pt-BR" sz="2600" b="0" i="1" smtClean="0">
                              <a:latin typeface="Cambria Math" panose="02040503050406030204" pitchFamily="18" charset="0"/>
                            </a:rPr>
                            <m:t>𝑖</m:t>
                          </m:r>
                          <m:r>
                            <a:rPr lang="pt-BR" sz="2600" b="0" i="1" smtClean="0">
                              <a:latin typeface="Cambria Math" panose="02040503050406030204" pitchFamily="18" charset="0"/>
                            </a:rPr>
                            <m:t>=1</m:t>
                          </m:r>
                        </m:sub>
                        <m:sup>
                          <m:r>
                            <a:rPr lang="pt-BR" sz="2600" b="0" i="1" smtClean="0">
                              <a:latin typeface="Cambria Math" panose="02040503050406030204" pitchFamily="18" charset="0"/>
                            </a:rPr>
                            <m:t>𝑑</m:t>
                          </m:r>
                        </m:sup>
                        <m:e>
                          <m:f>
                            <m:fPr>
                              <m:ctrlPr>
                                <a:rPr lang="pt-BR" sz="2600" b="0" i="1" smtClean="0">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nary>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num>
                            <m:den>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den>
                          </m:f>
                        </m:e>
                      </m:d>
                      <m:r>
                        <a:rPr lang="pt-BR" sz="2600" b="0" i="0" smtClean="0">
                          <a:latin typeface="Cambria Math" panose="02040503050406030204" pitchFamily="18" charset="0"/>
                        </a:rPr>
                        <m:t>.</m:t>
                      </m:r>
                    </m:oMath>
                  </m:oMathPara>
                </a14:m>
                <a:endParaRPr lang="pt-BR" sz="2600" dirty="0"/>
              </a:p>
              <a:p>
                <a:r>
                  <a:rPr lang="pt-BR" dirty="0"/>
                  <a:t>O </a:t>
                </a:r>
                <a:r>
                  <a:rPr lang="pt-BR" b="1" dirty="0">
                    <a:solidFill>
                      <a:schemeClr val="accent2"/>
                    </a:solidFill>
                  </a:rPr>
                  <a:t>ganho de informação</a:t>
                </a:r>
                <a:r>
                  <a:rPr lang="pt-BR" b="1" dirty="0"/>
                  <a:t> </a:t>
                </a:r>
                <a:r>
                  <a:rPr lang="pt-BR" dirty="0"/>
                  <a:t>com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a </a:t>
                </a:r>
                <a:r>
                  <a:rPr lang="pt-BR" b="1" dirty="0">
                    <a:solidFill>
                      <a:srgbClr val="7030A0"/>
                    </a:solidFill>
                  </a:rPr>
                  <a:t>redução na entropia</a:t>
                </a:r>
                <a:r>
                  <a:rPr lang="pt-BR" dirty="0">
                    <a:solidFill>
                      <a:srgbClr val="7030A0"/>
                    </a:solidFill>
                  </a:rPr>
                  <a:t> </a:t>
                </a:r>
                <a:r>
                  <a:rPr lang="pt-BR" b="1" dirty="0">
                    <a:solidFill>
                      <a:srgbClr val="7030A0"/>
                    </a:solidFill>
                  </a:rPr>
                  <a:t>do objetivo</a:t>
                </a:r>
                <a:r>
                  <a:rPr lang="pt-BR" dirty="0"/>
                  <a:t>, que é dado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𝐺𝑎𝑖𝑛</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r>
                        <a:rPr lang="pt-BR" sz="2600" b="0" i="1" smtClean="0">
                          <a:latin typeface="Cambria Math" panose="02040503050406030204" pitchFamily="18" charset="0"/>
                        </a:rPr>
                        <m:t>−</m:t>
                      </m:r>
                      <m:r>
                        <a:rPr lang="pt-BR" sz="2600" i="1">
                          <a:latin typeface="Cambria Math" panose="02040503050406030204" pitchFamily="18" charset="0"/>
                        </a:rPr>
                        <m:t>𝑅𝑒𝑚𝑎𝑖𝑛𝑑𝑒𝑟</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dirty="0">
                          <a:latin typeface="Cambria Math" panose="02040503050406030204" pitchFamily="18" charset="0"/>
                          <a:ea typeface="Cambria Math" panose="02040503050406030204" pitchFamily="18" charset="0"/>
                        </a:rPr>
                        <m:t>≥</m:t>
                      </m:r>
                      <m:r>
                        <a:rPr lang="pt-BR" sz="2600" b="0" i="0" dirty="0" smtClean="0">
                          <a:latin typeface="Cambria Math" panose="02040503050406030204" pitchFamily="18" charset="0"/>
                          <a:ea typeface="Cambria Math" panose="02040503050406030204" pitchFamily="18" charset="0"/>
                        </a:rPr>
                        <m:t>0.</m:t>
                      </m:r>
                    </m:oMath>
                  </m:oMathPara>
                </a14:m>
                <a:endParaRPr lang="pt-BR" sz="2600" dirty="0"/>
              </a:p>
              <a:p>
                <a:r>
                  <a:rPr lang="pt-BR" sz="2600" dirty="0"/>
                  <a:t>O menor valor de </a:t>
                </a:r>
                <a14:m>
                  <m:oMath xmlns:m="http://schemas.openxmlformats.org/officeDocument/2006/math">
                    <m:r>
                      <a:rPr lang="pt-BR" sz="2600" i="1">
                        <a:latin typeface="Cambria Math" panose="02040503050406030204" pitchFamily="18" charset="0"/>
                      </a:rPr>
                      <m:t>𝐺𝑎𝑖𝑛</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oMath>
                </a14:m>
                <a:r>
                  <a:rPr lang="pt-BR" sz="2600" dirty="0"/>
                  <a:t> é 0, pois </a:t>
                </a:r>
                <a14:m>
                  <m:oMath xmlns:m="http://schemas.openxmlformats.org/officeDocument/2006/math">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oMath>
                </a14:m>
                <a:r>
                  <a:rPr lang="pt-BR" sz="2600" dirty="0"/>
                  <a:t> pode explicar todo o conjunto.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a:blip r:embed="rId3"/>
                <a:stretch>
                  <a:fillRect l="-967" t="-1937" b="-1453"/>
                </a:stretch>
              </a:blipFill>
            </p:spPr>
            <p:txBody>
              <a:bodyPr/>
              <a:lstStyle/>
              <a:p>
                <a:r>
                  <a:rPr lang="en-US">
                    <a:noFill/>
                  </a:rPr>
                  <a:t> </a:t>
                </a:r>
              </a:p>
            </p:txBody>
          </p:sp>
        </mc:Fallback>
      </mc:AlternateContent>
    </p:spTree>
    <p:extLst>
      <p:ext uri="{BB962C8B-B14F-4D97-AF65-F5344CB8AC3E}">
        <p14:creationId xmlns:p14="http://schemas.microsoft.com/office/powerpoint/2010/main" val="18853392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03758" y="1825624"/>
                <a:ext cx="5991725" cy="5032376"/>
              </a:xfrm>
            </p:spPr>
            <p:txBody>
              <a:bodyPr>
                <a:normAutofit/>
              </a:bodyPr>
              <a:lstStyle/>
              <a:p>
                <a:r>
                  <a:rPr lang="pt-BR" dirty="0"/>
                  <a:t>A ideia por trás do </a:t>
                </a:r>
                <a:r>
                  <a:rPr lang="pt-BR" b="1" dirty="0"/>
                  <a:t>método ID3 </a:t>
                </a:r>
                <a:r>
                  <a:rPr lang="pt-BR" dirty="0"/>
                  <a:t>é encontrar o </a:t>
                </a:r>
                <a:r>
                  <a:rPr lang="pt-BR" b="1" dirty="0">
                    <a:solidFill>
                      <a:schemeClr val="accent2"/>
                    </a:solidFill>
                  </a:rPr>
                  <a:t>atributo</a:t>
                </a:r>
                <a:r>
                  <a:rPr lang="pt-BR" b="1" i="1" dirty="0">
                    <a:solidFill>
                      <a:schemeClr val="accent2"/>
                    </a:solidFill>
                  </a:rPr>
                  <a:t> </a:t>
                </a:r>
                <a14:m>
                  <m:oMath xmlns:m="http://schemas.openxmlformats.org/officeDocument/2006/math">
                    <m:sSub>
                      <m:sSubPr>
                        <m:ctrlPr>
                          <a:rPr lang="pt-BR" b="1" i="1">
                            <a:solidFill>
                              <a:schemeClr val="accent2"/>
                            </a:solidFill>
                            <a:latin typeface="Cambria Math" panose="02040503050406030204" pitchFamily="18" charset="0"/>
                          </a:rPr>
                        </m:ctrlPr>
                      </m:sSubPr>
                      <m:e>
                        <m:r>
                          <a:rPr lang="pt-BR" b="1" i="1">
                            <a:solidFill>
                              <a:schemeClr val="accent2"/>
                            </a:solidFill>
                            <a:latin typeface="Cambria Math" panose="02040503050406030204" pitchFamily="18" charset="0"/>
                          </a:rPr>
                          <m:t>𝒙</m:t>
                        </m:r>
                      </m:e>
                      <m:sub>
                        <m:r>
                          <a:rPr lang="pt-BR" b="1" i="1">
                            <a:solidFill>
                              <a:schemeClr val="accent2"/>
                            </a:solidFill>
                            <a:latin typeface="Cambria Math" panose="02040503050406030204" pitchFamily="18" charset="0"/>
                          </a:rPr>
                          <m:t>𝒌</m:t>
                        </m:r>
                      </m:sub>
                    </m:sSub>
                  </m:oMath>
                </a14:m>
                <a:r>
                  <a:rPr lang="pt-BR" b="1" i="1" dirty="0">
                    <a:solidFill>
                      <a:schemeClr val="accent2"/>
                    </a:solidFill>
                  </a:rPr>
                  <a:t> </a:t>
                </a:r>
                <a:r>
                  <a:rPr lang="pt-BR" b="1" dirty="0">
                    <a:solidFill>
                      <a:schemeClr val="accent2"/>
                    </a:solidFill>
                  </a:rPr>
                  <a:t>que maximiza o ganho de informação</a:t>
                </a:r>
                <a:r>
                  <a:rPr lang="pt-BR" dirty="0"/>
                  <a:t> e, então, usar o procedimento </a:t>
                </a:r>
                <a:r>
                  <a:rPr lang="pt-BR" b="1" dirty="0">
                    <a:solidFill>
                      <a:srgbClr val="00B050"/>
                    </a:solidFill>
                  </a:rPr>
                  <a:t>recursivamente com os demais atributos</a:t>
                </a:r>
                <a:r>
                  <a:rPr lang="pt-BR" dirty="0"/>
                  <a:t>. </a:t>
                </a:r>
              </a:p>
              <a:p>
                <a:r>
                  <a:rPr lang="pt-BR" dirty="0"/>
                  <a:t>Ou seja, escolhe-se o atributo que gera a primeira ramificação e, então, se repete o processo usando os demais atributos para construir o restante da árvore.</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03758" y="1825624"/>
                <a:ext cx="5991725" cy="5032376"/>
              </a:xfrm>
              <a:blipFill>
                <a:blip r:embed="rId3"/>
                <a:stretch>
                  <a:fillRect l="-1831" t="-1937" r="-2848"/>
                </a:stretch>
              </a:blipFill>
            </p:spPr>
            <p:txBody>
              <a:bodyPr/>
              <a:lstStyle/>
              <a:p>
                <a:r>
                  <a:rPr lang="en-US">
                    <a:noFill/>
                  </a:rPr>
                  <a:t> </a:t>
                </a:r>
              </a:p>
            </p:txBody>
          </p:sp>
        </mc:Fallback>
      </mc:AlternateContent>
      <p:pic>
        <p:nvPicPr>
          <p:cNvPr id="6146" name="Picture 2" descr="Decision Tree Algorithm. Demystifying Decision Tree Classifier… | by  Abdul4code | GoPenAI">
            <a:extLst>
              <a:ext uri="{FF2B5EF4-FFF2-40B4-BE49-F238E27FC236}">
                <a16:creationId xmlns:a16="http://schemas.microsoft.com/office/drawing/2014/main" id="{4E394074-4A61-349B-CF87-6EDBA0F615C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8097" y="2492625"/>
            <a:ext cx="5353519" cy="29576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7292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fontScale="92500"/>
              </a:bodyPr>
              <a:lstStyle/>
              <a:p>
                <a:pPr marL="457200" indent="-457200">
                  <a:buFont typeface="+mj-lt"/>
                  <a:buAutoNum type="alphaLcParenR"/>
                </a:pPr>
                <a:r>
                  <a:rPr lang="pt-BR" dirty="0"/>
                  <a:t>Cálculo da </a:t>
                </a:r>
                <a:r>
                  <a:rPr lang="pt-BR" b="1" dirty="0"/>
                  <a:t>entropia do objetivo </a:t>
                </a:r>
                <a:r>
                  <a:rPr lang="pt-BR" dirty="0"/>
                  <a:t>para o (sub)conjunto de treinamento </a:t>
                </a:r>
                <a:r>
                  <a:rPr lang="pt-BR" b="1" dirty="0"/>
                  <a:t>corrente</a:t>
                </a:r>
                <a:r>
                  <a:rPr lang="pt-BR" dirty="0"/>
                  <a:t>.</a:t>
                </a:r>
                <a:endParaRPr lang="pt-BR" b="1" dirty="0"/>
              </a:p>
              <a:p>
                <a:pPr lvl="1">
                  <a:buFont typeface="Wingdings" panose="05000000000000000000" pitchFamily="2" charset="2"/>
                  <a:buChar char="§"/>
                </a:pPr>
                <a:r>
                  <a:rPr lang="pt-BR" b="1" dirty="0"/>
                  <a:t>OBS</a:t>
                </a:r>
                <a:r>
                  <a:rPr lang="pt-BR" dirty="0"/>
                  <a:t>.: o (sub)conjunto é alterado a cada nova iteração do método de acordo com o(s) atributo(s) sendo testado(s).</a:t>
                </a:r>
              </a:p>
              <a:p>
                <a:pPr marL="457200" indent="-457200">
                  <a:buFont typeface="+mj-lt"/>
                  <a:buAutoNum type="alphaLcParenR"/>
                </a:pPr>
                <a:r>
                  <a:rPr lang="pt-BR" dirty="0"/>
                  <a:t>Cálculo do </a:t>
                </a:r>
                <a:r>
                  <a:rPr lang="pt-BR" b="1" dirty="0"/>
                  <a:t>ganho de informação </a:t>
                </a:r>
                <a:r>
                  <a:rPr lang="pt-BR" dirty="0"/>
                  <a:t>de cada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r>
                  <a:rPr lang="pt-BR" dirty="0"/>
                  <a:t> do conjunto de treinamento, </a:t>
                </a:r>
                <a14:m>
                  <m:oMath xmlns:m="http://schemas.openxmlformats.org/officeDocument/2006/math">
                    <m:r>
                      <a:rPr lang="pt-BR" i="1">
                        <a:latin typeface="Cambria Math" panose="02040503050406030204" pitchFamily="18" charset="0"/>
                      </a:rPr>
                      <m:t>𝐸</m:t>
                    </m:r>
                  </m:oMath>
                </a14:m>
                <a:r>
                  <a:rPr lang="pt-BR" dirty="0"/>
                  <a:t>.</a:t>
                </a:r>
              </a:p>
              <a:p>
                <a:pPr marL="457200" indent="-457200">
                  <a:buFont typeface="+mj-lt"/>
                  <a:buAutoNum type="alphaLcParenR"/>
                </a:pPr>
                <a:r>
                  <a:rPr lang="pt-BR" dirty="0"/>
                  <a:t>Criação de um nó com o atributo que maximizou o </a:t>
                </a:r>
                <a:r>
                  <a:rPr lang="pt-BR" b="1" dirty="0"/>
                  <a:t>ganho de informação</a:t>
                </a:r>
                <a:r>
                  <a:rPr lang="pt-BR" dirty="0"/>
                  <a:t>.</a:t>
                </a:r>
              </a:p>
              <a:p>
                <a:pPr marL="457200" indent="-457200">
                  <a:buFont typeface="+mj-lt"/>
                  <a:buAutoNum type="alphaLcParenR"/>
                </a:pPr>
                <a:r>
                  <a:rPr lang="pt-BR" b="1" dirty="0"/>
                  <a:t>Particionamento do (sub)conjunto em subconjuntos</a:t>
                </a:r>
                <a:r>
                  <a:rPr lang="pt-BR" b="1" i="1" dirty="0"/>
                  <a:t> </a:t>
                </a:r>
                <a:r>
                  <a:rPr lang="pt-BR" dirty="0"/>
                  <a:t>usando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para o qual o </a:t>
                </a:r>
                <a:r>
                  <a:rPr lang="pt-BR" b="1" dirty="0"/>
                  <a:t>ganho de informação</a:t>
                </a:r>
                <a:r>
                  <a:rPr lang="pt-BR" b="1" i="1" dirty="0"/>
                  <a:t> </a:t>
                </a:r>
                <a:r>
                  <a:rPr lang="pt-BR" dirty="0"/>
                  <a:t>resultante após a divisão é maximizado.</a:t>
                </a:r>
              </a:p>
              <a:p>
                <a:pPr marL="457200" indent="-457200">
                  <a:buFont typeface="+mj-lt"/>
                  <a:buAutoNum type="alphaLcParenR"/>
                </a:pPr>
                <a:r>
                  <a:rPr lang="pt-BR" dirty="0"/>
                  <a:t>Repetir os itens a) até d) em </a:t>
                </a:r>
                <a:r>
                  <a:rPr lang="pt-BR" b="1" dirty="0"/>
                  <a:t>subconjuntos de treinamento</a:t>
                </a:r>
                <a:r>
                  <a:rPr lang="pt-BR" b="1" i="1" dirty="0"/>
                  <a:t> </a:t>
                </a:r>
                <a:r>
                  <a:rPr lang="pt-BR" dirty="0"/>
                  <a:t>usando os atributos restantes. Essa sequência</a:t>
                </a:r>
                <a:r>
                  <a:rPr lang="pt-BR" b="1" i="1" dirty="0"/>
                  <a:t> </a:t>
                </a:r>
                <a:r>
                  <a:rPr lang="pt-BR" b="1" dirty="0"/>
                  <a:t>continua </a:t>
                </a:r>
                <a:r>
                  <a:rPr lang="pt-BR" b="1" dirty="0">
                    <a:solidFill>
                      <a:srgbClr val="00B050"/>
                    </a:solidFill>
                  </a:rPr>
                  <a:t>até que</a:t>
                </a:r>
                <a:r>
                  <a:rPr lang="pt-BR" b="1" dirty="0"/>
                  <a:t> </a:t>
                </a:r>
                <a:r>
                  <a:rPr lang="pt-BR" b="1" dirty="0">
                    <a:solidFill>
                      <a:srgbClr val="00B050"/>
                    </a:solidFill>
                  </a:rPr>
                  <a:t>a</a:t>
                </a:r>
                <a:r>
                  <a:rPr lang="pt-BR" b="1" dirty="0"/>
                  <a:t> </a:t>
                </a:r>
                <a:r>
                  <a:rPr lang="pt-BR" b="1" dirty="0">
                    <a:solidFill>
                      <a:srgbClr val="00B050"/>
                    </a:solidFill>
                  </a:rPr>
                  <a:t>árvore classifique perfeitamente</a:t>
                </a:r>
                <a:r>
                  <a:rPr lang="pt-BR" b="1" dirty="0"/>
                  <a:t> </a:t>
                </a:r>
                <a:r>
                  <a:rPr lang="pt-BR" b="1" dirty="0">
                    <a:solidFill>
                      <a:srgbClr val="00B050"/>
                    </a:solidFill>
                  </a:rPr>
                  <a:t>todos os exemplos</a:t>
                </a:r>
                <a:r>
                  <a:rPr lang="pt-BR" b="1" dirty="0"/>
                  <a:t> de treinamento </a:t>
                </a:r>
                <a:r>
                  <a:rPr lang="pt-BR" dirty="0"/>
                  <a:t>ou </a:t>
                </a:r>
                <a:r>
                  <a:rPr lang="pt-BR" b="1" dirty="0">
                    <a:solidFill>
                      <a:schemeClr val="accent2"/>
                    </a:solidFill>
                  </a:rPr>
                  <a:t>até que todos os atributos tenham sido utilizados</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a:blip r:embed="rId3"/>
                <a:stretch>
                  <a:fillRect l="-1020" t="-1937" r="-1289"/>
                </a:stretch>
              </a:blipFill>
            </p:spPr>
            <p:txBody>
              <a:bodyPr/>
              <a:lstStyle/>
              <a:p>
                <a:r>
                  <a:rPr lang="en-US">
                    <a:noFill/>
                  </a:rPr>
                  <a:t> </a:t>
                </a:r>
              </a:p>
            </p:txBody>
          </p:sp>
        </mc:Fallback>
      </mc:AlternateContent>
    </p:spTree>
    <p:extLst>
      <p:ext uri="{BB962C8B-B14F-4D97-AF65-F5344CB8AC3E}">
        <p14:creationId xmlns:p14="http://schemas.microsoft.com/office/powerpoint/2010/main" val="126294991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p:sp>
        <p:nvSpPr>
          <p:cNvPr id="3" name="Content Placeholder 2"/>
          <p:cNvSpPr>
            <a:spLocks noGrp="1"/>
          </p:cNvSpPr>
          <p:nvPr>
            <p:ph idx="1"/>
          </p:nvPr>
        </p:nvSpPr>
        <p:spPr>
          <a:xfrm>
            <a:off x="5570620" y="1825624"/>
            <a:ext cx="6621379" cy="5032376"/>
          </a:xfrm>
        </p:spPr>
        <p:txBody>
          <a:bodyPr>
            <a:normAutofit/>
          </a:bodyPr>
          <a:lstStyle/>
          <a:p>
            <a:r>
              <a:rPr lang="pt-BR" dirty="0"/>
              <a:t>O </a:t>
            </a:r>
            <a:r>
              <a:rPr lang="pt-BR" b="1" dirty="0"/>
              <a:t>ID3</a:t>
            </a:r>
            <a:r>
              <a:rPr lang="pt-BR" dirty="0"/>
              <a:t> segue a regra: um </a:t>
            </a:r>
            <a:r>
              <a:rPr lang="pt-BR" b="1" dirty="0">
                <a:solidFill>
                  <a:schemeClr val="accent2"/>
                </a:solidFill>
              </a:rPr>
              <a:t>ramo</a:t>
            </a:r>
            <a:r>
              <a:rPr lang="pt-BR" dirty="0"/>
              <a:t> com uma </a:t>
            </a:r>
            <a:r>
              <a:rPr lang="pt-BR" b="1" dirty="0">
                <a:solidFill>
                  <a:schemeClr val="accent2"/>
                </a:solidFill>
              </a:rPr>
              <a:t>entropia igual a zero</a:t>
            </a:r>
            <a:r>
              <a:rPr lang="pt-BR" dirty="0"/>
              <a:t> é uma </a:t>
            </a:r>
            <a:r>
              <a:rPr lang="pt-BR" b="1" dirty="0">
                <a:solidFill>
                  <a:srgbClr val="00B050"/>
                </a:solidFill>
              </a:rPr>
              <a:t>folha</a:t>
            </a:r>
            <a:r>
              <a:rPr lang="pt-BR" dirty="0"/>
              <a:t> e um </a:t>
            </a:r>
            <a:r>
              <a:rPr lang="pt-BR" b="1" dirty="0">
                <a:solidFill>
                  <a:srgbClr val="7030A0"/>
                </a:solidFill>
              </a:rPr>
              <a:t>ramo</a:t>
            </a:r>
            <a:r>
              <a:rPr lang="pt-BR" dirty="0"/>
              <a:t> com </a:t>
            </a:r>
            <a:r>
              <a:rPr lang="pt-BR" b="1" dirty="0">
                <a:solidFill>
                  <a:srgbClr val="7030A0"/>
                </a:solidFill>
              </a:rPr>
              <a:t>entropia maior do que zero</a:t>
            </a:r>
            <a:r>
              <a:rPr lang="pt-BR" dirty="0"/>
              <a:t> </a:t>
            </a:r>
            <a:r>
              <a:rPr lang="pt-BR" b="1" dirty="0">
                <a:solidFill>
                  <a:srgbClr val="7030A0"/>
                </a:solidFill>
              </a:rPr>
              <a:t>precisa de partição adicional</a:t>
            </a:r>
            <a:r>
              <a:rPr lang="pt-BR" dirty="0"/>
              <a:t>.</a:t>
            </a:r>
          </a:p>
          <a:p>
            <a:r>
              <a:rPr lang="pt-BR" dirty="0"/>
              <a:t>O </a:t>
            </a:r>
            <a:r>
              <a:rPr lang="pt-BR" b="1" dirty="0"/>
              <a:t>método ID3 </a:t>
            </a:r>
            <a:r>
              <a:rPr lang="pt-BR" dirty="0"/>
              <a:t>será exemplificado através do exemplo apresentado em breve.</a:t>
            </a:r>
          </a:p>
        </p:txBody>
      </p:sp>
      <p:pic>
        <p:nvPicPr>
          <p:cNvPr id="4" name="Picture 2" descr="Id3 sales learning algorithm">
            <a:extLst>
              <a:ext uri="{FF2B5EF4-FFF2-40B4-BE49-F238E27FC236}">
                <a16:creationId xmlns:a16="http://schemas.microsoft.com/office/drawing/2014/main" id="{067EC1AF-E290-2AEA-EDF1-7B1E24A1036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864931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Características do método ID3</a:t>
            </a:r>
          </a:p>
        </p:txBody>
      </p:sp>
      <p:sp>
        <p:nvSpPr>
          <p:cNvPr id="3" name="Content Placeholder 2"/>
          <p:cNvSpPr>
            <a:spLocks noGrp="1"/>
          </p:cNvSpPr>
          <p:nvPr>
            <p:ph idx="1"/>
          </p:nvPr>
        </p:nvSpPr>
        <p:spPr>
          <a:xfrm>
            <a:off x="838200" y="1825625"/>
            <a:ext cx="11353800" cy="5032375"/>
          </a:xfrm>
        </p:spPr>
        <p:txBody>
          <a:bodyPr>
            <a:normAutofit lnSpcReduction="10000"/>
          </a:bodyPr>
          <a:lstStyle/>
          <a:p>
            <a:r>
              <a:rPr lang="pt-BR" dirty="0"/>
              <a:t>Ele é aplicado apenas a problemas de classificação.</a:t>
            </a:r>
          </a:p>
          <a:p>
            <a:pPr lvl="1">
              <a:buFont typeface="Wingdings" panose="05000000000000000000" pitchFamily="2" charset="2"/>
              <a:buChar char="§"/>
            </a:pPr>
            <a:r>
              <a:rPr lang="pt-BR" dirty="0"/>
              <a:t>Foi projetado para </a:t>
            </a:r>
            <a:r>
              <a:rPr lang="pt-BR" b="1" dirty="0"/>
              <a:t>variáveis alvo (rótulo) categóricas.</a:t>
            </a:r>
            <a:endParaRPr lang="pt-BR" dirty="0"/>
          </a:p>
          <a:p>
            <a:pPr marL="171450" indent="-171450"/>
            <a:r>
              <a:rPr lang="pt-BR" dirty="0"/>
              <a:t>Pode </a:t>
            </a:r>
            <a:r>
              <a:rPr lang="pt-BR" b="1" dirty="0">
                <a:solidFill>
                  <a:schemeClr val="accent2"/>
                </a:solidFill>
              </a:rPr>
              <a:t>sobreajustar</a:t>
            </a:r>
            <a:r>
              <a:rPr lang="pt-BR" dirty="0"/>
              <a:t> aos dados de treinamento</a:t>
            </a:r>
          </a:p>
          <a:p>
            <a:pPr lvl="1">
              <a:buFont typeface="Wingdings" panose="05000000000000000000" pitchFamily="2" charset="2"/>
              <a:buChar char="§"/>
            </a:pPr>
            <a:r>
              <a:rPr lang="pt-BR" dirty="0"/>
              <a:t>Para evitar o sobreajuste, árvores de decisão menores devem ser preferidas ao invés das maiores.</a:t>
            </a:r>
          </a:p>
          <a:p>
            <a:pPr marL="171450" indent="-171450"/>
            <a:r>
              <a:rPr lang="pt-BR" dirty="0"/>
              <a:t>O método ID3 geralmente produz árvores pequenas, </a:t>
            </a:r>
            <a:r>
              <a:rPr lang="pt-BR" b="1" dirty="0">
                <a:solidFill>
                  <a:srgbClr val="002060"/>
                </a:solidFill>
              </a:rPr>
              <a:t>mas nem sempre</a:t>
            </a:r>
            <a:r>
              <a:rPr lang="pt-BR" dirty="0"/>
              <a:t> produz </a:t>
            </a:r>
            <a:r>
              <a:rPr lang="pt-BR" b="1" dirty="0">
                <a:solidFill>
                  <a:srgbClr val="002060"/>
                </a:solidFill>
              </a:rPr>
              <a:t>a menor árvore possível</a:t>
            </a:r>
            <a:r>
              <a:rPr lang="pt-BR" dirty="0"/>
              <a:t>.</a:t>
            </a:r>
          </a:p>
          <a:p>
            <a:r>
              <a:rPr lang="pt-BR" dirty="0"/>
              <a:t>Ideal para variáveis discretas.</a:t>
            </a:r>
          </a:p>
          <a:p>
            <a:pPr lvl="1">
              <a:buFont typeface="Wingdings" panose="05000000000000000000" pitchFamily="2" charset="2"/>
              <a:buChar char="§"/>
            </a:pPr>
            <a:r>
              <a:rPr lang="pt-BR" dirty="0"/>
              <a:t>Apresenta dificuldade com atributos contínuos (precisa de </a:t>
            </a:r>
            <a:r>
              <a:rPr lang="pt-BR" dirty="0" err="1"/>
              <a:t>discretização</a:t>
            </a:r>
            <a:r>
              <a:rPr lang="pt-BR" dirty="0"/>
              <a:t>).</a:t>
            </a:r>
          </a:p>
          <a:p>
            <a:pPr marL="171450" indent="-171450"/>
            <a:r>
              <a:rPr lang="pt-BR" dirty="0"/>
              <a:t>Se os valores de um atributo forem contínuos, haverá muito mais pontos para se dividir os dados com esse atributo, e a busca pelo melhor valor a ser dividido pode se tornar demorada.</a:t>
            </a:r>
          </a:p>
        </p:txBody>
      </p:sp>
    </p:spTree>
    <p:extLst>
      <p:ext uri="{BB962C8B-B14F-4D97-AF65-F5344CB8AC3E}">
        <p14:creationId xmlns:p14="http://schemas.microsoft.com/office/powerpoint/2010/main" val="380274427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499810" y="1690688"/>
            <a:ext cx="7692189" cy="5167312"/>
          </a:xfrm>
        </p:spPr>
        <p:txBody>
          <a:bodyPr>
            <a:normAutofit/>
          </a:bodyPr>
          <a:lstStyle/>
          <a:p>
            <a:r>
              <a:rPr lang="pt-BR" dirty="0"/>
              <a:t>Além do </a:t>
            </a:r>
            <a:r>
              <a:rPr lang="pt-BR" b="1" dirty="0"/>
              <a:t>ganho de informação</a:t>
            </a:r>
            <a:r>
              <a:rPr lang="pt-BR" dirty="0"/>
              <a:t>, existem outras métricas que podem ser usadas para a indução. </a:t>
            </a:r>
          </a:p>
          <a:p>
            <a:r>
              <a:rPr lang="pt-BR" dirty="0"/>
              <a:t>Uma possibilidade é usar uma </a:t>
            </a:r>
            <a:r>
              <a:rPr lang="pt-BR" b="1" dirty="0">
                <a:solidFill>
                  <a:srgbClr val="7030A0"/>
                </a:solidFill>
              </a:rPr>
              <a:t>métrica de impureza</a:t>
            </a:r>
            <a:r>
              <a:rPr lang="pt-BR" dirty="0"/>
              <a:t>, como o </a:t>
            </a:r>
            <a:r>
              <a:rPr lang="pt-BR" b="1" dirty="0">
                <a:solidFill>
                  <a:srgbClr val="00B050"/>
                </a:solidFill>
              </a:rPr>
              <a:t>índice de Gini</a:t>
            </a:r>
            <a:r>
              <a:rPr lang="pt-BR" dirty="0"/>
              <a:t>.</a:t>
            </a:r>
          </a:p>
          <a:p>
            <a:pPr lvl="1">
              <a:buFont typeface="Wingdings" panose="05000000000000000000" pitchFamily="2" charset="2"/>
              <a:buChar char="§"/>
            </a:pPr>
            <a:r>
              <a:rPr lang="pt-BR" dirty="0"/>
              <a:t>Usado no método </a:t>
            </a:r>
            <a:r>
              <a:rPr lang="pt-BR" i="1" dirty="0" err="1"/>
              <a:t>Classification</a:t>
            </a:r>
            <a:r>
              <a:rPr lang="pt-BR" i="1" dirty="0"/>
              <a:t> </a:t>
            </a:r>
            <a:r>
              <a:rPr lang="pt-BR" i="1" dirty="0" err="1"/>
              <a:t>and</a:t>
            </a:r>
            <a:r>
              <a:rPr lang="pt-BR" i="1" dirty="0"/>
              <a:t> </a:t>
            </a:r>
            <a:r>
              <a:rPr lang="pt-BR" i="1" dirty="0" err="1"/>
              <a:t>Regression</a:t>
            </a:r>
            <a:r>
              <a:rPr lang="pt-BR" i="1" dirty="0"/>
              <a:t> </a:t>
            </a:r>
            <a:r>
              <a:rPr lang="pt-BR" i="1" dirty="0" err="1"/>
              <a:t>Trees</a:t>
            </a:r>
            <a:r>
              <a:rPr lang="pt-BR" i="1" dirty="0"/>
              <a:t> </a:t>
            </a:r>
            <a:r>
              <a:rPr lang="pt-BR" dirty="0"/>
              <a:t>(CART) implementado pela biblioteca </a:t>
            </a:r>
            <a:r>
              <a:rPr lang="pt-BR" dirty="0" err="1"/>
              <a:t>SciKit-Learn</a:t>
            </a:r>
            <a:r>
              <a:rPr lang="pt-BR" dirty="0"/>
              <a:t>.</a:t>
            </a:r>
          </a:p>
          <a:p>
            <a:r>
              <a:rPr lang="pt-BR" dirty="0"/>
              <a:t>Mede o quão bagunçado (i.e., impuro) é um conjunto de dados.</a:t>
            </a:r>
          </a:p>
          <a:p>
            <a:pPr lvl="1">
              <a:buFont typeface="Wingdings" panose="05000000000000000000" pitchFamily="2" charset="2"/>
              <a:buChar char="§"/>
            </a:pPr>
            <a:r>
              <a:rPr lang="pt-BR" dirty="0"/>
              <a:t>Valor 1: </a:t>
            </a:r>
            <a:r>
              <a:rPr lang="pt-BR" b="1" dirty="0">
                <a:solidFill>
                  <a:srgbClr val="00B050"/>
                </a:solidFill>
              </a:rPr>
              <a:t>conjunto puro</a:t>
            </a:r>
            <a:r>
              <a:rPr lang="pt-BR" dirty="0"/>
              <a:t>, todas as amostras pertencem a uma mesma classe.</a:t>
            </a:r>
          </a:p>
          <a:p>
            <a:pPr lvl="1">
              <a:buFont typeface="Wingdings" panose="05000000000000000000" pitchFamily="2" charset="2"/>
              <a:buChar char="§"/>
            </a:pPr>
            <a:r>
              <a:rPr lang="pt-BR" dirty="0"/>
              <a:t>Valor 0: </a:t>
            </a:r>
            <a:r>
              <a:rPr lang="pt-BR" b="1" dirty="0">
                <a:solidFill>
                  <a:srgbClr val="FF0000"/>
                </a:solidFill>
              </a:rPr>
              <a:t>conjunto totalmente impuro</a:t>
            </a:r>
            <a:r>
              <a:rPr lang="pt-BR" dirty="0"/>
              <a:t>, as amostras pertencem a classes diferentes.</a:t>
            </a:r>
          </a:p>
        </p:txBody>
      </p:sp>
      <p:pic>
        <p:nvPicPr>
          <p:cNvPr id="16386" name="Picture 2" descr="Scikit-Learn Decision Trees Explained | by Frank Ceballos | Towards Data  Science">
            <a:extLst>
              <a:ext uri="{FF2B5EF4-FFF2-40B4-BE49-F238E27FC236}">
                <a16:creationId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14839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518140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993105" y="1690688"/>
            <a:ext cx="7050506" cy="5167312"/>
          </a:xfrm>
        </p:spPr>
        <p:txBody>
          <a:bodyPr>
            <a:normAutofit/>
          </a:bodyPr>
          <a:lstStyle/>
          <a:p>
            <a:r>
              <a:rPr lang="pt-BR" dirty="0"/>
              <a:t>Outro ponto importante é, se for o caso, deve-se buscar metodologias para se lidar com atributos faltantes. </a:t>
            </a:r>
          </a:p>
          <a:p>
            <a:r>
              <a:rPr lang="pt-BR" dirty="0"/>
              <a:t>Existem várias soluções, como por exemplo:</a:t>
            </a:r>
          </a:p>
          <a:p>
            <a:pPr lvl="1">
              <a:buFont typeface="Wingdings" panose="05000000000000000000" pitchFamily="2" charset="2"/>
              <a:buChar char="§"/>
            </a:pPr>
            <a:r>
              <a:rPr lang="pt-BR" dirty="0"/>
              <a:t>Remover o exemplo.</a:t>
            </a:r>
          </a:p>
          <a:p>
            <a:pPr lvl="1">
              <a:buFont typeface="Wingdings" panose="05000000000000000000" pitchFamily="2" charset="2"/>
              <a:buChar char="§"/>
            </a:pPr>
            <a:r>
              <a:rPr lang="pt-BR" dirty="0"/>
              <a:t>Atribuir ao atributo a média de seus valores.</a:t>
            </a:r>
          </a:p>
          <a:p>
            <a:pPr lvl="1">
              <a:buFont typeface="Wingdings" panose="05000000000000000000" pitchFamily="2" charset="2"/>
              <a:buChar char="§"/>
            </a:pPr>
            <a:r>
              <a:rPr lang="pt-BR" dirty="0"/>
              <a:t>E outros que vimos antes.</a:t>
            </a:r>
          </a:p>
        </p:txBody>
      </p:sp>
      <p:pic>
        <p:nvPicPr>
          <p:cNvPr id="16386" name="Picture 2" descr="Scikit-Learn Decision Trees Explained | by Frank Ceballos | Towards Data  Science">
            <a:extLst>
              <a:ext uri="{FF2B5EF4-FFF2-40B4-BE49-F238E27FC236}">
                <a16:creationId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32674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80900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281863" y="1825624"/>
            <a:ext cx="6737684" cy="5032376"/>
          </a:xfrm>
        </p:spPr>
        <p:txBody>
          <a:bodyPr>
            <a:normAutofit/>
          </a:bodyPr>
          <a:lstStyle/>
          <a:p>
            <a:r>
              <a:rPr lang="pt-BR" dirty="0"/>
              <a:t>Um conjunto que contenha inconsistências, como, por exemplo, </a:t>
            </a:r>
            <a:r>
              <a:rPr lang="pt-BR" b="1" dirty="0"/>
              <a:t>dois exemplos com os mesmos valores de atributos, porém classes diferentes</a:t>
            </a:r>
            <a:r>
              <a:rPr lang="pt-BR" dirty="0"/>
              <a:t>, precisará ser reconsiderado, pois os atributos atuais podem não ser suficientes, por exemplo, </a:t>
            </a:r>
            <a:r>
              <a:rPr lang="pt-BR" b="1" dirty="0"/>
              <a:t>precisando de mais atributos</a:t>
            </a:r>
            <a:r>
              <a:rPr lang="pt-BR" dirty="0"/>
              <a:t>.</a:t>
            </a:r>
          </a:p>
        </p:txBody>
      </p:sp>
      <p:pic>
        <p:nvPicPr>
          <p:cNvPr id="4" name="Picture 2" descr="Id3 sales learning algorithm">
            <a:extLst>
              <a:ext uri="{FF2B5EF4-FFF2-40B4-BE49-F238E27FC236}">
                <a16:creationId xmlns:a16="http://schemas.microsoft.com/office/drawing/2014/main" id="{181FAAA1-BC94-0894-FA0B-F9D0F7A33B1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54902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137482" y="1825624"/>
            <a:ext cx="7054517" cy="5032376"/>
          </a:xfrm>
        </p:spPr>
        <p:txBody>
          <a:bodyPr>
            <a:normAutofit/>
          </a:bodyPr>
          <a:lstStyle/>
          <a:p>
            <a:r>
              <a:rPr lang="pt-BR" dirty="0"/>
              <a:t>Um problema muito comum das </a:t>
            </a:r>
            <a:r>
              <a:rPr lang="pt-BR" b="1" dirty="0"/>
              <a:t>árvores de decisão</a:t>
            </a:r>
            <a:r>
              <a:rPr lang="pt-BR" dirty="0"/>
              <a:t>, especialmente quando se tem um número muito grande de atributos, é o </a:t>
            </a:r>
            <a:r>
              <a:rPr lang="pt-BR" b="1" dirty="0"/>
              <a:t>sobreajuste (alta variância)</a:t>
            </a:r>
            <a:r>
              <a:rPr lang="pt-BR" dirty="0"/>
              <a:t>.</a:t>
            </a:r>
          </a:p>
          <a:p>
            <a:r>
              <a:rPr lang="pt-BR" dirty="0"/>
              <a:t>Existem duas formas para se minimizar este problema:</a:t>
            </a:r>
          </a:p>
          <a:p>
            <a:pPr lvl="1">
              <a:buFont typeface="Wingdings" panose="05000000000000000000" pitchFamily="2" charset="2"/>
              <a:buChar char="§"/>
            </a:pPr>
            <a:r>
              <a:rPr lang="pt-BR" dirty="0"/>
              <a:t>Podar as árvores de decisão (</a:t>
            </a:r>
            <a:r>
              <a:rPr lang="pt-BR" b="1" dirty="0"/>
              <a:t>tree prunning</a:t>
            </a:r>
            <a:r>
              <a:rPr lang="pt-BR" dirty="0"/>
              <a:t>).</a:t>
            </a:r>
          </a:p>
          <a:p>
            <a:pPr lvl="1">
              <a:buFont typeface="Wingdings" panose="05000000000000000000" pitchFamily="2" charset="2"/>
              <a:buChar char="§"/>
            </a:pPr>
            <a:r>
              <a:rPr lang="pt-BR" dirty="0"/>
              <a:t>Ou utilizar </a:t>
            </a:r>
            <a:r>
              <a:rPr lang="pt-BR" b="1" dirty="0"/>
              <a:t>florestas aleatórias</a:t>
            </a:r>
            <a:r>
              <a:rPr lang="pt-BR" dirty="0"/>
              <a:t>.</a:t>
            </a:r>
          </a:p>
          <a:p>
            <a:pPr lvl="2">
              <a:buFont typeface="Courier New" panose="02070309020205020404" pitchFamily="49" charset="0"/>
              <a:buChar char="o"/>
            </a:pPr>
            <a:r>
              <a:rPr lang="pt-BR" dirty="0"/>
              <a:t>Florestas reduzem a variância.</a:t>
            </a:r>
          </a:p>
        </p:txBody>
      </p:sp>
      <p:pic>
        <p:nvPicPr>
          <p:cNvPr id="4" name="Picture 2" descr="Id3 sales learning algorithm">
            <a:extLst>
              <a:ext uri="{FF2B5EF4-FFF2-40B4-BE49-F238E27FC236}">
                <a16:creationId xmlns:a16="http://schemas.microsoft.com/office/drawing/2014/main" id="{B85C9B0B-463A-B292-2898-A7BCD8172D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81850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8F37921-20CE-4560-BAB3-B3A1D486FA12}"/>
              </a:ext>
            </a:extLst>
          </p:cNvPr>
          <p:cNvSpPr>
            <a:spLocks noGrp="1"/>
          </p:cNvSpPr>
          <p:nvPr>
            <p:ph idx="1"/>
          </p:nvPr>
        </p:nvSpPr>
        <p:spPr>
          <a:xfrm>
            <a:off x="447173" y="2434807"/>
            <a:ext cx="11297653" cy="1988386"/>
          </a:xfrm>
        </p:spPr>
        <p:txBody>
          <a:bodyPr>
            <a:normAutofit/>
          </a:bodyPr>
          <a:lstStyle/>
          <a:p>
            <a:pPr marL="0" indent="0" algn="ctr">
              <a:buNone/>
            </a:pPr>
            <a:r>
              <a:rPr lang="pt-BR" sz="6000" dirty="0"/>
              <a:t>Exemplo de indução de uma árvore de decisão com o método ID3</a:t>
            </a:r>
            <a:endParaRPr lang="en-US" sz="6000" dirty="0"/>
          </a:p>
        </p:txBody>
      </p:sp>
    </p:spTree>
    <p:extLst>
      <p:ext uri="{BB962C8B-B14F-4D97-AF65-F5344CB8AC3E}">
        <p14:creationId xmlns:p14="http://schemas.microsoft.com/office/powerpoint/2010/main" val="412793494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B4ADAE-D498-CCE3-77E7-D18CF380DE3C}"/>
              </a:ext>
            </a:extLst>
          </p:cNvPr>
          <p:cNvSpPr>
            <a:spLocks noGrp="1"/>
          </p:cNvSpPr>
          <p:nvPr>
            <p:ph type="title"/>
          </p:nvPr>
        </p:nvSpPr>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20CC7A-B5FF-FA36-A381-A0972C19BA9B}"/>
                  </a:ext>
                </a:extLst>
              </p:cNvPr>
              <p:cNvSpPr>
                <a:spLocks noGrp="1"/>
              </p:cNvSpPr>
              <p:nvPr>
                <p:ph idx="1"/>
              </p:nvPr>
            </p:nvSpPr>
            <p:spPr>
              <a:xfrm>
                <a:off x="5354052" y="1825624"/>
                <a:ext cx="6837948" cy="5032375"/>
              </a:xfrm>
            </p:spPr>
            <p:txBody>
              <a:bodyPr>
                <a:normAutofit/>
              </a:bodyPr>
              <a:lstStyle/>
              <a:p>
                <a:r>
                  <a:rPr lang="pt-BR" dirty="0"/>
                  <a:t>Vamos construir uma árvore de decisão para </a:t>
                </a:r>
                <a:r>
                  <a:rPr lang="pt-BR" b="1" dirty="0">
                    <a:solidFill>
                      <a:srgbClr val="FF0000"/>
                    </a:solidFill>
                  </a:rPr>
                  <a:t>predizer se jogadores irão ou não praticar um determinado esporte</a:t>
                </a:r>
                <a:r>
                  <a:rPr lang="pt-BR" b="1" dirty="0"/>
                  <a:t> </a:t>
                </a:r>
                <a:r>
                  <a:rPr lang="pt-BR" dirty="0"/>
                  <a:t>baseado em algumas </a:t>
                </a:r>
                <a:r>
                  <a:rPr lang="pt-BR" b="1" dirty="0">
                    <a:solidFill>
                      <a:srgbClr val="00B050"/>
                    </a:solidFill>
                  </a:rPr>
                  <a:t>condições meteorológicas</a:t>
                </a:r>
                <a:r>
                  <a:rPr lang="pt-BR" dirty="0"/>
                  <a:t>.</a:t>
                </a:r>
              </a:p>
              <a:p>
                <a:r>
                  <a:rPr lang="pt-BR" dirty="0"/>
                  <a:t>Vamos considerar um conjunto de dados da forma </a:t>
                </a:r>
                <a14:m>
                  <m:oMath xmlns:m="http://schemas.openxmlformats.org/officeDocument/2006/math">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𝑖</m:t>
                            </m:r>
                          </m:sub>
                        </m:sSub>
                        <m:r>
                          <a:rPr lang="pt-BR" b="0" i="1" smtClean="0">
                            <a:latin typeface="Cambria Math" panose="02040503050406030204" pitchFamily="18" charset="0"/>
                          </a:rPr>
                          <m:t>, </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𝑑</m:t>
                            </m:r>
                          </m:e>
                          <m:sub>
                            <m:r>
                              <a:rPr lang="pt-BR" b="0" i="1" smtClean="0">
                                <a:latin typeface="Cambria Math" panose="02040503050406030204" pitchFamily="18" charset="0"/>
                              </a:rPr>
                              <m:t>𝑖</m:t>
                            </m:r>
                          </m:sub>
                        </m:sSub>
                      </m:e>
                    </m:d>
                  </m:oMath>
                </a14:m>
                <a:r>
                  <a:rPr lang="pt-BR" dirty="0"/>
                  <a:t>, onde </a:t>
                </a:r>
                <a14:m>
                  <m:oMath xmlns:m="http://schemas.openxmlformats.org/officeDocument/2006/math">
                    <m:sSub>
                      <m:sSubPr>
                        <m:ctrlPr>
                          <a:rPr lang="pt-BR" i="1">
                            <a:latin typeface="Cambria Math" panose="02040503050406030204" pitchFamily="18" charset="0"/>
                          </a:rPr>
                        </m:ctrlPr>
                      </m:sSubPr>
                      <m:e>
                        <m:r>
                          <a:rPr lang="pt-BR" b="1" i="1" smtClean="0">
                            <a:latin typeface="Cambria Math" panose="02040503050406030204" pitchFamily="18" charset="0"/>
                          </a:rPr>
                          <m:t>𝒙</m:t>
                        </m:r>
                      </m:e>
                      <m:sub>
                        <m:r>
                          <a:rPr lang="pt-BR" i="1" smtClean="0">
                            <a:latin typeface="Cambria Math" panose="02040503050406030204" pitchFamily="18" charset="0"/>
                          </a:rPr>
                          <m:t>𝑖</m:t>
                        </m:r>
                      </m:sub>
                    </m:sSub>
                  </m:oMath>
                </a14:m>
                <a:r>
                  <a:rPr lang="pt-BR" i="1" dirty="0"/>
                  <a:t> </a:t>
                </a:r>
                <a:r>
                  <a:rPr lang="pt-BR" dirty="0"/>
                  <a:t>é um vetor de atributos e </a:t>
                </a:r>
                <a14:m>
                  <m:oMath xmlns:m="http://schemas.openxmlformats.org/officeDocument/2006/math">
                    <m:sSub>
                      <m:sSubPr>
                        <m:ctrlPr>
                          <a:rPr lang="pt-BR" i="1">
                            <a:latin typeface="Cambria Math" panose="02040503050406030204" pitchFamily="18" charset="0"/>
                          </a:rPr>
                        </m:ctrlPr>
                      </m:sSubPr>
                      <m:e>
                        <m:r>
                          <m:rPr>
                            <m:sty m:val="p"/>
                          </m:rPr>
                          <a:rPr lang="pt-BR" i="0" smtClean="0">
                            <a:latin typeface="Cambria Math" panose="02040503050406030204" pitchFamily="18" charset="0"/>
                          </a:rPr>
                          <m:t>d</m:t>
                        </m:r>
                      </m:e>
                      <m:sub>
                        <m:r>
                          <m:rPr>
                            <m:sty m:val="p"/>
                          </m:rPr>
                          <a:rPr lang="pt-BR" i="0" smtClean="0">
                            <a:latin typeface="Cambria Math" panose="02040503050406030204" pitchFamily="18" charset="0"/>
                          </a:rPr>
                          <m:t>i</m:t>
                        </m:r>
                      </m:sub>
                    </m:sSub>
                  </m:oMath>
                </a14:m>
                <a:r>
                  <a:rPr lang="pt-BR" dirty="0"/>
                  <a:t> é um rótulo correspondente ao vetor de atributos. </a:t>
                </a:r>
              </a:p>
              <a:p>
                <a:r>
                  <a:rPr lang="pt-BR" dirty="0"/>
                  <a:t>Nesse conjunto, cada entrada diz respeito à condição meteorológica de um dia e se os jogadores jogaram ou não. </a:t>
                </a:r>
              </a:p>
            </p:txBody>
          </p:sp>
        </mc:Choice>
        <mc:Fallback xmlns="">
          <p:sp>
            <p:nvSpPr>
              <p:cNvPr id="3" name="Espaço Reservado para Conteúdo 2">
                <a:extLst>
                  <a:ext uri="{FF2B5EF4-FFF2-40B4-BE49-F238E27FC236}">
                    <a16:creationId xmlns:a16="http://schemas.microsoft.com/office/drawing/2014/main" id="{7C20CC7A-B5FF-FA36-A381-A0972C19BA9B}"/>
                  </a:ext>
                </a:extLst>
              </p:cNvPr>
              <p:cNvSpPr>
                <a:spLocks noGrp="1" noRot="1" noChangeAspect="1" noMove="1" noResize="1" noEditPoints="1" noAdjustHandles="1" noChangeArrowheads="1" noChangeShapeType="1" noTextEdit="1"/>
              </p:cNvSpPr>
              <p:nvPr>
                <p:ph idx="1"/>
              </p:nvPr>
            </p:nvSpPr>
            <p:spPr>
              <a:xfrm>
                <a:off x="5354052" y="1825624"/>
                <a:ext cx="6837948" cy="5032375"/>
              </a:xfrm>
              <a:blipFill>
                <a:blip r:embed="rId2"/>
                <a:stretch>
                  <a:fillRect l="-1604" t="-1937" r="-2941"/>
                </a:stretch>
              </a:blipFill>
            </p:spPr>
            <p:txBody>
              <a:bodyPr/>
              <a:lstStyle/>
              <a:p>
                <a:r>
                  <a:rPr lang="en-US">
                    <a:noFill/>
                  </a:rPr>
                  <a:t> </a:t>
                </a:r>
              </a:p>
            </p:txBody>
          </p:sp>
        </mc:Fallback>
      </mc:AlternateContent>
      <p:pic>
        <p:nvPicPr>
          <p:cNvPr id="4" name="Picture 6">
            <a:extLst>
              <a:ext uri="{FF2B5EF4-FFF2-40B4-BE49-F238E27FC236}">
                <a16:creationId xmlns:a16="http://schemas.microsoft.com/office/drawing/2014/main" id="{2712D624-3B6D-A9F0-EA3F-BD23089FAFF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805" y="3184567"/>
            <a:ext cx="5220247" cy="1664160"/>
          </a:xfrm>
          <a:prstGeom prst="rect">
            <a:avLst/>
          </a:prstGeom>
        </p:spPr>
      </p:pic>
    </p:spTree>
    <p:extLst>
      <p:ext uri="{BB962C8B-B14F-4D97-AF65-F5344CB8AC3E}">
        <p14:creationId xmlns:p14="http://schemas.microsoft.com/office/powerpoint/2010/main" val="409189621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B4ADAE-D498-CCE3-77E7-D18CF380DE3C}"/>
              </a:ext>
            </a:extLst>
          </p:cNvPr>
          <p:cNvSpPr>
            <a:spLocks noGrp="1"/>
          </p:cNvSpPr>
          <p:nvPr>
            <p:ph type="title"/>
          </p:nvPr>
        </p:nvSpPr>
        <p:spPr/>
        <p:txBody>
          <a:bodyPr/>
          <a:lstStyle/>
          <a:p>
            <a:r>
              <a:rPr lang="pt-BR" dirty="0"/>
              <a:t>Exemplo de indução com método ID3</a:t>
            </a:r>
          </a:p>
        </p:txBody>
      </p:sp>
      <p:sp>
        <p:nvSpPr>
          <p:cNvPr id="3" name="Espaço Reservado para Conteúdo 2">
            <a:extLst>
              <a:ext uri="{FF2B5EF4-FFF2-40B4-BE49-F238E27FC236}">
                <a16:creationId xmlns:a16="http://schemas.microsoft.com/office/drawing/2014/main" id="{7C20CC7A-B5FF-FA36-A381-A0972C19BA9B}"/>
              </a:ext>
            </a:extLst>
          </p:cNvPr>
          <p:cNvSpPr>
            <a:spLocks noGrp="1"/>
          </p:cNvSpPr>
          <p:nvPr>
            <p:ph idx="1"/>
          </p:nvPr>
        </p:nvSpPr>
        <p:spPr>
          <a:xfrm>
            <a:off x="5354052" y="1825624"/>
            <a:ext cx="6837948" cy="5032375"/>
          </a:xfrm>
        </p:spPr>
        <p:txBody>
          <a:bodyPr>
            <a:normAutofit lnSpcReduction="10000"/>
          </a:bodyPr>
          <a:lstStyle/>
          <a:p>
            <a:r>
              <a:rPr lang="pt-BR" dirty="0"/>
              <a:t>Existem </a:t>
            </a:r>
            <a:r>
              <a:rPr lang="pt-BR" b="1" dirty="0"/>
              <a:t>quatro</a:t>
            </a:r>
            <a:r>
              <a:rPr lang="pt-BR" dirty="0"/>
              <a:t> atributos </a:t>
            </a:r>
            <a:r>
              <a:rPr lang="pt-BR" b="1" dirty="0">
                <a:solidFill>
                  <a:srgbClr val="00B050"/>
                </a:solidFill>
              </a:rPr>
              <a:t>categóricos</a:t>
            </a:r>
            <a:r>
              <a:rPr lang="pt-BR" dirty="0"/>
              <a:t>:</a:t>
            </a:r>
          </a:p>
          <a:p>
            <a:pPr lvl="1">
              <a:buFont typeface="Wingdings" panose="05000000000000000000" pitchFamily="2" charset="2"/>
              <a:buChar char="§"/>
            </a:pPr>
            <a:r>
              <a:rPr lang="pt-BR" b="1" dirty="0"/>
              <a:t>Tempo</a:t>
            </a:r>
            <a:r>
              <a:rPr lang="pt-BR" dirty="0"/>
              <a:t>: {ensolarado, nublado, chuvoso}</a:t>
            </a:r>
          </a:p>
          <a:p>
            <a:pPr lvl="1">
              <a:buFont typeface="Wingdings" panose="05000000000000000000" pitchFamily="2" charset="2"/>
              <a:buChar char="§"/>
            </a:pPr>
            <a:r>
              <a:rPr lang="pt-BR" b="1" dirty="0"/>
              <a:t>Temperatura</a:t>
            </a:r>
            <a:r>
              <a:rPr lang="pt-BR" dirty="0"/>
              <a:t>: {frio, agradável, quente}</a:t>
            </a:r>
          </a:p>
          <a:p>
            <a:pPr lvl="1">
              <a:buFont typeface="Wingdings" panose="05000000000000000000" pitchFamily="2" charset="2"/>
              <a:buChar char="§"/>
            </a:pPr>
            <a:r>
              <a:rPr lang="pt-BR" b="1" dirty="0"/>
              <a:t>Umidade</a:t>
            </a:r>
            <a:r>
              <a:rPr lang="pt-BR" dirty="0"/>
              <a:t>: {alta, normal}</a:t>
            </a:r>
          </a:p>
          <a:p>
            <a:pPr lvl="1">
              <a:buFont typeface="Wingdings" panose="05000000000000000000" pitchFamily="2" charset="2"/>
              <a:buChar char="§"/>
            </a:pPr>
            <a:r>
              <a:rPr lang="pt-BR" b="1" dirty="0"/>
              <a:t>Vento</a:t>
            </a:r>
            <a:r>
              <a:rPr lang="pt-BR" dirty="0"/>
              <a:t>: {presente, ausente}</a:t>
            </a:r>
          </a:p>
          <a:p>
            <a:r>
              <a:rPr lang="pt-BR" dirty="0"/>
              <a:t>Os rótulos são dois (problema binário): </a:t>
            </a:r>
            <a:r>
              <a:rPr lang="pt-BR" b="1" dirty="0"/>
              <a:t>positivo</a:t>
            </a:r>
            <a:r>
              <a:rPr lang="pt-BR" dirty="0"/>
              <a:t> (P), i.e., jogar, e </a:t>
            </a:r>
            <a:r>
              <a:rPr lang="pt-BR" b="1" dirty="0"/>
              <a:t>negativo</a:t>
            </a:r>
            <a:r>
              <a:rPr lang="pt-BR" dirty="0"/>
              <a:t> (N), i.e., não jogar.</a:t>
            </a:r>
          </a:p>
          <a:p>
            <a:r>
              <a:rPr lang="pt-BR" dirty="0"/>
              <a:t>Um exemplo de condição meteorológica de um determinado dia poderia ser descrito por: </a:t>
            </a:r>
          </a:p>
          <a:p>
            <a:pPr marL="0" indent="0" algn="ctr">
              <a:buNone/>
            </a:pPr>
            <a:r>
              <a:rPr lang="pt-BR" dirty="0"/>
              <a:t>{nublado, frio, normal, ausente}</a:t>
            </a:r>
          </a:p>
        </p:txBody>
      </p:sp>
      <p:pic>
        <p:nvPicPr>
          <p:cNvPr id="4" name="Picture 6">
            <a:extLst>
              <a:ext uri="{FF2B5EF4-FFF2-40B4-BE49-F238E27FC236}">
                <a16:creationId xmlns:a16="http://schemas.microsoft.com/office/drawing/2014/main" id="{2712D624-3B6D-A9F0-EA3F-BD23089FAFF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9741" y="3184567"/>
            <a:ext cx="5220247" cy="1664160"/>
          </a:xfrm>
          <a:prstGeom prst="rect">
            <a:avLst/>
          </a:prstGeom>
        </p:spPr>
      </p:pic>
    </p:spTree>
    <p:extLst>
      <p:ext uri="{BB962C8B-B14F-4D97-AF65-F5344CB8AC3E}">
        <p14:creationId xmlns:p14="http://schemas.microsoft.com/office/powerpoint/2010/main" val="28400112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001703" cy="1325563"/>
          </a:xfrm>
        </p:spPr>
        <p:txBody>
          <a:bodyPr/>
          <a:lstStyle/>
          <a:p>
            <a:r>
              <a:rPr lang="pt-BR" dirty="0"/>
              <a:t>Exemplo de indução com método ID3</a:t>
            </a:r>
          </a:p>
        </p:txBody>
      </p:sp>
      <p:sp>
        <p:nvSpPr>
          <p:cNvPr id="3" name="Content Placeholder 2"/>
          <p:cNvSpPr>
            <a:spLocks noGrp="1"/>
          </p:cNvSpPr>
          <p:nvPr>
            <p:ph idx="1"/>
          </p:nvPr>
        </p:nvSpPr>
        <p:spPr>
          <a:xfrm>
            <a:off x="838200" y="1825626"/>
            <a:ext cx="10515600" cy="405592"/>
          </a:xfrm>
        </p:spPr>
        <p:txBody>
          <a:bodyPr>
            <a:normAutofit fontScale="92500" lnSpcReduction="20000"/>
          </a:bodyPr>
          <a:lstStyle/>
          <a:p>
            <a:r>
              <a:rPr lang="pt-BR" dirty="0"/>
              <a:t>O conjunto de treinamento do exemplo é dado pela tabela abaixo.</a:t>
            </a:r>
          </a:p>
        </p:txBody>
      </p:sp>
      <p:graphicFrame>
        <p:nvGraphicFramePr>
          <p:cNvPr id="4" name="Table 3"/>
          <p:cNvGraphicFramePr>
            <a:graphicFrameLocks noGrp="1"/>
          </p:cNvGraphicFramePr>
          <p:nvPr>
            <p:extLst>
              <p:ext uri="{D42A27DB-BD31-4B8C-83A1-F6EECF244321}">
                <p14:modId xmlns:p14="http://schemas.microsoft.com/office/powerpoint/2010/main" val="705585869"/>
              </p:ext>
            </p:extLst>
          </p:nvPr>
        </p:nvGraphicFramePr>
        <p:xfrm>
          <a:off x="3656333" y="2245737"/>
          <a:ext cx="4716048" cy="4351331"/>
        </p:xfrm>
        <a:graphic>
          <a:graphicData uri="http://schemas.openxmlformats.org/drawingml/2006/table">
            <a:tbl>
              <a:tblPr/>
              <a:tblGrid>
                <a:gridCol w="786008">
                  <a:extLst>
                    <a:ext uri="{9D8B030D-6E8A-4147-A177-3AD203B41FA5}">
                      <a16:colId xmlns:a16="http://schemas.microsoft.com/office/drawing/2014/main" val="20000"/>
                    </a:ext>
                  </a:extLst>
                </a:gridCol>
                <a:gridCol w="786008">
                  <a:extLst>
                    <a:ext uri="{9D8B030D-6E8A-4147-A177-3AD203B41FA5}">
                      <a16:colId xmlns:a16="http://schemas.microsoft.com/office/drawing/2014/main" val="20001"/>
                    </a:ext>
                  </a:extLst>
                </a:gridCol>
                <a:gridCol w="894865">
                  <a:extLst>
                    <a:ext uri="{9D8B030D-6E8A-4147-A177-3AD203B41FA5}">
                      <a16:colId xmlns:a16="http://schemas.microsoft.com/office/drawing/2014/main" val="20002"/>
                    </a:ext>
                  </a:extLst>
                </a:gridCol>
                <a:gridCol w="677151">
                  <a:extLst>
                    <a:ext uri="{9D8B030D-6E8A-4147-A177-3AD203B41FA5}">
                      <a16:colId xmlns:a16="http://schemas.microsoft.com/office/drawing/2014/main" val="20003"/>
                    </a:ext>
                  </a:extLst>
                </a:gridCol>
                <a:gridCol w="786008">
                  <a:extLst>
                    <a:ext uri="{9D8B030D-6E8A-4147-A177-3AD203B41FA5}">
                      <a16:colId xmlns:a16="http://schemas.microsoft.com/office/drawing/2014/main" val="20004"/>
                    </a:ext>
                  </a:extLst>
                </a:gridCol>
                <a:gridCol w="786008">
                  <a:extLst>
                    <a:ext uri="{9D8B030D-6E8A-4147-A177-3AD203B41FA5}">
                      <a16:colId xmlns:a16="http://schemas.microsoft.com/office/drawing/2014/main" val="20005"/>
                    </a:ext>
                  </a:extLst>
                </a:gridCol>
              </a:tblGrid>
              <a:tr h="257810">
                <a:tc rowSpan="2">
                  <a:txBody>
                    <a:bodyPr/>
                    <a:lstStyle/>
                    <a:p>
                      <a:pPr algn="ctr" rtl="0" fontAlgn="ctr"/>
                      <a:r>
                        <a:rPr lang="pt-BR" sz="1200" b="1" dirty="0">
                          <a:effectLst/>
                        </a:rPr>
                        <a:t>Day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rtl="0" fontAlgn="b"/>
                      <a:r>
                        <a:rPr lang="pt-BR" sz="1200" b="1" dirty="0" err="1">
                          <a:effectLst/>
                        </a:rPr>
                        <a:t>Attributes</a:t>
                      </a:r>
                      <a:endParaRPr lang="pt-BR" sz="1200" b="1" dirty="0">
                        <a:effectLst/>
                      </a:endParaRP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p>
                    <a:p>
                      <a:pPr algn="ctr" rtl="0" fontAlgn="ctr"/>
                      <a:r>
                        <a:rPr lang="pt-BR" sz="1200" b="0" dirty="0">
                          <a:effectLst/>
                        </a:rPr>
                        <a:t>(y)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484181">
                <a:tc vMerge="1">
                  <a:txBody>
                    <a:bodyPr/>
                    <a:lstStyle/>
                    <a:p>
                      <a:endParaRPr lang="pt-BR"/>
                    </a:p>
                  </a:txBody>
                  <a:tcPr/>
                </a:tc>
                <a:tc>
                  <a:txBody>
                    <a:bodyPr/>
                    <a:lstStyle/>
                    <a:p>
                      <a:pPr algn="ctr" rtl="0" fontAlgn="b"/>
                      <a:r>
                        <a:rPr lang="pt-BR" sz="1200" b="1" dirty="0">
                          <a:effectLst/>
                        </a:rPr>
                        <a:t>Outlook</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Temperature</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Humidity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Windy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57810">
                <a:tc>
                  <a:txBody>
                    <a:bodyPr/>
                    <a:lstStyle/>
                    <a:p>
                      <a:pPr algn="ctr" rtl="0" fontAlgn="b"/>
                      <a:r>
                        <a:rPr lang="pt-BR" sz="1200" dirty="0">
                          <a:effectLst/>
                        </a:rPr>
                        <a:t>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57810">
                <a:tc>
                  <a:txBody>
                    <a:bodyPr/>
                    <a:lstStyle/>
                    <a:p>
                      <a:pPr algn="ctr" rtl="0" fontAlgn="b"/>
                      <a:r>
                        <a:rPr lang="pt-BR" sz="1200">
                          <a:effectLst/>
                        </a:rPr>
                        <a:t>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sunny</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57810">
                <a:tc>
                  <a:txBody>
                    <a:bodyPr/>
                    <a:lstStyle/>
                    <a:p>
                      <a:pPr algn="ctr" rtl="0" fontAlgn="b"/>
                      <a:r>
                        <a:rPr lang="pt-BR" sz="1200" dirty="0">
                          <a:effectLst/>
                        </a:rPr>
                        <a:t>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57810">
                <a:tc>
                  <a:txBody>
                    <a:bodyPr/>
                    <a:lstStyle/>
                    <a:p>
                      <a:pPr algn="ctr" rtl="0" fontAlgn="b"/>
                      <a:r>
                        <a:rPr lang="pt-BR" sz="1200" dirty="0">
                          <a:effectLst/>
                        </a:rPr>
                        <a:t>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mild</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257810">
                <a:tc>
                  <a:txBody>
                    <a:bodyPr/>
                    <a:lstStyle/>
                    <a:p>
                      <a:pPr algn="ctr" rtl="0" fontAlgn="b"/>
                      <a:r>
                        <a:rPr lang="pt-BR" sz="1200">
                          <a:effectLst/>
                        </a:rPr>
                        <a:t>5</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257810">
                <a:tc>
                  <a:txBody>
                    <a:bodyPr/>
                    <a:lstStyle/>
                    <a:p>
                      <a:pPr algn="ctr" rtl="0" fontAlgn="b"/>
                      <a:r>
                        <a:rPr lang="pt-BR" sz="1200">
                          <a:effectLst/>
                        </a:rPr>
                        <a:t>6</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257810">
                <a:tc>
                  <a:txBody>
                    <a:bodyPr/>
                    <a:lstStyle/>
                    <a:p>
                      <a:pPr algn="ctr" rtl="0" fontAlgn="b"/>
                      <a:r>
                        <a:rPr lang="pt-BR" sz="1200">
                          <a:effectLst/>
                        </a:rPr>
                        <a:t>7</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257810">
                <a:tc>
                  <a:txBody>
                    <a:bodyPr/>
                    <a:lstStyle/>
                    <a:p>
                      <a:pPr algn="ctr" rtl="0" fontAlgn="b"/>
                      <a:r>
                        <a:rPr lang="pt-BR" sz="1200">
                          <a:effectLst/>
                        </a:rPr>
                        <a:t>8</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257810">
                <a:tc>
                  <a:txBody>
                    <a:bodyPr/>
                    <a:lstStyle/>
                    <a:p>
                      <a:pPr algn="ctr" rtl="0" fontAlgn="b"/>
                      <a:r>
                        <a:rPr lang="pt-BR" sz="1200">
                          <a:effectLst/>
                        </a:rPr>
                        <a:t>9</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257810">
                <a:tc>
                  <a:txBody>
                    <a:bodyPr/>
                    <a:lstStyle/>
                    <a:p>
                      <a:pPr algn="ctr" rtl="0" fontAlgn="b"/>
                      <a:r>
                        <a:rPr lang="pt-BR" sz="1200">
                          <a:effectLst/>
                        </a:rPr>
                        <a:t>10</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257810">
                <a:tc>
                  <a:txBody>
                    <a:bodyPr/>
                    <a:lstStyle/>
                    <a:p>
                      <a:pPr algn="ctr" rtl="0" fontAlgn="b"/>
                      <a:r>
                        <a:rPr lang="pt-BR" sz="1200">
                          <a:effectLst/>
                        </a:rPr>
                        <a:t>11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257810">
                <a:tc>
                  <a:txBody>
                    <a:bodyPr/>
                    <a:lstStyle/>
                    <a:p>
                      <a:pPr algn="ctr" rtl="0" fontAlgn="b"/>
                      <a:r>
                        <a:rPr lang="pt-BR" sz="1200">
                          <a:effectLst/>
                        </a:rPr>
                        <a:t>12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r h="257810">
                <a:tc>
                  <a:txBody>
                    <a:bodyPr/>
                    <a:lstStyle/>
                    <a:p>
                      <a:pPr algn="ctr" rtl="0" fontAlgn="b"/>
                      <a:r>
                        <a:rPr lang="pt-BR" sz="1200">
                          <a:effectLst/>
                        </a:rPr>
                        <a:t>13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4"/>
                  </a:ext>
                </a:extLst>
              </a:tr>
              <a:tr h="257810">
                <a:tc>
                  <a:txBody>
                    <a:bodyPr/>
                    <a:lstStyle/>
                    <a:p>
                      <a:pPr algn="ctr" rtl="0" fontAlgn="b"/>
                      <a:r>
                        <a:rPr lang="pt-BR" sz="1200" dirty="0">
                          <a:effectLst/>
                        </a:rPr>
                        <a:t>14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5"/>
                  </a:ext>
                </a:extLst>
              </a:tr>
            </a:tbl>
          </a:graphicData>
        </a:graphic>
      </p:graphicFrame>
      <p:sp>
        <p:nvSpPr>
          <p:cNvPr id="6" name="CaixaDeTexto 5">
            <a:extLst>
              <a:ext uri="{FF2B5EF4-FFF2-40B4-BE49-F238E27FC236}">
                <a16:creationId xmlns:a16="http://schemas.microsoft.com/office/drawing/2014/main" id="{7DAB3EBA-2366-8BC1-4ED5-1CF34D52CB9D}"/>
              </a:ext>
            </a:extLst>
          </p:cNvPr>
          <p:cNvSpPr txBox="1"/>
          <p:nvPr/>
        </p:nvSpPr>
        <p:spPr>
          <a:xfrm>
            <a:off x="11456623" y="6550223"/>
            <a:ext cx="766557" cy="307777"/>
          </a:xfrm>
          <a:prstGeom prst="rect">
            <a:avLst/>
          </a:prstGeom>
          <a:noFill/>
        </p:spPr>
        <p:txBody>
          <a:bodyPr wrap="none" rtlCol="0">
            <a:spAutoFit/>
          </a:bodyPr>
          <a:lstStyle/>
          <a:p>
            <a:r>
              <a:rPr lang="pt-BR" sz="1400" dirty="0">
                <a:hlinkClick r:id="rId3"/>
              </a:rPr>
              <a:t>planilha</a:t>
            </a:r>
            <a:endParaRPr lang="pt-BR" sz="1400" dirty="0"/>
          </a:p>
        </p:txBody>
      </p:sp>
    </p:spTree>
    <p:extLst>
      <p:ext uri="{BB962C8B-B14F-4D97-AF65-F5344CB8AC3E}">
        <p14:creationId xmlns:p14="http://schemas.microsoft.com/office/powerpoint/2010/main" val="106360984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12869"/>
            <a:ext cx="11143592"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438432"/>
                <a:ext cx="11143593" cy="5230382"/>
              </a:xfrm>
            </p:spPr>
            <p:txBody>
              <a:bodyPr>
                <a:normAutofit fontScale="77500" lnSpcReduction="20000"/>
              </a:bodyPr>
              <a:lstStyle/>
              <a:p>
                <a:r>
                  <a:rPr lang="pt-BR" dirty="0"/>
                  <a:t>A </a:t>
                </a:r>
                <a:r>
                  <a:rPr lang="pt-BR" b="1" dirty="0"/>
                  <a:t>entropia do objetivo</a:t>
                </a:r>
                <a:r>
                  <a:rPr lang="pt-BR" dirty="0"/>
                  <a:t>, i.e., </a:t>
                </a:r>
                <a14:m>
                  <m:oMath xmlns:m="http://schemas.openxmlformats.org/officeDocument/2006/math">
                    <m:r>
                      <a:rPr lang="pt-BR" i="1">
                        <a:latin typeface="Cambria Math" panose="02040503050406030204" pitchFamily="18" charset="0"/>
                      </a:rPr>
                      <m:t>𝑦</m:t>
                    </m:r>
                  </m:oMath>
                </a14:m>
                <a:r>
                  <a:rPr lang="pt-BR" dirty="0"/>
                  <a:t>, para todo o conjunto de treinamento é</a:t>
                </a:r>
              </a:p>
              <a:p>
                <a:pPr marL="0" indent="0" algn="ctr">
                  <a:buNone/>
                </a:pPr>
                <a14:m>
                  <m:oMath xmlns:m="http://schemas.openxmlformats.org/officeDocument/2006/math">
                    <m:r>
                      <a:rPr lang="pt-BR" sz="2200" i="1">
                        <a:latin typeface="Cambria Math" panose="02040503050406030204" pitchFamily="18" charset="0"/>
                      </a:rPr>
                      <m:t>𝐻</m:t>
                    </m:r>
                    <m:d>
                      <m:dPr>
                        <m:ctrlPr>
                          <a:rPr lang="pt-BR" sz="2200" i="1">
                            <a:latin typeface="Cambria Math" panose="02040503050406030204" pitchFamily="18" charset="0"/>
                          </a:rPr>
                        </m:ctrlPr>
                      </m:dPr>
                      <m:e>
                        <m:r>
                          <a:rPr lang="pt-BR" sz="2200" b="0" i="1" smtClean="0">
                            <a:latin typeface="Cambria Math" panose="02040503050406030204" pitchFamily="18" charset="0"/>
                          </a:rPr>
                          <m:t>𝑦</m:t>
                        </m:r>
                      </m:e>
                    </m:d>
                    <m:r>
                      <a:rPr lang="pt-BR" sz="2200" b="0" i="1" smtClean="0">
                        <a:latin typeface="Cambria Math" panose="02040503050406030204" pitchFamily="18" charset="0"/>
                      </a:rPr>
                      <m:t>=−</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r>
                          <a:rPr lang="pt-BR" sz="2200" b="0" i="1" smtClean="0">
                            <a:latin typeface="Cambria Math" panose="02040503050406030204" pitchFamily="18" charset="0"/>
                          </a:rPr>
                          <m:t>+</m:t>
                        </m:r>
                        <m:d>
                          <m:dPr>
                            <m:ctrlPr>
                              <a:rPr lang="pt-BR" sz="2200" b="0" i="1" smtClean="0">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e>
                    </m:d>
                    <m:r>
                      <a:rPr lang="pt-BR" sz="2200" b="0" i="0" smtClean="0">
                        <a:latin typeface="Cambria Math" panose="02040503050406030204" pitchFamily="18" charset="0"/>
                      </a:rPr>
                      <m:t>=0.9403</m:t>
                    </m:r>
                  </m:oMath>
                </a14:m>
                <a:r>
                  <a:rPr lang="pt-BR" sz="2200" dirty="0"/>
                  <a:t>.</a:t>
                </a:r>
              </a:p>
              <a:p>
                <a:r>
                  <a:rPr lang="pt-BR" dirty="0"/>
                  <a:t>Encontrando o nó raiz: o </a:t>
                </a:r>
                <a:r>
                  <a:rPr lang="pt-BR" b="1" dirty="0"/>
                  <a:t>ganho de informação</a:t>
                </a:r>
                <a:r>
                  <a:rPr lang="pt-BR" dirty="0"/>
                  <a:t> de cada atributo é calculado como</a:t>
                </a:r>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𝐎𝐮𝐭𝐥𝐨𝐨𝐤</m:t>
                          </m:r>
                        </m:e>
                      </m:d>
                      <m:r>
                        <a:rPr lang="pt-BR" sz="2200" i="1">
                          <a:latin typeface="Cambria Math" panose="02040503050406030204" pitchFamily="18" charset="0"/>
                        </a:rPr>
                        <m:t>=</m:t>
                      </m:r>
                      <m:r>
                        <a:rPr lang="pt-BR" sz="2200" b="0" i="1" smtClean="0">
                          <a:latin typeface="Cambria Math" panose="02040503050406030204" pitchFamily="18" charset="0"/>
                        </a:rPr>
                        <m:t>0.9403−</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smtClean="0">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2</m:t>
                                  </m:r>
                                </m:num>
                                <m:den>
                                  <m:r>
                                    <a:rPr lang="pt-BR" sz="2200" b="0" i="1" smtClean="0">
                                      <a:latin typeface="Cambria Math" panose="02040503050406030204" pitchFamily="18" charset="0"/>
                                    </a:rPr>
                                    <m:t>5</m:t>
                                  </m:r>
                                </m:den>
                              </m:f>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r>
                                <a:rPr lang="pt-BR" sz="2200" b="0" i="1" smtClean="0">
                                  <a:latin typeface="Cambria Math" panose="02040503050406030204" pitchFamily="18" charset="0"/>
                                </a:rPr>
                                <m:t>1</m:t>
                              </m:r>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i="1">
                                      <a:latin typeface="Cambria Math" panose="02040503050406030204" pitchFamily="18" charset="0"/>
                                    </a:rPr>
                                    <m:t>5</m:t>
                                  </m:r>
                                </m:den>
                              </m:f>
                            </m:e>
                          </m:d>
                        </m:e>
                      </m:d>
                      <m:r>
                        <a:rPr lang="pt-BR" sz="2200" b="0" i="0" smtClean="0">
                          <a:latin typeface="Cambria Math" panose="02040503050406030204" pitchFamily="18" charset="0"/>
                        </a:rPr>
                        <m:t>=0.247</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𝐓𝐞𝐦𝐩𝐞𝐫𝐚𝐭𝐮𝐫𝐞</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2</m:t>
                                  </m:r>
                                </m:num>
                                <m:den>
                                  <m:r>
                                    <a:rPr lang="pt-BR" sz="2200" b="0" i="1" smtClean="0">
                                      <a:latin typeface="Cambria Math" panose="02040503050406030204" pitchFamily="18" charset="0"/>
                                    </a:rPr>
                                    <m:t>4</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3</m:t>
                                  </m:r>
                                </m:num>
                                <m:den>
                                  <m:r>
                                    <a:rPr lang="pt-BR" sz="2200" b="0" i="1" smtClean="0">
                                      <a:latin typeface="Cambria Math" panose="02040503050406030204" pitchFamily="18" charset="0"/>
                                    </a:rPr>
                                    <m:t>4</m:t>
                                  </m:r>
                                </m:den>
                              </m:f>
                            </m:e>
                          </m:d>
                        </m:e>
                      </m:d>
                      <m:r>
                        <a:rPr lang="pt-BR" sz="2200">
                          <a:latin typeface="Cambria Math" panose="02040503050406030204" pitchFamily="18" charset="0"/>
                        </a:rPr>
                        <m:t>=0.</m:t>
                      </m:r>
                      <m:r>
                        <a:rPr lang="pt-BR" sz="2200" b="0" i="0" smtClean="0">
                          <a:latin typeface="Cambria Math" panose="02040503050406030204" pitchFamily="18" charset="0"/>
                        </a:rPr>
                        <m:t>029</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𝐇𝐮𝐦𝐢𝐝𝐢𝐭𝐲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7</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7</m:t>
                                  </m:r>
                                </m:den>
                              </m:f>
                            </m:e>
                          </m:d>
                        </m:e>
                      </m:d>
                      <m:r>
                        <a:rPr lang="pt-BR" sz="2200">
                          <a:latin typeface="Cambria Math" panose="02040503050406030204" pitchFamily="18" charset="0"/>
                        </a:rPr>
                        <m:t>=0.</m:t>
                      </m:r>
                      <m:r>
                        <a:rPr lang="pt-BR" sz="2200" b="0" i="0" smtClean="0">
                          <a:latin typeface="Cambria Math" panose="02040503050406030204" pitchFamily="18" charset="0"/>
                        </a:rPr>
                        <m:t>1518</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𝐖𝐢𝐧𝐝𝐲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8</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8</m:t>
                                  </m:r>
                                </m:den>
                              </m:f>
                            </m:e>
                          </m:d>
                        </m:e>
                      </m:d>
                      <m:r>
                        <a:rPr lang="pt-BR" sz="2200">
                          <a:latin typeface="Cambria Math" panose="02040503050406030204" pitchFamily="18" charset="0"/>
                        </a:rPr>
                        <m:t>=0.</m:t>
                      </m:r>
                      <m:r>
                        <a:rPr lang="pt-BR" sz="2200" b="0" i="0" smtClean="0">
                          <a:latin typeface="Cambria Math" panose="02040503050406030204" pitchFamily="18" charset="0"/>
                        </a:rPr>
                        <m:t>04813</m:t>
                      </m:r>
                    </m:oMath>
                  </m:oMathPara>
                </a14:m>
                <a:endParaRPr lang="pt-BR" sz="2200" dirty="0">
                  <a:latin typeface="+mj-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438432"/>
                <a:ext cx="11143593" cy="5230382"/>
              </a:xfrm>
              <a:blipFill>
                <a:blip r:embed="rId3"/>
                <a:stretch>
                  <a:fillRect l="-601" t="-2448"/>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2956897189"/>
              </p:ext>
            </p:extLst>
          </p:nvPr>
        </p:nvGraphicFramePr>
        <p:xfrm>
          <a:off x="980091" y="2578430"/>
          <a:ext cx="2425262" cy="1508760"/>
        </p:xfrm>
        <a:graphic>
          <a:graphicData uri="http://schemas.openxmlformats.org/drawingml/2006/table">
            <a:tbl>
              <a:tblPr/>
              <a:tblGrid>
                <a:gridCol w="684266">
                  <a:extLst>
                    <a:ext uri="{9D8B030D-6E8A-4147-A177-3AD203B41FA5}">
                      <a16:colId xmlns:a16="http://schemas.microsoft.com/office/drawing/2014/main" val="20000"/>
                    </a:ext>
                  </a:extLst>
                </a:gridCol>
                <a:gridCol w="684266">
                  <a:extLst>
                    <a:ext uri="{9D8B030D-6E8A-4147-A177-3AD203B41FA5}">
                      <a16:colId xmlns:a16="http://schemas.microsoft.com/office/drawing/2014/main" val="20001"/>
                    </a:ext>
                  </a:extLst>
                </a:gridCol>
                <a:gridCol w="293254">
                  <a:extLst>
                    <a:ext uri="{9D8B030D-6E8A-4147-A177-3AD203B41FA5}">
                      <a16:colId xmlns:a16="http://schemas.microsoft.com/office/drawing/2014/main" val="20002"/>
                    </a:ext>
                  </a:extLst>
                </a:gridCol>
                <a:gridCol w="293254">
                  <a:extLst>
                    <a:ext uri="{9D8B030D-6E8A-4147-A177-3AD203B41FA5}">
                      <a16:colId xmlns:a16="http://schemas.microsoft.com/office/drawing/2014/main" val="20003"/>
                    </a:ext>
                  </a:extLst>
                </a:gridCol>
                <a:gridCol w="470222">
                  <a:extLst>
                    <a:ext uri="{9D8B030D-6E8A-4147-A177-3AD203B41FA5}">
                      <a16:colId xmlns:a16="http://schemas.microsoft.com/office/drawing/2014/main" val="20004"/>
                    </a:ext>
                  </a:extLst>
                </a:gridCol>
              </a:tblGrid>
              <a:tr h="240293">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40293">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40293">
                <a:tc rowSpan="3">
                  <a:txBody>
                    <a:bodyPr/>
                    <a:lstStyle/>
                    <a:p>
                      <a:pPr algn="ctr" rtl="0" fontAlgn="ctr"/>
                      <a:r>
                        <a:rPr lang="pt-BR" sz="1400" b="1" dirty="0">
                          <a:effectLst/>
                        </a:rPr>
                        <a:t>Outlook</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40293">
                <a:tc vMerge="1">
                  <a:txBody>
                    <a:bodyPr/>
                    <a:lstStyle/>
                    <a:p>
                      <a:endParaRPr lang="pt-BR"/>
                    </a:p>
                  </a:txBody>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40293">
                <a:tc vMerge="1">
                  <a:txBody>
                    <a:bodyPr/>
                    <a:lstStyle/>
                    <a:p>
                      <a:endParaRPr lang="pt-BR"/>
                    </a:p>
                  </a:txBody>
                  <a:tcPr/>
                </a:tc>
                <a:tc>
                  <a:txBody>
                    <a:bodyPr/>
                    <a:lstStyle/>
                    <a:p>
                      <a:pPr algn="ctr" rtl="0" fontAlgn="b"/>
                      <a:r>
                        <a:rPr lang="pt-BR" sz="14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40293">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29532857"/>
              </p:ext>
            </p:extLst>
          </p:nvPr>
        </p:nvGraphicFramePr>
        <p:xfrm>
          <a:off x="3638063" y="2578430"/>
          <a:ext cx="2652378" cy="1508760"/>
        </p:xfrm>
        <a:graphic>
          <a:graphicData uri="http://schemas.openxmlformats.org/drawingml/2006/table">
            <a:tbl>
              <a:tblPr/>
              <a:tblGrid>
                <a:gridCol w="1058462">
                  <a:extLst>
                    <a:ext uri="{9D8B030D-6E8A-4147-A177-3AD203B41FA5}">
                      <a16:colId xmlns:a16="http://schemas.microsoft.com/office/drawing/2014/main" val="20000"/>
                    </a:ext>
                  </a:extLst>
                </a:gridCol>
                <a:gridCol w="697339">
                  <a:extLst>
                    <a:ext uri="{9D8B030D-6E8A-4147-A177-3AD203B41FA5}">
                      <a16:colId xmlns:a16="http://schemas.microsoft.com/office/drawing/2014/main" val="20001"/>
                    </a:ext>
                  </a:extLst>
                </a:gridCol>
                <a:gridCol w="298859">
                  <a:extLst>
                    <a:ext uri="{9D8B030D-6E8A-4147-A177-3AD203B41FA5}">
                      <a16:colId xmlns:a16="http://schemas.microsoft.com/office/drawing/2014/main" val="20002"/>
                    </a:ext>
                  </a:extLst>
                </a:gridCol>
                <a:gridCol w="298859">
                  <a:extLst>
                    <a:ext uri="{9D8B030D-6E8A-4147-A177-3AD203B41FA5}">
                      <a16:colId xmlns:a16="http://schemas.microsoft.com/office/drawing/2014/main" val="20003"/>
                    </a:ext>
                  </a:extLst>
                </a:gridCol>
                <a:gridCol w="298859">
                  <a:extLst>
                    <a:ext uri="{9D8B030D-6E8A-4147-A177-3AD203B41FA5}">
                      <a16:colId xmlns:a16="http://schemas.microsoft.com/office/drawing/2014/main" val="20004"/>
                    </a:ext>
                  </a:extLst>
                </a:gridCol>
              </a:tblGrid>
              <a:tr h="251460">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51460">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51460">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51460">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51460">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51460">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354285095"/>
              </p:ext>
            </p:extLst>
          </p:nvPr>
        </p:nvGraphicFramePr>
        <p:xfrm>
          <a:off x="6528402" y="2578430"/>
          <a:ext cx="2364663" cy="1257300"/>
        </p:xfrm>
        <a:graphic>
          <a:graphicData uri="http://schemas.openxmlformats.org/drawingml/2006/table">
            <a:tbl>
              <a:tblPr/>
              <a:tblGrid>
                <a:gridCol w="943645">
                  <a:extLst>
                    <a:ext uri="{9D8B030D-6E8A-4147-A177-3AD203B41FA5}">
                      <a16:colId xmlns:a16="http://schemas.microsoft.com/office/drawing/2014/main" val="20000"/>
                    </a:ext>
                  </a:extLst>
                </a:gridCol>
                <a:gridCol w="621695">
                  <a:extLst>
                    <a:ext uri="{9D8B030D-6E8A-4147-A177-3AD203B41FA5}">
                      <a16:colId xmlns:a16="http://schemas.microsoft.com/office/drawing/2014/main" val="20001"/>
                    </a:ext>
                  </a:extLst>
                </a:gridCol>
                <a:gridCol w="266441">
                  <a:extLst>
                    <a:ext uri="{9D8B030D-6E8A-4147-A177-3AD203B41FA5}">
                      <a16:colId xmlns:a16="http://schemas.microsoft.com/office/drawing/2014/main" val="20002"/>
                    </a:ext>
                  </a:extLst>
                </a:gridCol>
                <a:gridCol w="266441">
                  <a:extLst>
                    <a:ext uri="{9D8B030D-6E8A-4147-A177-3AD203B41FA5}">
                      <a16:colId xmlns:a16="http://schemas.microsoft.com/office/drawing/2014/main" val="20003"/>
                    </a:ext>
                  </a:extLst>
                </a:gridCol>
                <a:gridCol w="266441">
                  <a:extLst>
                    <a:ext uri="{9D8B030D-6E8A-4147-A177-3AD203B41FA5}">
                      <a16:colId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dirty="0">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2577828383"/>
              </p:ext>
            </p:extLst>
          </p:nvPr>
        </p:nvGraphicFramePr>
        <p:xfrm>
          <a:off x="9131026" y="2578430"/>
          <a:ext cx="2401451" cy="1257300"/>
        </p:xfrm>
        <a:graphic>
          <a:graphicData uri="http://schemas.openxmlformats.org/drawingml/2006/table">
            <a:tbl>
              <a:tblPr/>
              <a:tblGrid>
                <a:gridCol w="958326">
                  <a:extLst>
                    <a:ext uri="{9D8B030D-6E8A-4147-A177-3AD203B41FA5}">
                      <a16:colId xmlns:a16="http://schemas.microsoft.com/office/drawing/2014/main" val="20000"/>
                    </a:ext>
                  </a:extLst>
                </a:gridCol>
                <a:gridCol w="631367">
                  <a:extLst>
                    <a:ext uri="{9D8B030D-6E8A-4147-A177-3AD203B41FA5}">
                      <a16:colId xmlns:a16="http://schemas.microsoft.com/office/drawing/2014/main" val="20001"/>
                    </a:ext>
                  </a:extLst>
                </a:gridCol>
                <a:gridCol w="270586">
                  <a:extLst>
                    <a:ext uri="{9D8B030D-6E8A-4147-A177-3AD203B41FA5}">
                      <a16:colId xmlns:a16="http://schemas.microsoft.com/office/drawing/2014/main" val="20002"/>
                    </a:ext>
                  </a:extLst>
                </a:gridCol>
                <a:gridCol w="270586">
                  <a:extLst>
                    <a:ext uri="{9D8B030D-6E8A-4147-A177-3AD203B41FA5}">
                      <a16:colId xmlns:a16="http://schemas.microsoft.com/office/drawing/2014/main" val="20003"/>
                    </a:ext>
                  </a:extLst>
                </a:gridCol>
                <a:gridCol w="270586">
                  <a:extLst>
                    <a:ext uri="{9D8B030D-6E8A-4147-A177-3AD203B41FA5}">
                      <a16:colId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8</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1" name="TextBox 10"/>
          <p:cNvSpPr txBox="1"/>
          <p:nvPr/>
        </p:nvSpPr>
        <p:spPr>
          <a:xfrm>
            <a:off x="8081431" y="3989594"/>
            <a:ext cx="3900361" cy="1200329"/>
          </a:xfrm>
          <a:prstGeom prst="rect">
            <a:avLst/>
          </a:prstGeom>
          <a:noFill/>
          <a:ln>
            <a:solidFill>
              <a:schemeClr val="tx1"/>
            </a:solidFill>
          </a:ln>
        </p:spPr>
        <p:txBody>
          <a:bodyPr wrap="square" rtlCol="0">
            <a:spAutoFit/>
          </a:bodyPr>
          <a:lstStyle/>
          <a:p>
            <a:r>
              <a:rPr lang="pt-BR" dirty="0"/>
              <a:t>O </a:t>
            </a:r>
            <a:r>
              <a:rPr lang="pt-BR" b="1" dirty="0"/>
              <a:t>ganho de informação </a:t>
            </a:r>
            <a:r>
              <a:rPr lang="pt-BR" dirty="0"/>
              <a:t>é maximizado com o atributo </a:t>
            </a:r>
            <a:r>
              <a:rPr lang="pt-BR" b="1" dirty="0"/>
              <a:t>Outlook</a:t>
            </a:r>
            <a:r>
              <a:rPr lang="pt-BR" dirty="0"/>
              <a:t>, que é, portanto, escolhido como o nó raíz da árvore.</a:t>
            </a:r>
          </a:p>
        </p:txBody>
      </p:sp>
      <p:pic>
        <p:nvPicPr>
          <p:cNvPr id="27" name="Picture 2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33234" y="5497115"/>
            <a:ext cx="4821992" cy="1171699"/>
          </a:xfrm>
          <a:prstGeom prst="rect">
            <a:avLst/>
          </a:prstGeom>
        </p:spPr>
      </p:pic>
      <p:sp>
        <p:nvSpPr>
          <p:cNvPr id="5" name="Rectangle 4"/>
          <p:cNvSpPr/>
          <p:nvPr/>
        </p:nvSpPr>
        <p:spPr>
          <a:xfrm>
            <a:off x="6827116" y="435089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640933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922876" cy="1325563"/>
          </a:xfrm>
        </p:spPr>
        <p:txBody>
          <a:bodyPr/>
          <a:lstStyle/>
          <a:p>
            <a:r>
              <a:rPr lang="pt-BR" dirty="0"/>
              <a:t>Exemplo de indução com método ID3</a:t>
            </a:r>
          </a:p>
        </p:txBody>
      </p:sp>
      <p:sp>
        <p:nvSpPr>
          <p:cNvPr id="3" name="Content Placeholder 2"/>
          <p:cNvSpPr>
            <a:spLocks noGrp="1"/>
          </p:cNvSpPr>
          <p:nvPr>
            <p:ph idx="1"/>
          </p:nvPr>
        </p:nvSpPr>
        <p:spPr>
          <a:xfrm>
            <a:off x="838199" y="1690689"/>
            <a:ext cx="11229975" cy="3386420"/>
          </a:xfrm>
        </p:spPr>
        <p:txBody>
          <a:bodyPr>
            <a:normAutofit fontScale="92500"/>
          </a:bodyPr>
          <a:lstStyle/>
          <a:p>
            <a:r>
              <a:rPr lang="pt-BR" dirty="0"/>
              <a:t>Agora, criamos </a:t>
            </a:r>
            <a:r>
              <a:rPr lang="pt-BR" b="1" dirty="0">
                <a:solidFill>
                  <a:srgbClr val="00B050"/>
                </a:solidFill>
              </a:rPr>
              <a:t>subconjuntos para cada um dos valores</a:t>
            </a:r>
            <a:r>
              <a:rPr lang="pt-BR" dirty="0"/>
              <a:t> do atributo </a:t>
            </a:r>
            <a:r>
              <a:rPr lang="pt-BR" b="1" dirty="0"/>
              <a:t>Outlook</a:t>
            </a:r>
            <a:r>
              <a:rPr lang="pt-BR" dirty="0"/>
              <a:t> e refazemos os cálculos do </a:t>
            </a:r>
            <a:r>
              <a:rPr lang="pt-BR" b="1" dirty="0"/>
              <a:t>ganho de informação </a:t>
            </a:r>
            <a:r>
              <a:rPr lang="pt-BR" dirty="0"/>
              <a:t>para cada um deles.</a:t>
            </a:r>
          </a:p>
          <a:p>
            <a:r>
              <a:rPr lang="pt-BR" dirty="0"/>
              <a:t>Quando </a:t>
            </a:r>
            <a:r>
              <a:rPr lang="pt-BR" b="1" dirty="0"/>
              <a:t>Outlook = overcast</a:t>
            </a:r>
            <a:r>
              <a:rPr lang="pt-BR" dirty="0"/>
              <a:t>, o subconjunto abaixo mostra que os valores dos outros atributos não importam, sendo a classe escolhida sempre a </a:t>
            </a:r>
            <a:r>
              <a:rPr lang="pt-BR" b="1" dirty="0"/>
              <a:t>Positiva</a:t>
            </a:r>
            <a:r>
              <a:rPr lang="pt-BR" dirty="0"/>
              <a:t> (</a:t>
            </a:r>
            <a:r>
              <a:rPr lang="pt-BR" i="1" dirty="0"/>
              <a:t>P</a:t>
            </a:r>
            <a:r>
              <a:rPr lang="pt-BR" dirty="0"/>
              <a:t>), ou seja, a </a:t>
            </a:r>
            <a:r>
              <a:rPr lang="pt-BR" b="1" dirty="0">
                <a:solidFill>
                  <a:srgbClr val="00B050"/>
                </a:solidFill>
              </a:rPr>
              <a:t>decisão será sempre pela classe Positiva se o tempo estiver nublado</a:t>
            </a:r>
            <a:r>
              <a:rPr lang="pt-BR" dirty="0"/>
              <a:t>.</a:t>
            </a:r>
          </a:p>
          <a:p>
            <a:r>
              <a:rPr lang="pt-BR" dirty="0"/>
              <a:t>A </a:t>
            </a:r>
            <a:r>
              <a:rPr lang="pt-BR" b="1" dirty="0">
                <a:solidFill>
                  <a:srgbClr val="00B050"/>
                </a:solidFill>
              </a:rPr>
              <a:t>entropia nessa caso é igual a zero</a:t>
            </a:r>
            <a:r>
              <a:rPr lang="pt-BR" dirty="0"/>
              <a:t> (pois não há incerteza), indicando uma </a:t>
            </a:r>
            <a:r>
              <a:rPr lang="pt-BR" b="1" dirty="0"/>
              <a:t>folha</a:t>
            </a:r>
            <a:r>
              <a:rPr lang="pt-BR" dirty="0"/>
              <a:t> da árvore.</a:t>
            </a:r>
          </a:p>
          <a:p>
            <a:r>
              <a:rPr lang="pt-BR" dirty="0"/>
              <a:t>Portanto, encontramos a folha deste ramo.</a:t>
            </a:r>
          </a:p>
        </p:txBody>
      </p:sp>
      <p:graphicFrame>
        <p:nvGraphicFramePr>
          <p:cNvPr id="4" name="Table 3"/>
          <p:cNvGraphicFramePr>
            <a:graphicFrameLocks noGrp="1"/>
          </p:cNvGraphicFramePr>
          <p:nvPr>
            <p:extLst>
              <p:ext uri="{D42A27DB-BD31-4B8C-83A1-F6EECF244321}">
                <p14:modId xmlns:p14="http://schemas.microsoft.com/office/powerpoint/2010/main" val="3735334332"/>
              </p:ext>
            </p:extLst>
          </p:nvPr>
        </p:nvGraphicFramePr>
        <p:xfrm>
          <a:off x="1145299" y="5090044"/>
          <a:ext cx="6115050" cy="1569720"/>
        </p:xfrm>
        <a:graphic>
          <a:graphicData uri="http://schemas.openxmlformats.org/drawingml/2006/table">
            <a:tbl>
              <a:tblPr/>
              <a:tblGrid>
                <a:gridCol w="1019175">
                  <a:extLst>
                    <a:ext uri="{9D8B030D-6E8A-4147-A177-3AD203B41FA5}">
                      <a16:colId xmlns:a16="http://schemas.microsoft.com/office/drawing/2014/main" val="20000"/>
                    </a:ext>
                  </a:extLst>
                </a:gridCol>
                <a:gridCol w="1019175">
                  <a:extLst>
                    <a:ext uri="{9D8B030D-6E8A-4147-A177-3AD203B41FA5}">
                      <a16:colId xmlns:a16="http://schemas.microsoft.com/office/drawing/2014/main" val="20001"/>
                    </a:ext>
                  </a:extLst>
                </a:gridCol>
                <a:gridCol w="1019175">
                  <a:extLst>
                    <a:ext uri="{9D8B030D-6E8A-4147-A177-3AD203B41FA5}">
                      <a16:colId xmlns:a16="http://schemas.microsoft.com/office/drawing/2014/main" val="20002"/>
                    </a:ext>
                  </a:extLst>
                </a:gridCol>
                <a:gridCol w="1019175">
                  <a:extLst>
                    <a:ext uri="{9D8B030D-6E8A-4147-A177-3AD203B41FA5}">
                      <a16:colId xmlns:a16="http://schemas.microsoft.com/office/drawing/2014/main" val="20003"/>
                    </a:ext>
                  </a:extLst>
                </a:gridCol>
                <a:gridCol w="1019175">
                  <a:extLst>
                    <a:ext uri="{9D8B030D-6E8A-4147-A177-3AD203B41FA5}">
                      <a16:colId xmlns:a16="http://schemas.microsoft.com/office/drawing/2014/main" val="20004"/>
                    </a:ext>
                  </a:extLst>
                </a:gridCol>
                <a:gridCol w="1019175">
                  <a:extLst>
                    <a:ext uri="{9D8B030D-6E8A-4147-A177-3AD203B41FA5}">
                      <a16:colId xmlns:a16="http://schemas.microsoft.com/office/drawing/2014/main" val="20005"/>
                    </a:ext>
                  </a:extLst>
                </a:gridCol>
              </a:tblGrid>
              <a:tr h="27055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17764">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17764">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17764">
                <a:tc>
                  <a:txBody>
                    <a:bodyPr/>
                    <a:lstStyle/>
                    <a:p>
                      <a:pPr algn="ctr" rtl="0" fontAlgn="b"/>
                      <a:r>
                        <a:rPr lang="pt-BR" sz="1400">
                          <a:effectLst/>
                        </a:rPr>
                        <a:t>7</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17764">
                <a:tc>
                  <a:txBody>
                    <a:bodyPr/>
                    <a:lstStyle/>
                    <a:p>
                      <a:pPr algn="ctr" rtl="0" fontAlgn="b"/>
                      <a:r>
                        <a:rPr lang="pt-BR" sz="1400">
                          <a:effectLst/>
                        </a:rPr>
                        <a:t>12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17764">
                <a:tc>
                  <a:txBody>
                    <a:bodyPr/>
                    <a:lstStyle/>
                    <a:p>
                      <a:pPr algn="ctr" rtl="0" fontAlgn="b"/>
                      <a:r>
                        <a:rPr lang="pt-BR" sz="1400">
                          <a:effectLst/>
                        </a:rPr>
                        <a:t>13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160" r="5235"/>
          <a:stretch/>
        </p:blipFill>
        <p:spPr>
          <a:xfrm>
            <a:off x="7443623" y="5077109"/>
            <a:ext cx="4624552" cy="1354949"/>
          </a:xfrm>
          <a:prstGeom prst="rect">
            <a:avLst/>
          </a:prstGeom>
        </p:spPr>
      </p:pic>
    </p:spTree>
    <p:extLst>
      <p:ext uri="{BB962C8B-B14F-4D97-AF65-F5344CB8AC3E}">
        <p14:creationId xmlns:p14="http://schemas.microsoft.com/office/powerpoint/2010/main" val="265991295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241505"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60786"/>
                <a:ext cx="9869906" cy="5297213"/>
              </a:xfrm>
            </p:spPr>
            <p:txBody>
              <a:bodyPr>
                <a:normAutofit fontScale="77500" lnSpcReduction="20000"/>
              </a:bodyPr>
              <a:lstStyle/>
              <a:p>
                <a:r>
                  <a:rPr lang="pt-BR" dirty="0"/>
                  <a:t>Quando </a:t>
                </a:r>
                <a:r>
                  <a:rPr lang="pt-BR" b="1" dirty="0"/>
                  <a:t>Outlook = rain</a:t>
                </a:r>
                <a:endParaRPr lang="pt-BR" dirty="0"/>
              </a:p>
              <a:p>
                <a:endParaRPr lang="pt-BR" dirty="0"/>
              </a:p>
              <a:p>
                <a:endParaRPr lang="pt-BR" dirty="0"/>
              </a:p>
              <a:p>
                <a:endParaRPr lang="pt-BR" dirty="0"/>
              </a:p>
              <a:p>
                <a:pPr marL="0" indent="0">
                  <a:buNone/>
                </a:pPr>
                <a:endParaRPr lang="pt-BR" sz="2400" i="1" dirty="0">
                  <a:latin typeface="Cambria Math" panose="02040503050406030204" pitchFamily="18" charset="0"/>
                </a:endParaRPr>
              </a:p>
              <a:p>
                <a:pPr marL="0" indent="0">
                  <a:buNone/>
                </a:pPr>
                <a:endParaRPr lang="pt-BR" sz="2400" i="1" dirty="0">
                  <a:latin typeface="Cambria Math" panose="02040503050406030204" pitchFamily="18" charset="0"/>
                </a:endParaRPr>
              </a:p>
              <a:p>
                <a:pPr marL="0" indent="0">
                  <a:buNone/>
                </a:pPr>
                <a:r>
                  <a:rPr lang="pt-BR" sz="2400" b="1" dirty="0"/>
                  <a:t>Entropia do objetivo </a:t>
                </a:r>
                <a:r>
                  <a:rPr lang="pt-BR" sz="2400" dirty="0"/>
                  <a:t>para o subconjunto </a:t>
                </a:r>
                <a14:m>
                  <m:oMath xmlns:m="http://schemas.openxmlformats.org/officeDocument/2006/math">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oMath>
                </a14:m>
                <a:r>
                  <a:rPr lang="pt-BR" sz="2400" dirty="0"/>
                  <a:t>: </a:t>
                </a:r>
                <a14:m>
                  <m:oMath xmlns:m="http://schemas.openxmlformats.org/officeDocument/2006/math">
                    <m:r>
                      <a:rPr lang="pt-BR" sz="2400" b="1">
                        <a:latin typeface="Cambria Math" panose="02040503050406030204" pitchFamily="18" charset="0"/>
                      </a:rPr>
                      <m:t>𝐻</m:t>
                    </m:r>
                    <m:d>
                      <m:dPr>
                        <m:ctrlPr>
                          <a:rPr lang="pt-BR" sz="2400" b="1" i="1">
                            <a:latin typeface="Cambria Math" panose="02040503050406030204" pitchFamily="18" charset="0"/>
                          </a:rPr>
                        </m:ctrlPr>
                      </m:dPr>
                      <m:e>
                        <m:r>
                          <a:rPr lang="pt-BR" sz="2400" b="1">
                            <a:latin typeface="Cambria Math" panose="02040503050406030204" pitchFamily="18" charset="0"/>
                          </a:rPr>
                          <m:t>𝑦</m:t>
                        </m:r>
                        <m:r>
                          <a:rPr lang="pt-BR" sz="2400" b="1" i="0" smtClean="0">
                            <a:latin typeface="Cambria Math" panose="02040503050406030204" pitchFamily="18" charset="0"/>
                          </a:rPr>
                          <m:t> </m:t>
                        </m:r>
                      </m:e>
                      <m:e>
                        <m:r>
                          <m:rPr>
                            <m:nor/>
                          </m:rPr>
                          <a:rPr lang="pt-BR" sz="2400" b="1" i="0" smtClean="0">
                            <a:latin typeface="Cambria Math" panose="02040503050406030204" pitchFamily="18" charset="0"/>
                          </a:rPr>
                          <m:t> </m:t>
                        </m:r>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e>
                    </m:d>
                    <m:r>
                      <a:rPr lang="pt-BR" sz="2400" b="1">
                        <a:latin typeface="Cambria Math" panose="02040503050406030204" pitchFamily="18" charset="0"/>
                      </a:rPr>
                      <m:t>=0.971</m:t>
                    </m:r>
                  </m:oMath>
                </a14:m>
                <a:endParaRPr lang="pt-BR" sz="2400" b="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pt-BR" sz="2300" i="1">
                          <a:latin typeface="Cambria Math" panose="02040503050406030204" pitchFamily="18" charset="0"/>
                        </a:rPr>
                        <m:t>𝐺𝑎𝑖𝑛</m:t>
                      </m:r>
                      <m:d>
                        <m:dPr>
                          <m:ctrlPr>
                            <a:rPr lang="pt-BR" sz="2300" i="1">
                              <a:latin typeface="Cambria Math" panose="02040503050406030204" pitchFamily="18" charset="0"/>
                            </a:rPr>
                          </m:ctrlPr>
                        </m:dPr>
                        <m:e>
                          <m:r>
                            <a:rPr lang="pt-BR" sz="2300" b="1" i="0" smtClean="0">
                              <a:latin typeface="Cambria Math" panose="02040503050406030204" pitchFamily="18" charset="0"/>
                            </a:rPr>
                            <m:t>𝐓</m:t>
                          </m:r>
                          <m:r>
                            <a:rPr lang="pt-BR" sz="2300" b="1">
                              <a:latin typeface="Cambria Math" panose="02040503050406030204" pitchFamily="18" charset="0"/>
                            </a:rPr>
                            <m:t>𝐞𝐦𝐩𝐞𝐫𝐚𝐭𝐮𝐫𝐞</m:t>
                          </m:r>
                        </m:e>
                      </m:d>
                      <m:r>
                        <a:rPr lang="pt-BR" sz="2300" i="1">
                          <a:latin typeface="Cambria Math" panose="02040503050406030204" pitchFamily="18" charset="0"/>
                        </a:rPr>
                        <m:t>=0.9</m:t>
                      </m:r>
                      <m:r>
                        <a:rPr lang="pt-BR" sz="2300" b="0" i="1" smtClean="0">
                          <a:latin typeface="Cambria Math" panose="02040503050406030204" pitchFamily="18" charset="0"/>
                        </a:rPr>
                        <m:t>71</m:t>
                      </m:r>
                      <m:r>
                        <a:rPr lang="pt-BR" sz="2300" i="1">
                          <a:latin typeface="Cambria Math" panose="02040503050406030204" pitchFamily="18" charset="0"/>
                        </a:rPr>
                        <m:t>−</m:t>
                      </m:r>
                      <m:d>
                        <m:dPr>
                          <m:begChr m:val="["/>
                          <m:endChr m:val="]"/>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0</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3</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3</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1</m:t>
                                  </m:r>
                                </m:num>
                                <m:den>
                                  <m:r>
                                    <a:rPr lang="pt-BR" sz="2300" b="0" i="1" smtClean="0">
                                      <a:latin typeface="Cambria Math" panose="02040503050406030204" pitchFamily="18" charset="0"/>
                                    </a:rPr>
                                    <m:t>2</m:t>
                                  </m:r>
                                </m:den>
                              </m:f>
                            </m:e>
                          </m:d>
                        </m:e>
                      </m:d>
                      <m:r>
                        <a:rPr lang="pt-BR" sz="2300">
                          <a:latin typeface="Cambria Math" panose="02040503050406030204" pitchFamily="18" charset="0"/>
                        </a:rPr>
                        <m:t>=</m:t>
                      </m:r>
                      <m:r>
                        <a:rPr lang="pt-BR" sz="2300" b="0" i="0" smtClean="0">
                          <a:latin typeface="Cambria Math" panose="02040503050406030204" pitchFamily="18" charset="0"/>
                        </a:rPr>
                        <m:t>0.02</m:t>
                      </m:r>
                    </m:oMath>
                  </m:oMathPara>
                </a14:m>
                <a:endParaRPr lang="pt-BR" sz="2300" dirty="0"/>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i="0" smtClean="0">
                            <a:latin typeface="Cambria Math" panose="02040503050406030204" pitchFamily="18" charset="0"/>
                          </a:rPr>
                          <m:t>𝐇</m:t>
                        </m:r>
                        <m:r>
                          <a:rPr lang="pt-BR" sz="2400" b="1">
                            <a:latin typeface="Cambria Math" panose="02040503050406030204" pitchFamily="18" charset="0"/>
                          </a:rPr>
                          <m:t>𝐮𝐦𝐢𝐝𝐢𝐭𝐲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r>
                      <a:rPr lang="pt-BR" sz="2400" b="0" i="0" smtClean="0">
                        <a:latin typeface="Cambria Math" panose="02040503050406030204" pitchFamily="18" charset="0"/>
                      </a:rPr>
                      <m:t>.</m:t>
                    </m:r>
                  </m:oMath>
                </a14:m>
                <a:r>
                  <a:rPr lang="pt-BR" sz="2400" dirty="0"/>
                  <a:t>02</a:t>
                </a:r>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i="0" smtClean="0">
                            <a:latin typeface="Cambria Math" panose="02040503050406030204" pitchFamily="18" charset="0"/>
                          </a:rPr>
                          <m:t>𝐖</m:t>
                        </m:r>
                        <m:r>
                          <a:rPr lang="pt-BR" sz="2400" b="1">
                            <a:latin typeface="Cambria Math" panose="02040503050406030204" pitchFamily="18" charset="0"/>
                          </a:rPr>
                          <m:t>𝐢𝐧𝐝𝐲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0</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oMath>
                </a14:m>
                <a:r>
                  <a:rPr lang="pt-BR" sz="2400" dirty="0"/>
                  <a:t>971</a:t>
                </a:r>
              </a:p>
              <a:p>
                <a:r>
                  <a:rPr lang="pt-BR" dirty="0"/>
                  <a:t>Aqui, o atributo </a:t>
                </a:r>
                <a:r>
                  <a:rPr lang="pt-BR" b="1" dirty="0" err="1"/>
                  <a:t>Windy</a:t>
                </a:r>
                <a:r>
                  <a:rPr lang="pt-BR" dirty="0"/>
                  <a:t> resulta no valor de </a:t>
                </a:r>
                <a:r>
                  <a:rPr lang="pt-BR" b="1" dirty="0"/>
                  <a:t>ganho de informação</a:t>
                </a:r>
                <a:r>
                  <a:rPr lang="pt-BR" b="1" i="1" dirty="0"/>
                  <a:t> </a:t>
                </a:r>
                <a:r>
                  <a:rPr lang="pt-BR" dirty="0"/>
                  <a:t>mais alto quando o tempo estiver chuvoso (i.e., </a:t>
                </a:r>
                <a:r>
                  <a:rPr lang="pt-BR" b="1" dirty="0"/>
                  <a:t>Outlook = rain</a:t>
                </a:r>
                <a:r>
                  <a:rPr lang="pt-BR" dirty="0"/>
                  <a:t>). </a:t>
                </a:r>
              </a:p>
              <a:p>
                <a:r>
                  <a:rPr lang="pt-BR" dirty="0"/>
                  <a:t>Por isso, o atributo </a:t>
                </a:r>
                <a:r>
                  <a:rPr lang="pt-BR" b="1" dirty="0" err="1"/>
                  <a:t>Windy</a:t>
                </a:r>
                <a:r>
                  <a:rPr lang="pt-BR" b="1" i="1" dirty="0"/>
                  <a:t> </a:t>
                </a:r>
                <a:r>
                  <a:rPr lang="pt-BR" dirty="0"/>
                  <a:t>será o nó do 2º nível da árvore, no ramo </a:t>
                </a:r>
                <a:r>
                  <a:rPr lang="pt-BR" b="1" dirty="0"/>
                  <a:t>rain </a:t>
                </a:r>
                <a:r>
                  <a:rPr lang="pt-BR" dirty="0"/>
                  <a:t>de</a:t>
                </a:r>
                <a:r>
                  <a:rPr lang="pt-BR" b="1" dirty="0"/>
                  <a:t> Outlook</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60786"/>
                <a:ext cx="9869906" cy="5297213"/>
              </a:xfrm>
              <a:blipFill>
                <a:blip r:embed="rId2"/>
                <a:stretch>
                  <a:fillRect l="-679" t="-2417"/>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1160949644"/>
              </p:ext>
            </p:extLst>
          </p:nvPr>
        </p:nvGraphicFramePr>
        <p:xfrm>
          <a:off x="1124442" y="1996699"/>
          <a:ext cx="2580457" cy="1508760"/>
        </p:xfrm>
        <a:graphic>
          <a:graphicData uri="http://schemas.openxmlformats.org/drawingml/2006/table">
            <a:tbl>
              <a:tblPr/>
              <a:tblGrid>
                <a:gridCol w="1029759">
                  <a:extLst>
                    <a:ext uri="{9D8B030D-6E8A-4147-A177-3AD203B41FA5}">
                      <a16:colId xmlns:a16="http://schemas.microsoft.com/office/drawing/2014/main" val="20000"/>
                    </a:ext>
                  </a:extLst>
                </a:gridCol>
                <a:gridCol w="678430">
                  <a:extLst>
                    <a:ext uri="{9D8B030D-6E8A-4147-A177-3AD203B41FA5}">
                      <a16:colId xmlns:a16="http://schemas.microsoft.com/office/drawing/2014/main" val="20001"/>
                    </a:ext>
                  </a:extLst>
                </a:gridCol>
                <a:gridCol w="290756">
                  <a:extLst>
                    <a:ext uri="{9D8B030D-6E8A-4147-A177-3AD203B41FA5}">
                      <a16:colId xmlns:a16="http://schemas.microsoft.com/office/drawing/2014/main" val="20002"/>
                    </a:ext>
                  </a:extLst>
                </a:gridCol>
                <a:gridCol w="290756">
                  <a:extLst>
                    <a:ext uri="{9D8B030D-6E8A-4147-A177-3AD203B41FA5}">
                      <a16:colId xmlns:a16="http://schemas.microsoft.com/office/drawing/2014/main" val="20003"/>
                    </a:ext>
                  </a:extLst>
                </a:gridCol>
                <a:gridCol w="290756">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1308647067"/>
              </p:ext>
            </p:extLst>
          </p:nvPr>
        </p:nvGraphicFramePr>
        <p:xfrm>
          <a:off x="4054203" y="1996699"/>
          <a:ext cx="2454329" cy="1257300"/>
        </p:xfrm>
        <a:graphic>
          <a:graphicData uri="http://schemas.openxmlformats.org/drawingml/2006/table">
            <a:tbl>
              <a:tblPr/>
              <a:tblGrid>
                <a:gridCol w="979427">
                  <a:extLst>
                    <a:ext uri="{9D8B030D-6E8A-4147-A177-3AD203B41FA5}">
                      <a16:colId xmlns:a16="http://schemas.microsoft.com/office/drawing/2014/main" val="20000"/>
                    </a:ext>
                  </a:extLst>
                </a:gridCol>
                <a:gridCol w="645270">
                  <a:extLst>
                    <a:ext uri="{9D8B030D-6E8A-4147-A177-3AD203B41FA5}">
                      <a16:colId xmlns:a16="http://schemas.microsoft.com/office/drawing/2014/main" val="20001"/>
                    </a:ext>
                  </a:extLst>
                </a:gridCol>
                <a:gridCol w="276544">
                  <a:extLst>
                    <a:ext uri="{9D8B030D-6E8A-4147-A177-3AD203B41FA5}">
                      <a16:colId xmlns:a16="http://schemas.microsoft.com/office/drawing/2014/main" val="20002"/>
                    </a:ext>
                  </a:extLst>
                </a:gridCol>
                <a:gridCol w="276544">
                  <a:extLst>
                    <a:ext uri="{9D8B030D-6E8A-4147-A177-3AD203B41FA5}">
                      <a16:colId xmlns:a16="http://schemas.microsoft.com/office/drawing/2014/main" val="20003"/>
                    </a:ext>
                  </a:extLst>
                </a:gridCol>
                <a:gridCol w="276544">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46228941"/>
              </p:ext>
            </p:extLst>
          </p:nvPr>
        </p:nvGraphicFramePr>
        <p:xfrm>
          <a:off x="6857836" y="1996699"/>
          <a:ext cx="2440040" cy="1257300"/>
        </p:xfrm>
        <a:graphic>
          <a:graphicData uri="http://schemas.openxmlformats.org/drawingml/2006/table">
            <a:tbl>
              <a:tblPr/>
              <a:tblGrid>
                <a:gridCol w="973725">
                  <a:extLst>
                    <a:ext uri="{9D8B030D-6E8A-4147-A177-3AD203B41FA5}">
                      <a16:colId xmlns:a16="http://schemas.microsoft.com/office/drawing/2014/main" val="20000"/>
                    </a:ext>
                  </a:extLst>
                </a:gridCol>
                <a:gridCol w="641513">
                  <a:extLst>
                    <a:ext uri="{9D8B030D-6E8A-4147-A177-3AD203B41FA5}">
                      <a16:colId xmlns:a16="http://schemas.microsoft.com/office/drawing/2014/main" val="20001"/>
                    </a:ext>
                  </a:extLst>
                </a:gridCol>
                <a:gridCol w="274934">
                  <a:extLst>
                    <a:ext uri="{9D8B030D-6E8A-4147-A177-3AD203B41FA5}">
                      <a16:colId xmlns:a16="http://schemas.microsoft.com/office/drawing/2014/main" val="20002"/>
                    </a:ext>
                  </a:extLst>
                </a:gridCol>
                <a:gridCol w="274934">
                  <a:extLst>
                    <a:ext uri="{9D8B030D-6E8A-4147-A177-3AD203B41FA5}">
                      <a16:colId xmlns:a16="http://schemas.microsoft.com/office/drawing/2014/main" val="20003"/>
                    </a:ext>
                  </a:extLst>
                </a:gridCol>
                <a:gridCol w="274934">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8" name="Picture 7"/>
          <p:cNvPicPr>
            <a:picLocks noChangeAspect="1"/>
          </p:cNvPicPr>
          <p:nvPr/>
        </p:nvPicPr>
        <p:blipFill rotWithShape="1">
          <a:blip r:embed="rId3" cstate="print">
            <a:extLst>
              <a:ext uri="{28A0092B-C50C-407E-A947-70E740481C1C}">
                <a14:useLocalDpi xmlns:a14="http://schemas.microsoft.com/office/drawing/2010/main" val="0"/>
              </a:ext>
            </a:extLst>
          </a:blip>
          <a:srcRect r="4671"/>
          <a:stretch/>
        </p:blipFill>
        <p:spPr>
          <a:xfrm>
            <a:off x="7924800" y="4080629"/>
            <a:ext cx="4267200" cy="1515968"/>
          </a:xfrm>
          <a:prstGeom prst="rect">
            <a:avLst/>
          </a:prstGeom>
        </p:spPr>
      </p:pic>
      <p:sp>
        <p:nvSpPr>
          <p:cNvPr id="9" name="Rectangle 8"/>
          <p:cNvSpPr/>
          <p:nvPr/>
        </p:nvSpPr>
        <p:spPr>
          <a:xfrm>
            <a:off x="5648514" y="4985397"/>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52367849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63527"/>
            <a:ext cx="10918371"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38515"/>
                <a:ext cx="11135265" cy="4054734"/>
              </a:xfrm>
            </p:spPr>
            <p:txBody>
              <a:bodyPr>
                <a:normAutofit/>
              </a:bodyPr>
              <a:lstStyle/>
              <a:p>
                <a:r>
                  <a:rPr lang="pt-BR" dirty="0"/>
                  <a:t>Se analisarmos o subconjunto onde </a:t>
                </a:r>
                <a:r>
                  <a:rPr lang="pt-BR" b="1" dirty="0"/>
                  <a:t>Outlook = rain </a:t>
                </a:r>
                <a:r>
                  <a:rPr lang="pt-BR" dirty="0"/>
                  <a:t>e </a:t>
                </a:r>
                <a:r>
                  <a:rPr lang="pt-BR" b="1" dirty="0" err="1"/>
                  <a:t>Windy</a:t>
                </a:r>
                <a:r>
                  <a:rPr lang="pt-BR" b="1" dirty="0"/>
                  <a:t> = false</a:t>
                </a:r>
                <a:r>
                  <a:rPr lang="pt-BR" dirty="0"/>
                  <a:t>, percebemos que a decisão será sempre pela classe </a:t>
                </a:r>
                <a:r>
                  <a:rPr lang="pt-BR" b="1" dirty="0"/>
                  <a:t>Positiva</a:t>
                </a:r>
                <a:r>
                  <a:rPr lang="pt-BR" dirty="0"/>
                  <a:t> (</a:t>
                </a:r>
                <a:r>
                  <a:rPr lang="pt-BR" i="1" dirty="0"/>
                  <a:t>P</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pPr marL="0" indent="0">
                  <a:buNone/>
                </a:pPr>
                <a:endParaRPr lang="pt-BR" dirty="0"/>
              </a:p>
              <a:p>
                <a:pPr marL="0" indent="0">
                  <a:buNone/>
                </a:pPr>
                <a:endParaRPr lang="pt-BR" dirty="0"/>
              </a:p>
              <a:p>
                <a:r>
                  <a:rPr lang="pt-BR" dirty="0"/>
                  <a:t>Além disso, a decisão sempre será pela classe Negativa (</a:t>
                </a:r>
                <a:r>
                  <a:rPr lang="pt-BR" i="1" dirty="0"/>
                  <a:t>N</a:t>
                </a:r>
                <a:r>
                  <a:rPr lang="pt-BR" dirty="0"/>
                  <a:t>) se </a:t>
                </a:r>
                <a:r>
                  <a:rPr lang="pt-BR" b="1" dirty="0"/>
                  <a:t>Outlook = rain</a:t>
                </a:r>
                <a:r>
                  <a:rPr lang="pt-BR" b="1" i="1" dirty="0"/>
                  <a:t> </a:t>
                </a:r>
                <a:r>
                  <a:rPr lang="pt-BR" dirty="0"/>
                  <a:t>e </a:t>
                </a:r>
                <a:r>
                  <a:rPr lang="pt-BR" b="1" dirty="0" err="1"/>
                  <a:t>Windy</a:t>
                </a:r>
                <a:r>
                  <a:rPr lang="pt-BR" b="1" dirty="0"/>
                  <a:t> = true</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endParaRPr lang="pt-BR" dirty="0"/>
              </a:p>
              <a:p>
                <a:endParaRPr lang="pt-BR" dirty="0"/>
              </a:p>
              <a:p>
                <a:pPr marL="0" indent="0">
                  <a:buNone/>
                </a:pP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38515"/>
                <a:ext cx="11135265" cy="4054734"/>
              </a:xfrm>
              <a:blipFill>
                <a:blip r:embed="rId2"/>
                <a:stretch>
                  <a:fillRect l="-930" t="-2402" r="-1806"/>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704691488"/>
              </p:ext>
            </p:extLst>
          </p:nvPr>
        </p:nvGraphicFramePr>
        <p:xfrm>
          <a:off x="1148441" y="4709328"/>
          <a:ext cx="6065166" cy="883920"/>
        </p:xfrm>
        <a:graphic>
          <a:graphicData uri="http://schemas.openxmlformats.org/drawingml/2006/table">
            <a:tbl>
              <a:tblPr/>
              <a:tblGrid>
                <a:gridCol w="1010861">
                  <a:extLst>
                    <a:ext uri="{9D8B030D-6E8A-4147-A177-3AD203B41FA5}">
                      <a16:colId xmlns:a16="http://schemas.microsoft.com/office/drawing/2014/main" val="20000"/>
                    </a:ext>
                  </a:extLst>
                </a:gridCol>
                <a:gridCol w="1010861">
                  <a:extLst>
                    <a:ext uri="{9D8B030D-6E8A-4147-A177-3AD203B41FA5}">
                      <a16:colId xmlns:a16="http://schemas.microsoft.com/office/drawing/2014/main" val="20001"/>
                    </a:ext>
                  </a:extLst>
                </a:gridCol>
                <a:gridCol w="1010861">
                  <a:extLst>
                    <a:ext uri="{9D8B030D-6E8A-4147-A177-3AD203B41FA5}">
                      <a16:colId xmlns:a16="http://schemas.microsoft.com/office/drawing/2014/main" val="20002"/>
                    </a:ext>
                  </a:extLst>
                </a:gridCol>
                <a:gridCol w="1010861">
                  <a:extLst>
                    <a:ext uri="{9D8B030D-6E8A-4147-A177-3AD203B41FA5}">
                      <a16:colId xmlns:a16="http://schemas.microsoft.com/office/drawing/2014/main" val="20003"/>
                    </a:ext>
                  </a:extLst>
                </a:gridCol>
                <a:gridCol w="1010861">
                  <a:extLst>
                    <a:ext uri="{9D8B030D-6E8A-4147-A177-3AD203B41FA5}">
                      <a16:colId xmlns:a16="http://schemas.microsoft.com/office/drawing/2014/main" val="20004"/>
                    </a:ext>
                  </a:extLst>
                </a:gridCol>
                <a:gridCol w="1010861">
                  <a:extLst>
                    <a:ext uri="{9D8B030D-6E8A-4147-A177-3AD203B41FA5}">
                      <a16:colId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a:effectLst/>
                        </a:rPr>
                        <a:t>Class</a:t>
                      </a:r>
                      <a:br>
                        <a:rPr lang="pt-BR" sz="1200" b="1">
                          <a:effectLst/>
                        </a:rPr>
                      </a:br>
                      <a:r>
                        <a:rPr lang="pt-BR" sz="12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200">
                          <a:effectLst/>
                        </a:rPr>
                        <a:t>6</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200">
                          <a:effectLst/>
                        </a:rPr>
                        <a:t>14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690091416"/>
              </p:ext>
            </p:extLst>
          </p:nvPr>
        </p:nvGraphicFramePr>
        <p:xfrm>
          <a:off x="1148441" y="2748346"/>
          <a:ext cx="6123216" cy="1104900"/>
        </p:xfrm>
        <a:graphic>
          <a:graphicData uri="http://schemas.openxmlformats.org/drawingml/2006/table">
            <a:tbl>
              <a:tblPr/>
              <a:tblGrid>
                <a:gridCol w="1020536">
                  <a:extLst>
                    <a:ext uri="{9D8B030D-6E8A-4147-A177-3AD203B41FA5}">
                      <a16:colId xmlns:a16="http://schemas.microsoft.com/office/drawing/2014/main" val="20000"/>
                    </a:ext>
                  </a:extLst>
                </a:gridCol>
                <a:gridCol w="1020536">
                  <a:extLst>
                    <a:ext uri="{9D8B030D-6E8A-4147-A177-3AD203B41FA5}">
                      <a16:colId xmlns:a16="http://schemas.microsoft.com/office/drawing/2014/main" val="20001"/>
                    </a:ext>
                  </a:extLst>
                </a:gridCol>
                <a:gridCol w="1020536">
                  <a:extLst>
                    <a:ext uri="{9D8B030D-6E8A-4147-A177-3AD203B41FA5}">
                      <a16:colId xmlns:a16="http://schemas.microsoft.com/office/drawing/2014/main" val="20002"/>
                    </a:ext>
                  </a:extLst>
                </a:gridCol>
                <a:gridCol w="1020536">
                  <a:extLst>
                    <a:ext uri="{9D8B030D-6E8A-4147-A177-3AD203B41FA5}">
                      <a16:colId xmlns:a16="http://schemas.microsoft.com/office/drawing/2014/main" val="20003"/>
                    </a:ext>
                  </a:extLst>
                </a:gridCol>
                <a:gridCol w="1020536">
                  <a:extLst>
                    <a:ext uri="{9D8B030D-6E8A-4147-A177-3AD203B41FA5}">
                      <a16:colId xmlns:a16="http://schemas.microsoft.com/office/drawing/2014/main" val="20004"/>
                    </a:ext>
                  </a:extLst>
                </a:gridCol>
                <a:gridCol w="1020536">
                  <a:extLst>
                    <a:ext uri="{9D8B030D-6E8A-4147-A177-3AD203B41FA5}">
                      <a16:colId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dirty="0">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br>
                        <a:rPr lang="pt-BR" sz="1200" b="1" dirty="0">
                          <a:effectLst/>
                        </a:rPr>
                      </a:br>
                      <a:r>
                        <a:rPr lang="pt-BR" sz="1200" b="1" dirty="0">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200">
                          <a:effectLst/>
                        </a:rPr>
                        <a:t>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200">
                          <a:effectLst/>
                        </a:rPr>
                        <a:t>5</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200" dirty="0">
                          <a:effectLst/>
                        </a:rPr>
                        <a:t>10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94226" y="4850434"/>
            <a:ext cx="3728762" cy="1485627"/>
          </a:xfrm>
          <a:prstGeom prst="rect">
            <a:avLst/>
          </a:prstGeom>
        </p:spPr>
      </p:pic>
      <p:sp>
        <p:nvSpPr>
          <p:cNvPr id="6" name="Rectangle 5"/>
          <p:cNvSpPr/>
          <p:nvPr/>
        </p:nvSpPr>
        <p:spPr>
          <a:xfrm>
            <a:off x="838197" y="5790253"/>
            <a:ext cx="8616353" cy="954107"/>
          </a:xfrm>
          <a:prstGeom prst="rect">
            <a:avLst/>
          </a:prstGeom>
        </p:spPr>
        <p:txBody>
          <a:bodyPr wrap="square">
            <a:spAutoFit/>
          </a:bodyPr>
          <a:lstStyle/>
          <a:p>
            <a:pPr marL="285750" indent="-285750">
              <a:buFont typeface="Arial" panose="020B0604020202020204" pitchFamily="34" charset="0"/>
              <a:buChar char="•"/>
            </a:pPr>
            <a:r>
              <a:rPr lang="pt-BR" sz="2800" dirty="0"/>
              <a:t>Portanto, encontramos as folhas para os dois ramos, </a:t>
            </a:r>
            <a:r>
              <a:rPr lang="pt-BR" sz="2800" b="1" dirty="0"/>
              <a:t>true</a:t>
            </a:r>
            <a:r>
              <a:rPr lang="pt-BR" sz="2800" dirty="0"/>
              <a:t> e </a:t>
            </a:r>
            <a:r>
              <a:rPr lang="pt-BR" sz="2800" b="1" dirty="0"/>
              <a:t>false </a:t>
            </a:r>
            <a:r>
              <a:rPr lang="pt-BR" sz="2800" dirty="0"/>
              <a:t>do nó </a:t>
            </a:r>
            <a:r>
              <a:rPr lang="pt-BR" sz="2800" b="1" dirty="0" err="1"/>
              <a:t>Windy</a:t>
            </a:r>
            <a:r>
              <a:rPr lang="pt-BR" sz="2800" dirty="0"/>
              <a:t>.</a:t>
            </a:r>
          </a:p>
        </p:txBody>
      </p:sp>
    </p:spTree>
    <p:extLst>
      <p:ext uri="{BB962C8B-B14F-4D97-AF65-F5344CB8AC3E}">
        <p14:creationId xmlns:p14="http://schemas.microsoft.com/office/powerpoint/2010/main" val="55882448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1034486"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43050"/>
                <a:ext cx="11353801" cy="5314950"/>
              </a:xfrm>
            </p:spPr>
            <p:txBody>
              <a:bodyPr>
                <a:normAutofit fontScale="92500" lnSpcReduction="10000"/>
              </a:bodyPr>
              <a:lstStyle/>
              <a:p>
                <a:r>
                  <a:rPr lang="pt-BR" dirty="0"/>
                  <a:t>Quando </a:t>
                </a:r>
                <a:r>
                  <a:rPr lang="pt-BR" b="1" dirty="0"/>
                  <a:t>Outlook = sunny</a:t>
                </a:r>
              </a:p>
              <a:p>
                <a:pPr marL="0" indent="0">
                  <a:buNone/>
                </a:pPr>
                <a:endParaRPr lang="pt-BR" b="1" i="1" dirty="0"/>
              </a:p>
              <a:p>
                <a:endParaRPr lang="pt-BR" b="1" i="1" dirty="0"/>
              </a:p>
              <a:p>
                <a:endParaRPr lang="pt-BR" b="1" i="1" dirty="0"/>
              </a:p>
              <a:p>
                <a:pPr marL="0" indent="0">
                  <a:buNone/>
                </a:pPr>
                <a:endParaRPr lang="pt-BR" b="1" i="1" dirty="0"/>
              </a:p>
              <a:p>
                <a:pPr marL="0" indent="0">
                  <a:buNone/>
                </a:pPr>
                <a:r>
                  <a:rPr lang="pt-BR" sz="2000" b="1" i="1" dirty="0"/>
                  <a:t>Entropia do objetivo</a:t>
                </a:r>
                <a:r>
                  <a:rPr lang="pt-BR" sz="2000" dirty="0"/>
                  <a:t> para o subconjunto dado por </a:t>
                </a:r>
                <a:r>
                  <a:rPr lang="pt-BR" sz="2000" b="1" dirty="0"/>
                  <a:t>Outlook = </a:t>
                </a:r>
                <a:r>
                  <a:rPr lang="pt-BR" sz="2000" b="1" dirty="0" err="1"/>
                  <a:t>sunny</a:t>
                </a:r>
                <a:r>
                  <a:rPr lang="pt-BR" sz="2000" dirty="0"/>
                  <a:t>: </a:t>
                </a:r>
                <a14:m>
                  <m:oMath xmlns:m="http://schemas.openxmlformats.org/officeDocument/2006/math">
                    <m:r>
                      <a:rPr lang="pt-BR" sz="2000" b="1">
                        <a:latin typeface="Cambria Math" panose="02040503050406030204" pitchFamily="18" charset="0"/>
                      </a:rPr>
                      <m:t>𝐻</m:t>
                    </m:r>
                    <m:d>
                      <m:dPr>
                        <m:ctrlPr>
                          <a:rPr lang="pt-BR" sz="2000" b="1" i="1">
                            <a:latin typeface="Cambria Math" panose="02040503050406030204" pitchFamily="18" charset="0"/>
                          </a:rPr>
                        </m:ctrlPr>
                      </m:dPr>
                      <m:e>
                        <m:r>
                          <a:rPr lang="pt-BR" sz="2000" b="1">
                            <a:latin typeface="Cambria Math" panose="02040503050406030204" pitchFamily="18" charset="0"/>
                          </a:rPr>
                          <m:t>𝑦</m:t>
                        </m:r>
                        <m:r>
                          <a:rPr lang="pt-BR" sz="2000" b="1">
                            <a:latin typeface="Cambria Math" panose="02040503050406030204" pitchFamily="18" charset="0"/>
                          </a:rPr>
                          <m:t> </m:t>
                        </m:r>
                      </m:e>
                      <m:e>
                        <m:r>
                          <m:rPr>
                            <m:nor/>
                          </m:rPr>
                          <a:rPr lang="pt-BR" sz="2000" b="1">
                            <a:latin typeface="Cambria Math" panose="02040503050406030204" pitchFamily="18" charset="0"/>
                          </a:rPr>
                          <m:t> </m:t>
                        </m:r>
                        <m:r>
                          <m:rPr>
                            <m:nor/>
                          </m:rPr>
                          <a:rPr lang="pt-BR" sz="2000" b="1">
                            <a:latin typeface="Cambria Math" panose="02040503050406030204" pitchFamily="18" charset="0"/>
                          </a:rPr>
                          <m:t>Outlook</m:t>
                        </m:r>
                        <m:r>
                          <m:rPr>
                            <m:nor/>
                          </m:rPr>
                          <a:rPr lang="pt-BR" sz="2000" b="1">
                            <a:latin typeface="Cambria Math" panose="02040503050406030204" pitchFamily="18" charset="0"/>
                          </a:rPr>
                          <m:t> = </m:t>
                        </m:r>
                        <m:r>
                          <m:rPr>
                            <m:nor/>
                          </m:rPr>
                          <a:rPr lang="pt-BR" sz="2000" b="1" i="0" smtClean="0">
                            <a:latin typeface="Cambria Math" panose="02040503050406030204" pitchFamily="18" charset="0"/>
                          </a:rPr>
                          <m:t>sunny</m:t>
                        </m:r>
                      </m:e>
                    </m:d>
                    <m:r>
                      <a:rPr lang="pt-BR" sz="2000" b="1">
                        <a:latin typeface="Cambria Math" panose="02040503050406030204" pitchFamily="18" charset="0"/>
                      </a:rPr>
                      <m:t>=0.971</m:t>
                    </m:r>
                  </m:oMath>
                </a14:m>
                <a:endParaRPr lang="pt-BR" sz="2000" i="1" dirty="0">
                  <a:latin typeface="Cambria Math" panose="02040503050406030204" pitchFamily="18" charset="0"/>
                </a:endParaRP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𝐓</m:t>
                        </m:r>
                        <m:r>
                          <a:rPr lang="pt-BR" sz="2000" b="1">
                            <a:latin typeface="Cambria Math" panose="02040503050406030204" pitchFamily="18" charset="0"/>
                          </a:rPr>
                          <m:t>𝐞𝐦𝐩𝐞𝐫𝐚𝐭𝐮𝐫𝐞</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0</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1</m:t>
                                </m:r>
                              </m:num>
                              <m:den>
                                <m:r>
                                  <a:rPr lang="pt-BR" sz="2000" b="0" i="1" smtClean="0">
                                    <a:latin typeface="Cambria Math" panose="02040503050406030204" pitchFamily="18" charset="0"/>
                                  </a:rPr>
                                  <m:t>1</m:t>
                                </m:r>
                              </m:den>
                            </m:f>
                          </m:e>
                        </m:d>
                      </m:e>
                    </m:d>
                    <m:r>
                      <a:rPr lang="pt-BR" sz="2000">
                        <a:latin typeface="Cambria Math" panose="02040503050406030204" pitchFamily="18" charset="0"/>
                      </a:rPr>
                      <m:t>=0.</m:t>
                    </m:r>
                  </m:oMath>
                </a14:m>
                <a:r>
                  <a:rPr lang="pt-BR" sz="2000" dirty="0"/>
                  <a:t>570</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𝐇</m:t>
                        </m:r>
                        <m:r>
                          <a:rPr lang="pt-BR" sz="2000" b="1">
                            <a:latin typeface="Cambria Math" panose="02040503050406030204" pitchFamily="18" charset="0"/>
                          </a:rPr>
                          <m:t>𝐮𝐦𝐢𝐝𝐢𝐭𝐲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0</m:t>
                                </m:r>
                              </m:num>
                              <m:den>
                                <m:r>
                                  <a:rPr lang="pt-BR" sz="2000" b="0" i="1" smtClean="0">
                                    <a:latin typeface="Cambria Math" panose="02040503050406030204" pitchFamily="18" charset="0"/>
                                  </a:rPr>
                                  <m:t>3</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b="0" i="1" smtClean="0">
                                    <a:latin typeface="Cambria Math" panose="02040503050406030204" pitchFamily="18" charset="0"/>
                                  </a:rPr>
                                  <m:t>2</m:t>
                                </m:r>
                              </m:den>
                            </m:f>
                          </m:e>
                        </m:d>
                      </m:e>
                    </m:d>
                    <m:r>
                      <a:rPr lang="pt-BR" sz="2000">
                        <a:latin typeface="Cambria Math" panose="02040503050406030204" pitchFamily="18" charset="0"/>
                      </a:rPr>
                      <m:t>=0.</m:t>
                    </m:r>
                  </m:oMath>
                </a14:m>
                <a:r>
                  <a:rPr lang="pt-BR" sz="2000" dirty="0"/>
                  <a:t>971</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𝐖</m:t>
                        </m:r>
                        <m:r>
                          <a:rPr lang="pt-BR" sz="2000" b="1">
                            <a:latin typeface="Cambria Math" panose="02040503050406030204" pitchFamily="18" charset="0"/>
                          </a:rPr>
                          <m:t>𝐢𝐧𝐝𝐲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i="1">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3</m:t>
                                </m:r>
                              </m:den>
                            </m:f>
                          </m:e>
                        </m:d>
                      </m:e>
                    </m:d>
                    <m:r>
                      <a:rPr lang="pt-BR" sz="2000">
                        <a:latin typeface="Cambria Math" panose="02040503050406030204" pitchFamily="18" charset="0"/>
                      </a:rPr>
                      <m:t>=0.</m:t>
                    </m:r>
                  </m:oMath>
                </a14:m>
                <a:r>
                  <a:rPr lang="pt-BR" sz="2000" dirty="0"/>
                  <a:t>02</a:t>
                </a:r>
              </a:p>
              <a:p>
                <a:r>
                  <a:rPr lang="pt-BR" dirty="0"/>
                  <a:t>Aqui, o atributo </a:t>
                </a:r>
                <a:r>
                  <a:rPr lang="pt-BR" b="1" dirty="0" err="1"/>
                  <a:t>Humidity</a:t>
                </a:r>
                <a:r>
                  <a:rPr lang="pt-BR" dirty="0"/>
                  <a:t> resulta no </a:t>
                </a:r>
                <a:r>
                  <a:rPr lang="pt-BR" b="1" dirty="0"/>
                  <a:t>ganho de informação </a:t>
                </a:r>
                <a:r>
                  <a:rPr lang="pt-BR" dirty="0"/>
                  <a:t>mais alto quando o tempo estiver ensolarado (i.e., </a:t>
                </a:r>
                <a:r>
                  <a:rPr lang="pt-BR" b="1" dirty="0"/>
                  <a:t>Outlook = sunny</a:t>
                </a:r>
                <a:r>
                  <a:rPr lang="pt-BR" dirty="0"/>
                  <a:t>). </a:t>
                </a:r>
              </a:p>
              <a:p>
                <a:r>
                  <a:rPr lang="pt-BR" dirty="0"/>
                  <a:t>Por isso, o atributo </a:t>
                </a:r>
                <a:r>
                  <a:rPr lang="pt-BR" b="1" dirty="0" err="1"/>
                  <a:t>Humidity</a:t>
                </a:r>
                <a:r>
                  <a:rPr lang="pt-BR" dirty="0"/>
                  <a:t> será o nó do 2º nível da árvore no ramo </a:t>
                </a:r>
                <a:r>
                  <a:rPr lang="pt-BR" b="1" i="1" dirty="0"/>
                  <a:t>sunny</a:t>
                </a:r>
                <a:r>
                  <a:rPr lang="pt-BR" dirty="0"/>
                  <a:t>.</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43050"/>
                <a:ext cx="11353801" cy="5314950"/>
              </a:xfrm>
              <a:blipFill>
                <a:blip r:embed="rId2"/>
                <a:stretch>
                  <a:fillRect l="-805" t="-2294" b="-459"/>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347348054"/>
              </p:ext>
            </p:extLst>
          </p:nvPr>
        </p:nvGraphicFramePr>
        <p:xfrm>
          <a:off x="1191758" y="1954423"/>
          <a:ext cx="2523899" cy="1508760"/>
        </p:xfrm>
        <a:graphic>
          <a:graphicData uri="http://schemas.openxmlformats.org/drawingml/2006/table">
            <a:tbl>
              <a:tblPr/>
              <a:tblGrid>
                <a:gridCol w="1007190">
                  <a:extLst>
                    <a:ext uri="{9D8B030D-6E8A-4147-A177-3AD203B41FA5}">
                      <a16:colId xmlns:a16="http://schemas.microsoft.com/office/drawing/2014/main" val="20000"/>
                    </a:ext>
                  </a:extLst>
                </a:gridCol>
                <a:gridCol w="663560">
                  <a:extLst>
                    <a:ext uri="{9D8B030D-6E8A-4147-A177-3AD203B41FA5}">
                      <a16:colId xmlns:a16="http://schemas.microsoft.com/office/drawing/2014/main" val="20001"/>
                    </a:ext>
                  </a:extLst>
                </a:gridCol>
                <a:gridCol w="284383">
                  <a:extLst>
                    <a:ext uri="{9D8B030D-6E8A-4147-A177-3AD203B41FA5}">
                      <a16:colId xmlns:a16="http://schemas.microsoft.com/office/drawing/2014/main" val="20002"/>
                    </a:ext>
                  </a:extLst>
                </a:gridCol>
                <a:gridCol w="284383">
                  <a:extLst>
                    <a:ext uri="{9D8B030D-6E8A-4147-A177-3AD203B41FA5}">
                      <a16:colId xmlns:a16="http://schemas.microsoft.com/office/drawing/2014/main" val="20003"/>
                    </a:ext>
                  </a:extLst>
                </a:gridCol>
                <a:gridCol w="284383">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719690733"/>
              </p:ext>
            </p:extLst>
          </p:nvPr>
        </p:nvGraphicFramePr>
        <p:xfrm>
          <a:off x="4110945" y="1954423"/>
          <a:ext cx="2464028" cy="1257300"/>
        </p:xfrm>
        <a:graphic>
          <a:graphicData uri="http://schemas.openxmlformats.org/drawingml/2006/table">
            <a:tbl>
              <a:tblPr/>
              <a:tblGrid>
                <a:gridCol w="983297">
                  <a:extLst>
                    <a:ext uri="{9D8B030D-6E8A-4147-A177-3AD203B41FA5}">
                      <a16:colId xmlns:a16="http://schemas.microsoft.com/office/drawing/2014/main" val="20000"/>
                    </a:ext>
                  </a:extLst>
                </a:gridCol>
                <a:gridCol w="647820">
                  <a:extLst>
                    <a:ext uri="{9D8B030D-6E8A-4147-A177-3AD203B41FA5}">
                      <a16:colId xmlns:a16="http://schemas.microsoft.com/office/drawing/2014/main" val="20001"/>
                    </a:ext>
                  </a:extLst>
                </a:gridCol>
                <a:gridCol w="277637">
                  <a:extLst>
                    <a:ext uri="{9D8B030D-6E8A-4147-A177-3AD203B41FA5}">
                      <a16:colId xmlns:a16="http://schemas.microsoft.com/office/drawing/2014/main" val="20002"/>
                    </a:ext>
                  </a:extLst>
                </a:gridCol>
                <a:gridCol w="277637">
                  <a:extLst>
                    <a:ext uri="{9D8B030D-6E8A-4147-A177-3AD203B41FA5}">
                      <a16:colId xmlns:a16="http://schemas.microsoft.com/office/drawing/2014/main" val="20003"/>
                    </a:ext>
                  </a:extLst>
                </a:gridCol>
                <a:gridCol w="277637">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71097121"/>
              </p:ext>
            </p:extLst>
          </p:nvPr>
        </p:nvGraphicFramePr>
        <p:xfrm>
          <a:off x="6970261" y="1954423"/>
          <a:ext cx="2449509" cy="1257300"/>
        </p:xfrm>
        <a:graphic>
          <a:graphicData uri="http://schemas.openxmlformats.org/drawingml/2006/table">
            <a:tbl>
              <a:tblPr/>
              <a:tblGrid>
                <a:gridCol w="977504">
                  <a:extLst>
                    <a:ext uri="{9D8B030D-6E8A-4147-A177-3AD203B41FA5}">
                      <a16:colId xmlns:a16="http://schemas.microsoft.com/office/drawing/2014/main" val="20000"/>
                    </a:ext>
                  </a:extLst>
                </a:gridCol>
                <a:gridCol w="644002">
                  <a:extLst>
                    <a:ext uri="{9D8B030D-6E8A-4147-A177-3AD203B41FA5}">
                      <a16:colId xmlns:a16="http://schemas.microsoft.com/office/drawing/2014/main" val="20001"/>
                    </a:ext>
                  </a:extLst>
                </a:gridCol>
                <a:gridCol w="276001">
                  <a:extLst>
                    <a:ext uri="{9D8B030D-6E8A-4147-A177-3AD203B41FA5}">
                      <a16:colId xmlns:a16="http://schemas.microsoft.com/office/drawing/2014/main" val="20002"/>
                    </a:ext>
                  </a:extLst>
                </a:gridCol>
                <a:gridCol w="276001">
                  <a:extLst>
                    <a:ext uri="{9D8B030D-6E8A-4147-A177-3AD203B41FA5}">
                      <a16:colId xmlns:a16="http://schemas.microsoft.com/office/drawing/2014/main" val="20003"/>
                    </a:ext>
                  </a:extLst>
                </a:gridCol>
                <a:gridCol w="276001">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93160" y="4134743"/>
            <a:ext cx="4064678" cy="1343085"/>
          </a:xfrm>
          <a:prstGeom prst="rect">
            <a:avLst/>
          </a:prstGeom>
        </p:spPr>
      </p:pic>
      <p:sp>
        <p:nvSpPr>
          <p:cNvPr id="8" name="Rectangle 7"/>
          <p:cNvSpPr/>
          <p:nvPr/>
        </p:nvSpPr>
        <p:spPr>
          <a:xfrm>
            <a:off x="6017364" y="462947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00014807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58688"/>
            <a:ext cx="10918371" cy="1018003"/>
          </a:xfrm>
        </p:spPr>
        <p:txBody>
          <a:bodyPr>
            <a:normAutofit/>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8" y="1232034"/>
                <a:ext cx="11353802" cy="5625966"/>
              </a:xfrm>
            </p:spPr>
            <p:txBody>
              <a:bodyPr>
                <a:normAutofit fontScale="85000" lnSpcReduction="20000"/>
              </a:bodyPr>
              <a:lstStyle/>
              <a:p>
                <a:r>
                  <a:rPr lang="pt-BR" dirty="0"/>
                  <a:t>O decisão sempre será pela classe </a:t>
                </a:r>
                <a:r>
                  <a:rPr lang="pt-BR" b="1" dirty="0"/>
                  <a:t>Positiva</a:t>
                </a:r>
                <a:r>
                  <a:rPr lang="pt-BR" dirty="0"/>
                  <a:t> (</a:t>
                </a:r>
                <a:r>
                  <a:rPr lang="pt-BR" i="1" dirty="0"/>
                  <a:t>P</a:t>
                </a:r>
                <a:r>
                  <a:rPr lang="pt-BR" dirty="0"/>
                  <a:t>) quando </a:t>
                </a:r>
                <a:r>
                  <a:rPr lang="pt-BR" b="1" dirty="0"/>
                  <a:t>Outlook = sunny </a:t>
                </a:r>
                <a:r>
                  <a:rPr lang="pt-BR" dirty="0"/>
                  <a:t>e </a:t>
                </a:r>
                <a:r>
                  <a:rPr lang="pt-BR" b="1" dirty="0" err="1"/>
                  <a:t>Humidity</a:t>
                </a:r>
                <a:r>
                  <a:rPr lang="pt-BR" dirty="0"/>
                  <a:t> </a:t>
                </a:r>
                <a:r>
                  <a:rPr lang="pt-BR" b="1" dirty="0"/>
                  <a:t>= normal</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a:t>
                </a:r>
                <a:r>
                  <a:rPr lang="pt-BR" dirty="0" err="1"/>
                  <a:t>Humidity</a:t>
                </a:r>
                <a:r>
                  <a:rPr lang="pt-BR" dirty="0"/>
                  <a:t> = normal) = 0.</a:t>
                </a:r>
              </a:p>
              <a:p>
                <a:pPr marL="0" indent="0">
                  <a:buNone/>
                </a:pPr>
                <a:endParaRPr lang="pt-BR" dirty="0"/>
              </a:p>
              <a:p>
                <a:pPr marL="0" indent="0">
                  <a:buNone/>
                </a:pPr>
                <a:endParaRPr lang="pt-BR" dirty="0"/>
              </a:p>
              <a:p>
                <a:pPr marL="0" indent="0">
                  <a:buNone/>
                </a:pPr>
                <a:endParaRPr lang="pt-BR" dirty="0"/>
              </a:p>
              <a:p>
                <a:r>
                  <a:rPr lang="pt-BR" dirty="0"/>
                  <a:t>A decisão sempre será pela classe </a:t>
                </a:r>
                <a:r>
                  <a:rPr lang="pt-BR" b="1" dirty="0"/>
                  <a:t>Negativa</a:t>
                </a:r>
                <a:r>
                  <a:rPr lang="pt-BR" dirty="0"/>
                  <a:t> (N) quando </a:t>
                </a:r>
                <a:r>
                  <a:rPr lang="pt-BR" b="1" dirty="0"/>
                  <a:t>Outlook = sunny </a:t>
                </a:r>
                <a:r>
                  <a:rPr lang="pt-BR" dirty="0"/>
                  <a:t>e</a:t>
                </a:r>
                <a:r>
                  <a:rPr lang="pt-BR" b="1" dirty="0"/>
                  <a:t> </a:t>
                </a:r>
                <a:r>
                  <a:rPr lang="pt-BR" b="1" dirty="0" err="1"/>
                  <a:t>Humidity</a:t>
                </a:r>
                <a:r>
                  <a:rPr lang="pt-BR" dirty="0"/>
                  <a:t> </a:t>
                </a:r>
                <a:r>
                  <a:rPr lang="pt-BR" b="1" dirty="0"/>
                  <a:t>= high</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a:t>
                </a:r>
                <a:r>
                  <a:rPr lang="pt-BR" dirty="0" err="1"/>
                  <a:t>Humidity</a:t>
                </a:r>
                <a:r>
                  <a:rPr lang="pt-BR" dirty="0"/>
                  <a:t> = high) = 0</a:t>
                </a:r>
              </a:p>
              <a:p>
                <a:pPr marL="0" indent="0">
                  <a:buNone/>
                </a:pPr>
                <a:endParaRPr lang="pt-BR" dirty="0"/>
              </a:p>
              <a:p>
                <a:pPr marL="0" indent="0">
                  <a:buNone/>
                </a:pPr>
                <a:endParaRPr lang="pt-BR" dirty="0"/>
              </a:p>
              <a:p>
                <a:endParaRPr lang="pt-BR" dirty="0"/>
              </a:p>
              <a:p>
                <a:endParaRPr lang="pt-BR" dirty="0"/>
              </a:p>
              <a:p>
                <a:r>
                  <a:rPr lang="pt-BR" dirty="0"/>
                  <a:t>Portanto, encontramos as folhas para os dois ramos, </a:t>
                </a:r>
                <a:r>
                  <a:rPr lang="pt-BR" b="1" dirty="0"/>
                  <a:t>normal </a:t>
                </a:r>
                <a:r>
                  <a:rPr lang="pt-BR" dirty="0"/>
                  <a:t>e </a:t>
                </a:r>
                <a:r>
                  <a:rPr lang="pt-BR" b="1" dirty="0"/>
                  <a:t>high </a:t>
                </a:r>
                <a:r>
                  <a:rPr lang="pt-BR" dirty="0"/>
                  <a:t>do nó </a:t>
                </a:r>
                <a:r>
                  <a:rPr lang="pt-BR" b="1" dirty="0" err="1"/>
                  <a:t>Humidity</a:t>
                </a:r>
                <a:r>
                  <a:rPr lang="pt-BR" dirty="0"/>
                  <a:t>.</a:t>
                </a:r>
              </a:p>
              <a:p>
                <a:r>
                  <a:rPr lang="pt-BR" dirty="0"/>
                  <a:t>Com isso, a construção da </a:t>
                </a:r>
                <a:r>
                  <a:rPr lang="pt-BR" b="1" dirty="0"/>
                  <a:t>árvore de decisão </a:t>
                </a:r>
                <a:r>
                  <a:rPr lang="pt-BR" dirty="0"/>
                  <a:t>se encerra e podemos usar as regras encontradas para classificar novos exemplos.</a:t>
                </a:r>
              </a:p>
              <a:p>
                <a:r>
                  <a:rPr lang="pt-BR" b="1" dirty="0">
                    <a:solidFill>
                      <a:srgbClr val="00B0F0"/>
                    </a:solidFill>
                  </a:rPr>
                  <a:t>Algum atributo ficou de fora?</a:t>
                </a:r>
                <a:r>
                  <a:rPr lang="pt-BR" dirty="0">
                    <a:solidFill>
                      <a:srgbClr val="00B0F0"/>
                    </a:solidFill>
                  </a:rPr>
                  <a:t> </a:t>
                </a:r>
                <a:r>
                  <a:rPr lang="pt-BR" dirty="0"/>
                  <a:t>Sim, </a:t>
                </a:r>
                <a:r>
                  <a:rPr lang="pt-BR" b="1" dirty="0" err="1"/>
                  <a:t>Temperature</a:t>
                </a:r>
                <a:r>
                  <a:rPr lang="pt-BR" dirty="0"/>
                  <a:t>, indicando que ele não traz informação útil ao problema.</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8" y="1232034"/>
                <a:ext cx="11353802" cy="5625966"/>
              </a:xfrm>
              <a:blipFill>
                <a:blip r:embed="rId2"/>
                <a:stretch>
                  <a:fillRect l="-698" t="-2492" r="-913" b="-2059"/>
                </a:stretch>
              </a:blipFill>
            </p:spPr>
            <p:txBody>
              <a:bodyPr/>
              <a:lstStyle/>
              <a:p>
                <a:r>
                  <a:rPr lang="en-US">
                    <a:noFill/>
                  </a:rPr>
                  <a:t> </a:t>
                </a:r>
              </a:p>
            </p:txBody>
          </p:sp>
        </mc:Fallback>
      </mc:AlternateContent>
      <p:graphicFrame>
        <p:nvGraphicFramePr>
          <p:cNvPr id="6" name="Table 5"/>
          <p:cNvGraphicFramePr>
            <a:graphicFrameLocks noGrp="1"/>
          </p:cNvGraphicFramePr>
          <p:nvPr>
            <p:extLst>
              <p:ext uri="{D42A27DB-BD31-4B8C-83A1-F6EECF244321}">
                <p14:modId xmlns:p14="http://schemas.microsoft.com/office/powerpoint/2010/main" val="263599079"/>
              </p:ext>
            </p:extLst>
          </p:nvPr>
        </p:nvGraphicFramePr>
        <p:xfrm>
          <a:off x="1136653" y="1869748"/>
          <a:ext cx="6152244" cy="1005840"/>
        </p:xfrm>
        <a:graphic>
          <a:graphicData uri="http://schemas.openxmlformats.org/drawingml/2006/table">
            <a:tbl>
              <a:tblPr/>
              <a:tblGrid>
                <a:gridCol w="1025374">
                  <a:extLst>
                    <a:ext uri="{9D8B030D-6E8A-4147-A177-3AD203B41FA5}">
                      <a16:colId xmlns:a16="http://schemas.microsoft.com/office/drawing/2014/main" val="20000"/>
                    </a:ext>
                  </a:extLst>
                </a:gridCol>
                <a:gridCol w="1025374">
                  <a:extLst>
                    <a:ext uri="{9D8B030D-6E8A-4147-A177-3AD203B41FA5}">
                      <a16:colId xmlns:a16="http://schemas.microsoft.com/office/drawing/2014/main" val="20001"/>
                    </a:ext>
                  </a:extLst>
                </a:gridCol>
                <a:gridCol w="1025374">
                  <a:extLst>
                    <a:ext uri="{9D8B030D-6E8A-4147-A177-3AD203B41FA5}">
                      <a16:colId xmlns:a16="http://schemas.microsoft.com/office/drawing/2014/main" val="20002"/>
                    </a:ext>
                  </a:extLst>
                </a:gridCol>
                <a:gridCol w="1025374">
                  <a:extLst>
                    <a:ext uri="{9D8B030D-6E8A-4147-A177-3AD203B41FA5}">
                      <a16:colId xmlns:a16="http://schemas.microsoft.com/office/drawing/2014/main" val="20003"/>
                    </a:ext>
                  </a:extLst>
                </a:gridCol>
                <a:gridCol w="1025374">
                  <a:extLst>
                    <a:ext uri="{9D8B030D-6E8A-4147-A177-3AD203B41FA5}">
                      <a16:colId xmlns:a16="http://schemas.microsoft.com/office/drawing/2014/main" val="20004"/>
                    </a:ext>
                  </a:extLst>
                </a:gridCol>
                <a:gridCol w="1025374">
                  <a:extLst>
                    <a:ext uri="{9D8B030D-6E8A-4147-A177-3AD203B41FA5}">
                      <a16:colId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400">
                          <a:effectLst/>
                        </a:rPr>
                        <a:t>9</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11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34952265"/>
              </p:ext>
            </p:extLst>
          </p:nvPr>
        </p:nvGraphicFramePr>
        <p:xfrm>
          <a:off x="1171126" y="3754855"/>
          <a:ext cx="6083298" cy="1257300"/>
        </p:xfrm>
        <a:graphic>
          <a:graphicData uri="http://schemas.openxmlformats.org/drawingml/2006/table">
            <a:tbl>
              <a:tblPr/>
              <a:tblGrid>
                <a:gridCol w="1013883">
                  <a:extLst>
                    <a:ext uri="{9D8B030D-6E8A-4147-A177-3AD203B41FA5}">
                      <a16:colId xmlns:a16="http://schemas.microsoft.com/office/drawing/2014/main" val="20000"/>
                    </a:ext>
                  </a:extLst>
                </a:gridCol>
                <a:gridCol w="1013883">
                  <a:extLst>
                    <a:ext uri="{9D8B030D-6E8A-4147-A177-3AD203B41FA5}">
                      <a16:colId xmlns:a16="http://schemas.microsoft.com/office/drawing/2014/main" val="20001"/>
                    </a:ext>
                  </a:extLst>
                </a:gridCol>
                <a:gridCol w="1013883">
                  <a:extLst>
                    <a:ext uri="{9D8B030D-6E8A-4147-A177-3AD203B41FA5}">
                      <a16:colId xmlns:a16="http://schemas.microsoft.com/office/drawing/2014/main" val="20002"/>
                    </a:ext>
                  </a:extLst>
                </a:gridCol>
                <a:gridCol w="1013883">
                  <a:extLst>
                    <a:ext uri="{9D8B030D-6E8A-4147-A177-3AD203B41FA5}">
                      <a16:colId xmlns:a16="http://schemas.microsoft.com/office/drawing/2014/main" val="20003"/>
                    </a:ext>
                  </a:extLst>
                </a:gridCol>
                <a:gridCol w="1013883">
                  <a:extLst>
                    <a:ext uri="{9D8B030D-6E8A-4147-A177-3AD203B41FA5}">
                      <a16:colId xmlns:a16="http://schemas.microsoft.com/office/drawing/2014/main" val="20004"/>
                    </a:ext>
                  </a:extLst>
                </a:gridCol>
                <a:gridCol w="1013883">
                  <a:extLst>
                    <a:ext uri="{9D8B030D-6E8A-4147-A177-3AD203B41FA5}">
                      <a16:colId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400">
                          <a:effectLst/>
                        </a:rPr>
                        <a:t>8</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87351" y="3677855"/>
            <a:ext cx="4203940" cy="1340172"/>
          </a:xfrm>
          <a:prstGeom prst="rect">
            <a:avLst/>
          </a:prstGeom>
        </p:spPr>
      </p:pic>
    </p:spTree>
    <p:extLst>
      <p:ext uri="{BB962C8B-B14F-4D97-AF65-F5344CB8AC3E}">
        <p14:creationId xmlns:p14="http://schemas.microsoft.com/office/powerpoint/2010/main" val="95858850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1118937" y="1825624"/>
            <a:ext cx="10874943" cy="5032375"/>
          </a:xfrm>
        </p:spPr>
        <p:txBody>
          <a:bodyPr/>
          <a:lstStyle/>
          <a:p>
            <a:r>
              <a:rPr lang="pt-BR" dirty="0"/>
              <a:t>Embora as </a:t>
            </a:r>
            <a:r>
              <a:rPr lang="pt-BR" b="1" dirty="0"/>
              <a:t>árvores de decisão </a:t>
            </a:r>
            <a:r>
              <a:rPr lang="pt-BR" dirty="0"/>
              <a:t>sejam poderosos algoritmos de </a:t>
            </a:r>
            <a:r>
              <a:rPr lang="pt-BR" b="1" dirty="0"/>
              <a:t>classificação</a:t>
            </a:r>
            <a:r>
              <a:rPr lang="pt-BR" dirty="0"/>
              <a:t>, elas podem apresentar um </a:t>
            </a:r>
            <a:r>
              <a:rPr lang="pt-BR" b="1" dirty="0">
                <a:solidFill>
                  <a:srgbClr val="7030A0"/>
                </a:solidFill>
              </a:rPr>
              <a:t>longo tempo de treinamento</a:t>
            </a:r>
            <a:r>
              <a:rPr lang="pt-BR" b="1" dirty="0">
                <a:solidFill>
                  <a:srgbClr val="00B050"/>
                </a:solidFill>
              </a:rPr>
              <a:t>, principalmente quando os atributos são contínuos</a:t>
            </a:r>
            <a:r>
              <a:rPr lang="pt-BR" dirty="0"/>
              <a:t>.</a:t>
            </a:r>
          </a:p>
          <a:p>
            <a:r>
              <a:rPr lang="pt-BR" dirty="0"/>
              <a:t>Árvores de decisão</a:t>
            </a:r>
            <a:r>
              <a:rPr lang="pt-BR" b="1" dirty="0"/>
              <a:t> </a:t>
            </a:r>
            <a:r>
              <a:rPr lang="pt-BR" b="1" dirty="0">
                <a:solidFill>
                  <a:srgbClr val="00B050"/>
                </a:solidFill>
              </a:rPr>
              <a:t>precisam de muito pouco pré-processamento dos dados</a:t>
            </a:r>
            <a:r>
              <a:rPr lang="pt-BR" dirty="0"/>
              <a:t>. </a:t>
            </a:r>
          </a:p>
          <a:p>
            <a:r>
              <a:rPr lang="pt-BR" dirty="0"/>
              <a:t>Em particular, elas </a:t>
            </a:r>
            <a:r>
              <a:rPr lang="pt-BR" b="1" dirty="0">
                <a:solidFill>
                  <a:schemeClr val="accent5"/>
                </a:solidFill>
              </a:rPr>
              <a:t>não necessitam de escalonamento dos atributos</a:t>
            </a:r>
            <a:r>
              <a:rPr lang="pt-BR" dirty="0"/>
              <a:t>, mas </a:t>
            </a:r>
            <a:r>
              <a:rPr lang="pt-BR" b="1" dirty="0">
                <a:solidFill>
                  <a:srgbClr val="FF0000"/>
                </a:solidFill>
              </a:rPr>
              <a:t>valores faltantes devem ser tratados de alguma forma</a:t>
            </a:r>
            <a:r>
              <a:rPr lang="pt-BR" dirty="0"/>
              <a:t>.</a:t>
            </a:r>
          </a:p>
        </p:txBody>
      </p:sp>
    </p:spTree>
    <p:extLst>
      <p:ext uri="{BB962C8B-B14F-4D97-AF65-F5344CB8AC3E}">
        <p14:creationId xmlns:p14="http://schemas.microsoft.com/office/powerpoint/2010/main" val="137586511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5638800" y="1690688"/>
            <a:ext cx="6553200" cy="5167311"/>
          </a:xfrm>
        </p:spPr>
        <p:txBody>
          <a:bodyPr>
            <a:normAutofit/>
          </a:bodyPr>
          <a:lstStyle/>
          <a:p>
            <a:r>
              <a:rPr lang="pt-BR" dirty="0"/>
              <a:t>Quando as </a:t>
            </a:r>
            <a:r>
              <a:rPr lang="pt-BR" b="1" dirty="0">
                <a:solidFill>
                  <a:srgbClr val="00B050"/>
                </a:solidFill>
              </a:rPr>
              <a:t>classes não são bem separadas</a:t>
            </a:r>
            <a:r>
              <a:rPr lang="pt-BR" dirty="0"/>
              <a:t> (sobreposição), </a:t>
            </a:r>
            <a:r>
              <a:rPr lang="pt-BR" b="1" dirty="0">
                <a:solidFill>
                  <a:srgbClr val="00B050"/>
                </a:solidFill>
              </a:rPr>
              <a:t>as árvores são suscetíveis a sobreajustar</a:t>
            </a:r>
            <a:r>
              <a:rPr lang="pt-BR" dirty="0"/>
              <a:t> ao conjunto de treinamento.</a:t>
            </a:r>
          </a:p>
          <a:p>
            <a:r>
              <a:rPr lang="pt-BR" dirty="0"/>
              <a:t>Para evitar </a:t>
            </a:r>
            <a:r>
              <a:rPr lang="pt-BR" b="1" dirty="0"/>
              <a:t>sobreajuste</a:t>
            </a:r>
            <a:r>
              <a:rPr lang="pt-BR" dirty="0"/>
              <a:t>, existem duas maneiras: </a:t>
            </a:r>
          </a:p>
          <a:p>
            <a:pPr marL="971550" lvl="1" indent="-514350">
              <a:buFont typeface="+mj-lt"/>
              <a:buAutoNum type="arabicPeriod"/>
              <a:defRPr/>
            </a:pPr>
            <a:r>
              <a:rPr lang="pt-BR" dirty="0"/>
              <a:t>Limitamos sua profundidade e/ou o número mínimo de amostras necessárias em um nó folha.</a:t>
            </a:r>
          </a:p>
          <a:p>
            <a:pPr marL="971550" lvl="1" indent="-514350">
              <a:buFont typeface="+mj-lt"/>
              <a:buAutoNum type="arabicPeriod"/>
              <a:defRPr/>
            </a:pPr>
            <a:r>
              <a:rPr lang="pt-BR" dirty="0"/>
              <a:t>Geramos primeiro uma árvore completa e, em seguida, eliminamos alguns ramos (i.e., podamos a árvore).</a:t>
            </a:r>
          </a:p>
        </p:txBody>
      </p:sp>
      <p:pic>
        <p:nvPicPr>
          <p:cNvPr id="5" name="Imagem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9938" y="2173169"/>
            <a:ext cx="4639742" cy="3744353"/>
          </a:xfrm>
          <a:prstGeom prst="rect">
            <a:avLst/>
          </a:prstGeom>
        </p:spPr>
      </p:pic>
    </p:spTree>
    <p:extLst>
      <p:ext uri="{BB962C8B-B14F-4D97-AF65-F5344CB8AC3E}">
        <p14:creationId xmlns:p14="http://schemas.microsoft.com/office/powerpoint/2010/main" val="141200750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4907280" y="1825624"/>
            <a:ext cx="7132320" cy="5032375"/>
          </a:xfrm>
        </p:spPr>
        <p:txBody>
          <a:bodyPr/>
          <a:lstStyle/>
          <a:p>
            <a:r>
              <a:rPr lang="pt-BR" dirty="0"/>
              <a:t>O </a:t>
            </a:r>
            <a:r>
              <a:rPr lang="pt-BR" b="1" dirty="0">
                <a:solidFill>
                  <a:srgbClr val="FF0000"/>
                </a:solidFill>
              </a:rPr>
              <a:t>principal problema </a:t>
            </a:r>
            <a:r>
              <a:rPr lang="pt-BR" dirty="0"/>
              <a:t>das árvores é que elas são</a:t>
            </a:r>
            <a:r>
              <a:rPr lang="pt-BR" b="1" dirty="0">
                <a:solidFill>
                  <a:srgbClr val="00B050"/>
                </a:solidFill>
              </a:rPr>
              <a:t> muito sensíveis a rotações nos dados de treinamento</a:t>
            </a:r>
            <a:r>
              <a:rPr lang="pt-BR" dirty="0"/>
              <a:t>. </a:t>
            </a:r>
            <a:endParaRPr lang="pt-BR" b="1" dirty="0"/>
          </a:p>
          <a:p>
            <a:r>
              <a:rPr lang="pt-BR" dirty="0"/>
              <a:t>Elas criam </a:t>
            </a:r>
            <a:r>
              <a:rPr lang="pt-BR" b="1" dirty="0">
                <a:solidFill>
                  <a:srgbClr val="7030A0"/>
                </a:solidFill>
              </a:rPr>
              <a:t>fronteiras de decisão compostas por trechos perpendiculares aos eixos</a:t>
            </a:r>
            <a:r>
              <a:rPr lang="pt-BR" dirty="0"/>
              <a:t>, o que as torna </a:t>
            </a:r>
            <a:r>
              <a:rPr lang="pt-BR" b="1" dirty="0"/>
              <a:t>sensíveis à rotação do conjunto de treinamento</a:t>
            </a:r>
            <a:r>
              <a:rPr lang="pt-BR" dirty="0"/>
              <a:t>.</a:t>
            </a:r>
          </a:p>
          <a:p>
            <a:r>
              <a:rPr lang="pt-BR" dirty="0"/>
              <a:t>Uma maneira para </a:t>
            </a:r>
            <a:r>
              <a:rPr lang="pt-BR" b="1" dirty="0">
                <a:solidFill>
                  <a:srgbClr val="FF0000"/>
                </a:solidFill>
              </a:rPr>
              <a:t>minimizar</a:t>
            </a:r>
            <a:r>
              <a:rPr lang="pt-BR" dirty="0"/>
              <a:t> esse problema da sensibilidade à rotação é usar </a:t>
            </a:r>
            <a:r>
              <a:rPr lang="pt-BR" b="1" dirty="0"/>
              <a:t>análise de componentes principais (PCA)</a:t>
            </a:r>
            <a:r>
              <a:rPr lang="pt-BR" dirty="0"/>
              <a:t>, que rotaciona e dimensiona linearmente a matriz de atributos.</a:t>
            </a:r>
          </a:p>
        </p:txBody>
      </p:sp>
      <p:pic>
        <p:nvPicPr>
          <p:cNvPr id="6" name="Imagem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4417" y="4481590"/>
            <a:ext cx="3048005" cy="2376410"/>
          </a:xfrm>
          <a:prstGeom prst="rect">
            <a:avLst/>
          </a:prstGeom>
        </p:spPr>
      </p:pic>
      <p:pic>
        <p:nvPicPr>
          <p:cNvPr id="7" name="Imagem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417" y="1690688"/>
            <a:ext cx="3041733" cy="2335888"/>
          </a:xfrm>
          <a:prstGeom prst="rect">
            <a:avLst/>
          </a:prstGeom>
        </p:spPr>
      </p:pic>
      <p:sp>
        <p:nvSpPr>
          <p:cNvPr id="8" name="Seta para baixo 7"/>
          <p:cNvSpPr/>
          <p:nvPr/>
        </p:nvSpPr>
        <p:spPr>
          <a:xfrm>
            <a:off x="2374303" y="4026576"/>
            <a:ext cx="441960" cy="45501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p:cNvSpPr txBox="1"/>
          <p:nvPr/>
        </p:nvSpPr>
        <p:spPr>
          <a:xfrm>
            <a:off x="2816263" y="4069417"/>
            <a:ext cx="559769" cy="369332"/>
          </a:xfrm>
          <a:prstGeom prst="rect">
            <a:avLst/>
          </a:prstGeom>
          <a:noFill/>
        </p:spPr>
        <p:txBody>
          <a:bodyPr wrap="none" rtlCol="0">
            <a:spAutoFit/>
          </a:bodyPr>
          <a:lstStyle/>
          <a:p>
            <a:r>
              <a:rPr lang="pt-BR" dirty="0"/>
              <a:t>PCA</a:t>
            </a:r>
          </a:p>
        </p:txBody>
      </p:sp>
    </p:spTree>
    <p:extLst>
      <p:ext uri="{BB962C8B-B14F-4D97-AF65-F5344CB8AC3E}">
        <p14:creationId xmlns:p14="http://schemas.microsoft.com/office/powerpoint/2010/main" val="24763091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838200" y="1825624"/>
            <a:ext cx="11353800" cy="5032375"/>
          </a:xfrm>
        </p:spPr>
        <p:txBody>
          <a:bodyPr>
            <a:normAutofit/>
          </a:bodyPr>
          <a:lstStyle/>
          <a:p>
            <a:r>
              <a:rPr lang="pt-BR" dirty="0"/>
              <a:t>Alguns </a:t>
            </a:r>
            <a:r>
              <a:rPr lang="pt-BR" b="1" dirty="0">
                <a:solidFill>
                  <a:srgbClr val="00B050"/>
                </a:solidFill>
              </a:rPr>
              <a:t>algoritmos para inferência de árvores são </a:t>
            </a:r>
            <a:r>
              <a:rPr lang="pt-BR" b="1" dirty="0">
                <a:solidFill>
                  <a:srgbClr val="7030A0"/>
                </a:solidFill>
              </a:rPr>
              <a:t>estocásticos</a:t>
            </a:r>
            <a:r>
              <a:rPr lang="pt-BR" b="1" dirty="0">
                <a:solidFill>
                  <a:srgbClr val="00B050"/>
                </a:solidFill>
              </a:rPr>
              <a:t> </a:t>
            </a:r>
            <a:r>
              <a:rPr lang="pt-BR" dirty="0"/>
              <a:t>e, portanto, </a:t>
            </a:r>
            <a:r>
              <a:rPr lang="pt-BR" b="1" dirty="0">
                <a:solidFill>
                  <a:srgbClr val="00B050"/>
                </a:solidFill>
              </a:rPr>
              <a:t>podem gerar árvores </a:t>
            </a:r>
            <a:r>
              <a:rPr lang="pt-BR" b="1" dirty="0">
                <a:solidFill>
                  <a:srgbClr val="FF0000"/>
                </a:solidFill>
              </a:rPr>
              <a:t>completamente diferentes</a:t>
            </a:r>
            <a:r>
              <a:rPr lang="pt-BR" b="1" dirty="0">
                <a:solidFill>
                  <a:srgbClr val="00B050"/>
                </a:solidFill>
              </a:rPr>
              <a:t> com o </a:t>
            </a:r>
            <a:r>
              <a:rPr lang="pt-BR" b="1" dirty="0">
                <a:solidFill>
                  <a:srgbClr val="0070C0"/>
                </a:solidFill>
              </a:rPr>
              <a:t>mesmo modelo e conjunto de dados</a:t>
            </a:r>
            <a:r>
              <a:rPr lang="pt-BR" dirty="0"/>
              <a:t>,</a:t>
            </a:r>
            <a:r>
              <a:rPr lang="pt-BR" b="1" dirty="0">
                <a:solidFill>
                  <a:srgbClr val="00B050"/>
                </a:solidFill>
              </a:rPr>
              <a:t> </a:t>
            </a:r>
            <a:r>
              <a:rPr lang="pt-BR" b="1" dirty="0">
                <a:solidFill>
                  <a:srgbClr val="00B0F0"/>
                </a:solidFill>
              </a:rPr>
              <a:t>mas sementes aleatórias diferentes</a:t>
            </a:r>
            <a:r>
              <a:rPr lang="pt-BR" dirty="0"/>
              <a:t>.</a:t>
            </a:r>
          </a:p>
          <a:p>
            <a:r>
              <a:rPr lang="pt-BR" dirty="0"/>
              <a:t>Por exemplo, o CART permuta aleatoriamente o conjunto de atributos a cada divisão, podendo gerar diferentes divisões. </a:t>
            </a:r>
          </a:p>
          <a:p>
            <a:r>
              <a:rPr lang="pt-BR" dirty="0"/>
              <a:t>Se a melhoria do critério de divisão for idêntica para várias divisões, escolhe-se a divisão de forma aleatória.</a:t>
            </a:r>
          </a:p>
          <a:p>
            <a:r>
              <a:rPr lang="pt-BR" dirty="0"/>
              <a:t>As </a:t>
            </a:r>
            <a:r>
              <a:rPr lang="pt-BR" b="1" dirty="0"/>
              <a:t>florestas aleatórias </a:t>
            </a:r>
            <a:r>
              <a:rPr lang="pt-BR" dirty="0"/>
              <a:t>podem limitar essa instabilidade calculando a média ou voto majoritário das predições feitas por diversas </a:t>
            </a:r>
            <a:r>
              <a:rPr lang="pt-BR" b="1" dirty="0"/>
              <a:t>árvores</a:t>
            </a:r>
            <a:r>
              <a:rPr lang="pt-BR" dirty="0"/>
              <a:t>.</a:t>
            </a:r>
            <a:endParaRPr lang="pt-BR" b="1" dirty="0"/>
          </a:p>
        </p:txBody>
      </p:sp>
    </p:spTree>
    <p:extLst>
      <p:ext uri="{BB962C8B-B14F-4D97-AF65-F5344CB8AC3E}">
        <p14:creationId xmlns:p14="http://schemas.microsoft.com/office/powerpoint/2010/main" val="267749203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5394960" y="1825624"/>
            <a:ext cx="6690360" cy="5032375"/>
          </a:xfrm>
        </p:spPr>
        <p:txBody>
          <a:bodyPr>
            <a:normAutofit/>
          </a:bodyPr>
          <a:lstStyle/>
          <a:p>
            <a:r>
              <a:rPr lang="pt-BR" dirty="0"/>
              <a:t>Se não for restringida, a </a:t>
            </a:r>
            <a:r>
              <a:rPr lang="pt-BR" b="1" dirty="0"/>
              <a:t>árvore </a:t>
            </a:r>
            <a:r>
              <a:rPr lang="pt-BR" dirty="0"/>
              <a:t>poderá</a:t>
            </a:r>
            <a:r>
              <a:rPr lang="pt-BR" b="1" dirty="0"/>
              <a:t> </a:t>
            </a:r>
            <a:r>
              <a:rPr lang="pt-BR" dirty="0"/>
              <a:t>se adaptar muito bem aos dados de treinamento, se </a:t>
            </a:r>
            <a:r>
              <a:rPr lang="pt-BR" b="1" dirty="0" err="1">
                <a:solidFill>
                  <a:srgbClr val="7030A0"/>
                </a:solidFill>
              </a:rPr>
              <a:t>sobreajustando</a:t>
            </a:r>
            <a:r>
              <a:rPr lang="pt-BR" dirty="0"/>
              <a:t> a eles. </a:t>
            </a:r>
          </a:p>
          <a:p>
            <a:r>
              <a:rPr lang="pt-BR" dirty="0"/>
              <a:t>Para evitar o </a:t>
            </a:r>
            <a:r>
              <a:rPr lang="pt-BR" b="1" dirty="0">
                <a:solidFill>
                  <a:schemeClr val="accent2"/>
                </a:solidFill>
              </a:rPr>
              <a:t>sobreajuste</a:t>
            </a:r>
            <a:r>
              <a:rPr lang="pt-BR" dirty="0">
                <a:solidFill>
                  <a:schemeClr val="accent2"/>
                </a:solidFill>
              </a:rPr>
              <a:t> </a:t>
            </a:r>
            <a:r>
              <a:rPr lang="pt-BR" dirty="0"/>
              <a:t>do modelo, nós precisamos </a:t>
            </a:r>
            <a:r>
              <a:rPr lang="pt-BR" b="1" dirty="0">
                <a:solidFill>
                  <a:srgbClr val="7030A0"/>
                </a:solidFill>
              </a:rPr>
              <a:t>restringir</a:t>
            </a:r>
            <a:r>
              <a:rPr lang="pt-BR" dirty="0"/>
              <a:t> </a:t>
            </a:r>
            <a:r>
              <a:rPr lang="pt-BR" b="1" dirty="0">
                <a:solidFill>
                  <a:srgbClr val="7030A0"/>
                </a:solidFill>
              </a:rPr>
              <a:t>a liberdade de crescer</a:t>
            </a:r>
            <a:r>
              <a:rPr lang="pt-BR" dirty="0"/>
              <a:t> da árvore durante seu treinamento.</a:t>
            </a:r>
          </a:p>
          <a:p>
            <a:pPr lvl="1">
              <a:buFont typeface="Wingdings" panose="05000000000000000000" pitchFamily="2" charset="2"/>
              <a:buChar char="§"/>
            </a:pPr>
            <a:r>
              <a:rPr lang="pt-BR" dirty="0"/>
              <a:t>Essa restrição é feita através de alguns </a:t>
            </a:r>
            <a:r>
              <a:rPr lang="pt-BR" dirty="0" err="1"/>
              <a:t>hiperparâmetros</a:t>
            </a:r>
            <a:r>
              <a:rPr lang="pt-BR" dirty="0"/>
              <a:t>.</a:t>
            </a:r>
          </a:p>
          <a:p>
            <a:pPr lvl="1">
              <a:buFont typeface="Wingdings" panose="05000000000000000000" pitchFamily="2" charset="2"/>
              <a:buChar char="§"/>
            </a:pPr>
            <a:r>
              <a:rPr lang="pt-BR" dirty="0"/>
              <a:t>Essa restrição pode ser visto como uma forma de</a:t>
            </a:r>
            <a:r>
              <a:rPr lang="pt-BR" b="1" dirty="0"/>
              <a:t> </a:t>
            </a:r>
            <a:r>
              <a:rPr lang="pt-BR" b="1" dirty="0">
                <a:solidFill>
                  <a:srgbClr val="FF0000"/>
                </a:solidFill>
              </a:rPr>
              <a:t>regularização</a:t>
            </a:r>
            <a:r>
              <a:rPr lang="pt-BR" b="1" dirty="0"/>
              <a:t>.</a:t>
            </a:r>
            <a:endParaRPr lang="pt-BR" dirty="0"/>
          </a:p>
        </p:txBody>
      </p:sp>
      <p:pic>
        <p:nvPicPr>
          <p:cNvPr id="4" name="Imagem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7320" y="1644968"/>
            <a:ext cx="2971800" cy="2337883"/>
          </a:xfrm>
          <a:prstGeom prst="rect">
            <a:avLst/>
          </a:prstGeom>
        </p:spPr>
      </p:pic>
      <p:pic>
        <p:nvPicPr>
          <p:cNvPr id="5" name="Imagem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17320" y="4520115"/>
            <a:ext cx="2971800" cy="2337884"/>
          </a:xfrm>
          <a:prstGeom prst="rect">
            <a:avLst/>
          </a:prstGeom>
        </p:spPr>
      </p:pic>
      <p:sp>
        <p:nvSpPr>
          <p:cNvPr id="6" name="Seta para baixo 5"/>
          <p:cNvSpPr/>
          <p:nvPr/>
        </p:nvSpPr>
        <p:spPr>
          <a:xfrm>
            <a:off x="2697480" y="4048348"/>
            <a:ext cx="411480" cy="406269"/>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CaixaDeTexto 6"/>
          <p:cNvSpPr txBox="1"/>
          <p:nvPr/>
        </p:nvSpPr>
        <p:spPr>
          <a:xfrm>
            <a:off x="3108960" y="4066817"/>
            <a:ext cx="1474891" cy="369332"/>
          </a:xfrm>
          <a:prstGeom prst="rect">
            <a:avLst/>
          </a:prstGeom>
          <a:noFill/>
        </p:spPr>
        <p:txBody>
          <a:bodyPr wrap="none" rtlCol="0">
            <a:spAutoFit/>
          </a:bodyPr>
          <a:lstStyle/>
          <a:p>
            <a:r>
              <a:rPr lang="pt-BR" dirty="0"/>
              <a:t>Regularização</a:t>
            </a:r>
          </a:p>
        </p:txBody>
      </p:sp>
    </p:spTree>
    <p:extLst>
      <p:ext uri="{BB962C8B-B14F-4D97-AF65-F5344CB8AC3E}">
        <p14:creationId xmlns:p14="http://schemas.microsoft.com/office/powerpoint/2010/main" val="35435197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5440680" y="1825624"/>
            <a:ext cx="6751320" cy="5032375"/>
          </a:xfrm>
        </p:spPr>
        <p:txBody>
          <a:bodyPr>
            <a:normAutofit fontScale="92500"/>
          </a:bodyPr>
          <a:lstStyle/>
          <a:p>
            <a:r>
              <a:rPr lang="pt-BR" dirty="0"/>
              <a:t>O </a:t>
            </a:r>
            <a:r>
              <a:rPr lang="pt-BR" dirty="0" err="1"/>
              <a:t>Scikit-Learn</a:t>
            </a:r>
            <a:r>
              <a:rPr lang="pt-BR" dirty="0"/>
              <a:t> tem 2 classes de árvores que implementam o algoritmo CART:</a:t>
            </a:r>
          </a:p>
          <a:p>
            <a:pPr lvl="1">
              <a:buFont typeface="Wingdings" panose="05000000000000000000" pitchFamily="2" charset="2"/>
              <a:buChar char="§"/>
            </a:pPr>
            <a:r>
              <a:rPr lang="pt-BR" dirty="0" err="1"/>
              <a:t>DecisionTreeClassifier</a:t>
            </a:r>
            <a:endParaRPr lang="pt-BR" dirty="0"/>
          </a:p>
          <a:p>
            <a:pPr lvl="1">
              <a:buFont typeface="Wingdings" panose="05000000000000000000" pitchFamily="2" charset="2"/>
              <a:buChar char="§"/>
            </a:pPr>
            <a:r>
              <a:rPr lang="pt-BR" dirty="0" err="1"/>
              <a:t>DecisionTreeRegressor</a:t>
            </a:r>
            <a:endParaRPr lang="pt-BR" dirty="0"/>
          </a:p>
          <a:p>
            <a:r>
              <a:rPr lang="pt-BR" dirty="0"/>
              <a:t>As </a:t>
            </a:r>
            <a:r>
              <a:rPr lang="pt-BR" b="1" dirty="0"/>
              <a:t>árvores de decisão</a:t>
            </a:r>
            <a:r>
              <a:rPr lang="pt-BR" dirty="0"/>
              <a:t> também tendem a se </a:t>
            </a:r>
            <a:r>
              <a:rPr lang="pt-BR" b="1" dirty="0" err="1"/>
              <a:t>sobreajustar</a:t>
            </a:r>
            <a:r>
              <a:rPr lang="pt-BR" dirty="0"/>
              <a:t> ao lidar com tarefas de </a:t>
            </a:r>
            <a:r>
              <a:rPr lang="pt-BR" b="1" dirty="0"/>
              <a:t>regressão</a:t>
            </a:r>
            <a:r>
              <a:rPr lang="pt-BR" dirty="0"/>
              <a:t>.</a:t>
            </a:r>
          </a:p>
          <a:p>
            <a:r>
              <a:rPr lang="pt-BR" dirty="0"/>
              <a:t>Predições feitas por </a:t>
            </a:r>
            <a:r>
              <a:rPr lang="pt-BR" b="1" dirty="0">
                <a:solidFill>
                  <a:srgbClr val="0070C0"/>
                </a:solidFill>
              </a:rPr>
              <a:t>árvores de regressão</a:t>
            </a:r>
            <a:r>
              <a:rPr lang="pt-BR" b="1" dirty="0"/>
              <a:t> </a:t>
            </a:r>
            <a:r>
              <a:rPr lang="pt-BR" b="1" dirty="0">
                <a:solidFill>
                  <a:srgbClr val="7030A0"/>
                </a:solidFill>
              </a:rPr>
              <a:t>não são suaves nem contínuas</a:t>
            </a:r>
            <a:r>
              <a:rPr lang="pt-BR" dirty="0"/>
              <a:t>, mas </a:t>
            </a:r>
            <a:r>
              <a:rPr lang="pt-BR" b="1" dirty="0">
                <a:solidFill>
                  <a:schemeClr val="accent2"/>
                </a:solidFill>
              </a:rPr>
              <a:t>aproximações constantes por partes/trechos</a:t>
            </a:r>
            <a:r>
              <a:rPr lang="pt-BR" dirty="0"/>
              <a:t>, conforme visto na figura ao lado.</a:t>
            </a:r>
          </a:p>
          <a:p>
            <a:r>
              <a:rPr lang="pt-BR" dirty="0"/>
              <a:t>O valor previsto para cada trecho é sempre o </a:t>
            </a:r>
            <a:r>
              <a:rPr lang="pt-BR" b="1" dirty="0">
                <a:solidFill>
                  <a:srgbClr val="00B050"/>
                </a:solidFill>
              </a:rPr>
              <a:t>valor médio</a:t>
            </a:r>
            <a:r>
              <a:rPr lang="pt-BR" dirty="0"/>
              <a:t> dos exemplos </a:t>
            </a:r>
            <a:r>
              <a:rPr lang="pt-BR" b="1" dirty="0">
                <a:solidFill>
                  <a:srgbClr val="00B050"/>
                </a:solidFill>
              </a:rPr>
              <a:t>nesse trecho</a:t>
            </a:r>
            <a:r>
              <a:rPr lang="pt-BR" dirty="0"/>
              <a:t>.</a:t>
            </a:r>
          </a:p>
          <a:p>
            <a:endParaRPr lang="pt-BR" dirty="0"/>
          </a:p>
        </p:txBody>
      </p:sp>
      <p:pic>
        <p:nvPicPr>
          <p:cNvPr id="4" name="Picture 2" descr="../_images/sphx_glr_plot_tree_regression_001.png">
            <a:extLst>
              <a:ext uri="{FF2B5EF4-FFF2-40B4-BE49-F238E27FC236}">
                <a16:creationId xmlns:a16="http://schemas.microsoft.com/office/drawing/2014/main" id="{B95AB935-03CF-444D-A124-A5ABCD677C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79" t="6852" r="9556" b="2180"/>
          <a:stretch/>
        </p:blipFill>
        <p:spPr bwMode="auto">
          <a:xfrm>
            <a:off x="306404" y="2226424"/>
            <a:ext cx="4722796" cy="3658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3699098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838200" y="1825624"/>
            <a:ext cx="11353800" cy="5032375"/>
          </a:xfrm>
        </p:spPr>
        <p:txBody>
          <a:bodyPr>
            <a:normAutofit/>
          </a:bodyPr>
          <a:lstStyle/>
          <a:p>
            <a:r>
              <a:rPr lang="pt-BR" dirty="0"/>
              <a:t>A regularização destas árvores pode ser controlada pelos hiperparâmetros: </a:t>
            </a:r>
          </a:p>
          <a:p>
            <a:pPr lvl="1">
              <a:buFont typeface="Wingdings" panose="05000000000000000000" pitchFamily="2" charset="2"/>
              <a:buChar char="§"/>
            </a:pPr>
            <a:r>
              <a:rPr lang="pt-BR" b="1" dirty="0" err="1"/>
              <a:t>max_depth</a:t>
            </a:r>
            <a:r>
              <a:rPr lang="pt-BR" dirty="0"/>
              <a:t>: profundidade máxima (i.e., número de níveis).</a:t>
            </a:r>
          </a:p>
          <a:p>
            <a:pPr lvl="1">
              <a:buFont typeface="Wingdings" panose="05000000000000000000" pitchFamily="2" charset="2"/>
              <a:buChar char="§"/>
            </a:pPr>
            <a:r>
              <a:rPr lang="pt-BR" b="1" dirty="0" err="1"/>
              <a:t>min_samples_split</a:t>
            </a:r>
            <a:r>
              <a:rPr lang="pt-BR" dirty="0"/>
              <a:t>: número mínimo de exemplos um nó deve ter para poder ser dividido.</a:t>
            </a:r>
          </a:p>
          <a:p>
            <a:pPr lvl="1">
              <a:buFont typeface="Wingdings" panose="05000000000000000000" pitchFamily="2" charset="2"/>
              <a:buChar char="§"/>
            </a:pPr>
            <a:r>
              <a:rPr lang="pt-BR" b="1" dirty="0" err="1"/>
              <a:t>min_samples_leaf</a:t>
            </a:r>
            <a:r>
              <a:rPr lang="pt-BR" dirty="0"/>
              <a:t>: número mínimo de exemplos que um nó folha deve ter.</a:t>
            </a:r>
          </a:p>
          <a:p>
            <a:pPr lvl="1">
              <a:buFont typeface="Wingdings" panose="05000000000000000000" pitchFamily="2" charset="2"/>
              <a:buChar char="§"/>
            </a:pPr>
            <a:r>
              <a:rPr lang="pt-BR" b="1" dirty="0" err="1"/>
              <a:t>max_leaf_nodes</a:t>
            </a:r>
            <a:r>
              <a:rPr lang="pt-BR" dirty="0"/>
              <a:t>: número máximo de nós folha.</a:t>
            </a:r>
          </a:p>
          <a:p>
            <a:pPr lvl="1">
              <a:buFont typeface="Wingdings" panose="05000000000000000000" pitchFamily="2" charset="2"/>
              <a:buChar char="§"/>
            </a:pPr>
            <a:r>
              <a:rPr lang="pt-BR" b="1" dirty="0" err="1"/>
              <a:t>max_features</a:t>
            </a:r>
            <a:r>
              <a:rPr lang="pt-BR" dirty="0"/>
              <a:t>: número máximo de atributos que são avaliados para criação de uma divisão (i.e., </a:t>
            </a:r>
            <a:r>
              <a:rPr lang="pt-BR" dirty="0" err="1"/>
              <a:t>split</a:t>
            </a:r>
            <a:r>
              <a:rPr lang="pt-BR" dirty="0"/>
              <a:t>).</a:t>
            </a:r>
          </a:p>
          <a:p>
            <a:r>
              <a:rPr lang="pt-BR" dirty="0"/>
              <a:t>Aumentar os </a:t>
            </a:r>
            <a:r>
              <a:rPr lang="pt-BR" dirty="0" err="1"/>
              <a:t>hiperparâmetros</a:t>
            </a:r>
            <a:r>
              <a:rPr lang="pt-BR" dirty="0"/>
              <a:t> </a:t>
            </a:r>
            <a:r>
              <a:rPr lang="pt-BR" b="1" dirty="0"/>
              <a:t>min_*</a:t>
            </a:r>
            <a:r>
              <a:rPr lang="pt-BR" dirty="0"/>
              <a:t> ou reduzir os </a:t>
            </a:r>
            <a:r>
              <a:rPr lang="pt-BR" dirty="0" err="1"/>
              <a:t>hiperparâmetros</a:t>
            </a:r>
            <a:r>
              <a:rPr lang="pt-BR" dirty="0"/>
              <a:t> </a:t>
            </a:r>
            <a:r>
              <a:rPr lang="pt-BR" b="1" dirty="0" err="1"/>
              <a:t>max</a:t>
            </a:r>
            <a:r>
              <a:rPr lang="pt-BR" b="1" dirty="0"/>
              <a:t>_*</a:t>
            </a:r>
            <a:r>
              <a:rPr lang="pt-BR" dirty="0"/>
              <a:t> regularizará o modelo.</a:t>
            </a:r>
          </a:p>
          <a:p>
            <a:r>
              <a:rPr lang="pt-BR" dirty="0"/>
              <a:t>Como encontramos os melhores valores para os </a:t>
            </a:r>
            <a:r>
              <a:rPr lang="pt-BR" dirty="0" err="1"/>
              <a:t>hiperparâmetros</a:t>
            </a:r>
            <a:r>
              <a:rPr lang="pt-BR" dirty="0"/>
              <a:t>?</a:t>
            </a:r>
          </a:p>
          <a:p>
            <a:pPr lvl="1">
              <a:buFont typeface="Wingdings" panose="05000000000000000000" pitchFamily="2" charset="2"/>
              <a:buChar char="§"/>
            </a:pPr>
            <a:r>
              <a:rPr lang="pt-BR" dirty="0"/>
              <a:t>Usando validação cruzada, por exemplo.</a:t>
            </a:r>
          </a:p>
          <a:p>
            <a:pPr lvl="1">
              <a:buFont typeface="Wingdings" panose="05000000000000000000" pitchFamily="2" charset="2"/>
              <a:buChar char="§"/>
            </a:pPr>
            <a:endParaRPr lang="pt-BR" dirty="0"/>
          </a:p>
        </p:txBody>
      </p:sp>
    </p:spTree>
    <p:extLst>
      <p:ext uri="{BB962C8B-B14F-4D97-AF65-F5344CB8AC3E}">
        <p14:creationId xmlns:p14="http://schemas.microsoft.com/office/powerpoint/2010/main" val="35480593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Diferenças entre ID3 e CART</a:t>
            </a:r>
          </a:p>
        </p:txBody>
      </p:sp>
      <p:graphicFrame>
        <p:nvGraphicFramePr>
          <p:cNvPr id="5" name="Espaço Reservado para Conteúdo 4"/>
          <p:cNvGraphicFramePr>
            <a:graphicFrameLocks noGrp="1"/>
          </p:cNvGraphicFramePr>
          <p:nvPr>
            <p:ph idx="1"/>
            <p:extLst>
              <p:ext uri="{D42A27DB-BD31-4B8C-83A1-F6EECF244321}">
                <p14:modId xmlns:p14="http://schemas.microsoft.com/office/powerpoint/2010/main" val="1485242945"/>
              </p:ext>
            </p:extLst>
          </p:nvPr>
        </p:nvGraphicFramePr>
        <p:xfrm>
          <a:off x="304800" y="1947545"/>
          <a:ext cx="11582400" cy="4602480"/>
        </p:xfrm>
        <a:graphic>
          <a:graphicData uri="http://schemas.openxmlformats.org/drawingml/2006/table">
            <a:tbl>
              <a:tblPr firstRow="1" bandRow="1">
                <a:tableStyleId>{2D5ABB26-0587-4C30-8999-92F81FD0307C}</a:tableStyleId>
              </a:tblPr>
              <a:tblGrid>
                <a:gridCol w="2057400">
                  <a:extLst>
                    <a:ext uri="{9D8B030D-6E8A-4147-A177-3AD203B41FA5}">
                      <a16:colId xmlns:a16="http://schemas.microsoft.com/office/drawing/2014/main" val="20000"/>
                    </a:ext>
                  </a:extLst>
                </a:gridCol>
                <a:gridCol w="467868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370840">
                <a:tc>
                  <a:txBody>
                    <a:bodyPr/>
                    <a:lstStyle/>
                    <a:p>
                      <a:pPr algn="ctr"/>
                      <a:r>
                        <a:rPr lang="pt-BR" sz="1900" b="1" dirty="0"/>
                        <a:t>Característica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pt-BR" sz="1900" b="1" dirty="0"/>
                        <a:t>ID3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900" b="1" dirty="0"/>
                        <a:t>CART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Tipo de problema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900" b="0" dirty="0"/>
                        <a:t>Apenas classificação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a:t>Classificação + regressão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Critério de divisão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a:t>Ganho</a:t>
                      </a:r>
                      <a:r>
                        <a:rPr lang="pt-BR" sz="1900" b="0" baseline="0" dirty="0"/>
                        <a:t> de informação</a:t>
                      </a:r>
                      <a:endParaRPr lang="pt-BR" sz="19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lgn="l">
                        <a:buFont typeface="Arial" panose="020B0604020202020204" pitchFamily="34" charset="0"/>
                        <a:buChar char="•"/>
                      </a:pPr>
                      <a:r>
                        <a:rPr lang="pt-BR" sz="1900" b="0" dirty="0"/>
                        <a:t>Classificação: </a:t>
                      </a:r>
                      <a:r>
                        <a:rPr lang="pt-BR" sz="1900" b="0" dirty="0" err="1"/>
                        <a:t>Gini</a:t>
                      </a:r>
                      <a:r>
                        <a:rPr lang="pt-BR" sz="1900" b="0" dirty="0"/>
                        <a:t> e entropia</a:t>
                      </a:r>
                    </a:p>
                    <a:p>
                      <a:pPr marL="285750" lvl="0" indent="-285750" algn="l">
                        <a:buFont typeface="Arial" panose="020B0604020202020204" pitchFamily="34" charset="0"/>
                        <a:buChar char="•"/>
                      </a:pPr>
                      <a:r>
                        <a:rPr lang="pt-BR" sz="1900" b="0" dirty="0"/>
                        <a:t>Regressão: EQM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Tipo de atributos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Funciona melhor com dados categóricos</a:t>
                      </a:r>
                    </a:p>
                    <a:p>
                      <a:pPr marL="285750" lvl="0" indent="-285750">
                        <a:buFont typeface="Arial" panose="020B0604020202020204" pitchFamily="34" charset="0"/>
                        <a:buChar char="•"/>
                      </a:pPr>
                      <a:r>
                        <a:rPr lang="pt-BR" sz="1900" b="0" dirty="0"/>
                        <a:t>Não lida bem com dados contínuos (quantização)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Lida naturalmente com:</a:t>
                      </a:r>
                    </a:p>
                    <a:p>
                      <a:pPr marL="742950" lvl="1" indent="-285750">
                        <a:buFont typeface="Wingdings" panose="05000000000000000000" pitchFamily="2" charset="2"/>
                        <a:buChar char="§"/>
                      </a:pPr>
                      <a:r>
                        <a:rPr lang="pt-BR" sz="1900" b="0" dirty="0"/>
                        <a:t>dados contínuos</a:t>
                      </a:r>
                    </a:p>
                    <a:p>
                      <a:pPr marL="742950" lvl="1" indent="-285750">
                        <a:buFont typeface="Wingdings" panose="05000000000000000000" pitchFamily="2" charset="2"/>
                        <a:buChar char="§"/>
                      </a:pPr>
                      <a:r>
                        <a:rPr lang="pt-BR" sz="1900" b="0" dirty="0"/>
                        <a:t>dados categóricos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Formato da árvore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Pode gerar múltiplos ramos</a:t>
                      </a:r>
                    </a:p>
                    <a:p>
                      <a:pPr marL="742950" lvl="1" indent="-285750">
                        <a:buFont typeface="Wingdings" panose="05000000000000000000" pitchFamily="2" charset="2"/>
                        <a:buChar char="§"/>
                      </a:pPr>
                      <a:r>
                        <a:rPr lang="pt-BR" sz="1900" b="0" dirty="0"/>
                        <a:t>Ex.:</a:t>
                      </a:r>
                      <a:r>
                        <a:rPr lang="pt-BR" sz="1900" b="0" baseline="0" dirty="0"/>
                        <a:t> </a:t>
                      </a:r>
                      <a:r>
                        <a:rPr lang="pt-BR" sz="1900" b="0" dirty="0"/>
                        <a:t>Cor = {vermelho, azul, verde} → 3 ramos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Sempre binária (2 ramos)</a:t>
                      </a:r>
                    </a:p>
                    <a:p>
                      <a:pPr marL="742950" lvl="1" indent="-285750">
                        <a:buFont typeface="Wingdings" panose="05000000000000000000" pitchFamily="2" charset="2"/>
                        <a:buChar char="§"/>
                      </a:pPr>
                      <a:r>
                        <a:rPr lang="pt-BR" sz="1900" b="0" dirty="0"/>
                        <a:t>Ex.:</a:t>
                      </a:r>
                      <a:r>
                        <a:rPr lang="pt-BR" sz="1900" b="0" baseline="0" dirty="0"/>
                        <a:t> </a:t>
                      </a:r>
                      <a:r>
                        <a:rPr lang="pt-BR" sz="1900" b="0" dirty="0"/>
                        <a:t>Cor ∈ {vermelho}? → sim/não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370840">
                <a:tc>
                  <a:txBody>
                    <a:bodyPr/>
                    <a:lstStyle/>
                    <a:p>
                      <a:pPr algn="ctr"/>
                      <a:r>
                        <a:rPr lang="pt-BR" sz="1900" b="0" dirty="0"/>
                        <a:t>Repete atributo?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a:t>Não repete atributo no mesmo caminho (raiz → folha)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indent="-285750">
                        <a:buFont typeface="Arial" panose="020B0604020202020204" pitchFamily="34" charset="0"/>
                        <a:buChar char="•"/>
                      </a:pPr>
                      <a:r>
                        <a:rPr lang="pt-BR" sz="1900" b="0" dirty="0"/>
                        <a:t>Pode repetir atributo várias vezes no mesmo caminho</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900" b="0" dirty="0"/>
                        <a:t>A cada divisão, todos os atributos são testados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78418201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árvores_de_decisão.ipynb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20933254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hlinkClick r:id="rId2"/>
              </a:rPr>
              <a:t>Lista #12 – </a:t>
            </a:r>
            <a:r>
              <a:rPr lang="en-US" dirty="0" err="1">
                <a:hlinkClick r:id="rId2"/>
              </a:rPr>
              <a:t>Árvores</a:t>
            </a:r>
            <a:r>
              <a:rPr lang="en-US" dirty="0">
                <a:hlinkClick r:id="rId2"/>
              </a:rPr>
              <a:t> de </a:t>
            </a:r>
            <a:r>
              <a:rPr lang="en-US" dirty="0" err="1">
                <a:hlinkClick r:id="rId2"/>
              </a:rPr>
              <a:t>decisão</a:t>
            </a:r>
            <a:endParaRPr lang="en-US" dirty="0"/>
          </a:p>
        </p:txBody>
      </p:sp>
    </p:spTree>
    <p:extLst>
      <p:ext uri="{BB962C8B-B14F-4D97-AF65-F5344CB8AC3E}">
        <p14:creationId xmlns:p14="http://schemas.microsoft.com/office/powerpoint/2010/main" val="239205311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 Cálculo da entropia para mais de duas classes </a:t>
            </a:r>
          </a:p>
        </p:txBody>
      </p:sp>
    </p:spTree>
    <p:extLst>
      <p:ext uri="{BB962C8B-B14F-4D97-AF65-F5344CB8AC3E}">
        <p14:creationId xmlns:p14="http://schemas.microsoft.com/office/powerpoint/2010/main" val="19190175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756336735"/>
              </p:ext>
            </p:extLst>
          </p:nvPr>
        </p:nvGraphicFramePr>
        <p:xfrm>
          <a:off x="9206674" y="1652214"/>
          <a:ext cx="2857500" cy="150876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tblGrid>
              <a:tr h="200025">
                <a:tc gridSpan="2">
                  <a:txBody>
                    <a:bodyPr/>
                    <a:lstStyle/>
                    <a:p>
                      <a:pPr algn="ctr" rtl="0" fontAlgn="b"/>
                      <a:r>
                        <a:rPr lang="pt-BR" sz="1400" b="1" dirty="0">
                          <a:effectLst/>
                        </a:rPr>
                        <a:t>Atributos</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a:txBody>
                    <a:bodyPr/>
                    <a:lstStyle/>
                    <a:p>
                      <a:pPr algn="ctr" rtl="0" fontAlgn="b"/>
                      <a:r>
                        <a:rPr lang="pt-BR" sz="1400" b="1">
                          <a:effectLst/>
                        </a:rPr>
                        <a:t>Rótulos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r>
                        <a:rPr lang="pt-BR" sz="1400" b="1">
                          <a:effectLst/>
                        </a:rPr>
                        <a:t>x1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x2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Classe (y)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200025">
                <a:tc>
                  <a:txBody>
                    <a:bodyPr/>
                    <a:lstStyle/>
                    <a:p>
                      <a:pPr algn="ctr" rtl="0" fontAlgn="b"/>
                      <a:r>
                        <a:rPr lang="pt-BR" sz="1400">
                          <a:effectLst/>
                        </a:rPr>
                        <a:t>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mc:AlternateContent xmlns:mc="http://schemas.openxmlformats.org/markup-compatibility/2006" xmlns:a14="http://schemas.microsoft.com/office/drawing/2010/main">
        <mc:Choice Requires="a14">
          <p:sp>
            <p:nvSpPr>
              <p:cNvPr id="6" name="Rectangle 5"/>
              <p:cNvSpPr/>
              <p:nvPr/>
            </p:nvSpPr>
            <p:spPr>
              <a:xfrm>
                <a:off x="813846" y="1357783"/>
                <a:ext cx="8392828" cy="3761671"/>
              </a:xfrm>
              <a:prstGeom prst="rect">
                <a:avLst/>
              </a:prstGeom>
            </p:spPr>
            <p:txBody>
              <a:bodyPr wrap="square">
                <a:spAutoFit/>
              </a:bodyPr>
              <a:lstStyle/>
              <a:p>
                <a:pPr marL="285750" indent="-285750">
                  <a:buFont typeface="Arial" panose="020B0604020202020204" pitchFamily="34" charset="0"/>
                  <a:buChar char="•"/>
                </a:pPr>
                <a:r>
                  <a:rPr lang="pt-BR" dirty="0"/>
                  <a:t>Veja a tabela ao lado com os exemplos de treinamento.</a:t>
                </a:r>
              </a:p>
              <a:p>
                <a:pPr marL="285750" indent="-285750">
                  <a:buFont typeface="Arial" panose="020B0604020202020204" pitchFamily="34" charset="0"/>
                  <a:buChar char="•"/>
                </a:pPr>
                <a:r>
                  <a:rPr lang="pt-BR" dirty="0"/>
                  <a:t>Problema com três classes: 0, 1, e 2. Portanto, o cálculo da entropia terá três termos.</a:t>
                </a:r>
              </a:p>
              <a:p>
                <a:pPr marL="285750" indent="-285750">
                  <a:buFont typeface="Arial" panose="020B0604020202020204" pitchFamily="34" charset="0"/>
                  <a:buChar char="•"/>
                </a:pPr>
                <a:r>
                  <a:rPr lang="pt-BR" dirty="0"/>
                  <a:t>A </a:t>
                </a:r>
                <a:r>
                  <a:rPr lang="pt-BR" b="1" i="1" dirty="0"/>
                  <a:t>entropia</a:t>
                </a:r>
                <a:r>
                  <a:rPr lang="pt-BR" dirty="0"/>
                  <a:t> do objetivo, i.e., </a:t>
                </a:r>
                <a14:m>
                  <m:oMath xmlns:m="http://schemas.openxmlformats.org/officeDocument/2006/math">
                    <m:r>
                      <a:rPr lang="pt-BR" i="1">
                        <a:latin typeface="Cambria Math" panose="02040503050406030204" pitchFamily="18" charset="0"/>
                      </a:rPr>
                      <m:t>𝑦</m:t>
                    </m:r>
                  </m:oMath>
                </a14:m>
                <a:r>
                  <a:rPr lang="pt-BR" dirty="0"/>
                  <a:t>, para o conjunto de treinamento é</a:t>
                </a:r>
              </a:p>
              <a:p>
                <a:pPr algn="ct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e>
                              </m:d>
                            </m:e>
                          </m:func>
                          <m:r>
                            <a:rPr lang="pt-BR" i="1">
                              <a:latin typeface="Cambria Math" panose="02040503050406030204" pitchFamily="18" charset="0"/>
                            </a:rPr>
                            <m:t>+</m:t>
                          </m:r>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r>
                                <a:rPr lang="pt-BR" b="0" i="1" smtClean="0">
                                  <a:latin typeface="Cambria Math" panose="02040503050406030204" pitchFamily="18" charset="0"/>
                                </a:rPr>
                                <m:t>+</m:t>
                              </m:r>
                            </m:e>
                          </m:func>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e>
                          </m:func>
                        </m:e>
                      </m:d>
                      <m:r>
                        <a:rPr lang="pt-BR">
                          <a:latin typeface="Cambria Math" panose="02040503050406030204" pitchFamily="18" charset="0"/>
                        </a:rPr>
                        <m:t>=</m:t>
                      </m:r>
                      <m:r>
                        <a:rPr lang="pt-BR" b="0" i="0" smtClean="0">
                          <a:latin typeface="Cambria Math" panose="02040503050406030204" pitchFamily="18" charset="0"/>
                        </a:rPr>
                        <m:t>1.5</m:t>
                      </m:r>
                    </m:oMath>
                  </m:oMathPara>
                </a14:m>
                <a:endParaRPr lang="pt-BR" dirty="0"/>
              </a:p>
              <a:p>
                <a:pPr marL="285750" indent="-285750">
                  <a:buFont typeface="Arial" panose="020B0604020202020204" pitchFamily="34" charset="0"/>
                  <a:buChar char="•"/>
                </a:pPr>
                <a:r>
                  <a:rPr lang="pt-BR" dirty="0"/>
                  <a:t>Separando os atributos em tabelas separadas, temos</a:t>
                </a:r>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r>
                  <a:rPr lang="pt-BR" dirty="0"/>
                  <a:t>O </a:t>
                </a:r>
                <a:r>
                  <a:rPr lang="pt-BR" b="1" i="1" dirty="0"/>
                  <a:t>ganho de informação</a:t>
                </a:r>
                <a:r>
                  <a:rPr lang="pt-BR" dirty="0"/>
                  <a:t> de cada atributo é calculado como:</a:t>
                </a:r>
              </a:p>
            </p:txBody>
          </p:sp>
        </mc:Choice>
        <mc:Fallback xmlns="">
          <p:sp>
            <p:nvSpPr>
              <p:cNvPr id="6" name="Rectangle 5"/>
              <p:cNvSpPr>
                <a:spLocks noRot="1" noChangeAspect="1" noMove="1" noResize="1" noEditPoints="1" noAdjustHandles="1" noChangeArrowheads="1" noChangeShapeType="1" noTextEdit="1"/>
              </p:cNvSpPr>
              <p:nvPr/>
            </p:nvSpPr>
            <p:spPr>
              <a:xfrm>
                <a:off x="813846" y="1357783"/>
                <a:ext cx="8392828" cy="3761671"/>
              </a:xfrm>
              <a:prstGeom prst="rect">
                <a:avLst/>
              </a:prstGeom>
              <a:blipFill rotWithShape="0">
                <a:blip r:embed="rId2"/>
                <a:stretch>
                  <a:fillRect l="-509" t="-972" r="-73" b="-1621"/>
                </a:stretch>
              </a:blipFill>
            </p:spPr>
            <p:txBody>
              <a:bodyPr/>
              <a:lstStyle/>
              <a:p>
                <a:r>
                  <a:rPr lang="pt-BR">
                    <a:noFill/>
                  </a:rPr>
                  <a:t> </a:t>
                </a:r>
              </a:p>
            </p:txBody>
          </p:sp>
        </mc:Fallback>
      </mc:AlternateContent>
      <p:graphicFrame>
        <p:nvGraphicFramePr>
          <p:cNvPr id="8" name="Table 7"/>
          <p:cNvGraphicFramePr>
            <a:graphicFrameLocks noGrp="1"/>
          </p:cNvGraphicFramePr>
          <p:nvPr>
            <p:extLst>
              <p:ext uri="{D42A27DB-BD31-4B8C-83A1-F6EECF244321}">
                <p14:modId xmlns:p14="http://schemas.microsoft.com/office/powerpoint/2010/main" val="324001996"/>
              </p:ext>
            </p:extLst>
          </p:nvPr>
        </p:nvGraphicFramePr>
        <p:xfrm>
          <a:off x="2569678" y="3181044"/>
          <a:ext cx="1889044" cy="1508760"/>
        </p:xfrm>
        <a:graphic>
          <a:graphicData uri="http://schemas.openxmlformats.org/drawingml/2006/table">
            <a:tbl>
              <a:tblPr/>
              <a:tblGrid>
                <a:gridCol w="542709">
                  <a:extLst>
                    <a:ext uri="{9D8B030D-6E8A-4147-A177-3AD203B41FA5}">
                      <a16:colId xmlns:a16="http://schemas.microsoft.com/office/drawing/2014/main" val="20000"/>
                    </a:ext>
                  </a:extLst>
                </a:gridCol>
                <a:gridCol w="219171">
                  <a:extLst>
                    <a:ext uri="{9D8B030D-6E8A-4147-A177-3AD203B41FA5}">
                      <a16:colId xmlns:a16="http://schemas.microsoft.com/office/drawing/2014/main" val="20001"/>
                    </a:ext>
                  </a:extLst>
                </a:gridCol>
                <a:gridCol w="313101">
                  <a:extLst>
                    <a:ext uri="{9D8B030D-6E8A-4147-A177-3AD203B41FA5}">
                      <a16:colId xmlns:a16="http://schemas.microsoft.com/office/drawing/2014/main" val="20002"/>
                    </a:ext>
                  </a:extLst>
                </a:gridCol>
                <a:gridCol w="281791">
                  <a:extLst>
                    <a:ext uri="{9D8B030D-6E8A-4147-A177-3AD203B41FA5}">
                      <a16:colId xmlns:a16="http://schemas.microsoft.com/office/drawing/2014/main" val="20003"/>
                    </a:ext>
                  </a:extLst>
                </a:gridCol>
                <a:gridCol w="313101">
                  <a:extLst>
                    <a:ext uri="{9D8B030D-6E8A-4147-A177-3AD203B41FA5}">
                      <a16:colId xmlns:a16="http://schemas.microsoft.com/office/drawing/2014/main" val="20004"/>
                    </a:ext>
                  </a:extLst>
                </a:gridCol>
                <a:gridCol w="21917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285340041"/>
              </p:ext>
            </p:extLst>
          </p:nvPr>
        </p:nvGraphicFramePr>
        <p:xfrm>
          <a:off x="7047674" y="3181044"/>
          <a:ext cx="1639125" cy="1257300"/>
        </p:xfrm>
        <a:graphic>
          <a:graphicData uri="http://schemas.openxmlformats.org/drawingml/2006/table">
            <a:tbl>
              <a:tblPr/>
              <a:tblGrid>
                <a:gridCol w="313671">
                  <a:extLst>
                    <a:ext uri="{9D8B030D-6E8A-4147-A177-3AD203B41FA5}">
                      <a16:colId xmlns:a16="http://schemas.microsoft.com/office/drawing/2014/main" val="20000"/>
                    </a:ext>
                  </a:extLst>
                </a:gridCol>
                <a:gridCol w="209114">
                  <a:extLst>
                    <a:ext uri="{9D8B030D-6E8A-4147-A177-3AD203B41FA5}">
                      <a16:colId xmlns:a16="http://schemas.microsoft.com/office/drawing/2014/main" val="20001"/>
                    </a:ext>
                  </a:extLst>
                </a:gridCol>
                <a:gridCol w="298734">
                  <a:extLst>
                    <a:ext uri="{9D8B030D-6E8A-4147-A177-3AD203B41FA5}">
                      <a16:colId xmlns:a16="http://schemas.microsoft.com/office/drawing/2014/main" val="20002"/>
                    </a:ext>
                  </a:extLst>
                </a:gridCol>
                <a:gridCol w="268861">
                  <a:extLst>
                    <a:ext uri="{9D8B030D-6E8A-4147-A177-3AD203B41FA5}">
                      <a16:colId xmlns:a16="http://schemas.microsoft.com/office/drawing/2014/main" val="20003"/>
                    </a:ext>
                  </a:extLst>
                </a:gridCol>
                <a:gridCol w="298734">
                  <a:extLst>
                    <a:ext uri="{9D8B030D-6E8A-4147-A177-3AD203B41FA5}">
                      <a16:colId xmlns:a16="http://schemas.microsoft.com/office/drawing/2014/main" val="20004"/>
                    </a:ext>
                  </a:extLst>
                </a:gridCol>
                <a:gridCol w="25001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13846" y="5146201"/>
                <a:ext cx="11167946" cy="1149033"/>
              </a:xfrm>
              <a:prstGeom prst="rect">
                <a:avLst/>
              </a:prstGeom>
            </p:spPr>
            <p:txBody>
              <a:bodyPr wrap="square">
                <a:spAutoFit/>
              </a:bodyPr>
              <a:lstStyle/>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𝟏</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𝟐</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13846" y="5146201"/>
                <a:ext cx="11167946" cy="1149033"/>
              </a:xfrm>
              <a:prstGeom prst="rect">
                <a:avLst/>
              </a:prstGeom>
              <a:blipFill rotWithShape="0">
                <a:blip r:embed="rId3"/>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65675998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38200" y="1559721"/>
                <a:ext cx="10114280" cy="4593373"/>
              </a:xfrm>
              <a:prstGeom prst="rect">
                <a:avLst/>
              </a:prstGeom>
            </p:spPr>
            <p:txBody>
              <a:bodyPr wrap="square">
                <a:spAutoFit/>
              </a:bodyPr>
              <a:lstStyle/>
              <a:p>
                <a:r>
                  <a:rPr lang="pt-BR" dirty="0"/>
                  <a:t>Como exemplo do cálculo da entropia, vejamos como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oMath>
                </a14:m>
                <a:r>
                  <a:rPr lang="pt-BR" dirty="0"/>
                  <a:t> deve ser calculado.</a:t>
                </a:r>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2</m:t>
                          </m:r>
                        </m:sup>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e>
                          </m:d>
                        </m:e>
                      </m:nary>
                    </m:oMath>
                  </m:oMathPara>
                </a14:m>
                <a:endParaRPr lang="pt-BR" b="0" i="1" dirty="0">
                  <a:latin typeface="Cambria Math" panose="02040503050406030204" pitchFamily="18" charset="0"/>
                </a:endParaRPr>
              </a:p>
              <a:p>
                <a:r>
                  <a:rPr lang="pt-BR" i="1" dirty="0">
                    <a:latin typeface="Cambria Math" panose="02040503050406030204" pitchFamily="18" charset="0"/>
                  </a:rPr>
                  <a:t>                      </a:t>
                </a:r>
                <a14:m>
                  <m:oMath xmlns:m="http://schemas.openxmlformats.org/officeDocument/2006/math">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e>
                        </m:d>
                      </m:e>
                    </m:d>
                  </m:oMath>
                </a14:m>
                <a:endParaRPr lang="pt-BR" dirty="0"/>
              </a:p>
              <a:p>
                <a:endParaRPr lang="pt-BR" i="1" dirty="0">
                  <a:latin typeface="Cambria Math" panose="02040503050406030204" pitchFamily="18" charset="0"/>
                </a:endParaRPr>
              </a:p>
              <a:p>
                <a:r>
                  <a:rPr lang="pt-BR" dirty="0"/>
                  <a:t>Assim, os ganhos de informação para </a:t>
                </a:r>
                <a14:m>
                  <m:oMath xmlns:m="http://schemas.openxmlformats.org/officeDocument/2006/math">
                    <m:r>
                      <a:rPr lang="pt-BR" i="1">
                        <a:latin typeface="Cambria Math" panose="02040503050406030204" pitchFamily="18" charset="0"/>
                      </a:rPr>
                      <m:t>𝑥</m:t>
                    </m:r>
                    <m:r>
                      <a:rPr lang="pt-BR" b="0" i="1" smtClean="0">
                        <a:latin typeface="Cambria Math" panose="02040503050406030204" pitchFamily="18" charset="0"/>
                      </a:rPr>
                      <m:t>1</m:t>
                    </m:r>
                  </m:oMath>
                </a14:m>
                <a:r>
                  <a:rPr lang="pt-BR" dirty="0"/>
                  <a:t> 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2</m:t>
                    </m:r>
                  </m:oMath>
                </a14:m>
                <a:r>
                  <a:rPr lang="pt-BR" dirty="0"/>
                  <a:t> são calculados como</a:t>
                </a:r>
              </a:p>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2</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38200" y="1559721"/>
                <a:ext cx="10114280" cy="4593373"/>
              </a:xfrm>
              <a:prstGeom prst="rect">
                <a:avLst/>
              </a:prstGeom>
              <a:blipFill rotWithShape="0">
                <a:blip r:embed="rId2"/>
                <a:stretch>
                  <a:fillRect l="-542" t="-797"/>
                </a:stretch>
              </a:blipFill>
            </p:spPr>
            <p:txBody>
              <a:bodyPr/>
              <a:lstStyle/>
              <a:p>
                <a:r>
                  <a:rPr lang="pt-BR">
                    <a:noFill/>
                  </a:rPr>
                  <a:t> </a:t>
                </a:r>
              </a:p>
            </p:txBody>
          </p:sp>
        </mc:Fallback>
      </mc:AlternateContent>
      <p:graphicFrame>
        <p:nvGraphicFramePr>
          <p:cNvPr id="12" name="Table 11"/>
          <p:cNvGraphicFramePr>
            <a:graphicFrameLocks noGrp="1"/>
          </p:cNvGraphicFramePr>
          <p:nvPr>
            <p:extLst>
              <p:ext uri="{D42A27DB-BD31-4B8C-83A1-F6EECF244321}">
                <p14:modId xmlns:p14="http://schemas.microsoft.com/office/powerpoint/2010/main" val="3832965006"/>
              </p:ext>
            </p:extLst>
          </p:nvPr>
        </p:nvGraphicFramePr>
        <p:xfrm>
          <a:off x="10214668" y="3731337"/>
          <a:ext cx="1889044" cy="1508760"/>
        </p:xfrm>
        <a:graphic>
          <a:graphicData uri="http://schemas.openxmlformats.org/drawingml/2006/table">
            <a:tbl>
              <a:tblPr/>
              <a:tblGrid>
                <a:gridCol w="542709">
                  <a:extLst>
                    <a:ext uri="{9D8B030D-6E8A-4147-A177-3AD203B41FA5}">
                      <a16:colId xmlns:a16="http://schemas.microsoft.com/office/drawing/2014/main" val="20000"/>
                    </a:ext>
                  </a:extLst>
                </a:gridCol>
                <a:gridCol w="219171">
                  <a:extLst>
                    <a:ext uri="{9D8B030D-6E8A-4147-A177-3AD203B41FA5}">
                      <a16:colId xmlns:a16="http://schemas.microsoft.com/office/drawing/2014/main" val="20001"/>
                    </a:ext>
                  </a:extLst>
                </a:gridCol>
                <a:gridCol w="313101">
                  <a:extLst>
                    <a:ext uri="{9D8B030D-6E8A-4147-A177-3AD203B41FA5}">
                      <a16:colId xmlns:a16="http://schemas.microsoft.com/office/drawing/2014/main" val="20002"/>
                    </a:ext>
                  </a:extLst>
                </a:gridCol>
                <a:gridCol w="281791">
                  <a:extLst>
                    <a:ext uri="{9D8B030D-6E8A-4147-A177-3AD203B41FA5}">
                      <a16:colId xmlns:a16="http://schemas.microsoft.com/office/drawing/2014/main" val="20003"/>
                    </a:ext>
                  </a:extLst>
                </a:gridCol>
                <a:gridCol w="313101">
                  <a:extLst>
                    <a:ext uri="{9D8B030D-6E8A-4147-A177-3AD203B41FA5}">
                      <a16:colId xmlns:a16="http://schemas.microsoft.com/office/drawing/2014/main" val="20004"/>
                    </a:ext>
                  </a:extLst>
                </a:gridCol>
                <a:gridCol w="21917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3247778567"/>
              </p:ext>
            </p:extLst>
          </p:nvPr>
        </p:nvGraphicFramePr>
        <p:xfrm>
          <a:off x="10214668" y="5524444"/>
          <a:ext cx="1669607" cy="1257300"/>
        </p:xfrm>
        <a:graphic>
          <a:graphicData uri="http://schemas.openxmlformats.org/drawingml/2006/table">
            <a:tbl>
              <a:tblPr/>
              <a:tblGrid>
                <a:gridCol w="319503">
                  <a:extLst>
                    <a:ext uri="{9D8B030D-6E8A-4147-A177-3AD203B41FA5}">
                      <a16:colId xmlns:a16="http://schemas.microsoft.com/office/drawing/2014/main" val="20000"/>
                    </a:ext>
                  </a:extLst>
                </a:gridCol>
                <a:gridCol w="213002">
                  <a:extLst>
                    <a:ext uri="{9D8B030D-6E8A-4147-A177-3AD203B41FA5}">
                      <a16:colId xmlns:a16="http://schemas.microsoft.com/office/drawing/2014/main" val="20001"/>
                    </a:ext>
                  </a:extLst>
                </a:gridCol>
                <a:gridCol w="304290">
                  <a:extLst>
                    <a:ext uri="{9D8B030D-6E8A-4147-A177-3AD203B41FA5}">
                      <a16:colId xmlns:a16="http://schemas.microsoft.com/office/drawing/2014/main" val="20002"/>
                    </a:ext>
                  </a:extLst>
                </a:gridCol>
                <a:gridCol w="273861">
                  <a:extLst>
                    <a:ext uri="{9D8B030D-6E8A-4147-A177-3AD203B41FA5}">
                      <a16:colId xmlns:a16="http://schemas.microsoft.com/office/drawing/2014/main" val="20003"/>
                    </a:ext>
                  </a:extLst>
                </a:gridCol>
                <a:gridCol w="304290">
                  <a:extLst>
                    <a:ext uri="{9D8B030D-6E8A-4147-A177-3AD203B41FA5}">
                      <a16:colId xmlns:a16="http://schemas.microsoft.com/office/drawing/2014/main" val="20004"/>
                    </a:ext>
                  </a:extLst>
                </a:gridCol>
                <a:gridCol w="25466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2" name="Rectangle 1"/>
              <p:cNvSpPr/>
              <p:nvPr/>
            </p:nvSpPr>
            <p:spPr>
              <a:xfrm>
                <a:off x="10113068" y="1251420"/>
                <a:ext cx="2033121" cy="1200329"/>
              </a:xfrm>
              <a:prstGeom prst="rect">
                <a:avLst/>
              </a:prstGeom>
            </p:spPr>
            <p:txBody>
              <a:bodyPr wrap="none">
                <a:spAutoFit/>
              </a:bodyPr>
              <a:lstStyle/>
              <a:p>
                <a:r>
                  <a:rPr lang="pt-BR" b="1" dirty="0"/>
                  <a:t>Obs.:</a:t>
                </a:r>
              </a:p>
              <a:p>
                <a:pPr marL="285750" indent="-285750">
                  <a:buFont typeface="Arial" panose="020B0604020202020204" pitchFamily="34" charset="0"/>
                  <a:buChar char="•"/>
                </a:pPr>
                <a14:m>
                  <m:oMath xmlns:m="http://schemas.openxmlformats.org/officeDocument/2006/math">
                    <m:r>
                      <a:rPr lang="pt-BR" i="1" smtClean="0">
                        <a:latin typeface="Cambria Math" panose="02040503050406030204" pitchFamily="18" charset="0"/>
                      </a:rPr>
                      <m:t>𝐻</m:t>
                    </m:r>
                    <m:d>
                      <m:dPr>
                        <m:ctrlPr>
                          <a:rPr lang="pt-BR" i="1">
                            <a:latin typeface="Cambria Math" panose="02040503050406030204" pitchFamily="18" charset="0"/>
                          </a:rPr>
                        </m:ctrlPr>
                      </m:dPr>
                      <m:e>
                        <m:r>
                          <a:rPr lang="pt-BR" b="0" i="1" smtClean="0">
                            <a:latin typeface="Cambria Math" panose="02040503050406030204" pitchFamily="18" charset="0"/>
                          </a:rPr>
                          <m:t>0</m:t>
                        </m:r>
                      </m:e>
                    </m:d>
                    <m:r>
                      <a:rPr lang="pt-BR" b="0" i="1" smtClean="0">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b="0" i="1" smtClean="0">
                        <a:latin typeface="Cambria Math" panose="02040503050406030204" pitchFamily="18" charset="0"/>
                      </a:rPr>
                      <m:t>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b="0" i="1" smtClean="0">
                            <a:latin typeface="Cambria Math" panose="02040503050406030204" pitchFamily="18" charset="0"/>
                          </a:rPr>
                        </m:ctrlPr>
                      </m:dPr>
                      <m:e>
                        <m:r>
                          <a:rPr lang="pt-BR" b="0" i="0" smtClean="0">
                            <a:latin typeface="Cambria Math" panose="02040503050406030204" pitchFamily="18" charset="0"/>
                          </a:rPr>
                          <m:t>0</m:t>
                        </m:r>
                      </m:e>
                    </m:d>
                    <m:r>
                      <a:rPr lang="pt-BR" b="0" i="0" smtClean="0">
                        <a:latin typeface="Cambria Math" panose="02040503050406030204" pitchFamily="18" charset="0"/>
                      </a:rPr>
                      <m:t>=0</m:t>
                    </m:r>
                  </m:oMath>
                </a14:m>
                <a:endParaRPr lang="pt-BR" dirty="0"/>
              </a:p>
            </p:txBody>
          </p:sp>
        </mc:Choice>
        <mc:Fallback xmlns="">
          <p:sp>
            <p:nvSpPr>
              <p:cNvPr id="2" name="Rectangle 1"/>
              <p:cNvSpPr>
                <a:spLocks noRot="1" noChangeAspect="1" noMove="1" noResize="1" noEditPoints="1" noAdjustHandles="1" noChangeArrowheads="1" noChangeShapeType="1" noTextEdit="1"/>
              </p:cNvSpPr>
              <p:nvPr/>
            </p:nvSpPr>
            <p:spPr>
              <a:xfrm>
                <a:off x="10113068" y="1251420"/>
                <a:ext cx="2033121" cy="1200329"/>
              </a:xfrm>
              <a:prstGeom prst="rect">
                <a:avLst/>
              </a:prstGeom>
              <a:blipFill rotWithShape="0">
                <a:blip r:embed="rId3"/>
                <a:stretch>
                  <a:fillRect l="-2703" t="-2538" b="-5076"/>
                </a:stretch>
              </a:blipFill>
            </p:spPr>
            <p:txBody>
              <a:bodyPr/>
              <a:lstStyle/>
              <a:p>
                <a:r>
                  <a:rPr lang="pt-BR">
                    <a:noFill/>
                  </a:rPr>
                  <a:t> </a:t>
                </a:r>
              </a:p>
            </p:txBody>
          </p:sp>
        </mc:Fallback>
      </mc:AlternateContent>
    </p:spTree>
    <p:extLst>
      <p:ext uri="{BB962C8B-B14F-4D97-AF65-F5344CB8AC3E}">
        <p14:creationId xmlns:p14="http://schemas.microsoft.com/office/powerpoint/2010/main" val="131060362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II: Qual a entropia de 0?</a:t>
            </a:r>
          </a:p>
        </p:txBody>
      </p:sp>
    </p:spTree>
    <p:extLst>
      <p:ext uri="{BB962C8B-B14F-4D97-AF65-F5344CB8AC3E}">
        <p14:creationId xmlns:p14="http://schemas.microsoft.com/office/powerpoint/2010/main" val="421628426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4A157A-34F9-C79E-4D57-B4052B1AF696}"/>
              </a:ext>
            </a:extLst>
          </p:cNvPr>
          <p:cNvSpPr>
            <a:spLocks noGrp="1"/>
          </p:cNvSpPr>
          <p:nvPr>
            <p:ph type="title"/>
          </p:nvPr>
        </p:nvSpPr>
        <p:spPr/>
        <p:txBody>
          <a:bodyPr/>
          <a:lstStyle/>
          <a:p>
            <a:r>
              <a:rPr lang="pt-BR" dirty="0"/>
              <a:t>Qual a entropia de 0?</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374A8A0-1621-F766-7EF1-2A3055D2CB1E}"/>
                  </a:ext>
                </a:extLst>
              </p:cNvPr>
              <p:cNvSpPr>
                <a:spLocks noGrp="1"/>
              </p:cNvSpPr>
              <p:nvPr>
                <p:ph idx="1"/>
              </p:nvPr>
            </p:nvSpPr>
            <p:spPr>
              <a:xfrm>
                <a:off x="838200" y="1825624"/>
                <a:ext cx="11170920" cy="5032376"/>
              </a:xfrm>
            </p:spPr>
            <p:txBody>
              <a:bodyPr>
                <a:normAutofit lnSpcReduction="10000"/>
              </a:bodyPr>
              <a:lstStyle/>
              <a:p>
                <a:r>
                  <a:rPr lang="pt-BR" dirty="0"/>
                  <a:t>À primeira vista, pode parecer que </a:t>
                </a:r>
                <a14:m>
                  <m:oMath xmlns:m="http://schemas.openxmlformats.org/officeDocument/2006/math">
                    <m:r>
                      <a:rPr lang="pt-BR" i="1">
                        <a:latin typeface="Cambria Math" panose="02040503050406030204" pitchFamily="18" charset="0"/>
                      </a:rPr>
                      <m:t>−</m:t>
                    </m:r>
                    <m:r>
                      <a:rPr lang="pt-BR" i="1">
                        <a:latin typeface="Cambria Math" panose="02040503050406030204" pitchFamily="18" charset="0"/>
                      </a:rPr>
                      <m:t>𝑥</m:t>
                    </m:r>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 </m:t>
                    </m:r>
                  </m:oMath>
                </a14:m>
                <a:r>
                  <a:rPr lang="pt-BR" dirty="0"/>
                  <a:t>é um valor indeterminado, pois resulta em </a:t>
                </a:r>
                <a14:m>
                  <m:oMath xmlns:m="http://schemas.openxmlformats.org/officeDocument/2006/math">
                    <m:r>
                      <a:rPr lang="pt-BR" b="0" i="1" smtClean="0">
                        <a:latin typeface="Cambria Math" panose="02040503050406030204" pitchFamily="18" charset="0"/>
                      </a:rPr>
                      <m:t>0</m:t>
                    </m:r>
                    <m:r>
                      <a:rPr lang="pt-BR" b="0" i="1" smtClean="0">
                        <a:latin typeface="Cambria Math" panose="02040503050406030204" pitchFamily="18" charset="0"/>
                        <a:ea typeface="Cambria Math" panose="02040503050406030204" pitchFamily="18" charset="0"/>
                      </a:rPr>
                      <m:t>×−∞</m:t>
                    </m:r>
                  </m:oMath>
                </a14:m>
                <a:r>
                  <a:rPr lang="pt-BR" dirty="0"/>
                  <a:t>. Porém, se fizermos uma pequena modificação na equação:</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m:t>
                      </m:r>
                      <m:r>
                        <a:rPr lang="pt-BR" b="0" i="1" smtClean="0">
                          <a:latin typeface="Cambria Math" panose="02040503050406030204" pitchFamily="18" charset="0"/>
                        </a:rPr>
                        <m:t>𝑥</m:t>
                      </m:r>
                      <m:func>
                        <m:funcPr>
                          <m:ctrlPr>
                            <a:rPr lang="pt-BR" b="0" i="1" smtClean="0">
                              <a:latin typeface="Cambria Math" panose="02040503050406030204" pitchFamily="18" charset="0"/>
                            </a:rPr>
                          </m:ctrlPr>
                        </m:funcPr>
                        <m:fName>
                          <m:sSub>
                            <m:sSubPr>
                              <m:ctrlPr>
                                <a:rPr lang="pt-BR" b="0" i="1" smtClean="0">
                                  <a:latin typeface="Cambria Math" panose="02040503050406030204" pitchFamily="18" charset="0"/>
                                </a:rPr>
                              </m:ctrlPr>
                            </m:sSubPr>
                            <m:e>
                              <m:r>
                                <m:rPr>
                                  <m:sty m:val="p"/>
                                </m:rPr>
                                <a:rPr lang="pt-BR" b="0"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func>
                      <m:r>
                        <a:rPr lang="pt-BR" b="0" i="1" smtClean="0">
                          <a:latin typeface="Cambria Math" panose="02040503050406030204" pitchFamily="18" charset="0"/>
                        </a:rPr>
                        <m:t>=−</m:t>
                      </m:r>
                      <m:f>
                        <m:fPr>
                          <m:ctrlPr>
                            <a:rPr lang="pt-BR" b="0" i="1" smtClean="0">
                              <a:latin typeface="Cambria Math" panose="02040503050406030204" pitchFamily="18" charset="0"/>
                            </a:rPr>
                          </m:ctrlPr>
                        </m:fPr>
                        <m:num>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num>
                        <m:den>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𝑥</m:t>
                              </m:r>
                            </m:den>
                          </m:f>
                        </m:den>
                      </m:f>
                      <m:r>
                        <a:rPr lang="pt-BR" b="0" i="1" smtClean="0">
                          <a:latin typeface="Cambria Math" panose="02040503050406030204" pitchFamily="18" charset="0"/>
                        </a:rPr>
                        <m:t>.</m:t>
                      </m:r>
                    </m:oMath>
                  </m:oMathPara>
                </a14:m>
                <a:endParaRPr lang="pt-BR" dirty="0"/>
              </a:p>
              <a:p>
                <a:pPr marL="0" indent="0">
                  <a:buNone/>
                </a:pPr>
                <a:r>
                  <a:rPr lang="pt-BR" dirty="0"/>
                  <a:t>e, na sequência, aplicarmos a regra de </a:t>
                </a:r>
                <a:r>
                  <a:rPr lang="pt-BR" dirty="0" err="1"/>
                  <a:t>L’Hôpital</a:t>
                </a:r>
                <a:r>
                  <a:rPr lang="pt-BR" dirty="0"/>
                  <a:t>, conseguimos encontrar o valor quando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m:t>
                    </m:r>
                  </m:oMath>
                </a14:m>
                <a:r>
                  <a:rPr lang="pt-BR" dirty="0"/>
                  <a:t>se aproxima de zero do lado positivo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0</m:t>
                        </m:r>
                      </m:e>
                      <m:sub>
                        <m:r>
                          <a:rPr lang="pt-BR" b="0" i="1" smtClean="0">
                            <a:latin typeface="Cambria Math" panose="02040503050406030204" pitchFamily="18" charset="0"/>
                          </a:rPr>
                          <m:t>+</m:t>
                        </m:r>
                      </m:sub>
                    </m:sSub>
                  </m:oMath>
                </a14:m>
                <a:r>
                  <a:rPr lang="pt-BR" dirty="0"/>
                  <a:t>):</a:t>
                </a:r>
              </a:p>
              <a:p>
                <a:pPr marL="0" indent="0">
                  <a:buNone/>
                </a:pPr>
                <a14:m>
                  <m:oMathPara xmlns:m="http://schemas.openxmlformats.org/officeDocument/2006/math">
                    <m:oMathParaPr>
                      <m:jc m:val="centerGroup"/>
                    </m:oMathParaPr>
                    <m:oMath xmlns:m="http://schemas.openxmlformats.org/officeDocument/2006/math">
                      <m:func>
                        <m:funcPr>
                          <m:ctrlPr>
                            <a:rPr lang="pt-BR" b="0" i="1" smtClean="0">
                              <a:latin typeface="Cambria Math" panose="02040503050406030204" pitchFamily="18" charset="0"/>
                            </a:rPr>
                          </m:ctrlPr>
                        </m:funcPr>
                        <m:fName>
                          <m:limLow>
                            <m:limLowPr>
                              <m:ctrlPr>
                                <a:rPr lang="pt-BR" b="0" i="1" smtClean="0">
                                  <a:latin typeface="Cambria Math" panose="02040503050406030204" pitchFamily="18" charset="0"/>
                                </a:rPr>
                              </m:ctrlPr>
                            </m:limLowPr>
                            <m:e>
                              <m:r>
                                <m:rPr>
                                  <m:sty m:val="p"/>
                                </m:rPr>
                                <a:rPr lang="pt-BR" b="0" i="0" smtClean="0">
                                  <a:latin typeface="Cambria Math" panose="02040503050406030204" pitchFamily="18" charset="0"/>
                                </a:rPr>
                                <m:t>lim</m:t>
                              </m:r>
                            </m:e>
                            <m:lim>
                              <m:r>
                                <a:rPr lang="pt-BR" b="0" i="1" smtClean="0">
                                  <a:latin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Name>
                        <m:e>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r>
                        <a:rPr lang="pt-BR" i="1">
                          <a:latin typeface="Cambria Math" panose="02040503050406030204" pitchFamily="18" charset="0"/>
                        </a:rPr>
                        <m:t>−</m:t>
                      </m:r>
                      <m:f>
                        <m:fPr>
                          <m:ctrlPr>
                            <a:rPr lang="pt-BR" i="1" smtClean="0">
                              <a:latin typeface="Cambria Math" panose="02040503050406030204" pitchFamily="18" charset="0"/>
                            </a:rPr>
                          </m:ctrlPr>
                        </m:fPr>
                        <m:num>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func>
                                <m:funcPr>
                                  <m:ctrlPr>
                                    <a:rPr lang="pt-BR" i="1">
                                      <a:latin typeface="Cambria Math" panose="02040503050406030204" pitchFamily="18" charset="0"/>
                                    </a:rPr>
                                  </m:ctrlPr>
                                </m:funcPr>
                                <m:fName>
                                  <m:r>
                                    <a:rPr lang="pt-BR" i="1">
                                      <a:latin typeface="Cambria Math" panose="02040503050406030204" pitchFamily="18" charset="0"/>
                                    </a:rPr>
                                    <m:t>𝑥</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b="0" i="1">
                                          <a:latin typeface="Cambria Math" panose="02040503050406030204" pitchFamily="18" charset="0"/>
                                        </a:rPr>
                                      </m:ctrlPr>
                                    </m:dPr>
                                    <m:e>
                                      <m:r>
                                        <a:rPr lang="pt-BR" b="0" i="1" smtClean="0">
                                          <a:latin typeface="Cambria Math" panose="02040503050406030204" pitchFamily="18" charset="0"/>
                                        </a:rPr>
                                        <m:t>2</m:t>
                                      </m:r>
                                    </m:e>
                                  </m:d>
                                </m:e>
                              </m:func>
                            </m:den>
                          </m:f>
                        </m:num>
                        <m:den>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sSup>
                                <m:sSupPr>
                                  <m:ctrlPr>
                                    <a:rPr lang="pt-BR" i="1" smtClean="0">
                                      <a:latin typeface="Cambria Math" panose="02040503050406030204" pitchFamily="18" charset="0"/>
                                    </a:rPr>
                                  </m:ctrlPr>
                                </m:sSupPr>
                                <m:e>
                                  <m:r>
                                    <a:rPr lang="pt-BR" i="1">
                                      <a:latin typeface="Cambria Math" panose="02040503050406030204" pitchFamily="18" charset="0"/>
                                    </a:rPr>
                                    <m:t>𝑥</m:t>
                                  </m:r>
                                </m:e>
                                <m:sup>
                                  <m:r>
                                    <a:rPr lang="pt-BR" b="0" i="1" smtClean="0">
                                      <a:latin typeface="Cambria Math" panose="02040503050406030204" pitchFamily="18" charset="0"/>
                                    </a:rPr>
                                    <m:t>2</m:t>
                                  </m:r>
                                </m:sup>
                              </m:sSup>
                            </m:den>
                          </m:f>
                        </m:den>
                      </m:f>
                      <m:r>
                        <a:rPr lang="pt-BR" b="0" i="1" smtClean="0">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
                        <m:fPr>
                          <m:ctrlPr>
                            <a:rPr lang="pt-BR" i="1">
                              <a:latin typeface="Cambria Math" panose="02040503050406030204" pitchFamily="18" charset="0"/>
                            </a:rPr>
                          </m:ctrlPr>
                        </m:fPr>
                        <m:num>
                          <m:r>
                            <a:rPr lang="pt-BR" i="1">
                              <a:latin typeface="Cambria Math" panose="02040503050406030204" pitchFamily="18" charset="0"/>
                            </a:rPr>
                            <m:t>𝑥</m:t>
                          </m:r>
                        </m:num>
                        <m:den>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2</m:t>
                                  </m:r>
                                </m:e>
                              </m:d>
                            </m:e>
                          </m:func>
                        </m:den>
                      </m:f>
                      <m:r>
                        <a:rPr lang="pt-BR" b="0" i="1" smtClean="0">
                          <a:latin typeface="Cambria Math" panose="02040503050406030204" pitchFamily="18" charset="0"/>
                        </a:rPr>
                        <m:t>=0.</m:t>
                      </m:r>
                    </m:oMath>
                  </m:oMathPara>
                </a14:m>
                <a:endParaRPr lang="pt-BR" dirty="0"/>
              </a:p>
              <a:p>
                <a:pPr marL="0" indent="0">
                  <a:buNone/>
                </a:pPr>
                <a:r>
                  <a:rPr lang="pt-BR" dirty="0"/>
                  <a:t>Assim, </a:t>
                </a: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=0</m:t>
                    </m:r>
                  </m:oMath>
                </a14:m>
                <a:r>
                  <a:rPr lang="pt-BR" dirty="0"/>
                  <a:t>.</a:t>
                </a:r>
              </a:p>
            </p:txBody>
          </p:sp>
        </mc:Choice>
        <mc:Fallback xmlns="">
          <p:sp>
            <p:nvSpPr>
              <p:cNvPr id="3" name="Espaço Reservado para Conteúdo 2">
                <a:extLst>
                  <a:ext uri="{FF2B5EF4-FFF2-40B4-BE49-F238E27FC236}">
                    <a16:creationId xmlns:a16="http://schemas.microsoft.com/office/drawing/2014/main" id="{C374A8A0-1621-F766-7EF1-2A3055D2CB1E}"/>
                  </a:ext>
                </a:extLst>
              </p:cNvPr>
              <p:cNvSpPr>
                <a:spLocks noGrp="1" noRot="1" noChangeAspect="1" noMove="1" noResize="1" noEditPoints="1" noAdjustHandles="1" noChangeArrowheads="1" noChangeShapeType="1" noTextEdit="1"/>
              </p:cNvSpPr>
              <p:nvPr>
                <p:ph idx="1"/>
              </p:nvPr>
            </p:nvSpPr>
            <p:spPr>
              <a:xfrm>
                <a:off x="838200" y="1825624"/>
                <a:ext cx="11170920" cy="5032376"/>
              </a:xfrm>
              <a:blipFill>
                <a:blip r:embed="rId2"/>
                <a:stretch>
                  <a:fillRect l="-1146" t="-2663" r="-1528"/>
                </a:stretch>
              </a:blipFill>
            </p:spPr>
            <p:txBody>
              <a:bodyPr/>
              <a:lstStyle/>
              <a:p>
                <a:r>
                  <a:rPr lang="pt-BR">
                    <a:noFill/>
                  </a:rPr>
                  <a:t> </a:t>
                </a:r>
              </a:p>
            </p:txBody>
          </p:sp>
        </mc:Fallback>
      </mc:AlternateContent>
    </p:spTree>
    <p:extLst>
      <p:ext uri="{BB962C8B-B14F-4D97-AF65-F5344CB8AC3E}">
        <p14:creationId xmlns:p14="http://schemas.microsoft.com/office/powerpoint/2010/main" val="42186589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p>
        </p:txBody>
      </p:sp>
    </p:spTree>
    <p:extLst>
      <p:ext uri="{BB962C8B-B14F-4D97-AF65-F5344CB8AC3E}">
        <p14:creationId xmlns:p14="http://schemas.microsoft.com/office/powerpoint/2010/main" val="7128192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1725384" y="1428751"/>
            <a:ext cx="8606518" cy="2661637"/>
            <a:chOff x="1725384" y="1428751"/>
            <a:chExt cx="8606518" cy="2661637"/>
          </a:xfrm>
        </p:grpSpPr>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sp>
          <p:nvSpPr>
            <p:cNvPr id="6" name="Rounded Rectangle 5"/>
            <p:cNvSpPr/>
            <p:nvPr/>
          </p:nvSpPr>
          <p:spPr>
            <a:xfrm>
              <a:off x="2707482" y="264309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sp>
          <p:nvSpPr>
            <p:cNvPr id="7" name="Rounded Rectangle 6"/>
            <p:cNvSpPr/>
            <p:nvPr/>
          </p:nvSpPr>
          <p:spPr>
            <a:xfrm>
              <a:off x="8109179" y="264309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9" name="Straight Connector 8"/>
            <p:cNvCxnSpPr>
              <a:stCxn id="5" idx="2"/>
              <a:endCxn id="6" idx="0"/>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a:endCxn id="7" idx="0"/>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5397954"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cxnSp>
          <p:nvCxnSpPr>
            <p:cNvPr id="14" name="Straight Connector 13"/>
            <p:cNvCxnSpPr>
              <a:stCxn id="5" idx="2"/>
              <a:endCxn id="12" idx="0"/>
            </p:cNvCxnSpPr>
            <p:nvPr/>
          </p:nvCxnSpPr>
          <p:spPr>
            <a:xfrm>
              <a:off x="6017079" y="1967594"/>
              <a:ext cx="0" cy="17534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4998331" y="2248207"/>
              <a:ext cx="1238250" cy="307777"/>
            </a:xfrm>
            <a:prstGeom prst="rect">
              <a:avLst/>
            </a:prstGeom>
            <a:noFill/>
          </p:spPr>
          <p:txBody>
            <a:bodyPr wrap="square" rtlCol="0">
              <a:spAutoFit/>
            </a:bodyPr>
            <a:lstStyle/>
            <a:p>
              <a:pPr algn="ctr"/>
              <a:r>
                <a:rPr lang="pt-BR" sz="1400" dirty="0"/>
                <a:t>overcast</a:t>
              </a:r>
            </a:p>
          </p:txBody>
        </p:sp>
        <p:sp>
          <p:nvSpPr>
            <p:cNvPr id="20" name="TextBox 19"/>
            <p:cNvSpPr txBox="1"/>
            <p:nvPr/>
          </p:nvSpPr>
          <p:spPr>
            <a:xfrm>
              <a:off x="3643312"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21" name="TextBox 20"/>
            <p:cNvSpPr txBox="1"/>
            <p:nvPr/>
          </p:nvSpPr>
          <p:spPr>
            <a:xfrm>
              <a:off x="1725384" y="3721056"/>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27" name="Straight Connector 26"/>
            <p:cNvCxnSpPr>
              <a:stCxn id="6" idx="2"/>
              <a:endCxn id="20" idx="0"/>
            </p:cNvCxnSpPr>
            <p:nvPr/>
          </p:nvCxnSpPr>
          <p:spPr>
            <a:xfrm>
              <a:off x="3401446" y="3181934"/>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a:stCxn id="6" idx="2"/>
              <a:endCxn id="21" idx="0"/>
            </p:cNvCxnSpPr>
            <p:nvPr/>
          </p:nvCxnSpPr>
          <p:spPr>
            <a:xfrm flipH="1">
              <a:off x="2426153" y="3181934"/>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1967878" y="3312995"/>
              <a:ext cx="1238250" cy="307777"/>
            </a:xfrm>
            <a:prstGeom prst="rect">
              <a:avLst/>
            </a:prstGeom>
            <a:noFill/>
          </p:spPr>
          <p:txBody>
            <a:bodyPr wrap="square" rtlCol="0">
              <a:spAutoFit/>
            </a:bodyPr>
            <a:lstStyle/>
            <a:p>
              <a:pPr algn="ctr"/>
              <a:r>
                <a:rPr lang="pt-BR" sz="1400" dirty="0"/>
                <a:t>high</a:t>
              </a:r>
            </a:p>
          </p:txBody>
        </p:sp>
        <p:sp>
          <p:nvSpPr>
            <p:cNvPr id="33" name="TextBox 32"/>
            <p:cNvSpPr txBox="1"/>
            <p:nvPr/>
          </p:nvSpPr>
          <p:spPr>
            <a:xfrm>
              <a:off x="3639120" y="3312994"/>
              <a:ext cx="1238250" cy="307777"/>
            </a:xfrm>
            <a:prstGeom prst="rect">
              <a:avLst/>
            </a:prstGeom>
            <a:noFill/>
          </p:spPr>
          <p:txBody>
            <a:bodyPr wrap="square" rtlCol="0">
              <a:spAutoFit/>
            </a:bodyPr>
            <a:lstStyle/>
            <a:p>
              <a:pPr algn="ctr"/>
              <a:r>
                <a:rPr lang="pt-BR" sz="1400" dirty="0"/>
                <a:t>normal</a:t>
              </a:r>
            </a:p>
          </p:txBody>
        </p:sp>
        <p:sp>
          <p:nvSpPr>
            <p:cNvPr id="34" name="TextBox 33"/>
            <p:cNvSpPr txBox="1"/>
            <p:nvPr/>
          </p:nvSpPr>
          <p:spPr>
            <a:xfrm>
              <a:off x="3506731" y="2094319"/>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7125889" y="2065893"/>
              <a:ext cx="1238250" cy="307777"/>
            </a:xfrm>
            <a:prstGeom prst="rect">
              <a:avLst/>
            </a:prstGeom>
            <a:noFill/>
          </p:spPr>
          <p:txBody>
            <a:bodyPr wrap="square" rtlCol="0">
              <a:spAutoFit/>
            </a:bodyPr>
            <a:lstStyle/>
            <a:p>
              <a:pPr algn="ctr"/>
              <a:r>
                <a:rPr lang="pt-BR" sz="1400" dirty="0"/>
                <a:t>rain</a:t>
              </a:r>
            </a:p>
          </p:txBody>
        </p:sp>
        <p:sp>
          <p:nvSpPr>
            <p:cNvPr id="36" name="TextBox 35"/>
            <p:cNvSpPr txBox="1"/>
            <p:nvPr/>
          </p:nvSpPr>
          <p:spPr>
            <a:xfrm>
              <a:off x="9093652" y="3720733"/>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7" name="TextBox 36"/>
            <p:cNvSpPr txBox="1"/>
            <p:nvPr/>
          </p:nvSpPr>
          <p:spPr>
            <a:xfrm>
              <a:off x="7175724" y="3720733"/>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38" name="Straight Connector 37"/>
            <p:cNvCxnSpPr>
              <a:endCxn id="36" idx="0"/>
            </p:cNvCxnSpPr>
            <p:nvPr/>
          </p:nvCxnSpPr>
          <p:spPr>
            <a:xfrm>
              <a:off x="8851786" y="3181611"/>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a:endCxn id="37" idx="0"/>
            </p:cNvCxnSpPr>
            <p:nvPr/>
          </p:nvCxnSpPr>
          <p:spPr>
            <a:xfrm flipH="1">
              <a:off x="7876493" y="3181611"/>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7432732" y="3312672"/>
              <a:ext cx="1238250" cy="307777"/>
            </a:xfrm>
            <a:prstGeom prst="rect">
              <a:avLst/>
            </a:prstGeom>
            <a:noFill/>
          </p:spPr>
          <p:txBody>
            <a:bodyPr wrap="square" rtlCol="0">
              <a:spAutoFit/>
            </a:bodyPr>
            <a:lstStyle/>
            <a:p>
              <a:pPr algn="ctr"/>
              <a:r>
                <a:rPr lang="pt-BR" sz="1400" dirty="0"/>
                <a:t>true</a:t>
              </a:r>
            </a:p>
          </p:txBody>
        </p:sp>
        <p:sp>
          <p:nvSpPr>
            <p:cNvPr id="41" name="TextBox 40"/>
            <p:cNvSpPr txBox="1"/>
            <p:nvPr/>
          </p:nvSpPr>
          <p:spPr>
            <a:xfrm>
              <a:off x="9060432" y="3312671"/>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3196270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2469901" y="1428751"/>
            <a:ext cx="7174398" cy="1671537"/>
            <a:chOff x="2469901" y="1428751"/>
            <a:chExt cx="7174398" cy="1671537"/>
          </a:xfrm>
        </p:grpSpPr>
        <p:cxnSp>
          <p:nvCxnSpPr>
            <p:cNvPr id="14" name="Straight Connector 1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9" name="Straight Connector 8"/>
            <p:cNvCxnSpPr>
              <a:stCxn id="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399765" y="2792511"/>
              <a:ext cx="1238250" cy="307777"/>
            </a:xfrm>
            <a:prstGeom prst="rect">
              <a:avLst/>
            </a:prstGeom>
            <a:noFill/>
          </p:spPr>
          <p:txBody>
            <a:bodyPr wrap="square" rtlCol="0">
              <a:spAutoFit/>
            </a:bodyPr>
            <a:lstStyle/>
            <a:p>
              <a:pPr algn="ctr"/>
              <a:r>
                <a:rPr lang="pt-BR" sz="1400" dirty="0"/>
                <a:t>overcast</a:t>
              </a:r>
            </a:p>
          </p:txBody>
        </p:sp>
        <p:sp>
          <p:nvSpPr>
            <p:cNvPr id="34" name="TextBox 33"/>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Tree>
    <p:extLst>
      <p:ext uri="{BB962C8B-B14F-4D97-AF65-F5344CB8AC3E}">
        <p14:creationId xmlns:p14="http://schemas.microsoft.com/office/powerpoint/2010/main" val="249248049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2506080" y="2245930"/>
            <a:ext cx="7174398" cy="1785590"/>
            <a:chOff x="2506080" y="2245930"/>
            <a:chExt cx="7174398" cy="1785590"/>
          </a:xfrm>
        </p:grpSpPr>
        <p:grpSp>
          <p:nvGrpSpPr>
            <p:cNvPr id="26" name="Group 25"/>
            <p:cNvGrpSpPr/>
            <p:nvPr/>
          </p:nvGrpSpPr>
          <p:grpSpPr>
            <a:xfrm>
              <a:off x="2506080" y="2245930"/>
              <a:ext cx="7174398" cy="1431915"/>
              <a:chOff x="2469901" y="1428751"/>
              <a:chExt cx="7174398" cy="1431915"/>
            </a:xfrm>
          </p:grpSpPr>
          <p:cxnSp>
            <p:nvCxnSpPr>
              <p:cNvPr id="28" name="Straight Connector 27"/>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Rounded Rectangle 29"/>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31" name="Straight Connector 30"/>
              <p:cNvCxnSpPr>
                <a:stCxn id="30"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a:stCxn id="30"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5" name="TextBox 44"/>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46" name="TextBox 45"/>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
          <p:nvSpPr>
            <p:cNvPr id="47" name="TextBox 46"/>
            <p:cNvSpPr txBox="1"/>
            <p:nvPr/>
          </p:nvSpPr>
          <p:spPr>
            <a:xfrm>
              <a:off x="5434133" y="3662188"/>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grpSp>
    </p:spTree>
    <p:extLst>
      <p:ext uri="{BB962C8B-B14F-4D97-AF65-F5344CB8AC3E}">
        <p14:creationId xmlns:p14="http://schemas.microsoft.com/office/powerpoint/2010/main" val="115352503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3077360" y="1886099"/>
            <a:ext cx="6858272" cy="2302490"/>
            <a:chOff x="3077360" y="1886099"/>
            <a:chExt cx="6858272" cy="2302490"/>
          </a:xfrm>
        </p:grpSpPr>
        <p:grpSp>
          <p:nvGrpSpPr>
            <p:cNvPr id="31" name="Group 30"/>
            <p:cNvGrpSpPr/>
            <p:nvPr/>
          </p:nvGrpSpPr>
          <p:grpSpPr>
            <a:xfrm>
              <a:off x="3077360" y="188609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5073868" y="330235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775157" y="311094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517764" y="364946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542471" y="364946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142252" y="378052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97382" y="3780527"/>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9633938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982110" y="2019449"/>
            <a:ext cx="6923445" cy="2673695"/>
            <a:chOff x="2982110" y="2019449"/>
            <a:chExt cx="6923445" cy="2673695"/>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427404282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sp>
        <p:nvSpPr>
          <p:cNvPr id="19" name="Rounded Rectangle 18"/>
          <p:cNvSpPr/>
          <p:nvPr/>
        </p:nvSpPr>
        <p:spPr>
          <a:xfrm>
            <a:off x="2288922" y="324472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cxnSp>
        <p:nvCxnSpPr>
          <p:cNvPr id="20" name="Straight Connector 19"/>
          <p:cNvCxnSpPr>
            <a:stCxn id="19" idx="2"/>
          </p:cNvCxnSpPr>
          <p:nvPr/>
        </p:nvCxnSpPr>
        <p:spPr>
          <a:xfrm>
            <a:off x="2982886" y="3783565"/>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19" idx="2"/>
          </p:cNvCxnSpPr>
          <p:nvPr/>
        </p:nvCxnSpPr>
        <p:spPr>
          <a:xfrm flipH="1">
            <a:off x="2007593" y="3783565"/>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1549318" y="3914626"/>
            <a:ext cx="1238250" cy="307777"/>
          </a:xfrm>
          <a:prstGeom prst="rect">
            <a:avLst/>
          </a:prstGeom>
          <a:noFill/>
        </p:spPr>
        <p:txBody>
          <a:bodyPr wrap="square" rtlCol="0">
            <a:spAutoFit/>
          </a:bodyPr>
          <a:lstStyle/>
          <a:p>
            <a:pPr algn="ctr"/>
            <a:r>
              <a:rPr lang="pt-BR" sz="1400" dirty="0"/>
              <a:t>high</a:t>
            </a:r>
          </a:p>
        </p:txBody>
      </p:sp>
      <p:sp>
        <p:nvSpPr>
          <p:cNvPr id="23" name="TextBox 22"/>
          <p:cNvSpPr txBox="1"/>
          <p:nvPr/>
        </p:nvSpPr>
        <p:spPr>
          <a:xfrm>
            <a:off x="3220560" y="3914625"/>
            <a:ext cx="1238250" cy="307777"/>
          </a:xfrm>
          <a:prstGeom prst="rect">
            <a:avLst/>
          </a:prstGeom>
          <a:noFill/>
        </p:spPr>
        <p:txBody>
          <a:bodyPr wrap="square" rtlCol="0">
            <a:spAutoFit/>
          </a:bodyPr>
          <a:lstStyle/>
          <a:p>
            <a:pPr algn="ctr"/>
            <a:r>
              <a:rPr lang="pt-BR" sz="1400" dirty="0"/>
              <a:t>normal</a:t>
            </a:r>
          </a:p>
        </p:txBody>
      </p:sp>
    </p:spTree>
    <p:extLst>
      <p:ext uri="{BB962C8B-B14F-4D97-AF65-F5344CB8AC3E}">
        <p14:creationId xmlns:p14="http://schemas.microsoft.com/office/powerpoint/2010/main" val="164407022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5997827" y="2186140"/>
            <a:ext cx="4320607" cy="3826402"/>
            <a:chOff x="5997827" y="2186140"/>
            <a:chExt cx="4320607" cy="3826402"/>
          </a:xfrm>
        </p:grpSpPr>
        <p:sp>
          <p:nvSpPr>
            <p:cNvPr id="5" name="Rectangle 4"/>
            <p:cNvSpPr/>
            <p:nvPr/>
          </p:nvSpPr>
          <p:spPr>
            <a:xfrm>
              <a:off x="7811068" y="2186140"/>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Respira</a:t>
              </a:r>
            </a:p>
            <a:p>
              <a:pPr algn="ctr"/>
              <a:r>
                <a:rPr lang="pt-BR" dirty="0">
                  <a:solidFill>
                    <a:schemeClr val="tx1"/>
                  </a:solidFill>
                </a:rPr>
                <a:t>Ar?</a:t>
              </a:r>
            </a:p>
          </p:txBody>
        </p:sp>
        <p:cxnSp>
          <p:nvCxnSpPr>
            <p:cNvPr id="6" name="Straight Arrow Connector 5"/>
            <p:cNvCxnSpPr>
              <a:stCxn id="5" idx="2"/>
              <a:endCxn id="9" idx="0"/>
            </p:cNvCxnSpPr>
            <p:nvPr/>
          </p:nvCxnSpPr>
          <p:spPr>
            <a:xfrm>
              <a:off x="8361528" y="2854881"/>
              <a:ext cx="1330065" cy="13061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6976280" y="3841917"/>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Bota ovo?</a:t>
              </a:r>
            </a:p>
          </p:txBody>
        </p:sp>
        <p:cxnSp>
          <p:nvCxnSpPr>
            <p:cNvPr id="8" name="Straight Arrow Connector 7"/>
            <p:cNvCxnSpPr>
              <a:stCxn id="5" idx="2"/>
              <a:endCxn id="7" idx="0"/>
            </p:cNvCxnSpPr>
            <p:nvPr/>
          </p:nvCxnSpPr>
          <p:spPr>
            <a:xfrm flipH="1">
              <a:off x="7526740" y="2854881"/>
              <a:ext cx="834788" cy="9870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Rounded Rectangle 8"/>
            <p:cNvSpPr/>
            <p:nvPr/>
          </p:nvSpPr>
          <p:spPr>
            <a:xfrm>
              <a:off x="9064751" y="4160982"/>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Peixe</a:t>
              </a:r>
              <a:endParaRPr lang="pt-BR" dirty="0"/>
            </a:p>
          </p:txBody>
        </p:sp>
        <p:sp>
          <p:nvSpPr>
            <p:cNvPr id="10" name="Rounded Rectangle 9"/>
            <p:cNvSpPr/>
            <p:nvPr/>
          </p:nvSpPr>
          <p:spPr>
            <a:xfrm>
              <a:off x="5997827" y="5325174"/>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Pássaro</a:t>
              </a:r>
              <a:endParaRPr lang="pt-BR" dirty="0"/>
            </a:p>
          </p:txBody>
        </p:sp>
        <p:sp>
          <p:nvSpPr>
            <p:cNvPr id="11" name="Rounded Rectangle 10"/>
            <p:cNvSpPr/>
            <p:nvPr/>
          </p:nvSpPr>
          <p:spPr>
            <a:xfrm>
              <a:off x="7811068" y="5325175"/>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Mamífero</a:t>
              </a:r>
              <a:endParaRPr lang="pt-BR" dirty="0"/>
            </a:p>
          </p:txBody>
        </p:sp>
        <p:cxnSp>
          <p:nvCxnSpPr>
            <p:cNvPr id="12" name="Straight Arrow Connector 11"/>
            <p:cNvCxnSpPr>
              <a:stCxn id="7" idx="2"/>
              <a:endCxn id="11" idx="0"/>
            </p:cNvCxnSpPr>
            <p:nvPr/>
          </p:nvCxnSpPr>
          <p:spPr>
            <a:xfrm>
              <a:off x="7526740" y="4510658"/>
              <a:ext cx="911170" cy="8145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7" idx="2"/>
              <a:endCxn id="10" idx="0"/>
            </p:cNvCxnSpPr>
            <p:nvPr/>
          </p:nvCxnSpPr>
          <p:spPr>
            <a:xfrm flipH="1">
              <a:off x="6624669" y="4510658"/>
              <a:ext cx="902071" cy="8145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911988" y="3252311"/>
              <a:ext cx="718431" cy="369332"/>
            </a:xfrm>
            <a:prstGeom prst="rect">
              <a:avLst/>
            </a:prstGeom>
            <a:noFill/>
          </p:spPr>
          <p:txBody>
            <a:bodyPr wrap="square" rtlCol="0">
              <a:spAutoFit/>
            </a:bodyPr>
            <a:lstStyle/>
            <a:p>
              <a:pPr algn="ctr"/>
              <a:r>
                <a:rPr lang="pt-BR" dirty="0"/>
                <a:t>não</a:t>
              </a:r>
            </a:p>
          </p:txBody>
        </p:sp>
        <p:sp>
          <p:nvSpPr>
            <p:cNvPr id="15" name="TextBox 14"/>
            <p:cNvSpPr txBox="1"/>
            <p:nvPr/>
          </p:nvSpPr>
          <p:spPr>
            <a:xfrm>
              <a:off x="7314469" y="3138215"/>
              <a:ext cx="718431" cy="369332"/>
            </a:xfrm>
            <a:prstGeom prst="rect">
              <a:avLst/>
            </a:prstGeom>
            <a:noFill/>
          </p:spPr>
          <p:txBody>
            <a:bodyPr wrap="square" rtlCol="0">
              <a:spAutoFit/>
            </a:bodyPr>
            <a:lstStyle/>
            <a:p>
              <a:pPr algn="ctr"/>
              <a:r>
                <a:rPr lang="pt-BR" dirty="0"/>
                <a:t>sim</a:t>
              </a:r>
            </a:p>
          </p:txBody>
        </p:sp>
        <p:sp>
          <p:nvSpPr>
            <p:cNvPr id="16" name="TextBox 15"/>
            <p:cNvSpPr txBox="1"/>
            <p:nvPr/>
          </p:nvSpPr>
          <p:spPr>
            <a:xfrm>
              <a:off x="6494888" y="4637807"/>
              <a:ext cx="718431" cy="369332"/>
            </a:xfrm>
            <a:prstGeom prst="rect">
              <a:avLst/>
            </a:prstGeom>
            <a:noFill/>
          </p:spPr>
          <p:txBody>
            <a:bodyPr wrap="square" rtlCol="0">
              <a:spAutoFit/>
            </a:bodyPr>
            <a:lstStyle/>
            <a:p>
              <a:pPr algn="ctr"/>
              <a:r>
                <a:rPr lang="pt-BR" dirty="0"/>
                <a:t>sim</a:t>
              </a:r>
            </a:p>
          </p:txBody>
        </p:sp>
        <p:sp>
          <p:nvSpPr>
            <p:cNvPr id="17" name="TextBox 16"/>
            <p:cNvSpPr txBox="1"/>
            <p:nvPr/>
          </p:nvSpPr>
          <p:spPr>
            <a:xfrm>
              <a:off x="7916542" y="4717430"/>
              <a:ext cx="718431" cy="369332"/>
            </a:xfrm>
            <a:prstGeom prst="rect">
              <a:avLst/>
            </a:prstGeom>
            <a:noFill/>
          </p:spPr>
          <p:txBody>
            <a:bodyPr wrap="square" rtlCol="0">
              <a:spAutoFit/>
            </a:bodyPr>
            <a:lstStyle/>
            <a:p>
              <a:pPr algn="ctr"/>
              <a:r>
                <a:rPr lang="pt-BR" dirty="0"/>
                <a:t>não</a:t>
              </a:r>
            </a:p>
          </p:txBody>
        </p:sp>
      </p:grpSp>
    </p:spTree>
    <p:extLst>
      <p:ext uri="{BB962C8B-B14F-4D97-AF65-F5344CB8AC3E}">
        <p14:creationId xmlns:p14="http://schemas.microsoft.com/office/powerpoint/2010/main" val="31896117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18247</TotalTime>
  <Words>13673</Words>
  <Application>Microsoft Office PowerPoint</Application>
  <PresentationFormat>Widescreen</PresentationFormat>
  <Paragraphs>1433</Paragraphs>
  <Slides>78</Slides>
  <Notes>50</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78</vt:i4>
      </vt:variant>
    </vt:vector>
  </HeadingPairs>
  <TitlesOfParts>
    <vt:vector size="87" baseType="lpstr">
      <vt:lpstr>-apple-system</vt:lpstr>
      <vt:lpstr>Arial</vt:lpstr>
      <vt:lpstr>Calibri</vt:lpstr>
      <vt:lpstr>Calibri Light</vt:lpstr>
      <vt:lpstr>Cambria Math</vt:lpstr>
      <vt:lpstr>Courier New</vt:lpstr>
      <vt:lpstr>inherit</vt:lpstr>
      <vt:lpstr>Wingdings</vt:lpstr>
      <vt:lpstr>Office Theme</vt:lpstr>
      <vt:lpstr>C24 – Inteligência Artificial: Árvores de decisão</vt:lpstr>
      <vt:lpstr>Apresentação do PowerPoint</vt:lpstr>
      <vt:lpstr>Árvores de decisão</vt:lpstr>
      <vt:lpstr>Apresentação do PowerPoint</vt:lpstr>
      <vt:lpstr>O que significa ser paramétrico?</vt:lpstr>
      <vt:lpstr>O que significa ser não-paramétrico?</vt:lpstr>
      <vt:lpstr>O que significa ser não-paramétrico?</vt:lpstr>
      <vt:lpstr>O que significa ser não-linear?</vt:lpstr>
      <vt:lpstr>Apresentação do PowerPoint</vt:lpstr>
      <vt:lpstr>Árvores de decisão</vt:lpstr>
      <vt:lpstr>Árvores de decisão</vt:lpstr>
      <vt:lpstr>Árvores de decisão</vt:lpstr>
      <vt:lpstr>Árvores de decisão</vt:lpstr>
      <vt:lpstr>Árvores de decisão</vt:lpstr>
      <vt:lpstr>Árvores de decisão</vt:lpstr>
      <vt:lpstr>Árvores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Ganho de informação</vt:lpstr>
      <vt:lpstr>Entropia</vt:lpstr>
      <vt:lpstr>Entropia</vt:lpstr>
      <vt:lpstr>Entropia</vt:lpstr>
      <vt:lpstr>Exemplo de entropia</vt:lpstr>
      <vt:lpstr>Exemplo de entropia</vt:lpstr>
      <vt:lpstr>Exemplo de entropia</vt:lpstr>
      <vt:lpstr>Cálculo da entropia</vt:lpstr>
      <vt:lpstr>Indução de uma árvore de decisão</vt:lpstr>
      <vt:lpstr>Indução de uma árvore de decisão</vt:lpstr>
      <vt:lpstr>Indução de uma árvore de decisão</vt:lpstr>
      <vt:lpstr>Método ID3</vt:lpstr>
      <vt:lpstr>Sequência de passos do método ID3</vt:lpstr>
      <vt:lpstr>Sequência de passos do método ID3</vt:lpstr>
      <vt:lpstr>Características do método ID3</vt:lpstr>
      <vt:lpstr>Observações</vt:lpstr>
      <vt:lpstr>Observações</vt:lpstr>
      <vt:lpstr>Observações</vt:lpstr>
      <vt:lpstr>Observações</vt:lpstr>
      <vt:lpstr>Apresentação do PowerPoint</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Diferenças entre ID3 e CART</vt:lpstr>
      <vt:lpstr>Exemplo</vt:lpstr>
      <vt:lpstr>Lista de exercícios</vt:lpstr>
      <vt:lpstr>Apresentação do PowerPoint</vt:lpstr>
      <vt:lpstr>Apresentação do PowerPoint</vt:lpstr>
      <vt:lpstr>Apresentação do PowerPoint</vt:lpstr>
      <vt:lpstr>Cálculo da entropia para mais de duas classes </vt:lpstr>
      <vt:lpstr>Cálculo da entropia para mais de duas classes </vt:lpstr>
      <vt:lpstr>Apresentação do PowerPoint</vt:lpstr>
      <vt:lpstr>Qual a entropia de 0?</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 Classificadores Lineares</dc:title>
  <dc:creator>Felipe Augusto Pereira de Figueiredo</dc:creator>
  <cp:lastModifiedBy>Felipe Augusto Pereira de Figueiredo</cp:lastModifiedBy>
  <cp:revision>1299</cp:revision>
  <dcterms:created xsi:type="dcterms:W3CDTF">2020-04-06T23:46:10Z</dcterms:created>
  <dcterms:modified xsi:type="dcterms:W3CDTF">2026-05-25T15:13:50Z</dcterms:modified>
</cp:coreProperties>
</file>