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42" r:id="rId17"/>
    <p:sldId id="343" r:id="rId18"/>
    <p:sldId id="462" r:id="rId19"/>
    <p:sldId id="463" r:id="rId20"/>
    <p:sldId id="464" r:id="rId21"/>
    <p:sldId id="467" r:id="rId22"/>
    <p:sldId id="465" r:id="rId23"/>
    <p:sldId id="466" r:id="rId24"/>
    <p:sldId id="350" r:id="rId25"/>
    <p:sldId id="468" r:id="rId26"/>
    <p:sldId id="469" r:id="rId27"/>
    <p:sldId id="470" r:id="rId28"/>
    <p:sldId id="471" r:id="rId29"/>
    <p:sldId id="472" r:id="rId30"/>
    <p:sldId id="354" r:id="rId31"/>
    <p:sldId id="356" r:id="rId32"/>
    <p:sldId id="357" r:id="rId33"/>
    <p:sldId id="359" r:id="rId34"/>
    <p:sldId id="361" r:id="rId35"/>
    <p:sldId id="362" r:id="rId36"/>
    <p:sldId id="363" r:id="rId37"/>
    <p:sldId id="301" r:id="rId38"/>
    <p:sldId id="318" r:id="rId39"/>
    <p:sldId id="369" r:id="rId40"/>
    <p:sldId id="319" r:id="rId41"/>
    <p:sldId id="364" r:id="rId42"/>
    <p:sldId id="473" r:id="rId43"/>
    <p:sldId id="367" r:id="rId44"/>
    <p:sldId id="368" r:id="rId45"/>
    <p:sldId id="277" r:id="rId46"/>
    <p:sldId id="283" r:id="rId47"/>
    <p:sldId id="284" r:id="rId48"/>
    <p:sldId id="285" r:id="rId49"/>
    <p:sldId id="291" r:id="rId50"/>
    <p:sldId id="292" r:id="rId51"/>
    <p:sldId id="296" r:id="rId52"/>
    <p:sldId id="474" r:id="rId53"/>
    <p:sldId id="475" r:id="rId54"/>
    <p:sldId id="371" r:id="rId55"/>
    <p:sldId id="374" r:id="rId56"/>
    <p:sldId id="375" r:id="rId57"/>
    <p:sldId id="476" r:id="rId58"/>
    <p:sldId id="477" r:id="rId59"/>
    <p:sldId id="479" r:id="rId60"/>
    <p:sldId id="456" r:id="rId61"/>
    <p:sldId id="457" r:id="rId62"/>
    <p:sldId id="378" r:id="rId63"/>
    <p:sldId id="306" r:id="rId64"/>
    <p:sldId id="347" r:id="rId65"/>
    <p:sldId id="328" r:id="rId66"/>
    <p:sldId id="329" r:id="rId67"/>
    <p:sldId id="355" r:id="rId68"/>
    <p:sldId id="330" r:id="rId69"/>
    <p:sldId id="271" r:id="rId70"/>
    <p:sldId id="279" r:id="rId71"/>
    <p:sldId id="293" r:id="rId72"/>
    <p:sldId id="289" r:id="rId73"/>
    <p:sldId id="290" r:id="rId74"/>
    <p:sldId id="294" r:id="rId75"/>
    <p:sldId id="295" r:id="rId76"/>
    <p:sldId id="307" r:id="rId77"/>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86077" autoAdjust="0"/>
  </p:normalViewPr>
  <p:slideViewPr>
    <p:cSldViewPr snapToGrid="0">
      <p:cViewPr varScale="1">
        <p:scale>
          <a:sx n="95" d="100"/>
          <a:sy n="95" d="100"/>
        </p:scale>
        <p:origin x="114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04/04/2026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04/04/2026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04/04/2026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04/04/2026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04/04/2026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04/04/2026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04/04/2026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04/04/2026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04/04/2026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04/04/2026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04/04/2026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04/04/2026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04/04/2026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jpeg"/><Relationship Id="rId4" Type="http://schemas.openxmlformats.org/officeDocument/2006/relationships/image" Target="../media/image36.png"/></Relationships>
</file>

<file path=ppt/slides/_rels/slide6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 </a:t>
            </a:r>
            <a:r>
              <a:rPr lang="pt-BR" dirty="0"/>
              <a:t>onde conferir uma solução é fácil, mas descobrir a resposta é extremamente difícil.</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é um problema NP-completo, em geral, usa-se </a:t>
            </a:r>
            <a:r>
              <a:rPr lang="pt-BR" b="1" dirty="0"/>
              <a:t>abordagens heurísticas </a:t>
            </a:r>
            <a:r>
              <a:rPr lang="pt-BR" dirty="0"/>
              <a:t>para induzir árvores de decisão. </a:t>
            </a:r>
          </a:p>
          <a:p>
            <a:r>
              <a:rPr lang="pt-BR" dirty="0"/>
              <a:t>Dentre as mais conhecidas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utilizados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pPr lvl="1">
              <a:buFont typeface="Wingdings" panose="05000000000000000000" pitchFamily="2" charset="2"/>
              <a:buChar char="§"/>
            </a:pPr>
            <a:r>
              <a:rPr lang="pt-BR" b="1" dirty="0">
                <a:solidFill>
                  <a:srgbClr val="7030A0"/>
                </a:solidFill>
              </a:rPr>
              <a:t>Heurística: </a:t>
            </a:r>
            <a:r>
              <a:rPr lang="pt-BR" dirty="0"/>
              <a:t>estratégia prática para encontrar uma solução rápida e aproximada.</a:t>
            </a:r>
            <a:endParaRPr lang="pt-BR" b="1" dirty="0"/>
          </a:p>
          <a:p>
            <a:pPr lvl="1">
              <a:buFont typeface="Wingdings" panose="05000000000000000000" pitchFamily="2" charset="2"/>
              <a:buChar char="§"/>
            </a:pPr>
            <a:r>
              <a:rPr lang="pt-BR" b="1" dirty="0" err="1">
                <a:solidFill>
                  <a:srgbClr val="00B050"/>
                </a:solidFill>
              </a:rPr>
              <a:t>Dicotomização</a:t>
            </a:r>
            <a:r>
              <a:rPr lang="pt-BR" b="1" dirty="0">
                <a:solidFill>
                  <a:srgbClr val="00B050"/>
                </a:solidFill>
              </a:rPr>
              <a:t> iterativa</a:t>
            </a:r>
            <a:r>
              <a:rPr lang="pt-BR" b="1" dirty="0"/>
              <a:t> </a:t>
            </a:r>
            <a:r>
              <a:rPr lang="pt-BR" dirty="0"/>
              <a:t>significa </a:t>
            </a:r>
            <a:r>
              <a:rPr lang="pt-BR" b="1" dirty="0">
                <a:solidFill>
                  <a:schemeClr val="accent2"/>
                </a:solidFill>
              </a:rPr>
              <a:t>dividir-se repetidamente os atributos em duas ou mais classes</a:t>
            </a:r>
            <a:r>
              <a:rPr lang="pt-BR" dirty="0"/>
              <a:t> a cada iteração (ou passo).</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712149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não reconsidera decisões anteriores e não testa 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da raiz e vai descendo, ou seja, a árvore é </a:t>
            </a:r>
            <a:r>
              <a:rPr lang="pt-BR" b="1" dirty="0">
                <a:solidFill>
                  <a:schemeClr val="accent2"/>
                </a:solidFill>
              </a:rPr>
              <a:t>criada de cima para baixo</a:t>
            </a:r>
            <a:r>
              <a:rPr lang="pt-BR" dirty="0"/>
              <a:t> e um </a:t>
            </a:r>
            <a:r>
              <a:rPr lang="pt-BR" b="1" dirty="0">
                <a:solidFill>
                  <a:srgbClr val="00B050"/>
                </a:solidFill>
              </a:rPr>
              <a:t>nó é escolhido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naquele</a:t>
            </a:r>
            <a:r>
              <a:rPr lang="pt-BR" dirty="0"/>
              <a:t> </a:t>
            </a:r>
            <a:r>
              <a:rPr lang="pt-BR" b="1" dirty="0">
                <a:solidFill>
                  <a:srgbClr val="7030A0"/>
                </a:solidFill>
              </a:rPr>
              <a:t>passo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qual é o melhor atributo? </a:t>
            </a:r>
          </a:p>
          <a:p>
            <a:pPr lvl="1">
              <a:buFont typeface="Wingdings" panose="05000000000000000000" pitchFamily="2" charset="2"/>
              <a:buChar char="§"/>
            </a:pPr>
            <a:r>
              <a:rPr lang="pt-BR" dirty="0"/>
              <a:t>Ele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 cada passo, o atributo que </a:t>
            </a:r>
            <a:r>
              <a:rPr lang="pt-BR" b="1" dirty="0"/>
              <a:t>mais reduz a incerteza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a:t>
            </a:r>
            <a:r>
              <a:rPr lang="pt-BR" dirty="0"/>
              <a:t>.</a:t>
            </a:r>
          </a:p>
        </p:txBody>
      </p:sp>
    </p:spTree>
    <p:extLst>
      <p:ext uri="{BB962C8B-B14F-4D97-AF65-F5344CB8AC3E}">
        <p14:creationId xmlns:p14="http://schemas.microsoft.com/office/powerpoint/2010/main" val="3418735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Um </a:t>
            </a:r>
            <a:r>
              <a:rPr lang="pt-BR" b="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método 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a cada ponto (i.e., a cada nó), um </a:t>
            </a:r>
            <a:r>
              <a:rPr lang="pt-BR" b="1" dirty="0"/>
              <a:t>atributo</a:t>
            </a:r>
            <a:r>
              <a:rPr lang="pt-BR" dirty="0"/>
              <a:t> que retorne o maior </a:t>
            </a:r>
            <a:r>
              <a:rPr lang="pt-BR" b="1" dirty="0"/>
              <a:t>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de um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mede o quanto um atributo reduz a incerteza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mede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rgbClr val="00B050"/>
                    </a:solidFill>
                  </a:rPr>
                  <a:t>diferença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a:p>
              <a:p>
                <a:pPr marL="0" indent="0">
                  <a:buNone/>
                </a:pPr>
                <a:endParaRPr lang="pt-BR" sz="600" dirty="0"/>
              </a:p>
              <a:p>
                <a:r>
                  <a:rPr lang="pt-BR" dirty="0"/>
                  <a:t>Vejamos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156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não tem nenhuma </a:t>
            </a:r>
            <a:r>
              <a:rPr lang="pt-BR" b="1" dirty="0"/>
              <a:t>incerteza</a:t>
            </a:r>
            <a:r>
              <a:rPr lang="pt-BR" dirty="0"/>
              <a:t> associada.</a:t>
            </a:r>
          </a:p>
          <a:p>
            <a:pPr lvl="1"/>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do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dirty="0"/>
                  <a:t>entropia de uma </a:t>
                </a:r>
                <a:r>
                  <a:rPr lang="pt-BR" b="1" dirty="0">
                    <a:solidFill>
                      <a:schemeClr val="accent2"/>
                    </a:solidFill>
                  </a:rPr>
                  <a:t>variável booleana</a:t>
                </a:r>
                <a:r>
                  <a:rPr lang="pt-BR" b="1" dirty="0"/>
                  <a:t>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1074"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dirty="0">
                    <a:solidFill>
                      <a:srgbClr val="00B050"/>
                    </a:solidFill>
                  </a:rPr>
                  <a:t>toda ou apenas parte da </a:t>
                </a:r>
                <a:r>
                  <a:rPr lang="pt-BR" b="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572"/>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7030A0"/>
                    </a:solidFill>
                  </a:rPr>
                  <a:t>redução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sz="2600" dirty="0"/>
                  <a:t>O menor valor de </a:t>
                </a:r>
                <a14:m>
                  <m:oMath xmlns:m="http://schemas.openxmlformats.org/officeDocument/2006/math">
                    <m:r>
                      <a:rPr lang="pt-BR" sz="2600" i="1">
                        <a:latin typeface="Cambria Math" panose="02040503050406030204" pitchFamily="18" charset="0"/>
                      </a:rPr>
                      <m:t>𝐺𝑎𝑖𝑛</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oMath>
                </a14:m>
                <a:r>
                  <a:rPr lang="pt-BR" sz="2600" dirty="0"/>
                  <a:t> é 0, pois </a:t>
                </a:r>
                <a14:m>
                  <m:oMath xmlns:m="http://schemas.openxmlformats.org/officeDocument/2006/math">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oMath>
                </a14:m>
                <a:r>
                  <a:rPr lang="pt-BR" sz="2600" dirty="0"/>
                  <a:t> pode explicar todo o conjunto.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b="-1453"/>
                </a:stretch>
              </a:blipFill>
            </p:spPr>
            <p:txBody>
              <a:bodyPr/>
              <a:lstStyle/>
              <a:p>
                <a:r>
                  <a:rPr lang="en-US">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dirty="0"/>
                  <a:t>método ID3 </a:t>
                </a:r>
                <a:r>
                  <a:rPr lang="pt-BR" dirty="0"/>
                  <a:t>é encontrar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e, então, usar o procedimento </a:t>
                </a:r>
                <a:r>
                  <a:rPr lang="pt-BR" b="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2848"/>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dirty="0"/>
              <a:t>Ideal para variáveis discretas.</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Se os valores de um atributo forem contínuos, haverá muito mais pontos para se dividir os dados com esse atributo, e a busca pelo melhor valor a ser dividido pode se tornar demorada.</a:t>
            </a:r>
          </a:p>
        </p:txBody>
      </p:sp>
    </p:spTree>
    <p:extLst>
      <p:ext uri="{BB962C8B-B14F-4D97-AF65-F5344CB8AC3E}">
        <p14:creationId xmlns:p14="http://schemas.microsoft.com/office/powerpoint/2010/main" val="3802744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t>dois exemplos com os mesmos valores de atributos, porém classes diferentes</a:t>
            </a:r>
            <a:r>
              <a:rPr lang="pt-BR" dirty="0"/>
              <a:t>, precisará ser reconsiderado, pois os atributos atuais podem não ser suficientes, por exemplo, </a:t>
            </a:r>
            <a:r>
              <a:rPr lang="pt-BR" b="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2" y="1825624"/>
            <a:ext cx="7054517" cy="5032376"/>
          </a:xfrm>
        </p:spPr>
        <p:txBody>
          <a:bodyPr>
            <a:normAutofit/>
          </a:bodyPr>
          <a:lstStyle/>
          <a:p>
            <a:r>
              <a:rPr lang="pt-BR" dirty="0"/>
              <a:t>Um problema muito comum das </a:t>
            </a:r>
            <a:r>
              <a:rPr lang="pt-BR" b="1" dirty="0"/>
              <a:t>árvores de decisão</a:t>
            </a:r>
            <a:r>
              <a:rPr lang="pt-BR" dirty="0"/>
              <a:t>, especialmente quando se tem um número muito grande de atributos, é o </a:t>
            </a:r>
            <a:r>
              <a:rPr lang="pt-BR" b="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a:t>
            </a:r>
          </a:p>
        </p:txBody>
      </p:sp>
      <p:pic>
        <p:nvPicPr>
          <p:cNvPr id="4" name="Picture 2" descr="Id3 sales learning algorithm">
            <a:extLst>
              <a:ext uri="{FF2B5EF4-FFF2-40B4-BE49-F238E27FC236}">
                <a16:creationId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rgbClr val="00B050"/>
                </a:solidFill>
              </a:rPr>
              <a:t>classes não são bem separadas</a:t>
            </a:r>
            <a:r>
              <a:rPr lang="pt-BR" dirty="0"/>
              <a:t> (sobreposição), </a:t>
            </a:r>
            <a:r>
              <a:rPr lang="pt-BR" b="1" dirty="0">
                <a:solidFill>
                  <a:srgbClr val="00B050"/>
                </a:solidFill>
              </a:rPr>
              <a:t>as árvores são suscetíveis a sobreajustar</a:t>
            </a:r>
            <a:r>
              <a:rPr lang="pt-BR" dirty="0"/>
              <a:t> ao conjunto de treinamento.</a:t>
            </a:r>
          </a:p>
          <a:p>
            <a:r>
              <a:rPr lang="pt-BR" dirty="0"/>
              <a:t>Para 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07280" y="1825624"/>
            <a:ext cx="7132320" cy="5032375"/>
          </a:xfrm>
        </p:spPr>
        <p:txBody>
          <a:bodyPr/>
          <a:lstStyle/>
          <a:p>
            <a:r>
              <a:rPr lang="pt-BR" dirty="0"/>
              <a:t>O </a:t>
            </a:r>
            <a:r>
              <a:rPr lang="pt-BR" b="1" dirty="0">
                <a:solidFill>
                  <a:srgbClr val="FF0000"/>
                </a:solidFill>
              </a:rPr>
              <a:t>principal problema </a:t>
            </a:r>
            <a:r>
              <a:rPr lang="pt-BR" dirty="0"/>
              <a:t>das árvores é que elas são</a:t>
            </a:r>
            <a:r>
              <a:rPr lang="pt-BR" b="1" dirty="0">
                <a:solidFill>
                  <a:srgbClr val="00B050"/>
                </a:solidFill>
              </a:rPr>
              <a:t> muito sensíveis a rotações nos dados de treinamento</a:t>
            </a:r>
            <a:r>
              <a:rPr lang="pt-BR" dirty="0"/>
              <a:t>. </a:t>
            </a:r>
            <a:endParaRPr lang="pt-BR" b="1" dirty="0"/>
          </a:p>
          <a:p>
            <a:r>
              <a:rPr lang="pt-BR" dirty="0"/>
              <a:t>Elas 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dirty="0"/>
              <a:t>Uma maneira para </a:t>
            </a:r>
            <a:r>
              <a:rPr lang="pt-BR" b="1" dirty="0">
                <a:solidFill>
                  <a:srgbClr val="FF0000"/>
                </a:solidFill>
              </a:rPr>
              <a:t>minimizar</a:t>
            </a:r>
            <a:r>
              <a:rPr lang="pt-BR" dirty="0"/>
              <a:t> esse problema da sensibilidade à rotação é usar </a:t>
            </a:r>
            <a:r>
              <a:rPr lang="pt-BR" b="1" dirty="0"/>
              <a:t>análise de componentes principais (PCA)</a:t>
            </a:r>
            <a:r>
              <a:rPr lang="pt-BR" dirty="0"/>
              <a:t>, que rotaciona e dimensiona linearmente a matriz de atributos.</a:t>
            </a:r>
          </a:p>
        </p:txBody>
      </p:sp>
      <p:pic>
        <p:nvPicPr>
          <p:cNvPr id="6" name="Imagem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476309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a:t>As </a:t>
            </a:r>
            <a:r>
              <a:rPr lang="pt-BR" b="1" dirty="0"/>
              <a:t>florestas aleatórias </a:t>
            </a:r>
            <a:r>
              <a:rPr lang="pt-BR" dirty="0"/>
              <a:t>podem limitar essa instabilidade calculando a média ou voto majoritário das predições feitas por diversas </a:t>
            </a:r>
            <a:r>
              <a:rPr lang="pt-BR" b="1" dirty="0"/>
              <a:t>árvores</a:t>
            </a:r>
            <a:r>
              <a:rPr lang="pt-BR" dirty="0"/>
              <a:t>.</a:t>
            </a:r>
            <a:endParaRPr lang="pt-BR" b="1" dirty="0"/>
          </a:p>
        </p:txBody>
      </p:sp>
    </p:spTree>
    <p:extLst>
      <p:ext uri="{BB962C8B-B14F-4D97-AF65-F5344CB8AC3E}">
        <p14:creationId xmlns:p14="http://schemas.microsoft.com/office/powerpoint/2010/main" val="26774920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394960" y="1825624"/>
            <a:ext cx="6690360" cy="5032375"/>
          </a:xfrm>
        </p:spPr>
        <p:txBody>
          <a:bodyPr>
            <a:normAutofit/>
          </a:bodyPr>
          <a:lstStyle/>
          <a:p>
            <a:r>
              <a:rPr lang="pt-BR" dirty="0"/>
              <a:t>Se não for restringida, a </a:t>
            </a:r>
            <a:r>
              <a:rPr lang="pt-BR" b="1" dirty="0"/>
              <a:t>árvore </a:t>
            </a:r>
            <a:r>
              <a:rPr lang="pt-BR" dirty="0"/>
              <a:t>poderá</a:t>
            </a:r>
            <a:r>
              <a:rPr lang="pt-BR" b="1" dirty="0"/>
              <a:t> </a:t>
            </a:r>
            <a:r>
              <a:rPr lang="pt-BR" dirty="0"/>
              <a:t>se adaptar muito bem aos dados de treinamento,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durante seu treinamento.</a:t>
            </a:r>
          </a:p>
          <a:p>
            <a:pPr lvl="1">
              <a:buFont typeface="Wingdings" panose="05000000000000000000" pitchFamily="2" charset="2"/>
              <a:buChar char="§"/>
            </a:pPr>
            <a:r>
              <a:rPr lang="pt-BR" dirty="0"/>
              <a:t>Essa restrição é feita através de alguns </a:t>
            </a:r>
            <a:r>
              <a:rPr lang="pt-BR" dirty="0" err="1"/>
              <a:t>hiperparâmetros</a:t>
            </a:r>
            <a:r>
              <a:rPr lang="pt-BR" dirty="0"/>
              <a:t>.</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732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7320" y="4520115"/>
            <a:ext cx="2971800" cy="2337884"/>
          </a:xfrm>
          <a:prstGeom prst="rect">
            <a:avLst/>
          </a:prstGeom>
        </p:spPr>
      </p:pic>
      <p:sp>
        <p:nvSpPr>
          <p:cNvPr id="6" name="Seta para baixo 5"/>
          <p:cNvSpPr/>
          <p:nvPr/>
        </p:nvSpPr>
        <p:spPr>
          <a:xfrm>
            <a:off x="269748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3108960" y="4066817"/>
            <a:ext cx="1474891" cy="369332"/>
          </a:xfrm>
          <a:prstGeom prst="rect">
            <a:avLst/>
          </a:prstGeom>
          <a:noFill/>
        </p:spPr>
        <p:txBody>
          <a:bodyPr wrap="none" rtlCol="0">
            <a:spAutoFit/>
          </a:bodyPr>
          <a:lstStyle/>
          <a:p>
            <a:r>
              <a:rPr lang="pt-BR" dirty="0"/>
              <a:t>Regularização</a:t>
            </a:r>
          </a:p>
        </p:txBody>
      </p:sp>
    </p:spTree>
    <p:extLst>
      <p:ext uri="{BB962C8B-B14F-4D97-AF65-F5344CB8AC3E}">
        <p14:creationId xmlns:p14="http://schemas.microsoft.com/office/powerpoint/2010/main" val="35435197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tendem a se </a:t>
            </a:r>
            <a:r>
              <a:rPr lang="pt-BR" b="1" dirty="0" err="1"/>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 regularização destas árvores pode ser controlada pelos hiperparâmetros: </a:t>
            </a:r>
          </a:p>
          <a:p>
            <a:pPr lvl="1">
              <a:buFont typeface="Wingdings" panose="05000000000000000000" pitchFamily="2" charset="2"/>
              <a:buChar char="§"/>
            </a:pPr>
            <a:r>
              <a:rPr lang="pt-BR" b="1" dirty="0" err="1"/>
              <a:t>max_depth</a:t>
            </a:r>
            <a:r>
              <a:rPr lang="pt-BR" dirty="0"/>
              <a:t>: profundidade máxima (i.e., número de níveis).</a:t>
            </a:r>
          </a:p>
          <a:p>
            <a:pPr lvl="1">
              <a:buFont typeface="Wingdings" panose="05000000000000000000" pitchFamily="2" charset="2"/>
              <a:buChar char="§"/>
            </a:pPr>
            <a:r>
              <a:rPr lang="pt-BR" b="1" dirty="0" err="1"/>
              <a:t>min_samples_split</a:t>
            </a:r>
            <a:r>
              <a:rPr lang="pt-BR" dirty="0"/>
              <a:t>: número mínimo de exemplos um nó deve ter para poder ser dividido.</a:t>
            </a:r>
          </a:p>
          <a:p>
            <a:pPr lvl="1">
              <a:buFont typeface="Wingdings" panose="05000000000000000000" pitchFamily="2" charset="2"/>
              <a:buChar char="§"/>
            </a:pPr>
            <a:r>
              <a:rPr lang="pt-BR" b="1" dirty="0" err="1"/>
              <a:t>min_samples_leaf</a:t>
            </a:r>
            <a:r>
              <a:rPr lang="pt-BR" dirty="0"/>
              <a:t>: número mínimo de exemplos que um nó folha deve ter.</a:t>
            </a:r>
          </a:p>
          <a:p>
            <a:pPr lvl="1">
              <a:buFont typeface="Wingdings" panose="05000000000000000000" pitchFamily="2" charset="2"/>
              <a:buChar char="§"/>
            </a:pPr>
            <a:r>
              <a:rPr lang="pt-BR" b="1" dirty="0" err="1"/>
              <a:t>max_leaf_nodes</a:t>
            </a:r>
            <a:r>
              <a:rPr lang="pt-BR" dirty="0"/>
              <a:t>: número máximo de nós folha.</a:t>
            </a:r>
          </a:p>
          <a:p>
            <a:pPr lvl="1">
              <a:buFont typeface="Wingdings" panose="05000000000000000000" pitchFamily="2" charset="2"/>
              <a:buChar char="§"/>
            </a:pPr>
            <a:r>
              <a:rPr lang="pt-BR" b="1" dirty="0" err="1"/>
              <a:t>max_features</a:t>
            </a:r>
            <a:r>
              <a:rPr lang="pt-BR" dirty="0"/>
              <a:t>: número máximo de atributos que são avaliados para criação de uma divisão (i.e., </a:t>
            </a:r>
            <a:r>
              <a:rPr lang="pt-BR" dirty="0" err="1"/>
              <a:t>split</a:t>
            </a:r>
            <a:r>
              <a:rPr lang="pt-BR" dirty="0"/>
              <a:t>).</a:t>
            </a:r>
          </a:p>
          <a:p>
            <a:r>
              <a:rPr lang="pt-BR" dirty="0"/>
              <a:t>Aumentar os </a:t>
            </a:r>
            <a:r>
              <a:rPr lang="pt-BR" dirty="0" err="1"/>
              <a:t>hiperparâmetros</a:t>
            </a:r>
            <a:r>
              <a:rPr lang="pt-BR" dirty="0"/>
              <a:t> </a:t>
            </a:r>
            <a:r>
              <a:rPr lang="pt-BR" b="1" dirty="0"/>
              <a:t>min_*</a:t>
            </a:r>
            <a:r>
              <a:rPr lang="pt-BR" dirty="0"/>
              <a:t> ou reduzir os </a:t>
            </a:r>
            <a:r>
              <a:rPr lang="pt-BR" dirty="0" err="1"/>
              <a:t>hiperparâmetros</a:t>
            </a:r>
            <a:r>
              <a:rPr lang="pt-BR" dirty="0"/>
              <a:t> </a:t>
            </a:r>
            <a:r>
              <a:rPr lang="pt-BR" b="1" dirty="0" err="1"/>
              <a:t>max</a:t>
            </a:r>
            <a:r>
              <a:rPr lang="pt-BR" b="1" dirty="0"/>
              <a:t>_*</a:t>
            </a:r>
            <a:r>
              <a:rPr lang="pt-BR" dirty="0"/>
              <a:t> regularizará o modelo.</a:t>
            </a:r>
          </a:p>
          <a:p>
            <a:r>
              <a:rPr lang="pt-BR" dirty="0"/>
              <a:t>Como encontramos os melhores valores para os </a:t>
            </a:r>
            <a:r>
              <a:rPr lang="pt-BR" dirty="0" err="1"/>
              <a:t>hiperparâmetros</a:t>
            </a:r>
            <a:r>
              <a:rPr lang="pt-BR" dirty="0"/>
              <a:t>?</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48524294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val="20000"/>
                    </a:ext>
                  </a:extLst>
                </a:gridCol>
                <a:gridCol w="4678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a:t>
                      </a:r>
                      <a:r>
                        <a:rPr lang="pt-BR" sz="1900" b="0" dirty="0" err="1"/>
                        <a:t>Gini</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(quantização)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binária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pPr algn="ctr"/>
                      <a:r>
                        <a:rPr lang="pt-BR" sz="1900" b="0" dirty="0"/>
                        <a:t>Repete atributo?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18180</TotalTime>
  <Words>13274</Words>
  <Application>Microsoft Office PowerPoint</Application>
  <PresentationFormat>Widescreen</PresentationFormat>
  <Paragraphs>1393</Paragraphs>
  <Slides>76</Slides>
  <Notes>49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76</vt:i4>
      </vt:variant>
    </vt:vector>
  </HeadingPairs>
  <TitlesOfParts>
    <vt:vector size="85"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PowerPoint Presentation</vt:lpstr>
      <vt:lpstr>Árvores de decisão</vt:lpstr>
      <vt:lpstr>PowerPoint Presentation</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PowerPoint Presentation</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PowerPoint Presentation</vt:lpstr>
      <vt:lpstr>PowerPoint Presentation</vt:lpstr>
      <vt:lpstr>PowerPoint Presentation</vt:lpstr>
      <vt:lpstr>Cálculo da entropia para mais de duas classes </vt:lpstr>
      <vt:lpstr>Cálculo da entropia para mais de duas classes </vt:lpstr>
      <vt:lpstr>PowerPoint Presentation</vt:lpstr>
      <vt:lpstr>Qual a entropia de 0?</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1284</cp:revision>
  <dcterms:created xsi:type="dcterms:W3CDTF">2020-04-06T23:46:10Z</dcterms:created>
  <dcterms:modified xsi:type="dcterms:W3CDTF">2026-04-04T13:56:17Z</dcterms:modified>
</cp:coreProperties>
</file>