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6" r:id="rId2"/>
    <p:sldId id="379" r:id="rId3"/>
    <p:sldId id="310" r:id="rId4"/>
    <p:sldId id="381" r:id="rId5"/>
    <p:sldId id="382" r:id="rId6"/>
    <p:sldId id="458" r:id="rId7"/>
    <p:sldId id="459" r:id="rId8"/>
    <p:sldId id="460" r:id="rId9"/>
    <p:sldId id="335" r:id="rId10"/>
    <p:sldId id="336" r:id="rId11"/>
    <p:sldId id="337" r:id="rId12"/>
    <p:sldId id="338" r:id="rId13"/>
    <p:sldId id="339" r:id="rId14"/>
    <p:sldId id="340" r:id="rId15"/>
    <p:sldId id="341" r:id="rId16"/>
    <p:sldId id="342" r:id="rId17"/>
    <p:sldId id="343" r:id="rId18"/>
    <p:sldId id="462" r:id="rId19"/>
    <p:sldId id="463" r:id="rId20"/>
    <p:sldId id="464" r:id="rId21"/>
    <p:sldId id="467" r:id="rId22"/>
    <p:sldId id="465" r:id="rId23"/>
    <p:sldId id="466" r:id="rId24"/>
    <p:sldId id="350" r:id="rId25"/>
    <p:sldId id="468" r:id="rId26"/>
    <p:sldId id="469" r:id="rId27"/>
    <p:sldId id="470" r:id="rId28"/>
    <p:sldId id="471" r:id="rId29"/>
    <p:sldId id="472" r:id="rId30"/>
    <p:sldId id="354" r:id="rId31"/>
    <p:sldId id="356" r:id="rId32"/>
    <p:sldId id="357" r:id="rId33"/>
    <p:sldId id="359" r:id="rId34"/>
    <p:sldId id="361" r:id="rId35"/>
    <p:sldId id="362" r:id="rId36"/>
    <p:sldId id="363" r:id="rId37"/>
    <p:sldId id="301" r:id="rId38"/>
    <p:sldId id="318" r:id="rId39"/>
    <p:sldId id="369" r:id="rId40"/>
    <p:sldId id="319" r:id="rId41"/>
    <p:sldId id="364" r:id="rId42"/>
    <p:sldId id="473" r:id="rId43"/>
    <p:sldId id="367" r:id="rId44"/>
    <p:sldId id="368" r:id="rId45"/>
    <p:sldId id="277" r:id="rId46"/>
    <p:sldId id="283" r:id="rId47"/>
    <p:sldId id="284" r:id="rId48"/>
    <p:sldId id="285" r:id="rId49"/>
    <p:sldId id="291" r:id="rId50"/>
    <p:sldId id="292" r:id="rId51"/>
    <p:sldId id="296" r:id="rId52"/>
    <p:sldId id="383" r:id="rId53"/>
    <p:sldId id="321" r:id="rId54"/>
    <p:sldId id="322" r:id="rId55"/>
    <p:sldId id="371" r:id="rId56"/>
    <p:sldId id="374" r:id="rId57"/>
    <p:sldId id="375" r:id="rId58"/>
    <p:sldId id="377" r:id="rId59"/>
    <p:sldId id="461" r:id="rId60"/>
    <p:sldId id="456" r:id="rId61"/>
    <p:sldId id="457" r:id="rId62"/>
    <p:sldId id="378" r:id="rId63"/>
    <p:sldId id="306" r:id="rId64"/>
    <p:sldId id="347" r:id="rId65"/>
    <p:sldId id="328" r:id="rId66"/>
    <p:sldId id="329" r:id="rId67"/>
    <p:sldId id="355" r:id="rId68"/>
    <p:sldId id="330" r:id="rId69"/>
    <p:sldId id="271" r:id="rId70"/>
    <p:sldId id="279" r:id="rId71"/>
    <p:sldId id="293" r:id="rId72"/>
    <p:sldId id="289" r:id="rId73"/>
    <p:sldId id="290" r:id="rId74"/>
    <p:sldId id="294" r:id="rId75"/>
    <p:sldId id="295" r:id="rId76"/>
    <p:sldId id="307" r:id="rId7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A7399A-4647-4E30-9A28-A3EC912238AF}" v="25" dt="2020-10-24T10:39:15.3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05" autoAdjust="0"/>
    <p:restoredTop sz="86077" autoAdjust="0"/>
  </p:normalViewPr>
  <p:slideViewPr>
    <p:cSldViewPr snapToGrid="0">
      <p:cViewPr varScale="1">
        <p:scale>
          <a:sx n="95" d="100"/>
          <a:sy n="95" d="100"/>
        </p:scale>
        <p:origin x="114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EFA7399A-4647-4E30-9A28-A3EC912238AF}"/>
    <pc:docChg chg="modSld">
      <pc:chgData name="Felipe Augusto Pereira de Figueiredo" userId="e1771b70d906f94b" providerId="Windows Live" clId="Web-{EFA7399A-4647-4E30-9A28-A3EC912238AF}" dt="2020-10-24T10:39:14.990" v="23" actId="20577"/>
      <pc:docMkLst>
        <pc:docMk/>
      </pc:docMkLst>
      <pc:sldChg chg="modSp">
        <pc:chgData name="Felipe Augusto Pereira de Figueiredo" userId="e1771b70d906f94b" providerId="Windows Live" clId="Web-{EFA7399A-4647-4E30-9A28-A3EC912238AF}" dt="2020-10-24T10:39:14.990" v="22" actId="20577"/>
        <pc:sldMkLst>
          <pc:docMk/>
          <pc:sldMk cId="2760830662" sldId="300"/>
        </pc:sldMkLst>
        <pc:spChg chg="mod">
          <ac:chgData name="Felipe Augusto Pereira de Figueiredo" userId="e1771b70d906f94b" providerId="Windows Live" clId="Web-{EFA7399A-4647-4E30-9A28-A3EC912238AF}" dt="2020-10-24T10:39:14.990" v="22" actId="20577"/>
          <ac:spMkLst>
            <pc:docMk/>
            <pc:sldMk cId="2760830662" sldId="30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C82C08-3EFC-4473-8294-F0E229C19EFF}" type="datetimeFigureOut">
              <a:rPr lang="pt-BR" smtClean="0"/>
              <a:t>03/04/2026</a:t>
            </a:fld>
            <a:endParaRPr lang="pt-B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0A2A4-8C14-4B1A-AD48-7B6401078BF7}" type="slidenum">
              <a:rPr lang="pt-BR" smtClean="0"/>
              <a:t>‹#›</a:t>
            </a:fld>
            <a:endParaRPr lang="pt-BR"/>
          </a:p>
        </p:txBody>
      </p:sp>
    </p:spTree>
    <p:extLst>
      <p:ext uri="{BB962C8B-B14F-4D97-AF65-F5344CB8AC3E}">
        <p14:creationId xmlns:p14="http://schemas.microsoft.com/office/powerpoint/2010/main" val="300813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tats.stackexchange.com/questions/178522/why-knn-is-a-non-linear-classifier"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tats.stackexchange.com/questions/178522/why-knn-is-a-non-linear-classifier"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tats.stackexchange.com/questions/178522/why-knn-is-a-non-linear-classifier"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tats.stackexchange.com/questions/178522/why-knn-is-a-non-linear-classifier"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tats.stackexchange.com/questions/178522/why-knn-is-a-non-linear-classifier"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tats.stackexchange.com/questions/178522/why-knn-is-a-non-linear-classifier"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tats.stackexchange.com/questions/178522/why-knn-is-a-non-linear-classifier"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tats.stackexchange.com/questions/178522/why-knn-is-a-non-linear-classifier"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stackoverflow.com/questions/3289589/can-the-value-of-information-gain-be-negative"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stackoverflow.com/questions/3289589/can-the-value-of-information-gain-be-negative"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stackoverflow.com/questions/3289589/can-the-value-of-information-gain-be-negative"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stackoverflow.com/questions/3289589/can-the-value-of-information-gain-be-negative"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iq.opengenus.org/id3-algorithm/"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iq.opengenus.org/id3-algorithm/"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iq.opengenus.org/id3-algorithm/"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dirty="0">
                <a:solidFill>
                  <a:schemeClr val="tx1"/>
                </a:solidFill>
                <a:effectLst/>
                <a:latin typeface="+mn-lt"/>
                <a:ea typeface="+mn-ea"/>
                <a:cs typeface="+mn-cs"/>
              </a:rPr>
              <a:t>Uma das muitas qualidades das Árvores de Decisão é que elas exigem</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muito pouca preparação de dados. Em particular, elas não necessitam de escalonamento</a:t>
            </a:r>
            <a:r>
              <a:rPr lang="pt-BR" sz="1200" b="0" i="0" kern="1200" baseline="0" dirty="0">
                <a:solidFill>
                  <a:schemeClr val="tx1"/>
                </a:solidFill>
                <a:effectLst/>
                <a:latin typeface="+mn-lt"/>
                <a:ea typeface="+mn-ea"/>
                <a:cs typeface="+mn-cs"/>
              </a:rPr>
              <a:t> de atributos.</a:t>
            </a:r>
          </a:p>
          <a:p>
            <a:endParaRPr lang="pt-BR" sz="1200" b="0" i="0" kern="1200" baseline="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são um método de aprendizado supervisionado</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não paramétrico usado para classificação e regressão. O objetivo é</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criar um modelo que prediz</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 valor de uma variável de</a:t>
            </a:r>
            <a:r>
              <a:rPr lang="pt-BR" sz="1200" b="0" i="0" kern="1200" baseline="0" dirty="0">
                <a:solidFill>
                  <a:schemeClr val="tx1"/>
                </a:solidFill>
                <a:effectLst/>
                <a:latin typeface="+mn-lt"/>
                <a:ea typeface="+mn-ea"/>
                <a:cs typeface="+mn-cs"/>
              </a:rPr>
              <a:t> saída</a:t>
            </a:r>
            <a:r>
              <a:rPr lang="pt-BR" sz="1200" b="0" i="0" kern="1200" dirty="0">
                <a:solidFill>
                  <a:schemeClr val="tx1"/>
                </a:solidFill>
                <a:effectLst/>
                <a:latin typeface="+mn-lt"/>
                <a:ea typeface="+mn-ea"/>
                <a:cs typeface="+mn-cs"/>
              </a:rPr>
              <a:t>,</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aprendendo regras simples de decisão inferidas a partir dos atributos de dados.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não são paramétricas porque não fazem suposições sobre</a:t>
            </a:r>
            <a:r>
              <a:rPr lang="pt-BR" sz="1200" b="0" i="0" kern="1200" baseline="0" dirty="0">
                <a:solidFill>
                  <a:schemeClr val="tx1"/>
                </a:solidFill>
                <a:effectLst/>
                <a:latin typeface="+mn-lt"/>
                <a:ea typeface="+mn-ea"/>
                <a:cs typeface="+mn-cs"/>
              </a:rPr>
              <a:t> a</a:t>
            </a:r>
            <a:r>
              <a:rPr lang="pt-BR" sz="1200" b="0" i="0" kern="1200" dirty="0">
                <a:solidFill>
                  <a:schemeClr val="tx1"/>
                </a:solidFill>
                <a:effectLst/>
                <a:latin typeface="+mn-lt"/>
                <a:ea typeface="+mn-ea"/>
                <a:cs typeface="+mn-cs"/>
              </a:rPr>
              <a:t> distribuição dos dados. Basicamente, isso significa que o modelo é construído apenas com base nos dados</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observados. Por exemplo, Classificadores Gaussian Naive Bayes são</a:t>
            </a:r>
            <a:r>
              <a:rPr lang="pt-BR" sz="1200" b="0" i="0" kern="1200" baseline="0" dirty="0">
                <a:solidFill>
                  <a:schemeClr val="tx1"/>
                </a:solidFill>
                <a:effectLst/>
                <a:latin typeface="+mn-lt"/>
                <a:ea typeface="+mn-ea"/>
                <a:cs typeface="+mn-cs"/>
              </a:rPr>
              <a:t> modelos paramêtricos, pois consideram que os atributos seguem distribuições Gaussianas.</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Porque k-NN</a:t>
            </a:r>
            <a:r>
              <a:rPr lang="pt-BR" sz="1200" b="0" i="0" kern="1200" baseline="0" dirty="0">
                <a:solidFill>
                  <a:schemeClr val="tx1"/>
                </a:solidFill>
                <a:effectLst/>
                <a:latin typeface="+mn-lt"/>
                <a:ea typeface="+mn-ea"/>
                <a:cs typeface="+mn-cs"/>
              </a:rPr>
              <a:t> é um classificador não-linear.</a:t>
            </a:r>
            <a:endParaRPr lang="pt-BR" sz="1200" b="0" i="0" kern="1200" dirty="0">
              <a:solidFill>
                <a:schemeClr val="tx1"/>
              </a:solidFill>
              <a:effectLst/>
              <a:latin typeface="+mn-lt"/>
              <a:ea typeface="+mn-ea"/>
              <a:cs typeface="+mn-cs"/>
            </a:endParaRPr>
          </a:p>
          <a:p>
            <a:r>
              <a:rPr lang="pt-BR" dirty="0">
                <a:hlinkClick r:id="rId3"/>
              </a:rPr>
              <a:t>https://stats.stackexchange.com/questions/178522/why-knn-is-a-non-linear-classifier</a:t>
            </a:r>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Netflix Recommendations: Beyond the 5 stars (Part 2)</a:t>
            </a:r>
            <a:endParaRPr lang="pt-BR" b="1" dirty="0"/>
          </a:p>
          <a:p>
            <a:r>
              <a:rPr lang="pt-BR" dirty="0"/>
              <a:t>https://netflixtechblog.com/netflix-recommendations-beyond-the-5-stars-part-2-d9b96aa399f5</a:t>
            </a:r>
          </a:p>
          <a:p>
            <a:endParaRPr lang="pt-BR" dirty="0"/>
          </a:p>
          <a:p>
            <a:r>
              <a:rPr lang="pt-BR" dirty="0"/>
              <a:t>Referências:</a:t>
            </a:r>
          </a:p>
          <a:p>
            <a:r>
              <a:rPr lang="pt-BR" dirty="0"/>
              <a:t>[1] https://sebastianraschka.com/faq/docs/parametric_vs_nonparametric.html</a:t>
            </a:r>
          </a:p>
          <a:p>
            <a:r>
              <a:rPr lang="pt-BR" dirty="0"/>
              <a:t>[2] https://www.quora.com/Why-is-a-decision-tree-considered-a-non-parametric-model</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a:t>
            </a:fld>
            <a:endParaRPr lang="pt-BR"/>
          </a:p>
        </p:txBody>
      </p:sp>
    </p:spTree>
    <p:extLst>
      <p:ext uri="{BB962C8B-B14F-4D97-AF65-F5344CB8AC3E}">
        <p14:creationId xmlns:p14="http://schemas.microsoft.com/office/powerpoint/2010/main" val="462528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Uma das muitas qualidades das Árvores de Decisão é que elas exigem</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muito pouca preparação de dados. Em particular, elas não necessitam de escalonamento</a:t>
            </a:r>
            <a:r>
              <a:rPr lang="pt-BR" sz="1200" b="0" i="0" kern="1200" baseline="0" dirty="0">
                <a:solidFill>
                  <a:schemeClr val="tx1"/>
                </a:solidFill>
                <a:effectLst/>
                <a:latin typeface="+mn-lt"/>
                <a:ea typeface="+mn-ea"/>
                <a:cs typeface="+mn-cs"/>
              </a:rPr>
              <a:t> de atributos.</a:t>
            </a:r>
          </a:p>
          <a:p>
            <a:endParaRPr lang="pt-BR" sz="1200" b="0" i="0" kern="1200" baseline="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são um método de aprendizado supervisionado</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não paramétrico usado para classificação e regressão. O objetivo é</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criar um modelo que prediz</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 valor de uma variável de</a:t>
            </a:r>
            <a:r>
              <a:rPr lang="pt-BR" sz="1200" b="0" i="0" kern="1200" baseline="0" dirty="0">
                <a:solidFill>
                  <a:schemeClr val="tx1"/>
                </a:solidFill>
                <a:effectLst/>
                <a:latin typeface="+mn-lt"/>
                <a:ea typeface="+mn-ea"/>
                <a:cs typeface="+mn-cs"/>
              </a:rPr>
              <a:t> saída</a:t>
            </a:r>
            <a:r>
              <a:rPr lang="pt-BR" sz="1200" b="0" i="0" kern="1200" dirty="0">
                <a:solidFill>
                  <a:schemeClr val="tx1"/>
                </a:solidFill>
                <a:effectLst/>
                <a:latin typeface="+mn-lt"/>
                <a:ea typeface="+mn-ea"/>
                <a:cs typeface="+mn-cs"/>
              </a:rPr>
              <a:t>,</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aprendendo regras simples de decisão inferidas a partir dos atributos de dados.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não são paramétricas porque não fazem suposições sobre</a:t>
            </a:r>
            <a:r>
              <a:rPr lang="pt-BR" sz="1200" b="0" i="0" kern="1200" baseline="0" dirty="0">
                <a:solidFill>
                  <a:schemeClr val="tx1"/>
                </a:solidFill>
                <a:effectLst/>
                <a:latin typeface="+mn-lt"/>
                <a:ea typeface="+mn-ea"/>
                <a:cs typeface="+mn-cs"/>
              </a:rPr>
              <a:t> a</a:t>
            </a:r>
            <a:r>
              <a:rPr lang="pt-BR" sz="1200" b="0" i="0" kern="1200" dirty="0">
                <a:solidFill>
                  <a:schemeClr val="tx1"/>
                </a:solidFill>
                <a:effectLst/>
                <a:latin typeface="+mn-lt"/>
                <a:ea typeface="+mn-ea"/>
                <a:cs typeface="+mn-cs"/>
              </a:rPr>
              <a:t> distribuição dos dados. Basicamente, isso significa que o modelo é construído apenas com base nos dados</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observados. Por exemplo, Classificadores </a:t>
            </a:r>
            <a:r>
              <a:rPr lang="pt-BR" sz="1200" b="0" i="0" kern="1200" dirty="0" err="1">
                <a:solidFill>
                  <a:schemeClr val="tx1"/>
                </a:solidFill>
                <a:effectLst/>
                <a:latin typeface="+mn-lt"/>
                <a:ea typeface="+mn-ea"/>
                <a:cs typeface="+mn-cs"/>
              </a:rPr>
              <a:t>Gaussian</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Naive</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Bayes</a:t>
            </a:r>
            <a:r>
              <a:rPr lang="pt-BR" sz="1200" b="0" i="0" kern="1200" dirty="0">
                <a:solidFill>
                  <a:schemeClr val="tx1"/>
                </a:solidFill>
                <a:effectLst/>
                <a:latin typeface="+mn-lt"/>
                <a:ea typeface="+mn-ea"/>
                <a:cs typeface="+mn-cs"/>
              </a:rPr>
              <a:t> são</a:t>
            </a:r>
            <a:r>
              <a:rPr lang="pt-BR" sz="1200" b="0" i="0" kern="1200" baseline="0" dirty="0">
                <a:solidFill>
                  <a:schemeClr val="tx1"/>
                </a:solidFill>
                <a:effectLst/>
                <a:latin typeface="+mn-lt"/>
                <a:ea typeface="+mn-ea"/>
                <a:cs typeface="+mn-cs"/>
              </a:rPr>
              <a:t> modelos </a:t>
            </a:r>
            <a:r>
              <a:rPr lang="pt-BR" sz="1200" b="0" i="0" kern="1200" baseline="0" dirty="0" err="1">
                <a:solidFill>
                  <a:schemeClr val="tx1"/>
                </a:solidFill>
                <a:effectLst/>
                <a:latin typeface="+mn-lt"/>
                <a:ea typeface="+mn-ea"/>
                <a:cs typeface="+mn-cs"/>
              </a:rPr>
              <a:t>paramêtricos</a:t>
            </a:r>
            <a:r>
              <a:rPr lang="pt-BR" sz="1200" b="0" i="0" kern="1200" baseline="0" dirty="0">
                <a:solidFill>
                  <a:schemeClr val="tx1"/>
                </a:solidFill>
                <a:effectLst/>
                <a:latin typeface="+mn-lt"/>
                <a:ea typeface="+mn-ea"/>
                <a:cs typeface="+mn-cs"/>
              </a:rPr>
              <a:t>, pois consideram que os atributos seguem distribuições Gaussianas.</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Porque k-NN</a:t>
            </a:r>
            <a:r>
              <a:rPr lang="pt-BR" sz="1200" b="0" i="0" kern="1200" baseline="0" dirty="0">
                <a:solidFill>
                  <a:schemeClr val="tx1"/>
                </a:solidFill>
                <a:effectLst/>
                <a:latin typeface="+mn-lt"/>
                <a:ea typeface="+mn-ea"/>
                <a:cs typeface="+mn-cs"/>
              </a:rPr>
              <a:t> é um classificador não-linear.</a:t>
            </a:r>
            <a:endParaRPr lang="pt-BR" sz="1200" b="0" i="0" kern="1200" dirty="0">
              <a:solidFill>
                <a:schemeClr val="tx1"/>
              </a:solidFill>
              <a:effectLst/>
              <a:latin typeface="+mn-lt"/>
              <a:ea typeface="+mn-ea"/>
              <a:cs typeface="+mn-cs"/>
            </a:endParaRPr>
          </a:p>
          <a:p>
            <a:r>
              <a:rPr lang="pt-BR" dirty="0">
                <a:hlinkClick r:id="rId3"/>
              </a:rPr>
              <a:t>https://stats.stackexchange.com/questions/178522/why-knn-is-a-non-linear-classifier</a:t>
            </a:r>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Netflix Recommendations: Beyond the 5 stars (Part 2)</a:t>
            </a:r>
            <a:endParaRPr lang="pt-BR" b="1" dirty="0"/>
          </a:p>
          <a:p>
            <a:r>
              <a:rPr lang="pt-BR" dirty="0"/>
              <a:t>https://netflixtechblog.com/netflix-recommendations-beyond-the-5-stars-part-2-d9b96aa399f5</a:t>
            </a:r>
          </a:p>
          <a:p>
            <a:endParaRPr lang="pt-BR" dirty="0"/>
          </a:p>
          <a:p>
            <a:r>
              <a:rPr lang="pt-BR" dirty="0"/>
              <a:t>Referências:</a:t>
            </a:r>
          </a:p>
          <a:p>
            <a:r>
              <a:rPr lang="pt-BR" dirty="0"/>
              <a:t>[1] https://sebastianraschka.com/faq/docs/parametric_vs_nonparametric.html</a:t>
            </a:r>
          </a:p>
          <a:p>
            <a:r>
              <a:rPr lang="pt-BR" dirty="0"/>
              <a:t>[2] https://www.quora.com/Why-is-a-decision-tree-considered-a-non-parametric-model</a:t>
            </a:r>
          </a:p>
          <a:p>
            <a:endParaRPr lang="pt-BR" dirty="0"/>
          </a:p>
          <a:p>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5</a:t>
            </a:fld>
            <a:endParaRPr lang="pt-BR"/>
          </a:p>
        </p:txBody>
      </p:sp>
    </p:spTree>
    <p:extLst>
      <p:ext uri="{BB962C8B-B14F-4D97-AF65-F5344CB8AC3E}">
        <p14:creationId xmlns:p14="http://schemas.microsoft.com/office/powerpoint/2010/main" val="1115378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Uma das muitas qualidades das Árvores de Decisão é que elas exigem</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muito pouca preparação de dados. Em particular, elas não necessitam de escalonamento</a:t>
            </a:r>
            <a:r>
              <a:rPr lang="pt-BR" sz="1200" b="0" i="0" kern="1200" baseline="0" dirty="0">
                <a:solidFill>
                  <a:schemeClr val="tx1"/>
                </a:solidFill>
                <a:effectLst/>
                <a:latin typeface="+mn-lt"/>
                <a:ea typeface="+mn-ea"/>
                <a:cs typeface="+mn-cs"/>
              </a:rPr>
              <a:t> de atributos.</a:t>
            </a:r>
          </a:p>
          <a:p>
            <a:endParaRPr lang="pt-BR" sz="1200" b="0" i="0" kern="1200" baseline="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são um método de aprendizado supervisionado</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não paramétrico usado para classificação e regressão. O objetivo é</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criar um modelo que prediz</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 valor de uma variável de</a:t>
            </a:r>
            <a:r>
              <a:rPr lang="pt-BR" sz="1200" b="0" i="0" kern="1200" baseline="0" dirty="0">
                <a:solidFill>
                  <a:schemeClr val="tx1"/>
                </a:solidFill>
                <a:effectLst/>
                <a:latin typeface="+mn-lt"/>
                <a:ea typeface="+mn-ea"/>
                <a:cs typeface="+mn-cs"/>
              </a:rPr>
              <a:t> saída</a:t>
            </a:r>
            <a:r>
              <a:rPr lang="pt-BR" sz="1200" b="0" i="0" kern="1200" dirty="0">
                <a:solidFill>
                  <a:schemeClr val="tx1"/>
                </a:solidFill>
                <a:effectLst/>
                <a:latin typeface="+mn-lt"/>
                <a:ea typeface="+mn-ea"/>
                <a:cs typeface="+mn-cs"/>
              </a:rPr>
              <a:t>,</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aprendendo regras simples de decisão inferidas a partir dos atributos de dados.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não são paramétricas porque não fazem suposições sobre</a:t>
            </a:r>
            <a:r>
              <a:rPr lang="pt-BR" sz="1200" b="0" i="0" kern="1200" baseline="0" dirty="0">
                <a:solidFill>
                  <a:schemeClr val="tx1"/>
                </a:solidFill>
                <a:effectLst/>
                <a:latin typeface="+mn-lt"/>
                <a:ea typeface="+mn-ea"/>
                <a:cs typeface="+mn-cs"/>
              </a:rPr>
              <a:t> a</a:t>
            </a:r>
            <a:r>
              <a:rPr lang="pt-BR" sz="1200" b="0" i="0" kern="1200" dirty="0">
                <a:solidFill>
                  <a:schemeClr val="tx1"/>
                </a:solidFill>
                <a:effectLst/>
                <a:latin typeface="+mn-lt"/>
                <a:ea typeface="+mn-ea"/>
                <a:cs typeface="+mn-cs"/>
              </a:rPr>
              <a:t> distribuição dos dados. Basicamente, isso significa que o modelo é construído apenas com base nos dados</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observados. Por exemplo, Classificadores </a:t>
            </a:r>
            <a:r>
              <a:rPr lang="pt-BR" sz="1200" b="0" i="0" kern="1200" dirty="0" err="1">
                <a:solidFill>
                  <a:schemeClr val="tx1"/>
                </a:solidFill>
                <a:effectLst/>
                <a:latin typeface="+mn-lt"/>
                <a:ea typeface="+mn-ea"/>
                <a:cs typeface="+mn-cs"/>
              </a:rPr>
              <a:t>Gaussian</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Naive</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Bayes</a:t>
            </a:r>
            <a:r>
              <a:rPr lang="pt-BR" sz="1200" b="0" i="0" kern="1200" dirty="0">
                <a:solidFill>
                  <a:schemeClr val="tx1"/>
                </a:solidFill>
                <a:effectLst/>
                <a:latin typeface="+mn-lt"/>
                <a:ea typeface="+mn-ea"/>
                <a:cs typeface="+mn-cs"/>
              </a:rPr>
              <a:t> são</a:t>
            </a:r>
            <a:r>
              <a:rPr lang="pt-BR" sz="1200" b="0" i="0" kern="1200" baseline="0" dirty="0">
                <a:solidFill>
                  <a:schemeClr val="tx1"/>
                </a:solidFill>
                <a:effectLst/>
                <a:latin typeface="+mn-lt"/>
                <a:ea typeface="+mn-ea"/>
                <a:cs typeface="+mn-cs"/>
              </a:rPr>
              <a:t> modelos </a:t>
            </a:r>
            <a:r>
              <a:rPr lang="pt-BR" sz="1200" b="0" i="0" kern="1200" baseline="0" dirty="0" err="1">
                <a:solidFill>
                  <a:schemeClr val="tx1"/>
                </a:solidFill>
                <a:effectLst/>
                <a:latin typeface="+mn-lt"/>
                <a:ea typeface="+mn-ea"/>
                <a:cs typeface="+mn-cs"/>
              </a:rPr>
              <a:t>paramêtricos</a:t>
            </a:r>
            <a:r>
              <a:rPr lang="pt-BR" sz="1200" b="0" i="0" kern="1200" baseline="0" dirty="0">
                <a:solidFill>
                  <a:schemeClr val="tx1"/>
                </a:solidFill>
                <a:effectLst/>
                <a:latin typeface="+mn-lt"/>
                <a:ea typeface="+mn-ea"/>
                <a:cs typeface="+mn-cs"/>
              </a:rPr>
              <a:t>, pois consideram que os atributos seguem distribuições Gaussianas.</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Porque k-NN</a:t>
            </a:r>
            <a:r>
              <a:rPr lang="pt-BR" sz="1200" b="0" i="0" kern="1200" baseline="0" dirty="0">
                <a:solidFill>
                  <a:schemeClr val="tx1"/>
                </a:solidFill>
                <a:effectLst/>
                <a:latin typeface="+mn-lt"/>
                <a:ea typeface="+mn-ea"/>
                <a:cs typeface="+mn-cs"/>
              </a:rPr>
              <a:t> é um classificador não-linear.</a:t>
            </a:r>
            <a:endParaRPr lang="pt-BR" sz="1200" b="0" i="0" kern="1200" dirty="0">
              <a:solidFill>
                <a:schemeClr val="tx1"/>
              </a:solidFill>
              <a:effectLst/>
              <a:latin typeface="+mn-lt"/>
              <a:ea typeface="+mn-ea"/>
              <a:cs typeface="+mn-cs"/>
            </a:endParaRPr>
          </a:p>
          <a:p>
            <a:r>
              <a:rPr lang="pt-BR" dirty="0">
                <a:hlinkClick r:id="rId3"/>
              </a:rPr>
              <a:t>https://stats.stackexchange.com/questions/178522/why-knn-is-a-non-linear-classifier</a:t>
            </a:r>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Netflix Recommendations: Beyond the 5 stars (Part 2)</a:t>
            </a:r>
            <a:endParaRPr lang="pt-BR" b="1" dirty="0"/>
          </a:p>
          <a:p>
            <a:r>
              <a:rPr lang="pt-BR" dirty="0"/>
              <a:t>https://netflixtechblog.com/netflix-recommendations-beyond-the-5-stars-part-2-d9b96aa399f5</a:t>
            </a:r>
          </a:p>
          <a:p>
            <a:endParaRPr lang="pt-BR" dirty="0"/>
          </a:p>
          <a:p>
            <a:r>
              <a:rPr lang="pt-BR" dirty="0"/>
              <a:t>Referências:</a:t>
            </a:r>
          </a:p>
          <a:p>
            <a:r>
              <a:rPr lang="pt-BR" dirty="0"/>
              <a:t>[1] https://sebastianraschka.com/faq/docs/parametric_vs_nonparametric.html</a:t>
            </a:r>
          </a:p>
          <a:p>
            <a:r>
              <a:rPr lang="pt-BR" dirty="0"/>
              <a:t>[2] https://www.quora.com/Why-is-a-decision-tree-considered-a-non-parametric-model</a:t>
            </a:r>
          </a:p>
          <a:p>
            <a:endParaRPr lang="pt-BR" dirty="0"/>
          </a:p>
          <a:p>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6</a:t>
            </a:fld>
            <a:endParaRPr lang="pt-BR"/>
          </a:p>
        </p:txBody>
      </p:sp>
    </p:spTree>
    <p:extLst>
      <p:ext uri="{BB962C8B-B14F-4D97-AF65-F5344CB8AC3E}">
        <p14:creationId xmlns:p14="http://schemas.microsoft.com/office/powerpoint/2010/main" val="3796044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Uma das muitas qualidades das Árvores de Decisão é que elas exigem</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muito pouca preparação de dados. Em particular, elas não necessitam de escalonamento</a:t>
            </a:r>
            <a:r>
              <a:rPr lang="pt-BR" sz="1200" b="0" i="0" kern="1200" baseline="0" dirty="0">
                <a:solidFill>
                  <a:schemeClr val="tx1"/>
                </a:solidFill>
                <a:effectLst/>
                <a:latin typeface="+mn-lt"/>
                <a:ea typeface="+mn-ea"/>
                <a:cs typeface="+mn-cs"/>
              </a:rPr>
              <a:t> de atributos.</a:t>
            </a:r>
          </a:p>
          <a:p>
            <a:endParaRPr lang="pt-BR" sz="1200" b="0" i="0" kern="1200" baseline="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são um método de aprendizado supervisionado</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não paramétrico usado para classificação e regressão. O objetivo é</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criar um modelo que prediz</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 valor de uma variável de</a:t>
            </a:r>
            <a:r>
              <a:rPr lang="pt-BR" sz="1200" b="0" i="0" kern="1200" baseline="0" dirty="0">
                <a:solidFill>
                  <a:schemeClr val="tx1"/>
                </a:solidFill>
                <a:effectLst/>
                <a:latin typeface="+mn-lt"/>
                <a:ea typeface="+mn-ea"/>
                <a:cs typeface="+mn-cs"/>
              </a:rPr>
              <a:t> saída</a:t>
            </a:r>
            <a:r>
              <a:rPr lang="pt-BR" sz="1200" b="0" i="0" kern="1200" dirty="0">
                <a:solidFill>
                  <a:schemeClr val="tx1"/>
                </a:solidFill>
                <a:effectLst/>
                <a:latin typeface="+mn-lt"/>
                <a:ea typeface="+mn-ea"/>
                <a:cs typeface="+mn-cs"/>
              </a:rPr>
              <a:t>,</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aprendendo regras simples de decisão inferidas a partir dos atributos de dados.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não são paramétricas porque não fazem suposições sobre</a:t>
            </a:r>
            <a:r>
              <a:rPr lang="pt-BR" sz="1200" b="0" i="0" kern="1200" baseline="0" dirty="0">
                <a:solidFill>
                  <a:schemeClr val="tx1"/>
                </a:solidFill>
                <a:effectLst/>
                <a:latin typeface="+mn-lt"/>
                <a:ea typeface="+mn-ea"/>
                <a:cs typeface="+mn-cs"/>
              </a:rPr>
              <a:t> a</a:t>
            </a:r>
            <a:r>
              <a:rPr lang="pt-BR" sz="1200" b="0" i="0" kern="1200" dirty="0">
                <a:solidFill>
                  <a:schemeClr val="tx1"/>
                </a:solidFill>
                <a:effectLst/>
                <a:latin typeface="+mn-lt"/>
                <a:ea typeface="+mn-ea"/>
                <a:cs typeface="+mn-cs"/>
              </a:rPr>
              <a:t> distribuição dos dados. Basicamente, isso significa que o modelo é construído apenas com base nos dados</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observados. Por exemplo, Classificadores </a:t>
            </a:r>
            <a:r>
              <a:rPr lang="pt-BR" sz="1200" b="0" i="0" kern="1200" dirty="0" err="1">
                <a:solidFill>
                  <a:schemeClr val="tx1"/>
                </a:solidFill>
                <a:effectLst/>
                <a:latin typeface="+mn-lt"/>
                <a:ea typeface="+mn-ea"/>
                <a:cs typeface="+mn-cs"/>
              </a:rPr>
              <a:t>Gaussian</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Naive</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Bayes</a:t>
            </a:r>
            <a:r>
              <a:rPr lang="pt-BR" sz="1200" b="0" i="0" kern="1200" dirty="0">
                <a:solidFill>
                  <a:schemeClr val="tx1"/>
                </a:solidFill>
                <a:effectLst/>
                <a:latin typeface="+mn-lt"/>
                <a:ea typeface="+mn-ea"/>
                <a:cs typeface="+mn-cs"/>
              </a:rPr>
              <a:t> são</a:t>
            </a:r>
            <a:r>
              <a:rPr lang="pt-BR" sz="1200" b="0" i="0" kern="1200" baseline="0" dirty="0">
                <a:solidFill>
                  <a:schemeClr val="tx1"/>
                </a:solidFill>
                <a:effectLst/>
                <a:latin typeface="+mn-lt"/>
                <a:ea typeface="+mn-ea"/>
                <a:cs typeface="+mn-cs"/>
              </a:rPr>
              <a:t> modelos </a:t>
            </a:r>
            <a:r>
              <a:rPr lang="pt-BR" sz="1200" b="0" i="0" kern="1200" baseline="0" dirty="0" err="1">
                <a:solidFill>
                  <a:schemeClr val="tx1"/>
                </a:solidFill>
                <a:effectLst/>
                <a:latin typeface="+mn-lt"/>
                <a:ea typeface="+mn-ea"/>
                <a:cs typeface="+mn-cs"/>
              </a:rPr>
              <a:t>paramêtricos</a:t>
            </a:r>
            <a:r>
              <a:rPr lang="pt-BR" sz="1200" b="0" i="0" kern="1200" baseline="0" dirty="0">
                <a:solidFill>
                  <a:schemeClr val="tx1"/>
                </a:solidFill>
                <a:effectLst/>
                <a:latin typeface="+mn-lt"/>
                <a:ea typeface="+mn-ea"/>
                <a:cs typeface="+mn-cs"/>
              </a:rPr>
              <a:t>, pois consideram que os atributos seguem distribuições Gaussianas.</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Porque k-NN</a:t>
            </a:r>
            <a:r>
              <a:rPr lang="pt-BR" sz="1200" b="0" i="0" kern="1200" baseline="0" dirty="0">
                <a:solidFill>
                  <a:schemeClr val="tx1"/>
                </a:solidFill>
                <a:effectLst/>
                <a:latin typeface="+mn-lt"/>
                <a:ea typeface="+mn-ea"/>
                <a:cs typeface="+mn-cs"/>
              </a:rPr>
              <a:t> é um classificador não-linear.</a:t>
            </a:r>
            <a:endParaRPr lang="pt-BR" sz="1200" b="0" i="0" kern="1200" dirty="0">
              <a:solidFill>
                <a:schemeClr val="tx1"/>
              </a:solidFill>
              <a:effectLst/>
              <a:latin typeface="+mn-lt"/>
              <a:ea typeface="+mn-ea"/>
              <a:cs typeface="+mn-cs"/>
            </a:endParaRPr>
          </a:p>
          <a:p>
            <a:r>
              <a:rPr lang="pt-BR" dirty="0">
                <a:hlinkClick r:id="rId3"/>
              </a:rPr>
              <a:t>https://stats.stackexchange.com/questions/178522/why-knn-is-a-non-linear-classifier</a:t>
            </a:r>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Netflix Recommendations: Beyond the 5 stars (Part 2)</a:t>
            </a:r>
            <a:endParaRPr lang="pt-BR" b="1" dirty="0"/>
          </a:p>
          <a:p>
            <a:r>
              <a:rPr lang="pt-BR" dirty="0"/>
              <a:t>https://netflixtechblog.com/netflix-recommendations-beyond-the-5-stars-part-2-d9b96aa399f5</a:t>
            </a:r>
          </a:p>
          <a:p>
            <a:endParaRPr lang="pt-BR" dirty="0"/>
          </a:p>
          <a:p>
            <a:r>
              <a:rPr lang="pt-BR" dirty="0"/>
              <a:t>Referências:</a:t>
            </a:r>
          </a:p>
          <a:p>
            <a:r>
              <a:rPr lang="pt-BR" dirty="0"/>
              <a:t>[1] https://sebastianraschka.com/faq/docs/parametric_vs_nonparametric.html</a:t>
            </a:r>
          </a:p>
          <a:p>
            <a:r>
              <a:rPr lang="pt-BR" dirty="0"/>
              <a:t>[2] https://www.quora.com/Why-is-a-decision-tree-considered-a-non-parametric-model</a:t>
            </a:r>
          </a:p>
          <a:p>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7</a:t>
            </a:fld>
            <a:endParaRPr lang="pt-BR"/>
          </a:p>
        </p:txBody>
      </p:sp>
    </p:spTree>
    <p:extLst>
      <p:ext uri="{BB962C8B-B14F-4D97-AF65-F5344CB8AC3E}">
        <p14:creationId xmlns:p14="http://schemas.microsoft.com/office/powerpoint/2010/main" val="1363988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Uma das muitas qualidades das Árvores de Decisão é que elas exigem</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muito pouca preparação de dados. Em particular, elas não necessitam de escalonamento</a:t>
            </a:r>
            <a:r>
              <a:rPr lang="pt-BR" sz="1200" b="0" i="0" kern="1200" baseline="0" dirty="0">
                <a:solidFill>
                  <a:schemeClr val="tx1"/>
                </a:solidFill>
                <a:effectLst/>
                <a:latin typeface="+mn-lt"/>
                <a:ea typeface="+mn-ea"/>
                <a:cs typeface="+mn-cs"/>
              </a:rPr>
              <a:t> de atributos.</a:t>
            </a:r>
          </a:p>
          <a:p>
            <a:endParaRPr lang="pt-BR" sz="1200" b="0" i="0" kern="1200" baseline="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são um método de aprendizado supervisionado</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não paramétrico usado para classificação e regressão. O objetivo é</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criar um modelo que prediz</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 valor de uma variável de</a:t>
            </a:r>
            <a:r>
              <a:rPr lang="pt-BR" sz="1200" b="0" i="0" kern="1200" baseline="0" dirty="0">
                <a:solidFill>
                  <a:schemeClr val="tx1"/>
                </a:solidFill>
                <a:effectLst/>
                <a:latin typeface="+mn-lt"/>
                <a:ea typeface="+mn-ea"/>
                <a:cs typeface="+mn-cs"/>
              </a:rPr>
              <a:t> saída</a:t>
            </a:r>
            <a:r>
              <a:rPr lang="pt-BR" sz="1200" b="0" i="0" kern="1200" dirty="0">
                <a:solidFill>
                  <a:schemeClr val="tx1"/>
                </a:solidFill>
                <a:effectLst/>
                <a:latin typeface="+mn-lt"/>
                <a:ea typeface="+mn-ea"/>
                <a:cs typeface="+mn-cs"/>
              </a:rPr>
              <a:t>,</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aprendendo regras simples de decisão inferidas a partir dos atributos de dados.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não são paramétricas porque não fazem suposições sobre</a:t>
            </a:r>
            <a:r>
              <a:rPr lang="pt-BR" sz="1200" b="0" i="0" kern="1200" baseline="0" dirty="0">
                <a:solidFill>
                  <a:schemeClr val="tx1"/>
                </a:solidFill>
                <a:effectLst/>
                <a:latin typeface="+mn-lt"/>
                <a:ea typeface="+mn-ea"/>
                <a:cs typeface="+mn-cs"/>
              </a:rPr>
              <a:t> a</a:t>
            </a:r>
            <a:r>
              <a:rPr lang="pt-BR" sz="1200" b="0" i="0" kern="1200" dirty="0">
                <a:solidFill>
                  <a:schemeClr val="tx1"/>
                </a:solidFill>
                <a:effectLst/>
                <a:latin typeface="+mn-lt"/>
                <a:ea typeface="+mn-ea"/>
                <a:cs typeface="+mn-cs"/>
              </a:rPr>
              <a:t> distribuição dos dados. Basicamente, isso significa que o modelo é construído apenas com base nos dados</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observados. Por exemplo, Classificadores </a:t>
            </a:r>
            <a:r>
              <a:rPr lang="pt-BR" sz="1200" b="0" i="0" kern="1200" dirty="0" err="1">
                <a:solidFill>
                  <a:schemeClr val="tx1"/>
                </a:solidFill>
                <a:effectLst/>
                <a:latin typeface="+mn-lt"/>
                <a:ea typeface="+mn-ea"/>
                <a:cs typeface="+mn-cs"/>
              </a:rPr>
              <a:t>Gaussian</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Naive</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Bayes</a:t>
            </a:r>
            <a:r>
              <a:rPr lang="pt-BR" sz="1200" b="0" i="0" kern="1200" dirty="0">
                <a:solidFill>
                  <a:schemeClr val="tx1"/>
                </a:solidFill>
                <a:effectLst/>
                <a:latin typeface="+mn-lt"/>
                <a:ea typeface="+mn-ea"/>
                <a:cs typeface="+mn-cs"/>
              </a:rPr>
              <a:t> são</a:t>
            </a:r>
            <a:r>
              <a:rPr lang="pt-BR" sz="1200" b="0" i="0" kern="1200" baseline="0" dirty="0">
                <a:solidFill>
                  <a:schemeClr val="tx1"/>
                </a:solidFill>
                <a:effectLst/>
                <a:latin typeface="+mn-lt"/>
                <a:ea typeface="+mn-ea"/>
                <a:cs typeface="+mn-cs"/>
              </a:rPr>
              <a:t> modelos </a:t>
            </a:r>
            <a:r>
              <a:rPr lang="pt-BR" sz="1200" b="0" i="0" kern="1200" baseline="0" dirty="0" err="1">
                <a:solidFill>
                  <a:schemeClr val="tx1"/>
                </a:solidFill>
                <a:effectLst/>
                <a:latin typeface="+mn-lt"/>
                <a:ea typeface="+mn-ea"/>
                <a:cs typeface="+mn-cs"/>
              </a:rPr>
              <a:t>paramêtricos</a:t>
            </a:r>
            <a:r>
              <a:rPr lang="pt-BR" sz="1200" b="0" i="0" kern="1200" baseline="0" dirty="0">
                <a:solidFill>
                  <a:schemeClr val="tx1"/>
                </a:solidFill>
                <a:effectLst/>
                <a:latin typeface="+mn-lt"/>
                <a:ea typeface="+mn-ea"/>
                <a:cs typeface="+mn-cs"/>
              </a:rPr>
              <a:t>, pois consideram que os atributos seguem distribuições Gaussianas.</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Porque k-NN</a:t>
            </a:r>
            <a:r>
              <a:rPr lang="pt-BR" sz="1200" b="0" i="0" kern="1200" baseline="0" dirty="0">
                <a:solidFill>
                  <a:schemeClr val="tx1"/>
                </a:solidFill>
                <a:effectLst/>
                <a:latin typeface="+mn-lt"/>
                <a:ea typeface="+mn-ea"/>
                <a:cs typeface="+mn-cs"/>
              </a:rPr>
              <a:t> é um classificador não-linear.</a:t>
            </a:r>
            <a:endParaRPr lang="pt-BR" sz="1200" b="0" i="0" kern="1200" dirty="0">
              <a:solidFill>
                <a:schemeClr val="tx1"/>
              </a:solidFill>
              <a:effectLst/>
              <a:latin typeface="+mn-lt"/>
              <a:ea typeface="+mn-ea"/>
              <a:cs typeface="+mn-cs"/>
            </a:endParaRPr>
          </a:p>
          <a:p>
            <a:r>
              <a:rPr lang="pt-BR" dirty="0">
                <a:hlinkClick r:id="rId3"/>
              </a:rPr>
              <a:t>https://stats.stackexchange.com/questions/178522/why-knn-is-a-non-linear-classifier</a:t>
            </a:r>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Netflix Recommendations: Beyond the 5 stars (Part 2)</a:t>
            </a:r>
            <a:endParaRPr lang="pt-BR" b="1" dirty="0"/>
          </a:p>
          <a:p>
            <a:r>
              <a:rPr lang="pt-BR" dirty="0"/>
              <a:t>https://netflixtechblog.com/netflix-recommendations-beyond-the-5-stars-part-2-d9b96aa399f5</a:t>
            </a:r>
          </a:p>
          <a:p>
            <a:endParaRPr lang="pt-BR" dirty="0"/>
          </a:p>
          <a:p>
            <a:r>
              <a:rPr lang="pt-BR" dirty="0"/>
              <a:t>Referências:</a:t>
            </a:r>
          </a:p>
          <a:p>
            <a:r>
              <a:rPr lang="pt-BR" dirty="0"/>
              <a:t>[1] https://sebastianraschka.com/faq/docs/parametric_vs_nonparametric.html</a:t>
            </a:r>
          </a:p>
          <a:p>
            <a:r>
              <a:rPr lang="pt-BR" dirty="0"/>
              <a:t>[2] https://www.quora.com/Why-is-a-decision-tree-considered-a-non-parametric-model</a:t>
            </a:r>
          </a:p>
          <a:p>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8</a:t>
            </a:fld>
            <a:endParaRPr lang="pt-BR"/>
          </a:p>
        </p:txBody>
      </p:sp>
    </p:spTree>
    <p:extLst>
      <p:ext uri="{BB962C8B-B14F-4D97-AF65-F5344CB8AC3E}">
        <p14:creationId xmlns:p14="http://schemas.microsoft.com/office/powerpoint/2010/main" val="662000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dirty="0">
                <a:solidFill>
                  <a:schemeClr val="tx1"/>
                </a:solidFill>
                <a:effectLst/>
                <a:latin typeface="+mn-lt"/>
                <a:ea typeface="+mn-ea"/>
                <a:cs typeface="+mn-cs"/>
              </a:rPr>
              <a:t>Um ciclo em teoria de grafos é um caminho em que o primeiro e o último vértice coincidem, mas nenhum outro vértice é repetido". Um ciclo é uma cadeia simples e fechada.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Uma das muitas qualidades das Árvores de Decisão é que elas exigem</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muito pouca preparação de dados. Em particular, elas não necessitam de escalonamento</a:t>
            </a:r>
            <a:r>
              <a:rPr lang="pt-BR" sz="1200" b="0" i="0" kern="1200" baseline="0" dirty="0">
                <a:solidFill>
                  <a:schemeClr val="tx1"/>
                </a:solidFill>
                <a:effectLst/>
                <a:latin typeface="+mn-lt"/>
                <a:ea typeface="+mn-ea"/>
                <a:cs typeface="+mn-cs"/>
              </a:rPr>
              <a:t> de atributos.</a:t>
            </a:r>
          </a:p>
          <a:p>
            <a:endParaRPr lang="pt-BR" sz="1200" b="0" i="0" kern="1200" baseline="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são um método de aprendizado supervisionado</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não paramétrico usado para classificação e regressão. O objetivo é</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criar um modelo que prediz</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 valor de uma variável de</a:t>
            </a:r>
            <a:r>
              <a:rPr lang="pt-BR" sz="1200" b="0" i="0" kern="1200" baseline="0" dirty="0">
                <a:solidFill>
                  <a:schemeClr val="tx1"/>
                </a:solidFill>
                <a:effectLst/>
                <a:latin typeface="+mn-lt"/>
                <a:ea typeface="+mn-ea"/>
                <a:cs typeface="+mn-cs"/>
              </a:rPr>
              <a:t> saída</a:t>
            </a:r>
            <a:r>
              <a:rPr lang="pt-BR" sz="1200" b="0" i="0" kern="1200" dirty="0">
                <a:solidFill>
                  <a:schemeClr val="tx1"/>
                </a:solidFill>
                <a:effectLst/>
                <a:latin typeface="+mn-lt"/>
                <a:ea typeface="+mn-ea"/>
                <a:cs typeface="+mn-cs"/>
              </a:rPr>
              <a:t>,</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aprendendo regras simples de decisão inferidas a partir dos atributos de dados.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não são paramétricas porque não fazem suposições sobre</a:t>
            </a:r>
            <a:r>
              <a:rPr lang="pt-BR" sz="1200" b="0" i="0" kern="1200" baseline="0" dirty="0">
                <a:solidFill>
                  <a:schemeClr val="tx1"/>
                </a:solidFill>
                <a:effectLst/>
                <a:latin typeface="+mn-lt"/>
                <a:ea typeface="+mn-ea"/>
                <a:cs typeface="+mn-cs"/>
              </a:rPr>
              <a:t> a</a:t>
            </a:r>
            <a:r>
              <a:rPr lang="pt-BR" sz="1200" b="0" i="0" kern="1200" dirty="0">
                <a:solidFill>
                  <a:schemeClr val="tx1"/>
                </a:solidFill>
                <a:effectLst/>
                <a:latin typeface="+mn-lt"/>
                <a:ea typeface="+mn-ea"/>
                <a:cs typeface="+mn-cs"/>
              </a:rPr>
              <a:t> distribuição dos dados. Basicamente, isso significa que o modelo é construído apenas com base nos dados</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observados. Por exemplo, Classificadores </a:t>
            </a:r>
            <a:r>
              <a:rPr lang="pt-BR" sz="1200" b="0" i="0" kern="1200" dirty="0" err="1">
                <a:solidFill>
                  <a:schemeClr val="tx1"/>
                </a:solidFill>
                <a:effectLst/>
                <a:latin typeface="+mn-lt"/>
                <a:ea typeface="+mn-ea"/>
                <a:cs typeface="+mn-cs"/>
              </a:rPr>
              <a:t>Gaussian</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Naive</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Bayes</a:t>
            </a:r>
            <a:r>
              <a:rPr lang="pt-BR" sz="1200" b="0" i="0" kern="1200" dirty="0">
                <a:solidFill>
                  <a:schemeClr val="tx1"/>
                </a:solidFill>
                <a:effectLst/>
                <a:latin typeface="+mn-lt"/>
                <a:ea typeface="+mn-ea"/>
                <a:cs typeface="+mn-cs"/>
              </a:rPr>
              <a:t> são</a:t>
            </a:r>
            <a:r>
              <a:rPr lang="pt-BR" sz="1200" b="0" i="0" kern="1200" baseline="0" dirty="0">
                <a:solidFill>
                  <a:schemeClr val="tx1"/>
                </a:solidFill>
                <a:effectLst/>
                <a:latin typeface="+mn-lt"/>
                <a:ea typeface="+mn-ea"/>
                <a:cs typeface="+mn-cs"/>
              </a:rPr>
              <a:t> modelos </a:t>
            </a:r>
            <a:r>
              <a:rPr lang="pt-BR" sz="1200" b="0" i="0" kern="1200" baseline="0" dirty="0" err="1">
                <a:solidFill>
                  <a:schemeClr val="tx1"/>
                </a:solidFill>
                <a:effectLst/>
                <a:latin typeface="+mn-lt"/>
                <a:ea typeface="+mn-ea"/>
                <a:cs typeface="+mn-cs"/>
              </a:rPr>
              <a:t>paramêtricos</a:t>
            </a:r>
            <a:r>
              <a:rPr lang="pt-BR" sz="1200" b="0" i="0" kern="1200" baseline="0" dirty="0">
                <a:solidFill>
                  <a:schemeClr val="tx1"/>
                </a:solidFill>
                <a:effectLst/>
                <a:latin typeface="+mn-lt"/>
                <a:ea typeface="+mn-ea"/>
                <a:cs typeface="+mn-cs"/>
              </a:rPr>
              <a:t>, pois consideram que os atributos seguem distribuições Gaussianas.</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Porque k-NN</a:t>
            </a:r>
            <a:r>
              <a:rPr lang="pt-BR" sz="1200" b="0" i="0" kern="1200" baseline="0" dirty="0">
                <a:solidFill>
                  <a:schemeClr val="tx1"/>
                </a:solidFill>
                <a:effectLst/>
                <a:latin typeface="+mn-lt"/>
                <a:ea typeface="+mn-ea"/>
                <a:cs typeface="+mn-cs"/>
              </a:rPr>
              <a:t> é um classificador não-linear.</a:t>
            </a:r>
            <a:endParaRPr lang="pt-BR" sz="1200" b="0" i="0" kern="1200" dirty="0">
              <a:solidFill>
                <a:schemeClr val="tx1"/>
              </a:solidFill>
              <a:effectLst/>
              <a:latin typeface="+mn-lt"/>
              <a:ea typeface="+mn-ea"/>
              <a:cs typeface="+mn-cs"/>
            </a:endParaRPr>
          </a:p>
          <a:p>
            <a:r>
              <a:rPr lang="pt-BR" dirty="0">
                <a:hlinkClick r:id="rId3"/>
              </a:rPr>
              <a:t>https://stats.stackexchange.com/questions/178522/why-knn-is-a-non-linear-classifier</a:t>
            </a:r>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Netflix Recommendations: Beyond the 5 stars (Part 2)</a:t>
            </a:r>
            <a:endParaRPr lang="pt-BR" b="1" dirty="0"/>
          </a:p>
          <a:p>
            <a:r>
              <a:rPr lang="pt-BR" dirty="0"/>
              <a:t>https://netflixtechblog.com/netflix-recommendations-beyond-the-5-stars-part-2-d9b96aa399f5</a:t>
            </a:r>
          </a:p>
          <a:p>
            <a:endParaRPr lang="pt-BR" dirty="0"/>
          </a:p>
          <a:p>
            <a:r>
              <a:rPr lang="pt-BR" dirty="0"/>
              <a:t>Referências:</a:t>
            </a:r>
          </a:p>
          <a:p>
            <a:r>
              <a:rPr lang="pt-BR" dirty="0"/>
              <a:t>[1] https://sebastianraschka.com/faq/docs/parametric_vs_nonparametric.html</a:t>
            </a:r>
          </a:p>
          <a:p>
            <a:r>
              <a:rPr lang="pt-BR" dirty="0"/>
              <a:t>[2] https://www.quora.com/Why-is-a-decision-tree-considered-a-non-parametric-model</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9</a:t>
            </a:fld>
            <a:endParaRPr lang="pt-BR"/>
          </a:p>
        </p:txBody>
      </p:sp>
    </p:spTree>
    <p:extLst>
      <p:ext uri="{BB962C8B-B14F-4D97-AF65-F5344CB8AC3E}">
        <p14:creationId xmlns:p14="http://schemas.microsoft.com/office/powerpoint/2010/main" val="1815953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dirty="0">
                <a:solidFill>
                  <a:schemeClr val="tx1"/>
                </a:solidFill>
                <a:effectLst/>
                <a:latin typeface="+mn-lt"/>
                <a:ea typeface="+mn-ea"/>
                <a:cs typeface="+mn-cs"/>
              </a:rPr>
              <a:t>Um ciclo em teoria de grafos é um caminho em que o primeiro e o último vértice coincidem, mas nenhum outro vértice é repetido". Um ciclo é uma cadeia simples e fechada.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Uma das muitas qualidades das Árvores de Decisão é que elas exigem</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muito pouca preparação de dados. Em particular, elas não necessitam de escalonamento</a:t>
            </a:r>
            <a:r>
              <a:rPr lang="pt-BR" sz="1200" b="0" i="0" kern="1200" baseline="0" dirty="0">
                <a:solidFill>
                  <a:schemeClr val="tx1"/>
                </a:solidFill>
                <a:effectLst/>
                <a:latin typeface="+mn-lt"/>
                <a:ea typeface="+mn-ea"/>
                <a:cs typeface="+mn-cs"/>
              </a:rPr>
              <a:t> de atributos.</a:t>
            </a:r>
          </a:p>
          <a:p>
            <a:endParaRPr lang="pt-BR" sz="1200" b="0" i="0" kern="1200" baseline="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são um método de aprendizado supervisionado</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não paramétrico usado para classificação e regressão. O objetivo é</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criar um modelo que prediz</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 valor de uma variável de</a:t>
            </a:r>
            <a:r>
              <a:rPr lang="pt-BR" sz="1200" b="0" i="0" kern="1200" baseline="0" dirty="0">
                <a:solidFill>
                  <a:schemeClr val="tx1"/>
                </a:solidFill>
                <a:effectLst/>
                <a:latin typeface="+mn-lt"/>
                <a:ea typeface="+mn-ea"/>
                <a:cs typeface="+mn-cs"/>
              </a:rPr>
              <a:t> saída</a:t>
            </a:r>
            <a:r>
              <a:rPr lang="pt-BR" sz="1200" b="0" i="0" kern="1200" dirty="0">
                <a:solidFill>
                  <a:schemeClr val="tx1"/>
                </a:solidFill>
                <a:effectLst/>
                <a:latin typeface="+mn-lt"/>
                <a:ea typeface="+mn-ea"/>
                <a:cs typeface="+mn-cs"/>
              </a:rPr>
              <a:t>,</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aprendendo regras simples de decisão inferidas a partir dos atributos de dados.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não são paramétricas porque não fazem suposições sobre</a:t>
            </a:r>
            <a:r>
              <a:rPr lang="pt-BR" sz="1200" b="0" i="0" kern="1200" baseline="0" dirty="0">
                <a:solidFill>
                  <a:schemeClr val="tx1"/>
                </a:solidFill>
                <a:effectLst/>
                <a:latin typeface="+mn-lt"/>
                <a:ea typeface="+mn-ea"/>
                <a:cs typeface="+mn-cs"/>
              </a:rPr>
              <a:t> a</a:t>
            </a:r>
            <a:r>
              <a:rPr lang="pt-BR" sz="1200" b="0" i="0" kern="1200" dirty="0">
                <a:solidFill>
                  <a:schemeClr val="tx1"/>
                </a:solidFill>
                <a:effectLst/>
                <a:latin typeface="+mn-lt"/>
                <a:ea typeface="+mn-ea"/>
                <a:cs typeface="+mn-cs"/>
              </a:rPr>
              <a:t> distribuição dos dados. Basicamente, isso significa que o modelo é construído apenas com base nos dados</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observados. Por exemplo, Classificadores </a:t>
            </a:r>
            <a:r>
              <a:rPr lang="pt-BR" sz="1200" b="0" i="0" kern="1200" dirty="0" err="1">
                <a:solidFill>
                  <a:schemeClr val="tx1"/>
                </a:solidFill>
                <a:effectLst/>
                <a:latin typeface="+mn-lt"/>
                <a:ea typeface="+mn-ea"/>
                <a:cs typeface="+mn-cs"/>
              </a:rPr>
              <a:t>Gaussian</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Naive</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Bayes</a:t>
            </a:r>
            <a:r>
              <a:rPr lang="pt-BR" sz="1200" b="0" i="0" kern="1200" dirty="0">
                <a:solidFill>
                  <a:schemeClr val="tx1"/>
                </a:solidFill>
                <a:effectLst/>
                <a:latin typeface="+mn-lt"/>
                <a:ea typeface="+mn-ea"/>
                <a:cs typeface="+mn-cs"/>
              </a:rPr>
              <a:t> são</a:t>
            </a:r>
            <a:r>
              <a:rPr lang="pt-BR" sz="1200" b="0" i="0" kern="1200" baseline="0" dirty="0">
                <a:solidFill>
                  <a:schemeClr val="tx1"/>
                </a:solidFill>
                <a:effectLst/>
                <a:latin typeface="+mn-lt"/>
                <a:ea typeface="+mn-ea"/>
                <a:cs typeface="+mn-cs"/>
              </a:rPr>
              <a:t> modelos </a:t>
            </a:r>
            <a:r>
              <a:rPr lang="pt-BR" sz="1200" b="0" i="0" kern="1200" baseline="0" dirty="0" err="1">
                <a:solidFill>
                  <a:schemeClr val="tx1"/>
                </a:solidFill>
                <a:effectLst/>
                <a:latin typeface="+mn-lt"/>
                <a:ea typeface="+mn-ea"/>
                <a:cs typeface="+mn-cs"/>
              </a:rPr>
              <a:t>paramêtricos</a:t>
            </a:r>
            <a:r>
              <a:rPr lang="pt-BR" sz="1200" b="0" i="0" kern="1200" baseline="0" dirty="0">
                <a:solidFill>
                  <a:schemeClr val="tx1"/>
                </a:solidFill>
                <a:effectLst/>
                <a:latin typeface="+mn-lt"/>
                <a:ea typeface="+mn-ea"/>
                <a:cs typeface="+mn-cs"/>
              </a:rPr>
              <a:t>, pois consideram que os atributos seguem distribuições Gaussianas.</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Porque k-NN</a:t>
            </a:r>
            <a:r>
              <a:rPr lang="pt-BR" sz="1200" b="0" i="0" kern="1200" baseline="0" dirty="0">
                <a:solidFill>
                  <a:schemeClr val="tx1"/>
                </a:solidFill>
                <a:effectLst/>
                <a:latin typeface="+mn-lt"/>
                <a:ea typeface="+mn-ea"/>
                <a:cs typeface="+mn-cs"/>
              </a:rPr>
              <a:t> é um classificador não-linear.</a:t>
            </a:r>
            <a:endParaRPr lang="pt-BR" sz="1200" b="0" i="0" kern="1200" dirty="0">
              <a:solidFill>
                <a:schemeClr val="tx1"/>
              </a:solidFill>
              <a:effectLst/>
              <a:latin typeface="+mn-lt"/>
              <a:ea typeface="+mn-ea"/>
              <a:cs typeface="+mn-cs"/>
            </a:endParaRPr>
          </a:p>
          <a:p>
            <a:r>
              <a:rPr lang="pt-BR" dirty="0">
                <a:hlinkClick r:id="rId3"/>
              </a:rPr>
              <a:t>https://stats.stackexchange.com/questions/178522/why-knn-is-a-non-linear-classifier</a:t>
            </a:r>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Netflix Recommendations: Beyond the 5 stars (Part 2)</a:t>
            </a:r>
            <a:endParaRPr lang="pt-BR" b="1" dirty="0"/>
          </a:p>
          <a:p>
            <a:r>
              <a:rPr lang="pt-BR" dirty="0"/>
              <a:t>https://netflixtechblog.com/netflix-recommendations-beyond-the-5-stars-part-2-d9b96aa399f5</a:t>
            </a:r>
          </a:p>
          <a:p>
            <a:endParaRPr lang="pt-BR" dirty="0"/>
          </a:p>
          <a:p>
            <a:r>
              <a:rPr lang="pt-BR" dirty="0"/>
              <a:t>Referências:</a:t>
            </a:r>
          </a:p>
          <a:p>
            <a:r>
              <a:rPr lang="pt-BR" dirty="0"/>
              <a:t>[1] https://sebastianraschka.com/faq/docs/parametric_vs_nonparametric.html</a:t>
            </a:r>
          </a:p>
          <a:p>
            <a:r>
              <a:rPr lang="pt-BR" dirty="0"/>
              <a:t>[2] https://www.quora.com/Why-is-a-decision-tree-considered-a-non-parametric-model</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10</a:t>
            </a:fld>
            <a:endParaRPr lang="pt-BR"/>
          </a:p>
        </p:txBody>
      </p:sp>
    </p:spTree>
    <p:extLst>
      <p:ext uri="{BB962C8B-B14F-4D97-AF65-F5344CB8AC3E}">
        <p14:creationId xmlns:p14="http://schemas.microsoft.com/office/powerpoint/2010/main" val="1629860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dirty="0">
                <a:solidFill>
                  <a:schemeClr val="tx1"/>
                </a:solidFill>
                <a:effectLst/>
                <a:latin typeface="+mn-lt"/>
                <a:ea typeface="+mn-ea"/>
                <a:cs typeface="+mn-cs"/>
              </a:rPr>
              <a:t>Um ciclo em teoria de grafos é um caminho em que o primeiro e o último vértice coincidem, mas nenhum outro vértice é repetido". Um ciclo é uma cadeia simples e fechada.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Uma das muitas qualidades das Árvores de Decisão é que elas exigem</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muito pouca preparação de dados. Em particular, elas não necessitam de escalonamento</a:t>
            </a:r>
            <a:r>
              <a:rPr lang="pt-BR" sz="1200" b="0" i="0" kern="1200" baseline="0" dirty="0">
                <a:solidFill>
                  <a:schemeClr val="tx1"/>
                </a:solidFill>
                <a:effectLst/>
                <a:latin typeface="+mn-lt"/>
                <a:ea typeface="+mn-ea"/>
                <a:cs typeface="+mn-cs"/>
              </a:rPr>
              <a:t> de atributos.</a:t>
            </a:r>
          </a:p>
          <a:p>
            <a:endParaRPr lang="pt-BR" sz="1200" b="0" i="0" kern="1200" baseline="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são um método de aprendizado supervisionado</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não paramétrico usado para classificação e regressão. O objetivo é</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criar um modelo que prediz</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 valor de uma variável de</a:t>
            </a:r>
            <a:r>
              <a:rPr lang="pt-BR" sz="1200" b="0" i="0" kern="1200" baseline="0" dirty="0">
                <a:solidFill>
                  <a:schemeClr val="tx1"/>
                </a:solidFill>
                <a:effectLst/>
                <a:latin typeface="+mn-lt"/>
                <a:ea typeface="+mn-ea"/>
                <a:cs typeface="+mn-cs"/>
              </a:rPr>
              <a:t> saída</a:t>
            </a:r>
            <a:r>
              <a:rPr lang="pt-BR" sz="1200" b="0" i="0" kern="1200" dirty="0">
                <a:solidFill>
                  <a:schemeClr val="tx1"/>
                </a:solidFill>
                <a:effectLst/>
                <a:latin typeface="+mn-lt"/>
                <a:ea typeface="+mn-ea"/>
                <a:cs typeface="+mn-cs"/>
              </a:rPr>
              <a:t>,</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aprendendo regras simples de decisão inferidas a partir dos atributos de dados.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árvores de decisão não são paramétricas porque não fazem suposições sobre</a:t>
            </a:r>
            <a:r>
              <a:rPr lang="pt-BR" sz="1200" b="0" i="0" kern="1200" baseline="0" dirty="0">
                <a:solidFill>
                  <a:schemeClr val="tx1"/>
                </a:solidFill>
                <a:effectLst/>
                <a:latin typeface="+mn-lt"/>
                <a:ea typeface="+mn-ea"/>
                <a:cs typeface="+mn-cs"/>
              </a:rPr>
              <a:t> a</a:t>
            </a:r>
            <a:r>
              <a:rPr lang="pt-BR" sz="1200" b="0" i="0" kern="1200" dirty="0">
                <a:solidFill>
                  <a:schemeClr val="tx1"/>
                </a:solidFill>
                <a:effectLst/>
                <a:latin typeface="+mn-lt"/>
                <a:ea typeface="+mn-ea"/>
                <a:cs typeface="+mn-cs"/>
              </a:rPr>
              <a:t> distribuição dos dados. Basicamente, isso significa que o modelo é construído apenas com base nos dados</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observados. Por exemplo, Classificadores </a:t>
            </a:r>
            <a:r>
              <a:rPr lang="pt-BR" sz="1200" b="0" i="0" kern="1200" dirty="0" err="1">
                <a:solidFill>
                  <a:schemeClr val="tx1"/>
                </a:solidFill>
                <a:effectLst/>
                <a:latin typeface="+mn-lt"/>
                <a:ea typeface="+mn-ea"/>
                <a:cs typeface="+mn-cs"/>
              </a:rPr>
              <a:t>Gaussian</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Naive</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Bayes</a:t>
            </a:r>
            <a:r>
              <a:rPr lang="pt-BR" sz="1200" b="0" i="0" kern="1200" dirty="0">
                <a:solidFill>
                  <a:schemeClr val="tx1"/>
                </a:solidFill>
                <a:effectLst/>
                <a:latin typeface="+mn-lt"/>
                <a:ea typeface="+mn-ea"/>
                <a:cs typeface="+mn-cs"/>
              </a:rPr>
              <a:t> são</a:t>
            </a:r>
            <a:r>
              <a:rPr lang="pt-BR" sz="1200" b="0" i="0" kern="1200" baseline="0" dirty="0">
                <a:solidFill>
                  <a:schemeClr val="tx1"/>
                </a:solidFill>
                <a:effectLst/>
                <a:latin typeface="+mn-lt"/>
                <a:ea typeface="+mn-ea"/>
                <a:cs typeface="+mn-cs"/>
              </a:rPr>
              <a:t> modelos </a:t>
            </a:r>
            <a:r>
              <a:rPr lang="pt-BR" sz="1200" b="0" i="0" kern="1200" baseline="0" dirty="0" err="1">
                <a:solidFill>
                  <a:schemeClr val="tx1"/>
                </a:solidFill>
                <a:effectLst/>
                <a:latin typeface="+mn-lt"/>
                <a:ea typeface="+mn-ea"/>
                <a:cs typeface="+mn-cs"/>
              </a:rPr>
              <a:t>paramêtricos</a:t>
            </a:r>
            <a:r>
              <a:rPr lang="pt-BR" sz="1200" b="0" i="0" kern="1200" baseline="0" dirty="0">
                <a:solidFill>
                  <a:schemeClr val="tx1"/>
                </a:solidFill>
                <a:effectLst/>
                <a:latin typeface="+mn-lt"/>
                <a:ea typeface="+mn-ea"/>
                <a:cs typeface="+mn-cs"/>
              </a:rPr>
              <a:t>, pois consideram que os atributos seguem distribuições Gaussianas.</a:t>
            </a:r>
            <a:endParaRPr lang="pt-BR" sz="1200" b="0" i="0" kern="1200" dirty="0">
              <a:solidFill>
                <a:schemeClr val="tx1"/>
              </a:solidFill>
              <a:effectLst/>
              <a:latin typeface="+mn-lt"/>
              <a:ea typeface="+mn-ea"/>
              <a:cs typeface="+mn-cs"/>
            </a:endParaRP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Porque k-NN</a:t>
            </a:r>
            <a:r>
              <a:rPr lang="pt-BR" sz="1200" b="0" i="0" kern="1200" baseline="0" dirty="0">
                <a:solidFill>
                  <a:schemeClr val="tx1"/>
                </a:solidFill>
                <a:effectLst/>
                <a:latin typeface="+mn-lt"/>
                <a:ea typeface="+mn-ea"/>
                <a:cs typeface="+mn-cs"/>
              </a:rPr>
              <a:t> é um classificador não-linear.</a:t>
            </a:r>
            <a:endParaRPr lang="pt-BR" sz="1200" b="0" i="0" kern="1200" dirty="0">
              <a:solidFill>
                <a:schemeClr val="tx1"/>
              </a:solidFill>
              <a:effectLst/>
              <a:latin typeface="+mn-lt"/>
              <a:ea typeface="+mn-ea"/>
              <a:cs typeface="+mn-cs"/>
            </a:endParaRPr>
          </a:p>
          <a:p>
            <a:r>
              <a:rPr lang="pt-BR" dirty="0">
                <a:hlinkClick r:id="rId3"/>
              </a:rPr>
              <a:t>https://stats.stackexchange.com/questions/178522/why-knn-is-a-non-linear-classifier</a:t>
            </a:r>
            <a:endParaRPr lang="pt-BR" dirty="0"/>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Netflix Recommendations: Beyond the 5 stars (Part 2)</a:t>
            </a:r>
            <a:endParaRPr lang="pt-BR" b="1" dirty="0"/>
          </a:p>
          <a:p>
            <a:r>
              <a:rPr lang="pt-BR" dirty="0"/>
              <a:t>https://netflixtechblog.com/netflix-recommendations-beyond-the-5-stars-part-2-d9b96aa399f5</a:t>
            </a:r>
          </a:p>
          <a:p>
            <a:endParaRPr lang="pt-BR" dirty="0"/>
          </a:p>
          <a:p>
            <a:r>
              <a:rPr lang="pt-BR" dirty="0"/>
              <a:t>Referências:</a:t>
            </a:r>
          </a:p>
          <a:p>
            <a:r>
              <a:rPr lang="pt-BR" dirty="0"/>
              <a:t>[1] https://sebastianraschka.com/faq/docs/parametric_vs_nonparametric.html</a:t>
            </a:r>
          </a:p>
          <a:p>
            <a:r>
              <a:rPr lang="pt-BR" dirty="0"/>
              <a:t>[2] https://www.quora.com/Why-is-a-decision-tree-considered-a-non-parametric-model</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11</a:t>
            </a:fld>
            <a:endParaRPr lang="pt-BR"/>
          </a:p>
        </p:txBody>
      </p:sp>
    </p:spTree>
    <p:extLst>
      <p:ext uri="{BB962C8B-B14F-4D97-AF65-F5344CB8AC3E}">
        <p14:creationId xmlns:p14="http://schemas.microsoft.com/office/powerpoint/2010/main" val="3864167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Um grafo não-direcionado é um grafo, isto é, um conjunto de objetos (chamados vértices ou nós) que são conectados juntos, em que todas as arestas são bidirecionais. Um grafo não-direcionado é também chamado de rede não-direcionada. Por outro lado, um grafo em que as bordas apontam em uma direção é chamado de grafo direcionado.</a:t>
            </a:r>
            <a:r>
              <a:rPr lang="pt-BR" baseline="0" dirty="0"/>
              <a:t> </a:t>
            </a:r>
            <a:r>
              <a:rPr lang="pt-BR" dirty="0"/>
              <a:t>Grafos não-direcionados têm arestas que não têm uma direção. As arestas indicam uma relação de mão dupla, na qual cada aresta pode ser deslocada nas duas direções.</a:t>
            </a:r>
          </a:p>
          <a:p>
            <a:endParaRPr lang="pt-BR" noProof="0" dirty="0"/>
          </a:p>
          <a:p>
            <a:r>
              <a:rPr lang="pt-BR" b="1" noProof="0" dirty="0"/>
              <a:t>Modelos de caixa branca </a:t>
            </a:r>
            <a:r>
              <a:rPr lang="pt-BR" noProof="0" dirty="0"/>
              <a:t>são o tipo de modelo que se pode entender e explicar claramente como eles se comportam, como produzem previsões e quais são as variáveis influentes.</a:t>
            </a:r>
          </a:p>
          <a:p>
            <a:endParaRPr lang="pt-BR" noProof="0" dirty="0"/>
          </a:p>
          <a:p>
            <a:r>
              <a:rPr lang="pt-BR" b="1" noProof="0" dirty="0"/>
              <a:t>Modelo</a:t>
            </a:r>
            <a:r>
              <a:rPr lang="pt-BR" b="1" baseline="0" noProof="0" dirty="0"/>
              <a:t> de c</a:t>
            </a:r>
            <a:r>
              <a:rPr lang="pt-BR" b="1" noProof="0" dirty="0"/>
              <a:t>aixa preta</a:t>
            </a:r>
            <a:r>
              <a:rPr lang="pt-BR" noProof="0" dirty="0"/>
              <a:t>: o</a:t>
            </a:r>
            <a:r>
              <a:rPr lang="pt-BR" baseline="0" noProof="0" dirty="0"/>
              <a:t> </a:t>
            </a:r>
            <a:r>
              <a:rPr lang="pt-BR" noProof="0" dirty="0"/>
              <a:t>funcionamento interno desses modelos é mais difícil de entender e não fornece uma estimativa da importância de cada atributo</a:t>
            </a:r>
            <a:r>
              <a:rPr lang="pt-BR" baseline="0" noProof="0" dirty="0"/>
              <a:t> </a:t>
            </a:r>
            <a:r>
              <a:rPr lang="pt-BR" noProof="0" dirty="0"/>
              <a:t>nas previsões do modelo, nem é fácil entender como os diferentes atributos interagem entre si. Modelos</a:t>
            </a:r>
            <a:r>
              <a:rPr lang="pt-BR" baseline="0" noProof="0" dirty="0"/>
              <a:t> de caixa preta são altamente não-lineares.</a:t>
            </a:r>
            <a:endParaRPr lang="pt-BR" noProof="0"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12</a:t>
            </a:fld>
            <a:endParaRPr lang="pt-BR"/>
          </a:p>
        </p:txBody>
      </p:sp>
    </p:spTree>
    <p:extLst>
      <p:ext uri="{BB962C8B-B14F-4D97-AF65-F5344CB8AC3E}">
        <p14:creationId xmlns:p14="http://schemas.microsoft.com/office/powerpoint/2010/main" val="3232920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Cada nó na árvore atua como um </a:t>
            </a:r>
            <a:r>
              <a:rPr lang="pt-BR" b="1" i="1" dirty="0"/>
              <a:t>caso de teste </a:t>
            </a:r>
            <a:r>
              <a:rPr lang="pt-BR" dirty="0"/>
              <a:t>para algum atributo, e cada extremidade descendente do nó, ou seja, uma folha, corresponde à</a:t>
            </a:r>
            <a:r>
              <a:rPr lang="pt-BR" baseline="0" dirty="0"/>
              <a:t> </a:t>
            </a:r>
            <a:r>
              <a:rPr lang="pt-BR" dirty="0"/>
              <a:t>possível</a:t>
            </a:r>
            <a:r>
              <a:rPr lang="pt-BR" baseline="0" dirty="0"/>
              <a:t> classe</a:t>
            </a:r>
            <a:r>
              <a:rPr lang="pt-BR" dirty="0"/>
              <a:t> do exemplo de teste.</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13</a:t>
            </a:fld>
            <a:endParaRPr lang="pt-BR"/>
          </a:p>
        </p:txBody>
      </p:sp>
    </p:spTree>
    <p:extLst>
      <p:ext uri="{BB962C8B-B14F-4D97-AF65-F5344CB8AC3E}">
        <p14:creationId xmlns:p14="http://schemas.microsoft.com/office/powerpoint/2010/main" val="242221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Cada nó na árvore atua como um </a:t>
            </a:r>
            <a:r>
              <a:rPr lang="pt-BR" b="1" i="1" dirty="0"/>
              <a:t>caso de teste </a:t>
            </a:r>
            <a:r>
              <a:rPr lang="pt-BR" dirty="0"/>
              <a:t>para algum atributo, e cada extremidade descendente do nó, ou seja, uma folha, corresponde à</a:t>
            </a:r>
            <a:r>
              <a:rPr lang="pt-BR" baseline="0" dirty="0"/>
              <a:t> </a:t>
            </a:r>
            <a:r>
              <a:rPr lang="pt-BR" dirty="0"/>
              <a:t>possível</a:t>
            </a:r>
            <a:r>
              <a:rPr lang="pt-BR" baseline="0" dirty="0"/>
              <a:t> classe</a:t>
            </a:r>
            <a:r>
              <a:rPr lang="pt-BR" dirty="0"/>
              <a:t> do exemplo de teste.</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14</a:t>
            </a:fld>
            <a:endParaRPr lang="pt-BR"/>
          </a:p>
        </p:txBody>
      </p:sp>
    </p:spTree>
    <p:extLst>
      <p:ext uri="{BB962C8B-B14F-4D97-AF65-F5344CB8AC3E}">
        <p14:creationId xmlns:p14="http://schemas.microsoft.com/office/powerpoint/2010/main" val="2568615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Cada nó na árvore atua como um </a:t>
            </a:r>
            <a:r>
              <a:rPr lang="pt-BR" b="1" i="1" dirty="0"/>
              <a:t>caso de teste </a:t>
            </a:r>
            <a:r>
              <a:rPr lang="pt-BR" dirty="0"/>
              <a:t>para algum atributo, e cada extremidade descendente do nó, ou seja, uma folha, corresponde à</a:t>
            </a:r>
            <a:r>
              <a:rPr lang="pt-BR" baseline="0" dirty="0"/>
              <a:t> </a:t>
            </a:r>
            <a:r>
              <a:rPr lang="pt-BR" dirty="0"/>
              <a:t>possível</a:t>
            </a:r>
            <a:r>
              <a:rPr lang="pt-BR" baseline="0" dirty="0"/>
              <a:t> classe</a:t>
            </a:r>
            <a:r>
              <a:rPr lang="pt-BR" dirty="0"/>
              <a:t> do exemplo de teste.</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15</a:t>
            </a:fld>
            <a:endParaRPr lang="pt-BR"/>
          </a:p>
        </p:txBody>
      </p:sp>
    </p:spTree>
    <p:extLst>
      <p:ext uri="{BB962C8B-B14F-4D97-AF65-F5344CB8AC3E}">
        <p14:creationId xmlns:p14="http://schemas.microsoft.com/office/powerpoint/2010/main" val="1270231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en-US" dirty="0"/>
                  <a:t>São </a:t>
                </a:r>
                <a:r>
                  <a:rPr lang="en-US" altLang="en-US" dirty="0" err="1"/>
                  <a:t>problemas</a:t>
                </a:r>
                <a:r>
                  <a:rPr lang="en-US" altLang="en-US"/>
                  <a:t>:</a:t>
                </a:r>
                <a:endParaRPr lang="en-US" altLang="en-US" dirty="0"/>
              </a:p>
              <a:p>
                <a:pPr lvl="1">
                  <a:buFont typeface="Wingdings" panose="05000000000000000000" pitchFamily="2" charset="2"/>
                  <a:buChar char="§"/>
                </a:pPr>
                <a:r>
                  <a:rPr lang="en-US" altLang="en-US" dirty="0" err="1"/>
                  <a:t>Cuja</a:t>
                </a:r>
                <a:r>
                  <a:rPr lang="en-US" altLang="en-US" dirty="0"/>
                  <a:t> </a:t>
                </a:r>
                <a:r>
                  <a:rPr lang="en-US" altLang="en-US" dirty="0" err="1"/>
                  <a:t>solução</a:t>
                </a:r>
                <a:r>
                  <a:rPr lang="en-US" altLang="en-US" dirty="0"/>
                  <a:t> </a:t>
                </a:r>
                <a:r>
                  <a:rPr lang="en-US" altLang="en-US" dirty="0" err="1"/>
                  <a:t>pode</a:t>
                </a:r>
                <a:r>
                  <a:rPr lang="en-US" altLang="en-US" dirty="0"/>
                  <a:t> ser </a:t>
                </a:r>
                <a:r>
                  <a:rPr lang="en-US" altLang="en-US" dirty="0" err="1"/>
                  <a:t>verificada</a:t>
                </a:r>
                <a:r>
                  <a:rPr lang="en-US" altLang="en-US" dirty="0"/>
                  <a:t> </a:t>
                </a:r>
                <a:r>
                  <a:rPr lang="en-US" altLang="en-US" dirty="0" err="1"/>
                  <a:t>em</a:t>
                </a:r>
                <a:r>
                  <a:rPr lang="en-US" altLang="en-US" dirty="0"/>
                  <a:t> tempo </a:t>
                </a:r>
                <a:r>
                  <a:rPr lang="en-US" altLang="en-US" dirty="0" err="1"/>
                  <a:t>polinomial</a:t>
                </a:r>
                <a:r>
                  <a:rPr lang="en-US" altLang="en-US" dirty="0"/>
                  <a:t>.</a:t>
                </a:r>
              </a:p>
              <a:p>
                <a:pPr lvl="2">
                  <a:buFont typeface="Courier New" panose="02070309020205020404" pitchFamily="49" charset="0"/>
                  <a:buChar char="o"/>
                </a:pPr>
                <a:r>
                  <a:rPr lang="pt-BR" dirty="0"/>
                  <a:t>Um algoritmo roda em tempo polinomial se o tempo necessário para resolver um problema de tamanho </a:t>
                </a:r>
                <a14:m>
                  <m:oMath xmlns:m="http://schemas.openxmlformats.org/officeDocument/2006/math">
                    <m:r>
                      <a:rPr lang="pt-BR" altLang="en-US" i="1" smtClean="0">
                        <a:latin typeface="Cambria Math" panose="02040503050406030204" pitchFamily="18" charset="0"/>
                      </a:rPr>
                      <m:t>𝑛</m:t>
                    </m:r>
                  </m:oMath>
                </a14:m>
                <a:r>
                  <a:rPr lang="pt-BR" dirty="0"/>
                  <a:t> é limitado por uma função polinomial de </a:t>
                </a:r>
                <a14:m>
                  <m:oMath xmlns:m="http://schemas.openxmlformats.org/officeDocument/2006/math">
                    <m:r>
                      <a:rPr lang="pt-BR" altLang="en-US" i="1" smtClean="0">
                        <a:latin typeface="Cambria Math" panose="02040503050406030204" pitchFamily="18" charset="0"/>
                      </a:rPr>
                      <m:t>𝑛</m:t>
                    </m:r>
                  </m:oMath>
                </a14:m>
                <a:r>
                  <a:rPr lang="pt-BR" dirty="0"/>
                  <a:t>.</a:t>
                </a:r>
              </a:p>
              <a:p>
                <a:pPr lvl="2">
                  <a:buFont typeface="Courier New" panose="02070309020205020404" pitchFamily="49" charset="0"/>
                  <a:buChar char="o"/>
                </a:pPr>
                <a:r>
                  <a:rPr lang="pt-BR" altLang="en-US" dirty="0"/>
                  <a:t>Por exemplo, a inversa de uma matriz </a:t>
                </a:r>
                <a14:m>
                  <m:oMath xmlns:m="http://schemas.openxmlformats.org/officeDocument/2006/math">
                    <m:r>
                      <a:rPr lang="pt-BR" altLang="en-US" b="0" i="1" smtClean="0">
                        <a:latin typeface="Cambria Math" panose="02040503050406030204" pitchFamily="18" charset="0"/>
                      </a:rPr>
                      <m:t>𝑛</m:t>
                    </m:r>
                    <m:r>
                      <a:rPr lang="pt-BR" altLang="en-US" b="0" i="1" smtClean="0">
                        <a:latin typeface="Cambria Math" panose="02040503050406030204" pitchFamily="18" charset="0"/>
                        <a:ea typeface="Cambria Math" panose="02040503050406030204" pitchFamily="18" charset="0"/>
                      </a:rPr>
                      <m:t>×</m:t>
                    </m:r>
                    <m:r>
                      <a:rPr lang="pt-BR" altLang="en-US" b="0" i="1" smtClean="0">
                        <a:latin typeface="Cambria Math" panose="02040503050406030204" pitchFamily="18" charset="0"/>
                        <a:ea typeface="Cambria Math" panose="02040503050406030204" pitchFamily="18" charset="0"/>
                      </a:rPr>
                      <m:t>𝑛</m:t>
                    </m:r>
                  </m:oMath>
                </a14:m>
                <a:r>
                  <a:rPr lang="pt-BR" altLang="en-US" dirty="0"/>
                  <a:t> pode ser calculada em </a:t>
                </a:r>
                <a14:m>
                  <m:oMath xmlns:m="http://schemas.openxmlformats.org/officeDocument/2006/math">
                    <m:sSup>
                      <m:sSupPr>
                        <m:ctrlPr>
                          <a:rPr lang="pt-BR" altLang="en-US" i="1" smtClean="0">
                            <a:latin typeface="Cambria Math" panose="02040503050406030204" pitchFamily="18" charset="0"/>
                          </a:rPr>
                        </m:ctrlPr>
                      </m:sSupPr>
                      <m:e>
                        <m:r>
                          <a:rPr lang="pt-BR" altLang="en-US" b="0" i="1" smtClean="0">
                            <a:latin typeface="Cambria Math" panose="02040503050406030204" pitchFamily="18" charset="0"/>
                          </a:rPr>
                          <m:t>𝑛</m:t>
                        </m:r>
                      </m:e>
                      <m:sup>
                        <m:r>
                          <a:rPr lang="pt-BR" altLang="en-US" b="0" i="1" smtClean="0">
                            <a:latin typeface="Cambria Math" panose="02040503050406030204" pitchFamily="18" charset="0"/>
                          </a:rPr>
                          <m:t>3</m:t>
                        </m:r>
                      </m:sup>
                    </m:sSup>
                  </m:oMath>
                </a14:m>
                <a:r>
                  <a:rPr lang="pt-BR" altLang="en-US" dirty="0"/>
                  <a:t>.</a:t>
                </a:r>
                <a:endParaRPr lang="en-US" altLang="en-US" dirty="0"/>
              </a:p>
              <a:p>
                <a:pPr lvl="1">
                  <a:buFont typeface="Wingdings" panose="05000000000000000000" pitchFamily="2" charset="2"/>
                  <a:buChar char="§"/>
                </a:pPr>
                <a:r>
                  <a:rPr lang="pt-BR" dirty="0"/>
                  <a:t>Não se sabe se existe um algoritmo eficiente (polinomial) para </a:t>
                </a:r>
                <a:r>
                  <a:rPr lang="pt-BR" b="1" dirty="0"/>
                  <a:t>resolver</a:t>
                </a:r>
                <a:r>
                  <a:rPr lang="pt-BR" dirty="0"/>
                  <a:t> o problema.</a:t>
                </a:r>
              </a:p>
              <a:p>
                <a:endParaRPr lang="pt-BR" dirty="0"/>
              </a:p>
              <a:p>
                <a:r>
                  <a:rPr lang="pt-BR" dirty="0"/>
                  <a:t>Referências</a:t>
                </a:r>
              </a:p>
              <a:p>
                <a:r>
                  <a:rPr lang="pt-BR" dirty="0"/>
                  <a:t>[1] https://www-users.cse.umn.edu/~kumar001/dmbook/ch4.pdf</a:t>
                </a:r>
              </a:p>
              <a:p>
                <a:endParaRPr lang="pt-BR" dirty="0"/>
              </a:p>
              <a:p>
                <a:endParaRPr lang="pt-BR" dirty="0"/>
              </a:p>
              <a:p>
                <a:r>
                  <a:rPr lang="pt-BR" dirty="0"/>
                  <a:t>Os algoritmos da árvore de decisão transformam dados brutos em árvores de decisão baseadas em regras. O ID3 é um dos métodos de indução</a:t>
                </a:r>
                <a:r>
                  <a:rPr lang="pt-BR" baseline="0" dirty="0"/>
                  <a:t> de</a:t>
                </a:r>
                <a:r>
                  <a:rPr lang="pt-BR" dirty="0"/>
                  <a:t> árvores de decisão mais comuns. Ele foi introduzido em 1986 e é acrônimo de </a:t>
                </a:r>
                <a:r>
                  <a:rPr lang="pt-BR" dirty="0" err="1"/>
                  <a:t>dicotomizador</a:t>
                </a:r>
                <a:r>
                  <a:rPr lang="pt-BR" dirty="0"/>
                  <a:t> iterativo.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err="1"/>
                  <a:t>Dicotomização</a:t>
                </a:r>
                <a:r>
                  <a:rPr lang="pt-BR" dirty="0"/>
                  <a:t> significa dividir-se em duas coisas completamente opostas, ou seja, em duas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por isso que o método divide iterativamente os atributos em dois grupos, que são o atributo mais dominante e outros para construir uma árvore. Em seguida, calcula os ganhos de</a:t>
                </a:r>
                <a:r>
                  <a:rPr lang="pt-BR" baseline="0" dirty="0"/>
                  <a:t> </a:t>
                </a:r>
                <a:r>
                  <a:rPr lang="pt-BR" dirty="0"/>
                  <a:t>informação de cada atributo. Dessa maneira, o atributo mais dominante pode ser encontrado. Depois disso, o atributo mais dominante é colocado na árvore como um nó de decisão. Posteriormente, os</a:t>
                </a:r>
                <a:r>
                  <a:rPr lang="pt-BR" baseline="0" dirty="0"/>
                  <a:t> valores de </a:t>
                </a:r>
                <a:r>
                  <a:rPr lang="pt-BR" dirty="0"/>
                  <a:t>ganho de informação são calculados novamente entre os outros atributos. Assim, o próximo atributo mais dominante é encontrado. Finalmente, esse procedimento continua até chegar a uma decisão para esse ramo. Por isso, é chamado </a:t>
                </a:r>
                <a:r>
                  <a:rPr lang="pt-BR" dirty="0" err="1"/>
                  <a:t>dicotomizador</a:t>
                </a:r>
                <a:r>
                  <a:rPr lang="pt-BR" dirty="0"/>
                  <a:t> iterativo.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problema de aprender uma árvore de decisão ótima é conhecido por ser NP-completo sob vários aspectos de otimização e até mesmo para conceitos simples.</a:t>
                </a:r>
              </a:p>
              <a:p>
                <a:endParaRPr lang="pt-BR" dirty="0"/>
              </a:p>
            </p:txBody>
          </p:sp>
        </mc:Choice>
        <mc:Fallback xmlns="">
          <p:sp>
            <p:nvSpPr>
              <p:cNvPr id="3" name="Notes Placeholder 2"/>
              <p:cNvSpPr>
                <a:spLocks noGrp="1"/>
              </p:cNvSpPr>
              <p:nvPr>
                <p:ph type="body" idx="1"/>
              </p:nvPr>
            </p:nvSpPr>
            <p:spPr/>
            <p:txBody>
              <a:bodyPr/>
              <a:lstStyle/>
              <a:p>
                <a:r>
                  <a:rPr lang="en-US" altLang="en-US" dirty="0" smtClean="0"/>
                  <a:t>São </a:t>
                </a:r>
                <a:r>
                  <a:rPr lang="en-US" altLang="en-US" dirty="0" err="1" smtClean="0"/>
                  <a:t>problemas</a:t>
                </a:r>
                <a:r>
                  <a:rPr lang="en-US" altLang="en-US"/>
                  <a:t>:</a:t>
                </a:r>
                <a:endParaRPr lang="en-US" altLang="en-US" dirty="0"/>
              </a:p>
              <a:p>
                <a:pPr lvl="1">
                  <a:buFont typeface="Wingdings" panose="05000000000000000000" pitchFamily="2" charset="2"/>
                  <a:buChar char="§"/>
                </a:pPr>
                <a:r>
                  <a:rPr lang="en-US" altLang="en-US" dirty="0" err="1"/>
                  <a:t>Cuja</a:t>
                </a:r>
                <a:r>
                  <a:rPr lang="en-US" altLang="en-US" dirty="0"/>
                  <a:t> </a:t>
                </a:r>
                <a:r>
                  <a:rPr lang="en-US" altLang="en-US" dirty="0" err="1"/>
                  <a:t>solução</a:t>
                </a:r>
                <a:r>
                  <a:rPr lang="en-US" altLang="en-US" dirty="0"/>
                  <a:t> </a:t>
                </a:r>
                <a:r>
                  <a:rPr lang="en-US" altLang="en-US" dirty="0" err="1"/>
                  <a:t>pode</a:t>
                </a:r>
                <a:r>
                  <a:rPr lang="en-US" altLang="en-US" dirty="0"/>
                  <a:t> ser </a:t>
                </a:r>
                <a:r>
                  <a:rPr lang="en-US" altLang="en-US" dirty="0" err="1"/>
                  <a:t>verificada</a:t>
                </a:r>
                <a:r>
                  <a:rPr lang="en-US" altLang="en-US" dirty="0"/>
                  <a:t> </a:t>
                </a:r>
                <a:r>
                  <a:rPr lang="en-US" altLang="en-US" dirty="0" err="1"/>
                  <a:t>em</a:t>
                </a:r>
                <a:r>
                  <a:rPr lang="en-US" altLang="en-US" dirty="0"/>
                  <a:t> tempo </a:t>
                </a:r>
                <a:r>
                  <a:rPr lang="en-US" altLang="en-US" dirty="0" err="1"/>
                  <a:t>polinomial</a:t>
                </a:r>
                <a:r>
                  <a:rPr lang="en-US" altLang="en-US" dirty="0"/>
                  <a:t>.</a:t>
                </a:r>
              </a:p>
              <a:p>
                <a:pPr lvl="2">
                  <a:buFont typeface="Courier New" panose="02070309020205020404" pitchFamily="49" charset="0"/>
                  <a:buChar char="o"/>
                </a:pPr>
                <a:r>
                  <a:rPr lang="pt-BR" dirty="0"/>
                  <a:t>Um algoritmo roda em tempo polinomial se o tempo necessário para resolver um problema de tamanho </a:t>
                </a:r>
                <a:r>
                  <a:rPr lang="pt-BR" altLang="en-US" i="0" smtClean="0">
                    <a:latin typeface="Cambria Math" panose="02040503050406030204" pitchFamily="18" charset="0"/>
                  </a:rPr>
                  <a:t>𝑛</a:t>
                </a:r>
                <a:r>
                  <a:rPr lang="pt-BR" dirty="0"/>
                  <a:t> é limitado por uma função polinomial de </a:t>
                </a:r>
                <a:r>
                  <a:rPr lang="pt-BR" altLang="en-US" i="0" smtClean="0">
                    <a:latin typeface="Cambria Math" panose="02040503050406030204" pitchFamily="18" charset="0"/>
                  </a:rPr>
                  <a:t>𝑛</a:t>
                </a:r>
                <a:r>
                  <a:rPr lang="pt-BR" dirty="0"/>
                  <a:t>.</a:t>
                </a:r>
              </a:p>
              <a:p>
                <a:pPr lvl="2">
                  <a:buFont typeface="Courier New" panose="02070309020205020404" pitchFamily="49" charset="0"/>
                  <a:buChar char="o"/>
                </a:pPr>
                <a:r>
                  <a:rPr lang="pt-BR" altLang="en-US" dirty="0"/>
                  <a:t>Por exemplo, a inversa de uma matriz </a:t>
                </a:r>
                <a:r>
                  <a:rPr lang="pt-BR" altLang="en-US" b="0" i="0" smtClean="0">
                    <a:latin typeface="Cambria Math" panose="02040503050406030204" pitchFamily="18" charset="0"/>
                  </a:rPr>
                  <a:t>𝑛</a:t>
                </a:r>
                <a:r>
                  <a:rPr lang="pt-BR" altLang="en-US" b="0" i="0" smtClean="0">
                    <a:latin typeface="Cambria Math" panose="02040503050406030204" pitchFamily="18" charset="0"/>
                    <a:ea typeface="Cambria Math" panose="02040503050406030204" pitchFamily="18" charset="0"/>
                  </a:rPr>
                  <a:t>×𝑛</a:t>
                </a:r>
                <a:r>
                  <a:rPr lang="pt-BR" altLang="en-US" dirty="0"/>
                  <a:t> pode ser calculada em </a:t>
                </a:r>
                <a:r>
                  <a:rPr lang="pt-BR" altLang="en-US" b="0" i="0" smtClean="0">
                    <a:latin typeface="Cambria Math" panose="02040503050406030204" pitchFamily="18" charset="0"/>
                  </a:rPr>
                  <a:t>𝑛^3</a:t>
                </a:r>
                <a:r>
                  <a:rPr lang="pt-BR" altLang="en-US" dirty="0"/>
                  <a:t>.</a:t>
                </a:r>
                <a:endParaRPr lang="en-US" altLang="en-US" dirty="0"/>
              </a:p>
              <a:p>
                <a:pPr lvl="1">
                  <a:buFont typeface="Wingdings" panose="05000000000000000000" pitchFamily="2" charset="2"/>
                  <a:buChar char="§"/>
                </a:pPr>
                <a:r>
                  <a:rPr lang="pt-BR" dirty="0"/>
                  <a:t>Não se sabe se existe um algoritmo eficiente (polinomial) para </a:t>
                </a:r>
                <a:r>
                  <a:rPr lang="pt-BR" b="1" dirty="0"/>
                  <a:t>resolver</a:t>
                </a:r>
                <a:r>
                  <a:rPr lang="pt-BR" dirty="0"/>
                  <a:t> o problema.</a:t>
                </a:r>
                <a:endParaRPr lang="pt-BR" dirty="0" smtClean="0"/>
              </a:p>
              <a:p>
                <a:endParaRPr lang="pt-BR" dirty="0" smtClean="0"/>
              </a:p>
              <a:p>
                <a:r>
                  <a:rPr lang="pt-BR" dirty="0" smtClean="0"/>
                  <a:t>Referências</a:t>
                </a:r>
                <a:endParaRPr lang="pt-BR" dirty="0"/>
              </a:p>
              <a:p>
                <a:r>
                  <a:rPr lang="pt-BR" dirty="0"/>
                  <a:t>[1] https://www-users.cse.umn.edu/~kumar001/dmbook/ch4.pdf</a:t>
                </a:r>
              </a:p>
              <a:p>
                <a:endParaRPr lang="pt-BR" dirty="0"/>
              </a:p>
              <a:p>
                <a:endParaRPr lang="pt-BR" dirty="0"/>
              </a:p>
              <a:p>
                <a:r>
                  <a:rPr lang="pt-BR" dirty="0"/>
                  <a:t>Os algoritmos da árvore de decisão transformam dados brutos em árvores de decisão baseadas em regras. O ID3 é um dos métodos de indução</a:t>
                </a:r>
                <a:r>
                  <a:rPr lang="pt-BR" baseline="0" dirty="0"/>
                  <a:t> de</a:t>
                </a:r>
                <a:r>
                  <a:rPr lang="pt-BR" dirty="0"/>
                  <a:t> árvores de decisão mais comuns. Ele foi introduzido em 1986 e é acrônimo de </a:t>
                </a:r>
                <a:r>
                  <a:rPr lang="pt-BR" dirty="0" err="1"/>
                  <a:t>dicotomizador</a:t>
                </a:r>
                <a:r>
                  <a:rPr lang="pt-BR" dirty="0"/>
                  <a:t> iterativo.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err="1"/>
                  <a:t>Dicotomização</a:t>
                </a:r>
                <a:r>
                  <a:rPr lang="pt-BR" dirty="0"/>
                  <a:t> significa dividir-se em duas coisas completamente opostas, ou seja, em duas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por isso que o método divide iterativamente os atributos em dois grupos, que são o atributo mais dominante e outros para construir uma árvore. Em seguida, calcula os ganhos de</a:t>
                </a:r>
                <a:r>
                  <a:rPr lang="pt-BR" baseline="0" dirty="0"/>
                  <a:t> </a:t>
                </a:r>
                <a:r>
                  <a:rPr lang="pt-BR" dirty="0"/>
                  <a:t>informação de cada atributo. Dessa maneira, o atributo mais dominante pode ser encontrado. Depois disso, o atributo mais dominante é colocado na árvore como um nó de decisão. Posteriormente, os</a:t>
                </a:r>
                <a:r>
                  <a:rPr lang="pt-BR" baseline="0" dirty="0"/>
                  <a:t> valores de </a:t>
                </a:r>
                <a:r>
                  <a:rPr lang="pt-BR" dirty="0"/>
                  <a:t>ganho de informação são calculados novamente entre os outros atributos. Assim, o próximo atributo mais dominante é encontrado. Finalmente, esse procedimento continua até chegar a uma decisão para esse ramo. Por isso, é chamado </a:t>
                </a:r>
                <a:r>
                  <a:rPr lang="pt-BR" dirty="0" err="1"/>
                  <a:t>dicotomizador</a:t>
                </a:r>
                <a:r>
                  <a:rPr lang="pt-BR" dirty="0"/>
                  <a:t> iterativo.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problema de aprender uma árvore de decisão ótima é conhecido por ser NP-completo sob vários aspectos de otimização e até mesmo para conceitos simples.</a:t>
                </a:r>
              </a:p>
              <a:p>
                <a:endParaRPr lang="pt-BR" dirty="0"/>
              </a:p>
            </p:txBody>
          </p:sp>
        </mc:Fallback>
      </mc:AlternateContent>
      <p:sp>
        <p:nvSpPr>
          <p:cNvPr id="4" name="Slide Number Placeholder 3"/>
          <p:cNvSpPr>
            <a:spLocks noGrp="1"/>
          </p:cNvSpPr>
          <p:nvPr>
            <p:ph type="sldNum" sz="quarter" idx="10"/>
          </p:nvPr>
        </p:nvSpPr>
        <p:spPr/>
        <p:txBody>
          <a:bodyPr/>
          <a:lstStyle/>
          <a:p>
            <a:fld id="{F430A2A4-8C14-4B1A-AD48-7B6401078BF7}" type="slidenum">
              <a:rPr lang="pt-BR" smtClean="0"/>
              <a:t>16</a:t>
            </a:fld>
            <a:endParaRPr lang="pt-BR"/>
          </a:p>
        </p:txBody>
      </p:sp>
    </p:spTree>
    <p:extLst>
      <p:ext uri="{BB962C8B-B14F-4D97-AF65-F5344CB8AC3E}">
        <p14:creationId xmlns:p14="http://schemas.microsoft.com/office/powerpoint/2010/main" val="2004074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Referências</a:t>
            </a:r>
          </a:p>
          <a:p>
            <a:r>
              <a:rPr lang="pt-BR" dirty="0"/>
              <a:t>[1] https://www-users.cse.umn.edu/~kumar001/dmbook/ch4.pdf</a:t>
            </a:r>
          </a:p>
          <a:p>
            <a:endParaRPr lang="pt-BR" dirty="0"/>
          </a:p>
          <a:p>
            <a:endParaRPr lang="pt-BR" dirty="0"/>
          </a:p>
          <a:p>
            <a:r>
              <a:rPr lang="pt-BR" dirty="0"/>
              <a:t>Os algoritmos da árvore de decisão transformam dados brutos em árvores de decisão baseadas em regras. O ID3 é um dos métodos de indução</a:t>
            </a:r>
            <a:r>
              <a:rPr lang="pt-BR" baseline="0" dirty="0"/>
              <a:t> de</a:t>
            </a:r>
            <a:r>
              <a:rPr lang="pt-BR" dirty="0"/>
              <a:t> árvores de decisão mais comuns. Ele foi introduzido em 1986 e é acrônimo de </a:t>
            </a:r>
            <a:r>
              <a:rPr lang="pt-BR" dirty="0" err="1"/>
              <a:t>dicotomizador</a:t>
            </a:r>
            <a:r>
              <a:rPr lang="pt-BR" dirty="0"/>
              <a:t> iterativo.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err="1"/>
              <a:t>Dicotomização</a:t>
            </a:r>
            <a:r>
              <a:rPr lang="pt-BR" dirty="0"/>
              <a:t> significa dividir-se em duas coisas completamente opostas, ou seja, em duas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por isso que o método divide iterativamente os atributos em dois grupos, que são o atributo mais dominante e outros para construir uma árvore. Em seguida, calcula os ganhos de</a:t>
            </a:r>
            <a:r>
              <a:rPr lang="pt-BR" baseline="0" dirty="0"/>
              <a:t> </a:t>
            </a:r>
            <a:r>
              <a:rPr lang="pt-BR" dirty="0"/>
              <a:t>informação de cada atributo. Dessa maneira, o atributo mais dominante pode ser encontrado. Depois disso, o atributo mais dominante é colocado na árvore como um nó de decisão. Posteriormente, os</a:t>
            </a:r>
            <a:r>
              <a:rPr lang="pt-BR" baseline="0" dirty="0"/>
              <a:t> valores de </a:t>
            </a:r>
            <a:r>
              <a:rPr lang="pt-BR" dirty="0"/>
              <a:t>ganho de informação são calculados novamente entre os outros atributos. Assim, o próximo atributo mais dominante é encontrado. Finalmente, esse procedimento continua até chegar a uma decisão para esse ramo. Por isso, é chamado </a:t>
            </a:r>
            <a:r>
              <a:rPr lang="pt-BR" dirty="0" err="1"/>
              <a:t>dicotomizador</a:t>
            </a:r>
            <a:r>
              <a:rPr lang="pt-BR" dirty="0"/>
              <a:t> iterativo.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problema de aprender uma árvore de decisão ótima é conhecido por ser NP-completo sob vários aspectos de otimização e até mesmo para conceitos simples.</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17</a:t>
            </a:fld>
            <a:endParaRPr lang="pt-BR"/>
          </a:p>
        </p:txBody>
      </p:sp>
    </p:spTree>
    <p:extLst>
      <p:ext uri="{BB962C8B-B14F-4D97-AF65-F5344CB8AC3E}">
        <p14:creationId xmlns:p14="http://schemas.microsoft.com/office/powerpoint/2010/main" val="13928227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algoritmos da árvore de decisão transformam dados brutos em árvores de decisão baseadas em regras. O ID3 é um dos métodos de indução</a:t>
            </a:r>
            <a:r>
              <a:rPr lang="pt-BR" baseline="0" dirty="0"/>
              <a:t> de</a:t>
            </a:r>
            <a:r>
              <a:rPr lang="pt-BR" dirty="0"/>
              <a:t> árvores de decisão mais comuns. Ele foi introduzido em 1986 e é acrônimo de </a:t>
            </a:r>
            <a:r>
              <a:rPr lang="pt-BR" dirty="0" err="1"/>
              <a:t>dicotomizador</a:t>
            </a:r>
            <a:r>
              <a:rPr lang="pt-BR" dirty="0"/>
              <a:t> iterativo.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err="1"/>
              <a:t>Dicotomização</a:t>
            </a:r>
            <a:r>
              <a:rPr lang="pt-BR" dirty="0"/>
              <a:t> significa dividir-se em duas coisas completamente opostas, ou seja, em duas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por isso que o método divide iterativamente os atributos em dois grupos, que são o atributo mais dominante e outros para construir uma árvore. Em seguida, calcula os ganhos de</a:t>
            </a:r>
            <a:r>
              <a:rPr lang="pt-BR" baseline="0" dirty="0"/>
              <a:t> </a:t>
            </a:r>
            <a:r>
              <a:rPr lang="pt-BR" dirty="0"/>
              <a:t>informação de cada atributo. Dessa maneira, o atributo mais dominante pode ser encontrado. Depois disso, o atributo mais dominante é colocado na árvore como um nó de decisão. Posteriormente, os</a:t>
            </a:r>
            <a:r>
              <a:rPr lang="pt-BR" baseline="0" dirty="0"/>
              <a:t> valores de </a:t>
            </a:r>
            <a:r>
              <a:rPr lang="pt-BR" dirty="0"/>
              <a:t>ganho de informação são calculados novamente entre os outros atributos. Assim, o próximo atributo mais dominante é encontrado. Finalmente, esse procedimento continua até chegar a uma decisão para esse ramo. Por isso, é chamado </a:t>
            </a:r>
            <a:r>
              <a:rPr lang="pt-BR" dirty="0" err="1"/>
              <a:t>dicotomizador</a:t>
            </a:r>
            <a:r>
              <a:rPr lang="pt-BR" dirty="0"/>
              <a:t> iterativo.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problema de aprender uma árvore de decisão ótima é conhecido por ser NP-completo sob vários aspectos de otimização e até mesmo para conceitos simples.</a:t>
            </a:r>
          </a:p>
          <a:p>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18</a:t>
            </a:fld>
            <a:endParaRPr lang="pt-BR"/>
          </a:p>
        </p:txBody>
      </p:sp>
    </p:spTree>
    <p:extLst>
      <p:ext uri="{BB962C8B-B14F-4D97-AF65-F5344CB8AC3E}">
        <p14:creationId xmlns:p14="http://schemas.microsoft.com/office/powerpoint/2010/main" val="1107963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algoritmos da árvore de decisão transformam dados brutos em árvores de decisão baseadas em regras. O ID3 é um dos métodos de indução</a:t>
            </a:r>
            <a:r>
              <a:rPr lang="pt-BR" baseline="0" dirty="0"/>
              <a:t> de</a:t>
            </a:r>
            <a:r>
              <a:rPr lang="pt-BR" dirty="0"/>
              <a:t> árvores de decisão mais comuns. Ele foi introduzido em 1986 e é acrônimo de </a:t>
            </a:r>
            <a:r>
              <a:rPr lang="pt-BR" dirty="0" err="1"/>
              <a:t>dicotomizador</a:t>
            </a:r>
            <a:r>
              <a:rPr lang="pt-BR" dirty="0"/>
              <a:t> iterativo.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err="1"/>
              <a:t>Dicotomização</a:t>
            </a:r>
            <a:r>
              <a:rPr lang="pt-BR" dirty="0"/>
              <a:t> significa dividir-se em duas coisas completamente opostas, ou seja, em duas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por isso que o método divide iterativamente os atributos em dois grupos, que são o atributo mais dominante e outros para construir uma árvore. Em seguida, calcula os ganhos de</a:t>
            </a:r>
            <a:r>
              <a:rPr lang="pt-BR" baseline="0" dirty="0"/>
              <a:t> </a:t>
            </a:r>
            <a:r>
              <a:rPr lang="pt-BR" dirty="0"/>
              <a:t>informação de cada atributo. Dessa maneira, o atributo mais dominante pode ser encontrado. Depois disso, o atributo mais dominante é colocado na árvore como um nó de decisão. Posteriormente, os</a:t>
            </a:r>
            <a:r>
              <a:rPr lang="pt-BR" baseline="0" dirty="0"/>
              <a:t> valores de </a:t>
            </a:r>
            <a:r>
              <a:rPr lang="pt-BR" dirty="0"/>
              <a:t>ganho de informação são calculados novamente entre os outros atributos. Assim, o próximo atributo mais dominante é encontrado. Finalmente, esse procedimento continua até chegar a uma decisão para esse ramo. Por isso, é chamado </a:t>
            </a:r>
            <a:r>
              <a:rPr lang="pt-BR" dirty="0" err="1"/>
              <a:t>dicotomizador</a:t>
            </a:r>
            <a:r>
              <a:rPr lang="pt-BR" dirty="0"/>
              <a:t> iterativo.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problema de aprender uma árvore de decisão ótima é conhecido por ser NP-completo sob vários aspectos de otimização e até mesmo para conceitos simples.</a:t>
            </a:r>
          </a:p>
          <a:p>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19</a:t>
            </a:fld>
            <a:endParaRPr lang="pt-BR"/>
          </a:p>
        </p:txBody>
      </p:sp>
    </p:spTree>
    <p:extLst>
      <p:ext uri="{BB962C8B-B14F-4D97-AF65-F5344CB8AC3E}">
        <p14:creationId xmlns:p14="http://schemas.microsoft.com/office/powerpoint/2010/main" val="39244378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algoritmos da árvore de decisão transformam dados brutos em árvores de decisão baseadas em regras. O ID3 é um dos métodos de indução</a:t>
            </a:r>
            <a:r>
              <a:rPr lang="pt-BR" baseline="0" dirty="0"/>
              <a:t> de</a:t>
            </a:r>
            <a:r>
              <a:rPr lang="pt-BR" dirty="0"/>
              <a:t> árvores de decisão mais comuns. Ele foi introduzido em 1986 e é acrônimo de </a:t>
            </a:r>
            <a:r>
              <a:rPr lang="pt-BR" dirty="0" err="1"/>
              <a:t>dicotomizador</a:t>
            </a:r>
            <a:r>
              <a:rPr lang="pt-BR" dirty="0"/>
              <a:t> iterativo.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err="1"/>
              <a:t>Dicotomização</a:t>
            </a:r>
            <a:r>
              <a:rPr lang="pt-BR" dirty="0"/>
              <a:t> significa dividir-se em duas coisas completamente opostas, ou seja, em duas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por isso que o método divide iterativamente os atributos em dois grupos, que são o atributo mais dominante e outros para construir uma árvore. Em seguida, calcula os ganhos de</a:t>
            </a:r>
            <a:r>
              <a:rPr lang="pt-BR" baseline="0" dirty="0"/>
              <a:t> </a:t>
            </a:r>
            <a:r>
              <a:rPr lang="pt-BR" dirty="0"/>
              <a:t>informação de cada atributo. Dessa maneira, o atributo mais dominante pode ser encontrado. Depois disso, o atributo mais dominante é colocado na árvore como um nó de decisão. Posteriormente, os</a:t>
            </a:r>
            <a:r>
              <a:rPr lang="pt-BR" baseline="0" dirty="0"/>
              <a:t> valores de </a:t>
            </a:r>
            <a:r>
              <a:rPr lang="pt-BR" dirty="0"/>
              <a:t>ganho de informação são calculados novamente entre os outros atributos. Assim, o próximo atributo mais dominante é encontrado. Finalmente, esse procedimento continua até chegar a uma decisão para esse ramo. Por isso, é chamado </a:t>
            </a:r>
            <a:r>
              <a:rPr lang="pt-BR" dirty="0" err="1"/>
              <a:t>dicotomizador</a:t>
            </a:r>
            <a:r>
              <a:rPr lang="pt-BR" dirty="0"/>
              <a:t> iterativo.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problema de aprender uma árvore de decisão ótima é conhecido por ser NP-completo sob vários aspectos de otimização e até mesmo para conceitos simples.</a:t>
            </a:r>
          </a:p>
          <a:p>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20</a:t>
            </a:fld>
            <a:endParaRPr lang="pt-BR"/>
          </a:p>
        </p:txBody>
      </p:sp>
    </p:spTree>
    <p:extLst>
      <p:ext uri="{BB962C8B-B14F-4D97-AF65-F5344CB8AC3E}">
        <p14:creationId xmlns:p14="http://schemas.microsoft.com/office/powerpoint/2010/main" val="3900039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algoritmos da árvore de decisão transformam dados brutos em árvores de decisão baseadas em regras. O ID3 é um dos métodos de indução</a:t>
            </a:r>
            <a:r>
              <a:rPr lang="pt-BR" baseline="0" dirty="0"/>
              <a:t> de</a:t>
            </a:r>
            <a:r>
              <a:rPr lang="pt-BR" dirty="0"/>
              <a:t> árvores de decisão mais comuns. Ele foi introduzido em 1986 e é acrônimo de </a:t>
            </a:r>
            <a:r>
              <a:rPr lang="pt-BR" dirty="0" err="1"/>
              <a:t>dicotomizador</a:t>
            </a:r>
            <a:r>
              <a:rPr lang="pt-BR" dirty="0"/>
              <a:t> iterativo.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err="1"/>
              <a:t>Dicotomização</a:t>
            </a:r>
            <a:r>
              <a:rPr lang="pt-BR" dirty="0"/>
              <a:t> significa dividir-se em duas coisas completamente opostas, ou seja, em duas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por isso que o método divide iterativamente os atributos em dois grupos, que são o atributo mais dominante e outros para construir uma árvore. Em seguida, calcula os ganhos de</a:t>
            </a:r>
            <a:r>
              <a:rPr lang="pt-BR" baseline="0" dirty="0"/>
              <a:t> </a:t>
            </a:r>
            <a:r>
              <a:rPr lang="pt-BR" dirty="0"/>
              <a:t>informação de cada atributo. Dessa maneira, o atributo mais dominante pode ser encontrado. Depois disso, o atributo mais dominante é colocado na árvore como um nó de decisão. Posteriormente, os</a:t>
            </a:r>
            <a:r>
              <a:rPr lang="pt-BR" baseline="0" dirty="0"/>
              <a:t> valores de </a:t>
            </a:r>
            <a:r>
              <a:rPr lang="pt-BR" dirty="0"/>
              <a:t>ganho de informação são calculados novamente entre os outros atributos. Assim, o próximo atributo mais dominante é encontrado. Finalmente, esse procedimento continua até chegar a uma decisão para esse ramo. Por isso, é chamado </a:t>
            </a:r>
            <a:r>
              <a:rPr lang="pt-BR" dirty="0" err="1"/>
              <a:t>dicotomizador</a:t>
            </a:r>
            <a:r>
              <a:rPr lang="pt-BR" dirty="0"/>
              <a:t> iterativo.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problema de aprender uma árvore de decisão ótima é conhecido por ser NP-completo sob vários aspectos de otimização e até mesmo para conceitos simples.</a:t>
            </a:r>
          </a:p>
          <a:p>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21</a:t>
            </a:fld>
            <a:endParaRPr lang="pt-BR"/>
          </a:p>
        </p:txBody>
      </p:sp>
    </p:spTree>
    <p:extLst>
      <p:ext uri="{BB962C8B-B14F-4D97-AF65-F5344CB8AC3E}">
        <p14:creationId xmlns:p14="http://schemas.microsoft.com/office/powerpoint/2010/main" val="2232774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algoritmos da árvore de decisão transformam dados brutos em árvores de decisão baseadas em regras. O ID3 é um dos métodos de indução</a:t>
            </a:r>
            <a:r>
              <a:rPr lang="pt-BR" baseline="0" dirty="0"/>
              <a:t> de</a:t>
            </a:r>
            <a:r>
              <a:rPr lang="pt-BR" dirty="0"/>
              <a:t> árvores de decisão mais comuns. Ele foi introduzido em 1986 e é acrônimo de </a:t>
            </a:r>
            <a:r>
              <a:rPr lang="pt-BR" dirty="0" err="1"/>
              <a:t>dicotomizador</a:t>
            </a:r>
            <a:r>
              <a:rPr lang="pt-BR" dirty="0"/>
              <a:t> iterativo.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Dicotomização significa dividir-se em duas coisas completamente opostas, ou seja, em duas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por isso que o método divide iterativamente os atributos em dois grupos, que são o atributo mais dominante e outros para construir uma árvore. Em seguida, calcula os ganhos de</a:t>
            </a:r>
            <a:r>
              <a:rPr lang="pt-BR" baseline="0" dirty="0"/>
              <a:t> </a:t>
            </a:r>
            <a:r>
              <a:rPr lang="pt-BR" dirty="0"/>
              <a:t>informação de cada atributo. Dessa maneira, o atributo mais dominante pode ser encontrado. Depois disso, o atributo mais dominante é colocado na árvore como um nó de decisão. Posteriormente, os</a:t>
            </a:r>
            <a:r>
              <a:rPr lang="pt-BR" baseline="0" dirty="0"/>
              <a:t> valores de </a:t>
            </a:r>
            <a:r>
              <a:rPr lang="pt-BR" dirty="0"/>
              <a:t>ganho de informação são calculados novamente entre os outros atributos. Assim, o próximo atributo mais dominante é encontrado. Finalmente, esse procedimento continua até chegar a uma decisão para esse ramo. Por isso, é chamado </a:t>
            </a:r>
            <a:r>
              <a:rPr lang="pt-BR" dirty="0" err="1"/>
              <a:t>dicotomizador</a:t>
            </a:r>
            <a:r>
              <a:rPr lang="pt-BR" dirty="0"/>
              <a:t> iterativo. </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22</a:t>
            </a:fld>
            <a:endParaRPr lang="pt-BR"/>
          </a:p>
        </p:txBody>
      </p:sp>
    </p:spTree>
    <p:extLst>
      <p:ext uri="{BB962C8B-B14F-4D97-AF65-F5344CB8AC3E}">
        <p14:creationId xmlns:p14="http://schemas.microsoft.com/office/powerpoint/2010/main" val="17003888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algoritmos da árvore de decisão transformam dados brutos em árvores de decisão baseadas em regras. O ID3 é um dos métodos de indução</a:t>
            </a:r>
            <a:r>
              <a:rPr lang="pt-BR" baseline="0" dirty="0"/>
              <a:t> de</a:t>
            </a:r>
            <a:r>
              <a:rPr lang="pt-BR" dirty="0"/>
              <a:t> árvores de decisão mais comuns. Ele foi introduzido em 1986 e é acrônimo de </a:t>
            </a:r>
            <a:r>
              <a:rPr lang="pt-BR" dirty="0" err="1"/>
              <a:t>dicotomizador</a:t>
            </a:r>
            <a:r>
              <a:rPr lang="pt-BR" dirty="0"/>
              <a:t> iterativo.</a:t>
            </a:r>
          </a:p>
          <a:p>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Dicotomização significa dividir-se em duas coisas completamente opostas, ou seja, em duas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por isso que o método divide iterativamente os atributos em dois grupos, que são o atributo mais dominante e outros para construir uma árvore. Em seguida, calcula os ganhos de</a:t>
            </a:r>
            <a:r>
              <a:rPr lang="pt-BR" baseline="0" dirty="0"/>
              <a:t> </a:t>
            </a:r>
            <a:r>
              <a:rPr lang="pt-BR" dirty="0"/>
              <a:t>informação de cada atributo. Dessa maneira, o atributo mais dominante pode ser encontrado. Depois disso, o atributo mais dominante é colocado na árvore como um nó de decisão. Posteriormente, os</a:t>
            </a:r>
            <a:r>
              <a:rPr lang="pt-BR" baseline="0" dirty="0"/>
              <a:t> valores de </a:t>
            </a:r>
            <a:r>
              <a:rPr lang="pt-BR" dirty="0"/>
              <a:t>ganho de informação são calculados novamente entre os outros atributos. Assim, o próximo atributo mais dominante é encontrado. Finalmente, esse procedimento continua até chegar a uma decisão para esse ramo. Por isso, é chamado </a:t>
            </a:r>
            <a:r>
              <a:rPr lang="pt-BR" dirty="0" err="1"/>
              <a:t>dicotomizador</a:t>
            </a:r>
            <a:r>
              <a:rPr lang="pt-BR" dirty="0"/>
              <a:t> iterativo. </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23</a:t>
            </a:fld>
            <a:endParaRPr lang="pt-BR"/>
          </a:p>
        </p:txBody>
      </p:sp>
    </p:spTree>
    <p:extLst>
      <p:ext uri="{BB962C8B-B14F-4D97-AF65-F5344CB8AC3E}">
        <p14:creationId xmlns:p14="http://schemas.microsoft.com/office/powerpoint/2010/main" val="36989939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ganho de informação é uma propriedade estatística que mede o quão bem um determinado atributo separa os exemplos de treinamento de acordo com sua classificação de destino.</a:t>
            </a:r>
          </a:p>
          <a:p>
            <a:endParaRPr lang="pt-BR" dirty="0"/>
          </a:p>
          <a:p>
            <a:r>
              <a:rPr lang="pt-BR" dirty="0"/>
              <a:t>O ganho de informação é uma diminuição da entropia. Ele calcula a diferença entre entropia antes da divisão/particionamento e a entropia média após a divisão do conjunto de dados com base nos valores do atributo fornecidos</a:t>
            </a:r>
          </a:p>
        </p:txBody>
      </p:sp>
      <p:sp>
        <p:nvSpPr>
          <p:cNvPr id="4" name="Slide Number Placeholder 3"/>
          <p:cNvSpPr>
            <a:spLocks noGrp="1"/>
          </p:cNvSpPr>
          <p:nvPr>
            <p:ph type="sldNum" sz="quarter" idx="10"/>
          </p:nvPr>
        </p:nvSpPr>
        <p:spPr/>
        <p:txBody>
          <a:bodyPr/>
          <a:lstStyle/>
          <a:p>
            <a:fld id="{F430A2A4-8C14-4B1A-AD48-7B6401078BF7}" type="slidenum">
              <a:rPr lang="pt-BR" smtClean="0"/>
              <a:t>24</a:t>
            </a:fld>
            <a:endParaRPr lang="pt-BR"/>
          </a:p>
        </p:txBody>
      </p:sp>
    </p:spTree>
    <p:extLst>
      <p:ext uri="{BB962C8B-B14F-4D97-AF65-F5344CB8AC3E}">
        <p14:creationId xmlns:p14="http://schemas.microsoft.com/office/powerpoint/2010/main" val="32695515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ganho de informação é uma propriedade estatística que mede o quão bem um determinado atributo separa os exemplos de treinamento de acordo com sua classificação de destino.</a:t>
            </a:r>
          </a:p>
          <a:p>
            <a:endParaRPr lang="pt-BR" dirty="0"/>
          </a:p>
          <a:p>
            <a:r>
              <a:rPr lang="pt-BR" dirty="0"/>
              <a:t>O ganho de informação é uma diminuição da entropia. Ele calcula a diferença entre entropia antes da divisão/particionamento e a entropia média após a divisão do conjunto de dados com base nos valores do atributo fornecidos</a:t>
            </a:r>
          </a:p>
        </p:txBody>
      </p:sp>
      <p:sp>
        <p:nvSpPr>
          <p:cNvPr id="4" name="Slide Number Placeholder 3"/>
          <p:cNvSpPr>
            <a:spLocks noGrp="1"/>
          </p:cNvSpPr>
          <p:nvPr>
            <p:ph type="sldNum" sz="quarter" idx="10"/>
          </p:nvPr>
        </p:nvSpPr>
        <p:spPr/>
        <p:txBody>
          <a:bodyPr/>
          <a:lstStyle/>
          <a:p>
            <a:fld id="{F430A2A4-8C14-4B1A-AD48-7B6401078BF7}" type="slidenum">
              <a:rPr lang="pt-BR" smtClean="0"/>
              <a:t>25</a:t>
            </a:fld>
            <a:endParaRPr lang="pt-BR"/>
          </a:p>
        </p:txBody>
      </p:sp>
    </p:spTree>
    <p:extLst>
      <p:ext uri="{BB962C8B-B14F-4D97-AF65-F5344CB8AC3E}">
        <p14:creationId xmlns:p14="http://schemas.microsoft.com/office/powerpoint/2010/main" val="11172430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ganho de informação é uma propriedade estatística que mede o quão bem um determinado atributo separa os exemplos de treinamento de acordo com sua classificação de destino.</a:t>
            </a:r>
          </a:p>
          <a:p>
            <a:endParaRPr lang="pt-BR" dirty="0"/>
          </a:p>
          <a:p>
            <a:r>
              <a:rPr lang="pt-BR" dirty="0"/>
              <a:t>O ganho de informação é uma diminuição da entropia. Ele calcula a diferença entre entropia antes da divisão/particionamento e a entropia média após a divisão do conjunto de dados com base nos valores do atributo fornecidos</a:t>
            </a:r>
          </a:p>
        </p:txBody>
      </p:sp>
      <p:sp>
        <p:nvSpPr>
          <p:cNvPr id="4" name="Slide Number Placeholder 3"/>
          <p:cNvSpPr>
            <a:spLocks noGrp="1"/>
          </p:cNvSpPr>
          <p:nvPr>
            <p:ph type="sldNum" sz="quarter" idx="10"/>
          </p:nvPr>
        </p:nvSpPr>
        <p:spPr/>
        <p:txBody>
          <a:bodyPr/>
          <a:lstStyle/>
          <a:p>
            <a:fld id="{F430A2A4-8C14-4B1A-AD48-7B6401078BF7}" type="slidenum">
              <a:rPr lang="pt-BR" smtClean="0"/>
              <a:t>26</a:t>
            </a:fld>
            <a:endParaRPr lang="pt-BR"/>
          </a:p>
        </p:txBody>
      </p:sp>
    </p:spTree>
    <p:extLst>
      <p:ext uri="{BB962C8B-B14F-4D97-AF65-F5344CB8AC3E}">
        <p14:creationId xmlns:p14="http://schemas.microsoft.com/office/powerpoint/2010/main" val="32459047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ganho de informação é uma propriedade estatística que mede o quão bem um determinado atributo separa os exemplos de treinamento de acordo com sua classificação de destino.</a:t>
            </a:r>
          </a:p>
          <a:p>
            <a:endParaRPr lang="pt-BR" dirty="0"/>
          </a:p>
          <a:p>
            <a:r>
              <a:rPr lang="pt-BR" dirty="0"/>
              <a:t>O ganho de informação é uma diminuição da entropia. Ele calcula a diferença entre entropia antes da divisão/particionamento e a entropia média após a divisão do conjunto de dados com base nos valores do atributo fornecidos</a:t>
            </a:r>
          </a:p>
        </p:txBody>
      </p:sp>
      <p:sp>
        <p:nvSpPr>
          <p:cNvPr id="4" name="Slide Number Placeholder 3"/>
          <p:cNvSpPr>
            <a:spLocks noGrp="1"/>
          </p:cNvSpPr>
          <p:nvPr>
            <p:ph type="sldNum" sz="quarter" idx="10"/>
          </p:nvPr>
        </p:nvSpPr>
        <p:spPr/>
        <p:txBody>
          <a:bodyPr/>
          <a:lstStyle/>
          <a:p>
            <a:fld id="{F430A2A4-8C14-4B1A-AD48-7B6401078BF7}" type="slidenum">
              <a:rPr lang="pt-BR" smtClean="0"/>
              <a:t>27</a:t>
            </a:fld>
            <a:endParaRPr lang="pt-BR"/>
          </a:p>
        </p:txBody>
      </p:sp>
    </p:spTree>
    <p:extLst>
      <p:ext uri="{BB962C8B-B14F-4D97-AF65-F5344CB8AC3E}">
        <p14:creationId xmlns:p14="http://schemas.microsoft.com/office/powerpoint/2010/main" val="6343020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ganho de informação é uma propriedade estatística que mede o quão bem um determinado atributo separa os exemplos de treinamento de acordo com sua classificação de destino.</a:t>
            </a:r>
          </a:p>
          <a:p>
            <a:endParaRPr lang="pt-BR" dirty="0"/>
          </a:p>
          <a:p>
            <a:r>
              <a:rPr lang="pt-BR" dirty="0"/>
              <a:t>O ganho de informação é uma diminuição da entropia. Ele calcula a diferença entre entropia antes da divisão/particionamento e a entropia média após a divisão do conjunto de dados com base nos valores do atributo fornecidos</a:t>
            </a:r>
          </a:p>
        </p:txBody>
      </p:sp>
      <p:sp>
        <p:nvSpPr>
          <p:cNvPr id="4" name="Slide Number Placeholder 3"/>
          <p:cNvSpPr>
            <a:spLocks noGrp="1"/>
          </p:cNvSpPr>
          <p:nvPr>
            <p:ph type="sldNum" sz="quarter" idx="10"/>
          </p:nvPr>
        </p:nvSpPr>
        <p:spPr/>
        <p:txBody>
          <a:bodyPr/>
          <a:lstStyle/>
          <a:p>
            <a:fld id="{F430A2A4-8C14-4B1A-AD48-7B6401078BF7}" type="slidenum">
              <a:rPr lang="pt-BR" smtClean="0"/>
              <a:t>28</a:t>
            </a:fld>
            <a:endParaRPr lang="pt-BR"/>
          </a:p>
        </p:txBody>
      </p:sp>
    </p:spTree>
    <p:extLst>
      <p:ext uri="{BB962C8B-B14F-4D97-AF65-F5344CB8AC3E}">
        <p14:creationId xmlns:p14="http://schemas.microsoft.com/office/powerpoint/2010/main" val="15266539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ganho de informação é uma propriedade estatística que mede o quão bem um determinado atributo separa os exemplos de treinamento de acordo com sua classificação de destino.</a:t>
            </a:r>
          </a:p>
          <a:p>
            <a:endParaRPr lang="pt-BR" dirty="0"/>
          </a:p>
          <a:p>
            <a:r>
              <a:rPr lang="pt-BR" dirty="0"/>
              <a:t>O ganho de informação é uma diminuição da entropia. Ele calcula a diferença entre entropia antes da divisão/particionamento e a entropia média após a divisão do conjunto de dados com base nos valores do atributo fornecidos</a:t>
            </a:r>
          </a:p>
        </p:txBody>
      </p:sp>
      <p:sp>
        <p:nvSpPr>
          <p:cNvPr id="4" name="Slide Number Placeholder 3"/>
          <p:cNvSpPr>
            <a:spLocks noGrp="1"/>
          </p:cNvSpPr>
          <p:nvPr>
            <p:ph type="sldNum" sz="quarter" idx="10"/>
          </p:nvPr>
        </p:nvSpPr>
        <p:spPr/>
        <p:txBody>
          <a:bodyPr/>
          <a:lstStyle/>
          <a:p>
            <a:fld id="{F430A2A4-8C14-4B1A-AD48-7B6401078BF7}" type="slidenum">
              <a:rPr lang="pt-BR" smtClean="0"/>
              <a:t>29</a:t>
            </a:fld>
            <a:endParaRPr lang="pt-BR"/>
          </a:p>
        </p:txBody>
      </p:sp>
    </p:spTree>
    <p:extLst>
      <p:ext uri="{BB962C8B-B14F-4D97-AF65-F5344CB8AC3E}">
        <p14:creationId xmlns:p14="http://schemas.microsoft.com/office/powerpoint/2010/main" val="26147031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ganho de informação é uma propriedade estatística que mede o quão bem um determinado atributo separa os exemplos de treinamento de acordo com sua classificação de destino.</a:t>
            </a:r>
          </a:p>
          <a:p>
            <a:endParaRPr lang="pt-BR" dirty="0"/>
          </a:p>
          <a:p>
            <a:r>
              <a:rPr lang="pt-BR" dirty="0"/>
              <a:t>O ganho de informação é uma diminuição da entropia. Ele calcula a diferença entre entropia antes da divisão/particionamento e a entropia média após a divisão do conjunto de dados com base nos valores do atributo fornecidos</a:t>
            </a:r>
          </a:p>
        </p:txBody>
      </p:sp>
      <p:sp>
        <p:nvSpPr>
          <p:cNvPr id="4" name="Slide Number Placeholder 3"/>
          <p:cNvSpPr>
            <a:spLocks noGrp="1"/>
          </p:cNvSpPr>
          <p:nvPr>
            <p:ph type="sldNum" sz="quarter" idx="10"/>
          </p:nvPr>
        </p:nvSpPr>
        <p:spPr/>
        <p:txBody>
          <a:bodyPr/>
          <a:lstStyle/>
          <a:p>
            <a:fld id="{F430A2A4-8C14-4B1A-AD48-7B6401078BF7}" type="slidenum">
              <a:rPr lang="pt-BR" smtClean="0"/>
              <a:t>30</a:t>
            </a:fld>
            <a:endParaRPr lang="pt-BR"/>
          </a:p>
        </p:txBody>
      </p:sp>
    </p:spTree>
    <p:extLst>
      <p:ext uri="{BB962C8B-B14F-4D97-AF65-F5344CB8AC3E}">
        <p14:creationId xmlns:p14="http://schemas.microsoft.com/office/powerpoint/2010/main" val="36634577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Uma </a:t>
            </a:r>
            <a:r>
              <a:rPr lang="pt-BR" b="1" i="1" dirty="0"/>
              <a:t>árvore de decisão </a:t>
            </a:r>
            <a:r>
              <a:rPr lang="pt-BR" dirty="0"/>
              <a:t>pode ser vista como uma </a:t>
            </a:r>
            <a:r>
              <a:rPr lang="pt-BR" b="1" i="1" dirty="0"/>
              <a:t>fonte binária de informação </a:t>
            </a:r>
            <a:r>
              <a:rPr lang="pt-BR" dirty="0"/>
              <a:t>com </a:t>
            </a:r>
            <a:r>
              <a:rPr lang="pt-BR" b="1" i="1" dirty="0"/>
              <a:t>entropia</a:t>
            </a:r>
            <a:r>
              <a:rPr lang="pt-BR" dirty="0"/>
              <a:t> igual a H(</a:t>
            </a:r>
            <a:r>
              <a:rPr lang="pt-BR" dirty="0" err="1"/>
              <a:t>Goal</a:t>
            </a:r>
            <a:r>
              <a:rPr lang="pt-BR" dirty="0"/>
              <a:t>).</a:t>
            </a:r>
          </a:p>
          <a:p>
            <a:endParaRPr lang="pt-BR" dirty="0"/>
          </a:p>
          <a:p>
            <a:r>
              <a:rPr lang="pt-BR" dirty="0"/>
              <a:t>O ganho de informação é uma diminuição na entropia. Ele nós dá uma</a:t>
            </a:r>
            <a:r>
              <a:rPr lang="pt-BR" baseline="0" dirty="0"/>
              <a:t> medida </a:t>
            </a:r>
            <a:r>
              <a:rPr lang="pt-BR" dirty="0"/>
              <a:t>a diferença entre a entropia antes da divisão e entropia após a divisão do conjunto de dados com base nos valores de atributo fornecidos.</a:t>
            </a:r>
            <a:r>
              <a:rPr lang="pt-BR" baseline="0" dirty="0"/>
              <a:t> Assim, podemos escrever que o ganho de informação é dado por</a:t>
            </a:r>
          </a:p>
          <a:p>
            <a:endParaRPr lang="pt-BR" baseline="0" dirty="0"/>
          </a:p>
          <a:p>
            <a:r>
              <a:rPr lang="pt-BR" dirty="0" err="1"/>
              <a:t>Gain</a:t>
            </a:r>
            <a:r>
              <a:rPr lang="pt-BR" dirty="0"/>
              <a:t> = </a:t>
            </a:r>
            <a:r>
              <a:rPr lang="pt-BR" dirty="0" err="1"/>
              <a:t>entropiaAntesDaDivisão</a:t>
            </a:r>
            <a:r>
              <a:rPr lang="pt-BR" dirty="0"/>
              <a:t> – </a:t>
            </a:r>
            <a:r>
              <a:rPr lang="pt-BR" dirty="0" err="1"/>
              <a:t>entropiaApósADivisão</a:t>
            </a:r>
            <a:endParaRPr lang="pt-BR" dirty="0"/>
          </a:p>
          <a:p>
            <a:endParaRPr lang="pt-BR" dirty="0"/>
          </a:p>
          <a:p>
            <a:r>
              <a:rPr lang="pt-BR" dirty="0"/>
              <a:t>Observe que o valor do ganho de informação sempre será maior ou igual a 0:</a:t>
            </a:r>
          </a:p>
          <a:p>
            <a:r>
              <a:rPr lang="pt-BR" sz="1200" b="0" i="0" kern="1200" dirty="0" err="1">
                <a:solidFill>
                  <a:schemeClr val="tx1"/>
                </a:solidFill>
                <a:effectLst/>
                <a:latin typeface="+mn-lt"/>
                <a:ea typeface="+mn-ea"/>
                <a:cs typeface="+mn-cs"/>
              </a:rPr>
              <a:t>Gain</a:t>
            </a:r>
            <a:r>
              <a:rPr lang="pt-BR" sz="1200" b="0" i="0" kern="1200" dirty="0">
                <a:solidFill>
                  <a:schemeClr val="tx1"/>
                </a:solidFill>
                <a:effectLst/>
                <a:latin typeface="+mn-lt"/>
                <a:ea typeface="+mn-ea"/>
                <a:cs typeface="+mn-cs"/>
              </a:rPr>
              <a:t>(Y|X) = H(Y) - H(Y|X) &gt;= 0</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Dado que </a:t>
            </a:r>
            <a:r>
              <a:rPr lang="en-US" dirty="0"/>
              <a:t>H(Y) &gt;= H(Y|X). O </a:t>
            </a:r>
            <a:r>
              <a:rPr lang="en-US" dirty="0" err="1"/>
              <a:t>pior</a:t>
            </a:r>
            <a:r>
              <a:rPr lang="en-US" dirty="0"/>
              <a:t> </a:t>
            </a:r>
            <a:r>
              <a:rPr lang="en-US" dirty="0" err="1"/>
              <a:t>caso</a:t>
            </a:r>
            <a:r>
              <a:rPr lang="en-US" dirty="0"/>
              <a:t> é </a:t>
            </a:r>
            <a:r>
              <a:rPr lang="en-US" dirty="0" err="1"/>
              <a:t>quando</a:t>
            </a:r>
            <a:r>
              <a:rPr lang="en-US" sz="1200" b="0" i="0" kern="1200" dirty="0">
                <a:solidFill>
                  <a:schemeClr val="tx1"/>
                </a:solidFill>
                <a:effectLst/>
                <a:latin typeface="+mn-lt"/>
                <a:ea typeface="+mn-ea"/>
                <a:cs typeface="+mn-cs"/>
              </a:rPr>
              <a:t> X 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Y </a:t>
            </a:r>
            <a:r>
              <a:rPr lang="en-US" sz="1200" b="0" i="0" kern="1200" dirty="0" err="1">
                <a:solidFill>
                  <a:schemeClr val="tx1"/>
                </a:solidFill>
                <a:effectLst/>
                <a:latin typeface="+mn-lt"/>
                <a:ea typeface="+mn-ea"/>
                <a:cs typeface="+mn-cs"/>
              </a:rPr>
              <a:t>são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independentes</a:t>
            </a:r>
            <a:r>
              <a:rPr lang="en-US" sz="1200" b="0" i="0" kern="1200" dirty="0">
                <a:solidFill>
                  <a:schemeClr val="tx1"/>
                </a:solidFill>
                <a:effectLst/>
                <a:latin typeface="+mn-lt"/>
                <a:ea typeface="+mn-ea"/>
                <a:cs typeface="+mn-cs"/>
              </a:rPr>
              <a:t>, e </a:t>
            </a:r>
            <a:r>
              <a:rPr lang="en-US" sz="1200" b="0" i="0" kern="1200" dirty="0" err="1">
                <a:solidFill>
                  <a:schemeClr val="tx1"/>
                </a:solidFill>
                <a:effectLst/>
                <a:latin typeface="+mn-lt"/>
                <a:ea typeface="+mn-ea"/>
                <a:cs typeface="+mn-cs"/>
              </a:rPr>
              <a:t>portanto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desta</a:t>
            </a:r>
            <a:r>
              <a:rPr lang="en-US" sz="1200" b="0" i="0" kern="1200" dirty="0">
                <a:solidFill>
                  <a:schemeClr val="tx1"/>
                </a:solidFill>
                <a:effectLst/>
                <a:latin typeface="+mn-lt"/>
                <a:ea typeface="+mn-ea"/>
                <a:cs typeface="+mn-cs"/>
              </a:rPr>
              <a:t> forma, </a:t>
            </a:r>
            <a:r>
              <a:rPr lang="en-US" dirty="0"/>
              <a:t>H(Y|X) = H(Y), </a:t>
            </a:r>
            <a:r>
              <a:rPr lang="en-US" dirty="0" err="1"/>
              <a:t>fazendo</a:t>
            </a:r>
            <a:r>
              <a:rPr lang="en-US" dirty="0"/>
              <a:t> com que </a:t>
            </a:r>
            <a:r>
              <a:rPr lang="pt-BR" sz="1200" b="0" i="0" kern="1200" dirty="0" err="1">
                <a:solidFill>
                  <a:schemeClr val="tx1"/>
                </a:solidFill>
                <a:effectLst/>
                <a:latin typeface="+mn-lt"/>
                <a:ea typeface="+mn-ea"/>
                <a:cs typeface="+mn-cs"/>
              </a:rPr>
              <a:t>Gain</a:t>
            </a:r>
            <a:r>
              <a:rPr lang="pt-BR" sz="1200" b="0" i="0" kern="1200" dirty="0">
                <a:solidFill>
                  <a:schemeClr val="tx1"/>
                </a:solidFill>
                <a:effectLst/>
                <a:latin typeface="+mn-lt"/>
                <a:ea typeface="+mn-ea"/>
                <a:cs typeface="+mn-cs"/>
              </a:rPr>
              <a:t>(Y|X) = 0.</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Referência:</a:t>
            </a:r>
            <a:endParaRPr lang="pt-BR" dirty="0">
              <a:hlinkClick r:id="rId3"/>
            </a:endParaRPr>
          </a:p>
          <a:p>
            <a:r>
              <a:rPr lang="pt-BR" dirty="0">
                <a:hlinkClick r:id="rId3"/>
              </a:rPr>
              <a:t>https://stackoverflow.com/questions/3289589/can-the-value-of-information-gain-be-negative</a:t>
            </a:r>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31</a:t>
            </a:fld>
            <a:endParaRPr lang="pt-BR"/>
          </a:p>
        </p:txBody>
      </p:sp>
    </p:spTree>
    <p:extLst>
      <p:ext uri="{BB962C8B-B14F-4D97-AF65-F5344CB8AC3E}">
        <p14:creationId xmlns:p14="http://schemas.microsoft.com/office/powerpoint/2010/main" val="12306540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Uma </a:t>
            </a:r>
            <a:r>
              <a:rPr lang="pt-BR" b="1" i="1" dirty="0"/>
              <a:t>árvore de decisão </a:t>
            </a:r>
            <a:r>
              <a:rPr lang="pt-BR" dirty="0"/>
              <a:t>pode ser vista como uma </a:t>
            </a:r>
            <a:r>
              <a:rPr lang="pt-BR" b="1" i="1" dirty="0"/>
              <a:t>fonte binária de informação </a:t>
            </a:r>
            <a:r>
              <a:rPr lang="pt-BR" dirty="0"/>
              <a:t>com </a:t>
            </a:r>
            <a:r>
              <a:rPr lang="pt-BR" b="1" i="1" dirty="0"/>
              <a:t>entropia</a:t>
            </a:r>
            <a:r>
              <a:rPr lang="pt-BR" dirty="0"/>
              <a:t> igual a H(</a:t>
            </a:r>
            <a:r>
              <a:rPr lang="pt-BR" dirty="0" err="1"/>
              <a:t>Goal</a:t>
            </a:r>
            <a:r>
              <a:rPr lang="pt-BR" dirty="0"/>
              <a:t>).</a:t>
            </a:r>
          </a:p>
          <a:p>
            <a:endParaRPr lang="pt-BR" dirty="0"/>
          </a:p>
          <a:p>
            <a:r>
              <a:rPr lang="pt-BR" dirty="0"/>
              <a:t>O ganho de informação é uma diminuição na entropia. Ele nós dá uma</a:t>
            </a:r>
            <a:r>
              <a:rPr lang="pt-BR" baseline="0" dirty="0"/>
              <a:t> medida </a:t>
            </a:r>
            <a:r>
              <a:rPr lang="pt-BR" dirty="0"/>
              <a:t>a diferença entre a entropia antes da divisão e entropia após a divisão do conjunto de dados com base nos valores de atributo fornecidos.</a:t>
            </a:r>
            <a:r>
              <a:rPr lang="pt-BR" baseline="0" dirty="0"/>
              <a:t> Assim, podemos escrever que o ganho de informação é dado por</a:t>
            </a:r>
          </a:p>
          <a:p>
            <a:endParaRPr lang="pt-BR" baseline="0" dirty="0"/>
          </a:p>
          <a:p>
            <a:r>
              <a:rPr lang="pt-BR" dirty="0" err="1"/>
              <a:t>Gain</a:t>
            </a:r>
            <a:r>
              <a:rPr lang="pt-BR" dirty="0"/>
              <a:t> = </a:t>
            </a:r>
            <a:r>
              <a:rPr lang="pt-BR" dirty="0" err="1"/>
              <a:t>entropiaAntesDaDivisão</a:t>
            </a:r>
            <a:r>
              <a:rPr lang="pt-BR" dirty="0"/>
              <a:t> – </a:t>
            </a:r>
            <a:r>
              <a:rPr lang="pt-BR" dirty="0" err="1"/>
              <a:t>entropiaApósADivisão</a:t>
            </a:r>
            <a:endParaRPr lang="pt-BR" dirty="0"/>
          </a:p>
          <a:p>
            <a:endParaRPr lang="pt-BR" dirty="0"/>
          </a:p>
          <a:p>
            <a:r>
              <a:rPr lang="pt-BR" dirty="0"/>
              <a:t>Observe que o valor do ganho de informação sempre será maior ou igual a 0:</a:t>
            </a:r>
          </a:p>
          <a:p>
            <a:r>
              <a:rPr lang="pt-BR" sz="1200" b="0" i="0" kern="1200" dirty="0" err="1">
                <a:solidFill>
                  <a:schemeClr val="tx1"/>
                </a:solidFill>
                <a:effectLst/>
                <a:latin typeface="+mn-lt"/>
                <a:ea typeface="+mn-ea"/>
                <a:cs typeface="+mn-cs"/>
              </a:rPr>
              <a:t>Gain</a:t>
            </a:r>
            <a:r>
              <a:rPr lang="pt-BR" sz="1200" b="0" i="0" kern="1200" dirty="0">
                <a:solidFill>
                  <a:schemeClr val="tx1"/>
                </a:solidFill>
                <a:effectLst/>
                <a:latin typeface="+mn-lt"/>
                <a:ea typeface="+mn-ea"/>
                <a:cs typeface="+mn-cs"/>
              </a:rPr>
              <a:t>(Y|X) = H(Y) - H(Y|X) &gt;= 0</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Dado que </a:t>
            </a:r>
            <a:r>
              <a:rPr lang="en-US" dirty="0"/>
              <a:t>H(Y) &gt;= H(Y|X). O </a:t>
            </a:r>
            <a:r>
              <a:rPr lang="en-US" dirty="0" err="1"/>
              <a:t>pior</a:t>
            </a:r>
            <a:r>
              <a:rPr lang="en-US" dirty="0"/>
              <a:t> </a:t>
            </a:r>
            <a:r>
              <a:rPr lang="en-US" dirty="0" err="1"/>
              <a:t>caso</a:t>
            </a:r>
            <a:r>
              <a:rPr lang="en-US" dirty="0"/>
              <a:t> é </a:t>
            </a:r>
            <a:r>
              <a:rPr lang="en-US" dirty="0" err="1"/>
              <a:t>quando</a:t>
            </a:r>
            <a:r>
              <a:rPr lang="en-US" sz="1200" b="0" i="0" kern="1200" dirty="0">
                <a:solidFill>
                  <a:schemeClr val="tx1"/>
                </a:solidFill>
                <a:effectLst/>
                <a:latin typeface="+mn-lt"/>
                <a:ea typeface="+mn-ea"/>
                <a:cs typeface="+mn-cs"/>
              </a:rPr>
              <a:t> X 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Y </a:t>
            </a:r>
            <a:r>
              <a:rPr lang="en-US" sz="1200" b="0" i="0" kern="1200" dirty="0" err="1">
                <a:solidFill>
                  <a:schemeClr val="tx1"/>
                </a:solidFill>
                <a:effectLst/>
                <a:latin typeface="+mn-lt"/>
                <a:ea typeface="+mn-ea"/>
                <a:cs typeface="+mn-cs"/>
              </a:rPr>
              <a:t>são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independentes</a:t>
            </a:r>
            <a:r>
              <a:rPr lang="en-US" sz="1200" b="0" i="0" kern="1200" dirty="0">
                <a:solidFill>
                  <a:schemeClr val="tx1"/>
                </a:solidFill>
                <a:effectLst/>
                <a:latin typeface="+mn-lt"/>
                <a:ea typeface="+mn-ea"/>
                <a:cs typeface="+mn-cs"/>
              </a:rPr>
              <a:t>, e </a:t>
            </a:r>
            <a:r>
              <a:rPr lang="en-US" sz="1200" b="0" i="0" kern="1200" dirty="0" err="1">
                <a:solidFill>
                  <a:schemeClr val="tx1"/>
                </a:solidFill>
                <a:effectLst/>
                <a:latin typeface="+mn-lt"/>
                <a:ea typeface="+mn-ea"/>
                <a:cs typeface="+mn-cs"/>
              </a:rPr>
              <a:t>portanto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desta</a:t>
            </a:r>
            <a:r>
              <a:rPr lang="en-US" sz="1200" b="0" i="0" kern="1200" dirty="0">
                <a:solidFill>
                  <a:schemeClr val="tx1"/>
                </a:solidFill>
                <a:effectLst/>
                <a:latin typeface="+mn-lt"/>
                <a:ea typeface="+mn-ea"/>
                <a:cs typeface="+mn-cs"/>
              </a:rPr>
              <a:t> forma, </a:t>
            </a:r>
            <a:r>
              <a:rPr lang="en-US" dirty="0"/>
              <a:t>H(Y|X) = H(Y), </a:t>
            </a:r>
            <a:r>
              <a:rPr lang="en-US" dirty="0" err="1"/>
              <a:t>fazendo</a:t>
            </a:r>
            <a:r>
              <a:rPr lang="en-US" dirty="0"/>
              <a:t> com que </a:t>
            </a:r>
            <a:r>
              <a:rPr lang="pt-BR" sz="1200" b="0" i="0" kern="1200" dirty="0" err="1">
                <a:solidFill>
                  <a:schemeClr val="tx1"/>
                </a:solidFill>
                <a:effectLst/>
                <a:latin typeface="+mn-lt"/>
                <a:ea typeface="+mn-ea"/>
                <a:cs typeface="+mn-cs"/>
              </a:rPr>
              <a:t>Gain</a:t>
            </a:r>
            <a:r>
              <a:rPr lang="pt-BR" sz="1200" b="0" i="0" kern="1200" dirty="0">
                <a:solidFill>
                  <a:schemeClr val="tx1"/>
                </a:solidFill>
                <a:effectLst/>
                <a:latin typeface="+mn-lt"/>
                <a:ea typeface="+mn-ea"/>
                <a:cs typeface="+mn-cs"/>
              </a:rPr>
              <a:t>(Y|X) = 0.</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Referência:</a:t>
            </a:r>
            <a:endParaRPr lang="pt-BR" dirty="0">
              <a:hlinkClick r:id="rId3"/>
            </a:endParaRPr>
          </a:p>
          <a:p>
            <a:r>
              <a:rPr lang="pt-BR" dirty="0">
                <a:hlinkClick r:id="rId3"/>
              </a:rPr>
              <a:t>https://stackoverflow.com/questions/3289589/can-the-value-of-information-gain-be-negative</a:t>
            </a:r>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32</a:t>
            </a:fld>
            <a:endParaRPr lang="pt-BR"/>
          </a:p>
        </p:txBody>
      </p:sp>
    </p:spTree>
    <p:extLst>
      <p:ext uri="{BB962C8B-B14F-4D97-AF65-F5344CB8AC3E}">
        <p14:creationId xmlns:p14="http://schemas.microsoft.com/office/powerpoint/2010/main" val="26942508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Uma </a:t>
            </a:r>
            <a:r>
              <a:rPr lang="pt-BR" b="1" i="1" dirty="0"/>
              <a:t>árvore de decisão </a:t>
            </a:r>
            <a:r>
              <a:rPr lang="pt-BR" dirty="0"/>
              <a:t>pode ser vista como uma </a:t>
            </a:r>
            <a:r>
              <a:rPr lang="pt-BR" b="1" i="1" dirty="0"/>
              <a:t>fonte binária de informação </a:t>
            </a:r>
            <a:r>
              <a:rPr lang="pt-BR" dirty="0"/>
              <a:t>com </a:t>
            </a:r>
            <a:r>
              <a:rPr lang="pt-BR" b="1" i="1" dirty="0"/>
              <a:t>entropia</a:t>
            </a:r>
            <a:r>
              <a:rPr lang="pt-BR" dirty="0"/>
              <a:t> igual a H(</a:t>
            </a:r>
            <a:r>
              <a:rPr lang="pt-BR" dirty="0" err="1"/>
              <a:t>Goal</a:t>
            </a:r>
            <a:r>
              <a:rPr lang="pt-BR" dirty="0"/>
              <a:t>).</a:t>
            </a:r>
          </a:p>
          <a:p>
            <a:endParaRPr lang="pt-BR" dirty="0"/>
          </a:p>
          <a:p>
            <a:r>
              <a:rPr lang="pt-BR" dirty="0"/>
              <a:t>O ganho de informação é uma diminuição na entropia. Ele nós dá uma</a:t>
            </a:r>
            <a:r>
              <a:rPr lang="pt-BR" baseline="0" dirty="0"/>
              <a:t> medida </a:t>
            </a:r>
            <a:r>
              <a:rPr lang="pt-BR" dirty="0"/>
              <a:t>a diferença entre a entropia antes da divisão e entropia após a divisão do conjunto de dados com base nos valores de atributo fornecidos.</a:t>
            </a:r>
            <a:r>
              <a:rPr lang="pt-BR" baseline="0" dirty="0"/>
              <a:t> Assim, podemos escrever que o ganho de informação é dado por</a:t>
            </a:r>
          </a:p>
          <a:p>
            <a:endParaRPr lang="pt-BR" baseline="0" dirty="0"/>
          </a:p>
          <a:p>
            <a:r>
              <a:rPr lang="pt-BR" dirty="0" err="1"/>
              <a:t>Gain</a:t>
            </a:r>
            <a:r>
              <a:rPr lang="pt-BR" dirty="0"/>
              <a:t> = </a:t>
            </a:r>
            <a:r>
              <a:rPr lang="pt-BR" dirty="0" err="1"/>
              <a:t>entropiaAntesDaDivisão</a:t>
            </a:r>
            <a:r>
              <a:rPr lang="pt-BR" dirty="0"/>
              <a:t> – </a:t>
            </a:r>
            <a:r>
              <a:rPr lang="pt-BR" dirty="0" err="1"/>
              <a:t>entropiaApósADivisão</a:t>
            </a:r>
            <a:endParaRPr lang="pt-BR" dirty="0"/>
          </a:p>
          <a:p>
            <a:endParaRPr lang="pt-BR" dirty="0"/>
          </a:p>
          <a:p>
            <a:r>
              <a:rPr lang="pt-BR" dirty="0"/>
              <a:t>Observe que o valor do ganho de informação sempre será maior ou igual a 0:</a:t>
            </a:r>
          </a:p>
          <a:p>
            <a:r>
              <a:rPr lang="pt-BR" sz="1200" b="0" i="0" kern="1200" dirty="0" err="1">
                <a:solidFill>
                  <a:schemeClr val="tx1"/>
                </a:solidFill>
                <a:effectLst/>
                <a:latin typeface="+mn-lt"/>
                <a:ea typeface="+mn-ea"/>
                <a:cs typeface="+mn-cs"/>
              </a:rPr>
              <a:t>Gain</a:t>
            </a:r>
            <a:r>
              <a:rPr lang="pt-BR" sz="1200" b="0" i="0" kern="1200" dirty="0">
                <a:solidFill>
                  <a:schemeClr val="tx1"/>
                </a:solidFill>
                <a:effectLst/>
                <a:latin typeface="+mn-lt"/>
                <a:ea typeface="+mn-ea"/>
                <a:cs typeface="+mn-cs"/>
              </a:rPr>
              <a:t>(Y|X) = H(Y) - H(Y|X) &gt;= 0</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Dado que </a:t>
            </a:r>
            <a:r>
              <a:rPr lang="en-US" dirty="0"/>
              <a:t>H(Y) &gt;= H(Y|X). O </a:t>
            </a:r>
            <a:r>
              <a:rPr lang="en-US" dirty="0" err="1"/>
              <a:t>pior</a:t>
            </a:r>
            <a:r>
              <a:rPr lang="en-US" dirty="0"/>
              <a:t> </a:t>
            </a:r>
            <a:r>
              <a:rPr lang="en-US" dirty="0" err="1"/>
              <a:t>caso</a:t>
            </a:r>
            <a:r>
              <a:rPr lang="en-US" dirty="0"/>
              <a:t> é </a:t>
            </a:r>
            <a:r>
              <a:rPr lang="en-US" dirty="0" err="1"/>
              <a:t>quando</a:t>
            </a:r>
            <a:r>
              <a:rPr lang="en-US" sz="1200" b="0" i="0" kern="1200" dirty="0">
                <a:solidFill>
                  <a:schemeClr val="tx1"/>
                </a:solidFill>
                <a:effectLst/>
                <a:latin typeface="+mn-lt"/>
                <a:ea typeface="+mn-ea"/>
                <a:cs typeface="+mn-cs"/>
              </a:rPr>
              <a:t> X 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Y </a:t>
            </a:r>
            <a:r>
              <a:rPr lang="en-US" sz="1200" b="0" i="0" kern="1200" dirty="0" err="1">
                <a:solidFill>
                  <a:schemeClr val="tx1"/>
                </a:solidFill>
                <a:effectLst/>
                <a:latin typeface="+mn-lt"/>
                <a:ea typeface="+mn-ea"/>
                <a:cs typeface="+mn-cs"/>
              </a:rPr>
              <a:t>são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independentes</a:t>
            </a:r>
            <a:r>
              <a:rPr lang="en-US" sz="1200" b="0" i="0" kern="1200" dirty="0">
                <a:solidFill>
                  <a:schemeClr val="tx1"/>
                </a:solidFill>
                <a:effectLst/>
                <a:latin typeface="+mn-lt"/>
                <a:ea typeface="+mn-ea"/>
                <a:cs typeface="+mn-cs"/>
              </a:rPr>
              <a:t>, e </a:t>
            </a:r>
            <a:r>
              <a:rPr lang="en-US" sz="1200" b="0" i="0" kern="1200" dirty="0" err="1">
                <a:solidFill>
                  <a:schemeClr val="tx1"/>
                </a:solidFill>
                <a:effectLst/>
                <a:latin typeface="+mn-lt"/>
                <a:ea typeface="+mn-ea"/>
                <a:cs typeface="+mn-cs"/>
              </a:rPr>
              <a:t>portanto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desta</a:t>
            </a:r>
            <a:r>
              <a:rPr lang="en-US" sz="1200" b="0" i="0" kern="1200" dirty="0">
                <a:solidFill>
                  <a:schemeClr val="tx1"/>
                </a:solidFill>
                <a:effectLst/>
                <a:latin typeface="+mn-lt"/>
                <a:ea typeface="+mn-ea"/>
                <a:cs typeface="+mn-cs"/>
              </a:rPr>
              <a:t> forma, </a:t>
            </a:r>
            <a:r>
              <a:rPr lang="en-US" dirty="0"/>
              <a:t>H(Y|X) = H(Y), </a:t>
            </a:r>
            <a:r>
              <a:rPr lang="en-US" dirty="0" err="1"/>
              <a:t>fazendo</a:t>
            </a:r>
            <a:r>
              <a:rPr lang="en-US" dirty="0"/>
              <a:t> com que </a:t>
            </a:r>
            <a:r>
              <a:rPr lang="pt-BR" sz="1200" b="0" i="0" kern="1200" dirty="0" err="1">
                <a:solidFill>
                  <a:schemeClr val="tx1"/>
                </a:solidFill>
                <a:effectLst/>
                <a:latin typeface="+mn-lt"/>
                <a:ea typeface="+mn-ea"/>
                <a:cs typeface="+mn-cs"/>
              </a:rPr>
              <a:t>Gain</a:t>
            </a:r>
            <a:r>
              <a:rPr lang="pt-BR" sz="1200" b="0" i="0" kern="1200" dirty="0">
                <a:solidFill>
                  <a:schemeClr val="tx1"/>
                </a:solidFill>
                <a:effectLst/>
                <a:latin typeface="+mn-lt"/>
                <a:ea typeface="+mn-ea"/>
                <a:cs typeface="+mn-cs"/>
              </a:rPr>
              <a:t>(Y|X) = 0.</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Referência:</a:t>
            </a:r>
            <a:endParaRPr lang="pt-BR" dirty="0">
              <a:hlinkClick r:id="rId3"/>
            </a:endParaRPr>
          </a:p>
          <a:p>
            <a:r>
              <a:rPr lang="pt-BR" dirty="0">
                <a:hlinkClick r:id="rId3"/>
              </a:rPr>
              <a:t>https://stackoverflow.com/questions/3289589/can-the-value-of-information-gain-be-negative</a:t>
            </a:r>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33</a:t>
            </a:fld>
            <a:endParaRPr lang="pt-BR"/>
          </a:p>
        </p:txBody>
      </p:sp>
    </p:spTree>
    <p:extLst>
      <p:ext uri="{BB962C8B-B14F-4D97-AF65-F5344CB8AC3E}">
        <p14:creationId xmlns:p14="http://schemas.microsoft.com/office/powerpoint/2010/main" val="12132191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Uma </a:t>
            </a:r>
            <a:r>
              <a:rPr lang="pt-BR" b="1" i="1" dirty="0"/>
              <a:t>árvore de decisão </a:t>
            </a:r>
            <a:r>
              <a:rPr lang="pt-BR" dirty="0"/>
              <a:t>pode ser vista como uma </a:t>
            </a:r>
            <a:r>
              <a:rPr lang="pt-BR" b="1" i="1" dirty="0"/>
              <a:t>fonte binária de informação </a:t>
            </a:r>
            <a:r>
              <a:rPr lang="pt-BR" dirty="0"/>
              <a:t>com </a:t>
            </a:r>
            <a:r>
              <a:rPr lang="pt-BR" b="1" i="1" dirty="0"/>
              <a:t>entropia</a:t>
            </a:r>
            <a:r>
              <a:rPr lang="pt-BR" dirty="0"/>
              <a:t> igual a H(</a:t>
            </a:r>
            <a:r>
              <a:rPr lang="pt-BR" dirty="0" err="1"/>
              <a:t>Goal</a:t>
            </a:r>
            <a:r>
              <a:rPr lang="pt-BR" dirty="0"/>
              <a:t>).</a:t>
            </a:r>
          </a:p>
          <a:p>
            <a:endParaRPr lang="pt-BR" dirty="0"/>
          </a:p>
          <a:p>
            <a:r>
              <a:rPr lang="pt-BR" dirty="0"/>
              <a:t>O ganho de informação é uma diminuição na entropia. Ele nós dá uma</a:t>
            </a:r>
            <a:r>
              <a:rPr lang="pt-BR" baseline="0" dirty="0"/>
              <a:t> medida </a:t>
            </a:r>
            <a:r>
              <a:rPr lang="pt-BR" dirty="0"/>
              <a:t>a diferença entre a entropia antes da divisão e entropia após a divisão do conjunto de dados com base nos valores de atributo fornecidos.</a:t>
            </a:r>
            <a:r>
              <a:rPr lang="pt-BR" baseline="0" dirty="0"/>
              <a:t> Assim, podemos escrever que o ganho de informação é dado por</a:t>
            </a:r>
          </a:p>
          <a:p>
            <a:endParaRPr lang="pt-BR" baseline="0" dirty="0"/>
          </a:p>
          <a:p>
            <a:r>
              <a:rPr lang="pt-BR" dirty="0" err="1"/>
              <a:t>Gain</a:t>
            </a:r>
            <a:r>
              <a:rPr lang="pt-BR" dirty="0"/>
              <a:t> = </a:t>
            </a:r>
            <a:r>
              <a:rPr lang="pt-BR" dirty="0" err="1"/>
              <a:t>entropiaAntesDaDivisão</a:t>
            </a:r>
            <a:r>
              <a:rPr lang="pt-BR" dirty="0"/>
              <a:t> – </a:t>
            </a:r>
            <a:r>
              <a:rPr lang="pt-BR" dirty="0" err="1"/>
              <a:t>entropiaApósADivisão</a:t>
            </a:r>
            <a:endParaRPr lang="pt-BR" dirty="0"/>
          </a:p>
          <a:p>
            <a:endParaRPr lang="pt-BR" dirty="0"/>
          </a:p>
          <a:p>
            <a:r>
              <a:rPr lang="pt-BR" dirty="0"/>
              <a:t>Observe que o valor do ganho de informação sempre será maior ou igual a 0:</a:t>
            </a:r>
          </a:p>
          <a:p>
            <a:r>
              <a:rPr lang="pt-BR" sz="1200" b="0" i="0" kern="1200" dirty="0" err="1">
                <a:solidFill>
                  <a:schemeClr val="tx1"/>
                </a:solidFill>
                <a:effectLst/>
                <a:latin typeface="+mn-lt"/>
                <a:ea typeface="+mn-ea"/>
                <a:cs typeface="+mn-cs"/>
              </a:rPr>
              <a:t>Gain</a:t>
            </a:r>
            <a:r>
              <a:rPr lang="pt-BR" sz="1200" b="0" i="0" kern="1200" dirty="0">
                <a:solidFill>
                  <a:schemeClr val="tx1"/>
                </a:solidFill>
                <a:effectLst/>
                <a:latin typeface="+mn-lt"/>
                <a:ea typeface="+mn-ea"/>
                <a:cs typeface="+mn-cs"/>
              </a:rPr>
              <a:t>(Y|X) = H(Y) - H(Y|X) &gt;= 0</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Dado que </a:t>
            </a:r>
            <a:r>
              <a:rPr lang="en-US" dirty="0"/>
              <a:t>H(Y) &gt;= H(Y|X). O </a:t>
            </a:r>
            <a:r>
              <a:rPr lang="en-US" dirty="0" err="1"/>
              <a:t>pior</a:t>
            </a:r>
            <a:r>
              <a:rPr lang="en-US" dirty="0"/>
              <a:t> </a:t>
            </a:r>
            <a:r>
              <a:rPr lang="en-US" dirty="0" err="1"/>
              <a:t>caso</a:t>
            </a:r>
            <a:r>
              <a:rPr lang="en-US" dirty="0"/>
              <a:t> é </a:t>
            </a:r>
            <a:r>
              <a:rPr lang="en-US" dirty="0" err="1"/>
              <a:t>quando</a:t>
            </a:r>
            <a:r>
              <a:rPr lang="en-US" sz="1200" b="0" i="0" kern="1200" dirty="0">
                <a:solidFill>
                  <a:schemeClr val="tx1"/>
                </a:solidFill>
                <a:effectLst/>
                <a:latin typeface="+mn-lt"/>
                <a:ea typeface="+mn-ea"/>
                <a:cs typeface="+mn-cs"/>
              </a:rPr>
              <a:t> X 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Y </a:t>
            </a:r>
            <a:r>
              <a:rPr lang="en-US" sz="1200" b="0" i="0" kern="1200" dirty="0" err="1">
                <a:solidFill>
                  <a:schemeClr val="tx1"/>
                </a:solidFill>
                <a:effectLst/>
                <a:latin typeface="+mn-lt"/>
                <a:ea typeface="+mn-ea"/>
                <a:cs typeface="+mn-cs"/>
              </a:rPr>
              <a:t>são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independentes</a:t>
            </a:r>
            <a:r>
              <a:rPr lang="en-US" sz="1200" b="0" i="0" kern="1200" dirty="0">
                <a:solidFill>
                  <a:schemeClr val="tx1"/>
                </a:solidFill>
                <a:effectLst/>
                <a:latin typeface="+mn-lt"/>
                <a:ea typeface="+mn-ea"/>
                <a:cs typeface="+mn-cs"/>
              </a:rPr>
              <a:t>, e </a:t>
            </a:r>
            <a:r>
              <a:rPr lang="en-US" sz="1200" b="0" i="0" kern="1200" dirty="0" err="1">
                <a:solidFill>
                  <a:schemeClr val="tx1"/>
                </a:solidFill>
                <a:effectLst/>
                <a:latin typeface="+mn-lt"/>
                <a:ea typeface="+mn-ea"/>
                <a:cs typeface="+mn-cs"/>
              </a:rPr>
              <a:t>portanto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desta</a:t>
            </a:r>
            <a:r>
              <a:rPr lang="en-US" sz="1200" b="0" i="0" kern="1200" dirty="0">
                <a:solidFill>
                  <a:schemeClr val="tx1"/>
                </a:solidFill>
                <a:effectLst/>
                <a:latin typeface="+mn-lt"/>
                <a:ea typeface="+mn-ea"/>
                <a:cs typeface="+mn-cs"/>
              </a:rPr>
              <a:t> forma, </a:t>
            </a:r>
            <a:r>
              <a:rPr lang="en-US" dirty="0"/>
              <a:t>H(Y|X) = H(Y), </a:t>
            </a:r>
            <a:r>
              <a:rPr lang="en-US" dirty="0" err="1"/>
              <a:t>fazendo</a:t>
            </a:r>
            <a:r>
              <a:rPr lang="en-US" dirty="0"/>
              <a:t> com que </a:t>
            </a:r>
            <a:r>
              <a:rPr lang="pt-BR" sz="1200" b="0" i="0" kern="1200" dirty="0" err="1">
                <a:solidFill>
                  <a:schemeClr val="tx1"/>
                </a:solidFill>
                <a:effectLst/>
                <a:latin typeface="+mn-lt"/>
                <a:ea typeface="+mn-ea"/>
                <a:cs typeface="+mn-cs"/>
              </a:rPr>
              <a:t>Gain</a:t>
            </a:r>
            <a:r>
              <a:rPr lang="pt-BR" sz="1200" b="0" i="0" kern="1200" dirty="0">
                <a:solidFill>
                  <a:schemeClr val="tx1"/>
                </a:solidFill>
                <a:effectLst/>
                <a:latin typeface="+mn-lt"/>
                <a:ea typeface="+mn-ea"/>
                <a:cs typeface="+mn-cs"/>
              </a:rPr>
              <a:t>(Y|X) = 0.</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Referência:</a:t>
            </a:r>
            <a:endParaRPr lang="pt-BR" dirty="0">
              <a:hlinkClick r:id="rId3"/>
            </a:endParaRPr>
          </a:p>
          <a:p>
            <a:r>
              <a:rPr lang="pt-BR" dirty="0">
                <a:hlinkClick r:id="rId3"/>
              </a:rPr>
              <a:t>https://stackoverflow.com/questions/3289589/can-the-value-of-information-gain-be-negative</a:t>
            </a:r>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34</a:t>
            </a:fld>
            <a:endParaRPr lang="pt-BR"/>
          </a:p>
        </p:txBody>
      </p:sp>
    </p:spTree>
    <p:extLst>
      <p:ext uri="{BB962C8B-B14F-4D97-AF65-F5344CB8AC3E}">
        <p14:creationId xmlns:p14="http://schemas.microsoft.com/office/powerpoint/2010/main" val="20961108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Referência:</a:t>
            </a:r>
          </a:p>
          <a:p>
            <a:r>
              <a:rPr lang="pt-BR" dirty="0">
                <a:hlinkClick r:id="rId3"/>
              </a:rPr>
              <a:t>https://iq.opengenus.org/id3-algorithm/</a:t>
            </a:r>
            <a:endParaRPr lang="pt-BR" dirty="0"/>
          </a:p>
          <a:p>
            <a:endParaRPr lang="pt-BR" dirty="0"/>
          </a:p>
          <a:p>
            <a:r>
              <a:rPr lang="pt-BR" dirty="0"/>
              <a:t>Algumas características do método ID3 são:</a:t>
            </a:r>
          </a:p>
          <a:p>
            <a:endParaRPr lang="pt-BR" dirty="0"/>
          </a:p>
          <a:p>
            <a:pPr marL="171450" indent="-171450">
              <a:buFont typeface="Arial" panose="020B0604020202020204" pitchFamily="34" charset="0"/>
              <a:buChar char="•"/>
            </a:pPr>
            <a:r>
              <a:rPr lang="pt-BR" dirty="0"/>
              <a:t>O ID3 usa uma abordagem gananciosa (</a:t>
            </a:r>
            <a:r>
              <a:rPr lang="pt-BR" dirty="0" err="1"/>
              <a:t>greed</a:t>
            </a:r>
            <a:r>
              <a:rPr lang="pt-BR" dirty="0"/>
              <a:t>), por isso não garante uma solução ideal; ele pode ficar preso em mínimos</a:t>
            </a:r>
            <a:r>
              <a:rPr lang="pt-BR" baseline="0" dirty="0"/>
              <a:t> </a:t>
            </a:r>
            <a:r>
              <a:rPr lang="pt-BR" dirty="0"/>
              <a:t>locais.</a:t>
            </a:r>
          </a:p>
          <a:p>
            <a:pPr marL="171450" indent="-171450">
              <a:buFont typeface="Arial" panose="020B0604020202020204" pitchFamily="34" charset="0"/>
              <a:buChar char="•"/>
            </a:pPr>
            <a:r>
              <a:rPr lang="pt-BR" dirty="0"/>
              <a:t>O ID3 pode sobreajustar aos dados de treinamento (para </a:t>
            </a:r>
            <a:r>
              <a:rPr lang="pt-BR" dirty="0" err="1"/>
              <a:t>evitaro</a:t>
            </a:r>
            <a:r>
              <a:rPr lang="pt-BR" baseline="0" dirty="0"/>
              <a:t> sobreajuste</a:t>
            </a:r>
            <a:r>
              <a:rPr lang="pt-BR" dirty="0"/>
              <a:t>, árvores de decisão menores devem ser preferidas ao</a:t>
            </a:r>
            <a:r>
              <a:rPr lang="pt-BR" baseline="0" dirty="0"/>
              <a:t> invés das</a:t>
            </a:r>
            <a:r>
              <a:rPr lang="pt-BR" dirty="0"/>
              <a:t> maiores).</a:t>
            </a:r>
          </a:p>
          <a:p>
            <a:pPr marL="171450" indent="-171450">
              <a:buFont typeface="Arial" panose="020B0604020202020204" pitchFamily="34" charset="0"/>
              <a:buChar char="•"/>
            </a:pPr>
            <a:r>
              <a:rPr lang="pt-BR" dirty="0"/>
              <a:t>Esse método geralmente produz árvores pequenas, mas nem sempre produz a menor árvore possível.</a:t>
            </a:r>
          </a:p>
          <a:p>
            <a:pPr marL="171450" indent="-171450">
              <a:buFont typeface="Arial" panose="020B0604020202020204" pitchFamily="34" charset="0"/>
              <a:buChar char="•"/>
            </a:pPr>
            <a:r>
              <a:rPr lang="pt-BR" dirty="0"/>
              <a:t>O ID3 é mais difícil de usar com dados contínuos (se os valores de qualquer atributo específico forem contínuos, haverá muito mais lugares para dividir os dados nesse atributo, e a busca pelo melhor valor a ser dividido pode ser demorada).</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35</a:t>
            </a:fld>
            <a:endParaRPr lang="pt-BR"/>
          </a:p>
        </p:txBody>
      </p:sp>
    </p:spTree>
    <p:extLst>
      <p:ext uri="{BB962C8B-B14F-4D97-AF65-F5344CB8AC3E}">
        <p14:creationId xmlns:p14="http://schemas.microsoft.com/office/powerpoint/2010/main" val="31673696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Referência:</a:t>
            </a:r>
          </a:p>
          <a:p>
            <a:r>
              <a:rPr lang="pt-BR" dirty="0">
                <a:hlinkClick r:id="rId3"/>
              </a:rPr>
              <a:t>https://iq.opengenus.org/id3-algorithm/</a:t>
            </a:r>
            <a:endParaRPr lang="pt-BR" dirty="0"/>
          </a:p>
          <a:p>
            <a:endParaRPr lang="pt-BR" dirty="0"/>
          </a:p>
          <a:p>
            <a:r>
              <a:rPr lang="pt-BR" dirty="0"/>
              <a:t>Algumas características do método ID3 são:</a:t>
            </a:r>
          </a:p>
          <a:p>
            <a:endParaRPr lang="pt-BR" dirty="0"/>
          </a:p>
          <a:p>
            <a:pPr marL="171450" indent="-171450">
              <a:buFont typeface="Arial" panose="020B0604020202020204" pitchFamily="34" charset="0"/>
              <a:buChar char="•"/>
            </a:pPr>
            <a:r>
              <a:rPr lang="pt-BR" dirty="0"/>
              <a:t>O ID3 usa uma abordagem gananciosa (</a:t>
            </a:r>
            <a:r>
              <a:rPr lang="pt-BR" dirty="0" err="1"/>
              <a:t>greed</a:t>
            </a:r>
            <a:r>
              <a:rPr lang="pt-BR" dirty="0"/>
              <a:t>), por isso não garante uma solução ideal; ele pode ficar preso em mínimos</a:t>
            </a:r>
            <a:r>
              <a:rPr lang="pt-BR" baseline="0" dirty="0"/>
              <a:t> </a:t>
            </a:r>
            <a:r>
              <a:rPr lang="pt-BR" dirty="0"/>
              <a:t>locais.</a:t>
            </a:r>
          </a:p>
          <a:p>
            <a:pPr marL="171450" indent="-171450">
              <a:buFont typeface="Arial" panose="020B0604020202020204" pitchFamily="34" charset="0"/>
              <a:buChar char="•"/>
            </a:pPr>
            <a:r>
              <a:rPr lang="pt-BR" dirty="0"/>
              <a:t>O ID3 pode sobreajustar aos dados de treinamento (para </a:t>
            </a:r>
            <a:r>
              <a:rPr lang="pt-BR" dirty="0" err="1"/>
              <a:t>evitaro</a:t>
            </a:r>
            <a:r>
              <a:rPr lang="pt-BR" baseline="0" dirty="0"/>
              <a:t> sobreajuste</a:t>
            </a:r>
            <a:r>
              <a:rPr lang="pt-BR" dirty="0"/>
              <a:t>, árvores de decisão menores devem ser preferidas ao</a:t>
            </a:r>
            <a:r>
              <a:rPr lang="pt-BR" baseline="0" dirty="0"/>
              <a:t> invés das</a:t>
            </a:r>
            <a:r>
              <a:rPr lang="pt-BR" dirty="0"/>
              <a:t> maiores).</a:t>
            </a:r>
          </a:p>
          <a:p>
            <a:pPr marL="171450" indent="-171450">
              <a:buFont typeface="Arial" panose="020B0604020202020204" pitchFamily="34" charset="0"/>
              <a:buChar char="•"/>
            </a:pPr>
            <a:r>
              <a:rPr lang="pt-BR" dirty="0"/>
              <a:t>Esse método geralmente produz árvores pequenas, mas nem sempre produz a menor árvore possível.</a:t>
            </a:r>
          </a:p>
          <a:p>
            <a:pPr marL="171450" indent="-171450">
              <a:buFont typeface="Arial" panose="020B0604020202020204" pitchFamily="34" charset="0"/>
              <a:buChar char="•"/>
            </a:pPr>
            <a:r>
              <a:rPr lang="pt-BR" dirty="0"/>
              <a:t>O ID3 é mais difícil de usar com dados contínuos (se os valores de qualquer atributo específico forem contínuos, haverá muito mais lugares para dividir os dados nesse atributo, e a busca pelo melhor valor a ser dividido pode ser demorada).</a:t>
            </a:r>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36</a:t>
            </a:fld>
            <a:endParaRPr lang="pt-BR"/>
          </a:p>
        </p:txBody>
      </p:sp>
    </p:spTree>
    <p:extLst>
      <p:ext uri="{BB962C8B-B14F-4D97-AF65-F5344CB8AC3E}">
        <p14:creationId xmlns:p14="http://schemas.microsoft.com/office/powerpoint/2010/main" val="23026498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37</a:t>
            </a:fld>
            <a:endParaRPr lang="pt-BR"/>
          </a:p>
        </p:txBody>
      </p:sp>
    </p:spTree>
    <p:extLst>
      <p:ext uri="{BB962C8B-B14F-4D97-AF65-F5344CB8AC3E}">
        <p14:creationId xmlns:p14="http://schemas.microsoft.com/office/powerpoint/2010/main" val="6186717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CART (classification and regression tree)</a:t>
            </a:r>
            <a:endParaRPr lang="pt-BR" dirty="0"/>
          </a:p>
          <a:p>
            <a:endParaRPr lang="pt-BR" dirty="0"/>
          </a:p>
          <a:p>
            <a:r>
              <a:rPr lang="pt-BR" dirty="0"/>
              <a:t>Deve-se usar índice gini ou entropia? A verdade é que, na maioria das vezes, não faz grande diferença: eles levam a árvores semelhantes. O</a:t>
            </a:r>
            <a:r>
              <a:rPr lang="pt-BR" baseline="0" dirty="0"/>
              <a:t> índice g</a:t>
            </a:r>
            <a:r>
              <a:rPr lang="pt-BR" dirty="0"/>
              <a:t>ini é um pouco mais rápido para executar os cálculos, por isso é um bom padrão. No entanto, quando as árvores diferem, o</a:t>
            </a:r>
            <a:r>
              <a:rPr lang="pt-BR" baseline="0" dirty="0"/>
              <a:t> índice g</a:t>
            </a:r>
            <a:r>
              <a:rPr lang="pt-BR" dirty="0"/>
              <a:t>ini tende a isolar a classe mais frequente em seu próprio ramo da árvore, enquanto a entropia tende a produzir árvores um pouco mais equilibradas</a:t>
            </a:r>
          </a:p>
          <a:p>
            <a:endParaRPr lang="pt-BR" dirty="0"/>
          </a:p>
          <a:p>
            <a:r>
              <a:rPr lang="pt-BR" dirty="0"/>
              <a:t>As árvores de decisão fazem muito poucas suposições sobre os dados de treinamento (em oposição aos modelos lineares, que obviamente assumem que os dados são lineares, por exemplo). Se deixada sem restrições, a estrutura da árvore se adaptará aos dados de treinamento,</a:t>
            </a:r>
            <a:r>
              <a:rPr lang="pt-BR" baseline="0" dirty="0"/>
              <a:t> se ajustando a eles muito bem </a:t>
            </a:r>
            <a:r>
              <a:rPr lang="pt-BR" dirty="0"/>
              <a:t>e, provavelmente, </a:t>
            </a:r>
            <a:r>
              <a:rPr lang="pt-BR" baseline="0" dirty="0"/>
              <a:t>sobreajustando.</a:t>
            </a:r>
          </a:p>
          <a:p>
            <a:endParaRPr lang="pt-BR" baseline="0" dirty="0"/>
          </a:p>
          <a:p>
            <a:r>
              <a:rPr lang="pt-BR" baseline="0" dirty="0"/>
              <a:t>Outro tipo de mátrica também usada é a redução da variância. A redução de variância é frequentemente empregada nos casos em que a variável alvo é contínua. A redução da variação de um nó é definida como a redução total da variância da variável objetivo devido à divisão neste nó.</a:t>
            </a:r>
          </a:p>
          <a:p>
            <a:endParaRPr lang="pt-BR" baseline="0" dirty="0"/>
          </a:p>
          <a:p>
            <a:r>
              <a:rPr lang="pt-BR" dirty="0"/>
              <a:t>A poda é uma técnica utilizada</a:t>
            </a:r>
            <a:r>
              <a:rPr lang="pt-BR" baseline="0" dirty="0"/>
              <a:t> para </a:t>
            </a:r>
            <a:r>
              <a:rPr lang="pt-BR" dirty="0"/>
              <a:t>reduzir o tamanho das árvores de decisão, removendo seções da árvore que fornecem pouco poder/informação para classificar exemplos. A poda reduz a complexidade do classificador final e, portanto, melhora a precisão preditiva (ou sej,a o poder de generalizar) através da redução do sobreajuste.</a:t>
            </a:r>
          </a:p>
          <a:p>
            <a:endParaRPr lang="pt-BR" dirty="0"/>
          </a:p>
          <a:p>
            <a:r>
              <a:rPr lang="pt-BR" dirty="0"/>
              <a:t>Florestas aleatórias</a:t>
            </a:r>
            <a:r>
              <a:rPr lang="pt-BR" baseline="0" dirty="0"/>
              <a:t> são </a:t>
            </a:r>
            <a:r>
              <a:rPr lang="pt-BR" dirty="0"/>
              <a:t>modelos de ensemble (conjunto) criados à partir de muitas árvores de decisão usando subconjuntos aleatórios de atributos e votação majoritária para realizar predições.</a:t>
            </a:r>
            <a:r>
              <a:rPr lang="pt-BR" baseline="0" dirty="0"/>
              <a:t> </a:t>
            </a:r>
            <a:r>
              <a:rPr lang="pt-BR" dirty="0"/>
              <a:t>A idéia fundamental por trás de uma floresta aleatória é combinar muitas árvores de decisão em um único modelo. Individualmente, as predições feitas por árvores de decisão podem não ser precisas, mas combinadas, as predições ficarão, na média, mais próximas do</a:t>
            </a:r>
            <a:r>
              <a:rPr lang="pt-BR" baseline="0" dirty="0"/>
              <a:t> valor real</a:t>
            </a:r>
            <a:r>
              <a:rPr lang="pt-BR" dirty="0"/>
              <a:t>.</a:t>
            </a:r>
          </a:p>
          <a:p>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38</a:t>
            </a:fld>
            <a:endParaRPr lang="pt-BR"/>
          </a:p>
        </p:txBody>
      </p:sp>
    </p:spTree>
    <p:extLst>
      <p:ext uri="{BB962C8B-B14F-4D97-AF65-F5344CB8AC3E}">
        <p14:creationId xmlns:p14="http://schemas.microsoft.com/office/powerpoint/2010/main" val="17354441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Deve-se usar índice gini ou entropia? A verdade é que, na maioria das vezes, não faz grande diferença: eles levam a árvores semelhantes. O</a:t>
            </a:r>
            <a:r>
              <a:rPr lang="pt-BR" baseline="0" dirty="0"/>
              <a:t> índice g</a:t>
            </a:r>
            <a:r>
              <a:rPr lang="pt-BR" dirty="0"/>
              <a:t>ini é um pouco mais rápido para executar os cálculos, por isso é um bom padrão. No entanto, quando as árvores diferem, o</a:t>
            </a:r>
            <a:r>
              <a:rPr lang="pt-BR" baseline="0" dirty="0"/>
              <a:t> índice g</a:t>
            </a:r>
            <a:r>
              <a:rPr lang="pt-BR" dirty="0"/>
              <a:t>ini tende a isolar a classe mais frequente em seu próprio ramo da árvore, enquanto a entropia tende a produzir árvores um pouco mais equilibradas</a:t>
            </a:r>
          </a:p>
          <a:p>
            <a:endParaRPr lang="pt-BR" dirty="0"/>
          </a:p>
          <a:p>
            <a:r>
              <a:rPr lang="pt-BR" dirty="0"/>
              <a:t>As árvores de decisão fazem muito poucas suposições sobre os dados de treinamento (em oposição aos modelos lineares, que obviamente assumem que os dados são lineares, por exemplo). Se deixada sem restrições, a estrutura da árvore se adaptará aos dados de treinamento,</a:t>
            </a:r>
            <a:r>
              <a:rPr lang="pt-BR" baseline="0" dirty="0"/>
              <a:t> se ajustando a eles muito bem </a:t>
            </a:r>
            <a:r>
              <a:rPr lang="pt-BR" dirty="0"/>
              <a:t>e, provavelmente, </a:t>
            </a:r>
            <a:r>
              <a:rPr lang="pt-BR" baseline="0" dirty="0"/>
              <a:t>sobreajustando.</a:t>
            </a:r>
          </a:p>
          <a:p>
            <a:endParaRPr lang="pt-BR" baseline="0" dirty="0"/>
          </a:p>
          <a:p>
            <a:r>
              <a:rPr lang="pt-BR" baseline="0" dirty="0"/>
              <a:t>Outro tipo de mátrica também usada é a redução da variância. A redução de variância é frequentemente empregada nos casos em que a variável alvo é contínua. A redução da variação de um nó é definida como a redução total da variância da variável objetivo devido à divisão neste nó.</a:t>
            </a:r>
          </a:p>
          <a:p>
            <a:endParaRPr lang="pt-BR" baseline="0" dirty="0"/>
          </a:p>
          <a:p>
            <a:r>
              <a:rPr lang="pt-BR" dirty="0"/>
              <a:t>A poda é uma técnica utilizada</a:t>
            </a:r>
            <a:r>
              <a:rPr lang="pt-BR" baseline="0" dirty="0"/>
              <a:t> para </a:t>
            </a:r>
            <a:r>
              <a:rPr lang="pt-BR" dirty="0"/>
              <a:t>reduzir o tamanho das árvores de decisão, removendo seções da árvore que fornecem pouco poder/informação para classificar exemplos. A poda reduz a complexidade do classificador final e, portanto, melhora a precisão preditiva (ou sej,a o poder de generalizar) através da redução do sobreajuste.</a:t>
            </a:r>
          </a:p>
          <a:p>
            <a:endParaRPr lang="pt-BR" dirty="0"/>
          </a:p>
          <a:p>
            <a:r>
              <a:rPr lang="pt-BR" dirty="0"/>
              <a:t>Florestas aleatórias</a:t>
            </a:r>
            <a:r>
              <a:rPr lang="pt-BR" baseline="0" dirty="0"/>
              <a:t> são </a:t>
            </a:r>
            <a:r>
              <a:rPr lang="pt-BR" dirty="0"/>
              <a:t>modelos de ensemble (conjunto) criados à partir de muitas árvores de decisão usando subconjuntos aleatórios de atributos e votação majoritária para realizar predições.</a:t>
            </a:r>
            <a:r>
              <a:rPr lang="pt-BR" baseline="0" dirty="0"/>
              <a:t> </a:t>
            </a:r>
            <a:r>
              <a:rPr lang="pt-BR" dirty="0"/>
              <a:t>A idéia fundamental por trás de uma floresta aleatória é combinar muitas árvores de decisão em um único modelo. Individualmente, as predições feitas por árvores de decisão podem não ser precisas, mas combinadas, as predições ficarão, na média, mais próximas do</a:t>
            </a:r>
            <a:r>
              <a:rPr lang="pt-BR" baseline="0" dirty="0"/>
              <a:t> valor real</a:t>
            </a:r>
            <a:r>
              <a:rPr lang="pt-BR" dirty="0"/>
              <a:t>.</a:t>
            </a:r>
          </a:p>
          <a:p>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39</a:t>
            </a:fld>
            <a:endParaRPr lang="pt-BR"/>
          </a:p>
        </p:txBody>
      </p:sp>
    </p:spTree>
    <p:extLst>
      <p:ext uri="{BB962C8B-B14F-4D97-AF65-F5344CB8AC3E}">
        <p14:creationId xmlns:p14="http://schemas.microsoft.com/office/powerpoint/2010/main" val="29666029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Deve-se usar índice gini ou entropia? A verdade é que, na maioria das vezes, não faz grande diferença: eles levam a árvores semelhantes. O</a:t>
            </a:r>
            <a:r>
              <a:rPr lang="pt-BR" baseline="0" dirty="0"/>
              <a:t> índice g</a:t>
            </a:r>
            <a:r>
              <a:rPr lang="pt-BR" dirty="0"/>
              <a:t>ini é um pouco mais rápido para executar os cálculos, por isso é um bom padrão. No entanto, quando as árvores diferem, o</a:t>
            </a:r>
            <a:r>
              <a:rPr lang="pt-BR" baseline="0" dirty="0"/>
              <a:t> índice g</a:t>
            </a:r>
            <a:r>
              <a:rPr lang="pt-BR" dirty="0"/>
              <a:t>ini tende a isolar a classe mais frequente em seu próprio ramo da árvore, enquanto a entropia tende a produzir árvores um pouco mais equilibradas</a:t>
            </a:r>
          </a:p>
          <a:p>
            <a:endParaRPr lang="pt-BR" dirty="0"/>
          </a:p>
          <a:p>
            <a:r>
              <a:rPr lang="pt-BR" dirty="0"/>
              <a:t>As árvores de decisão fazem muito poucas suposições sobre os dados de treinamento (em oposição aos modelos lineares, que obviamente assumem que os dados são lineares, por exemplo). Se deixada sem restrições, a estrutura da árvore se adaptará aos dados de treinamento,</a:t>
            </a:r>
            <a:r>
              <a:rPr lang="pt-BR" baseline="0" dirty="0"/>
              <a:t> se ajustando a eles muito bem </a:t>
            </a:r>
            <a:r>
              <a:rPr lang="pt-BR" dirty="0"/>
              <a:t>e, provavelmente, </a:t>
            </a:r>
            <a:r>
              <a:rPr lang="pt-BR" baseline="0" dirty="0"/>
              <a:t>sobreajustando.</a:t>
            </a:r>
          </a:p>
          <a:p>
            <a:endParaRPr lang="pt-BR" baseline="0" dirty="0"/>
          </a:p>
          <a:p>
            <a:r>
              <a:rPr lang="pt-BR" baseline="0" dirty="0"/>
              <a:t>Outro tipo de mátrica também usada é a redução da variância. A redução de variância é frequentemente empregada nos casos em que a variável alvo é contínua. A redução da variação de um nó é definida como a redução total da variância da variável objetivo devido à divisão neste nó.</a:t>
            </a:r>
          </a:p>
          <a:p>
            <a:endParaRPr lang="pt-BR" baseline="0" dirty="0"/>
          </a:p>
          <a:p>
            <a:r>
              <a:rPr lang="pt-BR" dirty="0"/>
              <a:t>A poda é uma técnica utilizada</a:t>
            </a:r>
            <a:r>
              <a:rPr lang="pt-BR" baseline="0" dirty="0"/>
              <a:t> para </a:t>
            </a:r>
            <a:r>
              <a:rPr lang="pt-BR" dirty="0"/>
              <a:t>reduzir o tamanho das árvores de decisão, removendo seções da árvore que fornecem pouco poder/informação para classificar exemplos. A poda reduz a complexidade do classificador final e, portanto, melhora a precisão preditiva (ou sej,a o poder de generalizar) através da redução do sobreajuste.</a:t>
            </a:r>
          </a:p>
          <a:p>
            <a:endParaRPr lang="pt-BR" dirty="0"/>
          </a:p>
          <a:p>
            <a:r>
              <a:rPr lang="pt-BR" dirty="0"/>
              <a:t>Florestas aleatórias</a:t>
            </a:r>
            <a:r>
              <a:rPr lang="pt-BR" baseline="0" dirty="0"/>
              <a:t> são </a:t>
            </a:r>
            <a:r>
              <a:rPr lang="pt-BR" dirty="0"/>
              <a:t>modelos de ensemble (conjunto) criados à partir de muitas árvores de decisão usando subconjuntos aleatórios de atributos e votação majoritária para realizar predições.</a:t>
            </a:r>
            <a:r>
              <a:rPr lang="pt-BR" baseline="0" dirty="0"/>
              <a:t> </a:t>
            </a:r>
            <a:r>
              <a:rPr lang="pt-BR" dirty="0"/>
              <a:t>A idéia fundamental por trás de uma floresta aleatória é combinar muitas árvores de decisão em um único modelo. Individualmente, as predições feitas por árvores de decisão podem não ser precisas, mas combinadas, as predições ficarão, na média, mais próximas do</a:t>
            </a:r>
            <a:r>
              <a:rPr lang="pt-BR" baseline="0" dirty="0"/>
              <a:t> valor real</a:t>
            </a:r>
            <a:r>
              <a:rPr lang="pt-BR" dirty="0"/>
              <a:t>.</a:t>
            </a:r>
          </a:p>
          <a:p>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40</a:t>
            </a:fld>
            <a:endParaRPr lang="pt-BR"/>
          </a:p>
        </p:txBody>
      </p:sp>
    </p:spTree>
    <p:extLst>
      <p:ext uri="{BB962C8B-B14F-4D97-AF65-F5344CB8AC3E}">
        <p14:creationId xmlns:p14="http://schemas.microsoft.com/office/powerpoint/2010/main" val="34914881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Deve-se usar índice gini ou entropia? A verdade é que, na maioria das vezes, não faz grande diferença: eles levam a árvores semelhantes. O</a:t>
            </a:r>
            <a:r>
              <a:rPr lang="pt-BR" baseline="0" dirty="0"/>
              <a:t> índice g</a:t>
            </a:r>
            <a:r>
              <a:rPr lang="pt-BR" dirty="0"/>
              <a:t>ini é um pouco mais rápido para executar os cálculos, por isso é um bom padrão. No entanto, quando as árvores diferem, o</a:t>
            </a:r>
            <a:r>
              <a:rPr lang="pt-BR" baseline="0" dirty="0"/>
              <a:t> índice g</a:t>
            </a:r>
            <a:r>
              <a:rPr lang="pt-BR" dirty="0"/>
              <a:t>ini tende a isolar a classe mais frequente em seu próprio ramo da árvore, enquanto a entropia tende a produzir árvores um pouco mais equilibradas</a:t>
            </a:r>
          </a:p>
          <a:p>
            <a:endParaRPr lang="pt-BR" dirty="0"/>
          </a:p>
          <a:p>
            <a:r>
              <a:rPr lang="pt-BR" dirty="0"/>
              <a:t>As árvores de decisão fazem muito poucas suposições sobre os dados de treinamento (em oposição aos modelos lineares, que obviamente assumem que os dados são lineares, por exemplo). Se deixada sem restrições, a estrutura da árvore se adaptará aos dados de treinamento,</a:t>
            </a:r>
            <a:r>
              <a:rPr lang="pt-BR" baseline="0" dirty="0"/>
              <a:t> se ajustando a eles muito bem </a:t>
            </a:r>
            <a:r>
              <a:rPr lang="pt-BR" dirty="0"/>
              <a:t>e, provavelmente, </a:t>
            </a:r>
            <a:r>
              <a:rPr lang="pt-BR" baseline="0" dirty="0"/>
              <a:t>sobreajustando.</a:t>
            </a:r>
          </a:p>
          <a:p>
            <a:endParaRPr lang="pt-BR" baseline="0" dirty="0"/>
          </a:p>
          <a:p>
            <a:r>
              <a:rPr lang="pt-BR" baseline="0" dirty="0"/>
              <a:t>Outro tipo de mátrica também usada é a redução da variância. A redução de variância é frequentemente empregada nos casos em que a variável alvo é contínua. A redução da variação de um nó é definida como a redução total da variância da variável objetivo devido à divisão neste nó.</a:t>
            </a:r>
          </a:p>
          <a:p>
            <a:endParaRPr lang="pt-BR" baseline="0" dirty="0"/>
          </a:p>
          <a:p>
            <a:r>
              <a:rPr lang="pt-BR" dirty="0"/>
              <a:t>A poda é uma técnica utilizada</a:t>
            </a:r>
            <a:r>
              <a:rPr lang="pt-BR" baseline="0" dirty="0"/>
              <a:t> para </a:t>
            </a:r>
            <a:r>
              <a:rPr lang="pt-BR" dirty="0"/>
              <a:t>reduzir o tamanho das árvores de decisão, removendo seções da árvore que fornecem pouco poder/informação para classificar exemplos. A poda reduz a complexidade do classificador final e, portanto, melhora a precisão preditiva (ou sej,a o poder de generalizar) através da redução do sobreajuste.</a:t>
            </a:r>
          </a:p>
          <a:p>
            <a:endParaRPr lang="pt-BR" dirty="0"/>
          </a:p>
          <a:p>
            <a:r>
              <a:rPr lang="pt-BR" dirty="0"/>
              <a:t>Florestas aleatórias</a:t>
            </a:r>
            <a:r>
              <a:rPr lang="pt-BR" baseline="0" dirty="0"/>
              <a:t> são </a:t>
            </a:r>
            <a:r>
              <a:rPr lang="pt-BR" dirty="0"/>
              <a:t>modelos de ensemble (conjunto) criados à partir de muitas árvores de decisão usando subconjuntos aleatórios de atributos e votação majoritária para realizar predições.</a:t>
            </a:r>
            <a:r>
              <a:rPr lang="pt-BR" baseline="0" dirty="0"/>
              <a:t> </a:t>
            </a:r>
            <a:r>
              <a:rPr lang="pt-BR" dirty="0"/>
              <a:t>A idéia fundamental por trás de uma floresta aleatória é combinar muitas árvores de decisão em um único modelo. Individualmente, as predições feitas por árvores de decisão podem não ser precisas, mas combinadas, as predições ficarão, na média, mais próximas do</a:t>
            </a:r>
            <a:r>
              <a:rPr lang="pt-BR" baseline="0" dirty="0"/>
              <a:t> valor real</a:t>
            </a:r>
            <a:r>
              <a:rPr lang="pt-BR" dirty="0"/>
              <a:t>.</a:t>
            </a:r>
          </a:p>
          <a:p>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41</a:t>
            </a:fld>
            <a:endParaRPr lang="pt-BR"/>
          </a:p>
        </p:txBody>
      </p:sp>
    </p:spTree>
    <p:extLst>
      <p:ext uri="{BB962C8B-B14F-4D97-AF65-F5344CB8AC3E}">
        <p14:creationId xmlns:p14="http://schemas.microsoft.com/office/powerpoint/2010/main" val="21855120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Referência:</a:t>
            </a:r>
          </a:p>
          <a:p>
            <a:r>
              <a:rPr lang="pt-BR" dirty="0">
                <a:hlinkClick r:id="rId3"/>
              </a:rPr>
              <a:t>https://iq.opengenus.org/id3-algorithm/</a:t>
            </a:r>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45</a:t>
            </a:fld>
            <a:endParaRPr lang="pt-BR"/>
          </a:p>
        </p:txBody>
      </p:sp>
    </p:spTree>
    <p:extLst>
      <p:ext uri="{BB962C8B-B14F-4D97-AF65-F5344CB8AC3E}">
        <p14:creationId xmlns:p14="http://schemas.microsoft.com/office/powerpoint/2010/main" val="17913308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https://docs.google.com/spreadsheets/d/1VsWmcVYymhsLHxCrPFLZFZGe-SW1a8PnnBhazxh3OVM/edit?usp=sharing</a:t>
            </a:r>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46</a:t>
            </a:fld>
            <a:endParaRPr lang="pt-BR"/>
          </a:p>
        </p:txBody>
      </p:sp>
    </p:spTree>
    <p:extLst>
      <p:ext uri="{BB962C8B-B14F-4D97-AF65-F5344CB8AC3E}">
        <p14:creationId xmlns:p14="http://schemas.microsoft.com/office/powerpoint/2010/main" val="21003341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Entretanto, quando as classes não são bem separadas, as árvores são suscetíveis a sobreajustar aos dados de treinamento, de modo que a</a:t>
            </a:r>
            <a:r>
              <a:rPr lang="pt-BR" baseline="0" dirty="0"/>
              <a:t> fronteira de decisão linear dos classificadores lineares</a:t>
            </a:r>
            <a:r>
              <a:rPr lang="pt-BR" dirty="0"/>
              <a:t> generalize melhor.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Sobreajuste</a:t>
            </a:r>
            <a:r>
              <a:rPr lang="pt-BR" dirty="0"/>
              <a:t>: uma árvore de decisão irá se sobreajustar aos dados se continuarmos a dividir até que o conjunto de dados não possa ser mais puro. Em outras palavras, o modelo classificará corretamente cada exemplo se não pararmos de dividir [2].</a:t>
            </a:r>
            <a:r>
              <a:rPr lang="pt-BR" baseline="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Para evitar overfitting, existem duas maneiras: 1. paramos de dividir a árvore em algum ponto; 2. geramos primeiro uma árvore completa e, em seguida, eliminamos alguns ramos.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Referências: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https://stackoverflow.com/questions/34212610/why-is-the-runtime-to-construct-a-decision-tree-mnlogn</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[2] https://towardsdatascience.com/construct-a-decision-tree-and-how-to-deal-with-overfitting-f907efc1492d</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53</a:t>
            </a:fld>
            <a:endParaRPr lang="pt-BR"/>
          </a:p>
        </p:txBody>
      </p:sp>
    </p:spTree>
    <p:extLst>
      <p:ext uri="{BB962C8B-B14F-4D97-AF65-F5344CB8AC3E}">
        <p14:creationId xmlns:p14="http://schemas.microsoft.com/office/powerpoint/2010/main" val="42072891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Exemplo, </a:t>
            </a:r>
            <a:r>
              <a:rPr lang="pt-BR" b="1" dirty="0" err="1"/>
              <a:t>min_samples_leaf</a:t>
            </a:r>
            <a:r>
              <a:rPr lang="pt-BR" b="1" dirty="0"/>
              <a:t>=5</a:t>
            </a:r>
            <a:r>
              <a:rPr lang="pt-BR" dirty="0"/>
              <a:t>: Cada nó folha terá no mínimo 5 amostras. Se, ao tentar dividir um nó, um dos ramos teria menos que 5 amostras, essa divisão não será feita.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Entretanto, quando as classes não são bem separadas, as árvores são suscetíveis a sobreajustar aos dados de treinamento, de modo que a</a:t>
            </a:r>
            <a:r>
              <a:rPr lang="pt-BR" baseline="0" dirty="0"/>
              <a:t> fronteira de decisão linear dos classificadores lineares</a:t>
            </a:r>
            <a:r>
              <a:rPr lang="pt-BR" dirty="0"/>
              <a:t> generalize melhor.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Sobreajuste</a:t>
            </a:r>
            <a:r>
              <a:rPr lang="pt-BR" dirty="0"/>
              <a:t>: uma árvore de decisão irá se sobreajustar aos dados se continuarmos a dividir até que o conjunto de dados não possa ser mais puro. Em outras palavras, o modelo classificará corretamente cada exemplo se não pararmos de dividir [2].</a:t>
            </a:r>
            <a:r>
              <a:rPr lang="pt-BR" baseline="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Para evitar </a:t>
            </a:r>
            <a:r>
              <a:rPr lang="pt-BR" dirty="0" err="1"/>
              <a:t>overfitting</a:t>
            </a:r>
            <a:r>
              <a:rPr lang="pt-BR" dirty="0"/>
              <a:t>, existem duas maneiras: 1. paramos de dividir a árvore em algum ponto; 2. geramos primeiro uma árvore completa e, em seguida, eliminamos alguns ramos.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Referências: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https://stackoverflow.com/questions/34212610/why-is-the-runtime-to-construct-a-decision-tree-mnlogn</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[2] https://towardsdatascience.com/construct-a-decision-tree-and-how-to-deal-with-overfitting-f907efc1492d</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430A2A4-8C14-4B1A-AD48-7B6401078BF7}" type="slidenum">
              <a:rPr lang="pt-BR" smtClean="0"/>
              <a:t>54</a:t>
            </a:fld>
            <a:endParaRPr lang="pt-BR"/>
          </a:p>
        </p:txBody>
      </p:sp>
    </p:spTree>
    <p:extLst>
      <p:ext uri="{BB962C8B-B14F-4D97-AF65-F5344CB8AC3E}">
        <p14:creationId xmlns:p14="http://schemas.microsoft.com/office/powerpoint/2010/main" val="11880858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Entretanto, quando as classes não são bem separadas, as árvores são suscetíveis a sobreajustar aos dados de treinamento, de modo que a</a:t>
            </a:r>
            <a:r>
              <a:rPr lang="pt-BR" baseline="0" dirty="0"/>
              <a:t> fronteira de decisão linear dos classificadores lineares</a:t>
            </a:r>
            <a:r>
              <a:rPr lang="pt-BR" dirty="0"/>
              <a:t> generalize melhor.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Florestas de decisão aleatória (ou florestas aleatórias) são um método de aprendizado conjunto para classificação</a:t>
            </a:r>
            <a:r>
              <a:rPr lang="pt-BR" baseline="0" dirty="0"/>
              <a:t> e </a:t>
            </a:r>
            <a:r>
              <a:rPr lang="pt-BR" dirty="0"/>
              <a:t>regressão, que operam através da construção de uma infinidade de árvores de decisão no momento do treinamento e gerando a classe que tem</a:t>
            </a:r>
            <a:r>
              <a:rPr lang="pt-BR" baseline="0" dirty="0"/>
              <a:t> o maior </a:t>
            </a:r>
            <a:r>
              <a:rPr lang="pt-BR" baseline="0" dirty="0" err="1"/>
              <a:t>númerode</a:t>
            </a:r>
            <a:r>
              <a:rPr lang="pt-BR" baseline="0" dirty="0"/>
              <a:t> votos</a:t>
            </a:r>
            <a:r>
              <a:rPr lang="pt-BR" dirty="0"/>
              <a:t> (classificação) ou a</a:t>
            </a:r>
            <a:r>
              <a:rPr lang="pt-BR" baseline="0" dirty="0"/>
              <a:t> </a:t>
            </a:r>
            <a:r>
              <a:rPr lang="pt-BR" dirty="0"/>
              <a:t>média dos valores de saída das várias árvores (regressão).</a:t>
            </a:r>
            <a:r>
              <a:rPr lang="pt-BR" baseline="0" dirty="0"/>
              <a:t> </a:t>
            </a:r>
            <a:r>
              <a:rPr lang="pt-BR" dirty="0"/>
              <a:t>As florestas de decisão aleatória corrigem o hábito das árvores de decisão de se sobreajustar ao conjunto de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Iris dataset: é um conjunto de dados famoso que contém o comprimento e largura das sépalas e pétalas de 150 flores de íris de três espécies diferentes: Iris-</a:t>
            </a:r>
            <a:r>
              <a:rPr lang="pt-BR" dirty="0" err="1"/>
              <a:t>Setosa</a:t>
            </a:r>
            <a:r>
              <a:rPr lang="pt-BR" dirty="0"/>
              <a:t>, Iris-Versicolor e Iris-</a:t>
            </a:r>
            <a:r>
              <a:rPr lang="pt-BR" dirty="0" err="1"/>
              <a:t>Virginica</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PCA é um algoritmo que gira e dimensiona linearmente uma matriz</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55</a:t>
            </a:fld>
            <a:endParaRPr lang="pt-BR"/>
          </a:p>
        </p:txBody>
      </p:sp>
    </p:spTree>
    <p:extLst>
      <p:ext uri="{BB962C8B-B14F-4D97-AF65-F5344CB8AC3E}">
        <p14:creationId xmlns:p14="http://schemas.microsoft.com/office/powerpoint/2010/main" val="31296213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fontAlgn="base"/>
            <a:r>
              <a:rPr lang="en-US" b="1" i="1" dirty="0">
                <a:solidFill>
                  <a:srgbClr val="0C0D0E"/>
                </a:solidFill>
                <a:effectLst/>
                <a:latin typeface="inherit"/>
              </a:rPr>
              <a:t>Short </a:t>
            </a:r>
            <a:r>
              <a:rPr lang="en-US" b="1" i="1" dirty="0" err="1">
                <a:solidFill>
                  <a:srgbClr val="0C0D0E"/>
                </a:solidFill>
                <a:effectLst/>
                <a:latin typeface="inherit"/>
              </a:rPr>
              <a:t>ans</a:t>
            </a:r>
            <a:r>
              <a:rPr lang="en-US" b="1" i="1" dirty="0">
                <a:solidFill>
                  <a:srgbClr val="0C0D0E"/>
                </a:solidFill>
                <a:effectLst/>
                <a:latin typeface="inherit"/>
              </a:rPr>
              <a:t>:</a:t>
            </a:r>
            <a:endParaRPr lang="en-US" b="0" i="0" dirty="0">
              <a:solidFill>
                <a:srgbClr val="0C0D0E"/>
              </a:solidFill>
              <a:effectLst/>
              <a:latin typeface="-apple-system"/>
            </a:endParaRPr>
          </a:p>
          <a:p>
            <a:pPr algn="l" fontAlgn="base"/>
            <a:r>
              <a:rPr lang="en-US" b="0" i="0" dirty="0" err="1">
                <a:solidFill>
                  <a:srgbClr val="0C0D0E"/>
                </a:solidFill>
                <a:effectLst/>
                <a:latin typeface="-apple-system"/>
              </a:rPr>
              <a:t>RandomSplitter</a:t>
            </a:r>
            <a:r>
              <a:rPr lang="en-US" b="0" i="0" dirty="0">
                <a:solidFill>
                  <a:srgbClr val="0C0D0E"/>
                </a:solidFill>
                <a:effectLst/>
                <a:latin typeface="-apple-system"/>
              </a:rPr>
              <a:t> initiates a **random split on each chosen feature**, whereas </a:t>
            </a:r>
            <a:r>
              <a:rPr lang="en-US" b="0" i="0" dirty="0" err="1">
                <a:solidFill>
                  <a:srgbClr val="0C0D0E"/>
                </a:solidFill>
                <a:effectLst/>
                <a:latin typeface="-apple-system"/>
              </a:rPr>
              <a:t>BestSplitter</a:t>
            </a:r>
            <a:r>
              <a:rPr lang="en-US" b="0" i="0" dirty="0">
                <a:solidFill>
                  <a:srgbClr val="0C0D0E"/>
                </a:solidFill>
                <a:effectLst/>
                <a:latin typeface="-apple-system"/>
              </a:rPr>
              <a:t> goes through **all possible splits on each chosen feature**.</a:t>
            </a:r>
          </a:p>
          <a:p>
            <a:pPr algn="l" fontAlgn="base"/>
            <a:r>
              <a:rPr lang="en-US" b="1" i="1" dirty="0">
                <a:solidFill>
                  <a:srgbClr val="0C0D0E"/>
                </a:solidFill>
                <a:effectLst/>
                <a:latin typeface="inherit"/>
              </a:rPr>
              <a:t>Longer explanation:</a:t>
            </a:r>
            <a:br>
              <a:rPr lang="en-US" b="0" i="0" dirty="0">
                <a:solidFill>
                  <a:srgbClr val="0C0D0E"/>
                </a:solidFill>
                <a:effectLst/>
                <a:latin typeface="-apple-system"/>
              </a:rPr>
            </a:br>
            <a:endParaRPr lang="en-US" b="0" i="0" dirty="0">
              <a:solidFill>
                <a:srgbClr val="0C0D0E"/>
              </a:solidFill>
              <a:effectLst/>
              <a:latin typeface="-apple-system"/>
            </a:endParaRPr>
          </a:p>
          <a:p>
            <a:pPr algn="l" fontAlgn="base"/>
            <a:r>
              <a:rPr lang="en-US" b="0" i="0" dirty="0">
                <a:solidFill>
                  <a:srgbClr val="0C0D0E"/>
                </a:solidFill>
                <a:effectLst/>
                <a:latin typeface="-apple-system"/>
              </a:rPr>
              <a:t>This is clear when you go thru _</a:t>
            </a:r>
            <a:r>
              <a:rPr lang="en-US" b="0" i="0" dirty="0" err="1">
                <a:solidFill>
                  <a:srgbClr val="0C0D0E"/>
                </a:solidFill>
                <a:effectLst/>
                <a:latin typeface="-apple-system"/>
              </a:rPr>
              <a:t>splitter.pyx</a:t>
            </a:r>
            <a:r>
              <a:rPr lang="en-US" b="0" i="0" dirty="0">
                <a:solidFill>
                  <a:srgbClr val="0C0D0E"/>
                </a:solidFill>
                <a:effectLst/>
                <a:latin typeface="-apple-system"/>
              </a:rPr>
              <a:t>.</a:t>
            </a:r>
          </a:p>
          <a:p>
            <a:pPr algn="l" fontAlgn="base"/>
            <a:r>
              <a:rPr lang="en-US" dirty="0" err="1"/>
              <a:t>RandomSplitter</a:t>
            </a:r>
            <a:r>
              <a:rPr lang="en-US" dirty="0"/>
              <a:t> calculates improvement only on threshold that is randomly initiated (ref. lines 761 and 801). </a:t>
            </a:r>
            <a:r>
              <a:rPr lang="en-US" dirty="0" err="1"/>
              <a:t>BestSplitter</a:t>
            </a:r>
            <a:r>
              <a:rPr lang="en-US" dirty="0"/>
              <a:t> goes through all possible splits in a while loop (ref. lines 436 (which is where loop starts) and 462). </a:t>
            </a:r>
            <a:r>
              <a:rPr lang="en-US" i="1" dirty="0">
                <a:effectLst/>
                <a:latin typeface="inherit"/>
              </a:rPr>
              <a:t>[Note: Lines are in relation to version 0.21.2.]</a:t>
            </a:r>
            <a:endParaRPr lang="en-US" b="0" i="0" dirty="0">
              <a:solidFill>
                <a:srgbClr val="0C0D0E"/>
              </a:solidFill>
              <a:effectLst/>
              <a:latin typeface="-apple-system"/>
            </a:endParaRPr>
          </a:p>
          <a:p>
            <a:r>
              <a:rPr lang="en-US" dirty="0"/>
              <a:t>As opposed to earlier responses from 15 Oct 2017 and 1 Feb 2018, </a:t>
            </a:r>
            <a:r>
              <a:rPr lang="en-US" b="1" dirty="0" err="1">
                <a:effectLst/>
                <a:latin typeface="inherit"/>
              </a:rPr>
              <a:t>RandomSplitter</a:t>
            </a:r>
            <a:r>
              <a:rPr lang="en-US" b="1" dirty="0">
                <a:effectLst/>
                <a:latin typeface="inherit"/>
              </a:rPr>
              <a:t> and </a:t>
            </a:r>
            <a:r>
              <a:rPr lang="en-US" b="1" dirty="0" err="1">
                <a:effectLst/>
                <a:latin typeface="inherit"/>
              </a:rPr>
              <a:t>BestSplitter</a:t>
            </a:r>
            <a:r>
              <a:rPr lang="en-US" b="1" dirty="0">
                <a:effectLst/>
                <a:latin typeface="inherit"/>
              </a:rPr>
              <a:t> both loop through all relevant features</a:t>
            </a:r>
            <a:r>
              <a:rPr lang="en-US" dirty="0"/>
              <a:t>. This is also evident in _</a:t>
            </a:r>
            <a:r>
              <a:rPr lang="en-US" dirty="0" err="1"/>
              <a:t>splitter.pyx</a:t>
            </a:r>
            <a:r>
              <a:rPr lang="en-US" dirty="0"/>
              <a:t>.</a:t>
            </a:r>
            <a:endParaRPr lang="pt-BR" dirty="0"/>
          </a:p>
          <a:p>
            <a:endParaRPr lang="pt-BR" dirty="0"/>
          </a:p>
          <a:p>
            <a:r>
              <a:rPr lang="pt-BR" b="1" dirty="0"/>
              <a:t>Referência</a:t>
            </a:r>
          </a:p>
          <a:p>
            <a:endParaRPr lang="pt-BR" dirty="0"/>
          </a:p>
          <a:p>
            <a:r>
              <a:rPr lang="pt-BR" dirty="0"/>
              <a:t>[1] https://datascience.stackexchange.com/questions/115359/splitter-in-decision-trees-in-sklearn-implementation</a:t>
            </a:r>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56</a:t>
            </a:fld>
            <a:endParaRPr lang="pt-BR"/>
          </a:p>
        </p:txBody>
      </p:sp>
    </p:spTree>
    <p:extLst>
      <p:ext uri="{BB962C8B-B14F-4D97-AF65-F5344CB8AC3E}">
        <p14:creationId xmlns:p14="http://schemas.microsoft.com/office/powerpoint/2010/main" val="7617141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Como já havíamos comentado, as árvores de decisão fazem muito poucas suposições sobre os dados de treinamento.</a:t>
            </a:r>
          </a:p>
          <a:p>
            <a:endParaRPr lang="pt-BR" dirty="0"/>
          </a:p>
          <a:p>
            <a:r>
              <a:rPr lang="pt-BR" dirty="0"/>
              <a:t>Se não for restringida, a estrutura de uma árvore se adaptará aos dados de treinamento, ajustando-se muito bem e, provavelmente, se </a:t>
            </a:r>
            <a:r>
              <a:rPr lang="pt-BR" dirty="0" err="1"/>
              <a:t>sobreajustando</a:t>
            </a:r>
            <a:r>
              <a:rPr lang="pt-BR" dirty="0"/>
              <a:t> a eles. </a:t>
            </a:r>
          </a:p>
          <a:p>
            <a:endParaRPr lang="pt-BR" dirty="0"/>
          </a:p>
          <a:p>
            <a:r>
              <a:rPr lang="pt-BR" dirty="0"/>
              <a:t>Esse modelo é frequentemente chamado de modelo **não-paramétrico**, não porque não tenha nenhum parâmetro (geralmente tem muitos), mas porque o número de parâmetros não é determinado antes do treinamento, de modo que a estrutura do modelo é livre para se adaptar aos dados. </a:t>
            </a:r>
          </a:p>
          <a:p>
            <a:endParaRPr lang="pt-BR" dirty="0"/>
          </a:p>
          <a:p>
            <a:r>
              <a:rPr lang="pt-BR" dirty="0"/>
              <a:t>Em contraste, um modelo paramétrico, como um modelo linear, tem um número predeterminado de parâmetros, então seu grau de liberdade é limitado, reduzindo o risco de sobreajuste (mas aumentando o risco de </a:t>
            </a:r>
            <a:r>
              <a:rPr lang="pt-BR" dirty="0" err="1"/>
              <a:t>sobajuste</a:t>
            </a:r>
            <a:r>
              <a:rPr lang="pt-BR" dirty="0"/>
              <a:t>).</a:t>
            </a:r>
            <a:endParaRPr lang="en-US" b="1" i="1" dirty="0">
              <a:solidFill>
                <a:srgbClr val="0C0D0E"/>
              </a:solidFill>
              <a:effectLst/>
              <a:latin typeface="inherit"/>
            </a:endParaRPr>
          </a:p>
          <a:p>
            <a:pPr algn="l" fontAlgn="base"/>
            <a:endParaRPr lang="en-US" b="1" i="1" dirty="0">
              <a:solidFill>
                <a:srgbClr val="0C0D0E"/>
              </a:solidFill>
              <a:effectLst/>
              <a:latin typeface="inherit"/>
            </a:endParaRPr>
          </a:p>
          <a:p>
            <a:r>
              <a:rPr lang="pt-BR" dirty="0"/>
              <a:t>O parâmetro </a:t>
            </a:r>
            <a:r>
              <a:rPr lang="pt-BR" b="1" dirty="0" err="1"/>
              <a:t>min_samples_split</a:t>
            </a:r>
            <a:r>
              <a:rPr lang="pt-BR" dirty="0"/>
              <a:t> na classe </a:t>
            </a:r>
            <a:r>
              <a:rPr lang="pt-BR" dirty="0" err="1"/>
              <a:t>DecisionTreeClassifier</a:t>
            </a:r>
            <a:r>
              <a:rPr lang="pt-BR" dirty="0"/>
              <a:t> (e </a:t>
            </a:r>
            <a:r>
              <a:rPr lang="pt-BR" dirty="0" err="1"/>
              <a:t>DecisionTreeRegressor</a:t>
            </a:r>
            <a:r>
              <a:rPr lang="pt-BR" dirty="0"/>
              <a:t>) do </a:t>
            </a:r>
            <a:r>
              <a:rPr lang="pt-BR" dirty="0" err="1"/>
              <a:t>scikit-learn</a:t>
            </a:r>
            <a:r>
              <a:rPr lang="pt-BR" dirty="0"/>
              <a:t> define o </a:t>
            </a:r>
            <a:r>
              <a:rPr lang="pt-BR" b="1" dirty="0"/>
              <a:t>número mínimo de amostras necessárias para que um nó interno seja dividido</a:t>
            </a:r>
            <a:r>
              <a:rPr lang="pt-BR" dirty="0"/>
              <a:t>. Em outras palavras, é o número mínimo de exemplos que precisam estar em um nó para que ele seja elegível para uma nova divisão (split) na árvore.</a:t>
            </a:r>
          </a:p>
          <a:p>
            <a:r>
              <a:rPr lang="pt-BR" b="1" dirty="0"/>
              <a:t>Funcionalidade:</a:t>
            </a:r>
          </a:p>
          <a:p>
            <a:pPr>
              <a:buFont typeface="Arial" panose="020B0604020202020204" pitchFamily="34" charset="0"/>
              <a:buChar char="•"/>
            </a:pPr>
            <a:r>
              <a:rPr lang="pt-BR" b="1" dirty="0" err="1"/>
              <a:t>min_samples_split</a:t>
            </a:r>
            <a:r>
              <a:rPr lang="pt-BR" b="1" dirty="0"/>
              <a:t>=2</a:t>
            </a:r>
            <a:r>
              <a:rPr lang="pt-BR" dirty="0"/>
              <a:t> (padrão): Um nó só será dividido se houver pelo menos 2 amostras. Isso significa que o nó pode ser dividido se tiver 2 ou mais amostras.</a:t>
            </a:r>
          </a:p>
          <a:p>
            <a:pPr>
              <a:buFont typeface="Arial" panose="020B0604020202020204" pitchFamily="34" charset="0"/>
              <a:buChar char="•"/>
            </a:pPr>
            <a:r>
              <a:rPr lang="pt-BR" b="1" dirty="0"/>
              <a:t>Valores maiores</a:t>
            </a:r>
            <a:r>
              <a:rPr lang="pt-BR" dirty="0"/>
              <a:t>: Aumentar esse valor faz com que o modelo exija mais dados em cada nó antes de dividi-lo, o que pode resultar em uma árvore menos profunda e com menor risco de </a:t>
            </a:r>
            <a:r>
              <a:rPr lang="pt-BR" b="1" dirty="0" err="1"/>
              <a:t>overfitting</a:t>
            </a:r>
            <a:r>
              <a:rPr lang="pt-BR" dirty="0"/>
              <a:t>.</a:t>
            </a:r>
          </a:p>
          <a:p>
            <a:pPr>
              <a:buFont typeface="Arial" panose="020B0604020202020204" pitchFamily="34" charset="0"/>
              <a:buChar char="•"/>
            </a:pPr>
            <a:r>
              <a:rPr lang="pt-BR" b="1" dirty="0"/>
              <a:t>Valores como fração</a:t>
            </a:r>
            <a:r>
              <a:rPr lang="pt-BR" dirty="0"/>
              <a:t>: O parâmetro também pode ser definido como uma fração entre 0 e 1, indicando uma porcentagem do número total de amostras. Por exemplo, </a:t>
            </a:r>
            <a:r>
              <a:rPr lang="pt-BR" dirty="0" err="1"/>
              <a:t>min_samples_split</a:t>
            </a:r>
            <a:r>
              <a:rPr lang="pt-BR" dirty="0"/>
              <a:t>=0.05 significa que um nó precisa ter pelo menos 5% do total de amostras para ser dividido.</a:t>
            </a:r>
          </a:p>
          <a:p>
            <a:r>
              <a:rPr lang="pt-BR" b="1" dirty="0"/>
              <a:t>Exemplos de uso:</a:t>
            </a:r>
          </a:p>
          <a:p>
            <a:pPr>
              <a:buFont typeface="+mj-lt"/>
              <a:buAutoNum type="arabicPeriod"/>
            </a:pPr>
            <a:r>
              <a:rPr lang="pt-BR" b="1" dirty="0" err="1"/>
              <a:t>min_samples_split</a:t>
            </a:r>
            <a:r>
              <a:rPr lang="pt-BR" b="1" dirty="0"/>
              <a:t>=2 (padrão)</a:t>
            </a:r>
            <a:r>
              <a:rPr lang="pt-BR" dirty="0"/>
              <a:t>:</a:t>
            </a:r>
          </a:p>
          <a:p>
            <a:pPr marL="742950" lvl="1" indent="-285750">
              <a:buFont typeface="+mj-lt"/>
              <a:buAutoNum type="arabicPeriod"/>
            </a:pPr>
            <a:r>
              <a:rPr lang="pt-BR" dirty="0"/>
              <a:t>O nó será dividido sempre que houver pelo menos 2 amostras.</a:t>
            </a:r>
          </a:p>
          <a:p>
            <a:pPr>
              <a:buFont typeface="+mj-lt"/>
              <a:buAutoNum type="arabicPeriod"/>
            </a:pPr>
            <a:r>
              <a:rPr lang="pt-BR" b="1" dirty="0" err="1"/>
              <a:t>min_samples_split</a:t>
            </a:r>
            <a:r>
              <a:rPr lang="pt-BR" b="1" dirty="0"/>
              <a:t>=10</a:t>
            </a:r>
            <a:r>
              <a:rPr lang="pt-BR" dirty="0"/>
              <a:t>:</a:t>
            </a:r>
          </a:p>
          <a:p>
            <a:pPr marL="742950" lvl="1" indent="-285750">
              <a:buFont typeface="+mj-lt"/>
              <a:buAutoNum type="arabicPeriod"/>
            </a:pPr>
            <a:r>
              <a:rPr lang="pt-BR" dirty="0"/>
              <a:t>O nó precisará de pelo menos 10 amostras para que seja dividido, o que pode evitar divisões muito pequenas que levam a sobreajuste (</a:t>
            </a:r>
            <a:r>
              <a:rPr lang="pt-BR" dirty="0" err="1"/>
              <a:t>overfitting</a:t>
            </a:r>
            <a:r>
              <a:rPr lang="pt-BR" dirty="0"/>
              <a:t>).</a:t>
            </a:r>
          </a:p>
          <a:p>
            <a:pPr algn="l" fontAlgn="base"/>
            <a:endParaRPr lang="en-US" b="1" i="1" dirty="0">
              <a:solidFill>
                <a:srgbClr val="0C0D0E"/>
              </a:solidFill>
              <a:effectLst/>
              <a:latin typeface="inherit"/>
            </a:endParaRPr>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57</a:t>
            </a:fld>
            <a:endParaRPr lang="pt-BR"/>
          </a:p>
        </p:txBody>
      </p:sp>
    </p:spTree>
    <p:extLst>
      <p:ext uri="{BB962C8B-B14F-4D97-AF65-F5344CB8AC3E}">
        <p14:creationId xmlns:p14="http://schemas.microsoft.com/office/powerpoint/2010/main" val="2241181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Como já havíamos comentado, as árvores de decisão fazem muito poucas suposições sobre os dados de treinamento.</a:t>
            </a:r>
          </a:p>
          <a:p>
            <a:endParaRPr lang="pt-BR" dirty="0"/>
          </a:p>
          <a:p>
            <a:r>
              <a:rPr lang="pt-BR" dirty="0"/>
              <a:t>Se não for restringida, a estrutura de uma árvore se adaptará aos dados de treinamento, ajustando-se muito bem e, provavelmente, se </a:t>
            </a:r>
            <a:r>
              <a:rPr lang="pt-BR" dirty="0" err="1"/>
              <a:t>sobreajustando</a:t>
            </a:r>
            <a:r>
              <a:rPr lang="pt-BR" dirty="0"/>
              <a:t> a eles. </a:t>
            </a:r>
          </a:p>
          <a:p>
            <a:endParaRPr lang="pt-BR" dirty="0"/>
          </a:p>
          <a:p>
            <a:r>
              <a:rPr lang="pt-BR" dirty="0"/>
              <a:t>Esse modelo é frequentemente chamado de modelo **não-paramétrico**, não porque não tenha nenhum parâmetro (geralmente tem muitos), mas porque o número de parâmetros não é determinado antes do treinamento, de modo que a estrutura do modelo é livre para se adaptar aos dados. </a:t>
            </a:r>
          </a:p>
          <a:p>
            <a:endParaRPr lang="pt-BR" dirty="0"/>
          </a:p>
          <a:p>
            <a:r>
              <a:rPr lang="pt-BR" dirty="0"/>
              <a:t>Em contraste, um modelo paramétrico, como um modelo linear, tem um número predeterminado de parâmetros, então seu grau de liberdade é limitado, reduzindo o risco de sobreajuste (mas aumentando o risco de </a:t>
            </a:r>
            <a:r>
              <a:rPr lang="pt-BR" dirty="0" err="1"/>
              <a:t>sobajuste</a:t>
            </a:r>
            <a:r>
              <a:rPr lang="pt-BR" dirty="0"/>
              <a:t>).</a:t>
            </a:r>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58</a:t>
            </a:fld>
            <a:endParaRPr lang="pt-BR"/>
          </a:p>
        </p:txBody>
      </p:sp>
    </p:spTree>
    <p:extLst>
      <p:ext uri="{BB962C8B-B14F-4D97-AF65-F5344CB8AC3E}">
        <p14:creationId xmlns:p14="http://schemas.microsoft.com/office/powerpoint/2010/main" val="1940039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59</a:t>
            </a:fld>
            <a:endParaRPr lang="pt-BR"/>
          </a:p>
        </p:txBody>
      </p:sp>
    </p:spTree>
    <p:extLst>
      <p:ext uri="{BB962C8B-B14F-4D97-AF65-F5344CB8AC3E}">
        <p14:creationId xmlns:p14="http://schemas.microsoft.com/office/powerpoint/2010/main" val="42055365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https://colab.research.google.com/github/zz4fap/c24_inteligencia_artificial/blob/master/notebooks/rnn.ipynb</a:t>
            </a:r>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60</a:t>
            </a:fld>
            <a:endParaRPr lang="pt-BR"/>
          </a:p>
        </p:txBody>
      </p:sp>
    </p:spTree>
    <p:extLst>
      <p:ext uri="{BB962C8B-B14F-4D97-AF65-F5344CB8AC3E}">
        <p14:creationId xmlns:p14="http://schemas.microsoft.com/office/powerpoint/2010/main" val="4205649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03/04/2026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220861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03/04/2026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3435145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1D0464-8C8A-49C0-859F-777E51766A35}" type="datetimeFigureOut">
              <a:rPr lang="pt-BR" smtClean="0"/>
              <a:t>03/04/2026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1875213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p:cNvSpPr>
            <a:spLocks noGrp="1"/>
          </p:cNvSpPr>
          <p:nvPr>
            <p:ph type="dt" sz="half" idx="10"/>
          </p:nvPr>
        </p:nvSpPr>
        <p:spPr/>
        <p:txBody>
          <a:bodyPr/>
          <a:lstStyle/>
          <a:p>
            <a:fld id="{221D0464-8C8A-49C0-859F-777E51766A35}" type="datetimeFigureOut">
              <a:rPr lang="pt-BR" smtClean="0"/>
              <a:t>03/04/2026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2963666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p:cNvSpPr>
            <a:spLocks noGrp="1"/>
          </p:cNvSpPr>
          <p:nvPr>
            <p:ph type="dt" sz="half" idx="10"/>
          </p:nvPr>
        </p:nvSpPr>
        <p:spPr/>
        <p:txBody>
          <a:bodyPr/>
          <a:lstStyle/>
          <a:p>
            <a:fld id="{221D0464-8C8A-49C0-859F-777E51766A35}" type="datetimeFigureOut">
              <a:rPr lang="pt-BR" smtClean="0"/>
              <a:t>03/04/2026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2603967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Date Placeholder 2"/>
          <p:cNvSpPr>
            <a:spLocks noGrp="1"/>
          </p:cNvSpPr>
          <p:nvPr>
            <p:ph type="dt" sz="half" idx="10"/>
          </p:nvPr>
        </p:nvSpPr>
        <p:spPr/>
        <p:txBody>
          <a:bodyPr/>
          <a:lstStyle/>
          <a:p>
            <a:fld id="{221D0464-8C8A-49C0-859F-777E51766A35}" type="datetimeFigureOut">
              <a:rPr lang="pt-BR" smtClean="0"/>
              <a:t>03/04/2026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2901410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1D0464-8C8A-49C0-859F-777E51766A35}" type="datetimeFigureOut">
              <a:rPr lang="pt-BR" smtClean="0"/>
              <a:t>03/04/2026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1665259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0464-8C8A-49C0-859F-777E51766A35}" type="datetimeFigureOut">
              <a:rPr lang="pt-BR" smtClean="0"/>
              <a:t>03/04/2026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3765599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0464-8C8A-49C0-859F-777E51766A35}" type="datetimeFigureOut">
              <a:rPr lang="pt-BR" smtClean="0"/>
              <a:t>03/04/2026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1921060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t-B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03/04/2026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1013950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10"/>
          </p:nvPr>
        </p:nvSpPr>
        <p:spPr/>
        <p:txBody>
          <a:bodyPr/>
          <a:lstStyle/>
          <a:p>
            <a:fld id="{221D0464-8C8A-49C0-859F-777E51766A35}" type="datetimeFigureOut">
              <a:rPr lang="pt-BR" smtClean="0"/>
              <a:t>03/04/2026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CB2E8FC-741C-4BF1-B071-7D772D706EF9}" type="slidenum">
              <a:rPr lang="pt-BR" smtClean="0"/>
              <a:t>‹#›</a:t>
            </a:fld>
            <a:endParaRPr lang="pt-BR"/>
          </a:p>
        </p:txBody>
      </p:sp>
    </p:spTree>
    <p:extLst>
      <p:ext uri="{BB962C8B-B14F-4D97-AF65-F5344CB8AC3E}">
        <p14:creationId xmlns:p14="http://schemas.microsoft.com/office/powerpoint/2010/main" val="3444589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1D0464-8C8A-49C0-859F-777E51766A35}" type="datetimeFigureOut">
              <a:rPr lang="pt-BR" smtClean="0"/>
              <a:t>03/04/2026</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B2E8FC-741C-4BF1-B071-7D772D706EF9}" type="slidenum">
              <a:rPr lang="pt-BR" smtClean="0"/>
              <a:t>‹#›</a:t>
            </a:fld>
            <a:endParaRPr lang="pt-BR"/>
          </a:p>
        </p:txBody>
      </p:sp>
    </p:spTree>
    <p:extLst>
      <p:ext uri="{BB962C8B-B14F-4D97-AF65-F5344CB8AC3E}">
        <p14:creationId xmlns:p14="http://schemas.microsoft.com/office/powerpoint/2010/main" val="2060889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elipe.figueiredo@Inatel.b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docs.google.com/spreadsheets/d/1VsWmcVYymhsLHxCrPFLZFZGe-SW1a8PnnBhazxh3OVM/edit?usp=sharing"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colab.research.google.com/github/zz4fap/tp555-ml/blob/main/exemplos/classification/DecisionTrees/DTTwoConcentricClassesClassification.ipynb"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colab.research.google.com/github/zz4fap/tp555-ml/blob/main/exemplos/classification/DecisionTrees/DTTwoOverlappingClassesClassification.ipynb"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colab.research.google.com/github/zz4fap/tp555-ml/blob/main/exemplos/classification/DecisionTrees/DTSensitivityToTrainingSetRotation.ipynb"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colab.research.google.com/github/zz4fap/tp555-ml/blob/main/exemplos/classification/DecisionTrees/DTSensitivityToTrainingSetDetails.ipynb"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colab.research.google.com/github/zz4fap/tp555-ml/blob/main/exemplos/classification/DecisionTrees/DTRegularizationHyperparameters.ipynb"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colab.research.google.com/github/zz4fap/tp555-ml/blob/main/exemplos/classification/DecisionTrees/DTNoisyQuadraticDatasetRegression.ipynb"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hyperlink" Target="https://www.zhihu.com/en/answer/43590280?utm_source=chatgpt.com"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hyperlink" Target="https://www.praudyog.com/data-science-interview-questions/cart-c4-5-id3-algorithms/?utm_source=chatgpt.com" TargetMode="External"/><Relationship Id="rId5" Type="http://schemas.openxmlformats.org/officeDocument/2006/relationships/hyperlink" Target="https://www.zhihu.com/en/answer/119503150?utm_source=chatgpt.com" TargetMode="External"/><Relationship Id="rId4" Type="http://schemas.openxmlformats.org/officeDocument/2006/relationships/hyperlink" Target="https://stackoverflow.com/questions/20092632/can-someone-explain-me-the-difference-between-id3-and-cart-algorithm?utm_source=chatgpt.com"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 P. de Figueiredo</a:t>
            </a:r>
          </a:p>
          <a:p>
            <a:r>
              <a:rPr lang="pt-BR" dirty="0">
                <a:hlinkClick r:id="rId3"/>
              </a:rPr>
              <a:t>felipe.figueiredo@Inatel.br</a:t>
            </a:r>
            <a:endParaRPr lang="pt-BR" dirty="0"/>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0193" t="8107" r="14530" b="5794"/>
          <a:stretch/>
        </p:blipFill>
        <p:spPr bwMode="auto">
          <a:xfrm>
            <a:off x="4965305" y="3439886"/>
            <a:ext cx="2261389" cy="2237061"/>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id="{32666AC8-2E17-4DB4-B0F5-60C640CCFD2E}"/>
              </a:ext>
            </a:extLst>
          </p:cNvPr>
          <p:cNvSpPr>
            <a:spLocks noGrp="1"/>
          </p:cNvSpPr>
          <p:nvPr>
            <p:ph type="ctrTitle"/>
          </p:nvPr>
        </p:nvSpPr>
        <p:spPr>
          <a:xfrm>
            <a:off x="631767" y="836433"/>
            <a:ext cx="10906298" cy="2690156"/>
          </a:xfrm>
        </p:spPr>
        <p:txBody>
          <a:bodyPr anchor="ctr">
            <a:noAutofit/>
          </a:bodyPr>
          <a:lstStyle/>
          <a:p>
            <a:r>
              <a:rPr lang="pt-BR" sz="6600" dirty="0"/>
              <a:t>C24 – Inteligência Artificial:</a:t>
            </a:r>
            <a:br>
              <a:rPr lang="pt-BR" sz="7200" dirty="0"/>
            </a:br>
            <a:r>
              <a:rPr lang="pt-BR" sz="7200" b="1" i="1" dirty="0"/>
              <a:t>Árvores de decisão</a:t>
            </a:r>
          </a:p>
        </p:txBody>
      </p:sp>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4 Simple Ways to Split a Decision Tree (2026) - Analytics Vidhya">
            <a:extLst>
              <a:ext uri="{FF2B5EF4-FFF2-40B4-BE49-F238E27FC236}">
                <a16:creationId xmlns:a16="http://schemas.microsoft.com/office/drawing/2014/main" id="{1FA47475-FDC4-00A0-ED09-96379FFD26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0695" y="1592179"/>
            <a:ext cx="7250609" cy="3673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432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Árvores de decisão</a:t>
            </a:r>
          </a:p>
        </p:txBody>
      </p:sp>
      <p:sp>
        <p:nvSpPr>
          <p:cNvPr id="3" name="Content Placeholder 2"/>
          <p:cNvSpPr>
            <a:spLocks noGrp="1"/>
          </p:cNvSpPr>
          <p:nvPr>
            <p:ph idx="1"/>
          </p:nvPr>
        </p:nvSpPr>
        <p:spPr>
          <a:xfrm>
            <a:off x="5466080" y="1825624"/>
            <a:ext cx="6725920" cy="5032376"/>
          </a:xfrm>
        </p:spPr>
        <p:txBody>
          <a:bodyPr>
            <a:normAutofit/>
          </a:bodyPr>
          <a:lstStyle/>
          <a:p>
            <a:r>
              <a:rPr lang="pt-BR" b="1" dirty="0"/>
              <a:t>Árvores de decisão </a:t>
            </a:r>
            <a:r>
              <a:rPr lang="pt-BR" dirty="0"/>
              <a:t>(do inglês, </a:t>
            </a:r>
            <a:r>
              <a:rPr lang="pt-BR" b="1" i="1" dirty="0"/>
              <a:t>decision trees</a:t>
            </a:r>
            <a:r>
              <a:rPr lang="pt-BR" dirty="0"/>
              <a:t>), são modelos de </a:t>
            </a:r>
            <a:r>
              <a:rPr lang="pt-BR" b="1" dirty="0">
                <a:solidFill>
                  <a:srgbClr val="FF0000"/>
                </a:solidFill>
              </a:rPr>
              <a:t>aprendizado supervisionado não-paramétrico</a:t>
            </a:r>
            <a:r>
              <a:rPr lang="pt-BR" dirty="0"/>
              <a:t> e</a:t>
            </a:r>
            <a:r>
              <a:rPr lang="pt-BR" b="1" dirty="0"/>
              <a:t> </a:t>
            </a:r>
            <a:r>
              <a:rPr lang="pt-BR" b="1" dirty="0">
                <a:solidFill>
                  <a:srgbClr val="7030A0"/>
                </a:solidFill>
              </a:rPr>
              <a:t>não-lineares.</a:t>
            </a:r>
            <a:r>
              <a:rPr lang="pt-BR" b="1" dirty="0"/>
              <a:t> </a:t>
            </a:r>
            <a:endParaRPr lang="pt-BR" dirty="0"/>
          </a:p>
          <a:p>
            <a:r>
              <a:rPr lang="pt-BR" dirty="0"/>
              <a:t>Elas podem ser utilizadas tanto para </a:t>
            </a:r>
            <a:r>
              <a:rPr lang="pt-BR" b="1" dirty="0"/>
              <a:t>classificação</a:t>
            </a:r>
            <a:r>
              <a:rPr lang="pt-BR" dirty="0"/>
              <a:t> quanto para </a:t>
            </a:r>
            <a:r>
              <a:rPr lang="pt-BR" b="1" dirty="0"/>
              <a:t>regressão</a:t>
            </a:r>
            <a:r>
              <a:rPr lang="pt-BR" dirty="0"/>
              <a:t>.</a:t>
            </a:r>
          </a:p>
        </p:txBody>
      </p:sp>
      <p:pic>
        <p:nvPicPr>
          <p:cNvPr id="1026" name="Picture 2" descr="How to Create Decision Trees for Business Rules Analysis - Why Change">
            <a:extLst>
              <a:ext uri="{FF2B5EF4-FFF2-40B4-BE49-F238E27FC236}">
                <a16:creationId xmlns:a16="http://schemas.microsoft.com/office/drawing/2014/main" id="{1380D50C-DCA8-B9D9-0D71-524FC57A4C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188" y="2355449"/>
            <a:ext cx="5120772" cy="3222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9511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6C4E9-DA48-0222-E1BC-067F2EEBF84B}"/>
            </a:ext>
          </a:extLst>
        </p:cNvPr>
        <p:cNvGrpSpPr/>
        <p:nvPr/>
      </p:nvGrpSpPr>
      <p:grpSpPr>
        <a:xfrm>
          <a:off x="0" y="0"/>
          <a:ext cx="0" cy="0"/>
          <a:chOff x="0" y="0"/>
          <a:chExt cx="0" cy="0"/>
        </a:xfrm>
      </p:grpSpPr>
      <p:pic>
        <p:nvPicPr>
          <p:cNvPr id="2050" name="Picture 2" descr="youKnowItsTrue : r/ProgrammerHumor">
            <a:extLst>
              <a:ext uri="{FF2B5EF4-FFF2-40B4-BE49-F238E27FC236}">
                <a16:creationId xmlns:a16="http://schemas.microsoft.com/office/drawing/2014/main" id="{F2B464FA-C8AA-60D5-B201-B6DD07B2F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031" y="355393"/>
            <a:ext cx="5919538" cy="61472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BB9CE13-5650-53F7-7002-4DED22ECDBB7}"/>
              </a:ext>
            </a:extLst>
          </p:cNvPr>
          <p:cNvSpPr txBox="1"/>
          <p:nvPr/>
        </p:nvSpPr>
        <p:spPr>
          <a:xfrm>
            <a:off x="7041481" y="2696759"/>
            <a:ext cx="4376488" cy="2062103"/>
          </a:xfrm>
          <a:prstGeom prst="rect">
            <a:avLst/>
          </a:prstGeom>
          <a:noFill/>
        </p:spPr>
        <p:txBody>
          <a:bodyPr wrap="square">
            <a:spAutoFit/>
          </a:bodyPr>
          <a:lstStyle/>
          <a:p>
            <a:pPr algn="ctr"/>
            <a:r>
              <a:rPr lang="pt-BR" sz="3200" dirty="0"/>
              <a:t>Árvores de decisão podem ser interpretadas como </a:t>
            </a:r>
            <a:r>
              <a:rPr lang="pt-BR" sz="3200" b="1" dirty="0">
                <a:solidFill>
                  <a:srgbClr val="00B050"/>
                </a:solidFill>
              </a:rPr>
              <a:t>estruturas de controle de fluxo</a:t>
            </a:r>
            <a:r>
              <a:rPr lang="pt-BR" sz="3200" dirty="0"/>
              <a:t>.</a:t>
            </a:r>
          </a:p>
        </p:txBody>
      </p:sp>
    </p:spTree>
    <p:extLst>
      <p:ext uri="{BB962C8B-B14F-4D97-AF65-F5344CB8AC3E}">
        <p14:creationId xmlns:p14="http://schemas.microsoft.com/office/powerpoint/2010/main" val="1185376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35DE3-50C5-ACC3-A1BA-7A6E9834AC96}"/>
              </a:ext>
            </a:extLst>
          </p:cNvPr>
          <p:cNvSpPr>
            <a:spLocks noGrp="1"/>
          </p:cNvSpPr>
          <p:nvPr>
            <p:ph type="title"/>
          </p:nvPr>
        </p:nvSpPr>
        <p:spPr/>
        <p:txBody>
          <a:bodyPr/>
          <a:lstStyle/>
          <a:p>
            <a:r>
              <a:rPr lang="pt-BR" dirty="0"/>
              <a:t>O que significa ser paramétrico?</a:t>
            </a:r>
            <a:endParaRPr lang="en-US" dirty="0"/>
          </a:p>
        </p:txBody>
      </p:sp>
      <p:sp>
        <p:nvSpPr>
          <p:cNvPr id="3" name="Content Placeholder 2">
            <a:extLst>
              <a:ext uri="{FF2B5EF4-FFF2-40B4-BE49-F238E27FC236}">
                <a16:creationId xmlns:a16="http://schemas.microsoft.com/office/drawing/2014/main" id="{C9C20C9D-0A4F-91B0-999A-12AAD7955447}"/>
              </a:ext>
            </a:extLst>
          </p:cNvPr>
          <p:cNvSpPr>
            <a:spLocks noGrp="1"/>
          </p:cNvSpPr>
          <p:nvPr>
            <p:ph idx="1"/>
          </p:nvPr>
        </p:nvSpPr>
        <p:spPr>
          <a:xfrm>
            <a:off x="5705856" y="1825624"/>
            <a:ext cx="6486144" cy="5032375"/>
          </a:xfrm>
        </p:spPr>
        <p:txBody>
          <a:bodyPr>
            <a:normAutofit/>
          </a:bodyPr>
          <a:lstStyle/>
          <a:p>
            <a:r>
              <a:rPr lang="pt-BR" dirty="0"/>
              <a:t>Um modelo paramétrico:</a:t>
            </a:r>
          </a:p>
          <a:p>
            <a:pPr lvl="1">
              <a:buFont typeface="Wingdings" panose="05000000000000000000" pitchFamily="2" charset="2"/>
              <a:buChar char="§"/>
            </a:pPr>
            <a:r>
              <a:rPr lang="pt-BR" dirty="0"/>
              <a:t>assume uma forma funcional fixa.</a:t>
            </a:r>
          </a:p>
          <a:p>
            <a:pPr lvl="2">
              <a:buFont typeface="Courier New" panose="02070309020205020404" pitchFamily="49" charset="0"/>
              <a:buChar char="o"/>
            </a:pPr>
            <a:r>
              <a:rPr lang="pt-BR" dirty="0"/>
              <a:t>equação como no caso da regressão linear.</a:t>
            </a:r>
          </a:p>
          <a:p>
            <a:pPr lvl="1">
              <a:buFont typeface="Wingdings" panose="05000000000000000000" pitchFamily="2" charset="2"/>
              <a:buChar char="§"/>
            </a:pPr>
            <a:r>
              <a:rPr lang="pt-BR" dirty="0"/>
              <a:t>possui um número fixo de parâmetros.</a:t>
            </a:r>
          </a:p>
          <a:p>
            <a:pPr lvl="2">
              <a:buFont typeface="Courier New" panose="02070309020205020404" pitchFamily="49" charset="0"/>
              <a:buChar char="o"/>
            </a:pPr>
            <a:r>
              <a:rPr lang="pt-BR" dirty="0"/>
              <a:t>Por exemplo, na regressão linear, a quantidade de pesos de uma função hipótese é constante.</a:t>
            </a:r>
          </a:p>
          <a:p>
            <a:pPr lvl="1">
              <a:buFont typeface="Wingdings" panose="05000000000000000000" pitchFamily="2" charset="2"/>
              <a:buChar char="§"/>
            </a:pPr>
            <a:r>
              <a:rPr lang="pt-BR" dirty="0"/>
              <a:t>Complexidade constante</a:t>
            </a:r>
          </a:p>
          <a:p>
            <a:pPr lvl="1">
              <a:buFont typeface="Wingdings" panose="05000000000000000000" pitchFamily="2" charset="2"/>
              <a:buChar char="§"/>
            </a:pPr>
            <a:r>
              <a:rPr lang="pt-BR" dirty="0"/>
              <a:t>Alguns modelos fazem suposições sobre a distribuição dos dados</a:t>
            </a:r>
          </a:p>
        </p:txBody>
      </p:sp>
      <p:pic>
        <p:nvPicPr>
          <p:cNvPr id="4" name="Picture 2" descr="How to Create Decision Trees for Business Rules Analysis - Why Change">
            <a:extLst>
              <a:ext uri="{FF2B5EF4-FFF2-40B4-BE49-F238E27FC236}">
                <a16:creationId xmlns:a16="http://schemas.microsoft.com/office/drawing/2014/main" id="{1380D50C-DCA8-B9D9-0D71-524FC57A4C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555"/>
          <a:stretch/>
        </p:blipFill>
        <p:spPr bwMode="auto">
          <a:xfrm>
            <a:off x="640080" y="2428602"/>
            <a:ext cx="4718304" cy="3212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0674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35DE3-50C5-ACC3-A1BA-7A6E9834AC96}"/>
              </a:ext>
            </a:extLst>
          </p:cNvPr>
          <p:cNvSpPr>
            <a:spLocks noGrp="1"/>
          </p:cNvSpPr>
          <p:nvPr>
            <p:ph type="title"/>
          </p:nvPr>
        </p:nvSpPr>
        <p:spPr/>
        <p:txBody>
          <a:bodyPr/>
          <a:lstStyle/>
          <a:p>
            <a:r>
              <a:rPr lang="pt-BR" dirty="0"/>
              <a:t>O que significa ser não-paramétrico?</a:t>
            </a:r>
            <a:endParaRPr lang="en-US" dirty="0"/>
          </a:p>
        </p:txBody>
      </p:sp>
      <p:sp>
        <p:nvSpPr>
          <p:cNvPr id="3" name="Content Placeholder 2">
            <a:extLst>
              <a:ext uri="{FF2B5EF4-FFF2-40B4-BE49-F238E27FC236}">
                <a16:creationId xmlns:a16="http://schemas.microsoft.com/office/drawing/2014/main" id="{C9C20C9D-0A4F-91B0-999A-12AAD7955447}"/>
              </a:ext>
            </a:extLst>
          </p:cNvPr>
          <p:cNvSpPr>
            <a:spLocks noGrp="1"/>
          </p:cNvSpPr>
          <p:nvPr>
            <p:ph idx="1"/>
          </p:nvPr>
        </p:nvSpPr>
        <p:spPr>
          <a:xfrm>
            <a:off x="5705856" y="1825624"/>
            <a:ext cx="6486144" cy="5032375"/>
          </a:xfrm>
        </p:spPr>
        <p:txBody>
          <a:bodyPr>
            <a:normAutofit/>
          </a:bodyPr>
          <a:lstStyle/>
          <a:p>
            <a:r>
              <a:rPr lang="pt-BR" dirty="0"/>
              <a:t>Um modelo não-paramétrico:</a:t>
            </a:r>
          </a:p>
          <a:p>
            <a:pPr lvl="1">
              <a:buFont typeface="Wingdings" panose="05000000000000000000" pitchFamily="2" charset="2"/>
              <a:buChar char="§"/>
            </a:pPr>
            <a:r>
              <a:rPr lang="pt-BR" dirty="0"/>
              <a:t>não assume forma funcional fixa</a:t>
            </a:r>
          </a:p>
          <a:p>
            <a:pPr lvl="2">
              <a:buFont typeface="Courier New" panose="02070309020205020404" pitchFamily="49" charset="0"/>
              <a:buChar char="o"/>
            </a:pPr>
            <a:r>
              <a:rPr lang="pt-BR" dirty="0"/>
              <a:t>Não tem uma equação como no caso da regressão linear.</a:t>
            </a:r>
          </a:p>
          <a:p>
            <a:pPr lvl="1">
              <a:buFont typeface="Wingdings" panose="05000000000000000000" pitchFamily="2" charset="2"/>
              <a:buChar char="§"/>
            </a:pPr>
            <a:r>
              <a:rPr lang="pt-BR" dirty="0"/>
              <a:t>não fixa o número de parâmetros</a:t>
            </a:r>
          </a:p>
          <a:p>
            <a:pPr lvl="1">
              <a:buFont typeface="Wingdings" panose="05000000000000000000" pitchFamily="2" charset="2"/>
              <a:buChar char="§"/>
            </a:pPr>
            <a:r>
              <a:rPr lang="pt-BR" dirty="0"/>
              <a:t>a complexidade depende dos dados</a:t>
            </a:r>
          </a:p>
          <a:p>
            <a:pPr lvl="2">
              <a:buFont typeface="Courier New" panose="02070309020205020404" pitchFamily="49" charset="0"/>
              <a:buChar char="o"/>
            </a:pPr>
            <a:r>
              <a:rPr lang="pt-BR" dirty="0"/>
              <a:t>Sua complexidade aumenta à medida que crescem</a:t>
            </a:r>
          </a:p>
          <a:p>
            <a:pPr lvl="1">
              <a:buFont typeface="Wingdings" panose="05000000000000000000" pitchFamily="2" charset="2"/>
              <a:buChar char="§"/>
            </a:pPr>
            <a:r>
              <a:rPr lang="pt-BR" dirty="0"/>
              <a:t>não fazem suposições sobre a distribuição dos dados</a:t>
            </a:r>
          </a:p>
        </p:txBody>
      </p:sp>
      <p:pic>
        <p:nvPicPr>
          <p:cNvPr id="4" name="Picture 2" descr="How to Create Decision Trees for Business Rules Analysis - Why Change">
            <a:extLst>
              <a:ext uri="{FF2B5EF4-FFF2-40B4-BE49-F238E27FC236}">
                <a16:creationId xmlns:a16="http://schemas.microsoft.com/office/drawing/2014/main" id="{1380D50C-DCA8-B9D9-0D71-524FC57A4C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555"/>
          <a:stretch/>
        </p:blipFill>
        <p:spPr bwMode="auto">
          <a:xfrm>
            <a:off x="365760" y="2282298"/>
            <a:ext cx="4718304" cy="3212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691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35DE3-50C5-ACC3-A1BA-7A6E9834AC96}"/>
              </a:ext>
            </a:extLst>
          </p:cNvPr>
          <p:cNvSpPr>
            <a:spLocks noGrp="1"/>
          </p:cNvSpPr>
          <p:nvPr>
            <p:ph type="title"/>
          </p:nvPr>
        </p:nvSpPr>
        <p:spPr/>
        <p:txBody>
          <a:bodyPr/>
          <a:lstStyle/>
          <a:p>
            <a:r>
              <a:rPr lang="pt-BR" dirty="0"/>
              <a:t>O que significa ser não-paramétrico?</a:t>
            </a:r>
            <a:endParaRPr lang="en-US" dirty="0"/>
          </a:p>
        </p:txBody>
      </p:sp>
      <p:sp>
        <p:nvSpPr>
          <p:cNvPr id="3" name="Content Placeholder 2">
            <a:extLst>
              <a:ext uri="{FF2B5EF4-FFF2-40B4-BE49-F238E27FC236}">
                <a16:creationId xmlns:a16="http://schemas.microsoft.com/office/drawing/2014/main" id="{C9C20C9D-0A4F-91B0-999A-12AAD7955447}"/>
              </a:ext>
            </a:extLst>
          </p:cNvPr>
          <p:cNvSpPr>
            <a:spLocks noGrp="1"/>
          </p:cNvSpPr>
          <p:nvPr>
            <p:ph idx="1"/>
          </p:nvPr>
        </p:nvSpPr>
        <p:spPr>
          <a:xfrm>
            <a:off x="5084064" y="1825624"/>
            <a:ext cx="7107936" cy="5032375"/>
          </a:xfrm>
        </p:spPr>
        <p:txBody>
          <a:bodyPr>
            <a:normAutofit/>
          </a:bodyPr>
          <a:lstStyle/>
          <a:p>
            <a:r>
              <a:rPr lang="pt-BR" dirty="0"/>
              <a:t>Os parâmetros são criados durante o treinamento para explicar os dados.</a:t>
            </a:r>
          </a:p>
          <a:p>
            <a:r>
              <a:rPr lang="pt-BR" dirty="0"/>
              <a:t>O tamanho da árvore, i.e., o número de parâmetros, tende a crescer com o tamanho da base de dados.</a:t>
            </a:r>
          </a:p>
          <a:p>
            <a:r>
              <a:rPr lang="pt-BR" dirty="0"/>
              <a:t>O número de parâmetros não é determinado antes do treinamento, de modo que a árvore é livre para se adaptar aos dados de treinamento.</a:t>
            </a:r>
          </a:p>
        </p:txBody>
      </p:sp>
      <p:pic>
        <p:nvPicPr>
          <p:cNvPr id="4" name="Picture 2" descr="How to Create Decision Trees for Business Rules Analysis - Why Change">
            <a:extLst>
              <a:ext uri="{FF2B5EF4-FFF2-40B4-BE49-F238E27FC236}">
                <a16:creationId xmlns:a16="http://schemas.microsoft.com/office/drawing/2014/main" id="{1380D50C-DCA8-B9D9-0D71-524FC57A4C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555"/>
          <a:stretch/>
        </p:blipFill>
        <p:spPr bwMode="auto">
          <a:xfrm>
            <a:off x="365760" y="2282298"/>
            <a:ext cx="4718304" cy="3212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028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35DE3-50C5-ACC3-A1BA-7A6E9834AC96}"/>
              </a:ext>
            </a:extLst>
          </p:cNvPr>
          <p:cNvSpPr>
            <a:spLocks noGrp="1"/>
          </p:cNvSpPr>
          <p:nvPr>
            <p:ph type="title"/>
          </p:nvPr>
        </p:nvSpPr>
        <p:spPr/>
        <p:txBody>
          <a:bodyPr/>
          <a:lstStyle/>
          <a:p>
            <a:r>
              <a:rPr lang="pt-BR" dirty="0"/>
              <a:t>O que significa ser não-linear?</a:t>
            </a:r>
            <a:endParaRPr lang="en-US" dirty="0"/>
          </a:p>
        </p:txBody>
      </p:sp>
      <p:sp>
        <p:nvSpPr>
          <p:cNvPr id="3" name="Content Placeholder 2">
            <a:extLst>
              <a:ext uri="{FF2B5EF4-FFF2-40B4-BE49-F238E27FC236}">
                <a16:creationId xmlns:a16="http://schemas.microsoft.com/office/drawing/2014/main" id="{C9C20C9D-0A4F-91B0-999A-12AAD7955447}"/>
              </a:ext>
            </a:extLst>
          </p:cNvPr>
          <p:cNvSpPr>
            <a:spLocks noGrp="1"/>
          </p:cNvSpPr>
          <p:nvPr>
            <p:ph idx="1"/>
          </p:nvPr>
        </p:nvSpPr>
        <p:spPr>
          <a:xfrm>
            <a:off x="5534526" y="1825624"/>
            <a:ext cx="6657474" cy="5032375"/>
          </a:xfrm>
        </p:spPr>
        <p:txBody>
          <a:bodyPr>
            <a:normAutofit/>
          </a:bodyPr>
          <a:lstStyle/>
          <a:p>
            <a:r>
              <a:rPr lang="pt-BR" dirty="0"/>
              <a:t>As funções aproximadora e discriminante são funções não-lineares, i.e., os dados não são aproximados ou separados por hiperplanos.</a:t>
            </a:r>
          </a:p>
          <a:p>
            <a:r>
              <a:rPr lang="pt-BR" dirty="0"/>
              <a:t>Cada nó faz um “corte” no espaço de atributos.</a:t>
            </a:r>
          </a:p>
          <a:p>
            <a:r>
              <a:rPr lang="pt-BR" dirty="0"/>
              <a:t>A combinação desses cortes gera uma função altamente não-linear.</a:t>
            </a:r>
          </a:p>
          <a:p>
            <a:pPr marL="0" indent="0">
              <a:buNone/>
            </a:pPr>
            <a:endParaRPr lang="pt-BR" dirty="0"/>
          </a:p>
        </p:txBody>
      </p:sp>
      <p:pic>
        <p:nvPicPr>
          <p:cNvPr id="1027" name="Picture 3">
            <a:extLst>
              <a:ext uri="{FF2B5EF4-FFF2-40B4-BE49-F238E27FC236}">
                <a16:creationId xmlns:a16="http://schemas.microsoft.com/office/drawing/2014/main" id="{06FD5E89-F237-38A6-CEE4-579AD45E9A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62" t="12220" r="40198" b="5835"/>
          <a:stretch>
            <a:fillRect/>
          </a:stretch>
        </p:blipFill>
        <p:spPr bwMode="auto">
          <a:xfrm>
            <a:off x="476208" y="2233945"/>
            <a:ext cx="4620293" cy="3501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2134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Árvores de decisão</a:t>
            </a:r>
          </a:p>
        </p:txBody>
      </p:sp>
      <p:sp>
        <p:nvSpPr>
          <p:cNvPr id="3" name="Content Placeholder 2"/>
          <p:cNvSpPr>
            <a:spLocks noGrp="1"/>
          </p:cNvSpPr>
          <p:nvPr>
            <p:ph idx="1"/>
          </p:nvPr>
        </p:nvSpPr>
        <p:spPr>
          <a:xfrm>
            <a:off x="4826000" y="1825624"/>
            <a:ext cx="7366000" cy="5032376"/>
          </a:xfrm>
        </p:spPr>
        <p:txBody>
          <a:bodyPr>
            <a:normAutofit/>
          </a:bodyPr>
          <a:lstStyle/>
          <a:p>
            <a:r>
              <a:rPr lang="pt-BR" dirty="0"/>
              <a:t>O objetivo é criar um modelo que realize predições aprendendo </a:t>
            </a:r>
            <a:r>
              <a:rPr lang="pt-BR" b="1" dirty="0">
                <a:solidFill>
                  <a:srgbClr val="00B050"/>
                </a:solidFill>
              </a:rPr>
              <a:t>regras simples de decisão</a:t>
            </a:r>
            <a:r>
              <a:rPr lang="pt-BR" dirty="0"/>
              <a:t> </a:t>
            </a:r>
            <a:r>
              <a:rPr lang="pt-BR" b="1" dirty="0">
                <a:solidFill>
                  <a:srgbClr val="7030A0"/>
                </a:solidFill>
              </a:rPr>
              <a:t>inferidas</a:t>
            </a:r>
            <a:r>
              <a:rPr lang="pt-BR" dirty="0"/>
              <a:t> a partir dos </a:t>
            </a:r>
            <a:r>
              <a:rPr lang="pt-BR" b="1" dirty="0">
                <a:solidFill>
                  <a:srgbClr val="7030A0"/>
                </a:solidFill>
              </a:rPr>
              <a:t>atributos do conjunto de treinamento</a:t>
            </a:r>
            <a:r>
              <a:rPr lang="pt-BR" dirty="0"/>
              <a:t>.</a:t>
            </a:r>
          </a:p>
          <a:p>
            <a:r>
              <a:rPr lang="pt-BR" dirty="0"/>
              <a:t>As </a:t>
            </a:r>
            <a:r>
              <a:rPr lang="pt-BR" b="1" dirty="0"/>
              <a:t>árvores de decisão </a:t>
            </a:r>
            <a:r>
              <a:rPr lang="pt-BR" dirty="0"/>
              <a:t>são os componentes fundamentais das </a:t>
            </a:r>
            <a:r>
              <a:rPr lang="pt-BR" b="1" dirty="0"/>
              <a:t>florestas aleatórias</a:t>
            </a:r>
            <a:r>
              <a:rPr lang="pt-BR" dirty="0"/>
              <a:t> (do inglês, </a:t>
            </a:r>
            <a:r>
              <a:rPr lang="pt-BR" b="1" i="1" dirty="0" err="1"/>
              <a:t>random</a:t>
            </a:r>
            <a:r>
              <a:rPr lang="pt-BR" b="1" i="1" dirty="0"/>
              <a:t> </a:t>
            </a:r>
            <a:r>
              <a:rPr lang="pt-BR" b="1" i="1" dirty="0" err="1"/>
              <a:t>forests</a:t>
            </a:r>
            <a:r>
              <a:rPr lang="pt-BR" dirty="0"/>
              <a:t>) que estão entre os </a:t>
            </a:r>
            <a:r>
              <a:rPr lang="pt-BR" b="1" dirty="0"/>
              <a:t>algoritmos mais poderosos de aprendizado de máquina </a:t>
            </a:r>
            <a:r>
              <a:rPr lang="pt-BR" dirty="0"/>
              <a:t>disponíveis atualmente.</a:t>
            </a:r>
          </a:p>
          <a:p>
            <a:pPr lvl="1">
              <a:buFont typeface="Wingdings" panose="05000000000000000000" pitchFamily="2" charset="2"/>
              <a:buChar char="§"/>
            </a:pPr>
            <a:r>
              <a:rPr lang="pt-BR" dirty="0"/>
              <a:t>Constrói várias pequenas árvores em conjuntos de dados aleatórios e combina suas respostas através de média ou votação.</a:t>
            </a:r>
          </a:p>
        </p:txBody>
      </p:sp>
      <p:grpSp>
        <p:nvGrpSpPr>
          <p:cNvPr id="7" name="Agrupar 6">
            <a:extLst>
              <a:ext uri="{FF2B5EF4-FFF2-40B4-BE49-F238E27FC236}">
                <a16:creationId xmlns:a16="http://schemas.microsoft.com/office/drawing/2014/main" id="{F7A5FAB2-6FE0-175F-B2FB-7CA4FEB1B374}"/>
              </a:ext>
            </a:extLst>
          </p:cNvPr>
          <p:cNvGrpSpPr/>
          <p:nvPr/>
        </p:nvGrpSpPr>
        <p:grpSpPr>
          <a:xfrm>
            <a:off x="580484" y="2031167"/>
            <a:ext cx="3585116" cy="4095313"/>
            <a:chOff x="9135204" y="2193727"/>
            <a:chExt cx="3056797" cy="3616109"/>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25740" y="2605662"/>
              <a:ext cx="2523396" cy="2239470"/>
            </a:xfrm>
            <a:prstGeom prst="rect">
              <a:avLst/>
            </a:prstGeom>
          </p:spPr>
        </p:pic>
        <p:sp>
          <p:nvSpPr>
            <p:cNvPr id="5" name="CaixaDeTexto 4"/>
            <p:cNvSpPr txBox="1"/>
            <p:nvPr/>
          </p:nvSpPr>
          <p:spPr>
            <a:xfrm>
              <a:off x="9625741" y="2193727"/>
              <a:ext cx="2566260" cy="276999"/>
            </a:xfrm>
            <a:prstGeom prst="rect">
              <a:avLst/>
            </a:prstGeom>
            <a:noFill/>
          </p:spPr>
          <p:txBody>
            <a:bodyPr wrap="square" rtlCol="0">
              <a:spAutoFit/>
            </a:bodyPr>
            <a:lstStyle/>
            <a:p>
              <a:pPr algn="ctr"/>
              <a:r>
                <a:rPr lang="pt-BR" sz="1200" dirty="0"/>
                <a:t>Classificação de animais</a:t>
              </a:r>
            </a:p>
          </p:txBody>
        </p:sp>
        <p:sp>
          <p:nvSpPr>
            <p:cNvPr id="6" name="CaixaDeTexto 5"/>
            <p:cNvSpPr txBox="1"/>
            <p:nvPr/>
          </p:nvSpPr>
          <p:spPr>
            <a:xfrm>
              <a:off x="11139054" y="5348171"/>
              <a:ext cx="866899" cy="461665"/>
            </a:xfrm>
            <a:prstGeom prst="rect">
              <a:avLst/>
            </a:prstGeom>
            <a:noFill/>
          </p:spPr>
          <p:txBody>
            <a:bodyPr wrap="square" rtlCol="0">
              <a:spAutoFit/>
            </a:bodyPr>
            <a:lstStyle/>
            <a:p>
              <a:pPr algn="ctr"/>
              <a:r>
                <a:rPr lang="pt-BR" sz="1200" dirty="0"/>
                <a:t>Vértice ou nó</a:t>
              </a:r>
            </a:p>
          </p:txBody>
        </p:sp>
        <p:cxnSp>
          <p:nvCxnSpPr>
            <p:cNvPr id="8" name="Conector de seta reta 7"/>
            <p:cNvCxnSpPr>
              <a:stCxn id="6" idx="0"/>
            </p:cNvCxnSpPr>
            <p:nvPr/>
          </p:nvCxnSpPr>
          <p:spPr>
            <a:xfrm flipH="1" flipV="1">
              <a:off x="11257808" y="4980069"/>
              <a:ext cx="314696" cy="3681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aixaDeTexto 8"/>
            <p:cNvSpPr txBox="1"/>
            <p:nvPr/>
          </p:nvSpPr>
          <p:spPr>
            <a:xfrm>
              <a:off x="9135204" y="2973765"/>
              <a:ext cx="1194149" cy="461665"/>
            </a:xfrm>
            <a:prstGeom prst="rect">
              <a:avLst/>
            </a:prstGeom>
            <a:noFill/>
          </p:spPr>
          <p:txBody>
            <a:bodyPr wrap="square" rtlCol="0">
              <a:spAutoFit/>
            </a:bodyPr>
            <a:lstStyle/>
            <a:p>
              <a:pPr algn="ctr"/>
              <a:r>
                <a:rPr lang="pt-BR" sz="1200" dirty="0"/>
                <a:t>Aresta ou ramificação</a:t>
              </a:r>
            </a:p>
          </p:txBody>
        </p:sp>
        <p:cxnSp>
          <p:nvCxnSpPr>
            <p:cNvPr id="11" name="Conector de seta reta 10"/>
            <p:cNvCxnSpPr/>
            <p:nvPr/>
          </p:nvCxnSpPr>
          <p:spPr>
            <a:xfrm>
              <a:off x="10046525" y="3204597"/>
              <a:ext cx="498763" cy="2308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331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Árvores de decisão</a:t>
            </a:r>
          </a:p>
        </p:txBody>
      </p:sp>
      <p:sp>
        <p:nvSpPr>
          <p:cNvPr id="3" name="Content Placeholder 2"/>
          <p:cNvSpPr>
            <a:spLocks noGrp="1"/>
          </p:cNvSpPr>
          <p:nvPr>
            <p:ph idx="1"/>
          </p:nvPr>
        </p:nvSpPr>
        <p:spPr>
          <a:xfrm>
            <a:off x="4826000" y="1825624"/>
            <a:ext cx="7366000" cy="5032376"/>
          </a:xfrm>
        </p:spPr>
        <p:txBody>
          <a:bodyPr>
            <a:normAutofit/>
          </a:bodyPr>
          <a:lstStyle/>
          <a:p>
            <a:r>
              <a:rPr lang="pt-BR" dirty="0"/>
              <a:t>Formalmente, uma árvore é um </a:t>
            </a:r>
            <a:r>
              <a:rPr lang="pt-BR" b="1" dirty="0">
                <a:solidFill>
                  <a:srgbClr val="7030A0"/>
                </a:solidFill>
              </a:rPr>
              <a:t>grafo não-direcionado</a:t>
            </a:r>
            <a:r>
              <a:rPr lang="pt-BR" b="1" dirty="0"/>
              <a:t> </a:t>
            </a:r>
            <a:r>
              <a:rPr lang="pt-BR" dirty="0"/>
              <a:t>no qual dois </a:t>
            </a:r>
            <a:r>
              <a:rPr lang="pt-BR" b="1" dirty="0"/>
              <a:t>vértices</a:t>
            </a:r>
            <a:r>
              <a:rPr lang="pt-BR" dirty="0"/>
              <a:t> quaisquer se conectam por um único caminho (ou seja, um </a:t>
            </a:r>
            <a:r>
              <a:rPr lang="pt-BR" b="1" dirty="0"/>
              <a:t>grafo acíclico não-direcionado</a:t>
            </a:r>
            <a:r>
              <a:rPr lang="pt-BR" dirty="0"/>
              <a:t>).</a:t>
            </a:r>
          </a:p>
          <a:p>
            <a:pPr lvl="1">
              <a:buFont typeface="Wingdings" panose="05000000000000000000" pitchFamily="2" charset="2"/>
              <a:buChar char="§"/>
            </a:pPr>
            <a:r>
              <a:rPr lang="pt-BR" sz="2400" b="0" i="0" kern="1200" dirty="0">
                <a:solidFill>
                  <a:schemeClr val="tx1"/>
                </a:solidFill>
                <a:effectLst/>
                <a:latin typeface="+mn-lt"/>
                <a:ea typeface="+mn-ea"/>
                <a:cs typeface="+mn-cs"/>
              </a:rPr>
              <a:t>Um ciclo é um caminho em que o primeiro e o último vértice coincidem.</a:t>
            </a:r>
            <a:endParaRPr lang="pt-BR" dirty="0"/>
          </a:p>
          <a:p>
            <a:r>
              <a:rPr lang="pt-BR" dirty="0"/>
              <a:t>Por exemplo, na árvore ao lado, o vértice “Pássaro” só se conecta com o vértice “Mamífero” através do vértice “Bota ovo?” e não existe um caminho que termine no mesmo vértice de início.</a:t>
            </a:r>
          </a:p>
        </p:txBody>
      </p:sp>
      <p:grpSp>
        <p:nvGrpSpPr>
          <p:cNvPr id="7" name="Agrupar 6">
            <a:extLst>
              <a:ext uri="{FF2B5EF4-FFF2-40B4-BE49-F238E27FC236}">
                <a16:creationId xmlns:a16="http://schemas.microsoft.com/office/drawing/2014/main" id="{F7A5FAB2-6FE0-175F-B2FB-7CA4FEB1B374}"/>
              </a:ext>
            </a:extLst>
          </p:cNvPr>
          <p:cNvGrpSpPr/>
          <p:nvPr/>
        </p:nvGrpSpPr>
        <p:grpSpPr>
          <a:xfrm>
            <a:off x="580484" y="2031167"/>
            <a:ext cx="3585116" cy="4095313"/>
            <a:chOff x="9135204" y="2193727"/>
            <a:chExt cx="3056797" cy="3616109"/>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25740" y="2605662"/>
              <a:ext cx="2523396" cy="2239470"/>
            </a:xfrm>
            <a:prstGeom prst="rect">
              <a:avLst/>
            </a:prstGeom>
          </p:spPr>
        </p:pic>
        <p:sp>
          <p:nvSpPr>
            <p:cNvPr id="5" name="CaixaDeTexto 4"/>
            <p:cNvSpPr txBox="1"/>
            <p:nvPr/>
          </p:nvSpPr>
          <p:spPr>
            <a:xfrm>
              <a:off x="9625741" y="2193727"/>
              <a:ext cx="2566260" cy="276999"/>
            </a:xfrm>
            <a:prstGeom prst="rect">
              <a:avLst/>
            </a:prstGeom>
            <a:noFill/>
          </p:spPr>
          <p:txBody>
            <a:bodyPr wrap="square" rtlCol="0">
              <a:spAutoFit/>
            </a:bodyPr>
            <a:lstStyle/>
            <a:p>
              <a:pPr algn="ctr"/>
              <a:r>
                <a:rPr lang="pt-BR" sz="1200" dirty="0"/>
                <a:t>Classificação de animais</a:t>
              </a:r>
            </a:p>
          </p:txBody>
        </p:sp>
        <p:sp>
          <p:nvSpPr>
            <p:cNvPr id="6" name="CaixaDeTexto 5"/>
            <p:cNvSpPr txBox="1"/>
            <p:nvPr/>
          </p:nvSpPr>
          <p:spPr>
            <a:xfrm>
              <a:off x="11139054" y="5348171"/>
              <a:ext cx="866899" cy="461665"/>
            </a:xfrm>
            <a:prstGeom prst="rect">
              <a:avLst/>
            </a:prstGeom>
            <a:noFill/>
          </p:spPr>
          <p:txBody>
            <a:bodyPr wrap="square" rtlCol="0">
              <a:spAutoFit/>
            </a:bodyPr>
            <a:lstStyle/>
            <a:p>
              <a:pPr algn="ctr"/>
              <a:r>
                <a:rPr lang="pt-BR" sz="1200" dirty="0"/>
                <a:t>Vértice ou nó</a:t>
              </a:r>
            </a:p>
          </p:txBody>
        </p:sp>
        <p:cxnSp>
          <p:nvCxnSpPr>
            <p:cNvPr id="8" name="Conector de seta reta 7"/>
            <p:cNvCxnSpPr>
              <a:stCxn id="6" idx="0"/>
            </p:cNvCxnSpPr>
            <p:nvPr/>
          </p:nvCxnSpPr>
          <p:spPr>
            <a:xfrm flipH="1" flipV="1">
              <a:off x="11257808" y="4980069"/>
              <a:ext cx="314696" cy="3681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aixaDeTexto 8"/>
            <p:cNvSpPr txBox="1"/>
            <p:nvPr/>
          </p:nvSpPr>
          <p:spPr>
            <a:xfrm>
              <a:off x="9135204" y="2973765"/>
              <a:ext cx="1194149" cy="461665"/>
            </a:xfrm>
            <a:prstGeom prst="rect">
              <a:avLst/>
            </a:prstGeom>
            <a:noFill/>
          </p:spPr>
          <p:txBody>
            <a:bodyPr wrap="square" rtlCol="0">
              <a:spAutoFit/>
            </a:bodyPr>
            <a:lstStyle/>
            <a:p>
              <a:pPr algn="ctr"/>
              <a:r>
                <a:rPr lang="pt-BR" sz="1200" dirty="0"/>
                <a:t>Aresta ou ramificação</a:t>
              </a:r>
            </a:p>
          </p:txBody>
        </p:sp>
        <p:cxnSp>
          <p:nvCxnSpPr>
            <p:cNvPr id="11" name="Conector de seta reta 10"/>
            <p:cNvCxnSpPr/>
            <p:nvPr/>
          </p:nvCxnSpPr>
          <p:spPr>
            <a:xfrm>
              <a:off x="10046525" y="3204597"/>
              <a:ext cx="498763" cy="2308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0001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Árvores de decisão</a:t>
            </a:r>
          </a:p>
        </p:txBody>
      </p:sp>
      <p:sp>
        <p:nvSpPr>
          <p:cNvPr id="3" name="Content Placeholder 2"/>
          <p:cNvSpPr>
            <a:spLocks noGrp="1"/>
          </p:cNvSpPr>
          <p:nvPr>
            <p:ph idx="1"/>
          </p:nvPr>
        </p:nvSpPr>
        <p:spPr>
          <a:xfrm>
            <a:off x="4826000" y="1825624"/>
            <a:ext cx="7223892" cy="5032376"/>
          </a:xfrm>
        </p:spPr>
        <p:txBody>
          <a:bodyPr>
            <a:normAutofit/>
          </a:bodyPr>
          <a:lstStyle/>
          <a:p>
            <a:r>
              <a:rPr lang="pt-BR" dirty="0"/>
              <a:t>A árvore possui um </a:t>
            </a:r>
            <a:r>
              <a:rPr lang="pt-BR" b="1" dirty="0"/>
              <a:t>nó raiz</a:t>
            </a:r>
            <a:r>
              <a:rPr lang="pt-BR" dirty="0"/>
              <a:t>, do qual </a:t>
            </a:r>
            <a:r>
              <a:rPr lang="pt-BR" b="1" dirty="0"/>
              <a:t>parte o processo de decisão</a:t>
            </a:r>
            <a:r>
              <a:rPr lang="pt-BR" dirty="0"/>
              <a:t>. </a:t>
            </a:r>
          </a:p>
          <a:p>
            <a:r>
              <a:rPr lang="pt-BR" dirty="0"/>
              <a:t>Nesse processo, </a:t>
            </a:r>
            <a:r>
              <a:rPr lang="pt-BR" b="1" dirty="0">
                <a:solidFill>
                  <a:schemeClr val="accent2"/>
                </a:solidFill>
              </a:rPr>
              <a:t>valores distintos dos atributos geram arestas</a:t>
            </a:r>
            <a:r>
              <a:rPr lang="pt-BR" dirty="0"/>
              <a:t> (i.e., </a:t>
            </a:r>
            <a:r>
              <a:rPr lang="pt-BR" b="1" dirty="0">
                <a:solidFill>
                  <a:srgbClr val="00B050"/>
                </a:solidFill>
              </a:rPr>
              <a:t>ramificações</a:t>
            </a:r>
            <a:r>
              <a:rPr lang="pt-BR" dirty="0"/>
              <a:t>) e, quando se chega a um </a:t>
            </a:r>
            <a:r>
              <a:rPr lang="pt-BR" b="1" dirty="0">
                <a:solidFill>
                  <a:srgbClr val="7030A0"/>
                </a:solidFill>
              </a:rPr>
              <a:t>nó folha</a:t>
            </a:r>
            <a:r>
              <a:rPr lang="pt-BR" dirty="0"/>
              <a:t>, ocorre uma </a:t>
            </a:r>
            <a:r>
              <a:rPr lang="pt-BR" b="1" dirty="0">
                <a:solidFill>
                  <a:srgbClr val="7030A0"/>
                </a:solidFill>
              </a:rPr>
              <a:t>atribuição de uma classe ou valor</a:t>
            </a:r>
            <a:r>
              <a:rPr lang="pt-BR" dirty="0"/>
              <a:t>.</a:t>
            </a:r>
          </a:p>
        </p:txBody>
      </p:sp>
      <p:grpSp>
        <p:nvGrpSpPr>
          <p:cNvPr id="7" name="Agrupar 6">
            <a:extLst>
              <a:ext uri="{FF2B5EF4-FFF2-40B4-BE49-F238E27FC236}">
                <a16:creationId xmlns:a16="http://schemas.microsoft.com/office/drawing/2014/main" id="{F7A5FAB2-6FE0-175F-B2FB-7CA4FEB1B374}"/>
              </a:ext>
            </a:extLst>
          </p:cNvPr>
          <p:cNvGrpSpPr/>
          <p:nvPr/>
        </p:nvGrpSpPr>
        <p:grpSpPr>
          <a:xfrm>
            <a:off x="580484" y="2031167"/>
            <a:ext cx="3585116" cy="4034133"/>
            <a:chOff x="9135204" y="2193727"/>
            <a:chExt cx="3056797" cy="3562088"/>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25740" y="2605662"/>
              <a:ext cx="2523396" cy="2239470"/>
            </a:xfrm>
            <a:prstGeom prst="rect">
              <a:avLst/>
            </a:prstGeom>
          </p:spPr>
        </p:pic>
        <p:sp>
          <p:nvSpPr>
            <p:cNvPr id="5" name="CaixaDeTexto 4"/>
            <p:cNvSpPr txBox="1"/>
            <p:nvPr/>
          </p:nvSpPr>
          <p:spPr>
            <a:xfrm>
              <a:off x="9625741" y="2193727"/>
              <a:ext cx="2566260" cy="276999"/>
            </a:xfrm>
            <a:prstGeom prst="rect">
              <a:avLst/>
            </a:prstGeom>
            <a:noFill/>
          </p:spPr>
          <p:txBody>
            <a:bodyPr wrap="square" rtlCol="0">
              <a:spAutoFit/>
            </a:bodyPr>
            <a:lstStyle/>
            <a:p>
              <a:pPr algn="ctr"/>
              <a:r>
                <a:rPr lang="pt-BR" sz="1200" dirty="0"/>
                <a:t>Classificação de animais</a:t>
              </a:r>
            </a:p>
          </p:txBody>
        </p:sp>
        <p:sp>
          <p:nvSpPr>
            <p:cNvPr id="6" name="CaixaDeTexto 5"/>
            <p:cNvSpPr txBox="1"/>
            <p:nvPr/>
          </p:nvSpPr>
          <p:spPr>
            <a:xfrm>
              <a:off x="11139054" y="5348171"/>
              <a:ext cx="866899" cy="407644"/>
            </a:xfrm>
            <a:prstGeom prst="rect">
              <a:avLst/>
            </a:prstGeom>
            <a:noFill/>
          </p:spPr>
          <p:txBody>
            <a:bodyPr wrap="square" rtlCol="0">
              <a:spAutoFit/>
            </a:bodyPr>
            <a:lstStyle/>
            <a:p>
              <a:pPr algn="ctr"/>
              <a:r>
                <a:rPr lang="pt-BR" sz="1200" dirty="0"/>
                <a:t>Vértice ou nó folha</a:t>
              </a:r>
            </a:p>
          </p:txBody>
        </p:sp>
        <p:cxnSp>
          <p:nvCxnSpPr>
            <p:cNvPr id="8" name="Conector de seta reta 7"/>
            <p:cNvCxnSpPr>
              <a:stCxn id="6" idx="0"/>
            </p:cNvCxnSpPr>
            <p:nvPr/>
          </p:nvCxnSpPr>
          <p:spPr>
            <a:xfrm flipH="1" flipV="1">
              <a:off x="11257808" y="4980069"/>
              <a:ext cx="314696" cy="3681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aixaDeTexto 8"/>
            <p:cNvSpPr txBox="1"/>
            <p:nvPr/>
          </p:nvSpPr>
          <p:spPr>
            <a:xfrm>
              <a:off x="9135204" y="2973765"/>
              <a:ext cx="1194149" cy="461665"/>
            </a:xfrm>
            <a:prstGeom prst="rect">
              <a:avLst/>
            </a:prstGeom>
            <a:noFill/>
          </p:spPr>
          <p:txBody>
            <a:bodyPr wrap="square" rtlCol="0">
              <a:spAutoFit/>
            </a:bodyPr>
            <a:lstStyle/>
            <a:p>
              <a:pPr algn="ctr"/>
              <a:r>
                <a:rPr lang="pt-BR" sz="1200" dirty="0"/>
                <a:t>Aresta ou ramificação</a:t>
              </a:r>
            </a:p>
          </p:txBody>
        </p:sp>
        <p:cxnSp>
          <p:nvCxnSpPr>
            <p:cNvPr id="11" name="Conector de seta reta 10"/>
            <p:cNvCxnSpPr/>
            <p:nvPr/>
          </p:nvCxnSpPr>
          <p:spPr>
            <a:xfrm>
              <a:off x="10046525" y="3204597"/>
              <a:ext cx="498763" cy="2308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CaixaDeTexto 9">
            <a:extLst>
              <a:ext uri="{FF2B5EF4-FFF2-40B4-BE49-F238E27FC236}">
                <a16:creationId xmlns:a16="http://schemas.microsoft.com/office/drawing/2014/main" id="{10B641C7-7BC5-3DC7-962A-04033E812AF9}"/>
              </a:ext>
            </a:extLst>
          </p:cNvPr>
          <p:cNvSpPr txBox="1"/>
          <p:nvPr/>
        </p:nvSpPr>
        <p:spPr>
          <a:xfrm>
            <a:off x="651604" y="2227522"/>
            <a:ext cx="1400539" cy="276999"/>
          </a:xfrm>
          <a:prstGeom prst="rect">
            <a:avLst/>
          </a:prstGeom>
          <a:noFill/>
        </p:spPr>
        <p:txBody>
          <a:bodyPr wrap="square" rtlCol="0">
            <a:spAutoFit/>
          </a:bodyPr>
          <a:lstStyle/>
          <a:p>
            <a:pPr algn="ctr"/>
            <a:r>
              <a:rPr lang="pt-BR" sz="1200" dirty="0"/>
              <a:t>Nó </a:t>
            </a:r>
            <a:r>
              <a:rPr lang="pt-BR" sz="1200" dirty="0" err="1"/>
              <a:t>raíz</a:t>
            </a:r>
            <a:endParaRPr lang="pt-BR" sz="1200" dirty="0"/>
          </a:p>
        </p:txBody>
      </p:sp>
      <p:cxnSp>
        <p:nvCxnSpPr>
          <p:cNvPr id="12" name="Conector de seta reta 10">
            <a:extLst>
              <a:ext uri="{FF2B5EF4-FFF2-40B4-BE49-F238E27FC236}">
                <a16:creationId xmlns:a16="http://schemas.microsoft.com/office/drawing/2014/main" id="{299D5C5C-4B0D-D266-DE79-5CDDA44BDE9F}"/>
              </a:ext>
            </a:extLst>
          </p:cNvPr>
          <p:cNvCxnSpPr/>
          <p:nvPr/>
        </p:nvCxnSpPr>
        <p:spPr>
          <a:xfrm>
            <a:off x="1720432" y="2488944"/>
            <a:ext cx="584966" cy="2614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341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Árvores de decisão</a:t>
            </a:r>
          </a:p>
        </p:txBody>
      </p:sp>
      <p:sp>
        <p:nvSpPr>
          <p:cNvPr id="3" name="Content Placeholder 2"/>
          <p:cNvSpPr>
            <a:spLocks noGrp="1"/>
          </p:cNvSpPr>
          <p:nvPr>
            <p:ph idx="1"/>
          </p:nvPr>
        </p:nvSpPr>
        <p:spPr>
          <a:xfrm>
            <a:off x="4826000" y="1825624"/>
            <a:ext cx="7366000" cy="5032376"/>
          </a:xfrm>
        </p:spPr>
        <p:txBody>
          <a:bodyPr>
            <a:normAutofit/>
          </a:bodyPr>
          <a:lstStyle/>
          <a:p>
            <a:r>
              <a:rPr lang="pt-BR" b="1" dirty="0"/>
              <a:t>Árvores de decisão </a:t>
            </a:r>
            <a:r>
              <a:rPr lang="pt-BR" dirty="0"/>
              <a:t>são modelos de </a:t>
            </a:r>
            <a:r>
              <a:rPr lang="pt-BR" b="1" dirty="0">
                <a:solidFill>
                  <a:srgbClr val="00B050"/>
                </a:solidFill>
              </a:rPr>
              <a:t>caixa branca</a:t>
            </a:r>
            <a:r>
              <a:rPr lang="pt-BR" dirty="0"/>
              <a:t>, ou seja, é possível </a:t>
            </a:r>
            <a:r>
              <a:rPr lang="pt-BR" b="1" dirty="0">
                <a:solidFill>
                  <a:schemeClr val="accent2"/>
                </a:solidFill>
              </a:rPr>
              <a:t>entender e explicar facilmente como o modelo realiza a classificação ou regressão</a:t>
            </a:r>
            <a:r>
              <a:rPr lang="pt-BR" dirty="0"/>
              <a:t> baseando-se nos atributos.</a:t>
            </a:r>
          </a:p>
          <a:p>
            <a:r>
              <a:rPr lang="pt-BR" dirty="0"/>
              <a:t>Elas são o oposto dos modelos de </a:t>
            </a:r>
            <a:r>
              <a:rPr lang="pt-BR" b="1" dirty="0">
                <a:solidFill>
                  <a:srgbClr val="7030A0"/>
                </a:solidFill>
              </a:rPr>
              <a:t>caixa preta</a:t>
            </a:r>
            <a:r>
              <a:rPr lang="pt-BR" dirty="0"/>
              <a:t>, onde os resultados são difíceis de interpretar e </a:t>
            </a:r>
            <a:r>
              <a:rPr lang="pt-BR" b="1" dirty="0">
                <a:solidFill>
                  <a:srgbClr val="7030A0"/>
                </a:solidFill>
              </a:rPr>
              <a:t>não é fácil entender como os diferentes atributos interagem entre si para gerar a saída</a:t>
            </a:r>
            <a:r>
              <a:rPr lang="pt-BR" dirty="0"/>
              <a:t> (e.g., redes neurais artificiais).</a:t>
            </a:r>
          </a:p>
        </p:txBody>
      </p:sp>
      <p:grpSp>
        <p:nvGrpSpPr>
          <p:cNvPr id="7" name="Agrupar 6">
            <a:extLst>
              <a:ext uri="{FF2B5EF4-FFF2-40B4-BE49-F238E27FC236}">
                <a16:creationId xmlns:a16="http://schemas.microsoft.com/office/drawing/2014/main" id="{F7A5FAB2-6FE0-175F-B2FB-7CA4FEB1B374}"/>
              </a:ext>
            </a:extLst>
          </p:cNvPr>
          <p:cNvGrpSpPr/>
          <p:nvPr/>
        </p:nvGrpSpPr>
        <p:grpSpPr>
          <a:xfrm>
            <a:off x="580484" y="2031167"/>
            <a:ext cx="3585116" cy="4034133"/>
            <a:chOff x="9135204" y="2193727"/>
            <a:chExt cx="3056797" cy="3562088"/>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25740" y="2605662"/>
              <a:ext cx="2523396" cy="2239470"/>
            </a:xfrm>
            <a:prstGeom prst="rect">
              <a:avLst/>
            </a:prstGeom>
          </p:spPr>
        </p:pic>
        <p:sp>
          <p:nvSpPr>
            <p:cNvPr id="5" name="CaixaDeTexto 4"/>
            <p:cNvSpPr txBox="1"/>
            <p:nvPr/>
          </p:nvSpPr>
          <p:spPr>
            <a:xfrm>
              <a:off x="9625741" y="2193727"/>
              <a:ext cx="2566260" cy="276999"/>
            </a:xfrm>
            <a:prstGeom prst="rect">
              <a:avLst/>
            </a:prstGeom>
            <a:noFill/>
          </p:spPr>
          <p:txBody>
            <a:bodyPr wrap="square" rtlCol="0">
              <a:spAutoFit/>
            </a:bodyPr>
            <a:lstStyle/>
            <a:p>
              <a:pPr algn="ctr"/>
              <a:r>
                <a:rPr lang="pt-BR" sz="1200" dirty="0"/>
                <a:t>Classificação de animais</a:t>
              </a:r>
            </a:p>
          </p:txBody>
        </p:sp>
        <p:sp>
          <p:nvSpPr>
            <p:cNvPr id="6" name="CaixaDeTexto 5"/>
            <p:cNvSpPr txBox="1"/>
            <p:nvPr/>
          </p:nvSpPr>
          <p:spPr>
            <a:xfrm>
              <a:off x="11139054" y="5348171"/>
              <a:ext cx="866899" cy="407644"/>
            </a:xfrm>
            <a:prstGeom prst="rect">
              <a:avLst/>
            </a:prstGeom>
            <a:noFill/>
          </p:spPr>
          <p:txBody>
            <a:bodyPr wrap="square" rtlCol="0">
              <a:spAutoFit/>
            </a:bodyPr>
            <a:lstStyle/>
            <a:p>
              <a:pPr algn="ctr"/>
              <a:r>
                <a:rPr lang="pt-BR" sz="1200" dirty="0"/>
                <a:t>Vértice ou nó folha</a:t>
              </a:r>
            </a:p>
          </p:txBody>
        </p:sp>
        <p:cxnSp>
          <p:nvCxnSpPr>
            <p:cNvPr id="8" name="Conector de seta reta 7"/>
            <p:cNvCxnSpPr>
              <a:stCxn id="6" idx="0"/>
            </p:cNvCxnSpPr>
            <p:nvPr/>
          </p:nvCxnSpPr>
          <p:spPr>
            <a:xfrm flipH="1" flipV="1">
              <a:off x="11257808" y="4980069"/>
              <a:ext cx="314696" cy="3681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aixaDeTexto 8"/>
            <p:cNvSpPr txBox="1"/>
            <p:nvPr/>
          </p:nvSpPr>
          <p:spPr>
            <a:xfrm>
              <a:off x="9135204" y="2973765"/>
              <a:ext cx="1194149" cy="461665"/>
            </a:xfrm>
            <a:prstGeom prst="rect">
              <a:avLst/>
            </a:prstGeom>
            <a:noFill/>
          </p:spPr>
          <p:txBody>
            <a:bodyPr wrap="square" rtlCol="0">
              <a:spAutoFit/>
            </a:bodyPr>
            <a:lstStyle/>
            <a:p>
              <a:pPr algn="ctr"/>
              <a:r>
                <a:rPr lang="pt-BR" sz="1200" dirty="0"/>
                <a:t>Aresta ou ramificação</a:t>
              </a:r>
            </a:p>
          </p:txBody>
        </p:sp>
        <p:cxnSp>
          <p:nvCxnSpPr>
            <p:cNvPr id="11" name="Conector de seta reta 10"/>
            <p:cNvCxnSpPr/>
            <p:nvPr/>
          </p:nvCxnSpPr>
          <p:spPr>
            <a:xfrm>
              <a:off x="10046525" y="3204597"/>
              <a:ext cx="498763" cy="2308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CaixaDeTexto 9">
            <a:extLst>
              <a:ext uri="{FF2B5EF4-FFF2-40B4-BE49-F238E27FC236}">
                <a16:creationId xmlns:a16="http://schemas.microsoft.com/office/drawing/2014/main" id="{10B641C7-7BC5-3DC7-962A-04033E812AF9}"/>
              </a:ext>
            </a:extLst>
          </p:cNvPr>
          <p:cNvSpPr txBox="1"/>
          <p:nvPr/>
        </p:nvSpPr>
        <p:spPr>
          <a:xfrm>
            <a:off x="651604" y="2227522"/>
            <a:ext cx="1400539" cy="276999"/>
          </a:xfrm>
          <a:prstGeom prst="rect">
            <a:avLst/>
          </a:prstGeom>
          <a:noFill/>
        </p:spPr>
        <p:txBody>
          <a:bodyPr wrap="square" rtlCol="0">
            <a:spAutoFit/>
          </a:bodyPr>
          <a:lstStyle/>
          <a:p>
            <a:pPr algn="ctr"/>
            <a:r>
              <a:rPr lang="pt-BR" sz="1200" dirty="0"/>
              <a:t>Nó </a:t>
            </a:r>
            <a:r>
              <a:rPr lang="pt-BR" sz="1200" dirty="0" err="1"/>
              <a:t>raíz</a:t>
            </a:r>
            <a:endParaRPr lang="pt-BR" sz="1200" dirty="0"/>
          </a:p>
        </p:txBody>
      </p:sp>
      <p:cxnSp>
        <p:nvCxnSpPr>
          <p:cNvPr id="12" name="Conector de seta reta 10">
            <a:extLst>
              <a:ext uri="{FF2B5EF4-FFF2-40B4-BE49-F238E27FC236}">
                <a16:creationId xmlns:a16="http://schemas.microsoft.com/office/drawing/2014/main" id="{299D5C5C-4B0D-D266-DE79-5CDDA44BDE9F}"/>
              </a:ext>
            </a:extLst>
          </p:cNvPr>
          <p:cNvCxnSpPr/>
          <p:nvPr/>
        </p:nvCxnSpPr>
        <p:spPr>
          <a:xfrm>
            <a:off x="1720432" y="2488944"/>
            <a:ext cx="584966" cy="2614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000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Árvores de decisão</a:t>
            </a:r>
          </a:p>
        </p:txBody>
      </p:sp>
      <p:sp>
        <p:nvSpPr>
          <p:cNvPr id="3" name="Content Placeholder 2"/>
          <p:cNvSpPr>
            <a:spLocks noGrp="1"/>
          </p:cNvSpPr>
          <p:nvPr>
            <p:ph idx="1"/>
          </p:nvPr>
        </p:nvSpPr>
        <p:spPr>
          <a:xfrm>
            <a:off x="838200" y="1825624"/>
            <a:ext cx="11211692" cy="5032376"/>
          </a:xfrm>
        </p:spPr>
        <p:txBody>
          <a:bodyPr>
            <a:normAutofit/>
          </a:bodyPr>
          <a:lstStyle/>
          <a:p>
            <a:r>
              <a:rPr lang="pt-BR" dirty="0"/>
              <a:t>A figura abaixo mostra uma árvore de decisão criada a partir de informações se jogadores jogarão tênis ou não dependendo dos valores dos atributos </a:t>
            </a:r>
            <a:r>
              <a:rPr lang="pt-BR" b="1" dirty="0"/>
              <a:t>Clima</a:t>
            </a:r>
            <a:r>
              <a:rPr lang="pt-BR" dirty="0"/>
              <a:t>, </a:t>
            </a:r>
            <a:r>
              <a:rPr lang="pt-BR" b="1" dirty="0"/>
              <a:t>Humidade</a:t>
            </a:r>
            <a:r>
              <a:rPr lang="pt-BR" dirty="0"/>
              <a:t> e </a:t>
            </a:r>
            <a:r>
              <a:rPr lang="pt-BR" b="1" dirty="0"/>
              <a:t>Vento</a:t>
            </a:r>
            <a:r>
              <a:rPr lang="pt-BR" dirty="0"/>
              <a:t>.</a:t>
            </a:r>
          </a:p>
          <a:p>
            <a:r>
              <a:rPr lang="pt-BR" dirty="0"/>
              <a:t>Cada </a:t>
            </a:r>
            <a:r>
              <a:rPr lang="pt-BR" b="1" dirty="0"/>
              <a:t>nó da árvore atua como um </a:t>
            </a:r>
            <a:r>
              <a:rPr lang="pt-BR" b="1" dirty="0">
                <a:solidFill>
                  <a:srgbClr val="00B0F0"/>
                </a:solidFill>
              </a:rPr>
              <a:t>caso de teste </a:t>
            </a:r>
            <a:r>
              <a:rPr lang="pt-BR" dirty="0"/>
              <a:t>para algum atributo, e cada extremidade, ou seja, uma terminação ou folha, corresponde a uma classe.</a:t>
            </a:r>
          </a:p>
        </p:txBody>
      </p:sp>
      <p:pic>
        <p:nvPicPr>
          <p:cNvPr id="13" name="Picture 3">
            <a:extLst>
              <a:ext uri="{FF2B5EF4-FFF2-40B4-BE49-F238E27FC236}">
                <a16:creationId xmlns:a16="http://schemas.microsoft.com/office/drawing/2014/main" id="{B30CD52C-7F83-3438-CE62-B4FC673D43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23197" y="4124961"/>
            <a:ext cx="7945605" cy="2532976"/>
          </a:xfrm>
          <a:prstGeom prst="rect">
            <a:avLst/>
          </a:prstGeom>
        </p:spPr>
      </p:pic>
    </p:spTree>
    <p:extLst>
      <p:ext uri="{BB962C8B-B14F-4D97-AF65-F5344CB8AC3E}">
        <p14:creationId xmlns:p14="http://schemas.microsoft.com/office/powerpoint/2010/main" val="2183740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Árvores de decisão</a:t>
            </a:r>
          </a:p>
        </p:txBody>
      </p:sp>
      <p:sp>
        <p:nvSpPr>
          <p:cNvPr id="3" name="Content Placeholder 2"/>
          <p:cNvSpPr>
            <a:spLocks noGrp="1"/>
          </p:cNvSpPr>
          <p:nvPr>
            <p:ph idx="1"/>
          </p:nvPr>
        </p:nvSpPr>
        <p:spPr>
          <a:xfrm>
            <a:off x="838200" y="1825624"/>
            <a:ext cx="11211692" cy="5032376"/>
          </a:xfrm>
        </p:spPr>
        <p:txBody>
          <a:bodyPr>
            <a:normAutofit/>
          </a:bodyPr>
          <a:lstStyle/>
          <a:p>
            <a:r>
              <a:rPr lang="pt-BR" dirty="0"/>
              <a:t>Na figura, cada atributo leva a uma ramificação até que se atinja um nó folha, onde decide-se sobre jogar ou não.</a:t>
            </a:r>
          </a:p>
          <a:p>
            <a:r>
              <a:rPr lang="pt-BR" dirty="0"/>
              <a:t>O </a:t>
            </a:r>
            <a:r>
              <a:rPr lang="pt-BR" b="1" dirty="0">
                <a:solidFill>
                  <a:srgbClr val="00B050"/>
                </a:solidFill>
              </a:rPr>
              <a:t>uso da árvore para classificar padrões é direto</a:t>
            </a:r>
            <a:r>
              <a:rPr lang="pt-BR" dirty="0"/>
              <a:t>, mas é preciso responder uma questão crucial: </a:t>
            </a:r>
            <a:r>
              <a:rPr lang="pt-BR" b="1" dirty="0">
                <a:solidFill>
                  <a:srgbClr val="7030A0"/>
                </a:solidFill>
              </a:rPr>
              <a:t>como induzir uma árvore de decisão a partir dos dados de treinamento</a:t>
            </a:r>
            <a:r>
              <a:rPr lang="pt-BR" dirty="0">
                <a:solidFill>
                  <a:srgbClr val="7030A0"/>
                </a:solidFill>
              </a:rPr>
              <a:t>?</a:t>
            </a:r>
          </a:p>
        </p:txBody>
      </p:sp>
      <p:pic>
        <p:nvPicPr>
          <p:cNvPr id="13" name="Picture 3">
            <a:extLst>
              <a:ext uri="{FF2B5EF4-FFF2-40B4-BE49-F238E27FC236}">
                <a16:creationId xmlns:a16="http://schemas.microsoft.com/office/drawing/2014/main" id="{B30CD52C-7F83-3438-CE62-B4FC673D43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23197" y="4124961"/>
            <a:ext cx="7945605" cy="2532976"/>
          </a:xfrm>
          <a:prstGeom prst="rect">
            <a:avLst/>
          </a:prstGeom>
        </p:spPr>
      </p:pic>
    </p:spTree>
    <p:extLst>
      <p:ext uri="{BB962C8B-B14F-4D97-AF65-F5344CB8AC3E}">
        <p14:creationId xmlns:p14="http://schemas.microsoft.com/office/powerpoint/2010/main" val="1397578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processo de indução de uma árvore de decisão</a:t>
            </a:r>
          </a:p>
        </p:txBody>
      </p:sp>
      <p:sp>
        <p:nvSpPr>
          <p:cNvPr id="3" name="Content Placeholder 2"/>
          <p:cNvSpPr>
            <a:spLocks noGrp="1"/>
          </p:cNvSpPr>
          <p:nvPr>
            <p:ph idx="1"/>
          </p:nvPr>
        </p:nvSpPr>
        <p:spPr>
          <a:xfrm>
            <a:off x="838200" y="1825624"/>
            <a:ext cx="11211692" cy="5032376"/>
          </a:xfrm>
        </p:spPr>
        <p:txBody>
          <a:bodyPr>
            <a:normAutofit/>
          </a:bodyPr>
          <a:lstStyle/>
          <a:p>
            <a:r>
              <a:rPr lang="pt-BR" dirty="0"/>
              <a:t>Uma primeira abordagem para induzir uma árvore poderia ser </a:t>
            </a:r>
            <a:r>
              <a:rPr lang="pt-BR" b="1" dirty="0"/>
              <a:t>construir, </a:t>
            </a:r>
            <a:r>
              <a:rPr lang="pt-BR" b="1" dirty="0">
                <a:solidFill>
                  <a:schemeClr val="accent2"/>
                </a:solidFill>
              </a:rPr>
              <a:t>de maneira exaustiva</a:t>
            </a:r>
            <a:r>
              <a:rPr lang="pt-BR" dirty="0"/>
              <a:t>, todas as árvores </a:t>
            </a:r>
            <a:r>
              <a:rPr lang="pt-BR" b="1" dirty="0"/>
              <a:t>capazes de resolver o problema </a:t>
            </a:r>
            <a:r>
              <a:rPr lang="pt-BR" dirty="0"/>
              <a:t>da classificação ou regressão e </a:t>
            </a:r>
            <a:r>
              <a:rPr lang="pt-BR" b="1" dirty="0">
                <a:solidFill>
                  <a:schemeClr val="accent2"/>
                </a:solidFill>
              </a:rPr>
              <a:t>selecionar a mais simples</a:t>
            </a:r>
            <a:r>
              <a:rPr lang="pt-BR" b="1" dirty="0"/>
              <a:t> </a:t>
            </a:r>
            <a:r>
              <a:rPr lang="pt-BR" dirty="0"/>
              <a:t>(menos complexa) utilizando a </a:t>
            </a:r>
            <a:r>
              <a:rPr lang="pt-BR" b="1" dirty="0">
                <a:solidFill>
                  <a:srgbClr val="00B050"/>
                </a:solidFill>
              </a:rPr>
              <a:t>regra da Navalha de </a:t>
            </a:r>
            <a:r>
              <a:rPr lang="pt-BR" b="1" dirty="0" err="1">
                <a:solidFill>
                  <a:srgbClr val="00B050"/>
                </a:solidFill>
              </a:rPr>
              <a:t>Occam</a:t>
            </a:r>
            <a:r>
              <a:rPr lang="pt-BR" dirty="0"/>
              <a:t>. </a:t>
            </a:r>
          </a:p>
          <a:p>
            <a:r>
              <a:rPr lang="pt-BR" dirty="0"/>
              <a:t>Entretanto, essa abordagem pode ser computacionalmente muito custosa. </a:t>
            </a:r>
          </a:p>
        </p:txBody>
      </p:sp>
      <p:pic>
        <p:nvPicPr>
          <p:cNvPr id="13" name="Picture 3">
            <a:extLst>
              <a:ext uri="{FF2B5EF4-FFF2-40B4-BE49-F238E27FC236}">
                <a16:creationId xmlns:a16="http://schemas.microsoft.com/office/drawing/2014/main" id="{B30CD52C-7F83-3438-CE62-B4FC673D43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23197" y="4124961"/>
            <a:ext cx="7945605" cy="2532976"/>
          </a:xfrm>
          <a:prstGeom prst="rect">
            <a:avLst/>
          </a:prstGeom>
        </p:spPr>
      </p:pic>
    </p:spTree>
    <p:extLst>
      <p:ext uri="{BB962C8B-B14F-4D97-AF65-F5344CB8AC3E}">
        <p14:creationId xmlns:p14="http://schemas.microsoft.com/office/powerpoint/2010/main" val="1675151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processo de indução de uma árvore de decisão</a:t>
            </a:r>
          </a:p>
        </p:txBody>
      </p:sp>
      <p:sp>
        <p:nvSpPr>
          <p:cNvPr id="3" name="Content Placeholder 2"/>
          <p:cNvSpPr>
            <a:spLocks noGrp="1"/>
          </p:cNvSpPr>
          <p:nvPr>
            <p:ph idx="1"/>
          </p:nvPr>
        </p:nvSpPr>
        <p:spPr>
          <a:xfrm>
            <a:off x="838200" y="1825624"/>
            <a:ext cx="11353800" cy="5032376"/>
          </a:xfrm>
        </p:spPr>
        <p:txBody>
          <a:bodyPr>
            <a:normAutofit/>
          </a:bodyPr>
          <a:lstStyle/>
          <a:p>
            <a:r>
              <a:rPr lang="pt-BR" dirty="0"/>
              <a:t>Encontrar uma árvore de decisão ótima é um problema de </a:t>
            </a:r>
            <a:r>
              <a:rPr lang="pt-BR" b="1" dirty="0">
                <a:solidFill>
                  <a:srgbClr val="7030A0"/>
                </a:solidFill>
              </a:rPr>
              <a:t>tempo polinomial não-determinístico completo</a:t>
            </a:r>
            <a:r>
              <a:rPr lang="pt-BR" dirty="0"/>
              <a:t> (NP-completo).</a:t>
            </a:r>
          </a:p>
          <a:p>
            <a:r>
              <a:rPr lang="en-US" altLang="en-US" dirty="0"/>
              <a:t>São </a:t>
            </a:r>
            <a:r>
              <a:rPr lang="en-US" altLang="en-US" dirty="0" err="1"/>
              <a:t>problemas</a:t>
            </a:r>
            <a:r>
              <a:rPr lang="en-US" altLang="en-US" dirty="0"/>
              <a:t> </a:t>
            </a:r>
            <a:r>
              <a:rPr lang="pt-BR" dirty="0"/>
              <a:t>onde conferir uma solução é fácil, mas descobrir a resposta é extremamente difícil.</a:t>
            </a:r>
            <a:endParaRPr lang="en-US" altLang="en-US" dirty="0"/>
          </a:p>
          <a:p>
            <a:r>
              <a:rPr lang="en-US" altLang="en-US" dirty="0" err="1"/>
              <a:t>Exemplo</a:t>
            </a:r>
            <a:r>
              <a:rPr lang="en-US" altLang="en-US" dirty="0"/>
              <a:t>: O </a:t>
            </a:r>
            <a:r>
              <a:rPr lang="en-US" altLang="en-US" dirty="0" err="1"/>
              <a:t>problema</a:t>
            </a:r>
            <a:r>
              <a:rPr lang="en-US" altLang="en-US" dirty="0"/>
              <a:t> do </a:t>
            </a:r>
            <a:r>
              <a:rPr lang="en-US" altLang="en-US" dirty="0" err="1"/>
              <a:t>caixeiro</a:t>
            </a:r>
            <a:r>
              <a:rPr lang="en-US" altLang="en-US" dirty="0"/>
              <a:t> </a:t>
            </a:r>
            <a:r>
              <a:rPr lang="en-US" altLang="en-US" dirty="0" err="1"/>
              <a:t>viajante</a:t>
            </a:r>
            <a:r>
              <a:rPr lang="en-US" altLang="en-US" dirty="0"/>
              <a:t>.</a:t>
            </a:r>
          </a:p>
          <a:p>
            <a:pPr lvl="1">
              <a:buFont typeface="Wingdings" panose="05000000000000000000" pitchFamily="2" charset="2"/>
              <a:buChar char="§"/>
            </a:pPr>
            <a:r>
              <a:rPr lang="en-US" altLang="en-US" dirty="0" err="1"/>
              <a:t>Objetivo</a:t>
            </a:r>
            <a:r>
              <a:rPr lang="en-US" altLang="en-US" dirty="0"/>
              <a:t>: </a:t>
            </a:r>
            <a:r>
              <a:rPr lang="pt-BR" dirty="0"/>
              <a:t>Encontrar o </a:t>
            </a:r>
            <a:r>
              <a:rPr lang="pt-BR" b="1" dirty="0"/>
              <a:t>menor caminho que visite todas as cidades.</a:t>
            </a:r>
          </a:p>
          <a:p>
            <a:pPr lvl="2">
              <a:buFont typeface="Courier New" panose="02070309020205020404" pitchFamily="49" charset="0"/>
              <a:buChar char="o"/>
            </a:pPr>
            <a:r>
              <a:rPr lang="pt-BR" dirty="0"/>
              <a:t>Se alguém te dá um caminho: A → B → C → D → A</a:t>
            </a:r>
          </a:p>
          <a:p>
            <a:pPr lvl="3">
              <a:buFont typeface="Wingdings" panose="05000000000000000000" pitchFamily="2" charset="2"/>
              <a:buChar char="ü"/>
            </a:pPr>
            <a:r>
              <a:rPr lang="pt-BR" dirty="0"/>
              <a:t>Nós só precisamos somar as distâncias para conferir a solução (rápido).</a:t>
            </a:r>
          </a:p>
          <a:p>
            <a:pPr lvl="2">
              <a:buFont typeface="Courier New" panose="02070309020205020404" pitchFamily="49" charset="0"/>
              <a:buChar char="o"/>
            </a:pPr>
            <a:r>
              <a:rPr lang="pt-BR" altLang="en-US" dirty="0"/>
              <a:t>Mas encontrar o melhor caminho entre todos os possíveis:</a:t>
            </a:r>
          </a:p>
          <a:p>
            <a:pPr lvl="3">
              <a:buFont typeface="Wingdings" panose="05000000000000000000" pitchFamily="2" charset="2"/>
              <a:buChar char="ü"/>
            </a:pPr>
            <a:r>
              <a:rPr lang="pt-BR" altLang="en-US" dirty="0"/>
              <a:t>5 cidades → já são muitas combinações</a:t>
            </a:r>
          </a:p>
          <a:p>
            <a:pPr lvl="3">
              <a:buFont typeface="Wingdings" panose="05000000000000000000" pitchFamily="2" charset="2"/>
              <a:buChar char="ü"/>
            </a:pPr>
            <a:r>
              <a:rPr lang="pt-BR" altLang="en-US" dirty="0"/>
              <a:t>20 cidades → número gigantesco</a:t>
            </a:r>
          </a:p>
          <a:p>
            <a:pPr lvl="3">
              <a:buFont typeface="Wingdings" panose="05000000000000000000" pitchFamily="2" charset="2"/>
              <a:buChar char="ü"/>
            </a:pPr>
            <a:r>
              <a:rPr lang="pt-BR" altLang="en-US" dirty="0"/>
              <a:t>O problema cresce exponencialmente.</a:t>
            </a:r>
            <a:endParaRPr lang="en-US" altLang="en-US" dirty="0"/>
          </a:p>
        </p:txBody>
      </p:sp>
    </p:spTree>
    <p:extLst>
      <p:ext uri="{BB962C8B-B14F-4D97-AF65-F5344CB8AC3E}">
        <p14:creationId xmlns:p14="http://schemas.microsoft.com/office/powerpoint/2010/main" val="3586180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processo de indução de uma árvore de decisão</a:t>
            </a:r>
          </a:p>
        </p:txBody>
      </p:sp>
      <p:sp>
        <p:nvSpPr>
          <p:cNvPr id="3" name="Content Placeholder 2"/>
          <p:cNvSpPr>
            <a:spLocks noGrp="1"/>
          </p:cNvSpPr>
          <p:nvPr>
            <p:ph idx="1"/>
          </p:nvPr>
        </p:nvSpPr>
        <p:spPr>
          <a:xfrm>
            <a:off x="838200" y="1825624"/>
            <a:ext cx="11211692" cy="5032376"/>
          </a:xfrm>
        </p:spPr>
        <p:txBody>
          <a:bodyPr>
            <a:normAutofit/>
          </a:bodyPr>
          <a:lstStyle/>
          <a:p>
            <a:r>
              <a:rPr lang="pt-BR" dirty="0"/>
              <a:t>Como a indução de árvores é um problema NP-completo, em geral, usa-se </a:t>
            </a:r>
            <a:r>
              <a:rPr lang="pt-BR" b="1" dirty="0"/>
              <a:t>abordagens heurísticas </a:t>
            </a:r>
            <a:r>
              <a:rPr lang="pt-BR" dirty="0"/>
              <a:t>para induzir árvores de decisão. </a:t>
            </a:r>
          </a:p>
          <a:p>
            <a:r>
              <a:rPr lang="pt-BR" dirty="0"/>
              <a:t>Dentre as mais conhecidas podemos citar: </a:t>
            </a:r>
            <a:r>
              <a:rPr lang="pt-BR" b="1" dirty="0">
                <a:solidFill>
                  <a:srgbClr val="00B0F0"/>
                </a:solidFill>
              </a:rPr>
              <a:t>ID3</a:t>
            </a:r>
            <a:r>
              <a:rPr lang="pt-BR" dirty="0"/>
              <a:t>, C4.5, C5.0 e </a:t>
            </a:r>
            <a:r>
              <a:rPr lang="pt-BR" b="1" dirty="0">
                <a:solidFill>
                  <a:srgbClr val="7030A0"/>
                </a:solidFill>
              </a:rPr>
              <a:t>CART (</a:t>
            </a:r>
            <a:r>
              <a:rPr lang="pt-BR" b="1" dirty="0" err="1">
                <a:solidFill>
                  <a:srgbClr val="7030A0"/>
                </a:solidFill>
              </a:rPr>
              <a:t>scikit-learn</a:t>
            </a:r>
            <a:r>
              <a:rPr lang="pt-BR" b="1" dirty="0">
                <a:solidFill>
                  <a:srgbClr val="7030A0"/>
                </a:solidFill>
              </a:rPr>
              <a:t>)</a:t>
            </a:r>
            <a:r>
              <a:rPr lang="pt-BR" dirty="0"/>
              <a:t>.</a:t>
            </a:r>
          </a:p>
        </p:txBody>
      </p:sp>
      <p:pic>
        <p:nvPicPr>
          <p:cNvPr id="13" name="Picture 3">
            <a:extLst>
              <a:ext uri="{FF2B5EF4-FFF2-40B4-BE49-F238E27FC236}">
                <a16:creationId xmlns:a16="http://schemas.microsoft.com/office/drawing/2014/main" id="{B30CD52C-7F83-3438-CE62-B4FC673D43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23197" y="4124961"/>
            <a:ext cx="7945605" cy="2532976"/>
          </a:xfrm>
          <a:prstGeom prst="rect">
            <a:avLst/>
          </a:prstGeom>
        </p:spPr>
      </p:pic>
    </p:spTree>
    <p:extLst>
      <p:ext uri="{BB962C8B-B14F-4D97-AF65-F5344CB8AC3E}">
        <p14:creationId xmlns:p14="http://schemas.microsoft.com/office/powerpoint/2010/main" val="419103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processo de indução de uma árvore de decisão</a:t>
            </a:r>
          </a:p>
        </p:txBody>
      </p:sp>
      <p:sp>
        <p:nvSpPr>
          <p:cNvPr id="3" name="Content Placeholder 2"/>
          <p:cNvSpPr>
            <a:spLocks noGrp="1"/>
          </p:cNvSpPr>
          <p:nvPr>
            <p:ph idx="1"/>
          </p:nvPr>
        </p:nvSpPr>
        <p:spPr>
          <a:xfrm>
            <a:off x="838200" y="1825624"/>
            <a:ext cx="11211692" cy="5032376"/>
          </a:xfrm>
        </p:spPr>
        <p:txBody>
          <a:bodyPr>
            <a:normAutofit/>
          </a:bodyPr>
          <a:lstStyle/>
          <a:p>
            <a:r>
              <a:rPr lang="pt-BR" dirty="0"/>
              <a:t>Um dos métodos </a:t>
            </a:r>
            <a:r>
              <a:rPr lang="pt-BR" b="1" dirty="0">
                <a:solidFill>
                  <a:srgbClr val="7030A0"/>
                </a:solidFill>
              </a:rPr>
              <a:t>heurísticos</a:t>
            </a:r>
            <a:r>
              <a:rPr lang="pt-BR" dirty="0"/>
              <a:t> de indução de árvores de decisão mais utilizados é o </a:t>
            </a:r>
            <a:r>
              <a:rPr lang="pt-BR" b="1" dirty="0"/>
              <a:t>ID3 </a:t>
            </a:r>
            <a:r>
              <a:rPr lang="pt-BR" dirty="0"/>
              <a:t>(do inglês, </a:t>
            </a:r>
            <a:r>
              <a:rPr lang="pt-BR" b="1" dirty="0" err="1"/>
              <a:t>Iterative</a:t>
            </a:r>
            <a:r>
              <a:rPr lang="pt-BR" b="1" dirty="0"/>
              <a:t> </a:t>
            </a:r>
            <a:r>
              <a:rPr lang="pt-BR" b="1" dirty="0" err="1"/>
              <a:t>Dichotomiser</a:t>
            </a:r>
            <a:r>
              <a:rPr lang="pt-BR" b="1" dirty="0"/>
              <a:t> 3</a:t>
            </a:r>
            <a:r>
              <a:rPr lang="pt-BR" dirty="0"/>
              <a:t>).</a:t>
            </a:r>
          </a:p>
          <a:p>
            <a:pPr lvl="1">
              <a:buFont typeface="Wingdings" panose="05000000000000000000" pitchFamily="2" charset="2"/>
              <a:buChar char="§"/>
            </a:pPr>
            <a:r>
              <a:rPr lang="pt-BR" b="1" dirty="0">
                <a:solidFill>
                  <a:srgbClr val="7030A0"/>
                </a:solidFill>
              </a:rPr>
              <a:t>Heurística: </a:t>
            </a:r>
            <a:r>
              <a:rPr lang="pt-BR" dirty="0"/>
              <a:t>estratégia prática para encontrar uma solução rápida e aproximada.</a:t>
            </a:r>
            <a:endParaRPr lang="pt-BR" b="1" dirty="0"/>
          </a:p>
          <a:p>
            <a:pPr lvl="1">
              <a:buFont typeface="Wingdings" panose="05000000000000000000" pitchFamily="2" charset="2"/>
              <a:buChar char="§"/>
            </a:pPr>
            <a:r>
              <a:rPr lang="pt-BR" b="1" dirty="0" err="1">
                <a:solidFill>
                  <a:srgbClr val="00B050"/>
                </a:solidFill>
              </a:rPr>
              <a:t>Dicotomização</a:t>
            </a:r>
            <a:r>
              <a:rPr lang="pt-BR" b="1" dirty="0">
                <a:solidFill>
                  <a:srgbClr val="00B050"/>
                </a:solidFill>
              </a:rPr>
              <a:t> iterativa</a:t>
            </a:r>
            <a:r>
              <a:rPr lang="pt-BR" b="1" dirty="0"/>
              <a:t> </a:t>
            </a:r>
            <a:r>
              <a:rPr lang="pt-BR" dirty="0"/>
              <a:t>significa </a:t>
            </a:r>
            <a:r>
              <a:rPr lang="pt-BR" b="1" dirty="0">
                <a:solidFill>
                  <a:schemeClr val="accent2"/>
                </a:solidFill>
              </a:rPr>
              <a:t>dividir-se repetidamente os atributos em duas ou mais classes</a:t>
            </a:r>
            <a:r>
              <a:rPr lang="pt-BR" dirty="0"/>
              <a:t> a cada iteração (ou passo).</a:t>
            </a:r>
          </a:p>
          <a:p>
            <a:r>
              <a:rPr lang="pt-BR" dirty="0"/>
              <a:t>O </a:t>
            </a:r>
            <a:r>
              <a:rPr lang="pt-BR" b="1" dirty="0"/>
              <a:t>método ID3</a:t>
            </a:r>
            <a:r>
              <a:rPr lang="pt-BR" dirty="0"/>
              <a:t> é uma abordagem que </a:t>
            </a:r>
            <a:r>
              <a:rPr lang="pt-BR" b="1" dirty="0">
                <a:solidFill>
                  <a:srgbClr val="0070C0"/>
                </a:solidFill>
              </a:rPr>
              <a:t>não garante</a:t>
            </a:r>
            <a:r>
              <a:rPr lang="pt-BR" b="1" dirty="0"/>
              <a:t> </a:t>
            </a:r>
            <a:r>
              <a:rPr lang="pt-BR" dirty="0"/>
              <a:t>a obtenção da </a:t>
            </a:r>
            <a:r>
              <a:rPr lang="pt-BR" b="1" dirty="0">
                <a:solidFill>
                  <a:srgbClr val="0070C0"/>
                </a:solidFill>
              </a:rPr>
              <a:t>menor árvore possível</a:t>
            </a:r>
            <a:r>
              <a:rPr lang="pt-BR" dirty="0"/>
              <a:t>, mas busca obter </a:t>
            </a:r>
            <a:r>
              <a:rPr lang="pt-BR" b="1" dirty="0">
                <a:solidFill>
                  <a:srgbClr val="0070C0"/>
                </a:solidFill>
              </a:rPr>
              <a:t>árvores apropriadas num intervalo de tempo relativamente curto</a:t>
            </a:r>
            <a:r>
              <a:rPr lang="pt-BR" dirty="0"/>
              <a:t>.</a:t>
            </a:r>
          </a:p>
        </p:txBody>
      </p:sp>
    </p:spTree>
    <p:extLst>
      <p:ext uri="{BB962C8B-B14F-4D97-AF65-F5344CB8AC3E}">
        <p14:creationId xmlns:p14="http://schemas.microsoft.com/office/powerpoint/2010/main" val="1712149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processo de indução de uma árvore de decisão</a:t>
            </a:r>
          </a:p>
        </p:txBody>
      </p:sp>
      <p:sp>
        <p:nvSpPr>
          <p:cNvPr id="3" name="Content Placeholder 2"/>
          <p:cNvSpPr>
            <a:spLocks noGrp="1"/>
          </p:cNvSpPr>
          <p:nvPr>
            <p:ph idx="1"/>
          </p:nvPr>
        </p:nvSpPr>
        <p:spPr>
          <a:xfrm>
            <a:off x="838200" y="1825624"/>
            <a:ext cx="11211692" cy="5032376"/>
          </a:xfrm>
        </p:spPr>
        <p:txBody>
          <a:bodyPr>
            <a:normAutofit/>
          </a:bodyPr>
          <a:lstStyle/>
          <a:p>
            <a:r>
              <a:rPr lang="pt-BR" dirty="0"/>
              <a:t>Ele usa uma </a:t>
            </a:r>
            <a:r>
              <a:rPr lang="pt-BR" b="1" dirty="0"/>
              <a:t>estratégia </a:t>
            </a:r>
            <a:r>
              <a:rPr lang="pt-BR" b="1" dirty="0">
                <a:solidFill>
                  <a:srgbClr val="7030A0"/>
                </a:solidFill>
              </a:rPr>
              <a:t>gananciosa</a:t>
            </a:r>
            <a:r>
              <a:rPr lang="pt-BR" dirty="0"/>
              <a:t>.</a:t>
            </a:r>
          </a:p>
          <a:p>
            <a:pPr lvl="1">
              <a:buFont typeface="Wingdings" panose="05000000000000000000" pitchFamily="2" charset="2"/>
              <a:buChar char="§"/>
            </a:pPr>
            <a:r>
              <a:rPr lang="pt-BR" dirty="0"/>
              <a:t>Sempre escolhe o melhor atributo localmente</a:t>
            </a:r>
          </a:p>
          <a:p>
            <a:pPr lvl="2">
              <a:buFont typeface="Courier New" panose="02070309020205020404" pitchFamily="49" charset="0"/>
              <a:buChar char="o"/>
            </a:pPr>
            <a:r>
              <a:rPr lang="pt-BR" dirty="0"/>
              <a:t>Qual atributo separa melhor os dados AGORA?</a:t>
            </a:r>
          </a:p>
          <a:p>
            <a:pPr lvl="2">
              <a:buFont typeface="Courier New" panose="02070309020205020404" pitchFamily="49" charset="0"/>
              <a:buChar char="o"/>
            </a:pPr>
            <a:r>
              <a:rPr lang="pt-BR" dirty="0"/>
              <a:t>Ele não reconsidera decisões anteriores e não testa combinações futuras</a:t>
            </a:r>
          </a:p>
          <a:p>
            <a:pPr lvl="1">
              <a:buFont typeface="Wingdings" panose="05000000000000000000" pitchFamily="2" charset="2"/>
              <a:buChar char="§"/>
            </a:pPr>
            <a:r>
              <a:rPr lang="pt-BR" dirty="0"/>
              <a:t>Não garante solução ótima global.</a:t>
            </a:r>
          </a:p>
          <a:p>
            <a:pPr lvl="2">
              <a:buFont typeface="Courier New" panose="02070309020205020404" pitchFamily="49" charset="0"/>
              <a:buChar char="o"/>
            </a:pPr>
            <a:r>
              <a:rPr lang="pt-BR" dirty="0"/>
              <a:t>Escolher o melhor atributo agora </a:t>
            </a:r>
            <a:r>
              <a:rPr lang="pt-BR" b="1" dirty="0"/>
              <a:t>não garante o melhor resultado final</a:t>
            </a:r>
          </a:p>
          <a:p>
            <a:r>
              <a:rPr lang="pt-BR" dirty="0"/>
              <a:t>É </a:t>
            </a:r>
            <a:r>
              <a:rPr lang="pt-BR" b="1" i="1" dirty="0">
                <a:solidFill>
                  <a:schemeClr val="accent2"/>
                </a:solidFill>
              </a:rPr>
              <a:t>top-</a:t>
            </a:r>
            <a:r>
              <a:rPr lang="pt-BR" b="1" i="1" dirty="0" err="1">
                <a:solidFill>
                  <a:schemeClr val="accent2"/>
                </a:solidFill>
              </a:rPr>
              <a:t>down</a:t>
            </a:r>
            <a:r>
              <a:rPr lang="pt-BR" dirty="0"/>
              <a:t>.</a:t>
            </a:r>
          </a:p>
          <a:p>
            <a:pPr lvl="1">
              <a:buFont typeface="Wingdings" panose="05000000000000000000" pitchFamily="2" charset="2"/>
              <a:buChar char="§"/>
            </a:pPr>
            <a:r>
              <a:rPr lang="pt-BR" dirty="0"/>
              <a:t>Começa da raiz e vai descendo, ou seja, a árvore é </a:t>
            </a:r>
            <a:r>
              <a:rPr lang="pt-BR" b="1" dirty="0">
                <a:solidFill>
                  <a:schemeClr val="accent2"/>
                </a:solidFill>
              </a:rPr>
              <a:t>criada de cima para baixo</a:t>
            </a:r>
            <a:r>
              <a:rPr lang="pt-BR" dirty="0"/>
              <a:t> e um </a:t>
            </a:r>
            <a:r>
              <a:rPr lang="pt-BR" b="1" dirty="0">
                <a:solidFill>
                  <a:srgbClr val="00B050"/>
                </a:solidFill>
              </a:rPr>
              <a:t>nó é escolhido </a:t>
            </a:r>
            <a:r>
              <a:rPr lang="pt-BR" dirty="0"/>
              <a:t>selecionando-se o </a:t>
            </a:r>
            <a:r>
              <a:rPr lang="pt-BR" b="1" dirty="0">
                <a:solidFill>
                  <a:srgbClr val="00B050"/>
                </a:solidFill>
              </a:rPr>
              <a:t>atributo que melhor divide o conjunto de dados</a:t>
            </a:r>
            <a:r>
              <a:rPr lang="pt-BR" dirty="0"/>
              <a:t> </a:t>
            </a:r>
            <a:r>
              <a:rPr lang="pt-BR" b="1" dirty="0">
                <a:solidFill>
                  <a:srgbClr val="7030A0"/>
                </a:solidFill>
              </a:rPr>
              <a:t>naquele</a:t>
            </a:r>
            <a:r>
              <a:rPr lang="pt-BR" dirty="0"/>
              <a:t> </a:t>
            </a:r>
            <a:r>
              <a:rPr lang="pt-BR" b="1" dirty="0">
                <a:solidFill>
                  <a:srgbClr val="7030A0"/>
                </a:solidFill>
              </a:rPr>
              <a:t>passo</a:t>
            </a:r>
            <a:r>
              <a:rPr lang="pt-BR" dirty="0"/>
              <a:t>.</a:t>
            </a:r>
          </a:p>
        </p:txBody>
      </p:sp>
    </p:spTree>
    <p:extLst>
      <p:ext uri="{BB962C8B-B14F-4D97-AF65-F5344CB8AC3E}">
        <p14:creationId xmlns:p14="http://schemas.microsoft.com/office/powerpoint/2010/main" val="2426443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processo de indução de uma árvore de decisão</a:t>
            </a:r>
          </a:p>
        </p:txBody>
      </p:sp>
      <p:sp>
        <p:nvSpPr>
          <p:cNvPr id="3" name="Content Placeholder 2"/>
          <p:cNvSpPr>
            <a:spLocks noGrp="1"/>
          </p:cNvSpPr>
          <p:nvPr>
            <p:ph idx="1"/>
          </p:nvPr>
        </p:nvSpPr>
        <p:spPr>
          <a:xfrm>
            <a:off x="838200" y="1825624"/>
            <a:ext cx="11211692" cy="5032376"/>
          </a:xfrm>
        </p:spPr>
        <p:txBody>
          <a:bodyPr>
            <a:normAutofit/>
          </a:bodyPr>
          <a:lstStyle/>
          <a:p>
            <a:r>
              <a:rPr lang="pt-BR" dirty="0"/>
              <a:t>Como se decide (métrica) qual é o melhor atributo? </a:t>
            </a:r>
          </a:p>
          <a:p>
            <a:pPr lvl="1">
              <a:buFont typeface="Wingdings" panose="05000000000000000000" pitchFamily="2" charset="2"/>
              <a:buChar char="§"/>
            </a:pPr>
            <a:r>
              <a:rPr lang="pt-BR" dirty="0"/>
              <a:t>Ele se baseia na </a:t>
            </a:r>
            <a:r>
              <a:rPr lang="pt-BR" b="1" dirty="0"/>
              <a:t>teoria da informação</a:t>
            </a:r>
            <a:r>
              <a:rPr lang="pt-BR" dirty="0"/>
              <a:t> para selecionar o melhor atributo de cada nó da árvore.</a:t>
            </a:r>
          </a:p>
          <a:p>
            <a:r>
              <a:rPr lang="pt-BR" dirty="0"/>
              <a:t>A ideia central do </a:t>
            </a:r>
            <a:r>
              <a:rPr lang="pt-BR" b="1" dirty="0"/>
              <a:t>método ID3</a:t>
            </a:r>
            <a:r>
              <a:rPr lang="pt-BR" dirty="0"/>
              <a:t> é construir uma árvore escolhendo, a cada passo, o atributo que </a:t>
            </a:r>
            <a:r>
              <a:rPr lang="pt-BR" b="1" dirty="0"/>
              <a:t>mais reduz a incerteza dos dados</a:t>
            </a:r>
            <a:r>
              <a:rPr lang="pt-BR" dirty="0"/>
              <a:t>.</a:t>
            </a:r>
          </a:p>
          <a:p>
            <a:r>
              <a:rPr lang="pt-BR" dirty="0"/>
              <a:t>Ou seja, a cada passo, escolhe-se como </a:t>
            </a:r>
            <a:r>
              <a:rPr lang="pt-BR" b="1" dirty="0"/>
              <a:t>nó</a:t>
            </a:r>
            <a:r>
              <a:rPr lang="pt-BR" dirty="0"/>
              <a:t> o </a:t>
            </a:r>
            <a:r>
              <a:rPr lang="pt-BR" b="1" dirty="0">
                <a:solidFill>
                  <a:schemeClr val="accent2"/>
                </a:solidFill>
              </a:rPr>
              <a:t>atributo que for o mais longe possível em dividir os exemplos</a:t>
            </a:r>
            <a:r>
              <a:rPr lang="pt-BR" dirty="0"/>
              <a:t>.</a:t>
            </a:r>
          </a:p>
        </p:txBody>
      </p:sp>
    </p:spTree>
    <p:extLst>
      <p:ext uri="{BB962C8B-B14F-4D97-AF65-F5344CB8AC3E}">
        <p14:creationId xmlns:p14="http://schemas.microsoft.com/office/powerpoint/2010/main" val="3418735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processo de indução de uma árvore de decisão</a:t>
            </a:r>
          </a:p>
        </p:txBody>
      </p:sp>
      <p:sp>
        <p:nvSpPr>
          <p:cNvPr id="3" name="Content Placeholder 2"/>
          <p:cNvSpPr>
            <a:spLocks noGrp="1"/>
          </p:cNvSpPr>
          <p:nvPr>
            <p:ph idx="1"/>
          </p:nvPr>
        </p:nvSpPr>
        <p:spPr>
          <a:xfrm>
            <a:off x="5415280" y="1825624"/>
            <a:ext cx="6634612" cy="5032376"/>
          </a:xfrm>
        </p:spPr>
        <p:txBody>
          <a:bodyPr>
            <a:normAutofit/>
          </a:bodyPr>
          <a:lstStyle/>
          <a:p>
            <a:r>
              <a:rPr lang="pt-BR" dirty="0"/>
              <a:t>Um </a:t>
            </a:r>
            <a:r>
              <a:rPr lang="pt-BR" b="1" dirty="0">
                <a:solidFill>
                  <a:srgbClr val="00B050"/>
                </a:solidFill>
              </a:rPr>
              <a:t>atributo perfeito</a:t>
            </a:r>
            <a:r>
              <a:rPr lang="pt-BR" dirty="0">
                <a:solidFill>
                  <a:srgbClr val="00B050"/>
                </a:solidFill>
              </a:rPr>
              <a:t> </a:t>
            </a:r>
            <a:r>
              <a:rPr lang="pt-BR" dirty="0"/>
              <a:t>divide perfeitamente todos os exemplos em grupos (ou classes).</a:t>
            </a:r>
          </a:p>
          <a:p>
            <a:r>
              <a:rPr lang="pt-BR" dirty="0"/>
              <a:t>Ou seja, é o atributo que consegue </a:t>
            </a:r>
            <a:r>
              <a:rPr lang="pt-BR" b="1" dirty="0">
                <a:solidFill>
                  <a:srgbClr val="00B050"/>
                </a:solidFill>
              </a:rPr>
              <a:t>explicar perfeitamente o conjunto de dados</a:t>
            </a:r>
            <a:r>
              <a:rPr lang="pt-BR" dirty="0"/>
              <a:t>.</a:t>
            </a:r>
          </a:p>
          <a:p>
            <a:r>
              <a:rPr lang="pt-BR" dirty="0"/>
              <a:t>Por exemplo, o atributo </a:t>
            </a:r>
            <a:r>
              <a:rPr lang="pt-BR" b="1" dirty="0" err="1"/>
              <a:t>Windy</a:t>
            </a:r>
            <a:r>
              <a:rPr lang="pt-BR" dirty="0"/>
              <a:t> divide as amostras em duas classes perfeitamente.</a:t>
            </a:r>
          </a:p>
        </p:txBody>
      </p:sp>
      <p:grpSp>
        <p:nvGrpSpPr>
          <p:cNvPr id="11" name="Agrupar 10">
            <a:extLst>
              <a:ext uri="{FF2B5EF4-FFF2-40B4-BE49-F238E27FC236}">
                <a16:creationId xmlns:a16="http://schemas.microsoft.com/office/drawing/2014/main" id="{B24794E0-2EBD-A561-9FAC-0BBDFC72CA24}"/>
              </a:ext>
            </a:extLst>
          </p:cNvPr>
          <p:cNvGrpSpPr/>
          <p:nvPr/>
        </p:nvGrpSpPr>
        <p:grpSpPr>
          <a:xfrm>
            <a:off x="998817" y="2705818"/>
            <a:ext cx="3156178" cy="1448846"/>
            <a:chOff x="998817" y="2705818"/>
            <a:chExt cx="3156178" cy="1448846"/>
          </a:xfrm>
        </p:grpSpPr>
        <p:sp>
          <p:nvSpPr>
            <p:cNvPr id="4" name="Rounded Rectangle 50">
              <a:extLst>
                <a:ext uri="{FF2B5EF4-FFF2-40B4-BE49-F238E27FC236}">
                  <a16:creationId xmlns:a16="http://schemas.microsoft.com/office/drawing/2014/main" id="{81DB3FA7-9C7D-8B6E-A7D3-464012F3EF5D}"/>
                </a:ext>
              </a:extLst>
            </p:cNvPr>
            <p:cNvSpPr/>
            <p:nvPr/>
          </p:nvSpPr>
          <p:spPr>
            <a:xfrm>
              <a:off x="1929347" y="2705818"/>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Windy</a:t>
              </a:r>
            </a:p>
          </p:txBody>
        </p:sp>
        <p:cxnSp>
          <p:nvCxnSpPr>
            <p:cNvPr id="5" name="Straight Connector 51">
              <a:extLst>
                <a:ext uri="{FF2B5EF4-FFF2-40B4-BE49-F238E27FC236}">
                  <a16:creationId xmlns:a16="http://schemas.microsoft.com/office/drawing/2014/main" id="{EED05139-C92C-1A7A-86D1-168C82FEF104}"/>
                </a:ext>
              </a:extLst>
            </p:cNvPr>
            <p:cNvCxnSpPr/>
            <p:nvPr/>
          </p:nvCxnSpPr>
          <p:spPr>
            <a:xfrm>
              <a:off x="2671954" y="3244337"/>
              <a:ext cx="860991"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2">
              <a:extLst>
                <a:ext uri="{FF2B5EF4-FFF2-40B4-BE49-F238E27FC236}">
                  <a16:creationId xmlns:a16="http://schemas.microsoft.com/office/drawing/2014/main" id="{E6484C6D-9989-7376-8751-C61562C1D8E0}"/>
                </a:ext>
              </a:extLst>
            </p:cNvPr>
            <p:cNvCxnSpPr/>
            <p:nvPr/>
          </p:nvCxnSpPr>
          <p:spPr>
            <a:xfrm flipH="1">
              <a:off x="1696661" y="3244337"/>
              <a:ext cx="975293"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a16="http://schemas.microsoft.com/office/drawing/2014/main" id="{5F3EB7D9-09DD-A1E9-9396-70A14E83F25B}"/>
                </a:ext>
              </a:extLst>
            </p:cNvPr>
            <p:cNvSpPr txBox="1"/>
            <p:nvPr/>
          </p:nvSpPr>
          <p:spPr>
            <a:xfrm>
              <a:off x="1296442" y="3375398"/>
              <a:ext cx="1238250" cy="307777"/>
            </a:xfrm>
            <a:prstGeom prst="rect">
              <a:avLst/>
            </a:prstGeom>
            <a:noFill/>
          </p:spPr>
          <p:txBody>
            <a:bodyPr wrap="square" rtlCol="0">
              <a:spAutoFit/>
            </a:bodyPr>
            <a:lstStyle/>
            <a:p>
              <a:pPr algn="ctr"/>
              <a:r>
                <a:rPr lang="pt-BR" sz="1400" dirty="0"/>
                <a:t>true</a:t>
              </a:r>
            </a:p>
          </p:txBody>
        </p:sp>
        <p:sp>
          <p:nvSpPr>
            <p:cNvPr id="8" name="TextBox 54">
              <a:extLst>
                <a:ext uri="{FF2B5EF4-FFF2-40B4-BE49-F238E27FC236}">
                  <a16:creationId xmlns:a16="http://schemas.microsoft.com/office/drawing/2014/main" id="{008D162F-E0B3-6443-F0FF-8CF152A04266}"/>
                </a:ext>
              </a:extLst>
            </p:cNvPr>
            <p:cNvSpPr txBox="1"/>
            <p:nvPr/>
          </p:nvSpPr>
          <p:spPr>
            <a:xfrm>
              <a:off x="2851572" y="3375397"/>
              <a:ext cx="1238250" cy="307777"/>
            </a:xfrm>
            <a:prstGeom prst="rect">
              <a:avLst/>
            </a:prstGeom>
            <a:noFill/>
          </p:spPr>
          <p:txBody>
            <a:bodyPr wrap="square" rtlCol="0">
              <a:spAutoFit/>
            </a:bodyPr>
            <a:lstStyle/>
            <a:p>
              <a:pPr algn="ctr"/>
              <a:r>
                <a:rPr lang="pt-BR" sz="1400" dirty="0"/>
                <a:t>false</a:t>
              </a:r>
            </a:p>
          </p:txBody>
        </p:sp>
        <p:sp>
          <p:nvSpPr>
            <p:cNvPr id="9" name="TextBox 31">
              <a:extLst>
                <a:ext uri="{FF2B5EF4-FFF2-40B4-BE49-F238E27FC236}">
                  <a16:creationId xmlns:a16="http://schemas.microsoft.com/office/drawing/2014/main" id="{AF236FBC-7A52-066F-23DD-B9EFA5CE8040}"/>
                </a:ext>
              </a:extLst>
            </p:cNvPr>
            <p:cNvSpPr txBox="1"/>
            <p:nvPr/>
          </p:nvSpPr>
          <p:spPr>
            <a:xfrm>
              <a:off x="2916745" y="3785332"/>
              <a:ext cx="1238250" cy="369332"/>
            </a:xfrm>
            <a:prstGeom prst="rect">
              <a:avLst/>
            </a:prstGeom>
            <a:noFill/>
            <a:ln w="6350">
              <a:solidFill>
                <a:schemeClr val="tx1"/>
              </a:solidFill>
              <a:prstDash val="dash"/>
            </a:ln>
          </p:spPr>
          <p:txBody>
            <a:bodyPr wrap="square" rtlCol="0">
              <a:spAutoFit/>
            </a:bodyPr>
            <a:lstStyle/>
            <a:p>
              <a:pPr algn="ctr"/>
              <a:r>
                <a:rPr lang="pt-BR" dirty="0"/>
                <a:t>Positive (P)</a:t>
              </a:r>
            </a:p>
          </p:txBody>
        </p:sp>
        <p:sp>
          <p:nvSpPr>
            <p:cNvPr id="10" name="TextBox 32">
              <a:extLst>
                <a:ext uri="{FF2B5EF4-FFF2-40B4-BE49-F238E27FC236}">
                  <a16:creationId xmlns:a16="http://schemas.microsoft.com/office/drawing/2014/main" id="{9B40AA10-BB11-EC15-AE08-727512A12C23}"/>
                </a:ext>
              </a:extLst>
            </p:cNvPr>
            <p:cNvSpPr txBox="1"/>
            <p:nvPr/>
          </p:nvSpPr>
          <p:spPr>
            <a:xfrm>
              <a:off x="998817" y="3785332"/>
              <a:ext cx="1401537"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Negative (N)</a:t>
              </a:r>
            </a:p>
          </p:txBody>
        </p:sp>
      </p:grpSp>
    </p:spTree>
    <p:extLst>
      <p:ext uri="{BB962C8B-B14F-4D97-AF65-F5344CB8AC3E}">
        <p14:creationId xmlns:p14="http://schemas.microsoft.com/office/powerpoint/2010/main" val="2905476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processo de indução de uma árvore de decisão</a:t>
            </a:r>
          </a:p>
        </p:txBody>
      </p:sp>
      <p:sp>
        <p:nvSpPr>
          <p:cNvPr id="3" name="Content Placeholder 2"/>
          <p:cNvSpPr>
            <a:spLocks noGrp="1"/>
          </p:cNvSpPr>
          <p:nvPr>
            <p:ph idx="1"/>
          </p:nvPr>
        </p:nvSpPr>
        <p:spPr>
          <a:xfrm>
            <a:off x="5029200" y="1825624"/>
            <a:ext cx="7020692" cy="5032376"/>
          </a:xfrm>
        </p:spPr>
        <p:txBody>
          <a:bodyPr>
            <a:normAutofit/>
          </a:bodyPr>
          <a:lstStyle/>
          <a:p>
            <a:r>
              <a:rPr lang="pt-BR" dirty="0"/>
              <a:t>Então, tudo o que precisamos é uma medida formal de </a:t>
            </a:r>
            <a:r>
              <a:rPr lang="pt-BR" b="1" dirty="0">
                <a:solidFill>
                  <a:srgbClr val="00B050"/>
                </a:solidFill>
              </a:rPr>
              <a:t>atributo razoavelmente bom </a:t>
            </a:r>
            <a:r>
              <a:rPr lang="pt-BR" dirty="0"/>
              <a:t>ou </a:t>
            </a:r>
            <a:r>
              <a:rPr lang="pt-BR" b="1" dirty="0">
                <a:solidFill>
                  <a:srgbClr val="00B050"/>
                </a:solidFill>
              </a:rPr>
              <a:t>realmente inútil</a:t>
            </a:r>
            <a:r>
              <a:rPr lang="pt-BR" dirty="0"/>
              <a:t>.</a:t>
            </a:r>
          </a:p>
          <a:p>
            <a:r>
              <a:rPr lang="pt-BR" dirty="0"/>
              <a:t>O </a:t>
            </a:r>
            <a:r>
              <a:rPr lang="pt-BR" b="1" dirty="0"/>
              <a:t>método ID3</a:t>
            </a:r>
            <a:r>
              <a:rPr lang="pt-BR" dirty="0"/>
              <a:t> utiliza a noção de </a:t>
            </a:r>
            <a:r>
              <a:rPr lang="pt-BR" b="1" dirty="0">
                <a:solidFill>
                  <a:schemeClr val="accent2"/>
                </a:solidFill>
              </a:rPr>
              <a:t>ganho de informação</a:t>
            </a:r>
            <a:r>
              <a:rPr lang="pt-BR" dirty="0"/>
              <a:t>, o qual é </a:t>
            </a:r>
            <a:r>
              <a:rPr lang="pt-BR" b="1" dirty="0">
                <a:solidFill>
                  <a:srgbClr val="7030A0"/>
                </a:solidFill>
              </a:rPr>
              <a:t>definido em termos da entropia</a:t>
            </a:r>
            <a:r>
              <a:rPr lang="pt-BR" dirty="0"/>
              <a:t>, que é uma quantidade fundamental em </a:t>
            </a:r>
            <a:r>
              <a:rPr lang="pt-BR" b="1" dirty="0"/>
              <a:t>teoria da informação</a:t>
            </a:r>
            <a:r>
              <a:rPr lang="pt-BR" dirty="0"/>
              <a:t>.</a:t>
            </a:r>
          </a:p>
          <a:p>
            <a:r>
              <a:rPr lang="pt-BR" dirty="0"/>
              <a:t>A seguir, veremos alguns conceitos úteis para que possamos usar o </a:t>
            </a:r>
            <a:r>
              <a:rPr lang="pt-BR" b="1" dirty="0"/>
              <a:t>método ID3</a:t>
            </a:r>
            <a:r>
              <a:rPr lang="pt-BR" dirty="0"/>
              <a:t> para inferir árvores de decisão.</a:t>
            </a:r>
          </a:p>
          <a:p>
            <a:endParaRPr lang="pt-BR" dirty="0"/>
          </a:p>
        </p:txBody>
      </p:sp>
      <p:grpSp>
        <p:nvGrpSpPr>
          <p:cNvPr id="11" name="Agrupar 10">
            <a:extLst>
              <a:ext uri="{FF2B5EF4-FFF2-40B4-BE49-F238E27FC236}">
                <a16:creationId xmlns:a16="http://schemas.microsoft.com/office/drawing/2014/main" id="{B24794E0-2EBD-A561-9FAC-0BBDFC72CA24}"/>
              </a:ext>
            </a:extLst>
          </p:cNvPr>
          <p:cNvGrpSpPr/>
          <p:nvPr/>
        </p:nvGrpSpPr>
        <p:grpSpPr>
          <a:xfrm>
            <a:off x="998817" y="2705818"/>
            <a:ext cx="3156178" cy="1448846"/>
            <a:chOff x="998817" y="2705818"/>
            <a:chExt cx="3156178" cy="1448846"/>
          </a:xfrm>
        </p:grpSpPr>
        <p:sp>
          <p:nvSpPr>
            <p:cNvPr id="4" name="Rounded Rectangle 50">
              <a:extLst>
                <a:ext uri="{FF2B5EF4-FFF2-40B4-BE49-F238E27FC236}">
                  <a16:creationId xmlns:a16="http://schemas.microsoft.com/office/drawing/2014/main" id="{81DB3FA7-9C7D-8B6E-A7D3-464012F3EF5D}"/>
                </a:ext>
              </a:extLst>
            </p:cNvPr>
            <p:cNvSpPr/>
            <p:nvPr/>
          </p:nvSpPr>
          <p:spPr>
            <a:xfrm>
              <a:off x="1929347" y="2705818"/>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Windy</a:t>
              </a:r>
            </a:p>
          </p:txBody>
        </p:sp>
        <p:cxnSp>
          <p:nvCxnSpPr>
            <p:cNvPr id="5" name="Straight Connector 51">
              <a:extLst>
                <a:ext uri="{FF2B5EF4-FFF2-40B4-BE49-F238E27FC236}">
                  <a16:creationId xmlns:a16="http://schemas.microsoft.com/office/drawing/2014/main" id="{EED05139-C92C-1A7A-86D1-168C82FEF104}"/>
                </a:ext>
              </a:extLst>
            </p:cNvPr>
            <p:cNvCxnSpPr/>
            <p:nvPr/>
          </p:nvCxnSpPr>
          <p:spPr>
            <a:xfrm>
              <a:off x="2671954" y="3244337"/>
              <a:ext cx="860991"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2">
              <a:extLst>
                <a:ext uri="{FF2B5EF4-FFF2-40B4-BE49-F238E27FC236}">
                  <a16:creationId xmlns:a16="http://schemas.microsoft.com/office/drawing/2014/main" id="{E6484C6D-9989-7376-8751-C61562C1D8E0}"/>
                </a:ext>
              </a:extLst>
            </p:cNvPr>
            <p:cNvCxnSpPr/>
            <p:nvPr/>
          </p:nvCxnSpPr>
          <p:spPr>
            <a:xfrm flipH="1">
              <a:off x="1696661" y="3244337"/>
              <a:ext cx="975293"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a16="http://schemas.microsoft.com/office/drawing/2014/main" id="{5F3EB7D9-09DD-A1E9-9396-70A14E83F25B}"/>
                </a:ext>
              </a:extLst>
            </p:cNvPr>
            <p:cNvSpPr txBox="1"/>
            <p:nvPr/>
          </p:nvSpPr>
          <p:spPr>
            <a:xfrm>
              <a:off x="1296442" y="3375398"/>
              <a:ext cx="1238250" cy="307777"/>
            </a:xfrm>
            <a:prstGeom prst="rect">
              <a:avLst/>
            </a:prstGeom>
            <a:noFill/>
          </p:spPr>
          <p:txBody>
            <a:bodyPr wrap="square" rtlCol="0">
              <a:spAutoFit/>
            </a:bodyPr>
            <a:lstStyle/>
            <a:p>
              <a:pPr algn="ctr"/>
              <a:r>
                <a:rPr lang="pt-BR" sz="1400" dirty="0"/>
                <a:t>true</a:t>
              </a:r>
            </a:p>
          </p:txBody>
        </p:sp>
        <p:sp>
          <p:nvSpPr>
            <p:cNvPr id="8" name="TextBox 54">
              <a:extLst>
                <a:ext uri="{FF2B5EF4-FFF2-40B4-BE49-F238E27FC236}">
                  <a16:creationId xmlns:a16="http://schemas.microsoft.com/office/drawing/2014/main" id="{008D162F-E0B3-6443-F0FF-8CF152A04266}"/>
                </a:ext>
              </a:extLst>
            </p:cNvPr>
            <p:cNvSpPr txBox="1"/>
            <p:nvPr/>
          </p:nvSpPr>
          <p:spPr>
            <a:xfrm>
              <a:off x="2851572" y="3375397"/>
              <a:ext cx="1238250" cy="307777"/>
            </a:xfrm>
            <a:prstGeom prst="rect">
              <a:avLst/>
            </a:prstGeom>
            <a:noFill/>
          </p:spPr>
          <p:txBody>
            <a:bodyPr wrap="square" rtlCol="0">
              <a:spAutoFit/>
            </a:bodyPr>
            <a:lstStyle/>
            <a:p>
              <a:pPr algn="ctr"/>
              <a:r>
                <a:rPr lang="pt-BR" sz="1400" dirty="0"/>
                <a:t>false</a:t>
              </a:r>
            </a:p>
          </p:txBody>
        </p:sp>
        <p:sp>
          <p:nvSpPr>
            <p:cNvPr id="9" name="TextBox 31">
              <a:extLst>
                <a:ext uri="{FF2B5EF4-FFF2-40B4-BE49-F238E27FC236}">
                  <a16:creationId xmlns:a16="http://schemas.microsoft.com/office/drawing/2014/main" id="{AF236FBC-7A52-066F-23DD-B9EFA5CE8040}"/>
                </a:ext>
              </a:extLst>
            </p:cNvPr>
            <p:cNvSpPr txBox="1"/>
            <p:nvPr/>
          </p:nvSpPr>
          <p:spPr>
            <a:xfrm>
              <a:off x="2916745" y="3785332"/>
              <a:ext cx="1238250" cy="369332"/>
            </a:xfrm>
            <a:prstGeom prst="rect">
              <a:avLst/>
            </a:prstGeom>
            <a:noFill/>
            <a:ln w="6350">
              <a:solidFill>
                <a:schemeClr val="tx1"/>
              </a:solidFill>
              <a:prstDash val="dash"/>
            </a:ln>
          </p:spPr>
          <p:txBody>
            <a:bodyPr wrap="square" rtlCol="0">
              <a:spAutoFit/>
            </a:bodyPr>
            <a:lstStyle/>
            <a:p>
              <a:pPr algn="ctr"/>
              <a:r>
                <a:rPr lang="pt-BR" dirty="0"/>
                <a:t>Positive (P)</a:t>
              </a:r>
            </a:p>
          </p:txBody>
        </p:sp>
        <p:sp>
          <p:nvSpPr>
            <p:cNvPr id="10" name="TextBox 32">
              <a:extLst>
                <a:ext uri="{FF2B5EF4-FFF2-40B4-BE49-F238E27FC236}">
                  <a16:creationId xmlns:a16="http://schemas.microsoft.com/office/drawing/2014/main" id="{9B40AA10-BB11-EC15-AE08-727512A12C23}"/>
                </a:ext>
              </a:extLst>
            </p:cNvPr>
            <p:cNvSpPr txBox="1"/>
            <p:nvPr/>
          </p:nvSpPr>
          <p:spPr>
            <a:xfrm>
              <a:off x="998817" y="3785332"/>
              <a:ext cx="1401537"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Negative (N)</a:t>
              </a:r>
            </a:p>
          </p:txBody>
        </p:sp>
      </p:grpSp>
    </p:spTree>
    <p:extLst>
      <p:ext uri="{BB962C8B-B14F-4D97-AF65-F5344CB8AC3E}">
        <p14:creationId xmlns:p14="http://schemas.microsoft.com/office/powerpoint/2010/main" val="151553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Ganho de informação</a:t>
            </a:r>
          </a:p>
        </p:txBody>
      </p:sp>
      <p:sp>
        <p:nvSpPr>
          <p:cNvPr id="3" name="Content Placeholder 2"/>
          <p:cNvSpPr>
            <a:spLocks noGrp="1"/>
          </p:cNvSpPr>
          <p:nvPr>
            <p:ph idx="1"/>
          </p:nvPr>
        </p:nvSpPr>
        <p:spPr>
          <a:xfrm>
            <a:off x="5384800" y="1825624"/>
            <a:ext cx="6648704" cy="5032376"/>
          </a:xfrm>
        </p:spPr>
        <p:txBody>
          <a:bodyPr>
            <a:normAutofit/>
          </a:bodyPr>
          <a:lstStyle/>
          <a:p>
            <a:r>
              <a:rPr lang="pt-BR" dirty="0"/>
              <a:t>É uma </a:t>
            </a:r>
            <a:r>
              <a:rPr lang="pt-BR" b="1" dirty="0">
                <a:solidFill>
                  <a:srgbClr val="7030A0"/>
                </a:solidFill>
              </a:rPr>
              <a:t>propriedade estatística</a:t>
            </a:r>
            <a:r>
              <a:rPr lang="pt-BR" b="1" dirty="0"/>
              <a:t> </a:t>
            </a:r>
            <a:r>
              <a:rPr lang="pt-BR" dirty="0"/>
              <a:t>que </a:t>
            </a:r>
            <a:r>
              <a:rPr lang="pt-BR" b="1" dirty="0">
                <a:solidFill>
                  <a:schemeClr val="accent2"/>
                </a:solidFill>
              </a:rPr>
              <a:t>mede o quão bem um determinado atributo separa os exemplos</a:t>
            </a:r>
            <a:r>
              <a:rPr lang="pt-BR" dirty="0"/>
              <a:t> de treinamento de acordo com suas classes.</a:t>
            </a:r>
          </a:p>
          <a:p>
            <a:r>
              <a:rPr lang="pt-BR" dirty="0"/>
              <a:t>Portanto, construir uma </a:t>
            </a:r>
            <a:r>
              <a:rPr lang="pt-BR" b="1" dirty="0"/>
              <a:t>árvore de decisão </a:t>
            </a:r>
            <a:r>
              <a:rPr lang="pt-BR" dirty="0"/>
              <a:t>tem tudo a ver com encontrar, a cada ponto (i.e., a cada nó), um </a:t>
            </a:r>
            <a:r>
              <a:rPr lang="pt-BR" b="1" dirty="0"/>
              <a:t>atributo</a:t>
            </a:r>
            <a:r>
              <a:rPr lang="pt-BR" dirty="0"/>
              <a:t> que retorne o maior </a:t>
            </a:r>
            <a:r>
              <a:rPr lang="pt-BR" b="1" dirty="0"/>
              <a:t>ganho de informação</a:t>
            </a:r>
            <a:r>
              <a:rPr lang="pt-BR" dirty="0"/>
              <a:t>.</a:t>
            </a:r>
          </a:p>
        </p:txBody>
      </p:sp>
      <p:pic>
        <p:nvPicPr>
          <p:cNvPr id="2050" name="Picture 2" descr="Id3 sales learning algorithm">
            <a:extLst>
              <a:ext uri="{FF2B5EF4-FFF2-40B4-BE49-F238E27FC236}">
                <a16:creationId xmlns:a16="http://schemas.microsoft.com/office/drawing/2014/main" id="{4976D347-A280-ECB4-B0A9-D5EA6B3E03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4" t="5172" r="4491"/>
          <a:stretch/>
        </p:blipFill>
        <p:spPr bwMode="auto">
          <a:xfrm>
            <a:off x="384146" y="2397760"/>
            <a:ext cx="4462173" cy="3455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369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Entropia</a:t>
            </a:r>
          </a:p>
        </p:txBody>
      </p:sp>
      <p:sp>
        <p:nvSpPr>
          <p:cNvPr id="3" name="Content Placeholder 2"/>
          <p:cNvSpPr>
            <a:spLocks noGrp="1"/>
          </p:cNvSpPr>
          <p:nvPr>
            <p:ph idx="1"/>
          </p:nvPr>
        </p:nvSpPr>
        <p:spPr>
          <a:xfrm>
            <a:off x="5384800" y="1825624"/>
            <a:ext cx="6807200" cy="5032376"/>
          </a:xfrm>
        </p:spPr>
        <p:txBody>
          <a:bodyPr>
            <a:normAutofit/>
          </a:bodyPr>
          <a:lstStyle/>
          <a:p>
            <a:r>
              <a:rPr lang="pt-BR" dirty="0"/>
              <a:t>É uma medida da </a:t>
            </a:r>
            <a:r>
              <a:rPr lang="pt-BR" b="1" dirty="0">
                <a:solidFill>
                  <a:srgbClr val="00B050"/>
                </a:solidFill>
              </a:rPr>
              <a:t>quantidade de incerteza ou aleatoriedade</a:t>
            </a:r>
            <a:r>
              <a:rPr lang="pt-BR" dirty="0"/>
              <a:t> de uma variável aleatória (i.e., de um conjunto de dados).</a:t>
            </a:r>
          </a:p>
          <a:p>
            <a:r>
              <a:rPr lang="pt-BR" dirty="0"/>
              <a:t>Ela mede o quão “bagunçado” está o conjunto de dados.</a:t>
            </a:r>
          </a:p>
          <a:p>
            <a:pPr lvl="1">
              <a:buFont typeface="Wingdings" panose="05000000000000000000" pitchFamily="2" charset="2"/>
              <a:buChar char="§"/>
            </a:pPr>
            <a:r>
              <a:rPr lang="pt-BR" dirty="0"/>
              <a:t>Alta entropia → dados misturados </a:t>
            </a:r>
          </a:p>
          <a:p>
            <a:pPr lvl="1">
              <a:buFont typeface="Wingdings" panose="05000000000000000000" pitchFamily="2" charset="2"/>
              <a:buChar char="§"/>
            </a:pPr>
            <a:r>
              <a:rPr lang="pt-BR" dirty="0"/>
              <a:t>Baixa entropia → dados “puros” </a:t>
            </a:r>
          </a:p>
          <a:p>
            <a:pPr lvl="1">
              <a:buFont typeface="Wingdings" panose="05000000000000000000" pitchFamily="2" charset="2"/>
              <a:buChar char="§"/>
            </a:pPr>
            <a:r>
              <a:rPr lang="pt-BR" dirty="0"/>
              <a:t>Se todos são da mesma classe → entropia = 0</a:t>
            </a:r>
          </a:p>
        </p:txBody>
      </p:sp>
      <p:pic>
        <p:nvPicPr>
          <p:cNvPr id="2050" name="Picture 2" descr="Id3 sales learning algorithm">
            <a:extLst>
              <a:ext uri="{FF2B5EF4-FFF2-40B4-BE49-F238E27FC236}">
                <a16:creationId xmlns:a16="http://schemas.microsoft.com/office/drawing/2014/main" id="{4976D347-A280-ECB4-B0A9-D5EA6B3E03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4" t="5172" r="4491"/>
          <a:stretch/>
        </p:blipFill>
        <p:spPr bwMode="auto">
          <a:xfrm>
            <a:off x="384146" y="2397760"/>
            <a:ext cx="4462173" cy="3455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953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Entropia</a:t>
            </a:r>
          </a:p>
        </p:txBody>
      </p:sp>
      <p:sp>
        <p:nvSpPr>
          <p:cNvPr id="3" name="Content Placeholder 2"/>
          <p:cNvSpPr>
            <a:spLocks noGrp="1"/>
          </p:cNvSpPr>
          <p:nvPr>
            <p:ph idx="1"/>
          </p:nvPr>
        </p:nvSpPr>
        <p:spPr>
          <a:xfrm>
            <a:off x="5384800" y="1825624"/>
            <a:ext cx="6807200" cy="5032376"/>
          </a:xfrm>
        </p:spPr>
        <p:txBody>
          <a:bodyPr>
            <a:normAutofit/>
          </a:bodyPr>
          <a:lstStyle/>
          <a:p>
            <a:r>
              <a:rPr lang="pt-BR" dirty="0"/>
              <a:t>Portanto, </a:t>
            </a:r>
            <a:r>
              <a:rPr lang="pt-BR" b="1" dirty="0">
                <a:solidFill>
                  <a:schemeClr val="accent2"/>
                </a:solidFill>
              </a:rPr>
              <a:t>um ganho de informação </a:t>
            </a:r>
            <a:r>
              <a:rPr lang="pt-BR" dirty="0"/>
              <a:t>corresponde a uma </a:t>
            </a:r>
            <a:r>
              <a:rPr lang="pt-BR" b="1" dirty="0">
                <a:solidFill>
                  <a:schemeClr val="accent2"/>
                </a:solidFill>
              </a:rPr>
              <a:t>redução na entropia</a:t>
            </a:r>
            <a:r>
              <a:rPr lang="pt-BR" dirty="0"/>
              <a:t>.</a:t>
            </a:r>
          </a:p>
          <a:p>
            <a:r>
              <a:rPr lang="pt-BR" dirty="0"/>
              <a:t>Em outras palavras, ele mede o quanto um atributo reduz a incerteza (“bagunça”).</a:t>
            </a:r>
          </a:p>
          <a:p>
            <a:r>
              <a:rPr lang="pt-BR" dirty="0"/>
              <a:t>Quando </a:t>
            </a:r>
            <a:r>
              <a:rPr lang="pt-BR" b="1" dirty="0">
                <a:solidFill>
                  <a:srgbClr val="7030A0"/>
                </a:solidFill>
              </a:rPr>
              <a:t>ganhamos informação</a:t>
            </a:r>
            <a:r>
              <a:rPr lang="pt-BR" dirty="0"/>
              <a:t> sobre o conjunto, a </a:t>
            </a:r>
            <a:r>
              <a:rPr lang="pt-BR" b="1" dirty="0">
                <a:solidFill>
                  <a:srgbClr val="7030A0"/>
                </a:solidFill>
              </a:rPr>
              <a:t>incerteza diminui</a:t>
            </a:r>
            <a:r>
              <a:rPr lang="pt-BR" dirty="0"/>
              <a:t>.</a:t>
            </a:r>
          </a:p>
          <a:p>
            <a:r>
              <a:rPr lang="pt-BR" dirty="0"/>
              <a:t>O ganho mede o quanto conseguimos explicar do conjunto com aquele atributo.</a:t>
            </a:r>
          </a:p>
          <a:p>
            <a:endParaRPr lang="pt-BR" dirty="0"/>
          </a:p>
        </p:txBody>
      </p:sp>
      <p:pic>
        <p:nvPicPr>
          <p:cNvPr id="2050" name="Picture 2" descr="Id3 sales learning algorithm">
            <a:extLst>
              <a:ext uri="{FF2B5EF4-FFF2-40B4-BE49-F238E27FC236}">
                <a16:creationId xmlns:a16="http://schemas.microsoft.com/office/drawing/2014/main" id="{4976D347-A280-ECB4-B0A9-D5EA6B3E03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4" t="5172" r="4491"/>
          <a:stretch/>
        </p:blipFill>
        <p:spPr bwMode="auto">
          <a:xfrm>
            <a:off x="384146" y="2397760"/>
            <a:ext cx="4462173" cy="3455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626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Entropia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626864" y="1825624"/>
                <a:ext cx="7565136" cy="5032376"/>
              </a:xfrm>
            </p:spPr>
            <p:txBody>
              <a:bodyPr>
                <a:normAutofit/>
              </a:bodyPr>
              <a:lstStyle/>
              <a:p>
                <a:r>
                  <a:rPr lang="pt-BR" dirty="0"/>
                  <a:t>O </a:t>
                </a:r>
                <a:r>
                  <a:rPr lang="pt-BR" b="1" dirty="0">
                    <a:solidFill>
                      <a:schemeClr val="accent2"/>
                    </a:solidFill>
                  </a:rPr>
                  <a:t>ganho de informação</a:t>
                </a:r>
                <a:r>
                  <a:rPr lang="pt-BR" dirty="0"/>
                  <a:t> dá a </a:t>
                </a:r>
                <a:r>
                  <a:rPr lang="pt-BR" b="1" dirty="0">
                    <a:solidFill>
                      <a:srgbClr val="00B050"/>
                    </a:solidFill>
                  </a:rPr>
                  <a:t>diferença entre a entropia antes e depois da divisão do conjunto de dados</a:t>
                </a:r>
                <a:r>
                  <a:rPr lang="pt-BR" dirty="0"/>
                  <a:t> com base nos valores de um determinado atributo.</a:t>
                </a:r>
                <a:r>
                  <a:rPr lang="pt-BR" baseline="0" dirty="0"/>
                  <a:t> </a:t>
                </a:r>
              </a:p>
              <a:p>
                <a:r>
                  <a:rPr lang="pt-BR" baseline="0" dirty="0"/>
                  <a:t>Assim, podemos escrever que o </a:t>
                </a:r>
                <a:r>
                  <a:rPr lang="pt-BR" b="1" baseline="0" dirty="0">
                    <a:solidFill>
                      <a:schemeClr val="accent2"/>
                    </a:solidFill>
                  </a:rPr>
                  <a:t>ganho de informação</a:t>
                </a:r>
                <a:r>
                  <a:rPr lang="pt-BR" baseline="0" dirty="0"/>
                  <a:t> é dado por</a:t>
                </a:r>
              </a:p>
              <a:p>
                <a:pPr marL="0" indent="0">
                  <a:buNone/>
                </a:pPr>
                <a:endParaRPr lang="pt-BR" sz="600" dirty="0"/>
              </a:p>
              <a:p>
                <a:pPr marL="0" indent="0" algn="ctr">
                  <a:buNone/>
                </a:pPr>
                <a14:m>
                  <m:oMathPara xmlns:m="http://schemas.openxmlformats.org/officeDocument/2006/math">
                    <m:oMathParaPr>
                      <m:jc m:val="center"/>
                    </m:oMathParaPr>
                    <m:oMath xmlns:m="http://schemas.openxmlformats.org/officeDocument/2006/math">
                      <m:r>
                        <m:rPr>
                          <m:sty m:val="p"/>
                        </m:rPr>
                        <a:rPr lang="pt-BR" sz="2300" i="0">
                          <a:latin typeface="Cambria Math" panose="02040503050406030204" pitchFamily="18" charset="0"/>
                        </a:rPr>
                        <m:t>Gain</m:t>
                      </m:r>
                      <m:r>
                        <a:rPr lang="pt-BR" sz="2300" i="0">
                          <a:latin typeface="Cambria Math" panose="02040503050406030204" pitchFamily="18" charset="0"/>
                        </a:rPr>
                        <m:t>=</m:t>
                      </m:r>
                      <m:r>
                        <m:rPr>
                          <m:sty m:val="p"/>
                        </m:rPr>
                        <a:rPr lang="pt-BR" sz="2300" i="0">
                          <a:latin typeface="Cambria Math" panose="02040503050406030204" pitchFamily="18" charset="0"/>
                        </a:rPr>
                        <m:t>entropiaAntesDaDivis</m:t>
                      </m:r>
                      <m:r>
                        <a:rPr lang="pt-BR" sz="2300" i="0">
                          <a:latin typeface="Cambria Math" panose="02040503050406030204" pitchFamily="18" charset="0"/>
                        </a:rPr>
                        <m:t>ã</m:t>
                      </m:r>
                      <m:r>
                        <m:rPr>
                          <m:sty m:val="p"/>
                        </m:rPr>
                        <a:rPr lang="pt-BR" sz="2300" i="0">
                          <a:latin typeface="Cambria Math" panose="02040503050406030204" pitchFamily="18" charset="0"/>
                        </a:rPr>
                        <m:t>o</m:t>
                      </m:r>
                      <m:r>
                        <a:rPr lang="pt-BR" sz="2300" i="0">
                          <a:latin typeface="Cambria Math" panose="02040503050406030204" pitchFamily="18" charset="0"/>
                        </a:rPr>
                        <m:t> −</m:t>
                      </m:r>
                      <m:r>
                        <m:rPr>
                          <m:sty m:val="p"/>
                        </m:rPr>
                        <a:rPr lang="pt-BR" sz="2300" i="0">
                          <a:latin typeface="Cambria Math" panose="02040503050406030204" pitchFamily="18" charset="0"/>
                        </a:rPr>
                        <m:t>entropiaAp</m:t>
                      </m:r>
                      <m:r>
                        <a:rPr lang="pt-BR" sz="2300" b="0" i="0" smtClean="0">
                          <a:latin typeface="Cambria Math" panose="02040503050406030204" pitchFamily="18" charset="0"/>
                        </a:rPr>
                        <m:t>ó</m:t>
                      </m:r>
                      <m:r>
                        <m:rPr>
                          <m:sty m:val="p"/>
                        </m:rPr>
                        <a:rPr lang="pt-BR" sz="2300" b="0" i="0" smtClean="0">
                          <a:latin typeface="Cambria Math" panose="02040503050406030204" pitchFamily="18" charset="0"/>
                        </a:rPr>
                        <m:t>sADivis</m:t>
                      </m:r>
                      <m:r>
                        <a:rPr lang="pt-BR" sz="2300" i="0">
                          <a:latin typeface="Cambria Math" panose="02040503050406030204" pitchFamily="18" charset="0"/>
                        </a:rPr>
                        <m:t>ã</m:t>
                      </m:r>
                      <m:r>
                        <m:rPr>
                          <m:sty m:val="p"/>
                        </m:rPr>
                        <a:rPr lang="pt-BR" sz="2300" i="0">
                          <a:latin typeface="Cambria Math" panose="02040503050406030204" pitchFamily="18" charset="0"/>
                        </a:rPr>
                        <m:t>o</m:t>
                      </m:r>
                    </m:oMath>
                  </m:oMathPara>
                </a14:m>
                <a:endParaRPr lang="pt-BR" sz="2300" dirty="0"/>
              </a:p>
              <a:p>
                <a:pPr marL="0" indent="0">
                  <a:buNone/>
                </a:pPr>
                <a:endParaRPr lang="pt-BR" sz="600" dirty="0"/>
              </a:p>
              <a:p>
                <a:r>
                  <a:rPr lang="pt-BR" dirty="0"/>
                  <a:t>Vejamos como a entropia é calculada.</a:t>
                </a:r>
                <a:endParaRPr lang="pt-BR" sz="23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626864" y="1825624"/>
                <a:ext cx="7565136" cy="5032376"/>
              </a:xfrm>
              <a:blipFill rotWithShape="0">
                <a:blip r:embed="rId3"/>
                <a:stretch>
                  <a:fillRect l="-1450" t="-1937"/>
                </a:stretch>
              </a:blipFill>
            </p:spPr>
            <p:txBody>
              <a:bodyPr/>
              <a:lstStyle/>
              <a:p>
                <a:r>
                  <a:rPr lang="pt-BR">
                    <a:noFill/>
                  </a:rPr>
                  <a:t> </a:t>
                </a:r>
              </a:p>
            </p:txBody>
          </p:sp>
        </mc:Fallback>
      </mc:AlternateContent>
      <p:pic>
        <p:nvPicPr>
          <p:cNvPr id="5" name="Picture 2" descr="Id3 sales learning algorithm">
            <a:extLst>
              <a:ext uri="{FF2B5EF4-FFF2-40B4-BE49-F238E27FC236}">
                <a16:creationId xmlns:a16="http://schemas.microsoft.com/office/drawing/2014/main" id="{4976D347-A280-ECB4-B0A9-D5EA6B3E031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654" t="5172" r="4491"/>
          <a:stretch/>
        </p:blipFill>
        <p:spPr bwMode="auto">
          <a:xfrm>
            <a:off x="384146" y="2487168"/>
            <a:ext cx="3945181" cy="3054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156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 de entropia</a:t>
            </a:r>
          </a:p>
        </p:txBody>
      </p:sp>
      <p:sp>
        <p:nvSpPr>
          <p:cNvPr id="3" name="Content Placeholder 2"/>
          <p:cNvSpPr>
            <a:spLocks noGrp="1"/>
          </p:cNvSpPr>
          <p:nvPr>
            <p:ph idx="1"/>
          </p:nvPr>
        </p:nvSpPr>
        <p:spPr>
          <a:xfrm>
            <a:off x="5384800" y="1825624"/>
            <a:ext cx="6807200" cy="5032376"/>
          </a:xfrm>
        </p:spPr>
        <p:txBody>
          <a:bodyPr>
            <a:normAutofit/>
          </a:bodyPr>
          <a:lstStyle/>
          <a:p>
            <a:r>
              <a:rPr lang="pt-BR" dirty="0"/>
              <a:t>Uma variável com apenas um único valor não tem nenhuma </a:t>
            </a:r>
            <a:r>
              <a:rPr lang="pt-BR" b="1" dirty="0"/>
              <a:t>incerteza</a:t>
            </a:r>
            <a:r>
              <a:rPr lang="pt-BR" dirty="0"/>
              <a:t> associada.</a:t>
            </a:r>
          </a:p>
          <a:p>
            <a:pPr lvl="1"/>
            <a:r>
              <a:rPr lang="pt-BR" dirty="0"/>
              <a:t>Por exemplo, o arremesso de uma moeda com </a:t>
            </a:r>
            <a:r>
              <a:rPr lang="pt-BR" b="1" dirty="0"/>
              <a:t>cara</a:t>
            </a:r>
            <a:r>
              <a:rPr lang="pt-BR" dirty="0"/>
              <a:t> em ambos os lados.</a:t>
            </a:r>
          </a:p>
          <a:p>
            <a:r>
              <a:rPr lang="pt-BR" dirty="0"/>
              <a:t>Portanto, sua </a:t>
            </a:r>
            <a:r>
              <a:rPr lang="pt-BR" b="1" dirty="0">
                <a:solidFill>
                  <a:srgbClr val="7030A0"/>
                </a:solidFill>
              </a:rPr>
              <a:t>entropia é igual a zero</a:t>
            </a:r>
            <a:r>
              <a:rPr lang="pt-BR" dirty="0"/>
              <a:t>. </a:t>
            </a:r>
          </a:p>
          <a:p>
            <a:r>
              <a:rPr lang="pt-BR" dirty="0"/>
              <a:t>Isso significa que </a:t>
            </a:r>
            <a:r>
              <a:rPr lang="pt-BR" b="1" dirty="0"/>
              <a:t>não se ganha nenhuma informação nova ao se observar o valor do arremesso</a:t>
            </a:r>
            <a:r>
              <a:rPr lang="pt-BR" dirty="0"/>
              <a:t>.</a:t>
            </a:r>
          </a:p>
          <a:p>
            <a:endParaRPr lang="pt-BR" dirty="0"/>
          </a:p>
        </p:txBody>
      </p:sp>
      <p:pic>
        <p:nvPicPr>
          <p:cNvPr id="2050" name="Picture 2" descr="Id3 sales learning algorithm">
            <a:extLst>
              <a:ext uri="{FF2B5EF4-FFF2-40B4-BE49-F238E27FC236}">
                <a16:creationId xmlns:a16="http://schemas.microsoft.com/office/drawing/2014/main" id="{4976D347-A280-ECB4-B0A9-D5EA6B3E03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4" t="5172" r="4491"/>
          <a:stretch/>
        </p:blipFill>
        <p:spPr bwMode="auto">
          <a:xfrm>
            <a:off x="384146" y="2397760"/>
            <a:ext cx="4462173" cy="3455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3265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 de entropia</a:t>
            </a:r>
          </a:p>
        </p:txBody>
      </p:sp>
      <p:sp>
        <p:nvSpPr>
          <p:cNvPr id="3" name="Content Placeholder 2"/>
          <p:cNvSpPr>
            <a:spLocks noGrp="1"/>
          </p:cNvSpPr>
          <p:nvPr>
            <p:ph idx="1"/>
          </p:nvPr>
        </p:nvSpPr>
        <p:spPr>
          <a:xfrm>
            <a:off x="5384800" y="1825624"/>
            <a:ext cx="6665092" cy="5032376"/>
          </a:xfrm>
        </p:spPr>
        <p:txBody>
          <a:bodyPr>
            <a:normAutofit/>
          </a:bodyPr>
          <a:lstStyle/>
          <a:p>
            <a:r>
              <a:rPr lang="pt-BR" dirty="0"/>
              <a:t>Por outro lado, o resultado de se arremessar uma </a:t>
            </a:r>
            <a:r>
              <a:rPr lang="pt-BR" b="1" dirty="0"/>
              <a:t>moeda honesta </a:t>
            </a:r>
            <a:r>
              <a:rPr lang="pt-BR" dirty="0"/>
              <a:t>é igualmente provável de resultar em </a:t>
            </a:r>
            <a:r>
              <a:rPr lang="pt-BR" b="1" dirty="0"/>
              <a:t>cara</a:t>
            </a:r>
            <a:r>
              <a:rPr lang="pt-BR" dirty="0"/>
              <a:t> ou </a:t>
            </a:r>
            <a:r>
              <a:rPr lang="pt-BR" b="1" dirty="0"/>
              <a:t>coroa</a:t>
            </a:r>
            <a:r>
              <a:rPr lang="pt-BR" dirty="0"/>
              <a:t>, os quais são associados aos valores 0 ou 1, respectivamente. </a:t>
            </a:r>
          </a:p>
          <a:p>
            <a:r>
              <a:rPr lang="pt-BR" dirty="0"/>
              <a:t>Neste caso, esta variável tem</a:t>
            </a:r>
            <a:r>
              <a:rPr lang="pt-BR" b="1" dirty="0"/>
              <a:t> 1 bit de entropia</a:t>
            </a:r>
            <a:r>
              <a:rPr lang="pt-BR" dirty="0"/>
              <a:t>, significando que se necessita de 1 bit para representar os 2 possíveis resultados.</a:t>
            </a:r>
          </a:p>
        </p:txBody>
      </p:sp>
      <p:pic>
        <p:nvPicPr>
          <p:cNvPr id="2050" name="Picture 2" descr="Id3 sales learning algorithm">
            <a:extLst>
              <a:ext uri="{FF2B5EF4-FFF2-40B4-BE49-F238E27FC236}">
                <a16:creationId xmlns:a16="http://schemas.microsoft.com/office/drawing/2014/main" id="{4976D347-A280-ECB4-B0A9-D5EA6B3E03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4" t="5172" r="4491"/>
          <a:stretch/>
        </p:blipFill>
        <p:spPr bwMode="auto">
          <a:xfrm>
            <a:off x="384146" y="2397760"/>
            <a:ext cx="4462173" cy="3455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739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 de entropia</a:t>
            </a:r>
          </a:p>
        </p:txBody>
      </p:sp>
      <p:sp>
        <p:nvSpPr>
          <p:cNvPr id="3" name="Content Placeholder 2"/>
          <p:cNvSpPr>
            <a:spLocks noGrp="1"/>
          </p:cNvSpPr>
          <p:nvPr>
            <p:ph idx="1"/>
          </p:nvPr>
        </p:nvSpPr>
        <p:spPr>
          <a:xfrm>
            <a:off x="5384800" y="1825624"/>
            <a:ext cx="6665092" cy="5032376"/>
          </a:xfrm>
        </p:spPr>
        <p:txBody>
          <a:bodyPr>
            <a:normAutofit/>
          </a:bodyPr>
          <a:lstStyle/>
          <a:p>
            <a:r>
              <a:rPr lang="pt-BR" dirty="0"/>
              <a:t>Dessa forma, a variável aleatória que representa o resultado de se rolar um </a:t>
            </a:r>
            <a:r>
              <a:rPr lang="pt-BR" b="1" dirty="0">
                <a:solidFill>
                  <a:srgbClr val="7030A0"/>
                </a:solidFill>
              </a:rPr>
              <a:t>dado honesto de 4 lados</a:t>
            </a:r>
            <a:r>
              <a:rPr lang="pt-BR" dirty="0"/>
              <a:t>, </a:t>
            </a:r>
            <a:r>
              <a:rPr lang="pt-BR" b="1" dirty="0">
                <a:solidFill>
                  <a:srgbClr val="7030A0"/>
                </a:solidFill>
              </a:rPr>
              <a:t>tem 2 bits de entropia</a:t>
            </a:r>
            <a:r>
              <a:rPr lang="pt-BR" dirty="0"/>
              <a:t>, pois necessita-se de 2 bits para se representar os 4 possíveis valores.</a:t>
            </a:r>
          </a:p>
          <a:p>
            <a:r>
              <a:rPr lang="pt-BR" dirty="0"/>
              <a:t>Agora imaginem um </a:t>
            </a:r>
            <a:r>
              <a:rPr lang="pt-BR" b="1" dirty="0">
                <a:solidFill>
                  <a:schemeClr val="accent2"/>
                </a:solidFill>
              </a:rPr>
              <a:t>moeda desonesta </a:t>
            </a:r>
            <a:r>
              <a:rPr lang="pt-BR" dirty="0"/>
              <a:t>que tenha uma probabilidade de resultar em </a:t>
            </a:r>
            <a:r>
              <a:rPr lang="pt-BR" b="1" dirty="0"/>
              <a:t>cara</a:t>
            </a:r>
            <a:r>
              <a:rPr lang="pt-BR" dirty="0"/>
              <a:t> em 99% dos arremessos. </a:t>
            </a:r>
          </a:p>
          <a:p>
            <a:r>
              <a:rPr lang="pt-BR" dirty="0"/>
              <a:t>Nesse caso, a </a:t>
            </a:r>
            <a:r>
              <a:rPr lang="pt-BR" b="1" dirty="0">
                <a:solidFill>
                  <a:srgbClr val="00B050"/>
                </a:solidFill>
              </a:rPr>
              <a:t>entropia</a:t>
            </a:r>
            <a:r>
              <a:rPr lang="pt-BR" dirty="0"/>
              <a:t> deve ser um </a:t>
            </a:r>
            <a:r>
              <a:rPr lang="pt-BR" b="1" dirty="0">
                <a:solidFill>
                  <a:srgbClr val="00B050"/>
                </a:solidFill>
              </a:rPr>
              <a:t>valor positivo muito próximo de zero</a:t>
            </a:r>
            <a:r>
              <a:rPr lang="pt-BR" dirty="0"/>
              <a:t>, pois a incerteza do resultado é muito baixa.</a:t>
            </a:r>
          </a:p>
        </p:txBody>
      </p:sp>
      <p:pic>
        <p:nvPicPr>
          <p:cNvPr id="2050" name="Picture 2" descr="Id3 sales learning algorithm">
            <a:extLst>
              <a:ext uri="{FF2B5EF4-FFF2-40B4-BE49-F238E27FC236}">
                <a16:creationId xmlns:a16="http://schemas.microsoft.com/office/drawing/2014/main" id="{4976D347-A280-ECB4-B0A9-D5EA6B3E03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4" t="5172" r="4491"/>
          <a:stretch/>
        </p:blipFill>
        <p:spPr bwMode="auto">
          <a:xfrm>
            <a:off x="384146" y="2397760"/>
            <a:ext cx="4462173" cy="3455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282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Cálculo da entropia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384800" y="1825624"/>
                <a:ext cx="6807200" cy="5032376"/>
              </a:xfrm>
            </p:spPr>
            <p:txBody>
              <a:bodyPr>
                <a:normAutofit/>
              </a:bodyPr>
              <a:lstStyle/>
              <a:p>
                <a:r>
                  <a:rPr lang="pt-BR" dirty="0"/>
                  <a:t>Assim, a </a:t>
                </a:r>
                <a:r>
                  <a:rPr lang="pt-BR" b="1" dirty="0"/>
                  <a:t>entropia</a:t>
                </a:r>
                <a:r>
                  <a:rPr lang="pt-BR" dirty="0"/>
                  <a:t> de uma variável aleatória discreta, </a:t>
                </a:r>
                <a14:m>
                  <m:oMath xmlns:m="http://schemas.openxmlformats.org/officeDocument/2006/math">
                    <m:r>
                      <a:rPr lang="pt-BR" b="0" i="1" smtClean="0">
                        <a:latin typeface="Cambria Math" panose="02040503050406030204" pitchFamily="18" charset="0"/>
                      </a:rPr>
                      <m:t>𝑉</m:t>
                    </m:r>
                  </m:oMath>
                </a14:m>
                <a:r>
                  <a:rPr lang="pt-BR" dirty="0"/>
                  <a:t>, com valores </a:t>
                </a:r>
                <a14:m>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𝑣</m:t>
                        </m:r>
                      </m:e>
                      <m:sub>
                        <m:r>
                          <a:rPr lang="pt-BR" b="0" i="1" smtClean="0">
                            <a:latin typeface="Cambria Math" panose="02040503050406030204" pitchFamily="18" charset="0"/>
                          </a:rPr>
                          <m:t>𝑖</m:t>
                        </m:r>
                      </m:sub>
                    </m:sSub>
                  </m:oMath>
                </a14:m>
                <a:r>
                  <a:rPr lang="pt-BR" dirty="0"/>
                  <a:t>, onde cada um dos valores tem probabilidade </a:t>
                </a:r>
                <a14:m>
                  <m:oMath xmlns:m="http://schemas.openxmlformats.org/officeDocument/2006/math">
                    <m:r>
                      <a:rPr lang="pt-BR" b="0" i="1" smtClean="0">
                        <a:latin typeface="Cambria Math" panose="02040503050406030204" pitchFamily="18" charset="0"/>
                      </a:rPr>
                      <m:t>𝑃</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𝑣</m:t>
                        </m:r>
                      </m:e>
                      <m:sub>
                        <m:r>
                          <a:rPr lang="pt-BR" b="0" i="1" smtClean="0">
                            <a:latin typeface="Cambria Math" panose="02040503050406030204" pitchFamily="18" charset="0"/>
                          </a:rPr>
                          <m:t>𝑖</m:t>
                        </m:r>
                      </m:sub>
                    </m:sSub>
                    <m:r>
                      <a:rPr lang="pt-BR" b="0" i="1" smtClean="0">
                        <a:latin typeface="Cambria Math" panose="02040503050406030204" pitchFamily="18" charset="0"/>
                      </a:rPr>
                      <m:t>)</m:t>
                    </m:r>
                  </m:oMath>
                </a14:m>
                <a:r>
                  <a:rPr lang="pt-BR" dirty="0"/>
                  <a:t>, é definida como</a:t>
                </a:r>
              </a:p>
              <a:p>
                <a:pPr marL="0" indent="0" algn="ctr">
                  <a:buNone/>
                </a:pPr>
                <a14:m>
                  <m:oMath xmlns:m="http://schemas.openxmlformats.org/officeDocument/2006/math">
                    <m:r>
                      <a:rPr lang="pt-BR" b="0" i="1" smtClean="0">
                        <a:latin typeface="Cambria Math" panose="02040503050406030204" pitchFamily="18" charset="0"/>
                      </a:rPr>
                      <m:t>𝐻</m:t>
                    </m:r>
                    <m:d>
                      <m:dPr>
                        <m:ctrlPr>
                          <a:rPr lang="pt-BR" b="0" i="1" smtClean="0">
                            <a:latin typeface="Cambria Math" panose="02040503050406030204" pitchFamily="18" charset="0"/>
                          </a:rPr>
                        </m:ctrlPr>
                      </m:dPr>
                      <m:e>
                        <m:r>
                          <a:rPr lang="pt-BR" b="0" i="1" smtClean="0">
                            <a:latin typeface="Cambria Math" panose="02040503050406030204" pitchFamily="18" charset="0"/>
                          </a:rPr>
                          <m:t>𝑉</m:t>
                        </m:r>
                      </m:e>
                    </m:d>
                    <m:r>
                      <a:rPr lang="pt-BR" b="0" i="1" smtClean="0">
                        <a:latin typeface="Cambria Math" panose="02040503050406030204" pitchFamily="18" charset="0"/>
                      </a:rPr>
                      <m:t>=−</m:t>
                    </m:r>
                    <m:nary>
                      <m:naryPr>
                        <m:chr m:val="∑"/>
                        <m:supHide m:val="on"/>
                        <m:ctrlPr>
                          <a:rPr lang="pt-BR" b="0" i="1" smtClean="0">
                            <a:latin typeface="Cambria Math" panose="02040503050406030204" pitchFamily="18" charset="0"/>
                          </a:rPr>
                        </m:ctrlPr>
                      </m:naryPr>
                      <m:sub>
                        <m:r>
                          <m:rPr>
                            <m:brk m:alnAt="7"/>
                          </m:rPr>
                          <a:rPr lang="pt-BR" b="0" i="1" smtClean="0">
                            <a:latin typeface="Cambria Math" panose="02040503050406030204" pitchFamily="18" charset="0"/>
                          </a:rPr>
                          <m:t>𝑖</m:t>
                        </m:r>
                      </m:sub>
                      <m:sup/>
                      <m:e>
                        <m:r>
                          <a:rPr lang="pt-BR" i="1">
                            <a:latin typeface="Cambria Math" panose="02040503050406030204" pitchFamily="18" charset="0"/>
                          </a:rPr>
                          <m:t>𝑃</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𝑣</m:t>
                            </m:r>
                          </m:e>
                          <m:sub>
                            <m:r>
                              <a:rPr lang="pt-BR" i="1">
                                <a:latin typeface="Cambria Math" panose="02040503050406030204" pitchFamily="18" charset="0"/>
                              </a:rPr>
                              <m:t>𝑖</m:t>
                            </m:r>
                          </m:sub>
                        </m:sSub>
                        <m:r>
                          <a:rPr lang="pt-BR" i="1">
                            <a:latin typeface="Cambria Math" panose="02040503050406030204" pitchFamily="18" charset="0"/>
                          </a:rPr>
                          <m:t>)</m:t>
                        </m:r>
                        <m:func>
                          <m:funcPr>
                            <m:ctrlPr>
                              <a:rPr lang="pt-BR" i="1" smtClean="0">
                                <a:latin typeface="Cambria Math" panose="02040503050406030204" pitchFamily="18" charset="0"/>
                              </a:rPr>
                            </m:ctrlPr>
                          </m:funcPr>
                          <m:fName>
                            <m:sSub>
                              <m:sSubPr>
                                <m:ctrlPr>
                                  <a:rPr lang="pt-BR" i="1" smtClean="0">
                                    <a:latin typeface="Cambria Math" panose="02040503050406030204" pitchFamily="18" charset="0"/>
                                  </a:rPr>
                                </m:ctrlPr>
                              </m:sSubPr>
                              <m:e>
                                <m:r>
                                  <m:rPr>
                                    <m:sty m:val="p"/>
                                  </m:rPr>
                                  <a:rPr lang="pt-BR" i="0" smtClean="0">
                                    <a:latin typeface="Cambria Math" panose="02040503050406030204" pitchFamily="18" charset="0"/>
                                  </a:rPr>
                                  <m:t>log</m:t>
                                </m:r>
                              </m:e>
                              <m:sub>
                                <m:r>
                                  <a:rPr lang="pt-BR" b="0" i="1" smtClean="0">
                                    <a:latin typeface="Cambria Math" panose="02040503050406030204" pitchFamily="18" charset="0"/>
                                  </a:rPr>
                                  <m:t>2</m:t>
                                </m:r>
                              </m:sub>
                            </m:sSub>
                          </m:fName>
                          <m:e>
                            <m:d>
                              <m:dPr>
                                <m:ctrlPr>
                                  <a:rPr lang="pt-BR" i="1" smtClean="0">
                                    <a:latin typeface="Cambria Math" panose="02040503050406030204" pitchFamily="18" charset="0"/>
                                  </a:rPr>
                                </m:ctrlPr>
                              </m:dPr>
                              <m:e>
                                <m:r>
                                  <a:rPr lang="pt-BR" i="1">
                                    <a:latin typeface="Cambria Math" panose="02040503050406030204" pitchFamily="18" charset="0"/>
                                  </a:rPr>
                                  <m:t>𝑃</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𝑣</m:t>
                                    </m:r>
                                  </m:e>
                                  <m:sub>
                                    <m:r>
                                      <a:rPr lang="pt-BR" i="1">
                                        <a:latin typeface="Cambria Math" panose="02040503050406030204" pitchFamily="18" charset="0"/>
                                      </a:rPr>
                                      <m:t>𝑖</m:t>
                                    </m:r>
                                  </m:sub>
                                </m:sSub>
                                <m:r>
                                  <a:rPr lang="pt-BR" i="1">
                                    <a:latin typeface="Cambria Math" panose="02040503050406030204" pitchFamily="18" charset="0"/>
                                  </a:rPr>
                                  <m:t>)</m:t>
                                </m:r>
                              </m:e>
                            </m:d>
                          </m:e>
                        </m:func>
                      </m:e>
                    </m:nary>
                  </m:oMath>
                </a14:m>
                <a:r>
                  <a:rPr lang="pt-BR" dirty="0"/>
                  <a:t>.</a:t>
                </a:r>
              </a:p>
              <a:p>
                <a:r>
                  <a:rPr lang="pt-BR" dirty="0"/>
                  <a:t>Agora retornamos ao problema da indução de </a:t>
                </a:r>
                <a:r>
                  <a:rPr lang="pt-BR" b="1" dirty="0"/>
                  <a:t>árvores de decisão.</a:t>
                </a:r>
                <a:endParaRPr lang="pt-B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384800" y="1825624"/>
                <a:ext cx="6807200" cy="5032376"/>
              </a:xfrm>
              <a:blipFill>
                <a:blip r:embed="rId3"/>
                <a:stretch>
                  <a:fillRect l="-1611" t="-1937" r="-716"/>
                </a:stretch>
              </a:blipFill>
            </p:spPr>
            <p:txBody>
              <a:bodyPr/>
              <a:lstStyle/>
              <a:p>
                <a:r>
                  <a:rPr lang="en-US">
                    <a:noFill/>
                  </a:rPr>
                  <a:t> </a:t>
                </a:r>
              </a:p>
            </p:txBody>
          </p:sp>
        </mc:Fallback>
      </mc:AlternateContent>
      <p:pic>
        <p:nvPicPr>
          <p:cNvPr id="2050" name="Picture 2" descr="Id3 sales learning algorithm">
            <a:extLst>
              <a:ext uri="{FF2B5EF4-FFF2-40B4-BE49-F238E27FC236}">
                <a16:creationId xmlns:a16="http://schemas.microsoft.com/office/drawing/2014/main" id="{4976D347-A280-ECB4-B0A9-D5EA6B3E031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654" t="5172" r="4491"/>
          <a:stretch/>
        </p:blipFill>
        <p:spPr bwMode="auto">
          <a:xfrm>
            <a:off x="384146" y="2397760"/>
            <a:ext cx="4462173" cy="3455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386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Indução de uma árvore de decisão</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199" y="1825624"/>
                <a:ext cx="11353801" cy="5032376"/>
              </a:xfrm>
            </p:spPr>
            <p:txBody>
              <a:bodyPr>
                <a:normAutofit/>
              </a:bodyPr>
              <a:lstStyle/>
              <a:p>
                <a:r>
                  <a:rPr lang="pt-BR" dirty="0"/>
                  <a:t>Se um conjunto de treinamento, </a:t>
                </a:r>
                <a14:m>
                  <m:oMath xmlns:m="http://schemas.openxmlformats.org/officeDocument/2006/math">
                    <m:r>
                      <a:rPr lang="pt-BR" b="0" i="1" smtClean="0">
                        <a:latin typeface="Cambria Math" panose="02040503050406030204" pitchFamily="18" charset="0"/>
                      </a:rPr>
                      <m:t>𝐸</m:t>
                    </m:r>
                  </m:oMath>
                </a14:m>
                <a:r>
                  <a:rPr lang="pt-BR" dirty="0"/>
                  <a:t>, contém </a:t>
                </a:r>
                <a14:m>
                  <m:oMath xmlns:m="http://schemas.openxmlformats.org/officeDocument/2006/math">
                    <m:r>
                      <a:rPr lang="pt-BR" b="0" i="1" smtClean="0">
                        <a:latin typeface="Cambria Math" panose="02040503050406030204" pitchFamily="18" charset="0"/>
                      </a:rPr>
                      <m:t>𝑝</m:t>
                    </m:r>
                  </m:oMath>
                </a14:m>
                <a:r>
                  <a:rPr lang="pt-BR" dirty="0"/>
                  <a:t> exemplos pertencentes à classe positiva (</a:t>
                </a:r>
                <a:r>
                  <a:rPr lang="pt-BR" i="1" dirty="0"/>
                  <a:t>P</a:t>
                </a:r>
                <a:r>
                  <a:rPr lang="pt-BR" dirty="0"/>
                  <a:t>) e </a:t>
                </a:r>
                <a14:m>
                  <m:oMath xmlns:m="http://schemas.openxmlformats.org/officeDocument/2006/math">
                    <m:r>
                      <a:rPr lang="pt-BR" b="0" i="1" smtClean="0">
                        <a:latin typeface="Cambria Math" panose="02040503050406030204" pitchFamily="18" charset="0"/>
                      </a:rPr>
                      <m:t>𝑛</m:t>
                    </m:r>
                  </m:oMath>
                </a14:m>
                <a:r>
                  <a:rPr lang="pt-BR" dirty="0"/>
                  <a:t> exemplos pertencentes à classe negativa (</a:t>
                </a:r>
                <a:r>
                  <a:rPr lang="pt-BR" i="1" dirty="0"/>
                  <a:t>N</a:t>
                </a:r>
                <a:r>
                  <a:rPr lang="pt-BR" dirty="0"/>
                  <a:t>), então a </a:t>
                </a:r>
                <a:r>
                  <a:rPr lang="pt-BR" b="1" i="1" dirty="0">
                    <a:solidFill>
                      <a:srgbClr val="00B050"/>
                    </a:solidFill>
                  </a:rPr>
                  <a:t>entropia do objetivo</a:t>
                </a:r>
                <a:r>
                  <a:rPr lang="pt-BR" b="1" i="1" dirty="0"/>
                  <a:t> </a:t>
                </a:r>
                <a:r>
                  <a:rPr lang="pt-BR" dirty="0"/>
                  <a:t>(i.e., o rótulo) para todo o conjunto de treinamento é dada por</a:t>
                </a:r>
              </a:p>
              <a:p>
                <a:pPr marL="0" indent="0" algn="ctr">
                  <a:buNone/>
                </a:pPr>
                <a14:m>
                  <m:oMathPara xmlns:m="http://schemas.openxmlformats.org/officeDocument/2006/math">
                    <m:oMathParaPr>
                      <m:jc m:val="centerGroup"/>
                    </m:oMathParaPr>
                    <m:oMath xmlns:m="http://schemas.openxmlformats.org/officeDocument/2006/math">
                      <m:r>
                        <a:rPr lang="pt-BR" sz="2600" b="0" i="1" smtClean="0">
                          <a:latin typeface="Cambria Math" panose="02040503050406030204" pitchFamily="18" charset="0"/>
                        </a:rPr>
                        <m:t>𝐻</m:t>
                      </m:r>
                      <m:d>
                        <m:dPr>
                          <m:ctrlPr>
                            <a:rPr lang="pt-BR" sz="2600" b="0" i="1" smtClean="0">
                              <a:latin typeface="Cambria Math" panose="02040503050406030204" pitchFamily="18" charset="0"/>
                            </a:rPr>
                          </m:ctrlPr>
                        </m:dPr>
                        <m:e>
                          <m:r>
                            <a:rPr lang="pt-BR" sz="2600" b="0" i="1" smtClean="0">
                              <a:latin typeface="Cambria Math" panose="02040503050406030204" pitchFamily="18" charset="0"/>
                            </a:rPr>
                            <m:t>𝐺𝑜𝑎𝑙</m:t>
                          </m:r>
                        </m:e>
                      </m:d>
                      <m:r>
                        <a:rPr lang="pt-BR" sz="2600" b="0" i="1" smtClean="0">
                          <a:latin typeface="Cambria Math" panose="02040503050406030204" pitchFamily="18" charset="0"/>
                        </a:rPr>
                        <m:t>=</m:t>
                      </m:r>
                      <m:r>
                        <a:rPr lang="pt-BR" sz="2600" b="0" i="1" smtClean="0">
                          <a:latin typeface="Cambria Math" panose="02040503050406030204" pitchFamily="18" charset="0"/>
                        </a:rPr>
                        <m:t>𝐵</m:t>
                      </m:r>
                      <m:d>
                        <m:dPr>
                          <m:ctrlPr>
                            <a:rPr lang="pt-BR" sz="2600" b="0" i="1" smtClean="0">
                              <a:latin typeface="Cambria Math" panose="02040503050406030204" pitchFamily="18" charset="0"/>
                            </a:rPr>
                          </m:ctrlPr>
                        </m:dPr>
                        <m:e>
                          <m:f>
                            <m:fPr>
                              <m:ctrlPr>
                                <a:rPr lang="pt-BR" sz="2600" b="0" i="1" smtClean="0">
                                  <a:latin typeface="Cambria Math" panose="02040503050406030204" pitchFamily="18" charset="0"/>
                                </a:rPr>
                              </m:ctrlPr>
                            </m:fPr>
                            <m:num>
                              <m:r>
                                <a:rPr lang="pt-BR" sz="2600" b="0" i="1" smtClean="0">
                                  <a:latin typeface="Cambria Math" panose="02040503050406030204" pitchFamily="18" charset="0"/>
                                </a:rPr>
                                <m:t>𝑝</m:t>
                              </m:r>
                            </m:num>
                            <m:den>
                              <m:r>
                                <a:rPr lang="pt-BR" sz="2600" b="0" i="1" smtClean="0">
                                  <a:latin typeface="Cambria Math" panose="02040503050406030204" pitchFamily="18" charset="0"/>
                                </a:rPr>
                                <m:t>𝑝</m:t>
                              </m:r>
                              <m:r>
                                <a:rPr lang="pt-BR" sz="2600" b="0" i="1" smtClean="0">
                                  <a:latin typeface="Cambria Math" panose="02040503050406030204" pitchFamily="18" charset="0"/>
                                </a:rPr>
                                <m:t>+</m:t>
                              </m:r>
                              <m:r>
                                <a:rPr lang="pt-BR" sz="2600" b="0" i="1" smtClean="0">
                                  <a:latin typeface="Cambria Math" panose="02040503050406030204" pitchFamily="18" charset="0"/>
                                </a:rPr>
                                <m:t>𝑛</m:t>
                              </m:r>
                            </m:den>
                          </m:f>
                        </m:e>
                      </m:d>
                      <m:r>
                        <a:rPr lang="pt-BR" sz="2600" b="0" i="1" smtClean="0">
                          <a:latin typeface="Cambria Math" panose="02040503050406030204" pitchFamily="18" charset="0"/>
                        </a:rPr>
                        <m:t>=−</m:t>
                      </m:r>
                      <m:d>
                        <m:dPr>
                          <m:begChr m:val="["/>
                          <m:endChr m:val="]"/>
                          <m:ctrlPr>
                            <a:rPr lang="pt-BR" sz="2600" b="0" i="1" smtClean="0">
                              <a:latin typeface="Cambria Math" panose="02040503050406030204" pitchFamily="18" charset="0"/>
                            </a:rPr>
                          </m:ctrlPr>
                        </m:dPr>
                        <m:e>
                          <m:f>
                            <m:fPr>
                              <m:ctrlPr>
                                <a:rPr lang="pt-BR" sz="2600" i="1">
                                  <a:latin typeface="Cambria Math" panose="02040503050406030204" pitchFamily="18" charset="0"/>
                                </a:rPr>
                              </m:ctrlPr>
                            </m:fPr>
                            <m:num>
                              <m:r>
                                <a:rPr lang="pt-BR" sz="2600" i="1">
                                  <a:latin typeface="Cambria Math" panose="02040503050406030204" pitchFamily="18" charset="0"/>
                                </a:rPr>
                                <m:t>𝑝</m:t>
                              </m:r>
                            </m:num>
                            <m:den>
                              <m:r>
                                <a:rPr lang="pt-BR" sz="2600" i="1">
                                  <a:latin typeface="Cambria Math" panose="02040503050406030204" pitchFamily="18" charset="0"/>
                                </a:rPr>
                                <m:t>𝑝</m:t>
                              </m:r>
                              <m:r>
                                <a:rPr lang="pt-BR" sz="2600" i="1">
                                  <a:latin typeface="Cambria Math" panose="02040503050406030204" pitchFamily="18" charset="0"/>
                                </a:rPr>
                                <m:t>+</m:t>
                              </m:r>
                              <m:r>
                                <a:rPr lang="pt-BR" sz="2600" i="1">
                                  <a:latin typeface="Cambria Math" panose="02040503050406030204" pitchFamily="18" charset="0"/>
                                </a:rPr>
                                <m:t>𝑛</m:t>
                              </m:r>
                            </m:den>
                          </m:f>
                          <m:func>
                            <m:funcPr>
                              <m:ctrlPr>
                                <a:rPr lang="pt-BR" sz="2600" i="1">
                                  <a:latin typeface="Cambria Math" panose="02040503050406030204" pitchFamily="18" charset="0"/>
                                </a:rPr>
                              </m:ctrlPr>
                            </m:funcPr>
                            <m:fName>
                              <m:sSub>
                                <m:sSubPr>
                                  <m:ctrlPr>
                                    <a:rPr lang="pt-BR" sz="2600" i="1">
                                      <a:latin typeface="Cambria Math" panose="02040503050406030204" pitchFamily="18" charset="0"/>
                                    </a:rPr>
                                  </m:ctrlPr>
                                </m:sSubPr>
                                <m:e>
                                  <m:r>
                                    <m:rPr>
                                      <m:sty m:val="p"/>
                                    </m:rPr>
                                    <a:rPr lang="pt-BR" sz="2600">
                                      <a:latin typeface="Cambria Math" panose="02040503050406030204" pitchFamily="18" charset="0"/>
                                    </a:rPr>
                                    <m:t>log</m:t>
                                  </m:r>
                                </m:e>
                                <m:sub>
                                  <m:r>
                                    <a:rPr lang="pt-BR" sz="2600" i="1">
                                      <a:latin typeface="Cambria Math" panose="02040503050406030204" pitchFamily="18" charset="0"/>
                                    </a:rPr>
                                    <m:t>2</m:t>
                                  </m:r>
                                </m:sub>
                              </m:sSub>
                            </m:fName>
                            <m:e>
                              <m:d>
                                <m:dPr>
                                  <m:ctrlPr>
                                    <a:rPr lang="pt-BR" sz="2600" i="1">
                                      <a:latin typeface="Cambria Math" panose="02040503050406030204" pitchFamily="18" charset="0"/>
                                    </a:rPr>
                                  </m:ctrlPr>
                                </m:dPr>
                                <m:e>
                                  <m:f>
                                    <m:fPr>
                                      <m:ctrlPr>
                                        <a:rPr lang="pt-BR" sz="2600" i="1">
                                          <a:latin typeface="Cambria Math" panose="02040503050406030204" pitchFamily="18" charset="0"/>
                                        </a:rPr>
                                      </m:ctrlPr>
                                    </m:fPr>
                                    <m:num>
                                      <m:r>
                                        <a:rPr lang="pt-BR" sz="2600" i="1">
                                          <a:latin typeface="Cambria Math" panose="02040503050406030204" pitchFamily="18" charset="0"/>
                                        </a:rPr>
                                        <m:t>𝑝</m:t>
                                      </m:r>
                                    </m:num>
                                    <m:den>
                                      <m:r>
                                        <a:rPr lang="pt-BR" sz="2600" i="1">
                                          <a:latin typeface="Cambria Math" panose="02040503050406030204" pitchFamily="18" charset="0"/>
                                        </a:rPr>
                                        <m:t>𝑝</m:t>
                                      </m:r>
                                      <m:r>
                                        <a:rPr lang="pt-BR" sz="2600" i="1">
                                          <a:latin typeface="Cambria Math" panose="02040503050406030204" pitchFamily="18" charset="0"/>
                                        </a:rPr>
                                        <m:t>+</m:t>
                                      </m:r>
                                      <m:r>
                                        <a:rPr lang="pt-BR" sz="2600" i="1">
                                          <a:latin typeface="Cambria Math" panose="02040503050406030204" pitchFamily="18" charset="0"/>
                                        </a:rPr>
                                        <m:t>𝑛</m:t>
                                      </m:r>
                                    </m:den>
                                  </m:f>
                                </m:e>
                              </m:d>
                            </m:e>
                          </m:func>
                          <m:r>
                            <a:rPr lang="pt-BR" sz="2600" b="0" i="1" smtClean="0">
                              <a:latin typeface="Cambria Math" panose="02040503050406030204" pitchFamily="18" charset="0"/>
                            </a:rPr>
                            <m:t>+</m:t>
                          </m:r>
                          <m:d>
                            <m:dPr>
                              <m:ctrlPr>
                                <a:rPr lang="pt-BR" sz="2600" b="0" i="1" smtClean="0">
                                  <a:latin typeface="Cambria Math" panose="02040503050406030204" pitchFamily="18" charset="0"/>
                                </a:rPr>
                              </m:ctrlPr>
                            </m:dPr>
                            <m:e>
                              <m:r>
                                <a:rPr lang="pt-BR" sz="2600" b="0" i="1" smtClean="0">
                                  <a:latin typeface="Cambria Math" panose="02040503050406030204" pitchFamily="18" charset="0"/>
                                </a:rPr>
                                <m:t>1−</m:t>
                              </m:r>
                              <m:f>
                                <m:fPr>
                                  <m:ctrlPr>
                                    <a:rPr lang="pt-BR" sz="2600" i="1">
                                      <a:latin typeface="Cambria Math" panose="02040503050406030204" pitchFamily="18" charset="0"/>
                                    </a:rPr>
                                  </m:ctrlPr>
                                </m:fPr>
                                <m:num>
                                  <m:r>
                                    <a:rPr lang="pt-BR" sz="2600" i="1">
                                      <a:latin typeface="Cambria Math" panose="02040503050406030204" pitchFamily="18" charset="0"/>
                                    </a:rPr>
                                    <m:t>𝑝</m:t>
                                  </m:r>
                                </m:num>
                                <m:den>
                                  <m:r>
                                    <a:rPr lang="pt-BR" sz="2600" i="1">
                                      <a:latin typeface="Cambria Math" panose="02040503050406030204" pitchFamily="18" charset="0"/>
                                    </a:rPr>
                                    <m:t>𝑝</m:t>
                                  </m:r>
                                  <m:r>
                                    <a:rPr lang="pt-BR" sz="2600" i="1">
                                      <a:latin typeface="Cambria Math" panose="02040503050406030204" pitchFamily="18" charset="0"/>
                                    </a:rPr>
                                    <m:t>+</m:t>
                                  </m:r>
                                  <m:r>
                                    <a:rPr lang="pt-BR" sz="2600" i="1">
                                      <a:latin typeface="Cambria Math" panose="02040503050406030204" pitchFamily="18" charset="0"/>
                                    </a:rPr>
                                    <m:t>𝑛</m:t>
                                  </m:r>
                                </m:den>
                              </m:f>
                            </m:e>
                          </m:d>
                          <m:func>
                            <m:funcPr>
                              <m:ctrlPr>
                                <a:rPr lang="pt-BR" sz="2600" i="1">
                                  <a:latin typeface="Cambria Math" panose="02040503050406030204" pitchFamily="18" charset="0"/>
                                </a:rPr>
                              </m:ctrlPr>
                            </m:funcPr>
                            <m:fName>
                              <m:sSub>
                                <m:sSubPr>
                                  <m:ctrlPr>
                                    <a:rPr lang="pt-BR" sz="2600" i="1">
                                      <a:latin typeface="Cambria Math" panose="02040503050406030204" pitchFamily="18" charset="0"/>
                                    </a:rPr>
                                  </m:ctrlPr>
                                </m:sSubPr>
                                <m:e>
                                  <m:r>
                                    <m:rPr>
                                      <m:sty m:val="p"/>
                                    </m:rPr>
                                    <a:rPr lang="pt-BR" sz="2600">
                                      <a:latin typeface="Cambria Math" panose="02040503050406030204" pitchFamily="18" charset="0"/>
                                    </a:rPr>
                                    <m:t>log</m:t>
                                  </m:r>
                                </m:e>
                                <m:sub>
                                  <m:r>
                                    <a:rPr lang="pt-BR" sz="2600" i="1">
                                      <a:latin typeface="Cambria Math" panose="02040503050406030204" pitchFamily="18" charset="0"/>
                                    </a:rPr>
                                    <m:t>2</m:t>
                                  </m:r>
                                </m:sub>
                              </m:sSub>
                            </m:fName>
                            <m:e>
                              <m:d>
                                <m:dPr>
                                  <m:ctrlPr>
                                    <a:rPr lang="pt-BR" sz="2600" i="1">
                                      <a:latin typeface="Cambria Math" panose="02040503050406030204" pitchFamily="18" charset="0"/>
                                    </a:rPr>
                                  </m:ctrlPr>
                                </m:dPr>
                                <m:e>
                                  <m:r>
                                    <a:rPr lang="pt-BR" sz="2600" b="0" i="1" smtClean="0">
                                      <a:latin typeface="Cambria Math" panose="02040503050406030204" pitchFamily="18" charset="0"/>
                                    </a:rPr>
                                    <m:t>1−</m:t>
                                  </m:r>
                                  <m:f>
                                    <m:fPr>
                                      <m:ctrlPr>
                                        <a:rPr lang="pt-BR" sz="2600" i="1">
                                          <a:latin typeface="Cambria Math" panose="02040503050406030204" pitchFamily="18" charset="0"/>
                                        </a:rPr>
                                      </m:ctrlPr>
                                    </m:fPr>
                                    <m:num>
                                      <m:r>
                                        <a:rPr lang="pt-BR" sz="2600" i="1">
                                          <a:latin typeface="Cambria Math" panose="02040503050406030204" pitchFamily="18" charset="0"/>
                                        </a:rPr>
                                        <m:t>𝑝</m:t>
                                      </m:r>
                                    </m:num>
                                    <m:den>
                                      <m:r>
                                        <a:rPr lang="pt-BR" sz="2600" i="1">
                                          <a:latin typeface="Cambria Math" panose="02040503050406030204" pitchFamily="18" charset="0"/>
                                        </a:rPr>
                                        <m:t>𝑝</m:t>
                                      </m:r>
                                      <m:r>
                                        <a:rPr lang="pt-BR" sz="2600" i="1">
                                          <a:latin typeface="Cambria Math" panose="02040503050406030204" pitchFamily="18" charset="0"/>
                                        </a:rPr>
                                        <m:t>+</m:t>
                                      </m:r>
                                      <m:r>
                                        <a:rPr lang="pt-BR" sz="2600" i="1">
                                          <a:latin typeface="Cambria Math" panose="02040503050406030204" pitchFamily="18" charset="0"/>
                                        </a:rPr>
                                        <m:t>𝑛</m:t>
                                      </m:r>
                                    </m:den>
                                  </m:f>
                                </m:e>
                              </m:d>
                            </m:e>
                          </m:func>
                        </m:e>
                      </m:d>
                      <m:r>
                        <a:rPr lang="pt-BR" sz="2600" b="0" i="0" smtClean="0">
                          <a:latin typeface="Cambria Math" panose="02040503050406030204" pitchFamily="18" charset="0"/>
                        </a:rPr>
                        <m:t>,</m:t>
                      </m:r>
                    </m:oMath>
                  </m:oMathPara>
                </a14:m>
                <a:endParaRPr lang="pt-BR" sz="2600" dirty="0"/>
              </a:p>
              <a:p>
                <a:pPr marL="0" indent="0">
                  <a:buNone/>
                </a:pPr>
                <a:r>
                  <a:rPr lang="pt-BR" dirty="0"/>
                  <a:t>onde </a:t>
                </a:r>
                <a14:m>
                  <m:oMath xmlns:m="http://schemas.openxmlformats.org/officeDocument/2006/math">
                    <m:r>
                      <a:rPr lang="pt-BR" i="1">
                        <a:latin typeface="Cambria Math" panose="02040503050406030204" pitchFamily="18" charset="0"/>
                      </a:rPr>
                      <m:t>𝐵</m:t>
                    </m:r>
                    <m:d>
                      <m:dPr>
                        <m:ctrlPr>
                          <a:rPr lang="pt-BR" i="1">
                            <a:latin typeface="Cambria Math" panose="02040503050406030204" pitchFamily="18" charset="0"/>
                          </a:rPr>
                        </m:ctrlPr>
                      </m:dPr>
                      <m:e>
                        <m:r>
                          <a:rPr lang="pt-BR" b="0" i="1" smtClean="0">
                            <a:latin typeface="Cambria Math" panose="02040503050406030204" pitchFamily="18" charset="0"/>
                          </a:rPr>
                          <m:t>𝑞</m:t>
                        </m:r>
                      </m:e>
                    </m:d>
                  </m:oMath>
                </a14:m>
                <a:r>
                  <a:rPr lang="pt-BR" dirty="0"/>
                  <a:t> é a </a:t>
                </a:r>
                <a:r>
                  <a:rPr lang="pt-BR" b="1" dirty="0"/>
                  <a:t>entropia de uma </a:t>
                </a:r>
                <a:r>
                  <a:rPr lang="pt-BR" b="1" dirty="0">
                    <a:solidFill>
                      <a:schemeClr val="accent2"/>
                    </a:solidFill>
                  </a:rPr>
                  <a:t>variável booleana</a:t>
                </a:r>
                <a:r>
                  <a:rPr lang="pt-BR" b="1" dirty="0"/>
                  <a:t> que é verdadeira com probabilidade igual a </a:t>
                </a:r>
                <a14:m>
                  <m:oMath xmlns:m="http://schemas.openxmlformats.org/officeDocument/2006/math">
                    <m:r>
                      <a:rPr lang="pt-BR" i="1">
                        <a:latin typeface="Cambria Math" panose="02040503050406030204" pitchFamily="18" charset="0"/>
                      </a:rPr>
                      <m:t>𝑞</m:t>
                    </m:r>
                  </m:oMath>
                </a14:m>
                <a:r>
                  <a:rPr lang="pt-BR" dirty="0"/>
                  <a:t>, ou seja </a:t>
                </a:r>
              </a:p>
              <a:p>
                <a:pPr marL="0" indent="0">
                  <a:buNone/>
                </a:pPr>
                <a14:m>
                  <m:oMathPara xmlns:m="http://schemas.openxmlformats.org/officeDocument/2006/math">
                    <m:oMathParaPr>
                      <m:jc m:val="centerGroup"/>
                    </m:oMathParaPr>
                    <m:oMath xmlns:m="http://schemas.openxmlformats.org/officeDocument/2006/math">
                      <m:r>
                        <a:rPr lang="pt-BR" sz="2600" i="1">
                          <a:latin typeface="Cambria Math" panose="02040503050406030204" pitchFamily="18" charset="0"/>
                        </a:rPr>
                        <m:t>𝐵</m:t>
                      </m:r>
                      <m:d>
                        <m:dPr>
                          <m:ctrlPr>
                            <a:rPr lang="pt-BR" sz="2600" i="1">
                              <a:latin typeface="Cambria Math" panose="02040503050406030204" pitchFamily="18" charset="0"/>
                            </a:rPr>
                          </m:ctrlPr>
                        </m:dPr>
                        <m:e>
                          <m:r>
                            <a:rPr lang="pt-BR" sz="2600" i="1">
                              <a:latin typeface="Cambria Math" panose="02040503050406030204" pitchFamily="18" charset="0"/>
                            </a:rPr>
                            <m:t>𝑞</m:t>
                          </m:r>
                        </m:e>
                      </m:d>
                      <m:r>
                        <a:rPr lang="pt-BR" sz="2600" b="0" i="1" smtClean="0">
                          <a:latin typeface="Cambria Math" panose="02040503050406030204" pitchFamily="18" charset="0"/>
                        </a:rPr>
                        <m:t>=−</m:t>
                      </m:r>
                      <m:d>
                        <m:dPr>
                          <m:ctrlPr>
                            <a:rPr lang="pt-BR" sz="2600" b="0" i="1" smtClean="0">
                              <a:latin typeface="Cambria Math" panose="02040503050406030204" pitchFamily="18" charset="0"/>
                            </a:rPr>
                          </m:ctrlPr>
                        </m:dPr>
                        <m:e>
                          <m:r>
                            <a:rPr lang="pt-BR" sz="2600" b="0" i="1" smtClean="0">
                              <a:latin typeface="Cambria Math" panose="02040503050406030204" pitchFamily="18" charset="0"/>
                            </a:rPr>
                            <m:t>𝑞</m:t>
                          </m:r>
                          <m:sSub>
                            <m:sSubPr>
                              <m:ctrlPr>
                                <a:rPr lang="pt-BR" sz="2600" i="1">
                                  <a:latin typeface="Cambria Math" panose="02040503050406030204" pitchFamily="18" charset="0"/>
                                </a:rPr>
                              </m:ctrlPr>
                            </m:sSubPr>
                            <m:e>
                              <m:r>
                                <m:rPr>
                                  <m:sty m:val="p"/>
                                </m:rPr>
                                <a:rPr lang="pt-BR" sz="2600">
                                  <a:latin typeface="Cambria Math" panose="02040503050406030204" pitchFamily="18" charset="0"/>
                                </a:rPr>
                                <m:t>log</m:t>
                              </m:r>
                            </m:e>
                            <m:sub>
                              <m:r>
                                <a:rPr lang="pt-BR" sz="2600" i="1">
                                  <a:latin typeface="Cambria Math" panose="02040503050406030204" pitchFamily="18" charset="0"/>
                                </a:rPr>
                                <m:t>2</m:t>
                              </m:r>
                            </m:sub>
                          </m:sSub>
                          <m:d>
                            <m:dPr>
                              <m:ctrlPr>
                                <a:rPr lang="pt-BR" sz="2600" b="0" i="1" smtClean="0">
                                  <a:latin typeface="Cambria Math" panose="02040503050406030204" pitchFamily="18" charset="0"/>
                                </a:rPr>
                              </m:ctrlPr>
                            </m:dPr>
                            <m:e>
                              <m:r>
                                <a:rPr lang="pt-BR" sz="2600" b="0" i="1" smtClean="0">
                                  <a:latin typeface="Cambria Math" panose="02040503050406030204" pitchFamily="18" charset="0"/>
                                </a:rPr>
                                <m:t>𝑞</m:t>
                              </m:r>
                            </m:e>
                          </m:d>
                          <m:r>
                            <a:rPr lang="pt-BR" sz="2600" b="0" i="1" smtClean="0">
                              <a:latin typeface="Cambria Math" panose="02040503050406030204" pitchFamily="18" charset="0"/>
                            </a:rPr>
                            <m:t>+</m:t>
                          </m:r>
                          <m:d>
                            <m:dPr>
                              <m:ctrlPr>
                                <a:rPr lang="pt-BR" sz="2600" b="0" i="1" smtClean="0">
                                  <a:latin typeface="Cambria Math" panose="02040503050406030204" pitchFamily="18" charset="0"/>
                                </a:rPr>
                              </m:ctrlPr>
                            </m:dPr>
                            <m:e>
                              <m:r>
                                <a:rPr lang="pt-BR" sz="2600" b="0" i="1" smtClean="0">
                                  <a:latin typeface="Cambria Math" panose="02040503050406030204" pitchFamily="18" charset="0"/>
                                </a:rPr>
                                <m:t>1−</m:t>
                              </m:r>
                              <m:r>
                                <a:rPr lang="pt-BR" sz="2600" b="0" i="1" smtClean="0">
                                  <a:latin typeface="Cambria Math" panose="02040503050406030204" pitchFamily="18" charset="0"/>
                                </a:rPr>
                                <m:t>𝑞</m:t>
                              </m:r>
                            </m:e>
                          </m:d>
                          <m:sSub>
                            <m:sSubPr>
                              <m:ctrlPr>
                                <a:rPr lang="pt-BR" sz="2600" i="1">
                                  <a:latin typeface="Cambria Math" panose="02040503050406030204" pitchFamily="18" charset="0"/>
                                </a:rPr>
                              </m:ctrlPr>
                            </m:sSubPr>
                            <m:e>
                              <m:r>
                                <m:rPr>
                                  <m:sty m:val="p"/>
                                </m:rPr>
                                <a:rPr lang="pt-BR" sz="2600">
                                  <a:latin typeface="Cambria Math" panose="02040503050406030204" pitchFamily="18" charset="0"/>
                                </a:rPr>
                                <m:t>log</m:t>
                              </m:r>
                            </m:e>
                            <m:sub>
                              <m:r>
                                <a:rPr lang="pt-BR" sz="2600" i="1">
                                  <a:latin typeface="Cambria Math" panose="02040503050406030204" pitchFamily="18" charset="0"/>
                                </a:rPr>
                                <m:t>2</m:t>
                              </m:r>
                            </m:sub>
                          </m:sSub>
                          <m:d>
                            <m:dPr>
                              <m:ctrlPr>
                                <a:rPr lang="pt-BR" sz="2600" b="0" i="1" smtClean="0">
                                  <a:latin typeface="Cambria Math" panose="02040503050406030204" pitchFamily="18" charset="0"/>
                                </a:rPr>
                              </m:ctrlPr>
                            </m:dPr>
                            <m:e>
                              <m:r>
                                <a:rPr lang="pt-BR" sz="2600" b="0" i="1" smtClean="0">
                                  <a:latin typeface="Cambria Math" panose="02040503050406030204" pitchFamily="18" charset="0"/>
                                </a:rPr>
                                <m:t>1−</m:t>
                              </m:r>
                              <m:r>
                                <a:rPr lang="pt-BR" sz="2600" b="0" i="1" smtClean="0">
                                  <a:latin typeface="Cambria Math" panose="02040503050406030204" pitchFamily="18" charset="0"/>
                                </a:rPr>
                                <m:t>𝑞</m:t>
                              </m:r>
                            </m:e>
                          </m:d>
                        </m:e>
                      </m:d>
                      <m:r>
                        <a:rPr lang="pt-BR" sz="2600" b="0" i="0" smtClean="0">
                          <a:latin typeface="Cambria Math" panose="02040503050406030204" pitchFamily="18" charset="0"/>
                        </a:rPr>
                        <m:t>.</m:t>
                      </m:r>
                    </m:oMath>
                  </m:oMathPara>
                </a14:m>
                <a:endParaRPr lang="pt-B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199" y="1825624"/>
                <a:ext cx="11353801" cy="5032376"/>
              </a:xfrm>
              <a:blipFill>
                <a:blip r:embed="rId3"/>
                <a:stretch>
                  <a:fillRect l="-1074" t="-1937" r="-537"/>
                </a:stretch>
              </a:blipFill>
            </p:spPr>
            <p:txBody>
              <a:bodyPr/>
              <a:lstStyle/>
              <a:p>
                <a:r>
                  <a:rPr lang="en-US">
                    <a:noFill/>
                  </a:rPr>
                  <a:t> </a:t>
                </a:r>
              </a:p>
            </p:txBody>
          </p:sp>
        </mc:Fallback>
      </mc:AlternateContent>
    </p:spTree>
    <p:extLst>
      <p:ext uri="{BB962C8B-B14F-4D97-AF65-F5344CB8AC3E}">
        <p14:creationId xmlns:p14="http://schemas.microsoft.com/office/powerpoint/2010/main" val="482513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Indução de uma árvore de decisão</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199" y="1825624"/>
                <a:ext cx="11241505" cy="5032376"/>
              </a:xfrm>
            </p:spPr>
            <p:txBody>
              <a:bodyPr>
                <a:normAutofit/>
              </a:bodyPr>
              <a:lstStyle/>
              <a:p>
                <a:r>
                  <a:rPr lang="pt-BR" dirty="0"/>
                  <a:t>Um teste em um único atributo,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𝑘</m:t>
                        </m:r>
                      </m:sub>
                    </m:sSub>
                  </m:oMath>
                </a14:m>
                <a:r>
                  <a:rPr lang="pt-BR" dirty="0"/>
                  <a:t>, pode nos dar </a:t>
                </a:r>
                <a:r>
                  <a:rPr lang="pt-BR" b="1" dirty="0">
                    <a:solidFill>
                      <a:srgbClr val="00B050"/>
                    </a:solidFill>
                  </a:rPr>
                  <a:t>toda ou apenas parte da </a:t>
                </a:r>
                <a:r>
                  <a:rPr lang="pt-BR" b="1" dirty="0">
                    <a:solidFill>
                      <a:srgbClr val="7030A0"/>
                    </a:solidFill>
                  </a:rPr>
                  <a:t>entropia do objetivo</a:t>
                </a:r>
                <a:r>
                  <a:rPr lang="pt-BR" dirty="0"/>
                  <a:t>, </a:t>
                </a:r>
                <a14:m>
                  <m:oMath xmlns:m="http://schemas.openxmlformats.org/officeDocument/2006/math">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𝐺𝑜𝑎𝑙</m:t>
                        </m:r>
                      </m:e>
                    </m:d>
                  </m:oMath>
                </a14:m>
                <a:r>
                  <a:rPr lang="pt-BR" dirty="0"/>
                  <a:t>. </a:t>
                </a:r>
              </a:p>
              <a:p>
                <a:r>
                  <a:rPr lang="pt-BR" dirty="0"/>
                  <a:t>Nós podemos medir exatamente o </a:t>
                </a:r>
                <a:r>
                  <a:rPr lang="pt-BR" b="1" dirty="0"/>
                  <a:t>quanto cada atributo contribui para a </a:t>
                </a:r>
                <a:r>
                  <a:rPr lang="pt-BR" b="1" dirty="0">
                    <a:solidFill>
                      <a:srgbClr val="00B050"/>
                    </a:solidFill>
                  </a:rPr>
                  <a:t>entropia do objetivo </a:t>
                </a:r>
                <a:r>
                  <a:rPr lang="pt-BR" dirty="0"/>
                  <a:t>através do cálculo da </a:t>
                </a:r>
                <a:r>
                  <a:rPr lang="pt-BR" b="1" dirty="0">
                    <a:solidFill>
                      <a:schemeClr val="accent2"/>
                    </a:solidFill>
                  </a:rPr>
                  <a:t>entropia restante após o teste do atributo</a:t>
                </a:r>
                <a:r>
                  <a:rPr lang="pt-BR" dirty="0"/>
                  <a:t>.</a:t>
                </a:r>
              </a:p>
              <a:p>
                <a:r>
                  <a:rPr lang="pt-BR" dirty="0"/>
                  <a:t>Um </a:t>
                </a:r>
                <a:r>
                  <a:rPr lang="pt-BR" b="1" dirty="0"/>
                  <a:t>atributo</a:t>
                </a:r>
                <a:r>
                  <a:rPr lang="pt-BR" dirty="0"/>
                  <a:t> </a:t>
                </a:r>
                <a14:m>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𝑘</m:t>
                        </m:r>
                      </m:sub>
                    </m:sSub>
                  </m:oMath>
                </a14:m>
                <a:r>
                  <a:rPr lang="pt-BR" dirty="0"/>
                  <a:t> </a:t>
                </a:r>
                <a:r>
                  <a:rPr lang="pt-BR" b="1" dirty="0"/>
                  <a:t>com</a:t>
                </a:r>
                <a:r>
                  <a:rPr lang="pt-BR" b="1" i="1" dirty="0"/>
                  <a:t> </a:t>
                </a:r>
                <a14:m>
                  <m:oMath xmlns:m="http://schemas.openxmlformats.org/officeDocument/2006/math">
                    <m:r>
                      <a:rPr lang="pt-BR" b="0" i="1" smtClean="0">
                        <a:latin typeface="Cambria Math" panose="02040503050406030204" pitchFamily="18" charset="0"/>
                      </a:rPr>
                      <m:t>𝑑</m:t>
                    </m:r>
                  </m:oMath>
                </a14:m>
                <a:r>
                  <a:rPr lang="pt-BR" b="1" i="1" dirty="0"/>
                  <a:t> </a:t>
                </a:r>
                <a:r>
                  <a:rPr lang="pt-BR" b="1" dirty="0"/>
                  <a:t>valores distintos divide o conjunto de treinamento </a:t>
                </a:r>
                <a14:m>
                  <m:oMath xmlns:m="http://schemas.openxmlformats.org/officeDocument/2006/math">
                    <m:r>
                      <a:rPr lang="pt-BR" b="0" i="1" smtClean="0">
                        <a:latin typeface="Cambria Math" panose="02040503050406030204" pitchFamily="18" charset="0"/>
                      </a:rPr>
                      <m:t>𝐸</m:t>
                    </m:r>
                  </m:oMath>
                </a14:m>
                <a:r>
                  <a:rPr lang="pt-BR" b="1" i="1" dirty="0"/>
                  <a:t> </a:t>
                </a:r>
                <a:r>
                  <a:rPr lang="pt-BR" b="1" dirty="0"/>
                  <a:t>em</a:t>
                </a:r>
                <a:r>
                  <a:rPr lang="pt-BR" b="1" i="1" dirty="0"/>
                  <a:t> </a:t>
                </a:r>
                <a14:m>
                  <m:oMath xmlns:m="http://schemas.openxmlformats.org/officeDocument/2006/math">
                    <m:r>
                      <a:rPr lang="pt-BR" b="0" i="1">
                        <a:latin typeface="Cambria Math" panose="02040503050406030204" pitchFamily="18" charset="0"/>
                      </a:rPr>
                      <m:t>𝑑</m:t>
                    </m:r>
                    <m:r>
                      <a:rPr lang="pt-BR" b="1" i="1">
                        <a:latin typeface="Cambria Math" panose="02040503050406030204" pitchFamily="18" charset="0"/>
                      </a:rPr>
                      <m:t> </m:t>
                    </m:r>
                  </m:oMath>
                </a14:m>
                <a:r>
                  <a:rPr lang="pt-BR" b="1" dirty="0"/>
                  <a:t>subconjuntos</a:t>
                </a:r>
                <a:r>
                  <a:rPr lang="pt-BR" dirty="0"/>
                  <a:t>: </a:t>
                </a:r>
                <a14:m>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𝐸</m:t>
                        </m:r>
                      </m:e>
                      <m:sub>
                        <m:r>
                          <a:rPr lang="pt-BR" b="0" i="1" smtClean="0">
                            <a:latin typeface="Cambria Math" panose="02040503050406030204" pitchFamily="18" charset="0"/>
                          </a:rPr>
                          <m:t>1</m:t>
                        </m:r>
                      </m:sub>
                    </m:sSub>
                    <m:r>
                      <a:rPr lang="pt-BR" b="0" i="0" smtClean="0">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𝐸</m:t>
                        </m:r>
                      </m:e>
                      <m:sub>
                        <m:r>
                          <a:rPr lang="pt-BR" b="0" i="1" smtClean="0">
                            <a:latin typeface="Cambria Math" panose="02040503050406030204" pitchFamily="18" charset="0"/>
                          </a:rPr>
                          <m:t>𝑑</m:t>
                        </m:r>
                      </m:sub>
                    </m:sSub>
                  </m:oMath>
                </a14:m>
                <a:r>
                  <a:rPr lang="pt-BR" dirty="0"/>
                  <a:t>. </a:t>
                </a:r>
              </a:p>
              <a:p>
                <a:r>
                  <a:rPr lang="pt-BR" dirty="0"/>
                  <a:t>Cada subconjunto </a:t>
                </a:r>
                <a14:m>
                  <m:oMath xmlns:m="http://schemas.openxmlformats.org/officeDocument/2006/math">
                    <m:sSub>
                      <m:sSubPr>
                        <m:ctrlPr>
                          <a:rPr lang="pt-BR" i="1">
                            <a:latin typeface="Cambria Math" panose="02040503050406030204" pitchFamily="18" charset="0"/>
                          </a:rPr>
                        </m:ctrlPr>
                      </m:sSubPr>
                      <m:e>
                        <m:r>
                          <a:rPr lang="pt-BR" b="0" i="1" smtClean="0">
                            <a:latin typeface="Cambria Math" panose="02040503050406030204" pitchFamily="18" charset="0"/>
                          </a:rPr>
                          <m:t>𝐸</m:t>
                        </m:r>
                      </m:e>
                      <m:sub>
                        <m:r>
                          <a:rPr lang="pt-BR" b="0" i="1" smtClean="0">
                            <a:latin typeface="Cambria Math" panose="02040503050406030204" pitchFamily="18" charset="0"/>
                          </a:rPr>
                          <m:t>𝑖</m:t>
                        </m:r>
                      </m:sub>
                    </m:sSub>
                    <m:r>
                      <a:rPr lang="pt-BR" b="0" i="1" smtClean="0">
                        <a:latin typeface="Cambria Math" panose="02040503050406030204" pitchFamily="18" charset="0"/>
                      </a:rPr>
                      <m:t>, </m:t>
                    </m:r>
                    <m:r>
                      <a:rPr lang="pt-BR" b="0" i="1" smtClean="0">
                        <a:latin typeface="Cambria Math" panose="02040503050406030204" pitchFamily="18" charset="0"/>
                      </a:rPr>
                      <m:t>𝑖</m:t>
                    </m:r>
                    <m:r>
                      <a:rPr lang="pt-BR" b="0" i="1" smtClean="0">
                        <a:latin typeface="Cambria Math" panose="02040503050406030204" pitchFamily="18" charset="0"/>
                        <a:ea typeface="Cambria Math" panose="02040503050406030204" pitchFamily="18" charset="0"/>
                      </a:rPr>
                      <m:t>∈{1, …</m:t>
                    </m:r>
                    <m:r>
                      <a:rPr lang="pt-BR" b="0" i="1" smtClean="0">
                        <a:latin typeface="Cambria Math" panose="02040503050406030204" pitchFamily="18" charset="0"/>
                        <a:ea typeface="Cambria Math" panose="02040503050406030204" pitchFamily="18" charset="0"/>
                      </a:rPr>
                      <m:t>𝑑</m:t>
                    </m:r>
                    <m:r>
                      <a:rPr lang="pt-BR" b="0" i="1" smtClean="0">
                        <a:latin typeface="Cambria Math" panose="02040503050406030204" pitchFamily="18" charset="0"/>
                        <a:ea typeface="Cambria Math" panose="02040503050406030204" pitchFamily="18" charset="0"/>
                      </a:rPr>
                      <m:t>}</m:t>
                    </m:r>
                  </m:oMath>
                </a14:m>
                <a:r>
                  <a:rPr lang="pt-BR" dirty="0"/>
                  <a:t>, possui </a:t>
                </a:r>
                <a14:m>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𝑝</m:t>
                        </m:r>
                      </m:e>
                      <m:sub>
                        <m:r>
                          <a:rPr lang="pt-BR" b="0" i="1" smtClean="0">
                            <a:latin typeface="Cambria Math" panose="02040503050406030204" pitchFamily="18" charset="0"/>
                          </a:rPr>
                          <m:t>𝑖</m:t>
                        </m:r>
                      </m:sub>
                    </m:sSub>
                    <m:r>
                      <a:rPr lang="pt-BR" i="1">
                        <a:latin typeface="Cambria Math" panose="02040503050406030204" pitchFamily="18" charset="0"/>
                      </a:rPr>
                      <m:t>, </m:t>
                    </m:r>
                    <m:r>
                      <a:rPr lang="pt-BR" i="1">
                        <a:latin typeface="Cambria Math" panose="02040503050406030204" pitchFamily="18" charset="0"/>
                      </a:rPr>
                      <m:t>𝑖</m:t>
                    </m:r>
                    <m:r>
                      <a:rPr lang="pt-BR" i="1">
                        <a:latin typeface="Cambria Math" panose="02040503050406030204" pitchFamily="18" charset="0"/>
                        <a:ea typeface="Cambria Math" panose="02040503050406030204" pitchFamily="18" charset="0"/>
                      </a:rPr>
                      <m:t>∈{1, …</m:t>
                    </m:r>
                    <m:r>
                      <a:rPr lang="pt-BR" i="1">
                        <a:latin typeface="Cambria Math" panose="02040503050406030204" pitchFamily="18" charset="0"/>
                        <a:ea typeface="Cambria Math" panose="02040503050406030204" pitchFamily="18" charset="0"/>
                      </a:rPr>
                      <m:t>𝑑</m:t>
                    </m:r>
                    <m:r>
                      <a:rPr lang="pt-BR" i="1">
                        <a:latin typeface="Cambria Math" panose="02040503050406030204" pitchFamily="18" charset="0"/>
                        <a:ea typeface="Cambria Math" panose="02040503050406030204" pitchFamily="18" charset="0"/>
                      </a:rPr>
                      <m:t>}</m:t>
                    </m:r>
                  </m:oMath>
                </a14:m>
                <a:r>
                  <a:rPr lang="pt-BR" dirty="0"/>
                  <a:t>, exemplos da classe positiva, </a:t>
                </a:r>
                <a:r>
                  <a:rPr lang="pt-BR" i="1" dirty="0"/>
                  <a:t>P</a:t>
                </a:r>
                <a:r>
                  <a:rPr lang="pt-BR" dirty="0"/>
                  <a:t>, e </a:t>
                </a:r>
                <a14:m>
                  <m:oMath xmlns:m="http://schemas.openxmlformats.org/officeDocument/2006/math">
                    <m:sSub>
                      <m:sSubPr>
                        <m:ctrlPr>
                          <a:rPr lang="pt-BR" i="1">
                            <a:latin typeface="Cambria Math" panose="02040503050406030204" pitchFamily="18" charset="0"/>
                          </a:rPr>
                        </m:ctrlPr>
                      </m:sSubPr>
                      <m:e>
                        <m:r>
                          <a:rPr lang="pt-BR" b="0" i="1" smtClean="0">
                            <a:latin typeface="Cambria Math" panose="02040503050406030204" pitchFamily="18" charset="0"/>
                          </a:rPr>
                          <m:t>𝑛</m:t>
                        </m:r>
                      </m:e>
                      <m:sub>
                        <m:r>
                          <a:rPr lang="pt-BR" i="1">
                            <a:latin typeface="Cambria Math" panose="02040503050406030204" pitchFamily="18" charset="0"/>
                          </a:rPr>
                          <m:t>𝑖</m:t>
                        </m:r>
                      </m:sub>
                    </m:sSub>
                    <m:r>
                      <a:rPr lang="pt-BR" i="1">
                        <a:latin typeface="Cambria Math" panose="02040503050406030204" pitchFamily="18" charset="0"/>
                      </a:rPr>
                      <m:t>, </m:t>
                    </m:r>
                    <m:r>
                      <a:rPr lang="pt-BR" i="1">
                        <a:latin typeface="Cambria Math" panose="02040503050406030204" pitchFamily="18" charset="0"/>
                      </a:rPr>
                      <m:t>𝑖</m:t>
                    </m:r>
                    <m:r>
                      <a:rPr lang="pt-BR" i="1">
                        <a:latin typeface="Cambria Math" panose="02040503050406030204" pitchFamily="18" charset="0"/>
                        <a:ea typeface="Cambria Math" panose="02040503050406030204" pitchFamily="18" charset="0"/>
                      </a:rPr>
                      <m:t>∈{1, …</m:t>
                    </m:r>
                    <m:r>
                      <a:rPr lang="pt-BR" i="1">
                        <a:latin typeface="Cambria Math" panose="02040503050406030204" pitchFamily="18" charset="0"/>
                        <a:ea typeface="Cambria Math" panose="02040503050406030204" pitchFamily="18" charset="0"/>
                      </a:rPr>
                      <m:t>𝑑</m:t>
                    </m:r>
                    <m:r>
                      <a:rPr lang="pt-BR" i="1">
                        <a:latin typeface="Cambria Math" panose="02040503050406030204" pitchFamily="18" charset="0"/>
                        <a:ea typeface="Cambria Math" panose="02040503050406030204" pitchFamily="18" charset="0"/>
                      </a:rPr>
                      <m:t>}</m:t>
                    </m:r>
                  </m:oMath>
                </a14:m>
                <a:r>
                  <a:rPr lang="pt-BR" dirty="0"/>
                  <a:t>, exemplos da classe negativa, </a:t>
                </a:r>
                <a:r>
                  <a:rPr lang="pt-BR" i="1" dirty="0"/>
                  <a:t>N</a:t>
                </a:r>
                <a:r>
                  <a:rPr lang="pt-BR" dirty="0"/>
                  <a: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199" y="1825624"/>
                <a:ext cx="11241505" cy="5032376"/>
              </a:xfrm>
              <a:blipFill>
                <a:blip r:embed="rId3"/>
                <a:stretch>
                  <a:fillRect l="-921" t="-1937" r="-1572"/>
                </a:stretch>
              </a:blipFill>
            </p:spPr>
            <p:txBody>
              <a:bodyPr/>
              <a:lstStyle/>
              <a:p>
                <a:r>
                  <a:rPr lang="en-US">
                    <a:noFill/>
                  </a:rPr>
                  <a:t> </a:t>
                </a:r>
              </a:p>
            </p:txBody>
          </p:sp>
        </mc:Fallback>
      </mc:AlternateContent>
    </p:spTree>
    <p:extLst>
      <p:ext uri="{BB962C8B-B14F-4D97-AF65-F5344CB8AC3E}">
        <p14:creationId xmlns:p14="http://schemas.microsoft.com/office/powerpoint/2010/main" val="14841463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Indução de uma árvore de decisão</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4"/>
                <a:ext cx="11353800" cy="5032376"/>
              </a:xfrm>
            </p:spPr>
            <p:txBody>
              <a:bodyPr>
                <a:normAutofit/>
              </a:bodyPr>
              <a:lstStyle/>
              <a:p>
                <a:r>
                  <a:rPr lang="pt-BR" dirty="0"/>
                  <a:t>Um exemplo escolhido aleatoriamente do conjunto de treinamento tem probabilidade igual a </a:t>
                </a:r>
                <a14:m>
                  <m:oMath xmlns:m="http://schemas.openxmlformats.org/officeDocument/2006/math">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𝑝</m:t>
                        </m:r>
                      </m:e>
                      <m:sub>
                        <m:r>
                          <a:rPr lang="pt-BR" i="1">
                            <a:latin typeface="Cambria Math" panose="02040503050406030204" pitchFamily="18" charset="0"/>
                          </a:rPr>
                          <m:t>𝑖</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𝑛</m:t>
                        </m:r>
                      </m:e>
                      <m:sub>
                        <m:r>
                          <a:rPr lang="pt-BR" i="1">
                            <a:latin typeface="Cambria Math" panose="02040503050406030204" pitchFamily="18" charset="0"/>
                          </a:rPr>
                          <m:t>𝑖</m:t>
                        </m:r>
                      </m:sub>
                    </m:sSub>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oMath>
                </a14:m>
                <a:r>
                  <a:rPr lang="pt-BR" dirty="0"/>
                  <a:t> de pertencer ao </a:t>
                </a:r>
                <a14:m>
                  <m:oMath xmlns:m="http://schemas.openxmlformats.org/officeDocument/2006/math">
                    <m:r>
                      <a:rPr lang="pt-BR" b="0" i="1" smtClean="0">
                        <a:latin typeface="Cambria Math" panose="02040503050406030204" pitchFamily="18" charset="0"/>
                      </a:rPr>
                      <m:t>𝑖</m:t>
                    </m:r>
                  </m:oMath>
                </a14:m>
                <a:r>
                  <a:rPr lang="pt-BR" dirty="0"/>
                  <a:t>-ésimo subconjunto,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𝐸</m:t>
                        </m:r>
                      </m:e>
                      <m:sub>
                        <m:r>
                          <a:rPr lang="pt-BR" b="0" i="1" smtClean="0">
                            <a:latin typeface="Cambria Math" panose="02040503050406030204" pitchFamily="18" charset="0"/>
                          </a:rPr>
                          <m:t>𝑖</m:t>
                        </m:r>
                      </m:sub>
                    </m:sSub>
                  </m:oMath>
                </a14:m>
                <a:r>
                  <a:rPr lang="pt-BR" dirty="0"/>
                  <a:t>, do atributo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𝑘</m:t>
                        </m:r>
                      </m:sub>
                    </m:sSub>
                  </m:oMath>
                </a14:m>
                <a:r>
                  <a:rPr lang="pt-BR" dirty="0"/>
                  <a:t>.</a:t>
                </a:r>
              </a:p>
              <a:p>
                <a:r>
                  <a:rPr lang="pt-BR" dirty="0"/>
                  <a:t>Assim, a </a:t>
                </a:r>
                <a:r>
                  <a:rPr lang="pt-BR" b="1" dirty="0">
                    <a:solidFill>
                      <a:srgbClr val="00B050"/>
                    </a:solidFill>
                  </a:rPr>
                  <a:t>entropia restante</a:t>
                </a:r>
                <a:r>
                  <a:rPr lang="pt-BR" dirty="0"/>
                  <a:t> após o teste do atributo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𝑘</m:t>
                        </m:r>
                      </m:sub>
                    </m:sSub>
                  </m:oMath>
                </a14:m>
                <a:r>
                  <a:rPr lang="pt-BR" dirty="0"/>
                  <a:t> é dada por</a:t>
                </a:r>
              </a:p>
              <a:p>
                <a:pPr marL="0" indent="0" algn="ctr">
                  <a:buNone/>
                </a:pPr>
                <a14:m>
                  <m:oMathPara xmlns:m="http://schemas.openxmlformats.org/officeDocument/2006/math">
                    <m:oMathParaPr>
                      <m:jc m:val="centerGroup"/>
                    </m:oMathParaPr>
                    <m:oMath xmlns:m="http://schemas.openxmlformats.org/officeDocument/2006/math">
                      <m:r>
                        <a:rPr lang="pt-BR" sz="2600" b="0" i="1" smtClean="0">
                          <a:latin typeface="Cambria Math" panose="02040503050406030204" pitchFamily="18" charset="0"/>
                        </a:rPr>
                        <m:t>𝑅𝑒𝑚𝑎𝑖𝑛𝑑𝑒𝑟</m:t>
                      </m:r>
                      <m:d>
                        <m:dPr>
                          <m:ctrlPr>
                            <a:rPr lang="pt-BR" sz="2600" b="0" i="1" smtClean="0">
                              <a:latin typeface="Cambria Math" panose="02040503050406030204" pitchFamily="18" charset="0"/>
                            </a:rPr>
                          </m:ctrlPr>
                        </m:dPr>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𝑘</m:t>
                              </m:r>
                            </m:sub>
                          </m:sSub>
                        </m:e>
                      </m:d>
                      <m:r>
                        <a:rPr lang="pt-BR" sz="2600" b="0" i="1" smtClean="0">
                          <a:latin typeface="Cambria Math" panose="02040503050406030204" pitchFamily="18" charset="0"/>
                        </a:rPr>
                        <m:t>=</m:t>
                      </m:r>
                      <m:nary>
                        <m:naryPr>
                          <m:chr m:val="∑"/>
                          <m:ctrlPr>
                            <a:rPr lang="pt-BR" sz="2600" b="0" i="1" smtClean="0">
                              <a:latin typeface="Cambria Math" panose="02040503050406030204" pitchFamily="18" charset="0"/>
                            </a:rPr>
                          </m:ctrlPr>
                        </m:naryPr>
                        <m:sub>
                          <m:r>
                            <m:rPr>
                              <m:brk m:alnAt="23"/>
                            </m:rPr>
                            <a:rPr lang="pt-BR" sz="2600" b="0" i="1" smtClean="0">
                              <a:latin typeface="Cambria Math" panose="02040503050406030204" pitchFamily="18" charset="0"/>
                            </a:rPr>
                            <m:t>𝑖</m:t>
                          </m:r>
                          <m:r>
                            <a:rPr lang="pt-BR" sz="2600" b="0" i="1" smtClean="0">
                              <a:latin typeface="Cambria Math" panose="02040503050406030204" pitchFamily="18" charset="0"/>
                            </a:rPr>
                            <m:t>=1</m:t>
                          </m:r>
                        </m:sub>
                        <m:sup>
                          <m:r>
                            <a:rPr lang="pt-BR" sz="2600" b="0" i="1" smtClean="0">
                              <a:latin typeface="Cambria Math" panose="02040503050406030204" pitchFamily="18" charset="0"/>
                            </a:rPr>
                            <m:t>𝑑</m:t>
                          </m:r>
                        </m:sup>
                        <m:e>
                          <m:f>
                            <m:fPr>
                              <m:ctrlPr>
                                <a:rPr lang="pt-BR" sz="2600" b="0" i="1" smtClean="0">
                                  <a:latin typeface="Cambria Math" panose="02040503050406030204" pitchFamily="18" charset="0"/>
                                </a:rPr>
                              </m:ctrlPr>
                            </m:fPr>
                            <m:num>
                              <m:sSub>
                                <m:sSubPr>
                                  <m:ctrlPr>
                                    <a:rPr lang="pt-BR" sz="2600" i="1">
                                      <a:latin typeface="Cambria Math" panose="02040503050406030204" pitchFamily="18" charset="0"/>
                                    </a:rPr>
                                  </m:ctrlPr>
                                </m:sSubPr>
                                <m:e>
                                  <m:r>
                                    <a:rPr lang="pt-BR" sz="2600" i="1">
                                      <a:latin typeface="Cambria Math" panose="02040503050406030204" pitchFamily="18" charset="0"/>
                                    </a:rPr>
                                    <m:t>𝑝</m:t>
                                  </m:r>
                                </m:e>
                                <m:sub>
                                  <m:r>
                                    <a:rPr lang="pt-BR" sz="2600" i="1">
                                      <a:latin typeface="Cambria Math" panose="02040503050406030204" pitchFamily="18" charset="0"/>
                                    </a:rPr>
                                    <m:t>𝑖</m:t>
                                  </m:r>
                                </m:sub>
                              </m:sSub>
                              <m:r>
                                <a:rPr lang="pt-BR" sz="2600" i="1">
                                  <a:latin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𝑛</m:t>
                                  </m:r>
                                </m:e>
                                <m:sub>
                                  <m:r>
                                    <a:rPr lang="pt-BR" sz="2600" i="1">
                                      <a:latin typeface="Cambria Math" panose="02040503050406030204" pitchFamily="18" charset="0"/>
                                    </a:rPr>
                                    <m:t>𝑖</m:t>
                                  </m:r>
                                </m:sub>
                              </m:sSub>
                            </m:num>
                            <m:den>
                              <m:r>
                                <a:rPr lang="pt-BR" sz="2600" i="1">
                                  <a:latin typeface="Cambria Math" panose="02040503050406030204" pitchFamily="18" charset="0"/>
                                </a:rPr>
                                <m:t>𝑝</m:t>
                              </m:r>
                              <m:r>
                                <a:rPr lang="pt-BR" sz="2600" i="1">
                                  <a:latin typeface="Cambria Math" panose="02040503050406030204" pitchFamily="18" charset="0"/>
                                </a:rPr>
                                <m:t>+</m:t>
                              </m:r>
                              <m:r>
                                <a:rPr lang="pt-BR" sz="2600" i="1">
                                  <a:latin typeface="Cambria Math" panose="02040503050406030204" pitchFamily="18" charset="0"/>
                                </a:rPr>
                                <m:t>𝑛</m:t>
                              </m:r>
                            </m:den>
                          </m:f>
                        </m:e>
                      </m:nary>
                      <m:r>
                        <a:rPr lang="pt-BR" sz="2600" i="1">
                          <a:latin typeface="Cambria Math" panose="02040503050406030204" pitchFamily="18" charset="0"/>
                        </a:rPr>
                        <m:t>𝐵</m:t>
                      </m:r>
                      <m:d>
                        <m:dPr>
                          <m:ctrlPr>
                            <a:rPr lang="pt-BR" sz="2600" i="1">
                              <a:latin typeface="Cambria Math" panose="02040503050406030204" pitchFamily="18" charset="0"/>
                            </a:rPr>
                          </m:ctrlPr>
                        </m:dPr>
                        <m:e>
                          <m:f>
                            <m:fPr>
                              <m:ctrlPr>
                                <a:rPr lang="pt-BR" sz="2600" i="1">
                                  <a:latin typeface="Cambria Math" panose="02040503050406030204" pitchFamily="18" charset="0"/>
                                </a:rPr>
                              </m:ctrlPr>
                            </m:fPr>
                            <m:num>
                              <m:sSub>
                                <m:sSubPr>
                                  <m:ctrlPr>
                                    <a:rPr lang="pt-BR" sz="2600" i="1">
                                      <a:latin typeface="Cambria Math" panose="02040503050406030204" pitchFamily="18" charset="0"/>
                                    </a:rPr>
                                  </m:ctrlPr>
                                </m:sSubPr>
                                <m:e>
                                  <m:r>
                                    <a:rPr lang="pt-BR" sz="2600" i="1">
                                      <a:latin typeface="Cambria Math" panose="02040503050406030204" pitchFamily="18" charset="0"/>
                                    </a:rPr>
                                    <m:t>𝑝</m:t>
                                  </m:r>
                                </m:e>
                                <m:sub>
                                  <m:r>
                                    <a:rPr lang="pt-BR" sz="2600" i="1">
                                      <a:latin typeface="Cambria Math" panose="02040503050406030204" pitchFamily="18" charset="0"/>
                                    </a:rPr>
                                    <m:t>𝑖</m:t>
                                  </m:r>
                                </m:sub>
                              </m:sSub>
                            </m:num>
                            <m:den>
                              <m:sSub>
                                <m:sSubPr>
                                  <m:ctrlPr>
                                    <a:rPr lang="pt-BR" sz="2600" i="1">
                                      <a:latin typeface="Cambria Math" panose="02040503050406030204" pitchFamily="18" charset="0"/>
                                    </a:rPr>
                                  </m:ctrlPr>
                                </m:sSubPr>
                                <m:e>
                                  <m:r>
                                    <a:rPr lang="pt-BR" sz="2600" i="1">
                                      <a:latin typeface="Cambria Math" panose="02040503050406030204" pitchFamily="18" charset="0"/>
                                    </a:rPr>
                                    <m:t>𝑝</m:t>
                                  </m:r>
                                </m:e>
                                <m:sub>
                                  <m:r>
                                    <a:rPr lang="pt-BR" sz="2600" i="1">
                                      <a:latin typeface="Cambria Math" panose="02040503050406030204" pitchFamily="18" charset="0"/>
                                    </a:rPr>
                                    <m:t>𝑖</m:t>
                                  </m:r>
                                </m:sub>
                              </m:sSub>
                              <m:r>
                                <a:rPr lang="pt-BR" sz="2600" i="1">
                                  <a:latin typeface="Cambria Math" panose="02040503050406030204" pitchFamily="18" charset="0"/>
                                </a:rPr>
                                <m:t>+</m:t>
                              </m:r>
                              <m:sSub>
                                <m:sSubPr>
                                  <m:ctrlPr>
                                    <a:rPr lang="pt-BR" sz="2600" i="1">
                                      <a:latin typeface="Cambria Math" panose="02040503050406030204" pitchFamily="18" charset="0"/>
                                    </a:rPr>
                                  </m:ctrlPr>
                                </m:sSubPr>
                                <m:e>
                                  <m:r>
                                    <a:rPr lang="pt-BR" sz="2600" i="1">
                                      <a:latin typeface="Cambria Math" panose="02040503050406030204" pitchFamily="18" charset="0"/>
                                    </a:rPr>
                                    <m:t>𝑛</m:t>
                                  </m:r>
                                </m:e>
                                <m:sub>
                                  <m:r>
                                    <a:rPr lang="pt-BR" sz="2600" i="1">
                                      <a:latin typeface="Cambria Math" panose="02040503050406030204" pitchFamily="18" charset="0"/>
                                    </a:rPr>
                                    <m:t>𝑖</m:t>
                                  </m:r>
                                </m:sub>
                              </m:sSub>
                            </m:den>
                          </m:f>
                        </m:e>
                      </m:d>
                      <m:r>
                        <a:rPr lang="pt-BR" sz="2600" b="0" i="0" smtClean="0">
                          <a:latin typeface="Cambria Math" panose="02040503050406030204" pitchFamily="18" charset="0"/>
                        </a:rPr>
                        <m:t>.</m:t>
                      </m:r>
                    </m:oMath>
                  </m:oMathPara>
                </a14:m>
                <a:endParaRPr lang="pt-BR" sz="2600" dirty="0"/>
              </a:p>
              <a:p>
                <a:r>
                  <a:rPr lang="pt-BR" dirty="0"/>
                  <a:t>O </a:t>
                </a:r>
                <a:r>
                  <a:rPr lang="pt-BR" b="1" dirty="0">
                    <a:solidFill>
                      <a:schemeClr val="accent2"/>
                    </a:solidFill>
                  </a:rPr>
                  <a:t>ganho de informação</a:t>
                </a:r>
                <a:r>
                  <a:rPr lang="pt-BR" b="1" dirty="0"/>
                  <a:t> </a:t>
                </a:r>
                <a:r>
                  <a:rPr lang="pt-BR" dirty="0"/>
                  <a:t>com o atributo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𝑘</m:t>
                        </m:r>
                      </m:sub>
                    </m:sSub>
                  </m:oMath>
                </a14:m>
                <a:r>
                  <a:rPr lang="pt-BR" dirty="0"/>
                  <a:t> é a </a:t>
                </a:r>
                <a:r>
                  <a:rPr lang="pt-BR" b="1" dirty="0">
                    <a:solidFill>
                      <a:srgbClr val="7030A0"/>
                    </a:solidFill>
                  </a:rPr>
                  <a:t>redução na entropia</a:t>
                </a:r>
                <a:r>
                  <a:rPr lang="pt-BR" dirty="0">
                    <a:solidFill>
                      <a:srgbClr val="7030A0"/>
                    </a:solidFill>
                  </a:rPr>
                  <a:t> </a:t>
                </a:r>
                <a:r>
                  <a:rPr lang="pt-BR" b="1" dirty="0">
                    <a:solidFill>
                      <a:srgbClr val="7030A0"/>
                    </a:solidFill>
                  </a:rPr>
                  <a:t>do objetivo</a:t>
                </a:r>
                <a:r>
                  <a:rPr lang="pt-BR" dirty="0"/>
                  <a:t>, que é dado por</a:t>
                </a:r>
              </a:p>
              <a:p>
                <a:pPr marL="0" indent="0" algn="ctr">
                  <a:buNone/>
                </a:pPr>
                <a14:m>
                  <m:oMathPara xmlns:m="http://schemas.openxmlformats.org/officeDocument/2006/math">
                    <m:oMathParaPr>
                      <m:jc m:val="centerGroup"/>
                    </m:oMathParaPr>
                    <m:oMath xmlns:m="http://schemas.openxmlformats.org/officeDocument/2006/math">
                      <m:r>
                        <a:rPr lang="pt-BR" sz="2600" b="0" i="1" smtClean="0">
                          <a:latin typeface="Cambria Math" panose="02040503050406030204" pitchFamily="18" charset="0"/>
                        </a:rPr>
                        <m:t>𝐺𝑎𝑖𝑛</m:t>
                      </m:r>
                      <m:d>
                        <m:dPr>
                          <m:ctrlPr>
                            <a:rPr lang="pt-BR" sz="2600" b="0" i="1" smtClean="0">
                              <a:latin typeface="Cambria Math" panose="02040503050406030204" pitchFamily="18" charset="0"/>
                            </a:rPr>
                          </m:ctrlPr>
                        </m:dPr>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𝑘</m:t>
                              </m:r>
                            </m:sub>
                          </m:sSub>
                        </m:e>
                      </m:d>
                      <m:r>
                        <a:rPr lang="pt-BR" sz="2600" b="0" i="1" smtClean="0">
                          <a:latin typeface="Cambria Math" panose="02040503050406030204" pitchFamily="18" charset="0"/>
                        </a:rPr>
                        <m:t>=</m:t>
                      </m:r>
                      <m:r>
                        <a:rPr lang="pt-BR" sz="2600" i="1">
                          <a:latin typeface="Cambria Math" panose="02040503050406030204" pitchFamily="18" charset="0"/>
                        </a:rPr>
                        <m:t>𝐵</m:t>
                      </m:r>
                      <m:d>
                        <m:dPr>
                          <m:ctrlPr>
                            <a:rPr lang="pt-BR" sz="2600" i="1">
                              <a:latin typeface="Cambria Math" panose="02040503050406030204" pitchFamily="18" charset="0"/>
                            </a:rPr>
                          </m:ctrlPr>
                        </m:dPr>
                        <m:e>
                          <m:f>
                            <m:fPr>
                              <m:ctrlPr>
                                <a:rPr lang="pt-BR" sz="2600" i="1">
                                  <a:latin typeface="Cambria Math" panose="02040503050406030204" pitchFamily="18" charset="0"/>
                                </a:rPr>
                              </m:ctrlPr>
                            </m:fPr>
                            <m:num>
                              <m:r>
                                <a:rPr lang="pt-BR" sz="2600" i="1">
                                  <a:latin typeface="Cambria Math" panose="02040503050406030204" pitchFamily="18" charset="0"/>
                                </a:rPr>
                                <m:t>𝑝</m:t>
                              </m:r>
                            </m:num>
                            <m:den>
                              <m:r>
                                <a:rPr lang="pt-BR" sz="2600" i="1">
                                  <a:latin typeface="Cambria Math" panose="02040503050406030204" pitchFamily="18" charset="0"/>
                                </a:rPr>
                                <m:t>𝑝</m:t>
                              </m:r>
                              <m:r>
                                <a:rPr lang="pt-BR" sz="2600" i="1">
                                  <a:latin typeface="Cambria Math" panose="02040503050406030204" pitchFamily="18" charset="0"/>
                                </a:rPr>
                                <m:t>+</m:t>
                              </m:r>
                              <m:r>
                                <a:rPr lang="pt-BR" sz="2600" i="1">
                                  <a:latin typeface="Cambria Math" panose="02040503050406030204" pitchFamily="18" charset="0"/>
                                </a:rPr>
                                <m:t>𝑛</m:t>
                              </m:r>
                            </m:den>
                          </m:f>
                        </m:e>
                      </m:d>
                      <m:r>
                        <a:rPr lang="pt-BR" sz="2600" b="0" i="1" smtClean="0">
                          <a:latin typeface="Cambria Math" panose="02040503050406030204" pitchFamily="18" charset="0"/>
                        </a:rPr>
                        <m:t>−</m:t>
                      </m:r>
                      <m:r>
                        <a:rPr lang="pt-BR" sz="2600" i="1">
                          <a:latin typeface="Cambria Math" panose="02040503050406030204" pitchFamily="18" charset="0"/>
                        </a:rPr>
                        <m:t>𝑅𝑒𝑚𝑎𝑖𝑛𝑑𝑒𝑟</m:t>
                      </m:r>
                      <m:d>
                        <m:dPr>
                          <m:ctrlPr>
                            <a:rPr lang="pt-BR" sz="2600" i="1">
                              <a:latin typeface="Cambria Math" panose="02040503050406030204" pitchFamily="18" charset="0"/>
                            </a:rPr>
                          </m:ctrlPr>
                        </m:dPr>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𝑘</m:t>
                              </m:r>
                            </m:sub>
                          </m:sSub>
                        </m:e>
                      </m:d>
                      <m:r>
                        <a:rPr lang="pt-BR" sz="2600" dirty="0">
                          <a:latin typeface="Cambria Math" panose="02040503050406030204" pitchFamily="18" charset="0"/>
                          <a:ea typeface="Cambria Math" panose="02040503050406030204" pitchFamily="18" charset="0"/>
                        </a:rPr>
                        <m:t>≥</m:t>
                      </m:r>
                      <m:r>
                        <a:rPr lang="pt-BR" sz="2600" b="0" i="0" dirty="0" smtClean="0">
                          <a:latin typeface="Cambria Math" panose="02040503050406030204" pitchFamily="18" charset="0"/>
                          <a:ea typeface="Cambria Math" panose="02040503050406030204" pitchFamily="18" charset="0"/>
                        </a:rPr>
                        <m:t>0.</m:t>
                      </m:r>
                    </m:oMath>
                  </m:oMathPara>
                </a14:m>
                <a:endParaRPr lang="pt-BR" sz="2600" dirty="0"/>
              </a:p>
              <a:p>
                <a:r>
                  <a:rPr lang="pt-BR" sz="2600" dirty="0"/>
                  <a:t>O menor valor de </a:t>
                </a:r>
                <a14:m>
                  <m:oMath xmlns:m="http://schemas.openxmlformats.org/officeDocument/2006/math">
                    <m:r>
                      <a:rPr lang="pt-BR" sz="2600" i="1">
                        <a:latin typeface="Cambria Math" panose="02040503050406030204" pitchFamily="18" charset="0"/>
                      </a:rPr>
                      <m:t>𝐺𝑎𝑖𝑛</m:t>
                    </m:r>
                    <m:d>
                      <m:dPr>
                        <m:ctrlPr>
                          <a:rPr lang="pt-BR" sz="2600" i="1">
                            <a:latin typeface="Cambria Math" panose="02040503050406030204" pitchFamily="18" charset="0"/>
                          </a:rPr>
                        </m:ctrlPr>
                      </m:dPr>
                      <m:e>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𝑘</m:t>
                            </m:r>
                          </m:sub>
                        </m:sSub>
                      </m:e>
                    </m:d>
                  </m:oMath>
                </a14:m>
                <a:r>
                  <a:rPr lang="pt-BR" sz="2600" dirty="0"/>
                  <a:t> é 0, pois </a:t>
                </a:r>
                <a14:m>
                  <m:oMath xmlns:m="http://schemas.openxmlformats.org/officeDocument/2006/math">
                    <m:sSub>
                      <m:sSubPr>
                        <m:ctrlPr>
                          <a:rPr lang="pt-BR" sz="2600" i="1">
                            <a:latin typeface="Cambria Math" panose="02040503050406030204" pitchFamily="18" charset="0"/>
                          </a:rPr>
                        </m:ctrlPr>
                      </m:sSubPr>
                      <m:e>
                        <m:r>
                          <a:rPr lang="pt-BR" sz="2600" i="1">
                            <a:latin typeface="Cambria Math" panose="02040503050406030204" pitchFamily="18" charset="0"/>
                          </a:rPr>
                          <m:t>𝑥</m:t>
                        </m:r>
                      </m:e>
                      <m:sub>
                        <m:r>
                          <a:rPr lang="pt-BR" sz="2600" i="1">
                            <a:latin typeface="Cambria Math" panose="02040503050406030204" pitchFamily="18" charset="0"/>
                          </a:rPr>
                          <m:t>𝑘</m:t>
                        </m:r>
                      </m:sub>
                    </m:sSub>
                  </m:oMath>
                </a14:m>
                <a:r>
                  <a:rPr lang="pt-BR" sz="2600" dirty="0"/>
                  <a:t> pode explicar todo o conjunto.</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825624"/>
                <a:ext cx="11353800" cy="5032376"/>
              </a:xfrm>
              <a:blipFill>
                <a:blip r:embed="rId3"/>
                <a:stretch>
                  <a:fillRect l="-967" t="-1937" b="-1453"/>
                </a:stretch>
              </a:blipFill>
            </p:spPr>
            <p:txBody>
              <a:bodyPr/>
              <a:lstStyle/>
              <a:p>
                <a:r>
                  <a:rPr lang="en-US">
                    <a:noFill/>
                  </a:rPr>
                  <a:t> </a:t>
                </a:r>
              </a:p>
            </p:txBody>
          </p:sp>
        </mc:Fallback>
      </mc:AlternateContent>
    </p:spTree>
    <p:extLst>
      <p:ext uri="{BB962C8B-B14F-4D97-AF65-F5344CB8AC3E}">
        <p14:creationId xmlns:p14="http://schemas.microsoft.com/office/powerpoint/2010/main" val="18853392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Método ID3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03758" y="1825624"/>
                <a:ext cx="5991725" cy="5032376"/>
              </a:xfrm>
            </p:spPr>
            <p:txBody>
              <a:bodyPr>
                <a:normAutofit/>
              </a:bodyPr>
              <a:lstStyle/>
              <a:p>
                <a:r>
                  <a:rPr lang="pt-BR" dirty="0"/>
                  <a:t>A ideia por trás do </a:t>
                </a:r>
                <a:r>
                  <a:rPr lang="pt-BR" b="1" dirty="0"/>
                  <a:t>método ID3 </a:t>
                </a:r>
                <a:r>
                  <a:rPr lang="pt-BR" dirty="0"/>
                  <a:t>é encontrar o </a:t>
                </a:r>
                <a:r>
                  <a:rPr lang="pt-BR" b="1" dirty="0">
                    <a:solidFill>
                      <a:schemeClr val="accent2"/>
                    </a:solidFill>
                  </a:rPr>
                  <a:t>atributo</a:t>
                </a:r>
                <a:r>
                  <a:rPr lang="pt-BR" b="1" i="1" dirty="0">
                    <a:solidFill>
                      <a:schemeClr val="accent2"/>
                    </a:solidFill>
                  </a:rPr>
                  <a:t> </a:t>
                </a:r>
                <a14:m>
                  <m:oMath xmlns:m="http://schemas.openxmlformats.org/officeDocument/2006/math">
                    <m:sSub>
                      <m:sSubPr>
                        <m:ctrlPr>
                          <a:rPr lang="pt-BR" b="1" i="1">
                            <a:solidFill>
                              <a:schemeClr val="accent2"/>
                            </a:solidFill>
                            <a:latin typeface="Cambria Math" panose="02040503050406030204" pitchFamily="18" charset="0"/>
                          </a:rPr>
                        </m:ctrlPr>
                      </m:sSubPr>
                      <m:e>
                        <m:r>
                          <a:rPr lang="pt-BR" b="1" i="1">
                            <a:solidFill>
                              <a:schemeClr val="accent2"/>
                            </a:solidFill>
                            <a:latin typeface="Cambria Math" panose="02040503050406030204" pitchFamily="18" charset="0"/>
                          </a:rPr>
                          <m:t>𝒙</m:t>
                        </m:r>
                      </m:e>
                      <m:sub>
                        <m:r>
                          <a:rPr lang="pt-BR" b="1" i="1">
                            <a:solidFill>
                              <a:schemeClr val="accent2"/>
                            </a:solidFill>
                            <a:latin typeface="Cambria Math" panose="02040503050406030204" pitchFamily="18" charset="0"/>
                          </a:rPr>
                          <m:t>𝒌</m:t>
                        </m:r>
                      </m:sub>
                    </m:sSub>
                  </m:oMath>
                </a14:m>
                <a:r>
                  <a:rPr lang="pt-BR" b="1" i="1" dirty="0">
                    <a:solidFill>
                      <a:schemeClr val="accent2"/>
                    </a:solidFill>
                  </a:rPr>
                  <a:t> </a:t>
                </a:r>
                <a:r>
                  <a:rPr lang="pt-BR" b="1" dirty="0">
                    <a:solidFill>
                      <a:schemeClr val="accent2"/>
                    </a:solidFill>
                  </a:rPr>
                  <a:t>que maximiza o ganho de informação</a:t>
                </a:r>
                <a:r>
                  <a:rPr lang="pt-BR" dirty="0"/>
                  <a:t> e, então, usar o procedimento </a:t>
                </a:r>
                <a:r>
                  <a:rPr lang="pt-BR" b="1" dirty="0">
                    <a:solidFill>
                      <a:srgbClr val="00B050"/>
                    </a:solidFill>
                  </a:rPr>
                  <a:t>recursivamente com os demais atributos</a:t>
                </a:r>
                <a:r>
                  <a:rPr lang="pt-BR" dirty="0"/>
                  <a:t>. </a:t>
                </a:r>
              </a:p>
              <a:p>
                <a:r>
                  <a:rPr lang="pt-BR" dirty="0"/>
                  <a:t>Ou seja, escolhe-se o atributo que gera a primeira ramificação e, então, se repete o processo usando os demais atributos para construir o restante da árvore.</a:t>
                </a:r>
              </a:p>
              <a:p>
                <a:endParaRPr lang="pt-B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003758" y="1825624"/>
                <a:ext cx="5991725" cy="5032376"/>
              </a:xfrm>
              <a:blipFill>
                <a:blip r:embed="rId3"/>
                <a:stretch>
                  <a:fillRect l="-1831" t="-1937" r="-2848"/>
                </a:stretch>
              </a:blipFill>
            </p:spPr>
            <p:txBody>
              <a:bodyPr/>
              <a:lstStyle/>
              <a:p>
                <a:r>
                  <a:rPr lang="en-US">
                    <a:noFill/>
                  </a:rPr>
                  <a:t> </a:t>
                </a:r>
              </a:p>
            </p:txBody>
          </p:sp>
        </mc:Fallback>
      </mc:AlternateContent>
      <p:pic>
        <p:nvPicPr>
          <p:cNvPr id="6146" name="Picture 2" descr="Decision Tree Algorithm. Demystifying Decision Tree Classifier… | by  Abdul4code | GoPenAI">
            <a:extLst>
              <a:ext uri="{FF2B5EF4-FFF2-40B4-BE49-F238E27FC236}">
                <a16:creationId xmlns:a16="http://schemas.microsoft.com/office/drawing/2014/main" id="{4E394074-4A61-349B-CF87-6EDBA0F615C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8097" y="2492625"/>
            <a:ext cx="5353519" cy="295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7292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Sequência de passos do método ID3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4"/>
                <a:ext cx="11353800" cy="5032376"/>
              </a:xfrm>
            </p:spPr>
            <p:txBody>
              <a:bodyPr>
                <a:normAutofit fontScale="92500"/>
              </a:bodyPr>
              <a:lstStyle/>
              <a:p>
                <a:pPr marL="457200" indent="-457200">
                  <a:buFont typeface="+mj-lt"/>
                  <a:buAutoNum type="alphaLcParenR"/>
                </a:pPr>
                <a:r>
                  <a:rPr lang="pt-BR" dirty="0"/>
                  <a:t>Cálculo da </a:t>
                </a:r>
                <a:r>
                  <a:rPr lang="pt-BR" b="1" dirty="0"/>
                  <a:t>entropia do objetivo </a:t>
                </a:r>
                <a:r>
                  <a:rPr lang="pt-BR" dirty="0"/>
                  <a:t>para o (sub)conjunto de treinamento </a:t>
                </a:r>
                <a:r>
                  <a:rPr lang="pt-BR" b="1" dirty="0"/>
                  <a:t>corrente</a:t>
                </a:r>
                <a:r>
                  <a:rPr lang="pt-BR" dirty="0"/>
                  <a:t>.</a:t>
                </a:r>
                <a:endParaRPr lang="pt-BR" b="1" dirty="0"/>
              </a:p>
              <a:p>
                <a:pPr lvl="1">
                  <a:buFont typeface="Wingdings" panose="05000000000000000000" pitchFamily="2" charset="2"/>
                  <a:buChar char="§"/>
                </a:pPr>
                <a:r>
                  <a:rPr lang="pt-BR" b="1" dirty="0"/>
                  <a:t>OBS</a:t>
                </a:r>
                <a:r>
                  <a:rPr lang="pt-BR" dirty="0"/>
                  <a:t>.: o (sub)conjunto é alterado a cada nova iteração do método de acordo com o(s) atributo(s) sendo testado(s).</a:t>
                </a:r>
              </a:p>
              <a:p>
                <a:pPr marL="457200" indent="-457200">
                  <a:buFont typeface="+mj-lt"/>
                  <a:buAutoNum type="alphaLcParenR"/>
                </a:pPr>
                <a:r>
                  <a:rPr lang="pt-BR" dirty="0"/>
                  <a:t>Cálculo do </a:t>
                </a:r>
                <a:r>
                  <a:rPr lang="pt-BR" b="1" dirty="0"/>
                  <a:t>ganho de informação </a:t>
                </a:r>
                <a:r>
                  <a:rPr lang="pt-BR" dirty="0"/>
                  <a:t>de cada atributo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𝑘</m:t>
                        </m:r>
                      </m:sub>
                    </m:sSub>
                    <m:r>
                      <a:rPr lang="pt-BR" i="1">
                        <a:latin typeface="Cambria Math" panose="02040503050406030204" pitchFamily="18" charset="0"/>
                      </a:rPr>
                      <m:t>, </m:t>
                    </m:r>
                    <m:r>
                      <a:rPr lang="pt-BR" i="1">
                        <a:latin typeface="Cambria Math" panose="02040503050406030204" pitchFamily="18" charset="0"/>
                      </a:rPr>
                      <m:t>𝑘</m:t>
                    </m:r>
                    <m:r>
                      <a:rPr lang="pt-BR" i="1">
                        <a:latin typeface="Cambria Math" panose="02040503050406030204" pitchFamily="18" charset="0"/>
                      </a:rPr>
                      <m:t>=1,…,</m:t>
                    </m:r>
                    <m:r>
                      <a:rPr lang="pt-BR" i="1">
                        <a:latin typeface="Cambria Math" panose="02040503050406030204" pitchFamily="18" charset="0"/>
                      </a:rPr>
                      <m:t>𝐾</m:t>
                    </m:r>
                  </m:oMath>
                </a14:m>
                <a:r>
                  <a:rPr lang="pt-BR" dirty="0"/>
                  <a:t> do conjunto de treinamento, </a:t>
                </a:r>
                <a14:m>
                  <m:oMath xmlns:m="http://schemas.openxmlformats.org/officeDocument/2006/math">
                    <m:r>
                      <a:rPr lang="pt-BR" i="1">
                        <a:latin typeface="Cambria Math" panose="02040503050406030204" pitchFamily="18" charset="0"/>
                      </a:rPr>
                      <m:t>𝐸</m:t>
                    </m:r>
                  </m:oMath>
                </a14:m>
                <a:r>
                  <a:rPr lang="pt-BR" dirty="0"/>
                  <a:t>.</a:t>
                </a:r>
              </a:p>
              <a:p>
                <a:pPr marL="457200" indent="-457200">
                  <a:buFont typeface="+mj-lt"/>
                  <a:buAutoNum type="alphaLcParenR"/>
                </a:pPr>
                <a:r>
                  <a:rPr lang="pt-BR" dirty="0"/>
                  <a:t>Criação de um nó com o atributo que maximizou o </a:t>
                </a:r>
                <a:r>
                  <a:rPr lang="pt-BR" b="1" dirty="0"/>
                  <a:t>ganho de informação</a:t>
                </a:r>
                <a:r>
                  <a:rPr lang="pt-BR" dirty="0"/>
                  <a:t>.</a:t>
                </a:r>
              </a:p>
              <a:p>
                <a:pPr marL="457200" indent="-457200">
                  <a:buFont typeface="+mj-lt"/>
                  <a:buAutoNum type="alphaLcParenR"/>
                </a:pPr>
                <a:r>
                  <a:rPr lang="pt-BR" b="1" dirty="0"/>
                  <a:t>Particionamento do (sub)conjunto em subconjuntos</a:t>
                </a:r>
                <a:r>
                  <a:rPr lang="pt-BR" b="1" i="1" dirty="0"/>
                  <a:t> </a:t>
                </a:r>
                <a:r>
                  <a:rPr lang="pt-BR" dirty="0"/>
                  <a:t>usando o atributo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𝑘</m:t>
                        </m:r>
                      </m:sub>
                    </m:sSub>
                  </m:oMath>
                </a14:m>
                <a:r>
                  <a:rPr lang="pt-BR" dirty="0"/>
                  <a:t> para o qual o </a:t>
                </a:r>
                <a:r>
                  <a:rPr lang="pt-BR" b="1" dirty="0"/>
                  <a:t>ganho de informação</a:t>
                </a:r>
                <a:r>
                  <a:rPr lang="pt-BR" b="1" i="1" dirty="0"/>
                  <a:t> </a:t>
                </a:r>
                <a:r>
                  <a:rPr lang="pt-BR" dirty="0"/>
                  <a:t>resultante após a divisão é maximizado.</a:t>
                </a:r>
              </a:p>
              <a:p>
                <a:pPr marL="457200" indent="-457200">
                  <a:buFont typeface="+mj-lt"/>
                  <a:buAutoNum type="alphaLcParenR"/>
                </a:pPr>
                <a:r>
                  <a:rPr lang="pt-BR" dirty="0"/>
                  <a:t>Repetir os itens a) até d) em </a:t>
                </a:r>
                <a:r>
                  <a:rPr lang="pt-BR" b="1" dirty="0"/>
                  <a:t>subconjuntos de treinamento</a:t>
                </a:r>
                <a:r>
                  <a:rPr lang="pt-BR" b="1" i="1" dirty="0"/>
                  <a:t> </a:t>
                </a:r>
                <a:r>
                  <a:rPr lang="pt-BR" dirty="0"/>
                  <a:t>usando os atributos restantes. Essa sequência</a:t>
                </a:r>
                <a:r>
                  <a:rPr lang="pt-BR" b="1" i="1" dirty="0"/>
                  <a:t> </a:t>
                </a:r>
                <a:r>
                  <a:rPr lang="pt-BR" b="1" dirty="0"/>
                  <a:t>continua </a:t>
                </a:r>
                <a:r>
                  <a:rPr lang="pt-BR" b="1" dirty="0">
                    <a:solidFill>
                      <a:srgbClr val="00B050"/>
                    </a:solidFill>
                  </a:rPr>
                  <a:t>até que</a:t>
                </a:r>
                <a:r>
                  <a:rPr lang="pt-BR" b="1" dirty="0"/>
                  <a:t> </a:t>
                </a:r>
                <a:r>
                  <a:rPr lang="pt-BR" b="1" dirty="0">
                    <a:solidFill>
                      <a:srgbClr val="00B050"/>
                    </a:solidFill>
                  </a:rPr>
                  <a:t>a</a:t>
                </a:r>
                <a:r>
                  <a:rPr lang="pt-BR" b="1" dirty="0"/>
                  <a:t> </a:t>
                </a:r>
                <a:r>
                  <a:rPr lang="pt-BR" b="1" dirty="0">
                    <a:solidFill>
                      <a:srgbClr val="00B050"/>
                    </a:solidFill>
                  </a:rPr>
                  <a:t>árvore classifique perfeitamente</a:t>
                </a:r>
                <a:r>
                  <a:rPr lang="pt-BR" b="1" dirty="0"/>
                  <a:t> </a:t>
                </a:r>
                <a:r>
                  <a:rPr lang="pt-BR" b="1" dirty="0">
                    <a:solidFill>
                      <a:srgbClr val="00B050"/>
                    </a:solidFill>
                  </a:rPr>
                  <a:t>todos os exemplos</a:t>
                </a:r>
                <a:r>
                  <a:rPr lang="pt-BR" b="1" dirty="0"/>
                  <a:t> de treinamento </a:t>
                </a:r>
                <a:r>
                  <a:rPr lang="pt-BR" dirty="0"/>
                  <a:t>ou </a:t>
                </a:r>
                <a:r>
                  <a:rPr lang="pt-BR" b="1" dirty="0">
                    <a:solidFill>
                      <a:schemeClr val="accent2"/>
                    </a:solidFill>
                  </a:rPr>
                  <a:t>até que todos os atributos tenham sido utilizados</a:t>
                </a:r>
                <a:r>
                  <a:rPr lang="pt-BR"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825624"/>
                <a:ext cx="11353800" cy="5032376"/>
              </a:xfrm>
              <a:blipFill>
                <a:blip r:embed="rId3"/>
                <a:stretch>
                  <a:fillRect l="-1020" t="-1937" r="-1289"/>
                </a:stretch>
              </a:blipFill>
            </p:spPr>
            <p:txBody>
              <a:bodyPr/>
              <a:lstStyle/>
              <a:p>
                <a:r>
                  <a:rPr lang="en-US">
                    <a:noFill/>
                  </a:rPr>
                  <a:t> </a:t>
                </a:r>
              </a:p>
            </p:txBody>
          </p:sp>
        </mc:Fallback>
      </mc:AlternateContent>
    </p:spTree>
    <p:extLst>
      <p:ext uri="{BB962C8B-B14F-4D97-AF65-F5344CB8AC3E}">
        <p14:creationId xmlns:p14="http://schemas.microsoft.com/office/powerpoint/2010/main" val="1262949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Sequência de passos do método ID3</a:t>
            </a:r>
          </a:p>
        </p:txBody>
      </p:sp>
      <p:sp>
        <p:nvSpPr>
          <p:cNvPr id="3" name="Content Placeholder 2"/>
          <p:cNvSpPr>
            <a:spLocks noGrp="1"/>
          </p:cNvSpPr>
          <p:nvPr>
            <p:ph idx="1"/>
          </p:nvPr>
        </p:nvSpPr>
        <p:spPr>
          <a:xfrm>
            <a:off x="5570620" y="1825624"/>
            <a:ext cx="6621379" cy="5032376"/>
          </a:xfrm>
        </p:spPr>
        <p:txBody>
          <a:bodyPr>
            <a:normAutofit/>
          </a:bodyPr>
          <a:lstStyle/>
          <a:p>
            <a:r>
              <a:rPr lang="pt-BR" dirty="0"/>
              <a:t>O </a:t>
            </a:r>
            <a:r>
              <a:rPr lang="pt-BR" b="1" dirty="0"/>
              <a:t>ID3</a:t>
            </a:r>
            <a:r>
              <a:rPr lang="pt-BR" dirty="0"/>
              <a:t> segue a regra: um </a:t>
            </a:r>
            <a:r>
              <a:rPr lang="pt-BR" b="1" dirty="0">
                <a:solidFill>
                  <a:schemeClr val="accent2"/>
                </a:solidFill>
              </a:rPr>
              <a:t>ramo</a:t>
            </a:r>
            <a:r>
              <a:rPr lang="pt-BR" dirty="0"/>
              <a:t> com uma </a:t>
            </a:r>
            <a:r>
              <a:rPr lang="pt-BR" b="1" dirty="0">
                <a:solidFill>
                  <a:schemeClr val="accent2"/>
                </a:solidFill>
              </a:rPr>
              <a:t>entropia igual a zero</a:t>
            </a:r>
            <a:r>
              <a:rPr lang="pt-BR" dirty="0"/>
              <a:t> é uma </a:t>
            </a:r>
            <a:r>
              <a:rPr lang="pt-BR" b="1" dirty="0">
                <a:solidFill>
                  <a:srgbClr val="00B050"/>
                </a:solidFill>
              </a:rPr>
              <a:t>folha</a:t>
            </a:r>
            <a:r>
              <a:rPr lang="pt-BR" dirty="0"/>
              <a:t> e um </a:t>
            </a:r>
            <a:r>
              <a:rPr lang="pt-BR" b="1" dirty="0">
                <a:solidFill>
                  <a:srgbClr val="7030A0"/>
                </a:solidFill>
              </a:rPr>
              <a:t>ramo</a:t>
            </a:r>
            <a:r>
              <a:rPr lang="pt-BR" dirty="0"/>
              <a:t> com </a:t>
            </a:r>
            <a:r>
              <a:rPr lang="pt-BR" b="1" dirty="0">
                <a:solidFill>
                  <a:srgbClr val="7030A0"/>
                </a:solidFill>
              </a:rPr>
              <a:t>entropia maior do que zero</a:t>
            </a:r>
            <a:r>
              <a:rPr lang="pt-BR" dirty="0"/>
              <a:t> </a:t>
            </a:r>
            <a:r>
              <a:rPr lang="pt-BR" b="1" dirty="0">
                <a:solidFill>
                  <a:srgbClr val="7030A0"/>
                </a:solidFill>
              </a:rPr>
              <a:t>precisa de partição adicional</a:t>
            </a:r>
            <a:r>
              <a:rPr lang="pt-BR" dirty="0"/>
              <a:t>.</a:t>
            </a:r>
          </a:p>
          <a:p>
            <a:r>
              <a:rPr lang="pt-BR" dirty="0"/>
              <a:t>O </a:t>
            </a:r>
            <a:r>
              <a:rPr lang="pt-BR" b="1" dirty="0"/>
              <a:t>método ID3 </a:t>
            </a:r>
            <a:r>
              <a:rPr lang="pt-BR" dirty="0"/>
              <a:t>será exemplificado através do exemplo apresentado em breve.</a:t>
            </a:r>
          </a:p>
        </p:txBody>
      </p:sp>
      <p:pic>
        <p:nvPicPr>
          <p:cNvPr id="4" name="Picture 2" descr="Id3 sales learning algorithm">
            <a:extLst>
              <a:ext uri="{FF2B5EF4-FFF2-40B4-BE49-F238E27FC236}">
                <a16:creationId xmlns:a16="http://schemas.microsoft.com/office/drawing/2014/main" id="{067EC1AF-E290-2AEA-EDF1-7B1E24A103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4" t="5172" r="4491"/>
          <a:stretch/>
        </p:blipFill>
        <p:spPr bwMode="auto">
          <a:xfrm>
            <a:off x="384146" y="2397760"/>
            <a:ext cx="4462173" cy="3455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649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Características do método ID3</a:t>
            </a:r>
          </a:p>
        </p:txBody>
      </p:sp>
      <p:sp>
        <p:nvSpPr>
          <p:cNvPr id="3" name="Content Placeholder 2"/>
          <p:cNvSpPr>
            <a:spLocks noGrp="1"/>
          </p:cNvSpPr>
          <p:nvPr>
            <p:ph idx="1"/>
          </p:nvPr>
        </p:nvSpPr>
        <p:spPr>
          <a:xfrm>
            <a:off x="838200" y="1825625"/>
            <a:ext cx="11353800" cy="5032375"/>
          </a:xfrm>
        </p:spPr>
        <p:txBody>
          <a:bodyPr>
            <a:normAutofit lnSpcReduction="10000"/>
          </a:bodyPr>
          <a:lstStyle/>
          <a:p>
            <a:r>
              <a:rPr lang="pt-BR" dirty="0"/>
              <a:t>Ele é aplicado apenas a problemas de classificação.</a:t>
            </a:r>
          </a:p>
          <a:p>
            <a:pPr lvl="1">
              <a:buFont typeface="Wingdings" panose="05000000000000000000" pitchFamily="2" charset="2"/>
              <a:buChar char="§"/>
            </a:pPr>
            <a:r>
              <a:rPr lang="pt-BR" dirty="0"/>
              <a:t>Foi projetado para </a:t>
            </a:r>
            <a:r>
              <a:rPr lang="pt-BR" b="1" dirty="0"/>
              <a:t>variáveis alvo (rótulo) categóricas.</a:t>
            </a:r>
            <a:endParaRPr lang="pt-BR" dirty="0"/>
          </a:p>
          <a:p>
            <a:pPr marL="171450" indent="-171450"/>
            <a:r>
              <a:rPr lang="pt-BR" dirty="0"/>
              <a:t>Pode </a:t>
            </a:r>
            <a:r>
              <a:rPr lang="pt-BR" b="1" dirty="0">
                <a:solidFill>
                  <a:schemeClr val="accent2"/>
                </a:solidFill>
              </a:rPr>
              <a:t>sobreajustar</a:t>
            </a:r>
            <a:r>
              <a:rPr lang="pt-BR" dirty="0"/>
              <a:t> aos dados de treinamento</a:t>
            </a:r>
          </a:p>
          <a:p>
            <a:pPr lvl="1">
              <a:buFont typeface="Wingdings" panose="05000000000000000000" pitchFamily="2" charset="2"/>
              <a:buChar char="§"/>
            </a:pPr>
            <a:r>
              <a:rPr lang="pt-BR" dirty="0"/>
              <a:t>Para evitar o sobreajuste, árvores de decisão menores devem ser preferidas ao invés das maiores.</a:t>
            </a:r>
          </a:p>
          <a:p>
            <a:pPr marL="171450" indent="-171450"/>
            <a:r>
              <a:rPr lang="pt-BR" dirty="0"/>
              <a:t>O método ID3 geralmente produz árvores pequenas, </a:t>
            </a:r>
            <a:r>
              <a:rPr lang="pt-BR" b="1" dirty="0">
                <a:solidFill>
                  <a:srgbClr val="002060"/>
                </a:solidFill>
              </a:rPr>
              <a:t>mas nem sempre</a:t>
            </a:r>
            <a:r>
              <a:rPr lang="pt-BR" dirty="0"/>
              <a:t> produz </a:t>
            </a:r>
            <a:r>
              <a:rPr lang="pt-BR" b="1" dirty="0">
                <a:solidFill>
                  <a:srgbClr val="002060"/>
                </a:solidFill>
              </a:rPr>
              <a:t>a menor árvore possível</a:t>
            </a:r>
            <a:r>
              <a:rPr lang="pt-BR" dirty="0"/>
              <a:t>.</a:t>
            </a:r>
          </a:p>
          <a:p>
            <a:r>
              <a:rPr lang="pt-BR" dirty="0"/>
              <a:t>Ideal para variáveis discretas.</a:t>
            </a:r>
          </a:p>
          <a:p>
            <a:pPr lvl="1">
              <a:buFont typeface="Wingdings" panose="05000000000000000000" pitchFamily="2" charset="2"/>
              <a:buChar char="§"/>
            </a:pPr>
            <a:r>
              <a:rPr lang="pt-BR" dirty="0"/>
              <a:t>Apresenta dificuldade com atributos contínuos (precisa de </a:t>
            </a:r>
            <a:r>
              <a:rPr lang="pt-BR" dirty="0" err="1"/>
              <a:t>discretização</a:t>
            </a:r>
            <a:r>
              <a:rPr lang="pt-BR" dirty="0"/>
              <a:t>).</a:t>
            </a:r>
          </a:p>
          <a:p>
            <a:pPr marL="171450" indent="-171450"/>
            <a:r>
              <a:rPr lang="pt-BR" dirty="0"/>
              <a:t>Se os valores de um atributo forem contínuos, haverá muito mais pontos para se dividir os dados com esse atributo, e a busca pelo melhor valor a ser dividido pode se tornar demorada.</a:t>
            </a:r>
          </a:p>
        </p:txBody>
      </p:sp>
    </p:spTree>
    <p:extLst>
      <p:ext uri="{BB962C8B-B14F-4D97-AF65-F5344CB8AC3E}">
        <p14:creationId xmlns:p14="http://schemas.microsoft.com/office/powerpoint/2010/main" val="3802744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Observações</a:t>
            </a:r>
          </a:p>
        </p:txBody>
      </p:sp>
      <p:sp>
        <p:nvSpPr>
          <p:cNvPr id="3" name="Content Placeholder 2"/>
          <p:cNvSpPr>
            <a:spLocks noGrp="1"/>
          </p:cNvSpPr>
          <p:nvPr>
            <p:ph idx="1"/>
          </p:nvPr>
        </p:nvSpPr>
        <p:spPr>
          <a:xfrm>
            <a:off x="4499810" y="1690688"/>
            <a:ext cx="7692189" cy="5167312"/>
          </a:xfrm>
        </p:spPr>
        <p:txBody>
          <a:bodyPr>
            <a:normAutofit/>
          </a:bodyPr>
          <a:lstStyle/>
          <a:p>
            <a:r>
              <a:rPr lang="pt-BR" dirty="0"/>
              <a:t>Além do </a:t>
            </a:r>
            <a:r>
              <a:rPr lang="pt-BR" b="1" dirty="0"/>
              <a:t>ganho de informação</a:t>
            </a:r>
            <a:r>
              <a:rPr lang="pt-BR" dirty="0"/>
              <a:t>, existem outras métricas que podem ser usadas para a indução. </a:t>
            </a:r>
          </a:p>
          <a:p>
            <a:r>
              <a:rPr lang="pt-BR" dirty="0"/>
              <a:t>Uma possibilidade é usar uma </a:t>
            </a:r>
            <a:r>
              <a:rPr lang="pt-BR" b="1" dirty="0">
                <a:solidFill>
                  <a:srgbClr val="7030A0"/>
                </a:solidFill>
              </a:rPr>
              <a:t>métrica de impureza</a:t>
            </a:r>
            <a:r>
              <a:rPr lang="pt-BR" dirty="0"/>
              <a:t>, como o </a:t>
            </a:r>
            <a:r>
              <a:rPr lang="pt-BR" b="1" dirty="0">
                <a:solidFill>
                  <a:srgbClr val="00B050"/>
                </a:solidFill>
              </a:rPr>
              <a:t>índice de Gini</a:t>
            </a:r>
            <a:r>
              <a:rPr lang="pt-BR" dirty="0"/>
              <a:t>.</a:t>
            </a:r>
          </a:p>
          <a:p>
            <a:pPr lvl="1">
              <a:buFont typeface="Wingdings" panose="05000000000000000000" pitchFamily="2" charset="2"/>
              <a:buChar char="§"/>
            </a:pPr>
            <a:r>
              <a:rPr lang="pt-BR" dirty="0"/>
              <a:t>Usado no método CART implementado pela biblioteca </a:t>
            </a:r>
            <a:r>
              <a:rPr lang="pt-BR" dirty="0" err="1"/>
              <a:t>SciKit-Learn</a:t>
            </a:r>
            <a:r>
              <a:rPr lang="pt-BR" dirty="0"/>
              <a:t>.</a:t>
            </a:r>
          </a:p>
          <a:p>
            <a:r>
              <a:rPr lang="pt-BR" dirty="0"/>
              <a:t>Mede o quão bagunçado (i.e., impuro) é um conjunto de dados.</a:t>
            </a:r>
          </a:p>
          <a:p>
            <a:pPr lvl="1">
              <a:buFont typeface="Wingdings" panose="05000000000000000000" pitchFamily="2" charset="2"/>
              <a:buChar char="§"/>
            </a:pPr>
            <a:r>
              <a:rPr lang="pt-BR" dirty="0"/>
              <a:t>Valor 1: </a:t>
            </a:r>
            <a:r>
              <a:rPr lang="pt-BR" b="1" dirty="0">
                <a:solidFill>
                  <a:srgbClr val="00B050"/>
                </a:solidFill>
              </a:rPr>
              <a:t>conjunto puro</a:t>
            </a:r>
            <a:r>
              <a:rPr lang="pt-BR" dirty="0"/>
              <a:t>, todas as amostras pertencem a uma mesma classe.</a:t>
            </a:r>
          </a:p>
          <a:p>
            <a:pPr lvl="1">
              <a:buFont typeface="Wingdings" panose="05000000000000000000" pitchFamily="2" charset="2"/>
              <a:buChar char="§"/>
            </a:pPr>
            <a:r>
              <a:rPr lang="pt-BR" dirty="0"/>
              <a:t>Valor 0: </a:t>
            </a:r>
            <a:r>
              <a:rPr lang="pt-BR" b="1" dirty="0">
                <a:solidFill>
                  <a:srgbClr val="FF0000"/>
                </a:solidFill>
              </a:rPr>
              <a:t>conjunto totalmente impuro</a:t>
            </a:r>
            <a:r>
              <a:rPr lang="pt-BR" dirty="0"/>
              <a:t>, as amostras pertencem a classes diferentes.</a:t>
            </a:r>
          </a:p>
        </p:txBody>
      </p:sp>
      <p:pic>
        <p:nvPicPr>
          <p:cNvPr id="16386" name="Picture 2" descr="Scikit-Learn Decision Trees Explained | by Frank Ceballos | Towards Data  Science">
            <a:extLst>
              <a:ext uri="{FF2B5EF4-FFF2-40B4-BE49-F238E27FC236}">
                <a16:creationId xmlns:a16="http://schemas.microsoft.com/office/drawing/2014/main" id="{CE20AFCF-F0BB-C2D5-8B57-47657C3435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648" t="9271" r="331" b="8580"/>
          <a:stretch/>
        </p:blipFill>
        <p:spPr bwMode="auto">
          <a:xfrm>
            <a:off x="148391" y="2426835"/>
            <a:ext cx="4233227" cy="3695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1814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Observações</a:t>
            </a:r>
          </a:p>
        </p:txBody>
      </p:sp>
      <p:sp>
        <p:nvSpPr>
          <p:cNvPr id="3" name="Content Placeholder 2"/>
          <p:cNvSpPr>
            <a:spLocks noGrp="1"/>
          </p:cNvSpPr>
          <p:nvPr>
            <p:ph idx="1"/>
          </p:nvPr>
        </p:nvSpPr>
        <p:spPr>
          <a:xfrm>
            <a:off x="4993105" y="1690688"/>
            <a:ext cx="7050506" cy="5167312"/>
          </a:xfrm>
        </p:spPr>
        <p:txBody>
          <a:bodyPr>
            <a:normAutofit/>
          </a:bodyPr>
          <a:lstStyle/>
          <a:p>
            <a:r>
              <a:rPr lang="pt-BR" dirty="0"/>
              <a:t>Outro ponto importante é, se for o caso, deve-se buscar metodologias para se lidar com atributos faltantes. </a:t>
            </a:r>
          </a:p>
          <a:p>
            <a:r>
              <a:rPr lang="pt-BR" dirty="0"/>
              <a:t>Existem várias soluções, como por exemplo:</a:t>
            </a:r>
          </a:p>
          <a:p>
            <a:pPr lvl="1">
              <a:buFont typeface="Wingdings" panose="05000000000000000000" pitchFamily="2" charset="2"/>
              <a:buChar char="§"/>
            </a:pPr>
            <a:r>
              <a:rPr lang="pt-BR" dirty="0"/>
              <a:t>Remover o exemplo.</a:t>
            </a:r>
          </a:p>
          <a:p>
            <a:pPr lvl="1">
              <a:buFont typeface="Wingdings" panose="05000000000000000000" pitchFamily="2" charset="2"/>
              <a:buChar char="§"/>
            </a:pPr>
            <a:r>
              <a:rPr lang="pt-BR" dirty="0"/>
              <a:t>Atribuir ao atributo a média de seus valores.</a:t>
            </a:r>
          </a:p>
          <a:p>
            <a:pPr lvl="1">
              <a:buFont typeface="Wingdings" panose="05000000000000000000" pitchFamily="2" charset="2"/>
              <a:buChar char="§"/>
            </a:pPr>
            <a:r>
              <a:rPr lang="pt-BR" dirty="0"/>
              <a:t>E outros que vimos antes.</a:t>
            </a:r>
          </a:p>
        </p:txBody>
      </p:sp>
      <p:pic>
        <p:nvPicPr>
          <p:cNvPr id="16386" name="Picture 2" descr="Scikit-Learn Decision Trees Explained | by Frank Ceballos | Towards Data  Science">
            <a:extLst>
              <a:ext uri="{FF2B5EF4-FFF2-40B4-BE49-F238E27FC236}">
                <a16:creationId xmlns:a16="http://schemas.microsoft.com/office/drawing/2014/main" id="{CE20AFCF-F0BB-C2D5-8B57-47657C3435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648" t="9271" r="331" b="8580"/>
          <a:stretch/>
        </p:blipFill>
        <p:spPr bwMode="auto">
          <a:xfrm>
            <a:off x="326741" y="2426835"/>
            <a:ext cx="4233227" cy="3695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0900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Observações</a:t>
            </a:r>
          </a:p>
        </p:txBody>
      </p:sp>
      <p:sp>
        <p:nvSpPr>
          <p:cNvPr id="3" name="Content Placeholder 2"/>
          <p:cNvSpPr>
            <a:spLocks noGrp="1"/>
          </p:cNvSpPr>
          <p:nvPr>
            <p:ph idx="1"/>
          </p:nvPr>
        </p:nvSpPr>
        <p:spPr>
          <a:xfrm>
            <a:off x="5281863" y="1825624"/>
            <a:ext cx="6737684" cy="5032376"/>
          </a:xfrm>
        </p:spPr>
        <p:txBody>
          <a:bodyPr>
            <a:normAutofit/>
          </a:bodyPr>
          <a:lstStyle/>
          <a:p>
            <a:r>
              <a:rPr lang="pt-BR" dirty="0"/>
              <a:t>Um conjunto que contenha inconsistências, como, por exemplo, </a:t>
            </a:r>
            <a:r>
              <a:rPr lang="pt-BR" b="1" dirty="0"/>
              <a:t>dois exemplos com os mesmos valores de atributos, porém classes diferentes</a:t>
            </a:r>
            <a:r>
              <a:rPr lang="pt-BR" dirty="0"/>
              <a:t>, precisará ser reconsiderado, pois os atributos atuais podem não ser suficientes, por exemplo, </a:t>
            </a:r>
            <a:r>
              <a:rPr lang="pt-BR" b="1" dirty="0"/>
              <a:t>precisando de mais atributos</a:t>
            </a:r>
            <a:r>
              <a:rPr lang="pt-BR" dirty="0"/>
              <a:t>.</a:t>
            </a:r>
          </a:p>
        </p:txBody>
      </p:sp>
      <p:pic>
        <p:nvPicPr>
          <p:cNvPr id="4" name="Picture 2" descr="Id3 sales learning algorithm">
            <a:extLst>
              <a:ext uri="{FF2B5EF4-FFF2-40B4-BE49-F238E27FC236}">
                <a16:creationId xmlns:a16="http://schemas.microsoft.com/office/drawing/2014/main" id="{181FAAA1-BC94-0894-FA0B-F9D0F7A33B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4" t="5172" r="4491"/>
          <a:stretch/>
        </p:blipFill>
        <p:spPr bwMode="auto">
          <a:xfrm>
            <a:off x="384146" y="2397760"/>
            <a:ext cx="4462173" cy="3455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49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Observações</a:t>
            </a:r>
          </a:p>
        </p:txBody>
      </p:sp>
      <p:sp>
        <p:nvSpPr>
          <p:cNvPr id="3" name="Content Placeholder 2"/>
          <p:cNvSpPr>
            <a:spLocks noGrp="1"/>
          </p:cNvSpPr>
          <p:nvPr>
            <p:ph idx="1"/>
          </p:nvPr>
        </p:nvSpPr>
        <p:spPr>
          <a:xfrm>
            <a:off x="5137482" y="1825624"/>
            <a:ext cx="7054517" cy="5032376"/>
          </a:xfrm>
        </p:spPr>
        <p:txBody>
          <a:bodyPr>
            <a:normAutofit/>
          </a:bodyPr>
          <a:lstStyle/>
          <a:p>
            <a:r>
              <a:rPr lang="pt-BR" dirty="0"/>
              <a:t>Um problema muito comum das </a:t>
            </a:r>
            <a:r>
              <a:rPr lang="pt-BR" b="1" dirty="0"/>
              <a:t>árvores de decisão</a:t>
            </a:r>
            <a:r>
              <a:rPr lang="pt-BR" dirty="0"/>
              <a:t>, especialmente quando se tem um número muito grande de atributos, é o </a:t>
            </a:r>
            <a:r>
              <a:rPr lang="pt-BR" b="1" dirty="0"/>
              <a:t>sobreajuste (alta variância)</a:t>
            </a:r>
            <a:r>
              <a:rPr lang="pt-BR" dirty="0"/>
              <a:t>.</a:t>
            </a:r>
          </a:p>
          <a:p>
            <a:r>
              <a:rPr lang="pt-BR" dirty="0"/>
              <a:t>Existem duas formas para se minimizar este problema:</a:t>
            </a:r>
          </a:p>
          <a:p>
            <a:pPr lvl="1">
              <a:buFont typeface="Wingdings" panose="05000000000000000000" pitchFamily="2" charset="2"/>
              <a:buChar char="§"/>
            </a:pPr>
            <a:r>
              <a:rPr lang="pt-BR" dirty="0"/>
              <a:t>Podar as árvores de decisão (</a:t>
            </a:r>
            <a:r>
              <a:rPr lang="pt-BR" b="1" dirty="0"/>
              <a:t>tree prunning</a:t>
            </a:r>
            <a:r>
              <a:rPr lang="pt-BR" dirty="0"/>
              <a:t>).</a:t>
            </a:r>
          </a:p>
          <a:p>
            <a:pPr lvl="1">
              <a:buFont typeface="Wingdings" panose="05000000000000000000" pitchFamily="2" charset="2"/>
              <a:buChar char="§"/>
            </a:pPr>
            <a:r>
              <a:rPr lang="pt-BR" dirty="0"/>
              <a:t>Ou utilizar </a:t>
            </a:r>
            <a:r>
              <a:rPr lang="pt-BR" b="1" dirty="0"/>
              <a:t>florestas aleatórias</a:t>
            </a:r>
            <a:r>
              <a:rPr lang="pt-BR" dirty="0"/>
              <a:t>.</a:t>
            </a:r>
          </a:p>
          <a:p>
            <a:pPr lvl="2">
              <a:buFont typeface="Courier New" panose="02070309020205020404" pitchFamily="49" charset="0"/>
              <a:buChar char="o"/>
            </a:pPr>
            <a:r>
              <a:rPr lang="pt-BR" dirty="0"/>
              <a:t>Florestas reduzem a variância.</a:t>
            </a:r>
          </a:p>
        </p:txBody>
      </p:sp>
      <p:pic>
        <p:nvPicPr>
          <p:cNvPr id="4" name="Picture 2" descr="Id3 sales learning algorithm">
            <a:extLst>
              <a:ext uri="{FF2B5EF4-FFF2-40B4-BE49-F238E27FC236}">
                <a16:creationId xmlns:a16="http://schemas.microsoft.com/office/drawing/2014/main" id="{B85C9B0B-463A-B292-2898-A7BCD8172D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54" t="5172" r="4491"/>
          <a:stretch/>
        </p:blipFill>
        <p:spPr bwMode="auto">
          <a:xfrm>
            <a:off x="384146" y="2397760"/>
            <a:ext cx="4462173" cy="3455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185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F37921-20CE-4560-BAB3-B3A1D486FA12}"/>
              </a:ext>
            </a:extLst>
          </p:cNvPr>
          <p:cNvSpPr>
            <a:spLocks noGrp="1"/>
          </p:cNvSpPr>
          <p:nvPr>
            <p:ph idx="1"/>
          </p:nvPr>
        </p:nvSpPr>
        <p:spPr>
          <a:xfrm>
            <a:off x="447173" y="2434807"/>
            <a:ext cx="11297653" cy="1988386"/>
          </a:xfrm>
        </p:spPr>
        <p:txBody>
          <a:bodyPr>
            <a:normAutofit/>
          </a:bodyPr>
          <a:lstStyle/>
          <a:p>
            <a:pPr marL="0" indent="0" algn="ctr">
              <a:buNone/>
            </a:pPr>
            <a:r>
              <a:rPr lang="pt-BR" sz="6000" dirty="0"/>
              <a:t>Exemplo de indução de uma árvore de decisão com o método ID3</a:t>
            </a:r>
            <a:endParaRPr lang="en-US" sz="6000" dirty="0"/>
          </a:p>
        </p:txBody>
      </p:sp>
    </p:spTree>
    <p:extLst>
      <p:ext uri="{BB962C8B-B14F-4D97-AF65-F5344CB8AC3E}">
        <p14:creationId xmlns:p14="http://schemas.microsoft.com/office/powerpoint/2010/main" val="41279349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B4ADAE-D498-CCE3-77E7-D18CF380DE3C}"/>
              </a:ext>
            </a:extLst>
          </p:cNvPr>
          <p:cNvSpPr>
            <a:spLocks noGrp="1"/>
          </p:cNvSpPr>
          <p:nvPr>
            <p:ph type="title"/>
          </p:nvPr>
        </p:nvSpPr>
        <p:spPr/>
        <p:txBody>
          <a:bodyPr/>
          <a:lstStyle/>
          <a:p>
            <a:r>
              <a:rPr lang="pt-BR" dirty="0"/>
              <a:t>Exemplo de indução com método ID3</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7C20CC7A-B5FF-FA36-A381-A0972C19BA9B}"/>
                  </a:ext>
                </a:extLst>
              </p:cNvPr>
              <p:cNvSpPr>
                <a:spLocks noGrp="1"/>
              </p:cNvSpPr>
              <p:nvPr>
                <p:ph idx="1"/>
              </p:nvPr>
            </p:nvSpPr>
            <p:spPr>
              <a:xfrm>
                <a:off x="5354052" y="1825624"/>
                <a:ext cx="6837948" cy="5032375"/>
              </a:xfrm>
            </p:spPr>
            <p:txBody>
              <a:bodyPr>
                <a:normAutofit/>
              </a:bodyPr>
              <a:lstStyle/>
              <a:p>
                <a:r>
                  <a:rPr lang="pt-BR" dirty="0"/>
                  <a:t>Vamos construir uma árvore de decisão para </a:t>
                </a:r>
                <a:r>
                  <a:rPr lang="pt-BR" b="1" dirty="0">
                    <a:solidFill>
                      <a:srgbClr val="FF0000"/>
                    </a:solidFill>
                  </a:rPr>
                  <a:t>predizer se jogadores irão ou não praticar um determinado esporte</a:t>
                </a:r>
                <a:r>
                  <a:rPr lang="pt-BR" b="1" dirty="0"/>
                  <a:t> </a:t>
                </a:r>
                <a:r>
                  <a:rPr lang="pt-BR" dirty="0"/>
                  <a:t>baseado em algumas </a:t>
                </a:r>
                <a:r>
                  <a:rPr lang="pt-BR" b="1" dirty="0">
                    <a:solidFill>
                      <a:srgbClr val="00B050"/>
                    </a:solidFill>
                  </a:rPr>
                  <a:t>condições meteorológicas</a:t>
                </a:r>
                <a:r>
                  <a:rPr lang="pt-BR" dirty="0"/>
                  <a:t>.</a:t>
                </a:r>
              </a:p>
              <a:p>
                <a:r>
                  <a:rPr lang="pt-BR" dirty="0"/>
                  <a:t>Vamos considerar um conjunto de dados da forma </a:t>
                </a:r>
                <a14:m>
                  <m:oMath xmlns:m="http://schemas.openxmlformats.org/officeDocument/2006/math">
                    <m:d>
                      <m:dPr>
                        <m:ctrlPr>
                          <a:rPr lang="pt-BR" smtClean="0">
                            <a:latin typeface="Cambria Math" panose="02040503050406030204" pitchFamily="18" charset="0"/>
                          </a:rPr>
                        </m:ctrlPr>
                      </m:dPr>
                      <m:e>
                        <m:sSub>
                          <m:sSubPr>
                            <m:ctrlPr>
                              <a:rPr lang="pt-BR" i="1" smtClean="0">
                                <a:latin typeface="Cambria Math" panose="02040503050406030204" pitchFamily="18" charset="0"/>
                              </a:rPr>
                            </m:ctrlPr>
                          </m:sSubPr>
                          <m:e>
                            <m:r>
                              <a:rPr lang="pt-BR" b="1" i="1" smtClean="0">
                                <a:latin typeface="Cambria Math" panose="02040503050406030204" pitchFamily="18" charset="0"/>
                              </a:rPr>
                              <m:t>𝒙</m:t>
                            </m:r>
                          </m:e>
                          <m:sub>
                            <m:r>
                              <a:rPr lang="pt-BR" b="0" i="1" smtClean="0">
                                <a:latin typeface="Cambria Math" panose="02040503050406030204" pitchFamily="18" charset="0"/>
                              </a:rPr>
                              <m:t>𝑖</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𝑑</m:t>
                            </m:r>
                          </m:e>
                          <m:sub>
                            <m:r>
                              <a:rPr lang="pt-BR" b="0" i="1" smtClean="0">
                                <a:latin typeface="Cambria Math" panose="02040503050406030204" pitchFamily="18" charset="0"/>
                              </a:rPr>
                              <m:t>𝑖</m:t>
                            </m:r>
                          </m:sub>
                        </m:sSub>
                      </m:e>
                    </m:d>
                  </m:oMath>
                </a14:m>
                <a:r>
                  <a:rPr lang="pt-BR" dirty="0"/>
                  <a:t>, onde </a:t>
                </a:r>
                <a14:m>
                  <m:oMath xmlns:m="http://schemas.openxmlformats.org/officeDocument/2006/math">
                    <m:sSub>
                      <m:sSubPr>
                        <m:ctrlPr>
                          <a:rPr lang="pt-BR" i="1">
                            <a:latin typeface="Cambria Math" panose="02040503050406030204" pitchFamily="18" charset="0"/>
                          </a:rPr>
                        </m:ctrlPr>
                      </m:sSubPr>
                      <m:e>
                        <m:r>
                          <a:rPr lang="pt-BR" b="1" i="1" smtClean="0">
                            <a:latin typeface="Cambria Math" panose="02040503050406030204" pitchFamily="18" charset="0"/>
                          </a:rPr>
                          <m:t>𝒙</m:t>
                        </m:r>
                      </m:e>
                      <m:sub>
                        <m:r>
                          <a:rPr lang="pt-BR" i="1" smtClean="0">
                            <a:latin typeface="Cambria Math" panose="02040503050406030204" pitchFamily="18" charset="0"/>
                          </a:rPr>
                          <m:t>𝑖</m:t>
                        </m:r>
                      </m:sub>
                    </m:sSub>
                  </m:oMath>
                </a14:m>
                <a:r>
                  <a:rPr lang="pt-BR" i="1" dirty="0"/>
                  <a:t> </a:t>
                </a:r>
                <a:r>
                  <a:rPr lang="pt-BR" dirty="0"/>
                  <a:t>é um vetor de atributos e </a:t>
                </a:r>
                <a14:m>
                  <m:oMath xmlns:m="http://schemas.openxmlformats.org/officeDocument/2006/math">
                    <m:sSub>
                      <m:sSubPr>
                        <m:ctrlPr>
                          <a:rPr lang="pt-BR">
                            <a:latin typeface="Cambria Math" panose="02040503050406030204" pitchFamily="18" charset="0"/>
                          </a:rPr>
                        </m:ctrlPr>
                      </m:sSubPr>
                      <m:e>
                        <m:r>
                          <m:rPr>
                            <m:sty m:val="p"/>
                          </m:rPr>
                          <a:rPr lang="pt-BR" i="0" smtClean="0">
                            <a:latin typeface="Cambria Math" panose="02040503050406030204" pitchFamily="18" charset="0"/>
                          </a:rPr>
                          <m:t>d</m:t>
                        </m:r>
                      </m:e>
                      <m:sub>
                        <m:r>
                          <m:rPr>
                            <m:sty m:val="p"/>
                          </m:rPr>
                          <a:rPr lang="pt-BR" i="0" smtClean="0">
                            <a:latin typeface="Cambria Math" panose="02040503050406030204" pitchFamily="18" charset="0"/>
                          </a:rPr>
                          <m:t>i</m:t>
                        </m:r>
                      </m:sub>
                    </m:sSub>
                  </m:oMath>
                </a14:m>
                <a:r>
                  <a:rPr lang="pt-BR" dirty="0"/>
                  <a:t> é um rótulo correspondente ao vetor de atributos. </a:t>
                </a:r>
              </a:p>
              <a:p>
                <a:r>
                  <a:rPr lang="pt-BR" dirty="0"/>
                  <a:t>Nesse conjunto, cada entrada diz respeito à condição meteorológica de um dia e se os jogadores jogaram ou não. </a:t>
                </a:r>
              </a:p>
            </p:txBody>
          </p:sp>
        </mc:Choice>
        <mc:Fallback>
          <p:sp>
            <p:nvSpPr>
              <p:cNvPr id="3" name="Espaço Reservado para Conteúdo 2">
                <a:extLst>
                  <a:ext uri="{FF2B5EF4-FFF2-40B4-BE49-F238E27FC236}">
                    <a16:creationId xmlns:a16="http://schemas.microsoft.com/office/drawing/2014/main" id="{7C20CC7A-B5FF-FA36-A381-A0972C19BA9B}"/>
                  </a:ext>
                </a:extLst>
              </p:cNvPr>
              <p:cNvSpPr>
                <a:spLocks noGrp="1" noRot="1" noChangeAspect="1" noMove="1" noResize="1" noEditPoints="1" noAdjustHandles="1" noChangeArrowheads="1" noChangeShapeType="1" noTextEdit="1"/>
              </p:cNvSpPr>
              <p:nvPr>
                <p:ph idx="1"/>
              </p:nvPr>
            </p:nvSpPr>
            <p:spPr>
              <a:xfrm>
                <a:off x="5354052" y="1825624"/>
                <a:ext cx="6837948" cy="5032375"/>
              </a:xfrm>
              <a:blipFill>
                <a:blip r:embed="rId2"/>
                <a:stretch>
                  <a:fillRect l="-1604" t="-1937" r="-2941"/>
                </a:stretch>
              </a:blipFill>
            </p:spPr>
            <p:txBody>
              <a:bodyPr/>
              <a:lstStyle/>
              <a:p>
                <a:r>
                  <a:rPr lang="en-US">
                    <a:noFill/>
                  </a:rPr>
                  <a:t> </a:t>
                </a:r>
              </a:p>
            </p:txBody>
          </p:sp>
        </mc:Fallback>
      </mc:AlternateContent>
      <p:pic>
        <p:nvPicPr>
          <p:cNvPr id="4" name="Picture 6">
            <a:extLst>
              <a:ext uri="{FF2B5EF4-FFF2-40B4-BE49-F238E27FC236}">
                <a16:creationId xmlns:a16="http://schemas.microsoft.com/office/drawing/2014/main" id="{2712D624-3B6D-A9F0-EA3F-BD23089FAF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805" y="3184567"/>
            <a:ext cx="5220247" cy="1664160"/>
          </a:xfrm>
          <a:prstGeom prst="rect">
            <a:avLst/>
          </a:prstGeom>
        </p:spPr>
      </p:pic>
    </p:spTree>
    <p:extLst>
      <p:ext uri="{BB962C8B-B14F-4D97-AF65-F5344CB8AC3E}">
        <p14:creationId xmlns:p14="http://schemas.microsoft.com/office/powerpoint/2010/main" val="40918962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B4ADAE-D498-CCE3-77E7-D18CF380DE3C}"/>
              </a:ext>
            </a:extLst>
          </p:cNvPr>
          <p:cNvSpPr>
            <a:spLocks noGrp="1"/>
          </p:cNvSpPr>
          <p:nvPr>
            <p:ph type="title"/>
          </p:nvPr>
        </p:nvSpPr>
        <p:spPr/>
        <p:txBody>
          <a:bodyPr/>
          <a:lstStyle/>
          <a:p>
            <a:r>
              <a:rPr lang="pt-BR" dirty="0"/>
              <a:t>Exemplo de indução com método ID3</a:t>
            </a:r>
          </a:p>
        </p:txBody>
      </p:sp>
      <p:sp>
        <p:nvSpPr>
          <p:cNvPr id="3" name="Espaço Reservado para Conteúdo 2">
            <a:extLst>
              <a:ext uri="{FF2B5EF4-FFF2-40B4-BE49-F238E27FC236}">
                <a16:creationId xmlns:a16="http://schemas.microsoft.com/office/drawing/2014/main" id="{7C20CC7A-B5FF-FA36-A381-A0972C19BA9B}"/>
              </a:ext>
            </a:extLst>
          </p:cNvPr>
          <p:cNvSpPr>
            <a:spLocks noGrp="1"/>
          </p:cNvSpPr>
          <p:nvPr>
            <p:ph idx="1"/>
          </p:nvPr>
        </p:nvSpPr>
        <p:spPr>
          <a:xfrm>
            <a:off x="5354052" y="1825624"/>
            <a:ext cx="6837948" cy="5032375"/>
          </a:xfrm>
        </p:spPr>
        <p:txBody>
          <a:bodyPr>
            <a:normAutofit lnSpcReduction="10000"/>
          </a:bodyPr>
          <a:lstStyle/>
          <a:p>
            <a:r>
              <a:rPr lang="pt-BR" dirty="0"/>
              <a:t>Existem </a:t>
            </a:r>
            <a:r>
              <a:rPr lang="pt-BR" b="1" dirty="0"/>
              <a:t>quatro</a:t>
            </a:r>
            <a:r>
              <a:rPr lang="pt-BR" dirty="0"/>
              <a:t> atributos </a:t>
            </a:r>
            <a:r>
              <a:rPr lang="pt-BR" b="1" dirty="0">
                <a:solidFill>
                  <a:srgbClr val="00B050"/>
                </a:solidFill>
              </a:rPr>
              <a:t>categóricos</a:t>
            </a:r>
            <a:r>
              <a:rPr lang="pt-BR" dirty="0"/>
              <a:t>:</a:t>
            </a:r>
          </a:p>
          <a:p>
            <a:pPr lvl="1">
              <a:buFont typeface="Wingdings" panose="05000000000000000000" pitchFamily="2" charset="2"/>
              <a:buChar char="§"/>
            </a:pPr>
            <a:r>
              <a:rPr lang="pt-BR" b="1" dirty="0"/>
              <a:t>Tempo</a:t>
            </a:r>
            <a:r>
              <a:rPr lang="pt-BR" dirty="0"/>
              <a:t>: {ensolarado, nublado, chuvoso}</a:t>
            </a:r>
          </a:p>
          <a:p>
            <a:pPr lvl="1">
              <a:buFont typeface="Wingdings" panose="05000000000000000000" pitchFamily="2" charset="2"/>
              <a:buChar char="§"/>
            </a:pPr>
            <a:r>
              <a:rPr lang="pt-BR" b="1" dirty="0"/>
              <a:t>Temperatura</a:t>
            </a:r>
            <a:r>
              <a:rPr lang="pt-BR" dirty="0"/>
              <a:t>: {frio, agradável, quente}</a:t>
            </a:r>
          </a:p>
          <a:p>
            <a:pPr lvl="1">
              <a:buFont typeface="Wingdings" panose="05000000000000000000" pitchFamily="2" charset="2"/>
              <a:buChar char="§"/>
            </a:pPr>
            <a:r>
              <a:rPr lang="pt-BR" b="1" dirty="0"/>
              <a:t>Umidade</a:t>
            </a:r>
            <a:r>
              <a:rPr lang="pt-BR" dirty="0"/>
              <a:t>: {alta, normal}</a:t>
            </a:r>
          </a:p>
          <a:p>
            <a:pPr lvl="1">
              <a:buFont typeface="Wingdings" panose="05000000000000000000" pitchFamily="2" charset="2"/>
              <a:buChar char="§"/>
            </a:pPr>
            <a:r>
              <a:rPr lang="pt-BR" b="1" dirty="0"/>
              <a:t>Vento</a:t>
            </a:r>
            <a:r>
              <a:rPr lang="pt-BR" dirty="0"/>
              <a:t>: {presente, ausente}</a:t>
            </a:r>
          </a:p>
          <a:p>
            <a:r>
              <a:rPr lang="pt-BR" dirty="0"/>
              <a:t>Os rótulos são dois (problema binário): </a:t>
            </a:r>
            <a:r>
              <a:rPr lang="pt-BR" b="1" dirty="0"/>
              <a:t>positivo</a:t>
            </a:r>
            <a:r>
              <a:rPr lang="pt-BR" dirty="0"/>
              <a:t> (P), i.e., jogar, e </a:t>
            </a:r>
            <a:r>
              <a:rPr lang="pt-BR" b="1" dirty="0"/>
              <a:t>negativo</a:t>
            </a:r>
            <a:r>
              <a:rPr lang="pt-BR" dirty="0"/>
              <a:t> (N), i.e., não jogar.</a:t>
            </a:r>
          </a:p>
          <a:p>
            <a:r>
              <a:rPr lang="pt-BR" dirty="0"/>
              <a:t>Um exemplo de condição meteorológica de um determinado dia poderia ser descrito por: </a:t>
            </a:r>
          </a:p>
          <a:p>
            <a:pPr marL="0" indent="0" algn="ctr">
              <a:buNone/>
            </a:pPr>
            <a:r>
              <a:rPr lang="pt-BR" dirty="0"/>
              <a:t>{nublado, frio, normal, ausente}</a:t>
            </a:r>
          </a:p>
        </p:txBody>
      </p:sp>
      <p:pic>
        <p:nvPicPr>
          <p:cNvPr id="4" name="Picture 6">
            <a:extLst>
              <a:ext uri="{FF2B5EF4-FFF2-40B4-BE49-F238E27FC236}">
                <a16:creationId xmlns:a16="http://schemas.microsoft.com/office/drawing/2014/main" id="{2712D624-3B6D-A9F0-EA3F-BD23089FAF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741" y="3184567"/>
            <a:ext cx="5220247" cy="1664160"/>
          </a:xfrm>
          <a:prstGeom prst="rect">
            <a:avLst/>
          </a:prstGeom>
        </p:spPr>
      </p:pic>
    </p:spTree>
    <p:extLst>
      <p:ext uri="{BB962C8B-B14F-4D97-AF65-F5344CB8AC3E}">
        <p14:creationId xmlns:p14="http://schemas.microsoft.com/office/powerpoint/2010/main" val="284001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001703" cy="1325563"/>
          </a:xfrm>
        </p:spPr>
        <p:txBody>
          <a:bodyPr/>
          <a:lstStyle/>
          <a:p>
            <a:r>
              <a:rPr lang="pt-BR" dirty="0"/>
              <a:t>Exemplo de indução com método ID3</a:t>
            </a:r>
          </a:p>
        </p:txBody>
      </p:sp>
      <p:sp>
        <p:nvSpPr>
          <p:cNvPr id="3" name="Content Placeholder 2"/>
          <p:cNvSpPr>
            <a:spLocks noGrp="1"/>
          </p:cNvSpPr>
          <p:nvPr>
            <p:ph idx="1"/>
          </p:nvPr>
        </p:nvSpPr>
        <p:spPr>
          <a:xfrm>
            <a:off x="838200" y="1825626"/>
            <a:ext cx="10515600" cy="405592"/>
          </a:xfrm>
        </p:spPr>
        <p:txBody>
          <a:bodyPr>
            <a:normAutofit fontScale="92500" lnSpcReduction="20000"/>
          </a:bodyPr>
          <a:lstStyle/>
          <a:p>
            <a:r>
              <a:rPr lang="pt-BR" dirty="0"/>
              <a:t>O conjunto de treinamento do exemplo é dado pela tabela abaixo.</a:t>
            </a:r>
          </a:p>
        </p:txBody>
      </p:sp>
      <p:graphicFrame>
        <p:nvGraphicFramePr>
          <p:cNvPr id="4" name="Table 3"/>
          <p:cNvGraphicFramePr>
            <a:graphicFrameLocks noGrp="1"/>
          </p:cNvGraphicFramePr>
          <p:nvPr>
            <p:extLst>
              <p:ext uri="{D42A27DB-BD31-4B8C-83A1-F6EECF244321}">
                <p14:modId xmlns:p14="http://schemas.microsoft.com/office/powerpoint/2010/main" val="705585869"/>
              </p:ext>
            </p:extLst>
          </p:nvPr>
        </p:nvGraphicFramePr>
        <p:xfrm>
          <a:off x="3656333" y="2245737"/>
          <a:ext cx="4716048" cy="4351331"/>
        </p:xfrm>
        <a:graphic>
          <a:graphicData uri="http://schemas.openxmlformats.org/drawingml/2006/table">
            <a:tbl>
              <a:tblPr/>
              <a:tblGrid>
                <a:gridCol w="786008">
                  <a:extLst>
                    <a:ext uri="{9D8B030D-6E8A-4147-A177-3AD203B41FA5}">
                      <a16:colId xmlns:a16="http://schemas.microsoft.com/office/drawing/2014/main" val="20000"/>
                    </a:ext>
                  </a:extLst>
                </a:gridCol>
                <a:gridCol w="786008">
                  <a:extLst>
                    <a:ext uri="{9D8B030D-6E8A-4147-A177-3AD203B41FA5}">
                      <a16:colId xmlns:a16="http://schemas.microsoft.com/office/drawing/2014/main" val="20001"/>
                    </a:ext>
                  </a:extLst>
                </a:gridCol>
                <a:gridCol w="894865">
                  <a:extLst>
                    <a:ext uri="{9D8B030D-6E8A-4147-A177-3AD203B41FA5}">
                      <a16:colId xmlns:a16="http://schemas.microsoft.com/office/drawing/2014/main" val="20002"/>
                    </a:ext>
                  </a:extLst>
                </a:gridCol>
                <a:gridCol w="677151">
                  <a:extLst>
                    <a:ext uri="{9D8B030D-6E8A-4147-A177-3AD203B41FA5}">
                      <a16:colId xmlns:a16="http://schemas.microsoft.com/office/drawing/2014/main" val="20003"/>
                    </a:ext>
                  </a:extLst>
                </a:gridCol>
                <a:gridCol w="786008">
                  <a:extLst>
                    <a:ext uri="{9D8B030D-6E8A-4147-A177-3AD203B41FA5}">
                      <a16:colId xmlns:a16="http://schemas.microsoft.com/office/drawing/2014/main" val="20004"/>
                    </a:ext>
                  </a:extLst>
                </a:gridCol>
                <a:gridCol w="786008">
                  <a:extLst>
                    <a:ext uri="{9D8B030D-6E8A-4147-A177-3AD203B41FA5}">
                      <a16:colId xmlns:a16="http://schemas.microsoft.com/office/drawing/2014/main" val="20005"/>
                    </a:ext>
                  </a:extLst>
                </a:gridCol>
              </a:tblGrid>
              <a:tr h="257810">
                <a:tc rowSpan="2">
                  <a:txBody>
                    <a:bodyPr/>
                    <a:lstStyle/>
                    <a:p>
                      <a:pPr algn="ctr" rtl="0" fontAlgn="ctr"/>
                      <a:r>
                        <a:rPr lang="pt-BR" sz="1200" b="1" dirty="0">
                          <a:effectLst/>
                        </a:rPr>
                        <a:t>Day</a:t>
                      </a:r>
                    </a:p>
                  </a:txBody>
                  <a:tcPr marL="23580" marR="23580" marT="15720" marB="1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rtl="0" fontAlgn="b"/>
                      <a:r>
                        <a:rPr lang="pt-BR" sz="1200" b="1" dirty="0" err="1">
                          <a:effectLst/>
                        </a:rPr>
                        <a:t>Attributes</a:t>
                      </a:r>
                      <a:endParaRPr lang="pt-BR" sz="1200" b="1" dirty="0">
                        <a:effectLst/>
                      </a:endParaRP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rowSpan="2">
                  <a:txBody>
                    <a:bodyPr/>
                    <a:lstStyle/>
                    <a:p>
                      <a:pPr algn="ctr" rtl="0" fontAlgn="ctr"/>
                      <a:r>
                        <a:rPr lang="pt-BR" sz="1200" b="1" dirty="0">
                          <a:effectLst/>
                        </a:rPr>
                        <a:t>Class</a:t>
                      </a:r>
                    </a:p>
                    <a:p>
                      <a:pPr algn="ctr" rtl="0" fontAlgn="ctr"/>
                      <a:r>
                        <a:rPr lang="pt-BR" sz="1200" b="0" dirty="0">
                          <a:effectLst/>
                        </a:rPr>
                        <a:t>(y)</a:t>
                      </a:r>
                    </a:p>
                  </a:txBody>
                  <a:tcPr marL="23580" marR="23580" marT="15720" marB="1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84181">
                <a:tc vMerge="1">
                  <a:txBody>
                    <a:bodyPr/>
                    <a:lstStyle/>
                    <a:p>
                      <a:endParaRPr lang="pt-BR"/>
                    </a:p>
                  </a:txBody>
                  <a:tcPr/>
                </a:tc>
                <a:tc>
                  <a:txBody>
                    <a:bodyPr/>
                    <a:lstStyle/>
                    <a:p>
                      <a:pPr algn="ctr" rtl="0" fontAlgn="b"/>
                      <a:r>
                        <a:rPr lang="pt-BR" sz="1200" b="1" dirty="0">
                          <a:effectLst/>
                        </a:rPr>
                        <a:t>Outlook</a:t>
                      </a: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200" b="1" dirty="0" err="1">
                          <a:effectLst/>
                        </a:rPr>
                        <a:t>Temperature</a:t>
                      </a:r>
                      <a:endParaRPr lang="pt-BR" sz="1200" b="1" dirty="0">
                        <a:effectLst/>
                      </a:endParaRP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200" b="1" dirty="0" err="1">
                          <a:effectLst/>
                        </a:rPr>
                        <a:t>Humidity</a:t>
                      </a:r>
                      <a:endParaRPr lang="pt-BR" sz="1200" b="1" dirty="0">
                        <a:effectLst/>
                      </a:endParaRP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200" b="1" dirty="0" err="1">
                          <a:effectLst/>
                        </a:rPr>
                        <a:t>Windy</a:t>
                      </a:r>
                      <a:endParaRPr lang="pt-BR" sz="1200" b="1" dirty="0">
                        <a:effectLst/>
                      </a:endParaRP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57810">
                <a:tc>
                  <a:txBody>
                    <a:bodyPr/>
                    <a:lstStyle/>
                    <a:p>
                      <a:pPr algn="ctr" rtl="0" fontAlgn="b"/>
                      <a:r>
                        <a:rPr lang="pt-BR" sz="1200" dirty="0">
                          <a:effectLst/>
                        </a:rPr>
                        <a:t>1</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sunny</a:t>
                      </a:r>
                      <a:endParaRPr lang="pt-BR" sz="1200" dirty="0">
                        <a:effectLst/>
                      </a:endParaRP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hot</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high</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false</a:t>
                      </a: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N</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57810">
                <a:tc>
                  <a:txBody>
                    <a:bodyPr/>
                    <a:lstStyle/>
                    <a:p>
                      <a:pPr algn="ctr" rtl="0" fontAlgn="b"/>
                      <a:r>
                        <a:rPr lang="pt-BR" sz="1200">
                          <a:effectLst/>
                        </a:rPr>
                        <a:t>2</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sunny</a:t>
                      </a: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hot</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high</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true</a:t>
                      </a: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N</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57810">
                <a:tc>
                  <a:txBody>
                    <a:bodyPr/>
                    <a:lstStyle/>
                    <a:p>
                      <a:pPr algn="ctr" rtl="0" fontAlgn="b"/>
                      <a:r>
                        <a:rPr lang="pt-BR" sz="1200" dirty="0">
                          <a:effectLst/>
                        </a:rPr>
                        <a:t>3</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overcast</a:t>
                      </a: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hot</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high</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false</a:t>
                      </a: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P</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57810">
                <a:tc>
                  <a:txBody>
                    <a:bodyPr/>
                    <a:lstStyle/>
                    <a:p>
                      <a:pPr algn="ctr" rtl="0" fontAlgn="b"/>
                      <a:r>
                        <a:rPr lang="pt-BR" sz="1200" dirty="0">
                          <a:effectLst/>
                        </a:rPr>
                        <a:t>4</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rain</a:t>
                      </a: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mild</a:t>
                      </a:r>
                      <a:endParaRPr lang="pt-BR" sz="1200" dirty="0">
                        <a:effectLst/>
                      </a:endParaRP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high</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false</a:t>
                      </a: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P</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257810">
                <a:tc>
                  <a:txBody>
                    <a:bodyPr/>
                    <a:lstStyle/>
                    <a:p>
                      <a:pPr algn="ctr" rtl="0" fontAlgn="b"/>
                      <a:r>
                        <a:rPr lang="pt-BR" sz="1200">
                          <a:effectLst/>
                        </a:rPr>
                        <a:t>5</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rain</a:t>
                      </a: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cool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normal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false</a:t>
                      </a: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P</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257810">
                <a:tc>
                  <a:txBody>
                    <a:bodyPr/>
                    <a:lstStyle/>
                    <a:p>
                      <a:pPr algn="ctr" rtl="0" fontAlgn="b"/>
                      <a:r>
                        <a:rPr lang="pt-BR" sz="1200">
                          <a:effectLst/>
                        </a:rPr>
                        <a:t>6</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rain</a:t>
                      </a:r>
                      <a:endParaRPr lang="pt-BR" sz="1200" dirty="0">
                        <a:effectLst/>
                      </a:endParaRP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cool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normal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true</a:t>
                      </a:r>
                      <a:endParaRPr lang="pt-BR" sz="1200" dirty="0">
                        <a:effectLst/>
                      </a:endParaRP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N</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257810">
                <a:tc>
                  <a:txBody>
                    <a:bodyPr/>
                    <a:lstStyle/>
                    <a:p>
                      <a:pPr algn="ctr" rtl="0" fontAlgn="b"/>
                      <a:r>
                        <a:rPr lang="pt-BR" sz="1200">
                          <a:effectLst/>
                        </a:rPr>
                        <a:t>7</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overcast</a:t>
                      </a: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cool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normal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true</a:t>
                      </a:r>
                      <a:endParaRPr lang="pt-BR" sz="1200" dirty="0">
                        <a:effectLst/>
                      </a:endParaRP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P</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257810">
                <a:tc>
                  <a:txBody>
                    <a:bodyPr/>
                    <a:lstStyle/>
                    <a:p>
                      <a:pPr algn="ctr" rtl="0" fontAlgn="b"/>
                      <a:r>
                        <a:rPr lang="pt-BR" sz="1200">
                          <a:effectLst/>
                        </a:rPr>
                        <a:t>8</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sunny</a:t>
                      </a:r>
                      <a:endParaRPr lang="pt-BR" sz="1200" dirty="0">
                        <a:effectLst/>
                      </a:endParaRP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mild</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high</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false</a:t>
                      </a: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N</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257810">
                <a:tc>
                  <a:txBody>
                    <a:bodyPr/>
                    <a:lstStyle/>
                    <a:p>
                      <a:pPr algn="ctr" rtl="0" fontAlgn="b"/>
                      <a:r>
                        <a:rPr lang="pt-BR" sz="1200">
                          <a:effectLst/>
                        </a:rPr>
                        <a:t>9</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sunny</a:t>
                      </a:r>
                      <a:endParaRPr lang="pt-BR" sz="1200" dirty="0">
                        <a:effectLst/>
                      </a:endParaRP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cool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normal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false</a:t>
                      </a: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P</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257810">
                <a:tc>
                  <a:txBody>
                    <a:bodyPr/>
                    <a:lstStyle/>
                    <a:p>
                      <a:pPr algn="ctr" rtl="0" fontAlgn="b"/>
                      <a:r>
                        <a:rPr lang="pt-BR" sz="1200">
                          <a:effectLst/>
                        </a:rPr>
                        <a:t>10</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rain</a:t>
                      </a:r>
                      <a:endParaRPr lang="pt-BR" sz="1200" dirty="0">
                        <a:effectLst/>
                      </a:endParaRP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mild</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normal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false</a:t>
                      </a: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P</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257810">
                <a:tc>
                  <a:txBody>
                    <a:bodyPr/>
                    <a:lstStyle/>
                    <a:p>
                      <a:pPr algn="ctr" rtl="0" fontAlgn="b"/>
                      <a:r>
                        <a:rPr lang="pt-BR" sz="1200">
                          <a:effectLst/>
                        </a:rPr>
                        <a:t>11</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sunny</a:t>
                      </a:r>
                      <a:endParaRPr lang="pt-BR" sz="1200" dirty="0">
                        <a:effectLst/>
                      </a:endParaRP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mild</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normal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true</a:t>
                      </a:r>
                      <a:endParaRPr lang="pt-BR" sz="1200" dirty="0">
                        <a:effectLst/>
                      </a:endParaRP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P</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257810">
                <a:tc>
                  <a:txBody>
                    <a:bodyPr/>
                    <a:lstStyle/>
                    <a:p>
                      <a:pPr algn="ctr" rtl="0" fontAlgn="b"/>
                      <a:r>
                        <a:rPr lang="pt-BR" sz="1200">
                          <a:effectLst/>
                        </a:rPr>
                        <a:t>12</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overcast</a:t>
                      </a:r>
                      <a:endParaRPr lang="pt-BR" sz="1200" dirty="0">
                        <a:effectLst/>
                      </a:endParaRP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mild</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high</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true</a:t>
                      </a:r>
                      <a:endParaRPr lang="pt-BR" sz="1200" dirty="0">
                        <a:effectLst/>
                      </a:endParaRP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P</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r h="257810">
                <a:tc>
                  <a:txBody>
                    <a:bodyPr/>
                    <a:lstStyle/>
                    <a:p>
                      <a:pPr algn="ctr" rtl="0" fontAlgn="b"/>
                      <a:r>
                        <a:rPr lang="pt-BR" sz="1200">
                          <a:effectLst/>
                        </a:rPr>
                        <a:t>13</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err="1">
                          <a:effectLst/>
                        </a:rPr>
                        <a:t>overcast</a:t>
                      </a:r>
                      <a:endParaRPr lang="pt-BR" sz="1200" dirty="0">
                        <a:effectLst/>
                      </a:endParaRP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hot</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normal</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false</a:t>
                      </a: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P</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4"/>
                  </a:ext>
                </a:extLst>
              </a:tr>
              <a:tr h="257810">
                <a:tc>
                  <a:txBody>
                    <a:bodyPr/>
                    <a:lstStyle/>
                    <a:p>
                      <a:pPr algn="ctr" rtl="0" fontAlgn="b"/>
                      <a:r>
                        <a:rPr lang="pt-BR" sz="1200" dirty="0">
                          <a:effectLst/>
                        </a:rPr>
                        <a:t>14</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200" dirty="0" err="1">
                          <a:effectLst/>
                        </a:rPr>
                        <a:t>rain</a:t>
                      </a:r>
                      <a:endParaRPr lang="pt-BR" sz="1200" dirty="0">
                        <a:effectLst/>
                      </a:endParaRPr>
                    </a:p>
                  </a:txBody>
                  <a:tcPr marL="23580" marR="23580" marT="15720" marB="1572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200">
                          <a:effectLst/>
                        </a:rPr>
                        <a:t>mild</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200">
                          <a:effectLst/>
                        </a:rPr>
                        <a:t>high</a:t>
                      </a:r>
                    </a:p>
                  </a:txBody>
                  <a:tcPr marL="23580" marR="23580" marT="15720" marB="1572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200" dirty="0">
                          <a:effectLst/>
                        </a:rPr>
                        <a:t>true</a:t>
                      </a:r>
                    </a:p>
                  </a:txBody>
                  <a:tcPr marL="23580" marR="23580" marT="15720" marB="1572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200" dirty="0">
                          <a:effectLst/>
                        </a:rPr>
                        <a:t>N</a:t>
                      </a:r>
                    </a:p>
                  </a:txBody>
                  <a:tcPr marL="23580" marR="23580" marT="15720" marB="1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6" name="CaixaDeTexto 5">
            <a:extLst>
              <a:ext uri="{FF2B5EF4-FFF2-40B4-BE49-F238E27FC236}">
                <a16:creationId xmlns:a16="http://schemas.microsoft.com/office/drawing/2014/main" id="{7DAB3EBA-2366-8BC1-4ED5-1CF34D52CB9D}"/>
              </a:ext>
            </a:extLst>
          </p:cNvPr>
          <p:cNvSpPr txBox="1"/>
          <p:nvPr/>
        </p:nvSpPr>
        <p:spPr>
          <a:xfrm>
            <a:off x="11456623" y="6550223"/>
            <a:ext cx="766557" cy="307777"/>
          </a:xfrm>
          <a:prstGeom prst="rect">
            <a:avLst/>
          </a:prstGeom>
          <a:noFill/>
        </p:spPr>
        <p:txBody>
          <a:bodyPr wrap="none" rtlCol="0">
            <a:spAutoFit/>
          </a:bodyPr>
          <a:lstStyle/>
          <a:p>
            <a:r>
              <a:rPr lang="pt-BR" sz="1400" dirty="0">
                <a:hlinkClick r:id="rId3"/>
              </a:rPr>
              <a:t>planilha</a:t>
            </a:r>
            <a:endParaRPr lang="pt-BR" sz="1400" dirty="0"/>
          </a:p>
        </p:txBody>
      </p:sp>
    </p:spTree>
    <p:extLst>
      <p:ext uri="{BB962C8B-B14F-4D97-AF65-F5344CB8AC3E}">
        <p14:creationId xmlns:p14="http://schemas.microsoft.com/office/powerpoint/2010/main" val="10636098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2869"/>
            <a:ext cx="11143592" cy="1325563"/>
          </a:xfrm>
        </p:spPr>
        <p:txBody>
          <a:bodyPr/>
          <a:lstStyle/>
          <a:p>
            <a:r>
              <a:rPr lang="pt-BR" dirty="0"/>
              <a:t>Exemplo de indução com método ID3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199" y="1438432"/>
                <a:ext cx="11143593" cy="5230382"/>
              </a:xfrm>
            </p:spPr>
            <p:txBody>
              <a:bodyPr>
                <a:normAutofit fontScale="77500" lnSpcReduction="20000"/>
              </a:bodyPr>
              <a:lstStyle/>
              <a:p>
                <a:r>
                  <a:rPr lang="pt-BR" dirty="0"/>
                  <a:t>A </a:t>
                </a:r>
                <a:r>
                  <a:rPr lang="pt-BR" b="1" dirty="0"/>
                  <a:t>entropia do objetivo</a:t>
                </a:r>
                <a:r>
                  <a:rPr lang="pt-BR" dirty="0"/>
                  <a:t>, i.e., </a:t>
                </a:r>
                <a14:m>
                  <m:oMath xmlns:m="http://schemas.openxmlformats.org/officeDocument/2006/math">
                    <m:r>
                      <a:rPr lang="pt-BR" i="1">
                        <a:latin typeface="Cambria Math" panose="02040503050406030204" pitchFamily="18" charset="0"/>
                      </a:rPr>
                      <m:t>𝑦</m:t>
                    </m:r>
                  </m:oMath>
                </a14:m>
                <a:r>
                  <a:rPr lang="pt-BR" dirty="0"/>
                  <a:t>, para todo o conjunto de treinamento é</a:t>
                </a:r>
              </a:p>
              <a:p>
                <a:pPr marL="0" indent="0" algn="ctr">
                  <a:buNone/>
                </a:pPr>
                <a14:m>
                  <m:oMath xmlns:m="http://schemas.openxmlformats.org/officeDocument/2006/math">
                    <m:r>
                      <a:rPr lang="pt-BR" sz="2200" i="1">
                        <a:latin typeface="Cambria Math" panose="02040503050406030204" pitchFamily="18" charset="0"/>
                      </a:rPr>
                      <m:t>𝐻</m:t>
                    </m:r>
                    <m:d>
                      <m:dPr>
                        <m:ctrlPr>
                          <a:rPr lang="pt-BR" sz="2200" i="1">
                            <a:latin typeface="Cambria Math" panose="02040503050406030204" pitchFamily="18" charset="0"/>
                          </a:rPr>
                        </m:ctrlPr>
                      </m:dPr>
                      <m:e>
                        <m:r>
                          <a:rPr lang="pt-BR" sz="2200" b="0" i="1" smtClean="0">
                            <a:latin typeface="Cambria Math" panose="02040503050406030204" pitchFamily="18" charset="0"/>
                          </a:rPr>
                          <m:t>𝑦</m:t>
                        </m:r>
                      </m:e>
                    </m:d>
                    <m:r>
                      <a:rPr lang="pt-BR" sz="2200" b="0" i="1" smtClean="0">
                        <a:latin typeface="Cambria Math" panose="02040503050406030204" pitchFamily="18" charset="0"/>
                      </a:rPr>
                      <m:t>=−</m:t>
                    </m:r>
                    <m:d>
                      <m:dPr>
                        <m:begChr m:val="["/>
                        <m:endChr m:val="]"/>
                        <m:ctrlPr>
                          <a:rPr lang="pt-BR" sz="2200" b="0" i="1" smtClean="0">
                            <a:latin typeface="Cambria Math" panose="02040503050406030204" pitchFamily="18" charset="0"/>
                          </a:rPr>
                        </m:ctrlPr>
                      </m:dPr>
                      <m:e>
                        <m:f>
                          <m:fPr>
                            <m:ctrlPr>
                              <a:rPr lang="pt-BR" sz="2200" i="1">
                                <a:latin typeface="Cambria Math" panose="02040503050406030204" pitchFamily="18" charset="0"/>
                              </a:rPr>
                            </m:ctrlPr>
                          </m:fPr>
                          <m:num>
                            <m:r>
                              <a:rPr lang="pt-BR" sz="2200" i="1">
                                <a:latin typeface="Cambria Math" panose="02040503050406030204" pitchFamily="18" charset="0"/>
                              </a:rPr>
                              <m:t>9</m:t>
                            </m:r>
                          </m:num>
                          <m:den>
                            <m:r>
                              <a:rPr lang="pt-BR" sz="2200" i="1">
                                <a:latin typeface="Cambria Math" panose="02040503050406030204" pitchFamily="18" charset="0"/>
                              </a:rPr>
                              <m:t>14</m:t>
                            </m:r>
                          </m:den>
                        </m:f>
                        <m:func>
                          <m:funcPr>
                            <m:ctrlPr>
                              <a:rPr lang="pt-BR" sz="2200" i="1">
                                <a:latin typeface="Cambria Math" panose="02040503050406030204" pitchFamily="18" charset="0"/>
                              </a:rPr>
                            </m:ctrlPr>
                          </m:funcPr>
                          <m:fName>
                            <m:sSub>
                              <m:sSubPr>
                                <m:ctrlPr>
                                  <a:rPr lang="pt-BR" sz="2200" i="1">
                                    <a:latin typeface="Cambria Math" panose="02040503050406030204" pitchFamily="18" charset="0"/>
                                  </a:rPr>
                                </m:ctrlPr>
                              </m:sSubPr>
                              <m:e>
                                <m:r>
                                  <m:rPr>
                                    <m:sty m:val="p"/>
                                  </m:rPr>
                                  <a:rPr lang="pt-BR" sz="2200">
                                    <a:latin typeface="Cambria Math" panose="02040503050406030204" pitchFamily="18" charset="0"/>
                                  </a:rPr>
                                  <m:t>log</m:t>
                                </m:r>
                              </m:e>
                              <m:sub>
                                <m:r>
                                  <a:rPr lang="pt-BR" sz="2200" i="1">
                                    <a:latin typeface="Cambria Math" panose="02040503050406030204" pitchFamily="18" charset="0"/>
                                  </a:rPr>
                                  <m:t>2</m:t>
                                </m:r>
                              </m:sub>
                            </m:sSub>
                          </m:fName>
                          <m:e>
                            <m:d>
                              <m:dPr>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i="1">
                                        <a:latin typeface="Cambria Math" panose="02040503050406030204" pitchFamily="18" charset="0"/>
                                      </a:rPr>
                                      <m:t>9</m:t>
                                    </m:r>
                                  </m:num>
                                  <m:den>
                                    <m:r>
                                      <a:rPr lang="pt-BR" sz="2200" i="1">
                                        <a:latin typeface="Cambria Math" panose="02040503050406030204" pitchFamily="18" charset="0"/>
                                      </a:rPr>
                                      <m:t>14</m:t>
                                    </m:r>
                                  </m:den>
                                </m:f>
                              </m:e>
                            </m:d>
                          </m:e>
                        </m:func>
                        <m:r>
                          <a:rPr lang="pt-BR" sz="2200" b="0" i="1" smtClean="0">
                            <a:latin typeface="Cambria Math" panose="02040503050406030204" pitchFamily="18" charset="0"/>
                          </a:rPr>
                          <m:t>+</m:t>
                        </m:r>
                        <m:d>
                          <m:dPr>
                            <m:ctrlPr>
                              <a:rPr lang="pt-BR" sz="2200" b="0" i="1" smtClean="0">
                                <a:latin typeface="Cambria Math" panose="02040503050406030204" pitchFamily="18" charset="0"/>
                              </a:rPr>
                            </m:ctrlPr>
                          </m:dPr>
                          <m:e>
                            <m:r>
                              <a:rPr lang="pt-BR" sz="2200" b="0" i="1" smtClean="0">
                                <a:latin typeface="Cambria Math" panose="02040503050406030204" pitchFamily="18" charset="0"/>
                              </a:rPr>
                              <m:t>1−</m:t>
                            </m:r>
                            <m:f>
                              <m:fPr>
                                <m:ctrlPr>
                                  <a:rPr lang="pt-BR" sz="2200" i="1">
                                    <a:latin typeface="Cambria Math" panose="02040503050406030204" pitchFamily="18" charset="0"/>
                                  </a:rPr>
                                </m:ctrlPr>
                              </m:fPr>
                              <m:num>
                                <m:r>
                                  <a:rPr lang="pt-BR" sz="2200" i="1">
                                    <a:latin typeface="Cambria Math" panose="02040503050406030204" pitchFamily="18" charset="0"/>
                                  </a:rPr>
                                  <m:t>9</m:t>
                                </m:r>
                              </m:num>
                              <m:den>
                                <m:r>
                                  <a:rPr lang="pt-BR" sz="2200" i="1">
                                    <a:latin typeface="Cambria Math" panose="02040503050406030204" pitchFamily="18" charset="0"/>
                                  </a:rPr>
                                  <m:t>14</m:t>
                                </m:r>
                              </m:den>
                            </m:f>
                          </m:e>
                        </m:d>
                        <m:func>
                          <m:funcPr>
                            <m:ctrlPr>
                              <a:rPr lang="pt-BR" sz="2200" i="1">
                                <a:latin typeface="Cambria Math" panose="02040503050406030204" pitchFamily="18" charset="0"/>
                              </a:rPr>
                            </m:ctrlPr>
                          </m:funcPr>
                          <m:fName>
                            <m:sSub>
                              <m:sSubPr>
                                <m:ctrlPr>
                                  <a:rPr lang="pt-BR" sz="2200" i="1">
                                    <a:latin typeface="Cambria Math" panose="02040503050406030204" pitchFamily="18" charset="0"/>
                                  </a:rPr>
                                </m:ctrlPr>
                              </m:sSubPr>
                              <m:e>
                                <m:r>
                                  <m:rPr>
                                    <m:sty m:val="p"/>
                                  </m:rPr>
                                  <a:rPr lang="pt-BR" sz="2200">
                                    <a:latin typeface="Cambria Math" panose="02040503050406030204" pitchFamily="18" charset="0"/>
                                  </a:rPr>
                                  <m:t>log</m:t>
                                </m:r>
                              </m:e>
                              <m:sub>
                                <m:r>
                                  <a:rPr lang="pt-BR" sz="2200" i="1">
                                    <a:latin typeface="Cambria Math" panose="02040503050406030204" pitchFamily="18" charset="0"/>
                                  </a:rPr>
                                  <m:t>2</m:t>
                                </m:r>
                              </m:sub>
                            </m:sSub>
                          </m:fName>
                          <m:e>
                            <m:d>
                              <m:dPr>
                                <m:ctrlPr>
                                  <a:rPr lang="pt-BR" sz="2200" i="1">
                                    <a:latin typeface="Cambria Math" panose="02040503050406030204" pitchFamily="18" charset="0"/>
                                  </a:rPr>
                                </m:ctrlPr>
                              </m:dPr>
                              <m:e>
                                <m:r>
                                  <a:rPr lang="pt-BR" sz="2200" b="0" i="1" smtClean="0">
                                    <a:latin typeface="Cambria Math" panose="02040503050406030204" pitchFamily="18" charset="0"/>
                                  </a:rPr>
                                  <m:t>1−</m:t>
                                </m:r>
                                <m:f>
                                  <m:fPr>
                                    <m:ctrlPr>
                                      <a:rPr lang="pt-BR" sz="2200" i="1">
                                        <a:latin typeface="Cambria Math" panose="02040503050406030204" pitchFamily="18" charset="0"/>
                                      </a:rPr>
                                    </m:ctrlPr>
                                  </m:fPr>
                                  <m:num>
                                    <m:r>
                                      <a:rPr lang="pt-BR" sz="2200" i="1">
                                        <a:latin typeface="Cambria Math" panose="02040503050406030204" pitchFamily="18" charset="0"/>
                                      </a:rPr>
                                      <m:t>9</m:t>
                                    </m:r>
                                  </m:num>
                                  <m:den>
                                    <m:r>
                                      <a:rPr lang="pt-BR" sz="2200" i="1">
                                        <a:latin typeface="Cambria Math" panose="02040503050406030204" pitchFamily="18" charset="0"/>
                                      </a:rPr>
                                      <m:t>14</m:t>
                                    </m:r>
                                  </m:den>
                                </m:f>
                              </m:e>
                            </m:d>
                          </m:e>
                        </m:func>
                      </m:e>
                    </m:d>
                    <m:r>
                      <a:rPr lang="pt-BR" sz="2200" b="0" i="0" smtClean="0">
                        <a:latin typeface="Cambria Math" panose="02040503050406030204" pitchFamily="18" charset="0"/>
                      </a:rPr>
                      <m:t>=0.9403</m:t>
                    </m:r>
                  </m:oMath>
                </a14:m>
                <a:r>
                  <a:rPr lang="pt-BR" sz="2200" dirty="0"/>
                  <a:t>.</a:t>
                </a:r>
              </a:p>
              <a:p>
                <a:r>
                  <a:rPr lang="pt-BR" dirty="0"/>
                  <a:t>Encontrando o nó raiz: o </a:t>
                </a:r>
                <a:r>
                  <a:rPr lang="pt-BR" b="1" dirty="0"/>
                  <a:t>ganho de informação</a:t>
                </a:r>
                <a:r>
                  <a:rPr lang="pt-BR" dirty="0"/>
                  <a:t> de cada atributo é calculado como</a:t>
                </a:r>
              </a:p>
              <a:p>
                <a:pPr marL="0" indent="0">
                  <a:buNone/>
                </a:pPr>
                <a:endParaRPr lang="pt-BR" dirty="0"/>
              </a:p>
              <a:p>
                <a:pPr marL="0" indent="0">
                  <a:buNone/>
                </a:pPr>
                <a:endParaRPr lang="pt-BR" dirty="0"/>
              </a:p>
              <a:p>
                <a:pPr marL="0" indent="0">
                  <a:buNone/>
                </a:pPr>
                <a:endParaRPr lang="pt-BR" dirty="0"/>
              </a:p>
              <a:p>
                <a:pPr marL="0" indent="0">
                  <a:buNone/>
                </a:pPr>
                <a:endParaRPr lang="pt-BR" dirty="0"/>
              </a:p>
              <a:p>
                <a:pPr marL="0" indent="0">
                  <a:buNone/>
                </a:pPr>
                <a:endParaRPr lang="pt-BR" dirty="0"/>
              </a:p>
              <a:p>
                <a:pPr marL="0" indent="0">
                  <a:buNone/>
                </a:pPr>
                <a14:m>
                  <m:oMathPara xmlns:m="http://schemas.openxmlformats.org/officeDocument/2006/math">
                    <m:oMathParaPr>
                      <m:jc m:val="left"/>
                    </m:oMathParaPr>
                    <m:oMath xmlns:m="http://schemas.openxmlformats.org/officeDocument/2006/math">
                      <m:r>
                        <a:rPr lang="pt-BR" sz="2200" i="1">
                          <a:latin typeface="Cambria Math" panose="02040503050406030204" pitchFamily="18" charset="0"/>
                        </a:rPr>
                        <m:t>𝐺𝑎𝑖𝑛</m:t>
                      </m:r>
                      <m:d>
                        <m:dPr>
                          <m:ctrlPr>
                            <a:rPr lang="pt-BR" sz="2200" i="1">
                              <a:latin typeface="Cambria Math" panose="02040503050406030204" pitchFamily="18" charset="0"/>
                            </a:rPr>
                          </m:ctrlPr>
                        </m:dPr>
                        <m:e>
                          <m:r>
                            <a:rPr lang="pt-BR" sz="2200" b="1" i="0" smtClean="0">
                              <a:latin typeface="Cambria Math" panose="02040503050406030204" pitchFamily="18" charset="0"/>
                            </a:rPr>
                            <m:t>𝐎</m:t>
                          </m:r>
                          <m:r>
                            <a:rPr lang="pt-BR" sz="2200" b="1" i="0" smtClean="0">
                              <a:latin typeface="Cambria Math" panose="02040503050406030204" pitchFamily="18" charset="0"/>
                            </a:rPr>
                            <m:t>𝐮𝐭𝐥𝐨𝐨𝐤</m:t>
                          </m:r>
                        </m:e>
                      </m:d>
                      <m:r>
                        <a:rPr lang="pt-BR" sz="2200" i="1">
                          <a:latin typeface="Cambria Math" panose="02040503050406030204" pitchFamily="18" charset="0"/>
                        </a:rPr>
                        <m:t>=</m:t>
                      </m:r>
                      <m:r>
                        <a:rPr lang="pt-BR" sz="2200" b="0" i="1" smtClean="0">
                          <a:latin typeface="Cambria Math" panose="02040503050406030204" pitchFamily="18" charset="0"/>
                        </a:rPr>
                        <m:t>0.9403−</m:t>
                      </m:r>
                      <m:d>
                        <m:dPr>
                          <m:begChr m:val="["/>
                          <m:endChr m:val="]"/>
                          <m:ctrlPr>
                            <a:rPr lang="pt-BR" sz="2200" b="0" i="1" smtClean="0">
                              <a:latin typeface="Cambria Math" panose="02040503050406030204" pitchFamily="18" charset="0"/>
                            </a:rPr>
                          </m:ctrlPr>
                        </m:dPr>
                        <m:e>
                          <m:f>
                            <m:fPr>
                              <m:ctrlPr>
                                <a:rPr lang="pt-BR" sz="2200" i="1">
                                  <a:latin typeface="Cambria Math" panose="02040503050406030204" pitchFamily="18" charset="0"/>
                                </a:rPr>
                              </m:ctrlPr>
                            </m:fPr>
                            <m:num>
                              <m:r>
                                <a:rPr lang="pt-BR" sz="2200" i="1">
                                  <a:latin typeface="Cambria Math" panose="02040503050406030204" pitchFamily="18" charset="0"/>
                                </a:rPr>
                                <m:t>5</m:t>
                              </m:r>
                            </m:num>
                            <m:den>
                              <m:r>
                                <a:rPr lang="pt-BR" sz="2200" i="1">
                                  <a:latin typeface="Cambria Math" panose="02040503050406030204" pitchFamily="18" charset="0"/>
                                </a:rPr>
                                <m:t>14</m:t>
                              </m:r>
                            </m:den>
                          </m:f>
                          <m:r>
                            <a:rPr lang="pt-BR" sz="2200" b="0" i="1" smtClean="0">
                              <a:latin typeface="Cambria Math" panose="02040503050406030204" pitchFamily="18" charset="0"/>
                            </a:rPr>
                            <m:t>𝐵</m:t>
                          </m:r>
                          <m:d>
                            <m:dPr>
                              <m:ctrlPr>
                                <a:rPr lang="pt-BR" sz="2200" i="1" smtClean="0">
                                  <a:latin typeface="Cambria Math" panose="02040503050406030204" pitchFamily="18" charset="0"/>
                                </a:rPr>
                              </m:ctrlPr>
                            </m:dPr>
                            <m:e>
                              <m:f>
                                <m:fPr>
                                  <m:ctrlPr>
                                    <a:rPr lang="pt-BR" sz="2200" i="1">
                                      <a:latin typeface="Cambria Math" panose="02040503050406030204" pitchFamily="18" charset="0"/>
                                    </a:rPr>
                                  </m:ctrlPr>
                                </m:fPr>
                                <m:num>
                                  <m:r>
                                    <a:rPr lang="pt-BR" sz="2200" b="0" i="1" smtClean="0">
                                      <a:latin typeface="Cambria Math" panose="02040503050406030204" pitchFamily="18" charset="0"/>
                                    </a:rPr>
                                    <m:t>2</m:t>
                                  </m:r>
                                </m:num>
                                <m:den>
                                  <m:r>
                                    <a:rPr lang="pt-BR" sz="2200" b="0" i="1" smtClean="0">
                                      <a:latin typeface="Cambria Math" panose="02040503050406030204" pitchFamily="18" charset="0"/>
                                    </a:rPr>
                                    <m:t>5</m:t>
                                  </m:r>
                                </m:den>
                              </m:f>
                            </m:e>
                          </m:d>
                          <m:r>
                            <a:rPr lang="pt-BR" sz="2200" b="0" i="1" smtClean="0">
                              <a:latin typeface="Cambria Math" panose="02040503050406030204" pitchFamily="18" charset="0"/>
                            </a:rPr>
                            <m:t>+</m:t>
                          </m:r>
                          <m:f>
                            <m:fPr>
                              <m:ctrlPr>
                                <a:rPr lang="pt-BR" sz="2200" i="1">
                                  <a:latin typeface="Cambria Math" panose="02040503050406030204" pitchFamily="18" charset="0"/>
                                </a:rPr>
                              </m:ctrlPr>
                            </m:fPr>
                            <m:num>
                              <m:r>
                                <a:rPr lang="pt-BR" sz="2200" b="0" i="1" smtClean="0">
                                  <a:latin typeface="Cambria Math" panose="02040503050406030204" pitchFamily="18" charset="0"/>
                                </a:rPr>
                                <m:t>4</m:t>
                              </m:r>
                            </m:num>
                            <m:den>
                              <m:r>
                                <a:rPr lang="pt-BR" sz="2200" i="1">
                                  <a:latin typeface="Cambria Math" panose="02040503050406030204" pitchFamily="18" charset="0"/>
                                </a:rPr>
                                <m:t>14</m:t>
                              </m:r>
                            </m:den>
                          </m:f>
                          <m:r>
                            <a:rPr lang="pt-BR" sz="2200" b="0" i="1" smtClean="0">
                              <a:latin typeface="Cambria Math" panose="02040503050406030204" pitchFamily="18" charset="0"/>
                            </a:rPr>
                            <m:t>𝐵</m:t>
                          </m:r>
                          <m:d>
                            <m:dPr>
                              <m:ctrlPr>
                                <a:rPr lang="pt-BR" sz="2200" i="1">
                                  <a:latin typeface="Cambria Math" panose="02040503050406030204" pitchFamily="18" charset="0"/>
                                </a:rPr>
                              </m:ctrlPr>
                            </m:dPr>
                            <m:e>
                              <m:r>
                                <a:rPr lang="pt-BR" sz="2200" b="0" i="1" smtClean="0">
                                  <a:latin typeface="Cambria Math" panose="02040503050406030204" pitchFamily="18" charset="0"/>
                                </a:rPr>
                                <m:t>1</m:t>
                              </m:r>
                            </m:e>
                          </m:d>
                          <m:r>
                            <a:rPr lang="pt-BR" sz="2200" b="0" i="1" smtClean="0">
                              <a:latin typeface="Cambria Math" panose="02040503050406030204" pitchFamily="18" charset="0"/>
                            </a:rPr>
                            <m:t>+</m:t>
                          </m:r>
                          <m:f>
                            <m:fPr>
                              <m:ctrlPr>
                                <a:rPr lang="pt-BR" sz="2200" i="1">
                                  <a:latin typeface="Cambria Math" panose="02040503050406030204" pitchFamily="18" charset="0"/>
                                </a:rPr>
                              </m:ctrlPr>
                            </m:fPr>
                            <m:num>
                              <m:r>
                                <a:rPr lang="pt-BR" sz="2200" i="1">
                                  <a:latin typeface="Cambria Math" panose="02040503050406030204" pitchFamily="18" charset="0"/>
                                </a:rPr>
                                <m:t>5</m:t>
                              </m:r>
                            </m:num>
                            <m:den>
                              <m:r>
                                <a:rPr lang="pt-BR" sz="2200" i="1">
                                  <a:latin typeface="Cambria Math" panose="02040503050406030204" pitchFamily="18" charset="0"/>
                                </a:rPr>
                                <m:t>14</m:t>
                              </m:r>
                            </m:den>
                          </m:f>
                          <m:r>
                            <a:rPr lang="pt-BR" sz="2200" b="0" i="1" smtClean="0">
                              <a:latin typeface="Cambria Math" panose="02040503050406030204" pitchFamily="18" charset="0"/>
                            </a:rPr>
                            <m:t>𝐵</m:t>
                          </m:r>
                          <m:d>
                            <m:dPr>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b="0" i="1" smtClean="0">
                                      <a:latin typeface="Cambria Math" panose="02040503050406030204" pitchFamily="18" charset="0"/>
                                    </a:rPr>
                                    <m:t>3</m:t>
                                  </m:r>
                                </m:num>
                                <m:den>
                                  <m:r>
                                    <a:rPr lang="pt-BR" sz="2200" i="1">
                                      <a:latin typeface="Cambria Math" panose="02040503050406030204" pitchFamily="18" charset="0"/>
                                    </a:rPr>
                                    <m:t>5</m:t>
                                  </m:r>
                                </m:den>
                              </m:f>
                            </m:e>
                          </m:d>
                        </m:e>
                      </m:d>
                      <m:r>
                        <a:rPr lang="pt-BR" sz="2200" b="0" i="0" smtClean="0">
                          <a:latin typeface="Cambria Math" panose="02040503050406030204" pitchFamily="18" charset="0"/>
                        </a:rPr>
                        <m:t>=0.247</m:t>
                      </m:r>
                    </m:oMath>
                  </m:oMathPara>
                </a14:m>
                <a:endParaRPr lang="pt-BR" sz="2200" dirty="0">
                  <a:latin typeface="+mj-lt"/>
                </a:endParaRPr>
              </a:p>
              <a:p>
                <a:pPr marL="0" indent="0">
                  <a:buNone/>
                </a:pPr>
                <a14:m>
                  <m:oMathPara xmlns:m="http://schemas.openxmlformats.org/officeDocument/2006/math">
                    <m:oMathParaPr>
                      <m:jc m:val="left"/>
                    </m:oMathParaPr>
                    <m:oMath xmlns:m="http://schemas.openxmlformats.org/officeDocument/2006/math">
                      <m:r>
                        <a:rPr lang="pt-BR" sz="2200" i="1">
                          <a:latin typeface="Cambria Math" panose="02040503050406030204" pitchFamily="18" charset="0"/>
                        </a:rPr>
                        <m:t>𝐺𝑎𝑖𝑛</m:t>
                      </m:r>
                      <m:d>
                        <m:dPr>
                          <m:ctrlPr>
                            <a:rPr lang="pt-BR" sz="2200" i="1">
                              <a:latin typeface="Cambria Math" panose="02040503050406030204" pitchFamily="18" charset="0"/>
                            </a:rPr>
                          </m:ctrlPr>
                        </m:dPr>
                        <m:e>
                          <m:r>
                            <a:rPr lang="pt-BR" sz="2200" b="1" i="0" smtClean="0">
                              <a:latin typeface="Cambria Math" panose="02040503050406030204" pitchFamily="18" charset="0"/>
                            </a:rPr>
                            <m:t>𝐓</m:t>
                          </m:r>
                          <m:r>
                            <a:rPr lang="pt-BR" sz="2200" b="1" i="0" smtClean="0">
                              <a:latin typeface="Cambria Math" panose="02040503050406030204" pitchFamily="18" charset="0"/>
                            </a:rPr>
                            <m:t>𝐞𝐦𝐩𝐞𝐫𝐚𝐭𝐮𝐫𝐞</m:t>
                          </m:r>
                        </m:e>
                      </m:d>
                      <m:r>
                        <a:rPr lang="pt-BR" sz="2200" i="1">
                          <a:latin typeface="Cambria Math" panose="02040503050406030204" pitchFamily="18" charset="0"/>
                        </a:rPr>
                        <m:t>=0.9403−</m:t>
                      </m:r>
                      <m:d>
                        <m:dPr>
                          <m:begChr m:val="["/>
                          <m:endChr m:val="]"/>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b="0" i="1" smtClean="0">
                                  <a:latin typeface="Cambria Math" panose="02040503050406030204" pitchFamily="18" charset="0"/>
                                </a:rPr>
                                <m:t>4</m:t>
                              </m:r>
                            </m:num>
                            <m:den>
                              <m:r>
                                <a:rPr lang="pt-BR" sz="2200" i="1">
                                  <a:latin typeface="Cambria Math" panose="02040503050406030204" pitchFamily="18" charset="0"/>
                                </a:rPr>
                                <m:t>14</m:t>
                              </m:r>
                            </m:den>
                          </m:f>
                          <m:r>
                            <a:rPr lang="pt-BR" sz="2200" b="0" i="1" smtClean="0">
                              <a:latin typeface="Cambria Math" panose="02040503050406030204" pitchFamily="18" charset="0"/>
                            </a:rPr>
                            <m:t>𝐵</m:t>
                          </m:r>
                          <m:d>
                            <m:dPr>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i="1">
                                      <a:latin typeface="Cambria Math" panose="02040503050406030204" pitchFamily="18" charset="0"/>
                                    </a:rPr>
                                    <m:t>2</m:t>
                                  </m:r>
                                </m:num>
                                <m:den>
                                  <m:r>
                                    <a:rPr lang="pt-BR" sz="2200" b="0" i="1" smtClean="0">
                                      <a:latin typeface="Cambria Math" panose="02040503050406030204" pitchFamily="18" charset="0"/>
                                    </a:rPr>
                                    <m:t>4</m:t>
                                  </m:r>
                                </m:den>
                              </m:f>
                            </m:e>
                          </m:d>
                          <m:r>
                            <a:rPr lang="pt-BR" sz="2200" i="1">
                              <a:latin typeface="Cambria Math" panose="02040503050406030204" pitchFamily="18" charset="0"/>
                            </a:rPr>
                            <m:t>+</m:t>
                          </m:r>
                          <m:f>
                            <m:fPr>
                              <m:ctrlPr>
                                <a:rPr lang="pt-BR" sz="2200" i="1">
                                  <a:latin typeface="Cambria Math" panose="02040503050406030204" pitchFamily="18" charset="0"/>
                                </a:rPr>
                              </m:ctrlPr>
                            </m:fPr>
                            <m:num>
                              <m:r>
                                <a:rPr lang="pt-BR" sz="2200" b="0" i="1" smtClean="0">
                                  <a:latin typeface="Cambria Math" panose="02040503050406030204" pitchFamily="18" charset="0"/>
                                </a:rPr>
                                <m:t>6</m:t>
                              </m:r>
                            </m:num>
                            <m:den>
                              <m:r>
                                <a:rPr lang="pt-BR" sz="2200" i="1">
                                  <a:latin typeface="Cambria Math" panose="02040503050406030204" pitchFamily="18" charset="0"/>
                                </a:rPr>
                                <m:t>14</m:t>
                              </m:r>
                            </m:den>
                          </m:f>
                          <m:r>
                            <a:rPr lang="pt-BR" sz="2200" b="0" i="1" smtClean="0">
                              <a:latin typeface="Cambria Math" panose="02040503050406030204" pitchFamily="18" charset="0"/>
                            </a:rPr>
                            <m:t>𝐵</m:t>
                          </m:r>
                          <m:d>
                            <m:dPr>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b="0" i="1" smtClean="0">
                                      <a:latin typeface="Cambria Math" panose="02040503050406030204" pitchFamily="18" charset="0"/>
                                    </a:rPr>
                                    <m:t>4</m:t>
                                  </m:r>
                                </m:num>
                                <m:den>
                                  <m:r>
                                    <a:rPr lang="pt-BR" sz="2200" b="0" i="1" smtClean="0">
                                      <a:latin typeface="Cambria Math" panose="02040503050406030204" pitchFamily="18" charset="0"/>
                                    </a:rPr>
                                    <m:t>6</m:t>
                                  </m:r>
                                </m:den>
                              </m:f>
                            </m:e>
                          </m:d>
                          <m:r>
                            <a:rPr lang="pt-BR" sz="2200" i="1">
                              <a:latin typeface="Cambria Math" panose="02040503050406030204" pitchFamily="18" charset="0"/>
                            </a:rPr>
                            <m:t>+</m:t>
                          </m:r>
                          <m:f>
                            <m:fPr>
                              <m:ctrlPr>
                                <a:rPr lang="pt-BR" sz="2200" i="1">
                                  <a:latin typeface="Cambria Math" panose="02040503050406030204" pitchFamily="18" charset="0"/>
                                </a:rPr>
                              </m:ctrlPr>
                            </m:fPr>
                            <m:num>
                              <m:r>
                                <a:rPr lang="pt-BR" sz="2200" b="0" i="1" smtClean="0">
                                  <a:latin typeface="Cambria Math" panose="02040503050406030204" pitchFamily="18" charset="0"/>
                                </a:rPr>
                                <m:t>4</m:t>
                              </m:r>
                            </m:num>
                            <m:den>
                              <m:r>
                                <a:rPr lang="pt-BR" sz="2200" i="1">
                                  <a:latin typeface="Cambria Math" panose="02040503050406030204" pitchFamily="18" charset="0"/>
                                </a:rPr>
                                <m:t>14</m:t>
                              </m:r>
                            </m:den>
                          </m:f>
                          <m:r>
                            <a:rPr lang="pt-BR" sz="2200" b="0" i="1" smtClean="0">
                              <a:latin typeface="Cambria Math" panose="02040503050406030204" pitchFamily="18" charset="0"/>
                            </a:rPr>
                            <m:t>𝐵</m:t>
                          </m:r>
                          <m:d>
                            <m:dPr>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i="1">
                                      <a:latin typeface="Cambria Math" panose="02040503050406030204" pitchFamily="18" charset="0"/>
                                    </a:rPr>
                                    <m:t>3</m:t>
                                  </m:r>
                                </m:num>
                                <m:den>
                                  <m:r>
                                    <a:rPr lang="pt-BR" sz="2200" b="0" i="1" smtClean="0">
                                      <a:latin typeface="Cambria Math" panose="02040503050406030204" pitchFamily="18" charset="0"/>
                                    </a:rPr>
                                    <m:t>4</m:t>
                                  </m:r>
                                </m:den>
                              </m:f>
                            </m:e>
                          </m:d>
                        </m:e>
                      </m:d>
                      <m:r>
                        <a:rPr lang="pt-BR" sz="2200">
                          <a:latin typeface="Cambria Math" panose="02040503050406030204" pitchFamily="18" charset="0"/>
                        </a:rPr>
                        <m:t>=0.</m:t>
                      </m:r>
                      <m:r>
                        <a:rPr lang="pt-BR" sz="2200" b="0" i="0" smtClean="0">
                          <a:latin typeface="Cambria Math" panose="02040503050406030204" pitchFamily="18" charset="0"/>
                        </a:rPr>
                        <m:t>029</m:t>
                      </m:r>
                    </m:oMath>
                  </m:oMathPara>
                </a14:m>
                <a:endParaRPr lang="pt-BR" sz="2200" dirty="0">
                  <a:latin typeface="+mj-lt"/>
                </a:endParaRPr>
              </a:p>
              <a:p>
                <a:pPr marL="0" indent="0">
                  <a:buNone/>
                </a:pPr>
                <a14:m>
                  <m:oMathPara xmlns:m="http://schemas.openxmlformats.org/officeDocument/2006/math">
                    <m:oMathParaPr>
                      <m:jc m:val="left"/>
                    </m:oMathParaPr>
                    <m:oMath xmlns:m="http://schemas.openxmlformats.org/officeDocument/2006/math">
                      <m:r>
                        <a:rPr lang="pt-BR" sz="2200" i="1">
                          <a:latin typeface="Cambria Math" panose="02040503050406030204" pitchFamily="18" charset="0"/>
                        </a:rPr>
                        <m:t>𝐺𝑎𝑖𝑛</m:t>
                      </m:r>
                      <m:d>
                        <m:dPr>
                          <m:ctrlPr>
                            <a:rPr lang="pt-BR" sz="2200" i="1">
                              <a:latin typeface="Cambria Math" panose="02040503050406030204" pitchFamily="18" charset="0"/>
                            </a:rPr>
                          </m:ctrlPr>
                        </m:dPr>
                        <m:e>
                          <m:r>
                            <a:rPr lang="pt-BR" sz="2200" b="1" i="0" smtClean="0">
                              <a:latin typeface="Cambria Math" panose="02040503050406030204" pitchFamily="18" charset="0"/>
                            </a:rPr>
                            <m:t>𝐇</m:t>
                          </m:r>
                          <m:r>
                            <a:rPr lang="pt-BR" sz="2200" b="1" i="0" smtClean="0">
                              <a:latin typeface="Cambria Math" panose="02040503050406030204" pitchFamily="18" charset="0"/>
                            </a:rPr>
                            <m:t>𝐮𝐦𝐢𝐝𝐢𝐭𝐲</m:t>
                          </m:r>
                        </m:e>
                      </m:d>
                      <m:r>
                        <a:rPr lang="pt-BR" sz="2200" i="1">
                          <a:latin typeface="Cambria Math" panose="02040503050406030204" pitchFamily="18" charset="0"/>
                        </a:rPr>
                        <m:t>=0.9403−</m:t>
                      </m:r>
                      <m:d>
                        <m:dPr>
                          <m:begChr m:val="["/>
                          <m:endChr m:val="]"/>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b="0" i="1" smtClean="0">
                                  <a:latin typeface="Cambria Math" panose="02040503050406030204" pitchFamily="18" charset="0"/>
                                </a:rPr>
                                <m:t>7</m:t>
                              </m:r>
                            </m:num>
                            <m:den>
                              <m:r>
                                <a:rPr lang="pt-BR" sz="2200" i="1">
                                  <a:latin typeface="Cambria Math" panose="02040503050406030204" pitchFamily="18" charset="0"/>
                                </a:rPr>
                                <m:t>14</m:t>
                              </m:r>
                            </m:den>
                          </m:f>
                          <m:r>
                            <a:rPr lang="pt-BR" sz="2200" b="0" i="1" smtClean="0">
                              <a:latin typeface="Cambria Math" panose="02040503050406030204" pitchFamily="18" charset="0"/>
                            </a:rPr>
                            <m:t>𝐵</m:t>
                          </m:r>
                          <m:d>
                            <m:dPr>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b="0" i="1" smtClean="0">
                                      <a:latin typeface="Cambria Math" panose="02040503050406030204" pitchFamily="18" charset="0"/>
                                    </a:rPr>
                                    <m:t>3</m:t>
                                  </m:r>
                                </m:num>
                                <m:den>
                                  <m:r>
                                    <a:rPr lang="pt-BR" sz="2200" b="0" i="1" smtClean="0">
                                      <a:latin typeface="Cambria Math" panose="02040503050406030204" pitchFamily="18" charset="0"/>
                                    </a:rPr>
                                    <m:t>7</m:t>
                                  </m:r>
                                </m:den>
                              </m:f>
                            </m:e>
                          </m:d>
                          <m:r>
                            <a:rPr lang="pt-BR" sz="2200" i="1">
                              <a:latin typeface="Cambria Math" panose="02040503050406030204" pitchFamily="18" charset="0"/>
                            </a:rPr>
                            <m:t>+</m:t>
                          </m:r>
                          <m:f>
                            <m:fPr>
                              <m:ctrlPr>
                                <a:rPr lang="pt-BR" sz="2200" i="1">
                                  <a:latin typeface="Cambria Math" panose="02040503050406030204" pitchFamily="18" charset="0"/>
                                </a:rPr>
                              </m:ctrlPr>
                            </m:fPr>
                            <m:num>
                              <m:r>
                                <a:rPr lang="pt-BR" sz="2200" b="0" i="1" smtClean="0">
                                  <a:latin typeface="Cambria Math" panose="02040503050406030204" pitchFamily="18" charset="0"/>
                                </a:rPr>
                                <m:t>7</m:t>
                              </m:r>
                            </m:num>
                            <m:den>
                              <m:r>
                                <a:rPr lang="pt-BR" sz="2200" i="1">
                                  <a:latin typeface="Cambria Math" panose="02040503050406030204" pitchFamily="18" charset="0"/>
                                </a:rPr>
                                <m:t>14</m:t>
                              </m:r>
                            </m:den>
                          </m:f>
                          <m:r>
                            <a:rPr lang="pt-BR" sz="2200" b="0" i="1" smtClean="0">
                              <a:latin typeface="Cambria Math" panose="02040503050406030204" pitchFamily="18" charset="0"/>
                            </a:rPr>
                            <m:t>𝐵</m:t>
                          </m:r>
                          <m:d>
                            <m:dPr>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b="0" i="1" smtClean="0">
                                      <a:latin typeface="Cambria Math" panose="02040503050406030204" pitchFamily="18" charset="0"/>
                                    </a:rPr>
                                    <m:t>6</m:t>
                                  </m:r>
                                </m:num>
                                <m:den>
                                  <m:r>
                                    <a:rPr lang="pt-BR" sz="2200" b="0" i="1" smtClean="0">
                                      <a:latin typeface="Cambria Math" panose="02040503050406030204" pitchFamily="18" charset="0"/>
                                    </a:rPr>
                                    <m:t>7</m:t>
                                  </m:r>
                                </m:den>
                              </m:f>
                            </m:e>
                          </m:d>
                        </m:e>
                      </m:d>
                      <m:r>
                        <a:rPr lang="pt-BR" sz="2200">
                          <a:latin typeface="Cambria Math" panose="02040503050406030204" pitchFamily="18" charset="0"/>
                        </a:rPr>
                        <m:t>=0.</m:t>
                      </m:r>
                      <m:r>
                        <a:rPr lang="pt-BR" sz="2200" b="0" i="0" smtClean="0">
                          <a:latin typeface="Cambria Math" panose="02040503050406030204" pitchFamily="18" charset="0"/>
                        </a:rPr>
                        <m:t>1518</m:t>
                      </m:r>
                    </m:oMath>
                  </m:oMathPara>
                </a14:m>
                <a:endParaRPr lang="pt-BR" sz="2200" dirty="0">
                  <a:latin typeface="+mj-lt"/>
                </a:endParaRPr>
              </a:p>
              <a:p>
                <a:pPr marL="0" indent="0">
                  <a:buNone/>
                </a:pPr>
                <a14:m>
                  <m:oMathPara xmlns:m="http://schemas.openxmlformats.org/officeDocument/2006/math">
                    <m:oMathParaPr>
                      <m:jc m:val="left"/>
                    </m:oMathParaPr>
                    <m:oMath xmlns:m="http://schemas.openxmlformats.org/officeDocument/2006/math">
                      <m:r>
                        <a:rPr lang="pt-BR" sz="2200" i="1">
                          <a:latin typeface="Cambria Math" panose="02040503050406030204" pitchFamily="18" charset="0"/>
                        </a:rPr>
                        <m:t>𝐺𝑎𝑖𝑛</m:t>
                      </m:r>
                      <m:d>
                        <m:dPr>
                          <m:ctrlPr>
                            <a:rPr lang="pt-BR" sz="2200" i="1">
                              <a:latin typeface="Cambria Math" panose="02040503050406030204" pitchFamily="18" charset="0"/>
                            </a:rPr>
                          </m:ctrlPr>
                        </m:dPr>
                        <m:e>
                          <m:r>
                            <a:rPr lang="pt-BR" sz="2200" b="1" i="0" smtClean="0">
                              <a:latin typeface="Cambria Math" panose="02040503050406030204" pitchFamily="18" charset="0"/>
                            </a:rPr>
                            <m:t>𝐖</m:t>
                          </m:r>
                          <m:r>
                            <a:rPr lang="pt-BR" sz="2200" b="1" i="0" smtClean="0">
                              <a:latin typeface="Cambria Math" panose="02040503050406030204" pitchFamily="18" charset="0"/>
                            </a:rPr>
                            <m:t>𝐢𝐧𝐝𝐲</m:t>
                          </m:r>
                        </m:e>
                      </m:d>
                      <m:r>
                        <a:rPr lang="pt-BR" sz="2200" i="1">
                          <a:latin typeface="Cambria Math" panose="02040503050406030204" pitchFamily="18" charset="0"/>
                        </a:rPr>
                        <m:t>=0.9403−</m:t>
                      </m:r>
                      <m:d>
                        <m:dPr>
                          <m:begChr m:val="["/>
                          <m:endChr m:val="]"/>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b="0" i="1" smtClean="0">
                                  <a:latin typeface="Cambria Math" panose="02040503050406030204" pitchFamily="18" charset="0"/>
                                </a:rPr>
                                <m:t>6</m:t>
                              </m:r>
                            </m:num>
                            <m:den>
                              <m:r>
                                <a:rPr lang="pt-BR" sz="2200" i="1">
                                  <a:latin typeface="Cambria Math" panose="02040503050406030204" pitchFamily="18" charset="0"/>
                                </a:rPr>
                                <m:t>14</m:t>
                              </m:r>
                            </m:den>
                          </m:f>
                          <m:r>
                            <a:rPr lang="pt-BR" sz="2200" b="0" i="1" smtClean="0">
                              <a:latin typeface="Cambria Math" panose="02040503050406030204" pitchFamily="18" charset="0"/>
                            </a:rPr>
                            <m:t>𝐵</m:t>
                          </m:r>
                          <m:d>
                            <m:dPr>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b="0" i="1" smtClean="0">
                                      <a:latin typeface="Cambria Math" panose="02040503050406030204" pitchFamily="18" charset="0"/>
                                    </a:rPr>
                                    <m:t>3</m:t>
                                  </m:r>
                                </m:num>
                                <m:den>
                                  <m:r>
                                    <a:rPr lang="pt-BR" sz="2200" b="0" i="1" smtClean="0">
                                      <a:latin typeface="Cambria Math" panose="02040503050406030204" pitchFamily="18" charset="0"/>
                                    </a:rPr>
                                    <m:t>6</m:t>
                                  </m:r>
                                </m:den>
                              </m:f>
                            </m:e>
                          </m:d>
                          <m:r>
                            <a:rPr lang="pt-BR" sz="2200" i="1">
                              <a:latin typeface="Cambria Math" panose="02040503050406030204" pitchFamily="18" charset="0"/>
                            </a:rPr>
                            <m:t>+</m:t>
                          </m:r>
                          <m:f>
                            <m:fPr>
                              <m:ctrlPr>
                                <a:rPr lang="pt-BR" sz="2200" i="1">
                                  <a:latin typeface="Cambria Math" panose="02040503050406030204" pitchFamily="18" charset="0"/>
                                </a:rPr>
                              </m:ctrlPr>
                            </m:fPr>
                            <m:num>
                              <m:r>
                                <a:rPr lang="pt-BR" sz="2200" b="0" i="1" smtClean="0">
                                  <a:latin typeface="Cambria Math" panose="02040503050406030204" pitchFamily="18" charset="0"/>
                                </a:rPr>
                                <m:t>8</m:t>
                              </m:r>
                            </m:num>
                            <m:den>
                              <m:r>
                                <a:rPr lang="pt-BR" sz="2200" i="1">
                                  <a:latin typeface="Cambria Math" panose="02040503050406030204" pitchFamily="18" charset="0"/>
                                </a:rPr>
                                <m:t>14</m:t>
                              </m:r>
                            </m:den>
                          </m:f>
                          <m:r>
                            <a:rPr lang="pt-BR" sz="2200" b="0" i="1" smtClean="0">
                              <a:latin typeface="Cambria Math" panose="02040503050406030204" pitchFamily="18" charset="0"/>
                            </a:rPr>
                            <m:t>𝐵</m:t>
                          </m:r>
                          <m:d>
                            <m:dPr>
                              <m:ctrlPr>
                                <a:rPr lang="pt-BR" sz="2200" i="1">
                                  <a:latin typeface="Cambria Math" panose="02040503050406030204" pitchFamily="18" charset="0"/>
                                </a:rPr>
                              </m:ctrlPr>
                            </m:dPr>
                            <m:e>
                              <m:f>
                                <m:fPr>
                                  <m:ctrlPr>
                                    <a:rPr lang="pt-BR" sz="2200" i="1">
                                      <a:latin typeface="Cambria Math" panose="02040503050406030204" pitchFamily="18" charset="0"/>
                                    </a:rPr>
                                  </m:ctrlPr>
                                </m:fPr>
                                <m:num>
                                  <m:r>
                                    <a:rPr lang="pt-BR" sz="2200" b="0" i="1" smtClean="0">
                                      <a:latin typeface="Cambria Math" panose="02040503050406030204" pitchFamily="18" charset="0"/>
                                    </a:rPr>
                                    <m:t>6</m:t>
                                  </m:r>
                                </m:num>
                                <m:den>
                                  <m:r>
                                    <a:rPr lang="pt-BR" sz="2200" b="0" i="1" smtClean="0">
                                      <a:latin typeface="Cambria Math" panose="02040503050406030204" pitchFamily="18" charset="0"/>
                                    </a:rPr>
                                    <m:t>8</m:t>
                                  </m:r>
                                </m:den>
                              </m:f>
                            </m:e>
                          </m:d>
                        </m:e>
                      </m:d>
                      <m:r>
                        <a:rPr lang="pt-BR" sz="2200">
                          <a:latin typeface="Cambria Math" panose="02040503050406030204" pitchFamily="18" charset="0"/>
                        </a:rPr>
                        <m:t>=0.</m:t>
                      </m:r>
                      <m:r>
                        <a:rPr lang="pt-BR" sz="2200" b="0" i="0" smtClean="0">
                          <a:latin typeface="Cambria Math" panose="02040503050406030204" pitchFamily="18" charset="0"/>
                        </a:rPr>
                        <m:t>04813</m:t>
                      </m:r>
                    </m:oMath>
                  </m:oMathPara>
                </a14:m>
                <a:endParaRPr lang="pt-BR" sz="2200" dirty="0">
                  <a:latin typeface="+mj-lt"/>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199" y="1438432"/>
                <a:ext cx="11143593" cy="5230382"/>
              </a:xfrm>
              <a:blipFill>
                <a:blip r:embed="rId3"/>
                <a:stretch>
                  <a:fillRect l="-601" t="-2448"/>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956897189"/>
              </p:ext>
            </p:extLst>
          </p:nvPr>
        </p:nvGraphicFramePr>
        <p:xfrm>
          <a:off x="980091" y="2578430"/>
          <a:ext cx="2425262" cy="1508760"/>
        </p:xfrm>
        <a:graphic>
          <a:graphicData uri="http://schemas.openxmlformats.org/drawingml/2006/table">
            <a:tbl>
              <a:tblPr/>
              <a:tblGrid>
                <a:gridCol w="684266">
                  <a:extLst>
                    <a:ext uri="{9D8B030D-6E8A-4147-A177-3AD203B41FA5}">
                      <a16:colId xmlns:a16="http://schemas.microsoft.com/office/drawing/2014/main" val="20000"/>
                    </a:ext>
                  </a:extLst>
                </a:gridCol>
                <a:gridCol w="684266">
                  <a:extLst>
                    <a:ext uri="{9D8B030D-6E8A-4147-A177-3AD203B41FA5}">
                      <a16:colId xmlns:a16="http://schemas.microsoft.com/office/drawing/2014/main" val="20001"/>
                    </a:ext>
                  </a:extLst>
                </a:gridCol>
                <a:gridCol w="293254">
                  <a:extLst>
                    <a:ext uri="{9D8B030D-6E8A-4147-A177-3AD203B41FA5}">
                      <a16:colId xmlns:a16="http://schemas.microsoft.com/office/drawing/2014/main" val="20002"/>
                    </a:ext>
                  </a:extLst>
                </a:gridCol>
                <a:gridCol w="293254">
                  <a:extLst>
                    <a:ext uri="{9D8B030D-6E8A-4147-A177-3AD203B41FA5}">
                      <a16:colId xmlns:a16="http://schemas.microsoft.com/office/drawing/2014/main" val="20003"/>
                    </a:ext>
                  </a:extLst>
                </a:gridCol>
                <a:gridCol w="470222">
                  <a:extLst>
                    <a:ext uri="{9D8B030D-6E8A-4147-A177-3AD203B41FA5}">
                      <a16:colId xmlns:a16="http://schemas.microsoft.com/office/drawing/2014/main" val="20004"/>
                    </a:ext>
                  </a:extLst>
                </a:gridCol>
              </a:tblGrid>
              <a:tr h="240293">
                <a:tc rowSpan="2" gridSpan="2">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gridSpan="2">
                  <a:txBody>
                    <a:bodyPr/>
                    <a:lstStyle/>
                    <a:p>
                      <a:pPr algn="ctr" rtl="0" fontAlgn="b"/>
                      <a:r>
                        <a:rPr lang="pt-BR" sz="1400" b="1">
                          <a:effectLst/>
                        </a:rPr>
                        <a:t>Jogar?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rowSpan="2">
                  <a:txBody>
                    <a:bodyPr/>
                    <a:lstStyle/>
                    <a:p>
                      <a:pP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40293">
                <a:tc gridSpan="2" vMerge="1">
                  <a:txBody>
                    <a:bodyPr/>
                    <a:lstStyle/>
                    <a:p>
                      <a:endParaRPr lang="pt-BR"/>
                    </a:p>
                  </a:txBody>
                  <a:tcPr/>
                </a:tc>
                <a:tc hMerge="1" vMerge="1">
                  <a:txBody>
                    <a:bodyPr/>
                    <a:lstStyle/>
                    <a:p>
                      <a:endParaRPr lang="pt-BR"/>
                    </a:p>
                  </a:txBody>
                  <a:tcPr/>
                </a:tc>
                <a:tc>
                  <a:txBody>
                    <a:bodyPr/>
                    <a:lstStyle/>
                    <a:p>
                      <a:pPr algn="ctr" rtl="0" fontAlgn="b"/>
                      <a:r>
                        <a:rPr lang="pt-BR" sz="1400" dirty="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40293">
                <a:tc rowSpan="3">
                  <a:txBody>
                    <a:bodyPr/>
                    <a:lstStyle/>
                    <a:p>
                      <a:pPr algn="ctr" rtl="0" fontAlgn="ctr"/>
                      <a:r>
                        <a:rPr lang="pt-BR" sz="1400" b="1" dirty="0">
                          <a:effectLst/>
                        </a:rPr>
                        <a:t>Outlook</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sunny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40293">
                <a:tc vMerge="1">
                  <a:txBody>
                    <a:bodyPr/>
                    <a:lstStyle/>
                    <a:p>
                      <a:endParaRPr lang="pt-BR"/>
                    </a:p>
                  </a:txBody>
                  <a:tcPr/>
                </a:tc>
                <a:tc>
                  <a:txBody>
                    <a:bodyPr/>
                    <a:lstStyle/>
                    <a:p>
                      <a:pPr algn="ctr" rtl="0" fontAlgn="b"/>
                      <a:r>
                        <a:rPr lang="pt-BR" sz="1400">
                          <a:effectLst/>
                        </a:rPr>
                        <a:t>overcast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40293">
                <a:tc vMerge="1">
                  <a:txBody>
                    <a:bodyPr/>
                    <a:lstStyle/>
                    <a:p>
                      <a:endParaRPr lang="pt-BR"/>
                    </a:p>
                  </a:txBody>
                  <a:tcPr/>
                </a:tc>
                <a:tc>
                  <a:txBody>
                    <a:bodyPr/>
                    <a:lstStyle/>
                    <a:p>
                      <a:pPr algn="ctr" rtl="0" fontAlgn="b"/>
                      <a:r>
                        <a:rPr lang="pt-BR" sz="1400">
                          <a:effectLst/>
                        </a:rPr>
                        <a:t>rain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40293">
                <a:tc gridSpan="4">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ctr" rtl="0" fontAlgn="b"/>
                      <a:r>
                        <a:rPr lang="pt-BR" sz="1400" dirty="0">
                          <a:effectLst/>
                        </a:rPr>
                        <a:t>14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229532857"/>
              </p:ext>
            </p:extLst>
          </p:nvPr>
        </p:nvGraphicFramePr>
        <p:xfrm>
          <a:off x="3638063" y="2578430"/>
          <a:ext cx="2652378" cy="1508760"/>
        </p:xfrm>
        <a:graphic>
          <a:graphicData uri="http://schemas.openxmlformats.org/drawingml/2006/table">
            <a:tbl>
              <a:tblPr/>
              <a:tblGrid>
                <a:gridCol w="1058462">
                  <a:extLst>
                    <a:ext uri="{9D8B030D-6E8A-4147-A177-3AD203B41FA5}">
                      <a16:colId xmlns:a16="http://schemas.microsoft.com/office/drawing/2014/main" val="20000"/>
                    </a:ext>
                  </a:extLst>
                </a:gridCol>
                <a:gridCol w="697339">
                  <a:extLst>
                    <a:ext uri="{9D8B030D-6E8A-4147-A177-3AD203B41FA5}">
                      <a16:colId xmlns:a16="http://schemas.microsoft.com/office/drawing/2014/main" val="20001"/>
                    </a:ext>
                  </a:extLst>
                </a:gridCol>
                <a:gridCol w="298859">
                  <a:extLst>
                    <a:ext uri="{9D8B030D-6E8A-4147-A177-3AD203B41FA5}">
                      <a16:colId xmlns:a16="http://schemas.microsoft.com/office/drawing/2014/main" val="20002"/>
                    </a:ext>
                  </a:extLst>
                </a:gridCol>
                <a:gridCol w="298859">
                  <a:extLst>
                    <a:ext uri="{9D8B030D-6E8A-4147-A177-3AD203B41FA5}">
                      <a16:colId xmlns:a16="http://schemas.microsoft.com/office/drawing/2014/main" val="20003"/>
                    </a:ext>
                  </a:extLst>
                </a:gridCol>
                <a:gridCol w="298859">
                  <a:extLst>
                    <a:ext uri="{9D8B030D-6E8A-4147-A177-3AD203B41FA5}">
                      <a16:colId xmlns:a16="http://schemas.microsoft.com/office/drawing/2014/main" val="20004"/>
                    </a:ext>
                  </a:extLst>
                </a:gridCol>
              </a:tblGrid>
              <a:tr h="251460">
                <a:tc rowSpan="2" gridSpan="2">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gridSpan="2">
                  <a:txBody>
                    <a:bodyPr/>
                    <a:lstStyle/>
                    <a:p>
                      <a:pPr algn="ctr" rtl="0" fontAlgn="b"/>
                      <a:r>
                        <a:rPr lang="pt-BR" sz="1400" b="1">
                          <a:effectLst/>
                        </a:rPr>
                        <a:t>Jogar?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rowSpan="2">
                  <a:txBody>
                    <a:bodyPr/>
                    <a:lstStyle/>
                    <a:p>
                      <a:pP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51460">
                <a:tc gridSpan="2" vMerge="1">
                  <a:txBody>
                    <a:bodyPr/>
                    <a:lstStyle/>
                    <a:p>
                      <a:endParaRPr lang="pt-BR"/>
                    </a:p>
                  </a:txBody>
                  <a:tcPr/>
                </a:tc>
                <a:tc hMerge="1" vMerge="1">
                  <a:txBody>
                    <a:bodyPr/>
                    <a:lstStyle/>
                    <a:p>
                      <a:endParaRPr lang="pt-BR"/>
                    </a:p>
                  </a:txBody>
                  <a:tcPr/>
                </a:tc>
                <a:tc>
                  <a:txBody>
                    <a:bodyPr/>
                    <a:lstStyle/>
                    <a:p>
                      <a:pPr algn="ctr" rtl="0" fontAlgn="b"/>
                      <a:r>
                        <a:rPr lang="pt-BR" sz="140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51460">
                <a:tc rowSpan="3">
                  <a:txBody>
                    <a:bodyPr/>
                    <a:lstStyle/>
                    <a:p>
                      <a:pPr algn="ctr" rtl="0" fontAlgn="ctr"/>
                      <a:r>
                        <a:rPr lang="pt-BR" sz="1400" b="1">
                          <a:effectLst/>
                        </a:rPr>
                        <a:t>Temperature</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hot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51460">
                <a:tc vMerge="1">
                  <a:txBody>
                    <a:bodyPr/>
                    <a:lstStyle/>
                    <a:p>
                      <a:endParaRPr lang="pt-BR"/>
                    </a:p>
                  </a:txBody>
                  <a:tcPr/>
                </a:tc>
                <a:tc>
                  <a:txBody>
                    <a:bodyPr/>
                    <a:lstStyle/>
                    <a:p>
                      <a:pPr algn="ctr" rtl="0" fontAlgn="b"/>
                      <a:r>
                        <a:rPr lang="pt-BR" sz="1400" dirty="0">
                          <a:effectLst/>
                        </a:rPr>
                        <a:t>mild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51460">
                <a:tc vMerge="1">
                  <a:txBody>
                    <a:bodyPr/>
                    <a:lstStyle/>
                    <a:p>
                      <a:endParaRPr lang="pt-BR"/>
                    </a:p>
                  </a:txBody>
                  <a:tcPr/>
                </a:tc>
                <a:tc>
                  <a:txBody>
                    <a:bodyPr/>
                    <a:lstStyle/>
                    <a:p>
                      <a:pPr algn="ctr" rtl="0" fontAlgn="b"/>
                      <a:r>
                        <a:rPr lang="pt-BR" sz="1400" dirty="0">
                          <a:effectLst/>
                        </a:rPr>
                        <a:t>cool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51460">
                <a:tc gridSpan="4">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ctr" rtl="0" fontAlgn="b"/>
                      <a:r>
                        <a:rPr lang="pt-BR" sz="1400" dirty="0">
                          <a:effectLst/>
                        </a:rPr>
                        <a:t>14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354285095"/>
              </p:ext>
            </p:extLst>
          </p:nvPr>
        </p:nvGraphicFramePr>
        <p:xfrm>
          <a:off x="6528402" y="2578430"/>
          <a:ext cx="2364663" cy="1257300"/>
        </p:xfrm>
        <a:graphic>
          <a:graphicData uri="http://schemas.openxmlformats.org/drawingml/2006/table">
            <a:tbl>
              <a:tblPr/>
              <a:tblGrid>
                <a:gridCol w="943645">
                  <a:extLst>
                    <a:ext uri="{9D8B030D-6E8A-4147-A177-3AD203B41FA5}">
                      <a16:colId xmlns:a16="http://schemas.microsoft.com/office/drawing/2014/main" val="20000"/>
                    </a:ext>
                  </a:extLst>
                </a:gridCol>
                <a:gridCol w="621695">
                  <a:extLst>
                    <a:ext uri="{9D8B030D-6E8A-4147-A177-3AD203B41FA5}">
                      <a16:colId xmlns:a16="http://schemas.microsoft.com/office/drawing/2014/main" val="20001"/>
                    </a:ext>
                  </a:extLst>
                </a:gridCol>
                <a:gridCol w="266441">
                  <a:extLst>
                    <a:ext uri="{9D8B030D-6E8A-4147-A177-3AD203B41FA5}">
                      <a16:colId xmlns:a16="http://schemas.microsoft.com/office/drawing/2014/main" val="20002"/>
                    </a:ext>
                  </a:extLst>
                </a:gridCol>
                <a:gridCol w="266441">
                  <a:extLst>
                    <a:ext uri="{9D8B030D-6E8A-4147-A177-3AD203B41FA5}">
                      <a16:colId xmlns:a16="http://schemas.microsoft.com/office/drawing/2014/main" val="20003"/>
                    </a:ext>
                  </a:extLst>
                </a:gridCol>
                <a:gridCol w="266441">
                  <a:extLst>
                    <a:ext uri="{9D8B030D-6E8A-4147-A177-3AD203B41FA5}">
                      <a16:colId xmlns:a16="http://schemas.microsoft.com/office/drawing/2014/main" val="20004"/>
                    </a:ext>
                  </a:extLst>
                </a:gridCol>
              </a:tblGrid>
              <a:tr h="200025">
                <a:tc rowSpan="2" gridSpan="2">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gridSpan="2">
                  <a:txBody>
                    <a:bodyPr/>
                    <a:lstStyle/>
                    <a:p>
                      <a:pPr algn="ctr" rtl="0" fontAlgn="b"/>
                      <a:r>
                        <a:rPr lang="pt-BR" sz="1400" b="1" dirty="0">
                          <a:effectLst/>
                        </a:rPr>
                        <a:t>Jogar?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rowSpan="2">
                  <a:txBody>
                    <a:bodyPr/>
                    <a:lstStyle/>
                    <a:p>
                      <a:pP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gridSpan="2" vMerge="1">
                  <a:txBody>
                    <a:bodyPr/>
                    <a:lstStyle/>
                    <a:p>
                      <a:endParaRPr lang="pt-BR"/>
                    </a:p>
                  </a:txBody>
                  <a:tcPr/>
                </a:tc>
                <a:tc hMerge="1" vMerge="1">
                  <a:txBody>
                    <a:bodyPr/>
                    <a:lstStyle/>
                    <a:p>
                      <a:endParaRPr lang="pt-BR"/>
                    </a:p>
                  </a:txBody>
                  <a:tcPr/>
                </a:tc>
                <a:tc>
                  <a:txBody>
                    <a:bodyPr/>
                    <a:lstStyle/>
                    <a:p>
                      <a:pPr algn="ctr" rtl="0" fontAlgn="b"/>
                      <a:r>
                        <a:rPr lang="pt-BR" sz="140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rowSpan="2">
                  <a:txBody>
                    <a:bodyPr/>
                    <a:lstStyle/>
                    <a:p>
                      <a:pPr algn="ctr" rtl="0" fontAlgn="ctr"/>
                      <a:r>
                        <a:rPr lang="pt-BR" sz="1400" b="1" dirty="0">
                          <a:effectLst/>
                        </a:rPr>
                        <a:t>Humidity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high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7</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dirty="0">
                          <a:effectLst/>
                        </a:rPr>
                        <a:t>normal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7</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gridSpan="4">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ctr" rtl="0" fontAlgn="b"/>
                      <a:r>
                        <a:rPr lang="pt-BR" sz="1400" dirty="0">
                          <a:effectLst/>
                        </a:rPr>
                        <a:t>14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577828383"/>
              </p:ext>
            </p:extLst>
          </p:nvPr>
        </p:nvGraphicFramePr>
        <p:xfrm>
          <a:off x="9131026" y="2578430"/>
          <a:ext cx="2401451" cy="1257300"/>
        </p:xfrm>
        <a:graphic>
          <a:graphicData uri="http://schemas.openxmlformats.org/drawingml/2006/table">
            <a:tbl>
              <a:tblPr/>
              <a:tblGrid>
                <a:gridCol w="958326">
                  <a:extLst>
                    <a:ext uri="{9D8B030D-6E8A-4147-A177-3AD203B41FA5}">
                      <a16:colId xmlns:a16="http://schemas.microsoft.com/office/drawing/2014/main" val="20000"/>
                    </a:ext>
                  </a:extLst>
                </a:gridCol>
                <a:gridCol w="631367">
                  <a:extLst>
                    <a:ext uri="{9D8B030D-6E8A-4147-A177-3AD203B41FA5}">
                      <a16:colId xmlns:a16="http://schemas.microsoft.com/office/drawing/2014/main" val="20001"/>
                    </a:ext>
                  </a:extLst>
                </a:gridCol>
                <a:gridCol w="270586">
                  <a:extLst>
                    <a:ext uri="{9D8B030D-6E8A-4147-A177-3AD203B41FA5}">
                      <a16:colId xmlns:a16="http://schemas.microsoft.com/office/drawing/2014/main" val="20002"/>
                    </a:ext>
                  </a:extLst>
                </a:gridCol>
                <a:gridCol w="270586">
                  <a:extLst>
                    <a:ext uri="{9D8B030D-6E8A-4147-A177-3AD203B41FA5}">
                      <a16:colId xmlns:a16="http://schemas.microsoft.com/office/drawing/2014/main" val="20003"/>
                    </a:ext>
                  </a:extLst>
                </a:gridCol>
                <a:gridCol w="270586">
                  <a:extLst>
                    <a:ext uri="{9D8B030D-6E8A-4147-A177-3AD203B41FA5}">
                      <a16:colId xmlns:a16="http://schemas.microsoft.com/office/drawing/2014/main" val="20004"/>
                    </a:ext>
                  </a:extLst>
                </a:gridCol>
              </a:tblGrid>
              <a:tr h="200025">
                <a:tc rowSpan="2" gridSpan="2">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gridSpan="2">
                  <a:txBody>
                    <a:bodyPr/>
                    <a:lstStyle/>
                    <a:p>
                      <a:pPr algn="ctr" rtl="0" fontAlgn="b"/>
                      <a:r>
                        <a:rPr lang="pt-BR" sz="1400" b="1">
                          <a:effectLst/>
                        </a:rPr>
                        <a:t>Jogar?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rowSpan="2">
                  <a:txBody>
                    <a:bodyPr/>
                    <a:lstStyle/>
                    <a:p>
                      <a:pP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gridSpan="2" vMerge="1">
                  <a:txBody>
                    <a:bodyPr/>
                    <a:lstStyle/>
                    <a:p>
                      <a:endParaRPr lang="pt-BR"/>
                    </a:p>
                  </a:txBody>
                  <a:tcPr/>
                </a:tc>
                <a:tc hMerge="1" vMerge="1">
                  <a:txBody>
                    <a:bodyPr/>
                    <a:lstStyle/>
                    <a:p>
                      <a:endParaRPr lang="pt-BR"/>
                    </a:p>
                  </a:txBody>
                  <a:tcPr/>
                </a:tc>
                <a:tc>
                  <a:txBody>
                    <a:bodyPr/>
                    <a:lstStyle/>
                    <a:p>
                      <a:pPr algn="ctr" rtl="0" fontAlgn="b"/>
                      <a:r>
                        <a:rPr lang="pt-BR" sz="140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rowSpan="2">
                  <a:txBody>
                    <a:bodyPr/>
                    <a:lstStyle/>
                    <a:p>
                      <a:pPr algn="ctr" rtl="0" fontAlgn="ctr"/>
                      <a:r>
                        <a:rPr lang="pt-BR" sz="1400" b="1">
                          <a:effectLst/>
                        </a:rPr>
                        <a:t>Windy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true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dirty="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gridSpan="4">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ctr" rtl="0" fontAlgn="b"/>
                      <a:r>
                        <a:rPr lang="pt-BR" sz="1400" dirty="0">
                          <a:effectLst/>
                        </a:rPr>
                        <a:t>14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Box 10"/>
          <p:cNvSpPr txBox="1"/>
          <p:nvPr/>
        </p:nvSpPr>
        <p:spPr>
          <a:xfrm>
            <a:off x="8081431" y="3989594"/>
            <a:ext cx="3900361" cy="1200329"/>
          </a:xfrm>
          <a:prstGeom prst="rect">
            <a:avLst/>
          </a:prstGeom>
          <a:noFill/>
          <a:ln>
            <a:solidFill>
              <a:schemeClr val="tx1"/>
            </a:solidFill>
          </a:ln>
        </p:spPr>
        <p:txBody>
          <a:bodyPr wrap="square" rtlCol="0">
            <a:spAutoFit/>
          </a:bodyPr>
          <a:lstStyle/>
          <a:p>
            <a:r>
              <a:rPr lang="pt-BR" dirty="0"/>
              <a:t>O </a:t>
            </a:r>
            <a:r>
              <a:rPr lang="pt-BR" b="1" dirty="0"/>
              <a:t>ganho de informação </a:t>
            </a:r>
            <a:r>
              <a:rPr lang="pt-BR" dirty="0"/>
              <a:t>é maximizado com o atributo </a:t>
            </a:r>
            <a:r>
              <a:rPr lang="pt-BR" b="1" dirty="0"/>
              <a:t>Outlook</a:t>
            </a:r>
            <a:r>
              <a:rPr lang="pt-BR" dirty="0"/>
              <a:t>, que é, portanto, escolhido como o nó raíz da árvore.</a:t>
            </a:r>
          </a:p>
        </p:txBody>
      </p:sp>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33234" y="5497115"/>
            <a:ext cx="4821992" cy="1171699"/>
          </a:xfrm>
          <a:prstGeom prst="rect">
            <a:avLst/>
          </a:prstGeom>
        </p:spPr>
      </p:pic>
      <p:sp>
        <p:nvSpPr>
          <p:cNvPr id="5" name="Rectangle 4"/>
          <p:cNvSpPr/>
          <p:nvPr/>
        </p:nvSpPr>
        <p:spPr>
          <a:xfrm>
            <a:off x="6827116" y="4350890"/>
            <a:ext cx="607145" cy="3536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0640933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922876" cy="1325563"/>
          </a:xfrm>
        </p:spPr>
        <p:txBody>
          <a:bodyPr/>
          <a:lstStyle/>
          <a:p>
            <a:r>
              <a:rPr lang="pt-BR" dirty="0"/>
              <a:t>Exemplo de indução com método ID3</a:t>
            </a:r>
          </a:p>
        </p:txBody>
      </p:sp>
      <p:sp>
        <p:nvSpPr>
          <p:cNvPr id="3" name="Content Placeholder 2"/>
          <p:cNvSpPr>
            <a:spLocks noGrp="1"/>
          </p:cNvSpPr>
          <p:nvPr>
            <p:ph idx="1"/>
          </p:nvPr>
        </p:nvSpPr>
        <p:spPr>
          <a:xfrm>
            <a:off x="838199" y="1690689"/>
            <a:ext cx="11229975" cy="3386420"/>
          </a:xfrm>
        </p:spPr>
        <p:txBody>
          <a:bodyPr>
            <a:normAutofit fontScale="92500"/>
          </a:bodyPr>
          <a:lstStyle/>
          <a:p>
            <a:r>
              <a:rPr lang="pt-BR" dirty="0"/>
              <a:t>Agora, criamos </a:t>
            </a:r>
            <a:r>
              <a:rPr lang="pt-BR" b="1" dirty="0">
                <a:solidFill>
                  <a:srgbClr val="00B050"/>
                </a:solidFill>
              </a:rPr>
              <a:t>subconjuntos para cada um dos valores</a:t>
            </a:r>
            <a:r>
              <a:rPr lang="pt-BR" dirty="0"/>
              <a:t> do atributo </a:t>
            </a:r>
            <a:r>
              <a:rPr lang="pt-BR" b="1" dirty="0"/>
              <a:t>Outlook</a:t>
            </a:r>
            <a:r>
              <a:rPr lang="pt-BR" dirty="0"/>
              <a:t> e refazemos os cálculos do </a:t>
            </a:r>
            <a:r>
              <a:rPr lang="pt-BR" b="1" dirty="0"/>
              <a:t>ganho de informação </a:t>
            </a:r>
            <a:r>
              <a:rPr lang="pt-BR" dirty="0"/>
              <a:t>para cada um deles.</a:t>
            </a:r>
          </a:p>
          <a:p>
            <a:r>
              <a:rPr lang="pt-BR" dirty="0"/>
              <a:t>Quando </a:t>
            </a:r>
            <a:r>
              <a:rPr lang="pt-BR" b="1" dirty="0"/>
              <a:t>Outlook = overcast</a:t>
            </a:r>
            <a:r>
              <a:rPr lang="pt-BR" dirty="0"/>
              <a:t>, o subconjunto abaixo mostra que os valores dos outros atributos não importam, sendo a classe escolhida sempre a </a:t>
            </a:r>
            <a:r>
              <a:rPr lang="pt-BR" b="1" dirty="0"/>
              <a:t>Positiva</a:t>
            </a:r>
            <a:r>
              <a:rPr lang="pt-BR" dirty="0"/>
              <a:t> (</a:t>
            </a:r>
            <a:r>
              <a:rPr lang="pt-BR" i="1" dirty="0"/>
              <a:t>P</a:t>
            </a:r>
            <a:r>
              <a:rPr lang="pt-BR" dirty="0"/>
              <a:t>), ou seja, a </a:t>
            </a:r>
            <a:r>
              <a:rPr lang="pt-BR" b="1" dirty="0">
                <a:solidFill>
                  <a:srgbClr val="00B050"/>
                </a:solidFill>
              </a:rPr>
              <a:t>decisão será sempre pela classe Positiva se o tempo estiver nublado</a:t>
            </a:r>
            <a:r>
              <a:rPr lang="pt-BR" dirty="0"/>
              <a:t>.</a:t>
            </a:r>
          </a:p>
          <a:p>
            <a:r>
              <a:rPr lang="pt-BR" dirty="0"/>
              <a:t>A </a:t>
            </a:r>
            <a:r>
              <a:rPr lang="pt-BR" b="1" dirty="0">
                <a:solidFill>
                  <a:srgbClr val="00B050"/>
                </a:solidFill>
              </a:rPr>
              <a:t>entropia nessa caso é igual a zero</a:t>
            </a:r>
            <a:r>
              <a:rPr lang="pt-BR" dirty="0"/>
              <a:t> (pois não há incerteza), indicando uma </a:t>
            </a:r>
            <a:r>
              <a:rPr lang="pt-BR" b="1" dirty="0"/>
              <a:t>folha</a:t>
            </a:r>
            <a:r>
              <a:rPr lang="pt-BR" dirty="0"/>
              <a:t> da árvore.</a:t>
            </a:r>
          </a:p>
          <a:p>
            <a:r>
              <a:rPr lang="pt-BR" dirty="0"/>
              <a:t>Portanto, encontramos a folha deste ramo.</a:t>
            </a:r>
          </a:p>
        </p:txBody>
      </p:sp>
      <p:graphicFrame>
        <p:nvGraphicFramePr>
          <p:cNvPr id="4" name="Table 3"/>
          <p:cNvGraphicFramePr>
            <a:graphicFrameLocks noGrp="1"/>
          </p:cNvGraphicFramePr>
          <p:nvPr>
            <p:extLst>
              <p:ext uri="{D42A27DB-BD31-4B8C-83A1-F6EECF244321}">
                <p14:modId xmlns:p14="http://schemas.microsoft.com/office/powerpoint/2010/main" val="3735334332"/>
              </p:ext>
            </p:extLst>
          </p:nvPr>
        </p:nvGraphicFramePr>
        <p:xfrm>
          <a:off x="1145299" y="5090044"/>
          <a:ext cx="6115050" cy="1569720"/>
        </p:xfrm>
        <a:graphic>
          <a:graphicData uri="http://schemas.openxmlformats.org/drawingml/2006/table">
            <a:tbl>
              <a:tblPr/>
              <a:tblGrid>
                <a:gridCol w="1019175">
                  <a:extLst>
                    <a:ext uri="{9D8B030D-6E8A-4147-A177-3AD203B41FA5}">
                      <a16:colId xmlns:a16="http://schemas.microsoft.com/office/drawing/2014/main" val="20000"/>
                    </a:ext>
                  </a:extLst>
                </a:gridCol>
                <a:gridCol w="1019175">
                  <a:extLst>
                    <a:ext uri="{9D8B030D-6E8A-4147-A177-3AD203B41FA5}">
                      <a16:colId xmlns:a16="http://schemas.microsoft.com/office/drawing/2014/main" val="20001"/>
                    </a:ext>
                  </a:extLst>
                </a:gridCol>
                <a:gridCol w="1019175">
                  <a:extLst>
                    <a:ext uri="{9D8B030D-6E8A-4147-A177-3AD203B41FA5}">
                      <a16:colId xmlns:a16="http://schemas.microsoft.com/office/drawing/2014/main" val="20002"/>
                    </a:ext>
                  </a:extLst>
                </a:gridCol>
                <a:gridCol w="1019175">
                  <a:extLst>
                    <a:ext uri="{9D8B030D-6E8A-4147-A177-3AD203B41FA5}">
                      <a16:colId xmlns:a16="http://schemas.microsoft.com/office/drawing/2014/main" val="20003"/>
                    </a:ext>
                  </a:extLst>
                </a:gridCol>
                <a:gridCol w="1019175">
                  <a:extLst>
                    <a:ext uri="{9D8B030D-6E8A-4147-A177-3AD203B41FA5}">
                      <a16:colId xmlns:a16="http://schemas.microsoft.com/office/drawing/2014/main" val="20004"/>
                    </a:ext>
                  </a:extLst>
                </a:gridCol>
                <a:gridCol w="1019175">
                  <a:extLst>
                    <a:ext uri="{9D8B030D-6E8A-4147-A177-3AD203B41FA5}">
                      <a16:colId xmlns:a16="http://schemas.microsoft.com/office/drawing/2014/main" val="20005"/>
                    </a:ext>
                  </a:extLst>
                </a:gridCol>
              </a:tblGrid>
              <a:tr h="270555">
                <a:tc rowSpan="2">
                  <a:txBody>
                    <a:bodyPr/>
                    <a:lstStyle/>
                    <a:p>
                      <a:pPr algn="ctr" rtl="0" fontAlgn="ctr"/>
                      <a:r>
                        <a:rPr lang="pt-BR" sz="1400" b="1" dirty="0">
                          <a:effectLst/>
                        </a:rPr>
                        <a:t>Day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gridSpan="4">
                  <a:txBody>
                    <a:bodyPr/>
                    <a:lstStyle/>
                    <a:p>
                      <a:pPr algn="ctr" rtl="0" fontAlgn="b"/>
                      <a:r>
                        <a:rPr lang="pt-BR" b="1">
                          <a:effectLst/>
                        </a:rPr>
                        <a:t>Attributes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rowSpan="2">
                  <a:txBody>
                    <a:bodyPr/>
                    <a:lstStyle/>
                    <a:p>
                      <a:pPr algn="ctr" rtl="0" fontAlgn="ctr"/>
                      <a:r>
                        <a:rPr lang="pt-BR" sz="1400" b="1">
                          <a:effectLst/>
                        </a:rPr>
                        <a:t>Class</a:t>
                      </a:r>
                      <a:br>
                        <a:rPr lang="pt-BR" sz="1400" b="1">
                          <a:effectLst/>
                        </a:rPr>
                      </a:br>
                      <a:r>
                        <a:rPr lang="pt-BR" sz="1400" b="1">
                          <a:effectLst/>
                        </a:rPr>
                        <a:t>(y)</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17764">
                <a:tc vMerge="1">
                  <a:txBody>
                    <a:bodyPr/>
                    <a:lstStyle/>
                    <a:p>
                      <a:endParaRPr lang="pt-BR"/>
                    </a:p>
                  </a:txBody>
                  <a:tcPr/>
                </a:tc>
                <a:tc>
                  <a:txBody>
                    <a:bodyPr/>
                    <a:lstStyle/>
                    <a:p>
                      <a:pPr algn="ctr" rtl="0" fontAlgn="b"/>
                      <a:r>
                        <a:rPr lang="pt-BR" sz="1400" b="1" dirty="0">
                          <a:effectLst/>
                        </a:rPr>
                        <a:t>Outlook</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dirty="0">
                          <a:effectLst/>
                        </a:rPr>
                        <a:t>Temperature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a:effectLst/>
                        </a:rPr>
                        <a:t>Humidity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a:effectLst/>
                        </a:rPr>
                        <a:t>Windy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17764">
                <a:tc>
                  <a:txBody>
                    <a:bodyPr/>
                    <a:lstStyle/>
                    <a:p>
                      <a:pPr algn="ctr" rtl="0" fontAlgn="b"/>
                      <a:r>
                        <a:rPr lang="pt-BR" sz="1400">
                          <a:effectLst/>
                        </a:rPr>
                        <a:t>3</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overcast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hot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high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17764">
                <a:tc>
                  <a:txBody>
                    <a:bodyPr/>
                    <a:lstStyle/>
                    <a:p>
                      <a:pPr algn="ctr" rtl="0" fontAlgn="b"/>
                      <a:r>
                        <a:rPr lang="pt-BR" sz="1400">
                          <a:effectLst/>
                        </a:rPr>
                        <a:t>7</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overcast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cool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normal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true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17764">
                <a:tc>
                  <a:txBody>
                    <a:bodyPr/>
                    <a:lstStyle/>
                    <a:p>
                      <a:pPr algn="ctr" rtl="0" fontAlgn="b"/>
                      <a:r>
                        <a:rPr lang="pt-BR" sz="1400">
                          <a:effectLst/>
                        </a:rPr>
                        <a:t>12</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overcast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mild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high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true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17764">
                <a:tc>
                  <a:txBody>
                    <a:bodyPr/>
                    <a:lstStyle/>
                    <a:p>
                      <a:pPr algn="ctr" rtl="0" fontAlgn="b"/>
                      <a:r>
                        <a:rPr lang="pt-BR" sz="1400">
                          <a:effectLst/>
                        </a:rPr>
                        <a:t>13</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a:effectLst/>
                        </a:rPr>
                        <a:t>overcast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a:effectLst/>
                        </a:rPr>
                        <a:t>hot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normal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5160" r="5235"/>
          <a:stretch/>
        </p:blipFill>
        <p:spPr>
          <a:xfrm>
            <a:off x="7443623" y="5077109"/>
            <a:ext cx="4624552" cy="1354949"/>
          </a:xfrm>
          <a:prstGeom prst="rect">
            <a:avLst/>
          </a:prstGeom>
        </p:spPr>
      </p:pic>
    </p:spTree>
    <p:extLst>
      <p:ext uri="{BB962C8B-B14F-4D97-AF65-F5344CB8AC3E}">
        <p14:creationId xmlns:p14="http://schemas.microsoft.com/office/powerpoint/2010/main" val="26599129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241505" cy="1325563"/>
          </a:xfrm>
        </p:spPr>
        <p:txBody>
          <a:bodyPr/>
          <a:lstStyle/>
          <a:p>
            <a:r>
              <a:rPr lang="pt-BR" dirty="0"/>
              <a:t>Exemplo de indução com método ID3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199" y="1560786"/>
                <a:ext cx="9869906" cy="5297213"/>
              </a:xfrm>
            </p:spPr>
            <p:txBody>
              <a:bodyPr>
                <a:normAutofit fontScale="77500" lnSpcReduction="20000"/>
              </a:bodyPr>
              <a:lstStyle/>
              <a:p>
                <a:r>
                  <a:rPr lang="pt-BR" dirty="0"/>
                  <a:t>Quando </a:t>
                </a:r>
                <a:r>
                  <a:rPr lang="pt-BR" b="1" dirty="0"/>
                  <a:t>Outlook = rain</a:t>
                </a:r>
                <a:endParaRPr lang="pt-BR" dirty="0"/>
              </a:p>
              <a:p>
                <a:endParaRPr lang="pt-BR" dirty="0"/>
              </a:p>
              <a:p>
                <a:endParaRPr lang="pt-BR" dirty="0"/>
              </a:p>
              <a:p>
                <a:endParaRPr lang="pt-BR" dirty="0"/>
              </a:p>
              <a:p>
                <a:pPr marL="0" indent="0">
                  <a:buNone/>
                </a:pPr>
                <a:endParaRPr lang="pt-BR" sz="2400" i="1" dirty="0">
                  <a:latin typeface="Cambria Math" panose="02040503050406030204" pitchFamily="18" charset="0"/>
                </a:endParaRPr>
              </a:p>
              <a:p>
                <a:pPr marL="0" indent="0">
                  <a:buNone/>
                </a:pPr>
                <a:endParaRPr lang="pt-BR" sz="2400" i="1" dirty="0">
                  <a:latin typeface="Cambria Math" panose="02040503050406030204" pitchFamily="18" charset="0"/>
                </a:endParaRPr>
              </a:p>
              <a:p>
                <a:pPr marL="0" indent="0">
                  <a:buNone/>
                </a:pPr>
                <a:r>
                  <a:rPr lang="pt-BR" sz="2400" b="1" dirty="0"/>
                  <a:t>Entropia do objetivo </a:t>
                </a:r>
                <a:r>
                  <a:rPr lang="pt-BR" sz="2400" dirty="0"/>
                  <a:t>para o subconjunto </a:t>
                </a:r>
                <a14:m>
                  <m:oMath xmlns:m="http://schemas.openxmlformats.org/officeDocument/2006/math">
                    <m:r>
                      <m:rPr>
                        <m:nor/>
                      </m:rPr>
                      <a:rPr lang="pt-BR" sz="2400" b="1">
                        <a:latin typeface="Cambria Math" panose="02040503050406030204" pitchFamily="18" charset="0"/>
                      </a:rPr>
                      <m:t>Outlook</m:t>
                    </m:r>
                    <m:r>
                      <m:rPr>
                        <m:nor/>
                      </m:rPr>
                      <a:rPr lang="pt-BR" sz="2400" b="1">
                        <a:latin typeface="Cambria Math" panose="02040503050406030204" pitchFamily="18" charset="0"/>
                      </a:rPr>
                      <m:t> = </m:t>
                    </m:r>
                    <m:r>
                      <m:rPr>
                        <m:nor/>
                      </m:rPr>
                      <a:rPr lang="pt-BR" sz="2400" b="1">
                        <a:latin typeface="Cambria Math" panose="02040503050406030204" pitchFamily="18" charset="0"/>
                      </a:rPr>
                      <m:t>rain</m:t>
                    </m:r>
                  </m:oMath>
                </a14:m>
                <a:r>
                  <a:rPr lang="pt-BR" sz="2400" dirty="0"/>
                  <a:t>: </a:t>
                </a:r>
                <a14:m>
                  <m:oMath xmlns:m="http://schemas.openxmlformats.org/officeDocument/2006/math">
                    <m:r>
                      <a:rPr lang="pt-BR" sz="2400" b="1">
                        <a:latin typeface="Cambria Math" panose="02040503050406030204" pitchFamily="18" charset="0"/>
                      </a:rPr>
                      <m:t>𝐻</m:t>
                    </m:r>
                    <m:d>
                      <m:dPr>
                        <m:ctrlPr>
                          <a:rPr lang="pt-BR" sz="2400" b="1" i="1">
                            <a:latin typeface="Cambria Math" panose="02040503050406030204" pitchFamily="18" charset="0"/>
                          </a:rPr>
                        </m:ctrlPr>
                      </m:dPr>
                      <m:e>
                        <m:r>
                          <a:rPr lang="pt-BR" sz="2400" b="1">
                            <a:latin typeface="Cambria Math" panose="02040503050406030204" pitchFamily="18" charset="0"/>
                          </a:rPr>
                          <m:t>𝑦</m:t>
                        </m:r>
                        <m:r>
                          <a:rPr lang="pt-BR" sz="2400" b="1" i="0" smtClean="0">
                            <a:latin typeface="Cambria Math" panose="02040503050406030204" pitchFamily="18" charset="0"/>
                          </a:rPr>
                          <m:t> </m:t>
                        </m:r>
                      </m:e>
                      <m:e>
                        <m:r>
                          <m:rPr>
                            <m:nor/>
                          </m:rPr>
                          <a:rPr lang="pt-BR" sz="2400" b="1" i="0" smtClean="0">
                            <a:latin typeface="Cambria Math" panose="02040503050406030204" pitchFamily="18" charset="0"/>
                          </a:rPr>
                          <m:t> </m:t>
                        </m:r>
                        <m:r>
                          <m:rPr>
                            <m:nor/>
                          </m:rPr>
                          <a:rPr lang="pt-BR" sz="2400" b="1">
                            <a:latin typeface="Cambria Math" panose="02040503050406030204" pitchFamily="18" charset="0"/>
                          </a:rPr>
                          <m:t>Outlook</m:t>
                        </m:r>
                        <m:r>
                          <m:rPr>
                            <m:nor/>
                          </m:rPr>
                          <a:rPr lang="pt-BR" sz="2400" b="1">
                            <a:latin typeface="Cambria Math" panose="02040503050406030204" pitchFamily="18" charset="0"/>
                          </a:rPr>
                          <m:t> = </m:t>
                        </m:r>
                        <m:r>
                          <m:rPr>
                            <m:nor/>
                          </m:rPr>
                          <a:rPr lang="pt-BR" sz="2400" b="1">
                            <a:latin typeface="Cambria Math" panose="02040503050406030204" pitchFamily="18" charset="0"/>
                          </a:rPr>
                          <m:t>rain</m:t>
                        </m:r>
                      </m:e>
                    </m:d>
                    <m:r>
                      <a:rPr lang="pt-BR" sz="2400" b="1">
                        <a:latin typeface="Cambria Math" panose="02040503050406030204" pitchFamily="18" charset="0"/>
                      </a:rPr>
                      <m:t>=0.971</m:t>
                    </m:r>
                  </m:oMath>
                </a14:m>
                <a:endParaRPr lang="pt-BR" sz="2400" b="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pt-BR" sz="2300" i="1">
                          <a:latin typeface="Cambria Math" panose="02040503050406030204" pitchFamily="18" charset="0"/>
                        </a:rPr>
                        <m:t>𝐺𝑎𝑖𝑛</m:t>
                      </m:r>
                      <m:d>
                        <m:dPr>
                          <m:ctrlPr>
                            <a:rPr lang="pt-BR" sz="2300" i="1">
                              <a:latin typeface="Cambria Math" panose="02040503050406030204" pitchFamily="18" charset="0"/>
                            </a:rPr>
                          </m:ctrlPr>
                        </m:dPr>
                        <m:e>
                          <m:r>
                            <a:rPr lang="pt-BR" sz="2300" b="1" i="0" smtClean="0">
                              <a:latin typeface="Cambria Math" panose="02040503050406030204" pitchFamily="18" charset="0"/>
                            </a:rPr>
                            <m:t>𝐓</m:t>
                          </m:r>
                          <m:r>
                            <a:rPr lang="pt-BR" sz="2300" b="1">
                              <a:latin typeface="Cambria Math" panose="02040503050406030204" pitchFamily="18" charset="0"/>
                            </a:rPr>
                            <m:t>𝐞𝐦𝐩𝐞𝐫𝐚𝐭𝐮𝐫𝐞</m:t>
                          </m:r>
                        </m:e>
                      </m:d>
                      <m:r>
                        <a:rPr lang="pt-BR" sz="2300" i="1">
                          <a:latin typeface="Cambria Math" panose="02040503050406030204" pitchFamily="18" charset="0"/>
                        </a:rPr>
                        <m:t>=0.9</m:t>
                      </m:r>
                      <m:r>
                        <a:rPr lang="pt-BR" sz="2300" b="0" i="1" smtClean="0">
                          <a:latin typeface="Cambria Math" panose="02040503050406030204" pitchFamily="18" charset="0"/>
                        </a:rPr>
                        <m:t>71</m:t>
                      </m:r>
                      <m:r>
                        <a:rPr lang="pt-BR" sz="2300" i="1">
                          <a:latin typeface="Cambria Math" panose="02040503050406030204" pitchFamily="18" charset="0"/>
                        </a:rPr>
                        <m:t>−</m:t>
                      </m:r>
                      <m:d>
                        <m:dPr>
                          <m:begChr m:val="["/>
                          <m:endChr m:val="]"/>
                          <m:ctrlPr>
                            <a:rPr lang="pt-BR" sz="2300" i="1">
                              <a:latin typeface="Cambria Math" panose="02040503050406030204" pitchFamily="18" charset="0"/>
                            </a:rPr>
                          </m:ctrlPr>
                        </m:dPr>
                        <m:e>
                          <m:f>
                            <m:fPr>
                              <m:ctrlPr>
                                <a:rPr lang="pt-BR" sz="2300" i="1">
                                  <a:latin typeface="Cambria Math" panose="02040503050406030204" pitchFamily="18" charset="0"/>
                                </a:rPr>
                              </m:ctrlPr>
                            </m:fPr>
                            <m:num>
                              <m:r>
                                <a:rPr lang="pt-BR" sz="2300" b="0" i="1" smtClean="0">
                                  <a:latin typeface="Cambria Math" panose="02040503050406030204" pitchFamily="18" charset="0"/>
                                </a:rPr>
                                <m:t>0</m:t>
                              </m:r>
                            </m:num>
                            <m:den>
                              <m:r>
                                <a:rPr lang="pt-BR" sz="2300" b="0" i="1" smtClean="0">
                                  <a:latin typeface="Cambria Math" panose="02040503050406030204" pitchFamily="18" charset="0"/>
                                </a:rPr>
                                <m:t>5</m:t>
                              </m:r>
                            </m:den>
                          </m:f>
                          <m:r>
                            <a:rPr lang="pt-BR" sz="2300" b="0" i="1" smtClean="0">
                              <a:latin typeface="Cambria Math" panose="02040503050406030204" pitchFamily="18" charset="0"/>
                            </a:rPr>
                            <m:t>𝐵</m:t>
                          </m:r>
                          <m:d>
                            <m:dPr>
                              <m:ctrlPr>
                                <a:rPr lang="pt-BR" sz="2300" i="1">
                                  <a:latin typeface="Cambria Math" panose="02040503050406030204" pitchFamily="18" charset="0"/>
                                </a:rPr>
                              </m:ctrlPr>
                            </m:dPr>
                            <m:e>
                              <m:f>
                                <m:fPr>
                                  <m:ctrlPr>
                                    <a:rPr lang="pt-BR" sz="2300" i="1">
                                      <a:latin typeface="Cambria Math" panose="02040503050406030204" pitchFamily="18" charset="0"/>
                                    </a:rPr>
                                  </m:ctrlPr>
                                </m:fPr>
                                <m:num>
                                  <m:r>
                                    <a:rPr lang="pt-BR" sz="2300" b="0" i="1" smtClean="0">
                                      <a:latin typeface="Cambria Math" panose="02040503050406030204" pitchFamily="18" charset="0"/>
                                    </a:rPr>
                                    <m:t>0</m:t>
                                  </m:r>
                                </m:num>
                                <m:den>
                                  <m:r>
                                    <a:rPr lang="pt-BR" sz="2300" b="0" i="1" smtClean="0">
                                      <a:latin typeface="Cambria Math" panose="02040503050406030204" pitchFamily="18" charset="0"/>
                                    </a:rPr>
                                    <m:t>0</m:t>
                                  </m:r>
                                </m:den>
                              </m:f>
                            </m:e>
                          </m:d>
                          <m:r>
                            <a:rPr lang="pt-BR" sz="2300" i="1">
                              <a:latin typeface="Cambria Math" panose="02040503050406030204" pitchFamily="18" charset="0"/>
                            </a:rPr>
                            <m:t>+</m:t>
                          </m:r>
                          <m:f>
                            <m:fPr>
                              <m:ctrlPr>
                                <a:rPr lang="pt-BR" sz="2300" i="1">
                                  <a:latin typeface="Cambria Math" panose="02040503050406030204" pitchFamily="18" charset="0"/>
                                </a:rPr>
                              </m:ctrlPr>
                            </m:fPr>
                            <m:num>
                              <m:r>
                                <a:rPr lang="pt-BR" sz="2300" b="0" i="1" smtClean="0">
                                  <a:latin typeface="Cambria Math" panose="02040503050406030204" pitchFamily="18" charset="0"/>
                                </a:rPr>
                                <m:t>3</m:t>
                              </m:r>
                            </m:num>
                            <m:den>
                              <m:r>
                                <a:rPr lang="pt-BR" sz="2300" b="0" i="1" smtClean="0">
                                  <a:latin typeface="Cambria Math" panose="02040503050406030204" pitchFamily="18" charset="0"/>
                                </a:rPr>
                                <m:t>5</m:t>
                              </m:r>
                            </m:den>
                          </m:f>
                          <m:r>
                            <a:rPr lang="pt-BR" sz="2300" b="0" i="1" smtClean="0">
                              <a:latin typeface="Cambria Math" panose="02040503050406030204" pitchFamily="18" charset="0"/>
                            </a:rPr>
                            <m:t>𝐵</m:t>
                          </m:r>
                          <m:d>
                            <m:dPr>
                              <m:ctrlPr>
                                <a:rPr lang="pt-BR" sz="2300" i="1">
                                  <a:latin typeface="Cambria Math" panose="02040503050406030204" pitchFamily="18" charset="0"/>
                                </a:rPr>
                              </m:ctrlPr>
                            </m:dPr>
                            <m:e>
                              <m:f>
                                <m:fPr>
                                  <m:ctrlPr>
                                    <a:rPr lang="pt-BR" sz="2300" i="1">
                                      <a:latin typeface="Cambria Math" panose="02040503050406030204" pitchFamily="18" charset="0"/>
                                    </a:rPr>
                                  </m:ctrlPr>
                                </m:fPr>
                                <m:num>
                                  <m:r>
                                    <a:rPr lang="pt-BR" sz="2300" b="0" i="1" smtClean="0">
                                      <a:latin typeface="Cambria Math" panose="02040503050406030204" pitchFamily="18" charset="0"/>
                                    </a:rPr>
                                    <m:t>2</m:t>
                                  </m:r>
                                </m:num>
                                <m:den>
                                  <m:r>
                                    <a:rPr lang="pt-BR" sz="2300" b="0" i="1" smtClean="0">
                                      <a:latin typeface="Cambria Math" panose="02040503050406030204" pitchFamily="18" charset="0"/>
                                    </a:rPr>
                                    <m:t>3</m:t>
                                  </m:r>
                                </m:den>
                              </m:f>
                            </m:e>
                          </m:d>
                          <m:r>
                            <a:rPr lang="pt-BR" sz="2300" i="1">
                              <a:latin typeface="Cambria Math" panose="02040503050406030204" pitchFamily="18" charset="0"/>
                            </a:rPr>
                            <m:t>+</m:t>
                          </m:r>
                          <m:f>
                            <m:fPr>
                              <m:ctrlPr>
                                <a:rPr lang="pt-BR" sz="2300" i="1">
                                  <a:latin typeface="Cambria Math" panose="02040503050406030204" pitchFamily="18" charset="0"/>
                                </a:rPr>
                              </m:ctrlPr>
                            </m:fPr>
                            <m:num>
                              <m:r>
                                <a:rPr lang="pt-BR" sz="2300" b="0" i="1" smtClean="0">
                                  <a:latin typeface="Cambria Math" panose="02040503050406030204" pitchFamily="18" charset="0"/>
                                </a:rPr>
                                <m:t>2</m:t>
                              </m:r>
                            </m:num>
                            <m:den>
                              <m:r>
                                <a:rPr lang="pt-BR" sz="2300" b="0" i="1" smtClean="0">
                                  <a:latin typeface="Cambria Math" panose="02040503050406030204" pitchFamily="18" charset="0"/>
                                </a:rPr>
                                <m:t>5</m:t>
                              </m:r>
                            </m:den>
                          </m:f>
                          <m:r>
                            <a:rPr lang="pt-BR" sz="2300" b="0" i="1" smtClean="0">
                              <a:latin typeface="Cambria Math" panose="02040503050406030204" pitchFamily="18" charset="0"/>
                            </a:rPr>
                            <m:t>𝐵</m:t>
                          </m:r>
                          <m:d>
                            <m:dPr>
                              <m:ctrlPr>
                                <a:rPr lang="pt-BR" sz="2300" i="1">
                                  <a:latin typeface="Cambria Math" panose="02040503050406030204" pitchFamily="18" charset="0"/>
                                </a:rPr>
                              </m:ctrlPr>
                            </m:dPr>
                            <m:e>
                              <m:f>
                                <m:fPr>
                                  <m:ctrlPr>
                                    <a:rPr lang="pt-BR" sz="2300" i="1">
                                      <a:latin typeface="Cambria Math" panose="02040503050406030204" pitchFamily="18" charset="0"/>
                                    </a:rPr>
                                  </m:ctrlPr>
                                </m:fPr>
                                <m:num>
                                  <m:r>
                                    <a:rPr lang="pt-BR" sz="2300" b="0" i="1" smtClean="0">
                                      <a:latin typeface="Cambria Math" panose="02040503050406030204" pitchFamily="18" charset="0"/>
                                    </a:rPr>
                                    <m:t>1</m:t>
                                  </m:r>
                                </m:num>
                                <m:den>
                                  <m:r>
                                    <a:rPr lang="pt-BR" sz="2300" b="0" i="1" smtClean="0">
                                      <a:latin typeface="Cambria Math" panose="02040503050406030204" pitchFamily="18" charset="0"/>
                                    </a:rPr>
                                    <m:t>2</m:t>
                                  </m:r>
                                </m:den>
                              </m:f>
                            </m:e>
                          </m:d>
                        </m:e>
                      </m:d>
                      <m:r>
                        <a:rPr lang="pt-BR" sz="2300">
                          <a:latin typeface="Cambria Math" panose="02040503050406030204" pitchFamily="18" charset="0"/>
                        </a:rPr>
                        <m:t>=</m:t>
                      </m:r>
                      <m:r>
                        <a:rPr lang="pt-BR" sz="2300" b="0" i="0" smtClean="0">
                          <a:latin typeface="Cambria Math" panose="02040503050406030204" pitchFamily="18" charset="0"/>
                        </a:rPr>
                        <m:t>0.02</m:t>
                      </m:r>
                    </m:oMath>
                  </m:oMathPara>
                </a14:m>
                <a:endParaRPr lang="pt-BR" sz="2300" dirty="0"/>
              </a:p>
              <a:p>
                <a:pPr marL="0" indent="0">
                  <a:buNone/>
                </a:pPr>
                <a14:m>
                  <m:oMath xmlns:m="http://schemas.openxmlformats.org/officeDocument/2006/math">
                    <m:r>
                      <a:rPr lang="pt-BR" sz="2400" i="1">
                        <a:latin typeface="Cambria Math" panose="02040503050406030204" pitchFamily="18" charset="0"/>
                      </a:rPr>
                      <m:t>𝐺𝑎𝑖𝑛</m:t>
                    </m:r>
                    <m:d>
                      <m:dPr>
                        <m:ctrlPr>
                          <a:rPr lang="pt-BR" sz="2400" i="1">
                            <a:latin typeface="Cambria Math" panose="02040503050406030204" pitchFamily="18" charset="0"/>
                          </a:rPr>
                        </m:ctrlPr>
                      </m:dPr>
                      <m:e>
                        <m:r>
                          <a:rPr lang="pt-BR" sz="2400" b="1" i="0" smtClean="0">
                            <a:latin typeface="Cambria Math" panose="02040503050406030204" pitchFamily="18" charset="0"/>
                          </a:rPr>
                          <m:t>𝐇</m:t>
                        </m:r>
                        <m:r>
                          <a:rPr lang="pt-BR" sz="2400" b="1">
                            <a:latin typeface="Cambria Math" panose="02040503050406030204" pitchFamily="18" charset="0"/>
                          </a:rPr>
                          <m:t>𝐮𝐦𝐢𝐝𝐢𝐭𝐲</m:t>
                        </m:r>
                      </m:e>
                    </m:d>
                    <m:r>
                      <a:rPr lang="pt-BR" sz="2400" i="1">
                        <a:latin typeface="Cambria Math" panose="02040503050406030204" pitchFamily="18" charset="0"/>
                      </a:rPr>
                      <m:t>=0.9</m:t>
                    </m:r>
                    <m:r>
                      <a:rPr lang="pt-BR" sz="2400" b="0" i="1" smtClean="0">
                        <a:latin typeface="Cambria Math" panose="02040503050406030204" pitchFamily="18" charset="0"/>
                      </a:rPr>
                      <m:t>71</m:t>
                    </m:r>
                    <m:r>
                      <a:rPr lang="pt-BR" sz="2400" i="1">
                        <a:latin typeface="Cambria Math" panose="02040503050406030204" pitchFamily="18" charset="0"/>
                      </a:rPr>
                      <m:t>−</m:t>
                    </m:r>
                    <m:d>
                      <m:dPr>
                        <m:begChr m:val="["/>
                        <m:endChr m:val="]"/>
                        <m:ctrlPr>
                          <a:rPr lang="pt-BR" sz="2400" i="1">
                            <a:latin typeface="Cambria Math" panose="02040503050406030204" pitchFamily="18" charset="0"/>
                          </a:rPr>
                        </m:ctrlPr>
                      </m:dPr>
                      <m:e>
                        <m:f>
                          <m:fPr>
                            <m:ctrlPr>
                              <a:rPr lang="pt-BR" sz="2400" i="1">
                                <a:latin typeface="Cambria Math" panose="02040503050406030204" pitchFamily="18" charset="0"/>
                              </a:rPr>
                            </m:ctrlPr>
                          </m:fPr>
                          <m:num>
                            <m:r>
                              <a:rPr lang="pt-BR" sz="2400" b="0" i="1" smtClean="0">
                                <a:latin typeface="Cambria Math" panose="02040503050406030204" pitchFamily="18" charset="0"/>
                              </a:rPr>
                              <m:t>2</m:t>
                            </m:r>
                          </m:num>
                          <m:den>
                            <m:r>
                              <a:rPr lang="pt-BR" sz="2400" b="0" i="1" smtClean="0">
                                <a:latin typeface="Cambria Math" panose="02040503050406030204" pitchFamily="18" charset="0"/>
                              </a:rPr>
                              <m:t>5</m:t>
                            </m:r>
                          </m:den>
                        </m:f>
                        <m:r>
                          <a:rPr lang="pt-BR" sz="2400" b="0" i="1" smtClean="0">
                            <a:latin typeface="Cambria Math" panose="02040503050406030204" pitchFamily="18" charset="0"/>
                          </a:rPr>
                          <m:t>𝐵</m:t>
                        </m:r>
                        <m:d>
                          <m:dPr>
                            <m:ctrlPr>
                              <a:rPr lang="pt-BR" sz="2400" i="1">
                                <a:latin typeface="Cambria Math" panose="02040503050406030204" pitchFamily="18" charset="0"/>
                              </a:rPr>
                            </m:ctrlPr>
                          </m:dPr>
                          <m:e>
                            <m:f>
                              <m:fPr>
                                <m:ctrlPr>
                                  <a:rPr lang="pt-BR" sz="2400" i="1">
                                    <a:latin typeface="Cambria Math" panose="02040503050406030204" pitchFamily="18" charset="0"/>
                                  </a:rPr>
                                </m:ctrlPr>
                              </m:fPr>
                              <m:num>
                                <m:r>
                                  <a:rPr lang="pt-BR" sz="2400" b="0" i="1" smtClean="0">
                                    <a:latin typeface="Cambria Math" panose="02040503050406030204" pitchFamily="18" charset="0"/>
                                  </a:rPr>
                                  <m:t>1</m:t>
                                </m:r>
                              </m:num>
                              <m:den>
                                <m:r>
                                  <a:rPr lang="pt-BR" sz="2400" b="0" i="1" smtClean="0">
                                    <a:latin typeface="Cambria Math" panose="02040503050406030204" pitchFamily="18" charset="0"/>
                                  </a:rPr>
                                  <m:t>2</m:t>
                                </m:r>
                              </m:den>
                            </m:f>
                          </m:e>
                        </m:d>
                        <m:r>
                          <a:rPr lang="pt-BR" sz="2400" i="1">
                            <a:latin typeface="Cambria Math" panose="02040503050406030204" pitchFamily="18" charset="0"/>
                          </a:rPr>
                          <m:t>+</m:t>
                        </m:r>
                        <m:f>
                          <m:fPr>
                            <m:ctrlPr>
                              <a:rPr lang="pt-BR" sz="2400" i="1">
                                <a:latin typeface="Cambria Math" panose="02040503050406030204" pitchFamily="18" charset="0"/>
                              </a:rPr>
                            </m:ctrlPr>
                          </m:fPr>
                          <m:num>
                            <m:r>
                              <a:rPr lang="pt-BR" sz="2400" b="0" i="1" smtClean="0">
                                <a:latin typeface="Cambria Math" panose="02040503050406030204" pitchFamily="18" charset="0"/>
                              </a:rPr>
                              <m:t>3</m:t>
                            </m:r>
                          </m:num>
                          <m:den>
                            <m:r>
                              <a:rPr lang="pt-BR" sz="2400" b="0" i="1" smtClean="0">
                                <a:latin typeface="Cambria Math" panose="02040503050406030204" pitchFamily="18" charset="0"/>
                              </a:rPr>
                              <m:t>5</m:t>
                            </m:r>
                          </m:den>
                        </m:f>
                        <m:r>
                          <a:rPr lang="pt-BR" sz="2400" b="0" i="1" smtClean="0">
                            <a:latin typeface="Cambria Math" panose="02040503050406030204" pitchFamily="18" charset="0"/>
                          </a:rPr>
                          <m:t>𝐵</m:t>
                        </m:r>
                        <m:d>
                          <m:dPr>
                            <m:ctrlPr>
                              <a:rPr lang="pt-BR" sz="2400" i="1">
                                <a:latin typeface="Cambria Math" panose="02040503050406030204" pitchFamily="18" charset="0"/>
                              </a:rPr>
                            </m:ctrlPr>
                          </m:dPr>
                          <m:e>
                            <m:f>
                              <m:fPr>
                                <m:ctrlPr>
                                  <a:rPr lang="pt-BR" sz="2400" i="1">
                                    <a:latin typeface="Cambria Math" panose="02040503050406030204" pitchFamily="18" charset="0"/>
                                  </a:rPr>
                                </m:ctrlPr>
                              </m:fPr>
                              <m:num>
                                <m:r>
                                  <a:rPr lang="pt-BR" sz="2400" b="0" i="1" smtClean="0">
                                    <a:latin typeface="Cambria Math" panose="02040503050406030204" pitchFamily="18" charset="0"/>
                                  </a:rPr>
                                  <m:t>2</m:t>
                                </m:r>
                              </m:num>
                              <m:den>
                                <m:r>
                                  <a:rPr lang="pt-BR" sz="2400" b="0" i="1" smtClean="0">
                                    <a:latin typeface="Cambria Math" panose="02040503050406030204" pitchFamily="18" charset="0"/>
                                  </a:rPr>
                                  <m:t>3</m:t>
                                </m:r>
                              </m:den>
                            </m:f>
                          </m:e>
                        </m:d>
                      </m:e>
                    </m:d>
                    <m:r>
                      <a:rPr lang="pt-BR" sz="2400">
                        <a:latin typeface="Cambria Math" panose="02040503050406030204" pitchFamily="18" charset="0"/>
                      </a:rPr>
                      <m:t>=0</m:t>
                    </m:r>
                    <m:r>
                      <a:rPr lang="pt-BR" sz="2400" b="0" i="0" smtClean="0">
                        <a:latin typeface="Cambria Math" panose="02040503050406030204" pitchFamily="18" charset="0"/>
                      </a:rPr>
                      <m:t>.</m:t>
                    </m:r>
                  </m:oMath>
                </a14:m>
                <a:r>
                  <a:rPr lang="pt-BR" sz="2400" dirty="0"/>
                  <a:t>02</a:t>
                </a:r>
              </a:p>
              <a:p>
                <a:pPr marL="0" indent="0">
                  <a:buNone/>
                </a:pPr>
                <a14:m>
                  <m:oMath xmlns:m="http://schemas.openxmlformats.org/officeDocument/2006/math">
                    <m:r>
                      <a:rPr lang="pt-BR" sz="2400" i="1">
                        <a:latin typeface="Cambria Math" panose="02040503050406030204" pitchFamily="18" charset="0"/>
                      </a:rPr>
                      <m:t>𝐺𝑎𝑖𝑛</m:t>
                    </m:r>
                    <m:d>
                      <m:dPr>
                        <m:ctrlPr>
                          <a:rPr lang="pt-BR" sz="2400" i="1">
                            <a:latin typeface="Cambria Math" panose="02040503050406030204" pitchFamily="18" charset="0"/>
                          </a:rPr>
                        </m:ctrlPr>
                      </m:dPr>
                      <m:e>
                        <m:r>
                          <a:rPr lang="pt-BR" sz="2400" b="1" i="0" smtClean="0">
                            <a:latin typeface="Cambria Math" panose="02040503050406030204" pitchFamily="18" charset="0"/>
                          </a:rPr>
                          <m:t>𝐖</m:t>
                        </m:r>
                        <m:r>
                          <a:rPr lang="pt-BR" sz="2400" b="1">
                            <a:latin typeface="Cambria Math" panose="02040503050406030204" pitchFamily="18" charset="0"/>
                          </a:rPr>
                          <m:t>𝐢𝐧𝐝𝐲</m:t>
                        </m:r>
                      </m:e>
                    </m:d>
                    <m:r>
                      <a:rPr lang="pt-BR" sz="2400" i="1">
                        <a:latin typeface="Cambria Math" panose="02040503050406030204" pitchFamily="18" charset="0"/>
                      </a:rPr>
                      <m:t>=0.9</m:t>
                    </m:r>
                    <m:r>
                      <a:rPr lang="pt-BR" sz="2400" b="0" i="1" smtClean="0">
                        <a:latin typeface="Cambria Math" panose="02040503050406030204" pitchFamily="18" charset="0"/>
                      </a:rPr>
                      <m:t>71</m:t>
                    </m:r>
                    <m:r>
                      <a:rPr lang="pt-BR" sz="2400" i="1">
                        <a:latin typeface="Cambria Math" panose="02040503050406030204" pitchFamily="18" charset="0"/>
                      </a:rPr>
                      <m:t>−</m:t>
                    </m:r>
                    <m:d>
                      <m:dPr>
                        <m:begChr m:val="["/>
                        <m:endChr m:val="]"/>
                        <m:ctrlPr>
                          <a:rPr lang="pt-BR" sz="2400" i="1">
                            <a:latin typeface="Cambria Math" panose="02040503050406030204" pitchFamily="18" charset="0"/>
                          </a:rPr>
                        </m:ctrlPr>
                      </m:dPr>
                      <m:e>
                        <m:f>
                          <m:fPr>
                            <m:ctrlPr>
                              <a:rPr lang="pt-BR" sz="2400" i="1">
                                <a:latin typeface="Cambria Math" panose="02040503050406030204" pitchFamily="18" charset="0"/>
                              </a:rPr>
                            </m:ctrlPr>
                          </m:fPr>
                          <m:num>
                            <m:r>
                              <a:rPr lang="pt-BR" sz="2400" b="0" i="1" smtClean="0">
                                <a:latin typeface="Cambria Math" panose="02040503050406030204" pitchFamily="18" charset="0"/>
                              </a:rPr>
                              <m:t>2</m:t>
                            </m:r>
                          </m:num>
                          <m:den>
                            <m:r>
                              <a:rPr lang="pt-BR" sz="2400" b="0" i="1" smtClean="0">
                                <a:latin typeface="Cambria Math" panose="02040503050406030204" pitchFamily="18" charset="0"/>
                              </a:rPr>
                              <m:t>5</m:t>
                            </m:r>
                          </m:den>
                        </m:f>
                        <m:r>
                          <a:rPr lang="pt-BR" sz="2400" b="0" i="1" smtClean="0">
                            <a:latin typeface="Cambria Math" panose="02040503050406030204" pitchFamily="18" charset="0"/>
                          </a:rPr>
                          <m:t>𝐵</m:t>
                        </m:r>
                        <m:d>
                          <m:dPr>
                            <m:ctrlPr>
                              <a:rPr lang="pt-BR" sz="2400" i="1">
                                <a:latin typeface="Cambria Math" panose="02040503050406030204" pitchFamily="18" charset="0"/>
                              </a:rPr>
                            </m:ctrlPr>
                          </m:dPr>
                          <m:e>
                            <m:f>
                              <m:fPr>
                                <m:ctrlPr>
                                  <a:rPr lang="pt-BR" sz="2400" i="1">
                                    <a:latin typeface="Cambria Math" panose="02040503050406030204" pitchFamily="18" charset="0"/>
                                  </a:rPr>
                                </m:ctrlPr>
                              </m:fPr>
                              <m:num>
                                <m:r>
                                  <a:rPr lang="pt-BR" sz="2400" b="0" i="1" smtClean="0">
                                    <a:latin typeface="Cambria Math" panose="02040503050406030204" pitchFamily="18" charset="0"/>
                                  </a:rPr>
                                  <m:t>0</m:t>
                                </m:r>
                              </m:num>
                              <m:den>
                                <m:r>
                                  <a:rPr lang="pt-BR" sz="2400" b="0" i="1" smtClean="0">
                                    <a:latin typeface="Cambria Math" panose="02040503050406030204" pitchFamily="18" charset="0"/>
                                  </a:rPr>
                                  <m:t>2</m:t>
                                </m:r>
                              </m:den>
                            </m:f>
                          </m:e>
                        </m:d>
                        <m:r>
                          <a:rPr lang="pt-BR" sz="2400" i="1">
                            <a:latin typeface="Cambria Math" panose="02040503050406030204" pitchFamily="18" charset="0"/>
                          </a:rPr>
                          <m:t>+</m:t>
                        </m:r>
                        <m:f>
                          <m:fPr>
                            <m:ctrlPr>
                              <a:rPr lang="pt-BR" sz="2400" i="1">
                                <a:latin typeface="Cambria Math" panose="02040503050406030204" pitchFamily="18" charset="0"/>
                              </a:rPr>
                            </m:ctrlPr>
                          </m:fPr>
                          <m:num>
                            <m:r>
                              <a:rPr lang="pt-BR" sz="2400" b="0" i="1" smtClean="0">
                                <a:latin typeface="Cambria Math" panose="02040503050406030204" pitchFamily="18" charset="0"/>
                              </a:rPr>
                              <m:t>3</m:t>
                            </m:r>
                          </m:num>
                          <m:den>
                            <m:r>
                              <a:rPr lang="pt-BR" sz="2400" b="0" i="1" smtClean="0">
                                <a:latin typeface="Cambria Math" panose="02040503050406030204" pitchFamily="18" charset="0"/>
                              </a:rPr>
                              <m:t>5</m:t>
                            </m:r>
                          </m:den>
                        </m:f>
                        <m:r>
                          <a:rPr lang="pt-BR" sz="2400" b="0" i="1" smtClean="0">
                            <a:latin typeface="Cambria Math" panose="02040503050406030204" pitchFamily="18" charset="0"/>
                          </a:rPr>
                          <m:t>𝐵</m:t>
                        </m:r>
                        <m:d>
                          <m:dPr>
                            <m:ctrlPr>
                              <a:rPr lang="pt-BR" sz="2400" i="1">
                                <a:latin typeface="Cambria Math" panose="02040503050406030204" pitchFamily="18" charset="0"/>
                              </a:rPr>
                            </m:ctrlPr>
                          </m:dPr>
                          <m:e>
                            <m:f>
                              <m:fPr>
                                <m:ctrlPr>
                                  <a:rPr lang="pt-BR" sz="2400" i="1">
                                    <a:latin typeface="Cambria Math" panose="02040503050406030204" pitchFamily="18" charset="0"/>
                                  </a:rPr>
                                </m:ctrlPr>
                              </m:fPr>
                              <m:num>
                                <m:r>
                                  <a:rPr lang="pt-BR" sz="2400" b="0" i="1" smtClean="0">
                                    <a:latin typeface="Cambria Math" panose="02040503050406030204" pitchFamily="18" charset="0"/>
                                  </a:rPr>
                                  <m:t>3</m:t>
                                </m:r>
                              </m:num>
                              <m:den>
                                <m:r>
                                  <a:rPr lang="pt-BR" sz="2400" b="0" i="1" smtClean="0">
                                    <a:latin typeface="Cambria Math" panose="02040503050406030204" pitchFamily="18" charset="0"/>
                                  </a:rPr>
                                  <m:t>3</m:t>
                                </m:r>
                              </m:den>
                            </m:f>
                          </m:e>
                        </m:d>
                      </m:e>
                    </m:d>
                    <m:r>
                      <a:rPr lang="pt-BR" sz="2400">
                        <a:latin typeface="Cambria Math" panose="02040503050406030204" pitchFamily="18" charset="0"/>
                      </a:rPr>
                      <m:t>=0.</m:t>
                    </m:r>
                  </m:oMath>
                </a14:m>
                <a:r>
                  <a:rPr lang="pt-BR" sz="2400" dirty="0"/>
                  <a:t>971</a:t>
                </a:r>
              </a:p>
              <a:p>
                <a:r>
                  <a:rPr lang="pt-BR" dirty="0"/>
                  <a:t>Aqui, o atributo </a:t>
                </a:r>
                <a:r>
                  <a:rPr lang="pt-BR" b="1" dirty="0" err="1"/>
                  <a:t>Windy</a:t>
                </a:r>
                <a:r>
                  <a:rPr lang="pt-BR" dirty="0"/>
                  <a:t> resulta no valor de </a:t>
                </a:r>
                <a:r>
                  <a:rPr lang="pt-BR" b="1" dirty="0"/>
                  <a:t>ganho de informação</a:t>
                </a:r>
                <a:r>
                  <a:rPr lang="pt-BR" b="1" i="1" dirty="0"/>
                  <a:t> </a:t>
                </a:r>
                <a:r>
                  <a:rPr lang="pt-BR" dirty="0"/>
                  <a:t>mais alto quando o tempo estiver chuvoso (i.e., </a:t>
                </a:r>
                <a:r>
                  <a:rPr lang="pt-BR" b="1" dirty="0"/>
                  <a:t>Outlook = rain</a:t>
                </a:r>
                <a:r>
                  <a:rPr lang="pt-BR" dirty="0"/>
                  <a:t>). </a:t>
                </a:r>
              </a:p>
              <a:p>
                <a:r>
                  <a:rPr lang="pt-BR" dirty="0"/>
                  <a:t>Por isso, o atributo </a:t>
                </a:r>
                <a:r>
                  <a:rPr lang="pt-BR" b="1" dirty="0" err="1"/>
                  <a:t>Windy</a:t>
                </a:r>
                <a:r>
                  <a:rPr lang="pt-BR" b="1" i="1" dirty="0"/>
                  <a:t> </a:t>
                </a:r>
                <a:r>
                  <a:rPr lang="pt-BR" dirty="0"/>
                  <a:t>será o nó do 2º nível da árvore, no ramo </a:t>
                </a:r>
                <a:r>
                  <a:rPr lang="pt-BR" b="1" dirty="0"/>
                  <a:t>rain </a:t>
                </a:r>
                <a:r>
                  <a:rPr lang="pt-BR" dirty="0"/>
                  <a:t>de</a:t>
                </a:r>
                <a:r>
                  <a:rPr lang="pt-BR" b="1" dirty="0"/>
                  <a:t> Outlook</a:t>
                </a:r>
                <a:r>
                  <a:rPr lang="pt-BR"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199" y="1560786"/>
                <a:ext cx="9869906" cy="5297213"/>
              </a:xfrm>
              <a:blipFill>
                <a:blip r:embed="rId2"/>
                <a:stretch>
                  <a:fillRect l="-679" t="-2417"/>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1160949644"/>
              </p:ext>
            </p:extLst>
          </p:nvPr>
        </p:nvGraphicFramePr>
        <p:xfrm>
          <a:off x="1124442" y="1996699"/>
          <a:ext cx="2580457" cy="1508760"/>
        </p:xfrm>
        <a:graphic>
          <a:graphicData uri="http://schemas.openxmlformats.org/drawingml/2006/table">
            <a:tbl>
              <a:tblPr/>
              <a:tblGrid>
                <a:gridCol w="1029759">
                  <a:extLst>
                    <a:ext uri="{9D8B030D-6E8A-4147-A177-3AD203B41FA5}">
                      <a16:colId xmlns:a16="http://schemas.microsoft.com/office/drawing/2014/main" val="20000"/>
                    </a:ext>
                  </a:extLst>
                </a:gridCol>
                <a:gridCol w="678430">
                  <a:extLst>
                    <a:ext uri="{9D8B030D-6E8A-4147-A177-3AD203B41FA5}">
                      <a16:colId xmlns:a16="http://schemas.microsoft.com/office/drawing/2014/main" val="20001"/>
                    </a:ext>
                  </a:extLst>
                </a:gridCol>
                <a:gridCol w="290756">
                  <a:extLst>
                    <a:ext uri="{9D8B030D-6E8A-4147-A177-3AD203B41FA5}">
                      <a16:colId xmlns:a16="http://schemas.microsoft.com/office/drawing/2014/main" val="20002"/>
                    </a:ext>
                  </a:extLst>
                </a:gridCol>
                <a:gridCol w="290756">
                  <a:extLst>
                    <a:ext uri="{9D8B030D-6E8A-4147-A177-3AD203B41FA5}">
                      <a16:colId xmlns:a16="http://schemas.microsoft.com/office/drawing/2014/main" val="20003"/>
                    </a:ext>
                  </a:extLst>
                </a:gridCol>
                <a:gridCol w="290756">
                  <a:extLst>
                    <a:ext uri="{9D8B030D-6E8A-4147-A177-3AD203B41FA5}">
                      <a16:colId xmlns:a16="http://schemas.microsoft.com/office/drawing/2014/main" val="20004"/>
                    </a:ext>
                  </a:extLst>
                </a:gridCol>
              </a:tblGrid>
              <a:tr h="200025">
                <a:tc rowSpan="2" gridSpan="2">
                  <a:txBody>
                    <a:bodyPr/>
                    <a:lstStyle/>
                    <a:p>
                      <a:pPr algn="ctr" rtl="0" fontAlgn="ctr"/>
                      <a:r>
                        <a:rPr lang="pt-BR" sz="1400" b="1" dirty="0">
                          <a:effectLst/>
                        </a:rPr>
                        <a:t>Outlook = </a:t>
                      </a:r>
                      <a:r>
                        <a:rPr lang="pt-BR" sz="1400" b="1" dirty="0" err="1">
                          <a:effectLst/>
                        </a:rPr>
                        <a:t>rain</a:t>
                      </a:r>
                      <a:endParaRPr lang="pt-BR" sz="1400" b="1" dirty="0">
                        <a:effectLst/>
                      </a:endParaRP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gridSpan="2">
                  <a:txBody>
                    <a:bodyPr/>
                    <a:lstStyle/>
                    <a:p>
                      <a:pPr algn="ctr" rtl="0" fontAlgn="b"/>
                      <a:r>
                        <a:rPr lang="pt-BR" sz="1400" b="1">
                          <a:effectLst/>
                        </a:rPr>
                        <a:t>Jogar?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rowSpan="2">
                  <a:txBody>
                    <a:bodyPr/>
                    <a:lstStyle/>
                    <a:p>
                      <a:pP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gridSpan="2" vMerge="1">
                  <a:txBody>
                    <a:bodyPr/>
                    <a:lstStyle/>
                    <a:p>
                      <a:endParaRPr lang="pt-BR"/>
                    </a:p>
                  </a:txBody>
                  <a:tcPr/>
                </a:tc>
                <a:tc hMerge="1" vMerge="1">
                  <a:txBody>
                    <a:bodyPr/>
                    <a:lstStyle/>
                    <a:p>
                      <a:endParaRPr lang="pt-BR"/>
                    </a:p>
                  </a:txBody>
                  <a:tcPr/>
                </a:tc>
                <a:tc>
                  <a:txBody>
                    <a:bodyPr/>
                    <a:lstStyle/>
                    <a:p>
                      <a:pPr algn="ctr" rtl="0" fontAlgn="b"/>
                      <a:r>
                        <a:rPr lang="pt-BR" sz="1400" dirty="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rowSpan="3">
                  <a:txBody>
                    <a:bodyPr/>
                    <a:lstStyle/>
                    <a:p>
                      <a:pPr algn="ctr" rtl="0" fontAlgn="ctr"/>
                      <a:r>
                        <a:rPr lang="pt-BR" sz="1400" b="1">
                          <a:effectLst/>
                        </a:rPr>
                        <a:t>Temperature</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hot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a:effectLst/>
                        </a:rPr>
                        <a:t>mild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vMerge="1">
                  <a:txBody>
                    <a:bodyPr/>
                    <a:lstStyle/>
                    <a:p>
                      <a:endParaRPr lang="pt-BR"/>
                    </a:p>
                  </a:txBody>
                  <a:tcPr/>
                </a:tc>
                <a:tc>
                  <a:txBody>
                    <a:bodyPr/>
                    <a:lstStyle/>
                    <a:p>
                      <a:pPr algn="ctr" rtl="0" fontAlgn="b"/>
                      <a:r>
                        <a:rPr lang="pt-BR" sz="1400">
                          <a:effectLst/>
                        </a:rPr>
                        <a:t>cool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00025">
                <a:tc gridSpan="4">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ctr" rtl="0" fontAlgn="b"/>
                      <a:r>
                        <a:rPr lang="pt-BR" sz="1400" dirty="0">
                          <a:effectLst/>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308647067"/>
              </p:ext>
            </p:extLst>
          </p:nvPr>
        </p:nvGraphicFramePr>
        <p:xfrm>
          <a:off x="4054203" y="1996699"/>
          <a:ext cx="2454329" cy="1257300"/>
        </p:xfrm>
        <a:graphic>
          <a:graphicData uri="http://schemas.openxmlformats.org/drawingml/2006/table">
            <a:tbl>
              <a:tblPr/>
              <a:tblGrid>
                <a:gridCol w="979427">
                  <a:extLst>
                    <a:ext uri="{9D8B030D-6E8A-4147-A177-3AD203B41FA5}">
                      <a16:colId xmlns:a16="http://schemas.microsoft.com/office/drawing/2014/main" val="20000"/>
                    </a:ext>
                  </a:extLst>
                </a:gridCol>
                <a:gridCol w="645270">
                  <a:extLst>
                    <a:ext uri="{9D8B030D-6E8A-4147-A177-3AD203B41FA5}">
                      <a16:colId xmlns:a16="http://schemas.microsoft.com/office/drawing/2014/main" val="20001"/>
                    </a:ext>
                  </a:extLst>
                </a:gridCol>
                <a:gridCol w="276544">
                  <a:extLst>
                    <a:ext uri="{9D8B030D-6E8A-4147-A177-3AD203B41FA5}">
                      <a16:colId xmlns:a16="http://schemas.microsoft.com/office/drawing/2014/main" val="20002"/>
                    </a:ext>
                  </a:extLst>
                </a:gridCol>
                <a:gridCol w="276544">
                  <a:extLst>
                    <a:ext uri="{9D8B030D-6E8A-4147-A177-3AD203B41FA5}">
                      <a16:colId xmlns:a16="http://schemas.microsoft.com/office/drawing/2014/main" val="20003"/>
                    </a:ext>
                  </a:extLst>
                </a:gridCol>
                <a:gridCol w="276544">
                  <a:extLst>
                    <a:ext uri="{9D8B030D-6E8A-4147-A177-3AD203B41FA5}">
                      <a16:colId xmlns:a16="http://schemas.microsoft.com/office/drawing/2014/main" val="20004"/>
                    </a:ext>
                  </a:extLst>
                </a:gridCol>
              </a:tblGrid>
              <a:tr h="200025">
                <a:tc rowSpan="2" gridSpan="2">
                  <a:txBody>
                    <a:bodyPr/>
                    <a:lstStyle/>
                    <a:p>
                      <a:pPr algn="ctr" rtl="0" fontAlgn="ctr"/>
                      <a:r>
                        <a:rPr lang="pt-BR" sz="1400" b="1" dirty="0">
                          <a:effectLst/>
                        </a:rPr>
                        <a:t>Outlook = </a:t>
                      </a:r>
                      <a:r>
                        <a:rPr lang="pt-BR" sz="1400" b="1" dirty="0" err="1">
                          <a:effectLst/>
                        </a:rPr>
                        <a:t>rain</a:t>
                      </a:r>
                      <a:endParaRPr lang="pt-BR" sz="1400" b="1" dirty="0">
                        <a:effectLst/>
                      </a:endParaRP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gridSpan="2">
                  <a:txBody>
                    <a:bodyPr/>
                    <a:lstStyle/>
                    <a:p>
                      <a:pPr algn="ctr" rtl="0" fontAlgn="b"/>
                      <a:r>
                        <a:rPr lang="pt-BR" sz="1400" b="1">
                          <a:effectLst/>
                        </a:rPr>
                        <a:t>Jogar?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rowSpan="2">
                  <a:txBody>
                    <a:bodyPr/>
                    <a:lstStyle/>
                    <a:p>
                      <a:pP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gridSpan="2" vMerge="1">
                  <a:txBody>
                    <a:bodyPr/>
                    <a:lstStyle/>
                    <a:p>
                      <a:endParaRPr lang="pt-BR"/>
                    </a:p>
                  </a:txBody>
                  <a:tcPr/>
                </a:tc>
                <a:tc hMerge="1" vMerge="1">
                  <a:txBody>
                    <a:bodyPr/>
                    <a:lstStyle/>
                    <a:p>
                      <a:endParaRPr lang="pt-BR"/>
                    </a:p>
                  </a:txBody>
                  <a:tcPr/>
                </a:tc>
                <a:tc>
                  <a:txBody>
                    <a:bodyPr/>
                    <a:lstStyle/>
                    <a:p>
                      <a:pPr algn="ctr" rtl="0" fontAlgn="b"/>
                      <a:r>
                        <a:rPr lang="pt-BR" sz="140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rowSpan="2">
                  <a:txBody>
                    <a:bodyPr/>
                    <a:lstStyle/>
                    <a:p>
                      <a:pPr algn="ctr" rtl="0" fontAlgn="ctr"/>
                      <a:r>
                        <a:rPr lang="pt-BR" sz="1400" b="1">
                          <a:effectLst/>
                        </a:rPr>
                        <a:t>Humidity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high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dirty="0">
                          <a:effectLst/>
                        </a:rPr>
                        <a:t>normal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gridSpan="4">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ctr" rtl="0" fontAlgn="b"/>
                      <a:r>
                        <a:rPr lang="pt-BR" sz="1400" dirty="0">
                          <a:effectLst/>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46228941"/>
              </p:ext>
            </p:extLst>
          </p:nvPr>
        </p:nvGraphicFramePr>
        <p:xfrm>
          <a:off x="6857836" y="1996699"/>
          <a:ext cx="2440040" cy="1257300"/>
        </p:xfrm>
        <a:graphic>
          <a:graphicData uri="http://schemas.openxmlformats.org/drawingml/2006/table">
            <a:tbl>
              <a:tblPr/>
              <a:tblGrid>
                <a:gridCol w="973725">
                  <a:extLst>
                    <a:ext uri="{9D8B030D-6E8A-4147-A177-3AD203B41FA5}">
                      <a16:colId xmlns:a16="http://schemas.microsoft.com/office/drawing/2014/main" val="20000"/>
                    </a:ext>
                  </a:extLst>
                </a:gridCol>
                <a:gridCol w="641513">
                  <a:extLst>
                    <a:ext uri="{9D8B030D-6E8A-4147-A177-3AD203B41FA5}">
                      <a16:colId xmlns:a16="http://schemas.microsoft.com/office/drawing/2014/main" val="20001"/>
                    </a:ext>
                  </a:extLst>
                </a:gridCol>
                <a:gridCol w="274934">
                  <a:extLst>
                    <a:ext uri="{9D8B030D-6E8A-4147-A177-3AD203B41FA5}">
                      <a16:colId xmlns:a16="http://schemas.microsoft.com/office/drawing/2014/main" val="20002"/>
                    </a:ext>
                  </a:extLst>
                </a:gridCol>
                <a:gridCol w="274934">
                  <a:extLst>
                    <a:ext uri="{9D8B030D-6E8A-4147-A177-3AD203B41FA5}">
                      <a16:colId xmlns:a16="http://schemas.microsoft.com/office/drawing/2014/main" val="20003"/>
                    </a:ext>
                  </a:extLst>
                </a:gridCol>
                <a:gridCol w="274934">
                  <a:extLst>
                    <a:ext uri="{9D8B030D-6E8A-4147-A177-3AD203B41FA5}">
                      <a16:colId xmlns:a16="http://schemas.microsoft.com/office/drawing/2014/main" val="20004"/>
                    </a:ext>
                  </a:extLst>
                </a:gridCol>
              </a:tblGrid>
              <a:tr h="200025">
                <a:tc rowSpan="2" gridSpan="2">
                  <a:txBody>
                    <a:bodyPr/>
                    <a:lstStyle/>
                    <a:p>
                      <a:pPr algn="ctr" rtl="0" fontAlgn="ctr"/>
                      <a:r>
                        <a:rPr lang="pt-BR" sz="1400" b="1" dirty="0">
                          <a:effectLst/>
                        </a:rPr>
                        <a:t>Outlook = </a:t>
                      </a:r>
                      <a:r>
                        <a:rPr lang="pt-BR" sz="1400" b="1" dirty="0" err="1">
                          <a:effectLst/>
                        </a:rPr>
                        <a:t>rain</a:t>
                      </a:r>
                      <a:endParaRPr lang="pt-BR" sz="1400" b="1" dirty="0">
                        <a:effectLst/>
                      </a:endParaRP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gridSpan="2">
                  <a:txBody>
                    <a:bodyPr/>
                    <a:lstStyle/>
                    <a:p>
                      <a:pPr algn="ctr" rtl="0" fontAlgn="b"/>
                      <a:r>
                        <a:rPr lang="pt-BR" sz="1400" b="1">
                          <a:effectLst/>
                        </a:rPr>
                        <a:t>Jogar?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rowSpan="2">
                  <a:txBody>
                    <a:bodyPr/>
                    <a:lstStyle/>
                    <a:p>
                      <a:pP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gridSpan="2" vMerge="1">
                  <a:txBody>
                    <a:bodyPr/>
                    <a:lstStyle/>
                    <a:p>
                      <a:endParaRPr lang="pt-BR"/>
                    </a:p>
                  </a:txBody>
                  <a:tcPr/>
                </a:tc>
                <a:tc hMerge="1" vMerge="1">
                  <a:txBody>
                    <a:bodyPr/>
                    <a:lstStyle/>
                    <a:p>
                      <a:endParaRPr lang="pt-BR"/>
                    </a:p>
                  </a:txBody>
                  <a:tcPr/>
                </a:tc>
                <a:tc>
                  <a:txBody>
                    <a:bodyPr/>
                    <a:lstStyle/>
                    <a:p>
                      <a:pPr algn="ctr" rtl="0" fontAlgn="b"/>
                      <a:r>
                        <a:rPr lang="pt-BR" sz="140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rowSpan="2">
                  <a:txBody>
                    <a:bodyPr/>
                    <a:lstStyle/>
                    <a:p>
                      <a:pPr algn="ctr" rtl="0" fontAlgn="ctr"/>
                      <a:r>
                        <a:rPr lang="pt-BR" sz="1400" b="1" dirty="0">
                          <a:effectLst/>
                        </a:rPr>
                        <a:t>Windy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true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gridSpan="4">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ctr" rtl="0" fontAlgn="b"/>
                      <a:r>
                        <a:rPr lang="pt-BR" sz="1400" dirty="0">
                          <a:effectLst/>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r="4671"/>
          <a:stretch/>
        </p:blipFill>
        <p:spPr>
          <a:xfrm>
            <a:off x="7924800" y="4080629"/>
            <a:ext cx="4267200" cy="1515968"/>
          </a:xfrm>
          <a:prstGeom prst="rect">
            <a:avLst/>
          </a:prstGeom>
        </p:spPr>
      </p:pic>
      <p:sp>
        <p:nvSpPr>
          <p:cNvPr id="9" name="Rectangle 8"/>
          <p:cNvSpPr/>
          <p:nvPr/>
        </p:nvSpPr>
        <p:spPr>
          <a:xfrm>
            <a:off x="5648514" y="4985397"/>
            <a:ext cx="607145" cy="3536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5236784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63527"/>
            <a:ext cx="10918371" cy="1325563"/>
          </a:xfrm>
        </p:spPr>
        <p:txBody>
          <a:bodyPr/>
          <a:lstStyle/>
          <a:p>
            <a:r>
              <a:rPr lang="pt-BR" dirty="0"/>
              <a:t>Exemplo de indução com método ID3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199" y="1538515"/>
                <a:ext cx="11135265" cy="4054734"/>
              </a:xfrm>
            </p:spPr>
            <p:txBody>
              <a:bodyPr>
                <a:normAutofit/>
              </a:bodyPr>
              <a:lstStyle/>
              <a:p>
                <a:r>
                  <a:rPr lang="pt-BR" dirty="0"/>
                  <a:t>Se analisarmos o subconjunto onde </a:t>
                </a:r>
                <a:r>
                  <a:rPr lang="pt-BR" b="1" dirty="0"/>
                  <a:t>Outlook = rain </a:t>
                </a:r>
                <a:r>
                  <a:rPr lang="pt-BR" dirty="0"/>
                  <a:t>e </a:t>
                </a:r>
                <a:r>
                  <a:rPr lang="pt-BR" b="1" dirty="0" err="1"/>
                  <a:t>Windy</a:t>
                </a:r>
                <a:r>
                  <a:rPr lang="pt-BR" b="1" dirty="0"/>
                  <a:t> = false</a:t>
                </a:r>
                <a:r>
                  <a:rPr lang="pt-BR" dirty="0"/>
                  <a:t>, percebemos que a decisão será sempre pela classe </a:t>
                </a:r>
                <a:r>
                  <a:rPr lang="pt-BR" b="1" dirty="0"/>
                  <a:t>Positiva</a:t>
                </a:r>
                <a:r>
                  <a:rPr lang="pt-BR" dirty="0"/>
                  <a:t> (</a:t>
                </a:r>
                <a:r>
                  <a:rPr lang="pt-BR" i="1" dirty="0"/>
                  <a:t>P</a:t>
                </a:r>
                <a:r>
                  <a:rPr lang="pt-BR" dirty="0"/>
                  <a:t>). A entropia H(</a:t>
                </a:r>
                <a14:m>
                  <m:oMath xmlns:m="http://schemas.openxmlformats.org/officeDocument/2006/math">
                    <m:r>
                      <a:rPr lang="pt-BR" b="1">
                        <a:latin typeface="Cambria Math" panose="02040503050406030204" pitchFamily="18" charset="0"/>
                      </a:rPr>
                      <m:t>𝑦</m:t>
                    </m:r>
                  </m:oMath>
                </a14:m>
                <a:r>
                  <a:rPr lang="pt-BR" dirty="0"/>
                  <a:t>|Outlook = rain, windy = false) = 0.</a:t>
                </a:r>
              </a:p>
              <a:p>
                <a:pPr marL="0" indent="0">
                  <a:buNone/>
                </a:pPr>
                <a:endParaRPr lang="pt-BR" dirty="0"/>
              </a:p>
              <a:p>
                <a:pPr marL="0" indent="0">
                  <a:buNone/>
                </a:pPr>
                <a:endParaRPr lang="pt-BR" dirty="0"/>
              </a:p>
              <a:p>
                <a:r>
                  <a:rPr lang="pt-BR" dirty="0"/>
                  <a:t>Além disso, a decisão sempre será pela classe Negativa (</a:t>
                </a:r>
                <a:r>
                  <a:rPr lang="pt-BR" i="1" dirty="0"/>
                  <a:t>N</a:t>
                </a:r>
                <a:r>
                  <a:rPr lang="pt-BR" dirty="0"/>
                  <a:t>) se </a:t>
                </a:r>
                <a:r>
                  <a:rPr lang="pt-BR" b="1" dirty="0"/>
                  <a:t>Outlook = rain</a:t>
                </a:r>
                <a:r>
                  <a:rPr lang="pt-BR" b="1" i="1" dirty="0"/>
                  <a:t> </a:t>
                </a:r>
                <a:r>
                  <a:rPr lang="pt-BR" dirty="0"/>
                  <a:t>e </a:t>
                </a:r>
                <a:r>
                  <a:rPr lang="pt-BR" b="1" dirty="0" err="1"/>
                  <a:t>Windy</a:t>
                </a:r>
                <a:r>
                  <a:rPr lang="pt-BR" b="1" dirty="0"/>
                  <a:t> = true</a:t>
                </a:r>
                <a:r>
                  <a:rPr lang="pt-BR" dirty="0"/>
                  <a:t>. A entropia H(</a:t>
                </a:r>
                <a14:m>
                  <m:oMath xmlns:m="http://schemas.openxmlformats.org/officeDocument/2006/math">
                    <m:r>
                      <a:rPr lang="pt-BR" b="1">
                        <a:latin typeface="Cambria Math" panose="02040503050406030204" pitchFamily="18" charset="0"/>
                      </a:rPr>
                      <m:t>𝑦</m:t>
                    </m:r>
                  </m:oMath>
                </a14:m>
                <a:r>
                  <a:rPr lang="pt-BR" dirty="0"/>
                  <a:t>|Outlook = rain, windy = false) = 0.</a:t>
                </a:r>
              </a:p>
              <a:p>
                <a:endParaRPr lang="pt-BR" dirty="0"/>
              </a:p>
              <a:p>
                <a:endParaRPr lang="pt-BR" dirty="0"/>
              </a:p>
              <a:p>
                <a:pPr marL="0" indent="0">
                  <a:buNone/>
                </a:pPr>
                <a:endParaRPr lang="pt-B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199" y="1538515"/>
                <a:ext cx="11135265" cy="4054734"/>
              </a:xfrm>
              <a:blipFill>
                <a:blip r:embed="rId2"/>
                <a:stretch>
                  <a:fillRect l="-930" t="-2402" r="-1806"/>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704691488"/>
              </p:ext>
            </p:extLst>
          </p:nvPr>
        </p:nvGraphicFramePr>
        <p:xfrm>
          <a:off x="1148441" y="4709328"/>
          <a:ext cx="6065166" cy="883920"/>
        </p:xfrm>
        <a:graphic>
          <a:graphicData uri="http://schemas.openxmlformats.org/drawingml/2006/table">
            <a:tbl>
              <a:tblPr/>
              <a:tblGrid>
                <a:gridCol w="1010861">
                  <a:extLst>
                    <a:ext uri="{9D8B030D-6E8A-4147-A177-3AD203B41FA5}">
                      <a16:colId xmlns:a16="http://schemas.microsoft.com/office/drawing/2014/main" val="20000"/>
                    </a:ext>
                  </a:extLst>
                </a:gridCol>
                <a:gridCol w="1010861">
                  <a:extLst>
                    <a:ext uri="{9D8B030D-6E8A-4147-A177-3AD203B41FA5}">
                      <a16:colId xmlns:a16="http://schemas.microsoft.com/office/drawing/2014/main" val="20001"/>
                    </a:ext>
                  </a:extLst>
                </a:gridCol>
                <a:gridCol w="1010861">
                  <a:extLst>
                    <a:ext uri="{9D8B030D-6E8A-4147-A177-3AD203B41FA5}">
                      <a16:colId xmlns:a16="http://schemas.microsoft.com/office/drawing/2014/main" val="20002"/>
                    </a:ext>
                  </a:extLst>
                </a:gridCol>
                <a:gridCol w="1010861">
                  <a:extLst>
                    <a:ext uri="{9D8B030D-6E8A-4147-A177-3AD203B41FA5}">
                      <a16:colId xmlns:a16="http://schemas.microsoft.com/office/drawing/2014/main" val="20003"/>
                    </a:ext>
                  </a:extLst>
                </a:gridCol>
                <a:gridCol w="1010861">
                  <a:extLst>
                    <a:ext uri="{9D8B030D-6E8A-4147-A177-3AD203B41FA5}">
                      <a16:colId xmlns:a16="http://schemas.microsoft.com/office/drawing/2014/main" val="20004"/>
                    </a:ext>
                  </a:extLst>
                </a:gridCol>
                <a:gridCol w="1010861">
                  <a:extLst>
                    <a:ext uri="{9D8B030D-6E8A-4147-A177-3AD203B41FA5}">
                      <a16:colId xmlns:a16="http://schemas.microsoft.com/office/drawing/2014/main" val="20005"/>
                    </a:ext>
                  </a:extLst>
                </a:gridCol>
              </a:tblGrid>
              <a:tr h="200025">
                <a:tc rowSpan="2">
                  <a:txBody>
                    <a:bodyPr/>
                    <a:lstStyle/>
                    <a:p>
                      <a:pPr algn="ctr" rtl="0" fontAlgn="ctr"/>
                      <a:r>
                        <a:rPr lang="pt-BR" sz="1200" b="1" dirty="0">
                          <a:effectLst/>
                        </a:rPr>
                        <a:t>Day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gridSpan="4">
                  <a:txBody>
                    <a:bodyPr/>
                    <a:lstStyle/>
                    <a:p>
                      <a:pPr algn="ctr" rtl="0" fontAlgn="b"/>
                      <a:r>
                        <a:rPr lang="pt-BR" sz="1200" b="1">
                          <a:effectLst/>
                        </a:rPr>
                        <a:t>Attributes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rowSpan="2">
                  <a:txBody>
                    <a:bodyPr/>
                    <a:lstStyle/>
                    <a:p>
                      <a:pPr algn="ctr" rtl="0" fontAlgn="ctr"/>
                      <a:r>
                        <a:rPr lang="pt-BR" sz="1200" b="1">
                          <a:effectLst/>
                        </a:rPr>
                        <a:t>Class</a:t>
                      </a:r>
                      <a:br>
                        <a:rPr lang="pt-BR" sz="1200" b="1">
                          <a:effectLst/>
                        </a:rPr>
                      </a:br>
                      <a:r>
                        <a:rPr lang="pt-BR" sz="1200" b="1">
                          <a:effectLst/>
                        </a:rPr>
                        <a:t>(y)</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vMerge="1">
                  <a:txBody>
                    <a:bodyPr/>
                    <a:lstStyle/>
                    <a:p>
                      <a:endParaRPr lang="pt-BR"/>
                    </a:p>
                  </a:txBody>
                  <a:tcPr/>
                </a:tc>
                <a:tc>
                  <a:txBody>
                    <a:bodyPr/>
                    <a:lstStyle/>
                    <a:p>
                      <a:pPr algn="ctr" rtl="0" fontAlgn="b"/>
                      <a:r>
                        <a:rPr lang="pt-BR" sz="1200" b="1" dirty="0">
                          <a:effectLst/>
                        </a:rPr>
                        <a:t>Outlook</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b="1" dirty="0">
                          <a:effectLst/>
                        </a:rPr>
                        <a:t>Temperature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b="1" dirty="0">
                          <a:effectLst/>
                        </a:rPr>
                        <a:t>Humidity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b="1" dirty="0">
                          <a:effectLst/>
                        </a:rPr>
                        <a:t>Windy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a:txBody>
                    <a:bodyPr/>
                    <a:lstStyle/>
                    <a:p>
                      <a:pPr algn="ctr" rtl="0" fontAlgn="b"/>
                      <a:r>
                        <a:rPr lang="pt-BR" sz="1200">
                          <a:effectLst/>
                        </a:rPr>
                        <a:t>6</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rain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cool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normal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true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algn="ctr" rtl="0" fontAlgn="b"/>
                      <a:r>
                        <a:rPr lang="pt-BR" sz="1200">
                          <a:effectLst/>
                        </a:rPr>
                        <a:t>14</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200">
                          <a:effectLst/>
                        </a:rPr>
                        <a:t>rain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200">
                          <a:effectLst/>
                        </a:rPr>
                        <a:t>mild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200" dirty="0">
                          <a:effectLst/>
                        </a:rPr>
                        <a:t>high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200">
                          <a:effectLst/>
                        </a:rPr>
                        <a:t>true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200" dirty="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690091416"/>
              </p:ext>
            </p:extLst>
          </p:nvPr>
        </p:nvGraphicFramePr>
        <p:xfrm>
          <a:off x="1148441" y="2748346"/>
          <a:ext cx="6123216" cy="1104900"/>
        </p:xfrm>
        <a:graphic>
          <a:graphicData uri="http://schemas.openxmlformats.org/drawingml/2006/table">
            <a:tbl>
              <a:tblPr/>
              <a:tblGrid>
                <a:gridCol w="1020536">
                  <a:extLst>
                    <a:ext uri="{9D8B030D-6E8A-4147-A177-3AD203B41FA5}">
                      <a16:colId xmlns:a16="http://schemas.microsoft.com/office/drawing/2014/main" val="20000"/>
                    </a:ext>
                  </a:extLst>
                </a:gridCol>
                <a:gridCol w="1020536">
                  <a:extLst>
                    <a:ext uri="{9D8B030D-6E8A-4147-A177-3AD203B41FA5}">
                      <a16:colId xmlns:a16="http://schemas.microsoft.com/office/drawing/2014/main" val="20001"/>
                    </a:ext>
                  </a:extLst>
                </a:gridCol>
                <a:gridCol w="1020536">
                  <a:extLst>
                    <a:ext uri="{9D8B030D-6E8A-4147-A177-3AD203B41FA5}">
                      <a16:colId xmlns:a16="http://schemas.microsoft.com/office/drawing/2014/main" val="20002"/>
                    </a:ext>
                  </a:extLst>
                </a:gridCol>
                <a:gridCol w="1020536">
                  <a:extLst>
                    <a:ext uri="{9D8B030D-6E8A-4147-A177-3AD203B41FA5}">
                      <a16:colId xmlns:a16="http://schemas.microsoft.com/office/drawing/2014/main" val="20003"/>
                    </a:ext>
                  </a:extLst>
                </a:gridCol>
                <a:gridCol w="1020536">
                  <a:extLst>
                    <a:ext uri="{9D8B030D-6E8A-4147-A177-3AD203B41FA5}">
                      <a16:colId xmlns:a16="http://schemas.microsoft.com/office/drawing/2014/main" val="20004"/>
                    </a:ext>
                  </a:extLst>
                </a:gridCol>
                <a:gridCol w="1020536">
                  <a:extLst>
                    <a:ext uri="{9D8B030D-6E8A-4147-A177-3AD203B41FA5}">
                      <a16:colId xmlns:a16="http://schemas.microsoft.com/office/drawing/2014/main" val="20005"/>
                    </a:ext>
                  </a:extLst>
                </a:gridCol>
              </a:tblGrid>
              <a:tr h="200025">
                <a:tc rowSpan="2">
                  <a:txBody>
                    <a:bodyPr/>
                    <a:lstStyle/>
                    <a:p>
                      <a:pPr algn="ctr" rtl="0" fontAlgn="ctr"/>
                      <a:r>
                        <a:rPr lang="pt-BR" sz="1200" b="1" dirty="0">
                          <a:effectLst/>
                        </a:rPr>
                        <a:t>Day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gridSpan="4">
                  <a:txBody>
                    <a:bodyPr/>
                    <a:lstStyle/>
                    <a:p>
                      <a:pPr algn="ctr" rtl="0" fontAlgn="b"/>
                      <a:r>
                        <a:rPr lang="pt-BR" sz="1200" b="1" dirty="0">
                          <a:effectLst/>
                        </a:rPr>
                        <a:t>Attributes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rowSpan="2">
                  <a:txBody>
                    <a:bodyPr/>
                    <a:lstStyle/>
                    <a:p>
                      <a:pPr algn="ctr" rtl="0" fontAlgn="ctr"/>
                      <a:r>
                        <a:rPr lang="pt-BR" sz="1200" b="1" dirty="0">
                          <a:effectLst/>
                        </a:rPr>
                        <a:t>Class</a:t>
                      </a:r>
                      <a:br>
                        <a:rPr lang="pt-BR" sz="1200" b="1" dirty="0">
                          <a:effectLst/>
                        </a:rPr>
                      </a:br>
                      <a:r>
                        <a:rPr lang="pt-BR" sz="1200" b="1" dirty="0">
                          <a:effectLst/>
                        </a:rPr>
                        <a:t>(y)</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vMerge="1">
                  <a:txBody>
                    <a:bodyPr/>
                    <a:lstStyle/>
                    <a:p>
                      <a:endParaRPr lang="pt-BR"/>
                    </a:p>
                  </a:txBody>
                  <a:tcPr/>
                </a:tc>
                <a:tc>
                  <a:txBody>
                    <a:bodyPr/>
                    <a:lstStyle/>
                    <a:p>
                      <a:pPr algn="ctr" rtl="0" fontAlgn="b"/>
                      <a:r>
                        <a:rPr lang="pt-BR" sz="1200" b="1" dirty="0">
                          <a:effectLst/>
                        </a:rPr>
                        <a:t>Outlook</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b="1" dirty="0">
                          <a:effectLst/>
                        </a:rPr>
                        <a:t>Temperature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b="1" dirty="0">
                          <a:effectLst/>
                        </a:rPr>
                        <a:t>Humidity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b="1" dirty="0">
                          <a:effectLst/>
                        </a:rPr>
                        <a:t>Windy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a:txBody>
                    <a:bodyPr/>
                    <a:lstStyle/>
                    <a:p>
                      <a:pPr algn="ctr" rtl="0" fontAlgn="b"/>
                      <a:r>
                        <a:rPr lang="pt-BR" sz="1200">
                          <a:effectLst/>
                        </a:rPr>
                        <a:t>4</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rain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mild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high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algn="ctr" rtl="0" fontAlgn="b"/>
                      <a:r>
                        <a:rPr lang="pt-BR" sz="1200">
                          <a:effectLst/>
                        </a:rPr>
                        <a:t>5</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rain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a:effectLst/>
                        </a:rPr>
                        <a:t>cool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normal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200" dirty="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algn="ctr" rtl="0" fontAlgn="b"/>
                      <a:r>
                        <a:rPr lang="pt-BR" sz="1200" dirty="0">
                          <a:effectLst/>
                        </a:rPr>
                        <a:t>10</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200">
                          <a:effectLst/>
                        </a:rPr>
                        <a:t>rain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200" dirty="0">
                          <a:effectLst/>
                        </a:rPr>
                        <a:t>mild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200" dirty="0">
                          <a:effectLst/>
                        </a:rPr>
                        <a:t>normal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200" dirty="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200" dirty="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94226" y="4850434"/>
            <a:ext cx="3728762" cy="1485627"/>
          </a:xfrm>
          <a:prstGeom prst="rect">
            <a:avLst/>
          </a:prstGeom>
        </p:spPr>
      </p:pic>
      <p:sp>
        <p:nvSpPr>
          <p:cNvPr id="6" name="Rectangle 5"/>
          <p:cNvSpPr/>
          <p:nvPr/>
        </p:nvSpPr>
        <p:spPr>
          <a:xfrm>
            <a:off x="838197" y="5790253"/>
            <a:ext cx="8616353" cy="954107"/>
          </a:xfrm>
          <a:prstGeom prst="rect">
            <a:avLst/>
          </a:prstGeom>
        </p:spPr>
        <p:txBody>
          <a:bodyPr wrap="square">
            <a:spAutoFit/>
          </a:bodyPr>
          <a:lstStyle/>
          <a:p>
            <a:pPr marL="285750" indent="-285750">
              <a:buFont typeface="Arial" panose="020B0604020202020204" pitchFamily="34" charset="0"/>
              <a:buChar char="•"/>
            </a:pPr>
            <a:r>
              <a:rPr lang="pt-BR" sz="2800" dirty="0"/>
              <a:t>Portanto, encontramos as folhas para os dois ramos, </a:t>
            </a:r>
            <a:r>
              <a:rPr lang="pt-BR" sz="2800" b="1" dirty="0"/>
              <a:t>true</a:t>
            </a:r>
            <a:r>
              <a:rPr lang="pt-BR" sz="2800" dirty="0"/>
              <a:t> e </a:t>
            </a:r>
            <a:r>
              <a:rPr lang="pt-BR" sz="2800" b="1" dirty="0"/>
              <a:t>false </a:t>
            </a:r>
            <a:r>
              <a:rPr lang="pt-BR" sz="2800" dirty="0"/>
              <a:t>do nó </a:t>
            </a:r>
            <a:r>
              <a:rPr lang="pt-BR" sz="2800" b="1" dirty="0" err="1"/>
              <a:t>Windy</a:t>
            </a:r>
            <a:r>
              <a:rPr lang="pt-BR" sz="2800" dirty="0"/>
              <a:t>.</a:t>
            </a:r>
          </a:p>
        </p:txBody>
      </p:sp>
    </p:spTree>
    <p:extLst>
      <p:ext uri="{BB962C8B-B14F-4D97-AF65-F5344CB8AC3E}">
        <p14:creationId xmlns:p14="http://schemas.microsoft.com/office/powerpoint/2010/main" val="5588244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1034486" cy="1325563"/>
          </a:xfrm>
        </p:spPr>
        <p:txBody>
          <a:bodyPr/>
          <a:lstStyle/>
          <a:p>
            <a:r>
              <a:rPr lang="pt-BR" dirty="0"/>
              <a:t>Exemplo de indução com método ID3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199" y="1543050"/>
                <a:ext cx="11353801" cy="5314950"/>
              </a:xfrm>
            </p:spPr>
            <p:txBody>
              <a:bodyPr>
                <a:normAutofit fontScale="92500" lnSpcReduction="10000"/>
              </a:bodyPr>
              <a:lstStyle/>
              <a:p>
                <a:r>
                  <a:rPr lang="pt-BR" dirty="0"/>
                  <a:t>Quando </a:t>
                </a:r>
                <a:r>
                  <a:rPr lang="pt-BR" b="1" dirty="0"/>
                  <a:t>Outlook = sunny</a:t>
                </a:r>
              </a:p>
              <a:p>
                <a:pPr marL="0" indent="0">
                  <a:buNone/>
                </a:pPr>
                <a:endParaRPr lang="pt-BR" b="1" i="1" dirty="0"/>
              </a:p>
              <a:p>
                <a:endParaRPr lang="pt-BR" b="1" i="1" dirty="0"/>
              </a:p>
              <a:p>
                <a:endParaRPr lang="pt-BR" b="1" i="1" dirty="0"/>
              </a:p>
              <a:p>
                <a:pPr marL="0" indent="0">
                  <a:buNone/>
                </a:pPr>
                <a:endParaRPr lang="pt-BR" b="1" i="1" dirty="0"/>
              </a:p>
              <a:p>
                <a:pPr marL="0" indent="0">
                  <a:buNone/>
                </a:pPr>
                <a:r>
                  <a:rPr lang="pt-BR" sz="2000" b="1" i="1" dirty="0"/>
                  <a:t>Entropia do objetivo</a:t>
                </a:r>
                <a:r>
                  <a:rPr lang="pt-BR" sz="2000" dirty="0"/>
                  <a:t> para o subconjunto dado por </a:t>
                </a:r>
                <a:r>
                  <a:rPr lang="pt-BR" sz="2000" b="1" dirty="0"/>
                  <a:t>Outlook = </a:t>
                </a:r>
                <a:r>
                  <a:rPr lang="pt-BR" sz="2000" b="1" dirty="0" err="1"/>
                  <a:t>sunny</a:t>
                </a:r>
                <a:r>
                  <a:rPr lang="pt-BR" sz="2000" dirty="0"/>
                  <a:t>: </a:t>
                </a:r>
                <a14:m>
                  <m:oMath xmlns:m="http://schemas.openxmlformats.org/officeDocument/2006/math">
                    <m:r>
                      <a:rPr lang="pt-BR" sz="2000" b="1">
                        <a:latin typeface="Cambria Math" panose="02040503050406030204" pitchFamily="18" charset="0"/>
                      </a:rPr>
                      <m:t>𝐻</m:t>
                    </m:r>
                    <m:d>
                      <m:dPr>
                        <m:ctrlPr>
                          <a:rPr lang="pt-BR" sz="2000" b="1" i="1">
                            <a:latin typeface="Cambria Math" panose="02040503050406030204" pitchFamily="18" charset="0"/>
                          </a:rPr>
                        </m:ctrlPr>
                      </m:dPr>
                      <m:e>
                        <m:r>
                          <a:rPr lang="pt-BR" sz="2000" b="1">
                            <a:latin typeface="Cambria Math" panose="02040503050406030204" pitchFamily="18" charset="0"/>
                          </a:rPr>
                          <m:t>𝑦</m:t>
                        </m:r>
                        <m:r>
                          <a:rPr lang="pt-BR" sz="2000" b="1">
                            <a:latin typeface="Cambria Math" panose="02040503050406030204" pitchFamily="18" charset="0"/>
                          </a:rPr>
                          <m:t> </m:t>
                        </m:r>
                      </m:e>
                      <m:e>
                        <m:r>
                          <m:rPr>
                            <m:nor/>
                          </m:rPr>
                          <a:rPr lang="pt-BR" sz="2000" b="1">
                            <a:latin typeface="Cambria Math" panose="02040503050406030204" pitchFamily="18" charset="0"/>
                          </a:rPr>
                          <m:t> </m:t>
                        </m:r>
                        <m:r>
                          <m:rPr>
                            <m:nor/>
                          </m:rPr>
                          <a:rPr lang="pt-BR" sz="2000" b="1">
                            <a:latin typeface="Cambria Math" panose="02040503050406030204" pitchFamily="18" charset="0"/>
                          </a:rPr>
                          <m:t>Outlook</m:t>
                        </m:r>
                        <m:r>
                          <m:rPr>
                            <m:nor/>
                          </m:rPr>
                          <a:rPr lang="pt-BR" sz="2000" b="1">
                            <a:latin typeface="Cambria Math" panose="02040503050406030204" pitchFamily="18" charset="0"/>
                          </a:rPr>
                          <m:t> = </m:t>
                        </m:r>
                        <m:r>
                          <m:rPr>
                            <m:nor/>
                          </m:rPr>
                          <a:rPr lang="pt-BR" sz="2000" b="1" i="0" smtClean="0">
                            <a:latin typeface="Cambria Math" panose="02040503050406030204" pitchFamily="18" charset="0"/>
                          </a:rPr>
                          <m:t>sunny</m:t>
                        </m:r>
                      </m:e>
                    </m:d>
                    <m:r>
                      <a:rPr lang="pt-BR" sz="2000" b="1">
                        <a:latin typeface="Cambria Math" panose="02040503050406030204" pitchFamily="18" charset="0"/>
                      </a:rPr>
                      <m:t>=0.971</m:t>
                    </m:r>
                  </m:oMath>
                </a14:m>
                <a:endParaRPr lang="pt-BR" sz="2000" i="1" dirty="0">
                  <a:latin typeface="Cambria Math" panose="02040503050406030204" pitchFamily="18" charset="0"/>
                </a:endParaRPr>
              </a:p>
              <a:p>
                <a:pPr marL="0" indent="0">
                  <a:buNone/>
                </a:pPr>
                <a14:m>
                  <m:oMath xmlns:m="http://schemas.openxmlformats.org/officeDocument/2006/math">
                    <m:r>
                      <a:rPr lang="pt-BR" sz="2000" i="1">
                        <a:latin typeface="Cambria Math" panose="02040503050406030204" pitchFamily="18" charset="0"/>
                      </a:rPr>
                      <m:t>𝐺𝑎𝑖𝑛</m:t>
                    </m:r>
                    <m:d>
                      <m:dPr>
                        <m:ctrlPr>
                          <a:rPr lang="pt-BR" sz="2000" i="1">
                            <a:latin typeface="Cambria Math" panose="02040503050406030204" pitchFamily="18" charset="0"/>
                          </a:rPr>
                        </m:ctrlPr>
                      </m:dPr>
                      <m:e>
                        <m:r>
                          <a:rPr lang="pt-BR" sz="2000" b="1" i="0" smtClean="0">
                            <a:latin typeface="Cambria Math" panose="02040503050406030204" pitchFamily="18" charset="0"/>
                          </a:rPr>
                          <m:t>𝐓</m:t>
                        </m:r>
                        <m:r>
                          <a:rPr lang="pt-BR" sz="2000" b="1">
                            <a:latin typeface="Cambria Math" panose="02040503050406030204" pitchFamily="18" charset="0"/>
                          </a:rPr>
                          <m:t>𝐞𝐦𝐩𝐞𝐫𝐚𝐭𝐮𝐫𝐞</m:t>
                        </m:r>
                      </m:e>
                    </m:d>
                    <m:r>
                      <a:rPr lang="pt-BR" sz="2000" i="1">
                        <a:latin typeface="Cambria Math" panose="02040503050406030204" pitchFamily="18" charset="0"/>
                      </a:rPr>
                      <m:t>=0.9</m:t>
                    </m:r>
                    <m:r>
                      <a:rPr lang="pt-BR" sz="2000" b="0" i="1" smtClean="0">
                        <a:latin typeface="Cambria Math" panose="02040503050406030204" pitchFamily="18" charset="0"/>
                      </a:rPr>
                      <m:t>71</m:t>
                    </m:r>
                    <m:r>
                      <a:rPr lang="pt-BR" sz="2000" i="1">
                        <a:latin typeface="Cambria Math" panose="02040503050406030204" pitchFamily="18" charset="0"/>
                      </a:rPr>
                      <m:t>−</m:t>
                    </m:r>
                    <m:d>
                      <m:dPr>
                        <m:begChr m:val="["/>
                        <m:endChr m:val="]"/>
                        <m:ctrlPr>
                          <a:rPr lang="pt-BR" sz="2000" i="1">
                            <a:latin typeface="Cambria Math" panose="02040503050406030204" pitchFamily="18" charset="0"/>
                          </a:rPr>
                        </m:ctrlPr>
                      </m:dPr>
                      <m:e>
                        <m:f>
                          <m:fPr>
                            <m:ctrlPr>
                              <a:rPr lang="pt-BR" sz="2000" i="1">
                                <a:latin typeface="Cambria Math" panose="02040503050406030204" pitchFamily="18" charset="0"/>
                              </a:rPr>
                            </m:ctrlPr>
                          </m:fPr>
                          <m:num>
                            <m:r>
                              <a:rPr lang="pt-BR" sz="2000" b="0" i="1" smtClean="0">
                                <a:latin typeface="Cambria Math" panose="02040503050406030204" pitchFamily="18" charset="0"/>
                              </a:rPr>
                              <m:t>2</m:t>
                            </m:r>
                          </m:num>
                          <m:den>
                            <m:r>
                              <a:rPr lang="pt-BR" sz="2000" i="1">
                                <a:latin typeface="Cambria Math" panose="02040503050406030204" pitchFamily="18" charset="0"/>
                              </a:rPr>
                              <m:t>5</m:t>
                            </m:r>
                          </m:den>
                        </m:f>
                        <m:r>
                          <a:rPr lang="pt-BR" sz="2000" b="0" i="1" smtClean="0">
                            <a:latin typeface="Cambria Math" panose="02040503050406030204" pitchFamily="18" charset="0"/>
                          </a:rPr>
                          <m:t>𝐵</m:t>
                        </m:r>
                        <m:d>
                          <m:dPr>
                            <m:ctrlPr>
                              <a:rPr lang="pt-BR" sz="2000" i="1">
                                <a:latin typeface="Cambria Math" panose="02040503050406030204" pitchFamily="18" charset="0"/>
                              </a:rPr>
                            </m:ctrlPr>
                          </m:dPr>
                          <m:e>
                            <m:f>
                              <m:fPr>
                                <m:ctrlPr>
                                  <a:rPr lang="pt-BR" sz="2000" i="1">
                                    <a:latin typeface="Cambria Math" panose="02040503050406030204" pitchFamily="18" charset="0"/>
                                  </a:rPr>
                                </m:ctrlPr>
                              </m:fPr>
                              <m:num>
                                <m:r>
                                  <a:rPr lang="pt-BR" sz="2000" i="1">
                                    <a:latin typeface="Cambria Math" panose="02040503050406030204" pitchFamily="18" charset="0"/>
                                  </a:rPr>
                                  <m:t>0</m:t>
                                </m:r>
                              </m:num>
                              <m:den>
                                <m:r>
                                  <a:rPr lang="pt-BR" sz="2000" b="0" i="1" smtClean="0">
                                    <a:latin typeface="Cambria Math" panose="02040503050406030204" pitchFamily="18" charset="0"/>
                                  </a:rPr>
                                  <m:t>2</m:t>
                                </m:r>
                              </m:den>
                            </m:f>
                          </m:e>
                        </m:d>
                        <m:r>
                          <a:rPr lang="pt-BR" sz="2000" i="1">
                            <a:latin typeface="Cambria Math" panose="02040503050406030204" pitchFamily="18" charset="0"/>
                          </a:rPr>
                          <m:t>+</m:t>
                        </m:r>
                        <m:f>
                          <m:fPr>
                            <m:ctrlPr>
                              <a:rPr lang="pt-BR" sz="2000" i="1">
                                <a:latin typeface="Cambria Math" panose="02040503050406030204" pitchFamily="18" charset="0"/>
                              </a:rPr>
                            </m:ctrlPr>
                          </m:fPr>
                          <m:num>
                            <m:r>
                              <a:rPr lang="pt-BR" sz="2000" b="0" i="1" smtClean="0">
                                <a:latin typeface="Cambria Math" panose="02040503050406030204" pitchFamily="18" charset="0"/>
                              </a:rPr>
                              <m:t>2</m:t>
                            </m:r>
                          </m:num>
                          <m:den>
                            <m:r>
                              <a:rPr lang="pt-BR" sz="2000" i="1">
                                <a:latin typeface="Cambria Math" panose="02040503050406030204" pitchFamily="18" charset="0"/>
                              </a:rPr>
                              <m:t>5</m:t>
                            </m:r>
                          </m:den>
                        </m:f>
                        <m:r>
                          <a:rPr lang="pt-BR" sz="2000" b="0" i="1" smtClean="0">
                            <a:latin typeface="Cambria Math" panose="02040503050406030204" pitchFamily="18" charset="0"/>
                          </a:rPr>
                          <m:t>𝐵</m:t>
                        </m:r>
                        <m:d>
                          <m:dPr>
                            <m:ctrlPr>
                              <a:rPr lang="pt-BR" sz="2000" i="1">
                                <a:latin typeface="Cambria Math" panose="02040503050406030204" pitchFamily="18" charset="0"/>
                              </a:rPr>
                            </m:ctrlPr>
                          </m:dPr>
                          <m:e>
                            <m:f>
                              <m:fPr>
                                <m:ctrlPr>
                                  <a:rPr lang="pt-BR" sz="2000" i="1">
                                    <a:latin typeface="Cambria Math" panose="02040503050406030204" pitchFamily="18" charset="0"/>
                                  </a:rPr>
                                </m:ctrlPr>
                              </m:fPr>
                              <m:num>
                                <m:r>
                                  <a:rPr lang="pt-BR" sz="2000" b="0" i="1" smtClean="0">
                                    <a:latin typeface="Cambria Math" panose="02040503050406030204" pitchFamily="18" charset="0"/>
                                  </a:rPr>
                                  <m:t>1</m:t>
                                </m:r>
                              </m:num>
                              <m:den>
                                <m:r>
                                  <a:rPr lang="pt-BR" sz="2000" b="0" i="1" smtClean="0">
                                    <a:latin typeface="Cambria Math" panose="02040503050406030204" pitchFamily="18" charset="0"/>
                                  </a:rPr>
                                  <m:t>2</m:t>
                                </m:r>
                              </m:den>
                            </m:f>
                          </m:e>
                        </m:d>
                        <m:r>
                          <a:rPr lang="pt-BR" sz="2000" i="1">
                            <a:latin typeface="Cambria Math" panose="02040503050406030204" pitchFamily="18" charset="0"/>
                          </a:rPr>
                          <m:t>+</m:t>
                        </m:r>
                        <m:f>
                          <m:fPr>
                            <m:ctrlPr>
                              <a:rPr lang="pt-BR" sz="2000" i="1">
                                <a:latin typeface="Cambria Math" panose="02040503050406030204" pitchFamily="18" charset="0"/>
                              </a:rPr>
                            </m:ctrlPr>
                          </m:fPr>
                          <m:num>
                            <m:r>
                              <a:rPr lang="pt-BR" sz="2000" b="0" i="1" smtClean="0">
                                <a:latin typeface="Cambria Math" panose="02040503050406030204" pitchFamily="18" charset="0"/>
                              </a:rPr>
                              <m:t>1</m:t>
                            </m:r>
                          </m:num>
                          <m:den>
                            <m:r>
                              <a:rPr lang="pt-BR" sz="2000" i="1">
                                <a:latin typeface="Cambria Math" panose="02040503050406030204" pitchFamily="18" charset="0"/>
                              </a:rPr>
                              <m:t>5</m:t>
                            </m:r>
                          </m:den>
                        </m:f>
                        <m:r>
                          <a:rPr lang="pt-BR" sz="2000" b="0" i="1" smtClean="0">
                            <a:latin typeface="Cambria Math" panose="02040503050406030204" pitchFamily="18" charset="0"/>
                          </a:rPr>
                          <m:t>𝐵</m:t>
                        </m:r>
                        <m:d>
                          <m:dPr>
                            <m:ctrlPr>
                              <a:rPr lang="pt-BR" sz="2000" i="1">
                                <a:latin typeface="Cambria Math" panose="02040503050406030204" pitchFamily="18" charset="0"/>
                              </a:rPr>
                            </m:ctrlPr>
                          </m:dPr>
                          <m:e>
                            <m:f>
                              <m:fPr>
                                <m:ctrlPr>
                                  <a:rPr lang="pt-BR" sz="2000" i="1">
                                    <a:latin typeface="Cambria Math" panose="02040503050406030204" pitchFamily="18" charset="0"/>
                                  </a:rPr>
                                </m:ctrlPr>
                              </m:fPr>
                              <m:num>
                                <m:r>
                                  <a:rPr lang="pt-BR" sz="2000" i="1">
                                    <a:latin typeface="Cambria Math" panose="02040503050406030204" pitchFamily="18" charset="0"/>
                                  </a:rPr>
                                  <m:t>1</m:t>
                                </m:r>
                              </m:num>
                              <m:den>
                                <m:r>
                                  <a:rPr lang="pt-BR" sz="2000" b="0" i="1" smtClean="0">
                                    <a:latin typeface="Cambria Math" panose="02040503050406030204" pitchFamily="18" charset="0"/>
                                  </a:rPr>
                                  <m:t>1</m:t>
                                </m:r>
                              </m:den>
                            </m:f>
                          </m:e>
                        </m:d>
                      </m:e>
                    </m:d>
                    <m:r>
                      <a:rPr lang="pt-BR" sz="2000">
                        <a:latin typeface="Cambria Math" panose="02040503050406030204" pitchFamily="18" charset="0"/>
                      </a:rPr>
                      <m:t>=0.</m:t>
                    </m:r>
                  </m:oMath>
                </a14:m>
                <a:r>
                  <a:rPr lang="pt-BR" sz="2000" dirty="0"/>
                  <a:t>570</a:t>
                </a:r>
              </a:p>
              <a:p>
                <a:pPr marL="0" indent="0">
                  <a:buNone/>
                </a:pPr>
                <a14:m>
                  <m:oMath xmlns:m="http://schemas.openxmlformats.org/officeDocument/2006/math">
                    <m:r>
                      <a:rPr lang="pt-BR" sz="2000" i="1">
                        <a:latin typeface="Cambria Math" panose="02040503050406030204" pitchFamily="18" charset="0"/>
                      </a:rPr>
                      <m:t>𝐺𝑎𝑖𝑛</m:t>
                    </m:r>
                    <m:d>
                      <m:dPr>
                        <m:ctrlPr>
                          <a:rPr lang="pt-BR" sz="2000" i="1">
                            <a:latin typeface="Cambria Math" panose="02040503050406030204" pitchFamily="18" charset="0"/>
                          </a:rPr>
                        </m:ctrlPr>
                      </m:dPr>
                      <m:e>
                        <m:r>
                          <a:rPr lang="pt-BR" sz="2000" b="1" i="0" smtClean="0">
                            <a:latin typeface="Cambria Math" panose="02040503050406030204" pitchFamily="18" charset="0"/>
                          </a:rPr>
                          <m:t>𝐇</m:t>
                        </m:r>
                        <m:r>
                          <a:rPr lang="pt-BR" sz="2000" b="1">
                            <a:latin typeface="Cambria Math" panose="02040503050406030204" pitchFamily="18" charset="0"/>
                          </a:rPr>
                          <m:t>𝐮𝐦𝐢𝐝𝐢𝐭𝐲</m:t>
                        </m:r>
                      </m:e>
                    </m:d>
                    <m:r>
                      <a:rPr lang="pt-BR" sz="2000" i="1">
                        <a:latin typeface="Cambria Math" panose="02040503050406030204" pitchFamily="18" charset="0"/>
                      </a:rPr>
                      <m:t>=0.9</m:t>
                    </m:r>
                    <m:r>
                      <a:rPr lang="pt-BR" sz="2000" b="0" i="1" smtClean="0">
                        <a:latin typeface="Cambria Math" panose="02040503050406030204" pitchFamily="18" charset="0"/>
                      </a:rPr>
                      <m:t>71</m:t>
                    </m:r>
                    <m:r>
                      <a:rPr lang="pt-BR" sz="2000" i="1">
                        <a:latin typeface="Cambria Math" panose="02040503050406030204" pitchFamily="18" charset="0"/>
                      </a:rPr>
                      <m:t>−</m:t>
                    </m:r>
                    <m:d>
                      <m:dPr>
                        <m:begChr m:val="["/>
                        <m:endChr m:val="]"/>
                        <m:ctrlPr>
                          <a:rPr lang="pt-BR" sz="2000" i="1">
                            <a:latin typeface="Cambria Math" panose="02040503050406030204" pitchFamily="18" charset="0"/>
                          </a:rPr>
                        </m:ctrlPr>
                      </m:dPr>
                      <m:e>
                        <m:f>
                          <m:fPr>
                            <m:ctrlPr>
                              <a:rPr lang="pt-BR" sz="2000" i="1">
                                <a:latin typeface="Cambria Math" panose="02040503050406030204" pitchFamily="18" charset="0"/>
                              </a:rPr>
                            </m:ctrlPr>
                          </m:fPr>
                          <m:num>
                            <m:r>
                              <a:rPr lang="pt-BR" sz="2000" b="0" i="1" smtClean="0">
                                <a:latin typeface="Cambria Math" panose="02040503050406030204" pitchFamily="18" charset="0"/>
                              </a:rPr>
                              <m:t>3</m:t>
                            </m:r>
                          </m:num>
                          <m:den>
                            <m:r>
                              <a:rPr lang="pt-BR" sz="2000" i="1">
                                <a:latin typeface="Cambria Math" panose="02040503050406030204" pitchFamily="18" charset="0"/>
                              </a:rPr>
                              <m:t>5</m:t>
                            </m:r>
                          </m:den>
                        </m:f>
                        <m:r>
                          <a:rPr lang="pt-BR" sz="2000" b="0" i="1" smtClean="0">
                            <a:latin typeface="Cambria Math" panose="02040503050406030204" pitchFamily="18" charset="0"/>
                          </a:rPr>
                          <m:t>𝐵</m:t>
                        </m:r>
                        <m:d>
                          <m:dPr>
                            <m:ctrlPr>
                              <a:rPr lang="pt-BR" sz="2000" i="1">
                                <a:latin typeface="Cambria Math" panose="02040503050406030204" pitchFamily="18" charset="0"/>
                              </a:rPr>
                            </m:ctrlPr>
                          </m:dPr>
                          <m:e>
                            <m:f>
                              <m:fPr>
                                <m:ctrlPr>
                                  <a:rPr lang="pt-BR" sz="2000" i="1">
                                    <a:latin typeface="Cambria Math" panose="02040503050406030204" pitchFamily="18" charset="0"/>
                                  </a:rPr>
                                </m:ctrlPr>
                              </m:fPr>
                              <m:num>
                                <m:r>
                                  <a:rPr lang="pt-BR" sz="2000" b="0" i="1" smtClean="0">
                                    <a:latin typeface="Cambria Math" panose="02040503050406030204" pitchFamily="18" charset="0"/>
                                  </a:rPr>
                                  <m:t>0</m:t>
                                </m:r>
                              </m:num>
                              <m:den>
                                <m:r>
                                  <a:rPr lang="pt-BR" sz="2000" b="0" i="1" smtClean="0">
                                    <a:latin typeface="Cambria Math" panose="02040503050406030204" pitchFamily="18" charset="0"/>
                                  </a:rPr>
                                  <m:t>3</m:t>
                                </m:r>
                              </m:den>
                            </m:f>
                          </m:e>
                        </m:d>
                        <m:r>
                          <a:rPr lang="pt-BR" sz="2000" i="1">
                            <a:latin typeface="Cambria Math" panose="02040503050406030204" pitchFamily="18" charset="0"/>
                          </a:rPr>
                          <m:t>+</m:t>
                        </m:r>
                        <m:f>
                          <m:fPr>
                            <m:ctrlPr>
                              <a:rPr lang="pt-BR" sz="2000" i="1">
                                <a:latin typeface="Cambria Math" panose="02040503050406030204" pitchFamily="18" charset="0"/>
                              </a:rPr>
                            </m:ctrlPr>
                          </m:fPr>
                          <m:num>
                            <m:r>
                              <a:rPr lang="pt-BR" sz="2000" b="0" i="1" smtClean="0">
                                <a:latin typeface="Cambria Math" panose="02040503050406030204" pitchFamily="18" charset="0"/>
                              </a:rPr>
                              <m:t>2</m:t>
                            </m:r>
                          </m:num>
                          <m:den>
                            <m:r>
                              <a:rPr lang="pt-BR" sz="2000" i="1">
                                <a:latin typeface="Cambria Math" panose="02040503050406030204" pitchFamily="18" charset="0"/>
                              </a:rPr>
                              <m:t>5</m:t>
                            </m:r>
                          </m:den>
                        </m:f>
                        <m:r>
                          <a:rPr lang="pt-BR" sz="2000" b="0" i="1" smtClean="0">
                            <a:latin typeface="Cambria Math" panose="02040503050406030204" pitchFamily="18" charset="0"/>
                          </a:rPr>
                          <m:t>𝐵</m:t>
                        </m:r>
                        <m:d>
                          <m:dPr>
                            <m:ctrlPr>
                              <a:rPr lang="pt-BR" sz="2000" i="1">
                                <a:latin typeface="Cambria Math" panose="02040503050406030204" pitchFamily="18" charset="0"/>
                              </a:rPr>
                            </m:ctrlPr>
                          </m:dPr>
                          <m:e>
                            <m:f>
                              <m:fPr>
                                <m:ctrlPr>
                                  <a:rPr lang="pt-BR" sz="2000" i="1">
                                    <a:latin typeface="Cambria Math" panose="02040503050406030204" pitchFamily="18" charset="0"/>
                                  </a:rPr>
                                </m:ctrlPr>
                              </m:fPr>
                              <m:num>
                                <m:r>
                                  <a:rPr lang="pt-BR" sz="2000" i="1">
                                    <a:latin typeface="Cambria Math" panose="02040503050406030204" pitchFamily="18" charset="0"/>
                                  </a:rPr>
                                  <m:t>2</m:t>
                                </m:r>
                              </m:num>
                              <m:den>
                                <m:r>
                                  <a:rPr lang="pt-BR" sz="2000" b="0" i="1" smtClean="0">
                                    <a:latin typeface="Cambria Math" panose="02040503050406030204" pitchFamily="18" charset="0"/>
                                  </a:rPr>
                                  <m:t>2</m:t>
                                </m:r>
                              </m:den>
                            </m:f>
                          </m:e>
                        </m:d>
                      </m:e>
                    </m:d>
                    <m:r>
                      <a:rPr lang="pt-BR" sz="2000">
                        <a:latin typeface="Cambria Math" panose="02040503050406030204" pitchFamily="18" charset="0"/>
                      </a:rPr>
                      <m:t>=0.</m:t>
                    </m:r>
                  </m:oMath>
                </a14:m>
                <a:r>
                  <a:rPr lang="pt-BR" sz="2000" dirty="0"/>
                  <a:t>971</a:t>
                </a:r>
              </a:p>
              <a:p>
                <a:pPr marL="0" indent="0">
                  <a:buNone/>
                </a:pPr>
                <a14:m>
                  <m:oMath xmlns:m="http://schemas.openxmlformats.org/officeDocument/2006/math">
                    <m:r>
                      <a:rPr lang="pt-BR" sz="2000" i="1">
                        <a:latin typeface="Cambria Math" panose="02040503050406030204" pitchFamily="18" charset="0"/>
                      </a:rPr>
                      <m:t>𝐺𝑎𝑖𝑛</m:t>
                    </m:r>
                    <m:d>
                      <m:dPr>
                        <m:ctrlPr>
                          <a:rPr lang="pt-BR" sz="2000" i="1">
                            <a:latin typeface="Cambria Math" panose="02040503050406030204" pitchFamily="18" charset="0"/>
                          </a:rPr>
                        </m:ctrlPr>
                      </m:dPr>
                      <m:e>
                        <m:r>
                          <a:rPr lang="pt-BR" sz="2000" b="1" i="0" smtClean="0">
                            <a:latin typeface="Cambria Math" panose="02040503050406030204" pitchFamily="18" charset="0"/>
                          </a:rPr>
                          <m:t>𝐖</m:t>
                        </m:r>
                        <m:r>
                          <a:rPr lang="pt-BR" sz="2000" b="1">
                            <a:latin typeface="Cambria Math" panose="02040503050406030204" pitchFamily="18" charset="0"/>
                          </a:rPr>
                          <m:t>𝐢𝐧𝐝𝐲</m:t>
                        </m:r>
                      </m:e>
                    </m:d>
                    <m:r>
                      <a:rPr lang="pt-BR" sz="2000" i="1">
                        <a:latin typeface="Cambria Math" panose="02040503050406030204" pitchFamily="18" charset="0"/>
                      </a:rPr>
                      <m:t>=0.9</m:t>
                    </m:r>
                    <m:r>
                      <a:rPr lang="pt-BR" sz="2000" b="0" i="1" smtClean="0">
                        <a:latin typeface="Cambria Math" panose="02040503050406030204" pitchFamily="18" charset="0"/>
                      </a:rPr>
                      <m:t>71</m:t>
                    </m:r>
                    <m:r>
                      <a:rPr lang="pt-BR" sz="2000" i="1">
                        <a:latin typeface="Cambria Math" panose="02040503050406030204" pitchFamily="18" charset="0"/>
                      </a:rPr>
                      <m:t>−</m:t>
                    </m:r>
                    <m:d>
                      <m:dPr>
                        <m:begChr m:val="["/>
                        <m:endChr m:val="]"/>
                        <m:ctrlPr>
                          <a:rPr lang="pt-BR" sz="2000" i="1">
                            <a:latin typeface="Cambria Math" panose="02040503050406030204" pitchFamily="18" charset="0"/>
                          </a:rPr>
                        </m:ctrlPr>
                      </m:dPr>
                      <m:e>
                        <m:f>
                          <m:fPr>
                            <m:ctrlPr>
                              <a:rPr lang="pt-BR" sz="2000" i="1">
                                <a:latin typeface="Cambria Math" panose="02040503050406030204" pitchFamily="18" charset="0"/>
                              </a:rPr>
                            </m:ctrlPr>
                          </m:fPr>
                          <m:num>
                            <m:r>
                              <a:rPr lang="pt-BR" sz="2000" i="1">
                                <a:latin typeface="Cambria Math" panose="02040503050406030204" pitchFamily="18" charset="0"/>
                              </a:rPr>
                              <m:t>2</m:t>
                            </m:r>
                          </m:num>
                          <m:den>
                            <m:r>
                              <a:rPr lang="pt-BR" sz="2000" i="1">
                                <a:latin typeface="Cambria Math" panose="02040503050406030204" pitchFamily="18" charset="0"/>
                              </a:rPr>
                              <m:t>5</m:t>
                            </m:r>
                          </m:den>
                        </m:f>
                        <m:r>
                          <a:rPr lang="pt-BR" sz="2000" b="0" i="1" smtClean="0">
                            <a:latin typeface="Cambria Math" panose="02040503050406030204" pitchFamily="18" charset="0"/>
                          </a:rPr>
                          <m:t>𝐵</m:t>
                        </m:r>
                        <m:d>
                          <m:dPr>
                            <m:ctrlPr>
                              <a:rPr lang="pt-BR" sz="2000" i="1">
                                <a:latin typeface="Cambria Math" panose="02040503050406030204" pitchFamily="18" charset="0"/>
                              </a:rPr>
                            </m:ctrlPr>
                          </m:dPr>
                          <m:e>
                            <m:f>
                              <m:fPr>
                                <m:ctrlPr>
                                  <a:rPr lang="pt-BR" sz="2000" i="1">
                                    <a:latin typeface="Cambria Math" panose="02040503050406030204" pitchFamily="18" charset="0"/>
                                  </a:rPr>
                                </m:ctrlPr>
                              </m:fPr>
                              <m:num>
                                <m:r>
                                  <a:rPr lang="pt-BR" sz="2000" b="0" i="1" smtClean="0">
                                    <a:latin typeface="Cambria Math" panose="02040503050406030204" pitchFamily="18" charset="0"/>
                                  </a:rPr>
                                  <m:t>1</m:t>
                                </m:r>
                              </m:num>
                              <m:den>
                                <m:r>
                                  <a:rPr lang="pt-BR" sz="2000" i="1">
                                    <a:latin typeface="Cambria Math" panose="02040503050406030204" pitchFamily="18" charset="0"/>
                                  </a:rPr>
                                  <m:t>2</m:t>
                                </m:r>
                              </m:den>
                            </m:f>
                          </m:e>
                        </m:d>
                        <m:r>
                          <a:rPr lang="pt-BR" sz="2000" i="1">
                            <a:latin typeface="Cambria Math" panose="02040503050406030204" pitchFamily="18" charset="0"/>
                          </a:rPr>
                          <m:t>+</m:t>
                        </m:r>
                        <m:f>
                          <m:fPr>
                            <m:ctrlPr>
                              <a:rPr lang="pt-BR" sz="2000" i="1">
                                <a:latin typeface="Cambria Math" panose="02040503050406030204" pitchFamily="18" charset="0"/>
                              </a:rPr>
                            </m:ctrlPr>
                          </m:fPr>
                          <m:num>
                            <m:r>
                              <a:rPr lang="pt-BR" sz="2000" i="1">
                                <a:latin typeface="Cambria Math" panose="02040503050406030204" pitchFamily="18" charset="0"/>
                              </a:rPr>
                              <m:t>3</m:t>
                            </m:r>
                          </m:num>
                          <m:den>
                            <m:r>
                              <a:rPr lang="pt-BR" sz="2000" i="1">
                                <a:latin typeface="Cambria Math" panose="02040503050406030204" pitchFamily="18" charset="0"/>
                              </a:rPr>
                              <m:t>5</m:t>
                            </m:r>
                          </m:den>
                        </m:f>
                        <m:r>
                          <a:rPr lang="pt-BR" sz="2000" b="0" i="1" smtClean="0">
                            <a:latin typeface="Cambria Math" panose="02040503050406030204" pitchFamily="18" charset="0"/>
                          </a:rPr>
                          <m:t>𝐵</m:t>
                        </m:r>
                        <m:d>
                          <m:dPr>
                            <m:ctrlPr>
                              <a:rPr lang="pt-BR" sz="2000" i="1">
                                <a:latin typeface="Cambria Math" panose="02040503050406030204" pitchFamily="18" charset="0"/>
                              </a:rPr>
                            </m:ctrlPr>
                          </m:dPr>
                          <m:e>
                            <m:f>
                              <m:fPr>
                                <m:ctrlPr>
                                  <a:rPr lang="pt-BR" sz="2000" i="1">
                                    <a:latin typeface="Cambria Math" panose="02040503050406030204" pitchFamily="18" charset="0"/>
                                  </a:rPr>
                                </m:ctrlPr>
                              </m:fPr>
                              <m:num>
                                <m:r>
                                  <a:rPr lang="pt-BR" sz="2000" b="0" i="1" smtClean="0">
                                    <a:latin typeface="Cambria Math" panose="02040503050406030204" pitchFamily="18" charset="0"/>
                                  </a:rPr>
                                  <m:t>1</m:t>
                                </m:r>
                              </m:num>
                              <m:den>
                                <m:r>
                                  <a:rPr lang="pt-BR" sz="2000" i="1">
                                    <a:latin typeface="Cambria Math" panose="02040503050406030204" pitchFamily="18" charset="0"/>
                                  </a:rPr>
                                  <m:t>3</m:t>
                                </m:r>
                              </m:den>
                            </m:f>
                          </m:e>
                        </m:d>
                      </m:e>
                    </m:d>
                    <m:r>
                      <a:rPr lang="pt-BR" sz="2000">
                        <a:latin typeface="Cambria Math" panose="02040503050406030204" pitchFamily="18" charset="0"/>
                      </a:rPr>
                      <m:t>=0.</m:t>
                    </m:r>
                  </m:oMath>
                </a14:m>
                <a:r>
                  <a:rPr lang="pt-BR" sz="2000" dirty="0"/>
                  <a:t>02</a:t>
                </a:r>
              </a:p>
              <a:p>
                <a:r>
                  <a:rPr lang="pt-BR" dirty="0"/>
                  <a:t>Aqui, o atributo </a:t>
                </a:r>
                <a:r>
                  <a:rPr lang="pt-BR" b="1" dirty="0" err="1"/>
                  <a:t>Humidity</a:t>
                </a:r>
                <a:r>
                  <a:rPr lang="pt-BR" dirty="0"/>
                  <a:t> resulta no </a:t>
                </a:r>
                <a:r>
                  <a:rPr lang="pt-BR" b="1" dirty="0"/>
                  <a:t>ganho de informação </a:t>
                </a:r>
                <a:r>
                  <a:rPr lang="pt-BR" dirty="0"/>
                  <a:t>mais alto quando o tempo estiver ensolarado (i.e., </a:t>
                </a:r>
                <a:r>
                  <a:rPr lang="pt-BR" b="1" dirty="0"/>
                  <a:t>Outlook = sunny</a:t>
                </a:r>
                <a:r>
                  <a:rPr lang="pt-BR" dirty="0"/>
                  <a:t>). </a:t>
                </a:r>
              </a:p>
              <a:p>
                <a:r>
                  <a:rPr lang="pt-BR" dirty="0"/>
                  <a:t>Por isso, o atributo </a:t>
                </a:r>
                <a:r>
                  <a:rPr lang="pt-BR" b="1" dirty="0" err="1"/>
                  <a:t>Humidity</a:t>
                </a:r>
                <a:r>
                  <a:rPr lang="pt-BR" dirty="0"/>
                  <a:t> será o nó do 2º nível da árvore no ramo </a:t>
                </a:r>
                <a:r>
                  <a:rPr lang="pt-BR" b="1" i="1" dirty="0"/>
                  <a:t>sunny</a:t>
                </a:r>
                <a:r>
                  <a:rPr lang="pt-BR" dirty="0"/>
                  <a:t>.</a:t>
                </a:r>
              </a:p>
              <a:p>
                <a:endParaRPr lang="pt-B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199" y="1543050"/>
                <a:ext cx="11353801" cy="5314950"/>
              </a:xfrm>
              <a:blipFill>
                <a:blip r:embed="rId2"/>
                <a:stretch>
                  <a:fillRect l="-805" t="-2294" b="-459"/>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347348054"/>
              </p:ext>
            </p:extLst>
          </p:nvPr>
        </p:nvGraphicFramePr>
        <p:xfrm>
          <a:off x="1191758" y="1954423"/>
          <a:ext cx="2523899" cy="1508760"/>
        </p:xfrm>
        <a:graphic>
          <a:graphicData uri="http://schemas.openxmlformats.org/drawingml/2006/table">
            <a:tbl>
              <a:tblPr/>
              <a:tblGrid>
                <a:gridCol w="1007190">
                  <a:extLst>
                    <a:ext uri="{9D8B030D-6E8A-4147-A177-3AD203B41FA5}">
                      <a16:colId xmlns:a16="http://schemas.microsoft.com/office/drawing/2014/main" val="20000"/>
                    </a:ext>
                  </a:extLst>
                </a:gridCol>
                <a:gridCol w="663560">
                  <a:extLst>
                    <a:ext uri="{9D8B030D-6E8A-4147-A177-3AD203B41FA5}">
                      <a16:colId xmlns:a16="http://schemas.microsoft.com/office/drawing/2014/main" val="20001"/>
                    </a:ext>
                  </a:extLst>
                </a:gridCol>
                <a:gridCol w="284383">
                  <a:extLst>
                    <a:ext uri="{9D8B030D-6E8A-4147-A177-3AD203B41FA5}">
                      <a16:colId xmlns:a16="http://schemas.microsoft.com/office/drawing/2014/main" val="20002"/>
                    </a:ext>
                  </a:extLst>
                </a:gridCol>
                <a:gridCol w="284383">
                  <a:extLst>
                    <a:ext uri="{9D8B030D-6E8A-4147-A177-3AD203B41FA5}">
                      <a16:colId xmlns:a16="http://schemas.microsoft.com/office/drawing/2014/main" val="20003"/>
                    </a:ext>
                  </a:extLst>
                </a:gridCol>
                <a:gridCol w="284383">
                  <a:extLst>
                    <a:ext uri="{9D8B030D-6E8A-4147-A177-3AD203B41FA5}">
                      <a16:colId xmlns:a16="http://schemas.microsoft.com/office/drawing/2014/main" val="20004"/>
                    </a:ext>
                  </a:extLst>
                </a:gridCol>
              </a:tblGrid>
              <a:tr h="200025">
                <a:tc rowSpan="2" gridSpan="2">
                  <a:txBody>
                    <a:bodyPr/>
                    <a:lstStyle/>
                    <a:p>
                      <a:pPr algn="ctr" rtl="0" fontAlgn="ctr"/>
                      <a:r>
                        <a:rPr lang="pt-BR" sz="1400" b="1" dirty="0">
                          <a:effectLst/>
                        </a:rPr>
                        <a:t>Outlook = </a:t>
                      </a:r>
                      <a:r>
                        <a:rPr lang="pt-BR" sz="1400" b="1" dirty="0" err="1">
                          <a:effectLst/>
                        </a:rPr>
                        <a:t>sunny</a:t>
                      </a:r>
                      <a:endParaRPr lang="pt-BR" sz="1400" b="1" dirty="0">
                        <a:effectLst/>
                      </a:endParaRP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gridSpan="2">
                  <a:txBody>
                    <a:bodyPr/>
                    <a:lstStyle/>
                    <a:p>
                      <a:pPr algn="ctr" rtl="0" fontAlgn="b"/>
                      <a:r>
                        <a:rPr lang="pt-BR" sz="1400" b="1">
                          <a:effectLst/>
                        </a:rPr>
                        <a:t>Jogar?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rowSpan="2">
                  <a:txBody>
                    <a:bodyPr/>
                    <a:lstStyle/>
                    <a:p>
                      <a:pP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gridSpan="2" vMerge="1">
                  <a:txBody>
                    <a:bodyPr/>
                    <a:lstStyle/>
                    <a:p>
                      <a:endParaRPr lang="pt-BR"/>
                    </a:p>
                  </a:txBody>
                  <a:tcPr/>
                </a:tc>
                <a:tc hMerge="1" vMerge="1">
                  <a:txBody>
                    <a:bodyPr/>
                    <a:lstStyle/>
                    <a:p>
                      <a:endParaRPr lang="pt-BR"/>
                    </a:p>
                  </a:txBody>
                  <a:tcPr/>
                </a:tc>
                <a:tc>
                  <a:txBody>
                    <a:bodyPr/>
                    <a:lstStyle/>
                    <a:p>
                      <a:pPr algn="ctr" rtl="0" fontAlgn="b"/>
                      <a:r>
                        <a:rPr lang="pt-BR" sz="140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rowSpan="3">
                  <a:txBody>
                    <a:bodyPr/>
                    <a:lstStyle/>
                    <a:p>
                      <a:pPr algn="ctr" rtl="0" fontAlgn="ctr"/>
                      <a:r>
                        <a:rPr lang="pt-BR" sz="1400" b="1" dirty="0">
                          <a:effectLst/>
                        </a:rPr>
                        <a:t>Temperature</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hot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dirty="0">
                          <a:effectLst/>
                        </a:rPr>
                        <a:t>mild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vMerge="1">
                  <a:txBody>
                    <a:bodyPr/>
                    <a:lstStyle/>
                    <a:p>
                      <a:endParaRPr lang="pt-BR"/>
                    </a:p>
                  </a:txBody>
                  <a:tcPr/>
                </a:tc>
                <a:tc>
                  <a:txBody>
                    <a:bodyPr/>
                    <a:lstStyle/>
                    <a:p>
                      <a:pPr algn="ctr" rtl="0" fontAlgn="b"/>
                      <a:r>
                        <a:rPr lang="pt-BR" sz="1400" dirty="0">
                          <a:effectLst/>
                        </a:rPr>
                        <a:t>cool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00025">
                <a:tc gridSpan="4">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ctr" rtl="0" fontAlgn="b"/>
                      <a:r>
                        <a:rPr lang="pt-BR" sz="1400" dirty="0">
                          <a:effectLst/>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719690733"/>
              </p:ext>
            </p:extLst>
          </p:nvPr>
        </p:nvGraphicFramePr>
        <p:xfrm>
          <a:off x="4110945" y="1954423"/>
          <a:ext cx="2464028" cy="1257300"/>
        </p:xfrm>
        <a:graphic>
          <a:graphicData uri="http://schemas.openxmlformats.org/drawingml/2006/table">
            <a:tbl>
              <a:tblPr/>
              <a:tblGrid>
                <a:gridCol w="983297">
                  <a:extLst>
                    <a:ext uri="{9D8B030D-6E8A-4147-A177-3AD203B41FA5}">
                      <a16:colId xmlns:a16="http://schemas.microsoft.com/office/drawing/2014/main" val="20000"/>
                    </a:ext>
                  </a:extLst>
                </a:gridCol>
                <a:gridCol w="647820">
                  <a:extLst>
                    <a:ext uri="{9D8B030D-6E8A-4147-A177-3AD203B41FA5}">
                      <a16:colId xmlns:a16="http://schemas.microsoft.com/office/drawing/2014/main" val="20001"/>
                    </a:ext>
                  </a:extLst>
                </a:gridCol>
                <a:gridCol w="277637">
                  <a:extLst>
                    <a:ext uri="{9D8B030D-6E8A-4147-A177-3AD203B41FA5}">
                      <a16:colId xmlns:a16="http://schemas.microsoft.com/office/drawing/2014/main" val="20002"/>
                    </a:ext>
                  </a:extLst>
                </a:gridCol>
                <a:gridCol w="277637">
                  <a:extLst>
                    <a:ext uri="{9D8B030D-6E8A-4147-A177-3AD203B41FA5}">
                      <a16:colId xmlns:a16="http://schemas.microsoft.com/office/drawing/2014/main" val="20003"/>
                    </a:ext>
                  </a:extLst>
                </a:gridCol>
                <a:gridCol w="277637">
                  <a:extLst>
                    <a:ext uri="{9D8B030D-6E8A-4147-A177-3AD203B41FA5}">
                      <a16:colId xmlns:a16="http://schemas.microsoft.com/office/drawing/2014/main" val="20004"/>
                    </a:ext>
                  </a:extLst>
                </a:gridCol>
              </a:tblGrid>
              <a:tr h="200025">
                <a:tc rowSpan="2" gridSpan="2">
                  <a:txBody>
                    <a:bodyPr/>
                    <a:lstStyle/>
                    <a:p>
                      <a:pPr algn="ctr" rtl="0" fontAlgn="ctr"/>
                      <a:r>
                        <a:rPr lang="pt-BR" sz="1400" b="1" dirty="0">
                          <a:effectLst/>
                        </a:rPr>
                        <a:t>Outlook = </a:t>
                      </a:r>
                      <a:r>
                        <a:rPr lang="pt-BR" sz="1400" b="1" dirty="0" err="1">
                          <a:effectLst/>
                        </a:rPr>
                        <a:t>sunny</a:t>
                      </a:r>
                      <a:endParaRPr lang="pt-BR" sz="1400" b="1" dirty="0">
                        <a:effectLst/>
                      </a:endParaRP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gridSpan="2">
                  <a:txBody>
                    <a:bodyPr/>
                    <a:lstStyle/>
                    <a:p>
                      <a:pPr algn="ctr" rtl="0" fontAlgn="b"/>
                      <a:r>
                        <a:rPr lang="pt-BR" sz="1400" b="1">
                          <a:effectLst/>
                        </a:rPr>
                        <a:t>Jogar?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rowSpan="2">
                  <a:txBody>
                    <a:bodyPr/>
                    <a:lstStyle/>
                    <a:p>
                      <a:pP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gridSpan="2" vMerge="1">
                  <a:txBody>
                    <a:bodyPr/>
                    <a:lstStyle/>
                    <a:p>
                      <a:endParaRPr lang="pt-BR"/>
                    </a:p>
                  </a:txBody>
                  <a:tcPr/>
                </a:tc>
                <a:tc hMerge="1" vMerge="1">
                  <a:txBody>
                    <a:bodyPr/>
                    <a:lstStyle/>
                    <a:p>
                      <a:endParaRPr lang="pt-BR"/>
                    </a:p>
                  </a:txBody>
                  <a:tcPr/>
                </a:tc>
                <a:tc>
                  <a:txBody>
                    <a:bodyPr/>
                    <a:lstStyle/>
                    <a:p>
                      <a:pPr algn="ctr" rtl="0" fontAlgn="b"/>
                      <a:r>
                        <a:rPr lang="pt-BR" sz="140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rowSpan="2">
                  <a:txBody>
                    <a:bodyPr/>
                    <a:lstStyle/>
                    <a:p>
                      <a:pPr algn="ctr" rtl="0" fontAlgn="ctr"/>
                      <a:r>
                        <a:rPr lang="pt-BR" sz="1400" b="1">
                          <a:effectLst/>
                        </a:rPr>
                        <a:t>Humidity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high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dirty="0">
                          <a:effectLst/>
                        </a:rPr>
                        <a:t>normal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gridSpan="4">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ctr" rtl="0" fontAlgn="b"/>
                      <a:r>
                        <a:rPr lang="pt-BR" sz="1400" dirty="0">
                          <a:effectLst/>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71097121"/>
              </p:ext>
            </p:extLst>
          </p:nvPr>
        </p:nvGraphicFramePr>
        <p:xfrm>
          <a:off x="6970261" y="1954423"/>
          <a:ext cx="2449509" cy="1257300"/>
        </p:xfrm>
        <a:graphic>
          <a:graphicData uri="http://schemas.openxmlformats.org/drawingml/2006/table">
            <a:tbl>
              <a:tblPr/>
              <a:tblGrid>
                <a:gridCol w="977504">
                  <a:extLst>
                    <a:ext uri="{9D8B030D-6E8A-4147-A177-3AD203B41FA5}">
                      <a16:colId xmlns:a16="http://schemas.microsoft.com/office/drawing/2014/main" val="20000"/>
                    </a:ext>
                  </a:extLst>
                </a:gridCol>
                <a:gridCol w="644002">
                  <a:extLst>
                    <a:ext uri="{9D8B030D-6E8A-4147-A177-3AD203B41FA5}">
                      <a16:colId xmlns:a16="http://schemas.microsoft.com/office/drawing/2014/main" val="20001"/>
                    </a:ext>
                  </a:extLst>
                </a:gridCol>
                <a:gridCol w="276001">
                  <a:extLst>
                    <a:ext uri="{9D8B030D-6E8A-4147-A177-3AD203B41FA5}">
                      <a16:colId xmlns:a16="http://schemas.microsoft.com/office/drawing/2014/main" val="20002"/>
                    </a:ext>
                  </a:extLst>
                </a:gridCol>
                <a:gridCol w="276001">
                  <a:extLst>
                    <a:ext uri="{9D8B030D-6E8A-4147-A177-3AD203B41FA5}">
                      <a16:colId xmlns:a16="http://schemas.microsoft.com/office/drawing/2014/main" val="20003"/>
                    </a:ext>
                  </a:extLst>
                </a:gridCol>
                <a:gridCol w="276001">
                  <a:extLst>
                    <a:ext uri="{9D8B030D-6E8A-4147-A177-3AD203B41FA5}">
                      <a16:colId xmlns:a16="http://schemas.microsoft.com/office/drawing/2014/main" val="20004"/>
                    </a:ext>
                  </a:extLst>
                </a:gridCol>
              </a:tblGrid>
              <a:tr h="200025">
                <a:tc rowSpan="2" gridSpan="2">
                  <a:txBody>
                    <a:bodyPr/>
                    <a:lstStyle/>
                    <a:p>
                      <a:pPr algn="ctr" rtl="0" fontAlgn="ctr"/>
                      <a:r>
                        <a:rPr lang="pt-BR" sz="1400" b="1" dirty="0">
                          <a:effectLst/>
                        </a:rPr>
                        <a:t>Outlook = </a:t>
                      </a:r>
                      <a:r>
                        <a:rPr lang="pt-BR" sz="1400" b="1" dirty="0" err="1">
                          <a:effectLst/>
                        </a:rPr>
                        <a:t>sunny</a:t>
                      </a:r>
                      <a:endParaRPr lang="pt-BR" sz="1400" b="1" dirty="0">
                        <a:effectLst/>
                      </a:endParaRP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gridSpan="2">
                  <a:txBody>
                    <a:bodyPr/>
                    <a:lstStyle/>
                    <a:p>
                      <a:pPr algn="ctr" rtl="0" fontAlgn="b"/>
                      <a:r>
                        <a:rPr lang="pt-BR" sz="1400" b="1">
                          <a:effectLst/>
                        </a:rPr>
                        <a:t>Jogar?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rowSpan="2">
                  <a:txBody>
                    <a:bodyPr/>
                    <a:lstStyle/>
                    <a:p>
                      <a:pP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gridSpan="2" vMerge="1">
                  <a:txBody>
                    <a:bodyPr/>
                    <a:lstStyle/>
                    <a:p>
                      <a:endParaRPr lang="pt-BR"/>
                    </a:p>
                  </a:txBody>
                  <a:tcPr/>
                </a:tc>
                <a:tc hMerge="1" vMerge="1">
                  <a:txBody>
                    <a:bodyPr/>
                    <a:lstStyle/>
                    <a:p>
                      <a:endParaRPr lang="pt-BR"/>
                    </a:p>
                  </a:txBody>
                  <a:tcPr/>
                </a:tc>
                <a:tc>
                  <a:txBody>
                    <a:bodyPr/>
                    <a:lstStyle/>
                    <a:p>
                      <a:pPr algn="ctr" rtl="0" fontAlgn="b"/>
                      <a:r>
                        <a:rPr lang="pt-BR" sz="140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rowSpan="2">
                  <a:txBody>
                    <a:bodyPr/>
                    <a:lstStyle/>
                    <a:p>
                      <a:pPr algn="ctr" rtl="0" fontAlgn="ctr"/>
                      <a:r>
                        <a:rPr lang="pt-BR" sz="1400" b="1">
                          <a:effectLst/>
                        </a:rPr>
                        <a:t>Windy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true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gridSpan="4">
                  <a:txBody>
                    <a:bodyPr/>
                    <a:lstStyle/>
                    <a:p>
                      <a:pPr rtl="0" fontAlgn="b"/>
                      <a:endParaRPr lang="pt-BR" sz="1400" dirty="0">
                        <a:effectLst/>
                      </a:endParaRP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ctr" rtl="0" fontAlgn="b"/>
                      <a:r>
                        <a:rPr lang="pt-BR" sz="1400" dirty="0">
                          <a:effectLst/>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93160" y="4134743"/>
            <a:ext cx="4064678" cy="1343085"/>
          </a:xfrm>
          <a:prstGeom prst="rect">
            <a:avLst/>
          </a:prstGeom>
        </p:spPr>
      </p:pic>
      <p:sp>
        <p:nvSpPr>
          <p:cNvPr id="8" name="Rectangle 7"/>
          <p:cNvSpPr/>
          <p:nvPr/>
        </p:nvSpPr>
        <p:spPr>
          <a:xfrm>
            <a:off x="6017364" y="4629470"/>
            <a:ext cx="607145" cy="3536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001480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58688"/>
            <a:ext cx="10918371" cy="1018003"/>
          </a:xfrm>
        </p:spPr>
        <p:txBody>
          <a:bodyPr>
            <a:normAutofit/>
          </a:bodyPr>
          <a:lstStyle/>
          <a:p>
            <a:r>
              <a:rPr lang="pt-BR" dirty="0"/>
              <a:t>Exemplo de indução com método ID3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198" y="1232034"/>
                <a:ext cx="11353802" cy="5625966"/>
              </a:xfrm>
            </p:spPr>
            <p:txBody>
              <a:bodyPr>
                <a:normAutofit fontScale="85000" lnSpcReduction="20000"/>
              </a:bodyPr>
              <a:lstStyle/>
              <a:p>
                <a:r>
                  <a:rPr lang="pt-BR" dirty="0"/>
                  <a:t>O decisão sempre será pela classe </a:t>
                </a:r>
                <a:r>
                  <a:rPr lang="pt-BR" b="1" dirty="0"/>
                  <a:t>Positiva</a:t>
                </a:r>
                <a:r>
                  <a:rPr lang="pt-BR" dirty="0"/>
                  <a:t> (</a:t>
                </a:r>
                <a:r>
                  <a:rPr lang="pt-BR" i="1" dirty="0"/>
                  <a:t>P</a:t>
                </a:r>
                <a:r>
                  <a:rPr lang="pt-BR" dirty="0"/>
                  <a:t>) quando </a:t>
                </a:r>
                <a:r>
                  <a:rPr lang="pt-BR" b="1" dirty="0"/>
                  <a:t>Outlook = sunny </a:t>
                </a:r>
                <a:r>
                  <a:rPr lang="pt-BR" dirty="0"/>
                  <a:t>e </a:t>
                </a:r>
                <a:r>
                  <a:rPr lang="pt-BR" b="1" dirty="0" err="1"/>
                  <a:t>Humidity</a:t>
                </a:r>
                <a:r>
                  <a:rPr lang="pt-BR" dirty="0"/>
                  <a:t> </a:t>
                </a:r>
                <a:r>
                  <a:rPr lang="pt-BR" b="1" dirty="0"/>
                  <a:t>= normal</a:t>
                </a:r>
                <a:r>
                  <a:rPr lang="pt-BR" dirty="0"/>
                  <a:t>. A entropia H(</a:t>
                </a:r>
                <a14:m>
                  <m:oMath xmlns:m="http://schemas.openxmlformats.org/officeDocument/2006/math">
                    <m:r>
                      <a:rPr lang="pt-BR" b="1">
                        <a:latin typeface="Cambria Math" panose="02040503050406030204" pitchFamily="18" charset="0"/>
                      </a:rPr>
                      <m:t>𝑦</m:t>
                    </m:r>
                  </m:oMath>
                </a14:m>
                <a:r>
                  <a:rPr lang="pt-BR" dirty="0"/>
                  <a:t>|Outlook = sunny, </a:t>
                </a:r>
                <a:r>
                  <a:rPr lang="pt-BR" dirty="0" err="1"/>
                  <a:t>Humidity</a:t>
                </a:r>
                <a:r>
                  <a:rPr lang="pt-BR" dirty="0"/>
                  <a:t> = normal) = 0.</a:t>
                </a:r>
              </a:p>
              <a:p>
                <a:pPr marL="0" indent="0">
                  <a:buNone/>
                </a:pPr>
                <a:endParaRPr lang="pt-BR" dirty="0"/>
              </a:p>
              <a:p>
                <a:pPr marL="0" indent="0">
                  <a:buNone/>
                </a:pPr>
                <a:endParaRPr lang="pt-BR" dirty="0"/>
              </a:p>
              <a:p>
                <a:pPr marL="0" indent="0">
                  <a:buNone/>
                </a:pPr>
                <a:endParaRPr lang="pt-BR" dirty="0"/>
              </a:p>
              <a:p>
                <a:r>
                  <a:rPr lang="pt-BR" dirty="0"/>
                  <a:t>A decisão sempre será pela classe </a:t>
                </a:r>
                <a:r>
                  <a:rPr lang="pt-BR" b="1" dirty="0"/>
                  <a:t>Negativa</a:t>
                </a:r>
                <a:r>
                  <a:rPr lang="pt-BR" dirty="0"/>
                  <a:t> (N) quando </a:t>
                </a:r>
                <a:r>
                  <a:rPr lang="pt-BR" b="1" dirty="0"/>
                  <a:t>Outlook = sunny </a:t>
                </a:r>
                <a:r>
                  <a:rPr lang="pt-BR" dirty="0"/>
                  <a:t>e</a:t>
                </a:r>
                <a:r>
                  <a:rPr lang="pt-BR" b="1" dirty="0"/>
                  <a:t> </a:t>
                </a:r>
                <a:r>
                  <a:rPr lang="pt-BR" b="1" dirty="0" err="1"/>
                  <a:t>Humidity</a:t>
                </a:r>
                <a:r>
                  <a:rPr lang="pt-BR" dirty="0"/>
                  <a:t> </a:t>
                </a:r>
                <a:r>
                  <a:rPr lang="pt-BR" b="1" dirty="0"/>
                  <a:t>= high</a:t>
                </a:r>
                <a:r>
                  <a:rPr lang="pt-BR" dirty="0"/>
                  <a:t>. A entropia H(</a:t>
                </a:r>
                <a14:m>
                  <m:oMath xmlns:m="http://schemas.openxmlformats.org/officeDocument/2006/math">
                    <m:r>
                      <a:rPr lang="pt-BR" b="1">
                        <a:latin typeface="Cambria Math" panose="02040503050406030204" pitchFamily="18" charset="0"/>
                      </a:rPr>
                      <m:t>𝑦</m:t>
                    </m:r>
                  </m:oMath>
                </a14:m>
                <a:r>
                  <a:rPr lang="pt-BR" dirty="0"/>
                  <a:t>|Outlook = sunny, </a:t>
                </a:r>
                <a:r>
                  <a:rPr lang="pt-BR" dirty="0" err="1"/>
                  <a:t>Humidity</a:t>
                </a:r>
                <a:r>
                  <a:rPr lang="pt-BR" dirty="0"/>
                  <a:t> = high) = 0</a:t>
                </a:r>
              </a:p>
              <a:p>
                <a:pPr marL="0" indent="0">
                  <a:buNone/>
                </a:pPr>
                <a:endParaRPr lang="pt-BR" dirty="0"/>
              </a:p>
              <a:p>
                <a:pPr marL="0" indent="0">
                  <a:buNone/>
                </a:pPr>
                <a:endParaRPr lang="pt-BR" dirty="0"/>
              </a:p>
              <a:p>
                <a:endParaRPr lang="pt-BR" dirty="0"/>
              </a:p>
              <a:p>
                <a:endParaRPr lang="pt-BR" dirty="0"/>
              </a:p>
              <a:p>
                <a:r>
                  <a:rPr lang="pt-BR" dirty="0"/>
                  <a:t>Portanto, encontramos as folhas para os dois ramos, </a:t>
                </a:r>
                <a:r>
                  <a:rPr lang="pt-BR" b="1" dirty="0"/>
                  <a:t>normal </a:t>
                </a:r>
                <a:r>
                  <a:rPr lang="pt-BR" dirty="0"/>
                  <a:t>e </a:t>
                </a:r>
                <a:r>
                  <a:rPr lang="pt-BR" b="1" dirty="0"/>
                  <a:t>high </a:t>
                </a:r>
                <a:r>
                  <a:rPr lang="pt-BR" dirty="0"/>
                  <a:t>do nó </a:t>
                </a:r>
                <a:r>
                  <a:rPr lang="pt-BR" b="1" dirty="0" err="1"/>
                  <a:t>Humidity</a:t>
                </a:r>
                <a:r>
                  <a:rPr lang="pt-BR" dirty="0"/>
                  <a:t>.</a:t>
                </a:r>
              </a:p>
              <a:p>
                <a:r>
                  <a:rPr lang="pt-BR" dirty="0"/>
                  <a:t>Com isso, a construção da </a:t>
                </a:r>
                <a:r>
                  <a:rPr lang="pt-BR" b="1" dirty="0"/>
                  <a:t>árvore de decisão </a:t>
                </a:r>
                <a:r>
                  <a:rPr lang="pt-BR" dirty="0"/>
                  <a:t>se encerra e podemos usar as regras encontradas para classificar novos exemplos.</a:t>
                </a:r>
              </a:p>
              <a:p>
                <a:r>
                  <a:rPr lang="pt-BR" b="1" dirty="0">
                    <a:solidFill>
                      <a:srgbClr val="00B0F0"/>
                    </a:solidFill>
                  </a:rPr>
                  <a:t>Algum atributo ficou de fora?</a:t>
                </a:r>
                <a:r>
                  <a:rPr lang="pt-BR" dirty="0">
                    <a:solidFill>
                      <a:srgbClr val="00B0F0"/>
                    </a:solidFill>
                  </a:rPr>
                  <a:t> </a:t>
                </a:r>
                <a:r>
                  <a:rPr lang="pt-BR" dirty="0"/>
                  <a:t>Sim, </a:t>
                </a:r>
                <a:r>
                  <a:rPr lang="pt-BR" b="1" dirty="0" err="1"/>
                  <a:t>Temperature</a:t>
                </a:r>
                <a:r>
                  <a:rPr lang="pt-BR" dirty="0"/>
                  <a:t>, indicando que ele não traz informação útil ao problema.</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198" y="1232034"/>
                <a:ext cx="11353802" cy="5625966"/>
              </a:xfrm>
              <a:blipFill>
                <a:blip r:embed="rId2"/>
                <a:stretch>
                  <a:fillRect l="-698" t="-2492" r="-913" b="-2059"/>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263599079"/>
              </p:ext>
            </p:extLst>
          </p:nvPr>
        </p:nvGraphicFramePr>
        <p:xfrm>
          <a:off x="1136653" y="1869748"/>
          <a:ext cx="6152244" cy="1005840"/>
        </p:xfrm>
        <a:graphic>
          <a:graphicData uri="http://schemas.openxmlformats.org/drawingml/2006/table">
            <a:tbl>
              <a:tblPr/>
              <a:tblGrid>
                <a:gridCol w="1025374">
                  <a:extLst>
                    <a:ext uri="{9D8B030D-6E8A-4147-A177-3AD203B41FA5}">
                      <a16:colId xmlns:a16="http://schemas.microsoft.com/office/drawing/2014/main" val="20000"/>
                    </a:ext>
                  </a:extLst>
                </a:gridCol>
                <a:gridCol w="1025374">
                  <a:extLst>
                    <a:ext uri="{9D8B030D-6E8A-4147-A177-3AD203B41FA5}">
                      <a16:colId xmlns:a16="http://schemas.microsoft.com/office/drawing/2014/main" val="20001"/>
                    </a:ext>
                  </a:extLst>
                </a:gridCol>
                <a:gridCol w="1025374">
                  <a:extLst>
                    <a:ext uri="{9D8B030D-6E8A-4147-A177-3AD203B41FA5}">
                      <a16:colId xmlns:a16="http://schemas.microsoft.com/office/drawing/2014/main" val="20002"/>
                    </a:ext>
                  </a:extLst>
                </a:gridCol>
                <a:gridCol w="1025374">
                  <a:extLst>
                    <a:ext uri="{9D8B030D-6E8A-4147-A177-3AD203B41FA5}">
                      <a16:colId xmlns:a16="http://schemas.microsoft.com/office/drawing/2014/main" val="20003"/>
                    </a:ext>
                  </a:extLst>
                </a:gridCol>
                <a:gridCol w="1025374">
                  <a:extLst>
                    <a:ext uri="{9D8B030D-6E8A-4147-A177-3AD203B41FA5}">
                      <a16:colId xmlns:a16="http://schemas.microsoft.com/office/drawing/2014/main" val="20004"/>
                    </a:ext>
                  </a:extLst>
                </a:gridCol>
                <a:gridCol w="1025374">
                  <a:extLst>
                    <a:ext uri="{9D8B030D-6E8A-4147-A177-3AD203B41FA5}">
                      <a16:colId xmlns:a16="http://schemas.microsoft.com/office/drawing/2014/main" val="20005"/>
                    </a:ext>
                  </a:extLst>
                </a:gridCol>
              </a:tblGrid>
              <a:tr h="200025">
                <a:tc rowSpan="2">
                  <a:txBody>
                    <a:bodyPr/>
                    <a:lstStyle/>
                    <a:p>
                      <a:pPr algn="ctr" rtl="0" fontAlgn="ctr"/>
                      <a:r>
                        <a:rPr lang="pt-BR" sz="1400" b="1" dirty="0">
                          <a:effectLst/>
                        </a:rPr>
                        <a:t>Day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gridSpan="4">
                  <a:txBody>
                    <a:bodyPr/>
                    <a:lstStyle/>
                    <a:p>
                      <a:pPr algn="ctr" rtl="0" fontAlgn="b"/>
                      <a:r>
                        <a:rPr lang="pt-BR" sz="1400" b="1">
                          <a:effectLst/>
                        </a:rPr>
                        <a:t>Attributes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rowSpan="2">
                  <a:txBody>
                    <a:bodyPr/>
                    <a:lstStyle/>
                    <a:p>
                      <a:pPr algn="ctr" rtl="0" fontAlgn="ctr"/>
                      <a:r>
                        <a:rPr lang="pt-BR" sz="1400" b="1">
                          <a:effectLst/>
                        </a:rPr>
                        <a:t>Class</a:t>
                      </a:r>
                      <a:br>
                        <a:rPr lang="pt-BR" sz="1400" b="1">
                          <a:effectLst/>
                        </a:rPr>
                      </a:br>
                      <a:r>
                        <a:rPr lang="pt-BR" sz="1400" b="1">
                          <a:effectLst/>
                        </a:rPr>
                        <a:t>(y)</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vMerge="1">
                  <a:txBody>
                    <a:bodyPr/>
                    <a:lstStyle/>
                    <a:p>
                      <a:endParaRPr lang="pt-BR"/>
                    </a:p>
                  </a:txBody>
                  <a:tcPr/>
                </a:tc>
                <a:tc>
                  <a:txBody>
                    <a:bodyPr/>
                    <a:lstStyle/>
                    <a:p>
                      <a:pPr algn="ctr" rtl="0" fontAlgn="b"/>
                      <a:r>
                        <a:rPr lang="pt-BR" sz="1400" b="1" dirty="0">
                          <a:effectLst/>
                        </a:rPr>
                        <a:t>Outlook</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dirty="0">
                          <a:effectLst/>
                        </a:rPr>
                        <a:t>Temperature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a:effectLst/>
                        </a:rPr>
                        <a:t>Humidity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a:effectLst/>
                        </a:rPr>
                        <a:t>Windy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a:txBody>
                    <a:bodyPr/>
                    <a:lstStyle/>
                    <a:p>
                      <a:pPr algn="ctr" rtl="0" fontAlgn="b"/>
                      <a:r>
                        <a:rPr lang="pt-BR" sz="1400">
                          <a:effectLst/>
                        </a:rPr>
                        <a:t>9</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sunny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cool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normal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algn="ctr" rtl="0" fontAlgn="b"/>
                      <a:r>
                        <a:rPr lang="pt-BR" sz="1400">
                          <a:effectLst/>
                        </a:rPr>
                        <a:t>11</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sunny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mild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a:effectLst/>
                        </a:rPr>
                        <a:t>normal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true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P</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234952265"/>
              </p:ext>
            </p:extLst>
          </p:nvPr>
        </p:nvGraphicFramePr>
        <p:xfrm>
          <a:off x="1171126" y="3754855"/>
          <a:ext cx="6083298" cy="1257300"/>
        </p:xfrm>
        <a:graphic>
          <a:graphicData uri="http://schemas.openxmlformats.org/drawingml/2006/table">
            <a:tbl>
              <a:tblPr/>
              <a:tblGrid>
                <a:gridCol w="1013883">
                  <a:extLst>
                    <a:ext uri="{9D8B030D-6E8A-4147-A177-3AD203B41FA5}">
                      <a16:colId xmlns:a16="http://schemas.microsoft.com/office/drawing/2014/main" val="20000"/>
                    </a:ext>
                  </a:extLst>
                </a:gridCol>
                <a:gridCol w="1013883">
                  <a:extLst>
                    <a:ext uri="{9D8B030D-6E8A-4147-A177-3AD203B41FA5}">
                      <a16:colId xmlns:a16="http://schemas.microsoft.com/office/drawing/2014/main" val="20001"/>
                    </a:ext>
                  </a:extLst>
                </a:gridCol>
                <a:gridCol w="1013883">
                  <a:extLst>
                    <a:ext uri="{9D8B030D-6E8A-4147-A177-3AD203B41FA5}">
                      <a16:colId xmlns:a16="http://schemas.microsoft.com/office/drawing/2014/main" val="20002"/>
                    </a:ext>
                  </a:extLst>
                </a:gridCol>
                <a:gridCol w="1013883">
                  <a:extLst>
                    <a:ext uri="{9D8B030D-6E8A-4147-A177-3AD203B41FA5}">
                      <a16:colId xmlns:a16="http://schemas.microsoft.com/office/drawing/2014/main" val="20003"/>
                    </a:ext>
                  </a:extLst>
                </a:gridCol>
                <a:gridCol w="1013883">
                  <a:extLst>
                    <a:ext uri="{9D8B030D-6E8A-4147-A177-3AD203B41FA5}">
                      <a16:colId xmlns:a16="http://schemas.microsoft.com/office/drawing/2014/main" val="20004"/>
                    </a:ext>
                  </a:extLst>
                </a:gridCol>
                <a:gridCol w="1013883">
                  <a:extLst>
                    <a:ext uri="{9D8B030D-6E8A-4147-A177-3AD203B41FA5}">
                      <a16:colId xmlns:a16="http://schemas.microsoft.com/office/drawing/2014/main" val="20005"/>
                    </a:ext>
                  </a:extLst>
                </a:gridCol>
              </a:tblGrid>
              <a:tr h="200025">
                <a:tc rowSpan="2">
                  <a:txBody>
                    <a:bodyPr/>
                    <a:lstStyle/>
                    <a:p>
                      <a:pPr algn="ctr" rtl="0" fontAlgn="ctr"/>
                      <a:r>
                        <a:rPr lang="pt-BR" sz="1400" b="1" dirty="0">
                          <a:effectLst/>
                        </a:rPr>
                        <a:t>Day</a:t>
                      </a:r>
                    </a:p>
                  </a:txBody>
                  <a:tcPr marL="28575" marR="28575" marT="19050" marB="1905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gridSpan="4">
                  <a:txBody>
                    <a:bodyPr/>
                    <a:lstStyle/>
                    <a:p>
                      <a:pPr algn="ctr" rtl="0" fontAlgn="b"/>
                      <a:r>
                        <a:rPr lang="pt-BR" sz="1400" b="1">
                          <a:effectLst/>
                        </a:rPr>
                        <a:t>Attributes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rowSpan="2">
                  <a:txBody>
                    <a:bodyPr/>
                    <a:lstStyle/>
                    <a:p>
                      <a:pPr algn="ctr" rtl="0" fontAlgn="ctr"/>
                      <a:r>
                        <a:rPr lang="pt-BR" sz="1400" b="1">
                          <a:effectLst/>
                        </a:rPr>
                        <a:t>Class</a:t>
                      </a:r>
                      <a:br>
                        <a:rPr lang="pt-BR" sz="1400" b="1">
                          <a:effectLst/>
                        </a:rPr>
                      </a:br>
                      <a:r>
                        <a:rPr lang="pt-BR" sz="1400" b="1">
                          <a:effectLst/>
                        </a:rPr>
                        <a:t>(y)</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vMerge="1">
                  <a:txBody>
                    <a:bodyPr/>
                    <a:lstStyle/>
                    <a:p>
                      <a:endParaRPr lang="pt-BR"/>
                    </a:p>
                  </a:txBody>
                  <a:tcPr/>
                </a:tc>
                <a:tc>
                  <a:txBody>
                    <a:bodyPr/>
                    <a:lstStyle/>
                    <a:p>
                      <a:pPr algn="ctr" rtl="0" fontAlgn="b"/>
                      <a:r>
                        <a:rPr lang="pt-BR" sz="1400" b="1" dirty="0">
                          <a:effectLst/>
                        </a:rPr>
                        <a:t>Outlook</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dirty="0">
                          <a:effectLst/>
                        </a:rPr>
                        <a:t>Temperature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a:effectLst/>
                        </a:rPr>
                        <a:t>Humidity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a:effectLst/>
                        </a:rPr>
                        <a:t>Windy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endParaRPr lang="pt-BR"/>
                    </a:p>
                  </a:txBody>
                  <a:tcPr/>
                </a:tc>
                <a:extLst>
                  <a:ext uri="{0D108BD9-81ED-4DB2-BD59-A6C34878D82A}">
                    <a16:rowId xmlns:a16="http://schemas.microsoft.com/office/drawing/2014/main" val="10001"/>
                  </a:ext>
                </a:extLst>
              </a:tr>
              <a:tr h="200025">
                <a:tc>
                  <a:txBody>
                    <a:bodyPr/>
                    <a:lstStyle/>
                    <a:p>
                      <a:pPr algn="ctr" rtl="0" fontAlgn="b"/>
                      <a:r>
                        <a:rPr lang="pt-BR" sz="1400">
                          <a:effectLst/>
                        </a:rPr>
                        <a:t>1</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sunny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hot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high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algn="ctr" rtl="0" fontAlgn="b"/>
                      <a:r>
                        <a:rPr lang="pt-BR" sz="1400">
                          <a:effectLst/>
                        </a:rPr>
                        <a:t>2</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sunny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hot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high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true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algn="ctr" rtl="0" fontAlgn="b"/>
                      <a:r>
                        <a:rPr lang="pt-BR" sz="1400">
                          <a:effectLst/>
                        </a:rPr>
                        <a:t>8</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sunny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mild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high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false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87351" y="3677855"/>
            <a:ext cx="4203940" cy="1340172"/>
          </a:xfrm>
          <a:prstGeom prst="rect">
            <a:avLst/>
          </a:prstGeom>
        </p:spPr>
      </p:pic>
    </p:spTree>
    <p:extLst>
      <p:ext uri="{BB962C8B-B14F-4D97-AF65-F5344CB8AC3E}">
        <p14:creationId xmlns:p14="http://schemas.microsoft.com/office/powerpoint/2010/main" val="9585885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32CE-81E7-EB7D-79AF-4781ED60C12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EA6CDEB-1A83-6E6A-F3A5-9A6772677239}"/>
              </a:ext>
            </a:extLst>
          </p:cNvPr>
          <p:cNvSpPr>
            <a:spLocks noGrp="1"/>
          </p:cNvSpPr>
          <p:nvPr>
            <p:ph idx="1"/>
          </p:nvPr>
        </p:nvSpPr>
        <p:spPr/>
        <p:txBody>
          <a:bodyPr>
            <a:normAutofit/>
          </a:bodyPr>
          <a:lstStyle/>
          <a:p>
            <a:r>
              <a:rPr lang="pt-BR" sz="6600" b="1" dirty="0">
                <a:solidFill>
                  <a:srgbClr val="FF0000"/>
                </a:solidFill>
              </a:rPr>
              <a:t>PAREI AQUI!!!</a:t>
            </a:r>
            <a:endParaRPr lang="en-US" sz="6600" b="1" dirty="0">
              <a:solidFill>
                <a:srgbClr val="FF0000"/>
              </a:solidFill>
            </a:endParaRPr>
          </a:p>
        </p:txBody>
      </p:sp>
    </p:spTree>
    <p:extLst>
      <p:ext uri="{BB962C8B-B14F-4D97-AF65-F5344CB8AC3E}">
        <p14:creationId xmlns:p14="http://schemas.microsoft.com/office/powerpoint/2010/main" val="18312915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Considerações sobre as árvores de decisão</a:t>
            </a:r>
          </a:p>
        </p:txBody>
      </p:sp>
      <p:sp>
        <p:nvSpPr>
          <p:cNvPr id="3" name="Content Placeholder 2"/>
          <p:cNvSpPr>
            <a:spLocks noGrp="1"/>
          </p:cNvSpPr>
          <p:nvPr>
            <p:ph idx="1"/>
          </p:nvPr>
        </p:nvSpPr>
        <p:spPr>
          <a:xfrm>
            <a:off x="1118937" y="1825624"/>
            <a:ext cx="10864515" cy="5032375"/>
          </a:xfrm>
        </p:spPr>
        <p:txBody>
          <a:bodyPr/>
          <a:lstStyle/>
          <a:p>
            <a:r>
              <a:rPr lang="pt-BR" dirty="0"/>
              <a:t>Embora as </a:t>
            </a:r>
            <a:r>
              <a:rPr lang="pt-BR" b="1" dirty="0"/>
              <a:t>árvores de decisão </a:t>
            </a:r>
            <a:r>
              <a:rPr lang="pt-BR" dirty="0"/>
              <a:t>sejam poderosos algoritmos de </a:t>
            </a:r>
            <a:r>
              <a:rPr lang="pt-BR" b="1" dirty="0"/>
              <a:t>classificação</a:t>
            </a:r>
            <a:r>
              <a:rPr lang="pt-BR" dirty="0"/>
              <a:t>, elas podem apresentar um </a:t>
            </a:r>
            <a:r>
              <a:rPr lang="pt-BR" b="1" dirty="0">
                <a:solidFill>
                  <a:srgbClr val="7030A0"/>
                </a:solidFill>
              </a:rPr>
              <a:t>longo tempo de treinamento</a:t>
            </a:r>
            <a:r>
              <a:rPr lang="pt-BR" b="1" dirty="0">
                <a:solidFill>
                  <a:srgbClr val="00B050"/>
                </a:solidFill>
              </a:rPr>
              <a:t>, principalmente quando os atributos são contínuos</a:t>
            </a:r>
            <a:r>
              <a:rPr lang="pt-BR" dirty="0"/>
              <a:t>.</a:t>
            </a:r>
          </a:p>
          <a:p>
            <a:r>
              <a:rPr lang="pt-BR" dirty="0"/>
              <a:t>Árvores de decisão</a:t>
            </a:r>
            <a:r>
              <a:rPr lang="pt-BR" b="1" dirty="0"/>
              <a:t> </a:t>
            </a:r>
            <a:r>
              <a:rPr lang="pt-BR" b="1" dirty="0">
                <a:solidFill>
                  <a:srgbClr val="00B050"/>
                </a:solidFill>
              </a:rPr>
              <a:t>precisam de muito pouco pré-processamento dos dados</a:t>
            </a:r>
            <a:r>
              <a:rPr lang="pt-BR" dirty="0"/>
              <a:t>. Em particular, elas </a:t>
            </a:r>
            <a:r>
              <a:rPr lang="pt-BR" b="1" dirty="0">
                <a:solidFill>
                  <a:schemeClr val="accent5"/>
                </a:solidFill>
              </a:rPr>
              <a:t>não necessitam de escalonamento dos atributos</a:t>
            </a:r>
            <a:r>
              <a:rPr lang="pt-BR" dirty="0"/>
              <a:t>, mas </a:t>
            </a:r>
            <a:r>
              <a:rPr lang="pt-BR" b="1" dirty="0">
                <a:solidFill>
                  <a:srgbClr val="FF0000"/>
                </a:solidFill>
              </a:rPr>
              <a:t>valores faltantes devem ser tratados de alguma forma</a:t>
            </a:r>
            <a:r>
              <a:rPr lang="pt-BR" dirty="0"/>
              <a:t>.</a:t>
            </a:r>
          </a:p>
          <a:p>
            <a:r>
              <a:rPr lang="pt-BR" dirty="0"/>
              <a:t>Em casos onde as classes são separadas por </a:t>
            </a:r>
            <a:r>
              <a:rPr lang="pt-BR" b="1" dirty="0"/>
              <a:t>fronteiras de decisão não-lineares</a:t>
            </a:r>
            <a:r>
              <a:rPr lang="pt-BR" dirty="0"/>
              <a:t>, as árvores de decisão apresentam um </a:t>
            </a:r>
            <a:r>
              <a:rPr lang="pt-BR" b="1" dirty="0">
                <a:solidFill>
                  <a:srgbClr val="00B050"/>
                </a:solidFill>
              </a:rPr>
              <a:t>desempenho de classificação superior</a:t>
            </a:r>
            <a:r>
              <a:rPr lang="pt-BR" dirty="0"/>
              <a:t> ao apresentado por </a:t>
            </a:r>
            <a:r>
              <a:rPr lang="pt-BR" b="1" dirty="0">
                <a:solidFill>
                  <a:schemeClr val="accent5"/>
                </a:solidFill>
              </a:rPr>
              <a:t>classificadores com fronteiras de decisão formadas por hiperplanos</a:t>
            </a:r>
            <a:r>
              <a:rPr lang="pt-BR" dirty="0"/>
              <a:t>.</a:t>
            </a:r>
          </a:p>
          <a:p>
            <a:pPr lvl="1">
              <a:buFont typeface="Wingdings" panose="05000000000000000000" pitchFamily="2" charset="2"/>
              <a:buChar char="§"/>
            </a:pPr>
            <a:r>
              <a:rPr lang="pt-BR" dirty="0"/>
              <a:t> </a:t>
            </a:r>
            <a:r>
              <a:rPr lang="pt-BR" b="1" dirty="0"/>
              <a:t>Exemplo</a:t>
            </a:r>
            <a:r>
              <a:rPr lang="pt-BR" dirty="0"/>
              <a:t>: </a:t>
            </a:r>
            <a:r>
              <a:rPr lang="pt-BR" dirty="0">
                <a:hlinkClick r:id="rId3"/>
              </a:rPr>
              <a:t>DTTwoConcentricClassesClassification.ipynb</a:t>
            </a:r>
            <a:endParaRPr lang="pt-BR" dirty="0"/>
          </a:p>
        </p:txBody>
      </p:sp>
    </p:spTree>
    <p:extLst>
      <p:ext uri="{BB962C8B-B14F-4D97-AF65-F5344CB8AC3E}">
        <p14:creationId xmlns:p14="http://schemas.microsoft.com/office/powerpoint/2010/main" val="567362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Considerações sobre as árvores de decisão</a:t>
            </a:r>
          </a:p>
        </p:txBody>
      </p:sp>
      <p:sp>
        <p:nvSpPr>
          <p:cNvPr id="3" name="Content Placeholder 2"/>
          <p:cNvSpPr>
            <a:spLocks noGrp="1"/>
          </p:cNvSpPr>
          <p:nvPr>
            <p:ph idx="1"/>
          </p:nvPr>
        </p:nvSpPr>
        <p:spPr>
          <a:xfrm>
            <a:off x="838200" y="1690688"/>
            <a:ext cx="11078498" cy="5167311"/>
          </a:xfrm>
        </p:spPr>
        <p:txBody>
          <a:bodyPr>
            <a:normAutofit/>
          </a:bodyPr>
          <a:lstStyle/>
          <a:p>
            <a:r>
              <a:rPr lang="pt-BR" dirty="0"/>
              <a:t>Quando as </a:t>
            </a:r>
            <a:r>
              <a:rPr lang="pt-BR" b="1" dirty="0">
                <a:solidFill>
                  <a:srgbClr val="00B050"/>
                </a:solidFill>
              </a:rPr>
              <a:t>classes não são bem separadas</a:t>
            </a:r>
            <a:r>
              <a:rPr lang="pt-BR" dirty="0"/>
              <a:t> (i.e., se elas se sobrepõem), </a:t>
            </a:r>
            <a:r>
              <a:rPr lang="pt-BR" b="1" dirty="0">
                <a:solidFill>
                  <a:srgbClr val="00B050"/>
                </a:solidFill>
              </a:rPr>
              <a:t>as árvores são suscetíveis a sobreajustar</a:t>
            </a:r>
            <a:r>
              <a:rPr lang="pt-BR" dirty="0"/>
              <a:t> ao conjunto de treinamento, de modo que a </a:t>
            </a:r>
            <a:r>
              <a:rPr lang="pt-BR" b="1" dirty="0"/>
              <a:t>fronteira de decisão linear</a:t>
            </a:r>
            <a:r>
              <a:rPr lang="pt-BR" dirty="0"/>
              <a:t> de </a:t>
            </a:r>
            <a:r>
              <a:rPr lang="pt-BR" b="1" dirty="0"/>
              <a:t>classificadores</a:t>
            </a:r>
            <a:r>
              <a:rPr lang="pt-BR" dirty="0"/>
              <a:t> </a:t>
            </a:r>
            <a:r>
              <a:rPr lang="pt-BR" b="1" dirty="0"/>
              <a:t>lineares</a:t>
            </a:r>
            <a:r>
              <a:rPr lang="pt-BR" dirty="0"/>
              <a:t> separa melhor as classes, apresentando melhor desempenho de </a:t>
            </a:r>
            <a:r>
              <a:rPr lang="pt-BR" b="1" dirty="0"/>
              <a:t>classificação</a:t>
            </a:r>
            <a:r>
              <a:rPr lang="pt-BR" dirty="0"/>
              <a:t>.</a:t>
            </a:r>
          </a:p>
          <a:p>
            <a:pPr lvl="0">
              <a:defRPr/>
            </a:pPr>
            <a:r>
              <a:rPr lang="pt-BR" dirty="0"/>
              <a:t>Para evitar </a:t>
            </a:r>
            <a:r>
              <a:rPr lang="pt-BR" b="1" dirty="0"/>
              <a:t>sobreajuste</a:t>
            </a:r>
            <a:r>
              <a:rPr lang="pt-BR" dirty="0"/>
              <a:t>, existem duas maneiras: </a:t>
            </a:r>
          </a:p>
          <a:p>
            <a:pPr marL="971550" lvl="1" indent="-514350">
              <a:buFont typeface="+mj-lt"/>
              <a:buAutoNum type="arabicPeriod"/>
              <a:defRPr/>
            </a:pPr>
            <a:r>
              <a:rPr lang="pt-BR" dirty="0"/>
              <a:t>Limitamos sua profundidade e/ou o número mínimo de amostras necessárias em um nó folha.</a:t>
            </a:r>
          </a:p>
          <a:p>
            <a:pPr marL="971550" lvl="1" indent="-514350">
              <a:buFont typeface="+mj-lt"/>
              <a:buAutoNum type="arabicPeriod"/>
              <a:defRPr/>
            </a:pPr>
            <a:r>
              <a:rPr lang="pt-BR" dirty="0"/>
              <a:t>Geramos primeiro uma árvore completa e, em seguida, eliminamos alguns ramos (i.e., podamos a árvore).</a:t>
            </a:r>
          </a:p>
          <a:p>
            <a:pPr>
              <a:defRPr/>
            </a:pPr>
            <a:r>
              <a:rPr lang="pt-BR" b="1" dirty="0"/>
              <a:t>Exemplo</a:t>
            </a:r>
            <a:r>
              <a:rPr lang="pt-BR" dirty="0"/>
              <a:t>: </a:t>
            </a:r>
            <a:r>
              <a:rPr lang="pt-BR" dirty="0" err="1">
                <a:hlinkClick r:id="rId3"/>
              </a:rPr>
              <a:t>DTTwoOverlappingClassesClassification.ipynb</a:t>
            </a:r>
            <a:endParaRPr lang="pt-BR" dirty="0"/>
          </a:p>
        </p:txBody>
      </p:sp>
    </p:spTree>
    <p:extLst>
      <p:ext uri="{BB962C8B-B14F-4D97-AF65-F5344CB8AC3E}">
        <p14:creationId xmlns:p14="http://schemas.microsoft.com/office/powerpoint/2010/main" val="21399036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68566-A7EC-5F8E-88DB-A3F929D477DB}"/>
              </a:ext>
            </a:extLst>
          </p:cNvPr>
          <p:cNvSpPr>
            <a:spLocks noGrp="1"/>
          </p:cNvSpPr>
          <p:nvPr>
            <p:ph type="title"/>
          </p:nvPr>
        </p:nvSpPr>
        <p:spPr/>
        <p:txBody>
          <a:bodyPr/>
          <a:lstStyle/>
          <a:p>
            <a:r>
              <a:rPr lang="pt-BR" dirty="0"/>
              <a:t>Considerações sobre as árvores de decisão</a:t>
            </a:r>
          </a:p>
        </p:txBody>
      </p:sp>
      <p:sp>
        <p:nvSpPr>
          <p:cNvPr id="3" name="Espaço Reservado para Conteúdo 2">
            <a:extLst>
              <a:ext uri="{FF2B5EF4-FFF2-40B4-BE49-F238E27FC236}">
                <a16:creationId xmlns:a16="http://schemas.microsoft.com/office/drawing/2014/main" id="{33AF172F-894D-CC9F-955B-029ABD8D9337}"/>
              </a:ext>
            </a:extLst>
          </p:cNvPr>
          <p:cNvSpPr>
            <a:spLocks noGrp="1"/>
          </p:cNvSpPr>
          <p:nvPr>
            <p:ph idx="1"/>
          </p:nvPr>
        </p:nvSpPr>
        <p:spPr>
          <a:xfrm>
            <a:off x="838200" y="1825624"/>
            <a:ext cx="11049000" cy="5032375"/>
          </a:xfrm>
        </p:spPr>
        <p:txBody>
          <a:bodyPr/>
          <a:lstStyle/>
          <a:p>
            <a:r>
              <a:rPr lang="pt-BR" dirty="0"/>
              <a:t>O </a:t>
            </a:r>
            <a:r>
              <a:rPr lang="pt-BR" b="1" dirty="0">
                <a:solidFill>
                  <a:srgbClr val="FF0000"/>
                </a:solidFill>
              </a:rPr>
              <a:t>principal problema </a:t>
            </a:r>
            <a:r>
              <a:rPr lang="pt-BR" dirty="0"/>
              <a:t>das árvores de decisão</a:t>
            </a:r>
            <a:r>
              <a:rPr lang="pt-BR" b="1" dirty="0"/>
              <a:t> </a:t>
            </a:r>
            <a:r>
              <a:rPr lang="pt-BR" dirty="0"/>
              <a:t>é que elas são</a:t>
            </a:r>
            <a:r>
              <a:rPr lang="pt-BR" b="1" dirty="0">
                <a:solidFill>
                  <a:srgbClr val="00B050"/>
                </a:solidFill>
              </a:rPr>
              <a:t> muito sensíveis a pequenas variações nos dados de treinamento</a:t>
            </a:r>
            <a:r>
              <a:rPr lang="pt-BR" dirty="0"/>
              <a:t> (e.g., rotação). </a:t>
            </a:r>
            <a:endParaRPr lang="pt-BR" b="1" dirty="0"/>
          </a:p>
          <a:p>
            <a:r>
              <a:rPr lang="pt-BR" dirty="0"/>
              <a:t>Árvores de decisão</a:t>
            </a:r>
            <a:r>
              <a:rPr lang="pt-BR" b="1" dirty="0"/>
              <a:t> </a:t>
            </a:r>
            <a:r>
              <a:rPr lang="pt-BR" dirty="0"/>
              <a:t>criam </a:t>
            </a:r>
            <a:r>
              <a:rPr lang="pt-BR" b="1" dirty="0">
                <a:solidFill>
                  <a:srgbClr val="7030A0"/>
                </a:solidFill>
              </a:rPr>
              <a:t>fronteiras de decisão compostas por trechos perpendiculares aos eixos</a:t>
            </a:r>
            <a:r>
              <a:rPr lang="pt-BR" dirty="0"/>
              <a:t>, o que as torna </a:t>
            </a:r>
            <a:r>
              <a:rPr lang="pt-BR" b="1" dirty="0"/>
              <a:t>sensíveis à rotação do conjunto de treinamento</a:t>
            </a:r>
            <a:r>
              <a:rPr lang="pt-BR" dirty="0"/>
              <a:t>.</a:t>
            </a:r>
          </a:p>
          <a:p>
            <a:r>
              <a:rPr lang="pt-BR" b="1" dirty="0"/>
              <a:t>Exemplo</a:t>
            </a:r>
            <a:r>
              <a:rPr lang="pt-BR" dirty="0"/>
              <a:t>: </a:t>
            </a:r>
            <a:r>
              <a:rPr lang="pt-BR" dirty="0" err="1">
                <a:hlinkClick r:id="rId3"/>
              </a:rPr>
              <a:t>DTSensitivityToTrainingSetRotation.ipynb</a:t>
            </a:r>
            <a:r>
              <a:rPr lang="pt-BR" dirty="0"/>
              <a:t> </a:t>
            </a:r>
          </a:p>
          <a:p>
            <a:r>
              <a:rPr lang="pt-BR" dirty="0"/>
              <a:t>Uma maneira para </a:t>
            </a:r>
            <a:r>
              <a:rPr lang="pt-BR" b="1" dirty="0">
                <a:solidFill>
                  <a:srgbClr val="FF0000"/>
                </a:solidFill>
              </a:rPr>
              <a:t>minimizar</a:t>
            </a:r>
            <a:r>
              <a:rPr lang="pt-BR" dirty="0"/>
              <a:t> esse problema da sensibilidade à rotação é usar a técnica conhecida como </a:t>
            </a:r>
            <a:r>
              <a:rPr lang="pt-BR" b="1" dirty="0"/>
              <a:t>Análise de Componentes Principais (PCA)</a:t>
            </a:r>
            <a:r>
              <a:rPr lang="pt-BR" dirty="0"/>
              <a:t>, que rotaciona e dimensiona linearmente a matriz de atributos.</a:t>
            </a:r>
          </a:p>
        </p:txBody>
      </p:sp>
    </p:spTree>
    <p:extLst>
      <p:ext uri="{BB962C8B-B14F-4D97-AF65-F5344CB8AC3E}">
        <p14:creationId xmlns:p14="http://schemas.microsoft.com/office/powerpoint/2010/main" val="2476309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68566-A7EC-5F8E-88DB-A3F929D477DB}"/>
              </a:ext>
            </a:extLst>
          </p:cNvPr>
          <p:cNvSpPr>
            <a:spLocks noGrp="1"/>
          </p:cNvSpPr>
          <p:nvPr>
            <p:ph type="title"/>
          </p:nvPr>
        </p:nvSpPr>
        <p:spPr/>
        <p:txBody>
          <a:bodyPr/>
          <a:lstStyle/>
          <a:p>
            <a:r>
              <a:rPr lang="pt-BR" dirty="0"/>
              <a:t>Considerações sobre as árvores de decisão</a:t>
            </a:r>
          </a:p>
        </p:txBody>
      </p:sp>
      <p:sp>
        <p:nvSpPr>
          <p:cNvPr id="3" name="Espaço Reservado para Conteúdo 2">
            <a:extLst>
              <a:ext uri="{FF2B5EF4-FFF2-40B4-BE49-F238E27FC236}">
                <a16:creationId xmlns:a16="http://schemas.microsoft.com/office/drawing/2014/main" id="{33AF172F-894D-CC9F-955B-029ABD8D9337}"/>
              </a:ext>
            </a:extLst>
          </p:cNvPr>
          <p:cNvSpPr>
            <a:spLocks noGrp="1"/>
          </p:cNvSpPr>
          <p:nvPr>
            <p:ph idx="1"/>
          </p:nvPr>
        </p:nvSpPr>
        <p:spPr>
          <a:xfrm>
            <a:off x="838199" y="1825624"/>
            <a:ext cx="11217443" cy="5032375"/>
          </a:xfrm>
        </p:spPr>
        <p:txBody>
          <a:bodyPr>
            <a:normAutofit lnSpcReduction="10000"/>
          </a:bodyPr>
          <a:lstStyle/>
          <a:p>
            <a:r>
              <a:rPr lang="pt-BR" dirty="0"/>
              <a:t>Alguns </a:t>
            </a:r>
            <a:r>
              <a:rPr lang="pt-BR" b="1" dirty="0">
                <a:solidFill>
                  <a:srgbClr val="00B050"/>
                </a:solidFill>
              </a:rPr>
              <a:t>algoritmos para inferência de árvores de decisão são </a:t>
            </a:r>
            <a:r>
              <a:rPr lang="pt-BR" b="1" dirty="0">
                <a:solidFill>
                  <a:srgbClr val="7030A0"/>
                </a:solidFill>
              </a:rPr>
              <a:t>estocásticos</a:t>
            </a:r>
            <a:r>
              <a:rPr lang="pt-BR" b="1" dirty="0">
                <a:solidFill>
                  <a:srgbClr val="00B050"/>
                </a:solidFill>
              </a:rPr>
              <a:t> </a:t>
            </a:r>
            <a:r>
              <a:rPr lang="pt-BR" dirty="0"/>
              <a:t>e, portanto, </a:t>
            </a:r>
            <a:r>
              <a:rPr lang="pt-BR" b="1" dirty="0">
                <a:solidFill>
                  <a:srgbClr val="00B050"/>
                </a:solidFill>
              </a:rPr>
              <a:t>podem gerar árvores </a:t>
            </a:r>
            <a:r>
              <a:rPr lang="pt-BR" b="1" dirty="0">
                <a:solidFill>
                  <a:srgbClr val="FF0000"/>
                </a:solidFill>
              </a:rPr>
              <a:t>completamente diferentes</a:t>
            </a:r>
            <a:r>
              <a:rPr lang="pt-BR" b="1" dirty="0">
                <a:solidFill>
                  <a:srgbClr val="00B050"/>
                </a:solidFill>
              </a:rPr>
              <a:t> com o </a:t>
            </a:r>
            <a:r>
              <a:rPr lang="pt-BR" b="1" dirty="0">
                <a:solidFill>
                  <a:srgbClr val="0070C0"/>
                </a:solidFill>
              </a:rPr>
              <a:t>mesmo modelo e conjunto de dados</a:t>
            </a:r>
            <a:r>
              <a:rPr lang="pt-BR" dirty="0"/>
              <a:t>,</a:t>
            </a:r>
            <a:r>
              <a:rPr lang="pt-BR" b="1" dirty="0">
                <a:solidFill>
                  <a:srgbClr val="00B050"/>
                </a:solidFill>
              </a:rPr>
              <a:t> </a:t>
            </a:r>
            <a:r>
              <a:rPr lang="pt-BR" b="1" dirty="0">
                <a:solidFill>
                  <a:srgbClr val="00B0F0"/>
                </a:solidFill>
              </a:rPr>
              <a:t>mas sementes aleatórias diferentes</a:t>
            </a:r>
            <a:r>
              <a:rPr lang="pt-BR" dirty="0"/>
              <a:t>.</a:t>
            </a:r>
          </a:p>
          <a:p>
            <a:r>
              <a:rPr lang="pt-BR" dirty="0"/>
              <a:t>Por exemplo, o CART permuta aleatoriamente o conjunto de atributos a cada divisão, podendo gerar diferentes divisões. </a:t>
            </a:r>
          </a:p>
          <a:p>
            <a:r>
              <a:rPr lang="pt-BR" dirty="0"/>
              <a:t>Se a melhoria do critério de divisão for idêntica para várias divisões, escolhe-se a divisão de forma aleatória.</a:t>
            </a:r>
          </a:p>
          <a:p>
            <a:r>
              <a:rPr lang="pt-BR" b="1" dirty="0"/>
              <a:t>Exemplo</a:t>
            </a:r>
            <a:r>
              <a:rPr lang="pt-BR" dirty="0"/>
              <a:t>: </a:t>
            </a:r>
            <a:r>
              <a:rPr lang="pt-BR" dirty="0" err="1">
                <a:hlinkClick r:id="rId3"/>
              </a:rPr>
              <a:t>DTSensitivityToTrainingSetDetails.ipynb</a:t>
            </a:r>
            <a:endParaRPr lang="pt-BR" dirty="0"/>
          </a:p>
          <a:p>
            <a:r>
              <a:rPr lang="pt-BR" dirty="0"/>
              <a:t>As </a:t>
            </a:r>
            <a:r>
              <a:rPr lang="pt-BR" b="1" dirty="0"/>
              <a:t>florestas aleatórias </a:t>
            </a:r>
            <a:r>
              <a:rPr lang="pt-BR" dirty="0"/>
              <a:t>podem limitar essa instabilidade calculando a média ou voto majoritário das predições feitas por diversas </a:t>
            </a:r>
            <a:r>
              <a:rPr lang="pt-BR" b="1" dirty="0"/>
              <a:t>árvores de decisão</a:t>
            </a:r>
            <a:r>
              <a:rPr lang="pt-BR" dirty="0"/>
              <a:t>.</a:t>
            </a:r>
            <a:endParaRPr lang="pt-BR" b="1" dirty="0"/>
          </a:p>
        </p:txBody>
      </p:sp>
    </p:spTree>
    <p:extLst>
      <p:ext uri="{BB962C8B-B14F-4D97-AF65-F5344CB8AC3E}">
        <p14:creationId xmlns:p14="http://schemas.microsoft.com/office/powerpoint/2010/main" val="26774920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68566-A7EC-5F8E-88DB-A3F929D477DB}"/>
              </a:ext>
            </a:extLst>
          </p:cNvPr>
          <p:cNvSpPr>
            <a:spLocks noGrp="1"/>
          </p:cNvSpPr>
          <p:nvPr>
            <p:ph type="title"/>
          </p:nvPr>
        </p:nvSpPr>
        <p:spPr/>
        <p:txBody>
          <a:bodyPr/>
          <a:lstStyle/>
          <a:p>
            <a:r>
              <a:rPr lang="pt-BR" dirty="0"/>
              <a:t>Considerações sobre as árvores de decisão</a:t>
            </a:r>
          </a:p>
        </p:txBody>
      </p:sp>
      <p:sp>
        <p:nvSpPr>
          <p:cNvPr id="3" name="Espaço Reservado para Conteúdo 2">
            <a:extLst>
              <a:ext uri="{FF2B5EF4-FFF2-40B4-BE49-F238E27FC236}">
                <a16:creationId xmlns:a16="http://schemas.microsoft.com/office/drawing/2014/main" id="{33AF172F-894D-CC9F-955B-029ABD8D9337}"/>
              </a:ext>
            </a:extLst>
          </p:cNvPr>
          <p:cNvSpPr>
            <a:spLocks noGrp="1"/>
          </p:cNvSpPr>
          <p:nvPr>
            <p:ph idx="1"/>
          </p:nvPr>
        </p:nvSpPr>
        <p:spPr>
          <a:xfrm>
            <a:off x="838199" y="1825624"/>
            <a:ext cx="11169317" cy="5032375"/>
          </a:xfrm>
        </p:spPr>
        <p:txBody>
          <a:bodyPr>
            <a:normAutofit/>
          </a:bodyPr>
          <a:lstStyle/>
          <a:p>
            <a:r>
              <a:rPr lang="pt-BR" dirty="0"/>
              <a:t>Se não for restringida, a </a:t>
            </a:r>
            <a:r>
              <a:rPr lang="pt-BR" b="1" dirty="0"/>
              <a:t>árvore de decisão</a:t>
            </a:r>
            <a:r>
              <a:rPr lang="pt-BR" dirty="0"/>
              <a:t> se adaptará aos dados de treinamento, ajustando-se muito bem e, provavelmente, se </a:t>
            </a:r>
            <a:r>
              <a:rPr lang="pt-BR" b="1" dirty="0" err="1">
                <a:solidFill>
                  <a:srgbClr val="7030A0"/>
                </a:solidFill>
              </a:rPr>
              <a:t>sobreajustando</a:t>
            </a:r>
            <a:r>
              <a:rPr lang="pt-BR" dirty="0"/>
              <a:t> a eles. </a:t>
            </a:r>
          </a:p>
          <a:p>
            <a:r>
              <a:rPr lang="pt-BR" dirty="0"/>
              <a:t>Para evitar o </a:t>
            </a:r>
            <a:r>
              <a:rPr lang="pt-BR" b="1" dirty="0"/>
              <a:t>sobreajuste</a:t>
            </a:r>
            <a:r>
              <a:rPr lang="pt-BR" dirty="0"/>
              <a:t> do modelo, nós precisamos </a:t>
            </a:r>
            <a:r>
              <a:rPr lang="pt-BR" b="1" dirty="0">
                <a:solidFill>
                  <a:srgbClr val="7030A0"/>
                </a:solidFill>
              </a:rPr>
              <a:t>restringir</a:t>
            </a:r>
            <a:r>
              <a:rPr lang="pt-BR" dirty="0"/>
              <a:t> </a:t>
            </a:r>
            <a:r>
              <a:rPr lang="pt-BR" b="1" dirty="0">
                <a:solidFill>
                  <a:srgbClr val="7030A0"/>
                </a:solidFill>
              </a:rPr>
              <a:t>a liberdade de crescer</a:t>
            </a:r>
            <a:r>
              <a:rPr lang="pt-BR" dirty="0"/>
              <a:t> da árvore de decisão durante seu treinamento.</a:t>
            </a:r>
          </a:p>
          <a:p>
            <a:pPr lvl="1">
              <a:buFont typeface="Wingdings" panose="05000000000000000000" pitchFamily="2" charset="2"/>
              <a:buChar char="§"/>
            </a:pPr>
            <a:r>
              <a:rPr lang="pt-BR" dirty="0"/>
              <a:t>Essa restrição pode ser visto como uma forma de</a:t>
            </a:r>
            <a:r>
              <a:rPr lang="pt-BR" b="1" dirty="0"/>
              <a:t> </a:t>
            </a:r>
            <a:r>
              <a:rPr lang="pt-BR" b="1" dirty="0">
                <a:solidFill>
                  <a:srgbClr val="FF0000"/>
                </a:solidFill>
              </a:rPr>
              <a:t>regularização</a:t>
            </a:r>
            <a:r>
              <a:rPr lang="pt-BR" b="1" dirty="0"/>
              <a:t>.</a:t>
            </a:r>
            <a:endParaRPr lang="pt-BR" dirty="0"/>
          </a:p>
          <a:p>
            <a:r>
              <a:rPr lang="pt-BR" dirty="0"/>
              <a:t>No </a:t>
            </a:r>
            <a:r>
              <a:rPr lang="pt-BR" dirty="0" err="1"/>
              <a:t>Scikit-Learn</a:t>
            </a:r>
            <a:r>
              <a:rPr lang="pt-BR" dirty="0"/>
              <a:t>, a regularização pode ser controlada pelos hiperparâmetros: </a:t>
            </a:r>
            <a:r>
              <a:rPr lang="pt-BR" b="1" dirty="0" err="1"/>
              <a:t>max_depth</a:t>
            </a:r>
            <a:r>
              <a:rPr lang="pt-BR" dirty="0"/>
              <a:t>, </a:t>
            </a:r>
            <a:r>
              <a:rPr lang="pt-BR" b="1" dirty="0" err="1"/>
              <a:t>min_samples_split</a:t>
            </a:r>
            <a:r>
              <a:rPr lang="pt-BR" dirty="0"/>
              <a:t>, </a:t>
            </a:r>
            <a:r>
              <a:rPr lang="pt-BR" b="1" dirty="0" err="1"/>
              <a:t>min_samples_leaf</a:t>
            </a:r>
            <a:r>
              <a:rPr lang="pt-BR" dirty="0"/>
              <a:t>, </a:t>
            </a:r>
            <a:r>
              <a:rPr lang="pt-BR" b="1" dirty="0" err="1"/>
              <a:t>min_weight_fraction_leaf</a:t>
            </a:r>
            <a:r>
              <a:rPr lang="pt-BR" dirty="0"/>
              <a:t>, </a:t>
            </a:r>
            <a:r>
              <a:rPr lang="pt-BR" b="1" dirty="0" err="1"/>
              <a:t>max_leaf_nodes</a:t>
            </a:r>
            <a:r>
              <a:rPr lang="pt-BR" dirty="0"/>
              <a:t> e </a:t>
            </a:r>
            <a:r>
              <a:rPr lang="pt-BR" b="1" dirty="0" err="1"/>
              <a:t>max_features</a:t>
            </a:r>
            <a:r>
              <a:rPr lang="pt-BR" dirty="0"/>
              <a:t>.</a:t>
            </a:r>
          </a:p>
          <a:p>
            <a:r>
              <a:rPr lang="pt-BR" b="1" dirty="0"/>
              <a:t>Exemplo</a:t>
            </a:r>
            <a:r>
              <a:rPr lang="pt-BR" dirty="0"/>
              <a:t>: </a:t>
            </a:r>
            <a:r>
              <a:rPr lang="pt-BR" dirty="0" err="1">
                <a:hlinkClick r:id="rId3"/>
              </a:rPr>
              <a:t>DTRegularizationHyperparameters.ipynb</a:t>
            </a:r>
            <a:endParaRPr lang="pt-BR" dirty="0"/>
          </a:p>
        </p:txBody>
      </p:sp>
    </p:spTree>
    <p:extLst>
      <p:ext uri="{BB962C8B-B14F-4D97-AF65-F5344CB8AC3E}">
        <p14:creationId xmlns:p14="http://schemas.microsoft.com/office/powerpoint/2010/main" val="35435197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68566-A7EC-5F8E-88DB-A3F929D477DB}"/>
              </a:ext>
            </a:extLst>
          </p:cNvPr>
          <p:cNvSpPr>
            <a:spLocks noGrp="1"/>
          </p:cNvSpPr>
          <p:nvPr>
            <p:ph type="title"/>
          </p:nvPr>
        </p:nvSpPr>
        <p:spPr/>
        <p:txBody>
          <a:bodyPr/>
          <a:lstStyle/>
          <a:p>
            <a:r>
              <a:rPr lang="pt-BR" dirty="0"/>
              <a:t>Considerações sobre as árvores de decisão</a:t>
            </a:r>
          </a:p>
        </p:txBody>
      </p:sp>
      <p:sp>
        <p:nvSpPr>
          <p:cNvPr id="3" name="Espaço Reservado para Conteúdo 2">
            <a:extLst>
              <a:ext uri="{FF2B5EF4-FFF2-40B4-BE49-F238E27FC236}">
                <a16:creationId xmlns:a16="http://schemas.microsoft.com/office/drawing/2014/main" id="{33AF172F-894D-CC9F-955B-029ABD8D9337}"/>
              </a:ext>
            </a:extLst>
          </p:cNvPr>
          <p:cNvSpPr>
            <a:spLocks noGrp="1"/>
          </p:cNvSpPr>
          <p:nvPr>
            <p:ph idx="1"/>
          </p:nvPr>
        </p:nvSpPr>
        <p:spPr>
          <a:xfrm>
            <a:off x="4608095" y="1825624"/>
            <a:ext cx="7399421" cy="5032375"/>
          </a:xfrm>
        </p:spPr>
        <p:txBody>
          <a:bodyPr>
            <a:normAutofit/>
          </a:bodyPr>
          <a:lstStyle/>
          <a:p>
            <a:r>
              <a:rPr lang="pt-BR" b="1" dirty="0"/>
              <a:t>Árvores de decisão </a:t>
            </a:r>
            <a:r>
              <a:rPr lang="pt-BR" dirty="0"/>
              <a:t>também podem ser utilizadas para </a:t>
            </a:r>
            <a:r>
              <a:rPr lang="pt-BR" b="1" dirty="0"/>
              <a:t>regressão</a:t>
            </a:r>
            <a:r>
              <a:rPr lang="pt-BR" dirty="0"/>
              <a:t>.</a:t>
            </a:r>
          </a:p>
          <a:p>
            <a:pPr lvl="1">
              <a:buFont typeface="Wingdings" panose="05000000000000000000" pitchFamily="2" charset="2"/>
              <a:buChar char="§"/>
            </a:pPr>
            <a:r>
              <a:rPr lang="pt-BR" dirty="0"/>
              <a:t>As </a:t>
            </a:r>
            <a:r>
              <a:rPr lang="pt-BR" b="1" dirty="0"/>
              <a:t>árvores de decisão</a:t>
            </a:r>
            <a:r>
              <a:rPr lang="pt-BR" dirty="0"/>
              <a:t> também tendem a se </a:t>
            </a:r>
            <a:r>
              <a:rPr lang="pt-BR" b="1" dirty="0"/>
              <a:t>sobreajustar</a:t>
            </a:r>
            <a:r>
              <a:rPr lang="pt-BR" dirty="0"/>
              <a:t> ao lidar com tarefas de </a:t>
            </a:r>
            <a:r>
              <a:rPr lang="pt-BR" b="1" dirty="0"/>
              <a:t>regressão</a:t>
            </a:r>
            <a:r>
              <a:rPr lang="pt-BR" dirty="0"/>
              <a:t>.</a:t>
            </a:r>
          </a:p>
          <a:p>
            <a:pPr lvl="1">
              <a:buFont typeface="Wingdings" panose="05000000000000000000" pitchFamily="2" charset="2"/>
              <a:buChar char="§"/>
            </a:pPr>
            <a:r>
              <a:rPr lang="pt-BR" b="1" dirty="0"/>
              <a:t>Exemplo</a:t>
            </a:r>
            <a:r>
              <a:rPr lang="pt-BR" dirty="0"/>
              <a:t>: </a:t>
            </a:r>
            <a:r>
              <a:rPr lang="pt-BR" dirty="0" err="1">
                <a:hlinkClick r:id="rId3"/>
              </a:rPr>
              <a:t>DTNoisyQuadraticDatasetRegression.ipynb</a:t>
            </a:r>
            <a:endParaRPr lang="pt-BR" dirty="0"/>
          </a:p>
          <a:p>
            <a:r>
              <a:rPr lang="pt-BR" dirty="0"/>
              <a:t>Predições feitas por </a:t>
            </a:r>
            <a:r>
              <a:rPr lang="pt-BR" b="1" dirty="0"/>
              <a:t>árvores de decisão </a:t>
            </a:r>
            <a:r>
              <a:rPr lang="pt-BR" b="1" dirty="0">
                <a:solidFill>
                  <a:srgbClr val="7030A0"/>
                </a:solidFill>
              </a:rPr>
              <a:t>não são suaves nem contínuas</a:t>
            </a:r>
            <a:r>
              <a:rPr lang="pt-BR" dirty="0"/>
              <a:t>, mas </a:t>
            </a:r>
            <a:r>
              <a:rPr lang="pt-BR" b="1" dirty="0">
                <a:solidFill>
                  <a:schemeClr val="accent2"/>
                </a:solidFill>
              </a:rPr>
              <a:t>aproximações constantes por partes/trechos</a:t>
            </a:r>
            <a:r>
              <a:rPr lang="pt-BR" dirty="0"/>
              <a:t>, conforme visto na figura ao lado.</a:t>
            </a:r>
          </a:p>
          <a:p>
            <a:r>
              <a:rPr lang="pt-BR" dirty="0"/>
              <a:t>O valor previsto para cada trecho é sempre o </a:t>
            </a:r>
            <a:r>
              <a:rPr lang="pt-BR" b="1" dirty="0">
                <a:solidFill>
                  <a:srgbClr val="00B050"/>
                </a:solidFill>
              </a:rPr>
              <a:t>valor médio</a:t>
            </a:r>
            <a:r>
              <a:rPr lang="pt-BR" dirty="0"/>
              <a:t> dos exemplos </a:t>
            </a:r>
            <a:r>
              <a:rPr lang="pt-BR" b="1" dirty="0">
                <a:solidFill>
                  <a:srgbClr val="00B050"/>
                </a:solidFill>
              </a:rPr>
              <a:t>nesse trecho</a:t>
            </a:r>
            <a:r>
              <a:rPr lang="pt-BR" dirty="0"/>
              <a:t>.</a:t>
            </a:r>
          </a:p>
        </p:txBody>
      </p:sp>
      <p:pic>
        <p:nvPicPr>
          <p:cNvPr id="4" name="Picture 2" descr="../_images/sphx_glr_plot_tree_regression_001.png">
            <a:extLst>
              <a:ext uri="{FF2B5EF4-FFF2-40B4-BE49-F238E27FC236}">
                <a16:creationId xmlns:a16="http://schemas.microsoft.com/office/drawing/2014/main" id="{B95AB935-03CF-444D-A124-A5ABCD677CB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79" t="6852" r="9556" b="2180"/>
          <a:stretch/>
        </p:blipFill>
        <p:spPr bwMode="auto">
          <a:xfrm>
            <a:off x="184484" y="2333104"/>
            <a:ext cx="4199021" cy="3253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2855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Diferenças entre ID3 e CART</a:t>
            </a:r>
          </a:p>
        </p:txBody>
      </p:sp>
      <p:sp>
        <p:nvSpPr>
          <p:cNvPr id="3" name="Espaço Reservado para Conteúdo 2"/>
          <p:cNvSpPr>
            <a:spLocks noGrp="1"/>
          </p:cNvSpPr>
          <p:nvPr>
            <p:ph idx="1"/>
          </p:nvPr>
        </p:nvSpPr>
        <p:spPr/>
        <p:txBody>
          <a:bodyPr>
            <a:normAutofit fontScale="25000" lnSpcReduction="20000"/>
          </a:bodyPr>
          <a:lstStyle/>
          <a:p>
            <a:endParaRPr lang="pt-BR" dirty="0"/>
          </a:p>
          <a:p>
            <a:r>
              <a:rPr lang="pt-BR" b="1" dirty="0"/>
              <a:t>🌳 Diferença entre CART e ID3</a:t>
            </a:r>
          </a:p>
          <a:p>
            <a:r>
              <a:rPr lang="pt-BR" b="1" dirty="0"/>
              <a:t>🔹 1. Tipo de problema</a:t>
            </a:r>
          </a:p>
          <a:p>
            <a:r>
              <a:rPr lang="pt-BR" b="1" dirty="0"/>
              <a:t>ID3</a:t>
            </a:r>
            <a:endParaRPr lang="pt-BR" dirty="0"/>
          </a:p>
          <a:p>
            <a:pPr lvl="1"/>
            <a:r>
              <a:rPr lang="pt-BR" dirty="0"/>
              <a:t>Apenas </a:t>
            </a:r>
            <a:r>
              <a:rPr lang="pt-BR" b="1" dirty="0"/>
              <a:t>classificação</a:t>
            </a:r>
            <a:endParaRPr lang="pt-BR" dirty="0"/>
          </a:p>
          <a:p>
            <a:r>
              <a:rPr lang="pt-BR" b="1" dirty="0"/>
              <a:t>CART</a:t>
            </a:r>
            <a:endParaRPr lang="pt-BR" dirty="0"/>
          </a:p>
          <a:p>
            <a:pPr lvl="1"/>
            <a:r>
              <a:rPr lang="pt-BR" b="1" dirty="0"/>
              <a:t>Classificação + regressão</a:t>
            </a:r>
            <a:endParaRPr lang="pt-BR" dirty="0"/>
          </a:p>
          <a:p>
            <a:r>
              <a:rPr lang="pt-BR" dirty="0"/>
              <a:t>👉 CART é mais geral (</a:t>
            </a:r>
            <a:r>
              <a:rPr lang="pt-BR" dirty="0">
                <a:hlinkClick r:id="rId3" tooltip="The differences between CART and ID3, C4.5 in feature selection within decision tree algorithms can have significant impacts on actual applications. Which one performs better is yet to be determined.-zhihu"/>
              </a:rPr>
              <a:t>zhihu.com</a:t>
            </a:r>
            <a:r>
              <a:rPr lang="pt-BR" dirty="0"/>
              <a:t>)</a:t>
            </a:r>
          </a:p>
          <a:p>
            <a:r>
              <a:rPr lang="pt-BR" b="1" dirty="0"/>
              <a:t>🔹 2. Critério de divisão (</a:t>
            </a:r>
            <a:r>
              <a:rPr lang="pt-BR" b="1" dirty="0" err="1"/>
              <a:t>split</a:t>
            </a:r>
            <a:r>
              <a:rPr lang="pt-BR" b="1" dirty="0"/>
              <a:t>)</a:t>
            </a:r>
          </a:p>
          <a:p>
            <a:r>
              <a:rPr lang="pt-BR" b="1" dirty="0"/>
              <a:t>ID3</a:t>
            </a:r>
            <a:endParaRPr lang="pt-BR" dirty="0"/>
          </a:p>
          <a:p>
            <a:pPr lvl="1"/>
            <a:r>
              <a:rPr lang="pt-BR" dirty="0"/>
              <a:t>Usa </a:t>
            </a:r>
            <a:r>
              <a:rPr lang="pt-BR" b="1" dirty="0" err="1"/>
              <a:t>Information</a:t>
            </a:r>
            <a:r>
              <a:rPr lang="pt-BR" b="1" dirty="0"/>
              <a:t> </a:t>
            </a:r>
            <a:r>
              <a:rPr lang="pt-BR" b="1" dirty="0" err="1"/>
              <a:t>Gain</a:t>
            </a:r>
            <a:r>
              <a:rPr lang="pt-BR" b="1" dirty="0"/>
              <a:t> (entropia)</a:t>
            </a:r>
            <a:endParaRPr lang="pt-BR" dirty="0"/>
          </a:p>
          <a:p>
            <a:pPr lvl="1"/>
            <a:r>
              <a:rPr lang="pt-BR" dirty="0"/>
              <a:t>Escolhe o atributo que mais reduz a incerteza</a:t>
            </a:r>
          </a:p>
          <a:p>
            <a:r>
              <a:rPr lang="pt-BR" b="1" dirty="0"/>
              <a:t>CART</a:t>
            </a:r>
            <a:endParaRPr lang="pt-BR" dirty="0"/>
          </a:p>
          <a:p>
            <a:pPr lvl="1"/>
            <a:r>
              <a:rPr lang="pt-BR" dirty="0"/>
              <a:t>Classificação → </a:t>
            </a:r>
            <a:r>
              <a:rPr lang="pt-BR" b="1" dirty="0" err="1"/>
              <a:t>Gini</a:t>
            </a:r>
            <a:endParaRPr lang="pt-BR" dirty="0"/>
          </a:p>
          <a:p>
            <a:pPr lvl="1"/>
            <a:r>
              <a:rPr lang="pt-BR" dirty="0"/>
              <a:t>Regressão → </a:t>
            </a:r>
            <a:r>
              <a:rPr lang="pt-BR" b="1" dirty="0"/>
              <a:t>erro quadrático (MSE)</a:t>
            </a:r>
            <a:endParaRPr lang="pt-BR" dirty="0"/>
          </a:p>
          <a:p>
            <a:r>
              <a:rPr lang="pt-BR" dirty="0"/>
              <a:t>👉 Principal diferença prática (</a:t>
            </a:r>
            <a:r>
              <a:rPr lang="pt-BR" dirty="0" err="1">
                <a:hlinkClick r:id="rId4" tooltip="r - Can someone explain me the difference between ID3 and CART algorithm? - Stack Overflow"/>
              </a:rPr>
              <a:t>Stack</a:t>
            </a:r>
            <a:r>
              <a:rPr lang="pt-BR" dirty="0">
                <a:hlinkClick r:id="rId4" tooltip="r - Can someone explain me the difference between ID3 and CART algorithm? - Stack Overflow"/>
              </a:rPr>
              <a:t> Overflow</a:t>
            </a:r>
            <a:r>
              <a:rPr lang="pt-BR" dirty="0"/>
              <a:t>)</a:t>
            </a:r>
          </a:p>
          <a:p>
            <a:r>
              <a:rPr lang="pt-BR" b="1" dirty="0"/>
              <a:t>🔹 3. Formato da árvore</a:t>
            </a:r>
          </a:p>
          <a:p>
            <a:r>
              <a:rPr lang="pt-BR" b="1" dirty="0"/>
              <a:t>ID3</a:t>
            </a:r>
            <a:endParaRPr lang="pt-BR" dirty="0"/>
          </a:p>
          <a:p>
            <a:pPr lvl="1"/>
            <a:r>
              <a:rPr lang="pt-BR" dirty="0"/>
              <a:t>Pode gerar </a:t>
            </a:r>
            <a:r>
              <a:rPr lang="pt-BR" b="1" dirty="0"/>
              <a:t>múltiplos ramos</a:t>
            </a:r>
            <a:endParaRPr lang="pt-BR" dirty="0"/>
          </a:p>
          <a:p>
            <a:pPr lvl="1"/>
            <a:r>
              <a:rPr lang="pt-BR" dirty="0" err="1"/>
              <a:t>Ex</a:t>
            </a:r>
            <a:r>
              <a:rPr lang="pt-BR" dirty="0"/>
              <a:t>:</a:t>
            </a:r>
          </a:p>
          <a:p>
            <a:pPr lvl="1"/>
            <a:r>
              <a:rPr lang="pt-BR" dirty="0"/>
              <a:t>Cor = {vermelho, azul, verde} → 3 ramos </a:t>
            </a:r>
          </a:p>
          <a:p>
            <a:r>
              <a:rPr lang="pt-BR" b="1" dirty="0"/>
              <a:t>CART</a:t>
            </a:r>
            <a:endParaRPr lang="pt-BR" dirty="0"/>
          </a:p>
          <a:p>
            <a:pPr lvl="1"/>
            <a:r>
              <a:rPr lang="pt-BR" dirty="0"/>
              <a:t>Sempre </a:t>
            </a:r>
            <a:r>
              <a:rPr lang="pt-BR" b="1" dirty="0"/>
              <a:t>binária (2 ramos)</a:t>
            </a:r>
            <a:endParaRPr lang="pt-BR" dirty="0"/>
          </a:p>
          <a:p>
            <a:pPr lvl="1"/>
            <a:r>
              <a:rPr lang="pt-BR" dirty="0" err="1"/>
              <a:t>Ex</a:t>
            </a:r>
            <a:r>
              <a:rPr lang="pt-BR" dirty="0"/>
              <a:t>:</a:t>
            </a:r>
          </a:p>
          <a:p>
            <a:pPr lvl="1"/>
            <a:r>
              <a:rPr lang="pt-BR" dirty="0"/>
              <a:t>Cor ∈ {vermelho}? → sim/não </a:t>
            </a:r>
          </a:p>
          <a:p>
            <a:r>
              <a:rPr lang="pt-BR" dirty="0"/>
              <a:t>👉 CART = árvore binária (</a:t>
            </a:r>
            <a:r>
              <a:rPr lang="pt-BR" dirty="0" err="1">
                <a:hlinkClick r:id="rId4" tooltip="r - Can someone explain me the difference between ID3 and CART algorithm? - Stack Overflow"/>
              </a:rPr>
              <a:t>Stack</a:t>
            </a:r>
            <a:r>
              <a:rPr lang="pt-BR" dirty="0">
                <a:hlinkClick r:id="rId4" tooltip="r - Can someone explain me the difference between ID3 and CART algorithm? - Stack Overflow"/>
              </a:rPr>
              <a:t> Overflow</a:t>
            </a:r>
            <a:r>
              <a:rPr lang="pt-BR" dirty="0"/>
              <a:t>)</a:t>
            </a:r>
          </a:p>
          <a:p>
            <a:r>
              <a:rPr lang="pt-BR" b="1" dirty="0"/>
              <a:t>🔹 4. Tipo de atributos</a:t>
            </a:r>
          </a:p>
          <a:p>
            <a:r>
              <a:rPr lang="pt-BR" b="1" dirty="0"/>
              <a:t>ID3</a:t>
            </a:r>
            <a:endParaRPr lang="pt-BR" dirty="0"/>
          </a:p>
          <a:p>
            <a:pPr lvl="1"/>
            <a:r>
              <a:rPr lang="pt-BR" dirty="0"/>
              <a:t>Funciona melhor com </a:t>
            </a:r>
            <a:r>
              <a:rPr lang="pt-BR" b="1" dirty="0"/>
              <a:t>dados categóricos</a:t>
            </a:r>
            <a:endParaRPr lang="pt-BR" dirty="0"/>
          </a:p>
          <a:p>
            <a:pPr lvl="1"/>
            <a:r>
              <a:rPr lang="pt-BR" dirty="0"/>
              <a:t>Não lida bem com contínuos</a:t>
            </a:r>
          </a:p>
          <a:p>
            <a:r>
              <a:rPr lang="pt-BR" b="1" dirty="0"/>
              <a:t>CART</a:t>
            </a:r>
            <a:endParaRPr lang="pt-BR" dirty="0"/>
          </a:p>
          <a:p>
            <a:pPr lvl="1"/>
            <a:r>
              <a:rPr lang="pt-BR" dirty="0"/>
              <a:t>Lida naturalmente com:</a:t>
            </a:r>
          </a:p>
          <a:p>
            <a:pPr lvl="2"/>
            <a:r>
              <a:rPr lang="pt-BR" dirty="0"/>
              <a:t>dados </a:t>
            </a:r>
            <a:r>
              <a:rPr lang="pt-BR" b="1" dirty="0"/>
              <a:t>contínuos</a:t>
            </a:r>
            <a:endParaRPr lang="pt-BR" dirty="0"/>
          </a:p>
          <a:p>
            <a:pPr lvl="2"/>
            <a:r>
              <a:rPr lang="pt-BR" dirty="0"/>
              <a:t>dados categóricos</a:t>
            </a:r>
          </a:p>
          <a:p>
            <a:r>
              <a:rPr lang="pt-BR" dirty="0"/>
              <a:t>👉 Mais flexível na prática (</a:t>
            </a:r>
            <a:r>
              <a:rPr lang="pt-BR" dirty="0">
                <a:hlinkClick r:id="rId5" tooltip="The differences between CART and ID3, C4.5 in feature selection within decision tree algorithms can have impacts on actual applications. Which one performs better is not clear.-zhihu"/>
              </a:rPr>
              <a:t>zhihu.com</a:t>
            </a:r>
            <a:r>
              <a:rPr lang="pt-BR" dirty="0"/>
              <a:t>)</a:t>
            </a:r>
          </a:p>
          <a:p>
            <a:r>
              <a:rPr lang="pt-BR" b="1" dirty="0"/>
              <a:t>🔹 5. </a:t>
            </a:r>
            <a:r>
              <a:rPr lang="pt-BR" b="1" dirty="0" err="1"/>
              <a:t>Overfitting</a:t>
            </a:r>
            <a:r>
              <a:rPr lang="pt-BR" b="1" dirty="0"/>
              <a:t> / poda</a:t>
            </a:r>
          </a:p>
          <a:p>
            <a:r>
              <a:rPr lang="pt-BR" b="1" dirty="0"/>
              <a:t>ID3</a:t>
            </a:r>
            <a:endParaRPr lang="pt-BR" dirty="0"/>
          </a:p>
          <a:p>
            <a:pPr lvl="1"/>
            <a:r>
              <a:rPr lang="pt-BR" dirty="0"/>
              <a:t>Não possui poda nativa</a:t>
            </a:r>
          </a:p>
          <a:p>
            <a:pPr lvl="1"/>
            <a:r>
              <a:rPr lang="pt-BR" dirty="0"/>
              <a:t>Pode gerar árvores muito profundas</a:t>
            </a:r>
          </a:p>
          <a:p>
            <a:r>
              <a:rPr lang="pt-BR" b="1" dirty="0"/>
              <a:t>CART</a:t>
            </a:r>
            <a:endParaRPr lang="pt-BR" dirty="0"/>
          </a:p>
          <a:p>
            <a:pPr lvl="1"/>
            <a:r>
              <a:rPr lang="pt-BR" dirty="0"/>
              <a:t>Usa </a:t>
            </a:r>
            <a:r>
              <a:rPr lang="pt-BR" b="1" dirty="0" err="1"/>
              <a:t>pruning</a:t>
            </a:r>
            <a:r>
              <a:rPr lang="pt-BR" b="1" dirty="0"/>
              <a:t> (poda)</a:t>
            </a:r>
            <a:endParaRPr lang="pt-BR" dirty="0"/>
          </a:p>
          <a:p>
            <a:pPr lvl="1"/>
            <a:r>
              <a:rPr lang="pt-BR" dirty="0"/>
              <a:t>Melhor generalização</a:t>
            </a:r>
          </a:p>
          <a:p>
            <a:r>
              <a:rPr lang="pt-BR" dirty="0"/>
              <a:t>👉 CART é mais robusto (</a:t>
            </a:r>
            <a:r>
              <a:rPr lang="pt-BR" dirty="0" err="1">
                <a:hlinkClick r:id="rId6" tooltip="CART, C4.5, ID3 Algorithms – Praudyog"/>
              </a:rPr>
              <a:t>Praudyog</a:t>
            </a:r>
            <a:r>
              <a:rPr lang="pt-BR" dirty="0"/>
              <a:t>)</a:t>
            </a:r>
          </a:p>
          <a:p>
            <a:r>
              <a:rPr lang="pt-BR" b="1" dirty="0"/>
              <a:t>🧠 Intuição simples</a:t>
            </a:r>
          </a:p>
          <a:p>
            <a:r>
              <a:rPr lang="pt-BR" b="1" dirty="0"/>
              <a:t>🔵 ID3:</a:t>
            </a:r>
          </a:p>
          <a:p>
            <a:r>
              <a:rPr lang="pt-BR" dirty="0"/>
              <a:t>“Escolhe a variável que mais reduz a incerteza e cria vários ramos”</a:t>
            </a:r>
          </a:p>
          <a:p>
            <a:r>
              <a:rPr lang="pt-BR" b="1" dirty="0"/>
              <a:t>🌲 CART:</a:t>
            </a:r>
          </a:p>
          <a:p>
            <a:r>
              <a:rPr lang="pt-BR" dirty="0"/>
              <a:t>“Divide sempre em dois grupos e otimiza a pureza (</a:t>
            </a:r>
            <a:r>
              <a:rPr lang="pt-BR" dirty="0" err="1"/>
              <a:t>Gini</a:t>
            </a:r>
            <a:r>
              <a:rPr lang="pt-BR" dirty="0"/>
              <a:t> ou erro)”</a:t>
            </a:r>
          </a:p>
          <a:p>
            <a:r>
              <a:rPr lang="pt-BR" b="1" dirty="0"/>
              <a:t>📊 Resumo final</a:t>
            </a:r>
          </a:p>
          <a:p>
            <a:r>
              <a:rPr lang="pt-BR" dirty="0"/>
              <a:t>CaracterísticaID3CARTTipoClassificaçãoClassificação + </a:t>
            </a:r>
            <a:r>
              <a:rPr lang="pt-BR" dirty="0" err="1"/>
              <a:t>RegressãoCritérioEntropia</a:t>
            </a:r>
            <a:r>
              <a:rPr lang="pt-BR" dirty="0"/>
              <a:t> (Info </a:t>
            </a:r>
            <a:r>
              <a:rPr lang="pt-BR" dirty="0" err="1"/>
              <a:t>Gain</a:t>
            </a:r>
            <a:r>
              <a:rPr lang="pt-BR" dirty="0"/>
              <a:t>)</a:t>
            </a:r>
            <a:r>
              <a:rPr lang="pt-BR" dirty="0" err="1"/>
              <a:t>Gini</a:t>
            </a:r>
            <a:r>
              <a:rPr lang="pt-BR" dirty="0"/>
              <a:t> / </a:t>
            </a:r>
            <a:r>
              <a:rPr lang="pt-BR" dirty="0" err="1"/>
              <a:t>MSEEstruturaMulti-ramoBináriaDados</a:t>
            </a:r>
            <a:r>
              <a:rPr lang="pt-BR" dirty="0"/>
              <a:t> </a:t>
            </a:r>
            <a:r>
              <a:rPr lang="pt-BR" dirty="0" err="1"/>
              <a:t>contínuosLimitadoNaturalPodaNãoSim</a:t>
            </a:r>
            <a:r>
              <a:rPr lang="pt-BR" b="1" dirty="0"/>
              <a:t>🎯 Conclusão (bem direta)</a:t>
            </a:r>
          </a:p>
          <a:p>
            <a:r>
              <a:rPr lang="pt-BR" dirty="0"/>
              <a:t>👉 </a:t>
            </a:r>
            <a:r>
              <a:rPr lang="pt-BR" b="1" dirty="0"/>
              <a:t>ID3 é mais simples e didático</a:t>
            </a:r>
            <a:br>
              <a:rPr lang="pt-BR" dirty="0"/>
            </a:br>
            <a:r>
              <a:rPr lang="pt-BR" dirty="0"/>
              <a:t>👉 </a:t>
            </a:r>
            <a:r>
              <a:rPr lang="pt-BR" b="1" dirty="0"/>
              <a:t>CART é mais usado na prática (</a:t>
            </a:r>
            <a:r>
              <a:rPr lang="pt-BR" b="1" dirty="0" err="1"/>
              <a:t>ex</a:t>
            </a:r>
            <a:r>
              <a:rPr lang="pt-BR" b="1" dirty="0"/>
              <a:t>: </a:t>
            </a:r>
            <a:r>
              <a:rPr lang="pt-BR" b="1" dirty="0" err="1"/>
              <a:t>scikit-learn</a:t>
            </a:r>
            <a:r>
              <a:rPr lang="pt-BR" b="1" dirty="0"/>
              <a:t>)</a:t>
            </a:r>
            <a:endParaRPr lang="pt-BR" dirty="0"/>
          </a:p>
          <a:p>
            <a:endParaRPr lang="pt-BR" dirty="0"/>
          </a:p>
          <a:p>
            <a:pPr marL="0" indent="0">
              <a:buNone/>
            </a:pPr>
            <a:endParaRPr lang="pt-BR" dirty="0"/>
          </a:p>
        </p:txBody>
      </p:sp>
    </p:spTree>
    <p:extLst>
      <p:ext uri="{BB962C8B-B14F-4D97-AF65-F5344CB8AC3E}">
        <p14:creationId xmlns:p14="http://schemas.microsoft.com/office/powerpoint/2010/main" val="38955017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AB8438-E56E-2412-517C-8456E4CA773C}"/>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F7E2B09C-6D56-4C9F-A364-B904CCE2F1A0}"/>
              </a:ext>
            </a:extLst>
          </p:cNvPr>
          <p:cNvSpPr>
            <a:spLocks noGrp="1"/>
          </p:cNvSpPr>
          <p:nvPr>
            <p:ph idx="1"/>
          </p:nvPr>
        </p:nvSpPr>
        <p:spPr/>
        <p:txBody>
          <a:bodyPr/>
          <a:lstStyle/>
          <a:p>
            <a:r>
              <a:rPr lang="pt-BR" dirty="0"/>
              <a:t>Exemplo: </a:t>
            </a:r>
            <a:r>
              <a:rPr lang="pt-BR" dirty="0" err="1"/>
              <a:t>árvores_de_decisão.ipynb</a:t>
            </a:r>
            <a:endParaRPr lang="en-US" dirty="0"/>
          </a:p>
        </p:txBody>
      </p:sp>
      <p:grpSp>
        <p:nvGrpSpPr>
          <p:cNvPr id="18" name="Group 17">
            <a:extLst>
              <a:ext uri="{FF2B5EF4-FFF2-40B4-BE49-F238E27FC236}">
                <a16:creationId xmlns:a16="http://schemas.microsoft.com/office/drawing/2014/main" id="{627C64FD-88E0-EC8E-2A34-0D5737B4C854}"/>
              </a:ext>
            </a:extLst>
          </p:cNvPr>
          <p:cNvGrpSpPr/>
          <p:nvPr/>
        </p:nvGrpSpPr>
        <p:grpSpPr>
          <a:xfrm>
            <a:off x="1752685" y="2681262"/>
            <a:ext cx="8371070" cy="2659743"/>
            <a:chOff x="1752685" y="2681262"/>
            <a:chExt cx="8371070" cy="2659743"/>
          </a:xfrm>
        </p:grpSpPr>
        <p:pic>
          <p:nvPicPr>
            <p:cNvPr id="12" name="Picture 4" descr="Project Jupyter | Try Jupyter">
              <a:extLst>
                <a:ext uri="{FF2B5EF4-FFF2-40B4-BE49-F238E27FC236}">
                  <a16:creationId xmlns:a16="http://schemas.microsoft.com/office/drawing/2014/main" id="{FF92EA36-91E7-292B-D7A0-2D4D83A10F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1027" y="3102450"/>
              <a:ext cx="3461657" cy="181737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Google Colaboratory Colab - Guía Completa Español - Marketing Branding">
              <a:extLst>
                <a:ext uri="{FF2B5EF4-FFF2-40B4-BE49-F238E27FC236}">
                  <a16:creationId xmlns:a16="http://schemas.microsoft.com/office/drawing/2014/main" id="{46F1718A-89E6-9E63-E40B-2B19852D6AA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865" r="10641"/>
            <a:stretch/>
          </p:blipFill>
          <p:spPr bwMode="auto">
            <a:xfrm>
              <a:off x="6792684" y="2681262"/>
              <a:ext cx="3331071" cy="265974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IT12A01: FUNDAMENTALS OF PYTHON PROGRAMMING (SF) (SYNCHRONOUS E-LEARNING) -  NTUC LearningHub">
              <a:extLst>
                <a:ext uri="{FF2B5EF4-FFF2-40B4-BE49-F238E27FC236}">
                  <a16:creationId xmlns:a16="http://schemas.microsoft.com/office/drawing/2014/main" id="{33F6B1B4-9B79-D634-3E35-33F24609C84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3319" r="20198"/>
            <a:stretch/>
          </p:blipFill>
          <p:spPr bwMode="auto">
            <a:xfrm>
              <a:off x="1752685" y="3176833"/>
              <a:ext cx="1894114" cy="1877924"/>
            </a:xfrm>
            <a:prstGeom prst="rect">
              <a:avLst/>
            </a:prstGeom>
            <a:noFill/>
            <a:extLst>
              <a:ext uri="{909E8E84-426E-40DD-AFC4-6F175D3DCCD1}">
                <a14:hiddenFill xmlns:a14="http://schemas.microsoft.com/office/drawing/2010/main">
                  <a:solidFill>
                    <a:srgbClr val="FFFFFF"/>
                  </a:solidFill>
                </a14:hiddenFill>
              </a:ext>
            </a:extLst>
          </p:spPr>
        </p:pic>
        <p:sp>
          <p:nvSpPr>
            <p:cNvPr id="15" name="Sinal de Adição 7">
              <a:extLst>
                <a:ext uri="{FF2B5EF4-FFF2-40B4-BE49-F238E27FC236}">
                  <a16:creationId xmlns:a16="http://schemas.microsoft.com/office/drawing/2014/main" id="{6959EE6C-DCDB-E78B-5C50-EBD3FF3049E2}"/>
                </a:ext>
              </a:extLst>
            </p:cNvPr>
            <p:cNvSpPr>
              <a:spLocks noChangeAspect="1"/>
            </p:cNvSpPr>
            <p:nvPr/>
          </p:nvSpPr>
          <p:spPr>
            <a:xfrm>
              <a:off x="3646799" y="3545037"/>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Sinal de Adição 10">
              <a:extLst>
                <a:ext uri="{FF2B5EF4-FFF2-40B4-BE49-F238E27FC236}">
                  <a16:creationId xmlns:a16="http://schemas.microsoft.com/office/drawing/2014/main" id="{30A21FDB-ABA6-9FD5-49EF-7762414AEF0C}"/>
                </a:ext>
              </a:extLst>
            </p:cNvPr>
            <p:cNvSpPr>
              <a:spLocks noChangeAspect="1"/>
            </p:cNvSpPr>
            <p:nvPr/>
          </p:nvSpPr>
          <p:spPr>
            <a:xfrm>
              <a:off x="6096043" y="3467980"/>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32093325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9AE95-3E0A-F9BB-A3FD-4C328EF25334}"/>
              </a:ext>
            </a:extLst>
          </p:cNvPr>
          <p:cNvSpPr>
            <a:spLocks noGrp="1"/>
          </p:cNvSpPr>
          <p:nvPr>
            <p:ph type="title"/>
          </p:nvPr>
        </p:nvSpPr>
        <p:spPr/>
        <p:txBody>
          <a:bodyPr/>
          <a:lstStyle/>
          <a:p>
            <a:r>
              <a:rPr lang="pt-BR" dirty="0"/>
              <a:t>Lista de exercícios</a:t>
            </a:r>
            <a:endParaRPr lang="en-US" dirty="0"/>
          </a:p>
        </p:txBody>
      </p:sp>
      <p:sp>
        <p:nvSpPr>
          <p:cNvPr id="3" name="Content Placeholder 2">
            <a:extLst>
              <a:ext uri="{FF2B5EF4-FFF2-40B4-BE49-F238E27FC236}">
                <a16:creationId xmlns:a16="http://schemas.microsoft.com/office/drawing/2014/main" id="{A431927B-FE56-CB25-3ECF-AB5E92A7DC71}"/>
              </a:ext>
            </a:extLst>
          </p:cNvPr>
          <p:cNvSpPr>
            <a:spLocks noGrp="1"/>
          </p:cNvSpPr>
          <p:nvPr>
            <p:ph idx="1"/>
          </p:nvPr>
        </p:nvSpPr>
        <p:spPr/>
        <p:txBody>
          <a:bodyPr/>
          <a:lstStyle/>
          <a:p>
            <a:pPr marL="0" indent="0">
              <a:buNone/>
            </a:pPr>
            <a:r>
              <a:rPr lang="en-US" dirty="0"/>
              <a:t>Lista #12 – </a:t>
            </a:r>
            <a:r>
              <a:rPr lang="en-US" dirty="0" err="1"/>
              <a:t>Árvores</a:t>
            </a:r>
            <a:r>
              <a:rPr lang="en-US" dirty="0"/>
              <a:t> de </a:t>
            </a:r>
            <a:r>
              <a:rPr lang="en-US" dirty="0" err="1"/>
              <a:t>decisão</a:t>
            </a:r>
            <a:endParaRPr lang="en-US" dirty="0"/>
          </a:p>
        </p:txBody>
      </p:sp>
    </p:spTree>
    <p:extLst>
      <p:ext uri="{BB962C8B-B14F-4D97-AF65-F5344CB8AC3E}">
        <p14:creationId xmlns:p14="http://schemas.microsoft.com/office/powerpoint/2010/main" val="23920531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37730056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26557046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36B3969D-354D-EBE2-F705-F51DD499FD33}"/>
              </a:ext>
            </a:extLst>
          </p:cNvPr>
          <p:cNvSpPr>
            <a:spLocks noGrp="1"/>
          </p:cNvSpPr>
          <p:nvPr>
            <p:ph idx="1"/>
          </p:nvPr>
        </p:nvSpPr>
        <p:spPr>
          <a:xfrm>
            <a:off x="838200" y="2555240"/>
            <a:ext cx="10515600" cy="1747520"/>
          </a:xfrm>
        </p:spPr>
        <p:txBody>
          <a:bodyPr>
            <a:normAutofit/>
          </a:bodyPr>
          <a:lstStyle/>
          <a:p>
            <a:pPr marL="0" indent="0" algn="ctr">
              <a:buNone/>
            </a:pPr>
            <a:r>
              <a:rPr lang="pt-BR" sz="5400" dirty="0"/>
              <a:t>Anexo I: Cálculo da entropia para mais de duas classes </a:t>
            </a:r>
          </a:p>
        </p:txBody>
      </p:sp>
    </p:spTree>
    <p:extLst>
      <p:ext uri="{BB962C8B-B14F-4D97-AF65-F5344CB8AC3E}">
        <p14:creationId xmlns:p14="http://schemas.microsoft.com/office/powerpoint/2010/main" val="1919017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756336735"/>
              </p:ext>
            </p:extLst>
          </p:nvPr>
        </p:nvGraphicFramePr>
        <p:xfrm>
          <a:off x="9206674" y="1652214"/>
          <a:ext cx="2857500" cy="1508760"/>
        </p:xfrm>
        <a:graphic>
          <a:graphicData uri="http://schemas.openxmlformats.org/drawingml/2006/table">
            <a:tbl>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tblGrid>
              <a:tr h="200025">
                <a:tc gridSpan="2">
                  <a:txBody>
                    <a:bodyPr/>
                    <a:lstStyle/>
                    <a:p>
                      <a:pPr algn="ctr" rtl="0" fontAlgn="b"/>
                      <a:r>
                        <a:rPr lang="pt-BR" sz="1400" b="1" dirty="0">
                          <a:effectLst/>
                        </a:rPr>
                        <a:t>Atributos</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a:txBody>
                    <a:bodyPr/>
                    <a:lstStyle/>
                    <a:p>
                      <a:pPr algn="ctr" rtl="0" fontAlgn="b"/>
                      <a:r>
                        <a:rPr lang="pt-BR" sz="1400" b="1">
                          <a:effectLst/>
                        </a:rPr>
                        <a:t>Rótulos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a:txBody>
                    <a:bodyPr/>
                    <a:lstStyle/>
                    <a:p>
                      <a:pPr algn="ctr" rtl="0" fontAlgn="b"/>
                      <a:r>
                        <a:rPr lang="pt-BR" sz="1400" b="1">
                          <a:effectLst/>
                        </a:rPr>
                        <a:t>x1</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a:effectLst/>
                        </a:rPr>
                        <a:t>x2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a:effectLst/>
                        </a:rPr>
                        <a:t>Classe (y)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00025">
                <a:tc>
                  <a:txBody>
                    <a:bodyPr/>
                    <a:lstStyle/>
                    <a:p>
                      <a:pPr algn="ctr" rtl="0" fontAlgn="b"/>
                      <a:r>
                        <a:rPr lang="pt-BR" sz="1400">
                          <a:effectLst/>
                        </a:rPr>
                        <a:t>0</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algn="ctr" rtl="0" fontAlgn="b"/>
                      <a:r>
                        <a:rPr lang="pt-BR" sz="1400">
                          <a:effectLst/>
                        </a:rPr>
                        <a:t>2</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algn="ctr" rtl="0" fontAlgn="b"/>
                      <a:r>
                        <a:rPr lang="pt-BR" sz="1400">
                          <a:effectLst/>
                        </a:rPr>
                        <a:t>1</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00025">
                <a:tc>
                  <a:txBody>
                    <a:bodyPr/>
                    <a:lstStyle/>
                    <a:p>
                      <a:pPr algn="ctr" rtl="0" fontAlgn="b"/>
                      <a:r>
                        <a:rPr lang="pt-BR" sz="1400">
                          <a:effectLst/>
                        </a:rPr>
                        <a:t>3</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6" name="Rectangle 5"/>
              <p:cNvSpPr/>
              <p:nvPr/>
            </p:nvSpPr>
            <p:spPr>
              <a:xfrm>
                <a:off x="813846" y="1357783"/>
                <a:ext cx="8392828" cy="3761671"/>
              </a:xfrm>
              <a:prstGeom prst="rect">
                <a:avLst/>
              </a:prstGeom>
            </p:spPr>
            <p:txBody>
              <a:bodyPr wrap="square">
                <a:spAutoFit/>
              </a:bodyPr>
              <a:lstStyle/>
              <a:p>
                <a:pPr marL="285750" indent="-285750">
                  <a:buFont typeface="Arial" panose="020B0604020202020204" pitchFamily="34" charset="0"/>
                  <a:buChar char="•"/>
                </a:pPr>
                <a:r>
                  <a:rPr lang="pt-BR" dirty="0"/>
                  <a:t>Veja a tabela ao lado com os exemplos de treinamento.</a:t>
                </a:r>
              </a:p>
              <a:p>
                <a:pPr marL="285750" indent="-285750">
                  <a:buFont typeface="Arial" panose="020B0604020202020204" pitchFamily="34" charset="0"/>
                  <a:buChar char="•"/>
                </a:pPr>
                <a:r>
                  <a:rPr lang="pt-BR" dirty="0"/>
                  <a:t>Problema com três classes: 0, 1, e 2. Portanto, o cálculo da entropia terá três termos.</a:t>
                </a:r>
              </a:p>
              <a:p>
                <a:pPr marL="285750" indent="-285750">
                  <a:buFont typeface="Arial" panose="020B0604020202020204" pitchFamily="34" charset="0"/>
                  <a:buChar char="•"/>
                </a:pPr>
                <a:r>
                  <a:rPr lang="pt-BR" dirty="0"/>
                  <a:t>A </a:t>
                </a:r>
                <a:r>
                  <a:rPr lang="pt-BR" b="1" i="1" dirty="0"/>
                  <a:t>entropia</a:t>
                </a:r>
                <a:r>
                  <a:rPr lang="pt-BR" dirty="0"/>
                  <a:t> do objetivo, i.e., </a:t>
                </a:r>
                <a14:m>
                  <m:oMath xmlns:m="http://schemas.openxmlformats.org/officeDocument/2006/math">
                    <m:r>
                      <a:rPr lang="pt-BR" i="1">
                        <a:latin typeface="Cambria Math" panose="02040503050406030204" pitchFamily="18" charset="0"/>
                      </a:rPr>
                      <m:t>𝑦</m:t>
                    </m:r>
                  </m:oMath>
                </a14:m>
                <a:r>
                  <a:rPr lang="pt-BR" dirty="0"/>
                  <a:t>, para o conjunto de treinamento é</a:t>
                </a:r>
              </a:p>
              <a:p>
                <a:pPr algn="ct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𝑦</m:t>
                          </m:r>
                        </m:e>
                      </m:d>
                      <m:r>
                        <a:rPr lang="pt-BR" i="1">
                          <a:latin typeface="Cambria Math" panose="02040503050406030204" pitchFamily="18" charset="0"/>
                        </a:rPr>
                        <m:t>=−</m:t>
                      </m:r>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2</m:t>
                              </m:r>
                            </m:num>
                            <m:den>
                              <m:r>
                                <a:rPr lang="pt-BR" b="0" i="1" smtClean="0">
                                  <a:latin typeface="Cambria Math" panose="02040503050406030204" pitchFamily="18" charset="0"/>
                                </a:rPr>
                                <m:t>4</m:t>
                              </m:r>
                            </m:den>
                          </m:f>
                          <m:func>
                            <m:funcPr>
                              <m:ctrlPr>
                                <a:rPr lang="pt-BR" i="1">
                                  <a:latin typeface="Cambria Math" panose="02040503050406030204" pitchFamily="18" charset="0"/>
                                </a:rPr>
                              </m:ctrlPr>
                            </m:funcPr>
                            <m:fName>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fName>
                            <m:e>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2</m:t>
                                      </m:r>
                                    </m:num>
                                    <m:den>
                                      <m:r>
                                        <a:rPr lang="pt-BR" b="0" i="1" smtClean="0">
                                          <a:latin typeface="Cambria Math" panose="02040503050406030204" pitchFamily="18" charset="0"/>
                                        </a:rPr>
                                        <m:t>4</m:t>
                                      </m:r>
                                    </m:den>
                                  </m:f>
                                </m:e>
                              </m:d>
                            </m:e>
                          </m:func>
                          <m:r>
                            <a:rPr lang="pt-BR" i="1">
                              <a:latin typeface="Cambria Math" panose="02040503050406030204" pitchFamily="18" charset="0"/>
                            </a:rPr>
                            <m:t>+</m:t>
                          </m:r>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1</m:t>
                                  </m:r>
                                </m:num>
                                <m:den>
                                  <m:r>
                                    <a:rPr lang="pt-BR" b="0" i="1" smtClean="0">
                                      <a:latin typeface="Cambria Math" panose="02040503050406030204" pitchFamily="18" charset="0"/>
                                    </a:rPr>
                                    <m:t>4</m:t>
                                  </m:r>
                                </m:den>
                              </m:f>
                            </m:e>
                          </m:d>
                          <m:func>
                            <m:funcPr>
                              <m:ctrlPr>
                                <a:rPr lang="pt-BR" i="1">
                                  <a:latin typeface="Cambria Math" panose="02040503050406030204" pitchFamily="18" charset="0"/>
                                </a:rPr>
                              </m:ctrlPr>
                            </m:funcPr>
                            <m:fName>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fName>
                            <m:e>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1</m:t>
                                      </m:r>
                                    </m:num>
                                    <m:den>
                                      <m:r>
                                        <a:rPr lang="pt-BR" i="1">
                                          <a:latin typeface="Cambria Math" panose="02040503050406030204" pitchFamily="18" charset="0"/>
                                        </a:rPr>
                                        <m:t>4</m:t>
                                      </m:r>
                                    </m:den>
                                  </m:f>
                                </m:e>
                              </m:d>
                              <m:r>
                                <a:rPr lang="pt-BR" b="0" i="1" smtClean="0">
                                  <a:latin typeface="Cambria Math" panose="02040503050406030204" pitchFamily="18" charset="0"/>
                                </a:rPr>
                                <m:t>+</m:t>
                              </m:r>
                            </m:e>
                          </m:func>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1</m:t>
                                  </m:r>
                                </m:num>
                                <m:den>
                                  <m:r>
                                    <a:rPr lang="pt-BR" i="1">
                                      <a:latin typeface="Cambria Math" panose="02040503050406030204" pitchFamily="18" charset="0"/>
                                    </a:rPr>
                                    <m:t>4</m:t>
                                  </m:r>
                                </m:den>
                              </m:f>
                            </m:e>
                          </m:d>
                          <m:func>
                            <m:funcPr>
                              <m:ctrlPr>
                                <a:rPr lang="pt-BR" i="1">
                                  <a:latin typeface="Cambria Math" panose="02040503050406030204" pitchFamily="18" charset="0"/>
                                </a:rPr>
                              </m:ctrlPr>
                            </m:funcPr>
                            <m:fName>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fName>
                            <m:e>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1</m:t>
                                      </m:r>
                                    </m:num>
                                    <m:den>
                                      <m:r>
                                        <a:rPr lang="pt-BR" i="1">
                                          <a:latin typeface="Cambria Math" panose="02040503050406030204" pitchFamily="18" charset="0"/>
                                        </a:rPr>
                                        <m:t>4</m:t>
                                      </m:r>
                                    </m:den>
                                  </m:f>
                                </m:e>
                              </m:d>
                            </m:e>
                          </m:func>
                        </m:e>
                      </m:d>
                      <m:r>
                        <a:rPr lang="pt-BR">
                          <a:latin typeface="Cambria Math" panose="02040503050406030204" pitchFamily="18" charset="0"/>
                        </a:rPr>
                        <m:t>=</m:t>
                      </m:r>
                      <m:r>
                        <a:rPr lang="pt-BR" b="0" i="0" smtClean="0">
                          <a:latin typeface="Cambria Math" panose="02040503050406030204" pitchFamily="18" charset="0"/>
                        </a:rPr>
                        <m:t>1.5</m:t>
                      </m:r>
                    </m:oMath>
                  </m:oMathPara>
                </a14:m>
                <a:endParaRPr lang="pt-BR" dirty="0"/>
              </a:p>
              <a:p>
                <a:pPr marL="285750" indent="-285750">
                  <a:buFont typeface="Arial" panose="020B0604020202020204" pitchFamily="34" charset="0"/>
                  <a:buChar char="•"/>
                </a:pPr>
                <a:r>
                  <a:rPr lang="pt-BR" dirty="0"/>
                  <a:t>Separando os atributos em tabelas separadas, temos</a:t>
                </a:r>
              </a:p>
              <a:p>
                <a:pPr marL="285750" indent="-285750">
                  <a:buFont typeface="Arial" panose="020B0604020202020204" pitchFamily="34" charset="0"/>
                  <a:buChar char="•"/>
                </a:pPr>
                <a:endParaRPr lang="pt-BR" dirty="0"/>
              </a:p>
              <a:p>
                <a:pPr marL="285750" indent="-285750">
                  <a:buFont typeface="Arial" panose="020B0604020202020204" pitchFamily="34" charset="0"/>
                  <a:buChar char="•"/>
                </a:pPr>
                <a:endParaRPr lang="pt-BR" dirty="0"/>
              </a:p>
              <a:p>
                <a:pPr marL="285750" indent="-285750">
                  <a:buFont typeface="Arial" panose="020B0604020202020204" pitchFamily="34" charset="0"/>
                  <a:buChar char="•"/>
                </a:pPr>
                <a:endParaRPr lang="pt-BR" dirty="0"/>
              </a:p>
              <a:p>
                <a:pPr marL="285750" indent="-285750">
                  <a:buFont typeface="Arial" panose="020B0604020202020204" pitchFamily="34" charset="0"/>
                  <a:buChar char="•"/>
                </a:pPr>
                <a:endParaRPr lang="pt-BR" dirty="0"/>
              </a:p>
              <a:p>
                <a:pPr marL="285750" indent="-285750">
                  <a:buFont typeface="Arial" panose="020B0604020202020204" pitchFamily="34" charset="0"/>
                  <a:buChar char="•"/>
                </a:pPr>
                <a:endParaRPr lang="pt-BR" dirty="0"/>
              </a:p>
              <a:p>
                <a:pPr marL="285750" indent="-285750">
                  <a:buFont typeface="Arial" panose="020B0604020202020204" pitchFamily="34" charset="0"/>
                  <a:buChar char="•"/>
                </a:pPr>
                <a:endParaRPr lang="pt-BR" dirty="0"/>
              </a:p>
              <a:p>
                <a:pPr marL="285750" indent="-285750">
                  <a:buFont typeface="Arial" panose="020B0604020202020204" pitchFamily="34" charset="0"/>
                  <a:buChar char="•"/>
                </a:pPr>
                <a:r>
                  <a:rPr lang="pt-BR" dirty="0"/>
                  <a:t>O </a:t>
                </a:r>
                <a:r>
                  <a:rPr lang="pt-BR" b="1" i="1" dirty="0"/>
                  <a:t>ganho de informação</a:t>
                </a:r>
                <a:r>
                  <a:rPr lang="pt-BR" dirty="0"/>
                  <a:t> de cada atributo é calculado como:</a:t>
                </a:r>
              </a:p>
            </p:txBody>
          </p:sp>
        </mc:Choice>
        <mc:Fallback xmlns="">
          <p:sp>
            <p:nvSpPr>
              <p:cNvPr id="6" name="Rectangle 5"/>
              <p:cNvSpPr>
                <a:spLocks noRot="1" noChangeAspect="1" noMove="1" noResize="1" noEditPoints="1" noAdjustHandles="1" noChangeArrowheads="1" noChangeShapeType="1" noTextEdit="1"/>
              </p:cNvSpPr>
              <p:nvPr/>
            </p:nvSpPr>
            <p:spPr>
              <a:xfrm>
                <a:off x="813846" y="1357783"/>
                <a:ext cx="8392828" cy="3761671"/>
              </a:xfrm>
              <a:prstGeom prst="rect">
                <a:avLst/>
              </a:prstGeom>
              <a:blipFill rotWithShape="0">
                <a:blip r:embed="rId2"/>
                <a:stretch>
                  <a:fillRect l="-509" t="-972" r="-73" b="-1621"/>
                </a:stretch>
              </a:blipFill>
            </p:spPr>
            <p:txBody>
              <a:bodyPr/>
              <a:lstStyle/>
              <a:p>
                <a:r>
                  <a:rPr lang="pt-BR">
                    <a:noFill/>
                  </a:rPr>
                  <a:t> </a:t>
                </a:r>
              </a:p>
            </p:txBody>
          </p:sp>
        </mc:Fallback>
      </mc:AlternateContent>
      <p:graphicFrame>
        <p:nvGraphicFramePr>
          <p:cNvPr id="8" name="Table 7"/>
          <p:cNvGraphicFramePr>
            <a:graphicFrameLocks noGrp="1"/>
          </p:cNvGraphicFramePr>
          <p:nvPr>
            <p:extLst>
              <p:ext uri="{D42A27DB-BD31-4B8C-83A1-F6EECF244321}">
                <p14:modId xmlns:p14="http://schemas.microsoft.com/office/powerpoint/2010/main" val="324001996"/>
              </p:ext>
            </p:extLst>
          </p:nvPr>
        </p:nvGraphicFramePr>
        <p:xfrm>
          <a:off x="2569678" y="3181044"/>
          <a:ext cx="1889044" cy="1508760"/>
        </p:xfrm>
        <a:graphic>
          <a:graphicData uri="http://schemas.openxmlformats.org/drawingml/2006/table">
            <a:tbl>
              <a:tblPr/>
              <a:tblGrid>
                <a:gridCol w="542709">
                  <a:extLst>
                    <a:ext uri="{9D8B030D-6E8A-4147-A177-3AD203B41FA5}">
                      <a16:colId xmlns:a16="http://schemas.microsoft.com/office/drawing/2014/main" val="20000"/>
                    </a:ext>
                  </a:extLst>
                </a:gridCol>
                <a:gridCol w="219171">
                  <a:extLst>
                    <a:ext uri="{9D8B030D-6E8A-4147-A177-3AD203B41FA5}">
                      <a16:colId xmlns:a16="http://schemas.microsoft.com/office/drawing/2014/main" val="20001"/>
                    </a:ext>
                  </a:extLst>
                </a:gridCol>
                <a:gridCol w="313101">
                  <a:extLst>
                    <a:ext uri="{9D8B030D-6E8A-4147-A177-3AD203B41FA5}">
                      <a16:colId xmlns:a16="http://schemas.microsoft.com/office/drawing/2014/main" val="20002"/>
                    </a:ext>
                  </a:extLst>
                </a:gridCol>
                <a:gridCol w="281791">
                  <a:extLst>
                    <a:ext uri="{9D8B030D-6E8A-4147-A177-3AD203B41FA5}">
                      <a16:colId xmlns:a16="http://schemas.microsoft.com/office/drawing/2014/main" val="20003"/>
                    </a:ext>
                  </a:extLst>
                </a:gridCol>
                <a:gridCol w="313101">
                  <a:extLst>
                    <a:ext uri="{9D8B030D-6E8A-4147-A177-3AD203B41FA5}">
                      <a16:colId xmlns:a16="http://schemas.microsoft.com/office/drawing/2014/main" val="20004"/>
                    </a:ext>
                  </a:extLst>
                </a:gridCol>
                <a:gridCol w="219171">
                  <a:extLst>
                    <a:ext uri="{9D8B030D-6E8A-4147-A177-3AD203B41FA5}">
                      <a16:colId xmlns:a16="http://schemas.microsoft.com/office/drawing/2014/main" val="20005"/>
                    </a:ext>
                  </a:extLst>
                </a:gridCol>
              </a:tblGrid>
              <a:tr h="200025">
                <a:tc>
                  <a:txBody>
                    <a:bodyPr/>
                    <a:lstStyle/>
                    <a:p>
                      <a:pPr algn="ctr" rtl="0" fontAlgn="b"/>
                      <a:endParaRPr lang="pt-BR" sz="14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gridSpan="3">
                  <a:txBody>
                    <a:bodyPr/>
                    <a:lstStyle/>
                    <a:p>
                      <a:pPr algn="ctr" rtl="0" fontAlgn="b"/>
                      <a:r>
                        <a:rPr lang="pt-BR" sz="1400" b="1" dirty="0">
                          <a:effectLst/>
                        </a:rPr>
                        <a:t>Classes (y)</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ctr" rtl="0" fontAlgn="b"/>
                      <a:endParaRPr lang="pt-BR" sz="1400">
                        <a:effectLst/>
                      </a:endParaRP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0025">
                <a:tc rowSpan="3">
                  <a:txBody>
                    <a:bodyPr/>
                    <a:lstStyle/>
                    <a:p>
                      <a:pPr algn="ctr" rtl="0" fontAlgn="ctr"/>
                      <a:r>
                        <a:rPr lang="pt-BR" sz="1400" b="1" dirty="0">
                          <a:effectLst/>
                        </a:rPr>
                        <a:t>x1</a:t>
                      </a:r>
                    </a:p>
                  </a:txBody>
                  <a:tcPr marL="28575" marR="28575" marT="19050" marB="19050" anchor="ctr">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vMerge="1">
                  <a:txBody>
                    <a:bodyPr/>
                    <a:lstStyle/>
                    <a:p>
                      <a:endParaRPr lang="pt-BR"/>
                    </a:p>
                  </a:txBody>
                  <a:tcPr/>
                </a:tc>
                <a:tc>
                  <a:txBody>
                    <a:bodyPr/>
                    <a:lstStyle/>
                    <a:p>
                      <a:pPr algn="ctr" rtl="0" fontAlgn="b"/>
                      <a:r>
                        <a:rPr lang="pt-BR" sz="1400" dirty="0">
                          <a:effectLst/>
                        </a:rPr>
                        <a:t>2</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00025">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dirty="0">
                          <a:effectLst/>
                        </a:rPr>
                        <a:t>4</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85340041"/>
              </p:ext>
            </p:extLst>
          </p:nvPr>
        </p:nvGraphicFramePr>
        <p:xfrm>
          <a:off x="7047674" y="3181044"/>
          <a:ext cx="1639125" cy="1257300"/>
        </p:xfrm>
        <a:graphic>
          <a:graphicData uri="http://schemas.openxmlformats.org/drawingml/2006/table">
            <a:tbl>
              <a:tblPr/>
              <a:tblGrid>
                <a:gridCol w="313671">
                  <a:extLst>
                    <a:ext uri="{9D8B030D-6E8A-4147-A177-3AD203B41FA5}">
                      <a16:colId xmlns:a16="http://schemas.microsoft.com/office/drawing/2014/main" val="20000"/>
                    </a:ext>
                  </a:extLst>
                </a:gridCol>
                <a:gridCol w="209114">
                  <a:extLst>
                    <a:ext uri="{9D8B030D-6E8A-4147-A177-3AD203B41FA5}">
                      <a16:colId xmlns:a16="http://schemas.microsoft.com/office/drawing/2014/main" val="20001"/>
                    </a:ext>
                  </a:extLst>
                </a:gridCol>
                <a:gridCol w="298734">
                  <a:extLst>
                    <a:ext uri="{9D8B030D-6E8A-4147-A177-3AD203B41FA5}">
                      <a16:colId xmlns:a16="http://schemas.microsoft.com/office/drawing/2014/main" val="20002"/>
                    </a:ext>
                  </a:extLst>
                </a:gridCol>
                <a:gridCol w="268861">
                  <a:extLst>
                    <a:ext uri="{9D8B030D-6E8A-4147-A177-3AD203B41FA5}">
                      <a16:colId xmlns:a16="http://schemas.microsoft.com/office/drawing/2014/main" val="20003"/>
                    </a:ext>
                  </a:extLst>
                </a:gridCol>
                <a:gridCol w="298734">
                  <a:extLst>
                    <a:ext uri="{9D8B030D-6E8A-4147-A177-3AD203B41FA5}">
                      <a16:colId xmlns:a16="http://schemas.microsoft.com/office/drawing/2014/main" val="20004"/>
                    </a:ext>
                  </a:extLst>
                </a:gridCol>
                <a:gridCol w="250011">
                  <a:extLst>
                    <a:ext uri="{9D8B030D-6E8A-4147-A177-3AD203B41FA5}">
                      <a16:colId xmlns:a16="http://schemas.microsoft.com/office/drawing/2014/main" val="20005"/>
                    </a:ext>
                  </a:extLst>
                </a:gridCol>
              </a:tblGrid>
              <a:tr h="200025">
                <a:tc>
                  <a:txBody>
                    <a:bodyPr/>
                    <a:lstStyle/>
                    <a:p>
                      <a:pPr algn="ctr" rtl="0" fontAlgn="b"/>
                      <a:endParaRPr lang="pt-BR" sz="14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gridSpan="3">
                  <a:txBody>
                    <a:bodyPr/>
                    <a:lstStyle/>
                    <a:p>
                      <a:pPr algn="ctr" rtl="0" fontAlgn="b"/>
                      <a:r>
                        <a:rPr lang="pt-BR" sz="1400" b="1" dirty="0">
                          <a:effectLst/>
                        </a:rPr>
                        <a:t>Classes (y)</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ctr" rtl="0" fontAlgn="b"/>
                      <a:endParaRPr lang="pt-BR" sz="1400">
                        <a:effectLst/>
                      </a:endParaRP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a:txBody>
                    <a:bodyPr/>
                    <a:lstStyle/>
                    <a:p>
                      <a:pPr algn="ctr" rtl="0" fontAlgn="b"/>
                      <a:endParaRPr lang="pt-BR" sz="14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0025">
                <a:tc rowSpan="2">
                  <a:txBody>
                    <a:bodyPr/>
                    <a:lstStyle/>
                    <a:p>
                      <a:pPr algn="ctr" rtl="0" fontAlgn="ctr"/>
                      <a:r>
                        <a:rPr lang="pt-BR" sz="1400" b="1" dirty="0">
                          <a:effectLst/>
                        </a:rPr>
                        <a:t>x2</a:t>
                      </a:r>
                    </a:p>
                  </a:txBody>
                  <a:tcPr marL="28575" marR="28575" marT="19050" marB="19050" anchor="ctr">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algn="ctr" rtl="0" fontAlgn="b"/>
                      <a:endParaRPr lang="pt-BR" sz="14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dirty="0">
                          <a:effectLst/>
                        </a:rPr>
                        <a:t>4</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itle 1"/>
          <p:cNvSpPr>
            <a:spLocks noGrp="1"/>
          </p:cNvSpPr>
          <p:nvPr>
            <p:ph type="title"/>
          </p:nvPr>
        </p:nvSpPr>
        <p:spPr>
          <a:xfrm>
            <a:off x="838200" y="112869"/>
            <a:ext cx="11143592" cy="1325563"/>
          </a:xfrm>
        </p:spPr>
        <p:txBody>
          <a:bodyPr/>
          <a:lstStyle/>
          <a:p>
            <a:r>
              <a:rPr lang="pt-BR" dirty="0"/>
              <a:t>Cálculo da entropia para mais de duas classes </a:t>
            </a:r>
          </a:p>
        </p:txBody>
      </p:sp>
      <mc:AlternateContent xmlns:mc="http://schemas.openxmlformats.org/markup-compatibility/2006" xmlns:a14="http://schemas.microsoft.com/office/drawing/2010/main">
        <mc:Choice Requires="a14">
          <p:sp>
            <p:nvSpPr>
              <p:cNvPr id="11" name="Rectangle 10"/>
              <p:cNvSpPr/>
              <p:nvPr/>
            </p:nvSpPr>
            <p:spPr>
              <a:xfrm>
                <a:off x="813846" y="5146201"/>
                <a:ext cx="11167946" cy="1149033"/>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pt-BR" i="1" smtClean="0">
                          <a:latin typeface="Cambria Math" panose="02040503050406030204" pitchFamily="18" charset="0"/>
                        </a:rPr>
                        <m:t>𝐺𝑎𝑖𝑛</m:t>
                      </m:r>
                      <m:d>
                        <m:dPr>
                          <m:ctrlPr>
                            <a:rPr lang="pt-BR" i="1">
                              <a:latin typeface="Cambria Math" panose="02040503050406030204" pitchFamily="18" charset="0"/>
                            </a:rPr>
                          </m:ctrlPr>
                        </m:dPr>
                        <m:e>
                          <m:r>
                            <a:rPr lang="pt-BR" b="1" i="1" smtClean="0">
                              <a:latin typeface="Cambria Math" panose="02040503050406030204" pitchFamily="18" charset="0"/>
                            </a:rPr>
                            <m:t>𝒙</m:t>
                          </m:r>
                          <m:r>
                            <a:rPr lang="pt-BR" b="1" i="1" smtClean="0">
                              <a:latin typeface="Cambria Math" panose="02040503050406030204" pitchFamily="18" charset="0"/>
                            </a:rPr>
                            <m:t>𝟏</m:t>
                          </m:r>
                        </m:e>
                      </m:d>
                      <m:r>
                        <a:rPr lang="pt-BR" i="1">
                          <a:latin typeface="Cambria Math" panose="02040503050406030204" pitchFamily="18" charset="0"/>
                        </a:rPr>
                        <m:t>=</m:t>
                      </m:r>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𝑦</m:t>
                          </m:r>
                        </m:e>
                      </m:d>
                      <m:r>
                        <a:rPr lang="pt-BR" i="1">
                          <a:latin typeface="Cambria Math" panose="02040503050406030204" pitchFamily="18" charset="0"/>
                        </a:rPr>
                        <m:t>−</m:t>
                      </m:r>
                      <m:d>
                        <m:dPr>
                          <m:begChr m:val="{"/>
                          <m:endChr m:val="}"/>
                          <m:ctrlPr>
                            <a:rPr lang="pt-BR" i="1" smtClean="0">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1</m:t>
                              </m:r>
                            </m:num>
                            <m:den>
                              <m:r>
                                <a:rPr lang="pt-BR" i="1">
                                  <a:latin typeface="Cambria Math" panose="02040503050406030204" pitchFamily="18" charset="0"/>
                                </a:rPr>
                                <m:t>4</m:t>
                              </m:r>
                            </m:den>
                          </m:f>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1=0</m:t>
                              </m:r>
                            </m:e>
                          </m:d>
                          <m:r>
                            <a:rPr lang="pt-BR" i="1">
                              <a:latin typeface="Cambria Math" panose="02040503050406030204" pitchFamily="18" charset="0"/>
                            </a:rPr>
                            <m:t>+</m:t>
                          </m:r>
                          <m:f>
                            <m:fPr>
                              <m:ctrlPr>
                                <a:rPr lang="pt-BR" i="1">
                                  <a:latin typeface="Cambria Math" panose="02040503050406030204" pitchFamily="18" charset="0"/>
                                </a:rPr>
                              </m:ctrlPr>
                            </m:fPr>
                            <m:num>
                              <m:r>
                                <a:rPr lang="pt-BR" b="0" i="1" smtClean="0">
                                  <a:latin typeface="Cambria Math" panose="02040503050406030204" pitchFamily="18" charset="0"/>
                                </a:rPr>
                                <m:t>1</m:t>
                              </m:r>
                            </m:num>
                            <m:den>
                              <m:r>
                                <a:rPr lang="pt-BR" i="1">
                                  <a:latin typeface="Cambria Math" panose="02040503050406030204" pitchFamily="18" charset="0"/>
                                </a:rPr>
                                <m:t>4</m:t>
                              </m:r>
                            </m:den>
                          </m:f>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1=1</m:t>
                              </m:r>
                            </m:e>
                          </m:d>
                          <m:r>
                            <a:rPr lang="pt-BR" i="1">
                              <a:latin typeface="Cambria Math" panose="02040503050406030204" pitchFamily="18" charset="0"/>
                            </a:rPr>
                            <m:t>+</m:t>
                          </m:r>
                          <m:f>
                            <m:fPr>
                              <m:ctrlPr>
                                <a:rPr lang="pt-BR" i="1">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4</m:t>
                              </m:r>
                            </m:den>
                          </m:f>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1=2</m:t>
                              </m:r>
                            </m:e>
                          </m:d>
                        </m:e>
                      </m:d>
                    </m:oMath>
                  </m:oMathPara>
                </a14:m>
                <a:endParaRPr lang="pt-BR" dirty="0"/>
              </a:p>
              <a:p>
                <a:pPr/>
                <a14:m>
                  <m:oMathPara xmlns:m="http://schemas.openxmlformats.org/officeDocument/2006/math">
                    <m:oMathParaPr>
                      <m:jc m:val="left"/>
                    </m:oMathParaPr>
                    <m:oMath xmlns:m="http://schemas.openxmlformats.org/officeDocument/2006/math">
                      <m:r>
                        <a:rPr lang="pt-BR" i="1">
                          <a:latin typeface="Cambria Math" panose="02040503050406030204" pitchFamily="18" charset="0"/>
                        </a:rPr>
                        <m:t>𝐺𝑎𝑖𝑛</m:t>
                      </m:r>
                      <m:d>
                        <m:dPr>
                          <m:ctrlPr>
                            <a:rPr lang="pt-BR" i="1">
                              <a:latin typeface="Cambria Math" panose="02040503050406030204" pitchFamily="18" charset="0"/>
                            </a:rPr>
                          </m:ctrlPr>
                        </m:dPr>
                        <m:e>
                          <m:r>
                            <a:rPr lang="pt-BR" b="1" i="1" smtClean="0">
                              <a:latin typeface="Cambria Math" panose="02040503050406030204" pitchFamily="18" charset="0"/>
                            </a:rPr>
                            <m:t>𝒙</m:t>
                          </m:r>
                          <m:r>
                            <a:rPr lang="pt-BR" b="1" i="1" smtClean="0">
                              <a:latin typeface="Cambria Math" panose="02040503050406030204" pitchFamily="18" charset="0"/>
                            </a:rPr>
                            <m:t>𝟐</m:t>
                          </m:r>
                        </m:e>
                      </m:d>
                      <m:r>
                        <a:rPr lang="pt-BR" i="1">
                          <a:latin typeface="Cambria Math" panose="02040503050406030204" pitchFamily="18" charset="0"/>
                        </a:rPr>
                        <m:t>=</m:t>
                      </m:r>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𝑦</m:t>
                          </m:r>
                        </m:e>
                      </m:d>
                      <m:r>
                        <a:rPr lang="pt-BR" i="1">
                          <a:latin typeface="Cambria Math" panose="02040503050406030204" pitchFamily="18" charset="0"/>
                        </a:rPr>
                        <m:t>−</m:t>
                      </m:r>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4</m:t>
                              </m:r>
                            </m:den>
                          </m:f>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2=0</m:t>
                              </m:r>
                            </m:e>
                          </m:d>
                          <m:r>
                            <a:rPr lang="pt-BR" i="1">
                              <a:latin typeface="Cambria Math" panose="02040503050406030204" pitchFamily="18" charset="0"/>
                            </a:rPr>
                            <m:t>+</m:t>
                          </m:r>
                          <m:f>
                            <m:fPr>
                              <m:ctrlPr>
                                <a:rPr lang="pt-BR" i="1">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4</m:t>
                              </m:r>
                            </m:den>
                          </m:f>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2=1</m:t>
                              </m:r>
                            </m:e>
                          </m:d>
                        </m:e>
                      </m:d>
                    </m:oMath>
                  </m:oMathPara>
                </a14:m>
                <a:endParaRPr lang="pt-BR" dirty="0"/>
              </a:p>
            </p:txBody>
          </p:sp>
        </mc:Choice>
        <mc:Fallback xmlns="">
          <p:sp>
            <p:nvSpPr>
              <p:cNvPr id="11" name="Rectangle 10"/>
              <p:cNvSpPr>
                <a:spLocks noRot="1" noChangeAspect="1" noMove="1" noResize="1" noEditPoints="1" noAdjustHandles="1" noChangeArrowheads="1" noChangeShapeType="1" noTextEdit="1"/>
              </p:cNvSpPr>
              <p:nvPr/>
            </p:nvSpPr>
            <p:spPr>
              <a:xfrm>
                <a:off x="813846" y="5146201"/>
                <a:ext cx="11167946" cy="1149033"/>
              </a:xfrm>
              <a:prstGeom prst="rect">
                <a:avLst/>
              </a:prstGeom>
              <a:blipFill rotWithShape="0">
                <a:blip r:embed="rId3"/>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16567599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838200" y="112869"/>
            <a:ext cx="11143592" cy="1325563"/>
          </a:xfrm>
        </p:spPr>
        <p:txBody>
          <a:bodyPr/>
          <a:lstStyle/>
          <a:p>
            <a:r>
              <a:rPr lang="pt-BR" dirty="0"/>
              <a:t>Cálculo da entropia para mais de duas classes </a:t>
            </a:r>
          </a:p>
        </p:txBody>
      </p:sp>
      <mc:AlternateContent xmlns:mc="http://schemas.openxmlformats.org/markup-compatibility/2006" xmlns:a14="http://schemas.microsoft.com/office/drawing/2010/main">
        <mc:Choice Requires="a14">
          <p:sp>
            <p:nvSpPr>
              <p:cNvPr id="11" name="Rectangle 10"/>
              <p:cNvSpPr/>
              <p:nvPr/>
            </p:nvSpPr>
            <p:spPr>
              <a:xfrm>
                <a:off x="838200" y="1559721"/>
                <a:ext cx="10114280" cy="4593373"/>
              </a:xfrm>
              <a:prstGeom prst="rect">
                <a:avLst/>
              </a:prstGeom>
            </p:spPr>
            <p:txBody>
              <a:bodyPr wrap="square">
                <a:spAutoFit/>
              </a:bodyPr>
              <a:lstStyle/>
              <a:p>
                <a:r>
                  <a:rPr lang="pt-BR" dirty="0"/>
                  <a:t>Como exemplo do cálculo da entropia, vejamos como </a:t>
                </a:r>
                <a14:m>
                  <m:oMath xmlns:m="http://schemas.openxmlformats.org/officeDocument/2006/math">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1=0</m:t>
                        </m:r>
                      </m:e>
                    </m:d>
                  </m:oMath>
                </a14:m>
                <a:r>
                  <a:rPr lang="pt-BR" dirty="0"/>
                  <a:t> deve ser calculado.</a:t>
                </a:r>
              </a:p>
              <a:p>
                <a:pPr/>
                <a14:m>
                  <m:oMathPara xmlns:m="http://schemas.openxmlformats.org/officeDocument/2006/math">
                    <m:oMathParaPr>
                      <m:jc m:val="left"/>
                    </m:oMathParaPr>
                    <m:oMath xmlns:m="http://schemas.openxmlformats.org/officeDocument/2006/math">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1=0</m:t>
                          </m:r>
                        </m:e>
                      </m:d>
                      <m:r>
                        <a:rPr lang="pt-BR" b="0" i="1" smtClean="0">
                          <a:latin typeface="Cambria Math" panose="02040503050406030204" pitchFamily="18" charset="0"/>
                        </a:rPr>
                        <m:t>=−</m:t>
                      </m:r>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𝑖</m:t>
                          </m:r>
                          <m:r>
                            <a:rPr lang="pt-BR" b="0" i="1" smtClean="0">
                              <a:latin typeface="Cambria Math" panose="02040503050406030204" pitchFamily="18" charset="0"/>
                            </a:rPr>
                            <m:t>=0</m:t>
                          </m:r>
                        </m:sub>
                        <m:sup>
                          <m:r>
                            <a:rPr lang="pt-BR" b="0" i="1" smtClean="0">
                              <a:latin typeface="Cambria Math" panose="02040503050406030204" pitchFamily="18" charset="0"/>
                            </a:rPr>
                            <m:t>2</m:t>
                          </m:r>
                        </m:sup>
                        <m:e>
                          <m:r>
                            <a:rPr lang="pt-BR" i="1">
                              <a:latin typeface="Cambria Math" panose="02040503050406030204" pitchFamily="18" charset="0"/>
                            </a:rPr>
                            <m:t>𝑝</m:t>
                          </m:r>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m:t>
                              </m:r>
                              <m:r>
                                <a:rPr lang="pt-BR" b="0" i="1" smtClean="0">
                                  <a:latin typeface="Cambria Math" panose="02040503050406030204" pitchFamily="18" charset="0"/>
                                </a:rPr>
                                <m:t>𝑖</m:t>
                              </m:r>
                            </m:e>
                            <m:e>
                              <m:r>
                                <a:rPr lang="pt-BR" i="1">
                                  <a:latin typeface="Cambria Math" panose="02040503050406030204" pitchFamily="18" charset="0"/>
                                </a:rPr>
                                <m:t>𝑥</m:t>
                              </m:r>
                              <m:r>
                                <a:rPr lang="pt-BR" i="1">
                                  <a:latin typeface="Cambria Math" panose="02040503050406030204" pitchFamily="18" charset="0"/>
                                </a:rPr>
                                <m:t>1=0</m:t>
                              </m:r>
                            </m:e>
                          </m:d>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a:latin typeface="Cambria Math" panose="02040503050406030204" pitchFamily="18" charset="0"/>
                                </a:rPr>
                              </m:ctrlPr>
                            </m:dPr>
                            <m:e>
                              <m:r>
                                <a:rPr lang="pt-BR" i="1">
                                  <a:latin typeface="Cambria Math" panose="02040503050406030204" pitchFamily="18" charset="0"/>
                                </a:rPr>
                                <m:t>𝑝</m:t>
                              </m:r>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m:t>
                                  </m:r>
                                  <m:r>
                                    <a:rPr lang="pt-BR" b="0" i="1" smtClean="0">
                                      <a:latin typeface="Cambria Math" panose="02040503050406030204" pitchFamily="18" charset="0"/>
                                    </a:rPr>
                                    <m:t>𝑖</m:t>
                                  </m:r>
                                </m:e>
                                <m:e>
                                  <m:r>
                                    <a:rPr lang="pt-BR" i="1">
                                      <a:latin typeface="Cambria Math" panose="02040503050406030204" pitchFamily="18" charset="0"/>
                                    </a:rPr>
                                    <m:t>𝑥</m:t>
                                  </m:r>
                                  <m:r>
                                    <a:rPr lang="pt-BR" i="1">
                                      <a:latin typeface="Cambria Math" panose="02040503050406030204" pitchFamily="18" charset="0"/>
                                    </a:rPr>
                                    <m:t>1=0</m:t>
                                  </m:r>
                                </m:e>
                              </m:d>
                            </m:e>
                          </m:d>
                        </m:e>
                      </m:nary>
                    </m:oMath>
                  </m:oMathPara>
                </a14:m>
                <a:endParaRPr lang="pt-BR" b="0" i="1" dirty="0">
                  <a:latin typeface="Cambria Math" panose="02040503050406030204" pitchFamily="18" charset="0"/>
                </a:endParaRPr>
              </a:p>
              <a:p>
                <a:r>
                  <a:rPr lang="pt-BR" i="1" dirty="0">
                    <a:latin typeface="Cambria Math" panose="02040503050406030204" pitchFamily="18" charset="0"/>
                  </a:rPr>
                  <a:t>                      </a:t>
                </a:r>
                <a14:m>
                  <m:oMath xmlns:m="http://schemas.openxmlformats.org/officeDocument/2006/math">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r>
                          <a:rPr lang="pt-BR" i="1">
                            <a:latin typeface="Cambria Math" panose="02040503050406030204" pitchFamily="18" charset="0"/>
                          </a:rPr>
                          <m:t>𝑝</m:t>
                        </m:r>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=0</m:t>
                            </m:r>
                          </m:e>
                          <m:e>
                            <m:r>
                              <a:rPr lang="pt-BR" i="1">
                                <a:latin typeface="Cambria Math" panose="02040503050406030204" pitchFamily="18" charset="0"/>
                              </a:rPr>
                              <m:t>𝑥</m:t>
                            </m:r>
                            <m:r>
                              <a:rPr lang="pt-BR" i="1">
                                <a:latin typeface="Cambria Math" panose="02040503050406030204" pitchFamily="18" charset="0"/>
                              </a:rPr>
                              <m:t>1=0</m:t>
                            </m:r>
                          </m:e>
                        </m:d>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a:latin typeface="Cambria Math" panose="02040503050406030204" pitchFamily="18" charset="0"/>
                              </a:rPr>
                            </m:ctrlPr>
                          </m:dPr>
                          <m:e>
                            <m:r>
                              <a:rPr lang="pt-BR" i="1">
                                <a:latin typeface="Cambria Math" panose="02040503050406030204" pitchFamily="18" charset="0"/>
                              </a:rPr>
                              <m:t>𝑝</m:t>
                            </m:r>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=0</m:t>
                                </m:r>
                              </m:e>
                              <m:e>
                                <m:r>
                                  <a:rPr lang="pt-BR" i="1">
                                    <a:latin typeface="Cambria Math" panose="02040503050406030204" pitchFamily="18" charset="0"/>
                                  </a:rPr>
                                  <m:t>𝑥</m:t>
                                </m:r>
                                <m:r>
                                  <a:rPr lang="pt-BR" i="1">
                                    <a:latin typeface="Cambria Math" panose="02040503050406030204" pitchFamily="18" charset="0"/>
                                  </a:rPr>
                                  <m:t>1=0</m:t>
                                </m:r>
                              </m:e>
                            </m:d>
                          </m:e>
                        </m:d>
                        <m:r>
                          <a:rPr lang="pt-BR" b="0" i="1" smtClean="0">
                            <a:latin typeface="Cambria Math" panose="02040503050406030204" pitchFamily="18" charset="0"/>
                          </a:rPr>
                          <m:t>+</m:t>
                        </m:r>
                        <m:r>
                          <a:rPr lang="pt-BR" i="1">
                            <a:latin typeface="Cambria Math" panose="02040503050406030204" pitchFamily="18" charset="0"/>
                          </a:rPr>
                          <m:t>𝑝</m:t>
                        </m:r>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=1</m:t>
                            </m:r>
                          </m:e>
                          <m:e>
                            <m:r>
                              <a:rPr lang="pt-BR" i="1">
                                <a:latin typeface="Cambria Math" panose="02040503050406030204" pitchFamily="18" charset="0"/>
                              </a:rPr>
                              <m:t>𝑥</m:t>
                            </m:r>
                            <m:r>
                              <a:rPr lang="pt-BR" i="1">
                                <a:latin typeface="Cambria Math" panose="02040503050406030204" pitchFamily="18" charset="0"/>
                              </a:rPr>
                              <m:t>1=0</m:t>
                            </m:r>
                          </m:e>
                        </m:d>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a:latin typeface="Cambria Math" panose="02040503050406030204" pitchFamily="18" charset="0"/>
                              </a:rPr>
                            </m:ctrlPr>
                          </m:dPr>
                          <m:e>
                            <m:r>
                              <a:rPr lang="pt-BR" i="1">
                                <a:latin typeface="Cambria Math" panose="02040503050406030204" pitchFamily="18" charset="0"/>
                              </a:rPr>
                              <m:t>𝑝</m:t>
                            </m:r>
                            <m:d>
                              <m:dPr>
                                <m:ctrlPr>
                                  <a:rPr lang="pt-BR" i="1">
                                    <a:latin typeface="Cambria Math" panose="02040503050406030204" pitchFamily="18" charset="0"/>
                                  </a:rPr>
                                </m:ctrlPr>
                              </m:dPr>
                              <m:e>
                                <m:r>
                                  <a:rPr lang="pt-BR" i="1">
                                    <a:latin typeface="Cambria Math" panose="02040503050406030204" pitchFamily="18" charset="0"/>
                                  </a:rPr>
                                  <m:t>𝑦</m:t>
                                </m:r>
                                <m:r>
                                  <a:rPr lang="pt-BR" i="1">
                                    <a:latin typeface="Cambria Math" panose="02040503050406030204" pitchFamily="18" charset="0"/>
                                  </a:rPr>
                                  <m:t>=1</m:t>
                                </m:r>
                              </m:e>
                              <m:e>
                                <m:r>
                                  <a:rPr lang="pt-BR" i="1">
                                    <a:latin typeface="Cambria Math" panose="02040503050406030204" pitchFamily="18" charset="0"/>
                                  </a:rPr>
                                  <m:t>𝑥</m:t>
                                </m:r>
                                <m:r>
                                  <a:rPr lang="pt-BR" i="1">
                                    <a:latin typeface="Cambria Math" panose="02040503050406030204" pitchFamily="18" charset="0"/>
                                  </a:rPr>
                                  <m:t>1=0</m:t>
                                </m:r>
                              </m:e>
                            </m:d>
                          </m:e>
                        </m:d>
                        <m:r>
                          <a:rPr lang="pt-BR" b="0" i="1" smtClean="0">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r>
                          <a:rPr lang="pt-BR" i="1">
                            <a:latin typeface="Cambria Math" panose="02040503050406030204" pitchFamily="18" charset="0"/>
                          </a:rPr>
                          <m:t>𝑦</m:t>
                        </m:r>
                        <m:r>
                          <a:rPr lang="pt-BR" i="1">
                            <a:latin typeface="Cambria Math" panose="02040503050406030204" pitchFamily="18" charset="0"/>
                          </a:rPr>
                          <m:t>=2|</m:t>
                        </m:r>
                        <m:r>
                          <a:rPr lang="pt-BR" i="1">
                            <a:latin typeface="Cambria Math" panose="02040503050406030204" pitchFamily="18" charset="0"/>
                          </a:rPr>
                          <m:t>𝑥</m:t>
                        </m:r>
                        <m:r>
                          <a:rPr lang="pt-BR" i="1">
                            <a:latin typeface="Cambria Math" panose="02040503050406030204" pitchFamily="18" charset="0"/>
                          </a:rPr>
                          <m:t>1=0)</m:t>
                        </m:r>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a:latin typeface="Cambria Math" panose="02040503050406030204" pitchFamily="18" charset="0"/>
                              </a:rPr>
                            </m:ctrlPr>
                          </m:dPr>
                          <m:e>
                            <m:r>
                              <a:rPr lang="pt-BR" i="1">
                                <a:latin typeface="Cambria Math" panose="02040503050406030204" pitchFamily="18" charset="0"/>
                              </a:rPr>
                              <m:t>𝑝</m:t>
                            </m:r>
                            <m:r>
                              <a:rPr lang="pt-BR" i="1">
                                <a:latin typeface="Cambria Math" panose="02040503050406030204" pitchFamily="18" charset="0"/>
                              </a:rPr>
                              <m:t>(</m:t>
                            </m:r>
                            <m:r>
                              <a:rPr lang="pt-BR" i="1">
                                <a:latin typeface="Cambria Math" panose="02040503050406030204" pitchFamily="18" charset="0"/>
                              </a:rPr>
                              <m:t>𝑦</m:t>
                            </m:r>
                            <m:r>
                              <a:rPr lang="pt-BR" i="1">
                                <a:latin typeface="Cambria Math" panose="02040503050406030204" pitchFamily="18" charset="0"/>
                              </a:rPr>
                              <m:t>=2|</m:t>
                            </m:r>
                            <m:r>
                              <a:rPr lang="pt-BR" i="1">
                                <a:latin typeface="Cambria Math" panose="02040503050406030204" pitchFamily="18" charset="0"/>
                              </a:rPr>
                              <m:t>𝑥</m:t>
                            </m:r>
                            <m:r>
                              <a:rPr lang="pt-BR" i="1">
                                <a:latin typeface="Cambria Math" panose="02040503050406030204" pitchFamily="18" charset="0"/>
                              </a:rPr>
                              <m:t>1=0)</m:t>
                            </m:r>
                          </m:e>
                        </m:d>
                      </m:e>
                    </m:d>
                  </m:oMath>
                </a14:m>
                <a:endParaRPr lang="pt-BR" dirty="0"/>
              </a:p>
              <a:p>
                <a:endParaRPr lang="pt-BR" i="1" dirty="0">
                  <a:latin typeface="Cambria Math" panose="02040503050406030204" pitchFamily="18" charset="0"/>
                </a:endParaRPr>
              </a:p>
              <a:p>
                <a:r>
                  <a:rPr lang="pt-BR" dirty="0"/>
                  <a:t>Assim, os ganhos de informação para </a:t>
                </a:r>
                <a14:m>
                  <m:oMath xmlns:m="http://schemas.openxmlformats.org/officeDocument/2006/math">
                    <m:r>
                      <a:rPr lang="pt-BR" i="1">
                        <a:latin typeface="Cambria Math" panose="02040503050406030204" pitchFamily="18" charset="0"/>
                      </a:rPr>
                      <m:t>𝑥</m:t>
                    </m:r>
                    <m:r>
                      <a:rPr lang="pt-BR" b="0" i="1" smtClean="0">
                        <a:latin typeface="Cambria Math" panose="02040503050406030204" pitchFamily="18" charset="0"/>
                      </a:rPr>
                      <m:t>1</m:t>
                    </m:r>
                  </m:oMath>
                </a14:m>
                <a:r>
                  <a:rPr lang="pt-BR" dirty="0"/>
                  <a:t> e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2</m:t>
                    </m:r>
                  </m:oMath>
                </a14:m>
                <a:r>
                  <a:rPr lang="pt-BR" dirty="0"/>
                  <a:t> são calculados como</a:t>
                </a:r>
              </a:p>
              <a:p>
                <a:pPr/>
                <a14:m>
                  <m:oMathPara xmlns:m="http://schemas.openxmlformats.org/officeDocument/2006/math">
                    <m:oMathParaPr>
                      <m:jc m:val="left"/>
                    </m:oMathParaPr>
                    <m:oMath xmlns:m="http://schemas.openxmlformats.org/officeDocument/2006/math">
                      <m:r>
                        <a:rPr lang="pt-BR" i="1" smtClean="0">
                          <a:latin typeface="Cambria Math" panose="02040503050406030204" pitchFamily="18" charset="0"/>
                        </a:rPr>
                        <m:t>𝐺𝑎𝑖𝑛</m:t>
                      </m:r>
                      <m:d>
                        <m:dPr>
                          <m:ctrlPr>
                            <a:rPr lang="pt-BR" i="1">
                              <a:latin typeface="Cambria Math" panose="02040503050406030204" pitchFamily="18" charset="0"/>
                            </a:rPr>
                          </m:ctrlPr>
                        </m:dPr>
                        <m:e>
                          <m:r>
                            <a:rPr lang="pt-BR" b="0" i="1">
                              <a:latin typeface="Cambria Math" panose="02040503050406030204" pitchFamily="18" charset="0"/>
                            </a:rPr>
                            <m:t>𝑥</m:t>
                          </m:r>
                          <m:r>
                            <a:rPr lang="pt-BR" b="0" i="1">
                              <a:latin typeface="Cambria Math" panose="02040503050406030204" pitchFamily="18" charset="0"/>
                            </a:rPr>
                            <m:t>1</m:t>
                          </m:r>
                        </m:e>
                      </m:d>
                      <m:r>
                        <a:rPr lang="pt-BR" i="1">
                          <a:latin typeface="Cambria Math" panose="02040503050406030204" pitchFamily="18" charset="0"/>
                        </a:rPr>
                        <m:t>=</m:t>
                      </m:r>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𝑦</m:t>
                          </m:r>
                        </m:e>
                      </m:d>
                      <m:r>
                        <a:rPr lang="pt-BR" i="1">
                          <a:latin typeface="Cambria Math" panose="02040503050406030204" pitchFamily="18" charset="0"/>
                        </a:rPr>
                        <m:t>−</m:t>
                      </m:r>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4</m:t>
                              </m:r>
                            </m:den>
                          </m:f>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1=0</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4</m:t>
                              </m:r>
                            </m:den>
                          </m:f>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1=1</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4</m:t>
                              </m:r>
                            </m:den>
                          </m:f>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1=2</m:t>
                              </m:r>
                            </m:e>
                          </m:d>
                        </m:e>
                      </m:d>
                    </m:oMath>
                  </m:oMathPara>
                </a14:m>
                <a:endParaRPr lang="pt-BR"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pt-BR" b="0" i="1" smtClean="0">
                          <a:latin typeface="Cambria Math" panose="02040503050406030204" pitchFamily="18" charset="0"/>
                        </a:rPr>
                        <m:t>                    </m:t>
                      </m:r>
                      <m:r>
                        <a:rPr lang="pt-BR" i="1">
                          <a:latin typeface="Cambria Math" panose="02040503050406030204" pitchFamily="18" charset="0"/>
                        </a:rPr>
                        <m:t>=</m:t>
                      </m:r>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𝑦</m:t>
                          </m:r>
                        </m:e>
                      </m:d>
                      <m:r>
                        <a:rPr lang="pt-BR" i="1">
                          <a:latin typeface="Cambria Math" panose="02040503050406030204" pitchFamily="18" charset="0"/>
                        </a:rPr>
                        <m:t>−</m:t>
                      </m:r>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4</m:t>
                              </m:r>
                            </m:den>
                          </m:f>
                          <m:d>
                            <m:dPr>
                              <m:begChr m:val="["/>
                              <m:endChr m:val="]"/>
                              <m:ctrlPr>
                                <a:rPr lang="pt-BR" i="1">
                                  <a:latin typeface="Cambria Math" panose="02040503050406030204" pitchFamily="18" charset="0"/>
                                </a:rPr>
                              </m:ctrlPr>
                            </m:dPr>
                            <m:e>
                              <m:f>
                                <m:fPr>
                                  <m:ctrlPr>
                                    <a:rPr lang="pt-BR" i="1" smtClean="0">
                                      <a:latin typeface="Cambria Math" panose="02040503050406030204" pitchFamily="18" charset="0"/>
                                    </a:rPr>
                                  </m:ctrlPr>
                                </m:fPr>
                                <m:num>
                                  <m:r>
                                    <a:rPr lang="pt-BR" b="0" i="1" smtClean="0">
                                      <a:latin typeface="Cambria Math" panose="02040503050406030204" pitchFamily="18" charset="0"/>
                                    </a:rPr>
                                    <m:t>1</m:t>
                                  </m:r>
                                </m:num>
                                <m:den>
                                  <m:r>
                                    <a:rPr lang="pt-BR" b="0" i="1" smtClean="0">
                                      <a:latin typeface="Cambria Math" panose="02040503050406030204" pitchFamily="18" charset="0"/>
                                    </a:rPr>
                                    <m:t>1</m:t>
                                  </m:r>
                                </m:den>
                              </m:f>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smtClean="0">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1</m:t>
                                      </m:r>
                                    </m:den>
                                  </m:f>
                                </m:e>
                              </m:d>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4</m:t>
                              </m:r>
                            </m:den>
                          </m:f>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1</m:t>
                                  </m:r>
                                </m:den>
                              </m:f>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1</m:t>
                                      </m:r>
                                    </m:den>
                                  </m:f>
                                </m:e>
                              </m:d>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4</m:t>
                              </m:r>
                            </m:den>
                          </m:f>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b="0" i="1" smtClean="0">
                                      <a:latin typeface="Cambria Math" panose="02040503050406030204" pitchFamily="18" charset="0"/>
                                    </a:rPr>
                                    <m:t>2</m:t>
                                  </m:r>
                                </m:den>
                              </m:f>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b="0" i="1" smtClean="0">
                                          <a:latin typeface="Cambria Math" panose="02040503050406030204" pitchFamily="18" charset="0"/>
                                        </a:rPr>
                                        <m:t>2</m:t>
                                      </m:r>
                                    </m:den>
                                  </m:f>
                                </m:e>
                              </m:d>
                              <m:r>
                                <a:rPr lang="pt-BR" b="0" i="1" smtClean="0">
                                  <a:latin typeface="Cambria Math" panose="02040503050406030204" pitchFamily="18" charset="0"/>
                                </a:rPr>
                                <m:t>+</m:t>
                              </m:r>
                              <m:f>
                                <m:fPr>
                                  <m:ctrlPr>
                                    <a:rPr lang="pt-BR" i="1" smtClean="0">
                                      <a:latin typeface="Cambria Math" panose="02040503050406030204" pitchFamily="18" charset="0"/>
                                    </a:rPr>
                                  </m:ctrlPr>
                                </m:fPr>
                                <m:num>
                                  <m:r>
                                    <a:rPr lang="pt-BR" i="1">
                                      <a:latin typeface="Cambria Math" panose="02040503050406030204" pitchFamily="18" charset="0"/>
                                    </a:rPr>
                                    <m:t>1</m:t>
                                  </m:r>
                                </m:num>
                                <m:den>
                                  <m:r>
                                    <a:rPr lang="pt-BR" b="0" i="1" smtClean="0">
                                      <a:latin typeface="Cambria Math" panose="02040503050406030204" pitchFamily="18" charset="0"/>
                                    </a:rPr>
                                    <m:t>2</m:t>
                                  </m:r>
                                </m:den>
                              </m:f>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b="0" i="1" smtClean="0">
                                          <a:latin typeface="Cambria Math" panose="02040503050406030204" pitchFamily="18" charset="0"/>
                                        </a:rPr>
                                        <m:t>2</m:t>
                                      </m:r>
                                    </m:den>
                                  </m:f>
                                </m:e>
                              </m:d>
                            </m:e>
                          </m:d>
                        </m:e>
                      </m:d>
                    </m:oMath>
                  </m:oMathPara>
                </a14:m>
                <a:endParaRPr lang="pt-BR" dirty="0"/>
              </a:p>
              <a:p>
                <a:pPr/>
                <a14:m>
                  <m:oMathPara xmlns:m="http://schemas.openxmlformats.org/officeDocument/2006/math">
                    <m:oMathParaPr>
                      <m:jc m:val="left"/>
                    </m:oMathParaPr>
                    <m:oMath xmlns:m="http://schemas.openxmlformats.org/officeDocument/2006/math">
                      <m:r>
                        <a:rPr lang="pt-BR" i="1">
                          <a:latin typeface="Cambria Math" panose="02040503050406030204" pitchFamily="18" charset="0"/>
                        </a:rPr>
                        <m:t>𝐺𝑎𝑖𝑛</m:t>
                      </m:r>
                      <m:d>
                        <m:dPr>
                          <m:ctrlPr>
                            <a:rPr lang="pt-BR" i="1">
                              <a:latin typeface="Cambria Math" panose="02040503050406030204" pitchFamily="18" charset="0"/>
                            </a:rPr>
                          </m:ctrlPr>
                        </m:dPr>
                        <m:e>
                          <m:r>
                            <a:rPr lang="pt-BR" b="0" i="1">
                              <a:latin typeface="Cambria Math" panose="02040503050406030204" pitchFamily="18" charset="0"/>
                            </a:rPr>
                            <m:t>𝑥</m:t>
                          </m:r>
                          <m:r>
                            <a:rPr lang="pt-BR" b="0" i="1">
                              <a:latin typeface="Cambria Math" panose="02040503050406030204" pitchFamily="18" charset="0"/>
                            </a:rPr>
                            <m:t>2</m:t>
                          </m:r>
                        </m:e>
                      </m:d>
                      <m:r>
                        <a:rPr lang="pt-BR" i="1">
                          <a:latin typeface="Cambria Math" panose="02040503050406030204" pitchFamily="18" charset="0"/>
                        </a:rPr>
                        <m:t>=</m:t>
                      </m:r>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𝑦</m:t>
                          </m:r>
                        </m:e>
                      </m:d>
                      <m:r>
                        <a:rPr lang="pt-BR" i="1">
                          <a:latin typeface="Cambria Math" panose="02040503050406030204" pitchFamily="18" charset="0"/>
                        </a:rPr>
                        <m:t>−</m:t>
                      </m:r>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4</m:t>
                              </m:r>
                            </m:den>
                          </m:f>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2=0</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2</m:t>
                              </m:r>
                            </m:num>
                            <m:den>
                              <m:r>
                                <a:rPr lang="pt-BR" i="1">
                                  <a:latin typeface="Cambria Math" panose="02040503050406030204" pitchFamily="18" charset="0"/>
                                </a:rPr>
                                <m:t>4</m:t>
                              </m:r>
                            </m:den>
                          </m:f>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r>
                                <a:rPr lang="pt-BR" i="1">
                                  <a:latin typeface="Cambria Math" panose="02040503050406030204" pitchFamily="18" charset="0"/>
                                </a:rPr>
                                <m:t>2=1</m:t>
                              </m:r>
                            </m:e>
                          </m:d>
                        </m:e>
                      </m:d>
                    </m:oMath>
                  </m:oMathPara>
                </a14:m>
                <a:endParaRPr lang="pt-BR"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pt-BR" b="0" i="1" smtClean="0">
                          <a:latin typeface="Cambria Math" panose="02040503050406030204" pitchFamily="18" charset="0"/>
                        </a:rPr>
                        <m:t>                   </m:t>
                      </m:r>
                      <m:r>
                        <a:rPr lang="pt-BR" i="1">
                          <a:latin typeface="Cambria Math" panose="02040503050406030204" pitchFamily="18" charset="0"/>
                        </a:rPr>
                        <m:t>=</m:t>
                      </m:r>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𝑦</m:t>
                          </m:r>
                        </m:e>
                      </m:d>
                      <m:r>
                        <a:rPr lang="pt-BR" i="1">
                          <a:latin typeface="Cambria Math" panose="02040503050406030204" pitchFamily="18" charset="0"/>
                        </a:rPr>
                        <m:t>−</m:t>
                      </m:r>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4</m:t>
                              </m:r>
                            </m:den>
                          </m:f>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2</m:t>
                                  </m:r>
                                </m:num>
                                <m:den>
                                  <m:r>
                                    <a:rPr lang="pt-BR" b="0" i="1" smtClean="0">
                                      <a:latin typeface="Cambria Math" panose="02040503050406030204" pitchFamily="18" charset="0"/>
                                    </a:rPr>
                                    <m:t>2</m:t>
                                  </m:r>
                                </m:den>
                              </m:f>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b="0" i="1" smtClean="0">
                                          <a:latin typeface="Cambria Math" panose="02040503050406030204" pitchFamily="18" charset="0"/>
                                        </a:rPr>
                                        <m:t>2</m:t>
                                      </m:r>
                                    </m:num>
                                    <m:den>
                                      <m:r>
                                        <a:rPr lang="pt-BR" b="0" i="1" smtClean="0">
                                          <a:latin typeface="Cambria Math" panose="02040503050406030204" pitchFamily="18" charset="0"/>
                                        </a:rPr>
                                        <m:t>2</m:t>
                                      </m:r>
                                    </m:den>
                                  </m:f>
                                </m:e>
                              </m:d>
                            </m:e>
                          </m:d>
                          <m:r>
                            <a:rPr lang="pt-BR" i="1">
                              <a:latin typeface="Cambria Math" panose="02040503050406030204" pitchFamily="18" charset="0"/>
                            </a:rPr>
                            <m:t>+</m:t>
                          </m:r>
                          <m:f>
                            <m:fPr>
                              <m:ctrlPr>
                                <a:rPr lang="pt-BR" i="1">
                                  <a:latin typeface="Cambria Math" panose="02040503050406030204" pitchFamily="18" charset="0"/>
                                </a:rPr>
                              </m:ctrlPr>
                            </m:fPr>
                            <m:num>
                              <m:r>
                                <a:rPr lang="pt-BR" b="0" i="1" smtClean="0">
                                  <a:latin typeface="Cambria Math" panose="02040503050406030204" pitchFamily="18" charset="0"/>
                                </a:rPr>
                                <m:t>2</m:t>
                              </m:r>
                            </m:num>
                            <m:den>
                              <m:r>
                                <a:rPr lang="pt-BR" i="1">
                                  <a:latin typeface="Cambria Math" panose="02040503050406030204" pitchFamily="18" charset="0"/>
                                </a:rPr>
                                <m:t>4</m:t>
                              </m:r>
                            </m:den>
                          </m:f>
                          <m:d>
                            <m:dPr>
                              <m:begChr m:val="["/>
                              <m:endChr m:val="]"/>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2</m:t>
                                  </m:r>
                                </m:den>
                              </m:f>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2</m:t>
                                      </m:r>
                                    </m:den>
                                  </m:f>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2</m:t>
                                  </m:r>
                                </m:den>
                              </m:f>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i="1">
                                      <a:latin typeface="Cambria Math" panose="02040503050406030204" pitchFamily="18" charset="0"/>
                                    </a:rPr>
                                  </m:ctrlPr>
                                </m:dPr>
                                <m:e>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2</m:t>
                                      </m:r>
                                    </m:den>
                                  </m:f>
                                </m:e>
                              </m:d>
                            </m:e>
                          </m:d>
                        </m:e>
                      </m:d>
                    </m:oMath>
                  </m:oMathPara>
                </a14:m>
                <a:endParaRPr lang="pt-BR" dirty="0"/>
              </a:p>
            </p:txBody>
          </p:sp>
        </mc:Choice>
        <mc:Fallback xmlns="">
          <p:sp>
            <p:nvSpPr>
              <p:cNvPr id="11" name="Rectangle 10"/>
              <p:cNvSpPr>
                <a:spLocks noRot="1" noChangeAspect="1" noMove="1" noResize="1" noEditPoints="1" noAdjustHandles="1" noChangeArrowheads="1" noChangeShapeType="1" noTextEdit="1"/>
              </p:cNvSpPr>
              <p:nvPr/>
            </p:nvSpPr>
            <p:spPr>
              <a:xfrm>
                <a:off x="838200" y="1559721"/>
                <a:ext cx="10114280" cy="4593373"/>
              </a:xfrm>
              <a:prstGeom prst="rect">
                <a:avLst/>
              </a:prstGeom>
              <a:blipFill rotWithShape="0">
                <a:blip r:embed="rId2"/>
                <a:stretch>
                  <a:fillRect l="-542" t="-797"/>
                </a:stretch>
              </a:blipFill>
            </p:spPr>
            <p:txBody>
              <a:bodyPr/>
              <a:lstStyle/>
              <a:p>
                <a:r>
                  <a:rPr lang="pt-BR">
                    <a:noFill/>
                  </a:rPr>
                  <a:t> </a:t>
                </a:r>
              </a:p>
            </p:txBody>
          </p:sp>
        </mc:Fallback>
      </mc:AlternateContent>
      <p:graphicFrame>
        <p:nvGraphicFramePr>
          <p:cNvPr id="12" name="Table 11"/>
          <p:cNvGraphicFramePr>
            <a:graphicFrameLocks noGrp="1"/>
          </p:cNvGraphicFramePr>
          <p:nvPr>
            <p:extLst>
              <p:ext uri="{D42A27DB-BD31-4B8C-83A1-F6EECF244321}">
                <p14:modId xmlns:p14="http://schemas.microsoft.com/office/powerpoint/2010/main" val="3832965006"/>
              </p:ext>
            </p:extLst>
          </p:nvPr>
        </p:nvGraphicFramePr>
        <p:xfrm>
          <a:off x="10214668" y="3731337"/>
          <a:ext cx="1889044" cy="1508760"/>
        </p:xfrm>
        <a:graphic>
          <a:graphicData uri="http://schemas.openxmlformats.org/drawingml/2006/table">
            <a:tbl>
              <a:tblPr/>
              <a:tblGrid>
                <a:gridCol w="542709">
                  <a:extLst>
                    <a:ext uri="{9D8B030D-6E8A-4147-A177-3AD203B41FA5}">
                      <a16:colId xmlns:a16="http://schemas.microsoft.com/office/drawing/2014/main" val="20000"/>
                    </a:ext>
                  </a:extLst>
                </a:gridCol>
                <a:gridCol w="219171">
                  <a:extLst>
                    <a:ext uri="{9D8B030D-6E8A-4147-A177-3AD203B41FA5}">
                      <a16:colId xmlns:a16="http://schemas.microsoft.com/office/drawing/2014/main" val="20001"/>
                    </a:ext>
                  </a:extLst>
                </a:gridCol>
                <a:gridCol w="313101">
                  <a:extLst>
                    <a:ext uri="{9D8B030D-6E8A-4147-A177-3AD203B41FA5}">
                      <a16:colId xmlns:a16="http://schemas.microsoft.com/office/drawing/2014/main" val="20002"/>
                    </a:ext>
                  </a:extLst>
                </a:gridCol>
                <a:gridCol w="281791">
                  <a:extLst>
                    <a:ext uri="{9D8B030D-6E8A-4147-A177-3AD203B41FA5}">
                      <a16:colId xmlns:a16="http://schemas.microsoft.com/office/drawing/2014/main" val="20003"/>
                    </a:ext>
                  </a:extLst>
                </a:gridCol>
                <a:gridCol w="313101">
                  <a:extLst>
                    <a:ext uri="{9D8B030D-6E8A-4147-A177-3AD203B41FA5}">
                      <a16:colId xmlns:a16="http://schemas.microsoft.com/office/drawing/2014/main" val="20004"/>
                    </a:ext>
                  </a:extLst>
                </a:gridCol>
                <a:gridCol w="219171">
                  <a:extLst>
                    <a:ext uri="{9D8B030D-6E8A-4147-A177-3AD203B41FA5}">
                      <a16:colId xmlns:a16="http://schemas.microsoft.com/office/drawing/2014/main" val="20005"/>
                    </a:ext>
                  </a:extLst>
                </a:gridCol>
              </a:tblGrid>
              <a:tr h="200025">
                <a:tc>
                  <a:txBody>
                    <a:bodyPr/>
                    <a:lstStyle/>
                    <a:p>
                      <a:pPr algn="ctr" rtl="0" fontAlgn="b"/>
                      <a:endParaRPr lang="pt-BR" sz="14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gridSpan="3">
                  <a:txBody>
                    <a:bodyPr/>
                    <a:lstStyle/>
                    <a:p>
                      <a:pPr algn="ctr" rtl="0" fontAlgn="b"/>
                      <a:r>
                        <a:rPr lang="pt-BR" sz="1400" b="1" dirty="0">
                          <a:effectLst/>
                        </a:rPr>
                        <a:t>Classes (y)</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ctr" rtl="0" fontAlgn="b"/>
                      <a:endParaRPr lang="pt-BR" sz="1400">
                        <a:effectLst/>
                      </a:endParaRP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0025">
                <a:tc rowSpan="3">
                  <a:txBody>
                    <a:bodyPr/>
                    <a:lstStyle/>
                    <a:p>
                      <a:pPr algn="ctr" rtl="0" fontAlgn="ctr"/>
                      <a:r>
                        <a:rPr lang="pt-BR" sz="1400" b="1" dirty="0">
                          <a:effectLst/>
                        </a:rPr>
                        <a:t>x1</a:t>
                      </a:r>
                    </a:p>
                  </a:txBody>
                  <a:tcPr marL="28575" marR="28575" marT="19050" marB="19050" anchor="ctr">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0025">
                <a:tc vMerge="1">
                  <a:txBody>
                    <a:bodyPr/>
                    <a:lstStyle/>
                    <a:p>
                      <a:endParaRPr lang="pt-BR"/>
                    </a:p>
                  </a:txBody>
                  <a:tcPr/>
                </a:tc>
                <a:tc>
                  <a:txBody>
                    <a:bodyPr/>
                    <a:lstStyle/>
                    <a:p>
                      <a:pPr algn="ctr" rtl="0" fontAlgn="b"/>
                      <a:r>
                        <a:rPr lang="pt-BR" sz="1400" dirty="0">
                          <a:effectLst/>
                        </a:rPr>
                        <a:t>2</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0</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2</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00025">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dirty="0">
                          <a:effectLst/>
                        </a:rPr>
                        <a:t>4</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247778567"/>
              </p:ext>
            </p:extLst>
          </p:nvPr>
        </p:nvGraphicFramePr>
        <p:xfrm>
          <a:off x="10214668" y="5524444"/>
          <a:ext cx="1669607" cy="1257300"/>
        </p:xfrm>
        <a:graphic>
          <a:graphicData uri="http://schemas.openxmlformats.org/drawingml/2006/table">
            <a:tbl>
              <a:tblPr/>
              <a:tblGrid>
                <a:gridCol w="319503">
                  <a:extLst>
                    <a:ext uri="{9D8B030D-6E8A-4147-A177-3AD203B41FA5}">
                      <a16:colId xmlns:a16="http://schemas.microsoft.com/office/drawing/2014/main" val="20000"/>
                    </a:ext>
                  </a:extLst>
                </a:gridCol>
                <a:gridCol w="213002">
                  <a:extLst>
                    <a:ext uri="{9D8B030D-6E8A-4147-A177-3AD203B41FA5}">
                      <a16:colId xmlns:a16="http://schemas.microsoft.com/office/drawing/2014/main" val="20001"/>
                    </a:ext>
                  </a:extLst>
                </a:gridCol>
                <a:gridCol w="304290">
                  <a:extLst>
                    <a:ext uri="{9D8B030D-6E8A-4147-A177-3AD203B41FA5}">
                      <a16:colId xmlns:a16="http://schemas.microsoft.com/office/drawing/2014/main" val="20002"/>
                    </a:ext>
                  </a:extLst>
                </a:gridCol>
                <a:gridCol w="273861">
                  <a:extLst>
                    <a:ext uri="{9D8B030D-6E8A-4147-A177-3AD203B41FA5}">
                      <a16:colId xmlns:a16="http://schemas.microsoft.com/office/drawing/2014/main" val="20003"/>
                    </a:ext>
                  </a:extLst>
                </a:gridCol>
                <a:gridCol w="304290">
                  <a:extLst>
                    <a:ext uri="{9D8B030D-6E8A-4147-A177-3AD203B41FA5}">
                      <a16:colId xmlns:a16="http://schemas.microsoft.com/office/drawing/2014/main" val="20004"/>
                    </a:ext>
                  </a:extLst>
                </a:gridCol>
                <a:gridCol w="254661">
                  <a:extLst>
                    <a:ext uri="{9D8B030D-6E8A-4147-A177-3AD203B41FA5}">
                      <a16:colId xmlns:a16="http://schemas.microsoft.com/office/drawing/2014/main" val="20005"/>
                    </a:ext>
                  </a:extLst>
                </a:gridCol>
              </a:tblGrid>
              <a:tr h="200025">
                <a:tc>
                  <a:txBody>
                    <a:bodyPr/>
                    <a:lstStyle/>
                    <a:p>
                      <a:pPr algn="ctr" rtl="0" fontAlgn="b"/>
                      <a:endParaRPr lang="pt-BR" sz="14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gridSpan="3">
                  <a:txBody>
                    <a:bodyPr/>
                    <a:lstStyle/>
                    <a:p>
                      <a:pPr algn="ctr" rtl="0" fontAlgn="b"/>
                      <a:r>
                        <a:rPr lang="pt-BR" sz="1400" b="1" dirty="0">
                          <a:effectLst/>
                        </a:rPr>
                        <a:t>Classes (y)</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ctr" rtl="0" fontAlgn="b"/>
                      <a:endParaRPr lang="pt-BR" sz="1400">
                        <a:effectLst/>
                      </a:endParaRP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0025">
                <a:tc>
                  <a:txBody>
                    <a:bodyPr/>
                    <a:lstStyle/>
                    <a:p>
                      <a:pPr algn="ctr" rtl="0" fontAlgn="b"/>
                      <a:endParaRPr lang="pt-BR" sz="14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0025">
                <a:tc rowSpan="2">
                  <a:txBody>
                    <a:bodyPr/>
                    <a:lstStyle/>
                    <a:p>
                      <a:pPr algn="ctr" rtl="0" fontAlgn="ctr"/>
                      <a:r>
                        <a:rPr lang="pt-BR" sz="1400" b="1" dirty="0">
                          <a:effectLst/>
                        </a:rPr>
                        <a:t>x2</a:t>
                      </a:r>
                    </a:p>
                  </a:txBody>
                  <a:tcPr marL="28575" marR="28575" marT="19050" marB="19050" anchor="ctr">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0025">
                <a:tc vMerge="1">
                  <a:txBody>
                    <a:bodyPr/>
                    <a:lstStyle/>
                    <a:p>
                      <a:endParaRPr lang="pt-BR"/>
                    </a:p>
                  </a:txBody>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0</a:t>
                      </a:r>
                    </a:p>
                  </a:txBody>
                  <a:tcPr marL="28575" marR="28575" marT="19050" marB="19050" anchor="b">
                    <a:lnL w="12700" cap="flat" cmpd="sng" algn="ctr">
                      <a:solidFill>
                        <a:schemeClr val="tx1"/>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a:effectLst/>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1</a:t>
                      </a: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400" dirty="0">
                          <a:effectLst/>
                        </a:rPr>
                        <a:t>2</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algn="ctr" rtl="0" fontAlgn="b"/>
                      <a:endParaRPr lang="pt-BR" sz="14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endParaRPr lang="pt-BR" sz="1400">
                        <a:effectLst/>
                      </a:endParaRPr>
                    </a:p>
                  </a:txBody>
                  <a:tcPr marL="28575" marR="28575" marT="19050" marB="19050" anchor="b">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400" b="1" dirty="0">
                          <a:effectLst/>
                        </a:rPr>
                        <a:t>4</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2" name="Rectangle 1"/>
              <p:cNvSpPr/>
              <p:nvPr/>
            </p:nvSpPr>
            <p:spPr>
              <a:xfrm>
                <a:off x="10113068" y="1251420"/>
                <a:ext cx="2033121" cy="1200329"/>
              </a:xfrm>
              <a:prstGeom prst="rect">
                <a:avLst/>
              </a:prstGeom>
            </p:spPr>
            <p:txBody>
              <a:bodyPr wrap="none">
                <a:spAutoFit/>
              </a:bodyPr>
              <a:lstStyle/>
              <a:p>
                <a:r>
                  <a:rPr lang="pt-BR" b="1" dirty="0"/>
                  <a:t>Obs.:</a:t>
                </a:r>
              </a:p>
              <a:p>
                <a:pPr marL="285750" indent="-285750">
                  <a:buFont typeface="Arial" panose="020B0604020202020204" pitchFamily="34" charset="0"/>
                  <a:buChar char="•"/>
                </a:pPr>
                <a14:m>
                  <m:oMath xmlns:m="http://schemas.openxmlformats.org/officeDocument/2006/math">
                    <m:r>
                      <a:rPr lang="pt-BR" i="1" smtClean="0">
                        <a:latin typeface="Cambria Math" panose="02040503050406030204" pitchFamily="18" charset="0"/>
                      </a:rPr>
                      <m:t>𝐻</m:t>
                    </m:r>
                    <m:d>
                      <m:dPr>
                        <m:ctrlPr>
                          <a:rPr lang="pt-BR" i="1">
                            <a:latin typeface="Cambria Math" panose="02040503050406030204" pitchFamily="18" charset="0"/>
                          </a:rPr>
                        </m:ctrlPr>
                      </m:dPr>
                      <m:e>
                        <m:r>
                          <a:rPr lang="pt-BR" b="0" i="1" smtClean="0">
                            <a:latin typeface="Cambria Math" panose="02040503050406030204" pitchFamily="18" charset="0"/>
                          </a:rPr>
                          <m:t>0</m:t>
                        </m:r>
                      </m:e>
                    </m:d>
                    <m:r>
                      <a:rPr lang="pt-BR" b="0" i="1" smtClean="0">
                        <a:latin typeface="Cambria Math" panose="02040503050406030204" pitchFamily="18" charset="0"/>
                      </a:rPr>
                      <m:t>=0</m:t>
                    </m:r>
                  </m:oMath>
                </a14:m>
                <a:endParaRPr lang="pt-BR" dirty="0"/>
              </a:p>
              <a:p>
                <a:pPr marL="285750" indent="-285750">
                  <a:buFont typeface="Arial" panose="020B0604020202020204" pitchFamily="34" charset="0"/>
                  <a:buChar char="•"/>
                </a:pPr>
                <a14:m>
                  <m:oMath xmlns:m="http://schemas.openxmlformats.org/officeDocument/2006/math">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1</m:t>
                        </m:r>
                      </m:e>
                    </m:d>
                    <m:r>
                      <a:rPr lang="pt-BR" i="1">
                        <a:latin typeface="Cambria Math" panose="02040503050406030204" pitchFamily="18" charset="0"/>
                      </a:rPr>
                      <m:t>=0</m:t>
                    </m:r>
                  </m:oMath>
                </a14:m>
                <a:endParaRPr lang="pt-BR" dirty="0"/>
              </a:p>
              <a:p>
                <a:pPr marL="285750" indent="-285750">
                  <a:buFont typeface="Arial" panose="020B0604020202020204" pitchFamily="34" charset="0"/>
                  <a:buChar char="•"/>
                </a:pPr>
                <a14:m>
                  <m:oMath xmlns:m="http://schemas.openxmlformats.org/officeDocument/2006/math">
                    <m:r>
                      <a:rPr lang="pt-BR" b="0" i="1" smtClean="0">
                        <a:latin typeface="Cambria Math" panose="02040503050406030204" pitchFamily="18" charset="0"/>
                      </a:rPr>
                      <m:t>0∗</m:t>
                    </m:r>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d>
                      <m:dPr>
                        <m:ctrlPr>
                          <a:rPr lang="pt-BR" b="0" i="1" smtClean="0">
                            <a:latin typeface="Cambria Math" panose="02040503050406030204" pitchFamily="18" charset="0"/>
                          </a:rPr>
                        </m:ctrlPr>
                      </m:dPr>
                      <m:e>
                        <m:r>
                          <a:rPr lang="pt-BR" b="0" i="0" smtClean="0">
                            <a:latin typeface="Cambria Math" panose="02040503050406030204" pitchFamily="18" charset="0"/>
                          </a:rPr>
                          <m:t>0</m:t>
                        </m:r>
                      </m:e>
                    </m:d>
                    <m:r>
                      <a:rPr lang="pt-BR" b="0" i="0" smtClean="0">
                        <a:latin typeface="Cambria Math" panose="02040503050406030204" pitchFamily="18" charset="0"/>
                      </a:rPr>
                      <m:t>=0</m:t>
                    </m:r>
                  </m:oMath>
                </a14:m>
                <a:endParaRPr lang="pt-BR" dirty="0"/>
              </a:p>
            </p:txBody>
          </p:sp>
        </mc:Choice>
        <mc:Fallback xmlns="">
          <p:sp>
            <p:nvSpPr>
              <p:cNvPr id="2" name="Rectangle 1"/>
              <p:cNvSpPr>
                <a:spLocks noRot="1" noChangeAspect="1" noMove="1" noResize="1" noEditPoints="1" noAdjustHandles="1" noChangeArrowheads="1" noChangeShapeType="1" noTextEdit="1"/>
              </p:cNvSpPr>
              <p:nvPr/>
            </p:nvSpPr>
            <p:spPr>
              <a:xfrm>
                <a:off x="10113068" y="1251420"/>
                <a:ext cx="2033121" cy="1200329"/>
              </a:xfrm>
              <a:prstGeom prst="rect">
                <a:avLst/>
              </a:prstGeom>
              <a:blipFill rotWithShape="0">
                <a:blip r:embed="rId3"/>
                <a:stretch>
                  <a:fillRect l="-2703" t="-2538" b="-5076"/>
                </a:stretch>
              </a:blipFill>
            </p:spPr>
            <p:txBody>
              <a:bodyPr/>
              <a:lstStyle/>
              <a:p>
                <a:r>
                  <a:rPr lang="pt-BR">
                    <a:noFill/>
                  </a:rPr>
                  <a:t> </a:t>
                </a:r>
              </a:p>
            </p:txBody>
          </p:sp>
        </mc:Fallback>
      </mc:AlternateContent>
    </p:spTree>
    <p:extLst>
      <p:ext uri="{BB962C8B-B14F-4D97-AF65-F5344CB8AC3E}">
        <p14:creationId xmlns:p14="http://schemas.microsoft.com/office/powerpoint/2010/main" val="13106036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36B3969D-354D-EBE2-F705-F51DD499FD33}"/>
              </a:ext>
            </a:extLst>
          </p:cNvPr>
          <p:cNvSpPr>
            <a:spLocks noGrp="1"/>
          </p:cNvSpPr>
          <p:nvPr>
            <p:ph idx="1"/>
          </p:nvPr>
        </p:nvSpPr>
        <p:spPr>
          <a:xfrm>
            <a:off x="838200" y="2555240"/>
            <a:ext cx="10515600" cy="1747520"/>
          </a:xfrm>
        </p:spPr>
        <p:txBody>
          <a:bodyPr>
            <a:normAutofit/>
          </a:bodyPr>
          <a:lstStyle/>
          <a:p>
            <a:pPr marL="0" indent="0" algn="ctr">
              <a:buNone/>
            </a:pPr>
            <a:r>
              <a:rPr lang="pt-BR" sz="5400" dirty="0"/>
              <a:t>Anexo II: Qual a entropia de 0?</a:t>
            </a:r>
          </a:p>
        </p:txBody>
      </p:sp>
    </p:spTree>
    <p:extLst>
      <p:ext uri="{BB962C8B-B14F-4D97-AF65-F5344CB8AC3E}">
        <p14:creationId xmlns:p14="http://schemas.microsoft.com/office/powerpoint/2010/main" val="42162842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A157A-34F9-C79E-4D57-B4052B1AF696}"/>
              </a:ext>
            </a:extLst>
          </p:cNvPr>
          <p:cNvSpPr>
            <a:spLocks noGrp="1"/>
          </p:cNvSpPr>
          <p:nvPr>
            <p:ph type="title"/>
          </p:nvPr>
        </p:nvSpPr>
        <p:spPr/>
        <p:txBody>
          <a:bodyPr/>
          <a:lstStyle/>
          <a:p>
            <a:r>
              <a:rPr lang="pt-BR" dirty="0"/>
              <a:t>Qual a entropia de 0?</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C374A8A0-1621-F766-7EF1-2A3055D2CB1E}"/>
                  </a:ext>
                </a:extLst>
              </p:cNvPr>
              <p:cNvSpPr>
                <a:spLocks noGrp="1"/>
              </p:cNvSpPr>
              <p:nvPr>
                <p:ph idx="1"/>
              </p:nvPr>
            </p:nvSpPr>
            <p:spPr>
              <a:xfrm>
                <a:off x="838200" y="1825624"/>
                <a:ext cx="11170920" cy="5032376"/>
              </a:xfrm>
            </p:spPr>
            <p:txBody>
              <a:bodyPr>
                <a:normAutofit lnSpcReduction="10000"/>
              </a:bodyPr>
              <a:lstStyle/>
              <a:p>
                <a:r>
                  <a:rPr lang="pt-BR" dirty="0"/>
                  <a:t>À primeira vista, pode parecer que </a:t>
                </a:r>
                <a14:m>
                  <m:oMath xmlns:m="http://schemas.openxmlformats.org/officeDocument/2006/math">
                    <m:r>
                      <a:rPr lang="pt-BR" i="1">
                        <a:latin typeface="Cambria Math" panose="02040503050406030204" pitchFamily="18" charset="0"/>
                      </a:rPr>
                      <m:t>−</m:t>
                    </m:r>
                    <m:r>
                      <a:rPr lang="pt-BR" i="1">
                        <a:latin typeface="Cambria Math" panose="02040503050406030204" pitchFamily="18" charset="0"/>
                      </a:rPr>
                      <m:t>𝑥</m:t>
                    </m:r>
                    <m:func>
                      <m:funcPr>
                        <m:ctrlPr>
                          <a:rPr lang="pt-BR" i="1">
                            <a:latin typeface="Cambria Math" panose="02040503050406030204" pitchFamily="18" charset="0"/>
                          </a:rPr>
                        </m:ctrlPr>
                      </m:funcPr>
                      <m:fName>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fName>
                      <m:e>
                        <m:d>
                          <m:dPr>
                            <m:ctrlPr>
                              <a:rPr lang="pt-BR" i="1">
                                <a:latin typeface="Cambria Math" panose="02040503050406030204" pitchFamily="18" charset="0"/>
                              </a:rPr>
                            </m:ctrlPr>
                          </m:dPr>
                          <m:e>
                            <m:r>
                              <a:rPr lang="pt-BR" i="1">
                                <a:latin typeface="Cambria Math" panose="02040503050406030204" pitchFamily="18" charset="0"/>
                              </a:rPr>
                              <m:t>𝑥</m:t>
                            </m:r>
                          </m:e>
                        </m:d>
                      </m:e>
                    </m:func>
                    <m:r>
                      <a:rPr lang="pt-BR" i="1">
                        <a:latin typeface="Cambria Math" panose="02040503050406030204" pitchFamily="18" charset="0"/>
                      </a:rPr>
                      <m:t> </m:t>
                    </m:r>
                  </m:oMath>
                </a14:m>
                <a:r>
                  <a:rPr lang="pt-BR" dirty="0"/>
                  <a:t>é um valor indeterminado, pois resulta em </a:t>
                </a:r>
                <a14:m>
                  <m:oMath xmlns:m="http://schemas.openxmlformats.org/officeDocument/2006/math">
                    <m:r>
                      <a:rPr lang="pt-BR" b="0" i="1" smtClean="0">
                        <a:latin typeface="Cambria Math" panose="02040503050406030204" pitchFamily="18" charset="0"/>
                      </a:rPr>
                      <m:t>0</m:t>
                    </m:r>
                    <m:r>
                      <a:rPr lang="pt-BR" b="0" i="1" smtClean="0">
                        <a:latin typeface="Cambria Math" panose="02040503050406030204" pitchFamily="18" charset="0"/>
                        <a:ea typeface="Cambria Math" panose="02040503050406030204" pitchFamily="18" charset="0"/>
                      </a:rPr>
                      <m:t>×−∞</m:t>
                    </m:r>
                  </m:oMath>
                </a14:m>
                <a:r>
                  <a:rPr lang="pt-BR" dirty="0"/>
                  <a:t>. Porém, se fizermos uma pequena modificação na equação:</a:t>
                </a:r>
              </a:p>
              <a:p>
                <a:pPr marL="0" indent="0">
                  <a:buNone/>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𝐻</m:t>
                      </m:r>
                      <m:d>
                        <m:dPr>
                          <m:ctrlPr>
                            <a:rPr lang="pt-BR" b="0" i="1" smtClean="0">
                              <a:latin typeface="Cambria Math" panose="02040503050406030204" pitchFamily="18" charset="0"/>
                            </a:rPr>
                          </m:ctrlPr>
                        </m:dPr>
                        <m:e>
                          <m:r>
                            <a:rPr lang="pt-BR" b="0" i="1" smtClean="0">
                              <a:latin typeface="Cambria Math" panose="02040503050406030204" pitchFamily="18" charset="0"/>
                            </a:rPr>
                            <m:t>𝑥</m:t>
                          </m:r>
                        </m:e>
                      </m:d>
                      <m:r>
                        <a:rPr lang="pt-BR" b="0" i="1" smtClean="0">
                          <a:latin typeface="Cambria Math" panose="02040503050406030204" pitchFamily="18" charset="0"/>
                        </a:rPr>
                        <m:t>=−</m:t>
                      </m:r>
                      <m:r>
                        <a:rPr lang="pt-BR" b="0" i="1" smtClean="0">
                          <a:latin typeface="Cambria Math" panose="02040503050406030204" pitchFamily="18" charset="0"/>
                        </a:rPr>
                        <m:t>𝑥</m:t>
                      </m:r>
                      <m:func>
                        <m:funcPr>
                          <m:ctrlPr>
                            <a:rPr lang="pt-BR" b="0" i="1" smtClean="0">
                              <a:latin typeface="Cambria Math" panose="02040503050406030204" pitchFamily="18" charset="0"/>
                            </a:rPr>
                          </m:ctrlPr>
                        </m:funcPr>
                        <m:fName>
                          <m:sSub>
                            <m:sSubPr>
                              <m:ctrlPr>
                                <a:rPr lang="pt-BR" b="0" i="1" smtClean="0">
                                  <a:latin typeface="Cambria Math" panose="02040503050406030204" pitchFamily="18" charset="0"/>
                                </a:rPr>
                              </m:ctrlPr>
                            </m:sSubPr>
                            <m:e>
                              <m:r>
                                <m:rPr>
                                  <m:sty m:val="p"/>
                                </m:rPr>
                                <a:rPr lang="pt-BR" b="0" i="0" smtClean="0">
                                  <a:latin typeface="Cambria Math" panose="02040503050406030204" pitchFamily="18" charset="0"/>
                                </a:rPr>
                                <m:t>log</m:t>
                              </m:r>
                            </m:e>
                            <m:sub>
                              <m:r>
                                <a:rPr lang="pt-BR" b="0" i="1" smtClean="0">
                                  <a:latin typeface="Cambria Math" panose="02040503050406030204" pitchFamily="18" charset="0"/>
                                </a:rPr>
                                <m:t>2</m:t>
                              </m:r>
                            </m:sub>
                          </m:sSub>
                        </m:fName>
                        <m:e>
                          <m:d>
                            <m:dPr>
                              <m:ctrlPr>
                                <a:rPr lang="pt-BR" b="0" i="1" smtClean="0">
                                  <a:latin typeface="Cambria Math" panose="02040503050406030204" pitchFamily="18" charset="0"/>
                                </a:rPr>
                              </m:ctrlPr>
                            </m:dPr>
                            <m:e>
                              <m:r>
                                <a:rPr lang="pt-BR" b="0" i="1" smtClean="0">
                                  <a:latin typeface="Cambria Math" panose="02040503050406030204" pitchFamily="18" charset="0"/>
                                </a:rPr>
                                <m:t>𝑥</m:t>
                              </m:r>
                            </m:e>
                          </m:d>
                        </m:e>
                      </m:func>
                      <m:r>
                        <a:rPr lang="pt-BR" b="0" i="1" smtClean="0">
                          <a:latin typeface="Cambria Math" panose="02040503050406030204" pitchFamily="18" charset="0"/>
                        </a:rPr>
                        <m:t>=−</m:t>
                      </m:r>
                      <m:f>
                        <m:fPr>
                          <m:ctrlPr>
                            <a:rPr lang="pt-BR" b="0" i="1" smtClean="0">
                              <a:latin typeface="Cambria Math" panose="02040503050406030204" pitchFamily="18" charset="0"/>
                            </a:rPr>
                          </m:ctrlPr>
                        </m:fPr>
                        <m:num>
                          <m:func>
                            <m:funcPr>
                              <m:ctrlPr>
                                <a:rPr lang="pt-BR" i="1">
                                  <a:latin typeface="Cambria Math" panose="02040503050406030204" pitchFamily="18" charset="0"/>
                                </a:rPr>
                              </m:ctrlPr>
                            </m:funcPr>
                            <m:fName>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fName>
                            <m:e>
                              <m:d>
                                <m:dPr>
                                  <m:ctrlPr>
                                    <a:rPr lang="pt-BR" i="1">
                                      <a:latin typeface="Cambria Math" panose="02040503050406030204" pitchFamily="18" charset="0"/>
                                    </a:rPr>
                                  </m:ctrlPr>
                                </m:dPr>
                                <m:e>
                                  <m:r>
                                    <a:rPr lang="pt-BR" i="1">
                                      <a:latin typeface="Cambria Math" panose="02040503050406030204" pitchFamily="18" charset="0"/>
                                    </a:rPr>
                                    <m:t>𝑥</m:t>
                                  </m:r>
                                </m:e>
                              </m:d>
                            </m:e>
                          </m:func>
                        </m:num>
                        <m:den>
                          <m:f>
                            <m:fPr>
                              <m:ctrlPr>
                                <a:rPr lang="pt-BR" b="0" i="1" smtClean="0">
                                  <a:latin typeface="Cambria Math" panose="02040503050406030204" pitchFamily="18" charset="0"/>
                                </a:rPr>
                              </m:ctrlPr>
                            </m:fPr>
                            <m:num>
                              <m:r>
                                <a:rPr lang="pt-BR" b="0" i="1" smtClean="0">
                                  <a:latin typeface="Cambria Math" panose="02040503050406030204" pitchFamily="18" charset="0"/>
                                </a:rPr>
                                <m:t>1</m:t>
                              </m:r>
                            </m:num>
                            <m:den>
                              <m:r>
                                <a:rPr lang="pt-BR" b="0" i="1" smtClean="0">
                                  <a:latin typeface="Cambria Math" panose="02040503050406030204" pitchFamily="18" charset="0"/>
                                </a:rPr>
                                <m:t>𝑥</m:t>
                              </m:r>
                            </m:den>
                          </m:f>
                        </m:den>
                      </m:f>
                      <m:r>
                        <a:rPr lang="pt-BR" b="0" i="1" smtClean="0">
                          <a:latin typeface="Cambria Math" panose="02040503050406030204" pitchFamily="18" charset="0"/>
                        </a:rPr>
                        <m:t>.</m:t>
                      </m:r>
                    </m:oMath>
                  </m:oMathPara>
                </a14:m>
                <a:endParaRPr lang="pt-BR" dirty="0"/>
              </a:p>
              <a:p>
                <a:pPr marL="0" indent="0">
                  <a:buNone/>
                </a:pPr>
                <a:r>
                  <a:rPr lang="pt-BR" dirty="0"/>
                  <a:t>e, na sequência, aplicarmos a regra de </a:t>
                </a:r>
                <a:r>
                  <a:rPr lang="pt-BR" dirty="0" err="1"/>
                  <a:t>L’Hôpital</a:t>
                </a:r>
                <a:r>
                  <a:rPr lang="pt-BR" dirty="0"/>
                  <a:t>, conseguimos encontrar o valor quando </a:t>
                </a:r>
                <a14:m>
                  <m:oMath xmlns:m="http://schemas.openxmlformats.org/officeDocument/2006/math">
                    <m:r>
                      <a:rPr lang="pt-BR" i="1">
                        <a:latin typeface="Cambria Math" panose="02040503050406030204" pitchFamily="18" charset="0"/>
                      </a:rPr>
                      <m:t>𝑥</m:t>
                    </m:r>
                    <m:r>
                      <a:rPr lang="pt-BR" i="1">
                        <a:latin typeface="Cambria Math" panose="02040503050406030204" pitchFamily="18" charset="0"/>
                      </a:rPr>
                      <m:t> </m:t>
                    </m:r>
                  </m:oMath>
                </a14:m>
                <a:r>
                  <a:rPr lang="pt-BR" dirty="0"/>
                  <a:t>se aproxima de zero do lado positivo (</a:t>
                </a:r>
                <a14:m>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0</m:t>
                        </m:r>
                      </m:e>
                      <m:sub>
                        <m:r>
                          <a:rPr lang="pt-BR" b="0" i="1" smtClean="0">
                            <a:latin typeface="Cambria Math" panose="02040503050406030204" pitchFamily="18" charset="0"/>
                          </a:rPr>
                          <m:t>+</m:t>
                        </m:r>
                      </m:sub>
                    </m:sSub>
                  </m:oMath>
                </a14:m>
                <a:r>
                  <a:rPr lang="pt-BR" dirty="0"/>
                  <a:t>):</a:t>
                </a:r>
              </a:p>
              <a:p>
                <a:pPr marL="0" indent="0">
                  <a:buNone/>
                </a:pPr>
                <a14:m>
                  <m:oMathPara xmlns:m="http://schemas.openxmlformats.org/officeDocument/2006/math">
                    <m:oMathParaPr>
                      <m:jc m:val="centerGroup"/>
                    </m:oMathParaPr>
                    <m:oMath xmlns:m="http://schemas.openxmlformats.org/officeDocument/2006/math">
                      <m:func>
                        <m:funcPr>
                          <m:ctrlPr>
                            <a:rPr lang="pt-BR" b="0" i="1" smtClean="0">
                              <a:latin typeface="Cambria Math" panose="02040503050406030204" pitchFamily="18" charset="0"/>
                            </a:rPr>
                          </m:ctrlPr>
                        </m:funcPr>
                        <m:fName>
                          <m:limLow>
                            <m:limLowPr>
                              <m:ctrlPr>
                                <a:rPr lang="pt-BR" b="0" i="1" smtClean="0">
                                  <a:latin typeface="Cambria Math" panose="02040503050406030204" pitchFamily="18" charset="0"/>
                                </a:rPr>
                              </m:ctrlPr>
                            </m:limLowPr>
                            <m:e>
                              <m:r>
                                <m:rPr>
                                  <m:sty m:val="p"/>
                                </m:rPr>
                                <a:rPr lang="pt-BR" b="0" i="0" smtClean="0">
                                  <a:latin typeface="Cambria Math" panose="02040503050406030204" pitchFamily="18" charset="0"/>
                                </a:rPr>
                                <m:t>lim</m:t>
                              </m:r>
                            </m:e>
                            <m:lim>
                              <m:r>
                                <a:rPr lang="pt-BR" b="0" i="1" smtClean="0">
                                  <a:latin typeface="Cambria Math" panose="02040503050406030204" pitchFamily="18" charset="0"/>
                                </a:rPr>
                                <m:t>𝑥</m:t>
                              </m:r>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0</m:t>
                                  </m:r>
                                </m:e>
                                <m:sub>
                                  <m:r>
                                    <a:rPr lang="pt-BR" i="1">
                                      <a:latin typeface="Cambria Math" panose="02040503050406030204" pitchFamily="18" charset="0"/>
                                    </a:rPr>
                                    <m:t>+</m:t>
                                  </m:r>
                                </m:sub>
                              </m:sSub>
                            </m:lim>
                          </m:limLow>
                        </m:fName>
                        <m:e>
                          <m:r>
                            <a:rPr lang="pt-BR" i="1">
                              <a:latin typeface="Cambria Math" panose="02040503050406030204" pitchFamily="18" charset="0"/>
                            </a:rPr>
                            <m:t>𝐻</m:t>
                          </m:r>
                          <m:d>
                            <m:dPr>
                              <m:ctrlPr>
                                <a:rPr lang="pt-BR" i="1">
                                  <a:latin typeface="Cambria Math" panose="02040503050406030204" pitchFamily="18" charset="0"/>
                                </a:rPr>
                              </m:ctrlPr>
                            </m:dPr>
                            <m:e>
                              <m:r>
                                <a:rPr lang="pt-BR" i="1">
                                  <a:latin typeface="Cambria Math" panose="02040503050406030204" pitchFamily="18" charset="0"/>
                                </a:rPr>
                                <m:t>𝑥</m:t>
                              </m:r>
                            </m:e>
                          </m:d>
                        </m:e>
                      </m:func>
                      <m:r>
                        <a:rPr lang="pt-BR" i="1">
                          <a:latin typeface="Cambria Math" panose="02040503050406030204" pitchFamily="18" charset="0"/>
                        </a:rPr>
                        <m:t>=</m:t>
                      </m:r>
                      <m:limLow>
                        <m:limLowPr>
                          <m:ctrlPr>
                            <a:rPr lang="pt-BR" i="1">
                              <a:latin typeface="Cambria Math" panose="02040503050406030204" pitchFamily="18" charset="0"/>
                            </a:rPr>
                          </m:ctrlPr>
                        </m:limLowPr>
                        <m:e>
                          <m:r>
                            <m:rPr>
                              <m:sty m:val="p"/>
                            </m:rPr>
                            <a:rPr lang="pt-BR">
                              <a:latin typeface="Cambria Math" panose="02040503050406030204" pitchFamily="18" charset="0"/>
                            </a:rPr>
                            <m:t>lim</m:t>
                          </m:r>
                        </m:e>
                        <m:lim>
                          <m:r>
                            <a:rPr lang="pt-BR" i="1">
                              <a:latin typeface="Cambria Math" panose="02040503050406030204" pitchFamily="18" charset="0"/>
                            </a:rPr>
                            <m:t>𝑥</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0</m:t>
                              </m:r>
                            </m:e>
                            <m:sub>
                              <m:r>
                                <a:rPr lang="pt-BR" i="1">
                                  <a:latin typeface="Cambria Math" panose="02040503050406030204" pitchFamily="18" charset="0"/>
                                </a:rPr>
                                <m:t>+</m:t>
                              </m:r>
                            </m:sub>
                          </m:sSub>
                        </m:lim>
                      </m:limLow>
                      <m:r>
                        <a:rPr lang="pt-BR" i="1">
                          <a:latin typeface="Cambria Math" panose="02040503050406030204" pitchFamily="18" charset="0"/>
                        </a:rPr>
                        <m:t>−</m:t>
                      </m:r>
                      <m:f>
                        <m:fPr>
                          <m:ctrlPr>
                            <a:rPr lang="pt-BR" i="1" smtClean="0">
                              <a:latin typeface="Cambria Math" panose="02040503050406030204" pitchFamily="18" charset="0"/>
                            </a:rPr>
                          </m:ctrlPr>
                        </m:fPr>
                        <m:num>
                          <m:f>
                            <m:fPr>
                              <m:ctrlPr>
                                <a:rPr lang="pt-BR" i="1" smtClean="0">
                                  <a:latin typeface="Cambria Math" panose="02040503050406030204" pitchFamily="18" charset="0"/>
                                </a:rPr>
                              </m:ctrlPr>
                            </m:fPr>
                            <m:num>
                              <m:r>
                                <a:rPr lang="pt-BR" b="0" i="1" smtClean="0">
                                  <a:latin typeface="Cambria Math" panose="02040503050406030204" pitchFamily="18" charset="0"/>
                                </a:rPr>
                                <m:t>1</m:t>
                              </m:r>
                            </m:num>
                            <m:den>
                              <m:func>
                                <m:funcPr>
                                  <m:ctrlPr>
                                    <a:rPr lang="pt-BR" i="1">
                                      <a:latin typeface="Cambria Math" panose="02040503050406030204" pitchFamily="18" charset="0"/>
                                    </a:rPr>
                                  </m:ctrlPr>
                                </m:funcPr>
                                <m:fName>
                                  <m:r>
                                    <a:rPr lang="pt-BR" i="1">
                                      <a:latin typeface="Cambria Math" panose="02040503050406030204" pitchFamily="18" charset="0"/>
                                    </a:rPr>
                                    <m:t>𝑥</m:t>
                                  </m:r>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fName>
                                <m:e>
                                  <m:d>
                                    <m:dPr>
                                      <m:ctrlPr>
                                        <a:rPr lang="pt-BR" b="0" i="1">
                                          <a:latin typeface="Cambria Math" panose="02040503050406030204" pitchFamily="18" charset="0"/>
                                        </a:rPr>
                                      </m:ctrlPr>
                                    </m:dPr>
                                    <m:e>
                                      <m:r>
                                        <a:rPr lang="pt-BR" b="0" i="1" smtClean="0">
                                          <a:latin typeface="Cambria Math" panose="02040503050406030204" pitchFamily="18" charset="0"/>
                                        </a:rPr>
                                        <m:t>2</m:t>
                                      </m:r>
                                    </m:e>
                                  </m:d>
                                </m:e>
                              </m:func>
                            </m:den>
                          </m:f>
                        </m:num>
                        <m:den>
                          <m:r>
                            <a:rPr lang="pt-BR" b="0" i="1" smtClean="0">
                              <a:latin typeface="Cambria Math" panose="02040503050406030204" pitchFamily="18" charset="0"/>
                            </a:rPr>
                            <m:t>−</m:t>
                          </m:r>
                          <m:f>
                            <m:fPr>
                              <m:ctrlPr>
                                <a:rPr lang="pt-BR" i="1" smtClean="0">
                                  <a:latin typeface="Cambria Math" panose="02040503050406030204" pitchFamily="18" charset="0"/>
                                </a:rPr>
                              </m:ctrlPr>
                            </m:fPr>
                            <m:num>
                              <m:r>
                                <a:rPr lang="pt-BR" i="1">
                                  <a:latin typeface="Cambria Math" panose="02040503050406030204" pitchFamily="18" charset="0"/>
                                </a:rPr>
                                <m:t>1</m:t>
                              </m:r>
                            </m:num>
                            <m:den>
                              <m:sSup>
                                <m:sSupPr>
                                  <m:ctrlPr>
                                    <a:rPr lang="pt-BR" i="1" smtClean="0">
                                      <a:latin typeface="Cambria Math" panose="02040503050406030204" pitchFamily="18" charset="0"/>
                                    </a:rPr>
                                  </m:ctrlPr>
                                </m:sSupPr>
                                <m:e>
                                  <m:r>
                                    <a:rPr lang="pt-BR" i="1">
                                      <a:latin typeface="Cambria Math" panose="02040503050406030204" pitchFamily="18" charset="0"/>
                                    </a:rPr>
                                    <m:t>𝑥</m:t>
                                  </m:r>
                                </m:e>
                                <m:sup>
                                  <m:r>
                                    <a:rPr lang="pt-BR" b="0" i="1" smtClean="0">
                                      <a:latin typeface="Cambria Math" panose="02040503050406030204" pitchFamily="18" charset="0"/>
                                    </a:rPr>
                                    <m:t>2</m:t>
                                  </m:r>
                                </m:sup>
                              </m:sSup>
                            </m:den>
                          </m:f>
                        </m:den>
                      </m:f>
                      <m:r>
                        <a:rPr lang="pt-BR" b="0" i="1" smtClean="0">
                          <a:latin typeface="Cambria Math" panose="02040503050406030204" pitchFamily="18" charset="0"/>
                        </a:rPr>
                        <m:t>=</m:t>
                      </m:r>
                      <m:limLow>
                        <m:limLowPr>
                          <m:ctrlPr>
                            <a:rPr lang="pt-BR" i="1">
                              <a:latin typeface="Cambria Math" panose="02040503050406030204" pitchFamily="18" charset="0"/>
                            </a:rPr>
                          </m:ctrlPr>
                        </m:limLowPr>
                        <m:e>
                          <m:r>
                            <m:rPr>
                              <m:sty m:val="p"/>
                            </m:rPr>
                            <a:rPr lang="pt-BR">
                              <a:latin typeface="Cambria Math" panose="02040503050406030204" pitchFamily="18" charset="0"/>
                            </a:rPr>
                            <m:t>lim</m:t>
                          </m:r>
                        </m:e>
                        <m:lim>
                          <m:r>
                            <a:rPr lang="pt-BR" i="1">
                              <a:latin typeface="Cambria Math" panose="02040503050406030204" pitchFamily="18" charset="0"/>
                            </a:rPr>
                            <m:t>𝑥</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0</m:t>
                              </m:r>
                            </m:e>
                            <m:sub>
                              <m:r>
                                <a:rPr lang="pt-BR" i="1">
                                  <a:latin typeface="Cambria Math" panose="02040503050406030204" pitchFamily="18" charset="0"/>
                                </a:rPr>
                                <m:t>+</m:t>
                              </m:r>
                            </m:sub>
                          </m:sSub>
                        </m:lim>
                      </m:limLow>
                      <m:f>
                        <m:fPr>
                          <m:ctrlPr>
                            <a:rPr lang="pt-BR" i="1">
                              <a:latin typeface="Cambria Math" panose="02040503050406030204" pitchFamily="18" charset="0"/>
                            </a:rPr>
                          </m:ctrlPr>
                        </m:fPr>
                        <m:num>
                          <m:r>
                            <a:rPr lang="pt-BR" i="1">
                              <a:latin typeface="Cambria Math" panose="02040503050406030204" pitchFamily="18" charset="0"/>
                            </a:rPr>
                            <m:t>𝑥</m:t>
                          </m:r>
                        </m:num>
                        <m:den>
                          <m:func>
                            <m:funcPr>
                              <m:ctrlPr>
                                <a:rPr lang="pt-BR" i="1">
                                  <a:latin typeface="Cambria Math" panose="02040503050406030204" pitchFamily="18" charset="0"/>
                                </a:rPr>
                              </m:ctrlPr>
                            </m:funcPr>
                            <m:fName>
                              <m:sSub>
                                <m:sSubPr>
                                  <m:ctrlPr>
                                    <a:rPr lang="pt-BR" i="1">
                                      <a:latin typeface="Cambria Math" panose="02040503050406030204" pitchFamily="18" charset="0"/>
                                    </a:rPr>
                                  </m:ctrlPr>
                                </m:sSubPr>
                                <m:e>
                                  <m:r>
                                    <m:rPr>
                                      <m:sty m:val="p"/>
                                    </m:rPr>
                                    <a:rPr lang="pt-BR">
                                      <a:latin typeface="Cambria Math" panose="02040503050406030204" pitchFamily="18" charset="0"/>
                                    </a:rPr>
                                    <m:t>log</m:t>
                                  </m:r>
                                </m:e>
                                <m:sub>
                                  <m:r>
                                    <a:rPr lang="pt-BR" i="1">
                                      <a:latin typeface="Cambria Math" panose="02040503050406030204" pitchFamily="18" charset="0"/>
                                    </a:rPr>
                                    <m:t>2</m:t>
                                  </m:r>
                                </m:sub>
                              </m:sSub>
                            </m:fName>
                            <m:e>
                              <m:d>
                                <m:dPr>
                                  <m:ctrlPr>
                                    <a:rPr lang="pt-BR" i="1">
                                      <a:latin typeface="Cambria Math" panose="02040503050406030204" pitchFamily="18" charset="0"/>
                                    </a:rPr>
                                  </m:ctrlPr>
                                </m:dPr>
                                <m:e>
                                  <m:r>
                                    <a:rPr lang="pt-BR" i="1">
                                      <a:latin typeface="Cambria Math" panose="02040503050406030204" pitchFamily="18" charset="0"/>
                                    </a:rPr>
                                    <m:t>2</m:t>
                                  </m:r>
                                </m:e>
                              </m:d>
                            </m:e>
                          </m:func>
                        </m:den>
                      </m:f>
                      <m:r>
                        <a:rPr lang="pt-BR" b="0" i="1" smtClean="0">
                          <a:latin typeface="Cambria Math" panose="02040503050406030204" pitchFamily="18" charset="0"/>
                        </a:rPr>
                        <m:t>=0.</m:t>
                      </m:r>
                    </m:oMath>
                  </m:oMathPara>
                </a14:m>
                <a:endParaRPr lang="pt-BR" dirty="0"/>
              </a:p>
              <a:p>
                <a:pPr marL="0" indent="0">
                  <a:buNone/>
                </a:pPr>
                <a:r>
                  <a:rPr lang="pt-BR" dirty="0"/>
                  <a:t>Assim, </a:t>
                </a:r>
                <a14:m>
                  <m:oMath xmlns:m="http://schemas.openxmlformats.org/officeDocument/2006/math">
                    <m:r>
                      <a:rPr lang="pt-BR" b="0" i="1" smtClean="0">
                        <a:latin typeface="Cambria Math" panose="02040503050406030204" pitchFamily="18" charset="0"/>
                      </a:rPr>
                      <m:t>𝐻</m:t>
                    </m:r>
                    <m:d>
                      <m:dPr>
                        <m:ctrlPr>
                          <a:rPr lang="pt-BR" b="0" i="1" smtClean="0">
                            <a:latin typeface="Cambria Math" panose="02040503050406030204" pitchFamily="18" charset="0"/>
                          </a:rPr>
                        </m:ctrlPr>
                      </m:dPr>
                      <m:e>
                        <m:r>
                          <a:rPr lang="pt-BR" b="0" i="1" smtClean="0">
                            <a:latin typeface="Cambria Math" panose="02040503050406030204" pitchFamily="18" charset="0"/>
                          </a:rPr>
                          <m:t>𝑥</m:t>
                        </m:r>
                      </m:e>
                    </m:d>
                    <m:r>
                      <a:rPr lang="pt-BR" b="0" i="1" smtClean="0">
                        <a:latin typeface="Cambria Math" panose="02040503050406030204" pitchFamily="18" charset="0"/>
                      </a:rPr>
                      <m:t>=0</m:t>
                    </m:r>
                  </m:oMath>
                </a14:m>
                <a:r>
                  <a:rPr lang="pt-BR" dirty="0"/>
                  <a:t>.</a:t>
                </a:r>
              </a:p>
            </p:txBody>
          </p:sp>
        </mc:Choice>
        <mc:Fallback xmlns="">
          <p:sp>
            <p:nvSpPr>
              <p:cNvPr id="3" name="Espaço Reservado para Conteúdo 2">
                <a:extLst>
                  <a:ext uri="{FF2B5EF4-FFF2-40B4-BE49-F238E27FC236}">
                    <a16:creationId xmlns:a16="http://schemas.microsoft.com/office/drawing/2014/main" id="{C374A8A0-1621-F766-7EF1-2A3055D2CB1E}"/>
                  </a:ext>
                </a:extLst>
              </p:cNvPr>
              <p:cNvSpPr>
                <a:spLocks noGrp="1" noRot="1" noChangeAspect="1" noMove="1" noResize="1" noEditPoints="1" noAdjustHandles="1" noChangeArrowheads="1" noChangeShapeType="1" noTextEdit="1"/>
              </p:cNvSpPr>
              <p:nvPr>
                <p:ph idx="1"/>
              </p:nvPr>
            </p:nvSpPr>
            <p:spPr>
              <a:xfrm>
                <a:off x="838200" y="1825624"/>
                <a:ext cx="11170920" cy="5032376"/>
              </a:xfrm>
              <a:blipFill>
                <a:blip r:embed="rId2"/>
                <a:stretch>
                  <a:fillRect l="-1146" t="-2663" r="-1528"/>
                </a:stretch>
              </a:blipFill>
            </p:spPr>
            <p:txBody>
              <a:bodyPr/>
              <a:lstStyle/>
              <a:p>
                <a:r>
                  <a:rPr lang="pt-BR">
                    <a:noFill/>
                  </a:rPr>
                  <a:t> </a:t>
                </a:r>
              </a:p>
            </p:txBody>
          </p:sp>
        </mc:Fallback>
      </mc:AlternateContent>
    </p:spTree>
    <p:extLst>
      <p:ext uri="{BB962C8B-B14F-4D97-AF65-F5344CB8AC3E}">
        <p14:creationId xmlns:p14="http://schemas.microsoft.com/office/powerpoint/2010/main" val="4218658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Figuras</a:t>
            </a:r>
          </a:p>
        </p:txBody>
      </p:sp>
    </p:spTree>
    <p:extLst>
      <p:ext uri="{BB962C8B-B14F-4D97-AF65-F5344CB8AC3E}">
        <p14:creationId xmlns:p14="http://schemas.microsoft.com/office/powerpoint/2010/main" val="7128192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725384" y="1428751"/>
            <a:ext cx="8606518" cy="2661637"/>
            <a:chOff x="1725384" y="1428751"/>
            <a:chExt cx="8606518" cy="2661637"/>
          </a:xfrm>
        </p:grpSpPr>
        <p:sp>
          <p:nvSpPr>
            <p:cNvPr id="5" name="Rounded Rectangle 4"/>
            <p:cNvSpPr/>
            <p:nvPr/>
          </p:nvSpPr>
          <p:spPr>
            <a:xfrm>
              <a:off x="5323115" y="1428751"/>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Outlook</a:t>
              </a:r>
            </a:p>
          </p:txBody>
        </p:sp>
        <p:sp>
          <p:nvSpPr>
            <p:cNvPr id="6" name="Rounded Rectangle 5"/>
            <p:cNvSpPr/>
            <p:nvPr/>
          </p:nvSpPr>
          <p:spPr>
            <a:xfrm>
              <a:off x="2707482" y="2643091"/>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Humidity</a:t>
              </a:r>
            </a:p>
          </p:txBody>
        </p:sp>
        <p:sp>
          <p:nvSpPr>
            <p:cNvPr id="7" name="Rounded Rectangle 6"/>
            <p:cNvSpPr/>
            <p:nvPr/>
          </p:nvSpPr>
          <p:spPr>
            <a:xfrm>
              <a:off x="8109179" y="2643092"/>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Windy</a:t>
              </a:r>
            </a:p>
          </p:txBody>
        </p:sp>
        <p:cxnSp>
          <p:nvCxnSpPr>
            <p:cNvPr id="9" name="Straight Connector 8"/>
            <p:cNvCxnSpPr>
              <a:stCxn id="5" idx="2"/>
              <a:endCxn id="6" idx="0"/>
            </p:cNvCxnSpPr>
            <p:nvPr/>
          </p:nvCxnSpPr>
          <p:spPr>
            <a:xfrm flipH="1">
              <a:off x="3401446" y="1967594"/>
              <a:ext cx="2615633" cy="6754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a:off x="6017079" y="1967594"/>
              <a:ext cx="2786064" cy="675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397954" y="3721056"/>
              <a:ext cx="1238250"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Positive (P)</a:t>
              </a:r>
            </a:p>
          </p:txBody>
        </p:sp>
        <p:cxnSp>
          <p:nvCxnSpPr>
            <p:cNvPr id="14" name="Straight Connector 13"/>
            <p:cNvCxnSpPr>
              <a:stCxn id="5" idx="2"/>
              <a:endCxn id="12" idx="0"/>
            </p:cNvCxnSpPr>
            <p:nvPr/>
          </p:nvCxnSpPr>
          <p:spPr>
            <a:xfrm>
              <a:off x="6017079" y="1967594"/>
              <a:ext cx="0" cy="17534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998331" y="2248207"/>
              <a:ext cx="1238250" cy="307777"/>
            </a:xfrm>
            <a:prstGeom prst="rect">
              <a:avLst/>
            </a:prstGeom>
            <a:noFill/>
          </p:spPr>
          <p:txBody>
            <a:bodyPr wrap="square" rtlCol="0">
              <a:spAutoFit/>
            </a:bodyPr>
            <a:lstStyle/>
            <a:p>
              <a:pPr algn="ctr"/>
              <a:r>
                <a:rPr lang="pt-BR" sz="1400" dirty="0"/>
                <a:t>overcast</a:t>
              </a:r>
            </a:p>
          </p:txBody>
        </p:sp>
        <p:sp>
          <p:nvSpPr>
            <p:cNvPr id="20" name="TextBox 19"/>
            <p:cNvSpPr txBox="1"/>
            <p:nvPr/>
          </p:nvSpPr>
          <p:spPr>
            <a:xfrm>
              <a:off x="3643312" y="3721056"/>
              <a:ext cx="1238250"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Positive (P)</a:t>
              </a:r>
            </a:p>
          </p:txBody>
        </p:sp>
        <p:sp>
          <p:nvSpPr>
            <p:cNvPr id="21" name="TextBox 20"/>
            <p:cNvSpPr txBox="1"/>
            <p:nvPr/>
          </p:nvSpPr>
          <p:spPr>
            <a:xfrm>
              <a:off x="1725384" y="3721056"/>
              <a:ext cx="1401537"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Negative (N)</a:t>
              </a:r>
            </a:p>
          </p:txBody>
        </p:sp>
        <p:cxnSp>
          <p:nvCxnSpPr>
            <p:cNvPr id="27" name="Straight Connector 26"/>
            <p:cNvCxnSpPr>
              <a:stCxn id="6" idx="2"/>
              <a:endCxn id="20" idx="0"/>
            </p:cNvCxnSpPr>
            <p:nvPr/>
          </p:nvCxnSpPr>
          <p:spPr>
            <a:xfrm>
              <a:off x="3401446" y="3181934"/>
              <a:ext cx="860991"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6" idx="2"/>
              <a:endCxn id="21" idx="0"/>
            </p:cNvCxnSpPr>
            <p:nvPr/>
          </p:nvCxnSpPr>
          <p:spPr>
            <a:xfrm flipH="1">
              <a:off x="2426153" y="3181934"/>
              <a:ext cx="975293"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967878" y="3312995"/>
              <a:ext cx="1238250" cy="307777"/>
            </a:xfrm>
            <a:prstGeom prst="rect">
              <a:avLst/>
            </a:prstGeom>
            <a:noFill/>
          </p:spPr>
          <p:txBody>
            <a:bodyPr wrap="square" rtlCol="0">
              <a:spAutoFit/>
            </a:bodyPr>
            <a:lstStyle/>
            <a:p>
              <a:pPr algn="ctr"/>
              <a:r>
                <a:rPr lang="pt-BR" sz="1400" dirty="0"/>
                <a:t>high</a:t>
              </a:r>
            </a:p>
          </p:txBody>
        </p:sp>
        <p:sp>
          <p:nvSpPr>
            <p:cNvPr id="33" name="TextBox 32"/>
            <p:cNvSpPr txBox="1"/>
            <p:nvPr/>
          </p:nvSpPr>
          <p:spPr>
            <a:xfrm>
              <a:off x="3639120" y="3312994"/>
              <a:ext cx="1238250" cy="307777"/>
            </a:xfrm>
            <a:prstGeom prst="rect">
              <a:avLst/>
            </a:prstGeom>
            <a:noFill/>
          </p:spPr>
          <p:txBody>
            <a:bodyPr wrap="square" rtlCol="0">
              <a:spAutoFit/>
            </a:bodyPr>
            <a:lstStyle/>
            <a:p>
              <a:pPr algn="ctr"/>
              <a:r>
                <a:rPr lang="pt-BR" sz="1400" dirty="0"/>
                <a:t>normal</a:t>
              </a:r>
            </a:p>
          </p:txBody>
        </p:sp>
        <p:sp>
          <p:nvSpPr>
            <p:cNvPr id="34" name="TextBox 33"/>
            <p:cNvSpPr txBox="1"/>
            <p:nvPr/>
          </p:nvSpPr>
          <p:spPr>
            <a:xfrm>
              <a:off x="3506731" y="2094319"/>
              <a:ext cx="1238250" cy="307777"/>
            </a:xfrm>
            <a:prstGeom prst="rect">
              <a:avLst/>
            </a:prstGeom>
            <a:noFill/>
          </p:spPr>
          <p:txBody>
            <a:bodyPr wrap="square" rtlCol="0">
              <a:spAutoFit/>
            </a:bodyPr>
            <a:lstStyle/>
            <a:p>
              <a:pPr algn="ctr"/>
              <a:r>
                <a:rPr lang="pt-BR" sz="1400" dirty="0"/>
                <a:t>sunny</a:t>
              </a:r>
            </a:p>
          </p:txBody>
        </p:sp>
        <p:sp>
          <p:nvSpPr>
            <p:cNvPr id="35" name="TextBox 34"/>
            <p:cNvSpPr txBox="1"/>
            <p:nvPr/>
          </p:nvSpPr>
          <p:spPr>
            <a:xfrm>
              <a:off x="7125889" y="2065893"/>
              <a:ext cx="1238250" cy="307777"/>
            </a:xfrm>
            <a:prstGeom prst="rect">
              <a:avLst/>
            </a:prstGeom>
            <a:noFill/>
          </p:spPr>
          <p:txBody>
            <a:bodyPr wrap="square" rtlCol="0">
              <a:spAutoFit/>
            </a:bodyPr>
            <a:lstStyle/>
            <a:p>
              <a:pPr algn="ctr"/>
              <a:r>
                <a:rPr lang="pt-BR" sz="1400" dirty="0"/>
                <a:t>rain</a:t>
              </a:r>
            </a:p>
          </p:txBody>
        </p:sp>
        <p:sp>
          <p:nvSpPr>
            <p:cNvPr id="36" name="TextBox 35"/>
            <p:cNvSpPr txBox="1"/>
            <p:nvPr/>
          </p:nvSpPr>
          <p:spPr>
            <a:xfrm>
              <a:off x="9093652" y="3720733"/>
              <a:ext cx="1238250" cy="369332"/>
            </a:xfrm>
            <a:prstGeom prst="rect">
              <a:avLst/>
            </a:prstGeom>
            <a:noFill/>
            <a:ln w="6350">
              <a:solidFill>
                <a:schemeClr val="tx1"/>
              </a:solidFill>
              <a:prstDash val="dash"/>
            </a:ln>
          </p:spPr>
          <p:txBody>
            <a:bodyPr wrap="square" rtlCol="0">
              <a:spAutoFit/>
            </a:bodyPr>
            <a:lstStyle/>
            <a:p>
              <a:pPr algn="ctr"/>
              <a:r>
                <a:rPr lang="pt-BR" dirty="0"/>
                <a:t>Positive (P)</a:t>
              </a:r>
            </a:p>
          </p:txBody>
        </p:sp>
        <p:sp>
          <p:nvSpPr>
            <p:cNvPr id="37" name="TextBox 36"/>
            <p:cNvSpPr txBox="1"/>
            <p:nvPr/>
          </p:nvSpPr>
          <p:spPr>
            <a:xfrm>
              <a:off x="7175724" y="3720733"/>
              <a:ext cx="1401537"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Negative (N)</a:t>
              </a:r>
            </a:p>
          </p:txBody>
        </p:sp>
        <p:cxnSp>
          <p:nvCxnSpPr>
            <p:cNvPr id="38" name="Straight Connector 37"/>
            <p:cNvCxnSpPr>
              <a:endCxn id="36" idx="0"/>
            </p:cNvCxnSpPr>
            <p:nvPr/>
          </p:nvCxnSpPr>
          <p:spPr>
            <a:xfrm>
              <a:off x="8851786" y="3181611"/>
              <a:ext cx="860991"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endCxn id="37" idx="0"/>
            </p:cNvCxnSpPr>
            <p:nvPr/>
          </p:nvCxnSpPr>
          <p:spPr>
            <a:xfrm flipH="1">
              <a:off x="7876493" y="3181611"/>
              <a:ext cx="975293"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432732" y="3312672"/>
              <a:ext cx="1238250" cy="307777"/>
            </a:xfrm>
            <a:prstGeom prst="rect">
              <a:avLst/>
            </a:prstGeom>
            <a:noFill/>
          </p:spPr>
          <p:txBody>
            <a:bodyPr wrap="square" rtlCol="0">
              <a:spAutoFit/>
            </a:bodyPr>
            <a:lstStyle/>
            <a:p>
              <a:pPr algn="ctr"/>
              <a:r>
                <a:rPr lang="pt-BR" sz="1400" dirty="0"/>
                <a:t>true</a:t>
              </a:r>
            </a:p>
          </p:txBody>
        </p:sp>
        <p:sp>
          <p:nvSpPr>
            <p:cNvPr id="41" name="TextBox 40"/>
            <p:cNvSpPr txBox="1"/>
            <p:nvPr/>
          </p:nvSpPr>
          <p:spPr>
            <a:xfrm>
              <a:off x="9060432" y="3312671"/>
              <a:ext cx="1238250" cy="307777"/>
            </a:xfrm>
            <a:prstGeom prst="rect">
              <a:avLst/>
            </a:prstGeom>
            <a:noFill/>
          </p:spPr>
          <p:txBody>
            <a:bodyPr wrap="square" rtlCol="0">
              <a:spAutoFit/>
            </a:bodyPr>
            <a:lstStyle/>
            <a:p>
              <a:pPr algn="ctr"/>
              <a:r>
                <a:rPr lang="pt-BR" sz="1400" dirty="0"/>
                <a:t>false</a:t>
              </a:r>
            </a:p>
          </p:txBody>
        </p:sp>
      </p:grpSp>
    </p:spTree>
    <p:extLst>
      <p:ext uri="{BB962C8B-B14F-4D97-AF65-F5344CB8AC3E}">
        <p14:creationId xmlns:p14="http://schemas.microsoft.com/office/powerpoint/2010/main" val="5319627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469901" y="1428751"/>
            <a:ext cx="7174398" cy="1671537"/>
            <a:chOff x="2469901" y="1428751"/>
            <a:chExt cx="7174398" cy="1671537"/>
          </a:xfrm>
        </p:grpSpPr>
        <p:cxnSp>
          <p:nvCxnSpPr>
            <p:cNvPr id="14" name="Straight Connector 13"/>
            <p:cNvCxnSpPr/>
            <p:nvPr/>
          </p:nvCxnSpPr>
          <p:spPr>
            <a:xfrm>
              <a:off x="6017079" y="1881860"/>
              <a:ext cx="0" cy="978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5323115" y="1428751"/>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Outlook</a:t>
              </a:r>
            </a:p>
          </p:txBody>
        </p:sp>
        <p:cxnSp>
          <p:nvCxnSpPr>
            <p:cNvPr id="9" name="Straight Connector 8"/>
            <p:cNvCxnSpPr>
              <a:stCxn id="5" idx="2"/>
            </p:cNvCxnSpPr>
            <p:nvPr/>
          </p:nvCxnSpPr>
          <p:spPr>
            <a:xfrm flipH="1">
              <a:off x="3401446" y="1967594"/>
              <a:ext cx="2615633" cy="6754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p:cNvCxnSpPr>
            <p:nvPr/>
          </p:nvCxnSpPr>
          <p:spPr>
            <a:xfrm>
              <a:off x="6017079" y="1967594"/>
              <a:ext cx="2786064" cy="675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399765" y="2792511"/>
              <a:ext cx="1238250" cy="307777"/>
            </a:xfrm>
            <a:prstGeom prst="rect">
              <a:avLst/>
            </a:prstGeom>
            <a:noFill/>
          </p:spPr>
          <p:txBody>
            <a:bodyPr wrap="square" rtlCol="0">
              <a:spAutoFit/>
            </a:bodyPr>
            <a:lstStyle/>
            <a:p>
              <a:pPr algn="ctr"/>
              <a:r>
                <a:rPr lang="pt-BR" sz="1400" dirty="0"/>
                <a:t>overcast</a:t>
              </a:r>
            </a:p>
          </p:txBody>
        </p:sp>
        <p:sp>
          <p:nvSpPr>
            <p:cNvPr id="34" name="TextBox 33"/>
            <p:cNvSpPr txBox="1"/>
            <p:nvPr/>
          </p:nvSpPr>
          <p:spPr>
            <a:xfrm>
              <a:off x="2469901" y="2492793"/>
              <a:ext cx="1238250" cy="307777"/>
            </a:xfrm>
            <a:prstGeom prst="rect">
              <a:avLst/>
            </a:prstGeom>
            <a:noFill/>
          </p:spPr>
          <p:txBody>
            <a:bodyPr wrap="square" rtlCol="0">
              <a:spAutoFit/>
            </a:bodyPr>
            <a:lstStyle/>
            <a:p>
              <a:pPr algn="ctr"/>
              <a:r>
                <a:rPr lang="pt-BR" sz="1400" dirty="0"/>
                <a:t>sunny</a:t>
              </a:r>
            </a:p>
          </p:txBody>
        </p:sp>
        <p:sp>
          <p:nvSpPr>
            <p:cNvPr id="35" name="TextBox 34"/>
            <p:cNvSpPr txBox="1"/>
            <p:nvPr/>
          </p:nvSpPr>
          <p:spPr>
            <a:xfrm>
              <a:off x="8406049" y="2489202"/>
              <a:ext cx="1238250" cy="307777"/>
            </a:xfrm>
            <a:prstGeom prst="rect">
              <a:avLst/>
            </a:prstGeom>
            <a:noFill/>
          </p:spPr>
          <p:txBody>
            <a:bodyPr wrap="square" rtlCol="0">
              <a:spAutoFit/>
            </a:bodyPr>
            <a:lstStyle/>
            <a:p>
              <a:pPr algn="ctr"/>
              <a:r>
                <a:rPr lang="pt-BR" sz="1400" dirty="0"/>
                <a:t>rain</a:t>
              </a:r>
            </a:p>
          </p:txBody>
        </p:sp>
      </p:grpSp>
    </p:spTree>
    <p:extLst>
      <p:ext uri="{BB962C8B-B14F-4D97-AF65-F5344CB8AC3E}">
        <p14:creationId xmlns:p14="http://schemas.microsoft.com/office/powerpoint/2010/main" val="24924804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2506080" y="2245930"/>
            <a:ext cx="7174398" cy="1785590"/>
            <a:chOff x="2506080" y="2245930"/>
            <a:chExt cx="7174398" cy="1785590"/>
          </a:xfrm>
        </p:grpSpPr>
        <p:grpSp>
          <p:nvGrpSpPr>
            <p:cNvPr id="26" name="Group 25"/>
            <p:cNvGrpSpPr/>
            <p:nvPr/>
          </p:nvGrpSpPr>
          <p:grpSpPr>
            <a:xfrm>
              <a:off x="2506080" y="2245930"/>
              <a:ext cx="7174398" cy="1431915"/>
              <a:chOff x="2469901" y="1428751"/>
              <a:chExt cx="7174398" cy="1431915"/>
            </a:xfrm>
          </p:grpSpPr>
          <p:cxnSp>
            <p:nvCxnSpPr>
              <p:cNvPr id="28" name="Straight Connector 27"/>
              <p:cNvCxnSpPr/>
              <p:nvPr/>
            </p:nvCxnSpPr>
            <p:spPr>
              <a:xfrm>
                <a:off x="6017079" y="1881860"/>
                <a:ext cx="0" cy="978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5323115" y="1428751"/>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Outlook</a:t>
                </a:r>
              </a:p>
            </p:txBody>
          </p:sp>
          <p:cxnSp>
            <p:nvCxnSpPr>
              <p:cNvPr id="31" name="Straight Connector 30"/>
              <p:cNvCxnSpPr>
                <a:stCxn id="30" idx="2"/>
              </p:cNvCxnSpPr>
              <p:nvPr/>
            </p:nvCxnSpPr>
            <p:spPr>
              <a:xfrm flipH="1">
                <a:off x="3401446" y="1967594"/>
                <a:ext cx="2615633" cy="6754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0" idx="2"/>
              </p:cNvCxnSpPr>
              <p:nvPr/>
            </p:nvCxnSpPr>
            <p:spPr>
              <a:xfrm>
                <a:off x="6017079" y="1967594"/>
                <a:ext cx="2786064" cy="675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5048222" y="2276673"/>
                <a:ext cx="1238250" cy="307777"/>
              </a:xfrm>
              <a:prstGeom prst="rect">
                <a:avLst/>
              </a:prstGeom>
              <a:noFill/>
            </p:spPr>
            <p:txBody>
              <a:bodyPr wrap="square" rtlCol="0">
                <a:spAutoFit/>
              </a:bodyPr>
              <a:lstStyle/>
              <a:p>
                <a:pPr algn="ctr"/>
                <a:r>
                  <a:rPr lang="pt-BR" sz="1400" dirty="0"/>
                  <a:t>overcast</a:t>
                </a:r>
              </a:p>
            </p:txBody>
          </p:sp>
          <p:sp>
            <p:nvSpPr>
              <p:cNvPr id="45" name="TextBox 44"/>
              <p:cNvSpPr txBox="1"/>
              <p:nvPr/>
            </p:nvSpPr>
            <p:spPr>
              <a:xfrm>
                <a:off x="2469901" y="2492793"/>
                <a:ext cx="1238250" cy="307777"/>
              </a:xfrm>
              <a:prstGeom prst="rect">
                <a:avLst/>
              </a:prstGeom>
              <a:noFill/>
            </p:spPr>
            <p:txBody>
              <a:bodyPr wrap="square" rtlCol="0">
                <a:spAutoFit/>
              </a:bodyPr>
              <a:lstStyle/>
              <a:p>
                <a:pPr algn="ctr"/>
                <a:r>
                  <a:rPr lang="pt-BR" sz="1400" dirty="0"/>
                  <a:t>sunny</a:t>
                </a:r>
              </a:p>
            </p:txBody>
          </p:sp>
          <p:sp>
            <p:nvSpPr>
              <p:cNvPr id="46" name="TextBox 45"/>
              <p:cNvSpPr txBox="1"/>
              <p:nvPr/>
            </p:nvSpPr>
            <p:spPr>
              <a:xfrm>
                <a:off x="8406049" y="2489202"/>
                <a:ext cx="1238250" cy="307777"/>
              </a:xfrm>
              <a:prstGeom prst="rect">
                <a:avLst/>
              </a:prstGeom>
              <a:noFill/>
            </p:spPr>
            <p:txBody>
              <a:bodyPr wrap="square" rtlCol="0">
                <a:spAutoFit/>
              </a:bodyPr>
              <a:lstStyle/>
              <a:p>
                <a:pPr algn="ctr"/>
                <a:r>
                  <a:rPr lang="pt-BR" sz="1400" dirty="0"/>
                  <a:t>rain</a:t>
                </a:r>
              </a:p>
            </p:txBody>
          </p:sp>
        </p:grpSp>
        <p:sp>
          <p:nvSpPr>
            <p:cNvPr id="47" name="TextBox 46"/>
            <p:cNvSpPr txBox="1"/>
            <p:nvPr/>
          </p:nvSpPr>
          <p:spPr>
            <a:xfrm>
              <a:off x="5434133" y="3662188"/>
              <a:ext cx="1238250"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Positive (P)</a:t>
              </a:r>
            </a:p>
          </p:txBody>
        </p:sp>
      </p:grpSp>
    </p:spTree>
    <p:extLst>
      <p:ext uri="{BB962C8B-B14F-4D97-AF65-F5344CB8AC3E}">
        <p14:creationId xmlns:p14="http://schemas.microsoft.com/office/powerpoint/2010/main" val="11535250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077360" y="1886099"/>
            <a:ext cx="6858272" cy="2302490"/>
            <a:chOff x="3077360" y="1886099"/>
            <a:chExt cx="6858272" cy="2302490"/>
          </a:xfrm>
        </p:grpSpPr>
        <p:grpSp>
          <p:nvGrpSpPr>
            <p:cNvPr id="31" name="Group 30"/>
            <p:cNvGrpSpPr/>
            <p:nvPr/>
          </p:nvGrpSpPr>
          <p:grpSpPr>
            <a:xfrm>
              <a:off x="3077360" y="1886099"/>
              <a:ext cx="5401697" cy="1431915"/>
              <a:chOff x="3401446" y="1428751"/>
              <a:chExt cx="5401697" cy="1431915"/>
            </a:xfrm>
          </p:grpSpPr>
          <p:cxnSp>
            <p:nvCxnSpPr>
              <p:cNvPr id="44" name="Straight Connector 43"/>
              <p:cNvCxnSpPr/>
              <p:nvPr/>
            </p:nvCxnSpPr>
            <p:spPr>
              <a:xfrm>
                <a:off x="6017079" y="1881860"/>
                <a:ext cx="0" cy="978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5323115" y="1428751"/>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Outlook</a:t>
                </a:r>
              </a:p>
            </p:txBody>
          </p:sp>
          <p:cxnSp>
            <p:nvCxnSpPr>
              <p:cNvPr id="46" name="Straight Connector 45"/>
              <p:cNvCxnSpPr>
                <a:stCxn id="45" idx="2"/>
              </p:cNvCxnSpPr>
              <p:nvPr/>
            </p:nvCxnSpPr>
            <p:spPr>
              <a:xfrm flipH="1">
                <a:off x="3401446" y="1967594"/>
                <a:ext cx="2615633" cy="6754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45" idx="2"/>
              </p:cNvCxnSpPr>
              <p:nvPr/>
            </p:nvCxnSpPr>
            <p:spPr>
              <a:xfrm>
                <a:off x="6017079" y="1967594"/>
                <a:ext cx="2786064" cy="675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5048222" y="2276673"/>
                <a:ext cx="1238250" cy="307777"/>
              </a:xfrm>
              <a:prstGeom prst="rect">
                <a:avLst/>
              </a:prstGeom>
              <a:noFill/>
            </p:spPr>
            <p:txBody>
              <a:bodyPr wrap="square" rtlCol="0">
                <a:spAutoFit/>
              </a:bodyPr>
              <a:lstStyle/>
              <a:p>
                <a:pPr algn="ctr"/>
                <a:r>
                  <a:rPr lang="pt-BR" sz="1400" dirty="0"/>
                  <a:t>overcast</a:t>
                </a:r>
              </a:p>
            </p:txBody>
          </p:sp>
          <p:sp>
            <p:nvSpPr>
              <p:cNvPr id="49" name="TextBox 48"/>
              <p:cNvSpPr txBox="1"/>
              <p:nvPr/>
            </p:nvSpPr>
            <p:spPr>
              <a:xfrm>
                <a:off x="3605709" y="2063486"/>
                <a:ext cx="1238250" cy="307777"/>
              </a:xfrm>
              <a:prstGeom prst="rect">
                <a:avLst/>
              </a:prstGeom>
              <a:noFill/>
            </p:spPr>
            <p:txBody>
              <a:bodyPr wrap="square" rtlCol="0">
                <a:spAutoFit/>
              </a:bodyPr>
              <a:lstStyle/>
              <a:p>
                <a:pPr algn="ctr"/>
                <a:r>
                  <a:rPr lang="pt-BR" sz="1400" dirty="0"/>
                  <a:t>sunny</a:t>
                </a:r>
              </a:p>
            </p:txBody>
          </p:sp>
          <p:sp>
            <p:nvSpPr>
              <p:cNvPr id="50" name="TextBox 49"/>
              <p:cNvSpPr txBox="1"/>
              <p:nvPr/>
            </p:nvSpPr>
            <p:spPr>
              <a:xfrm>
                <a:off x="7230632" y="2067122"/>
                <a:ext cx="1238250" cy="307777"/>
              </a:xfrm>
              <a:prstGeom prst="rect">
                <a:avLst/>
              </a:prstGeom>
              <a:noFill/>
            </p:spPr>
            <p:txBody>
              <a:bodyPr wrap="square" rtlCol="0">
                <a:spAutoFit/>
              </a:bodyPr>
              <a:lstStyle/>
              <a:p>
                <a:pPr algn="ctr"/>
                <a:r>
                  <a:rPr lang="pt-BR" sz="1400" dirty="0"/>
                  <a:t>rain</a:t>
                </a:r>
              </a:p>
            </p:txBody>
          </p:sp>
        </p:grpSp>
        <p:sp>
          <p:nvSpPr>
            <p:cNvPr id="42" name="TextBox 41"/>
            <p:cNvSpPr txBox="1"/>
            <p:nvPr/>
          </p:nvSpPr>
          <p:spPr>
            <a:xfrm>
              <a:off x="5073868" y="3302357"/>
              <a:ext cx="1238250"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Positive (P)</a:t>
              </a:r>
            </a:p>
          </p:txBody>
        </p:sp>
        <p:sp>
          <p:nvSpPr>
            <p:cNvPr id="51" name="Rounded Rectangle 50"/>
            <p:cNvSpPr/>
            <p:nvPr/>
          </p:nvSpPr>
          <p:spPr>
            <a:xfrm>
              <a:off x="7775157" y="3110948"/>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Windy</a:t>
              </a:r>
            </a:p>
          </p:txBody>
        </p:sp>
        <p:cxnSp>
          <p:nvCxnSpPr>
            <p:cNvPr id="52" name="Straight Connector 51"/>
            <p:cNvCxnSpPr/>
            <p:nvPr/>
          </p:nvCxnSpPr>
          <p:spPr>
            <a:xfrm>
              <a:off x="8517764" y="3649467"/>
              <a:ext cx="860991"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7542471" y="3649467"/>
              <a:ext cx="975293"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7142252" y="3780528"/>
              <a:ext cx="1238250" cy="307777"/>
            </a:xfrm>
            <a:prstGeom prst="rect">
              <a:avLst/>
            </a:prstGeom>
            <a:noFill/>
          </p:spPr>
          <p:txBody>
            <a:bodyPr wrap="square" rtlCol="0">
              <a:spAutoFit/>
            </a:bodyPr>
            <a:lstStyle/>
            <a:p>
              <a:pPr algn="ctr"/>
              <a:r>
                <a:rPr lang="pt-BR" sz="1400" dirty="0"/>
                <a:t>true</a:t>
              </a:r>
            </a:p>
          </p:txBody>
        </p:sp>
        <p:sp>
          <p:nvSpPr>
            <p:cNvPr id="55" name="TextBox 54"/>
            <p:cNvSpPr txBox="1"/>
            <p:nvPr/>
          </p:nvSpPr>
          <p:spPr>
            <a:xfrm>
              <a:off x="8697382" y="3780527"/>
              <a:ext cx="1238250" cy="307777"/>
            </a:xfrm>
            <a:prstGeom prst="rect">
              <a:avLst/>
            </a:prstGeom>
            <a:noFill/>
          </p:spPr>
          <p:txBody>
            <a:bodyPr wrap="square" rtlCol="0">
              <a:spAutoFit/>
            </a:bodyPr>
            <a:lstStyle/>
            <a:p>
              <a:pPr algn="ctr"/>
              <a:r>
                <a:rPr lang="pt-BR" sz="1400" dirty="0"/>
                <a:t>false</a:t>
              </a:r>
            </a:p>
          </p:txBody>
        </p:sp>
      </p:grpSp>
    </p:spTree>
    <p:extLst>
      <p:ext uri="{BB962C8B-B14F-4D97-AF65-F5344CB8AC3E}">
        <p14:creationId xmlns:p14="http://schemas.microsoft.com/office/powerpoint/2010/main" val="5963393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982110" y="2019449"/>
            <a:ext cx="6923445" cy="2673695"/>
            <a:chOff x="2982110" y="2019449"/>
            <a:chExt cx="6923445" cy="2673695"/>
          </a:xfrm>
        </p:grpSpPr>
        <p:grpSp>
          <p:nvGrpSpPr>
            <p:cNvPr id="31" name="Group 30"/>
            <p:cNvGrpSpPr/>
            <p:nvPr/>
          </p:nvGrpSpPr>
          <p:grpSpPr>
            <a:xfrm>
              <a:off x="2982110" y="2019449"/>
              <a:ext cx="5401697" cy="1431915"/>
              <a:chOff x="3401446" y="1428751"/>
              <a:chExt cx="5401697" cy="1431915"/>
            </a:xfrm>
          </p:grpSpPr>
          <p:cxnSp>
            <p:nvCxnSpPr>
              <p:cNvPr id="44" name="Straight Connector 43"/>
              <p:cNvCxnSpPr/>
              <p:nvPr/>
            </p:nvCxnSpPr>
            <p:spPr>
              <a:xfrm>
                <a:off x="6017079" y="1881860"/>
                <a:ext cx="0" cy="978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5323115" y="1428751"/>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Outlook</a:t>
                </a:r>
              </a:p>
            </p:txBody>
          </p:sp>
          <p:cxnSp>
            <p:nvCxnSpPr>
              <p:cNvPr id="46" name="Straight Connector 45"/>
              <p:cNvCxnSpPr>
                <a:stCxn id="45" idx="2"/>
              </p:cNvCxnSpPr>
              <p:nvPr/>
            </p:nvCxnSpPr>
            <p:spPr>
              <a:xfrm flipH="1">
                <a:off x="3401446" y="1967594"/>
                <a:ext cx="2615633" cy="6754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45" idx="2"/>
              </p:cNvCxnSpPr>
              <p:nvPr/>
            </p:nvCxnSpPr>
            <p:spPr>
              <a:xfrm>
                <a:off x="6017079" y="1967594"/>
                <a:ext cx="2786064" cy="675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5048222" y="2276673"/>
                <a:ext cx="1238250" cy="307777"/>
              </a:xfrm>
              <a:prstGeom prst="rect">
                <a:avLst/>
              </a:prstGeom>
              <a:noFill/>
            </p:spPr>
            <p:txBody>
              <a:bodyPr wrap="square" rtlCol="0">
                <a:spAutoFit/>
              </a:bodyPr>
              <a:lstStyle/>
              <a:p>
                <a:pPr algn="ctr"/>
                <a:r>
                  <a:rPr lang="pt-BR" sz="1400" dirty="0"/>
                  <a:t>overcast</a:t>
                </a:r>
              </a:p>
            </p:txBody>
          </p:sp>
          <p:sp>
            <p:nvSpPr>
              <p:cNvPr id="49" name="TextBox 48"/>
              <p:cNvSpPr txBox="1"/>
              <p:nvPr/>
            </p:nvSpPr>
            <p:spPr>
              <a:xfrm>
                <a:off x="3605709" y="2063486"/>
                <a:ext cx="1238250" cy="307777"/>
              </a:xfrm>
              <a:prstGeom prst="rect">
                <a:avLst/>
              </a:prstGeom>
              <a:noFill/>
            </p:spPr>
            <p:txBody>
              <a:bodyPr wrap="square" rtlCol="0">
                <a:spAutoFit/>
              </a:bodyPr>
              <a:lstStyle/>
              <a:p>
                <a:pPr algn="ctr"/>
                <a:r>
                  <a:rPr lang="pt-BR" sz="1400" dirty="0"/>
                  <a:t>sunny</a:t>
                </a:r>
              </a:p>
            </p:txBody>
          </p:sp>
          <p:sp>
            <p:nvSpPr>
              <p:cNvPr id="50" name="TextBox 49"/>
              <p:cNvSpPr txBox="1"/>
              <p:nvPr/>
            </p:nvSpPr>
            <p:spPr>
              <a:xfrm>
                <a:off x="7230632" y="2067122"/>
                <a:ext cx="1238250" cy="307777"/>
              </a:xfrm>
              <a:prstGeom prst="rect">
                <a:avLst/>
              </a:prstGeom>
              <a:noFill/>
            </p:spPr>
            <p:txBody>
              <a:bodyPr wrap="square" rtlCol="0">
                <a:spAutoFit/>
              </a:bodyPr>
              <a:lstStyle/>
              <a:p>
                <a:pPr algn="ctr"/>
                <a:r>
                  <a:rPr lang="pt-BR" sz="1400" dirty="0"/>
                  <a:t>rain</a:t>
                </a:r>
              </a:p>
            </p:txBody>
          </p:sp>
        </p:grpSp>
        <p:sp>
          <p:nvSpPr>
            <p:cNvPr id="42" name="TextBox 41"/>
            <p:cNvSpPr txBox="1"/>
            <p:nvPr/>
          </p:nvSpPr>
          <p:spPr>
            <a:xfrm>
              <a:off x="4978618" y="3435707"/>
              <a:ext cx="1238250"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Positive (P)</a:t>
              </a:r>
            </a:p>
          </p:txBody>
        </p:sp>
        <p:sp>
          <p:nvSpPr>
            <p:cNvPr id="51" name="Rounded Rectangle 50"/>
            <p:cNvSpPr/>
            <p:nvPr/>
          </p:nvSpPr>
          <p:spPr>
            <a:xfrm>
              <a:off x="7679907" y="3244298"/>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Windy</a:t>
              </a:r>
            </a:p>
          </p:txBody>
        </p:sp>
        <p:cxnSp>
          <p:nvCxnSpPr>
            <p:cNvPr id="52" name="Straight Connector 51"/>
            <p:cNvCxnSpPr/>
            <p:nvPr/>
          </p:nvCxnSpPr>
          <p:spPr>
            <a:xfrm>
              <a:off x="8422514" y="3782817"/>
              <a:ext cx="860991"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7447221" y="3782817"/>
              <a:ext cx="975293"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7047002" y="3913878"/>
              <a:ext cx="1238250" cy="307777"/>
            </a:xfrm>
            <a:prstGeom prst="rect">
              <a:avLst/>
            </a:prstGeom>
            <a:noFill/>
          </p:spPr>
          <p:txBody>
            <a:bodyPr wrap="square" rtlCol="0">
              <a:spAutoFit/>
            </a:bodyPr>
            <a:lstStyle/>
            <a:p>
              <a:pPr algn="ctr"/>
              <a:r>
                <a:rPr lang="pt-BR" sz="1400" dirty="0"/>
                <a:t>true</a:t>
              </a:r>
            </a:p>
          </p:txBody>
        </p:sp>
        <p:sp>
          <p:nvSpPr>
            <p:cNvPr id="55" name="TextBox 54"/>
            <p:cNvSpPr txBox="1"/>
            <p:nvPr/>
          </p:nvSpPr>
          <p:spPr>
            <a:xfrm>
              <a:off x="8602132" y="3913877"/>
              <a:ext cx="1238250" cy="307777"/>
            </a:xfrm>
            <a:prstGeom prst="rect">
              <a:avLst/>
            </a:prstGeom>
            <a:noFill/>
          </p:spPr>
          <p:txBody>
            <a:bodyPr wrap="square" rtlCol="0">
              <a:spAutoFit/>
            </a:bodyPr>
            <a:lstStyle/>
            <a:p>
              <a:pPr algn="ctr"/>
              <a:r>
                <a:rPr lang="pt-BR" sz="1400" dirty="0"/>
                <a:t>false</a:t>
              </a:r>
            </a:p>
          </p:txBody>
        </p:sp>
        <p:sp>
          <p:nvSpPr>
            <p:cNvPr id="32" name="TextBox 31"/>
            <p:cNvSpPr txBox="1"/>
            <p:nvPr/>
          </p:nvSpPr>
          <p:spPr>
            <a:xfrm>
              <a:off x="8667305" y="4323812"/>
              <a:ext cx="1238250" cy="369332"/>
            </a:xfrm>
            <a:prstGeom prst="rect">
              <a:avLst/>
            </a:prstGeom>
            <a:noFill/>
            <a:ln w="6350">
              <a:solidFill>
                <a:schemeClr val="tx1"/>
              </a:solidFill>
              <a:prstDash val="dash"/>
            </a:ln>
          </p:spPr>
          <p:txBody>
            <a:bodyPr wrap="square" rtlCol="0">
              <a:spAutoFit/>
            </a:bodyPr>
            <a:lstStyle/>
            <a:p>
              <a:pPr algn="ctr"/>
              <a:r>
                <a:rPr lang="pt-BR" dirty="0"/>
                <a:t>Positive (P)</a:t>
              </a:r>
            </a:p>
          </p:txBody>
        </p:sp>
        <p:sp>
          <p:nvSpPr>
            <p:cNvPr id="33" name="TextBox 32"/>
            <p:cNvSpPr txBox="1"/>
            <p:nvPr/>
          </p:nvSpPr>
          <p:spPr>
            <a:xfrm>
              <a:off x="6749377" y="4323812"/>
              <a:ext cx="1401537"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Negative (N)</a:t>
              </a:r>
            </a:p>
          </p:txBody>
        </p:sp>
      </p:grpSp>
    </p:spTree>
    <p:extLst>
      <p:ext uri="{BB962C8B-B14F-4D97-AF65-F5344CB8AC3E}">
        <p14:creationId xmlns:p14="http://schemas.microsoft.com/office/powerpoint/2010/main" val="42740428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p:cNvGrpSpPr/>
          <p:nvPr/>
        </p:nvGrpSpPr>
        <p:grpSpPr>
          <a:xfrm>
            <a:off x="2982110" y="2019449"/>
            <a:ext cx="5401697" cy="1431915"/>
            <a:chOff x="3401446" y="1428751"/>
            <a:chExt cx="5401697" cy="1431915"/>
          </a:xfrm>
        </p:grpSpPr>
        <p:cxnSp>
          <p:nvCxnSpPr>
            <p:cNvPr id="44" name="Straight Connector 43"/>
            <p:cNvCxnSpPr/>
            <p:nvPr/>
          </p:nvCxnSpPr>
          <p:spPr>
            <a:xfrm>
              <a:off x="6017079" y="1881860"/>
              <a:ext cx="0" cy="978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5323115" y="1428751"/>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Outlook</a:t>
              </a:r>
            </a:p>
          </p:txBody>
        </p:sp>
        <p:cxnSp>
          <p:nvCxnSpPr>
            <p:cNvPr id="46" name="Straight Connector 45"/>
            <p:cNvCxnSpPr>
              <a:stCxn id="45" idx="2"/>
            </p:cNvCxnSpPr>
            <p:nvPr/>
          </p:nvCxnSpPr>
          <p:spPr>
            <a:xfrm flipH="1">
              <a:off x="3401446" y="1967594"/>
              <a:ext cx="2615633" cy="6754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45" idx="2"/>
            </p:cNvCxnSpPr>
            <p:nvPr/>
          </p:nvCxnSpPr>
          <p:spPr>
            <a:xfrm>
              <a:off x="6017079" y="1967594"/>
              <a:ext cx="2786064" cy="675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5048222" y="2276673"/>
              <a:ext cx="1238250" cy="307777"/>
            </a:xfrm>
            <a:prstGeom prst="rect">
              <a:avLst/>
            </a:prstGeom>
            <a:noFill/>
          </p:spPr>
          <p:txBody>
            <a:bodyPr wrap="square" rtlCol="0">
              <a:spAutoFit/>
            </a:bodyPr>
            <a:lstStyle/>
            <a:p>
              <a:pPr algn="ctr"/>
              <a:r>
                <a:rPr lang="pt-BR" sz="1400" dirty="0"/>
                <a:t>overcast</a:t>
              </a:r>
            </a:p>
          </p:txBody>
        </p:sp>
        <p:sp>
          <p:nvSpPr>
            <p:cNvPr id="49" name="TextBox 48"/>
            <p:cNvSpPr txBox="1"/>
            <p:nvPr/>
          </p:nvSpPr>
          <p:spPr>
            <a:xfrm>
              <a:off x="3605709" y="2063486"/>
              <a:ext cx="1238250" cy="307777"/>
            </a:xfrm>
            <a:prstGeom prst="rect">
              <a:avLst/>
            </a:prstGeom>
            <a:noFill/>
          </p:spPr>
          <p:txBody>
            <a:bodyPr wrap="square" rtlCol="0">
              <a:spAutoFit/>
            </a:bodyPr>
            <a:lstStyle/>
            <a:p>
              <a:pPr algn="ctr"/>
              <a:r>
                <a:rPr lang="pt-BR" sz="1400" dirty="0"/>
                <a:t>sunny</a:t>
              </a:r>
            </a:p>
          </p:txBody>
        </p:sp>
        <p:sp>
          <p:nvSpPr>
            <p:cNvPr id="50" name="TextBox 49"/>
            <p:cNvSpPr txBox="1"/>
            <p:nvPr/>
          </p:nvSpPr>
          <p:spPr>
            <a:xfrm>
              <a:off x="7230632" y="2067122"/>
              <a:ext cx="1238250" cy="307777"/>
            </a:xfrm>
            <a:prstGeom prst="rect">
              <a:avLst/>
            </a:prstGeom>
            <a:noFill/>
          </p:spPr>
          <p:txBody>
            <a:bodyPr wrap="square" rtlCol="0">
              <a:spAutoFit/>
            </a:bodyPr>
            <a:lstStyle/>
            <a:p>
              <a:pPr algn="ctr"/>
              <a:r>
                <a:rPr lang="pt-BR" sz="1400" dirty="0"/>
                <a:t>rain</a:t>
              </a:r>
            </a:p>
          </p:txBody>
        </p:sp>
      </p:grpSp>
      <p:sp>
        <p:nvSpPr>
          <p:cNvPr id="42" name="TextBox 41"/>
          <p:cNvSpPr txBox="1"/>
          <p:nvPr/>
        </p:nvSpPr>
        <p:spPr>
          <a:xfrm>
            <a:off x="4978618" y="3435707"/>
            <a:ext cx="1238250"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Positive (P)</a:t>
            </a:r>
          </a:p>
        </p:txBody>
      </p:sp>
      <p:sp>
        <p:nvSpPr>
          <p:cNvPr id="51" name="Rounded Rectangle 50"/>
          <p:cNvSpPr/>
          <p:nvPr/>
        </p:nvSpPr>
        <p:spPr>
          <a:xfrm>
            <a:off x="7679907" y="3244298"/>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Windy</a:t>
            </a:r>
          </a:p>
        </p:txBody>
      </p:sp>
      <p:cxnSp>
        <p:nvCxnSpPr>
          <p:cNvPr id="52" name="Straight Connector 51"/>
          <p:cNvCxnSpPr/>
          <p:nvPr/>
        </p:nvCxnSpPr>
        <p:spPr>
          <a:xfrm>
            <a:off x="8422514" y="3782817"/>
            <a:ext cx="860991"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7447221" y="3782817"/>
            <a:ext cx="975293"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7047002" y="3913878"/>
            <a:ext cx="1238250" cy="307777"/>
          </a:xfrm>
          <a:prstGeom prst="rect">
            <a:avLst/>
          </a:prstGeom>
          <a:noFill/>
        </p:spPr>
        <p:txBody>
          <a:bodyPr wrap="square" rtlCol="0">
            <a:spAutoFit/>
          </a:bodyPr>
          <a:lstStyle/>
          <a:p>
            <a:pPr algn="ctr"/>
            <a:r>
              <a:rPr lang="pt-BR" sz="1400" dirty="0"/>
              <a:t>true</a:t>
            </a:r>
          </a:p>
        </p:txBody>
      </p:sp>
      <p:sp>
        <p:nvSpPr>
          <p:cNvPr id="55" name="TextBox 54"/>
          <p:cNvSpPr txBox="1"/>
          <p:nvPr/>
        </p:nvSpPr>
        <p:spPr>
          <a:xfrm>
            <a:off x="8602132" y="3913877"/>
            <a:ext cx="1238250" cy="307777"/>
          </a:xfrm>
          <a:prstGeom prst="rect">
            <a:avLst/>
          </a:prstGeom>
          <a:noFill/>
        </p:spPr>
        <p:txBody>
          <a:bodyPr wrap="square" rtlCol="0">
            <a:spAutoFit/>
          </a:bodyPr>
          <a:lstStyle/>
          <a:p>
            <a:pPr algn="ctr"/>
            <a:r>
              <a:rPr lang="pt-BR" sz="1400" dirty="0"/>
              <a:t>false</a:t>
            </a:r>
          </a:p>
        </p:txBody>
      </p:sp>
      <p:sp>
        <p:nvSpPr>
          <p:cNvPr id="32" name="TextBox 31"/>
          <p:cNvSpPr txBox="1"/>
          <p:nvPr/>
        </p:nvSpPr>
        <p:spPr>
          <a:xfrm>
            <a:off x="8667305" y="4323812"/>
            <a:ext cx="1238250" cy="369332"/>
          </a:xfrm>
          <a:prstGeom prst="rect">
            <a:avLst/>
          </a:prstGeom>
          <a:noFill/>
          <a:ln w="6350">
            <a:solidFill>
              <a:schemeClr val="tx1"/>
            </a:solidFill>
            <a:prstDash val="dash"/>
          </a:ln>
        </p:spPr>
        <p:txBody>
          <a:bodyPr wrap="square" rtlCol="0">
            <a:spAutoFit/>
          </a:bodyPr>
          <a:lstStyle/>
          <a:p>
            <a:pPr algn="ctr"/>
            <a:r>
              <a:rPr lang="pt-BR" dirty="0"/>
              <a:t>Positive (P)</a:t>
            </a:r>
          </a:p>
        </p:txBody>
      </p:sp>
      <p:sp>
        <p:nvSpPr>
          <p:cNvPr id="33" name="TextBox 32"/>
          <p:cNvSpPr txBox="1"/>
          <p:nvPr/>
        </p:nvSpPr>
        <p:spPr>
          <a:xfrm>
            <a:off x="6749377" y="4323812"/>
            <a:ext cx="1401537" cy="369332"/>
          </a:xfrm>
          <a:prstGeom prst="rect">
            <a:avLst/>
          </a:prstGeom>
          <a:noFill/>
          <a:ln w="6350">
            <a:solidFill>
              <a:schemeClr val="tx1"/>
            </a:solidFill>
            <a:prstDash val="dash"/>
          </a:ln>
        </p:spPr>
        <p:txBody>
          <a:bodyPr wrap="square" rtlCol="0">
            <a:spAutoFit/>
          </a:bodyPr>
          <a:lstStyle>
            <a:defPPr>
              <a:defRPr lang="pt-BR"/>
            </a:defPPr>
            <a:lvl1pPr algn="ctr"/>
          </a:lstStyle>
          <a:p>
            <a:r>
              <a:rPr lang="pt-BR" dirty="0"/>
              <a:t>Negative (N)</a:t>
            </a:r>
          </a:p>
        </p:txBody>
      </p:sp>
      <p:sp>
        <p:nvSpPr>
          <p:cNvPr id="19" name="Rounded Rectangle 18"/>
          <p:cNvSpPr/>
          <p:nvPr/>
        </p:nvSpPr>
        <p:spPr>
          <a:xfrm>
            <a:off x="2288922" y="3244722"/>
            <a:ext cx="1387928" cy="53884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ln>
                  <a:solidFill>
                    <a:schemeClr val="tx1"/>
                  </a:solidFill>
                </a:ln>
                <a:solidFill>
                  <a:schemeClr val="tx1"/>
                </a:solidFill>
              </a:rPr>
              <a:t>Humidity</a:t>
            </a:r>
          </a:p>
        </p:txBody>
      </p:sp>
      <p:cxnSp>
        <p:nvCxnSpPr>
          <p:cNvPr id="20" name="Straight Connector 19"/>
          <p:cNvCxnSpPr>
            <a:stCxn id="19" idx="2"/>
          </p:cNvCxnSpPr>
          <p:nvPr/>
        </p:nvCxnSpPr>
        <p:spPr>
          <a:xfrm>
            <a:off x="2982886" y="3783565"/>
            <a:ext cx="860991"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9" idx="2"/>
          </p:cNvCxnSpPr>
          <p:nvPr/>
        </p:nvCxnSpPr>
        <p:spPr>
          <a:xfrm flipH="1">
            <a:off x="2007593" y="3783565"/>
            <a:ext cx="975293" cy="5391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549318" y="3914626"/>
            <a:ext cx="1238250" cy="307777"/>
          </a:xfrm>
          <a:prstGeom prst="rect">
            <a:avLst/>
          </a:prstGeom>
          <a:noFill/>
        </p:spPr>
        <p:txBody>
          <a:bodyPr wrap="square" rtlCol="0">
            <a:spAutoFit/>
          </a:bodyPr>
          <a:lstStyle/>
          <a:p>
            <a:pPr algn="ctr"/>
            <a:r>
              <a:rPr lang="pt-BR" sz="1400" dirty="0"/>
              <a:t>high</a:t>
            </a:r>
          </a:p>
        </p:txBody>
      </p:sp>
      <p:sp>
        <p:nvSpPr>
          <p:cNvPr id="23" name="TextBox 22"/>
          <p:cNvSpPr txBox="1"/>
          <p:nvPr/>
        </p:nvSpPr>
        <p:spPr>
          <a:xfrm>
            <a:off x="3220560" y="3914625"/>
            <a:ext cx="1238250" cy="307777"/>
          </a:xfrm>
          <a:prstGeom prst="rect">
            <a:avLst/>
          </a:prstGeom>
          <a:noFill/>
        </p:spPr>
        <p:txBody>
          <a:bodyPr wrap="square" rtlCol="0">
            <a:spAutoFit/>
          </a:bodyPr>
          <a:lstStyle/>
          <a:p>
            <a:pPr algn="ctr"/>
            <a:r>
              <a:rPr lang="pt-BR" sz="1400" dirty="0"/>
              <a:t>normal</a:t>
            </a:r>
          </a:p>
        </p:txBody>
      </p:sp>
    </p:spTree>
    <p:extLst>
      <p:ext uri="{BB962C8B-B14F-4D97-AF65-F5344CB8AC3E}">
        <p14:creationId xmlns:p14="http://schemas.microsoft.com/office/powerpoint/2010/main" val="16440702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5997827" y="2186140"/>
            <a:ext cx="4320607" cy="3826402"/>
            <a:chOff x="5997827" y="2186140"/>
            <a:chExt cx="4320607" cy="3826402"/>
          </a:xfrm>
        </p:grpSpPr>
        <p:sp>
          <p:nvSpPr>
            <p:cNvPr id="5" name="Rectangle 4"/>
            <p:cNvSpPr/>
            <p:nvPr/>
          </p:nvSpPr>
          <p:spPr>
            <a:xfrm>
              <a:off x="7811068" y="2186140"/>
              <a:ext cx="1100920" cy="66874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Respira</a:t>
              </a:r>
            </a:p>
            <a:p>
              <a:pPr algn="ctr"/>
              <a:r>
                <a:rPr lang="pt-BR" dirty="0">
                  <a:solidFill>
                    <a:schemeClr val="tx1"/>
                  </a:solidFill>
                </a:rPr>
                <a:t>Ar?</a:t>
              </a:r>
            </a:p>
          </p:txBody>
        </p:sp>
        <p:cxnSp>
          <p:nvCxnSpPr>
            <p:cNvPr id="6" name="Straight Arrow Connector 5"/>
            <p:cNvCxnSpPr>
              <a:stCxn id="5" idx="2"/>
              <a:endCxn id="9" idx="0"/>
            </p:cNvCxnSpPr>
            <p:nvPr/>
          </p:nvCxnSpPr>
          <p:spPr>
            <a:xfrm>
              <a:off x="8361528" y="2854881"/>
              <a:ext cx="1330065" cy="1306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976280" y="3841917"/>
              <a:ext cx="1100920" cy="66874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Bota ovo?</a:t>
              </a:r>
            </a:p>
          </p:txBody>
        </p:sp>
        <p:cxnSp>
          <p:nvCxnSpPr>
            <p:cNvPr id="8" name="Straight Arrow Connector 7"/>
            <p:cNvCxnSpPr>
              <a:stCxn id="5" idx="2"/>
              <a:endCxn id="7" idx="0"/>
            </p:cNvCxnSpPr>
            <p:nvPr/>
          </p:nvCxnSpPr>
          <p:spPr>
            <a:xfrm flipH="1">
              <a:off x="7526740" y="2854881"/>
              <a:ext cx="834788" cy="987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9064751" y="4160982"/>
              <a:ext cx="1253683" cy="687367"/>
            </a:xfrm>
            <a:prstGeom prst="round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Peixe</a:t>
              </a:r>
              <a:endParaRPr lang="pt-BR" dirty="0"/>
            </a:p>
          </p:txBody>
        </p:sp>
        <p:sp>
          <p:nvSpPr>
            <p:cNvPr id="10" name="Rounded Rectangle 9"/>
            <p:cNvSpPr/>
            <p:nvPr/>
          </p:nvSpPr>
          <p:spPr>
            <a:xfrm>
              <a:off x="5997827" y="5325174"/>
              <a:ext cx="1253683" cy="687367"/>
            </a:xfrm>
            <a:prstGeom prst="round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Pássaro</a:t>
              </a:r>
              <a:endParaRPr lang="pt-BR" dirty="0"/>
            </a:p>
          </p:txBody>
        </p:sp>
        <p:sp>
          <p:nvSpPr>
            <p:cNvPr id="11" name="Rounded Rectangle 10"/>
            <p:cNvSpPr/>
            <p:nvPr/>
          </p:nvSpPr>
          <p:spPr>
            <a:xfrm>
              <a:off x="7811068" y="5325175"/>
              <a:ext cx="1253683" cy="687367"/>
            </a:xfrm>
            <a:prstGeom prst="round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Mamífero</a:t>
              </a:r>
              <a:endParaRPr lang="pt-BR" dirty="0"/>
            </a:p>
          </p:txBody>
        </p:sp>
        <p:cxnSp>
          <p:nvCxnSpPr>
            <p:cNvPr id="12" name="Straight Arrow Connector 11"/>
            <p:cNvCxnSpPr>
              <a:stCxn id="7" idx="2"/>
              <a:endCxn id="11" idx="0"/>
            </p:cNvCxnSpPr>
            <p:nvPr/>
          </p:nvCxnSpPr>
          <p:spPr>
            <a:xfrm>
              <a:off x="7526740" y="4510658"/>
              <a:ext cx="911170" cy="814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2"/>
              <a:endCxn id="10" idx="0"/>
            </p:cNvCxnSpPr>
            <p:nvPr/>
          </p:nvCxnSpPr>
          <p:spPr>
            <a:xfrm flipH="1">
              <a:off x="6624669" y="4510658"/>
              <a:ext cx="902071" cy="814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911988" y="3252311"/>
              <a:ext cx="718431" cy="369332"/>
            </a:xfrm>
            <a:prstGeom prst="rect">
              <a:avLst/>
            </a:prstGeom>
            <a:noFill/>
          </p:spPr>
          <p:txBody>
            <a:bodyPr wrap="square" rtlCol="0">
              <a:spAutoFit/>
            </a:bodyPr>
            <a:lstStyle/>
            <a:p>
              <a:pPr algn="ctr"/>
              <a:r>
                <a:rPr lang="pt-BR" dirty="0"/>
                <a:t>não</a:t>
              </a:r>
            </a:p>
          </p:txBody>
        </p:sp>
        <p:sp>
          <p:nvSpPr>
            <p:cNvPr id="15" name="TextBox 14"/>
            <p:cNvSpPr txBox="1"/>
            <p:nvPr/>
          </p:nvSpPr>
          <p:spPr>
            <a:xfrm>
              <a:off x="7314469" y="3138215"/>
              <a:ext cx="718431" cy="369332"/>
            </a:xfrm>
            <a:prstGeom prst="rect">
              <a:avLst/>
            </a:prstGeom>
            <a:noFill/>
          </p:spPr>
          <p:txBody>
            <a:bodyPr wrap="square" rtlCol="0">
              <a:spAutoFit/>
            </a:bodyPr>
            <a:lstStyle/>
            <a:p>
              <a:pPr algn="ctr"/>
              <a:r>
                <a:rPr lang="pt-BR" dirty="0"/>
                <a:t>sim</a:t>
              </a:r>
            </a:p>
          </p:txBody>
        </p:sp>
        <p:sp>
          <p:nvSpPr>
            <p:cNvPr id="16" name="TextBox 15"/>
            <p:cNvSpPr txBox="1"/>
            <p:nvPr/>
          </p:nvSpPr>
          <p:spPr>
            <a:xfrm>
              <a:off x="6494888" y="4637807"/>
              <a:ext cx="718431" cy="369332"/>
            </a:xfrm>
            <a:prstGeom prst="rect">
              <a:avLst/>
            </a:prstGeom>
            <a:noFill/>
          </p:spPr>
          <p:txBody>
            <a:bodyPr wrap="square" rtlCol="0">
              <a:spAutoFit/>
            </a:bodyPr>
            <a:lstStyle/>
            <a:p>
              <a:pPr algn="ctr"/>
              <a:r>
                <a:rPr lang="pt-BR" dirty="0"/>
                <a:t>sim</a:t>
              </a:r>
            </a:p>
          </p:txBody>
        </p:sp>
        <p:sp>
          <p:nvSpPr>
            <p:cNvPr id="17" name="TextBox 16"/>
            <p:cNvSpPr txBox="1"/>
            <p:nvPr/>
          </p:nvSpPr>
          <p:spPr>
            <a:xfrm>
              <a:off x="7916542" y="4717430"/>
              <a:ext cx="718431" cy="369332"/>
            </a:xfrm>
            <a:prstGeom prst="rect">
              <a:avLst/>
            </a:prstGeom>
            <a:noFill/>
          </p:spPr>
          <p:txBody>
            <a:bodyPr wrap="square" rtlCol="0">
              <a:spAutoFit/>
            </a:bodyPr>
            <a:lstStyle/>
            <a:p>
              <a:pPr algn="ctr"/>
              <a:r>
                <a:rPr lang="pt-BR" dirty="0"/>
                <a:t>não</a:t>
              </a:r>
            </a:p>
          </p:txBody>
        </p:sp>
      </p:grpSp>
    </p:spTree>
    <p:extLst>
      <p:ext uri="{BB962C8B-B14F-4D97-AF65-F5344CB8AC3E}">
        <p14:creationId xmlns:p14="http://schemas.microsoft.com/office/powerpoint/2010/main" val="3189611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18075</TotalTime>
  <Words>13272</Words>
  <Application>Microsoft Office PowerPoint</Application>
  <PresentationFormat>Widescreen</PresentationFormat>
  <Paragraphs>1403</Paragraphs>
  <Slides>76</Slides>
  <Notes>49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-apple-system</vt:lpstr>
      <vt:lpstr>Arial</vt:lpstr>
      <vt:lpstr>Calibri</vt:lpstr>
      <vt:lpstr>Calibri Light</vt:lpstr>
      <vt:lpstr>Cambria Math</vt:lpstr>
      <vt:lpstr>Courier New</vt:lpstr>
      <vt:lpstr>inherit</vt:lpstr>
      <vt:lpstr>Wingdings</vt:lpstr>
      <vt:lpstr>Office Theme</vt:lpstr>
      <vt:lpstr>C24 – Inteligência Artificial: Árvores de decisão</vt:lpstr>
      <vt:lpstr>PowerPoint Presentation</vt:lpstr>
      <vt:lpstr>Árvores de decisão</vt:lpstr>
      <vt:lpstr>PowerPoint Presentation</vt:lpstr>
      <vt:lpstr>O que significa ser paramétrico?</vt:lpstr>
      <vt:lpstr>O que significa ser não-paramétrico?</vt:lpstr>
      <vt:lpstr>O que significa ser não-paramétrico?</vt:lpstr>
      <vt:lpstr>O que significa ser não-linear?</vt:lpstr>
      <vt:lpstr>Árvores de decisão</vt:lpstr>
      <vt:lpstr>Árvores de decisão</vt:lpstr>
      <vt:lpstr>Árvores de decisão</vt:lpstr>
      <vt:lpstr>Árvores de decisão</vt:lpstr>
      <vt:lpstr>Árvores de decisão</vt:lpstr>
      <vt:lpstr>Árvores de decisão</vt:lpstr>
      <vt:lpstr>O processo de indução de uma árvore de decisão</vt:lpstr>
      <vt:lpstr>O processo de indução de uma árvore de decisão</vt:lpstr>
      <vt:lpstr>O processo de indução de uma árvore de decisão</vt:lpstr>
      <vt:lpstr>O processo de indução de uma árvore de decisão</vt:lpstr>
      <vt:lpstr>O processo de indução de uma árvore de decisão</vt:lpstr>
      <vt:lpstr>O processo de indução de uma árvore de decisão</vt:lpstr>
      <vt:lpstr>O processo de indução de uma árvore de decisão</vt:lpstr>
      <vt:lpstr>O processo de indução de uma árvore de decisão</vt:lpstr>
      <vt:lpstr>Ganho de informação</vt:lpstr>
      <vt:lpstr>Entropia</vt:lpstr>
      <vt:lpstr>Entropia</vt:lpstr>
      <vt:lpstr>Entropia</vt:lpstr>
      <vt:lpstr>Exemplo de entropia</vt:lpstr>
      <vt:lpstr>Exemplo de entropia</vt:lpstr>
      <vt:lpstr>Exemplo de entropia</vt:lpstr>
      <vt:lpstr>Cálculo da entropia</vt:lpstr>
      <vt:lpstr>Indução de uma árvore de decisão</vt:lpstr>
      <vt:lpstr>Indução de uma árvore de decisão</vt:lpstr>
      <vt:lpstr>Indução de uma árvore de decisão</vt:lpstr>
      <vt:lpstr>Método ID3</vt:lpstr>
      <vt:lpstr>Sequência de passos do método ID3</vt:lpstr>
      <vt:lpstr>Sequência de passos do método ID3</vt:lpstr>
      <vt:lpstr>Características do método ID3</vt:lpstr>
      <vt:lpstr>Observações</vt:lpstr>
      <vt:lpstr>Observações</vt:lpstr>
      <vt:lpstr>Observações</vt:lpstr>
      <vt:lpstr>Observações</vt:lpstr>
      <vt:lpstr>PowerPoint Presentation</vt:lpstr>
      <vt:lpstr>Exemplo de indução com método ID3</vt:lpstr>
      <vt:lpstr>Exemplo de indução com método ID3</vt:lpstr>
      <vt:lpstr>Exemplo de indução com método ID3</vt:lpstr>
      <vt:lpstr>Exemplo de indução com método ID3</vt:lpstr>
      <vt:lpstr>Exemplo de indução com método ID3</vt:lpstr>
      <vt:lpstr>Exemplo de indução com método ID3</vt:lpstr>
      <vt:lpstr>Exemplo de indução com método ID3</vt:lpstr>
      <vt:lpstr>Exemplo de indução com método ID3</vt:lpstr>
      <vt:lpstr>Exemplo de indução com método ID3</vt:lpstr>
      <vt:lpstr>PowerPoint Presentation</vt:lpstr>
      <vt:lpstr>Considerações sobre as árvores de decisão</vt:lpstr>
      <vt:lpstr>Considerações sobre as árvores de decisão</vt:lpstr>
      <vt:lpstr>Considerações sobre as árvores de decisão</vt:lpstr>
      <vt:lpstr>Considerações sobre as árvores de decisão</vt:lpstr>
      <vt:lpstr>Considerações sobre as árvores de decisão</vt:lpstr>
      <vt:lpstr>Considerações sobre as árvores de decisão</vt:lpstr>
      <vt:lpstr>Diferenças entre ID3 e CART</vt:lpstr>
      <vt:lpstr>Exemplo</vt:lpstr>
      <vt:lpstr>Lista de exercícios</vt:lpstr>
      <vt:lpstr>PowerPoint Presentation</vt:lpstr>
      <vt:lpstr>PowerPoint Presentation</vt:lpstr>
      <vt:lpstr>PowerPoint Presentation</vt:lpstr>
      <vt:lpstr>Cálculo da entropia para mais de duas classes </vt:lpstr>
      <vt:lpstr>Cálculo da entropia para mais de duas classes </vt:lpstr>
      <vt:lpstr>PowerPoint Presentation</vt:lpstr>
      <vt:lpstr>Qual a entropia de 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 Classificadores Lineares</dc:title>
  <dc:creator>Felipe Augusto Pereira de Figueiredo</dc:creator>
  <cp:lastModifiedBy>Felipe Augusto Pereira de Figueiredo</cp:lastModifiedBy>
  <cp:revision>1257</cp:revision>
  <dcterms:created xsi:type="dcterms:W3CDTF">2020-04-06T23:46:10Z</dcterms:created>
  <dcterms:modified xsi:type="dcterms:W3CDTF">2026-04-03T13:41:58Z</dcterms:modified>
</cp:coreProperties>
</file>