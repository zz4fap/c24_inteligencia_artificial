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6"/>
  </p:notesMasterIdLst>
  <p:sldIdLst>
    <p:sldId id="256" r:id="rId2"/>
    <p:sldId id="379" r:id="rId3"/>
    <p:sldId id="310" r:id="rId4"/>
    <p:sldId id="381" r:id="rId5"/>
    <p:sldId id="382" r:id="rId6"/>
    <p:sldId id="458" r:id="rId7"/>
    <p:sldId id="459" r:id="rId8"/>
    <p:sldId id="460" r:id="rId9"/>
    <p:sldId id="383" r:id="rId10"/>
    <p:sldId id="384" r:id="rId11"/>
    <p:sldId id="335" r:id="rId12"/>
    <p:sldId id="336" r:id="rId13"/>
    <p:sldId id="337" r:id="rId14"/>
    <p:sldId id="338" r:id="rId15"/>
    <p:sldId id="339" r:id="rId16"/>
    <p:sldId id="340" r:id="rId17"/>
    <p:sldId id="341" r:id="rId18"/>
    <p:sldId id="342" r:id="rId19"/>
    <p:sldId id="343" r:id="rId20"/>
    <p:sldId id="344" r:id="rId21"/>
    <p:sldId id="345" r:id="rId22"/>
    <p:sldId id="346" r:id="rId23"/>
    <p:sldId id="348" r:id="rId24"/>
    <p:sldId id="349" r:id="rId25"/>
    <p:sldId id="350" r:id="rId26"/>
    <p:sldId id="358" r:id="rId27"/>
    <p:sldId id="351" r:id="rId28"/>
    <p:sldId id="352" r:id="rId29"/>
    <p:sldId id="353"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367" r:id="rId43"/>
    <p:sldId id="368" r:id="rId44"/>
    <p:sldId id="277" r:id="rId45"/>
    <p:sldId id="283" r:id="rId46"/>
    <p:sldId id="284" r:id="rId47"/>
    <p:sldId id="285" r:id="rId48"/>
    <p:sldId id="291" r:id="rId49"/>
    <p:sldId id="292" r:id="rId50"/>
    <p:sldId id="296" r:id="rId51"/>
    <p:sldId id="321" r:id="rId52"/>
    <p:sldId id="322" r:id="rId53"/>
    <p:sldId id="371" r:id="rId54"/>
    <p:sldId id="374" r:id="rId55"/>
    <p:sldId id="375" r:id="rId56"/>
    <p:sldId id="377" r:id="rId57"/>
    <p:sldId id="456" r:id="rId58"/>
    <p:sldId id="457" r:id="rId59"/>
    <p:sldId id="378" r:id="rId60"/>
    <p:sldId id="306" r:id="rId61"/>
    <p:sldId id="265" r:id="rId62"/>
    <p:sldId id="347" r:id="rId63"/>
    <p:sldId id="328" r:id="rId64"/>
    <p:sldId id="329" r:id="rId65"/>
    <p:sldId id="355" r:id="rId66"/>
    <p:sldId id="330" r:id="rId67"/>
    <p:sldId id="271" r:id="rId68"/>
    <p:sldId id="279" r:id="rId69"/>
    <p:sldId id="293" r:id="rId70"/>
    <p:sldId id="289" r:id="rId71"/>
    <p:sldId id="290" r:id="rId72"/>
    <p:sldId id="294" r:id="rId73"/>
    <p:sldId id="295" r:id="rId74"/>
    <p:sldId id="307" r:id="rId75"/>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2276" autoAdjust="0"/>
  </p:normalViewPr>
  <p:slideViewPr>
    <p:cSldViewPr snapToGrid="0">
      <p:cViewPr varScale="1">
        <p:scale>
          <a:sx n="53" d="100"/>
          <a:sy n="53" d="100"/>
        </p:scale>
        <p:origin x="138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31/03/2026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Uma das muitas qualidades das Árvores de Decisão é que elas exigem</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muito pouca preparação de dados. Em particular, elas não necessitam de escalonamento</a:t>
            </a:r>
            <a:r>
              <a:rPr lang="pt-BR" sz="1200" b="0" i="0" kern="1200" baseline="0" dirty="0" smtClean="0">
                <a:solidFill>
                  <a:schemeClr val="tx1"/>
                </a:solidFill>
                <a:effectLst/>
                <a:latin typeface="+mn-lt"/>
                <a:ea typeface="+mn-ea"/>
                <a:cs typeface="+mn-cs"/>
              </a:rPr>
              <a:t> de atributos.</a:t>
            </a:r>
          </a:p>
          <a:p>
            <a:endParaRPr lang="pt-BR" sz="1200" b="0" i="0" kern="1200" baseline="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são um método de aprendizado supervisionado</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não paramétrico usado para classificação e regressão. O objetivo é</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criar um modelo que prediz</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 valor de uma variável de</a:t>
            </a:r>
            <a:r>
              <a:rPr lang="pt-BR" sz="1200" b="0" i="0" kern="1200" baseline="0" dirty="0" smtClean="0">
                <a:solidFill>
                  <a:schemeClr val="tx1"/>
                </a:solidFill>
                <a:effectLst/>
                <a:latin typeface="+mn-lt"/>
                <a:ea typeface="+mn-ea"/>
                <a:cs typeface="+mn-cs"/>
              </a:rPr>
              <a:t> saída</a:t>
            </a:r>
            <a:r>
              <a:rPr lang="pt-BR" sz="1200" b="0" i="0" kern="1200" dirty="0" smtClean="0">
                <a:solidFill>
                  <a:schemeClr val="tx1"/>
                </a:solidFill>
                <a:effectLst/>
                <a:latin typeface="+mn-lt"/>
                <a:ea typeface="+mn-ea"/>
                <a:cs typeface="+mn-cs"/>
              </a:rPr>
              <a:t>,</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aprendendo regras simples de decisão inferidas a partir dos atributos de dados.</a:t>
            </a: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não são paramétricas porque não fazem suposições sobre</a:t>
            </a:r>
            <a:r>
              <a:rPr lang="pt-BR" sz="1200" b="0" i="0" kern="1200" baseline="0" dirty="0" smtClean="0">
                <a:solidFill>
                  <a:schemeClr val="tx1"/>
                </a:solidFill>
                <a:effectLst/>
                <a:latin typeface="+mn-lt"/>
                <a:ea typeface="+mn-ea"/>
                <a:cs typeface="+mn-cs"/>
              </a:rPr>
              <a:t> a</a:t>
            </a:r>
            <a:r>
              <a:rPr lang="pt-BR" sz="1200" b="0" i="0" kern="1200" dirty="0" smtClean="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observados. Por exemplo, Classificadores </a:t>
            </a:r>
            <a:r>
              <a:rPr lang="pt-BR" sz="1200" b="0" i="0" kern="1200" dirty="0" err="1" smtClean="0">
                <a:solidFill>
                  <a:schemeClr val="tx1"/>
                </a:solidFill>
                <a:effectLst/>
                <a:latin typeface="+mn-lt"/>
                <a:ea typeface="+mn-ea"/>
                <a:cs typeface="+mn-cs"/>
              </a:rPr>
              <a:t>Gaussian</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Naive</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Bayes</a:t>
            </a:r>
            <a:r>
              <a:rPr lang="pt-BR" sz="1200" b="0" i="0" kern="1200" dirty="0" smtClean="0">
                <a:solidFill>
                  <a:schemeClr val="tx1"/>
                </a:solidFill>
                <a:effectLst/>
                <a:latin typeface="+mn-lt"/>
                <a:ea typeface="+mn-ea"/>
                <a:cs typeface="+mn-cs"/>
              </a:rPr>
              <a:t> são</a:t>
            </a:r>
            <a:r>
              <a:rPr lang="pt-BR" sz="1200" b="0" i="0" kern="1200" baseline="0" dirty="0" smtClean="0">
                <a:solidFill>
                  <a:schemeClr val="tx1"/>
                </a:solidFill>
                <a:effectLst/>
                <a:latin typeface="+mn-lt"/>
                <a:ea typeface="+mn-ea"/>
                <a:cs typeface="+mn-cs"/>
              </a:rPr>
              <a:t> modelos </a:t>
            </a:r>
            <a:r>
              <a:rPr lang="pt-BR" sz="1200" b="0" i="0" kern="1200" baseline="0" dirty="0" err="1" smtClean="0">
                <a:solidFill>
                  <a:schemeClr val="tx1"/>
                </a:solidFill>
                <a:effectLst/>
                <a:latin typeface="+mn-lt"/>
                <a:ea typeface="+mn-ea"/>
                <a:cs typeface="+mn-cs"/>
              </a:rPr>
              <a:t>paramêtricos</a:t>
            </a:r>
            <a:r>
              <a:rPr lang="pt-BR" sz="1200" b="0" i="0" kern="1200" baseline="0" dirty="0" smtClean="0">
                <a:solidFill>
                  <a:schemeClr val="tx1"/>
                </a:solidFill>
                <a:effectLst/>
                <a:latin typeface="+mn-lt"/>
                <a:ea typeface="+mn-ea"/>
                <a:cs typeface="+mn-cs"/>
              </a:rPr>
              <a:t>, pois consideram que os atributos seguem distribuições Gaussianas.</a:t>
            </a:r>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Porque k-NN</a:t>
            </a:r>
            <a:r>
              <a:rPr lang="pt-BR" sz="1200" b="0" i="0" kern="1200" baseline="0" dirty="0" smtClean="0">
                <a:solidFill>
                  <a:schemeClr val="tx1"/>
                </a:solidFill>
                <a:effectLst/>
                <a:latin typeface="+mn-lt"/>
                <a:ea typeface="+mn-ea"/>
                <a:cs typeface="+mn-cs"/>
              </a:rPr>
              <a:t> é um classificador não-linear.</a:t>
            </a:r>
            <a:endParaRPr lang="pt-BR" sz="1200" b="0" i="0" kern="1200" dirty="0" smtClean="0">
              <a:solidFill>
                <a:schemeClr val="tx1"/>
              </a:solidFill>
              <a:effectLst/>
              <a:latin typeface="+mn-lt"/>
              <a:ea typeface="+mn-ea"/>
              <a:cs typeface="+mn-cs"/>
            </a:endParaRPr>
          </a:p>
          <a:p>
            <a:r>
              <a:rPr lang="pt-BR" dirty="0" smtClean="0">
                <a:hlinkClick r:id="rId3"/>
              </a:rPr>
              <a:t>https://stats.stackexchange.com/questions/178522/why-knn-is-a-non-linear-classifier</a:t>
            </a:r>
            <a:endParaRPr lang="pt-BR" dirty="0" smtClean="0"/>
          </a:p>
          <a:p>
            <a:endParaRPr lang="pt-BR"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Netflix Recommendations: Beyond the 5 stars (Part 2)</a:t>
            </a:r>
            <a:endParaRPr lang="pt-BR" b="1" dirty="0" smtClean="0"/>
          </a:p>
          <a:p>
            <a:r>
              <a:rPr lang="pt-BR" dirty="0" smtClean="0"/>
              <a:t>https://netflixtechblog.com/netflix-recommendations-beyond-the-5-stars-part-2-d9b96aa399f5</a:t>
            </a:r>
          </a:p>
          <a:p>
            <a:endParaRPr lang="pt-BR" dirty="0" smtClean="0"/>
          </a:p>
          <a:p>
            <a:r>
              <a:rPr lang="pt-BR" dirty="0" smtClean="0"/>
              <a:t>Referências:</a:t>
            </a:r>
          </a:p>
          <a:p>
            <a:r>
              <a:rPr lang="pt-BR" dirty="0" smtClean="0"/>
              <a:t>[1] https://sebastianraschka.com/faq/docs/parametric_vs_nonparametric.html</a:t>
            </a:r>
          </a:p>
          <a:p>
            <a:r>
              <a:rPr lang="pt-BR" dirty="0" smtClean="0"/>
              <a:t>[2] https://www.quora.com/Why-is-a-decision-tree-considered-a-non-parametric-model</a:t>
            </a:r>
          </a:p>
          <a:p>
            <a:endParaRPr lang="pt-BR" dirty="0" smtClean="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Uma das muitas qualidades das Árvores de Decisão é que elas exigem</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muito pouca preparação de dados. Em particular, elas não necessitam de escalonamento</a:t>
            </a:r>
            <a:r>
              <a:rPr lang="pt-BR" sz="1200" b="0" i="0" kern="1200" baseline="0" dirty="0" smtClean="0">
                <a:solidFill>
                  <a:schemeClr val="tx1"/>
                </a:solidFill>
                <a:effectLst/>
                <a:latin typeface="+mn-lt"/>
                <a:ea typeface="+mn-ea"/>
                <a:cs typeface="+mn-cs"/>
              </a:rPr>
              <a:t> de atributos.</a:t>
            </a:r>
          </a:p>
          <a:p>
            <a:endParaRPr lang="pt-BR" sz="1200" b="0" i="0" kern="1200" baseline="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são um método de aprendizado supervisionado</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não paramétrico usado para classificação e regressão. O objetivo é</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criar um modelo que prediz</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 valor de uma variável de</a:t>
            </a:r>
            <a:r>
              <a:rPr lang="pt-BR" sz="1200" b="0" i="0" kern="1200" baseline="0" dirty="0" smtClean="0">
                <a:solidFill>
                  <a:schemeClr val="tx1"/>
                </a:solidFill>
                <a:effectLst/>
                <a:latin typeface="+mn-lt"/>
                <a:ea typeface="+mn-ea"/>
                <a:cs typeface="+mn-cs"/>
              </a:rPr>
              <a:t> saída</a:t>
            </a:r>
            <a:r>
              <a:rPr lang="pt-BR" sz="1200" b="0" i="0" kern="1200" dirty="0" smtClean="0">
                <a:solidFill>
                  <a:schemeClr val="tx1"/>
                </a:solidFill>
                <a:effectLst/>
                <a:latin typeface="+mn-lt"/>
                <a:ea typeface="+mn-ea"/>
                <a:cs typeface="+mn-cs"/>
              </a:rPr>
              <a:t>,</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aprendendo regras simples de decisão inferidas a partir dos atributos de dados.</a:t>
            </a: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não são paramétricas porque não fazem suposições sobre</a:t>
            </a:r>
            <a:r>
              <a:rPr lang="pt-BR" sz="1200" b="0" i="0" kern="1200" baseline="0" dirty="0" smtClean="0">
                <a:solidFill>
                  <a:schemeClr val="tx1"/>
                </a:solidFill>
                <a:effectLst/>
                <a:latin typeface="+mn-lt"/>
                <a:ea typeface="+mn-ea"/>
                <a:cs typeface="+mn-cs"/>
              </a:rPr>
              <a:t> a</a:t>
            </a:r>
            <a:r>
              <a:rPr lang="pt-BR" sz="1200" b="0" i="0" kern="1200" dirty="0" smtClean="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observados. Por exemplo, Classificadores </a:t>
            </a:r>
            <a:r>
              <a:rPr lang="pt-BR" sz="1200" b="0" i="0" kern="1200" dirty="0" err="1" smtClean="0">
                <a:solidFill>
                  <a:schemeClr val="tx1"/>
                </a:solidFill>
                <a:effectLst/>
                <a:latin typeface="+mn-lt"/>
                <a:ea typeface="+mn-ea"/>
                <a:cs typeface="+mn-cs"/>
              </a:rPr>
              <a:t>Gaussian</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Naive</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Bayes</a:t>
            </a:r>
            <a:r>
              <a:rPr lang="pt-BR" sz="1200" b="0" i="0" kern="1200" dirty="0" smtClean="0">
                <a:solidFill>
                  <a:schemeClr val="tx1"/>
                </a:solidFill>
                <a:effectLst/>
                <a:latin typeface="+mn-lt"/>
                <a:ea typeface="+mn-ea"/>
                <a:cs typeface="+mn-cs"/>
              </a:rPr>
              <a:t> são</a:t>
            </a:r>
            <a:r>
              <a:rPr lang="pt-BR" sz="1200" b="0" i="0" kern="1200" baseline="0" dirty="0" smtClean="0">
                <a:solidFill>
                  <a:schemeClr val="tx1"/>
                </a:solidFill>
                <a:effectLst/>
                <a:latin typeface="+mn-lt"/>
                <a:ea typeface="+mn-ea"/>
                <a:cs typeface="+mn-cs"/>
              </a:rPr>
              <a:t> modelos </a:t>
            </a:r>
            <a:r>
              <a:rPr lang="pt-BR" sz="1200" b="0" i="0" kern="1200" baseline="0" dirty="0" err="1" smtClean="0">
                <a:solidFill>
                  <a:schemeClr val="tx1"/>
                </a:solidFill>
                <a:effectLst/>
                <a:latin typeface="+mn-lt"/>
                <a:ea typeface="+mn-ea"/>
                <a:cs typeface="+mn-cs"/>
              </a:rPr>
              <a:t>paramêtricos</a:t>
            </a:r>
            <a:r>
              <a:rPr lang="pt-BR" sz="1200" b="0" i="0" kern="1200" baseline="0" dirty="0" smtClean="0">
                <a:solidFill>
                  <a:schemeClr val="tx1"/>
                </a:solidFill>
                <a:effectLst/>
                <a:latin typeface="+mn-lt"/>
                <a:ea typeface="+mn-ea"/>
                <a:cs typeface="+mn-cs"/>
              </a:rPr>
              <a:t>, pois consideram que os atributos seguem distribuições Gaussianas.</a:t>
            </a:r>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Porque k-NN</a:t>
            </a:r>
            <a:r>
              <a:rPr lang="pt-BR" sz="1200" b="0" i="0" kern="1200" baseline="0" dirty="0" smtClean="0">
                <a:solidFill>
                  <a:schemeClr val="tx1"/>
                </a:solidFill>
                <a:effectLst/>
                <a:latin typeface="+mn-lt"/>
                <a:ea typeface="+mn-ea"/>
                <a:cs typeface="+mn-cs"/>
              </a:rPr>
              <a:t> é um classificador não-linear.</a:t>
            </a:r>
            <a:endParaRPr lang="pt-BR" sz="1200" b="0" i="0" kern="1200" dirty="0" smtClean="0">
              <a:solidFill>
                <a:schemeClr val="tx1"/>
              </a:solidFill>
              <a:effectLst/>
              <a:latin typeface="+mn-lt"/>
              <a:ea typeface="+mn-ea"/>
              <a:cs typeface="+mn-cs"/>
            </a:endParaRPr>
          </a:p>
          <a:p>
            <a:r>
              <a:rPr lang="pt-BR" dirty="0" smtClean="0">
                <a:hlinkClick r:id="rId3"/>
              </a:rPr>
              <a:t>https://stats.stackexchange.com/questions/178522/why-knn-is-a-non-linear-classifier</a:t>
            </a:r>
            <a:endParaRPr lang="pt-BR" dirty="0" smtClean="0"/>
          </a:p>
          <a:p>
            <a:endParaRPr lang="pt-BR"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Netflix Recommendations: Beyond the 5 stars (Part 2)</a:t>
            </a:r>
            <a:endParaRPr lang="pt-BR" b="1" dirty="0" smtClean="0"/>
          </a:p>
          <a:p>
            <a:r>
              <a:rPr lang="pt-BR" dirty="0" smtClean="0"/>
              <a:t>https://netflixtechblog.com/netflix-recommendations-beyond-the-5-stars-part-2-d9b96aa399f5</a:t>
            </a:r>
          </a:p>
          <a:p>
            <a:endParaRPr lang="pt-BR" dirty="0" smtClean="0"/>
          </a:p>
          <a:p>
            <a:r>
              <a:rPr lang="pt-BR" dirty="0" smtClean="0"/>
              <a:t>Referências:</a:t>
            </a:r>
          </a:p>
          <a:p>
            <a:r>
              <a:rPr lang="pt-BR" dirty="0" smtClean="0"/>
              <a:t>[1] https://sebastianraschka.com/faq/docs/parametric_vs_nonparametric.html</a:t>
            </a:r>
          </a:p>
          <a:p>
            <a:r>
              <a:rPr lang="pt-BR" dirty="0" smtClean="0"/>
              <a:t>[2] https://www.quora.com/Why-is-a-decision-tree-considered-a-non-parametric-model</a:t>
            </a:r>
          </a:p>
          <a:p>
            <a:endParaRPr lang="pt-BR" dirty="0" smtClean="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smtClean="0"/>
          </a:p>
          <a:p>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Uma das muitas qualidades das Árvores de Decisão é que elas exigem</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muito pouca preparação de dados. Em particular, elas não necessitam de escalonamento</a:t>
            </a:r>
            <a:r>
              <a:rPr lang="pt-BR" sz="1200" b="0" i="0" kern="1200" baseline="0" dirty="0" smtClean="0">
                <a:solidFill>
                  <a:schemeClr val="tx1"/>
                </a:solidFill>
                <a:effectLst/>
                <a:latin typeface="+mn-lt"/>
                <a:ea typeface="+mn-ea"/>
                <a:cs typeface="+mn-cs"/>
              </a:rPr>
              <a:t> de atributos.</a:t>
            </a:r>
          </a:p>
          <a:p>
            <a:endParaRPr lang="pt-BR" sz="1200" b="0" i="0" kern="1200" baseline="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são um método de aprendizado supervisionado</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não paramétrico usado para classificação e regressão. O objetivo é</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criar um modelo que prediz</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 valor de uma variável de</a:t>
            </a:r>
            <a:r>
              <a:rPr lang="pt-BR" sz="1200" b="0" i="0" kern="1200" baseline="0" dirty="0" smtClean="0">
                <a:solidFill>
                  <a:schemeClr val="tx1"/>
                </a:solidFill>
                <a:effectLst/>
                <a:latin typeface="+mn-lt"/>
                <a:ea typeface="+mn-ea"/>
                <a:cs typeface="+mn-cs"/>
              </a:rPr>
              <a:t> saída</a:t>
            </a:r>
            <a:r>
              <a:rPr lang="pt-BR" sz="1200" b="0" i="0" kern="1200" dirty="0" smtClean="0">
                <a:solidFill>
                  <a:schemeClr val="tx1"/>
                </a:solidFill>
                <a:effectLst/>
                <a:latin typeface="+mn-lt"/>
                <a:ea typeface="+mn-ea"/>
                <a:cs typeface="+mn-cs"/>
              </a:rPr>
              <a:t>,</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aprendendo regras simples de decisão inferidas a partir dos atributos de dados.</a:t>
            </a: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não são paramétricas porque não fazem suposições sobre</a:t>
            </a:r>
            <a:r>
              <a:rPr lang="pt-BR" sz="1200" b="0" i="0" kern="1200" baseline="0" dirty="0" smtClean="0">
                <a:solidFill>
                  <a:schemeClr val="tx1"/>
                </a:solidFill>
                <a:effectLst/>
                <a:latin typeface="+mn-lt"/>
                <a:ea typeface="+mn-ea"/>
                <a:cs typeface="+mn-cs"/>
              </a:rPr>
              <a:t> a</a:t>
            </a:r>
            <a:r>
              <a:rPr lang="pt-BR" sz="1200" b="0" i="0" kern="1200" dirty="0" smtClean="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observados. Por exemplo, Classificadores </a:t>
            </a:r>
            <a:r>
              <a:rPr lang="pt-BR" sz="1200" b="0" i="0" kern="1200" dirty="0" err="1" smtClean="0">
                <a:solidFill>
                  <a:schemeClr val="tx1"/>
                </a:solidFill>
                <a:effectLst/>
                <a:latin typeface="+mn-lt"/>
                <a:ea typeface="+mn-ea"/>
                <a:cs typeface="+mn-cs"/>
              </a:rPr>
              <a:t>Gaussian</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Naive</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Bayes</a:t>
            </a:r>
            <a:r>
              <a:rPr lang="pt-BR" sz="1200" b="0" i="0" kern="1200" dirty="0" smtClean="0">
                <a:solidFill>
                  <a:schemeClr val="tx1"/>
                </a:solidFill>
                <a:effectLst/>
                <a:latin typeface="+mn-lt"/>
                <a:ea typeface="+mn-ea"/>
                <a:cs typeface="+mn-cs"/>
              </a:rPr>
              <a:t> são</a:t>
            </a:r>
            <a:r>
              <a:rPr lang="pt-BR" sz="1200" b="0" i="0" kern="1200" baseline="0" dirty="0" smtClean="0">
                <a:solidFill>
                  <a:schemeClr val="tx1"/>
                </a:solidFill>
                <a:effectLst/>
                <a:latin typeface="+mn-lt"/>
                <a:ea typeface="+mn-ea"/>
                <a:cs typeface="+mn-cs"/>
              </a:rPr>
              <a:t> modelos </a:t>
            </a:r>
            <a:r>
              <a:rPr lang="pt-BR" sz="1200" b="0" i="0" kern="1200" baseline="0" dirty="0" err="1" smtClean="0">
                <a:solidFill>
                  <a:schemeClr val="tx1"/>
                </a:solidFill>
                <a:effectLst/>
                <a:latin typeface="+mn-lt"/>
                <a:ea typeface="+mn-ea"/>
                <a:cs typeface="+mn-cs"/>
              </a:rPr>
              <a:t>paramêtricos</a:t>
            </a:r>
            <a:r>
              <a:rPr lang="pt-BR" sz="1200" b="0" i="0" kern="1200" baseline="0" dirty="0" smtClean="0">
                <a:solidFill>
                  <a:schemeClr val="tx1"/>
                </a:solidFill>
                <a:effectLst/>
                <a:latin typeface="+mn-lt"/>
                <a:ea typeface="+mn-ea"/>
                <a:cs typeface="+mn-cs"/>
              </a:rPr>
              <a:t>, pois consideram que os atributos seguem distribuições Gaussianas.</a:t>
            </a:r>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Porque k-NN</a:t>
            </a:r>
            <a:r>
              <a:rPr lang="pt-BR" sz="1200" b="0" i="0" kern="1200" baseline="0" dirty="0" smtClean="0">
                <a:solidFill>
                  <a:schemeClr val="tx1"/>
                </a:solidFill>
                <a:effectLst/>
                <a:latin typeface="+mn-lt"/>
                <a:ea typeface="+mn-ea"/>
                <a:cs typeface="+mn-cs"/>
              </a:rPr>
              <a:t> é um classificador não-linear.</a:t>
            </a:r>
            <a:endParaRPr lang="pt-BR" sz="1200" b="0" i="0" kern="1200" dirty="0" smtClean="0">
              <a:solidFill>
                <a:schemeClr val="tx1"/>
              </a:solidFill>
              <a:effectLst/>
              <a:latin typeface="+mn-lt"/>
              <a:ea typeface="+mn-ea"/>
              <a:cs typeface="+mn-cs"/>
            </a:endParaRPr>
          </a:p>
          <a:p>
            <a:r>
              <a:rPr lang="pt-BR" dirty="0" smtClean="0">
                <a:hlinkClick r:id="rId3"/>
              </a:rPr>
              <a:t>https://stats.stackexchange.com/questions/178522/why-knn-is-a-non-linear-classifier</a:t>
            </a:r>
            <a:endParaRPr lang="pt-BR" dirty="0" smtClean="0"/>
          </a:p>
          <a:p>
            <a:endParaRPr lang="pt-BR"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Netflix Recommendations: Beyond the 5 stars (Part 2)</a:t>
            </a:r>
            <a:endParaRPr lang="pt-BR" b="1" dirty="0" smtClean="0"/>
          </a:p>
          <a:p>
            <a:r>
              <a:rPr lang="pt-BR" dirty="0" smtClean="0"/>
              <a:t>https://netflixtechblog.com/netflix-recommendations-beyond-the-5-stars-part-2-d9b96aa399f5</a:t>
            </a:r>
          </a:p>
          <a:p>
            <a:endParaRPr lang="pt-BR" dirty="0" smtClean="0"/>
          </a:p>
          <a:p>
            <a:r>
              <a:rPr lang="pt-BR" dirty="0" smtClean="0"/>
              <a:t>Referências:</a:t>
            </a:r>
          </a:p>
          <a:p>
            <a:r>
              <a:rPr lang="pt-BR" dirty="0" smtClean="0"/>
              <a:t>[1] https://sebastianraschka.com/faq/docs/parametric_vs_nonparametric.html</a:t>
            </a:r>
          </a:p>
          <a:p>
            <a:r>
              <a:rPr lang="pt-BR" dirty="0" smtClean="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smtClean="0"/>
          </a:p>
          <a:p>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Uma das muitas qualidades das Árvores de Decisão é que elas exigem</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muito pouca preparação de dados. Em particular, elas não necessitam de escalonamento</a:t>
            </a:r>
            <a:r>
              <a:rPr lang="pt-BR" sz="1200" b="0" i="0" kern="1200" baseline="0" dirty="0" smtClean="0">
                <a:solidFill>
                  <a:schemeClr val="tx1"/>
                </a:solidFill>
                <a:effectLst/>
                <a:latin typeface="+mn-lt"/>
                <a:ea typeface="+mn-ea"/>
                <a:cs typeface="+mn-cs"/>
              </a:rPr>
              <a:t> de atributos.</a:t>
            </a:r>
          </a:p>
          <a:p>
            <a:endParaRPr lang="pt-BR" sz="1200" b="0" i="0" kern="1200" baseline="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são um método de aprendizado supervisionado</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não paramétrico usado para classificação e regressão. O objetivo é</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criar um modelo que prediz</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 valor de uma variável de</a:t>
            </a:r>
            <a:r>
              <a:rPr lang="pt-BR" sz="1200" b="0" i="0" kern="1200" baseline="0" dirty="0" smtClean="0">
                <a:solidFill>
                  <a:schemeClr val="tx1"/>
                </a:solidFill>
                <a:effectLst/>
                <a:latin typeface="+mn-lt"/>
                <a:ea typeface="+mn-ea"/>
                <a:cs typeface="+mn-cs"/>
              </a:rPr>
              <a:t> saída</a:t>
            </a:r>
            <a:r>
              <a:rPr lang="pt-BR" sz="1200" b="0" i="0" kern="1200" dirty="0" smtClean="0">
                <a:solidFill>
                  <a:schemeClr val="tx1"/>
                </a:solidFill>
                <a:effectLst/>
                <a:latin typeface="+mn-lt"/>
                <a:ea typeface="+mn-ea"/>
                <a:cs typeface="+mn-cs"/>
              </a:rPr>
              <a:t>,</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aprendendo regras simples de decisão inferidas a partir dos atributos de dados.</a:t>
            </a: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As árvores de decisão não são paramétricas porque não fazem suposições sobre</a:t>
            </a:r>
            <a:r>
              <a:rPr lang="pt-BR" sz="1200" b="0" i="0" kern="1200" baseline="0" dirty="0" smtClean="0">
                <a:solidFill>
                  <a:schemeClr val="tx1"/>
                </a:solidFill>
                <a:effectLst/>
                <a:latin typeface="+mn-lt"/>
                <a:ea typeface="+mn-ea"/>
                <a:cs typeface="+mn-cs"/>
              </a:rPr>
              <a:t> a</a:t>
            </a:r>
            <a:r>
              <a:rPr lang="pt-BR" sz="1200" b="0" i="0" kern="1200" dirty="0" smtClean="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smtClean="0">
                <a:solidFill>
                  <a:schemeClr val="tx1"/>
                </a:solidFill>
                <a:effectLst/>
                <a:latin typeface="+mn-lt"/>
                <a:ea typeface="+mn-ea"/>
                <a:cs typeface="+mn-cs"/>
              </a:rPr>
              <a:t> </a:t>
            </a:r>
            <a:r>
              <a:rPr lang="pt-BR" sz="1200" b="0" i="0" kern="1200" dirty="0" smtClean="0">
                <a:solidFill>
                  <a:schemeClr val="tx1"/>
                </a:solidFill>
                <a:effectLst/>
                <a:latin typeface="+mn-lt"/>
                <a:ea typeface="+mn-ea"/>
                <a:cs typeface="+mn-cs"/>
              </a:rPr>
              <a:t>observados. Por exemplo, Classificadores </a:t>
            </a:r>
            <a:r>
              <a:rPr lang="pt-BR" sz="1200" b="0" i="0" kern="1200" dirty="0" err="1" smtClean="0">
                <a:solidFill>
                  <a:schemeClr val="tx1"/>
                </a:solidFill>
                <a:effectLst/>
                <a:latin typeface="+mn-lt"/>
                <a:ea typeface="+mn-ea"/>
                <a:cs typeface="+mn-cs"/>
              </a:rPr>
              <a:t>Gaussian</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Naive</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Bayes</a:t>
            </a:r>
            <a:r>
              <a:rPr lang="pt-BR" sz="1200" b="0" i="0" kern="1200" dirty="0" smtClean="0">
                <a:solidFill>
                  <a:schemeClr val="tx1"/>
                </a:solidFill>
                <a:effectLst/>
                <a:latin typeface="+mn-lt"/>
                <a:ea typeface="+mn-ea"/>
                <a:cs typeface="+mn-cs"/>
              </a:rPr>
              <a:t> são</a:t>
            </a:r>
            <a:r>
              <a:rPr lang="pt-BR" sz="1200" b="0" i="0" kern="1200" baseline="0" dirty="0" smtClean="0">
                <a:solidFill>
                  <a:schemeClr val="tx1"/>
                </a:solidFill>
                <a:effectLst/>
                <a:latin typeface="+mn-lt"/>
                <a:ea typeface="+mn-ea"/>
                <a:cs typeface="+mn-cs"/>
              </a:rPr>
              <a:t> modelos </a:t>
            </a:r>
            <a:r>
              <a:rPr lang="pt-BR" sz="1200" b="0" i="0" kern="1200" baseline="0" dirty="0" err="1" smtClean="0">
                <a:solidFill>
                  <a:schemeClr val="tx1"/>
                </a:solidFill>
                <a:effectLst/>
                <a:latin typeface="+mn-lt"/>
                <a:ea typeface="+mn-ea"/>
                <a:cs typeface="+mn-cs"/>
              </a:rPr>
              <a:t>paramêtricos</a:t>
            </a:r>
            <a:r>
              <a:rPr lang="pt-BR" sz="1200" b="0" i="0" kern="1200" baseline="0" dirty="0" smtClean="0">
                <a:solidFill>
                  <a:schemeClr val="tx1"/>
                </a:solidFill>
                <a:effectLst/>
                <a:latin typeface="+mn-lt"/>
                <a:ea typeface="+mn-ea"/>
                <a:cs typeface="+mn-cs"/>
              </a:rPr>
              <a:t>, pois consideram que os atributos seguem distribuições Gaussianas.</a:t>
            </a:r>
            <a:endParaRPr lang="pt-BR" sz="1200" b="0" i="0" kern="1200" dirty="0" smtClean="0">
              <a:solidFill>
                <a:schemeClr val="tx1"/>
              </a:solidFill>
              <a:effectLst/>
              <a:latin typeface="+mn-lt"/>
              <a:ea typeface="+mn-ea"/>
              <a:cs typeface="+mn-cs"/>
            </a:endParaRPr>
          </a:p>
          <a:p>
            <a:endParaRPr lang="pt-BR" sz="1200" b="0" i="0" kern="1200" dirty="0" smtClean="0">
              <a:solidFill>
                <a:schemeClr val="tx1"/>
              </a:solidFill>
              <a:effectLst/>
              <a:latin typeface="+mn-lt"/>
              <a:ea typeface="+mn-ea"/>
              <a:cs typeface="+mn-cs"/>
            </a:endParaRPr>
          </a:p>
          <a:p>
            <a:r>
              <a:rPr lang="pt-BR" sz="1200" b="0" i="0" kern="1200" dirty="0" smtClean="0">
                <a:solidFill>
                  <a:schemeClr val="tx1"/>
                </a:solidFill>
                <a:effectLst/>
                <a:latin typeface="+mn-lt"/>
                <a:ea typeface="+mn-ea"/>
                <a:cs typeface="+mn-cs"/>
              </a:rPr>
              <a:t>Porque k-NN</a:t>
            </a:r>
            <a:r>
              <a:rPr lang="pt-BR" sz="1200" b="0" i="0" kern="1200" baseline="0" dirty="0" smtClean="0">
                <a:solidFill>
                  <a:schemeClr val="tx1"/>
                </a:solidFill>
                <a:effectLst/>
                <a:latin typeface="+mn-lt"/>
                <a:ea typeface="+mn-ea"/>
                <a:cs typeface="+mn-cs"/>
              </a:rPr>
              <a:t> é um classificador não-linear.</a:t>
            </a:r>
            <a:endParaRPr lang="pt-BR" sz="1200" b="0" i="0" kern="1200" dirty="0" smtClean="0">
              <a:solidFill>
                <a:schemeClr val="tx1"/>
              </a:solidFill>
              <a:effectLst/>
              <a:latin typeface="+mn-lt"/>
              <a:ea typeface="+mn-ea"/>
              <a:cs typeface="+mn-cs"/>
            </a:endParaRPr>
          </a:p>
          <a:p>
            <a:r>
              <a:rPr lang="pt-BR" dirty="0" smtClean="0">
                <a:hlinkClick r:id="rId3"/>
              </a:rPr>
              <a:t>https://stats.stackexchange.com/questions/178522/why-knn-is-a-non-linear-classifier</a:t>
            </a:r>
            <a:endParaRPr lang="pt-BR" dirty="0" smtClean="0"/>
          </a:p>
          <a:p>
            <a:endParaRPr lang="pt-BR"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Netflix Recommendations: Beyond the 5 stars (Part 2)</a:t>
            </a:r>
            <a:endParaRPr lang="pt-BR" b="1" dirty="0" smtClean="0"/>
          </a:p>
          <a:p>
            <a:r>
              <a:rPr lang="pt-BR" dirty="0" smtClean="0"/>
              <a:t>https://netflixtechblog.com/netflix-recommendations-beyond-the-5-stars-part-2-d9b96aa399f5</a:t>
            </a:r>
          </a:p>
          <a:p>
            <a:endParaRPr lang="pt-BR" dirty="0" smtClean="0"/>
          </a:p>
          <a:p>
            <a:r>
              <a:rPr lang="pt-BR" dirty="0" smtClean="0"/>
              <a:t>Referências:</a:t>
            </a:r>
          </a:p>
          <a:p>
            <a:r>
              <a:rPr lang="pt-BR" dirty="0" smtClean="0"/>
              <a:t>[1] https://sebastianraschka.com/faq/docs/parametric_vs_nonparametric.html</a:t>
            </a:r>
          </a:p>
          <a:p>
            <a:r>
              <a:rPr lang="pt-BR" dirty="0" smtClean="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5697197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31/03/2026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31/03/2026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31/03/2026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31/03/2026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a:t>
            </a:r>
            <a:r>
              <a:rPr lang="pt-BR" dirty="0" smtClean="0"/>
              <a:t>paramétrico</a:t>
            </a:r>
            <a:r>
              <a:rPr lang="pt-BR" dirty="0"/>
              <a:t>?</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a:t>
            </a:r>
            <a:r>
              <a:rPr lang="pt-BR" dirty="0" smtClean="0"/>
              <a:t>paramétrico:</a:t>
            </a:r>
          </a:p>
          <a:p>
            <a:pPr lvl="1">
              <a:buFont typeface="Wingdings" panose="05000000000000000000" pitchFamily="2" charset="2"/>
              <a:buChar char="§"/>
            </a:pPr>
            <a:r>
              <a:rPr lang="pt-BR" dirty="0" smtClean="0"/>
              <a:t>assume </a:t>
            </a:r>
            <a:r>
              <a:rPr lang="pt-BR" dirty="0"/>
              <a:t>uma forma </a:t>
            </a:r>
            <a:r>
              <a:rPr lang="pt-BR" dirty="0" smtClean="0"/>
              <a:t>funcional fixa.</a:t>
            </a:r>
          </a:p>
          <a:p>
            <a:pPr lvl="2">
              <a:buFont typeface="Courier New" panose="02070309020205020404" pitchFamily="49" charset="0"/>
              <a:buChar char="o"/>
            </a:pPr>
            <a:r>
              <a:rPr lang="pt-BR" dirty="0"/>
              <a:t>equação como no caso da regressão linear.</a:t>
            </a:r>
            <a:endParaRPr lang="pt-BR" dirty="0" smtClean="0"/>
          </a:p>
          <a:p>
            <a:pPr lvl="1">
              <a:buFont typeface="Wingdings" panose="05000000000000000000" pitchFamily="2" charset="2"/>
              <a:buChar char="§"/>
            </a:pPr>
            <a:r>
              <a:rPr lang="pt-BR" dirty="0"/>
              <a:t>p</a:t>
            </a:r>
            <a:r>
              <a:rPr lang="pt-BR" dirty="0" smtClean="0"/>
              <a:t>ossui um número </a:t>
            </a:r>
            <a:r>
              <a:rPr lang="pt-BR" dirty="0"/>
              <a:t>fixo de </a:t>
            </a:r>
            <a:r>
              <a:rPr lang="pt-BR" dirty="0" smtClean="0"/>
              <a:t>parâmetros.</a:t>
            </a:r>
          </a:p>
          <a:p>
            <a:pPr lvl="2">
              <a:buFont typeface="Courier New" panose="02070309020205020404" pitchFamily="49" charset="0"/>
              <a:buChar char="o"/>
            </a:pPr>
            <a:r>
              <a:rPr lang="pt-BR" dirty="0" smtClean="0"/>
              <a:t>Por exemplo, na regressão linear, a quantidade de pesos de uma função hipótese é constante.</a:t>
            </a:r>
          </a:p>
          <a:p>
            <a:pPr lvl="1">
              <a:buFont typeface="Wingdings" panose="05000000000000000000" pitchFamily="2" charset="2"/>
              <a:buChar char="§"/>
            </a:pPr>
            <a:r>
              <a:rPr lang="pt-BR" dirty="0" smtClean="0"/>
              <a:t>Complexidade constante</a:t>
            </a:r>
          </a:p>
          <a:p>
            <a:pPr lvl="1">
              <a:buFont typeface="Wingdings" panose="05000000000000000000" pitchFamily="2" charset="2"/>
              <a:buChar char="§"/>
            </a:pPr>
            <a:r>
              <a:rPr lang="pt-BR" dirty="0" smtClean="0"/>
              <a:t>Alguns modelos fazem suposições sobre a distribuição dos dados</a:t>
            </a:r>
            <a:endParaRPr lang="pt-BR" dirty="0" smtClean="0"/>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smtClean="0"/>
              <a:t>Um </a:t>
            </a:r>
            <a:r>
              <a:rPr lang="pt-BR" dirty="0"/>
              <a:t>modelo não-paramétrico:</a:t>
            </a:r>
          </a:p>
          <a:p>
            <a:pPr lvl="1">
              <a:buFont typeface="Wingdings" panose="05000000000000000000" pitchFamily="2" charset="2"/>
              <a:buChar char="§"/>
            </a:pPr>
            <a:r>
              <a:rPr lang="pt-BR" dirty="0"/>
              <a:t>não assume forma funcional </a:t>
            </a:r>
            <a:r>
              <a:rPr lang="pt-BR" dirty="0" smtClean="0"/>
              <a:t>fixa</a:t>
            </a:r>
          </a:p>
          <a:p>
            <a:pPr lvl="2">
              <a:buFont typeface="Courier New" panose="02070309020205020404" pitchFamily="49" charset="0"/>
              <a:buChar char="o"/>
            </a:pPr>
            <a:r>
              <a:rPr lang="pt-BR" dirty="0" smtClean="0"/>
              <a:t>Não tem uma equação como no caso da regressão linear.</a:t>
            </a:r>
            <a:endParaRPr lang="pt-BR" dirty="0"/>
          </a:p>
          <a:p>
            <a:pPr lvl="1">
              <a:buFont typeface="Wingdings" panose="05000000000000000000" pitchFamily="2" charset="2"/>
              <a:buChar char="§"/>
            </a:pPr>
            <a:r>
              <a:rPr lang="pt-BR" dirty="0"/>
              <a:t>não fixa o número de </a:t>
            </a:r>
            <a:r>
              <a:rPr lang="pt-BR" dirty="0" smtClean="0"/>
              <a:t>parâmetros</a:t>
            </a:r>
          </a:p>
          <a:p>
            <a:pPr lvl="1">
              <a:buFont typeface="Wingdings" panose="05000000000000000000" pitchFamily="2" charset="2"/>
              <a:buChar char="§"/>
            </a:pPr>
            <a:r>
              <a:rPr lang="pt-BR" dirty="0" smtClean="0"/>
              <a:t>a </a:t>
            </a:r>
            <a:r>
              <a:rPr lang="pt-BR" dirty="0"/>
              <a:t>complexidade depende dos </a:t>
            </a:r>
            <a:r>
              <a:rPr lang="pt-BR" dirty="0" smtClean="0"/>
              <a:t>dados</a:t>
            </a:r>
          </a:p>
          <a:p>
            <a:pPr lvl="2">
              <a:buFont typeface="Courier New" panose="02070309020205020404" pitchFamily="49" charset="0"/>
              <a:buChar char="o"/>
            </a:pPr>
            <a:r>
              <a:rPr lang="pt-BR" dirty="0" smtClean="0"/>
              <a:t>Sua complexidade aumenta à medida que crescem</a:t>
            </a:r>
          </a:p>
          <a:p>
            <a:pPr lvl="1">
              <a:buFont typeface="Wingdings" panose="05000000000000000000" pitchFamily="2" charset="2"/>
              <a:buChar char="§"/>
            </a:pPr>
            <a:r>
              <a:rPr lang="pt-BR" dirty="0"/>
              <a:t>não fazem suposições sobre a distribuição dos </a:t>
            </a:r>
            <a:r>
              <a:rPr lang="pt-BR" dirty="0" smtClean="0"/>
              <a:t>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smtClean="0"/>
              <a:t>Os </a:t>
            </a:r>
            <a:r>
              <a:rPr lang="pt-BR" dirty="0"/>
              <a:t>parâmetros são criados durante o treinamento para explicar os dados</a:t>
            </a:r>
            <a:r>
              <a:rPr lang="pt-BR" dirty="0" smtClean="0"/>
              <a:t>.</a:t>
            </a:r>
          </a:p>
          <a:p>
            <a:r>
              <a:rPr lang="pt-BR" dirty="0"/>
              <a:t>O tamanho da árvore, i.e., o número de parâmetros, tende a crescer com </a:t>
            </a:r>
            <a:r>
              <a:rPr lang="pt-BR" dirty="0" smtClean="0"/>
              <a:t>o tamanho da </a:t>
            </a:r>
            <a:r>
              <a:rPr lang="pt-BR" dirty="0"/>
              <a:t>base de dados</a:t>
            </a:r>
            <a:r>
              <a:rPr lang="pt-BR" dirty="0" smtClean="0"/>
              <a:t>.</a:t>
            </a:r>
            <a:endParaRPr lang="pt-BR" dirty="0"/>
          </a:p>
          <a:p>
            <a:r>
              <a:rPr lang="pt-BR" dirty="0" smtClean="0"/>
              <a:t>O </a:t>
            </a:r>
            <a:r>
              <a:rPr lang="pt-BR" dirty="0"/>
              <a:t>número de parâmetros não é determinado antes do treinamento, de modo que a árvore é livre para se adaptar aos dados de treinamento</a:t>
            </a:r>
            <a:r>
              <a:rPr lang="pt-BR" dirty="0" smtClean="0"/>
              <a:t>.</a:t>
            </a:r>
            <a:endParaRPr lang="pt-BR" dirty="0"/>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a:t>
            </a:r>
            <a:r>
              <a:rPr lang="pt-BR" dirty="0" smtClean="0"/>
              <a:t>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smtClean="0"/>
              <a:t>As funções </a:t>
            </a:r>
            <a:r>
              <a:rPr lang="pt-BR" dirty="0" err="1"/>
              <a:t>aproximadora</a:t>
            </a:r>
            <a:r>
              <a:rPr lang="pt-BR" dirty="0"/>
              <a:t> e discriminante são funções não-lineares, i.e., os dados não são aproximados ou separados por um </a:t>
            </a:r>
            <a:r>
              <a:rPr lang="pt-BR" dirty="0" smtClean="0"/>
              <a:t>hiperplano.</a:t>
            </a:r>
          </a:p>
          <a:p>
            <a:pPr marL="0" indent="0">
              <a:buNone/>
            </a:pPr>
            <a:endParaRPr lang="pt-BR" dirty="0"/>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xmlns=""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CFF4DB-750B-5DBC-68F9-CF0E2508ACE3}"/>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405085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objetivo é criar um modelo que realize predições aprendendo </a:t>
            </a:r>
            <a:r>
              <a:rPr lang="pt-BR" b="1" i="1" dirty="0">
                <a:solidFill>
                  <a:srgbClr val="00B050"/>
                </a:solidFill>
              </a:rPr>
              <a:t>regras simples de decisão</a:t>
            </a:r>
            <a:r>
              <a:rPr lang="pt-BR" dirty="0"/>
              <a:t> </a:t>
            </a:r>
            <a:r>
              <a:rPr lang="pt-BR" b="1" i="1" dirty="0">
                <a:solidFill>
                  <a:srgbClr val="7030A0"/>
                </a:solidFill>
              </a:rPr>
              <a:t>inferidas</a:t>
            </a:r>
            <a:r>
              <a:rPr lang="pt-BR" dirty="0"/>
              <a:t> a partir dos </a:t>
            </a:r>
            <a:r>
              <a:rPr lang="pt-BR" b="1" i="1" dirty="0">
                <a:solidFill>
                  <a:srgbClr val="7030A0"/>
                </a:solidFill>
              </a:rPr>
              <a:t>atributos do conjunto de treinamento</a:t>
            </a:r>
            <a:r>
              <a:rPr lang="pt-BR" dirty="0"/>
              <a:t>.</a:t>
            </a:r>
          </a:p>
          <a:p>
            <a:r>
              <a:rPr lang="pt-BR" dirty="0"/>
              <a:t>As </a:t>
            </a:r>
            <a:r>
              <a:rPr lang="pt-BR" b="1" i="1" dirty="0"/>
              <a:t>árvores de decisão </a:t>
            </a:r>
            <a:r>
              <a:rPr lang="pt-BR" dirty="0"/>
              <a:t>são os componentes fundamentais das </a:t>
            </a:r>
            <a:r>
              <a:rPr lang="pt-BR" b="1" i="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i="1" dirty="0"/>
              <a:t>algoritmos mais poderosos de aprendizado de máquina </a:t>
            </a:r>
            <a:r>
              <a:rPr lang="pt-BR" dirty="0"/>
              <a:t>disponíveis atualmente.</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Formalmente, uma árvore é um </a:t>
            </a:r>
            <a:r>
              <a:rPr lang="pt-BR" b="1" i="1" dirty="0">
                <a:solidFill>
                  <a:srgbClr val="7030A0"/>
                </a:solidFill>
              </a:rPr>
              <a:t>grafo não-direcionado</a:t>
            </a:r>
            <a:r>
              <a:rPr lang="pt-BR" b="1" i="1" dirty="0"/>
              <a:t> </a:t>
            </a:r>
            <a:r>
              <a:rPr lang="pt-BR" dirty="0"/>
              <a:t>no qual dois </a:t>
            </a:r>
            <a:r>
              <a:rPr lang="pt-BR" b="1" i="1" dirty="0"/>
              <a:t>vértices</a:t>
            </a:r>
            <a:r>
              <a:rPr lang="pt-BR" dirty="0"/>
              <a:t> quaisquer se conectam por um único caminho (ou seja, um </a:t>
            </a:r>
            <a:r>
              <a:rPr lang="pt-BR" b="1" i="1" dirty="0"/>
              <a:t>grafo acíclico não-direcionado</a:t>
            </a:r>
            <a:r>
              <a:rPr lang="pt-BR" dirty="0"/>
              <a:t>) [Wikipedia, 2019].</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i="1" dirty="0"/>
              <a:t>nó raiz</a:t>
            </a:r>
            <a:r>
              <a:rPr lang="pt-BR" dirty="0"/>
              <a:t>, do qual </a:t>
            </a:r>
            <a:r>
              <a:rPr lang="pt-BR" b="1" i="1" dirty="0"/>
              <a:t>parte o processo de decisão</a:t>
            </a:r>
            <a:r>
              <a:rPr lang="pt-BR" dirty="0"/>
              <a:t>. </a:t>
            </a:r>
          </a:p>
          <a:p>
            <a:r>
              <a:rPr lang="pt-BR" dirty="0"/>
              <a:t>Nesse processo, </a:t>
            </a:r>
            <a:r>
              <a:rPr lang="pt-BR" b="1" i="1" dirty="0">
                <a:solidFill>
                  <a:schemeClr val="accent2"/>
                </a:solidFill>
              </a:rPr>
              <a:t>valores distintos dos atributos geram arestas</a:t>
            </a:r>
            <a:r>
              <a:rPr lang="pt-BR" dirty="0"/>
              <a:t> (i.e., </a:t>
            </a:r>
            <a:r>
              <a:rPr lang="pt-BR" b="1" i="1" dirty="0">
                <a:solidFill>
                  <a:srgbClr val="00B050"/>
                </a:solidFill>
              </a:rPr>
              <a:t>ramificações</a:t>
            </a:r>
            <a:r>
              <a:rPr lang="pt-BR" dirty="0"/>
              <a:t>) e, quando se chega a um </a:t>
            </a:r>
            <a:r>
              <a:rPr lang="pt-BR" b="1" i="1" dirty="0">
                <a:solidFill>
                  <a:srgbClr val="7030A0"/>
                </a:solidFill>
              </a:rPr>
              <a:t>nó folha</a:t>
            </a:r>
            <a:r>
              <a:rPr lang="pt-BR" dirty="0"/>
              <a:t>, ocorre uma </a:t>
            </a:r>
            <a:r>
              <a:rPr lang="pt-BR" b="1" i="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b="1" i="1" dirty="0"/>
              <a:t>Árvores de decisão </a:t>
            </a:r>
            <a:r>
              <a:rPr lang="pt-BR" dirty="0"/>
              <a:t>são modelos de </a:t>
            </a:r>
            <a:r>
              <a:rPr lang="pt-BR" b="1" i="1" dirty="0">
                <a:solidFill>
                  <a:srgbClr val="00B050"/>
                </a:solidFill>
              </a:rPr>
              <a:t>caixa branca</a:t>
            </a:r>
            <a:r>
              <a:rPr lang="pt-BR" dirty="0"/>
              <a:t>, ou seja, é possível entender e </a:t>
            </a:r>
            <a:r>
              <a:rPr lang="pt-BR" b="1" i="1" dirty="0">
                <a:solidFill>
                  <a:schemeClr val="accent2"/>
                </a:solidFill>
              </a:rPr>
              <a:t>explicar facilmente como o modelo realiza a classificação ou regressão</a:t>
            </a:r>
            <a:r>
              <a:rPr lang="pt-BR" dirty="0"/>
              <a:t> baseando-se nos atributos.</a:t>
            </a:r>
          </a:p>
          <a:p>
            <a:r>
              <a:rPr lang="pt-BR" dirty="0"/>
              <a:t>Elas são o oposto dos modelos de </a:t>
            </a:r>
            <a:r>
              <a:rPr lang="pt-BR" b="1" i="1" dirty="0">
                <a:solidFill>
                  <a:srgbClr val="7030A0"/>
                </a:solidFill>
              </a:rPr>
              <a:t>caixa preta</a:t>
            </a:r>
            <a:r>
              <a:rPr lang="pt-BR" dirty="0"/>
              <a:t>, onde os resultados são difíceis de interpretar e </a:t>
            </a:r>
            <a:r>
              <a:rPr lang="pt-BR" b="1" i="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i="1" dirty="0"/>
              <a:t>Clima</a:t>
            </a:r>
            <a:r>
              <a:rPr lang="pt-BR" dirty="0"/>
              <a:t>, </a:t>
            </a:r>
            <a:r>
              <a:rPr lang="pt-BR" b="1" i="1" dirty="0"/>
              <a:t>Humidade</a:t>
            </a:r>
            <a:r>
              <a:rPr lang="pt-BR" dirty="0"/>
              <a:t> e </a:t>
            </a:r>
            <a:r>
              <a:rPr lang="pt-BR" b="1" i="1" dirty="0"/>
              <a:t>Vento</a:t>
            </a:r>
            <a:r>
              <a:rPr lang="pt-BR" dirty="0"/>
              <a:t>.</a:t>
            </a:r>
          </a:p>
          <a:p>
            <a:r>
              <a:rPr lang="pt-BR" dirty="0"/>
              <a:t>Cada </a:t>
            </a:r>
            <a:r>
              <a:rPr lang="pt-BR" b="1" i="1" dirty="0"/>
              <a:t>nó da árvore atua como um </a:t>
            </a:r>
            <a:r>
              <a:rPr lang="pt-BR" b="1" i="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i="1" dirty="0">
                <a:solidFill>
                  <a:srgbClr val="00B050"/>
                </a:solidFill>
              </a:rPr>
              <a:t>uso da árvore para classificar padrões é direto</a:t>
            </a:r>
            <a:r>
              <a:rPr lang="pt-BR" dirty="0"/>
              <a:t>, mas é preciso responder uma questão crucial: </a:t>
            </a:r>
            <a:r>
              <a:rPr lang="pt-BR" b="1" i="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i="1" dirty="0"/>
              <a:t>construir, </a:t>
            </a:r>
            <a:r>
              <a:rPr lang="pt-BR" b="1" i="1" dirty="0">
                <a:solidFill>
                  <a:schemeClr val="accent2"/>
                </a:solidFill>
              </a:rPr>
              <a:t>de maneira exaustiva</a:t>
            </a:r>
            <a:r>
              <a:rPr lang="pt-BR" dirty="0"/>
              <a:t>, todas as árvores </a:t>
            </a:r>
            <a:r>
              <a:rPr lang="pt-BR" b="1" i="1" dirty="0"/>
              <a:t>capazes de resolver o problema </a:t>
            </a:r>
            <a:r>
              <a:rPr lang="pt-BR" dirty="0"/>
              <a:t>da classificação ou regressão e </a:t>
            </a:r>
            <a:r>
              <a:rPr lang="pt-BR" b="1" i="1" dirty="0">
                <a:solidFill>
                  <a:schemeClr val="accent2"/>
                </a:solidFill>
              </a:rPr>
              <a:t>selecionar a mais simples</a:t>
            </a:r>
            <a:r>
              <a:rPr lang="pt-BR" b="1" i="1" dirty="0"/>
              <a:t> </a:t>
            </a:r>
            <a:r>
              <a:rPr lang="pt-BR" dirty="0"/>
              <a:t>(menos complexa) utilizando a </a:t>
            </a:r>
            <a:r>
              <a:rPr lang="pt-BR" b="1" i="1" dirty="0">
                <a:solidFill>
                  <a:srgbClr val="00B050"/>
                </a:solidFill>
              </a:rPr>
              <a:t>regra da Navalha de </a:t>
            </a:r>
            <a:r>
              <a:rPr lang="pt-BR" b="1" i="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1692" cy="5032376"/>
              </a:xfrm>
            </p:spPr>
            <p:txBody>
              <a:bodyPr>
                <a:normAutofit/>
              </a:bodyPr>
              <a:lstStyle/>
              <a:p>
                <a:r>
                  <a:rPr lang="pt-BR" dirty="0"/>
                  <a:t>Encontrar uma árvore de decisão ótima é um problema </a:t>
                </a:r>
                <a:r>
                  <a:rPr lang="pt-BR" b="1" i="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en-US" altLang="en-US" dirty="0"/>
              </a:p>
              <a:p>
                <a:r>
                  <a:rPr lang="en-US" altLang="en-US" dirty="0" err="1"/>
                  <a:t>Exemplos</a:t>
                </a:r>
                <a:r>
                  <a:rPr lang="en-US" altLang="en-US" dirty="0"/>
                  <a:t> </a:t>
                </a:r>
                <a:r>
                  <a:rPr lang="en-US" altLang="en-US" dirty="0" err="1"/>
                  <a:t>incluem</a:t>
                </a:r>
                <a:r>
                  <a:rPr lang="en-US" altLang="en-US" dirty="0"/>
                  <a:t> </a:t>
                </a:r>
                <a:r>
                  <a:rPr lang="en-US" altLang="en-US" dirty="0" err="1"/>
                  <a:t>problemas</a:t>
                </a:r>
                <a:r>
                  <a:rPr lang="en-US" altLang="en-US" dirty="0"/>
                  <a:t> </a:t>
                </a:r>
                <a:r>
                  <a:rPr lang="en-US" altLang="en-US" dirty="0" err="1"/>
                  <a:t>clássicos</a:t>
                </a:r>
                <a:r>
                  <a:rPr lang="en-US" altLang="en-US" dirty="0"/>
                  <a:t> </a:t>
                </a:r>
                <a:r>
                  <a:rPr lang="en-US" altLang="en-US" dirty="0" err="1"/>
                  <a:t>como</a:t>
                </a:r>
                <a:r>
                  <a:rPr lang="en-US" altLang="en-US" dirty="0"/>
                  <a:t> da </a:t>
                </a:r>
                <a:r>
                  <a:rPr lang="en-US" dirty="0" err="1"/>
                  <a:t>Satisfatibilidade</a:t>
                </a:r>
                <a:r>
                  <a:rPr lang="en-US" dirty="0"/>
                  <a:t> </a:t>
                </a:r>
                <a:r>
                  <a:rPr lang="en-US" dirty="0" err="1"/>
                  <a:t>Booleana</a:t>
                </a:r>
                <a:r>
                  <a:rPr lang="en-US" altLang="en-US" dirty="0"/>
                  <a:t>, </a:t>
                </a:r>
                <a:r>
                  <a:rPr lang="en-US" altLang="en-US" dirty="0" err="1"/>
                  <a:t>Caixeiro</a:t>
                </a:r>
                <a:r>
                  <a:rPr lang="en-US" altLang="en-US" dirty="0"/>
                  <a:t> </a:t>
                </a:r>
                <a:r>
                  <a:rPr lang="en-US" altLang="en-US" dirty="0" err="1"/>
                  <a:t>Viajante</a:t>
                </a:r>
                <a:r>
                  <a:rPr lang="en-US" altLang="en-US" dirty="0"/>
                  <a:t> e o </a:t>
                </a:r>
                <a:r>
                  <a:rPr lang="en-US" altLang="en-US" dirty="0" err="1"/>
                  <a:t>C</a:t>
                </a:r>
                <a:r>
                  <a:rPr lang="en-US" dirty="0" err="1"/>
                  <a:t>aminho</a:t>
                </a:r>
                <a:r>
                  <a:rPr lang="en-US" dirty="0"/>
                  <a:t> </a:t>
                </a:r>
                <a:r>
                  <a:rPr lang="en-US" dirty="0" err="1"/>
                  <a:t>Hamiltoniano</a:t>
                </a:r>
                <a:r>
                  <a:rPr lang="en-US" altLang="en-US" dirty="0"/>
                  <a:t>. </a:t>
                </a:r>
              </a:p>
              <a:p>
                <a:endParaRPr lang="pt-BR" dirty="0"/>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1692" cy="5032376"/>
              </a:xfrm>
              <a:blipFill>
                <a:blip r:embed="rId3"/>
                <a:stretch>
                  <a:fillRect l="-979" t="-1937" r="-1359"/>
                </a:stretch>
              </a:blipFill>
            </p:spPr>
            <p:txBody>
              <a:bodyPr/>
              <a:lstStyle/>
              <a:p>
                <a:r>
                  <a:rPr lang="en-US">
                    <a:noFill/>
                  </a:rPr>
                  <a:t> </a:t>
                </a:r>
              </a:p>
            </p:txBody>
          </p:sp>
        </mc:Fallback>
      </mc:AlternateContent>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são problemas NP-completos, em geral, usa-se </a:t>
            </a:r>
            <a:r>
              <a:rPr lang="pt-BR" b="1" i="1" dirty="0"/>
              <a:t>abordagens heurísticas </a:t>
            </a:r>
            <a:r>
              <a:rPr lang="pt-BR" dirty="0"/>
              <a:t>para induzir árvores de decisão. </a:t>
            </a:r>
          </a:p>
          <a:p>
            <a:r>
              <a:rPr lang="pt-BR" dirty="0"/>
              <a:t>Dentre os mais conhecidos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xmlns=""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17712</TotalTime>
  <Words>10648</Words>
  <Application>Microsoft Office PowerPoint</Application>
  <PresentationFormat>Widescreen</PresentationFormat>
  <Paragraphs>1305</Paragraphs>
  <Slides>74</Slides>
  <Notes>47</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74</vt:i4>
      </vt:variant>
    </vt:vector>
  </HeadingPairs>
  <TitlesOfParts>
    <vt:vector size="83"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Apresentação do PowerPoint</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Exemplo</vt:lpstr>
      <vt:lpstr>Lista de exercícios</vt:lpstr>
      <vt:lpstr>Apresentação do PowerPoint</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1212</cp:revision>
  <dcterms:created xsi:type="dcterms:W3CDTF">2020-04-06T23:46:10Z</dcterms:created>
  <dcterms:modified xsi:type="dcterms:W3CDTF">2026-04-01T01:12:18Z</dcterms:modified>
</cp:coreProperties>
</file>