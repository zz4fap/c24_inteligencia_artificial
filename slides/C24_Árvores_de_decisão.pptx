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473" r:id="rId43"/>
    <p:sldId id="367" r:id="rId44"/>
    <p:sldId id="368" r:id="rId45"/>
    <p:sldId id="277" r:id="rId46"/>
    <p:sldId id="283" r:id="rId47"/>
    <p:sldId id="284" r:id="rId48"/>
    <p:sldId id="285" r:id="rId49"/>
    <p:sldId id="291" r:id="rId50"/>
    <p:sldId id="292" r:id="rId51"/>
    <p:sldId id="296" r:id="rId52"/>
    <p:sldId id="474" r:id="rId53"/>
    <p:sldId id="475" r:id="rId54"/>
    <p:sldId id="371" r:id="rId55"/>
    <p:sldId id="374" r:id="rId56"/>
    <p:sldId id="375" r:id="rId57"/>
    <p:sldId id="476" r:id="rId58"/>
    <p:sldId id="477" r:id="rId59"/>
    <p:sldId id="479" r:id="rId60"/>
    <p:sldId id="456" r:id="rId61"/>
    <p:sldId id="457" r:id="rId62"/>
    <p:sldId id="378" r:id="rId63"/>
    <p:sldId id="306"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86077" autoAdjust="0"/>
  </p:normalViewPr>
  <p:slideViewPr>
    <p:cSldViewPr snapToGrid="0">
      <p:cViewPr varScale="1">
        <p:scale>
          <a:sx n="63" d="100"/>
          <a:sy n="63" d="100"/>
        </p:scale>
        <p:origin x="98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03/04/2026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Como já havíamos comentado, as árvores de decisão fazem muito poucas suposições sobre os dados de treinamento.</a:t>
            </a:r>
          </a:p>
          <a:p>
            <a:endParaRPr lang="pt-BR" dirty="0" smtClean="0"/>
          </a:p>
          <a:p>
            <a:r>
              <a:rPr lang="pt-BR" dirty="0" smtClean="0"/>
              <a:t>Se não for restringida, a estrutura de uma árvore se adaptará aos dados de treinamento, ajustando-se muito bem e, provavelmente, se </a:t>
            </a:r>
            <a:r>
              <a:rPr lang="pt-BR" dirty="0" err="1" smtClean="0"/>
              <a:t>sobreajustando</a:t>
            </a:r>
            <a:r>
              <a:rPr lang="pt-BR" dirty="0" smtClean="0"/>
              <a:t> a eles. </a:t>
            </a:r>
          </a:p>
          <a:p>
            <a:endParaRPr lang="pt-BR" dirty="0" smtClean="0"/>
          </a:p>
          <a:p>
            <a:r>
              <a:rPr lang="pt-BR" dirty="0" smtClean="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smtClean="0"/>
          </a:p>
          <a:p>
            <a:r>
              <a:rPr lang="pt-BR" dirty="0" smtClean="0"/>
              <a:t>Em contraste, um modelo paramétrico, como um modelo linear, tem um número predeterminado de parâmetros, então seu grau de liberdade é limitado, reduzindo o risco de </a:t>
            </a:r>
            <a:r>
              <a:rPr lang="pt-BR" dirty="0" err="1" smtClean="0"/>
              <a:t>sobreajuste</a:t>
            </a:r>
            <a:r>
              <a:rPr lang="pt-BR" dirty="0" smtClean="0"/>
              <a:t> (mas aumentando o risco de </a:t>
            </a:r>
            <a:r>
              <a:rPr lang="pt-BR" dirty="0" err="1" smtClean="0"/>
              <a:t>sobajuste</a:t>
            </a:r>
            <a:r>
              <a:rPr lang="pt-BR" dirty="0" smtClean="0"/>
              <a:t>).</a:t>
            </a:r>
          </a:p>
          <a:p>
            <a:endParaRPr lang="pt-BR" dirty="0" smtClean="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No </a:t>
            </a:r>
            <a:r>
              <a:rPr lang="pt-BR" sz="1200" b="0" i="0" kern="1200" dirty="0" err="1" smtClean="0">
                <a:solidFill>
                  <a:schemeClr val="tx1"/>
                </a:solidFill>
                <a:effectLst/>
                <a:latin typeface="+mn-lt"/>
                <a:ea typeface="+mn-ea"/>
                <a:cs typeface="+mn-cs"/>
              </a:rPr>
              <a:t>Scikit-Learn</a:t>
            </a:r>
            <a:r>
              <a:rPr lang="pt-BR" sz="1200" b="0" i="0" kern="1200" dirty="0" smtClean="0">
                <a:solidFill>
                  <a:schemeClr val="tx1"/>
                </a:solidFill>
                <a:effectLst/>
                <a:latin typeface="+mn-lt"/>
                <a:ea typeface="+mn-ea"/>
                <a:cs typeface="+mn-cs"/>
              </a:rPr>
              <a:t> isso é controlado pelo </a:t>
            </a:r>
            <a:r>
              <a:rPr lang="pt-BR" sz="1200" b="0" i="0" kern="1200" dirty="0" err="1" smtClean="0">
                <a:solidFill>
                  <a:schemeClr val="tx1"/>
                </a:solidFill>
                <a:effectLst/>
                <a:latin typeface="+mn-lt"/>
                <a:ea typeface="+mn-ea"/>
                <a:cs typeface="+mn-cs"/>
              </a:rPr>
              <a:t>hiperparâmetro</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max_depth</a:t>
            </a:r>
            <a:r>
              <a:rPr lang="pt-BR" sz="1200" b="0" i="0" kern="1200" dirty="0" smtClean="0">
                <a:solidFill>
                  <a:schemeClr val="tx1"/>
                </a:solidFill>
                <a:effectLst/>
                <a:latin typeface="+mn-lt"/>
                <a:ea typeface="+mn-ea"/>
                <a:cs typeface="+mn-cs"/>
              </a:rPr>
              <a:t> (o valor padrão é </a:t>
            </a:r>
            <a:r>
              <a:rPr lang="pt-BR" sz="1200" b="0" i="0" kern="1200" dirty="0" err="1" smtClean="0">
                <a:solidFill>
                  <a:schemeClr val="tx1"/>
                </a:solidFill>
                <a:effectLst/>
                <a:latin typeface="+mn-lt"/>
                <a:ea typeface="+mn-ea"/>
                <a:cs typeface="+mn-cs"/>
              </a:rPr>
              <a:t>None</a:t>
            </a:r>
            <a:r>
              <a:rPr lang="pt-BR" sz="1200" b="0" i="0" kern="1200" dirty="0" smtClean="0">
                <a:solidFill>
                  <a:schemeClr val="tx1"/>
                </a:solidFill>
                <a:effectLst/>
                <a:latin typeface="+mn-lt"/>
                <a:ea typeface="+mn-ea"/>
                <a:cs typeface="+mn-cs"/>
              </a:rPr>
              <a:t>, o que significa liberdade ilimitada).</a:t>
            </a:r>
          </a:p>
          <a:p>
            <a:pPr lvl="1"/>
            <a:r>
              <a:rPr lang="pt-BR" sz="1200" b="0" i="0" kern="1200" dirty="0" smtClean="0">
                <a:solidFill>
                  <a:schemeClr val="tx1"/>
                </a:solidFill>
                <a:effectLst/>
                <a:latin typeface="+mn-lt"/>
                <a:ea typeface="+mn-ea"/>
                <a:cs typeface="+mn-cs"/>
              </a:rPr>
              <a:t>Reduzir o valor de </a:t>
            </a:r>
            <a:r>
              <a:rPr lang="pt-BR" sz="1200" b="0" i="0" kern="1200" dirty="0" err="1" smtClean="0">
                <a:solidFill>
                  <a:schemeClr val="tx1"/>
                </a:solidFill>
                <a:effectLst/>
                <a:latin typeface="+mn-lt"/>
                <a:ea typeface="+mn-ea"/>
                <a:cs typeface="+mn-cs"/>
              </a:rPr>
              <a:t>max_depth</a:t>
            </a:r>
            <a:r>
              <a:rPr lang="pt-BR" sz="1200" b="0" i="0" kern="1200" dirty="0" smtClean="0">
                <a:solidFill>
                  <a:schemeClr val="tx1"/>
                </a:solidFill>
                <a:effectLst/>
                <a:latin typeface="+mn-lt"/>
                <a:ea typeface="+mn-ea"/>
                <a:cs typeface="+mn-cs"/>
              </a:rPr>
              <a:t> regularizará o modelo e, assim, reduzirá o risco de </a:t>
            </a:r>
            <a:r>
              <a:rPr lang="pt-BR" sz="1200" b="0" i="0" kern="1200" dirty="0" err="1" smtClean="0">
                <a:solidFill>
                  <a:schemeClr val="tx1"/>
                </a:solidFill>
                <a:effectLst/>
                <a:latin typeface="+mn-lt"/>
                <a:ea typeface="+mn-ea"/>
                <a:cs typeface="+mn-cs"/>
              </a:rPr>
              <a:t>sobreajuste</a:t>
            </a:r>
            <a:r>
              <a:rPr lang="pt-BR" sz="1200" b="0" i="0" kern="1200" dirty="0" smtClean="0">
                <a:solidFill>
                  <a:schemeClr val="tx1"/>
                </a:solidFill>
                <a:effectLst/>
                <a:latin typeface="+mn-lt"/>
                <a:ea typeface="+mn-ea"/>
                <a:cs typeface="+mn-cs"/>
              </a:rPr>
              <a:t>.</a:t>
            </a:r>
          </a:p>
          <a:p>
            <a:pPr lvl="1"/>
            <a:r>
              <a:rPr lang="pt-BR" sz="1200" b="0" i="0" kern="1200" dirty="0" smtClean="0">
                <a:solidFill>
                  <a:schemeClr val="tx1"/>
                </a:solidFill>
                <a:effectLst/>
                <a:latin typeface="+mn-lt"/>
                <a:ea typeface="+mn-ea"/>
                <a:cs typeface="+mn-cs"/>
              </a:rPr>
              <a:t>Porém, se reduzido demais pode causar </a:t>
            </a:r>
            <a:r>
              <a:rPr lang="pt-BR" sz="1200" b="1" i="0" kern="1200" dirty="0" err="1" smtClean="0">
                <a:solidFill>
                  <a:schemeClr val="tx1"/>
                </a:solidFill>
                <a:effectLst/>
                <a:latin typeface="+mn-lt"/>
                <a:ea typeface="+mn-ea"/>
                <a:cs typeface="+mn-cs"/>
              </a:rPr>
              <a:t>subajuste</a:t>
            </a:r>
            <a:r>
              <a:rPr lang="pt-BR" sz="1200" b="0" i="0" kern="1200" dirty="0" smtClean="0">
                <a:solidFill>
                  <a:schemeClr val="tx1"/>
                </a:solidFill>
                <a:effectLst/>
                <a:latin typeface="+mn-lt"/>
                <a:ea typeface="+mn-ea"/>
                <a:cs typeface="+mn-cs"/>
              </a:rPr>
              <a:t>.</a:t>
            </a:r>
          </a:p>
          <a:p>
            <a:r>
              <a:rPr lang="pt-BR" sz="1200" b="0" i="0" kern="1200" dirty="0" smtClean="0">
                <a:solidFill>
                  <a:schemeClr val="tx1"/>
                </a:solidFill>
                <a:effectLst/>
                <a:latin typeface="+mn-lt"/>
                <a:ea typeface="+mn-ea"/>
                <a:cs typeface="+mn-cs"/>
              </a:rPr>
              <a:t>A classe </a:t>
            </a:r>
            <a:r>
              <a:rPr lang="pt-BR" sz="1200" b="0" i="0" kern="1200" dirty="0" err="1" smtClean="0">
                <a:solidFill>
                  <a:schemeClr val="tx1"/>
                </a:solidFill>
                <a:effectLst/>
                <a:latin typeface="+mn-lt"/>
                <a:ea typeface="+mn-ea"/>
                <a:cs typeface="+mn-cs"/>
              </a:rPr>
              <a:t>DecisionTreeClassifier</a:t>
            </a:r>
            <a:r>
              <a:rPr lang="pt-BR" sz="1200" b="0" i="0" kern="1200" dirty="0" smtClean="0">
                <a:solidFill>
                  <a:schemeClr val="tx1"/>
                </a:solidFill>
                <a:effectLst/>
                <a:latin typeface="+mn-lt"/>
                <a:ea typeface="+mn-ea"/>
                <a:cs typeface="+mn-cs"/>
              </a:rPr>
              <a:t> tem alguns outros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que restringem de forma semelhante o crescimento da árvore de decisão:</a:t>
            </a:r>
          </a:p>
          <a:p>
            <a:pPr lvl="1"/>
            <a:r>
              <a:rPr lang="pt-BR" sz="1200" b="0" i="0" kern="1200" dirty="0" err="1" smtClean="0">
                <a:solidFill>
                  <a:schemeClr val="tx1"/>
                </a:solidFill>
                <a:effectLst/>
                <a:latin typeface="+mn-lt"/>
                <a:ea typeface="+mn-ea"/>
                <a:cs typeface="+mn-cs"/>
              </a:rPr>
              <a:t>min_samples_split</a:t>
            </a:r>
            <a:r>
              <a:rPr lang="pt-BR" sz="1200" b="0" i="0" kern="1200" dirty="0" smtClean="0">
                <a:solidFill>
                  <a:schemeClr val="tx1"/>
                </a:solidFill>
                <a:effectLst/>
                <a:latin typeface="+mn-lt"/>
                <a:ea typeface="+mn-ea"/>
                <a:cs typeface="+mn-cs"/>
              </a:rPr>
              <a:t>: define o número mínimo de exemplos um nó deve ter para poder ser dividido.</a:t>
            </a:r>
          </a:p>
          <a:p>
            <a:pPr lvl="1"/>
            <a:r>
              <a:rPr lang="pt-BR" sz="1200" b="0" i="0" kern="1200" dirty="0" err="1" smtClean="0">
                <a:solidFill>
                  <a:schemeClr val="tx1"/>
                </a:solidFill>
                <a:effectLst/>
                <a:latin typeface="+mn-lt"/>
                <a:ea typeface="+mn-ea"/>
                <a:cs typeface="+mn-cs"/>
              </a:rPr>
              <a:t>min_samples_leaf</a:t>
            </a:r>
            <a:r>
              <a:rPr lang="pt-BR" sz="1200" b="0" i="0" kern="1200" dirty="0" smtClean="0">
                <a:solidFill>
                  <a:schemeClr val="tx1"/>
                </a:solidFill>
                <a:effectLst/>
                <a:latin typeface="+mn-lt"/>
                <a:ea typeface="+mn-ea"/>
                <a:cs typeface="+mn-cs"/>
              </a:rPr>
              <a:t>: define o número mínimo de exemplos um nó folha deve ter.</a:t>
            </a:r>
          </a:p>
          <a:p>
            <a:pPr lvl="1"/>
            <a:r>
              <a:rPr lang="pt-BR" sz="1200" b="0" i="0" kern="1200" dirty="0" err="1" smtClean="0">
                <a:solidFill>
                  <a:schemeClr val="tx1"/>
                </a:solidFill>
                <a:effectLst/>
                <a:latin typeface="+mn-lt"/>
                <a:ea typeface="+mn-ea"/>
                <a:cs typeface="+mn-cs"/>
              </a:rPr>
              <a:t>max_leaf_nodes</a:t>
            </a:r>
            <a:r>
              <a:rPr lang="pt-BR" sz="1200" b="0" i="0" kern="1200" dirty="0" smtClean="0">
                <a:solidFill>
                  <a:schemeClr val="tx1"/>
                </a:solidFill>
                <a:effectLst/>
                <a:latin typeface="+mn-lt"/>
                <a:ea typeface="+mn-ea"/>
                <a:cs typeface="+mn-cs"/>
              </a:rPr>
              <a:t>: define o número máximo de nós folha.</a:t>
            </a:r>
          </a:p>
          <a:p>
            <a:pPr lvl="1"/>
            <a:r>
              <a:rPr lang="pt-BR" sz="1200" b="0" i="0" kern="1200" dirty="0" err="1" smtClean="0">
                <a:solidFill>
                  <a:schemeClr val="tx1"/>
                </a:solidFill>
                <a:effectLst/>
                <a:latin typeface="+mn-lt"/>
                <a:ea typeface="+mn-ea"/>
                <a:cs typeface="+mn-cs"/>
              </a:rPr>
              <a:t>max_features</a:t>
            </a:r>
            <a:r>
              <a:rPr lang="pt-BR" sz="1200" b="0" i="0" kern="1200" dirty="0" smtClean="0">
                <a:solidFill>
                  <a:schemeClr val="tx1"/>
                </a:solidFill>
                <a:effectLst/>
                <a:latin typeface="+mn-lt"/>
                <a:ea typeface="+mn-ea"/>
                <a:cs typeface="+mn-cs"/>
              </a:rPr>
              <a:t>: define o número máximo de atributos que são avaliados para criação de uma divisão (i.e., </a:t>
            </a:r>
            <a:r>
              <a:rPr lang="pt-BR" sz="1200" b="0" i="0" kern="1200" dirty="0" err="1" smtClean="0">
                <a:solidFill>
                  <a:schemeClr val="tx1"/>
                </a:solidFill>
                <a:effectLst/>
                <a:latin typeface="+mn-lt"/>
                <a:ea typeface="+mn-ea"/>
                <a:cs typeface="+mn-cs"/>
              </a:rPr>
              <a:t>split</a:t>
            </a:r>
            <a:r>
              <a:rPr lang="pt-BR" sz="1200" b="0" i="0" kern="1200" dirty="0" smtClean="0">
                <a:solidFill>
                  <a:schemeClr val="tx1"/>
                </a:solidFill>
                <a:effectLst/>
                <a:latin typeface="+mn-lt"/>
                <a:ea typeface="+mn-ea"/>
                <a:cs typeface="+mn-cs"/>
              </a:rPr>
              <a:t>).</a:t>
            </a:r>
          </a:p>
          <a:p>
            <a:r>
              <a:rPr lang="pt-BR" sz="1200" b="0" i="0" kern="1200" dirty="0" smtClean="0">
                <a:solidFill>
                  <a:schemeClr val="tx1"/>
                </a:solidFill>
                <a:effectLst/>
                <a:latin typeface="+mn-lt"/>
                <a:ea typeface="+mn-ea"/>
                <a:cs typeface="+mn-cs"/>
              </a:rPr>
              <a:t>Aumentar 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min_* ou reduzir 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max</a:t>
            </a:r>
            <a:r>
              <a:rPr lang="pt-BR" sz="1200" b="0" i="0" kern="1200" dirty="0" smtClean="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a:t>
            </a:r>
            <a:r>
              <a:rPr lang="en-US" dirty="0" smtClean="0"/>
              <a:t>colab.research.google.com/github/zz4fap/c24_inteligencia_artificial/blob/master/notebooks/</a:t>
            </a:r>
            <a:r>
              <a:rPr lang="pt-BR" dirty="0" err="1" smtClean="0"/>
              <a:t>árvores_de_decisão</a:t>
            </a:r>
            <a:r>
              <a:rPr lang="en-US" dirty="0" smtClean="0"/>
              <a:t>.</a:t>
            </a:r>
            <a:r>
              <a:rPr lang="en-US" dirty="0" err="1" smtClean="0"/>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03/04/2026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03/04/2026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03/04/2026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03/04/2026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smtClean="0"/>
              <a:t>Trees</a:t>
            </a:r>
            <a:r>
              <a:rPr lang="pt-BR" i="1" dirty="0" smtClean="0"/>
              <a:t> </a:t>
            </a:r>
            <a:r>
              <a:rPr lang="pt-BR" dirty="0" smtClean="0"/>
              <a:t>(CART) </a:t>
            </a:r>
            <a:r>
              <a:rPr lang="pt-BR" dirty="0"/>
              <a:t>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 xmlns:a16="http://schemas.microsoft.com/office/drawing/2014/main" val="20000"/>
                    </a:ext>
                  </a:extLst>
                </a:gridCol>
                <a:gridCol w="786008">
                  <a:extLst>
                    <a:ext uri="{9D8B030D-6E8A-4147-A177-3AD203B41FA5}">
                      <a16:colId xmlns="" xmlns:a16="http://schemas.microsoft.com/office/drawing/2014/main" val="20001"/>
                    </a:ext>
                  </a:extLst>
                </a:gridCol>
                <a:gridCol w="894865">
                  <a:extLst>
                    <a:ext uri="{9D8B030D-6E8A-4147-A177-3AD203B41FA5}">
                      <a16:colId xmlns="" xmlns:a16="http://schemas.microsoft.com/office/drawing/2014/main" val="20002"/>
                    </a:ext>
                  </a:extLst>
                </a:gridCol>
                <a:gridCol w="677151">
                  <a:extLst>
                    <a:ext uri="{9D8B030D-6E8A-4147-A177-3AD203B41FA5}">
                      <a16:colId xmlns="" xmlns:a16="http://schemas.microsoft.com/office/drawing/2014/main" val="20003"/>
                    </a:ext>
                  </a:extLst>
                </a:gridCol>
                <a:gridCol w="786008">
                  <a:extLst>
                    <a:ext uri="{9D8B030D-6E8A-4147-A177-3AD203B41FA5}">
                      <a16:colId xmlns="" xmlns:a16="http://schemas.microsoft.com/office/drawing/2014/main" val="20004"/>
                    </a:ext>
                  </a:extLst>
                </a:gridCol>
                <a:gridCol w="786008">
                  <a:extLst>
                    <a:ext uri="{9D8B030D-6E8A-4147-A177-3AD203B41FA5}">
                      <a16:colId xmlns=""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15"/>
                  </a:ext>
                </a:extLst>
              </a:tr>
            </a:tbl>
          </a:graphicData>
        </a:graphic>
      </p:graphicFrame>
      <p:sp>
        <p:nvSpPr>
          <p:cNvPr id="6" name="CaixaDeTexto 5">
            <a:extLst>
              <a:ext uri="{FF2B5EF4-FFF2-40B4-BE49-F238E27FC236}">
                <a16:creationId xmlns=""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 xmlns:a16="http://schemas.microsoft.com/office/drawing/2014/main" val="20000"/>
                    </a:ext>
                  </a:extLst>
                </a:gridCol>
                <a:gridCol w="684266">
                  <a:extLst>
                    <a:ext uri="{9D8B030D-6E8A-4147-A177-3AD203B41FA5}">
                      <a16:colId xmlns="" xmlns:a16="http://schemas.microsoft.com/office/drawing/2014/main" val="20001"/>
                    </a:ext>
                  </a:extLst>
                </a:gridCol>
                <a:gridCol w="293254">
                  <a:extLst>
                    <a:ext uri="{9D8B030D-6E8A-4147-A177-3AD203B41FA5}">
                      <a16:colId xmlns="" xmlns:a16="http://schemas.microsoft.com/office/drawing/2014/main" val="20002"/>
                    </a:ext>
                  </a:extLst>
                </a:gridCol>
                <a:gridCol w="293254">
                  <a:extLst>
                    <a:ext uri="{9D8B030D-6E8A-4147-A177-3AD203B41FA5}">
                      <a16:colId xmlns="" xmlns:a16="http://schemas.microsoft.com/office/drawing/2014/main" val="20003"/>
                    </a:ext>
                  </a:extLst>
                </a:gridCol>
                <a:gridCol w="470222">
                  <a:extLst>
                    <a:ext uri="{9D8B030D-6E8A-4147-A177-3AD203B41FA5}">
                      <a16:colId xmlns=""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 xmlns:a16="http://schemas.microsoft.com/office/drawing/2014/main" val="20000"/>
                    </a:ext>
                  </a:extLst>
                </a:gridCol>
                <a:gridCol w="697339">
                  <a:extLst>
                    <a:ext uri="{9D8B030D-6E8A-4147-A177-3AD203B41FA5}">
                      <a16:colId xmlns="" xmlns:a16="http://schemas.microsoft.com/office/drawing/2014/main" val="20001"/>
                    </a:ext>
                  </a:extLst>
                </a:gridCol>
                <a:gridCol w="298859">
                  <a:extLst>
                    <a:ext uri="{9D8B030D-6E8A-4147-A177-3AD203B41FA5}">
                      <a16:colId xmlns="" xmlns:a16="http://schemas.microsoft.com/office/drawing/2014/main" val="20002"/>
                    </a:ext>
                  </a:extLst>
                </a:gridCol>
                <a:gridCol w="298859">
                  <a:extLst>
                    <a:ext uri="{9D8B030D-6E8A-4147-A177-3AD203B41FA5}">
                      <a16:colId xmlns="" xmlns:a16="http://schemas.microsoft.com/office/drawing/2014/main" val="20003"/>
                    </a:ext>
                  </a:extLst>
                </a:gridCol>
                <a:gridCol w="298859">
                  <a:extLst>
                    <a:ext uri="{9D8B030D-6E8A-4147-A177-3AD203B41FA5}">
                      <a16:colId xmlns=""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 xmlns:a16="http://schemas.microsoft.com/office/drawing/2014/main" val="20000"/>
                    </a:ext>
                  </a:extLst>
                </a:gridCol>
                <a:gridCol w="621695">
                  <a:extLst>
                    <a:ext uri="{9D8B030D-6E8A-4147-A177-3AD203B41FA5}">
                      <a16:colId xmlns="" xmlns:a16="http://schemas.microsoft.com/office/drawing/2014/main" val="20001"/>
                    </a:ext>
                  </a:extLst>
                </a:gridCol>
                <a:gridCol w="266441">
                  <a:extLst>
                    <a:ext uri="{9D8B030D-6E8A-4147-A177-3AD203B41FA5}">
                      <a16:colId xmlns="" xmlns:a16="http://schemas.microsoft.com/office/drawing/2014/main" val="20002"/>
                    </a:ext>
                  </a:extLst>
                </a:gridCol>
                <a:gridCol w="266441">
                  <a:extLst>
                    <a:ext uri="{9D8B030D-6E8A-4147-A177-3AD203B41FA5}">
                      <a16:colId xmlns="" xmlns:a16="http://schemas.microsoft.com/office/drawing/2014/main" val="20003"/>
                    </a:ext>
                  </a:extLst>
                </a:gridCol>
                <a:gridCol w="266441">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 xmlns:a16="http://schemas.microsoft.com/office/drawing/2014/main" val="20000"/>
                    </a:ext>
                  </a:extLst>
                </a:gridCol>
                <a:gridCol w="631367">
                  <a:extLst>
                    <a:ext uri="{9D8B030D-6E8A-4147-A177-3AD203B41FA5}">
                      <a16:colId xmlns="" xmlns:a16="http://schemas.microsoft.com/office/drawing/2014/main" val="20001"/>
                    </a:ext>
                  </a:extLst>
                </a:gridCol>
                <a:gridCol w="270586">
                  <a:extLst>
                    <a:ext uri="{9D8B030D-6E8A-4147-A177-3AD203B41FA5}">
                      <a16:colId xmlns="" xmlns:a16="http://schemas.microsoft.com/office/drawing/2014/main" val="20002"/>
                    </a:ext>
                  </a:extLst>
                </a:gridCol>
                <a:gridCol w="270586">
                  <a:extLst>
                    <a:ext uri="{9D8B030D-6E8A-4147-A177-3AD203B41FA5}">
                      <a16:colId xmlns="" xmlns:a16="http://schemas.microsoft.com/office/drawing/2014/main" val="20003"/>
                    </a:ext>
                  </a:extLst>
                </a:gridCol>
                <a:gridCol w="270586">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 xmlns:a16="http://schemas.microsoft.com/office/drawing/2014/main" val="20000"/>
                    </a:ext>
                  </a:extLst>
                </a:gridCol>
                <a:gridCol w="1019175">
                  <a:extLst>
                    <a:ext uri="{9D8B030D-6E8A-4147-A177-3AD203B41FA5}">
                      <a16:colId xmlns="" xmlns:a16="http://schemas.microsoft.com/office/drawing/2014/main" val="20001"/>
                    </a:ext>
                  </a:extLst>
                </a:gridCol>
                <a:gridCol w="1019175">
                  <a:extLst>
                    <a:ext uri="{9D8B030D-6E8A-4147-A177-3AD203B41FA5}">
                      <a16:colId xmlns="" xmlns:a16="http://schemas.microsoft.com/office/drawing/2014/main" val="20002"/>
                    </a:ext>
                  </a:extLst>
                </a:gridCol>
                <a:gridCol w="1019175">
                  <a:extLst>
                    <a:ext uri="{9D8B030D-6E8A-4147-A177-3AD203B41FA5}">
                      <a16:colId xmlns="" xmlns:a16="http://schemas.microsoft.com/office/drawing/2014/main" val="20003"/>
                    </a:ext>
                  </a:extLst>
                </a:gridCol>
                <a:gridCol w="1019175">
                  <a:extLst>
                    <a:ext uri="{9D8B030D-6E8A-4147-A177-3AD203B41FA5}">
                      <a16:colId xmlns="" xmlns:a16="http://schemas.microsoft.com/office/drawing/2014/main" val="20004"/>
                    </a:ext>
                  </a:extLst>
                </a:gridCol>
                <a:gridCol w="1019175">
                  <a:extLst>
                    <a:ext uri="{9D8B030D-6E8A-4147-A177-3AD203B41FA5}">
                      <a16:colId xmlns=""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 xmlns:a16="http://schemas.microsoft.com/office/drawing/2014/main" val="20000"/>
                    </a:ext>
                  </a:extLst>
                </a:gridCol>
                <a:gridCol w="678430">
                  <a:extLst>
                    <a:ext uri="{9D8B030D-6E8A-4147-A177-3AD203B41FA5}">
                      <a16:colId xmlns="" xmlns:a16="http://schemas.microsoft.com/office/drawing/2014/main" val="20001"/>
                    </a:ext>
                  </a:extLst>
                </a:gridCol>
                <a:gridCol w="290756">
                  <a:extLst>
                    <a:ext uri="{9D8B030D-6E8A-4147-A177-3AD203B41FA5}">
                      <a16:colId xmlns="" xmlns:a16="http://schemas.microsoft.com/office/drawing/2014/main" val="20002"/>
                    </a:ext>
                  </a:extLst>
                </a:gridCol>
                <a:gridCol w="290756">
                  <a:extLst>
                    <a:ext uri="{9D8B030D-6E8A-4147-A177-3AD203B41FA5}">
                      <a16:colId xmlns="" xmlns:a16="http://schemas.microsoft.com/office/drawing/2014/main" val="20003"/>
                    </a:ext>
                  </a:extLst>
                </a:gridCol>
                <a:gridCol w="290756">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 xmlns:a16="http://schemas.microsoft.com/office/drawing/2014/main" val="20000"/>
                    </a:ext>
                  </a:extLst>
                </a:gridCol>
                <a:gridCol w="645270">
                  <a:extLst>
                    <a:ext uri="{9D8B030D-6E8A-4147-A177-3AD203B41FA5}">
                      <a16:colId xmlns="" xmlns:a16="http://schemas.microsoft.com/office/drawing/2014/main" val="20001"/>
                    </a:ext>
                  </a:extLst>
                </a:gridCol>
                <a:gridCol w="276544">
                  <a:extLst>
                    <a:ext uri="{9D8B030D-6E8A-4147-A177-3AD203B41FA5}">
                      <a16:colId xmlns="" xmlns:a16="http://schemas.microsoft.com/office/drawing/2014/main" val="20002"/>
                    </a:ext>
                  </a:extLst>
                </a:gridCol>
                <a:gridCol w="276544">
                  <a:extLst>
                    <a:ext uri="{9D8B030D-6E8A-4147-A177-3AD203B41FA5}">
                      <a16:colId xmlns="" xmlns:a16="http://schemas.microsoft.com/office/drawing/2014/main" val="20003"/>
                    </a:ext>
                  </a:extLst>
                </a:gridCol>
                <a:gridCol w="27654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 xmlns:a16="http://schemas.microsoft.com/office/drawing/2014/main" val="20000"/>
                    </a:ext>
                  </a:extLst>
                </a:gridCol>
                <a:gridCol w="641513">
                  <a:extLst>
                    <a:ext uri="{9D8B030D-6E8A-4147-A177-3AD203B41FA5}">
                      <a16:colId xmlns="" xmlns:a16="http://schemas.microsoft.com/office/drawing/2014/main" val="20001"/>
                    </a:ext>
                  </a:extLst>
                </a:gridCol>
                <a:gridCol w="274934">
                  <a:extLst>
                    <a:ext uri="{9D8B030D-6E8A-4147-A177-3AD203B41FA5}">
                      <a16:colId xmlns="" xmlns:a16="http://schemas.microsoft.com/office/drawing/2014/main" val="20002"/>
                    </a:ext>
                  </a:extLst>
                </a:gridCol>
                <a:gridCol w="274934">
                  <a:extLst>
                    <a:ext uri="{9D8B030D-6E8A-4147-A177-3AD203B41FA5}">
                      <a16:colId xmlns="" xmlns:a16="http://schemas.microsoft.com/office/drawing/2014/main" val="20003"/>
                    </a:ext>
                  </a:extLst>
                </a:gridCol>
                <a:gridCol w="27493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 xmlns:a16="http://schemas.microsoft.com/office/drawing/2014/main" val="20000"/>
                    </a:ext>
                  </a:extLst>
                </a:gridCol>
                <a:gridCol w="1010861">
                  <a:extLst>
                    <a:ext uri="{9D8B030D-6E8A-4147-A177-3AD203B41FA5}">
                      <a16:colId xmlns="" xmlns:a16="http://schemas.microsoft.com/office/drawing/2014/main" val="20001"/>
                    </a:ext>
                  </a:extLst>
                </a:gridCol>
                <a:gridCol w="1010861">
                  <a:extLst>
                    <a:ext uri="{9D8B030D-6E8A-4147-A177-3AD203B41FA5}">
                      <a16:colId xmlns="" xmlns:a16="http://schemas.microsoft.com/office/drawing/2014/main" val="20002"/>
                    </a:ext>
                  </a:extLst>
                </a:gridCol>
                <a:gridCol w="1010861">
                  <a:extLst>
                    <a:ext uri="{9D8B030D-6E8A-4147-A177-3AD203B41FA5}">
                      <a16:colId xmlns="" xmlns:a16="http://schemas.microsoft.com/office/drawing/2014/main" val="20003"/>
                    </a:ext>
                  </a:extLst>
                </a:gridCol>
                <a:gridCol w="1010861">
                  <a:extLst>
                    <a:ext uri="{9D8B030D-6E8A-4147-A177-3AD203B41FA5}">
                      <a16:colId xmlns="" xmlns:a16="http://schemas.microsoft.com/office/drawing/2014/main" val="20004"/>
                    </a:ext>
                  </a:extLst>
                </a:gridCol>
                <a:gridCol w="1010861">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 xmlns:a16="http://schemas.microsoft.com/office/drawing/2014/main" val="20000"/>
                    </a:ext>
                  </a:extLst>
                </a:gridCol>
                <a:gridCol w="1020536">
                  <a:extLst>
                    <a:ext uri="{9D8B030D-6E8A-4147-A177-3AD203B41FA5}">
                      <a16:colId xmlns="" xmlns:a16="http://schemas.microsoft.com/office/drawing/2014/main" val="20001"/>
                    </a:ext>
                  </a:extLst>
                </a:gridCol>
                <a:gridCol w="1020536">
                  <a:extLst>
                    <a:ext uri="{9D8B030D-6E8A-4147-A177-3AD203B41FA5}">
                      <a16:colId xmlns="" xmlns:a16="http://schemas.microsoft.com/office/drawing/2014/main" val="20002"/>
                    </a:ext>
                  </a:extLst>
                </a:gridCol>
                <a:gridCol w="1020536">
                  <a:extLst>
                    <a:ext uri="{9D8B030D-6E8A-4147-A177-3AD203B41FA5}">
                      <a16:colId xmlns="" xmlns:a16="http://schemas.microsoft.com/office/drawing/2014/main" val="20003"/>
                    </a:ext>
                  </a:extLst>
                </a:gridCol>
                <a:gridCol w="1020536">
                  <a:extLst>
                    <a:ext uri="{9D8B030D-6E8A-4147-A177-3AD203B41FA5}">
                      <a16:colId xmlns="" xmlns:a16="http://schemas.microsoft.com/office/drawing/2014/main" val="20004"/>
                    </a:ext>
                  </a:extLst>
                </a:gridCol>
                <a:gridCol w="1020536">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 xmlns:a16="http://schemas.microsoft.com/office/drawing/2014/main" val="20000"/>
                    </a:ext>
                  </a:extLst>
                </a:gridCol>
                <a:gridCol w="663560">
                  <a:extLst>
                    <a:ext uri="{9D8B030D-6E8A-4147-A177-3AD203B41FA5}">
                      <a16:colId xmlns="" xmlns:a16="http://schemas.microsoft.com/office/drawing/2014/main" val="20001"/>
                    </a:ext>
                  </a:extLst>
                </a:gridCol>
                <a:gridCol w="284383">
                  <a:extLst>
                    <a:ext uri="{9D8B030D-6E8A-4147-A177-3AD203B41FA5}">
                      <a16:colId xmlns="" xmlns:a16="http://schemas.microsoft.com/office/drawing/2014/main" val="20002"/>
                    </a:ext>
                  </a:extLst>
                </a:gridCol>
                <a:gridCol w="284383">
                  <a:extLst>
                    <a:ext uri="{9D8B030D-6E8A-4147-A177-3AD203B41FA5}">
                      <a16:colId xmlns="" xmlns:a16="http://schemas.microsoft.com/office/drawing/2014/main" val="20003"/>
                    </a:ext>
                  </a:extLst>
                </a:gridCol>
                <a:gridCol w="284383">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 xmlns:a16="http://schemas.microsoft.com/office/drawing/2014/main" val="20000"/>
                    </a:ext>
                  </a:extLst>
                </a:gridCol>
                <a:gridCol w="647820">
                  <a:extLst>
                    <a:ext uri="{9D8B030D-6E8A-4147-A177-3AD203B41FA5}">
                      <a16:colId xmlns="" xmlns:a16="http://schemas.microsoft.com/office/drawing/2014/main" val="20001"/>
                    </a:ext>
                  </a:extLst>
                </a:gridCol>
                <a:gridCol w="277637">
                  <a:extLst>
                    <a:ext uri="{9D8B030D-6E8A-4147-A177-3AD203B41FA5}">
                      <a16:colId xmlns="" xmlns:a16="http://schemas.microsoft.com/office/drawing/2014/main" val="20002"/>
                    </a:ext>
                  </a:extLst>
                </a:gridCol>
                <a:gridCol w="277637">
                  <a:extLst>
                    <a:ext uri="{9D8B030D-6E8A-4147-A177-3AD203B41FA5}">
                      <a16:colId xmlns="" xmlns:a16="http://schemas.microsoft.com/office/drawing/2014/main" val="20003"/>
                    </a:ext>
                  </a:extLst>
                </a:gridCol>
                <a:gridCol w="277637">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 xmlns:a16="http://schemas.microsoft.com/office/drawing/2014/main" val="20000"/>
                    </a:ext>
                  </a:extLst>
                </a:gridCol>
                <a:gridCol w="644002">
                  <a:extLst>
                    <a:ext uri="{9D8B030D-6E8A-4147-A177-3AD203B41FA5}">
                      <a16:colId xmlns="" xmlns:a16="http://schemas.microsoft.com/office/drawing/2014/main" val="20001"/>
                    </a:ext>
                  </a:extLst>
                </a:gridCol>
                <a:gridCol w="276001">
                  <a:extLst>
                    <a:ext uri="{9D8B030D-6E8A-4147-A177-3AD203B41FA5}">
                      <a16:colId xmlns="" xmlns:a16="http://schemas.microsoft.com/office/drawing/2014/main" val="20002"/>
                    </a:ext>
                  </a:extLst>
                </a:gridCol>
                <a:gridCol w="276001">
                  <a:extLst>
                    <a:ext uri="{9D8B030D-6E8A-4147-A177-3AD203B41FA5}">
                      <a16:colId xmlns="" xmlns:a16="http://schemas.microsoft.com/office/drawing/2014/main" val="20003"/>
                    </a:ext>
                  </a:extLst>
                </a:gridCol>
                <a:gridCol w="276001">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 xmlns:a16="http://schemas.microsoft.com/office/drawing/2014/main" val="20000"/>
                    </a:ext>
                  </a:extLst>
                </a:gridCol>
                <a:gridCol w="1025374">
                  <a:extLst>
                    <a:ext uri="{9D8B030D-6E8A-4147-A177-3AD203B41FA5}">
                      <a16:colId xmlns="" xmlns:a16="http://schemas.microsoft.com/office/drawing/2014/main" val="20001"/>
                    </a:ext>
                  </a:extLst>
                </a:gridCol>
                <a:gridCol w="1025374">
                  <a:extLst>
                    <a:ext uri="{9D8B030D-6E8A-4147-A177-3AD203B41FA5}">
                      <a16:colId xmlns="" xmlns:a16="http://schemas.microsoft.com/office/drawing/2014/main" val="20002"/>
                    </a:ext>
                  </a:extLst>
                </a:gridCol>
                <a:gridCol w="1025374">
                  <a:extLst>
                    <a:ext uri="{9D8B030D-6E8A-4147-A177-3AD203B41FA5}">
                      <a16:colId xmlns="" xmlns:a16="http://schemas.microsoft.com/office/drawing/2014/main" val="20003"/>
                    </a:ext>
                  </a:extLst>
                </a:gridCol>
                <a:gridCol w="1025374">
                  <a:extLst>
                    <a:ext uri="{9D8B030D-6E8A-4147-A177-3AD203B41FA5}">
                      <a16:colId xmlns="" xmlns:a16="http://schemas.microsoft.com/office/drawing/2014/main" val="20004"/>
                    </a:ext>
                  </a:extLst>
                </a:gridCol>
                <a:gridCol w="1025374">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 xmlns:a16="http://schemas.microsoft.com/office/drawing/2014/main" val="20000"/>
                    </a:ext>
                  </a:extLst>
                </a:gridCol>
                <a:gridCol w="1013883">
                  <a:extLst>
                    <a:ext uri="{9D8B030D-6E8A-4147-A177-3AD203B41FA5}">
                      <a16:colId xmlns="" xmlns:a16="http://schemas.microsoft.com/office/drawing/2014/main" val="20001"/>
                    </a:ext>
                  </a:extLst>
                </a:gridCol>
                <a:gridCol w="1013883">
                  <a:extLst>
                    <a:ext uri="{9D8B030D-6E8A-4147-A177-3AD203B41FA5}">
                      <a16:colId xmlns="" xmlns:a16="http://schemas.microsoft.com/office/drawing/2014/main" val="20002"/>
                    </a:ext>
                  </a:extLst>
                </a:gridCol>
                <a:gridCol w="1013883">
                  <a:extLst>
                    <a:ext uri="{9D8B030D-6E8A-4147-A177-3AD203B41FA5}">
                      <a16:colId xmlns="" xmlns:a16="http://schemas.microsoft.com/office/drawing/2014/main" val="20003"/>
                    </a:ext>
                  </a:extLst>
                </a:gridCol>
                <a:gridCol w="1013883">
                  <a:extLst>
                    <a:ext uri="{9D8B030D-6E8A-4147-A177-3AD203B41FA5}">
                      <a16:colId xmlns="" xmlns:a16="http://schemas.microsoft.com/office/drawing/2014/main" val="20004"/>
                    </a:ext>
                  </a:extLst>
                </a:gridCol>
                <a:gridCol w="1013883">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endParaRPr lang="pt-BR" dirty="0" smtClean="0"/>
          </a:p>
          <a:p>
            <a:r>
              <a:rPr lang="pt-BR" dirty="0" smtClean="0"/>
              <a:t>Em </a:t>
            </a:r>
            <a:r>
              <a:rPr lang="pt-BR" dirty="0"/>
              <a:t>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smtClean="0"/>
              <a:t>.</a:t>
            </a:r>
            <a:endParaRPr lang="pt-BR" dirty="0"/>
          </a:p>
        </p:txBody>
      </p:sp>
    </p:spTree>
    <p:extLst>
      <p:ext uri="{BB962C8B-B14F-4D97-AF65-F5344CB8AC3E}">
        <p14:creationId xmlns:p14="http://schemas.microsoft.com/office/powerpoint/2010/main" val="13758651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a:t>
            </a:r>
            <a:r>
              <a:rPr lang="pt-BR" dirty="0" smtClean="0"/>
              <a:t>(sobreposição), </a:t>
            </a:r>
            <a:r>
              <a:rPr lang="pt-BR" b="1" dirty="0">
                <a:solidFill>
                  <a:srgbClr val="00B050"/>
                </a:solidFill>
              </a:rPr>
              <a:t>as árvores são suscetíveis a sobreajustar</a:t>
            </a:r>
            <a:r>
              <a:rPr lang="pt-BR" dirty="0"/>
              <a:t> ao conjunto de </a:t>
            </a:r>
            <a:r>
              <a:rPr lang="pt-BR" dirty="0" smtClean="0"/>
              <a:t>treinamento.</a:t>
            </a:r>
          </a:p>
          <a:p>
            <a:r>
              <a:rPr lang="pt-BR" dirty="0" smtClean="0"/>
              <a:t>Para </a:t>
            </a:r>
            <a:r>
              <a:rPr lang="pt-BR" dirty="0"/>
              <a:t>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r>
              <a:rPr lang="pt-BR" dirty="0" smtClean="0"/>
              <a:t>).</a:t>
            </a:r>
            <a:endParaRPr lang="pt-BR" dirty="0"/>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a:t>
            </a:r>
            <a:r>
              <a:rPr lang="pt-BR" dirty="0" smtClean="0"/>
              <a:t>é </a:t>
            </a:r>
            <a:r>
              <a:rPr lang="pt-BR" dirty="0"/>
              <a:t>que elas são</a:t>
            </a:r>
            <a:r>
              <a:rPr lang="pt-BR" b="1" dirty="0">
                <a:solidFill>
                  <a:srgbClr val="00B050"/>
                </a:solidFill>
              </a:rPr>
              <a:t> muito sensíveis a </a:t>
            </a:r>
            <a:r>
              <a:rPr lang="pt-BR" b="1" dirty="0" smtClean="0">
                <a:solidFill>
                  <a:srgbClr val="00B050"/>
                </a:solidFill>
              </a:rPr>
              <a:t>rotações nos </a:t>
            </a:r>
            <a:r>
              <a:rPr lang="pt-BR" b="1" dirty="0">
                <a:solidFill>
                  <a:srgbClr val="00B050"/>
                </a:solidFill>
              </a:rPr>
              <a:t>dados de </a:t>
            </a:r>
            <a:r>
              <a:rPr lang="pt-BR" b="1" dirty="0" smtClean="0">
                <a:solidFill>
                  <a:srgbClr val="00B050"/>
                </a:solidFill>
              </a:rPr>
              <a:t>treinamento</a:t>
            </a:r>
            <a:r>
              <a:rPr lang="pt-BR" dirty="0" smtClean="0"/>
              <a:t>. </a:t>
            </a:r>
            <a:endParaRPr lang="pt-BR" b="1" dirty="0"/>
          </a:p>
          <a:p>
            <a:r>
              <a:rPr lang="pt-BR" dirty="0" smtClean="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smtClean="0"/>
              <a:t>Uma </a:t>
            </a:r>
            <a:r>
              <a:rPr lang="pt-BR" dirty="0"/>
              <a:t>maneira para </a:t>
            </a:r>
            <a:r>
              <a:rPr lang="pt-BR" b="1" dirty="0">
                <a:solidFill>
                  <a:srgbClr val="FF0000"/>
                </a:solidFill>
              </a:rPr>
              <a:t>minimizar</a:t>
            </a:r>
            <a:r>
              <a:rPr lang="pt-BR" dirty="0"/>
              <a:t> esse problema da sensibilidade à rotação é usar </a:t>
            </a:r>
            <a:r>
              <a:rPr lang="pt-BR" b="1" dirty="0" smtClean="0"/>
              <a:t>análise </a:t>
            </a:r>
            <a:r>
              <a:rPr lang="pt-BR" b="1" dirty="0"/>
              <a:t>de </a:t>
            </a:r>
            <a:r>
              <a:rPr lang="pt-BR" b="1" dirty="0" smtClean="0"/>
              <a:t>componentes principais </a:t>
            </a:r>
            <a:r>
              <a:rPr lang="pt-BR" b="1" dirty="0"/>
              <a:t>(PCA)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smtClean="0"/>
              <a:t>PCA</a:t>
            </a:r>
            <a:endParaRPr lang="pt-BR" dirty="0"/>
          </a:p>
        </p:txBody>
      </p:sp>
    </p:spTree>
    <p:extLst>
      <p:ext uri="{BB962C8B-B14F-4D97-AF65-F5344CB8AC3E}">
        <p14:creationId xmlns:p14="http://schemas.microsoft.com/office/powerpoint/2010/main" val="24763091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a:t>
            </a:r>
            <a:r>
              <a:rPr lang="pt-BR" b="1" dirty="0" smtClean="0">
                <a:solidFill>
                  <a:srgbClr val="00B050"/>
                </a:solidFill>
              </a:rPr>
              <a:t>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smtClean="0"/>
              <a:t>As </a:t>
            </a:r>
            <a:r>
              <a:rPr lang="pt-BR" b="1" dirty="0"/>
              <a:t>florestas aleatórias </a:t>
            </a:r>
            <a:r>
              <a:rPr lang="pt-BR" dirty="0"/>
              <a:t>podem limitar essa instabilidade calculando a média ou voto majoritário das predições feitas por diversas </a:t>
            </a:r>
            <a:r>
              <a:rPr lang="pt-BR" b="1" dirty="0" smtClean="0"/>
              <a:t>árvores</a:t>
            </a:r>
            <a:r>
              <a:rPr lang="pt-BR" dirty="0" smtClean="0"/>
              <a:t>.</a:t>
            </a:r>
            <a:endParaRPr lang="pt-BR" b="1" dirty="0"/>
          </a:p>
        </p:txBody>
      </p:sp>
    </p:spTree>
    <p:extLst>
      <p:ext uri="{BB962C8B-B14F-4D97-AF65-F5344CB8AC3E}">
        <p14:creationId xmlns:p14="http://schemas.microsoft.com/office/powerpoint/2010/main" val="2677492039"/>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smtClean="0"/>
              <a:t>poderá</a:t>
            </a:r>
            <a:r>
              <a:rPr lang="pt-BR" b="1" dirty="0" smtClean="0"/>
              <a:t> </a:t>
            </a:r>
            <a:r>
              <a:rPr lang="pt-BR" dirty="0" smtClean="0"/>
              <a:t>se adaptar muito bem </a:t>
            </a:r>
            <a:r>
              <a:rPr lang="pt-BR" dirty="0"/>
              <a:t>aos dados de </a:t>
            </a:r>
            <a:r>
              <a:rPr lang="pt-BR" dirty="0" smtClean="0"/>
              <a:t>treinamento, </a:t>
            </a:r>
            <a:r>
              <a:rPr lang="pt-BR" dirty="0"/>
              <a:t>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a:t>
            </a:r>
            <a:r>
              <a:rPr lang="pt-BR" dirty="0" smtClean="0"/>
              <a:t>durante </a:t>
            </a:r>
            <a:r>
              <a:rPr lang="pt-BR" dirty="0"/>
              <a:t>seu treinamento.</a:t>
            </a:r>
          </a:p>
          <a:p>
            <a:pPr lvl="1">
              <a:buFont typeface="Wingdings" panose="05000000000000000000" pitchFamily="2" charset="2"/>
              <a:buChar char="§"/>
            </a:pPr>
            <a:r>
              <a:rPr lang="pt-BR" dirty="0" smtClean="0"/>
              <a:t>Essa restrição é feita através de alguns </a:t>
            </a:r>
            <a:r>
              <a:rPr lang="pt-BR" dirty="0" err="1" smtClean="0"/>
              <a:t>hiperparâmetros</a:t>
            </a:r>
            <a:r>
              <a:rPr lang="pt-BR" dirty="0"/>
              <a:t>.</a:t>
            </a:r>
            <a:endParaRPr lang="pt-BR" dirty="0" smtClean="0"/>
          </a:p>
          <a:p>
            <a:pPr lvl="1">
              <a:buFont typeface="Wingdings" panose="05000000000000000000" pitchFamily="2" charset="2"/>
              <a:buChar char="§"/>
            </a:pPr>
            <a:r>
              <a:rPr lang="pt-BR" dirty="0" smtClean="0"/>
              <a:t>Essa </a:t>
            </a:r>
            <a:r>
              <a:rPr lang="pt-BR" dirty="0"/>
              <a:t>restrição pode ser visto como uma forma de</a:t>
            </a:r>
            <a:r>
              <a:rPr lang="pt-BR" b="1" dirty="0"/>
              <a:t> </a:t>
            </a:r>
            <a:r>
              <a:rPr lang="pt-BR" b="1" dirty="0">
                <a:solidFill>
                  <a:srgbClr val="FF0000"/>
                </a:solidFill>
              </a:rPr>
              <a:t>regularização</a:t>
            </a:r>
            <a:r>
              <a:rPr lang="pt-BR" b="1" dirty="0" smtClean="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smtClean="0"/>
              <a:t>Regularização</a:t>
            </a:r>
            <a:endParaRPr lang="pt-BR" dirty="0"/>
          </a:p>
        </p:txBody>
      </p:sp>
    </p:spTree>
    <p:extLst>
      <p:ext uri="{BB962C8B-B14F-4D97-AF65-F5344CB8AC3E}">
        <p14:creationId xmlns:p14="http://schemas.microsoft.com/office/powerpoint/2010/main" val="3543519714"/>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a:t>
            </a:r>
            <a:r>
              <a:rPr lang="pt-BR" dirty="0" smtClean="0"/>
              <a:t> </a:t>
            </a:r>
            <a:r>
              <a:rPr lang="pt-BR" dirty="0" err="1" smtClean="0"/>
              <a:t>Scikit-Learn</a:t>
            </a:r>
            <a:r>
              <a:rPr lang="pt-BR" dirty="0"/>
              <a:t> </a:t>
            </a:r>
            <a:r>
              <a:rPr lang="pt-BR" dirty="0" smtClean="0"/>
              <a:t>tem 2 classes de árvores que implementam o algoritmo CART:</a:t>
            </a:r>
          </a:p>
          <a:p>
            <a:pPr lvl="1">
              <a:buFont typeface="Wingdings" panose="05000000000000000000" pitchFamily="2" charset="2"/>
              <a:buChar char="§"/>
            </a:pPr>
            <a:r>
              <a:rPr lang="pt-BR" dirty="0" err="1" smtClean="0"/>
              <a:t>DecisionTreeClassifier</a:t>
            </a:r>
            <a:endParaRPr lang="pt-BR" dirty="0"/>
          </a:p>
          <a:p>
            <a:pPr lvl="1">
              <a:buFont typeface="Wingdings" panose="05000000000000000000" pitchFamily="2" charset="2"/>
              <a:buChar char="§"/>
            </a:pPr>
            <a:r>
              <a:rPr lang="pt-BR" dirty="0" err="1" smtClean="0"/>
              <a:t>DecisionTreeRegressor</a:t>
            </a:r>
            <a:endParaRPr lang="pt-BR" dirty="0" smtClean="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a:t>
            </a:r>
            <a:r>
              <a:rPr lang="pt-BR" b="1" dirty="0" smtClean="0">
                <a:solidFill>
                  <a:srgbClr val="0070C0"/>
                </a:solidFill>
              </a:rPr>
              <a:t>regressão</a:t>
            </a:r>
            <a:r>
              <a:rPr lang="pt-BR" b="1" dirty="0" smtClean="0"/>
              <a:t> </a:t>
            </a:r>
            <a:r>
              <a:rPr lang="pt-BR" b="1" dirty="0" smtClean="0">
                <a:solidFill>
                  <a:srgbClr val="7030A0"/>
                </a:solidFill>
              </a:rPr>
              <a:t>não </a:t>
            </a:r>
            <a:r>
              <a:rPr lang="pt-BR" b="1" dirty="0">
                <a:solidFill>
                  <a:srgbClr val="7030A0"/>
                </a:solidFill>
              </a:rPr>
              <a:t>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smtClean="0"/>
          </a:p>
        </p:txBody>
      </p:sp>
      <p:pic>
        <p:nvPicPr>
          <p:cNvPr id="4" name="Picture 2" descr="../_images/sphx_glr_plot_tree_regression_001.png">
            <a:extLst>
              <a:ext uri="{FF2B5EF4-FFF2-40B4-BE49-F238E27FC236}">
                <a16:creationId xmlns=""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smtClean="0"/>
              <a:t>A regularização destas árvores </a:t>
            </a:r>
            <a:r>
              <a:rPr lang="pt-BR" dirty="0"/>
              <a:t>pode ser controlada pelos hiperparâmetros: </a:t>
            </a:r>
            <a:endParaRPr lang="pt-BR" dirty="0" smtClean="0"/>
          </a:p>
          <a:p>
            <a:pPr lvl="1">
              <a:buFont typeface="Wingdings" panose="05000000000000000000" pitchFamily="2" charset="2"/>
              <a:buChar char="§"/>
            </a:pPr>
            <a:r>
              <a:rPr lang="pt-BR" b="1" dirty="0" err="1" smtClean="0"/>
              <a:t>max_depth</a:t>
            </a:r>
            <a:r>
              <a:rPr lang="pt-BR" dirty="0" smtClean="0"/>
              <a:t>: profundidade máxima (i.e., número de níveis).</a:t>
            </a:r>
          </a:p>
          <a:p>
            <a:pPr lvl="1">
              <a:buFont typeface="Wingdings" panose="05000000000000000000" pitchFamily="2" charset="2"/>
              <a:buChar char="§"/>
            </a:pPr>
            <a:r>
              <a:rPr lang="pt-BR" b="1" dirty="0" err="1" smtClean="0"/>
              <a:t>min_samples_split</a:t>
            </a:r>
            <a:r>
              <a:rPr lang="pt-BR" dirty="0" smtClean="0"/>
              <a:t>: </a:t>
            </a:r>
            <a:r>
              <a:rPr lang="pt-BR" dirty="0"/>
              <a:t>número mínimo de exemplos um nó deve ter para poder ser dividido.</a:t>
            </a:r>
            <a:endParaRPr lang="pt-BR" dirty="0" smtClean="0"/>
          </a:p>
          <a:p>
            <a:pPr lvl="1">
              <a:buFont typeface="Wingdings" panose="05000000000000000000" pitchFamily="2" charset="2"/>
              <a:buChar char="§"/>
            </a:pPr>
            <a:r>
              <a:rPr lang="pt-BR" b="1" dirty="0" err="1" smtClean="0"/>
              <a:t>min_samples_leaf</a:t>
            </a:r>
            <a:r>
              <a:rPr lang="pt-BR" dirty="0" smtClean="0"/>
              <a:t>: </a:t>
            </a:r>
            <a:r>
              <a:rPr lang="pt-BR" dirty="0"/>
              <a:t>número mínimo de exemplos </a:t>
            </a:r>
            <a:r>
              <a:rPr lang="pt-BR" dirty="0" smtClean="0"/>
              <a:t>que um </a:t>
            </a:r>
            <a:r>
              <a:rPr lang="pt-BR" dirty="0"/>
              <a:t>nó folha deve ter.</a:t>
            </a:r>
            <a:endParaRPr lang="pt-BR" dirty="0" smtClean="0"/>
          </a:p>
          <a:p>
            <a:pPr lvl="1">
              <a:buFont typeface="Wingdings" panose="05000000000000000000" pitchFamily="2" charset="2"/>
              <a:buChar char="§"/>
            </a:pPr>
            <a:r>
              <a:rPr lang="pt-BR" b="1" dirty="0" err="1" smtClean="0"/>
              <a:t>max_leaf_nodes</a:t>
            </a:r>
            <a:r>
              <a:rPr lang="pt-BR" dirty="0"/>
              <a:t>: número máximo de nós </a:t>
            </a:r>
            <a:r>
              <a:rPr lang="pt-BR" dirty="0" smtClean="0"/>
              <a:t>folha.</a:t>
            </a:r>
            <a:endParaRPr lang="pt-BR" dirty="0"/>
          </a:p>
          <a:p>
            <a:pPr lvl="1">
              <a:buFont typeface="Wingdings" panose="05000000000000000000" pitchFamily="2" charset="2"/>
              <a:buChar char="§"/>
            </a:pPr>
            <a:r>
              <a:rPr lang="pt-BR" b="1" dirty="0" err="1" smtClean="0"/>
              <a:t>max_features</a:t>
            </a:r>
            <a:r>
              <a:rPr lang="pt-BR" dirty="0" smtClean="0"/>
              <a:t>: </a:t>
            </a:r>
            <a:r>
              <a:rPr lang="pt-BR" dirty="0"/>
              <a:t>número máximo de atributos que são avaliados para criação de uma divisão (i.e., </a:t>
            </a:r>
            <a:r>
              <a:rPr lang="pt-BR" dirty="0" err="1"/>
              <a:t>split</a:t>
            </a:r>
            <a:r>
              <a:rPr lang="pt-BR" dirty="0" smtClean="0"/>
              <a:t>).</a:t>
            </a:r>
            <a:endParaRPr lang="pt-BR" dirty="0"/>
          </a:p>
          <a:p>
            <a:r>
              <a:rPr lang="pt-BR" dirty="0"/>
              <a:t>Aumentar os </a:t>
            </a:r>
            <a:r>
              <a:rPr lang="pt-BR" dirty="0" err="1"/>
              <a:t>hiperparâmetros</a:t>
            </a:r>
            <a:r>
              <a:rPr lang="pt-BR" dirty="0"/>
              <a:t> </a:t>
            </a:r>
            <a:r>
              <a:rPr lang="pt-BR" b="1" dirty="0"/>
              <a:t>min_*</a:t>
            </a:r>
            <a:r>
              <a:rPr lang="pt-BR" dirty="0"/>
              <a:t> ou reduzir </a:t>
            </a:r>
            <a:r>
              <a:rPr lang="pt-BR" dirty="0" smtClean="0"/>
              <a:t>os </a:t>
            </a:r>
            <a:r>
              <a:rPr lang="pt-BR" dirty="0" err="1" smtClean="0"/>
              <a:t>hiperparâmetros</a:t>
            </a:r>
            <a:r>
              <a:rPr lang="pt-BR" dirty="0"/>
              <a:t> </a:t>
            </a:r>
            <a:r>
              <a:rPr lang="pt-BR" b="1" dirty="0" err="1"/>
              <a:t>max</a:t>
            </a:r>
            <a:r>
              <a:rPr lang="pt-BR" b="1" dirty="0"/>
              <a:t>_*</a:t>
            </a:r>
            <a:r>
              <a:rPr lang="pt-BR" dirty="0"/>
              <a:t> regularizará o modelo</a:t>
            </a:r>
            <a:r>
              <a:rPr lang="pt-BR" dirty="0" smtClean="0"/>
              <a:t>.</a:t>
            </a:r>
          </a:p>
          <a:p>
            <a:r>
              <a:rPr lang="pt-BR" dirty="0" smtClean="0"/>
              <a:t>Como encontramos </a:t>
            </a:r>
            <a:r>
              <a:rPr lang="pt-BR" dirty="0"/>
              <a:t>os melhores valores para os </a:t>
            </a:r>
            <a:r>
              <a:rPr lang="pt-BR" dirty="0" err="1"/>
              <a:t>hiperparâmetros</a:t>
            </a:r>
            <a:r>
              <a:rPr lang="pt-BR" dirty="0" smtClean="0"/>
              <a:t>?</a:t>
            </a:r>
          </a:p>
          <a:p>
            <a:pPr lvl="1">
              <a:buFont typeface="Wingdings" panose="05000000000000000000" pitchFamily="2" charset="2"/>
              <a:buChar char="§"/>
            </a:pPr>
            <a:r>
              <a:rPr lang="pt-BR" dirty="0" smtClean="0"/>
              <a:t>Usando validação cruzada, por exemplo.</a:t>
            </a:r>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gridCol w="4678680"/>
                <a:gridCol w="4846320"/>
              </a:tblGrid>
              <a:tr h="370840">
                <a:tc>
                  <a:txBody>
                    <a:bodyPr/>
                    <a:lstStyle/>
                    <a:p>
                      <a:pPr algn="ctr"/>
                      <a:r>
                        <a:rPr lang="pt-BR" sz="1900" b="1" dirty="0" smtClean="0"/>
                        <a:t>Característica</a:t>
                      </a:r>
                      <a:endParaRPr lang="pt-BR" sz="19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smtClean="0"/>
                        <a:t>ID3</a:t>
                      </a:r>
                      <a:endParaRPr lang="pt-BR" sz="19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smtClean="0"/>
                        <a:t>CART</a:t>
                      </a:r>
                      <a:endParaRPr lang="pt-BR" sz="19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smtClean="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smtClean="0"/>
                        <a:t>Classificação + regressão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smtClean="0"/>
                        <a:t>Ganho</a:t>
                      </a:r>
                      <a:r>
                        <a:rPr lang="pt-BR" sz="1900" b="0" baseline="0" dirty="0" smtClean="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smtClean="0"/>
                        <a:t>Classificação: </a:t>
                      </a:r>
                      <a:r>
                        <a:rPr lang="pt-BR" sz="1900" b="0" dirty="0" err="1" smtClean="0"/>
                        <a:t>Gini</a:t>
                      </a:r>
                      <a:r>
                        <a:rPr lang="pt-BR" sz="1900" b="0" dirty="0" smtClean="0"/>
                        <a:t> e entropia</a:t>
                      </a:r>
                    </a:p>
                    <a:p>
                      <a:pPr marL="285750" lvl="0" indent="-285750" algn="l">
                        <a:buFont typeface="Arial" panose="020B0604020202020204" pitchFamily="34" charset="0"/>
                        <a:buChar char="•"/>
                      </a:pPr>
                      <a:r>
                        <a:rPr lang="pt-BR" sz="1900" b="0" dirty="0" smtClean="0"/>
                        <a:t>Regressão: EQM</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Funciona melhor com dados categóricos</a:t>
                      </a:r>
                    </a:p>
                    <a:p>
                      <a:pPr marL="285750" lvl="0" indent="-285750">
                        <a:buFont typeface="Arial" panose="020B0604020202020204" pitchFamily="34" charset="0"/>
                        <a:buChar char="•"/>
                      </a:pPr>
                      <a:r>
                        <a:rPr lang="pt-BR" sz="1900" b="0" dirty="0" smtClean="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Lida naturalmente com:</a:t>
                      </a:r>
                    </a:p>
                    <a:p>
                      <a:pPr marL="742950" lvl="1" indent="-285750">
                        <a:buFont typeface="Wingdings" panose="05000000000000000000" pitchFamily="2" charset="2"/>
                        <a:buChar char="§"/>
                      </a:pPr>
                      <a:r>
                        <a:rPr lang="pt-BR" sz="1900" b="0" dirty="0" smtClean="0"/>
                        <a:t>dados contínuos</a:t>
                      </a:r>
                    </a:p>
                    <a:p>
                      <a:pPr marL="742950" lvl="1" indent="-285750">
                        <a:buFont typeface="Wingdings" panose="05000000000000000000" pitchFamily="2" charset="2"/>
                        <a:buChar char="§"/>
                      </a:pPr>
                      <a:r>
                        <a:rPr lang="pt-BR" sz="1900" b="0" dirty="0" smtClean="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smtClean="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Pode gerar múltiplos ramos</a:t>
                      </a:r>
                    </a:p>
                    <a:p>
                      <a:pPr marL="742950" lvl="1" indent="-285750">
                        <a:buFont typeface="Wingdings" panose="05000000000000000000" pitchFamily="2" charset="2"/>
                        <a:buChar char="§"/>
                      </a:pPr>
                      <a:r>
                        <a:rPr lang="pt-BR" sz="1900" b="0" dirty="0" smtClean="0"/>
                        <a:t>Ex.:</a:t>
                      </a:r>
                      <a:r>
                        <a:rPr lang="pt-BR" sz="1900" b="0" baseline="0" dirty="0" smtClean="0"/>
                        <a:t> </a:t>
                      </a:r>
                      <a:r>
                        <a:rPr lang="pt-BR" sz="1900" b="0" dirty="0" smtClean="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smtClean="0"/>
                        <a:t>Sempre binária (2 ramos)</a:t>
                      </a:r>
                    </a:p>
                    <a:p>
                      <a:pPr marL="742950" lvl="1" indent="-285750">
                        <a:buFont typeface="Wingdings" panose="05000000000000000000" pitchFamily="2" charset="2"/>
                        <a:buChar char="§"/>
                      </a:pPr>
                      <a:r>
                        <a:rPr lang="pt-BR" sz="1900" b="0" dirty="0" smtClean="0"/>
                        <a:t>Ex.:</a:t>
                      </a:r>
                      <a:r>
                        <a:rPr lang="pt-BR" sz="1900" b="0" baseline="0" dirty="0" smtClean="0"/>
                        <a:t> </a:t>
                      </a:r>
                      <a:r>
                        <a:rPr lang="pt-BR" sz="1900" b="0" dirty="0" smtClean="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70840">
                <a:tc>
                  <a:txBody>
                    <a:bodyPr/>
                    <a:lstStyle/>
                    <a:p>
                      <a:pPr algn="ctr"/>
                      <a:r>
                        <a:rPr lang="pt-BR" sz="1900" b="0" dirty="0" smtClean="0"/>
                        <a:t>Repete atributo?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smtClean="0"/>
                        <a:t>Não repete atributo no mesmo caminho (raiz → folha)</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smtClean="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smtClean="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784182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 xmlns:a16="http://schemas.microsoft.com/office/drawing/2014/main" val="20000"/>
                    </a:ext>
                  </a:extLst>
                </a:gridCol>
                <a:gridCol w="952500">
                  <a:extLst>
                    <a:ext uri="{9D8B030D-6E8A-4147-A177-3AD203B41FA5}">
                      <a16:colId xmlns="" xmlns:a16="http://schemas.microsoft.com/office/drawing/2014/main" val="20001"/>
                    </a:ext>
                  </a:extLst>
                </a:gridCol>
                <a:gridCol w="952500">
                  <a:extLst>
                    <a:ext uri="{9D8B030D-6E8A-4147-A177-3AD203B41FA5}">
                      <a16:colId xmlns=""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 xmlns:a16="http://schemas.microsoft.com/office/drawing/2014/main" val="20000"/>
                    </a:ext>
                  </a:extLst>
                </a:gridCol>
                <a:gridCol w="209114">
                  <a:extLst>
                    <a:ext uri="{9D8B030D-6E8A-4147-A177-3AD203B41FA5}">
                      <a16:colId xmlns="" xmlns:a16="http://schemas.microsoft.com/office/drawing/2014/main" val="20001"/>
                    </a:ext>
                  </a:extLst>
                </a:gridCol>
                <a:gridCol w="298734">
                  <a:extLst>
                    <a:ext uri="{9D8B030D-6E8A-4147-A177-3AD203B41FA5}">
                      <a16:colId xmlns="" xmlns:a16="http://schemas.microsoft.com/office/drawing/2014/main" val="20002"/>
                    </a:ext>
                  </a:extLst>
                </a:gridCol>
                <a:gridCol w="268861">
                  <a:extLst>
                    <a:ext uri="{9D8B030D-6E8A-4147-A177-3AD203B41FA5}">
                      <a16:colId xmlns="" xmlns:a16="http://schemas.microsoft.com/office/drawing/2014/main" val="20003"/>
                    </a:ext>
                  </a:extLst>
                </a:gridCol>
                <a:gridCol w="298734">
                  <a:extLst>
                    <a:ext uri="{9D8B030D-6E8A-4147-A177-3AD203B41FA5}">
                      <a16:colId xmlns="" xmlns:a16="http://schemas.microsoft.com/office/drawing/2014/main" val="20004"/>
                    </a:ext>
                  </a:extLst>
                </a:gridCol>
                <a:gridCol w="25001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 xmlns:a16="http://schemas.microsoft.com/office/drawing/2014/main" val="20000"/>
                    </a:ext>
                  </a:extLst>
                </a:gridCol>
                <a:gridCol w="213002">
                  <a:extLst>
                    <a:ext uri="{9D8B030D-6E8A-4147-A177-3AD203B41FA5}">
                      <a16:colId xmlns="" xmlns:a16="http://schemas.microsoft.com/office/drawing/2014/main" val="20001"/>
                    </a:ext>
                  </a:extLst>
                </a:gridCol>
                <a:gridCol w="304290">
                  <a:extLst>
                    <a:ext uri="{9D8B030D-6E8A-4147-A177-3AD203B41FA5}">
                      <a16:colId xmlns="" xmlns:a16="http://schemas.microsoft.com/office/drawing/2014/main" val="20002"/>
                    </a:ext>
                  </a:extLst>
                </a:gridCol>
                <a:gridCol w="273861">
                  <a:extLst>
                    <a:ext uri="{9D8B030D-6E8A-4147-A177-3AD203B41FA5}">
                      <a16:colId xmlns="" xmlns:a16="http://schemas.microsoft.com/office/drawing/2014/main" val="20003"/>
                    </a:ext>
                  </a:extLst>
                </a:gridCol>
                <a:gridCol w="304290">
                  <a:extLst>
                    <a:ext uri="{9D8B030D-6E8A-4147-A177-3AD203B41FA5}">
                      <a16:colId xmlns="" xmlns:a16="http://schemas.microsoft.com/office/drawing/2014/main" val="20004"/>
                    </a:ext>
                  </a:extLst>
                </a:gridCol>
                <a:gridCol w="25466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18180</TotalTime>
  <Words>11053</Words>
  <Application>Microsoft Office PowerPoint</Application>
  <PresentationFormat>Widescreen</PresentationFormat>
  <Paragraphs>1393</Paragraphs>
  <Slides>76</Slides>
  <Notes>49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1283</cp:revision>
  <dcterms:created xsi:type="dcterms:W3CDTF">2020-04-06T23:46:10Z</dcterms:created>
  <dcterms:modified xsi:type="dcterms:W3CDTF">2026-04-04T01:46:51Z</dcterms:modified>
</cp:coreProperties>
</file>