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76" r:id="rId3"/>
    <p:sldId id="287" r:id="rId4"/>
    <p:sldId id="288" r:id="rId5"/>
    <p:sldId id="289" r:id="rId6"/>
    <p:sldId id="283" r:id="rId7"/>
    <p:sldId id="286"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4" r:id="rId21"/>
    <p:sldId id="306" r:id="rId22"/>
    <p:sldId id="307" r:id="rId23"/>
    <p:sldId id="308" r:id="rId24"/>
    <p:sldId id="280" r:id="rId25"/>
    <p:sldId id="309" r:id="rId26"/>
    <p:sldId id="310" r:id="rId27"/>
    <p:sldId id="278" r:id="rId28"/>
    <p:sldId id="267" r:id="rId29"/>
    <p:sldId id="311" r:id="rId30"/>
    <p:sldId id="312" r:id="rId31"/>
    <p:sldId id="314" r:id="rId32"/>
    <p:sldId id="263" r:id="rId33"/>
    <p:sldId id="305" r:id="rId34"/>
    <p:sldId id="316" r:id="rId35"/>
    <p:sldId id="264" r:id="rId36"/>
    <p:sldId id="338" r:id="rId37"/>
    <p:sldId id="370" r:id="rId38"/>
    <p:sldId id="317" r:id="rId39"/>
    <p:sldId id="269" r:id="rId4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5" autoAdjust="0"/>
    <p:restoredTop sz="79533" autoAdjust="0"/>
  </p:normalViewPr>
  <p:slideViewPr>
    <p:cSldViewPr snapToGrid="0">
      <p:cViewPr varScale="1">
        <p:scale>
          <a:sx n="88" d="100"/>
          <a:sy n="88" d="100"/>
        </p:scale>
        <p:origin x="148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C82C08-3EFC-4473-8294-F0E229C19EFF}" type="datetimeFigureOut">
              <a:rPr lang="pt-BR" smtClean="0"/>
              <a:t>05/05/2026</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0A2A4-8C14-4B1A-AD48-7B6401078BF7}" type="slidenum">
              <a:rPr lang="pt-BR" smtClean="0"/>
              <a:t>‹nº›</a:t>
            </a:fld>
            <a:endParaRPr lang="pt-BR"/>
          </a:p>
        </p:txBody>
      </p:sp>
    </p:spTree>
    <p:extLst>
      <p:ext uri="{BB962C8B-B14F-4D97-AF65-F5344CB8AC3E}">
        <p14:creationId xmlns:p14="http://schemas.microsoft.com/office/powerpoint/2010/main" val="300813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kaggle.com/code/imoore/intro-to-exploratory-data-analysis-eda-in-python"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a:t>
            </a:fld>
            <a:endParaRPr lang="pt-BR"/>
          </a:p>
        </p:txBody>
      </p:sp>
    </p:spTree>
    <p:extLst>
      <p:ext uri="{BB962C8B-B14F-4D97-AF65-F5344CB8AC3E}">
        <p14:creationId xmlns:p14="http://schemas.microsoft.com/office/powerpoint/2010/main" val="92487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a:t>
            </a:fld>
            <a:endParaRPr lang="pt-BR"/>
          </a:p>
        </p:txBody>
      </p:sp>
    </p:spTree>
    <p:extLst>
      <p:ext uri="{BB962C8B-B14F-4D97-AF65-F5344CB8AC3E}">
        <p14:creationId xmlns:p14="http://schemas.microsoft.com/office/powerpoint/2010/main" val="3382735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4</a:t>
            </a:fld>
            <a:endParaRPr lang="pt-BR"/>
          </a:p>
        </p:txBody>
      </p:sp>
    </p:spTree>
    <p:extLst>
      <p:ext uri="{BB962C8B-B14F-4D97-AF65-F5344CB8AC3E}">
        <p14:creationId xmlns:p14="http://schemas.microsoft.com/office/powerpoint/2010/main" val="27831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5</a:t>
            </a:fld>
            <a:endParaRPr lang="pt-BR"/>
          </a:p>
        </p:txBody>
      </p:sp>
    </p:spTree>
    <p:extLst>
      <p:ext uri="{BB962C8B-B14F-4D97-AF65-F5344CB8AC3E}">
        <p14:creationId xmlns:p14="http://schemas.microsoft.com/office/powerpoint/2010/main" val="1374822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9</a:t>
            </a:fld>
            <a:endParaRPr lang="pt-BR"/>
          </a:p>
        </p:txBody>
      </p:sp>
    </p:spTree>
    <p:extLst>
      <p:ext uri="{BB962C8B-B14F-4D97-AF65-F5344CB8AC3E}">
        <p14:creationId xmlns:p14="http://schemas.microsoft.com/office/powerpoint/2010/main" val="2827506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10</a:t>
            </a:fld>
            <a:endParaRPr lang="pt-BR"/>
          </a:p>
        </p:txBody>
      </p:sp>
    </p:spTree>
    <p:extLst>
      <p:ext uri="{BB962C8B-B14F-4D97-AF65-F5344CB8AC3E}">
        <p14:creationId xmlns:p14="http://schemas.microsoft.com/office/powerpoint/2010/main" val="417701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11</a:t>
            </a:fld>
            <a:endParaRPr lang="pt-BR"/>
          </a:p>
        </p:txBody>
      </p:sp>
    </p:spTree>
    <p:extLst>
      <p:ext uri="{BB962C8B-B14F-4D97-AF65-F5344CB8AC3E}">
        <p14:creationId xmlns:p14="http://schemas.microsoft.com/office/powerpoint/2010/main" val="3264037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k-NN é poderoso porque não assume nada sobre os dados, exceto que a medida da distância pode ser calculada consistentemente entre duas instâncias. Assim, ele é chamado de </a:t>
            </a:r>
            <a:r>
              <a:rPr lang="pt-BR" b="1" i="1" dirty="0"/>
              <a:t>não-paramétrico</a:t>
            </a:r>
            <a:r>
              <a:rPr lang="pt-BR" dirty="0"/>
              <a:t> ou </a:t>
            </a:r>
            <a:r>
              <a:rPr lang="pt-BR" b="1" i="1" dirty="0"/>
              <a:t>não-linear</a:t>
            </a:r>
            <a:r>
              <a:rPr lang="pt-BR" b="0" i="0" dirty="0"/>
              <a:t>.</a:t>
            </a:r>
          </a:p>
          <a:p>
            <a:endParaRPr lang="pt-BR" b="0" i="0" dirty="0"/>
          </a:p>
          <a:p>
            <a:r>
              <a:rPr lang="pt-BR" dirty="0"/>
              <a:t>O algoritmo k-NN usa 'similaridade de atributos' para prever os valores de quaisquer novos exemplos</a:t>
            </a:r>
            <a:r>
              <a:rPr lang="pt-BR" baseline="0" dirty="0"/>
              <a:t> </a:t>
            </a:r>
            <a:r>
              <a:rPr lang="pt-BR" dirty="0"/>
              <a:t>de dados. Isso significa que o novo exemplo recebe um valor com base na sua proximidade com</a:t>
            </a:r>
            <a:r>
              <a:rPr lang="pt-BR" baseline="0" dirty="0"/>
              <a:t> os</a:t>
            </a:r>
            <a:r>
              <a:rPr lang="pt-BR" dirty="0"/>
              <a:t> pontos no conjunto de treinamento.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12</a:t>
            </a:fld>
            <a:endParaRPr lang="pt-BR"/>
          </a:p>
        </p:txBody>
      </p:sp>
    </p:spTree>
    <p:extLst>
      <p:ext uri="{BB962C8B-B14F-4D97-AF65-F5344CB8AC3E}">
        <p14:creationId xmlns:p14="http://schemas.microsoft.com/office/powerpoint/2010/main" val="2313596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endParaRPr lang="pt-BR" dirty="0"/>
          </a:p>
          <a:p>
            <a:r>
              <a:rPr lang="pt-BR" dirty="0"/>
              <a:t>Referências</a:t>
            </a:r>
          </a:p>
          <a:p>
            <a:r>
              <a:rPr lang="pt-BR" dirty="0"/>
              <a:t>[1] https://www.baeldung.com/cs/k-nearest-neighbors</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13</a:t>
            </a:fld>
            <a:endParaRPr lang="pt-BR"/>
          </a:p>
        </p:txBody>
      </p:sp>
    </p:spTree>
    <p:extLst>
      <p:ext uri="{BB962C8B-B14F-4D97-AF65-F5344CB8AC3E}">
        <p14:creationId xmlns:p14="http://schemas.microsoft.com/office/powerpoint/2010/main" val="3260695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b="1" i="1" dirty="0" err="1"/>
              <a:t>lazy</a:t>
            </a:r>
            <a:r>
              <a:rPr lang="pt-BR" b="1" i="1" dirty="0"/>
              <a:t> learning </a:t>
            </a:r>
            <a:r>
              <a:rPr lang="pt-BR" dirty="0"/>
              <a:t>é uma</a:t>
            </a:r>
            <a:r>
              <a:rPr lang="pt-BR" baseline="0" dirty="0"/>
              <a:t> abordagem </a:t>
            </a:r>
            <a:r>
              <a:rPr lang="pt-BR" dirty="0"/>
              <a:t>de aprendizado no qual a generalização dos dados de treinamento é, em teoria, atrasada até que uma consulta seja feita ao sistema, em oposição ao </a:t>
            </a:r>
            <a:r>
              <a:rPr lang="pt-BR" b="1" i="1" dirty="0" err="1"/>
              <a:t>eager</a:t>
            </a:r>
            <a:r>
              <a:rPr lang="pt-BR" b="1" i="1" baseline="0" dirty="0"/>
              <a:t> learning</a:t>
            </a:r>
            <a:r>
              <a:rPr lang="pt-BR" dirty="0"/>
              <a:t>, em que o sistema tenta generalizar os dados de treinamento antes de receber consultas.</a:t>
            </a:r>
          </a:p>
          <a:p>
            <a:endParaRPr lang="pt-BR" dirty="0"/>
          </a:p>
          <a:p>
            <a:r>
              <a:rPr lang="pt-BR" b="1" i="1" dirty="0" err="1"/>
              <a:t>Eager</a:t>
            </a:r>
            <a:r>
              <a:rPr lang="pt-BR" b="1" i="1" baseline="0" dirty="0"/>
              <a:t> learning </a:t>
            </a:r>
            <a:r>
              <a:rPr lang="pt-BR" dirty="0"/>
              <a:t>tem uma etapa de treinamento</a:t>
            </a:r>
            <a:r>
              <a:rPr lang="pt-BR" baseline="0" dirty="0"/>
              <a:t> </a:t>
            </a:r>
            <a:r>
              <a:rPr lang="pt-BR" dirty="0"/>
              <a:t>do modelo. </a:t>
            </a:r>
            <a:r>
              <a:rPr lang="pt-BR" b="1" i="1" dirty="0" err="1"/>
              <a:t>Lazy</a:t>
            </a:r>
            <a:r>
              <a:rPr lang="pt-BR" b="1" i="1" dirty="0"/>
              <a:t> learning </a:t>
            </a:r>
            <a:r>
              <a:rPr lang="pt-BR" dirty="0"/>
              <a:t>não tem uma fase de treinamento.</a:t>
            </a:r>
          </a:p>
          <a:p>
            <a:endParaRPr lang="pt-BR" dirty="0"/>
          </a:p>
          <a:p>
            <a:r>
              <a:rPr lang="pt-BR" sz="1200" b="0" i="0" kern="1200" dirty="0">
                <a:solidFill>
                  <a:schemeClr val="tx1"/>
                </a:solidFill>
                <a:effectLst/>
                <a:latin typeface="+mn-lt"/>
                <a:ea typeface="+mn-ea"/>
                <a:cs typeface="+mn-cs"/>
              </a:rPr>
              <a:t>O KNN é frequentemente considerado um algoritmo de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(aprendizado preguiçoso) devido à sua abordagem peculiar de treinamento. A ideia por trás do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é que o algoritmo não faz nenhuma etapa explícita de aprendizado durante a fase de treinamento. Em vez disso, todo o aprendizado é adiado até a fase de teste, quando um novo ponto de dados é apresentado.</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No caso do KNN, durante a fase de treinamento, o algoritmo simplesmente armazena o conjunto de dados de treinamento para posterior referência. Ele não calcula nenhum modelo ou estimativa de parâmetros como outros algoritmos de aprendizado, como regressão linear ou redes neurais.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aprendizagem ocorre durante a fase de teste, quando um novo ponto de dados precisa ser classificado ou estimado. Nesse momento, o algoritmo calcula as distâncias desse novo ponto em relação a todos os exemplos de treinamento armazenados. Com base nas K amostras de treinamento mais próximas (vizinhos), o KNN atribui uma classe ou valor ao novo ponto.</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14</a:t>
            </a:fld>
            <a:endParaRPr lang="pt-BR"/>
          </a:p>
        </p:txBody>
      </p:sp>
    </p:spTree>
    <p:extLst>
      <p:ext uri="{BB962C8B-B14F-4D97-AF65-F5344CB8AC3E}">
        <p14:creationId xmlns:p14="http://schemas.microsoft.com/office/powerpoint/2010/main" val="3493200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b="1" i="1" dirty="0" err="1"/>
              <a:t>lazy</a:t>
            </a:r>
            <a:r>
              <a:rPr lang="pt-BR" b="1" i="1" dirty="0"/>
              <a:t> learning </a:t>
            </a:r>
            <a:r>
              <a:rPr lang="pt-BR" dirty="0"/>
              <a:t>é uma</a:t>
            </a:r>
            <a:r>
              <a:rPr lang="pt-BR" baseline="0" dirty="0"/>
              <a:t> abordagem </a:t>
            </a:r>
            <a:r>
              <a:rPr lang="pt-BR" dirty="0"/>
              <a:t>de aprendizado no qual a generalização dos dados de treinamento é, em teoria, atrasada até que uma consulta seja feita ao sistema, em oposição ao </a:t>
            </a:r>
            <a:r>
              <a:rPr lang="pt-BR" b="1" i="1" dirty="0" err="1"/>
              <a:t>eager</a:t>
            </a:r>
            <a:r>
              <a:rPr lang="pt-BR" b="1" i="1" baseline="0" dirty="0"/>
              <a:t> learning</a:t>
            </a:r>
            <a:r>
              <a:rPr lang="pt-BR" dirty="0"/>
              <a:t>, em que o sistema tenta generalizar os dados de treinamento antes de receber consultas.</a:t>
            </a:r>
          </a:p>
          <a:p>
            <a:endParaRPr lang="pt-BR" dirty="0"/>
          </a:p>
          <a:p>
            <a:r>
              <a:rPr lang="pt-BR" b="1" i="1" dirty="0" err="1"/>
              <a:t>Eager</a:t>
            </a:r>
            <a:r>
              <a:rPr lang="pt-BR" b="1" i="1" baseline="0" dirty="0"/>
              <a:t> learning </a:t>
            </a:r>
            <a:r>
              <a:rPr lang="pt-BR" dirty="0"/>
              <a:t>tem uma etapa de treinamento</a:t>
            </a:r>
            <a:r>
              <a:rPr lang="pt-BR" baseline="0" dirty="0"/>
              <a:t> </a:t>
            </a:r>
            <a:r>
              <a:rPr lang="pt-BR" dirty="0"/>
              <a:t>do modelo. </a:t>
            </a:r>
            <a:r>
              <a:rPr lang="pt-BR" b="1" i="1" dirty="0" err="1"/>
              <a:t>Lazy</a:t>
            </a:r>
            <a:r>
              <a:rPr lang="pt-BR" b="1" i="1" dirty="0"/>
              <a:t> learning </a:t>
            </a:r>
            <a:r>
              <a:rPr lang="pt-BR" dirty="0"/>
              <a:t>não tem uma fase de treinamento.</a:t>
            </a:r>
          </a:p>
          <a:p>
            <a:endParaRPr lang="pt-BR" dirty="0"/>
          </a:p>
          <a:p>
            <a:r>
              <a:rPr lang="pt-BR" sz="1200" b="0" i="0" kern="1200" dirty="0">
                <a:solidFill>
                  <a:schemeClr val="tx1"/>
                </a:solidFill>
                <a:effectLst/>
                <a:latin typeface="+mn-lt"/>
                <a:ea typeface="+mn-ea"/>
                <a:cs typeface="+mn-cs"/>
              </a:rPr>
              <a:t>O KNN é frequentemente considerado um algoritmo de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(aprendizado preguiçoso) devido à sua abordagem peculiar de treinamento. A ideia por trás do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é que o algoritmo não faz nenhuma etapa explícita de aprendizado durante a fase de treinamento. Em vez disso, todo o aprendizado é adiado até a fase de teste, quando um novo ponto de dados é apresentado.</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No caso do KNN, durante a fase de treinamento, o algoritmo simplesmente armazena o conjunto de dados de treinamento para posterior referência. Ele não calcula nenhum modelo ou estimativa de parâmetros como outros algoritmos de aprendizado, como regressão linear ou redes neurais.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aprendizagem ocorre durante a fase de teste, quando um novo ponto de dados precisa ser classificado ou estimado. Nesse momento, o algoritmo calcula as distâncias desse novo ponto em relação a todos os exemplos de treinamento armazenados. Com base nas K amostras de treinamento mais próximas (vizinhos), o KNN atribui uma classe ou valor ao novo ponto.</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15</a:t>
            </a:fld>
            <a:endParaRPr lang="pt-BR"/>
          </a:p>
        </p:txBody>
      </p:sp>
    </p:spTree>
    <p:extLst>
      <p:ext uri="{BB962C8B-B14F-4D97-AF65-F5344CB8AC3E}">
        <p14:creationId xmlns:p14="http://schemas.microsoft.com/office/powerpoint/2010/main" val="411936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b="1" i="1" dirty="0" err="1"/>
              <a:t>lazy</a:t>
            </a:r>
            <a:r>
              <a:rPr lang="pt-BR" b="1" i="1" dirty="0"/>
              <a:t> learning </a:t>
            </a:r>
            <a:r>
              <a:rPr lang="pt-BR" dirty="0"/>
              <a:t>é uma</a:t>
            </a:r>
            <a:r>
              <a:rPr lang="pt-BR" baseline="0" dirty="0"/>
              <a:t> abordagem </a:t>
            </a:r>
            <a:r>
              <a:rPr lang="pt-BR" dirty="0"/>
              <a:t>de aprendizado no qual a generalização dos dados de treinamento é, em teoria, atrasada até que uma consulta seja feita ao sistema, em oposição ao </a:t>
            </a:r>
            <a:r>
              <a:rPr lang="pt-BR" b="1" i="1" dirty="0" err="1"/>
              <a:t>eager</a:t>
            </a:r>
            <a:r>
              <a:rPr lang="pt-BR" b="1" i="1" baseline="0" dirty="0"/>
              <a:t> learning</a:t>
            </a:r>
            <a:r>
              <a:rPr lang="pt-BR" dirty="0"/>
              <a:t>, em que o sistema tenta generalizar os dados de treinamento antes de receber consultas.</a:t>
            </a:r>
          </a:p>
          <a:p>
            <a:endParaRPr lang="pt-BR" dirty="0"/>
          </a:p>
          <a:p>
            <a:r>
              <a:rPr lang="pt-BR" b="1" i="1" dirty="0" err="1"/>
              <a:t>Eager</a:t>
            </a:r>
            <a:r>
              <a:rPr lang="pt-BR" b="1" i="1" baseline="0" dirty="0"/>
              <a:t> learning </a:t>
            </a:r>
            <a:r>
              <a:rPr lang="pt-BR" dirty="0"/>
              <a:t>tem uma etapa de treinamento</a:t>
            </a:r>
            <a:r>
              <a:rPr lang="pt-BR" baseline="0" dirty="0"/>
              <a:t> </a:t>
            </a:r>
            <a:r>
              <a:rPr lang="pt-BR" dirty="0"/>
              <a:t>do modelo. </a:t>
            </a:r>
            <a:r>
              <a:rPr lang="pt-BR" b="1" i="1" dirty="0" err="1"/>
              <a:t>Lazy</a:t>
            </a:r>
            <a:r>
              <a:rPr lang="pt-BR" b="1" i="1" dirty="0"/>
              <a:t> learning </a:t>
            </a:r>
            <a:r>
              <a:rPr lang="pt-BR" dirty="0"/>
              <a:t>não tem uma fase de treinamento.</a:t>
            </a:r>
          </a:p>
          <a:p>
            <a:endParaRPr lang="pt-BR" dirty="0"/>
          </a:p>
          <a:p>
            <a:r>
              <a:rPr lang="pt-BR" sz="1200" b="0" i="0" kern="1200" dirty="0">
                <a:solidFill>
                  <a:schemeClr val="tx1"/>
                </a:solidFill>
                <a:effectLst/>
                <a:latin typeface="+mn-lt"/>
                <a:ea typeface="+mn-ea"/>
                <a:cs typeface="+mn-cs"/>
              </a:rPr>
              <a:t>O KNN é frequentemente considerado um algoritmo de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(aprendizado preguiçoso) devido à sua abordagem peculiar de treinamento. A ideia por trás do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é que o algoritmo não faz nenhuma etapa explícita de aprendizado durante a fase de treinamento. Em vez disso, todo o aprendizado é adiado até a fase de teste, quando um novo ponto de dados é apresentado.</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No caso do KNN, durante a fase de treinamento, o algoritmo simplesmente armazena o conjunto de dados de treinamento para posterior referência. Ele não calcula nenhum modelo ou estimativa de parâmetros como outros algoritmos de aprendizado, como regressão linear ou redes neurais.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aprendizagem ocorre durante a fase de teste, quando um novo ponto de dados precisa ser classificado ou estimado. Nesse momento, o algoritmo calcula as distâncias desse novo ponto em relação a todos os exemplos de treinamento armazenados. Com base nas K amostras de treinamento mais próximas (vizinhos), o KNN atribui uma classe ou valor ao novo ponto.</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16</a:t>
            </a:fld>
            <a:endParaRPr lang="pt-BR"/>
          </a:p>
        </p:txBody>
      </p:sp>
    </p:spTree>
    <p:extLst>
      <p:ext uri="{BB962C8B-B14F-4D97-AF65-F5344CB8AC3E}">
        <p14:creationId xmlns:p14="http://schemas.microsoft.com/office/powerpoint/2010/main" val="1621920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b="1" i="1" dirty="0" err="1"/>
              <a:t>lazy</a:t>
            </a:r>
            <a:r>
              <a:rPr lang="pt-BR" b="1" i="1" dirty="0"/>
              <a:t> learning </a:t>
            </a:r>
            <a:r>
              <a:rPr lang="pt-BR" dirty="0"/>
              <a:t>é uma</a:t>
            </a:r>
            <a:r>
              <a:rPr lang="pt-BR" baseline="0" dirty="0"/>
              <a:t> abordagem </a:t>
            </a:r>
            <a:r>
              <a:rPr lang="pt-BR" dirty="0"/>
              <a:t>de aprendizado no qual a generalização dos dados de treinamento é, em teoria, atrasada até que uma consulta seja feita ao sistema, em oposição ao </a:t>
            </a:r>
            <a:r>
              <a:rPr lang="pt-BR" b="1" i="1" dirty="0" err="1"/>
              <a:t>eager</a:t>
            </a:r>
            <a:r>
              <a:rPr lang="pt-BR" b="1" i="1" baseline="0" dirty="0"/>
              <a:t> learning</a:t>
            </a:r>
            <a:r>
              <a:rPr lang="pt-BR" dirty="0"/>
              <a:t>, em que o sistema tenta generalizar os dados de treinamento antes de receber consultas.</a:t>
            </a:r>
          </a:p>
          <a:p>
            <a:endParaRPr lang="pt-BR" dirty="0"/>
          </a:p>
          <a:p>
            <a:r>
              <a:rPr lang="pt-BR" b="1" i="1" dirty="0" err="1"/>
              <a:t>Eager</a:t>
            </a:r>
            <a:r>
              <a:rPr lang="pt-BR" b="1" i="1" baseline="0" dirty="0"/>
              <a:t> learning </a:t>
            </a:r>
            <a:r>
              <a:rPr lang="pt-BR" dirty="0"/>
              <a:t>tem uma etapa de treinamento</a:t>
            </a:r>
            <a:r>
              <a:rPr lang="pt-BR" baseline="0" dirty="0"/>
              <a:t> </a:t>
            </a:r>
            <a:r>
              <a:rPr lang="pt-BR" dirty="0"/>
              <a:t>do modelo. </a:t>
            </a:r>
            <a:r>
              <a:rPr lang="pt-BR" b="1" i="1" dirty="0" err="1"/>
              <a:t>Lazy</a:t>
            </a:r>
            <a:r>
              <a:rPr lang="pt-BR" b="1" i="1" dirty="0"/>
              <a:t> learning </a:t>
            </a:r>
            <a:r>
              <a:rPr lang="pt-BR" dirty="0"/>
              <a:t>não tem uma fase de treinamento.</a:t>
            </a:r>
          </a:p>
          <a:p>
            <a:endParaRPr lang="pt-BR" dirty="0"/>
          </a:p>
          <a:p>
            <a:r>
              <a:rPr lang="pt-BR" sz="1200" b="0" i="0" kern="1200" dirty="0">
                <a:solidFill>
                  <a:schemeClr val="tx1"/>
                </a:solidFill>
                <a:effectLst/>
                <a:latin typeface="+mn-lt"/>
                <a:ea typeface="+mn-ea"/>
                <a:cs typeface="+mn-cs"/>
              </a:rPr>
              <a:t>O KNN é frequentemente considerado um algoritmo de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(aprendizado preguiçoso) devido à sua abordagem peculiar de treinamento. A ideia por trás do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é que o algoritmo não faz nenhuma etapa explícita de aprendizado durante a fase de treinamento. Em vez disso, todo o aprendizado é adiado até a fase de teste, quando um novo ponto de dados é apresentado.</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No caso do KNN, durante a fase de treinamento, o algoritmo simplesmente armazena o conjunto de dados de treinamento para posterior referência. Ele não calcula nenhum modelo ou estimativa de parâmetros como outros algoritmos de aprendizado, como regressão linear ou redes neurais.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aprendizagem ocorre durante a fase de teste, quando um novo ponto de dados precisa ser classificado ou estimado. Nesse momento, o algoritmo calcula as distâncias desse novo ponto em relação a todos os exemplos de treinamento armazenados. Com base nas K amostras de treinamento mais próximas (vizinhos), o KNN atribui uma classe ou valor ao novo ponto.</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17</a:t>
            </a:fld>
            <a:endParaRPr lang="pt-BR"/>
          </a:p>
        </p:txBody>
      </p:sp>
    </p:spTree>
    <p:extLst>
      <p:ext uri="{BB962C8B-B14F-4D97-AF65-F5344CB8AC3E}">
        <p14:creationId xmlns:p14="http://schemas.microsoft.com/office/powerpoint/2010/main" val="380297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b="1" i="1" dirty="0" err="1"/>
              <a:t>lazy</a:t>
            </a:r>
            <a:r>
              <a:rPr lang="pt-BR" b="1" i="1" dirty="0"/>
              <a:t> learning </a:t>
            </a:r>
            <a:r>
              <a:rPr lang="pt-BR" dirty="0"/>
              <a:t>é uma</a:t>
            </a:r>
            <a:r>
              <a:rPr lang="pt-BR" baseline="0" dirty="0"/>
              <a:t> abordagem </a:t>
            </a:r>
            <a:r>
              <a:rPr lang="pt-BR" dirty="0"/>
              <a:t>de aprendizado no qual a generalização dos dados de treinamento é, em teoria, atrasada até que uma consulta seja feita ao sistema, em oposição ao </a:t>
            </a:r>
            <a:r>
              <a:rPr lang="pt-BR" b="1" i="1" dirty="0" err="1"/>
              <a:t>eager</a:t>
            </a:r>
            <a:r>
              <a:rPr lang="pt-BR" b="1" i="1" baseline="0" dirty="0"/>
              <a:t> learning</a:t>
            </a:r>
            <a:r>
              <a:rPr lang="pt-BR" dirty="0"/>
              <a:t>, em que o sistema tenta generalizar os dados de treinamento antes de receber consultas.</a:t>
            </a:r>
          </a:p>
          <a:p>
            <a:endParaRPr lang="pt-BR" dirty="0"/>
          </a:p>
          <a:p>
            <a:r>
              <a:rPr lang="pt-BR" b="1" i="1" dirty="0" err="1"/>
              <a:t>Eager</a:t>
            </a:r>
            <a:r>
              <a:rPr lang="pt-BR" b="1" i="1" baseline="0" dirty="0"/>
              <a:t> learning </a:t>
            </a:r>
            <a:r>
              <a:rPr lang="pt-BR" dirty="0"/>
              <a:t>tem uma etapa de treinamento</a:t>
            </a:r>
            <a:r>
              <a:rPr lang="pt-BR" baseline="0" dirty="0"/>
              <a:t> </a:t>
            </a:r>
            <a:r>
              <a:rPr lang="pt-BR" dirty="0"/>
              <a:t>do modelo. </a:t>
            </a:r>
            <a:r>
              <a:rPr lang="pt-BR" b="1" i="1" dirty="0" err="1"/>
              <a:t>Lazy</a:t>
            </a:r>
            <a:r>
              <a:rPr lang="pt-BR" b="1" i="1" dirty="0"/>
              <a:t> learning </a:t>
            </a:r>
            <a:r>
              <a:rPr lang="pt-BR" dirty="0"/>
              <a:t>não tem uma fase de treinamento.</a:t>
            </a:r>
          </a:p>
          <a:p>
            <a:endParaRPr lang="pt-BR" dirty="0"/>
          </a:p>
          <a:p>
            <a:r>
              <a:rPr lang="pt-BR" sz="1200" b="0" i="0" kern="1200" dirty="0">
                <a:solidFill>
                  <a:schemeClr val="tx1"/>
                </a:solidFill>
                <a:effectLst/>
                <a:latin typeface="+mn-lt"/>
                <a:ea typeface="+mn-ea"/>
                <a:cs typeface="+mn-cs"/>
              </a:rPr>
              <a:t>O KNN é frequentemente considerado um algoritmo de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(aprendizado preguiçoso) devido à sua abordagem peculiar de treinamento. A ideia por trás do </a:t>
            </a:r>
            <a:r>
              <a:rPr lang="pt-BR" sz="1200" b="0" i="0" kern="1200" dirty="0" err="1">
                <a:solidFill>
                  <a:schemeClr val="tx1"/>
                </a:solidFill>
                <a:effectLst/>
                <a:latin typeface="+mn-lt"/>
                <a:ea typeface="+mn-ea"/>
                <a:cs typeface="+mn-cs"/>
              </a:rPr>
              <a:t>lazy</a:t>
            </a:r>
            <a:r>
              <a:rPr lang="pt-BR" sz="1200" b="0" i="0" kern="1200" dirty="0">
                <a:solidFill>
                  <a:schemeClr val="tx1"/>
                </a:solidFill>
                <a:effectLst/>
                <a:latin typeface="+mn-lt"/>
                <a:ea typeface="+mn-ea"/>
                <a:cs typeface="+mn-cs"/>
              </a:rPr>
              <a:t> learning é que o algoritmo não faz nenhuma etapa explícita de aprendizado durante a fase de treinamento. Em vez disso, todo o aprendizado é adiado até a fase de teste, quando um novo ponto de dados é apresentado.</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No caso do KNN, durante a fase de treinamento, o algoritmo simplesmente armazena o conjunto de dados de treinamento para posterior referência. Ele não calcula nenhum modelo ou estimativa de parâmetros como outros algoritmos de aprendizado, como regressão linear ou redes neurais.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aprendizagem ocorre durante a fase de teste, quando um novo ponto de dados precisa ser classificado ou estimado. Nesse momento, o algoritmo calcula as distâncias desse novo ponto em relação a todos os exemplos de treinamento armazenados. Com base nas K amostras de treinamento mais próximas (vizinhos), o KNN atribui uma classe ou valor ao novo ponto.</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18</a:t>
            </a:fld>
            <a:endParaRPr lang="pt-BR"/>
          </a:p>
        </p:txBody>
      </p:sp>
    </p:spTree>
    <p:extLst>
      <p:ext uri="{BB962C8B-B14F-4D97-AF65-F5344CB8AC3E}">
        <p14:creationId xmlns:p14="http://schemas.microsoft.com/office/powerpoint/2010/main" val="4049674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https://www.baeldung.com/cs/k-nearest-neighbors</a:t>
            </a:r>
          </a:p>
          <a:p>
            <a:r>
              <a:rPr lang="pt-BR" dirty="0"/>
              <a:t>[2] https://medium.com/@soumiksanku08/curse-of-dimensionality-293d0d16fe2a</a:t>
            </a:r>
          </a:p>
          <a:p>
            <a:r>
              <a:rPr lang="pt-BR" dirty="0"/>
              <a:t>[3] https://www.geeksforgeeks.org/k-nearest-neighbors-and-curse-of-dimensionality/</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19</a:t>
            </a:fld>
            <a:endParaRPr lang="pt-BR"/>
          </a:p>
        </p:txBody>
      </p:sp>
    </p:spTree>
    <p:extLst>
      <p:ext uri="{BB962C8B-B14F-4D97-AF65-F5344CB8AC3E}">
        <p14:creationId xmlns:p14="http://schemas.microsoft.com/office/powerpoint/2010/main" val="948001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Aumento da </a:t>
            </a:r>
            <a:r>
              <a:rPr lang="pt-BR" dirty="0" err="1"/>
              <a:t>Esparsidade</a:t>
            </a:r>
            <a:r>
              <a:rPr lang="pt-BR" dirty="0"/>
              <a:t>: À medida que o número de dimensões aumenta, o volume do espaço cresce exponencialmente. Consequentemente, os dados disponíveis tornam-se mais esparsos, o que significa que os pontos de dados ficam mais distantes uns dos outros. Essa </a:t>
            </a:r>
            <a:r>
              <a:rPr lang="pt-BR" dirty="0" err="1"/>
              <a:t>esparsidade</a:t>
            </a:r>
            <a:r>
              <a:rPr lang="pt-BR" dirty="0"/>
              <a:t> pode dificultar a busca por vizinhos mais próximos significativos, pois pode haver menos pontos vizinhos dentro de uma determinada distância.</a:t>
            </a:r>
          </a:p>
          <a:p>
            <a:endParaRPr lang="pt-BR" dirty="0"/>
          </a:p>
          <a:p>
            <a:r>
              <a:rPr lang="pt-BR" dirty="0"/>
              <a:t>Distâncias Iguais: Em espaços de alta dimensionalidade, o conceito de distância torna-se menos significativo. À medida que o número de dimensões aumenta, a distância entre quaisquer dois pontos tende a se tornar mais uniforme, ou equidistante. Esse fenômeno ocorre porque a influência de qualquer dimensão individual diminui à medida que o número de dimensões cresce, levando os pontos a se distribuírem de forma mais uniforme pelo espaço.</a:t>
            </a:r>
          </a:p>
          <a:p>
            <a:endParaRPr lang="pt-BR" dirty="0"/>
          </a:p>
          <a:p>
            <a:r>
              <a:rPr lang="pt-BR" dirty="0"/>
              <a:t>Desempenho Degradado: O KNN baseia-se na suposição de que pontos próximos no espaço de características provavelmente têm rótulos semelhantes. No entanto, em espaços de alta dimensionalidade, essa suposição pode não ser mais verdadeira devido ao aumento da </a:t>
            </a:r>
            <a:r>
              <a:rPr lang="pt-BR" dirty="0" err="1"/>
              <a:t>esparsidade</a:t>
            </a:r>
            <a:r>
              <a:rPr lang="pt-BR" dirty="0"/>
              <a:t> e à equalização das distâncias. Como resultado, o KNN pode ter dificuldades em classificar pontos de dados com precisão, levando a uma queda no desempenho.</a:t>
            </a:r>
          </a:p>
          <a:p>
            <a:endParaRPr lang="pt-BR" dirty="0"/>
          </a:p>
          <a:p>
            <a:r>
              <a:rPr lang="pt-BR" dirty="0"/>
              <a:t>Referências</a:t>
            </a:r>
          </a:p>
          <a:p>
            <a:r>
              <a:rPr lang="pt-BR" dirty="0"/>
              <a:t>[1] https://www.baeldung.com/cs/k-nearest-neighbors</a:t>
            </a:r>
          </a:p>
          <a:p>
            <a:r>
              <a:rPr lang="pt-BR" dirty="0"/>
              <a:t>[2] https://medium.com/@soumiksanku08/curse-of-dimensionality-293d0d16fe2a</a:t>
            </a:r>
          </a:p>
          <a:p>
            <a:r>
              <a:rPr lang="pt-BR" dirty="0"/>
              <a:t>[3] https://www.geeksforgeeks.org/k-nearest-neighbors-and-curse-of-dimensionality/</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20</a:t>
            </a:fld>
            <a:endParaRPr lang="pt-BR"/>
          </a:p>
        </p:txBody>
      </p:sp>
    </p:spTree>
    <p:extLst>
      <p:ext uri="{BB962C8B-B14F-4D97-AF65-F5344CB8AC3E}">
        <p14:creationId xmlns:p14="http://schemas.microsoft.com/office/powerpoint/2010/main" val="341604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Aumento da </a:t>
            </a:r>
            <a:r>
              <a:rPr lang="pt-BR" dirty="0" err="1"/>
              <a:t>Esparsidade</a:t>
            </a:r>
            <a:r>
              <a:rPr lang="pt-BR" dirty="0"/>
              <a:t>: À medida que o número de dimensões aumenta, o volume do espaço cresce exponencialmente. Consequentemente, os dados disponíveis tornam-se mais esparsos, o que significa que os pontos de dados ficam mais distantes uns dos outros. Essa </a:t>
            </a:r>
            <a:r>
              <a:rPr lang="pt-BR" dirty="0" err="1"/>
              <a:t>esparsidade</a:t>
            </a:r>
            <a:r>
              <a:rPr lang="pt-BR" dirty="0"/>
              <a:t> pode dificultar a busca por vizinhos mais próximos significativos, pois pode haver menos pontos vizinhos dentro de uma determinada distância.</a:t>
            </a:r>
          </a:p>
          <a:p>
            <a:endParaRPr lang="pt-BR" dirty="0"/>
          </a:p>
          <a:p>
            <a:r>
              <a:rPr lang="pt-BR" dirty="0"/>
              <a:t>Distâncias Iguais: Em espaços de alta dimensionalidade, o conceito de distância torna-se menos significativo. À medida que o número de dimensões aumenta, a distância entre quaisquer dois pontos tende a se tornar mais uniforme, ou equidistante. Esse fenômeno ocorre porque a influência de qualquer dimensão individual diminui à medida que o número de dimensões cresce, levando os pontos a se distribuírem de forma mais uniforme pelo espaço.</a:t>
            </a:r>
          </a:p>
          <a:p>
            <a:endParaRPr lang="pt-BR" dirty="0"/>
          </a:p>
          <a:p>
            <a:r>
              <a:rPr lang="pt-BR" dirty="0"/>
              <a:t>Desempenho Degradado: O KNN baseia-se na suposição de que pontos próximos no espaço de características provavelmente têm rótulos semelhantes. No entanto, em espaços de alta dimensionalidade, essa suposição pode não ser mais verdadeira devido ao aumento da </a:t>
            </a:r>
            <a:r>
              <a:rPr lang="pt-BR" dirty="0" err="1"/>
              <a:t>esparsidade</a:t>
            </a:r>
            <a:r>
              <a:rPr lang="pt-BR" dirty="0"/>
              <a:t> e à equalização das distâncias. Como resultado, o KNN pode ter dificuldades em classificar pontos de dados com precisão, levando a uma queda no desempenho.</a:t>
            </a:r>
          </a:p>
          <a:p>
            <a:endParaRPr lang="pt-BR" dirty="0"/>
          </a:p>
          <a:p>
            <a:r>
              <a:rPr lang="pt-BR" dirty="0"/>
              <a:t>Referências</a:t>
            </a:r>
          </a:p>
          <a:p>
            <a:r>
              <a:rPr lang="pt-BR" dirty="0"/>
              <a:t>[1] https://www.baeldung.com/cs/k-nearest-neighbors</a:t>
            </a:r>
          </a:p>
          <a:p>
            <a:r>
              <a:rPr lang="pt-BR" dirty="0"/>
              <a:t>[2] https://medium.com/@soumiksanku08/curse-of-dimensionality-293d0d16fe2a</a:t>
            </a:r>
          </a:p>
          <a:p>
            <a:r>
              <a:rPr lang="pt-BR" dirty="0"/>
              <a:t>[3] https://www.geeksforgeeks.org/k-nearest-neighbors-and-curse-of-dimensionality/</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21</a:t>
            </a:fld>
            <a:endParaRPr lang="pt-BR"/>
          </a:p>
        </p:txBody>
      </p:sp>
    </p:spTree>
    <p:extLst>
      <p:ext uri="{BB962C8B-B14F-4D97-AF65-F5344CB8AC3E}">
        <p14:creationId xmlns:p14="http://schemas.microsoft.com/office/powerpoint/2010/main" val="2971503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Aumento da </a:t>
            </a:r>
            <a:r>
              <a:rPr lang="pt-BR" dirty="0" err="1"/>
              <a:t>Esparsidade</a:t>
            </a:r>
            <a:r>
              <a:rPr lang="pt-BR" dirty="0"/>
              <a:t>: À medida que o número de dimensões aumenta, o volume do espaço cresce exponencialmente. Consequentemente, os dados disponíveis tornam-se mais esparsos, o que significa que os pontos de dados ficam mais distantes uns dos outros. Essa </a:t>
            </a:r>
            <a:r>
              <a:rPr lang="pt-BR" dirty="0" err="1"/>
              <a:t>esparsidade</a:t>
            </a:r>
            <a:r>
              <a:rPr lang="pt-BR" dirty="0"/>
              <a:t> pode dificultar a busca por vizinhos mais próximos significativos, pois pode haver menos pontos vizinhos dentro de uma determinada distância.</a:t>
            </a:r>
          </a:p>
          <a:p>
            <a:endParaRPr lang="pt-BR" dirty="0"/>
          </a:p>
          <a:p>
            <a:r>
              <a:rPr lang="pt-BR" dirty="0"/>
              <a:t>Distâncias Iguais: Em espaços de alta dimensionalidade, o conceito de distância torna-se menos significativo. À medida que o número de dimensões aumenta, a distância entre quaisquer dois pontos tende a se tornar mais uniforme, ou equidistante. Esse fenômeno ocorre porque a influência de qualquer dimensão individual diminui à medida que o número de dimensões cresce, levando os pontos a se distribuírem de forma mais uniforme pelo espaço.</a:t>
            </a:r>
          </a:p>
          <a:p>
            <a:endParaRPr lang="pt-BR" dirty="0"/>
          </a:p>
          <a:p>
            <a:r>
              <a:rPr lang="pt-BR" dirty="0"/>
              <a:t>Desempenho Degradado: O KNN baseia-se na suposição de que pontos próximos no espaço de características provavelmente têm rótulos semelhantes. No entanto, em espaços de alta dimensionalidade, essa suposição pode não ser mais verdadeira devido ao aumento da </a:t>
            </a:r>
            <a:r>
              <a:rPr lang="pt-BR" dirty="0" err="1"/>
              <a:t>esparsidade</a:t>
            </a:r>
            <a:r>
              <a:rPr lang="pt-BR" dirty="0"/>
              <a:t> e à equalização das distâncias. Como resultado, o KNN pode ter dificuldades em classificar pontos de dados com precisão, levando a uma queda no desempenho.</a:t>
            </a:r>
          </a:p>
          <a:p>
            <a:endParaRPr lang="pt-BR" dirty="0"/>
          </a:p>
          <a:p>
            <a:r>
              <a:rPr lang="pt-BR" dirty="0"/>
              <a:t>Referências</a:t>
            </a:r>
          </a:p>
          <a:p>
            <a:r>
              <a:rPr lang="pt-BR" dirty="0"/>
              <a:t>[1] https://www.baeldung.com/cs/k-nearest-neighbors</a:t>
            </a:r>
          </a:p>
          <a:p>
            <a:r>
              <a:rPr lang="pt-BR" dirty="0"/>
              <a:t>[2] https://medium.com/@soumiksanku08/curse-of-dimensionality-293d0d16fe2a</a:t>
            </a:r>
          </a:p>
          <a:p>
            <a:r>
              <a:rPr lang="pt-BR" dirty="0"/>
              <a:t>[3] https://www.geeksforgeeks.org/k-nearest-neighbors-and-curse-of-dimensionality/</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22</a:t>
            </a:fld>
            <a:endParaRPr lang="pt-BR"/>
          </a:p>
        </p:txBody>
      </p:sp>
    </p:spTree>
    <p:extLst>
      <p:ext uri="{BB962C8B-B14F-4D97-AF65-F5344CB8AC3E}">
        <p14:creationId xmlns:p14="http://schemas.microsoft.com/office/powerpoint/2010/main" val="932795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Aumento da </a:t>
            </a:r>
            <a:r>
              <a:rPr lang="pt-BR" dirty="0" err="1"/>
              <a:t>Esparsidade</a:t>
            </a:r>
            <a:r>
              <a:rPr lang="pt-BR" dirty="0"/>
              <a:t>: À medida que o número de dimensões aumenta, o volume do espaço cresce exponencialmente. Consequentemente, os dados disponíveis tornam-se mais esparsos, o que significa que os pontos de dados ficam mais distantes uns dos outros. Essa </a:t>
            </a:r>
            <a:r>
              <a:rPr lang="pt-BR" dirty="0" err="1"/>
              <a:t>esparsidade</a:t>
            </a:r>
            <a:r>
              <a:rPr lang="pt-BR" dirty="0"/>
              <a:t> pode dificultar a busca por vizinhos mais próximos significativos, pois pode haver menos pontos vizinhos dentro de uma determinada distância.</a:t>
            </a:r>
          </a:p>
          <a:p>
            <a:endParaRPr lang="pt-BR" dirty="0"/>
          </a:p>
          <a:p>
            <a:r>
              <a:rPr lang="pt-BR" dirty="0"/>
              <a:t>Distâncias Iguais: Em espaços de alta dimensionalidade, o conceito de distância torna-se menos significativo. À medida que o número de dimensões aumenta, a distância entre quaisquer dois pontos tende a se tornar mais uniforme, ou equidistante. Esse fenômeno ocorre porque a influência de qualquer dimensão individual diminui à medida que o número de dimensões cresce, levando os pontos a se distribuírem de forma mais uniforme pelo espaço.</a:t>
            </a:r>
          </a:p>
          <a:p>
            <a:endParaRPr lang="pt-BR" dirty="0"/>
          </a:p>
          <a:p>
            <a:r>
              <a:rPr lang="pt-BR" dirty="0"/>
              <a:t>Desempenho Degradado: O KNN baseia-se na suposição de que pontos próximos no espaço de características provavelmente têm rótulos semelhantes. No entanto, em espaços de alta dimensionalidade, essa suposição pode não ser mais verdadeira devido ao aumento da </a:t>
            </a:r>
            <a:r>
              <a:rPr lang="pt-BR" dirty="0" err="1"/>
              <a:t>esparsidade</a:t>
            </a:r>
            <a:r>
              <a:rPr lang="pt-BR" dirty="0"/>
              <a:t> e à equalização das distâncias. Como resultado, o KNN pode ter dificuldades em classificar pontos de dados com precisão, levando a uma queda no desempenho.</a:t>
            </a:r>
          </a:p>
          <a:p>
            <a:endParaRPr lang="pt-BR" dirty="0"/>
          </a:p>
          <a:p>
            <a:r>
              <a:rPr lang="pt-BR" dirty="0"/>
              <a:t>Referências</a:t>
            </a:r>
          </a:p>
          <a:p>
            <a:r>
              <a:rPr lang="pt-BR" dirty="0"/>
              <a:t>[1] https://www.baeldung.com/cs/k-nearest-neighbors</a:t>
            </a:r>
          </a:p>
          <a:p>
            <a:r>
              <a:rPr lang="pt-BR" dirty="0"/>
              <a:t>[2] https://medium.com/@soumiksanku08/curse-of-dimensionality-293d0d16fe2a</a:t>
            </a:r>
          </a:p>
          <a:p>
            <a:r>
              <a:rPr lang="pt-BR" dirty="0"/>
              <a:t>[3] https://www.geeksforgeeks.org/k-nearest-neighbors-and-curse-of-dimensionality/</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23</a:t>
            </a:fld>
            <a:endParaRPr lang="pt-BR"/>
          </a:p>
        </p:txBody>
      </p:sp>
    </p:spTree>
    <p:extLst>
      <p:ext uri="{BB962C8B-B14F-4D97-AF65-F5344CB8AC3E}">
        <p14:creationId xmlns:p14="http://schemas.microsoft.com/office/powerpoint/2010/main" val="3797708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b="1" dirty="0"/>
              <a:t>Desigualdade de Triângulos</a:t>
            </a:r>
            <a:r>
              <a:rPr lang="pt-BR" b="0" dirty="0"/>
              <a:t>:</a:t>
            </a:r>
            <a:r>
              <a:rPr lang="pt-BR" b="0" baseline="0" dirty="0"/>
              <a:t> s</a:t>
            </a:r>
            <a:r>
              <a:rPr lang="pt-BR" b="0" dirty="0"/>
              <a:t>e a distância é uma norma, a distância calculada entre dois pontos será sempre uma linha reta.</a:t>
            </a:r>
          </a:p>
          <a:p>
            <a:pPr marL="171450" indent="-171450">
              <a:buFont typeface="Arial" panose="020B0604020202020204" pitchFamily="34" charset="0"/>
              <a:buChar char="•"/>
            </a:pPr>
            <a:r>
              <a:rPr lang="pt-BR" b="0" dirty="0"/>
              <a:t>O</a:t>
            </a:r>
            <a:r>
              <a:rPr lang="pt-BR" b="0" baseline="0" dirty="0"/>
              <a:t> </a:t>
            </a:r>
            <a:r>
              <a:rPr lang="pt-BR" b="1" baseline="0" dirty="0"/>
              <a:t>v</a:t>
            </a:r>
            <a:r>
              <a:rPr lang="pt-BR" b="1" dirty="0"/>
              <a:t>etor</a:t>
            </a:r>
            <a:r>
              <a:rPr lang="pt-BR" b="1" baseline="0" dirty="0"/>
              <a:t> nulo </a:t>
            </a:r>
            <a:r>
              <a:rPr lang="pt-BR" baseline="0" dirty="0"/>
              <a:t>tem comprimento nulo, ou seja, norma nula.</a:t>
            </a:r>
          </a:p>
          <a:p>
            <a:pPr marL="171450" indent="-171450">
              <a:buFont typeface="Arial" panose="020B0604020202020204" pitchFamily="34" charset="0"/>
              <a:buChar char="•"/>
            </a:pPr>
            <a:r>
              <a:rPr lang="pt-BR" b="1" baseline="0" dirty="0"/>
              <a:t>Fator de escala</a:t>
            </a:r>
            <a:r>
              <a:rPr lang="pt-BR" baseline="0" dirty="0"/>
              <a:t>, a: a direção do vetor não muda quando você o multiplica por um número positivo, embora seu comprimento seja alterado.</a:t>
            </a:r>
          </a:p>
          <a:p>
            <a:pPr marL="171450" indent="-171450">
              <a:buFont typeface="Arial" panose="020B0604020202020204" pitchFamily="34" charset="0"/>
              <a:buChar char="•"/>
            </a:pPr>
            <a:endParaRPr lang="pt-BR" baseline="0" dirty="0"/>
          </a:p>
          <a:p>
            <a:pPr marL="0" indent="0">
              <a:buFont typeface="Arial" panose="020B0604020202020204" pitchFamily="34" charset="0"/>
              <a:buNone/>
            </a:pPr>
            <a:r>
              <a:rPr lang="pt-BR" baseline="0" dirty="0"/>
              <a:t>Observe que as propriedades acima não determinam uma forma única de uma função de norma, de fato, existem muitas normas válidas diferentes. </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24</a:t>
            </a:fld>
            <a:endParaRPr lang="pt-BR"/>
          </a:p>
        </p:txBody>
      </p:sp>
    </p:spTree>
    <p:extLst>
      <p:ext uri="{BB962C8B-B14F-4D97-AF65-F5344CB8AC3E}">
        <p14:creationId xmlns:p14="http://schemas.microsoft.com/office/powerpoint/2010/main" val="2076444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b="1" dirty="0"/>
              <a:t>Desigualdade de Triângulos</a:t>
            </a:r>
            <a:r>
              <a:rPr lang="pt-BR" b="0" dirty="0"/>
              <a:t>:</a:t>
            </a:r>
            <a:r>
              <a:rPr lang="pt-BR" b="0" baseline="0" dirty="0"/>
              <a:t> s</a:t>
            </a:r>
            <a:r>
              <a:rPr lang="pt-BR" b="0" dirty="0"/>
              <a:t>e a distância é uma norma, a distância calculada entre dois pontos será sempre uma linha reta.</a:t>
            </a:r>
          </a:p>
          <a:p>
            <a:pPr marL="171450" indent="-171450">
              <a:buFont typeface="Arial" panose="020B0604020202020204" pitchFamily="34" charset="0"/>
              <a:buChar char="•"/>
            </a:pPr>
            <a:r>
              <a:rPr lang="pt-BR" b="0" dirty="0"/>
              <a:t>O</a:t>
            </a:r>
            <a:r>
              <a:rPr lang="pt-BR" b="0" baseline="0" dirty="0"/>
              <a:t> </a:t>
            </a:r>
            <a:r>
              <a:rPr lang="pt-BR" b="1" baseline="0" dirty="0"/>
              <a:t>v</a:t>
            </a:r>
            <a:r>
              <a:rPr lang="pt-BR" b="1" dirty="0"/>
              <a:t>etor</a:t>
            </a:r>
            <a:r>
              <a:rPr lang="pt-BR" b="1" baseline="0" dirty="0"/>
              <a:t> nulo </a:t>
            </a:r>
            <a:r>
              <a:rPr lang="pt-BR" baseline="0" dirty="0"/>
              <a:t>tem comprimento nulo, ou seja, norma nula.</a:t>
            </a:r>
          </a:p>
          <a:p>
            <a:pPr marL="171450" indent="-171450">
              <a:buFont typeface="Arial" panose="020B0604020202020204" pitchFamily="34" charset="0"/>
              <a:buChar char="•"/>
            </a:pPr>
            <a:r>
              <a:rPr lang="pt-BR" b="1" baseline="0" dirty="0"/>
              <a:t>Fator de escala</a:t>
            </a:r>
            <a:r>
              <a:rPr lang="pt-BR" baseline="0" dirty="0"/>
              <a:t>, a: a direção do vetor não muda quando você o multiplica por um número positivo, embora seu comprimento seja alterado.</a:t>
            </a:r>
          </a:p>
          <a:p>
            <a:pPr marL="171450" indent="-171450">
              <a:buFont typeface="Arial" panose="020B0604020202020204" pitchFamily="34" charset="0"/>
              <a:buChar char="•"/>
            </a:pPr>
            <a:endParaRPr lang="pt-BR" baseline="0" dirty="0"/>
          </a:p>
          <a:p>
            <a:pPr marL="0" indent="0">
              <a:buFont typeface="Arial" panose="020B0604020202020204" pitchFamily="34" charset="0"/>
              <a:buNone/>
            </a:pPr>
            <a:r>
              <a:rPr lang="pt-BR" baseline="0" dirty="0"/>
              <a:t>Observe que as propriedades acima não determinam uma forma única de uma função de norma, de fato, existem muitas normas válidas diferentes. </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25</a:t>
            </a:fld>
            <a:endParaRPr lang="pt-BR"/>
          </a:p>
        </p:txBody>
      </p:sp>
    </p:spTree>
    <p:extLst>
      <p:ext uri="{BB962C8B-B14F-4D97-AF65-F5344CB8AC3E}">
        <p14:creationId xmlns:p14="http://schemas.microsoft.com/office/powerpoint/2010/main" val="528659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b="1" dirty="0"/>
              <a:t>Desigualdade de Triângulos</a:t>
            </a:r>
            <a:r>
              <a:rPr lang="pt-BR" b="0" dirty="0"/>
              <a:t>:</a:t>
            </a:r>
            <a:r>
              <a:rPr lang="pt-BR" b="0" baseline="0" dirty="0"/>
              <a:t> s</a:t>
            </a:r>
            <a:r>
              <a:rPr lang="pt-BR" b="0" dirty="0"/>
              <a:t>e a distância é uma norma, a distância calculada entre dois pontos será sempre uma linha reta.</a:t>
            </a:r>
          </a:p>
          <a:p>
            <a:pPr marL="171450" indent="-171450">
              <a:buFont typeface="Arial" panose="020B0604020202020204" pitchFamily="34" charset="0"/>
              <a:buChar char="•"/>
            </a:pPr>
            <a:r>
              <a:rPr lang="pt-BR" b="0" dirty="0"/>
              <a:t>O</a:t>
            </a:r>
            <a:r>
              <a:rPr lang="pt-BR" b="0" baseline="0" dirty="0"/>
              <a:t> </a:t>
            </a:r>
            <a:r>
              <a:rPr lang="pt-BR" b="1" baseline="0" dirty="0"/>
              <a:t>v</a:t>
            </a:r>
            <a:r>
              <a:rPr lang="pt-BR" b="1" dirty="0"/>
              <a:t>etor</a:t>
            </a:r>
            <a:r>
              <a:rPr lang="pt-BR" b="1" baseline="0" dirty="0"/>
              <a:t> nulo </a:t>
            </a:r>
            <a:r>
              <a:rPr lang="pt-BR" baseline="0" dirty="0"/>
              <a:t>tem comprimento nulo, ou seja, norma nula.</a:t>
            </a:r>
          </a:p>
          <a:p>
            <a:pPr marL="171450" indent="-171450">
              <a:buFont typeface="Arial" panose="020B0604020202020204" pitchFamily="34" charset="0"/>
              <a:buChar char="•"/>
            </a:pPr>
            <a:r>
              <a:rPr lang="pt-BR" b="1" baseline="0" dirty="0"/>
              <a:t>Fator de escala</a:t>
            </a:r>
            <a:r>
              <a:rPr lang="pt-BR" baseline="0" dirty="0"/>
              <a:t>, a: a direção do vetor não muda quando você o multiplica por um número positivo, embora seu comprimento seja alterado.</a:t>
            </a:r>
          </a:p>
          <a:p>
            <a:pPr marL="171450" indent="-171450">
              <a:buFont typeface="Arial" panose="020B0604020202020204" pitchFamily="34" charset="0"/>
              <a:buChar char="•"/>
            </a:pPr>
            <a:endParaRPr lang="pt-BR" baseline="0" dirty="0"/>
          </a:p>
          <a:p>
            <a:pPr marL="0" indent="0">
              <a:buFont typeface="Arial" panose="020B0604020202020204" pitchFamily="34" charset="0"/>
              <a:buNone/>
            </a:pPr>
            <a:r>
              <a:rPr lang="pt-BR" baseline="0" dirty="0"/>
              <a:t>Observe que as propriedades acima não determinam uma forma única de uma função de norma, de fato, existem muitas normas válidas diferentes. </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26</a:t>
            </a:fld>
            <a:endParaRPr lang="pt-BR"/>
          </a:p>
        </p:txBody>
      </p:sp>
    </p:spTree>
    <p:extLst>
      <p:ext uri="{BB962C8B-B14F-4D97-AF65-F5344CB8AC3E}">
        <p14:creationId xmlns:p14="http://schemas.microsoft.com/office/powerpoint/2010/main" val="1123009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b="1" dirty="0"/>
              <a:t>Desigualdade de Triângulos</a:t>
            </a:r>
            <a:r>
              <a:rPr lang="pt-BR" b="0" dirty="0"/>
              <a:t>:</a:t>
            </a:r>
            <a:r>
              <a:rPr lang="pt-BR" b="0" baseline="0" dirty="0"/>
              <a:t> s</a:t>
            </a:r>
            <a:r>
              <a:rPr lang="pt-BR" b="0" dirty="0"/>
              <a:t>e a distância é uma norma, a distância calculada entre dois pontos será sempre uma linha reta.</a:t>
            </a:r>
          </a:p>
          <a:p>
            <a:pPr marL="171450" indent="-171450">
              <a:buFont typeface="Arial" panose="020B0604020202020204" pitchFamily="34" charset="0"/>
              <a:buChar char="•"/>
            </a:pPr>
            <a:r>
              <a:rPr lang="pt-BR" b="0" dirty="0"/>
              <a:t>O</a:t>
            </a:r>
            <a:r>
              <a:rPr lang="pt-BR" b="0" baseline="0" dirty="0"/>
              <a:t> </a:t>
            </a:r>
            <a:r>
              <a:rPr lang="pt-BR" b="1" baseline="0" dirty="0"/>
              <a:t>v</a:t>
            </a:r>
            <a:r>
              <a:rPr lang="pt-BR" b="1" dirty="0"/>
              <a:t>etor</a:t>
            </a:r>
            <a:r>
              <a:rPr lang="pt-BR" b="1" baseline="0" dirty="0"/>
              <a:t> nulo </a:t>
            </a:r>
            <a:r>
              <a:rPr lang="pt-BR" baseline="0" dirty="0"/>
              <a:t>tem comprimento nulo, ou seja, norma nula.</a:t>
            </a:r>
          </a:p>
          <a:p>
            <a:pPr marL="171450" indent="-171450">
              <a:buFont typeface="Arial" panose="020B0604020202020204" pitchFamily="34" charset="0"/>
              <a:buChar char="•"/>
            </a:pPr>
            <a:r>
              <a:rPr lang="pt-BR" b="1" baseline="0" dirty="0"/>
              <a:t>Fator de escala</a:t>
            </a:r>
            <a:r>
              <a:rPr lang="pt-BR" baseline="0" dirty="0"/>
              <a:t>, a: a direção do vetor não muda quando você o multiplica por um número positivo, embora seu comprimento seja alterado.</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aseline="0" dirty="0"/>
              <a:t>Observe que as propriedades acima não determinam uma forma única de uma função de norma, de fato, existem muitas normas válidas diferentes. </a:t>
            </a:r>
            <a:endParaRPr lang="pt-BR" dirty="0"/>
          </a:p>
          <a:p>
            <a:endParaRPr lang="pt-BR" dirty="0"/>
          </a:p>
          <a:p>
            <a:r>
              <a:rPr lang="pt-BR" sz="1200" b="1" i="0" kern="1200" dirty="0">
                <a:solidFill>
                  <a:schemeClr val="tx1"/>
                </a:solidFill>
                <a:effectLst/>
                <a:latin typeface="+mn-lt"/>
                <a:ea typeface="+mn-ea"/>
                <a:cs typeface="+mn-cs"/>
              </a:rPr>
              <a:t>O que é um espaço vetorial </a:t>
            </a:r>
            <a:r>
              <a:rPr lang="pt-BR" sz="1200" b="1" i="0" kern="1200" dirty="0" err="1">
                <a:solidFill>
                  <a:schemeClr val="tx1"/>
                </a:solidFill>
                <a:effectLst/>
                <a:latin typeface="+mn-lt"/>
                <a:ea typeface="+mn-ea"/>
                <a:cs typeface="+mn-cs"/>
              </a:rPr>
              <a:t>normado</a:t>
            </a:r>
            <a:r>
              <a:rPr lang="pt-BR" sz="1200" b="1" i="0" kern="1200" dirty="0">
                <a:solidFill>
                  <a:schemeClr val="tx1"/>
                </a:solidFill>
                <a:effectLst/>
                <a:latin typeface="+mn-lt"/>
                <a:ea typeface="+mn-ea"/>
                <a:cs typeface="+mn-cs"/>
              </a:rPr>
              <a:t>?</a:t>
            </a:r>
            <a:endParaRPr lang="pt-BR" b="1" i="0" dirty="0"/>
          </a:p>
          <a:p>
            <a:endParaRPr lang="pt-BR" dirty="0"/>
          </a:p>
          <a:p>
            <a:r>
              <a:rPr lang="pt-BR" sz="1200" b="0" i="0" kern="1200" dirty="0">
                <a:solidFill>
                  <a:schemeClr val="tx1"/>
                </a:solidFill>
                <a:effectLst/>
                <a:latin typeface="+mn-lt"/>
                <a:ea typeface="+mn-ea"/>
                <a:cs typeface="+mn-cs"/>
              </a:rPr>
              <a:t>Um espaço vetorial </a:t>
            </a:r>
            <a:r>
              <a:rPr lang="pt-BR" sz="1200" b="0" i="0" kern="1200" dirty="0" err="1">
                <a:solidFill>
                  <a:schemeClr val="tx1"/>
                </a:solidFill>
                <a:effectLst/>
                <a:latin typeface="+mn-lt"/>
                <a:ea typeface="+mn-ea"/>
                <a:cs typeface="+mn-cs"/>
              </a:rPr>
              <a:t>normado</a:t>
            </a:r>
            <a:r>
              <a:rPr lang="pt-BR" sz="1200" b="0" i="0" kern="1200" dirty="0">
                <a:solidFill>
                  <a:schemeClr val="tx1"/>
                </a:solidFill>
                <a:effectLst/>
                <a:latin typeface="+mn-lt"/>
                <a:ea typeface="+mn-ea"/>
                <a:cs typeface="+mn-cs"/>
              </a:rPr>
              <a:t> é um conjunto de vetores que possui uma função de norma associada a ele. Em termos simples, podemos pensar em um espaço vetorial </a:t>
            </a:r>
            <a:r>
              <a:rPr lang="pt-BR" sz="1200" b="0" i="0" kern="1200" dirty="0" err="1">
                <a:solidFill>
                  <a:schemeClr val="tx1"/>
                </a:solidFill>
                <a:effectLst/>
                <a:latin typeface="+mn-lt"/>
                <a:ea typeface="+mn-ea"/>
                <a:cs typeface="+mn-cs"/>
              </a:rPr>
              <a:t>normado</a:t>
            </a:r>
            <a:r>
              <a:rPr lang="pt-BR" sz="1200" b="0" i="0" kern="1200" dirty="0">
                <a:solidFill>
                  <a:schemeClr val="tx1"/>
                </a:solidFill>
                <a:effectLst/>
                <a:latin typeface="+mn-lt"/>
                <a:ea typeface="+mn-ea"/>
                <a:cs typeface="+mn-cs"/>
              </a:rPr>
              <a:t> como um espaço onde podemos medir o tamanho ou magnitude dos vetores.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A norma é uma função que mapeia cada vetor em um número real não negativo, representando o seu comprimento ou magnitude. Ela possui algumas propriedades, como a positividade (a norma de um vetor é sempre não negativa), a homogeneidade (multiplicar um vetor por um escalar não altera a sua norma) e a desigualdade triangular (a norma da soma de dois vetores é menor ou igual à soma das normas individuais).</a:t>
            </a:r>
          </a:p>
          <a:p>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Em outras palavras, um espaço vetorial </a:t>
            </a:r>
            <a:r>
              <a:rPr lang="pt-BR" sz="1200" b="0" i="0" kern="1200" dirty="0" err="1">
                <a:solidFill>
                  <a:schemeClr val="tx1"/>
                </a:solidFill>
                <a:effectLst/>
                <a:latin typeface="+mn-lt"/>
                <a:ea typeface="+mn-ea"/>
                <a:cs typeface="+mn-cs"/>
              </a:rPr>
              <a:t>normado</a:t>
            </a:r>
            <a:r>
              <a:rPr lang="pt-BR" sz="1200" b="0" i="0" kern="1200" dirty="0">
                <a:solidFill>
                  <a:schemeClr val="tx1"/>
                </a:solidFill>
                <a:effectLst/>
                <a:latin typeface="+mn-lt"/>
                <a:ea typeface="+mn-ea"/>
                <a:cs typeface="+mn-cs"/>
              </a:rPr>
              <a:t> nos permite quantificar a distância entre vetores, medir o seu tamanho relativo e estabelecer propriedades de desigualdade. Essa estrutura é fundamental em diversos campos da matemática e é amplamente utilizada em áreas como análise funcional, otimização e processamento de sinais.</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27</a:t>
            </a:fld>
            <a:endParaRPr lang="pt-BR"/>
          </a:p>
        </p:txBody>
      </p:sp>
    </p:spTree>
    <p:extLst>
      <p:ext uri="{BB962C8B-B14F-4D97-AF65-F5344CB8AC3E}">
        <p14:creationId xmlns:p14="http://schemas.microsoft.com/office/powerpoint/2010/main" val="3657906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Em resumo, a distância Euclidiana é geralmente usada quando os atributos têm uma relação linear e estão em uma escala semelhante, enquanto a distância de Manhattan é mais adequada quando os atributos não têm uma relação linear clara ou apresentam desigualdades de escala.</a:t>
            </a:r>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28</a:t>
            </a:fld>
            <a:endParaRPr lang="pt-BR"/>
          </a:p>
        </p:txBody>
      </p:sp>
    </p:spTree>
    <p:extLst>
      <p:ext uri="{BB962C8B-B14F-4D97-AF65-F5344CB8AC3E}">
        <p14:creationId xmlns:p14="http://schemas.microsoft.com/office/powerpoint/2010/main" val="28217407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Em resumo, a distância Euclidiana é geralmente usada quando os atributos têm uma relação linear e estão em uma escala semelhante, enquanto a distância de Manhattan é mais adequada quando os atributos não têm uma relação linear clara ou apresentam desigualdades de escala.</a:t>
            </a:r>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29</a:t>
            </a:fld>
            <a:endParaRPr lang="pt-BR"/>
          </a:p>
        </p:txBody>
      </p:sp>
    </p:spTree>
    <p:extLst>
      <p:ext uri="{BB962C8B-B14F-4D97-AF65-F5344CB8AC3E}">
        <p14:creationId xmlns:p14="http://schemas.microsoft.com/office/powerpoint/2010/main" val="8712466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Em resumo, a distância Euclidiana é geralmente usada quando os atributos têm uma relação linear e estão em uma escala semelhante, enquanto a distância de Manhattan é mais adequada quando os atributos não têm uma relação linear clara ou apresentam desigualdades de escala.</a:t>
            </a:r>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30</a:t>
            </a:fld>
            <a:endParaRPr lang="pt-BR"/>
          </a:p>
        </p:txBody>
      </p:sp>
    </p:spTree>
    <p:extLst>
      <p:ext uri="{BB962C8B-B14F-4D97-AF65-F5344CB8AC3E}">
        <p14:creationId xmlns:p14="http://schemas.microsoft.com/office/powerpoint/2010/main" val="12091297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Em resumo, a distância Euclidiana é geralmente usada quando os atributos têm uma relação linear e estão em uma escala semelhante, enquanto a distância de Manhattan é mais adequada quando os atributos não têm uma relação linear clara ou apresentam desigualdades de escala.</a:t>
            </a:r>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31</a:t>
            </a:fld>
            <a:endParaRPr lang="pt-BR"/>
          </a:p>
        </p:txBody>
      </p:sp>
    </p:spTree>
    <p:extLst>
      <p:ext uri="{BB962C8B-B14F-4D97-AF65-F5344CB8AC3E}">
        <p14:creationId xmlns:p14="http://schemas.microsoft.com/office/powerpoint/2010/main" val="225190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Uma desvantagem da classificação por "votação majoritária" ocorre quando a distribuição de classes é desbalanceada. Ou seja, os exemplos de uma classe mais frequente tendem a dominar a predição de</a:t>
            </a:r>
            <a:r>
              <a:rPr lang="pt-BR" baseline="0" dirty="0"/>
              <a:t> um </a:t>
            </a:r>
            <a:r>
              <a:rPr lang="pt-BR" dirty="0"/>
              <a:t>exemplo, pois tendem a ser comuns entre os k vizinhos mais próximos devido ao seu grande número. Uma forma de contornar esse problema é ponderar a classificação, levando em consideração a distância do exemplo de teste a cada um de seus k vizinhos mais próximos. A classe (ou valor, em problemas de regressão) de cada um dos k pontos mais próximos é multiplicada por um peso proporcional ao inverso da distância daquele ponto ao ponto de teste.</a:t>
            </a:r>
          </a:p>
        </p:txBody>
      </p:sp>
      <p:sp>
        <p:nvSpPr>
          <p:cNvPr id="4" name="Slide Number Placeholder 3"/>
          <p:cNvSpPr>
            <a:spLocks noGrp="1"/>
          </p:cNvSpPr>
          <p:nvPr>
            <p:ph type="sldNum" sz="quarter" idx="10"/>
          </p:nvPr>
        </p:nvSpPr>
        <p:spPr/>
        <p:txBody>
          <a:bodyPr/>
          <a:lstStyle/>
          <a:p>
            <a:fld id="{F430A2A4-8C14-4B1A-AD48-7B6401078BF7}" type="slidenum">
              <a:rPr lang="pt-BR" smtClean="0"/>
              <a:t>32</a:t>
            </a:fld>
            <a:endParaRPr lang="pt-BR"/>
          </a:p>
        </p:txBody>
      </p:sp>
    </p:spTree>
    <p:extLst>
      <p:ext uri="{BB962C8B-B14F-4D97-AF65-F5344CB8AC3E}">
        <p14:creationId xmlns:p14="http://schemas.microsoft.com/office/powerpoint/2010/main" val="3633558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desvantagem da classificação por "votação majoritária" ocorre quando a distribuição de classes é desbalanceada. Ou seja, os exemplos de uma classe mais frequente tendem a dominar a predição de</a:t>
            </a:r>
            <a:r>
              <a:rPr lang="pt-BR" baseline="0" dirty="0"/>
              <a:t> um </a:t>
            </a:r>
            <a:r>
              <a:rPr lang="pt-BR" dirty="0"/>
              <a:t>exemplo, pois tendem a ser comuns entre os k vizinhos mais próximos devido ao seu grande número. Uma forma de contornar esse problema é ponderar a classificação, levando em consideração a distância do exemplo de teste a cada um de seus k vizinhos mais próximos. A classe (ou valor, em problemas de regressão) de cada um dos k pontos mais próximos é multiplicada por um peso proporcional ao inverso da distância daquele ponto ao ponto de teste.</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33</a:t>
            </a:fld>
            <a:endParaRPr lang="pt-BR"/>
          </a:p>
        </p:txBody>
      </p:sp>
    </p:spTree>
    <p:extLst>
      <p:ext uri="{BB962C8B-B14F-4D97-AF65-F5344CB8AC3E}">
        <p14:creationId xmlns:p14="http://schemas.microsoft.com/office/powerpoint/2010/main" val="40580451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Uma desvantagem da classificação por "votação majoritária" ocorre quando a distribuição de classes é desbalanceada. Ou seja, os exemplos de uma classe mais frequente tendem a dominar a predição de</a:t>
            </a:r>
            <a:r>
              <a:rPr lang="pt-BR" baseline="0" dirty="0"/>
              <a:t> um </a:t>
            </a:r>
            <a:r>
              <a:rPr lang="pt-BR" dirty="0"/>
              <a:t>exemplo, pois tendem a ser comuns entre os k vizinhos mais próximos devido ao seu grande número. Uma forma de contornar esse problema é ponderar a classificação, levando em consideração a distância do exemplo de teste a cada um de seus k vizinhos mais próximos. A classe (ou valor, em problemas de regressão) de cada um dos k pontos mais próximos é multiplicada por um peso proporcional ao inverso da distância daquele ponto ao ponto de teste.</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34</a:t>
            </a:fld>
            <a:endParaRPr lang="pt-BR"/>
          </a:p>
        </p:txBody>
      </p:sp>
    </p:spTree>
    <p:extLst>
      <p:ext uri="{BB962C8B-B14F-4D97-AF65-F5344CB8AC3E}">
        <p14:creationId xmlns:p14="http://schemas.microsoft.com/office/powerpoint/2010/main" val="25536758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sz="12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Referencias</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1774144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05/05/2026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2086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05/05/2026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435145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0464-8C8A-49C0-859F-777E51766A35}" type="datetimeFigureOut">
              <a:rPr lang="pt-BR" smtClean="0"/>
              <a:t>05/05/2026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875213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p:cNvSpPr>
            <a:spLocks noGrp="1"/>
          </p:cNvSpPr>
          <p:nvPr>
            <p:ph type="dt" sz="half" idx="10"/>
          </p:nvPr>
        </p:nvSpPr>
        <p:spPr/>
        <p:txBody>
          <a:bodyPr/>
          <a:lstStyle/>
          <a:p>
            <a:fld id="{221D0464-8C8A-49C0-859F-777E51766A35}" type="datetimeFigureOut">
              <a:rPr lang="pt-BR" smtClean="0"/>
              <a:t>05/05/2026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96366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p:cNvSpPr>
            <a:spLocks noGrp="1"/>
          </p:cNvSpPr>
          <p:nvPr>
            <p:ph type="dt" sz="half" idx="10"/>
          </p:nvPr>
        </p:nvSpPr>
        <p:spPr/>
        <p:txBody>
          <a:bodyPr/>
          <a:lstStyle/>
          <a:p>
            <a:fld id="{221D0464-8C8A-49C0-859F-777E51766A35}" type="datetimeFigureOut">
              <a:rPr lang="pt-BR" smtClean="0"/>
              <a:t>05/05/2026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603967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Date Placeholder 2"/>
          <p:cNvSpPr>
            <a:spLocks noGrp="1"/>
          </p:cNvSpPr>
          <p:nvPr>
            <p:ph type="dt" sz="half" idx="10"/>
          </p:nvPr>
        </p:nvSpPr>
        <p:spPr/>
        <p:txBody>
          <a:bodyPr/>
          <a:lstStyle/>
          <a:p>
            <a:fld id="{221D0464-8C8A-49C0-859F-777E51766A35}" type="datetimeFigureOut">
              <a:rPr lang="pt-BR" smtClean="0"/>
              <a:t>05/05/2026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90141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0464-8C8A-49C0-859F-777E51766A35}" type="datetimeFigureOut">
              <a:rPr lang="pt-BR" smtClean="0"/>
              <a:t>05/05/2026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66525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05/05/2026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765599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05/05/2026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92106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05/05/2026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013950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05/05/2026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444589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1D0464-8C8A-49C0-859F-777E51766A35}" type="datetimeFigureOut">
              <a:rPr lang="pt-BR" smtClean="0"/>
              <a:t>05/05/2026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2E8FC-741C-4BF1-B071-7D772D706EF9}" type="slidenum">
              <a:rPr lang="pt-BR" smtClean="0"/>
              <a:t>‹nº›</a:t>
            </a:fld>
            <a:endParaRPr lang="pt-BR"/>
          </a:p>
        </p:txBody>
      </p:sp>
    </p:spTree>
    <p:extLst>
      <p:ext uri="{BB962C8B-B14F-4D97-AF65-F5344CB8AC3E}">
        <p14:creationId xmlns:p14="http://schemas.microsoft.com/office/powerpoint/2010/main" val="2060889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k-vizinhos mais próximos</a:t>
            </a:r>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2"/>
            <a:ext cx="10515600" cy="1325563"/>
          </a:xfrm>
        </p:spPr>
        <p:txBody>
          <a:bodyPr/>
          <a:lstStyle/>
          <a:p>
            <a:r>
              <a:rPr lang="pt-BR" dirty="0"/>
              <a:t>k-vizinhos mais próximos (k-NN)</a:t>
            </a:r>
          </a:p>
        </p:txBody>
      </p:sp>
      <p:sp>
        <p:nvSpPr>
          <p:cNvPr id="3" name="Content Placeholder 2"/>
          <p:cNvSpPr>
            <a:spLocks noGrp="1"/>
          </p:cNvSpPr>
          <p:nvPr>
            <p:ph idx="1"/>
          </p:nvPr>
        </p:nvSpPr>
        <p:spPr>
          <a:xfrm>
            <a:off x="6324600" y="1690688"/>
            <a:ext cx="5864064" cy="5167311"/>
          </a:xfrm>
        </p:spPr>
        <p:txBody>
          <a:bodyPr>
            <a:normAutofit/>
          </a:bodyPr>
          <a:lstStyle/>
          <a:p>
            <a:r>
              <a:rPr lang="pt-BR" dirty="0"/>
              <a:t>O algoritmo k-NN (do inglês, </a:t>
            </a:r>
            <a:r>
              <a:rPr lang="pt-BR" i="1" dirty="0"/>
              <a:t>k-Nearest Neighbours</a:t>
            </a:r>
            <a:r>
              <a:rPr lang="pt-BR" dirty="0"/>
              <a:t>) é um dos algoritmos mais simples de </a:t>
            </a:r>
            <a:r>
              <a:rPr lang="pt-BR" b="1" dirty="0">
                <a:solidFill>
                  <a:srgbClr val="FF0000"/>
                </a:solidFill>
              </a:rPr>
              <a:t>aprendizado supervisionado</a:t>
            </a:r>
            <a:r>
              <a:rPr lang="pt-BR" dirty="0"/>
              <a:t> para se resolver problemas tanto de </a:t>
            </a:r>
            <a:r>
              <a:rPr lang="pt-BR" b="1" dirty="0"/>
              <a:t>classificação</a:t>
            </a:r>
            <a:r>
              <a:rPr lang="pt-BR" dirty="0"/>
              <a:t> quanto de </a:t>
            </a:r>
            <a:r>
              <a:rPr lang="pt-BR" b="1" dirty="0"/>
              <a:t>regressão</a:t>
            </a:r>
            <a:r>
              <a:rPr lang="pt-BR" dirty="0"/>
              <a:t>.</a:t>
            </a:r>
          </a:p>
        </p:txBody>
      </p:sp>
      <p:pic>
        <p:nvPicPr>
          <p:cNvPr id="1026" name="Picture 2" descr="k-nearest neighbors. A diagram showing an example of the k-nearest... |  Download Scientific Diagram">
            <a:extLst>
              <a:ext uri="{FF2B5EF4-FFF2-40B4-BE49-F238E27FC236}">
                <a16:creationId xmlns:a16="http://schemas.microsoft.com/office/drawing/2014/main" id="{9708541D-F6BA-75F2-749F-14BE5AB9B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535" y="2253343"/>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785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2"/>
            <a:ext cx="10515600" cy="1325563"/>
          </a:xfrm>
        </p:spPr>
        <p:txBody>
          <a:bodyPr/>
          <a:lstStyle/>
          <a:p>
            <a:r>
              <a:rPr lang="pt-BR" dirty="0"/>
              <a:t>k-vizinhos mais próximos (k-NN)</a:t>
            </a:r>
          </a:p>
        </p:txBody>
      </p:sp>
      <p:sp>
        <p:nvSpPr>
          <p:cNvPr id="3" name="Content Placeholder 2"/>
          <p:cNvSpPr>
            <a:spLocks noGrp="1"/>
          </p:cNvSpPr>
          <p:nvPr>
            <p:ph idx="1"/>
          </p:nvPr>
        </p:nvSpPr>
        <p:spPr>
          <a:xfrm>
            <a:off x="6137435" y="1690688"/>
            <a:ext cx="5864065" cy="5167311"/>
          </a:xfrm>
        </p:spPr>
        <p:txBody>
          <a:bodyPr>
            <a:normAutofit/>
          </a:bodyPr>
          <a:lstStyle/>
          <a:p>
            <a:r>
              <a:rPr lang="pt-BR" dirty="0"/>
              <a:t>É um algoritmo do tipo </a:t>
            </a:r>
            <a:r>
              <a:rPr lang="pt-BR" b="1" i="1" dirty="0">
                <a:solidFill>
                  <a:schemeClr val="accent2"/>
                </a:solidFill>
              </a:rPr>
              <a:t>não-paramétrico</a:t>
            </a:r>
            <a:r>
              <a:rPr lang="pt-BR" dirty="0"/>
              <a:t>, pois diferentemente dos outros algoritmos que vimos até o momento</a:t>
            </a:r>
          </a:p>
          <a:p>
            <a:pPr lvl="1">
              <a:buFont typeface="Wingdings" panose="05000000000000000000" pitchFamily="2" charset="2"/>
              <a:buChar char="§"/>
            </a:pPr>
            <a:r>
              <a:rPr lang="pt-BR" b="1" i="1" dirty="0">
                <a:solidFill>
                  <a:srgbClr val="7030A0"/>
                </a:solidFill>
              </a:rPr>
              <a:t>não há um modelo a ser treinado</a:t>
            </a:r>
            <a:r>
              <a:rPr lang="pt-BR" dirty="0"/>
              <a:t> (e.g., polinômio com um número definido de pesos - Regressão/Classificação logística), </a:t>
            </a:r>
          </a:p>
          <a:p>
            <a:pPr lvl="1">
              <a:buFont typeface="Wingdings" panose="05000000000000000000" pitchFamily="2" charset="2"/>
              <a:buChar char="§"/>
            </a:pPr>
            <a:r>
              <a:rPr lang="pt-BR" b="1" i="1" dirty="0">
                <a:solidFill>
                  <a:srgbClr val="7030A0"/>
                </a:solidFill>
              </a:rPr>
              <a:t>tampouco se faz qualquer suposição a respeito da distribuição dos dados</a:t>
            </a:r>
            <a:r>
              <a:rPr lang="pt-BR" dirty="0"/>
              <a:t> (e.g., modelos </a:t>
            </a:r>
            <a:r>
              <a:rPr lang="pt-BR" dirty="0" err="1"/>
              <a:t>Naive</a:t>
            </a:r>
            <a:r>
              <a:rPr lang="pt-BR" dirty="0"/>
              <a:t> </a:t>
            </a:r>
            <a:r>
              <a:rPr lang="pt-BR" dirty="0" err="1"/>
              <a:t>Bayes</a:t>
            </a:r>
            <a:r>
              <a:rPr lang="pt-BR" dirty="0"/>
              <a:t> - Bernoulli ou Gaussiano).</a:t>
            </a:r>
          </a:p>
        </p:txBody>
      </p:sp>
      <p:pic>
        <p:nvPicPr>
          <p:cNvPr id="1026" name="Picture 2" descr="k-nearest neighbors. A diagram showing an example of the k-nearest... |  Download Scientific Diagram">
            <a:extLst>
              <a:ext uri="{FF2B5EF4-FFF2-40B4-BE49-F238E27FC236}">
                <a16:creationId xmlns:a16="http://schemas.microsoft.com/office/drawing/2014/main" id="{9708541D-F6BA-75F2-749F-14BE5AB9B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5" y="2253343"/>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0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2"/>
            <a:ext cx="10515600" cy="1325563"/>
          </a:xfrm>
        </p:spPr>
        <p:txBody>
          <a:bodyPr/>
          <a:lstStyle/>
          <a:p>
            <a:r>
              <a:rPr lang="pt-BR" dirty="0"/>
              <a:t>k-vizinhos mais próximos (k-NN)</a:t>
            </a:r>
          </a:p>
        </p:txBody>
      </p:sp>
      <p:sp>
        <p:nvSpPr>
          <p:cNvPr id="3" name="Content Placeholder 2"/>
          <p:cNvSpPr>
            <a:spLocks noGrp="1"/>
          </p:cNvSpPr>
          <p:nvPr>
            <p:ph idx="1"/>
          </p:nvPr>
        </p:nvSpPr>
        <p:spPr>
          <a:xfrm>
            <a:off x="6137435" y="1690688"/>
            <a:ext cx="5864065" cy="5167311"/>
          </a:xfrm>
        </p:spPr>
        <p:txBody>
          <a:bodyPr>
            <a:normAutofit/>
          </a:bodyPr>
          <a:lstStyle/>
          <a:p>
            <a:r>
              <a:rPr lang="pt-BR" dirty="0"/>
              <a:t>Ele </a:t>
            </a:r>
            <a:r>
              <a:rPr lang="pt-BR" b="1" i="1" dirty="0">
                <a:solidFill>
                  <a:srgbClr val="00B050"/>
                </a:solidFill>
              </a:rPr>
              <a:t>usa diretamente os exemplos de treinamento </a:t>
            </a:r>
            <a:r>
              <a:rPr lang="pt-BR" dirty="0"/>
              <a:t>para tomar decisões.</a:t>
            </a:r>
          </a:p>
          <a:p>
            <a:r>
              <a:rPr lang="pt-BR" dirty="0"/>
              <a:t>A única suposição é que uma </a:t>
            </a:r>
            <a:r>
              <a:rPr lang="pt-BR" b="1" i="1" dirty="0">
                <a:solidFill>
                  <a:schemeClr val="accent2"/>
                </a:solidFill>
              </a:rPr>
              <a:t>medida de distância</a:t>
            </a:r>
            <a:r>
              <a:rPr lang="pt-BR" b="1" i="1" dirty="0"/>
              <a:t> </a:t>
            </a:r>
            <a:r>
              <a:rPr lang="pt-BR" b="1" i="1" dirty="0">
                <a:solidFill>
                  <a:schemeClr val="accent2"/>
                </a:solidFill>
              </a:rPr>
              <a:t>entre dois exemplos</a:t>
            </a:r>
            <a:r>
              <a:rPr lang="pt-BR" dirty="0"/>
              <a:t> (i.e., vetores de atributos) </a:t>
            </a:r>
            <a:r>
              <a:rPr lang="pt-BR" b="1" i="1" dirty="0">
                <a:solidFill>
                  <a:schemeClr val="accent2"/>
                </a:solidFill>
              </a:rPr>
              <a:t>possa ser calculada</a:t>
            </a:r>
            <a:r>
              <a:rPr lang="pt-BR" dirty="0"/>
              <a:t>.</a:t>
            </a:r>
          </a:p>
        </p:txBody>
      </p:sp>
      <p:pic>
        <p:nvPicPr>
          <p:cNvPr id="1026" name="Picture 2" descr="k-nearest neighbors. A diagram showing an example of the k-nearest... |  Download Scientific Diagram">
            <a:extLst>
              <a:ext uri="{FF2B5EF4-FFF2-40B4-BE49-F238E27FC236}">
                <a16:creationId xmlns:a16="http://schemas.microsoft.com/office/drawing/2014/main" id="{9708541D-F6BA-75F2-749F-14BE5AB9B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5" y="2253343"/>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577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2"/>
            <a:ext cx="10515600" cy="1325563"/>
          </a:xfrm>
        </p:spPr>
        <p:txBody>
          <a:bodyPr/>
          <a:lstStyle/>
          <a:p>
            <a:r>
              <a:rPr lang="pt-BR" dirty="0"/>
              <a:t>Funcionamento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37435" y="1690688"/>
                <a:ext cx="5864065" cy="5167311"/>
              </a:xfrm>
            </p:spPr>
            <p:txBody>
              <a:bodyPr>
                <a:normAutofit/>
              </a:bodyPr>
              <a:lstStyle/>
              <a:p>
                <a:r>
                  <a:rPr lang="pt-BR" dirty="0"/>
                  <a:t>O algoritmo necessita que todos os </a:t>
                </a:r>
                <a:r>
                  <a:rPr lang="pt-BR" b="1" i="1" dirty="0">
                    <a:solidFill>
                      <a:srgbClr val="7030A0"/>
                    </a:solidFill>
                  </a:rPr>
                  <a:t>exemplos de treinamento</a:t>
                </a:r>
                <a:r>
                  <a:rPr lang="pt-BR" dirty="0"/>
                  <a:t>,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m>
                          <m:mPr>
                            <m:mcs>
                              <m:mc>
                                <m:mcPr>
                                  <m:count m:val="3"/>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m:rPr>
                                      <m:brk m:alnAt="7"/>
                                    </m:rPr>
                                    <a:rPr lang="pt-BR" i="1">
                                      <a:latin typeface="Cambria Math" panose="02040503050406030204" pitchFamily="18" charset="0"/>
                                    </a:rPr>
                                    <m:t>𝑖</m:t>
                                  </m:r>
                                </m:e>
                              </m:d>
                            </m:e>
                            <m:e>
                              <m:r>
                                <a:rPr lang="pt-BR"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𝑖</m:t>
                                  </m:r>
                                </m:e>
                              </m:d>
                            </m:e>
                          </m:mr>
                        </m:m>
                      </m:e>
                    </m:d>
                    <m:r>
                      <a:rPr lang="pt-BR" i="1">
                        <a:latin typeface="Cambria Math" panose="02040503050406030204" pitchFamily="18" charset="0"/>
                        <a:ea typeface="Cambria Math" panose="02040503050406030204" pitchFamily="18" charset="0"/>
                      </a:rPr>
                      <m:t>∈</m:t>
                    </m:r>
                    <m:sSup>
                      <m:sSupPr>
                        <m:ctrlPr>
                          <a:rPr lang="pt-BR"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sup>
                    </m:sSup>
                  </m:oMath>
                </a14:m>
                <a:r>
                  <a:rPr lang="pt-BR" dirty="0"/>
                  <a:t> e seus respectivos rótulos,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𝑖</m:t>
                        </m:r>
                      </m:e>
                    </m:d>
                    <m:r>
                      <a:rPr lang="pt-BR" i="1">
                        <a:latin typeface="Cambria Math" panose="02040503050406030204" pitchFamily="18" charset="0"/>
                      </a:rPr>
                      <m:t>, </m:t>
                    </m:r>
                    <m:r>
                      <a:rPr lang="pt-BR" i="1">
                        <a:latin typeface="Cambria Math" panose="02040503050406030204" pitchFamily="18" charset="0"/>
                      </a:rPr>
                      <m:t>𝑖</m:t>
                    </m:r>
                    <m:r>
                      <a:rPr lang="pt-BR" i="1">
                        <a:latin typeface="Cambria Math" panose="02040503050406030204" pitchFamily="18" charset="0"/>
                      </a:rPr>
                      <m:t>=0, …, </m:t>
                    </m:r>
                    <m:r>
                      <a:rPr lang="pt-BR" i="1">
                        <a:latin typeface="Cambria Math" panose="02040503050406030204" pitchFamily="18" charset="0"/>
                      </a:rPr>
                      <m:t>𝑁</m:t>
                    </m:r>
                    <m:r>
                      <a:rPr lang="pt-BR" i="1">
                        <a:latin typeface="Cambria Math" panose="02040503050406030204" pitchFamily="18" charset="0"/>
                      </a:rPr>
                      <m:t>−1</m:t>
                    </m:r>
                  </m:oMath>
                </a14:m>
                <a:r>
                  <a:rPr lang="pt-BR" dirty="0"/>
                  <a:t>, sejam </a:t>
                </a:r>
                <a:r>
                  <a:rPr lang="pt-BR" b="1" i="1" dirty="0">
                    <a:solidFill>
                      <a:srgbClr val="FF0000"/>
                    </a:solidFill>
                  </a:rPr>
                  <a:t>armazenados em memória</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37435" y="1690688"/>
                <a:ext cx="5864065" cy="5167311"/>
              </a:xfrm>
              <a:blipFill>
                <a:blip r:embed="rId3"/>
                <a:stretch>
                  <a:fillRect l="-1871" t="-1887" r="-1143"/>
                </a:stretch>
              </a:blipFill>
            </p:spPr>
            <p:txBody>
              <a:bodyPr/>
              <a:lstStyle/>
              <a:p>
                <a:r>
                  <a:rPr lang="pt-BR">
                    <a:noFill/>
                  </a:rPr>
                  <a:t> </a:t>
                </a:r>
              </a:p>
            </p:txBody>
          </p:sp>
        </mc:Fallback>
      </mc:AlternateContent>
      <p:pic>
        <p:nvPicPr>
          <p:cNvPr id="1026" name="Picture 2" descr="k-nearest neighbors. A diagram showing an example of the k-nearest... |  Download Scientific Diagram">
            <a:extLst>
              <a:ext uri="{FF2B5EF4-FFF2-40B4-BE49-F238E27FC236}">
                <a16:creationId xmlns:a16="http://schemas.microsoft.com/office/drawing/2014/main" id="{9708541D-F6BA-75F2-749F-14BE5AB9B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935" y="2253343"/>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4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Funcionamento</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6096000" y="1825624"/>
                <a:ext cx="5976255" cy="5032376"/>
              </a:xfrm>
            </p:spPr>
            <p:txBody>
              <a:bodyPr>
                <a:normAutofit/>
              </a:bodyPr>
              <a:lstStyle/>
              <a:p>
                <a:r>
                  <a:rPr lang="pt-BR" dirty="0"/>
                  <a:t>Em seguida, dado um </a:t>
                </a:r>
                <a:r>
                  <a:rPr lang="pt-BR" b="1" i="1" dirty="0">
                    <a:solidFill>
                      <a:srgbClr val="0070C0"/>
                    </a:solidFill>
                  </a:rPr>
                  <a:t>exemplo de entrada inédito</a:t>
                </a:r>
                <a:r>
                  <a:rPr lang="pt-BR" dirty="0"/>
                  <a:t>, </a:t>
                </a:r>
                <a14:m>
                  <m:oMath xmlns:m="http://schemas.openxmlformats.org/officeDocument/2006/math">
                    <m:r>
                      <a:rPr lang="pt-BR" b="1" i="1">
                        <a:latin typeface="Cambria Math" panose="02040503050406030204" pitchFamily="18" charset="0"/>
                      </a:rPr>
                      <m:t>𝒙</m:t>
                    </m:r>
                    <m:r>
                      <a:rPr lang="pt-BR" b="1" i="1">
                        <a:latin typeface="Cambria Math" panose="02040503050406030204" pitchFamily="18" charset="0"/>
                      </a:rPr>
                      <m:t>′</m:t>
                    </m:r>
                  </m:oMath>
                </a14:m>
                <a:r>
                  <a:rPr lang="pt-BR" dirty="0"/>
                  <a:t> (e.g., círculo verde), a saída para este exemplo </a:t>
                </a:r>
                <a:r>
                  <a:rPr lang="pt-BR" b="1" i="1" dirty="0">
                    <a:solidFill>
                      <a:srgbClr val="00B050"/>
                    </a:solidFill>
                  </a:rPr>
                  <a:t>dependerá dos rótulos</a:t>
                </a:r>
                <a:r>
                  <a:rPr lang="pt-BR" dirty="0"/>
                  <a:t> associados aos </a:t>
                </a:r>
                <a14:m>
                  <m:oMath xmlns:m="http://schemas.openxmlformats.org/officeDocument/2006/math">
                    <m:r>
                      <a:rPr lang="pt-BR" b="1" i="1" smtClean="0">
                        <a:solidFill>
                          <a:srgbClr val="7030A0"/>
                        </a:solidFill>
                        <a:latin typeface="Cambria Math" panose="02040503050406030204" pitchFamily="18" charset="0"/>
                      </a:rPr>
                      <m:t>𝒌</m:t>
                    </m:r>
                  </m:oMath>
                </a14:m>
                <a:r>
                  <a:rPr lang="pt-BR" b="1" i="1" dirty="0">
                    <a:solidFill>
                      <a:srgbClr val="7030A0"/>
                    </a:solidFill>
                  </a:rPr>
                  <a:t> exemplos de treinamento mais próximos</a:t>
                </a:r>
                <a:r>
                  <a:rPr lang="pt-BR" b="1" i="1" dirty="0">
                    <a:solidFill>
                      <a:srgbClr val="00B050"/>
                    </a:solidFill>
                  </a:rPr>
                  <a:t> </a:t>
                </a:r>
                <a:r>
                  <a:rPr lang="pt-BR" dirty="0"/>
                  <a:t>do exemplo de entrada </a:t>
                </a:r>
                <a14:m>
                  <m:oMath xmlns:m="http://schemas.openxmlformats.org/officeDocument/2006/math">
                    <m:r>
                      <a:rPr lang="pt-BR" b="1" i="1">
                        <a:latin typeface="Cambria Math" panose="02040503050406030204" pitchFamily="18" charset="0"/>
                      </a:rPr>
                      <m:t>𝒙</m:t>
                    </m:r>
                    <m:r>
                      <a:rPr lang="pt-BR" b="1" i="1">
                        <a:latin typeface="Cambria Math" panose="02040503050406030204" pitchFamily="18" charset="0"/>
                      </a:rPr>
                      <m:t>′</m:t>
                    </m:r>
                  </m:oMath>
                </a14:m>
                <a:r>
                  <a:rPr lang="pt-BR" dirty="0"/>
                  <a:t> no espaço de atributos.</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6096000" y="1825624"/>
                <a:ext cx="5976255" cy="5032376"/>
              </a:xfrm>
              <a:blipFill>
                <a:blip r:embed="rId2"/>
                <a:stretch>
                  <a:fillRect l="-1837" t="-1937" r="-2551"/>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02045470-A04B-89A5-F654-81E957E22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181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Funcionamento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Para </a:t>
                </a:r>
                <a:r>
                  <a:rPr lang="pt-BR" b="1" i="1" dirty="0">
                    <a:solidFill>
                      <a:srgbClr val="7030A0"/>
                    </a:solidFill>
                  </a:rPr>
                  <a:t>classificação</a:t>
                </a:r>
                <a:r>
                  <a:rPr lang="pt-BR" dirty="0"/>
                  <a:t>, a </a:t>
                </a:r>
                <a:r>
                  <a:rPr lang="pt-BR" b="1" i="1" dirty="0">
                    <a:solidFill>
                      <a:srgbClr val="00B050"/>
                    </a:solidFill>
                  </a:rPr>
                  <a:t>classe mais frequente </a:t>
                </a:r>
                <a:r>
                  <a:rPr lang="pt-BR" dirty="0"/>
                  <a:t>entre os </a:t>
                </a:r>
                <a14:m>
                  <m:oMath xmlns:m="http://schemas.openxmlformats.org/officeDocument/2006/math">
                    <m:r>
                      <a:rPr lang="pt-BR" b="1" i="1">
                        <a:latin typeface="Cambria Math" panose="02040503050406030204" pitchFamily="18" charset="0"/>
                      </a:rPr>
                      <m:t>𝒌</m:t>
                    </m:r>
                  </m:oMath>
                </a14:m>
                <a:r>
                  <a:rPr lang="pt-BR" dirty="0"/>
                  <a:t> vizinhos mais próximos é escolhida como a classe do exemplo de entrada.</a:t>
                </a:r>
              </a:p>
              <a:p>
                <a:r>
                  <a:rPr lang="pt-BR" dirty="0"/>
                  <a:t>Para </a:t>
                </a:r>
                <a:r>
                  <a:rPr lang="pt-BR" b="1" i="1" dirty="0">
                    <a:solidFill>
                      <a:srgbClr val="7030A0"/>
                    </a:solidFill>
                  </a:rPr>
                  <a:t>regressão</a:t>
                </a:r>
                <a:r>
                  <a:rPr lang="pt-BR" dirty="0"/>
                  <a:t>, os valores associados aos </a:t>
                </a:r>
                <a14:m>
                  <m:oMath xmlns:m="http://schemas.openxmlformats.org/officeDocument/2006/math">
                    <m:r>
                      <a:rPr lang="pt-BR" b="1" i="1">
                        <a:latin typeface="Cambria Math" panose="02040503050406030204" pitchFamily="18" charset="0"/>
                      </a:rPr>
                      <m:t>𝒌</m:t>
                    </m:r>
                  </m:oMath>
                </a14:m>
                <a:r>
                  <a:rPr lang="pt-BR" dirty="0"/>
                  <a:t> vizinhos mais próximos são usados para calcular um </a:t>
                </a:r>
                <a:r>
                  <a:rPr lang="pt-BR" b="1" i="1" dirty="0">
                    <a:solidFill>
                      <a:srgbClr val="00B050"/>
                    </a:solidFill>
                  </a:rPr>
                  <a:t>valor médio ou ponderado</a:t>
                </a:r>
                <a:r>
                  <a:rPr lang="pt-BR" dirty="0"/>
                  <a:t>, que será a estimativa para o exemplo de entrada.</a:t>
                </a:r>
              </a:p>
            </p:txBody>
          </p:sp>
        </mc:Choice>
        <mc:Fallback xmlns="">
          <p:sp>
            <p:nvSpPr>
              <p:cNvPr id="3" name="Espaço Reservado para Conteúdo 2">
                <a:extLst>
                  <a:ext uri="{FF2B5EF4-FFF2-40B4-BE49-F238E27FC236}">
                    <a16:creationId xmlns:a16="http://schemas.microsoft.com/office/drawing/2014/main" id="{CC5E0BCC-2529-D52A-D99F-AC57ABFE0FA0}"/>
                  </a:ext>
                </a:extLst>
              </p:cNvPr>
              <p:cNvSpPr>
                <a:spLocks noGrp="1" noRot="1" noChangeAspect="1" noMove="1" noResize="1" noEditPoints="1" noAdjustHandles="1" noChangeArrowheads="1" noChangeShapeType="1" noTextEdit="1"/>
              </p:cNvSpPr>
              <p:nvPr>
                <p:ph idx="1"/>
              </p:nvPr>
            </p:nvSpPr>
            <p:spPr>
              <a:xfrm>
                <a:off x="6096000" y="1825624"/>
                <a:ext cx="5976256" cy="5032375"/>
              </a:xfrm>
              <a:blipFill>
                <a:blip r:embed="rId2"/>
                <a:stretch>
                  <a:fillRect l="-1837" t="-1937" r="-3367"/>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71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Funcionamento</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983809" y="1825624"/>
            <a:ext cx="6088447" cy="5032375"/>
          </a:xfrm>
        </p:spPr>
        <p:txBody>
          <a:bodyPr>
            <a:normAutofit/>
          </a:bodyPr>
          <a:lstStyle/>
          <a:p>
            <a:r>
              <a:rPr lang="pt-BR" dirty="0"/>
              <a:t>Ou seja, o algoritmo usa </a:t>
            </a:r>
            <a:r>
              <a:rPr lang="pt-BR" b="1" i="1" dirty="0">
                <a:solidFill>
                  <a:schemeClr val="accent5"/>
                </a:solidFill>
              </a:rPr>
              <a:t>similaridade/proximidade entre vetores de atributos</a:t>
            </a:r>
            <a:r>
              <a:rPr lang="pt-BR" b="1" i="1" dirty="0"/>
              <a:t> </a:t>
            </a:r>
            <a:r>
              <a:rPr lang="pt-BR" dirty="0"/>
              <a:t>para prever os valores de quaisquer novos exemplos. </a:t>
            </a:r>
          </a:p>
          <a:p>
            <a:r>
              <a:rPr lang="pt-BR" dirty="0"/>
              <a:t>Isso significa que um novo exemplo de entrada recebe um valor de saída com base na sua </a:t>
            </a:r>
            <a:r>
              <a:rPr lang="pt-BR" b="1" i="1" dirty="0">
                <a:solidFill>
                  <a:schemeClr val="accent5"/>
                </a:solidFill>
              </a:rPr>
              <a:t>proximidade com os exemplos do conjunto de treinamento</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12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Funcionamento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Por exemplo, para regressão, nós podemos tomar a </a:t>
                </a:r>
                <a:r>
                  <a:rPr lang="pt-BR" b="1" i="1" dirty="0">
                    <a:solidFill>
                      <a:srgbClr val="00B050"/>
                    </a:solidFill>
                  </a:rPr>
                  <a:t>média aritmética dos rótulos dos </a:t>
                </a:r>
                <a14:m>
                  <m:oMath xmlns:m="http://schemas.openxmlformats.org/officeDocument/2006/math">
                    <m:r>
                      <a:rPr lang="pt-BR" b="1" i="1">
                        <a:solidFill>
                          <a:srgbClr val="00B050"/>
                        </a:solidFill>
                        <a:latin typeface="Cambria Math" panose="02040503050406030204" pitchFamily="18" charset="0"/>
                      </a:rPr>
                      <m:t>𝒌</m:t>
                    </m:r>
                  </m:oMath>
                </a14:m>
                <a:r>
                  <a:rPr lang="pt-BR" b="1" i="1" dirty="0">
                    <a:solidFill>
                      <a:srgbClr val="00B050"/>
                    </a:solidFill>
                  </a:rPr>
                  <a:t> vizinhos mais próximos</a:t>
                </a:r>
                <a:r>
                  <a:rPr lang="pt-BR" dirty="0"/>
                  <a:t>:</a:t>
                </a:r>
              </a:p>
              <a:p>
                <a:pPr marL="0" indent="0" algn="ctr">
                  <a:buNone/>
                </a:pPr>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𝑘</m:t>
                        </m:r>
                      </m:den>
                    </m:f>
                    <m:nary>
                      <m:naryPr>
                        <m:chr m:val="∑"/>
                        <m:supHide m:val="on"/>
                        <m:ctrlPr>
                          <a:rPr lang="pt-BR" i="1">
                            <a:latin typeface="Cambria Math" panose="02040503050406030204" pitchFamily="18" charset="0"/>
                          </a:rPr>
                        </m:ctrlPr>
                      </m:naryPr>
                      <m:sub>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r>
                          <a:rPr lang="pt-BR" i="1">
                            <a:latin typeface="Cambria Math" panose="02040503050406030204" pitchFamily="18" charset="0"/>
                          </a:rPr>
                          <m:t> </m:t>
                        </m:r>
                        <m:r>
                          <a:rPr lang="pt-BR" i="1">
                            <a:latin typeface="Cambria Math" panose="02040503050406030204" pitchFamily="18" charset="0"/>
                            <a:ea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𝑁</m:t>
                            </m:r>
                          </m:e>
                          <m:sub>
                            <m:r>
                              <a:rPr lang="pt-BR" i="1">
                                <a:latin typeface="Cambria Math" panose="02040503050406030204" pitchFamily="18" charset="0"/>
                                <a:ea typeface="Cambria Math" panose="02040503050406030204" pitchFamily="18" charset="0"/>
                              </a:rPr>
                              <m:t>𝑘</m:t>
                            </m:r>
                          </m:sub>
                        </m:sSub>
                        <m:r>
                          <a:rPr lang="pt-BR"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r>
                          <a:rPr lang="pt-BR" i="1">
                            <a:latin typeface="Cambria Math" panose="02040503050406030204" pitchFamily="18" charset="0"/>
                          </a:rPr>
                          <m:t>)</m:t>
                        </m:r>
                      </m:sub>
                      <m:sup/>
                      <m:e>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nary>
                  </m:oMath>
                </a14:m>
                <a:r>
                  <a:rPr lang="pt-BR" dirty="0"/>
                  <a:t>,</a:t>
                </a:r>
              </a:p>
              <a:p>
                <a:pPr marL="0" indent="0">
                  <a:buNone/>
                </a:pPr>
                <a:r>
                  <a:rPr lang="pt-BR" dirty="0"/>
                  <a:t>onde </a:t>
                </a: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𝑁</m:t>
                        </m:r>
                      </m:e>
                      <m:sub>
                        <m:r>
                          <a:rPr lang="pt-BR" i="1">
                            <a:latin typeface="Cambria Math" panose="02040503050406030204" pitchFamily="18" charset="0"/>
                            <a:ea typeface="Cambria Math" panose="02040503050406030204" pitchFamily="18" charset="0"/>
                          </a:rPr>
                          <m:t>𝑘</m:t>
                        </m:r>
                      </m:sub>
                    </m:sSub>
                    <m:r>
                      <a:rPr lang="pt-BR"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r>
                      <a:rPr lang="pt-BR" i="1">
                        <a:latin typeface="Cambria Math" panose="02040503050406030204" pitchFamily="18" charset="0"/>
                      </a:rPr>
                      <m:t>)</m:t>
                    </m:r>
                  </m:oMath>
                </a14:m>
                <a:r>
                  <a:rPr lang="pt-BR" dirty="0"/>
                  <a:t> é a vizinhança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 formada pelos exemplos de treinamento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dirty="0"/>
                  <a:t> que correspondem aos </a:t>
                </a:r>
                <a14:m>
                  <m:oMath xmlns:m="http://schemas.openxmlformats.org/officeDocument/2006/math">
                    <m:r>
                      <a:rPr lang="pt-BR" i="1">
                        <a:latin typeface="Cambria Math" panose="02040503050406030204" pitchFamily="18" charset="0"/>
                      </a:rPr>
                      <m:t>𝑘</m:t>
                    </m:r>
                  </m:oMath>
                </a14:m>
                <a:r>
                  <a:rPr lang="pt-BR" dirty="0"/>
                  <a:t> vizinhos mais próximos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p:txBody>
          </p:sp>
        </mc:Choice>
        <mc:Fallback xmlns="">
          <p:sp>
            <p:nvSpPr>
              <p:cNvPr id="3" name="Espaço Reservado para Conteúdo 2">
                <a:extLst>
                  <a:ext uri="{FF2B5EF4-FFF2-40B4-BE49-F238E27FC236}">
                    <a16:creationId xmlns:a16="http://schemas.microsoft.com/office/drawing/2014/main" id="{CC5E0BCC-2529-D52A-D99F-AC57ABFE0FA0}"/>
                  </a:ext>
                </a:extLst>
              </p:cNvPr>
              <p:cNvSpPr>
                <a:spLocks noGrp="1" noRot="1" noChangeAspect="1" noMove="1" noResize="1" noEditPoints="1" noAdjustHandles="1" noChangeArrowheads="1" noChangeShapeType="1" noTextEdit="1"/>
              </p:cNvSpPr>
              <p:nvPr>
                <p:ph idx="1"/>
              </p:nvPr>
            </p:nvSpPr>
            <p:spPr>
              <a:xfrm>
                <a:off x="6096000" y="1825624"/>
                <a:ext cx="5976256" cy="5032375"/>
              </a:xfrm>
              <a:blipFill>
                <a:blip r:embed="rId3"/>
                <a:stretch>
                  <a:fillRect l="-2041" t="-1937"/>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018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Funcionamento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Para classificação, por exemplo, dentre </a:t>
                </a:r>
                <a14:m>
                  <m:oMath xmlns:m="http://schemas.openxmlformats.org/officeDocument/2006/math">
                    <m:r>
                      <a:rPr lang="pt-BR" i="1">
                        <a:latin typeface="Cambria Math" panose="02040503050406030204" pitchFamily="18" charset="0"/>
                      </a:rPr>
                      <m:t>𝑘</m:t>
                    </m:r>
                  </m:oMath>
                </a14:m>
                <a:r>
                  <a:rPr lang="pt-BR" dirty="0"/>
                  <a:t> vizinhos mais próximos, escolhemos a classe com maior número de exemplos (i.e., voto majoritário).</a:t>
                </a:r>
              </a:p>
              <a:p>
                <a:r>
                  <a:rPr lang="pt-BR" b="1" dirty="0"/>
                  <a:t>OBS</a:t>
                </a:r>
                <a:r>
                  <a:rPr lang="pt-BR" dirty="0"/>
                  <a:t>.: Não confundam o </a:t>
                </a:r>
                <a:r>
                  <a:rPr lang="pt-BR" b="1" i="1" dirty="0"/>
                  <a:t>número de atributos</a:t>
                </a:r>
                <a:r>
                  <a:rPr lang="pt-BR" dirty="0"/>
                  <a:t>, </a:t>
                </a:r>
                <a14:m>
                  <m:oMath xmlns:m="http://schemas.openxmlformats.org/officeDocument/2006/math">
                    <m:r>
                      <a:rPr lang="pt-BR" i="1">
                        <a:latin typeface="Cambria Math" panose="02040503050406030204" pitchFamily="18" charset="0"/>
                      </a:rPr>
                      <m:t>𝐾</m:t>
                    </m:r>
                  </m:oMath>
                </a14:m>
                <a:r>
                  <a:rPr lang="pt-BR" dirty="0"/>
                  <a:t>, com o </a:t>
                </a:r>
                <a:r>
                  <a:rPr lang="pt-BR" b="1" i="1" dirty="0"/>
                  <a:t>número de vizinhos mais próximos</a:t>
                </a:r>
                <a:r>
                  <a:rPr lang="pt-BR" dirty="0"/>
                  <a:t>, </a:t>
                </a:r>
                <a14:m>
                  <m:oMath xmlns:m="http://schemas.openxmlformats.org/officeDocument/2006/math">
                    <m:r>
                      <a:rPr lang="pt-BR" i="1">
                        <a:latin typeface="Cambria Math" panose="02040503050406030204" pitchFamily="18" charset="0"/>
                      </a:rPr>
                      <m:t>𝑘</m:t>
                    </m:r>
                  </m:oMath>
                </a14:m>
                <a:r>
                  <a:rPr lang="pt-BR" dirty="0"/>
                  <a:t>.</a:t>
                </a:r>
              </a:p>
            </p:txBody>
          </p:sp>
        </mc:Choice>
        <mc:Fallback xmlns="">
          <p:sp>
            <p:nvSpPr>
              <p:cNvPr id="3" name="Espaço Reservado para Conteúdo 2">
                <a:extLst>
                  <a:ext uri="{FF2B5EF4-FFF2-40B4-BE49-F238E27FC236}">
                    <a16:creationId xmlns:a16="http://schemas.microsoft.com/office/drawing/2014/main" id="{CC5E0BCC-2529-D52A-D99F-AC57ABFE0FA0}"/>
                  </a:ext>
                </a:extLst>
              </p:cNvPr>
              <p:cNvSpPr>
                <a:spLocks noGrp="1" noRot="1" noChangeAspect="1" noMove="1" noResize="1" noEditPoints="1" noAdjustHandles="1" noChangeArrowheads="1" noChangeShapeType="1" noTextEdit="1"/>
              </p:cNvSpPr>
              <p:nvPr>
                <p:ph idx="1"/>
              </p:nvPr>
            </p:nvSpPr>
            <p:spPr>
              <a:xfrm>
                <a:off x="6096000" y="1825624"/>
                <a:ext cx="5976256" cy="5032375"/>
              </a:xfrm>
              <a:blipFill>
                <a:blip r:embed="rId3"/>
                <a:stretch>
                  <a:fillRect l="-1837" t="-1937"/>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768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k-Vizinhos mais Próximos (k-NN)</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Portanto, o uso do k-NN envolve a </a:t>
                </a:r>
                <a:r>
                  <a:rPr lang="pt-BR" b="1" i="1" dirty="0">
                    <a:solidFill>
                      <a:srgbClr val="00B050"/>
                    </a:solidFill>
                  </a:rPr>
                  <a:t>definição</a:t>
                </a:r>
                <a:r>
                  <a:rPr lang="pt-BR" dirty="0"/>
                  <a:t> de:</a:t>
                </a:r>
              </a:p>
              <a:p>
                <a:pPr lvl="1">
                  <a:buFont typeface="Wingdings" panose="05000000000000000000" pitchFamily="2" charset="2"/>
                  <a:buChar char="§"/>
                </a:pPr>
                <a:r>
                  <a:rPr lang="pt-BR" dirty="0"/>
                  <a:t>Uma </a:t>
                </a:r>
                <a:r>
                  <a:rPr lang="pt-BR" b="1" i="1" dirty="0">
                    <a:solidFill>
                      <a:srgbClr val="00B050"/>
                    </a:solidFill>
                  </a:rPr>
                  <a:t>métrica de distância</a:t>
                </a:r>
                <a:r>
                  <a:rPr lang="pt-BR" b="1" i="1" dirty="0"/>
                  <a:t> </a:t>
                </a:r>
                <a:r>
                  <a:rPr lang="pt-BR" dirty="0"/>
                  <a:t>que deve ser </a:t>
                </a:r>
                <a:r>
                  <a:rPr lang="pt-BR" b="1" i="1" dirty="0">
                    <a:solidFill>
                      <a:schemeClr val="accent5"/>
                    </a:solidFill>
                  </a:rPr>
                  <a:t>calculada no espaço de atributos</a:t>
                </a:r>
                <a:r>
                  <a:rPr lang="pt-BR" b="1" i="1" dirty="0"/>
                  <a:t> </a:t>
                </a:r>
                <a:r>
                  <a:rPr lang="pt-BR" dirty="0"/>
                  <a:t>a fim de identificar os vizinhos mais próximos.</a:t>
                </a:r>
              </a:p>
              <a:p>
                <a:pPr lvl="1">
                  <a:buFont typeface="Wingdings" panose="05000000000000000000" pitchFamily="2" charset="2"/>
                  <a:buChar char="§"/>
                </a:pPr>
                <a:r>
                  <a:rPr lang="pt-BR" dirty="0"/>
                  <a:t>Um </a:t>
                </a:r>
                <a:r>
                  <a:rPr lang="pt-BR" b="1" i="1" dirty="0">
                    <a:solidFill>
                      <a:srgbClr val="7030A0"/>
                    </a:solidFill>
                  </a:rPr>
                  <a:t>valor para o hiperparâmetro </a:t>
                </a:r>
                <a14:m>
                  <m:oMath xmlns:m="http://schemas.openxmlformats.org/officeDocument/2006/math">
                    <m:r>
                      <a:rPr lang="pt-BR" b="1" i="1">
                        <a:solidFill>
                          <a:srgbClr val="7030A0"/>
                        </a:solidFill>
                        <a:latin typeface="Cambria Math" panose="02040503050406030204" pitchFamily="18" charset="0"/>
                      </a:rPr>
                      <m:t>𝒌</m:t>
                    </m:r>
                  </m:oMath>
                </a14:m>
                <a:r>
                  <a:rPr lang="pt-BR" dirty="0"/>
                  <a:t>, ou seja, a escolha do número de vizinhos que devem ser levados em consideração para a geração da saída correspondente ao exemplo de entrada,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p:txBody>
          </p:sp>
        </mc:Choice>
        <mc:Fallback xmlns="">
          <p:sp>
            <p:nvSpPr>
              <p:cNvPr id="3" name="Espaço Reservado para Conteúdo 2">
                <a:extLst>
                  <a:ext uri="{FF2B5EF4-FFF2-40B4-BE49-F238E27FC236}">
                    <a16:creationId xmlns:a16="http://schemas.microsoft.com/office/drawing/2014/main" id="{CC5E0BCC-2529-D52A-D99F-AC57ABFE0FA0}"/>
                  </a:ext>
                </a:extLst>
              </p:cNvPr>
              <p:cNvSpPr>
                <a:spLocks noGrp="1" noRot="1" noChangeAspect="1" noMove="1" noResize="1" noEditPoints="1" noAdjustHandles="1" noChangeArrowheads="1" noChangeShapeType="1" noTextEdit="1"/>
              </p:cNvSpPr>
              <p:nvPr>
                <p:ph idx="1"/>
              </p:nvPr>
            </p:nvSpPr>
            <p:spPr>
              <a:xfrm>
                <a:off x="6096000" y="1825624"/>
                <a:ext cx="5976256" cy="5032375"/>
              </a:xfrm>
              <a:blipFill>
                <a:blip r:embed="rId3"/>
                <a:stretch>
                  <a:fillRect l="-1837" t="-1937" r="-918"/>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20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k-Vizinhos mais Próximos (k-NN)</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Como </a:t>
                </a:r>
                <a14:m>
                  <m:oMath xmlns:m="http://schemas.openxmlformats.org/officeDocument/2006/math">
                    <m:r>
                      <a:rPr lang="pt-BR" i="1">
                        <a:latin typeface="Cambria Math" panose="02040503050406030204" pitchFamily="18" charset="0"/>
                      </a:rPr>
                      <m:t>𝑘</m:t>
                    </m:r>
                  </m:oMath>
                </a14:m>
                <a:r>
                  <a:rPr lang="pt-BR" dirty="0"/>
                  <a:t> é um </a:t>
                </a:r>
                <a:r>
                  <a:rPr lang="pt-BR" b="1" i="1" dirty="0"/>
                  <a:t>hiperparâmetro</a:t>
                </a:r>
                <a:r>
                  <a:rPr lang="pt-BR" dirty="0"/>
                  <a:t> do k-NN, devemos usar técnicas de </a:t>
                </a:r>
                <a:r>
                  <a:rPr lang="pt-BR" b="1" i="1" dirty="0">
                    <a:solidFill>
                      <a:schemeClr val="accent5"/>
                    </a:solidFill>
                  </a:rPr>
                  <a:t>validação cruzada</a:t>
                </a:r>
                <a:r>
                  <a:rPr lang="pt-BR" b="1" i="1" dirty="0"/>
                  <a:t> </a:t>
                </a:r>
                <a:r>
                  <a:rPr lang="pt-BR" dirty="0"/>
                  <a:t>para encontrar o melhor valor de </a:t>
                </a:r>
                <a14:m>
                  <m:oMath xmlns:m="http://schemas.openxmlformats.org/officeDocument/2006/math">
                    <m:r>
                      <a:rPr lang="pt-BR" i="1">
                        <a:latin typeface="Cambria Math" panose="02040503050406030204" pitchFamily="18" charset="0"/>
                      </a:rPr>
                      <m:t>𝑘</m:t>
                    </m:r>
                  </m:oMath>
                </a14:m>
                <a:r>
                  <a:rPr lang="pt-BR" dirty="0"/>
                  <a:t>.</a:t>
                </a:r>
              </a:p>
              <a:p>
                <a:r>
                  <a:rPr lang="pt-BR" dirty="0"/>
                  <a:t>Podemos utilizar por exemplo </a:t>
                </a:r>
                <a:r>
                  <a:rPr lang="pt-BR" b="1" i="1" dirty="0"/>
                  <a:t>Grid Search</a:t>
                </a:r>
                <a:r>
                  <a:rPr lang="pt-BR" dirty="0"/>
                  <a:t> ou </a:t>
                </a:r>
                <a:r>
                  <a:rPr lang="pt-BR" b="1" i="1" dirty="0"/>
                  <a:t>Random Search </a:t>
                </a:r>
                <a:r>
                  <a:rPr lang="pt-BR" i="1" dirty="0"/>
                  <a:t>com </a:t>
                </a:r>
                <a:r>
                  <a:rPr lang="pt-BR" b="1" i="1" dirty="0"/>
                  <a:t>k-</a:t>
                </a:r>
                <a:r>
                  <a:rPr lang="pt-BR" b="1" i="1" dirty="0" err="1"/>
                  <a:t>fold</a:t>
                </a:r>
                <a:r>
                  <a:rPr lang="pt-BR" b="1" i="1" dirty="0"/>
                  <a:t>.</a:t>
                </a:r>
                <a:endParaRPr lang="pt-BR" dirty="0"/>
              </a:p>
            </p:txBody>
          </p:sp>
        </mc:Choice>
        <mc:Fallback xmlns="">
          <p:sp>
            <p:nvSpPr>
              <p:cNvPr id="3" name="Espaço Reservado para Conteúdo 2">
                <a:extLst>
                  <a:ext uri="{FF2B5EF4-FFF2-40B4-BE49-F238E27FC236}">
                    <a16:creationId xmlns:a16="http://schemas.microsoft.com/office/drawing/2014/main" id="{CC5E0BCC-2529-D52A-D99F-AC57ABFE0FA0}"/>
                  </a:ext>
                </a:extLst>
              </p:cNvPr>
              <p:cNvSpPr>
                <a:spLocks noGrp="1" noRot="1" noChangeAspect="1" noMove="1" noResize="1" noEditPoints="1" noAdjustHandles="1" noChangeArrowheads="1" noChangeShapeType="1" noTextEdit="1"/>
              </p:cNvSpPr>
              <p:nvPr>
                <p:ph idx="1"/>
              </p:nvPr>
            </p:nvSpPr>
            <p:spPr>
              <a:xfrm>
                <a:off x="6096000" y="1825624"/>
                <a:ext cx="5976256" cy="5032375"/>
              </a:xfrm>
              <a:blipFill>
                <a:blip r:embed="rId3"/>
                <a:stretch>
                  <a:fillRect l="-1837" t="-1937" r="-1735"/>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00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k-Vizinhos mais Próximos (k-NN)</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Devido às suas características, o k-NN é visto como um </a:t>
            </a:r>
            <a:r>
              <a:rPr lang="pt-BR" b="1" i="1" dirty="0">
                <a:solidFill>
                  <a:srgbClr val="00B050"/>
                </a:solidFill>
              </a:rPr>
              <a:t>algoritmo de aprendizado competitivo</a:t>
            </a:r>
            <a:r>
              <a:rPr lang="pt-BR" dirty="0"/>
              <a:t>, uma vez que os </a:t>
            </a:r>
            <a:r>
              <a:rPr lang="pt-BR" b="1" i="1" dirty="0">
                <a:solidFill>
                  <a:schemeClr val="accent5"/>
                </a:solidFill>
              </a:rPr>
              <a:t>elementos do modelo </a:t>
            </a:r>
            <a:r>
              <a:rPr lang="pt-BR" dirty="0"/>
              <a:t>(que são os próprios exemplos de treinamento) </a:t>
            </a:r>
            <a:r>
              <a:rPr lang="pt-BR" b="1" i="1" dirty="0">
                <a:solidFill>
                  <a:srgbClr val="7030A0"/>
                </a:solidFill>
              </a:rPr>
              <a:t>competem entre si pelo direito de influenciar a saída do algoritmo</a:t>
            </a:r>
            <a:r>
              <a:rPr lang="pt-BR" dirty="0"/>
              <a:t> quando a </a:t>
            </a:r>
            <a:r>
              <a:rPr lang="pt-BR" b="1" i="1" dirty="0"/>
              <a:t>medida de similaridade </a:t>
            </a:r>
            <a:r>
              <a:rPr lang="pt-BR" dirty="0"/>
              <a:t>(</a:t>
            </a:r>
            <a:r>
              <a:rPr lang="pt-BR" b="1" i="1" dirty="0"/>
              <a:t>distância</a:t>
            </a:r>
            <a:r>
              <a:rPr lang="pt-BR" dirty="0"/>
              <a:t>) é calculada para cada novo dado de entrada.</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039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k-Vizinhos mais Próximos (k-NN)</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O k-NN explora a ideia conhecida como </a:t>
            </a:r>
            <a:r>
              <a:rPr lang="pt-BR" b="1" i="1" dirty="0" err="1">
                <a:solidFill>
                  <a:srgbClr val="7030A0"/>
                </a:solidFill>
              </a:rPr>
              <a:t>lazy</a:t>
            </a:r>
            <a:r>
              <a:rPr lang="pt-BR" b="1" i="1" dirty="0">
                <a:solidFill>
                  <a:srgbClr val="7030A0"/>
                </a:solidFill>
              </a:rPr>
              <a:t> learning</a:t>
            </a:r>
            <a:r>
              <a:rPr lang="pt-BR" dirty="0"/>
              <a:t>, uma vez que o algoritmo </a:t>
            </a:r>
            <a:r>
              <a:rPr lang="pt-BR" b="1" i="1" dirty="0">
                <a:solidFill>
                  <a:srgbClr val="7030A0"/>
                </a:solidFill>
              </a:rPr>
              <a:t>não “constrói”</a:t>
            </a:r>
            <a:r>
              <a:rPr lang="pt-BR" b="1" i="1" dirty="0">
                <a:solidFill>
                  <a:srgbClr val="0070C0"/>
                </a:solidFill>
              </a:rPr>
              <a:t> um modelo até o instante em que uma predição é solicitada</a:t>
            </a:r>
            <a:r>
              <a:rPr lang="pt-BR" dirty="0">
                <a:solidFill>
                  <a:srgbClr val="0070C0"/>
                </a:solidFill>
              </a:rPr>
              <a:t>.</a:t>
            </a:r>
          </a:p>
          <a:p>
            <a:pPr lvl="1">
              <a:buFont typeface="Wingdings" panose="05000000000000000000" pitchFamily="2" charset="2"/>
              <a:buChar char="§"/>
            </a:pPr>
            <a:r>
              <a:rPr lang="pt-BR" dirty="0"/>
              <a:t>Ou seja, </a:t>
            </a:r>
            <a:r>
              <a:rPr lang="pt-BR" b="1" i="1" dirty="0">
                <a:solidFill>
                  <a:schemeClr val="accent2"/>
                </a:solidFill>
              </a:rPr>
              <a:t>não existe</a:t>
            </a:r>
            <a:r>
              <a:rPr lang="pt-BR" b="1" i="1" dirty="0">
                <a:solidFill>
                  <a:srgbClr val="00B050"/>
                </a:solidFill>
              </a:rPr>
              <a:t> uma etapa explícita de </a:t>
            </a:r>
            <a:r>
              <a:rPr lang="pt-BR" b="1" i="1" dirty="0">
                <a:solidFill>
                  <a:schemeClr val="accent2"/>
                </a:solidFill>
              </a:rPr>
              <a:t>treinamento</a:t>
            </a:r>
            <a:r>
              <a:rPr lang="pt-BR" b="1" i="1" dirty="0">
                <a:solidFill>
                  <a:srgbClr val="00B050"/>
                </a:solidFill>
              </a:rPr>
              <a:t>/aprendizado</a:t>
            </a:r>
            <a:r>
              <a:rPr lang="pt-BR" dirty="0"/>
              <a:t>.</a:t>
            </a:r>
          </a:p>
          <a:p>
            <a:pPr lvl="1">
              <a:buFont typeface="Wingdings" panose="05000000000000000000" pitchFamily="2" charset="2"/>
              <a:buChar char="§"/>
            </a:pPr>
            <a:r>
              <a:rPr lang="pt-BR" dirty="0"/>
              <a:t>Em vez disso, todo </a:t>
            </a:r>
            <a:r>
              <a:rPr lang="pt-BR" b="1" i="1" dirty="0">
                <a:solidFill>
                  <a:srgbClr val="00B050"/>
                </a:solidFill>
              </a:rPr>
              <a:t>o aprendizado é </a:t>
            </a:r>
            <a:r>
              <a:rPr lang="pt-BR" b="1" i="1" dirty="0">
                <a:solidFill>
                  <a:schemeClr val="accent2"/>
                </a:solidFill>
              </a:rPr>
              <a:t>adiado</a:t>
            </a:r>
            <a:r>
              <a:rPr lang="pt-BR" b="1" i="1" dirty="0">
                <a:solidFill>
                  <a:srgbClr val="00B050"/>
                </a:solidFill>
              </a:rPr>
              <a:t> até a fase de predição</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398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k-Vizinhos mais Próximos (k-NN)</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O k-NN segue o paradigma de </a:t>
            </a:r>
            <a:r>
              <a:rPr lang="pt-BR" b="1" i="1" dirty="0">
                <a:solidFill>
                  <a:srgbClr val="00B050"/>
                </a:solidFill>
              </a:rPr>
              <a:t>aprendizado-baseado em exemplos</a:t>
            </a:r>
            <a:r>
              <a:rPr lang="pt-BR" dirty="0"/>
              <a:t>, onde ao invés de se treinar um modelo a partir do conjunto de treinamento, ele </a:t>
            </a:r>
            <a:r>
              <a:rPr lang="pt-BR" b="1" i="1" dirty="0">
                <a:solidFill>
                  <a:schemeClr val="accent5"/>
                </a:solidFill>
              </a:rPr>
              <a:t>compara exemplos de entrada com os exemplos do conjunto de treinamento</a:t>
            </a:r>
            <a:r>
              <a:rPr lang="pt-BR" b="1" i="1" dirty="0"/>
              <a:t> </a:t>
            </a:r>
            <a:r>
              <a:rPr lang="pt-BR" b="1" i="1" dirty="0">
                <a:solidFill>
                  <a:schemeClr val="accent2"/>
                </a:solidFill>
              </a:rPr>
              <a:t>armazenados em memória</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498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Desvantagens</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Todos os dados de treinamento precisam ser </a:t>
            </a:r>
            <a:r>
              <a:rPr lang="pt-BR" b="1" i="1" dirty="0">
                <a:solidFill>
                  <a:srgbClr val="7030A0"/>
                </a:solidFill>
              </a:rPr>
              <a:t>armazenados</a:t>
            </a:r>
            <a:r>
              <a:rPr lang="pt-BR" dirty="0"/>
              <a:t> e </a:t>
            </a:r>
            <a:r>
              <a:rPr lang="pt-BR" b="1" i="1" dirty="0">
                <a:solidFill>
                  <a:srgbClr val="7030A0"/>
                </a:solidFill>
              </a:rPr>
              <a:t>consultados</a:t>
            </a:r>
            <a:r>
              <a:rPr lang="pt-BR" dirty="0"/>
              <a:t> para se identificar os </a:t>
            </a:r>
            <a:r>
              <a:rPr lang="pt-BR" b="1" i="1" dirty="0"/>
              <a:t>k </a:t>
            </a:r>
            <a:r>
              <a:rPr lang="pt-BR" dirty="0"/>
              <a:t>vizinhos mais próximos.</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837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Desvantagens</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Portanto, a </a:t>
            </a:r>
            <a:r>
              <a:rPr lang="pt-BR" b="1" i="1" dirty="0"/>
              <a:t>predição</a:t>
            </a:r>
            <a:r>
              <a:rPr lang="pt-BR" dirty="0"/>
              <a:t> poderá ser </a:t>
            </a:r>
            <a:r>
              <a:rPr lang="pt-BR" b="1" i="1" dirty="0">
                <a:solidFill>
                  <a:srgbClr val="7030A0"/>
                </a:solidFill>
              </a:rPr>
              <a:t>demorada</a:t>
            </a:r>
            <a:r>
              <a:rPr lang="pt-BR" dirty="0"/>
              <a:t> dependendo do tamanho do conjunto de treinamento, pois deve-se </a:t>
            </a:r>
            <a:r>
              <a:rPr lang="pt-BR" b="1" i="1" dirty="0">
                <a:solidFill>
                  <a:srgbClr val="7030A0"/>
                </a:solidFill>
              </a:rPr>
              <a:t>calcular a distância entre o exemplo de entrada e todos os exemplos do conjunto de treinamento</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425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Desvantagens</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6096000" y="1825624"/>
            <a:ext cx="5976256" cy="5032375"/>
          </a:xfrm>
        </p:spPr>
        <p:txBody>
          <a:bodyPr>
            <a:normAutofit/>
          </a:bodyPr>
          <a:lstStyle/>
          <a:p>
            <a:r>
              <a:rPr lang="pt-BR" dirty="0"/>
              <a:t>Além disto, como vimos, o </a:t>
            </a:r>
            <a:r>
              <a:rPr lang="pt-BR" b="1" i="1" dirty="0">
                <a:solidFill>
                  <a:srgbClr val="7030A0"/>
                </a:solidFill>
              </a:rPr>
              <a:t>conjunto de treinamento deve ser armazenado em memória</a:t>
            </a:r>
            <a:r>
              <a:rPr lang="pt-BR" dirty="0"/>
              <a:t>, e caso esse conjunto seja muito grande, pode não haver memória o suficiente para armazená-lo.</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4" y="2275115"/>
            <a:ext cx="5864065" cy="35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12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Outras desvantagens: Sensibilidade à dimensionalidade</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562601" y="1825624"/>
            <a:ext cx="6509656" cy="5032375"/>
          </a:xfrm>
        </p:spPr>
        <p:txBody>
          <a:bodyPr>
            <a:normAutofit/>
          </a:bodyPr>
          <a:lstStyle/>
          <a:p>
            <a:r>
              <a:rPr lang="pt-BR" dirty="0"/>
              <a:t>O desempenho do k-NN pode ser afetado quando o conjuntos de dados possui </a:t>
            </a:r>
            <a:r>
              <a:rPr lang="pt-BR" b="1" i="1" dirty="0">
                <a:solidFill>
                  <a:srgbClr val="00B050"/>
                </a:solidFill>
              </a:rPr>
              <a:t>alta dimensionalidade</a:t>
            </a:r>
            <a:r>
              <a:rPr lang="pt-BR" dirty="0"/>
              <a:t>. </a:t>
            </a:r>
          </a:p>
          <a:p>
            <a:r>
              <a:rPr lang="pt-BR" dirty="0"/>
              <a:t>Isso ocorre porque, em espaços de alta dimensão, </a:t>
            </a:r>
            <a:r>
              <a:rPr lang="pt-BR" b="1" i="1" dirty="0">
                <a:solidFill>
                  <a:srgbClr val="00B050"/>
                </a:solidFill>
              </a:rPr>
              <a:t>a noção de proximidade entre exemplos pode se tornar menos significativa, levando a resultados menos precisos</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666737"/>
            <a:ext cx="5225142" cy="320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89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Outras desvantagens: Sensibilidade à dimensionalidade</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562601" y="1825624"/>
            <a:ext cx="6509656" cy="5032375"/>
          </a:xfrm>
        </p:spPr>
        <p:txBody>
          <a:bodyPr>
            <a:normAutofit/>
          </a:bodyPr>
          <a:lstStyle/>
          <a:p>
            <a:r>
              <a:rPr lang="pt-BR" dirty="0"/>
              <a:t>À medida que as dimensões aumentam, os dados tornam-se mais </a:t>
            </a:r>
            <a:r>
              <a:rPr lang="pt-BR" b="1" i="1" dirty="0">
                <a:solidFill>
                  <a:srgbClr val="7030A0"/>
                </a:solidFill>
              </a:rPr>
              <a:t>esparsos</a:t>
            </a:r>
            <a:r>
              <a:rPr lang="pt-BR" dirty="0"/>
              <a:t>, dificultando a busca por vizinhos próximos significativos.</a:t>
            </a:r>
          </a:p>
          <a:p>
            <a:pPr lvl="1">
              <a:buFont typeface="Wingdings" panose="05000000000000000000" pitchFamily="2" charset="2"/>
              <a:buChar char="§"/>
            </a:pPr>
            <a:r>
              <a:rPr lang="pt-BR" b="1" dirty="0" err="1"/>
              <a:t>Esparsidade</a:t>
            </a:r>
            <a:r>
              <a:rPr lang="pt-BR" dirty="0"/>
              <a:t>: exemplos ficam mais distantes uns dos outros.</a:t>
            </a:r>
          </a:p>
          <a:p>
            <a:r>
              <a:rPr lang="pt-BR" dirty="0"/>
              <a:t>A </a:t>
            </a:r>
            <a:r>
              <a:rPr lang="pt-BR" dirty="0" err="1"/>
              <a:t>esparsidade</a:t>
            </a:r>
            <a:r>
              <a:rPr lang="pt-BR" dirty="0"/>
              <a:t> faz com que existam </a:t>
            </a:r>
            <a:r>
              <a:rPr lang="pt-BR" b="1" i="1" dirty="0">
                <a:solidFill>
                  <a:srgbClr val="7030A0"/>
                </a:solidFill>
              </a:rPr>
              <a:t>menos pontos vizinhos dentro de uma determinada distância</a:t>
            </a:r>
            <a:r>
              <a:rPr lang="pt-BR" dirty="0"/>
              <a:t>.</a:t>
            </a:r>
          </a:p>
          <a:p>
            <a:endParaRPr lang="pt-BR" dirty="0"/>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666737"/>
            <a:ext cx="5225142" cy="320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299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Outras desvantagens: Sensibilidade à dimensionalidade</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562601" y="1825624"/>
            <a:ext cx="6509656" cy="5032375"/>
          </a:xfrm>
        </p:spPr>
        <p:txBody>
          <a:bodyPr>
            <a:normAutofit/>
          </a:bodyPr>
          <a:lstStyle/>
          <a:p>
            <a:r>
              <a:rPr lang="pt-BR" dirty="0"/>
              <a:t>Além disso, em </a:t>
            </a:r>
            <a:r>
              <a:rPr lang="pt-BR" b="1" i="1" dirty="0">
                <a:solidFill>
                  <a:srgbClr val="7030A0"/>
                </a:solidFill>
              </a:rPr>
              <a:t>espaços de alta dimensionalidade</a:t>
            </a:r>
            <a:r>
              <a:rPr lang="pt-BR" dirty="0"/>
              <a:t> as </a:t>
            </a:r>
            <a:r>
              <a:rPr lang="pt-BR" b="1" i="1" dirty="0">
                <a:solidFill>
                  <a:srgbClr val="00B050"/>
                </a:solidFill>
              </a:rPr>
              <a:t>distâncias</a:t>
            </a:r>
            <a:r>
              <a:rPr lang="pt-BR" dirty="0"/>
              <a:t> entre pontos </a:t>
            </a:r>
            <a:r>
              <a:rPr lang="pt-BR" b="1" i="1" dirty="0">
                <a:solidFill>
                  <a:srgbClr val="00B050"/>
                </a:solidFill>
              </a:rPr>
              <a:t>se tornam mais uniformes </a:t>
            </a:r>
            <a:r>
              <a:rPr lang="pt-BR" dirty="0"/>
              <a:t>(i.e., </a:t>
            </a:r>
            <a:r>
              <a:rPr lang="pt-BR" b="1" i="1" dirty="0">
                <a:solidFill>
                  <a:srgbClr val="002060"/>
                </a:solidFill>
              </a:rPr>
              <a:t>equidistante</a:t>
            </a:r>
            <a:r>
              <a:rPr lang="pt-BR" dirty="0"/>
              <a:t>), o que </a:t>
            </a:r>
            <a:r>
              <a:rPr lang="pt-BR" b="1" i="1" dirty="0">
                <a:solidFill>
                  <a:schemeClr val="accent2"/>
                </a:solidFill>
              </a:rPr>
              <a:t>reduz a relevância do conceito de vizinhança</a:t>
            </a:r>
            <a:r>
              <a:rPr lang="pt-BR" dirty="0"/>
              <a:t>.</a:t>
            </a:r>
          </a:p>
          <a:p>
            <a:r>
              <a:rPr lang="pt-BR" dirty="0"/>
              <a:t>Isso degrada o desempenho do k-NN, pois sua </a:t>
            </a:r>
            <a:r>
              <a:rPr lang="pt-BR" b="1" i="1" dirty="0">
                <a:solidFill>
                  <a:schemeClr val="accent5"/>
                </a:solidFill>
              </a:rPr>
              <a:t>suposição de que pontos próximos têm rótulos semelhantes</a:t>
            </a:r>
            <a:r>
              <a:rPr lang="pt-BR" dirty="0"/>
              <a:t> </a:t>
            </a:r>
            <a:r>
              <a:rPr lang="pt-BR" b="1" i="1" dirty="0">
                <a:solidFill>
                  <a:schemeClr val="accent5"/>
                </a:solidFill>
              </a:rPr>
              <a:t>pode não se aplicar</a:t>
            </a:r>
            <a:r>
              <a:rPr lang="pt-BR" dirty="0"/>
              <a:t> em alta dimensionalidade.</a:t>
            </a:r>
          </a:p>
          <a:p>
            <a:r>
              <a:rPr lang="pt-BR" dirty="0"/>
              <a:t>Além disso, o </a:t>
            </a:r>
            <a:r>
              <a:rPr lang="pt-BR" b="1" i="1" dirty="0">
                <a:solidFill>
                  <a:srgbClr val="7030A0"/>
                </a:solidFill>
              </a:rPr>
              <a:t>cálculo da distância se torna mais custoso computacionalmente</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666737"/>
            <a:ext cx="5225142" cy="320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14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Outras desvantagens: Sensibilidade a dados desbalanceados</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562601" y="1825624"/>
            <a:ext cx="6509656" cy="5032375"/>
          </a:xfrm>
        </p:spPr>
        <p:txBody>
          <a:bodyPr>
            <a:normAutofit/>
          </a:bodyPr>
          <a:lstStyle/>
          <a:p>
            <a:r>
              <a:rPr lang="pt-BR" dirty="0"/>
              <a:t>Se as classes estiverem desbalanceadas, o k-NN pode se tornar </a:t>
            </a:r>
            <a:r>
              <a:rPr lang="pt-BR" b="1" i="1" dirty="0">
                <a:solidFill>
                  <a:srgbClr val="00B050"/>
                </a:solidFill>
              </a:rPr>
              <a:t>enviesado em direção à classe majoritária</a:t>
            </a:r>
            <a:r>
              <a:rPr lang="pt-BR" dirty="0"/>
              <a:t>. </a:t>
            </a:r>
          </a:p>
          <a:p>
            <a:r>
              <a:rPr lang="pt-BR" dirty="0"/>
              <a:t>Isso ocorre porque, ao selecionar os </a:t>
            </a:r>
            <a:r>
              <a:rPr lang="pt-BR" i="1" dirty="0"/>
              <a:t>k</a:t>
            </a:r>
            <a:r>
              <a:rPr lang="pt-BR" dirty="0"/>
              <a:t> vizinhos mais próximos, é mais provável que sejam selecionados exemplos da classe majoritária.</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666737"/>
            <a:ext cx="5225142" cy="320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081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2C178B-CDE4-F0CB-A627-4DA3F1A60546}"/>
              </a:ext>
            </a:extLst>
          </p:cNvPr>
          <p:cNvSpPr>
            <a:spLocks noGrp="1"/>
          </p:cNvSpPr>
          <p:nvPr>
            <p:ph type="title"/>
          </p:nvPr>
        </p:nvSpPr>
        <p:spPr/>
        <p:txBody>
          <a:bodyPr/>
          <a:lstStyle/>
          <a:p>
            <a:r>
              <a:rPr lang="pt-BR" dirty="0"/>
              <a:t>Outras desvantagens: Necessidade de pré-processamento de dados</a:t>
            </a:r>
          </a:p>
        </p:txBody>
      </p:sp>
      <p:sp>
        <p:nvSpPr>
          <p:cNvPr id="3" name="Espaço Reservado para Conteúdo 2">
            <a:extLst>
              <a:ext uri="{FF2B5EF4-FFF2-40B4-BE49-F238E27FC236}">
                <a16:creationId xmlns:a16="http://schemas.microsoft.com/office/drawing/2014/main" id="{CC5E0BCC-2529-D52A-D99F-AC57ABFE0FA0}"/>
              </a:ext>
            </a:extLst>
          </p:cNvPr>
          <p:cNvSpPr>
            <a:spLocks noGrp="1"/>
          </p:cNvSpPr>
          <p:nvPr>
            <p:ph idx="1"/>
          </p:nvPr>
        </p:nvSpPr>
        <p:spPr>
          <a:xfrm>
            <a:off x="5562601" y="1825624"/>
            <a:ext cx="6509656" cy="5032375"/>
          </a:xfrm>
        </p:spPr>
        <p:txBody>
          <a:bodyPr>
            <a:normAutofit/>
          </a:bodyPr>
          <a:lstStyle/>
          <a:p>
            <a:r>
              <a:rPr lang="pt-BR" dirty="0"/>
              <a:t>O k-NN é </a:t>
            </a:r>
            <a:r>
              <a:rPr lang="pt-BR" b="1" i="1" dirty="0">
                <a:solidFill>
                  <a:srgbClr val="00B050"/>
                </a:solidFill>
              </a:rPr>
              <a:t>sensível a atributos com diferentes escalas</a:t>
            </a:r>
            <a:r>
              <a:rPr lang="pt-BR" dirty="0"/>
              <a:t>. </a:t>
            </a:r>
          </a:p>
          <a:p>
            <a:r>
              <a:rPr lang="pt-BR" dirty="0"/>
              <a:t>Portanto, em geral, </a:t>
            </a:r>
            <a:r>
              <a:rPr lang="pt-BR" b="1" i="1" dirty="0">
                <a:solidFill>
                  <a:srgbClr val="00B050"/>
                </a:solidFill>
              </a:rPr>
              <a:t>é necessário realizar escalonamento</a:t>
            </a:r>
            <a:r>
              <a:rPr lang="pt-BR" dirty="0"/>
              <a:t>, como normalização ou padronização, para garantir que todos os </a:t>
            </a:r>
            <a:r>
              <a:rPr lang="pt-BR" b="1" i="1" dirty="0">
                <a:solidFill>
                  <a:srgbClr val="7030A0"/>
                </a:solidFill>
              </a:rPr>
              <a:t>atributos</a:t>
            </a:r>
            <a:r>
              <a:rPr lang="pt-BR" dirty="0"/>
              <a:t> tenham uma </a:t>
            </a:r>
            <a:r>
              <a:rPr lang="pt-BR" b="1" i="1" dirty="0">
                <a:solidFill>
                  <a:srgbClr val="7030A0"/>
                </a:solidFill>
              </a:rPr>
              <a:t>contribuição similar no cálculo da distância</a:t>
            </a:r>
            <a:r>
              <a:rPr lang="pt-BR" dirty="0"/>
              <a:t>.</a:t>
            </a:r>
          </a:p>
        </p:txBody>
      </p:sp>
      <p:pic>
        <p:nvPicPr>
          <p:cNvPr id="4" name="Picture 2" descr="k-nearest neighbors. A diagram showing an example of the k-nearest... |  Download Scientific Diagram">
            <a:extLst>
              <a:ext uri="{FF2B5EF4-FFF2-40B4-BE49-F238E27FC236}">
                <a16:creationId xmlns:a16="http://schemas.microsoft.com/office/drawing/2014/main" id="{49D08E49-9203-EFE4-96AA-4B303846A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666737"/>
            <a:ext cx="5225142" cy="320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373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Métricas de distância</a:t>
            </a:r>
          </a:p>
        </p:txBody>
      </p:sp>
      <p:sp>
        <p:nvSpPr>
          <p:cNvPr id="3" name="Content Placeholder 2"/>
          <p:cNvSpPr>
            <a:spLocks noGrp="1"/>
          </p:cNvSpPr>
          <p:nvPr>
            <p:ph idx="1"/>
          </p:nvPr>
        </p:nvSpPr>
        <p:spPr>
          <a:xfrm>
            <a:off x="5747657" y="1825624"/>
            <a:ext cx="6237513" cy="5032375"/>
          </a:xfrm>
        </p:spPr>
        <p:txBody>
          <a:bodyPr>
            <a:normAutofit/>
          </a:bodyPr>
          <a:lstStyle/>
          <a:p>
            <a:r>
              <a:rPr lang="pt-BR" b="1" dirty="0"/>
              <a:t>Definição</a:t>
            </a:r>
            <a:r>
              <a:rPr lang="pt-BR" dirty="0"/>
              <a:t>: Uma métrica de distância fornece a </a:t>
            </a:r>
            <a:r>
              <a:rPr lang="pt-BR" b="1" i="1" dirty="0">
                <a:solidFill>
                  <a:srgbClr val="7030A0"/>
                </a:solidFill>
              </a:rPr>
              <a:t>distância entre os elementos de um conjunto</a:t>
            </a:r>
            <a:r>
              <a:rPr lang="pt-BR" dirty="0"/>
              <a:t>. </a:t>
            </a:r>
          </a:p>
          <a:p>
            <a:r>
              <a:rPr lang="pt-BR" dirty="0"/>
              <a:t>Se a </a:t>
            </a:r>
            <a:r>
              <a:rPr lang="pt-BR" b="1" i="1" dirty="0">
                <a:solidFill>
                  <a:srgbClr val="7030A0"/>
                </a:solidFill>
              </a:rPr>
              <a:t>distância</a:t>
            </a:r>
            <a:r>
              <a:rPr lang="pt-BR" dirty="0"/>
              <a:t> é igual a </a:t>
            </a:r>
            <a:r>
              <a:rPr lang="pt-BR" b="1" i="1" dirty="0">
                <a:solidFill>
                  <a:srgbClr val="7030A0"/>
                </a:solidFill>
              </a:rPr>
              <a:t>zero</a:t>
            </a:r>
            <a:r>
              <a:rPr lang="pt-BR" dirty="0"/>
              <a:t>, os </a:t>
            </a:r>
            <a:r>
              <a:rPr lang="pt-BR" b="1" i="1" dirty="0">
                <a:solidFill>
                  <a:srgbClr val="00B050"/>
                </a:solidFill>
              </a:rPr>
              <a:t>elementos são equivalentes</a:t>
            </a:r>
            <a:r>
              <a:rPr lang="pt-BR" dirty="0"/>
              <a:t>, </a:t>
            </a:r>
            <a:r>
              <a:rPr lang="pt-BR" b="1" i="1" dirty="0">
                <a:solidFill>
                  <a:srgbClr val="0070C0"/>
                </a:solidFill>
              </a:rPr>
              <a:t>caso contrário, os elementos são diferentes</a:t>
            </a:r>
            <a:r>
              <a:rPr lang="pt-BR" dirty="0"/>
              <a:t> uns dos outros.</a:t>
            </a:r>
          </a:p>
        </p:txBody>
      </p:sp>
      <p:pic>
        <p:nvPicPr>
          <p:cNvPr id="4" name="Picture 2" descr="k-nearest neighbors. A diagram showing an example of the k-nearest... |  Download Scientific Diagram">
            <a:extLst>
              <a:ext uri="{FF2B5EF4-FFF2-40B4-BE49-F238E27FC236}">
                <a16:creationId xmlns:a16="http://schemas.microsoft.com/office/drawing/2014/main" id="{5CBAEF94-DBE8-2600-3605-B9D4374F5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45" y="2569029"/>
            <a:ext cx="5384550" cy="330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82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Métricas de distância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40829" y="1825624"/>
                <a:ext cx="6444342" cy="5032375"/>
              </a:xfrm>
            </p:spPr>
            <p:txBody>
              <a:bodyPr>
                <a:normAutofit/>
              </a:bodyPr>
              <a:lstStyle/>
              <a:p>
                <a:r>
                  <a:rPr lang="pt-BR" dirty="0"/>
                  <a:t>No nosso caso, a métrica serve para </a:t>
                </a:r>
                <a:r>
                  <a:rPr lang="pt-BR" b="1" i="1" dirty="0">
                    <a:solidFill>
                      <a:srgbClr val="0070C0"/>
                    </a:solidFill>
                  </a:rPr>
                  <a:t>medir a distância</a:t>
                </a:r>
                <a:r>
                  <a:rPr lang="pt-BR" dirty="0"/>
                  <a:t>/</a:t>
                </a:r>
                <a:r>
                  <a:rPr lang="pt-BR" b="1" i="1" dirty="0">
                    <a:solidFill>
                      <a:schemeClr val="accent5"/>
                    </a:solidFill>
                  </a:rPr>
                  <a:t>similaridade</a:t>
                </a:r>
                <a:r>
                  <a:rPr lang="pt-BR" dirty="0"/>
                  <a:t> entre os </a:t>
                </a:r>
                <a14:m>
                  <m:oMath xmlns:m="http://schemas.openxmlformats.org/officeDocument/2006/math">
                    <m:r>
                      <a:rPr lang="pt-BR" b="1" i="1" smtClean="0">
                        <a:solidFill>
                          <a:srgbClr val="0070C0"/>
                        </a:solidFill>
                        <a:latin typeface="Cambria Math" panose="02040503050406030204" pitchFamily="18" charset="0"/>
                      </a:rPr>
                      <m:t>𝑲</m:t>
                    </m:r>
                  </m:oMath>
                </a14:m>
                <a:r>
                  <a:rPr lang="pt-BR" b="1" i="1" dirty="0">
                    <a:solidFill>
                      <a:srgbClr val="0070C0"/>
                    </a:solidFill>
                  </a:rPr>
                  <a:t> atributos do vetor de entrada</a:t>
                </a:r>
                <a:r>
                  <a:rPr lang="pt-BR" dirty="0"/>
                  <a:t> e os </a:t>
                </a:r>
                <a14:m>
                  <m:oMath xmlns:m="http://schemas.openxmlformats.org/officeDocument/2006/math">
                    <m:r>
                      <a:rPr lang="pt-BR" b="1" i="1" smtClean="0">
                        <a:solidFill>
                          <a:schemeClr val="accent2"/>
                        </a:solidFill>
                        <a:latin typeface="Cambria Math" panose="02040503050406030204" pitchFamily="18" charset="0"/>
                      </a:rPr>
                      <m:t>𝑲</m:t>
                    </m:r>
                  </m:oMath>
                </a14:m>
                <a:r>
                  <a:rPr lang="pt-BR" b="1" i="1" dirty="0">
                    <a:solidFill>
                      <a:schemeClr val="accent2"/>
                    </a:solidFill>
                  </a:rPr>
                  <a:t> atributos dos vetores do conjunto de treinamento</a:t>
                </a:r>
                <a:r>
                  <a:rPr lang="pt-BR" dirty="0"/>
                  <a:t>.</a:t>
                </a:r>
              </a:p>
              <a:p>
                <a:r>
                  <a:rPr lang="pt-BR" dirty="0"/>
                  <a:t>Existem várias </a:t>
                </a:r>
                <a:r>
                  <a:rPr lang="pt-BR" b="1" i="1" dirty="0"/>
                  <a:t>métricas de distância</a:t>
                </a:r>
                <a:r>
                  <a:rPr lang="pt-BR" dirty="0"/>
                  <a:t>, mas vamos discutir apenas as mais utilizadas através de uma </a:t>
                </a:r>
                <a:r>
                  <a:rPr lang="pt-BR" b="1" i="1" dirty="0"/>
                  <a:t>métrica de distância generalizada</a:t>
                </a:r>
                <a:r>
                  <a:rPr lang="pt-BR" dirty="0"/>
                  <a:t>, chamada de </a:t>
                </a:r>
                <a:r>
                  <a:rPr lang="pt-BR" b="1" i="1" dirty="0"/>
                  <a:t>distância de </a:t>
                </a:r>
                <a:r>
                  <a:rPr lang="pt-BR" b="1" i="1" dirty="0">
                    <a:solidFill>
                      <a:schemeClr val="accent2"/>
                    </a:solidFill>
                  </a:rPr>
                  <a:t>Minkowski</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40829" y="1825624"/>
                <a:ext cx="6444342" cy="5032375"/>
              </a:xfrm>
              <a:blipFill>
                <a:blip r:embed="rId3"/>
                <a:stretch>
                  <a:fillRect l="-1703" t="-1937" r="-2649"/>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BD75B8AA-932A-0539-0B05-8370B6691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5" y="2569029"/>
            <a:ext cx="5384550" cy="330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84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Métricas de distância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40829" y="1825624"/>
                <a:ext cx="6444342" cy="5032375"/>
              </a:xfrm>
            </p:spPr>
            <p:txBody>
              <a:bodyPr>
                <a:normAutofit/>
              </a:bodyPr>
              <a:lstStyle/>
              <a:p>
                <a:r>
                  <a:rPr lang="pt-BR" b="1" dirty="0"/>
                  <a:t>Distância de </a:t>
                </a:r>
                <a:r>
                  <a:rPr lang="pt-BR" b="1" i="1" dirty="0">
                    <a:solidFill>
                      <a:schemeClr val="accent5"/>
                    </a:solidFill>
                  </a:rPr>
                  <a:t>Minkowski</a:t>
                </a:r>
                <a:r>
                  <a:rPr lang="pt-BR" dirty="0"/>
                  <a:t>: é uma métrica definda no </a:t>
                </a:r>
                <a:r>
                  <a:rPr lang="pt-BR" b="1" i="1" dirty="0">
                    <a:solidFill>
                      <a:srgbClr val="7030A0"/>
                    </a:solidFill>
                  </a:rPr>
                  <a:t>espaço vetorial normado</a:t>
                </a:r>
                <a:r>
                  <a:rPr lang="pt-BR" dirty="0"/>
                  <a:t> (ou seja, um </a:t>
                </a:r>
                <a:r>
                  <a:rPr lang="pt-BR" b="1" i="1" dirty="0"/>
                  <a:t>espaço vetorial </a:t>
                </a:r>
                <a:r>
                  <a:rPr lang="pt-BR" dirty="0"/>
                  <a:t>no qual uma </a:t>
                </a:r>
                <a:r>
                  <a:rPr lang="pt-BR" b="1" i="1" dirty="0"/>
                  <a:t>norma vetorial</a:t>
                </a:r>
                <a:r>
                  <a:rPr lang="pt-BR" dirty="0"/>
                  <a:t>, </a:t>
                </a:r>
                <a14:m>
                  <m:oMath xmlns:m="http://schemas.openxmlformats.org/officeDocument/2006/math">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m:t>
                        </m:r>
                      </m:e>
                    </m:d>
                  </m:oMath>
                </a14:m>
                <a:r>
                  <a:rPr lang="pt-BR" dirty="0"/>
                  <a:t>, é definida) que satisfaz algumas propriedades.</a:t>
                </a:r>
              </a:p>
              <a:p>
                <a:pPr lvl="1">
                  <a:buFont typeface="Wingdings" panose="05000000000000000000" pitchFamily="2" charset="2"/>
                  <a:buChar char="§"/>
                </a:pPr>
                <a:r>
                  <a:rPr lang="pt-BR" dirty="0"/>
                  <a:t>É um </a:t>
                </a:r>
                <a:r>
                  <a:rPr lang="pt-BR" b="1" i="1" dirty="0">
                    <a:solidFill>
                      <a:srgbClr val="00B050"/>
                    </a:solidFill>
                  </a:rPr>
                  <a:t>espaço onde podemos medir o tamanho ou magnitude dos vetores</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40829" y="1825624"/>
                <a:ext cx="6444342" cy="5032375"/>
              </a:xfrm>
              <a:blipFill>
                <a:blip r:embed="rId3"/>
                <a:stretch>
                  <a:fillRect l="-1703" t="-1937" r="-473"/>
                </a:stretch>
              </a:blipFill>
            </p:spPr>
            <p:txBody>
              <a:bodyPr/>
              <a:lstStyle/>
              <a:p>
                <a:r>
                  <a:rPr lang="pt-BR">
                    <a:noFill/>
                  </a:rPr>
                  <a:t> </a:t>
                </a:r>
              </a:p>
            </p:txBody>
          </p:sp>
        </mc:Fallback>
      </mc:AlternateContent>
      <p:pic>
        <p:nvPicPr>
          <p:cNvPr id="4" name="Picture 2" descr="k-nearest neighbors. A diagram showing an example of the k-nearest... |  Download Scientific Diagram">
            <a:extLst>
              <a:ext uri="{FF2B5EF4-FFF2-40B4-BE49-F238E27FC236}">
                <a16:creationId xmlns:a16="http://schemas.microsoft.com/office/drawing/2014/main" id="{BD75B8AA-932A-0539-0B05-8370B6691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745" y="2569029"/>
            <a:ext cx="5384550" cy="330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1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67698"/>
            <a:ext cx="10515600" cy="1037648"/>
          </a:xfrm>
        </p:spPr>
        <p:txBody>
          <a:bodyPr/>
          <a:lstStyle/>
          <a:p>
            <a:r>
              <a:rPr lang="pt-BR" dirty="0"/>
              <a:t>Métricas de distância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496291"/>
                <a:ext cx="11173692" cy="5361709"/>
              </a:xfrm>
            </p:spPr>
            <p:txBody>
              <a:bodyPr>
                <a:normAutofit/>
              </a:bodyPr>
              <a:lstStyle/>
              <a:p>
                <a:r>
                  <a:rPr lang="pt-BR" dirty="0"/>
                  <a:t>A </a:t>
                </a:r>
                <a:r>
                  <a:rPr lang="pt-BR" b="1" i="1" dirty="0"/>
                  <a:t>norma vetorial</a:t>
                </a:r>
                <a:r>
                  <a:rPr lang="pt-BR" dirty="0"/>
                  <a:t>, </a:t>
                </a:r>
                <a14:m>
                  <m:oMath xmlns:m="http://schemas.openxmlformats.org/officeDocument/2006/math">
                    <m:r>
                      <a:rPr lang="pt-BR" i="1">
                        <a:latin typeface="Cambria Math" panose="02040503050406030204" pitchFamily="18" charset="0"/>
                      </a:rPr>
                      <m:t>𝑝</m:t>
                    </m:r>
                    <m:r>
                      <a:rPr lang="pt-BR" i="1">
                        <a:latin typeface="Cambria Math" panose="02040503050406030204" pitchFamily="18" charset="0"/>
                      </a:rPr>
                      <m:t>(.)</m:t>
                    </m:r>
                  </m:oMath>
                </a14:m>
                <a:r>
                  <a:rPr lang="pt-BR" dirty="0"/>
                  <a:t>, é uma </a:t>
                </a:r>
                <a:r>
                  <a:rPr lang="pt-BR" b="1" i="1" dirty="0">
                    <a:solidFill>
                      <a:srgbClr val="00B050"/>
                    </a:solidFill>
                  </a:rPr>
                  <a:t>função que mapeia um vetor em um </a:t>
                </a:r>
                <a:r>
                  <a:rPr lang="pt-BR" b="1" i="1" dirty="0">
                    <a:solidFill>
                      <a:schemeClr val="accent2"/>
                    </a:solidFill>
                  </a:rPr>
                  <a:t>número real não negativo</a:t>
                </a:r>
                <a:r>
                  <a:rPr lang="pt-BR" dirty="0"/>
                  <a:t>, i.e., </a:t>
                </a:r>
                <a14:m>
                  <m:oMath xmlns:m="http://schemas.openxmlformats.org/officeDocument/2006/math">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sup>
                    </m:sSup>
                    <m:r>
                      <a:rPr lang="pt-BR" b="1" i="1">
                        <a:latin typeface="Cambria Math" panose="02040503050406030204" pitchFamily="18" charset="0"/>
                        <a:ea typeface="Cambria Math" panose="02040503050406030204" pitchFamily="18" charset="0"/>
                      </a:rPr>
                      <m:t>→</m:t>
                    </m:r>
                    <m:sSub>
                      <m:sSubPr>
                        <m:ctrlPr>
                          <a:rPr lang="pt-BR" b="1" i="1" smtClean="0">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ℝ</m:t>
                        </m:r>
                      </m:e>
                      <m:sub>
                        <m:r>
                          <a:rPr lang="pt-BR" b="1" i="1" smtClean="0">
                            <a:latin typeface="Cambria Math" panose="02040503050406030204" pitchFamily="18" charset="0"/>
                            <a:ea typeface="Cambria Math" panose="02040503050406030204" pitchFamily="18" charset="0"/>
                          </a:rPr>
                          <m:t>+</m:t>
                        </m:r>
                      </m:sub>
                    </m:sSub>
                  </m:oMath>
                </a14:m>
                <a:r>
                  <a:rPr lang="pt-BR" dirty="0"/>
                  <a:t>, e que possui algumas propriedades. </a:t>
                </a:r>
              </a:p>
              <a:p>
                <a:r>
                  <a:rPr lang="pt-BR" dirty="0"/>
                  <a:t>Sejam 2 vetores, </a:t>
                </a:r>
                <a14:m>
                  <m:oMath xmlns:m="http://schemas.openxmlformats.org/officeDocument/2006/math">
                    <m:r>
                      <a:rPr lang="pt-BR" b="1" i="1">
                        <a:latin typeface="Cambria Math" panose="02040503050406030204" pitchFamily="18" charset="0"/>
                      </a:rPr>
                      <m:t>𝒗</m:t>
                    </m:r>
                  </m:oMath>
                </a14:m>
                <a:r>
                  <a:rPr lang="pt-BR" dirty="0"/>
                  <a:t> e </a:t>
                </a:r>
                <a14:m>
                  <m:oMath xmlns:m="http://schemas.openxmlformats.org/officeDocument/2006/math">
                    <m:r>
                      <a:rPr lang="pt-BR" b="1" i="1">
                        <a:latin typeface="Cambria Math" panose="02040503050406030204" pitchFamily="18" charset="0"/>
                      </a:rPr>
                      <m:t>𝒖</m:t>
                    </m:r>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sup>
                    </m:sSup>
                  </m:oMath>
                </a14:m>
                <a:r>
                  <a:rPr lang="pt-BR" dirty="0"/>
                  <a:t>, a norma </a:t>
                </a:r>
                <a14:m>
                  <m:oMath xmlns:m="http://schemas.openxmlformats.org/officeDocument/2006/math">
                    <m:r>
                      <a:rPr lang="pt-BR" i="1">
                        <a:latin typeface="Cambria Math" panose="02040503050406030204" pitchFamily="18" charset="0"/>
                      </a:rPr>
                      <m:t>𝑝</m:t>
                    </m:r>
                    <m:r>
                      <a:rPr lang="pt-BR" i="1">
                        <a:latin typeface="Cambria Math" panose="02040503050406030204" pitchFamily="18" charset="0"/>
                      </a:rPr>
                      <m:t>(.)</m:t>
                    </m:r>
                  </m:oMath>
                </a14:m>
                <a:r>
                  <a:rPr lang="pt-BR" dirty="0"/>
                  <a:t> dos vetores é uma </a:t>
                </a:r>
                <a:r>
                  <a:rPr lang="pt-BR" b="1" i="1" dirty="0"/>
                  <a:t>função com valores não-negativos</a:t>
                </a:r>
                <a:r>
                  <a:rPr lang="pt-BR" dirty="0"/>
                  <a:t> com as seguintes propriedades:</a:t>
                </a:r>
              </a:p>
              <a:p>
                <a:pPr lvl="1">
                  <a:buFont typeface="Wingdings" panose="05000000000000000000" pitchFamily="2" charset="2"/>
                  <a:buChar char="§"/>
                </a:pPr>
                <a:r>
                  <a:rPr lang="pt-BR" dirty="0"/>
                  <a:t>A norma satisfaz a </a:t>
                </a:r>
                <a:r>
                  <a:rPr lang="pt-BR" b="1" i="1" dirty="0"/>
                  <a:t>desigualdade do triângulo</a:t>
                </a:r>
                <a:r>
                  <a:rPr lang="pt-BR" dirty="0"/>
                  <a:t>:</a:t>
                </a:r>
              </a:p>
              <a:p>
                <a:pPr lvl="2">
                  <a:buFont typeface="Courier New" panose="02070309020205020404" pitchFamily="49" charset="0"/>
                  <a:buChar char="o"/>
                </a:pPr>
                <a14:m>
                  <m:oMath xmlns:m="http://schemas.openxmlformats.org/officeDocument/2006/math">
                    <m:r>
                      <a:rPr lang="pt-BR" i="1">
                        <a:latin typeface="Cambria Math" panose="02040503050406030204" pitchFamily="18" charset="0"/>
                      </a:rPr>
                      <m:t>𝑝</m:t>
                    </m:r>
                    <m:d>
                      <m:dPr>
                        <m:ctrlPr>
                          <a:rPr lang="pt-BR" i="1">
                            <a:latin typeface="Cambria Math" panose="02040503050406030204" pitchFamily="18" charset="0"/>
                          </a:rPr>
                        </m:ctrlPr>
                      </m:dPr>
                      <m:e>
                        <m:r>
                          <a:rPr lang="pt-BR" b="1" i="1">
                            <a:latin typeface="Cambria Math" panose="02040503050406030204" pitchFamily="18" charset="0"/>
                          </a:rPr>
                          <m:t>𝒗</m:t>
                        </m:r>
                        <m:r>
                          <a:rPr lang="pt-BR" i="1">
                            <a:latin typeface="Cambria Math" panose="02040503050406030204" pitchFamily="18" charset="0"/>
                          </a:rPr>
                          <m:t>+</m:t>
                        </m:r>
                        <m:r>
                          <a:rPr lang="pt-BR" b="1" i="1">
                            <a:latin typeface="Cambria Math" panose="02040503050406030204" pitchFamily="18" charset="0"/>
                          </a:rPr>
                          <m:t>𝒖</m:t>
                        </m:r>
                      </m:e>
                    </m:d>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𝑝</m:t>
                    </m:r>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𝒗</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𝑝</m:t>
                    </m:r>
                    <m:r>
                      <a:rPr lang="pt-BR"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𝒖</m:t>
                    </m:r>
                    <m:r>
                      <a:rPr lang="pt-BR" i="1">
                        <a:latin typeface="Cambria Math" panose="02040503050406030204" pitchFamily="18" charset="0"/>
                        <a:ea typeface="Cambria Math" panose="02040503050406030204" pitchFamily="18" charset="0"/>
                      </a:rPr>
                      <m:t>)</m:t>
                    </m:r>
                  </m:oMath>
                </a14:m>
                <a:endParaRPr lang="pt-BR" dirty="0"/>
              </a:p>
              <a:p>
                <a:pPr lvl="1">
                  <a:buFont typeface="Wingdings" panose="05000000000000000000" pitchFamily="2" charset="2"/>
                  <a:buChar char="§"/>
                </a:pPr>
                <a:r>
                  <a:rPr lang="pt-BR" dirty="0"/>
                  <a:t>A norma é </a:t>
                </a:r>
                <a:r>
                  <a:rPr lang="pt-BR" b="1" i="1" dirty="0"/>
                  <a:t>absolutamente escalável</a:t>
                </a:r>
                <a:r>
                  <a:rPr lang="pt-BR" dirty="0"/>
                  <a:t>:</a:t>
                </a:r>
                <a:endParaRPr lang="pt-BR" i="1" dirty="0">
                  <a:latin typeface="Cambria Math" panose="02040503050406030204" pitchFamily="18" charset="0"/>
                </a:endParaRPr>
              </a:p>
              <a:p>
                <a:pPr lvl="2">
                  <a:buFont typeface="Courier New" panose="02070309020205020404" pitchFamily="49" charset="0"/>
                  <a:buChar char="o"/>
                </a:pPr>
                <a14:m>
                  <m:oMath xmlns:m="http://schemas.openxmlformats.org/officeDocument/2006/math">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𝑎</m:t>
                        </m:r>
                        <m:r>
                          <a:rPr lang="pt-BR" b="1" i="1">
                            <a:latin typeface="Cambria Math" panose="02040503050406030204" pitchFamily="18" charset="0"/>
                          </a:rPr>
                          <m:t>𝒗</m:t>
                        </m:r>
                      </m:e>
                    </m:d>
                    <m:r>
                      <a:rPr lang="pt-BR" i="1">
                        <a:latin typeface="Cambria Math" panose="02040503050406030204" pitchFamily="18" charset="0"/>
                      </a:rPr>
                      <m:t>= </m:t>
                    </m:r>
                    <m:d>
                      <m:dPr>
                        <m:begChr m:val="|"/>
                        <m:endChr m:val="|"/>
                        <m:ctrlPr>
                          <a:rPr lang="pt-BR" i="1">
                            <a:latin typeface="Cambria Math" panose="02040503050406030204" pitchFamily="18" charset="0"/>
                          </a:rPr>
                        </m:ctrlPr>
                      </m:dPr>
                      <m:e>
                        <m:r>
                          <a:rPr lang="pt-BR" i="1">
                            <a:latin typeface="Cambria Math" panose="02040503050406030204" pitchFamily="18" charset="0"/>
                          </a:rPr>
                          <m:t>𝑎</m:t>
                        </m:r>
                      </m:e>
                    </m:d>
                    <m:r>
                      <a:rPr lang="pt-BR" i="1">
                        <a:latin typeface="Cambria Math" panose="02040503050406030204" pitchFamily="18" charset="0"/>
                      </a:rPr>
                      <m:t>𝑝</m:t>
                    </m:r>
                    <m:r>
                      <a:rPr lang="pt-BR" i="1">
                        <a:latin typeface="Cambria Math" panose="02040503050406030204" pitchFamily="18" charset="0"/>
                      </a:rPr>
                      <m:t>(</m:t>
                    </m:r>
                    <m:r>
                      <a:rPr lang="pt-BR" b="1" i="1">
                        <a:latin typeface="Cambria Math" panose="02040503050406030204" pitchFamily="18" charset="0"/>
                      </a:rPr>
                      <m:t>𝒗</m:t>
                    </m:r>
                    <m:r>
                      <a:rPr lang="pt-BR" i="1">
                        <a:latin typeface="Cambria Math" panose="02040503050406030204" pitchFamily="18" charset="0"/>
                      </a:rPr>
                      <m:t>)</m:t>
                    </m:r>
                  </m:oMath>
                </a14:m>
                <a:r>
                  <a:rPr lang="pt-BR" i="1" dirty="0"/>
                  <a:t>, </a:t>
                </a:r>
                <a:r>
                  <a:rPr lang="pt-BR" dirty="0"/>
                  <a:t>para todo </a:t>
                </a:r>
                <a14:m>
                  <m:oMath xmlns:m="http://schemas.openxmlformats.org/officeDocument/2006/math">
                    <m:r>
                      <a:rPr lang="pt-BR" i="1">
                        <a:latin typeface="Cambria Math" panose="02040503050406030204" pitchFamily="18" charset="0"/>
                      </a:rPr>
                      <m:t>𝑎</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ℝ</m:t>
                    </m:r>
                  </m:oMath>
                </a14:m>
                <a:endParaRPr lang="pt-BR" dirty="0"/>
              </a:p>
              <a:p>
                <a:pPr lvl="1">
                  <a:buFont typeface="Wingdings" panose="05000000000000000000" pitchFamily="2" charset="2"/>
                  <a:buChar char="§"/>
                </a:pPr>
                <a:r>
                  <a:rPr lang="pt-BR" dirty="0"/>
                  <a:t>A norma é </a:t>
                </a:r>
                <a:r>
                  <a:rPr lang="pt-BR" b="1" i="1" dirty="0"/>
                  <a:t>positiva definida</a:t>
                </a:r>
                <a:r>
                  <a:rPr lang="pt-BR" dirty="0"/>
                  <a:t>, i.e., os valores são sempre maiores ou no mínimo iguais a zero:</a:t>
                </a:r>
              </a:p>
              <a:p>
                <a:pPr lvl="2">
                  <a:buFont typeface="Courier New" panose="02070309020205020404" pitchFamily="49" charset="0"/>
                  <a:buChar char="o"/>
                </a:pPr>
                <a:r>
                  <a:rPr lang="pt-BR" dirty="0"/>
                  <a:t>Se </a:t>
                </a:r>
                <a14:m>
                  <m:oMath xmlns:m="http://schemas.openxmlformats.org/officeDocument/2006/math">
                    <m:r>
                      <a:rPr lang="pt-BR" i="1">
                        <a:latin typeface="Cambria Math" panose="02040503050406030204" pitchFamily="18" charset="0"/>
                      </a:rPr>
                      <m:t>𝑝</m:t>
                    </m:r>
                    <m:d>
                      <m:dPr>
                        <m:ctrlPr>
                          <a:rPr lang="pt-BR" i="1">
                            <a:latin typeface="Cambria Math" panose="02040503050406030204" pitchFamily="18" charset="0"/>
                          </a:rPr>
                        </m:ctrlPr>
                      </m:dPr>
                      <m:e>
                        <m:r>
                          <a:rPr lang="pt-BR" b="1" i="1">
                            <a:latin typeface="Cambria Math" panose="02040503050406030204" pitchFamily="18" charset="0"/>
                          </a:rPr>
                          <m:t>𝒗</m:t>
                        </m:r>
                      </m:e>
                    </m:d>
                    <m:r>
                      <a:rPr lang="pt-BR" i="1">
                        <a:latin typeface="Cambria Math" panose="02040503050406030204" pitchFamily="18" charset="0"/>
                      </a:rPr>
                      <m:t>=0</m:t>
                    </m:r>
                  </m:oMath>
                </a14:m>
                <a:r>
                  <a:rPr lang="pt-BR" dirty="0"/>
                  <a:t>, então </a:t>
                </a:r>
                <a14:m>
                  <m:oMath xmlns:m="http://schemas.openxmlformats.org/officeDocument/2006/math">
                    <m:r>
                      <a:rPr lang="pt-BR" b="1" i="1">
                        <a:latin typeface="Cambria Math" panose="02040503050406030204" pitchFamily="18" charset="0"/>
                      </a:rPr>
                      <m:t>𝒗</m:t>
                    </m:r>
                    <m:r>
                      <a:rPr lang="pt-BR" b="1" i="1">
                        <a:latin typeface="Cambria Math" panose="02040503050406030204" pitchFamily="18" charset="0"/>
                      </a:rPr>
                      <m:t>=</m:t>
                    </m:r>
                    <m:r>
                      <a:rPr lang="pt-BR" b="1" i="1">
                        <a:latin typeface="Cambria Math" panose="02040503050406030204" pitchFamily="18" charset="0"/>
                      </a:rPr>
                      <m:t>𝟎</m:t>
                    </m:r>
                  </m:oMath>
                </a14:m>
                <a:r>
                  <a:rPr lang="pt-BR" dirty="0"/>
                  <a:t> </a:t>
                </a:r>
                <a:r>
                  <a:rPr lang="pt-BR" b="1" i="1" dirty="0"/>
                  <a:t>(vetor nulo)</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496291"/>
                <a:ext cx="11173692" cy="5361709"/>
              </a:xfrm>
              <a:blipFill>
                <a:blip r:embed="rId3"/>
                <a:stretch>
                  <a:fillRect l="-927" t="-1818"/>
                </a:stretch>
              </a:blipFill>
            </p:spPr>
            <p:txBody>
              <a:bodyPr/>
              <a:lstStyle/>
              <a:p>
                <a:r>
                  <a:rPr lang="pt-BR">
                    <a:noFill/>
                  </a:rPr>
                  <a:t> </a:t>
                </a:r>
              </a:p>
            </p:txBody>
          </p:sp>
        </mc:Fallback>
      </mc:AlternateContent>
    </p:spTree>
    <p:extLst>
      <p:ext uri="{BB962C8B-B14F-4D97-AF65-F5344CB8AC3E}">
        <p14:creationId xmlns:p14="http://schemas.microsoft.com/office/powerpoint/2010/main" val="1319131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Distância de Minkowski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542314" y="1825624"/>
                <a:ext cx="5519058" cy="5032376"/>
              </a:xfrm>
            </p:spPr>
            <p:txBody>
              <a:bodyPr>
                <a:normAutofit/>
              </a:bodyPr>
              <a:lstStyle/>
              <a:p>
                <a:r>
                  <a:rPr lang="pt-BR" dirty="0"/>
                  <a:t>A </a:t>
                </a:r>
                <a:r>
                  <a:rPr lang="pt-BR" b="1" i="1" dirty="0"/>
                  <a:t>distância de Minkowski </a:t>
                </a:r>
                <a:r>
                  <a:rPr lang="pt-BR" dirty="0"/>
                  <a:t>de ordem </a:t>
                </a:r>
                <a14:m>
                  <m:oMath xmlns:m="http://schemas.openxmlformats.org/officeDocument/2006/math">
                    <m:r>
                      <a:rPr lang="pt-BR" b="0" i="1" smtClean="0">
                        <a:latin typeface="Cambria Math" panose="02040503050406030204" pitchFamily="18" charset="0"/>
                      </a:rPr>
                      <m:t>𝑝</m:t>
                    </m:r>
                  </m:oMath>
                </a14:m>
                <a:r>
                  <a:rPr lang="pt-BR" dirty="0"/>
                  <a:t> é calculada com equação abaixo</a:t>
                </a:r>
              </a:p>
              <a:p>
                <a:pPr marL="0" indent="0" algn="ctr">
                  <a:buNone/>
                </a:pPr>
                <a14:m>
                  <m:oMath xmlns:m="http://schemas.openxmlformats.org/officeDocument/2006/math">
                    <m:r>
                      <a:rPr lang="pt-BR" b="0" i="1" smtClean="0">
                        <a:latin typeface="Cambria Math" panose="02040503050406030204" pitchFamily="18" charset="0"/>
                      </a:rPr>
                      <m:t>𝑑</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r>
                          <a:rPr lang="pt-BR" b="0" i="1" smtClean="0">
                            <a:latin typeface="Cambria Math" panose="02040503050406030204" pitchFamily="18" charset="0"/>
                          </a:rPr>
                          <m:t>;</m:t>
                        </m:r>
                        <m:r>
                          <a:rPr lang="pt-BR" b="1" i="1" smtClean="0">
                            <a:latin typeface="Cambria Math" panose="02040503050406030204" pitchFamily="18" charset="0"/>
                          </a:rPr>
                          <m:t>𝒚</m:t>
                        </m:r>
                      </m:e>
                    </m:d>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nary>
                              <m:naryPr>
                                <m:chr m:val="∑"/>
                                <m:limLoc m:val="subSup"/>
                                <m:ctrlPr>
                                  <a:rPr lang="pt-BR" i="1">
                                    <a:latin typeface="Cambria Math" panose="02040503050406030204" pitchFamily="18" charset="0"/>
                                  </a:rPr>
                                </m:ctrlPr>
                              </m:naryPr>
                              <m:sub>
                                <m:r>
                                  <m:rPr>
                                    <m:brk m:alnAt="25"/>
                                  </m:rPr>
                                  <a:rPr lang="pt-BR" i="1">
                                    <a:latin typeface="Cambria Math" panose="02040503050406030204" pitchFamily="18" charset="0"/>
                                  </a:rPr>
                                  <m:t>𝑖</m:t>
                                </m:r>
                                <m:r>
                                  <a:rPr lang="pt-BR" i="1">
                                    <a:latin typeface="Cambria Math" panose="02040503050406030204" pitchFamily="18" charset="0"/>
                                  </a:rPr>
                                  <m:t>=1</m:t>
                                </m:r>
                              </m:sub>
                              <m:sup>
                                <m:r>
                                  <a:rPr lang="pt-BR" i="1">
                                    <a:latin typeface="Cambria Math" panose="02040503050406030204" pitchFamily="18" charset="0"/>
                                  </a:rPr>
                                  <m:t>𝐾</m:t>
                                </m:r>
                              </m:sup>
                              <m:e>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𝑖</m:t>
                                            </m:r>
                                          </m:sub>
                                        </m:sSub>
                                      </m:e>
                                    </m:d>
                                  </m:e>
                                  <m:sup>
                                    <m:r>
                                      <a:rPr lang="pt-BR" i="1">
                                        <a:latin typeface="Cambria Math" panose="02040503050406030204" pitchFamily="18" charset="0"/>
                                      </a:rPr>
                                      <m:t>𝑝</m:t>
                                    </m:r>
                                  </m:sup>
                                </m:sSup>
                              </m:e>
                            </m:nary>
                          </m:e>
                        </m:d>
                      </m:e>
                      <m:sup>
                        <m:f>
                          <m:fPr>
                            <m:type m:val="skw"/>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𝑝</m:t>
                            </m:r>
                          </m:den>
                        </m:f>
                      </m:sup>
                    </m:sSup>
                  </m:oMath>
                </a14:m>
                <a:r>
                  <a:rPr lang="pt-BR" dirty="0"/>
                  <a:t>.</a:t>
                </a:r>
              </a:p>
              <a:p>
                <a:r>
                  <a:rPr lang="pt-BR" dirty="0"/>
                  <a:t>É uma métrica de </a:t>
                </a:r>
                <a:r>
                  <a:rPr lang="pt-BR" b="1" i="1" dirty="0"/>
                  <a:t>distância generalizada</a:t>
                </a:r>
                <a:r>
                  <a:rPr lang="pt-BR" dirty="0"/>
                  <a:t>, ou seja, podemos alterar o parâmetro </a:t>
                </a:r>
                <a14:m>
                  <m:oMath xmlns:m="http://schemas.openxmlformats.org/officeDocument/2006/math">
                    <m:r>
                      <a:rPr lang="pt-BR" i="1">
                        <a:latin typeface="Cambria Math" panose="02040503050406030204" pitchFamily="18" charset="0"/>
                      </a:rPr>
                      <m:t>𝑝</m:t>
                    </m:r>
                  </m:oMath>
                </a14:m>
                <a:r>
                  <a:rPr lang="pt-BR" dirty="0"/>
                  <a:t> para calcular a distância entre dois pontos de formas diferentes.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542314" y="1825624"/>
                <a:ext cx="5519058" cy="5032376"/>
              </a:xfrm>
              <a:blipFill>
                <a:blip r:embed="rId3"/>
                <a:stretch>
                  <a:fillRect l="-1987" t="-1937" r="-2318"/>
                </a:stretch>
              </a:blipFill>
            </p:spPr>
            <p:txBody>
              <a:bodyPr/>
              <a:lstStyle/>
              <a:p>
                <a:r>
                  <a:rPr lang="pt-BR">
                    <a:noFill/>
                  </a:rPr>
                  <a:t> </a:t>
                </a:r>
              </a:p>
            </p:txBody>
          </p:sp>
        </mc:Fallback>
      </mc:AlternateContent>
      <p:pic>
        <p:nvPicPr>
          <p:cNvPr id="2050" name="Picture 2" descr="Three typical Minkowski distances, i.e., Euclidean, Manhattan and... |  Download Scientific Diagram">
            <a:extLst>
              <a:ext uri="{FF2B5EF4-FFF2-40B4-BE49-F238E27FC236}">
                <a16:creationId xmlns:a16="http://schemas.microsoft.com/office/drawing/2014/main" id="{5786D597-7389-1B43-42C0-A230A9E8C7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28" y="2286000"/>
            <a:ext cx="6225268" cy="3112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299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76857" cy="1325563"/>
          </a:xfrm>
        </p:spPr>
        <p:txBody>
          <a:bodyPr/>
          <a:lstStyle/>
          <a:p>
            <a:r>
              <a:rPr lang="pt-BR" dirty="0"/>
              <a:t>Distância de Minkowski: Casos particulares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93971" y="1825624"/>
                <a:ext cx="5910942" cy="5032376"/>
              </a:xfrm>
            </p:spPr>
            <p:txBody>
              <a:bodyPr>
                <a:normAutofit/>
              </a:bodyPr>
              <a:lstStyle/>
              <a:p>
                <a:r>
                  <a:rPr lang="pt-BR" dirty="0"/>
                  <a:t>Para </a:t>
                </a:r>
                <a14:m>
                  <m:oMath xmlns:m="http://schemas.openxmlformats.org/officeDocument/2006/math">
                    <m:r>
                      <a:rPr lang="pt-BR" i="1">
                        <a:latin typeface="Cambria Math" panose="02040503050406030204" pitchFamily="18" charset="0"/>
                      </a:rPr>
                      <m:t>𝑝</m:t>
                    </m:r>
                    <m:r>
                      <a:rPr lang="pt-BR" b="0" i="1" smtClean="0">
                        <a:latin typeface="Cambria Math" panose="02040503050406030204" pitchFamily="18" charset="0"/>
                      </a:rPr>
                      <m:t>=1</m:t>
                    </m:r>
                  </m:oMath>
                </a14:m>
                <a:r>
                  <a:rPr lang="pt-BR" dirty="0"/>
                  <a:t>, temos a </a:t>
                </a:r>
                <a:r>
                  <a:rPr lang="pt-BR" b="1" i="1" dirty="0"/>
                  <a:t>distância de Manhattan</a:t>
                </a:r>
                <a:r>
                  <a:rPr lang="pt-BR" dirty="0"/>
                  <a:t>: </a:t>
                </a:r>
              </a:p>
              <a:p>
                <a:pPr marL="0" indent="0" algn="ctr">
                  <a:buNone/>
                </a:pPr>
                <a14:m>
                  <m:oMath xmlns:m="http://schemas.openxmlformats.org/officeDocument/2006/math">
                    <m:r>
                      <a:rPr lang="pt-BR" b="0" i="1" smtClean="0">
                        <a:latin typeface="Cambria Math" panose="02040503050406030204" pitchFamily="18" charset="0"/>
                      </a:rPr>
                      <m:t>𝑑</m:t>
                    </m:r>
                    <m:d>
                      <m:dPr>
                        <m:ctrlPr>
                          <a:rPr lang="pt-BR" i="1">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r>
                          <a:rPr lang="pt-BR" b="1" i="1">
                            <a:latin typeface="Cambria Math" panose="02040503050406030204" pitchFamily="18" charset="0"/>
                          </a:rPr>
                          <m:t>𝒚</m:t>
                        </m:r>
                      </m:e>
                    </m:d>
                    <m:r>
                      <a:rPr lang="pt-BR" i="1">
                        <a:latin typeface="Cambria Math" panose="02040503050406030204" pitchFamily="18" charset="0"/>
                      </a:rPr>
                      <m:t>=</m:t>
                    </m:r>
                    <m:nary>
                      <m:naryPr>
                        <m:chr m:val="∑"/>
                        <m:limLoc m:val="subSup"/>
                        <m:ctrlPr>
                          <a:rPr lang="pt-BR" i="1">
                            <a:latin typeface="Cambria Math" panose="02040503050406030204" pitchFamily="18" charset="0"/>
                          </a:rPr>
                        </m:ctrlPr>
                      </m:naryPr>
                      <m:sub>
                        <m:r>
                          <m:rPr>
                            <m:brk m:alnAt="25"/>
                          </m:rPr>
                          <a:rPr lang="pt-BR" i="1">
                            <a:latin typeface="Cambria Math" panose="02040503050406030204" pitchFamily="18" charset="0"/>
                          </a:rPr>
                          <m:t>𝑖</m:t>
                        </m:r>
                        <m:r>
                          <a:rPr lang="pt-BR" i="1">
                            <a:latin typeface="Cambria Math" panose="02040503050406030204" pitchFamily="18" charset="0"/>
                          </a:rPr>
                          <m:t>=1</m:t>
                        </m:r>
                      </m:sub>
                      <m:sup>
                        <m:r>
                          <a:rPr lang="pt-BR" i="1">
                            <a:latin typeface="Cambria Math" panose="02040503050406030204" pitchFamily="18" charset="0"/>
                          </a:rPr>
                          <m:t>𝐾</m:t>
                        </m:r>
                      </m:sup>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𝑖</m:t>
                                </m:r>
                              </m:sub>
                            </m:sSub>
                          </m:e>
                        </m:d>
                      </m:e>
                    </m:nary>
                  </m:oMath>
                </a14:m>
                <a:r>
                  <a:rPr lang="pt-BR" dirty="0"/>
                  <a:t>.</a:t>
                </a:r>
              </a:p>
              <a:p>
                <a:r>
                  <a:rPr lang="pt-BR" dirty="0"/>
                  <a:t>Para </a:t>
                </a:r>
                <a14:m>
                  <m:oMath xmlns:m="http://schemas.openxmlformats.org/officeDocument/2006/math">
                    <m:r>
                      <a:rPr lang="pt-BR" i="1">
                        <a:latin typeface="Cambria Math" panose="02040503050406030204" pitchFamily="18" charset="0"/>
                      </a:rPr>
                      <m:t>𝑝</m:t>
                    </m:r>
                    <m:r>
                      <a:rPr lang="pt-BR" i="1">
                        <a:latin typeface="Cambria Math" panose="02040503050406030204" pitchFamily="18" charset="0"/>
                      </a:rPr>
                      <m:t>=2</m:t>
                    </m:r>
                  </m:oMath>
                </a14:m>
                <a:r>
                  <a:rPr lang="pt-BR" dirty="0"/>
                  <a:t>, temos a </a:t>
                </a:r>
                <a:r>
                  <a:rPr lang="pt-BR" b="1" i="1" dirty="0"/>
                  <a:t>distância Euclidiana</a:t>
                </a:r>
                <a:r>
                  <a:rPr lang="pt-BR" dirty="0"/>
                  <a:t>:</a:t>
                </a:r>
              </a:p>
              <a:p>
                <a:pPr marL="0" indent="0" algn="ctr">
                  <a:buNone/>
                </a:pPr>
                <a14:m>
                  <m:oMath xmlns:m="http://schemas.openxmlformats.org/officeDocument/2006/math">
                    <m:r>
                      <a:rPr lang="pt-BR" b="0" i="1" smtClean="0">
                        <a:latin typeface="Cambria Math" panose="02040503050406030204" pitchFamily="18" charset="0"/>
                      </a:rPr>
                      <m:t>𝑑</m:t>
                    </m:r>
                    <m:d>
                      <m:dPr>
                        <m:ctrlPr>
                          <a:rPr lang="pt-BR" i="1">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r>
                          <a:rPr lang="pt-BR" b="1" i="1">
                            <a:latin typeface="Cambria Math" panose="02040503050406030204" pitchFamily="18" charset="0"/>
                          </a:rPr>
                          <m:t>𝒚</m:t>
                        </m:r>
                      </m:e>
                    </m:d>
                    <m:r>
                      <a:rPr lang="pt-BR" i="1">
                        <a:latin typeface="Cambria Math" panose="02040503050406030204" pitchFamily="18" charset="0"/>
                      </a:rPr>
                      <m:t>=</m:t>
                    </m:r>
                    <m:rad>
                      <m:radPr>
                        <m:degHide m:val="on"/>
                        <m:ctrlPr>
                          <a:rPr lang="pt-BR" i="1" smtClean="0">
                            <a:latin typeface="Cambria Math" panose="02040503050406030204" pitchFamily="18" charset="0"/>
                          </a:rPr>
                        </m:ctrlPr>
                      </m:radPr>
                      <m:deg/>
                      <m:e>
                        <m:nary>
                          <m:naryPr>
                            <m:chr m:val="∑"/>
                            <m:limLoc m:val="subSup"/>
                            <m:ctrlPr>
                              <a:rPr lang="pt-BR" i="1">
                                <a:latin typeface="Cambria Math" panose="02040503050406030204" pitchFamily="18" charset="0"/>
                              </a:rPr>
                            </m:ctrlPr>
                          </m:naryPr>
                          <m:sub>
                            <m:r>
                              <m:rPr>
                                <m:brk m:alnAt="25"/>
                              </m:rPr>
                              <a:rPr lang="pt-BR" i="1">
                                <a:latin typeface="Cambria Math" panose="02040503050406030204" pitchFamily="18" charset="0"/>
                              </a:rPr>
                              <m:t>𝑖</m:t>
                            </m:r>
                            <m:r>
                              <a:rPr lang="pt-BR" i="1">
                                <a:latin typeface="Cambria Math" panose="02040503050406030204" pitchFamily="18" charset="0"/>
                              </a:rPr>
                              <m:t>=1</m:t>
                            </m:r>
                          </m:sub>
                          <m:sup>
                            <m:r>
                              <a:rPr lang="pt-BR" i="1">
                                <a:latin typeface="Cambria Math" panose="02040503050406030204" pitchFamily="18" charset="0"/>
                              </a:rPr>
                              <m:t>𝐾</m:t>
                            </m:r>
                          </m:sup>
                          <m:e>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𝑖</m:t>
                                        </m:r>
                                      </m:sub>
                                    </m:sSub>
                                  </m:e>
                                </m:d>
                              </m:e>
                              <m:sup>
                                <m:r>
                                  <a:rPr lang="pt-BR" i="1">
                                    <a:latin typeface="Cambria Math" panose="02040503050406030204" pitchFamily="18" charset="0"/>
                                  </a:rPr>
                                  <m:t>2</m:t>
                                </m:r>
                              </m:sup>
                            </m:sSup>
                          </m:e>
                        </m:nary>
                      </m:e>
                    </m:rad>
                  </m:oMath>
                </a14:m>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93971" y="1825624"/>
                <a:ext cx="5910942" cy="5032376"/>
              </a:xfrm>
              <a:blipFill>
                <a:blip r:embed="rId3"/>
                <a:stretch>
                  <a:fillRect l="-1856" t="-1937"/>
                </a:stretch>
              </a:blipFill>
            </p:spPr>
            <p:txBody>
              <a:bodyPr/>
              <a:lstStyle/>
              <a:p>
                <a:r>
                  <a:rPr lang="pt-BR">
                    <a:noFill/>
                  </a:rPr>
                  <a:t> </a:t>
                </a:r>
              </a:p>
            </p:txBody>
          </p:sp>
        </mc:Fallback>
      </mc:AlternateContent>
      <p:pic>
        <p:nvPicPr>
          <p:cNvPr id="4" name="Picture 2" descr="Three typical Minkowski distances, i.e., Euclidean, Manhattan and... |  Download Scientific Diagram">
            <a:extLst>
              <a:ext uri="{FF2B5EF4-FFF2-40B4-BE49-F238E27FC236}">
                <a16:creationId xmlns:a16="http://schemas.microsoft.com/office/drawing/2014/main" id="{4CCDC9D8-0CBD-229A-B56F-F12B860D3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414" y="2373084"/>
            <a:ext cx="5834746" cy="2917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811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76857" cy="1325563"/>
          </a:xfrm>
        </p:spPr>
        <p:txBody>
          <a:bodyPr/>
          <a:lstStyle/>
          <a:p>
            <a:r>
              <a:rPr lang="pt-BR" dirty="0"/>
              <a:t>Distância Euclidiana</a:t>
            </a:r>
          </a:p>
        </p:txBody>
      </p:sp>
      <p:sp>
        <p:nvSpPr>
          <p:cNvPr id="3" name="Content Placeholder 2"/>
          <p:cNvSpPr>
            <a:spLocks noGrp="1"/>
          </p:cNvSpPr>
          <p:nvPr>
            <p:ph idx="1"/>
          </p:nvPr>
        </p:nvSpPr>
        <p:spPr>
          <a:xfrm>
            <a:off x="6313714" y="1825624"/>
            <a:ext cx="5791199" cy="5032376"/>
          </a:xfrm>
        </p:spPr>
        <p:txBody>
          <a:bodyPr>
            <a:normAutofit/>
          </a:bodyPr>
          <a:lstStyle/>
          <a:p>
            <a:pPr eaLnBrk="0" fontAlgn="base" hangingPunct="0">
              <a:lnSpc>
                <a:spcPct val="100000"/>
              </a:lnSpc>
              <a:spcBef>
                <a:spcPct val="0"/>
              </a:spcBef>
              <a:spcAft>
                <a:spcPct val="0"/>
              </a:spcAft>
            </a:pPr>
            <a:r>
              <a:rPr lang="pt-BR" altLang="pt-BR" dirty="0"/>
              <a:t>Mede a </a:t>
            </a:r>
            <a:r>
              <a:rPr lang="pt-BR" altLang="pt-BR" b="1" i="1" dirty="0">
                <a:solidFill>
                  <a:schemeClr val="accent2"/>
                </a:solidFill>
              </a:rPr>
              <a:t>menor distância direta entre dois pontos</a:t>
            </a:r>
            <a:r>
              <a:rPr lang="pt-BR" altLang="pt-BR" dirty="0"/>
              <a:t> em um espaço, como se fosse uma </a:t>
            </a:r>
            <a:r>
              <a:rPr lang="pt-BR" altLang="pt-BR" b="1" i="1" dirty="0">
                <a:solidFill>
                  <a:srgbClr val="00B050"/>
                </a:solidFill>
              </a:rPr>
              <a:t>linha reta</a:t>
            </a:r>
            <a:r>
              <a:rPr lang="pt-BR" altLang="pt-BR" dirty="0"/>
              <a:t>. </a:t>
            </a:r>
            <a:endParaRPr lang="pt-BR" dirty="0"/>
          </a:p>
          <a:p>
            <a:r>
              <a:rPr lang="pt-BR" dirty="0"/>
              <a:t>A distância Euclidiana é usada quando os </a:t>
            </a:r>
            <a:r>
              <a:rPr lang="pt-BR" b="1" i="1" dirty="0">
                <a:solidFill>
                  <a:srgbClr val="00B050"/>
                </a:solidFill>
              </a:rPr>
              <a:t>atributos têm uma relação linear</a:t>
            </a:r>
            <a:r>
              <a:rPr lang="pt-BR" dirty="0"/>
              <a:t>.</a:t>
            </a:r>
          </a:p>
        </p:txBody>
      </p:sp>
      <p:pic>
        <p:nvPicPr>
          <p:cNvPr id="4" name="Picture 2" descr="Three typical Minkowski distances, i.e., Euclidean, Manhattan and... |  Download Scientific Diagram">
            <a:extLst>
              <a:ext uri="{FF2B5EF4-FFF2-40B4-BE49-F238E27FC236}">
                <a16:creationId xmlns:a16="http://schemas.microsoft.com/office/drawing/2014/main" id="{4CCDC9D8-0CBD-229A-B56F-F12B860D3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17" y="2351313"/>
            <a:ext cx="5791199"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687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76857" cy="1325563"/>
          </a:xfrm>
        </p:spPr>
        <p:txBody>
          <a:bodyPr/>
          <a:lstStyle/>
          <a:p>
            <a:r>
              <a:rPr lang="pt-BR" dirty="0"/>
              <a:t>Distância Manhattan</a:t>
            </a:r>
          </a:p>
        </p:txBody>
      </p:sp>
      <p:sp>
        <p:nvSpPr>
          <p:cNvPr id="3" name="Content Placeholder 2"/>
          <p:cNvSpPr>
            <a:spLocks noGrp="1"/>
          </p:cNvSpPr>
          <p:nvPr>
            <p:ph idx="1"/>
          </p:nvPr>
        </p:nvSpPr>
        <p:spPr>
          <a:xfrm>
            <a:off x="6096000" y="1825624"/>
            <a:ext cx="6008913" cy="5032376"/>
          </a:xfrm>
        </p:spPr>
        <p:txBody>
          <a:bodyPr>
            <a:normAutofit/>
          </a:bodyPr>
          <a:lstStyle/>
          <a:p>
            <a:r>
              <a:rPr lang="pt-BR" dirty="0"/>
              <a:t>A distância de Manhattan mede a distância </a:t>
            </a:r>
            <a:r>
              <a:rPr lang="pt-BR" b="1" i="1" dirty="0">
                <a:solidFill>
                  <a:srgbClr val="00B050"/>
                </a:solidFill>
              </a:rPr>
              <a:t>movendo-se apenas ao longo de eixos horizontais e verticais</a:t>
            </a:r>
            <a:r>
              <a:rPr lang="pt-BR" dirty="0"/>
              <a:t>, como em uma grade de ruas de uma cidade (daí o nome Manhattan).</a:t>
            </a:r>
          </a:p>
          <a:p>
            <a:r>
              <a:rPr lang="pt-BR" dirty="0"/>
              <a:t>A distância de Manhattan é mais adequada quando os </a:t>
            </a:r>
            <a:r>
              <a:rPr lang="pt-BR" b="1" i="1" dirty="0">
                <a:solidFill>
                  <a:srgbClr val="00B050"/>
                </a:solidFill>
              </a:rPr>
              <a:t>atributos não têm uma relação linear clara</a:t>
            </a:r>
            <a:r>
              <a:rPr lang="pt-BR" dirty="0"/>
              <a:t>.</a:t>
            </a:r>
          </a:p>
          <a:p>
            <a:r>
              <a:rPr lang="pt-BR" dirty="0"/>
              <a:t>Usada quando o </a:t>
            </a:r>
            <a:r>
              <a:rPr lang="pt-BR" b="1" i="1" dirty="0">
                <a:solidFill>
                  <a:srgbClr val="7030A0"/>
                </a:solidFill>
              </a:rPr>
              <a:t>movimento só pode ocorrer em direções perpendiculares</a:t>
            </a:r>
            <a:r>
              <a:rPr lang="pt-BR" dirty="0"/>
              <a:t>, como em redes urbanas ou circuitos.</a:t>
            </a:r>
          </a:p>
        </p:txBody>
      </p:sp>
      <p:pic>
        <p:nvPicPr>
          <p:cNvPr id="4" name="Picture 2" descr="Three typical Minkowski distances, i.e., Euclidean, Manhattan and... |  Download Scientific Diagram">
            <a:extLst>
              <a:ext uri="{FF2B5EF4-FFF2-40B4-BE49-F238E27FC236}">
                <a16:creationId xmlns:a16="http://schemas.microsoft.com/office/drawing/2014/main" id="{4CCDC9D8-0CBD-229A-B56F-F12B860D3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17" y="2351313"/>
            <a:ext cx="5791199"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655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2099"/>
            <a:ext cx="10515600" cy="713047"/>
          </a:xfrm>
        </p:spPr>
        <p:txBody>
          <a:bodyPr/>
          <a:lstStyle/>
          <a:p>
            <a:r>
              <a:rPr lang="pt-BR" dirty="0"/>
              <a:t>k-NN para classificação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63486"/>
                <a:ext cx="11179629" cy="5094514"/>
              </a:xfrm>
            </p:spPr>
            <p:txBody>
              <a:bodyPr>
                <a:normAutofit lnSpcReduction="10000"/>
              </a:bodyPr>
              <a:lstStyle/>
              <a:p>
                <a:r>
                  <a:rPr lang="pt-BR" dirty="0"/>
                  <a:t>Com relação ao problema da classificação, a saída da equação</a:t>
                </a:r>
              </a:p>
              <a:p>
                <a:pPr marL="0" indent="0">
                  <a:buNone/>
                </a:pPr>
                <a14:m>
                  <m:oMathPara xmlns:m="http://schemas.openxmlformats.org/officeDocument/2006/math">
                    <m:oMathParaPr>
                      <m:jc m:val="centerGroup"/>
                    </m:oMathParaPr>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e>
                      </m:d>
                      <m:r>
                        <a:rPr lang="pt-BR" i="1">
                          <a:latin typeface="Cambria Math" panose="02040503050406030204" pitchFamily="18" charset="0"/>
                        </a:rPr>
                        <m:t>=</m:t>
                      </m:r>
                      <m:func>
                        <m:funcPr>
                          <m:ctrlPr>
                            <a:rPr lang="pt-BR" i="1" smtClean="0">
                              <a:latin typeface="Cambria Math" panose="02040503050406030204" pitchFamily="18" charset="0"/>
                            </a:rPr>
                          </m:ctrlPr>
                        </m:funcPr>
                        <m:fName>
                          <m:limLow>
                            <m:limLowPr>
                              <m:ctrlPr>
                                <a:rPr lang="pt-BR" i="1" smtClean="0">
                                  <a:latin typeface="Cambria Math" panose="02040503050406030204" pitchFamily="18" charset="0"/>
                                </a:rPr>
                              </m:ctrlPr>
                            </m:limLowPr>
                            <m:e>
                              <m:r>
                                <m:rPr>
                                  <m:sty m:val="p"/>
                                </m:rPr>
                                <a:rPr lang="pt-BR" b="0" i="0" smtClean="0">
                                  <a:latin typeface="Cambria Math" panose="02040503050406030204" pitchFamily="18" charset="0"/>
                                </a:rPr>
                                <m:t>arg</m:t>
                              </m:r>
                              <m:r>
                                <a:rPr lang="pt-BR" b="0" i="0" smtClean="0">
                                  <a:latin typeface="Cambria Math" panose="02040503050406030204" pitchFamily="18" charset="0"/>
                                </a:rPr>
                                <m:t> </m:t>
                              </m:r>
                              <m:r>
                                <m:rPr>
                                  <m:sty m:val="p"/>
                                </m:rPr>
                                <a:rPr lang="pt-BR" i="0" smtClean="0">
                                  <a:latin typeface="Cambria Math" panose="02040503050406030204" pitchFamily="18" charset="0"/>
                                </a:rPr>
                                <m:t>max</m:t>
                              </m:r>
                            </m:e>
                            <m:lim>
                              <m:r>
                                <a:rPr lang="pt-BR" b="0" i="1" smtClean="0">
                                  <a:latin typeface="Cambria Math" panose="02040503050406030204" pitchFamily="18" charset="0"/>
                                </a:rPr>
                                <m:t>𝑞</m:t>
                              </m:r>
                              <m:r>
                                <a:rPr lang="pt-BR" b="0" i="1" smtClean="0">
                                  <a:latin typeface="Cambria Math" panose="02040503050406030204" pitchFamily="18" charset="0"/>
                                </a:rPr>
                                <m:t> ∈ </m:t>
                              </m:r>
                              <m:r>
                                <a:rPr lang="pt-BR" b="0" i="1" smtClean="0">
                                  <a:latin typeface="Cambria Math" panose="02040503050406030204" pitchFamily="18" charset="0"/>
                                  <a:ea typeface="Cambria Math" panose="02040503050406030204" pitchFamily="18" charset="0"/>
                                </a:rPr>
                                <m:t>𝑄</m:t>
                              </m:r>
                            </m:lim>
                          </m:limLow>
                        </m:fName>
                        <m:e>
                          <m:nary>
                            <m:naryPr>
                              <m:chr m:val="∑"/>
                              <m:supHide m:val="on"/>
                              <m:ctrlPr>
                                <a:rPr lang="pt-BR" i="1">
                                  <a:latin typeface="Cambria Math" panose="02040503050406030204" pitchFamily="18" charset="0"/>
                                </a:rPr>
                              </m:ctrlPr>
                            </m:naryPr>
                            <m:sub>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r>
                                <a:rPr lang="pt-BR" i="1">
                                  <a:latin typeface="Cambria Math" panose="02040503050406030204" pitchFamily="18" charset="0"/>
                                </a:rPr>
                                <m:t> </m:t>
                              </m:r>
                              <m:r>
                                <a:rPr lang="pt-BR" i="1">
                                  <a:latin typeface="Cambria Math" panose="02040503050406030204" pitchFamily="18" charset="0"/>
                                  <a:ea typeface="Cambria Math" panose="02040503050406030204" pitchFamily="18" charset="0"/>
                                </a:rPr>
                                <m:t>∈ </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𝑁</m:t>
                                  </m:r>
                                </m:e>
                                <m:sub>
                                  <m:r>
                                    <a:rPr lang="pt-BR" i="1">
                                      <a:latin typeface="Cambria Math" panose="02040503050406030204" pitchFamily="18" charset="0"/>
                                      <a:ea typeface="Cambria Math" panose="02040503050406030204" pitchFamily="18" charset="0"/>
                                    </a:rPr>
                                    <m:t>𝑘</m:t>
                                  </m:r>
                                </m:sub>
                              </m:sSub>
                              <m:r>
                                <a:rPr lang="pt-BR"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r>
                                <a:rPr lang="pt-BR" i="1">
                                  <a:latin typeface="Cambria Math" panose="02040503050406030204" pitchFamily="18" charset="0"/>
                                </a:rPr>
                                <m:t>)</m:t>
                              </m:r>
                            </m:sub>
                            <m:sup/>
                            <m:e>
                              <m:r>
                                <a:rPr lang="pt-BR" i="1" smtClean="0">
                                  <a:latin typeface="Cambria Math" panose="02040503050406030204" pitchFamily="18" charset="0"/>
                                  <a:ea typeface="Cambria Math" panose="02040503050406030204" pitchFamily="18" charset="0"/>
                                </a:rPr>
                                <m:t>𝛿</m:t>
                              </m:r>
                              <m:d>
                                <m:dPr>
                                  <m:ctrlPr>
                                    <a:rPr lang="pt-BR"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𝑞</m:t>
                                  </m:r>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e>
                          </m:nary>
                        </m:e>
                      </m:func>
                      <m:r>
                        <a:rPr lang="pt-BR" b="0" i="0" smtClean="0">
                          <a:latin typeface="Cambria Math" panose="02040503050406030204" pitchFamily="18" charset="0"/>
                        </a:rPr>
                        <m:t>,</m:t>
                      </m:r>
                    </m:oMath>
                  </m:oMathPara>
                </a14:m>
                <a:endParaRPr lang="pt-BR" dirty="0"/>
              </a:p>
              <a:p>
                <a:pPr marL="0" indent="0">
                  <a:buNone/>
                </a:pPr>
                <a:r>
                  <a:rPr lang="pt-BR" dirty="0"/>
                  <a:t>gerada pelo k-NN equivale a tomar o </a:t>
                </a:r>
                <a:r>
                  <a:rPr lang="pt-BR" b="1" i="1" dirty="0"/>
                  <a:t>voto majoritário </a:t>
                </a:r>
                <a:r>
                  <a:rPr lang="pt-BR" dirty="0"/>
                  <a:t>dos </a:t>
                </a:r>
                <a14:m>
                  <m:oMath xmlns:m="http://schemas.openxmlformats.org/officeDocument/2006/math">
                    <m:r>
                      <a:rPr lang="pt-BR" b="0" i="1" smtClean="0">
                        <a:latin typeface="Cambria Math" panose="02040503050406030204" pitchFamily="18" charset="0"/>
                      </a:rPr>
                      <m:t>𝑘</m:t>
                    </m:r>
                  </m:oMath>
                </a14:m>
                <a:r>
                  <a:rPr lang="pt-BR" dirty="0"/>
                  <a:t> vizinhos mais próximos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 onde</a:t>
                </a:r>
              </a:p>
              <a:p>
                <a:pPr lvl="1">
                  <a:buFont typeface="Wingdings" panose="05000000000000000000" pitchFamily="2" charset="2"/>
                  <a:buChar char="§"/>
                </a:pPr>
                <a14:m>
                  <m:oMath xmlns:m="http://schemas.openxmlformats.org/officeDocument/2006/math">
                    <m:r>
                      <a:rPr lang="pt-BR" b="0" i="1" smtClean="0">
                        <a:latin typeface="Cambria Math" panose="02040503050406030204" pitchFamily="18" charset="0"/>
                      </a:rPr>
                      <m:t>𝑞</m:t>
                    </m:r>
                  </m:oMath>
                </a14:m>
                <a:r>
                  <a:rPr lang="pt-BR" dirty="0"/>
                  <a:t> é uma das classes do conjunto de classes </a:t>
                </a:r>
                <a14:m>
                  <m:oMath xmlns:m="http://schemas.openxmlformats.org/officeDocument/2006/math">
                    <m:r>
                      <a:rPr lang="pt-BR" i="1">
                        <a:latin typeface="Cambria Math" panose="02040503050406030204" pitchFamily="18" charset="0"/>
                        <a:ea typeface="Cambria Math" panose="02040503050406030204" pitchFamily="18" charset="0"/>
                      </a:rPr>
                      <m:t>𝑄</m:t>
                    </m:r>
                  </m:oMath>
                </a14:m>
                <a:r>
                  <a:rPr lang="pt-BR" i="1" dirty="0">
                    <a:latin typeface="Cambria Math" panose="02040503050406030204" pitchFamily="18" charset="0"/>
                    <a:ea typeface="Cambria Math" panose="02040503050406030204" pitchFamily="18" charset="0"/>
                  </a:rPr>
                  <a:t>,</a:t>
                </a:r>
              </a:p>
              <a:p>
                <a:pPr lvl="1">
                  <a:buFont typeface="Wingdings" panose="05000000000000000000" pitchFamily="2" charset="2"/>
                  <a:buChar char="§"/>
                </a:pPr>
                <a14:m>
                  <m:oMath xmlns:m="http://schemas.openxmlformats.org/officeDocument/2006/math">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𝑁</m:t>
                        </m:r>
                      </m:e>
                      <m:sub>
                        <m:r>
                          <a:rPr lang="pt-BR" i="1">
                            <a:latin typeface="Cambria Math" panose="02040503050406030204" pitchFamily="18" charset="0"/>
                            <a:ea typeface="Cambria Math" panose="02040503050406030204" pitchFamily="18" charset="0"/>
                          </a:rPr>
                          <m:t>𝑘</m:t>
                        </m:r>
                      </m:sub>
                    </m:sSub>
                    <m:r>
                      <a:rPr lang="pt-BR"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r>
                      <a:rPr lang="pt-BR" i="1">
                        <a:latin typeface="Cambria Math" panose="02040503050406030204" pitchFamily="18" charset="0"/>
                      </a:rPr>
                      <m:t>)</m:t>
                    </m:r>
                  </m:oMath>
                </a14:m>
                <a:r>
                  <a:rPr lang="pt-BR" dirty="0"/>
                  <a:t> são os </a:t>
                </a:r>
                <a14:m>
                  <m:oMath xmlns:m="http://schemas.openxmlformats.org/officeDocument/2006/math">
                    <m:r>
                      <a:rPr lang="pt-BR" i="1">
                        <a:latin typeface="Cambria Math" panose="02040503050406030204" pitchFamily="18" charset="0"/>
                      </a:rPr>
                      <m:t>𝑘</m:t>
                    </m:r>
                  </m:oMath>
                </a14:m>
                <a:r>
                  <a:rPr lang="pt-BR" dirty="0"/>
                  <a:t> vizinhos mais próximos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 ou seja, os </a:t>
                </a:r>
                <a14:m>
                  <m:oMath xmlns:m="http://schemas.openxmlformats.org/officeDocument/2006/math">
                    <m:r>
                      <a:rPr lang="pt-BR" i="1">
                        <a:latin typeface="Cambria Math" panose="02040503050406030204" pitchFamily="18" charset="0"/>
                      </a:rPr>
                      <m:t>𝑘</m:t>
                    </m:r>
                  </m:oMath>
                </a14:m>
                <a:r>
                  <a:rPr lang="pt-BR" dirty="0"/>
                  <a:t> exemplos de treinamento,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oMath>
                </a14:m>
                <a:r>
                  <a:rPr lang="pt-BR" dirty="0"/>
                  <a:t>, mais próximos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oMath>
                </a14:m>
                <a:r>
                  <a:rPr lang="pt-BR" dirty="0"/>
                  <a:t> são as classes correspondentes aos </a:t>
                </a:r>
                <a14:m>
                  <m:oMath xmlns:m="http://schemas.openxmlformats.org/officeDocument/2006/math">
                    <m:r>
                      <a:rPr lang="pt-BR" i="1">
                        <a:latin typeface="Cambria Math" panose="02040503050406030204" pitchFamily="18" charset="0"/>
                      </a:rPr>
                      <m:t>𝑘</m:t>
                    </m:r>
                  </m:oMath>
                </a14:m>
                <a:r>
                  <a:rPr lang="pt-BR" dirty="0"/>
                  <a:t> vizinhos mais próximos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a:p>
                <a:pPr lvl="1">
                  <a:buFont typeface="Wingdings" panose="05000000000000000000" pitchFamily="2" charset="2"/>
                  <a:buChar char="§"/>
                </a:pPr>
                <a14:m>
                  <m:oMath xmlns:m="http://schemas.openxmlformats.org/officeDocument/2006/math">
                    <m:r>
                      <a:rPr lang="pt-BR" i="1">
                        <a:latin typeface="Cambria Math" panose="02040503050406030204" pitchFamily="18" charset="0"/>
                        <a:ea typeface="Cambria Math" panose="02040503050406030204" pitchFamily="18" charset="0"/>
                      </a:rPr>
                      <m:t>𝛿</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𝑖</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𝑗</m:t>
                        </m:r>
                      </m:e>
                    </m:d>
                  </m:oMath>
                </a14:m>
                <a:r>
                  <a:rPr lang="pt-BR" dirty="0">
                    <a:ea typeface="Cambria Math" panose="02040503050406030204" pitchFamily="18" charset="0"/>
                  </a:rPr>
                  <a:t> é o delta de Kronecker onde </a:t>
                </a:r>
                <a14:m>
                  <m:oMath xmlns:m="http://schemas.openxmlformats.org/officeDocument/2006/math">
                    <m:r>
                      <a:rPr lang="pt-BR" i="1">
                        <a:latin typeface="Cambria Math" panose="02040503050406030204" pitchFamily="18" charset="0"/>
                        <a:ea typeface="Cambria Math" panose="02040503050406030204" pitchFamily="18" charset="0"/>
                      </a:rPr>
                      <m:t>𝛿</m:t>
                    </m:r>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𝑖</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𝑗</m:t>
                        </m:r>
                      </m:e>
                    </m:d>
                    <m:r>
                      <a:rPr lang="pt-BR" b="0" i="1" smtClean="0">
                        <a:latin typeface="Cambria Math" panose="02040503050406030204" pitchFamily="18" charset="0"/>
                      </a:rPr>
                      <m:t>=1</m:t>
                    </m:r>
                  </m:oMath>
                </a14:m>
                <a:r>
                  <a:rPr lang="pt-BR" dirty="0"/>
                  <a:t> se </a:t>
                </a:r>
                <a14:m>
                  <m:oMath xmlns:m="http://schemas.openxmlformats.org/officeDocument/2006/math">
                    <m:r>
                      <a:rPr lang="pt-BR" i="1">
                        <a:latin typeface="Cambria Math" panose="02040503050406030204" pitchFamily="18" charset="0"/>
                        <a:ea typeface="Cambria Math" panose="02040503050406030204" pitchFamily="18" charset="0"/>
                      </a:rPr>
                      <m:t>𝑖</m:t>
                    </m:r>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𝑗</m:t>
                    </m:r>
                  </m:oMath>
                </a14:m>
                <a:r>
                  <a:rPr lang="pt-BR" dirty="0"/>
                  <a:t> e 0 caso contrário. </a:t>
                </a:r>
              </a:p>
              <a:p>
                <a:r>
                  <a:rPr lang="pt-BR" dirty="0"/>
                  <a:t>Em resumo, um novo exemplo de entrada,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 é classificado como sendo pertencente à classe que contiver o maior número de vizinhos de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63486"/>
                <a:ext cx="11179629" cy="5094514"/>
              </a:xfrm>
              <a:blipFill rotWithShape="0">
                <a:blip r:embed="rId3"/>
                <a:stretch>
                  <a:fillRect l="-1146" t="-2632"/>
                </a:stretch>
              </a:blipFill>
            </p:spPr>
            <p:txBody>
              <a:bodyPr/>
              <a:lstStyle/>
              <a:p>
                <a:r>
                  <a:rPr lang="pt-BR">
                    <a:noFill/>
                  </a:rPr>
                  <a:t> </a:t>
                </a:r>
              </a:p>
            </p:txBody>
          </p:sp>
        </mc:Fallback>
      </mc:AlternateContent>
      <p:sp>
        <p:nvSpPr>
          <p:cNvPr id="5" name="TextBox 4"/>
          <p:cNvSpPr txBox="1"/>
          <p:nvPr/>
        </p:nvSpPr>
        <p:spPr>
          <a:xfrm>
            <a:off x="2939147" y="2942154"/>
            <a:ext cx="1763486" cy="338554"/>
          </a:xfrm>
          <a:prstGeom prst="rect">
            <a:avLst/>
          </a:prstGeom>
          <a:noFill/>
        </p:spPr>
        <p:txBody>
          <a:bodyPr wrap="square" rtlCol="0">
            <a:spAutoFit/>
          </a:bodyPr>
          <a:lstStyle/>
          <a:p>
            <a:pPr algn="ctr"/>
            <a:r>
              <a:rPr lang="pt-BR" sz="1600" dirty="0"/>
              <a:t>Voto majoritário</a:t>
            </a:r>
          </a:p>
        </p:txBody>
      </p:sp>
      <p:cxnSp>
        <p:nvCxnSpPr>
          <p:cNvPr id="7" name="Straight Arrow Connector 6"/>
          <p:cNvCxnSpPr/>
          <p:nvPr/>
        </p:nvCxnSpPr>
        <p:spPr>
          <a:xfrm flipV="1">
            <a:off x="4547639" y="2851348"/>
            <a:ext cx="370027" cy="2794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936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389DCF-A8EC-D4D9-2ADE-057D24736C77}"/>
              </a:ext>
            </a:extLst>
          </p:cNvPr>
          <p:cNvSpPr>
            <a:spLocks noGrp="1"/>
          </p:cNvSpPr>
          <p:nvPr>
            <p:ph type="title"/>
          </p:nvPr>
        </p:nvSpPr>
        <p:spPr/>
        <p:txBody>
          <a:bodyPr/>
          <a:lstStyle/>
          <a:p>
            <a:r>
              <a:rPr lang="pt-BR" sz="4400" dirty="0"/>
              <a:t>Exemplo de classificação com k-NN</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573D51A-321C-7788-799D-6E6142C7F519}"/>
                  </a:ext>
                </a:extLst>
              </p:cNvPr>
              <p:cNvSpPr>
                <a:spLocks noGrp="1"/>
              </p:cNvSpPr>
              <p:nvPr>
                <p:ph idx="1"/>
              </p:nvPr>
            </p:nvSpPr>
            <p:spPr>
              <a:xfrm>
                <a:off x="4789714" y="1825624"/>
                <a:ext cx="7249886" cy="5032375"/>
              </a:xfrm>
            </p:spPr>
            <p:txBody>
              <a:bodyPr/>
              <a:lstStyle/>
              <a:p>
                <a:r>
                  <a:rPr lang="pt-BR" dirty="0"/>
                  <a:t>Na figura ao lado, o exemplo de teste (</a:t>
                </a:r>
                <a:r>
                  <a:rPr lang="pt-BR" b="1" i="1" dirty="0">
                    <a:solidFill>
                      <a:srgbClr val="00B050"/>
                    </a:solidFill>
                  </a:rPr>
                  <a:t>ponto verde</a:t>
                </a:r>
                <a:r>
                  <a:rPr lang="pt-BR" dirty="0"/>
                  <a:t>) pode ser classificado como pertencente à classe dos </a:t>
                </a:r>
                <a:r>
                  <a:rPr lang="pt-BR" b="1" i="1" dirty="0"/>
                  <a:t>quadrados azuis </a:t>
                </a:r>
                <a:r>
                  <a:rPr lang="pt-BR" dirty="0"/>
                  <a:t>ou à classe dos </a:t>
                </a:r>
                <a:r>
                  <a:rPr lang="pt-BR" b="1" i="1" dirty="0"/>
                  <a:t>triângulos vermelhos</a:t>
                </a:r>
                <a:r>
                  <a:rPr lang="pt-BR" dirty="0"/>
                  <a:t> dependendo do valor de</a:t>
                </a:r>
                <a:r>
                  <a:rPr lang="pt-BR" b="1" i="1" dirty="0"/>
                  <a:t> </a:t>
                </a:r>
                <a14:m>
                  <m:oMath xmlns:m="http://schemas.openxmlformats.org/officeDocument/2006/math">
                    <m:r>
                      <a:rPr lang="pt-BR" i="1">
                        <a:latin typeface="Cambria Math" panose="02040503050406030204" pitchFamily="18" charset="0"/>
                      </a:rPr>
                      <m:t>𝑘</m:t>
                    </m:r>
                  </m:oMath>
                </a14:m>
                <a:r>
                  <a:rPr lang="pt-BR" dirty="0"/>
                  <a:t>. </a:t>
                </a:r>
              </a:p>
              <a:p>
                <a:r>
                  <a:rPr lang="pt-BR" dirty="0"/>
                  <a:t>Se </a:t>
                </a:r>
                <a14:m>
                  <m:oMath xmlns:m="http://schemas.openxmlformats.org/officeDocument/2006/math">
                    <m:r>
                      <a:rPr lang="pt-BR" i="1">
                        <a:latin typeface="Cambria Math" panose="02040503050406030204" pitchFamily="18" charset="0"/>
                      </a:rPr>
                      <m:t>𝑘</m:t>
                    </m:r>
                  </m:oMath>
                </a14:m>
                <a:r>
                  <a:rPr lang="pt-BR" dirty="0"/>
                  <a:t> = 3 (círculo com linha sólida), ele é atribuído à classe dos triângulos vermelhos pois existem 2 triângulos e apenas 1 quadrado dentro do círculo interno. </a:t>
                </a:r>
              </a:p>
              <a:p>
                <a:r>
                  <a:rPr lang="pt-BR" dirty="0"/>
                  <a:t>Se </a:t>
                </a:r>
                <a14:m>
                  <m:oMath xmlns:m="http://schemas.openxmlformats.org/officeDocument/2006/math">
                    <m:r>
                      <a:rPr lang="pt-BR" i="1">
                        <a:latin typeface="Cambria Math" panose="02040503050406030204" pitchFamily="18" charset="0"/>
                      </a:rPr>
                      <m:t>𝑘</m:t>
                    </m:r>
                  </m:oMath>
                </a14:m>
                <a:r>
                  <a:rPr lang="pt-BR" dirty="0"/>
                  <a:t> = 5 (círculo tracejado), ele é atribuído à classe dos quadrados azuis (3 quadrados vs. 2 triângulos dentro do círculo externo).</a:t>
                </a:r>
              </a:p>
            </p:txBody>
          </p:sp>
        </mc:Choice>
        <mc:Fallback xmlns="">
          <p:sp>
            <p:nvSpPr>
              <p:cNvPr id="3" name="Espaço Reservado para Conteúdo 2">
                <a:extLst>
                  <a:ext uri="{FF2B5EF4-FFF2-40B4-BE49-F238E27FC236}">
                    <a16:creationId xmlns:a16="http://schemas.microsoft.com/office/drawing/2014/main" id="{E573D51A-321C-7788-799D-6E6142C7F519}"/>
                  </a:ext>
                </a:extLst>
              </p:cNvPr>
              <p:cNvSpPr>
                <a:spLocks noGrp="1" noRot="1" noChangeAspect="1" noMove="1" noResize="1" noEditPoints="1" noAdjustHandles="1" noChangeArrowheads="1" noChangeShapeType="1" noTextEdit="1"/>
              </p:cNvSpPr>
              <p:nvPr>
                <p:ph idx="1"/>
              </p:nvPr>
            </p:nvSpPr>
            <p:spPr>
              <a:xfrm>
                <a:off x="4789714" y="1825624"/>
                <a:ext cx="7249886" cy="5032375"/>
              </a:xfrm>
              <a:blipFill>
                <a:blip r:embed="rId3"/>
                <a:stretch>
                  <a:fillRect l="-1514" t="-1937" r="-1514" b="-1816"/>
                </a:stretch>
              </a:blipFill>
            </p:spPr>
            <p:txBody>
              <a:bodyPr/>
              <a:lstStyle/>
              <a:p>
                <a:r>
                  <a:rPr lang="pt-BR">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717" y="2444103"/>
            <a:ext cx="3624940" cy="3365244"/>
          </a:xfrm>
          <a:prstGeom prst="rect">
            <a:avLst/>
          </a:prstGeom>
        </p:spPr>
      </p:pic>
    </p:spTree>
    <p:extLst>
      <p:ext uri="{BB962C8B-B14F-4D97-AF65-F5344CB8AC3E}">
        <p14:creationId xmlns:p14="http://schemas.microsoft.com/office/powerpoint/2010/main" val="1243151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389DCF-A8EC-D4D9-2ADE-057D24736C77}"/>
              </a:ext>
            </a:extLst>
          </p:cNvPr>
          <p:cNvSpPr>
            <a:spLocks noGrp="1"/>
          </p:cNvSpPr>
          <p:nvPr>
            <p:ph type="title"/>
          </p:nvPr>
        </p:nvSpPr>
        <p:spPr/>
        <p:txBody>
          <a:bodyPr/>
          <a:lstStyle/>
          <a:p>
            <a:r>
              <a:rPr lang="pt-BR" sz="4400" dirty="0"/>
              <a:t>Exemplo de classificação com k-NN</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573D51A-321C-7788-799D-6E6142C7F519}"/>
                  </a:ext>
                </a:extLst>
              </p:cNvPr>
              <p:cNvSpPr>
                <a:spLocks noGrp="1"/>
              </p:cNvSpPr>
              <p:nvPr>
                <p:ph idx="1"/>
              </p:nvPr>
            </p:nvSpPr>
            <p:spPr>
              <a:xfrm>
                <a:off x="838200" y="1825624"/>
                <a:ext cx="11201400" cy="5032375"/>
              </a:xfrm>
            </p:spPr>
            <p:txBody>
              <a:bodyPr>
                <a:normAutofit/>
              </a:bodyPr>
              <a:lstStyle/>
              <a:p>
                <a:r>
                  <a:rPr lang="pt-BR" dirty="0"/>
                  <a:t>Uma desvantagem da classificação por </a:t>
                </a:r>
                <a:r>
                  <a:rPr lang="pt-BR" b="1" i="1" dirty="0"/>
                  <a:t>votação majoritária </a:t>
                </a:r>
                <a:r>
                  <a:rPr lang="pt-BR" dirty="0"/>
                  <a:t>ocorre quando a </a:t>
                </a:r>
                <a:r>
                  <a:rPr lang="pt-BR" b="1" i="1" dirty="0">
                    <a:solidFill>
                      <a:srgbClr val="7030A0"/>
                    </a:solidFill>
                  </a:rPr>
                  <a:t>distribuição das classes é desbalanceada</a:t>
                </a:r>
                <a:r>
                  <a:rPr lang="pt-BR" dirty="0"/>
                  <a:t>. </a:t>
                </a:r>
              </a:p>
              <a:p>
                <a:r>
                  <a:rPr lang="pt-BR" dirty="0"/>
                  <a:t>Ou seja, </a:t>
                </a:r>
                <a:r>
                  <a:rPr lang="pt-BR" b="1" i="1" dirty="0">
                    <a:solidFill>
                      <a:srgbClr val="00B050"/>
                    </a:solidFill>
                  </a:rPr>
                  <a:t>exemplos de uma classe mais frequente tendem a dominar a predição de um exemplo de entrada</a:t>
                </a:r>
                <a:r>
                  <a:rPr lang="pt-BR" dirty="0"/>
                  <a:t>, pois tendem a ser comuns entre os </a:t>
                </a:r>
                <a:r>
                  <a:rPr lang="pt-BR" i="1" dirty="0"/>
                  <a:t>k</a:t>
                </a:r>
                <a:r>
                  <a:rPr lang="pt-BR" dirty="0"/>
                  <a:t> vizinhos mais próximos devido ao seu maior número.</a:t>
                </a:r>
                <a:endParaRPr lang="pt-BR" b="1" dirty="0"/>
              </a:p>
              <a:p>
                <a:r>
                  <a:rPr lang="pt-BR" dirty="0"/>
                  <a:t>Portanto, nestas circunstâncias, uma técnica bastante utilizada para se classificar os exemplos de entrada é </a:t>
                </a:r>
                <a:r>
                  <a:rPr lang="pt-BR" b="1" i="1" dirty="0">
                    <a:solidFill>
                      <a:srgbClr val="7030A0"/>
                    </a:solidFill>
                  </a:rPr>
                  <a:t>atribuir pesos diferentes à contribuição de cada vizinho à decisão final</a:t>
                </a:r>
                <a:r>
                  <a:rPr lang="pt-BR" dirty="0"/>
                  <a:t> de tal forma que </a:t>
                </a:r>
                <a:r>
                  <a:rPr lang="pt-BR" b="1" i="1" dirty="0">
                    <a:solidFill>
                      <a:schemeClr val="accent2"/>
                    </a:solidFill>
                  </a:rPr>
                  <a:t>vizinhos mais próximos contribuam mais</a:t>
                </a:r>
                <a:r>
                  <a:rPr lang="pt-BR" b="1" i="1" dirty="0">
                    <a:solidFill>
                      <a:srgbClr val="00B050"/>
                    </a:solidFill>
                  </a:rPr>
                  <a:t> do que vizinhos mais distantes</a:t>
                </a:r>
                <a:r>
                  <a:rPr lang="pt-BR" dirty="0"/>
                  <a:t>. </a:t>
                </a:r>
              </a:p>
              <a:p>
                <a:r>
                  <a:rPr lang="pt-BR" dirty="0"/>
                  <a:t>Uma forma usual é definir os </a:t>
                </a:r>
                <a:r>
                  <a:rPr lang="pt-BR" b="1" i="1" dirty="0"/>
                  <a:t>pesos</a:t>
                </a:r>
                <a:r>
                  <a:rPr lang="pt-BR" dirty="0"/>
                  <a:t> como sendo </a:t>
                </a:r>
                <a:r>
                  <a:rPr lang="pt-BR" b="1" i="1" dirty="0">
                    <a:solidFill>
                      <a:schemeClr val="accent5"/>
                    </a:solidFill>
                  </a:rPr>
                  <a:t>inversamente proporcionais às distâncias</a:t>
                </a:r>
                <a:r>
                  <a:rPr lang="pt-BR" b="1" i="1" dirty="0">
                    <a:solidFill>
                      <a:srgbClr val="00B0F0"/>
                    </a:solidFill>
                  </a:rPr>
                  <a:t> dos vizinhos ao exemplo de entrada</a:t>
                </a:r>
                <a:r>
                  <a:rPr lang="pt-BR" dirty="0"/>
                  <a:t>,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a:t>
                </a:r>
              </a:p>
            </p:txBody>
          </p:sp>
        </mc:Choice>
        <mc:Fallback xmlns="">
          <p:sp>
            <p:nvSpPr>
              <p:cNvPr id="3" name="Espaço Reservado para Conteúdo 2">
                <a:extLst>
                  <a:ext uri="{FF2B5EF4-FFF2-40B4-BE49-F238E27FC236}">
                    <a16:creationId xmlns:a16="http://schemas.microsoft.com/office/drawing/2014/main" id="{E573D51A-321C-7788-799D-6E6142C7F519}"/>
                  </a:ext>
                </a:extLst>
              </p:cNvPr>
              <p:cNvSpPr>
                <a:spLocks noGrp="1" noRot="1" noChangeAspect="1" noMove="1" noResize="1" noEditPoints="1" noAdjustHandles="1" noChangeArrowheads="1" noChangeShapeType="1" noTextEdit="1"/>
              </p:cNvSpPr>
              <p:nvPr>
                <p:ph idx="1"/>
              </p:nvPr>
            </p:nvSpPr>
            <p:spPr>
              <a:xfrm>
                <a:off x="838200" y="1825624"/>
                <a:ext cx="11201400" cy="5032375"/>
              </a:xfrm>
              <a:blipFill>
                <a:blip r:embed="rId3"/>
                <a:stretch>
                  <a:fillRect l="-980" t="-1937" r="-1688"/>
                </a:stretch>
              </a:blipFill>
            </p:spPr>
            <p:txBody>
              <a:bodyPr/>
              <a:lstStyle/>
              <a:p>
                <a:r>
                  <a:rPr lang="pt-BR">
                    <a:noFill/>
                  </a:rPr>
                  <a:t> </a:t>
                </a:r>
              </a:p>
            </p:txBody>
          </p:sp>
        </mc:Fallback>
      </mc:AlternateContent>
    </p:spTree>
    <p:extLst>
      <p:ext uri="{BB962C8B-B14F-4D97-AF65-F5344CB8AC3E}">
        <p14:creationId xmlns:p14="http://schemas.microsoft.com/office/powerpoint/2010/main" val="2553949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k-NN para regressão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4"/>
                <a:ext cx="11181735" cy="5032375"/>
              </a:xfrm>
            </p:spPr>
            <p:txBody>
              <a:bodyPr>
                <a:normAutofit lnSpcReduction="10000"/>
              </a:bodyPr>
              <a:lstStyle/>
              <a:p>
                <a:r>
                  <a:rPr lang="pt-BR" dirty="0"/>
                  <a:t>Seja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𝑘</m:t>
                        </m:r>
                      </m:sub>
                    </m:sSub>
                    <m:d>
                      <m:dPr>
                        <m:ctrlPr>
                          <a:rPr lang="pt-BR" i="1" smtClean="0">
                            <a:latin typeface="Cambria Math" panose="02040503050406030204" pitchFamily="18" charset="0"/>
                          </a:rPr>
                        </m:ctrlPr>
                      </m:dPr>
                      <m:e>
                        <m:r>
                          <a:rPr lang="pt-BR" b="1" i="1" smtClean="0">
                            <a:latin typeface="Cambria Math" panose="02040503050406030204" pitchFamily="18" charset="0"/>
                          </a:rPr>
                          <m:t>𝒙</m:t>
                        </m:r>
                        <m:r>
                          <a:rPr lang="pt-BR" b="0" i="1" smtClean="0">
                            <a:latin typeface="Cambria Math" panose="02040503050406030204" pitchFamily="18" charset="0"/>
                          </a:rPr>
                          <m:t>′</m:t>
                        </m:r>
                      </m:e>
                    </m:d>
                    <m:r>
                      <a:rPr lang="pt-BR" i="1" smtClean="0">
                        <a:latin typeface="Cambria Math" panose="02040503050406030204" pitchFamily="18" charset="0"/>
                      </a:rPr>
                      <m:t> </m:t>
                    </m:r>
                  </m:oMath>
                </a14:m>
                <a:r>
                  <a:rPr lang="pt-BR" dirty="0"/>
                  <a:t>o conjunto formado pelos </a:t>
                </a:r>
                <a14:m>
                  <m:oMath xmlns:m="http://schemas.openxmlformats.org/officeDocument/2006/math">
                    <m:r>
                      <a:rPr lang="pt-BR" b="0" i="1" smtClean="0">
                        <a:latin typeface="Cambria Math" panose="02040503050406030204" pitchFamily="18" charset="0"/>
                      </a:rPr>
                      <m:t>𝑘</m:t>
                    </m:r>
                  </m:oMath>
                </a14:m>
                <a:r>
                  <a:rPr lang="pt-BR" dirty="0"/>
                  <a:t> exemplos de treinamento, </a:t>
                </a:r>
                <a14:m>
                  <m:oMath xmlns:m="http://schemas.openxmlformats.org/officeDocument/2006/math">
                    <m:r>
                      <a:rPr lang="pt-BR" b="1" i="1">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𝑗</m:t>
                        </m:r>
                      </m:e>
                    </m:d>
                    <m:r>
                      <a:rPr lang="pt-BR" b="1"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sup>
                    </m:sSup>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=1, …, </m:t>
                    </m:r>
                    <m:r>
                      <a:rPr lang="pt-BR" i="1">
                        <a:latin typeface="Cambria Math" panose="02040503050406030204" pitchFamily="18" charset="0"/>
                      </a:rPr>
                      <m:t>𝑘</m:t>
                    </m:r>
                  </m:oMath>
                </a14:m>
                <a:r>
                  <a:rPr lang="pt-BR" dirty="0"/>
                  <a:t>, mais próximos ao exemplo de entrada </a:t>
                </a:r>
                <a14:m>
                  <m:oMath xmlns:m="http://schemas.openxmlformats.org/officeDocument/2006/math">
                    <m:sSup>
                      <m:sSupPr>
                        <m:ctrlPr>
                          <a:rPr lang="pt-BR" b="1" i="1" smtClean="0">
                            <a:latin typeface="Cambria Math" panose="02040503050406030204" pitchFamily="18" charset="0"/>
                          </a:rPr>
                        </m:ctrlPr>
                      </m:sSupPr>
                      <m:e>
                        <m:r>
                          <a:rPr lang="pt-BR" b="1" i="1">
                            <a:latin typeface="Cambria Math" panose="02040503050406030204" pitchFamily="18" charset="0"/>
                          </a:rPr>
                          <m:t>𝒙</m:t>
                        </m:r>
                      </m:e>
                      <m:sup>
                        <m:r>
                          <a:rPr lang="pt-BR" b="1" i="1" smtClean="0">
                            <a:latin typeface="Cambria Math" panose="02040503050406030204" pitchFamily="18" charset="0"/>
                          </a:rPr>
                          <m:t>′</m:t>
                        </m:r>
                      </m:sup>
                    </m:sSup>
                  </m:oMath>
                </a14:m>
                <a:r>
                  <a:rPr lang="pt-BR" dirty="0"/>
                  <a:t>. </a:t>
                </a:r>
              </a:p>
              <a:p>
                <a:r>
                  <a:rPr lang="pt-BR" dirty="0"/>
                  <a:t>As saídas associadas (i.e., rótulos) a estes exemplos de treinamento são denotadas por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𝑗</m:t>
                        </m:r>
                      </m:sub>
                    </m:sSub>
                    <m:d>
                      <m:dPr>
                        <m:ctrlPr>
                          <a:rPr lang="pt-BR" i="1" smtClean="0">
                            <a:latin typeface="Cambria Math" panose="02040503050406030204" pitchFamily="18" charset="0"/>
                          </a:rPr>
                        </m:ctrlPr>
                      </m:dPr>
                      <m:e>
                        <m:r>
                          <a:rPr lang="pt-BR" b="1" i="1">
                            <a:latin typeface="Cambria Math" panose="02040503050406030204" pitchFamily="18" charset="0"/>
                          </a:rPr>
                          <m:t>𝒙</m:t>
                        </m:r>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𝑘</m:t>
                            </m:r>
                          </m:sub>
                        </m:sSub>
                        <m:d>
                          <m:dPr>
                            <m:ctrlPr>
                              <a:rPr lang="pt-BR" i="1">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e>
                        </m:d>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=1, …, </m:t>
                    </m:r>
                    <m:r>
                      <a:rPr lang="pt-BR" b="0" i="1" smtClean="0">
                        <a:latin typeface="Cambria Math" panose="02040503050406030204" pitchFamily="18" charset="0"/>
                      </a:rPr>
                      <m:t>𝑘</m:t>
                    </m:r>
                  </m:oMath>
                </a14:m>
                <a:r>
                  <a:rPr lang="pt-BR" dirty="0"/>
                  <a:t>. </a:t>
                </a:r>
              </a:p>
              <a:p>
                <a:r>
                  <a:rPr lang="pt-BR" dirty="0"/>
                  <a:t>Desta forma, quando utilizado para </a:t>
                </a:r>
                <a:r>
                  <a:rPr lang="pt-BR" b="1" i="1" dirty="0"/>
                  <a:t>regressão</a:t>
                </a:r>
                <a:r>
                  <a:rPr lang="pt-BR" dirty="0"/>
                  <a:t>, a saída do algoritmo k-NN para um novo exemplo de entrada, </a:t>
                </a:r>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𝒙</m:t>
                        </m:r>
                      </m:e>
                      <m:sup>
                        <m:r>
                          <a:rPr lang="pt-BR" b="1" i="1">
                            <a:latin typeface="Cambria Math" panose="02040503050406030204" pitchFamily="18" charset="0"/>
                          </a:rPr>
                          <m:t>′</m:t>
                        </m:r>
                      </m:sup>
                    </m:sSup>
                  </m:oMath>
                </a14:m>
                <a:r>
                  <a:rPr lang="pt-BR" dirty="0"/>
                  <a:t>, pode ser escrita de forma geral como</a:t>
                </a:r>
              </a:p>
              <a:p>
                <a:pPr marL="0" indent="0" algn="ctr">
                  <a:buNone/>
                </a:pPr>
                <a14:m>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b="0" i="1" smtClean="0">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e>
                    </m:d>
                    <m:r>
                      <a:rPr lang="pt-BR" b="0" i="1" smtClean="0">
                        <a:latin typeface="Cambria Math" panose="02040503050406030204" pitchFamily="18" charset="0"/>
                      </a:rPr>
                      <m:t>=</m:t>
                    </m:r>
                    <m:f>
                      <m:fPr>
                        <m:ctrlPr>
                          <a:rPr lang="pt-BR" i="1" smtClean="0">
                            <a:latin typeface="Cambria Math" panose="02040503050406030204" pitchFamily="18" charset="0"/>
                          </a:rPr>
                        </m:ctrlPr>
                      </m:fPr>
                      <m:num>
                        <m:nary>
                          <m:naryPr>
                            <m:chr m:val="∑"/>
                            <m:limLoc m:val="subSup"/>
                            <m:ctrlPr>
                              <a:rPr lang="pt-BR" i="1" smtClean="0">
                                <a:latin typeface="Cambria Math" panose="02040503050406030204" pitchFamily="18" charset="0"/>
                              </a:rPr>
                            </m:ctrlPr>
                          </m:naryPr>
                          <m:sub>
                            <m:r>
                              <m:rPr>
                                <m:brk m:alnAt="25"/>
                              </m:rPr>
                              <a:rPr lang="pt-BR" b="0" i="1" smtClean="0">
                                <a:latin typeface="Cambria Math" panose="02040503050406030204" pitchFamily="18" charset="0"/>
                              </a:rPr>
                              <m:t>𝑗</m:t>
                            </m:r>
                            <m:r>
                              <a:rPr lang="pt-BR" b="0" i="1" smtClean="0">
                                <a:latin typeface="Cambria Math" panose="02040503050406030204" pitchFamily="18" charset="0"/>
                              </a:rPr>
                              <m:t>=1</m:t>
                            </m:r>
                          </m:sub>
                          <m:sup>
                            <m:r>
                              <a:rPr lang="pt-BR" b="0" i="1" smtClean="0">
                                <a:latin typeface="Cambria Math" panose="02040503050406030204" pitchFamily="18" charset="0"/>
                              </a:rPr>
                              <m:t>𝑘</m:t>
                            </m:r>
                          </m:sup>
                          <m:e>
                            <m:sSub>
                              <m:sSubPr>
                                <m:ctrlPr>
                                  <a:rPr lang="pt-BR"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𝑗</m:t>
                                </m:r>
                              </m:sub>
                            </m:sSub>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d>
                              <m:dPr>
                                <m:ctrlPr>
                                  <a:rPr lang="pt-BR" i="1">
                                    <a:latin typeface="Cambria Math" panose="02040503050406030204" pitchFamily="18" charset="0"/>
                                  </a:rPr>
                                </m:ctrlPr>
                              </m:dPr>
                              <m:e>
                                <m:r>
                                  <a:rPr lang="pt-BR" b="1" i="1">
                                    <a:latin typeface="Cambria Math" panose="02040503050406030204" pitchFamily="18" charset="0"/>
                                  </a:rPr>
                                  <m:t>𝒙</m:t>
                                </m:r>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𝑘</m:t>
                                    </m:r>
                                  </m:sub>
                                </m:sSub>
                                <m:d>
                                  <m:dPr>
                                    <m:ctrlPr>
                                      <a:rPr lang="pt-BR" i="1">
                                        <a:latin typeface="Cambria Math" panose="02040503050406030204" pitchFamily="18" charset="0"/>
                                      </a:rPr>
                                    </m:ctrlPr>
                                  </m:dPr>
                                  <m:e>
                                    <m:r>
                                      <a:rPr lang="pt-BR" b="1" i="1">
                                        <a:latin typeface="Cambria Math" panose="02040503050406030204" pitchFamily="18" charset="0"/>
                                      </a:rPr>
                                      <m:t>𝒙</m:t>
                                    </m:r>
                                    <m:r>
                                      <a:rPr lang="pt-BR" i="1">
                                        <a:latin typeface="Cambria Math" panose="02040503050406030204" pitchFamily="18" charset="0"/>
                                      </a:rPr>
                                      <m:t>′</m:t>
                                    </m:r>
                                  </m:e>
                                </m:d>
                              </m:e>
                            </m:d>
                          </m:e>
                        </m:nary>
                      </m:num>
                      <m:den>
                        <m:nary>
                          <m:naryPr>
                            <m:chr m:val="∑"/>
                            <m:subHide m:val="on"/>
                            <m:supHide m:val="on"/>
                            <m:ctrlPr>
                              <a:rPr lang="pt-BR" i="1" smtClean="0">
                                <a:latin typeface="Cambria Math" panose="02040503050406030204" pitchFamily="18" charset="0"/>
                              </a:rPr>
                            </m:ctrlPr>
                          </m:naryPr>
                          <m:sub/>
                          <m:sup/>
                          <m:e>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𝑗</m:t>
                                </m:r>
                              </m:sub>
                            </m:sSub>
                          </m:e>
                        </m:nary>
                      </m:den>
                    </m:f>
                  </m:oMath>
                </a14:m>
                <a:r>
                  <a:rPr lang="pt-BR" dirty="0"/>
                  <a:t>,</a:t>
                </a:r>
              </a:p>
              <a:p>
                <a:pPr marL="0" indent="0">
                  <a:buNone/>
                </a:pPr>
                <a:r>
                  <a:rPr lang="pt-BR" dirty="0"/>
                  <a:t>onde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𝑗</m:t>
                        </m:r>
                      </m:sub>
                    </m:sSub>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=1,…,</m:t>
                    </m:r>
                    <m:r>
                      <a:rPr lang="pt-BR" b="0" i="1" smtClean="0">
                        <a:latin typeface="Cambria Math" panose="02040503050406030204" pitchFamily="18" charset="0"/>
                      </a:rPr>
                      <m:t>𝑘</m:t>
                    </m:r>
                  </m:oMath>
                </a14:m>
                <a:r>
                  <a:rPr lang="pt-BR" dirty="0"/>
                  <a:t> representa o peso associado ao </a:t>
                </a:r>
                <a:r>
                  <a:rPr lang="pt-BR" i="1" dirty="0"/>
                  <a:t>j</a:t>
                </a:r>
                <a:r>
                  <a:rPr lang="pt-BR" dirty="0"/>
                  <a:t>-ésimo vizinho de </a:t>
                </a:r>
                <a14:m>
                  <m:oMath xmlns:m="http://schemas.openxmlformats.org/officeDocument/2006/math">
                    <m:r>
                      <a:rPr lang="pt-BR" b="1" i="1">
                        <a:latin typeface="Cambria Math" panose="02040503050406030204" pitchFamily="18" charset="0"/>
                      </a:rPr>
                      <m:t>𝒙</m:t>
                    </m:r>
                    <m:r>
                      <a:rPr lang="pt-BR" i="1">
                        <a:latin typeface="Cambria Math" panose="02040503050406030204" pitchFamily="18" charset="0"/>
                      </a:rPr>
                      <m:t>′</m:t>
                    </m:r>
                  </m:oMath>
                </a14:m>
                <a:r>
                  <a:rPr lang="pt-BR" dirty="0"/>
                  <a:t>. </a:t>
                </a:r>
              </a:p>
              <a:p>
                <a:r>
                  <a:rPr lang="pt-BR" dirty="0"/>
                  <a:t>Os pesos associados aos vizinhos podem ser </a:t>
                </a:r>
                <a:r>
                  <a:rPr lang="pt-BR" b="1" i="1" dirty="0"/>
                  <a:t>uniformes </a:t>
                </a:r>
                <a:r>
                  <a:rPr lang="pt-BR" dirty="0"/>
                  <a:t>ou</a:t>
                </a:r>
                <a:r>
                  <a:rPr lang="pt-BR" b="1" i="1" dirty="0"/>
                  <a:t> inversamente proporcionais à distância.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4"/>
                <a:ext cx="11181735" cy="5032375"/>
              </a:xfrm>
              <a:blipFill rotWithShape="0">
                <a:blip r:embed="rId2"/>
                <a:stretch>
                  <a:fillRect l="-1090" t="-2663" b="-969"/>
                </a:stretch>
              </a:blipFill>
            </p:spPr>
            <p:txBody>
              <a:bodyPr/>
              <a:lstStyle/>
              <a:p>
                <a:r>
                  <a:rPr lang="pt-BR">
                    <a:noFill/>
                  </a:rPr>
                  <a:t> </a:t>
                </a:r>
              </a:p>
            </p:txBody>
          </p:sp>
        </mc:Fallback>
      </mc:AlternateContent>
    </p:spTree>
    <p:extLst>
      <p:ext uri="{BB962C8B-B14F-4D97-AF65-F5344CB8AC3E}">
        <p14:creationId xmlns:p14="http://schemas.microsoft.com/office/powerpoint/2010/main" val="3921124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lstStyle/>
          <a:p>
            <a:r>
              <a:rPr lang="pt-BR" dirty="0"/>
              <a:t>Exemplo: </a:t>
            </a:r>
            <a:r>
              <a:rPr lang="pt-BR" dirty="0" err="1"/>
              <a:t>knn.ipynb</a:t>
            </a:r>
            <a:endParaRPr lang="en-US" dirty="0"/>
          </a:p>
        </p:txBody>
      </p:sp>
      <p:grpSp>
        <p:nvGrpSpPr>
          <p:cNvPr id="18" name="Group 17">
            <a:extLst>
              <a:ext uri="{FF2B5EF4-FFF2-40B4-BE49-F238E27FC236}">
                <a16:creationId xmlns:a16="http://schemas.microsoft.com/office/drawing/2014/main"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id="{FF92EA36-91E7-292B-D7A0-2D4D83A10F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id="{46F1718A-89E6-9E63-E40B-2B19852D6AA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id="{33F6B1B4-9B79-D634-3E35-33F24609C84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908608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AE95-3E0A-F9BB-A3FD-4C328EF25334}"/>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id="{A431927B-FE56-CB25-3ECF-AB5E92A7DC71}"/>
              </a:ext>
            </a:extLst>
          </p:cNvPr>
          <p:cNvSpPr>
            <a:spLocks noGrp="1"/>
          </p:cNvSpPr>
          <p:nvPr>
            <p:ph idx="1"/>
          </p:nvPr>
        </p:nvSpPr>
        <p:spPr/>
        <p:txBody>
          <a:bodyPr/>
          <a:lstStyle/>
          <a:p>
            <a:pPr marL="0" indent="0">
              <a:buNone/>
            </a:pPr>
            <a:r>
              <a:rPr lang="en-US" dirty="0"/>
              <a:t>Lista #15 – </a:t>
            </a:r>
            <a:r>
              <a:rPr lang="en-US" dirty="0" err="1"/>
              <a:t>kNN</a:t>
            </a:r>
            <a:endParaRPr lang="en-US" dirty="0"/>
          </a:p>
        </p:txBody>
      </p:sp>
    </p:spTree>
    <p:extLst>
      <p:ext uri="{BB962C8B-B14F-4D97-AF65-F5344CB8AC3E}">
        <p14:creationId xmlns:p14="http://schemas.microsoft.com/office/powerpoint/2010/main" val="1951345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p>
        </p:txBody>
      </p:sp>
    </p:spTree>
    <p:extLst>
      <p:ext uri="{BB962C8B-B14F-4D97-AF65-F5344CB8AC3E}">
        <p14:creationId xmlns:p14="http://schemas.microsoft.com/office/powerpoint/2010/main" val="668771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8833</TotalTime>
  <Words>6196</Words>
  <Application>Microsoft Office PowerPoint</Application>
  <PresentationFormat>Widescreen</PresentationFormat>
  <Paragraphs>307</Paragraphs>
  <Slides>39</Slides>
  <Notes>32</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39</vt:i4>
      </vt:variant>
    </vt:vector>
  </HeadingPairs>
  <TitlesOfParts>
    <vt:vector size="46" baseType="lpstr">
      <vt:lpstr>Arial</vt:lpstr>
      <vt:lpstr>Calibri</vt:lpstr>
      <vt:lpstr>Calibri Light</vt:lpstr>
      <vt:lpstr>Cambria Math</vt:lpstr>
      <vt:lpstr>Courier New</vt:lpstr>
      <vt:lpstr>Wingdings</vt:lpstr>
      <vt:lpstr>Office Theme</vt:lpstr>
      <vt:lpstr>C24 – Inteligência Artificial: k-vizinhos mais próximos</vt:lpstr>
      <vt:lpstr>k-vizinhos mais próximos (k-NN)</vt:lpstr>
      <vt:lpstr>k-vizinhos mais próximos (k-NN)</vt:lpstr>
      <vt:lpstr>k-vizinhos mais próximos (k-NN)</vt:lpstr>
      <vt:lpstr>Funcionamento</vt:lpstr>
      <vt:lpstr>Funcionamento</vt:lpstr>
      <vt:lpstr>Funcionamento</vt:lpstr>
      <vt:lpstr>Funcionamento</vt:lpstr>
      <vt:lpstr>Funcionamento</vt:lpstr>
      <vt:lpstr>Funcionamento</vt:lpstr>
      <vt:lpstr>k-Vizinhos mais Próximos (k-NN)</vt:lpstr>
      <vt:lpstr>k-Vizinhos mais Próximos (k-NN)</vt:lpstr>
      <vt:lpstr>k-Vizinhos mais Próximos (k-NN)</vt:lpstr>
      <vt:lpstr>k-Vizinhos mais Próximos (k-NN)</vt:lpstr>
      <vt:lpstr>k-Vizinhos mais Próximos (k-NN)</vt:lpstr>
      <vt:lpstr>Desvantagens</vt:lpstr>
      <vt:lpstr>Desvantagens</vt:lpstr>
      <vt:lpstr>Desvantagens</vt:lpstr>
      <vt:lpstr>Outras desvantagens: Sensibilidade à dimensionalidade</vt:lpstr>
      <vt:lpstr>Outras desvantagens: Sensibilidade à dimensionalidade</vt:lpstr>
      <vt:lpstr>Outras desvantagens: Sensibilidade à dimensionalidade</vt:lpstr>
      <vt:lpstr>Outras desvantagens: Sensibilidade a dados desbalanceados</vt:lpstr>
      <vt:lpstr>Outras desvantagens: Necessidade de pré-processamento de dados</vt:lpstr>
      <vt:lpstr>Métricas de distância</vt:lpstr>
      <vt:lpstr>Métricas de distância</vt:lpstr>
      <vt:lpstr>Métricas de distância</vt:lpstr>
      <vt:lpstr>Métricas de distância</vt:lpstr>
      <vt:lpstr>Distância de Minkowski</vt:lpstr>
      <vt:lpstr>Distância de Minkowski: Casos particulares</vt:lpstr>
      <vt:lpstr>Distância Euclidiana</vt:lpstr>
      <vt:lpstr>Distância Manhattan</vt:lpstr>
      <vt:lpstr>k-NN para classificação</vt:lpstr>
      <vt:lpstr>Exemplo de classificação com k-NN</vt:lpstr>
      <vt:lpstr>Exemplo de classificação com k-NN</vt:lpstr>
      <vt:lpstr>k-NN para regressão</vt:lpstr>
      <vt:lpstr>Exemplo</vt:lpstr>
      <vt:lpstr>Lista de exercícios</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 Classificadores Lineares</dc:title>
  <dc:creator>Felipe Augusto Pereira de Figueiredo</dc:creator>
  <cp:lastModifiedBy>Felipe Augusto Pereira de Figueiredo</cp:lastModifiedBy>
  <cp:revision>760</cp:revision>
  <dcterms:created xsi:type="dcterms:W3CDTF">2020-04-06T23:46:10Z</dcterms:created>
  <dcterms:modified xsi:type="dcterms:W3CDTF">2026-05-06T01:59:46Z</dcterms:modified>
</cp:coreProperties>
</file>