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315" r:id="rId3"/>
    <p:sldId id="307" r:id="rId4"/>
    <p:sldId id="318" r:id="rId5"/>
    <p:sldId id="317" r:id="rId6"/>
    <p:sldId id="326" r:id="rId7"/>
    <p:sldId id="327" r:id="rId8"/>
    <p:sldId id="328" r:id="rId9"/>
    <p:sldId id="325" r:id="rId10"/>
    <p:sldId id="320" r:id="rId11"/>
    <p:sldId id="321" r:id="rId12"/>
    <p:sldId id="322" r:id="rId13"/>
    <p:sldId id="323" r:id="rId14"/>
    <p:sldId id="324" r:id="rId15"/>
    <p:sldId id="329" r:id="rId16"/>
    <p:sldId id="308" r:id="rId17"/>
    <p:sldId id="316" r:id="rId18"/>
    <p:sldId id="293" r:id="rId19"/>
    <p:sldId id="306" r:id="rId2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Curadoria é a função de </a:t>
            </a:r>
            <a:r>
              <a:rPr lang="pt-BR" b="1" dirty="0">
                <a:effectLst/>
              </a:rPr>
              <a:t>cuidar, selecionar, organizar e apresentar</a:t>
            </a:r>
            <a:r>
              <a:rPr lang="pt-BR" dirty="0"/>
              <a:t> um conjunto de obras, informações ou projetos, criando uma narrativa ou contexto significativo para o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Taxonomia: </a:t>
            </a:r>
            <a:r>
              <a:rPr lang="pt-B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ciência ou técnica de classificação.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de/imoore/intro-to-exploratory-data-analysis-eda-in-python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596" y="993321"/>
            <a:ext cx="7469414" cy="4871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298180" y="2397947"/>
            <a:ext cx="35454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antes da construção e treinamento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primeiro passo 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erros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padrões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discrepantes, faltantes, duplicados ou eventos anômalos,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relações entre as variáveis 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variáveis realmente importam.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curadoria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dado de entrada é ruim, a previsão será pior 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170" y="2242459"/>
            <a:ext cx="5655677" cy="3145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ferramentas estatísticas e de visualização 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Sweetviz</a:t>
            </a:r>
            <a:endParaRPr lang="pt-BR" noProof="0" dirty="0"/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Sweetviz">
            <a:extLst>
              <a:ext uri="{FF2B5EF4-FFF2-40B4-BE49-F238E27FC236}">
                <a16:creationId xmlns:a16="http://schemas.microsoft.com/office/drawing/2014/main" id="{0C3F2009-0A94-FA32-9039-802ED5A1F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5827" y="6076840"/>
            <a:ext cx="2750279" cy="660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dirty="0"/>
              <a:t>Antes de explorarmos os dados, precisamos entender a sua taxonomia.</a:t>
            </a:r>
          </a:p>
          <a:p>
            <a:r>
              <a:rPr lang="pt-BR" dirty="0"/>
              <a:t>As variáveis (i.e., atributos ou rótulos)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662697" y="3429000"/>
            <a:ext cx="4866605" cy="2825174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Tipo dos dados: variáveis qualitativas (categóricas)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615543" y="1825624"/>
            <a:ext cx="737141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São categorias, símbolos, nomes ou rótulos.</a:t>
            </a:r>
          </a:p>
          <a:p>
            <a:pPr marL="0" indent="0">
              <a:buNone/>
            </a:pPr>
            <a:r>
              <a:rPr lang="pt-BR" dirty="0"/>
              <a:t>Elas descrevem uma qualidade.</a:t>
            </a:r>
          </a:p>
          <a:p>
            <a:pPr marL="0" indent="0">
              <a:buNone/>
            </a:pPr>
            <a:r>
              <a:rPr lang="pt-BR" dirty="0"/>
              <a:t>Algumas podem ser ordenadas, mas operações aritméticas não são aplicáveis.</a:t>
            </a:r>
          </a:p>
          <a:p>
            <a:r>
              <a:rPr lang="pt-BR" b="1" dirty="0"/>
              <a:t>Nominal</a:t>
            </a:r>
            <a:r>
              <a:rPr lang="pt-BR" dirty="0"/>
              <a:t>: Não existe uma ordem inerente.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Sistemas Operacionais (Linux, Windows, </a:t>
            </a:r>
            <a:r>
              <a:rPr lang="pt-BR" dirty="0" err="1"/>
              <a:t>macOS</a:t>
            </a:r>
            <a:r>
              <a:rPr lang="pt-BR" dirty="0"/>
              <a:t>), Cores de LED, Tipos de Banco de Dados.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Nível de Senioridade (Junior, Pleno, Sênior), Planos de Assinatura (Free, Premium, Enterprise).</a:t>
            </a:r>
          </a:p>
        </p:txBody>
      </p:sp>
      <p:pic>
        <p:nvPicPr>
          <p:cNvPr id="11" name="Picture 2" descr="Data Types in Data Science | Towards Data Science">
            <a:extLst>
              <a:ext uri="{FF2B5EF4-FFF2-40B4-BE49-F238E27FC236}">
                <a16:creationId xmlns:a16="http://schemas.microsoft.com/office/drawing/2014/main" id="{39E1B175-32CE-F079-D61C-8CB4F74396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3"/>
          <a:stretch>
            <a:fillRect/>
          </a:stretch>
        </p:blipFill>
        <p:spPr bwMode="auto">
          <a:xfrm>
            <a:off x="368143" y="2449286"/>
            <a:ext cx="4044443" cy="3098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Tipo dos dados: variáveis quantitativas (numéricas)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28457" y="1825624"/>
            <a:ext cx="7458497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ordenados e usados em operações aritméticas (e.g., média, variância). </a:t>
            </a:r>
          </a:p>
          <a:p>
            <a:pPr marL="0" indent="0">
              <a:buNone/>
            </a:pPr>
            <a:r>
              <a:rPr lang="pt-BR" dirty="0"/>
              <a:t>Possuem unidade de medida.</a:t>
            </a:r>
          </a:p>
          <a:p>
            <a:r>
              <a:rPr lang="pt-BR" b="1" dirty="0"/>
              <a:t>Discreta:</a:t>
            </a:r>
            <a:r>
              <a:rPr lang="pt-BR" dirty="0"/>
              <a:t> Valores contáveis, geralmente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núcleos da CPU, número de bugs abertos no </a:t>
            </a:r>
            <a:r>
              <a:rPr lang="pt-BR" dirty="0" err="1"/>
              <a:t>Jira</a:t>
            </a:r>
            <a:r>
              <a:rPr lang="pt-BR" dirty="0"/>
              <a:t>, total de usuários ativos.</a:t>
            </a:r>
          </a:p>
          <a:p>
            <a:r>
              <a:rPr lang="pt-BR" b="1" dirty="0"/>
              <a:t>Contínua:</a:t>
            </a:r>
            <a:r>
              <a:rPr lang="pt-BR" dirty="0"/>
              <a:t> Valores que podem assumir qualquer número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Tempo de resposta de uma API, latência de rede, tamanho de um arquivo em MB, temperatura do processador.</a:t>
            </a:r>
          </a:p>
        </p:txBody>
      </p:sp>
      <p:pic>
        <p:nvPicPr>
          <p:cNvPr id="11" name="Picture 2" descr="Data Types in Data Science | Towards Data Science">
            <a:extLst>
              <a:ext uri="{FF2B5EF4-FFF2-40B4-BE49-F238E27FC236}">
                <a16:creationId xmlns:a16="http://schemas.microsoft.com/office/drawing/2014/main" id="{CEBF5479-3F8E-21EE-0D34-F0A03BFB71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3"/>
          <a:stretch>
            <a:fillRect/>
          </a:stretch>
        </p:blipFill>
        <p:spPr bwMode="auto">
          <a:xfrm>
            <a:off x="368143" y="2449286"/>
            <a:ext cx="4044443" cy="3098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75130-3293-C53E-210E-BAED49319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E8029-A57D-C5B0-A292-D731A9D67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dirty="0" err="1">
                <a:solidFill>
                  <a:srgbClr val="FF0000"/>
                </a:solidFill>
              </a:rPr>
              <a:t>PAREi</a:t>
            </a:r>
            <a:r>
              <a:rPr lang="pt-BR" sz="5400" dirty="0">
                <a:solidFill>
                  <a:srgbClr val="FF0000"/>
                </a:solidFill>
              </a:rPr>
              <a:t> AQUI!!!!!!!!!!!!!</a:t>
            </a:r>
            <a:endParaRPr lang="en-US" sz="5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8035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43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Para tal, após carregarmos os dados, usamos atributos e métodos da biblioteca </a:t>
            </a:r>
            <a:r>
              <a:rPr lang="pt-BR" b="1" dirty="0"/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Problemas comuns:</a:t>
            </a:r>
          </a:p>
          <a:p>
            <a:pPr marL="0" indent="0">
              <a:buNone/>
            </a:pPr>
            <a:r>
              <a:rPr lang="pt-BR" dirty="0"/>
              <a:t>❌ Valores faltantes</a:t>
            </a:r>
          </a:p>
          <a:p>
            <a:pPr marL="0" indent="0">
              <a:buNone/>
            </a:pPr>
            <a:r>
              <a:rPr lang="pt-BR" dirty="0"/>
              <a:t>❌ Valores irrelevantes</a:t>
            </a:r>
            <a:br>
              <a:rPr lang="pt-BR" dirty="0"/>
            </a:br>
            <a:r>
              <a:rPr lang="pt-BR" dirty="0"/>
              <a:t>❌ Tipos inconsistentes</a:t>
            </a:r>
            <a:br>
              <a:rPr lang="pt-BR" dirty="0"/>
            </a:br>
            <a:r>
              <a:rPr lang="pt-BR" dirty="0"/>
              <a:t>❌ Duplicatas</a:t>
            </a:r>
            <a:br>
              <a:rPr lang="pt-BR" dirty="0"/>
            </a:br>
            <a:r>
              <a:rPr lang="pt-BR" dirty="0"/>
              <a:t>❌ Outliers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Tratamento de valores ausentes:</a:t>
            </a:r>
            <a:r>
              <a:rPr lang="pt-BR" dirty="0"/>
              <a:t> remover </a:t>
            </a:r>
            <a:r>
              <a:rPr lang="pt-BR" dirty="0" err="1"/>
              <a:t>vs</a:t>
            </a:r>
            <a:r>
              <a:rPr lang="pt-BR" dirty="0"/>
              <a:t> imputar.</a:t>
            </a:r>
          </a:p>
          <a:p>
            <a:r>
              <a:rPr lang="pt-BR" dirty="0"/>
              <a:t>Técnicas:</a:t>
            </a:r>
          </a:p>
          <a:p>
            <a:pPr lvl="1"/>
            <a:r>
              <a:rPr lang="pt-BR" dirty="0"/>
              <a:t>Remover linhas/colunas</a:t>
            </a:r>
          </a:p>
          <a:p>
            <a:pPr lvl="1"/>
            <a:r>
              <a:rPr lang="pt-BR" dirty="0"/>
              <a:t>Preencher com média/mediana/moda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que são a média, moda e mediana?</a:t>
            </a:r>
          </a:p>
          <a:p>
            <a:pPr lvl="1"/>
            <a:r>
              <a:rPr lang="pt-BR" dirty="0"/>
              <a:t>Preenchimento inteligente (KNN, regressão)</a:t>
            </a:r>
          </a:p>
          <a:p>
            <a:pPr marL="0" indent="0">
              <a:buNone/>
            </a:pPr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Lidando</a:t>
            </a:r>
            <a:r>
              <a:rPr lang="en-US" dirty="0"/>
              <a:t> com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Encontrar e remover</a:t>
            </a:r>
          </a:p>
          <a:p>
            <a:pPr lvl="1"/>
            <a:r>
              <a:rPr lang="pt-BR" dirty="0" err="1"/>
              <a:t>df.drop_duplicates</a:t>
            </a:r>
            <a:r>
              <a:rPr lang="pt-BR" dirty="0"/>
              <a:t>(</a:t>
            </a:r>
            <a:r>
              <a:rPr lang="pt-BR" dirty="0" err="1"/>
              <a:t>inplace</a:t>
            </a:r>
            <a:r>
              <a:rPr lang="pt-BR" dirty="0"/>
              <a:t>=</a:t>
            </a:r>
            <a:r>
              <a:rPr lang="pt-BR" dirty="0" err="1"/>
              <a:t>True</a:t>
            </a:r>
            <a:r>
              <a:rPr lang="pt-BR" dirty="0"/>
              <a:t>)</a:t>
            </a:r>
          </a:p>
          <a:p>
            <a:r>
              <a:rPr lang="pt-BR" dirty="0"/>
              <a:t>Dica visual: use um ícone de “clones” como personagem engraçado que está repetido demais.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37301-E949-B812-9EF5-3CA58CB6A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Detectando</a:t>
            </a:r>
            <a:r>
              <a:rPr lang="en-US" dirty="0"/>
              <a:t> 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EFEFD-73F6-A8FB-7EE8-766DA0A88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Tratamento de outliers:</a:t>
            </a:r>
            <a:r>
              <a:rPr lang="pt-BR" dirty="0"/>
              <a:t> identificação e decisões de correção.</a:t>
            </a:r>
          </a:p>
          <a:p>
            <a:r>
              <a:rPr lang="pt-BR" dirty="0"/>
              <a:t>Técnicas:</a:t>
            </a:r>
          </a:p>
          <a:p>
            <a:pPr lvl="1"/>
            <a:r>
              <a:rPr lang="pt-BR" dirty="0" err="1"/>
              <a:t>Boxplot</a:t>
            </a:r>
            <a:endParaRPr lang="pt-BR" dirty="0"/>
          </a:p>
          <a:p>
            <a:pPr lvl="1"/>
            <a:r>
              <a:rPr lang="pt-BR" dirty="0"/>
              <a:t>Z-score</a:t>
            </a:r>
          </a:p>
          <a:p>
            <a:pPr lvl="1"/>
            <a:r>
              <a:rPr lang="pt-BR" dirty="0"/>
              <a:t>IQR</a:t>
            </a:r>
          </a:p>
          <a:p>
            <a:r>
              <a:rPr lang="pt-BR" dirty="0"/>
              <a:t>Inclua um gráfico como exemplo e peça para a turma identificar possíveis outliers.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9259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variáveis: análise da 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2"/>
              </a:rPr>
              <a:t>https://www.kaggle.com/code/imoore/intro-to-exploratory-data-analysis-eda-in-python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xploratory Data Analysis (EDA) to understand and Prepare Data">
            <a:extLst>
              <a:ext uri="{FF2B5EF4-FFF2-40B4-BE49-F238E27FC236}">
                <a16:creationId xmlns:a16="http://schemas.microsoft.com/office/drawing/2014/main" id="{2B53786C-EA48-EFA0-0C06-852C72B3C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699658"/>
            <a:ext cx="4639355" cy="3197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The Importance of Data Preprocessing in Machine Learning (ML) - The  Couchbase Blog">
            <a:extLst>
              <a:ext uri="{FF2B5EF4-FFF2-40B4-BE49-F238E27FC236}">
                <a16:creationId xmlns:a16="http://schemas.microsoft.com/office/drawing/2014/main" id="{F14B1968-D6A4-B3E7-DF55-77B89A9AD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2603" y="1674354"/>
            <a:ext cx="4985922" cy="3973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1036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8331</TotalTime>
  <Words>770</Words>
  <Application>Microsoft Office PowerPoint</Application>
  <PresentationFormat>Widescreen</PresentationFormat>
  <Paragraphs>109</Paragraphs>
  <Slides>19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Tipo dos dados</vt:lpstr>
      <vt:lpstr>Tipo dos dados: variáveis qualitativas (categóricas)</vt:lpstr>
      <vt:lpstr>Tipo dos dados: variáveis quantitativas (numéricas)</vt:lpstr>
      <vt:lpstr>PowerPoint Presentation</vt:lpstr>
      <vt:lpstr>Inspeção inicial dos dados</vt:lpstr>
      <vt:lpstr>Limpeza dos dados</vt:lpstr>
      <vt:lpstr>Tratando valores faltantes</vt:lpstr>
      <vt:lpstr>Lidando com duplicatas</vt:lpstr>
      <vt:lpstr>Detectando outliers</vt:lpstr>
      <vt:lpstr>Relação entre variáveis: análise da correlação</vt:lpstr>
      <vt:lpstr>Exemplo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1789</cp:revision>
  <dcterms:created xsi:type="dcterms:W3CDTF">2020-01-20T13:50:05Z</dcterms:created>
  <dcterms:modified xsi:type="dcterms:W3CDTF">2026-01-22T18:35:31Z</dcterms:modified>
</cp:coreProperties>
</file>