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0"/>
  </p:notesMasterIdLst>
  <p:handoutMasterIdLst>
    <p:handoutMasterId r:id="rId81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383" r:id="rId37"/>
    <p:sldId id="345" r:id="rId38"/>
    <p:sldId id="354" r:id="rId39"/>
    <p:sldId id="351" r:id="rId40"/>
    <p:sldId id="359" r:id="rId41"/>
    <p:sldId id="347" r:id="rId42"/>
    <p:sldId id="366" r:id="rId43"/>
    <p:sldId id="384" r:id="rId44"/>
    <p:sldId id="363" r:id="rId45"/>
    <p:sldId id="365" r:id="rId46"/>
    <p:sldId id="385" r:id="rId47"/>
    <p:sldId id="329" r:id="rId48"/>
    <p:sldId id="367" r:id="rId49"/>
    <p:sldId id="391" r:id="rId50"/>
    <p:sldId id="368" r:id="rId51"/>
    <p:sldId id="392" r:id="rId52"/>
    <p:sldId id="369" r:id="rId53"/>
    <p:sldId id="364" r:id="rId54"/>
    <p:sldId id="371" r:id="rId55"/>
    <p:sldId id="372" r:id="rId56"/>
    <p:sldId id="308" r:id="rId57"/>
    <p:sldId id="395" r:id="rId58"/>
    <p:sldId id="293" r:id="rId59"/>
    <p:sldId id="306" r:id="rId60"/>
    <p:sldId id="379" r:id="rId61"/>
    <p:sldId id="332" r:id="rId62"/>
    <p:sldId id="337" r:id="rId63"/>
    <p:sldId id="338" r:id="rId64"/>
    <p:sldId id="382" r:id="rId65"/>
    <p:sldId id="346" r:id="rId66"/>
    <p:sldId id="357" r:id="rId67"/>
    <p:sldId id="356" r:id="rId68"/>
    <p:sldId id="362" r:id="rId69"/>
    <p:sldId id="360" r:id="rId70"/>
    <p:sldId id="361" r:id="rId71"/>
    <p:sldId id="389" r:id="rId72"/>
    <p:sldId id="387" r:id="rId73"/>
    <p:sldId id="388" r:id="rId74"/>
    <p:sldId id="390" r:id="rId75"/>
    <p:sldId id="334" r:id="rId76"/>
    <p:sldId id="373" r:id="rId77"/>
    <p:sldId id="394" r:id="rId78"/>
    <p:sldId id="393" r:id="rId7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6320" autoAdjust="0"/>
  </p:normalViewPr>
  <p:slideViewPr>
    <p:cSldViewPr snapToGrid="0">
      <p:cViewPr varScale="1">
        <p:scale>
          <a:sx n="63" d="100"/>
          <a:sy n="63" d="100"/>
        </p:scale>
        <p:origin x="1176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76" Type="http://schemas.openxmlformats.org/officeDocument/2006/relationships/slide" Target="slides/slide72.xml"/><Relationship Id="rId84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presProps" Target="presProps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Nominal: sem ordem ou hierarquia</a:t>
            </a:r>
          </a:p>
          <a:p>
            <a:r>
              <a:rPr lang="pt-BR" dirty="0"/>
              <a:t>Ordinal: com ordem ou hierarquia</a:t>
            </a:r>
          </a:p>
          <a:p>
            <a:endParaRPr lang="pt-BR" dirty="0"/>
          </a:p>
          <a:p>
            <a:r>
              <a:rPr lang="pt-BR" dirty="0"/>
              <a:t>Discreta: contagens -&gt; número inteiros</a:t>
            </a:r>
          </a:p>
          <a:p>
            <a:r>
              <a:rPr lang="pt-BR" dirty="0"/>
              <a:t>Contínua: medidas -&gt; números reais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Distorção da média: </a:t>
            </a:r>
            <a:r>
              <a:rPr lang="pt-BR" dirty="0" smtClean="0"/>
              <a:t>A média pode ser deslocada significativamente em direção aos valores extremos.</a:t>
            </a:r>
          </a:p>
          <a:p>
            <a:r>
              <a:rPr lang="pt-BR" b="1" dirty="0" smtClean="0"/>
              <a:t>Aumento da variância/desvio padrão: </a:t>
            </a:r>
            <a:r>
              <a:rPr lang="pt-BR" dirty="0" smtClean="0"/>
              <a:t>Valores extremos aumentam artificialmente a dispersão dos dados.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xmlns="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predição feita pelo modelo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xmlns="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xmlns="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xmlns="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xmlns="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xmlns="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xmlns="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xmlns="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xmlns="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xmlns="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xmlns="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033"/>
            <a:ext cx="10515600" cy="26039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xmlns="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OBS.: 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camisetas, por exemplo.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37985" cy="4351338"/>
          </a:xfrm>
        </p:spPr>
        <p:txBody>
          <a:bodyPr/>
          <a:lstStyle/>
          <a:p>
            <a:pPr marL="0" indent="0">
              <a:buNone/>
            </a:pPr>
            <a:r>
              <a:rPr lang="pt-BR" noProof="0" dirty="0"/>
              <a:t>Na sequência, veremos as seguintes etapas </a:t>
            </a:r>
            <a:r>
              <a:rPr lang="pt-BR" dirty="0"/>
              <a:t>principais da</a:t>
            </a:r>
            <a:r>
              <a:rPr lang="pt-BR" noProof="0" dirty="0"/>
              <a:t>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</a:t>
            </a:r>
            <a:r>
              <a:rPr lang="pt-BR" b="1" dirty="0">
                <a:solidFill>
                  <a:srgbClr val="00B050"/>
                </a:solidFill>
              </a:rPr>
              <a:t>informações básicas </a:t>
            </a:r>
            <a:r>
              <a:rPr lang="pt-BR" dirty="0"/>
              <a:t>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contagem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9435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800" dirty="0"/>
              <a:t>Cada string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lista</a:t>
            </a:r>
            <a:r>
              <a:rPr lang="en-US" sz="2800" dirty="0"/>
              <a:t> é o </a:t>
            </a:r>
            <a:r>
              <a:rPr lang="en-US" sz="2800" dirty="0" err="1"/>
              <a:t>nome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coluna</a:t>
            </a:r>
            <a:r>
              <a:rPr lang="en-US" sz="2800" dirty="0"/>
              <a:t> a ser </a:t>
            </a:r>
            <a:r>
              <a:rPr lang="en-US" sz="2800" dirty="0" err="1"/>
              <a:t>removida</a:t>
            </a:r>
            <a:r>
              <a:rPr lang="en-US" sz="2800" dirty="0"/>
              <a:t>.</a:t>
            </a:r>
            <a:endParaRPr lang="pt-BR" sz="2800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114" cy="4816335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 e usar o mesmo método.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a quantidade de valores faltantes de cada coluna.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linhas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colunas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sugere-se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A mediana divide os dados em 50% acima e 50% abaixo.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Seleciona todas </a:t>
            </a:r>
            <a:r>
              <a:rPr lang="pt-BR" dirty="0"/>
              <a:t>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Seleciona todas </a:t>
            </a:r>
            <a:r>
              <a:rPr lang="pt-BR" dirty="0"/>
              <a:t>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 smtClean="0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", "</a:t>
            </a:r>
            <a:r>
              <a:rPr lang="pt-BR" dirty="0" err="1" smtClean="0">
                <a:latin typeface="Consolas" panose="020B0609020204030204" pitchFamily="49" charset="0"/>
              </a:rPr>
              <a:t>category</a:t>
            </a:r>
            <a:r>
              <a:rPr lang="pt-BR" dirty="0">
                <a:latin typeface="Consolas" panose="020B0609020204030204" pitchFamily="49" charset="0"/>
              </a:rPr>
              <a:t>"</a:t>
            </a:r>
            <a:r>
              <a:rPr lang="pt-BR" dirty="0" smtClean="0">
                <a:latin typeface="Consolas" panose="020B0609020204030204" pitchFamily="49" charset="0"/>
              </a:rPr>
              <a:t>, </a:t>
            </a:r>
            <a:r>
              <a:rPr lang="pt-BR" dirty="0">
                <a:latin typeface="Consolas" panose="020B0609020204030204" pitchFamily="49" charset="0"/>
              </a:rPr>
              <a:t>e/ou "</a:t>
            </a:r>
            <a:r>
              <a:rPr lang="pt-BR" dirty="0" err="1" smtClean="0">
                <a:latin typeface="Consolas" panose="020B0609020204030204" pitchFamily="49" charset="0"/>
              </a:rPr>
              <a:t>string</a:t>
            </a:r>
            <a:r>
              <a:rPr lang="pt-BR">
                <a:latin typeface="Consolas" panose="020B0609020204030204" pitchFamily="49" charset="0"/>
              </a:rPr>
              <a:t>"</a:t>
            </a:r>
            <a:r>
              <a:rPr lang="pt-BR" smtClean="0">
                <a:latin typeface="Consolas" panose="020B0609020204030204" pitchFamily="49" charset="0"/>
              </a:rPr>
              <a:t>.</a:t>
            </a: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xmlns="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xmlns="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Um </a:t>
            </a:r>
            <a:r>
              <a:rPr lang="pt-BR" i="1" noProof="0" dirty="0" err="1"/>
              <a:t>outlier</a:t>
            </a:r>
            <a:r>
              <a:rPr lang="pt-BR" noProof="0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</a:t>
            </a:r>
            <a:r>
              <a:rPr lang="pt-BR" noProof="0" dirty="0" smtClean="0"/>
              <a:t>indevido a um servidor),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xmlns="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</a:t>
            </a:r>
            <a:r>
              <a:rPr lang="pt-BR" dirty="0" smtClean="0"/>
              <a:t>podem causar?</a:t>
            </a:r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6"/>
          </a:xfrm>
        </p:spPr>
        <p:txBody>
          <a:bodyPr>
            <a:normAutofit lnSpcReduction="10000"/>
          </a:bodyPr>
          <a:lstStyle/>
          <a:p>
            <a:r>
              <a:rPr lang="pt-BR" dirty="0" smtClean="0"/>
              <a:t>Distorcer </a:t>
            </a:r>
            <a:r>
              <a:rPr lang="pt-BR" dirty="0"/>
              <a:t>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 smtClean="0"/>
              <a:t>Prejudicar </a:t>
            </a:r>
            <a:r>
              <a:rPr lang="pt-BR" dirty="0"/>
              <a:t>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Histogramas</a:t>
            </a:r>
            <a:r>
              <a:rPr lang="pt-BR" dirty="0"/>
              <a:t>, </a:t>
            </a:r>
            <a:r>
              <a:rPr lang="pt-BR" i="1" dirty="0" err="1"/>
              <a:t>boxplots</a:t>
            </a:r>
            <a:r>
              <a:rPr lang="pt-BR" dirty="0"/>
              <a:t>,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r>
              <a:rPr lang="pt-BR" i="1" dirty="0"/>
              <a:t> </a:t>
            </a:r>
            <a:r>
              <a:rPr lang="pt-BR" dirty="0"/>
              <a:t>etc. podem ficar difíceis de interpretar.</a:t>
            </a:r>
            <a:endParaRPr lang="pt-BR" dirty="0"/>
          </a:p>
          <a:p>
            <a:r>
              <a:rPr lang="pt-BR" dirty="0" smtClean="0"/>
              <a:t>Impactar </a:t>
            </a:r>
            <a:r>
              <a:rPr lang="pt-BR" dirty="0"/>
              <a:t>modelos de ML, especialmente os baseados em métricas de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Problemas de </a:t>
            </a:r>
            <a:r>
              <a:rPr lang="pt-BR" dirty="0" smtClean="0"/>
              <a:t>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modelos baseados em gradiente, dados mal escalados podem tornar a convergência mais lenta ou até impedir a convergência. </a:t>
            </a:r>
            <a:endParaRPr lang="pt-BR" dirty="0" smtClean="0"/>
          </a:p>
          <a:p>
            <a:r>
              <a:rPr lang="pt-BR" dirty="0" smtClean="0"/>
              <a:t>Porém</a:t>
            </a:r>
            <a:r>
              <a:rPr lang="pt-BR" dirty="0"/>
              <a:t>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</a:t>
            </a:r>
            <a:r>
              <a:rPr lang="pt-BR" dirty="0" smtClean="0"/>
              <a:t>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Devido à Bill Gates e à Mark Zuckerberg, a média salarial de quem largou Harvard é, provavelmente,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xmlns="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1006" y="1825624"/>
            <a:ext cx="6237103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marcasse 500°C por um segundo, isso é um erro ou uma exceção que deve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98" y="2518352"/>
            <a:ext cx="5236028" cy="285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xmlns="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xmlns="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xmlns="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xmlns="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xmlns="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xmlns="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xmlns="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xmlns="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xmlns="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xmlns="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xmlns="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xmlns="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xmlns="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xmlns="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xmlns="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xmlns="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xmlns="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xmlns="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xmlns="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xmlns="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10838</TotalTime>
  <Words>5064</Words>
  <Application>Microsoft Office PowerPoint</Application>
  <PresentationFormat>Widescreen</PresentationFormat>
  <Paragraphs>700</Paragraphs>
  <Slides>75</Slides>
  <Notes>41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75</vt:i4>
      </vt:variant>
    </vt:vector>
  </HeadingPairs>
  <TitlesOfParts>
    <vt:vector size="83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podem causar?</vt:lpstr>
      <vt:lpstr>O que eles podem causar?</vt:lpstr>
      <vt:lpstr>O que eles podem causar?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2160</cp:revision>
  <dcterms:created xsi:type="dcterms:W3CDTF">2020-01-20T13:50:05Z</dcterms:created>
  <dcterms:modified xsi:type="dcterms:W3CDTF">2026-08-10T01:40:04Z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