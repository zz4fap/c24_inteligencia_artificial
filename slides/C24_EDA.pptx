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6"/>
  </p:notesMasterIdLst>
  <p:handoutMasterIdLst>
    <p:handoutMasterId r:id="rId77"/>
  </p:handoutMasterIdLst>
  <p:sldIdLst>
    <p:sldId id="256" r:id="rId5"/>
    <p:sldId id="315" r:id="rId6"/>
    <p:sldId id="307" r:id="rId7"/>
    <p:sldId id="318" r:id="rId8"/>
    <p:sldId id="317" r:id="rId9"/>
    <p:sldId id="374" r:id="rId10"/>
    <p:sldId id="375" r:id="rId11"/>
    <p:sldId id="326" r:id="rId12"/>
    <p:sldId id="327" r:id="rId13"/>
    <p:sldId id="328" r:id="rId14"/>
    <p:sldId id="376" r:id="rId15"/>
    <p:sldId id="320" r:id="rId16"/>
    <p:sldId id="321" r:id="rId17"/>
    <p:sldId id="330" r:id="rId18"/>
    <p:sldId id="323" r:id="rId19"/>
    <p:sldId id="322" r:id="rId20"/>
    <p:sldId id="377" r:id="rId21"/>
    <p:sldId id="331" r:id="rId22"/>
    <p:sldId id="333" r:id="rId23"/>
    <p:sldId id="335" r:id="rId24"/>
    <p:sldId id="339" r:id="rId25"/>
    <p:sldId id="380" r:id="rId26"/>
    <p:sldId id="340" r:id="rId27"/>
    <p:sldId id="342" r:id="rId28"/>
    <p:sldId id="348" r:id="rId29"/>
    <p:sldId id="349" r:id="rId30"/>
    <p:sldId id="343" r:id="rId31"/>
    <p:sldId id="344" r:id="rId32"/>
    <p:sldId id="350" r:id="rId33"/>
    <p:sldId id="383" r:id="rId34"/>
    <p:sldId id="345" r:id="rId35"/>
    <p:sldId id="354" r:id="rId36"/>
    <p:sldId id="351" r:id="rId37"/>
    <p:sldId id="359" r:id="rId38"/>
    <p:sldId id="361" r:id="rId39"/>
    <p:sldId id="347" r:id="rId40"/>
    <p:sldId id="366" r:id="rId41"/>
    <p:sldId id="384" r:id="rId42"/>
    <p:sldId id="363" r:id="rId43"/>
    <p:sldId id="365" r:id="rId44"/>
    <p:sldId id="385" r:id="rId45"/>
    <p:sldId id="329" r:id="rId46"/>
    <p:sldId id="367" r:id="rId47"/>
    <p:sldId id="391" r:id="rId48"/>
    <p:sldId id="368" r:id="rId49"/>
    <p:sldId id="392" r:id="rId50"/>
    <p:sldId id="369" r:id="rId51"/>
    <p:sldId id="364" r:id="rId52"/>
    <p:sldId id="371" r:id="rId53"/>
    <p:sldId id="372" r:id="rId54"/>
    <p:sldId id="308" r:id="rId55"/>
    <p:sldId id="293" r:id="rId56"/>
    <p:sldId id="306" r:id="rId57"/>
    <p:sldId id="379" r:id="rId58"/>
    <p:sldId id="332" r:id="rId59"/>
    <p:sldId id="337" r:id="rId60"/>
    <p:sldId id="338" r:id="rId61"/>
    <p:sldId id="382" r:id="rId62"/>
    <p:sldId id="346" r:id="rId63"/>
    <p:sldId id="357" r:id="rId64"/>
    <p:sldId id="356" r:id="rId65"/>
    <p:sldId id="362" r:id="rId66"/>
    <p:sldId id="360" r:id="rId67"/>
    <p:sldId id="389" r:id="rId68"/>
    <p:sldId id="387" r:id="rId69"/>
    <p:sldId id="388" r:id="rId70"/>
    <p:sldId id="390" r:id="rId71"/>
    <p:sldId id="334" r:id="rId72"/>
    <p:sldId id="373" r:id="rId73"/>
    <p:sldId id="394" r:id="rId74"/>
    <p:sldId id="393" r:id="rId7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jpeg"/><Relationship Id="rId4" Type="http://schemas.openxmlformats.org/officeDocument/2006/relationships/image" Target="../media/image39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jpe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chemeClr val="accent2"/>
                </a:solidFill>
              </a:rPr>
              <a:t>antes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 </a:t>
            </a:r>
            <a:r>
              <a:rPr lang="pt-BR" dirty="0"/>
              <a:t>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previsão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8212"/>
            <a:ext cx="10515600" cy="24415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variáveis (i.e., atributos ou rótulos)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categóricas.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Embora as ordinais possam ser ordenadas, operações aritméticas não são aplicáveis.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875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/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aritméticas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Na </a:t>
            </a:r>
            <a:r>
              <a:rPr lang="en-US" dirty="0" err="1"/>
              <a:t>sequência</a:t>
            </a:r>
            <a:r>
              <a:rPr lang="en-US" dirty="0"/>
              <a:t>, </a:t>
            </a:r>
            <a:r>
              <a:rPr lang="en-US" dirty="0" err="1"/>
              <a:t>veremos</a:t>
            </a:r>
            <a:r>
              <a:rPr lang="en-US" dirty="0"/>
              <a:t> as </a:t>
            </a:r>
            <a:r>
              <a:rPr lang="en-US" dirty="0" err="1"/>
              <a:t>seguintes</a:t>
            </a:r>
            <a:r>
              <a:rPr lang="en-US" dirty="0"/>
              <a:t> </a:t>
            </a:r>
            <a:r>
              <a:rPr lang="en-US" dirty="0" err="1"/>
              <a:t>etapas</a:t>
            </a:r>
            <a:r>
              <a:rPr lang="en-US" dirty="0"/>
              <a:t> de </a:t>
            </a:r>
            <a:r>
              <a:rPr lang="en-US" dirty="0" err="1"/>
              <a:t>exploração</a:t>
            </a:r>
            <a:r>
              <a:rPr lang="en-US" dirty="0"/>
              <a:t> dos dados:</a:t>
            </a:r>
          </a:p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  <a:p>
            <a:r>
              <a:rPr lang="en-US" dirty="0" err="1"/>
              <a:t>Relação</a:t>
            </a:r>
            <a:r>
              <a:rPr lang="en-US" dirty="0"/>
              <a:t> entre </a:t>
            </a:r>
            <a:r>
              <a:rPr lang="en-US" dirty="0" err="1"/>
              <a:t>variáveis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Em geral, após carregarmos os dados,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96600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  <a:endParaRPr lang="pt-BR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38114" cy="4351338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Para encontrar e remover colunas duplicadas, basta transpor 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Técnicas mais avançadas. Elas olham para a </a:t>
            </a:r>
            <a:r>
              <a:rPr lang="pt-BR" b="1" dirty="0">
                <a:solidFill>
                  <a:srgbClr val="00B050"/>
                </a:solidFill>
              </a:rPr>
              <a:t>relação entre as colunas </a:t>
            </a:r>
            <a:r>
              <a:rPr lang="pt-BR" dirty="0"/>
              <a:t>para "adivinhar" o valor que falta.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linhas ou colunas: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original.</a:t>
            </a:r>
            <a:endParaRPr lang="en-US" sz="3000" dirty="0"/>
          </a:p>
          <a:p>
            <a:r>
              <a:rPr lang="pt-BR" dirty="0"/>
              <a:t>Essa técnica não é boa se o número de linhas a serem removidas é muito grande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Vamos usar técnicas que </a:t>
            </a:r>
            <a:r>
              <a:rPr lang="pt-BR" b="1" dirty="0">
                <a:solidFill>
                  <a:srgbClr val="7030A0"/>
                </a:solidFill>
              </a:rPr>
              <a:t>imputam valores</a:t>
            </a:r>
            <a:r>
              <a:rPr lang="pt-BR" dirty="0"/>
              <a:t> 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Divide os dados em 50% acima e 50% abaixo.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Pega todas as colunas numéricas e preenche os valores faltantes de cada uma com a sua mediana.</a:t>
            </a:r>
          </a:p>
          <a:p>
            <a:r>
              <a:rPr lang="pt-BR" dirty="0"/>
              <a:t>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33457" cy="5032375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registro (e.g.,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 de processamento dos dados (e.g., </a:t>
            </a:r>
            <a:r>
              <a:rPr lang="en-US" dirty="0" err="1"/>
              <a:t>conversão</a:t>
            </a:r>
            <a:r>
              <a:rPr lang="en-US" dirty="0"/>
              <a:t> </a:t>
            </a:r>
            <a:r>
              <a:rPr lang="en-US" dirty="0" err="1"/>
              <a:t>errada</a:t>
            </a:r>
            <a:r>
              <a:rPr lang="en-US" dirty="0"/>
              <a:t> de </a:t>
            </a:r>
            <a:r>
              <a:rPr lang="en-US" dirty="0" err="1"/>
              <a:t>unidade</a:t>
            </a:r>
            <a:r>
              <a:rPr lang="en-US" dirty="0"/>
              <a:t>),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valor </a:t>
            </a:r>
            <a:r>
              <a:rPr lang="pt-BR" b="1" dirty="0"/>
              <a:t>raro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mas válido </a:t>
            </a:r>
            <a:r>
              <a:rPr lang="pt-BR" dirty="0"/>
              <a:t>(e.g., uma fraude),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modelos enviesados e de pior desempenho.</a:t>
            </a:r>
          </a:p>
          <a:p>
            <a:r>
              <a:rPr lang="pt-BR" dirty="0"/>
              <a:t>Porém, podem revelar informação importante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 raro relevante </a:t>
            </a:r>
            <a:r>
              <a:rPr lang="pt-BR" dirty="0"/>
              <a:t>como fraude, falha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1" y="1825624"/>
            <a:ext cx="6694714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A média salarial de quem largou Harvard é maior que a de quem se formou</a:t>
            </a:r>
            <a:r>
              <a:rPr lang="pt-BR" dirty="0"/>
              <a:t>. </a:t>
            </a:r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(não um erro) tão grande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57" y="1825624"/>
            <a:ext cx="5802086" cy="5032375"/>
          </a:xfrm>
        </p:spPr>
        <p:txBody>
          <a:bodyPr/>
          <a:lstStyle/>
          <a:p>
            <a:r>
              <a:rPr lang="pt-BR" i="1" dirty="0"/>
              <a:t>Outliers</a:t>
            </a:r>
            <a:r>
              <a:rPr lang="pt-BR" dirty="0"/>
              <a:t> são exceções.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71" y="1825624"/>
            <a:ext cx="5236028" cy="28560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4E8608-6DDB-C7E5-172A-525CFF731ABD}"/>
              </a:ext>
            </a:extLst>
          </p:cNvPr>
          <p:cNvSpPr txBox="1"/>
          <p:nvPr/>
        </p:nvSpPr>
        <p:spPr>
          <a:xfrm>
            <a:off x="465363" y="4816576"/>
            <a:ext cx="54156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estivéssemos medindo a temperatura de um servidor e um sensor marcasse 500°C por um segundo, isso é um erro ou uma exceção que deve ser investigada?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intervalo interquartil 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mediana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valores extremos,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contextos.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métodos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7599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a distância interquartil (IQR) em várias colunas </a:t>
            </a:r>
            <a:r>
              <a:rPr lang="pt-BR" b="1" dirty="0">
                <a:solidFill>
                  <a:schemeClr val="accent2"/>
                </a:solidFill>
              </a:rPr>
              <a:t>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    ~((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 &lt; (Q1 - 1.5 * IQR)) |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     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 &gt; (Q3 + 1.5 * IQR))).any(axis=1)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200" b="1" dirty="0"/>
              <a:t>OBS</a:t>
            </a:r>
            <a:r>
              <a:rPr lang="en-US" sz="2200" dirty="0"/>
              <a:t>.: </a:t>
            </a:r>
            <a:r>
              <a:rPr lang="en-US" sz="2000" dirty="0">
                <a:latin typeface="Consolas" panose="020B0609020204030204" pitchFamily="49" charset="0"/>
              </a:rPr>
              <a:t>’any(axis=1)’ 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se </a:t>
            </a:r>
            <a:r>
              <a:rPr lang="pt-BR" sz="2000" b="1" dirty="0">
                <a:solidFill>
                  <a:srgbClr val="7030A0"/>
                </a:solidFill>
              </a:rPr>
              <a:t>qualquer coluna daquela linha for </a:t>
            </a:r>
            <a:r>
              <a:rPr lang="pt-BR" sz="2000" b="1" i="1" dirty="0">
                <a:solidFill>
                  <a:srgbClr val="7030A0"/>
                </a:solidFill>
              </a:rPr>
              <a:t>outlier</a:t>
            </a:r>
            <a:r>
              <a:rPr lang="pt-BR" sz="2000" b="1" dirty="0">
                <a:solidFill>
                  <a:srgbClr val="7030A0"/>
                </a:solidFill>
              </a:rPr>
              <a:t> </a:t>
            </a:r>
            <a:r>
              <a:rPr lang="pt-BR" sz="2000" dirty="0"/>
              <a:t>(i.e., </a:t>
            </a:r>
            <a:r>
              <a:rPr lang="pt-BR" sz="2000" dirty="0" err="1"/>
              <a:t>True</a:t>
            </a:r>
            <a:r>
              <a:rPr lang="pt-BR" sz="2000" dirty="0"/>
              <a:t>). Assim, mantemos o dataset com o mesmo número de linhas.</a:t>
            </a:r>
            <a:endParaRPr lang="en-US" sz="2200" i="1" dirty="0"/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7938" y="1825624"/>
            <a:ext cx="5082267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relações, podemos responder: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realmente influencia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variável faz sentido nesse contexto?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comportamento é esperado ou estranho?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171795" y="1923903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3635113" y="1923903"/>
            <a:ext cx="3237899" cy="36030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132EA1-4326-D179-08AF-928B6FFB0A14}"/>
              </a:ext>
            </a:extLst>
          </p:cNvPr>
          <p:cNvSpPr txBox="1"/>
          <p:nvPr/>
        </p:nvSpPr>
        <p:spPr>
          <a:xfrm>
            <a:off x="1347290" y="5760144"/>
            <a:ext cx="43204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Exemplo: encontrar relações como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Preço do carro ↑ conforme potência ↑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Consumo ↓ conforme peso ↑</a:t>
            </a:r>
          </a:p>
        </p:txBody>
      </p:sp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linear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pt-BR" b="1" dirty="0"/>
              <a:t>Plotando </a:t>
            </a:r>
            <a:r>
              <a:rPr lang="pt-BR" b="1" dirty="0" err="1"/>
              <a:t>scatter</a:t>
            </a:r>
            <a:r>
              <a:rPr lang="pt-BR" b="1" dirty="0"/>
              <a:t> </a:t>
            </a:r>
            <a:r>
              <a:rPr lang="pt-BR" b="1" dirty="0" err="1"/>
              <a:t>plots</a:t>
            </a:r>
            <a:r>
              <a:rPr lang="pt-BR" b="1" dirty="0"/>
              <a:t> para todos os pares de variáveis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sns.pairplot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</a:t>
            </a:r>
            <a:r>
              <a:rPr lang="en-US" dirty="0" err="1">
                <a:latin typeface="Consolas" panose="020B0609020204030204" pitchFamily="49" charset="0"/>
              </a:rPr>
              <a:t>pairplot</a:t>
            </a:r>
            <a:r>
              <a:rPr lang="en-US" dirty="0"/>
              <a:t> </a:t>
            </a:r>
            <a:r>
              <a:rPr lang="en-US" dirty="0" err="1"/>
              <a:t>plota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r>
              <a:rPr lang="pt-BR" i="1" dirty="0"/>
              <a:t> </a:t>
            </a:r>
            <a:r>
              <a:rPr lang="pt-BR" dirty="0"/>
              <a:t>para todos os pares de variáveis.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10603</TotalTime>
  <Words>5993</Words>
  <Application>Microsoft Office PowerPoint</Application>
  <PresentationFormat>Widescreen</PresentationFormat>
  <Paragraphs>677</Paragraphs>
  <Slides>71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9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PowerPoint Presentation</vt:lpstr>
      <vt:lpstr>Tipo dos dados</vt:lpstr>
      <vt:lpstr>Tipo dos dados</vt:lpstr>
      <vt:lpstr>Variáveis qualitativas</vt:lpstr>
      <vt:lpstr>Variáveis quantitativas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Outros métodos para detecção de outliers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PowerPoint Presentation</vt:lpstr>
      <vt:lpstr>PowerPoint Presentation</vt:lpstr>
      <vt:lpstr>PowerPoint Presentation</vt:lpstr>
      <vt:lpstr>Técnicas para o tratamento de valores ausentes</vt:lpstr>
      <vt:lpstr>Tratando valores faltantes</vt:lpstr>
      <vt:lpstr>Tratando valores faltantes</vt:lpstr>
      <vt:lpstr>PowerPoint Presentation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PowerPoint Presentation</vt:lpstr>
      <vt:lpstr>Correlação de Spearman</vt:lpstr>
      <vt:lpstr>Plotando a matriz de correlação</vt:lpstr>
      <vt:lpstr>PowerPoint Presentation</vt:lpstr>
      <vt:lpstr>Pandas profiling</vt:lpstr>
      <vt:lpstr>Como gerar o relatório?</vt:lpstr>
      <vt:lpstr>PowerPoint Presentation</vt:lpstr>
      <vt:lpstr>Exemplo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2084</cp:revision>
  <dcterms:created xsi:type="dcterms:W3CDTF">2020-01-20T13:50:05Z</dcterms:created>
  <dcterms:modified xsi:type="dcterms:W3CDTF">2026-03-02T21:41:47Z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