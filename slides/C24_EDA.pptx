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4"/>
  </p:notesMasterIdLst>
  <p:handoutMasterIdLst>
    <p:handoutMasterId r:id="rId85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400" r:id="rId37"/>
    <p:sldId id="383" r:id="rId38"/>
    <p:sldId id="401" r:id="rId39"/>
    <p:sldId id="345" r:id="rId40"/>
    <p:sldId id="354" r:id="rId41"/>
    <p:sldId id="351" r:id="rId42"/>
    <p:sldId id="359" r:id="rId43"/>
    <p:sldId id="347" r:id="rId44"/>
    <p:sldId id="402" r:id="rId45"/>
    <p:sldId id="366" r:id="rId46"/>
    <p:sldId id="384" r:id="rId47"/>
    <p:sldId id="363" r:id="rId48"/>
    <p:sldId id="365" r:id="rId49"/>
    <p:sldId id="385" r:id="rId50"/>
    <p:sldId id="329" r:id="rId51"/>
    <p:sldId id="367" r:id="rId52"/>
    <p:sldId id="391" r:id="rId53"/>
    <p:sldId id="403" r:id="rId54"/>
    <p:sldId id="368" r:id="rId55"/>
    <p:sldId id="392" r:id="rId56"/>
    <p:sldId id="369" r:id="rId57"/>
    <p:sldId id="364" r:id="rId58"/>
    <p:sldId id="371" r:id="rId59"/>
    <p:sldId id="372" r:id="rId60"/>
    <p:sldId id="308" r:id="rId61"/>
    <p:sldId id="395" r:id="rId62"/>
    <p:sldId id="293" r:id="rId63"/>
    <p:sldId id="306" r:id="rId64"/>
    <p:sldId id="379" r:id="rId65"/>
    <p:sldId id="332" r:id="rId66"/>
    <p:sldId id="337" r:id="rId67"/>
    <p:sldId id="338" r:id="rId68"/>
    <p:sldId id="382" r:id="rId69"/>
    <p:sldId id="346" r:id="rId70"/>
    <p:sldId id="357" r:id="rId71"/>
    <p:sldId id="356" r:id="rId72"/>
    <p:sldId id="362" r:id="rId73"/>
    <p:sldId id="360" r:id="rId74"/>
    <p:sldId id="361" r:id="rId75"/>
    <p:sldId id="389" r:id="rId76"/>
    <p:sldId id="387" r:id="rId77"/>
    <p:sldId id="388" r:id="rId78"/>
    <p:sldId id="390" r:id="rId79"/>
    <p:sldId id="334" r:id="rId80"/>
    <p:sldId id="373" r:id="rId81"/>
    <p:sldId id="394" r:id="rId82"/>
    <p:sldId id="393" r:id="rId8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5956" autoAdjust="0"/>
  </p:normalViewPr>
  <p:slideViewPr>
    <p:cSldViewPr snapToGrid="0">
      <p:cViewPr varScale="1">
        <p:scale>
          <a:sx n="95" d="100"/>
          <a:sy n="95" d="100"/>
        </p:scale>
        <p:origin x="1416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10/08/2026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T</a:t>
            </a:r>
            <a:r>
              <a:rPr lang="en-US" b="0" dirty="0" err="1"/>
              <a:t>ranspor</a:t>
            </a:r>
            <a:r>
              <a:rPr lang="en-US" b="0" dirty="0"/>
              <a:t> um </a:t>
            </a:r>
            <a:r>
              <a:rPr lang="en-US" b="0" dirty="0" err="1"/>
              <a:t>DataFrame</a:t>
            </a:r>
            <a:r>
              <a:rPr lang="en-US" b="0" dirty="0"/>
              <a:t>: </a:t>
            </a:r>
          </a:p>
          <a:p>
            <a:pPr marL="171450" indent="-171450">
              <a:buFontTx/>
              <a:buChar char="-"/>
            </a:pPr>
            <a:r>
              <a:rPr lang="en-US" b="0" dirty="0"/>
              <a:t>Atributo: </a:t>
            </a:r>
            <a:r>
              <a:rPr lang="en-US" b="0" dirty="0" err="1"/>
              <a:t>df.T</a:t>
            </a:r>
            <a:endParaRPr lang="en-US" b="0" dirty="0"/>
          </a:p>
          <a:p>
            <a:pPr marL="171450" indent="-171450">
              <a:buFontTx/>
              <a:buChar char="-"/>
            </a:pPr>
            <a:r>
              <a:rPr lang="en-US" b="0" dirty="0" err="1"/>
              <a:t>Método</a:t>
            </a:r>
            <a:r>
              <a:rPr lang="en-US" b="0" dirty="0"/>
              <a:t>: </a:t>
            </a:r>
            <a:r>
              <a:rPr lang="en-US" b="0" dirty="0" err="1"/>
              <a:t>df.transpose</a:t>
            </a:r>
            <a:r>
              <a:rPr lang="en-US" b="0" dirty="0"/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outliers  </a:t>
            </a:r>
            <a:r>
              <a:rPr lang="en-US" dirty="0" err="1"/>
              <a:t>podem</a:t>
            </a:r>
            <a:r>
              <a:rPr lang="en-US" dirty="0"/>
              <a:t> ser </a:t>
            </a:r>
            <a:r>
              <a:rPr lang="en-US" b="1" dirty="0" err="1"/>
              <a:t>observações</a:t>
            </a:r>
            <a:r>
              <a:rPr lang="en-US" b="1" dirty="0"/>
              <a:t> </a:t>
            </a:r>
            <a:r>
              <a:rPr lang="en-US" b="1" dirty="0" err="1"/>
              <a:t>perfeitamente</a:t>
            </a:r>
            <a:r>
              <a:rPr lang="en-US" b="1" dirty="0"/>
              <a:t> </a:t>
            </a:r>
            <a:r>
              <a:rPr lang="en-US" b="1" dirty="0" err="1"/>
              <a:t>válidas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130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Distorção da média: </a:t>
            </a:r>
            <a:r>
              <a:rPr lang="pt-BR" dirty="0"/>
              <a:t>A média pode ser deslocada significativamente em direção aos valores extremos.</a:t>
            </a:r>
          </a:p>
          <a:p>
            <a:r>
              <a:rPr lang="pt-BR" b="1" dirty="0"/>
              <a:t>Aumento da variância/desvio padrão: </a:t>
            </a:r>
            <a:r>
              <a:rPr lang="pt-BR" dirty="0"/>
              <a:t>Valores extremos aumentam artificialmente a dispersão dos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Impacto em modelos de ML</a:t>
            </a:r>
            <a:r>
              <a:rPr lang="pt-BR" b="0" dirty="0"/>
              <a:t>: Valores muito grandes podem dominar os cálculos de distância. Isso pode fazer com que valores pequenos, mas relevantes, sejam praticamente ignorados.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</a:t>
            </a:r>
            <a:r>
              <a:rPr lang="en-US" b="1" dirty="0" err="1"/>
              <a:t>como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dados </a:t>
            </a:r>
            <a:r>
              <a:rPr lang="en-US" b="1" dirty="0" err="1"/>
              <a:t>estão</a:t>
            </a:r>
            <a:r>
              <a:rPr lang="en-US" b="1" dirty="0"/>
              <a:t> </a:t>
            </a:r>
            <a:r>
              <a:rPr lang="en-US" b="1" dirty="0" err="1"/>
              <a:t>distribuídos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77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1B72-7FD7-A1CF-0346-6943C09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7D1D1-DCD0-772B-B0F3-51368A46F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B95CE-C493-1715-08F3-2FF7F17D3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Histograma é uma ferramenta de exploração dos dados.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7BF84-699A-4864-BC8F-300283042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5803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com dados com distribuições próximas à distribuição “normal” (é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</a:t>
            </a:r>
            <a:r>
              <a:rPr lang="en-US" b="1" dirty="0" err="1"/>
              <a:t>distribuição</a:t>
            </a:r>
            <a:r>
              <a:rPr lang="en-US" b="1" dirty="0"/>
              <a:t> </a:t>
            </a:r>
            <a:r>
              <a:rPr lang="en-US" b="1" dirty="0" err="1"/>
              <a:t>assimétrica</a:t>
            </a:r>
            <a:r>
              <a:rPr lang="en-US" dirty="0"/>
              <a:t> é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dados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apresenta</a:t>
            </a:r>
            <a:r>
              <a:rPr lang="en-US" b="1" dirty="0"/>
              <a:t> o </a:t>
            </a:r>
            <a:r>
              <a:rPr lang="en-US" b="1" dirty="0" err="1"/>
              <a:t>mesmo</a:t>
            </a:r>
            <a:r>
              <a:rPr lang="en-US" b="1" dirty="0"/>
              <a:t> </a:t>
            </a:r>
            <a:r>
              <a:rPr lang="en-US" b="1" dirty="0" err="1"/>
              <a:t>formato</a:t>
            </a:r>
            <a:r>
              <a:rPr lang="en-US" b="1" dirty="0"/>
              <a:t> dos </a:t>
            </a:r>
            <a:r>
              <a:rPr lang="en-US" b="1" dirty="0" err="1"/>
              <a:t>dois</a:t>
            </a:r>
            <a:r>
              <a:rPr lang="en-US" b="1" dirty="0"/>
              <a:t> </a:t>
            </a:r>
            <a:r>
              <a:rPr lang="en-US" b="1" dirty="0" err="1"/>
              <a:t>lados</a:t>
            </a:r>
            <a:r>
              <a:rPr lang="en-US" b="1" dirty="0"/>
              <a:t> do </a:t>
            </a:r>
            <a:r>
              <a:rPr lang="en-US" b="1" dirty="0" err="1"/>
              <a:t>seu</a:t>
            </a:r>
            <a:r>
              <a:rPr lang="en-US" b="1" dirty="0"/>
              <a:t> </a:t>
            </a:r>
            <a:r>
              <a:rPr lang="en-US" b="1" dirty="0" err="1"/>
              <a:t>centro</a:t>
            </a:r>
            <a:r>
              <a:rPr lang="en-US" dirty="0"/>
              <a:t>. </a:t>
            </a:r>
          </a:p>
          <a:p>
            <a:endParaRPr lang="pt-BR" dirty="0"/>
          </a:p>
          <a:p>
            <a:r>
              <a:rPr lang="pt-BR" dirty="0" err="1"/>
              <a:t>Boxplot</a:t>
            </a:r>
            <a:r>
              <a:rPr lang="pt-BR" dirty="0"/>
              <a:t> é 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68B04-0320-560E-D624-2E361F58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582DE-2D3A-5ECF-91A4-0128BB29B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700CB-C8BE-5347-69BE-E19FDF23F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3064B-3F3A-9F21-98F8-0E62D567D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1854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Remover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redundantes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reduzir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, </a:t>
            </a:r>
            <a:r>
              <a:rPr lang="en-US" dirty="0" err="1"/>
              <a:t>simplificar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e </a:t>
            </a:r>
            <a:r>
              <a:rPr lang="en-US" dirty="0" err="1"/>
              <a:t>facilitar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interpretação</a:t>
            </a:r>
            <a:r>
              <a:rPr lang="en-US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𝜌</a:t>
                </a:r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ρ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inclinação</a:t>
            </a:r>
            <a:r>
              <a:rPr lang="en-US" dirty="0"/>
              <a:t>, mas do </a:t>
            </a:r>
            <a:r>
              <a:rPr lang="en-US" dirty="0" err="1"/>
              <a:t>grau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r>
              <a:rPr lang="en-US" dirty="0"/>
              <a:t> dos 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torno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reta</a:t>
            </a:r>
            <a:r>
              <a:rPr lang="en-US" dirty="0"/>
              <a:t>.</a:t>
            </a:r>
          </a:p>
          <a:p>
            <a:r>
              <a:rPr lang="en-US" dirty="0"/>
              <a:t>Pearson </a:t>
            </a:r>
            <a:r>
              <a:rPr lang="en-US" dirty="0" err="1"/>
              <a:t>mede</a:t>
            </a:r>
            <a:r>
              <a:rPr lang="en-US" dirty="0"/>
              <a:t> o </a:t>
            </a:r>
            <a:r>
              <a:rPr lang="en-US" b="1" dirty="0" err="1"/>
              <a:t>grau</a:t>
            </a:r>
            <a:r>
              <a:rPr lang="en-US" b="1" dirty="0"/>
              <a:t> de </a:t>
            </a:r>
            <a:r>
              <a:rPr lang="en-US" b="1" dirty="0" err="1"/>
              <a:t>alinhamento</a:t>
            </a:r>
            <a:r>
              <a:rPr lang="en-US" b="1" dirty="0"/>
              <a:t> linear</a:t>
            </a:r>
            <a:r>
              <a:rPr lang="en-US" dirty="0"/>
              <a:t> dos </a:t>
            </a:r>
            <a:r>
              <a:rPr lang="en-US" dirty="0" err="1"/>
              <a:t>pontos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3926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0.99, </a:t>
            </a:r>
            <a:r>
              <a:rPr lang="pt-BR" dirty="0"/>
              <a:t>não precisamos de ambas. Manter as duas é redundância de dados e desperdício de processamento.</a:t>
            </a:r>
          </a:p>
          <a:p>
            <a:endParaRPr lang="pt-BR" dirty="0"/>
          </a:p>
          <a:p>
            <a:r>
              <a:rPr lang="en-US" b="1" dirty="0"/>
              <a:t>Por </a:t>
            </a:r>
            <a:r>
              <a:rPr lang="en-US" b="1" dirty="0" err="1"/>
              <a:t>que</a:t>
            </a:r>
            <a:r>
              <a:rPr lang="en-US" b="1" dirty="0"/>
              <a:t> a </a:t>
            </a:r>
            <a:r>
              <a:rPr lang="en-US" b="1" dirty="0" err="1"/>
              <a:t>multicolinearidade</a:t>
            </a:r>
            <a:r>
              <a:rPr lang="en-US" b="1" dirty="0"/>
              <a:t> é um </a:t>
            </a:r>
            <a:r>
              <a:rPr lang="en-US" b="1" dirty="0" err="1"/>
              <a:t>problema</a:t>
            </a:r>
            <a:r>
              <a:rPr lang="en-US" b="1" dirty="0"/>
              <a:t>?</a:t>
            </a:r>
          </a:p>
          <a:p>
            <a:r>
              <a:rPr lang="en-US" dirty="0"/>
              <a:t>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fica</a:t>
            </a:r>
            <a:r>
              <a:rPr lang="en-US" dirty="0"/>
              <a:t> </a:t>
            </a:r>
            <a:r>
              <a:rPr lang="en-US" dirty="0" err="1"/>
              <a:t>particularmente</a:t>
            </a:r>
            <a:r>
              <a:rPr lang="en-US" dirty="0"/>
              <a:t> </a:t>
            </a:r>
            <a:r>
              <a:rPr lang="en-US" dirty="0" err="1"/>
              <a:t>importante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modelos</a:t>
            </a:r>
            <a:r>
              <a:rPr lang="en-US" b="1" dirty="0"/>
              <a:t> </a:t>
            </a:r>
            <a:r>
              <a:rPr lang="en-US" b="1" dirty="0" err="1"/>
              <a:t>lineares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:</a:t>
            </a:r>
          </a:p>
          <a:p>
            <a:r>
              <a:rPr lang="en-US" dirty="0"/>
              <a:t>y^​=β0​+β1​X1​+β2​X2​+⋯+βp​</a:t>
            </a:r>
            <a:r>
              <a:rPr lang="en-US" dirty="0" err="1"/>
              <a:t>Xp</a:t>
            </a:r>
            <a:r>
              <a:rPr lang="en-US" dirty="0"/>
              <a:t>​. </a:t>
            </a:r>
          </a:p>
          <a:p>
            <a:r>
              <a:rPr lang="en-US" dirty="0"/>
              <a:t>Se X1​ e X2​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correlacionadas</a:t>
            </a:r>
            <a:r>
              <a:rPr lang="en-US" dirty="0"/>
              <a:t>,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dificuldade</a:t>
            </a:r>
            <a:r>
              <a:rPr lang="en-US" dirty="0"/>
              <a:t> para </a:t>
            </a:r>
            <a:r>
              <a:rPr lang="en-US" dirty="0" err="1"/>
              <a:t>determinar</a:t>
            </a:r>
            <a:r>
              <a:rPr lang="en-US" dirty="0"/>
              <a:t> </a:t>
            </a:r>
            <a:r>
              <a:rPr lang="en-US" b="1" dirty="0" err="1"/>
              <a:t>quanto</a:t>
            </a:r>
            <a:r>
              <a:rPr lang="en-US" b="1" dirty="0"/>
              <a:t> da </a:t>
            </a:r>
            <a:r>
              <a:rPr lang="en-US" b="1" dirty="0" err="1"/>
              <a:t>contribuição</a:t>
            </a:r>
            <a:r>
              <a:rPr lang="en-US" b="1" dirty="0"/>
              <a:t> para y </a:t>
            </a:r>
            <a:r>
              <a:rPr lang="en-US" b="1" dirty="0" err="1"/>
              <a:t>deve</a:t>
            </a:r>
            <a:r>
              <a:rPr lang="en-US" b="1" dirty="0"/>
              <a:t> ser </a:t>
            </a:r>
            <a:r>
              <a:rPr lang="en-US" b="1" dirty="0" err="1"/>
              <a:t>atribuída</a:t>
            </a:r>
            <a:r>
              <a:rPr lang="en-US" b="1" dirty="0"/>
              <a:t> a </a:t>
            </a:r>
            <a:r>
              <a:rPr lang="en-US" b="1" dirty="0" err="1"/>
              <a:t>cada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dirty="0"/>
              <a:t>.</a:t>
            </a:r>
          </a:p>
          <a:p>
            <a:r>
              <a:rPr lang="en-US" dirty="0"/>
              <a:t>Por </a:t>
            </a:r>
            <a:r>
              <a:rPr lang="en-US" dirty="0" err="1"/>
              <a:t>exemplo</a:t>
            </a:r>
            <a:r>
              <a:rPr lang="en-US" dirty="0"/>
              <a:t>, </a:t>
            </a:r>
            <a:r>
              <a:rPr lang="en-US" dirty="0" err="1"/>
              <a:t>suponha</a:t>
            </a:r>
            <a:r>
              <a:rPr lang="en-US" dirty="0"/>
              <a:t>:</a:t>
            </a:r>
          </a:p>
          <a:p>
            <a:r>
              <a:rPr lang="en-US" dirty="0"/>
              <a:t>y=3X1​+5X2​+ϵ </a:t>
            </a:r>
          </a:p>
          <a:p>
            <a:r>
              <a:rPr lang="en-US" dirty="0"/>
              <a:t>mas:</a:t>
            </a:r>
          </a:p>
          <a:p>
            <a:r>
              <a:rPr lang="en-US" dirty="0"/>
              <a:t>X2​≈X1​. </a:t>
            </a:r>
          </a:p>
          <a:p>
            <a:r>
              <a:rPr lang="en-US" dirty="0"/>
              <a:t>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poderia</a:t>
            </a:r>
            <a:r>
              <a:rPr lang="en-US" dirty="0"/>
              <a:t> encontrar algo </a:t>
            </a:r>
            <a:r>
              <a:rPr lang="en-US" dirty="0" err="1"/>
              <a:t>como</a:t>
            </a:r>
            <a:r>
              <a:rPr lang="en-US" dirty="0"/>
              <a:t>:</a:t>
            </a:r>
          </a:p>
          <a:p>
            <a:r>
              <a:rPr lang="en-US" dirty="0"/>
              <a:t>y^​=7.8X1​+0.2X2​ </a:t>
            </a:r>
          </a:p>
          <a:p>
            <a:r>
              <a:rPr lang="en-US" dirty="0" err="1"/>
              <a:t>ou</a:t>
            </a:r>
            <a:endParaRPr lang="en-US" dirty="0"/>
          </a:p>
          <a:p>
            <a:r>
              <a:rPr lang="en-US" dirty="0"/>
              <a:t>y^​=2.1X1​+5.9X2​. </a:t>
            </a:r>
          </a:p>
          <a:p>
            <a:r>
              <a:rPr lang="en-US" dirty="0"/>
              <a:t>Ambos </a:t>
            </a:r>
            <a:r>
              <a:rPr lang="en-US" dirty="0" err="1"/>
              <a:t>podem</a:t>
            </a:r>
            <a:r>
              <a:rPr lang="en-US" dirty="0"/>
              <a:t> </a:t>
            </a:r>
            <a:r>
              <a:rPr lang="en-US" dirty="0" err="1"/>
              <a:t>produzir</a:t>
            </a:r>
            <a:r>
              <a:rPr lang="en-US" dirty="0"/>
              <a:t> </a:t>
            </a:r>
            <a:r>
              <a:rPr lang="en-US" dirty="0" err="1"/>
              <a:t>previsões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semelhantes</a:t>
            </a:r>
            <a:r>
              <a:rPr lang="en-US" dirty="0"/>
              <a:t>.</a:t>
            </a:r>
          </a:p>
          <a:p>
            <a:r>
              <a:rPr lang="en-US" dirty="0" err="1"/>
              <a:t>Consequentemente</a:t>
            </a:r>
            <a:r>
              <a:rPr lang="en-US" dirty="0"/>
              <a:t>,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b="1" dirty="0" err="1"/>
              <a:t>coeficientes</a:t>
            </a:r>
            <a:r>
              <a:rPr lang="en-US" b="1" dirty="0"/>
              <a:t> </a:t>
            </a:r>
            <a:r>
              <a:rPr lang="en-US" b="1" dirty="0" err="1"/>
              <a:t>individuais</a:t>
            </a:r>
            <a:r>
              <a:rPr lang="en-US" b="1" dirty="0"/>
              <a:t> </a:t>
            </a:r>
            <a:r>
              <a:rPr lang="en-US" b="1" dirty="0" err="1"/>
              <a:t>tornam</a:t>
            </a:r>
            <a:r>
              <a:rPr lang="en-US" b="1" dirty="0"/>
              <a:t>-se </a:t>
            </a:r>
            <a:r>
              <a:rPr lang="en-US" b="1" dirty="0" err="1"/>
              <a:t>instáveis</a:t>
            </a:r>
            <a:r>
              <a:rPr lang="en-US" dirty="0"/>
              <a:t> e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aumenta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(como, por exemplo,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não carregam informação útil.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</a:t>
            </a:r>
            <a:r>
              <a:rPr lang="pt-BR" sz="2800" b="1" dirty="0">
                <a:solidFill>
                  <a:schemeClr val="accent2"/>
                </a:solidFill>
              </a:rPr>
              <a:t>de cada coluna</a:t>
            </a:r>
            <a:r>
              <a:rPr lang="pt-BR" sz="2800" dirty="0"/>
              <a:t>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com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“</a:t>
            </a:r>
            <a:r>
              <a:rPr lang="en-US" sz="2200" dirty="0" err="1"/>
              <a:t>inplace</a:t>
            </a:r>
            <a:r>
              <a:rPr lang="en-US" sz="2200" dirty="0"/>
              <a:t>=True”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a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</a:t>
            </a:r>
            <a:r>
              <a:rPr lang="pt-BR" dirty="0" err="1"/>
              <a:t>boolean</a:t>
            </a:r>
            <a:r>
              <a:rPr lang="pt-BR" dirty="0"/>
              <a:t>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Retorna uma 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também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", e/ou "</a:t>
            </a:r>
            <a:r>
              <a:rPr lang="pt-BR" dirty="0" err="1">
                <a:latin typeface="Consolas" panose="020B0609020204030204" pitchFamily="49" charset="0"/>
              </a:rPr>
              <a:t>string</a:t>
            </a:r>
            <a:r>
              <a:rPr lang="pt-BR" dirty="0">
                <a:latin typeface="Consolas" panose="020B0609020204030204" pitchFamily="49" charset="0"/>
              </a:rPr>
              <a:t>".</a:t>
            </a: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Um </a:t>
            </a:r>
            <a:r>
              <a:rPr lang="pt-BR" i="1" noProof="0" dirty="0" err="1"/>
              <a:t>outlier</a:t>
            </a:r>
            <a:r>
              <a:rPr lang="pt-BR" noProof="0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 a um servidor),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Distorcer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Prejudicar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Histogramas, </a:t>
            </a:r>
            <a:r>
              <a:rPr lang="pt-BR" i="1" dirty="0" err="1"/>
              <a:t>boxplots</a:t>
            </a:r>
            <a:r>
              <a:rPr lang="pt-BR" dirty="0"/>
              <a:t>,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etc. podem ficar difíceis de interpretar.</a:t>
            </a:r>
          </a:p>
          <a:p>
            <a:r>
              <a:rPr lang="pt-BR" dirty="0"/>
              <a:t>Impactar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gerar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Problemas de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modelos baseados em </a:t>
            </a:r>
            <a:r>
              <a:rPr lang="pt-BR" b="1" dirty="0">
                <a:solidFill>
                  <a:schemeClr val="accent1"/>
                </a:solidFill>
              </a:rPr>
              <a:t>gradiente</a:t>
            </a:r>
            <a:r>
              <a:rPr lang="pt-BR" dirty="0"/>
              <a:t>, dados mal escalonados podem tornar a </a:t>
            </a:r>
            <a:r>
              <a:rPr lang="pt-BR" b="1" dirty="0">
                <a:solidFill>
                  <a:schemeClr val="accent2"/>
                </a:solidFill>
              </a:rPr>
              <a:t>convergência mais lenta </a:t>
            </a:r>
            <a:r>
              <a:rPr lang="pt-BR" dirty="0"/>
              <a:t>ou até </a:t>
            </a:r>
            <a:r>
              <a:rPr lang="pt-BR" b="1" dirty="0">
                <a:solidFill>
                  <a:schemeClr val="accent2"/>
                </a:solidFill>
              </a:rPr>
              <a:t>impedir a convergência</a:t>
            </a:r>
            <a:r>
              <a:rPr lang="pt-BR" dirty="0"/>
              <a:t>. 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Bill Gates e Mark Zuckerberg são tão ricos que a média salarial de quem largou Harvard é, provavelmente, maior que a de quem se formou lá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  <a:p>
            <a:r>
              <a:rPr lang="pt-BR" dirty="0"/>
              <a:t>Porém, largar a faculdade, provavelmente, não deixará vocês bilionários. 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9142" y="1825624"/>
            <a:ext cx="6702858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que marcasse 500°C por um segundo, isso seria um erro ou uma exceção que deveria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18" y="2647672"/>
            <a:ext cx="4952760" cy="270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a </a:t>
            </a:r>
            <a:r>
              <a:rPr lang="en-US" b="1" dirty="0" err="1"/>
              <a:t>distribuição</a:t>
            </a:r>
            <a:r>
              <a:rPr lang="en-US" b="1" dirty="0"/>
              <a:t> de </a:t>
            </a:r>
            <a:r>
              <a:rPr lang="en-US" b="1" dirty="0" err="1"/>
              <a:t>frequências</a:t>
            </a:r>
            <a:r>
              <a:rPr lang="en-US" dirty="0"/>
              <a:t>, </a:t>
            </a:r>
            <a:r>
              <a:rPr lang="en-US" dirty="0" err="1"/>
              <a:t>agrupando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i="1" dirty="0"/>
              <a:t>bins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Podemos </a:t>
            </a:r>
            <a:r>
              <a:rPr lang="pt-BR" dirty="0" err="1"/>
              <a:t>plotá-lo</a:t>
            </a:r>
            <a:r>
              <a:rPr lang="pt-BR" dirty="0"/>
              <a:t> 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a </a:t>
            </a:r>
            <a:r>
              <a:rPr lang="en-US" b="1" dirty="0" err="1">
                <a:solidFill>
                  <a:schemeClr val="accent1"/>
                </a:solidFill>
              </a:rPr>
              <a:t>quantidade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caixas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contagem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seu</a:t>
            </a:r>
            <a:r>
              <a:rPr lang="en-US" dirty="0"/>
              <a:t> valor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Histogramas ajudam a </a:t>
            </a:r>
            <a:r>
              <a:rPr lang="pt-BR" b="1" noProof="0" dirty="0">
                <a:solidFill>
                  <a:schemeClr val="accent1"/>
                </a:solidFill>
              </a:rPr>
              <a:t>entender a distribuição</a:t>
            </a:r>
            <a:r>
              <a:rPr lang="pt-BR" noProof="0" dirty="0"/>
              <a:t>, mas não são </a:t>
            </a:r>
            <a:r>
              <a:rPr lang="pt-BR" dirty="0"/>
              <a:t>suficientes, sozinhos,</a:t>
            </a:r>
            <a:r>
              <a:rPr lang="pt-BR" noProof="0" dirty="0"/>
              <a:t> para identificar </a:t>
            </a:r>
            <a:r>
              <a:rPr lang="pt-BR" i="1" noProof="0" dirty="0"/>
              <a:t>outliers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Dependem do número e tamanhos dos </a:t>
            </a:r>
            <a:r>
              <a:rPr lang="pt-BR" i="1" noProof="0" dirty="0" err="1"/>
              <a:t>bins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Não definem </a:t>
            </a:r>
            <a:r>
              <a:rPr lang="pt-BR" b="1" noProof="0" dirty="0">
                <a:solidFill>
                  <a:schemeClr val="accent2"/>
                </a:solidFill>
              </a:rPr>
              <a:t>limites objetivos </a:t>
            </a:r>
            <a:r>
              <a:rPr lang="pt-BR" noProof="0" dirty="0"/>
              <a:t>para classificar valores como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quão distante é suficientemente distante para um valor ser considerado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</a:t>
            </a:r>
            <a:r>
              <a:rPr lang="pt-BR" i="1" noProof="0" dirty="0"/>
              <a:t>outlier</a:t>
            </a:r>
            <a:r>
              <a:rPr lang="pt-BR" noProof="0" dirty="0"/>
              <a:t> pode “sumir” em um </a:t>
            </a:r>
            <a:r>
              <a:rPr lang="pt-BR" i="1" noProof="0" dirty="0"/>
              <a:t>bin</a:t>
            </a:r>
            <a:r>
              <a:rPr lang="pt-BR" noProof="0" dirty="0"/>
              <a:t> largo.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75BA5-6708-2ED9-E99B-4AA8782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674E-9C87-7B88-E048-4DDF3827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40662-3513-D843-449D-244D4AAAB1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Usamos histogramas como uma </a:t>
            </a:r>
            <a:r>
              <a:rPr lang="pt-BR" b="1" noProof="0" dirty="0">
                <a:solidFill>
                  <a:schemeClr val="accent1"/>
                </a:solidFill>
              </a:rPr>
              <a:t>ferramenta </a:t>
            </a:r>
            <a:r>
              <a:rPr lang="pt-BR" b="1" noProof="0" dirty="0">
                <a:solidFill>
                  <a:srgbClr val="00B050"/>
                </a:solidFill>
              </a:rPr>
              <a:t>inicial</a:t>
            </a:r>
            <a:r>
              <a:rPr lang="pt-BR" b="1" noProof="0" dirty="0">
                <a:solidFill>
                  <a:schemeClr val="accent1"/>
                </a:solidFill>
              </a:rPr>
              <a:t> para levantar suspeitas</a:t>
            </a:r>
            <a:r>
              <a:rPr lang="pt-BR" noProof="0" dirty="0"/>
              <a:t> de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r>
              <a:rPr lang="pt-BR" noProof="0" dirty="0"/>
              <a:t>Eles são ótimos para uma visão geral, </a:t>
            </a:r>
            <a:r>
              <a:rPr lang="pt-BR" b="1" noProof="0" dirty="0">
                <a:solidFill>
                  <a:srgbClr val="7030A0"/>
                </a:solidFill>
              </a:rPr>
              <a:t>sugerem a presença</a:t>
            </a:r>
            <a:r>
              <a:rPr lang="pt-BR" noProof="0" dirty="0"/>
              <a:t>, mas </a:t>
            </a:r>
            <a:r>
              <a:rPr lang="pt-BR" b="1" noProof="0" dirty="0"/>
              <a:t>não devem ser </a:t>
            </a:r>
            <a:r>
              <a:rPr lang="pt-BR" b="1" noProof="0" dirty="0">
                <a:solidFill>
                  <a:schemeClr val="accent2"/>
                </a:solidFill>
              </a:rPr>
              <a:t>usados para a decisão final</a:t>
            </a:r>
            <a:r>
              <a:rPr lang="pt-BR" noProof="0" dirty="0"/>
              <a:t>.</a:t>
            </a:r>
          </a:p>
          <a:p>
            <a:r>
              <a:rPr lang="pt-BR" noProof="0" dirty="0"/>
              <a:t>O que fazer então?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4BAF6E31-6F9B-D8AD-F1DE-3F66009BE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971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1235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noProof="0" dirty="0"/>
              <a:t>O </a:t>
            </a:r>
            <a:r>
              <a:rPr lang="pt-BR" b="1" i="1" noProof="0" dirty="0" err="1">
                <a:solidFill>
                  <a:schemeClr val="accent1"/>
                </a:solidFill>
              </a:rPr>
              <a:t>boxplot</a:t>
            </a:r>
            <a:r>
              <a:rPr lang="pt-BR" noProof="0" dirty="0"/>
              <a:t> é ferramenta gráfica mais indicada para identificar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E6C29-40F2-FAE4-F530-F2CB1416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EC46-3CBB-E533-BE7C-B595B589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4DD6A-A889-7B74-142D-CA414CF3A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1D0A5A-674A-5B69-A0A4-87ABC80B58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73414C-B477-3AE2-EDDC-DAE6790ECF8D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102135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350558" y="1825624"/>
            <a:ext cx="5841442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 central </a:t>
            </a:r>
            <a:r>
              <a:rPr lang="pt-BR" dirty="0"/>
              <a:t>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</a:t>
            </a:r>
            <a:r>
              <a:rPr lang="pt-BR" b="1" dirty="0">
                <a:solidFill>
                  <a:srgbClr val="7030A0"/>
                </a:solidFill>
              </a:rPr>
              <a:t>dados ordenados</a:t>
            </a:r>
            <a:r>
              <a:rPr lang="pt-BR" dirty="0"/>
              <a:t>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</a:t>
            </a:r>
            <a:r>
              <a:rPr lang="pt-BR" b="1" dirty="0">
                <a:solidFill>
                  <a:srgbClr val="00B050"/>
                </a:solidFill>
              </a:rPr>
              <a:t>valor central </a:t>
            </a:r>
            <a:r>
              <a:rPr lang="pt-BR" dirty="0"/>
              <a:t>dos dados ordenados.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ordenados estão abaixo desse valor.</a:t>
            </a:r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50557" y="1825625"/>
                <a:ext cx="5841443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</a:t>
                </a:r>
                <a:r>
                  <a:rPr lang="pt-BR" b="1" dirty="0"/>
                  <a:t>sensibilidade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moderados</a:t>
                </a:r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casos extremos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</a:t>
                </a:r>
                <a:r>
                  <a:rPr lang="pt-BR" b="1" dirty="0">
                    <a:solidFill>
                      <a:srgbClr val="00B0F0"/>
                    </a:solidFill>
                  </a:rPr>
                  <a:t>possíveis</a:t>
                </a:r>
                <a:r>
                  <a:rPr lang="pt-BR" dirty="0"/>
                  <a:t>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557" y="1825625"/>
                <a:ext cx="5841443" cy="5032375"/>
              </a:xfrm>
              <a:prstGeom prst="rect">
                <a:avLst/>
              </a:prstGeom>
              <a:blipFill>
                <a:blip r:embed="rId3"/>
                <a:stretch>
                  <a:fillRect l="-2192" t="-1937" r="-1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74D69300-3CC5-88FB-5553-D39706FECC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noProof="0"/>
              <a:t>Boxplot</a:t>
            </a:r>
            <a:endParaRPr lang="pt-BR" b="1" i="1" noProof="0" dirty="0"/>
          </a:p>
          <a:p>
            <a:r>
              <a:rPr lang="pt-BR" noProof="0" dirty="0"/>
              <a:t>Usando a função </a:t>
            </a:r>
            <a:r>
              <a:rPr lang="pt-BR" b="1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/>
              <a:t> da biblioteca </a:t>
            </a:r>
            <a:r>
              <a:rPr lang="pt-BR" noProof="0" dirty="0" err="1"/>
              <a:t>matplotlib</a:t>
            </a:r>
            <a:endParaRPr lang="pt-BR" noProof="0" dirty="0"/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plt.boxplot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df</a:t>
            </a:r>
            <a:r>
              <a:rPr lang="pt-BR" noProof="0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plt.xlabel</a:t>
            </a:r>
            <a:r>
              <a:rPr lang="pt-BR" noProof="0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plt.ylabel</a:t>
            </a:r>
            <a:r>
              <a:rPr lang="pt-BR" noProof="0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plt.title</a:t>
            </a:r>
            <a:r>
              <a:rPr lang="pt-BR" noProof="0" dirty="0">
                <a:latin typeface="Consolas" panose="020B0609020204030204" pitchFamily="49" charset="0"/>
              </a:rPr>
              <a:t>('</a:t>
            </a:r>
            <a:r>
              <a:rPr lang="pt-BR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>
                <a:latin typeface="Consolas" panose="020B0609020204030204" pitchFamily="49" charset="0"/>
              </a:rPr>
              <a:t> do 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Robusto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pois usa quartis (i.e., a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divisão</a:t>
                </a:r>
                <a:r>
                  <a:rPr lang="pt-BR" noProof="0" dirty="0"/>
                  <a:t> dos dados em 4 partes)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Funciona bem mesmo com distribuições assimétricas (não apenas Gaussianas)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Fácil de interpretar visualmente (</a:t>
                </a:r>
                <a:r>
                  <a:rPr lang="pt-BR" i="1" noProof="0" dirty="0" err="1"/>
                  <a:t>boxplots</a:t>
                </a:r>
                <a:r>
                  <a:rPr lang="pt-BR" noProof="0" dirty="0"/>
                  <a:t>)</a:t>
                </a:r>
              </a:p>
              <a:p>
                <a:r>
                  <a:rPr lang="pt-BR" noProof="0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Treine o modelo com e sem os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identificados por 1.5 e verifique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pode definir muitos pontos como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nesses casos, deve se testar o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noProof="0" dirty="0"/>
                  <a:t> ou ajustá-lo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Ineficaz para conjuntos de dados pequenos, pois eles podem não representar a distribuição com precisão.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FF1BC-4B04-D176-4327-5B480C8A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43E3E-8230-C24B-4F90-5E26B74A4A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as variáveis se relacionam?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307525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891684" cy="42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(as vezes escondidas)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para a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a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Eficiência energética do carro ↓ conforme o peso ↑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9C74DE0-9C06-95D0-0D1E-0DF5915FC7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535" b="5324"/>
          <a:stretch>
            <a:fillRect/>
          </a:stretch>
        </p:blipFill>
        <p:spPr>
          <a:xfrm>
            <a:off x="1913164" y="3429000"/>
            <a:ext cx="8365671" cy="301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Quais atributos realmente influenciam o </a:t>
            </a:r>
            <a:r>
              <a:rPr lang="pt-BR" i="1" noProof="0" dirty="0"/>
              <a:t>target</a:t>
            </a:r>
            <a:r>
              <a:rPr lang="pt-BR" noProof="0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remover atributos redundantes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</a:t>
            </a:r>
            <a:r>
              <a:rPr lang="pt-BR" noProof="0" dirty="0" err="1"/>
              <a:t>anter</a:t>
            </a:r>
            <a:r>
              <a:rPr lang="pt-BR" noProof="0" dirty="0"/>
              <a:t> variáveis que possuem </a:t>
            </a:r>
            <a:r>
              <a:rPr lang="pt-BR" b="1" noProof="0" dirty="0">
                <a:solidFill>
                  <a:srgbClr val="00B050"/>
                </a:solidFill>
              </a:rPr>
              <a:t>i</a:t>
            </a:r>
            <a:r>
              <a:rPr lang="pt-BR" b="1" dirty="0" err="1">
                <a:solidFill>
                  <a:srgbClr val="00B050"/>
                </a:solidFill>
              </a:rPr>
              <a:t>nformação</a:t>
            </a:r>
            <a:r>
              <a:rPr lang="pt-BR" b="1" dirty="0">
                <a:solidFill>
                  <a:srgbClr val="00B050"/>
                </a:solidFill>
              </a:rPr>
              <a:t> muito semelhante</a:t>
            </a:r>
            <a:r>
              <a:rPr lang="pt-BR" dirty="0"/>
              <a:t> </a:t>
            </a:r>
            <a:r>
              <a:rPr lang="pt-BR" noProof="0" dirty="0"/>
              <a:t>pode acrescentar </a:t>
            </a:r>
            <a:r>
              <a:rPr lang="pt-BR" b="1" noProof="0" dirty="0">
                <a:solidFill>
                  <a:srgbClr val="0070C0"/>
                </a:solidFill>
              </a:rPr>
              <a:t>pouca informação preditiva</a:t>
            </a:r>
            <a:r>
              <a:rPr lang="pt-BR" noProof="0" dirty="0"/>
              <a:t> ao modelo e </a:t>
            </a:r>
            <a:r>
              <a:rPr lang="pt-BR" noProof="0" dirty="0" err="1"/>
              <a:t>deixá</a:t>
            </a:r>
            <a:r>
              <a:rPr lang="pt-BR" dirty="0"/>
              <a:t>-</a:t>
            </a:r>
            <a:r>
              <a:rPr lang="pt-BR" noProof="0" dirty="0" err="1"/>
              <a:t>lo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70C0"/>
                </a:solidFill>
              </a:rPr>
              <a:t>mais complexo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detectar </a:t>
            </a:r>
            <a:r>
              <a:rPr lang="pt-BR" noProof="0" dirty="0" err="1"/>
              <a:t>multicolinearidade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É quando </a:t>
            </a:r>
            <a:r>
              <a:rPr lang="pt-BR" b="1" noProof="0" dirty="0">
                <a:solidFill>
                  <a:srgbClr val="7030A0"/>
                </a:solidFill>
              </a:rPr>
              <a:t>dois ou mais </a:t>
            </a:r>
            <a:r>
              <a:rPr lang="pt-BR" b="1" noProof="0" dirty="0">
                <a:solidFill>
                  <a:schemeClr val="accent2"/>
                </a:solidFill>
              </a:rPr>
              <a:t>atributos</a:t>
            </a:r>
            <a:r>
              <a:rPr lang="pt-BR" b="1" noProof="0" dirty="0">
                <a:solidFill>
                  <a:srgbClr val="7030A0"/>
                </a:solidFill>
              </a:rPr>
              <a:t> estão altamente correlacionados</a:t>
            </a:r>
            <a:r>
              <a:rPr lang="pt-BR" noProof="0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escolher modelos de ML adequados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lineares: por exemplo, </a:t>
            </a:r>
            <a:r>
              <a:rPr lang="pt-BR" noProof="0" dirty="0" err="1"/>
              <a:t>regress</a:t>
            </a:r>
            <a:r>
              <a:rPr lang="pt-BR" dirty="0" err="1"/>
              <a:t>ão</a:t>
            </a:r>
            <a:r>
              <a:rPr lang="pt-BR" dirty="0"/>
              <a:t> linear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não lineares: por exemplo, árvores de decisão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chemeClr val="accent1"/>
                    </a:solidFill>
                  </a:rPr>
                  <a:t>Por padrão, cada elemento </a:t>
                </a:r>
                <a:r>
                  <a:rPr lang="pt-BR" dirty="0"/>
                  <a:t>da matriz é calculado usando-se o </a:t>
                </a:r>
                <a:r>
                  <a:rPr lang="pt-BR" b="1" dirty="0">
                    <a:solidFill>
                      <a:srgbClr val="00B0F0"/>
                    </a:solidFill>
                  </a:rPr>
                  <a:t>coeficiente de correlação de Pearson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+1.</a:t>
                </a:r>
              </a:p>
              <a:p>
                <a:r>
                  <a:rPr lang="pt-BR" dirty="0"/>
                  <a:t>Vamos ver como interpretar o coeficiente.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, como uma "nuvem”.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Não há relação linear clara </a:t>
                </a:r>
                <a:r>
                  <a:rPr lang="pt-BR" dirty="0"/>
                  <a:t>entre as variáveis.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ângulo 2">
            <a:extLst>
              <a:ext uri="{FF2B5EF4-FFF2-40B4-BE49-F238E27FC236}">
                <a16:creationId xmlns:a16="http://schemas.microsoft.com/office/drawing/2014/main" id="{6EA11738-D43F-BD5C-51CA-69992230B744}"/>
              </a:ext>
            </a:extLst>
          </p:cNvPr>
          <p:cNvSpPr/>
          <p:nvPr/>
        </p:nvSpPr>
        <p:spPr>
          <a:xfrm>
            <a:off x="30144" y="2190541"/>
            <a:ext cx="6772589" cy="1238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5024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19126" y="1825624"/>
                <a:ext cx="5272874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não depende da inclinação</a:t>
                </a:r>
                <a:r>
                  <a:rPr lang="pt-BR" noProof="0" dirty="0"/>
                  <a:t>, </a:t>
                </a:r>
                <a:r>
                  <a:rPr lang="pt-BR" b="1" dirty="0">
                    <a:solidFill>
                      <a:srgbClr val="0070C0"/>
                    </a:solidFill>
                  </a:rPr>
                  <a:t>mas de quão próximos os dados estão de uma </a:t>
                </a:r>
                <a:r>
                  <a:rPr lang="pt-BR" b="1" dirty="0"/>
                  <a:t>reta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Mesmo que exista uma relação não linear bem definida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será 0.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19126" y="1825624"/>
                <a:ext cx="5272874" cy="5032375"/>
              </a:xfrm>
              <a:blipFill>
                <a:blip r:embed="rId4"/>
                <a:stretch>
                  <a:fillRect t="-1937" r="-2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DAF2BEA4-F68E-3561-C84A-401548312864}"/>
              </a:ext>
            </a:extLst>
          </p:cNvPr>
          <p:cNvSpPr/>
          <p:nvPr/>
        </p:nvSpPr>
        <p:spPr>
          <a:xfrm>
            <a:off x="20096" y="3346101"/>
            <a:ext cx="6802733" cy="22380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650BA-EF4C-8107-738D-B3A668E1B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D7079D-113B-42A0-0905-21794F4EC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6470" y="1825625"/>
            <a:ext cx="5691552" cy="4351338"/>
          </a:xfrm>
        </p:spPr>
        <p:txBody>
          <a:bodyPr/>
          <a:lstStyle/>
          <a:p>
            <a:r>
              <a:rPr lang="pt-BR" noProof="0" dirty="0"/>
              <a:t>A </a:t>
            </a:r>
            <a:r>
              <a:rPr lang="pt-BR" b="1" noProof="0" dirty="0"/>
              <a:t>matriz de correlação</a:t>
            </a:r>
            <a:r>
              <a:rPr lang="pt-BR" noProof="0" dirty="0"/>
              <a:t> é criada calculando a </a:t>
            </a:r>
            <a:r>
              <a:rPr lang="pt-BR" b="1" noProof="0" dirty="0">
                <a:solidFill>
                  <a:srgbClr val="0070C0"/>
                </a:solidFill>
              </a:rPr>
              <a:t>correlação par a par </a:t>
            </a:r>
            <a:r>
              <a:rPr lang="pt-BR" b="1" noProof="0" dirty="0"/>
              <a:t>entre todas as variáveis</a:t>
            </a:r>
            <a:r>
              <a:rPr lang="pt-BR" noProof="0" dirty="0"/>
              <a:t> de um conjunto de dados.</a:t>
            </a:r>
          </a:p>
          <a:p>
            <a:r>
              <a:rPr lang="pt-BR" noProof="0" dirty="0"/>
              <a:t>A diagonal é sempre igual a 1, pois uma variável é perfeitamente correlacionada consigo mesma.</a:t>
            </a:r>
          </a:p>
        </p:txBody>
      </p:sp>
      <p:pic>
        <p:nvPicPr>
          <p:cNvPr id="5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438A46B7-FCE8-4742-C97A-40D98D5D2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61" y="1883686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3210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6" y="1825625"/>
                <a:ext cx="6237513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 ao </a:t>
                </a:r>
                <a:r>
                  <a:rPr lang="pt-BR" i="1" noProof="0" dirty="0"/>
                  <a:t>target</a:t>
                </a:r>
                <a:r>
                  <a:rPr lang="pt-BR" noProof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Relacionamentos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lineares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dirty="0"/>
                  <a:t>Apoiar a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 relação pode ser modelada por uma reta?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6" y="1825625"/>
                <a:ext cx="6237513" cy="5032376"/>
              </a:xfrm>
              <a:blipFill>
                <a:blip r:embed="rId3"/>
                <a:stretch>
                  <a:fillRect l="-1760" t="-1937" r="-185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(ver 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b="1" dirty="0"/>
              <a:t>OBS.: </a:t>
            </a:r>
            <a:r>
              <a:rPr lang="pt-BR" dirty="0"/>
              <a:t>“</a:t>
            </a:r>
            <a:r>
              <a:rPr lang="pt-BR" dirty="0" err="1">
                <a:latin typeface="Consolas" panose="020B0609020204030204" pitchFamily="49" charset="0"/>
              </a:rPr>
              <a:t>numeric_only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” a correlação é calculada usando somente colunas numéricas (</a:t>
            </a:r>
            <a:r>
              <a:rPr lang="pt-BR" i="1" dirty="0" err="1"/>
              <a:t>float</a:t>
            </a:r>
            <a:r>
              <a:rPr lang="pt-BR" dirty="0"/>
              <a:t>, </a:t>
            </a:r>
            <a:r>
              <a:rPr lang="pt-BR" i="1" dirty="0" err="1"/>
              <a:t>int</a:t>
            </a:r>
            <a:r>
              <a:rPr lang="pt-BR" dirty="0"/>
              <a:t> ou </a:t>
            </a:r>
            <a:r>
              <a:rPr lang="pt-BR" i="1" dirty="0" err="1"/>
              <a:t>boolean</a:t>
            </a:r>
            <a:r>
              <a:rPr lang="pt-BR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</a:t>
            </a:r>
            <a:r>
              <a:rPr lang="pt-BR" b="1" dirty="0">
                <a:solidFill>
                  <a:srgbClr val="00B0F0"/>
                </a:solidFill>
              </a:rPr>
              <a:t>entre duas variáveis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 (e.g., a matriz de correlação)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i="1" dirty="0" err="1"/>
              <a:t>plots</a:t>
            </a:r>
            <a:r>
              <a:rPr lang="pt-BR" dirty="0"/>
              <a:t> podem ficar poluídos em </a:t>
            </a:r>
            <a:r>
              <a:rPr lang="pt-BR" i="1" dirty="0" err="1"/>
              <a:t>datasets</a:t>
            </a:r>
            <a:r>
              <a:rPr lang="pt-BR" dirty="0"/>
              <a:t> com muitas amostras: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Props1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11176</TotalTime>
  <Words>6778</Words>
  <Application>Microsoft Office PowerPoint</Application>
  <PresentationFormat>Widescreen</PresentationFormat>
  <Paragraphs>754</Paragraphs>
  <Slides>79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podem causar?</vt:lpstr>
      <vt:lpstr>O que eles podem causar?</vt:lpstr>
      <vt:lpstr>O que eles podem causar?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Apresentação do PowerPoint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Matriz de correlação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2264</cp:revision>
  <dcterms:created xsi:type="dcterms:W3CDTF">2020-01-20T13:50:05Z</dcterms:created>
  <dcterms:modified xsi:type="dcterms:W3CDTF">2026-08-10T20:05:32Z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