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0"/>
  </p:notesMasterIdLst>
  <p:handoutMasterIdLst>
    <p:handoutMasterId r:id="rId81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383" r:id="rId37"/>
    <p:sldId id="345" r:id="rId38"/>
    <p:sldId id="354" r:id="rId39"/>
    <p:sldId id="351" r:id="rId40"/>
    <p:sldId id="359" r:id="rId41"/>
    <p:sldId id="347" r:id="rId42"/>
    <p:sldId id="366" r:id="rId43"/>
    <p:sldId id="384" r:id="rId44"/>
    <p:sldId id="363" r:id="rId45"/>
    <p:sldId id="365" r:id="rId46"/>
    <p:sldId id="385" r:id="rId47"/>
    <p:sldId id="329" r:id="rId48"/>
    <p:sldId id="367" r:id="rId49"/>
    <p:sldId id="391" r:id="rId50"/>
    <p:sldId id="368" r:id="rId51"/>
    <p:sldId id="392" r:id="rId52"/>
    <p:sldId id="369" r:id="rId53"/>
    <p:sldId id="364" r:id="rId54"/>
    <p:sldId id="371" r:id="rId55"/>
    <p:sldId id="372" r:id="rId56"/>
    <p:sldId id="308" r:id="rId57"/>
    <p:sldId id="395" r:id="rId58"/>
    <p:sldId id="293" r:id="rId59"/>
    <p:sldId id="306" r:id="rId60"/>
    <p:sldId id="379" r:id="rId61"/>
    <p:sldId id="332" r:id="rId62"/>
    <p:sldId id="337" r:id="rId63"/>
    <p:sldId id="338" r:id="rId64"/>
    <p:sldId id="382" r:id="rId65"/>
    <p:sldId id="346" r:id="rId66"/>
    <p:sldId id="357" r:id="rId67"/>
    <p:sldId id="356" r:id="rId68"/>
    <p:sldId id="362" r:id="rId69"/>
    <p:sldId id="360" r:id="rId70"/>
    <p:sldId id="361" r:id="rId71"/>
    <p:sldId id="389" r:id="rId72"/>
    <p:sldId id="387" r:id="rId73"/>
    <p:sldId id="388" r:id="rId74"/>
    <p:sldId id="390" r:id="rId75"/>
    <p:sldId id="334" r:id="rId76"/>
    <p:sldId id="373" r:id="rId77"/>
    <p:sldId id="394" r:id="rId78"/>
    <p:sldId id="393" r:id="rId7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6320" autoAdjust="0"/>
  </p:normalViewPr>
  <p:slideViewPr>
    <p:cSldViewPr snapToGrid="0">
      <p:cViewPr varScale="1">
        <p:scale>
          <a:sx n="63" d="100"/>
          <a:sy n="63" d="100"/>
        </p:scale>
        <p:origin x="11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76" Type="http://schemas.openxmlformats.org/officeDocument/2006/relationships/slide" Target="slides/slide72.xml"/><Relationship Id="rId84" Type="http://schemas.openxmlformats.org/officeDocument/2006/relationships/theme" Target="theme/theme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presProps" Target="presProps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9/08/2026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inplace</a:t>
            </a:r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pt-B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pt-BR" dirty="0"/>
              <a:t> significa: </a:t>
            </a:r>
            <a:r>
              <a:rPr lang="pt-BR" b="1" dirty="0"/>
              <a:t>faça a alteração diretamente no próprio </a:t>
            </a:r>
            <a:r>
              <a:rPr lang="pt-B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df</a:t>
            </a:r>
            <a:r>
              <a:rPr lang="pt-BR" dirty="0"/>
              <a:t>, sem criar (nem precisar atribuir)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“normais” (não é uma lei da natureza; 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OBS</a:t>
            </a:r>
            <a:r>
              <a:rPr lang="pt-BR" dirty="0"/>
              <a:t>.: Valores negativos são chamados de </a:t>
            </a:r>
            <a:r>
              <a:rPr lang="pt-BR" dirty="0" err="1"/>
              <a:t>anti-correlação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xmlns="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xmlns="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xmlns="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xmlns="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xmlns="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xmlns="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xmlns="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xmlns="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xmlns="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xmlns="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xmlns="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xmlns="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que atrapalham.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Retorna uma </a:t>
            </a:r>
            <a:r>
              <a:rPr lang="pt-BR" b="1" dirty="0"/>
              <a:t>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Seleciona todas </a:t>
            </a:r>
            <a:r>
              <a:rPr lang="pt-BR" dirty="0"/>
              <a:t>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 smtClean="0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 smtClean="0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</a:t>
            </a:r>
            <a:r>
              <a:rPr lang="pt-BR" dirty="0" smtClean="0">
                <a:latin typeface="Consolas" panose="020B0609020204030204" pitchFamily="49" charset="0"/>
              </a:rPr>
              <a:t>, </a:t>
            </a:r>
            <a:r>
              <a:rPr lang="pt-BR" dirty="0">
                <a:latin typeface="Consolas" panose="020B0609020204030204" pitchFamily="49" charset="0"/>
              </a:rPr>
              <a:t>e/ou "</a:t>
            </a:r>
            <a:r>
              <a:rPr lang="pt-BR" dirty="0" err="1" smtClean="0">
                <a:latin typeface="Consolas" panose="020B0609020204030204" pitchFamily="49" charset="0"/>
              </a:rPr>
              <a:t>string</a:t>
            </a:r>
            <a:r>
              <a:rPr lang="pt-BR">
                <a:latin typeface="Consolas" panose="020B0609020204030204" pitchFamily="49" charset="0"/>
              </a:rPr>
              <a:t>"</a:t>
            </a:r>
            <a:r>
              <a:rPr lang="pt-BR" smtClean="0">
                <a:latin typeface="Consolas" panose="020B0609020204030204" pitchFamily="49" charset="0"/>
              </a:rPr>
              <a:t>.</a:t>
            </a: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xmlns="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xmlns="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/>
              <a:t>Um </a:t>
            </a:r>
            <a:r>
              <a:rPr lang="pt-BR" i="1" noProof="0"/>
              <a:t>outlier</a:t>
            </a:r>
            <a:r>
              <a:rPr lang="pt-BR" noProof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xmlns="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6"/>
          </a:xfrm>
        </p:spPr>
        <p:txBody>
          <a:bodyPr>
            <a:normAutofit/>
          </a:bodyPr>
          <a:lstStyle/>
          <a:p>
            <a:r>
              <a:rPr lang="pt-BR" dirty="0"/>
              <a:t>Distorcem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Prejudicam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Esticam a escala e escondem padrões reais.</a:t>
            </a:r>
          </a:p>
          <a:p>
            <a:r>
              <a:rPr lang="pt-BR" dirty="0"/>
              <a:t>Impactam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Geram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xmlns="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causam?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1006" y="1825624"/>
            <a:ext cx="6237103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é um erro ou uma exceção que deve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98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pt-BR" dirty="0"/>
              <a:t>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o </a:t>
            </a:r>
            <a:r>
              <a:rPr lang="en-US" dirty="0" err="1"/>
              <a:t>tamanho</a:t>
            </a:r>
            <a:r>
              <a:rPr lang="en-US" dirty="0"/>
              <a:t> das </a:t>
            </a:r>
            <a:r>
              <a:rPr lang="en-US" dirty="0" err="1"/>
              <a:t>caixas</a:t>
            </a:r>
            <a:r>
              <a:rPr lang="en-US" dirty="0"/>
              <a:t> de </a:t>
            </a:r>
            <a:r>
              <a:rPr lang="en-US" dirty="0" err="1"/>
              <a:t>contagem</a:t>
            </a:r>
            <a:r>
              <a:rPr lang="en-US" dirty="0"/>
              <a:t> e é </a:t>
            </a:r>
            <a:r>
              <a:rPr lang="en-US" dirty="0" err="1"/>
              <a:t>opcional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dirty="0"/>
              <a:t>Histogramas ajudam, mas não são precisos sozinhos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Dependem do número de </a:t>
            </a:r>
            <a:r>
              <a:rPr lang="pt-BR" i="1" dirty="0" err="1"/>
              <a:t>bins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definem limites objetivos para identificação dos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pode “sumir” em um </a:t>
            </a:r>
            <a:r>
              <a:rPr lang="pt-BR" i="1" dirty="0"/>
              <a:t>bin</a:t>
            </a:r>
            <a:r>
              <a:rPr lang="pt-BR" dirty="0"/>
              <a:t> largo.</a:t>
            </a:r>
          </a:p>
          <a:p>
            <a:r>
              <a:rPr lang="pt-BR" dirty="0"/>
              <a:t>Eles são ótimos para uma visão geral, </a:t>
            </a:r>
            <a:r>
              <a:rPr lang="pt-BR" b="1" dirty="0">
                <a:solidFill>
                  <a:srgbClr val="7030A0"/>
                </a:solidFill>
              </a:rPr>
              <a:t>sugerem a presença</a:t>
            </a:r>
            <a:r>
              <a:rPr lang="pt-BR" dirty="0"/>
              <a:t>, mas </a:t>
            </a:r>
            <a:r>
              <a:rPr lang="pt-BR" b="1" dirty="0"/>
              <a:t>não devem ser </a:t>
            </a:r>
            <a:r>
              <a:rPr lang="pt-BR" b="1" dirty="0">
                <a:solidFill>
                  <a:schemeClr val="accent2"/>
                </a:solidFill>
              </a:rPr>
              <a:t>usados para a decisão final</a:t>
            </a:r>
            <a:r>
              <a:rPr lang="pt-BR" dirty="0"/>
              <a:t>.</a:t>
            </a:r>
          </a:p>
          <a:p>
            <a:r>
              <a:rPr lang="pt-BR" dirty="0"/>
              <a:t>O que fazer então?</a:t>
            </a:r>
          </a:p>
          <a:p>
            <a:endParaRPr lang="pt-BR" dirty="0"/>
          </a:p>
          <a:p>
            <a:endParaRPr lang="en-US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xmlns="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xmlns="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xmlns="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683828" y="1825624"/>
            <a:ext cx="5350329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central 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dados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valor central dos dados.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estão abaixo desse valor.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xmlns="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157843" y="2812368"/>
            <a:ext cx="6357257" cy="3211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não são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possíveis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sensibilidade: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moderados,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casos extremos.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4"/>
                <a:stretch>
                  <a:fillRect l="-1933" t="-2663" r="-26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  <a:p>
            <a:r>
              <a:rPr lang="en-US" dirty="0" err="1"/>
              <a:t>Usando</a:t>
            </a:r>
            <a:r>
              <a:rPr lang="en-US" dirty="0"/>
              <a:t> a </a:t>
            </a:r>
            <a:r>
              <a:rPr lang="en-US" dirty="0" err="1"/>
              <a:t>função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boxplot</a:t>
            </a:r>
            <a:r>
              <a:rPr lang="en-US" dirty="0"/>
              <a:t> da matplotlib</a:t>
            </a:r>
            <a:endParaRPr lang="pt-BR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plt.boxplot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('Boxplot do Year')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Robusto a </a:t>
                </a:r>
                <a:r>
                  <a:rPr lang="pt-BR" i="1" dirty="0"/>
                  <a:t>outliers</a:t>
                </a:r>
                <a:r>
                  <a:rPr lang="pt-BR" dirty="0"/>
                  <a:t>, pois usa </a:t>
                </a:r>
                <a:r>
                  <a:rPr lang="pt-BR" dirty="0" err="1"/>
                  <a:t>quantis</a:t>
                </a:r>
                <a:r>
                  <a:rPr lang="pt-BR" dirty="0"/>
                  <a:t>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mesmo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Fácil de interpretar visualmente (</a:t>
                </a:r>
                <a:r>
                  <a:rPr lang="pt-BR" i="1" dirty="0" err="1"/>
                  <a:t>boxplots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Treine o modelo com e sem os </a:t>
                </a:r>
                <a:r>
                  <a:rPr lang="pt-BR" i="1" dirty="0"/>
                  <a:t>outliers</a:t>
                </a:r>
                <a:r>
                  <a:rPr lang="pt-BR" dirty="0"/>
                  <a:t> identificados por 1.5 e veja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pode definir muitos pontos como </a:t>
                </a:r>
                <a:r>
                  <a:rPr lang="pt-BR" i="1" dirty="0"/>
                  <a:t>outliers</a:t>
                </a:r>
                <a:r>
                  <a:rPr lang="pt-BR" dirty="0"/>
                  <a:t>, nesses casos, usar valor 3 ou ajustar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Ineficaz para conjuntos de dados pequenos, pois eles não representam a distribuição com precisão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 b="-23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xmlns="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xmlns="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797168" cy="3835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escondidas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xmlns="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pra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Consumo ↓ conforme peso ↑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5308F25E-9273-70BA-8BC7-B1661FAB9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982"/>
          <a:stretch>
            <a:fillRect/>
          </a:stretch>
        </p:blipFill>
        <p:spPr>
          <a:xfrm>
            <a:off x="2229195" y="3175761"/>
            <a:ext cx="3237899" cy="36030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304A51A9-BCCC-5A49-03E1-C55920166E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82"/>
          <a:stretch>
            <a:fillRect/>
          </a:stretch>
        </p:blipFill>
        <p:spPr>
          <a:xfrm>
            <a:off x="5692513" y="3175761"/>
            <a:ext cx="3237899" cy="3603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Quais atributos realmente influenciam o </a:t>
            </a:r>
            <a:r>
              <a:rPr lang="pt-BR" i="1" dirty="0"/>
              <a:t>target</a:t>
            </a:r>
            <a:r>
              <a:rPr lang="pt-BR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atributos redundantes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</a:t>
            </a:r>
            <a:r>
              <a:rPr lang="pt-BR" dirty="0" err="1"/>
              <a:t>multicolinearidade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É quando </a:t>
            </a:r>
            <a:r>
              <a:rPr lang="pt-BR" b="1" dirty="0">
                <a:solidFill>
                  <a:srgbClr val="7030A0"/>
                </a:solidFill>
              </a:rPr>
              <a:t>dois ou mais </a:t>
            </a:r>
            <a:r>
              <a:rPr lang="pt-BR" b="1" dirty="0">
                <a:solidFill>
                  <a:schemeClr val="accent2"/>
                </a:solidFill>
              </a:rPr>
              <a:t>atributos</a:t>
            </a:r>
            <a:r>
              <a:rPr lang="pt-BR" b="1" dirty="0">
                <a:solidFill>
                  <a:srgbClr val="7030A0"/>
                </a:solidFill>
              </a:rPr>
              <a:t> estão altamente correlacionados</a:t>
            </a:r>
            <a:r>
              <a:rPr lang="pt-BR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modelos de ML adequados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xmlns="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Cada elemento da matriz é calculado usando-se o coeficiente de correlação de Pearson: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xmlns="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como uma "nuvem"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relação linear 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xmlns="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xmlns="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não depende da inclinação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Mesmo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noProof="0" dirty="0"/>
                  <a:t> sendo uma função não linear de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noProof="0" dirty="0"/>
                  <a:t> (e.g.,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noProof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),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3"/>
                <a:stretch>
                  <a:fillRect t="-1937" r="-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linearmente.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xmlns="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entre duas variáveis,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xmlns="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>
                <a:latin typeface="Consolas" panose="020B0609020204030204" pitchFamily="49" charset="0"/>
              </a:rPr>
              <a:t>()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xmlns="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xmlns="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xmlns="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10820</TotalTime>
  <Words>4998</Words>
  <Application>Microsoft Office PowerPoint</Application>
  <PresentationFormat>Widescreen</PresentationFormat>
  <Paragraphs>696</Paragraphs>
  <Slides>75</Slides>
  <Notes>41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75</vt:i4>
      </vt:variant>
    </vt:vector>
  </HeadingPairs>
  <TitlesOfParts>
    <vt:vector size="83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causam?</vt:lpstr>
      <vt:lpstr>O que eles causam?</vt:lpstr>
      <vt:lpstr>O que eles causam?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2153</cp:revision>
  <dcterms:created xsi:type="dcterms:W3CDTF">2020-01-20T13:50:05Z</dcterms:created>
  <dcterms:modified xsi:type="dcterms:W3CDTF">2026-08-10T00:46:20Z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