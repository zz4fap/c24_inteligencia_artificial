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5"/>
    <p:sldId id="315" r:id="rId6"/>
    <p:sldId id="307" r:id="rId7"/>
    <p:sldId id="318" r:id="rId8"/>
    <p:sldId id="317" r:id="rId9"/>
    <p:sldId id="326" r:id="rId10"/>
    <p:sldId id="327" r:id="rId11"/>
    <p:sldId id="328" r:id="rId12"/>
    <p:sldId id="320" r:id="rId13"/>
    <p:sldId id="321" r:id="rId14"/>
    <p:sldId id="330" r:id="rId15"/>
    <p:sldId id="323" r:id="rId16"/>
    <p:sldId id="322" r:id="rId17"/>
    <p:sldId id="331" r:id="rId18"/>
    <p:sldId id="333" r:id="rId19"/>
    <p:sldId id="336" r:id="rId20"/>
    <p:sldId id="335" r:id="rId21"/>
    <p:sldId id="332" r:id="rId22"/>
    <p:sldId id="337" r:id="rId23"/>
    <p:sldId id="338" r:id="rId24"/>
    <p:sldId id="339" r:id="rId25"/>
    <p:sldId id="340" r:id="rId26"/>
    <p:sldId id="342" r:id="rId27"/>
    <p:sldId id="348" r:id="rId28"/>
    <p:sldId id="349" r:id="rId29"/>
    <p:sldId id="343" r:id="rId30"/>
    <p:sldId id="344" r:id="rId31"/>
    <p:sldId id="350" r:id="rId32"/>
    <p:sldId id="345" r:id="rId33"/>
    <p:sldId id="353" r:id="rId34"/>
    <p:sldId id="354" r:id="rId35"/>
    <p:sldId id="351" r:id="rId36"/>
    <p:sldId id="346" r:id="rId37"/>
    <p:sldId id="357" r:id="rId38"/>
    <p:sldId id="356" r:id="rId39"/>
    <p:sldId id="359" r:id="rId40"/>
    <p:sldId id="360" r:id="rId41"/>
    <p:sldId id="361" r:id="rId42"/>
    <p:sldId id="347" r:id="rId43"/>
    <p:sldId id="362" r:id="rId44"/>
    <p:sldId id="366" r:id="rId45"/>
    <p:sldId id="363" r:id="rId46"/>
    <p:sldId id="365" r:id="rId47"/>
    <p:sldId id="329" r:id="rId48"/>
    <p:sldId id="367" r:id="rId49"/>
    <p:sldId id="368" r:id="rId50"/>
    <p:sldId id="370" r:id="rId51"/>
    <p:sldId id="369" r:id="rId52"/>
    <p:sldId id="364" r:id="rId53"/>
    <p:sldId id="371" r:id="rId54"/>
    <p:sldId id="372" r:id="rId55"/>
    <p:sldId id="334" r:id="rId56"/>
    <p:sldId id="373" r:id="rId57"/>
    <p:sldId id="308" r:id="rId58"/>
    <p:sldId id="293" r:id="rId59"/>
    <p:sldId id="306" r:id="rId6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16/02/2026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Curadoria é a função de </a:t>
            </a:r>
            <a:r>
              <a:rPr lang="pt-BR" b="1" dirty="0">
                <a:effectLst/>
              </a:rPr>
              <a:t>cuidar, selecionar, organizar e apresentar</a:t>
            </a:r>
            <a:r>
              <a:rPr lang="pt-BR" dirty="0"/>
              <a:t> um conjunto de obras, informações ou projetos, criando uma narrativa ou contexto significativo para o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Taxonomia: </a:t>
            </a:r>
            <a:r>
              <a:rPr lang="pt-B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ciência ou técnica de classificação.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Média</a:t>
            </a:r>
            <a:r>
              <a:rPr lang="pt-BR" dirty="0"/>
              <a:t>: bem sensível a outliers ✅ (puxa para o extremo)</a:t>
            </a:r>
          </a:p>
          <a:p>
            <a:r>
              <a:rPr lang="pt-BR" b="1" dirty="0"/>
              <a:t>Mediana</a:t>
            </a:r>
            <a:r>
              <a:rPr lang="pt-BR" dirty="0"/>
              <a:t>: pouco sensível ✅ (robusta)</a:t>
            </a:r>
          </a:p>
          <a:p>
            <a:r>
              <a:rPr lang="pt-BR" b="1" dirty="0"/>
              <a:t>Moda</a:t>
            </a:r>
            <a:r>
              <a:rPr lang="pt-BR" dirty="0"/>
              <a:t>: geralmente insensível ✅ (depende de frequência)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19248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61081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59703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50262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8381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Boxplot</a:t>
            </a:r>
            <a:r>
              <a:rPr lang="pt-BR" dirty="0"/>
              <a:t> (IQR) -&gt; usado quando as dados tem distribuições assimétricas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73498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40099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jpe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jpeg"/><Relationship Id="rId4" Type="http://schemas.openxmlformats.org/officeDocument/2006/relationships/image" Target="../media/image43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596" y="993321"/>
            <a:ext cx="7469414" cy="4871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298180" y="2397947"/>
            <a:ext cx="35454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antes da construção e treinamento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primeiro passo 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erros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padrões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discrepantes, faltantes, duplicados ou eventos anômalos,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relações entre as variáveis 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variáveis realmente importam.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curadoria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dado de entrada é ruim, a previsão será pior 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70" y="2242459"/>
            <a:ext cx="5655677" cy="3145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ferramentas estatísticas e de visualização 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profiling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dirty="0"/>
              <a:t>Antes de explorarmos os dados, precisamos entender a sua taxonomia.</a:t>
            </a:r>
          </a:p>
          <a:p>
            <a:r>
              <a:rPr lang="pt-BR" dirty="0"/>
              <a:t>As variáveis (i.e., atributos ou rótulos)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662697" y="3429000"/>
            <a:ext cx="4866605" cy="2825174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Tipo dos dados: variáveis qualitativas (categóricas)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615543" y="1825624"/>
            <a:ext cx="737141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São categorias, símbolos, nomes ou rótulos.</a:t>
            </a:r>
          </a:p>
          <a:p>
            <a:pPr marL="0" indent="0">
              <a:buNone/>
            </a:pPr>
            <a:r>
              <a:rPr lang="pt-BR" dirty="0"/>
              <a:t>Elas descrevem uma qualidade.</a:t>
            </a:r>
          </a:p>
          <a:p>
            <a:pPr marL="0" indent="0">
              <a:buNone/>
            </a:pPr>
            <a:r>
              <a:rPr lang="pt-BR" dirty="0"/>
              <a:t>Algumas podem ser ordenadas, mas operações aritméticas não são aplicáveis.</a:t>
            </a:r>
          </a:p>
          <a:p>
            <a:r>
              <a:rPr lang="pt-BR" b="1" dirty="0"/>
              <a:t>Nominal</a:t>
            </a:r>
            <a:r>
              <a:rPr lang="pt-BR" dirty="0"/>
              <a:t>: Não existe uma ordem inerente.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Sistemas Operacionais (Linux, Windows, </a:t>
            </a:r>
            <a:r>
              <a:rPr lang="pt-BR" dirty="0" err="1"/>
              <a:t>macOS</a:t>
            </a:r>
            <a:r>
              <a:rPr lang="pt-BR" dirty="0"/>
              <a:t>), Cores de LED, Tipos de Banco de Dados.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Nível de Senioridade (Junior, Pleno, Sênior), Planos de Assinatura (Free, Premium, Enterprise).</a:t>
            </a:r>
          </a:p>
        </p:txBody>
      </p:sp>
      <p:pic>
        <p:nvPicPr>
          <p:cNvPr id="11" name="Picture 2" descr="Data Types in Data Science | Towards Data Science">
            <a:extLst>
              <a:ext uri="{FF2B5EF4-FFF2-40B4-BE49-F238E27FC236}">
                <a16:creationId xmlns:a16="http://schemas.microsoft.com/office/drawing/2014/main" id="{39E1B175-32CE-F079-D61C-8CB4F74396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3"/>
          <a:stretch>
            <a:fillRect/>
          </a:stretch>
        </p:blipFill>
        <p:spPr bwMode="auto">
          <a:xfrm>
            <a:off x="368143" y="2449286"/>
            <a:ext cx="4044443" cy="309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Tipo dos dados: variáveis quantitativas (numéricas)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28457" y="1825624"/>
            <a:ext cx="7458497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ordenados e usados em operações aritméticas (e.g., média, variância). </a:t>
            </a:r>
          </a:p>
          <a:p>
            <a:pPr marL="0" indent="0">
              <a:buNone/>
            </a:pPr>
            <a:r>
              <a:rPr lang="pt-BR" dirty="0"/>
              <a:t>Possuem unidade de medida.</a:t>
            </a:r>
          </a:p>
          <a:p>
            <a:r>
              <a:rPr lang="pt-BR" b="1" dirty="0"/>
              <a:t>Discreta:</a:t>
            </a:r>
            <a:r>
              <a:rPr lang="pt-BR" dirty="0"/>
              <a:t> Valores contáveis, geralmente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núcleos da CPU, número de bugs abertos no </a:t>
            </a:r>
            <a:r>
              <a:rPr lang="pt-BR" dirty="0" err="1"/>
              <a:t>Jira</a:t>
            </a:r>
            <a:r>
              <a:rPr lang="pt-BR" dirty="0"/>
              <a:t>, total de usuários ativos.</a:t>
            </a:r>
          </a:p>
          <a:p>
            <a:r>
              <a:rPr lang="pt-BR" b="1" dirty="0"/>
              <a:t>Contínua:</a:t>
            </a:r>
            <a:r>
              <a:rPr lang="pt-BR" dirty="0"/>
              <a:t> Valores que podem assumir qualquer número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Tempo de resposta de uma API, latência de rede, tamanho de um arquivo em MB, temperatura do processador.</a:t>
            </a:r>
          </a:p>
        </p:txBody>
      </p:sp>
      <p:pic>
        <p:nvPicPr>
          <p:cNvPr id="11" name="Picture 2" descr="Data Types in Data Science | Towards Data Science">
            <a:extLst>
              <a:ext uri="{FF2B5EF4-FFF2-40B4-BE49-F238E27FC236}">
                <a16:creationId xmlns:a16="http://schemas.microsoft.com/office/drawing/2014/main" id="{CEBF5479-3F8E-21EE-0D34-F0A03BFB71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3"/>
          <a:stretch>
            <a:fillRect/>
          </a:stretch>
        </p:blipFill>
        <p:spPr bwMode="auto">
          <a:xfrm>
            <a:off x="368143" y="2449286"/>
            <a:ext cx="4044443" cy="309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Para tal, após carregarmos os dados, usamos atributos e métodos da biblioteca </a:t>
            </a:r>
            <a:r>
              <a:rPr lang="pt-BR" b="1" dirty="0"/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ideia é manter colunas que ajudem o objetivo do problema e remover 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‘Column 2', ‘Column N'], axis=1)</a:t>
            </a:r>
            <a:endParaRPr lang="pt-BR" dirty="0"/>
          </a:p>
          <a:p>
            <a:r>
              <a:rPr lang="pt-BR" dirty="0"/>
              <a:t>Alguns motivos para eliminar colunas: </a:t>
            </a:r>
            <a:r>
              <a:rPr lang="pt-BR" dirty="0" err="1"/>
              <a:t>IDs</a:t>
            </a:r>
            <a:r>
              <a:rPr lang="pt-BR" dirty="0"/>
              <a:t>, </a:t>
            </a:r>
            <a:r>
              <a:rPr lang="pt-BR" i="1" dirty="0" err="1"/>
              <a:t>timestamps</a:t>
            </a:r>
            <a:r>
              <a:rPr lang="pt-BR" dirty="0"/>
              <a:t>, coluna com valores constantes, coluna com muitos valores faltantes, 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400" dirty="0" err="1">
                <a:latin typeface="Consolas" panose="020B0609020204030204" pitchFamily="49" charset="0"/>
              </a:rPr>
              <a:t>df.dropna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400" dirty="0" err="1">
                <a:latin typeface="Consolas" panose="020B0609020204030204" pitchFamily="49" charset="0"/>
              </a:rPr>
              <a:t>df.dropna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inplace</a:t>
            </a:r>
            <a:r>
              <a:rPr lang="en-US" sz="2400" dirty="0">
                <a:latin typeface="Consolas" panose="020B0609020204030204" pitchFamily="49" charset="0"/>
              </a:rPr>
              <a:t>=True)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en-US" sz="2800" dirty="0"/>
              <a:t>OBS.: altera o 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800" dirty="0"/>
              <a:t>original.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5660" y="1825624"/>
            <a:ext cx="8301170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Usada com variáveis numéricas.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Ela divide os dados em 50% acima e 50% abaixo. </a:t>
            </a:r>
          </a:p>
          <a:p>
            <a:pPr lvl="3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3">
              <a:buFont typeface="Courier New" panose="02070309020205020404" pitchFamily="49" charset="0"/>
              <a:buChar char="o"/>
            </a:pPr>
            <a:r>
              <a:rPr lang="pt-BR" dirty="0"/>
              <a:t>Usada com variáveis numéricas.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3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3">
              <a:buFont typeface="Courier New" panose="02070309020205020404" pitchFamily="49" charset="0"/>
              <a:buChar char="o"/>
            </a:pPr>
            <a:r>
              <a:rPr lang="pt-BR" dirty="0"/>
              <a:t>Usada com variáveis numéricas e categóricas.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Técnica usada quando o número de linhas a serem removidas é muito grande em relação ao tamanho do dataset.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887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30" cy="5032375"/>
          </a:xfrm>
        </p:spPr>
        <p:txBody>
          <a:bodyPr>
            <a:normAutofit/>
          </a:bodyPr>
          <a:lstStyle/>
          <a:p>
            <a:r>
              <a:rPr lang="pt-BR" dirty="0"/>
              <a:t>Preencher (imputar) com a média: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apenas as colunas numéricas 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lista com os nomes das colunas numéricas.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própria média.</a:t>
            </a: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95B94-B63F-40EA-03FD-CE7A7A152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C7B15-3389-0E79-3255-0EC50B7FC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2668F-203C-D698-8BB8-679B61E24B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30" cy="5032375"/>
          </a:xfrm>
        </p:spPr>
        <p:txBody>
          <a:bodyPr>
            <a:normAutofit/>
          </a:bodyPr>
          <a:lstStyle/>
          <a:p>
            <a:r>
              <a:rPr lang="pt-BR" dirty="0"/>
              <a:t>Preencher (imputar) com a mediana: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apenas as colunas numéricas 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lista com os nomes das colunas numéricas.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própria mediana.</a:t>
            </a: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2500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dirty="0"/>
              <a:t>Preencher (imputar)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apenas as colunas numéricas 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lista com os nomes das colunas numéricas.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própria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OBS.1: A moda pode ter mais de um valor.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OBS.2: Note que a moda pode ser usada para preencher valores faltantes de variáveis numéricas ou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85312-6769-EEE2-F347-EB35B496F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usa estimativas dos valores faltantes obtidas através do padrão dos dados, não um valor fixo.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valor faltante é estimado a partir de outras colunas e linhas.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Pode-se usar as classes da biblioteca </a:t>
            </a:r>
            <a:r>
              <a:rPr lang="pt-BR" dirty="0" err="1"/>
              <a:t>SciKit-Learn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400" dirty="0" err="1">
                <a:latin typeface="Consolas" panose="020B0609020204030204" pitchFamily="49" charset="0"/>
              </a:rPr>
              <a:t>KNNImputer</a:t>
            </a:r>
            <a:r>
              <a:rPr lang="en-US" dirty="0"/>
              <a:t>: </a:t>
            </a:r>
            <a:r>
              <a:rPr lang="en-US" dirty="0" err="1"/>
              <a:t>usa</a:t>
            </a:r>
            <a:r>
              <a:rPr lang="en-US" dirty="0"/>
              <a:t> a media das K </a:t>
            </a:r>
            <a:r>
              <a:rPr lang="en-US" dirty="0" err="1"/>
              <a:t>amostras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“</a:t>
            </a:r>
            <a:r>
              <a:rPr lang="en-US" dirty="0" err="1"/>
              <a:t>próximas</a:t>
            </a:r>
            <a:r>
              <a:rPr lang="en-US" dirty="0"/>
              <a:t>” para </a:t>
            </a:r>
            <a:r>
              <a:rPr lang="en-US" dirty="0" err="1"/>
              <a:t>predizer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400" dirty="0" err="1">
                <a:latin typeface="Consolas" panose="020B0609020204030204" pitchFamily="49" charset="0"/>
              </a:rPr>
              <a:t>IterativeImputer</a:t>
            </a:r>
            <a:r>
              <a:rPr lang="en-US" dirty="0"/>
              <a:t>: </a:t>
            </a:r>
            <a:r>
              <a:rPr lang="en-US" dirty="0" err="1"/>
              <a:t>treina</a:t>
            </a:r>
            <a:r>
              <a:rPr lang="en-US" dirty="0"/>
              <a:t> um </a:t>
            </a:r>
            <a:r>
              <a:rPr lang="en-US" dirty="0" err="1"/>
              <a:t>modelo</a:t>
            </a:r>
            <a:r>
              <a:rPr lang="en-US" dirty="0"/>
              <a:t> de </a:t>
            </a:r>
            <a:r>
              <a:rPr lang="en-US" dirty="0" err="1"/>
              <a:t>regressão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atributo</a:t>
            </a:r>
            <a:r>
              <a:rPr lang="en-US" dirty="0"/>
              <a:t> (i.e., </a:t>
            </a:r>
            <a:r>
              <a:rPr lang="en-US" dirty="0" err="1"/>
              <a:t>coluna</a:t>
            </a:r>
            <a:r>
              <a:rPr lang="en-US" dirty="0"/>
              <a:t>) para </a:t>
            </a:r>
            <a:r>
              <a:rPr lang="en-US" dirty="0" err="1"/>
              <a:t>predizer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Funcionam apenas para dados numéricos.</a:t>
            </a:r>
          </a:p>
        </p:txBody>
      </p:sp>
    </p:spTree>
    <p:extLst>
      <p:ext uri="{BB962C8B-B14F-4D97-AF65-F5344CB8AC3E}">
        <p14:creationId xmlns:p14="http://schemas.microsoft.com/office/powerpoint/2010/main" val="7635814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393111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22287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312D07F9-60DA-54BC-529A-70782620E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627" y="1695404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7778480" y="1695404"/>
            <a:ext cx="3825691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33457" cy="5032375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é uma observação que foge muito do padrão dos dados, ou seja, um valor extremamente diferente da maioria.</a:t>
            </a:r>
          </a:p>
          <a:p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erro de medição ou registro (e.g.,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processamento dos dados (e.g., </a:t>
            </a:r>
            <a:r>
              <a:rPr lang="en-US" dirty="0" err="1"/>
              <a:t>conversão</a:t>
            </a:r>
            <a:r>
              <a:rPr lang="en-US" dirty="0"/>
              <a:t> </a:t>
            </a:r>
            <a:r>
              <a:rPr lang="en-US" dirty="0" err="1"/>
              <a:t>errada</a:t>
            </a:r>
            <a:r>
              <a:rPr lang="en-US" dirty="0"/>
              <a:t> de </a:t>
            </a:r>
            <a:r>
              <a:rPr lang="en-US" dirty="0" err="1"/>
              <a:t>unidade</a:t>
            </a:r>
            <a:r>
              <a:rPr lang="en-US" dirty="0"/>
              <a:t>)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valor raro, mas válido (e.g., uma fraude),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cauda longa (distribuição assimétrica),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um valor de um grupo/classe diferente.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modelos enviesados e de pior desempenho.</a:t>
            </a:r>
          </a:p>
          <a:p>
            <a:r>
              <a:rPr lang="pt-BR" dirty="0"/>
              <a:t>Porém, podem revelar informação importante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Outliers podem revelar evento raro relevante como fraude, falha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1" y="1825624"/>
            <a:ext cx="6694714" cy="5032375"/>
          </a:xfrm>
        </p:spPr>
        <p:txBody>
          <a:bodyPr>
            <a:normAutofit/>
          </a:bodyPr>
          <a:lstStyle/>
          <a:p>
            <a:r>
              <a:rPr lang="pt-BR" dirty="0"/>
              <a:t>O post diz que a média salarial de quem largou Harvard é maior que a de quem se formou. </a:t>
            </a:r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(não um erro) tão grande que destrói a representatividade da média.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57" y="1825624"/>
            <a:ext cx="5802086" cy="5032375"/>
          </a:xfrm>
        </p:spPr>
        <p:txBody>
          <a:bodyPr/>
          <a:lstStyle/>
          <a:p>
            <a:r>
              <a:rPr lang="pt-BR" i="1" dirty="0"/>
              <a:t>Outliers</a:t>
            </a:r>
            <a:r>
              <a:rPr lang="pt-BR" dirty="0"/>
              <a:t> são exceções. </a:t>
            </a:r>
          </a:p>
          <a:p>
            <a:r>
              <a:rPr lang="pt-BR" dirty="0"/>
              <a:t>Porém, exceções não são necessariamente erros.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investigar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71" y="1825624"/>
            <a:ext cx="5236028" cy="28560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E8608-6DDB-C7E5-172A-525CFF731ABD}"/>
              </a:ext>
            </a:extLst>
          </p:cNvPr>
          <p:cNvSpPr txBox="1"/>
          <p:nvPr/>
        </p:nvSpPr>
        <p:spPr>
          <a:xfrm>
            <a:off x="465363" y="4816576"/>
            <a:ext cx="54156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estivéssemos medindo a temperatura de um servidor e um sensor marcasse 500°C por um segundo, isso é um erro ou uma exceção que deve ser investigada?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boxplot</a:t>
            </a:r>
            <a:endParaRPr lang="pt-BR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IQR (intervalo interquartil)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Com pandas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[‘Price'].hist(bins=30)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OBS.: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r>
              <a:rPr lang="en-US" dirty="0"/>
              <a:t>Com Matplotlib (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controle</a:t>
            </a:r>
            <a:r>
              <a:rPr lang="en-US" dirty="0"/>
              <a:t>)</a:t>
            </a:r>
            <a:endParaRPr lang="pt-BR" dirty="0"/>
          </a:p>
          <a:p>
            <a:pPr marL="457200" lvl="1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plt.hist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['</a:t>
            </a:r>
            <a:r>
              <a:rPr lang="pt-BR" dirty="0" err="1">
                <a:latin typeface="Consolas" panose="020B0609020204030204" pitchFamily="49" charset="0"/>
              </a:rPr>
              <a:t>Price</a:t>
            </a:r>
            <a:r>
              <a:rPr lang="pt-BR" dirty="0">
                <a:latin typeface="Consolas" panose="020B0609020204030204" pitchFamily="49" charset="0"/>
              </a:rPr>
              <a:t>'], </a:t>
            </a:r>
            <a:r>
              <a:rPr lang="pt-BR" dirty="0" err="1">
                <a:latin typeface="Consolas" panose="020B0609020204030204" pitchFamily="49" charset="0"/>
              </a:rPr>
              <a:t>bins</a:t>
            </a:r>
            <a:r>
              <a:rPr lang="pt-BR" dirty="0">
                <a:latin typeface="Consolas" panose="020B0609020204030204" pitchFamily="49" charset="0"/>
              </a:rPr>
              <a:t>=30, </a:t>
            </a:r>
            <a:r>
              <a:rPr lang="pt-BR" dirty="0" err="1">
                <a:latin typeface="Consolas" panose="020B0609020204030204" pitchFamily="49" charset="0"/>
              </a:rPr>
              <a:t>density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plt.xlabel</a:t>
            </a:r>
            <a:r>
              <a:rPr lang="pt-BR" dirty="0">
                <a:latin typeface="Consolas" panose="020B0609020204030204" pitchFamily="49" charset="0"/>
              </a:rPr>
              <a:t>(‘Preço')</a:t>
            </a:r>
          </a:p>
          <a:p>
            <a:pPr marL="457200" lvl="1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plt.ylabel</a:t>
            </a:r>
            <a:r>
              <a:rPr lang="pt-BR" dirty="0">
                <a:latin typeface="Consolas" panose="020B0609020204030204" pitchFamily="49" charset="0"/>
              </a:rPr>
              <a:t>('Frequência')</a:t>
            </a:r>
          </a:p>
          <a:p>
            <a:pPr marL="457200" lvl="1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plt.title</a:t>
            </a:r>
            <a:r>
              <a:rPr lang="pt-BR" dirty="0">
                <a:latin typeface="Consolas" panose="020B0609020204030204" pitchFamily="49" charset="0"/>
              </a:rPr>
              <a:t>('Histograma do Preço')</a:t>
            </a:r>
          </a:p>
          <a:p>
            <a:pPr marL="457200" lvl="1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plt.show</a:t>
            </a:r>
            <a:r>
              <a:rPr lang="pt-BR" dirty="0">
                <a:latin typeface="Consolas" panose="020B0609020204030204" pitchFamily="49" charset="0"/>
              </a:rPr>
              <a:t>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parâmetros </a:t>
            </a:r>
            <a:r>
              <a:rPr lang="pt-BR" dirty="0" err="1">
                <a:latin typeface="Consolas" panose="020B0609020204030204" pitchFamily="49" charset="0"/>
              </a:rPr>
              <a:t>density</a:t>
            </a:r>
            <a:r>
              <a:rPr lang="pt-BR" dirty="0"/>
              <a:t> e </a:t>
            </a:r>
            <a:r>
              <a:rPr lang="pt-BR" dirty="0" err="1">
                <a:latin typeface="Consolas" panose="020B0609020204030204" pitchFamily="49" charset="0"/>
              </a:rPr>
              <a:t>cumulative</a:t>
            </a:r>
            <a:r>
              <a:rPr lang="pt-BR" dirty="0"/>
              <a:t> estimam a PDF e a CDF (padrão, </a:t>
            </a:r>
            <a:r>
              <a:rPr lang="pt-BR" dirty="0">
                <a:latin typeface="Consolas" panose="020B0609020204030204" pitchFamily="49" charset="0"/>
              </a:rPr>
              <a:t>False</a:t>
            </a:r>
            <a:r>
              <a:rPr lang="pt-BR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outlier pode “sumir” em um bin largo.</a:t>
            </a:r>
          </a:p>
          <a:p>
            <a:r>
              <a:rPr lang="pt-BR" dirty="0"/>
              <a:t>Eles são ótimos para uma visão geral, sugerem a presença, mas não devem ser usados para a decisão final.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 err="1"/>
              <a:t>Boxplot</a:t>
            </a:r>
            <a:endParaRPr lang="pt-BR" b="1" dirty="0"/>
          </a:p>
          <a:p>
            <a:pPr marL="0" indent="0">
              <a:buNone/>
            </a:pPr>
            <a:r>
              <a:rPr lang="pt-BR" dirty="0"/>
              <a:t>Como interpretar o gráfico?</a:t>
            </a:r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69414E-7690-29B3-0E99-2CBD72DB7F02}"/>
              </a:ext>
            </a:extLst>
          </p:cNvPr>
          <p:cNvSpPr txBox="1"/>
          <p:nvPr/>
        </p:nvSpPr>
        <p:spPr>
          <a:xfrm>
            <a:off x="6716684" y="1825624"/>
            <a:ext cx="530352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Borda inferior da caixa</a:t>
            </a:r>
            <a:r>
              <a:rPr lang="pt-BR" sz="2800" dirty="0"/>
              <a:t> → primeiro quartil (Q1): 25% dos dados estão abaixo desse valor.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Linha dentro da caixa </a:t>
            </a:r>
            <a:r>
              <a:rPr lang="pt-BR" sz="2800" dirty="0"/>
              <a:t>→ mediana (Q2): valor central dos dados. Metade dos valores está acima e metade abaixo.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Borda superior da caixa</a:t>
            </a:r>
            <a:r>
              <a:rPr lang="pt-BR" sz="2800" dirty="0"/>
              <a:t> → terceiro quartil (Q3): 75% dos dados estão abaixo desse valor.</a:t>
            </a:r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 err="1"/>
              <a:t>Boxplot</a:t>
            </a:r>
            <a:endParaRPr lang="pt-BR" b="1" dirty="0"/>
          </a:p>
          <a:p>
            <a:pPr marL="0" indent="0">
              <a:buNone/>
            </a:pPr>
            <a:r>
              <a:rPr lang="pt-BR" dirty="0"/>
              <a:t>Como interpretar o gráfico?</a:t>
            </a:r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69414E-7690-29B3-0E99-2CBD72DB7F02}"/>
              </a:ext>
            </a:extLst>
          </p:cNvPr>
          <p:cNvSpPr txBox="1"/>
          <p:nvPr/>
        </p:nvSpPr>
        <p:spPr>
          <a:xfrm>
            <a:off x="6650182" y="1825624"/>
            <a:ext cx="537002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Caixa </a:t>
            </a:r>
            <a:r>
              <a:rPr lang="pt-BR" sz="2800" dirty="0"/>
              <a:t>→ intervalo interquartil (IQR = Q3-Q1): mostra a variabilidade dos dados em torno da mediana.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pt-BR" sz="2800" dirty="0"/>
              <a:t>Se a mediana estiver deslocada dentro da caixa, indica </a:t>
            </a:r>
            <a:r>
              <a:rPr lang="pt-BR" sz="2800" b="1" dirty="0"/>
              <a:t>assimetria</a:t>
            </a:r>
            <a:r>
              <a:rPr lang="pt-BR" sz="2800" dirty="0"/>
              <a:t> na distribuição.</a:t>
            </a:r>
            <a:endParaRPr lang="pt-BR" sz="2800" b="1" dirty="0"/>
          </a:p>
        </p:txBody>
      </p:sp>
    </p:spTree>
    <p:extLst>
      <p:ext uri="{BB962C8B-B14F-4D97-AF65-F5344CB8AC3E}">
        <p14:creationId xmlns:p14="http://schemas.microsoft.com/office/powerpoint/2010/main" val="22973352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 err="1"/>
              <a:t>Boxplot</a:t>
            </a:r>
            <a:endParaRPr lang="pt-BR" b="1" dirty="0"/>
          </a:p>
          <a:p>
            <a:pPr marL="0" indent="0">
              <a:buNone/>
            </a:pPr>
            <a:r>
              <a:rPr lang="pt-BR" dirty="0"/>
              <a:t>Como interpretar o gráfico?</a:t>
            </a:r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69414E-7690-29B3-0E99-2CBD72DB7F02}"/>
              </a:ext>
            </a:extLst>
          </p:cNvPr>
          <p:cNvSpPr txBox="1"/>
          <p:nvPr/>
        </p:nvSpPr>
        <p:spPr>
          <a:xfrm>
            <a:off x="6650182" y="1825624"/>
            <a:ext cx="537002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Linhas que saem da caixa</a:t>
            </a:r>
            <a:r>
              <a:rPr lang="pt-BR" sz="2800" dirty="0"/>
              <a:t> → bigodes (</a:t>
            </a:r>
            <a:r>
              <a:rPr lang="pt-BR" sz="2800" i="1" dirty="0" err="1"/>
              <a:t>whiskers</a:t>
            </a:r>
            <a:r>
              <a:rPr lang="pt-BR" sz="2800" dirty="0"/>
              <a:t>): vão até o menor e maior valores que não são </a:t>
            </a:r>
            <a:r>
              <a:rPr lang="pt-BR" sz="2800" i="1" dirty="0" err="1"/>
              <a:t>outliers</a:t>
            </a:r>
            <a:r>
              <a:rPr lang="pt-BR" sz="2800" dirty="0"/>
              <a:t>.</a:t>
            </a:r>
          </a:p>
          <a:p>
            <a:pPr marL="914400" lvl="1" indent="-457200">
              <a:buFont typeface="Wingdings" panose="05000000000000000000" pitchFamily="2" charset="2"/>
              <a:buChar char="§"/>
            </a:pPr>
            <a:r>
              <a:rPr lang="pt-BR" sz="2400" dirty="0"/>
              <a:t>Os limites são geralmente definidos por:</a:t>
            </a:r>
          </a:p>
          <a:p>
            <a:pPr marL="1371600" lvl="2" indent="-457200">
              <a:buFont typeface="Courier New" panose="02070309020205020404" pitchFamily="49" charset="0"/>
              <a:buChar char="o"/>
            </a:pPr>
            <a:r>
              <a:rPr lang="pt-BR" sz="2400" dirty="0"/>
              <a:t>Q1 − 1.5×IQR</a:t>
            </a:r>
          </a:p>
          <a:p>
            <a:pPr marL="1371600" lvl="2" indent="-457200">
              <a:buFont typeface="Courier New" panose="02070309020205020404" pitchFamily="49" charset="0"/>
              <a:buChar char="o"/>
            </a:pPr>
            <a:r>
              <a:rPr lang="pt-BR" sz="2400" dirty="0"/>
              <a:t>Q3 + 1.5×IQR</a:t>
            </a: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Pontos fora dos bigodes </a:t>
            </a:r>
            <a:r>
              <a:rPr lang="pt-BR" sz="2800" dirty="0"/>
              <a:t>→ possíveis </a:t>
            </a:r>
            <a:r>
              <a:rPr lang="pt-BR" sz="2800" i="1" dirty="0" err="1"/>
              <a:t>outliers</a:t>
            </a:r>
            <a:r>
              <a:rPr lang="pt-BR" sz="2800" dirty="0"/>
              <a:t>: são os valores abaixo e acima dos intervalos anteriores.</a:t>
            </a:r>
          </a:p>
        </p:txBody>
      </p:sp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 err="1"/>
              <a:t>Boxplot</a:t>
            </a:r>
            <a:endParaRPr lang="pt-BR" b="1" dirty="0"/>
          </a:p>
          <a:p>
            <a:r>
              <a:rPr lang="pt-BR" dirty="0"/>
              <a:t>Com pandas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['Year'].</a:t>
            </a:r>
            <a:r>
              <a:rPr lang="en-US" dirty="0" err="1">
                <a:latin typeface="Consolas" panose="020B0609020204030204" pitchFamily="49" charset="0"/>
              </a:rPr>
              <a:t>plot.box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/>
              <a:t>Com Matplotlib (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controle</a:t>
            </a:r>
            <a:r>
              <a:rPr lang="en-US" dirty="0"/>
              <a:t>)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3317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10575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2887380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C405BC-BEC5-E7AB-3253-7C4A1055E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23171" cy="5032375"/>
          </a:xfrm>
        </p:spPr>
        <p:txBody>
          <a:bodyPr>
            <a:normAutofit/>
          </a:bodyPr>
          <a:lstStyle/>
          <a:p>
            <a:r>
              <a:rPr lang="pt-BR" dirty="0"/>
              <a:t>Vantagens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Robusto a valores extremos, pois usa </a:t>
            </a:r>
            <a:r>
              <a:rPr lang="pt-BR" dirty="0" err="1"/>
              <a:t>quantis</a:t>
            </a:r>
            <a:r>
              <a:rPr lang="pt-BR" dirty="0"/>
              <a:t> e não 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mesmo com distribuições assimétricas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Fácil de interpretar visualmente (</a:t>
            </a:r>
            <a:r>
              <a:rPr lang="pt-BR" i="1" dirty="0" err="1"/>
              <a:t>boxplots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assume nenhuma distribuição específica dos dados, i.e., independente da forma da distribuição</a:t>
            </a:r>
          </a:p>
          <a:p>
            <a:r>
              <a:rPr lang="pt-BR" dirty="0"/>
              <a:t>Desvantagens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falhar em distribuições multimodais (vários picos)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fator 1.5 é empírico e pode não ser ideal em todos os contextos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Em conjuntos de dados grandes, pode definir muitos pontos como outliers ou não mostrar o verdadeiro intervalo dos dados em conjuntos menores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Ineficaz para conjuntos de dados pequenos, pois não representam a distribuição com precisão</a:t>
            </a:r>
          </a:p>
        </p:txBody>
      </p:sp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75118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métodos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z-score, existem técnicas mais avançadas para detectar outliers, especialmente em dados complexos, multidimensionais ou não gaussianos.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dirty="0" err="1"/>
              <a:t>Violin</a:t>
            </a:r>
            <a:r>
              <a:rPr lang="pt-BR" dirty="0"/>
              <a:t> </a:t>
            </a:r>
            <a:r>
              <a:rPr lang="pt-BR" dirty="0" err="1"/>
              <a:t>plot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densidade, destacando assimetrias.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7599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a distância interquartil (IQR)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    ~((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 &lt; (Q1 - 1.5 * IQR)) |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     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 &gt; (Q3 + 1.5 * IQR))).any(axis=1)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200" b="1" dirty="0"/>
              <a:t>OBS</a:t>
            </a:r>
            <a:r>
              <a:rPr lang="en-US" sz="2200" dirty="0"/>
              <a:t>.: </a:t>
            </a:r>
            <a:r>
              <a:rPr lang="en-US" sz="2000" dirty="0">
                <a:latin typeface="Consolas" panose="020B0609020204030204" pitchFamily="49" charset="0"/>
              </a:rPr>
              <a:t>’any(axis=1)’ 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se qualquer coluna daquela linha for </a:t>
            </a:r>
            <a:r>
              <a:rPr lang="pt-BR" sz="2000" i="1" dirty="0"/>
              <a:t>outlier</a:t>
            </a:r>
            <a:r>
              <a:rPr lang="pt-BR" sz="2000" dirty="0"/>
              <a:t> (i.e., </a:t>
            </a:r>
            <a:r>
              <a:rPr lang="pt-BR" sz="2000" dirty="0" err="1"/>
              <a:t>True</a:t>
            </a:r>
            <a:r>
              <a:rPr lang="pt-BR" sz="2000" dirty="0"/>
              <a:t>). Assim, mantemos o dataset com o mesmo número de linhas.</a:t>
            </a:r>
            <a:endParaRPr lang="en-US" sz="2200" i="1" dirty="0"/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289849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BDA73783-9421-1C6B-DEFC-9B1398388B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809" y="2028143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3F8E73-552B-AEF7-1615-B0220AB98277}"/>
              </a:ext>
            </a:extLst>
          </p:cNvPr>
          <p:cNvSpPr txBox="1"/>
          <p:nvPr/>
        </p:nvSpPr>
        <p:spPr>
          <a:xfrm>
            <a:off x="2042299" y="5799364"/>
            <a:ext cx="81074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Importante!</a:t>
            </a:r>
          </a:p>
          <a:p>
            <a:pPr algn="ctr"/>
            <a:r>
              <a:rPr lang="en-US" sz="2800" b="1" dirty="0" err="1"/>
              <a:t>Correlação</a:t>
            </a:r>
            <a:r>
              <a:rPr lang="en-US" sz="2800" b="1" dirty="0"/>
              <a:t> </a:t>
            </a:r>
            <a:r>
              <a:rPr lang="en-US" sz="2800" b="1" dirty="0" err="1"/>
              <a:t>não</a:t>
            </a:r>
            <a:r>
              <a:rPr lang="en-US" sz="2800" b="1" dirty="0"/>
              <a:t> </a:t>
            </a:r>
            <a:r>
              <a:rPr lang="en-US" sz="2800" b="1" dirty="0" err="1"/>
              <a:t>implica</a:t>
            </a:r>
            <a:r>
              <a:rPr lang="en-US" sz="2800" b="1" dirty="0"/>
              <a:t> </a:t>
            </a:r>
            <a:r>
              <a:rPr lang="en-US" sz="2800" b="1" dirty="0" err="1"/>
              <a:t>causalidade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46720" cy="5032375"/>
          </a:xfrm>
        </p:spPr>
        <p:txBody>
          <a:bodyPr>
            <a:normAutofit/>
          </a:bodyPr>
          <a:lstStyle/>
          <a:p>
            <a:r>
              <a:rPr lang="pt-BR" dirty="0"/>
              <a:t>Objetivo</a:t>
            </a:r>
            <a:r>
              <a:rPr lang="en-US" dirty="0"/>
              <a:t>: </a:t>
            </a:r>
            <a:r>
              <a:rPr lang="pt-BR" dirty="0"/>
              <a:t>descobrir padrões e estruturas escondidas nos dados.</a:t>
            </a:r>
          </a:p>
          <a:p>
            <a:r>
              <a:rPr lang="pt-BR" dirty="0"/>
              <a:t>Relações entre variáveis revelam: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dependências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agrupamentos naturais</a:t>
            </a:r>
          </a:p>
          <a:p>
            <a:r>
              <a:rPr lang="pt-BR" dirty="0"/>
              <a:t>Ao analisar relações, podemos responder: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realmente influencia o target?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variável faz sentido nesse contexto?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comportamento é esperado ou estranho?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320460" y="2134267"/>
            <a:ext cx="2386946" cy="26561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2867117" y="2134267"/>
            <a:ext cx="2386946" cy="26561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132EA1-4326-D179-08AF-928B6FFB0A14}"/>
              </a:ext>
            </a:extLst>
          </p:cNvPr>
          <p:cNvSpPr txBox="1"/>
          <p:nvPr/>
        </p:nvSpPr>
        <p:spPr>
          <a:xfrm>
            <a:off x="933633" y="4925317"/>
            <a:ext cx="43204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Exemplo: encontrar relações como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Preço do carro ↑ conforme potência ↑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Consumo ↓ conforme peso ↑</a:t>
            </a:r>
          </a:p>
        </p:txBody>
      </p:sp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8686" y="1825624"/>
            <a:ext cx="6923313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dois ou mais atributos estão altamente correlacionados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51E70FD3-0A6B-B27E-DEEE-883A831CCB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904" y="1690688"/>
            <a:ext cx="4156365" cy="2545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A24E24-E32D-BA54-4C89-5894031B9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493" y="4348460"/>
            <a:ext cx="2985185" cy="2427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grau de </a:t>
                </a:r>
                <a:r>
                  <a:rPr lang="pt-BR" b="1" dirty="0"/>
                  <a:t>relação linear</a:t>
                </a:r>
                <a:r>
                  <a:rPr lang="pt-BR" dirty="0"/>
                  <a:t> entre pares de variáveis numéricas.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Valores variam de −1 a +1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+1 </a:t>
                </a:r>
                <a:r>
                  <a:rPr lang="pt-BR" dirty="0"/>
                  <a:t>→ relação linear positiva forte: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pt-BR" dirty="0"/>
                  <a:t> aumenta à medida que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dirty="0"/>
                  <a:t> aumenta.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−1 </a:t>
                </a:r>
                <a:r>
                  <a:rPr lang="pt-BR" dirty="0"/>
                  <a:t>→ relação linear negativa forte: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pt-BR" dirty="0"/>
                  <a:t> aumenta enquanto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dirty="0"/>
                  <a:t> diminui.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0 </a:t>
                </a:r>
                <a:r>
                  <a:rPr lang="pt-BR" dirty="0"/>
                  <a:t>→ nenhuma </a:t>
                </a:r>
                <a:r>
                  <a:rPr lang="pt-BR" b="1" dirty="0"/>
                  <a:t>relação linear </a:t>
                </a:r>
                <a:r>
                  <a:rPr lang="pt-BR" dirty="0"/>
                  <a:t>entre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</a:t>
                </a:r>
                <a:r>
                  <a:rPr lang="pt-BR" dirty="0"/>
                  <a:t>.: Valores negativos são chamados de </a:t>
                </a:r>
                <a:r>
                  <a:rPr lang="pt-BR" dirty="0" err="1"/>
                  <a:t>anti-correlação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 b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Se ruído aumenta, então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Uma variável não fornece informação sobre a outra.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O coeficiente de Pearson,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noProof="0" dirty="0"/>
                  <a:t> é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 se a correlação é 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0 se não existe relação linear.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l="-2105" t="-1937" r="-1287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38057" y="1825625"/>
                <a:ext cx="6934202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Identificar variáveis fortemente (linearmente) relacionadas.</a:t>
                </a:r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multicolinearidade</a:t>
                </a:r>
                <a:r>
                  <a:rPr lang="pt-BR" noProof="0" dirty="0"/>
                  <a:t> (</a:t>
                </a:r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noProof="0" dirty="0"/>
                  <a:t>redundância).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Não mostra a forma da relação e, portanto, não indica se a relação é não-linear.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 (</a:t>
                </a:r>
                <a:r>
                  <a:rPr lang="pt-BR" noProof="0" dirty="0" err="1"/>
                  <a:t>Spearman</a:t>
                </a:r>
                <a:r>
                  <a:rPr lang="pt-BR" noProof="0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8057" y="1825625"/>
                <a:ext cx="6934202" cy="5032376"/>
              </a:xfrm>
              <a:blipFill>
                <a:blip r:embed="rId3"/>
                <a:stretch>
                  <a:fillRect l="-1583" t="-2663" r="-1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229" y="2142368"/>
            <a:ext cx="4571955" cy="3717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5E9F0-AC36-F712-3BF0-F6662437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A28BC1D1-2988-7440-3A03-FD9B700D7F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C3A4F52E-9BF0-A016-B484-AB1133E858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252435-F189-5982-C576-31AD00637DF7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52196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dirty="0"/>
              <a:t>Mostra a relação direta entre duas variáveis, ponto a ponto, revelando padrões que números não mostram.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Difícil de escalar para alta dimensionalidade. Quando o número de variáveis cresce: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seriam necessários muitos </a:t>
            </a:r>
            <a:r>
              <a:rPr lang="pt-BR" dirty="0" err="1"/>
              <a:t>scatter</a:t>
            </a:r>
            <a:r>
              <a:rPr lang="pt-BR" dirty="0"/>
              <a:t> </a:t>
            </a:r>
            <a:r>
              <a:rPr lang="pt-BR" dirty="0" err="1"/>
              <a:t>plots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processo manual, cansativo e propenso ao erro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Exemplo: 20 variáveis se tornam 190 pares possíveis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grandes. Em </a:t>
            </a:r>
            <a:r>
              <a:rPr lang="pt-BR" dirty="0" err="1"/>
              <a:t>datasets</a:t>
            </a:r>
            <a:r>
              <a:rPr lang="pt-BR" dirty="0"/>
              <a:t> com muitos pontos: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outliers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</a:rPr>
              <a:t>fig, ax = </a:t>
            </a:r>
            <a:r>
              <a:rPr lang="en-US" dirty="0" err="1">
                <a:latin typeface="Consolas" panose="020B0609020204030204" pitchFamily="49" charset="0"/>
              </a:rPr>
              <a:t>plt.subplots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ax.scatter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ax.set_xlabel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ax.set_ylabel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ax.grid</a:t>
            </a:r>
            <a:r>
              <a:rPr lang="en-US" dirty="0">
                <a:latin typeface="Consolas" panose="020B0609020204030204" pitchFamily="49" charset="0"/>
              </a:rPr>
              <a:t>(True)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pt-BR" b="1" dirty="0"/>
              <a:t>Plotando </a:t>
            </a:r>
            <a:r>
              <a:rPr lang="pt-BR" b="1" dirty="0" err="1"/>
              <a:t>scatter</a:t>
            </a:r>
            <a:r>
              <a:rPr lang="pt-BR" b="1" dirty="0"/>
              <a:t> </a:t>
            </a:r>
            <a:r>
              <a:rPr lang="pt-BR" b="1" dirty="0" err="1"/>
              <a:t>plots</a:t>
            </a:r>
            <a:r>
              <a:rPr lang="pt-BR" b="1" dirty="0"/>
              <a:t> para todos os pares de variáveis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sns.pairplot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b="1" dirty="0"/>
              <a:t>OBS</a:t>
            </a:r>
            <a:r>
              <a:rPr lang="en-US" dirty="0"/>
              <a:t>.: </a:t>
            </a:r>
            <a:r>
              <a:rPr lang="en-US" dirty="0" err="1">
                <a:latin typeface="Consolas" panose="020B0609020204030204" pitchFamily="49" charset="0"/>
              </a:rPr>
              <a:t>pairplot</a:t>
            </a:r>
            <a:r>
              <a:rPr lang="en-US" dirty="0"/>
              <a:t> </a:t>
            </a:r>
            <a:r>
              <a:rPr lang="en-US" dirty="0" err="1"/>
              <a:t>plota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pt-BR" dirty="0" err="1"/>
              <a:t>scatter</a:t>
            </a:r>
            <a:r>
              <a:rPr lang="pt-BR" dirty="0"/>
              <a:t> </a:t>
            </a:r>
            <a:r>
              <a:rPr lang="pt-BR" dirty="0" err="1"/>
              <a:t>plots</a:t>
            </a:r>
            <a:r>
              <a:rPr lang="pt-BR" dirty="0"/>
              <a:t> para todos os pares de variáveis.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59493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02464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10367</TotalTime>
  <Words>4740</Words>
  <Application>Microsoft Office PowerPoint</Application>
  <PresentationFormat>Widescreen</PresentationFormat>
  <Paragraphs>545</Paragraphs>
  <Slides>56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4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Tipo dos dados</vt:lpstr>
      <vt:lpstr>Tipo dos dados: variáveis qualitativas (categóricas)</vt:lpstr>
      <vt:lpstr>Tipo dos dados: variáveis quantitativas (numéricas)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Tratando valores faltantes</vt:lpstr>
      <vt:lpstr>Tratando valores faltantes</vt:lpstr>
      <vt:lpstr>Tratando valores faltantes</vt:lpstr>
      <vt:lpstr>Tratando valores faltantes</vt:lpstr>
      <vt:lpstr>Tratando valores faltantes</vt:lpstr>
      <vt:lpstr>Tratando valores faltantes</vt:lpstr>
      <vt:lpstr>Tratando valores faltantes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Vantagens e desvantagens: Z-score</vt:lpstr>
      <vt:lpstr>Outros métodos para detecção de outliers</vt:lpstr>
      <vt:lpstr>Como remover outliers?</vt:lpstr>
      <vt:lpstr>Como remover outliers?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Para que serve a matriz de correlação?</vt:lpstr>
      <vt:lpstr>Correlação de Spearman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Pandas profiling</vt:lpstr>
      <vt:lpstr>Como gerar o relatório?</vt:lpstr>
      <vt:lpstr>Exemplo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1979</cp:revision>
  <dcterms:created xsi:type="dcterms:W3CDTF">2020-01-20T13:50:05Z</dcterms:created>
  <dcterms:modified xsi:type="dcterms:W3CDTF">2026-02-16T12:58:01Z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