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74"/>
  </p:notesMasterIdLst>
  <p:handoutMasterIdLst>
    <p:handoutMasterId r:id="rId75"/>
  </p:handoutMasterIdLst>
  <p:sldIdLst>
    <p:sldId id="256" r:id="rId5"/>
    <p:sldId id="315" r:id="rId6"/>
    <p:sldId id="307" r:id="rId7"/>
    <p:sldId id="318" r:id="rId8"/>
    <p:sldId id="317" r:id="rId9"/>
    <p:sldId id="374" r:id="rId10"/>
    <p:sldId id="375" r:id="rId11"/>
    <p:sldId id="326" r:id="rId12"/>
    <p:sldId id="327" r:id="rId13"/>
    <p:sldId id="328" r:id="rId14"/>
    <p:sldId id="376" r:id="rId15"/>
    <p:sldId id="320" r:id="rId16"/>
    <p:sldId id="321" r:id="rId17"/>
    <p:sldId id="330" r:id="rId18"/>
    <p:sldId id="323" r:id="rId19"/>
    <p:sldId id="322" r:id="rId20"/>
    <p:sldId id="377" r:id="rId21"/>
    <p:sldId id="331" r:id="rId22"/>
    <p:sldId id="333" r:id="rId23"/>
    <p:sldId id="335" r:id="rId24"/>
    <p:sldId id="339" r:id="rId25"/>
    <p:sldId id="380" r:id="rId26"/>
    <p:sldId id="340" r:id="rId27"/>
    <p:sldId id="342" r:id="rId28"/>
    <p:sldId id="348" r:id="rId29"/>
    <p:sldId id="349" r:id="rId30"/>
    <p:sldId id="343" r:id="rId31"/>
    <p:sldId id="344" r:id="rId32"/>
    <p:sldId id="350" r:id="rId33"/>
    <p:sldId id="383" r:id="rId34"/>
    <p:sldId id="345" r:id="rId35"/>
    <p:sldId id="354" r:id="rId36"/>
    <p:sldId id="351" r:id="rId37"/>
    <p:sldId id="359" r:id="rId38"/>
    <p:sldId id="361" r:id="rId39"/>
    <p:sldId id="347" r:id="rId40"/>
    <p:sldId id="366" r:id="rId41"/>
    <p:sldId id="384" r:id="rId42"/>
    <p:sldId id="363" r:id="rId43"/>
    <p:sldId id="365" r:id="rId44"/>
    <p:sldId id="385" r:id="rId45"/>
    <p:sldId id="329" r:id="rId46"/>
    <p:sldId id="367" r:id="rId47"/>
    <p:sldId id="391" r:id="rId48"/>
    <p:sldId id="368" r:id="rId49"/>
    <p:sldId id="392" r:id="rId50"/>
    <p:sldId id="369" r:id="rId51"/>
    <p:sldId id="364" r:id="rId52"/>
    <p:sldId id="371" r:id="rId53"/>
    <p:sldId id="372" r:id="rId54"/>
    <p:sldId id="308" r:id="rId55"/>
    <p:sldId id="293" r:id="rId56"/>
    <p:sldId id="306" r:id="rId57"/>
    <p:sldId id="379" r:id="rId58"/>
    <p:sldId id="332" r:id="rId59"/>
    <p:sldId id="337" r:id="rId60"/>
    <p:sldId id="338" r:id="rId61"/>
    <p:sldId id="382" r:id="rId62"/>
    <p:sldId id="346" r:id="rId63"/>
    <p:sldId id="357" r:id="rId64"/>
    <p:sldId id="356" r:id="rId65"/>
    <p:sldId id="362" r:id="rId66"/>
    <p:sldId id="360" r:id="rId67"/>
    <p:sldId id="389" r:id="rId68"/>
    <p:sldId id="387" r:id="rId69"/>
    <p:sldId id="388" r:id="rId70"/>
    <p:sldId id="390" r:id="rId71"/>
    <p:sldId id="334" r:id="rId72"/>
    <p:sldId id="373" r:id="rId7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notesMaster" Target="notesMasters/notesMaster1.xml"/><Relationship Id="rId79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presProps" Target="pres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</a:t>
            </a:r>
            <a:r>
              <a:rPr lang="pt-BR" b="1" dirty="0"/>
              <a:t>cuidar, selecionar, organizar, adaptar os dados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5237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Aromatic = </a:t>
            </a:r>
            <a:r>
              <a:rPr lang="en-US" dirty="0" err="1"/>
              <a:t>aromático</a:t>
            </a:r>
            <a:endParaRPr lang="en-US" dirty="0"/>
          </a:p>
          <a:p>
            <a:r>
              <a:rPr lang="en-US" dirty="0"/>
              <a:t>Buttery = </a:t>
            </a:r>
            <a:r>
              <a:rPr lang="en-US" dirty="0" err="1"/>
              <a:t>amanteigado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4102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Elas respondem à pergunta </a:t>
            </a:r>
            <a:r>
              <a:rPr lang="pt-BR" b="1" dirty="0"/>
              <a:t>"Qual?"</a:t>
            </a:r>
            <a:r>
              <a:rPr lang="pt-BR" dirty="0"/>
              <a:t>, e não "Quanto?".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  <a:p>
            <a:r>
              <a:rPr lang="en-US" dirty="0" err="1"/>
              <a:t>Exemplo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https://colab.research.google.com/github/zz4fap/c24_inteligencia_artificial/blob/master/notebooks/intro_eda.ipynb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inplace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pt-BR" dirty="0"/>
              <a:t> significa: </a:t>
            </a:r>
            <a:r>
              <a:rPr lang="pt-BR" b="1" dirty="0"/>
              <a:t>faça a alteração diretamente no próprio </a:t>
            </a:r>
            <a:r>
              <a:rPr lang="pt-B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df</a:t>
            </a:r>
            <a:r>
              <a:rPr lang="pt-BR" dirty="0"/>
              <a:t>, sem criar (nem precisar atribuir)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90351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que temos as notas de 5 alunos: [7, 3, 9, 5,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5 elementos (ímpar), o valor central é o 3º termo.</a:t>
            </a:r>
          </a:p>
          <a:p>
            <a:pPr lvl="1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Mediana = 7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Agora, imagine que adicionamos uma nota 8, ficando com 6 alunos: [7, 3, 9, 5, 10, 8]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8,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6 elementos (par), não existe um único valor central. Pegamos os dois valores do meio (7 e 8) e tiramos a média:</a:t>
            </a:r>
          </a:p>
          <a:p>
            <a:pPr lvl="1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{Mediana} =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{7 + 8}{2} = 7.5$</a:t>
            </a:r>
          </a:p>
          <a:p>
            <a:endParaRPr lang="pt-BR" dirty="0"/>
          </a:p>
          <a:p>
            <a:r>
              <a:rPr lang="pt-BR" dirty="0"/>
              <a:t>A </a:t>
            </a:r>
            <a:r>
              <a:rPr lang="pt-BR" b="1" dirty="0"/>
              <a:t>moda</a:t>
            </a:r>
            <a:r>
              <a:rPr lang="pt-BR" dirty="0"/>
              <a:t> é o </a:t>
            </a:r>
            <a:r>
              <a:rPr lang="pt-BR" b="1" dirty="0"/>
              <a:t>valor mais frequente</a:t>
            </a:r>
            <a:r>
              <a:rPr lang="pt-BR" dirty="0"/>
              <a:t>. Um outlier costuma ser um valor </a:t>
            </a:r>
            <a:r>
              <a:rPr lang="pt-BR" b="1" dirty="0"/>
              <a:t>raro</a:t>
            </a:r>
            <a:r>
              <a:rPr lang="pt-BR" dirty="0"/>
              <a:t> (aparece 1 vez ou pouquíssimas), então </a:t>
            </a:r>
            <a:r>
              <a:rPr lang="pt-BR" b="1" dirty="0"/>
              <a:t>não muda</a:t>
            </a:r>
            <a:r>
              <a:rPr lang="pt-BR" dirty="0"/>
              <a:t> qual valor aparece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0681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1022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2A679-CE06-9D11-4088-69773CB2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C2CDE-94AE-2F59-C081-7064204B6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C198C-1C48-B3C1-3730-972E74B0C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01B4E-0762-5A65-1DE1-998DFDF9A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54169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Pode ser uma falha de hardware ou incêndio real.</a:t>
            </a:r>
          </a:p>
          <a:p>
            <a:endParaRPr lang="pt-BR" dirty="0"/>
          </a:p>
          <a:p>
            <a:r>
              <a:rPr lang="pt-BR" dirty="0"/>
              <a:t>outlier é um </a:t>
            </a:r>
            <a:r>
              <a:rPr lang="pt-BR" b="1" dirty="0"/>
              <a:t>ruído</a:t>
            </a:r>
            <a:r>
              <a:rPr lang="pt-BR" dirty="0"/>
              <a:t> (erro de sensor/digitação) ou é um </a:t>
            </a:r>
            <a:r>
              <a:rPr lang="pt-BR" b="1" dirty="0"/>
              <a:t>insight</a:t>
            </a:r>
            <a:r>
              <a:rPr lang="pt-BR" dirty="0"/>
              <a:t> (um caso raro que preciso estudar)?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87855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7062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54873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b="1" dirty="0"/>
              <a:t>1,5</a:t>
            </a:r>
            <a:r>
              <a:rPr lang="pt-BR" dirty="0"/>
              <a:t> foi escolhido para funcionar bem em muitos cenários “normais” (não é uma lei da natureza; é uma heurística).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045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independente da forma da distribuição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52122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0398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72495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7712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F0DA7-D327-7025-E28E-AD6262D2B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B83F6-5AA6-4EB1-C841-8E17EE6D7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D288B-7721-F12A-9699-1E7BB53C8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400AC-461D-C3D2-A522-1C365506DE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7356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OBS</a:t>
            </a:r>
            <a:r>
              <a:rPr lang="pt-BR" dirty="0"/>
              <a:t>.: Valores negativos são chamados de </a:t>
            </a:r>
            <a:r>
              <a:rPr lang="pt-BR" dirty="0" err="1"/>
              <a:t>anti-correlação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69984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Primeira Linha: Intensidade e Direção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Aqui vemos como o valor de $r$ varia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 a 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Positiva ($r &gt;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também aumenta. Quanto mais próximo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mais os pontos se aproximam de uma linha reta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Negativa ($r &lt;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diminui. O valor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uma relação inversa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Nula ($r =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pontos estão espalhados como uma "nuvem" sem direção clara. Não há tendência linear.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Dispersão: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Note que quanto menor o valor absoluto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0.4 ou -0.4), mais "gorda" e espalhada fica a nuvem de pontos.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Segunda Linha: A Inclinação não importa (quase sempre)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linha traz um conceito fundamental: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correlação não mede a inclinação (coeficiente angular) da reta.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Todos os gráficos (exceto o do meio) mostram correlação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importa se a reta é íngreme ou quase plana; se todos os pontos estão perfeitamente alinhados, a correlação é máxima.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caso central ($r=0$):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 linha é perfeitamente horizontal, a correlação é indefinida ou zero, pois a variável $y$ não muda independentemente de $x$. Não há variação para "explicar".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Terceira Linha: A Grande Armadilha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é a parte mais importante para analistas de dados. Todos esses gráficos têm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correlação de Pearson igual a 0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mas os pontos claramente seguem padrões (círculos, ondas, quadrados).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motivo: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coeficiente de Pearson só detecta relações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(retas).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a relação for não-linear (curvas, formas complexas), o Pearson falhará em detectar a dependência entre as variáveis, resultando em zero.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Sempre visualize seus dados com um gráfico de dispersão antes de confiar apenas no número da correlação.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56590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48398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D4A5-FF11-2974-EDE1-182C9DBA8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CCACA1-CEBA-3A8D-4D86-EA4C19D82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73397-7B1B-676D-4A3E-F24C22ADE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B5B09-D1FD-A41D-2FE0-7264BEECEA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69142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48C73-FE80-5A0E-AAB2-6D53AC55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E4991-67A5-838C-479A-DBC8EEE2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E5373-528E-2363-FE2C-9960A8C1C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95398A-7ACA-77A5-3109-0D06C4E61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8517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67931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855B7-5069-F4EA-7D8D-C2E11DE6D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BEDFA-01C1-8616-0BC3-58DC0D444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E64029-3D6C-E721-56B6-DF4DCC5A7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A68BD-068A-E78C-86BD-39777B2E9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2041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8002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0DF1F-118F-9EFC-3577-7429ED1D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29ACC-B751-4FF9-B86B-DACEC55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5139CB-3A7D-5CE4-9BA2-C36ED2972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correto é </a:t>
            </a:r>
            <a:r>
              <a:rPr lang="pt-BR" b="1" dirty="0"/>
              <a:t>aprender o valor de imputação no treino</a:t>
            </a:r>
            <a:r>
              <a:rPr lang="pt-BR" dirty="0"/>
              <a:t> e aplicar no teste.</a:t>
            </a:r>
          </a:p>
          <a:p>
            <a:r>
              <a:rPr lang="pt-BR" dirty="0"/>
              <a:t>mas em machine learning o ideal é calcular a média </a:t>
            </a:r>
            <a:r>
              <a:rPr lang="pt-BR" b="1" dirty="0"/>
              <a:t>só no conjunto de treino</a:t>
            </a:r>
            <a:r>
              <a:rPr lang="pt-BR" dirty="0"/>
              <a:t> (para evitar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),</a:t>
            </a:r>
          </a:p>
          <a:p>
            <a:endParaRPr lang="pt-BR" dirty="0"/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KNNImputer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(K-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Nearest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Neighbors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nome já diz tudo: "Imputador pelos Vizinhos Mais Próximos".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cada valor faltante em uma linha, ele procura as $K$ linhas mais parecidas (os "vizinhos") que possuem aquele dado preenchido. Ele calcula a distância (geralmente a Distância Euclidiana) entre as outras características (colunas) daquela linha.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cálculo: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Ele tira a média dos valores desses $K$ vizinhos e preenche o buraco.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Ótimo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onde você acredita que observações semelhantes tendem a ter valores semelhantes.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de atenção: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computacionalmente caro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gigantes, pois precisa calcular distâncias entre todas as linhas.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B0B1D-009E-3C23-925B-937304688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48495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1E0-FDAA-5343-05EB-B0108BFE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2AE94-3ED7-98C2-30EB-4B23B764D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F7ED5-065D-9C39-2A40-50EFDC4B5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(MICE)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é um pouco mais sofisticado e "inteligente". Ele trata cada coluna com valores faltantes como uma variável alvo em um problema de regressão.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 Ele preenche os buracos inicialmente (com a média, por exemplo).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Ele transforma a coluna com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alvo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($y$) e usa as outras colunas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preditores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($X$).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Ele treina um modelo de regressão para prever os valores faltantes daquela coluna.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Ele repete isso para todas as colunas em várias rodadas (iterações) até que os valores parem de mudar muito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converjam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as variáveis têm correlações complexas entre si. Ele é geralmente considerado mais preciso que a média simples ou o KNN.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Curiosidade: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mundo da estatística, essa técnica é conhecida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Multivariate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Imputation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Chained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Equations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BFCC8-B8A4-A885-9BFD-A0BD76DAF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5014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46918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7051A-A66A-B286-1A74-E308F264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D327E-B406-7B9D-0E9B-F7881E757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219ACF-7FA1-B46B-AACB-195955807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479F-5E22-C1A5-F869-73193D8A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7813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BE96-2C19-C317-F345-A0F58B3A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B9F738-3641-982D-DF14-18CC25D5B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21A17-E161-087C-8FF0-420CD8108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E132E-3E69-8E11-2C3C-D362D683B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0126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8140C-54C5-4298-3030-26217B5DD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00C8CE-2E6E-E5A7-A4CF-F73838FB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3E5525-2796-A2EB-05AE-B3A9DEFC0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8E8B1-3DFB-2EC6-5D27-6F478A4923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5963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jpeg"/><Relationship Id="rId4" Type="http://schemas.openxmlformats.org/officeDocument/2006/relationships/image" Target="../media/image39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345" y="993321"/>
            <a:ext cx="8057788" cy="5255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515895" y="2343587"/>
            <a:ext cx="35454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</a:t>
            </a:r>
            <a:r>
              <a:rPr lang="pt-BR" sz="3200" b="1" dirty="0">
                <a:solidFill>
                  <a:schemeClr val="accent2"/>
                </a:solidFill>
              </a:rPr>
              <a:t>antes da construção e treinamento</a:t>
            </a:r>
            <a:r>
              <a:rPr lang="pt-BR" sz="3200" dirty="0"/>
              <a:t>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</a:t>
            </a:r>
            <a:r>
              <a:rPr lang="pt-BR" b="1" dirty="0">
                <a:solidFill>
                  <a:schemeClr val="accent2"/>
                </a:solidFill>
              </a:rPr>
              <a:t>primeiro passo </a:t>
            </a:r>
            <a:r>
              <a:rPr lang="pt-BR" dirty="0"/>
              <a:t>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6"/>
                </a:solidFill>
              </a:rPr>
              <a:t>erros</a:t>
            </a:r>
            <a:r>
              <a:rPr lang="pt-BR" dirty="0"/>
              <a:t>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</a:t>
            </a:r>
            <a:r>
              <a:rPr lang="pt-BR" b="1" dirty="0">
                <a:solidFill>
                  <a:schemeClr val="accent6"/>
                </a:solidFill>
              </a:rPr>
              <a:t>padrões</a:t>
            </a:r>
            <a:r>
              <a:rPr lang="pt-BR" dirty="0"/>
              <a:t>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</a:t>
            </a:r>
            <a:r>
              <a:rPr lang="pt-BR" b="1" dirty="0">
                <a:solidFill>
                  <a:schemeClr val="accent6"/>
                </a:solidFill>
              </a:rPr>
              <a:t>discrepantes, faltantes, e duplicados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</a:t>
            </a:r>
            <a:r>
              <a:rPr lang="pt-BR" b="1" dirty="0">
                <a:solidFill>
                  <a:schemeClr val="accent6"/>
                </a:solidFill>
              </a:rPr>
              <a:t>relações entre as variáveis </a:t>
            </a:r>
            <a:r>
              <a:rPr lang="pt-BR" dirty="0"/>
              <a:t>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quais </a:t>
            </a:r>
            <a:r>
              <a:rPr lang="pt-BR" b="1" dirty="0">
                <a:solidFill>
                  <a:schemeClr val="accent6"/>
                </a:solidFill>
              </a:rPr>
              <a:t>variáveis realmente importam</a:t>
            </a:r>
            <a:r>
              <a:rPr lang="pt-BR" dirty="0"/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</a:t>
            </a:r>
            <a:r>
              <a:rPr lang="pt-BR" b="1" dirty="0">
                <a:solidFill>
                  <a:schemeClr val="accent5"/>
                </a:solidFill>
              </a:rPr>
              <a:t>curadoria</a:t>
            </a:r>
            <a:r>
              <a:rPr lang="pt-BR" dirty="0"/>
              <a:t> dos dados.</a:t>
            </a:r>
          </a:p>
          <a:p>
            <a:r>
              <a:rPr lang="pt-BR" dirty="0"/>
              <a:t>Ela garante que o modelo de ML não aprenda com lixo. </a:t>
            </a:r>
          </a:p>
          <a:p>
            <a:r>
              <a:rPr lang="pt-BR" dirty="0"/>
              <a:t>Se o </a:t>
            </a:r>
            <a:r>
              <a:rPr lang="pt-BR" b="1" dirty="0">
                <a:solidFill>
                  <a:schemeClr val="accent5"/>
                </a:solidFill>
              </a:rPr>
              <a:t>dado de entrada é ruim</a:t>
            </a:r>
            <a:r>
              <a:rPr lang="pt-BR" dirty="0"/>
              <a:t>, a </a:t>
            </a:r>
            <a:r>
              <a:rPr lang="pt-BR" b="1" dirty="0">
                <a:solidFill>
                  <a:schemeClr val="accent5"/>
                </a:solidFill>
              </a:rPr>
              <a:t>previsão será pior </a:t>
            </a:r>
            <a:r>
              <a:rPr lang="pt-BR" dirty="0"/>
              <a:t>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541" y="2253345"/>
            <a:ext cx="6164491" cy="342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visual e estatística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</a:t>
            </a:r>
            <a:r>
              <a:rPr lang="pt-BR" b="1" noProof="0" dirty="0">
                <a:solidFill>
                  <a:srgbClr val="00B050"/>
                </a:solidFill>
              </a:rPr>
              <a:t>ferramentas estatísticas e </a:t>
            </a:r>
            <a:r>
              <a:rPr lang="pt-BR" b="1" dirty="0">
                <a:solidFill>
                  <a:srgbClr val="00B050"/>
                </a:solidFill>
              </a:rPr>
              <a:t>visuais</a:t>
            </a:r>
            <a:r>
              <a:rPr lang="pt-BR" dirty="0"/>
              <a:t> </a:t>
            </a:r>
            <a:r>
              <a:rPr lang="pt-BR" noProof="0" dirty="0"/>
              <a:t>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Pandas </a:t>
            </a:r>
            <a:r>
              <a:rPr lang="en-US" i="1" dirty="0"/>
              <a:t>profiling</a:t>
            </a:r>
            <a:r>
              <a:rPr lang="en-US" dirty="0"/>
              <a:t> (Anexo IV)</a:t>
            </a:r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ndas Profiling: Full Guide on Complete Data Exploration | Aug, 2022 |  Medium | Medium">
            <a:extLst>
              <a:ext uri="{FF2B5EF4-FFF2-40B4-BE49-F238E27FC236}">
                <a16:creationId xmlns:a16="http://schemas.microsoft.com/office/drawing/2014/main" id="{D4512287-2A4A-0BD3-75BF-974DF02B9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362" y="6072492"/>
            <a:ext cx="2569028" cy="637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F9267-2A56-C100-CEF1-C30151EE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8212"/>
            <a:ext cx="10515600" cy="24415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Antes de explorarmos os dados, nós precisamos entender a sua taxonomia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50653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6477-9F35-656B-BA2E-B0A11562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B2F41-58F6-47E0-CC63-48BEA8AE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2771" y="1825625"/>
            <a:ext cx="4169229" cy="4351338"/>
          </a:xfrm>
        </p:spPr>
        <p:txBody>
          <a:bodyPr/>
          <a:lstStyle/>
          <a:p>
            <a:r>
              <a:rPr lang="pt-BR" dirty="0"/>
              <a:t>As variáveis (i.e., atributos ou rótulos) podem ser classificadas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Qualitativas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Quantitativas</a:t>
            </a:r>
            <a:endParaRPr lang="en-US" dirty="0"/>
          </a:p>
        </p:txBody>
      </p:sp>
      <p:pic>
        <p:nvPicPr>
          <p:cNvPr id="1026" name="Picture 2" descr="Qualitative vs Quantitative Data: Analysis, Definitions, Examples">
            <a:extLst>
              <a:ext uri="{FF2B5EF4-FFF2-40B4-BE49-F238E27FC236}">
                <a16:creationId xmlns:a16="http://schemas.microsoft.com/office/drawing/2014/main" id="{E4A7450D-8449-2BCF-3291-7129123C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22" y="1931987"/>
            <a:ext cx="7743767" cy="413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956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44943" cy="5032375"/>
          </a:xfrm>
        </p:spPr>
        <p:txBody>
          <a:bodyPr>
            <a:normAutofit/>
          </a:bodyPr>
          <a:lstStyle/>
          <a:p>
            <a:r>
              <a:rPr lang="pt-BR" dirty="0"/>
              <a:t>As variáveis qualitativas e quantitativas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140182" y="3048000"/>
            <a:ext cx="5111189" cy="3091542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qualitativas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56161" y="1825624"/>
            <a:ext cx="1114875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categóricas.</a:t>
            </a:r>
          </a:p>
          <a:p>
            <a:pPr marL="0" indent="0">
              <a:buNone/>
            </a:pPr>
            <a:r>
              <a:rPr lang="pt-BR" dirty="0"/>
              <a:t>Elas descrevem uma </a:t>
            </a:r>
            <a:r>
              <a:rPr lang="pt-BR" b="1" dirty="0"/>
              <a:t>qualidade, característica ou atributo</a:t>
            </a:r>
            <a:r>
              <a:rPr lang="pt-BR" dirty="0"/>
              <a:t> de algo ou alguém.</a:t>
            </a:r>
          </a:p>
          <a:p>
            <a:r>
              <a:rPr lang="pt-BR" b="1" dirty="0"/>
              <a:t>Nominal</a:t>
            </a:r>
            <a:r>
              <a:rPr lang="pt-BR" dirty="0"/>
              <a:t>: Não possuem uma ordem ou hierarquia.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Cor dos olhos, estado civil, gênero, nacionalidade, profissão.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tamanho de uma camiseta (P, M, G), escolaridade (Ensino Fundamental, Médio, Superior), </a:t>
            </a:r>
            <a:r>
              <a:rPr lang="en-US" dirty="0"/>
              <a:t>meses do </a:t>
            </a:r>
            <a:r>
              <a:rPr lang="en-US" dirty="0" err="1"/>
              <a:t>ano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Embora as ordinais possam ser ordenadas, operações aritméticas não são aplicáveis.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faz sentido somar, subtrair tamanhos de camisetas.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quantitativas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14875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/>
              <a:t>variáveis numéricas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ordenadas e usadas em operações</a:t>
            </a:r>
            <a:r>
              <a:rPr lang="pt-BR" dirty="0"/>
              <a:t> aritméticas (e.g., soma, subtração, etc.). </a:t>
            </a:r>
          </a:p>
          <a:p>
            <a:pPr marL="0" indent="0">
              <a:buNone/>
            </a:pPr>
            <a:r>
              <a:rPr lang="pt-BR" dirty="0"/>
              <a:t>Possuem </a:t>
            </a:r>
            <a:r>
              <a:rPr lang="pt-BR" b="1" dirty="0">
                <a:solidFill>
                  <a:srgbClr val="00B050"/>
                </a:solidFill>
              </a:rPr>
              <a:t>unidade de medida</a:t>
            </a:r>
            <a:r>
              <a:rPr lang="pt-BR" dirty="0"/>
              <a:t>.</a:t>
            </a:r>
          </a:p>
          <a:p>
            <a:r>
              <a:rPr lang="pt-BR" b="1" dirty="0"/>
              <a:t>Discreta: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contagens</a:t>
            </a:r>
            <a:r>
              <a:rPr lang="pt-BR" dirty="0"/>
              <a:t>, resultando em números inteiros.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carros em um estacionamento, número de filhos, número de acessos em um site.</a:t>
            </a:r>
          </a:p>
          <a:p>
            <a:r>
              <a:rPr lang="pt-BR" b="1" dirty="0"/>
              <a:t>Contínua: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medições</a:t>
            </a:r>
            <a:r>
              <a:rPr lang="pt-BR" dirty="0"/>
              <a:t> que podem assumir qualquer valor dentro de um intervalo.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Altura, peso, temperatura, tempo de resposta de uma API.</a:t>
            </a:r>
          </a:p>
        </p:txBody>
      </p:sp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4718-F3A7-99BB-2EFE-19D8395F6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Etapas de exploração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D2CC0-0525-1939-A86F-65A7F6AE7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Na </a:t>
            </a:r>
            <a:r>
              <a:rPr lang="en-US" dirty="0" err="1"/>
              <a:t>sequência</a:t>
            </a:r>
            <a:r>
              <a:rPr lang="en-US" dirty="0"/>
              <a:t>, </a:t>
            </a:r>
            <a:r>
              <a:rPr lang="en-US" dirty="0" err="1"/>
              <a:t>veremos</a:t>
            </a:r>
            <a:r>
              <a:rPr lang="en-US" dirty="0"/>
              <a:t> as </a:t>
            </a:r>
            <a:r>
              <a:rPr lang="en-US" dirty="0" err="1"/>
              <a:t>seguintes</a:t>
            </a:r>
            <a:r>
              <a:rPr lang="en-US" dirty="0"/>
              <a:t> </a:t>
            </a:r>
            <a:r>
              <a:rPr lang="en-US" dirty="0" err="1"/>
              <a:t>etapas</a:t>
            </a:r>
            <a:r>
              <a:rPr lang="en-US" dirty="0"/>
              <a:t> de </a:t>
            </a:r>
            <a:r>
              <a:rPr lang="en-US" dirty="0" err="1"/>
              <a:t>exploração</a:t>
            </a:r>
            <a:r>
              <a:rPr lang="en-US" dirty="0"/>
              <a:t> dos dados:</a:t>
            </a:r>
          </a:p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  <a:p>
            <a:r>
              <a:rPr lang="en-US" dirty="0" err="1"/>
              <a:t>Relação</a:t>
            </a:r>
            <a:r>
              <a:rPr lang="en-US" dirty="0"/>
              <a:t> entre </a:t>
            </a:r>
            <a:r>
              <a:rPr lang="en-US" dirty="0" err="1"/>
              <a:t>variáveis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3240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1431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informações básicas dos dados.</a:t>
            </a:r>
          </a:p>
          <a:p>
            <a:pPr marL="0" indent="0">
              <a:buNone/>
            </a:pPr>
            <a:r>
              <a:rPr lang="pt-BR" dirty="0"/>
              <a:t>Em geral, após carregarmos os dados, usamos </a:t>
            </a:r>
            <a:r>
              <a:rPr lang="pt-BR" b="1" dirty="0">
                <a:solidFill>
                  <a:schemeClr val="accent2"/>
                </a:solidFill>
              </a:rPr>
              <a:t>atributos e métodos</a:t>
            </a:r>
            <a:r>
              <a:rPr lang="pt-BR" dirty="0"/>
              <a:t> da biblioteca </a:t>
            </a:r>
            <a:r>
              <a:rPr lang="pt-BR" b="1" dirty="0">
                <a:solidFill>
                  <a:schemeClr val="accent2"/>
                </a:solidFill>
              </a:rPr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Alguns problemas comuns que podemos encontrar nos dados são:</a:t>
            </a:r>
          </a:p>
          <a:p>
            <a:r>
              <a:rPr lang="pt-BR" dirty="0"/>
              <a:t>Valores irrelevantes</a:t>
            </a:r>
          </a:p>
          <a:p>
            <a:r>
              <a:rPr lang="pt-BR" dirty="0"/>
              <a:t>Duplicatas</a:t>
            </a:r>
          </a:p>
          <a:p>
            <a:r>
              <a:rPr lang="pt-BR" dirty="0"/>
              <a:t>Valores faltantes</a:t>
            </a:r>
          </a:p>
          <a:p>
            <a:r>
              <a:rPr lang="pt-BR" dirty="0"/>
              <a:t>Tipos inconsistentes (e.g., número como texto, datas quebradas)</a:t>
            </a:r>
          </a:p>
          <a:p>
            <a:r>
              <a:rPr lang="pt-BR" i="1" dirty="0"/>
              <a:t>Outliers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r>
              <a:rPr lang="pt-BR" dirty="0"/>
              <a:t>Vamos ver como lidar com cada um deles na sequência.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CFE02-9BA3-957A-23D7-D192DD1B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EEE10-7B82-C5D0-CCBD-F870B8B4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irrelevantes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59FFC-CA70-6469-FA1A-0E43BEFC5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96600" cy="5032375"/>
          </a:xfrm>
        </p:spPr>
        <p:txBody>
          <a:bodyPr/>
          <a:lstStyle/>
          <a:p>
            <a:r>
              <a:rPr lang="pt-BR" dirty="0"/>
              <a:t>A ideia é manter colunas que ajudem o objetivo do problema e </a:t>
            </a:r>
            <a:r>
              <a:rPr lang="pt-BR" b="1" dirty="0">
                <a:solidFill>
                  <a:schemeClr val="accent5"/>
                </a:solidFill>
              </a:rPr>
              <a:t>remover as colunas que atrapalham.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</a:t>
            </a:r>
            <a:r>
              <a:rPr lang="en-US" dirty="0">
                <a:latin typeface="Consolas" panose="020B0609020204030204" pitchFamily="49" charset="0"/>
              </a:rPr>
              <a:t>(['Column 1', 'Column 2', 'Column N'], axis=1)</a:t>
            </a:r>
            <a:endParaRPr lang="pt-BR" dirty="0"/>
          </a:p>
          <a:p>
            <a:r>
              <a:rPr lang="pt-BR" dirty="0"/>
              <a:t>Alguns motivos para eliminar colunas: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IDs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timestamps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valores constantes,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muitos valores faltantes,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colunas redundantes, etc.</a:t>
            </a:r>
          </a:p>
        </p:txBody>
      </p:sp>
    </p:spTree>
    <p:extLst>
      <p:ext uri="{BB962C8B-B14F-4D97-AF65-F5344CB8AC3E}">
        <p14:creationId xmlns:p14="http://schemas.microsoft.com/office/powerpoint/2010/main" val="28043543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38114" cy="4351338"/>
          </a:xfrm>
        </p:spPr>
        <p:txBody>
          <a:bodyPr/>
          <a:lstStyle/>
          <a:p>
            <a:r>
              <a:rPr lang="pt-BR" dirty="0"/>
              <a:t>Quantas linhas duplicadas existem?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df.duplicated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Encontrar e remover linhas duplicadas: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df.drop_duplicates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`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` faz a alteração diretamente no próprio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/>
              <a:t>, sem criar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r>
              <a:rPr lang="pt-BR" b="1" dirty="0"/>
              <a:t>OBS</a:t>
            </a:r>
            <a:r>
              <a:rPr lang="pt-BR" dirty="0"/>
              <a:t>.: Para encontrar e remover colunas duplicadas, basta transpor 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dirty="0"/>
              <a:t>Quantos valores estão faltando?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df.isnull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linhas ou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Preencher (imputar) com a média, a moda ou a 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Preenchimento inteligente: Técnicas mais avançadas. Elas olham para a </a:t>
            </a:r>
            <a:r>
              <a:rPr lang="pt-BR" b="1" dirty="0">
                <a:solidFill>
                  <a:srgbClr val="00B050"/>
                </a:solidFill>
              </a:rPr>
              <a:t>relação entre as colunas </a:t>
            </a:r>
            <a:r>
              <a:rPr lang="pt-BR" dirty="0"/>
              <a:t>para "adivinhar" o valor que falta.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Anexo I</a:t>
            </a:r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24F65-7192-8F97-0554-80F0A96C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EA57F-5289-3D2C-BF18-566F472DE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36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FF0CF-6671-88FB-8C57-78FF5A574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Remover linhas ou colunas: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200" dirty="0"/>
              <a:t>OBS.: altera o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/>
              <a:t>original.</a:t>
            </a:r>
            <a:endParaRPr lang="en-US" sz="3000" dirty="0"/>
          </a:p>
          <a:p>
            <a:r>
              <a:rPr lang="pt-BR" dirty="0"/>
              <a:t>Essa técnica não é boa se o número de linhas a serem removidas é muito grande em relação ao tamanho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r>
              <a:rPr lang="pt-BR" dirty="0"/>
              <a:t>Vamos usar técnicas que </a:t>
            </a:r>
            <a:r>
              <a:rPr lang="pt-BR" b="1" dirty="0">
                <a:solidFill>
                  <a:srgbClr val="7030A0"/>
                </a:solidFill>
              </a:rPr>
              <a:t>imputam valores</a:t>
            </a:r>
            <a:r>
              <a:rPr lang="pt-BR" dirty="0"/>
              <a:t> aos faltantes.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49338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63943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714" y="1825624"/>
            <a:ext cx="854528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média, a moda ou a mediana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Média</a:t>
            </a:r>
            <a:r>
              <a:rPr lang="pt-BR" dirty="0"/>
              <a:t>: É a soma de todos os valores dividida pela quantidade total de elementos.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Sensível à </a:t>
            </a:r>
            <a:r>
              <a:rPr lang="pt-BR" i="1" dirty="0"/>
              <a:t>outliers</a:t>
            </a:r>
            <a:r>
              <a:rPr lang="pt-BR" dirty="0"/>
              <a:t>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Mediana</a:t>
            </a:r>
            <a:r>
              <a:rPr lang="pt-BR" dirty="0"/>
              <a:t>: É o valor que ocupa a posição central de um conjunto de dados ordenado. Divide os dados em 50% acima e 50% abaixo.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Moda</a:t>
            </a:r>
            <a:r>
              <a:rPr lang="pt-BR" dirty="0"/>
              <a:t>: É o valor que aparece com a maior frequência no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 e categóricas</a:t>
            </a:r>
            <a:r>
              <a:rPr lang="pt-BR" dirty="0"/>
              <a:t>.</a:t>
            </a:r>
          </a:p>
        </p:txBody>
      </p:sp>
      <p:pic>
        <p:nvPicPr>
          <p:cNvPr id="1032" name="Picture 8" descr="enter image description he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15" y="1825624"/>
            <a:ext cx="2856114" cy="489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482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76385-161E-B4CC-513F-E8FB885EA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59C31-0047-20CD-A5FF-77C846FCD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61914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1334E-89C2-8178-D1BF-901C1E9F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 ou mediana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</a:t>
            </a:r>
            <a:r>
              <a:rPr lang="pt-BR" b="1" dirty="0"/>
              <a:t>apenas as colunas numéricas </a:t>
            </a:r>
            <a:r>
              <a:rPr lang="pt-BR" dirty="0"/>
              <a:t>do </a:t>
            </a:r>
            <a:r>
              <a:rPr lang="pt-BR" dirty="0" err="1"/>
              <a:t>DataFrame</a:t>
            </a:r>
            <a:r>
              <a:rPr lang="pt-BR" dirty="0"/>
              <a:t> (tipos como int64, float64,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Retorna uma </a:t>
            </a:r>
            <a:r>
              <a:rPr lang="pt-BR" b="1" dirty="0"/>
              <a:t>lista com os nomes </a:t>
            </a:r>
            <a:r>
              <a:rPr lang="pt-BR" dirty="0"/>
              <a:t>das colunas numéricas.</a:t>
            </a:r>
          </a:p>
          <a:p>
            <a:pPr marL="457200" lvl="1" indent="0">
              <a:buNone/>
            </a:pPr>
            <a:r>
              <a:rPr lang="pt-BR" b="1" dirty="0"/>
              <a:t>Média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média.</a:t>
            </a:r>
          </a:p>
          <a:p>
            <a:pPr marL="457200" lvl="1" indent="0">
              <a:buNone/>
            </a:pPr>
            <a:r>
              <a:rPr lang="pt-BR" b="1" dirty="0">
                <a:latin typeface="Consolas" panose="020B0609020204030204" pitchFamily="49" charset="0"/>
              </a:rPr>
              <a:t>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mediana.</a:t>
            </a:r>
          </a:p>
          <a:p>
            <a:r>
              <a:rPr lang="pt-BR" dirty="0"/>
              <a:t>Os métodos 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 e 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 </a:t>
            </a:r>
            <a:r>
              <a:rPr lang="en-US" b="1" dirty="0" err="1">
                <a:solidFill>
                  <a:srgbClr val="00B050"/>
                </a:solidFill>
              </a:rPr>
              <a:t>ignoram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84120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701E6-1249-C839-41F6-1F25FD91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4F9C2-B8FA-6360-685A-CE696132D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98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6C211-C899-5194-EB90-F3A355ECC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6671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moda: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Obtém os nomes apenas das colunas numéricas do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.mode().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as colunas numéricas e preenche os valores faltantes de cada uma com a sua moda.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OBS.1</a:t>
            </a:r>
            <a:r>
              <a:rPr lang="pt-BR" dirty="0"/>
              <a:t>: A </a:t>
            </a:r>
            <a:r>
              <a:rPr lang="pt-BR" b="1" dirty="0">
                <a:solidFill>
                  <a:schemeClr val="accent5"/>
                </a:solidFill>
              </a:rPr>
              <a:t>moda pode ter mais de um valor</a:t>
            </a:r>
            <a:r>
              <a:rPr lang="pt-BR" dirty="0"/>
              <a:t>. Assim, em geral, usamos o primeiro valor (i.e., 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OBS.2</a:t>
            </a:r>
            <a:r>
              <a:rPr lang="pt-BR" dirty="0"/>
              <a:t>: A moda pode ser usada para preencher valores faltantes de variáveis categóricas. Portanto, para selecionar colunas categóricas, troque </a:t>
            </a:r>
            <a:r>
              <a:rPr lang="pt-BR" dirty="0">
                <a:latin typeface="Consolas" panose="020B0609020204030204" pitchFamily="49" charset="0"/>
              </a:rPr>
              <a:t>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 por include="</a:t>
            </a:r>
            <a:r>
              <a:rPr lang="pt-BR" dirty="0" err="1">
                <a:latin typeface="Consolas" panose="020B0609020204030204" pitchFamily="49" charset="0"/>
              </a:rPr>
              <a:t>object</a:t>
            </a:r>
            <a:r>
              <a:rPr lang="pt-BR" dirty="0">
                <a:latin typeface="Consolas" panose="020B0609020204030204" pitchFamily="49" charset="0"/>
              </a:rPr>
              <a:t>".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89085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4584B-8FBE-21E9-6AE6-F0FDF597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8" name="Picture 4" descr="Funny Statistics Inside joke about Outliers and Distribution Art Board Print">
            <a:extLst>
              <a:ext uri="{FF2B5EF4-FFF2-40B4-BE49-F238E27FC236}">
                <a16:creationId xmlns:a16="http://schemas.microsoft.com/office/drawing/2014/main" id="{0C8CC104-44D8-7480-0F2C-F9BEE10D6E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8" b="3570"/>
          <a:stretch>
            <a:fillRect/>
          </a:stretch>
        </p:blipFill>
        <p:spPr bwMode="auto">
          <a:xfrm>
            <a:off x="2183223" y="1597433"/>
            <a:ext cx="4032520" cy="5056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FF85D9-3788-FA7D-30A4-4774BBAA739A}"/>
              </a:ext>
            </a:extLst>
          </p:cNvPr>
          <p:cNvSpPr txBox="1"/>
          <p:nvPr/>
        </p:nvSpPr>
        <p:spPr>
          <a:xfrm>
            <a:off x="6662057" y="2627214"/>
            <a:ext cx="484414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 </a:t>
            </a:r>
            <a:r>
              <a:rPr lang="pt-BR" sz="3200" i="1" dirty="0"/>
              <a:t>outlier</a:t>
            </a:r>
            <a:r>
              <a:rPr lang="pt-BR" sz="3200" dirty="0"/>
              <a:t> é uma observação que </a:t>
            </a:r>
            <a:r>
              <a:rPr lang="pt-BR" sz="3200" b="1" dirty="0">
                <a:solidFill>
                  <a:schemeClr val="accent6">
                    <a:lumMod val="75000"/>
                  </a:schemeClr>
                </a:solidFill>
              </a:rPr>
              <a:t>foge muito do padrão geral dos dados</a:t>
            </a:r>
            <a:r>
              <a:rPr lang="pt-BR" sz="3200" dirty="0"/>
              <a:t>, ou seja, um valor extremamente diferente da maioria.</a:t>
            </a:r>
          </a:p>
        </p:txBody>
      </p:sp>
    </p:spTree>
    <p:extLst>
      <p:ext uri="{BB962C8B-B14F-4D97-AF65-F5344CB8AC3E}">
        <p14:creationId xmlns:p14="http://schemas.microsoft.com/office/powerpoint/2010/main" val="10344182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A78F1-AFE3-BD8A-0EFD-1389BC388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B911E-35DF-8ADC-5025-1F9A436A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6" name="Picture 2" descr="SAS Blogs">
            <a:extLst>
              <a:ext uri="{FF2B5EF4-FFF2-40B4-BE49-F238E27FC236}">
                <a16:creationId xmlns:a16="http://schemas.microsoft.com/office/drawing/2014/main" id="{8E0C9C90-D659-B444-5F16-561B66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1441" y="1690688"/>
            <a:ext cx="6329118" cy="47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92714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F0B46-6226-13F7-EC9D-74AC9948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E1AA-B444-FC34-4F1C-87004E042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8691A-1BCA-D64A-7DBC-9DB1030D4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33457" cy="5032375"/>
          </a:xfrm>
        </p:spPr>
        <p:txBody>
          <a:bodyPr>
            <a:normAutofit/>
          </a:bodyPr>
          <a:lstStyle/>
          <a:p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ser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erro de medição (e.g., sensor defeituoso),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de registro (e.g., digitação),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de processamento dos dados (e.g., </a:t>
            </a:r>
            <a:r>
              <a:rPr lang="en-US" dirty="0" err="1"/>
              <a:t>conversão</a:t>
            </a:r>
            <a:r>
              <a:rPr lang="en-US" dirty="0"/>
              <a:t> </a:t>
            </a:r>
            <a:r>
              <a:rPr lang="en-US" dirty="0" err="1"/>
              <a:t>errada</a:t>
            </a:r>
            <a:r>
              <a:rPr lang="en-US" dirty="0"/>
              <a:t> de </a:t>
            </a:r>
            <a:r>
              <a:rPr lang="en-US" dirty="0" err="1"/>
              <a:t>unidade</a:t>
            </a:r>
            <a:r>
              <a:rPr lang="en-US" dirty="0"/>
              <a:t>),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valor </a:t>
            </a:r>
            <a:r>
              <a:rPr lang="pt-BR" b="1" dirty="0"/>
              <a:t>raro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mas válido </a:t>
            </a:r>
            <a:r>
              <a:rPr lang="pt-BR" dirty="0"/>
              <a:t>(e.g., uma fraude),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pic>
        <p:nvPicPr>
          <p:cNvPr id="3074" name="Picture 2" descr="Encontrando valores outliers | by Paulo Victor dos Santos Tavares | Medium">
            <a:extLst>
              <a:ext uri="{FF2B5EF4-FFF2-40B4-BE49-F238E27FC236}">
                <a16:creationId xmlns:a16="http://schemas.microsoft.com/office/drawing/2014/main" id="{EAB14887-FA16-BCA7-4247-186D1C38B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25" t="19244" r="15860" b="12254"/>
          <a:stretch>
            <a:fillRect/>
          </a:stretch>
        </p:blipFill>
        <p:spPr bwMode="auto">
          <a:xfrm>
            <a:off x="418047" y="2460965"/>
            <a:ext cx="5013925" cy="308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9809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99E-3F01-BD0C-A687-ADBDCA09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AF9FE-17A9-CFAD-1B44-25248968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85A50-2573-8A48-5735-458CC7689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6"/>
          </a:xfrm>
        </p:spPr>
        <p:txBody>
          <a:bodyPr>
            <a:normAutofit/>
          </a:bodyPr>
          <a:lstStyle/>
          <a:p>
            <a:r>
              <a:rPr lang="pt-BR" dirty="0"/>
              <a:t>Distorcem estatísticas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Afetam média, desvio padrão e correlações.</a:t>
            </a:r>
          </a:p>
          <a:p>
            <a:r>
              <a:rPr lang="pt-BR" dirty="0"/>
              <a:t>Prejudicam visualizações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Esticam a escala e escondem padrões reais.</a:t>
            </a:r>
          </a:p>
          <a:p>
            <a:r>
              <a:rPr lang="pt-BR" dirty="0"/>
              <a:t>Impactam modelos de ML, especialmente os baseados em distância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Geram modelos enviesados e de pior desempenho.</a:t>
            </a:r>
          </a:p>
          <a:p>
            <a:r>
              <a:rPr lang="pt-BR" dirty="0"/>
              <a:t>Porém, podem revelar informação importante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revelar evento raro relevante </a:t>
            </a:r>
            <a:r>
              <a:rPr lang="pt-BR" dirty="0"/>
              <a:t>como fraude, falha em sistemas, ataques cibernéticos.</a:t>
            </a:r>
          </a:p>
        </p:txBody>
      </p:sp>
    </p:spTree>
    <p:extLst>
      <p:ext uri="{BB962C8B-B14F-4D97-AF65-F5344CB8AC3E}">
        <p14:creationId xmlns:p14="http://schemas.microsoft.com/office/powerpoint/2010/main" val="1290483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2192-9E8E-7091-1248-56280CB4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64A2-53D2-3D4F-D93B-A40510D31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1" y="1825624"/>
            <a:ext cx="6694714" cy="503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i="1" dirty="0"/>
              <a:t>A média salarial de quem largou Harvard é maior que a de quem se formou</a:t>
            </a:r>
            <a:r>
              <a:rPr lang="pt-BR" dirty="0"/>
              <a:t>. </a:t>
            </a:r>
          </a:p>
          <a:p>
            <a:r>
              <a:rPr lang="pt-BR" dirty="0"/>
              <a:t>Porém, largar a faculdade, provavelmente, não deixará vocês bilionários. </a:t>
            </a:r>
          </a:p>
          <a:p>
            <a:r>
              <a:rPr lang="pt-BR" dirty="0"/>
              <a:t>O dado está correto, mas ele é uma </a:t>
            </a:r>
            <a:r>
              <a:rPr lang="pt-BR" b="1" dirty="0"/>
              <a:t>exceção</a:t>
            </a:r>
            <a:r>
              <a:rPr lang="pt-BR" dirty="0"/>
              <a:t> (não um erro) tão grande que </a:t>
            </a:r>
            <a:r>
              <a:rPr lang="pt-BR" b="1" dirty="0">
                <a:solidFill>
                  <a:schemeClr val="accent2"/>
                </a:solidFill>
              </a:rPr>
              <a:t>destrói a representatividade da média</a:t>
            </a:r>
            <a:r>
              <a:rPr lang="pt-BR" dirty="0"/>
              <a:t>.</a:t>
            </a:r>
          </a:p>
        </p:txBody>
      </p:sp>
      <p:pic>
        <p:nvPicPr>
          <p:cNvPr id="1026" name="Picture 2" descr="come on do math : r/memes">
            <a:extLst>
              <a:ext uri="{FF2B5EF4-FFF2-40B4-BE49-F238E27FC236}">
                <a16:creationId xmlns:a16="http://schemas.microsoft.com/office/drawing/2014/main" id="{2DD01D0F-B7C7-EEBC-1DCC-7535DE885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657" y="1858282"/>
            <a:ext cx="4634593" cy="463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6448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F4AC-550F-2E7D-F229-EBC795213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90318-1C89-94DD-4DB7-79769EC39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857" y="1825624"/>
            <a:ext cx="5802086" cy="5032375"/>
          </a:xfrm>
        </p:spPr>
        <p:txBody>
          <a:bodyPr/>
          <a:lstStyle/>
          <a:p>
            <a:r>
              <a:rPr lang="pt-BR" i="1" dirty="0"/>
              <a:t>Outliers</a:t>
            </a:r>
            <a:r>
              <a:rPr lang="pt-BR" dirty="0"/>
              <a:t> são exceções. </a:t>
            </a:r>
          </a:p>
          <a:p>
            <a:r>
              <a:rPr lang="pt-BR" dirty="0"/>
              <a:t>Porém, exceções não são </a:t>
            </a:r>
            <a:r>
              <a:rPr lang="pt-BR" b="1" dirty="0">
                <a:solidFill>
                  <a:schemeClr val="accent2"/>
                </a:solidFill>
              </a:rPr>
              <a:t>necessariamente erros</a:t>
            </a:r>
            <a:r>
              <a:rPr lang="pt-BR" dirty="0"/>
              <a:t>.</a:t>
            </a:r>
            <a:endParaRPr lang="en-US" dirty="0"/>
          </a:p>
          <a:p>
            <a:r>
              <a:rPr lang="en-US" dirty="0"/>
              <a:t>Nunca </a:t>
            </a:r>
            <a:r>
              <a:rPr lang="en-US" dirty="0" err="1"/>
              <a:t>devemos</a:t>
            </a:r>
            <a:r>
              <a:rPr lang="en-US" dirty="0"/>
              <a:t> </a:t>
            </a:r>
            <a:r>
              <a:rPr lang="en-US" dirty="0" err="1"/>
              <a:t>removê-los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ignorá-los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investigar</a:t>
            </a:r>
            <a:r>
              <a:rPr lang="en-US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C28F8D-86DF-09E2-09E6-E487BE7E17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171" y="1825624"/>
            <a:ext cx="5236028" cy="28560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4E8608-6DDB-C7E5-172A-525CFF731ABD}"/>
              </a:ext>
            </a:extLst>
          </p:cNvPr>
          <p:cNvSpPr txBox="1"/>
          <p:nvPr/>
        </p:nvSpPr>
        <p:spPr>
          <a:xfrm>
            <a:off x="465363" y="4816576"/>
            <a:ext cx="54156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estivéssemos medindo a temperatura de um servidor e um sensor marcasse 500°C por um segundo, isso é um erro ou uma exceção que deve ser investigada?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2918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r>
              <a:rPr lang="pt-BR" dirty="0"/>
              <a:t>De forma visual: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Boxplot</a:t>
            </a:r>
            <a:r>
              <a:rPr lang="pt-BR" i="1" dirty="0"/>
              <a:t> </a:t>
            </a:r>
            <a:r>
              <a:rPr lang="pt-BR" dirty="0"/>
              <a:t>com</a:t>
            </a:r>
            <a:r>
              <a:rPr lang="pt-BR" i="1" dirty="0"/>
              <a:t> </a:t>
            </a:r>
            <a:r>
              <a:rPr lang="pt-BR" dirty="0"/>
              <a:t>intervalos interquartis (IQR)</a:t>
            </a:r>
            <a:endParaRPr lang="pt-BR" i="1" dirty="0"/>
          </a:p>
          <a:p>
            <a:r>
              <a:rPr lang="pt-BR" dirty="0"/>
              <a:t>De forma estatística: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Intervalo Interquartil (IQR)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Z-score (Anexo II)</a:t>
            </a:r>
          </a:p>
        </p:txBody>
      </p:sp>
    </p:spTree>
    <p:extLst>
      <p:ext uri="{BB962C8B-B14F-4D97-AF65-F5344CB8AC3E}">
        <p14:creationId xmlns:p14="http://schemas.microsoft.com/office/powerpoint/2010/main" val="41364509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Histograma</a:t>
            </a:r>
          </a:p>
          <a:p>
            <a:r>
              <a:rPr lang="pt-BR" dirty="0"/>
              <a:t>Usando a função </a:t>
            </a:r>
            <a:r>
              <a:rPr lang="en-US" sz="2400" b="1" dirty="0">
                <a:latin typeface="Consolas" panose="020B0609020204030204" pitchFamily="49" charset="0"/>
              </a:rPr>
              <a:t>hist</a:t>
            </a:r>
            <a:r>
              <a:rPr lang="en-US" dirty="0"/>
              <a:t> da</a:t>
            </a:r>
            <a:r>
              <a:rPr lang="pt-BR" dirty="0"/>
              <a:t> </a:t>
            </a:r>
            <a:r>
              <a:rPr lang="pt-BR" dirty="0" err="1"/>
              <a:t>matplotlib</a:t>
            </a:r>
            <a:endParaRPr lang="en-US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plt.hist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['Price'], bins=30)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Frequência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Histograma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’)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 </a:t>
            </a: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r>
              <a:rPr lang="en-US" b="1" dirty="0"/>
              <a:t>OBS</a:t>
            </a:r>
            <a:r>
              <a:rPr lang="en-US" dirty="0"/>
              <a:t>.: O </a:t>
            </a:r>
            <a:r>
              <a:rPr lang="en-US" dirty="0" err="1"/>
              <a:t>parâmetro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bins</a:t>
            </a:r>
            <a:r>
              <a:rPr lang="en-US" dirty="0"/>
              <a:t> </a:t>
            </a:r>
            <a:r>
              <a:rPr lang="en-US" dirty="0" err="1"/>
              <a:t>ajusta</a:t>
            </a:r>
            <a:r>
              <a:rPr lang="en-US" dirty="0"/>
              <a:t> o </a:t>
            </a:r>
            <a:r>
              <a:rPr lang="en-US" dirty="0" err="1"/>
              <a:t>tamanho</a:t>
            </a:r>
            <a:r>
              <a:rPr lang="en-US" dirty="0"/>
              <a:t> das </a:t>
            </a:r>
            <a:r>
              <a:rPr lang="en-US" dirty="0" err="1"/>
              <a:t>caixas</a:t>
            </a:r>
            <a:r>
              <a:rPr lang="en-US" dirty="0"/>
              <a:t> de </a:t>
            </a:r>
            <a:r>
              <a:rPr lang="en-US" dirty="0" err="1"/>
              <a:t>contagem</a:t>
            </a:r>
            <a:r>
              <a:rPr lang="en-US" dirty="0"/>
              <a:t> e é </a:t>
            </a:r>
            <a:r>
              <a:rPr lang="en-US" dirty="0" err="1"/>
              <a:t>opcional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padrão</a:t>
            </a:r>
            <a:r>
              <a:rPr lang="en-US" dirty="0"/>
              <a:t>, é </a:t>
            </a:r>
            <a:r>
              <a:rPr lang="en-US" dirty="0" err="1"/>
              <a:t>igual</a:t>
            </a:r>
            <a:r>
              <a:rPr lang="en-US" dirty="0"/>
              <a:t> a 10.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dirty="0" err="1"/>
              <a:t>valores</a:t>
            </a:r>
            <a:r>
              <a:rPr lang="en-US" dirty="0"/>
              <a:t> de 20 a 30.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0296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5ED-206E-365B-0153-99CE3C64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A34FB-5288-7D54-F8B7-7A7DE5FE4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A83A-8537-5171-F378-51FAC4FCF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dirty="0"/>
              <a:t>Histogramas ajudam, mas não são precisos sozinhos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Dependem do número de </a:t>
            </a:r>
            <a:r>
              <a:rPr lang="pt-BR" i="1" dirty="0" err="1"/>
              <a:t>bins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definem limites objetivos para identificação dos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“sumir” em um </a:t>
            </a:r>
            <a:r>
              <a:rPr lang="pt-BR" i="1" dirty="0"/>
              <a:t>bin</a:t>
            </a:r>
            <a:r>
              <a:rPr lang="pt-BR" dirty="0"/>
              <a:t> largo.</a:t>
            </a:r>
          </a:p>
          <a:p>
            <a:r>
              <a:rPr lang="pt-BR" dirty="0"/>
              <a:t>Eles são ótimos para uma visão geral, </a:t>
            </a:r>
            <a:r>
              <a:rPr lang="pt-BR" b="1" dirty="0">
                <a:solidFill>
                  <a:srgbClr val="7030A0"/>
                </a:solidFill>
              </a:rPr>
              <a:t>sugerem a presença</a:t>
            </a:r>
            <a:r>
              <a:rPr lang="pt-BR" dirty="0"/>
              <a:t>, mas </a:t>
            </a:r>
            <a:r>
              <a:rPr lang="pt-BR" b="1" dirty="0"/>
              <a:t>não devem ser usados para a decisão final</a:t>
            </a:r>
            <a:r>
              <a:rPr lang="pt-BR" dirty="0"/>
              <a:t>.</a:t>
            </a:r>
          </a:p>
          <a:p>
            <a:r>
              <a:rPr lang="pt-BR" dirty="0"/>
              <a:t>O que fazer então?</a:t>
            </a:r>
          </a:p>
          <a:p>
            <a:endParaRPr lang="pt-BR" dirty="0"/>
          </a:p>
          <a:p>
            <a:endParaRPr lang="en-US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id="{6A892D7C-AADC-34FB-014B-2D70FB355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93274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F002C-ED76-3067-594A-9D1F9EBAD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/>
              <a:t>outliers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CA18C-70C9-6151-A328-ADAA46D9E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7" y="3527366"/>
            <a:ext cx="3995056" cy="13498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>
                <a:solidFill>
                  <a:srgbClr val="7030A0"/>
                </a:solidFill>
              </a:rPr>
              <a:t>Como interpretar o gráfico?</a:t>
            </a:r>
            <a:endParaRPr lang="en-US" sz="4000" dirty="0"/>
          </a:p>
        </p:txBody>
      </p:sp>
      <p:pic>
        <p:nvPicPr>
          <p:cNvPr id="4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DFE5F07-069C-A9AE-8562-822277BD95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706452" y="2395650"/>
            <a:ext cx="7153035" cy="361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0AA3317-2C05-D4CF-10FC-C3A1F469A69F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113538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b="1" i="1"/>
              <a:t>Boxplot</a:t>
            </a:r>
            <a:endParaRPr lang="pt-BR" b="1" i="1" dirty="0"/>
          </a:p>
        </p:txBody>
      </p:sp>
    </p:spTree>
    <p:extLst>
      <p:ext uri="{BB962C8B-B14F-4D97-AF65-F5344CB8AC3E}">
        <p14:creationId xmlns:p14="http://schemas.microsoft.com/office/powerpoint/2010/main" val="34691687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A0B29A-F36F-81D4-C46E-EC6BCD066DA1}"/>
              </a:ext>
            </a:extLst>
          </p:cNvPr>
          <p:cNvSpPr txBox="1">
            <a:spLocks/>
          </p:cNvSpPr>
          <p:nvPr/>
        </p:nvSpPr>
        <p:spPr>
          <a:xfrm>
            <a:off x="6683828" y="1825624"/>
            <a:ext cx="5350329" cy="5032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central define o intervalo interquartil (IQR = Q3-Q1).</a:t>
            </a:r>
          </a:p>
          <a:p>
            <a:r>
              <a:rPr lang="pt-BR" b="1" dirty="0"/>
              <a:t>Borda inferior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primeiro quartil (Q1): 25% dos dados estão abaixo desse valor.</a:t>
            </a:r>
          </a:p>
          <a:p>
            <a:r>
              <a:rPr lang="pt-BR" b="1" dirty="0"/>
              <a:t>Linha dentro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b="1" dirty="0"/>
              <a:t> </a:t>
            </a:r>
            <a:r>
              <a:rPr lang="pt-BR" dirty="0"/>
              <a:t>→ mediana (Q2): valor central dos dados. Metade dos valores está acima e metade abaixo.</a:t>
            </a:r>
          </a:p>
          <a:p>
            <a:r>
              <a:rPr lang="pt-BR" b="1" dirty="0"/>
              <a:t>Borda superior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terceiro quartil (Q3): 75% dos dados estão abaixo desse valor.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006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b="1" dirty="0"/>
                  <a:t>Linhas que saem da caixa</a:t>
                </a:r>
                <a:r>
                  <a:rPr lang="pt-BR" dirty="0"/>
                  <a:t> → bigodes (</a:t>
                </a:r>
                <a:r>
                  <a:rPr lang="pt-BR" i="1" dirty="0" err="1"/>
                  <a:t>whiskers</a:t>
                </a:r>
                <a:r>
                  <a:rPr lang="pt-BR" dirty="0"/>
                  <a:t>): vão até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menor e maior valores que não são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limites são geralmente definidos por: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Q1 −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Q3 +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r>
                  <a:rPr lang="pt-BR" b="1" dirty="0"/>
                  <a:t>Pontos fora dos bigodes </a:t>
                </a:r>
                <a:r>
                  <a:rPr lang="pt-BR" dirty="0"/>
                  <a:t>→ possíveis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controla a sensibilidade: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padrão</a:t>
                </a:r>
                <a:r>
                  <a:rPr lang="pt-BR" dirty="0"/>
                  <a:t>) para </a:t>
                </a:r>
                <a:r>
                  <a:rPr lang="pt-BR" i="1" dirty="0"/>
                  <a:t>outliers</a:t>
                </a:r>
                <a:r>
                  <a:rPr lang="pt-BR" dirty="0"/>
                  <a:t> moderados,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=3.0</m:t>
                    </m:r>
                  </m:oMath>
                </a14:m>
                <a:r>
                  <a:rPr lang="pt-BR" dirty="0"/>
                  <a:t> para casos extremos.</a:t>
                </a: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  <a:blipFill>
                <a:blip r:embed="rId4"/>
                <a:stretch>
                  <a:fillRect l="-1933" t="-2663" r="-26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3508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F0240-DBED-302C-6359-B82C2FD3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2449D-5DD1-1F34-A15A-88F6B6353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5AF5C-FC96-BEE9-F3CF-9D0A8CC45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  <a:p>
            <a:r>
              <a:rPr lang="en-US" dirty="0" err="1"/>
              <a:t>Usando</a:t>
            </a:r>
            <a:r>
              <a:rPr lang="en-US" dirty="0"/>
              <a:t> a </a:t>
            </a:r>
            <a:r>
              <a:rPr lang="en-US" dirty="0" err="1"/>
              <a:t>função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boxplot</a:t>
            </a:r>
            <a:r>
              <a:rPr lang="en-US" dirty="0"/>
              <a:t> da matplotlib</a:t>
            </a:r>
            <a:endParaRPr lang="pt-BR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plt.boxplot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['Year'])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('Valores')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('Boxplot do 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542861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0D2E-90CD-0147-9BD4-AEFA3D9C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</a:t>
            </a:r>
            <a:r>
              <a:rPr lang="pt-BR" i="1" dirty="0" err="1"/>
              <a:t>boxplot</a:t>
            </a:r>
            <a:r>
              <a:rPr lang="pt-BR" dirty="0"/>
              <a:t> (IQR)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Robusto a valores extremos, pois usa </a:t>
                </a:r>
                <a:r>
                  <a:rPr lang="pt-BR" dirty="0" err="1"/>
                  <a:t>quantis</a:t>
                </a:r>
                <a:r>
                  <a:rPr lang="pt-BR" dirty="0"/>
                  <a:t> e não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mesmo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Fácil de interpretar visualmente (</a:t>
                </a:r>
                <a:r>
                  <a:rPr lang="pt-BR" i="1" dirty="0" err="1"/>
                  <a:t>boxplots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assume nenhuma distribuição específica dos dados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falhar em distribuições multimodais (vários picos)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é uma convenção prática e pode não ser ideal em todos os contextos.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Treine o modelo com e sem os </a:t>
                </a:r>
                <a:r>
                  <a:rPr lang="pt-BR" i="1" dirty="0"/>
                  <a:t>outliers</a:t>
                </a:r>
                <a:r>
                  <a:rPr lang="pt-BR" dirty="0"/>
                  <a:t> identificados por 1.5 e veja se a performance melhora.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Em conjuntos grandes,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pode definir muitos pontos como </a:t>
                </a:r>
                <a:r>
                  <a:rPr lang="pt-BR" i="1" dirty="0"/>
                  <a:t>outliers</a:t>
                </a:r>
                <a:r>
                  <a:rPr lang="pt-BR" dirty="0"/>
                  <a:t>, nesses casos, usar valor 3 ou ajustar empiricamente.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Ineficaz para conjuntos de dados pequenos, pois eles não representam a distribuição com precisão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 b="-23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28219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DF632-6282-292B-2F7F-A488A69B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métodos para detecção de </a:t>
            </a:r>
            <a:r>
              <a:rPr lang="pt-BR" i="1" dirty="0"/>
              <a:t>outliers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9AFE1-4AE2-748B-0989-60E24E26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43" y="1825624"/>
            <a:ext cx="6085113" cy="5032375"/>
          </a:xfrm>
        </p:spPr>
        <p:txBody>
          <a:bodyPr/>
          <a:lstStyle/>
          <a:p>
            <a:r>
              <a:rPr lang="pt-BR" dirty="0"/>
              <a:t>Além de IQR e Z-</a:t>
            </a:r>
            <a:r>
              <a:rPr lang="pt-BR" i="1" dirty="0"/>
              <a:t>score</a:t>
            </a:r>
            <a:r>
              <a:rPr lang="pt-BR" dirty="0"/>
              <a:t>, existem técnicas mais avançadas para detectar </a:t>
            </a:r>
            <a:r>
              <a:rPr lang="pt-BR" i="1" dirty="0"/>
              <a:t>outliers</a:t>
            </a:r>
            <a:r>
              <a:rPr lang="pt-BR" dirty="0"/>
              <a:t>,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algortimos</a:t>
            </a:r>
            <a:r>
              <a:rPr lang="en-US" dirty="0"/>
              <a:t> de ML: Isolation Forest, Local Outlier Factor, One-Class SVM, Autoencoders.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visuais</a:t>
            </a:r>
            <a:r>
              <a:rPr lang="en-US" dirty="0"/>
              <a:t>: </a:t>
            </a:r>
            <a:r>
              <a:rPr lang="pt-BR" i="1" dirty="0" err="1"/>
              <a:t>Violin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Combina </a:t>
            </a:r>
            <a:r>
              <a:rPr lang="pt-BR" i="1" dirty="0" err="1"/>
              <a:t>boxplot</a:t>
            </a:r>
            <a:r>
              <a:rPr lang="pt-BR" dirty="0"/>
              <a:t> com densidade das distribuições, destacando </a:t>
            </a:r>
            <a:r>
              <a:rPr lang="pt-BR" b="1" dirty="0">
                <a:solidFill>
                  <a:srgbClr val="7030A0"/>
                </a:solidFill>
              </a:rPr>
              <a:t>assimetrias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2050" name="Picture 2" descr="How to Interpret Violin Charts - LabXchange">
            <a:extLst>
              <a:ext uri="{FF2B5EF4-FFF2-40B4-BE49-F238E27FC236}">
                <a16:creationId xmlns:a16="http://schemas.microsoft.com/office/drawing/2014/main" id="{11364164-7F4D-03F3-93C9-6F600D1DF4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" t="5324" r="4667" b="5324"/>
          <a:stretch>
            <a:fillRect/>
          </a:stretch>
        </p:blipFill>
        <p:spPr bwMode="auto">
          <a:xfrm>
            <a:off x="304801" y="1997205"/>
            <a:ext cx="5387743" cy="4011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07599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a distância interquartil (IQR) em várias colunas </a:t>
            </a:r>
            <a:r>
              <a:rPr lang="pt-BR" b="1" dirty="0">
                <a:solidFill>
                  <a:schemeClr val="accent2"/>
                </a:solidFill>
              </a:rPr>
              <a:t>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Q1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].quantile(0.25)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Q3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].quantile(0.75)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IQR = Q3 - Q1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df_sem_outliers_iqr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    ~((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 &lt; (Q1 - 1.5 * IQR)) |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     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 &gt; (Q3 + 1.5 * IQR))).any(axis=1)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]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200" b="1" dirty="0"/>
              <a:t>OBS</a:t>
            </a:r>
            <a:r>
              <a:rPr lang="en-US" sz="2200" dirty="0"/>
              <a:t>.: </a:t>
            </a:r>
            <a:r>
              <a:rPr lang="en-US" sz="2000" dirty="0">
                <a:latin typeface="Consolas" panose="020B0609020204030204" pitchFamily="49" charset="0"/>
              </a:rPr>
              <a:t>’any(axis=1)’ 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se </a:t>
            </a:r>
            <a:r>
              <a:rPr lang="pt-BR" sz="2000" b="1" dirty="0">
                <a:solidFill>
                  <a:srgbClr val="7030A0"/>
                </a:solidFill>
              </a:rPr>
              <a:t>qualquer coluna daquela linha for </a:t>
            </a:r>
            <a:r>
              <a:rPr lang="pt-BR" sz="2000" b="1" i="1" dirty="0">
                <a:solidFill>
                  <a:srgbClr val="7030A0"/>
                </a:solidFill>
              </a:rPr>
              <a:t>outlier</a:t>
            </a:r>
            <a:r>
              <a:rPr lang="pt-BR" sz="2000" b="1" dirty="0">
                <a:solidFill>
                  <a:srgbClr val="7030A0"/>
                </a:solidFill>
              </a:rPr>
              <a:t> </a:t>
            </a:r>
            <a:r>
              <a:rPr lang="pt-BR" sz="2000" dirty="0"/>
              <a:t>(i.e., </a:t>
            </a:r>
            <a:r>
              <a:rPr lang="pt-BR" sz="2000" dirty="0" err="1"/>
              <a:t>True</a:t>
            </a:r>
            <a:r>
              <a:rPr lang="pt-BR" sz="2000" dirty="0"/>
              <a:t>). Assim, mantemos o dataset com o mesmo número de linhas.</a:t>
            </a:r>
            <a:endParaRPr lang="en-US" sz="2200" i="1" dirty="0"/>
          </a:p>
        </p:txBody>
      </p:sp>
    </p:spTree>
    <p:extLst>
      <p:ext uri="{BB962C8B-B14F-4D97-AF65-F5344CB8AC3E}">
        <p14:creationId xmlns:p14="http://schemas.microsoft.com/office/powerpoint/2010/main" val="34151143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7F4E2-A953-BA95-B11A-4967A894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2" name="Picture 4" descr="Correlation is not causation">
            <a:extLst>
              <a:ext uri="{FF2B5EF4-FFF2-40B4-BE49-F238E27FC236}">
                <a16:creationId xmlns:a16="http://schemas.microsoft.com/office/drawing/2014/main" id="{60AD3142-014A-6193-D629-4BB0A9DD3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9" y="2017257"/>
            <a:ext cx="5449877" cy="38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511B536-0992-FB4B-1DCF-E2E1616C8B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00" y="2141358"/>
            <a:ext cx="5797168" cy="383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3200" b="1" dirty="0"/>
              <a:t>Objetivo</a:t>
            </a:r>
            <a:r>
              <a:rPr lang="en-US" sz="3200" dirty="0"/>
              <a:t>: </a:t>
            </a:r>
            <a:r>
              <a:rPr lang="pt-BR" sz="3200" dirty="0"/>
              <a:t>descobrir </a:t>
            </a:r>
            <a:r>
              <a:rPr lang="pt-BR" sz="3200" b="1" dirty="0">
                <a:solidFill>
                  <a:schemeClr val="accent5"/>
                </a:solidFill>
              </a:rPr>
              <a:t>padrões e estruturas escondidas </a:t>
            </a:r>
            <a:r>
              <a:rPr lang="pt-BR" sz="3200" dirty="0"/>
              <a:t>nos dados.</a:t>
            </a:r>
          </a:p>
          <a:p>
            <a:pPr marL="0" indent="0">
              <a:buNone/>
            </a:pPr>
            <a:endParaRPr lang="pt-BR" sz="3200" dirty="0"/>
          </a:p>
          <a:p>
            <a:pPr marL="0" indent="0">
              <a:buNone/>
            </a:pPr>
            <a:r>
              <a:rPr lang="pt-BR" sz="3200" dirty="0"/>
              <a:t>Relações entre variáveis revelam:</a:t>
            </a:r>
          </a:p>
          <a:p>
            <a:r>
              <a:rPr lang="pt-BR" sz="3200" dirty="0"/>
              <a:t>Tendências</a:t>
            </a:r>
          </a:p>
          <a:p>
            <a:r>
              <a:rPr lang="pt-BR" sz="3200" dirty="0"/>
              <a:t>Dependências</a:t>
            </a:r>
          </a:p>
          <a:p>
            <a:r>
              <a:rPr lang="pt-BR" sz="3200" dirty="0"/>
              <a:t>Agrupamentos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64741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7855-7A3A-8DD9-CD0B-6DED2881E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4F40D-E284-8F76-174B-A3BA30632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0" name="Picture 2" descr="Correlation vs causation - don't let them fool you - Aspect Market Research">
            <a:extLst>
              <a:ext uri="{FF2B5EF4-FFF2-40B4-BE49-F238E27FC236}">
                <a16:creationId xmlns:a16="http://schemas.microsoft.com/office/drawing/2014/main" id="{120B10EC-553A-6C62-98FB-7F2D3164D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314" y="2028143"/>
            <a:ext cx="5247961" cy="3716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CC14B3-C0EE-4107-4C24-7E4D3D3F5919}"/>
              </a:ext>
            </a:extLst>
          </p:cNvPr>
          <p:cNvSpPr txBox="1"/>
          <p:nvPr/>
        </p:nvSpPr>
        <p:spPr>
          <a:xfrm>
            <a:off x="6193971" y="2132213"/>
            <a:ext cx="545971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/>
              <a:t>Importante!</a:t>
            </a:r>
          </a:p>
          <a:p>
            <a:pPr algn="ctr"/>
            <a:r>
              <a:rPr lang="en-US" sz="3600" b="1" dirty="0" err="1"/>
              <a:t>Correlação</a:t>
            </a:r>
            <a:r>
              <a:rPr lang="en-US" sz="3600" b="1" dirty="0"/>
              <a:t> </a:t>
            </a:r>
            <a:r>
              <a:rPr lang="en-US" sz="3600" b="1" dirty="0" err="1"/>
              <a:t>não</a:t>
            </a:r>
            <a:r>
              <a:rPr lang="en-US" sz="3600" b="1" dirty="0"/>
              <a:t> </a:t>
            </a:r>
            <a:r>
              <a:rPr lang="en-US" sz="3600" b="1" dirty="0" err="1"/>
              <a:t>implica</a:t>
            </a:r>
            <a:r>
              <a:rPr lang="en-US" sz="3600" b="1" dirty="0"/>
              <a:t> </a:t>
            </a:r>
            <a:r>
              <a:rPr lang="en-US" sz="3600" b="1" dirty="0" err="1"/>
              <a:t>causalidade</a:t>
            </a:r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r>
              <a:rPr lang="en-US" sz="3600" b="1" dirty="0">
                <a:solidFill>
                  <a:schemeClr val="accent5"/>
                </a:solidFill>
              </a:rPr>
              <a:t>Comer </a:t>
            </a:r>
            <a:r>
              <a:rPr lang="en-US" sz="3600" b="1" dirty="0" err="1">
                <a:solidFill>
                  <a:schemeClr val="accent5"/>
                </a:solidFill>
              </a:rPr>
              <a:t>frango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não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te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faz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ir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pra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lua</a:t>
            </a:r>
            <a:r>
              <a:rPr lang="en-US" sz="3600" b="1" dirty="0">
                <a:solidFill>
                  <a:schemeClr val="accent5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809556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7938" y="1825624"/>
            <a:ext cx="5082267" cy="5032375"/>
          </a:xfrm>
        </p:spPr>
        <p:txBody>
          <a:bodyPr>
            <a:normAutofit/>
          </a:bodyPr>
          <a:lstStyle/>
          <a:p>
            <a:r>
              <a:rPr lang="pt-BR" dirty="0"/>
              <a:t>Ao analisar relações, podemos responder: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realmente influencia o </a:t>
            </a:r>
            <a:r>
              <a:rPr lang="pt-BR" i="1" dirty="0"/>
              <a:t>target</a:t>
            </a:r>
            <a:r>
              <a:rPr lang="pt-BR" dirty="0"/>
              <a:t> (i.e., o rótulo)?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variável faz sentido nesse contexto?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 comportamento é esperado ou estranho?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08F25E-9273-70BA-8BC7-B1661FAB9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982"/>
          <a:stretch>
            <a:fillRect/>
          </a:stretch>
        </p:blipFill>
        <p:spPr>
          <a:xfrm>
            <a:off x="171795" y="1923903"/>
            <a:ext cx="3237899" cy="36030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4A51A9-BCCC-5A49-03E1-C55920166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82"/>
          <a:stretch>
            <a:fillRect/>
          </a:stretch>
        </p:blipFill>
        <p:spPr>
          <a:xfrm>
            <a:off x="3635113" y="1923903"/>
            <a:ext cx="3237899" cy="360302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B132EA1-4326-D179-08AF-928B6FFB0A14}"/>
              </a:ext>
            </a:extLst>
          </p:cNvPr>
          <p:cNvSpPr txBox="1"/>
          <p:nvPr/>
        </p:nvSpPr>
        <p:spPr>
          <a:xfrm>
            <a:off x="1347290" y="5760144"/>
            <a:ext cx="43204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Exemplo: encontrar relações como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Preço do carro ↑ conforme potência ↑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Consumo ↓ conforme peso ↑</a:t>
            </a:r>
          </a:p>
        </p:txBody>
      </p:sp>
    </p:spTree>
    <p:extLst>
      <p:ext uri="{BB962C8B-B14F-4D97-AF65-F5344CB8AC3E}">
        <p14:creationId xmlns:p14="http://schemas.microsoft.com/office/powerpoint/2010/main" val="6556453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832F-101E-1A13-A85A-D9287564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1C39-DBCC-4B6B-AEB6-37BD245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96C59-6F7E-3A93-19A9-B256361B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Relações entre variáveis ajudam 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selecionar atributos relevantes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atributos redundantes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</a:t>
            </a:r>
            <a:r>
              <a:rPr lang="pt-BR" dirty="0" err="1"/>
              <a:t>multicolinearidade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É quando </a:t>
            </a:r>
            <a:r>
              <a:rPr lang="pt-BR" b="1" dirty="0">
                <a:solidFill>
                  <a:srgbClr val="7030A0"/>
                </a:solidFill>
              </a:rPr>
              <a:t>dois ou mais </a:t>
            </a:r>
            <a:r>
              <a:rPr lang="pt-BR" b="1" dirty="0">
                <a:solidFill>
                  <a:schemeClr val="accent2"/>
                </a:solidFill>
              </a:rPr>
              <a:t>atributos</a:t>
            </a:r>
            <a:r>
              <a:rPr lang="pt-BR" b="1" dirty="0">
                <a:solidFill>
                  <a:srgbClr val="7030A0"/>
                </a:solidFill>
              </a:rPr>
              <a:t> estão altamente correlacionados</a:t>
            </a:r>
            <a:r>
              <a:rPr lang="pt-BR" dirty="0"/>
              <a:t> entre si, afetando negativamente a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interpretação dos coeficientes dos modelos,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generalização do modelo, levando a modelos instáveis,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predição dos modelos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modelos de ML adequados</a:t>
            </a:r>
          </a:p>
        </p:txBody>
      </p:sp>
    </p:spTree>
    <p:extLst>
      <p:ext uri="{BB962C8B-B14F-4D97-AF65-F5344CB8AC3E}">
        <p14:creationId xmlns:p14="http://schemas.microsoft.com/office/powerpoint/2010/main" val="7398748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41909-8216-9D2D-594A-1091741F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335C-F504-5D32-BB1B-9B0D7009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4E877-5175-E486-9E2F-39817E906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Para analisar essas relações usamos: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Matriz de correlação (</a:t>
            </a:r>
            <a:r>
              <a:rPr lang="pt-BR" i="1" dirty="0" err="1"/>
              <a:t>heatmap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Diagrama de dispersão (</a:t>
            </a:r>
            <a:r>
              <a:rPr lang="pt-BR" i="1" dirty="0" err="1"/>
              <a:t>scatterplot</a:t>
            </a:r>
            <a:r>
              <a:rPr lang="pt-BR" dirty="0"/>
              <a:t>)</a:t>
            </a:r>
          </a:p>
        </p:txBody>
      </p:sp>
      <p:pic>
        <p:nvPicPr>
          <p:cNvPr id="1026" name="Picture 2" descr="Scatter Plot - Quality Improvement - ELFT">
            <a:extLst>
              <a:ext uri="{FF2B5EF4-FFF2-40B4-BE49-F238E27FC236}">
                <a16:creationId xmlns:a16="http://schemas.microsoft.com/office/drawing/2014/main" id="{1A635F70-65D3-D2A1-267F-519E5EE2F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078" y="3358242"/>
            <a:ext cx="5560721" cy="340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B6E1719E-47EB-C0A6-CCC3-194BC9707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114" y="3429000"/>
            <a:ext cx="4014679" cy="3264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195388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1" cy="1325563"/>
          </a:xfrm>
        </p:spPr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 (</a:t>
            </a:r>
            <a:r>
              <a:rPr lang="pt-BR" i="1" dirty="0" err="1"/>
              <a:t>heatmap</a:t>
            </a:r>
            <a:r>
              <a:rPr lang="pt-BR" dirty="0"/>
              <a:t>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i="1" dirty="0" err="1"/>
                  <a:t>heatmap</a:t>
                </a:r>
                <a:r>
                  <a:rPr lang="pt-BR" dirty="0"/>
                  <a:t> mostra, de forma visual,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 de relação linear </a:t>
                </a:r>
                <a:r>
                  <a:rPr lang="pt-BR" dirty="0"/>
                  <a:t>entre </a:t>
                </a:r>
                <a:r>
                  <a:rPr lang="pt-BR" b="1" dirty="0">
                    <a:solidFill>
                      <a:srgbClr val="00B050"/>
                    </a:solidFill>
                  </a:rPr>
                  <a:t>pares</a:t>
                </a:r>
                <a:r>
                  <a:rPr lang="pt-BR" dirty="0"/>
                  <a:t> de variáveis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numéricas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Cada elemento da matriz é calculado usando-se o coeficiente de correlação de Pearson: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cov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dirty="0"/>
                  <a:t> variam de −1 a +1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  <a:blipFill>
                <a:blip r:embed="rId3"/>
                <a:stretch>
                  <a:fillRect l="-92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682FD-3BF2-6050-A02E-9CBB3217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CAC5840A-55EB-73F3-FDFB-546B6FDD35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: Quando uma variável aumenta, a outra também aumenta.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Quando uma variável aumenta, a outra diminui.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=±1</m:t>
                    </m:r>
                  </m:oMath>
                </a14:m>
                <a:r>
                  <a:rPr lang="pt-BR" dirty="0"/>
                  <a:t>, pontos formam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linha reta perfeita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-1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inversa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pt-BR" dirty="0"/>
                  <a:t>: Os pontos estão espalhados como uma "nuvem" </a:t>
                </a:r>
                <a:r>
                  <a:rPr lang="pt-BR" b="1" dirty="0">
                    <a:solidFill>
                      <a:srgbClr val="7030A0"/>
                    </a:solidFill>
                  </a:rPr>
                  <a:t>sem direção clara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há relação linear entre as variáveis.</a:t>
                </a: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4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08548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735A3-55E4-A8B7-6797-060E1E07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A68C6-A7AE-2D74-29E2-3ACDBF11D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1D4C6227-26B8-F9FA-1251-FABD63BCDD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não depende da inclinação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Inclinações mais ou menos acentuadas resultam no mesmo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também é igual a 0</a:t>
                </a:r>
                <a:r>
                  <a:rPr lang="pt-BR" noProof="0" dirty="0"/>
                  <a:t> se a correlação é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não-linear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Mesmo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noProof="0" dirty="0"/>
                  <a:t> sendo uma função não linear de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noProof="0" dirty="0"/>
                  <a:t> (e.g.,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noProof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),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será 0.</a:t>
                </a: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3"/>
                <a:stretch>
                  <a:fillRect t="-1937" r="-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65272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79883-84D1-FA96-B952-8AC395BB8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Identificar variáveis fortemente relacionadas.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Relacionadas linearmente.</a:t>
                </a:r>
                <a:endParaRPr lang="pt-BR" noProof="0" dirty="0"/>
              </a:p>
              <a:p>
                <a:r>
                  <a:rPr lang="pt-BR" noProof="0" dirty="0"/>
                  <a:t>Detectar </a:t>
                </a:r>
                <a:r>
                  <a:rPr lang="pt-BR" noProof="0" dirty="0" err="1"/>
                  <a:t>multicolinearidad</a:t>
                </a:r>
                <a:r>
                  <a:rPr lang="pt-BR" dirty="0"/>
                  <a:t>e</a:t>
                </a:r>
                <a:r>
                  <a:rPr lang="pt-BR" noProof="0" dirty="0"/>
                  <a:t> para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reduzir</a:t>
                </a:r>
                <a14:m>
                  <m:oMath xmlns:m="http://schemas.openxmlformats.org/officeDocument/2006/math">
                    <m:r>
                      <a:rPr lang="pt-BR" b="1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1" noProof="0" dirty="0">
                    <a:solidFill>
                      <a:schemeClr val="accent2"/>
                    </a:solidFill>
                  </a:rPr>
                  <a:t>redundância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Apoiar seleção de atributos.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Selecionar atributos que realmente influenciam no </a:t>
                </a:r>
                <a:r>
                  <a:rPr lang="pt-BR" i="1" dirty="0"/>
                  <a:t>target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Levantar hipóteses sobre relações entre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Relação pode ser modelada por uma reta?</a:t>
                </a:r>
                <a:endParaRPr lang="pt-BR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  <a:blipFill>
                <a:blip r:embed="rId3"/>
                <a:stretch>
                  <a:fillRect l="-1795" t="-1937" r="-1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FB7141BA-7A53-E764-1EA5-DD59A435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429" y="1913768"/>
            <a:ext cx="5279571" cy="429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1754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D7ACF-F546-3D69-A5AF-82586A83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4DA5A-3FB2-2177-9C65-846662D7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noProof="0" dirty="0"/>
                  <a:t>Limitações</a:t>
                </a:r>
                <a:endParaRPr lang="pt-BR" i="1" noProof="0" dirty="0">
                  <a:ea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sensível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por usar a média em seu cálculo.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noProof="0" dirty="0">
                    <a:solidFill>
                      <a:srgbClr val="7030A0"/>
                    </a:solidFill>
                  </a:rPr>
                  <a:t>Não mostra a forma da relação </a:t>
                </a:r>
                <a:r>
                  <a:rPr lang="pt-BR" noProof="0" dirty="0"/>
                  <a:t>e, portanto, não indica se 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relação é não-linear</a:t>
                </a:r>
                <a:r>
                  <a:rPr lang="pt-BR" noProof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Devemos analisar visualmente (</a:t>
                </a:r>
                <a:r>
                  <a:rPr lang="pt-BR" i="1" noProof="0" dirty="0" err="1"/>
                  <a:t>scatter</a:t>
                </a:r>
                <a:r>
                  <a:rPr lang="pt-BR" i="1" noProof="0" dirty="0"/>
                  <a:t> </a:t>
                </a:r>
                <a:r>
                  <a:rPr lang="pt-BR" i="1" noProof="0" dirty="0" err="1"/>
                  <a:t>plot</a:t>
                </a:r>
                <a:r>
                  <a:rPr lang="pt-BR" noProof="0" dirty="0"/>
                  <a:t>) e/ou com outro coeficiente, como o de </a:t>
                </a:r>
                <a:r>
                  <a:rPr lang="pt-BR" noProof="0" dirty="0" err="1"/>
                  <a:t>Spearman</a:t>
                </a:r>
                <a:r>
                  <a:rPr lang="pt-BR" dirty="0"/>
                  <a:t> (Anexo IV).</a:t>
                </a:r>
                <a:endParaRPr lang="pt-BR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  <a:blipFill>
                <a:blip r:embed="rId3"/>
                <a:stretch>
                  <a:fillRect l="-1670" t="-1937" r="-1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E8F851E8-11B2-E29A-E4FB-57C22AB37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2066168"/>
            <a:ext cx="5250108" cy="4269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02782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DE0D7-7904-F48C-5797-BC36691A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9B8-A712-091C-3351-616505FE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6590D-CF1C-1F01-2B95-9F8DE8CC6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Matriz de correlação com o coeficiente de Pearson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 = </a:t>
            </a:r>
            <a:r>
              <a:rPr lang="pt-BR" noProof="0" dirty="0" err="1">
                <a:latin typeface="Consolas" panose="020B0609020204030204" pitchFamily="49" charset="0"/>
              </a:rPr>
              <a:t>df.corr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method</a:t>
            </a:r>
            <a:r>
              <a:rPr lang="pt-BR" noProof="0" dirty="0">
                <a:latin typeface="Consolas" panose="020B0609020204030204" pitchFamily="49" charset="0"/>
              </a:rPr>
              <a:t>='</a:t>
            </a:r>
            <a:r>
              <a:rPr lang="pt-BR" noProof="0" dirty="0" err="1">
                <a:latin typeface="Consolas" panose="020B0609020204030204" pitchFamily="49" charset="0"/>
              </a:rPr>
              <a:t>pearson</a:t>
            </a:r>
            <a:r>
              <a:rPr lang="pt-BR" noProof="0" dirty="0">
                <a:latin typeface="Consolas" panose="020B0609020204030204" pitchFamily="49" charset="0"/>
              </a:rPr>
              <a:t>', </a:t>
            </a:r>
            <a:r>
              <a:rPr lang="pt-BR" noProof="0" dirty="0" err="1">
                <a:latin typeface="Consolas" panose="020B0609020204030204" pitchFamily="49" charset="0"/>
              </a:rPr>
              <a:t>numeric_only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plt.figure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sns.heatmap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, </a:t>
            </a:r>
            <a:r>
              <a:rPr lang="pt-BR" noProof="0" dirty="0" err="1">
                <a:latin typeface="Consolas" panose="020B0609020204030204" pitchFamily="49" charset="0"/>
              </a:rPr>
              <a:t>cmap</a:t>
            </a:r>
            <a:r>
              <a:rPr lang="pt-BR" noProof="0" dirty="0">
                <a:latin typeface="Consolas" panose="020B0609020204030204" pitchFamily="49" charset="0"/>
              </a:rPr>
              <a:t>="</a:t>
            </a:r>
            <a:r>
              <a:rPr lang="pt-BR" noProof="0" dirty="0" err="1">
                <a:latin typeface="Consolas" panose="020B0609020204030204" pitchFamily="49" charset="0"/>
              </a:rPr>
              <a:t>BrBG</a:t>
            </a:r>
            <a:r>
              <a:rPr lang="pt-BR" noProof="0" dirty="0">
                <a:latin typeface="Consolas" panose="020B0609020204030204" pitchFamily="49" charset="0"/>
              </a:rPr>
              <a:t>", </a:t>
            </a:r>
            <a:r>
              <a:rPr lang="pt-BR" noProof="0" dirty="0" err="1">
                <a:latin typeface="Consolas" panose="020B0609020204030204" pitchFamily="49" charset="0"/>
              </a:rPr>
              <a:t>annot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243294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46970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2"/>
                </a:solidFill>
              </a:rPr>
              <a:t>Mostra</a:t>
            </a:r>
            <a:r>
              <a:rPr lang="pt-BR" dirty="0"/>
              <a:t> a relação entre duas variáveis, </a:t>
            </a:r>
            <a:r>
              <a:rPr lang="pt-BR" b="1" dirty="0">
                <a:solidFill>
                  <a:srgbClr val="7030A0"/>
                </a:solidFill>
              </a:rPr>
              <a:t>revelando padrões que números não mostram</a:t>
            </a:r>
            <a:r>
              <a:rPr lang="pt-BR" dirty="0"/>
              <a:t>.</a:t>
            </a:r>
          </a:p>
          <a:p>
            <a:r>
              <a:rPr lang="pt-BR" dirty="0"/>
              <a:t>Permite visualizar: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 (</a:t>
            </a:r>
            <a:r>
              <a:rPr lang="en-US" dirty="0" err="1"/>
              <a:t>positiva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)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não-lineares,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(i.e., grupos)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</a:p>
        </p:txBody>
      </p:sp>
      <p:pic>
        <p:nvPicPr>
          <p:cNvPr id="9218" name="Picture 2" descr="How to Make a Scatter Plot: A Comprehensive Guide">
            <a:extLst>
              <a:ext uri="{FF2B5EF4-FFF2-40B4-BE49-F238E27FC236}">
                <a16:creationId xmlns:a16="http://schemas.microsoft.com/office/drawing/2014/main" id="{ADF2052A-9AFC-08F1-6CF9-FD881390BD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7" t="33016" r="8177" b="7142"/>
          <a:stretch>
            <a:fillRect/>
          </a:stretch>
        </p:blipFill>
        <p:spPr bwMode="auto">
          <a:xfrm>
            <a:off x="5290457" y="3810345"/>
            <a:ext cx="6585857" cy="2927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58046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09112-F964-BA26-EF07-7FFBF225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DC371-9129-299B-0280-1F8F36782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/>
          <a:lstStyle/>
          <a:p>
            <a:r>
              <a:rPr lang="pt-BR" dirty="0"/>
              <a:t>Limitações: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para poucas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 número de variáveis cresce, são necessários muitos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 análise vira um </a:t>
            </a:r>
            <a:r>
              <a:rPr lang="pt-BR" b="1" dirty="0">
                <a:solidFill>
                  <a:srgbClr val="7030A0"/>
                </a:solidFill>
              </a:rPr>
              <a:t>processo manual, cansativo e propenso ao erro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ficar poluído em </a:t>
            </a:r>
            <a:r>
              <a:rPr lang="pt-BR" i="1" dirty="0" err="1"/>
              <a:t>datasets</a:t>
            </a:r>
            <a:r>
              <a:rPr lang="pt-BR" dirty="0"/>
              <a:t> grandes: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pontos se sobrepõem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regiões densas viram “manchas”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i="1" dirty="0"/>
              <a:t>outliers</a:t>
            </a:r>
            <a:r>
              <a:rPr lang="pt-BR" dirty="0"/>
              <a:t> podem ficar escondidos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2310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DF7B9-0CCC-5B4D-85D2-17EA266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A853E-CF57-7F29-8F25-5E9DE6035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o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65F11-F487-7C76-21FF-19336F945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en-US" b="1" dirty="0" err="1"/>
              <a:t>Plotando</a:t>
            </a:r>
            <a:r>
              <a:rPr lang="en-US" b="1" dirty="0"/>
              <a:t> a </a:t>
            </a:r>
            <a:r>
              <a:rPr lang="en-US" b="1" dirty="0" err="1"/>
              <a:t>dispersão</a:t>
            </a:r>
            <a:r>
              <a:rPr lang="en-US" b="1" dirty="0"/>
              <a:t> de um par de </a:t>
            </a:r>
            <a:r>
              <a:rPr lang="en-US" b="1" dirty="0" err="1"/>
              <a:t>variáveis</a:t>
            </a:r>
            <a:endParaRPr lang="en-US" b="1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plt.scatter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['MPG-C'], 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('MPG-C')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('Price')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pt-BR" b="1" dirty="0"/>
              <a:t>Plotando </a:t>
            </a:r>
            <a:r>
              <a:rPr lang="pt-BR" b="1" dirty="0" err="1"/>
              <a:t>scatter</a:t>
            </a:r>
            <a:r>
              <a:rPr lang="pt-BR" b="1" dirty="0"/>
              <a:t> </a:t>
            </a:r>
            <a:r>
              <a:rPr lang="pt-BR" b="1" dirty="0" err="1"/>
              <a:t>plots</a:t>
            </a:r>
            <a:r>
              <a:rPr lang="pt-BR" b="1" dirty="0"/>
              <a:t> para todos os pares de variáveis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sns.pairplot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/>
              <a:t>OBS</a:t>
            </a:r>
            <a:r>
              <a:rPr lang="en-US" dirty="0"/>
              <a:t>.: </a:t>
            </a:r>
            <a:r>
              <a:rPr lang="en-US" dirty="0" err="1">
                <a:latin typeface="Consolas" panose="020B0609020204030204" pitchFamily="49" charset="0"/>
              </a:rPr>
              <a:t>pairplot</a:t>
            </a:r>
            <a:r>
              <a:rPr lang="en-US" dirty="0"/>
              <a:t> </a:t>
            </a:r>
            <a:r>
              <a:rPr lang="en-US" dirty="0" err="1"/>
              <a:t>plota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r>
              <a:rPr lang="pt-BR" i="1" dirty="0"/>
              <a:t> </a:t>
            </a:r>
            <a:r>
              <a:rPr lang="pt-BR" dirty="0"/>
              <a:t>para todos os pares de variáveis.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1244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C96A4-E794-4AE4-2D06-D06A4ACC3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</a:t>
            </a:r>
          </a:p>
          <a:p>
            <a:pPr marL="0" indent="0" algn="ctr">
              <a:buNone/>
            </a:pPr>
            <a:r>
              <a:rPr lang="pt-BR" sz="5400" dirty="0"/>
              <a:t>Preenchimento inteligente de dados faltantes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9952404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7D5B2-496C-0812-A081-7149C009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56330-85FB-E422-420F-B57EBAD2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Preenchimento inteligente</a:t>
                </a:r>
                <a:r>
                  <a:rPr lang="pt-BR" dirty="0"/>
                  <a:t>: </a:t>
                </a:r>
              </a:p>
              <a:p>
                <a:r>
                  <a:rPr lang="pt-BR" dirty="0"/>
                  <a:t>Usa estimativas dos valores faltantes obtidas através do padrão dos dados, não um valor fixo.</a:t>
                </a:r>
              </a:p>
              <a:p>
                <a:r>
                  <a:rPr lang="pt-BR" dirty="0"/>
                  <a:t>O valor faltante é estimado a partir de outras colunas e linhas do </a:t>
                </a:r>
                <a:r>
                  <a:rPr lang="pt-BR" i="1" dirty="0"/>
                  <a:t>dataset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Pode-se usar as classes da biblioteca </a:t>
                </a:r>
                <a:r>
                  <a:rPr lang="pt-BR" dirty="0" err="1"/>
                  <a:t>SciKit-Learn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KNNImputer</a:t>
                </a:r>
                <a:r>
                  <a:rPr lang="en-US" dirty="0"/>
                  <a:t>: </a:t>
                </a:r>
                <a:r>
                  <a:rPr lang="en-US" dirty="0" err="1"/>
                  <a:t>usa</a:t>
                </a:r>
                <a:r>
                  <a:rPr lang="en-US" dirty="0"/>
                  <a:t> a media das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amostras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“</a:t>
                </a:r>
                <a:r>
                  <a:rPr lang="en-US" dirty="0" err="1"/>
                  <a:t>próximas</a:t>
                </a:r>
                <a:r>
                  <a:rPr lang="en-US" dirty="0"/>
                  <a:t>”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IterativeImputer</a:t>
                </a:r>
                <a:r>
                  <a:rPr lang="en-US" dirty="0"/>
                  <a:t>: </a:t>
                </a:r>
                <a:r>
                  <a:rPr lang="en-US" dirty="0" err="1"/>
                  <a:t>treina</a:t>
                </a:r>
                <a:r>
                  <a:rPr lang="en-US" dirty="0"/>
                  <a:t> um </a:t>
                </a:r>
                <a:r>
                  <a:rPr lang="en-US" dirty="0" err="1"/>
                  <a:t>modelo</a:t>
                </a:r>
                <a:r>
                  <a:rPr lang="en-US" dirty="0"/>
                  <a:t> de </a:t>
                </a:r>
                <a:r>
                  <a:rPr lang="en-US" dirty="0" err="1"/>
                  <a:t>regressão</a:t>
                </a:r>
                <a:r>
                  <a:rPr lang="en-US" dirty="0"/>
                  <a:t> para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atributo</a:t>
                </a:r>
                <a:r>
                  <a:rPr lang="en-US" dirty="0"/>
                  <a:t> (i.e., </a:t>
                </a:r>
                <a:r>
                  <a:rPr lang="en-US" dirty="0" err="1"/>
                  <a:t>coluna</a:t>
                </a:r>
                <a:r>
                  <a:rPr lang="en-US" dirty="0"/>
                  <a:t>)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Funcionam apenas para dados numéricos.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  <a:blipFill>
                <a:blip r:embed="rId3"/>
                <a:stretch>
                  <a:fillRect l="-980" t="-1937" r="-1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3240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24E7-6271-81C2-5E65-14F014862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AE93-AB82-C01D-FD21-21C1F70D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B16EA-884E-2721-A174-A3DF9601F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34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KNNImputer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from </a:t>
            </a:r>
            <a:r>
              <a:rPr lang="en-US" sz="2000" dirty="0" err="1">
                <a:latin typeface="Consolas" panose="020B0609020204030204" pitchFamily="49" charset="0"/>
              </a:rPr>
              <a:t>sklearn.impute</a:t>
            </a:r>
            <a:r>
              <a:rPr lang="en-US" sz="2000" dirty="0">
                <a:latin typeface="Consolas" panose="020B0609020204030204" pitchFamily="49" charset="0"/>
              </a:rPr>
              <a:t> import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df.select_dtypes</a:t>
            </a:r>
            <a:r>
              <a:rPr lang="en-US" sz="2000" dirty="0">
                <a:latin typeface="Consolas" panose="020B0609020204030204" pitchFamily="49" charset="0"/>
              </a:rPr>
              <a:t>(include="number")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imputer =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n_neighbors</a:t>
            </a:r>
            <a:r>
              <a:rPr lang="en-US" sz="2000" dirty="0">
                <a:latin typeface="Consolas" panose="020B0609020204030204" pitchFamily="49" charset="0"/>
              </a:rPr>
              <a:t>=5) # </a:t>
            </a:r>
            <a:r>
              <a:rPr lang="en-US" sz="2000" dirty="0" err="1">
                <a:latin typeface="Consolas" panose="020B0609020204030204" pitchFamily="49" charset="0"/>
              </a:rPr>
              <a:t>número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vizinhos</a:t>
            </a:r>
            <a:r>
              <a:rPr lang="en-US" sz="2000" dirty="0">
                <a:latin typeface="Consolas" panose="020B0609020204030204" pitchFamily="49" charset="0"/>
              </a:rPr>
              <a:t>: 5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df_num_imputed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imputer.fit_transform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/>
              <a:t>OBS.1: O </a:t>
            </a:r>
            <a:r>
              <a:rPr lang="en-US" sz="2400" dirty="0" err="1"/>
              <a:t>método</a:t>
            </a:r>
            <a:r>
              <a:rPr lang="en-US" sz="2400" dirty="0"/>
              <a:t> ‘</a:t>
            </a:r>
            <a:r>
              <a:rPr lang="en-US" sz="2400" dirty="0" err="1">
                <a:latin typeface="Consolas" panose="020B0609020204030204" pitchFamily="49" charset="0"/>
              </a:rPr>
              <a:t>fit_transform</a:t>
            </a:r>
            <a:r>
              <a:rPr lang="en-US" sz="2400" dirty="0"/>
              <a:t>’ </a:t>
            </a:r>
            <a:r>
              <a:rPr lang="en-US" sz="2400" dirty="0" err="1"/>
              <a:t>treina</a:t>
            </a:r>
            <a:r>
              <a:rPr lang="en-US" sz="2400" dirty="0"/>
              <a:t> o </a:t>
            </a:r>
            <a:r>
              <a:rPr lang="en-US" sz="2400" dirty="0" err="1"/>
              <a:t>modelo</a:t>
            </a:r>
            <a:r>
              <a:rPr lang="en-US" sz="2400" dirty="0"/>
              <a:t> e </a:t>
            </a:r>
            <a:r>
              <a:rPr lang="en-US" sz="2400" dirty="0" err="1"/>
              <a:t>preenche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faltantes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OBS.2: </a:t>
            </a:r>
            <a:r>
              <a:rPr lang="pt-BR" sz="2400" dirty="0"/>
              <a:t>Em ML, calculamos o valor faltante </a:t>
            </a:r>
            <a:r>
              <a:rPr lang="pt-BR" sz="2400" b="1" dirty="0"/>
              <a:t>usando apenas os dados do conjunto de treinamento</a:t>
            </a:r>
            <a:r>
              <a:rPr lang="pt-BR" sz="2400" dirty="0"/>
              <a:t> (para evitar </a:t>
            </a:r>
            <a:r>
              <a:rPr lang="pt-BR" sz="2400" i="1" dirty="0"/>
              <a:t>data </a:t>
            </a:r>
            <a:r>
              <a:rPr lang="pt-BR" sz="2400" i="1" dirty="0" err="1"/>
              <a:t>leakage</a:t>
            </a:r>
            <a:r>
              <a:rPr lang="pt-BR" sz="2400" dirty="0"/>
              <a:t>). Isso é válido para qualquer pré-processamento/transformação de dados.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387180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E2E2B-24EC-C16C-5C5F-5356E8ED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A5E73-FB7F-BAE4-583D-13BA4DDE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1054-BC46-7797-5ED0-34F2E24B5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9862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IterativeImputer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>
                <a:latin typeface="Consolas" panose="020B0609020204030204" pitchFamily="49" charset="0"/>
              </a:rPr>
              <a:t>#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necessário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sklearn.experimental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enable_iterative_imputer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sklearn.impute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df.select_dtypes</a:t>
            </a:r>
            <a:r>
              <a:rPr lang="pt-BR" sz="2000" dirty="0">
                <a:latin typeface="Consolas" panose="020B0609020204030204" pitchFamily="49" charset="0"/>
              </a:rPr>
              <a:t>(include="</a:t>
            </a:r>
            <a:r>
              <a:rPr lang="pt-BR" sz="2000" dirty="0" err="1">
                <a:latin typeface="Consolas" panose="020B0609020204030204" pitchFamily="49" charset="0"/>
              </a:rPr>
              <a:t>number</a:t>
            </a:r>
            <a:r>
              <a:rPr lang="pt-BR" sz="2000" dirty="0">
                <a:latin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imputer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r>
              <a:rPr lang="pt-BR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df_num_imputed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imputer.fit_transform</a:t>
            </a:r>
            <a:r>
              <a:rPr lang="pt-BR" sz="2000" dirty="0">
                <a:latin typeface="Consolas" panose="020B0609020204030204" pitchFamily="49" charset="0"/>
              </a:rPr>
              <a:t>(</a:t>
            </a: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872928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92F8-9561-AF41-C928-7E5EBD71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5A95-5720-EFEF-0291-937E384F2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II: </a:t>
            </a:r>
          </a:p>
          <a:p>
            <a:pPr marL="0" indent="0" algn="ctr">
              <a:buNone/>
            </a:pPr>
            <a:r>
              <a:rPr lang="pt-BR" sz="5400" dirty="0"/>
              <a:t>Detectando </a:t>
            </a:r>
            <a:r>
              <a:rPr lang="pt-BR" sz="5400" i="1" dirty="0"/>
              <a:t>outliers</a:t>
            </a:r>
            <a:r>
              <a:rPr lang="pt-BR" sz="5400" dirty="0"/>
              <a:t> com Z-</a:t>
            </a:r>
            <a:r>
              <a:rPr lang="pt-BR" sz="5400" i="1" dirty="0"/>
              <a:t>score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7277549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Mede quantos desvios-padrão um valor está distante da média da distribuição.</a:t>
                </a:r>
              </a:p>
              <a:p>
                <a:r>
                  <a:rPr lang="pt-BR" dirty="0"/>
                  <a:t>Assume que os dados seguem uma distribuição semelhante à normal.</a:t>
                </a:r>
              </a:p>
              <a:p>
                <a:r>
                  <a:rPr lang="pt-BR" dirty="0"/>
                  <a:t>99.7% dos valores estão dentro do intervalo de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assume-se que valores maiores do que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possíveis </a:t>
                </a:r>
                <a:r>
                  <a:rPr lang="pt-BR" i="1" dirty="0" err="1"/>
                  <a:t>outliers</a:t>
                </a:r>
                <a:r>
                  <a:rPr lang="pt-BR" dirty="0"/>
                  <a:t>, pois são valores raros.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  <a:blipFill rotWithShape="0">
                <a:blip r:embed="rId2"/>
                <a:stretch>
                  <a:fillRect l="-191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Z Scores (Z Value) &amp; Z Tabl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4" t="5346"/>
          <a:stretch/>
        </p:blipFill>
        <p:spPr bwMode="auto">
          <a:xfrm>
            <a:off x="415636" y="2288566"/>
            <a:ext cx="4771506" cy="380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65522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Z-score de um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calculado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indica a distância até a média: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→ valor igual à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→ 1 desvio-padrão acima da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→ 2 desvios-padrão abaixo da média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  <a:blipFill rotWithShape="0">
                <a:blip r:embed="rId2"/>
                <a:stretch>
                  <a:fillRect l="-20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 descr="Master NIR Outlier Detection in Food Manufacturi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4" r="10317"/>
          <a:stretch/>
        </p:blipFill>
        <p:spPr bwMode="auto">
          <a:xfrm>
            <a:off x="127462" y="2366123"/>
            <a:ext cx="5968538" cy="343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8312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/>
              <a:t>Z-score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(include='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').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np.abs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stats.zscore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]))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 = (</a:t>
            </a: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&gt; 3).</a:t>
            </a:r>
            <a:r>
              <a:rPr lang="pt-BR" dirty="0" err="1">
                <a:latin typeface="Consolas" panose="020B0609020204030204" pitchFamily="49" charset="0"/>
              </a:rPr>
              <a:t>any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axis</a:t>
            </a:r>
            <a:r>
              <a:rPr lang="pt-BR" dirty="0">
                <a:latin typeface="Consolas" panose="020B0609020204030204" pitchFamily="49" charset="0"/>
              </a:rPr>
              <a:t>=1)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df_outliers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2487038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C2A6C-BECC-337A-4393-0CFA0419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32037-52C7-5E4B-D1EC-81E4B347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9F7DF-7AAA-4712-251C-F085B778A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Z-score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np.abs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stats.zscore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], </a:t>
            </a:r>
            <a:r>
              <a:rPr lang="en-US" sz="2200" dirty="0" err="1">
                <a:latin typeface="Consolas" panose="020B0609020204030204" pitchFamily="49" charset="0"/>
              </a:rPr>
              <a:t>nan_policy</a:t>
            </a:r>
            <a:r>
              <a:rPr lang="en-US" sz="2200" dirty="0">
                <a:latin typeface="Consolas" panose="020B0609020204030204" pitchFamily="49" charset="0"/>
              </a:rPr>
              <a:t>='omit'))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df_sem_outliers_z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[(</a:t>
            </a: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&lt; 3).all(axis=1)]</a:t>
            </a:r>
          </a:p>
          <a:p>
            <a:pPr marL="457200" lvl="1" indent="0">
              <a:buNone/>
            </a:pPr>
            <a:endParaRPr lang="en-US" sz="22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b="1" dirty="0"/>
              <a:t>OBS.1</a:t>
            </a:r>
            <a:r>
              <a:rPr lang="pt-BR" sz="2000" dirty="0"/>
              <a:t>: Ignora valores </a:t>
            </a:r>
            <a:r>
              <a:rPr lang="pt-BR" sz="2000" dirty="0" err="1"/>
              <a:t>NaN</a:t>
            </a:r>
            <a:r>
              <a:rPr lang="pt-BR" sz="2000" dirty="0"/>
              <a:t> no cálculo da média e do desvio padrão.</a:t>
            </a:r>
            <a:endParaRPr lang="en-US" sz="2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b="1" dirty="0"/>
              <a:t>OBS.2</a:t>
            </a:r>
            <a:r>
              <a:rPr lang="en-US" sz="2000" dirty="0"/>
              <a:t>: </a:t>
            </a:r>
            <a:r>
              <a:rPr lang="en-US" sz="2200" dirty="0">
                <a:latin typeface="Consolas" panose="020B0609020204030204" pitchFamily="49" charset="0"/>
              </a:rPr>
              <a:t>‘all(axis=1)’ </a:t>
            </a:r>
            <a:r>
              <a:rPr lang="en-US" sz="2000" dirty="0"/>
              <a:t>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somente se todas as colunas daquela linha tiverem </a:t>
            </a:r>
            <a:r>
              <a:rPr lang="pt-BR" dirty="0"/>
              <a:t>|z| &lt; 3, i.e., </a:t>
            </a:r>
            <a:r>
              <a:rPr lang="pt-BR" sz="2000" dirty="0"/>
              <a:t>se qualquer variável da linha for </a:t>
            </a:r>
            <a:r>
              <a:rPr lang="pt-BR" sz="2000" i="1" dirty="0"/>
              <a:t>outlier</a:t>
            </a:r>
            <a:r>
              <a:rPr lang="pt-BR" sz="2000" dirty="0"/>
              <a:t>, a linha inteira é removida.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80629668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11E60-97D7-DBC9-9FE6-EB1069DF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88CC6-79E6-492B-E81B-EF9B20BF3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Z-score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quando os dados seguem uma distribuição aproximadamente normal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Permite comparar atributos em escalas diferentes (dados são padronizados)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Simples de calcular e interpretar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Sensível a outliers, pois média e desvio-padrão são afetados por valores extremos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funciona bem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gerar muitos falsos positivos em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Parâmetros são necessários: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da população devem ser conhecidos.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Caso contrário, devem ser usadas estimativas da amostra, o que pode ser um problema com </a:t>
                </a:r>
                <a:r>
                  <a:rPr lang="pt-BR" i="1" dirty="0" err="1"/>
                  <a:t>datasets</a:t>
                </a:r>
                <a:r>
                  <a:rPr lang="pt-BR" dirty="0"/>
                  <a:t> pequenos.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91969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3F423-32E1-1034-FEC3-5D9751A15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D9294-7A84-B9BF-59E9-C442862438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III: </a:t>
            </a:r>
          </a:p>
          <a:p>
            <a:pPr marL="0" indent="0" algn="ctr">
              <a:buNone/>
            </a:pPr>
            <a:r>
              <a:rPr lang="pt-BR" sz="5400" dirty="0"/>
              <a:t>Correlação de </a:t>
            </a:r>
            <a:r>
              <a:rPr lang="pt-BR" sz="5400" dirty="0" err="1"/>
              <a:t>Spearman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705138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6830D-474B-07D3-CAA1-5E907CFF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48667-EA20-7AF9-704A-64EF48AA7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Spearman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2AEF05-5EAC-A042-49EA-B44A07C616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Mede a relação </a:t>
                </a:r>
                <a:r>
                  <a:rPr lang="pt-BR" b="1" dirty="0"/>
                  <a:t>monotônica</a:t>
                </a:r>
                <a:r>
                  <a:rPr lang="pt-BR" dirty="0"/>
                  <a:t> entre as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Mede se quando uma variável sobe, a outra também sobe ou desce, independentemente se é em linha reta ou curva.</a:t>
                </a:r>
              </a:p>
              <a:p>
                <a:r>
                  <a:rPr lang="pt-BR" dirty="0"/>
                  <a:t>Também avalia a relação de dados ordinais, i.e., dados que não são números exatos, mas têm uma ordem.</a:t>
                </a:r>
              </a:p>
              <a:p>
                <a:r>
                  <a:rPr lang="pt-BR" dirty="0"/>
                  <a:t>Valor próximo de 0 se a relação for não-monotônica, i.e., se ela mudar de direção (e.g.,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Menos sensível a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  <a:blipFill>
                <a:blip r:embed="rId2"/>
                <a:stretch>
                  <a:fillRect l="-1833" t="-2663" r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Spearman's Rank-Order Correlation - A guide to when to use it, what it does  and what the assumptions are.">
            <a:extLst>
              <a:ext uri="{FF2B5EF4-FFF2-40B4-BE49-F238E27FC236}">
                <a16:creationId xmlns:a16="http://schemas.microsoft.com/office/drawing/2014/main" id="{209AB1E3-5E47-92DB-C423-EAA8316C9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56" y="1570945"/>
            <a:ext cx="558165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pearman's Rank Correlation Explained: Learn How It Works">
            <a:extLst>
              <a:ext uri="{FF2B5EF4-FFF2-40B4-BE49-F238E27FC236}">
                <a16:creationId xmlns:a16="http://schemas.microsoft.com/office/drawing/2014/main" id="{BAD941F4-BA64-9C82-30AB-0821FC551F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56" b="11516"/>
          <a:stretch>
            <a:fillRect/>
          </a:stretch>
        </p:blipFill>
        <p:spPr bwMode="auto">
          <a:xfrm>
            <a:off x="185056" y="3666445"/>
            <a:ext cx="5652479" cy="21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84E87-DB86-3E2C-422C-92B61F74B56B}"/>
              </a:ext>
            </a:extLst>
          </p:cNvPr>
          <p:cNvSpPr txBox="1"/>
          <p:nvPr/>
        </p:nvSpPr>
        <p:spPr>
          <a:xfrm>
            <a:off x="185057" y="5934670"/>
            <a:ext cx="5581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os dados crescem em formato de curva (exponencial, logarítmica), o Pearson dará um valor baixo, mas o </a:t>
            </a:r>
            <a:r>
              <a:rPr lang="pt-BR" dirty="0" err="1"/>
              <a:t>Spearman</a:t>
            </a:r>
            <a:r>
              <a:rPr lang="pt-BR" dirty="0"/>
              <a:t> dará 1.0.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28781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EB8E7-9B3E-ABD6-5400-C19C82590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CB6FC-1460-40D4-81B5-50532AE9D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09C43-DE79-9D9A-B126-A5451C89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Usando o coeficiente de </a:t>
            </a:r>
            <a:r>
              <a:rPr lang="pt-BR" b="1" noProof="0" dirty="0" err="1"/>
              <a:t>Spearman</a:t>
            </a:r>
            <a:endParaRPr lang="pt-BR" b="1" noProof="0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df.corr</a:t>
            </a:r>
            <a:r>
              <a:rPr lang="en-US" dirty="0">
                <a:latin typeface="Consolas" panose="020B0609020204030204" pitchFamily="49" charset="0"/>
              </a:rPr>
              <a:t>(method='spearman', </a:t>
            </a:r>
            <a:r>
              <a:rPr lang="en-US" dirty="0" err="1">
                <a:latin typeface="Consolas" panose="020B0609020204030204" pitchFamily="49" charset="0"/>
              </a:rPr>
              <a:t>numeric_only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plt.figure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sns.heatmap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cmap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BrBG</a:t>
            </a:r>
            <a:r>
              <a:rPr lang="en-US" dirty="0">
                <a:latin typeface="Consolas" panose="020B0609020204030204" pitchFamily="49" charset="0"/>
              </a:rPr>
              <a:t>", </a:t>
            </a:r>
            <a:r>
              <a:rPr lang="en-US" dirty="0" err="1">
                <a:latin typeface="Consolas" panose="020B0609020204030204" pitchFamily="49" charset="0"/>
              </a:rPr>
              <a:t>annot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095923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3C395-9900-9D1C-1E17-4F9E20B2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751C8-7A80-008D-4A32-CC03A531B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IV: </a:t>
            </a:r>
          </a:p>
          <a:p>
            <a:pPr marL="0" indent="0" algn="ctr">
              <a:buNone/>
            </a:pPr>
            <a:r>
              <a:rPr lang="pt-BR" sz="5400" dirty="0"/>
              <a:t>Análise exploratória automática com p</a:t>
            </a:r>
            <a:r>
              <a:rPr lang="en-US" sz="5400" dirty="0" err="1"/>
              <a:t>andas</a:t>
            </a:r>
            <a:r>
              <a:rPr lang="en-US" sz="5400" dirty="0"/>
              <a:t> </a:t>
            </a:r>
            <a:r>
              <a:rPr lang="en-US" sz="5400" i="1" dirty="0"/>
              <a:t>profiling</a:t>
            </a:r>
          </a:p>
        </p:txBody>
      </p:sp>
    </p:spTree>
    <p:extLst>
      <p:ext uri="{BB962C8B-B14F-4D97-AF65-F5344CB8AC3E}">
        <p14:creationId xmlns:p14="http://schemas.microsoft.com/office/powerpoint/2010/main" val="178315663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6360E-3395-2D8B-6B09-2BE030CAE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</a:t>
            </a:r>
            <a:r>
              <a:rPr lang="en-US" i="1" dirty="0"/>
              <a:t>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352C8-5FEE-B68D-8E54-4AB4DD844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dirty="0"/>
              <a:t>O Pandas </a:t>
            </a:r>
            <a:r>
              <a:rPr lang="pt-BR" dirty="0" err="1"/>
              <a:t>profiling</a:t>
            </a:r>
            <a:r>
              <a:rPr lang="pt-BR" dirty="0"/>
              <a:t> </a:t>
            </a:r>
            <a:r>
              <a:rPr lang="en-US" dirty="0"/>
              <a:t>(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i="1" dirty="0" err="1"/>
              <a:t>ydata</a:t>
            </a:r>
            <a:r>
              <a:rPr lang="en-US" i="1" dirty="0"/>
              <a:t>-profiling</a:t>
            </a:r>
            <a:r>
              <a:rPr lang="en-US" dirty="0"/>
              <a:t>) </a:t>
            </a:r>
            <a:r>
              <a:rPr lang="pt-BR" dirty="0"/>
              <a:t>é uma biblioteca que automatiza grande parte da análise exploratória de dados (EDA) gerando um relatório completo com uma única linha de código.</a:t>
            </a:r>
          </a:p>
          <a:p>
            <a:r>
              <a:rPr lang="pt-BR" dirty="0"/>
              <a:t>O relatório que inclui: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Resumo geral dos dados: número de linhas e colunas, tipos de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Estatísticas </a:t>
            </a:r>
            <a:r>
              <a:rPr lang="pt-BR" dirty="0" err="1"/>
              <a:t>univariadas</a:t>
            </a:r>
            <a:r>
              <a:rPr lang="pt-BR" dirty="0"/>
              <a:t>: média, mediana, moda, desvios-padrão, histogramas.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Identificação de problemas: valores faltantes, duplicatas e potenciais anomalias.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Correlação e interações entre variáveis numéricas e categóricas.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Visualizações: de distribuições, barras, densidades e matrizes de correlação. </a:t>
            </a:r>
          </a:p>
          <a:p>
            <a:r>
              <a:rPr lang="pt-BR" dirty="0"/>
              <a:t>O relatório pode ser salvo em HTML ou em um </a:t>
            </a:r>
            <a:r>
              <a:rPr lang="pt-BR" i="1" dirty="0"/>
              <a:t>notebook</a:t>
            </a:r>
            <a:r>
              <a:rPr lang="pt-BR" dirty="0"/>
              <a:t> </a:t>
            </a:r>
            <a:r>
              <a:rPr lang="pt-BR" dirty="0" err="1"/>
              <a:t>Jupyter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731038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5F506-610B-1C2A-4E39-730057E14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gerar o relatório?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E0357-9624-BD95-052E-2C60B5741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</a:rPr>
              <a:t>ydata_profiling</a:t>
            </a:r>
            <a:r>
              <a:rPr lang="en-US" sz="2400" dirty="0">
                <a:latin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profile =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df</a:t>
            </a:r>
            <a:r>
              <a:rPr lang="en-US" sz="2400" dirty="0">
                <a:latin typeface="Consolas" panose="020B0609020204030204" pitchFamily="49" charset="0"/>
              </a:rPr>
              <a:t>, title="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de Dados")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Salva </a:t>
            </a:r>
            <a:r>
              <a:rPr lang="en-US" sz="2400" dirty="0" err="1">
                <a:latin typeface="Consolas" panose="020B0609020204030204" pitchFamily="49" charset="0"/>
              </a:rPr>
              <a:t>em</a:t>
            </a:r>
            <a:r>
              <a:rPr lang="en-US" sz="2400" dirty="0">
                <a:latin typeface="Consolas" panose="020B0609020204030204" pitchFamily="49" charset="0"/>
              </a:rPr>
              <a:t> um </a:t>
            </a:r>
            <a:r>
              <a:rPr lang="en-US" sz="2400" dirty="0" err="1">
                <a:latin typeface="Consolas" panose="020B0609020204030204" pitchFamily="49" charset="0"/>
              </a:rPr>
              <a:t>arquivo</a:t>
            </a:r>
            <a:r>
              <a:rPr lang="en-US" sz="2400" dirty="0">
                <a:latin typeface="Consolas" panose="020B0609020204030204" pitchFamily="49" charset="0"/>
              </a:rPr>
              <a:t> HTML.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profile.to_file</a:t>
            </a:r>
            <a:r>
              <a:rPr lang="en-US" sz="2400" dirty="0">
                <a:latin typeface="Consolas" panose="020B0609020204030204" pitchFamily="49" charset="0"/>
              </a:rPr>
              <a:t>("relatorio.html")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Abre o 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no notebook </a:t>
            </a:r>
            <a:r>
              <a:rPr lang="en-US" sz="2400" dirty="0" err="1">
                <a:latin typeface="Consolas" panose="020B0609020204030204" pitchFamily="49" charset="0"/>
              </a:rPr>
              <a:t>Jupyter</a:t>
            </a:r>
            <a:r>
              <a:rPr lang="en-US" sz="2400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profile.to_notebook_iframe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282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11a5ff7d3abb0f60f17ce3cc5ebd283c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b3fd21d8c5002fa22959d5df3145c663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FB04486-FAE2-4DEC-9B10-3189AEF48EE8}">
  <ds:schemaRefs>
    <ds:schemaRef ds:uri="http://purl.org/dc/dcmitype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26c264a-64f6-48aa-bde0-8bf9e5064f89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8E5C6A9C-16CF-4693-891A-204951DC87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AD40479-F249-4189-A98B-7BF4A8E8CB5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10601</TotalTime>
  <Words>5915</Words>
  <Application>Microsoft Office PowerPoint</Application>
  <PresentationFormat>Widescreen</PresentationFormat>
  <Paragraphs>667</Paragraphs>
  <Slides>69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7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Análise Exploratória de Dados (EDA)</vt:lpstr>
      <vt:lpstr>PowerPoint Presentation</vt:lpstr>
      <vt:lpstr>Introdução</vt:lpstr>
      <vt:lpstr>Por que realizar análise exploratória?</vt:lpstr>
      <vt:lpstr>Inspeção visual e estatística</vt:lpstr>
      <vt:lpstr>PowerPoint Presentation</vt:lpstr>
      <vt:lpstr>Tipo dos dados</vt:lpstr>
      <vt:lpstr>Tipo dos dados</vt:lpstr>
      <vt:lpstr>Variáveis qualitativas</vt:lpstr>
      <vt:lpstr>Variáveis quantitativas</vt:lpstr>
      <vt:lpstr>Etapas de exploração dos dados</vt:lpstr>
      <vt:lpstr>Inspeção inicial dos dados</vt:lpstr>
      <vt:lpstr>Limpeza dos dados</vt:lpstr>
      <vt:lpstr>Removendo valores irrelevantes</vt:lpstr>
      <vt:lpstr>Removendo duplicatas</vt:lpstr>
      <vt:lpstr>Tratando valores faltantes</vt:lpstr>
      <vt:lpstr>Técnicas para o tratamento de valores ausentes</vt:lpstr>
      <vt:lpstr>Técnicas para o tratamento de valores ausentes</vt:lpstr>
      <vt:lpstr>Técnicas para o tratamento de valores ausentes</vt:lpstr>
      <vt:lpstr>Técnicas para o tratamento de valores ausentes</vt:lpstr>
      <vt:lpstr>O que é um outlier?</vt:lpstr>
      <vt:lpstr>O que é um outlier?</vt:lpstr>
      <vt:lpstr>O que é um outlier?</vt:lpstr>
      <vt:lpstr>O que eles causam?</vt:lpstr>
      <vt:lpstr>O que eles causam?</vt:lpstr>
      <vt:lpstr>O que eles causam?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Vantagens e desvantagens: boxplot (IQR)</vt:lpstr>
      <vt:lpstr>Outros métodos para detecção de outliers</vt:lpstr>
      <vt:lpstr>Como remover outliers?</vt:lpstr>
      <vt:lpstr>Relação entre variáveis</vt:lpstr>
      <vt:lpstr>Relação entre variáveis</vt:lpstr>
      <vt:lpstr>Relação entre variáveis</vt:lpstr>
      <vt:lpstr>Relação entre variáveis</vt:lpstr>
      <vt:lpstr>Relação entre variáveis</vt:lpstr>
      <vt:lpstr>Matriz de correlação (heatmap)</vt:lpstr>
      <vt:lpstr>Correlação de Pearson</vt:lpstr>
      <vt:lpstr>Correlação de Pearson</vt:lpstr>
      <vt:lpstr>Para que serve a matriz de correlação?</vt:lpstr>
      <vt:lpstr>Para que serve a matriz de correlação?</vt:lpstr>
      <vt:lpstr>Plotando a matriz de correlação</vt:lpstr>
      <vt:lpstr>Diagrama de dispersão (scatter plot)</vt:lpstr>
      <vt:lpstr>Diagrama de dispersão (scatter plot)</vt:lpstr>
      <vt:lpstr>Plotando o diagrama de dispersão</vt:lpstr>
      <vt:lpstr>Exemplo</vt:lpstr>
      <vt:lpstr>PowerPoint Presentation</vt:lpstr>
      <vt:lpstr>PowerPoint Presentation</vt:lpstr>
      <vt:lpstr>PowerPoint Presentation</vt:lpstr>
      <vt:lpstr>Técnicas para o tratamento de valores ausentes</vt:lpstr>
      <vt:lpstr>Tratando valores faltantes</vt:lpstr>
      <vt:lpstr>Tratando valores faltantes</vt:lpstr>
      <vt:lpstr>PowerPoint Presentation</vt:lpstr>
      <vt:lpstr>Como detectar outliers?</vt:lpstr>
      <vt:lpstr>Como detectar outliers?</vt:lpstr>
      <vt:lpstr>Como detectar outliers?</vt:lpstr>
      <vt:lpstr>Como remover outliers?</vt:lpstr>
      <vt:lpstr>Vantagens e desvantagens: Z-score</vt:lpstr>
      <vt:lpstr>PowerPoint Presentation</vt:lpstr>
      <vt:lpstr>Correlação de Spearman</vt:lpstr>
      <vt:lpstr>Plotando a matriz de correlação</vt:lpstr>
      <vt:lpstr>PowerPoint Presentation</vt:lpstr>
      <vt:lpstr>Pandas profiling</vt:lpstr>
      <vt:lpstr>Como gerar o relatório?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2082</cp:revision>
  <dcterms:created xsi:type="dcterms:W3CDTF">2020-01-20T13:50:05Z</dcterms:created>
  <dcterms:modified xsi:type="dcterms:W3CDTF">2026-03-02T20:46:09Z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