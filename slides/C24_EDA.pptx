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handoutMasterIdLst>
    <p:handoutMasterId r:id="rId22"/>
  </p:handoutMasterIdLst>
  <p:sldIdLst>
    <p:sldId id="256" r:id="rId2"/>
    <p:sldId id="315" r:id="rId3"/>
    <p:sldId id="307" r:id="rId4"/>
    <p:sldId id="318" r:id="rId5"/>
    <p:sldId id="317" r:id="rId6"/>
    <p:sldId id="326" r:id="rId7"/>
    <p:sldId id="327" r:id="rId8"/>
    <p:sldId id="328" r:id="rId9"/>
    <p:sldId id="325" r:id="rId10"/>
    <p:sldId id="320" r:id="rId11"/>
    <p:sldId id="321" r:id="rId12"/>
    <p:sldId id="322" r:id="rId13"/>
    <p:sldId id="323" r:id="rId14"/>
    <p:sldId id="324" r:id="rId15"/>
    <p:sldId id="329" r:id="rId16"/>
    <p:sldId id="308" r:id="rId17"/>
    <p:sldId id="316" r:id="rId18"/>
    <p:sldId id="293" r:id="rId19"/>
    <p:sldId id="306" r:id="rId20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79540" autoAdjust="0"/>
  </p:normalViewPr>
  <p:slideViewPr>
    <p:cSldViewPr snapToGrid="0">
      <p:cViewPr varScale="1">
        <p:scale>
          <a:sx n="88" d="100"/>
          <a:sy n="88" d="100"/>
        </p:scale>
        <p:origin x="1698" y="66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-126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22/01/2026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intro_eda.ipynb" TargetMode="External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Curadoria é a função de </a:t>
            </a:r>
            <a:r>
              <a:rPr lang="pt-BR" b="1" dirty="0">
                <a:effectLst/>
              </a:rPr>
              <a:t>cuidar, selecionar, organizar e apresentar</a:t>
            </a:r>
            <a:r>
              <a:rPr lang="pt-BR" dirty="0"/>
              <a:t> um conjunto de obras, informações ou projetos, criando uma narrativa ou contexto significativo para o público.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88553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Taxonomia: </a:t>
            </a:r>
            <a:r>
              <a:rPr lang="pt-B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ciência ou técnica de classificação.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437386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9442921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26229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Quartis são </a:t>
            </a:r>
            <a:r>
              <a:rPr lang="pt-BR" b="1" dirty="0"/>
              <a:t>valores que dividem um conjunto de dados ordenado em quatro partes iguais</a:t>
            </a:r>
            <a:r>
              <a:rPr lang="pt-BR" dirty="0"/>
              <a:t>, cada uma contendo </a:t>
            </a:r>
            <a:r>
              <a:rPr lang="pt-BR" b="1" dirty="0"/>
              <a:t>25%</a:t>
            </a:r>
            <a:r>
              <a:rPr lang="pt-BR" dirty="0"/>
              <a:t> das observações.</a:t>
            </a:r>
          </a:p>
          <a:p>
            <a:endParaRPr lang="pt-BR" dirty="0"/>
          </a:p>
          <a:p>
            <a:r>
              <a:rPr lang="pt-BR" b="1" dirty="0"/>
              <a:t>Os quatro quartis</a:t>
            </a:r>
          </a:p>
          <a:p>
            <a:r>
              <a:rPr lang="pt-BR" b="1" dirty="0"/>
              <a:t>Q1 (1º quartil)</a:t>
            </a:r>
            <a:r>
              <a:rPr lang="pt-BR" dirty="0"/>
              <a:t> → 25% dos dados estão </a:t>
            </a:r>
            <a:r>
              <a:rPr lang="pt-BR" b="1" dirty="0"/>
              <a:t>abaixo</a:t>
            </a:r>
            <a:r>
              <a:rPr lang="pt-BR" dirty="0"/>
              <a:t> dele</a:t>
            </a:r>
          </a:p>
          <a:p>
            <a:r>
              <a:rPr lang="pt-BR" b="1" dirty="0"/>
              <a:t>Q2 (2º quartil)</a:t>
            </a:r>
            <a:r>
              <a:rPr lang="pt-BR" dirty="0"/>
              <a:t> → 50% dos dados estão </a:t>
            </a:r>
            <a:r>
              <a:rPr lang="pt-BR" b="1" dirty="0"/>
              <a:t>abaixo</a:t>
            </a:r>
            <a:r>
              <a:rPr lang="pt-BR" dirty="0"/>
              <a:t> dele</a:t>
            </a:r>
            <a:br>
              <a:rPr lang="pt-BR" dirty="0"/>
            </a:br>
            <a:r>
              <a:rPr lang="pt-BR" dirty="0"/>
              <a:t>👉 é a </a:t>
            </a:r>
            <a:r>
              <a:rPr lang="pt-BR" b="1" dirty="0"/>
              <a:t>mediana</a:t>
            </a:r>
            <a:endParaRPr lang="pt-BR" dirty="0"/>
          </a:p>
          <a:p>
            <a:r>
              <a:rPr lang="pt-BR" b="1" dirty="0"/>
              <a:t>Q3 (3º quartil)</a:t>
            </a:r>
            <a:r>
              <a:rPr lang="pt-BR" dirty="0"/>
              <a:t> → 75% dos dados estão </a:t>
            </a:r>
            <a:r>
              <a:rPr lang="pt-BR" b="1" dirty="0"/>
              <a:t>abaixo</a:t>
            </a:r>
            <a:r>
              <a:rPr lang="pt-BR" dirty="0"/>
              <a:t> dele</a:t>
            </a:r>
          </a:p>
          <a:p>
            <a:r>
              <a:rPr lang="pt-BR" b="1" dirty="0"/>
              <a:t>Q4</a:t>
            </a:r>
            <a:r>
              <a:rPr lang="pt-BR" dirty="0"/>
              <a:t> → valor máximo (às vezes citado informalmente)</a:t>
            </a:r>
          </a:p>
          <a:p>
            <a:endParaRPr lang="en-US" dirty="0"/>
          </a:p>
          <a:p>
            <a:r>
              <a:rPr lang="en-US" dirty="0" err="1"/>
              <a:t>Exemplo</a:t>
            </a:r>
            <a:r>
              <a:rPr lang="en-US" dirty="0"/>
              <a:t>: </a:t>
            </a:r>
            <a:r>
              <a:rPr lang="en-US" dirty="0">
                <a:hlinkClick r:id="rId3"/>
              </a:rPr>
              <a:t>https://colab.research.google.com/github/zz4fap/c24_inteligencia_artificial/blob/master/notebooks/intro_eda.ipynb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793020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intro_eda.ipynb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code/imoore/intro-to-exploratory-data-analysis-eda-in-python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597971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8971" y="836433"/>
            <a:ext cx="11201400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br>
              <a:rPr lang="pt-BR" sz="7200" dirty="0"/>
            </a:br>
            <a:r>
              <a:rPr lang="pt-BR" sz="7200" b="1" dirty="0"/>
              <a:t>Análise Exploratória de Dados (EDA)</a:t>
            </a:r>
            <a:endParaRPr lang="pt-BR" sz="7200" b="1" i="1" dirty="0"/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Exploratory Data Analysis (EDA)through Data Visualization. | by Michael  Ngecha | Medium">
            <a:extLst>
              <a:ext uri="{FF2B5EF4-FFF2-40B4-BE49-F238E27FC236}">
                <a16:creationId xmlns:a16="http://schemas.microsoft.com/office/drawing/2014/main" id="{B13B8774-B804-6B29-8825-D56539EBF0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4596" y="993321"/>
            <a:ext cx="7469414" cy="4871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84F3ECF-0562-63DD-49E8-BDC0AE061BAE}"/>
              </a:ext>
            </a:extLst>
          </p:cNvPr>
          <p:cNvSpPr txBox="1"/>
          <p:nvPr/>
        </p:nvSpPr>
        <p:spPr>
          <a:xfrm>
            <a:off x="8298180" y="2397947"/>
            <a:ext cx="354547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/>
              <a:t>Etapa executada antes da construção e treinamento dos modelos de ML.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5792991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Introdução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02087" y="1825624"/>
            <a:ext cx="6204856" cy="5032375"/>
          </a:xfrm>
        </p:spPr>
        <p:txBody>
          <a:bodyPr/>
          <a:lstStyle/>
          <a:p>
            <a:r>
              <a:rPr lang="pt-BR" dirty="0"/>
              <a:t>É o primeiro passo em qualquer projeto de ciência de dados, incluindo ML.</a:t>
            </a:r>
          </a:p>
          <a:p>
            <a:r>
              <a:rPr lang="pt-BR" dirty="0"/>
              <a:t>EDA nos ajudar a identificar: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erros óbvios nos dados,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compreender os padrões nos dados,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detectar valores discrepantes, faltantes, duplicados ou eventos anômalos,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encontrar relações entre as variáveis 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descobrir quais variáveis realmente importam.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C8613DC-A437-4282-CBE3-E2051081F7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057" y="1825624"/>
            <a:ext cx="4811486" cy="4811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118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4A0189-07D9-7182-C49F-053B36583A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realizar análise exploratória?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9158B5-68E9-E42E-59A2-B618E69A0B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7886" y="1825624"/>
            <a:ext cx="5573484" cy="5032375"/>
          </a:xfrm>
        </p:spPr>
        <p:txBody>
          <a:bodyPr/>
          <a:lstStyle/>
          <a:p>
            <a:r>
              <a:rPr lang="pt-BR" dirty="0"/>
              <a:t>A análise exploratória é uma espécie de curadoria dos dados.</a:t>
            </a:r>
          </a:p>
          <a:p>
            <a:r>
              <a:rPr lang="pt-BR" dirty="0"/>
              <a:t>Ela garante que o modelo de ML não aprenda com lixo. </a:t>
            </a:r>
          </a:p>
          <a:p>
            <a:r>
              <a:rPr lang="pt-BR" dirty="0"/>
              <a:t>Se o dado de entrada é ruim, a previsão será pior ainda.</a:t>
            </a:r>
            <a:endParaRPr lang="en-US" dirty="0"/>
          </a:p>
        </p:txBody>
      </p:sp>
      <p:pic>
        <p:nvPicPr>
          <p:cNvPr id="1026" name="Picture 2" descr="Machine Learning — Garbage in Garbage Out | by Ritresh Girdhar | Medium">
            <a:extLst>
              <a:ext uri="{FF2B5EF4-FFF2-40B4-BE49-F238E27FC236}">
                <a16:creationId xmlns:a16="http://schemas.microsoft.com/office/drawing/2014/main" id="{1B7547F4-3D77-E9AF-BE27-E93FA57A1E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6170" y="2242459"/>
            <a:ext cx="5655677" cy="31459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354637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2D4A1-A378-83FF-6C9A-4A09E09FD0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Inspeção visual e estatística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D13CB1-C083-7C27-6EF9-0E24F7336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3886" y="1825624"/>
            <a:ext cx="10842171" cy="5032375"/>
          </a:xfrm>
        </p:spPr>
        <p:txBody>
          <a:bodyPr>
            <a:normAutofit lnSpcReduction="10000"/>
          </a:bodyPr>
          <a:lstStyle/>
          <a:p>
            <a:r>
              <a:rPr lang="pt-BR" noProof="0" dirty="0"/>
              <a:t>Utilizamos ferramentas estatísticas e de visualização como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Histogramas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Heatmaps</a:t>
            </a:r>
            <a:r>
              <a:rPr lang="pt-BR" dirty="0"/>
              <a:t> de correlação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noProof="0" dirty="0" err="1"/>
              <a:t>Boxplots</a:t>
            </a:r>
            <a:endParaRPr lang="pt-BR" i="1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Gráficos de barras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</a:t>
            </a:r>
            <a:r>
              <a:rPr lang="pt-BR" noProof="0" dirty="0" err="1"/>
              <a:t>iagramas</a:t>
            </a:r>
            <a:r>
              <a:rPr lang="pt-BR" noProof="0" dirty="0"/>
              <a:t> de dispersão</a:t>
            </a:r>
          </a:p>
          <a:p>
            <a:r>
              <a:rPr lang="pt-BR" noProof="0" dirty="0"/>
              <a:t>Bibliotecas mais usadas: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Pandas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Numpy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 err="1"/>
              <a:t>Scikit-learn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Matplotlib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 err="1"/>
              <a:t>Seaborn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Sweetviz</a:t>
            </a:r>
            <a:endParaRPr lang="pt-BR" noProof="0" dirty="0"/>
          </a:p>
        </p:txBody>
      </p:sp>
      <p:pic>
        <p:nvPicPr>
          <p:cNvPr id="2050" name="Picture 2" descr="python - Boxplot of Multiple Columns of a Pandas Dataframe on the Same  Figure (seaborn) - Stack Overflow">
            <a:extLst>
              <a:ext uri="{FF2B5EF4-FFF2-40B4-BE49-F238E27FC236}">
                <a16:creationId xmlns:a16="http://schemas.microsoft.com/office/drawing/2014/main" id="{AC874FC9-D4DF-FCCE-7D4C-6E37E308A9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79394" y="2677886"/>
            <a:ext cx="2428496" cy="17485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Histogram notes in python with pandas and matplotlib | Andrew Wheeler">
            <a:extLst>
              <a:ext uri="{FF2B5EF4-FFF2-40B4-BE49-F238E27FC236}">
                <a16:creationId xmlns:a16="http://schemas.microsoft.com/office/drawing/2014/main" id="{7E0AD8A1-106B-D18C-9700-EACF0D6422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8908" y="2764971"/>
            <a:ext cx="2419646" cy="1576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Visualizing Data (within and beyond Python)">
            <a:extLst>
              <a:ext uri="{FF2B5EF4-FFF2-40B4-BE49-F238E27FC236}">
                <a16:creationId xmlns:a16="http://schemas.microsoft.com/office/drawing/2014/main" id="{EF509281-F0C0-4694-DA02-F00FA0D08C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64" t="6302" r="9465"/>
          <a:stretch>
            <a:fillRect/>
          </a:stretch>
        </p:blipFill>
        <p:spPr bwMode="auto">
          <a:xfrm>
            <a:off x="10149573" y="2764971"/>
            <a:ext cx="1947564" cy="1576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Ler arquivo com pandas">
            <a:extLst>
              <a:ext uri="{FF2B5EF4-FFF2-40B4-BE49-F238E27FC236}">
                <a16:creationId xmlns:a16="http://schemas.microsoft.com/office/drawing/2014/main" id="{579213CA-F5EB-9CFF-96B4-5DB0B3F403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5576" y="4861000"/>
            <a:ext cx="1290599" cy="12905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Numpy">
            <a:extLst>
              <a:ext uri="{FF2B5EF4-FFF2-40B4-BE49-F238E27FC236}">
                <a16:creationId xmlns:a16="http://schemas.microsoft.com/office/drawing/2014/main" id="{7EAB4F95-FDE0-6834-5E7D-03DE080C3D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61956" y="4770021"/>
            <a:ext cx="1381578" cy="1381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4" name="Picture 16" descr="scikit-learn – Wikipédia, a enciclopédia livre">
            <a:extLst>
              <a:ext uri="{FF2B5EF4-FFF2-40B4-BE49-F238E27FC236}">
                <a16:creationId xmlns:a16="http://schemas.microsoft.com/office/drawing/2014/main" id="{4DCCB2DA-192C-6143-B932-730DB43497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3221" y="4606692"/>
            <a:ext cx="2035629" cy="1099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6" name="Picture 18" descr="Customising figures in Matplotlib">
            <a:extLst>
              <a:ext uri="{FF2B5EF4-FFF2-40B4-BE49-F238E27FC236}">
                <a16:creationId xmlns:a16="http://schemas.microsoft.com/office/drawing/2014/main" id="{F3211FE7-2189-7EED-A346-6EC6D89B3B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30443" y="4712719"/>
            <a:ext cx="2661557" cy="8871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8" name="Picture 20" descr="GitHub - mwaskom/seaborn: Statistical data visualization in Python">
            <a:extLst>
              <a:ext uri="{FF2B5EF4-FFF2-40B4-BE49-F238E27FC236}">
                <a16:creationId xmlns:a16="http://schemas.microsoft.com/office/drawing/2014/main" id="{45EF3399-EB7A-56BB-8320-695CAC8097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38538" y="5452393"/>
            <a:ext cx="2569028" cy="1284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Sweetviz">
            <a:extLst>
              <a:ext uri="{FF2B5EF4-FFF2-40B4-BE49-F238E27FC236}">
                <a16:creationId xmlns:a16="http://schemas.microsoft.com/office/drawing/2014/main" id="{0C3F2009-0A94-FA32-9039-802ED5A1F3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5827" y="6076840"/>
            <a:ext cx="2750279" cy="6600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04847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 dos dados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148753" cy="5032375"/>
          </a:xfrm>
        </p:spPr>
        <p:txBody>
          <a:bodyPr>
            <a:normAutofit/>
          </a:bodyPr>
          <a:lstStyle/>
          <a:p>
            <a:r>
              <a:rPr lang="pt-BR" dirty="0"/>
              <a:t>Antes de explorarmos os dados, precisamos entender a sua taxonomia.</a:t>
            </a:r>
          </a:p>
          <a:p>
            <a:r>
              <a:rPr lang="pt-BR" dirty="0"/>
              <a:t>As variáveis (i.e., atributos ou rótulos) podem ser classificadas da seguinte forma:</a:t>
            </a:r>
          </a:p>
        </p:txBody>
      </p:sp>
      <p:grpSp>
        <p:nvGrpSpPr>
          <p:cNvPr id="24" name="Grupo 23"/>
          <p:cNvGrpSpPr/>
          <p:nvPr/>
        </p:nvGrpSpPr>
        <p:grpSpPr>
          <a:xfrm>
            <a:off x="3662697" y="3429000"/>
            <a:ext cx="4866605" cy="2825174"/>
            <a:chOff x="249382" y="2602667"/>
            <a:chExt cx="4295052" cy="2825174"/>
          </a:xfrm>
        </p:grpSpPr>
        <p:sp>
          <p:nvSpPr>
            <p:cNvPr id="4" name="CaixaDeTexto 3"/>
            <p:cNvSpPr txBox="1"/>
            <p:nvPr/>
          </p:nvSpPr>
          <p:spPr>
            <a:xfrm>
              <a:off x="249382" y="3816628"/>
              <a:ext cx="103810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Variável</a:t>
              </a:r>
            </a:p>
          </p:txBody>
        </p:sp>
        <p:sp>
          <p:nvSpPr>
            <p:cNvPr id="5" name="CaixaDeTexto 4"/>
            <p:cNvSpPr txBox="1"/>
            <p:nvPr/>
          </p:nvSpPr>
          <p:spPr>
            <a:xfrm>
              <a:off x="1684710" y="3009481"/>
              <a:ext cx="135582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Qualitativa</a:t>
              </a:r>
            </a:p>
          </p:txBody>
        </p:sp>
        <p:sp>
          <p:nvSpPr>
            <p:cNvPr id="6" name="CaixaDeTexto 5"/>
            <p:cNvSpPr txBox="1"/>
            <p:nvPr/>
          </p:nvSpPr>
          <p:spPr>
            <a:xfrm>
              <a:off x="1684710" y="4622642"/>
              <a:ext cx="151695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Quantitativa</a:t>
              </a:r>
            </a:p>
          </p:txBody>
        </p:sp>
        <p:sp>
          <p:nvSpPr>
            <p:cNvPr id="7" name="CaixaDeTexto 6"/>
            <p:cNvSpPr txBox="1"/>
            <p:nvPr/>
          </p:nvSpPr>
          <p:spPr>
            <a:xfrm>
              <a:off x="3397132" y="2602667"/>
              <a:ext cx="108876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Nominal</a:t>
              </a:r>
            </a:p>
          </p:txBody>
        </p:sp>
        <p:sp>
          <p:nvSpPr>
            <p:cNvPr id="8" name="CaixaDeTexto 7"/>
            <p:cNvSpPr txBox="1"/>
            <p:nvPr/>
          </p:nvSpPr>
          <p:spPr>
            <a:xfrm>
              <a:off x="3397132" y="3496617"/>
              <a:ext cx="97340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Ordinal</a:t>
              </a:r>
            </a:p>
          </p:txBody>
        </p:sp>
        <p:sp>
          <p:nvSpPr>
            <p:cNvPr id="9" name="CaixaDeTexto 8"/>
            <p:cNvSpPr txBox="1"/>
            <p:nvPr/>
          </p:nvSpPr>
          <p:spPr>
            <a:xfrm>
              <a:off x="3397132" y="4196861"/>
              <a:ext cx="104797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Discreta</a:t>
              </a:r>
            </a:p>
          </p:txBody>
        </p:sp>
        <p:sp>
          <p:nvSpPr>
            <p:cNvPr id="10" name="CaixaDeTexto 9"/>
            <p:cNvSpPr txBox="1"/>
            <p:nvPr/>
          </p:nvSpPr>
          <p:spPr>
            <a:xfrm>
              <a:off x="3397132" y="5027731"/>
              <a:ext cx="114730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Contínua</a:t>
              </a:r>
            </a:p>
          </p:txBody>
        </p:sp>
        <p:cxnSp>
          <p:nvCxnSpPr>
            <p:cNvPr id="12" name="Conector de seta reta 11"/>
            <p:cNvCxnSpPr>
              <a:stCxn id="4" idx="3"/>
              <a:endCxn id="5" idx="1"/>
            </p:cNvCxnSpPr>
            <p:nvPr/>
          </p:nvCxnSpPr>
          <p:spPr>
            <a:xfrm flipV="1">
              <a:off x="1287487" y="3209536"/>
              <a:ext cx="397223" cy="80714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13"/>
            <p:cNvCxnSpPr>
              <a:stCxn id="4" idx="3"/>
            </p:cNvCxnSpPr>
            <p:nvPr/>
          </p:nvCxnSpPr>
          <p:spPr>
            <a:xfrm>
              <a:off x="1287487" y="4016683"/>
              <a:ext cx="406367" cy="79062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15"/>
            <p:cNvCxnSpPr>
              <a:stCxn id="5" idx="3"/>
              <a:endCxn id="7" idx="1"/>
            </p:cNvCxnSpPr>
            <p:nvPr/>
          </p:nvCxnSpPr>
          <p:spPr>
            <a:xfrm flipV="1">
              <a:off x="3040530" y="2802722"/>
              <a:ext cx="356602" cy="40681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17"/>
            <p:cNvCxnSpPr>
              <a:stCxn id="5" idx="3"/>
              <a:endCxn id="8" idx="1"/>
            </p:cNvCxnSpPr>
            <p:nvPr/>
          </p:nvCxnSpPr>
          <p:spPr>
            <a:xfrm>
              <a:off x="3040530" y="3209536"/>
              <a:ext cx="356602" cy="48713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19"/>
            <p:cNvCxnSpPr>
              <a:stCxn id="6" idx="3"/>
              <a:endCxn id="9" idx="1"/>
            </p:cNvCxnSpPr>
            <p:nvPr/>
          </p:nvCxnSpPr>
          <p:spPr>
            <a:xfrm flipV="1">
              <a:off x="3201664" y="4396916"/>
              <a:ext cx="195468" cy="42578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21"/>
            <p:cNvCxnSpPr>
              <a:stCxn id="6" idx="3"/>
              <a:endCxn id="10" idx="1"/>
            </p:cNvCxnSpPr>
            <p:nvPr/>
          </p:nvCxnSpPr>
          <p:spPr>
            <a:xfrm>
              <a:off x="3201664" y="4822697"/>
              <a:ext cx="195468" cy="4050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952616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1148753" cy="1325563"/>
          </a:xfrm>
        </p:spPr>
        <p:txBody>
          <a:bodyPr>
            <a:normAutofit/>
          </a:bodyPr>
          <a:lstStyle/>
          <a:p>
            <a:r>
              <a:rPr lang="pt-BR" dirty="0"/>
              <a:t>Tipo dos dados: variáveis qualitativas (categóricas)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615543" y="1825624"/>
            <a:ext cx="7371411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São categorias, símbolos, nomes ou rótulos.</a:t>
            </a:r>
          </a:p>
          <a:p>
            <a:pPr marL="0" indent="0">
              <a:buNone/>
            </a:pPr>
            <a:r>
              <a:rPr lang="pt-BR" dirty="0"/>
              <a:t>Elas descrevem uma qualidade.</a:t>
            </a:r>
          </a:p>
          <a:p>
            <a:pPr marL="0" indent="0">
              <a:buNone/>
            </a:pPr>
            <a:r>
              <a:rPr lang="pt-BR" dirty="0"/>
              <a:t>Algumas podem ser ordenadas, mas operações aritméticas não são aplicáveis.</a:t>
            </a:r>
          </a:p>
          <a:p>
            <a:r>
              <a:rPr lang="pt-BR" b="1" dirty="0"/>
              <a:t>Nominal</a:t>
            </a:r>
            <a:r>
              <a:rPr lang="pt-BR" dirty="0"/>
              <a:t>: Não existe uma ordem inerente.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Sistemas Operacionais (Linux, Windows, </a:t>
            </a:r>
            <a:r>
              <a:rPr lang="pt-BR" dirty="0" err="1"/>
              <a:t>macOS</a:t>
            </a:r>
            <a:r>
              <a:rPr lang="pt-BR" dirty="0"/>
              <a:t>), Cores de LED, Tipos de Banco de Dados.</a:t>
            </a:r>
          </a:p>
          <a:p>
            <a:r>
              <a:rPr lang="pt-BR" b="1" dirty="0"/>
              <a:t>Ordinal</a:t>
            </a:r>
            <a:r>
              <a:rPr lang="pt-BR" dirty="0"/>
              <a:t>: Existe uma hierarquia ou ordem lógica.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Febre (baixa, média, alta), Nível de Senioridade (Junior, Pleno, Sênior), Planos de Assinatura (Free, Premium, Enterprise).</a:t>
            </a:r>
          </a:p>
        </p:txBody>
      </p:sp>
      <p:pic>
        <p:nvPicPr>
          <p:cNvPr id="11" name="Picture 2" descr="Data Types in Data Science | Towards Data Science">
            <a:extLst>
              <a:ext uri="{FF2B5EF4-FFF2-40B4-BE49-F238E27FC236}">
                <a16:creationId xmlns:a16="http://schemas.microsoft.com/office/drawing/2014/main" id="{39E1B175-32CE-F079-D61C-8CB4F743966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3"/>
          <a:stretch>
            <a:fillRect/>
          </a:stretch>
        </p:blipFill>
        <p:spPr bwMode="auto">
          <a:xfrm>
            <a:off x="368143" y="2449286"/>
            <a:ext cx="4044443" cy="3098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434195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1148753" cy="1325563"/>
          </a:xfrm>
        </p:spPr>
        <p:txBody>
          <a:bodyPr>
            <a:normAutofit/>
          </a:bodyPr>
          <a:lstStyle/>
          <a:p>
            <a:r>
              <a:rPr lang="pt-BR" dirty="0"/>
              <a:t>Tipo dos dados: variáveis quantitativas (numéricas)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528457" y="1825624"/>
            <a:ext cx="7458497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pt-BR" dirty="0"/>
              <a:t>São números reais. </a:t>
            </a:r>
          </a:p>
          <a:p>
            <a:pPr marL="0" indent="0">
              <a:buNone/>
            </a:pPr>
            <a:r>
              <a:rPr lang="pt-BR" dirty="0"/>
              <a:t>Podem ser ordenados e usados em operações aritméticas (e.g., média, variância). </a:t>
            </a:r>
          </a:p>
          <a:p>
            <a:pPr marL="0" indent="0">
              <a:buNone/>
            </a:pPr>
            <a:r>
              <a:rPr lang="pt-BR" dirty="0"/>
              <a:t>Possuem unidade de medida.</a:t>
            </a:r>
          </a:p>
          <a:p>
            <a:r>
              <a:rPr lang="pt-BR" b="1" dirty="0"/>
              <a:t>Discreta:</a:t>
            </a:r>
            <a:r>
              <a:rPr lang="pt-BR" dirty="0"/>
              <a:t> Valores contáveis, geralmente números inteiros.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Quantidade de núcleos da CPU, número de bugs abertos no </a:t>
            </a:r>
            <a:r>
              <a:rPr lang="pt-BR" dirty="0" err="1"/>
              <a:t>Jira</a:t>
            </a:r>
            <a:r>
              <a:rPr lang="pt-BR" dirty="0"/>
              <a:t>, total de usuários ativos.</a:t>
            </a:r>
          </a:p>
          <a:p>
            <a:r>
              <a:rPr lang="pt-BR" b="1" dirty="0"/>
              <a:t>Contínua:</a:t>
            </a:r>
            <a:r>
              <a:rPr lang="pt-BR" dirty="0"/>
              <a:t> Valores que podem assumir qualquer número dentro de um intervalo.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Tempo de resposta de uma API, latência de rede, tamanho de um arquivo em MB, temperatura do processador.</a:t>
            </a:r>
          </a:p>
        </p:txBody>
      </p:sp>
      <p:pic>
        <p:nvPicPr>
          <p:cNvPr id="11" name="Picture 2" descr="Data Types in Data Science | Towards Data Science">
            <a:extLst>
              <a:ext uri="{FF2B5EF4-FFF2-40B4-BE49-F238E27FC236}">
                <a16:creationId xmlns:a16="http://schemas.microsoft.com/office/drawing/2014/main" id="{CEBF5479-3F8E-21EE-0D34-F0A03BFB712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3"/>
          <a:stretch>
            <a:fillRect/>
          </a:stretch>
        </p:blipFill>
        <p:spPr bwMode="auto">
          <a:xfrm>
            <a:off x="368143" y="2449286"/>
            <a:ext cx="4044443" cy="3098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65237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675130-3293-C53E-210E-BAED49319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DE8029-A57D-C5B0-A292-D731A9D670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5400" dirty="0" err="1">
                <a:solidFill>
                  <a:srgbClr val="FF0000"/>
                </a:solidFill>
              </a:rPr>
              <a:t>PAREi</a:t>
            </a:r>
            <a:r>
              <a:rPr lang="pt-BR" sz="5400" dirty="0">
                <a:solidFill>
                  <a:srgbClr val="FF0000"/>
                </a:solidFill>
              </a:rPr>
              <a:t> AQUI!!!!!!!!!!!!!</a:t>
            </a:r>
            <a:endParaRPr lang="en-US" sz="5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80350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D0CA4-219F-B2F8-2326-FCB5C2305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Inspeção</a:t>
            </a:r>
            <a:r>
              <a:rPr lang="en-US" dirty="0"/>
              <a:t> </a:t>
            </a:r>
            <a:r>
              <a:rPr lang="en-US" dirty="0" err="1"/>
              <a:t>inicial</a:t>
            </a:r>
            <a:r>
              <a:rPr lang="en-US" dirty="0"/>
              <a:t> dos dados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9CF505-9425-FAE9-8AD1-28EE07D08C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14315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Inicialmente, verificamos algumas informações básicas dos dados.</a:t>
            </a:r>
          </a:p>
          <a:p>
            <a:pPr marL="0" indent="0">
              <a:buNone/>
            </a:pPr>
            <a:r>
              <a:rPr lang="pt-BR" dirty="0"/>
              <a:t>Para tal, após carregarmos os dados, usamos atributos e métodos da biblioteca </a:t>
            </a:r>
            <a:r>
              <a:rPr lang="pt-BR" b="1" dirty="0"/>
              <a:t>pandas</a:t>
            </a:r>
            <a:r>
              <a:rPr lang="pt-BR" dirty="0"/>
              <a:t>.</a:t>
            </a:r>
          </a:p>
          <a:p>
            <a:r>
              <a:rPr lang="pt-BR" dirty="0"/>
              <a:t>Dimensão dos dados: linhas x colunas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df.shape</a:t>
            </a:r>
            <a:endParaRPr lang="pt-BR" dirty="0"/>
          </a:p>
          <a:p>
            <a:r>
              <a:rPr lang="pt-BR" dirty="0"/>
              <a:t>Tipos de dados: numéricos, categóricos, etc.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df.dtypes</a:t>
            </a:r>
            <a:endParaRPr lang="pt-BR" dirty="0"/>
          </a:p>
          <a:p>
            <a:r>
              <a:rPr lang="pt-BR" dirty="0"/>
              <a:t>Estatísticas básicas: média, min, </a:t>
            </a:r>
            <a:r>
              <a:rPr lang="pt-BR" dirty="0" err="1"/>
              <a:t>max</a:t>
            </a:r>
            <a:r>
              <a:rPr lang="pt-BR" dirty="0"/>
              <a:t>, quartis, mediana, desvio padrão, etc.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df.describe</a:t>
            </a:r>
            <a:r>
              <a:rPr lang="en-US" dirty="0"/>
              <a:t>()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4C41DBF-7905-7EF8-0A6B-094B4D2F6F3F}"/>
              </a:ext>
            </a:extLst>
          </p:cNvPr>
          <p:cNvSpPr txBox="1"/>
          <p:nvPr/>
        </p:nvSpPr>
        <p:spPr>
          <a:xfrm>
            <a:off x="10132397" y="6550223"/>
            <a:ext cx="20596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>
                <a:hlinkClick r:id="rId3"/>
              </a:rPr>
              <a:t>Exemplo: </a:t>
            </a:r>
            <a:r>
              <a:rPr lang="pt-BR" sz="1400" dirty="0" err="1">
                <a:hlinkClick r:id="rId3"/>
              </a:rPr>
              <a:t>intro_eda.ipynb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5502995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4AF97-908A-27C3-C4BD-6C757E93F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Limpeza</a:t>
            </a:r>
            <a:r>
              <a:rPr lang="en-US" dirty="0"/>
              <a:t> dos dados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ADB3AA-57FC-C53D-D2FA-FDB4A0869E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Problemas comuns:</a:t>
            </a:r>
          </a:p>
          <a:p>
            <a:pPr marL="0" indent="0">
              <a:buNone/>
            </a:pPr>
            <a:r>
              <a:rPr lang="pt-BR" dirty="0"/>
              <a:t>❌ Valores faltantes</a:t>
            </a:r>
          </a:p>
          <a:p>
            <a:pPr marL="0" indent="0">
              <a:buNone/>
            </a:pPr>
            <a:r>
              <a:rPr lang="pt-BR" dirty="0"/>
              <a:t>❌ Valores irrelevantes</a:t>
            </a:r>
            <a:br>
              <a:rPr lang="pt-BR" dirty="0"/>
            </a:br>
            <a:r>
              <a:rPr lang="pt-BR" dirty="0"/>
              <a:t>❌ Tipos inconsistentes</a:t>
            </a:r>
            <a:br>
              <a:rPr lang="pt-BR" dirty="0"/>
            </a:br>
            <a:r>
              <a:rPr lang="pt-BR" dirty="0"/>
              <a:t>❌ Duplicatas</a:t>
            </a:r>
            <a:br>
              <a:rPr lang="pt-BR" dirty="0"/>
            </a:br>
            <a:r>
              <a:rPr lang="pt-BR" dirty="0"/>
              <a:t>❌ Outliers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3104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C86E6-DCF1-113B-1536-5A59E1623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Tratando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430A83-F9FF-CEFD-47B0-7932118684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b="1" dirty="0"/>
              <a:t>Tratamento de valores ausentes:</a:t>
            </a:r>
            <a:r>
              <a:rPr lang="pt-BR" dirty="0"/>
              <a:t> remover </a:t>
            </a:r>
            <a:r>
              <a:rPr lang="pt-BR" dirty="0" err="1"/>
              <a:t>vs</a:t>
            </a:r>
            <a:r>
              <a:rPr lang="pt-BR" dirty="0"/>
              <a:t> imputar.</a:t>
            </a:r>
          </a:p>
          <a:p>
            <a:r>
              <a:rPr lang="pt-BR" dirty="0"/>
              <a:t>Técnicas:</a:t>
            </a:r>
          </a:p>
          <a:p>
            <a:pPr lvl="1"/>
            <a:r>
              <a:rPr lang="pt-BR" dirty="0"/>
              <a:t>Remover linhas/colunas</a:t>
            </a:r>
          </a:p>
          <a:p>
            <a:pPr lvl="1"/>
            <a:r>
              <a:rPr lang="pt-BR" dirty="0"/>
              <a:t>Preencher com média/mediana/moda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O que são a média, moda e mediana?</a:t>
            </a:r>
          </a:p>
          <a:p>
            <a:pPr lvl="1"/>
            <a:r>
              <a:rPr lang="pt-BR" dirty="0"/>
              <a:t>Preenchimento inteligente (KNN, regressão)</a:t>
            </a:r>
          </a:p>
          <a:p>
            <a:pPr marL="0" indent="0">
              <a:buNone/>
            </a:pPr>
            <a:endParaRPr lang="pt-BR" dirty="0"/>
          </a:p>
          <a:p>
            <a:pPr lvl="1"/>
            <a:endParaRPr lang="pt-BR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95776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3D3B9-5DC6-D790-F6E9-E01186264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Lidando</a:t>
            </a:r>
            <a:r>
              <a:rPr lang="en-US" dirty="0"/>
              <a:t> com </a:t>
            </a:r>
            <a:r>
              <a:rPr lang="en-US" dirty="0" err="1"/>
              <a:t>duplicatas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CFBC8F-42F3-78B3-8341-623E54191A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Encontrar e remover</a:t>
            </a:r>
          </a:p>
          <a:p>
            <a:pPr lvl="1"/>
            <a:r>
              <a:rPr lang="pt-BR" dirty="0" err="1"/>
              <a:t>df.drop_duplicates</a:t>
            </a:r>
            <a:r>
              <a:rPr lang="pt-BR" dirty="0"/>
              <a:t>(</a:t>
            </a:r>
            <a:r>
              <a:rPr lang="pt-BR" dirty="0" err="1"/>
              <a:t>inplace</a:t>
            </a:r>
            <a:r>
              <a:rPr lang="pt-BR" dirty="0"/>
              <a:t>=</a:t>
            </a:r>
            <a:r>
              <a:rPr lang="pt-BR" dirty="0" err="1"/>
              <a:t>True</a:t>
            </a:r>
            <a:r>
              <a:rPr lang="pt-BR" dirty="0"/>
              <a:t>)</a:t>
            </a:r>
          </a:p>
          <a:p>
            <a:r>
              <a:rPr lang="pt-BR" dirty="0"/>
              <a:t>Dica visual: use um ícone de “clones” como personagem engraçado que está repetido demais.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81156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537301-E949-B812-9EF5-3CA58CB6AF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Detectando</a:t>
            </a:r>
            <a:r>
              <a:rPr lang="en-US" dirty="0"/>
              <a:t> outliers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9EFEFD-73F6-A8FB-7EE8-766DA0A882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b="1" dirty="0"/>
              <a:t>Tratamento de outliers:</a:t>
            </a:r>
            <a:r>
              <a:rPr lang="pt-BR" dirty="0"/>
              <a:t> identificação e decisões de correção.</a:t>
            </a:r>
          </a:p>
          <a:p>
            <a:r>
              <a:rPr lang="pt-BR" dirty="0"/>
              <a:t>Técnicas:</a:t>
            </a:r>
          </a:p>
          <a:p>
            <a:pPr lvl="1"/>
            <a:r>
              <a:rPr lang="pt-BR" dirty="0" err="1"/>
              <a:t>Boxplot</a:t>
            </a:r>
            <a:endParaRPr lang="pt-BR" dirty="0"/>
          </a:p>
          <a:p>
            <a:pPr lvl="1"/>
            <a:r>
              <a:rPr lang="pt-BR" dirty="0"/>
              <a:t>Z-score</a:t>
            </a:r>
          </a:p>
          <a:p>
            <a:pPr lvl="1"/>
            <a:r>
              <a:rPr lang="pt-BR" dirty="0"/>
              <a:t>IQR</a:t>
            </a:r>
          </a:p>
          <a:p>
            <a:r>
              <a:rPr lang="pt-BR" dirty="0"/>
              <a:t>Inclua um gráfico como exemplo e peça para a turma identificar possíveis outliers.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92595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6AAD1-E005-000D-6949-40CF9C67F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variáveis: análise da correlação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736D01-EFE2-E85C-18C7-A36B691900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16032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2"/>
              </a:rPr>
              <a:t>https://www.kaggle.com/code/imoore/intro-to-exploratory-data-analysis-eda-in-python</a:t>
            </a:r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Exploratory Data Analysis (EDA) to understand and Prepare Data">
            <a:extLst>
              <a:ext uri="{FF2B5EF4-FFF2-40B4-BE49-F238E27FC236}">
                <a16:creationId xmlns:a16="http://schemas.microsoft.com/office/drawing/2014/main" id="{2B53786C-EA48-EFA0-0C06-852C72B3C3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699658"/>
            <a:ext cx="4639355" cy="31970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The Importance of Data Preprocessing in Machine Learning (ML) - The  Couchbase Blog">
            <a:extLst>
              <a:ext uri="{FF2B5EF4-FFF2-40B4-BE49-F238E27FC236}">
                <a16:creationId xmlns:a16="http://schemas.microsoft.com/office/drawing/2014/main" id="{F14B1968-D6A4-B3E7-DF55-77B89A9AD4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2603" y="1674354"/>
            <a:ext cx="4985922" cy="39732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910360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8332</TotalTime>
  <Words>810</Words>
  <Application>Microsoft Office PowerPoint</Application>
  <PresentationFormat>Widescreen</PresentationFormat>
  <Paragraphs>112</Paragraphs>
  <Slides>19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Arial</vt:lpstr>
      <vt:lpstr>Calibri</vt:lpstr>
      <vt:lpstr>Calibri Light</vt:lpstr>
      <vt:lpstr>Wingdings</vt:lpstr>
      <vt:lpstr>Tema do Office</vt:lpstr>
      <vt:lpstr>C24 - Inteligência Artificial: Análise Exploratória de Dados (EDA)</vt:lpstr>
      <vt:lpstr>PowerPoint Presentation</vt:lpstr>
      <vt:lpstr>Introdução</vt:lpstr>
      <vt:lpstr>Por que realizar análise exploratória?</vt:lpstr>
      <vt:lpstr>Inspeção visual e estatística</vt:lpstr>
      <vt:lpstr>Tipo dos dados</vt:lpstr>
      <vt:lpstr>Tipo dos dados: variáveis qualitativas (categóricas)</vt:lpstr>
      <vt:lpstr>Tipo dos dados: variáveis quantitativas (numéricas)</vt:lpstr>
      <vt:lpstr>PowerPoint Presentation</vt:lpstr>
      <vt:lpstr>Inspeção inicial dos dados</vt:lpstr>
      <vt:lpstr>Limpeza dos dados</vt:lpstr>
      <vt:lpstr>Tratando valores faltantes</vt:lpstr>
      <vt:lpstr>Lidando com duplicatas</vt:lpstr>
      <vt:lpstr>Detectando outliers</vt:lpstr>
      <vt:lpstr>Relação entre variáveis: análise da correlação</vt:lpstr>
      <vt:lpstr>Exemplo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1790</cp:revision>
  <dcterms:created xsi:type="dcterms:W3CDTF">2020-01-20T13:50:05Z</dcterms:created>
  <dcterms:modified xsi:type="dcterms:W3CDTF">2026-01-22T18:38:13Z</dcterms:modified>
</cp:coreProperties>
</file>