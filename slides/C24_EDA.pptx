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7"/>
  </p:notesMasterIdLst>
  <p:handoutMasterIdLst>
    <p:handoutMasterId r:id="rId68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45" r:id="rId34"/>
    <p:sldId id="353" r:id="rId35"/>
    <p:sldId id="354" r:id="rId36"/>
    <p:sldId id="351" r:id="rId37"/>
    <p:sldId id="359" r:id="rId38"/>
    <p:sldId id="361" r:id="rId39"/>
    <p:sldId id="347" r:id="rId40"/>
    <p:sldId id="362" r:id="rId41"/>
    <p:sldId id="366" r:id="rId42"/>
    <p:sldId id="363" r:id="rId43"/>
    <p:sldId id="365" r:id="rId44"/>
    <p:sldId id="329" r:id="rId45"/>
    <p:sldId id="367" r:id="rId46"/>
    <p:sldId id="368" r:id="rId47"/>
    <p:sldId id="370" r:id="rId48"/>
    <p:sldId id="369" r:id="rId49"/>
    <p:sldId id="364" r:id="rId50"/>
    <p:sldId id="371" r:id="rId51"/>
    <p:sldId id="372" r:id="rId52"/>
    <p:sldId id="334" r:id="rId53"/>
    <p:sldId id="373" r:id="rId54"/>
    <p:sldId id="308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0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50262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Boxplot</a:t>
            </a:r>
            <a:r>
              <a:rPr lang="pt-BR" dirty="0"/>
              <a:t> (IQR) -&gt; usado quando as dados tem distribuições assimétricas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40099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e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jpeg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profiling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relevante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tão grande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usando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Com pandas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[‘Price'].hist(bins=30)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OBS.: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b="1" dirty="0">
                <a:solidFill>
                  <a:srgbClr val="7030A0"/>
                </a:solidFill>
              </a:rPr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716684" y="1825624"/>
            <a:ext cx="53035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Borda inferior da caixa</a:t>
            </a:r>
            <a:r>
              <a:rPr lang="pt-BR" sz="2800" dirty="0"/>
              <a:t> → primeiro quartil (Q1): 25% dos dados estão abaixo desse valor.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Linha dentro da caixa </a:t>
            </a:r>
            <a:r>
              <a:rPr lang="pt-BR" sz="2800" dirty="0"/>
              <a:t>→ mediana (Q2): valor central dos dados. Metade dos valores está acima e metade abaixo.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Borda superior da caixa</a:t>
            </a:r>
            <a:r>
              <a:rPr lang="pt-BR" sz="2800" dirty="0"/>
              <a:t> → terceiro quartil (Q3): 75% dos dados estão abaixo desse valor.</a:t>
            </a:r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dirty="0"/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650182" y="1825624"/>
            <a:ext cx="537002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Caixa </a:t>
            </a:r>
            <a:r>
              <a:rPr lang="pt-BR" sz="2800" dirty="0"/>
              <a:t>→ intervalo interquartil (IQR = Q3-Q1): mostra a variabilidade dos dados em torno da mediana.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pt-BR" sz="2800" dirty="0"/>
              <a:t>Se a mediana estiver deslocada dentro da caixa, indica </a:t>
            </a:r>
            <a:r>
              <a:rPr lang="pt-BR" sz="2800" b="1" dirty="0"/>
              <a:t>assimetria</a:t>
            </a:r>
            <a:r>
              <a:rPr lang="pt-BR" sz="2800" dirty="0"/>
              <a:t> na distribuição.</a:t>
            </a: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2297335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dirty="0"/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650182" y="1825624"/>
            <a:ext cx="537002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Linhas que saem da caixa</a:t>
            </a:r>
            <a:r>
              <a:rPr lang="pt-BR" sz="2800" dirty="0"/>
              <a:t> → bigodes (</a:t>
            </a:r>
            <a:r>
              <a:rPr lang="pt-BR" sz="2800" i="1" dirty="0" err="1"/>
              <a:t>whiskers</a:t>
            </a:r>
            <a:r>
              <a:rPr lang="pt-BR" sz="2800" dirty="0"/>
              <a:t>): vão até o menor e maior valores que não são </a:t>
            </a:r>
            <a:r>
              <a:rPr lang="pt-BR" sz="2800" i="1" dirty="0" err="1"/>
              <a:t>outliers</a:t>
            </a:r>
            <a:r>
              <a:rPr lang="pt-BR" sz="2800" dirty="0"/>
              <a:t>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pt-BR" sz="2400" dirty="0"/>
              <a:t>Os limites são geralmente definidos por:</a:t>
            </a:r>
          </a:p>
          <a:p>
            <a:pPr marL="1371600" lvl="2" indent="-457200">
              <a:buFont typeface="Courier New" panose="02070309020205020404" pitchFamily="49" charset="0"/>
              <a:buChar char="o"/>
            </a:pPr>
            <a:r>
              <a:rPr lang="pt-BR" sz="2400" dirty="0"/>
              <a:t>Q1 − 1.5×IQR</a:t>
            </a:r>
          </a:p>
          <a:p>
            <a:pPr marL="1371600" lvl="2" indent="-457200">
              <a:buFont typeface="Courier New" panose="02070309020205020404" pitchFamily="49" charset="0"/>
              <a:buChar char="o"/>
            </a:pPr>
            <a:r>
              <a:rPr lang="pt-BR" sz="2400" dirty="0"/>
              <a:t>Q3 + 1.5×IQR</a:t>
            </a: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Pontos fora dos bigodes </a:t>
            </a:r>
            <a:r>
              <a:rPr lang="pt-BR" sz="2800" dirty="0"/>
              <a:t>→ possíveis </a:t>
            </a:r>
            <a:r>
              <a:rPr lang="pt-BR" sz="2800" i="1" dirty="0" err="1"/>
              <a:t>outliers</a:t>
            </a:r>
            <a:r>
              <a:rPr lang="pt-BR" sz="2800" dirty="0"/>
              <a:t>: são os valores abaixo e acima dos intervalos anteriores.</a:t>
            </a:r>
          </a:p>
        </p:txBody>
      </p:sp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r>
              <a:rPr lang="pt-BR" dirty="0"/>
              <a:t>Com pandas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['Year'].</a:t>
            </a:r>
            <a:r>
              <a:rPr lang="en-US" dirty="0" err="1">
                <a:latin typeface="Consolas" panose="020B0609020204030204" pitchFamily="49" charset="0"/>
              </a:rPr>
              <a:t>plot.box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/>
              <a:t>Com Matplotlib (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controle</a:t>
            </a:r>
            <a:r>
              <a:rPr lang="en-US" dirty="0"/>
              <a:t>)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405BC-BEC5-E7AB-3253-7C4A1055E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Vantagens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Robusto a valores extremos, pois usa </a:t>
            </a:r>
            <a:r>
              <a:rPr lang="pt-BR" dirty="0" err="1"/>
              <a:t>quantis</a:t>
            </a:r>
            <a:r>
              <a:rPr lang="pt-BR" dirty="0"/>
              <a:t> e não 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mesmo com distribuições assimétricas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Fácil de interpretar visualmente (</a:t>
            </a:r>
            <a:r>
              <a:rPr lang="pt-BR" i="1" dirty="0" err="1"/>
              <a:t>boxplots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assume nenhuma distribuição específica dos dados, i.e., independente da forma da distribuição</a:t>
            </a:r>
          </a:p>
          <a:p>
            <a:r>
              <a:rPr lang="pt-BR" dirty="0"/>
              <a:t>Desvantagens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falhar em distribuições multimodais (vários picos)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fator 1.5 é empírico e pode não ser ideal em todos os contextos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Em conjuntos de dados grandes, pode definir muitos pontos como outliers ou não mostrar o verdadeiro intervalo dos dados em conjuntos menores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Ineficaz para conjuntos de dados pequenos, pois não representam a distribuição com precisão</a:t>
            </a:r>
          </a:p>
        </p:txBody>
      </p:sp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métodos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outliers, especialmente em dados complexos, multidimensionais ou não gaussianos.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7599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a distância interquartil (IQR)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~((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&lt; (Q1 - 1.5 * IQR)) |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 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&gt; (Q3 + 1.5 * IQR))).any(axis=1)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b="1" dirty="0"/>
              <a:t>OBS</a:t>
            </a:r>
            <a:r>
              <a:rPr lang="en-US" sz="2200" dirty="0"/>
              <a:t>.: </a:t>
            </a:r>
            <a:r>
              <a:rPr lang="en-US" sz="2000" dirty="0">
                <a:latin typeface="Consolas" panose="020B0609020204030204" pitchFamily="49" charset="0"/>
              </a:rPr>
              <a:t>’any(axis=1)’ 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se qualquer coluna daquela linha for </a:t>
            </a:r>
            <a:r>
              <a:rPr lang="pt-BR" sz="2000" i="1" dirty="0"/>
              <a:t>outlier</a:t>
            </a:r>
            <a:r>
              <a:rPr lang="pt-BR" sz="2000" dirty="0"/>
              <a:t> (i.e., </a:t>
            </a:r>
            <a:r>
              <a:rPr lang="pt-BR" sz="2000" dirty="0" err="1"/>
              <a:t>True</a:t>
            </a:r>
            <a:r>
              <a:rPr lang="pt-BR" sz="2000" dirty="0"/>
              <a:t>). Assim, mantemos o dataset com o mesmo número de linhas.</a:t>
            </a:r>
            <a:endParaRPr lang="en-US" sz="2200" i="1" dirty="0"/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289849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BDA73783-9421-1C6B-DEFC-9B1398388B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809" y="2028143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3F8E73-552B-AEF7-1615-B0220AB98277}"/>
              </a:ext>
            </a:extLst>
          </p:cNvPr>
          <p:cNvSpPr txBox="1"/>
          <p:nvPr/>
        </p:nvSpPr>
        <p:spPr>
          <a:xfrm>
            <a:off x="2042299" y="5799364"/>
            <a:ext cx="8107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Importante!</a:t>
            </a:r>
          </a:p>
          <a:p>
            <a:pPr algn="ctr"/>
            <a:r>
              <a:rPr lang="en-US" sz="2800" b="1" dirty="0" err="1"/>
              <a:t>Correlação</a:t>
            </a:r>
            <a:r>
              <a:rPr lang="en-US" sz="2800" b="1" dirty="0"/>
              <a:t> </a:t>
            </a:r>
            <a:r>
              <a:rPr lang="en-US" sz="2800" b="1" dirty="0" err="1"/>
              <a:t>não</a:t>
            </a:r>
            <a:r>
              <a:rPr lang="en-US" sz="2800" b="1" dirty="0"/>
              <a:t> </a:t>
            </a:r>
            <a:r>
              <a:rPr lang="en-US" sz="2800" b="1" dirty="0" err="1"/>
              <a:t>implica</a:t>
            </a:r>
            <a:r>
              <a:rPr lang="en-US" sz="2800" b="1" dirty="0"/>
              <a:t> </a:t>
            </a:r>
            <a:r>
              <a:rPr lang="en-US" sz="2800" b="1" dirty="0" err="1"/>
              <a:t>causalidade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46720" cy="5032375"/>
          </a:xfrm>
        </p:spPr>
        <p:txBody>
          <a:bodyPr>
            <a:normAutofit/>
          </a:bodyPr>
          <a:lstStyle/>
          <a:p>
            <a:r>
              <a:rPr lang="pt-BR" dirty="0"/>
              <a:t>Objetivo</a:t>
            </a:r>
            <a:r>
              <a:rPr lang="en-US" dirty="0"/>
              <a:t>: </a:t>
            </a:r>
            <a:r>
              <a:rPr lang="pt-BR" dirty="0"/>
              <a:t>descobrir padrões e estruturas escondidas nos dados.</a:t>
            </a:r>
          </a:p>
          <a:p>
            <a:r>
              <a:rPr lang="pt-BR" dirty="0"/>
              <a:t>Relações entre variáveis revelam: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dependências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agrupamentos naturais</a:t>
            </a:r>
          </a:p>
          <a:p>
            <a:r>
              <a:rPr lang="pt-BR" dirty="0"/>
              <a:t>Ao analisar relações, podemos responder: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realmente influencia o target?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variável faz sentido nesse contexto?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comportamento é esperado ou estranho?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320460" y="2134267"/>
            <a:ext cx="2386946" cy="26561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2867117" y="2134267"/>
            <a:ext cx="2386946" cy="26561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132EA1-4326-D179-08AF-928B6FFB0A14}"/>
              </a:ext>
            </a:extLst>
          </p:cNvPr>
          <p:cNvSpPr txBox="1"/>
          <p:nvPr/>
        </p:nvSpPr>
        <p:spPr>
          <a:xfrm>
            <a:off x="933633" y="4925317"/>
            <a:ext cx="43204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Exemplo: encontrar relações como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Preço do carro ↑ conforme potência 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Consumo ↓ conforme peso ↑</a:t>
            </a:r>
          </a:p>
        </p:txBody>
      </p:sp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25624"/>
            <a:ext cx="6923313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dois ou mais atributos estão altamente correlacionados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51E70FD3-0A6B-B27E-DEEE-883A831CC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04" y="1690688"/>
            <a:ext cx="4156365" cy="2545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A24E24-E32D-BA54-4C89-5894031B9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93" y="4348460"/>
            <a:ext cx="2985185" cy="2427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grau de </a:t>
                </a:r>
                <a:r>
                  <a:rPr lang="pt-BR" b="1" dirty="0"/>
                  <a:t>relação linear</a:t>
                </a:r>
                <a:r>
                  <a:rPr lang="pt-BR" dirty="0"/>
                  <a:t> entre pares de variáveis numéricas.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Valores variam de −1 a +1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+1 </a:t>
                </a:r>
                <a:r>
                  <a:rPr lang="pt-BR" dirty="0"/>
                  <a:t>→ relação linear positiva forte: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 aumenta à medida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aumenta.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−1 </a:t>
                </a:r>
                <a:r>
                  <a:rPr lang="pt-BR" dirty="0"/>
                  <a:t>→ relação linear negativa forte: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 aumenta enquanto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diminui.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0 </a:t>
                </a:r>
                <a:r>
                  <a:rPr lang="pt-BR" dirty="0"/>
                  <a:t>→ nenhuma </a:t>
                </a:r>
                <a:r>
                  <a:rPr lang="pt-BR" b="1" dirty="0"/>
                  <a:t>relação linear </a:t>
                </a:r>
                <a:r>
                  <a:rPr lang="pt-BR" dirty="0"/>
                  <a:t>entre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Se ruído aumenta, então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Uma variável não fornece informação sobre a outra.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O coeficiente de Pearson,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noProof="0" dirty="0"/>
                  <a:t> é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 se a correlação é 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0 se não existe relação linear.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l="-2105" t="-1937" r="-1287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38057" y="1825625"/>
                <a:ext cx="6934202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Identificar variáveis fortemente (linearmente) relacionadas.</a:t>
                </a:r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multicolinearidade</a:t>
                </a:r>
                <a:r>
                  <a:rPr lang="pt-BR" noProof="0" dirty="0"/>
                  <a:t> (</a:t>
                </a:r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noProof="0" dirty="0"/>
                  <a:t>redundância).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Não mostra a forma da relação e, portanto, não indica se a relação é não-linear.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 (</a:t>
                </a:r>
                <a:r>
                  <a:rPr lang="pt-BR" noProof="0" dirty="0" err="1"/>
                  <a:t>Spearman</a:t>
                </a:r>
                <a:r>
                  <a:rPr lang="pt-BR" noProof="0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057" y="1825625"/>
                <a:ext cx="6934202" cy="5032376"/>
              </a:xfrm>
              <a:blipFill>
                <a:blip r:embed="rId3"/>
                <a:stretch>
                  <a:fillRect l="-1583" t="-2663" r="-1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9" y="2142368"/>
            <a:ext cx="4571955" cy="3717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E9F0-AC36-F712-3BF0-F6662437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A28BC1D1-2988-7440-3A03-FD9B700D7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C3A4F52E-9BF0-A016-B484-AB1133E858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252435-F189-5982-C576-31AD00637DF7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196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dirty="0"/>
              <a:t>Mostra a relação direta entre duas variáveis, ponto a ponto, revelando padrões que números não mostram.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Difícil de escalar para alta dimensionalidade. Quando o número de variáveis cresce: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seriam necessários muitos </a:t>
            </a:r>
            <a:r>
              <a:rPr lang="pt-BR" dirty="0" err="1"/>
              <a:t>scatter</a:t>
            </a:r>
            <a:r>
              <a:rPr lang="pt-BR" dirty="0"/>
              <a:t> </a:t>
            </a:r>
            <a:r>
              <a:rPr lang="pt-BR" dirty="0" err="1"/>
              <a:t>plots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processo manual, cansativo e propenso ao erro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Exemplo: 20 variáveis se tornam 190 pares possíveis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grandes. Em </a:t>
            </a:r>
            <a:r>
              <a:rPr lang="pt-BR" dirty="0" err="1"/>
              <a:t>datasets</a:t>
            </a:r>
            <a:r>
              <a:rPr lang="pt-BR" dirty="0"/>
              <a:t> com muitos pontos: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outliers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fig, ax = </a:t>
            </a:r>
            <a:r>
              <a:rPr lang="en-US" dirty="0" err="1">
                <a:latin typeface="Consolas" panose="020B0609020204030204" pitchFamily="49" charset="0"/>
              </a:rPr>
              <a:t>plt.subplots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ax.set_xlabel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ax.set_ylabel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ax.grid</a:t>
            </a:r>
            <a:r>
              <a:rPr lang="en-US" dirty="0">
                <a:latin typeface="Consolas" panose="020B0609020204030204" pitchFamily="49" charset="0"/>
              </a:rPr>
              <a:t>(True)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dirty="0"/>
              <a:t>Plotando </a:t>
            </a:r>
            <a:r>
              <a:rPr lang="pt-BR" b="1" dirty="0" err="1"/>
              <a:t>scatter</a:t>
            </a:r>
            <a:r>
              <a:rPr lang="pt-BR" b="1" dirty="0"/>
              <a:t> </a:t>
            </a:r>
            <a:r>
              <a:rPr lang="pt-BR" b="1" dirty="0" err="1"/>
              <a:t>plots</a:t>
            </a:r>
            <a:r>
              <a:rPr lang="pt-BR" b="1" dirty="0"/>
              <a:t> para todos os pares de variáveis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sns.pairplot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b="1" dirty="0"/>
              <a:t>OBS</a:t>
            </a:r>
            <a:r>
              <a:rPr lang="en-US" dirty="0"/>
              <a:t>.: </a:t>
            </a:r>
            <a:r>
              <a:rPr lang="en-US" dirty="0" err="1">
                <a:latin typeface="Consolas" panose="020B0609020204030204" pitchFamily="49" charset="0"/>
              </a:rPr>
              <a:t>pairplot</a:t>
            </a:r>
            <a:r>
              <a:rPr lang="en-US" dirty="0"/>
              <a:t> </a:t>
            </a:r>
            <a:r>
              <a:rPr lang="en-US" dirty="0" err="1"/>
              <a:t>plota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pt-BR" dirty="0" err="1"/>
              <a:t>scatter</a:t>
            </a:r>
            <a:r>
              <a:rPr lang="pt-BR" dirty="0"/>
              <a:t> </a:t>
            </a:r>
            <a:r>
              <a:rPr lang="pt-BR" dirty="0" err="1"/>
              <a:t>plots</a:t>
            </a:r>
            <a:r>
              <a:rPr lang="pt-BR" dirty="0"/>
              <a:t> para todos os pares de variáveis.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59493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2464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10514</TotalTime>
  <Words>5157</Words>
  <Application>Microsoft Office PowerPoint</Application>
  <PresentationFormat>Widescreen</PresentationFormat>
  <Paragraphs>586</Paragraphs>
  <Slides>62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Outros métodos para detecção de outliers</vt:lpstr>
      <vt:lpstr>Como remover outliers?</vt:lpstr>
      <vt:lpstr>Como remover outliers?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Para que serve a matriz de correlação?</vt:lpstr>
      <vt:lpstr>Correlação de Spearman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Pandas profiling</vt:lpstr>
      <vt:lpstr>Como gerar o relatório?</vt:lpstr>
      <vt:lpstr>Exemplo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Vantagens e desvantagens: Z-score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2039</cp:revision>
  <dcterms:created xsi:type="dcterms:W3CDTF">2020-01-20T13:50:05Z</dcterms:created>
  <dcterms:modified xsi:type="dcterms:W3CDTF">2026-03-02T19:07:07Z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