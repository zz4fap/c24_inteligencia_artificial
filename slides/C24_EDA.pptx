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6"/>
  </p:notesMasterIdLst>
  <p:handoutMasterIdLst>
    <p:handoutMasterId r:id="rId77"/>
  </p:handoutMasterIdLst>
  <p:sldIdLst>
    <p:sldId id="256" r:id="rId5"/>
    <p:sldId id="315" r:id="rId6"/>
    <p:sldId id="307" r:id="rId7"/>
    <p:sldId id="318" r:id="rId8"/>
    <p:sldId id="317" r:id="rId9"/>
    <p:sldId id="374" r:id="rId10"/>
    <p:sldId id="375" r:id="rId11"/>
    <p:sldId id="326" r:id="rId12"/>
    <p:sldId id="327" r:id="rId13"/>
    <p:sldId id="328" r:id="rId14"/>
    <p:sldId id="376" r:id="rId15"/>
    <p:sldId id="320" r:id="rId16"/>
    <p:sldId id="321" r:id="rId17"/>
    <p:sldId id="330" r:id="rId18"/>
    <p:sldId id="323" r:id="rId19"/>
    <p:sldId id="322" r:id="rId20"/>
    <p:sldId id="377" r:id="rId21"/>
    <p:sldId id="331" r:id="rId22"/>
    <p:sldId id="333" r:id="rId23"/>
    <p:sldId id="335" r:id="rId24"/>
    <p:sldId id="339" r:id="rId25"/>
    <p:sldId id="380" r:id="rId26"/>
    <p:sldId id="340" r:id="rId27"/>
    <p:sldId id="342" r:id="rId28"/>
    <p:sldId id="348" r:id="rId29"/>
    <p:sldId id="349" r:id="rId30"/>
    <p:sldId id="343" r:id="rId31"/>
    <p:sldId id="344" r:id="rId32"/>
    <p:sldId id="350" r:id="rId33"/>
    <p:sldId id="383" r:id="rId34"/>
    <p:sldId id="345" r:id="rId35"/>
    <p:sldId id="354" r:id="rId36"/>
    <p:sldId id="351" r:id="rId37"/>
    <p:sldId id="359" r:id="rId38"/>
    <p:sldId id="347" r:id="rId39"/>
    <p:sldId id="366" r:id="rId40"/>
    <p:sldId id="384" r:id="rId41"/>
    <p:sldId id="363" r:id="rId42"/>
    <p:sldId id="365" r:id="rId43"/>
    <p:sldId id="385" r:id="rId44"/>
    <p:sldId id="329" r:id="rId45"/>
    <p:sldId id="367" r:id="rId46"/>
    <p:sldId id="391" r:id="rId47"/>
    <p:sldId id="368" r:id="rId48"/>
    <p:sldId id="392" r:id="rId49"/>
    <p:sldId id="369" r:id="rId50"/>
    <p:sldId id="364" r:id="rId51"/>
    <p:sldId id="371" r:id="rId52"/>
    <p:sldId id="372" r:id="rId53"/>
    <p:sldId id="308" r:id="rId54"/>
    <p:sldId id="293" r:id="rId55"/>
    <p:sldId id="306" r:id="rId56"/>
    <p:sldId id="379" r:id="rId57"/>
    <p:sldId id="332" r:id="rId58"/>
    <p:sldId id="337" r:id="rId59"/>
    <p:sldId id="338" r:id="rId60"/>
    <p:sldId id="382" r:id="rId61"/>
    <p:sldId id="346" r:id="rId62"/>
    <p:sldId id="357" r:id="rId63"/>
    <p:sldId id="356" r:id="rId64"/>
    <p:sldId id="362" r:id="rId65"/>
    <p:sldId id="360" r:id="rId66"/>
    <p:sldId id="361" r:id="rId67"/>
    <p:sldId id="389" r:id="rId68"/>
    <p:sldId id="387" r:id="rId69"/>
    <p:sldId id="388" r:id="rId70"/>
    <p:sldId id="390" r:id="rId71"/>
    <p:sldId id="334" r:id="rId72"/>
    <p:sldId id="373" r:id="rId73"/>
    <p:sldId id="394" r:id="rId74"/>
    <p:sldId id="393" r:id="rId7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</a:t>
            </a:r>
            <a:r>
              <a:rPr lang="pt-BR" b="1" dirty="0"/>
              <a:t>cuidar, selecionar, organizar, adaptar os dados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237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Aromatic = </a:t>
            </a:r>
            <a:r>
              <a:rPr lang="en-US" dirty="0" err="1"/>
              <a:t>aromático</a:t>
            </a:r>
            <a:endParaRPr lang="en-US" dirty="0"/>
          </a:p>
          <a:p>
            <a:r>
              <a:rPr lang="en-US" dirty="0"/>
              <a:t>Buttery = </a:t>
            </a:r>
            <a:r>
              <a:rPr lang="en-US" dirty="0" err="1"/>
              <a:t>amanteigado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4102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Elas respondem à pergunta </a:t>
            </a:r>
            <a:r>
              <a:rPr lang="pt-BR" b="1" dirty="0"/>
              <a:t>"Qual?"</a:t>
            </a:r>
            <a:r>
              <a:rPr lang="pt-BR" dirty="0"/>
              <a:t>, e não "Quanto?".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inplace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pt-BR" dirty="0"/>
              <a:t> significa: </a:t>
            </a:r>
            <a:r>
              <a:rPr lang="pt-BR" b="1" dirty="0"/>
              <a:t>faça a alteração diretamente no próprio </a:t>
            </a:r>
            <a:r>
              <a:rPr lang="pt-B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df</a:t>
            </a:r>
            <a:r>
              <a:rPr lang="pt-BR" dirty="0"/>
              <a:t>, sem criar (nem precisar atribuir)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que temos as notas de 5 alunos: [7, 3, 9, 5,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5 elementos (ímpar), o valor central é o 3º termo.</a:t>
            </a:r>
          </a:p>
          <a:p>
            <a:pPr lvl="1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Mediana = 7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Agora, imagine que adicionamos uma nota 8, ficando com 6 alunos: [7, 3, 9, 5, 10, 8]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8,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6 elementos (par), não existe um único valor central. Pegamos os dois valores do meio (7 e 8) e tiramos a média:</a:t>
            </a:r>
          </a:p>
          <a:p>
            <a:pPr lvl="1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{Mediana} =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{7 + 8}{2} = 7.5$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“normais” (não é uma lei da natureza; 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independente da forma da distribuição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72495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F0DA7-D327-7025-E28E-AD6262D2B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B83F6-5AA6-4EB1-C841-8E17EE6D7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D288B-7721-F12A-9699-1E7BB53C8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00AC-461D-C3D2-A522-1C365506D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7356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OBS</a:t>
            </a:r>
            <a:r>
              <a:rPr lang="pt-BR" dirty="0"/>
              <a:t>.: Valores negativos são chamados de </a:t>
            </a:r>
            <a:r>
              <a:rPr lang="pt-BR" dirty="0" err="1"/>
              <a:t>anti-correlação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Primeira Linha: Intensidade e Direção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vemos como o valor de $r$ varia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 a 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Positiva ($r &gt;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também aumenta. Quanto mais próximo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mais os pontos se aproximam de uma linha reta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Negativa ($r &lt;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diminui. O valor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uma relação inversa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Nula ($r =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pontos estão espalhados como uma "nuvem" sem direção clara. Não há tendência linear.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Dispersão: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Note que quanto menor o valor absoluto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0.4 ou -0.4), mais "gorda" e espalhada fica a nuvem de pontos.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Segunda Linha: A Inclinação não importa (quase sempre)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linha traz um conceito fundamental: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correlação não mede a inclinação (coeficiente angular) da reta.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Todos os gráficos (exceto o do meio) mostram correlação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importa se a reta é íngreme ou quase plana; se todos os pontos estão perfeitamente alinhados, a correlação é máxima.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caso central ($r=0$):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 linha é perfeitamente horizontal, a correlação é indefinida ou zero, pois a variável $y$ não muda independentemente de $x$. Não há variação para "explicar".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Terceira Linha: A Grande Armadilha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é a parte mais importante para analistas de dados. Todos esses gráficos têm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de Pearson igual a 0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mas os pontos claramente seguem padrões (círculos, ondas, quadrados).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motivo: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coeficiente de Pearson só detecta relações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(retas).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a relação for não-linear (curvas, formas complexas), o Pearson falhará em detectar a dependência entre as variáveis, resultando em zero.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Sempre visualize seus dados com um gráfico de dispersão antes de confiar apenas no número da correlação.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56590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D4A5-FF11-2974-EDE1-182C9DBA8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CCACA1-CEBA-3A8D-4D86-EA4C19D82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73397-7B1B-676D-4A3E-F24C22ADE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B5B09-D1FD-A41D-2FE0-7264BEECEA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69142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002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</a:p>
          <a:p>
            <a:endParaRPr lang="pt-BR" dirty="0"/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KNNImputer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nome já diz tudo: "Imputador pelos Vizinhos Mais Próximos".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cada valor faltante em uma linha, ele procura as $K$ linhas mais parecidas (os "vizinhos") que possuem aquele dado preenchido. Ele calcula a distância (geralmente a Distância Euclidiana) entre as outras características (colunas) daquela linha.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cálculo: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 tira a média dos valores desses $K$ vizinhos e preenche o buraco.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Ótimo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onde você acredita que observações semelhantes tendem a ter valores semelhantes.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de atenção: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computacionalmente caro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gigantes, pois precisa calcular distâncias entre todas as linhas.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8495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(MICE)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um pouco mais sofisticado e "inteligente". Ele trata cada coluna com valores faltantes como uma variável alvo em um problema de regressão.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 Ele preenche os buracos inicialmente (com a média, por exemplo).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Ele transforma a coluna com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($y$) e usa as outras colunas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preditores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($X$).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Ele treina um modelo de regressão para prever os valores faltantes daquela coluna.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Ele repete isso para todas as colunas em várias rodadas (iterações) até que os valores parem de mudar muito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converjam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as variáveis têm correlações complexas entre si. Ele é geralmente considerado mais preciso que a média simples ou o KNN.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Curiosidade: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mundo da estatística, essa técnica é conhecida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Multivariate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Imputation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Chained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Equations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5014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46918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7813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012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8140C-54C5-4298-3030-26217B5D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00C8CE-2E6E-E5A7-A4CF-F73838FB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E5525-2796-A2EB-05AE-B3A9DEFC0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8E8B1-3DFB-2EC6-5D27-6F478A492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596397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CC93F-E221-712D-547E-6393F49F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FBCAF-00FC-FCDF-AF24-A047EA1BC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18296-ED9A-70A9-3A86-E4468005F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E5383-6B12-A28B-3AF2-5BFFA50B8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5803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_completo.ipynb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5" y="993321"/>
            <a:ext cx="8057788" cy="5255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515895" y="2343587"/>
            <a:ext cx="354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</a:t>
            </a:r>
            <a:r>
              <a:rPr lang="pt-BR" sz="3200" b="1" dirty="0">
                <a:solidFill>
                  <a:schemeClr val="accent2"/>
                </a:solidFill>
              </a:rPr>
              <a:t>antes da construção e treinamento</a:t>
            </a:r>
            <a:r>
              <a:rPr lang="pt-BR" sz="3200" dirty="0"/>
              <a:t>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</a:t>
            </a:r>
            <a:r>
              <a:rPr lang="pt-BR" b="1" dirty="0">
                <a:solidFill>
                  <a:schemeClr val="accent2"/>
                </a:solidFill>
              </a:rPr>
              <a:t>primeiro passo </a:t>
            </a:r>
            <a:r>
              <a:rPr lang="pt-BR" dirty="0"/>
              <a:t>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6"/>
                </a:solidFill>
              </a:rPr>
              <a:t>erros</a:t>
            </a:r>
            <a:r>
              <a:rPr lang="pt-BR" dirty="0"/>
              <a:t>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</a:t>
            </a:r>
            <a:r>
              <a:rPr lang="pt-BR" b="1" dirty="0">
                <a:solidFill>
                  <a:schemeClr val="accent6"/>
                </a:solidFill>
              </a:rPr>
              <a:t>padrões</a:t>
            </a:r>
            <a:r>
              <a:rPr lang="pt-BR" dirty="0"/>
              <a:t>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</a:t>
            </a:r>
            <a:r>
              <a:rPr lang="pt-BR" b="1" dirty="0">
                <a:solidFill>
                  <a:schemeClr val="accent6"/>
                </a:solidFill>
              </a:rPr>
              <a:t>discrepantes, faltantes, e duplicados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</a:t>
            </a:r>
            <a:r>
              <a:rPr lang="pt-BR" b="1" dirty="0">
                <a:solidFill>
                  <a:schemeClr val="accent6"/>
                </a:solidFill>
              </a:rPr>
              <a:t>relações entre as variáveis </a:t>
            </a:r>
            <a:r>
              <a:rPr lang="pt-BR" dirty="0"/>
              <a:t>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quais </a:t>
            </a:r>
            <a:r>
              <a:rPr lang="pt-BR" b="1" dirty="0">
                <a:solidFill>
                  <a:schemeClr val="accent6"/>
                </a:solidFill>
              </a:rPr>
              <a:t>variáveis realmente importam</a:t>
            </a:r>
            <a:r>
              <a:rPr lang="pt-BR"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</a:t>
            </a:r>
            <a:r>
              <a:rPr lang="pt-BR" b="1" dirty="0">
                <a:solidFill>
                  <a:schemeClr val="accent5"/>
                </a:solidFill>
              </a:rPr>
              <a:t>curadoria</a:t>
            </a:r>
            <a:r>
              <a:rPr lang="pt-BR" dirty="0"/>
              <a:t> dos dados.</a:t>
            </a:r>
          </a:p>
          <a:p>
            <a:r>
              <a:rPr lang="pt-BR" dirty="0"/>
              <a:t>Ela garante que o modelo de ML não aprenda com lixo. </a:t>
            </a:r>
          </a:p>
          <a:p>
            <a:r>
              <a:rPr lang="pt-BR" dirty="0"/>
              <a:t>Se o </a:t>
            </a:r>
            <a:r>
              <a:rPr lang="pt-BR" b="1" dirty="0">
                <a:solidFill>
                  <a:schemeClr val="accent5"/>
                </a:solidFill>
              </a:rPr>
              <a:t>dado de entrada é ruim</a:t>
            </a:r>
            <a:r>
              <a:rPr lang="pt-BR" dirty="0"/>
              <a:t>, a </a:t>
            </a:r>
            <a:r>
              <a:rPr lang="pt-BR" b="1" dirty="0">
                <a:solidFill>
                  <a:schemeClr val="accent5"/>
                </a:solidFill>
              </a:rPr>
              <a:t>previsão será pior </a:t>
            </a:r>
            <a:r>
              <a:rPr lang="pt-BR" dirty="0"/>
              <a:t>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41" y="2253345"/>
            <a:ext cx="6164491" cy="342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visual e estatística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</a:t>
            </a:r>
            <a:r>
              <a:rPr lang="pt-BR" b="1" noProof="0" dirty="0">
                <a:solidFill>
                  <a:srgbClr val="00B050"/>
                </a:solidFill>
              </a:rPr>
              <a:t>ferramentas estatísticas e </a:t>
            </a:r>
            <a:r>
              <a:rPr lang="pt-BR" b="1" dirty="0">
                <a:solidFill>
                  <a:srgbClr val="00B050"/>
                </a:solidFill>
              </a:rPr>
              <a:t>visuais</a:t>
            </a:r>
            <a:r>
              <a:rPr lang="pt-BR" dirty="0"/>
              <a:t> </a:t>
            </a:r>
            <a:r>
              <a:rPr lang="pt-BR" noProof="0" dirty="0"/>
              <a:t>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</a:t>
            </a:r>
            <a:r>
              <a:rPr lang="en-US" i="1" dirty="0"/>
              <a:t>profiling</a:t>
            </a:r>
            <a:r>
              <a:rPr lang="en-US" dirty="0"/>
              <a:t> (Anexo IV)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:a16="http://schemas.microsoft.com/office/drawing/2014/main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F9267-2A56-C100-CEF1-C30151EE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8212"/>
            <a:ext cx="10515600" cy="24415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Antes de explorarmos os dados, nós precisamos entender a sua taxonomia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50653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6477-9F35-656B-BA2E-B0A11562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B2F41-58F6-47E0-CC63-48BEA8AE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2771" y="1825625"/>
            <a:ext cx="4169229" cy="4351338"/>
          </a:xfrm>
        </p:spPr>
        <p:txBody>
          <a:bodyPr/>
          <a:lstStyle/>
          <a:p>
            <a:r>
              <a:rPr lang="pt-BR" dirty="0"/>
              <a:t>As variáveis (i.e., atributos ou rótulos) podem ser classificadas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Qualitativas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Quantitativas</a:t>
            </a:r>
            <a:endParaRPr lang="en-US" dirty="0"/>
          </a:p>
        </p:txBody>
      </p:sp>
      <p:pic>
        <p:nvPicPr>
          <p:cNvPr id="1026" name="Picture 2" descr="Qualitative vs Quantitative Data: Analysis, Definitions, Examples">
            <a:extLst>
              <a:ext uri="{FF2B5EF4-FFF2-40B4-BE49-F238E27FC236}">
                <a16:creationId xmlns:a16="http://schemas.microsoft.com/office/drawing/2014/main" id="{E4A7450D-8449-2BCF-3291-7129123C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22" y="1931987"/>
            <a:ext cx="7743767" cy="41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956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4943" cy="5032375"/>
          </a:xfrm>
        </p:spPr>
        <p:txBody>
          <a:bodyPr>
            <a:normAutofit/>
          </a:bodyPr>
          <a:lstStyle/>
          <a:p>
            <a:r>
              <a:rPr lang="pt-BR" dirty="0"/>
              <a:t>As variáveis qualitativas e quantitativas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140182" y="3048000"/>
            <a:ext cx="5111189" cy="3091542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qualitativas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56161" y="1825624"/>
            <a:ext cx="1114875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categóricas.</a:t>
            </a:r>
          </a:p>
          <a:p>
            <a:pPr marL="0" indent="0">
              <a:buNone/>
            </a:pPr>
            <a:r>
              <a:rPr lang="pt-BR" dirty="0"/>
              <a:t>Elas descrevem uma </a:t>
            </a:r>
            <a:r>
              <a:rPr lang="pt-BR" b="1" dirty="0"/>
              <a:t>qualidade, característica ou atributo</a:t>
            </a:r>
            <a:r>
              <a:rPr lang="pt-BR" dirty="0"/>
              <a:t> de algo ou alguém.</a:t>
            </a:r>
          </a:p>
          <a:p>
            <a:r>
              <a:rPr lang="pt-BR" b="1" dirty="0"/>
              <a:t>Nominal</a:t>
            </a:r>
            <a:r>
              <a:rPr lang="pt-BR" dirty="0"/>
              <a:t>: Não possuem uma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Cor dos olhos, estado civil, gênero, nacionalidade, profissão.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tamanho de uma camiseta (P, M, G), escolaridade (Ensino Fundamental, Médio, Superior), </a:t>
            </a:r>
            <a:r>
              <a:rPr lang="en-US" dirty="0"/>
              <a:t>meses do </a:t>
            </a:r>
            <a:r>
              <a:rPr lang="en-US" dirty="0" err="1"/>
              <a:t>ano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Embora as ordinais possam ser ordenadas, operações aritméticas não são aplicáveis.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faz sentido somar, subtrair tamanhos de camisetas.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quantitativas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14875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/>
              <a:t>variáveis numéricas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ordenadas e usadas em operações</a:t>
            </a:r>
            <a:r>
              <a:rPr lang="pt-BR" dirty="0"/>
              <a:t> aritméticas (e.g., soma, subtração, etc.). </a:t>
            </a:r>
          </a:p>
          <a:p>
            <a:pPr marL="0" indent="0">
              <a:buNone/>
            </a:pPr>
            <a:r>
              <a:rPr lang="pt-BR" dirty="0"/>
              <a:t>Possuem </a:t>
            </a:r>
            <a:r>
              <a:rPr lang="pt-BR" b="1" dirty="0">
                <a:solidFill>
                  <a:srgbClr val="00B050"/>
                </a:solidFill>
              </a:rPr>
              <a:t>unidade de medida</a:t>
            </a:r>
            <a:r>
              <a:rPr lang="pt-BR" dirty="0"/>
              <a:t>.</a:t>
            </a:r>
          </a:p>
          <a:p>
            <a:r>
              <a:rPr lang="pt-BR" b="1" dirty="0"/>
              <a:t>Discreta: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contagens</a:t>
            </a:r>
            <a:r>
              <a:rPr lang="pt-BR" dirty="0"/>
              <a:t>, resultando em números inteiros.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carros em um estacionamento, número de filhos, número de acessos em um site.</a:t>
            </a:r>
          </a:p>
          <a:p>
            <a:r>
              <a:rPr lang="pt-BR" b="1" dirty="0"/>
              <a:t>Contínua: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medições</a:t>
            </a:r>
            <a:r>
              <a:rPr lang="pt-BR" dirty="0"/>
              <a:t> que podem assumir qualquer valor dentro de um intervalo.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Altura, peso, temperatura, tempo de resposta de uma API.</a:t>
            </a:r>
          </a:p>
        </p:txBody>
      </p:sp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4718-F3A7-99BB-2EFE-19D8395F6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Etapas de exploração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D2CC0-0525-1939-A86F-65A7F6AE7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Na </a:t>
            </a:r>
            <a:r>
              <a:rPr lang="en-US" dirty="0" err="1"/>
              <a:t>sequência</a:t>
            </a:r>
            <a:r>
              <a:rPr lang="en-US" dirty="0"/>
              <a:t>, </a:t>
            </a:r>
            <a:r>
              <a:rPr lang="en-US" dirty="0" err="1"/>
              <a:t>veremos</a:t>
            </a:r>
            <a:r>
              <a:rPr lang="en-US" dirty="0"/>
              <a:t> as </a:t>
            </a:r>
            <a:r>
              <a:rPr lang="en-US" dirty="0" err="1"/>
              <a:t>seguintes</a:t>
            </a:r>
            <a:r>
              <a:rPr lang="en-US" dirty="0"/>
              <a:t> </a:t>
            </a:r>
            <a:r>
              <a:rPr lang="en-US" dirty="0" err="1"/>
              <a:t>etapas</a:t>
            </a:r>
            <a:r>
              <a:rPr lang="en-US" dirty="0"/>
              <a:t> de </a:t>
            </a:r>
            <a:r>
              <a:rPr lang="en-US" dirty="0" err="1"/>
              <a:t>exploração</a:t>
            </a:r>
            <a:r>
              <a:rPr lang="en-US" dirty="0"/>
              <a:t> dos dados:</a:t>
            </a:r>
          </a:p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  <a:p>
            <a:r>
              <a:rPr lang="en-US" dirty="0" err="1"/>
              <a:t>Relação</a:t>
            </a:r>
            <a:r>
              <a:rPr lang="en-US" dirty="0"/>
              <a:t> entre </a:t>
            </a:r>
            <a:r>
              <a:rPr lang="en-US" dirty="0" err="1"/>
              <a:t>variáveis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3240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1431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informações básicas dos dados.</a:t>
            </a:r>
          </a:p>
          <a:p>
            <a:pPr marL="0" indent="0">
              <a:buNone/>
            </a:pPr>
            <a:r>
              <a:rPr lang="pt-BR" dirty="0"/>
              <a:t>Em geral, após carregarmos os dados, usamos </a:t>
            </a:r>
            <a:r>
              <a:rPr lang="pt-BR" b="1" dirty="0">
                <a:solidFill>
                  <a:schemeClr val="accent2"/>
                </a:solidFill>
              </a:rPr>
              <a:t>atributos e métodos</a:t>
            </a:r>
            <a:r>
              <a:rPr lang="pt-BR" dirty="0"/>
              <a:t> da biblioteca </a:t>
            </a:r>
            <a:r>
              <a:rPr lang="pt-BR" b="1" dirty="0">
                <a:solidFill>
                  <a:schemeClr val="accent2"/>
                </a:solidFill>
              </a:rPr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96600" cy="5032375"/>
          </a:xfrm>
        </p:spPr>
        <p:txBody>
          <a:bodyPr/>
          <a:lstStyle/>
          <a:p>
            <a:r>
              <a:rPr lang="pt-BR" dirty="0"/>
              <a:t>A ideia é manter colunas que ajudem o objetivo do problema e </a:t>
            </a:r>
            <a:r>
              <a:rPr lang="pt-BR" b="1" dirty="0">
                <a:solidFill>
                  <a:schemeClr val="accent5"/>
                </a:solidFill>
              </a:rPr>
              <a:t>remover as colunas que atrapalham.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'Column 2', 'Column N'], axis=1)</a:t>
            </a:r>
            <a:endParaRPr lang="pt-BR" dirty="0"/>
          </a:p>
          <a:p>
            <a:r>
              <a:rPr lang="pt-BR" dirty="0"/>
              <a:t>Alguns motivos para eliminar colunas: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IDs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timestamps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valores constantes,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muitos valores faltantes,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38114" cy="4351338"/>
          </a:xfrm>
        </p:spPr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r>
              <a:rPr lang="pt-BR" b="1" dirty="0"/>
              <a:t>OBS</a:t>
            </a:r>
            <a:r>
              <a:rPr lang="pt-BR" dirty="0"/>
              <a:t>.: Para encontrar e remover colunas duplicadas, basta transpor 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Técnicas mais avançadas. Elas olham para a </a:t>
            </a:r>
            <a:r>
              <a:rPr lang="pt-BR" b="1" dirty="0">
                <a:solidFill>
                  <a:srgbClr val="00B050"/>
                </a:solidFill>
              </a:rPr>
              <a:t>relação entre as colunas </a:t>
            </a:r>
            <a:r>
              <a:rPr lang="pt-BR" dirty="0"/>
              <a:t>para "adivinhar" o valor que falta.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Anexo I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4F65-7192-8F97-0554-80F0A96C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EA57F-5289-3D2C-BF18-566F472DE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FF0CF-6671-88FB-8C57-78FF5A574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Remover linhas ou colunas: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200" dirty="0"/>
              <a:t>OBS.: altera o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/>
              <a:t>original.</a:t>
            </a:r>
            <a:endParaRPr lang="en-US" sz="3000" dirty="0"/>
          </a:p>
          <a:p>
            <a:r>
              <a:rPr lang="pt-BR" dirty="0"/>
              <a:t>Essa técnica não é boa se o número de linhas a serem removidas é muito grande em relação ao tamanho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r>
              <a:rPr lang="pt-BR" dirty="0"/>
              <a:t>Vamos usar técnicas que </a:t>
            </a:r>
            <a:r>
              <a:rPr lang="pt-BR" b="1" dirty="0">
                <a:solidFill>
                  <a:srgbClr val="7030A0"/>
                </a:solidFill>
              </a:rPr>
              <a:t>imputam valores</a:t>
            </a:r>
            <a:r>
              <a:rPr lang="pt-BR" dirty="0"/>
              <a:t> aos faltantes.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9338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63943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4" y="1825624"/>
            <a:ext cx="854528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média, a moda ou a mediana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Divide os dados em 50% acima e 50% abaixo.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 e categóricas</a:t>
            </a:r>
            <a:r>
              <a:rPr lang="pt-BR" dirty="0"/>
              <a:t>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15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1914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 ou mediana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</a:t>
            </a:r>
            <a:r>
              <a:rPr lang="pt-BR" b="1" dirty="0"/>
              <a:t>apenas as colunas numéricas </a:t>
            </a:r>
            <a:r>
              <a:rPr lang="pt-BR" dirty="0"/>
              <a:t>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Retorna uma </a:t>
            </a:r>
            <a:r>
              <a:rPr lang="pt-BR" b="1" dirty="0"/>
              <a:t>lista com os nomes </a:t>
            </a:r>
            <a:r>
              <a:rPr lang="pt-BR" dirty="0"/>
              <a:t>das colunas numéricas.</a:t>
            </a:r>
          </a:p>
          <a:p>
            <a:pPr marL="457200" lvl="1" indent="0">
              <a:buNone/>
            </a:pPr>
            <a:r>
              <a:rPr lang="pt-BR" b="1" dirty="0"/>
              <a:t>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média.</a:t>
            </a:r>
          </a:p>
          <a:p>
            <a:pPr marL="457200" lvl="1" indent="0">
              <a:buNone/>
            </a:pPr>
            <a:r>
              <a:rPr lang="pt-BR" b="1" dirty="0">
                <a:latin typeface="Consolas" panose="020B0609020204030204" pitchFamily="49" charset="0"/>
              </a:rPr>
              <a:t>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mediana.</a:t>
            </a:r>
          </a:p>
          <a:p>
            <a:r>
              <a:rPr lang="pt-BR" dirty="0"/>
              <a:t>Os métodos 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 e 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 </a:t>
            </a:r>
            <a:r>
              <a:rPr lang="en-US" b="1" dirty="0" err="1">
                <a:solidFill>
                  <a:srgbClr val="00B050"/>
                </a:solidFill>
              </a:rPr>
              <a:t>ignoram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98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Obtém os nomes apenas das colunas numéricas do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as colunas numéricas e preenche os valores faltantes de cada uma com a sua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OBS.1</a:t>
            </a:r>
            <a:r>
              <a:rPr lang="pt-BR" dirty="0"/>
              <a:t>: A </a:t>
            </a:r>
            <a:r>
              <a:rPr lang="pt-BR" b="1" dirty="0">
                <a:solidFill>
                  <a:schemeClr val="accent5"/>
                </a:solidFill>
              </a:rPr>
              <a:t>moda pode ter mais de um valor</a:t>
            </a:r>
            <a:r>
              <a:rPr lang="pt-BR" dirty="0"/>
              <a:t>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OBS.2</a:t>
            </a:r>
            <a:r>
              <a:rPr lang="pt-BR" dirty="0"/>
              <a:t>: A moda pode ser usada para preencher valores faltantes de variáveis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:a16="http://schemas.microsoft.com/office/drawing/2014/main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2183223" y="1597433"/>
            <a:ext cx="4032520" cy="5056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FF85D9-3788-FA7D-30A4-4774BBAA739A}"/>
              </a:ext>
            </a:extLst>
          </p:cNvPr>
          <p:cNvSpPr txBox="1"/>
          <p:nvPr/>
        </p:nvSpPr>
        <p:spPr>
          <a:xfrm>
            <a:off x="6662057" y="2627214"/>
            <a:ext cx="48441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 </a:t>
            </a:r>
            <a:r>
              <a:rPr lang="pt-BR" sz="3200" i="1" dirty="0"/>
              <a:t>outlier</a:t>
            </a:r>
            <a:r>
              <a:rPr lang="pt-BR" sz="3200" dirty="0"/>
              <a:t> é uma observação que </a:t>
            </a:r>
            <a:r>
              <a:rPr lang="pt-BR" sz="3200" b="1" dirty="0">
                <a:solidFill>
                  <a:schemeClr val="accent6">
                    <a:lumMod val="75000"/>
                  </a:schemeClr>
                </a:solidFill>
              </a:rPr>
              <a:t>foge muito do padrão geral dos dados</a:t>
            </a:r>
            <a:r>
              <a:rPr lang="pt-BR" sz="3200" dirty="0"/>
              <a:t>, ou seja, um valor extremamente diferente da maioria.</a:t>
            </a:r>
          </a:p>
        </p:txBody>
      </p:sp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A78F1-AFE3-BD8A-0EFD-1389BC388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B911E-35DF-8ADC-5025-1F9A436A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:a16="http://schemas.microsoft.com/office/drawing/2014/main" id="{8E0C9C90-D659-B444-5F16-561B66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441" y="1690688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2714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33457" cy="5032375"/>
          </a:xfrm>
        </p:spPr>
        <p:txBody>
          <a:bodyPr>
            <a:normAutofit/>
          </a:bodyPr>
          <a:lstStyle/>
          <a:p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erro de medição (e.g., sensor defeituoso),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registro (e.g., erro de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processamento dos dados (e.g., </a:t>
            </a:r>
            <a:r>
              <a:rPr lang="en-US" dirty="0" err="1"/>
              <a:t>conversão</a:t>
            </a:r>
            <a:r>
              <a:rPr lang="en-US" dirty="0"/>
              <a:t> </a:t>
            </a:r>
            <a:r>
              <a:rPr lang="en-US" dirty="0" err="1"/>
              <a:t>errada</a:t>
            </a:r>
            <a:r>
              <a:rPr lang="en-US" dirty="0"/>
              <a:t> de </a:t>
            </a:r>
            <a:r>
              <a:rPr lang="en-US" dirty="0" err="1"/>
              <a:t>unidade</a:t>
            </a:r>
            <a:r>
              <a:rPr lang="en-US" dirty="0"/>
              <a:t>),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valor </a:t>
            </a:r>
            <a:r>
              <a:rPr lang="pt-BR" b="1" dirty="0"/>
              <a:t>raro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mas válido </a:t>
            </a:r>
            <a:r>
              <a:rPr lang="pt-BR" dirty="0"/>
              <a:t>(e.g., uma fraude bancária, acesso indevido),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:a16="http://schemas.microsoft.com/office/drawing/2014/main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6"/>
          </a:xfrm>
        </p:spPr>
        <p:txBody>
          <a:bodyPr>
            <a:normAutofit/>
          </a:bodyPr>
          <a:lstStyle/>
          <a:p>
            <a:r>
              <a:rPr lang="pt-BR" dirty="0"/>
              <a:t>Distorcem 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/>
              <a:t>Prejudicam 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Esticam a escala e escondem padrões reais.</a:t>
            </a:r>
          </a:p>
          <a:p>
            <a:r>
              <a:rPr lang="pt-BR" dirty="0"/>
              <a:t>Impactam modelos de ML, especialmente os baseados em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Geram modelos enviesados e de pior desempenho.</a:t>
            </a:r>
          </a:p>
          <a:p>
            <a:r>
              <a:rPr lang="pt-BR" dirty="0"/>
              <a:t>Porém, podem revelar informação importante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revelar evento raro </a:t>
            </a:r>
            <a:r>
              <a:rPr lang="pt-BR" b="1" dirty="0">
                <a:solidFill>
                  <a:srgbClr val="FF0000"/>
                </a:solidFill>
              </a:rPr>
              <a:t>relevante</a:t>
            </a:r>
            <a:r>
              <a:rPr lang="pt-BR" b="1" dirty="0">
                <a:solidFill>
                  <a:srgbClr val="7030A0"/>
                </a:solidFill>
              </a:rPr>
              <a:t> </a:t>
            </a:r>
            <a:r>
              <a:rPr lang="pt-BR" dirty="0"/>
              <a:t>como fraude, falha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1" y="1825624"/>
            <a:ext cx="6694714" cy="503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i="1" dirty="0"/>
              <a:t>A média salarial de quem largou Harvard é maior que a de quem se formou</a:t>
            </a:r>
            <a:r>
              <a:rPr lang="pt-BR" dirty="0"/>
              <a:t>. </a:t>
            </a:r>
          </a:p>
          <a:p>
            <a:endParaRPr lang="pt-BR" dirty="0"/>
          </a:p>
          <a:p>
            <a:r>
              <a:rPr lang="pt-BR" dirty="0"/>
              <a:t>Porém, largar a faculdade, provavelmente, não deixará vocês bilionários. </a:t>
            </a:r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(não um erro) </a:t>
            </a:r>
            <a:r>
              <a:rPr lang="pt-BR" b="1" dirty="0"/>
              <a:t>tão grande </a:t>
            </a:r>
            <a:r>
              <a:rPr lang="pt-BR" dirty="0"/>
              <a:t>que </a:t>
            </a:r>
            <a:r>
              <a:rPr lang="pt-BR" b="1" dirty="0">
                <a:solidFill>
                  <a:schemeClr val="accent2"/>
                </a:solidFill>
              </a:rPr>
              <a:t>destrói a representatividade da média</a:t>
            </a:r>
            <a:r>
              <a:rPr lang="pt-BR" dirty="0"/>
              <a:t>.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:a16="http://schemas.microsoft.com/office/drawing/2014/main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857" y="1825624"/>
            <a:ext cx="5802086" cy="5032375"/>
          </a:xfrm>
        </p:spPr>
        <p:txBody>
          <a:bodyPr/>
          <a:lstStyle/>
          <a:p>
            <a:r>
              <a:rPr lang="pt-BR" i="1" dirty="0"/>
              <a:t>Outliers</a:t>
            </a:r>
            <a:r>
              <a:rPr lang="pt-BR" dirty="0"/>
              <a:t> são exceções. </a:t>
            </a:r>
          </a:p>
          <a:p>
            <a:r>
              <a:rPr lang="pt-BR" dirty="0"/>
              <a:t>Porém, exceções não são </a:t>
            </a:r>
            <a:r>
              <a:rPr lang="pt-BR" b="1" dirty="0">
                <a:solidFill>
                  <a:schemeClr val="accent2"/>
                </a:solidFill>
              </a:rPr>
              <a:t>necessariamente erros</a:t>
            </a:r>
            <a:r>
              <a:rPr lang="pt-BR" dirty="0"/>
              <a:t>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investigar</a:t>
            </a:r>
            <a:r>
              <a:rPr lang="en-US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71" y="1825624"/>
            <a:ext cx="5236028" cy="28560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4E8608-6DDB-C7E5-172A-525CFF731ABD}"/>
              </a:ext>
            </a:extLst>
          </p:cNvPr>
          <p:cNvSpPr txBox="1"/>
          <p:nvPr/>
        </p:nvSpPr>
        <p:spPr>
          <a:xfrm>
            <a:off x="465363" y="4816576"/>
            <a:ext cx="54156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estivéssemos medindo a temperatura de um servidor e um sensor marcasse 500°C por um segundo, isso é um erro ou uma exceção que deve ser investigada?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Boxplot</a:t>
            </a:r>
            <a:r>
              <a:rPr lang="pt-BR" i="1" dirty="0"/>
              <a:t> </a:t>
            </a:r>
            <a:r>
              <a:rPr lang="pt-BR" dirty="0"/>
              <a:t>com</a:t>
            </a:r>
            <a:r>
              <a:rPr lang="pt-BR" i="1" dirty="0"/>
              <a:t> </a:t>
            </a:r>
            <a:r>
              <a:rPr lang="pt-BR" dirty="0"/>
              <a:t>intervalos interquartis (IQR)</a:t>
            </a:r>
            <a:endParaRPr lang="pt-BR" i="1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Intervalo Interquartil (IQR)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 (Anexo II)</a:t>
            </a: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pt-BR" dirty="0"/>
              <a:t>Usando a função </a:t>
            </a:r>
            <a:r>
              <a:rPr lang="en-US" sz="2400" b="1" dirty="0">
                <a:latin typeface="Consolas" panose="020B0609020204030204" pitchFamily="49" charset="0"/>
              </a:rPr>
              <a:t>hist</a:t>
            </a:r>
            <a:r>
              <a:rPr lang="en-US" dirty="0"/>
              <a:t> da</a:t>
            </a:r>
            <a:r>
              <a:rPr lang="pt-BR" dirty="0"/>
              <a:t> </a:t>
            </a:r>
            <a:r>
              <a:rPr lang="pt-BR" dirty="0" err="1"/>
              <a:t>matplotlib</a:t>
            </a:r>
            <a:endParaRPr lang="en-US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plt.hist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['Price'], bins=30)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Frequência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Histograma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’)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 </a:t>
            </a: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o </a:t>
            </a:r>
            <a:r>
              <a:rPr lang="en-US" dirty="0" err="1"/>
              <a:t>tamanho</a:t>
            </a:r>
            <a:r>
              <a:rPr lang="en-US" dirty="0"/>
              <a:t> das </a:t>
            </a:r>
            <a:r>
              <a:rPr lang="en-US" dirty="0" err="1"/>
              <a:t>caixas</a:t>
            </a:r>
            <a:r>
              <a:rPr lang="en-US" dirty="0"/>
              <a:t> de </a:t>
            </a:r>
            <a:r>
              <a:rPr lang="en-US" dirty="0" err="1"/>
              <a:t>contagem</a:t>
            </a:r>
            <a:r>
              <a:rPr lang="en-US" dirty="0"/>
              <a:t> e é </a:t>
            </a:r>
            <a:r>
              <a:rPr lang="en-US" dirty="0" err="1"/>
              <a:t>opcional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dirty="0"/>
              <a:t>Histogramas ajudam, mas não são precisos sozinhos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Dependem do número de </a:t>
            </a:r>
            <a:r>
              <a:rPr lang="pt-BR" i="1" dirty="0" err="1"/>
              <a:t>bins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definem limites objetivos para identificação dos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“sumir” em um </a:t>
            </a:r>
            <a:r>
              <a:rPr lang="pt-BR" i="1" dirty="0"/>
              <a:t>bin</a:t>
            </a:r>
            <a:r>
              <a:rPr lang="pt-BR" dirty="0"/>
              <a:t> largo.</a:t>
            </a:r>
          </a:p>
          <a:p>
            <a:r>
              <a:rPr lang="pt-BR" dirty="0"/>
              <a:t>Eles são ótimos para uma visão geral, </a:t>
            </a:r>
            <a:r>
              <a:rPr lang="pt-BR" b="1" dirty="0">
                <a:solidFill>
                  <a:srgbClr val="7030A0"/>
                </a:solidFill>
              </a:rPr>
              <a:t>sugerem a presença</a:t>
            </a:r>
            <a:r>
              <a:rPr lang="pt-BR" dirty="0"/>
              <a:t>, mas </a:t>
            </a:r>
            <a:r>
              <a:rPr lang="pt-BR" b="1" dirty="0"/>
              <a:t>não devem ser </a:t>
            </a:r>
            <a:r>
              <a:rPr lang="pt-BR" b="1" dirty="0">
                <a:solidFill>
                  <a:schemeClr val="accent2"/>
                </a:solidFill>
              </a:rPr>
              <a:t>usados para a decisão final</a:t>
            </a:r>
            <a:r>
              <a:rPr lang="pt-BR" dirty="0"/>
              <a:t>.</a:t>
            </a:r>
          </a:p>
          <a:p>
            <a:r>
              <a:rPr lang="pt-BR" dirty="0"/>
              <a:t>O que fazer então?</a:t>
            </a:r>
          </a:p>
          <a:p>
            <a:endParaRPr lang="pt-BR" dirty="0"/>
          </a:p>
          <a:p>
            <a:endParaRPr lang="en-US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002C-ED76-3067-594A-9D1F9EBAD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CA18C-70C9-6151-A328-ADAA46D9E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7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>
                <a:solidFill>
                  <a:srgbClr val="7030A0"/>
                </a:solidFill>
              </a:rPr>
              <a:t>Como interpretar o gráfico?</a:t>
            </a:r>
            <a:endParaRPr lang="en-US" sz="4000" dirty="0"/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DFE5F07-069C-A9AE-8562-822277BD95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0AA3317-2C05-D4CF-10FC-C3A1F469A69F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34691687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A0B29A-F36F-81D4-C46E-EC6BCD066DA1}"/>
              </a:ext>
            </a:extLst>
          </p:cNvPr>
          <p:cNvSpPr txBox="1">
            <a:spLocks/>
          </p:cNvSpPr>
          <p:nvPr/>
        </p:nvSpPr>
        <p:spPr>
          <a:xfrm>
            <a:off x="6683828" y="1825624"/>
            <a:ext cx="5350329" cy="5032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central define o </a:t>
            </a:r>
            <a:r>
              <a:rPr lang="pt-BR" b="1" dirty="0">
                <a:solidFill>
                  <a:schemeClr val="accent6"/>
                </a:solidFill>
              </a:rPr>
              <a:t>intervalo interquartil </a:t>
            </a:r>
            <a:r>
              <a:rPr lang="pt-BR" dirty="0"/>
              <a:t>(IQR = Q3-Q1).</a:t>
            </a:r>
          </a:p>
          <a:p>
            <a:r>
              <a:rPr lang="pt-BR" b="1" dirty="0"/>
              <a:t>Borda inferior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primeiro quartil (Q1): 25% dos dados estão abaixo desse valor.</a:t>
            </a:r>
          </a:p>
          <a:p>
            <a:r>
              <a:rPr lang="pt-BR" b="1" dirty="0"/>
              <a:t>Linha dentro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b="1" dirty="0"/>
              <a:t> </a:t>
            </a:r>
            <a:r>
              <a:rPr lang="pt-BR" dirty="0"/>
              <a:t>→ </a:t>
            </a:r>
            <a:r>
              <a:rPr lang="pt-BR" b="1" dirty="0">
                <a:solidFill>
                  <a:schemeClr val="accent1"/>
                </a:solidFill>
              </a:rPr>
              <a:t>mediana</a:t>
            </a:r>
            <a:r>
              <a:rPr lang="pt-BR" dirty="0"/>
              <a:t> (Q2): valor central dos dados. Metade dos valores está acima e metade abaixo.</a:t>
            </a:r>
          </a:p>
          <a:p>
            <a:r>
              <a:rPr lang="pt-BR" b="1" dirty="0"/>
              <a:t>Borda superior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terceiro quartil (Q3): 75% dos dados estão abaixo desse valor.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b="1" dirty="0"/>
                  <a:t>Linhas que saem da caixa</a:t>
                </a:r>
                <a:r>
                  <a:rPr lang="pt-BR" dirty="0"/>
                  <a:t> → bigodes (</a:t>
                </a:r>
                <a:r>
                  <a:rPr lang="pt-BR" i="1" dirty="0" err="1"/>
                  <a:t>whiskers</a:t>
                </a:r>
                <a:r>
                  <a:rPr lang="pt-BR" dirty="0"/>
                  <a:t>): vão até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e maior valores que não são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limites são geralmente definidos por: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Q1 −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Q3 +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r>
                  <a:rPr lang="pt-BR" b="1" dirty="0"/>
                  <a:t>Pontos fora dos bigodes </a:t>
                </a:r>
                <a:r>
                  <a:rPr lang="pt-BR" dirty="0"/>
                  <a:t>→ possíveis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controla a sensibilidade: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padrão</a:t>
                </a:r>
                <a:r>
                  <a:rPr lang="pt-BR" dirty="0"/>
                  <a:t>) para </a:t>
                </a:r>
                <a:r>
                  <a:rPr lang="pt-BR" i="1" dirty="0"/>
                  <a:t>outliers</a:t>
                </a:r>
                <a:r>
                  <a:rPr lang="pt-BR" dirty="0"/>
                  <a:t> moderados,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 para casos extremos.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  <a:blipFill>
                <a:blip r:embed="rId4"/>
                <a:stretch>
                  <a:fillRect l="-1933" t="-2663" r="-2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  <a:p>
            <a:r>
              <a:rPr lang="en-US" dirty="0" err="1"/>
              <a:t>Usando</a:t>
            </a:r>
            <a:r>
              <a:rPr lang="en-US" dirty="0"/>
              <a:t> a </a:t>
            </a:r>
            <a:r>
              <a:rPr lang="en-US" dirty="0" err="1"/>
              <a:t>função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boxplot</a:t>
            </a:r>
            <a:r>
              <a:rPr lang="en-US" dirty="0"/>
              <a:t> da matplotlib</a:t>
            </a:r>
            <a:endParaRPr lang="pt-BR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plt.boxplot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('Boxplot do 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i="1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Robusto a </a:t>
                </a:r>
                <a:r>
                  <a:rPr lang="pt-BR" i="1" dirty="0"/>
                  <a:t>outliers</a:t>
                </a:r>
                <a:r>
                  <a:rPr lang="pt-BR" dirty="0"/>
                  <a:t>, pois usa </a:t>
                </a:r>
                <a:r>
                  <a:rPr lang="pt-BR" dirty="0" err="1"/>
                  <a:t>quantis</a:t>
                </a:r>
                <a:r>
                  <a:rPr lang="pt-BR" dirty="0"/>
                  <a:t> e não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mesmo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Fácil de interpretar visualmente (</a:t>
                </a:r>
                <a:r>
                  <a:rPr lang="pt-BR" i="1" dirty="0" err="1"/>
                  <a:t>boxplots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assume nenhuma distribuição específica dos dados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falhar em distribuições multimodais (vários picos)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é uma convenção prática e pode não ser ideal em todos os casos.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Treine o modelo com e sem os </a:t>
                </a:r>
                <a:r>
                  <a:rPr lang="pt-BR" i="1" dirty="0"/>
                  <a:t>outliers</a:t>
                </a:r>
                <a:r>
                  <a:rPr lang="pt-BR" dirty="0"/>
                  <a:t> identificados por 1.5 e veja se a performance melhora.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Em conjuntos grandes,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pode definir muitos pontos como </a:t>
                </a:r>
                <a:r>
                  <a:rPr lang="pt-BR" i="1" dirty="0"/>
                  <a:t>outliers</a:t>
                </a:r>
                <a:r>
                  <a:rPr lang="pt-BR" dirty="0"/>
                  <a:t>, nesses casos, usar valor 3 ou ajustar empiricamente.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Ineficaz para conjuntos de dados pequenos, pois eles não representam a distribuição com precisão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 b="-23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Removendo </a:t>
            </a:r>
            <a:r>
              <a:rPr lang="pt-BR" b="1" i="1" dirty="0"/>
              <a:t>outliers</a:t>
            </a:r>
            <a:r>
              <a:rPr lang="pt-BR" b="1" dirty="0"/>
              <a:t> com a distância interquartil (IQR)</a:t>
            </a:r>
            <a:endParaRPr lang="pt-BR" b="1" dirty="0">
              <a:solidFill>
                <a:schemeClr val="accent2"/>
              </a:solidFill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 = Q1 - 1.5 * IQR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 = Q3 + 1.5 * IQR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&gt;= </a:t>
            </a: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) &amp;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&lt;= </a:t>
            </a: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2" name="Picture 4" descr="Correlation is not causation">
            <a:extLst>
              <a:ext uri="{FF2B5EF4-FFF2-40B4-BE49-F238E27FC236}">
                <a16:creationId xmlns:a16="http://schemas.microsoft.com/office/drawing/2014/main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9" y="2017257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511B536-0992-FB4B-1DCF-E2E1616C8B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00" y="2141358"/>
            <a:ext cx="5797168" cy="383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3200" b="1" dirty="0"/>
              <a:t>Objetivo</a:t>
            </a:r>
            <a:r>
              <a:rPr lang="en-US" sz="3200" dirty="0"/>
              <a:t>: </a:t>
            </a:r>
            <a:r>
              <a:rPr lang="pt-BR" sz="3200" dirty="0"/>
              <a:t>descobrir </a:t>
            </a:r>
            <a:r>
              <a:rPr lang="pt-BR" sz="3200" b="1" dirty="0">
                <a:solidFill>
                  <a:schemeClr val="accent5"/>
                </a:solidFill>
              </a:rPr>
              <a:t>padrões e estruturas escondidas </a:t>
            </a:r>
            <a:r>
              <a:rPr lang="pt-BR" sz="3200" dirty="0"/>
              <a:t>nos dados.</a:t>
            </a:r>
          </a:p>
          <a:p>
            <a:pPr marL="0" indent="0">
              <a:buNone/>
            </a:pPr>
            <a:endParaRPr lang="pt-BR" sz="3200" dirty="0"/>
          </a:p>
          <a:p>
            <a:pPr marL="0" indent="0">
              <a:buNone/>
            </a:pPr>
            <a:r>
              <a:rPr lang="pt-BR" sz="3200" dirty="0"/>
              <a:t>Relações entre variáveis revelam:</a:t>
            </a:r>
          </a:p>
          <a:p>
            <a:r>
              <a:rPr lang="pt-BR" sz="3200" dirty="0"/>
              <a:t>Tendências</a:t>
            </a:r>
          </a:p>
          <a:p>
            <a:r>
              <a:rPr lang="pt-BR" sz="3200" dirty="0"/>
              <a:t>Dependências</a:t>
            </a:r>
          </a:p>
          <a:p>
            <a:r>
              <a:rPr lang="pt-BR" sz="3200" dirty="0"/>
              <a:t>Agrupamentos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7855-7A3A-8DD9-CD0B-6DED2881E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F40D-E284-8F76-174B-A3BA30632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:a16="http://schemas.microsoft.com/office/drawing/2014/main" id="{120B10EC-553A-6C62-98FB-7F2D3164D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CC14B3-C0EE-4107-4C24-7E4D3D3F5919}"/>
              </a:ext>
            </a:extLst>
          </p:cNvPr>
          <p:cNvSpPr txBox="1"/>
          <p:nvPr/>
        </p:nvSpPr>
        <p:spPr>
          <a:xfrm>
            <a:off x="6193971" y="2132213"/>
            <a:ext cx="54597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Importante!</a:t>
            </a:r>
          </a:p>
          <a:p>
            <a:pPr algn="ctr"/>
            <a:r>
              <a:rPr lang="en-US" sz="3600" b="1" dirty="0" err="1"/>
              <a:t>Correlação</a:t>
            </a:r>
            <a:r>
              <a:rPr lang="en-US" sz="3600" b="1" dirty="0"/>
              <a:t> </a:t>
            </a:r>
            <a:r>
              <a:rPr lang="en-US" sz="3600" b="1" dirty="0" err="1"/>
              <a:t>não</a:t>
            </a:r>
            <a:r>
              <a:rPr lang="en-US" sz="3600" b="1" dirty="0"/>
              <a:t> </a:t>
            </a:r>
            <a:r>
              <a:rPr lang="en-US" sz="3600" b="1" dirty="0" err="1"/>
              <a:t>implica</a:t>
            </a:r>
            <a:r>
              <a:rPr lang="en-US" sz="3600" b="1" dirty="0"/>
              <a:t> </a:t>
            </a:r>
            <a:r>
              <a:rPr lang="en-US" sz="3600" b="1" dirty="0" err="1"/>
              <a:t>causalidade</a:t>
            </a:r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r>
              <a:rPr lang="en-US" sz="3600" b="1" dirty="0">
                <a:solidFill>
                  <a:schemeClr val="accent5"/>
                </a:solidFill>
              </a:rPr>
              <a:t>Comer </a:t>
            </a:r>
            <a:r>
              <a:rPr lang="en-US" sz="3600" b="1" dirty="0" err="1">
                <a:solidFill>
                  <a:schemeClr val="accent5"/>
                </a:solidFill>
              </a:rPr>
              <a:t>frango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não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te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faz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ir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pra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lua</a:t>
            </a:r>
            <a:r>
              <a:rPr lang="en-US" sz="3600" b="1" dirty="0">
                <a:solidFill>
                  <a:schemeClr val="accent5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809556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2005" cy="5032375"/>
          </a:xfrm>
        </p:spPr>
        <p:txBody>
          <a:bodyPr>
            <a:normAutofit/>
          </a:bodyPr>
          <a:lstStyle/>
          <a:p>
            <a:r>
              <a:rPr lang="pt-BR" dirty="0"/>
              <a:t>Ao analisar os dados, podemos encontrar relações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Preço do carro ↑ conforme potência ↑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Consumo ↓ conforme peso ↑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8F25E-9273-70BA-8BC7-B1661FAB9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82"/>
          <a:stretch>
            <a:fillRect/>
          </a:stretch>
        </p:blipFill>
        <p:spPr>
          <a:xfrm>
            <a:off x="2229195" y="3175761"/>
            <a:ext cx="3237899" cy="36030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4A51A9-BCCC-5A49-03E1-C55920166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82"/>
          <a:stretch>
            <a:fillRect/>
          </a:stretch>
        </p:blipFill>
        <p:spPr>
          <a:xfrm>
            <a:off x="5692513" y="3175761"/>
            <a:ext cx="3237899" cy="3603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selecionar atributos relevantes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Quais atributos realmente influenciam o </a:t>
            </a:r>
            <a:r>
              <a:rPr lang="pt-BR" i="1" dirty="0"/>
              <a:t>target</a:t>
            </a:r>
            <a:r>
              <a:rPr lang="pt-BR" dirty="0"/>
              <a:t> (i.e., o rótulo)?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atributos redundantes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</a:t>
            </a:r>
            <a:r>
              <a:rPr lang="pt-BR" dirty="0" err="1"/>
              <a:t>multicolinearidade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É quando </a:t>
            </a:r>
            <a:r>
              <a:rPr lang="pt-BR" b="1" dirty="0">
                <a:solidFill>
                  <a:srgbClr val="7030A0"/>
                </a:solidFill>
              </a:rPr>
              <a:t>dois ou mais </a:t>
            </a:r>
            <a:r>
              <a:rPr lang="pt-BR" b="1" dirty="0">
                <a:solidFill>
                  <a:schemeClr val="accent2"/>
                </a:solidFill>
              </a:rPr>
              <a:t>atributos</a:t>
            </a:r>
            <a:r>
              <a:rPr lang="pt-BR" b="1" dirty="0">
                <a:solidFill>
                  <a:srgbClr val="7030A0"/>
                </a:solidFill>
              </a:rPr>
              <a:t> estão altamente correlacionados</a:t>
            </a:r>
            <a:r>
              <a:rPr lang="pt-BR" dirty="0"/>
              <a:t>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modelos de ML adequados</a:t>
            </a:r>
          </a:p>
        </p:txBody>
      </p:sp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1909-8216-9D2D-594A-1091741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335C-F504-5D32-BB1B-9B0D7009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4E877-5175-E486-9E2F-39817E906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:a16="http://schemas.microsoft.com/office/drawing/2014/main" id="{1A635F70-65D3-D2A1-267F-519E5EE2F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078" y="3358242"/>
            <a:ext cx="5560721" cy="340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B6E1719E-47EB-C0A6-CCC3-194BC9707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114" y="3429000"/>
            <a:ext cx="4014679" cy="326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9538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 de relação </a:t>
                </a:r>
                <a:r>
                  <a:rPr lang="pt-BR" b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entre </a:t>
                </a:r>
                <a:r>
                  <a:rPr lang="pt-BR" b="1" dirty="0">
                    <a:solidFill>
                      <a:srgbClr val="00B050"/>
                    </a:solidFill>
                  </a:rPr>
                  <a:t>pares</a:t>
                </a:r>
                <a:r>
                  <a:rPr lang="pt-BR" dirty="0"/>
                  <a:t> de variáveis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numéricas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Cada elemento da matriz é calculado usando-se o coeficiente de correlação de Pearson: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variam de −1 a +1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Quando uma variável aumenta, a outra também aumenta.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Quando uma variável aumenta, a outra diminui.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pontos formam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linha reta perfeita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-1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inversa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Os pontos estão espalhados como uma "nuvem" </a:t>
                </a:r>
                <a:r>
                  <a:rPr lang="pt-BR" b="1" dirty="0">
                    <a:solidFill>
                      <a:srgbClr val="7030A0"/>
                    </a:solidFill>
                  </a:rPr>
                  <a:t>sem direção clara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relação linear entre as variáveis.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735A3-55E4-A8B7-6797-060E1E07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A68C6-A7AE-2D74-29E2-3ACDBF11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1D4C6227-26B8-F9FA-1251-FABD63BCDD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não depende da inclinação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também é igual a 0</a:t>
                </a:r>
                <a:r>
                  <a:rPr lang="pt-BR" noProof="0" dirty="0"/>
                  <a:t> se a correlação é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Mesmo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 sendo uma função não linear de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noProof="0" dirty="0"/>
                  <a:t> (e.g.,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noProof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),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será 0.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3"/>
                <a:stretch>
                  <a:fillRect t="-1937" r="-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65272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Identificar variáveis fortemente relacionadas.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Relacionadas linearmente.</a:t>
                </a:r>
                <a:endParaRPr lang="pt-BR" noProof="0" dirty="0"/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</a:t>
                </a:r>
                <a:r>
                  <a:rPr lang="pt-BR" dirty="0"/>
                  <a:t>e</a:t>
                </a:r>
                <a:r>
                  <a:rPr lang="pt-BR" noProof="0" dirty="0"/>
                  <a:t> para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reduzir</a:t>
                </a:r>
                <a14:m>
                  <m:oMath xmlns:m="http://schemas.openxmlformats.org/officeDocument/2006/math">
                    <m:r>
                      <a:rPr lang="pt-BR" b="1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1" noProof="0" dirty="0">
                    <a:solidFill>
                      <a:schemeClr val="accent2"/>
                    </a:solidFill>
                  </a:rPr>
                  <a:t>redundância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Apoiar seleção de atributos.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Selecionar atributos que realmente influenciam no </a:t>
                </a:r>
                <a:r>
                  <a:rPr lang="pt-BR" i="1" dirty="0"/>
                  <a:t>target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Relação pode ser modelada por uma reta?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  <a:blipFill>
                <a:blip r:embed="rId3"/>
                <a:stretch>
                  <a:fillRect l="-1795" t="-1937" r="-1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429" y="1913768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D7ACF-F546-3D69-A5AF-82586A83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4DA5A-3FB2-2177-9C65-846662D7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noProof="0" dirty="0">
                    <a:solidFill>
                      <a:srgbClr val="7030A0"/>
                    </a:solidFill>
                  </a:rPr>
                  <a:t>Não mostra a forma da relação </a:t>
                </a:r>
                <a:r>
                  <a:rPr lang="pt-BR" noProof="0" dirty="0"/>
                  <a:t>e, portanto, não indica se 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relação é não-linear</a:t>
                </a:r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coeficiente, como o de </a:t>
                </a:r>
                <a:r>
                  <a:rPr lang="pt-BR" noProof="0" dirty="0" err="1"/>
                  <a:t>Spearman</a:t>
                </a:r>
                <a:r>
                  <a:rPr lang="pt-BR" dirty="0"/>
                  <a:t> (Anexo IV).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  <a:blipFill>
                <a:blip r:embed="rId3"/>
                <a:stretch>
                  <a:fillRect l="-1670" t="-1937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E8F851E8-11B2-E29A-E4FB-57C22AB37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2066168"/>
            <a:ext cx="5250108" cy="4269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782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Matriz de correlação com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2"/>
                </a:solidFill>
              </a:rPr>
              <a:t>Mostra</a:t>
            </a:r>
            <a:r>
              <a:rPr lang="pt-BR" dirty="0"/>
              <a:t> a relação entre duas variáveis, </a:t>
            </a:r>
            <a:r>
              <a:rPr lang="pt-BR" b="1" dirty="0">
                <a:solidFill>
                  <a:srgbClr val="7030A0"/>
                </a:solidFill>
              </a:rPr>
              <a:t>revelando padrões que números não mostram</a:t>
            </a:r>
            <a:r>
              <a:rPr lang="pt-BR" dirty="0"/>
              <a:t>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:a16="http://schemas.microsoft.com/office/drawing/2014/main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 número de variáveis cresce, são necessários muitos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</a:t>
            </a:r>
            <a:r>
              <a:rPr lang="pt-BR" b="1" dirty="0">
                <a:solidFill>
                  <a:srgbClr val="7030A0"/>
                </a:solidFill>
              </a:rPr>
              <a:t>processo manual, cansativo e propenso ao erro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ficar poluído em </a:t>
            </a:r>
            <a:r>
              <a:rPr lang="pt-BR" i="1" dirty="0" err="1"/>
              <a:t>datasets</a:t>
            </a:r>
            <a:r>
              <a:rPr lang="pt-BR" dirty="0"/>
              <a:t> grandes: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i="1" dirty="0"/>
              <a:t>outliers</a:t>
            </a:r>
            <a:r>
              <a:rPr lang="pt-BR" dirty="0"/>
              <a:t>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>
                <a:latin typeface="Consolas" panose="020B0609020204030204" pitchFamily="49" charset="0"/>
              </a:rPr>
              <a:t>()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75DCCF7-2DB5-506A-50FE-821A5D12D186}"/>
              </a:ext>
            </a:extLst>
          </p:cNvPr>
          <p:cNvSpPr txBox="1"/>
          <p:nvPr/>
        </p:nvSpPr>
        <p:spPr>
          <a:xfrm>
            <a:off x="6564043" y="6542493"/>
            <a:ext cx="5665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OBS.: Um exemplo mais completo de EDA pode ser encontrado no Anexo V.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96A4-E794-4AE4-2D06-D06A4ACC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</a:t>
            </a:r>
          </a:p>
          <a:p>
            <a:pPr marL="0" indent="0" algn="ctr">
              <a:buNone/>
            </a:pPr>
            <a:r>
              <a:rPr lang="pt-BR" sz="5400" dirty="0"/>
              <a:t>Preenchimento inteligente de dados faltantes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52404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Preenchimento inteligente</a:t>
                </a:r>
                <a:r>
                  <a:rPr lang="pt-BR" dirty="0"/>
                  <a:t>: </a:t>
                </a:r>
              </a:p>
              <a:p>
                <a:r>
                  <a:rPr lang="pt-BR" dirty="0"/>
                  <a:t>Usa estimativas dos valores faltantes obtidas através do padrão dos dados, não um valor fixo.</a:t>
                </a:r>
              </a:p>
              <a:p>
                <a:r>
                  <a:rPr lang="pt-BR" dirty="0"/>
                  <a:t>O valor faltante é estimado a partir de outras colunas e linhas do </a:t>
                </a:r>
                <a:r>
                  <a:rPr lang="pt-BR" i="1" dirty="0"/>
                  <a:t>dataset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Pode-se usar as classes da biblioteca </a:t>
                </a:r>
                <a:r>
                  <a:rPr lang="pt-BR" dirty="0" err="1"/>
                  <a:t>SciKit-Learn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KNNImputer</a:t>
                </a:r>
                <a:r>
                  <a:rPr lang="en-US" dirty="0"/>
                  <a:t>: </a:t>
                </a:r>
                <a:r>
                  <a:rPr lang="en-US" dirty="0" err="1"/>
                  <a:t>usa</a:t>
                </a:r>
                <a:r>
                  <a:rPr lang="en-US" dirty="0"/>
                  <a:t> a media das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amostras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“</a:t>
                </a:r>
                <a:r>
                  <a:rPr lang="en-US" dirty="0" err="1"/>
                  <a:t>próximas</a:t>
                </a:r>
                <a:r>
                  <a:rPr lang="en-US" dirty="0"/>
                  <a:t>”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IterativeImputer</a:t>
                </a:r>
                <a:r>
                  <a:rPr lang="en-US" dirty="0"/>
                  <a:t>: </a:t>
                </a:r>
                <a:r>
                  <a:rPr lang="en-US" dirty="0" err="1"/>
                  <a:t>treina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de </a:t>
                </a:r>
                <a:r>
                  <a:rPr lang="en-US" dirty="0" err="1"/>
                  <a:t>regressão</a:t>
                </a:r>
                <a:r>
                  <a:rPr lang="en-US" dirty="0"/>
                  <a:t> para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atributo</a:t>
                </a:r>
                <a:r>
                  <a:rPr lang="en-US" dirty="0"/>
                  <a:t> (i.e., </a:t>
                </a:r>
                <a:r>
                  <a:rPr lang="en-US" dirty="0" err="1"/>
                  <a:t>coluna</a:t>
                </a:r>
                <a:r>
                  <a:rPr lang="en-US" dirty="0"/>
                  <a:t>)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Funcionam apenas para dados numéricos.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  <a:blipFill>
                <a:blip r:embed="rId3"/>
                <a:stretch>
                  <a:fillRect l="-980" t="-1937" r="-1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32405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387180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872928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92F8-9561-AF41-C928-7E5EBD71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5A95-5720-EFEF-0291-937E384F2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II: </a:t>
            </a:r>
          </a:p>
          <a:p>
            <a:pPr marL="0" indent="0" algn="ctr">
              <a:buNone/>
            </a:pPr>
            <a:r>
              <a:rPr lang="pt-BR" sz="5400" dirty="0"/>
              <a:t>Detectando </a:t>
            </a:r>
            <a:r>
              <a:rPr lang="pt-BR" sz="5400" i="1" dirty="0"/>
              <a:t>outliers</a:t>
            </a:r>
            <a:r>
              <a:rPr lang="pt-BR" sz="5400" dirty="0"/>
              <a:t> com Z-</a:t>
            </a:r>
            <a:r>
              <a:rPr lang="pt-BR" sz="5400" i="1" dirty="0"/>
              <a:t>score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7277549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65522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8312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248703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0629668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91969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Técnicas avançadas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</a:t>
            </a:r>
            <a:r>
              <a:rPr lang="pt-BR" i="1" dirty="0"/>
              <a:t>score</a:t>
            </a:r>
            <a:r>
              <a:rPr lang="pt-BR" dirty="0"/>
              <a:t>, existem técnicas mais avançadas para detectar </a:t>
            </a:r>
            <a:r>
              <a:rPr lang="pt-BR" i="1" dirty="0"/>
              <a:t>outliers</a:t>
            </a:r>
            <a:r>
              <a:rPr lang="pt-BR" dirty="0"/>
              <a:t>,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i="1" dirty="0" err="1"/>
              <a:t>Violin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 das distribuições, destacando </a:t>
            </a:r>
            <a:r>
              <a:rPr lang="pt-BR" b="1" dirty="0">
                <a:solidFill>
                  <a:srgbClr val="7030A0"/>
                </a:solidFill>
              </a:rPr>
              <a:t>assimetrias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:a16="http://schemas.microsoft.com/office/drawing/2014/main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86042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3F423-32E1-1034-FEC3-5D9751A1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D9294-7A84-B9BF-59E9-C44286243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III: </a:t>
            </a:r>
          </a:p>
          <a:p>
            <a:pPr marL="0" indent="0" algn="ctr">
              <a:buNone/>
            </a:pPr>
            <a:r>
              <a:rPr lang="pt-BR" sz="5400" dirty="0"/>
              <a:t>Correlação de </a:t>
            </a:r>
            <a:r>
              <a:rPr lang="pt-BR" sz="5400" dirty="0" err="1"/>
              <a:t>Spearman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70513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6830D-474B-07D3-CAA1-5E907CFF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48667-EA20-7AF9-704A-64EF48AA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2AEF05-5EAC-A042-49EA-B44A07C616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:a16="http://schemas.microsoft.com/office/drawing/2014/main" id="{209AB1E3-5E47-92DB-C423-EAA8316C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:a16="http://schemas.microsoft.com/office/drawing/2014/main" id="{BAD941F4-BA64-9C82-30AB-0821FC551F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84E87-DB86-3E2C-422C-92B61F74B56B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8781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EB8E7-9B3E-ABD6-5400-C19C8259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CB6FC-1460-40D4-81B5-50532AE9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09C43-DE79-9D9A-B126-A5451C89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095923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3C395-9900-9D1C-1E17-4F9E20B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751C8-7A80-008D-4A32-CC03A531B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IV: </a:t>
            </a:r>
          </a:p>
          <a:p>
            <a:pPr marL="0" indent="0" algn="ctr">
              <a:buNone/>
            </a:pPr>
            <a:r>
              <a:rPr lang="pt-BR" sz="5400" dirty="0"/>
              <a:t>Análise exploratória automática com p</a:t>
            </a:r>
            <a:r>
              <a:rPr lang="en-US" sz="5400" dirty="0" err="1"/>
              <a:t>andas</a:t>
            </a:r>
            <a:r>
              <a:rPr lang="en-US" sz="5400" dirty="0"/>
              <a:t> </a:t>
            </a:r>
            <a:r>
              <a:rPr lang="en-US" sz="5400" i="1" dirty="0"/>
              <a:t>profiling</a:t>
            </a:r>
          </a:p>
        </p:txBody>
      </p:sp>
    </p:spTree>
    <p:extLst>
      <p:ext uri="{BB962C8B-B14F-4D97-AF65-F5344CB8AC3E}">
        <p14:creationId xmlns:p14="http://schemas.microsoft.com/office/powerpoint/2010/main" val="178315663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</a:t>
            </a:r>
            <a:r>
              <a:rPr lang="en-US" i="1" dirty="0"/>
              <a:t>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731038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282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DDDB1-A617-F2CB-2AC6-6249E059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C33C5-D7D4-5199-C534-C0EFC8924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V: </a:t>
            </a:r>
          </a:p>
          <a:p>
            <a:pPr marL="0" indent="0" algn="ctr">
              <a:buNone/>
            </a:pPr>
            <a:r>
              <a:rPr lang="pt-BR" sz="5400" dirty="0"/>
              <a:t>Exemplo completo de análise exploratória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0534488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0B311-980F-D9AA-926A-81733C2D8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4F7D5-B901-FD0B-A131-F86BC3FF4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237D80-4B0E-1888-5494-A27CBA351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intro_eda_completo.ipynb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E29340-33AA-4EAA-6CA8-3CBAEF75F116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813E92CE-DACB-8BC0-069E-FCB2B66E38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16B48BA-F74F-7F6B-8429-BD3FB818E6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AAB60F89-91B2-173A-1762-FDCA3A65C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4D007A07-E611-D0C2-8A08-FF22F3D736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9805E746-68AC-108D-8BB7-108A0DE4C1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7746892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Props1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10622</TotalTime>
  <Words>5891</Words>
  <Application>Microsoft Office PowerPoint</Application>
  <PresentationFormat>Widescreen</PresentationFormat>
  <Paragraphs>670</Paragraphs>
  <Slides>71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9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Análise Exploratória de Dados (EDA)</vt:lpstr>
      <vt:lpstr>PowerPoint Presentation</vt:lpstr>
      <vt:lpstr>Introdução</vt:lpstr>
      <vt:lpstr>Por que realizar análise exploratória?</vt:lpstr>
      <vt:lpstr>Inspeção visual e estatística</vt:lpstr>
      <vt:lpstr>PowerPoint Presentation</vt:lpstr>
      <vt:lpstr>Tipo dos dados</vt:lpstr>
      <vt:lpstr>Tipo dos dados</vt:lpstr>
      <vt:lpstr>Variáveis qualitativas</vt:lpstr>
      <vt:lpstr>Variáveis quantitativas</vt:lpstr>
      <vt:lpstr>Etapas de exploração dos dados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Técnicas para o tratamento de valores ausentes</vt:lpstr>
      <vt:lpstr>Técnicas para o tratamento de valores ausentes</vt:lpstr>
      <vt:lpstr>Técnicas para o tratamento de valores ausentes</vt:lpstr>
      <vt:lpstr>Técnicas para o tratamento de valores ausentes</vt:lpstr>
      <vt:lpstr>O que é um outlier?</vt:lpstr>
      <vt:lpstr>O que é um outlier?</vt:lpstr>
      <vt:lpstr>O que é um outlier?</vt:lpstr>
      <vt:lpstr>O que eles causam?</vt:lpstr>
      <vt:lpstr>O que eles causam?</vt:lpstr>
      <vt:lpstr>O que eles causam?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Como remover outliers?</vt:lpstr>
      <vt:lpstr>Relação entre variáveis</vt:lpstr>
      <vt:lpstr>Relação entre variáveis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Correlação de Pearson</vt:lpstr>
      <vt:lpstr>Para que serve a matriz de correlação?</vt:lpstr>
      <vt:lpstr>Para que serve a matriz de correlação?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Exemplo</vt:lpstr>
      <vt:lpstr>PowerPoint Presentation</vt:lpstr>
      <vt:lpstr>PowerPoint Presentation</vt:lpstr>
      <vt:lpstr>PowerPoint Presentation</vt:lpstr>
      <vt:lpstr>Técnicas para o tratamento de valores ausentes</vt:lpstr>
      <vt:lpstr>Tratando valores faltantes</vt:lpstr>
      <vt:lpstr>Tratando valores faltantes</vt:lpstr>
      <vt:lpstr>PowerPoint Presentation</vt:lpstr>
      <vt:lpstr>Como detectar outliers?</vt:lpstr>
      <vt:lpstr>Como detectar outliers?</vt:lpstr>
      <vt:lpstr>Como detectar outliers?</vt:lpstr>
      <vt:lpstr>Como remover outliers?</vt:lpstr>
      <vt:lpstr>Vantagens e desvantagens: Z-score</vt:lpstr>
      <vt:lpstr>Técnicas avançadas para detecção de outliers</vt:lpstr>
      <vt:lpstr>PowerPoint Presentation</vt:lpstr>
      <vt:lpstr>Correlação de Spearman</vt:lpstr>
      <vt:lpstr>Plotando a matriz de correlação</vt:lpstr>
      <vt:lpstr>PowerPoint Presentation</vt:lpstr>
      <vt:lpstr>Pandas profiling</vt:lpstr>
      <vt:lpstr>Como gerar o relatório?</vt:lpstr>
      <vt:lpstr>PowerPoint Presentation</vt:lpstr>
      <vt:lpstr>Exemplo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2094</cp:revision>
  <dcterms:created xsi:type="dcterms:W3CDTF">2020-01-20T13:50:05Z</dcterms:created>
  <dcterms:modified xsi:type="dcterms:W3CDTF">2026-03-02T22:02:59Z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