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9"/>
  </p:notesMasterIdLst>
  <p:handoutMasterIdLst>
    <p:handoutMasterId r:id="rId80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47" r:id="rId39"/>
    <p:sldId id="366" r:id="rId40"/>
    <p:sldId id="384" r:id="rId41"/>
    <p:sldId id="363" r:id="rId42"/>
    <p:sldId id="365" r:id="rId43"/>
    <p:sldId id="385" r:id="rId44"/>
    <p:sldId id="329" r:id="rId45"/>
    <p:sldId id="367" r:id="rId46"/>
    <p:sldId id="391" r:id="rId47"/>
    <p:sldId id="368" r:id="rId48"/>
    <p:sldId id="392" r:id="rId49"/>
    <p:sldId id="369" r:id="rId50"/>
    <p:sldId id="364" r:id="rId51"/>
    <p:sldId id="371" r:id="rId52"/>
    <p:sldId id="372" r:id="rId53"/>
    <p:sldId id="308" r:id="rId54"/>
    <p:sldId id="395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61" r:id="rId68"/>
    <p:sldId id="389" r:id="rId69"/>
    <p:sldId id="387" r:id="rId70"/>
    <p:sldId id="388" r:id="rId71"/>
    <p:sldId id="390" r:id="rId72"/>
    <p:sldId id="334" r:id="rId73"/>
    <p:sldId id="373" r:id="rId74"/>
    <p:sldId id="394" r:id="rId75"/>
    <p:sldId id="393" r:id="rId76"/>
    <p:sldId id="452" r:id="rId77"/>
    <p:sldId id="444" r:id="rId7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586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 bancária,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</a:t>
            </a:r>
            <a:r>
              <a:rPr lang="pt-BR" b="1" dirty="0">
                <a:solidFill>
                  <a:srgbClr val="FF0000"/>
                </a:solidFill>
              </a:rPr>
              <a:t>relevante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</a:t>
            </a:r>
            <a:r>
              <a:rPr lang="pt-BR" b="1" dirty="0"/>
              <a:t>tão grande </a:t>
            </a:r>
            <a:r>
              <a:rPr lang="pt-BR" dirty="0"/>
              <a:t>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</a:t>
            </a:r>
            <a:r>
              <a:rPr lang="pt-BR" dirty="0" err="1"/>
              <a:t>exrcícios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004E1-01BA-5756-F8E2-7323DBF9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B8037-326E-12F8-6CF1-4F38F24E1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VI: </a:t>
            </a:r>
          </a:p>
          <a:p>
            <a:pPr marL="0" indent="0" algn="ctr">
              <a:buNone/>
            </a:pPr>
            <a:r>
              <a:rPr lang="pt-BR" sz="5400" dirty="0"/>
              <a:t>Efeitos de outliers no treinamento de modelos de ML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93061388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Impacto de </a:t>
            </a:r>
            <a:r>
              <a:rPr lang="pt-BR" i="1" dirty="0"/>
              <a:t>outliers</a:t>
            </a:r>
            <a:r>
              <a:rPr lang="pt-BR" dirty="0"/>
              <a:t> no modelo aprendido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Outliers</a:t>
            </a:r>
            <a:r>
              <a:rPr lang="pt-BR" dirty="0"/>
              <a:t> podem levar o modelo a se concentrar demais em reduzir os erros grandes, em detrimento de um bom ajuste geral.</a:t>
            </a:r>
          </a:p>
          <a:p>
            <a:r>
              <a:rPr lang="pt-BR" dirty="0"/>
              <a:t>A consequência disso é a</a:t>
            </a:r>
            <a:r>
              <a:rPr lang="pt-BR" b="0" i="0" dirty="0">
                <a:effectLst/>
              </a:rPr>
              <a:t> </a:t>
            </a:r>
            <a:r>
              <a:rPr lang="pt-BR" b="1" dirty="0">
                <a:solidFill>
                  <a:srgbClr val="00B050"/>
                </a:solidFill>
                <a:effectLst/>
              </a:rPr>
              <a:t>distorção do modelo aprendido</a:t>
            </a:r>
            <a:r>
              <a:rPr lang="pt-BR" b="0" i="0" dirty="0">
                <a:effectLst/>
              </a:rPr>
              <a:t>, fazendo com que ele se </a:t>
            </a:r>
            <a:r>
              <a:rPr lang="pt-BR" b="1" i="0" dirty="0">
                <a:solidFill>
                  <a:schemeClr val="accent2"/>
                </a:solidFill>
                <a:effectLst/>
              </a:rPr>
              <a:t>distancie</a:t>
            </a:r>
            <a:r>
              <a:rPr lang="pt-BR" b="0" i="0" dirty="0">
                <a:effectLst/>
              </a:rPr>
              <a:t> de um </a:t>
            </a:r>
            <a:r>
              <a:rPr lang="pt-BR" b="1" i="0" dirty="0">
                <a:solidFill>
                  <a:schemeClr val="accent2"/>
                </a:solidFill>
                <a:effectLst/>
              </a:rPr>
              <a:t>mapeamento que represente o comportamento dos dados típicos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DB4E377-29F9-3F4A-FEBF-A885B6F2205E}"/>
              </a:ext>
            </a:extLst>
          </p:cNvPr>
          <p:cNvGrpSpPr/>
          <p:nvPr/>
        </p:nvGrpSpPr>
        <p:grpSpPr>
          <a:xfrm>
            <a:off x="762000" y="2537470"/>
            <a:ext cx="4031374" cy="3258156"/>
            <a:chOff x="838200" y="3593384"/>
            <a:chExt cx="4031374" cy="325815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7CBC9B34-92E1-B52B-8142-014B6553EA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3593384"/>
              <a:ext cx="3753596" cy="2847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939C8695-1AC6-E3B6-703C-D28BBA11C447}"/>
                </a:ext>
              </a:extLst>
            </p:cNvPr>
            <p:cNvSpPr/>
            <p:nvPr/>
          </p:nvSpPr>
          <p:spPr>
            <a:xfrm>
              <a:off x="2412510" y="3593384"/>
              <a:ext cx="410966" cy="32148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97EA9FFC-A8FC-FBFD-695A-DC546F50941B}"/>
                    </a:ext>
                  </a:extLst>
                </p:cNvPr>
                <p:cNvSpPr txBox="1"/>
                <p:nvPr/>
              </p:nvSpPr>
              <p:spPr>
                <a:xfrm>
                  <a:off x="1197419" y="6482208"/>
                  <a:ext cx="367215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original: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endParaRPr lang="pt-BR" dirty="0"/>
                </a:p>
              </p:txBody>
            </p:sp>
          </mc:Choice>
          <mc:Fallback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97EA9FFC-A8FC-FBFD-695A-DC546F509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419" y="6482208"/>
                  <a:ext cx="3672155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495"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663156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10627</TotalTime>
  <Words>6059</Words>
  <Application>Microsoft Office PowerPoint</Application>
  <PresentationFormat>Widescreen</PresentationFormat>
  <Paragraphs>680</Paragraphs>
  <Slides>74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Söhne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exrcícios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  <vt:lpstr>PowerPoint Presentation</vt:lpstr>
      <vt:lpstr>Impacto de outliers no modelo aprendido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2098</cp:revision>
  <dcterms:created xsi:type="dcterms:W3CDTF">2020-01-20T13:50:05Z</dcterms:created>
  <dcterms:modified xsi:type="dcterms:W3CDTF">2026-03-09T17:51:49Z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