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0"/>
  </p:notesMasterIdLst>
  <p:handoutMasterIdLst>
    <p:handoutMasterId r:id="rId81"/>
  </p:handoutMasterIdLst>
  <p:sldIdLst>
    <p:sldId id="256" r:id="rId5"/>
    <p:sldId id="315" r:id="rId6"/>
    <p:sldId id="307" r:id="rId7"/>
    <p:sldId id="318" r:id="rId8"/>
    <p:sldId id="374" r:id="rId9"/>
    <p:sldId id="317" r:id="rId10"/>
    <p:sldId id="397" r:id="rId11"/>
    <p:sldId id="375" r:id="rId12"/>
    <p:sldId id="326" r:id="rId13"/>
    <p:sldId id="327" r:id="rId14"/>
    <p:sldId id="328" r:id="rId15"/>
    <p:sldId id="398" r:id="rId16"/>
    <p:sldId id="376" r:id="rId17"/>
    <p:sldId id="320" r:id="rId18"/>
    <p:sldId id="321" r:id="rId19"/>
    <p:sldId id="330" r:id="rId20"/>
    <p:sldId id="323" r:id="rId21"/>
    <p:sldId id="322" r:id="rId22"/>
    <p:sldId id="377" r:id="rId23"/>
    <p:sldId id="331" r:id="rId24"/>
    <p:sldId id="333" r:id="rId25"/>
    <p:sldId id="335" r:id="rId26"/>
    <p:sldId id="399" r:id="rId27"/>
    <p:sldId id="339" r:id="rId28"/>
    <p:sldId id="380" r:id="rId29"/>
    <p:sldId id="340" r:id="rId30"/>
    <p:sldId id="342" r:id="rId31"/>
    <p:sldId id="348" r:id="rId32"/>
    <p:sldId id="349" r:id="rId33"/>
    <p:sldId id="343" r:id="rId34"/>
    <p:sldId id="344" r:id="rId35"/>
    <p:sldId id="350" r:id="rId36"/>
    <p:sldId id="383" r:id="rId37"/>
    <p:sldId id="345" r:id="rId38"/>
    <p:sldId id="354" r:id="rId39"/>
    <p:sldId id="351" r:id="rId40"/>
    <p:sldId id="359" r:id="rId41"/>
    <p:sldId id="347" r:id="rId42"/>
    <p:sldId id="366" r:id="rId43"/>
    <p:sldId id="384" r:id="rId44"/>
    <p:sldId id="363" r:id="rId45"/>
    <p:sldId id="365" r:id="rId46"/>
    <p:sldId id="385" r:id="rId47"/>
    <p:sldId id="329" r:id="rId48"/>
    <p:sldId id="367" r:id="rId49"/>
    <p:sldId id="391" r:id="rId50"/>
    <p:sldId id="368" r:id="rId51"/>
    <p:sldId id="392" r:id="rId52"/>
    <p:sldId id="369" r:id="rId53"/>
    <p:sldId id="364" r:id="rId54"/>
    <p:sldId id="371" r:id="rId55"/>
    <p:sldId id="372" r:id="rId56"/>
    <p:sldId id="308" r:id="rId57"/>
    <p:sldId id="395" r:id="rId58"/>
    <p:sldId id="293" r:id="rId59"/>
    <p:sldId id="306" r:id="rId60"/>
    <p:sldId id="379" r:id="rId61"/>
    <p:sldId id="332" r:id="rId62"/>
    <p:sldId id="337" r:id="rId63"/>
    <p:sldId id="338" r:id="rId64"/>
    <p:sldId id="382" r:id="rId65"/>
    <p:sldId id="346" r:id="rId66"/>
    <p:sldId id="357" r:id="rId67"/>
    <p:sldId id="356" r:id="rId68"/>
    <p:sldId id="362" r:id="rId69"/>
    <p:sldId id="360" r:id="rId70"/>
    <p:sldId id="361" r:id="rId71"/>
    <p:sldId id="389" r:id="rId72"/>
    <p:sldId id="387" r:id="rId73"/>
    <p:sldId id="388" r:id="rId74"/>
    <p:sldId id="390" r:id="rId75"/>
    <p:sldId id="334" r:id="rId76"/>
    <p:sldId id="373" r:id="rId77"/>
    <p:sldId id="394" r:id="rId78"/>
    <p:sldId id="393" r:id="rId7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6320" autoAdjust="0"/>
  </p:normalViewPr>
  <p:slideViewPr>
    <p:cSldViewPr snapToGrid="0">
      <p:cViewPr varScale="1">
        <p:scale>
          <a:sx n="63" d="100"/>
          <a:sy n="63" d="100"/>
        </p:scale>
        <p:origin x="1176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76" Type="http://schemas.openxmlformats.org/officeDocument/2006/relationships/slide" Target="slides/slide72.xml"/><Relationship Id="rId84" Type="http://schemas.openxmlformats.org/officeDocument/2006/relationships/theme" Target="theme/theme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presProps" Target="presProps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8F0E7C4-C4F3-D6D0-BE91-E126332F4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8418B4D-E60A-7F2A-3AB1-94E706592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440489D-EDA1-F5DF-4273-5234BB9C2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1AB35A0E-66CF-4888-AB6F-15A9EFBC44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0086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Nominal: sem ordem ou hierarquia</a:t>
            </a:r>
          </a:p>
          <a:p>
            <a:r>
              <a:rPr lang="pt-BR" dirty="0"/>
              <a:t>Ordinal: com ordem ou hierarquia</a:t>
            </a:r>
          </a:p>
          <a:p>
            <a:endParaRPr lang="pt-BR" dirty="0"/>
          </a:p>
          <a:p>
            <a:r>
              <a:rPr lang="pt-BR" dirty="0"/>
              <a:t>Discreta: contagens -&gt; número inteiros</a:t>
            </a:r>
          </a:p>
          <a:p>
            <a:r>
              <a:rPr lang="pt-BR" dirty="0"/>
              <a:t>Contínua: medidas -&gt; números reais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6861B9C-707F-5895-43EA-ADB0CADC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91E83EF-AF5B-8222-2A90-1BDA1EB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97B91EA5-5958-3264-CC48-51EF53BBC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182BBD18-C97D-1C15-1ABF-390F87DBC5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1025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existe</a:t>
            </a:r>
            <a:r>
              <a:rPr lang="en-US" b="1" dirty="0"/>
              <a:t> </a:t>
            </a:r>
            <a:r>
              <a:rPr lang="en-US" b="1" dirty="0" err="1"/>
              <a:t>uma</a:t>
            </a:r>
            <a:r>
              <a:rPr lang="en-US" b="1" dirty="0"/>
              <a:t> </a:t>
            </a:r>
            <a:r>
              <a:rPr lang="en-US" b="1" dirty="0" err="1"/>
              <a:t>técnica</a:t>
            </a:r>
            <a:r>
              <a:rPr lang="en-US" b="1" dirty="0"/>
              <a:t> universal.</a:t>
            </a:r>
            <a:r>
              <a:rPr lang="en-US" dirty="0"/>
              <a:t> A </a:t>
            </a:r>
            <a:r>
              <a:rPr lang="en-US" dirty="0" err="1"/>
              <a:t>melhor</a:t>
            </a:r>
            <a:r>
              <a:rPr lang="en-US" dirty="0"/>
              <a:t> </a:t>
            </a:r>
            <a:r>
              <a:rPr lang="en-US" dirty="0" err="1"/>
              <a:t>estratégia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da </a:t>
            </a:r>
            <a:r>
              <a:rPr lang="en-US" dirty="0" err="1"/>
              <a:t>quantidade</a:t>
            </a:r>
            <a:r>
              <a:rPr lang="en-US" dirty="0"/>
              <a:t> de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, do </a:t>
            </a:r>
            <a:r>
              <a:rPr lang="en-US" dirty="0" err="1"/>
              <a:t>tipo</a:t>
            </a:r>
            <a:r>
              <a:rPr lang="en-US" dirty="0"/>
              <a:t> dos dados e do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sendo</a:t>
            </a:r>
            <a:r>
              <a:rPr lang="en-US" dirty="0"/>
              <a:t> </a:t>
            </a:r>
            <a:r>
              <a:rPr lang="en-US" dirty="0" err="1"/>
              <a:t>resolvido</a:t>
            </a:r>
            <a:r>
              <a:rPr lang="en-US" dirty="0"/>
              <a:t>. Em </a:t>
            </a:r>
            <a:r>
              <a:rPr lang="en-US" dirty="0" err="1"/>
              <a:t>geral</a:t>
            </a:r>
            <a:r>
              <a:rPr lang="en-US" dirty="0"/>
              <a:t>:</a:t>
            </a:r>
          </a:p>
          <a:p>
            <a:pPr lvl="0"/>
            <a:r>
              <a:rPr lang="en-US" dirty="0" err="1"/>
              <a:t>poucos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imputação</a:t>
            </a:r>
            <a:r>
              <a:rPr lang="en-US" dirty="0"/>
              <a:t>; </a:t>
            </a:r>
          </a:p>
          <a:p>
            <a:pPr lvl="0"/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avaliar</a:t>
            </a:r>
            <a:r>
              <a:rPr lang="en-US" dirty="0"/>
              <a:t> a </a:t>
            </a:r>
            <a:r>
              <a:rPr lang="en-US" dirty="0" err="1"/>
              <a:t>remoção</a:t>
            </a:r>
            <a:r>
              <a:rPr lang="en-US" dirty="0"/>
              <a:t> da </a:t>
            </a:r>
            <a:r>
              <a:rPr lang="en-US" dirty="0" err="1"/>
              <a:t>coluna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o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avançados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7638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F7ABC78-57AD-FC46-A400-0B21F52C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2BF5FBA6-63B0-664D-016B-E622A6B1C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995F52D-B195-0586-B61A-68D7EDB71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19C6FC5D-5C6F-6494-52B9-299492380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5779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OBS</a:t>
            </a:r>
            <a:r>
              <a:rPr lang="pt-BR" dirty="0"/>
              <a:t>.: Valores negativos são chamados de </a:t>
            </a:r>
            <a:r>
              <a:rPr lang="pt-BR" dirty="0" err="1"/>
              <a:t>anti-correlação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3%20-%20EDA.pdf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=""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rgbClr val="7030A0"/>
                </a:solidFill>
              </a:rPr>
              <a:t>antes</a:t>
            </a:r>
            <a:r>
              <a:rPr lang="pt-BR" sz="3200" b="1" dirty="0">
                <a:solidFill>
                  <a:schemeClr val="accent2"/>
                </a:solidFill>
              </a:rPr>
              <a:t>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=""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</a:t>
            </a:r>
            <a:r>
              <a:rPr lang="pt-BR" b="1" dirty="0">
                <a:solidFill>
                  <a:srgbClr val="7030A0"/>
                </a:solidFill>
              </a:rPr>
              <a:t>não aprenda com lixo</a:t>
            </a:r>
            <a:r>
              <a:rPr lang="pt-BR" dirty="0"/>
              <a:t>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predição feita pelo modelo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=""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00249"/>
            <a:ext cx="10515600" cy="10575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fazemos essa análise?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estatística</a:t>
            </a:r>
            <a:r>
              <a:rPr lang="pt-BR" dirty="0"/>
              <a:t> e visual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=""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=""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=""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=""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=""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=""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=""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=""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=""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C688CA6-6D57-43C2-25C7-98C438504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66000D3-AF67-B789-06BA-CC48E1E08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7033"/>
            <a:ext cx="10515600" cy="26039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027763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chemeClr val="accent2"/>
                </a:solidFill>
              </a:rPr>
              <a:t>variáveis</a:t>
            </a:r>
            <a:r>
              <a:rPr lang="pt-BR" dirty="0"/>
              <a:t> (i.e., </a:t>
            </a:r>
            <a:r>
              <a:rPr lang="pt-BR" b="1" dirty="0">
                <a:solidFill>
                  <a:srgbClr val="7030A0"/>
                </a:solidFill>
              </a:rPr>
              <a:t>atributos e rótulos</a:t>
            </a:r>
            <a:r>
              <a:rPr lang="pt-BR" dirty="0"/>
              <a:t>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=""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chemeClr val="accent2"/>
                </a:solidFill>
              </a:rPr>
              <a:t>categóricas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OBS.: Embora as ordinais possam ser ordenadas, </a:t>
            </a:r>
            <a:r>
              <a:rPr lang="pt-BR" b="1" dirty="0">
                <a:solidFill>
                  <a:srgbClr val="00B050"/>
                </a:solidFill>
              </a:rPr>
              <a:t>operações aritméticas não são aplicáveis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camisetas, por exemplo.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99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rgbClr val="7030A0"/>
                </a:solidFill>
              </a:rPr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aritméticas</a:t>
            </a:r>
            <a:r>
              <a:rPr lang="pt-BR" dirty="0"/>
              <a:t>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</a:t>
            </a:r>
            <a:r>
              <a:rPr lang="pt-BR" b="1" dirty="0">
                <a:solidFill>
                  <a:srgbClr val="7030A0"/>
                </a:solidFill>
              </a:rPr>
              <a:t>números inteiros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 (i.e., são </a:t>
            </a:r>
            <a:r>
              <a:rPr lang="pt-BR" b="1" dirty="0">
                <a:solidFill>
                  <a:srgbClr val="7030A0"/>
                </a:solidFill>
              </a:rPr>
              <a:t>números reais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7DFB789-B499-6C10-31EB-98EABFABA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007886A-8E53-7C32-A1A9-2B2ACDC43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Exploração dos dados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426805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37985" cy="4351338"/>
          </a:xfrm>
        </p:spPr>
        <p:txBody>
          <a:bodyPr/>
          <a:lstStyle/>
          <a:p>
            <a:pPr marL="0" indent="0">
              <a:buNone/>
            </a:pPr>
            <a:r>
              <a:rPr lang="pt-BR" noProof="0" dirty="0"/>
              <a:t>Na sequência, veremos as seguintes etapas </a:t>
            </a:r>
            <a:r>
              <a:rPr lang="pt-BR" dirty="0"/>
              <a:t>principais da</a:t>
            </a:r>
            <a:r>
              <a:rPr lang="pt-BR" noProof="0" dirty="0"/>
              <a:t> exploração dos dados:</a:t>
            </a:r>
          </a:p>
          <a:p>
            <a:r>
              <a:rPr lang="pt-BR" noProof="0" dirty="0"/>
              <a:t>Inspeção inicial dos dados</a:t>
            </a:r>
          </a:p>
          <a:p>
            <a:r>
              <a:rPr lang="pt-BR" noProof="0" dirty="0"/>
              <a:t>Limpeza dos dados</a:t>
            </a:r>
          </a:p>
          <a:p>
            <a:r>
              <a:rPr lang="pt-BR" noProof="0" dirty="0"/>
              <a:t>Relação entre variáveis</a:t>
            </a:r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330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</a:t>
            </a:r>
            <a:r>
              <a:rPr lang="pt-BR" b="1" dirty="0">
                <a:solidFill>
                  <a:srgbClr val="00B050"/>
                </a:solidFill>
              </a:rPr>
              <a:t>informações básicas </a:t>
            </a:r>
            <a:r>
              <a:rPr lang="pt-BR" dirty="0"/>
              <a:t>dos dados.</a:t>
            </a:r>
          </a:p>
          <a:p>
            <a:pPr marL="0" indent="0">
              <a:buNone/>
            </a:pPr>
            <a:r>
              <a:rPr lang="pt-BR" dirty="0"/>
              <a:t>Em geral, </a:t>
            </a:r>
            <a:r>
              <a:rPr lang="pt-BR" b="1" dirty="0">
                <a:solidFill>
                  <a:srgbClr val="7030A0"/>
                </a:solidFill>
              </a:rPr>
              <a:t>após carregarmos os dados</a:t>
            </a:r>
            <a:r>
              <a:rPr lang="pt-BR" dirty="0"/>
              <a:t>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77550" cy="4351338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 (e.g., um ID, contagem da linha de uma tabela)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9435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800" dirty="0"/>
              <a:t>Cada string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lista</a:t>
            </a:r>
            <a:r>
              <a:rPr lang="en-US" sz="2800" dirty="0"/>
              <a:t> é o </a:t>
            </a:r>
            <a:r>
              <a:rPr lang="en-US" sz="2800" dirty="0" err="1"/>
              <a:t>nome</a:t>
            </a:r>
            <a:r>
              <a:rPr lang="en-US" sz="2800" dirty="0"/>
              <a:t> de </a:t>
            </a:r>
            <a:r>
              <a:rPr lang="en-US" sz="2800" dirty="0" err="1"/>
              <a:t>uma</a:t>
            </a:r>
            <a:r>
              <a:rPr lang="en-US" sz="2800" dirty="0"/>
              <a:t> </a:t>
            </a:r>
            <a:r>
              <a:rPr lang="en-US" sz="2800" dirty="0" err="1"/>
              <a:t>coluna</a:t>
            </a:r>
            <a:r>
              <a:rPr lang="en-US" sz="2800" dirty="0"/>
              <a:t> a ser </a:t>
            </a:r>
            <a:r>
              <a:rPr lang="en-US" sz="2800" dirty="0" err="1"/>
              <a:t>removida</a:t>
            </a:r>
            <a:r>
              <a:rPr lang="en-US" sz="2800" dirty="0"/>
              <a:t>.</a:t>
            </a:r>
            <a:endParaRPr lang="pt-BR" sz="2800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114" cy="4816335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Por </a:t>
            </a:r>
            <a:r>
              <a:rPr lang="en-US" dirty="0" err="1"/>
              <a:t>padrão</a:t>
            </a:r>
            <a:r>
              <a:rPr lang="en-US" dirty="0"/>
              <a:t>, </a:t>
            </a:r>
            <a:r>
              <a:rPr lang="en-US" dirty="0" err="1"/>
              <a:t>ele</a:t>
            </a:r>
            <a:r>
              <a:rPr lang="en-US" dirty="0"/>
              <a:t> </a:t>
            </a:r>
            <a:r>
              <a:rPr lang="en-US" b="1" dirty="0" err="1"/>
              <a:t>mantém</a:t>
            </a:r>
            <a:r>
              <a:rPr lang="en-US" b="1" dirty="0"/>
              <a:t> a </a:t>
            </a:r>
            <a:r>
              <a:rPr lang="en-US" b="1" dirty="0" err="1"/>
              <a:t>primeira</a:t>
            </a:r>
            <a:r>
              <a:rPr lang="en-US" b="1" dirty="0"/>
              <a:t> </a:t>
            </a:r>
            <a:r>
              <a:rPr lang="en-US" b="1" dirty="0" err="1"/>
              <a:t>ocorrência</a:t>
            </a:r>
            <a:r>
              <a:rPr lang="en-US" b="1" dirty="0"/>
              <a:t> </a:t>
            </a:r>
            <a:r>
              <a:rPr lang="en-US" dirty="0"/>
              <a:t>e remove as </a:t>
            </a:r>
            <a:r>
              <a:rPr lang="en-US" dirty="0" err="1"/>
              <a:t>demais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Para encontrar e remover </a:t>
            </a:r>
            <a:r>
              <a:rPr lang="pt-BR" b="1" dirty="0">
                <a:solidFill>
                  <a:srgbClr val="7030A0"/>
                </a:solidFill>
              </a:rPr>
              <a:t>colunas duplicadas</a:t>
            </a:r>
            <a:r>
              <a:rPr lang="pt-BR" dirty="0"/>
              <a:t>, basta transpor o </a:t>
            </a:r>
            <a:r>
              <a:rPr lang="pt-BR" dirty="0" err="1"/>
              <a:t>DataFrame</a:t>
            </a:r>
            <a:r>
              <a:rPr lang="pt-BR" dirty="0"/>
              <a:t> e usar o mesmo método.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49025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800" dirty="0"/>
              <a:t>Apresenta a quantidade de valores faltantes de cada coluna.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são técnicas avançadas que preenchem os valores faltantes com </a:t>
            </a:r>
            <a:r>
              <a:rPr lang="pt-BR" b="1" dirty="0">
                <a:solidFill>
                  <a:srgbClr val="7030A0"/>
                </a:solidFill>
              </a:rPr>
              <a:t>estimativas obtidas através do padrão dos dados</a:t>
            </a:r>
            <a:r>
              <a:rPr lang="pt-BR" dirty="0"/>
              <a:t>, não um valor fixo.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Para mais informações, vejam o 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linhas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 </a:t>
            </a:r>
            <a:r>
              <a:rPr lang="en-US" sz="2200" dirty="0" err="1"/>
              <a:t>sem</a:t>
            </a:r>
            <a:r>
              <a:rPr lang="en-US" sz="2200" dirty="0"/>
              <a:t> </a:t>
            </a:r>
            <a:r>
              <a:rPr lang="en-US" sz="2200" dirty="0" err="1"/>
              <a:t>criar</a:t>
            </a:r>
            <a:r>
              <a:rPr lang="en-US" sz="2200" dirty="0"/>
              <a:t> um novo </a:t>
            </a:r>
            <a:r>
              <a:rPr lang="en-US" sz="2200" dirty="0" err="1"/>
              <a:t>DataFrame</a:t>
            </a:r>
            <a:r>
              <a:rPr lang="en-US" sz="2200" dirty="0"/>
              <a:t>.</a:t>
            </a:r>
            <a:endParaRPr lang="en-US" sz="3000" dirty="0"/>
          </a:p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colunas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(axis=1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pt-BR" dirty="0"/>
              <a:t>Essa técnica </a:t>
            </a:r>
            <a:r>
              <a:rPr lang="pt-BR" b="1" dirty="0">
                <a:solidFill>
                  <a:srgbClr val="7030A0"/>
                </a:solidFill>
              </a:rPr>
              <a:t>não é boa se o número de linhas ou colunas a serem removidas é muito grande</a:t>
            </a:r>
            <a:r>
              <a:rPr lang="pt-BR" dirty="0"/>
              <a:t>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Nesses casos, sugere-se usar técnicas que </a:t>
            </a:r>
            <a:r>
              <a:rPr lang="pt-BR" b="1" dirty="0">
                <a:solidFill>
                  <a:schemeClr val="accent2"/>
                </a:solidFill>
              </a:rPr>
              <a:t>imputem valores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A mediana divide os dados em 50% acima e 50% abaixo.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Seleciona todas </a:t>
            </a:r>
            <a:r>
              <a:rPr lang="pt-BR" dirty="0"/>
              <a:t>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Seleciona todas </a:t>
            </a:r>
            <a:r>
              <a:rPr lang="pt-BR" dirty="0"/>
              <a:t>as colunas numéricas e preenche os valores faltantes de cada uma com a sua mediana.</a:t>
            </a:r>
          </a:p>
          <a:p>
            <a:r>
              <a:rPr lang="pt-BR" dirty="0"/>
              <a:t>OBS.: 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 smtClean="0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", "</a:t>
            </a:r>
            <a:r>
              <a:rPr lang="pt-BR" dirty="0" err="1" smtClean="0">
                <a:latin typeface="Consolas" panose="020B0609020204030204" pitchFamily="49" charset="0"/>
              </a:rPr>
              <a:t>category</a:t>
            </a:r>
            <a:r>
              <a:rPr lang="pt-BR" dirty="0">
                <a:latin typeface="Consolas" panose="020B0609020204030204" pitchFamily="49" charset="0"/>
              </a:rPr>
              <a:t>"</a:t>
            </a:r>
            <a:r>
              <a:rPr lang="pt-BR" dirty="0" smtClean="0">
                <a:latin typeface="Consolas" panose="020B0609020204030204" pitchFamily="49" charset="0"/>
              </a:rPr>
              <a:t>, </a:t>
            </a:r>
            <a:r>
              <a:rPr lang="pt-BR" dirty="0">
                <a:latin typeface="Consolas" panose="020B0609020204030204" pitchFamily="49" charset="0"/>
              </a:rPr>
              <a:t>e/ou "</a:t>
            </a:r>
            <a:r>
              <a:rPr lang="pt-BR" dirty="0" err="1" smtClean="0">
                <a:latin typeface="Consolas" panose="020B0609020204030204" pitchFamily="49" charset="0"/>
              </a:rPr>
              <a:t>string</a:t>
            </a:r>
            <a:r>
              <a:rPr lang="pt-BR">
                <a:latin typeface="Consolas" panose="020B0609020204030204" pitchFamily="49" charset="0"/>
              </a:rPr>
              <a:t>"</a:t>
            </a:r>
            <a:r>
              <a:rPr lang="pt-BR" smtClean="0">
                <a:latin typeface="Consolas" panose="020B0609020204030204" pitchFamily="49" charset="0"/>
              </a:rPr>
              <a:t>.</a:t>
            </a: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79B480E-37FC-4238-48A3-47C257765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635857A-05CB-AD87-3058-AF2E30BC26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Removendo outliers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512620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=""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=""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531429" cy="5032375"/>
          </a:xfrm>
        </p:spPr>
        <p:txBody>
          <a:bodyPr>
            <a:normAutofit/>
          </a:bodyPr>
          <a:lstStyle/>
          <a:p>
            <a:r>
              <a:rPr lang="pt-BR" noProof="0"/>
              <a:t>Um </a:t>
            </a:r>
            <a:r>
              <a:rPr lang="pt-BR" i="1" noProof="0"/>
              <a:t>outlier</a:t>
            </a:r>
            <a:r>
              <a:rPr lang="pt-BR" noProof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processamento dos dados (e.g., conversão errada de unidade),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valor </a:t>
            </a:r>
            <a:r>
              <a:rPr lang="pt-BR" b="1" noProof="0" dirty="0"/>
              <a:t>raro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mas válido </a:t>
            </a:r>
            <a:r>
              <a:rPr lang="pt-BR" noProof="0" dirty="0"/>
              <a:t>(e.g., o preço de um carro luxuoso, uma fraude bancária, um acesso indevido),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=""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métricas de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</a:t>
            </a:r>
            <a:r>
              <a:rPr lang="pt-BR" b="1" dirty="0">
                <a:solidFill>
                  <a:srgbClr val="00B050"/>
                </a:solidFill>
              </a:rPr>
              <a:t>modelos enviesados </a:t>
            </a:r>
            <a:r>
              <a:rPr lang="pt-BR" dirty="0"/>
              <a:t>e de pior desempenho.</a:t>
            </a:r>
          </a:p>
          <a:p>
            <a:r>
              <a:rPr lang="pt-BR" dirty="0"/>
              <a:t>Porém, podem revelar informações importantes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eventos raros, mas </a:t>
            </a:r>
            <a:r>
              <a:rPr lang="pt-BR" b="1" dirty="0">
                <a:solidFill>
                  <a:srgbClr val="FF0000"/>
                </a:solidFill>
              </a:rPr>
              <a:t>relevantes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fraudes, falhas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7999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Devido à Bill Gates e à Mark Zuckerberg, a média salarial de quem largou Harvard é, provavelmente, maior que a de quem se formou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</a:t>
            </a:r>
            <a:r>
              <a:rPr lang="pt-BR" b="1" dirty="0"/>
              <a:t>tão grande </a:t>
            </a:r>
            <a:r>
              <a:rPr lang="pt-BR" dirty="0"/>
              <a:t>(não um erro) 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=""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1006" y="1825624"/>
            <a:ext cx="6237103" cy="5032375"/>
          </a:xfrm>
        </p:spPr>
        <p:txBody>
          <a:bodyPr>
            <a:normAutofit/>
          </a:bodyPr>
          <a:lstStyle/>
          <a:p>
            <a:r>
              <a:rPr lang="pt-BR" i="1" dirty="0"/>
              <a:t>Outliers</a:t>
            </a:r>
            <a:r>
              <a:rPr lang="pt-BR" dirty="0"/>
              <a:t> são exceções, valores diferentes da maioria.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pt-BR" i="1" dirty="0"/>
              <a:t>Se estivéssemos medindo a temperatura de um servidor e um sensor marcasse 500°C por um segundo, isso é um erro ou uma exceção que deve ser investigada?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498" y="2518352"/>
            <a:ext cx="5236028" cy="285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</a:t>
            </a:r>
            <a:r>
              <a:rPr lang="pt-BR" b="1" dirty="0">
                <a:solidFill>
                  <a:schemeClr val="accent2"/>
                </a:solidFill>
              </a:rPr>
              <a:t>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=""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=""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=""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=""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=""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683828" y="1825624"/>
            <a:ext cx="5350329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central 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dados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valor central dos dados.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estão abaixo desse valor.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=""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=""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não são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possíveis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sensibilidade: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moderados,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casos extremos.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4"/>
                <a:stretch>
                  <a:fillRect l="-1933" t="-2663" r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  <a:p>
            <a:r>
              <a:rPr lang="en-US" dirty="0" err="1"/>
              <a:t>Usando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boxplot</a:t>
            </a:r>
            <a:r>
              <a:rPr lang="en-US" dirty="0"/>
              <a:t> da matplotlib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Robusto a </a:t>
                </a:r>
                <a:r>
                  <a:rPr lang="pt-BR" i="1" dirty="0"/>
                  <a:t>outliers</a:t>
                </a:r>
                <a:r>
                  <a:rPr lang="pt-BR" dirty="0"/>
                  <a:t>, pois usa </a:t>
                </a:r>
                <a:r>
                  <a:rPr lang="pt-BR" dirty="0" err="1"/>
                  <a:t>quantis</a:t>
                </a:r>
                <a:r>
                  <a:rPr lang="pt-BR" dirty="0"/>
                  <a:t>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mesmo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Fácil de interpretar visualmente (</a:t>
                </a:r>
                <a:r>
                  <a:rPr lang="pt-BR" i="1" dirty="0" err="1"/>
                  <a:t>boxplots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Treine o modelo com e sem os </a:t>
                </a:r>
                <a:r>
                  <a:rPr lang="pt-BR" i="1" dirty="0"/>
                  <a:t>outliers</a:t>
                </a:r>
                <a:r>
                  <a:rPr lang="pt-BR" dirty="0"/>
                  <a:t> identificados por 1.5 e veja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pode definir muitos pontos como </a:t>
                </a:r>
                <a:r>
                  <a:rPr lang="pt-BR" i="1" dirty="0"/>
                  <a:t>outliers</a:t>
                </a:r>
                <a:r>
                  <a:rPr lang="pt-BR" dirty="0"/>
                  <a:t>, nesses casos, usar valor 3 ou ajustar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Ineficaz para conjuntos de dados pequenos, pois eles não representam a distribuição com precisão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=""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=""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797168" cy="383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escondidas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=""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pra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Consumo ↓ conforme peso ↑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2229195" y="3175761"/>
            <a:ext cx="3237899" cy="3603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5692513" y="3175761"/>
            <a:ext cx="3237899" cy="360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Quais atributos realmente influenciam o </a:t>
            </a:r>
            <a:r>
              <a:rPr lang="pt-BR" i="1" dirty="0"/>
              <a:t>target</a:t>
            </a:r>
            <a:r>
              <a:rPr lang="pt-BR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</a:t>
            </a:r>
            <a:r>
              <a:rPr lang="pt-BR" b="1" dirty="0">
                <a:solidFill>
                  <a:srgbClr val="7030A0"/>
                </a:solidFill>
              </a:rPr>
              <a:t>dois ou mais </a:t>
            </a:r>
            <a:r>
              <a:rPr lang="pt-BR" b="1" dirty="0">
                <a:solidFill>
                  <a:schemeClr val="accent2"/>
                </a:solidFill>
              </a:rPr>
              <a:t>atributos</a:t>
            </a:r>
            <a:r>
              <a:rPr lang="pt-BR" b="1" dirty="0">
                <a:solidFill>
                  <a:srgbClr val="7030A0"/>
                </a:solidFill>
              </a:rPr>
              <a:t> estão altamente correlacionados</a:t>
            </a:r>
            <a:r>
              <a:rPr lang="pt-BR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=""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=""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=""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=""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como uma "nuvem"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relação linear entre as variáveis.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=""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=""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t="-1937" r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linearmente.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=""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=""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entre duas variáveis,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=""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=""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=""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=""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=""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=""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#3 - EDA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=""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=""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=""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="" xmlns:a16="http://schemas.microsoft.com/office/drawing/2014/main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="" xmlns:a16="http://schemas.microsoft.com/office/drawing/2014/main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="" xmlns:a16="http://schemas.microsoft.com/office/drawing/2014/main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="" xmlns:a16="http://schemas.microsoft.com/office/drawing/2014/main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="" xmlns:a16="http://schemas.microsoft.com/office/drawing/2014/main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10822</TotalTime>
  <Words>4998</Words>
  <Application>Microsoft Office PowerPoint</Application>
  <PresentationFormat>Widescreen</PresentationFormat>
  <Paragraphs>696</Paragraphs>
  <Slides>75</Slides>
  <Notes>41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75</vt:i4>
      </vt:variant>
    </vt:vector>
  </HeadingPairs>
  <TitlesOfParts>
    <vt:vector size="83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Apresentação do PowerPoint</vt:lpstr>
      <vt:lpstr>Introdução</vt:lpstr>
      <vt:lpstr>Por que realizar análise exploratória?</vt:lpstr>
      <vt:lpstr>Apresentação do PowerPoint</vt:lpstr>
      <vt:lpstr>Inspeção estatística e visual</vt:lpstr>
      <vt:lpstr>Apresentação do PowerPoint</vt:lpstr>
      <vt:lpstr>Tipo dos dados</vt:lpstr>
      <vt:lpstr>Tipo dos dados</vt:lpstr>
      <vt:lpstr>Variáveis qualitativas</vt:lpstr>
      <vt:lpstr>Variáveis quantitativas</vt:lpstr>
      <vt:lpstr>Apresentação do PowerPoint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Apresentação do PowerPoint</vt:lpstr>
      <vt:lpstr>O que é um outlier?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Técnicas para o tratamento de valores ausentes</vt:lpstr>
      <vt:lpstr>Tratando valores faltantes</vt:lpstr>
      <vt:lpstr>Tratando valores faltantes</vt:lpstr>
      <vt:lpstr>Apresentação do PowerPoint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Apresentação do PowerPoint</vt:lpstr>
      <vt:lpstr>Correlação de Spearman</vt:lpstr>
      <vt:lpstr>Plotando a matriz de correlação</vt:lpstr>
      <vt:lpstr>Apresentação do PowerPoint</vt:lpstr>
      <vt:lpstr>Pandas profiling</vt:lpstr>
      <vt:lpstr>Como gerar o relatório?</vt:lpstr>
      <vt:lpstr>Apresentação do PowerPoint</vt:lpstr>
      <vt:lpstr>Exemplo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2153</cp:revision>
  <dcterms:created xsi:type="dcterms:W3CDTF">2020-01-20T13:50:05Z</dcterms:created>
  <dcterms:modified xsi:type="dcterms:W3CDTF">2026-08-10T00:51:39Z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