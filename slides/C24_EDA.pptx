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7"/>
  </p:notesMasterIdLst>
  <p:handoutMasterIdLst>
    <p:handoutMasterId r:id="rId78"/>
  </p:handoutMasterIdLst>
  <p:sldIdLst>
    <p:sldId id="256" r:id="rId5"/>
    <p:sldId id="315" r:id="rId6"/>
    <p:sldId id="307" r:id="rId7"/>
    <p:sldId id="318" r:id="rId8"/>
    <p:sldId id="317" r:id="rId9"/>
    <p:sldId id="374" r:id="rId10"/>
    <p:sldId id="375" r:id="rId11"/>
    <p:sldId id="326" r:id="rId12"/>
    <p:sldId id="327" r:id="rId13"/>
    <p:sldId id="328" r:id="rId14"/>
    <p:sldId id="376" r:id="rId15"/>
    <p:sldId id="320" r:id="rId16"/>
    <p:sldId id="321" r:id="rId17"/>
    <p:sldId id="330" r:id="rId18"/>
    <p:sldId id="323" r:id="rId19"/>
    <p:sldId id="322" r:id="rId20"/>
    <p:sldId id="377" r:id="rId21"/>
    <p:sldId id="331" r:id="rId22"/>
    <p:sldId id="333" r:id="rId23"/>
    <p:sldId id="335" r:id="rId24"/>
    <p:sldId id="339" r:id="rId25"/>
    <p:sldId id="380" r:id="rId26"/>
    <p:sldId id="340" r:id="rId27"/>
    <p:sldId id="342" r:id="rId28"/>
    <p:sldId id="348" r:id="rId29"/>
    <p:sldId id="349" r:id="rId30"/>
    <p:sldId id="343" r:id="rId31"/>
    <p:sldId id="344" r:id="rId32"/>
    <p:sldId id="350" r:id="rId33"/>
    <p:sldId id="383" r:id="rId34"/>
    <p:sldId id="345" r:id="rId35"/>
    <p:sldId id="354" r:id="rId36"/>
    <p:sldId id="351" r:id="rId37"/>
    <p:sldId id="359" r:id="rId38"/>
    <p:sldId id="347" r:id="rId39"/>
    <p:sldId id="366" r:id="rId40"/>
    <p:sldId id="384" r:id="rId41"/>
    <p:sldId id="363" r:id="rId42"/>
    <p:sldId id="365" r:id="rId43"/>
    <p:sldId id="385" r:id="rId44"/>
    <p:sldId id="329" r:id="rId45"/>
    <p:sldId id="367" r:id="rId46"/>
    <p:sldId id="391" r:id="rId47"/>
    <p:sldId id="368" r:id="rId48"/>
    <p:sldId id="392" r:id="rId49"/>
    <p:sldId id="369" r:id="rId50"/>
    <p:sldId id="364" r:id="rId51"/>
    <p:sldId id="371" r:id="rId52"/>
    <p:sldId id="372" r:id="rId53"/>
    <p:sldId id="308" r:id="rId54"/>
    <p:sldId id="395" r:id="rId55"/>
    <p:sldId id="293" r:id="rId56"/>
    <p:sldId id="306" r:id="rId57"/>
    <p:sldId id="379" r:id="rId58"/>
    <p:sldId id="332" r:id="rId59"/>
    <p:sldId id="337" r:id="rId60"/>
    <p:sldId id="338" r:id="rId61"/>
    <p:sldId id="382" r:id="rId62"/>
    <p:sldId id="346" r:id="rId63"/>
    <p:sldId id="357" r:id="rId64"/>
    <p:sldId id="356" r:id="rId65"/>
    <p:sldId id="362" r:id="rId66"/>
    <p:sldId id="360" r:id="rId67"/>
    <p:sldId id="361" r:id="rId68"/>
    <p:sldId id="389" r:id="rId69"/>
    <p:sldId id="387" r:id="rId70"/>
    <p:sldId id="388" r:id="rId71"/>
    <p:sldId id="390" r:id="rId72"/>
    <p:sldId id="334" r:id="rId73"/>
    <p:sldId id="373" r:id="rId74"/>
    <p:sldId id="394" r:id="rId75"/>
    <p:sldId id="393" r:id="rId7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OBS</a:t>
            </a:r>
            <a:r>
              <a:rPr lang="pt-BR" dirty="0"/>
              <a:t>.: Valores negativos são chamados de </a:t>
            </a:r>
            <a:r>
              <a:rPr lang="pt-BR" dirty="0" err="1"/>
              <a:t>anti-correlação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3%20-%20EDA.pdf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chemeClr val="accent2"/>
                </a:solidFill>
              </a:rPr>
              <a:t>antes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 </a:t>
            </a:r>
            <a:r>
              <a:rPr lang="pt-BR" dirty="0"/>
              <a:t>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previsão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8212"/>
            <a:ext cx="10515600" cy="24415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variáveis (i.e., atributos ou rótulos)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categóricas.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Embora as ordinais possam ser ordenadas, operações aritméticas não são aplicáveis.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875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/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aritméticas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Na </a:t>
            </a:r>
            <a:r>
              <a:rPr lang="en-US" dirty="0" err="1"/>
              <a:t>sequência</a:t>
            </a:r>
            <a:r>
              <a:rPr lang="en-US" dirty="0"/>
              <a:t>, </a:t>
            </a:r>
            <a:r>
              <a:rPr lang="en-US" dirty="0" err="1"/>
              <a:t>veremos</a:t>
            </a:r>
            <a:r>
              <a:rPr lang="en-US" dirty="0"/>
              <a:t> as </a:t>
            </a:r>
            <a:r>
              <a:rPr lang="en-US" dirty="0" err="1"/>
              <a:t>seguintes</a:t>
            </a:r>
            <a:r>
              <a:rPr lang="en-US" dirty="0"/>
              <a:t> </a:t>
            </a:r>
            <a:r>
              <a:rPr lang="en-US" dirty="0" err="1"/>
              <a:t>etapas</a:t>
            </a:r>
            <a:r>
              <a:rPr lang="en-US" dirty="0"/>
              <a:t> de </a:t>
            </a:r>
            <a:r>
              <a:rPr lang="en-US" dirty="0" err="1"/>
              <a:t>exploração</a:t>
            </a:r>
            <a:r>
              <a:rPr lang="en-US" dirty="0"/>
              <a:t> dos dados:</a:t>
            </a:r>
          </a:p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  <a:p>
            <a:r>
              <a:rPr lang="en-US" dirty="0" err="1"/>
              <a:t>Relação</a:t>
            </a:r>
            <a:r>
              <a:rPr lang="en-US" dirty="0"/>
              <a:t> entre </a:t>
            </a:r>
            <a:r>
              <a:rPr lang="en-US" dirty="0" err="1"/>
              <a:t>variáveis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43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Em geral, após carregarmos os dados,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96600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  <a:endParaRPr lang="pt-BR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38114" cy="4351338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r>
              <a:rPr lang="pt-BR" b="1" dirty="0"/>
              <a:t>OBS</a:t>
            </a:r>
            <a:r>
              <a:rPr lang="pt-BR" dirty="0"/>
              <a:t>.: Para encontrar e remover colunas duplicadas, basta transpor 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Técnicas mais avançadas. Elas olham para a </a:t>
            </a:r>
            <a:r>
              <a:rPr lang="pt-BR" b="1" dirty="0">
                <a:solidFill>
                  <a:srgbClr val="00B050"/>
                </a:solidFill>
              </a:rPr>
              <a:t>relação entre as colunas </a:t>
            </a:r>
            <a:r>
              <a:rPr lang="pt-BR" dirty="0"/>
              <a:t>para "adivinhar" o valor que falta.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linhas ou colunas: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original.</a:t>
            </a:r>
            <a:endParaRPr lang="en-US" sz="3000" dirty="0"/>
          </a:p>
          <a:p>
            <a:r>
              <a:rPr lang="pt-BR" dirty="0"/>
              <a:t>Essa técnica não é boa se o número de linhas a serem removidas é muito grande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Vamos usar técnicas que </a:t>
            </a:r>
            <a:r>
              <a:rPr lang="pt-BR" b="1" dirty="0">
                <a:solidFill>
                  <a:srgbClr val="7030A0"/>
                </a:solidFill>
              </a:rPr>
              <a:t>imputam valores</a:t>
            </a:r>
            <a:r>
              <a:rPr lang="pt-BR" dirty="0"/>
              <a:t> 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Divide os dados em 50% acima e 50% abaixo.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mediana.</a:t>
            </a:r>
          </a:p>
          <a:p>
            <a:r>
              <a:rPr lang="pt-BR" dirty="0"/>
              <a:t>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33457" cy="5032375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processamento dos dados (e.g., </a:t>
            </a:r>
            <a:r>
              <a:rPr lang="en-US" dirty="0" err="1"/>
              <a:t>conversão</a:t>
            </a:r>
            <a:r>
              <a:rPr lang="en-US" dirty="0"/>
              <a:t> </a:t>
            </a:r>
            <a:r>
              <a:rPr lang="en-US" dirty="0" err="1"/>
              <a:t>errada</a:t>
            </a:r>
            <a:r>
              <a:rPr lang="en-US" dirty="0"/>
              <a:t> de </a:t>
            </a:r>
            <a:r>
              <a:rPr lang="en-US" dirty="0" err="1"/>
              <a:t>unidade</a:t>
            </a:r>
            <a:r>
              <a:rPr lang="en-US" dirty="0"/>
              <a:t>),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valor </a:t>
            </a:r>
            <a:r>
              <a:rPr lang="pt-BR" b="1" dirty="0"/>
              <a:t>raro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mas válido </a:t>
            </a:r>
            <a:r>
              <a:rPr lang="pt-BR" dirty="0"/>
              <a:t>(e.g., uma fraude bancária, acesso indevido),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modelos enviesados e de pior desempenho.</a:t>
            </a:r>
          </a:p>
          <a:p>
            <a:r>
              <a:rPr lang="pt-BR" dirty="0"/>
              <a:t>Porém, podem revelar informação importante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 raro </a:t>
            </a:r>
            <a:r>
              <a:rPr lang="pt-BR" b="1" dirty="0">
                <a:solidFill>
                  <a:srgbClr val="FF0000"/>
                </a:solidFill>
              </a:rPr>
              <a:t>relevante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fraude, falha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1" y="1825624"/>
            <a:ext cx="6694714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A média salarial de quem largou Harvard é maior que a de quem se formou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(não um erro) </a:t>
            </a:r>
            <a:r>
              <a:rPr lang="pt-BR" b="1" dirty="0"/>
              <a:t>tão grande </a:t>
            </a:r>
            <a:r>
              <a:rPr lang="pt-BR" dirty="0"/>
              <a:t>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57" y="1825624"/>
            <a:ext cx="5802086" cy="5032375"/>
          </a:xfrm>
        </p:spPr>
        <p:txBody>
          <a:bodyPr/>
          <a:lstStyle/>
          <a:p>
            <a:r>
              <a:rPr lang="pt-BR" i="1" dirty="0"/>
              <a:t>Outliers</a:t>
            </a:r>
            <a:r>
              <a:rPr lang="pt-BR" dirty="0"/>
              <a:t> são exceções.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71" y="1825624"/>
            <a:ext cx="5236028" cy="28560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4E8608-6DDB-C7E5-172A-525CFF731ABD}"/>
              </a:ext>
            </a:extLst>
          </p:cNvPr>
          <p:cNvSpPr txBox="1"/>
          <p:nvPr/>
        </p:nvSpPr>
        <p:spPr>
          <a:xfrm>
            <a:off x="465363" y="4816576"/>
            <a:ext cx="54156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estivéssemos medindo a temperatura de um servidor e um sensor marcasse 500°C por um segundo, isso é um erro ou uma exceção que deve ser investigada?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</a:t>
            </a:r>
            <a:r>
              <a:rPr lang="pt-BR" b="1" dirty="0">
                <a:solidFill>
                  <a:schemeClr val="accent2"/>
                </a:solidFill>
              </a:rPr>
              <a:t>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683828" y="1825624"/>
            <a:ext cx="5350329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central 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dados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valor central dos dados.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estão abaixo desse valor.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não são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possíveis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sensibilidade: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moderados,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casos extremos.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4"/>
                <a:stretch>
                  <a:fillRect l="-1933" t="-2663" r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  <a:p>
            <a:r>
              <a:rPr lang="en-US" dirty="0" err="1"/>
              <a:t>Usando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boxplot</a:t>
            </a:r>
            <a:r>
              <a:rPr lang="en-US" dirty="0"/>
              <a:t> da matplotlib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Robusto a </a:t>
                </a:r>
                <a:r>
                  <a:rPr lang="pt-BR" i="1" dirty="0"/>
                  <a:t>outliers</a:t>
                </a:r>
                <a:r>
                  <a:rPr lang="pt-BR" dirty="0"/>
                  <a:t>, pois usa </a:t>
                </a:r>
                <a:r>
                  <a:rPr lang="pt-BR" dirty="0" err="1"/>
                  <a:t>quantis</a:t>
                </a:r>
                <a:r>
                  <a:rPr lang="pt-BR" dirty="0"/>
                  <a:t>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mesmo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Fácil de interpretar visualmente (</a:t>
                </a:r>
                <a:r>
                  <a:rPr lang="pt-BR" i="1" dirty="0" err="1"/>
                  <a:t>boxplots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Treine o modelo com e sem os </a:t>
                </a:r>
                <a:r>
                  <a:rPr lang="pt-BR" i="1" dirty="0"/>
                  <a:t>outliers</a:t>
                </a:r>
                <a:r>
                  <a:rPr lang="pt-BR" dirty="0"/>
                  <a:t> identificados por 1.5 e veja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pode definir muitos pontos como </a:t>
                </a:r>
                <a:r>
                  <a:rPr lang="pt-BR" i="1" dirty="0"/>
                  <a:t>outliers</a:t>
                </a:r>
                <a:r>
                  <a:rPr lang="pt-BR" dirty="0"/>
                  <a:t>, nesses casos, usar valor 3 ou ajustar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Ineficaz para conjuntos de dados pequenos, pois eles não representam a distribuição com precisão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797168" cy="383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escondidas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pra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Consumo ↓ conforme peso ↑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2229195" y="3175761"/>
            <a:ext cx="3237899" cy="3603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5692513" y="3175761"/>
            <a:ext cx="3237899" cy="360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Quais atributos realmente influenciam o </a:t>
            </a:r>
            <a:r>
              <a:rPr lang="pt-BR" i="1" dirty="0"/>
              <a:t>target</a:t>
            </a:r>
            <a:r>
              <a:rPr lang="pt-BR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</a:t>
            </a:r>
            <a:r>
              <a:rPr lang="pt-BR" b="1" dirty="0">
                <a:solidFill>
                  <a:srgbClr val="7030A0"/>
                </a:solidFill>
              </a:rPr>
              <a:t>dois ou mais </a:t>
            </a:r>
            <a:r>
              <a:rPr lang="pt-BR" b="1" dirty="0">
                <a:solidFill>
                  <a:schemeClr val="accent2"/>
                </a:solidFill>
              </a:rPr>
              <a:t>atributos</a:t>
            </a:r>
            <a:r>
              <a:rPr lang="pt-BR" b="1" dirty="0">
                <a:solidFill>
                  <a:srgbClr val="7030A0"/>
                </a:solidFill>
              </a:rPr>
              <a:t> estão altamente correlacionados</a:t>
            </a:r>
            <a:r>
              <a:rPr lang="pt-BR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como uma "nuvem"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relação linear entre as variáveis.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t="-1937" r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linearmente.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entre duas variáveis,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</a:t>
            </a:r>
            <a:r>
              <a:rPr lang="pt-BR" dirty="0" err="1"/>
              <a:t>exrcícios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#3 - EDA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10623</TotalTime>
  <Words>5899</Words>
  <Application>Microsoft Office PowerPoint</Application>
  <PresentationFormat>Widescreen</PresentationFormat>
  <Paragraphs>672</Paragraphs>
  <Slides>72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0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PowerPoint Presentation</vt:lpstr>
      <vt:lpstr>Tipo dos dados</vt:lpstr>
      <vt:lpstr>Tipo dos dados</vt:lpstr>
      <vt:lpstr>Variáveis qualitativas</vt:lpstr>
      <vt:lpstr>Variáveis quantitativas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O que é um outlier?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Lista de exrcícios</vt:lpstr>
      <vt:lpstr>PowerPoint Presentation</vt:lpstr>
      <vt:lpstr>PowerPoint Presentation</vt:lpstr>
      <vt:lpstr>PowerPoint Presentation</vt:lpstr>
      <vt:lpstr>Técnicas para o tratamento de valores ausentes</vt:lpstr>
      <vt:lpstr>Tratando valores faltantes</vt:lpstr>
      <vt:lpstr>Tratando valores faltantes</vt:lpstr>
      <vt:lpstr>PowerPoint Presentation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PowerPoint Presentation</vt:lpstr>
      <vt:lpstr>Correlação de Spearman</vt:lpstr>
      <vt:lpstr>Plotando a matriz de correlação</vt:lpstr>
      <vt:lpstr>PowerPoint Presentation</vt:lpstr>
      <vt:lpstr>Pandas profiling</vt:lpstr>
      <vt:lpstr>Como gerar o relatório?</vt:lpstr>
      <vt:lpstr>PowerPoint Presentation</vt:lpstr>
      <vt:lpstr>Exemplo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2095</cp:revision>
  <dcterms:created xsi:type="dcterms:W3CDTF">2020-01-20T13:50:05Z</dcterms:created>
  <dcterms:modified xsi:type="dcterms:W3CDTF">2026-03-03T02:23:18Z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