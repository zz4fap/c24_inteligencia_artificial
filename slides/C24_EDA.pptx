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86"/>
  </p:notesMasterIdLst>
  <p:handoutMasterIdLst>
    <p:handoutMasterId r:id="rId87"/>
  </p:handoutMasterIdLst>
  <p:sldIdLst>
    <p:sldId id="256" r:id="rId5"/>
    <p:sldId id="315" r:id="rId6"/>
    <p:sldId id="307" r:id="rId7"/>
    <p:sldId id="318" r:id="rId8"/>
    <p:sldId id="374" r:id="rId9"/>
    <p:sldId id="317" r:id="rId10"/>
    <p:sldId id="397" r:id="rId11"/>
    <p:sldId id="375" r:id="rId12"/>
    <p:sldId id="326" r:id="rId13"/>
    <p:sldId id="327" r:id="rId14"/>
    <p:sldId id="328" r:id="rId15"/>
    <p:sldId id="398" r:id="rId16"/>
    <p:sldId id="376" r:id="rId17"/>
    <p:sldId id="320" r:id="rId18"/>
    <p:sldId id="321" r:id="rId19"/>
    <p:sldId id="330" r:id="rId20"/>
    <p:sldId id="323" r:id="rId21"/>
    <p:sldId id="322" r:id="rId22"/>
    <p:sldId id="377" r:id="rId23"/>
    <p:sldId id="331" r:id="rId24"/>
    <p:sldId id="333" r:id="rId25"/>
    <p:sldId id="335" r:id="rId26"/>
    <p:sldId id="399" r:id="rId27"/>
    <p:sldId id="339" r:id="rId28"/>
    <p:sldId id="380" r:id="rId29"/>
    <p:sldId id="340" r:id="rId30"/>
    <p:sldId id="342" r:id="rId31"/>
    <p:sldId id="348" r:id="rId32"/>
    <p:sldId id="349" r:id="rId33"/>
    <p:sldId id="343" r:id="rId34"/>
    <p:sldId id="344" r:id="rId35"/>
    <p:sldId id="350" r:id="rId36"/>
    <p:sldId id="400" r:id="rId37"/>
    <p:sldId id="383" r:id="rId38"/>
    <p:sldId id="401" r:id="rId39"/>
    <p:sldId id="345" r:id="rId40"/>
    <p:sldId id="354" r:id="rId41"/>
    <p:sldId id="351" r:id="rId42"/>
    <p:sldId id="359" r:id="rId43"/>
    <p:sldId id="347" r:id="rId44"/>
    <p:sldId id="402" r:id="rId45"/>
    <p:sldId id="366" r:id="rId46"/>
    <p:sldId id="384" r:id="rId47"/>
    <p:sldId id="363" r:id="rId48"/>
    <p:sldId id="365" r:id="rId49"/>
    <p:sldId id="385" r:id="rId50"/>
    <p:sldId id="329" r:id="rId51"/>
    <p:sldId id="367" r:id="rId52"/>
    <p:sldId id="391" r:id="rId53"/>
    <p:sldId id="403" r:id="rId54"/>
    <p:sldId id="368" r:id="rId55"/>
    <p:sldId id="392" r:id="rId56"/>
    <p:sldId id="369" r:id="rId57"/>
    <p:sldId id="364" r:id="rId58"/>
    <p:sldId id="371" r:id="rId59"/>
    <p:sldId id="372" r:id="rId60"/>
    <p:sldId id="308" r:id="rId61"/>
    <p:sldId id="395" r:id="rId62"/>
    <p:sldId id="293" r:id="rId63"/>
    <p:sldId id="306" r:id="rId64"/>
    <p:sldId id="379" r:id="rId65"/>
    <p:sldId id="332" r:id="rId66"/>
    <p:sldId id="337" r:id="rId67"/>
    <p:sldId id="338" r:id="rId68"/>
    <p:sldId id="382" r:id="rId69"/>
    <p:sldId id="346" r:id="rId70"/>
    <p:sldId id="357" r:id="rId71"/>
    <p:sldId id="356" r:id="rId72"/>
    <p:sldId id="362" r:id="rId73"/>
    <p:sldId id="360" r:id="rId74"/>
    <p:sldId id="361" r:id="rId75"/>
    <p:sldId id="389" r:id="rId76"/>
    <p:sldId id="387" r:id="rId77"/>
    <p:sldId id="388" r:id="rId78"/>
    <p:sldId id="390" r:id="rId79"/>
    <p:sldId id="334" r:id="rId80"/>
    <p:sldId id="373" r:id="rId81"/>
    <p:sldId id="394" r:id="rId82"/>
    <p:sldId id="393" r:id="rId83"/>
    <p:sldId id="405" r:id="rId84"/>
    <p:sldId id="406" r:id="rId85"/>
  </p:sldIdLst>
  <p:sldSz cx="12192000" cy="6858000"/>
  <p:notesSz cx="7315200" cy="96012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F1F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078" autoAdjust="0"/>
    <p:restoredTop sz="85956" autoAdjust="0"/>
  </p:normalViewPr>
  <p:slideViewPr>
    <p:cSldViewPr snapToGrid="0">
      <p:cViewPr varScale="1">
        <p:scale>
          <a:sx n="63" d="100"/>
          <a:sy n="63" d="100"/>
        </p:scale>
        <p:origin x="1176" y="66"/>
      </p:cViewPr>
      <p:guideLst/>
    </p:cSldViewPr>
  </p:slideViewPr>
  <p:outlineViewPr>
    <p:cViewPr>
      <p:scale>
        <a:sx n="33" d="100"/>
        <a:sy n="33" d="100"/>
      </p:scale>
      <p:origin x="0" y="-8862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76" Type="http://schemas.openxmlformats.org/officeDocument/2006/relationships/slide" Target="slides/slide72.xml"/><Relationship Id="rId84" Type="http://schemas.openxmlformats.org/officeDocument/2006/relationships/slide" Target="slides/slide80.xml"/><Relationship Id="rId89" Type="http://schemas.openxmlformats.org/officeDocument/2006/relationships/viewProps" Target="viewProps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slide" Target="slides/slide62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87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90" Type="http://schemas.openxmlformats.org/officeDocument/2006/relationships/theme" Target="theme/theme1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77" Type="http://schemas.openxmlformats.org/officeDocument/2006/relationships/slide" Target="slides/slide73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80" Type="http://schemas.openxmlformats.org/officeDocument/2006/relationships/slide" Target="slides/slide76.xml"/><Relationship Id="rId85" Type="http://schemas.openxmlformats.org/officeDocument/2006/relationships/slide" Target="slides/slide8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83" Type="http://schemas.openxmlformats.org/officeDocument/2006/relationships/slide" Target="slides/slide79.xml"/><Relationship Id="rId88" Type="http://schemas.openxmlformats.org/officeDocument/2006/relationships/presProps" Target="presProps.xml"/><Relationship Id="rId9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81" Type="http://schemas.openxmlformats.org/officeDocument/2006/relationships/slide" Target="slides/slide77.xml"/><Relationship Id="rId86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169922" cy="480722"/>
          </a:xfrm>
          <a:prstGeom prst="rect">
            <a:avLst/>
          </a:prstGeom>
        </p:spPr>
        <p:txBody>
          <a:bodyPr vert="horz" lIns="168634" tIns="84317" rIns="168634" bIns="84317" rtlCol="0"/>
          <a:lstStyle>
            <a:lvl1pPr algn="l">
              <a:defRPr sz="2200"/>
            </a:lvl1pPr>
          </a:lstStyle>
          <a:p>
            <a:endParaRPr lang="nl-BE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589" y="0"/>
            <a:ext cx="3169922" cy="480722"/>
          </a:xfrm>
          <a:prstGeom prst="rect">
            <a:avLst/>
          </a:prstGeom>
        </p:spPr>
        <p:txBody>
          <a:bodyPr vert="horz" lIns="168634" tIns="84317" rIns="168634" bIns="84317" rtlCol="0"/>
          <a:lstStyle>
            <a:lvl1pPr algn="r">
              <a:defRPr sz="2200"/>
            </a:lvl1pPr>
          </a:lstStyle>
          <a:p>
            <a:fld id="{144F1436-6906-4D93-B7A2-786C327BFA14}" type="datetimeFigureOut">
              <a:rPr lang="nl-BE" smtClean="0"/>
              <a:t>6/09/2026</a:t>
            </a:fld>
            <a:endParaRPr lang="nl-B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120488"/>
            <a:ext cx="3169922" cy="480718"/>
          </a:xfrm>
          <a:prstGeom prst="rect">
            <a:avLst/>
          </a:prstGeom>
        </p:spPr>
        <p:txBody>
          <a:bodyPr vert="horz" lIns="168634" tIns="84317" rIns="168634" bIns="84317" rtlCol="0" anchor="b"/>
          <a:lstStyle>
            <a:lvl1pPr algn="l">
              <a:defRPr sz="2200"/>
            </a:lvl1pPr>
          </a:lstStyle>
          <a:p>
            <a:endParaRPr lang="nl-B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589" y="9120488"/>
            <a:ext cx="3169922" cy="480718"/>
          </a:xfrm>
          <a:prstGeom prst="rect">
            <a:avLst/>
          </a:prstGeom>
        </p:spPr>
        <p:txBody>
          <a:bodyPr vert="horz" lIns="168634" tIns="84317" rIns="168634" bIns="84317" rtlCol="0" anchor="b"/>
          <a:lstStyle>
            <a:lvl1pPr algn="r">
              <a:defRPr sz="2200"/>
            </a:lvl1pPr>
          </a:lstStyle>
          <a:p>
            <a:fld id="{F7E56D9B-79AD-444A-AFED-DEC23408F8B4}" type="slidenum">
              <a:rPr lang="nl-BE" smtClean="0"/>
              <a:t>‹nº›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1635331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5" y="1"/>
            <a:ext cx="3169922" cy="1903121"/>
          </a:xfrm>
          <a:prstGeom prst="rect">
            <a:avLst/>
          </a:prstGeom>
        </p:spPr>
        <p:txBody>
          <a:bodyPr vert="horz" lIns="168634" tIns="84317" rIns="168634" bIns="84317" rtlCol="0"/>
          <a:lstStyle>
            <a:lvl1pPr algn="l">
              <a:defRPr sz="2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4143592" y="1"/>
            <a:ext cx="3169922" cy="1903121"/>
          </a:xfrm>
          <a:prstGeom prst="rect">
            <a:avLst/>
          </a:prstGeom>
        </p:spPr>
        <p:txBody>
          <a:bodyPr vert="horz" lIns="168634" tIns="84317" rIns="168634" bIns="84317" rtlCol="0"/>
          <a:lstStyle>
            <a:lvl1pPr algn="r">
              <a:defRPr sz="2200"/>
            </a:lvl1pPr>
          </a:lstStyle>
          <a:p>
            <a:fld id="{AA8CD09E-2914-4F47-B6C1-51B2C31814C9}" type="datetimeFigureOut">
              <a:rPr lang="pt-BR" smtClean="0"/>
              <a:t>06/09/2026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-7721600" y="4740275"/>
            <a:ext cx="22758400" cy="12801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68634" tIns="84317" rIns="168634" bIns="84317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731522" y="18254135"/>
            <a:ext cx="5852160" cy="14935200"/>
          </a:xfrm>
          <a:prstGeom prst="rect">
            <a:avLst/>
          </a:prstGeom>
        </p:spPr>
        <p:txBody>
          <a:bodyPr vert="horz" lIns="168634" tIns="84317" rIns="168634" bIns="84317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5" y="36027558"/>
            <a:ext cx="3169922" cy="1903117"/>
          </a:xfrm>
          <a:prstGeom prst="rect">
            <a:avLst/>
          </a:prstGeom>
        </p:spPr>
        <p:txBody>
          <a:bodyPr vert="horz" lIns="168634" tIns="84317" rIns="168634" bIns="84317" rtlCol="0" anchor="b"/>
          <a:lstStyle>
            <a:lvl1pPr algn="l">
              <a:defRPr sz="2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4143592" y="36027558"/>
            <a:ext cx="3169922" cy="1903117"/>
          </a:xfrm>
          <a:prstGeom prst="rect">
            <a:avLst/>
          </a:prstGeom>
        </p:spPr>
        <p:txBody>
          <a:bodyPr vert="horz" lIns="168634" tIns="84317" rIns="168634" bIns="84317" rtlCol="0" anchor="b"/>
          <a:lstStyle>
            <a:lvl1pPr algn="r">
              <a:defRPr sz="2200"/>
            </a:lvl1pPr>
          </a:lstStyle>
          <a:p>
            <a:fld id="{6FC8D850-966F-45A6-8DE7-15B891E7D40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18147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github/zz4fap/c24_inteligencia_artificial/blob/master/notebooks/intro_eda.ipynb" TargetMode="External"/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code/imoore/intro-to-exploratory-data-analysis-eda-in-python" TargetMode="External"/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code/imoore/intro-to-exploratory-data-analysis-eda-in-python" TargetMode="External"/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baseline="0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07474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Curadoria significa </a:t>
            </a:r>
            <a:r>
              <a:rPr lang="pt-BR" dirty="0"/>
              <a:t>o ato de </a:t>
            </a:r>
            <a:r>
              <a:rPr lang="pt-BR" b="1" dirty="0"/>
              <a:t>cuidar, selecionar, organizar, adaptar os dados</a:t>
            </a:r>
            <a:r>
              <a:rPr lang="pt-BR" dirty="0"/>
              <a:t>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888553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Taxonomia: 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como as variáveis são classificadas</a:t>
            </a:r>
            <a:endParaRPr lang="pt-BR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752373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88F0E7C4-C4F3-D6D0-BE91-E126332F4A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E8418B4D-E60A-7F2A-3AB1-94E706592D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C440489D-EDA1-F5DF-4273-5234BB9C28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Taxonomia: 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como as variáveis são classificadas</a:t>
            </a:r>
            <a:endParaRPr lang="pt-BR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1AB35A0E-66CF-4888-AB6F-15A9EFBC44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900867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Aromatic = </a:t>
            </a:r>
            <a:r>
              <a:rPr lang="en-US" dirty="0" err="1"/>
              <a:t>aromático</a:t>
            </a:r>
            <a:endParaRPr lang="en-US" dirty="0"/>
          </a:p>
          <a:p>
            <a:r>
              <a:rPr lang="en-US" dirty="0"/>
              <a:t>Buttery = </a:t>
            </a:r>
            <a:r>
              <a:rPr lang="en-US" dirty="0" err="1"/>
              <a:t>amanteigado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94102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Nominal: sem ordem ou hierarquia</a:t>
            </a:r>
          </a:p>
          <a:p>
            <a:r>
              <a:rPr lang="pt-BR" dirty="0"/>
              <a:t>Ordinal: com ordem ou hierarquia</a:t>
            </a:r>
          </a:p>
          <a:p>
            <a:endParaRPr lang="pt-BR" dirty="0"/>
          </a:p>
          <a:p>
            <a:r>
              <a:rPr lang="pt-BR" dirty="0"/>
              <a:t>Discreta: contagens -&gt; número inteiros</a:t>
            </a:r>
          </a:p>
          <a:p>
            <a:r>
              <a:rPr lang="pt-BR" dirty="0"/>
              <a:t>Contínua: medidas -&gt; números reais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437386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Elas respondem à pergunta </a:t>
            </a:r>
            <a:r>
              <a:rPr lang="pt-BR" b="1" dirty="0"/>
              <a:t>"Qual?"</a:t>
            </a:r>
            <a:r>
              <a:rPr lang="pt-BR" dirty="0"/>
              <a:t>, e não "Quanto?".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944292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326229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66861B9C-707F-5895-43EA-ADB0CADC39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991E83EF-AF5B-8222-2A90-1BDA1EBAE9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97B91EA5-5958-3264-CC48-51EF53BBCD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Taxonomia: 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como as variáveis são classificadas</a:t>
            </a:r>
            <a:endParaRPr lang="pt-BR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182BBD18-C97D-1C15-1ABF-390F87DBC5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131025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Quartis são </a:t>
            </a:r>
            <a:r>
              <a:rPr lang="pt-BR" b="1" dirty="0"/>
              <a:t>valores que dividem um conjunto de dados ordenado em quatro partes iguais</a:t>
            </a:r>
            <a:r>
              <a:rPr lang="pt-BR" dirty="0"/>
              <a:t>, cada uma contendo </a:t>
            </a:r>
            <a:r>
              <a:rPr lang="pt-BR" b="1" dirty="0"/>
              <a:t>25%</a:t>
            </a:r>
            <a:r>
              <a:rPr lang="pt-BR" dirty="0"/>
              <a:t> das observações.</a:t>
            </a:r>
          </a:p>
          <a:p>
            <a:endParaRPr lang="pt-BR" dirty="0"/>
          </a:p>
          <a:p>
            <a:r>
              <a:rPr lang="pt-BR" b="1" dirty="0"/>
              <a:t>Os quatro quartis</a:t>
            </a:r>
          </a:p>
          <a:p>
            <a:r>
              <a:rPr lang="pt-BR" b="1" dirty="0"/>
              <a:t>Q1 (1º quartil)</a:t>
            </a:r>
            <a:r>
              <a:rPr lang="pt-BR" dirty="0"/>
              <a:t> → 25% dos dados estão </a:t>
            </a:r>
            <a:r>
              <a:rPr lang="pt-BR" b="1" dirty="0"/>
              <a:t>abaixo</a:t>
            </a:r>
            <a:r>
              <a:rPr lang="pt-BR" dirty="0"/>
              <a:t> dele</a:t>
            </a:r>
          </a:p>
          <a:p>
            <a:r>
              <a:rPr lang="pt-BR" b="1" dirty="0"/>
              <a:t>Q2 (2º quartil)</a:t>
            </a:r>
            <a:r>
              <a:rPr lang="pt-BR" dirty="0"/>
              <a:t> → 50% dos dados estão </a:t>
            </a:r>
            <a:r>
              <a:rPr lang="pt-BR" b="1" dirty="0"/>
              <a:t>abaixo</a:t>
            </a:r>
            <a:r>
              <a:rPr lang="pt-BR" dirty="0"/>
              <a:t> dele</a:t>
            </a:r>
            <a:br>
              <a:rPr lang="pt-BR" dirty="0"/>
            </a:br>
            <a:r>
              <a:rPr lang="pt-BR" dirty="0"/>
              <a:t>👉 é a </a:t>
            </a:r>
            <a:r>
              <a:rPr lang="pt-BR" b="1" dirty="0"/>
              <a:t>mediana</a:t>
            </a:r>
            <a:endParaRPr lang="pt-BR" dirty="0"/>
          </a:p>
          <a:p>
            <a:r>
              <a:rPr lang="pt-BR" b="1" dirty="0"/>
              <a:t>Q3 (3º quartil)</a:t>
            </a:r>
            <a:r>
              <a:rPr lang="pt-BR" dirty="0"/>
              <a:t> → 75% dos dados estão </a:t>
            </a:r>
            <a:r>
              <a:rPr lang="pt-BR" b="1" dirty="0"/>
              <a:t>abaixo</a:t>
            </a:r>
            <a:r>
              <a:rPr lang="pt-BR" dirty="0"/>
              <a:t> dele</a:t>
            </a:r>
          </a:p>
          <a:p>
            <a:r>
              <a:rPr lang="pt-BR" b="1" dirty="0"/>
              <a:t>Q4</a:t>
            </a:r>
            <a:r>
              <a:rPr lang="pt-BR" dirty="0"/>
              <a:t> → valor máximo (às vezes citado informalmente)</a:t>
            </a:r>
          </a:p>
          <a:p>
            <a:endParaRPr lang="en-US" dirty="0"/>
          </a:p>
          <a:p>
            <a:r>
              <a:rPr lang="en-US" dirty="0" err="1"/>
              <a:t>Exemplo</a:t>
            </a:r>
            <a:r>
              <a:rPr lang="en-US" dirty="0"/>
              <a:t>: </a:t>
            </a:r>
            <a:r>
              <a:rPr lang="en-US" dirty="0">
                <a:hlinkClick r:id="rId3"/>
              </a:rPr>
              <a:t>https://colab.research.google.com/github/zz4fap/c24_inteligencia_artificial/blob/master/notebooks/intro_eda.ipynb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793020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b="0" dirty="0"/>
              <a:t>T</a:t>
            </a:r>
            <a:r>
              <a:rPr lang="en-US" b="0" dirty="0" err="1"/>
              <a:t>ranspor</a:t>
            </a:r>
            <a:r>
              <a:rPr lang="en-US" b="0" dirty="0"/>
              <a:t> um </a:t>
            </a:r>
            <a:r>
              <a:rPr lang="en-US" b="0" dirty="0" err="1"/>
              <a:t>DataFrame</a:t>
            </a:r>
            <a:r>
              <a:rPr lang="en-US" b="0" dirty="0"/>
              <a:t>: </a:t>
            </a:r>
          </a:p>
          <a:p>
            <a:pPr marL="171450" indent="-171450">
              <a:buFontTx/>
              <a:buChar char="-"/>
            </a:pPr>
            <a:r>
              <a:rPr lang="en-US" b="0" dirty="0"/>
              <a:t>Atributo: </a:t>
            </a:r>
            <a:r>
              <a:rPr lang="en-US" b="0" dirty="0" err="1"/>
              <a:t>df.T</a:t>
            </a:r>
            <a:endParaRPr lang="en-US" b="0" dirty="0"/>
          </a:p>
          <a:p>
            <a:pPr marL="171450" indent="-171450">
              <a:buFontTx/>
              <a:buChar char="-"/>
            </a:pPr>
            <a:r>
              <a:rPr lang="en-US" b="0" dirty="0" err="1"/>
              <a:t>Método</a:t>
            </a:r>
            <a:r>
              <a:rPr lang="en-US" b="0" dirty="0"/>
              <a:t>: </a:t>
            </a:r>
            <a:r>
              <a:rPr lang="en-US" b="0" dirty="0" err="1"/>
              <a:t>df.transpose</a:t>
            </a:r>
            <a:r>
              <a:rPr lang="en-US" b="0" dirty="0"/>
              <a:t>()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190351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err="1"/>
              <a:t>Não</a:t>
            </a:r>
            <a:r>
              <a:rPr lang="en-US" b="1" dirty="0"/>
              <a:t> </a:t>
            </a:r>
            <a:r>
              <a:rPr lang="en-US" b="1" dirty="0" err="1"/>
              <a:t>existe</a:t>
            </a:r>
            <a:r>
              <a:rPr lang="en-US" b="1" dirty="0"/>
              <a:t> </a:t>
            </a:r>
            <a:r>
              <a:rPr lang="en-US" b="1" dirty="0" err="1"/>
              <a:t>uma</a:t>
            </a:r>
            <a:r>
              <a:rPr lang="en-US" b="1" dirty="0"/>
              <a:t> </a:t>
            </a:r>
            <a:r>
              <a:rPr lang="en-US" b="1" dirty="0" err="1"/>
              <a:t>técnica</a:t>
            </a:r>
            <a:r>
              <a:rPr lang="en-US" b="1" dirty="0"/>
              <a:t> universal.</a:t>
            </a:r>
            <a:r>
              <a:rPr lang="en-US" dirty="0"/>
              <a:t> A </a:t>
            </a:r>
            <a:r>
              <a:rPr lang="en-US" dirty="0" err="1"/>
              <a:t>melhor</a:t>
            </a:r>
            <a:r>
              <a:rPr lang="en-US" dirty="0"/>
              <a:t> </a:t>
            </a:r>
            <a:r>
              <a:rPr lang="en-US" dirty="0" err="1"/>
              <a:t>estratégia</a:t>
            </a:r>
            <a:r>
              <a:rPr lang="en-US" dirty="0"/>
              <a:t> </a:t>
            </a:r>
            <a:r>
              <a:rPr lang="en-US" dirty="0" err="1"/>
              <a:t>depende</a:t>
            </a:r>
            <a:r>
              <a:rPr lang="en-US" dirty="0"/>
              <a:t> da </a:t>
            </a:r>
            <a:r>
              <a:rPr lang="en-US" dirty="0" err="1"/>
              <a:t>quantidade</a:t>
            </a:r>
            <a:r>
              <a:rPr lang="en-US" dirty="0"/>
              <a:t> de </a:t>
            </a:r>
            <a:r>
              <a:rPr lang="en-US" dirty="0" err="1"/>
              <a:t>valores</a:t>
            </a:r>
            <a:r>
              <a:rPr lang="en-US" dirty="0"/>
              <a:t> </a:t>
            </a:r>
            <a:r>
              <a:rPr lang="en-US" dirty="0" err="1"/>
              <a:t>faltantes</a:t>
            </a:r>
            <a:r>
              <a:rPr lang="en-US" dirty="0"/>
              <a:t>, do </a:t>
            </a:r>
            <a:r>
              <a:rPr lang="en-US" dirty="0" err="1"/>
              <a:t>tipo</a:t>
            </a:r>
            <a:r>
              <a:rPr lang="en-US" dirty="0"/>
              <a:t> dos dados e do </a:t>
            </a:r>
            <a:r>
              <a:rPr lang="en-US" dirty="0" err="1"/>
              <a:t>problema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está</a:t>
            </a:r>
            <a:r>
              <a:rPr lang="en-US" dirty="0"/>
              <a:t> </a:t>
            </a:r>
            <a:r>
              <a:rPr lang="en-US" dirty="0" err="1"/>
              <a:t>sendo</a:t>
            </a:r>
            <a:r>
              <a:rPr lang="en-US" dirty="0"/>
              <a:t> </a:t>
            </a:r>
            <a:r>
              <a:rPr lang="en-US" dirty="0" err="1"/>
              <a:t>resolvido</a:t>
            </a:r>
            <a:r>
              <a:rPr lang="en-US" dirty="0"/>
              <a:t>. Em </a:t>
            </a:r>
            <a:r>
              <a:rPr lang="en-US" dirty="0" err="1"/>
              <a:t>geral</a:t>
            </a:r>
            <a:r>
              <a:rPr lang="en-US" dirty="0"/>
              <a:t>:</a:t>
            </a:r>
          </a:p>
          <a:p>
            <a:pPr lvl="0"/>
            <a:r>
              <a:rPr lang="en-US" dirty="0" err="1"/>
              <a:t>poucos</a:t>
            </a:r>
            <a:r>
              <a:rPr lang="en-US" dirty="0"/>
              <a:t> </a:t>
            </a:r>
            <a:r>
              <a:rPr lang="en-US" dirty="0" err="1"/>
              <a:t>valores</a:t>
            </a:r>
            <a:r>
              <a:rPr lang="en-US" dirty="0"/>
              <a:t> </a:t>
            </a:r>
            <a:r>
              <a:rPr lang="en-US" dirty="0" err="1"/>
              <a:t>ausentes</a:t>
            </a:r>
            <a:r>
              <a:rPr lang="en-US" dirty="0"/>
              <a:t> → </a:t>
            </a:r>
            <a:r>
              <a:rPr lang="en-US" dirty="0" err="1"/>
              <a:t>imputação</a:t>
            </a:r>
            <a:r>
              <a:rPr lang="en-US" dirty="0"/>
              <a:t>; </a:t>
            </a:r>
          </a:p>
          <a:p>
            <a:pPr lvl="0"/>
            <a:r>
              <a:rPr lang="en-US" dirty="0" err="1"/>
              <a:t>muitos</a:t>
            </a:r>
            <a:r>
              <a:rPr lang="en-US" dirty="0"/>
              <a:t> </a:t>
            </a:r>
            <a:r>
              <a:rPr lang="en-US" dirty="0" err="1"/>
              <a:t>valores</a:t>
            </a:r>
            <a:r>
              <a:rPr lang="en-US" dirty="0"/>
              <a:t> </a:t>
            </a:r>
            <a:r>
              <a:rPr lang="en-US" dirty="0" err="1"/>
              <a:t>ausentes</a:t>
            </a:r>
            <a:r>
              <a:rPr lang="en-US" dirty="0"/>
              <a:t> → </a:t>
            </a:r>
            <a:r>
              <a:rPr lang="en-US" dirty="0" err="1"/>
              <a:t>avaliar</a:t>
            </a:r>
            <a:r>
              <a:rPr lang="en-US" dirty="0"/>
              <a:t> a </a:t>
            </a:r>
            <a:r>
              <a:rPr lang="en-US" dirty="0" err="1"/>
              <a:t>remoção</a:t>
            </a:r>
            <a:r>
              <a:rPr lang="en-US" dirty="0"/>
              <a:t> da </a:t>
            </a:r>
            <a:r>
              <a:rPr lang="en-US" dirty="0" err="1"/>
              <a:t>coluna</a:t>
            </a:r>
            <a:r>
              <a:rPr lang="en-US" dirty="0"/>
              <a:t> </a:t>
            </a:r>
            <a:r>
              <a:rPr lang="en-US" dirty="0" err="1"/>
              <a:t>ou</a:t>
            </a:r>
            <a:r>
              <a:rPr lang="en-US" dirty="0"/>
              <a:t> o </a:t>
            </a:r>
            <a:r>
              <a:rPr lang="en-US" dirty="0" err="1"/>
              <a:t>uso</a:t>
            </a:r>
            <a:r>
              <a:rPr lang="en-US" dirty="0"/>
              <a:t> de </a:t>
            </a:r>
            <a:r>
              <a:rPr lang="en-US" dirty="0" err="1"/>
              <a:t>métodos</a:t>
            </a:r>
            <a:r>
              <a:rPr lang="en-US" dirty="0"/>
              <a:t> </a:t>
            </a:r>
            <a:r>
              <a:rPr lang="en-US" dirty="0" err="1"/>
              <a:t>avançados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3376382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Imagine que temos as notas de 5 alunos: [7, 3, 9, 5, 10]</a:t>
            </a:r>
          </a:p>
          <a:p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Ordene os valores: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[3, 5, 7, 9, 10]</a:t>
            </a:r>
          </a:p>
          <a:p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Identifique o meio: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Como temos 5 elementos (ímpar), o valor central é o 3º termo.</a:t>
            </a:r>
          </a:p>
          <a:p>
            <a:pPr lvl="1"/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Mediana = 7</a:t>
            </a:r>
            <a:endParaRPr lang="pt-B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Agora, imagine que adicionamos uma nota 8, ficando com 6 alunos: [7, 3, 9, 5, 10, 8]</a:t>
            </a:r>
          </a:p>
          <a:p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Ordene os valores: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[3, 5, 7, 8, 9, 10]</a:t>
            </a:r>
          </a:p>
          <a:p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Identifique o meio: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Como temos 6 elementos (par), não existe um único valor central. Pegamos os dois valores do meio (7 e 8) e tiramos a média:</a:t>
            </a:r>
          </a:p>
          <a:p>
            <a:pPr lvl="1"/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$\</a:t>
            </a:r>
            <a:r>
              <a:rPr lang="pt-B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text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{Mediana} = \</a:t>
            </a:r>
            <a:r>
              <a:rPr lang="pt-B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frac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{7 + 8}{2} = 7.5$</a:t>
            </a:r>
          </a:p>
          <a:p>
            <a:endParaRPr lang="pt-BR" dirty="0"/>
          </a:p>
          <a:p>
            <a:r>
              <a:rPr lang="pt-BR" dirty="0"/>
              <a:t>A </a:t>
            </a:r>
            <a:r>
              <a:rPr lang="pt-BR" b="1" dirty="0"/>
              <a:t>moda</a:t>
            </a:r>
            <a:r>
              <a:rPr lang="pt-BR" dirty="0"/>
              <a:t> é o </a:t>
            </a:r>
            <a:r>
              <a:rPr lang="pt-BR" b="1" dirty="0"/>
              <a:t>valor mais frequente</a:t>
            </a:r>
            <a:r>
              <a:rPr lang="pt-BR" dirty="0"/>
              <a:t>. Um outlier costuma ser um valor </a:t>
            </a:r>
            <a:r>
              <a:rPr lang="pt-BR" b="1" dirty="0"/>
              <a:t>raro</a:t>
            </a:r>
            <a:r>
              <a:rPr lang="pt-BR" dirty="0"/>
              <a:t> (aparece 1 vez ou pouquíssimas), então </a:t>
            </a:r>
            <a:r>
              <a:rPr lang="pt-BR" b="1" dirty="0"/>
              <a:t>não muda</a:t>
            </a:r>
            <a:r>
              <a:rPr lang="pt-BR" dirty="0"/>
              <a:t> qual valor aparece mais.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0806816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1F7ABC78-57AD-FC46-A400-0B21F52C6D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2BF5FBA6-63B0-664D-016B-E622A6B1CE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F995F52D-B195-0586-B61A-68D7EDB714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Taxonomia: 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como as variáveis são classificadas</a:t>
            </a:r>
            <a:endParaRPr lang="pt-BR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19C6FC5D-5C6F-6494-52B9-299492380C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4057799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Mas outliers  </a:t>
            </a:r>
            <a:r>
              <a:rPr lang="en-US" dirty="0" err="1"/>
              <a:t>podem</a:t>
            </a:r>
            <a:r>
              <a:rPr lang="en-US" dirty="0"/>
              <a:t> ser </a:t>
            </a:r>
            <a:r>
              <a:rPr lang="en-US" b="1" dirty="0" err="1"/>
              <a:t>observações</a:t>
            </a:r>
            <a:r>
              <a:rPr lang="en-US" b="1" dirty="0"/>
              <a:t> </a:t>
            </a:r>
            <a:r>
              <a:rPr lang="en-US" b="1" dirty="0" err="1"/>
              <a:t>perfeitamente</a:t>
            </a:r>
            <a:r>
              <a:rPr lang="en-US" b="1" dirty="0"/>
              <a:t> </a:t>
            </a:r>
            <a:r>
              <a:rPr lang="en-US" b="1" dirty="0" err="1"/>
              <a:t>válidas</a:t>
            </a:r>
            <a:r>
              <a:rPr lang="en-US" dirty="0"/>
              <a:t>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9413066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2710226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8F82A679-CE06-9D11-4088-69773CB211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9CAC2CDE-94AE-2F59-C081-7064204B65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9EBC198C-1C48-B3C1-3730-972E74B0CD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b="1" dirty="0"/>
              <a:t>Distorção da média: </a:t>
            </a:r>
            <a:r>
              <a:rPr lang="pt-BR" dirty="0"/>
              <a:t>A média pode ser deslocada significativamente em direção aos valores extremos.</a:t>
            </a:r>
          </a:p>
          <a:p>
            <a:r>
              <a:rPr lang="pt-BR" b="1" dirty="0"/>
              <a:t>Aumento da variância/desvio padrão: </a:t>
            </a:r>
            <a:r>
              <a:rPr lang="pt-BR" dirty="0"/>
              <a:t>Valores extremos aumentam artificialmente a dispersão dos dados.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b="1" dirty="0"/>
              <a:t>Impacto em modelos de ML</a:t>
            </a:r>
            <a:r>
              <a:rPr lang="pt-BR" b="0" dirty="0"/>
              <a:t>: Valores muito grandes podem dominar os cálculos de distância. Isso pode fazer com que valores pequenos, mas relevantes, sejam praticamente ignorados.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5E401B4E-0762-5A65-1DE1-998DFDF9A0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9541690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Pode ser uma falha de hardware ou incêndio real.</a:t>
            </a:r>
          </a:p>
          <a:p>
            <a:endParaRPr lang="pt-BR" dirty="0"/>
          </a:p>
          <a:p>
            <a:r>
              <a:rPr lang="pt-BR" dirty="0"/>
              <a:t>outlier é um </a:t>
            </a:r>
            <a:r>
              <a:rPr lang="pt-BR" b="1" dirty="0"/>
              <a:t>ruído</a:t>
            </a:r>
            <a:r>
              <a:rPr lang="pt-BR" dirty="0"/>
              <a:t> (erro de sensor/digitação) ou é um </a:t>
            </a:r>
            <a:r>
              <a:rPr lang="pt-BR" b="1" dirty="0"/>
              <a:t>insight</a:t>
            </a:r>
            <a:r>
              <a:rPr lang="pt-BR" dirty="0"/>
              <a:t> (um caso raro que preciso estudar)?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1878554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</a:t>
            </a:r>
            <a:r>
              <a:rPr lang="en-US" dirty="0" err="1"/>
              <a:t>histograma</a:t>
            </a:r>
            <a:r>
              <a:rPr lang="en-US" dirty="0"/>
              <a:t> </a:t>
            </a:r>
            <a:r>
              <a:rPr lang="en-US" dirty="0" err="1"/>
              <a:t>mostra</a:t>
            </a:r>
            <a:r>
              <a:rPr lang="en-US" dirty="0"/>
              <a:t> </a:t>
            </a:r>
            <a:r>
              <a:rPr lang="en-US" b="1" dirty="0" err="1"/>
              <a:t>como</a:t>
            </a:r>
            <a:r>
              <a:rPr lang="en-US" b="1" dirty="0"/>
              <a:t> </a:t>
            </a:r>
            <a:r>
              <a:rPr lang="en-US" b="1" dirty="0" err="1"/>
              <a:t>os</a:t>
            </a:r>
            <a:r>
              <a:rPr lang="en-US" b="1" dirty="0"/>
              <a:t> dados </a:t>
            </a:r>
            <a:r>
              <a:rPr lang="en-US" b="1" dirty="0" err="1"/>
              <a:t>estão</a:t>
            </a:r>
            <a:r>
              <a:rPr lang="en-US" b="1" dirty="0"/>
              <a:t> </a:t>
            </a:r>
            <a:r>
              <a:rPr lang="en-US" b="1" dirty="0" err="1"/>
              <a:t>distribuídos</a:t>
            </a:r>
            <a:r>
              <a:rPr lang="en-US" b="1" dirty="0"/>
              <a:t>.</a:t>
            </a:r>
            <a:endParaRPr lang="en-US" dirty="0"/>
          </a:p>
          <a:p>
            <a:endParaRPr lang="en-US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31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9607701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32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8070625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2D901B72-7FD7-A1CF-0346-6943C0937F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7557D1D1-DCD0-772B-B0F3-51368A46FD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364B95CE-C493-1715-08F3-2FF7F17D33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Histograma é uma ferramenta de exploração dos dados.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35F7BF84-699A-4864-BC8F-3002830421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33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2258034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36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6548738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O </a:t>
            </a:r>
            <a:r>
              <a:rPr lang="pt-BR" b="1" dirty="0"/>
              <a:t>1,5</a:t>
            </a:r>
            <a:r>
              <a:rPr lang="pt-BR" dirty="0"/>
              <a:t> foi escolhido para funcionar bem em muitos cenários com dados com distribuições próximas à distribuição “normal” (é uma heurística).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37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6604507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Uma </a:t>
            </a:r>
            <a:r>
              <a:rPr lang="en-US" b="1" dirty="0" err="1"/>
              <a:t>distribuição</a:t>
            </a:r>
            <a:r>
              <a:rPr lang="en-US" b="1" dirty="0"/>
              <a:t> </a:t>
            </a:r>
            <a:r>
              <a:rPr lang="en-US" b="1" dirty="0" err="1"/>
              <a:t>assimétrica</a:t>
            </a:r>
            <a:r>
              <a:rPr lang="en-US" dirty="0"/>
              <a:t> é </a:t>
            </a:r>
            <a:r>
              <a:rPr lang="en-US" dirty="0" err="1"/>
              <a:t>uma</a:t>
            </a:r>
            <a:r>
              <a:rPr lang="en-US" dirty="0"/>
              <a:t> </a:t>
            </a:r>
            <a:r>
              <a:rPr lang="en-US" dirty="0" err="1"/>
              <a:t>distribuição</a:t>
            </a:r>
            <a:r>
              <a:rPr lang="en-US" dirty="0"/>
              <a:t> de dados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b="1" dirty="0" err="1"/>
              <a:t>não</a:t>
            </a:r>
            <a:r>
              <a:rPr lang="en-US" b="1" dirty="0"/>
              <a:t> </a:t>
            </a:r>
            <a:r>
              <a:rPr lang="en-US" b="1" dirty="0" err="1"/>
              <a:t>apresenta</a:t>
            </a:r>
            <a:r>
              <a:rPr lang="en-US" b="1" dirty="0"/>
              <a:t> o </a:t>
            </a:r>
            <a:r>
              <a:rPr lang="en-US" b="1" dirty="0" err="1"/>
              <a:t>mesmo</a:t>
            </a:r>
            <a:r>
              <a:rPr lang="en-US" b="1" dirty="0"/>
              <a:t> </a:t>
            </a:r>
            <a:r>
              <a:rPr lang="en-US" b="1" dirty="0" err="1"/>
              <a:t>formato</a:t>
            </a:r>
            <a:r>
              <a:rPr lang="en-US" b="1" dirty="0"/>
              <a:t> dos </a:t>
            </a:r>
            <a:r>
              <a:rPr lang="en-US" b="1" dirty="0" err="1"/>
              <a:t>dois</a:t>
            </a:r>
            <a:r>
              <a:rPr lang="en-US" b="1" dirty="0"/>
              <a:t> </a:t>
            </a:r>
            <a:r>
              <a:rPr lang="en-US" b="1" dirty="0" err="1"/>
              <a:t>lados</a:t>
            </a:r>
            <a:r>
              <a:rPr lang="en-US" b="1" dirty="0"/>
              <a:t> do </a:t>
            </a:r>
            <a:r>
              <a:rPr lang="en-US" b="1" dirty="0" err="1"/>
              <a:t>seu</a:t>
            </a:r>
            <a:r>
              <a:rPr lang="en-US" b="1" dirty="0"/>
              <a:t> </a:t>
            </a:r>
            <a:r>
              <a:rPr lang="en-US" b="1" dirty="0" err="1"/>
              <a:t>centro</a:t>
            </a:r>
            <a:r>
              <a:rPr lang="en-US" dirty="0"/>
              <a:t>. </a:t>
            </a:r>
          </a:p>
          <a:p>
            <a:endParaRPr lang="pt-BR" dirty="0"/>
          </a:p>
          <a:p>
            <a:r>
              <a:rPr lang="pt-BR" dirty="0" err="1"/>
              <a:t>Boxplot</a:t>
            </a:r>
            <a:r>
              <a:rPr lang="pt-BR" dirty="0"/>
              <a:t> é independente da forma da distribuição</a:t>
            </a:r>
          </a:p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39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0521226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Agora que sabemos como detectar </a:t>
            </a:r>
            <a:r>
              <a:rPr lang="pt-BR" i="1" dirty="0"/>
              <a:t>outliers</a:t>
            </a:r>
            <a:r>
              <a:rPr lang="pt-BR" dirty="0"/>
              <a:t>, veremos como removê-los dos dados.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40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6503980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D8968B04-0320-560E-D624-2E361F588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E6C582DE-2D3A-5ECF-91A4-0128BB29BB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F84700CB-C8BE-5347-69BE-E19FDF23FE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Taxonomia: 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como as variáveis são classificadas</a:t>
            </a:r>
            <a:endParaRPr lang="pt-BR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81E3064B-3F3A-9F21-98F8-0E62D567D5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41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3185494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44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724955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Remover </a:t>
            </a:r>
            <a:r>
              <a:rPr lang="en-US" dirty="0" err="1"/>
              <a:t>atributos</a:t>
            </a:r>
            <a:r>
              <a:rPr lang="en-US" dirty="0"/>
              <a:t> </a:t>
            </a:r>
            <a:r>
              <a:rPr lang="en-US" dirty="0" err="1"/>
              <a:t>redundantes</a:t>
            </a:r>
            <a:r>
              <a:rPr lang="en-US" dirty="0"/>
              <a:t> </a:t>
            </a:r>
            <a:r>
              <a:rPr lang="en-US" dirty="0" err="1"/>
              <a:t>pode</a:t>
            </a:r>
            <a:r>
              <a:rPr lang="en-US" dirty="0"/>
              <a:t> </a:t>
            </a:r>
            <a:r>
              <a:rPr lang="en-US" dirty="0" err="1"/>
              <a:t>reduzir</a:t>
            </a:r>
            <a:r>
              <a:rPr lang="en-US" dirty="0"/>
              <a:t> </a:t>
            </a:r>
            <a:r>
              <a:rPr lang="en-US" dirty="0" err="1"/>
              <a:t>dimensionalidade</a:t>
            </a:r>
            <a:r>
              <a:rPr lang="en-US" dirty="0"/>
              <a:t>, </a:t>
            </a:r>
            <a:r>
              <a:rPr lang="en-US" dirty="0" err="1"/>
              <a:t>simplificar</a:t>
            </a:r>
            <a:r>
              <a:rPr lang="en-US" dirty="0"/>
              <a:t> o </a:t>
            </a:r>
            <a:r>
              <a:rPr lang="en-US" dirty="0" err="1"/>
              <a:t>modelo</a:t>
            </a:r>
            <a:r>
              <a:rPr lang="en-US" dirty="0"/>
              <a:t> e </a:t>
            </a:r>
            <a:r>
              <a:rPr lang="en-US" dirty="0" err="1"/>
              <a:t>facilitar</a:t>
            </a:r>
            <a:r>
              <a:rPr lang="en-US" dirty="0"/>
              <a:t> </a:t>
            </a:r>
            <a:r>
              <a:rPr lang="en-US" dirty="0" err="1"/>
              <a:t>sua</a:t>
            </a:r>
            <a:r>
              <a:rPr lang="en-US" dirty="0"/>
              <a:t> </a:t>
            </a:r>
            <a:r>
              <a:rPr lang="en-US" dirty="0" err="1"/>
              <a:t>interpretação</a:t>
            </a:r>
            <a:r>
              <a:rPr lang="en-US" dirty="0"/>
              <a:t>.</a:t>
            </a:r>
          </a:p>
          <a:p>
            <a:endParaRPr lang="pt-BR" dirty="0"/>
          </a:p>
          <a:p>
            <a:endParaRPr lang="pt-BR" dirty="0"/>
          </a:p>
          <a:p>
            <a:r>
              <a:rPr lang="pt-BR" dirty="0"/>
              <a:t>Detectar </a:t>
            </a:r>
            <a:r>
              <a:rPr lang="pt-BR" b="1" dirty="0" err="1"/>
              <a:t>multicolinearidade</a:t>
            </a:r>
            <a:r>
              <a:rPr lang="pt-BR" dirty="0"/>
              <a:t> durante a </a:t>
            </a:r>
            <a:r>
              <a:rPr lang="pt-BR" b="1" dirty="0"/>
              <a:t>EDA (</a:t>
            </a:r>
            <a:r>
              <a:rPr lang="pt-BR" b="1" dirty="0" err="1"/>
              <a:t>Exploratory</a:t>
            </a:r>
            <a:r>
              <a:rPr lang="pt-BR" b="1" dirty="0"/>
              <a:t> Data </a:t>
            </a:r>
            <a:r>
              <a:rPr lang="pt-BR" b="1" dirty="0" err="1"/>
              <a:t>Analysis</a:t>
            </a:r>
            <a:r>
              <a:rPr lang="pt-BR" b="1" dirty="0"/>
              <a:t>)</a:t>
            </a:r>
            <a:r>
              <a:rPr lang="pt-BR" dirty="0"/>
              <a:t> é importante porque ela afeta tanto a </a:t>
            </a:r>
            <a:r>
              <a:rPr lang="pt-BR" b="1" dirty="0"/>
              <a:t>interpretação</a:t>
            </a:r>
            <a:r>
              <a:rPr lang="pt-BR" dirty="0"/>
              <a:t> quanto o </a:t>
            </a:r>
            <a:r>
              <a:rPr lang="pt-BR" b="1" dirty="0"/>
              <a:t>desempenho</a:t>
            </a:r>
            <a:r>
              <a:rPr lang="pt-BR" dirty="0"/>
              <a:t> dos modelos — e geralmente passa despercebida se você só “jogar o modelo e ver o score”.</a:t>
            </a:r>
          </a:p>
          <a:p>
            <a:r>
              <a:rPr lang="pt-BR" dirty="0"/>
              <a:t>Principais motivos 👇</a:t>
            </a:r>
          </a:p>
          <a:p>
            <a:r>
              <a:rPr lang="pt-BR" dirty="0"/>
              <a:t/>
            </a:r>
            <a:br>
              <a:rPr lang="pt-BR" dirty="0"/>
            </a:br>
            <a:endParaRPr lang="pt-BR" dirty="0"/>
          </a:p>
          <a:p>
            <a:r>
              <a:rPr lang="pt-BR" b="1" dirty="0"/>
              <a:t>🔍 1. Interpretação dos coeficientes fica comprometida</a:t>
            </a:r>
          </a:p>
          <a:p>
            <a:r>
              <a:rPr lang="pt-BR" dirty="0"/>
              <a:t>Em modelos lineares (regressão linear, logística, </a:t>
            </a:r>
            <a:r>
              <a:rPr lang="pt-BR" dirty="0" err="1"/>
              <a:t>GLMs</a:t>
            </a:r>
            <a:r>
              <a:rPr lang="pt-BR" dirty="0"/>
              <a:t>):</a:t>
            </a:r>
          </a:p>
          <a:p>
            <a:r>
              <a:rPr lang="pt-BR" dirty="0"/>
              <a:t>Variáveis altamente correlacionadas “competem” entre si</a:t>
            </a:r>
          </a:p>
          <a:p>
            <a:r>
              <a:rPr lang="pt-BR" dirty="0"/>
              <a:t>Os coeficientes tornam-se </a:t>
            </a:r>
            <a:r>
              <a:rPr lang="pt-BR" b="1" dirty="0"/>
              <a:t>instáveis</a:t>
            </a:r>
            <a:endParaRPr lang="pt-BR" dirty="0"/>
          </a:p>
          <a:p>
            <a:r>
              <a:rPr lang="pt-BR" dirty="0"/>
              <a:t>Pequenas mudanças nos dados → grandes mudanças nos pesos</a:t>
            </a:r>
          </a:p>
          <a:p>
            <a:r>
              <a:rPr lang="pt-BR" dirty="0"/>
              <a:t>Fica difícil dizer </a:t>
            </a:r>
            <a:r>
              <a:rPr lang="pt-BR" b="1" dirty="0"/>
              <a:t>qual variável realmente explica o fenômeno</a:t>
            </a:r>
            <a:endParaRPr lang="pt-BR" dirty="0"/>
          </a:p>
          <a:p>
            <a:r>
              <a:rPr lang="pt-BR" dirty="0"/>
              <a:t>👉 Você pode ter coeficientes com sinal inesperado ou valores absurdos.</a:t>
            </a:r>
          </a:p>
          <a:p>
            <a:r>
              <a:rPr lang="pt-BR" dirty="0"/>
              <a:t/>
            </a:r>
            <a:br>
              <a:rPr lang="pt-BR" dirty="0"/>
            </a:br>
            <a:endParaRPr lang="pt-BR" dirty="0"/>
          </a:p>
          <a:p>
            <a:r>
              <a:rPr lang="pt-BR" b="1" dirty="0"/>
              <a:t>📉 2. Aumenta a variância das estimativas</a:t>
            </a:r>
          </a:p>
          <a:p>
            <a:r>
              <a:rPr lang="pt-BR" dirty="0"/>
              <a:t>A </a:t>
            </a:r>
            <a:r>
              <a:rPr lang="pt-BR" dirty="0" err="1"/>
              <a:t>multicolinearidade</a:t>
            </a:r>
            <a:r>
              <a:rPr lang="pt-BR" dirty="0"/>
              <a:t> </a:t>
            </a:r>
            <a:r>
              <a:rPr lang="pt-BR" b="1" dirty="0"/>
              <a:t>infla a variância</a:t>
            </a:r>
            <a:r>
              <a:rPr lang="pt-BR" dirty="0"/>
              <a:t> dos coeficientes:</a:t>
            </a:r>
          </a:p>
          <a:p>
            <a:r>
              <a:rPr lang="pt-BR" dirty="0"/>
              <a:t>Intervalos de confiança mais largos</a:t>
            </a:r>
          </a:p>
          <a:p>
            <a:r>
              <a:rPr lang="pt-BR" dirty="0"/>
              <a:t>Testes estatísticos menos confiáveis</a:t>
            </a:r>
          </a:p>
          <a:p>
            <a:r>
              <a:rPr lang="pt-BR" dirty="0"/>
              <a:t>Variáveis relevantes podem parecer “não significativas”</a:t>
            </a:r>
          </a:p>
          <a:p>
            <a:r>
              <a:rPr lang="pt-BR" dirty="0"/>
              <a:t>Isso é especialmente crítico em análises inferenciais.</a:t>
            </a:r>
          </a:p>
          <a:p>
            <a:r>
              <a:rPr lang="pt-BR" dirty="0"/>
              <a:t/>
            </a:r>
            <a:br>
              <a:rPr lang="pt-BR" dirty="0"/>
            </a:br>
            <a:endParaRPr lang="pt-BR" dirty="0"/>
          </a:p>
          <a:p>
            <a:r>
              <a:rPr lang="pt-BR" b="1" dirty="0"/>
              <a:t>🤖 3. Pode prejudicar o desempenho e a generalização</a:t>
            </a:r>
          </a:p>
          <a:p>
            <a:r>
              <a:rPr lang="pt-BR" dirty="0"/>
              <a:t>Dependendo do modelo:</a:t>
            </a:r>
          </a:p>
          <a:p>
            <a:r>
              <a:rPr lang="pt-BR" dirty="0"/>
              <a:t>Modelos lineares → mais sensíveis</a:t>
            </a:r>
          </a:p>
          <a:p>
            <a:r>
              <a:rPr lang="pt-BR" dirty="0"/>
              <a:t>Regularização (Ridge, Lasso) ajuda, mas </a:t>
            </a:r>
            <a:r>
              <a:rPr lang="pt-BR" b="1" dirty="0"/>
              <a:t>não elimina o problema conceitual</a:t>
            </a:r>
            <a:endParaRPr lang="pt-BR" dirty="0"/>
          </a:p>
          <a:p>
            <a:r>
              <a:rPr lang="pt-BR" dirty="0"/>
              <a:t>Pode levar a </a:t>
            </a:r>
            <a:r>
              <a:rPr lang="pt-BR" b="1" dirty="0" err="1"/>
              <a:t>overfitting</a:t>
            </a:r>
            <a:r>
              <a:rPr lang="pt-BR" dirty="0"/>
              <a:t> em alguns cenários</a:t>
            </a:r>
          </a:p>
          <a:p>
            <a:r>
              <a:rPr lang="pt-BR" dirty="0"/>
              <a:t>Mesmo que a métrica não caia muito, o modelo fica frágil.</a:t>
            </a:r>
          </a:p>
          <a:p>
            <a:r>
              <a:rPr lang="pt-BR" dirty="0"/>
              <a:t/>
            </a:r>
            <a:br>
              <a:rPr lang="pt-BR" dirty="0"/>
            </a:br>
            <a:endParaRPr lang="pt-BR" dirty="0"/>
          </a:p>
          <a:p>
            <a:r>
              <a:rPr lang="pt-BR" b="1" dirty="0"/>
              <a:t>🧠 4. Indica redundância de informação</a:t>
            </a:r>
          </a:p>
          <a:p>
            <a:r>
              <a:rPr lang="pt-BR" dirty="0"/>
              <a:t>Alta correlação geralmente significa:</a:t>
            </a:r>
          </a:p>
          <a:p>
            <a:r>
              <a:rPr lang="pt-BR" dirty="0"/>
              <a:t>Variáveis carregando </a:t>
            </a:r>
            <a:r>
              <a:rPr lang="pt-BR" b="1" dirty="0"/>
              <a:t>a mesma informação</a:t>
            </a:r>
            <a:endParaRPr lang="pt-BR" dirty="0"/>
          </a:p>
          <a:p>
            <a:r>
              <a:rPr lang="pt-BR" dirty="0"/>
              <a:t>Features desnecessárias</a:t>
            </a:r>
          </a:p>
          <a:p>
            <a:r>
              <a:rPr lang="pt-BR" dirty="0"/>
              <a:t>Espaço de características mal projetado</a:t>
            </a:r>
          </a:p>
          <a:p>
            <a:r>
              <a:rPr lang="pt-BR" dirty="0"/>
              <a:t>👉 Isso abre oportunidades para:</a:t>
            </a:r>
          </a:p>
          <a:p>
            <a:r>
              <a:rPr lang="pt-BR" dirty="0"/>
              <a:t>Remoção de variáveis</a:t>
            </a:r>
          </a:p>
          <a:p>
            <a:r>
              <a:rPr lang="pt-BR" dirty="0"/>
              <a:t>Combinação de features</a:t>
            </a:r>
          </a:p>
          <a:p>
            <a:r>
              <a:rPr lang="pt-BR" dirty="0"/>
              <a:t>PCA ou outras reduções de dimensionalidade</a:t>
            </a:r>
          </a:p>
          <a:p>
            <a:r>
              <a:rPr lang="pt-BR" dirty="0"/>
              <a:t/>
            </a:r>
            <a:br>
              <a:rPr lang="pt-BR" dirty="0"/>
            </a:br>
            <a:endParaRPr lang="pt-BR" dirty="0"/>
          </a:p>
          <a:p>
            <a:r>
              <a:rPr lang="pt-BR" b="1" dirty="0"/>
              <a:t>🛠️ 5. Orienta decisões ainda na EDA</a:t>
            </a:r>
          </a:p>
          <a:p>
            <a:r>
              <a:rPr lang="pt-BR" dirty="0"/>
              <a:t>Detectar cedo permite:</a:t>
            </a:r>
          </a:p>
          <a:p>
            <a:r>
              <a:rPr lang="pt-BR" dirty="0"/>
              <a:t>Escolher melhor quais variáveis manter</a:t>
            </a:r>
          </a:p>
          <a:p>
            <a:r>
              <a:rPr lang="pt-BR" dirty="0"/>
              <a:t>Definir transformações (diferença, razão, log, etc.)</a:t>
            </a:r>
          </a:p>
          <a:p>
            <a:r>
              <a:rPr lang="pt-BR" dirty="0"/>
              <a:t>Decidir entre interpretação </a:t>
            </a:r>
            <a:r>
              <a:rPr lang="pt-BR" dirty="0" err="1"/>
              <a:t>vs</a:t>
            </a:r>
            <a:r>
              <a:rPr lang="pt-BR" dirty="0"/>
              <a:t> performance</a:t>
            </a:r>
          </a:p>
          <a:p>
            <a:r>
              <a:rPr lang="pt-BR" dirty="0"/>
              <a:t>Evitar surpresas na fase de modelagem</a:t>
            </a:r>
          </a:p>
          <a:p>
            <a:r>
              <a:rPr lang="pt-BR" dirty="0"/>
              <a:t/>
            </a:r>
            <a:br>
              <a:rPr lang="pt-BR" dirty="0"/>
            </a:br>
            <a:endParaRPr lang="pt-BR" dirty="0"/>
          </a:p>
          <a:p>
            <a:r>
              <a:rPr lang="pt-BR" b="1" dirty="0"/>
              <a:t>Em resumo:</a:t>
            </a:r>
          </a:p>
          <a:p>
            <a:r>
              <a:rPr lang="pt-BR" b="1" dirty="0"/>
              <a:t>A </a:t>
            </a:r>
            <a:r>
              <a:rPr lang="pt-BR" b="1" dirty="0" err="1"/>
              <a:t>multicolinearidade</a:t>
            </a:r>
            <a:r>
              <a:rPr lang="pt-BR" b="1" dirty="0"/>
              <a:t> dificulta a interpretação dos modelos, aumenta a incerteza das estimativas e revela redundância entre variáveis — por isso deve ser identificada ainda na EDA.</a:t>
            </a:r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45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77124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C5F0DA7-D327-7025-E28E-AD6262D2B1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279B83F6-5AA6-4EB1-C841-8E17EE6D7E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2E2D288B-7721-F12A-9699-1E7BB53C8A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Detectar </a:t>
            </a:r>
            <a:r>
              <a:rPr lang="pt-BR" b="1" dirty="0" err="1"/>
              <a:t>multicolinearidade</a:t>
            </a:r>
            <a:r>
              <a:rPr lang="pt-BR" dirty="0"/>
              <a:t> durante a </a:t>
            </a:r>
            <a:r>
              <a:rPr lang="pt-BR" b="1" dirty="0"/>
              <a:t>EDA (</a:t>
            </a:r>
            <a:r>
              <a:rPr lang="pt-BR" b="1" dirty="0" err="1"/>
              <a:t>Exploratory</a:t>
            </a:r>
            <a:r>
              <a:rPr lang="pt-BR" b="1" dirty="0"/>
              <a:t> Data </a:t>
            </a:r>
            <a:r>
              <a:rPr lang="pt-BR" b="1" dirty="0" err="1"/>
              <a:t>Analysis</a:t>
            </a:r>
            <a:r>
              <a:rPr lang="pt-BR" b="1" dirty="0"/>
              <a:t>)</a:t>
            </a:r>
            <a:r>
              <a:rPr lang="pt-BR" dirty="0"/>
              <a:t> é importante porque ela afeta tanto a </a:t>
            </a:r>
            <a:r>
              <a:rPr lang="pt-BR" b="1" dirty="0"/>
              <a:t>interpretação</a:t>
            </a:r>
            <a:r>
              <a:rPr lang="pt-BR" dirty="0"/>
              <a:t> quanto o </a:t>
            </a:r>
            <a:r>
              <a:rPr lang="pt-BR" b="1" dirty="0"/>
              <a:t>desempenho</a:t>
            </a:r>
            <a:r>
              <a:rPr lang="pt-BR" dirty="0"/>
              <a:t> dos modelos — e geralmente passa despercebida se você só “jogar o modelo e ver o score”.</a:t>
            </a:r>
          </a:p>
          <a:p>
            <a:r>
              <a:rPr lang="pt-BR" dirty="0"/>
              <a:t>Principais motivos 👇</a:t>
            </a:r>
          </a:p>
          <a:p>
            <a:r>
              <a:rPr lang="pt-BR" dirty="0"/>
              <a:t/>
            </a:r>
            <a:br>
              <a:rPr lang="pt-BR" dirty="0"/>
            </a:br>
            <a:endParaRPr lang="pt-BR" dirty="0"/>
          </a:p>
          <a:p>
            <a:r>
              <a:rPr lang="pt-BR" b="1" dirty="0"/>
              <a:t>🔍 1. Interpretação dos coeficientes fica comprometida</a:t>
            </a:r>
          </a:p>
          <a:p>
            <a:r>
              <a:rPr lang="pt-BR" dirty="0"/>
              <a:t>Em modelos lineares (regressão linear, logística, </a:t>
            </a:r>
            <a:r>
              <a:rPr lang="pt-BR" dirty="0" err="1"/>
              <a:t>GLMs</a:t>
            </a:r>
            <a:r>
              <a:rPr lang="pt-BR" dirty="0"/>
              <a:t>):</a:t>
            </a:r>
          </a:p>
          <a:p>
            <a:r>
              <a:rPr lang="pt-BR" dirty="0"/>
              <a:t>Variáveis altamente correlacionadas “competem” entre si</a:t>
            </a:r>
          </a:p>
          <a:p>
            <a:r>
              <a:rPr lang="pt-BR" dirty="0"/>
              <a:t>Os coeficientes tornam-se </a:t>
            </a:r>
            <a:r>
              <a:rPr lang="pt-BR" b="1" dirty="0"/>
              <a:t>instáveis</a:t>
            </a:r>
            <a:endParaRPr lang="pt-BR" dirty="0"/>
          </a:p>
          <a:p>
            <a:r>
              <a:rPr lang="pt-BR" dirty="0"/>
              <a:t>Pequenas mudanças nos dados → grandes mudanças nos pesos</a:t>
            </a:r>
          </a:p>
          <a:p>
            <a:r>
              <a:rPr lang="pt-BR" dirty="0"/>
              <a:t>Fica difícil dizer </a:t>
            </a:r>
            <a:r>
              <a:rPr lang="pt-BR" b="1" dirty="0"/>
              <a:t>qual variável realmente explica o fenômeno</a:t>
            </a:r>
            <a:endParaRPr lang="pt-BR" dirty="0"/>
          </a:p>
          <a:p>
            <a:r>
              <a:rPr lang="pt-BR" dirty="0"/>
              <a:t>👉 Você pode ter coeficientes com sinal inesperado ou valores absurdos.</a:t>
            </a:r>
          </a:p>
          <a:p>
            <a:r>
              <a:rPr lang="pt-BR" dirty="0"/>
              <a:t/>
            </a:r>
            <a:br>
              <a:rPr lang="pt-BR" dirty="0"/>
            </a:br>
            <a:endParaRPr lang="pt-BR" dirty="0"/>
          </a:p>
          <a:p>
            <a:r>
              <a:rPr lang="pt-BR" b="1" dirty="0"/>
              <a:t>📉 2. Aumenta a variância das estimativas</a:t>
            </a:r>
          </a:p>
          <a:p>
            <a:r>
              <a:rPr lang="pt-BR" dirty="0"/>
              <a:t>A </a:t>
            </a:r>
            <a:r>
              <a:rPr lang="pt-BR" dirty="0" err="1"/>
              <a:t>multicolinearidade</a:t>
            </a:r>
            <a:r>
              <a:rPr lang="pt-BR" dirty="0"/>
              <a:t> </a:t>
            </a:r>
            <a:r>
              <a:rPr lang="pt-BR" b="1" dirty="0"/>
              <a:t>infla a variância</a:t>
            </a:r>
            <a:r>
              <a:rPr lang="pt-BR" dirty="0"/>
              <a:t> dos coeficientes:</a:t>
            </a:r>
          </a:p>
          <a:p>
            <a:r>
              <a:rPr lang="pt-BR" dirty="0"/>
              <a:t>Intervalos de confiança mais largos</a:t>
            </a:r>
          </a:p>
          <a:p>
            <a:r>
              <a:rPr lang="pt-BR" dirty="0"/>
              <a:t>Testes estatísticos menos confiáveis</a:t>
            </a:r>
          </a:p>
          <a:p>
            <a:r>
              <a:rPr lang="pt-BR" dirty="0"/>
              <a:t>Variáveis relevantes podem parecer “não significativas”</a:t>
            </a:r>
          </a:p>
          <a:p>
            <a:r>
              <a:rPr lang="pt-BR" dirty="0"/>
              <a:t>Isso é especialmente crítico em análises inferenciais.</a:t>
            </a:r>
          </a:p>
          <a:p>
            <a:r>
              <a:rPr lang="pt-BR" dirty="0"/>
              <a:t/>
            </a:r>
            <a:br>
              <a:rPr lang="pt-BR" dirty="0"/>
            </a:br>
            <a:endParaRPr lang="pt-BR" dirty="0"/>
          </a:p>
          <a:p>
            <a:r>
              <a:rPr lang="pt-BR" b="1" dirty="0"/>
              <a:t>🤖 3. Pode prejudicar o desempenho e a generalização</a:t>
            </a:r>
          </a:p>
          <a:p>
            <a:r>
              <a:rPr lang="pt-BR" dirty="0"/>
              <a:t>Dependendo do modelo:</a:t>
            </a:r>
          </a:p>
          <a:p>
            <a:r>
              <a:rPr lang="pt-BR" dirty="0"/>
              <a:t>Modelos lineares → mais sensíveis</a:t>
            </a:r>
          </a:p>
          <a:p>
            <a:r>
              <a:rPr lang="pt-BR" dirty="0"/>
              <a:t>Regularização (Ridge, Lasso) ajuda, mas </a:t>
            </a:r>
            <a:r>
              <a:rPr lang="pt-BR" b="1" dirty="0"/>
              <a:t>não elimina o problema conceitual</a:t>
            </a:r>
            <a:endParaRPr lang="pt-BR" dirty="0"/>
          </a:p>
          <a:p>
            <a:r>
              <a:rPr lang="pt-BR" dirty="0"/>
              <a:t>Pode levar a </a:t>
            </a:r>
            <a:r>
              <a:rPr lang="pt-BR" b="1" dirty="0" err="1"/>
              <a:t>overfitting</a:t>
            </a:r>
            <a:r>
              <a:rPr lang="pt-BR" dirty="0"/>
              <a:t> em alguns cenários</a:t>
            </a:r>
          </a:p>
          <a:p>
            <a:r>
              <a:rPr lang="pt-BR" dirty="0"/>
              <a:t>Mesmo que a métrica não caia muito, o modelo fica frágil.</a:t>
            </a:r>
          </a:p>
          <a:p>
            <a:r>
              <a:rPr lang="pt-BR" dirty="0"/>
              <a:t/>
            </a:r>
            <a:br>
              <a:rPr lang="pt-BR" dirty="0"/>
            </a:br>
            <a:endParaRPr lang="pt-BR" dirty="0"/>
          </a:p>
          <a:p>
            <a:r>
              <a:rPr lang="pt-BR" b="1" dirty="0"/>
              <a:t>🧠 4. Indica redundância de informação</a:t>
            </a:r>
          </a:p>
          <a:p>
            <a:r>
              <a:rPr lang="pt-BR" dirty="0"/>
              <a:t>Alta correlação geralmente significa:</a:t>
            </a:r>
          </a:p>
          <a:p>
            <a:r>
              <a:rPr lang="pt-BR" dirty="0"/>
              <a:t>Variáveis carregando </a:t>
            </a:r>
            <a:r>
              <a:rPr lang="pt-BR" b="1" dirty="0"/>
              <a:t>a mesma informação</a:t>
            </a:r>
            <a:endParaRPr lang="pt-BR" dirty="0"/>
          </a:p>
          <a:p>
            <a:r>
              <a:rPr lang="pt-BR" dirty="0"/>
              <a:t>Features desnecessárias</a:t>
            </a:r>
          </a:p>
          <a:p>
            <a:r>
              <a:rPr lang="pt-BR" dirty="0"/>
              <a:t>Espaço de características mal projetado</a:t>
            </a:r>
          </a:p>
          <a:p>
            <a:r>
              <a:rPr lang="pt-BR" dirty="0"/>
              <a:t>👉 Isso abre oportunidades para:</a:t>
            </a:r>
          </a:p>
          <a:p>
            <a:r>
              <a:rPr lang="pt-BR" dirty="0"/>
              <a:t>Remoção de variáveis</a:t>
            </a:r>
          </a:p>
          <a:p>
            <a:r>
              <a:rPr lang="pt-BR" dirty="0"/>
              <a:t>Combinação de features</a:t>
            </a:r>
          </a:p>
          <a:p>
            <a:r>
              <a:rPr lang="pt-BR" dirty="0"/>
              <a:t>PCA ou outras reduções de dimensionalidade</a:t>
            </a:r>
          </a:p>
          <a:p>
            <a:r>
              <a:rPr lang="pt-BR" dirty="0"/>
              <a:t/>
            </a:r>
            <a:br>
              <a:rPr lang="pt-BR" dirty="0"/>
            </a:br>
            <a:endParaRPr lang="pt-BR" dirty="0"/>
          </a:p>
          <a:p>
            <a:r>
              <a:rPr lang="pt-BR" b="1" dirty="0"/>
              <a:t>🛠️ 5. Orienta decisões ainda na EDA</a:t>
            </a:r>
          </a:p>
          <a:p>
            <a:r>
              <a:rPr lang="pt-BR" dirty="0"/>
              <a:t>Detectar cedo permite:</a:t>
            </a:r>
          </a:p>
          <a:p>
            <a:r>
              <a:rPr lang="pt-BR" dirty="0"/>
              <a:t>Escolher melhor quais variáveis manter</a:t>
            </a:r>
          </a:p>
          <a:p>
            <a:r>
              <a:rPr lang="pt-BR" dirty="0"/>
              <a:t>Definir transformações (diferença, razão, log, etc.)</a:t>
            </a:r>
          </a:p>
          <a:p>
            <a:r>
              <a:rPr lang="pt-BR" dirty="0"/>
              <a:t>Decidir entre interpretação </a:t>
            </a:r>
            <a:r>
              <a:rPr lang="pt-BR" dirty="0" err="1"/>
              <a:t>vs</a:t>
            </a:r>
            <a:r>
              <a:rPr lang="pt-BR" dirty="0"/>
              <a:t> performance</a:t>
            </a:r>
          </a:p>
          <a:p>
            <a:r>
              <a:rPr lang="pt-BR" dirty="0"/>
              <a:t>Evitar surpresas na fase de modelagem</a:t>
            </a:r>
          </a:p>
          <a:p>
            <a:r>
              <a:rPr lang="pt-BR" dirty="0"/>
              <a:t/>
            </a:r>
            <a:br>
              <a:rPr lang="pt-BR" dirty="0"/>
            </a:br>
            <a:endParaRPr lang="pt-BR" dirty="0"/>
          </a:p>
          <a:p>
            <a:r>
              <a:rPr lang="pt-BR" b="1" dirty="0"/>
              <a:t>Em resumo (frase de slide):</a:t>
            </a:r>
          </a:p>
          <a:p>
            <a:r>
              <a:rPr lang="pt-BR" b="1" dirty="0"/>
              <a:t>A </a:t>
            </a:r>
            <a:r>
              <a:rPr lang="pt-BR" b="1" dirty="0" err="1"/>
              <a:t>multicolinearidade</a:t>
            </a:r>
            <a:r>
              <a:rPr lang="pt-BR" b="1" dirty="0"/>
              <a:t> dificulta a interpretação dos modelos, aumenta a incerteza das estimativas e revela redundância entre variáveis — por isso deve ser identificada ainda na EDA.</a:t>
            </a:r>
            <a:endParaRPr lang="pt-B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4BB400AC-461D-C3D2-A522-1C365506DE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46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7673566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dirty="0" err="1"/>
                  <a:t>letra</a:t>
                </a:r>
                <a:r>
                  <a:rPr lang="en-US" dirty="0"/>
                  <a:t> </a:t>
                </a:r>
                <a:r>
                  <a:rPr lang="en-US" dirty="0" err="1"/>
                  <a:t>grega</a:t>
                </a:r>
                <a:r>
                  <a:rPr lang="en-US" dirty="0"/>
                  <a:t> rho (</a:t>
                </a:r>
                <a:r>
                  <a:rPr lang="en-US" dirty="0" err="1"/>
                  <a:t>rô</a:t>
                </a:r>
                <a:r>
                  <a:rPr lang="en-US" dirty="0"/>
                  <a:t>): </a:t>
                </a:r>
                <a14:m>
                  <m:oMath xmlns:m="http://schemas.openxmlformats.org/officeDocument/2006/math">
                    <m:r>
                      <a:rPr lang="pt-B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</m:oMath>
                </a14:m>
                <a:endParaRPr lang="pt-BR" b="1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pt-BR" b="1" dirty="0"/>
                  <a:t>OBS</a:t>
                </a:r>
                <a:r>
                  <a:rPr lang="pt-BR" dirty="0"/>
                  <a:t>.: Valores negativos são chamados de </a:t>
                </a:r>
                <a:r>
                  <a:rPr lang="pt-BR" dirty="0" err="1"/>
                  <a:t>anti-correlação</a:t>
                </a:r>
                <a:r>
                  <a:rPr lang="pt-BR" dirty="0"/>
                  <a:t>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dirty="0" err="1"/>
                  <a:t>letra</a:t>
                </a:r>
                <a:r>
                  <a:rPr lang="en-US" dirty="0"/>
                  <a:t> </a:t>
                </a:r>
                <a:r>
                  <a:rPr lang="en-US" dirty="0" err="1"/>
                  <a:t>grega</a:t>
                </a:r>
                <a:r>
                  <a:rPr lang="en-US" dirty="0"/>
                  <a:t> rho (</a:t>
                </a:r>
                <a:r>
                  <a:rPr lang="en-US" dirty="0" err="1"/>
                  <a:t>rô</a:t>
                </a:r>
                <a:r>
                  <a:rPr lang="en-US" dirty="0"/>
                  <a:t>): </a:t>
                </a:r>
                <a:r>
                  <a:rPr lang="pt-BR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𝜌</a:t>
                </a:r>
                <a:endParaRPr lang="pt-BR" b="1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pt-BR" b="1" dirty="0"/>
                  <a:t>OBS</a:t>
                </a:r>
                <a:r>
                  <a:rPr lang="pt-BR" dirty="0"/>
                  <a:t>.: Valores negativos são chamados de </a:t>
                </a:r>
                <a:r>
                  <a:rPr lang="pt-BR" dirty="0" err="1"/>
                  <a:t>anti-correlação</a:t>
                </a:r>
                <a:r>
                  <a:rPr lang="pt-BR" dirty="0"/>
                  <a:t>.</a:t>
                </a:r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47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9699842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Primeira Linha: Intensidade e Direção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Aqui vemos como o valor de $r$ varia de </a:t>
            </a: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-1 a 1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Correlação Positiva ($r &gt; 0$):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Quando uma variável aumenta, a outra também aumenta. Quanto mais próximo de </a:t>
            </a: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mais os pontos se aproximam de uma linha reta perfeita.</a:t>
            </a:r>
          </a:p>
          <a:p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Correlação Negativa ($r &lt; 0$):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Quando uma variável aumenta, a outra diminui. O valor </a:t>
            </a: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-1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indica uma relação inversa perfeita.</a:t>
            </a:r>
          </a:p>
          <a:p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Correlação Nula ($r = 0$):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Os pontos estão espalhados como uma "nuvem" sem direção clara. Não há tendência linear.</a:t>
            </a:r>
          </a:p>
          <a:p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Dispersão: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Note que quanto menor o valor absoluto (</a:t>
            </a:r>
            <a:r>
              <a:rPr lang="pt-B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0.4 ou -0.4), mais "gorda" e espalhada fica a nuvem de pontos.</a:t>
            </a:r>
          </a:p>
          <a:p>
            <a:endParaRPr lang="pt-BR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Segunda Linha: A Inclinação não importa (quase sempre)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Esta linha traz um conceito fundamental: </a:t>
            </a: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correlação não mede a inclinação (coeficiente angular) da reta.</a:t>
            </a:r>
            <a:endParaRPr lang="pt-B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Todos os gráficos (exceto o do meio) mostram correlação </a:t>
            </a: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ou </a:t>
            </a: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-1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Não importa se a reta é íngreme ou quase plana; se todos os pontos estão perfeitamente alinhados, a correlação é máxima.</a:t>
            </a:r>
          </a:p>
          <a:p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 caso central ($r=0$):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Quando a linha é perfeitamente horizontal, a correlação é indefinida ou zero, pois a variável $y$ não muda independentemente de $x$. Não há variação para "explicar".</a:t>
            </a:r>
          </a:p>
          <a:p>
            <a:endParaRPr lang="pt-BR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Terceira Linha: A Grande Armadilha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Esta é a parte mais importante para analistas de dados. Todos esses gráficos têm </a:t>
            </a: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correlação de Pearson igual a 0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mas os pontos claramente seguem padrões (círculos, ondas, quadrados).</a:t>
            </a:r>
          </a:p>
          <a:p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 motivo: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 coeficiente de Pearson só detecta relações </a:t>
            </a: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lineares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(retas).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 a relação for não-linear (curvas, formas complexas), o Pearson falhará em detectar a dependência entre as variáveis, resultando em zero.</a:t>
            </a:r>
          </a:p>
          <a:p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Lição: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Sempre visualize seus dados com um gráfico de dispersão antes de confiar apenas no número da correlação.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48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0565901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ρ </a:t>
            </a:r>
            <a:r>
              <a:rPr lang="en-US" dirty="0" err="1"/>
              <a:t>não</a:t>
            </a:r>
            <a:r>
              <a:rPr lang="en-US" dirty="0"/>
              <a:t> </a:t>
            </a:r>
            <a:r>
              <a:rPr lang="en-US" dirty="0" err="1"/>
              <a:t>depende</a:t>
            </a:r>
            <a:r>
              <a:rPr lang="en-US" dirty="0"/>
              <a:t> da </a:t>
            </a:r>
            <a:r>
              <a:rPr lang="en-US" dirty="0" err="1"/>
              <a:t>inclinação</a:t>
            </a:r>
            <a:r>
              <a:rPr lang="en-US" dirty="0"/>
              <a:t>, mas do </a:t>
            </a:r>
            <a:r>
              <a:rPr lang="en-US" dirty="0" err="1"/>
              <a:t>grau</a:t>
            </a:r>
            <a:r>
              <a:rPr lang="en-US" dirty="0"/>
              <a:t> de </a:t>
            </a:r>
            <a:r>
              <a:rPr lang="en-US" dirty="0" err="1"/>
              <a:t>dispersão</a:t>
            </a:r>
            <a:r>
              <a:rPr lang="en-US" dirty="0"/>
              <a:t> dos </a:t>
            </a:r>
            <a:r>
              <a:rPr lang="en-US" dirty="0" err="1"/>
              <a:t>pontos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torno</a:t>
            </a:r>
            <a:r>
              <a:rPr lang="en-US" dirty="0"/>
              <a:t> de </a:t>
            </a:r>
            <a:r>
              <a:rPr lang="en-US" dirty="0" err="1"/>
              <a:t>uma</a:t>
            </a:r>
            <a:r>
              <a:rPr lang="en-US" dirty="0"/>
              <a:t> </a:t>
            </a:r>
            <a:r>
              <a:rPr lang="en-US" dirty="0" err="1"/>
              <a:t>reta</a:t>
            </a:r>
            <a:r>
              <a:rPr lang="en-US" dirty="0"/>
              <a:t>.</a:t>
            </a:r>
          </a:p>
          <a:p>
            <a:r>
              <a:rPr lang="en-US" dirty="0"/>
              <a:t>Pearson </a:t>
            </a:r>
            <a:r>
              <a:rPr lang="en-US" dirty="0" err="1"/>
              <a:t>mede</a:t>
            </a:r>
            <a:r>
              <a:rPr lang="en-US" dirty="0"/>
              <a:t> o </a:t>
            </a:r>
            <a:r>
              <a:rPr lang="en-US" b="1" dirty="0" err="1"/>
              <a:t>grau</a:t>
            </a:r>
            <a:r>
              <a:rPr lang="en-US" b="1" dirty="0"/>
              <a:t> de </a:t>
            </a:r>
            <a:r>
              <a:rPr lang="en-US" b="1" dirty="0" err="1"/>
              <a:t>alinhamento</a:t>
            </a:r>
            <a:r>
              <a:rPr lang="en-US" b="1" dirty="0"/>
              <a:t> linear</a:t>
            </a:r>
            <a:r>
              <a:rPr lang="en-US" dirty="0"/>
              <a:t> dos </a:t>
            </a:r>
            <a:r>
              <a:rPr lang="en-US" dirty="0" err="1"/>
              <a:t>pontos</a:t>
            </a:r>
            <a:endParaRPr lang="en-US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49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1339262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b="1" dirty="0"/>
              <a:t>O Perigo da "</a:t>
            </a:r>
            <a:r>
              <a:rPr lang="pt-BR" b="1" dirty="0" err="1"/>
              <a:t>Multicolinearidade</a:t>
            </a:r>
            <a:r>
              <a:rPr lang="pt-BR" b="1" dirty="0"/>
              <a:t>":</a:t>
            </a:r>
            <a:r>
              <a:rPr lang="pt-BR" dirty="0"/>
              <a:t> se duas variáveis têm correlação </a:t>
            </a:r>
            <a:r>
              <a:rPr lang="pt-BR" b="1" dirty="0"/>
              <a:t>0.99, </a:t>
            </a:r>
            <a:r>
              <a:rPr lang="pt-BR" dirty="0"/>
              <a:t>não precisamos de ambas. Manter as duas é redundância de dados e desperdício de processamento.</a:t>
            </a:r>
          </a:p>
          <a:p>
            <a:endParaRPr lang="pt-BR" dirty="0"/>
          </a:p>
          <a:p>
            <a:r>
              <a:rPr lang="en-US" b="1" dirty="0"/>
              <a:t>Por </a:t>
            </a:r>
            <a:r>
              <a:rPr lang="en-US" b="1" dirty="0" err="1"/>
              <a:t>que</a:t>
            </a:r>
            <a:r>
              <a:rPr lang="en-US" b="1" dirty="0"/>
              <a:t> a </a:t>
            </a:r>
            <a:r>
              <a:rPr lang="en-US" b="1" dirty="0" err="1"/>
              <a:t>multicolinearidade</a:t>
            </a:r>
            <a:r>
              <a:rPr lang="en-US" b="1" dirty="0"/>
              <a:t> é um </a:t>
            </a:r>
            <a:r>
              <a:rPr lang="en-US" b="1" dirty="0" err="1"/>
              <a:t>problema</a:t>
            </a:r>
            <a:r>
              <a:rPr lang="en-US" b="1" dirty="0"/>
              <a:t>?</a:t>
            </a:r>
          </a:p>
          <a:p>
            <a:r>
              <a:rPr lang="en-US" dirty="0"/>
              <a:t>O </a:t>
            </a:r>
            <a:r>
              <a:rPr lang="en-US" dirty="0" err="1"/>
              <a:t>problema</a:t>
            </a:r>
            <a:r>
              <a:rPr lang="en-US" dirty="0"/>
              <a:t> </a:t>
            </a:r>
            <a:r>
              <a:rPr lang="en-US" dirty="0" err="1"/>
              <a:t>fica</a:t>
            </a:r>
            <a:r>
              <a:rPr lang="en-US" dirty="0"/>
              <a:t> </a:t>
            </a:r>
            <a:r>
              <a:rPr lang="en-US" dirty="0" err="1"/>
              <a:t>particularmente</a:t>
            </a:r>
            <a:r>
              <a:rPr lang="en-US" dirty="0"/>
              <a:t> </a:t>
            </a:r>
            <a:r>
              <a:rPr lang="en-US" dirty="0" err="1"/>
              <a:t>importante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b="1" dirty="0" err="1"/>
              <a:t>modelos</a:t>
            </a:r>
            <a:r>
              <a:rPr lang="en-US" b="1" dirty="0"/>
              <a:t> </a:t>
            </a:r>
            <a:r>
              <a:rPr lang="en-US" b="1" dirty="0" err="1"/>
              <a:t>lineares</a:t>
            </a:r>
            <a:r>
              <a:rPr lang="en-US" dirty="0"/>
              <a:t>, </a:t>
            </a:r>
            <a:r>
              <a:rPr lang="en-US" dirty="0" err="1"/>
              <a:t>como</a:t>
            </a:r>
            <a:r>
              <a:rPr lang="en-US" dirty="0"/>
              <a:t>:</a:t>
            </a:r>
          </a:p>
          <a:p>
            <a:r>
              <a:rPr lang="en-US" dirty="0"/>
              <a:t>y^​=β0​+β1​X1​+β2​X2​+⋯+βp​</a:t>
            </a:r>
            <a:r>
              <a:rPr lang="en-US" dirty="0" err="1"/>
              <a:t>Xp</a:t>
            </a:r>
            <a:r>
              <a:rPr lang="en-US" dirty="0"/>
              <a:t>​. </a:t>
            </a:r>
          </a:p>
          <a:p>
            <a:r>
              <a:rPr lang="en-US" dirty="0"/>
              <a:t>Se X1​ e X2​ </a:t>
            </a:r>
            <a:r>
              <a:rPr lang="en-US" dirty="0" err="1"/>
              <a:t>são</a:t>
            </a:r>
            <a:r>
              <a:rPr lang="en-US" dirty="0"/>
              <a:t> </a:t>
            </a:r>
            <a:r>
              <a:rPr lang="en-US" dirty="0" err="1"/>
              <a:t>muito</a:t>
            </a:r>
            <a:r>
              <a:rPr lang="en-US" dirty="0"/>
              <a:t> </a:t>
            </a:r>
            <a:r>
              <a:rPr lang="en-US" dirty="0" err="1"/>
              <a:t>correlacionadas</a:t>
            </a:r>
            <a:r>
              <a:rPr lang="en-US" dirty="0"/>
              <a:t>, o </a:t>
            </a:r>
            <a:r>
              <a:rPr lang="en-US" dirty="0" err="1"/>
              <a:t>modelo</a:t>
            </a:r>
            <a:r>
              <a:rPr lang="en-US" dirty="0"/>
              <a:t> </a:t>
            </a:r>
            <a:r>
              <a:rPr lang="en-US" dirty="0" err="1"/>
              <a:t>tem</a:t>
            </a:r>
            <a:r>
              <a:rPr lang="en-US" dirty="0"/>
              <a:t> </a:t>
            </a:r>
            <a:r>
              <a:rPr lang="en-US" dirty="0" err="1"/>
              <a:t>dificuldade</a:t>
            </a:r>
            <a:r>
              <a:rPr lang="en-US" dirty="0"/>
              <a:t> para </a:t>
            </a:r>
            <a:r>
              <a:rPr lang="en-US" dirty="0" err="1"/>
              <a:t>determinar</a:t>
            </a:r>
            <a:r>
              <a:rPr lang="en-US" dirty="0"/>
              <a:t> </a:t>
            </a:r>
            <a:r>
              <a:rPr lang="en-US" b="1" dirty="0" err="1"/>
              <a:t>quanto</a:t>
            </a:r>
            <a:r>
              <a:rPr lang="en-US" b="1" dirty="0"/>
              <a:t> da </a:t>
            </a:r>
            <a:r>
              <a:rPr lang="en-US" b="1" dirty="0" err="1"/>
              <a:t>contribuição</a:t>
            </a:r>
            <a:r>
              <a:rPr lang="en-US" b="1" dirty="0"/>
              <a:t> para y </a:t>
            </a:r>
            <a:r>
              <a:rPr lang="en-US" b="1" dirty="0" err="1"/>
              <a:t>deve</a:t>
            </a:r>
            <a:r>
              <a:rPr lang="en-US" b="1" dirty="0"/>
              <a:t> ser </a:t>
            </a:r>
            <a:r>
              <a:rPr lang="en-US" b="1" dirty="0" err="1"/>
              <a:t>atribuída</a:t>
            </a:r>
            <a:r>
              <a:rPr lang="en-US" b="1" dirty="0"/>
              <a:t> a </a:t>
            </a:r>
            <a:r>
              <a:rPr lang="en-US" b="1" dirty="0" err="1"/>
              <a:t>cada</a:t>
            </a:r>
            <a:r>
              <a:rPr lang="en-US" b="1" dirty="0"/>
              <a:t> </a:t>
            </a:r>
            <a:r>
              <a:rPr lang="en-US" b="1" dirty="0" err="1"/>
              <a:t>uma</a:t>
            </a:r>
            <a:r>
              <a:rPr lang="en-US" dirty="0"/>
              <a:t>.</a:t>
            </a:r>
          </a:p>
          <a:p>
            <a:r>
              <a:rPr lang="en-US" dirty="0"/>
              <a:t>Por </a:t>
            </a:r>
            <a:r>
              <a:rPr lang="en-US" dirty="0" err="1"/>
              <a:t>exemplo</a:t>
            </a:r>
            <a:r>
              <a:rPr lang="en-US" dirty="0"/>
              <a:t>, </a:t>
            </a:r>
            <a:r>
              <a:rPr lang="en-US" dirty="0" err="1"/>
              <a:t>suponha</a:t>
            </a:r>
            <a:r>
              <a:rPr lang="en-US" dirty="0"/>
              <a:t>:</a:t>
            </a:r>
          </a:p>
          <a:p>
            <a:r>
              <a:rPr lang="en-US" dirty="0"/>
              <a:t>y=3X1​+5X2​+ϵ </a:t>
            </a:r>
          </a:p>
          <a:p>
            <a:r>
              <a:rPr lang="en-US" dirty="0"/>
              <a:t>mas:</a:t>
            </a:r>
          </a:p>
          <a:p>
            <a:r>
              <a:rPr lang="en-US" dirty="0"/>
              <a:t>X2​≈X1​. </a:t>
            </a:r>
          </a:p>
          <a:p>
            <a:r>
              <a:rPr lang="en-US" dirty="0"/>
              <a:t>O </a:t>
            </a:r>
            <a:r>
              <a:rPr lang="en-US" dirty="0" err="1"/>
              <a:t>modelo</a:t>
            </a:r>
            <a:r>
              <a:rPr lang="en-US" dirty="0"/>
              <a:t> </a:t>
            </a:r>
            <a:r>
              <a:rPr lang="en-US" dirty="0" err="1"/>
              <a:t>poderia</a:t>
            </a:r>
            <a:r>
              <a:rPr lang="en-US" dirty="0"/>
              <a:t> encontrar algo </a:t>
            </a:r>
            <a:r>
              <a:rPr lang="en-US" dirty="0" err="1"/>
              <a:t>como</a:t>
            </a:r>
            <a:r>
              <a:rPr lang="en-US" dirty="0"/>
              <a:t>:</a:t>
            </a:r>
          </a:p>
          <a:p>
            <a:r>
              <a:rPr lang="en-US" dirty="0"/>
              <a:t>y^​=7.8X1​+0.2X2​ </a:t>
            </a:r>
          </a:p>
          <a:p>
            <a:r>
              <a:rPr lang="en-US" dirty="0" err="1"/>
              <a:t>ou</a:t>
            </a:r>
            <a:endParaRPr lang="en-US" dirty="0"/>
          </a:p>
          <a:p>
            <a:r>
              <a:rPr lang="en-US" dirty="0"/>
              <a:t>y^​=2.1X1​+5.9X2​. </a:t>
            </a:r>
          </a:p>
          <a:p>
            <a:r>
              <a:rPr lang="en-US" dirty="0"/>
              <a:t>Ambos </a:t>
            </a:r>
            <a:r>
              <a:rPr lang="en-US" dirty="0" err="1"/>
              <a:t>podem</a:t>
            </a:r>
            <a:r>
              <a:rPr lang="en-US" dirty="0"/>
              <a:t> </a:t>
            </a:r>
            <a:r>
              <a:rPr lang="en-US" dirty="0" err="1"/>
              <a:t>produzir</a:t>
            </a:r>
            <a:r>
              <a:rPr lang="en-US" dirty="0"/>
              <a:t> </a:t>
            </a:r>
            <a:r>
              <a:rPr lang="en-US" dirty="0" err="1"/>
              <a:t>previsões</a:t>
            </a:r>
            <a:r>
              <a:rPr lang="en-US" dirty="0"/>
              <a:t> </a:t>
            </a:r>
            <a:r>
              <a:rPr lang="en-US" dirty="0" err="1"/>
              <a:t>muito</a:t>
            </a:r>
            <a:r>
              <a:rPr lang="en-US" dirty="0"/>
              <a:t> </a:t>
            </a:r>
            <a:r>
              <a:rPr lang="en-US" dirty="0" err="1"/>
              <a:t>semelhantes</a:t>
            </a:r>
            <a:r>
              <a:rPr lang="en-US" dirty="0"/>
              <a:t>.</a:t>
            </a:r>
          </a:p>
          <a:p>
            <a:r>
              <a:rPr lang="en-US" dirty="0" err="1"/>
              <a:t>Consequentemente</a:t>
            </a:r>
            <a:r>
              <a:rPr lang="en-US" dirty="0"/>
              <a:t>, </a:t>
            </a:r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b="1" dirty="0" err="1"/>
              <a:t>coeficientes</a:t>
            </a:r>
            <a:r>
              <a:rPr lang="en-US" b="1" dirty="0"/>
              <a:t> </a:t>
            </a:r>
            <a:r>
              <a:rPr lang="en-US" b="1" dirty="0" err="1"/>
              <a:t>individuais</a:t>
            </a:r>
            <a:r>
              <a:rPr lang="en-US" b="1" dirty="0"/>
              <a:t> </a:t>
            </a:r>
            <a:r>
              <a:rPr lang="en-US" b="1" dirty="0" err="1"/>
              <a:t>tornam</a:t>
            </a:r>
            <a:r>
              <a:rPr lang="en-US" b="1" dirty="0"/>
              <a:t>-se </a:t>
            </a:r>
            <a:r>
              <a:rPr lang="en-US" b="1" dirty="0" err="1"/>
              <a:t>instáveis</a:t>
            </a:r>
            <a:r>
              <a:rPr lang="en-US" dirty="0"/>
              <a:t> e </a:t>
            </a:r>
            <a:r>
              <a:rPr lang="en-US" dirty="0" err="1"/>
              <a:t>sua</a:t>
            </a:r>
            <a:r>
              <a:rPr lang="en-US" dirty="0"/>
              <a:t> </a:t>
            </a:r>
            <a:r>
              <a:rPr lang="en-US" dirty="0" err="1"/>
              <a:t>variância</a:t>
            </a:r>
            <a:r>
              <a:rPr lang="en-US" dirty="0"/>
              <a:t> </a:t>
            </a:r>
            <a:r>
              <a:rPr lang="en-US" dirty="0" err="1"/>
              <a:t>aumenta</a:t>
            </a:r>
            <a:r>
              <a:rPr lang="en-US" dirty="0"/>
              <a:t>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51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8483987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33BBD4A5-FF11-2974-EDE1-182C9DBA85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F7CCACA1-CEBA-3A8D-4D86-EA4C19D825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50A73397-7B1B-676D-4A3E-F24C22ADE9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b="1" dirty="0"/>
              <a:t>O Perigo da "</a:t>
            </a:r>
            <a:r>
              <a:rPr lang="pt-BR" b="1" dirty="0" err="1"/>
              <a:t>Multicolinearidade</a:t>
            </a:r>
            <a:r>
              <a:rPr lang="pt-BR" b="1" dirty="0"/>
              <a:t>":</a:t>
            </a:r>
            <a:r>
              <a:rPr lang="pt-BR" dirty="0"/>
              <a:t> se duas variáveis têm correlação </a:t>
            </a:r>
            <a:r>
              <a:rPr lang="pt-BR" b="1" dirty="0"/>
              <a:t>0.99</a:t>
            </a:r>
            <a:r>
              <a:rPr lang="pt-BR" dirty="0"/>
              <a:t> (como, por exemplo, "Temperatura em Celsius" e "Temperatura em Fahrenheit"), não precisamos de ambas. Manter as duas é redundância de dados e desperdício de processamento.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C23B5B09-D1FD-A41D-2FE0-7264BEECEA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52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691423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82548C73-FE80-5A0E-AAB2-6D53AC553E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7F8E4991-67A5-838C-479A-DBC8EEE20D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2B7E5373-528E-2363-FE2C-9960A8C1CC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A395398A-7ACA-77A5-3109-0D06C4E610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53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285173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54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3679319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49855B7-5069-F4EA-7D8D-C2E11DE6DC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7ADBEDFA-01C1-8616-0BC3-58DC0D444A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A3E64029-3D6C-E721-56B6-DF4DCC5A7A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6F6A68BD-068A-E78C-86BD-39777B2E95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56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3720414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  <a:hlinkClick r:id="rId3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Referencias</a:t>
            </a:r>
          </a:p>
          <a:p>
            <a:r>
              <a:rPr lang="pt-BR" dirty="0">
                <a:hlinkClick r:id="rId3"/>
              </a:rPr>
              <a:t>[1] https://www.kaggle.com/code/imoore/intro-to-exploratory-data-analysis-eda-in-python</a:t>
            </a:r>
            <a:endParaRPr lang="pt-BR" dirty="0"/>
          </a:p>
          <a:p>
            <a:r>
              <a:rPr lang="pt-BR" dirty="0"/>
              <a:t>[2] https://www.kaggle.com/code/rpsuraj/outlier-detection-techniques-simplified</a:t>
            </a:r>
          </a:p>
          <a:p>
            <a:r>
              <a:rPr lang="pt-BR" dirty="0"/>
              <a:t>[3] https://towardsdatascience.com/an-extensive-guide-to-exploratory-data-analysis-ddd99a03199e/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57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7414423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62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0800265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8AD0DF1F-118F-9EFC-3577-7429ED1D23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90D29ACC-B751-4FF9-B86B-DACEC5596C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BF5139CB-3A7D-5CE4-9BA2-C36ED29720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o correto é </a:t>
            </a:r>
            <a:r>
              <a:rPr lang="pt-BR" b="1" dirty="0"/>
              <a:t>aprender o valor de imputação no treino</a:t>
            </a:r>
            <a:r>
              <a:rPr lang="pt-BR" dirty="0"/>
              <a:t> e aplicar no teste.</a:t>
            </a:r>
          </a:p>
          <a:p>
            <a:r>
              <a:rPr lang="pt-BR" dirty="0"/>
              <a:t>mas em machine learning o ideal é calcular a média </a:t>
            </a:r>
            <a:r>
              <a:rPr lang="pt-BR" b="1" dirty="0"/>
              <a:t>só no conjunto de treino</a:t>
            </a:r>
            <a:r>
              <a:rPr lang="pt-BR" dirty="0"/>
              <a:t> (para evitar </a:t>
            </a:r>
            <a:r>
              <a:rPr lang="pt-BR" i="1" dirty="0"/>
              <a:t>data </a:t>
            </a:r>
            <a:r>
              <a:rPr lang="pt-BR" i="1" dirty="0" err="1"/>
              <a:t>leakage</a:t>
            </a:r>
            <a:r>
              <a:rPr lang="pt-BR" dirty="0"/>
              <a:t>),</a:t>
            </a:r>
          </a:p>
          <a:p>
            <a:endParaRPr lang="pt-BR" dirty="0"/>
          </a:p>
          <a:p>
            <a:r>
              <a:rPr lang="pt-BR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KNNImputer</a:t>
            </a: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(K-</a:t>
            </a:r>
            <a:r>
              <a:rPr lang="pt-BR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Nearest</a:t>
            </a: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t-BR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Neighbors</a:t>
            </a: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 nome já diz tudo: "Imputador pelos Vizinhos Mais Próximos".</a:t>
            </a:r>
          </a:p>
          <a:p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Como funciona: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Para cada valor faltante em uma linha, ele procura as $K$ linhas mais parecidas (os "vizinhos") que possuem aquele dado preenchido. Ele calcula a distância (geralmente a Distância Euclidiana) entre as outras características (colunas) daquela linha.</a:t>
            </a:r>
          </a:p>
          <a:p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 cálculo: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Ele tira a média dos valores desses $K$ vizinhos e preenche o buraco.</a:t>
            </a:r>
          </a:p>
          <a:p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Quando usar: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Ótimo para </a:t>
            </a:r>
            <a:r>
              <a:rPr lang="pt-B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datasets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onde você acredita que observações semelhantes tendem a ter valores semelhantes.</a:t>
            </a:r>
          </a:p>
          <a:p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Ponto de atenção: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É computacionalmente caro para </a:t>
            </a:r>
            <a:r>
              <a:rPr lang="pt-B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datasets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gigantes, pois precisa calcular distâncias entre todas as linhas.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738B0B1D-009E-3C23-925B-9373046886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63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34849545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35E031E0-FDAA-5343-05EB-B0108BFE9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C182AE94-3ED7-98C2-30EB-4B23B764D7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1CCF7ED5-065D-9C39-2A40-50EFDC4B5A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IterativeImputer</a:t>
            </a: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(MICE)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Este é um pouco mais sofisticado e "inteligente". Ele trata cada coluna com valores faltantes como uma variável alvo em um problema de regressão.</a:t>
            </a:r>
          </a:p>
          <a:p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Como funciona: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1. Ele preenche os buracos inicialmente (com a média, por exemplo).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Ele transforma a coluna com </a:t>
            </a:r>
            <a:r>
              <a:rPr lang="pt-B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NaN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em um </a:t>
            </a: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alvo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($y$) e usa as outras colunas como </a:t>
            </a: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preditores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($X$).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Ele treina um modelo de regressão para prever os valores faltantes daquela coluna.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4. Ele repete isso para todas as colunas em várias rodadas (iterações) até que os valores parem de mudar muito (</a:t>
            </a:r>
            <a:r>
              <a:rPr lang="pt-B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converjam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</a:t>
            </a:r>
          </a:p>
          <a:p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Quando usar: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Quando as variáveis têm correlações complexas entre si. Ele é geralmente considerado mais preciso que a média simples ou o KNN.</a:t>
            </a:r>
          </a:p>
          <a:p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Curiosidade: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No mundo da estatística, essa técnica é conhecida como </a:t>
            </a: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MICE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pt-BR" sz="120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Multivariate</a:t>
            </a:r>
            <a:r>
              <a:rPr lang="pt-BR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t-BR" sz="120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Imputation</a:t>
            </a:r>
            <a:r>
              <a:rPr lang="pt-BR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t-BR" sz="120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by</a:t>
            </a:r>
            <a:r>
              <a:rPr lang="pt-BR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t-BR" sz="120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Chained</a:t>
            </a:r>
            <a:r>
              <a:rPr lang="pt-BR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t-BR" sz="120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Equations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DABBFCC8-B8A4-A885-9BFD-A0BD76DAF8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64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4250142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68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469188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64A7051A-A66A-B286-1A74-E308F26440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8F8D327E-B406-7B9D-0E9B-F7881E757B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CD219ACF-7FA1-B46B-AACB-1959558078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Agora que sabemos como detectar </a:t>
            </a:r>
            <a:r>
              <a:rPr lang="pt-BR" i="1" dirty="0"/>
              <a:t>outliers</a:t>
            </a:r>
            <a:r>
              <a:rPr lang="pt-BR" dirty="0"/>
              <a:t>, veremos como removê-los dos dados.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341B479F-5E22-C1A5-F869-73193D8A00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69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84781305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0E2BE96-2C19-C317-F345-A0F58B3AC8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C9B9F738-3641-982D-DF14-18CC25D5B3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C9C21A17-E161-087C-8FF0-420CD81082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F0AE132E-3E69-8E11-2C3C-D362D683B4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70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5801260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F08140C-54C5-4298-3030-26217B5DDA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2000C8CE-2E6E-E5A7-A4CF-F73838FBBA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C03E5525-2796-A2EB-05AE-B3A9DEFC0B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ABD8E8B1-3DFB-2EC6-5D27-6F478A4923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74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05963976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D1CC93F-E221-712D-547E-6393F49F3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EA1FBCAF-00FC-FCDF-AF24-A047EA1BC7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B5418296-ED9A-70A9-3A86-E4468005F5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  <a:hlinkClick r:id="rId3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Referencias</a:t>
            </a:r>
          </a:p>
          <a:p>
            <a:r>
              <a:rPr lang="pt-BR" dirty="0">
                <a:hlinkClick r:id="rId3"/>
              </a:rPr>
              <a:t>[1] https://www.kaggle.com/code/imoore/intro-to-exploratory-data-analysis-eda-in-python</a:t>
            </a:r>
            <a:endParaRPr lang="pt-BR" dirty="0"/>
          </a:p>
          <a:p>
            <a:r>
              <a:rPr lang="pt-BR" dirty="0"/>
              <a:t>[2] https://www.kaggle.com/code/rpsuraj/outlier-detection-techniques-simplified</a:t>
            </a:r>
          </a:p>
          <a:p>
            <a:r>
              <a:rPr lang="pt-BR" dirty="0"/>
              <a:t>[3] https://towardsdatascience.com/an-extensive-guide-to-exploratory-data-analysis-ddd99a03199e/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4B9E5383-6B12-A28B-3AF2-5BFFA50B8F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79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058030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DB9B4FF-B06E-403C-A326-BDC64D8FF9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xmlns="" id="{247BDFCE-746E-45BF-A319-4733D58D16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xmlns="" id="{9EDE2778-5372-4104-B96D-968184DA8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06/09/2026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xmlns="" id="{C1DD0F41-C861-4051-988D-3024A37A4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xmlns="" id="{07E5967E-D980-431A-A5DB-3F0C5030A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9754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71BD44A5-8F21-4626-A01D-48A1C874B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B79E8085-65A9-48AA-951D-71D978BFF4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xmlns="" id="{F05BE1AF-51EA-425D-B188-DE7BD6750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06/09/2026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xmlns="" id="{121BE632-29CF-4CB9-B365-C9EF38F89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xmlns="" id="{60CF3DD1-9AEC-4A57-B461-4E4DD86FA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879079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34AB2FF0-A4D7-4E28-991D-FF26140D5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xmlns="" id="{E2AC45B0-4145-40DB-8E61-1054611706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xmlns="" id="{50F1D3FB-740A-4EBA-A309-2CE71D12E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06/09/2026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xmlns="" id="{BDCAB18F-8715-4465-A940-F9C193A2A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xmlns="" id="{353466C6-8248-429F-8056-FF040BF50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52279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BC7BB9F0-F14B-4A91-B2B7-35BC47FE4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EC1FC1C4-73DA-47A6-8496-B0B457F7D3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xmlns="" id="{E92F06A8-A449-4D92-9912-76873E529B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xmlns="" id="{938070A4-BC2F-4D55-BD8D-DEAF11BB9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06/09/2026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xmlns="" id="{45CC2DB8-844A-465F-BA9A-7734C80C7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xmlns="" id="{4CC606A8-097B-4040-94E0-CD8C88280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85444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76D66686-0143-4CB6-8C09-BA326F1E7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xmlns="" id="{0227AB85-F59E-4BCE-B846-4FA0992C2F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xmlns="" id="{3373456C-7319-4D0A-827D-D29F6B083F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xmlns="" id="{4CD109D0-2E83-4262-8029-A871CEC474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xmlns="" id="{AD706E3A-CFBB-4A6C-A65F-D0360A9E74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xmlns="" id="{4172C0E5-5AF0-4805-BB51-443733CD2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06/09/2026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xmlns="" id="{0E801648-156F-497E-99CF-797DF4805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xmlns="" id="{EEE23D32-80E7-4796-A137-66BF842E4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2454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2BCE2379-C78F-47E1-8CFC-B846E7AF1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xmlns="" id="{342600A9-7F92-4E22-9D94-E4717252A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06/09/2026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xmlns="" id="{192E6BED-F546-40CC-A2DF-99CBA8536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xmlns="" id="{6091CC40-A8C4-4063-80EB-CC5099621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413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xmlns="" id="{DD19515C-212C-4EAE-84A3-8FF4BC844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06/09/2026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xmlns="" id="{94D3D120-B3E8-4C96-861D-7A4F12F49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xmlns="" id="{42E49B68-FA1B-468B-9F17-D5C09243D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812321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C17BCBE-A897-4319-85EC-D87909C24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4226F885-0204-4913-868B-4B8B82576F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xmlns="" id="{00F9F784-A858-441B-8AB5-6970981417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xmlns="" id="{A4DC363A-5000-472E-8B17-02E7DCB88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06/09/2026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xmlns="" id="{5548425D-2C21-4C56-BAD4-662978775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xmlns="" id="{C63E9726-E64C-42B2-AE8A-8C235A956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86100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1086A78-3E74-450C-96A6-CA8AC37AF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xmlns="" id="{5F5B7312-975A-4DBC-9B2F-3652ADA006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xmlns="" id="{AAF805F5-1DFF-41C6-944C-7D79FE0D09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xmlns="" id="{02113D81-8665-4516-BD81-C6A1F254E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06/09/2026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xmlns="" id="{2B00C88B-FF32-40AA-A187-727D96FD7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xmlns="" id="{A04D1A2D-69F7-4B8F-A730-BC26DC340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46468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9036C49F-3E68-4175-81BA-3C3FEE443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xmlns="" id="{426FA736-3DD3-4D4E-B57B-BBE1D8F7D4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xmlns="" id="{99E8855C-D8FD-48F6-B14E-861E0DE4D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06/09/2026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xmlns="" id="{97C0BB88-2F21-42A5-ACFF-83DA47F2D3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xmlns="" id="{6CB462B3-1F22-4C05-B4B8-7A279FB7D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53481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xmlns="" id="{EAEAB728-701C-4207-A9D5-23FF45C605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xmlns="" id="{BA8C8CCF-7823-480A-9A19-0F664DD17E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xmlns="" id="{721D5734-7B1F-425D-942F-6EB733440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06/09/2026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xmlns="" id="{1E1AAEAC-F08D-45FE-89EC-B1B349A86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xmlns="" id="{BAA44493-9911-47B2-87A6-C2141A972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245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xmlns="" id="{E69A0273-1966-4A1B-9370-4C1CE5036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xmlns="" id="{3B9CF87A-0448-49A7-AB25-EBC1D56A40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xmlns="" id="{2EF7B1F2-BB5A-44D0-816D-16AD2C7143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289F7E-B80B-496E-81B4-D396C37C9454}" type="datetimeFigureOut">
              <a:rPr lang="pt-BR" smtClean="0"/>
              <a:t>06/09/2026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xmlns="" id="{C703F94C-2CC8-4DAA-BC35-14FC3E841D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xmlns="" id="{64051336-7048-457A-8B61-D94291D716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36292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felipe.figueiredo@Inatel.br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jpe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github/zz4fap/c24_inteligencia_artificial/blob/master/notebooks/intro_eda.ipynb" TargetMode="External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jpeg"/><Relationship Id="rId4" Type="http://schemas.openxmlformats.org/officeDocument/2006/relationships/image" Target="../media/image38.pn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zz4fap/c24_inteligencia_artificial/blob/main/listas/Lista%203%20-%20EDA.pdf" TargetMode="Externa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0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0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39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jpeg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github/zz4fap/c24_inteligencia_artificial/blob/master/notebooks/intro_eda_completo.ipynb" TargetMode="External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jpeg"/><Relationship Id="rId4" Type="http://schemas.openxmlformats.org/officeDocument/2006/relationships/image" Target="../media/image38.png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xmlns="" id="{430EB894-B7D4-434C-9D1A-A14094D9BEEC}"/>
              </a:ext>
            </a:extLst>
          </p:cNvPr>
          <p:cNvSpPr txBox="1"/>
          <p:nvPr/>
        </p:nvSpPr>
        <p:spPr>
          <a:xfrm>
            <a:off x="7915801" y="5780602"/>
            <a:ext cx="4004345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Felipe A. P. de Figueiredo</a:t>
            </a:r>
          </a:p>
          <a:p>
            <a:r>
              <a:rPr lang="pt-BR" dirty="0">
                <a:hlinkClick r:id="rId3"/>
              </a:rPr>
              <a:t>felipe.figueiredo@Inatel.br</a:t>
            </a:r>
            <a:endParaRPr lang="pt-BR" dirty="0"/>
          </a:p>
        </p:txBody>
      </p:sp>
      <p:pic>
        <p:nvPicPr>
          <p:cNvPr id="1026" name="Picture 2" descr="Logo">
            <a:extLst>
              <a:ext uri="{FF2B5EF4-FFF2-40B4-BE49-F238E27FC236}">
                <a16:creationId xmlns:a16="http://schemas.microsoft.com/office/drawing/2014/main" xmlns="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5780602"/>
            <a:ext cx="2261388" cy="677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 descr="Image result for machine learning">
            <a:extLst>
              <a:ext uri="{FF2B5EF4-FFF2-40B4-BE49-F238E27FC236}">
                <a16:creationId xmlns:a16="http://schemas.microsoft.com/office/drawing/2014/main" xmlns="" id="{810CE0A2-4102-44A6-A370-175E7896CDC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93" t="8107" r="14530" b="5794"/>
          <a:stretch/>
        </p:blipFill>
        <p:spPr bwMode="auto">
          <a:xfrm>
            <a:off x="4965305" y="3597971"/>
            <a:ext cx="2261389" cy="2237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ítulo 1">
            <a:extLst>
              <a:ext uri="{FF2B5EF4-FFF2-40B4-BE49-F238E27FC236}">
                <a16:creationId xmlns:a16="http://schemas.microsoft.com/office/drawing/2014/main" xmlns="" id="{32666AC8-2E17-4DB4-B0F5-60C640CCFD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8971" y="836433"/>
            <a:ext cx="11201400" cy="2690156"/>
          </a:xfrm>
        </p:spPr>
        <p:txBody>
          <a:bodyPr anchor="ctr">
            <a:noAutofit/>
          </a:bodyPr>
          <a:lstStyle/>
          <a:p>
            <a:r>
              <a:rPr lang="pt-BR" sz="6600" dirty="0"/>
              <a:t>C24 - Inteligência Artificial:</a:t>
            </a:r>
            <a:r>
              <a:rPr lang="pt-BR" sz="7200" dirty="0"/>
              <a:t/>
            </a:r>
            <a:br>
              <a:rPr lang="pt-BR" sz="7200" dirty="0"/>
            </a:br>
            <a:r>
              <a:rPr lang="pt-BR" sz="7200" b="1" dirty="0"/>
              <a:t>Análise Exploratória de Dados (EDA)</a:t>
            </a:r>
            <a:endParaRPr lang="pt-BR" sz="7200" b="1" i="1" dirty="0"/>
          </a:p>
        </p:txBody>
      </p:sp>
    </p:spTree>
    <p:extLst>
      <p:ext uri="{BB962C8B-B14F-4D97-AF65-F5344CB8AC3E}">
        <p14:creationId xmlns:p14="http://schemas.microsoft.com/office/powerpoint/2010/main" val="6866526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Exploratory Data Analysis (EDA)through Data Visualization. | by Michael  Ngecha | Medium">
            <a:extLst>
              <a:ext uri="{FF2B5EF4-FFF2-40B4-BE49-F238E27FC236}">
                <a16:creationId xmlns:a16="http://schemas.microsoft.com/office/drawing/2014/main" xmlns="" id="{B13B8774-B804-6B29-8825-D56539EBF0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345" y="993321"/>
            <a:ext cx="8057788" cy="52550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284F3ECF-0562-63DD-49E8-BDC0AE061BAE}"/>
              </a:ext>
            </a:extLst>
          </p:cNvPr>
          <p:cNvSpPr txBox="1"/>
          <p:nvPr/>
        </p:nvSpPr>
        <p:spPr>
          <a:xfrm>
            <a:off x="8515895" y="2343587"/>
            <a:ext cx="354547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dirty="0"/>
              <a:t>Etapa executada </a:t>
            </a:r>
            <a:r>
              <a:rPr lang="pt-BR" sz="3200" b="1" dirty="0">
                <a:solidFill>
                  <a:srgbClr val="7030A0"/>
                </a:solidFill>
              </a:rPr>
              <a:t>antes</a:t>
            </a:r>
            <a:r>
              <a:rPr lang="pt-BR" sz="3200" b="1" dirty="0">
                <a:solidFill>
                  <a:schemeClr val="accent2"/>
                </a:solidFill>
              </a:rPr>
              <a:t> da construção e treinamento</a:t>
            </a:r>
            <a:r>
              <a:rPr lang="pt-BR" sz="3200" dirty="0"/>
              <a:t> dos modelos de ML.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5792991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7F5FF925-67DE-CC62-E869-C6E3C1D77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Introdução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7DA84068-671A-9D40-4F76-2C57E4F720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02087" y="1825624"/>
            <a:ext cx="6204856" cy="5032375"/>
          </a:xfrm>
        </p:spPr>
        <p:txBody>
          <a:bodyPr/>
          <a:lstStyle/>
          <a:p>
            <a:r>
              <a:rPr lang="pt-BR" dirty="0"/>
              <a:t>É o </a:t>
            </a:r>
            <a:r>
              <a:rPr lang="pt-BR" b="1" dirty="0">
                <a:solidFill>
                  <a:schemeClr val="accent2"/>
                </a:solidFill>
              </a:rPr>
              <a:t>primeiro passo </a:t>
            </a:r>
            <a:r>
              <a:rPr lang="pt-BR" dirty="0"/>
              <a:t>em qualquer projeto de ciência de dados, incluindo ML.</a:t>
            </a:r>
          </a:p>
          <a:p>
            <a:r>
              <a:rPr lang="pt-BR" dirty="0"/>
              <a:t>EDA nos ajudar a identificar: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b="1" dirty="0">
                <a:solidFill>
                  <a:schemeClr val="accent6"/>
                </a:solidFill>
              </a:rPr>
              <a:t>erros</a:t>
            </a:r>
            <a:r>
              <a:rPr lang="pt-BR" dirty="0"/>
              <a:t> óbvios nos dados,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compreender os </a:t>
            </a:r>
            <a:r>
              <a:rPr lang="pt-BR" b="1" dirty="0">
                <a:solidFill>
                  <a:schemeClr val="accent6"/>
                </a:solidFill>
              </a:rPr>
              <a:t>padrões</a:t>
            </a:r>
            <a:r>
              <a:rPr lang="pt-BR" dirty="0"/>
              <a:t> nos dados,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detectar valores </a:t>
            </a:r>
            <a:r>
              <a:rPr lang="pt-BR" b="1" dirty="0">
                <a:solidFill>
                  <a:schemeClr val="accent6"/>
                </a:solidFill>
              </a:rPr>
              <a:t>discrepantes, faltantes, e duplicados</a:t>
            </a:r>
            <a:r>
              <a:rPr lang="pt-BR" dirty="0"/>
              <a:t>,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encontrar </a:t>
            </a:r>
            <a:r>
              <a:rPr lang="pt-BR" b="1" dirty="0">
                <a:solidFill>
                  <a:schemeClr val="accent6"/>
                </a:solidFill>
              </a:rPr>
              <a:t>relações entre as variáveis</a:t>
            </a:r>
            <a:endParaRPr lang="pt-BR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e descobrir quais </a:t>
            </a:r>
            <a:r>
              <a:rPr lang="pt-BR" b="1" dirty="0">
                <a:solidFill>
                  <a:schemeClr val="accent6"/>
                </a:solidFill>
              </a:rPr>
              <a:t>variáveis realmente importam</a:t>
            </a:r>
            <a:r>
              <a:rPr lang="pt-BR" dirty="0"/>
              <a:t>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xmlns="" id="{BC8613DC-A437-4282-CBE3-E2051081F7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057" y="1825624"/>
            <a:ext cx="4811486" cy="4811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1182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B4A0189-07D9-7182-C49F-053B36583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Por que realizar análise exploratória?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F9158B5-68E9-E42E-59A2-B618E69A0B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7886" y="1825624"/>
            <a:ext cx="5573484" cy="5032375"/>
          </a:xfrm>
        </p:spPr>
        <p:txBody>
          <a:bodyPr/>
          <a:lstStyle/>
          <a:p>
            <a:r>
              <a:rPr lang="pt-BR" dirty="0"/>
              <a:t>A análise exploratória é uma espécie de </a:t>
            </a:r>
            <a:r>
              <a:rPr lang="pt-BR" b="1" dirty="0">
                <a:solidFill>
                  <a:schemeClr val="accent5"/>
                </a:solidFill>
              </a:rPr>
              <a:t>curadoria</a:t>
            </a:r>
            <a:r>
              <a:rPr lang="pt-BR" dirty="0"/>
              <a:t> dos dados.</a:t>
            </a:r>
          </a:p>
          <a:p>
            <a:r>
              <a:rPr lang="pt-BR" dirty="0"/>
              <a:t>Ela garante que o modelo de ML </a:t>
            </a:r>
            <a:r>
              <a:rPr lang="pt-BR" b="1" dirty="0">
                <a:solidFill>
                  <a:srgbClr val="7030A0"/>
                </a:solidFill>
              </a:rPr>
              <a:t>não aprenda com lixo</a:t>
            </a:r>
            <a:r>
              <a:rPr lang="pt-BR" dirty="0"/>
              <a:t>. </a:t>
            </a:r>
          </a:p>
          <a:p>
            <a:r>
              <a:rPr lang="pt-BR" dirty="0"/>
              <a:t>Se o </a:t>
            </a:r>
            <a:r>
              <a:rPr lang="pt-BR" b="1" dirty="0">
                <a:solidFill>
                  <a:schemeClr val="accent5"/>
                </a:solidFill>
              </a:rPr>
              <a:t>dado de entrada é ruim</a:t>
            </a:r>
            <a:r>
              <a:rPr lang="pt-BR" dirty="0"/>
              <a:t>, a </a:t>
            </a:r>
            <a:r>
              <a:rPr lang="pt-BR" b="1" dirty="0">
                <a:solidFill>
                  <a:schemeClr val="accent5"/>
                </a:solidFill>
              </a:rPr>
              <a:t>predição feita pelo modelo será pior </a:t>
            </a:r>
            <a:r>
              <a:rPr lang="pt-BR" dirty="0"/>
              <a:t>ainda.</a:t>
            </a:r>
            <a:endParaRPr lang="en-US" dirty="0"/>
          </a:p>
        </p:txBody>
      </p:sp>
      <p:pic>
        <p:nvPicPr>
          <p:cNvPr id="1026" name="Picture 2" descr="Machine Learning — Garbage in Garbage Out | by Ritresh Girdhar | Medium">
            <a:extLst>
              <a:ext uri="{FF2B5EF4-FFF2-40B4-BE49-F238E27FC236}">
                <a16:creationId xmlns:a16="http://schemas.microsoft.com/office/drawing/2014/main" xmlns="" id="{1B7547F4-3D77-E9AF-BE27-E93FA57A1E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541" y="2253345"/>
            <a:ext cx="6164491" cy="3428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354637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1EF9267-2A56-C100-CEF1-C30151EEF7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900249"/>
            <a:ext cx="10515600" cy="105750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pt-BR" sz="5400" i="1" dirty="0"/>
              <a:t>Como fazemos essa análise?</a:t>
            </a:r>
          </a:p>
          <a:p>
            <a:pPr algn="ctr"/>
            <a:endParaRPr lang="en-US" sz="5400" i="1" dirty="0"/>
          </a:p>
        </p:txBody>
      </p:sp>
    </p:spTree>
    <p:extLst>
      <p:ext uri="{BB962C8B-B14F-4D97-AF65-F5344CB8AC3E}">
        <p14:creationId xmlns:p14="http://schemas.microsoft.com/office/powerpoint/2010/main" val="2506532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072D4A1-A378-83FF-6C9A-4A09E09FD0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noProof="0" dirty="0"/>
              <a:t>Inspeção estatística</a:t>
            </a:r>
            <a:r>
              <a:rPr lang="pt-BR" dirty="0"/>
              <a:t> e visual</a:t>
            </a:r>
            <a:endParaRPr lang="pt-BR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2D13CB1-C083-7C27-6EF9-0E24F73365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3886" y="1825624"/>
            <a:ext cx="10842171" cy="5032375"/>
          </a:xfrm>
        </p:spPr>
        <p:txBody>
          <a:bodyPr>
            <a:normAutofit lnSpcReduction="10000"/>
          </a:bodyPr>
          <a:lstStyle/>
          <a:p>
            <a:r>
              <a:rPr lang="pt-BR" noProof="0" dirty="0"/>
              <a:t>Utilizamos </a:t>
            </a:r>
            <a:r>
              <a:rPr lang="pt-BR" b="1" noProof="0" dirty="0">
                <a:solidFill>
                  <a:srgbClr val="00B050"/>
                </a:solidFill>
              </a:rPr>
              <a:t>ferramentas estatísticas e </a:t>
            </a:r>
            <a:r>
              <a:rPr lang="pt-BR" b="1" dirty="0">
                <a:solidFill>
                  <a:srgbClr val="00B050"/>
                </a:solidFill>
              </a:rPr>
              <a:t>visuais</a:t>
            </a:r>
            <a:r>
              <a:rPr lang="pt-BR" dirty="0"/>
              <a:t> </a:t>
            </a:r>
            <a:r>
              <a:rPr lang="pt-BR" noProof="0" dirty="0"/>
              <a:t>como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noProof="0" dirty="0"/>
              <a:t>Histogramas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i="1" dirty="0" err="1"/>
              <a:t>Heatmaps</a:t>
            </a:r>
            <a:r>
              <a:rPr lang="pt-BR" dirty="0"/>
              <a:t> de correlação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i="1" noProof="0" dirty="0" err="1"/>
              <a:t>Boxplots</a:t>
            </a:r>
            <a:endParaRPr lang="pt-BR" i="1" noProof="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Gráficos de barras</a:t>
            </a:r>
            <a:endParaRPr lang="pt-BR" noProof="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D</a:t>
            </a:r>
            <a:r>
              <a:rPr lang="pt-BR" noProof="0" dirty="0" err="1"/>
              <a:t>iagramas</a:t>
            </a:r>
            <a:r>
              <a:rPr lang="pt-BR" noProof="0" dirty="0"/>
              <a:t> de dispersão</a:t>
            </a:r>
          </a:p>
          <a:p>
            <a:r>
              <a:rPr lang="pt-BR" noProof="0" dirty="0"/>
              <a:t>Bibliotecas mais usadas: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Pandas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 err="1"/>
              <a:t>Numpy</a:t>
            </a:r>
            <a:endParaRPr lang="pt-BR" noProof="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pt-BR" noProof="0" dirty="0" err="1"/>
              <a:t>Scikit-learn</a:t>
            </a:r>
            <a:endParaRPr lang="pt-BR" noProof="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 err="1"/>
              <a:t>Matplotlib</a:t>
            </a:r>
            <a:endParaRPr lang="pt-BR" noProof="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pt-BR" noProof="0" dirty="0" err="1"/>
              <a:t>Seaborn</a:t>
            </a:r>
            <a:endParaRPr lang="pt-BR" noProof="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Pandas </a:t>
            </a:r>
            <a:r>
              <a:rPr lang="en-US" i="1" dirty="0"/>
              <a:t>profiling</a:t>
            </a:r>
            <a:r>
              <a:rPr lang="en-US" dirty="0"/>
              <a:t> (Anexo IV)</a:t>
            </a:r>
          </a:p>
        </p:txBody>
      </p:sp>
      <p:pic>
        <p:nvPicPr>
          <p:cNvPr id="2050" name="Picture 2" descr="python - Boxplot of Multiple Columns of a Pandas Dataframe on the Same  Figure (seaborn) - Stack Overflow">
            <a:extLst>
              <a:ext uri="{FF2B5EF4-FFF2-40B4-BE49-F238E27FC236}">
                <a16:creationId xmlns:a16="http://schemas.microsoft.com/office/drawing/2014/main" xmlns="" id="{AC874FC9-D4DF-FCCE-7D4C-6E37E308A9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9394" y="2677886"/>
            <a:ext cx="2428496" cy="1748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Histogram notes in python with pandas and matplotlib | Andrew Wheeler">
            <a:extLst>
              <a:ext uri="{FF2B5EF4-FFF2-40B4-BE49-F238E27FC236}">
                <a16:creationId xmlns:a16="http://schemas.microsoft.com/office/drawing/2014/main" xmlns="" id="{7E0AD8A1-106B-D18C-9700-EACF0D6422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8908" y="2764971"/>
            <a:ext cx="2419646" cy="1576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Visualizing Data (within and beyond Python)">
            <a:extLst>
              <a:ext uri="{FF2B5EF4-FFF2-40B4-BE49-F238E27FC236}">
                <a16:creationId xmlns:a16="http://schemas.microsoft.com/office/drawing/2014/main" xmlns="" id="{EF509281-F0C0-4694-DA02-F00FA0D08CB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64" t="6302" r="9465"/>
          <a:stretch>
            <a:fillRect/>
          </a:stretch>
        </p:blipFill>
        <p:spPr bwMode="auto">
          <a:xfrm>
            <a:off x="10149573" y="2764971"/>
            <a:ext cx="1947564" cy="1576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Ler arquivo com pandas">
            <a:extLst>
              <a:ext uri="{FF2B5EF4-FFF2-40B4-BE49-F238E27FC236}">
                <a16:creationId xmlns:a16="http://schemas.microsoft.com/office/drawing/2014/main" xmlns="" id="{579213CA-F5EB-9CFF-96B4-5DB0B3F403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5576" y="4861000"/>
            <a:ext cx="1290599" cy="12905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2" name="Picture 14" descr="Numpy">
            <a:extLst>
              <a:ext uri="{FF2B5EF4-FFF2-40B4-BE49-F238E27FC236}">
                <a16:creationId xmlns:a16="http://schemas.microsoft.com/office/drawing/2014/main" xmlns="" id="{7EAB4F95-FDE0-6834-5E7D-03DE080C3D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1956" y="4770021"/>
            <a:ext cx="1381578" cy="13815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4" name="Picture 16" descr="scikit-learn – Wikipédia, a enciclopédia livre">
            <a:extLst>
              <a:ext uri="{FF2B5EF4-FFF2-40B4-BE49-F238E27FC236}">
                <a16:creationId xmlns:a16="http://schemas.microsoft.com/office/drawing/2014/main" xmlns="" id="{4DCCB2DA-192C-6143-B932-730DB43497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3221" y="4606692"/>
            <a:ext cx="2035629" cy="1099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6" name="Picture 18" descr="Customising figures in Matplotlib">
            <a:extLst>
              <a:ext uri="{FF2B5EF4-FFF2-40B4-BE49-F238E27FC236}">
                <a16:creationId xmlns:a16="http://schemas.microsoft.com/office/drawing/2014/main" xmlns="" id="{F3211FE7-2189-7EED-A346-6EC6D89B3B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30443" y="4712719"/>
            <a:ext cx="2661557" cy="8871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8" name="Picture 20" descr="GitHub - mwaskom/seaborn: Statistical data visualization in Python">
            <a:extLst>
              <a:ext uri="{FF2B5EF4-FFF2-40B4-BE49-F238E27FC236}">
                <a16:creationId xmlns:a16="http://schemas.microsoft.com/office/drawing/2014/main" xmlns="" id="{45EF3399-EB7A-56BB-8320-695CAC8097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38538" y="5452393"/>
            <a:ext cx="2569028" cy="12845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Pandas Profiling: Full Guide on Complete Data Exploration | Aug, 2022 |  Medium | Medium">
            <a:extLst>
              <a:ext uri="{FF2B5EF4-FFF2-40B4-BE49-F238E27FC236}">
                <a16:creationId xmlns:a16="http://schemas.microsoft.com/office/drawing/2014/main" xmlns="" id="{D4512287-2A4A-0BD3-75BF-974DF02B9D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5362" y="6072492"/>
            <a:ext cx="2569028" cy="6379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404847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DC688CA6-6D57-43C2-25C7-98C4385049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66000D3-AF67-B789-06BA-CC48E1E086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27033"/>
            <a:ext cx="10515600" cy="260393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pt-BR" sz="5400" i="1" dirty="0"/>
              <a:t>Antes de explorarmos os dados, nós precisamos entender a sua taxonomia</a:t>
            </a:r>
          </a:p>
          <a:p>
            <a:pPr algn="ctr"/>
            <a:endParaRPr lang="en-US" sz="5400" i="1" dirty="0"/>
          </a:p>
        </p:txBody>
      </p:sp>
    </p:spTree>
    <p:extLst>
      <p:ext uri="{BB962C8B-B14F-4D97-AF65-F5344CB8AC3E}">
        <p14:creationId xmlns:p14="http://schemas.microsoft.com/office/powerpoint/2010/main" val="10277639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8656477-9F35-656B-BA2E-B0A11562A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Tipo dos dados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3EB2F41-58F6-47E0-CC63-48BEA8AEBE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22771" y="1825625"/>
            <a:ext cx="4169229" cy="4351338"/>
          </a:xfrm>
        </p:spPr>
        <p:txBody>
          <a:bodyPr/>
          <a:lstStyle/>
          <a:p>
            <a:r>
              <a:rPr lang="pt-BR" dirty="0"/>
              <a:t>As </a:t>
            </a:r>
            <a:r>
              <a:rPr lang="pt-BR" b="1" dirty="0">
                <a:solidFill>
                  <a:schemeClr val="accent2"/>
                </a:solidFill>
              </a:rPr>
              <a:t>variáveis</a:t>
            </a:r>
            <a:r>
              <a:rPr lang="pt-BR" dirty="0"/>
              <a:t> (i.e., </a:t>
            </a:r>
            <a:r>
              <a:rPr lang="pt-BR" b="1" dirty="0">
                <a:solidFill>
                  <a:srgbClr val="7030A0"/>
                </a:solidFill>
              </a:rPr>
              <a:t>atributos e rótulos</a:t>
            </a:r>
            <a:r>
              <a:rPr lang="pt-BR" dirty="0"/>
              <a:t>) podem ser classificadas em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Qualitativas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Quantitativas</a:t>
            </a:r>
            <a:endParaRPr lang="en-US" dirty="0"/>
          </a:p>
        </p:txBody>
      </p:sp>
      <p:pic>
        <p:nvPicPr>
          <p:cNvPr id="1026" name="Picture 2" descr="Qualitative vs Quantitative Data: Analysis, Definitions, Examples">
            <a:extLst>
              <a:ext uri="{FF2B5EF4-FFF2-40B4-BE49-F238E27FC236}">
                <a16:creationId xmlns:a16="http://schemas.microsoft.com/office/drawing/2014/main" xmlns="" id="{E4A7450D-8449-2BCF-3291-7129123C4A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122" y="1931987"/>
            <a:ext cx="7743767" cy="4138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119566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Tipo dos dados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4"/>
            <a:ext cx="11244943" cy="5032375"/>
          </a:xfrm>
        </p:spPr>
        <p:txBody>
          <a:bodyPr>
            <a:normAutofit/>
          </a:bodyPr>
          <a:lstStyle/>
          <a:p>
            <a:r>
              <a:rPr lang="pt-BR" dirty="0"/>
              <a:t>As variáveis qualitativas e quantitativas podem ser classificadas da seguinte forma:</a:t>
            </a:r>
          </a:p>
        </p:txBody>
      </p:sp>
      <p:grpSp>
        <p:nvGrpSpPr>
          <p:cNvPr id="24" name="Grupo 23"/>
          <p:cNvGrpSpPr/>
          <p:nvPr/>
        </p:nvGrpSpPr>
        <p:grpSpPr>
          <a:xfrm>
            <a:off x="3140182" y="3048000"/>
            <a:ext cx="5111189" cy="3091542"/>
            <a:chOff x="249382" y="2602667"/>
            <a:chExt cx="4295052" cy="2825174"/>
          </a:xfrm>
        </p:grpSpPr>
        <p:sp>
          <p:nvSpPr>
            <p:cNvPr id="4" name="CaixaDeTexto 3"/>
            <p:cNvSpPr txBox="1"/>
            <p:nvPr/>
          </p:nvSpPr>
          <p:spPr>
            <a:xfrm>
              <a:off x="249382" y="3816628"/>
              <a:ext cx="103810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000" b="1" dirty="0"/>
                <a:t>Variável</a:t>
              </a:r>
            </a:p>
          </p:txBody>
        </p:sp>
        <p:sp>
          <p:nvSpPr>
            <p:cNvPr id="5" name="CaixaDeTexto 4"/>
            <p:cNvSpPr txBox="1"/>
            <p:nvPr/>
          </p:nvSpPr>
          <p:spPr>
            <a:xfrm>
              <a:off x="1684710" y="3009481"/>
              <a:ext cx="135582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000" b="1" dirty="0"/>
                <a:t>Qualitativa</a:t>
              </a:r>
            </a:p>
          </p:txBody>
        </p:sp>
        <p:sp>
          <p:nvSpPr>
            <p:cNvPr id="6" name="CaixaDeTexto 5"/>
            <p:cNvSpPr txBox="1"/>
            <p:nvPr/>
          </p:nvSpPr>
          <p:spPr>
            <a:xfrm>
              <a:off x="1684710" y="4622642"/>
              <a:ext cx="151695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000" b="1" dirty="0"/>
                <a:t>Quantitativa</a:t>
              </a:r>
            </a:p>
          </p:txBody>
        </p:sp>
        <p:sp>
          <p:nvSpPr>
            <p:cNvPr id="7" name="CaixaDeTexto 6"/>
            <p:cNvSpPr txBox="1"/>
            <p:nvPr/>
          </p:nvSpPr>
          <p:spPr>
            <a:xfrm>
              <a:off x="3397132" y="2602667"/>
              <a:ext cx="1088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000" b="1" dirty="0"/>
                <a:t>Nominal</a:t>
              </a:r>
            </a:p>
          </p:txBody>
        </p:sp>
        <p:sp>
          <p:nvSpPr>
            <p:cNvPr id="8" name="CaixaDeTexto 7"/>
            <p:cNvSpPr txBox="1"/>
            <p:nvPr/>
          </p:nvSpPr>
          <p:spPr>
            <a:xfrm>
              <a:off x="3397132" y="3496617"/>
              <a:ext cx="97340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000" b="1" dirty="0"/>
                <a:t>Ordinal</a:t>
              </a:r>
            </a:p>
          </p:txBody>
        </p:sp>
        <p:sp>
          <p:nvSpPr>
            <p:cNvPr id="9" name="CaixaDeTexto 8"/>
            <p:cNvSpPr txBox="1"/>
            <p:nvPr/>
          </p:nvSpPr>
          <p:spPr>
            <a:xfrm>
              <a:off x="3397132" y="4196861"/>
              <a:ext cx="104797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000" b="1" dirty="0"/>
                <a:t>Discreta</a:t>
              </a:r>
            </a:p>
          </p:txBody>
        </p:sp>
        <p:sp>
          <p:nvSpPr>
            <p:cNvPr id="10" name="CaixaDeTexto 9"/>
            <p:cNvSpPr txBox="1"/>
            <p:nvPr/>
          </p:nvSpPr>
          <p:spPr>
            <a:xfrm>
              <a:off x="3397132" y="5027731"/>
              <a:ext cx="114730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000" b="1" dirty="0"/>
                <a:t>Contínua</a:t>
              </a:r>
            </a:p>
          </p:txBody>
        </p:sp>
        <p:cxnSp>
          <p:nvCxnSpPr>
            <p:cNvPr id="12" name="Conector de seta reta 11"/>
            <p:cNvCxnSpPr>
              <a:stCxn id="4" idx="3"/>
              <a:endCxn id="5" idx="1"/>
            </p:cNvCxnSpPr>
            <p:nvPr/>
          </p:nvCxnSpPr>
          <p:spPr>
            <a:xfrm flipV="1">
              <a:off x="1287487" y="3209536"/>
              <a:ext cx="397223" cy="80714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ector de seta reta 13"/>
            <p:cNvCxnSpPr>
              <a:stCxn id="4" idx="3"/>
            </p:cNvCxnSpPr>
            <p:nvPr/>
          </p:nvCxnSpPr>
          <p:spPr>
            <a:xfrm>
              <a:off x="1287487" y="4016683"/>
              <a:ext cx="406367" cy="79062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ector de seta reta 15"/>
            <p:cNvCxnSpPr>
              <a:stCxn id="5" idx="3"/>
              <a:endCxn id="7" idx="1"/>
            </p:cNvCxnSpPr>
            <p:nvPr/>
          </p:nvCxnSpPr>
          <p:spPr>
            <a:xfrm flipV="1">
              <a:off x="3040530" y="2802722"/>
              <a:ext cx="356602" cy="40681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ctor de seta reta 17"/>
            <p:cNvCxnSpPr>
              <a:stCxn id="5" idx="3"/>
              <a:endCxn id="8" idx="1"/>
            </p:cNvCxnSpPr>
            <p:nvPr/>
          </p:nvCxnSpPr>
          <p:spPr>
            <a:xfrm>
              <a:off x="3040530" y="3209536"/>
              <a:ext cx="356602" cy="48713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ector de seta reta 19"/>
            <p:cNvCxnSpPr>
              <a:stCxn id="6" idx="3"/>
              <a:endCxn id="9" idx="1"/>
            </p:cNvCxnSpPr>
            <p:nvPr/>
          </p:nvCxnSpPr>
          <p:spPr>
            <a:xfrm flipV="1">
              <a:off x="3201664" y="4396916"/>
              <a:ext cx="195468" cy="42578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ector de seta reta 21"/>
            <p:cNvCxnSpPr>
              <a:stCxn id="6" idx="3"/>
              <a:endCxn id="10" idx="1"/>
            </p:cNvCxnSpPr>
            <p:nvPr/>
          </p:nvCxnSpPr>
          <p:spPr>
            <a:xfrm>
              <a:off x="3201664" y="4822697"/>
              <a:ext cx="195468" cy="40508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952616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199" y="365125"/>
            <a:ext cx="11148753" cy="1325563"/>
          </a:xfrm>
        </p:spPr>
        <p:txBody>
          <a:bodyPr>
            <a:normAutofit/>
          </a:bodyPr>
          <a:lstStyle/>
          <a:p>
            <a:r>
              <a:rPr lang="pt-BR" dirty="0"/>
              <a:t>Variáveis qualitativas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956161" y="1825624"/>
            <a:ext cx="11148753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/>
              <a:t>Também chamadas de </a:t>
            </a:r>
            <a:r>
              <a:rPr lang="pt-BR" b="1" dirty="0">
                <a:solidFill>
                  <a:schemeClr val="accent2"/>
                </a:solidFill>
              </a:rPr>
              <a:t>categóricas</a:t>
            </a:r>
            <a:r>
              <a:rPr lang="pt-BR" dirty="0"/>
              <a:t>.</a:t>
            </a:r>
          </a:p>
          <a:p>
            <a:pPr marL="0" indent="0">
              <a:buNone/>
            </a:pPr>
            <a:r>
              <a:rPr lang="pt-BR" dirty="0"/>
              <a:t>Elas descrevem uma </a:t>
            </a:r>
            <a:r>
              <a:rPr lang="pt-BR" b="1" dirty="0"/>
              <a:t>qualidade, característica ou atributo</a:t>
            </a:r>
            <a:r>
              <a:rPr lang="pt-BR" dirty="0"/>
              <a:t> de algo ou alguém.</a:t>
            </a:r>
          </a:p>
          <a:p>
            <a:r>
              <a:rPr lang="pt-BR" b="1" dirty="0"/>
              <a:t>Nominal</a:t>
            </a:r>
            <a:r>
              <a:rPr lang="pt-BR" dirty="0"/>
              <a:t>: Não possuem uma ordem ou hierarquia.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Exemplos: Cor dos olhos, estado civil, gênero, nacionalidade, profissão.</a:t>
            </a:r>
          </a:p>
          <a:p>
            <a:r>
              <a:rPr lang="pt-BR" b="1" dirty="0"/>
              <a:t>Ordinal</a:t>
            </a:r>
            <a:r>
              <a:rPr lang="pt-BR" dirty="0"/>
              <a:t>: Existe uma hierarquia ou ordem lógica.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Exemplos: Febre (baixa, média, alta), tamanho de uma camiseta (P, M, G), escolaridade (Ensino Fundamental, Médio, Superior), </a:t>
            </a:r>
            <a:r>
              <a:rPr lang="en-US" dirty="0"/>
              <a:t>meses do </a:t>
            </a:r>
            <a:r>
              <a:rPr lang="en-US" dirty="0" err="1"/>
              <a:t>ano</a:t>
            </a:r>
            <a:r>
              <a:rPr lang="en-US" dirty="0"/>
              <a:t>.</a:t>
            </a:r>
            <a:endParaRPr lang="pt-BR" dirty="0"/>
          </a:p>
          <a:p>
            <a:r>
              <a:rPr lang="pt-BR" dirty="0"/>
              <a:t>OBS.: Embora as ordinais possam ser ordenadas, </a:t>
            </a:r>
            <a:r>
              <a:rPr lang="pt-BR" b="1" dirty="0">
                <a:solidFill>
                  <a:srgbClr val="00B050"/>
                </a:solidFill>
              </a:rPr>
              <a:t>operações aritméticas não são aplicáveis</a:t>
            </a:r>
            <a:r>
              <a:rPr lang="pt-BR" dirty="0"/>
              <a:t>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Não faz sentido somar, subtrair tamanhos de camisetas, por exemplo.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434195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199" y="365125"/>
            <a:ext cx="11148753" cy="1325563"/>
          </a:xfrm>
        </p:spPr>
        <p:txBody>
          <a:bodyPr>
            <a:normAutofit/>
          </a:bodyPr>
          <a:lstStyle/>
          <a:p>
            <a:r>
              <a:rPr lang="pt-BR" dirty="0"/>
              <a:t>Variáveis quantitativas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199" y="1825624"/>
            <a:ext cx="11229976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/>
              <a:t>Também chamadas de </a:t>
            </a:r>
            <a:r>
              <a:rPr lang="pt-BR" b="1" dirty="0">
                <a:solidFill>
                  <a:srgbClr val="7030A0"/>
                </a:solidFill>
              </a:rPr>
              <a:t>variáveis numéricas</a:t>
            </a:r>
            <a:r>
              <a:rPr lang="pt-BR" dirty="0"/>
              <a:t>.</a:t>
            </a:r>
          </a:p>
          <a:p>
            <a:pPr marL="0" indent="0">
              <a:buNone/>
            </a:pPr>
            <a:r>
              <a:rPr lang="pt-BR" dirty="0"/>
              <a:t>São números reais. </a:t>
            </a:r>
          </a:p>
          <a:p>
            <a:pPr marL="0" indent="0">
              <a:buNone/>
            </a:pPr>
            <a:r>
              <a:rPr lang="pt-BR" dirty="0"/>
              <a:t>Podem ser </a:t>
            </a:r>
            <a:r>
              <a:rPr lang="pt-BR" b="1" dirty="0">
                <a:solidFill>
                  <a:srgbClr val="00B050"/>
                </a:solidFill>
              </a:rPr>
              <a:t>ordenadas e usadas em operações</a:t>
            </a:r>
            <a:r>
              <a:rPr lang="pt-BR" dirty="0"/>
              <a:t> </a:t>
            </a:r>
            <a:r>
              <a:rPr lang="pt-BR" b="1" dirty="0">
                <a:solidFill>
                  <a:srgbClr val="00B050"/>
                </a:solidFill>
              </a:rPr>
              <a:t>aritméticas</a:t>
            </a:r>
            <a:r>
              <a:rPr lang="pt-BR" dirty="0"/>
              <a:t> (e.g., soma, subtração, etc.). </a:t>
            </a:r>
          </a:p>
          <a:p>
            <a:pPr marL="0" indent="0">
              <a:buNone/>
            </a:pPr>
            <a:r>
              <a:rPr lang="pt-BR" dirty="0"/>
              <a:t>Possuem </a:t>
            </a:r>
            <a:r>
              <a:rPr lang="pt-BR" b="1" dirty="0">
                <a:solidFill>
                  <a:srgbClr val="00B050"/>
                </a:solidFill>
              </a:rPr>
              <a:t>unidade de medida</a:t>
            </a:r>
            <a:r>
              <a:rPr lang="pt-BR" dirty="0"/>
              <a:t>.</a:t>
            </a:r>
          </a:p>
          <a:p>
            <a:r>
              <a:rPr lang="pt-BR" b="1" dirty="0"/>
              <a:t>Discreta:</a:t>
            </a:r>
            <a:r>
              <a:rPr lang="pt-BR" dirty="0"/>
              <a:t> São </a:t>
            </a:r>
            <a:r>
              <a:rPr lang="pt-BR" b="1" dirty="0">
                <a:solidFill>
                  <a:schemeClr val="accent2"/>
                </a:solidFill>
              </a:rPr>
              <a:t>contagens</a:t>
            </a:r>
            <a:r>
              <a:rPr lang="pt-BR" dirty="0"/>
              <a:t>, resultando em </a:t>
            </a:r>
            <a:r>
              <a:rPr lang="pt-BR" b="1" dirty="0">
                <a:solidFill>
                  <a:srgbClr val="7030A0"/>
                </a:solidFill>
              </a:rPr>
              <a:t>números inteiros</a:t>
            </a:r>
            <a:r>
              <a:rPr lang="pt-BR" dirty="0"/>
              <a:t>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Exemplos: Quantidade de carros em um estacionamento, número de filhos, número de acessos em um site.</a:t>
            </a:r>
          </a:p>
          <a:p>
            <a:r>
              <a:rPr lang="pt-BR" b="1" dirty="0"/>
              <a:t>Contínua:</a:t>
            </a:r>
            <a:r>
              <a:rPr lang="pt-BR" dirty="0"/>
              <a:t> São </a:t>
            </a:r>
            <a:r>
              <a:rPr lang="pt-BR" b="1" dirty="0">
                <a:solidFill>
                  <a:schemeClr val="accent2"/>
                </a:solidFill>
              </a:rPr>
              <a:t>medições</a:t>
            </a:r>
            <a:r>
              <a:rPr lang="pt-BR" dirty="0"/>
              <a:t> que podem assumir qualquer valor dentro de um intervalo (i.e., são </a:t>
            </a:r>
            <a:r>
              <a:rPr lang="pt-BR" b="1" dirty="0">
                <a:solidFill>
                  <a:srgbClr val="7030A0"/>
                </a:solidFill>
              </a:rPr>
              <a:t>números reais</a:t>
            </a:r>
            <a:r>
              <a:rPr lang="pt-BR" dirty="0"/>
              <a:t>).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Exemplos: Altura, peso, temperatura, tempo de resposta de uma API.</a:t>
            </a:r>
          </a:p>
        </p:txBody>
      </p:sp>
    </p:spTree>
    <p:extLst>
      <p:ext uri="{BB962C8B-B14F-4D97-AF65-F5344CB8AC3E}">
        <p14:creationId xmlns:p14="http://schemas.microsoft.com/office/powerpoint/2010/main" val="39665237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D7DFB789-B499-6C10-31EB-98EABFABAB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007886A-8E53-7C32-A1A9-2B2ACDC431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99568"/>
            <a:ext cx="10515600" cy="105886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pt-BR" sz="5400" i="1" dirty="0"/>
              <a:t>Exploração dos dados</a:t>
            </a:r>
          </a:p>
          <a:p>
            <a:pPr algn="ctr"/>
            <a:endParaRPr lang="en-US" sz="5400" i="1" dirty="0"/>
          </a:p>
        </p:txBody>
      </p:sp>
    </p:spTree>
    <p:extLst>
      <p:ext uri="{BB962C8B-B14F-4D97-AF65-F5344CB8AC3E}">
        <p14:creationId xmlns:p14="http://schemas.microsoft.com/office/powerpoint/2010/main" val="34268059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6C24718-F3A7-99BB-2EFE-19D8395F6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Etapas de exploração dos dados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62D2CC0-0525-1939-A86F-65A7F6AE7E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837985" cy="4351338"/>
          </a:xfrm>
        </p:spPr>
        <p:txBody>
          <a:bodyPr/>
          <a:lstStyle/>
          <a:p>
            <a:pPr marL="0" indent="0">
              <a:buNone/>
            </a:pPr>
            <a:r>
              <a:rPr lang="pt-BR" noProof="0" dirty="0"/>
              <a:t>Na sequência, veremos as seguintes etapas </a:t>
            </a:r>
            <a:r>
              <a:rPr lang="pt-BR" dirty="0"/>
              <a:t>principais da</a:t>
            </a:r>
            <a:r>
              <a:rPr lang="pt-BR" noProof="0" dirty="0"/>
              <a:t> exploração dos dados:</a:t>
            </a:r>
          </a:p>
          <a:p>
            <a:r>
              <a:rPr lang="pt-BR" noProof="0" dirty="0"/>
              <a:t>Inspeção inicial dos dados</a:t>
            </a:r>
          </a:p>
          <a:p>
            <a:r>
              <a:rPr lang="pt-BR" noProof="0" dirty="0"/>
              <a:t>Limpeza dos dados</a:t>
            </a:r>
          </a:p>
          <a:p>
            <a:r>
              <a:rPr lang="pt-BR" noProof="0" dirty="0"/>
              <a:t>Relação entre variáveis</a:t>
            </a:r>
          </a:p>
        </p:txBody>
      </p:sp>
    </p:spTree>
    <p:extLst>
      <p:ext uri="{BB962C8B-B14F-4D97-AF65-F5344CB8AC3E}">
        <p14:creationId xmlns:p14="http://schemas.microsoft.com/office/powerpoint/2010/main" val="34023240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60D0CA4-219F-B2F8-2326-FCB5C2305B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Inspeção</a:t>
            </a:r>
            <a:r>
              <a:rPr lang="en-US" dirty="0"/>
              <a:t> </a:t>
            </a:r>
            <a:r>
              <a:rPr lang="en-US" dirty="0" err="1"/>
              <a:t>inicial</a:t>
            </a:r>
            <a:r>
              <a:rPr lang="en-US" dirty="0"/>
              <a:t> dos dados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59CF505-9425-FAE9-8AD1-28EE07D08C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1163301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/>
              <a:t>Inicialmente, verificamos algumas </a:t>
            </a:r>
            <a:r>
              <a:rPr lang="pt-BR" b="1" dirty="0">
                <a:solidFill>
                  <a:srgbClr val="00B050"/>
                </a:solidFill>
              </a:rPr>
              <a:t>informações básicas </a:t>
            </a:r>
            <a:r>
              <a:rPr lang="pt-BR" dirty="0"/>
              <a:t>dos dados.</a:t>
            </a:r>
          </a:p>
          <a:p>
            <a:pPr marL="0" indent="0">
              <a:buNone/>
            </a:pPr>
            <a:r>
              <a:rPr lang="pt-BR" dirty="0"/>
              <a:t>Em geral, </a:t>
            </a:r>
            <a:r>
              <a:rPr lang="pt-BR" b="1" dirty="0">
                <a:solidFill>
                  <a:srgbClr val="7030A0"/>
                </a:solidFill>
              </a:rPr>
              <a:t>após carregarmos os dados</a:t>
            </a:r>
            <a:r>
              <a:rPr lang="pt-BR" dirty="0"/>
              <a:t>, usamos </a:t>
            </a:r>
            <a:r>
              <a:rPr lang="pt-BR" b="1" dirty="0">
                <a:solidFill>
                  <a:schemeClr val="accent2"/>
                </a:solidFill>
              </a:rPr>
              <a:t>atributos e métodos</a:t>
            </a:r>
            <a:r>
              <a:rPr lang="pt-BR" dirty="0"/>
              <a:t> da biblioteca </a:t>
            </a:r>
            <a:r>
              <a:rPr lang="pt-BR" b="1" dirty="0">
                <a:solidFill>
                  <a:schemeClr val="accent2"/>
                </a:solidFill>
              </a:rPr>
              <a:t>pandas</a:t>
            </a:r>
            <a:r>
              <a:rPr lang="pt-BR" dirty="0"/>
              <a:t>.</a:t>
            </a:r>
          </a:p>
          <a:p>
            <a:r>
              <a:rPr lang="pt-BR" dirty="0"/>
              <a:t>Dimensão dos dados: linhas x colunas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 err="1"/>
              <a:t>df.shape</a:t>
            </a:r>
            <a:endParaRPr lang="pt-BR" dirty="0"/>
          </a:p>
          <a:p>
            <a:r>
              <a:rPr lang="pt-BR" dirty="0"/>
              <a:t>Tipos de dados: numéricos, categóricos, etc.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 err="1"/>
              <a:t>df.dtypes</a:t>
            </a:r>
            <a:endParaRPr lang="pt-BR" dirty="0"/>
          </a:p>
          <a:p>
            <a:r>
              <a:rPr lang="pt-BR" dirty="0"/>
              <a:t>Estatísticas básicas: média, min, </a:t>
            </a:r>
            <a:r>
              <a:rPr lang="pt-BR" dirty="0" err="1"/>
              <a:t>max</a:t>
            </a:r>
            <a:r>
              <a:rPr lang="pt-BR" dirty="0"/>
              <a:t>, quartis, mediana, desvio padrão, etc.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 err="1"/>
              <a:t>df.describe</a:t>
            </a:r>
            <a:r>
              <a:rPr lang="en-US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5502995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134AF97-908A-27C3-C4BD-6C757E93F2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Limpeza</a:t>
            </a:r>
            <a:r>
              <a:rPr lang="en-US" dirty="0"/>
              <a:t> dos dados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4ADB3AA-57FC-C53D-D2FA-FDB4A0869E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877550" cy="4351338"/>
          </a:xfrm>
        </p:spPr>
        <p:txBody>
          <a:bodyPr/>
          <a:lstStyle/>
          <a:p>
            <a:pPr marL="0" indent="0">
              <a:buNone/>
            </a:pPr>
            <a:r>
              <a:rPr lang="pt-BR" dirty="0"/>
              <a:t>Alguns problemas comuns que podemos encontrar nos dados são:</a:t>
            </a:r>
          </a:p>
          <a:p>
            <a:r>
              <a:rPr lang="pt-BR" dirty="0"/>
              <a:t>Valores irrelevantes (e.g., um ID, contagem da linha de uma tabela)</a:t>
            </a:r>
          </a:p>
          <a:p>
            <a:r>
              <a:rPr lang="pt-BR" dirty="0"/>
              <a:t>Duplicatas</a:t>
            </a:r>
          </a:p>
          <a:p>
            <a:r>
              <a:rPr lang="pt-BR" dirty="0"/>
              <a:t>Valores faltantes</a:t>
            </a:r>
          </a:p>
          <a:p>
            <a:r>
              <a:rPr lang="pt-BR" dirty="0"/>
              <a:t>Tipos inconsistentes (e.g., número como texto, datas quebradas)</a:t>
            </a:r>
          </a:p>
          <a:p>
            <a:r>
              <a:rPr lang="pt-BR" i="1" dirty="0"/>
              <a:t>Outliers</a:t>
            </a:r>
          </a:p>
          <a:p>
            <a:pPr marL="0" indent="0">
              <a:buNone/>
            </a:pPr>
            <a:endParaRPr lang="pt-BR" i="1" dirty="0"/>
          </a:p>
          <a:p>
            <a:pPr marL="0" indent="0">
              <a:buNone/>
            </a:pPr>
            <a:r>
              <a:rPr lang="pt-BR" dirty="0"/>
              <a:t>Vamos ver como lidar com cada um deles na sequência.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3104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CEFCFE02-9BA3-957A-23D7-D192DD1BEB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BAEEE10-7B82-C5D0-CCBD-F870B8B44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Removendo</a:t>
            </a:r>
            <a:r>
              <a:rPr lang="en-US" dirty="0"/>
              <a:t> </a:t>
            </a:r>
            <a:r>
              <a:rPr lang="en-US" dirty="0" err="1"/>
              <a:t>valores</a:t>
            </a:r>
            <a:r>
              <a:rPr lang="en-US" dirty="0"/>
              <a:t> </a:t>
            </a:r>
            <a:r>
              <a:rPr lang="en-US" dirty="0" err="1"/>
              <a:t>irrelevantes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9159FFC-CA70-6469-FA1A-0E43BEFC58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1139435" cy="5032375"/>
          </a:xfrm>
        </p:spPr>
        <p:txBody>
          <a:bodyPr/>
          <a:lstStyle/>
          <a:p>
            <a:r>
              <a:rPr lang="pt-BR" dirty="0"/>
              <a:t>A ideia é manter colunas que ajudem o objetivo do problema e </a:t>
            </a:r>
            <a:r>
              <a:rPr lang="pt-BR" b="1" dirty="0">
                <a:solidFill>
                  <a:schemeClr val="accent5"/>
                </a:solidFill>
              </a:rPr>
              <a:t>remover as colunas não carregam informação útil.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 err="1">
                <a:latin typeface="Consolas" panose="020B0609020204030204" pitchFamily="49" charset="0"/>
              </a:rPr>
              <a:t>df.drop</a:t>
            </a:r>
            <a:r>
              <a:rPr lang="en-US" dirty="0">
                <a:latin typeface="Consolas" panose="020B0609020204030204" pitchFamily="49" charset="0"/>
              </a:rPr>
              <a:t>(['Column 1', 'Column 2', 'Column N'], axis=1)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800" dirty="0"/>
              <a:t>Cada string </a:t>
            </a:r>
            <a:r>
              <a:rPr lang="en-US" sz="2800" dirty="0" err="1"/>
              <a:t>na</a:t>
            </a:r>
            <a:r>
              <a:rPr lang="en-US" sz="2800" dirty="0"/>
              <a:t> </a:t>
            </a:r>
            <a:r>
              <a:rPr lang="en-US" sz="2800" dirty="0" err="1"/>
              <a:t>lista</a:t>
            </a:r>
            <a:r>
              <a:rPr lang="en-US" sz="2800" dirty="0"/>
              <a:t> é o </a:t>
            </a:r>
            <a:r>
              <a:rPr lang="en-US" sz="2800" dirty="0" err="1"/>
              <a:t>nome</a:t>
            </a:r>
            <a:r>
              <a:rPr lang="en-US" sz="2800" dirty="0"/>
              <a:t> de </a:t>
            </a:r>
            <a:r>
              <a:rPr lang="en-US" sz="2800" dirty="0" err="1"/>
              <a:t>uma</a:t>
            </a:r>
            <a:r>
              <a:rPr lang="en-US" sz="2800" dirty="0"/>
              <a:t> </a:t>
            </a:r>
            <a:r>
              <a:rPr lang="en-US" sz="2800" dirty="0" err="1"/>
              <a:t>coluna</a:t>
            </a:r>
            <a:r>
              <a:rPr lang="en-US" sz="2800" dirty="0"/>
              <a:t> a ser </a:t>
            </a:r>
            <a:r>
              <a:rPr lang="en-US" sz="2800" dirty="0" err="1"/>
              <a:t>removida</a:t>
            </a:r>
            <a:r>
              <a:rPr lang="en-US" sz="2800" dirty="0"/>
              <a:t>.</a:t>
            </a:r>
            <a:endParaRPr lang="pt-BR" sz="2800" dirty="0"/>
          </a:p>
          <a:p>
            <a:r>
              <a:rPr lang="pt-BR" dirty="0"/>
              <a:t>Alguns motivos para eliminar colunas: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 err="1"/>
              <a:t>IDs</a:t>
            </a:r>
            <a:r>
              <a:rPr lang="pt-BR" dirty="0"/>
              <a:t>,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i="1" dirty="0" err="1"/>
              <a:t>timestamps</a:t>
            </a:r>
            <a:r>
              <a:rPr lang="pt-BR" dirty="0"/>
              <a:t>,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coluna com valores constantes,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coluna com muitos valores faltantes,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colunas redundantes, etc.</a:t>
            </a:r>
          </a:p>
        </p:txBody>
      </p:sp>
    </p:spTree>
    <p:extLst>
      <p:ext uri="{BB962C8B-B14F-4D97-AF65-F5344CB8AC3E}">
        <p14:creationId xmlns:p14="http://schemas.microsoft.com/office/powerpoint/2010/main" val="28043543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B53D3B9-5DC6-D790-F6E9-E01186264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Removendo</a:t>
            </a:r>
            <a:r>
              <a:rPr lang="en-US" dirty="0"/>
              <a:t> </a:t>
            </a:r>
            <a:r>
              <a:rPr lang="en-US" dirty="0" err="1"/>
              <a:t>duplicatas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8CFBC8F-42F3-78B3-8341-623E54191A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1038114" cy="4816335"/>
          </a:xfrm>
        </p:spPr>
        <p:txBody>
          <a:bodyPr/>
          <a:lstStyle/>
          <a:p>
            <a:r>
              <a:rPr lang="pt-BR" dirty="0"/>
              <a:t>Quantas linhas duplicadas existem?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 err="1">
                <a:latin typeface="Consolas" panose="020B0609020204030204" pitchFamily="49" charset="0"/>
              </a:rPr>
              <a:t>df.duplicated</a:t>
            </a:r>
            <a:r>
              <a:rPr lang="pt-BR" dirty="0">
                <a:latin typeface="Consolas" panose="020B0609020204030204" pitchFamily="49" charset="0"/>
              </a:rPr>
              <a:t>().sum()</a:t>
            </a:r>
          </a:p>
          <a:p>
            <a:r>
              <a:rPr lang="pt-BR" dirty="0"/>
              <a:t>Encontrar e remover linhas duplicadas: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 err="1">
                <a:latin typeface="Consolas" panose="020B0609020204030204" pitchFamily="49" charset="0"/>
              </a:rPr>
              <a:t>df.drop_duplicates</a:t>
            </a:r>
            <a:r>
              <a:rPr lang="pt-BR" dirty="0">
                <a:latin typeface="Consolas" panose="020B0609020204030204" pitchFamily="49" charset="0"/>
              </a:rPr>
              <a:t>(</a:t>
            </a:r>
            <a:r>
              <a:rPr lang="pt-BR" dirty="0" err="1">
                <a:latin typeface="Consolas" panose="020B0609020204030204" pitchFamily="49" charset="0"/>
              </a:rPr>
              <a:t>inplace</a:t>
            </a:r>
            <a:r>
              <a:rPr lang="pt-BR" dirty="0">
                <a:latin typeface="Consolas" panose="020B0609020204030204" pitchFamily="49" charset="0"/>
              </a:rPr>
              <a:t>=</a:t>
            </a:r>
            <a:r>
              <a:rPr lang="pt-BR" dirty="0" err="1">
                <a:latin typeface="Consolas" panose="020B0609020204030204" pitchFamily="49" charset="0"/>
              </a:rPr>
              <a:t>True</a:t>
            </a:r>
            <a:r>
              <a:rPr lang="pt-BR" dirty="0">
                <a:latin typeface="Consolas" panose="020B0609020204030204" pitchFamily="49" charset="0"/>
              </a:rPr>
              <a:t>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OBS.: `</a:t>
            </a:r>
            <a:r>
              <a:rPr lang="pt-BR" dirty="0" err="1">
                <a:latin typeface="Consolas" panose="020B0609020204030204" pitchFamily="49" charset="0"/>
              </a:rPr>
              <a:t>inplace</a:t>
            </a:r>
            <a:r>
              <a:rPr lang="pt-BR" dirty="0">
                <a:latin typeface="Consolas" panose="020B0609020204030204" pitchFamily="49" charset="0"/>
              </a:rPr>
              <a:t>=</a:t>
            </a:r>
            <a:r>
              <a:rPr lang="pt-BR" dirty="0" err="1">
                <a:latin typeface="Consolas" panose="020B0609020204030204" pitchFamily="49" charset="0"/>
              </a:rPr>
              <a:t>True</a:t>
            </a:r>
            <a:r>
              <a:rPr lang="pt-BR" dirty="0"/>
              <a:t>` faz a alteração diretamente no próprio </a:t>
            </a:r>
            <a:r>
              <a:rPr lang="pt-BR" dirty="0" err="1">
                <a:latin typeface="Consolas" panose="020B0609020204030204" pitchFamily="49" charset="0"/>
              </a:rPr>
              <a:t>df</a:t>
            </a:r>
            <a:r>
              <a:rPr lang="pt-BR" dirty="0"/>
              <a:t>, sem criar um novo </a:t>
            </a:r>
            <a:r>
              <a:rPr lang="pt-BR" dirty="0" err="1"/>
              <a:t>DataFrame</a:t>
            </a:r>
            <a:r>
              <a:rPr lang="pt-BR" dirty="0"/>
              <a:t>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Por </a:t>
            </a:r>
            <a:r>
              <a:rPr lang="en-US" dirty="0" err="1"/>
              <a:t>padrão</a:t>
            </a:r>
            <a:r>
              <a:rPr lang="en-US" dirty="0"/>
              <a:t>, </a:t>
            </a:r>
            <a:r>
              <a:rPr lang="en-US" dirty="0" err="1"/>
              <a:t>ele</a:t>
            </a:r>
            <a:r>
              <a:rPr lang="en-US" dirty="0"/>
              <a:t> </a:t>
            </a:r>
            <a:r>
              <a:rPr lang="en-US" b="1" dirty="0" err="1"/>
              <a:t>mantém</a:t>
            </a:r>
            <a:r>
              <a:rPr lang="en-US" b="1" dirty="0"/>
              <a:t> a </a:t>
            </a:r>
            <a:r>
              <a:rPr lang="en-US" b="1" dirty="0" err="1"/>
              <a:t>primeira</a:t>
            </a:r>
            <a:r>
              <a:rPr lang="en-US" b="1" dirty="0"/>
              <a:t> </a:t>
            </a:r>
            <a:r>
              <a:rPr lang="en-US" b="1" dirty="0" err="1"/>
              <a:t>ocorrência</a:t>
            </a:r>
            <a:r>
              <a:rPr lang="en-US" b="1" dirty="0"/>
              <a:t> </a:t>
            </a:r>
            <a:r>
              <a:rPr lang="en-US" dirty="0"/>
              <a:t>e remove as </a:t>
            </a:r>
            <a:r>
              <a:rPr lang="en-US" dirty="0" err="1"/>
              <a:t>demais</a:t>
            </a:r>
            <a:r>
              <a:rPr lang="en-US" dirty="0"/>
              <a:t>.</a:t>
            </a:r>
            <a:endParaRPr lang="pt-BR" dirty="0"/>
          </a:p>
          <a:p>
            <a:r>
              <a:rPr lang="pt-BR" b="1" dirty="0"/>
              <a:t>OBS</a:t>
            </a:r>
            <a:r>
              <a:rPr lang="pt-BR" dirty="0"/>
              <a:t>.: Para encontrar e remover </a:t>
            </a:r>
            <a:r>
              <a:rPr lang="pt-BR" b="1" dirty="0">
                <a:solidFill>
                  <a:srgbClr val="7030A0"/>
                </a:solidFill>
              </a:rPr>
              <a:t>colunas duplicadas</a:t>
            </a:r>
            <a:r>
              <a:rPr lang="pt-BR" dirty="0"/>
              <a:t>, basta transpor o </a:t>
            </a:r>
            <a:r>
              <a:rPr lang="pt-BR" dirty="0" err="1"/>
              <a:t>DataFrame</a:t>
            </a:r>
            <a:r>
              <a:rPr lang="pt-BR" dirty="0"/>
              <a:t> e usar o mesmo método.</a:t>
            </a:r>
          </a:p>
        </p:txBody>
      </p:sp>
    </p:spTree>
    <p:extLst>
      <p:ext uri="{BB962C8B-B14F-4D97-AF65-F5344CB8AC3E}">
        <p14:creationId xmlns:p14="http://schemas.microsoft.com/office/powerpoint/2010/main" val="24081156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B6C86E6-DCF1-113B-1536-5A59E1623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Tratando</a:t>
            </a:r>
            <a:r>
              <a:rPr lang="en-US" dirty="0"/>
              <a:t> </a:t>
            </a:r>
            <a:r>
              <a:rPr lang="en-US" dirty="0" err="1"/>
              <a:t>valores</a:t>
            </a:r>
            <a:r>
              <a:rPr lang="en-US" dirty="0"/>
              <a:t> </a:t>
            </a:r>
            <a:r>
              <a:rPr lang="en-US" dirty="0" err="1"/>
              <a:t>faltantes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7430A83-F9FF-CEFD-47B0-7932118684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1249025" cy="5032375"/>
          </a:xfrm>
        </p:spPr>
        <p:txBody>
          <a:bodyPr>
            <a:normAutofit/>
          </a:bodyPr>
          <a:lstStyle/>
          <a:p>
            <a:r>
              <a:rPr lang="pt-BR" dirty="0"/>
              <a:t>Quantos valores estão faltando?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 err="1">
                <a:latin typeface="Consolas" panose="020B0609020204030204" pitchFamily="49" charset="0"/>
              </a:rPr>
              <a:t>df.isnull</a:t>
            </a:r>
            <a:r>
              <a:rPr lang="pt-BR" dirty="0">
                <a:latin typeface="Consolas" panose="020B0609020204030204" pitchFamily="49" charset="0"/>
              </a:rPr>
              <a:t>().sum()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sz="2800" dirty="0"/>
              <a:t>Apresenta a quantidade de valores faltantes </a:t>
            </a:r>
            <a:r>
              <a:rPr lang="pt-BR" sz="2800" b="1" dirty="0">
                <a:solidFill>
                  <a:schemeClr val="accent2"/>
                </a:solidFill>
              </a:rPr>
              <a:t>de cada coluna</a:t>
            </a:r>
            <a:r>
              <a:rPr lang="pt-BR" sz="2800" dirty="0"/>
              <a:t>.</a:t>
            </a:r>
          </a:p>
          <a:p>
            <a:r>
              <a:rPr lang="pt-BR" dirty="0"/>
              <a:t>Técnicas para o tratamento de valores ausentes: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Remover linhas ou colunas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Preencher (imputar) com a média, a moda ou a mediana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Preenchimento inteligente: são técnicas avançadas que preenchem os valores faltantes com </a:t>
            </a:r>
            <a:r>
              <a:rPr lang="pt-BR" b="1" dirty="0">
                <a:solidFill>
                  <a:srgbClr val="7030A0"/>
                </a:solidFill>
              </a:rPr>
              <a:t>estimativas obtidas através do padrão dos dados</a:t>
            </a:r>
            <a:r>
              <a:rPr lang="pt-BR" dirty="0"/>
              <a:t>, não com um valor fixo.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pt-BR" dirty="0"/>
              <a:t>Para mais informações, vejam o Anexo I</a:t>
            </a:r>
          </a:p>
        </p:txBody>
      </p:sp>
    </p:spTree>
    <p:extLst>
      <p:ext uri="{BB962C8B-B14F-4D97-AF65-F5344CB8AC3E}">
        <p14:creationId xmlns:p14="http://schemas.microsoft.com/office/powerpoint/2010/main" val="28195776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6F524F65-7192-8F97-0554-80F0A96CE2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EAEA57F-5289-3D2C-BF18-566F472DE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983686" cy="1325563"/>
          </a:xfrm>
        </p:spPr>
        <p:txBody>
          <a:bodyPr/>
          <a:lstStyle/>
          <a:p>
            <a:r>
              <a:rPr lang="pt-BR" dirty="0"/>
              <a:t>Técnicas para o tratamento de valores ausentes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6BFF0CF-6671-88FB-8C57-78FF5A574C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1198629" cy="5032375"/>
          </a:xfrm>
        </p:spPr>
        <p:txBody>
          <a:bodyPr>
            <a:normAutofit/>
          </a:bodyPr>
          <a:lstStyle/>
          <a:p>
            <a:r>
              <a:rPr lang="pt-BR" b="1" dirty="0"/>
              <a:t>Remover </a:t>
            </a:r>
            <a:r>
              <a:rPr lang="pt-BR" b="1" dirty="0">
                <a:solidFill>
                  <a:srgbClr val="00B050"/>
                </a:solidFill>
              </a:rPr>
              <a:t>linhas</a:t>
            </a:r>
            <a:r>
              <a:rPr lang="pt-BR" b="1" dirty="0"/>
              <a:t> </a:t>
            </a:r>
            <a:r>
              <a:rPr lang="en-US" b="1" dirty="0" err="1"/>
              <a:t>que</a:t>
            </a:r>
            <a:r>
              <a:rPr lang="en-US" b="1" dirty="0"/>
              <a:t> </a:t>
            </a:r>
            <a:r>
              <a:rPr lang="en-US" b="1" dirty="0" err="1"/>
              <a:t>contêm</a:t>
            </a:r>
            <a:r>
              <a:rPr lang="en-US" b="1" dirty="0"/>
              <a:t> </a:t>
            </a:r>
            <a:r>
              <a:rPr lang="en-US" b="1" dirty="0" err="1"/>
              <a:t>pelo</a:t>
            </a:r>
            <a:r>
              <a:rPr lang="en-US" b="1" dirty="0"/>
              <a:t> </a:t>
            </a:r>
            <a:r>
              <a:rPr lang="en-US" b="1" dirty="0" err="1"/>
              <a:t>menos</a:t>
            </a:r>
            <a:r>
              <a:rPr lang="en-US" b="1" dirty="0"/>
              <a:t> um valor </a:t>
            </a:r>
            <a:r>
              <a:rPr lang="en-US" b="1" dirty="0" err="1"/>
              <a:t>ausente</a:t>
            </a:r>
            <a:r>
              <a:rPr lang="pt-BR" b="1" dirty="0"/>
              <a:t>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 err="1">
                <a:latin typeface="Consolas" panose="020B0609020204030204" pitchFamily="49" charset="0"/>
              </a:rPr>
              <a:t>df.dropna</a:t>
            </a:r>
            <a:r>
              <a:rPr lang="en-US" dirty="0">
                <a:latin typeface="Consolas" panose="020B0609020204030204" pitchFamily="49" charset="0"/>
              </a:rPr>
              <a:t>(</a:t>
            </a:r>
            <a:r>
              <a:rPr lang="en-US" dirty="0" err="1">
                <a:latin typeface="Consolas" panose="020B0609020204030204" pitchFamily="49" charset="0"/>
              </a:rPr>
              <a:t>inplace</a:t>
            </a:r>
            <a:r>
              <a:rPr lang="en-US" dirty="0">
                <a:latin typeface="Consolas" panose="020B0609020204030204" pitchFamily="49" charset="0"/>
              </a:rPr>
              <a:t>=True)</a:t>
            </a:r>
            <a:endParaRPr lang="en-US" sz="2000" dirty="0">
              <a:latin typeface="Consolas" panose="020B0609020204030204" pitchFamily="49" charset="0"/>
            </a:endParaRP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sz="2200" dirty="0"/>
              <a:t>OBS.: “</a:t>
            </a:r>
            <a:r>
              <a:rPr lang="en-US" sz="2200" dirty="0" err="1"/>
              <a:t>inplace</a:t>
            </a:r>
            <a:r>
              <a:rPr lang="en-US" sz="2200" dirty="0"/>
              <a:t>=True” altera o </a:t>
            </a:r>
            <a:r>
              <a:rPr lang="en-US" sz="2200" dirty="0" err="1">
                <a:latin typeface="Consolas" panose="020B0609020204030204" pitchFamily="49" charset="0"/>
              </a:rPr>
              <a:t>df</a:t>
            </a:r>
            <a:r>
              <a:rPr lang="en-US" sz="2200" dirty="0">
                <a:latin typeface="Consolas" panose="020B0609020204030204" pitchFamily="49" charset="0"/>
              </a:rPr>
              <a:t> </a:t>
            </a:r>
            <a:r>
              <a:rPr lang="en-US" sz="2200" dirty="0"/>
              <a:t>original </a:t>
            </a:r>
            <a:r>
              <a:rPr lang="en-US" sz="2200" dirty="0" err="1"/>
              <a:t>sem</a:t>
            </a:r>
            <a:r>
              <a:rPr lang="en-US" sz="2200" dirty="0"/>
              <a:t> </a:t>
            </a:r>
            <a:r>
              <a:rPr lang="en-US" sz="2200" dirty="0" err="1"/>
              <a:t>criar</a:t>
            </a:r>
            <a:r>
              <a:rPr lang="en-US" sz="2200" dirty="0"/>
              <a:t> um novo </a:t>
            </a:r>
            <a:r>
              <a:rPr lang="en-US" sz="2200" dirty="0" err="1"/>
              <a:t>DataFrame</a:t>
            </a:r>
            <a:r>
              <a:rPr lang="en-US" sz="2200" dirty="0"/>
              <a:t>.</a:t>
            </a:r>
            <a:endParaRPr lang="en-US" sz="3000" dirty="0"/>
          </a:p>
          <a:p>
            <a:r>
              <a:rPr lang="pt-BR" b="1" dirty="0"/>
              <a:t>Remover </a:t>
            </a:r>
            <a:r>
              <a:rPr lang="pt-BR" b="1" dirty="0">
                <a:solidFill>
                  <a:srgbClr val="00B050"/>
                </a:solidFill>
              </a:rPr>
              <a:t>colunas</a:t>
            </a:r>
            <a:r>
              <a:rPr lang="pt-BR" b="1" dirty="0"/>
              <a:t> </a:t>
            </a:r>
            <a:r>
              <a:rPr lang="en-US" b="1" dirty="0" err="1"/>
              <a:t>que</a:t>
            </a:r>
            <a:r>
              <a:rPr lang="en-US" b="1" dirty="0"/>
              <a:t> </a:t>
            </a:r>
            <a:r>
              <a:rPr lang="en-US" b="1" dirty="0" err="1"/>
              <a:t>contêm</a:t>
            </a:r>
            <a:r>
              <a:rPr lang="en-US" b="1" dirty="0"/>
              <a:t> </a:t>
            </a:r>
            <a:r>
              <a:rPr lang="en-US" b="1" dirty="0" err="1"/>
              <a:t>pelo</a:t>
            </a:r>
            <a:r>
              <a:rPr lang="en-US" b="1" dirty="0"/>
              <a:t> </a:t>
            </a:r>
            <a:r>
              <a:rPr lang="en-US" b="1" dirty="0" err="1"/>
              <a:t>menos</a:t>
            </a:r>
            <a:r>
              <a:rPr lang="en-US" b="1" dirty="0"/>
              <a:t> um valor </a:t>
            </a:r>
            <a:r>
              <a:rPr lang="en-US" b="1" dirty="0" err="1"/>
              <a:t>ausente</a:t>
            </a:r>
            <a:r>
              <a:rPr lang="pt-BR" b="1" dirty="0"/>
              <a:t>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 err="1">
                <a:latin typeface="Consolas" panose="020B0609020204030204" pitchFamily="49" charset="0"/>
              </a:rPr>
              <a:t>df.dropna</a:t>
            </a:r>
            <a:r>
              <a:rPr lang="en-US" dirty="0">
                <a:latin typeface="Consolas" panose="020B0609020204030204" pitchFamily="49" charset="0"/>
              </a:rPr>
              <a:t>(axis=1</a:t>
            </a:r>
            <a:r>
              <a:rPr lang="en-US" dirty="0"/>
              <a:t>, </a:t>
            </a:r>
            <a:r>
              <a:rPr lang="en-US" dirty="0" err="1">
                <a:latin typeface="Consolas" panose="020B0609020204030204" pitchFamily="49" charset="0"/>
              </a:rPr>
              <a:t>inplace</a:t>
            </a:r>
            <a:r>
              <a:rPr lang="en-US" dirty="0">
                <a:latin typeface="Consolas" panose="020B0609020204030204" pitchFamily="49" charset="0"/>
              </a:rPr>
              <a:t>=True)</a:t>
            </a:r>
            <a:endParaRPr lang="en-US" sz="2000" dirty="0">
              <a:latin typeface="Consolas" panose="020B0609020204030204" pitchFamily="49" charset="0"/>
            </a:endParaRPr>
          </a:p>
          <a:p>
            <a:r>
              <a:rPr lang="pt-BR" dirty="0"/>
              <a:t>Essa técnica </a:t>
            </a:r>
            <a:r>
              <a:rPr lang="pt-BR" b="1" dirty="0">
                <a:solidFill>
                  <a:srgbClr val="7030A0"/>
                </a:solidFill>
              </a:rPr>
              <a:t>não é boa se o número de linhas ou colunas a serem removidas é muito grande</a:t>
            </a:r>
            <a:r>
              <a:rPr lang="pt-BR" dirty="0"/>
              <a:t> em relação ao tamanho do </a:t>
            </a:r>
            <a:r>
              <a:rPr lang="pt-BR" i="1" dirty="0"/>
              <a:t>dataset</a:t>
            </a:r>
            <a:r>
              <a:rPr lang="pt-BR" dirty="0"/>
              <a:t>.</a:t>
            </a:r>
          </a:p>
          <a:p>
            <a:r>
              <a:rPr lang="pt-BR" dirty="0"/>
              <a:t>Nesses casos, sugere-se usar técnicas que </a:t>
            </a:r>
            <a:r>
              <a:rPr lang="pt-BR" b="1" dirty="0">
                <a:solidFill>
                  <a:schemeClr val="accent2"/>
                </a:solidFill>
              </a:rPr>
              <a:t>imputem valores</a:t>
            </a:r>
            <a:r>
              <a:rPr lang="pt-BR" dirty="0">
                <a:solidFill>
                  <a:schemeClr val="accent2"/>
                </a:solidFill>
              </a:rPr>
              <a:t> </a:t>
            </a:r>
            <a:r>
              <a:rPr lang="pt-BR" dirty="0"/>
              <a:t>aos faltantes.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149338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B6C86E6-DCF1-113B-1536-5A59E16235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863943" cy="1325563"/>
          </a:xfrm>
        </p:spPr>
        <p:txBody>
          <a:bodyPr/>
          <a:lstStyle/>
          <a:p>
            <a:r>
              <a:rPr lang="pt-BR" dirty="0"/>
              <a:t>Técnicas para o tratamento de valores ausentes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7430A83-F9FF-CEFD-47B0-7932118684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46714" y="1825624"/>
            <a:ext cx="8545285" cy="5032375"/>
          </a:xfrm>
        </p:spPr>
        <p:txBody>
          <a:bodyPr>
            <a:normAutofit/>
          </a:bodyPr>
          <a:lstStyle/>
          <a:p>
            <a:r>
              <a:rPr lang="pt-BR" b="1" dirty="0"/>
              <a:t>Preencher com a média, a moda ou a mediana</a:t>
            </a:r>
            <a:endParaRPr lang="pt-BR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pt-BR" b="1" dirty="0"/>
              <a:t>Média</a:t>
            </a:r>
            <a:r>
              <a:rPr lang="pt-BR" dirty="0"/>
              <a:t>: É a soma de todos os valores dividida pela quantidade total de elementos. 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pt-BR" dirty="0"/>
              <a:t>Sensível à </a:t>
            </a:r>
            <a:r>
              <a:rPr lang="pt-BR" i="1" dirty="0"/>
              <a:t>outliers</a:t>
            </a:r>
            <a:r>
              <a:rPr lang="pt-BR" dirty="0"/>
              <a:t>. 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pt-BR" dirty="0"/>
              <a:t>Usada com variáveis </a:t>
            </a:r>
            <a:r>
              <a:rPr lang="pt-BR" b="1" dirty="0"/>
              <a:t>numéricas</a:t>
            </a:r>
            <a:r>
              <a:rPr lang="pt-BR" dirty="0"/>
              <a:t>.</a:t>
            </a:r>
            <a:endParaRPr lang="pt-BR" b="1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pt-BR" b="1" dirty="0"/>
              <a:t>Mediana</a:t>
            </a:r>
            <a:r>
              <a:rPr lang="pt-BR" dirty="0"/>
              <a:t>: É o valor que ocupa a posição central de um conjunto de dados ordenado. A mediana divide os dados em 50% acima e 50% abaixo.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pt-BR" dirty="0"/>
              <a:t>Insensível a </a:t>
            </a:r>
            <a:r>
              <a:rPr lang="pt-BR" i="1" dirty="0"/>
              <a:t>outliers.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pt-BR" dirty="0"/>
              <a:t>Usada com variáveis </a:t>
            </a:r>
            <a:r>
              <a:rPr lang="pt-BR" b="1" dirty="0"/>
              <a:t>numéricas</a:t>
            </a:r>
            <a:r>
              <a:rPr lang="pt-BR" dirty="0"/>
              <a:t>.</a:t>
            </a:r>
            <a:endParaRPr lang="pt-BR" b="1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pt-BR" b="1" dirty="0"/>
              <a:t>Moda</a:t>
            </a:r>
            <a:r>
              <a:rPr lang="pt-BR" dirty="0"/>
              <a:t>: É o valor que aparece com a maior frequência no </a:t>
            </a:r>
            <a:r>
              <a:rPr lang="pt-BR" i="1" dirty="0"/>
              <a:t>dataset</a:t>
            </a:r>
            <a:r>
              <a:rPr lang="pt-BR" dirty="0"/>
              <a:t>.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pt-BR" dirty="0"/>
              <a:t>Insensível a </a:t>
            </a:r>
            <a:r>
              <a:rPr lang="pt-BR" i="1" dirty="0"/>
              <a:t>outliers.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pt-BR" dirty="0"/>
              <a:t>Usada com variáveis </a:t>
            </a:r>
            <a:r>
              <a:rPr lang="pt-BR" b="1" dirty="0"/>
              <a:t>numéricas e categóricas</a:t>
            </a:r>
            <a:r>
              <a:rPr lang="pt-BR" dirty="0"/>
              <a:t>.</a:t>
            </a:r>
          </a:p>
        </p:txBody>
      </p:sp>
      <p:pic>
        <p:nvPicPr>
          <p:cNvPr id="1032" name="Picture 8" descr="enter image description her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715" y="1825624"/>
            <a:ext cx="2856114" cy="48961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224823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F8376385-161E-B4CC-513F-E8FB885EAE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D259C31-0047-20CD-A5FF-77C846FCD4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961914" cy="1325563"/>
          </a:xfrm>
        </p:spPr>
        <p:txBody>
          <a:bodyPr/>
          <a:lstStyle/>
          <a:p>
            <a:r>
              <a:rPr lang="pt-BR" dirty="0"/>
              <a:t>Técnicas para o tratamento de valores ausentes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FD1334E-89C2-8178-D1BF-901C1E9FCB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1353800" cy="5032375"/>
          </a:xfrm>
        </p:spPr>
        <p:txBody>
          <a:bodyPr>
            <a:normAutofit/>
          </a:bodyPr>
          <a:lstStyle/>
          <a:p>
            <a:r>
              <a:rPr lang="pt-BR" b="1" dirty="0"/>
              <a:t>Preencher com a média ou a mediana</a:t>
            </a:r>
            <a:r>
              <a:rPr lang="pt-BR" dirty="0"/>
              <a:t>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 err="1">
                <a:latin typeface="Consolas" panose="020B0609020204030204" pitchFamily="49" charset="0"/>
              </a:rPr>
              <a:t>num_cols</a:t>
            </a:r>
            <a:r>
              <a:rPr lang="pt-BR" dirty="0">
                <a:latin typeface="Consolas" panose="020B0609020204030204" pitchFamily="49" charset="0"/>
              </a:rPr>
              <a:t> = </a:t>
            </a:r>
            <a:r>
              <a:rPr lang="pt-BR" dirty="0" err="1">
                <a:latin typeface="Consolas" panose="020B0609020204030204" pitchFamily="49" charset="0"/>
              </a:rPr>
              <a:t>df.select_dtypes</a:t>
            </a:r>
            <a:r>
              <a:rPr lang="pt-BR" dirty="0">
                <a:latin typeface="Consolas" panose="020B0609020204030204" pitchFamily="49" charset="0"/>
              </a:rPr>
              <a:t>(include="</a:t>
            </a:r>
            <a:r>
              <a:rPr lang="pt-BR" dirty="0" err="1">
                <a:latin typeface="Consolas" panose="020B0609020204030204" pitchFamily="49" charset="0"/>
              </a:rPr>
              <a:t>number</a:t>
            </a:r>
            <a:r>
              <a:rPr lang="pt-BR" dirty="0">
                <a:latin typeface="Consolas" panose="020B0609020204030204" pitchFamily="49" charset="0"/>
              </a:rPr>
              <a:t>").</a:t>
            </a:r>
            <a:r>
              <a:rPr lang="pt-BR" dirty="0" err="1">
                <a:latin typeface="Consolas" panose="020B0609020204030204" pitchFamily="49" charset="0"/>
              </a:rPr>
              <a:t>columns</a:t>
            </a:r>
            <a:endParaRPr lang="pt-BR" dirty="0">
              <a:latin typeface="Consolas" panose="020B0609020204030204" pitchFamily="49" charset="0"/>
            </a:endParaRPr>
          </a:p>
          <a:p>
            <a:pPr lvl="2">
              <a:buFont typeface="Courier New" panose="02070309020205020404" pitchFamily="49" charset="0"/>
              <a:buChar char="o"/>
            </a:pPr>
            <a:r>
              <a:rPr lang="pt-BR" dirty="0"/>
              <a:t>Seleciona </a:t>
            </a:r>
            <a:r>
              <a:rPr lang="pt-BR" b="1" dirty="0"/>
              <a:t>apenas as colunas numéricas </a:t>
            </a:r>
            <a:r>
              <a:rPr lang="pt-BR" dirty="0"/>
              <a:t>do </a:t>
            </a:r>
            <a:r>
              <a:rPr lang="pt-BR" dirty="0" err="1"/>
              <a:t>DataFrame</a:t>
            </a:r>
            <a:r>
              <a:rPr lang="pt-BR" dirty="0"/>
              <a:t> (tipos como int64, float64, </a:t>
            </a:r>
            <a:r>
              <a:rPr lang="pt-BR" dirty="0" err="1"/>
              <a:t>boolean</a:t>
            </a:r>
            <a:r>
              <a:rPr lang="pt-BR" dirty="0"/>
              <a:t>, etc.).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pt-BR" b="1" dirty="0"/>
              <a:t>Retorna uma lista com os nomes </a:t>
            </a:r>
            <a:r>
              <a:rPr lang="pt-BR" dirty="0"/>
              <a:t>das colunas numéricas.</a:t>
            </a:r>
          </a:p>
          <a:p>
            <a:pPr marL="457200" lvl="1" indent="0">
              <a:buNone/>
            </a:pPr>
            <a:r>
              <a:rPr lang="pt-BR" b="1" dirty="0"/>
              <a:t>Média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 err="1">
                <a:latin typeface="Consolas" panose="020B0609020204030204" pitchFamily="49" charset="0"/>
              </a:rPr>
              <a:t>df</a:t>
            </a:r>
            <a:r>
              <a:rPr lang="pt-BR" dirty="0">
                <a:latin typeface="Consolas" panose="020B0609020204030204" pitchFamily="49" charset="0"/>
              </a:rPr>
              <a:t>[</a:t>
            </a:r>
            <a:r>
              <a:rPr lang="pt-BR" dirty="0" err="1">
                <a:latin typeface="Consolas" panose="020B0609020204030204" pitchFamily="49" charset="0"/>
              </a:rPr>
              <a:t>num_cols</a:t>
            </a:r>
            <a:r>
              <a:rPr lang="pt-BR" dirty="0">
                <a:latin typeface="Consolas" panose="020B0609020204030204" pitchFamily="49" charset="0"/>
              </a:rPr>
              <a:t>] = </a:t>
            </a:r>
            <a:r>
              <a:rPr lang="pt-BR" dirty="0" err="1">
                <a:latin typeface="Consolas" panose="020B0609020204030204" pitchFamily="49" charset="0"/>
              </a:rPr>
              <a:t>df</a:t>
            </a:r>
            <a:r>
              <a:rPr lang="pt-BR" dirty="0">
                <a:latin typeface="Consolas" panose="020B0609020204030204" pitchFamily="49" charset="0"/>
              </a:rPr>
              <a:t>[</a:t>
            </a:r>
            <a:r>
              <a:rPr lang="pt-BR" dirty="0" err="1">
                <a:latin typeface="Consolas" panose="020B0609020204030204" pitchFamily="49" charset="0"/>
              </a:rPr>
              <a:t>num_cols</a:t>
            </a:r>
            <a:r>
              <a:rPr lang="pt-BR" dirty="0">
                <a:latin typeface="Consolas" panose="020B0609020204030204" pitchFamily="49" charset="0"/>
              </a:rPr>
              <a:t>].</a:t>
            </a:r>
            <a:r>
              <a:rPr lang="pt-BR" dirty="0" err="1">
                <a:latin typeface="Consolas" panose="020B0609020204030204" pitchFamily="49" charset="0"/>
              </a:rPr>
              <a:t>fillna</a:t>
            </a:r>
            <a:r>
              <a:rPr lang="pt-BR" dirty="0">
                <a:latin typeface="Consolas" panose="020B0609020204030204" pitchFamily="49" charset="0"/>
              </a:rPr>
              <a:t>(</a:t>
            </a:r>
            <a:r>
              <a:rPr lang="pt-BR" dirty="0" err="1">
                <a:latin typeface="Consolas" panose="020B0609020204030204" pitchFamily="49" charset="0"/>
              </a:rPr>
              <a:t>df</a:t>
            </a:r>
            <a:r>
              <a:rPr lang="pt-BR" dirty="0">
                <a:latin typeface="Consolas" panose="020B0609020204030204" pitchFamily="49" charset="0"/>
              </a:rPr>
              <a:t>[</a:t>
            </a:r>
            <a:r>
              <a:rPr lang="pt-BR" dirty="0" err="1">
                <a:latin typeface="Consolas" panose="020B0609020204030204" pitchFamily="49" charset="0"/>
              </a:rPr>
              <a:t>num_cols</a:t>
            </a:r>
            <a:r>
              <a:rPr lang="pt-BR" dirty="0">
                <a:latin typeface="Consolas" panose="020B0609020204030204" pitchFamily="49" charset="0"/>
              </a:rPr>
              <a:t>].</a:t>
            </a:r>
            <a:r>
              <a:rPr lang="pt-BR" dirty="0" err="1">
                <a:latin typeface="Consolas" panose="020B0609020204030204" pitchFamily="49" charset="0"/>
              </a:rPr>
              <a:t>mean</a:t>
            </a:r>
            <a:r>
              <a:rPr lang="pt-BR" dirty="0">
                <a:latin typeface="Consolas" panose="020B0609020204030204" pitchFamily="49" charset="0"/>
              </a:rPr>
              <a:t>())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pt-BR" dirty="0"/>
              <a:t>Seleciona todas as colunas numéricas e preenche os valores faltantes de cada uma com a sua média.</a:t>
            </a:r>
          </a:p>
          <a:p>
            <a:pPr marL="457200" lvl="1" indent="0">
              <a:buNone/>
            </a:pPr>
            <a:r>
              <a:rPr lang="pt-BR" b="1" dirty="0">
                <a:latin typeface="Consolas" panose="020B0609020204030204" pitchFamily="49" charset="0"/>
              </a:rPr>
              <a:t>Mediana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 err="1">
                <a:latin typeface="Consolas" panose="020B0609020204030204" pitchFamily="49" charset="0"/>
              </a:rPr>
              <a:t>df</a:t>
            </a:r>
            <a:r>
              <a:rPr lang="pt-BR" dirty="0">
                <a:latin typeface="Consolas" panose="020B0609020204030204" pitchFamily="49" charset="0"/>
              </a:rPr>
              <a:t>[</a:t>
            </a:r>
            <a:r>
              <a:rPr lang="pt-BR" dirty="0" err="1">
                <a:latin typeface="Consolas" panose="020B0609020204030204" pitchFamily="49" charset="0"/>
              </a:rPr>
              <a:t>num_cols</a:t>
            </a:r>
            <a:r>
              <a:rPr lang="pt-BR" dirty="0">
                <a:latin typeface="Consolas" panose="020B0609020204030204" pitchFamily="49" charset="0"/>
              </a:rPr>
              <a:t>] = </a:t>
            </a:r>
            <a:r>
              <a:rPr lang="pt-BR" dirty="0" err="1">
                <a:latin typeface="Consolas" panose="020B0609020204030204" pitchFamily="49" charset="0"/>
              </a:rPr>
              <a:t>df</a:t>
            </a:r>
            <a:r>
              <a:rPr lang="pt-BR" dirty="0">
                <a:latin typeface="Consolas" panose="020B0609020204030204" pitchFamily="49" charset="0"/>
              </a:rPr>
              <a:t>[</a:t>
            </a:r>
            <a:r>
              <a:rPr lang="pt-BR" dirty="0" err="1">
                <a:latin typeface="Consolas" panose="020B0609020204030204" pitchFamily="49" charset="0"/>
              </a:rPr>
              <a:t>num_cols</a:t>
            </a:r>
            <a:r>
              <a:rPr lang="pt-BR" dirty="0">
                <a:latin typeface="Consolas" panose="020B0609020204030204" pitchFamily="49" charset="0"/>
              </a:rPr>
              <a:t>].</a:t>
            </a:r>
            <a:r>
              <a:rPr lang="pt-BR" dirty="0" err="1">
                <a:latin typeface="Consolas" panose="020B0609020204030204" pitchFamily="49" charset="0"/>
              </a:rPr>
              <a:t>fillna</a:t>
            </a:r>
            <a:r>
              <a:rPr lang="pt-BR" dirty="0">
                <a:latin typeface="Consolas" panose="020B0609020204030204" pitchFamily="49" charset="0"/>
              </a:rPr>
              <a:t>(</a:t>
            </a:r>
            <a:r>
              <a:rPr lang="pt-BR" dirty="0" err="1">
                <a:latin typeface="Consolas" panose="020B0609020204030204" pitchFamily="49" charset="0"/>
              </a:rPr>
              <a:t>df</a:t>
            </a:r>
            <a:r>
              <a:rPr lang="pt-BR" dirty="0">
                <a:latin typeface="Consolas" panose="020B0609020204030204" pitchFamily="49" charset="0"/>
              </a:rPr>
              <a:t>[</a:t>
            </a:r>
            <a:r>
              <a:rPr lang="pt-BR" dirty="0" err="1">
                <a:latin typeface="Consolas" panose="020B0609020204030204" pitchFamily="49" charset="0"/>
              </a:rPr>
              <a:t>num_cols</a:t>
            </a:r>
            <a:r>
              <a:rPr lang="pt-BR" dirty="0">
                <a:latin typeface="Consolas" panose="020B0609020204030204" pitchFamily="49" charset="0"/>
              </a:rPr>
              <a:t>].</a:t>
            </a:r>
            <a:r>
              <a:rPr lang="pt-BR" dirty="0" err="1">
                <a:latin typeface="Consolas" panose="020B0609020204030204" pitchFamily="49" charset="0"/>
              </a:rPr>
              <a:t>median</a:t>
            </a:r>
            <a:r>
              <a:rPr lang="pt-BR" dirty="0">
                <a:latin typeface="Consolas" panose="020B0609020204030204" pitchFamily="49" charset="0"/>
              </a:rPr>
              <a:t>())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pt-BR" dirty="0"/>
              <a:t>Seleciona todas as colunas numéricas e preenche os valores faltantes de cada uma com a sua mediana.</a:t>
            </a:r>
          </a:p>
          <a:p>
            <a:r>
              <a:rPr lang="pt-BR" dirty="0"/>
              <a:t>OBS.: Os métodos </a:t>
            </a:r>
            <a:r>
              <a:rPr lang="pt-BR" dirty="0" err="1">
                <a:latin typeface="Consolas" panose="020B0609020204030204" pitchFamily="49" charset="0"/>
              </a:rPr>
              <a:t>mean</a:t>
            </a:r>
            <a:r>
              <a:rPr lang="pt-BR" dirty="0">
                <a:latin typeface="Consolas" panose="020B0609020204030204" pitchFamily="49" charset="0"/>
              </a:rPr>
              <a:t>() e </a:t>
            </a:r>
            <a:r>
              <a:rPr lang="pt-BR" dirty="0" err="1">
                <a:latin typeface="Consolas" panose="020B0609020204030204" pitchFamily="49" charset="0"/>
              </a:rPr>
              <a:t>median</a:t>
            </a:r>
            <a:r>
              <a:rPr lang="pt-BR" dirty="0">
                <a:latin typeface="Consolas" panose="020B0609020204030204" pitchFamily="49" charset="0"/>
              </a:rPr>
              <a:t>() </a:t>
            </a:r>
            <a:r>
              <a:rPr lang="en-US" b="1" dirty="0" err="1">
                <a:solidFill>
                  <a:srgbClr val="00B050"/>
                </a:solidFill>
              </a:rPr>
              <a:t>ignoram</a:t>
            </a:r>
            <a:r>
              <a:rPr lang="en-US" dirty="0"/>
              <a:t> </a:t>
            </a:r>
            <a:r>
              <a:rPr lang="en-US" dirty="0" err="1"/>
              <a:t>valores</a:t>
            </a:r>
            <a:r>
              <a:rPr lang="en-US" dirty="0"/>
              <a:t> </a:t>
            </a:r>
            <a:r>
              <a:rPr lang="en-US" dirty="0" err="1"/>
              <a:t>faltantes</a:t>
            </a:r>
            <a:r>
              <a:rPr lang="en-US" dirty="0"/>
              <a:t>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684120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74701E6-1249-C839-41F6-1F25FD91FC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E44F9C2-B8FA-6360-685A-CE696132D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059886" cy="1325563"/>
          </a:xfrm>
        </p:spPr>
        <p:txBody>
          <a:bodyPr/>
          <a:lstStyle/>
          <a:p>
            <a:r>
              <a:rPr lang="pt-BR" dirty="0"/>
              <a:t>Técnicas para o tratamento de valores ausentes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F36C211-C899-5194-EB90-F3A355ECC2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1266715" cy="5032375"/>
          </a:xfrm>
        </p:spPr>
        <p:txBody>
          <a:bodyPr>
            <a:normAutofit/>
          </a:bodyPr>
          <a:lstStyle/>
          <a:p>
            <a:r>
              <a:rPr lang="pt-BR" b="1" dirty="0"/>
              <a:t>Preencher com a moda: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 err="1">
                <a:latin typeface="Consolas" panose="020B0609020204030204" pitchFamily="49" charset="0"/>
              </a:rPr>
              <a:t>num_cols</a:t>
            </a:r>
            <a:r>
              <a:rPr lang="pt-BR" dirty="0">
                <a:latin typeface="Consolas" panose="020B0609020204030204" pitchFamily="49" charset="0"/>
              </a:rPr>
              <a:t> = </a:t>
            </a:r>
            <a:r>
              <a:rPr lang="pt-BR" dirty="0" err="1">
                <a:latin typeface="Consolas" panose="020B0609020204030204" pitchFamily="49" charset="0"/>
              </a:rPr>
              <a:t>df.select_dtypes</a:t>
            </a:r>
            <a:r>
              <a:rPr lang="pt-BR" dirty="0">
                <a:latin typeface="Consolas" panose="020B0609020204030204" pitchFamily="49" charset="0"/>
              </a:rPr>
              <a:t>(include="</a:t>
            </a:r>
            <a:r>
              <a:rPr lang="pt-BR" dirty="0" err="1">
                <a:latin typeface="Consolas" panose="020B0609020204030204" pitchFamily="49" charset="0"/>
              </a:rPr>
              <a:t>number</a:t>
            </a:r>
            <a:r>
              <a:rPr lang="pt-BR" dirty="0">
                <a:latin typeface="Consolas" panose="020B0609020204030204" pitchFamily="49" charset="0"/>
              </a:rPr>
              <a:t>").</a:t>
            </a:r>
            <a:r>
              <a:rPr lang="pt-BR" dirty="0" err="1">
                <a:latin typeface="Consolas" panose="020B0609020204030204" pitchFamily="49" charset="0"/>
              </a:rPr>
              <a:t>columns</a:t>
            </a:r>
            <a:endParaRPr lang="pt-BR" dirty="0">
              <a:latin typeface="Consolas" panose="020B0609020204030204" pitchFamily="49" charset="0"/>
            </a:endParaRPr>
          </a:p>
          <a:p>
            <a:pPr lvl="2">
              <a:buFont typeface="Courier New" panose="02070309020205020404" pitchFamily="49" charset="0"/>
              <a:buChar char="o"/>
            </a:pPr>
            <a:r>
              <a:rPr lang="pt-BR" dirty="0"/>
              <a:t>Obtém os nomes apenas das colunas numéricas do </a:t>
            </a:r>
            <a:r>
              <a:rPr lang="pt-BR" dirty="0" err="1"/>
              <a:t>DataFrame</a:t>
            </a:r>
            <a:r>
              <a:rPr lang="pt-BR" dirty="0"/>
              <a:t>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 err="1">
                <a:latin typeface="Consolas" panose="020B0609020204030204" pitchFamily="49" charset="0"/>
              </a:rPr>
              <a:t>df</a:t>
            </a:r>
            <a:r>
              <a:rPr lang="pt-BR" dirty="0">
                <a:latin typeface="Consolas" panose="020B0609020204030204" pitchFamily="49" charset="0"/>
              </a:rPr>
              <a:t>[</a:t>
            </a:r>
            <a:r>
              <a:rPr lang="pt-BR" dirty="0" err="1">
                <a:latin typeface="Consolas" panose="020B0609020204030204" pitchFamily="49" charset="0"/>
              </a:rPr>
              <a:t>num_cols</a:t>
            </a:r>
            <a:r>
              <a:rPr lang="pt-BR" dirty="0">
                <a:latin typeface="Consolas" panose="020B0609020204030204" pitchFamily="49" charset="0"/>
              </a:rPr>
              <a:t>] = </a:t>
            </a:r>
            <a:r>
              <a:rPr lang="pt-BR" dirty="0" err="1">
                <a:latin typeface="Consolas" panose="020B0609020204030204" pitchFamily="49" charset="0"/>
              </a:rPr>
              <a:t>df</a:t>
            </a:r>
            <a:r>
              <a:rPr lang="pt-BR" dirty="0">
                <a:latin typeface="Consolas" panose="020B0609020204030204" pitchFamily="49" charset="0"/>
              </a:rPr>
              <a:t>[</a:t>
            </a:r>
            <a:r>
              <a:rPr lang="pt-BR" dirty="0" err="1">
                <a:latin typeface="Consolas" panose="020B0609020204030204" pitchFamily="49" charset="0"/>
              </a:rPr>
              <a:t>num_cols</a:t>
            </a:r>
            <a:r>
              <a:rPr lang="pt-BR" dirty="0">
                <a:latin typeface="Consolas" panose="020B0609020204030204" pitchFamily="49" charset="0"/>
              </a:rPr>
              <a:t>].</a:t>
            </a:r>
            <a:r>
              <a:rPr lang="pt-BR" dirty="0" err="1">
                <a:latin typeface="Consolas" panose="020B0609020204030204" pitchFamily="49" charset="0"/>
              </a:rPr>
              <a:t>fillna</a:t>
            </a:r>
            <a:r>
              <a:rPr lang="pt-BR" dirty="0">
                <a:latin typeface="Consolas" panose="020B0609020204030204" pitchFamily="49" charset="0"/>
              </a:rPr>
              <a:t>(</a:t>
            </a:r>
            <a:r>
              <a:rPr lang="pt-BR" dirty="0" err="1">
                <a:latin typeface="Consolas" panose="020B0609020204030204" pitchFamily="49" charset="0"/>
              </a:rPr>
              <a:t>df</a:t>
            </a:r>
            <a:r>
              <a:rPr lang="pt-BR" dirty="0">
                <a:latin typeface="Consolas" panose="020B0609020204030204" pitchFamily="49" charset="0"/>
              </a:rPr>
              <a:t>[</a:t>
            </a:r>
            <a:r>
              <a:rPr lang="pt-BR" dirty="0" err="1">
                <a:latin typeface="Consolas" panose="020B0609020204030204" pitchFamily="49" charset="0"/>
              </a:rPr>
              <a:t>num_cols</a:t>
            </a:r>
            <a:r>
              <a:rPr lang="pt-BR" dirty="0">
                <a:latin typeface="Consolas" panose="020B0609020204030204" pitchFamily="49" charset="0"/>
              </a:rPr>
              <a:t>]</a:t>
            </a:r>
            <a:r>
              <a:rPr lang="en-US" dirty="0">
                <a:latin typeface="Consolas" panose="020B0609020204030204" pitchFamily="49" charset="0"/>
              </a:rPr>
              <a:t>.mode().</a:t>
            </a:r>
            <a:r>
              <a:rPr lang="en-US" dirty="0" err="1">
                <a:latin typeface="Consolas" panose="020B0609020204030204" pitchFamily="49" charset="0"/>
              </a:rPr>
              <a:t>iloc</a:t>
            </a:r>
            <a:r>
              <a:rPr lang="en-US" dirty="0">
                <a:latin typeface="Consolas" panose="020B0609020204030204" pitchFamily="49" charset="0"/>
              </a:rPr>
              <a:t>[0]</a:t>
            </a:r>
            <a:r>
              <a:rPr lang="pt-BR" dirty="0">
                <a:latin typeface="Consolas" panose="020B0609020204030204" pitchFamily="49" charset="0"/>
              </a:rPr>
              <a:t>)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pt-BR" dirty="0"/>
              <a:t>Seleciona as colunas numéricas e preenche os valores faltantes de cada uma com a sua moda.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b="1" dirty="0"/>
              <a:t>OBS.1</a:t>
            </a:r>
            <a:r>
              <a:rPr lang="pt-BR" dirty="0"/>
              <a:t>: A </a:t>
            </a:r>
            <a:r>
              <a:rPr lang="pt-BR" b="1" dirty="0">
                <a:solidFill>
                  <a:schemeClr val="accent5"/>
                </a:solidFill>
              </a:rPr>
              <a:t>moda pode ter mais de um valor</a:t>
            </a:r>
            <a:r>
              <a:rPr lang="pt-BR" dirty="0"/>
              <a:t>. Assim, em geral, usamos o primeiro valor (i.e., </a:t>
            </a:r>
            <a:r>
              <a:rPr lang="en-US" dirty="0" err="1">
                <a:latin typeface="Consolas" panose="020B0609020204030204" pitchFamily="49" charset="0"/>
              </a:rPr>
              <a:t>iloc</a:t>
            </a:r>
            <a:r>
              <a:rPr lang="en-US" dirty="0">
                <a:latin typeface="Consolas" panose="020B0609020204030204" pitchFamily="49" charset="0"/>
              </a:rPr>
              <a:t>[0]</a:t>
            </a:r>
            <a:r>
              <a:rPr lang="pt-BR" dirty="0"/>
              <a:t>).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b="1" dirty="0"/>
              <a:t>OBS.2</a:t>
            </a:r>
            <a:r>
              <a:rPr lang="pt-BR" dirty="0"/>
              <a:t>: A moda também pode ser usada para preencher valores faltantes de variáveis categóricas. Portanto, para selecionar colunas categóricas, troque </a:t>
            </a:r>
            <a:r>
              <a:rPr lang="pt-BR" dirty="0">
                <a:latin typeface="Consolas" panose="020B0609020204030204" pitchFamily="49" charset="0"/>
              </a:rPr>
              <a:t>include="</a:t>
            </a:r>
            <a:r>
              <a:rPr lang="pt-BR" dirty="0" err="1">
                <a:latin typeface="Consolas" panose="020B0609020204030204" pitchFamily="49" charset="0"/>
              </a:rPr>
              <a:t>number</a:t>
            </a:r>
            <a:r>
              <a:rPr lang="pt-BR" dirty="0">
                <a:latin typeface="Consolas" panose="020B0609020204030204" pitchFamily="49" charset="0"/>
              </a:rPr>
              <a:t>" por include="</a:t>
            </a:r>
            <a:r>
              <a:rPr lang="pt-BR" dirty="0" err="1">
                <a:latin typeface="Consolas" panose="020B0609020204030204" pitchFamily="49" charset="0"/>
              </a:rPr>
              <a:t>object</a:t>
            </a:r>
            <a:r>
              <a:rPr lang="pt-BR" dirty="0">
                <a:latin typeface="Consolas" panose="020B0609020204030204" pitchFamily="49" charset="0"/>
              </a:rPr>
              <a:t>", "</a:t>
            </a:r>
            <a:r>
              <a:rPr lang="pt-BR" dirty="0" err="1">
                <a:latin typeface="Consolas" panose="020B0609020204030204" pitchFamily="49" charset="0"/>
              </a:rPr>
              <a:t>category</a:t>
            </a:r>
            <a:r>
              <a:rPr lang="pt-BR" dirty="0">
                <a:latin typeface="Consolas" panose="020B0609020204030204" pitchFamily="49" charset="0"/>
              </a:rPr>
              <a:t>", e/ou "</a:t>
            </a:r>
            <a:r>
              <a:rPr lang="pt-BR" dirty="0" err="1">
                <a:latin typeface="Consolas" panose="020B0609020204030204" pitchFamily="49" charset="0"/>
              </a:rPr>
              <a:t>string</a:t>
            </a:r>
            <a:r>
              <a:rPr lang="pt-BR" dirty="0">
                <a:latin typeface="Consolas" panose="020B0609020204030204" pitchFamily="49" charset="0"/>
              </a:rPr>
              <a:t>".</a:t>
            </a:r>
          </a:p>
        </p:txBody>
      </p:sp>
    </p:spTree>
    <p:extLst>
      <p:ext uri="{BB962C8B-B14F-4D97-AF65-F5344CB8AC3E}">
        <p14:creationId xmlns:p14="http://schemas.microsoft.com/office/powerpoint/2010/main" val="20389085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79B480E-37FC-4238-48A3-47C257765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635857A-05CB-AD87-3058-AF2E30BC26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99568"/>
            <a:ext cx="10515600" cy="105886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pt-BR" sz="5400" i="1" dirty="0"/>
              <a:t>Removendo outliers</a:t>
            </a:r>
          </a:p>
          <a:p>
            <a:pPr algn="ctr"/>
            <a:endParaRPr lang="en-US" sz="5400" i="1" dirty="0"/>
          </a:p>
        </p:txBody>
      </p:sp>
    </p:spTree>
    <p:extLst>
      <p:ext uri="{BB962C8B-B14F-4D97-AF65-F5344CB8AC3E}">
        <p14:creationId xmlns:p14="http://schemas.microsoft.com/office/powerpoint/2010/main" val="5126209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E54584B-8FBE-21E9-6AE6-F0FDF5977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é um </a:t>
            </a:r>
            <a:r>
              <a:rPr lang="pt-BR" i="1" dirty="0"/>
              <a:t>outlier</a:t>
            </a:r>
            <a:r>
              <a:rPr lang="pt-BR" dirty="0"/>
              <a:t>?</a:t>
            </a:r>
            <a:endParaRPr lang="en-US" dirty="0"/>
          </a:p>
        </p:txBody>
      </p:sp>
      <p:pic>
        <p:nvPicPr>
          <p:cNvPr id="1028" name="Picture 4" descr="Funny Statistics Inside joke about Outliers and Distribution Art Board Print">
            <a:extLst>
              <a:ext uri="{FF2B5EF4-FFF2-40B4-BE49-F238E27FC236}">
                <a16:creationId xmlns:a16="http://schemas.microsoft.com/office/drawing/2014/main" xmlns="" id="{0C8CC104-44D8-7480-0F2C-F9BEE10D6E8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78" b="3570"/>
          <a:stretch>
            <a:fillRect/>
          </a:stretch>
        </p:blipFill>
        <p:spPr bwMode="auto">
          <a:xfrm>
            <a:off x="2183223" y="1597433"/>
            <a:ext cx="4032520" cy="5056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DBFF85D9-3788-FA7D-30A4-4774BBAA739A}"/>
              </a:ext>
            </a:extLst>
          </p:cNvPr>
          <p:cNvSpPr txBox="1"/>
          <p:nvPr/>
        </p:nvSpPr>
        <p:spPr>
          <a:xfrm>
            <a:off x="6662057" y="2627214"/>
            <a:ext cx="4844143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dirty="0"/>
              <a:t>Um </a:t>
            </a:r>
            <a:r>
              <a:rPr lang="pt-BR" sz="3200" i="1" dirty="0"/>
              <a:t>outlier</a:t>
            </a:r>
            <a:r>
              <a:rPr lang="pt-BR" sz="3200" dirty="0"/>
              <a:t> é uma observação que </a:t>
            </a:r>
            <a:r>
              <a:rPr lang="pt-BR" sz="3200" b="1" dirty="0">
                <a:solidFill>
                  <a:schemeClr val="accent6">
                    <a:lumMod val="75000"/>
                  </a:schemeClr>
                </a:solidFill>
              </a:rPr>
              <a:t>foge muito do padrão geral dos dados</a:t>
            </a:r>
            <a:r>
              <a:rPr lang="pt-BR" sz="3200" dirty="0"/>
              <a:t>, ou seja, um valor extremamente diferente da maioria.</a:t>
            </a:r>
          </a:p>
        </p:txBody>
      </p:sp>
    </p:spTree>
    <p:extLst>
      <p:ext uri="{BB962C8B-B14F-4D97-AF65-F5344CB8AC3E}">
        <p14:creationId xmlns:p14="http://schemas.microsoft.com/office/powerpoint/2010/main" val="10344182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FFA78F1-AFE3-BD8A-0EFD-1389BC3880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57B911E-35DF-8ADC-5025-1F9A436A5D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é um </a:t>
            </a:r>
            <a:r>
              <a:rPr lang="pt-BR" i="1" dirty="0"/>
              <a:t>outlier</a:t>
            </a:r>
            <a:r>
              <a:rPr lang="pt-BR" dirty="0"/>
              <a:t>?</a:t>
            </a:r>
            <a:endParaRPr lang="en-US" dirty="0"/>
          </a:p>
        </p:txBody>
      </p:sp>
      <p:pic>
        <p:nvPicPr>
          <p:cNvPr id="1026" name="Picture 2" descr="SAS Blogs">
            <a:extLst>
              <a:ext uri="{FF2B5EF4-FFF2-40B4-BE49-F238E27FC236}">
                <a16:creationId xmlns:a16="http://schemas.microsoft.com/office/drawing/2014/main" xmlns="" id="{8E0C9C90-D659-B444-5F16-561B661CB6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1441" y="1690688"/>
            <a:ext cx="6329118" cy="47974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6927144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C96F0B46-6226-13F7-EC9D-74AC99485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B78E1AA-B444-FC34-4F1C-87004E042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é um </a:t>
            </a:r>
            <a:r>
              <a:rPr lang="pt-BR" i="1" dirty="0"/>
              <a:t>outlier</a:t>
            </a:r>
            <a:r>
              <a:rPr lang="pt-BR" dirty="0"/>
              <a:t>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218691A-1BCA-D64A-7DBC-9DB1030D4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0571" y="1825624"/>
            <a:ext cx="6531429" cy="5032375"/>
          </a:xfrm>
        </p:spPr>
        <p:txBody>
          <a:bodyPr>
            <a:normAutofit/>
          </a:bodyPr>
          <a:lstStyle/>
          <a:p>
            <a:r>
              <a:rPr lang="pt-BR" noProof="0" dirty="0"/>
              <a:t>Um </a:t>
            </a:r>
            <a:r>
              <a:rPr lang="pt-BR" i="1" noProof="0" dirty="0" err="1"/>
              <a:t>outlier</a:t>
            </a:r>
            <a:r>
              <a:rPr lang="pt-BR" noProof="0" dirty="0"/>
              <a:t> pode ser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noProof="0" dirty="0"/>
              <a:t>Um erro de medição (e.g., sensor defeituoso),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noProof="0" dirty="0"/>
              <a:t>Erro de registro (e.g., erro de digitação),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noProof="0" dirty="0"/>
              <a:t>Erro de processamento dos dados (e.g., conversão errada de unidade),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noProof="0" dirty="0"/>
              <a:t>um valor </a:t>
            </a:r>
            <a:r>
              <a:rPr lang="pt-BR" b="1" noProof="0" dirty="0"/>
              <a:t>raro</a:t>
            </a:r>
            <a:r>
              <a:rPr lang="pt-BR" noProof="0" dirty="0"/>
              <a:t>, </a:t>
            </a:r>
            <a:r>
              <a:rPr lang="pt-BR" b="1" noProof="0" dirty="0">
                <a:solidFill>
                  <a:srgbClr val="7030A0"/>
                </a:solidFill>
              </a:rPr>
              <a:t>mas válido </a:t>
            </a:r>
            <a:r>
              <a:rPr lang="pt-BR" noProof="0" dirty="0"/>
              <a:t>(e.g., o preço de um carro luxuoso, uma fraude bancária, um acesso indevido a um servidor),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noProof="0" dirty="0"/>
              <a:t>etc.</a:t>
            </a:r>
          </a:p>
        </p:txBody>
      </p:sp>
      <p:pic>
        <p:nvPicPr>
          <p:cNvPr id="3074" name="Picture 2" descr="Encontrando valores outliers | by Paulo Victor dos Santos Tavares | Medium">
            <a:extLst>
              <a:ext uri="{FF2B5EF4-FFF2-40B4-BE49-F238E27FC236}">
                <a16:creationId xmlns:a16="http://schemas.microsoft.com/office/drawing/2014/main" xmlns="" id="{EAB14887-FA16-BCA7-4247-186D1C38BA7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25" t="19244" r="15860" b="12254"/>
          <a:stretch>
            <a:fillRect/>
          </a:stretch>
        </p:blipFill>
        <p:spPr bwMode="auto">
          <a:xfrm>
            <a:off x="418047" y="2460965"/>
            <a:ext cx="5013925" cy="3080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5398095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77E699E-3F01-BD0C-A687-ADBDCA0921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08AF9FE-17A9-CFAD-1B44-252489683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eles podem causar?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C285A50-2573-8A48-5735-458CC7689B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1353799" cy="5032376"/>
          </a:xfrm>
        </p:spPr>
        <p:txBody>
          <a:bodyPr>
            <a:normAutofit lnSpcReduction="10000"/>
          </a:bodyPr>
          <a:lstStyle/>
          <a:p>
            <a:r>
              <a:rPr lang="pt-BR" dirty="0"/>
              <a:t>Distorcer estatísticas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Afetam média, desvio padrão e correlações.</a:t>
            </a:r>
          </a:p>
          <a:p>
            <a:r>
              <a:rPr lang="pt-BR" dirty="0"/>
              <a:t>Prejudicar visualizações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Histogramas, </a:t>
            </a:r>
            <a:r>
              <a:rPr lang="pt-BR" i="1" dirty="0" err="1"/>
              <a:t>boxplots</a:t>
            </a:r>
            <a:r>
              <a:rPr lang="pt-BR" dirty="0"/>
              <a:t>, </a:t>
            </a:r>
            <a:r>
              <a:rPr lang="pt-BR" i="1" dirty="0" err="1"/>
              <a:t>scatter</a:t>
            </a:r>
            <a:r>
              <a:rPr lang="pt-BR" i="1" dirty="0"/>
              <a:t> </a:t>
            </a:r>
            <a:r>
              <a:rPr lang="pt-BR" i="1" dirty="0" err="1"/>
              <a:t>plots</a:t>
            </a:r>
            <a:r>
              <a:rPr lang="pt-BR" i="1" dirty="0"/>
              <a:t> </a:t>
            </a:r>
            <a:r>
              <a:rPr lang="pt-BR" dirty="0"/>
              <a:t>etc. podem ficar difíceis de interpretar.</a:t>
            </a:r>
          </a:p>
          <a:p>
            <a:r>
              <a:rPr lang="pt-BR" dirty="0"/>
              <a:t>Impactar modelos de ML, especialmente os baseados em métricas de distância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Podem gerar </a:t>
            </a:r>
            <a:r>
              <a:rPr lang="pt-BR" b="1" dirty="0">
                <a:solidFill>
                  <a:srgbClr val="00B050"/>
                </a:solidFill>
              </a:rPr>
              <a:t>modelos enviesados </a:t>
            </a:r>
            <a:r>
              <a:rPr lang="pt-BR" dirty="0"/>
              <a:t>e de pior desempenho.</a:t>
            </a:r>
          </a:p>
          <a:p>
            <a:r>
              <a:rPr lang="pt-BR" dirty="0"/>
              <a:t>Problemas de convergência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Em modelos baseados em </a:t>
            </a:r>
            <a:r>
              <a:rPr lang="pt-BR" b="1" dirty="0">
                <a:solidFill>
                  <a:schemeClr val="accent1"/>
                </a:solidFill>
              </a:rPr>
              <a:t>gradiente</a:t>
            </a:r>
            <a:r>
              <a:rPr lang="pt-BR" dirty="0"/>
              <a:t>, dados mal escalonados podem tornar a </a:t>
            </a:r>
            <a:r>
              <a:rPr lang="pt-BR" b="1" dirty="0">
                <a:solidFill>
                  <a:schemeClr val="accent2"/>
                </a:solidFill>
              </a:rPr>
              <a:t>convergência mais lenta </a:t>
            </a:r>
            <a:r>
              <a:rPr lang="pt-BR" dirty="0"/>
              <a:t>ou até </a:t>
            </a:r>
            <a:r>
              <a:rPr lang="pt-BR" b="1" dirty="0">
                <a:solidFill>
                  <a:schemeClr val="accent2"/>
                </a:solidFill>
              </a:rPr>
              <a:t>impedir a convergência</a:t>
            </a:r>
            <a:r>
              <a:rPr lang="pt-BR" dirty="0"/>
              <a:t>. </a:t>
            </a:r>
          </a:p>
          <a:p>
            <a:r>
              <a:rPr lang="pt-BR" dirty="0"/>
              <a:t>Porém, podem revelar informações importantes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i="1" dirty="0"/>
              <a:t>Outliers</a:t>
            </a:r>
            <a:r>
              <a:rPr lang="pt-BR" dirty="0"/>
              <a:t> podem </a:t>
            </a:r>
            <a:r>
              <a:rPr lang="pt-BR" b="1" dirty="0">
                <a:solidFill>
                  <a:srgbClr val="7030A0"/>
                </a:solidFill>
              </a:rPr>
              <a:t>revelar eventos raros, mas </a:t>
            </a:r>
            <a:r>
              <a:rPr lang="pt-BR" b="1" dirty="0">
                <a:solidFill>
                  <a:srgbClr val="FF0000"/>
                </a:solidFill>
              </a:rPr>
              <a:t>relevantes</a:t>
            </a:r>
            <a:r>
              <a:rPr lang="pt-BR" b="1" dirty="0">
                <a:solidFill>
                  <a:srgbClr val="7030A0"/>
                </a:solidFill>
              </a:rPr>
              <a:t> </a:t>
            </a:r>
            <a:r>
              <a:rPr lang="pt-BR" dirty="0"/>
              <a:t>como fraudes, falhas em sistemas, ataques cibernéticos.</a:t>
            </a:r>
          </a:p>
        </p:txBody>
      </p:sp>
    </p:spTree>
    <p:extLst>
      <p:ext uri="{BB962C8B-B14F-4D97-AF65-F5344CB8AC3E}">
        <p14:creationId xmlns:p14="http://schemas.microsoft.com/office/powerpoint/2010/main" val="12904836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C992192-9E8E-7091-1248-56280CB4E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eles podem causar?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08564A2-53D2-3D4F-D93B-A40510D31B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0" y="1825624"/>
            <a:ext cx="6857999" cy="503237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pt-BR" i="1" dirty="0"/>
              <a:t>Bill Gates e Mark Zuckerberg são tão ricos que a média salarial de quem largou Harvard é, provavelmente, maior que a de quem se formou lá</a:t>
            </a:r>
            <a:r>
              <a:rPr lang="pt-BR" dirty="0"/>
              <a:t>. </a:t>
            </a:r>
          </a:p>
          <a:p>
            <a:endParaRPr lang="pt-BR" dirty="0"/>
          </a:p>
          <a:p>
            <a:r>
              <a:rPr lang="pt-BR" dirty="0"/>
              <a:t>O dado está correto, mas ele é uma </a:t>
            </a:r>
            <a:r>
              <a:rPr lang="pt-BR" b="1" dirty="0"/>
              <a:t>exceção</a:t>
            </a:r>
            <a:r>
              <a:rPr lang="pt-BR" dirty="0"/>
              <a:t> </a:t>
            </a:r>
            <a:r>
              <a:rPr lang="pt-BR" b="1" dirty="0"/>
              <a:t>tão grande </a:t>
            </a:r>
            <a:r>
              <a:rPr lang="pt-BR" dirty="0"/>
              <a:t>(não um erro) que </a:t>
            </a:r>
            <a:r>
              <a:rPr lang="pt-BR" b="1" dirty="0">
                <a:solidFill>
                  <a:schemeClr val="accent2"/>
                </a:solidFill>
              </a:rPr>
              <a:t>destrói a representatividade da média</a:t>
            </a:r>
            <a:r>
              <a:rPr lang="pt-BR" dirty="0"/>
              <a:t>.</a:t>
            </a:r>
          </a:p>
          <a:p>
            <a:r>
              <a:rPr lang="pt-BR" dirty="0"/>
              <a:t>Porém, largar a faculdade, provavelmente, não deixará vocês bilionários. </a:t>
            </a:r>
          </a:p>
        </p:txBody>
      </p:sp>
      <p:pic>
        <p:nvPicPr>
          <p:cNvPr id="1026" name="Picture 2" descr="come on do math : r/memes">
            <a:extLst>
              <a:ext uri="{FF2B5EF4-FFF2-40B4-BE49-F238E27FC236}">
                <a16:creationId xmlns:a16="http://schemas.microsoft.com/office/drawing/2014/main" xmlns="" id="{2DD01D0F-B7C7-EEBC-1DCC-7535DE8854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657" y="1858282"/>
            <a:ext cx="4634593" cy="46345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4064482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CDAF4AC-550F-2E7D-F229-EBC795213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eles podem causar?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2190318-1C89-94DD-4DB7-79769EC396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9142" y="1825624"/>
            <a:ext cx="6702858" cy="5032375"/>
          </a:xfrm>
        </p:spPr>
        <p:txBody>
          <a:bodyPr>
            <a:normAutofit/>
          </a:bodyPr>
          <a:lstStyle/>
          <a:p>
            <a:r>
              <a:rPr lang="pt-BR" i="1" dirty="0"/>
              <a:t>Outliers</a:t>
            </a:r>
            <a:r>
              <a:rPr lang="pt-BR" dirty="0"/>
              <a:t> são exceções, valores diferentes da maioria. </a:t>
            </a:r>
          </a:p>
          <a:p>
            <a:r>
              <a:rPr lang="pt-BR" dirty="0"/>
              <a:t>Porém, exceções não são </a:t>
            </a:r>
            <a:r>
              <a:rPr lang="pt-BR" b="1" dirty="0">
                <a:solidFill>
                  <a:schemeClr val="accent2"/>
                </a:solidFill>
              </a:rPr>
              <a:t>necessariamente erros</a:t>
            </a:r>
            <a:r>
              <a:rPr lang="pt-BR" dirty="0"/>
              <a:t>.</a:t>
            </a:r>
            <a:endParaRPr lang="en-US" dirty="0"/>
          </a:p>
          <a:p>
            <a:r>
              <a:rPr lang="en-US" dirty="0"/>
              <a:t>Nunca </a:t>
            </a:r>
            <a:r>
              <a:rPr lang="en-US" dirty="0" err="1"/>
              <a:t>devemos</a:t>
            </a:r>
            <a:r>
              <a:rPr lang="en-US" dirty="0"/>
              <a:t> </a:t>
            </a:r>
            <a:r>
              <a:rPr lang="en-US" dirty="0" err="1"/>
              <a:t>removê-los</a:t>
            </a:r>
            <a:r>
              <a:rPr lang="en-US" dirty="0"/>
              <a:t> </a:t>
            </a:r>
            <a:r>
              <a:rPr lang="en-US" dirty="0" err="1"/>
              <a:t>ou</a:t>
            </a:r>
            <a:r>
              <a:rPr lang="en-US" dirty="0"/>
              <a:t> </a:t>
            </a:r>
            <a:r>
              <a:rPr lang="en-US" dirty="0" err="1"/>
              <a:t>ignorá-los</a:t>
            </a:r>
            <a:r>
              <a:rPr lang="en-US" dirty="0"/>
              <a:t> </a:t>
            </a:r>
            <a:r>
              <a:rPr lang="en-US" dirty="0" err="1"/>
              <a:t>sem</a:t>
            </a:r>
            <a:r>
              <a:rPr lang="en-US" dirty="0"/>
              <a:t> </a:t>
            </a:r>
            <a:r>
              <a:rPr lang="en-US" b="1" dirty="0" err="1">
                <a:solidFill>
                  <a:srgbClr val="7030A0"/>
                </a:solidFill>
              </a:rPr>
              <a:t>investigar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r>
              <a:rPr lang="pt-BR" i="1" dirty="0"/>
              <a:t>Se estivéssemos medindo a temperatura de um servidor e um sensor que marcasse 500°C por um segundo, isso seria um erro ou uma exceção que deveria ser investigada?</a:t>
            </a:r>
            <a:endParaRPr lang="en-US" i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EBC28F8D-86DF-09E2-09E6-E487BE7E176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018" y="2647672"/>
            <a:ext cx="4952760" cy="2701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429188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393D772-B810-B031-B6AA-8CB020BF2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Como detectar </a:t>
            </a:r>
            <a:r>
              <a:rPr lang="pt-BR" i="1" dirty="0" err="1"/>
              <a:t>outliers</a:t>
            </a:r>
            <a:r>
              <a:rPr lang="pt-BR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3D23D27-E58B-4FF2-DC2A-A3EC7FAC45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1353800" cy="5032375"/>
          </a:xfrm>
        </p:spPr>
        <p:txBody>
          <a:bodyPr/>
          <a:lstStyle/>
          <a:p>
            <a:r>
              <a:rPr lang="pt-BR" dirty="0"/>
              <a:t>De forma visual: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Histograma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i="1" dirty="0" err="1"/>
              <a:t>Boxplot</a:t>
            </a:r>
            <a:r>
              <a:rPr lang="pt-BR" i="1" dirty="0"/>
              <a:t> </a:t>
            </a:r>
            <a:r>
              <a:rPr lang="pt-BR" dirty="0"/>
              <a:t>com</a:t>
            </a:r>
            <a:r>
              <a:rPr lang="pt-BR" i="1" dirty="0"/>
              <a:t> </a:t>
            </a:r>
            <a:r>
              <a:rPr lang="pt-BR" dirty="0"/>
              <a:t>intervalos interquartis (IQR)</a:t>
            </a:r>
            <a:endParaRPr lang="pt-BR" i="1" dirty="0"/>
          </a:p>
          <a:p>
            <a:r>
              <a:rPr lang="pt-BR" dirty="0"/>
              <a:t>De forma estatística: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Intervalo Interquartil (IQR)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Z-score (Anexo II)</a:t>
            </a:r>
          </a:p>
        </p:txBody>
      </p:sp>
    </p:spTree>
    <p:extLst>
      <p:ext uri="{BB962C8B-B14F-4D97-AF65-F5344CB8AC3E}">
        <p14:creationId xmlns:p14="http://schemas.microsoft.com/office/powerpoint/2010/main" val="413645097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393D772-B810-B031-B6AA-8CB020BF2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Como detectar </a:t>
            </a:r>
            <a:r>
              <a:rPr lang="pt-BR" i="1" dirty="0" err="1"/>
              <a:t>outliers</a:t>
            </a:r>
            <a:r>
              <a:rPr lang="pt-BR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3D23D27-E58B-4FF2-DC2A-A3EC7FAC45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1353800" cy="503237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pt-BR" b="1" dirty="0"/>
              <a:t>Histograma</a:t>
            </a:r>
          </a:p>
          <a:p>
            <a:r>
              <a:rPr lang="en-US" dirty="0"/>
              <a:t>O </a:t>
            </a:r>
            <a:r>
              <a:rPr lang="en-US" dirty="0" err="1"/>
              <a:t>histograma</a:t>
            </a:r>
            <a:r>
              <a:rPr lang="en-US" dirty="0"/>
              <a:t> </a:t>
            </a:r>
            <a:r>
              <a:rPr lang="en-US" dirty="0" err="1"/>
              <a:t>mostra</a:t>
            </a:r>
            <a:r>
              <a:rPr lang="en-US" dirty="0"/>
              <a:t> a </a:t>
            </a:r>
            <a:r>
              <a:rPr lang="en-US" b="1" dirty="0" err="1"/>
              <a:t>distribuição</a:t>
            </a:r>
            <a:r>
              <a:rPr lang="en-US" b="1" dirty="0"/>
              <a:t> de </a:t>
            </a:r>
            <a:r>
              <a:rPr lang="en-US" b="1" dirty="0" err="1"/>
              <a:t>frequências</a:t>
            </a:r>
            <a:r>
              <a:rPr lang="en-US" dirty="0"/>
              <a:t>, </a:t>
            </a:r>
            <a:r>
              <a:rPr lang="en-US" dirty="0" err="1"/>
              <a:t>agrupando</a:t>
            </a:r>
            <a:r>
              <a:rPr lang="en-US" dirty="0"/>
              <a:t> </a:t>
            </a:r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dirty="0" err="1"/>
              <a:t>valores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i="1" dirty="0"/>
              <a:t>bins</a:t>
            </a:r>
            <a:r>
              <a:rPr lang="en-US" dirty="0"/>
              <a:t>.</a:t>
            </a:r>
            <a:endParaRPr lang="pt-BR" dirty="0"/>
          </a:p>
          <a:p>
            <a:r>
              <a:rPr lang="pt-BR" dirty="0"/>
              <a:t>Podemos </a:t>
            </a:r>
            <a:r>
              <a:rPr lang="pt-BR" dirty="0" err="1"/>
              <a:t>plotá-lo</a:t>
            </a:r>
            <a:r>
              <a:rPr lang="pt-BR" dirty="0"/>
              <a:t> usando a função </a:t>
            </a:r>
            <a:r>
              <a:rPr lang="en-US" sz="2400" b="1" dirty="0">
                <a:latin typeface="Consolas" panose="020B0609020204030204" pitchFamily="49" charset="0"/>
              </a:rPr>
              <a:t>hist</a:t>
            </a:r>
            <a:r>
              <a:rPr lang="en-US" dirty="0"/>
              <a:t> da </a:t>
            </a:r>
            <a:r>
              <a:rPr lang="en-US" dirty="0" err="1"/>
              <a:t>biblioteca</a:t>
            </a:r>
            <a:r>
              <a:rPr lang="pt-BR" dirty="0"/>
              <a:t> </a:t>
            </a:r>
            <a:r>
              <a:rPr lang="pt-BR" dirty="0" err="1"/>
              <a:t>matplotlib</a:t>
            </a:r>
            <a:endParaRPr lang="en-US" dirty="0"/>
          </a:p>
          <a:p>
            <a:pPr marL="457200" lvl="1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plt.hist</a:t>
            </a:r>
            <a:r>
              <a:rPr lang="en-US" dirty="0">
                <a:latin typeface="Consolas" panose="020B0609020204030204" pitchFamily="49" charset="0"/>
              </a:rPr>
              <a:t>(</a:t>
            </a:r>
            <a:r>
              <a:rPr lang="en-US" dirty="0" err="1">
                <a:latin typeface="Consolas" panose="020B0609020204030204" pitchFamily="49" charset="0"/>
              </a:rPr>
              <a:t>df</a:t>
            </a:r>
            <a:r>
              <a:rPr lang="en-US" dirty="0">
                <a:latin typeface="Consolas" panose="020B0609020204030204" pitchFamily="49" charset="0"/>
              </a:rPr>
              <a:t>['Price'], bins=30)</a:t>
            </a:r>
          </a:p>
          <a:p>
            <a:pPr marL="457200" lvl="1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plt.xlabel</a:t>
            </a:r>
            <a:r>
              <a:rPr lang="en-US" dirty="0">
                <a:latin typeface="Consolas" panose="020B0609020204030204" pitchFamily="49" charset="0"/>
              </a:rPr>
              <a:t>('</a:t>
            </a:r>
            <a:r>
              <a:rPr lang="en-US" dirty="0" err="1">
                <a:latin typeface="Consolas" panose="020B0609020204030204" pitchFamily="49" charset="0"/>
              </a:rPr>
              <a:t>Preço</a:t>
            </a:r>
            <a:r>
              <a:rPr lang="en-US" dirty="0">
                <a:latin typeface="Consolas" panose="020B0609020204030204" pitchFamily="49" charset="0"/>
              </a:rPr>
              <a:t>')</a:t>
            </a:r>
          </a:p>
          <a:p>
            <a:pPr marL="457200" lvl="1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plt.ylabel</a:t>
            </a:r>
            <a:r>
              <a:rPr lang="en-US" dirty="0">
                <a:latin typeface="Consolas" panose="020B0609020204030204" pitchFamily="49" charset="0"/>
              </a:rPr>
              <a:t>('</a:t>
            </a:r>
            <a:r>
              <a:rPr lang="en-US" dirty="0" err="1">
                <a:latin typeface="Consolas" panose="020B0609020204030204" pitchFamily="49" charset="0"/>
              </a:rPr>
              <a:t>Frequência</a:t>
            </a:r>
            <a:r>
              <a:rPr lang="en-US" dirty="0">
                <a:latin typeface="Consolas" panose="020B0609020204030204" pitchFamily="49" charset="0"/>
              </a:rPr>
              <a:t>')</a:t>
            </a:r>
          </a:p>
          <a:p>
            <a:pPr marL="457200" lvl="1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plt.title</a:t>
            </a:r>
            <a:r>
              <a:rPr lang="en-US" dirty="0">
                <a:latin typeface="Consolas" panose="020B0609020204030204" pitchFamily="49" charset="0"/>
              </a:rPr>
              <a:t>('</a:t>
            </a:r>
            <a:r>
              <a:rPr lang="en-US" dirty="0" err="1">
                <a:latin typeface="Consolas" panose="020B0609020204030204" pitchFamily="49" charset="0"/>
              </a:rPr>
              <a:t>Histograma</a:t>
            </a:r>
            <a:r>
              <a:rPr lang="en-US" dirty="0">
                <a:latin typeface="Consolas" panose="020B0609020204030204" pitchFamily="49" charset="0"/>
              </a:rPr>
              <a:t> do </a:t>
            </a:r>
            <a:r>
              <a:rPr lang="en-US" dirty="0" err="1">
                <a:latin typeface="Consolas" panose="020B0609020204030204" pitchFamily="49" charset="0"/>
              </a:rPr>
              <a:t>Preço</a:t>
            </a:r>
            <a:r>
              <a:rPr lang="en-US" dirty="0">
                <a:latin typeface="Consolas" panose="020B0609020204030204" pitchFamily="49" charset="0"/>
              </a:rPr>
              <a:t>’)</a:t>
            </a:r>
          </a:p>
          <a:p>
            <a:pPr marL="457200" lvl="1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plt.show</a:t>
            </a:r>
            <a:r>
              <a:rPr lang="en-US" dirty="0">
                <a:latin typeface="Consolas" panose="020B0609020204030204" pitchFamily="49" charset="0"/>
              </a:rPr>
              <a:t>() </a:t>
            </a:r>
          </a:p>
          <a:p>
            <a:pPr marL="0" indent="0">
              <a:buNone/>
            </a:pPr>
            <a:endParaRPr lang="en-US" b="1" dirty="0">
              <a:latin typeface="Consolas" panose="020B0609020204030204" pitchFamily="49" charset="0"/>
            </a:endParaRPr>
          </a:p>
          <a:p>
            <a:r>
              <a:rPr lang="en-US" b="1" dirty="0"/>
              <a:t>OBS</a:t>
            </a:r>
            <a:r>
              <a:rPr lang="en-US" dirty="0"/>
              <a:t>.: O </a:t>
            </a:r>
            <a:r>
              <a:rPr lang="en-US" dirty="0" err="1"/>
              <a:t>parâmetro</a:t>
            </a:r>
            <a:r>
              <a:rPr lang="en-US" dirty="0"/>
              <a:t> </a:t>
            </a:r>
            <a:r>
              <a:rPr lang="en-US" dirty="0">
                <a:latin typeface="Consolas" panose="020B0609020204030204" pitchFamily="49" charset="0"/>
              </a:rPr>
              <a:t>bins</a:t>
            </a:r>
            <a:r>
              <a:rPr lang="en-US" dirty="0"/>
              <a:t> </a:t>
            </a:r>
            <a:r>
              <a:rPr lang="en-US" dirty="0" err="1"/>
              <a:t>ajusta</a:t>
            </a:r>
            <a:r>
              <a:rPr lang="en-US" dirty="0"/>
              <a:t> a </a:t>
            </a:r>
            <a:r>
              <a:rPr lang="en-US" b="1" dirty="0" err="1">
                <a:solidFill>
                  <a:schemeClr val="accent1"/>
                </a:solidFill>
              </a:rPr>
              <a:t>quantidade</a:t>
            </a:r>
            <a:r>
              <a:rPr lang="en-US" b="1" dirty="0">
                <a:solidFill>
                  <a:schemeClr val="accent1"/>
                </a:solidFill>
              </a:rPr>
              <a:t> de </a:t>
            </a:r>
            <a:r>
              <a:rPr lang="en-US" b="1" dirty="0" err="1">
                <a:solidFill>
                  <a:schemeClr val="accent1"/>
                </a:solidFill>
              </a:rPr>
              <a:t>caixas</a:t>
            </a:r>
            <a:r>
              <a:rPr lang="en-US" b="1" dirty="0">
                <a:solidFill>
                  <a:schemeClr val="accent1"/>
                </a:solidFill>
              </a:rPr>
              <a:t> de </a:t>
            </a:r>
            <a:r>
              <a:rPr lang="en-US" b="1" dirty="0" err="1">
                <a:solidFill>
                  <a:schemeClr val="accent1"/>
                </a:solidFill>
              </a:rPr>
              <a:t>contagem</a:t>
            </a:r>
            <a:r>
              <a:rPr lang="en-US" dirty="0"/>
              <a:t>,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padrão</a:t>
            </a:r>
            <a:r>
              <a:rPr lang="en-US" dirty="0"/>
              <a:t>, </a:t>
            </a:r>
            <a:r>
              <a:rPr lang="en-US" dirty="0" err="1"/>
              <a:t>seu</a:t>
            </a:r>
            <a:r>
              <a:rPr lang="en-US" dirty="0"/>
              <a:t> valor é </a:t>
            </a:r>
            <a:r>
              <a:rPr lang="en-US" dirty="0" err="1"/>
              <a:t>igual</a:t>
            </a:r>
            <a:r>
              <a:rPr lang="en-US" dirty="0"/>
              <a:t> a 10. </a:t>
            </a:r>
            <a:r>
              <a:rPr lang="en-US" dirty="0" err="1"/>
              <a:t>Funciona</a:t>
            </a:r>
            <a:r>
              <a:rPr lang="en-US" dirty="0"/>
              <a:t> </a:t>
            </a:r>
            <a:r>
              <a:rPr lang="en-US" dirty="0" err="1"/>
              <a:t>bem</a:t>
            </a:r>
            <a:r>
              <a:rPr lang="en-US" dirty="0"/>
              <a:t> com </a:t>
            </a:r>
            <a:r>
              <a:rPr lang="en-US" dirty="0" err="1"/>
              <a:t>valores</a:t>
            </a:r>
            <a:r>
              <a:rPr lang="en-US" dirty="0"/>
              <a:t> de 20 a 30.</a:t>
            </a:r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602963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3E9365ED-206E-365B-0153-99CE3C6490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E4A34FB-5288-7D54-F8B7-7A7DE5FE4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Como detectar </a:t>
            </a:r>
            <a:r>
              <a:rPr lang="pt-BR" i="1" dirty="0" err="1"/>
              <a:t>outliers</a:t>
            </a:r>
            <a:r>
              <a:rPr lang="pt-BR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53EA83A-8537-5171-F378-51FAC4FCF7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389" y="1825624"/>
            <a:ext cx="5894611" cy="5032375"/>
          </a:xfrm>
        </p:spPr>
        <p:txBody>
          <a:bodyPr>
            <a:normAutofit/>
          </a:bodyPr>
          <a:lstStyle/>
          <a:p>
            <a:r>
              <a:rPr lang="pt-BR" noProof="0" dirty="0"/>
              <a:t>Histogramas ajudam a </a:t>
            </a:r>
            <a:r>
              <a:rPr lang="pt-BR" b="1" noProof="0" dirty="0">
                <a:solidFill>
                  <a:schemeClr val="accent1"/>
                </a:solidFill>
              </a:rPr>
              <a:t>entender a distribuição</a:t>
            </a:r>
            <a:r>
              <a:rPr lang="pt-BR" noProof="0" dirty="0"/>
              <a:t>, mas não são </a:t>
            </a:r>
            <a:r>
              <a:rPr lang="pt-BR" dirty="0"/>
              <a:t>suficientes, sozinhos,</a:t>
            </a:r>
            <a:r>
              <a:rPr lang="pt-BR" noProof="0" dirty="0"/>
              <a:t> para identificar </a:t>
            </a:r>
            <a:r>
              <a:rPr lang="pt-BR" i="1" noProof="0" dirty="0"/>
              <a:t>outliers</a:t>
            </a:r>
            <a:r>
              <a:rPr lang="pt-BR" noProof="0" dirty="0"/>
              <a:t>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noProof="0" dirty="0"/>
              <a:t>Dependem do número e tamanhos dos </a:t>
            </a:r>
            <a:r>
              <a:rPr lang="pt-BR" i="1" noProof="0" dirty="0" err="1"/>
              <a:t>bins</a:t>
            </a:r>
            <a:r>
              <a:rPr lang="pt-BR" noProof="0" dirty="0"/>
              <a:t>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noProof="0" dirty="0"/>
              <a:t>Não definem </a:t>
            </a:r>
            <a:r>
              <a:rPr lang="pt-BR" b="1" noProof="0" dirty="0">
                <a:solidFill>
                  <a:schemeClr val="accent2"/>
                </a:solidFill>
              </a:rPr>
              <a:t>limites objetivos </a:t>
            </a:r>
            <a:r>
              <a:rPr lang="pt-BR" noProof="0" dirty="0"/>
              <a:t>para classificar valores como </a:t>
            </a:r>
            <a:r>
              <a:rPr lang="pt-BR" i="1" noProof="0" dirty="0"/>
              <a:t>outliers</a:t>
            </a:r>
            <a:r>
              <a:rPr lang="pt-BR" noProof="0" dirty="0"/>
              <a:t>.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pt-BR" dirty="0"/>
              <a:t>O quão distante é suficientemente distante para um valor ser considerado um </a:t>
            </a:r>
            <a:r>
              <a:rPr lang="pt-BR" i="1" dirty="0"/>
              <a:t>outlier</a:t>
            </a:r>
            <a:r>
              <a:rPr lang="pt-BR" dirty="0"/>
              <a:t>?</a:t>
            </a:r>
            <a:endParaRPr lang="pt-BR" noProof="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pt-BR" noProof="0" dirty="0"/>
              <a:t>Um </a:t>
            </a:r>
            <a:r>
              <a:rPr lang="pt-BR" i="1" noProof="0" dirty="0"/>
              <a:t>outlier</a:t>
            </a:r>
            <a:r>
              <a:rPr lang="pt-BR" noProof="0" dirty="0"/>
              <a:t> pode “sumir” em um </a:t>
            </a:r>
            <a:r>
              <a:rPr lang="pt-BR" i="1" noProof="0" dirty="0"/>
              <a:t>bin</a:t>
            </a:r>
            <a:r>
              <a:rPr lang="pt-BR" noProof="0" dirty="0"/>
              <a:t> largo.</a:t>
            </a:r>
          </a:p>
          <a:p>
            <a:endParaRPr lang="pt-BR" noProof="0" dirty="0"/>
          </a:p>
          <a:p>
            <a:endParaRPr lang="pt-BR" noProof="0" dirty="0"/>
          </a:p>
          <a:p>
            <a:endParaRPr lang="pt-BR" noProof="0" dirty="0"/>
          </a:p>
          <a:p>
            <a:endParaRPr lang="pt-BR" noProof="0" dirty="0"/>
          </a:p>
        </p:txBody>
      </p:sp>
      <p:pic>
        <p:nvPicPr>
          <p:cNvPr id="2050" name="Picture 2" descr="Outliers in Statistics: How to Find and Deal with Them in Your Data">
            <a:extLst>
              <a:ext uri="{FF2B5EF4-FFF2-40B4-BE49-F238E27FC236}">
                <a16:creationId xmlns:a16="http://schemas.microsoft.com/office/drawing/2014/main" xmlns="" id="{6A892D7C-AADC-34FB-014B-2D70FB3554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370" y="2514599"/>
            <a:ext cx="5644242" cy="28669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5932745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E475BA5-6708-2ED9-E99B-4AA8782C05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D0E674E-9C87-7B88-E048-4DDF38276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Como detectar </a:t>
            </a:r>
            <a:r>
              <a:rPr lang="pt-BR" i="1" dirty="0" err="1"/>
              <a:t>outliers</a:t>
            </a:r>
            <a:r>
              <a:rPr lang="pt-BR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1B40662-3513-D843-449D-244D4AAAB1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389" y="1825624"/>
            <a:ext cx="5894611" cy="5032375"/>
          </a:xfrm>
        </p:spPr>
        <p:txBody>
          <a:bodyPr>
            <a:normAutofit/>
          </a:bodyPr>
          <a:lstStyle/>
          <a:p>
            <a:r>
              <a:rPr lang="pt-BR" noProof="0" dirty="0"/>
              <a:t>Usamos histogramas como uma </a:t>
            </a:r>
            <a:r>
              <a:rPr lang="pt-BR" b="1" noProof="0" dirty="0">
                <a:solidFill>
                  <a:schemeClr val="accent1"/>
                </a:solidFill>
              </a:rPr>
              <a:t>ferramenta </a:t>
            </a:r>
            <a:r>
              <a:rPr lang="pt-BR" b="1" noProof="0" dirty="0">
                <a:solidFill>
                  <a:srgbClr val="00B050"/>
                </a:solidFill>
              </a:rPr>
              <a:t>inicial</a:t>
            </a:r>
            <a:r>
              <a:rPr lang="pt-BR" b="1" noProof="0" dirty="0">
                <a:solidFill>
                  <a:schemeClr val="accent1"/>
                </a:solidFill>
              </a:rPr>
              <a:t> para levantar suspeitas</a:t>
            </a:r>
            <a:r>
              <a:rPr lang="pt-BR" noProof="0" dirty="0"/>
              <a:t> de </a:t>
            </a:r>
            <a:r>
              <a:rPr lang="pt-BR" i="1" noProof="0" dirty="0"/>
              <a:t>outliers</a:t>
            </a:r>
            <a:r>
              <a:rPr lang="pt-BR" noProof="0" dirty="0"/>
              <a:t>.</a:t>
            </a:r>
          </a:p>
          <a:p>
            <a:r>
              <a:rPr lang="pt-BR" noProof="0" dirty="0"/>
              <a:t>Eles são ótimos para uma visão geral, </a:t>
            </a:r>
            <a:r>
              <a:rPr lang="pt-BR" b="1" noProof="0" dirty="0">
                <a:solidFill>
                  <a:srgbClr val="7030A0"/>
                </a:solidFill>
              </a:rPr>
              <a:t>sugerem a presença</a:t>
            </a:r>
            <a:r>
              <a:rPr lang="pt-BR" noProof="0" dirty="0"/>
              <a:t>, mas </a:t>
            </a:r>
            <a:r>
              <a:rPr lang="pt-BR" b="1" noProof="0" dirty="0"/>
              <a:t>não devem ser </a:t>
            </a:r>
            <a:r>
              <a:rPr lang="pt-BR" b="1" noProof="0" dirty="0">
                <a:solidFill>
                  <a:schemeClr val="accent2"/>
                </a:solidFill>
              </a:rPr>
              <a:t>usados para a decisão final</a:t>
            </a:r>
            <a:r>
              <a:rPr lang="pt-BR" noProof="0" dirty="0"/>
              <a:t>.</a:t>
            </a:r>
          </a:p>
          <a:p>
            <a:r>
              <a:rPr lang="pt-BR" noProof="0" dirty="0"/>
              <a:t>O que fazer então?</a:t>
            </a:r>
          </a:p>
          <a:p>
            <a:endParaRPr lang="pt-BR" noProof="0" dirty="0"/>
          </a:p>
          <a:p>
            <a:endParaRPr lang="pt-BR" noProof="0" dirty="0"/>
          </a:p>
          <a:p>
            <a:endParaRPr lang="pt-BR" noProof="0" dirty="0"/>
          </a:p>
          <a:p>
            <a:endParaRPr lang="pt-BR" noProof="0" dirty="0"/>
          </a:p>
        </p:txBody>
      </p:sp>
      <p:pic>
        <p:nvPicPr>
          <p:cNvPr id="2050" name="Picture 2" descr="Outliers in Statistics: How to Find and Deal with Them in Your Data">
            <a:extLst>
              <a:ext uri="{FF2B5EF4-FFF2-40B4-BE49-F238E27FC236}">
                <a16:creationId xmlns:a16="http://schemas.microsoft.com/office/drawing/2014/main" xmlns="" id="{4BAF6E31-6F9B-D8AD-F1DE-3F66009BEC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370" y="2514599"/>
            <a:ext cx="5644242" cy="28669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197102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C5F002C-ED76-3067-594A-9D1F9EBAD4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Como detectar </a:t>
            </a:r>
            <a:r>
              <a:rPr lang="pt-BR" i="1" dirty="0"/>
              <a:t>outliers</a:t>
            </a:r>
            <a:r>
              <a:rPr lang="pt-BR" dirty="0"/>
              <a:t>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EECA18C-70C9-6151-A328-ADAA46D9E2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91235" y="3527366"/>
            <a:ext cx="3995056" cy="1349829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pt-BR" noProof="0" dirty="0"/>
              <a:t>O </a:t>
            </a:r>
            <a:r>
              <a:rPr lang="pt-BR" b="1" i="1" noProof="0" dirty="0" err="1">
                <a:solidFill>
                  <a:schemeClr val="accent1"/>
                </a:solidFill>
              </a:rPr>
              <a:t>boxplot</a:t>
            </a:r>
            <a:r>
              <a:rPr lang="pt-BR" noProof="0" dirty="0"/>
              <a:t> é ferramenta gráfica mais indicada para identificar </a:t>
            </a:r>
            <a:r>
              <a:rPr lang="pt-BR" i="1" noProof="0" dirty="0"/>
              <a:t>outliers</a:t>
            </a:r>
            <a:r>
              <a:rPr lang="pt-BR" noProof="0" dirty="0"/>
              <a:t>.</a:t>
            </a:r>
          </a:p>
        </p:txBody>
      </p:sp>
      <p:pic>
        <p:nvPicPr>
          <p:cNvPr id="4" name="Picture 2" descr="Boxplots using Matplotlib, Pandas, and Seaborn Libraries (Python)">
            <a:extLst>
              <a:ext uri="{FF2B5EF4-FFF2-40B4-BE49-F238E27FC236}">
                <a16:creationId xmlns:a16="http://schemas.microsoft.com/office/drawing/2014/main" xmlns="" id="{0DFE5F07-069C-A9AE-8562-822277BD95D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1" t="6520" r="1416" b="6137"/>
          <a:stretch>
            <a:fillRect/>
          </a:stretch>
        </p:blipFill>
        <p:spPr bwMode="auto">
          <a:xfrm>
            <a:off x="706452" y="2395650"/>
            <a:ext cx="7153035" cy="3613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xmlns="" id="{B0AA3317-2C05-D4CF-10FC-C3A1F469A69F}"/>
              </a:ext>
            </a:extLst>
          </p:cNvPr>
          <p:cNvSpPr txBox="1">
            <a:spLocks/>
          </p:cNvSpPr>
          <p:nvPr/>
        </p:nvSpPr>
        <p:spPr>
          <a:xfrm>
            <a:off x="838200" y="1825624"/>
            <a:ext cx="11353800" cy="50323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i="1"/>
              <a:t>Boxplot</a:t>
            </a:r>
            <a:endParaRPr lang="pt-BR" b="1" i="1" dirty="0"/>
          </a:p>
        </p:txBody>
      </p:sp>
    </p:spTree>
    <p:extLst>
      <p:ext uri="{BB962C8B-B14F-4D97-AF65-F5344CB8AC3E}">
        <p14:creationId xmlns:p14="http://schemas.microsoft.com/office/powerpoint/2010/main" val="346916871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C6E6C29-40F2-FAE4-F530-F2CB1416A7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C91EC46-3CBB-E533-BE7C-B595B589B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Como detectar </a:t>
            </a:r>
            <a:r>
              <a:rPr lang="pt-BR" i="1" dirty="0"/>
              <a:t>outliers</a:t>
            </a:r>
            <a:r>
              <a:rPr lang="pt-BR" dirty="0"/>
              <a:t>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2C4DD6A-A889-7B74-142D-CA414CF3AC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59487" y="3527366"/>
            <a:ext cx="3995056" cy="1349829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pt-BR" sz="4000" b="1" dirty="0">
                <a:solidFill>
                  <a:srgbClr val="7030A0"/>
                </a:solidFill>
              </a:rPr>
              <a:t>Como interpretar o gráfico?</a:t>
            </a:r>
            <a:endParaRPr lang="en-US" sz="4000" dirty="0"/>
          </a:p>
        </p:txBody>
      </p:sp>
      <p:pic>
        <p:nvPicPr>
          <p:cNvPr id="4" name="Picture 2" descr="Boxplots using Matplotlib, Pandas, and Seaborn Libraries (Python)">
            <a:extLst>
              <a:ext uri="{FF2B5EF4-FFF2-40B4-BE49-F238E27FC236}">
                <a16:creationId xmlns:a16="http://schemas.microsoft.com/office/drawing/2014/main" xmlns="" id="{0D1D0A5A-674A-5B69-A0A4-87ABC80B581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1" t="6520" r="1416" b="6137"/>
          <a:stretch>
            <a:fillRect/>
          </a:stretch>
        </p:blipFill>
        <p:spPr bwMode="auto">
          <a:xfrm>
            <a:off x="706452" y="2395650"/>
            <a:ext cx="7153035" cy="3613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xmlns="" id="{4573414C-B477-3AE2-EDDC-DAE6790ECF8D}"/>
              </a:ext>
            </a:extLst>
          </p:cNvPr>
          <p:cNvSpPr txBox="1">
            <a:spLocks/>
          </p:cNvSpPr>
          <p:nvPr/>
        </p:nvSpPr>
        <p:spPr>
          <a:xfrm>
            <a:off x="838200" y="1825624"/>
            <a:ext cx="11353800" cy="50323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i="1"/>
              <a:t>Boxplot</a:t>
            </a:r>
            <a:endParaRPr lang="pt-BR" b="1" i="1" dirty="0"/>
          </a:p>
        </p:txBody>
      </p:sp>
    </p:spTree>
    <p:extLst>
      <p:ext uri="{BB962C8B-B14F-4D97-AF65-F5344CB8AC3E}">
        <p14:creationId xmlns:p14="http://schemas.microsoft.com/office/powerpoint/2010/main" val="10213523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393D772-B810-B031-B6AA-8CB020BF2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Como detectar </a:t>
            </a:r>
            <a:r>
              <a:rPr lang="pt-BR" i="1" dirty="0" err="1"/>
              <a:t>outliers</a:t>
            </a:r>
            <a:r>
              <a:rPr lang="pt-BR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3D23D27-E58B-4FF2-DC2A-A3EC7FAC45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1353800" cy="5032375"/>
          </a:xfrm>
        </p:spPr>
        <p:txBody>
          <a:bodyPr/>
          <a:lstStyle/>
          <a:p>
            <a:pPr marL="0" indent="0">
              <a:buNone/>
            </a:pPr>
            <a:r>
              <a:rPr lang="pt-BR" b="1" i="1" dirty="0" err="1"/>
              <a:t>Boxplot</a:t>
            </a:r>
            <a:endParaRPr lang="pt-BR" b="1" i="1" dirty="0"/>
          </a:p>
        </p:txBody>
      </p:sp>
      <p:pic>
        <p:nvPicPr>
          <p:cNvPr id="5" name="Picture 2" descr="Boxplots using Matplotlib, Pandas, and Seaborn Libraries (Python)">
            <a:extLst>
              <a:ext uri="{FF2B5EF4-FFF2-40B4-BE49-F238E27FC236}">
                <a16:creationId xmlns:a16="http://schemas.microsoft.com/office/drawing/2014/main" xmlns="" id="{0A7655A9-2BB8-9DAA-97EF-8AD60C5A141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1" t="6520" r="1416" b="6137"/>
          <a:stretch>
            <a:fillRect/>
          </a:stretch>
        </p:blipFill>
        <p:spPr bwMode="auto">
          <a:xfrm>
            <a:off x="254557" y="2731280"/>
            <a:ext cx="5841443" cy="29507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xmlns="" id="{30A0B29A-F36F-81D4-C46E-EC6BCD066DA1}"/>
              </a:ext>
            </a:extLst>
          </p:cNvPr>
          <p:cNvSpPr txBox="1">
            <a:spLocks/>
          </p:cNvSpPr>
          <p:nvPr/>
        </p:nvSpPr>
        <p:spPr>
          <a:xfrm>
            <a:off x="6350558" y="1825624"/>
            <a:ext cx="5841442" cy="503237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A </a:t>
            </a:r>
            <a:r>
              <a:rPr lang="pt-BR" b="1" dirty="0">
                <a:solidFill>
                  <a:schemeClr val="accent2"/>
                </a:solidFill>
              </a:rPr>
              <a:t>caixa central </a:t>
            </a:r>
            <a:r>
              <a:rPr lang="pt-BR" dirty="0"/>
              <a:t>define o </a:t>
            </a:r>
            <a:r>
              <a:rPr lang="pt-BR" b="1" dirty="0">
                <a:solidFill>
                  <a:schemeClr val="accent6"/>
                </a:solidFill>
              </a:rPr>
              <a:t>intervalo interquartil </a:t>
            </a:r>
            <a:r>
              <a:rPr lang="pt-BR" dirty="0"/>
              <a:t>(IQR = Q3-Q1).</a:t>
            </a:r>
          </a:p>
          <a:p>
            <a:r>
              <a:rPr lang="pt-BR" b="1" dirty="0"/>
              <a:t>Borda inferior da </a:t>
            </a:r>
            <a:r>
              <a:rPr lang="pt-BR" b="1" dirty="0">
                <a:solidFill>
                  <a:schemeClr val="accent2"/>
                </a:solidFill>
              </a:rPr>
              <a:t>caixa</a:t>
            </a:r>
            <a:r>
              <a:rPr lang="pt-BR" dirty="0"/>
              <a:t> → primeiro quartil (Q1): 25% dos </a:t>
            </a:r>
            <a:r>
              <a:rPr lang="pt-BR" b="1" dirty="0">
                <a:solidFill>
                  <a:srgbClr val="7030A0"/>
                </a:solidFill>
              </a:rPr>
              <a:t>dados ordenados</a:t>
            </a:r>
            <a:r>
              <a:rPr lang="pt-BR" dirty="0"/>
              <a:t> estão abaixo desse valor.</a:t>
            </a:r>
          </a:p>
          <a:p>
            <a:r>
              <a:rPr lang="pt-BR" b="1" dirty="0"/>
              <a:t>Linha dentro da </a:t>
            </a:r>
            <a:r>
              <a:rPr lang="pt-BR" b="1" dirty="0">
                <a:solidFill>
                  <a:schemeClr val="accent2"/>
                </a:solidFill>
              </a:rPr>
              <a:t>caixa</a:t>
            </a:r>
            <a:r>
              <a:rPr lang="pt-BR" b="1" dirty="0"/>
              <a:t> </a:t>
            </a:r>
            <a:r>
              <a:rPr lang="pt-BR" dirty="0"/>
              <a:t>→ </a:t>
            </a:r>
            <a:r>
              <a:rPr lang="pt-BR" b="1" dirty="0">
                <a:solidFill>
                  <a:schemeClr val="accent1"/>
                </a:solidFill>
              </a:rPr>
              <a:t>mediana</a:t>
            </a:r>
            <a:r>
              <a:rPr lang="pt-BR" dirty="0"/>
              <a:t> (Q2): </a:t>
            </a:r>
            <a:r>
              <a:rPr lang="pt-BR" b="1" dirty="0">
                <a:solidFill>
                  <a:srgbClr val="00B050"/>
                </a:solidFill>
              </a:rPr>
              <a:t>valor central </a:t>
            </a:r>
            <a:r>
              <a:rPr lang="pt-BR" dirty="0"/>
              <a:t>dos dados ordenados. Metade dos valores está acima e metade abaixo.</a:t>
            </a:r>
          </a:p>
          <a:p>
            <a:r>
              <a:rPr lang="pt-BR" b="1" dirty="0"/>
              <a:t>Borda superior da </a:t>
            </a:r>
            <a:r>
              <a:rPr lang="pt-BR" b="1" dirty="0">
                <a:solidFill>
                  <a:schemeClr val="accent2"/>
                </a:solidFill>
              </a:rPr>
              <a:t>caixa</a:t>
            </a:r>
            <a:r>
              <a:rPr lang="pt-BR" dirty="0"/>
              <a:t> → terceiro quartil (Q3): 75% dos dados ordenados estão abaixo desse valor.</a:t>
            </a:r>
          </a:p>
        </p:txBody>
      </p:sp>
    </p:spTree>
    <p:extLst>
      <p:ext uri="{BB962C8B-B14F-4D97-AF65-F5344CB8AC3E}">
        <p14:creationId xmlns:p14="http://schemas.microsoft.com/office/powerpoint/2010/main" val="40820061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393D772-B810-B031-B6AA-8CB020BF2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Como detectar </a:t>
            </a:r>
            <a:r>
              <a:rPr lang="pt-BR" i="1" dirty="0" err="1"/>
              <a:t>outliers</a:t>
            </a:r>
            <a:r>
              <a:rPr lang="pt-BR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3D23D27-E58B-4FF2-DC2A-A3EC7FAC45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1353800" cy="5032375"/>
          </a:xfrm>
        </p:spPr>
        <p:txBody>
          <a:bodyPr/>
          <a:lstStyle/>
          <a:p>
            <a:pPr marL="0" indent="0">
              <a:buNone/>
            </a:pPr>
            <a:r>
              <a:rPr lang="pt-BR" b="1" i="1" dirty="0" err="1"/>
              <a:t>Boxplot</a:t>
            </a:r>
            <a:endParaRPr lang="pt-BR" b="1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xmlns="" id="{7178847B-2E5B-80BA-611B-B745B83ACA4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350557" y="1825625"/>
                <a:ext cx="5841443" cy="503237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pt-BR" b="1" dirty="0"/>
                  <a:t>Linhas que saem da caixa</a:t>
                </a:r>
                <a:r>
                  <a:rPr lang="pt-BR" dirty="0"/>
                  <a:t> → bigodes (</a:t>
                </a:r>
                <a:r>
                  <a:rPr lang="pt-BR" i="1" dirty="0" err="1"/>
                  <a:t>whiskers</a:t>
                </a:r>
                <a:r>
                  <a:rPr lang="pt-BR" dirty="0"/>
                  <a:t>): vão até o </a:t>
                </a:r>
                <a:r>
                  <a:rPr lang="pt-BR" b="1" dirty="0">
                    <a:solidFill>
                      <a:schemeClr val="accent2"/>
                    </a:solidFill>
                  </a:rPr>
                  <a:t>menor e maior valores que </a:t>
                </a:r>
                <a:r>
                  <a:rPr lang="pt-BR" b="1" dirty="0">
                    <a:solidFill>
                      <a:srgbClr val="00B050"/>
                    </a:solidFill>
                  </a:rPr>
                  <a:t>não são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outliers</a:t>
                </a:r>
                <a:r>
                  <a:rPr lang="pt-BR" dirty="0"/>
                  <a:t>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Os limites são geralmente definidos por:</a:t>
                </a:r>
              </a:p>
              <a:p>
                <a:pPr lvl="2">
                  <a:buFont typeface="Courier New" panose="02070309020205020404" pitchFamily="49" charset="0"/>
                  <a:buChar char="o"/>
                </a:pPr>
                <a:r>
                  <a:rPr lang="pt-BR" dirty="0"/>
                  <a:t>Q1 − 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pt-BR" dirty="0"/>
                  <a:t>×IQR</a:t>
                </a:r>
              </a:p>
              <a:p>
                <a:pPr lvl="2">
                  <a:buFont typeface="Courier New" panose="02070309020205020404" pitchFamily="49" charset="0"/>
                  <a:buChar char="o"/>
                </a:pPr>
                <a:r>
                  <a:rPr lang="pt-BR" dirty="0"/>
                  <a:t>Q3 +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pt-BR" dirty="0"/>
                  <a:t>×IQR</a:t>
                </a:r>
              </a:p>
              <a:p>
                <a:pPr marL="0" indent="0">
                  <a:buNone/>
                </a:pPr>
                <a:r>
                  <a:rPr lang="pt-BR" dirty="0"/>
                  <a:t>onde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pt-BR" dirty="0"/>
                  <a:t> controla a </a:t>
                </a:r>
                <a:r>
                  <a:rPr lang="pt-BR" b="1" dirty="0"/>
                  <a:t>sensibilidade</a:t>
                </a:r>
                <a:r>
                  <a:rPr lang="pt-BR" dirty="0"/>
                  <a:t>: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=1.5</m:t>
                    </m:r>
                  </m:oMath>
                </a14:m>
                <a:r>
                  <a:rPr lang="pt-BR" dirty="0"/>
                  <a:t> (</a:t>
                </a:r>
                <a:r>
                  <a:rPr lang="pt-BR" b="1" dirty="0"/>
                  <a:t>padrão</a:t>
                </a:r>
                <a:r>
                  <a:rPr lang="pt-BR" dirty="0"/>
                  <a:t>) para </a:t>
                </a:r>
                <a:r>
                  <a:rPr lang="pt-BR" i="1" dirty="0"/>
                  <a:t>outliers</a:t>
                </a:r>
                <a:r>
                  <a:rPr lang="pt-BR" dirty="0"/>
                  <a:t> </a:t>
                </a:r>
                <a:r>
                  <a:rPr lang="pt-BR" b="1" dirty="0">
                    <a:solidFill>
                      <a:schemeClr val="accent1"/>
                    </a:solidFill>
                  </a:rPr>
                  <a:t>moderados</a:t>
                </a:r>
                <a:r>
                  <a:rPr lang="pt-BR" dirty="0"/>
                  <a:t>, e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=3.0</m:t>
                    </m:r>
                  </m:oMath>
                </a14:m>
                <a:r>
                  <a:rPr lang="pt-BR" dirty="0"/>
                  <a:t> para </a:t>
                </a:r>
                <a:r>
                  <a:rPr lang="pt-BR" b="1" dirty="0">
                    <a:solidFill>
                      <a:schemeClr val="accent6"/>
                    </a:solidFill>
                  </a:rPr>
                  <a:t>casos extremos</a:t>
                </a:r>
                <a:r>
                  <a:rPr lang="pt-BR" dirty="0"/>
                  <a:t>.</a:t>
                </a:r>
                <a:endParaRPr lang="pt-BR" b="1" dirty="0"/>
              </a:p>
              <a:p>
                <a:r>
                  <a:rPr lang="pt-BR" b="1" dirty="0"/>
                  <a:t>Pontos fora dos bigodes </a:t>
                </a:r>
                <a:r>
                  <a:rPr lang="pt-BR" dirty="0"/>
                  <a:t>→ </a:t>
                </a:r>
                <a:r>
                  <a:rPr lang="pt-BR" b="1" dirty="0">
                    <a:solidFill>
                      <a:srgbClr val="00B0F0"/>
                    </a:solidFill>
                  </a:rPr>
                  <a:t>possíveis</a:t>
                </a:r>
                <a:r>
                  <a:rPr lang="pt-BR" dirty="0"/>
                  <a:t> </a:t>
                </a:r>
                <a:r>
                  <a:rPr lang="pt-BR" i="1" dirty="0"/>
                  <a:t>outliers</a:t>
                </a:r>
                <a:r>
                  <a:rPr lang="pt-BR" dirty="0"/>
                  <a:t>.</a:t>
                </a:r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7178847B-2E5B-80BA-611B-B745B83ACA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0557" y="1825625"/>
                <a:ext cx="5841443" cy="5032375"/>
              </a:xfrm>
              <a:prstGeom prst="rect">
                <a:avLst/>
              </a:prstGeom>
              <a:blipFill>
                <a:blip r:embed="rId3"/>
                <a:stretch>
                  <a:fillRect l="-2192" t="-1937" r="-17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2" descr="Boxplots using Matplotlib, Pandas, and Seaborn Libraries (Python)">
            <a:extLst>
              <a:ext uri="{FF2B5EF4-FFF2-40B4-BE49-F238E27FC236}">
                <a16:creationId xmlns:a16="http://schemas.microsoft.com/office/drawing/2014/main" xmlns="" id="{74D69300-3CC5-88FB-5553-D39706FECC0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1" t="6520" r="1416" b="6137"/>
          <a:stretch>
            <a:fillRect/>
          </a:stretch>
        </p:blipFill>
        <p:spPr bwMode="auto">
          <a:xfrm>
            <a:off x="254557" y="2731280"/>
            <a:ext cx="5841443" cy="29507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350816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CEF0240-DBED-302C-6359-B82C2FD352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592449D-5DD1-1F34-A15A-88F6B6353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Como detectar </a:t>
            </a:r>
            <a:r>
              <a:rPr lang="pt-BR" i="1" dirty="0" err="1"/>
              <a:t>outliers</a:t>
            </a:r>
            <a:r>
              <a:rPr lang="pt-BR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E95AF5C-FC96-BEE9-F3CF-9D0A8CC453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1353800" cy="5032375"/>
          </a:xfrm>
        </p:spPr>
        <p:txBody>
          <a:bodyPr/>
          <a:lstStyle/>
          <a:p>
            <a:pPr marL="0" indent="0">
              <a:buNone/>
            </a:pPr>
            <a:r>
              <a:rPr lang="pt-BR" b="1" i="1" noProof="0"/>
              <a:t>Boxplot</a:t>
            </a:r>
            <a:endParaRPr lang="pt-BR" b="1" i="1" noProof="0" dirty="0"/>
          </a:p>
          <a:p>
            <a:r>
              <a:rPr lang="pt-BR" noProof="0" dirty="0"/>
              <a:t>Usando a função </a:t>
            </a:r>
            <a:r>
              <a:rPr lang="pt-BR" b="1" noProof="0" dirty="0" err="1">
                <a:latin typeface="Consolas" panose="020B0609020204030204" pitchFamily="49" charset="0"/>
              </a:rPr>
              <a:t>boxplot</a:t>
            </a:r>
            <a:r>
              <a:rPr lang="pt-BR" noProof="0" dirty="0"/>
              <a:t> da biblioteca </a:t>
            </a:r>
            <a:r>
              <a:rPr lang="pt-BR" noProof="0" dirty="0" err="1"/>
              <a:t>matplotlib</a:t>
            </a:r>
            <a:endParaRPr lang="pt-BR" noProof="0" dirty="0"/>
          </a:p>
          <a:p>
            <a:pPr marL="457200" lvl="1" indent="0">
              <a:buNone/>
            </a:pPr>
            <a:r>
              <a:rPr lang="pt-BR" noProof="0" dirty="0" err="1">
                <a:latin typeface="Consolas" panose="020B0609020204030204" pitchFamily="49" charset="0"/>
              </a:rPr>
              <a:t>plt.boxplot</a:t>
            </a:r>
            <a:r>
              <a:rPr lang="pt-BR" noProof="0" dirty="0">
                <a:latin typeface="Consolas" panose="020B0609020204030204" pitchFamily="49" charset="0"/>
              </a:rPr>
              <a:t>(</a:t>
            </a:r>
            <a:r>
              <a:rPr lang="pt-BR" noProof="0" dirty="0" err="1">
                <a:latin typeface="Consolas" panose="020B0609020204030204" pitchFamily="49" charset="0"/>
              </a:rPr>
              <a:t>df</a:t>
            </a:r>
            <a:r>
              <a:rPr lang="pt-BR" noProof="0" dirty="0">
                <a:latin typeface="Consolas" panose="020B0609020204030204" pitchFamily="49" charset="0"/>
              </a:rPr>
              <a:t>['Year'])</a:t>
            </a:r>
          </a:p>
          <a:p>
            <a:pPr marL="457200" lvl="1" indent="0">
              <a:buNone/>
            </a:pPr>
            <a:r>
              <a:rPr lang="pt-BR" noProof="0" dirty="0" err="1">
                <a:latin typeface="Consolas" panose="020B0609020204030204" pitchFamily="49" charset="0"/>
              </a:rPr>
              <a:t>plt.xlabel</a:t>
            </a:r>
            <a:r>
              <a:rPr lang="pt-BR" noProof="0" dirty="0">
                <a:latin typeface="Consolas" panose="020B0609020204030204" pitchFamily="49" charset="0"/>
              </a:rPr>
              <a:t>('Year')</a:t>
            </a:r>
          </a:p>
          <a:p>
            <a:pPr marL="457200" lvl="1" indent="0">
              <a:buNone/>
            </a:pPr>
            <a:r>
              <a:rPr lang="pt-BR" noProof="0" dirty="0" err="1">
                <a:latin typeface="Consolas" panose="020B0609020204030204" pitchFamily="49" charset="0"/>
              </a:rPr>
              <a:t>plt.ylabel</a:t>
            </a:r>
            <a:r>
              <a:rPr lang="pt-BR" noProof="0" dirty="0">
                <a:latin typeface="Consolas" panose="020B0609020204030204" pitchFamily="49" charset="0"/>
              </a:rPr>
              <a:t>('Valores')</a:t>
            </a:r>
          </a:p>
          <a:p>
            <a:pPr marL="457200" lvl="1" indent="0">
              <a:buNone/>
            </a:pPr>
            <a:r>
              <a:rPr lang="pt-BR" noProof="0" dirty="0" err="1">
                <a:latin typeface="Consolas" panose="020B0609020204030204" pitchFamily="49" charset="0"/>
              </a:rPr>
              <a:t>plt.title</a:t>
            </a:r>
            <a:r>
              <a:rPr lang="pt-BR" noProof="0" dirty="0">
                <a:latin typeface="Consolas" panose="020B0609020204030204" pitchFamily="49" charset="0"/>
              </a:rPr>
              <a:t>('</a:t>
            </a:r>
            <a:r>
              <a:rPr lang="pt-BR" noProof="0" dirty="0" err="1">
                <a:latin typeface="Consolas" panose="020B0609020204030204" pitchFamily="49" charset="0"/>
              </a:rPr>
              <a:t>Boxplot</a:t>
            </a:r>
            <a:r>
              <a:rPr lang="pt-BR" noProof="0" dirty="0">
                <a:latin typeface="Consolas" panose="020B0609020204030204" pitchFamily="49" charset="0"/>
              </a:rPr>
              <a:t> do Year')</a:t>
            </a:r>
          </a:p>
          <a:p>
            <a:pPr marL="457200" lvl="1" indent="0">
              <a:buNone/>
            </a:pPr>
            <a:r>
              <a:rPr lang="pt-BR" noProof="0" dirty="0" err="1">
                <a:latin typeface="Consolas" panose="020B0609020204030204" pitchFamily="49" charset="0"/>
              </a:rPr>
              <a:t>plt.show</a:t>
            </a:r>
            <a:r>
              <a:rPr lang="pt-BR" noProof="0" dirty="0">
                <a:latin typeface="Consolas" panose="020B0609020204030204" pitchFamily="49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95428618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BC20D2E-90CD-0147-9BD4-AEFA3D9C6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Vantagens e desvantagens: </a:t>
            </a:r>
            <a:r>
              <a:rPr lang="pt-BR" i="1" dirty="0" err="1"/>
              <a:t>boxplot</a:t>
            </a:r>
            <a:r>
              <a:rPr lang="pt-BR" dirty="0"/>
              <a:t> (IQR)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="" id="{A7C405BC-BEC5-E7AB-3253-7C4A1055EE3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1353800" cy="5032375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pt-BR" noProof="0" dirty="0"/>
                  <a:t>Vantagens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noProof="0" dirty="0"/>
                  <a:t>Robusto a </a:t>
                </a:r>
                <a:r>
                  <a:rPr lang="pt-BR" i="1" noProof="0" dirty="0"/>
                  <a:t>outliers</a:t>
                </a:r>
                <a:r>
                  <a:rPr lang="pt-BR" noProof="0" dirty="0"/>
                  <a:t>, pois usa quartis (i.e., a </a:t>
                </a:r>
                <a:r>
                  <a:rPr lang="pt-BR" b="1" noProof="0" dirty="0">
                    <a:solidFill>
                      <a:srgbClr val="00B050"/>
                    </a:solidFill>
                  </a:rPr>
                  <a:t>divisão</a:t>
                </a:r>
                <a:r>
                  <a:rPr lang="pt-BR" noProof="0" dirty="0"/>
                  <a:t> dos dados em 4 partes)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Não assume nenhuma distribuição específica dos dados</a:t>
                </a:r>
                <a:endParaRPr lang="pt-BR" noProof="0" dirty="0"/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noProof="0" dirty="0"/>
                  <a:t>Funciona bem mesmo com distribuições assimétricas (não apenas Gaussianas)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noProof="0" dirty="0"/>
                  <a:t>Fácil de interpretar visualmente (</a:t>
                </a:r>
                <a:r>
                  <a:rPr lang="pt-BR" i="1" noProof="0" dirty="0" err="1"/>
                  <a:t>boxplots</a:t>
                </a:r>
                <a:r>
                  <a:rPr lang="pt-BR" noProof="0" dirty="0"/>
                  <a:t>)</a:t>
                </a:r>
              </a:p>
              <a:p>
                <a:r>
                  <a:rPr lang="pt-BR" noProof="0" dirty="0"/>
                  <a:t>Desvantagens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noProof="0" dirty="0"/>
                  <a:t>Pode falhar em distribuições multimodais (vários picos)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pt-BR" i="1" noProof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pt-BR" b="0" i="1" noProof="0" smtClean="0">
                        <a:latin typeface="Cambria Math" panose="02040503050406030204" pitchFamily="18" charset="0"/>
                      </a:rPr>
                      <m:t>=1.5</m:t>
                    </m:r>
                  </m:oMath>
                </a14:m>
                <a:r>
                  <a:rPr lang="pt-BR" noProof="0" dirty="0"/>
                  <a:t> é uma convenção prática e pode não ser ideal em todos os casos.</a:t>
                </a:r>
              </a:p>
              <a:p>
                <a:pPr lvl="2">
                  <a:buFont typeface="Courier New" panose="02070309020205020404" pitchFamily="49" charset="0"/>
                  <a:buChar char="o"/>
                </a:pPr>
                <a:r>
                  <a:rPr lang="pt-BR" noProof="0" dirty="0"/>
                  <a:t>Treine o modelo com e sem os </a:t>
                </a:r>
                <a:r>
                  <a:rPr lang="pt-BR" i="1" noProof="0" dirty="0"/>
                  <a:t>outliers</a:t>
                </a:r>
                <a:r>
                  <a:rPr lang="pt-BR" noProof="0" dirty="0"/>
                  <a:t> identificados por 1.5 e verifique se a performance melhora.</a:t>
                </a:r>
              </a:p>
              <a:p>
                <a:pPr lvl="2">
                  <a:buFont typeface="Courier New" panose="02070309020205020404" pitchFamily="49" charset="0"/>
                  <a:buChar char="o"/>
                </a:pPr>
                <a:r>
                  <a:rPr lang="pt-BR" noProof="0" dirty="0"/>
                  <a:t>Em conjuntos grandes, </a:t>
                </a:r>
                <a14:m>
                  <m:oMath xmlns:m="http://schemas.openxmlformats.org/officeDocument/2006/math">
                    <m:r>
                      <a:rPr lang="pt-BR" i="1" noProof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pt-BR" i="1" noProof="0">
                        <a:latin typeface="Cambria Math" panose="02040503050406030204" pitchFamily="18" charset="0"/>
                      </a:rPr>
                      <m:t>=1.5</m:t>
                    </m:r>
                  </m:oMath>
                </a14:m>
                <a:r>
                  <a:rPr lang="pt-BR" noProof="0" dirty="0"/>
                  <a:t> pode definir muitos pontos como </a:t>
                </a:r>
                <a:r>
                  <a:rPr lang="pt-BR" i="1" noProof="0" dirty="0"/>
                  <a:t>outliers</a:t>
                </a:r>
                <a:r>
                  <a:rPr lang="pt-BR" noProof="0" dirty="0"/>
                  <a:t>, nesses casos, deve se testar o valor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pt-BR" noProof="0" dirty="0"/>
                  <a:t> ou ajustá-lo empiricamente.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noProof="0" dirty="0"/>
                  <a:t>Ineficaz para conjuntos de dados pequenos, pois eles podem não representar a distribuição com precisão.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7C405BC-BEC5-E7AB-3253-7C4A1055EE3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1353800" cy="5032375"/>
              </a:xfrm>
              <a:blipFill>
                <a:blip r:embed="rId3"/>
                <a:stretch>
                  <a:fillRect l="-967" t="-26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7282198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393D772-B810-B031-B6AA-8CB020BF2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Como remover </a:t>
            </a:r>
            <a:r>
              <a:rPr lang="pt-BR" i="1" dirty="0"/>
              <a:t>outliers</a:t>
            </a:r>
            <a:r>
              <a:rPr lang="pt-BR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3D23D27-E58B-4FF2-DC2A-A3EC7FAC45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1353800" cy="5032375"/>
          </a:xfrm>
        </p:spPr>
        <p:txBody>
          <a:bodyPr>
            <a:normAutofit/>
          </a:bodyPr>
          <a:lstStyle/>
          <a:p>
            <a:r>
              <a:rPr lang="pt-BR" b="1" dirty="0"/>
              <a:t>Removendo </a:t>
            </a:r>
            <a:r>
              <a:rPr lang="pt-BR" b="1" i="1" dirty="0"/>
              <a:t>outliers</a:t>
            </a:r>
            <a:r>
              <a:rPr lang="pt-BR" b="1" dirty="0"/>
              <a:t> com a distância interquartil (IQR)</a:t>
            </a:r>
            <a:endParaRPr lang="pt-BR" b="1" dirty="0">
              <a:solidFill>
                <a:schemeClr val="accent2"/>
              </a:solidFill>
            </a:endParaRPr>
          </a:p>
          <a:p>
            <a:pPr marL="457200" lvl="1" indent="0">
              <a:buNone/>
            </a:pPr>
            <a:r>
              <a:rPr lang="en-US" sz="2200" dirty="0">
                <a:latin typeface="Consolas" panose="020B0609020204030204" pitchFamily="49" charset="0"/>
              </a:rPr>
              <a:t>Q1 = </a:t>
            </a:r>
            <a:r>
              <a:rPr lang="en-US" sz="2200" dirty="0" err="1">
                <a:latin typeface="Consolas" panose="020B0609020204030204" pitchFamily="49" charset="0"/>
              </a:rPr>
              <a:t>df</a:t>
            </a:r>
            <a:r>
              <a:rPr lang="en-US" sz="2200" dirty="0">
                <a:latin typeface="Consolas" panose="020B0609020204030204" pitchFamily="49" charset="0"/>
              </a:rPr>
              <a:t>[</a:t>
            </a:r>
            <a:r>
              <a:rPr lang="en-US" dirty="0"/>
              <a:t>'MPG-C'</a:t>
            </a:r>
            <a:r>
              <a:rPr lang="en-US" sz="2200" dirty="0">
                <a:latin typeface="Consolas" panose="020B0609020204030204" pitchFamily="49" charset="0"/>
              </a:rPr>
              <a:t>].quantile(0.25)</a:t>
            </a:r>
          </a:p>
          <a:p>
            <a:pPr marL="457200" lvl="1" indent="0">
              <a:buNone/>
            </a:pPr>
            <a:r>
              <a:rPr lang="en-US" sz="2200" dirty="0">
                <a:latin typeface="Consolas" panose="020B0609020204030204" pitchFamily="49" charset="0"/>
              </a:rPr>
              <a:t>Q3 = </a:t>
            </a:r>
            <a:r>
              <a:rPr lang="en-US" sz="2200" dirty="0" err="1">
                <a:latin typeface="Consolas" panose="020B0609020204030204" pitchFamily="49" charset="0"/>
              </a:rPr>
              <a:t>df</a:t>
            </a:r>
            <a:r>
              <a:rPr lang="en-US" sz="2200" dirty="0">
                <a:latin typeface="Consolas" panose="020B0609020204030204" pitchFamily="49" charset="0"/>
              </a:rPr>
              <a:t>[</a:t>
            </a:r>
            <a:r>
              <a:rPr lang="en-US" dirty="0"/>
              <a:t>'MPG-C'</a:t>
            </a:r>
            <a:r>
              <a:rPr lang="en-US" sz="2200" dirty="0">
                <a:latin typeface="Consolas" panose="020B0609020204030204" pitchFamily="49" charset="0"/>
              </a:rPr>
              <a:t>].quantile(0.75)</a:t>
            </a:r>
          </a:p>
          <a:p>
            <a:pPr marL="457200" lvl="1" indent="0">
              <a:buNone/>
            </a:pPr>
            <a:r>
              <a:rPr lang="en-US" sz="2200" dirty="0">
                <a:latin typeface="Consolas" panose="020B0609020204030204" pitchFamily="49" charset="0"/>
              </a:rPr>
              <a:t>IQR = Q3 - Q1</a:t>
            </a:r>
          </a:p>
          <a:p>
            <a:pPr marL="457200" lvl="1" indent="0">
              <a:buNone/>
            </a:pPr>
            <a:endParaRPr lang="en-US" sz="2200" dirty="0">
              <a:latin typeface="Consolas" panose="020B0609020204030204" pitchFamily="49" charset="0"/>
            </a:endParaRPr>
          </a:p>
          <a:p>
            <a:pPr marL="457200" lvl="1" indent="0">
              <a:buNone/>
            </a:pPr>
            <a:r>
              <a:rPr lang="en-US" sz="2200" dirty="0" err="1">
                <a:latin typeface="Consolas" panose="020B0609020204030204" pitchFamily="49" charset="0"/>
              </a:rPr>
              <a:t>lim_inf</a:t>
            </a:r>
            <a:r>
              <a:rPr lang="en-US" sz="2200" dirty="0">
                <a:latin typeface="Consolas" panose="020B0609020204030204" pitchFamily="49" charset="0"/>
              </a:rPr>
              <a:t> = Q1 - 1.5 * IQR</a:t>
            </a:r>
          </a:p>
          <a:p>
            <a:pPr marL="457200" lvl="1" indent="0">
              <a:buNone/>
            </a:pPr>
            <a:r>
              <a:rPr lang="en-US" sz="2200" dirty="0" err="1">
                <a:latin typeface="Consolas" panose="020B0609020204030204" pitchFamily="49" charset="0"/>
              </a:rPr>
              <a:t>lim_sup</a:t>
            </a:r>
            <a:r>
              <a:rPr lang="en-US" sz="2200" dirty="0">
                <a:latin typeface="Consolas" panose="020B0609020204030204" pitchFamily="49" charset="0"/>
              </a:rPr>
              <a:t> = Q3 + 1.5 * IQR</a:t>
            </a:r>
          </a:p>
          <a:p>
            <a:pPr marL="457200" lvl="1" indent="0">
              <a:buNone/>
            </a:pPr>
            <a:endParaRPr lang="en-US" sz="2200" dirty="0">
              <a:latin typeface="Consolas" panose="020B0609020204030204" pitchFamily="49" charset="0"/>
            </a:endParaRPr>
          </a:p>
          <a:p>
            <a:pPr marL="457200" lvl="1" indent="0">
              <a:buNone/>
            </a:pPr>
            <a:r>
              <a:rPr lang="en-US" sz="2200" dirty="0" err="1">
                <a:latin typeface="Consolas" panose="020B0609020204030204" pitchFamily="49" charset="0"/>
              </a:rPr>
              <a:t>df_sem_outliers_iqr</a:t>
            </a:r>
            <a:r>
              <a:rPr lang="en-US" sz="2200" dirty="0">
                <a:latin typeface="Consolas" panose="020B0609020204030204" pitchFamily="49" charset="0"/>
              </a:rPr>
              <a:t> = </a:t>
            </a:r>
            <a:r>
              <a:rPr lang="en-US" sz="2200" dirty="0" err="1">
                <a:latin typeface="Consolas" panose="020B0609020204030204" pitchFamily="49" charset="0"/>
              </a:rPr>
              <a:t>df</a:t>
            </a:r>
            <a:r>
              <a:rPr lang="en-US" sz="2200" dirty="0">
                <a:latin typeface="Consolas" panose="020B0609020204030204" pitchFamily="49" charset="0"/>
              </a:rPr>
              <a:t>[</a:t>
            </a:r>
          </a:p>
          <a:p>
            <a:pPr marL="457200" lvl="1" indent="0">
              <a:buNone/>
            </a:pPr>
            <a:r>
              <a:rPr lang="en-US" sz="2200" dirty="0">
                <a:latin typeface="Consolas" panose="020B0609020204030204" pitchFamily="49" charset="0"/>
              </a:rPr>
              <a:t>    (</a:t>
            </a:r>
            <a:r>
              <a:rPr lang="en-US" sz="2200" dirty="0" err="1">
                <a:latin typeface="Consolas" panose="020B0609020204030204" pitchFamily="49" charset="0"/>
              </a:rPr>
              <a:t>df</a:t>
            </a:r>
            <a:r>
              <a:rPr lang="en-US" sz="2200" dirty="0">
                <a:latin typeface="Consolas" panose="020B0609020204030204" pitchFamily="49" charset="0"/>
              </a:rPr>
              <a:t>['MPG-C'] &gt;= </a:t>
            </a:r>
            <a:r>
              <a:rPr lang="en-US" sz="2200" dirty="0" err="1">
                <a:latin typeface="Consolas" panose="020B0609020204030204" pitchFamily="49" charset="0"/>
              </a:rPr>
              <a:t>lim_inf</a:t>
            </a:r>
            <a:r>
              <a:rPr lang="en-US" sz="2200" dirty="0">
                <a:latin typeface="Consolas" panose="020B0609020204030204" pitchFamily="49" charset="0"/>
              </a:rPr>
              <a:t>) &amp;</a:t>
            </a:r>
          </a:p>
          <a:p>
            <a:pPr marL="457200" lvl="1" indent="0">
              <a:buNone/>
            </a:pPr>
            <a:r>
              <a:rPr lang="en-US" sz="2200" dirty="0">
                <a:latin typeface="Consolas" panose="020B0609020204030204" pitchFamily="49" charset="0"/>
              </a:rPr>
              <a:t>    (</a:t>
            </a:r>
            <a:r>
              <a:rPr lang="en-US" sz="2200" dirty="0" err="1">
                <a:latin typeface="Consolas" panose="020B0609020204030204" pitchFamily="49" charset="0"/>
              </a:rPr>
              <a:t>df</a:t>
            </a:r>
            <a:r>
              <a:rPr lang="en-US" sz="2200" dirty="0">
                <a:latin typeface="Consolas" panose="020B0609020204030204" pitchFamily="49" charset="0"/>
              </a:rPr>
              <a:t>['MPG-C'] &lt;= </a:t>
            </a:r>
            <a:r>
              <a:rPr lang="en-US" sz="2200" dirty="0" err="1">
                <a:latin typeface="Consolas" panose="020B0609020204030204" pitchFamily="49" charset="0"/>
              </a:rPr>
              <a:t>lim_sup</a:t>
            </a:r>
            <a:r>
              <a:rPr lang="en-US" sz="2200" dirty="0">
                <a:latin typeface="Consolas" panose="020B0609020204030204" pitchFamily="49" charset="0"/>
              </a:rPr>
              <a:t>)</a:t>
            </a:r>
          </a:p>
          <a:p>
            <a:pPr marL="457200" lvl="1" indent="0">
              <a:buNone/>
            </a:pPr>
            <a:r>
              <a:rPr lang="en-US" sz="2200" dirty="0">
                <a:latin typeface="Consolas" panose="020B0609020204030204" pitchFamily="49" charset="0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341511437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8DFF1BC-4B04-D176-4327-5B480C8A3A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3843E3E-8230-C24B-4F90-5E26B74A4A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99568"/>
            <a:ext cx="10515600" cy="105886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pt-BR" sz="5400" i="1" dirty="0"/>
              <a:t>Como as variáveis se relacionam?</a:t>
            </a:r>
          </a:p>
          <a:p>
            <a:pPr algn="ctr"/>
            <a:endParaRPr lang="en-US" sz="5400" i="1" dirty="0"/>
          </a:p>
        </p:txBody>
      </p:sp>
    </p:spTree>
    <p:extLst>
      <p:ext uri="{BB962C8B-B14F-4D97-AF65-F5344CB8AC3E}">
        <p14:creationId xmlns:p14="http://schemas.microsoft.com/office/powerpoint/2010/main" val="130752548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B87F4E2-A953-BA95-B11A-4967A8943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Relação entre variáveis</a:t>
            </a:r>
            <a:endParaRPr lang="en-US" dirty="0"/>
          </a:p>
        </p:txBody>
      </p:sp>
      <p:pic>
        <p:nvPicPr>
          <p:cNvPr id="2052" name="Picture 4" descr="Correlation is not causation">
            <a:extLst>
              <a:ext uri="{FF2B5EF4-FFF2-40B4-BE49-F238E27FC236}">
                <a16:creationId xmlns:a16="http://schemas.microsoft.com/office/drawing/2014/main" xmlns="" id="{60AD3142-014A-6193-D629-4BB0A9DD30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409" y="2017257"/>
            <a:ext cx="5449877" cy="388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ontent Placeholder 3">
            <a:extLst>
              <a:ext uri="{FF2B5EF4-FFF2-40B4-BE49-F238E27FC236}">
                <a16:creationId xmlns:a16="http://schemas.microsoft.com/office/drawing/2014/main" xmlns="" id="{2511B536-0992-FB4B-1DCF-E2E1616C8BCC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6096000" y="2141358"/>
            <a:ext cx="5891684" cy="427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pt-BR" sz="3200" b="1" dirty="0"/>
              <a:t>Objetivo</a:t>
            </a:r>
            <a:r>
              <a:rPr lang="en-US" sz="3200" dirty="0"/>
              <a:t>: </a:t>
            </a:r>
            <a:r>
              <a:rPr lang="pt-BR" sz="3200" dirty="0"/>
              <a:t>descobrir </a:t>
            </a:r>
            <a:r>
              <a:rPr lang="pt-BR" sz="3200" b="1" dirty="0">
                <a:solidFill>
                  <a:schemeClr val="accent5"/>
                </a:solidFill>
              </a:rPr>
              <a:t>padrões e estruturas (as vezes escondidas) </a:t>
            </a:r>
            <a:r>
              <a:rPr lang="pt-BR" sz="3200" dirty="0"/>
              <a:t>nos dados.</a:t>
            </a:r>
          </a:p>
          <a:p>
            <a:pPr marL="0" indent="0">
              <a:buNone/>
            </a:pPr>
            <a:endParaRPr lang="pt-BR" sz="3200" dirty="0"/>
          </a:p>
          <a:p>
            <a:pPr marL="0" indent="0">
              <a:buNone/>
            </a:pPr>
            <a:r>
              <a:rPr lang="pt-BR" sz="3200" dirty="0"/>
              <a:t>Relações entre variáveis revelam:</a:t>
            </a:r>
          </a:p>
          <a:p>
            <a:r>
              <a:rPr lang="pt-BR" sz="3200" dirty="0"/>
              <a:t>Tendências</a:t>
            </a:r>
          </a:p>
          <a:p>
            <a:r>
              <a:rPr lang="pt-BR" sz="3200" dirty="0"/>
              <a:t>Dependências</a:t>
            </a:r>
          </a:p>
          <a:p>
            <a:r>
              <a:rPr lang="pt-BR" sz="3200" dirty="0"/>
              <a:t>Agrupamentos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3647415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BE047855-7A3A-8DD9-CD0B-6DED2881EE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BA4F40D-E284-8F76-174B-A3BA30632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Relação entre variáveis</a:t>
            </a:r>
            <a:endParaRPr lang="en-US" dirty="0"/>
          </a:p>
        </p:txBody>
      </p:sp>
      <p:pic>
        <p:nvPicPr>
          <p:cNvPr id="2050" name="Picture 2" descr="Correlation vs causation - don't let them fool you - Aspect Market Research">
            <a:extLst>
              <a:ext uri="{FF2B5EF4-FFF2-40B4-BE49-F238E27FC236}">
                <a16:creationId xmlns:a16="http://schemas.microsoft.com/office/drawing/2014/main" xmlns="" id="{120B10EC-553A-6C62-98FB-7F2D3164DB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314" y="2028143"/>
            <a:ext cx="5247961" cy="37167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5ECC14B3-C0EE-4107-4C24-7E4D3D3F5919}"/>
              </a:ext>
            </a:extLst>
          </p:cNvPr>
          <p:cNvSpPr txBox="1"/>
          <p:nvPr/>
        </p:nvSpPr>
        <p:spPr>
          <a:xfrm>
            <a:off x="6193971" y="2132213"/>
            <a:ext cx="545971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dirty="0"/>
              <a:t>Importante!</a:t>
            </a:r>
          </a:p>
          <a:p>
            <a:pPr algn="ctr"/>
            <a:r>
              <a:rPr lang="en-US" sz="3600" b="1" dirty="0" err="1"/>
              <a:t>Correlação</a:t>
            </a:r>
            <a:r>
              <a:rPr lang="en-US" sz="3600" b="1" dirty="0"/>
              <a:t> </a:t>
            </a:r>
            <a:r>
              <a:rPr lang="en-US" sz="3600" b="1" dirty="0" err="1"/>
              <a:t>não</a:t>
            </a:r>
            <a:r>
              <a:rPr lang="en-US" sz="3600" b="1" dirty="0"/>
              <a:t> </a:t>
            </a:r>
            <a:r>
              <a:rPr lang="en-US" sz="3600" b="1" dirty="0" err="1"/>
              <a:t>implica</a:t>
            </a:r>
            <a:r>
              <a:rPr lang="en-US" sz="3600" b="1" dirty="0"/>
              <a:t> </a:t>
            </a:r>
            <a:r>
              <a:rPr lang="en-US" sz="3600" b="1" dirty="0" err="1"/>
              <a:t>causalidade</a:t>
            </a:r>
            <a:endParaRPr lang="en-US" sz="3600" b="1" dirty="0"/>
          </a:p>
          <a:p>
            <a:pPr algn="ctr"/>
            <a:endParaRPr lang="en-US" sz="3600" b="1" dirty="0"/>
          </a:p>
          <a:p>
            <a:pPr algn="ctr"/>
            <a:endParaRPr lang="en-US" sz="3600" b="1" dirty="0"/>
          </a:p>
          <a:p>
            <a:pPr algn="ctr"/>
            <a:r>
              <a:rPr lang="en-US" sz="3600" b="1" dirty="0">
                <a:solidFill>
                  <a:schemeClr val="accent5"/>
                </a:solidFill>
              </a:rPr>
              <a:t>Comer </a:t>
            </a:r>
            <a:r>
              <a:rPr lang="en-US" sz="3600" b="1" dirty="0" err="1">
                <a:solidFill>
                  <a:schemeClr val="accent5"/>
                </a:solidFill>
              </a:rPr>
              <a:t>frango</a:t>
            </a:r>
            <a:r>
              <a:rPr lang="en-US" sz="3600" b="1" dirty="0">
                <a:solidFill>
                  <a:schemeClr val="accent5"/>
                </a:solidFill>
              </a:rPr>
              <a:t> </a:t>
            </a:r>
            <a:r>
              <a:rPr lang="en-US" sz="3600" b="1" dirty="0" err="1">
                <a:solidFill>
                  <a:schemeClr val="accent5"/>
                </a:solidFill>
              </a:rPr>
              <a:t>não</a:t>
            </a:r>
            <a:r>
              <a:rPr lang="en-US" sz="3600" b="1" dirty="0">
                <a:solidFill>
                  <a:schemeClr val="accent5"/>
                </a:solidFill>
              </a:rPr>
              <a:t> </a:t>
            </a:r>
            <a:r>
              <a:rPr lang="en-US" sz="3600" b="1" dirty="0" err="1">
                <a:solidFill>
                  <a:schemeClr val="accent5"/>
                </a:solidFill>
              </a:rPr>
              <a:t>te</a:t>
            </a:r>
            <a:r>
              <a:rPr lang="en-US" sz="3600" b="1" dirty="0">
                <a:solidFill>
                  <a:schemeClr val="accent5"/>
                </a:solidFill>
              </a:rPr>
              <a:t> </a:t>
            </a:r>
            <a:r>
              <a:rPr lang="en-US" sz="3600" b="1" dirty="0" err="1">
                <a:solidFill>
                  <a:schemeClr val="accent5"/>
                </a:solidFill>
              </a:rPr>
              <a:t>faz</a:t>
            </a:r>
            <a:r>
              <a:rPr lang="en-US" sz="3600" b="1" dirty="0">
                <a:solidFill>
                  <a:schemeClr val="accent5"/>
                </a:solidFill>
              </a:rPr>
              <a:t> </a:t>
            </a:r>
            <a:r>
              <a:rPr lang="en-US" sz="3600" b="1" dirty="0" err="1">
                <a:solidFill>
                  <a:schemeClr val="accent5"/>
                </a:solidFill>
              </a:rPr>
              <a:t>ir</a:t>
            </a:r>
            <a:r>
              <a:rPr lang="en-US" sz="3600" b="1" dirty="0">
                <a:solidFill>
                  <a:schemeClr val="accent5"/>
                </a:solidFill>
              </a:rPr>
              <a:t> para a </a:t>
            </a:r>
            <a:r>
              <a:rPr lang="en-US" sz="3600" b="1" dirty="0" err="1">
                <a:solidFill>
                  <a:schemeClr val="accent5"/>
                </a:solidFill>
              </a:rPr>
              <a:t>lua</a:t>
            </a:r>
            <a:r>
              <a:rPr lang="en-US" sz="3600" b="1" dirty="0">
                <a:solidFill>
                  <a:schemeClr val="accent5"/>
                </a:solidFill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408095564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C16AAD1-E005-000D-6949-40CF9C67F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Relação entre variáveis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A736D01-EFE2-E85C-18C7-A36B691900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1182005" cy="5032375"/>
          </a:xfrm>
        </p:spPr>
        <p:txBody>
          <a:bodyPr>
            <a:normAutofit/>
          </a:bodyPr>
          <a:lstStyle/>
          <a:p>
            <a:r>
              <a:rPr lang="pt-BR" dirty="0"/>
              <a:t>Ao analisar os dados, podemos encontrar relações como: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Preço do carro ↑ conforme a potência ↑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Eficiência energética do carro ↓ conforme o peso ↑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xmlns="" id="{29C74DE0-9C06-95D0-0D1E-0DF5915FC71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0535" b="5324"/>
          <a:stretch>
            <a:fillRect/>
          </a:stretch>
        </p:blipFill>
        <p:spPr>
          <a:xfrm>
            <a:off x="1913164" y="3429000"/>
            <a:ext cx="8365671" cy="3019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564533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24D2832F-101E-1A13-A85A-D92875643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0B81C39-DBCC-4B6B-AEB6-37BD245975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Relação entre variáveis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5A96C59-6F7E-3A93-19A9-B256361B58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1353799" cy="5032375"/>
          </a:xfrm>
        </p:spPr>
        <p:txBody>
          <a:bodyPr>
            <a:normAutofit lnSpcReduction="10000"/>
          </a:bodyPr>
          <a:lstStyle/>
          <a:p>
            <a:r>
              <a:rPr lang="pt-BR" noProof="0" dirty="0"/>
              <a:t>Relações entre variáveis ajudam a: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noProof="0" dirty="0"/>
              <a:t>selecionar atributos relevantes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pt-BR" noProof="0" dirty="0"/>
              <a:t>Quais atributos realmente influenciam o </a:t>
            </a:r>
            <a:r>
              <a:rPr lang="pt-BR" i="1" noProof="0" dirty="0"/>
              <a:t>target</a:t>
            </a:r>
            <a:r>
              <a:rPr lang="pt-BR" noProof="0" dirty="0"/>
              <a:t> (i.e., o rótulo)?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noProof="0" dirty="0"/>
              <a:t>remover atributos redundantes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pt-BR" dirty="0"/>
              <a:t>M</a:t>
            </a:r>
            <a:r>
              <a:rPr lang="pt-BR" noProof="0" dirty="0" err="1"/>
              <a:t>anter</a:t>
            </a:r>
            <a:r>
              <a:rPr lang="pt-BR" noProof="0" dirty="0"/>
              <a:t> variáveis que possuem </a:t>
            </a:r>
            <a:r>
              <a:rPr lang="pt-BR" b="1" noProof="0" dirty="0">
                <a:solidFill>
                  <a:srgbClr val="00B050"/>
                </a:solidFill>
              </a:rPr>
              <a:t>i</a:t>
            </a:r>
            <a:r>
              <a:rPr lang="pt-BR" b="1" dirty="0" err="1">
                <a:solidFill>
                  <a:srgbClr val="00B050"/>
                </a:solidFill>
              </a:rPr>
              <a:t>nformação</a:t>
            </a:r>
            <a:r>
              <a:rPr lang="pt-BR" b="1" dirty="0">
                <a:solidFill>
                  <a:srgbClr val="00B050"/>
                </a:solidFill>
              </a:rPr>
              <a:t> muito semelhante</a:t>
            </a:r>
            <a:r>
              <a:rPr lang="pt-BR" dirty="0"/>
              <a:t> </a:t>
            </a:r>
            <a:r>
              <a:rPr lang="pt-BR" noProof="0" dirty="0"/>
              <a:t>pode acrescentar </a:t>
            </a:r>
            <a:r>
              <a:rPr lang="pt-BR" b="1" noProof="0" dirty="0">
                <a:solidFill>
                  <a:srgbClr val="0070C0"/>
                </a:solidFill>
              </a:rPr>
              <a:t>pouca informação preditiva</a:t>
            </a:r>
            <a:r>
              <a:rPr lang="pt-BR" noProof="0" dirty="0"/>
              <a:t> ao modelo e </a:t>
            </a:r>
            <a:r>
              <a:rPr lang="pt-BR" noProof="0" dirty="0" err="1"/>
              <a:t>deixá</a:t>
            </a:r>
            <a:r>
              <a:rPr lang="pt-BR" dirty="0"/>
              <a:t>-</a:t>
            </a:r>
            <a:r>
              <a:rPr lang="pt-BR" noProof="0" dirty="0" err="1"/>
              <a:t>lo</a:t>
            </a:r>
            <a:r>
              <a:rPr lang="pt-BR" noProof="0" dirty="0"/>
              <a:t> </a:t>
            </a:r>
            <a:r>
              <a:rPr lang="pt-BR" b="1" noProof="0" dirty="0">
                <a:solidFill>
                  <a:srgbClr val="0070C0"/>
                </a:solidFill>
              </a:rPr>
              <a:t>mais complexo</a:t>
            </a:r>
            <a:r>
              <a:rPr lang="pt-BR" noProof="0" dirty="0"/>
              <a:t>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noProof="0" dirty="0"/>
              <a:t>detectar </a:t>
            </a:r>
            <a:r>
              <a:rPr lang="pt-BR" noProof="0" dirty="0" err="1"/>
              <a:t>multicolinearidade</a:t>
            </a:r>
            <a:endParaRPr lang="pt-BR" noProof="0" dirty="0"/>
          </a:p>
          <a:p>
            <a:pPr lvl="2">
              <a:buFont typeface="Courier New" panose="02070309020205020404" pitchFamily="49" charset="0"/>
              <a:buChar char="o"/>
            </a:pPr>
            <a:r>
              <a:rPr lang="pt-BR" noProof="0" dirty="0"/>
              <a:t>É quando </a:t>
            </a:r>
            <a:r>
              <a:rPr lang="pt-BR" b="1" noProof="0" dirty="0">
                <a:solidFill>
                  <a:srgbClr val="7030A0"/>
                </a:solidFill>
              </a:rPr>
              <a:t>dois ou mais </a:t>
            </a:r>
            <a:r>
              <a:rPr lang="pt-BR" b="1" noProof="0" dirty="0">
                <a:solidFill>
                  <a:schemeClr val="accent2"/>
                </a:solidFill>
              </a:rPr>
              <a:t>atributos</a:t>
            </a:r>
            <a:r>
              <a:rPr lang="pt-BR" b="1" noProof="0" dirty="0">
                <a:solidFill>
                  <a:srgbClr val="7030A0"/>
                </a:solidFill>
              </a:rPr>
              <a:t> estão altamente correlacionados</a:t>
            </a:r>
            <a:r>
              <a:rPr lang="pt-BR" noProof="0" dirty="0"/>
              <a:t> entre si, afetando negativamente a</a:t>
            </a:r>
          </a:p>
          <a:p>
            <a:pPr lvl="3">
              <a:buFont typeface="Wingdings" panose="05000000000000000000" pitchFamily="2" charset="2"/>
              <a:buChar char="ü"/>
            </a:pPr>
            <a:r>
              <a:rPr lang="pt-BR" noProof="0" dirty="0"/>
              <a:t>interpretação dos coeficientes dos modelos,</a:t>
            </a:r>
          </a:p>
          <a:p>
            <a:pPr lvl="3">
              <a:buFont typeface="Wingdings" panose="05000000000000000000" pitchFamily="2" charset="2"/>
              <a:buChar char="ü"/>
            </a:pPr>
            <a:r>
              <a:rPr lang="pt-BR" noProof="0" dirty="0"/>
              <a:t>generalização do modelo, levando a modelos instáveis,</a:t>
            </a:r>
          </a:p>
          <a:p>
            <a:pPr lvl="3">
              <a:buFont typeface="Wingdings" panose="05000000000000000000" pitchFamily="2" charset="2"/>
              <a:buChar char="ü"/>
            </a:pPr>
            <a:r>
              <a:rPr lang="pt-BR" noProof="0" dirty="0"/>
              <a:t>predição dos modelos de ML.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noProof="0" dirty="0"/>
              <a:t>escolher modelos de ML adequados</a:t>
            </a:r>
            <a:endParaRPr lang="pt-BR" dirty="0"/>
          </a:p>
          <a:p>
            <a:pPr lvl="2">
              <a:buFont typeface="Courier New" panose="02070309020205020404" pitchFamily="49" charset="0"/>
              <a:buChar char="o"/>
            </a:pPr>
            <a:r>
              <a:rPr lang="pt-BR" noProof="0" dirty="0"/>
              <a:t>Relações lineares: por exemplo, </a:t>
            </a:r>
            <a:r>
              <a:rPr lang="pt-BR" noProof="0" dirty="0" err="1"/>
              <a:t>regress</a:t>
            </a:r>
            <a:r>
              <a:rPr lang="pt-BR" dirty="0" err="1"/>
              <a:t>ão</a:t>
            </a:r>
            <a:r>
              <a:rPr lang="pt-BR" dirty="0"/>
              <a:t> linear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pt-BR" noProof="0" dirty="0"/>
              <a:t>Relações não lineares: por exemplo, árvores de decisão</a:t>
            </a:r>
          </a:p>
        </p:txBody>
      </p:sp>
    </p:spTree>
    <p:extLst>
      <p:ext uri="{BB962C8B-B14F-4D97-AF65-F5344CB8AC3E}">
        <p14:creationId xmlns:p14="http://schemas.microsoft.com/office/powerpoint/2010/main" val="73987487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E741909-8216-9D2D-594A-1091741F04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747335C-F504-5D32-BB1B-9B0D7009D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Relação entre variáveis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354E877-5175-E486-9E2F-39817E906B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1353799" cy="5032375"/>
          </a:xfrm>
        </p:spPr>
        <p:txBody>
          <a:bodyPr>
            <a:normAutofit/>
          </a:bodyPr>
          <a:lstStyle/>
          <a:p>
            <a:r>
              <a:rPr lang="pt-BR" dirty="0"/>
              <a:t>Para analisar essas relações usamos: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Matriz de correlação (</a:t>
            </a:r>
            <a:r>
              <a:rPr lang="pt-BR" i="1" dirty="0" err="1"/>
              <a:t>heatmap</a:t>
            </a:r>
            <a:r>
              <a:rPr lang="pt-BR" dirty="0"/>
              <a:t>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Diagrama de dispersão (</a:t>
            </a:r>
            <a:r>
              <a:rPr lang="pt-BR" i="1" dirty="0" err="1"/>
              <a:t>scatterplot</a:t>
            </a:r>
            <a:r>
              <a:rPr lang="pt-BR" dirty="0"/>
              <a:t>)</a:t>
            </a:r>
          </a:p>
        </p:txBody>
      </p:sp>
      <p:pic>
        <p:nvPicPr>
          <p:cNvPr id="1026" name="Picture 2" descr="Scatter Plot - Quality Improvement - ELFT">
            <a:extLst>
              <a:ext uri="{FF2B5EF4-FFF2-40B4-BE49-F238E27FC236}">
                <a16:creationId xmlns:a16="http://schemas.microsoft.com/office/drawing/2014/main" xmlns="" id="{1A635F70-65D3-D2A1-267F-519E5EE2FD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2078" y="3358242"/>
            <a:ext cx="5560721" cy="3406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Demystifying the Correlation Matrix in Data Science | Towards ...">
            <a:extLst>
              <a:ext uri="{FF2B5EF4-FFF2-40B4-BE49-F238E27FC236}">
                <a16:creationId xmlns:a16="http://schemas.microsoft.com/office/drawing/2014/main" xmlns="" id="{B6E1719E-47EB-C0A6-CCC3-194BC97071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2114" y="3429000"/>
            <a:ext cx="4014679" cy="32646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8195388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C16AAD1-E005-000D-6949-40CF9C67F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515601" cy="1325563"/>
          </a:xfrm>
        </p:spPr>
        <p:txBody>
          <a:bodyPr/>
          <a:lstStyle/>
          <a:p>
            <a:r>
              <a:rPr lang="en-US" dirty="0" err="1"/>
              <a:t>Matriz</a:t>
            </a:r>
            <a:r>
              <a:rPr lang="en-US" dirty="0"/>
              <a:t> de </a:t>
            </a:r>
            <a:r>
              <a:rPr lang="en-US" dirty="0" err="1"/>
              <a:t>correlação</a:t>
            </a:r>
            <a:r>
              <a:rPr lang="en-US" dirty="0"/>
              <a:t> (</a:t>
            </a:r>
            <a:r>
              <a:rPr lang="pt-BR" i="1" dirty="0" err="1"/>
              <a:t>heatmap</a:t>
            </a:r>
            <a:r>
              <a:rPr lang="pt-BR" dirty="0"/>
              <a:t>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="" id="{9A736D01-EFE2-E85C-18C7-A36B6919003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4"/>
                <a:ext cx="11168744" cy="5032375"/>
              </a:xfrm>
            </p:spPr>
            <p:txBody>
              <a:bodyPr>
                <a:normAutofit/>
              </a:bodyPr>
              <a:lstStyle/>
              <a:p>
                <a:r>
                  <a:rPr lang="pt-BR" dirty="0"/>
                  <a:t>O </a:t>
                </a:r>
                <a:r>
                  <a:rPr lang="pt-BR" i="1" dirty="0" err="1"/>
                  <a:t>heatmap</a:t>
                </a:r>
                <a:r>
                  <a:rPr lang="pt-BR" dirty="0"/>
                  <a:t> mostra, de forma visual, o </a:t>
                </a:r>
                <a:r>
                  <a:rPr lang="pt-BR" b="1" dirty="0">
                    <a:solidFill>
                      <a:srgbClr val="00B050"/>
                    </a:solidFill>
                  </a:rPr>
                  <a:t>grau de relação </a:t>
                </a:r>
                <a:r>
                  <a:rPr lang="pt-BR" b="1" dirty="0">
                    <a:solidFill>
                      <a:srgbClr val="7030A0"/>
                    </a:solidFill>
                  </a:rPr>
                  <a:t>linear</a:t>
                </a:r>
                <a:r>
                  <a:rPr lang="pt-BR" b="1" dirty="0">
                    <a:solidFill>
                      <a:srgbClr val="00B050"/>
                    </a:solidFill>
                  </a:rPr>
                  <a:t> </a:t>
                </a:r>
                <a:r>
                  <a:rPr lang="pt-BR" dirty="0"/>
                  <a:t>entre </a:t>
                </a:r>
                <a:r>
                  <a:rPr lang="pt-BR" b="1" dirty="0">
                    <a:solidFill>
                      <a:srgbClr val="00B050"/>
                    </a:solidFill>
                  </a:rPr>
                  <a:t>pares</a:t>
                </a:r>
                <a:r>
                  <a:rPr lang="pt-BR" dirty="0"/>
                  <a:t> de variáveis </a:t>
                </a:r>
                <a:r>
                  <a:rPr lang="pt-BR" b="1" dirty="0">
                    <a:solidFill>
                      <a:schemeClr val="accent2"/>
                    </a:solidFill>
                  </a:rPr>
                  <a:t>numéricas</a:t>
                </a:r>
                <a:r>
                  <a:rPr lang="pt-BR" dirty="0"/>
                  <a:t>.</a:t>
                </a:r>
              </a:p>
              <a:p>
                <a:r>
                  <a:rPr lang="pt-BR" b="1" dirty="0">
                    <a:solidFill>
                      <a:schemeClr val="accent1"/>
                    </a:solidFill>
                  </a:rPr>
                  <a:t>Por padrão, cada elemento </a:t>
                </a:r>
                <a:r>
                  <a:rPr lang="pt-BR" dirty="0"/>
                  <a:t>da matriz é calculado usando-se o </a:t>
                </a:r>
                <a:r>
                  <a:rPr lang="pt-BR" b="1" dirty="0">
                    <a:solidFill>
                      <a:srgbClr val="00B0F0"/>
                    </a:solidFill>
                  </a:rPr>
                  <a:t>coeficiente de correlação de Pearson</a:t>
                </a:r>
                <a:r>
                  <a:rPr lang="pt-BR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𝜌</m:t>
                      </m:r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limLoc m:val="subSup"/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pt-B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pt-B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)(</m:t>
                              </m:r>
                              <m:sSub>
                                <m:sSubPr>
                                  <m:ctrlPr>
                                    <a:rPr lang="pt-B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pt-B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pt-B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num>
                        <m:den>
                          <m:rad>
                            <m:radPr>
                              <m:degHide m:val="on"/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nary>
                                <m:naryPr>
                                  <m:chr m:val="∑"/>
                                  <m:limLoc m:val="subSup"/>
                                  <m:ctrlPr>
                                    <a:rPr lang="pt-B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5"/>
                                    </m:rPr>
                                    <a:rPr lang="pt-B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pt-B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pt-B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𝑁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pt-B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(</m:t>
                                      </m:r>
                                      <m:sSub>
                                        <m:sSubPr>
                                          <m:ctrlPr>
                                            <a:rPr lang="pt-BR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pt-BR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pt-BR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𝜇</m:t>
                                          </m:r>
                                        </m:e>
                                        <m:sub>
                                          <m:r>
                                            <a:rPr lang="pt-BR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sub>
                                      </m:sSub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  <m:sup>
                                      <m:r>
                                        <a:rPr lang="pt-BR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</m:rad>
                          <m:rad>
                            <m:radPr>
                              <m:degHide m:val="on"/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nary>
                                <m:naryPr>
                                  <m:chr m:val="∑"/>
                                  <m:limLoc m:val="subSup"/>
                                  <m:ctrlPr>
                                    <a:rPr lang="pt-B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5"/>
                                    </m:rPr>
                                    <a:rPr lang="pt-B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pt-B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pt-B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𝑁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pt-B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(</m:t>
                                      </m:r>
                                      <m:sSub>
                                        <m:sSubPr>
                                          <m:ctrlPr>
                                            <a:rPr lang="pt-BR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pt-BR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pt-BR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𝜇</m:t>
                                          </m:r>
                                        </m:e>
                                        <m:sub>
                                          <m:r>
                                            <a:rPr lang="pt-BR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sub>
                                      </m:sSub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  <m:sup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</m:rad>
                        </m:den>
                      </m:f>
                      <m:r>
                        <a:rPr lang="pt-B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pt-BR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cov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m:rPr>
                                  <m:sty m:val="p"/>
                                </m:rPr>
                                <a:rPr lang="pt-BR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var</m:t>
                              </m:r>
                              <m:d>
                                <m:dPr>
                                  <m:ctrlPr>
                                    <a:rPr lang="pt-B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pt-BR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var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pt-BR" dirty="0"/>
              </a:p>
              <a:p>
                <a:r>
                  <a:rPr lang="pt-BR" dirty="0"/>
                  <a:t>Os valores de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pt-BR" dirty="0"/>
                  <a:t> variam de −1 a +1.</a:t>
                </a:r>
              </a:p>
              <a:p>
                <a:r>
                  <a:rPr lang="pt-BR" dirty="0"/>
                  <a:t>Vamos ver como interpretar o coeficiente.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A736D01-EFE2-E85C-18C7-A36B6919003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4"/>
                <a:ext cx="11168744" cy="5032375"/>
              </a:xfrm>
              <a:blipFill>
                <a:blip r:embed="rId3"/>
                <a:stretch>
                  <a:fillRect l="-927" t="-1937" r="-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2160327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B4682FD-3BF2-6050-A02E-9CBB3217B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Correlação</a:t>
            </a:r>
            <a:r>
              <a:rPr lang="en-US" dirty="0"/>
              <a:t> de Pearson</a:t>
            </a:r>
          </a:p>
        </p:txBody>
      </p:sp>
      <p:pic>
        <p:nvPicPr>
          <p:cNvPr id="4098" name="Picture 2" descr="Pearson correlation coefficient - Wikipedia">
            <a:extLst>
              <a:ext uri="{FF2B5EF4-FFF2-40B4-BE49-F238E27FC236}">
                <a16:creationId xmlns:a16="http://schemas.microsoft.com/office/drawing/2014/main" xmlns="" id="{CAC5840A-55EB-73F3-FDFB-546B6FDD35B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87"/>
          <a:stretch>
            <a:fillRect/>
          </a:stretch>
        </p:blipFill>
        <p:spPr bwMode="auto">
          <a:xfrm>
            <a:off x="0" y="2348059"/>
            <a:ext cx="6868886" cy="3236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xmlns="" id="{F437E365-32B3-E6CD-0A65-EA8C6CA661C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868886" y="1825624"/>
                <a:ext cx="5214257" cy="5032375"/>
              </a:xfrm>
            </p:spPr>
            <p:txBody>
              <a:bodyPr>
                <a:normAutofit lnSpcReduction="10000"/>
              </a:bodyPr>
              <a:lstStyle/>
              <a:p>
                <a14:m>
                  <m:oMath xmlns:m="http://schemas.openxmlformats.org/officeDocument/2006/math">
                    <m:r>
                      <a:rPr lang="pt-B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pt-BR" dirty="0"/>
                  <a:t>: Quando uma variável aumenta, a outra também aumenta.</a:t>
                </a:r>
              </a:p>
              <a:p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pt-BR" dirty="0"/>
                  <a:t>: Quando uma variável aumenta, a outra diminui.</a:t>
                </a:r>
              </a:p>
              <a:p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=±1</m:t>
                    </m:r>
                  </m:oMath>
                </a14:m>
                <a:r>
                  <a:rPr lang="pt-BR" dirty="0"/>
                  <a:t>, pontos formam uma </a:t>
                </a:r>
                <a:r>
                  <a:rPr lang="pt-BR" b="1" dirty="0">
                    <a:solidFill>
                      <a:schemeClr val="accent2"/>
                    </a:solidFill>
                  </a:rPr>
                  <a:t>linha reta perfeita</a:t>
                </a:r>
                <a:r>
                  <a:rPr lang="pt-BR" dirty="0"/>
                  <a:t>. 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-1 </a:t>
                </a:r>
                <a:r>
                  <a:rPr lang="en-US" dirty="0" err="1"/>
                  <a:t>relação</a:t>
                </a:r>
                <a:r>
                  <a:rPr lang="en-US" dirty="0"/>
                  <a:t> </a:t>
                </a:r>
                <a:r>
                  <a:rPr lang="en-US" dirty="0" err="1"/>
                  <a:t>inversa</a:t>
                </a:r>
                <a:r>
                  <a:rPr lang="pt-BR" dirty="0"/>
                  <a:t>.</a:t>
                </a:r>
              </a:p>
              <a:p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0</m:t>
                    </m:r>
                  </m:oMath>
                </a14:m>
                <a:r>
                  <a:rPr lang="pt-BR" dirty="0"/>
                  <a:t>: Os pontos estão espalhados </a:t>
                </a:r>
                <a:r>
                  <a:rPr lang="pt-BR" b="1" dirty="0">
                    <a:solidFill>
                      <a:srgbClr val="7030A0"/>
                    </a:solidFill>
                  </a:rPr>
                  <a:t>sem direção clara</a:t>
                </a:r>
                <a:r>
                  <a:rPr lang="pt-BR" dirty="0"/>
                  <a:t>, como uma "nuvem”.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b="1" dirty="0">
                    <a:solidFill>
                      <a:srgbClr val="00B050"/>
                    </a:solidFill>
                  </a:rPr>
                  <a:t>Não há relação linear clara </a:t>
                </a:r>
                <a:r>
                  <a:rPr lang="pt-BR" dirty="0"/>
                  <a:t>entre as variáveis.</a:t>
                </a:r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F437E365-32B3-E6CD-0A65-EA8C6CA661C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68886" y="1825624"/>
                <a:ext cx="5214257" cy="5032375"/>
              </a:xfrm>
              <a:blipFill>
                <a:blip r:embed="rId4"/>
                <a:stretch>
                  <a:fillRect t="-26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tângulo 2">
            <a:extLst>
              <a:ext uri="{FF2B5EF4-FFF2-40B4-BE49-F238E27FC236}">
                <a16:creationId xmlns:a16="http://schemas.microsoft.com/office/drawing/2014/main" xmlns="" id="{6EA11738-D43F-BD5C-51CA-69992230B744}"/>
              </a:ext>
            </a:extLst>
          </p:cNvPr>
          <p:cNvSpPr/>
          <p:nvPr/>
        </p:nvSpPr>
        <p:spPr>
          <a:xfrm>
            <a:off x="30144" y="2190541"/>
            <a:ext cx="6772589" cy="123845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85484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2F735A3-55E4-A8B7-6797-060E1E07F7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2FA68C6-A7AE-2D74-29E2-3ACDBF11D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Correlação</a:t>
            </a:r>
            <a:r>
              <a:rPr lang="en-US" dirty="0"/>
              <a:t> de Pearson</a:t>
            </a:r>
          </a:p>
        </p:txBody>
      </p:sp>
      <p:pic>
        <p:nvPicPr>
          <p:cNvPr id="4098" name="Picture 2" descr="Pearson correlation coefficient - Wikipedia">
            <a:extLst>
              <a:ext uri="{FF2B5EF4-FFF2-40B4-BE49-F238E27FC236}">
                <a16:creationId xmlns:a16="http://schemas.microsoft.com/office/drawing/2014/main" xmlns="" id="{1D4C6227-26B8-F9FA-1251-FABD63BCDDD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87"/>
          <a:stretch>
            <a:fillRect/>
          </a:stretch>
        </p:blipFill>
        <p:spPr bwMode="auto">
          <a:xfrm>
            <a:off x="50240" y="2348059"/>
            <a:ext cx="6868886" cy="3236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xmlns="" id="{C465CDB9-2D26-C4F4-1329-EBF75E5BB07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919126" y="1825624"/>
                <a:ext cx="5272874" cy="5032375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pt-BR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pt-BR" noProof="0" dirty="0"/>
                  <a:t> </a:t>
                </a:r>
                <a:r>
                  <a:rPr lang="pt-BR" b="1" noProof="0" dirty="0">
                    <a:solidFill>
                      <a:srgbClr val="00B050"/>
                    </a:solidFill>
                  </a:rPr>
                  <a:t>não depende da inclinação</a:t>
                </a:r>
                <a:r>
                  <a:rPr lang="pt-BR" noProof="0" dirty="0"/>
                  <a:t>, </a:t>
                </a:r>
                <a:r>
                  <a:rPr lang="pt-BR" b="1" dirty="0">
                    <a:solidFill>
                      <a:srgbClr val="0070C0"/>
                    </a:solidFill>
                  </a:rPr>
                  <a:t>mas de quão próximos os dados estão de uma </a:t>
                </a:r>
                <a:r>
                  <a:rPr lang="pt-BR" b="1" dirty="0"/>
                  <a:t>reta</a:t>
                </a:r>
                <a:r>
                  <a:rPr lang="pt-BR" dirty="0"/>
                  <a:t>.</a:t>
                </a:r>
                <a:endParaRPr lang="pt-BR" noProof="0" dirty="0"/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noProof="0" dirty="0"/>
                  <a:t>Inclinações mais ou menos acentuadas resultam no mesmo </a:t>
                </a:r>
                <a14:m>
                  <m:oMath xmlns:m="http://schemas.openxmlformats.org/officeDocument/2006/math">
                    <m:r>
                      <a:rPr lang="pt-BR" i="1" noProof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pt-BR" noProof="0" dirty="0"/>
                  <a:t>.</a:t>
                </a:r>
              </a:p>
              <a:p>
                <a14:m>
                  <m:oMath xmlns:m="http://schemas.openxmlformats.org/officeDocument/2006/math">
                    <m:r>
                      <a:rPr lang="pt-BR" i="1" noProof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pt-BR" noProof="0" dirty="0"/>
                  <a:t> </a:t>
                </a:r>
                <a:r>
                  <a:rPr lang="pt-BR" b="1" noProof="0" dirty="0">
                    <a:solidFill>
                      <a:srgbClr val="7030A0"/>
                    </a:solidFill>
                  </a:rPr>
                  <a:t>também é igual a 0</a:t>
                </a:r>
                <a:r>
                  <a:rPr lang="pt-BR" noProof="0" dirty="0"/>
                  <a:t> se a correlação é </a:t>
                </a:r>
                <a:r>
                  <a:rPr lang="pt-BR" b="1" noProof="0" dirty="0">
                    <a:solidFill>
                      <a:schemeClr val="accent2"/>
                    </a:solidFill>
                  </a:rPr>
                  <a:t>não-linear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>
                    <a:ea typeface="Cambria Math" panose="02040503050406030204" pitchFamily="18" charset="0"/>
                  </a:rPr>
                  <a:t>Mesmo que exista uma relação não linear bem definida entre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pt-BR" dirty="0">
                    <a:ea typeface="Cambria Math" panose="02040503050406030204" pitchFamily="18" charset="0"/>
                  </a:rPr>
                  <a:t> e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pt-BR" dirty="0"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pt-BR" dirty="0"/>
                  <a:t> será 0.</a:t>
                </a:r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C465CDB9-2D26-C4F4-1329-EBF75E5BB07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919126" y="1825624"/>
                <a:ext cx="5272874" cy="5032375"/>
              </a:xfrm>
              <a:blipFill>
                <a:blip r:embed="rId4"/>
                <a:stretch>
                  <a:fillRect t="-1937" r="-26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tângulo 4">
            <a:extLst>
              <a:ext uri="{FF2B5EF4-FFF2-40B4-BE49-F238E27FC236}">
                <a16:creationId xmlns:a16="http://schemas.microsoft.com/office/drawing/2014/main" xmlns="" id="{DAF2BEA4-F68E-3561-C84A-401548312864}"/>
              </a:ext>
            </a:extLst>
          </p:cNvPr>
          <p:cNvSpPr/>
          <p:nvPr/>
        </p:nvSpPr>
        <p:spPr>
          <a:xfrm>
            <a:off x="20096" y="3346101"/>
            <a:ext cx="6802733" cy="223809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52729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591650BA-EF4C-8107-738D-B3A668E1B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Matriz</a:t>
            </a:r>
            <a:r>
              <a:rPr lang="en-US" dirty="0"/>
              <a:t> de </a:t>
            </a:r>
            <a:r>
              <a:rPr lang="en-US" dirty="0" err="1"/>
              <a:t>correlação</a:t>
            </a:r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A2D7079D-113B-42A0-0905-21794F4ECC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66470" y="1825625"/>
            <a:ext cx="5691552" cy="4351338"/>
          </a:xfrm>
        </p:spPr>
        <p:txBody>
          <a:bodyPr/>
          <a:lstStyle/>
          <a:p>
            <a:r>
              <a:rPr lang="pt-BR" noProof="0" dirty="0"/>
              <a:t>A </a:t>
            </a:r>
            <a:r>
              <a:rPr lang="pt-BR" b="1" noProof="0" dirty="0"/>
              <a:t>matriz de correlação</a:t>
            </a:r>
            <a:r>
              <a:rPr lang="pt-BR" noProof="0" dirty="0"/>
              <a:t> é criada calculando a </a:t>
            </a:r>
            <a:r>
              <a:rPr lang="pt-BR" b="1" noProof="0" dirty="0">
                <a:solidFill>
                  <a:srgbClr val="0070C0"/>
                </a:solidFill>
              </a:rPr>
              <a:t>correlação par a par </a:t>
            </a:r>
            <a:r>
              <a:rPr lang="pt-BR" b="1" noProof="0" dirty="0"/>
              <a:t>entre todas as variáveis</a:t>
            </a:r>
            <a:r>
              <a:rPr lang="pt-BR" noProof="0" dirty="0"/>
              <a:t> de um conjunto de dados.</a:t>
            </a:r>
          </a:p>
          <a:p>
            <a:r>
              <a:rPr lang="pt-BR" noProof="0" dirty="0"/>
              <a:t>A diagonal é sempre igual a 1, pois uma variável é perfeitamente correlacionada consigo mesma.</a:t>
            </a:r>
          </a:p>
        </p:txBody>
      </p:sp>
      <p:pic>
        <p:nvPicPr>
          <p:cNvPr id="5" name="Picture 2" descr="Demystifying the Correlation Matrix in Data Science | Towards ...">
            <a:extLst>
              <a:ext uri="{FF2B5EF4-FFF2-40B4-BE49-F238E27FC236}">
                <a16:creationId xmlns:a16="http://schemas.microsoft.com/office/drawing/2014/main" xmlns="" id="{438A46B7-FCE8-4742-C97A-40D98D5D2C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961" y="1883686"/>
            <a:ext cx="5279571" cy="42932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0032108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AF79883-84D1-FA96-B952-8AC395BB8D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 </a:t>
            </a:r>
            <a:r>
              <a:rPr lang="en-US" dirty="0" err="1"/>
              <a:t>que</a:t>
            </a:r>
            <a:r>
              <a:rPr lang="en-US" dirty="0"/>
              <a:t> serve a </a:t>
            </a:r>
            <a:r>
              <a:rPr lang="en-US" dirty="0" err="1"/>
              <a:t>matriz</a:t>
            </a:r>
            <a:r>
              <a:rPr lang="en-US" dirty="0"/>
              <a:t> de </a:t>
            </a:r>
            <a:r>
              <a:rPr lang="en-US" dirty="0" err="1"/>
              <a:t>correlação</a:t>
            </a:r>
            <a:r>
              <a:rPr lang="en-US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="" id="{084DFD87-5D4C-0FB5-0F88-D49C00681F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954486" y="1825625"/>
                <a:ext cx="6237513" cy="5032376"/>
              </a:xfrm>
            </p:spPr>
            <p:txBody>
              <a:bodyPr>
                <a:normAutofit/>
              </a:bodyPr>
              <a:lstStyle/>
              <a:p>
                <a:r>
                  <a:rPr lang="pt-BR" noProof="0" dirty="0"/>
                  <a:t>Identificar variáveis fortemente relacionadas ao </a:t>
                </a:r>
                <a:r>
                  <a:rPr lang="pt-BR" i="1" noProof="0" dirty="0"/>
                  <a:t>target</a:t>
                </a:r>
                <a:r>
                  <a:rPr lang="pt-BR" noProof="0" dirty="0"/>
                  <a:t>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Relacionamentos </a:t>
                </a:r>
                <a:r>
                  <a:rPr lang="pt-BR" b="1" dirty="0">
                    <a:solidFill>
                      <a:srgbClr val="7030A0"/>
                    </a:solidFill>
                  </a:rPr>
                  <a:t>lineares</a:t>
                </a:r>
                <a:r>
                  <a:rPr lang="pt-BR" dirty="0"/>
                  <a:t>.</a:t>
                </a:r>
                <a:endParaRPr lang="pt-BR" noProof="0" dirty="0"/>
              </a:p>
              <a:p>
                <a:r>
                  <a:rPr lang="pt-BR" dirty="0"/>
                  <a:t>Apoiar a seleção de atributos.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Selecionar atributos que realmente influenciam no </a:t>
                </a:r>
                <a:r>
                  <a:rPr lang="pt-BR" i="1" dirty="0"/>
                  <a:t>target</a:t>
                </a:r>
                <a:r>
                  <a:rPr lang="pt-BR" dirty="0"/>
                  <a:t>.</a:t>
                </a:r>
                <a:endParaRPr lang="pt-BR" noProof="0" dirty="0"/>
              </a:p>
              <a:p>
                <a:r>
                  <a:rPr lang="pt-BR" noProof="0" dirty="0"/>
                  <a:t>Detectar </a:t>
                </a:r>
                <a:r>
                  <a:rPr lang="pt-BR" noProof="0" dirty="0" err="1"/>
                  <a:t>multicolinearidad</a:t>
                </a:r>
                <a:r>
                  <a:rPr lang="pt-BR" dirty="0"/>
                  <a:t>e</a:t>
                </a:r>
                <a:r>
                  <a:rPr lang="pt-BR" noProof="0" dirty="0"/>
                  <a:t> para </a:t>
                </a:r>
                <a:r>
                  <a:rPr lang="pt-BR" b="1" noProof="0" dirty="0">
                    <a:solidFill>
                      <a:schemeClr val="accent2"/>
                    </a:solidFill>
                  </a:rPr>
                  <a:t>reduzir</a:t>
                </a:r>
                <a14:m>
                  <m:oMath xmlns:m="http://schemas.openxmlformats.org/officeDocument/2006/math">
                    <m:r>
                      <a:rPr lang="pt-BR" b="1" i="1" noProof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t-BR" b="1" noProof="0" dirty="0">
                    <a:solidFill>
                      <a:schemeClr val="accent2"/>
                    </a:solidFill>
                  </a:rPr>
                  <a:t>redundância</a:t>
                </a:r>
                <a:r>
                  <a:rPr lang="pt-BR" noProof="0" dirty="0"/>
                  <a:t>.</a:t>
                </a:r>
              </a:p>
              <a:p>
                <a:r>
                  <a:rPr lang="pt-BR" noProof="0" dirty="0"/>
                  <a:t>Levantar hipóteses sobre relações entre variáveis.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Por exemplo, a relação pode ser modelada por uma reta?</a:t>
                </a:r>
                <a:endParaRPr lang="pt-BR" noProof="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84DFD87-5D4C-0FB5-0F88-D49C00681F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954486" y="1825625"/>
                <a:ext cx="6237513" cy="5032376"/>
              </a:xfrm>
              <a:blipFill>
                <a:blip r:embed="rId3"/>
                <a:stretch>
                  <a:fillRect l="-1760" t="-1937" r="-1857" b="-20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2" descr="Demystifying the Correlation Matrix in Data Science | Towards ...">
            <a:extLst>
              <a:ext uri="{FF2B5EF4-FFF2-40B4-BE49-F238E27FC236}">
                <a16:creationId xmlns:a16="http://schemas.microsoft.com/office/drawing/2014/main" xmlns="" id="{FB7141BA-7A53-E764-1EA5-DD59A435A9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429" y="1913768"/>
            <a:ext cx="5279571" cy="42932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117549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CE7D7ACF-F546-3D69-A5AF-82586A839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6E4DA5A-3FB2-2177-9C65-846662D77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 </a:t>
            </a:r>
            <a:r>
              <a:rPr lang="en-US" dirty="0" err="1"/>
              <a:t>que</a:t>
            </a:r>
            <a:r>
              <a:rPr lang="en-US" dirty="0"/>
              <a:t> serve a </a:t>
            </a:r>
            <a:r>
              <a:rPr lang="en-US" dirty="0" err="1"/>
              <a:t>matriz</a:t>
            </a:r>
            <a:r>
              <a:rPr lang="en-US" dirty="0"/>
              <a:t> de </a:t>
            </a:r>
            <a:r>
              <a:rPr lang="en-US" dirty="0" err="1"/>
              <a:t>correlação</a:t>
            </a:r>
            <a:r>
              <a:rPr lang="en-US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="" id="{7C36BCCF-4EF4-EB50-939C-CAEC89EF7C6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867399" y="1825625"/>
                <a:ext cx="6204859" cy="5032376"/>
              </a:xfrm>
            </p:spPr>
            <p:txBody>
              <a:bodyPr>
                <a:normAutofit/>
              </a:bodyPr>
              <a:lstStyle/>
              <a:p>
                <a:r>
                  <a:rPr lang="pt-BR" b="1" noProof="0" dirty="0"/>
                  <a:t>Limitações</a:t>
                </a:r>
                <a:endParaRPr lang="pt-BR" i="1" noProof="0" dirty="0">
                  <a:ea typeface="Cambria Math" panose="02040503050406030204" pitchFamily="18" charset="0"/>
                </a:endParaRPr>
              </a:p>
              <a:p>
                <a:pPr lvl="1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pt-BR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pt-BR" noProof="0" dirty="0"/>
                  <a:t> é sensível a </a:t>
                </a:r>
                <a:r>
                  <a:rPr lang="pt-BR" i="1" noProof="0" dirty="0"/>
                  <a:t>outliers</a:t>
                </a:r>
                <a:r>
                  <a:rPr lang="pt-BR" noProof="0" dirty="0"/>
                  <a:t> por usar a média em seu cálculo.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b="1" noProof="0" dirty="0">
                    <a:solidFill>
                      <a:srgbClr val="7030A0"/>
                    </a:solidFill>
                  </a:rPr>
                  <a:t>Não mostra a forma da relação </a:t>
                </a:r>
                <a:r>
                  <a:rPr lang="pt-BR" noProof="0" dirty="0"/>
                  <a:t>e, portanto, não indica se a </a:t>
                </a:r>
                <a:r>
                  <a:rPr lang="pt-BR" b="1" noProof="0" dirty="0">
                    <a:solidFill>
                      <a:schemeClr val="accent2"/>
                    </a:solidFill>
                  </a:rPr>
                  <a:t>relação é não-linear quando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pt-BR" noProof="0" dirty="0"/>
                  <a:t>.</a:t>
                </a:r>
              </a:p>
              <a:p>
                <a:pPr lvl="2">
                  <a:buFont typeface="Courier New" panose="02070309020205020404" pitchFamily="49" charset="0"/>
                  <a:buChar char="o"/>
                </a:pPr>
                <a:r>
                  <a:rPr lang="pt-BR" noProof="0" dirty="0"/>
                  <a:t>Devemos analisar visualmente (</a:t>
                </a:r>
                <a:r>
                  <a:rPr lang="pt-BR" i="1" noProof="0" dirty="0" err="1"/>
                  <a:t>scatter</a:t>
                </a:r>
                <a:r>
                  <a:rPr lang="pt-BR" i="1" noProof="0" dirty="0"/>
                  <a:t> </a:t>
                </a:r>
                <a:r>
                  <a:rPr lang="pt-BR" i="1" noProof="0" dirty="0" err="1"/>
                  <a:t>plot</a:t>
                </a:r>
                <a:r>
                  <a:rPr lang="pt-BR" noProof="0" dirty="0"/>
                  <a:t>) e/ou com outro coeficiente, como o de </a:t>
                </a:r>
                <a:r>
                  <a:rPr lang="pt-BR" noProof="0" dirty="0" err="1"/>
                  <a:t>Spearman</a:t>
                </a:r>
                <a:r>
                  <a:rPr lang="pt-BR" dirty="0"/>
                  <a:t> (ver Anexo IV).</a:t>
                </a:r>
                <a:endParaRPr lang="pt-BR" noProof="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C36BCCF-4EF4-EB50-939C-CAEC89EF7C6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867399" y="1825625"/>
                <a:ext cx="6204859" cy="5032376"/>
              </a:xfrm>
              <a:blipFill>
                <a:blip r:embed="rId3"/>
                <a:stretch>
                  <a:fillRect l="-1670" t="-1937" r="-15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2" descr="Demystifying the Correlation Matrix in Data Science | Towards ...">
            <a:extLst>
              <a:ext uri="{FF2B5EF4-FFF2-40B4-BE49-F238E27FC236}">
                <a16:creationId xmlns:a16="http://schemas.microsoft.com/office/drawing/2014/main" xmlns="" id="{E8F851E8-11B2-E29A-E4FB-57C22AB37D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886" y="2066168"/>
            <a:ext cx="5250108" cy="42693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027826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D8DE0D7-7904-F48C-5797-BC36691AC5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49239B8-A712-091C-3351-616505FED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Plotando</a:t>
            </a:r>
            <a:r>
              <a:rPr lang="en-US" dirty="0"/>
              <a:t> a </a:t>
            </a:r>
            <a:r>
              <a:rPr lang="en-US" dirty="0" err="1"/>
              <a:t>matriz</a:t>
            </a:r>
            <a:r>
              <a:rPr lang="en-US" dirty="0"/>
              <a:t> de </a:t>
            </a:r>
            <a:r>
              <a:rPr lang="en-US" dirty="0" err="1"/>
              <a:t>correlação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C56590D-CF1C-1F01-2B95-9F8DE8CC60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234059" cy="5032376"/>
          </a:xfrm>
        </p:spPr>
        <p:txBody>
          <a:bodyPr>
            <a:normAutofit/>
          </a:bodyPr>
          <a:lstStyle/>
          <a:p>
            <a:r>
              <a:rPr lang="pt-BR" b="1" noProof="0" dirty="0"/>
              <a:t>Matriz de correlação com o coeficiente de Pearson</a:t>
            </a:r>
          </a:p>
          <a:p>
            <a:pPr marL="457200" lvl="1" indent="0">
              <a:buNone/>
            </a:pPr>
            <a:r>
              <a:rPr lang="pt-BR" noProof="0" dirty="0" err="1">
                <a:latin typeface="Consolas" panose="020B0609020204030204" pitchFamily="49" charset="0"/>
              </a:rPr>
              <a:t>corr</a:t>
            </a:r>
            <a:r>
              <a:rPr lang="pt-BR" noProof="0" dirty="0">
                <a:latin typeface="Consolas" panose="020B0609020204030204" pitchFamily="49" charset="0"/>
              </a:rPr>
              <a:t> = </a:t>
            </a:r>
            <a:r>
              <a:rPr lang="pt-BR" noProof="0" dirty="0" err="1">
                <a:latin typeface="Consolas" panose="020B0609020204030204" pitchFamily="49" charset="0"/>
              </a:rPr>
              <a:t>df.corr</a:t>
            </a:r>
            <a:r>
              <a:rPr lang="pt-BR" noProof="0" dirty="0">
                <a:latin typeface="Consolas" panose="020B0609020204030204" pitchFamily="49" charset="0"/>
              </a:rPr>
              <a:t>(</a:t>
            </a:r>
            <a:r>
              <a:rPr lang="pt-BR" noProof="0" dirty="0" err="1">
                <a:latin typeface="Consolas" panose="020B0609020204030204" pitchFamily="49" charset="0"/>
              </a:rPr>
              <a:t>method</a:t>
            </a:r>
            <a:r>
              <a:rPr lang="pt-BR" noProof="0" dirty="0">
                <a:latin typeface="Consolas" panose="020B0609020204030204" pitchFamily="49" charset="0"/>
              </a:rPr>
              <a:t>='</a:t>
            </a:r>
            <a:r>
              <a:rPr lang="pt-BR" noProof="0" dirty="0" err="1">
                <a:latin typeface="Consolas" panose="020B0609020204030204" pitchFamily="49" charset="0"/>
              </a:rPr>
              <a:t>pearson</a:t>
            </a:r>
            <a:r>
              <a:rPr lang="pt-BR" noProof="0" dirty="0">
                <a:latin typeface="Consolas" panose="020B0609020204030204" pitchFamily="49" charset="0"/>
              </a:rPr>
              <a:t>', </a:t>
            </a:r>
            <a:r>
              <a:rPr lang="pt-BR" noProof="0" dirty="0" err="1">
                <a:latin typeface="Consolas" panose="020B0609020204030204" pitchFamily="49" charset="0"/>
              </a:rPr>
              <a:t>numeric_only</a:t>
            </a:r>
            <a:r>
              <a:rPr lang="pt-BR" noProof="0" dirty="0">
                <a:latin typeface="Consolas" panose="020B0609020204030204" pitchFamily="49" charset="0"/>
              </a:rPr>
              <a:t>=</a:t>
            </a:r>
            <a:r>
              <a:rPr lang="pt-BR" noProof="0" dirty="0" err="1">
                <a:latin typeface="Consolas" panose="020B0609020204030204" pitchFamily="49" charset="0"/>
              </a:rPr>
              <a:t>True</a:t>
            </a:r>
            <a:r>
              <a:rPr lang="pt-BR" noProof="0" dirty="0">
                <a:latin typeface="Consolas" panose="020B0609020204030204" pitchFamily="49" charset="0"/>
              </a:rPr>
              <a:t>)</a:t>
            </a:r>
          </a:p>
          <a:p>
            <a:pPr marL="457200" lvl="1" indent="0">
              <a:buNone/>
            </a:pPr>
            <a:r>
              <a:rPr lang="pt-BR" noProof="0" dirty="0" err="1">
                <a:latin typeface="Consolas" panose="020B0609020204030204" pitchFamily="49" charset="0"/>
              </a:rPr>
              <a:t>plt.figure</a:t>
            </a:r>
            <a:r>
              <a:rPr lang="pt-BR" noProof="0" dirty="0">
                <a:latin typeface="Consolas" panose="020B0609020204030204" pitchFamily="49" charset="0"/>
              </a:rPr>
              <a:t>()</a:t>
            </a:r>
          </a:p>
          <a:p>
            <a:pPr marL="457200" lvl="1" indent="0">
              <a:buNone/>
            </a:pPr>
            <a:r>
              <a:rPr lang="pt-BR" noProof="0" dirty="0" err="1">
                <a:latin typeface="Consolas" panose="020B0609020204030204" pitchFamily="49" charset="0"/>
              </a:rPr>
              <a:t>sns.heatmap</a:t>
            </a:r>
            <a:r>
              <a:rPr lang="pt-BR" noProof="0" dirty="0">
                <a:latin typeface="Consolas" panose="020B0609020204030204" pitchFamily="49" charset="0"/>
              </a:rPr>
              <a:t>(</a:t>
            </a:r>
            <a:r>
              <a:rPr lang="pt-BR" noProof="0" dirty="0" err="1">
                <a:latin typeface="Consolas" panose="020B0609020204030204" pitchFamily="49" charset="0"/>
              </a:rPr>
              <a:t>corr</a:t>
            </a:r>
            <a:r>
              <a:rPr lang="pt-BR" noProof="0" dirty="0">
                <a:latin typeface="Consolas" panose="020B0609020204030204" pitchFamily="49" charset="0"/>
              </a:rPr>
              <a:t>, </a:t>
            </a:r>
            <a:r>
              <a:rPr lang="pt-BR" noProof="0" dirty="0" err="1">
                <a:latin typeface="Consolas" panose="020B0609020204030204" pitchFamily="49" charset="0"/>
              </a:rPr>
              <a:t>cmap</a:t>
            </a:r>
            <a:r>
              <a:rPr lang="pt-BR" noProof="0" dirty="0">
                <a:latin typeface="Consolas" panose="020B0609020204030204" pitchFamily="49" charset="0"/>
              </a:rPr>
              <a:t>="</a:t>
            </a:r>
            <a:r>
              <a:rPr lang="pt-BR" noProof="0" dirty="0" err="1">
                <a:latin typeface="Consolas" panose="020B0609020204030204" pitchFamily="49" charset="0"/>
              </a:rPr>
              <a:t>BrBG</a:t>
            </a:r>
            <a:r>
              <a:rPr lang="pt-BR" noProof="0" dirty="0">
                <a:latin typeface="Consolas" panose="020B0609020204030204" pitchFamily="49" charset="0"/>
              </a:rPr>
              <a:t>", </a:t>
            </a:r>
            <a:r>
              <a:rPr lang="pt-BR" noProof="0" dirty="0" err="1">
                <a:latin typeface="Consolas" panose="020B0609020204030204" pitchFamily="49" charset="0"/>
              </a:rPr>
              <a:t>annot</a:t>
            </a:r>
            <a:r>
              <a:rPr lang="pt-BR" noProof="0" dirty="0">
                <a:latin typeface="Consolas" panose="020B0609020204030204" pitchFamily="49" charset="0"/>
              </a:rPr>
              <a:t>=</a:t>
            </a:r>
            <a:r>
              <a:rPr lang="pt-BR" noProof="0" dirty="0" err="1">
                <a:latin typeface="Consolas" panose="020B0609020204030204" pitchFamily="49" charset="0"/>
              </a:rPr>
              <a:t>True</a:t>
            </a:r>
            <a:r>
              <a:rPr lang="pt-BR" noProof="0" dirty="0">
                <a:latin typeface="Consolas" panose="020B0609020204030204" pitchFamily="49" charset="0"/>
              </a:rPr>
              <a:t>)</a:t>
            </a:r>
          </a:p>
          <a:p>
            <a:pPr marL="457200" lvl="1" indent="0">
              <a:buNone/>
            </a:pPr>
            <a:r>
              <a:rPr lang="pt-BR" noProof="0" dirty="0" err="1">
                <a:latin typeface="Consolas" panose="020B0609020204030204" pitchFamily="49" charset="0"/>
              </a:rPr>
              <a:t>plt.show</a:t>
            </a:r>
            <a:r>
              <a:rPr lang="pt-BR" noProof="0" dirty="0">
                <a:latin typeface="Consolas" panose="020B0609020204030204" pitchFamily="49" charset="0"/>
              </a:rPr>
              <a:t>()</a:t>
            </a:r>
          </a:p>
          <a:p>
            <a:pPr marL="457200" lvl="1" indent="0">
              <a:buNone/>
            </a:pPr>
            <a:endParaRPr lang="pt-BR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pt-BR" b="1" dirty="0"/>
              <a:t>OBS.: </a:t>
            </a:r>
            <a:r>
              <a:rPr lang="pt-BR" dirty="0"/>
              <a:t>“</a:t>
            </a:r>
            <a:r>
              <a:rPr lang="pt-BR" dirty="0" err="1">
                <a:latin typeface="Consolas" panose="020B0609020204030204" pitchFamily="49" charset="0"/>
              </a:rPr>
              <a:t>numeric_only</a:t>
            </a:r>
            <a:r>
              <a:rPr lang="pt-BR" dirty="0">
                <a:latin typeface="Consolas" panose="020B0609020204030204" pitchFamily="49" charset="0"/>
              </a:rPr>
              <a:t>=</a:t>
            </a:r>
            <a:r>
              <a:rPr lang="pt-BR" dirty="0" err="1">
                <a:latin typeface="Consolas" panose="020B0609020204030204" pitchFamily="49" charset="0"/>
              </a:rPr>
              <a:t>True</a:t>
            </a:r>
            <a:r>
              <a:rPr lang="pt-BR" dirty="0"/>
              <a:t>” a correlação é calculada usando somente colunas numéricas (</a:t>
            </a:r>
            <a:r>
              <a:rPr lang="pt-BR" i="1" dirty="0" err="1"/>
              <a:t>float</a:t>
            </a:r>
            <a:r>
              <a:rPr lang="pt-BR" dirty="0"/>
              <a:t>, </a:t>
            </a:r>
            <a:r>
              <a:rPr lang="pt-BR" i="1" dirty="0" err="1"/>
              <a:t>int</a:t>
            </a:r>
            <a:r>
              <a:rPr lang="pt-BR" dirty="0"/>
              <a:t> ou </a:t>
            </a:r>
            <a:r>
              <a:rPr lang="pt-BR" i="1" dirty="0" err="1"/>
              <a:t>boolean</a:t>
            </a:r>
            <a:r>
              <a:rPr lang="pt-BR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112432949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C16AAD1-E005-000D-6949-40CF9C67F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Diagrama de dispersão (</a:t>
            </a:r>
            <a:r>
              <a:rPr lang="pt-BR" i="1" dirty="0" err="1"/>
              <a:t>scatter</a:t>
            </a:r>
            <a:r>
              <a:rPr lang="pt-BR" i="1" dirty="0"/>
              <a:t> </a:t>
            </a:r>
            <a:r>
              <a:rPr lang="pt-BR" i="1" dirty="0" err="1"/>
              <a:t>plot</a:t>
            </a:r>
            <a:r>
              <a:rPr lang="pt-BR" dirty="0"/>
              <a:t>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A736D01-EFE2-E85C-18C7-A36B691900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4"/>
            <a:ext cx="11146970" cy="5032375"/>
          </a:xfrm>
        </p:spPr>
        <p:txBody>
          <a:bodyPr>
            <a:normAutofit/>
          </a:bodyPr>
          <a:lstStyle/>
          <a:p>
            <a:r>
              <a:rPr lang="pt-BR" b="1" dirty="0">
                <a:solidFill>
                  <a:schemeClr val="accent2"/>
                </a:solidFill>
              </a:rPr>
              <a:t>Mostra</a:t>
            </a:r>
            <a:r>
              <a:rPr lang="pt-BR" dirty="0"/>
              <a:t> a relação </a:t>
            </a:r>
            <a:r>
              <a:rPr lang="pt-BR" b="1" dirty="0">
                <a:solidFill>
                  <a:srgbClr val="00B0F0"/>
                </a:solidFill>
              </a:rPr>
              <a:t>entre duas variáveis</a:t>
            </a:r>
            <a:r>
              <a:rPr lang="pt-BR" dirty="0"/>
              <a:t>, </a:t>
            </a:r>
            <a:r>
              <a:rPr lang="pt-BR" b="1" dirty="0">
                <a:solidFill>
                  <a:srgbClr val="7030A0"/>
                </a:solidFill>
              </a:rPr>
              <a:t>revelando padrões que números não mostram (e.g., a matriz de correlação)</a:t>
            </a:r>
            <a:r>
              <a:rPr lang="pt-BR" dirty="0"/>
              <a:t>.</a:t>
            </a:r>
          </a:p>
          <a:p>
            <a:r>
              <a:rPr lang="pt-BR" dirty="0"/>
              <a:t>Permite visualizar: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tendências (</a:t>
            </a:r>
            <a:r>
              <a:rPr lang="en-US" dirty="0" err="1"/>
              <a:t>positiva</a:t>
            </a:r>
            <a:r>
              <a:rPr lang="en-US" dirty="0"/>
              <a:t> </a:t>
            </a:r>
            <a:r>
              <a:rPr lang="en-US" dirty="0" err="1"/>
              <a:t>ou</a:t>
            </a:r>
            <a:r>
              <a:rPr lang="en-US" dirty="0"/>
              <a:t> </a:t>
            </a:r>
            <a:r>
              <a:rPr lang="en-US" dirty="0" err="1"/>
              <a:t>negativa</a:t>
            </a:r>
            <a:r>
              <a:rPr lang="en-US" dirty="0"/>
              <a:t>)</a:t>
            </a:r>
            <a:r>
              <a:rPr lang="pt-BR" dirty="0"/>
              <a:t>,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relações não-lineares,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i="1" dirty="0"/>
              <a:t>clusters</a:t>
            </a:r>
            <a:r>
              <a:rPr lang="pt-BR" dirty="0"/>
              <a:t> (i.e., grupos) e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i="1" dirty="0"/>
              <a:t>outliers</a:t>
            </a:r>
          </a:p>
        </p:txBody>
      </p:sp>
      <p:pic>
        <p:nvPicPr>
          <p:cNvPr id="9218" name="Picture 2" descr="How to Make a Scatter Plot: A Comprehensive Guide">
            <a:extLst>
              <a:ext uri="{FF2B5EF4-FFF2-40B4-BE49-F238E27FC236}">
                <a16:creationId xmlns:a16="http://schemas.microsoft.com/office/drawing/2014/main" xmlns="" id="{ADF2052A-9AFC-08F1-6CF9-FD881390BD4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67" t="33016" r="8177" b="7142"/>
          <a:stretch>
            <a:fillRect/>
          </a:stretch>
        </p:blipFill>
        <p:spPr bwMode="auto">
          <a:xfrm>
            <a:off x="5290457" y="3810345"/>
            <a:ext cx="6585857" cy="29279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6580462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BB09112-F964-BA26-EF07-7FFBF2256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Diagrama de dispersão (</a:t>
            </a:r>
            <a:r>
              <a:rPr lang="pt-BR" i="1" dirty="0" err="1"/>
              <a:t>scatter</a:t>
            </a:r>
            <a:r>
              <a:rPr lang="pt-BR" i="1" dirty="0"/>
              <a:t> </a:t>
            </a:r>
            <a:r>
              <a:rPr lang="pt-BR" i="1" dirty="0" err="1"/>
              <a:t>plot</a:t>
            </a:r>
            <a:r>
              <a:rPr lang="pt-BR" dirty="0"/>
              <a:t>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6EDC371-9129-299B-0280-1F8F36782A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1190514" cy="5032375"/>
          </a:xfrm>
        </p:spPr>
        <p:txBody>
          <a:bodyPr/>
          <a:lstStyle/>
          <a:p>
            <a:r>
              <a:rPr lang="pt-BR" dirty="0"/>
              <a:t>Limitações: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Funciona bem para poucas variáveis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Quando o número de variáveis cresce, são necessários muitos </a:t>
            </a:r>
            <a:r>
              <a:rPr lang="pt-BR" i="1" dirty="0" err="1"/>
              <a:t>scatter</a:t>
            </a:r>
            <a:r>
              <a:rPr lang="pt-BR" i="1" dirty="0"/>
              <a:t> </a:t>
            </a:r>
            <a:r>
              <a:rPr lang="pt-BR" i="1" dirty="0" err="1"/>
              <a:t>plots</a:t>
            </a:r>
            <a:endParaRPr lang="pt-BR" i="1" dirty="0"/>
          </a:p>
          <a:p>
            <a:pPr lvl="2">
              <a:buFont typeface="Courier New" panose="02070309020205020404" pitchFamily="49" charset="0"/>
              <a:buChar char="o"/>
            </a:pPr>
            <a:r>
              <a:rPr lang="pt-BR" dirty="0"/>
              <a:t>A análise vira um </a:t>
            </a:r>
            <a:r>
              <a:rPr lang="pt-BR" b="1" dirty="0">
                <a:solidFill>
                  <a:srgbClr val="7030A0"/>
                </a:solidFill>
              </a:rPr>
              <a:t>processo manual, cansativo e propenso ao erro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Os </a:t>
            </a:r>
            <a:r>
              <a:rPr lang="pt-BR" i="1" dirty="0" err="1"/>
              <a:t>plots</a:t>
            </a:r>
            <a:r>
              <a:rPr lang="pt-BR" dirty="0"/>
              <a:t> podem ficar poluídos em </a:t>
            </a:r>
            <a:r>
              <a:rPr lang="pt-BR" i="1" dirty="0" err="1"/>
              <a:t>datasets</a:t>
            </a:r>
            <a:r>
              <a:rPr lang="pt-BR" dirty="0"/>
              <a:t> com muitas amostras: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pt-BR" dirty="0"/>
              <a:t>os pontos se sobrepõem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pt-BR" dirty="0"/>
              <a:t>regiões densas viram “manchas”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pt-BR" i="1" dirty="0"/>
              <a:t>outliers</a:t>
            </a:r>
            <a:r>
              <a:rPr lang="pt-BR" dirty="0"/>
              <a:t> podem ficar escondidos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pt-BR" i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402310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D5DF7B9-0CCC-5B4D-85D2-17EA2666F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53A853E-CF57-7F29-8F25-5E9DE6035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Plotando</a:t>
            </a:r>
            <a:r>
              <a:rPr lang="en-US" dirty="0"/>
              <a:t> o </a:t>
            </a:r>
            <a:r>
              <a:rPr lang="en-US" dirty="0" err="1"/>
              <a:t>diagrama</a:t>
            </a:r>
            <a:r>
              <a:rPr lang="en-US" dirty="0"/>
              <a:t> de </a:t>
            </a:r>
            <a:r>
              <a:rPr lang="en-US" dirty="0" err="1"/>
              <a:t>dispersão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7265F11-F487-7C76-21FF-19336F9457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234059" cy="5032376"/>
          </a:xfrm>
        </p:spPr>
        <p:txBody>
          <a:bodyPr>
            <a:normAutofit/>
          </a:bodyPr>
          <a:lstStyle/>
          <a:p>
            <a:r>
              <a:rPr lang="en-US" b="1" dirty="0" err="1"/>
              <a:t>Plotando</a:t>
            </a:r>
            <a:r>
              <a:rPr lang="en-US" b="1" dirty="0"/>
              <a:t> a </a:t>
            </a:r>
            <a:r>
              <a:rPr lang="en-US" b="1" dirty="0" err="1"/>
              <a:t>dispersão</a:t>
            </a:r>
            <a:r>
              <a:rPr lang="en-US" b="1" dirty="0"/>
              <a:t> de um par de </a:t>
            </a:r>
            <a:r>
              <a:rPr lang="en-US" b="1" dirty="0" err="1"/>
              <a:t>variáveis</a:t>
            </a:r>
            <a:endParaRPr lang="en-US" b="1" dirty="0"/>
          </a:p>
          <a:p>
            <a:pPr marL="457200" lvl="1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plt.scatter</a:t>
            </a:r>
            <a:r>
              <a:rPr lang="en-US" dirty="0">
                <a:latin typeface="Consolas" panose="020B0609020204030204" pitchFamily="49" charset="0"/>
              </a:rPr>
              <a:t>(</a:t>
            </a:r>
            <a:r>
              <a:rPr lang="en-US" dirty="0" err="1">
                <a:latin typeface="Consolas" panose="020B0609020204030204" pitchFamily="49" charset="0"/>
              </a:rPr>
              <a:t>df</a:t>
            </a:r>
            <a:r>
              <a:rPr lang="en-US" dirty="0">
                <a:latin typeface="Consolas" panose="020B0609020204030204" pitchFamily="49" charset="0"/>
              </a:rPr>
              <a:t>['MPG-C'], </a:t>
            </a:r>
            <a:r>
              <a:rPr lang="en-US" dirty="0" err="1">
                <a:latin typeface="Consolas" panose="020B0609020204030204" pitchFamily="49" charset="0"/>
              </a:rPr>
              <a:t>df</a:t>
            </a:r>
            <a:r>
              <a:rPr lang="en-US" dirty="0">
                <a:latin typeface="Consolas" panose="020B0609020204030204" pitchFamily="49" charset="0"/>
              </a:rPr>
              <a:t>['Price'])</a:t>
            </a:r>
          </a:p>
          <a:p>
            <a:pPr marL="457200" lvl="1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plt.xlabel</a:t>
            </a:r>
            <a:r>
              <a:rPr lang="en-US" dirty="0">
                <a:latin typeface="Consolas" panose="020B0609020204030204" pitchFamily="49" charset="0"/>
              </a:rPr>
              <a:t>('MPG-C')</a:t>
            </a:r>
          </a:p>
          <a:p>
            <a:pPr marL="457200" lvl="1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plt.ylabel</a:t>
            </a:r>
            <a:r>
              <a:rPr lang="en-US" dirty="0">
                <a:latin typeface="Consolas" panose="020B0609020204030204" pitchFamily="49" charset="0"/>
              </a:rPr>
              <a:t>('Price')</a:t>
            </a:r>
          </a:p>
          <a:p>
            <a:pPr marL="457200" lvl="1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plt.show</a:t>
            </a:r>
            <a:r>
              <a:rPr lang="en-US" dirty="0">
                <a:latin typeface="Consolas" panose="020B0609020204030204" pitchFamily="49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18312442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94AB8438-E56E-2412-517C-8456E4CA7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F7E2B09C-6D56-4C9F-A364-B904CCE2F1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>
                <a:hlinkClick r:id="rId3"/>
              </a:rPr>
              <a:t>Exemplo: </a:t>
            </a:r>
            <a:r>
              <a:rPr lang="pt-BR" dirty="0" err="1">
                <a:hlinkClick r:id="rId3"/>
              </a:rPr>
              <a:t>intro_eda.ipynb</a:t>
            </a:r>
            <a:endParaRPr lang="en-US" dirty="0"/>
          </a:p>
          <a:p>
            <a:pPr marL="0" indent="0">
              <a:buNone/>
            </a:pPr>
            <a:endParaRPr lang="pt-BR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xmlns="" id="{627C64FD-88E0-EC8E-2A34-0D5737B4C854}"/>
              </a:ext>
            </a:extLst>
          </p:cNvPr>
          <p:cNvGrpSpPr/>
          <p:nvPr/>
        </p:nvGrpSpPr>
        <p:grpSpPr>
          <a:xfrm>
            <a:off x="1752685" y="2681262"/>
            <a:ext cx="8371070" cy="2659743"/>
            <a:chOff x="1752685" y="2681262"/>
            <a:chExt cx="8371070" cy="2659743"/>
          </a:xfrm>
        </p:grpSpPr>
        <p:pic>
          <p:nvPicPr>
            <p:cNvPr id="12" name="Picture 4" descr="Project Jupyter | Try Jupyter">
              <a:extLst>
                <a:ext uri="{FF2B5EF4-FFF2-40B4-BE49-F238E27FC236}">
                  <a16:creationId xmlns:a16="http://schemas.microsoft.com/office/drawing/2014/main" xmlns="" id="{FF92EA36-91E7-292B-D7A0-2D4D83A10F9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31027" y="3102450"/>
              <a:ext cx="3461657" cy="18173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8" descr="Google Colaboratory Colab - Guía Completa Español - Marketing Branding">
              <a:extLst>
                <a:ext uri="{FF2B5EF4-FFF2-40B4-BE49-F238E27FC236}">
                  <a16:creationId xmlns:a16="http://schemas.microsoft.com/office/drawing/2014/main" xmlns="" id="{46F1718A-89E6-9E63-E40B-2B19852D6AA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865" r="10641"/>
            <a:stretch/>
          </p:blipFill>
          <p:spPr bwMode="auto">
            <a:xfrm>
              <a:off x="6792684" y="2681262"/>
              <a:ext cx="3331071" cy="265974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10" descr="IT12A01: FUNDAMENTALS OF PYTHON PROGRAMMING (SF) (SYNCHRONOUS E-LEARNING) -  NTUC LearningHub">
              <a:extLst>
                <a:ext uri="{FF2B5EF4-FFF2-40B4-BE49-F238E27FC236}">
                  <a16:creationId xmlns:a16="http://schemas.microsoft.com/office/drawing/2014/main" xmlns="" id="{33F6B1B4-9B79-D634-3E35-33F24609C84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319" r="20198"/>
            <a:stretch/>
          </p:blipFill>
          <p:spPr bwMode="auto">
            <a:xfrm>
              <a:off x="1752685" y="3176833"/>
              <a:ext cx="1894114" cy="187792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5" name="Sinal de Adição 7">
              <a:extLst>
                <a:ext uri="{FF2B5EF4-FFF2-40B4-BE49-F238E27FC236}">
                  <a16:creationId xmlns:a16="http://schemas.microsoft.com/office/drawing/2014/main" xmlns="" id="{6959EE6C-DCDB-E78B-5C50-EBD3FF3049E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646799" y="3545037"/>
              <a:ext cx="468000" cy="468000"/>
            </a:xfrm>
            <a:prstGeom prst="mathPlus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7" name="Sinal de Adição 10">
              <a:extLst>
                <a:ext uri="{FF2B5EF4-FFF2-40B4-BE49-F238E27FC236}">
                  <a16:creationId xmlns:a16="http://schemas.microsoft.com/office/drawing/2014/main" xmlns="" id="{30A21FDB-ABA6-9FD5-49EF-7762414AEF0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096043" y="3467980"/>
              <a:ext cx="468000" cy="468000"/>
            </a:xfrm>
            <a:prstGeom prst="mathPlus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D75DCCF7-2DB5-506A-50FE-821A5D12D186}"/>
              </a:ext>
            </a:extLst>
          </p:cNvPr>
          <p:cNvSpPr txBox="1"/>
          <p:nvPr/>
        </p:nvSpPr>
        <p:spPr>
          <a:xfrm>
            <a:off x="6564043" y="6542493"/>
            <a:ext cx="5665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OBS.: Um exemplo mais completo de EDA pode ser encontrado no Anexo V.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18707159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8FD0E11-3B37-4336-5BF0-C8C033354A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Lista de exercícios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2CB14AB-72E4-05EB-962C-F8B4618D05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>
                <a:hlinkClick r:id="rId2"/>
              </a:rPr>
              <a:t>Lista #3 - EDA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935604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xmlns="" id="{32666AC8-2E17-4DB4-B0F5-60C640CCFD2E}"/>
              </a:ext>
            </a:extLst>
          </p:cNvPr>
          <p:cNvSpPr txBox="1">
            <a:spLocks/>
          </p:cNvSpPr>
          <p:nvPr/>
        </p:nvSpPr>
        <p:spPr>
          <a:xfrm>
            <a:off x="1431533" y="2720526"/>
            <a:ext cx="9144000" cy="10295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6600" dirty="0"/>
              <a:t>Perguntas?</a:t>
            </a:r>
            <a:endParaRPr lang="pt-BR" sz="6600" b="1" i="1" dirty="0"/>
          </a:p>
        </p:txBody>
      </p:sp>
    </p:spTree>
    <p:extLst>
      <p:ext uri="{BB962C8B-B14F-4D97-AF65-F5344CB8AC3E}">
        <p14:creationId xmlns:p14="http://schemas.microsoft.com/office/powerpoint/2010/main" val="377300566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xmlns="" id="{32666AC8-2E17-4DB4-B0F5-60C640CCFD2E}"/>
              </a:ext>
            </a:extLst>
          </p:cNvPr>
          <p:cNvSpPr txBox="1">
            <a:spLocks/>
          </p:cNvSpPr>
          <p:nvPr/>
        </p:nvSpPr>
        <p:spPr>
          <a:xfrm>
            <a:off x="1431533" y="2720526"/>
            <a:ext cx="9144000" cy="10295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6600" dirty="0"/>
              <a:t>Obrigado!</a:t>
            </a:r>
            <a:endParaRPr lang="pt-BR" sz="6600" b="1" i="1" dirty="0"/>
          </a:p>
        </p:txBody>
      </p:sp>
    </p:spTree>
    <p:extLst>
      <p:ext uri="{BB962C8B-B14F-4D97-AF65-F5344CB8AC3E}">
        <p14:creationId xmlns:p14="http://schemas.microsoft.com/office/powerpoint/2010/main" val="265570461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0AC96A4-E794-4AE4-2D06-D06A4ACC34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9471" y="2154577"/>
            <a:ext cx="10853057" cy="254884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pt-BR" sz="5400" dirty="0"/>
              <a:t>Anexo I: </a:t>
            </a:r>
          </a:p>
          <a:p>
            <a:pPr marL="0" indent="0" algn="ctr">
              <a:buNone/>
            </a:pPr>
            <a:r>
              <a:rPr lang="pt-BR" sz="5400" dirty="0"/>
              <a:t>Preenchimento inteligente de dados faltantes</a:t>
            </a:r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199524044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24B7D5B2-496C-0812-A081-7149C00984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3856330-85FB-E422-420F-B57EBAD2A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96600" cy="1325563"/>
          </a:xfrm>
        </p:spPr>
        <p:txBody>
          <a:bodyPr/>
          <a:lstStyle/>
          <a:p>
            <a:r>
              <a:rPr lang="pt-BR" dirty="0"/>
              <a:t>Técnicas para o tratamento de valores ausentes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="" id="{25085312-6769-EEE2-F347-EB35B496F25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1" y="1825624"/>
                <a:ext cx="11198628" cy="5032375"/>
              </a:xfrm>
            </p:spPr>
            <p:txBody>
              <a:bodyPr>
                <a:normAutofit/>
              </a:bodyPr>
              <a:lstStyle/>
              <a:p>
                <a:r>
                  <a:rPr lang="pt-BR" b="1" dirty="0"/>
                  <a:t>Preenchimento inteligente</a:t>
                </a:r>
                <a:r>
                  <a:rPr lang="pt-BR" dirty="0"/>
                  <a:t>: </a:t>
                </a:r>
              </a:p>
              <a:p>
                <a:r>
                  <a:rPr lang="pt-BR" dirty="0"/>
                  <a:t>Usa estimativas dos valores faltantes obtidas através do padrão dos dados, não um valor fixo.</a:t>
                </a:r>
              </a:p>
              <a:p>
                <a:r>
                  <a:rPr lang="pt-BR" dirty="0"/>
                  <a:t>O valor faltante é estimado a partir de outras colunas e linhas do </a:t>
                </a:r>
                <a:r>
                  <a:rPr lang="pt-BR" i="1" dirty="0"/>
                  <a:t>dataset</a:t>
                </a:r>
                <a:r>
                  <a:rPr lang="pt-BR" dirty="0"/>
                  <a:t>.</a:t>
                </a:r>
              </a:p>
              <a:p>
                <a:r>
                  <a:rPr lang="pt-BR" dirty="0"/>
                  <a:t>Pode-se usar as classes da biblioteca </a:t>
                </a:r>
                <a:r>
                  <a:rPr lang="pt-BR" dirty="0" err="1"/>
                  <a:t>SciKit-Learn</a:t>
                </a:r>
                <a:endParaRPr lang="pt-BR" dirty="0"/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en-US" dirty="0" err="1">
                    <a:latin typeface="Consolas" panose="020B0609020204030204" pitchFamily="49" charset="0"/>
                  </a:rPr>
                  <a:t>KNNImputer</a:t>
                </a:r>
                <a:r>
                  <a:rPr lang="en-US" dirty="0"/>
                  <a:t>: </a:t>
                </a:r>
                <a:r>
                  <a:rPr lang="en-US" dirty="0" err="1"/>
                  <a:t>usa</a:t>
                </a:r>
                <a:r>
                  <a:rPr lang="en-US" dirty="0"/>
                  <a:t> a media das 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amostras</a:t>
                </a:r>
                <a:r>
                  <a:rPr lang="en-US" dirty="0"/>
                  <a:t> </a:t>
                </a:r>
                <a:r>
                  <a:rPr lang="en-US" dirty="0" err="1"/>
                  <a:t>mais</a:t>
                </a:r>
                <a:r>
                  <a:rPr lang="en-US" dirty="0"/>
                  <a:t> “</a:t>
                </a:r>
                <a:r>
                  <a:rPr lang="en-US" dirty="0" err="1"/>
                  <a:t>próximas</a:t>
                </a:r>
                <a:r>
                  <a:rPr lang="en-US" dirty="0"/>
                  <a:t>” para </a:t>
                </a:r>
                <a:r>
                  <a:rPr lang="en-US" dirty="0" err="1"/>
                  <a:t>predizer</a:t>
                </a:r>
                <a:r>
                  <a:rPr lang="en-US" dirty="0"/>
                  <a:t> </a:t>
                </a:r>
                <a:r>
                  <a:rPr lang="en-US" dirty="0" err="1"/>
                  <a:t>os</a:t>
                </a:r>
                <a:r>
                  <a:rPr lang="en-US" dirty="0"/>
                  <a:t> </a:t>
                </a:r>
                <a:r>
                  <a:rPr lang="en-US" dirty="0" err="1"/>
                  <a:t>valores</a:t>
                </a:r>
                <a:r>
                  <a:rPr lang="en-US" dirty="0"/>
                  <a:t> </a:t>
                </a:r>
                <a:r>
                  <a:rPr lang="en-US" dirty="0" err="1"/>
                  <a:t>faltantes</a:t>
                </a:r>
                <a:r>
                  <a:rPr lang="en-US" dirty="0"/>
                  <a:t>.</a:t>
                </a:r>
                <a:endParaRPr lang="pt-BR" dirty="0"/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en-US" dirty="0" err="1">
                    <a:latin typeface="Consolas" panose="020B0609020204030204" pitchFamily="49" charset="0"/>
                  </a:rPr>
                  <a:t>IterativeImputer</a:t>
                </a:r>
                <a:r>
                  <a:rPr lang="en-US" dirty="0"/>
                  <a:t>: </a:t>
                </a:r>
                <a:r>
                  <a:rPr lang="en-US" dirty="0" err="1"/>
                  <a:t>treina</a:t>
                </a:r>
                <a:r>
                  <a:rPr lang="en-US" dirty="0"/>
                  <a:t> um </a:t>
                </a:r>
                <a:r>
                  <a:rPr lang="en-US" dirty="0" err="1"/>
                  <a:t>modelo</a:t>
                </a:r>
                <a:r>
                  <a:rPr lang="en-US" dirty="0"/>
                  <a:t> de </a:t>
                </a:r>
                <a:r>
                  <a:rPr lang="en-US" dirty="0" err="1"/>
                  <a:t>regressão</a:t>
                </a:r>
                <a:r>
                  <a:rPr lang="en-US" dirty="0"/>
                  <a:t> para </a:t>
                </a:r>
                <a:r>
                  <a:rPr lang="en-US" dirty="0" err="1"/>
                  <a:t>cada</a:t>
                </a:r>
                <a:r>
                  <a:rPr lang="en-US" dirty="0"/>
                  <a:t> </a:t>
                </a:r>
                <a:r>
                  <a:rPr lang="en-US" dirty="0" err="1"/>
                  <a:t>atributo</a:t>
                </a:r>
                <a:r>
                  <a:rPr lang="en-US" dirty="0"/>
                  <a:t> (i.e., </a:t>
                </a:r>
                <a:r>
                  <a:rPr lang="en-US" dirty="0" err="1"/>
                  <a:t>coluna</a:t>
                </a:r>
                <a:r>
                  <a:rPr lang="en-US" dirty="0"/>
                  <a:t>) para </a:t>
                </a:r>
                <a:r>
                  <a:rPr lang="en-US" dirty="0" err="1"/>
                  <a:t>predizer</a:t>
                </a:r>
                <a:r>
                  <a:rPr lang="en-US" dirty="0"/>
                  <a:t> </a:t>
                </a:r>
                <a:r>
                  <a:rPr lang="en-US" dirty="0" err="1"/>
                  <a:t>os</a:t>
                </a:r>
                <a:r>
                  <a:rPr lang="en-US" dirty="0"/>
                  <a:t> </a:t>
                </a:r>
                <a:r>
                  <a:rPr lang="en-US" dirty="0" err="1"/>
                  <a:t>valores</a:t>
                </a:r>
                <a:r>
                  <a:rPr lang="en-US" dirty="0"/>
                  <a:t> </a:t>
                </a:r>
                <a:r>
                  <a:rPr lang="en-US" dirty="0" err="1"/>
                  <a:t>faltantes</a:t>
                </a:r>
                <a:r>
                  <a:rPr lang="en-US" dirty="0"/>
                  <a:t>.</a:t>
                </a:r>
                <a:endParaRPr lang="pt-BR" dirty="0"/>
              </a:p>
              <a:p>
                <a:r>
                  <a:rPr lang="pt-BR" b="1" dirty="0"/>
                  <a:t>OBS</a:t>
                </a:r>
                <a:r>
                  <a:rPr lang="pt-BR" dirty="0"/>
                  <a:t>.: Funcionam apenas para dados numéricos.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085312-6769-EEE2-F347-EB35B496F25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1" y="1825624"/>
                <a:ext cx="11198628" cy="5032375"/>
              </a:xfrm>
              <a:blipFill>
                <a:blip r:embed="rId3"/>
                <a:stretch>
                  <a:fillRect l="-980" t="-1937" r="-14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5232405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6D8C24E7-6271-81C2-5E65-14F014862B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D8BAE93-AB82-C01D-FD21-21C1F70D8D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Tratando</a:t>
            </a:r>
            <a:r>
              <a:rPr lang="en-US" dirty="0"/>
              <a:t> </a:t>
            </a:r>
            <a:r>
              <a:rPr lang="en-US" dirty="0" err="1"/>
              <a:t>valores</a:t>
            </a:r>
            <a:r>
              <a:rPr lang="en-US" dirty="0"/>
              <a:t> </a:t>
            </a:r>
            <a:r>
              <a:rPr lang="en-US" dirty="0" err="1"/>
              <a:t>faltantes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ACB16EA-884E-2721-A174-A3DF9601FE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1234057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err="1"/>
              <a:t>Exemplo</a:t>
            </a:r>
            <a:r>
              <a:rPr lang="en-US" b="1" dirty="0"/>
              <a:t> de </a:t>
            </a:r>
            <a:r>
              <a:rPr lang="en-US" b="1" dirty="0" err="1"/>
              <a:t>uso</a:t>
            </a:r>
            <a:r>
              <a:rPr lang="en-US" b="1" dirty="0"/>
              <a:t> do </a:t>
            </a:r>
            <a:r>
              <a:rPr lang="en-US" b="1" dirty="0" err="1">
                <a:latin typeface="Consolas" panose="020B0609020204030204" pitchFamily="49" charset="0"/>
              </a:rPr>
              <a:t>KNNImputer</a:t>
            </a:r>
            <a:endParaRPr lang="en-US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11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</a:rPr>
              <a:t>from </a:t>
            </a:r>
            <a:r>
              <a:rPr lang="en-US" sz="2000" dirty="0" err="1">
                <a:latin typeface="Consolas" panose="020B0609020204030204" pitchFamily="49" charset="0"/>
              </a:rPr>
              <a:t>sklearn.impute</a:t>
            </a:r>
            <a:r>
              <a:rPr lang="en-US" sz="2000" dirty="0">
                <a:latin typeface="Consolas" panose="020B0609020204030204" pitchFamily="49" charset="0"/>
              </a:rPr>
              <a:t> import </a:t>
            </a:r>
            <a:r>
              <a:rPr lang="en-US" sz="2000" dirty="0" err="1">
                <a:latin typeface="Consolas" panose="020B0609020204030204" pitchFamily="49" charset="0"/>
              </a:rPr>
              <a:t>KNNImputer</a:t>
            </a:r>
            <a:endParaRPr lang="en-US" sz="2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11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dirty="0" err="1">
                <a:latin typeface="Consolas" panose="020B0609020204030204" pitchFamily="49" charset="0"/>
              </a:rPr>
              <a:t>df_num</a:t>
            </a:r>
            <a:r>
              <a:rPr lang="en-US" sz="2000" dirty="0">
                <a:latin typeface="Consolas" panose="020B0609020204030204" pitchFamily="49" charset="0"/>
              </a:rPr>
              <a:t> = </a:t>
            </a:r>
            <a:r>
              <a:rPr lang="en-US" sz="2000" dirty="0" err="1">
                <a:latin typeface="Consolas" panose="020B0609020204030204" pitchFamily="49" charset="0"/>
              </a:rPr>
              <a:t>df.select_dtypes</a:t>
            </a:r>
            <a:r>
              <a:rPr lang="en-US" sz="2000" dirty="0">
                <a:latin typeface="Consolas" panose="020B0609020204030204" pitchFamily="49" charset="0"/>
              </a:rPr>
              <a:t>(include="number")</a:t>
            </a:r>
          </a:p>
          <a:p>
            <a:pPr marL="0" indent="0">
              <a:buNone/>
            </a:pPr>
            <a:endParaRPr lang="en-US" sz="12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</a:rPr>
              <a:t>imputer = </a:t>
            </a:r>
            <a:r>
              <a:rPr lang="en-US" sz="2000" dirty="0" err="1">
                <a:latin typeface="Consolas" panose="020B0609020204030204" pitchFamily="49" charset="0"/>
              </a:rPr>
              <a:t>KNNImputer</a:t>
            </a:r>
            <a:r>
              <a:rPr lang="en-US" sz="2000" dirty="0">
                <a:latin typeface="Consolas" panose="020B0609020204030204" pitchFamily="49" charset="0"/>
              </a:rPr>
              <a:t>(</a:t>
            </a:r>
            <a:r>
              <a:rPr lang="en-US" sz="2000" dirty="0" err="1">
                <a:latin typeface="Consolas" panose="020B0609020204030204" pitchFamily="49" charset="0"/>
              </a:rPr>
              <a:t>n_neighbors</a:t>
            </a:r>
            <a:r>
              <a:rPr lang="en-US" sz="2000" dirty="0">
                <a:latin typeface="Consolas" panose="020B0609020204030204" pitchFamily="49" charset="0"/>
              </a:rPr>
              <a:t>=5) # </a:t>
            </a:r>
            <a:r>
              <a:rPr lang="en-US" sz="2000" dirty="0" err="1">
                <a:latin typeface="Consolas" panose="020B0609020204030204" pitchFamily="49" charset="0"/>
              </a:rPr>
              <a:t>número</a:t>
            </a:r>
            <a:r>
              <a:rPr lang="en-US" sz="2000" dirty="0">
                <a:latin typeface="Consolas" panose="020B0609020204030204" pitchFamily="49" charset="0"/>
              </a:rPr>
              <a:t> de </a:t>
            </a:r>
            <a:r>
              <a:rPr lang="en-US" sz="2000" dirty="0" err="1">
                <a:latin typeface="Consolas" panose="020B0609020204030204" pitchFamily="49" charset="0"/>
              </a:rPr>
              <a:t>vizinhos</a:t>
            </a:r>
            <a:r>
              <a:rPr lang="en-US" sz="2000" dirty="0">
                <a:latin typeface="Consolas" panose="020B0609020204030204" pitchFamily="49" charset="0"/>
              </a:rPr>
              <a:t>: 5</a:t>
            </a:r>
          </a:p>
          <a:p>
            <a:pPr marL="0" indent="0">
              <a:buNone/>
            </a:pPr>
            <a:r>
              <a:rPr lang="en-US" sz="2000" dirty="0" err="1">
                <a:latin typeface="Consolas" panose="020B0609020204030204" pitchFamily="49" charset="0"/>
              </a:rPr>
              <a:t>df_num_imputed</a:t>
            </a:r>
            <a:r>
              <a:rPr lang="en-US" sz="2000" dirty="0">
                <a:latin typeface="Consolas" panose="020B0609020204030204" pitchFamily="49" charset="0"/>
              </a:rPr>
              <a:t> = </a:t>
            </a:r>
            <a:r>
              <a:rPr lang="en-US" sz="2000" dirty="0" err="1">
                <a:latin typeface="Consolas" panose="020B0609020204030204" pitchFamily="49" charset="0"/>
              </a:rPr>
              <a:t>imputer.fit_transform</a:t>
            </a:r>
            <a:r>
              <a:rPr lang="en-US" sz="2000" dirty="0">
                <a:latin typeface="Consolas" panose="020B0609020204030204" pitchFamily="49" charset="0"/>
              </a:rPr>
              <a:t>(</a:t>
            </a:r>
            <a:r>
              <a:rPr lang="en-US" sz="2000" dirty="0" err="1">
                <a:latin typeface="Consolas" panose="020B0609020204030204" pitchFamily="49" charset="0"/>
              </a:rPr>
              <a:t>df_num</a:t>
            </a:r>
            <a:r>
              <a:rPr lang="en-US" sz="2000" dirty="0"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endParaRPr lang="en-US" sz="2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400" dirty="0"/>
              <a:t>OBS.1: O </a:t>
            </a:r>
            <a:r>
              <a:rPr lang="en-US" sz="2400" dirty="0" err="1"/>
              <a:t>método</a:t>
            </a:r>
            <a:r>
              <a:rPr lang="en-US" sz="2400" dirty="0"/>
              <a:t> ‘</a:t>
            </a:r>
            <a:r>
              <a:rPr lang="en-US" sz="2400" dirty="0" err="1">
                <a:latin typeface="Consolas" panose="020B0609020204030204" pitchFamily="49" charset="0"/>
              </a:rPr>
              <a:t>fit_transform</a:t>
            </a:r>
            <a:r>
              <a:rPr lang="en-US" sz="2400" dirty="0"/>
              <a:t>’ </a:t>
            </a:r>
            <a:r>
              <a:rPr lang="en-US" sz="2400" dirty="0" err="1"/>
              <a:t>treina</a:t>
            </a:r>
            <a:r>
              <a:rPr lang="en-US" sz="2400" dirty="0"/>
              <a:t> o </a:t>
            </a:r>
            <a:r>
              <a:rPr lang="en-US" sz="2400" dirty="0" err="1"/>
              <a:t>modelo</a:t>
            </a:r>
            <a:r>
              <a:rPr lang="en-US" sz="2400" dirty="0"/>
              <a:t> e </a:t>
            </a:r>
            <a:r>
              <a:rPr lang="en-US" sz="2400" dirty="0" err="1"/>
              <a:t>preenche</a:t>
            </a:r>
            <a:r>
              <a:rPr lang="en-US" sz="2400" dirty="0"/>
              <a:t> </a:t>
            </a:r>
            <a:r>
              <a:rPr lang="en-US" sz="2400" dirty="0" err="1"/>
              <a:t>os</a:t>
            </a:r>
            <a:r>
              <a:rPr lang="en-US" sz="2400" dirty="0"/>
              <a:t> </a:t>
            </a:r>
            <a:r>
              <a:rPr lang="en-US" sz="2400" dirty="0" err="1"/>
              <a:t>valores</a:t>
            </a:r>
            <a:r>
              <a:rPr lang="en-US" sz="2400" dirty="0"/>
              <a:t> </a:t>
            </a:r>
            <a:r>
              <a:rPr lang="en-US" sz="2400" dirty="0" err="1"/>
              <a:t>faltantes</a:t>
            </a:r>
            <a:r>
              <a:rPr lang="en-US" sz="2400" dirty="0"/>
              <a:t>.</a:t>
            </a:r>
          </a:p>
          <a:p>
            <a:pPr marL="0" indent="0">
              <a:buNone/>
            </a:pPr>
            <a:r>
              <a:rPr lang="en-US" sz="2400" dirty="0"/>
              <a:t>OBS.2: </a:t>
            </a:r>
            <a:r>
              <a:rPr lang="pt-BR" sz="2400" dirty="0"/>
              <a:t>Em ML, calculamos o valor faltante </a:t>
            </a:r>
            <a:r>
              <a:rPr lang="pt-BR" sz="2400" b="1" dirty="0"/>
              <a:t>usando apenas os dados do conjunto de treinamento</a:t>
            </a:r>
            <a:r>
              <a:rPr lang="pt-BR" sz="2400" dirty="0"/>
              <a:t> (para evitar </a:t>
            </a:r>
            <a:r>
              <a:rPr lang="pt-BR" sz="2400" i="1" dirty="0"/>
              <a:t>data </a:t>
            </a:r>
            <a:r>
              <a:rPr lang="pt-BR" sz="2400" i="1" dirty="0" err="1"/>
              <a:t>leakage</a:t>
            </a:r>
            <a:r>
              <a:rPr lang="pt-BR" sz="2400" dirty="0"/>
              <a:t>). Isso é válido para qualquer pré-processamento/transformação de dados.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83871805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30E2E2B-24EC-C16C-5C5F-5356E8ED39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EBA5E73-FB7F-BAE4-583D-13BA4DDE6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Tratando</a:t>
            </a:r>
            <a:r>
              <a:rPr lang="en-US" dirty="0"/>
              <a:t> </a:t>
            </a:r>
            <a:r>
              <a:rPr lang="en-US" dirty="0" err="1"/>
              <a:t>valores</a:t>
            </a:r>
            <a:r>
              <a:rPr lang="en-US" dirty="0"/>
              <a:t> </a:t>
            </a:r>
            <a:r>
              <a:rPr lang="en-US" dirty="0" err="1"/>
              <a:t>faltantes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5E41054-BC46-7797-5ED0-34F2E24B5E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4"/>
            <a:ext cx="11198628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err="1"/>
              <a:t>Exemplo</a:t>
            </a:r>
            <a:r>
              <a:rPr lang="en-US" b="1" dirty="0"/>
              <a:t> de </a:t>
            </a:r>
            <a:r>
              <a:rPr lang="en-US" b="1" dirty="0" err="1"/>
              <a:t>uso</a:t>
            </a:r>
            <a:r>
              <a:rPr lang="en-US" b="1" dirty="0"/>
              <a:t> do </a:t>
            </a:r>
            <a:r>
              <a:rPr lang="en-US" b="1" dirty="0" err="1">
                <a:latin typeface="Consolas" panose="020B0609020204030204" pitchFamily="49" charset="0"/>
              </a:rPr>
              <a:t>IterativeImputer</a:t>
            </a:r>
            <a:endParaRPr lang="en-US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pt-BR" sz="11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pt-BR" sz="2000" dirty="0">
                <a:latin typeface="Consolas" panose="020B0609020204030204" pitchFamily="49" charset="0"/>
              </a:rPr>
              <a:t># </a:t>
            </a:r>
            <a:r>
              <a:rPr lang="pt-BR" sz="2000" dirty="0" err="1">
                <a:latin typeface="Consolas" panose="020B0609020204030204" pitchFamily="49" charset="0"/>
              </a:rPr>
              <a:t>import</a:t>
            </a:r>
            <a:r>
              <a:rPr lang="pt-BR" sz="2000" dirty="0">
                <a:latin typeface="Consolas" panose="020B0609020204030204" pitchFamily="49" charset="0"/>
              </a:rPr>
              <a:t> necessário</a:t>
            </a:r>
            <a:endParaRPr lang="en-US" sz="2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pt-BR" sz="2000" dirty="0" err="1">
                <a:latin typeface="Consolas" panose="020B0609020204030204" pitchFamily="49" charset="0"/>
              </a:rPr>
              <a:t>from</a:t>
            </a:r>
            <a:r>
              <a:rPr lang="pt-BR" sz="2000" dirty="0">
                <a:latin typeface="Consolas" panose="020B0609020204030204" pitchFamily="49" charset="0"/>
              </a:rPr>
              <a:t> </a:t>
            </a:r>
            <a:r>
              <a:rPr lang="pt-BR" sz="2000" dirty="0" err="1">
                <a:latin typeface="Consolas" panose="020B0609020204030204" pitchFamily="49" charset="0"/>
              </a:rPr>
              <a:t>sklearn.experimental</a:t>
            </a:r>
            <a:r>
              <a:rPr lang="pt-BR" sz="2000" dirty="0">
                <a:latin typeface="Consolas" panose="020B0609020204030204" pitchFamily="49" charset="0"/>
              </a:rPr>
              <a:t> </a:t>
            </a:r>
            <a:r>
              <a:rPr lang="pt-BR" sz="2000" dirty="0" err="1">
                <a:latin typeface="Consolas" panose="020B0609020204030204" pitchFamily="49" charset="0"/>
              </a:rPr>
              <a:t>import</a:t>
            </a:r>
            <a:r>
              <a:rPr lang="pt-BR" sz="2000" dirty="0">
                <a:latin typeface="Consolas" panose="020B0609020204030204" pitchFamily="49" charset="0"/>
              </a:rPr>
              <a:t> </a:t>
            </a:r>
            <a:r>
              <a:rPr lang="pt-BR" sz="2000" dirty="0" err="1">
                <a:latin typeface="Consolas" panose="020B0609020204030204" pitchFamily="49" charset="0"/>
              </a:rPr>
              <a:t>enable_iterative_imputer</a:t>
            </a:r>
            <a:endParaRPr lang="pt-BR" sz="2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pt-BR" sz="2000" dirty="0" err="1">
                <a:latin typeface="Consolas" panose="020B0609020204030204" pitchFamily="49" charset="0"/>
              </a:rPr>
              <a:t>from</a:t>
            </a:r>
            <a:r>
              <a:rPr lang="pt-BR" sz="2000" dirty="0">
                <a:latin typeface="Consolas" panose="020B0609020204030204" pitchFamily="49" charset="0"/>
              </a:rPr>
              <a:t> </a:t>
            </a:r>
            <a:r>
              <a:rPr lang="pt-BR" sz="2000" dirty="0" err="1">
                <a:latin typeface="Consolas" panose="020B0609020204030204" pitchFamily="49" charset="0"/>
              </a:rPr>
              <a:t>sklearn.impute</a:t>
            </a:r>
            <a:r>
              <a:rPr lang="pt-BR" sz="2000" dirty="0">
                <a:latin typeface="Consolas" panose="020B0609020204030204" pitchFamily="49" charset="0"/>
              </a:rPr>
              <a:t> </a:t>
            </a:r>
            <a:r>
              <a:rPr lang="pt-BR" sz="2000" dirty="0" err="1">
                <a:latin typeface="Consolas" panose="020B0609020204030204" pitchFamily="49" charset="0"/>
              </a:rPr>
              <a:t>import</a:t>
            </a:r>
            <a:r>
              <a:rPr lang="pt-BR" sz="2000" dirty="0">
                <a:latin typeface="Consolas" panose="020B0609020204030204" pitchFamily="49" charset="0"/>
              </a:rPr>
              <a:t> </a:t>
            </a:r>
            <a:r>
              <a:rPr lang="pt-BR" sz="2000" dirty="0" err="1">
                <a:latin typeface="Consolas" panose="020B0609020204030204" pitchFamily="49" charset="0"/>
              </a:rPr>
              <a:t>IterativeImputer</a:t>
            </a:r>
            <a:endParaRPr lang="pt-BR" sz="2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pt-BR" sz="2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pt-BR" sz="2000" dirty="0" err="1">
                <a:latin typeface="Consolas" panose="020B0609020204030204" pitchFamily="49" charset="0"/>
              </a:rPr>
              <a:t>df_num</a:t>
            </a:r>
            <a:r>
              <a:rPr lang="pt-BR" sz="2000" dirty="0">
                <a:latin typeface="Consolas" panose="020B0609020204030204" pitchFamily="49" charset="0"/>
              </a:rPr>
              <a:t> = </a:t>
            </a:r>
            <a:r>
              <a:rPr lang="pt-BR" sz="2000" dirty="0" err="1">
                <a:latin typeface="Consolas" panose="020B0609020204030204" pitchFamily="49" charset="0"/>
              </a:rPr>
              <a:t>df.select_dtypes</a:t>
            </a:r>
            <a:r>
              <a:rPr lang="pt-BR" sz="2000" dirty="0">
                <a:latin typeface="Consolas" panose="020B0609020204030204" pitchFamily="49" charset="0"/>
              </a:rPr>
              <a:t>(include="</a:t>
            </a:r>
            <a:r>
              <a:rPr lang="pt-BR" sz="2000" dirty="0" err="1">
                <a:latin typeface="Consolas" panose="020B0609020204030204" pitchFamily="49" charset="0"/>
              </a:rPr>
              <a:t>number</a:t>
            </a:r>
            <a:r>
              <a:rPr lang="pt-BR" sz="2000" dirty="0">
                <a:latin typeface="Consolas" panose="020B0609020204030204" pitchFamily="49" charset="0"/>
              </a:rPr>
              <a:t>")</a:t>
            </a:r>
          </a:p>
          <a:p>
            <a:pPr marL="0" indent="0">
              <a:buNone/>
            </a:pPr>
            <a:endParaRPr lang="pt-BR" sz="2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pt-BR" sz="2000" dirty="0" err="1">
                <a:latin typeface="Consolas" panose="020B0609020204030204" pitchFamily="49" charset="0"/>
              </a:rPr>
              <a:t>imputer</a:t>
            </a:r>
            <a:r>
              <a:rPr lang="pt-BR" sz="2000" dirty="0">
                <a:latin typeface="Consolas" panose="020B0609020204030204" pitchFamily="49" charset="0"/>
              </a:rPr>
              <a:t> = </a:t>
            </a:r>
            <a:r>
              <a:rPr lang="pt-BR" sz="2000" dirty="0" err="1">
                <a:latin typeface="Consolas" panose="020B0609020204030204" pitchFamily="49" charset="0"/>
              </a:rPr>
              <a:t>IterativeImputer</a:t>
            </a:r>
            <a:r>
              <a:rPr lang="pt-BR" sz="2000" dirty="0">
                <a:latin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r>
              <a:rPr lang="pt-BR" sz="2000" dirty="0" err="1">
                <a:latin typeface="Consolas" panose="020B0609020204030204" pitchFamily="49" charset="0"/>
              </a:rPr>
              <a:t>df_num_imputed</a:t>
            </a:r>
            <a:r>
              <a:rPr lang="pt-BR" sz="2000" dirty="0">
                <a:latin typeface="Consolas" panose="020B0609020204030204" pitchFamily="49" charset="0"/>
              </a:rPr>
              <a:t> = </a:t>
            </a:r>
            <a:r>
              <a:rPr lang="pt-BR" sz="2000" dirty="0" err="1">
                <a:latin typeface="Consolas" panose="020B0609020204030204" pitchFamily="49" charset="0"/>
              </a:rPr>
              <a:t>imputer.fit_transform</a:t>
            </a:r>
            <a:r>
              <a:rPr lang="pt-BR" sz="2000" dirty="0">
                <a:latin typeface="Consolas" panose="020B0609020204030204" pitchFamily="49" charset="0"/>
              </a:rPr>
              <a:t>(</a:t>
            </a:r>
            <a:r>
              <a:rPr lang="pt-BR" sz="2000" dirty="0" err="1">
                <a:latin typeface="Consolas" panose="020B0609020204030204" pitchFamily="49" charset="0"/>
              </a:rPr>
              <a:t>df_num</a:t>
            </a:r>
            <a:r>
              <a:rPr lang="pt-BR" sz="2000" dirty="0"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68729288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D06692F8-9561-AF41-C928-7E5EBD71C9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CAB5A95-5720-EFEF-0291-937E384F22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9471" y="2154577"/>
            <a:ext cx="10853057" cy="254884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pt-BR" sz="5400" dirty="0"/>
              <a:t>Anexo II: </a:t>
            </a:r>
          </a:p>
          <a:p>
            <a:pPr marL="0" indent="0" algn="ctr">
              <a:buNone/>
            </a:pPr>
            <a:r>
              <a:rPr lang="pt-BR" sz="5400" dirty="0"/>
              <a:t>Detectando </a:t>
            </a:r>
            <a:r>
              <a:rPr lang="pt-BR" sz="5400" i="1" dirty="0"/>
              <a:t>outliers</a:t>
            </a:r>
            <a:r>
              <a:rPr lang="pt-BR" sz="5400" dirty="0"/>
              <a:t> com Z-</a:t>
            </a:r>
            <a:r>
              <a:rPr lang="pt-BR" sz="5400" i="1" dirty="0"/>
              <a:t>score</a:t>
            </a:r>
            <a:endParaRPr lang="en-US" sz="5400" i="1" dirty="0"/>
          </a:p>
        </p:txBody>
      </p:sp>
    </p:spTree>
    <p:extLst>
      <p:ext uri="{BB962C8B-B14F-4D97-AF65-F5344CB8AC3E}">
        <p14:creationId xmlns:p14="http://schemas.microsoft.com/office/powerpoint/2010/main" val="172775497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393D772-B810-B031-B6AA-8CB020BF2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Como detectar </a:t>
            </a:r>
            <a:r>
              <a:rPr lang="pt-BR" i="1" dirty="0" err="1"/>
              <a:t>outliers</a:t>
            </a:r>
            <a:r>
              <a:rPr lang="pt-BR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="" id="{53D23D27-E58B-4FF2-DC2A-A3EC7FAC457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503025" y="1825624"/>
                <a:ext cx="6688975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pt-BR" b="1" dirty="0"/>
                  <a:t>Z-score</a:t>
                </a:r>
              </a:p>
              <a:p>
                <a:r>
                  <a:rPr lang="pt-BR" dirty="0"/>
                  <a:t>Mede quantos desvios-padrão um valor está distante da média da distribuição.</a:t>
                </a:r>
              </a:p>
              <a:p>
                <a:r>
                  <a:rPr lang="pt-BR" dirty="0"/>
                  <a:t>Assume que os dados seguem uma distribuição semelhante à normal.</a:t>
                </a:r>
              </a:p>
              <a:p>
                <a:r>
                  <a:rPr lang="pt-BR" dirty="0"/>
                  <a:t>99.7% dos valores estão dentro do intervalo de +/- 3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pt-BR" dirty="0"/>
                  <a:t>.</a:t>
                </a:r>
              </a:p>
              <a:p>
                <a:r>
                  <a:rPr lang="pt-BR" dirty="0"/>
                  <a:t>Assim, assume-se que valores maiores do que +/- 3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pt-BR" dirty="0"/>
                  <a:t> são possíveis </a:t>
                </a:r>
                <a:r>
                  <a:rPr lang="pt-BR" i="1" dirty="0" err="1"/>
                  <a:t>outliers</a:t>
                </a:r>
                <a:r>
                  <a:rPr lang="pt-BR" dirty="0"/>
                  <a:t>, pois são valores raros.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="" xmlns:a16="http://schemas.microsoft.com/office/drawing/2014/main" id="{53D23D27-E58B-4FF2-DC2A-A3EC7FAC457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503025" y="1825624"/>
                <a:ext cx="6688975" cy="5032375"/>
              </a:xfrm>
              <a:blipFill rotWithShape="0">
                <a:blip r:embed="rId2"/>
                <a:stretch>
                  <a:fillRect l="-1914" t="-193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 descr="Z Scores (Z Value) &amp; Z Table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54" t="5346"/>
          <a:stretch/>
        </p:blipFill>
        <p:spPr bwMode="auto">
          <a:xfrm>
            <a:off x="415636" y="2288566"/>
            <a:ext cx="4771506" cy="38081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6065522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393D772-B810-B031-B6AA-8CB020BF2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Como detectar </a:t>
            </a:r>
            <a:r>
              <a:rPr lang="pt-BR" i="1" dirty="0" err="1"/>
              <a:t>outliers</a:t>
            </a:r>
            <a:r>
              <a:rPr lang="pt-BR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="" id="{53D23D27-E58B-4FF2-DC2A-A3EC7FAC457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384175" y="1825624"/>
                <a:ext cx="5807825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pt-BR" b="1" dirty="0"/>
                  <a:t>Z-score</a:t>
                </a:r>
              </a:p>
              <a:p>
                <a:r>
                  <a:rPr lang="pt-BR" dirty="0"/>
                  <a:t>Z-score de um valor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pt-BR" dirty="0"/>
                  <a:t> é calculado como: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num>
                        <m:den>
                          <m: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den>
                      </m:f>
                    </m:oMath>
                  </m:oMathPara>
                </a14:m>
                <a:endParaRPr lang="pt-BR" dirty="0"/>
              </a:p>
              <a:p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t-BR" dirty="0"/>
                  <a:t>indica a distância até a média: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pt-BR" dirty="0"/>
                  <a:t>→ valor igual à média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pt-BR" dirty="0"/>
                  <a:t> → 1 desvio-padrão acima da média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pt-BR" dirty="0"/>
                  <a:t> → 2 desvios-padrão abaixo da média</a:t>
                </a:r>
              </a:p>
              <a:p>
                <a:pPr marL="0" indent="0">
                  <a:buNone/>
                </a:pPr>
                <a:endParaRPr lang="pt-BR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="" xmlns:a16="http://schemas.microsoft.com/office/drawing/2014/main" id="{53D23D27-E58B-4FF2-DC2A-A3EC7FAC457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384175" y="1825624"/>
                <a:ext cx="5807825" cy="5032375"/>
              </a:xfrm>
              <a:blipFill rotWithShape="0">
                <a:blip r:embed="rId2"/>
                <a:stretch>
                  <a:fillRect l="-2099" t="-193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8" descr="Master NIR Outlier Detection in Food Manufacturi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34" r="10317"/>
          <a:stretch/>
        </p:blipFill>
        <p:spPr bwMode="auto">
          <a:xfrm>
            <a:off x="127462" y="2366123"/>
            <a:ext cx="5968538" cy="3438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8883128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393D772-B810-B031-B6AA-8CB020BF2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Como detectar </a:t>
            </a:r>
            <a:r>
              <a:rPr lang="pt-BR" i="1" dirty="0" err="1"/>
              <a:t>outliers</a:t>
            </a:r>
            <a:r>
              <a:rPr lang="pt-BR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3D23D27-E58B-4FF2-DC2A-A3EC7FAC45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4"/>
            <a:ext cx="11353800" cy="5032375"/>
          </a:xfrm>
        </p:spPr>
        <p:txBody>
          <a:bodyPr/>
          <a:lstStyle/>
          <a:p>
            <a:pPr marL="0" indent="0">
              <a:buNone/>
            </a:pPr>
            <a:r>
              <a:rPr lang="pt-BR" b="1" dirty="0"/>
              <a:t>Z-score</a:t>
            </a:r>
          </a:p>
          <a:p>
            <a:pPr marL="0" indent="0">
              <a:buNone/>
            </a:pPr>
            <a:r>
              <a:rPr lang="pt-BR" dirty="0" err="1">
                <a:latin typeface="Consolas" panose="020B0609020204030204" pitchFamily="49" charset="0"/>
              </a:rPr>
              <a:t>num_cols</a:t>
            </a:r>
            <a:r>
              <a:rPr lang="pt-BR" dirty="0">
                <a:latin typeface="Consolas" panose="020B0609020204030204" pitchFamily="49" charset="0"/>
              </a:rPr>
              <a:t> = </a:t>
            </a:r>
            <a:r>
              <a:rPr lang="pt-BR" dirty="0" err="1">
                <a:latin typeface="Consolas" panose="020B0609020204030204" pitchFamily="49" charset="0"/>
              </a:rPr>
              <a:t>df.select_dtypes</a:t>
            </a:r>
            <a:r>
              <a:rPr lang="pt-BR" dirty="0">
                <a:latin typeface="Consolas" panose="020B0609020204030204" pitchFamily="49" charset="0"/>
              </a:rPr>
              <a:t>(include='</a:t>
            </a:r>
            <a:r>
              <a:rPr lang="pt-BR" dirty="0" err="1">
                <a:latin typeface="Consolas" panose="020B0609020204030204" pitchFamily="49" charset="0"/>
              </a:rPr>
              <a:t>number</a:t>
            </a:r>
            <a:r>
              <a:rPr lang="pt-BR" dirty="0">
                <a:latin typeface="Consolas" panose="020B0609020204030204" pitchFamily="49" charset="0"/>
              </a:rPr>
              <a:t>').</a:t>
            </a:r>
            <a:r>
              <a:rPr lang="pt-BR" dirty="0" err="1">
                <a:latin typeface="Consolas" panose="020B0609020204030204" pitchFamily="49" charset="0"/>
              </a:rPr>
              <a:t>columns</a:t>
            </a:r>
            <a:endParaRPr lang="pt-BR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pt-BR" dirty="0" err="1">
                <a:latin typeface="Consolas" panose="020B0609020204030204" pitchFamily="49" charset="0"/>
              </a:rPr>
              <a:t>z_scores</a:t>
            </a:r>
            <a:r>
              <a:rPr lang="pt-BR" dirty="0">
                <a:latin typeface="Consolas" panose="020B0609020204030204" pitchFamily="49" charset="0"/>
              </a:rPr>
              <a:t> = </a:t>
            </a:r>
            <a:r>
              <a:rPr lang="pt-BR" dirty="0" err="1">
                <a:latin typeface="Consolas" panose="020B0609020204030204" pitchFamily="49" charset="0"/>
              </a:rPr>
              <a:t>np.abs</a:t>
            </a:r>
            <a:r>
              <a:rPr lang="pt-BR" dirty="0">
                <a:latin typeface="Consolas" panose="020B0609020204030204" pitchFamily="49" charset="0"/>
              </a:rPr>
              <a:t>(</a:t>
            </a:r>
            <a:r>
              <a:rPr lang="pt-BR" dirty="0" err="1">
                <a:latin typeface="Consolas" panose="020B0609020204030204" pitchFamily="49" charset="0"/>
              </a:rPr>
              <a:t>stats.zscore</a:t>
            </a:r>
            <a:r>
              <a:rPr lang="pt-BR" dirty="0">
                <a:latin typeface="Consolas" panose="020B0609020204030204" pitchFamily="49" charset="0"/>
              </a:rPr>
              <a:t>(</a:t>
            </a:r>
            <a:r>
              <a:rPr lang="pt-BR" dirty="0" err="1">
                <a:latin typeface="Consolas" panose="020B0609020204030204" pitchFamily="49" charset="0"/>
              </a:rPr>
              <a:t>df</a:t>
            </a:r>
            <a:r>
              <a:rPr lang="pt-BR" dirty="0">
                <a:latin typeface="Consolas" panose="020B0609020204030204" pitchFamily="49" charset="0"/>
              </a:rPr>
              <a:t>[</a:t>
            </a:r>
            <a:r>
              <a:rPr lang="pt-BR" dirty="0" err="1">
                <a:latin typeface="Consolas" panose="020B0609020204030204" pitchFamily="49" charset="0"/>
              </a:rPr>
              <a:t>num_cols</a:t>
            </a:r>
            <a:r>
              <a:rPr lang="pt-BR" dirty="0">
                <a:latin typeface="Consolas" panose="020B0609020204030204" pitchFamily="49" charset="0"/>
              </a:rPr>
              <a:t>]))</a:t>
            </a:r>
          </a:p>
          <a:p>
            <a:pPr marL="0" indent="0">
              <a:buNone/>
            </a:pPr>
            <a:r>
              <a:rPr lang="pt-BR" dirty="0" err="1">
                <a:latin typeface="Consolas" panose="020B0609020204030204" pitchFamily="49" charset="0"/>
              </a:rPr>
              <a:t>outliers_por_linha</a:t>
            </a:r>
            <a:r>
              <a:rPr lang="pt-BR" dirty="0">
                <a:latin typeface="Consolas" panose="020B0609020204030204" pitchFamily="49" charset="0"/>
              </a:rPr>
              <a:t> = (</a:t>
            </a:r>
            <a:r>
              <a:rPr lang="pt-BR" dirty="0" err="1">
                <a:latin typeface="Consolas" panose="020B0609020204030204" pitchFamily="49" charset="0"/>
              </a:rPr>
              <a:t>z_scores</a:t>
            </a:r>
            <a:r>
              <a:rPr lang="pt-BR" dirty="0">
                <a:latin typeface="Consolas" panose="020B0609020204030204" pitchFamily="49" charset="0"/>
              </a:rPr>
              <a:t> &gt; 3).</a:t>
            </a:r>
            <a:r>
              <a:rPr lang="pt-BR" dirty="0" err="1">
                <a:latin typeface="Consolas" panose="020B0609020204030204" pitchFamily="49" charset="0"/>
              </a:rPr>
              <a:t>any</a:t>
            </a:r>
            <a:r>
              <a:rPr lang="pt-BR" dirty="0">
                <a:latin typeface="Consolas" panose="020B0609020204030204" pitchFamily="49" charset="0"/>
              </a:rPr>
              <a:t>(</a:t>
            </a:r>
            <a:r>
              <a:rPr lang="pt-BR" dirty="0" err="1">
                <a:latin typeface="Consolas" panose="020B0609020204030204" pitchFamily="49" charset="0"/>
              </a:rPr>
              <a:t>axis</a:t>
            </a:r>
            <a:r>
              <a:rPr lang="pt-BR" dirty="0">
                <a:latin typeface="Consolas" panose="020B0609020204030204" pitchFamily="49" charset="0"/>
              </a:rPr>
              <a:t>=1)</a:t>
            </a:r>
          </a:p>
          <a:p>
            <a:pPr marL="0" indent="0">
              <a:buNone/>
            </a:pPr>
            <a:r>
              <a:rPr lang="pt-BR" dirty="0" err="1">
                <a:latin typeface="Consolas" panose="020B0609020204030204" pitchFamily="49" charset="0"/>
              </a:rPr>
              <a:t>df_outliers</a:t>
            </a:r>
            <a:r>
              <a:rPr lang="pt-BR" dirty="0">
                <a:latin typeface="Consolas" panose="020B0609020204030204" pitchFamily="49" charset="0"/>
              </a:rPr>
              <a:t> = </a:t>
            </a:r>
            <a:r>
              <a:rPr lang="pt-BR" dirty="0" err="1">
                <a:latin typeface="Consolas" panose="020B0609020204030204" pitchFamily="49" charset="0"/>
              </a:rPr>
              <a:t>df</a:t>
            </a:r>
            <a:r>
              <a:rPr lang="pt-BR" dirty="0">
                <a:latin typeface="Consolas" panose="020B0609020204030204" pitchFamily="49" charset="0"/>
              </a:rPr>
              <a:t>[</a:t>
            </a:r>
            <a:r>
              <a:rPr lang="pt-BR" dirty="0" err="1">
                <a:latin typeface="Consolas" panose="020B0609020204030204" pitchFamily="49" charset="0"/>
              </a:rPr>
              <a:t>outliers_por_linha</a:t>
            </a:r>
            <a:r>
              <a:rPr lang="pt-BR" dirty="0">
                <a:latin typeface="Consolas" panose="020B0609020204030204" pitchFamily="49" charset="0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82487038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66EC2A6C-BECC-337A-4393-0CFA04196D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5832037-52C7-5E4B-D1EC-81E4B3479E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Como remover </a:t>
            </a:r>
            <a:r>
              <a:rPr lang="pt-BR" i="1" dirty="0"/>
              <a:t>outliers</a:t>
            </a:r>
            <a:r>
              <a:rPr lang="pt-BR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9F9F7DF-7AAA-4712-251C-F085B778A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1353800" cy="5032375"/>
          </a:xfrm>
        </p:spPr>
        <p:txBody>
          <a:bodyPr>
            <a:normAutofit/>
          </a:bodyPr>
          <a:lstStyle/>
          <a:p>
            <a:r>
              <a:rPr lang="pt-BR" b="1" dirty="0"/>
              <a:t>Aplicando Z-score em várias colunas numéricas</a:t>
            </a:r>
          </a:p>
          <a:p>
            <a:pPr marL="457200" lvl="1" indent="0">
              <a:buNone/>
            </a:pPr>
            <a:r>
              <a:rPr lang="en-US" sz="2200" dirty="0" err="1">
                <a:latin typeface="Consolas" panose="020B0609020204030204" pitchFamily="49" charset="0"/>
              </a:rPr>
              <a:t>num_cols</a:t>
            </a:r>
            <a:r>
              <a:rPr lang="en-US" sz="2200" dirty="0">
                <a:latin typeface="Consolas" panose="020B0609020204030204" pitchFamily="49" charset="0"/>
              </a:rPr>
              <a:t> = </a:t>
            </a:r>
            <a:r>
              <a:rPr lang="en-US" sz="2200" dirty="0" err="1">
                <a:latin typeface="Consolas" panose="020B0609020204030204" pitchFamily="49" charset="0"/>
              </a:rPr>
              <a:t>df.select_dtypes</a:t>
            </a:r>
            <a:r>
              <a:rPr lang="en-US" sz="2200" dirty="0">
                <a:latin typeface="Consolas" panose="020B0609020204030204" pitchFamily="49" charset="0"/>
              </a:rPr>
              <a:t>(include='number').columns</a:t>
            </a:r>
          </a:p>
          <a:p>
            <a:pPr marL="457200" lvl="1" indent="0">
              <a:buNone/>
            </a:pPr>
            <a:endParaRPr lang="en-US" sz="2200" dirty="0">
              <a:latin typeface="Consolas" panose="020B0609020204030204" pitchFamily="49" charset="0"/>
            </a:endParaRPr>
          </a:p>
          <a:p>
            <a:pPr marL="457200" lvl="1" indent="0">
              <a:buNone/>
            </a:pPr>
            <a:r>
              <a:rPr lang="en-US" sz="2200" dirty="0" err="1">
                <a:latin typeface="Consolas" panose="020B0609020204030204" pitchFamily="49" charset="0"/>
              </a:rPr>
              <a:t>z_scores</a:t>
            </a:r>
            <a:r>
              <a:rPr lang="en-US" sz="2200" dirty="0">
                <a:latin typeface="Consolas" panose="020B0609020204030204" pitchFamily="49" charset="0"/>
              </a:rPr>
              <a:t> = </a:t>
            </a:r>
            <a:r>
              <a:rPr lang="en-US" sz="2200" dirty="0" err="1">
                <a:latin typeface="Consolas" panose="020B0609020204030204" pitchFamily="49" charset="0"/>
              </a:rPr>
              <a:t>np.abs</a:t>
            </a:r>
            <a:r>
              <a:rPr lang="en-US" sz="2200" dirty="0">
                <a:latin typeface="Consolas" panose="020B0609020204030204" pitchFamily="49" charset="0"/>
              </a:rPr>
              <a:t>(</a:t>
            </a:r>
            <a:r>
              <a:rPr lang="en-US" sz="2200" dirty="0" err="1">
                <a:latin typeface="Consolas" panose="020B0609020204030204" pitchFamily="49" charset="0"/>
              </a:rPr>
              <a:t>stats.zscore</a:t>
            </a:r>
            <a:r>
              <a:rPr lang="en-US" sz="2200" dirty="0">
                <a:latin typeface="Consolas" panose="020B0609020204030204" pitchFamily="49" charset="0"/>
              </a:rPr>
              <a:t>(</a:t>
            </a:r>
            <a:r>
              <a:rPr lang="en-US" sz="2200" dirty="0" err="1">
                <a:latin typeface="Consolas" panose="020B0609020204030204" pitchFamily="49" charset="0"/>
              </a:rPr>
              <a:t>df</a:t>
            </a:r>
            <a:r>
              <a:rPr lang="en-US" sz="2200" dirty="0">
                <a:latin typeface="Consolas" panose="020B0609020204030204" pitchFamily="49" charset="0"/>
              </a:rPr>
              <a:t>[</a:t>
            </a:r>
            <a:r>
              <a:rPr lang="en-US" sz="2200" dirty="0" err="1">
                <a:latin typeface="Consolas" panose="020B0609020204030204" pitchFamily="49" charset="0"/>
              </a:rPr>
              <a:t>num_cols</a:t>
            </a:r>
            <a:r>
              <a:rPr lang="en-US" sz="2200" dirty="0">
                <a:latin typeface="Consolas" panose="020B0609020204030204" pitchFamily="49" charset="0"/>
              </a:rPr>
              <a:t>], </a:t>
            </a:r>
            <a:r>
              <a:rPr lang="en-US" sz="2200" dirty="0" err="1">
                <a:latin typeface="Consolas" panose="020B0609020204030204" pitchFamily="49" charset="0"/>
              </a:rPr>
              <a:t>nan_policy</a:t>
            </a:r>
            <a:r>
              <a:rPr lang="en-US" sz="2200" dirty="0">
                <a:latin typeface="Consolas" panose="020B0609020204030204" pitchFamily="49" charset="0"/>
              </a:rPr>
              <a:t>='omit'))</a:t>
            </a:r>
          </a:p>
          <a:p>
            <a:pPr marL="457200" lvl="1" indent="0">
              <a:buNone/>
            </a:pPr>
            <a:endParaRPr lang="en-US" sz="2200" dirty="0">
              <a:latin typeface="Consolas" panose="020B0609020204030204" pitchFamily="49" charset="0"/>
            </a:endParaRPr>
          </a:p>
          <a:p>
            <a:pPr marL="457200" lvl="1" indent="0">
              <a:buNone/>
            </a:pPr>
            <a:r>
              <a:rPr lang="en-US" sz="2200" dirty="0" err="1">
                <a:latin typeface="Consolas" panose="020B0609020204030204" pitchFamily="49" charset="0"/>
              </a:rPr>
              <a:t>df_sem_outliers_z</a:t>
            </a:r>
            <a:r>
              <a:rPr lang="en-US" sz="2200" dirty="0">
                <a:latin typeface="Consolas" panose="020B0609020204030204" pitchFamily="49" charset="0"/>
              </a:rPr>
              <a:t> = </a:t>
            </a:r>
            <a:r>
              <a:rPr lang="en-US" sz="2200" dirty="0" err="1">
                <a:latin typeface="Consolas" panose="020B0609020204030204" pitchFamily="49" charset="0"/>
              </a:rPr>
              <a:t>df</a:t>
            </a:r>
            <a:r>
              <a:rPr lang="en-US" sz="2200" dirty="0">
                <a:latin typeface="Consolas" panose="020B0609020204030204" pitchFamily="49" charset="0"/>
              </a:rPr>
              <a:t>[(</a:t>
            </a:r>
            <a:r>
              <a:rPr lang="en-US" sz="2200" dirty="0" err="1">
                <a:latin typeface="Consolas" panose="020B0609020204030204" pitchFamily="49" charset="0"/>
              </a:rPr>
              <a:t>z_scores</a:t>
            </a:r>
            <a:r>
              <a:rPr lang="en-US" sz="2200" dirty="0">
                <a:latin typeface="Consolas" panose="020B0609020204030204" pitchFamily="49" charset="0"/>
              </a:rPr>
              <a:t> &lt; 3).all(axis=1)]</a:t>
            </a:r>
          </a:p>
          <a:p>
            <a:pPr marL="457200" lvl="1" indent="0">
              <a:buNone/>
            </a:pPr>
            <a:endParaRPr lang="en-US" sz="22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pt-BR" sz="2000" b="1" dirty="0"/>
              <a:t>OBS.1</a:t>
            </a:r>
            <a:r>
              <a:rPr lang="pt-BR" sz="2000" dirty="0"/>
              <a:t>: Ignora valores </a:t>
            </a:r>
            <a:r>
              <a:rPr lang="pt-BR" sz="2000" dirty="0" err="1"/>
              <a:t>NaN</a:t>
            </a:r>
            <a:r>
              <a:rPr lang="pt-BR" sz="2000" dirty="0"/>
              <a:t> no cálculo da média e do desvio padrão.</a:t>
            </a:r>
            <a:endParaRPr lang="en-US" sz="2200" b="1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000" b="1" dirty="0"/>
              <a:t>OBS.2</a:t>
            </a:r>
            <a:r>
              <a:rPr lang="en-US" sz="2000" dirty="0"/>
              <a:t>: </a:t>
            </a:r>
            <a:r>
              <a:rPr lang="en-US" sz="2200" dirty="0">
                <a:latin typeface="Consolas" panose="020B0609020204030204" pitchFamily="49" charset="0"/>
              </a:rPr>
              <a:t>‘all(axis=1)’ </a:t>
            </a:r>
            <a:r>
              <a:rPr lang="en-US" sz="2000" dirty="0"/>
              <a:t>r</a:t>
            </a:r>
            <a:r>
              <a:rPr lang="pt-BR" sz="2000" dirty="0" err="1"/>
              <a:t>etorna</a:t>
            </a:r>
            <a:r>
              <a:rPr lang="pt-BR" sz="2000" dirty="0"/>
              <a:t> </a:t>
            </a:r>
            <a:r>
              <a:rPr lang="pt-BR" sz="2000" dirty="0" err="1"/>
              <a:t>True</a:t>
            </a:r>
            <a:r>
              <a:rPr lang="pt-BR" sz="2000" dirty="0"/>
              <a:t> somente se todas as colunas daquela linha tiverem </a:t>
            </a:r>
            <a:r>
              <a:rPr lang="pt-BR" dirty="0"/>
              <a:t>|z| &lt; 3, i.e., </a:t>
            </a:r>
            <a:r>
              <a:rPr lang="pt-BR" sz="2000" dirty="0"/>
              <a:t>se qualquer variável da linha for </a:t>
            </a:r>
            <a:r>
              <a:rPr lang="pt-BR" sz="2000" i="1" dirty="0"/>
              <a:t>outlier</a:t>
            </a:r>
            <a:r>
              <a:rPr lang="pt-BR" sz="2000" dirty="0"/>
              <a:t>, a linha inteira é removida.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80629668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3AA11E60-97D7-DBC9-9FE6-EB1069DFED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2088CC6-79E6-492B-E81B-EF9B20BF3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Vantagens e desvantagens: Z-score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="" id="{8A274391-3285-4F78-D90D-D068F0EA0B3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1223171" cy="5032375"/>
              </a:xfrm>
            </p:spPr>
            <p:txBody>
              <a:bodyPr>
                <a:normAutofit/>
              </a:bodyPr>
              <a:lstStyle/>
              <a:p>
                <a:r>
                  <a:rPr lang="pt-BR" dirty="0"/>
                  <a:t>Vantagens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Funciona bem quando os dados seguem uma distribuição aproximadamente normal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Permite comparar atributos em escalas diferentes (dados são padronizados)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Simples de calcular e interpretar</a:t>
                </a:r>
              </a:p>
              <a:p>
                <a:r>
                  <a:rPr lang="pt-BR" dirty="0"/>
                  <a:t>Desvantagens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Sensível a outliers, pois média e desvio-padrão são afetados por valores extremos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Não funciona bem com distribuições assimétricas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Pode gerar muitos falsos positivos em distribuições assimétricas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Parâmetros são necessários: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pt-BR" dirty="0"/>
                  <a:t> e </a:t>
                </a:r>
                <a14:m>
                  <m:oMath xmlns:m="http://schemas.openxmlformats.org/officeDocument/2006/math">
                    <m:r>
                      <a:rPr lang="pt-BR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  <m:r>
                      <a:rPr lang="pt-BR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t-BR" dirty="0"/>
                  <a:t>da população devem ser conhecidos. </a:t>
                </a:r>
              </a:p>
              <a:p>
                <a:pPr lvl="2">
                  <a:buFont typeface="Courier New" panose="02070309020205020404" pitchFamily="49" charset="0"/>
                  <a:buChar char="o"/>
                </a:pPr>
                <a:r>
                  <a:rPr lang="pt-BR" dirty="0"/>
                  <a:t>Caso contrário, devem ser usadas estimativas da amostra, o que pode ser um problema com </a:t>
                </a:r>
                <a:r>
                  <a:rPr lang="pt-BR" i="1" dirty="0" err="1"/>
                  <a:t>datasets</a:t>
                </a:r>
                <a:r>
                  <a:rPr lang="pt-BR" dirty="0"/>
                  <a:t> pequenos.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274391-3285-4F78-D90D-D068F0EA0B3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1223171" cy="5032375"/>
              </a:xfrm>
              <a:blipFill>
                <a:blip r:embed="rId3"/>
                <a:stretch>
                  <a:fillRect l="-978" t="-19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0391969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5DDF632-6282-292B-2F7F-A488A69BF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Técnicas avançadas para detecção de </a:t>
            </a:r>
            <a:r>
              <a:rPr lang="pt-BR" i="1" dirty="0"/>
              <a:t>outliers</a:t>
            </a:r>
            <a:endParaRPr lang="en-US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189AFE1-4AE2-748B-0989-60E24E26DF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7143" y="1825624"/>
            <a:ext cx="6085113" cy="5032375"/>
          </a:xfrm>
        </p:spPr>
        <p:txBody>
          <a:bodyPr/>
          <a:lstStyle/>
          <a:p>
            <a:r>
              <a:rPr lang="pt-BR" dirty="0"/>
              <a:t>Além de IQR e Z-</a:t>
            </a:r>
            <a:r>
              <a:rPr lang="pt-BR" i="1" dirty="0"/>
              <a:t>score</a:t>
            </a:r>
            <a:r>
              <a:rPr lang="pt-BR" dirty="0"/>
              <a:t>, existem técnicas mais avançadas para detectar </a:t>
            </a:r>
            <a:r>
              <a:rPr lang="pt-BR" i="1" dirty="0"/>
              <a:t>outliers</a:t>
            </a:r>
            <a:r>
              <a:rPr lang="pt-BR" dirty="0"/>
              <a:t>, como: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 err="1"/>
              <a:t>Métodos</a:t>
            </a:r>
            <a:r>
              <a:rPr lang="en-US" dirty="0"/>
              <a:t> </a:t>
            </a:r>
            <a:r>
              <a:rPr lang="en-US" dirty="0" err="1"/>
              <a:t>usando</a:t>
            </a:r>
            <a:r>
              <a:rPr lang="en-US" dirty="0"/>
              <a:t> </a:t>
            </a:r>
            <a:r>
              <a:rPr lang="en-US" dirty="0" err="1"/>
              <a:t>algortimos</a:t>
            </a:r>
            <a:r>
              <a:rPr lang="en-US" dirty="0"/>
              <a:t> de ML: Isolation Forest, Local Outlier Factor, One-Class SVM, Autoencoders.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 err="1"/>
              <a:t>Métodos</a:t>
            </a:r>
            <a:r>
              <a:rPr lang="en-US" dirty="0"/>
              <a:t> </a:t>
            </a:r>
            <a:r>
              <a:rPr lang="en-US" dirty="0" err="1"/>
              <a:t>visuais</a:t>
            </a:r>
            <a:r>
              <a:rPr lang="en-US" dirty="0"/>
              <a:t>: </a:t>
            </a:r>
            <a:r>
              <a:rPr lang="pt-BR" i="1" dirty="0" err="1"/>
              <a:t>Violin</a:t>
            </a:r>
            <a:r>
              <a:rPr lang="pt-BR" i="1" dirty="0"/>
              <a:t> </a:t>
            </a:r>
            <a:r>
              <a:rPr lang="pt-BR" i="1" dirty="0" err="1"/>
              <a:t>plot</a:t>
            </a:r>
            <a:endParaRPr lang="pt-BR" i="1" dirty="0"/>
          </a:p>
          <a:p>
            <a:pPr lvl="2">
              <a:buFont typeface="Courier New" panose="02070309020205020404" pitchFamily="49" charset="0"/>
              <a:buChar char="o"/>
            </a:pPr>
            <a:r>
              <a:rPr lang="pt-BR" dirty="0"/>
              <a:t>Combina </a:t>
            </a:r>
            <a:r>
              <a:rPr lang="pt-BR" i="1" dirty="0" err="1"/>
              <a:t>boxplot</a:t>
            </a:r>
            <a:r>
              <a:rPr lang="pt-BR" dirty="0"/>
              <a:t> com densidade das distribuições, destacando </a:t>
            </a:r>
            <a:r>
              <a:rPr lang="pt-BR" b="1" dirty="0">
                <a:solidFill>
                  <a:srgbClr val="7030A0"/>
                </a:solidFill>
              </a:rPr>
              <a:t>assimetrias</a:t>
            </a:r>
            <a:r>
              <a:rPr lang="pt-BR" dirty="0"/>
              <a:t>.</a:t>
            </a:r>
            <a:endParaRPr lang="en-US" dirty="0"/>
          </a:p>
        </p:txBody>
      </p:sp>
      <p:pic>
        <p:nvPicPr>
          <p:cNvPr id="2050" name="Picture 2" descr="How to Interpret Violin Charts - LabXchange">
            <a:extLst>
              <a:ext uri="{FF2B5EF4-FFF2-40B4-BE49-F238E27FC236}">
                <a16:creationId xmlns:a16="http://schemas.microsoft.com/office/drawing/2014/main" xmlns="" id="{11364164-7F4D-03F3-93C9-6F600D1DF49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75" t="5324" r="4667" b="5324"/>
          <a:stretch>
            <a:fillRect/>
          </a:stretch>
        </p:blipFill>
        <p:spPr bwMode="auto">
          <a:xfrm>
            <a:off x="304801" y="1997205"/>
            <a:ext cx="5387743" cy="4011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860421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233F423-32E1-1034-FEC3-5D9751A15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60D9294-7A84-B9BF-59E9-C442862438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9471" y="2154577"/>
            <a:ext cx="10853057" cy="254884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pt-BR" sz="5400" dirty="0"/>
              <a:t>Anexo III: </a:t>
            </a:r>
          </a:p>
          <a:p>
            <a:pPr marL="0" indent="0" algn="ctr">
              <a:buNone/>
            </a:pPr>
            <a:r>
              <a:rPr lang="pt-BR" sz="5400" dirty="0"/>
              <a:t>Correlação de </a:t>
            </a:r>
            <a:r>
              <a:rPr lang="pt-BR" sz="5400" dirty="0" err="1"/>
              <a:t>Spearman</a:t>
            </a:r>
            <a:endParaRPr lang="en-US" sz="5400" i="1" dirty="0"/>
          </a:p>
        </p:txBody>
      </p:sp>
    </p:spTree>
    <p:extLst>
      <p:ext uri="{BB962C8B-B14F-4D97-AF65-F5344CB8AC3E}">
        <p14:creationId xmlns:p14="http://schemas.microsoft.com/office/powerpoint/2010/main" val="2705138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FEF6830D-474B-07D3-CAA1-5E907CFF1D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D548667-EA20-7AF9-704A-64EF48AA73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Correlação</a:t>
            </a:r>
            <a:r>
              <a:rPr lang="en-US" dirty="0"/>
              <a:t> de Spearman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="" id="{212AEF05-5EAC-A042-49EA-B44A07C616B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19800" y="1825624"/>
                <a:ext cx="5987143" cy="5032375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pt-BR" dirty="0"/>
                  <a:t>Mede a relação </a:t>
                </a:r>
                <a:r>
                  <a:rPr lang="pt-BR" b="1" dirty="0"/>
                  <a:t>monotônica</a:t>
                </a:r>
                <a:r>
                  <a:rPr lang="pt-BR" dirty="0"/>
                  <a:t> entre as variáveis.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Mede se quando uma variável sobe, a outra também sobe ou desce, independentemente se é em linha reta ou curva.</a:t>
                </a:r>
              </a:p>
              <a:p>
                <a:r>
                  <a:rPr lang="pt-BR" dirty="0"/>
                  <a:t>Também avalia a relação de dados ordinais, i.e., dados que não são números exatos, mas têm uma ordem.</a:t>
                </a:r>
              </a:p>
              <a:p>
                <a:r>
                  <a:rPr lang="pt-BR" dirty="0"/>
                  <a:t>Valor próximo de 0 se a relação for não-monotônica, i.e., se ela mudar de direção (e.g.,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pt-BR">
                        <a:latin typeface="Cambria Math" panose="02040503050406030204" pitchFamily="18" charset="0"/>
                      </a:rPr>
                      <m:t>sin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⁡(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dirty="0"/>
                  <a:t>).</a:t>
                </a:r>
              </a:p>
              <a:p>
                <a:r>
                  <a:rPr lang="pt-BR" dirty="0"/>
                  <a:t>Menos sensível a </a:t>
                </a:r>
                <a:r>
                  <a:rPr lang="pt-BR" i="1" dirty="0"/>
                  <a:t>outliers</a:t>
                </a:r>
                <a:r>
                  <a:rPr lang="pt-BR" dirty="0"/>
                  <a:t>.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BB16BCB-A0D6-8081-69BC-B0827BE2D56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19800" y="1825624"/>
                <a:ext cx="5987143" cy="5032375"/>
              </a:xfrm>
              <a:blipFill>
                <a:blip r:embed="rId2"/>
                <a:stretch>
                  <a:fillRect l="-1833" t="-2663" r="-16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170" name="Picture 2" descr="Spearman's Rank-Order Correlation - A guide to when to use it, what it does  and what the assumptions are.">
            <a:extLst>
              <a:ext uri="{FF2B5EF4-FFF2-40B4-BE49-F238E27FC236}">
                <a16:creationId xmlns:a16="http://schemas.microsoft.com/office/drawing/2014/main" xmlns="" id="{209AB1E3-5E47-92DB-C423-EAA8316C96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056" y="1570945"/>
            <a:ext cx="5581650" cy="2095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Spearman's Rank Correlation Explained: Learn How It Works">
            <a:extLst>
              <a:ext uri="{FF2B5EF4-FFF2-40B4-BE49-F238E27FC236}">
                <a16:creationId xmlns:a16="http://schemas.microsoft.com/office/drawing/2014/main" xmlns="" id="{BAD941F4-BA64-9C82-30AB-0821FC551FD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056" b="11516"/>
          <a:stretch>
            <a:fillRect/>
          </a:stretch>
        </p:blipFill>
        <p:spPr bwMode="auto">
          <a:xfrm>
            <a:off x="185056" y="3666445"/>
            <a:ext cx="5652479" cy="21756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0A884E87-DB86-3E2C-422C-92B61F74B56B}"/>
              </a:ext>
            </a:extLst>
          </p:cNvPr>
          <p:cNvSpPr txBox="1"/>
          <p:nvPr/>
        </p:nvSpPr>
        <p:spPr>
          <a:xfrm>
            <a:off x="185057" y="5934670"/>
            <a:ext cx="558165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dirty="0"/>
              <a:t>Se os dados crescem em formato de curva (exponencial, logarítmica), o Pearson dará um valor baixo, mas o </a:t>
            </a:r>
            <a:r>
              <a:rPr lang="pt-BR" dirty="0" err="1"/>
              <a:t>Spearman</a:t>
            </a:r>
            <a:r>
              <a:rPr lang="pt-BR" dirty="0"/>
              <a:t> dará 1.0.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028781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53EB8E7-9B3E-ABD6-5400-C19C82590A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E1CB6FC-1460-40D4-81B5-50532AE9D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Plotando</a:t>
            </a:r>
            <a:r>
              <a:rPr lang="en-US" dirty="0"/>
              <a:t> a </a:t>
            </a:r>
            <a:r>
              <a:rPr lang="en-US" dirty="0" err="1"/>
              <a:t>matriz</a:t>
            </a:r>
            <a:r>
              <a:rPr lang="en-US" dirty="0"/>
              <a:t> de </a:t>
            </a:r>
            <a:r>
              <a:rPr lang="en-US" dirty="0" err="1"/>
              <a:t>correlação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7509C43-DE79-9D9A-B126-A5451C891D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234059" cy="5032376"/>
          </a:xfrm>
        </p:spPr>
        <p:txBody>
          <a:bodyPr>
            <a:normAutofit/>
          </a:bodyPr>
          <a:lstStyle/>
          <a:p>
            <a:r>
              <a:rPr lang="pt-BR" b="1" noProof="0" dirty="0"/>
              <a:t>Usando o coeficiente de </a:t>
            </a:r>
            <a:r>
              <a:rPr lang="pt-BR" b="1" noProof="0" dirty="0" err="1"/>
              <a:t>Spearman</a:t>
            </a:r>
            <a:endParaRPr lang="pt-BR" b="1" noProof="0" dirty="0"/>
          </a:p>
          <a:p>
            <a:pPr marL="457200" lvl="1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corr</a:t>
            </a:r>
            <a:r>
              <a:rPr lang="en-US" dirty="0">
                <a:latin typeface="Consolas" panose="020B0609020204030204" pitchFamily="49" charset="0"/>
              </a:rPr>
              <a:t> = </a:t>
            </a:r>
            <a:r>
              <a:rPr lang="en-US" dirty="0" err="1">
                <a:latin typeface="Consolas" panose="020B0609020204030204" pitchFamily="49" charset="0"/>
              </a:rPr>
              <a:t>df.corr</a:t>
            </a:r>
            <a:r>
              <a:rPr lang="en-US" dirty="0">
                <a:latin typeface="Consolas" panose="020B0609020204030204" pitchFamily="49" charset="0"/>
              </a:rPr>
              <a:t>(method='spearman', </a:t>
            </a:r>
            <a:r>
              <a:rPr lang="en-US" dirty="0" err="1">
                <a:latin typeface="Consolas" panose="020B0609020204030204" pitchFamily="49" charset="0"/>
              </a:rPr>
              <a:t>numeric_only</a:t>
            </a:r>
            <a:r>
              <a:rPr lang="en-US" dirty="0">
                <a:latin typeface="Consolas" panose="020B0609020204030204" pitchFamily="49" charset="0"/>
              </a:rPr>
              <a:t>=True)</a:t>
            </a:r>
          </a:p>
          <a:p>
            <a:pPr marL="457200" lvl="1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plt.figure</a:t>
            </a:r>
            <a:r>
              <a:rPr lang="en-US" dirty="0">
                <a:latin typeface="Consolas" panose="020B0609020204030204" pitchFamily="49" charset="0"/>
              </a:rPr>
              <a:t>()</a:t>
            </a:r>
          </a:p>
          <a:p>
            <a:pPr marL="457200" lvl="1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sns.heatmap</a:t>
            </a:r>
            <a:r>
              <a:rPr lang="en-US" dirty="0">
                <a:latin typeface="Consolas" panose="020B0609020204030204" pitchFamily="49" charset="0"/>
              </a:rPr>
              <a:t>(</a:t>
            </a:r>
            <a:r>
              <a:rPr lang="en-US" dirty="0" err="1">
                <a:latin typeface="Consolas" panose="020B0609020204030204" pitchFamily="49" charset="0"/>
              </a:rPr>
              <a:t>corr</a:t>
            </a:r>
            <a:r>
              <a:rPr lang="en-US" dirty="0">
                <a:latin typeface="Consolas" panose="020B0609020204030204" pitchFamily="49" charset="0"/>
              </a:rPr>
              <a:t>, </a:t>
            </a:r>
            <a:r>
              <a:rPr lang="en-US" dirty="0" err="1">
                <a:latin typeface="Consolas" panose="020B0609020204030204" pitchFamily="49" charset="0"/>
              </a:rPr>
              <a:t>cmap</a:t>
            </a:r>
            <a:r>
              <a:rPr lang="en-US" dirty="0">
                <a:latin typeface="Consolas" panose="020B0609020204030204" pitchFamily="49" charset="0"/>
              </a:rPr>
              <a:t>="</a:t>
            </a:r>
            <a:r>
              <a:rPr lang="en-US" dirty="0" err="1">
                <a:latin typeface="Consolas" panose="020B0609020204030204" pitchFamily="49" charset="0"/>
              </a:rPr>
              <a:t>BrBG</a:t>
            </a:r>
            <a:r>
              <a:rPr lang="en-US" dirty="0">
                <a:latin typeface="Consolas" panose="020B0609020204030204" pitchFamily="49" charset="0"/>
              </a:rPr>
              <a:t>", </a:t>
            </a:r>
            <a:r>
              <a:rPr lang="en-US" dirty="0" err="1">
                <a:latin typeface="Consolas" panose="020B0609020204030204" pitchFamily="49" charset="0"/>
              </a:rPr>
              <a:t>annot</a:t>
            </a:r>
            <a:r>
              <a:rPr lang="en-US" dirty="0">
                <a:latin typeface="Consolas" panose="020B0609020204030204" pitchFamily="49" charset="0"/>
              </a:rPr>
              <a:t>=True)</a:t>
            </a:r>
          </a:p>
          <a:p>
            <a:pPr marL="457200" lvl="1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plt.show</a:t>
            </a:r>
            <a:r>
              <a:rPr lang="en-US" dirty="0">
                <a:latin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80959232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493C395-9900-9D1C-1E17-4F9E20B27A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01751C8-7A80-008D-4A32-CC03A531B6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9471" y="2154577"/>
            <a:ext cx="10853057" cy="254884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pt-BR" sz="5400" dirty="0"/>
              <a:t>Anexo IV: </a:t>
            </a:r>
          </a:p>
          <a:p>
            <a:pPr marL="0" indent="0" algn="ctr">
              <a:buNone/>
            </a:pPr>
            <a:r>
              <a:rPr lang="pt-BR" sz="5400" dirty="0"/>
              <a:t>Análise exploratória automática com p</a:t>
            </a:r>
            <a:r>
              <a:rPr lang="en-US" sz="5400" dirty="0" err="1"/>
              <a:t>andas</a:t>
            </a:r>
            <a:r>
              <a:rPr lang="en-US" sz="5400" dirty="0"/>
              <a:t> </a:t>
            </a:r>
            <a:r>
              <a:rPr lang="en-US" sz="5400" i="1" dirty="0"/>
              <a:t>profiling</a:t>
            </a:r>
          </a:p>
        </p:txBody>
      </p:sp>
    </p:spTree>
    <p:extLst>
      <p:ext uri="{BB962C8B-B14F-4D97-AF65-F5344CB8AC3E}">
        <p14:creationId xmlns:p14="http://schemas.microsoft.com/office/powerpoint/2010/main" val="1783156635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046360E-3395-2D8B-6B09-2BE030CAE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Pandas </a:t>
            </a:r>
            <a:r>
              <a:rPr lang="en-US" i="1" dirty="0"/>
              <a:t>profiling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1F352C8-5FEE-B68D-8E54-4AB4DD844B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1146971" cy="5032375"/>
          </a:xfrm>
        </p:spPr>
        <p:txBody>
          <a:bodyPr>
            <a:normAutofit/>
          </a:bodyPr>
          <a:lstStyle/>
          <a:p>
            <a:r>
              <a:rPr lang="pt-BR" dirty="0"/>
              <a:t>O Pandas </a:t>
            </a:r>
            <a:r>
              <a:rPr lang="pt-BR" dirty="0" err="1"/>
              <a:t>profiling</a:t>
            </a:r>
            <a:r>
              <a:rPr lang="pt-BR" dirty="0"/>
              <a:t> </a:t>
            </a:r>
            <a:r>
              <a:rPr lang="en-US" dirty="0"/>
              <a:t>(</a:t>
            </a:r>
            <a:r>
              <a:rPr lang="en-US" dirty="0" err="1"/>
              <a:t>ou</a:t>
            </a:r>
            <a:r>
              <a:rPr lang="en-US" dirty="0"/>
              <a:t> </a:t>
            </a:r>
            <a:r>
              <a:rPr lang="en-US" i="1" dirty="0" err="1"/>
              <a:t>ydata</a:t>
            </a:r>
            <a:r>
              <a:rPr lang="en-US" i="1" dirty="0"/>
              <a:t>-profiling</a:t>
            </a:r>
            <a:r>
              <a:rPr lang="en-US" dirty="0"/>
              <a:t>) </a:t>
            </a:r>
            <a:r>
              <a:rPr lang="pt-BR" dirty="0"/>
              <a:t>é uma biblioteca que automatiza grande parte da análise exploratória de dados (EDA) gerando um relatório completo com uma única linha de código.</a:t>
            </a:r>
          </a:p>
          <a:p>
            <a:r>
              <a:rPr lang="pt-BR" dirty="0"/>
              <a:t>O relatório que inclui: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Resumo geral dos dados: número de linhas e colunas, tipos de dados.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Estatísticas </a:t>
            </a:r>
            <a:r>
              <a:rPr lang="pt-BR" dirty="0" err="1"/>
              <a:t>univariadas</a:t>
            </a:r>
            <a:r>
              <a:rPr lang="pt-BR" dirty="0"/>
              <a:t>: média, mediana, moda, desvios-padrão, histogramas.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Identificação de problemas: valores faltantes, duplicatas e potenciais anomalias.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Correlação e interações entre variáveis numéricas e categóricas.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Visualizações: de distribuições, barras, densidades e matrizes de correlação. </a:t>
            </a:r>
          </a:p>
          <a:p>
            <a:r>
              <a:rPr lang="pt-BR" dirty="0"/>
              <a:t>O relatório pode ser salvo em HTML ou em um </a:t>
            </a:r>
            <a:r>
              <a:rPr lang="pt-BR" i="1" dirty="0"/>
              <a:t>notebook</a:t>
            </a:r>
            <a:r>
              <a:rPr lang="pt-BR" dirty="0"/>
              <a:t> </a:t>
            </a:r>
            <a:r>
              <a:rPr lang="pt-BR" dirty="0" err="1"/>
              <a:t>Jupyter</a:t>
            </a:r>
            <a:r>
              <a:rPr lang="pt-B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37310389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CE5F506-610B-1C2A-4E39-730057E14B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Como gerar o relatório?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EBE0357-9624-BD95-052E-2C60B57418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1081657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from </a:t>
            </a:r>
            <a:r>
              <a:rPr lang="en-US" sz="2400" dirty="0" err="1">
                <a:latin typeface="Consolas" panose="020B0609020204030204" pitchFamily="49" charset="0"/>
              </a:rPr>
              <a:t>ydata_profiling</a:t>
            </a:r>
            <a:r>
              <a:rPr lang="en-US" sz="2400" dirty="0">
                <a:latin typeface="Consolas" panose="020B0609020204030204" pitchFamily="49" charset="0"/>
              </a:rPr>
              <a:t> import </a:t>
            </a:r>
            <a:r>
              <a:rPr lang="en-US" sz="2400" dirty="0" err="1">
                <a:latin typeface="Consolas" panose="020B0609020204030204" pitchFamily="49" charset="0"/>
              </a:rPr>
              <a:t>ProfileReport</a:t>
            </a:r>
            <a:endParaRPr lang="en-US" sz="24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24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profile = </a:t>
            </a:r>
            <a:r>
              <a:rPr lang="en-US" sz="2400" dirty="0" err="1">
                <a:latin typeface="Consolas" panose="020B0609020204030204" pitchFamily="49" charset="0"/>
              </a:rPr>
              <a:t>ProfileReport</a:t>
            </a:r>
            <a:r>
              <a:rPr lang="en-US" sz="2400" dirty="0">
                <a:latin typeface="Consolas" panose="020B0609020204030204" pitchFamily="49" charset="0"/>
              </a:rPr>
              <a:t>(</a:t>
            </a:r>
            <a:r>
              <a:rPr lang="en-US" sz="2400" dirty="0" err="1">
                <a:latin typeface="Consolas" panose="020B0609020204030204" pitchFamily="49" charset="0"/>
              </a:rPr>
              <a:t>df</a:t>
            </a:r>
            <a:r>
              <a:rPr lang="en-US" sz="2400" dirty="0">
                <a:latin typeface="Consolas" panose="020B0609020204030204" pitchFamily="49" charset="0"/>
              </a:rPr>
              <a:t>, title="</a:t>
            </a:r>
            <a:r>
              <a:rPr lang="en-US" sz="2400" dirty="0" err="1">
                <a:latin typeface="Consolas" panose="020B0609020204030204" pitchFamily="49" charset="0"/>
              </a:rPr>
              <a:t>Relatório</a:t>
            </a:r>
            <a:r>
              <a:rPr lang="en-US" sz="2400" dirty="0">
                <a:latin typeface="Consolas" panose="020B0609020204030204" pitchFamily="49" charset="0"/>
              </a:rPr>
              <a:t> de Dados")</a:t>
            </a:r>
          </a:p>
          <a:p>
            <a:pPr marL="0" indent="0">
              <a:buNone/>
            </a:pPr>
            <a:endParaRPr lang="en-US" sz="24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# Salva </a:t>
            </a:r>
            <a:r>
              <a:rPr lang="en-US" sz="2400" dirty="0" err="1">
                <a:latin typeface="Consolas" panose="020B0609020204030204" pitchFamily="49" charset="0"/>
              </a:rPr>
              <a:t>em</a:t>
            </a:r>
            <a:r>
              <a:rPr lang="en-US" sz="2400" dirty="0">
                <a:latin typeface="Consolas" panose="020B0609020204030204" pitchFamily="49" charset="0"/>
              </a:rPr>
              <a:t> um </a:t>
            </a:r>
            <a:r>
              <a:rPr lang="en-US" sz="2400" dirty="0" err="1">
                <a:latin typeface="Consolas" panose="020B0609020204030204" pitchFamily="49" charset="0"/>
              </a:rPr>
              <a:t>arquivo</a:t>
            </a:r>
            <a:r>
              <a:rPr lang="en-US" sz="2400" dirty="0">
                <a:latin typeface="Consolas" panose="020B0609020204030204" pitchFamily="49" charset="0"/>
              </a:rPr>
              <a:t> HTML.</a:t>
            </a:r>
          </a:p>
          <a:p>
            <a:pPr marL="0" indent="0">
              <a:buNone/>
            </a:pPr>
            <a:r>
              <a:rPr lang="en-US" sz="2400" dirty="0" err="1">
                <a:latin typeface="Consolas" panose="020B0609020204030204" pitchFamily="49" charset="0"/>
              </a:rPr>
              <a:t>profile.to_file</a:t>
            </a:r>
            <a:r>
              <a:rPr lang="en-US" sz="2400" dirty="0">
                <a:latin typeface="Consolas" panose="020B0609020204030204" pitchFamily="49" charset="0"/>
              </a:rPr>
              <a:t>("relatorio.html")</a:t>
            </a:r>
          </a:p>
          <a:p>
            <a:pPr marL="0" indent="0">
              <a:buNone/>
            </a:pPr>
            <a:endParaRPr lang="en-US" sz="24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# Abre o </a:t>
            </a:r>
            <a:r>
              <a:rPr lang="en-US" sz="2400" dirty="0" err="1">
                <a:latin typeface="Consolas" panose="020B0609020204030204" pitchFamily="49" charset="0"/>
              </a:rPr>
              <a:t>relatório</a:t>
            </a:r>
            <a:r>
              <a:rPr lang="en-US" sz="2400" dirty="0">
                <a:latin typeface="Consolas" panose="020B0609020204030204" pitchFamily="49" charset="0"/>
              </a:rPr>
              <a:t> no notebook </a:t>
            </a:r>
            <a:r>
              <a:rPr lang="en-US" sz="2400" dirty="0" err="1">
                <a:latin typeface="Consolas" panose="020B0609020204030204" pitchFamily="49" charset="0"/>
              </a:rPr>
              <a:t>Jupyter</a:t>
            </a:r>
            <a:r>
              <a:rPr lang="en-US" sz="2400" dirty="0">
                <a:latin typeface="Consolas" panose="020B0609020204030204" pitchFamily="49" charset="0"/>
              </a:rPr>
              <a:t>.</a:t>
            </a:r>
          </a:p>
          <a:p>
            <a:pPr marL="0" indent="0">
              <a:buNone/>
            </a:pPr>
            <a:r>
              <a:rPr lang="en-US" sz="2400" dirty="0" err="1">
                <a:latin typeface="Consolas" panose="020B0609020204030204" pitchFamily="49" charset="0"/>
              </a:rPr>
              <a:t>profile.to_notebook_iframe</a:t>
            </a:r>
            <a:r>
              <a:rPr lang="en-US" sz="2400" dirty="0">
                <a:latin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endParaRPr lang="en-US" sz="2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2328236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21DDDB1-A617-F2CB-2AC6-6249E0596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89C33C5-D7D4-5199-C534-C0EFC8924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9471" y="2154577"/>
            <a:ext cx="10853057" cy="254884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pt-BR" sz="5400" dirty="0"/>
              <a:t>Anexo V: </a:t>
            </a:r>
          </a:p>
          <a:p>
            <a:pPr marL="0" indent="0" algn="ctr">
              <a:buNone/>
            </a:pPr>
            <a:r>
              <a:rPr lang="pt-BR" sz="5400" dirty="0"/>
              <a:t>Exemplo completo de análise exploratória</a:t>
            </a:r>
            <a:endParaRPr lang="en-US" sz="5400" i="1" dirty="0"/>
          </a:p>
        </p:txBody>
      </p:sp>
    </p:spTree>
    <p:extLst>
      <p:ext uri="{BB962C8B-B14F-4D97-AF65-F5344CB8AC3E}">
        <p14:creationId xmlns:p14="http://schemas.microsoft.com/office/powerpoint/2010/main" val="3053448860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3C0B311-980F-D9AA-926A-81733C2D8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F494F7D5-B901-FD0B-A131-F86BC3FF43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C1237D80-4B0E-1888-5494-A27CBA3518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>
                <a:hlinkClick r:id="rId3"/>
              </a:rPr>
              <a:t>Exemplo: </a:t>
            </a:r>
            <a:r>
              <a:rPr lang="pt-BR" dirty="0" err="1">
                <a:hlinkClick r:id="rId3"/>
              </a:rPr>
              <a:t>intro_eda_completo.ipynb</a:t>
            </a:r>
            <a:endParaRPr lang="en-US" dirty="0"/>
          </a:p>
          <a:p>
            <a:pPr marL="0" indent="0">
              <a:buNone/>
            </a:pPr>
            <a:endParaRPr lang="pt-BR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xmlns="" id="{BCE29340-33AA-4EAA-6CA8-3CBAEF75F116}"/>
              </a:ext>
            </a:extLst>
          </p:cNvPr>
          <p:cNvGrpSpPr/>
          <p:nvPr/>
        </p:nvGrpSpPr>
        <p:grpSpPr>
          <a:xfrm>
            <a:off x="1752685" y="2681262"/>
            <a:ext cx="8371070" cy="2659743"/>
            <a:chOff x="1752685" y="2681262"/>
            <a:chExt cx="8371070" cy="2659743"/>
          </a:xfrm>
        </p:grpSpPr>
        <p:pic>
          <p:nvPicPr>
            <p:cNvPr id="12" name="Picture 4" descr="Project Jupyter | Try Jupyter">
              <a:extLst>
                <a:ext uri="{FF2B5EF4-FFF2-40B4-BE49-F238E27FC236}">
                  <a16:creationId xmlns:a16="http://schemas.microsoft.com/office/drawing/2014/main" xmlns="" id="{813E92CE-DACB-8BC0-069E-FCB2B66E38F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31027" y="3102450"/>
              <a:ext cx="3461657" cy="18173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8" descr="Google Colaboratory Colab - Guía Completa Español - Marketing Branding">
              <a:extLst>
                <a:ext uri="{FF2B5EF4-FFF2-40B4-BE49-F238E27FC236}">
                  <a16:creationId xmlns:a16="http://schemas.microsoft.com/office/drawing/2014/main" xmlns="" id="{416B48BA-F74F-7F6B-8429-BD3FB818E63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865" r="10641"/>
            <a:stretch/>
          </p:blipFill>
          <p:spPr bwMode="auto">
            <a:xfrm>
              <a:off x="6792684" y="2681262"/>
              <a:ext cx="3331071" cy="265974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10" descr="IT12A01: FUNDAMENTALS OF PYTHON PROGRAMMING (SF) (SYNCHRONOUS E-LEARNING) -  NTUC LearningHub">
              <a:extLst>
                <a:ext uri="{FF2B5EF4-FFF2-40B4-BE49-F238E27FC236}">
                  <a16:creationId xmlns:a16="http://schemas.microsoft.com/office/drawing/2014/main" xmlns="" id="{AAB60F89-91B2-173A-1762-FDCA3A65CCC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319" r="20198"/>
            <a:stretch/>
          </p:blipFill>
          <p:spPr bwMode="auto">
            <a:xfrm>
              <a:off x="1752685" y="3176833"/>
              <a:ext cx="1894114" cy="187792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5" name="Sinal de Adição 7">
              <a:extLst>
                <a:ext uri="{FF2B5EF4-FFF2-40B4-BE49-F238E27FC236}">
                  <a16:creationId xmlns:a16="http://schemas.microsoft.com/office/drawing/2014/main" xmlns="" id="{4D007A07-E611-D0C2-8A08-FF22F3D736B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646799" y="3545037"/>
              <a:ext cx="468000" cy="468000"/>
            </a:xfrm>
            <a:prstGeom prst="mathPlus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7" name="Sinal de Adição 10">
              <a:extLst>
                <a:ext uri="{FF2B5EF4-FFF2-40B4-BE49-F238E27FC236}">
                  <a16:creationId xmlns:a16="http://schemas.microsoft.com/office/drawing/2014/main" xmlns="" id="{9805E746-68AC-108D-8BB7-108A0DE4C1A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096043" y="3467980"/>
              <a:ext cx="468000" cy="468000"/>
            </a:xfrm>
            <a:prstGeom prst="mathPlus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3774689223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21DDDB1-A617-F2CB-2AC6-6249E0596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89C33C5-D7D4-5199-C534-C0EFC8924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9471" y="2154577"/>
            <a:ext cx="10853057" cy="254884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pt-BR" sz="5400" dirty="0"/>
              <a:t>Anexo </a:t>
            </a:r>
            <a:r>
              <a:rPr lang="pt-BR" sz="5400" dirty="0" smtClean="0"/>
              <a:t>VI: Quais características os dados devem possuir para obtermos </a:t>
            </a:r>
            <a:r>
              <a:rPr lang="pt-BR" sz="5400" dirty="0" smtClean="0"/>
              <a:t>um </a:t>
            </a:r>
            <a:r>
              <a:rPr lang="pt-BR" sz="5400" dirty="0"/>
              <a:t>bom </a:t>
            </a:r>
            <a:r>
              <a:rPr lang="pt-BR" sz="5400" dirty="0" smtClean="0"/>
              <a:t>modelo?</a:t>
            </a:r>
            <a:endParaRPr lang="pt-BR" sz="5400" dirty="0"/>
          </a:p>
        </p:txBody>
      </p:sp>
    </p:spTree>
    <p:extLst>
      <p:ext uri="{BB962C8B-B14F-4D97-AF65-F5344CB8AC3E}">
        <p14:creationId xmlns:p14="http://schemas.microsoft.com/office/powerpoint/2010/main" val="2403848898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O que é necessário para um bom modelo?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199" y="1825624"/>
            <a:ext cx="11225981" cy="5032375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pt-BR" dirty="0" smtClean="0"/>
              <a:t>Precisamos </a:t>
            </a:r>
            <a:r>
              <a:rPr lang="pt-BR" dirty="0"/>
              <a:t>de dados de qualidade</a:t>
            </a:r>
            <a:endParaRPr lang="pt-BR" b="1" dirty="0" smtClean="0"/>
          </a:p>
          <a:p>
            <a:r>
              <a:rPr lang="pt-BR" b="1" dirty="0" smtClean="0"/>
              <a:t>Representativos</a:t>
            </a:r>
            <a:endParaRPr lang="pt-BR" dirty="0"/>
          </a:p>
          <a:p>
            <a:pPr lvl="1"/>
            <a:r>
              <a:rPr lang="pt-BR" dirty="0"/>
              <a:t>Refletem adequadamente o domínio de aplicação </a:t>
            </a:r>
          </a:p>
          <a:p>
            <a:pPr lvl="1"/>
            <a:r>
              <a:rPr lang="pt-BR" dirty="0"/>
              <a:t>Cobrem as principais condições encontradas no mundo real </a:t>
            </a:r>
          </a:p>
          <a:p>
            <a:pPr lvl="1"/>
            <a:r>
              <a:rPr lang="pt-BR" dirty="0"/>
              <a:t>Evitam vieses de seleção </a:t>
            </a:r>
          </a:p>
          <a:p>
            <a:r>
              <a:rPr lang="pt-BR" b="1" dirty="0" smtClean="0"/>
              <a:t>Quantidade suficiente, mas com qualidade</a:t>
            </a:r>
            <a:endParaRPr lang="pt-BR" dirty="0"/>
          </a:p>
          <a:p>
            <a:pPr lvl="1"/>
            <a:r>
              <a:rPr lang="pt-BR" dirty="0"/>
              <a:t>Dados limpos e consistentes </a:t>
            </a:r>
          </a:p>
          <a:p>
            <a:pPr lvl="1"/>
            <a:r>
              <a:rPr lang="pt-BR" dirty="0"/>
              <a:t>Rótulos corretos e consistentes </a:t>
            </a:r>
          </a:p>
          <a:p>
            <a:pPr lvl="1"/>
            <a:r>
              <a:rPr lang="pt-BR" dirty="0"/>
              <a:t>Informativos para a tarefa </a:t>
            </a:r>
          </a:p>
          <a:p>
            <a:pPr lvl="1"/>
            <a:r>
              <a:rPr lang="pt-BR" dirty="0"/>
              <a:t>Sem duplicações ou </a:t>
            </a:r>
            <a:r>
              <a:rPr lang="pt-BR" i="1" dirty="0"/>
              <a:t>data </a:t>
            </a:r>
            <a:r>
              <a:rPr lang="pt-BR" i="1" dirty="0" err="1"/>
              <a:t>leakage</a:t>
            </a:r>
            <a:r>
              <a:rPr lang="pt-BR" dirty="0"/>
              <a:t> </a:t>
            </a:r>
          </a:p>
          <a:p>
            <a:r>
              <a:rPr lang="pt-BR" b="1" dirty="0" smtClean="0"/>
              <a:t>Diversidade </a:t>
            </a:r>
            <a:r>
              <a:rPr lang="pt-BR" b="1" dirty="0"/>
              <a:t>e variabilidade</a:t>
            </a:r>
            <a:endParaRPr lang="pt-BR" dirty="0"/>
          </a:p>
          <a:p>
            <a:pPr lvl="1"/>
            <a:r>
              <a:rPr lang="pt-BR" dirty="0" smtClean="0"/>
              <a:t>Variedade </a:t>
            </a:r>
            <a:r>
              <a:rPr lang="pt-BR" dirty="0"/>
              <a:t>suficientemente ampla das condições que encontrará durante sua </a:t>
            </a:r>
            <a:r>
              <a:rPr lang="pt-BR" dirty="0" smtClean="0"/>
              <a:t>utilização</a:t>
            </a:r>
          </a:p>
          <a:p>
            <a:pPr lvl="1"/>
            <a:r>
              <a:rPr lang="pt-BR" dirty="0" smtClean="0"/>
              <a:t>Diversidade </a:t>
            </a:r>
            <a:r>
              <a:rPr lang="pt-BR" dirty="0"/>
              <a:t>entre e dentro das classes </a:t>
            </a:r>
            <a:endParaRPr lang="pt-BR" dirty="0" smtClean="0"/>
          </a:p>
          <a:p>
            <a:r>
              <a:rPr lang="pt-BR" b="1" dirty="0" smtClean="0"/>
              <a:t>Distribuição </a:t>
            </a:r>
            <a:r>
              <a:rPr lang="pt-BR" b="1" dirty="0"/>
              <a:t>das classes</a:t>
            </a:r>
            <a:endParaRPr lang="pt-BR" dirty="0"/>
          </a:p>
          <a:p>
            <a:pPr lvl="1"/>
            <a:r>
              <a:rPr lang="pt-BR" dirty="0"/>
              <a:t>Identificar possíveis desbalanceamentos </a:t>
            </a:r>
          </a:p>
          <a:p>
            <a:pPr lvl="1"/>
            <a:r>
              <a:rPr lang="pt-BR" dirty="0"/>
              <a:t>Balancear quando apropriado </a:t>
            </a:r>
          </a:p>
          <a:p>
            <a:pPr lvl="1"/>
            <a:r>
              <a:rPr lang="pt-BR" dirty="0"/>
              <a:t>Ou utilizar técnicas para lidar com </a:t>
            </a:r>
            <a:r>
              <a:rPr lang="pt-BR" i="1" dirty="0" err="1"/>
              <a:t>class</a:t>
            </a:r>
            <a:r>
              <a:rPr lang="pt-BR" i="1" dirty="0"/>
              <a:t> </a:t>
            </a:r>
            <a:r>
              <a:rPr lang="pt-BR" i="1" dirty="0" err="1" smtClean="0"/>
              <a:t>imbalance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2665076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10322600-47b9-44f6-86ef-c87c87ba6e82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6553FE09A98904B92A9D00A38127206" ma:contentTypeVersion="18" ma:contentTypeDescription="Create a new document." ma:contentTypeScope="" ma:versionID="11a5ff7d3abb0f60f17ce3cc5ebd283c">
  <xsd:schema xmlns:xsd="http://www.w3.org/2001/XMLSchema" xmlns:xs="http://www.w3.org/2001/XMLSchema" xmlns:p="http://schemas.microsoft.com/office/2006/metadata/properties" xmlns:ns3="10322600-47b9-44f6-86ef-c87c87ba6e82" xmlns:ns4="026c264a-64f6-48aa-bde0-8bf9e5064f89" targetNamespace="http://schemas.microsoft.com/office/2006/metadata/properties" ma:root="true" ma:fieldsID="b3fd21d8c5002fa22959d5df3145c663" ns3:_="" ns4:_="">
    <xsd:import namespace="10322600-47b9-44f6-86ef-c87c87ba6e82"/>
    <xsd:import namespace="026c264a-64f6-48aa-bde0-8bf9e5064f89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  <xsd:element ref="ns3:MediaServiceAutoKeyPoints" minOccurs="0"/>
                <xsd:element ref="ns3:MediaServiceKeyPoints" minOccurs="0"/>
                <xsd:element ref="ns3:MediaServiceLocation" minOccurs="0"/>
                <xsd:element ref="ns3:MediaServiceSearchProperties" minOccurs="0"/>
                <xsd:element ref="ns3:_activity" minOccurs="0"/>
                <xsd:element ref="ns3:MediaServiceObjectDetectorVersion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0322600-47b9-44f6-86ef-c87c87ba6e8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23" nillable="true" ma:displayName="_activity" ma:hidden="true" ma:internalName="_activity">
      <xsd:simpleType>
        <xsd:restriction base="dms:Note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5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26c264a-64f6-48aa-bde0-8bf9e5064f89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AD40479-F249-4189-A98B-7BF4A8E8CB5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FB04486-FAE2-4DEC-9B10-3189AEF48EE8}">
  <ds:schemaRefs>
    <ds:schemaRef ds:uri="http://purl.org/dc/dcmitype/"/>
    <ds:schemaRef ds:uri="http://purl.org/dc/elements/1.1/"/>
    <ds:schemaRef ds:uri="http://schemas.microsoft.com/office/2006/metadata/properties"/>
    <ds:schemaRef ds:uri="http://schemas.openxmlformats.org/package/2006/metadata/core-properties"/>
    <ds:schemaRef ds:uri="026c264a-64f6-48aa-bde0-8bf9e5064f89"/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10322600-47b9-44f6-86ef-c87c87ba6e82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8E5C6A9C-16CF-4693-891A-204951DC87E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0322600-47b9-44f6-86ef-c87c87ba6e82"/>
    <ds:schemaRef ds:uri="026c264a-64f6-48aa-bde0-8bf9e5064f8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11179</TotalTime>
  <Words>5693</Words>
  <Application>Microsoft Office PowerPoint</Application>
  <PresentationFormat>Widescreen</PresentationFormat>
  <Paragraphs>773</Paragraphs>
  <Slides>81</Slides>
  <Notes>46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81</vt:i4>
      </vt:variant>
    </vt:vector>
  </HeadingPairs>
  <TitlesOfParts>
    <vt:vector size="89" baseType="lpstr">
      <vt:lpstr>Arial</vt:lpstr>
      <vt:lpstr>Calibri</vt:lpstr>
      <vt:lpstr>Calibri Light</vt:lpstr>
      <vt:lpstr>Cambria Math</vt:lpstr>
      <vt:lpstr>Consolas</vt:lpstr>
      <vt:lpstr>Courier New</vt:lpstr>
      <vt:lpstr>Wingdings</vt:lpstr>
      <vt:lpstr>Tema do Office</vt:lpstr>
      <vt:lpstr>C24 - Inteligência Artificial: Análise Exploratória de Dados (EDA)</vt:lpstr>
      <vt:lpstr>Apresentação do PowerPoint</vt:lpstr>
      <vt:lpstr>Introdução</vt:lpstr>
      <vt:lpstr>Por que realizar análise exploratória?</vt:lpstr>
      <vt:lpstr>Apresentação do PowerPoint</vt:lpstr>
      <vt:lpstr>Inspeção estatística e visual</vt:lpstr>
      <vt:lpstr>Apresentação do PowerPoint</vt:lpstr>
      <vt:lpstr>Tipo dos dados</vt:lpstr>
      <vt:lpstr>Tipo dos dados</vt:lpstr>
      <vt:lpstr>Variáveis qualitativas</vt:lpstr>
      <vt:lpstr>Variáveis quantitativas</vt:lpstr>
      <vt:lpstr>Apresentação do PowerPoint</vt:lpstr>
      <vt:lpstr>Etapas de exploração dos dados</vt:lpstr>
      <vt:lpstr>Inspeção inicial dos dados</vt:lpstr>
      <vt:lpstr>Limpeza dos dados</vt:lpstr>
      <vt:lpstr>Removendo valores irrelevantes</vt:lpstr>
      <vt:lpstr>Removendo duplicatas</vt:lpstr>
      <vt:lpstr>Tratando valores faltantes</vt:lpstr>
      <vt:lpstr>Técnicas para o tratamento de valores ausentes</vt:lpstr>
      <vt:lpstr>Técnicas para o tratamento de valores ausentes</vt:lpstr>
      <vt:lpstr>Técnicas para o tratamento de valores ausentes</vt:lpstr>
      <vt:lpstr>Técnicas para o tratamento de valores ausentes</vt:lpstr>
      <vt:lpstr>Apresentação do PowerPoint</vt:lpstr>
      <vt:lpstr>O que é um outlier?</vt:lpstr>
      <vt:lpstr>O que é um outlier?</vt:lpstr>
      <vt:lpstr>O que é um outlier?</vt:lpstr>
      <vt:lpstr>O que eles podem causar?</vt:lpstr>
      <vt:lpstr>O que eles podem causar?</vt:lpstr>
      <vt:lpstr>O que eles podem causar?</vt:lpstr>
      <vt:lpstr>Como detectar outliers?</vt:lpstr>
      <vt:lpstr>Como detectar outliers?</vt:lpstr>
      <vt:lpstr>Como detectar outliers?</vt:lpstr>
      <vt:lpstr>Como detectar outliers?</vt:lpstr>
      <vt:lpstr>Como detectar outliers?</vt:lpstr>
      <vt:lpstr>Como detectar outliers?</vt:lpstr>
      <vt:lpstr>Como detectar outliers?</vt:lpstr>
      <vt:lpstr>Como detectar outliers?</vt:lpstr>
      <vt:lpstr>Como detectar outliers?</vt:lpstr>
      <vt:lpstr>Vantagens e desvantagens: boxplot (IQR)</vt:lpstr>
      <vt:lpstr>Como remover outliers?</vt:lpstr>
      <vt:lpstr>Apresentação do PowerPoint</vt:lpstr>
      <vt:lpstr>Relação entre variáveis</vt:lpstr>
      <vt:lpstr>Relação entre variáveis</vt:lpstr>
      <vt:lpstr>Relação entre variáveis</vt:lpstr>
      <vt:lpstr>Relação entre variáveis</vt:lpstr>
      <vt:lpstr>Relação entre variáveis</vt:lpstr>
      <vt:lpstr>Matriz de correlação (heatmap)</vt:lpstr>
      <vt:lpstr>Correlação de Pearson</vt:lpstr>
      <vt:lpstr>Correlação de Pearson</vt:lpstr>
      <vt:lpstr>Matriz de correlação</vt:lpstr>
      <vt:lpstr>Para que serve a matriz de correlação?</vt:lpstr>
      <vt:lpstr>Para que serve a matriz de correlação?</vt:lpstr>
      <vt:lpstr>Plotando a matriz de correlação</vt:lpstr>
      <vt:lpstr>Diagrama de dispersão (scatter plot)</vt:lpstr>
      <vt:lpstr>Diagrama de dispersão (scatter plot)</vt:lpstr>
      <vt:lpstr>Plotando o diagrama de dispersão</vt:lpstr>
      <vt:lpstr>Exemplo</vt:lpstr>
      <vt:lpstr>Lista de exercícios</vt:lpstr>
      <vt:lpstr>Apresentação do PowerPoint</vt:lpstr>
      <vt:lpstr>Apresentação do PowerPoint</vt:lpstr>
      <vt:lpstr>Apresentação do PowerPoint</vt:lpstr>
      <vt:lpstr>Técnicas para o tratamento de valores ausentes</vt:lpstr>
      <vt:lpstr>Tratando valores faltantes</vt:lpstr>
      <vt:lpstr>Tratando valores faltantes</vt:lpstr>
      <vt:lpstr>Apresentação do PowerPoint</vt:lpstr>
      <vt:lpstr>Como detectar outliers?</vt:lpstr>
      <vt:lpstr>Como detectar outliers?</vt:lpstr>
      <vt:lpstr>Como detectar outliers?</vt:lpstr>
      <vt:lpstr>Como remover outliers?</vt:lpstr>
      <vt:lpstr>Vantagens e desvantagens: Z-score</vt:lpstr>
      <vt:lpstr>Técnicas avançadas para detecção de outliers</vt:lpstr>
      <vt:lpstr>Apresentação do PowerPoint</vt:lpstr>
      <vt:lpstr>Correlação de Spearman</vt:lpstr>
      <vt:lpstr>Plotando a matriz de correlação</vt:lpstr>
      <vt:lpstr>Apresentação do PowerPoint</vt:lpstr>
      <vt:lpstr>Pandas profiling</vt:lpstr>
      <vt:lpstr>Como gerar o relatório?</vt:lpstr>
      <vt:lpstr>Apresentação do PowerPoint</vt:lpstr>
      <vt:lpstr>Exemplo</vt:lpstr>
      <vt:lpstr>Apresentação do PowerPoint</vt:lpstr>
      <vt:lpstr>O que é necessário para um bom modelo?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TP555 - Inteligência Artificial e Machine Learning</dc:title>
  <dc:creator>Felipe Augusto Pereira de Figueiredo</dc:creator>
  <cp:lastModifiedBy>Felipe Augusto Pereira de Figueiredo</cp:lastModifiedBy>
  <cp:revision>2265</cp:revision>
  <dcterms:created xsi:type="dcterms:W3CDTF">2020-01-20T13:50:05Z</dcterms:created>
  <dcterms:modified xsi:type="dcterms:W3CDTF">2026-09-07T01:11:05Z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0x010100A6553FE09A98904B92A9D00A38127206</vt:lpwstr>
  </property>
</Properties>
</file>