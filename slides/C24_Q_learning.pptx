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56" r:id="rId15"/>
    <p:sldId id="334" r:id="rId16"/>
    <p:sldId id="333" r:id="rId17"/>
    <p:sldId id="335" r:id="rId18"/>
    <p:sldId id="338" r:id="rId19"/>
    <p:sldId id="336" r:id="rId20"/>
    <p:sldId id="348" r:id="rId21"/>
    <p:sldId id="339" r:id="rId22"/>
    <p:sldId id="337" r:id="rId23"/>
    <p:sldId id="351" r:id="rId24"/>
    <p:sldId id="340" r:id="rId25"/>
    <p:sldId id="350" r:id="rId26"/>
    <p:sldId id="352" r:id="rId27"/>
    <p:sldId id="349" r:id="rId28"/>
    <p:sldId id="257" r:id="rId29"/>
    <p:sldId id="258" r:id="rId30"/>
    <p:sldId id="259" r:id="rId31"/>
    <p:sldId id="260" r:id="rId32"/>
    <p:sldId id="262" r:id="rId33"/>
    <p:sldId id="261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9" r:id="rId43"/>
    <p:sldId id="271" r:id="rId44"/>
    <p:sldId id="276" r:id="rId45"/>
    <p:sldId id="272" r:id="rId46"/>
    <p:sldId id="275" r:id="rId47"/>
    <p:sldId id="273" r:id="rId48"/>
    <p:sldId id="281" r:id="rId49"/>
    <p:sldId id="341" r:id="rId50"/>
    <p:sldId id="342" r:id="rId51"/>
    <p:sldId id="343" r:id="rId52"/>
    <p:sldId id="344" r:id="rId53"/>
    <p:sldId id="346" r:id="rId54"/>
    <p:sldId id="347" r:id="rId55"/>
    <p:sldId id="293" r:id="rId56"/>
    <p:sldId id="306" r:id="rId57"/>
    <p:sldId id="324" r:id="rId58"/>
    <p:sldId id="323" r:id="rId5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7046" autoAdjust="0"/>
  </p:normalViewPr>
  <p:slideViewPr>
    <p:cSldViewPr snapToGrid="0">
      <p:cViewPr varScale="1">
        <p:scale>
          <a:sx n="96" d="100"/>
          <a:sy n="96" d="100"/>
        </p:scale>
        <p:origin x="1476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 aprendizado por tentativa e erro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focado em decisão sequencial.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8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Analogia: treinar um cão.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“Sentou” → petisco (recompensa). “Pulou” → bronca (penalidade).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tempo ele descobre a ação que maximiza petiscos.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3007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B0861-5BCB-5876-3F5D-61F6C812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D4564-0207-5431-1010-B27E82173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B5474-22CB-BB99-01B5-2F9F0EF47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02949-45DE-D99D-B818-E62590A17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74548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a recompensa imediata? (explorar o que já sei que é bom)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descobrir algo potencialmente melhor? (explorar o desconhecido)</a:t>
            </a:r>
          </a:p>
          <a:p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há uma regra teórica rígida, mas 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sensibilidade prática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mostra que manter as recompensas numa escala moderada (tipicamente entre -1 e 1) é uma escolha segura que evita uma série de armadilhas numéricas e facilita a sintonia dos hiperparâmetros.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Recomendações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Comece com recompensas no intervalo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[-1, 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é o mais testado e robusto.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Caso o ambiente forneça recompensas muito maiores,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reescale‑as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antes de alimentar o agente.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possível, faça com que 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retorno total máximo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 um episódio não exceda algo como 100~1000, para evitar que os Q‑valores cresçam indefinidamente.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0629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/>
                  <a:t>Se a</a:t>
                </a:r>
                <a:r>
                  <a:rPr lang="pt-BR" baseline="0" noProof="0" dirty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/>
                  <a:t>) for baixa, a diferença TD </a:t>
                </a:r>
                <a:r>
                  <a:rPr lang="pt-BR" baseline="0" noProof="0" dirty="0" err="1"/>
                  <a:t>error</a:t>
                </a:r>
                <a:r>
                  <a:rPr lang="pt-BR" baseline="0" noProof="0" dirty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poderá ser negativa, diminuindo a qualidade da</a:t>
                </a:r>
                <a:r>
                  <a:rPr lang="pt-BR" baseline="0" noProof="0" dirty="0"/>
                  <a:t> ação a no estado s.</a:t>
                </a:r>
              </a:p>
              <a:p>
                <a:r>
                  <a:rPr lang="pt-BR" baseline="0" noProof="0" dirty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se aproxime dele ao longo do tempo iterativamente.</a:t>
                </a:r>
              </a:p>
              <a:p>
                <a:r>
                  <a:rPr lang="pt-BR" dirty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9924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γ pequeno (≈ 0)</a:t>
            </a:r>
            <a:r>
              <a:rPr lang="pt-BR" dirty="0"/>
              <a:t> → agente </a:t>
            </a:r>
            <a:r>
              <a:rPr lang="pt-BR" b="1" dirty="0"/>
              <a:t>míope</a:t>
            </a:r>
            <a:r>
              <a:rPr lang="pt-BR" dirty="0"/>
              <a:t> (curto prazo) </a:t>
            </a:r>
          </a:p>
          <a:p>
            <a:r>
              <a:rPr lang="pt-BR" b="1" dirty="0"/>
              <a:t>γ grande (≈ 1)</a:t>
            </a:r>
            <a:r>
              <a:rPr lang="pt-BR" dirty="0"/>
              <a:t> → agente </a:t>
            </a:r>
            <a:r>
              <a:rPr lang="pt-BR" b="1" dirty="0"/>
              <a:t>visionário</a:t>
            </a:r>
            <a:r>
              <a:rPr lang="pt-BR" dirty="0"/>
              <a:t> (longo prazo)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escolha entre valores pequenos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0,1; 0,5) e grandes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0,95; 0,99) depende do horizonte de planejamento necessário para a tarefa e da estabilidade do aprendizado.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pequeno?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cada passo já existe sinal de recompensa.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grande?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informação do sucesso precisa se propagar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volta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por muitos estados.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7500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Off-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policy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enquanto aprende sobre a política ótima, pode agir com outra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exploratória).</a:t>
            </a:r>
          </a:p>
          <a:p>
            <a:br>
              <a:rPr lang="pt-BR" dirty="0"/>
            </a:b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0353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https://colab.research.google.com/github/zz4fap/c24_inteligencia_artificial/blob/master/notebooks/q_learning_grid_2x2.ipynb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9F1CBD-EA41-4C28-874C-7C12A3463CF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2864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Finanças:</a:t>
            </a:r>
            <a:r>
              <a:rPr lang="pt-BR" dirty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_grid_2x2.ipynb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.ipynb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jpeg"/><Relationship Id="rId4" Type="http://schemas.openxmlformats.org/officeDocument/2006/relationships/image" Target="../media/image4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4%20-%20Q-learning.pdf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5AE3B-201C-5E30-B616-24412953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5134-F678-3E33-53FD-196FF0B8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mensura a recompensa total esperada ao executar uma ação específica partindo de um determinado estado.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52ABF2-118D-32E6-4BF7-5381537DB311}"/>
              </a:ext>
            </a:extLst>
          </p:cNvPr>
          <p:cNvGraphicFramePr>
            <a:graphicFrameLocks noGrp="1"/>
          </p:cNvGraphicFramePr>
          <p:nvPr/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B354498-7C70-F838-EBEA-204AF5C8471C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E5233-070C-691B-D3A2-AEA44D12850C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891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atual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 rotWithShape="0"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o estado atual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  <a:blipFill rotWithShape="0">
                <a:blip r:embed="rId4"/>
                <a:stretch>
                  <a:fillRect l="-1503" t="-1937" r="-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3" y="2389617"/>
            <a:ext cx="4853501" cy="322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o agente não explorar no começo, ele pode encontrar um caminho medíocre e ficar preso nele para sempre. </a:t>
                </a:r>
              </a:p>
              <a:p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costuma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começar em 1.0 (100% de exploração), fazendo com que o agente tome ações aleatórias para descobrir o ambiente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A exploração agressiva no início.</a:t>
                </a:r>
              </a:p>
              <a:p>
                <a:r>
                  <a:rPr lang="pt-BR" dirty="0"/>
                  <a:t>Isso permite que o agente tenha a chance de aprender uma boa política.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  <a:blipFill>
                <a:blip r:embed="rId4"/>
                <a:stretch>
                  <a:fillRect l="-1638" t="-1937" r="-182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889" y="2390849"/>
            <a:ext cx="4305993" cy="3182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: é o valor atual na tabela para o estado e a ação.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taxa de aprendizado, varia no intervalo (0,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Define o quanto a nova informação substitui a antiga.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pequeno → aprendizado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grande → atualização agressiva.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recompensa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restrição de intervalo, mas manter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em intervalos pequenos, como [-1, 1] e [0, 1], ajuda na estabilidade e na </a:t>
                </a:r>
                <a:r>
                  <a:rPr lang="en-US" dirty="0" err="1"/>
                  <a:t>velocidade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644" b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fator de desconto, varia no intervalo [0,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a importância das recompensas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Equilibra a importância entre recompensas imediatas e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o </a:t>
                </a:r>
                <a:r>
                  <a:rPr lang="pt-BR" b="1" i="1" dirty="0"/>
                  <a:t>quão longe no futuro ele enxerga.</a:t>
                </a:r>
                <a:endParaRPr lang="pt-BR" b="1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/>
                  <a:t> possível no próximo estado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 estimativa da recompensa futura.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equação assume que no próximo estado tomaremos a </a:t>
                </a:r>
                <a:r>
                  <a:rPr lang="pt-BR" b="1" dirty="0"/>
                  <a:t>melhor ação possível.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5557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alvo</m:t>
                          </m:r>
                        </m:lim>
                      </m:limLow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estimativa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atual</m:t>
                          </m:r>
                        </m:lim>
                      </m:limLow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</a:t>
                </a:r>
                <a:r>
                  <a:rPr lang="pt-BR" b="1" dirty="0"/>
                  <a:t>Erro de Diferença Temporal</a:t>
                </a:r>
                <a:r>
                  <a:rPr lang="pt-BR" dirty="0"/>
                  <a:t> (</a:t>
                </a:r>
                <a:r>
                  <a:rPr lang="en-US" i="1" dirty="0"/>
                  <a:t>temporal difference</a:t>
                </a:r>
                <a:r>
                  <a:rPr lang="en-US" dirty="0"/>
                  <a:t> (</a:t>
                </a:r>
                <a:r>
                  <a:rPr lang="pt-BR" dirty="0"/>
                  <a:t>TD) </a:t>
                </a:r>
                <a:r>
                  <a:rPr lang="pt-BR" i="1" dirty="0" err="1"/>
                  <a:t>error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passo.</a:t>
                </a:r>
              </a:p>
              <a:p>
                <a:r>
                  <a:rPr lang="pt-BR" dirty="0"/>
                  <a:t>A cada transição,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se aproxima da recompensa imediata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mais o valor futuro ótimo descontado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  <a:blipFill>
                <a:blip r:embed="rId3"/>
                <a:stretch>
                  <a:fillRect l="-922" t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diz basicamente: </a:t>
                </a:r>
              </a:p>
              <a:p>
                <a:pPr marL="0" indent="0" algn="ctr">
                  <a:buNone/>
                </a:pPr>
                <a:r>
                  <a:rPr lang="pt-BR" dirty="0"/>
                  <a:t>“O valor de uma ação = recompensa imediata + melhor valor futuro possível”</a:t>
                </a:r>
              </a:p>
              <a:p>
                <a:r>
                  <a:rPr lang="pt-BR" dirty="0"/>
                  <a:t>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pode ser interpretada como:</a:t>
                </a:r>
              </a:p>
              <a:p>
                <a:pPr marL="0" indent="0" algn="ctr">
                  <a:buNone/>
                </a:pPr>
                <a:r>
                  <a:rPr lang="pt-BR" dirty="0"/>
                  <a:t>Novo valor = Valor antigo +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pt-BR" dirty="0"/>
                  <a:t> erro</a:t>
                </a:r>
              </a:p>
              <a:p>
                <a:r>
                  <a:rPr lang="pt-BR" dirty="0"/>
                  <a:t>Ou seja, ajusta-se a estimativa </a:t>
                </a:r>
                <a:r>
                  <a:rPr lang="pt-BR" b="1" dirty="0"/>
                  <a:t>na direção do valor alvo.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89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A influência do fator de desconto,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o agente só liga para recompensas imediatas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Foca no curto prazo, recompensas futuras não importam.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aprendizado é mais rápido.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sistemas de controle em tempo real.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Por exemplo: controle de potência, MAC em redes (</a:t>
                </a:r>
                <a:r>
                  <a:rPr lang="en-US" dirty="0" err="1"/>
                  <a:t>transmitir</a:t>
                </a:r>
                <a:r>
                  <a:rPr lang="en-US" dirty="0"/>
                  <a:t> agora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esperar</a:t>
                </a:r>
                <a:r>
                  <a:rPr lang="en-US" dirty="0"/>
                  <a:t>), </a:t>
                </a:r>
                <a:r>
                  <a:rPr lang="en-US" dirty="0" err="1"/>
                  <a:t>controle</a:t>
                </a:r>
                <a:r>
                  <a:rPr lang="en-US" dirty="0"/>
                  <a:t> de </a:t>
                </a:r>
                <a:r>
                  <a:rPr lang="en-US" dirty="0" err="1"/>
                  <a:t>marcapasso</a:t>
                </a:r>
                <a:r>
                  <a:rPr lang="en-US" dirty="0"/>
                  <a:t>, </a:t>
                </a:r>
                <a:r>
                  <a:rPr lang="en-US" i="1" dirty="0"/>
                  <a:t>day trading</a:t>
                </a:r>
                <a:r>
                  <a:rPr lang="en-US" dirty="0"/>
                  <a:t> (</a:t>
                </a:r>
                <a:r>
                  <a:rPr lang="en-US" dirty="0" err="1"/>
                  <a:t>comprar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vender </a:t>
                </a:r>
                <a:r>
                  <a:rPr lang="en-US" dirty="0" err="1"/>
                  <a:t>ações</a:t>
                </a:r>
                <a:r>
                  <a:rPr lang="en-US" dirty="0"/>
                  <a:t> 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minuto</a:t>
                </a:r>
                <a:r>
                  <a:rPr lang="en-US" dirty="0"/>
                  <a:t>).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pt-BR" dirty="0"/>
                  <a:t>: o agente busca recompensas a longo prazo.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Ele valoriza recompensas que ocorrerão muito tempo depois.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treinamento é mais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</a:t>
                </a:r>
                <a:r>
                  <a:rPr lang="en-US" dirty="0" err="1"/>
                  <a:t>navegação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robótica</a:t>
                </a:r>
                <a:r>
                  <a:rPr lang="en-US" dirty="0"/>
                  <a:t>, </a:t>
                </a:r>
                <a:r>
                  <a:rPr lang="en-US" dirty="0" err="1"/>
                  <a:t>jogos</a:t>
                </a:r>
                <a:r>
                  <a:rPr lang="en-US" dirty="0"/>
                  <a:t> de </a:t>
                </a:r>
                <a:r>
                  <a:rPr lang="en-US" dirty="0" err="1"/>
                  <a:t>estratégia</a:t>
                </a:r>
                <a:r>
                  <a:rPr lang="en-US" dirty="0"/>
                  <a:t>, </a:t>
                </a:r>
                <a:r>
                  <a:rPr lang="en-US" dirty="0" err="1"/>
                  <a:t>planejamento</a:t>
                </a:r>
                <a:r>
                  <a:rPr lang="en-US" dirty="0"/>
                  <a:t> </a:t>
                </a:r>
                <a:r>
                  <a:rPr lang="pt-BR" dirty="0"/>
                  <a:t>onde ações iniciais afetam o resultado final e a recompensa só vem muito tempo depois ou no final</a:t>
                </a:r>
                <a:r>
                  <a:rPr lang="en-US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: </a:t>
                </a:r>
                <a:r>
                  <a:rPr lang="pt-BR" dirty="0"/>
                  <a:t>robô indo até um destino distante, </a:t>
                </a:r>
                <a:r>
                  <a:rPr lang="pt-BR" i="1" dirty="0" err="1"/>
                  <a:t>pac</a:t>
                </a:r>
                <a:r>
                  <a:rPr lang="pt-BR" i="1" dirty="0"/>
                  <a:t> </a:t>
                </a:r>
                <a:r>
                  <a:rPr lang="pt-BR" i="1" dirty="0" err="1"/>
                  <a:t>man</a:t>
                </a:r>
                <a:r>
                  <a:rPr lang="pt-BR" i="1" dirty="0"/>
                  <a:t>, </a:t>
                </a:r>
                <a:r>
                  <a:rPr lang="pt-BR" dirty="0"/>
                  <a:t>xadrez, d</a:t>
                </a:r>
                <a:r>
                  <a:rPr lang="en-US" dirty="0" err="1"/>
                  <a:t>ecidir</a:t>
                </a:r>
                <a:r>
                  <a:rPr lang="en-US" dirty="0"/>
                  <a:t> </a:t>
                </a:r>
                <a:r>
                  <a:rPr lang="en-US" dirty="0" err="1"/>
                  <a:t>trajetórias</a:t>
                </a:r>
                <a:r>
                  <a:rPr lang="en-US" dirty="0"/>
                  <a:t> </a:t>
                </a:r>
                <a:r>
                  <a:rPr lang="en-US" dirty="0" err="1"/>
                  <a:t>eficientes</a:t>
                </a:r>
                <a:r>
                  <a:rPr lang="en-US" dirty="0"/>
                  <a:t> para v</a:t>
                </a:r>
                <a:r>
                  <a:rPr lang="pt-BR" dirty="0" err="1"/>
                  <a:t>eículos</a:t>
                </a:r>
                <a:r>
                  <a:rPr lang="pt-BR" dirty="0"/>
                  <a:t> autônomos (planejamento de rota).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5625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Off-</a:t>
            </a:r>
            <a:r>
              <a:rPr lang="pt-BR" i="1" dirty="0" err="1"/>
              <a:t>policy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Q-</a:t>
                </a:r>
                <a:r>
                  <a:rPr lang="pt-BR" i="1" dirty="0" err="1"/>
                  <a:t>learning</a:t>
                </a:r>
                <a:r>
                  <a:rPr lang="pt-BR" dirty="0"/>
                  <a:t> é um algoritmo </a:t>
                </a:r>
                <a:r>
                  <a:rPr lang="pt-BR" i="1" dirty="0"/>
                  <a:t>off-</a:t>
                </a:r>
                <a:r>
                  <a:rPr lang="pt-BR" i="1" dirty="0" err="1"/>
                  <a:t>policy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atualiza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assumindo que o agente sempre escolhe a ação ótima futura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/>
                  <a:t>), independentemente da ação realmente tomada.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Mesmo que o algoritmo tenha explorado (ação aleatória), ele aprende como se tivesse agido de forma ótima.</a:t>
                </a:r>
              </a:p>
              <a:p>
                <a:r>
                  <a:rPr lang="pt-BR" dirty="0"/>
                  <a:t>Algoritmos </a:t>
                </a:r>
                <a:r>
                  <a:rPr lang="pt-BR" i="1" dirty="0" err="1"/>
                  <a:t>on-policy</a:t>
                </a:r>
                <a:r>
                  <a:rPr lang="pt-BR" dirty="0"/>
                  <a:t> usam a ação realmente escolhida para atualizar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  <a:blipFill>
                <a:blip r:embed="rId3"/>
                <a:stretch>
                  <a:fillRect l="-983" r="-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03915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847702" y="1825624"/>
            <a:ext cx="934429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tabuleiro possui 4 </a:t>
            </a:r>
            <a:r>
              <a:rPr lang="pt-BR" b="1" dirty="0"/>
              <a:t>estados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Início (S): estado inicial de cada episódio,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Célula neutra (N):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Bomba (B): recompensa -1,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Meta (G): recompensa +1,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r>
              <a:rPr lang="pt-BR" b="1" dirty="0"/>
              <a:t>Ações</a:t>
            </a:r>
            <a:r>
              <a:rPr lang="pt-BR" dirty="0"/>
              <a:t>: cima, baixo, esquerda, direita.</a:t>
            </a:r>
          </a:p>
          <a:p>
            <a:r>
              <a:rPr lang="pt-BR" b="1" dirty="0"/>
              <a:t>Transições com bordas</a:t>
            </a:r>
            <a:r>
              <a:rPr lang="pt-BR" dirty="0"/>
              <a:t>: se uma ação levar para fora do tabuleiro, o agente </a:t>
            </a:r>
            <a:r>
              <a:rPr lang="pt-BR" b="1" dirty="0"/>
              <a:t>permanece na mesma célula</a:t>
            </a:r>
            <a:r>
              <a:rPr lang="pt-BR" dirty="0"/>
              <a:t>. A recompensa é a da célula onde ele permanece.</a:t>
            </a:r>
          </a:p>
          <a:p>
            <a:r>
              <a:rPr lang="pt-BR" b="1" dirty="0"/>
              <a:t>Dinâmica dos terminais</a:t>
            </a:r>
            <a:r>
              <a:rPr lang="pt-BR" dirty="0"/>
              <a:t>: ao atingir a Meta ou a Bomba, o episódio termina imediatamente. Não há ações seguintes nesses estados.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5" name="Retângulo 4"/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6" name="Retângulo 5"/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7" name="Retângulo 6"/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8" name="Retângulo 7"/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19444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pt-BR" b="1" dirty="0"/>
                  <a:t>Parâmetros escolhidos para o exemplo</a:t>
                </a:r>
                <a:r>
                  <a:rPr lang="pt-BR" dirty="0"/>
                  <a:t>:</a:t>
                </a:r>
              </a:p>
              <a:p>
                <a:r>
                  <a:rPr lang="pt-BR" dirty="0"/>
                  <a:t>Taxa de aprendizado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Fator de desconto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=0.9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Política de exploração</a:t>
                </a:r>
                <a:r>
                  <a:rPr lang="pt-BR" dirty="0"/>
                  <a:t>: 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 com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 (50% de chance de ação aleatória, 50% de ação gulosa).</a:t>
                </a:r>
              </a:p>
              <a:p>
                <a:r>
                  <a:rPr lang="pt-BR" dirty="0"/>
                  <a:t>Iniciaremos o exemplo com esse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 e depois consideraremos uma fase puramente gulosa para observar a política aprendida.</a:t>
                </a:r>
              </a:p>
              <a:p>
                <a:r>
                  <a:rPr lang="pt-BR" b="1" dirty="0"/>
                  <a:t>Inicialização</a:t>
                </a:r>
                <a:r>
                  <a:rPr lang="pt-BR" dirty="0"/>
                  <a:t>: todos os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Bomba e Meta são terminais: nunca selecionamos ações neles.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  <a:blipFill rotWithShape="0">
                <a:blip r:embed="rId2"/>
                <a:stretch>
                  <a:fillRect l="-1495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74168F4C-1461-0E67-739C-794F3BA2E27F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1661C77-6D49-7695-33A8-24AC8975F8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951278C-FB4A-EA25-283F-21CE38908F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AD8854-3FD9-C9E4-14E1-3BE99181B3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7CB8B283-FDDD-232D-F6E6-84A69DA7A3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2623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aixaDeTexto 9"/>
          <p:cNvSpPr txBox="1"/>
          <p:nvPr/>
        </p:nvSpPr>
        <p:spPr>
          <a:xfrm>
            <a:off x="4311332" y="2342806"/>
            <a:ext cx="788066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Tabela Q inicial</a:t>
            </a:r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r>
              <a:rPr lang="pt-BR" sz="2800" dirty="0"/>
              <a:t>Agora vamos simular alguns episódios, mostrando a cada passo, o cálculo da atualização e a evolução da tabela.</a:t>
            </a:r>
          </a:p>
        </p:txBody>
      </p:sp>
      <p:grpSp>
        <p:nvGrpSpPr>
          <p:cNvPr id="3" name="Grupo 3">
            <a:extLst>
              <a:ext uri="{FF2B5EF4-FFF2-40B4-BE49-F238E27FC236}">
                <a16:creationId xmlns:a16="http://schemas.microsoft.com/office/drawing/2014/main" id="{7C8390DF-E0F5-77C3-F23D-5FC5AE3E327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C72E2F4-5305-3B2E-282A-1E79CDCAAD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10D217D7-C106-8C6F-4BD4-43179CF2C0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168522B-6B86-CD14-1F31-D243D71FCE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0876C38C-DD14-442A-C28C-EA87854843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62012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1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Estado atual: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todos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suponha que, por exploração, o agente selecionou a ação: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</a:t>
                </a:r>
                <a:r>
                  <a:rPr lang="pt-BR" dirty="0"/>
                  <a:t> 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(terminal,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não se altera).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−1+0.9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=−0.5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  <a:blipFill>
                <a:blip r:embed="rId2"/>
                <a:stretch>
                  <a:fillRect l="-141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52739C65-D0F3-969D-4CE3-48D566EEC92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4C84F92F-615E-1709-587F-0C0082635D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072F3F0-DF5C-9F14-FA4C-B908B5AAB2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817F531-4BB3-C8D4-5DFE-E07397B1EB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712FA53-3015-46D6-E410-8B38FB21C7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03897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1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6EFEECC-8467-430E-EB31-A76CBC11E36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CC4D669-B84F-F224-1CA6-0A58DE1C9A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6D1B5E-1B22-B171-16F1-752F6267EC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8072C44-2D02-8348-7FBA-682002BA7F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675FA49-3A89-8102-AC62-E355B4BDDD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6557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política poderia escolher qualquer uma delas, mas vamos supor que a escolha foi aleatória (exploração):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valor permanece 0.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83B95AD-699F-5328-D211-3678DEC21F9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977EDCF-B182-EBBE-38F0-08E1481914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D598AA9-8E90-283B-ADF7-0801367D39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A7BA062-625E-0D18-EA96-C438DD9E9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ABF3F3-A175-319A-D217-4197A29269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07096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Todas as ações em </a:t>
                </a:r>
                <a:r>
                  <a:rPr lang="pt-BR" b="1" dirty="0"/>
                  <a:t>neutro</a:t>
                </a:r>
                <a:r>
                  <a:rPr lang="pt-BR" dirty="0"/>
                  <a:t> com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/>
                  <a:t>:</a:t>
                </a:r>
                <a:endParaRPr lang="pt-BR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23A925FE-739D-AD88-CC9F-311717E70EC7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92CC85B-8519-33DA-373E-FE4C2D3710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C077A30-29E2-D15B-A333-DC70E6B22B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CF834AF-34A4-4E6B-49B9-F18CDBDDCC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EC56E4C-69F1-08FE-4B15-87679A0711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96512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após episódio 2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E0B03E94-77B3-6496-2BA8-13E2D6CFF6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B1AC67F-3091-9EFF-8140-65B4D669E1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5D18C62-2D77-519D-E7DC-F484F798A3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EC1D4B1-4FC8-D0C9-D002-F9C37AD93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F4A4D55C-0BDD-78CB-72FD-8A3D55B395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34031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Podemos ter exploração ou </a:t>
                </a:r>
                <a:r>
                  <a:rPr lang="pt-BR" dirty="0" err="1"/>
                  <a:t>explotação</a:t>
                </a:r>
                <a:r>
                  <a:rPr lang="pt-BR" dirty="0"/>
                  <a:t>. Suponha que a escolha foi gulosa (explotação): </a:t>
                </a:r>
                <a:r>
                  <a:rPr lang="pt-BR" b="1" dirty="0"/>
                  <a:t>direita.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.5</m:t>
                        </m:r>
                      </m:e>
                    </m:func>
                  </m:oMath>
                </a14:m>
                <a:r>
                  <a:rPr lang="pt-BR" dirty="0"/>
                  <a:t> (ação </a:t>
                </a:r>
                <a:r>
                  <a:rPr lang="pt-BR" b="1" dirty="0"/>
                  <a:t>baixo</a:t>
                </a:r>
                <a:r>
                  <a:rPr lang="pt-BR" dirty="0"/>
                  <a:t> no estado </a:t>
                </a:r>
                <a:r>
                  <a:rPr lang="pt-BR" b="1" dirty="0"/>
                  <a:t>neutro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.225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EBE285D3-11CE-3FC5-5973-50143D80857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EC31F2A-4596-4382-1F8A-DD0743BB5A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2316B35-D1F6-B410-F0F0-0CC6B2E71E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D8BADA-04FE-0F42-C046-362CE030D1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1187E6C-A2A7-2DC0-5E9F-CF67594C0A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06501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A8E62A-6481-4CF4-7C1B-7A3314F9C8A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17430A1C-640B-A4D9-FA51-15344FE3B6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EC8A0BB-532F-E9F7-B84E-D46C89C0B0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10461D-7EE8-27BE-1D77-112D6EDE2D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A4C7A6B-5027-C764-7373-B54B417419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3773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3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F10DB6EC-BF4C-440E-F262-5A6959A4A280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598BFA1-D9AC-A326-1CE9-16A5D8D020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25F04BF-00A1-22BC-BB23-280A02C5A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F578BFA-6526-0273-5F67-36257FA1E9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EE874D75-B9F8-4D8C-6CBD-F56BB6D370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8264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direita </a:t>
                </a:r>
                <a:r>
                  <a:rPr lang="pt-BR" dirty="0"/>
                  <a:t>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22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.75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  <a:blipFill rotWithShape="0">
                <a:blip r:embed="rId2"/>
                <a:stretch>
                  <a:fillRect l="-13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4C076B-29E7-DE53-C439-F6FEDFF73C43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18D00F2-7B67-3087-EDDC-FC10ECA943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19B5E6A-1D05-C66B-9812-1A9DD5CC79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9856A90-BC94-F116-5763-AD5B851E46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445A72D5-FF96-1B59-4C25-50FA342E53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70552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875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  <a:blipFill>
                <a:blip r:embed="rId2"/>
                <a:stretch>
                  <a:fillRect l="-134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907DA066-8133-FF9B-4E6F-BAD19D2EC1C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FFE0D284-CC29-BD50-3209-E11F69AAA8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7247A6E-3FC7-A4F3-B1EB-A93EAB30C5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DF32018-56D0-B24E-056D-C3CB17D8D9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A45D1E7-5273-369D-F84E-5F26EEBF66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0755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4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97AB1642-5AA8-EA0E-096A-60B24F1C7FB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6C2E181-276E-F0F5-4FF6-736C7D0278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FB770A5-8E8D-D495-1F13-287EB2A209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CB1C7CA-2334-4A26-15FA-A21F21BEBB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946104EC-AA89-4517-282A-5E24468C2B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56807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6C105-B08E-C283-5F24-25330850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F2E62E-8899-0FBE-1C65-0C35CD1EC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cima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cima </a:t>
                </a:r>
                <a:r>
                  <a:rPr lang="pt-BR" dirty="0"/>
                  <a:t>→ </a:t>
                </a:r>
                <a:r>
                  <a:rPr lang="pt-BR" b="1" dirty="0"/>
                  <a:t>início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início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pt-BR" b="1" dirty="0"/>
                              <m:t>in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í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cio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0.45</m:t>
                        </m:r>
                      </m:e>
                    </m:func>
                  </m:oMath>
                </a14:m>
                <a:r>
                  <a:rPr lang="pt-BR" dirty="0"/>
                  <a:t> (direita).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𝐜𝐢𝐦𝐚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.45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0.2025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aprende que mesmo uma ação que não sai do lugar pode ter valor, pois do mesmo estado inicial pode-se depois tomar a ação ótima.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 r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3D712B58-602F-97FB-7627-4714717F910E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1D04275-DFD5-D5AB-9C57-93F9B34121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44E82013-A8FB-8252-757D-8F5ADFA5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841B52-9AB5-ADA8-CCB8-0EE9BB88E2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2BB231D3-EBFE-5EAA-CBCF-15F5CAD9A2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6841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baixo </a:t>
                </a:r>
                <a:r>
                  <a:rPr lang="pt-BR" dirty="0"/>
                  <a:t>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Episódio</a:t>
                </a:r>
                <a:r>
                  <a:rPr lang="en-US" dirty="0"/>
                  <a:t> </a:t>
                </a:r>
                <a:r>
                  <a:rPr lang="en-US" dirty="0" err="1"/>
                  <a:t>terminado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DF94485B-AE4C-F75C-E41A-1454145ABF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C0E42BE-20EE-6391-7B40-2481F60D9E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6DE4AF6-E438-43FC-F271-569141A400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756718D-F35F-17A7-98DE-B2D1A59BF3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55F72E72-9CE5-A5FA-DA01-254003A9B9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7995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3614-FABC-7C3E-7892-9B8F596E2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88E34B-1B46-88D5-8CCF-87CAC41B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EB0C3E7A-B1DC-85C3-EAE9-B4372A128F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5</a:t>
                </a:r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4966D2B-85F8-0521-1011-54E0AC4BD6C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0EB4F07-CDE4-7B93-9F89-2052F60E7C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61992374-0B19-CF53-EF7F-9F2985CD99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23F6670-A456-7315-9B92-8C222E32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2581746B-7FBE-D589-E9F0-017F9C07CC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6046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está em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explotação,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0.875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.45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0+0.9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×0.875−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0.45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0.61875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  <a:blipFill>
                <a:blip r:embed="rId2"/>
                <a:stretch>
                  <a:fillRect l="-135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7BC4A8D-D796-ADE9-5C3E-DC9FDEB4D9A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CCD7D3-E6BD-4509-98AD-7E5057DC75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9D85948-B4FC-9F02-DFA7-BEE0F00D6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F381161-3DB9-07D5-736B-CE812B5F46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BE29D97-DE5A-E0C7-E380-6CE9167BA0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09369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39CAA-CA9A-17C5-4F53-2040ACB06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3C1840-788A-B4EB-FFCB-978C995C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.875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.875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.9375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1C9C7E0A-930B-1223-22BF-9C4D2B0366A2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ACFB7B8-9A8C-618E-9B4C-6F746C4337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A78B184-6DEA-798E-5381-55852D3254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E7E50F-A81E-ABDC-C7FF-3920378E14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BD9F065-EE79-EC55-5D64-C4AFFC354E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22019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0.61875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0.9375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6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DEF799DB-8006-994B-CD53-25CB4B0B98B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2EB6F0D-08F4-8D69-C2FE-785E2ABC22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8EC7E797-650D-EAAE-3A8F-0510CBDBCF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13D376C3-59B3-706A-E247-588F25D04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5297A77D-2E9D-9983-0E9A-243853E80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34758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C8BEA5-A102-9E97-3B04-B974379B9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dirty="0" err="1"/>
                  <a:t>convergência</a:t>
                </a:r>
                <a:r>
                  <a:rPr lang="en-US" dirty="0"/>
                  <a:t> final (</a:t>
                </a:r>
                <a:r>
                  <a:rPr lang="en-US" dirty="0" err="1"/>
                  <a:t>após</a:t>
                </a:r>
                <a:r>
                  <a:rPr lang="en-US" dirty="0"/>
                  <a:t> </a:t>
                </a:r>
                <a:r>
                  <a:rPr lang="en-US" dirty="0" err="1"/>
                  <a:t>muitas</a:t>
                </a:r>
                <a:r>
                  <a:rPr lang="en-US" dirty="0"/>
                  <a:t> visitas) leva </a:t>
                </a:r>
                <a:r>
                  <a:rPr lang="en-US" dirty="0" err="1"/>
                  <a:t>aos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ótimos</a:t>
                </a:r>
                <a:r>
                  <a:rPr lang="en-US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𝐜𝐢𝐦𝐚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borda</a:t>
                </a:r>
                <a:r>
                  <a:rPr lang="en-US" dirty="0"/>
                  <a:t> </a:t>
                </a:r>
                <a:r>
                  <a:rPr lang="en-US" dirty="0" err="1"/>
                  <a:t>mantém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vai</a:t>
                </a:r>
                <a:r>
                  <a:rPr lang="en-US" dirty="0"/>
                  <a:t> para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  <a:endParaRPr lang="ar-AE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bomba</a:t>
                </a:r>
                <a:r>
                  <a:rPr lang="pt-BR" dirty="0"/>
                  <a:t>, terminal)</a:t>
                </a:r>
              </a:p>
              <a:p>
                <a:r>
                  <a:rPr lang="pt-BR" dirty="0"/>
                  <a:t>Após muitos episódios, se tornarmos a política completamente gulosa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), o agente seguirá: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início</a:t>
                </a:r>
                <a:r>
                  <a:rPr lang="pt-BR" dirty="0"/>
                  <a:t>: escolher </a:t>
                </a:r>
                <a:r>
                  <a:rPr lang="pt-BR" b="1" dirty="0"/>
                  <a:t>direita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pt-BR" dirty="0"/>
                  <a:t>, a maior)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neutro</a:t>
                </a:r>
                <a:r>
                  <a:rPr lang="pt-BR" dirty="0"/>
                  <a:t>: escolher </a:t>
                </a:r>
                <a:r>
                  <a:rPr lang="pt-BR" b="1" dirty="0"/>
                  <a:t>baixo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</a:t>
                </a:r>
              </a:p>
              <a:p>
                <a:r>
                  <a:rPr lang="pt-BR" dirty="0"/>
                  <a:t>Esse caminho leva diretamente à </a:t>
                </a:r>
                <a:r>
                  <a:rPr lang="pt-BR" b="1" dirty="0"/>
                  <a:t>meta</a:t>
                </a:r>
                <a:r>
                  <a:rPr lang="pt-BR" dirty="0"/>
                  <a:t> sem pisar na </a:t>
                </a:r>
                <a:r>
                  <a:rPr lang="pt-BR" b="1" dirty="0"/>
                  <a:t>bomba</a:t>
                </a:r>
                <a:r>
                  <a:rPr lang="pt-BR" dirty="0"/>
                  <a:t>, maximizando a recompensa acumulada descontada.</a:t>
                </a:r>
              </a:p>
              <a:p>
                <a:r>
                  <a:rPr lang="en-US" dirty="0" err="1"/>
                  <a:t>Exemplo</a:t>
                </a:r>
                <a:r>
                  <a:rPr lang="en-US" dirty="0"/>
                  <a:t>: </a:t>
                </a:r>
                <a:r>
                  <a:rPr lang="en-US" dirty="0">
                    <a:hlinkClick r:id="rId3"/>
                  </a:rPr>
                  <a:t>q_learning_grid_2x2.ipynb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  <a:blipFill>
                <a:blip r:embed="rId4"/>
                <a:stretch>
                  <a:fillRect l="-962" t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Agrupar 14">
            <a:extLst>
              <a:ext uri="{FF2B5EF4-FFF2-40B4-BE49-F238E27FC236}">
                <a16:creationId xmlns:a16="http://schemas.microsoft.com/office/drawing/2014/main" id="{67352F71-1EFC-D234-0260-68383DA05579}"/>
              </a:ext>
            </a:extLst>
          </p:cNvPr>
          <p:cNvGrpSpPr/>
          <p:nvPr/>
        </p:nvGrpSpPr>
        <p:grpSpPr>
          <a:xfrm>
            <a:off x="490764" y="3059199"/>
            <a:ext cx="1728000" cy="1728000"/>
            <a:chOff x="595868" y="3164302"/>
            <a:chExt cx="1728000" cy="172800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F6DB54DD-4C93-6389-DDC0-CFDF8251428A}"/>
                </a:ext>
              </a:extLst>
            </p:cNvPr>
            <p:cNvGrpSpPr/>
            <p:nvPr/>
          </p:nvGrpSpPr>
          <p:grpSpPr>
            <a:xfrm>
              <a:off x="595868" y="3164302"/>
              <a:ext cx="1728000" cy="1728000"/>
              <a:chOff x="4153989" y="1828800"/>
              <a:chExt cx="1728000" cy="1728000"/>
            </a:xfrm>
          </p:grpSpPr>
          <p:sp>
            <p:nvSpPr>
              <p:cNvPr id="5" name="Retângulo 4">
                <a:extLst>
                  <a:ext uri="{FF2B5EF4-FFF2-40B4-BE49-F238E27FC236}">
                    <a16:creationId xmlns:a16="http://schemas.microsoft.com/office/drawing/2014/main" id="{E8FF33FC-11E5-A10F-8D40-0F7B7621F5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1828800"/>
                <a:ext cx="864000" cy="864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início</a:t>
                </a:r>
              </a:p>
            </p:txBody>
          </p:sp>
          <p:sp>
            <p:nvSpPr>
              <p:cNvPr id="6" name="Retângulo 5">
                <a:extLst>
                  <a:ext uri="{FF2B5EF4-FFF2-40B4-BE49-F238E27FC236}">
                    <a16:creationId xmlns:a16="http://schemas.microsoft.com/office/drawing/2014/main" id="{4A8C9A05-EEC2-DA94-BF2B-798D4F0EF8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1828800"/>
                <a:ext cx="864000" cy="864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neutro</a:t>
                </a:r>
              </a:p>
            </p:txBody>
          </p:sp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6AAB823D-B38A-7233-6A3C-3F70C03743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2692800"/>
                <a:ext cx="864000" cy="8640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bomba</a:t>
                </a:r>
              </a:p>
            </p:txBody>
          </p:sp>
          <p:sp>
            <p:nvSpPr>
              <p:cNvPr id="8" name="Retângulo 7">
                <a:extLst>
                  <a:ext uri="{FF2B5EF4-FFF2-40B4-BE49-F238E27FC236}">
                    <a16:creationId xmlns:a16="http://schemas.microsoft.com/office/drawing/2014/main" id="{F6CD2D79-9F90-965C-B7DC-6ADD56D215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2692800"/>
                <a:ext cx="864000" cy="864000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meta</a:t>
                </a:r>
              </a:p>
            </p:txBody>
          </p:sp>
        </p:grpSp>
        <p:sp>
          <p:nvSpPr>
            <p:cNvPr id="11" name="Seta: para a Direita 10">
              <a:extLst>
                <a:ext uri="{FF2B5EF4-FFF2-40B4-BE49-F238E27FC236}">
                  <a16:creationId xmlns:a16="http://schemas.microsoft.com/office/drawing/2014/main" id="{06EDFD38-5B31-C208-B9BB-6D838ADB756F}"/>
                </a:ext>
              </a:extLst>
            </p:cNvPr>
            <p:cNvSpPr/>
            <p:nvPr/>
          </p:nvSpPr>
          <p:spPr>
            <a:xfrm>
              <a:off x="1288256" y="34518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Seta: para a Direita 11">
              <a:extLst>
                <a:ext uri="{FF2B5EF4-FFF2-40B4-BE49-F238E27FC236}">
                  <a16:creationId xmlns:a16="http://schemas.microsoft.com/office/drawing/2014/main" id="{09D55985-231E-7D2B-B919-9C8008C68C6F}"/>
                </a:ext>
              </a:extLst>
            </p:cNvPr>
            <p:cNvSpPr/>
            <p:nvPr/>
          </p:nvSpPr>
          <p:spPr>
            <a:xfrm rot="5400000">
              <a:off x="1745558" y="39344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43818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b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requer que todos os estados estejam em uma tabela.</a:t>
                </a:r>
              </a:p>
              <a:p>
                <a:r>
                  <a:rPr lang="pt-BR" dirty="0"/>
                  <a:t>Porém, e se quisermos 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quisermos 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/>
                  <a:t>É impossível armazenar a tabela-Q na memória do computador ou percorrê-la a tempo de tomar uma decisão, tornando o treinamento impossível.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</a:t>
            </a:r>
          </a:p>
          <a:p>
            <a:r>
              <a:rPr lang="pt-BR" dirty="0"/>
              <a:t>Assim, se o espaço de estados é </a:t>
            </a:r>
            <a:r>
              <a:rPr lang="pt-BR" b="1" dirty="0"/>
              <a:t>grande ou contínuo </a:t>
            </a:r>
            <a:r>
              <a:rPr lang="pt-BR" dirty="0"/>
              <a:t>a tabela-Q é inviável.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  <a:p>
                <a:r>
                  <a:rPr lang="pt-BR" dirty="0"/>
                  <a:t>Esse algoritmo é chamado de </a:t>
                </a:r>
                <a:r>
                  <a:rPr lang="pt-BR" i="1" dirty="0" err="1"/>
                  <a:t>deep</a:t>
                </a:r>
                <a:r>
                  <a:rPr lang="pt-BR" i="1" dirty="0"/>
                  <a:t> Q-network</a:t>
                </a:r>
                <a:r>
                  <a:rPr lang="pt-BR" dirty="0"/>
                  <a:t> (</a:t>
                </a:r>
                <a:r>
                  <a:rPr lang="pt-BR"/>
                  <a:t>DQN).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  <a:blipFill>
                <a:blip r:embed="rId3"/>
                <a:stretch>
                  <a:fillRect l="-1552" t="-2663" r="-1983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1" y="2435087"/>
            <a:ext cx="4879356" cy="3206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manufatura: </a:t>
            </a:r>
            <a:r>
              <a:rPr lang="pt-BR" dirty="0"/>
              <a:t>Ensinar robôs a andar, agarrar objetos ou equilibrar cargas.</a:t>
            </a:r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q-</a:t>
            </a:r>
            <a:r>
              <a:rPr lang="pt-BR" dirty="0" err="1">
                <a:hlinkClick r:id="rId3"/>
              </a:rPr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#14 – </a:t>
            </a:r>
            <a:r>
              <a:rPr lang="pt-BR" dirty="0" err="1">
                <a:hlinkClick r:id="rId3"/>
              </a:rPr>
              <a:t>Q-learning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8940</TotalTime>
  <Words>4728</Words>
  <Application>Microsoft Office PowerPoint</Application>
  <PresentationFormat>Widescreen</PresentationFormat>
  <Paragraphs>745</Paragraphs>
  <Slides>58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58</vt:i4>
      </vt:variant>
    </vt:vector>
  </HeadingPairs>
  <TitlesOfParts>
    <vt:vector size="6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Atualização da tabela-Q: a equação de Bellman</vt:lpstr>
      <vt:lpstr>A equação de Bellman</vt:lpstr>
      <vt:lpstr>A equação de Bellman</vt:lpstr>
      <vt:lpstr>A influência do fator de desconto, γ</vt:lpstr>
      <vt:lpstr>Off-policy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1841</cp:revision>
  <dcterms:created xsi:type="dcterms:W3CDTF">2020-01-20T13:50:05Z</dcterms:created>
  <dcterms:modified xsi:type="dcterms:W3CDTF">2026-05-06T01:52:38Z</dcterms:modified>
</cp:coreProperties>
</file>