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handoutMasterIdLst>
    <p:handoutMasterId r:id="rId66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9" r:id="rId9"/>
    <p:sldId id="359" r:id="rId10"/>
    <p:sldId id="325" r:id="rId11"/>
    <p:sldId id="326" r:id="rId12"/>
    <p:sldId id="327" r:id="rId13"/>
    <p:sldId id="328" r:id="rId14"/>
    <p:sldId id="361" r:id="rId15"/>
    <p:sldId id="330" r:id="rId16"/>
    <p:sldId id="356" r:id="rId17"/>
    <p:sldId id="334" r:id="rId18"/>
    <p:sldId id="333" r:id="rId19"/>
    <p:sldId id="335" r:id="rId20"/>
    <p:sldId id="338" r:id="rId21"/>
    <p:sldId id="336" r:id="rId22"/>
    <p:sldId id="362" r:id="rId23"/>
    <p:sldId id="348" r:id="rId24"/>
    <p:sldId id="339" r:id="rId25"/>
    <p:sldId id="337" r:id="rId26"/>
    <p:sldId id="351" r:id="rId27"/>
    <p:sldId id="340" r:id="rId28"/>
    <p:sldId id="350" r:id="rId29"/>
    <p:sldId id="352" r:id="rId30"/>
    <p:sldId id="349" r:id="rId31"/>
    <p:sldId id="363" r:id="rId32"/>
    <p:sldId id="341" r:id="rId33"/>
    <p:sldId id="342" r:id="rId34"/>
    <p:sldId id="343" r:id="rId35"/>
    <p:sldId id="344" r:id="rId36"/>
    <p:sldId id="358" r:id="rId37"/>
    <p:sldId id="257" r:id="rId38"/>
    <p:sldId id="258" r:id="rId39"/>
    <p:sldId id="259" r:id="rId40"/>
    <p:sldId id="260" r:id="rId41"/>
    <p:sldId id="262" r:id="rId42"/>
    <p:sldId id="261" r:id="rId43"/>
    <p:sldId id="263" r:id="rId44"/>
    <p:sldId id="264" r:id="rId45"/>
    <p:sldId id="265" r:id="rId46"/>
    <p:sldId id="266" r:id="rId47"/>
    <p:sldId id="267" r:id="rId48"/>
    <p:sldId id="268" r:id="rId49"/>
    <p:sldId id="269" r:id="rId50"/>
    <p:sldId id="270" r:id="rId51"/>
    <p:sldId id="279" r:id="rId52"/>
    <p:sldId id="271" r:id="rId53"/>
    <p:sldId id="276" r:id="rId54"/>
    <p:sldId id="272" r:id="rId55"/>
    <p:sldId id="275" r:id="rId56"/>
    <p:sldId id="273" r:id="rId57"/>
    <p:sldId id="281" r:id="rId58"/>
    <p:sldId id="346" r:id="rId59"/>
    <p:sldId id="347" r:id="rId60"/>
    <p:sldId id="293" r:id="rId61"/>
    <p:sldId id="306" r:id="rId62"/>
    <p:sldId id="324" r:id="rId63"/>
    <p:sldId id="323" r:id="rId6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87046" autoAdjust="0"/>
  </p:normalViewPr>
  <p:slideViewPr>
    <p:cSldViewPr snapToGrid="0">
      <p:cViewPr varScale="1">
        <p:scale>
          <a:sx n="96" d="100"/>
          <a:sy n="96" d="100"/>
        </p:scale>
        <p:origin x="1476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15/06/2026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 um aprendizado por tentativa e erro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focado em decisão sequencial.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86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Analogia: treinar um cão.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“Sentou” → petisco (recompensa). “Pulou” → bronca (penalidade).</a:t>
            </a:r>
            <a:br>
              <a:rPr lang="pt-BR" dirty="0"/>
            </a:b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tempo ele descobre a ação que maximiza petiscos.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30075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7E9A5-BA1A-04CC-2D34-92174652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2164AE-D8E8-37E2-114F-2767FF834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A09FCB-C8EE-85BF-DFD0-239D1912D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7C4C6-AB9F-F92A-783D-488980C8E5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23220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1724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• PPO (Proximal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Optimization</a:t>
            </a:r>
            <a:r>
              <a:rPr lang="pt-BR" b="1" dirty="0"/>
              <a:t>)</a:t>
            </a:r>
          </a:p>
          <a:p>
            <a:r>
              <a:rPr lang="pt-BR" dirty="0"/>
              <a:t>Um dos mais usados hoje. </a:t>
            </a:r>
          </a:p>
          <a:p>
            <a:r>
              <a:rPr lang="pt-BR" dirty="0"/>
              <a:t>Estável e relativamente simples. </a:t>
            </a:r>
          </a:p>
          <a:p>
            <a:r>
              <a:rPr lang="pt-BR" dirty="0"/>
              <a:t>Muito popular em aplicações práticas.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4575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65867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067F8-1D0A-BE55-FCD7-10EF0E4DC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3550A5-7007-1709-6656-C63BB6B0D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8B9D2-432D-4EA1-4585-04806C1D7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12781-FEF8-E937-5144-CDAD3A92B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40225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DD39D-8438-4F45-71B4-9F8747421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322D5B-AD1C-1DB1-53A1-6978329C3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D7455F-337E-5D6B-A02A-380397063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24413-04E6-A99E-E6BA-F56674216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2458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B0861-5BCB-5876-3F5D-61F6C812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D4564-0207-5431-1010-B27E82173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CB5474-22CB-BB99-01B5-2F9F0EF47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02949-45DE-D99D-B818-E62590A17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74548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D62A6-7D00-3C53-05CF-A6197A83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FDE321-184D-9B7D-CEA2-205606B85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764DC-3F53-958D-91A3-DB06BD4A3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07E3E-C02F-977B-3C72-FEF303694F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6992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14:m>
                  <m:oMath xmlns:m="http://schemas.openxmlformats.org/officeDocument/2006/math">
                    <m:r>
                      <a:rPr lang="pt-BR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:r>
                  <a:rPr lang="pt-B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𝜺</a:t>
                </a:r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81209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a recompensa imediata? (explorar o que já sei que é bom)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descobrir algo potencialmente melhor? (explorar o desconhecido)</a:t>
            </a:r>
          </a:p>
          <a:p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05039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09DE7-E05E-0CF0-9976-B14C07A27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0AB18A-4528-CFA3-5FED-9146AA4A38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88F338-C1D7-9C81-BE1F-402C263CAE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a recompensa imediata? (explorar o que já sei que é bom)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Quero descobrir algo potencialmente melhor? (explorar o desconhecido)</a:t>
            </a:r>
          </a:p>
          <a:p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60743-DD33-D2BE-9B53-8B17424321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31737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96773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há uma regra teórica rígida, mas 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sensibilidade prática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mostra que manter as recompensas numa escala moderada (tipicamente entre -1 e 1) é uma escolha segura que evita uma série de armadilhas numéricas e facilita a sintonia dos hiperparâmetros.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Recomendações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Comece com recompensas no intervalo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[-1, 1]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é o mais testado e robusto.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Caso o ambiente forneça recompensas muito maiores,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reescale‑as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antes de alimentar o agente.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possível, faça com que o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retorno total máximo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de um episódio não exceda algo como 100~1000, para evitar que os Q‑valores cresçam indefinidamente.</a:t>
            </a:r>
          </a:p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676755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10629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/>
                  <a:t>Se a</a:t>
                </a:r>
                <a:r>
                  <a:rPr lang="pt-BR" baseline="0" noProof="0" dirty="0"/>
                  <a:t> recompensa atual mais a estimativa da recompensa futura (TD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baseline="0" noProof="0" dirty="0"/>
                  <a:t>) for baixa, a diferença TD </a:t>
                </a:r>
                <a:r>
                  <a:rPr lang="pt-BR" baseline="0" noProof="0" dirty="0" err="1"/>
                  <a:t>error</a:t>
                </a:r>
                <a:r>
                  <a:rPr lang="pt-BR" baseline="0" noProof="0" dirty="0"/>
                  <a:t> 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/>
                  <a:t> poderá ser negativa, diminuindo a qualidade da</a:t>
                </a:r>
                <a:r>
                  <a:rPr lang="pt-BR" baseline="0" noProof="0" dirty="0"/>
                  <a:t> ação a no estado s.</a:t>
                </a:r>
              </a:p>
              <a:p>
                <a:r>
                  <a:rPr lang="pt-BR" baseline="0" noProof="0" dirty="0"/>
                  <a:t>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noProof="0" dirty="0"/>
                  <a:t> é chamado de alvo, ou seja, queremos que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/>
                  <a:t> se aproxime dele ao longo do tempo iterativamente.</a:t>
                </a:r>
              </a:p>
              <a:p>
                <a:r>
                  <a:rPr lang="pt-BR" dirty="0"/>
                  <a:t>O aprendizado busca ajustar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 na direção do alvo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 smtClean="0"/>
                  <a:t>Se a</a:t>
                </a:r>
                <a:r>
                  <a:rPr lang="pt-BR" baseline="0" noProof="0" dirty="0" smtClean="0"/>
                  <a:t> recompensa atual mais a estimativa da recompensa futura (TD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baseline="0" noProof="0" dirty="0" smtClean="0"/>
                  <a:t>) for baixa, a diferença TD </a:t>
                </a:r>
                <a:r>
                  <a:rPr lang="pt-BR" baseline="0" noProof="0" dirty="0" err="1" smtClean="0"/>
                  <a:t>error</a:t>
                </a:r>
                <a:r>
                  <a:rPr lang="pt-BR" baseline="0" noProof="0" dirty="0" smtClean="0"/>
                  <a:t> e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poderá ser negativa, diminuindo a qualidade da</a:t>
                </a:r>
                <a:r>
                  <a:rPr lang="pt-BR" baseline="0" noProof="0" dirty="0" smtClean="0"/>
                  <a:t> ação a no estado s.</a:t>
                </a:r>
              </a:p>
              <a:p>
                <a:r>
                  <a:rPr lang="pt-BR" baseline="0" noProof="0" dirty="0" smtClean="0"/>
                  <a:t>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noProof="0" dirty="0" smtClean="0"/>
                  <a:t> é chamado de alvo, ou seja, queremos que </a:t>
                </a:r>
                <a:r>
                  <a:rPr lang="pt-BR" i="0" smtClean="0">
                    <a:latin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se aproxime dele ao longo do tempo iterativamente.</a:t>
                </a:r>
              </a:p>
              <a:p>
                <a:r>
                  <a:rPr lang="pt-BR" dirty="0" smtClean="0"/>
                  <a:t>O aprendizado busca ajustar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dirty="0" smtClean="0"/>
                  <a:t> na direção do alvo</a:t>
                </a:r>
                <a:endParaRPr lang="pt-BR" noProof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8094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99924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γ pequeno (≈ 0)</a:t>
            </a:r>
            <a:r>
              <a:rPr lang="pt-BR" dirty="0"/>
              <a:t> → agente </a:t>
            </a:r>
            <a:r>
              <a:rPr lang="pt-BR" b="1" dirty="0"/>
              <a:t>míope</a:t>
            </a:r>
            <a:r>
              <a:rPr lang="pt-BR" dirty="0"/>
              <a:t> (curto prazo) </a:t>
            </a:r>
          </a:p>
          <a:p>
            <a:r>
              <a:rPr lang="pt-BR" b="1" dirty="0"/>
              <a:t>γ grande (≈ 1)</a:t>
            </a:r>
            <a:r>
              <a:rPr lang="pt-BR" dirty="0"/>
              <a:t> → agente </a:t>
            </a:r>
            <a:r>
              <a:rPr lang="pt-BR" b="1" dirty="0"/>
              <a:t>visionário</a:t>
            </a:r>
            <a:r>
              <a:rPr lang="pt-BR" dirty="0"/>
              <a:t> (longo prazo)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escolha entre valores pequenos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0,1; 0,5) e grandes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0,95; 0,99) depende do horizonte de planejamento necessário para a tarefa e da estabilidade do aprendizado.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que γ pequeno?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cada passo já existe sinal de recompensa.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que γ grande?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informação do sucesso precisa se propagar 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volta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por muitos estados.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07500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Off-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policy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enquanto aprende sobre a política ótima, pode agir com outra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exploratória).</a:t>
            </a:r>
          </a:p>
          <a:p>
            <a:br>
              <a:rPr lang="pt-BR" dirty="0"/>
            </a:b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0353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DA2DB-F8F1-C037-ABE2-286FAF627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AE42FC0-1D52-49D6-04A5-FD18097CA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40ED2B-E212-69FB-4841-D28388CB00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Off-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policy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enquanto aprende sobre a política ótima, pode agir com outra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exploratória).</a:t>
            </a:r>
          </a:p>
          <a:p>
            <a:br>
              <a:rPr lang="pt-BR" dirty="0"/>
            </a:br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06F557C-8332-ADF5-E9C3-0410D1D320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206847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causada</a:t>
            </a:r>
            <a:r>
              <a:rPr lang="en-US" dirty="0"/>
              <a:t> </a:t>
            </a:r>
            <a:r>
              <a:rPr lang="en-US" dirty="0" err="1"/>
              <a:t>pelo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crescimento</a:t>
            </a:r>
            <a:r>
              <a:rPr lang="en-US" b="1" dirty="0">
                <a:solidFill>
                  <a:srgbClr val="7030A0"/>
                </a:solidFill>
              </a:rPr>
              <a:t> </a:t>
            </a:r>
            <a:r>
              <a:rPr lang="en-US" b="1" dirty="0" err="1">
                <a:solidFill>
                  <a:srgbClr val="7030A0"/>
                </a:solidFill>
              </a:rPr>
              <a:t>exponencial</a:t>
            </a:r>
            <a:r>
              <a:rPr lang="en-US" b="1" dirty="0">
                <a:solidFill>
                  <a:srgbClr val="7030A0"/>
                </a:solidFill>
              </a:rPr>
              <a:t> do </a:t>
            </a:r>
            <a:r>
              <a:rPr lang="en-US" b="1" dirty="0" err="1">
                <a:solidFill>
                  <a:srgbClr val="7030A0"/>
                </a:solidFill>
              </a:rPr>
              <a:t>espaço</a:t>
            </a:r>
            <a:r>
              <a:rPr lang="en-US" b="1" dirty="0">
                <a:solidFill>
                  <a:srgbClr val="7030A0"/>
                </a:solidFill>
              </a:rPr>
              <a:t> de </a:t>
            </a:r>
            <a:r>
              <a:rPr lang="en-US" b="1" dirty="0" err="1">
                <a:solidFill>
                  <a:srgbClr val="7030A0"/>
                </a:solidFill>
              </a:rPr>
              <a:t>estados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59762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00646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1992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Finanças:</a:t>
            </a:r>
            <a:r>
              <a:rPr lang="pt-BR" dirty="0"/>
              <a:t> Algoritmos de trading que aprendem a comprar e vender ações maximizando o lucro ao longo de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1841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https://colab.research.google.com/github/zz4fap/c24_inteligencia_artificial/blob/master/notebooks/q_learning_grid_2x2.ipynb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9F1CBD-EA41-4C28-874C-7C12A3463CF2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14905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https://colab.research.google.com/github/zz4fap/c24_inteligencia_artificial/blob/master/notebooks/q_learning.ipynb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784190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1654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jpe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q_learning_grid_2x2.ipynb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q_learning.ipynb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4%20-%20Q-learning.pdf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0010" y="1706903"/>
            <a:ext cx="5509592" cy="4524932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b="1" dirty="0">
                <a:solidFill>
                  <a:schemeClr val="accent2"/>
                </a:solidFill>
              </a:rPr>
              <a:t>máquinas</a:t>
            </a:r>
            <a:r>
              <a:rPr lang="pt-BR" dirty="0"/>
              <a:t> podem </a:t>
            </a:r>
            <a:r>
              <a:rPr lang="pt-BR" b="1" dirty="0">
                <a:solidFill>
                  <a:schemeClr val="accent2"/>
                </a:solidFill>
              </a:rPr>
              <a:t>aprender</a:t>
            </a:r>
            <a:r>
              <a:rPr lang="pt-BR" dirty="0"/>
              <a:t> a </a:t>
            </a:r>
            <a:r>
              <a:rPr lang="pt-BR" b="1" dirty="0">
                <a:solidFill>
                  <a:schemeClr val="accent2"/>
                </a:solidFill>
              </a:rPr>
              <a:t>tomar decisões ótimas sozinhas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sem supervisão</a:t>
            </a:r>
            <a:r>
              <a:rPr lang="pt-BR" dirty="0"/>
              <a:t> (</a:t>
            </a:r>
            <a:r>
              <a:rPr lang="pt-BR" i="1" dirty="0"/>
              <a:t>dataset</a:t>
            </a:r>
            <a:r>
              <a:rPr lang="pt-BR" dirty="0"/>
              <a:t>), apenas por </a:t>
            </a:r>
            <a:r>
              <a:rPr lang="pt-BR" b="1" dirty="0">
                <a:solidFill>
                  <a:srgbClr val="00B050"/>
                </a:solidFill>
              </a:rPr>
              <a:t>tentativa e erro</a:t>
            </a:r>
            <a:r>
              <a:rPr lang="pt-BR" dirty="0"/>
              <a:t>.</a:t>
            </a:r>
          </a:p>
          <a:p>
            <a:r>
              <a:rPr lang="pt-BR" dirty="0"/>
              <a:t>Esse é o coração </a:t>
            </a:r>
            <a:r>
              <a:rPr lang="pt-BR" dirty="0" err="1"/>
              <a:t>doaprendizado</a:t>
            </a:r>
            <a:r>
              <a:rPr lang="pt-BR" dirty="0"/>
              <a:t> por reforço, em inglês,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</a:t>
            </a:r>
            <a:r>
              <a:rPr lang="pt-BR" b="1" dirty="0">
                <a:solidFill>
                  <a:srgbClr val="00B050"/>
                </a:solidFill>
              </a:rPr>
              <a:t>tomar ações </a:t>
            </a:r>
            <a:r>
              <a:rPr lang="pt-BR" b="1" dirty="0">
                <a:solidFill>
                  <a:srgbClr val="7030A0"/>
                </a:solidFill>
              </a:rPr>
              <a:t>para maximizar uma recompensa futura</a:t>
            </a:r>
            <a:r>
              <a:rPr lang="pt-BR" dirty="0"/>
              <a:t>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</a:t>
            </a:r>
            <a:r>
              <a:rPr lang="pt-BR" b="1" dirty="0">
                <a:solidFill>
                  <a:srgbClr val="7030A0"/>
                </a:solidFill>
              </a:rPr>
              <a:t>não existe um </a:t>
            </a:r>
            <a:r>
              <a:rPr lang="pt-BR" b="1" i="1" dirty="0">
                <a:solidFill>
                  <a:srgbClr val="7030A0"/>
                </a:solidFill>
              </a:rPr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</a:t>
            </a:r>
            <a:r>
              <a:rPr lang="pt-BR" b="1" dirty="0">
                <a:solidFill>
                  <a:srgbClr val="00B050"/>
                </a:solidFill>
              </a:rPr>
              <a:t>tenta, erra, acerta e aprende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</a:t>
            </a:r>
            <a:r>
              <a:rPr lang="pt-BR" b="1" dirty="0">
                <a:solidFill>
                  <a:schemeClr val="accent2"/>
                </a:solidFill>
              </a:rPr>
              <a:t>o agente é o algoritmo de aprendizado por reforço</a:t>
            </a:r>
            <a:r>
              <a:rPr lang="pt-BR" dirty="0"/>
              <a:t>.</a:t>
            </a:r>
          </a:p>
          <a:p>
            <a:r>
              <a:rPr lang="pt-BR" dirty="0"/>
              <a:t>O aprendizado ocorre por </a:t>
            </a:r>
            <a:r>
              <a:rPr lang="pt-BR" b="1" dirty="0">
                <a:solidFill>
                  <a:schemeClr val="accent1"/>
                </a:solidFill>
              </a:rPr>
              <a:t>experiência</a:t>
            </a:r>
            <a:r>
              <a:rPr lang="pt-BR" dirty="0"/>
              <a:t> através de </a:t>
            </a:r>
            <a:r>
              <a:rPr lang="pt-BR" b="1" dirty="0">
                <a:solidFill>
                  <a:schemeClr val="accent1"/>
                </a:solidFill>
              </a:rPr>
              <a:t>interações com um ambiente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Ambiente</a:t>
            </a:r>
            <a:r>
              <a:rPr lang="pt-BR" dirty="0"/>
              <a:t>: uma rede de computadores, um jogo de vídeo game, as ruas de uma cidade, etc.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1"/>
                </a:solidFill>
              </a:rPr>
              <a:t>algoritmo aprende </a:t>
            </a:r>
            <a:r>
              <a:rPr lang="pt-BR" dirty="0"/>
              <a:t>na prática, sendo </a:t>
            </a:r>
            <a:r>
              <a:rPr lang="pt-BR" b="1" dirty="0">
                <a:solidFill>
                  <a:schemeClr val="accent1"/>
                </a:solidFill>
              </a:rPr>
              <a:t>premiado ou penalizado pelo ambiente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por ações tomadas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até descobrir a melhor estratégia</a:t>
            </a:r>
            <a:r>
              <a:rPr lang="pt-BR" dirty="0"/>
              <a:t>, chamada de </a:t>
            </a:r>
            <a:r>
              <a:rPr lang="pt-BR" b="1" dirty="0">
                <a:solidFill>
                  <a:srgbClr val="7030A0"/>
                </a:solidFill>
              </a:rPr>
              <a:t>política</a:t>
            </a:r>
            <a:r>
              <a:rPr lang="pt-BR" dirty="0"/>
              <a:t>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7030A0"/>
                </a:solidFill>
              </a:rPr>
              <a:t>reforço é um guia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ele não diz qual era a ação certa</a:t>
            </a:r>
            <a:r>
              <a:rPr lang="pt-BR" dirty="0"/>
              <a:t>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</a:t>
            </a:r>
            <a:r>
              <a:rPr lang="pt-BR" b="1" dirty="0">
                <a:solidFill>
                  <a:schemeClr val="accent2"/>
                </a:solidFill>
              </a:rPr>
              <a:t>foca na tomada de decisão</a:t>
            </a:r>
            <a:r>
              <a:rPr lang="pt-BR" dirty="0"/>
              <a:t> para </a:t>
            </a:r>
            <a:r>
              <a:rPr lang="pt-BR" b="1" dirty="0">
                <a:solidFill>
                  <a:srgbClr val="00B050"/>
                </a:solidFill>
              </a:rPr>
              <a:t>maximizar recompensas ao longo do tempo</a:t>
            </a:r>
            <a:r>
              <a:rPr lang="pt-BR" dirty="0"/>
              <a:t>.</a:t>
            </a:r>
          </a:p>
          <a:p>
            <a:r>
              <a:rPr lang="pt-BR" dirty="0"/>
              <a:t>Ele responde à pergunta:</a:t>
            </a:r>
          </a:p>
          <a:p>
            <a:pPr marL="0" indent="0" algn="ctr">
              <a:buNone/>
            </a:pP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05061" y="1825624"/>
            <a:ext cx="6486939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</a:t>
            </a:r>
            <a:r>
              <a:rPr lang="pt-BR" b="1" dirty="0">
                <a:solidFill>
                  <a:srgbClr val="00B050"/>
                </a:solidFill>
              </a:rPr>
              <a:t>não diz a ele </a:t>
            </a:r>
            <a:r>
              <a:rPr lang="pt-BR" b="1" dirty="0">
                <a:solidFill>
                  <a:schemeClr val="accent2"/>
                </a:solidFill>
              </a:rPr>
              <a:t>como</a:t>
            </a:r>
            <a:r>
              <a:rPr lang="pt-BR" b="1" dirty="0">
                <a:solidFill>
                  <a:srgbClr val="00B050"/>
                </a:solidFill>
              </a:rPr>
              <a:t> se sentar ou pegar</a:t>
            </a:r>
            <a:r>
              <a:rPr lang="pt-BR" dirty="0"/>
              <a:t>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0" y="1836510"/>
                <a:ext cx="7620000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personagem de vídeo </a:t>
                </a:r>
                <a:r>
                  <a:rPr lang="pt-BR" i="1" dirty="0"/>
                  <a:t>game</a:t>
                </a:r>
                <a:r>
                  <a:rPr lang="pt-BR" dirty="0"/>
                  <a:t>, um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com o qual o agente interage.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galpão, uma cidade, um tabuleiro de jogo.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</a:t>
                </a:r>
                <a:r>
                  <a:rPr lang="en-US" dirty="0" err="1"/>
                  <a:t>Representação</a:t>
                </a:r>
                <a:r>
                  <a:rPr lang="en-US" dirty="0"/>
                  <a:t> da </a:t>
                </a:r>
                <a:r>
                  <a:rPr lang="en-US" dirty="0" err="1"/>
                  <a:t>situação</a:t>
                </a:r>
                <a:r>
                  <a:rPr lang="en-US" dirty="0"/>
                  <a:t> </a:t>
                </a:r>
                <a:r>
                  <a:rPr lang="en-US" dirty="0" err="1"/>
                  <a:t>atual</a:t>
                </a:r>
                <a:r>
                  <a:rPr lang="en-US" dirty="0"/>
                  <a:t> do </a:t>
                </a:r>
                <a:r>
                  <a:rPr lang="en-US" dirty="0" err="1"/>
                  <a:t>ambiente</a:t>
                </a:r>
                <a:r>
                  <a:rPr lang="en-US" dirty="0"/>
                  <a:t> </a:t>
                </a:r>
                <a:r>
                  <a:rPr lang="en-US" dirty="0" err="1"/>
                  <a:t>percebida</a:t>
                </a:r>
                <a:r>
                  <a:rPr lang="en-US" dirty="0"/>
                  <a:t> </a:t>
                </a:r>
                <a:r>
                  <a:rPr lang="en-US" dirty="0" err="1"/>
                  <a:t>pelo</a:t>
                </a:r>
                <a:r>
                  <a:rPr lang="en-US" dirty="0"/>
                  <a:t> </a:t>
                </a:r>
                <a:r>
                  <a:rPr lang="en-US" dirty="0" err="1"/>
                  <a:t>agente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A posição do agente, localização dos objetos/obstáculos em um galpão, cidade ou jogo, velocidade do veículo, nível de bateria.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0" y="1836510"/>
                <a:ext cx="7620000" cy="5021489"/>
              </a:xfrm>
              <a:blipFill>
                <a:blip r:embed="rId3"/>
                <a:stretch>
                  <a:fillRect l="-1440" t="-1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16">
            <a:extLst>
              <a:ext uri="{FF2B5EF4-FFF2-40B4-BE49-F238E27FC236}">
                <a16:creationId xmlns:a16="http://schemas.microsoft.com/office/drawing/2014/main" id="{F79B46F6-560D-9776-8D77-1F170DD50C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A02A0-DCF5-7411-34A8-E5EF044B4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1B0BC-CC03-6F40-075D-986225AEC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BABB26-6BC0-85D6-BB75-58E6AF342C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11149" y="1836510"/>
                <a:ext cx="7480852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 para interagir e </a:t>
                </a:r>
                <a:r>
                  <a:rPr lang="en-US" dirty="0" err="1"/>
                  <a:t>poder</a:t>
                </a:r>
                <a:r>
                  <a:rPr lang="en-US" dirty="0"/>
                  <a:t> </a:t>
                </a:r>
                <a:r>
                  <a:rPr lang="en-US" dirty="0" err="1"/>
                  <a:t>alterar</a:t>
                </a:r>
                <a:r>
                  <a:rPr lang="en-US" dirty="0"/>
                  <a:t> o </a:t>
                </a:r>
                <a:r>
                  <a:rPr lang="en-US" dirty="0" err="1"/>
                  <a:t>estado</a:t>
                </a:r>
                <a:r>
                  <a:rPr lang="en-US" dirty="0"/>
                  <a:t> do </a:t>
                </a:r>
                <a:r>
                  <a:rPr lang="en-US" dirty="0" err="1"/>
                  <a:t>ambiente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movimentos (esquerda, direita, para cima/baixo), acelerar, frear.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</a:t>
                </a:r>
                <a:r>
                  <a:rPr lang="pt-BR" i="1" dirty="0"/>
                  <a:t>feedback</a:t>
                </a:r>
                <a:r>
                  <a:rPr lang="pt-BR" dirty="0"/>
                  <a:t> (positivo ou negativo) </a:t>
                </a:r>
                <a:r>
                  <a:rPr lang="en-US" dirty="0" err="1"/>
                  <a:t>fornecido</a:t>
                </a:r>
                <a:r>
                  <a:rPr lang="en-US" dirty="0"/>
                  <a:t> </a:t>
                </a:r>
                <a:r>
                  <a:rPr lang="en-US" dirty="0" err="1"/>
                  <a:t>pelo</a:t>
                </a:r>
                <a:r>
                  <a:rPr lang="en-US" dirty="0"/>
                  <a:t> </a:t>
                </a:r>
                <a:r>
                  <a:rPr lang="en-US" dirty="0" err="1"/>
                  <a:t>ambiente</a:t>
                </a:r>
                <a:r>
                  <a:rPr lang="en-US" dirty="0"/>
                  <a:t> </a:t>
                </a:r>
                <a:r>
                  <a:rPr lang="pt-BR" dirty="0"/>
                  <a:t>após a execução de uma ação.</a:t>
                </a:r>
              </a:p>
              <a:p>
                <a:r>
                  <a:rPr lang="en-US" b="1" dirty="0"/>
                  <a:t>Política</a:t>
                </a:r>
                <a14:m>
                  <m:oMath xmlns:m="http://schemas.openxmlformats.org/officeDocument/2006/math">
                    <m:r>
                      <a:rPr lang="pt-BR" b="1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Estratégia</a:t>
                </a:r>
                <a:r>
                  <a:rPr lang="en-US" dirty="0"/>
                  <a:t> </a:t>
                </a:r>
                <a:r>
                  <a:rPr lang="en-US" dirty="0" err="1"/>
                  <a:t>utilizada</a:t>
                </a:r>
                <a:r>
                  <a:rPr lang="en-US" dirty="0"/>
                  <a:t> </a:t>
                </a:r>
                <a:r>
                  <a:rPr lang="en-US" dirty="0" err="1"/>
                  <a:t>pelo</a:t>
                </a:r>
                <a:r>
                  <a:rPr lang="en-US" dirty="0"/>
                  <a:t> </a:t>
                </a:r>
                <a:r>
                  <a:rPr lang="en-US" dirty="0" err="1"/>
                  <a:t>agente</a:t>
                </a:r>
                <a:r>
                  <a:rPr lang="en-US" dirty="0"/>
                  <a:t> para </a:t>
                </a:r>
                <a:r>
                  <a:rPr lang="en-US" dirty="0" err="1"/>
                  <a:t>escolher</a:t>
                </a:r>
                <a:r>
                  <a:rPr lang="en-US" dirty="0"/>
                  <a:t> </a:t>
                </a:r>
                <a:r>
                  <a:rPr lang="en-US" dirty="0" err="1"/>
                  <a:t>ações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estado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dirty="0" err="1"/>
                  <a:t>função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</a:t>
                </a:r>
                <a:r>
                  <a:rPr lang="en-US" dirty="0" err="1"/>
                  <a:t>mapeia</a:t>
                </a:r>
                <a:r>
                  <a:rPr lang="en-US" dirty="0"/>
                  <a:t> 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atual</a:t>
                </a:r>
                <a:r>
                  <a:rPr lang="en-US" dirty="0"/>
                  <a:t> </a:t>
                </a:r>
                <a:r>
                  <a:rPr lang="en-US" dirty="0" err="1"/>
                  <a:t>na</a:t>
                </a:r>
                <a:r>
                  <a:rPr lang="en-US" dirty="0"/>
                  <a:t> </a:t>
                </a:r>
                <a:r>
                  <a:rPr lang="en-US" dirty="0" err="1"/>
                  <a:t>melhor</a:t>
                </a:r>
                <a:r>
                  <a:rPr lang="en-US" dirty="0"/>
                  <a:t> </a:t>
                </a:r>
                <a:r>
                  <a:rPr lang="en-US" dirty="0" err="1"/>
                  <a:t>ação</a:t>
                </a:r>
                <a:r>
                  <a:rPr lang="en-US" dirty="0"/>
                  <a:t> para </a:t>
                </a:r>
                <a:r>
                  <a:rPr lang="en-US" dirty="0" err="1"/>
                  <a:t>aquele</a:t>
                </a:r>
                <a:r>
                  <a:rPr lang="en-US" dirty="0"/>
                  <a:t> </a:t>
                </a:r>
                <a:r>
                  <a:rPr lang="en-US" dirty="0" err="1"/>
                  <a:t>estado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BABB26-6BC0-85D6-BB75-58E6AF342C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11149" y="1836510"/>
                <a:ext cx="7480852" cy="5021489"/>
              </a:xfrm>
              <a:blipFill>
                <a:blip r:embed="rId3"/>
                <a:stretch>
                  <a:fillRect l="-1467" t="-1942" r="-26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16">
            <a:extLst>
              <a:ext uri="{FF2B5EF4-FFF2-40B4-BE49-F238E27FC236}">
                <a16:creationId xmlns:a16="http://schemas.microsoft.com/office/drawing/2014/main" id="{6D2D1CCE-984C-CCFD-5C5B-6F1CDFBCED6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065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17435" y="1836510"/>
                <a:ext cx="6874565" cy="502148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o agente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observa 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pt-BR" dirty="0"/>
                  <a:t> (conjunto de estados possíveis).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base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 seleciona e executa uma 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dirty="0"/>
                  <a:t> (conjunto de ações disponíveis).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instante depois, como consequência de sua ação, o agente recebe uma recompensa,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pt-BR" dirty="0"/>
                  <a:t> (conjunto de todas as possíveis recompensas).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se encontra em um novo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7435" y="1836510"/>
                <a:ext cx="6874565" cy="5021489"/>
              </a:xfrm>
              <a:blipFill>
                <a:blip r:embed="rId3"/>
                <a:stretch>
                  <a:fillRect l="-1596" t="-1942" r="-2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4" y="2934833"/>
            <a:ext cx="5007083" cy="226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046E0-93D4-BF9F-C552-72A01838A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353800" cy="5021489"/>
          </a:xfrm>
        </p:spPr>
        <p:txBody>
          <a:bodyPr>
            <a:normAutofit/>
          </a:bodyPr>
          <a:lstStyle/>
          <a:p>
            <a:r>
              <a:rPr lang="pt-BR" dirty="0"/>
              <a:t> O </a:t>
            </a:r>
            <a:r>
              <a:rPr lang="pt-BR" b="1" dirty="0">
                <a:solidFill>
                  <a:schemeClr val="accent2"/>
                </a:solidFill>
              </a:rPr>
              <a:t>objetivo</a:t>
            </a:r>
            <a:r>
              <a:rPr lang="pt-BR" dirty="0"/>
              <a:t> do agente é </a:t>
            </a:r>
            <a:r>
              <a:rPr lang="pt-BR" b="1" dirty="0">
                <a:solidFill>
                  <a:srgbClr val="00B050"/>
                </a:solidFill>
              </a:rPr>
              <a:t>maximizar a soma total de recompensas ao longo do tempo</a:t>
            </a:r>
            <a:r>
              <a:rPr lang="pt-BR" dirty="0"/>
              <a:t>, não apenas a recompensa imediata.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71" y="3283382"/>
            <a:ext cx="6167857" cy="27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37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2CAF6-B58D-36CC-E75E-B9EBC01B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RL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6FA30-D5F7-2E83-352E-3527EE589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Alguns dos algoritmos de RL mais conhecidos e importantes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endParaRPr lang="pt-BR" b="1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 dos algoritmos mais clássicos.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>
                <a:solidFill>
                  <a:srgbClr val="00B050"/>
                </a:solidFill>
              </a:rPr>
              <a:t>Espaços de ações e estados discretos.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Base de muitos métodos modernos.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/>
              <a:t>Deep Q-</a:t>
            </a:r>
            <a:r>
              <a:rPr lang="en-US" b="1" i="1" dirty="0"/>
              <a:t>Network</a:t>
            </a:r>
            <a:r>
              <a:rPr lang="en-US" b="1" dirty="0"/>
              <a:t> (DQN)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Combina</a:t>
            </a:r>
            <a:r>
              <a:rPr lang="en-US" dirty="0"/>
              <a:t> Q-</a:t>
            </a:r>
            <a:r>
              <a:rPr lang="en-US" i="1" dirty="0"/>
              <a:t>learning</a:t>
            </a:r>
            <a:r>
              <a:rPr lang="en-US" dirty="0"/>
              <a:t> com redes </a:t>
            </a:r>
            <a:r>
              <a:rPr lang="en-US" dirty="0" err="1"/>
              <a:t>neurais</a:t>
            </a:r>
            <a:r>
              <a:rPr lang="en-US" dirty="0"/>
              <a:t> </a:t>
            </a:r>
            <a:r>
              <a:rPr lang="en-US" dirty="0" err="1"/>
              <a:t>profundas</a:t>
            </a:r>
            <a:r>
              <a:rPr lang="en-US" dirty="0"/>
              <a:t> </a:t>
            </a:r>
            <a:r>
              <a:rPr lang="en-US" b="1" dirty="0">
                <a:solidFill>
                  <a:srgbClr val="7030A0"/>
                </a:solidFill>
              </a:rPr>
              <a:t>para </a:t>
            </a:r>
            <a:r>
              <a:rPr lang="en-US" b="1" dirty="0" err="1">
                <a:solidFill>
                  <a:srgbClr val="7030A0"/>
                </a:solidFill>
              </a:rPr>
              <a:t>grandes</a:t>
            </a:r>
            <a:r>
              <a:rPr lang="en-US" b="1" dirty="0">
                <a:solidFill>
                  <a:srgbClr val="7030A0"/>
                </a:solidFill>
              </a:rPr>
              <a:t> conjuntos de </a:t>
            </a:r>
            <a:r>
              <a:rPr lang="en-US" b="1" dirty="0" err="1">
                <a:solidFill>
                  <a:srgbClr val="7030A0"/>
                </a:solidFill>
              </a:rPr>
              <a:t>ações</a:t>
            </a:r>
            <a:r>
              <a:rPr lang="en-US" b="1" dirty="0">
                <a:solidFill>
                  <a:srgbClr val="7030A0"/>
                </a:solidFill>
              </a:rPr>
              <a:t> e </a:t>
            </a:r>
            <a:r>
              <a:rPr lang="en-US" b="1" dirty="0" err="1">
                <a:solidFill>
                  <a:srgbClr val="7030A0"/>
                </a:solidFill>
              </a:rPr>
              <a:t>estados</a:t>
            </a:r>
            <a:r>
              <a:rPr lang="en-US" b="1" dirty="0">
                <a:solidFill>
                  <a:srgbClr val="7030A0"/>
                </a:solidFill>
              </a:rPr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b="1" dirty="0" err="1">
                <a:solidFill>
                  <a:schemeClr val="accent2"/>
                </a:solidFill>
              </a:rPr>
              <a:t>Espaço</a:t>
            </a:r>
            <a:r>
              <a:rPr lang="en-US" b="1" dirty="0">
                <a:solidFill>
                  <a:schemeClr val="accent2"/>
                </a:solidFill>
              </a:rPr>
              <a:t> de </a:t>
            </a:r>
            <a:r>
              <a:rPr lang="en-US" b="1" dirty="0" err="1">
                <a:solidFill>
                  <a:schemeClr val="accent2"/>
                </a:solidFill>
              </a:rPr>
              <a:t>ações</a:t>
            </a:r>
            <a:r>
              <a:rPr lang="en-US" b="1" dirty="0">
                <a:solidFill>
                  <a:schemeClr val="accent2"/>
                </a:solidFill>
              </a:rPr>
              <a:t> </a:t>
            </a:r>
            <a:r>
              <a:rPr lang="en-US" b="1" dirty="0" err="1">
                <a:solidFill>
                  <a:schemeClr val="accent2"/>
                </a:solidFill>
              </a:rPr>
              <a:t>discreto</a:t>
            </a:r>
            <a:r>
              <a:rPr lang="en-US" b="1" dirty="0">
                <a:solidFill>
                  <a:schemeClr val="accent2"/>
                </a:solidFill>
              </a:rPr>
              <a:t> e </a:t>
            </a:r>
            <a:r>
              <a:rPr lang="en-US" b="1" dirty="0" err="1">
                <a:solidFill>
                  <a:schemeClr val="accent2"/>
                </a:solidFill>
              </a:rPr>
              <a:t>espaço</a:t>
            </a:r>
            <a:r>
              <a:rPr lang="en-US" b="1" dirty="0">
                <a:solidFill>
                  <a:schemeClr val="accent2"/>
                </a:solidFill>
              </a:rPr>
              <a:t> de </a:t>
            </a:r>
            <a:r>
              <a:rPr lang="en-US" b="1" dirty="0" err="1">
                <a:solidFill>
                  <a:schemeClr val="accent2"/>
                </a:solidFill>
              </a:rPr>
              <a:t>estados</a:t>
            </a:r>
            <a:r>
              <a:rPr lang="en-US" b="1" dirty="0">
                <a:solidFill>
                  <a:schemeClr val="accent2"/>
                </a:solidFill>
              </a:rPr>
              <a:t> </a:t>
            </a:r>
            <a:r>
              <a:rPr lang="en-US" b="1" dirty="0" err="1">
                <a:solidFill>
                  <a:schemeClr val="accent2"/>
                </a:solidFill>
              </a:rPr>
              <a:t>contínuo</a:t>
            </a:r>
            <a:r>
              <a:rPr lang="en-US" b="1" dirty="0">
                <a:solidFill>
                  <a:schemeClr val="accent2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DDPG (</a:t>
            </a:r>
            <a:r>
              <a:rPr lang="pt-BR" b="1" i="1" dirty="0" err="1"/>
              <a:t>Deep</a:t>
            </a:r>
            <a:r>
              <a:rPr lang="pt-BR" b="1" i="1" dirty="0"/>
              <a:t> </a:t>
            </a:r>
            <a:r>
              <a:rPr lang="pt-BR" b="1" i="1" dirty="0" err="1"/>
              <a:t>Deterministic</a:t>
            </a:r>
            <a:r>
              <a:rPr lang="pt-BR" b="1" i="1" dirty="0"/>
              <a:t> </a:t>
            </a:r>
            <a:r>
              <a:rPr lang="pt-BR" b="1" i="1" dirty="0" err="1"/>
              <a:t>Policy</a:t>
            </a:r>
            <a:r>
              <a:rPr lang="pt-BR" b="1" i="1" dirty="0"/>
              <a:t> </a:t>
            </a:r>
            <a:r>
              <a:rPr lang="pt-BR" b="1" i="1" dirty="0" err="1"/>
              <a:t>Gradient</a:t>
            </a:r>
            <a:r>
              <a:rPr lang="pt-BR" b="1" dirty="0"/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>
                <a:solidFill>
                  <a:schemeClr val="accent1"/>
                </a:solidFill>
              </a:rPr>
              <a:t>Extensão do DQN para espaços de ações e estados contínuos.</a:t>
            </a:r>
          </a:p>
          <a:p>
            <a:r>
              <a:rPr lang="pt-BR" dirty="0"/>
              <a:t>Devido a sua simplicidade e por introduzir de forma clara os conceitos fundamentais de aprendizado por reforço, focaremos no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dirty="0"/>
              <a:t>, proposto por Christopher Watkins em 1989.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892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E92F5-0D3A-0F43-282A-3A7C06039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B6A6C9-67EC-449F-0095-BDC7619374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776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é um algoritmo </a:t>
                </a:r>
                <a:r>
                  <a:rPr lang="pt-BR" b="1" i="1" dirty="0"/>
                  <a:t>model-</a:t>
                </a:r>
                <a:r>
                  <a:rPr lang="pt-BR" b="1" i="1" dirty="0" err="1"/>
                  <a:t>free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RL, o </a:t>
                </a:r>
                <a:r>
                  <a:rPr lang="pt-BR" b="1" dirty="0"/>
                  <a:t>"modelo"</a:t>
                </a:r>
                <a:r>
                  <a:rPr lang="pt-BR" dirty="0"/>
                  <a:t> é o conhecimento das </a:t>
                </a:r>
                <a:r>
                  <a:rPr lang="pt-BR" b="1" dirty="0">
                    <a:solidFill>
                      <a:srgbClr val="00B050"/>
                    </a:solidFill>
                  </a:rPr>
                  <a:t>regras do ambiente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As </a:t>
                </a:r>
                <a:r>
                  <a:rPr lang="en-US" dirty="0" err="1"/>
                  <a:t>probabilidades</a:t>
                </a:r>
                <a:r>
                  <a:rPr lang="en-US" dirty="0"/>
                  <a:t> de </a:t>
                </a:r>
                <a:r>
                  <a:rPr lang="en-US" dirty="0" err="1"/>
                  <a:t>transição</a:t>
                </a:r>
                <a:r>
                  <a:rPr lang="en-US" dirty="0"/>
                  <a:t> do </a:t>
                </a:r>
                <a:r>
                  <a:rPr lang="en-US" dirty="0" err="1"/>
                  <a:t>ambiente</a:t>
                </a: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A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recompensa</a:t>
                </a:r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O </a:t>
                </a:r>
                <a:r>
                  <a:rPr lang="en-US" dirty="0" err="1"/>
                  <a:t>agente</a:t>
                </a:r>
                <a:r>
                  <a:rPr lang="en-US" dirty="0"/>
                  <a:t> de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en-US" dirty="0"/>
                  <a:t> </a:t>
                </a:r>
                <a:r>
                  <a:rPr lang="en-US" b="1" dirty="0" err="1"/>
                  <a:t>não</a:t>
                </a:r>
                <a:r>
                  <a:rPr lang="en-US" b="1" dirty="0"/>
                  <a:t> </a:t>
                </a:r>
                <a:r>
                  <a:rPr lang="en-US" b="1" dirty="0" err="1"/>
                  <a:t>conhece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nem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tenta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aprender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dirty="0" err="1"/>
                  <a:t>explicitamente</a:t>
                </a:r>
                <a:r>
                  <a:rPr lang="en-US" dirty="0"/>
                  <a:t> </a:t>
                </a:r>
                <a:r>
                  <a:rPr lang="en-US" dirty="0" err="1"/>
                  <a:t>essas</a:t>
                </a:r>
                <a:r>
                  <a:rPr lang="en-US" dirty="0"/>
                  <a:t> </a:t>
                </a:r>
                <a:r>
                  <a:rPr lang="en-US" dirty="0" err="1"/>
                  <a:t>regras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B6A6C9-67EC-449F-0095-BDC7619374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77600" cy="5032375"/>
              </a:xfrm>
              <a:blipFill>
                <a:blip r:embed="rId3"/>
                <a:stretch>
                  <a:fillRect l="-97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53399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69F96-41C3-369B-8CEC-5E2E0D782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5E89D-7E0F-DB63-92AF-0142A27AA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3A6F47-178B-4EB2-5491-F4F92463E0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776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aprende uma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função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valor-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ação</a:t>
                </a:r>
                <a:r>
                  <a:rPr lang="en-US" dirty="0"/>
                  <a:t> </a:t>
                </a:r>
                <a:r>
                  <a:rPr lang="pt-BR" dirty="0"/>
                  <a:t>a </a:t>
                </a:r>
                <a:r>
                  <a:rPr lang="en-US" dirty="0" err="1"/>
                  <a:t>partir</a:t>
                </a:r>
                <a:r>
                  <a:rPr lang="en-US" dirty="0"/>
                  <a:t> da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interação</a:t>
                </a:r>
                <a:r>
                  <a:rPr lang="en-US" dirty="0"/>
                  <a:t> com o </a:t>
                </a:r>
                <a:r>
                  <a:rPr lang="en-US" dirty="0" err="1"/>
                  <a:t>ambiente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Ele </a:t>
                </a:r>
                <a:r>
                  <a:rPr lang="en-US" dirty="0" err="1"/>
                  <a:t>começa</a:t>
                </a:r>
                <a:r>
                  <a:rPr lang="en-US" dirty="0"/>
                  <a:t> “</a:t>
                </a:r>
                <a:r>
                  <a:rPr lang="en-US" dirty="0" err="1"/>
                  <a:t>cego</a:t>
                </a:r>
                <a:r>
                  <a:rPr lang="en-US" dirty="0"/>
                  <a:t>” e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pt-BR" dirty="0"/>
                  <a:t>tentativa e erro vai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aprendendo (i.e., atualizando)</a:t>
                </a:r>
                <a:r>
                  <a:rPr lang="pt-BR" dirty="0"/>
                  <a:t> a função.</a:t>
                </a:r>
                <a:endParaRPr lang="en-US" dirty="0"/>
              </a:p>
              <a:p>
                <a:r>
                  <a:rPr lang="en-US" dirty="0"/>
                  <a:t>Por outro </a:t>
                </a:r>
                <a:r>
                  <a:rPr lang="en-US" dirty="0" err="1"/>
                  <a:t>lado</a:t>
                </a:r>
                <a:r>
                  <a:rPr lang="en-US" dirty="0"/>
                  <a:t>,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agentes</a:t>
                </a:r>
                <a:r>
                  <a:rPr lang="en-US" dirty="0"/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algoritmos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i="1" dirty="0">
                    <a:solidFill>
                      <a:schemeClr val="accent2"/>
                    </a:solidFill>
                  </a:rPr>
                  <a:t>model-based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possuem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ou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aprendem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do </a:t>
                </a:r>
                <a:r>
                  <a:rPr lang="en-US" dirty="0" err="1"/>
                  <a:t>ambiente</a:t>
                </a:r>
                <a:r>
                  <a:rPr lang="en-US" dirty="0"/>
                  <a:t>.</a:t>
                </a:r>
              </a:p>
              <a:p>
                <a:r>
                  <a:rPr lang="en-US" b="1" dirty="0" err="1">
                    <a:solidFill>
                      <a:schemeClr val="accent2"/>
                    </a:solidFill>
                  </a:rPr>
                  <a:t>Algoritmos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i="1" dirty="0">
                    <a:solidFill>
                      <a:schemeClr val="accent2"/>
                    </a:solidFill>
                  </a:rPr>
                  <a:t>model-based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aprendem</a:t>
                </a:r>
                <a:r>
                  <a:rPr lang="en-US" dirty="0"/>
                  <a:t> o </a:t>
                </a:r>
                <a:r>
                  <a:rPr lang="en-US" dirty="0" err="1"/>
                  <a:t>modelo</a:t>
                </a:r>
                <a:r>
                  <a:rPr lang="en-US" dirty="0"/>
                  <a:t> do </a:t>
                </a:r>
                <a:r>
                  <a:rPr lang="en-US" dirty="0" err="1"/>
                  <a:t>ambiente</a:t>
                </a:r>
                <a:r>
                  <a:rPr lang="en-US" dirty="0"/>
                  <a:t> para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planejar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ações</a:t>
                </a:r>
                <a:r>
                  <a:rPr lang="en-US" b="1" dirty="0">
                    <a:solidFill>
                      <a:srgbClr val="7030A0"/>
                    </a:solidFill>
                  </a:rPr>
                  <a:t> antes de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executá</a:t>
                </a:r>
                <a:r>
                  <a:rPr lang="en-US" b="1" dirty="0">
                    <a:solidFill>
                      <a:srgbClr val="7030A0"/>
                    </a:solidFill>
                  </a:rPr>
                  <a:t>-las.</a:t>
                </a:r>
                <a:endParaRPr lang="en-US" dirty="0">
                  <a:solidFill>
                    <a:srgbClr val="7030A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3A6F47-178B-4EB2-5491-F4F92463E0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77600" cy="5032375"/>
              </a:xfrm>
              <a:blipFill>
                <a:blip r:embed="rId3"/>
                <a:stretch>
                  <a:fillRect l="-973" t="-1937" r="-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24990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14044-1D84-E441-8AC3-FB3FD922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93585-9339-7002-7C62-27331F24C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Significa </a:t>
                </a:r>
                <a:r>
                  <a:rPr lang="pt-BR" b="1" dirty="0"/>
                  <a:t>qualidade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Representa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quão boa é uma determinada ação em um estado específico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Quem informa a </a:t>
                </a:r>
                <a:r>
                  <a:rPr lang="pt-BR" b="1" dirty="0"/>
                  <a:t>qualidade</a:t>
                </a:r>
                <a:r>
                  <a:rPr lang="pt-BR" dirty="0"/>
                  <a:t> é a </a:t>
                </a:r>
                <a:r>
                  <a:rPr lang="pt-BR" b="1" dirty="0">
                    <a:solidFill>
                      <a:srgbClr val="7030A0"/>
                    </a:solidFill>
                  </a:rPr>
                  <a:t>função </a:t>
                </a:r>
                <a:r>
                  <a:rPr lang="pt-BR" b="1" dirty="0" err="1">
                    <a:solidFill>
                      <a:srgbClr val="7030A0"/>
                    </a:solidFill>
                  </a:rPr>
                  <a:t>valor-ação</a:t>
                </a:r>
                <a:r>
                  <a:rPr lang="pt-BR" dirty="0"/>
                  <a:t>, 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Ela mede o retorno (qualidade) esperado ao executar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 no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14A3494-F972-A92A-0152-CCA1FC88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60347"/>
              </p:ext>
            </p:extLst>
          </p:nvPr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:a16="http://schemas.microsoft.com/office/drawing/2014/main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74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8ED1C15-0942-089C-7805-CB510EC72FB1}"/>
              </a:ext>
            </a:extLst>
          </p:cNvPr>
          <p:cNvSpPr txBox="1"/>
          <p:nvPr/>
        </p:nvSpPr>
        <p:spPr>
          <a:xfrm rot="16200000">
            <a:off x="571748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E39535-416D-18D0-A4E0-B8FD0EF37FF9}"/>
              </a:ext>
            </a:extLst>
          </p:cNvPr>
          <p:cNvSpPr txBox="1"/>
          <p:nvPr/>
        </p:nvSpPr>
        <p:spPr>
          <a:xfrm>
            <a:off x="2102185" y="2745693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877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5AE3B-201C-5E30-B616-244129536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A5134-F678-3E33-53FD-196FF0B8D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C2D2BB-B231-8F88-7E80-47968C0D44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mensura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recompensa total esperada ao executar uma ação específica partindo de um determinado estado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, a função é definida de forma </a:t>
                </a:r>
                <a:r>
                  <a:rPr lang="pt-BR" b="1" dirty="0"/>
                  <a:t>discreta</a:t>
                </a:r>
                <a:r>
                  <a:rPr lang="pt-BR" dirty="0"/>
                  <a:t> (estados e ações)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 uma tabela (ou matriz)</a:t>
                </a:r>
                <a:r>
                  <a:rPr lang="pt-BR" dirty="0"/>
                  <a:t>, chamada de </a:t>
                </a:r>
                <a:r>
                  <a:rPr lang="pt-BR" b="1" dirty="0"/>
                  <a:t>tabela-Q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 linhas são os estados e as colunas são as ações.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BC2D2BB-B231-8F88-7E80-47968C0D44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 r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52ABF2-118D-32E6-4BF7-5381537DB3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773154"/>
              </p:ext>
            </p:extLst>
          </p:nvPr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:a16="http://schemas.microsoft.com/office/drawing/2014/main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74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B354498-7C70-F838-EBEA-204AF5C8471C}"/>
              </a:ext>
            </a:extLst>
          </p:cNvPr>
          <p:cNvSpPr txBox="1"/>
          <p:nvPr/>
        </p:nvSpPr>
        <p:spPr>
          <a:xfrm rot="16200000">
            <a:off x="571748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E5233-070C-691B-D3A2-AEA44D12850C}"/>
              </a:ext>
            </a:extLst>
          </p:cNvPr>
          <p:cNvSpPr txBox="1"/>
          <p:nvPr/>
        </p:nvSpPr>
        <p:spPr>
          <a:xfrm>
            <a:off x="2102185" y="2745693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0891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219F2-045D-7C64-9A87-54D2232BD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A5E16-B19C-BA31-7BEC-009E02E4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4463B-65B5-66E6-8A30-437FFFA8D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55829" cy="5032375"/>
          </a:xfrm>
        </p:spPr>
        <p:txBody>
          <a:bodyPr>
            <a:normAutofit/>
          </a:bodyPr>
          <a:lstStyle/>
          <a:p>
            <a:r>
              <a:rPr lang="pt-BR" dirty="0"/>
              <a:t>Cada entrada da tabela armazena um valor de qualidade para um par estado-ação.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2"/>
                </a:solidFill>
              </a:rPr>
              <a:t>objetivo do algoritmo é preencher a tabela </a:t>
            </a:r>
            <a:r>
              <a:rPr lang="pt-BR" dirty="0"/>
              <a:t>com os valores que </a:t>
            </a:r>
            <a:r>
              <a:rPr lang="pt-BR" b="1" dirty="0">
                <a:solidFill>
                  <a:schemeClr val="accent1"/>
                </a:solidFill>
              </a:rPr>
              <a:t>façam o agente escolher a melhor ação sempre</a:t>
            </a:r>
            <a:r>
              <a:rPr lang="pt-BR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635AC4-CE1D-B8AF-A040-2F87EF1759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85" y="3529549"/>
            <a:ext cx="6226629" cy="3171789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5D78AA5-3FC8-ACB4-7CF1-CB8D02FA6D86}"/>
              </a:ext>
            </a:extLst>
          </p:cNvPr>
          <p:cNvSpPr txBox="1"/>
          <p:nvPr/>
        </p:nvSpPr>
        <p:spPr>
          <a:xfrm>
            <a:off x="3995530" y="3796747"/>
            <a:ext cx="1120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Ambiente</a:t>
            </a:r>
            <a:endParaRPr lang="en-US" b="1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A3A3BA9-54DC-2462-9B29-144AA8364CFB}"/>
              </a:ext>
            </a:extLst>
          </p:cNvPr>
          <p:cNvSpPr txBox="1"/>
          <p:nvPr/>
        </p:nvSpPr>
        <p:spPr>
          <a:xfrm>
            <a:off x="9209314" y="5180839"/>
            <a:ext cx="10328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Tabela-Q</a:t>
            </a:r>
            <a:endParaRPr lang="en-US" b="1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A91D32C-95F4-7A76-59AE-8D858E33263A}"/>
              </a:ext>
            </a:extLst>
          </p:cNvPr>
          <p:cNvSpPr txBox="1"/>
          <p:nvPr/>
        </p:nvSpPr>
        <p:spPr>
          <a:xfrm>
            <a:off x="1949838" y="4341812"/>
            <a:ext cx="860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Agente</a:t>
            </a:r>
            <a:endParaRPr lang="en-US" b="1" dirty="0"/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9A1ED4C7-75A5-9D19-47CE-7A07FE40FAFD}"/>
              </a:ext>
            </a:extLst>
          </p:cNvPr>
          <p:cNvCxnSpPr>
            <a:stCxn id="9" idx="3"/>
          </p:cNvCxnSpPr>
          <p:nvPr/>
        </p:nvCxnSpPr>
        <p:spPr>
          <a:xfrm flipV="1">
            <a:off x="2809945" y="4341812"/>
            <a:ext cx="788020" cy="18466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8242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1E349-E10B-155D-AA4C-5C644F1C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aprende?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332D99-C136-4CA9-0B03-FA3FA5195ED6}"/>
                  </a:ext>
                </a:extLst>
              </p:cNvPr>
              <p:cNvSpPr txBox="1"/>
              <p:nvPr/>
            </p:nvSpPr>
            <p:spPr>
              <a:xfrm>
                <a:off x="1099020" y="1874728"/>
                <a:ext cx="10515599" cy="353943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>Inicialize a tabela-Q com zeros.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pt-BR" sz="2800" dirty="0"/>
                  <a:t>Repita até o fim do </a:t>
                </a:r>
                <a:r>
                  <a:rPr lang="pt-BR" sz="2800" b="1" dirty="0"/>
                  <a:t>episódio</a:t>
                </a:r>
                <a:r>
                  <a:rPr lang="pt-BR" sz="2800" dirty="0"/>
                  <a:t>:</a:t>
                </a:r>
              </a:p>
              <a:p>
                <a:pPr marL="914400" lvl="1" indent="-45720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Observe o estado atual,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sz="2800" dirty="0"/>
                  <a:t>. </a:t>
                </a:r>
              </a:p>
              <a:p>
                <a:pPr marL="914400" lvl="1" indent="-45720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Escolha uma ação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 usando uma </a:t>
                </a:r>
                <a:r>
                  <a:rPr lang="pt-BR" sz="2800" b="1" dirty="0"/>
                  <a:t>política (e.g.,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2800" b="1" dirty="0"/>
                  <a:t>-</a:t>
                </a:r>
                <a:r>
                  <a:rPr lang="pt-BR" sz="2800" b="1" i="1" dirty="0" err="1"/>
                  <a:t>greedy</a:t>
                </a:r>
                <a:r>
                  <a:rPr lang="pt-BR" sz="2800" b="1" dirty="0"/>
                  <a:t>) baseada em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914400" lvl="1" indent="-45720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Execute a ação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, observe o novo estado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 e a recompensa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914400" lvl="1" indent="-457200">
                  <a:buFont typeface="Courier New" panose="02070309020205020404" pitchFamily="49" charset="0"/>
                  <a:buChar char="o"/>
                </a:pPr>
                <a:r>
                  <a:rPr lang="pt-BR" sz="2800" b="1" dirty="0"/>
                  <a:t>Atualize o valor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b="1" dirty="0"/>
                  <a:t> na tabela-Q.</a:t>
                </a:r>
                <a:endParaRPr lang="pt-BR" sz="2800" dirty="0"/>
              </a:p>
              <a:p>
                <a:pPr marL="914400" lvl="1" indent="-45720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Atualize o estado atual: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332D99-C136-4CA9-0B03-FA3FA5195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020" y="1874728"/>
                <a:ext cx="10515599" cy="3539430"/>
              </a:xfrm>
              <a:prstGeom prst="rect">
                <a:avLst/>
              </a:prstGeom>
              <a:blipFill>
                <a:blip r:embed="rId3"/>
                <a:stretch>
                  <a:fillRect l="-1158" t="-1718" b="-39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C7A4183-CC79-97FF-3245-59A711D4BDF1}"/>
              </a:ext>
            </a:extLst>
          </p:cNvPr>
          <p:cNvSpPr txBox="1"/>
          <p:nvPr/>
        </p:nvSpPr>
        <p:spPr>
          <a:xfrm>
            <a:off x="1287864" y="5903893"/>
            <a:ext cx="99939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O 'aprender' acontece na etapa de atualização da tabela-Q, que veremos a seguir.</a:t>
            </a:r>
            <a:endParaRPr lang="en-US" sz="2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F03550C4-5413-A1F7-D442-A995BF23005A}"/>
                  </a:ext>
                </a:extLst>
              </p:cNvPr>
              <p:cNvSpPr txBox="1"/>
              <p:nvPr/>
            </p:nvSpPr>
            <p:spPr>
              <a:xfrm>
                <a:off x="1019508" y="5414158"/>
                <a:ext cx="999395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400" dirty="0"/>
                  <a:t>*Por motivos de brevidade, vamos usar </a:t>
                </a:r>
                <a14:m>
                  <m:oMath xmlns:m="http://schemas.openxmlformats.org/officeDocument/2006/math">
                    <m:r>
                      <a:rPr lang="pt-BR" sz="1400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400" dirty="0"/>
                  <a:t> para </a:t>
                </a:r>
                <a:r>
                  <a:rPr lang="en-US" sz="1400" dirty="0" err="1"/>
                  <a:t>representar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4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400" dirty="0"/>
                  <a:t> para representar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400" dirty="0"/>
                  <a:t> e </a:t>
                </a:r>
                <a14:m>
                  <m:oMath xmlns:m="http://schemas.openxmlformats.org/officeDocument/2006/math">
                    <m:r>
                      <a:rPr lang="pt-BR" sz="14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400" dirty="0"/>
                  <a:t> para </a:t>
                </a:r>
                <a:r>
                  <a:rPr lang="en-US" sz="1400" dirty="0" err="1"/>
                  <a:t>representar</a:t>
                </a:r>
                <a:r>
                  <a:rPr lang="en-US" sz="1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F03550C4-5413-A1F7-D442-A995BF2300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508" y="5414158"/>
                <a:ext cx="9993956" cy="307777"/>
              </a:xfrm>
              <a:prstGeom prst="rect">
                <a:avLst/>
              </a:prstGeom>
              <a:blipFill>
                <a:blip r:embed="rId4"/>
                <a:stretch>
                  <a:fillRect l="-183"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70151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FE1F-C1FB-195D-22B9-96044B5DA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332DA-1674-3813-EFF7-0720AB323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6085" cy="5032375"/>
          </a:xfrm>
        </p:spPr>
        <p:txBody>
          <a:bodyPr>
            <a:normAutofit/>
          </a:bodyPr>
          <a:lstStyle/>
          <a:p>
            <a:r>
              <a:rPr lang="pt-BR" dirty="0"/>
              <a:t>É uma </a:t>
            </a:r>
            <a:r>
              <a:rPr lang="pt-BR" b="1" dirty="0">
                <a:solidFill>
                  <a:schemeClr val="accent1"/>
                </a:solidFill>
              </a:rPr>
              <a:t>sequência completa de interações entre o agente e o ambiente</a:t>
            </a:r>
            <a:r>
              <a:rPr lang="pt-BR" dirty="0"/>
              <a:t>, que </a:t>
            </a:r>
            <a:r>
              <a:rPr lang="pt-BR" b="1" dirty="0">
                <a:solidFill>
                  <a:schemeClr val="accent2"/>
                </a:solidFill>
              </a:rPr>
              <a:t>começa num estado inicial e termina quando um estado terminal é alcançado</a:t>
            </a:r>
            <a:r>
              <a:rPr lang="pt-BR" dirty="0"/>
              <a:t>.</a:t>
            </a:r>
          </a:p>
          <a:p>
            <a:r>
              <a:rPr lang="pt-BR" dirty="0"/>
              <a:t>O episódio é como uma "partida" de um jogo:</a:t>
            </a:r>
          </a:p>
          <a:p>
            <a:pPr marL="971550" lvl="1" indent="-514350">
              <a:buFont typeface="+mj-lt"/>
              <a:buAutoNum type="arabicPeriod"/>
            </a:pPr>
            <a:r>
              <a:rPr lang="pt-BR" b="1" dirty="0"/>
              <a:t>Início:</a:t>
            </a:r>
            <a:r>
              <a:rPr lang="pt-BR" dirty="0"/>
              <a:t> O ambiente e o agente são resetados para uma configuração inicial (e.g., o rato aparece no início do mapa).</a:t>
            </a:r>
          </a:p>
          <a:p>
            <a:pPr marL="971550" lvl="1" indent="-514350">
              <a:buAutoNum type="arabicPeriod"/>
            </a:pPr>
            <a:r>
              <a:rPr lang="pt-BR" b="1" dirty="0"/>
              <a:t>Ciclo:</a:t>
            </a:r>
            <a:r>
              <a:rPr lang="pt-BR" dirty="0"/>
              <a:t> O agente toma ações, recebe recompensas e o ambiente muda de estado sucessivamente.</a:t>
            </a:r>
          </a:p>
          <a:p>
            <a:pPr marL="971550" lvl="1" indent="-514350">
              <a:buAutoNum type="arabicPeriod"/>
            </a:pPr>
            <a:r>
              <a:rPr lang="pt-BR" b="1" dirty="0"/>
              <a:t>Fim:</a:t>
            </a:r>
            <a:r>
              <a:rPr lang="pt-BR" dirty="0"/>
              <a:t> O episódio se encerra quando um estado terminal é atingido, como: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atinge o </a:t>
            </a:r>
            <a:r>
              <a:rPr lang="pt-BR" b="1" dirty="0"/>
              <a:t>objetivo</a:t>
            </a:r>
            <a:r>
              <a:rPr lang="pt-BR" dirty="0"/>
              <a:t> (e.g., rato chegar ao queijo).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comete um </a:t>
            </a:r>
            <a:r>
              <a:rPr lang="pt-BR" b="1" dirty="0"/>
              <a:t>erro fatal</a:t>
            </a:r>
            <a:r>
              <a:rPr lang="pt-BR" dirty="0"/>
              <a:t> (e.g., rato encontrar uma bomba).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tempo ou o </a:t>
            </a:r>
            <a:r>
              <a:rPr lang="pt-BR" b="1" dirty="0"/>
              <a:t>limite de passos</a:t>
            </a:r>
            <a:r>
              <a:rPr lang="pt-BR" dirty="0"/>
              <a:t> se esgota.</a:t>
            </a:r>
          </a:p>
        </p:txBody>
      </p:sp>
    </p:spTree>
    <p:extLst>
      <p:ext uri="{BB962C8B-B14F-4D97-AF65-F5344CB8AC3E}">
        <p14:creationId xmlns:p14="http://schemas.microsoft.com/office/powerpoint/2010/main" val="5965842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4587-A984-EA93-857E-8D1DC320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7A575-E745-E7EC-954B-2D561DB0A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E82B6-892B-61F8-DE72-D88190E83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O treino do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feito ao longo de muitos episódios. </a:t>
            </a:r>
          </a:p>
          <a:p>
            <a:r>
              <a:rPr lang="pt-BR" dirty="0"/>
              <a:t>Em cada </a:t>
            </a:r>
            <a:r>
              <a:rPr lang="pt-BR" b="1" dirty="0">
                <a:solidFill>
                  <a:schemeClr val="accent1"/>
                </a:solidFill>
              </a:rPr>
              <a:t>novo episódio</a:t>
            </a:r>
            <a:r>
              <a:rPr lang="pt-BR" dirty="0"/>
              <a:t>, o </a:t>
            </a:r>
            <a:r>
              <a:rPr lang="pt-BR" b="1" dirty="0">
                <a:solidFill>
                  <a:schemeClr val="accent1"/>
                </a:solidFill>
              </a:rPr>
              <a:t>agente utiliza o que aprendeu </a:t>
            </a:r>
            <a:r>
              <a:rPr lang="pt-BR" dirty="0"/>
              <a:t>nos anteriores (os valores na tabela-Q) </a:t>
            </a:r>
            <a:r>
              <a:rPr lang="pt-BR" b="1" dirty="0">
                <a:solidFill>
                  <a:srgbClr val="7030A0"/>
                </a:solidFill>
              </a:rPr>
              <a:t>para tentar obter uma recompensa total maior do que na tentativa passada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2"/>
                </a:solidFill>
              </a:rPr>
              <a:t>treinamento</a:t>
            </a:r>
            <a:r>
              <a:rPr lang="pt-BR" dirty="0"/>
              <a:t> encerra-se quando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soma das recompensas obtidas ao longo dos episódios para de aumentar</a:t>
            </a:r>
            <a:r>
              <a:rPr lang="pt-BR" dirty="0"/>
              <a:t> e "estaciona" em um valor alto por muitos episódios seguidos.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Isso significa que o agente já </a:t>
            </a:r>
            <a:r>
              <a:rPr lang="pt-BR" b="1" dirty="0">
                <a:solidFill>
                  <a:srgbClr val="7030A0"/>
                </a:solidFill>
              </a:rPr>
              <a:t>encontrou uma política ótima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pela </a:t>
            </a:r>
            <a:r>
              <a:rPr lang="pt-BR" b="1" dirty="0">
                <a:solidFill>
                  <a:schemeClr val="accent6"/>
                </a:solidFill>
              </a:rPr>
              <a:t>ausência de mudanças significativas nos valores da tabela-Q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896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Machine learning series - part 5: Exploration vs. Exploitation dilemma in  Reinforcement learning — Steemit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3" r="1593"/>
          <a:stretch>
            <a:fillRect/>
          </a:stretch>
        </p:blipFill>
        <p:spPr bwMode="auto">
          <a:xfrm>
            <a:off x="520148" y="2051686"/>
            <a:ext cx="5575852" cy="3879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C857279D-05C9-03D7-9F97-74C359C16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8304" y="2744012"/>
            <a:ext cx="4863548" cy="249523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200" dirty="0"/>
              <a:t>Vocês preferem ir ao restaurante que já conhecem e sabem que é bom ou arriscar e ir a um novo, que pode ser ótimo?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624478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C372-B0A5-3AEC-20EF-7BFAAD904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5C27BFF-DD63-D35B-B814-7C312303E04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5C27BFF-DD63-D35B-B814-7C312303E0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0EAB-9B03-7BDF-D223-1102FAD95D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6766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Exploração:</a:t>
                </a:r>
                <a:r>
                  <a:rPr lang="pt-BR" dirty="0"/>
                  <a:t> Tentar ações aleatórias para descobrir quais podem dar maiores recompensas.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Riscos altos, mas possíveis ganhos altos a longo prazo.</a:t>
                </a:r>
              </a:p>
              <a:p>
                <a:r>
                  <a:rPr lang="pt-BR" b="1" dirty="0"/>
                  <a:t>Explotação:</a:t>
                </a:r>
                <a:r>
                  <a:rPr lang="pt-BR" dirty="0"/>
                  <a:t> Escolher a melhor ação conhecida usando a tabela-Q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Garantia de recompensa conhecida.</a:t>
                </a:r>
              </a:p>
              <a:p>
                <a:r>
                  <a:rPr lang="pt-BR" b="1" dirty="0"/>
                  <a:t>A estratégia </a:t>
                </a:r>
                <a:r>
                  <a:rPr lang="pt-BR" b="1" dirty="0" err="1"/>
                  <a:t>Epsilon-Greedy</a:t>
                </a:r>
                <a:r>
                  <a:rPr lang="pt-BR" b="1" dirty="0"/>
                  <a:t> (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b="1" dirty="0"/>
                  <a:t>-</a:t>
                </a:r>
                <a:r>
                  <a:rPr lang="pt-BR" b="1" i="1" dirty="0" err="1"/>
                  <a:t>greedy</a:t>
                </a:r>
                <a:r>
                  <a:rPr lang="pt-BR" b="1" dirty="0"/>
                  <a:t>) faz exatamente isso: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90%), o agente </a:t>
                </a:r>
                <a:r>
                  <a:rPr lang="pt-BR" b="1" dirty="0"/>
                  <a:t>explora</a:t>
                </a:r>
                <a:r>
                  <a:rPr lang="pt-BR" dirty="0"/>
                  <a:t> (ação aleatória).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1 -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10%), o agente </a:t>
                </a:r>
                <a:r>
                  <a:rPr lang="pt-BR" b="1" dirty="0"/>
                  <a:t>explota</a:t>
                </a:r>
                <a:r>
                  <a:rPr lang="pt-BR" dirty="0"/>
                  <a:t> (escolhe o valor máximo da tabela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o estado atual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0EAB-9B03-7BDF-D223-1102FAD95D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67660" cy="5032375"/>
              </a:xfrm>
              <a:blipFill>
                <a:blip r:embed="rId4"/>
                <a:stretch>
                  <a:fillRect l="-9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85199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99991" y="1825624"/>
                <a:ext cx="71700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o </a:t>
                </a:r>
                <a:r>
                  <a:rPr lang="pt-BR" b="1" dirty="0">
                    <a:solidFill>
                      <a:srgbClr val="7030A0"/>
                    </a:solidFill>
                  </a:rPr>
                  <a:t>agente não explorar</a:t>
                </a:r>
                <a:r>
                  <a:rPr lang="pt-BR" dirty="0"/>
                  <a:t> no começo do treinamento,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ele pode encontrar um caminho medíocre</a:t>
                </a:r>
                <a:r>
                  <a:rPr lang="pt-BR" dirty="0"/>
                  <a:t> e ficar preso nele para sempre.</a:t>
                </a:r>
              </a:p>
              <a:p>
                <a:r>
                  <a:rPr lang="pt-BR" dirty="0"/>
                  <a:t>Para que o agente tenha a chance de aprender uma boa política, a </a:t>
                </a:r>
                <a:r>
                  <a:rPr lang="pt-BR" b="1" dirty="0">
                    <a:solidFill>
                      <a:srgbClr val="00B050"/>
                    </a:solidFill>
                  </a:rPr>
                  <a:t>exploração é agressiva no início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Assim,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costuma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começar em 1.0 (100% de exploração), fazendo com que o agente tome ações aleatórias para descobrir o ambiente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decair gradualmente à medida que o agente aprende (</a:t>
                </a:r>
                <a:r>
                  <a:rPr lang="pt-BR" i="1" dirty="0" err="1"/>
                  <a:t>decay</a:t>
                </a:r>
                <a:r>
                  <a:rPr lang="pt-BR" i="1" dirty="0"/>
                  <a:t> rate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99991" y="1825624"/>
                <a:ext cx="7170089" cy="5032375"/>
              </a:xfrm>
              <a:blipFill>
                <a:blip r:embed="rId4"/>
                <a:stretch>
                  <a:fillRect l="-1531" t="-1937" r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An Introduction to Q-Learning Part 2/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" y="2351093"/>
            <a:ext cx="4450080" cy="3289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48039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A6B7C-8AE2-0626-7031-C9A0D36E6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6573" y="1823299"/>
            <a:ext cx="3962400" cy="33719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Como o agente aprende?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como a tabela-Q é atualizada?</a:t>
            </a:r>
            <a:endParaRPr lang="en-US" sz="3600" dirty="0"/>
          </a:p>
        </p:txBody>
      </p:sp>
      <p:pic>
        <p:nvPicPr>
          <p:cNvPr id="3074" name="Picture 2" descr="Reinforcement Learning In Real Life. Simple Explanation With Funny Cats">
            <a:extLst>
              <a:ext uri="{FF2B5EF4-FFF2-40B4-BE49-F238E27FC236}">
                <a16:creationId xmlns:a16="http://schemas.microsoft.com/office/drawing/2014/main" id="{BF6473FC-0F5F-F021-4950-C2C526AE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858" y="1423306"/>
            <a:ext cx="74168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235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tabela-Q é atualizada usando-se a equação proposta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: é o valor atual na tabela para o estado,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 e a ação,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taxa de aprendizado, varia no intervalo (0, 1]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Define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quanto a nova informação atualiza a antiga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Valor pequeno → aprendizado lento.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Valor grande → atualização agressiva (aprendizado mais rápido, mas pode divergir).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recompensa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que ele acabou de ganhar por tomar a 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há restrição de intervalo, mas manter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 em intervalos pequenos, como [-1, 1] e [0, 1], ajuda na estabilidade e na </a:t>
                </a:r>
                <a:r>
                  <a:rPr lang="en-US" dirty="0" err="1"/>
                  <a:t>velocidade</a:t>
                </a:r>
                <a:r>
                  <a:rPr lang="en-US" dirty="0"/>
                  <a:t> de </a:t>
                </a:r>
                <a:r>
                  <a:rPr lang="en-US" dirty="0" err="1"/>
                  <a:t>convergência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1937" r="-966" b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01949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/>
                  <a:t>fator de desconto, varia no intervalo [0, 1]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Determina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importância das recompensas futuras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Equilibra a importância entre recompensas imediatas e futuras.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Determina o </a:t>
                </a:r>
                <a:r>
                  <a:rPr lang="pt-BR" b="1" i="1" dirty="0"/>
                  <a:t>quão longe no futuro o algoritmo enxerga.</a:t>
                </a:r>
                <a:endParaRPr lang="pt-BR" b="1" dirty="0"/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: é o </a:t>
                </a:r>
                <a:r>
                  <a:rPr lang="pt-BR" b="1" dirty="0"/>
                  <a:t>maior valor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/>
                  <a:t> possível no próximo estado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 </a:t>
                </a:r>
                <a:r>
                  <a:rPr lang="pt-BR" b="1" dirty="0">
                    <a:solidFill>
                      <a:srgbClr val="7030A0"/>
                    </a:solidFill>
                  </a:rPr>
                  <a:t>estimativa da recompensa futura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equação assume que no próximo estado tomaremos a </a:t>
                </a:r>
                <a:r>
                  <a:rPr lang="pt-BR" b="1" dirty="0"/>
                  <a:t>melhor ação possível.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>
                <a:blip r:embed="rId3"/>
                <a:stretch>
                  <a:fillRect l="-913" t="-1937" r="-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95557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A6D8-ECD1-B38D-0188-C905A6EDF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Erro de diferença temporal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788D2D-1B58-788D-B9CB-AA2B58DAC9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l-G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lim>
                                  </m:limLow>
                                </m:fName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alvo</m:t>
                          </m:r>
                        </m:lim>
                      </m:limLow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estimativa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atual</m:t>
                          </m:r>
                        </m:lim>
                      </m:limLow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termo dentro dos colchetes é chamado de </a:t>
                </a:r>
                <a:r>
                  <a:rPr lang="pt-BR" b="1" dirty="0"/>
                  <a:t>erro de diferença temporal</a:t>
                </a:r>
                <a:r>
                  <a:rPr lang="pt-BR" dirty="0"/>
                  <a:t> (</a:t>
                </a:r>
                <a:r>
                  <a:rPr lang="en-US" i="1" dirty="0"/>
                  <a:t>temporal difference</a:t>
                </a:r>
                <a:r>
                  <a:rPr lang="en-US" dirty="0"/>
                  <a:t> (</a:t>
                </a:r>
                <a:r>
                  <a:rPr lang="pt-BR" dirty="0"/>
                  <a:t>TD) </a:t>
                </a:r>
                <a:r>
                  <a:rPr lang="pt-BR" i="1" dirty="0" err="1"/>
                  <a:t>error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É a diferença entre o </a:t>
                </a:r>
                <a:r>
                  <a:rPr lang="pt-BR" b="1" dirty="0">
                    <a:solidFill>
                      <a:srgbClr val="7030A0"/>
                    </a:solidFill>
                  </a:rPr>
                  <a:t>alvo de </a:t>
                </a:r>
                <a:r>
                  <a:rPr lang="pt-BR" b="1" dirty="0" err="1">
                    <a:solidFill>
                      <a:srgbClr val="7030A0"/>
                    </a:solidFill>
                  </a:rPr>
                  <a:t>Bellman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 a estimativa atual,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Multiplicamos o erro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para corrigir nossa crença passo a passo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controla</a:t>
                </a:r>
                <a:r>
                  <a:rPr lang="en-US" dirty="0"/>
                  <a:t> a </a:t>
                </a:r>
                <a:r>
                  <a:rPr lang="en-US" dirty="0" err="1"/>
                  <a:t>velocidade</a:t>
                </a:r>
                <a:r>
                  <a:rPr lang="en-US" dirty="0"/>
                  <a:t> de </a:t>
                </a:r>
                <a:r>
                  <a:rPr lang="en-US" dirty="0" err="1"/>
                  <a:t>aprendizado</a:t>
                </a:r>
                <a:r>
                  <a:rPr lang="en-US" dirty="0"/>
                  <a:t>)</a:t>
                </a:r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rgbClr val="7030A0"/>
                    </a:solidFill>
                  </a:rPr>
                  <a:t>A cada iteração,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𝑸</m:t>
                    </m:r>
                    <m:d>
                      <m:dPr>
                        <m:ctrlP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</m:t>
                        </m:r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se aproxima do alvo</a:t>
                </a:r>
                <a:r>
                  <a:rPr lang="pt-BR" dirty="0"/>
                  <a:t>, i.e., da recompensa imediata,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, mais o valor futuro ótimo descontado,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788D2D-1B58-788D-B9CB-AA2B58DAC9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7959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7966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equação de </a:t>
                </a:r>
                <a:r>
                  <a:rPr lang="pt-BR" dirty="0" err="1"/>
                  <a:t>Bellman</a:t>
                </a:r>
                <a:r>
                  <a:rPr lang="pt-BR" dirty="0"/>
                  <a:t> diz basicamente: </a:t>
                </a:r>
              </a:p>
              <a:p>
                <a:pPr marL="0" indent="0" algn="ctr">
                  <a:buNone/>
                </a:pPr>
                <a:r>
                  <a:rPr lang="pt-BR" dirty="0"/>
                  <a:t>“O valor de uma ação = recompensa imediata + maior valor futuro possível descontado”</a:t>
                </a:r>
              </a:p>
              <a:p>
                <a:r>
                  <a:rPr lang="pt-BR" dirty="0"/>
                  <a:t>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𝑟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γ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A equação de </a:t>
                </a:r>
                <a:r>
                  <a:rPr lang="pt-BR" dirty="0" err="1"/>
                  <a:t>Bellman</a:t>
                </a:r>
                <a:r>
                  <a:rPr lang="pt-BR" dirty="0"/>
                  <a:t> pode ser interpretada como:</a:t>
                </a:r>
              </a:p>
              <a:p>
                <a:pPr marL="0" indent="0" algn="ctr">
                  <a:buNone/>
                </a:pPr>
                <a:r>
                  <a:rPr lang="pt-BR" dirty="0"/>
                  <a:t>Novo valor = Valor antigo +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pt-BR" dirty="0"/>
                  <a:t> erro</a:t>
                </a:r>
              </a:p>
              <a:p>
                <a:r>
                  <a:rPr lang="pt-BR" dirty="0"/>
                  <a:t>Ou seja, </a:t>
                </a:r>
                <a:r>
                  <a:rPr lang="pt-BR" b="1" dirty="0">
                    <a:solidFill>
                      <a:srgbClr val="7030A0"/>
                    </a:solidFill>
                  </a:rPr>
                  <a:t>ajusta-se a estimativa da função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𝑸</m:t>
                    </m:r>
                    <m:d>
                      <m:dPr>
                        <m:ctrlP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</m:t>
                        </m:r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na direção do valor alvo</a:t>
                </a:r>
                <a:r>
                  <a:rPr lang="pt-BR" b="1" dirty="0"/>
                  <a:t>.</a:t>
                </a:r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7966" cy="5032376"/>
              </a:xfrm>
              <a:blipFill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8950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5501FFEB-BE69-B908-3625-F1E9E472322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A influência do fator de desconto,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5501FFEB-BE69-B908-3625-F1E9E47232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900079-52BC-C584-121B-EE74AF2CB1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o agente só liga para recompensas imediatas.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Foca no curto prazo,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recompensas futuras não importam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aprendizado é mais rápido.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Usado em sistemas de controle em tempo real, </a:t>
                </a:r>
                <a:r>
                  <a:rPr lang="pt-BR" b="1" dirty="0">
                    <a:solidFill>
                      <a:srgbClr val="7030A0"/>
                    </a:solidFill>
                  </a:rPr>
                  <a:t>onde o que importa é o agora</a:t>
                </a:r>
                <a:r>
                  <a:rPr lang="pt-BR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Por exemplo: controle de acesso ao meio em redes de </a:t>
                </a:r>
                <a:r>
                  <a:rPr lang="pt-BR" dirty="0" err="1"/>
                  <a:t>telecom</a:t>
                </a:r>
                <a:r>
                  <a:rPr lang="pt-BR" dirty="0"/>
                  <a:t> (</a:t>
                </a:r>
                <a:r>
                  <a:rPr lang="en-US" dirty="0" err="1"/>
                  <a:t>transmitir</a:t>
                </a:r>
                <a:r>
                  <a:rPr lang="en-US" dirty="0"/>
                  <a:t> agora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esperar</a:t>
                </a:r>
                <a:r>
                  <a:rPr lang="en-US" dirty="0"/>
                  <a:t>), </a:t>
                </a:r>
                <a:r>
                  <a:rPr lang="en-US" dirty="0" err="1"/>
                  <a:t>controle</a:t>
                </a:r>
                <a:r>
                  <a:rPr lang="en-US" dirty="0"/>
                  <a:t> de </a:t>
                </a:r>
                <a:r>
                  <a:rPr lang="en-US" dirty="0" err="1"/>
                  <a:t>marca-passos</a:t>
                </a:r>
                <a:r>
                  <a:rPr lang="en-US" dirty="0"/>
                  <a:t>, </a:t>
                </a:r>
                <a:r>
                  <a:rPr lang="en-US" i="1" dirty="0"/>
                  <a:t>day trading</a:t>
                </a:r>
                <a:r>
                  <a:rPr lang="en-US" dirty="0"/>
                  <a:t> (</a:t>
                </a:r>
                <a:r>
                  <a:rPr lang="en-US" dirty="0" err="1"/>
                  <a:t>comprar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vender </a:t>
                </a:r>
                <a:r>
                  <a:rPr lang="en-US" dirty="0" err="1"/>
                  <a:t>ações</a:t>
                </a:r>
                <a:r>
                  <a:rPr lang="en-US" dirty="0"/>
                  <a:t> 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minuto</a:t>
                </a:r>
                <a:r>
                  <a:rPr lang="en-US" dirty="0"/>
                  <a:t>).</a:t>
                </a:r>
                <a:endParaRPr lang="pt-BR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→1</m:t>
                    </m:r>
                  </m:oMath>
                </a14:m>
                <a:r>
                  <a:rPr lang="pt-BR" dirty="0"/>
                  <a:t>: o agente busca recompensas a longo prazo.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Ele </a:t>
                </a:r>
                <a:r>
                  <a:rPr lang="pt-BR" b="1" dirty="0">
                    <a:solidFill>
                      <a:srgbClr val="7030A0"/>
                    </a:solidFill>
                  </a:rPr>
                  <a:t>valoriza recompensas que ocorrerão muito tempo depois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treinamento é mais lento.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Usado em </a:t>
                </a:r>
                <a:r>
                  <a:rPr lang="en-US" dirty="0" err="1"/>
                  <a:t>navegação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robótica</a:t>
                </a:r>
                <a:r>
                  <a:rPr lang="en-US" dirty="0"/>
                  <a:t>, </a:t>
                </a:r>
                <a:r>
                  <a:rPr lang="en-US" dirty="0" err="1"/>
                  <a:t>jogos</a:t>
                </a:r>
                <a:r>
                  <a:rPr lang="en-US" dirty="0"/>
                  <a:t> de </a:t>
                </a:r>
                <a:r>
                  <a:rPr lang="en-US" dirty="0" err="1"/>
                  <a:t>estratégia</a:t>
                </a:r>
                <a:r>
                  <a:rPr lang="en-US" dirty="0"/>
                  <a:t>, </a:t>
                </a:r>
                <a:r>
                  <a:rPr lang="en-US" dirty="0" err="1"/>
                  <a:t>planejamento</a:t>
                </a:r>
                <a:r>
                  <a:rPr lang="en-US" dirty="0"/>
                  <a:t> </a:t>
                </a:r>
                <a:r>
                  <a:rPr lang="pt-BR" dirty="0"/>
                  <a:t>onde ações </a:t>
                </a:r>
                <a:r>
                  <a:rPr lang="pt-BR" b="1" dirty="0">
                    <a:solidFill>
                      <a:srgbClr val="00B050"/>
                    </a:solidFill>
                  </a:rPr>
                  <a:t>iniciais afetam o resultado final e a recompensa só vem muito tempo depois ou no final</a:t>
                </a:r>
                <a:r>
                  <a:rPr lang="en-US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: </a:t>
                </a:r>
                <a:r>
                  <a:rPr lang="pt-BR" dirty="0"/>
                  <a:t>robô indo até um destino distante, </a:t>
                </a:r>
                <a:r>
                  <a:rPr lang="pt-BR" i="1" dirty="0" err="1"/>
                  <a:t>pac</a:t>
                </a:r>
                <a:r>
                  <a:rPr lang="pt-BR" i="1" dirty="0"/>
                  <a:t> </a:t>
                </a:r>
                <a:r>
                  <a:rPr lang="pt-BR" i="1" dirty="0" err="1"/>
                  <a:t>man</a:t>
                </a:r>
                <a:r>
                  <a:rPr lang="pt-BR" i="1" dirty="0"/>
                  <a:t>, </a:t>
                </a:r>
                <a:r>
                  <a:rPr lang="pt-BR" dirty="0"/>
                  <a:t>xadrez, d</a:t>
                </a:r>
                <a:r>
                  <a:rPr lang="en-US" dirty="0" err="1"/>
                  <a:t>ecidir</a:t>
                </a:r>
                <a:r>
                  <a:rPr lang="en-US" dirty="0"/>
                  <a:t> </a:t>
                </a:r>
                <a:r>
                  <a:rPr lang="en-US" dirty="0" err="1"/>
                  <a:t>trajetórias</a:t>
                </a:r>
                <a:r>
                  <a:rPr lang="en-US" dirty="0"/>
                  <a:t> </a:t>
                </a:r>
                <a:r>
                  <a:rPr lang="en-US" dirty="0" err="1"/>
                  <a:t>eficientes</a:t>
                </a:r>
                <a:r>
                  <a:rPr lang="en-US" dirty="0"/>
                  <a:t> para v</a:t>
                </a:r>
                <a:r>
                  <a:rPr lang="pt-BR" dirty="0" err="1"/>
                  <a:t>eículos</a:t>
                </a:r>
                <a:r>
                  <a:rPr lang="pt-BR" dirty="0"/>
                  <a:t> autônomos (planejamento de rota).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900079-52BC-C584-121B-EE74AF2CB1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4"/>
                <a:stretch>
                  <a:fillRect t="-2663" r="-6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85625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Off-</a:t>
            </a:r>
            <a:r>
              <a:rPr lang="pt-BR" i="1" dirty="0" err="1"/>
              <a:t>policy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Outra característica do </a:t>
            </a:r>
            <a:r>
              <a:rPr lang="pt-BR" noProof="0" dirty="0" err="1"/>
              <a:t>Q-</a:t>
            </a:r>
            <a:r>
              <a:rPr lang="pt-BR" i="1" noProof="0" dirty="0" err="1"/>
              <a:t>learning</a:t>
            </a:r>
            <a:r>
              <a:rPr lang="pt-BR" noProof="0" dirty="0"/>
              <a:t> é que ele é um </a:t>
            </a:r>
            <a:r>
              <a:rPr lang="pt-BR" b="1" noProof="0" dirty="0">
                <a:solidFill>
                  <a:srgbClr val="00B050"/>
                </a:solidFill>
              </a:rPr>
              <a:t>algoritmo de aprendizado </a:t>
            </a:r>
            <a:r>
              <a:rPr lang="pt-BR" b="1" i="1" noProof="0" dirty="0">
                <a:solidFill>
                  <a:srgbClr val="00B050"/>
                </a:solidFill>
              </a:rPr>
              <a:t>off-</a:t>
            </a:r>
            <a:r>
              <a:rPr lang="pt-BR" b="1" i="1" noProof="0" dirty="0" err="1">
                <a:solidFill>
                  <a:srgbClr val="00B050"/>
                </a:solidFill>
              </a:rPr>
              <a:t>policy</a:t>
            </a:r>
            <a:r>
              <a:rPr lang="pt-BR" noProof="0" dirty="0"/>
              <a:t> (fora da política).</a:t>
            </a:r>
          </a:p>
          <a:p>
            <a:r>
              <a:rPr lang="pt-BR" noProof="0" dirty="0"/>
              <a:t>Isso significa que o agente </a:t>
            </a:r>
            <a:r>
              <a:rPr lang="pt-BR" b="1" noProof="0" dirty="0">
                <a:solidFill>
                  <a:srgbClr val="7030A0"/>
                </a:solidFill>
              </a:rPr>
              <a:t>aprende uma política </a:t>
            </a:r>
            <a:r>
              <a:rPr lang="pt-BR" b="1" noProof="0" dirty="0">
                <a:solidFill>
                  <a:schemeClr val="accent2"/>
                </a:solidFill>
              </a:rPr>
              <a:t>diferente</a:t>
            </a:r>
            <a:r>
              <a:rPr lang="pt-BR" b="1" noProof="0" dirty="0">
                <a:solidFill>
                  <a:srgbClr val="7030A0"/>
                </a:solidFill>
              </a:rPr>
              <a:t> daquela usada para </a:t>
            </a:r>
            <a:r>
              <a:rPr lang="pt-BR" b="1" noProof="0" dirty="0">
                <a:solidFill>
                  <a:schemeClr val="accent2"/>
                </a:solidFill>
              </a:rPr>
              <a:t>explorar</a:t>
            </a:r>
            <a:r>
              <a:rPr lang="pt-BR" b="1" noProof="0" dirty="0">
                <a:solidFill>
                  <a:srgbClr val="7030A0"/>
                </a:solidFill>
              </a:rPr>
              <a:t> o ambiente</a:t>
            </a:r>
            <a:r>
              <a:rPr lang="pt-BR" noProof="0" dirty="0"/>
              <a:t>.</a:t>
            </a:r>
          </a:p>
          <a:p>
            <a:r>
              <a:rPr lang="pt-BR" noProof="0" dirty="0"/>
              <a:t>O algoritmo </a:t>
            </a:r>
            <a:r>
              <a:rPr lang="pt-BR" b="1" noProof="0" dirty="0">
                <a:solidFill>
                  <a:schemeClr val="accent1"/>
                </a:solidFill>
              </a:rPr>
              <a:t>executa ações exploratórias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00B050"/>
                </a:solidFill>
              </a:rPr>
              <a:t>mas aprende como se estivesse sempre escolhendo a melhor ação possível</a:t>
            </a:r>
            <a:r>
              <a:rPr lang="pt-BR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03915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8CB1A-CA27-D1F0-6BFC-C1CD722A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DCC970-BF39-9D6A-2E5F-76EA7FB2F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Off-</a:t>
            </a:r>
            <a:r>
              <a:rPr lang="pt-BR" i="1" dirty="0" err="1"/>
              <a:t>policy</a:t>
            </a:r>
            <a:endParaRPr lang="pt-BR" i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AEB8C93-1558-CDDE-C4AE-80A33AE532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noProof="0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noProof="0" dirty="0"/>
              </a:p>
              <a:p>
                <a:r>
                  <a:rPr lang="en-US" dirty="0"/>
                  <a:t>O </a:t>
                </a:r>
                <a:r>
                  <a:rPr lang="en-US" dirty="0" err="1"/>
                  <a:t>agente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pode</a:t>
                </a:r>
                <a:r>
                  <a:rPr lang="en-US" b="1" dirty="0">
                    <a:solidFill>
                      <a:srgbClr val="7030A0"/>
                    </a:solidFill>
                  </a:rPr>
                  <a:t> ter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executado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qualquer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ação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dirty="0"/>
                  <a:t>para </a:t>
                </a:r>
                <a:r>
                  <a:rPr lang="en-US" dirty="0" err="1"/>
                  <a:t>chegar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Porém, ele atualiza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assumindo que o agente sempre escolhe a ação ótima futura</a:t>
                </a:r>
                <a:r>
                  <a:rPr lang="pt-BR" noProof="0" dirty="0"/>
                  <a:t>,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independentemente da ação realmente executada.</a:t>
                </a:r>
              </a:p>
              <a:p>
                <a:r>
                  <a:rPr lang="pt-BR" noProof="0" dirty="0"/>
                  <a:t>Mesmo que o algoritmo tenha explorado (ação aleatória), ele </a:t>
                </a:r>
                <a:r>
                  <a:rPr lang="pt-BR" b="1" noProof="0" dirty="0">
                    <a:solidFill>
                      <a:schemeClr val="accent1"/>
                    </a:solidFill>
                  </a:rPr>
                  <a:t>aprende como se tivesse agido de forma ótima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Algoritmos </a:t>
                </a:r>
                <a:r>
                  <a:rPr lang="pt-BR" i="1" noProof="0" dirty="0" err="1"/>
                  <a:t>on-policy</a:t>
                </a:r>
                <a:r>
                  <a:rPr lang="pt-BR" noProof="0" dirty="0"/>
                  <a:t> usam a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ação realmente escolhida e executada</a:t>
                </a:r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noProof="0" dirty="0"/>
                  <a:t>, para atualizar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 noProof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pt-BR" noProof="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</m:fName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𝑄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r>
                  <a:rPr lang="pt-BR" noProof="0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AEB8C93-1558-CDDE-C4AE-80A33AE53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AEDE9306-8D3F-AA09-7463-9F6410AD75E0}"/>
              </a:ext>
            </a:extLst>
          </p:cNvPr>
          <p:cNvSpPr/>
          <p:nvPr/>
        </p:nvSpPr>
        <p:spPr>
          <a:xfrm>
            <a:off x="6828183" y="1765990"/>
            <a:ext cx="1997765" cy="7354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1483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1B62-8582-E09F-DA69-E77F3F495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47E26-1487-F7F1-F157-E71A864B45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O Q-</a:t>
                </a:r>
                <a:r>
                  <a:rPr lang="en-US" i="1" dirty="0"/>
                  <a:t>learning</a:t>
                </a:r>
                <a:r>
                  <a:rPr lang="en-US" dirty="0"/>
                  <a:t> </a:t>
                </a:r>
                <a:r>
                  <a:rPr lang="en-US" dirty="0" err="1"/>
                  <a:t>sofre</a:t>
                </a:r>
                <a:r>
                  <a:rPr lang="en-US" dirty="0"/>
                  <a:t> com a </a:t>
                </a:r>
                <a:r>
                  <a:rPr lang="en-US" b="1" dirty="0" err="1"/>
                  <a:t>maldição</a:t>
                </a:r>
                <a:r>
                  <a:rPr lang="en-US" b="1" dirty="0"/>
                  <a:t> da </a:t>
                </a:r>
                <a:r>
                  <a:rPr lang="en-US" b="1" dirty="0" err="1"/>
                  <a:t>dimensionalidade</a:t>
                </a:r>
                <a:r>
                  <a:rPr lang="en-US" dirty="0"/>
                  <a:t>, </a:t>
                </a:r>
                <a:endParaRPr lang="pt-BR" dirty="0"/>
              </a:p>
              <a:p>
                <a:r>
                  <a:rPr lang="en-US" dirty="0"/>
                  <a:t>Ele </a:t>
                </a:r>
                <a:r>
                  <a:rPr lang="en-US" dirty="0" err="1"/>
                  <a:t>requer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armazenar um valor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𝑸</m:t>
                    </m:r>
                    <m:d>
                      <m:dPr>
                        <m:ctrlP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</m:t>
                        </m:r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en-US" b="1" dirty="0">
                    <a:solidFill>
                      <a:srgbClr val="7030A0"/>
                    </a:solidFill>
                  </a:rPr>
                  <a:t> para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cada</a:t>
                </a:r>
                <a:r>
                  <a:rPr lang="en-US" b="1" dirty="0">
                    <a:solidFill>
                      <a:srgbClr val="7030A0"/>
                    </a:solidFill>
                  </a:rPr>
                  <a:t> par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estado-ação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problemas</a:t>
                </a:r>
                <a:r>
                  <a:rPr lang="en-US" dirty="0"/>
                  <a:t> simples </a:t>
                </a:r>
                <a:r>
                  <a:rPr lang="en-US" dirty="0" err="1"/>
                  <a:t>isso</a:t>
                </a:r>
                <a:r>
                  <a:rPr lang="en-US" dirty="0"/>
                  <a:t> é </a:t>
                </a:r>
                <a:r>
                  <a:rPr lang="en-US" dirty="0" err="1"/>
                  <a:t>viável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Entretanto</a:t>
                </a:r>
                <a:r>
                  <a:rPr lang="en-US" dirty="0"/>
                  <a:t>,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reais, 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espaço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estados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cresce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exponencialmente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Xadrez: são entre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p>
                    </m:sSup>
                  </m:oMath>
                </a14:m>
                <a:r>
                  <a:rPr lang="pt-BR" dirty="0"/>
                  <a:t> estados </a:t>
                </a:r>
                <a:r>
                  <a:rPr lang="en-US" dirty="0" err="1"/>
                  <a:t>possíveis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Carro </a:t>
                </a:r>
                <a:r>
                  <a:rPr lang="en-US" dirty="0" err="1"/>
                  <a:t>autônomo</a:t>
                </a:r>
                <a:r>
                  <a:rPr lang="en-US" dirty="0"/>
                  <a:t>: imagens com </a:t>
                </a:r>
                <a:r>
                  <a:rPr lang="en-US" dirty="0" err="1"/>
                  <a:t>milhões</a:t>
                </a:r>
                <a:r>
                  <a:rPr lang="en-US" dirty="0"/>
                  <a:t> de </a:t>
                </a:r>
                <a:r>
                  <a:rPr lang="en-US" i="1" dirty="0"/>
                  <a:t>pixels</a:t>
                </a:r>
                <a:r>
                  <a:rPr lang="en-US" dirty="0"/>
                  <a:t> </a:t>
                </a:r>
                <a:r>
                  <a:rPr lang="en-US" dirty="0" err="1"/>
                  <a:t>geram</a:t>
                </a:r>
                <a:r>
                  <a:rPr lang="en-US" dirty="0"/>
                  <a:t> um </a:t>
                </a:r>
                <a:r>
                  <a:rPr lang="en-US" dirty="0" err="1"/>
                  <a:t>espaço</a:t>
                </a:r>
                <a:r>
                  <a:rPr lang="en-US" dirty="0"/>
                  <a:t> de </a:t>
                </a:r>
                <a:r>
                  <a:rPr lang="en-US" dirty="0" err="1"/>
                  <a:t>estados</a:t>
                </a:r>
                <a:r>
                  <a:rPr lang="en-US" dirty="0"/>
                  <a:t> </a:t>
                </a:r>
                <a:r>
                  <a:rPr lang="en-US" dirty="0" err="1"/>
                  <a:t>extremamente</a:t>
                </a:r>
                <a:r>
                  <a:rPr lang="en-US" dirty="0"/>
                  <a:t> grande.</a:t>
                </a:r>
                <a:endParaRPr lang="pt-BR" dirty="0"/>
              </a:p>
              <a:p>
                <a:r>
                  <a:rPr lang="en-US" dirty="0"/>
                  <a:t>Nesses </a:t>
                </a:r>
                <a:r>
                  <a:rPr lang="en-US" dirty="0" err="1"/>
                  <a:t>casos</a:t>
                </a:r>
                <a:r>
                  <a:rPr lang="en-US" dirty="0"/>
                  <a:t>,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armazenar</a:t>
                </a:r>
                <a:r>
                  <a:rPr lang="en-US" b="1" dirty="0">
                    <a:solidFill>
                      <a:srgbClr val="00B050"/>
                    </a:solidFill>
                  </a:rPr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ou</a:t>
                </a:r>
                <a:r>
                  <a:rPr lang="en-US" b="1" dirty="0">
                    <a:solidFill>
                      <a:srgbClr val="00B050"/>
                    </a:solidFill>
                  </a:rPr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percorrer</a:t>
                </a:r>
                <a:r>
                  <a:rPr lang="en-US" b="1" dirty="0">
                    <a:solidFill>
                      <a:srgbClr val="00B050"/>
                    </a:solidFill>
                  </a:rPr>
                  <a:t> a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tabela</a:t>
                </a:r>
                <a:r>
                  <a:rPr lang="en-US" b="1" dirty="0">
                    <a:solidFill>
                      <a:srgbClr val="00B050"/>
                    </a:solidFill>
                  </a:rPr>
                  <a:t>-Q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torna</a:t>
                </a:r>
                <a:r>
                  <a:rPr lang="en-US" b="1" dirty="0">
                    <a:solidFill>
                      <a:srgbClr val="00B050"/>
                    </a:solidFill>
                  </a:rPr>
                  <a:t>-se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computacionalmente</a:t>
                </a:r>
                <a:r>
                  <a:rPr lang="en-US" b="1" dirty="0">
                    <a:solidFill>
                      <a:srgbClr val="00B050"/>
                    </a:solidFill>
                  </a:rPr>
                  <a:t>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inviável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47E26-1487-F7F1-F157-E71A864B4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02935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1F0FE-EA94-74C4-913C-E1B2789B6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116BB-1259-5A42-97B8-F5F027BBE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8391" cy="5032375"/>
          </a:xfrm>
        </p:spPr>
        <p:txBody>
          <a:bodyPr/>
          <a:lstStyle/>
          <a:p>
            <a:r>
              <a:rPr lang="pt-BR" dirty="0"/>
              <a:t>Para problemas com </a:t>
            </a:r>
            <a:r>
              <a:rPr lang="pt-BR" b="1" dirty="0">
                <a:solidFill>
                  <a:srgbClr val="00B050"/>
                </a:solidFill>
              </a:rPr>
              <a:t>poucas ações e estados </a:t>
            </a:r>
            <a:r>
              <a:rPr lang="pt-BR" b="1" dirty="0">
                <a:solidFill>
                  <a:schemeClr val="accent2"/>
                </a:solidFill>
              </a:rPr>
              <a:t>discretos</a:t>
            </a:r>
            <a:r>
              <a:rPr lang="pt-BR" dirty="0"/>
              <a:t>,</a:t>
            </a:r>
            <a:r>
              <a:rPr lang="pt-BR" b="1" dirty="0">
                <a:solidFill>
                  <a:srgbClr val="00B050"/>
                </a:solidFill>
              </a:rPr>
              <a:t> a tabela é ótima</a:t>
            </a:r>
            <a:r>
              <a:rPr lang="pt-BR" dirty="0"/>
              <a:t>. </a:t>
            </a:r>
          </a:p>
          <a:p>
            <a:r>
              <a:rPr lang="pt-BR" dirty="0"/>
              <a:t>Porém, em vários casos práticos os </a:t>
            </a:r>
            <a:r>
              <a:rPr lang="pt-BR" b="1" dirty="0">
                <a:solidFill>
                  <a:schemeClr val="accent2"/>
                </a:solidFill>
              </a:rPr>
              <a:t>estados são contínuos</a:t>
            </a:r>
            <a:r>
              <a:rPr lang="pt-BR" dirty="0"/>
              <a:t>. </a:t>
            </a:r>
          </a:p>
          <a:p>
            <a:r>
              <a:rPr lang="pt-BR" dirty="0"/>
              <a:t>Por exemplo, robótica, a </a:t>
            </a:r>
            <a:r>
              <a:rPr lang="pt-BR" b="1" dirty="0">
                <a:solidFill>
                  <a:schemeClr val="accent1"/>
                </a:solidFill>
              </a:rPr>
              <a:t>velocidade e o ângulo da articulação dos braços mecânicos são valores contínuos</a:t>
            </a:r>
            <a:r>
              <a:rPr lang="pt-BR" dirty="0"/>
              <a:t>.</a:t>
            </a:r>
          </a:p>
          <a:p>
            <a:r>
              <a:rPr lang="pt-BR" dirty="0"/>
              <a:t>Isso faz com que o </a:t>
            </a:r>
            <a:r>
              <a:rPr lang="pt-BR" b="1" dirty="0">
                <a:solidFill>
                  <a:srgbClr val="7030A0"/>
                </a:solidFill>
              </a:rPr>
              <a:t>número estados possíveis seja infinito</a:t>
            </a:r>
            <a:r>
              <a:rPr lang="pt-BR" dirty="0"/>
              <a:t>.</a:t>
            </a:r>
          </a:p>
          <a:p>
            <a:r>
              <a:rPr lang="pt-BR" dirty="0"/>
              <a:t>Assim, se o espaço de estados é </a:t>
            </a:r>
            <a:r>
              <a:rPr lang="pt-BR" b="1" dirty="0"/>
              <a:t>grande e/ou contínuo </a:t>
            </a:r>
            <a:r>
              <a:rPr lang="pt-BR" dirty="0"/>
              <a:t>a tabela-Q se torna inviável.</a:t>
            </a:r>
          </a:p>
          <a:p>
            <a:r>
              <a:rPr lang="en-US" dirty="0" err="1"/>
              <a:t>Precisamos</a:t>
            </a:r>
            <a:r>
              <a:rPr lang="en-US" dirty="0"/>
              <a:t> </a:t>
            </a:r>
            <a:r>
              <a:rPr lang="en-US" b="1" dirty="0" err="1">
                <a:solidFill>
                  <a:schemeClr val="accent2"/>
                </a:solidFill>
              </a:rPr>
              <a:t>substituir</a:t>
            </a:r>
            <a:r>
              <a:rPr lang="en-US" b="1" dirty="0">
                <a:solidFill>
                  <a:schemeClr val="accent2"/>
                </a:solidFill>
              </a:rPr>
              <a:t> a </a:t>
            </a:r>
            <a:r>
              <a:rPr lang="en-US" b="1" dirty="0" err="1">
                <a:solidFill>
                  <a:schemeClr val="accent2"/>
                </a:solidFill>
              </a:rPr>
              <a:t>tabela</a:t>
            </a:r>
            <a:r>
              <a:rPr lang="en-US" b="1" dirty="0">
                <a:solidFill>
                  <a:schemeClr val="accent2"/>
                </a:solidFill>
              </a:rPr>
              <a:t> </a:t>
            </a:r>
            <a:r>
              <a:rPr lang="en-US" b="1" dirty="0" err="1">
                <a:solidFill>
                  <a:schemeClr val="accent2"/>
                </a:solidFill>
              </a:rPr>
              <a:t>por</a:t>
            </a:r>
            <a:r>
              <a:rPr lang="en-US" b="1" dirty="0">
                <a:solidFill>
                  <a:schemeClr val="accent2"/>
                </a:solidFill>
              </a:rPr>
              <a:t> um </a:t>
            </a:r>
            <a:r>
              <a:rPr lang="en-US" b="1" dirty="0" err="1">
                <a:solidFill>
                  <a:schemeClr val="accent2"/>
                </a:solidFill>
              </a:rPr>
              <a:t>aproximador</a:t>
            </a:r>
            <a:r>
              <a:rPr lang="en-US" b="1" dirty="0">
                <a:solidFill>
                  <a:schemeClr val="accent2"/>
                </a:solidFill>
              </a:rPr>
              <a:t> de </a:t>
            </a:r>
            <a:r>
              <a:rPr lang="en-US" b="1" dirty="0" err="1">
                <a:solidFill>
                  <a:schemeClr val="accent2"/>
                </a:solidFill>
              </a:rPr>
              <a:t>funções</a:t>
            </a:r>
            <a:r>
              <a:rPr lang="en-US" dirty="0"/>
              <a:t>,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rede neural.</a:t>
            </a:r>
          </a:p>
        </p:txBody>
      </p:sp>
    </p:spTree>
    <p:extLst>
      <p:ext uri="{BB962C8B-B14F-4D97-AF65-F5344CB8AC3E}">
        <p14:creationId xmlns:p14="http://schemas.microsoft.com/office/powerpoint/2010/main" val="1824452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9EB4A-BCBE-6A0F-12D6-6770FC41F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Trocando a tabela-Q por redes neurais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18653" y="1825624"/>
                <a:ext cx="7073348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A solução:</a:t>
                </a:r>
                <a:r>
                  <a:rPr lang="pt-BR" dirty="0"/>
                  <a:t> Em vez de usar uma tabela para representar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usamos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rede neural para aproximá-la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rede aprende a generalizar estados</a:t>
                </a:r>
                <a:r>
                  <a:rPr lang="pt-BR" dirty="0"/>
                  <a:t>: o agente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precisa visitar todos os estados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Entrada:</a:t>
                </a:r>
                <a:r>
                  <a:rPr lang="pt-BR" dirty="0"/>
                  <a:t> O estado (e.g., a imagem da câmera).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Agora, o estado pode ser composto por valores contínuos.</a:t>
                </a:r>
              </a:p>
              <a:p>
                <a:r>
                  <a:rPr lang="pt-BR" b="1" dirty="0"/>
                  <a:t>Saída:</a:t>
                </a:r>
                <a:r>
                  <a:rPr lang="pt-BR" dirty="0"/>
                  <a:t> Os valores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todas as ações possíveis.</a:t>
                </a:r>
              </a:p>
              <a:p>
                <a:r>
                  <a:rPr lang="pt-BR" dirty="0"/>
                  <a:t>Esse algoritmo é chamado de </a:t>
                </a:r>
                <a:r>
                  <a:rPr lang="pt-BR" i="1" dirty="0" err="1"/>
                  <a:t>deep</a:t>
                </a:r>
                <a:r>
                  <a:rPr lang="pt-BR" i="1" dirty="0"/>
                  <a:t> Q-network</a:t>
                </a:r>
                <a:r>
                  <a:rPr lang="pt-BR" dirty="0"/>
                  <a:t> (DQN).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18653" y="1825624"/>
                <a:ext cx="7073348" cy="5032375"/>
              </a:xfrm>
              <a:blipFill>
                <a:blip r:embed="rId3"/>
                <a:stretch>
                  <a:fillRect l="-1552" t="-2663" r="-2069" b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Cracking the Spell of Q* - A New Method in Problem Solving | Benny's Mind  Hack">
            <a:extLst>
              <a:ext uri="{FF2B5EF4-FFF2-40B4-BE49-F238E27FC236}">
                <a16:creationId xmlns:a16="http://schemas.microsoft.com/office/drawing/2014/main" id="{2FAF9048-FD7A-0345-D833-A8A15BE69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1" y="2435087"/>
            <a:ext cx="4879356" cy="32064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2508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EA96-2DFF-1829-9984-096F6593B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Onde RL é </a:t>
            </a:r>
            <a:r>
              <a:rPr lang="en-US" dirty="0" err="1"/>
              <a:t>usado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0E88F-503C-2590-9D5D-B2BDD50D2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1856" y="1825624"/>
            <a:ext cx="7130144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Robótica e manufatura: </a:t>
            </a:r>
            <a:r>
              <a:rPr lang="pt-BR" dirty="0"/>
              <a:t>Ensinar robôs a andar, agarrar objetos ou equilibrar cargas.</a:t>
            </a:r>
          </a:p>
          <a:p>
            <a:r>
              <a:rPr lang="pt-BR" b="1" dirty="0"/>
              <a:t>Otimização de redes e sistemas:</a:t>
            </a:r>
            <a:r>
              <a:rPr lang="pt-BR" dirty="0"/>
              <a:t> Roteamento de pacotes dinâmico para evitar gargalos na rede.</a:t>
            </a:r>
          </a:p>
          <a:p>
            <a:r>
              <a:rPr lang="pt-BR" b="1" dirty="0"/>
              <a:t>Sistemas de recomendação: </a:t>
            </a:r>
            <a:r>
              <a:rPr lang="pt-BR" dirty="0"/>
              <a:t>Otimizar qual vídeo ou anúncio mostrar para você na internet com base no engajamento a longo prazo.</a:t>
            </a:r>
          </a:p>
          <a:p>
            <a:r>
              <a:rPr lang="pt-BR" b="1" dirty="0"/>
              <a:t>Controle industrial:</a:t>
            </a:r>
            <a:r>
              <a:rPr lang="pt-BR" dirty="0"/>
              <a:t> Ajuste fino de caldeiras e refrigeração em data centers para reduzir consumo de energia.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5EF8FE-70EB-D556-D43F-F69593E54B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7" y="2416629"/>
            <a:ext cx="4604655" cy="30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1925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48A27D-4F54-D56B-9065-33FD8A39A6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85730"/>
            <a:ext cx="10515600" cy="10865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Exemplo numérico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978047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2847702" y="1825624"/>
            <a:ext cx="934429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Vamos supor um tabuleiro que possui 4 </a:t>
            </a:r>
            <a:r>
              <a:rPr lang="pt-BR" b="1" dirty="0"/>
              <a:t>estados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Início (S): estado inicial de cada episódio, recompensa 0, não terminal.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Célula neutra (N): recompensa 0, não terminal.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Bomba (B): recompensa -1, </a:t>
            </a:r>
            <a:r>
              <a:rPr lang="pt-BR" b="1" dirty="0"/>
              <a:t>terminal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Meta (G): recompensa +1, </a:t>
            </a:r>
            <a:r>
              <a:rPr lang="pt-BR" b="1" dirty="0"/>
              <a:t>terminal</a:t>
            </a:r>
            <a:r>
              <a:rPr lang="pt-BR" dirty="0"/>
              <a:t>.</a:t>
            </a:r>
          </a:p>
          <a:p>
            <a:r>
              <a:rPr lang="pt-BR" b="1" dirty="0"/>
              <a:t>Ações</a:t>
            </a:r>
            <a:r>
              <a:rPr lang="pt-BR" dirty="0"/>
              <a:t>: cima, baixo, esquerda, direita.</a:t>
            </a:r>
          </a:p>
          <a:p>
            <a:r>
              <a:rPr lang="pt-BR" b="1" dirty="0"/>
              <a:t>Transições com bordas</a:t>
            </a:r>
            <a:r>
              <a:rPr lang="pt-BR" dirty="0"/>
              <a:t>: se uma ação levar para fora do tabuleiro, o agente </a:t>
            </a:r>
            <a:r>
              <a:rPr lang="pt-BR" b="1" dirty="0"/>
              <a:t>permanece na mesma célula</a:t>
            </a:r>
            <a:r>
              <a:rPr lang="pt-BR" dirty="0"/>
              <a:t>. A recompensa é a da célula onde ele permanece.</a:t>
            </a:r>
          </a:p>
          <a:p>
            <a:r>
              <a:rPr lang="pt-BR" b="1" dirty="0"/>
              <a:t>Dinâmica dos terminais</a:t>
            </a:r>
            <a:r>
              <a:rPr lang="pt-BR" dirty="0"/>
              <a:t>: ao atingir a Meta ou a Bomba, o episódio termina imediatamente. Não há ações seguintes nesses estados.</a:t>
            </a:r>
          </a:p>
        </p:txBody>
      </p:sp>
      <p:grpSp>
        <p:nvGrpSpPr>
          <p:cNvPr id="4" name="Grupo 3"/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5" name="Retângulo 4"/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6" name="Retângulo 5"/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7" name="Retângulo 6"/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8" name="Retângulo 7"/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34820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4036423" y="1825624"/>
                <a:ext cx="8155576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pt-BR" b="1" dirty="0"/>
                  <a:t>Parâmetros escolhidos para o exemplo</a:t>
                </a:r>
                <a:r>
                  <a:rPr lang="pt-BR" dirty="0"/>
                  <a:t>:</a:t>
                </a:r>
              </a:p>
              <a:p>
                <a:r>
                  <a:rPr lang="pt-BR" dirty="0"/>
                  <a:t>Taxa de aprendizado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Fator de desconto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=0.9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Política de exploração</a:t>
                </a:r>
                <a:r>
                  <a:rPr lang="pt-BR" dirty="0"/>
                  <a:t>: 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 com</a:t>
                </a:r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/>
                  <a:t> (50% de chance de ação aleatória, 50% de ação gulosa).</a:t>
                </a:r>
              </a:p>
              <a:p>
                <a:r>
                  <a:rPr lang="pt-BR" dirty="0"/>
                  <a:t>Iniciaremos o exemplo com esse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 e depois consideraremos uma fase puramente gulosa para observar a política aprendida.</a:t>
                </a:r>
              </a:p>
              <a:p>
                <a:r>
                  <a:rPr lang="pt-BR" b="1" dirty="0"/>
                  <a:t>Inicialização</a:t>
                </a:r>
                <a:r>
                  <a:rPr lang="pt-BR" dirty="0"/>
                  <a:t>: todos os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Bomba e Meta são terminais: nunca selecionamos ações neles.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36423" y="1825624"/>
                <a:ext cx="8155576" cy="5032375"/>
              </a:xfrm>
              <a:blipFill rotWithShape="0">
                <a:blip r:embed="rId2"/>
                <a:stretch>
                  <a:fillRect l="-1495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74168F4C-1461-0E67-739C-794F3BA2E27F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1661C77-6D49-7695-33A8-24AC8975F8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8951278C-FB4A-EA25-283F-21CE38908FA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2AD8854-3FD9-C9E4-14E1-3BE99181B3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7CB8B283-FDDD-232D-F6E6-84A69DA7A3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20997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CaixaDeTexto 9"/>
          <p:cNvSpPr txBox="1"/>
          <p:nvPr/>
        </p:nvSpPr>
        <p:spPr>
          <a:xfrm>
            <a:off x="4311332" y="2342806"/>
            <a:ext cx="788066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Tabela Q inicial</a:t>
            </a:r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  <a:p>
            <a:r>
              <a:rPr lang="pt-BR" sz="2800" dirty="0"/>
              <a:t>Agora vamos simular alguns episódios, mostrando a cada passo, o cálculo da atualização e a evolução da tabela.</a:t>
            </a:r>
          </a:p>
        </p:txBody>
      </p:sp>
      <p:grpSp>
        <p:nvGrpSpPr>
          <p:cNvPr id="3" name="Grupo 3">
            <a:extLst>
              <a:ext uri="{FF2B5EF4-FFF2-40B4-BE49-F238E27FC236}">
                <a16:creationId xmlns:a16="http://schemas.microsoft.com/office/drawing/2014/main" id="{7C8390DF-E0F5-77C3-F23D-5FC5AE3E3275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3C72E2F4-5305-3B2E-282A-1E79CDCAAD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10D217D7-C106-8C6F-4BD4-43179CF2C0B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168522B-6B86-CD14-1F31-D243D71FCE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0876C38C-DD14-442A-C28C-EA87854843F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56785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114136" y="1825624"/>
                <a:ext cx="9077863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1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Estado atual: </a:t>
                </a:r>
                <a:r>
                  <a:rPr lang="pt-BR" b="1" dirty="0"/>
                  <a:t>início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todos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suponha que, por exploração, o agente selecionou a ação: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bomba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bomba</a:t>
                </a:r>
                <a:r>
                  <a:rPr lang="pt-BR" dirty="0"/>
                  <a:t> 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>
                                <a:latin typeface="Cambria Math" panose="02040503050406030204" pitchFamily="18" charset="0"/>
                              </a:rPr>
                              <m:t>𝐛𝐨𝐦𝐛𝐚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(terminal,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não se altera).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 de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 i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b="1" i="0" smtClean="0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−1+0.9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×0−0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=−0.5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14136" y="1825624"/>
                <a:ext cx="9077863" cy="5032375"/>
              </a:xfrm>
              <a:blipFill>
                <a:blip r:embed="rId2"/>
                <a:stretch>
                  <a:fillRect l="-141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52739C65-D0F3-969D-4CE3-48D566EEC92A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4C84F92F-615E-1709-587F-0C0082635D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B072F3F0-DF5C-9F14-FA4C-B908B5AAB26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F817F531-4BB3-C8D4-5DFE-E07397B1EB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712FA53-3015-46D6-E410-8B38FB21C7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784484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1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A6EFEECC-8467-430E-EB31-A76CBC11E369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5CC4D669-B84F-F224-1CA6-0A58DE1C9A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86D1B5E-1B22-B171-16F1-752F6267EC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8072C44-2D02-8348-7FBA-682002BA7F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7675FA49-3A89-8102-AC62-E355B4BDDD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746527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2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Ações com maior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cima</a:t>
                </a:r>
                <a:r>
                  <a:rPr lang="pt-BR" dirty="0"/>
                  <a:t>, </a:t>
                </a:r>
                <a:r>
                  <a:rPr lang="pt-BR" b="1" dirty="0"/>
                  <a:t>direita</a:t>
                </a:r>
                <a:r>
                  <a:rPr lang="pt-BR" dirty="0"/>
                  <a:t> e </a:t>
                </a:r>
                <a:r>
                  <a:rPr lang="pt-BR" b="1" dirty="0"/>
                  <a:t>esquerda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política poderia escolher qualquer uma delas, mas vamos supor que a escolha foi aleatória (exploração): 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direita</a:t>
                </a:r>
                <a:r>
                  <a:rPr lang="pt-BR" dirty="0"/>
                  <a:t> 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𝐝𝐢𝐫𝐞𝐢𝐭𝐚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pt-BR" b="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valor permanece 0.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 rotWithShape="0">
                <a:blip r:embed="rId2"/>
                <a:stretch>
                  <a:fillRect l="-1372" t="-1937" r="-8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A83B95AD-699F-5328-D211-3678DEC21F99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D977EDCF-B182-EBBE-38F0-08E14819142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D598AA9-8E90-283B-ADF7-0801367D39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5A7BA062-625E-0D18-EA96-C438DD9E9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BCABF3F3-A175-319A-D217-4197A29269B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708014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2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em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Todas as ações em </a:t>
                </a:r>
                <a:r>
                  <a:rPr lang="pt-BR" b="1" dirty="0"/>
                  <a:t>neutro</a:t>
                </a:r>
                <a:r>
                  <a:rPr lang="pt-BR" dirty="0"/>
                  <a:t> com 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𝐧𝐞𝐮𝐭𝐫𝐨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</m:oMath>
                </a14:m>
                <a:r>
                  <a:rPr lang="pt-BR"/>
                  <a:t>:</a:t>
                </a:r>
                <a:endParaRPr lang="pt-BR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×0−0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 rotWithShape="0">
                <a:blip r:embed="rId2"/>
                <a:stretch>
                  <a:fillRect l="-1372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23A925FE-739D-AD88-CC9F-311717E70EC7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E92CC85B-8519-33DA-373E-FE4C2D3710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8C077A30-29E2-D15B-A333-DC70E6B22B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9CF834AF-34A4-4E6B-49B9-F18CDBDDCCE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8EC56E4C-69F1-08FE-4B15-87679A0711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185869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após episódio 2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E0B03E94-77B3-6496-2BA8-13E2D6CFF6D4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7B1AC67F-3091-9EFF-8140-65B4D669E1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5D18C62-2D77-519D-E7DC-F484F798A3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EC1D4B1-4FC8-D0C9-D002-F9C37AD93D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F4A4D55C-0BDD-78CB-72FD-8A3D55B395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266904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3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Ações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cima</a:t>
                </a:r>
                <a:r>
                  <a:rPr lang="pt-BR" dirty="0"/>
                  <a:t>, </a:t>
                </a:r>
                <a:r>
                  <a:rPr lang="pt-BR" b="1" dirty="0"/>
                  <a:t>direita</a:t>
                </a:r>
                <a:r>
                  <a:rPr lang="pt-BR" dirty="0"/>
                  <a:t> e </a:t>
                </a:r>
                <a:r>
                  <a:rPr lang="pt-BR" b="1" dirty="0"/>
                  <a:t>esquerda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Podemos ter exploração ou </a:t>
                </a:r>
                <a:r>
                  <a:rPr lang="pt-BR" dirty="0" err="1"/>
                  <a:t>explotação</a:t>
                </a:r>
                <a:r>
                  <a:rPr lang="pt-BR" dirty="0"/>
                  <a:t>. Suponha que a escolha foi gulosa (explotação): </a:t>
                </a:r>
                <a:r>
                  <a:rPr lang="pt-BR" b="1" dirty="0"/>
                  <a:t>direita.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direita</a:t>
                </a:r>
                <a:r>
                  <a:rPr lang="pt-BR" dirty="0"/>
                  <a:t> 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.5</m:t>
                        </m:r>
                      </m:e>
                    </m:func>
                  </m:oMath>
                </a14:m>
                <a:r>
                  <a:rPr lang="pt-BR" dirty="0"/>
                  <a:t> (ação </a:t>
                </a:r>
                <a:r>
                  <a:rPr lang="pt-BR" b="1" dirty="0"/>
                  <a:t>baixo</a:t>
                </a:r>
                <a:r>
                  <a:rPr lang="pt-BR" dirty="0"/>
                  <a:t> no estado </a:t>
                </a:r>
                <a:r>
                  <a:rPr lang="pt-BR" b="1" dirty="0"/>
                  <a:t>neutro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.5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.225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>
                <a:blip r:embed="rId2"/>
                <a:stretch>
                  <a:fillRect l="-1372" t="-1937" r="-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EBE285D3-11CE-3FC5-5973-50143D808579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BEC31F2A-4596-4382-1F8A-DD0743BB5A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32316B35-D1F6-B410-F0F0-0CC6B2E71E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5D8BADA-04FE-0F42-C046-362CE030D1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81187E6C-A2A7-2DC0-5E9F-CF67594C0A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94704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3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no estado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>
                <a:blip r:embed="rId2"/>
                <a:stretch>
                  <a:fillRect l="-137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C3A8E62A-6481-4CF4-7C1B-7A3314F9C8A6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17430A1C-640B-A4D9-FA51-15344FE3B6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0EC8A0BB-532F-E9F7-B84E-D46C89C0B04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210461D-7EE8-27BE-1D77-112D6EDE2D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3A4C7A6B-5027-C764-7373-B54B417419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639597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3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F10DB6EC-BF4C-440E-F262-5A6959A4A280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E598BFA1-D9AC-A326-1CE9-16A5D8D0206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925F04BF-00A1-22BC-BB23-280A02C5AA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DF578BFA-6526-0273-5F67-36257FA1E9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EE874D75-B9F8-4D8C-6CBD-F56BB6D370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9484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2886891" y="1825624"/>
                <a:ext cx="9305108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4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Ação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</a:t>
                </a:r>
                <a:r>
                  <a:rPr lang="pt-BR" dirty="0" err="1"/>
                  <a:t>explotação</a:t>
                </a:r>
                <a:r>
                  <a:rPr lang="pt-BR" dirty="0"/>
                  <a:t>, o agente escolheu 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 </a:t>
                </a:r>
                <a:r>
                  <a:rPr lang="pt-BR" dirty="0"/>
                  <a:t>+ </a:t>
                </a:r>
                <a:r>
                  <a:rPr lang="pt-BR" b="1" dirty="0"/>
                  <a:t>direita </a:t>
                </a:r>
                <a:r>
                  <a:rPr lang="pt-BR" dirty="0"/>
                  <a:t>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0.75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22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.75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−0.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22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86891" y="1825624"/>
                <a:ext cx="9305108" cy="5032375"/>
              </a:xfrm>
              <a:blipFill rotWithShape="0">
                <a:blip r:embed="rId2"/>
                <a:stretch>
                  <a:fillRect l="-137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C34C076B-29E7-DE53-C439-F6FEDFF73C43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E18D00F2-7B67-3087-EDDC-FC10ECA943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019B5E6A-1D05-C66B-9812-1A9DD5CC799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09856A90-BC94-F116-5763-AD5B851E466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445A72D5-FF96-1B59-4C25-50FA342E53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31482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3122762" y="1825624"/>
                <a:ext cx="906923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4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no estado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</a:t>
                </a:r>
                <a:r>
                  <a:rPr lang="pt-BR" dirty="0" err="1"/>
                  <a:t>explotação</a:t>
                </a:r>
                <a:r>
                  <a:rPr lang="pt-BR" dirty="0"/>
                  <a:t>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75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875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2762" y="1825624"/>
                <a:ext cx="9069237" cy="5032375"/>
              </a:xfrm>
              <a:blipFill>
                <a:blip r:embed="rId2"/>
                <a:stretch>
                  <a:fillRect l="-134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907DA066-8133-FF9B-4E6F-BAD19D2EC1C5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FFE0D284-CC29-BD50-3209-E11F69AAA81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27247A6E-3FC7-A4F3-B1EB-A93EAB30C5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0DF32018-56D0-B24E-056D-C3CB17D8D9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BA45D1E7-5273-369D-F84E-5F26EEBF66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93550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0.875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4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 rotWithShape="0"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97AB1642-5AA8-EA0E-096A-60B24F1C7FBC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B6C2E181-276E-F0F5-4FF6-736C7D0278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FFB770A5-8E8D-D495-1F13-287EB2A209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FCB1C7CA-2334-4A26-15FA-A21F21BEBB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946104EC-AA89-4517-282A-5E24468C2B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8100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6C105-B08E-C283-5F24-25330850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F2E62E-8899-0FBE-1C65-0C35CD1EC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9F3AA60-528A-1223-FDC2-0A9A76949B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5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Ação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cima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 </a:t>
                </a:r>
                <a:r>
                  <a:rPr lang="pt-BR" dirty="0"/>
                  <a:t>+ </a:t>
                </a:r>
                <a:r>
                  <a:rPr lang="pt-BR" b="1" dirty="0"/>
                  <a:t>cima </a:t>
                </a:r>
                <a:r>
                  <a:rPr lang="pt-BR" dirty="0"/>
                  <a:t>→ </a:t>
                </a:r>
                <a:r>
                  <a:rPr lang="pt-BR" b="1" dirty="0"/>
                  <a:t>início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início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pt-BR" b="1" dirty="0"/>
                              <m:t>in</m:t>
                            </m:r>
                            <m:r>
                              <m:rPr>
                                <m:nor/>
                              </m:rPr>
                              <a:rPr lang="pt-BR" b="1" dirty="0"/>
                              <m:t>í</m:t>
                            </m:r>
                            <m:r>
                              <m:rPr>
                                <m:nor/>
                              </m:rPr>
                              <a:rPr lang="pt-BR" b="1" dirty="0"/>
                              <m:t>cio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0.45</m:t>
                        </m:r>
                      </m:e>
                    </m:func>
                  </m:oMath>
                </a14:m>
                <a:r>
                  <a:rPr lang="pt-BR" dirty="0"/>
                  <a:t> (direita).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𝐜𝐢𝐦𝐚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+0.9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.45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0.2025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agente aprende que mesmo uma ação que não sai do lugar pode ter valor, pois do mesmo estado inicial pode-se depois tomar a ação ótima. 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9F3AA60-528A-1223-FDC2-0A9A76949B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  <a:blipFill>
                <a:blip r:embed="rId2"/>
                <a:stretch>
                  <a:fillRect l="-1338" t="-1937" r="-16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3D712B58-602F-97FB-7627-4714717F910E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31D04275-DFD5-D5AB-9C57-93F9B34121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44E82013-A8FB-8252-757D-8F5ADFA5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8841B52-9AB5-ADA8-CCB8-0EE9BB88E2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2BB231D3-EBFE-5EAA-CBCF-15F5CAD9A2E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2900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5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Ação com maior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 em </a:t>
                </a:r>
                <a:r>
                  <a:rPr lang="pt-BR" b="1" dirty="0"/>
                  <a:t>início</a:t>
                </a:r>
                <a:r>
                  <a:rPr lang="pt-BR" dirty="0"/>
                  <a:t>: 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exploração,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 </a:t>
                </a:r>
                <a:r>
                  <a:rPr lang="pt-BR" dirty="0"/>
                  <a:t>+ </a:t>
                </a:r>
                <a:r>
                  <a:rPr lang="pt-BR" b="1" dirty="0"/>
                  <a:t>baixo </a:t>
                </a:r>
                <a:r>
                  <a:rPr lang="pt-BR" dirty="0"/>
                  <a:t>→ </a:t>
                </a:r>
                <a:r>
                  <a:rPr lang="pt-BR" b="1" dirty="0"/>
                  <a:t>bomba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bomba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𝐛𝐨𝐦𝐛𝐚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e>
                          </m:d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Episódio</a:t>
                </a:r>
                <a:r>
                  <a:rPr lang="en-US" dirty="0"/>
                  <a:t> </a:t>
                </a:r>
                <a:r>
                  <a:rPr lang="en-US" dirty="0" err="1"/>
                  <a:t>terminado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25634" y="1825624"/>
                <a:ext cx="9566365" cy="5032375"/>
              </a:xfrm>
              <a:blipFill>
                <a:blip r:embed="rId2"/>
                <a:stretch>
                  <a:fillRect l="-133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DF94485B-AE4C-F75C-E41A-1454145ABFD4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BC0E42BE-20EE-6391-7B40-2481F60D9E7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26DE4AF6-E438-43FC-F271-569141A400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F756718D-F35F-17A7-98DE-B2D1A59BF3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55F72E72-9CE5-A5FA-DA01-254003A9B9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937990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B3614-FABC-7C3E-7892-9B8F596E2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88E34B-1B46-88D5-8CCF-87CAC41B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>
            <a:extLst>
              <a:ext uri="{FF2B5EF4-FFF2-40B4-BE49-F238E27FC236}">
                <a16:creationId xmlns:a16="http://schemas.microsoft.com/office/drawing/2014/main" id="{EB0C3E7A-B1DC-85C3-EAE9-B4372A128F0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0.2025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0.45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0.875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63534E12-EEBC-1E44-7531-38B020BCD93B}"/>
                  </a:ext>
                </a:extLst>
              </p:cNvPr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5</a:t>
                </a:r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63534E12-EEBC-1E44-7531-38B020BCD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A4966D2B-85F8-0521-1011-54E0AC4BD6CC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70EB4F07-CDE4-7B93-9F89-2052F60E7C1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61992374-0B19-CF53-EF7F-9F2985CD99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D23F6670-A456-7315-9B92-8C222E32C8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2581746B-7FBE-D589-E9F0-017F9C07CC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6358915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2734574" y="1825624"/>
                <a:ext cx="94574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6</a:t>
                </a:r>
              </a:p>
              <a:p>
                <a:r>
                  <a:rPr lang="pt-BR" b="1" dirty="0"/>
                  <a:t>Passo 1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agente está em </a:t>
                </a:r>
                <a:r>
                  <a:rPr lang="pt-BR" b="1" dirty="0"/>
                  <a:t>início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explotação, o agente escolheu </a:t>
                </a:r>
                <a:r>
                  <a:rPr lang="pt-BR" b="1" dirty="0"/>
                  <a:t>direita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início</a:t>
                </a:r>
                <a:r>
                  <a:rPr lang="pt-BR" dirty="0"/>
                  <a:t> + </a:t>
                </a:r>
                <a:r>
                  <a:rPr lang="pt-BR" b="1" dirty="0"/>
                  <a:t>direita</a:t>
                </a:r>
                <a:r>
                  <a:rPr lang="pt-BR" dirty="0"/>
                  <a:t> → </a:t>
                </a:r>
                <a:r>
                  <a:rPr lang="pt-BR" b="1" dirty="0"/>
                  <a:t>neutro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neutro </a:t>
                </a:r>
                <a:r>
                  <a:rPr lang="pt-BR" dirty="0"/>
                  <a:t>(não 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𝐧𝐞𝐮𝐭𝐫𝐨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875</m:t>
                        </m:r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𝐢𝐧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í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𝐜𝐢𝐨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𝐝𝐢𝐫𝐞𝐢𝐭𝐚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45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875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45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61875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34574" y="1825624"/>
                <a:ext cx="9457425" cy="5032375"/>
              </a:xfrm>
              <a:blipFill>
                <a:blip r:embed="rId2"/>
                <a:stretch>
                  <a:fillRect l="-135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A7BC4A8D-D796-ADE9-5C3E-DC9FDEB4D9AA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69CCD7D3-E6BD-4509-98AD-7E5057DC75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59D85948-B4FC-9F02-DFA7-BEE0F00D6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2F381161-3DB9-07D5-736B-CE812B5F46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FBE29D97-DE5A-E0C7-E380-6CE9167BA0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102048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39CAA-CA9A-17C5-4F53-2040ACB06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3C1840-788A-B4EB-FFCB-978C995C5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C2FBE96-5446-39A1-74EB-AC0A5A12A3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Episódio 6</a:t>
                </a:r>
              </a:p>
              <a:p>
                <a:r>
                  <a:rPr lang="pt-BR" b="1" dirty="0"/>
                  <a:t>Passo 2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 o agente está em </a:t>
                </a:r>
                <a:r>
                  <a:rPr lang="pt-BR" b="1" dirty="0"/>
                  <a:t>neutro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Suponha que, por </a:t>
                </a:r>
                <a:r>
                  <a:rPr lang="pt-BR" dirty="0" err="1"/>
                  <a:t>explotação</a:t>
                </a:r>
                <a:r>
                  <a:rPr lang="pt-BR" dirty="0"/>
                  <a:t>, o agente escolheu </a:t>
                </a:r>
                <a:r>
                  <a:rPr lang="pt-BR" b="1" dirty="0"/>
                  <a:t>baixo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Transição: </a:t>
                </a:r>
                <a:r>
                  <a:rPr lang="pt-BR" b="1" dirty="0"/>
                  <a:t>neutro</a:t>
                </a:r>
                <a:r>
                  <a:rPr lang="pt-BR" dirty="0"/>
                  <a:t> + </a:t>
                </a:r>
                <a:r>
                  <a:rPr lang="pt-BR" b="1" dirty="0"/>
                  <a:t>baixo</a:t>
                </a:r>
                <a:r>
                  <a:rPr lang="pt-BR" dirty="0"/>
                  <a:t> → </a:t>
                </a:r>
                <a:r>
                  <a:rPr lang="pt-BR" b="1" dirty="0"/>
                  <a:t>meta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Recompensa: 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=+1</m:t>
                    </m:r>
                  </m:oMath>
                </a14:m>
                <a:r>
                  <a:rPr lang="pt-BR" dirty="0"/>
                  <a:t>, estado seguinte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dirty="0"/>
                  <a:t>meta </a:t>
                </a:r>
                <a:r>
                  <a:rPr lang="pt-BR" dirty="0"/>
                  <a:t>(terminal).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0" smtClean="0">
                                <a:latin typeface="Cambria Math" panose="02040503050406030204" pitchFamily="18" charset="0"/>
                              </a:rPr>
                              <m:t>𝐦𝐞𝐭𝐚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e>
                    </m:func>
                  </m:oMath>
                </a14:m>
                <a:r>
                  <a:rPr lang="pt-BR" dirty="0"/>
                  <a:t> (todos zero).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Atualização: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𝐧𝐞𝐮𝐭𝐫𝐨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pt-BR" b="1" i="0" smtClean="0">
                              <a:latin typeface="Cambria Math" panose="02040503050406030204" pitchFamily="18" charset="0"/>
                            </a:rPr>
                            <m:t>𝐛𝐚𝐢𝐱𝐨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.875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+0.5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.875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.9375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Episódio terminado.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C2FBE96-5446-39A1-74EB-AC0A5A12A3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04903" y="1825624"/>
                <a:ext cx="8887096" cy="5032375"/>
              </a:xfrm>
              <a:blipFill>
                <a:blip r:embed="rId2"/>
                <a:stretch>
                  <a:fillRect l="-1372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3">
            <a:extLst>
              <a:ext uri="{FF2B5EF4-FFF2-40B4-BE49-F238E27FC236}">
                <a16:creationId xmlns:a16="http://schemas.microsoft.com/office/drawing/2014/main" id="{1C9C7E0A-930B-1223-22BF-9C4D2B0366A2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ACFB7B8-9A8C-618E-9B4C-6F746C4337F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A78B184-6DEA-798E-5381-55852D3254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35E7E50F-A81E-ABDC-C7FF-3920378E14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ABD9F065-EE79-EC55-5D64-C4AFFC354E9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062746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</a:p>
        </p:txBody>
      </p:sp>
      <p:graphicFrame>
        <p:nvGraphicFramePr>
          <p:cNvPr id="9" name="Espaço Reservado para Conteúdo 8"/>
          <p:cNvGraphicFramePr>
            <a:graphicFrameLocks noGrp="1"/>
          </p:cNvGraphicFramePr>
          <p:nvPr>
            <p:ph idx="1"/>
          </p:nvPr>
        </p:nvGraphicFramePr>
        <p:xfrm>
          <a:off x="4311333" y="3051165"/>
          <a:ext cx="6795825" cy="185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62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91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Estado/Ação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Cima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Direita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Baixo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Esquerda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Início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0.2025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0.61875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Neutro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0.9375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Bomba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Meta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Tabela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2800" dirty="0"/>
                  <a:t> após episódio 6</a:t>
                </a: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1332" y="2342806"/>
                <a:ext cx="7880667" cy="523220"/>
              </a:xfrm>
              <a:prstGeom prst="rect">
                <a:avLst/>
              </a:prstGeom>
              <a:blipFill>
                <a:blip r:embed="rId2"/>
                <a:stretch>
                  <a:fillRect l="-1547"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upo 3">
            <a:extLst>
              <a:ext uri="{FF2B5EF4-FFF2-40B4-BE49-F238E27FC236}">
                <a16:creationId xmlns:a16="http://schemas.microsoft.com/office/drawing/2014/main" id="{DEF799DB-8006-994B-CD53-25CB4B0B98B6}"/>
              </a:ext>
            </a:extLst>
          </p:cNvPr>
          <p:cNvGrpSpPr/>
          <p:nvPr/>
        </p:nvGrpSpPr>
        <p:grpSpPr>
          <a:xfrm>
            <a:off x="595868" y="3164302"/>
            <a:ext cx="1728000" cy="1728000"/>
            <a:chOff x="4153989" y="1828800"/>
            <a:chExt cx="1728000" cy="1728000"/>
          </a:xfrm>
        </p:grpSpPr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E2EB6F0D-08F4-8D69-C2FE-785E2ABC22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1828800"/>
              <a:ext cx="864000" cy="864000"/>
            </a:xfrm>
            <a:prstGeom prst="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início</a:t>
              </a:r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8EC7E797-650D-EAAE-3A8F-0510CBDBCF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1828800"/>
              <a:ext cx="864000" cy="864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neutro</a:t>
              </a:r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13D376C3-59B3-706A-E247-588F25D04A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53989" y="2692800"/>
              <a:ext cx="864000" cy="864000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bomba</a:t>
              </a:r>
            </a:p>
          </p:txBody>
        </p:sp>
        <p:sp>
          <p:nvSpPr>
            <p:cNvPr id="14" name="Retângulo 13">
              <a:extLst>
                <a:ext uri="{FF2B5EF4-FFF2-40B4-BE49-F238E27FC236}">
                  <a16:creationId xmlns:a16="http://schemas.microsoft.com/office/drawing/2014/main" id="{5297A77D-2E9D-9983-0E9A-243853E80CD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17989" y="2692800"/>
              <a:ext cx="864000" cy="864000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meta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953272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C8BEA5-A102-9E97-3B04-B974379B9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BFC12CF-6F3C-48A9-EDEB-68CF1B71A0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90648" y="1825624"/>
                <a:ext cx="9501351" cy="503237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A </a:t>
                </a:r>
                <a:r>
                  <a:rPr lang="en-US" dirty="0" err="1"/>
                  <a:t>convergência</a:t>
                </a:r>
                <a:r>
                  <a:rPr lang="en-US" dirty="0"/>
                  <a:t> final (</a:t>
                </a:r>
                <a:r>
                  <a:rPr lang="en-US" dirty="0" err="1"/>
                  <a:t>após</a:t>
                </a:r>
                <a:r>
                  <a:rPr lang="en-US" dirty="0"/>
                  <a:t> </a:t>
                </a:r>
                <a:r>
                  <a:rPr lang="en-US" dirty="0" err="1"/>
                  <a:t>muitas</a:t>
                </a:r>
                <a:r>
                  <a:rPr lang="en-US" dirty="0"/>
                  <a:t> visitas) leva </a:t>
                </a:r>
                <a:r>
                  <a:rPr lang="en-US" dirty="0" err="1"/>
                  <a:t>aos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ótimos</a:t>
                </a:r>
                <a:r>
                  <a:rPr lang="en-US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𝐝𝐢𝐫𝐞𝐢𝐭𝐚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</m:oMath>
                </a14:m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𝐧𝐞𝐮𝐭𝐫𝐨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𝐜𝐢𝐦𝐚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81</m:t>
                    </m:r>
                  </m:oMath>
                </a14:m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𝐞𝐬𝐪𝐮𝐞𝐫𝐝𝐚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81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borda</a:t>
                </a:r>
                <a:r>
                  <a:rPr lang="en-US" dirty="0"/>
                  <a:t> </a:t>
                </a:r>
                <a:r>
                  <a:rPr lang="en-US" dirty="0" err="1"/>
                  <a:t>mantém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/>
                  <a:t>início</a:t>
                </a:r>
                <a:r>
                  <a:rPr lang="en-US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𝐧𝐞𝐮𝐭𝐫𝐨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𝐞𝐬𝐪𝐮𝐞𝐫𝐝𝐚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81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vai</a:t>
                </a:r>
                <a:r>
                  <a:rPr lang="en-US" dirty="0"/>
                  <a:t> para </a:t>
                </a:r>
                <a:r>
                  <a:rPr lang="en-US" b="1" dirty="0" err="1"/>
                  <a:t>início</a:t>
                </a:r>
                <a:r>
                  <a:rPr lang="en-US" dirty="0"/>
                  <a:t>)</a:t>
                </a:r>
                <a:endParaRPr lang="ar-AE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>
                            <a:latin typeface="Cambria Math" panose="02040503050406030204" pitchFamily="18" charset="0"/>
                          </a:rPr>
                          <m:t>𝐢𝐧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í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𝐜𝐢𝐨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b="1">
                            <a:latin typeface="Cambria Math" panose="02040503050406030204" pitchFamily="18" charset="0"/>
                          </a:rPr>
                          <m:t>𝐛𝐚𝐢𝐱𝐨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bomba</a:t>
                </a:r>
                <a:r>
                  <a:rPr lang="pt-BR" dirty="0"/>
                  <a:t>, terminal)</a:t>
                </a:r>
              </a:p>
              <a:p>
                <a:r>
                  <a:rPr lang="pt-BR" dirty="0"/>
                  <a:t>Após muitos episódios, se tornarmos a política completamente gulosa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), o agente seguirá: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 </a:t>
                </a:r>
                <a:r>
                  <a:rPr lang="pt-BR" b="1" dirty="0"/>
                  <a:t>início</a:t>
                </a:r>
                <a:r>
                  <a:rPr lang="pt-BR" dirty="0"/>
                  <a:t>: escolher </a:t>
                </a:r>
                <a:r>
                  <a:rPr lang="pt-BR" b="1" dirty="0"/>
                  <a:t>direita</a:t>
                </a:r>
                <a:r>
                  <a:rPr lang="pt-BR" dirty="0"/>
                  <a:t> 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r>
                  <a:rPr lang="pt-BR" dirty="0"/>
                  <a:t>, a maior)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 </a:t>
                </a:r>
                <a:r>
                  <a:rPr lang="pt-BR" b="1" dirty="0"/>
                  <a:t>neutro</a:t>
                </a:r>
                <a:r>
                  <a:rPr lang="pt-BR" dirty="0"/>
                  <a:t>: escolher </a:t>
                </a:r>
                <a:r>
                  <a:rPr lang="pt-BR" b="1" dirty="0"/>
                  <a:t>baixo</a:t>
                </a:r>
                <a:r>
                  <a:rPr lang="pt-BR" dirty="0"/>
                  <a:t> 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>
                        <a:latin typeface="Cambria Math" panose="02040503050406030204" pitchFamily="18" charset="0"/>
                      </a:rPr>
                      <m:t>.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</a:t>
                </a:r>
              </a:p>
              <a:p>
                <a:r>
                  <a:rPr lang="pt-BR" dirty="0"/>
                  <a:t>Esse caminho leva diretamente à </a:t>
                </a:r>
                <a:r>
                  <a:rPr lang="pt-BR" b="1" dirty="0"/>
                  <a:t>meta</a:t>
                </a:r>
                <a:r>
                  <a:rPr lang="pt-BR" dirty="0"/>
                  <a:t> sem pisar na </a:t>
                </a:r>
                <a:r>
                  <a:rPr lang="pt-BR" b="1" dirty="0"/>
                  <a:t>bomba</a:t>
                </a:r>
                <a:r>
                  <a:rPr lang="pt-BR" dirty="0"/>
                  <a:t>, maximizando a recompensa acumulada descontada.</a:t>
                </a:r>
              </a:p>
              <a:p>
                <a:r>
                  <a:rPr lang="en-US" b="1" dirty="0" err="1"/>
                  <a:t>Exemplo</a:t>
                </a:r>
                <a:r>
                  <a:rPr lang="en-US" dirty="0"/>
                  <a:t>: </a:t>
                </a:r>
                <a:r>
                  <a:rPr lang="en-US" dirty="0">
                    <a:hlinkClick r:id="rId3"/>
                  </a:rPr>
                  <a:t>q_learning_grid_2x2.ipynb</a:t>
                </a:r>
                <a:endParaRPr lang="en-US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BFC12CF-6F3C-48A9-EDEB-68CF1B71A0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90648" y="1825624"/>
                <a:ext cx="9501351" cy="5032375"/>
              </a:xfrm>
              <a:blipFill>
                <a:blip r:embed="rId4"/>
                <a:stretch>
                  <a:fillRect l="-962" t="-30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Agrupar 14">
            <a:extLst>
              <a:ext uri="{FF2B5EF4-FFF2-40B4-BE49-F238E27FC236}">
                <a16:creationId xmlns:a16="http://schemas.microsoft.com/office/drawing/2014/main" id="{67352F71-1EFC-D234-0260-68383DA05579}"/>
              </a:ext>
            </a:extLst>
          </p:cNvPr>
          <p:cNvGrpSpPr/>
          <p:nvPr/>
        </p:nvGrpSpPr>
        <p:grpSpPr>
          <a:xfrm>
            <a:off x="490764" y="3059199"/>
            <a:ext cx="1728000" cy="1728000"/>
            <a:chOff x="595868" y="3164302"/>
            <a:chExt cx="1728000" cy="1728000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F6DB54DD-4C93-6389-DDC0-CFDF8251428A}"/>
                </a:ext>
              </a:extLst>
            </p:cNvPr>
            <p:cNvGrpSpPr/>
            <p:nvPr/>
          </p:nvGrpSpPr>
          <p:grpSpPr>
            <a:xfrm>
              <a:off x="595868" y="3164302"/>
              <a:ext cx="1728000" cy="1728000"/>
              <a:chOff x="4153989" y="1828800"/>
              <a:chExt cx="1728000" cy="1728000"/>
            </a:xfrm>
          </p:grpSpPr>
          <p:sp>
            <p:nvSpPr>
              <p:cNvPr id="5" name="Retângulo 4">
                <a:extLst>
                  <a:ext uri="{FF2B5EF4-FFF2-40B4-BE49-F238E27FC236}">
                    <a16:creationId xmlns:a16="http://schemas.microsoft.com/office/drawing/2014/main" id="{E8FF33FC-11E5-A10F-8D40-0F7B7621F5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153989" y="1828800"/>
                <a:ext cx="864000" cy="864000"/>
              </a:xfrm>
              <a:prstGeom prst="rect">
                <a:avLst/>
              </a:prstGeom>
              <a:solidFill>
                <a:srgbClr val="92D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início</a:t>
                </a:r>
              </a:p>
            </p:txBody>
          </p:sp>
          <p:sp>
            <p:nvSpPr>
              <p:cNvPr id="6" name="Retângulo 5">
                <a:extLst>
                  <a:ext uri="{FF2B5EF4-FFF2-40B4-BE49-F238E27FC236}">
                    <a16:creationId xmlns:a16="http://schemas.microsoft.com/office/drawing/2014/main" id="{4A8C9A05-EEC2-DA94-BF2B-798D4F0EF8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017989" y="1828800"/>
                <a:ext cx="864000" cy="864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neutro</a:t>
                </a:r>
              </a:p>
            </p:txBody>
          </p:sp>
          <p:sp>
            <p:nvSpPr>
              <p:cNvPr id="7" name="Retângulo 6">
                <a:extLst>
                  <a:ext uri="{FF2B5EF4-FFF2-40B4-BE49-F238E27FC236}">
                    <a16:creationId xmlns:a16="http://schemas.microsoft.com/office/drawing/2014/main" id="{6AAB823D-B38A-7233-6A3C-3F70C03743A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153989" y="2692800"/>
                <a:ext cx="864000" cy="864000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bomba</a:t>
                </a:r>
              </a:p>
            </p:txBody>
          </p:sp>
          <p:sp>
            <p:nvSpPr>
              <p:cNvPr id="8" name="Retângulo 7">
                <a:extLst>
                  <a:ext uri="{FF2B5EF4-FFF2-40B4-BE49-F238E27FC236}">
                    <a16:creationId xmlns:a16="http://schemas.microsoft.com/office/drawing/2014/main" id="{F6CD2D79-9F90-965C-B7DC-6ADD56D215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017989" y="2692800"/>
                <a:ext cx="864000" cy="864000"/>
              </a:xfrm>
              <a:prstGeom prst="rect">
                <a:avLst/>
              </a:prstGeom>
              <a:solidFill>
                <a:schemeClr val="accent5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meta</a:t>
                </a:r>
              </a:p>
            </p:txBody>
          </p:sp>
        </p:grpSp>
        <p:sp>
          <p:nvSpPr>
            <p:cNvPr id="11" name="Seta: para a Direita 10">
              <a:extLst>
                <a:ext uri="{FF2B5EF4-FFF2-40B4-BE49-F238E27FC236}">
                  <a16:creationId xmlns:a16="http://schemas.microsoft.com/office/drawing/2014/main" id="{06EDFD38-5B31-C208-B9BB-6D838ADB756F}"/>
                </a:ext>
              </a:extLst>
            </p:cNvPr>
            <p:cNvSpPr/>
            <p:nvPr/>
          </p:nvSpPr>
          <p:spPr>
            <a:xfrm>
              <a:off x="1288256" y="3451810"/>
              <a:ext cx="292619" cy="288985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Seta: para a Direita 11">
              <a:extLst>
                <a:ext uri="{FF2B5EF4-FFF2-40B4-BE49-F238E27FC236}">
                  <a16:creationId xmlns:a16="http://schemas.microsoft.com/office/drawing/2014/main" id="{09D55985-231E-7D2B-B919-9C8008C68C6F}"/>
                </a:ext>
              </a:extLst>
            </p:cNvPr>
            <p:cNvSpPr/>
            <p:nvPr/>
          </p:nvSpPr>
          <p:spPr>
            <a:xfrm rot="5400000">
              <a:off x="1745558" y="3934410"/>
              <a:ext cx="292619" cy="288985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1340539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q-</a:t>
            </a:r>
            <a:r>
              <a:rPr lang="pt-BR" dirty="0" err="1">
                <a:hlinkClick r:id="rId3"/>
              </a:rPr>
              <a:t>learning.ipynb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637170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#14 – </a:t>
            </a:r>
            <a:r>
              <a:rPr lang="pt-BR" dirty="0" err="1">
                <a:hlinkClick r:id="rId3"/>
              </a:rPr>
              <a:t>Q-learning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5313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9221</TotalTime>
  <Words>5208</Words>
  <Application>Microsoft Office PowerPoint</Application>
  <PresentationFormat>Widescreen</PresentationFormat>
  <Paragraphs>784</Paragraphs>
  <Slides>63</Slides>
  <Notes>35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63</vt:i4>
      </vt:variant>
    </vt:vector>
  </HeadingPairs>
  <TitlesOfParts>
    <vt:vector size="70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Q-learning</vt:lpstr>
      <vt:lpstr>Apresentação do PowerPoint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Conceitos fundamentais de RL</vt:lpstr>
      <vt:lpstr>Conceitos fundamentais de RL</vt:lpstr>
      <vt:lpstr>Conceitos fundamentais de RL</vt:lpstr>
      <vt:lpstr>Conceitos fundamentais de RL</vt:lpstr>
      <vt:lpstr>Algoritmos de RL</vt:lpstr>
      <vt:lpstr>O que é Q-learning?</vt:lpstr>
      <vt:lpstr>O que é Q-learning?</vt:lpstr>
      <vt:lpstr>O que significa o "Q"? </vt:lpstr>
      <vt:lpstr>O que significa o "Q"? </vt:lpstr>
      <vt:lpstr>O que significa o "Q"? </vt:lpstr>
      <vt:lpstr>Como o Q-learning aprende?</vt:lpstr>
      <vt:lpstr>O que é um episódio?</vt:lpstr>
      <vt:lpstr>O que é um episódio?</vt:lpstr>
      <vt:lpstr>Exploração vs. explotação (ε-greedy) </vt:lpstr>
      <vt:lpstr>Exploração vs. explotação (ε-greedy) </vt:lpstr>
      <vt:lpstr>Exploração vs. explotação (ε-greedy) </vt:lpstr>
      <vt:lpstr>Apresentação do PowerPoint</vt:lpstr>
      <vt:lpstr>Atualização da tabela-Q: a equação de Bellman</vt:lpstr>
      <vt:lpstr>Atualização da tabela-Q: a equação de Bellman</vt:lpstr>
      <vt:lpstr>Erro de diferença temporal</vt:lpstr>
      <vt:lpstr>A equação de Bellman</vt:lpstr>
      <vt:lpstr>A influência do fator de desconto, γ</vt:lpstr>
      <vt:lpstr>Off-policy</vt:lpstr>
      <vt:lpstr>Off-policy</vt:lpstr>
      <vt:lpstr>A maldição da dimensionalidade</vt:lpstr>
      <vt:lpstr>A maldição da dimensionalidade</vt:lpstr>
      <vt:lpstr>Trocando a tabela-Q por redes neurais</vt:lpstr>
      <vt:lpstr>Onde RL é usado?</vt:lpstr>
      <vt:lpstr>Apresentação do PowerPoint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 numérico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1948</cp:revision>
  <dcterms:created xsi:type="dcterms:W3CDTF">2020-01-20T13:50:05Z</dcterms:created>
  <dcterms:modified xsi:type="dcterms:W3CDTF">2026-06-15T21:29:44Z</dcterms:modified>
</cp:coreProperties>
</file>