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256" r:id="rId2"/>
    <p:sldId id="315" r:id="rId3"/>
    <p:sldId id="307" r:id="rId4"/>
    <p:sldId id="317" r:id="rId5"/>
    <p:sldId id="320" r:id="rId6"/>
    <p:sldId id="321" r:id="rId7"/>
    <p:sldId id="318" r:id="rId8"/>
    <p:sldId id="319" r:id="rId9"/>
    <p:sldId id="325" r:id="rId10"/>
    <p:sldId id="326" r:id="rId11"/>
    <p:sldId id="327" r:id="rId12"/>
    <p:sldId id="328" r:id="rId13"/>
    <p:sldId id="330" r:id="rId14"/>
    <p:sldId id="316" r:id="rId15"/>
    <p:sldId id="333" r:id="rId16"/>
    <p:sldId id="332" r:id="rId17"/>
    <p:sldId id="329" r:id="rId18"/>
    <p:sldId id="331" r:id="rId19"/>
    <p:sldId id="293" r:id="rId20"/>
    <p:sldId id="314" r:id="rId21"/>
    <p:sldId id="306" r:id="rId22"/>
    <p:sldId id="324" r:id="rId23"/>
    <p:sldId id="323" r:id="rId24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794" y="6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24/04/2026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24/04/2026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66914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C3711-83BC-221A-A341-2BE62BCF8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57728F-CFA3-D0A6-7780-F800EBAC1F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D3E5CB-A8B8-7F4B-200F-94D044C81C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9D8EC2-522A-3A24-97FD-162C1CF3C1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823269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600EE-A6A2-2235-BCC6-6DE0C5D8D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C41149-DCAF-E8F8-FB78-0B242E2217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C5329E-ECB5-4CB1-3A33-CFC57176F4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AB7C02-5FA9-66E4-2433-F97393A5C0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75771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2E69C-0407-4619-FFB1-7502CF033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C6894B-B13E-3C0F-BEC3-8A663E9850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6A1B01-A242-46E3-F92E-FB0EA28821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A915CE-E13E-5840-D0C6-249ACB7C2C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151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04451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A5E72-3763-6194-5E85-BE2635403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466988-6655-8B01-840E-0BE3EDB68F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09F3D0-11CA-2E8D-04C5-104C59DCE7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0BCD7-F825-C67D-D845-8316B4C4B6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12674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A5E72-3763-6194-5E85-BE2635403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466988-6655-8B01-840E-0BE3EDB68F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09F3D0-11CA-2E8D-04C5-104C59DCE7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0BCD7-F825-C67D-D845-8316B4C4B6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81724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• PPO (Proximal </a:t>
            </a:r>
            <a:r>
              <a:rPr lang="pt-BR" b="1" dirty="0" err="1"/>
              <a:t>Policy</a:t>
            </a:r>
            <a:r>
              <a:rPr lang="pt-BR" b="1" dirty="0"/>
              <a:t> </a:t>
            </a:r>
            <a:r>
              <a:rPr lang="pt-BR" b="1" dirty="0" err="1"/>
              <a:t>Optimization</a:t>
            </a:r>
            <a:r>
              <a:rPr lang="pt-BR" b="1" dirty="0"/>
              <a:t>)</a:t>
            </a:r>
          </a:p>
          <a:p>
            <a:r>
              <a:rPr lang="pt-BR" dirty="0"/>
              <a:t>Um dos mais usados hoje. </a:t>
            </a:r>
          </a:p>
          <a:p>
            <a:r>
              <a:rPr lang="pt-BR" dirty="0"/>
              <a:t>Estável e relativamente simples. </a:t>
            </a:r>
          </a:p>
          <a:p>
            <a:r>
              <a:rPr lang="pt-BR" dirty="0"/>
              <a:t>Muito popular em aplicações práticas.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04575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 algoritmo </a:t>
            </a:r>
            <a:r>
              <a:rPr lang="pt-BR" b="1" i="1" dirty="0"/>
              <a:t>model-</a:t>
            </a:r>
            <a:r>
              <a:rPr lang="pt-BR" b="1" i="1" dirty="0" err="1"/>
              <a:t>based</a:t>
            </a:r>
            <a:r>
              <a:rPr lang="pt-BR" dirty="0"/>
              <a:t> é como alguém que estuda o mapa (regras do ambiente) de uma cidade antes de sair de casa. </a:t>
            </a:r>
          </a:p>
          <a:p>
            <a:r>
              <a:rPr lang="pt-BR" dirty="0"/>
              <a:t>O </a:t>
            </a:r>
            <a:r>
              <a:rPr lang="pt-BR" b="1" dirty="0" err="1"/>
              <a:t>Q-</a:t>
            </a:r>
            <a:r>
              <a:rPr lang="pt-BR" b="1" i="1" dirty="0" err="1"/>
              <a:t>learning</a:t>
            </a:r>
            <a:r>
              <a:rPr lang="pt-BR" b="1" dirty="0"/>
              <a:t> </a:t>
            </a:r>
            <a:r>
              <a:rPr lang="pt-BR" dirty="0"/>
              <a:t>é a pessoa que sai andando sem mapa, errando até decorar o caminho.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65867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DD39D-8438-4F45-71B4-9F8747421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322D5B-AD1C-1DB1-53A1-6978329C3F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D7455F-337E-5D6B-A02A-380397063D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Função $Q(s, a)$:</a:t>
            </a:r>
            <a:r>
              <a:rPr lang="pt-BR" dirty="0"/>
              <a:t> É o retorno esperado (soma das recompensas futuras) se o agente estiver no estado 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$s$</a:t>
            </a:r>
            <a:r>
              <a:rPr lang="pt-BR" dirty="0"/>
              <a:t>, escolher a ação 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$a$</a:t>
            </a:r>
            <a:r>
              <a:rPr lang="pt-BR" dirty="0"/>
              <a:t> e, a partir daí, agir de forma otimizada.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124413-04E6-A99E-E6BA-F56674216B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52458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473908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24/04/2026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24/04/2026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24/04/2026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24/04/2026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 err="1"/>
              <a:t>Q-learning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6A74E-8855-B416-1D2B-EC3735DC0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16486" y="1706903"/>
            <a:ext cx="5323115" cy="3944937"/>
          </a:xfrm>
        </p:spPr>
        <p:txBody>
          <a:bodyPr>
            <a:normAutofit/>
          </a:bodyPr>
          <a:lstStyle/>
          <a:p>
            <a:r>
              <a:rPr lang="pt-BR" dirty="0"/>
              <a:t>As máquinas podem aprender a tomar decisões ótimas sozinhas sem supervisão (</a:t>
            </a:r>
            <a:r>
              <a:rPr lang="pt-BR" i="1" dirty="0"/>
              <a:t>dataset</a:t>
            </a:r>
            <a:r>
              <a:rPr lang="pt-BR" dirty="0"/>
              <a:t>), apenas por tentativa e erro.</a:t>
            </a:r>
          </a:p>
          <a:p>
            <a:r>
              <a:rPr lang="pt-BR" dirty="0"/>
              <a:t>Esse é o coração do </a:t>
            </a:r>
            <a:r>
              <a:rPr lang="pt-BR" i="1" dirty="0" err="1"/>
              <a:t>reinforcement</a:t>
            </a:r>
            <a:r>
              <a:rPr lang="pt-BR" i="1" dirty="0"/>
              <a:t> learning</a:t>
            </a:r>
            <a:r>
              <a:rPr lang="pt-BR" dirty="0"/>
              <a:t> (RL). </a:t>
            </a:r>
          </a:p>
          <a:p>
            <a:r>
              <a:rPr lang="pt-BR" dirty="0"/>
              <a:t>Nessa aula, aprenderemos o funcionamento do algoritmo mais clássicos da área: o </a:t>
            </a:r>
            <a:r>
              <a:rPr lang="pt-BR" dirty="0" err="1"/>
              <a:t>Q-learning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1026" name="Picture 2" descr="Reinforcement Learning">
            <a:extLst>
              <a:ext uri="{FF2B5EF4-FFF2-40B4-BE49-F238E27FC236}">
                <a16:creationId xmlns:a16="http://schemas.microsoft.com/office/drawing/2014/main" id="{5526EDB3-366A-5FFB-4A2D-BC3494C1E8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6" r="8204"/>
          <a:stretch>
            <a:fillRect/>
          </a:stretch>
        </p:blipFill>
        <p:spPr bwMode="auto">
          <a:xfrm>
            <a:off x="152399" y="1565389"/>
            <a:ext cx="6161315" cy="3944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9651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</a:t>
            </a:r>
            <a:r>
              <a:rPr lang="pt-BR" i="1" dirty="0" err="1"/>
              <a:t>reinforcement</a:t>
            </a:r>
            <a:r>
              <a:rPr lang="pt-BR" i="1" dirty="0"/>
              <a:t> learning</a:t>
            </a:r>
            <a:r>
              <a:rPr lang="pt-BR" dirty="0"/>
              <a:t>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255828" cy="5032375"/>
          </a:xfrm>
        </p:spPr>
        <p:txBody>
          <a:bodyPr>
            <a:normAutofit/>
          </a:bodyPr>
          <a:lstStyle/>
          <a:p>
            <a:r>
              <a:rPr lang="pt-BR" dirty="0"/>
              <a:t>É um dos paradigmas de aprendizado de </a:t>
            </a:r>
            <a:r>
              <a:rPr lang="pt-BR" i="1" dirty="0"/>
              <a:t>machine learning</a:t>
            </a:r>
            <a:r>
              <a:rPr lang="pt-BR" dirty="0"/>
              <a:t> focado em como tomar </a:t>
            </a:r>
            <a:r>
              <a:rPr lang="pt-BR" i="1" dirty="0"/>
              <a:t>ações</a:t>
            </a:r>
            <a:r>
              <a:rPr lang="pt-BR" dirty="0"/>
              <a:t> para maximizar uma </a:t>
            </a:r>
            <a:r>
              <a:rPr lang="pt-BR" i="1" dirty="0"/>
              <a:t>recompensa</a:t>
            </a:r>
            <a:r>
              <a:rPr lang="pt-BR" dirty="0"/>
              <a:t> futura.</a:t>
            </a:r>
            <a:endParaRPr lang="en-US" dirty="0"/>
          </a:p>
          <a:p>
            <a:endParaRPr lang="pt-BR" dirty="0"/>
          </a:p>
        </p:txBody>
      </p:sp>
      <p:pic>
        <p:nvPicPr>
          <p:cNvPr id="2051" name="Picture 3" descr="Understanding the Pillars of Machine Learning: Supervised, Unsupervised,  and Reinforcement Learning">
            <a:extLst>
              <a:ext uri="{FF2B5EF4-FFF2-40B4-BE49-F238E27FC236}">
                <a16:creationId xmlns:a16="http://schemas.microsoft.com/office/drawing/2014/main" id="{BDF6F402-9EED-6D9D-33D9-227B654D16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92" b="3060"/>
          <a:stretch>
            <a:fillRect/>
          </a:stretch>
        </p:blipFill>
        <p:spPr bwMode="auto">
          <a:xfrm>
            <a:off x="2345028" y="2786743"/>
            <a:ext cx="7501943" cy="3853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0B64E-1F58-2FF0-BFB3-B1D955875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CC3BAE-52FC-3697-DB30-5B05B3469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A06D34D-8885-14BC-AF7E-F271D7D63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91744" y="1825624"/>
            <a:ext cx="7391400" cy="5032375"/>
          </a:xfrm>
        </p:spPr>
        <p:txBody>
          <a:bodyPr>
            <a:normAutofit/>
          </a:bodyPr>
          <a:lstStyle/>
          <a:p>
            <a:r>
              <a:rPr lang="pt-BR" dirty="0"/>
              <a:t>Ao contrário dos aprendizados supervisionado e não supervisionado, não temos um </a:t>
            </a:r>
            <a:r>
              <a:rPr lang="pt-BR" i="1" dirty="0"/>
              <a:t>dataset</a:t>
            </a:r>
            <a:r>
              <a:rPr lang="pt-BR" dirty="0"/>
              <a:t>, seja ele rotulado ou não.</a:t>
            </a:r>
          </a:p>
          <a:p>
            <a:r>
              <a:rPr lang="pt-BR" dirty="0"/>
              <a:t>Não há um </a:t>
            </a:r>
            <a:r>
              <a:rPr lang="pt-BR" i="1" dirty="0"/>
              <a:t>dataset</a:t>
            </a:r>
            <a:r>
              <a:rPr lang="pt-BR" dirty="0"/>
              <a:t>: o agente </a:t>
            </a:r>
            <a:r>
              <a:rPr lang="pt-BR" b="1" dirty="0"/>
              <a:t>gera seus próprios dados</a:t>
            </a:r>
            <a:r>
              <a:rPr lang="pt-BR" dirty="0"/>
              <a:t> enquanto tenta, erra e aprende.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Nesse contexto, o agente é o algoritmo de aprendizado por reforço.</a:t>
            </a:r>
          </a:p>
          <a:p>
            <a:r>
              <a:rPr lang="pt-BR" dirty="0"/>
              <a:t>O aprendizado ocorre por experiência através de interações com um ambiente.</a:t>
            </a:r>
          </a:p>
        </p:txBody>
      </p:sp>
      <p:pic>
        <p:nvPicPr>
          <p:cNvPr id="4" name="Imagem 16">
            <a:extLst>
              <a:ext uri="{FF2B5EF4-FFF2-40B4-BE49-F238E27FC236}">
                <a16:creationId xmlns:a16="http://schemas.microsoft.com/office/drawing/2014/main" id="{7937C6EA-BFD8-5278-9EE0-796D1842173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1728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53AED-FA4F-39DE-91A4-E5C845C0C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88774E-D7D6-D9E6-4449-244D34EE9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E79548E-494A-A12A-30F7-F4E225B6C3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1485" y="1825624"/>
            <a:ext cx="7271657" cy="5032375"/>
          </a:xfrm>
        </p:spPr>
        <p:txBody>
          <a:bodyPr>
            <a:normAutofit/>
          </a:bodyPr>
          <a:lstStyle/>
          <a:p>
            <a:r>
              <a:rPr lang="pt-BR" dirty="0"/>
              <a:t>A algoritmo aprende na prática, sendo premiado ou penalizado pelo ambiente por ações tomadas até descobrir a melhor estratégia, chamada de política nesse contexto.</a:t>
            </a:r>
          </a:p>
          <a:p>
            <a:r>
              <a:rPr lang="pt-BR" dirty="0"/>
              <a:t>Existe um sinal de </a:t>
            </a:r>
            <a:r>
              <a:rPr lang="pt-BR" b="1" dirty="0"/>
              <a:t>recompensa ou reforço enviado pelo ambiente.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ambiente diz ao agente: "Isso foi bom (+10)" ou "Isso foi péssimo (-5)".</a:t>
            </a:r>
          </a:p>
          <a:p>
            <a:r>
              <a:rPr lang="pt-BR" dirty="0"/>
              <a:t>É um guia, mas ele não diz </a:t>
            </a:r>
            <a:r>
              <a:rPr lang="pt-BR" i="1" dirty="0"/>
              <a:t>qual</a:t>
            </a:r>
            <a:r>
              <a:rPr lang="pt-BR" dirty="0"/>
              <a:t> era a ação certa, apenas se a que foi tomada foi boa ou ruim.</a:t>
            </a:r>
            <a:endParaRPr lang="en-US" dirty="0"/>
          </a:p>
          <a:p>
            <a:pPr lvl="1"/>
            <a:endParaRPr lang="pt-BR" dirty="0"/>
          </a:p>
        </p:txBody>
      </p:sp>
      <p:pic>
        <p:nvPicPr>
          <p:cNvPr id="6" name="Imagem 16">
            <a:extLst>
              <a:ext uri="{FF2B5EF4-FFF2-40B4-BE49-F238E27FC236}">
                <a16:creationId xmlns:a16="http://schemas.microsoft.com/office/drawing/2014/main" id="{C8EB1D57-2EF7-64D2-25BE-6F8A0BE933D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68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FFEFA-1EED-2754-CDBD-7CC34D06F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CDBB74-F243-3F53-FEC5-AF11CE256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A609E9F-E2C8-D6E3-78D1-C44C117B55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8313" y="1825624"/>
            <a:ext cx="7064829" cy="5032375"/>
          </a:xfrm>
        </p:spPr>
        <p:txBody>
          <a:bodyPr>
            <a:normAutofit/>
          </a:bodyPr>
          <a:lstStyle/>
          <a:p>
            <a:r>
              <a:rPr lang="pt-BR" dirty="0"/>
              <a:t>O aprendizado por reforço foca na tomada de decisão para maximizar recompensas ao longo do tempo.</a:t>
            </a:r>
          </a:p>
          <a:p>
            <a:r>
              <a:rPr lang="pt-BR" dirty="0"/>
              <a:t>Ele responde à pergunta: </a:t>
            </a:r>
            <a:r>
              <a:rPr lang="pt-BR" i="1" dirty="0"/>
              <a:t>"Qual sequência de ações eu devo tomar para ganhar o prêmio lá na frente?“</a:t>
            </a:r>
          </a:p>
        </p:txBody>
      </p:sp>
      <p:pic>
        <p:nvPicPr>
          <p:cNvPr id="4" name="Imagem 16">
            <a:extLst>
              <a:ext uri="{FF2B5EF4-FFF2-40B4-BE49-F238E27FC236}">
                <a16:creationId xmlns:a16="http://schemas.microsoft.com/office/drawing/2014/main" id="{DF71A34D-2B36-AF4A-818D-805CF072BD5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E045BB-096B-FD28-B7D5-E94A5FD7C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Analogia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3C87D0-4294-EB29-295B-08AD14444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7400" y="1825624"/>
            <a:ext cx="6324600" cy="5032375"/>
          </a:xfrm>
        </p:spPr>
        <p:txBody>
          <a:bodyPr>
            <a:normAutofit/>
          </a:bodyPr>
          <a:lstStyle/>
          <a:p>
            <a:r>
              <a:rPr lang="pt-BR" dirty="0"/>
              <a:t>Aprendizado por reforço é como adestrar um cachorro. </a:t>
            </a:r>
          </a:p>
          <a:p>
            <a:r>
              <a:rPr lang="pt-BR" dirty="0"/>
              <a:t>Você não diz a ele </a:t>
            </a:r>
            <a:r>
              <a:rPr lang="pt-BR" i="1" dirty="0"/>
              <a:t>como</a:t>
            </a:r>
            <a:r>
              <a:rPr lang="pt-BR" dirty="0"/>
              <a:t> se sentar ou pegar o graveto.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há dados rotulados ensinando os movimentos musculares. </a:t>
            </a:r>
          </a:p>
          <a:p>
            <a:r>
              <a:rPr lang="pt-BR" dirty="0"/>
              <a:t>Você dá um petisco (recompensa) quando ele senta ou pega o graveto, e ele aprende a associar a ação ao resultado positivo.</a:t>
            </a:r>
          </a:p>
          <a:p>
            <a:endParaRPr lang="en-US" dirty="0"/>
          </a:p>
        </p:txBody>
      </p:sp>
      <p:pic>
        <p:nvPicPr>
          <p:cNvPr id="4" name="Picture 4" descr="A Beginner's Guide to Reinforcement Learning and its Basic Implementation  from Scratch | by Tanvi Penumudy | Analytics Vidhya | Medium">
            <a:extLst>
              <a:ext uri="{FF2B5EF4-FFF2-40B4-BE49-F238E27FC236}">
                <a16:creationId xmlns:a16="http://schemas.microsoft.com/office/drawing/2014/main" id="{A37B35F5-6EF1-B612-B863-263AB00420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943" y="2603262"/>
            <a:ext cx="5344886" cy="2687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1548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79DA3-4A1A-74AE-26DA-FD6E65250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74119D-90D2-5043-F365-B3EB6F8479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36510"/>
                <a:ext cx="11353800" cy="5021489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Agente:</a:t>
                </a:r>
                <a:r>
                  <a:rPr lang="pt-BR" dirty="0"/>
                  <a:t> O tomador de decisões.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um robô, um carro autônomo.</a:t>
                </a:r>
              </a:p>
              <a:p>
                <a:r>
                  <a:rPr lang="pt-BR" b="1" dirty="0"/>
                  <a:t>Ambiente:</a:t>
                </a:r>
                <a:r>
                  <a:rPr lang="pt-BR" dirty="0"/>
                  <a:t> O mundo com o qual o agente interage.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um galpão, uma cidade, um tabuleiro de jogo.</a:t>
                </a:r>
              </a:p>
              <a:p>
                <a:r>
                  <a:rPr lang="pt-BR" b="1" dirty="0"/>
                  <a:t>Estado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dirty="0"/>
                  <a:t>): A situação atual do agente no ambiente.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A posição do agente e dos objetos/obstáculos no galpão, cidade ou jogo.</a:t>
                </a:r>
              </a:p>
              <a:p>
                <a:r>
                  <a:rPr lang="pt-BR" b="1" dirty="0"/>
                  <a:t>Ação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dirty="0"/>
                  <a:t>): O que o agente pode fazer.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movimentos (esquerda, direita, para cima/baixo), acelerar, frear.</a:t>
                </a:r>
              </a:p>
              <a:p>
                <a:r>
                  <a:rPr lang="pt-BR" b="1" dirty="0"/>
                  <a:t>Recompensa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/>
                  <a:t>): O </a:t>
                </a:r>
                <a:r>
                  <a:rPr lang="pt-BR" i="1" dirty="0"/>
                  <a:t>feedback</a:t>
                </a:r>
                <a:r>
                  <a:rPr lang="pt-BR" dirty="0"/>
                  <a:t> (positivo ou negativo) recebido após uma ação.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D674119D-90D2-5043-F365-B3EB6F8479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36510"/>
                <a:ext cx="11353800" cy="5021489"/>
              </a:xfrm>
              <a:blipFill rotWithShape="0">
                <a:blip r:embed="rId3"/>
                <a:stretch>
                  <a:fillRect l="-967" t="-194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4752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2BBDA-DAF3-B7AC-FB99-7C5B9285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D36C9-8653-8E41-11D8-585B6AC0D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1046E0-93D4-BF9F-C552-72A01838A8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70022" y="1836510"/>
                <a:ext cx="6821978" cy="5021489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agente e o ambiente interagem em etapas de tempo discreto: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+1, 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+2, …,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 cada instante t, o agente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observa o estado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pt-BR" dirty="0"/>
                  <a:t> (conjunto de estados possíveis).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base em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ele seleciona uma ação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pt-BR" dirty="0"/>
                  <a:t> (conjunto de ações disponíveis).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um instante depois, como consequência de sua ação, o agente recebe uma recompensa,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pt-BR" dirty="0"/>
                  <a:t> (conjunto de todas as possíveis recompensas).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se encontra em um novo estado,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81046E0-93D4-BF9F-C552-72A01838A8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70022" y="1836510"/>
                <a:ext cx="6821978" cy="5021489"/>
              </a:xfrm>
              <a:blipFill rotWithShape="0">
                <a:blip r:embed="rId3"/>
                <a:stretch>
                  <a:fillRect l="-1609" t="-1942" r="-294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" name="Picture 60">
            <a:extLst>
              <a:ext uri="{FF2B5EF4-FFF2-40B4-BE49-F238E27FC236}">
                <a16:creationId xmlns:a16="http://schemas.microsoft.com/office/drawing/2014/main" id="{22F895FA-1424-E50C-97F4-4F0BE0413C2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684" y="2934833"/>
            <a:ext cx="5007083" cy="2260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6556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2BBDA-DAF3-B7AC-FB99-7C5B9285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D36C9-8653-8E41-11D8-585B6AC0D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1046E0-93D4-BF9F-C552-72A01838A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6510"/>
            <a:ext cx="11353800" cy="5021489"/>
          </a:xfrm>
        </p:spPr>
        <p:txBody>
          <a:bodyPr>
            <a:normAutofit/>
          </a:bodyPr>
          <a:lstStyle/>
          <a:p>
            <a:r>
              <a:rPr lang="pt-BR" dirty="0"/>
              <a:t> O objetivo do agente é maximizar a soma total de recompensas ao longo do tempo, não apenas a recompensa imediata.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22F895FA-1424-E50C-97F4-4F0BE0413C2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2071" y="3283382"/>
            <a:ext cx="6167857" cy="2784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7037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2CAF6-B58D-36CC-E75E-B9EBC01B5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Algoritmos de RL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6FA30-D5F7-2E83-352E-3527EE589D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Alguns dos algoritmos de RL mais conhecidos e importantes são: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 err="1"/>
              <a:t>Q-Learning</a:t>
            </a:r>
            <a:endParaRPr lang="pt-BR" b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Um dos algoritmos mais clássicos.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Espaços de ações e estados discretos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Base de muitos métodos modernos.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b="1" dirty="0"/>
              <a:t>Deep Q-Network (DQN)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 err="1"/>
              <a:t>Combina</a:t>
            </a:r>
            <a:r>
              <a:rPr lang="en-US" dirty="0"/>
              <a:t> Q-learning com redes </a:t>
            </a:r>
            <a:r>
              <a:rPr lang="en-US" dirty="0" err="1"/>
              <a:t>neurais</a:t>
            </a:r>
            <a:r>
              <a:rPr lang="en-US" dirty="0"/>
              <a:t> </a:t>
            </a:r>
            <a:r>
              <a:rPr lang="en-US" dirty="0" err="1"/>
              <a:t>profundas</a:t>
            </a:r>
            <a:r>
              <a:rPr lang="en-US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 err="1"/>
              <a:t>Espaço</a:t>
            </a:r>
            <a:r>
              <a:rPr lang="en-US" dirty="0"/>
              <a:t> de </a:t>
            </a:r>
            <a:r>
              <a:rPr lang="en-US" dirty="0" err="1"/>
              <a:t>ações</a:t>
            </a:r>
            <a:r>
              <a:rPr lang="en-US" dirty="0"/>
              <a:t> </a:t>
            </a:r>
            <a:r>
              <a:rPr lang="en-US" dirty="0" err="1"/>
              <a:t>discreto</a:t>
            </a:r>
            <a:r>
              <a:rPr lang="en-US" dirty="0"/>
              <a:t> e </a:t>
            </a:r>
            <a:r>
              <a:rPr lang="en-US" dirty="0" err="1"/>
              <a:t>espaço</a:t>
            </a:r>
            <a:r>
              <a:rPr lang="en-US" dirty="0"/>
              <a:t> de </a:t>
            </a:r>
            <a:r>
              <a:rPr lang="en-US" dirty="0" err="1"/>
              <a:t>estados</a:t>
            </a:r>
            <a:r>
              <a:rPr lang="en-US" dirty="0"/>
              <a:t> </a:t>
            </a:r>
            <a:r>
              <a:rPr lang="en-US" dirty="0" err="1"/>
              <a:t>contínuo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DDPG (</a:t>
            </a:r>
            <a:r>
              <a:rPr lang="pt-BR" b="1" dirty="0" err="1"/>
              <a:t>Deep</a:t>
            </a:r>
            <a:r>
              <a:rPr lang="pt-BR" b="1" dirty="0"/>
              <a:t> </a:t>
            </a:r>
            <a:r>
              <a:rPr lang="pt-BR" b="1" dirty="0" err="1"/>
              <a:t>Deterministic</a:t>
            </a:r>
            <a:r>
              <a:rPr lang="pt-BR" b="1" dirty="0"/>
              <a:t> </a:t>
            </a:r>
            <a:r>
              <a:rPr lang="pt-BR" b="1" dirty="0" err="1"/>
              <a:t>Policy</a:t>
            </a:r>
            <a:r>
              <a:rPr lang="pt-BR" b="1" dirty="0"/>
              <a:t> </a:t>
            </a:r>
            <a:r>
              <a:rPr lang="pt-BR" b="1" dirty="0" err="1"/>
              <a:t>Gradient</a:t>
            </a:r>
            <a:r>
              <a:rPr lang="pt-BR" b="1" dirty="0"/>
              <a:t>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Extensão do DQN para espaços de ações e estados contínuos.</a:t>
            </a:r>
          </a:p>
          <a:p>
            <a:r>
              <a:rPr lang="pt-BR" dirty="0"/>
              <a:t>Devido a sua simplicidade e por introduzir de forma clara os conceitos fundamentais de aprendizado por reforço, focaremos no </a:t>
            </a:r>
            <a:r>
              <a:rPr lang="pt-BR" b="1" dirty="0" err="1"/>
              <a:t>Q-</a:t>
            </a:r>
            <a:r>
              <a:rPr lang="pt-BR" b="1" i="1" dirty="0" err="1"/>
              <a:t>learning</a:t>
            </a:r>
            <a:r>
              <a:rPr lang="pt-BR" dirty="0"/>
              <a:t>, proposto por Christopher Watkins em 1989.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892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E92F5-0D3A-0F43-282A-3A7C06039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</a:t>
            </a:r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?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B6A6C9-67EC-449F-0095-BDC7619374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77600" cy="5032375"/>
          </a:xfrm>
        </p:spPr>
        <p:txBody>
          <a:bodyPr/>
          <a:lstStyle/>
          <a:p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 é um algoritmo </a:t>
            </a:r>
            <a:r>
              <a:rPr lang="pt-BR" b="1" i="1" dirty="0"/>
              <a:t>model-</a:t>
            </a:r>
            <a:r>
              <a:rPr lang="pt-BR" b="1" i="1" dirty="0" err="1"/>
              <a:t>free</a:t>
            </a:r>
            <a:r>
              <a:rPr lang="pt-BR" dirty="0"/>
              <a:t>.</a:t>
            </a:r>
          </a:p>
          <a:p>
            <a:r>
              <a:rPr lang="pt-BR" dirty="0"/>
              <a:t>Ele não conhece as regras do ambiente. </a:t>
            </a:r>
          </a:p>
          <a:p>
            <a:r>
              <a:rPr lang="pt-BR" dirty="0"/>
              <a:t>Em RL, o </a:t>
            </a:r>
            <a:r>
              <a:rPr lang="pt-BR" b="1" dirty="0"/>
              <a:t>"modelo"</a:t>
            </a:r>
            <a:r>
              <a:rPr lang="pt-BR" dirty="0"/>
              <a:t> é o conhecimento das regras do ambiente.</a:t>
            </a:r>
          </a:p>
          <a:p>
            <a:r>
              <a:rPr lang="pt-BR" dirty="0"/>
              <a:t>Ele aprende pela experiência.</a:t>
            </a:r>
          </a:p>
          <a:p>
            <a:r>
              <a:rPr lang="en-US" dirty="0"/>
              <a:t>Ele </a:t>
            </a:r>
            <a:r>
              <a:rPr lang="en-US" dirty="0" err="1"/>
              <a:t>começa</a:t>
            </a:r>
            <a:r>
              <a:rPr lang="en-US" dirty="0"/>
              <a:t> “</a:t>
            </a:r>
            <a:r>
              <a:rPr lang="en-US" dirty="0" err="1"/>
              <a:t>cego</a:t>
            </a:r>
            <a:r>
              <a:rPr lang="en-US" dirty="0"/>
              <a:t>” e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pt-BR" dirty="0"/>
              <a:t>tentativa e erro vai aprendendo.</a:t>
            </a:r>
          </a:p>
          <a:p>
            <a:r>
              <a:rPr lang="pt-BR" dirty="0"/>
              <a:t>Se temos um modelo, sabemos exatamente o que vai acontecer antes de agir. </a:t>
            </a:r>
          </a:p>
          <a:p>
            <a:r>
              <a:rPr lang="pt-BR" dirty="0"/>
              <a:t>Por exemplo em um jogo de tabuleiro: </a:t>
            </a:r>
            <a:r>
              <a:rPr lang="pt-BR" i="1" dirty="0"/>
              <a:t>"Se eu estou na casa A e for para a direita, eu TENHO 100% de chance de cair na casa B e ganhar 5 pontos"</a:t>
            </a:r>
            <a:r>
              <a:rPr lang="pt-BR" dirty="0"/>
              <a:t>.</a:t>
            </a:r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053399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14044-1D84-E441-8AC3-FB3FD9221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93585-9339-7002-7C62-27331F24C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significa o "Q"?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483011-729D-F9ED-5FD6-580E6A4020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255829" cy="5032375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pt-BR" dirty="0"/>
                  <a:t>Significa </a:t>
                </a:r>
                <a:r>
                  <a:rPr lang="pt-BR" b="1" dirty="0"/>
                  <a:t>qualidade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Representa o quão boa é uma determinada ação em um estado específico.</a:t>
                </a:r>
              </a:p>
              <a:p>
                <a:r>
                  <a:rPr lang="pt-BR" dirty="0"/>
                  <a:t>Quem informa a </a:t>
                </a:r>
                <a:r>
                  <a:rPr lang="pt-BR" b="1" dirty="0"/>
                  <a:t>qualidade</a:t>
                </a:r>
                <a:r>
                  <a:rPr lang="pt-BR" dirty="0"/>
                  <a:t> é a </a:t>
                </a:r>
                <a:r>
                  <a:rPr lang="pt-BR" b="1" dirty="0"/>
                  <a:t>função </a:t>
                </a:r>
                <a:r>
                  <a:rPr lang="pt-BR" b="1" dirty="0" err="1"/>
                  <a:t>valor-ação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que mede o retorno (qualidade) esperado ao executar a ação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dirty="0"/>
                  <a:t> no estado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dirty="0"/>
                  <a:t>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>
                    <a:solidFill>
                      <a:srgbClr val="FF0000"/>
                    </a:solidFill>
                  </a:rPr>
                  <a:t>A </a:t>
                </a:r>
                <a:r>
                  <a:rPr lang="pt-BR" b="1" dirty="0">
                    <a:solidFill>
                      <a:srgbClr val="FF0000"/>
                    </a:solidFill>
                  </a:rPr>
                  <a:t>tabela-Q</a:t>
                </a:r>
                <a:r>
                  <a:rPr lang="pt-BR" dirty="0">
                    <a:solidFill>
                      <a:srgbClr val="FF0000"/>
                    </a:solidFill>
                  </a:rPr>
                  <a:t> é literalmente uma tabela (ou matriz) onde as linhas são os estados e as colunas são as ações. </a:t>
                </a:r>
              </a:p>
              <a:p>
                <a:r>
                  <a:rPr lang="pt-BR" dirty="0">
                    <a:solidFill>
                      <a:srgbClr val="FF0000"/>
                    </a:solidFill>
                  </a:rPr>
                  <a:t>A </a:t>
                </a:r>
                <a:r>
                  <a:rPr lang="pt-BR" b="1" dirty="0">
                    <a:solidFill>
                      <a:srgbClr val="FF0000"/>
                    </a:solidFill>
                  </a:rPr>
                  <a:t>tabela-Q</a:t>
                </a:r>
                <a:r>
                  <a:rPr lang="pt-BR" dirty="0">
                    <a:solidFill>
                      <a:srgbClr val="FF0000"/>
                    </a:solidFill>
                  </a:rPr>
                  <a:t> é uma representação discreta da </a:t>
                </a:r>
                <a:r>
                  <a:rPr lang="pt-BR" b="1" dirty="0">
                    <a:solidFill>
                      <a:srgbClr val="FF0000"/>
                    </a:solidFill>
                  </a:rPr>
                  <a:t>função </a:t>
                </a:r>
                <a:r>
                  <a:rPr lang="en-US" b="1" dirty="0">
                    <a:solidFill>
                      <a:srgbClr val="FF0000"/>
                    </a:solidFill>
                  </a:rPr>
                  <a:t>valor-</a:t>
                </a:r>
                <a:r>
                  <a:rPr lang="en-US" b="1" dirty="0" err="1">
                    <a:solidFill>
                      <a:srgbClr val="FF0000"/>
                    </a:solidFill>
                  </a:rPr>
                  <a:t>ação</a:t>
                </a:r>
                <a:r>
                  <a:rPr lang="pt-BR" dirty="0">
                    <a:solidFill>
                      <a:srgbClr val="FF0000"/>
                    </a:solidFill>
                  </a:rPr>
                  <a:t> onde cada entrada armazena um valor para um par estado–ação.</a:t>
                </a:r>
              </a:p>
              <a:p>
                <a:endParaRPr lang="pt-BR" dirty="0">
                  <a:solidFill>
                    <a:srgbClr val="FF0000"/>
                  </a:solidFill>
                </a:endParaRPr>
              </a:p>
              <a:p>
                <a:r>
                  <a:rPr lang="pt-BR" dirty="0">
                    <a:solidFill>
                      <a:srgbClr val="FF0000"/>
                    </a:solidFill>
                  </a:rPr>
                  <a:t>O objetivo do algoritmo é preencher esta tabela com os melhores valores possíveis para servir como uma "cola" (</a:t>
                </a:r>
                <a:r>
                  <a:rPr lang="pt-BR" i="1" dirty="0" err="1">
                    <a:solidFill>
                      <a:srgbClr val="FF0000"/>
                    </a:solidFill>
                  </a:rPr>
                  <a:t>cheat</a:t>
                </a:r>
                <a:r>
                  <a:rPr lang="pt-BR" i="1" dirty="0">
                    <a:solidFill>
                      <a:srgbClr val="FF0000"/>
                    </a:solidFill>
                  </a:rPr>
                  <a:t> </a:t>
                </a:r>
                <a:r>
                  <a:rPr lang="pt-BR" i="1" dirty="0" err="1">
                    <a:solidFill>
                      <a:srgbClr val="FF0000"/>
                    </a:solidFill>
                  </a:rPr>
                  <a:t>sheet</a:t>
                </a:r>
                <a:r>
                  <a:rPr lang="pt-BR" dirty="0">
                    <a:solidFill>
                      <a:srgbClr val="FF0000"/>
                    </a:solidFill>
                  </a:rPr>
                  <a:t>) para o agente, guiando-se para a </a:t>
                </a:r>
                <a:r>
                  <a:rPr lang="en-US" altLang="en-US" dirty="0" err="1">
                    <a:solidFill>
                      <a:srgbClr val="FF0000"/>
                    </a:solidFill>
                    <a:latin typeface="Google Sans Text"/>
                  </a:rPr>
                  <a:t>melhor</a:t>
                </a:r>
                <a:r>
                  <a:rPr lang="en-US" altLang="en-US" dirty="0">
                    <a:solidFill>
                      <a:srgbClr val="FF0000"/>
                    </a:solidFill>
                    <a:latin typeface="Google Sans Text"/>
                  </a:rPr>
                  <a:t> </a:t>
                </a:r>
                <a:r>
                  <a:rPr lang="en-US" altLang="en-US" dirty="0" err="1">
                    <a:solidFill>
                      <a:srgbClr val="FF0000"/>
                    </a:solidFill>
                    <a:latin typeface="Google Sans Text"/>
                  </a:rPr>
                  <a:t>decisão</a:t>
                </a:r>
                <a:r>
                  <a:rPr lang="en-US" altLang="en-US" dirty="0">
                    <a:solidFill>
                      <a:srgbClr val="FF0000"/>
                    </a:solidFill>
                    <a:latin typeface="Google Sans Text"/>
                  </a:rPr>
                  <a:t> sempre.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483011-729D-F9ED-5FD6-580E6A4020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255829" cy="5032375"/>
              </a:xfrm>
              <a:blipFill>
                <a:blip r:embed="rId3"/>
                <a:stretch>
                  <a:fillRect l="-867" t="-3027" r="-1029" b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659877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F2722-DA1E-D930-DC99-59F795E3E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D2D05-0E48-B94D-DBC7-FBDCBC17C0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5400" b="1" dirty="0">
                <a:solidFill>
                  <a:srgbClr val="FF0000"/>
                </a:solidFill>
              </a:rPr>
              <a:t>PAREI AQUI!!!!!!!!!!!!</a:t>
            </a:r>
            <a:endParaRPr lang="en-US" sz="5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90505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1E349-E10B-155D-AA4C-5C644F1CA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8E7639-2B44-D877-80E8-CB165DA367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0151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21798-FD00-A004-B931-C70303D79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794FEF-22E1-5F51-3E57-B993C6FCF0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 err="1">
                <a:latin typeface="Google Sans Text"/>
              </a:rPr>
              <a:t>Título</a:t>
            </a:r>
            <a:r>
              <a:rPr lang="en-US" altLang="en-US" b="1" dirty="0">
                <a:latin typeface="Google Sans Text"/>
              </a:rPr>
              <a:t>:</a:t>
            </a:r>
            <a:r>
              <a:rPr lang="en-US" altLang="en-US" dirty="0">
                <a:latin typeface="Google Sans Text"/>
              </a:rPr>
              <a:t> O </a:t>
            </a:r>
            <a:r>
              <a:rPr lang="en-US" altLang="en-US" dirty="0" err="1">
                <a:latin typeface="Google Sans Text"/>
              </a:rPr>
              <a:t>que</a:t>
            </a:r>
            <a:r>
              <a:rPr lang="en-US" altLang="en-US" dirty="0">
                <a:latin typeface="Google Sans Text"/>
              </a:rPr>
              <a:t> </a:t>
            </a:r>
            <a:r>
              <a:rPr lang="en-US" altLang="en-US" dirty="0" err="1">
                <a:latin typeface="Google Sans Text"/>
              </a:rPr>
              <a:t>significa</a:t>
            </a:r>
            <a:r>
              <a:rPr lang="en-US" altLang="en-US" dirty="0">
                <a:latin typeface="Google Sans Text"/>
              </a:rPr>
              <a:t> o "Q"?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 err="1">
                <a:latin typeface="Google Sans Text"/>
              </a:rPr>
              <a:t>Conteúdo</a:t>
            </a:r>
            <a:r>
              <a:rPr lang="en-US" altLang="en-US" b="1" dirty="0">
                <a:latin typeface="Google Sans Text"/>
              </a:rPr>
              <a:t>:</a:t>
            </a:r>
            <a:endParaRPr lang="en-US" altLang="en-US" dirty="0">
              <a:latin typeface="Google Sans Text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>
                <a:latin typeface="Google Sans Text"/>
              </a:rPr>
              <a:t>Q = Quality (</a:t>
            </a:r>
            <a:r>
              <a:rPr lang="en-US" altLang="en-US" b="1" dirty="0" err="1">
                <a:latin typeface="Google Sans Text"/>
              </a:rPr>
              <a:t>Qualidade</a:t>
            </a:r>
            <a:r>
              <a:rPr lang="en-US" altLang="en-US" b="1" dirty="0">
                <a:latin typeface="Google Sans Text"/>
              </a:rPr>
              <a:t>):</a:t>
            </a:r>
            <a:r>
              <a:rPr lang="en-US" altLang="en-US" dirty="0">
                <a:latin typeface="Google Sans Text"/>
              </a:rPr>
              <a:t> </a:t>
            </a:r>
            <a:r>
              <a:rPr lang="en-US" altLang="en-US" dirty="0" err="1">
                <a:latin typeface="Google Sans Text"/>
              </a:rPr>
              <a:t>Representa</a:t>
            </a:r>
            <a:r>
              <a:rPr lang="en-US" altLang="en-US" dirty="0">
                <a:latin typeface="Google Sans Text"/>
              </a:rPr>
              <a:t> o </a:t>
            </a:r>
            <a:r>
              <a:rPr lang="en-US" altLang="en-US" dirty="0" err="1">
                <a:latin typeface="Google Sans Text"/>
              </a:rPr>
              <a:t>quão</a:t>
            </a:r>
            <a:r>
              <a:rPr lang="en-US" altLang="en-US" dirty="0">
                <a:latin typeface="Google Sans Text"/>
              </a:rPr>
              <a:t> boa é </a:t>
            </a:r>
            <a:r>
              <a:rPr lang="en-US" altLang="en-US" dirty="0" err="1">
                <a:latin typeface="Google Sans Text"/>
              </a:rPr>
              <a:t>uma</a:t>
            </a:r>
            <a:r>
              <a:rPr lang="en-US" altLang="en-US" dirty="0">
                <a:latin typeface="Google Sans Text"/>
              </a:rPr>
              <a:t> </a:t>
            </a:r>
            <a:r>
              <a:rPr lang="en-US" altLang="en-US" dirty="0" err="1">
                <a:latin typeface="Google Sans Text"/>
              </a:rPr>
              <a:t>determinada</a:t>
            </a:r>
            <a:r>
              <a:rPr lang="en-US" altLang="en-US" dirty="0">
                <a:latin typeface="Google Sans Text"/>
              </a:rPr>
              <a:t> </a:t>
            </a:r>
            <a:r>
              <a:rPr lang="en-US" altLang="en-US" dirty="0" err="1">
                <a:latin typeface="Google Sans Text"/>
              </a:rPr>
              <a:t>ação</a:t>
            </a:r>
            <a:r>
              <a:rPr lang="en-US" altLang="en-US" dirty="0">
                <a:latin typeface="Google Sans Text"/>
              </a:rPr>
              <a:t> </a:t>
            </a:r>
            <a:r>
              <a:rPr lang="en-US" altLang="en-US" dirty="0" err="1">
                <a:latin typeface="Google Sans Text"/>
              </a:rPr>
              <a:t>em</a:t>
            </a:r>
            <a:r>
              <a:rPr lang="en-US" altLang="en-US" dirty="0">
                <a:latin typeface="Google Sans Text"/>
              </a:rPr>
              <a:t> um </a:t>
            </a:r>
            <a:r>
              <a:rPr lang="en-US" altLang="en-US" dirty="0" err="1">
                <a:latin typeface="Google Sans Text"/>
              </a:rPr>
              <a:t>estado</a:t>
            </a:r>
            <a:r>
              <a:rPr lang="en-US" altLang="en-US" dirty="0">
                <a:latin typeface="Google Sans Text"/>
              </a:rPr>
              <a:t> </a:t>
            </a:r>
            <a:r>
              <a:rPr lang="en-US" altLang="en-US" dirty="0" err="1">
                <a:latin typeface="Google Sans Text"/>
              </a:rPr>
              <a:t>específico</a:t>
            </a:r>
            <a:r>
              <a:rPr lang="en-US" altLang="en-US" dirty="0">
                <a:latin typeface="Google Sans Text"/>
              </a:rPr>
              <a:t>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>
                <a:latin typeface="Google Sans Text"/>
              </a:rPr>
              <a:t>A </a:t>
            </a:r>
            <a:r>
              <a:rPr lang="en-US" altLang="en-US" b="1" dirty="0" err="1">
                <a:latin typeface="Google Sans Text"/>
              </a:rPr>
              <a:t>Função</a:t>
            </a:r>
            <a:r>
              <a:rPr lang="en-US" altLang="en-US" b="1" dirty="0">
                <a:latin typeface="Google Sans Text"/>
              </a:rPr>
              <a:t> $Q(s, a)$:</a:t>
            </a:r>
            <a:r>
              <a:rPr lang="en-US" altLang="en-US" dirty="0">
                <a:latin typeface="Google Sans Text"/>
              </a:rPr>
              <a:t> É o </a:t>
            </a:r>
            <a:r>
              <a:rPr lang="en-US" altLang="en-US" dirty="0" err="1">
                <a:latin typeface="Google Sans Text"/>
              </a:rPr>
              <a:t>retorno</a:t>
            </a:r>
            <a:r>
              <a:rPr lang="en-US" altLang="en-US" dirty="0">
                <a:latin typeface="Google Sans Text"/>
              </a:rPr>
              <a:t> </a:t>
            </a:r>
            <a:r>
              <a:rPr lang="en-US" altLang="en-US" dirty="0" err="1">
                <a:latin typeface="Google Sans Text"/>
              </a:rPr>
              <a:t>esperado</a:t>
            </a:r>
            <a:r>
              <a:rPr lang="en-US" altLang="en-US" dirty="0">
                <a:latin typeface="Google Sans Text"/>
              </a:rPr>
              <a:t> (soma das </a:t>
            </a:r>
            <a:r>
              <a:rPr lang="en-US" altLang="en-US" dirty="0" err="1">
                <a:latin typeface="Google Sans Text"/>
              </a:rPr>
              <a:t>recompensas</a:t>
            </a:r>
            <a:r>
              <a:rPr lang="en-US" altLang="en-US" dirty="0">
                <a:latin typeface="Google Sans Text"/>
              </a:rPr>
              <a:t> </a:t>
            </a:r>
            <a:r>
              <a:rPr lang="en-US" altLang="en-US" dirty="0" err="1">
                <a:latin typeface="Google Sans Text"/>
              </a:rPr>
              <a:t>futuras</a:t>
            </a:r>
            <a:r>
              <a:rPr lang="en-US" altLang="en-US" dirty="0">
                <a:latin typeface="Google Sans Text"/>
              </a:rPr>
              <a:t>) se o </a:t>
            </a:r>
            <a:r>
              <a:rPr lang="en-US" altLang="en-US" dirty="0" err="1">
                <a:latin typeface="Google Sans Text"/>
              </a:rPr>
              <a:t>agente</a:t>
            </a:r>
            <a:r>
              <a:rPr lang="en-US" altLang="en-US" dirty="0">
                <a:latin typeface="Google Sans Text"/>
              </a:rPr>
              <a:t> </a:t>
            </a:r>
            <a:r>
              <a:rPr lang="en-US" altLang="en-US" dirty="0" err="1">
                <a:latin typeface="Google Sans Text"/>
              </a:rPr>
              <a:t>estiver</a:t>
            </a:r>
            <a:r>
              <a:rPr lang="en-US" altLang="en-US" dirty="0">
                <a:latin typeface="Google Sans Text"/>
              </a:rPr>
              <a:t> no </a:t>
            </a:r>
            <a:r>
              <a:rPr lang="en-US" altLang="en-US" dirty="0" err="1">
                <a:latin typeface="Google Sans Text"/>
              </a:rPr>
              <a:t>estado</a:t>
            </a:r>
            <a:r>
              <a:rPr lang="en-US" altLang="en-US" dirty="0">
                <a:latin typeface="Google Sans Text"/>
              </a:rPr>
              <a:t> $s$, </a:t>
            </a:r>
            <a:r>
              <a:rPr lang="en-US" altLang="en-US" dirty="0" err="1">
                <a:latin typeface="Google Sans Text"/>
              </a:rPr>
              <a:t>escolher</a:t>
            </a:r>
            <a:r>
              <a:rPr lang="en-US" altLang="en-US" dirty="0">
                <a:latin typeface="Google Sans Text"/>
              </a:rPr>
              <a:t> a </a:t>
            </a:r>
            <a:r>
              <a:rPr lang="en-US" altLang="en-US" dirty="0" err="1">
                <a:latin typeface="Google Sans Text"/>
              </a:rPr>
              <a:t>ação</a:t>
            </a:r>
            <a:r>
              <a:rPr lang="en-US" altLang="en-US" dirty="0">
                <a:latin typeface="Google Sans Text"/>
              </a:rPr>
              <a:t> $a$ e, a </a:t>
            </a:r>
            <a:r>
              <a:rPr lang="en-US" altLang="en-US" dirty="0" err="1">
                <a:latin typeface="Google Sans Text"/>
              </a:rPr>
              <a:t>partir</a:t>
            </a:r>
            <a:r>
              <a:rPr lang="en-US" altLang="en-US" dirty="0">
                <a:latin typeface="Google Sans Text"/>
              </a:rPr>
              <a:t> </a:t>
            </a:r>
            <a:r>
              <a:rPr lang="en-US" altLang="en-US" dirty="0" err="1">
                <a:latin typeface="Google Sans Text"/>
              </a:rPr>
              <a:t>daí</a:t>
            </a:r>
            <a:r>
              <a:rPr lang="en-US" altLang="en-US" dirty="0">
                <a:latin typeface="Google Sans Text"/>
              </a:rPr>
              <a:t>, </a:t>
            </a:r>
            <a:r>
              <a:rPr lang="en-US" altLang="en-US" dirty="0" err="1">
                <a:latin typeface="Google Sans Text"/>
              </a:rPr>
              <a:t>agir</a:t>
            </a:r>
            <a:r>
              <a:rPr lang="en-US" altLang="en-US" dirty="0">
                <a:latin typeface="Google Sans Text"/>
              </a:rPr>
              <a:t> de forma </a:t>
            </a:r>
            <a:r>
              <a:rPr lang="en-US" altLang="en-US" dirty="0" err="1">
                <a:latin typeface="Google Sans Text"/>
              </a:rPr>
              <a:t>otimizada</a:t>
            </a:r>
            <a:r>
              <a:rPr lang="en-US" altLang="en-US" dirty="0">
                <a:latin typeface="Google Sans Text"/>
              </a:rPr>
              <a:t>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 err="1">
                <a:latin typeface="Google Sans Text"/>
              </a:rPr>
              <a:t>Objetivo</a:t>
            </a:r>
            <a:r>
              <a:rPr lang="en-US" altLang="en-US" b="1" dirty="0">
                <a:latin typeface="Google Sans Text"/>
              </a:rPr>
              <a:t>:</a:t>
            </a:r>
            <a:r>
              <a:rPr lang="en-US" altLang="en-US" dirty="0">
                <a:latin typeface="Google Sans Text"/>
              </a:rPr>
              <a:t> </a:t>
            </a:r>
            <a:r>
              <a:rPr lang="en-US" altLang="en-US" dirty="0" err="1">
                <a:latin typeface="Google Sans Text"/>
              </a:rPr>
              <a:t>Encontrar</a:t>
            </a:r>
            <a:r>
              <a:rPr lang="en-US" altLang="en-US" dirty="0">
                <a:latin typeface="Google Sans Text"/>
              </a:rPr>
              <a:t> a </a:t>
            </a:r>
            <a:r>
              <a:rPr lang="en-US" altLang="en-US" dirty="0" err="1">
                <a:latin typeface="Google Sans Text"/>
              </a:rPr>
              <a:t>função</a:t>
            </a:r>
            <a:r>
              <a:rPr lang="en-US" altLang="en-US" dirty="0">
                <a:latin typeface="Google Sans Text"/>
              </a:rPr>
              <a:t> Q ideal </a:t>
            </a:r>
            <a:r>
              <a:rPr lang="en-US" altLang="en-US" dirty="0" err="1">
                <a:latin typeface="Google Sans Text"/>
              </a:rPr>
              <a:t>que</a:t>
            </a:r>
            <a:r>
              <a:rPr lang="en-US" altLang="en-US" dirty="0">
                <a:latin typeface="Google Sans Text"/>
              </a:rPr>
              <a:t> </a:t>
            </a:r>
            <a:r>
              <a:rPr lang="en-US" altLang="en-US" dirty="0" err="1">
                <a:latin typeface="Google Sans Text"/>
              </a:rPr>
              <a:t>guie</a:t>
            </a:r>
            <a:r>
              <a:rPr lang="en-US" altLang="en-US" dirty="0">
                <a:latin typeface="Google Sans Text"/>
              </a:rPr>
              <a:t> o </a:t>
            </a:r>
            <a:r>
              <a:rPr lang="en-US" altLang="en-US" dirty="0" err="1">
                <a:latin typeface="Google Sans Text"/>
              </a:rPr>
              <a:t>agente</a:t>
            </a:r>
            <a:r>
              <a:rPr lang="en-US" altLang="en-US" dirty="0">
                <a:latin typeface="Google Sans Text"/>
              </a:rPr>
              <a:t> para a </a:t>
            </a:r>
            <a:r>
              <a:rPr lang="en-US" altLang="en-US" dirty="0" err="1">
                <a:latin typeface="Google Sans Text"/>
              </a:rPr>
              <a:t>melhor</a:t>
            </a:r>
            <a:r>
              <a:rPr lang="en-US" altLang="en-US" dirty="0">
                <a:latin typeface="Google Sans Text"/>
              </a:rPr>
              <a:t> </a:t>
            </a:r>
            <a:r>
              <a:rPr lang="en-US" altLang="en-US" dirty="0" err="1">
                <a:latin typeface="Google Sans Text"/>
              </a:rPr>
              <a:t>decisão</a:t>
            </a:r>
            <a:r>
              <a:rPr lang="en-US" altLang="en-US" dirty="0">
                <a:latin typeface="Google Sans Text"/>
              </a:rPr>
              <a:t> sempre.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 err="1">
                <a:latin typeface="Google Sans Text"/>
              </a:rPr>
              <a:t>Sugestão</a:t>
            </a:r>
            <a:r>
              <a:rPr lang="en-US" altLang="en-US" b="1" dirty="0">
                <a:latin typeface="Google Sans Text"/>
              </a:rPr>
              <a:t> de </a:t>
            </a:r>
            <a:r>
              <a:rPr lang="en-US" altLang="en-US" b="1" dirty="0" err="1">
                <a:latin typeface="Google Sans Text"/>
              </a:rPr>
              <a:t>Figura</a:t>
            </a:r>
            <a:r>
              <a:rPr lang="en-US" altLang="en-US" b="1" dirty="0">
                <a:latin typeface="Google Sans Text"/>
              </a:rPr>
              <a:t>:</a:t>
            </a:r>
            <a:r>
              <a:rPr lang="en-US" altLang="en-US" dirty="0">
                <a:latin typeface="Google Sans Text"/>
              </a:rPr>
              <a:t> Uma </a:t>
            </a:r>
            <a:r>
              <a:rPr lang="en-US" altLang="en-US" dirty="0" err="1">
                <a:latin typeface="Google Sans Text"/>
              </a:rPr>
              <a:t>balança</a:t>
            </a:r>
            <a:r>
              <a:rPr lang="en-US" altLang="en-US" dirty="0">
                <a:latin typeface="Google Sans Text"/>
              </a:rPr>
              <a:t> </a:t>
            </a:r>
            <a:r>
              <a:rPr lang="en-US" altLang="en-US" dirty="0" err="1">
                <a:latin typeface="Google Sans Text"/>
              </a:rPr>
              <a:t>imaginária</a:t>
            </a:r>
            <a:r>
              <a:rPr lang="en-US" altLang="en-US" dirty="0">
                <a:latin typeface="Google Sans Text"/>
              </a:rPr>
              <a:t> </a:t>
            </a:r>
            <a:r>
              <a:rPr lang="en-US" altLang="en-US" dirty="0" err="1">
                <a:latin typeface="Google Sans Text"/>
              </a:rPr>
              <a:t>pesando</a:t>
            </a:r>
            <a:r>
              <a:rPr lang="en-US" altLang="en-US" dirty="0">
                <a:latin typeface="Google Sans Text"/>
              </a:rPr>
              <a:t> </a:t>
            </a:r>
            <a:r>
              <a:rPr lang="en-US" altLang="en-US" dirty="0" err="1">
                <a:latin typeface="Google Sans Text"/>
              </a:rPr>
              <a:t>diferentes</a:t>
            </a:r>
            <a:r>
              <a:rPr lang="en-US" altLang="en-US" dirty="0">
                <a:latin typeface="Google Sans Text"/>
              </a:rPr>
              <a:t> </a:t>
            </a:r>
            <a:r>
              <a:rPr lang="en-US" altLang="en-US" dirty="0" err="1">
                <a:latin typeface="Google Sans Text"/>
              </a:rPr>
              <a:t>ações</a:t>
            </a:r>
            <a:r>
              <a:rPr lang="en-US" altLang="en-US" dirty="0">
                <a:latin typeface="Google Sans Text"/>
              </a:rPr>
              <a:t>, </a:t>
            </a:r>
            <a:r>
              <a:rPr lang="en-US" altLang="en-US" dirty="0" err="1">
                <a:latin typeface="Google Sans Text"/>
              </a:rPr>
              <a:t>onde</a:t>
            </a:r>
            <a:r>
              <a:rPr lang="en-US" altLang="en-US" dirty="0">
                <a:latin typeface="Google Sans Text"/>
              </a:rPr>
              <a:t> a </a:t>
            </a:r>
            <a:r>
              <a:rPr lang="en-US" altLang="en-US" dirty="0" err="1">
                <a:latin typeface="Google Sans Text"/>
              </a:rPr>
              <a:t>ação</a:t>
            </a:r>
            <a:r>
              <a:rPr lang="en-US" altLang="en-US" dirty="0">
                <a:latin typeface="Google Sans Text"/>
              </a:rPr>
              <a:t> com o </a:t>
            </a:r>
            <a:r>
              <a:rPr lang="en-US" altLang="en-US" dirty="0" err="1">
                <a:latin typeface="Google Sans Text"/>
              </a:rPr>
              <a:t>maior</a:t>
            </a:r>
            <a:r>
              <a:rPr lang="en-US" altLang="en-US" dirty="0">
                <a:latin typeface="Google Sans Text"/>
              </a:rPr>
              <a:t> "Q" </a:t>
            </a:r>
            <a:r>
              <a:rPr lang="en-US" altLang="en-US" dirty="0" err="1">
                <a:latin typeface="Google Sans Text"/>
              </a:rPr>
              <a:t>brilha</a:t>
            </a:r>
            <a:r>
              <a:rPr lang="en-US" altLang="en-US" dirty="0">
                <a:latin typeface="Google Sans Text"/>
              </a:rPr>
              <a:t> </a:t>
            </a:r>
            <a:r>
              <a:rPr lang="en-US" altLang="en-US" dirty="0" err="1">
                <a:latin typeface="Google Sans Text"/>
              </a:rPr>
              <a:t>em</a:t>
            </a:r>
            <a:r>
              <a:rPr lang="en-US" altLang="en-US" dirty="0">
                <a:latin typeface="Google Sans Text"/>
              </a:rPr>
              <a:t> </a:t>
            </a:r>
            <a:r>
              <a:rPr lang="en-US" altLang="en-US" dirty="0" err="1">
                <a:latin typeface="Google Sans Text"/>
              </a:rPr>
              <a:t>destaque</a:t>
            </a:r>
            <a:r>
              <a:rPr lang="en-US" altLang="en-US" dirty="0">
                <a:latin typeface="Google Sans Text"/>
              </a:rPr>
              <a:t>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 err="1">
                <a:latin typeface="Google Sans Text"/>
              </a:rPr>
              <a:t>Notas</a:t>
            </a:r>
            <a:r>
              <a:rPr lang="en-US" altLang="en-US" b="1" dirty="0">
                <a:latin typeface="Google Sans Text"/>
              </a:rPr>
              <a:t> do Professor:</a:t>
            </a:r>
            <a:r>
              <a:rPr lang="en-US" altLang="en-US" dirty="0">
                <a:latin typeface="Google Sans Text"/>
              </a:rPr>
              <a:t> "Segundo o DASCIN, a </a:t>
            </a:r>
            <a:r>
              <a:rPr lang="en-US" altLang="en-US" dirty="0" err="1">
                <a:latin typeface="Google Sans Text"/>
              </a:rPr>
              <a:t>beleza</a:t>
            </a:r>
            <a:r>
              <a:rPr lang="en-US" altLang="en-US" dirty="0">
                <a:latin typeface="Google Sans Text"/>
              </a:rPr>
              <a:t> do Q-learning é </a:t>
            </a:r>
            <a:r>
              <a:rPr lang="en-US" altLang="en-US" dirty="0" err="1">
                <a:latin typeface="Google Sans Text"/>
              </a:rPr>
              <a:t>mapear</a:t>
            </a:r>
            <a:r>
              <a:rPr lang="en-US" altLang="en-US" dirty="0">
                <a:latin typeface="Google Sans Text"/>
              </a:rPr>
              <a:t> pares </a:t>
            </a:r>
            <a:r>
              <a:rPr lang="en-US" altLang="en-US" dirty="0" err="1">
                <a:latin typeface="Google Sans Text"/>
              </a:rPr>
              <a:t>estado-ação</a:t>
            </a:r>
            <a:r>
              <a:rPr lang="en-US" altLang="en-US" dirty="0">
                <a:latin typeface="Google Sans Text"/>
              </a:rPr>
              <a:t> para um valor </a:t>
            </a:r>
            <a:r>
              <a:rPr lang="en-US" altLang="en-US" dirty="0" err="1">
                <a:latin typeface="Google Sans Text"/>
              </a:rPr>
              <a:t>numérico</a:t>
            </a:r>
            <a:r>
              <a:rPr lang="en-US" altLang="en-US" dirty="0">
                <a:latin typeface="Google Sans Text"/>
              </a:rPr>
              <a:t>. Se o </a:t>
            </a:r>
            <a:r>
              <a:rPr lang="en-US" altLang="en-US" dirty="0" err="1">
                <a:latin typeface="Google Sans Text"/>
              </a:rPr>
              <a:t>seu</a:t>
            </a:r>
            <a:r>
              <a:rPr lang="en-US" altLang="en-US" dirty="0">
                <a:latin typeface="Google Sans Text"/>
              </a:rPr>
              <a:t> </a:t>
            </a:r>
            <a:r>
              <a:rPr lang="en-US" altLang="en-US" dirty="0" err="1">
                <a:latin typeface="Google Sans Text"/>
              </a:rPr>
              <a:t>algoritmo</a:t>
            </a:r>
            <a:r>
              <a:rPr lang="en-US" altLang="en-US" dirty="0">
                <a:latin typeface="Google Sans Text"/>
              </a:rPr>
              <a:t> sabe qual </a:t>
            </a:r>
            <a:r>
              <a:rPr lang="en-US" altLang="en-US" dirty="0" err="1">
                <a:latin typeface="Google Sans Text"/>
              </a:rPr>
              <a:t>ação</a:t>
            </a:r>
            <a:r>
              <a:rPr lang="en-US" altLang="en-US" dirty="0">
                <a:latin typeface="Google Sans Text"/>
              </a:rPr>
              <a:t> </a:t>
            </a:r>
            <a:r>
              <a:rPr lang="en-US" altLang="en-US" dirty="0" err="1">
                <a:latin typeface="Google Sans Text"/>
              </a:rPr>
              <a:t>tem</a:t>
            </a:r>
            <a:r>
              <a:rPr lang="en-US" altLang="en-US" dirty="0">
                <a:latin typeface="Google Sans Text"/>
              </a:rPr>
              <a:t> a </a:t>
            </a:r>
            <a:r>
              <a:rPr lang="en-US" altLang="en-US" dirty="0" err="1">
                <a:latin typeface="Google Sans Text"/>
              </a:rPr>
              <a:t>maior</a:t>
            </a:r>
            <a:r>
              <a:rPr lang="en-US" altLang="en-US" dirty="0">
                <a:latin typeface="Google Sans Text"/>
              </a:rPr>
              <a:t> '</a:t>
            </a:r>
            <a:r>
              <a:rPr lang="en-US" altLang="en-US" dirty="0" err="1">
                <a:latin typeface="Google Sans Text"/>
              </a:rPr>
              <a:t>Qualidade</a:t>
            </a:r>
            <a:r>
              <a:rPr lang="en-US" altLang="en-US" dirty="0">
                <a:latin typeface="Google Sans Text"/>
              </a:rPr>
              <a:t>' para o </a:t>
            </a:r>
            <a:r>
              <a:rPr lang="en-US" altLang="en-US" dirty="0" err="1">
                <a:latin typeface="Google Sans Text"/>
              </a:rPr>
              <a:t>estado</a:t>
            </a:r>
            <a:r>
              <a:rPr lang="en-US" altLang="en-US" dirty="0">
                <a:latin typeface="Google Sans Text"/>
              </a:rPr>
              <a:t> </a:t>
            </a:r>
            <a:r>
              <a:rPr lang="en-US" altLang="en-US" dirty="0" err="1">
                <a:latin typeface="Google Sans Text"/>
              </a:rPr>
              <a:t>em</a:t>
            </a:r>
            <a:r>
              <a:rPr lang="en-US" altLang="en-US" dirty="0">
                <a:latin typeface="Google Sans Text"/>
              </a:rPr>
              <a:t> </a:t>
            </a:r>
            <a:r>
              <a:rPr lang="en-US" altLang="en-US" dirty="0" err="1">
                <a:latin typeface="Google Sans Text"/>
              </a:rPr>
              <a:t>que</a:t>
            </a:r>
            <a:r>
              <a:rPr lang="en-US" altLang="en-US" dirty="0">
                <a:latin typeface="Google Sans Text"/>
              </a:rPr>
              <a:t> </a:t>
            </a:r>
            <a:r>
              <a:rPr lang="en-US" altLang="en-US" dirty="0" err="1">
                <a:latin typeface="Google Sans Text"/>
              </a:rPr>
              <a:t>ele</a:t>
            </a:r>
            <a:r>
              <a:rPr lang="en-US" altLang="en-US" dirty="0">
                <a:latin typeface="Google Sans Text"/>
              </a:rPr>
              <a:t> se </a:t>
            </a:r>
            <a:r>
              <a:rPr lang="en-US" altLang="en-US" dirty="0" err="1">
                <a:latin typeface="Google Sans Text"/>
              </a:rPr>
              <a:t>encontra</a:t>
            </a:r>
            <a:r>
              <a:rPr lang="en-US" altLang="en-US" dirty="0">
                <a:latin typeface="Google Sans Text"/>
              </a:rPr>
              <a:t>, o </a:t>
            </a:r>
            <a:r>
              <a:rPr lang="en-US" altLang="en-US" dirty="0" err="1">
                <a:latin typeface="Google Sans Text"/>
              </a:rPr>
              <a:t>problema</a:t>
            </a:r>
            <a:r>
              <a:rPr lang="en-US" altLang="en-US" dirty="0">
                <a:latin typeface="Google Sans Text"/>
              </a:rPr>
              <a:t> de </a:t>
            </a:r>
            <a:r>
              <a:rPr lang="en-US" altLang="en-US" dirty="0" err="1">
                <a:latin typeface="Google Sans Text"/>
              </a:rPr>
              <a:t>controle</a:t>
            </a:r>
            <a:r>
              <a:rPr lang="en-US" altLang="en-US" dirty="0">
                <a:latin typeface="Google Sans Text"/>
              </a:rPr>
              <a:t> </a:t>
            </a:r>
            <a:r>
              <a:rPr lang="en-US" altLang="en-US" dirty="0" err="1">
                <a:latin typeface="Google Sans Text"/>
              </a:rPr>
              <a:t>está</a:t>
            </a:r>
            <a:r>
              <a:rPr lang="en-US" altLang="en-US" dirty="0">
                <a:latin typeface="Google Sans Text"/>
              </a:rPr>
              <a:t> </a:t>
            </a:r>
            <a:r>
              <a:rPr lang="en-US" altLang="en-US" dirty="0" err="1">
                <a:latin typeface="Google Sans Text"/>
              </a:rPr>
              <a:t>resolvido</a:t>
            </a:r>
            <a:r>
              <a:rPr lang="en-US" altLang="en-US" dirty="0">
                <a:latin typeface="Google Sans Text"/>
              </a:rPr>
              <a:t>: basta </a:t>
            </a:r>
            <a:r>
              <a:rPr lang="en-US" altLang="en-US" dirty="0" err="1">
                <a:latin typeface="Google Sans Text"/>
              </a:rPr>
              <a:t>escolher</a:t>
            </a:r>
            <a:r>
              <a:rPr lang="en-US" altLang="en-US" dirty="0">
                <a:latin typeface="Google Sans Text"/>
              </a:rPr>
              <a:t> a </a:t>
            </a:r>
            <a:r>
              <a:rPr lang="en-US" altLang="en-US" dirty="0" err="1">
                <a:latin typeface="Google Sans Text"/>
              </a:rPr>
              <a:t>ação</a:t>
            </a:r>
            <a:r>
              <a:rPr lang="en-US" altLang="en-US" dirty="0">
                <a:latin typeface="Google Sans Text"/>
              </a:rPr>
              <a:t> com o </a:t>
            </a:r>
            <a:r>
              <a:rPr lang="en-US" altLang="en-US" dirty="0" err="1">
                <a:latin typeface="Google Sans Text"/>
              </a:rPr>
              <a:t>maior</a:t>
            </a:r>
            <a:r>
              <a:rPr lang="en-US" altLang="en-US" dirty="0">
                <a:latin typeface="Google Sans Text"/>
              </a:rPr>
              <a:t> Q."</a:t>
            </a:r>
            <a:endParaRPr lang="en-US" altLang="en-US" dirty="0">
              <a:latin typeface="Arial" panose="020B0604020202020204" pitchFamily="34" charset="0"/>
            </a:endParaRP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32076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B07B2-D2A5-6A39-907B-E2794AA9F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491F0A8-A92C-A246-1499-9F21D5DCABF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3839711"/>
            <a:ext cx="264816" cy="3231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7123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5D343F-1952-C012-31AC-0443BF9C1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074" name="Picture 2" descr="Reinforcement Learning In Real Life. Simple Explanation With Funny Cats">
            <a:extLst>
              <a:ext uri="{FF2B5EF4-FFF2-40B4-BE49-F238E27FC236}">
                <a16:creationId xmlns:a16="http://schemas.microsoft.com/office/drawing/2014/main" id="{BF6473FC-0F5F-F021-4950-C2C526AE66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2314" y="2392136"/>
            <a:ext cx="6487886" cy="36494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5379449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A32550-8C76-B013-2EC7-989D8C3B1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F043237-7757-7557-B63E-D4EB5152D4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72649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FB381-AAB9-2788-1601-EB1230F30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4AF40FF5-E3E4-99F0-8C87-687EB32C12F9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1690066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>
            <a:extLst>
              <a:ext uri="{FF2B5EF4-FFF2-40B4-BE49-F238E27FC236}">
                <a16:creationId xmlns:a16="http://schemas.microsoft.com/office/drawing/2014/main" id="{BB54A8AF-5D7A-DF48-6B51-A97D3BA5AE2B}"/>
              </a:ext>
            </a:extLst>
          </p:cNvPr>
          <p:cNvGrpSpPr/>
          <p:nvPr/>
        </p:nvGrpSpPr>
        <p:grpSpPr>
          <a:xfrm>
            <a:off x="2902132" y="2387826"/>
            <a:ext cx="5141381" cy="2330287"/>
            <a:chOff x="-330925" y="4347254"/>
            <a:chExt cx="5141381" cy="2330287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78F414E-0878-E9AC-3349-365D683589EF}"/>
                </a:ext>
              </a:extLst>
            </p:cNvPr>
            <p:cNvSpPr/>
            <p:nvPr/>
          </p:nvSpPr>
          <p:spPr>
            <a:xfrm>
              <a:off x="2090057" y="6262799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67A2140F-0BEB-DFFC-0173-0DDE81A0BAF4}"/>
                </a:ext>
              </a:extLst>
            </p:cNvPr>
            <p:cNvSpPr/>
            <p:nvPr/>
          </p:nvSpPr>
          <p:spPr>
            <a:xfrm>
              <a:off x="2090057" y="6032722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C67CE66F-B1C9-97C2-5191-323C447A4039}"/>
                </a:ext>
              </a:extLst>
            </p:cNvPr>
            <p:cNvSpPr/>
            <p:nvPr/>
          </p:nvSpPr>
          <p:spPr>
            <a:xfrm>
              <a:off x="2090057" y="4692368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44116E33-D3F4-D7FB-DCEF-760C9C024249}"/>
                </a:ext>
              </a:extLst>
            </p:cNvPr>
            <p:cNvSpPr/>
            <p:nvPr/>
          </p:nvSpPr>
          <p:spPr>
            <a:xfrm>
              <a:off x="2090057" y="4462291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Connector: Elbow 11">
              <a:extLst>
                <a:ext uri="{FF2B5EF4-FFF2-40B4-BE49-F238E27FC236}">
                  <a16:creationId xmlns:a16="http://schemas.microsoft.com/office/drawing/2014/main" id="{0375811A-BC31-5203-21BF-8C1AEDCA810A}"/>
                </a:ext>
              </a:extLst>
            </p:cNvPr>
            <p:cNvCxnSpPr>
              <a:cxnSpLocks/>
              <a:stCxn id="17" idx="3"/>
              <a:endCxn id="18" idx="3"/>
            </p:cNvCxnSpPr>
            <p:nvPr/>
          </p:nvCxnSpPr>
          <p:spPr>
            <a:xfrm>
              <a:off x="3298371" y="4693670"/>
              <a:ext cx="12700" cy="1569130"/>
            </a:xfrm>
            <a:prstGeom prst="bentConnector3">
              <a:avLst>
                <a:gd name="adj1" fmla="val 4542858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D957717F-F346-A328-0454-3432762A09F8}"/>
                </a:ext>
              </a:extLst>
            </p:cNvPr>
            <p:cNvSpPr/>
            <p:nvPr/>
          </p:nvSpPr>
          <p:spPr>
            <a:xfrm>
              <a:off x="2090057" y="4347254"/>
              <a:ext cx="1208314" cy="69283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Agente</a:t>
              </a:r>
              <a:endParaRPr lang="en-US" dirty="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39EF6FE5-6FBC-BC13-63C8-D6E9E3E272C4}"/>
                </a:ext>
              </a:extLst>
            </p:cNvPr>
            <p:cNvSpPr/>
            <p:nvPr/>
          </p:nvSpPr>
          <p:spPr>
            <a:xfrm>
              <a:off x="2090057" y="5916384"/>
              <a:ext cx="1208314" cy="69283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Ambiente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DEBC8956-45EC-9A9F-7CAD-7A468058ABF1}"/>
                    </a:ext>
                  </a:extLst>
                </p:cNvPr>
                <p:cNvSpPr txBox="1"/>
                <p:nvPr/>
              </p:nvSpPr>
              <p:spPr>
                <a:xfrm>
                  <a:off x="3863340" y="5292917"/>
                  <a:ext cx="94711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600" dirty="0"/>
                    <a:t>ação,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DEBC8956-45EC-9A9F-7CAD-7A468058AB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63340" y="5292917"/>
                  <a:ext cx="947116" cy="338554"/>
                </a:xfrm>
                <a:prstGeom prst="rect">
                  <a:avLst/>
                </a:prstGeom>
                <a:blipFill>
                  <a:blip r:embed="rId2"/>
                  <a:stretch>
                    <a:fillRect l="-3226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DF4A4-00E2-9B10-CC12-B0D274CCB842}"/>
                    </a:ext>
                  </a:extLst>
                </p:cNvPr>
                <p:cNvSpPr txBox="1"/>
                <p:nvPr/>
              </p:nvSpPr>
              <p:spPr>
                <a:xfrm>
                  <a:off x="1563188" y="5778428"/>
                  <a:ext cx="52686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DF4A4-00E2-9B10-CC12-B0D274CCB8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3188" y="5778428"/>
                  <a:ext cx="526868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76B01EB-53C8-C2B2-1104-8A2BC1DE4624}"/>
                    </a:ext>
                  </a:extLst>
                </p:cNvPr>
                <p:cNvSpPr txBox="1"/>
                <p:nvPr/>
              </p:nvSpPr>
              <p:spPr>
                <a:xfrm>
                  <a:off x="1537788" y="6308209"/>
                  <a:ext cx="52686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76B01EB-53C8-C2B2-1104-8A2BC1DE46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37788" y="6308209"/>
                  <a:ext cx="526868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34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B0A48D5-77C9-C29A-8EF5-BED0E6E38CD2}"/>
                </a:ext>
              </a:extLst>
            </p:cNvPr>
            <p:cNvSpPr/>
            <p:nvPr/>
          </p:nvSpPr>
          <p:spPr>
            <a:xfrm>
              <a:off x="1175657" y="6032722"/>
              <a:ext cx="370114" cy="2300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48728DA3-DA01-CAB9-540E-37EADA51BE57}"/>
                </a:ext>
              </a:extLst>
            </p:cNvPr>
            <p:cNvSpPr/>
            <p:nvPr/>
          </p:nvSpPr>
          <p:spPr>
            <a:xfrm>
              <a:off x="1175656" y="6262798"/>
              <a:ext cx="370114" cy="2300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20E553C2-F044-7C77-F846-B80760291225}"/>
                </a:ext>
              </a:extLst>
            </p:cNvPr>
            <p:cNvCxnSpPr>
              <a:cxnSpLocks/>
              <a:stCxn id="20" idx="1"/>
              <a:endCxn id="33" idx="1"/>
            </p:cNvCxnSpPr>
            <p:nvPr/>
          </p:nvCxnSpPr>
          <p:spPr>
            <a:xfrm rot="10800000" flipH="1">
              <a:off x="1175657" y="4807406"/>
              <a:ext cx="914400" cy="1340354"/>
            </a:xfrm>
            <a:prstGeom prst="bentConnector3">
              <a:avLst>
                <a:gd name="adj1" fmla="val -16667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6AEFECE4-5D15-A8B3-453D-610BA5638D05}"/>
                </a:ext>
              </a:extLst>
            </p:cNvPr>
            <p:cNvCxnSpPr>
              <a:stCxn id="27" idx="1"/>
              <a:endCxn id="20" idx="3"/>
            </p:cNvCxnSpPr>
            <p:nvPr/>
          </p:nvCxnSpPr>
          <p:spPr>
            <a:xfrm flipH="1">
              <a:off x="1545771" y="6147760"/>
              <a:ext cx="54428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B6FFE6A0-55AE-62C1-3F6E-5291D436B5AB}"/>
                </a:ext>
              </a:extLst>
            </p:cNvPr>
            <p:cNvCxnSpPr>
              <a:cxnSpLocks/>
              <a:stCxn id="26" idx="1"/>
              <a:endCxn id="21" idx="3"/>
            </p:cNvCxnSpPr>
            <p:nvPr/>
          </p:nvCxnSpPr>
          <p:spPr>
            <a:xfrm flipH="1" flipV="1">
              <a:off x="1545770" y="6377836"/>
              <a:ext cx="54428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: Elbow 39">
              <a:extLst>
                <a:ext uri="{FF2B5EF4-FFF2-40B4-BE49-F238E27FC236}">
                  <a16:creationId xmlns:a16="http://schemas.microsoft.com/office/drawing/2014/main" id="{73307ED6-2342-7662-DD14-B12FEDB6983C}"/>
                </a:ext>
              </a:extLst>
            </p:cNvPr>
            <p:cNvCxnSpPr>
              <a:stCxn id="21" idx="1"/>
              <a:endCxn id="34" idx="1"/>
            </p:cNvCxnSpPr>
            <p:nvPr/>
          </p:nvCxnSpPr>
          <p:spPr>
            <a:xfrm rot="10800000" flipH="1">
              <a:off x="1175655" y="4577330"/>
              <a:ext cx="914401" cy="1800507"/>
            </a:xfrm>
            <a:prstGeom prst="bentConnector3">
              <a:avLst>
                <a:gd name="adj1" fmla="val -54167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6B737731-0DAB-FB54-8D60-66210A48E60A}"/>
                </a:ext>
              </a:extLst>
            </p:cNvPr>
            <p:cNvCxnSpPr>
              <a:cxnSpLocks/>
              <a:stCxn id="20" idx="1"/>
              <a:endCxn id="20" idx="3"/>
            </p:cNvCxnSpPr>
            <p:nvPr/>
          </p:nvCxnSpPr>
          <p:spPr>
            <a:xfrm>
              <a:off x="1175657" y="6147760"/>
              <a:ext cx="37011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7AED5B7A-243B-6FAD-C904-A72171DA10E4}"/>
                </a:ext>
              </a:extLst>
            </p:cNvPr>
            <p:cNvCxnSpPr>
              <a:cxnSpLocks/>
              <a:stCxn id="21" idx="1"/>
              <a:endCxn id="21" idx="3"/>
            </p:cNvCxnSpPr>
            <p:nvPr/>
          </p:nvCxnSpPr>
          <p:spPr>
            <a:xfrm>
              <a:off x="1175656" y="6377836"/>
              <a:ext cx="37011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98BB9BE-FF5B-BD53-700F-EF25882F8757}"/>
                    </a:ext>
                  </a:extLst>
                </p:cNvPr>
                <p:cNvSpPr txBox="1"/>
                <p:nvPr/>
              </p:nvSpPr>
              <p:spPr>
                <a:xfrm>
                  <a:off x="1001213" y="5260489"/>
                  <a:ext cx="1106260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600" dirty="0"/>
                    <a:t>reforço,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98BB9BE-FF5B-BD53-700F-EF25882F87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1213" y="5260489"/>
                  <a:ext cx="1106260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3315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033C1F87-4FD6-565B-5CE1-B94FB9D5F703}"/>
                    </a:ext>
                  </a:extLst>
                </p:cNvPr>
                <p:cNvSpPr txBox="1"/>
                <p:nvPr/>
              </p:nvSpPr>
              <p:spPr>
                <a:xfrm>
                  <a:off x="-330925" y="5260489"/>
                  <a:ext cx="100438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600" dirty="0"/>
                    <a:t>estado,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033C1F87-4FD6-565B-5CE1-B94FB9D5F7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30925" y="5260489"/>
                  <a:ext cx="1004386" cy="338554"/>
                </a:xfrm>
                <a:prstGeom prst="rect">
                  <a:avLst/>
                </a:prstGeom>
                <a:blipFill>
                  <a:blip r:embed="rId6"/>
                  <a:stretch>
                    <a:fillRect l="-3030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1A8E8F72-A082-BAC3-6C41-D1C1204F72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52119" y="6028070"/>
              <a:ext cx="1" cy="460152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9884865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8384</TotalTime>
  <Words>1316</Words>
  <Application>Microsoft Office PowerPoint</Application>
  <PresentationFormat>Widescreen</PresentationFormat>
  <Paragraphs>116</Paragraphs>
  <Slides>23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1" baseType="lpstr">
      <vt:lpstr>Arial</vt:lpstr>
      <vt:lpstr>Calibri</vt:lpstr>
      <vt:lpstr>Calibri Light</vt:lpstr>
      <vt:lpstr>Cambria Math</vt:lpstr>
      <vt:lpstr>Courier New</vt:lpstr>
      <vt:lpstr>Google Sans Text</vt:lpstr>
      <vt:lpstr>Wingdings</vt:lpstr>
      <vt:lpstr>Tema do Office</vt:lpstr>
      <vt:lpstr>C24 – Inteligência Artificial: Q-learning</vt:lpstr>
      <vt:lpstr>PowerPoint Presentation</vt:lpstr>
      <vt:lpstr>O que é reinforcement learning?</vt:lpstr>
      <vt:lpstr>Diferenças chave entre os paradigmas</vt:lpstr>
      <vt:lpstr>Diferenças chave entre os paradigmas</vt:lpstr>
      <vt:lpstr>Diferenças chave entre os paradigmas</vt:lpstr>
      <vt:lpstr>Analogia</vt:lpstr>
      <vt:lpstr>Conceitos fundamentais de RL</vt:lpstr>
      <vt:lpstr>Conceitos fundamentais de RL</vt:lpstr>
      <vt:lpstr>Conceitos fundamentais de RL</vt:lpstr>
      <vt:lpstr>Algoritmos de RL</vt:lpstr>
      <vt:lpstr>O que é Q-learning?</vt:lpstr>
      <vt:lpstr>O que significa o "Q"?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Referências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1758</cp:revision>
  <dcterms:created xsi:type="dcterms:W3CDTF">2020-01-20T13:50:05Z</dcterms:created>
  <dcterms:modified xsi:type="dcterms:W3CDTF">2026-04-24T14:42:16Z</dcterms:modified>
</cp:coreProperties>
</file>