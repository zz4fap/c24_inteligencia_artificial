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6" r:id="rId2"/>
    <p:sldId id="315" r:id="rId3"/>
    <p:sldId id="307" r:id="rId4"/>
    <p:sldId id="317" r:id="rId5"/>
    <p:sldId id="320" r:id="rId6"/>
    <p:sldId id="321" r:id="rId7"/>
    <p:sldId id="318" r:id="rId8"/>
    <p:sldId id="319" r:id="rId9"/>
    <p:sldId id="325" r:id="rId10"/>
    <p:sldId id="326" r:id="rId11"/>
    <p:sldId id="327" r:id="rId12"/>
    <p:sldId id="328" r:id="rId13"/>
    <p:sldId id="330" r:id="rId14"/>
    <p:sldId id="334" r:id="rId15"/>
    <p:sldId id="333" r:id="rId16"/>
    <p:sldId id="335" r:id="rId17"/>
    <p:sldId id="338" r:id="rId18"/>
    <p:sldId id="336" r:id="rId19"/>
    <p:sldId id="348" r:id="rId20"/>
    <p:sldId id="339" r:id="rId21"/>
    <p:sldId id="337" r:id="rId22"/>
    <p:sldId id="351" r:id="rId23"/>
    <p:sldId id="340" r:id="rId24"/>
    <p:sldId id="350" r:id="rId25"/>
    <p:sldId id="352" r:id="rId26"/>
    <p:sldId id="349" r:id="rId27"/>
    <p:sldId id="257" r:id="rId28"/>
    <p:sldId id="258" r:id="rId29"/>
    <p:sldId id="259" r:id="rId30"/>
    <p:sldId id="260" r:id="rId31"/>
    <p:sldId id="262" r:id="rId32"/>
    <p:sldId id="261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9" r:id="rId42"/>
    <p:sldId id="271" r:id="rId43"/>
    <p:sldId id="276" r:id="rId44"/>
    <p:sldId id="272" r:id="rId45"/>
    <p:sldId id="275" r:id="rId46"/>
    <p:sldId id="273" r:id="rId47"/>
    <p:sldId id="281" r:id="rId48"/>
    <p:sldId id="341" r:id="rId49"/>
    <p:sldId id="342" r:id="rId50"/>
    <p:sldId id="343" r:id="rId51"/>
    <p:sldId id="344" r:id="rId52"/>
    <p:sldId id="346" r:id="rId53"/>
    <p:sldId id="347" r:id="rId54"/>
    <p:sldId id="293" r:id="rId55"/>
    <p:sldId id="306" r:id="rId56"/>
    <p:sldId id="324" r:id="rId57"/>
    <p:sldId id="323" r:id="rId58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87046" autoAdjust="0"/>
  </p:normalViewPr>
  <p:slideViewPr>
    <p:cSldViewPr snapToGrid="0">
      <p:cViewPr varScale="1">
        <p:scale>
          <a:sx n="96" d="100"/>
          <a:sy n="96" d="100"/>
        </p:scale>
        <p:origin x="1476" y="90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5/05/2026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um aprendizado por tentativa e erro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focado em decisão sequencial.</a:t>
            </a: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88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6691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C3711-83BC-221A-A341-2BE62BCF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7728F-CFA3-D0A6-7780-F800EBAC1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3E5CB-A8B8-7F4B-200F-94D044C81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D8EC2-522A-3A24-97FD-162C1CF3C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326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00EE-A6A2-2235-BCC6-6DE0C5D8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41149-DCAF-E8F8-FB78-0B242E221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5329E-ECB5-4CB1-3A33-CFC57176F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B7C02-5FA9-66E4-2433-F97393A5C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577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E69C-0407-4619-FFB1-7502CF03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6894B-B13E-3C0F-BEC3-8A663E985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A1B01-A242-46E3-F92E-FB0EA2882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915CE-E13E-5840-D0C6-249ACB7C2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15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Analogia: treinar um cão.</a:t>
            </a:r>
            <a:br>
              <a:rPr lang="pt-BR" dirty="0"/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“Sentou” → petisco (recompensa). “Pulou” → bronca (penalidade).</a:t>
            </a:r>
            <a:br>
              <a:rPr lang="pt-BR" dirty="0"/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 o tempo ele descobre a ação que maximiza petiscos.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007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processo ocorre em etapas de tempo discretas (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$t, t+1, t+2...$</a:t>
            </a:r>
            <a:r>
              <a:rPr lang="pt-BR" dirty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445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A5E72-3763-6194-5E85-BE263540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66988-6655-8B01-840E-0BE3EDB68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9F3D0-11CA-2E8D-04C5-104C59DCE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processo ocorre em etapas de tempo discretas (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$t, t+1, t+2...$</a:t>
            </a:r>
            <a:r>
              <a:rPr lang="pt-BR" dirty="0"/>
              <a:t>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0BCD7-F825-C67D-D845-8316B4C4B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267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A5E72-3763-6194-5E85-BE263540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66988-6655-8B01-840E-0BE3EDB68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9F3D0-11CA-2E8D-04C5-104C59DCE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processo ocorre em etapas de tempo discretas (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$t, t+1, t+2...$</a:t>
            </a:r>
            <a:r>
              <a:rPr lang="pt-BR" dirty="0"/>
              <a:t>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0BCD7-F825-C67D-D845-8316B4C4B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172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• PPO (Proximal </a:t>
            </a:r>
            <a:r>
              <a:rPr lang="pt-BR" b="1" dirty="0" err="1"/>
              <a:t>Policy</a:t>
            </a:r>
            <a:r>
              <a:rPr lang="pt-BR" b="1" dirty="0"/>
              <a:t> </a:t>
            </a:r>
            <a:r>
              <a:rPr lang="pt-BR" b="1" dirty="0" err="1"/>
              <a:t>Optimization</a:t>
            </a:r>
            <a:r>
              <a:rPr lang="pt-BR" b="1" dirty="0"/>
              <a:t>)</a:t>
            </a:r>
          </a:p>
          <a:p>
            <a:r>
              <a:rPr lang="pt-BR" dirty="0"/>
              <a:t>Um dos mais usados hoje. </a:t>
            </a:r>
          </a:p>
          <a:p>
            <a:r>
              <a:rPr lang="pt-BR" dirty="0"/>
              <a:t>Estável e relativamente simples. </a:t>
            </a:r>
          </a:p>
          <a:p>
            <a:r>
              <a:rPr lang="pt-BR" dirty="0"/>
              <a:t>Muito popular em aplicações práticas.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0457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algoritmo </a:t>
            </a:r>
            <a:r>
              <a:rPr lang="pt-BR" b="1" i="1" dirty="0"/>
              <a:t>model-</a:t>
            </a:r>
            <a:r>
              <a:rPr lang="pt-BR" b="1" i="1" dirty="0" err="1"/>
              <a:t>based</a:t>
            </a:r>
            <a:r>
              <a:rPr lang="pt-BR" dirty="0"/>
              <a:t> é como alguém que estuda o mapa (regras do ambiente) de uma cidade antes de sair de casa. </a:t>
            </a:r>
          </a:p>
          <a:p>
            <a:r>
              <a:rPr lang="pt-BR" dirty="0"/>
              <a:t>O </a:t>
            </a:r>
            <a:r>
              <a:rPr lang="pt-BR" b="1" dirty="0" err="1"/>
              <a:t>Q-</a:t>
            </a:r>
            <a:r>
              <a:rPr lang="pt-BR" b="1" i="1" dirty="0" err="1"/>
              <a:t>learning</a:t>
            </a:r>
            <a:r>
              <a:rPr lang="pt-BR" b="1" dirty="0"/>
              <a:t> </a:t>
            </a:r>
            <a:r>
              <a:rPr lang="pt-BR" dirty="0"/>
              <a:t>é a pessoa que sai andando sem mapa, errando até decorar o caminho.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6586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DD39D-8438-4F45-71B4-9F874742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22D5B-AD1C-1DB1-53A1-6978329C3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7455F-337E-5D6B-A02A-380397063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Encontrar a função Q ideal que guie o agente para a melhor decisão sempre.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24413-04E6-A99E-E6BA-F56674216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245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D62A6-7D00-3C53-05CF-A6197A836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DE321-184D-9B7D-CEA2-205606B85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764DC-3F53-958D-91A3-DB06BD4A3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Encontrar a função Q ideal que guie o agente para a melhor decisão sempre.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07E3E-C02F-977B-3C72-FEF303694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699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b="1" dirty="0"/>
                  <a:t>épsilon (</a:t>
                </a:r>
                <a14:m>
                  <m:oMath xmlns:m="http://schemas.openxmlformats.org/officeDocument/2006/math">
                    <m:r>
                      <a:rPr lang="pt-BR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pt-BR" sz="1200" b="1" dirty="0"/>
                  <a:t>)-</a:t>
                </a:r>
                <a:r>
                  <a:rPr lang="pt-BR" sz="1200" b="1" dirty="0" err="1"/>
                  <a:t>greedy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b="1" dirty="0"/>
                  <a:t>épsilon (</a:t>
                </a:r>
                <a:r>
                  <a:rPr lang="pt-BR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𝜺</a:t>
                </a:r>
                <a:r>
                  <a:rPr lang="pt-BR" sz="1200" b="1" dirty="0"/>
                  <a:t>)-</a:t>
                </a:r>
                <a:r>
                  <a:rPr lang="pt-BR" sz="1200" b="1" dirty="0" err="1"/>
                  <a:t>greedy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8120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Uma pessoa de frente para dois restaurantes: um que ela sempre vai e ama (Explotação) e um restaurante novo recém-inaugurado (Exploração).</a:t>
            </a:r>
          </a:p>
          <a:p>
            <a:endParaRPr lang="pt-BR" dirty="0"/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Quero a recompensa imediata? (explorar o que já sei que é bom)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Quero descobrir algo potencialmente melhor? (explorar o desconhecido)</a:t>
            </a:r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0503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Uma pessoa de frente para dois restaurantes: um que ela sempre vai e ama (Explotação) e um restaurante novo recém-inaugurado (Exploração).</a:t>
            </a:r>
          </a:p>
          <a:p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6773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não há uma regra teórica rígida, mas 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sensibilidade prática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mostra que manter as recompensas numa escala moderada (tipicamente entre -1 e 1) é uma escolha segura que evita uma série de armadilhas numéricas e facilita a sintonia dos hiperparâmetros.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Recomendações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Comece com recompensas no intervalo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[-1, 1]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é o mais testado e robusto.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 o ambiente forneça recompensas muito maiores,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reescale‑as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antes de alimentar o agente.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possível, faça com que o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retorno total máximo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um episódio não exceda algo como 100~1000, para evitar que os Q‑valores cresçam indefinidamente.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767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0629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noProof="0" dirty="0"/>
                  <a:t>Se a</a:t>
                </a:r>
                <a:r>
                  <a:rPr lang="pt-BR" baseline="0" noProof="0" dirty="0"/>
                  <a:t> recompensa atual mais a estimativa da recompensa futura (TD error =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baseline="0" noProof="0" dirty="0"/>
                  <a:t>) for baixa, a diferença TD </a:t>
                </a:r>
                <a:r>
                  <a:rPr lang="pt-BR" baseline="0" noProof="0" dirty="0" err="1"/>
                  <a:t>error</a:t>
                </a:r>
                <a:r>
                  <a:rPr lang="pt-BR" baseline="0" noProof="0" dirty="0"/>
                  <a:t> e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pt-BR" noProof="0" dirty="0"/>
                  <a:t> poderá ser negativa, diminuindo a qualidade da</a:t>
                </a:r>
                <a:r>
                  <a:rPr lang="pt-BR" baseline="0" noProof="0" dirty="0"/>
                  <a:t> ação a no estado s.</a:t>
                </a:r>
              </a:p>
              <a:p>
                <a:r>
                  <a:rPr lang="pt-BR" baseline="0" noProof="0" dirty="0"/>
                  <a:t>TD error =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noProof="0" dirty="0"/>
                  <a:t> é chamado de alvo, ou seja, queremos que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pt-BR" noProof="0" dirty="0"/>
                  <a:t> se aproxime dele ao longo do tempo iterativamente.</a:t>
                </a:r>
              </a:p>
              <a:p>
                <a:r>
                  <a:rPr lang="pt-BR" dirty="0"/>
                  <a:t>O aprendizado busca ajustar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pt-BR" dirty="0"/>
                  <a:t> na direção do alvo</a:t>
                </a:r>
                <a:endParaRPr lang="pt-BR" noProof="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noProof="0" dirty="0" smtClean="0"/>
                  <a:t>Se a</a:t>
                </a:r>
                <a:r>
                  <a:rPr lang="pt-BR" baseline="0" noProof="0" dirty="0" smtClean="0"/>
                  <a:t> recompensa atual mais a estimativa da recompensa futura (TD error = </a:t>
                </a:r>
                <a:r>
                  <a:rPr lang="pt-BR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𝑟+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l-G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max)┬(𝑎^′ )⁡𝑄(𝑠^′,𝑎^′ )</a:t>
                </a:r>
                <a:r>
                  <a:rPr lang="pt-BR" baseline="0" noProof="0" dirty="0" smtClean="0"/>
                  <a:t>) for baixa, a diferença TD </a:t>
                </a:r>
                <a:r>
                  <a:rPr lang="pt-BR" baseline="0" noProof="0" dirty="0" err="1" smtClean="0"/>
                  <a:t>error</a:t>
                </a:r>
                <a:r>
                  <a:rPr lang="pt-BR" baseline="0" noProof="0" dirty="0" smtClean="0"/>
                  <a:t> e </a:t>
                </a:r>
                <a:r>
                  <a:rPr lang="pt-BR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𝑄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(𝑠,𝑎)</a:t>
                </a:r>
                <a:r>
                  <a:rPr lang="pt-BR" noProof="0" dirty="0" smtClean="0"/>
                  <a:t> poderá ser negativa, diminuindo a qualidade da</a:t>
                </a:r>
                <a:r>
                  <a:rPr lang="pt-BR" baseline="0" noProof="0" dirty="0" smtClean="0"/>
                  <a:t> ação a no estado s.</a:t>
                </a:r>
              </a:p>
              <a:p>
                <a:r>
                  <a:rPr lang="pt-BR" baseline="0" noProof="0" dirty="0" smtClean="0"/>
                  <a:t>TD error = </a:t>
                </a:r>
                <a:r>
                  <a:rPr lang="pt-BR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𝑟+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l-G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max)┬(𝑎^′ )⁡𝑄(𝑠^′,𝑎^′ )</a:t>
                </a:r>
                <a:r>
                  <a:rPr lang="pt-BR" noProof="0" dirty="0" smtClean="0"/>
                  <a:t> é chamado de alvo, ou seja, queremos que </a:t>
                </a:r>
                <a:r>
                  <a:rPr lang="pt-BR" i="0" smtClean="0">
                    <a:latin typeface="Cambria Math" panose="02040503050406030204" pitchFamily="18" charset="0"/>
                  </a:rPr>
                  <a:t>𝑄</a:t>
                </a:r>
                <a:r>
                  <a:rPr lang="pt-BR" i="0">
                    <a:latin typeface="Cambria Math" panose="02040503050406030204" pitchFamily="18" charset="0"/>
                  </a:rPr>
                  <a:t>(𝑠,𝑎)</a:t>
                </a:r>
                <a:r>
                  <a:rPr lang="pt-BR" noProof="0" dirty="0" smtClean="0"/>
                  <a:t> se aproxime dele ao longo do tempo iterativamente.</a:t>
                </a:r>
              </a:p>
              <a:p>
                <a:r>
                  <a:rPr lang="pt-BR" dirty="0" smtClean="0"/>
                  <a:t>O aprendizado busca ajustar </a:t>
                </a:r>
                <a:r>
                  <a:rPr lang="pt-BR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𝑄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(𝑠,𝑎)</a:t>
                </a:r>
                <a:r>
                  <a:rPr lang="pt-BR" dirty="0" smtClean="0"/>
                  <a:t> na direção do alvo</a:t>
                </a:r>
                <a:endParaRPr lang="pt-BR" noProof="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8094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99924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γ pequeno (≈ 0)</a:t>
            </a:r>
            <a:r>
              <a:rPr lang="pt-BR" dirty="0"/>
              <a:t> → agente </a:t>
            </a:r>
            <a:r>
              <a:rPr lang="pt-BR" b="1" dirty="0"/>
              <a:t>míope</a:t>
            </a:r>
            <a:r>
              <a:rPr lang="pt-BR" dirty="0"/>
              <a:t> (curto prazo) </a:t>
            </a:r>
          </a:p>
          <a:p>
            <a:r>
              <a:rPr lang="pt-BR" b="1" dirty="0"/>
              <a:t>γ grande (≈ 1)</a:t>
            </a:r>
            <a:r>
              <a:rPr lang="pt-BR" dirty="0"/>
              <a:t> → agente </a:t>
            </a:r>
            <a:r>
              <a:rPr lang="pt-BR" b="1" dirty="0"/>
              <a:t>visionário</a:t>
            </a:r>
            <a:r>
              <a:rPr lang="pt-BR" dirty="0"/>
              <a:t> (longo prazo)</a:t>
            </a:r>
          </a:p>
          <a:p>
            <a:endParaRPr lang="pt-BR" dirty="0"/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escolha entre valores pequenos (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0,1; 0,5) e grandes (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0,95; 0,99) depende do horizonte de planejamento necessário para a tarefa e da estabilidade do aprendizado.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que γ pequeno?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cada passo já existe sinal de recompensa.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que γ grande?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informação do sucesso precisa se propagar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volta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por muitos estados.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7500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Off-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enquanto aprende sobre a política ótima, pode agir com outra (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exploratória).</a:t>
            </a:r>
          </a:p>
          <a:p>
            <a:br>
              <a:rPr lang="pt-BR" dirty="0"/>
            </a:b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00353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https://colab.research.google.com/github/zz4fap/c24_inteligencia_artificial/blob/master/notebooks/q_learning_grid_2x2.ipynb</a:t>
            </a:r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F1CBD-EA41-4C28-874C-7C12A3463CF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864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59762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0646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199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Finanças:</a:t>
            </a:r>
            <a:r>
              <a:rPr lang="pt-BR" dirty="0"/>
              <a:t> Algoritmos de trading que aprendem a comprar e vender ações maximizando o lucro ao longo de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841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https://colab.research.google.com/github/zz4fap/c24_inteligencia_artificial/blob/master/notebooks/q_learning.ipynb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8419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654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pe.figueiredo@Inatel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c24_inteligencia_artificial/blob/master/notebooks/q_learning_grid_2x2.ipynb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c24_inteligencia_artificial/blob/master/notebooks/q_learning.ipynb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A. P. de Figueiredo</a:t>
            </a:r>
          </a:p>
          <a:p>
            <a:r>
              <a:rPr lang="pt-BR" dirty="0">
                <a:hlinkClick r:id="rId3"/>
              </a:rPr>
              <a:t>felipe.figueiredo@Inatel.br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836433"/>
            <a:ext cx="10906298" cy="2690156"/>
          </a:xfrm>
        </p:spPr>
        <p:txBody>
          <a:bodyPr anchor="ctr">
            <a:noAutofit/>
          </a:bodyPr>
          <a:lstStyle/>
          <a:p>
            <a:r>
              <a:rPr lang="pt-BR" sz="6600" dirty="0"/>
              <a:t>C24 – Inteligência Artificial:</a:t>
            </a:r>
            <a:br>
              <a:rPr lang="pt-BR" sz="7200" dirty="0"/>
            </a:br>
            <a:r>
              <a:rPr lang="pt-BR" sz="7200" b="1" i="1" dirty="0" err="1"/>
              <a:t>Q-learning</a:t>
            </a:r>
            <a:endParaRPr lang="pt-BR" sz="7200" b="1" i="1" dirty="0"/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6A74E-8855-B416-1D2B-EC3735DC0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6486" y="1706903"/>
            <a:ext cx="5323115" cy="3944937"/>
          </a:xfrm>
        </p:spPr>
        <p:txBody>
          <a:bodyPr>
            <a:normAutofit/>
          </a:bodyPr>
          <a:lstStyle/>
          <a:p>
            <a:r>
              <a:rPr lang="pt-BR" dirty="0"/>
              <a:t>As máquinas podem aprender a tomar decisões ótimas sozinhas sem supervisão (</a:t>
            </a:r>
            <a:r>
              <a:rPr lang="pt-BR" i="1" dirty="0"/>
              <a:t>dataset</a:t>
            </a:r>
            <a:r>
              <a:rPr lang="pt-BR" dirty="0"/>
              <a:t>), apenas por tentativa e erro.</a:t>
            </a:r>
          </a:p>
          <a:p>
            <a:r>
              <a:rPr lang="pt-BR" dirty="0"/>
              <a:t>Esse é o coração do </a:t>
            </a:r>
            <a:r>
              <a:rPr lang="pt-BR" i="1" dirty="0" err="1"/>
              <a:t>reinforcement</a:t>
            </a:r>
            <a:r>
              <a:rPr lang="pt-BR" i="1" dirty="0"/>
              <a:t> learning</a:t>
            </a:r>
            <a:r>
              <a:rPr lang="pt-BR" dirty="0"/>
              <a:t> (RL). </a:t>
            </a:r>
          </a:p>
          <a:p>
            <a:r>
              <a:rPr lang="pt-BR" dirty="0"/>
              <a:t>Nessa aula, aprenderemos o funcionamento do algoritmo mais clássicos da área: o </a:t>
            </a:r>
            <a:r>
              <a:rPr lang="pt-BR" dirty="0" err="1"/>
              <a:t>Q-learning</a:t>
            </a:r>
            <a:r>
              <a:rPr lang="pt-BR" dirty="0"/>
              <a:t>.</a:t>
            </a:r>
            <a:endParaRPr lang="en-US" dirty="0"/>
          </a:p>
        </p:txBody>
      </p:sp>
      <p:pic>
        <p:nvPicPr>
          <p:cNvPr id="1026" name="Picture 2" descr="Reinforcement Learning">
            <a:extLst>
              <a:ext uri="{FF2B5EF4-FFF2-40B4-BE49-F238E27FC236}">
                <a16:creationId xmlns:a16="http://schemas.microsoft.com/office/drawing/2014/main" id="{5526EDB3-366A-5FFB-4A2D-BC3494C1E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6" r="8204"/>
          <a:stretch>
            <a:fillRect/>
          </a:stretch>
        </p:blipFill>
        <p:spPr bwMode="auto">
          <a:xfrm>
            <a:off x="152399" y="1565389"/>
            <a:ext cx="6161315" cy="394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65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i="1" dirty="0" err="1"/>
              <a:t>reinforcement</a:t>
            </a:r>
            <a:r>
              <a:rPr lang="pt-BR" i="1" dirty="0"/>
              <a:t> learning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1255828" cy="5032375"/>
          </a:xfrm>
        </p:spPr>
        <p:txBody>
          <a:bodyPr>
            <a:normAutofit/>
          </a:bodyPr>
          <a:lstStyle/>
          <a:p>
            <a:r>
              <a:rPr lang="pt-BR" dirty="0"/>
              <a:t>É um dos paradigmas de aprendizado de </a:t>
            </a:r>
            <a:r>
              <a:rPr lang="pt-BR" i="1" dirty="0"/>
              <a:t>machine learning</a:t>
            </a:r>
            <a:r>
              <a:rPr lang="pt-BR" dirty="0"/>
              <a:t> focado em como tomar </a:t>
            </a:r>
            <a:r>
              <a:rPr lang="pt-BR" i="1" dirty="0"/>
              <a:t>ações</a:t>
            </a:r>
            <a:r>
              <a:rPr lang="pt-BR" dirty="0"/>
              <a:t> para maximizar uma </a:t>
            </a:r>
            <a:r>
              <a:rPr lang="pt-BR" i="1" dirty="0"/>
              <a:t>recompensa</a:t>
            </a:r>
            <a:r>
              <a:rPr lang="pt-BR" dirty="0"/>
              <a:t> futura.</a:t>
            </a:r>
            <a:endParaRPr lang="en-US" dirty="0"/>
          </a:p>
          <a:p>
            <a:endParaRPr lang="pt-BR" dirty="0"/>
          </a:p>
        </p:txBody>
      </p:sp>
      <p:pic>
        <p:nvPicPr>
          <p:cNvPr id="2051" name="Picture 3" descr="Understanding the Pillars of Machine Learning: Supervised, Unsupervised,  and Reinforcement Learning">
            <a:extLst>
              <a:ext uri="{FF2B5EF4-FFF2-40B4-BE49-F238E27FC236}">
                <a16:creationId xmlns:a16="http://schemas.microsoft.com/office/drawing/2014/main" id="{BDF6F402-9EED-6D9D-33D9-227B654D16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2" b="3060"/>
          <a:stretch>
            <a:fillRect/>
          </a:stretch>
        </p:blipFill>
        <p:spPr bwMode="auto">
          <a:xfrm>
            <a:off x="2345028" y="2786743"/>
            <a:ext cx="7501943" cy="385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0B64E-1F58-2FF0-BFB3-B1D95587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C3BAE-52FC-3697-DB30-5B05B3469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Diferenças chave entre os paradigmas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06D34D-8885-14BC-AF7E-F271D7D63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744" y="1825624"/>
            <a:ext cx="7391400" cy="5032375"/>
          </a:xfrm>
        </p:spPr>
        <p:txBody>
          <a:bodyPr>
            <a:normAutofit/>
          </a:bodyPr>
          <a:lstStyle/>
          <a:p>
            <a:r>
              <a:rPr lang="pt-BR" dirty="0"/>
              <a:t>Ao contrário dos aprendizados supervisionado e não supervisionado, não temos um </a:t>
            </a:r>
            <a:r>
              <a:rPr lang="pt-BR" i="1" dirty="0"/>
              <a:t>dataset</a:t>
            </a:r>
            <a:r>
              <a:rPr lang="pt-BR" dirty="0"/>
              <a:t>, seja ele rotulado ou não.</a:t>
            </a:r>
          </a:p>
          <a:p>
            <a:r>
              <a:rPr lang="pt-BR" dirty="0"/>
              <a:t>Não há um </a:t>
            </a:r>
            <a:r>
              <a:rPr lang="pt-BR" i="1" dirty="0"/>
              <a:t>dataset</a:t>
            </a:r>
            <a:r>
              <a:rPr lang="pt-BR" dirty="0"/>
              <a:t>: o agente </a:t>
            </a:r>
            <a:r>
              <a:rPr lang="pt-BR" b="1" dirty="0"/>
              <a:t>gera seus próprios dados</a:t>
            </a:r>
            <a:r>
              <a:rPr lang="pt-BR" dirty="0"/>
              <a:t> enquanto tenta, erra e aprende.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Nesse contexto, o agente é o algoritmo de aprendizado por reforço.</a:t>
            </a:r>
          </a:p>
          <a:p>
            <a:r>
              <a:rPr lang="pt-BR" dirty="0"/>
              <a:t>O aprendizado ocorre por experiência através de interações com um ambiente.</a:t>
            </a:r>
          </a:p>
        </p:txBody>
      </p:sp>
      <p:pic>
        <p:nvPicPr>
          <p:cNvPr id="4" name="Imagem 16">
            <a:extLst>
              <a:ext uri="{FF2B5EF4-FFF2-40B4-BE49-F238E27FC236}">
                <a16:creationId xmlns:a16="http://schemas.microsoft.com/office/drawing/2014/main" id="{7937C6EA-BFD8-5278-9EE0-796D184217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85" y="1575252"/>
            <a:ext cx="1657488" cy="516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72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3AED-FA4F-39DE-91A4-E5C845C0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8774E-D7D6-D9E6-4449-244D34EE9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Diferenças chave entre os paradigmas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79548E-494A-A12A-30F7-F4E225B6C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1485" y="1825624"/>
            <a:ext cx="7271657" cy="5032375"/>
          </a:xfrm>
        </p:spPr>
        <p:txBody>
          <a:bodyPr>
            <a:normAutofit/>
          </a:bodyPr>
          <a:lstStyle/>
          <a:p>
            <a:r>
              <a:rPr lang="pt-BR" dirty="0"/>
              <a:t>A algoritmo aprende na prática, sendo premiado ou penalizado pelo ambiente por ações tomadas até descobrir a melhor estratégia, chamada de política nesse contexto.</a:t>
            </a:r>
          </a:p>
          <a:p>
            <a:r>
              <a:rPr lang="pt-BR" dirty="0"/>
              <a:t>Existe um sinal de </a:t>
            </a:r>
            <a:r>
              <a:rPr lang="pt-BR" b="1" dirty="0"/>
              <a:t>recompensa ou reforço enviado pelo ambiente.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ambiente diz ao agente: "Isso foi bom (+10)" ou "Isso foi péssimo (-5)".</a:t>
            </a:r>
          </a:p>
          <a:p>
            <a:r>
              <a:rPr lang="pt-BR" dirty="0"/>
              <a:t>É um guia, mas ele não diz </a:t>
            </a:r>
            <a:r>
              <a:rPr lang="pt-BR" i="1" dirty="0"/>
              <a:t>qual</a:t>
            </a:r>
            <a:r>
              <a:rPr lang="pt-BR" dirty="0"/>
              <a:t> era a ação certa, apenas se a que foi tomada foi boa ou ruim.</a:t>
            </a:r>
            <a:endParaRPr lang="en-US" dirty="0"/>
          </a:p>
          <a:p>
            <a:pPr lvl="1"/>
            <a:endParaRPr lang="pt-BR" dirty="0"/>
          </a:p>
        </p:txBody>
      </p:sp>
      <p:pic>
        <p:nvPicPr>
          <p:cNvPr id="6" name="Imagem 16">
            <a:extLst>
              <a:ext uri="{FF2B5EF4-FFF2-40B4-BE49-F238E27FC236}">
                <a16:creationId xmlns:a16="http://schemas.microsoft.com/office/drawing/2014/main" id="{C8EB1D57-2EF7-64D2-25BE-6F8A0BE933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85" y="1575252"/>
            <a:ext cx="1657488" cy="516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FFEFA-1EED-2754-CDBD-7CC34D06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DBB74-F243-3F53-FEC5-AF11CE25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Diferenças chave entre os paradigmas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09E9F-E2C8-D6E3-78D1-C44C117B5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313" y="1825624"/>
            <a:ext cx="7064829" cy="5032375"/>
          </a:xfrm>
        </p:spPr>
        <p:txBody>
          <a:bodyPr>
            <a:normAutofit/>
          </a:bodyPr>
          <a:lstStyle/>
          <a:p>
            <a:r>
              <a:rPr lang="pt-BR" dirty="0"/>
              <a:t>O aprendizado por reforço foca na tomada de decisão para maximizar recompensas ao longo do tempo.</a:t>
            </a:r>
          </a:p>
          <a:p>
            <a:r>
              <a:rPr lang="pt-BR" dirty="0"/>
              <a:t>Ele responde à pergunta: </a:t>
            </a:r>
            <a:r>
              <a:rPr lang="pt-BR" i="1" dirty="0"/>
              <a:t>"Qual sequência de ações eu devo tomar para ganhar o prêmio lá na frente?“</a:t>
            </a:r>
          </a:p>
        </p:txBody>
      </p:sp>
      <p:pic>
        <p:nvPicPr>
          <p:cNvPr id="4" name="Imagem 16">
            <a:extLst>
              <a:ext uri="{FF2B5EF4-FFF2-40B4-BE49-F238E27FC236}">
                <a16:creationId xmlns:a16="http://schemas.microsoft.com/office/drawing/2014/main" id="{DF71A34D-2B36-AF4A-818D-805CF072BD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85" y="1575252"/>
            <a:ext cx="1657488" cy="516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045BB-096B-FD28-B7D5-E94A5FD7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Analogia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C87D0-4294-EB29-295B-08AD14444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400" y="1825624"/>
            <a:ext cx="6324600" cy="5032375"/>
          </a:xfrm>
        </p:spPr>
        <p:txBody>
          <a:bodyPr>
            <a:normAutofit/>
          </a:bodyPr>
          <a:lstStyle/>
          <a:p>
            <a:r>
              <a:rPr lang="pt-BR" dirty="0"/>
              <a:t>Aprendizado por reforço é como adestrar um cachorro. </a:t>
            </a:r>
          </a:p>
          <a:p>
            <a:r>
              <a:rPr lang="pt-BR" dirty="0"/>
              <a:t>Você não diz a ele </a:t>
            </a:r>
            <a:r>
              <a:rPr lang="pt-BR" i="1" dirty="0"/>
              <a:t>como</a:t>
            </a:r>
            <a:r>
              <a:rPr lang="pt-BR" dirty="0"/>
              <a:t> se sentar ou pegar o graveto.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Não há dados rotulados ensinando os movimentos musculares. </a:t>
            </a:r>
          </a:p>
          <a:p>
            <a:r>
              <a:rPr lang="pt-BR" dirty="0"/>
              <a:t>Você dá um petisco (recompensa) quando ele senta ou pega o graveto, e ele aprende a associar a ação ao resultado positivo.</a:t>
            </a:r>
          </a:p>
          <a:p>
            <a:endParaRPr lang="en-US" dirty="0"/>
          </a:p>
        </p:txBody>
      </p:sp>
      <p:pic>
        <p:nvPicPr>
          <p:cNvPr id="4" name="Picture 4" descr="A Beginner's Guide to Reinforcement Learning and its Basic Implementation  from Scratch | by Tanvi Penumudy | Analytics Vidhya | Medium">
            <a:extLst>
              <a:ext uri="{FF2B5EF4-FFF2-40B4-BE49-F238E27FC236}">
                <a16:creationId xmlns:a16="http://schemas.microsoft.com/office/drawing/2014/main" id="{A37B35F5-6EF1-B612-B863-263AB0042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43" y="2603262"/>
            <a:ext cx="5344886" cy="268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54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9DA3-4A1A-74AE-26DA-FD6E65250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Conceitos</a:t>
            </a:r>
            <a:r>
              <a:rPr lang="en-US" dirty="0"/>
              <a:t> </a:t>
            </a:r>
            <a:r>
              <a:rPr lang="en-US" dirty="0" err="1"/>
              <a:t>fundamentais</a:t>
            </a:r>
            <a:r>
              <a:rPr lang="en-US" dirty="0"/>
              <a:t> de RL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74119D-90D2-5043-F365-B3EB6F8479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36510"/>
                <a:ext cx="11353800" cy="5021489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/>
                  <a:t>Agente:</a:t>
                </a:r>
                <a:r>
                  <a:rPr lang="pt-BR" dirty="0"/>
                  <a:t> O tomador de decisões.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Exemplo: um robô, um carro autônomo.</a:t>
                </a:r>
              </a:p>
              <a:p>
                <a:r>
                  <a:rPr lang="pt-BR" b="1" dirty="0"/>
                  <a:t>Ambiente:</a:t>
                </a:r>
                <a:r>
                  <a:rPr lang="pt-BR" dirty="0"/>
                  <a:t> O mundo com o qual o agente interage.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Exemplo: um galpão, uma cidade, um tabuleiro de jogo.</a:t>
                </a:r>
              </a:p>
              <a:p>
                <a:r>
                  <a:rPr lang="pt-BR" b="1" dirty="0"/>
                  <a:t>Estado</a:t>
                </a:r>
                <a:r>
                  <a:rPr lang="pt-BR" dirty="0"/>
                  <a:t>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dirty="0"/>
                  <a:t>): A situação atual do agente no ambiente.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Exemplo: A posição do agente e dos objetos/obstáculos no galpão, cidade ou jogo.</a:t>
                </a:r>
              </a:p>
              <a:p>
                <a:r>
                  <a:rPr lang="pt-BR" b="1" dirty="0"/>
                  <a:t>Ação</a:t>
                </a:r>
                <a:r>
                  <a:rPr lang="pt-BR" dirty="0"/>
                  <a:t>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/>
                  <a:t>): O que o agente pode fazer.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Exemplo: movimentos (esquerda, direita, para cima/baixo), acelerar, frear.</a:t>
                </a:r>
              </a:p>
              <a:p>
                <a:r>
                  <a:rPr lang="pt-BR" b="1" dirty="0"/>
                  <a:t>Recompensa</a:t>
                </a:r>
                <a:r>
                  <a:rPr lang="pt-BR" dirty="0"/>
                  <a:t>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dirty="0"/>
                  <a:t>): O </a:t>
                </a:r>
                <a:r>
                  <a:rPr lang="pt-BR" i="1" dirty="0"/>
                  <a:t>feedback</a:t>
                </a:r>
                <a:r>
                  <a:rPr lang="pt-BR" dirty="0"/>
                  <a:t> (positivo ou negativo) recebido após uma ação.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674119D-90D2-5043-F365-B3EB6F8479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36510"/>
                <a:ext cx="11353800" cy="5021489"/>
              </a:xfrm>
              <a:blipFill rotWithShape="0">
                <a:blip r:embed="rId3"/>
                <a:stretch>
                  <a:fillRect l="-967" t="-19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4752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2BBDA-DAF3-B7AC-FB99-7C5B9285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D36C9-8653-8E41-11D8-585B6AC0D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Conceitos</a:t>
            </a:r>
            <a:r>
              <a:rPr lang="en-US" dirty="0"/>
              <a:t> </a:t>
            </a:r>
            <a:r>
              <a:rPr lang="en-US" dirty="0" err="1"/>
              <a:t>fundamentais</a:t>
            </a:r>
            <a:r>
              <a:rPr lang="en-US" dirty="0"/>
              <a:t> de RL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1046E0-93D4-BF9F-C552-72A01838A8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70022" y="1836510"/>
                <a:ext cx="6821978" cy="5021489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agente e o ambiente interagem em etapas de tempo discreto: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+1, 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+2, …,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 cada instante t, o agente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observa o estado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dirty="0"/>
                  <a:t> (conjunto de estados possíveis).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com base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dirty="0"/>
                  <a:t>, ele seleciona uma 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dirty="0"/>
                  <a:t> (conjunto de ações disponíveis).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um instante depois, como consequência de sua ação, o agente recebe uma recompensa,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pt-BR" dirty="0"/>
                  <a:t> (conjunto de todas as possíveis recompensas).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 se encontra em um novo estado,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81046E0-93D4-BF9F-C552-72A01838A8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70022" y="1836510"/>
                <a:ext cx="6821978" cy="5021489"/>
              </a:xfrm>
              <a:blipFill rotWithShape="0">
                <a:blip r:embed="rId3"/>
                <a:stretch>
                  <a:fillRect l="-1609" t="-1942" r="-29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Picture 60">
            <a:extLst>
              <a:ext uri="{FF2B5EF4-FFF2-40B4-BE49-F238E27FC236}">
                <a16:creationId xmlns:a16="http://schemas.microsoft.com/office/drawing/2014/main" id="{22F895FA-1424-E50C-97F4-4F0BE0413C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4" y="2934833"/>
            <a:ext cx="5007083" cy="226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655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2BBDA-DAF3-B7AC-FB99-7C5B9285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D36C9-8653-8E41-11D8-585B6AC0D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Conceitos</a:t>
            </a:r>
            <a:r>
              <a:rPr lang="en-US" dirty="0"/>
              <a:t> </a:t>
            </a:r>
            <a:r>
              <a:rPr lang="en-US" dirty="0" err="1"/>
              <a:t>fundamentais</a:t>
            </a:r>
            <a:r>
              <a:rPr lang="en-US" dirty="0"/>
              <a:t> de 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046E0-93D4-BF9F-C552-72A01838A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6510"/>
            <a:ext cx="11353800" cy="5021489"/>
          </a:xfrm>
        </p:spPr>
        <p:txBody>
          <a:bodyPr>
            <a:normAutofit/>
          </a:bodyPr>
          <a:lstStyle/>
          <a:p>
            <a:r>
              <a:rPr lang="pt-BR" dirty="0"/>
              <a:t> O objetivo do agente é maximizar a soma total de recompensas ao longo do tempo, não apenas a recompensa imediata.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2F895FA-1424-E50C-97F4-4F0BE0413C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071" y="3283382"/>
            <a:ext cx="6167857" cy="27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03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2CAF6-B58D-36CC-E75E-B9EBC01B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 de RL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6FA30-D5F7-2E83-352E-3527EE589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353801" cy="5032375"/>
          </a:xfrm>
        </p:spPr>
        <p:txBody>
          <a:bodyPr>
            <a:normAutofit/>
          </a:bodyPr>
          <a:lstStyle/>
          <a:p>
            <a:r>
              <a:rPr lang="pt-BR" dirty="0"/>
              <a:t>Alguns dos algoritmos de RL mais conhecidos e importantes são: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 err="1"/>
              <a:t>Q-Learning</a:t>
            </a:r>
            <a:endParaRPr lang="pt-BR" b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Um dos algoritmos mais clássicos.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Espaços de ações e estados discretos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Base de muitos métodos modernos.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Deep Q-Network (DQN)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Combina</a:t>
            </a:r>
            <a:r>
              <a:rPr lang="en-US" dirty="0"/>
              <a:t> Q-learning com redes </a:t>
            </a:r>
            <a:r>
              <a:rPr lang="en-US" dirty="0" err="1"/>
              <a:t>neurais</a:t>
            </a:r>
            <a:r>
              <a:rPr lang="en-US" dirty="0"/>
              <a:t> </a:t>
            </a:r>
            <a:r>
              <a:rPr lang="en-US" dirty="0" err="1"/>
              <a:t>profundas</a:t>
            </a:r>
            <a:r>
              <a:rPr lang="en-US" dirty="0"/>
              <a:t>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Espaço</a:t>
            </a:r>
            <a:r>
              <a:rPr lang="en-US" dirty="0"/>
              <a:t> de </a:t>
            </a:r>
            <a:r>
              <a:rPr lang="en-US" dirty="0" err="1"/>
              <a:t>ações</a:t>
            </a:r>
            <a:r>
              <a:rPr lang="en-US" dirty="0"/>
              <a:t> </a:t>
            </a:r>
            <a:r>
              <a:rPr lang="en-US" dirty="0" err="1"/>
              <a:t>discreto</a:t>
            </a:r>
            <a:r>
              <a:rPr lang="en-US" dirty="0"/>
              <a:t> e </a:t>
            </a:r>
            <a:r>
              <a:rPr lang="en-US" dirty="0" err="1"/>
              <a:t>espaço</a:t>
            </a:r>
            <a:r>
              <a:rPr lang="en-US" dirty="0"/>
              <a:t> de </a:t>
            </a:r>
            <a:r>
              <a:rPr lang="en-US" dirty="0" err="1"/>
              <a:t>estados</a:t>
            </a:r>
            <a:r>
              <a:rPr lang="en-US" dirty="0"/>
              <a:t> </a:t>
            </a:r>
            <a:r>
              <a:rPr lang="en-US" dirty="0" err="1"/>
              <a:t>contínuo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DDPG (</a:t>
            </a:r>
            <a:r>
              <a:rPr lang="pt-BR" b="1" dirty="0" err="1"/>
              <a:t>Deep</a:t>
            </a:r>
            <a:r>
              <a:rPr lang="pt-BR" b="1" dirty="0"/>
              <a:t> </a:t>
            </a:r>
            <a:r>
              <a:rPr lang="pt-BR" b="1" dirty="0" err="1"/>
              <a:t>Deterministic</a:t>
            </a:r>
            <a:r>
              <a:rPr lang="pt-BR" b="1" dirty="0"/>
              <a:t> </a:t>
            </a:r>
            <a:r>
              <a:rPr lang="pt-BR" b="1" dirty="0" err="1"/>
              <a:t>Policy</a:t>
            </a:r>
            <a:r>
              <a:rPr lang="pt-BR" b="1" dirty="0"/>
              <a:t> </a:t>
            </a:r>
            <a:r>
              <a:rPr lang="pt-BR" b="1" dirty="0" err="1"/>
              <a:t>Gradient</a:t>
            </a:r>
            <a:r>
              <a:rPr lang="pt-BR" b="1" dirty="0"/>
              <a:t>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Extensão do DQN para espaços de ações e estados contínuos.</a:t>
            </a:r>
          </a:p>
          <a:p>
            <a:r>
              <a:rPr lang="pt-BR" dirty="0"/>
              <a:t>Devido a sua simplicidade e por introduzir de forma clara os conceitos fundamentais de aprendizado por reforço, focaremos no </a:t>
            </a:r>
            <a:r>
              <a:rPr lang="pt-BR" b="1" dirty="0" err="1"/>
              <a:t>Q-</a:t>
            </a:r>
            <a:r>
              <a:rPr lang="pt-BR" b="1" i="1" dirty="0" err="1"/>
              <a:t>learning</a:t>
            </a:r>
            <a:r>
              <a:rPr lang="pt-BR" dirty="0"/>
              <a:t>, proposto por Christopher Watkins em 1989.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89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92F5-0D3A-0F43-282A-3A7C0603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/>
              <a:t>Q-</a:t>
            </a:r>
            <a:r>
              <a:rPr lang="pt-BR" i="1" dirty="0" err="1"/>
              <a:t>learning</a:t>
            </a:r>
            <a:r>
              <a:rPr lang="pt-BR" dirty="0"/>
              <a:t>?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6A6C9-67EC-449F-0095-BDC761937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77600" cy="5032375"/>
          </a:xfrm>
        </p:spPr>
        <p:txBody>
          <a:bodyPr/>
          <a:lstStyle/>
          <a:p>
            <a:r>
              <a:rPr lang="pt-BR" dirty="0" err="1"/>
              <a:t>Q-</a:t>
            </a:r>
            <a:r>
              <a:rPr lang="pt-BR" i="1" dirty="0" err="1"/>
              <a:t>learning</a:t>
            </a:r>
            <a:r>
              <a:rPr lang="pt-BR" dirty="0"/>
              <a:t> é um algoritmo </a:t>
            </a:r>
            <a:r>
              <a:rPr lang="pt-BR" b="1" i="1" dirty="0"/>
              <a:t>model-</a:t>
            </a:r>
            <a:r>
              <a:rPr lang="pt-BR" b="1" i="1" dirty="0" err="1"/>
              <a:t>free</a:t>
            </a:r>
            <a:r>
              <a:rPr lang="pt-BR" dirty="0"/>
              <a:t>.</a:t>
            </a:r>
          </a:p>
          <a:p>
            <a:r>
              <a:rPr lang="pt-BR" dirty="0"/>
              <a:t>Ele não conhece as regras do ambiente. </a:t>
            </a:r>
          </a:p>
          <a:p>
            <a:r>
              <a:rPr lang="pt-BR" dirty="0"/>
              <a:t>Em RL, o </a:t>
            </a:r>
            <a:r>
              <a:rPr lang="pt-BR" b="1" dirty="0"/>
              <a:t>"modelo"</a:t>
            </a:r>
            <a:r>
              <a:rPr lang="pt-BR" dirty="0"/>
              <a:t> é o conhecimento das regras do ambiente.</a:t>
            </a:r>
          </a:p>
          <a:p>
            <a:r>
              <a:rPr lang="pt-BR" dirty="0"/>
              <a:t>Ele aprende pela experiência.</a:t>
            </a:r>
          </a:p>
          <a:p>
            <a:r>
              <a:rPr lang="en-US" dirty="0"/>
              <a:t>Ele </a:t>
            </a:r>
            <a:r>
              <a:rPr lang="en-US" dirty="0" err="1"/>
              <a:t>começa</a:t>
            </a:r>
            <a:r>
              <a:rPr lang="en-US" dirty="0"/>
              <a:t> “</a:t>
            </a:r>
            <a:r>
              <a:rPr lang="en-US" dirty="0" err="1"/>
              <a:t>cego</a:t>
            </a:r>
            <a:r>
              <a:rPr lang="en-US" dirty="0"/>
              <a:t>” e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pt-BR" dirty="0"/>
              <a:t>tentativa e erro vai aprendendo.</a:t>
            </a:r>
          </a:p>
          <a:p>
            <a:r>
              <a:rPr lang="pt-BR" dirty="0"/>
              <a:t>Se temos um modelo, sabemos exatamente o que vai acontecer antes de agir. </a:t>
            </a:r>
          </a:p>
          <a:p>
            <a:r>
              <a:rPr lang="pt-BR" dirty="0"/>
              <a:t>Por exemplo em um jogo de tabuleiro: </a:t>
            </a:r>
            <a:r>
              <a:rPr lang="pt-BR" i="1" dirty="0"/>
              <a:t>"Se eu estou na casa A e for para a direita, eu TENHO 100% de chance de cair na casa B e ganhar 5 pontos"</a:t>
            </a:r>
            <a:r>
              <a:rPr lang="pt-BR" dirty="0"/>
              <a:t>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5339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14044-1D84-E441-8AC3-FB3FD922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3585-9339-7002-7C62-27331F24C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significa o "Q"?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483011-729D-F9ED-5FD6-580E6A4020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99856" y="1825625"/>
                <a:ext cx="7892143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Significa </a:t>
                </a:r>
                <a:r>
                  <a:rPr lang="pt-BR" b="1" dirty="0"/>
                  <a:t>qualidade</a:t>
                </a:r>
                <a:r>
                  <a:rPr lang="pt-BR" dirty="0"/>
                  <a:t>. </a:t>
                </a:r>
              </a:p>
              <a:p>
                <a:r>
                  <a:rPr lang="pt-BR" dirty="0"/>
                  <a:t>Representa o quão boa é uma determinada ação em um estado específico.</a:t>
                </a:r>
              </a:p>
              <a:p>
                <a:r>
                  <a:rPr lang="pt-BR" dirty="0"/>
                  <a:t>Quem informa a </a:t>
                </a:r>
                <a:r>
                  <a:rPr lang="pt-BR" b="1" dirty="0"/>
                  <a:t>qualidade</a:t>
                </a:r>
                <a:r>
                  <a:rPr lang="pt-BR" dirty="0"/>
                  <a:t> é uma função chamada</a:t>
                </a:r>
                <a:r>
                  <a:rPr lang="pt-BR" b="1" dirty="0"/>
                  <a:t> </a:t>
                </a:r>
                <a:r>
                  <a:rPr lang="pt-BR" dirty="0"/>
                  <a:t>de</a:t>
                </a:r>
                <a:r>
                  <a:rPr lang="pt-BR" b="1" dirty="0"/>
                  <a:t> </a:t>
                </a:r>
                <a:r>
                  <a:rPr lang="pt-BR" b="1" dirty="0" err="1"/>
                  <a:t>valor-ação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que mede o retorno (qualidade) esperado ao executar a ação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/>
                  <a:t> no estado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No </a:t>
                </a:r>
                <a:r>
                  <a:rPr lang="pt-BR" dirty="0" err="1"/>
                  <a:t>Q-</a:t>
                </a:r>
                <a:r>
                  <a:rPr lang="pt-BR" i="1" dirty="0" err="1"/>
                  <a:t>learning</a:t>
                </a:r>
                <a:r>
                  <a:rPr lang="pt-BR" dirty="0"/>
                  <a:t>, ela é definida de forma </a:t>
                </a:r>
                <a:r>
                  <a:rPr lang="pt-BR" b="1" dirty="0"/>
                  <a:t>discreta</a:t>
                </a:r>
                <a:r>
                  <a:rPr lang="pt-BR" dirty="0"/>
                  <a:t> (estados e ações) por uma tabela (ou matriz), chamada de </a:t>
                </a:r>
                <a:r>
                  <a:rPr lang="pt-BR" b="1" dirty="0"/>
                  <a:t>tabela-Q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As linhas são os estados e as colunas são as ações.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483011-729D-F9ED-5FD6-580E6A4020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99856" y="1825625"/>
                <a:ext cx="7892143" cy="5032375"/>
              </a:xfrm>
              <a:blipFill>
                <a:blip r:embed="rId3"/>
                <a:stretch>
                  <a:fillRect l="-1390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4A3494-F972-A92A-0152-CCA1FC888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847051"/>
              </p:ext>
            </p:extLst>
          </p:nvPr>
        </p:nvGraphicFramePr>
        <p:xfrm>
          <a:off x="1594365" y="3429000"/>
          <a:ext cx="1756228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057">
                  <a:extLst>
                    <a:ext uri="{9D8B030D-6E8A-4147-A177-3AD203B41FA5}">
                      <a16:colId xmlns:a16="http://schemas.microsoft.com/office/drawing/2014/main" val="4237906138"/>
                    </a:ext>
                  </a:extLst>
                </a:gridCol>
                <a:gridCol w="439057">
                  <a:extLst>
                    <a:ext uri="{9D8B030D-6E8A-4147-A177-3AD203B41FA5}">
                      <a16:colId xmlns:a16="http://schemas.microsoft.com/office/drawing/2014/main" val="3865218800"/>
                    </a:ext>
                  </a:extLst>
                </a:gridCol>
                <a:gridCol w="439057">
                  <a:extLst>
                    <a:ext uri="{9D8B030D-6E8A-4147-A177-3AD203B41FA5}">
                      <a16:colId xmlns:a16="http://schemas.microsoft.com/office/drawing/2014/main" val="2205689395"/>
                    </a:ext>
                  </a:extLst>
                </a:gridCol>
                <a:gridCol w="439057">
                  <a:extLst>
                    <a:ext uri="{9D8B030D-6E8A-4147-A177-3AD203B41FA5}">
                      <a16:colId xmlns:a16="http://schemas.microsoft.com/office/drawing/2014/main" val="3536600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4488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256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7404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8ED1C15-0942-089C-7805-CB510EC72FB1}"/>
              </a:ext>
            </a:extLst>
          </p:cNvPr>
          <p:cNvSpPr txBox="1"/>
          <p:nvPr/>
        </p:nvSpPr>
        <p:spPr>
          <a:xfrm rot="16200000">
            <a:off x="571748" y="3800593"/>
            <a:ext cx="902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Estados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39535-416D-18D0-A4E0-B8FD0EF37FF9}"/>
              </a:ext>
            </a:extLst>
          </p:cNvPr>
          <p:cNvSpPr txBox="1"/>
          <p:nvPr/>
        </p:nvSpPr>
        <p:spPr>
          <a:xfrm>
            <a:off x="2102185" y="2745693"/>
            <a:ext cx="740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Ações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87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219F2-045D-7C64-9A87-54D2232BD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5E16-B19C-BA31-7BEC-009E02E4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significa o "Q"?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4463B-65B5-66E6-8A30-437FFFA8D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55829" cy="5032375"/>
          </a:xfrm>
        </p:spPr>
        <p:txBody>
          <a:bodyPr>
            <a:normAutofit/>
          </a:bodyPr>
          <a:lstStyle/>
          <a:p>
            <a:r>
              <a:rPr lang="pt-BR" dirty="0"/>
              <a:t>Cada entrada da tabela armazena um valor de qualidade para um par estado-ação.</a:t>
            </a:r>
            <a:endParaRPr lang="pt-BR" dirty="0">
              <a:solidFill>
                <a:srgbClr val="FF0000"/>
              </a:solidFill>
            </a:endParaRPr>
          </a:p>
          <a:p>
            <a:r>
              <a:rPr lang="pt-BR" dirty="0"/>
              <a:t>O objetivo do algoritmo é preencher a tabela com os valores que façam o agente escolher a melhor ação sempre.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635AC4-CE1D-B8AF-A040-2F87EF1759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685" y="3599123"/>
            <a:ext cx="6226629" cy="317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24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E349-E10B-155D-AA4C-5C644F1CA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o </a:t>
            </a:r>
            <a:r>
              <a:rPr lang="pt-BR" dirty="0" err="1"/>
              <a:t>Q-</a:t>
            </a:r>
            <a:r>
              <a:rPr lang="pt-BR" i="1" dirty="0" err="1"/>
              <a:t>learning</a:t>
            </a:r>
            <a:r>
              <a:rPr lang="pt-BR" dirty="0"/>
              <a:t> aprende?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332D99-C136-4CA9-0B03-FA3FA5195ED6}"/>
                  </a:ext>
                </a:extLst>
              </p:cNvPr>
              <p:cNvSpPr txBox="1"/>
              <p:nvPr/>
            </p:nvSpPr>
            <p:spPr>
              <a:xfrm>
                <a:off x="1099021" y="1874728"/>
                <a:ext cx="9993956" cy="31085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Font typeface="+mj-lt"/>
                  <a:buAutoNum type="arabicPeriod"/>
                </a:pPr>
                <a:r>
                  <a:rPr lang="pt-BR" sz="2800" dirty="0"/>
                  <a:t> Inicialize a tabela-Q com zeros.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pt-BR" sz="2800" dirty="0"/>
                  <a:t> Observe o estado atual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pt-BR" sz="2800" dirty="0"/>
                  <a:t> Repita até o fim do </a:t>
                </a:r>
                <a:r>
                  <a:rPr lang="pt-BR" sz="2800" b="1" dirty="0"/>
                  <a:t>episódio</a:t>
                </a:r>
                <a:r>
                  <a:rPr lang="pt-BR" sz="2800" dirty="0"/>
                  <a:t>:</a:t>
                </a:r>
              </a:p>
              <a:p>
                <a:pPr marL="628650" lvl="1" indent="-171450">
                  <a:buFont typeface="Courier New" panose="02070309020205020404" pitchFamily="49" charset="0"/>
                  <a:buChar char="o"/>
                </a:pPr>
                <a:r>
                  <a:rPr lang="pt-BR" sz="2800" dirty="0"/>
                  <a:t> Escolha uma ação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sz="2800" dirty="0"/>
                  <a:t> usando a </a:t>
                </a:r>
                <a:r>
                  <a:rPr lang="pt-BR" sz="2800" b="1" dirty="0"/>
                  <a:t>política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pt-BR" sz="2800" b="1" dirty="0"/>
                  <a:t>-</a:t>
                </a:r>
                <a:r>
                  <a:rPr lang="pt-BR" sz="2800" b="1" i="1" dirty="0" err="1"/>
                  <a:t>greedy</a:t>
                </a:r>
                <a:r>
                  <a:rPr lang="pt-BR" sz="2800" dirty="0"/>
                  <a:t>.</a:t>
                </a:r>
              </a:p>
              <a:p>
                <a:pPr marL="628650" lvl="1" indent="-171450">
                  <a:buFont typeface="Courier New" panose="02070309020205020404" pitchFamily="49" charset="0"/>
                  <a:buChar char="o"/>
                </a:pPr>
                <a:r>
                  <a:rPr lang="pt-BR" sz="2800" dirty="0"/>
                  <a:t> Execute a ação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sz="2800" dirty="0"/>
                  <a:t>, observe o novo estado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pt-BR" sz="2800" dirty="0"/>
                  <a:t> e a recompensa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628650" lvl="1" indent="-171450">
                  <a:buFont typeface="Courier New" panose="02070309020205020404" pitchFamily="49" charset="0"/>
                  <a:buChar char="o"/>
                </a:pPr>
                <a:r>
                  <a:rPr lang="pt-BR" sz="2800" b="1" dirty="0"/>
                  <a:t> Atualize o valor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b="1" dirty="0"/>
                  <a:t> na tabela-Q.</a:t>
                </a:r>
                <a:endParaRPr lang="pt-BR" sz="2800" dirty="0"/>
              </a:p>
              <a:p>
                <a:pPr marL="628650" lvl="1" indent="-171450">
                  <a:buFont typeface="Courier New" panose="02070309020205020404" pitchFamily="49" charset="0"/>
                  <a:buChar char="o"/>
                </a:pPr>
                <a:r>
                  <a:rPr lang="pt-BR" sz="2800" dirty="0"/>
                  <a:t> Atualize o estado atual: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pt-BR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←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A332D99-C136-4CA9-0B03-FA3FA5195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021" y="1874728"/>
                <a:ext cx="9993956" cy="3108543"/>
              </a:xfrm>
              <a:prstGeom prst="rect">
                <a:avLst/>
              </a:prstGeom>
              <a:blipFill rotWithShape="0">
                <a:blip r:embed="rId3"/>
                <a:stretch>
                  <a:fillRect l="-1218" t="-1957" b="-46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C7A4183-CC79-97FF-3245-59A711D4BDF1}"/>
              </a:ext>
            </a:extLst>
          </p:cNvPr>
          <p:cNvSpPr txBox="1"/>
          <p:nvPr/>
        </p:nvSpPr>
        <p:spPr>
          <a:xfrm>
            <a:off x="1099021" y="5631320"/>
            <a:ext cx="99939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O 'aprender' acontece na etapa de atualização, que veremos a seguir.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27015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FE1F-C1FB-195D-22B9-96044B5D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episódio?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332DA-1674-3813-EFF7-0720AB323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11136085" cy="5032375"/>
          </a:xfrm>
        </p:spPr>
        <p:txBody>
          <a:bodyPr>
            <a:normAutofit/>
          </a:bodyPr>
          <a:lstStyle/>
          <a:p>
            <a:r>
              <a:rPr lang="pt-BR" dirty="0"/>
              <a:t>É uma sequência </a:t>
            </a:r>
            <a:r>
              <a:rPr lang="pt-BR" b="1" dirty="0"/>
              <a:t>completa</a:t>
            </a:r>
            <a:r>
              <a:rPr lang="pt-BR" dirty="0"/>
              <a:t> de interações entre o agente e o ambiente, que começa num </a:t>
            </a:r>
            <a:r>
              <a:rPr lang="pt-BR" b="1" dirty="0"/>
              <a:t>estado inicial</a:t>
            </a:r>
            <a:r>
              <a:rPr lang="pt-BR" dirty="0"/>
              <a:t> e termina quando um </a:t>
            </a:r>
            <a:r>
              <a:rPr lang="pt-BR" b="1" dirty="0"/>
              <a:t>estado terminal</a:t>
            </a:r>
            <a:r>
              <a:rPr lang="pt-BR" dirty="0"/>
              <a:t> é alcançado.</a:t>
            </a:r>
          </a:p>
          <a:p>
            <a:r>
              <a:rPr lang="pt-BR" dirty="0"/>
              <a:t>O episódio é como uma "partida" ou uma "tentativa":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b="1" dirty="0"/>
              <a:t>Início:</a:t>
            </a:r>
            <a:r>
              <a:rPr lang="pt-BR" dirty="0"/>
              <a:t> O ambiente é resetado para uma posição inicial (e.g., o rato aparece no início do mapa).</a:t>
            </a:r>
          </a:p>
          <a:p>
            <a:pPr marL="971550" lvl="1" indent="-514350">
              <a:buAutoNum type="arabicPeriod"/>
            </a:pPr>
            <a:r>
              <a:rPr lang="pt-BR" b="1" dirty="0"/>
              <a:t>Ciclo:</a:t>
            </a:r>
            <a:r>
              <a:rPr lang="pt-BR" dirty="0"/>
              <a:t> O agente toma ações, recebe recompensas e o ambiente muda de estado sucessivamente.</a:t>
            </a:r>
          </a:p>
          <a:p>
            <a:pPr marL="971550" lvl="1" indent="-514350">
              <a:buAutoNum type="arabicPeriod"/>
            </a:pPr>
            <a:r>
              <a:rPr lang="pt-BR" b="1" dirty="0"/>
              <a:t>Fim:</a:t>
            </a:r>
            <a:r>
              <a:rPr lang="pt-BR" dirty="0"/>
              <a:t> O episódio se encerra quando um critério é atingido, como: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dirty="0"/>
              <a:t>O agente atinge o </a:t>
            </a:r>
            <a:r>
              <a:rPr lang="pt-BR" b="1" dirty="0"/>
              <a:t>objetivo</a:t>
            </a:r>
            <a:r>
              <a:rPr lang="pt-BR" dirty="0"/>
              <a:t> (e.g., rato chegar ao queijo).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dirty="0"/>
              <a:t>O agente comete um </a:t>
            </a:r>
            <a:r>
              <a:rPr lang="pt-BR" b="1" dirty="0"/>
              <a:t>erro fatal</a:t>
            </a:r>
            <a:r>
              <a:rPr lang="pt-BR" dirty="0"/>
              <a:t> (e.g., rato encontrar uma bomba).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dirty="0"/>
              <a:t>O tempo ou o </a:t>
            </a:r>
            <a:r>
              <a:rPr lang="pt-BR" b="1" dirty="0"/>
              <a:t>limite de passos</a:t>
            </a:r>
            <a:r>
              <a:rPr lang="pt-BR" dirty="0"/>
              <a:t> esgota-se.</a:t>
            </a:r>
          </a:p>
        </p:txBody>
      </p:sp>
    </p:spTree>
    <p:extLst>
      <p:ext uri="{BB962C8B-B14F-4D97-AF65-F5344CB8AC3E}">
        <p14:creationId xmlns:p14="http://schemas.microsoft.com/office/powerpoint/2010/main" val="596584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4587-A984-EA93-857E-8D1DC320A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A575-E745-E7EC-954B-2D561DB0A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episódio?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E82B6-892B-61F8-DE72-D88190E83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57857" cy="5032375"/>
          </a:xfrm>
        </p:spPr>
        <p:txBody>
          <a:bodyPr>
            <a:normAutofit/>
          </a:bodyPr>
          <a:lstStyle/>
          <a:p>
            <a:r>
              <a:rPr lang="pt-BR" dirty="0"/>
              <a:t>O treino do </a:t>
            </a:r>
            <a:r>
              <a:rPr lang="pt-BR" dirty="0" err="1"/>
              <a:t>Q-</a:t>
            </a:r>
            <a:r>
              <a:rPr lang="pt-BR" i="1" dirty="0" err="1"/>
              <a:t>learning</a:t>
            </a:r>
            <a:r>
              <a:rPr lang="pt-BR" dirty="0"/>
              <a:t> é feito ao longo de muitos episódios. </a:t>
            </a:r>
          </a:p>
          <a:p>
            <a:r>
              <a:rPr lang="pt-BR" dirty="0"/>
              <a:t>Em cada novo episódio, o agente utiliza o que aprendeu nos anteriores (os valores na tabela-Q) para tentar obter uma recompensa total maior do que na tentativa passada.</a:t>
            </a:r>
          </a:p>
          <a:p>
            <a:r>
              <a:rPr lang="pt-BR" dirty="0"/>
              <a:t>O treinamento encerra-se quando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 soma das recompensas obtidas ao longo do episódio para de subir e "estaciona" em um valor alto por muitos episódios seguidos.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Isso significa que o agente já explorou o suficiente e encontrou o caminho ótimo.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ou pela ausência de mudanças significativas nos valores da tabela-Q.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89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BB2B1C3-607B-4033-88D5-A1CF66C9D6F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Exploração vs. Explotação (</a:t>
                </a:r>
                <a14:m>
                  <m:oMath xmlns:m="http://schemas.openxmlformats.org/officeDocument/2006/math">
                    <m:r>
                      <a:rPr lang="pt-B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pt-BR" dirty="0"/>
                  <a:t>-</a:t>
                </a:r>
                <a:r>
                  <a:rPr lang="pt-BR" i="1" dirty="0" err="1"/>
                  <a:t>greedy</a:t>
                </a:r>
                <a:r>
                  <a:rPr lang="pt-BR" dirty="0"/>
                  <a:t>) 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BB2B1C3-607B-4033-88D5-A1CF66C9D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0C21A-F4FC-B1BE-7D36-8D93DC0277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7884" y="1825624"/>
                <a:ext cx="7304116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/>
                  <a:t>Exploração:</a:t>
                </a:r>
                <a:r>
                  <a:rPr lang="pt-BR" dirty="0"/>
                  <a:t> Tentar ações aleatórias para descobrir novas recompensas.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Riscos altos, mas possíveis ganhos altos a longo prazo.</a:t>
                </a:r>
              </a:p>
              <a:p>
                <a:r>
                  <a:rPr lang="pt-BR" b="1" dirty="0"/>
                  <a:t>Explotação:</a:t>
                </a:r>
                <a:r>
                  <a:rPr lang="pt-BR" dirty="0"/>
                  <a:t> Escolher a melhor ação conhecida usando a tabela-Q atual.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Garantia de recompensa conhecida.</a:t>
                </a:r>
              </a:p>
              <a:p>
                <a:r>
                  <a:rPr lang="pt-BR" b="1" dirty="0"/>
                  <a:t>A estratégia </a:t>
                </a:r>
                <a:r>
                  <a:rPr lang="pt-BR" b="1" dirty="0" err="1"/>
                  <a:t>Epsilon-Greedy</a:t>
                </a:r>
                <a:r>
                  <a:rPr lang="pt-BR" b="1" dirty="0"/>
                  <a:t> (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pt-BR" b="1" dirty="0"/>
                  <a:t>-</a:t>
                </a:r>
                <a:r>
                  <a:rPr lang="pt-BR" b="1" i="1" dirty="0" err="1"/>
                  <a:t>greedy</a:t>
                </a:r>
                <a:r>
                  <a:rPr lang="pt-BR" b="1" dirty="0"/>
                  <a:t>):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Com probabilidade </a:t>
                </a:r>
                <a14:m>
                  <m:oMath xmlns:m="http://schemas.openxmlformats.org/officeDocument/2006/math">
                    <m:r>
                      <a:rPr lang="pt-B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pt-BR" dirty="0"/>
                  <a:t> (e.g., 10%), o agente </a:t>
                </a:r>
                <a:r>
                  <a:rPr lang="pt-BR" b="1" dirty="0"/>
                  <a:t>explora</a:t>
                </a:r>
                <a:r>
                  <a:rPr lang="pt-BR" dirty="0"/>
                  <a:t> (ação aleatória).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Com probabilidade 1 -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pt-BR" dirty="0"/>
                  <a:t> (e.g., 90%), o agente </a:t>
                </a:r>
                <a:r>
                  <a:rPr lang="pt-BR" b="1" dirty="0"/>
                  <a:t>explota</a:t>
                </a:r>
                <a:r>
                  <a:rPr lang="pt-BR" dirty="0"/>
                  <a:t> (escolhe o </a:t>
                </a:r>
                <a:r>
                  <a:rPr lang="pt-BR" dirty="0" err="1"/>
                  <a:t>max</a:t>
                </a:r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 para o estado atual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pt-BR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D80C21A-F4FC-B1BE-7D36-8D93DC0277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7884" y="1825624"/>
                <a:ext cx="7304116" cy="5032375"/>
              </a:xfrm>
              <a:blipFill rotWithShape="0">
                <a:blip r:embed="rId4"/>
                <a:stretch>
                  <a:fillRect l="-1503" t="-1937" r="-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Machine learning series - part 5: Exploration vs. Exploitation dilemma in  Reinforcement learning — Steemi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3" y="2389617"/>
            <a:ext cx="4853501" cy="322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4478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BB2B1C3-607B-4033-88D5-A1CF66C9D6F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Exploração vs. Explotação (</a:t>
                </a:r>
                <a14:m>
                  <m:oMath xmlns:m="http://schemas.openxmlformats.org/officeDocument/2006/math">
                    <m:r>
                      <a:rPr lang="pt-B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pt-BR" dirty="0"/>
                  <a:t>-</a:t>
                </a:r>
                <a:r>
                  <a:rPr lang="pt-BR" i="1" dirty="0" err="1"/>
                  <a:t>greedy</a:t>
                </a:r>
                <a:r>
                  <a:rPr lang="pt-BR" dirty="0"/>
                  <a:t>) 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BB2B1C3-607B-4033-88D5-A1CF66C9D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0C21A-F4FC-B1BE-7D36-8D93DC0277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70022" y="1825624"/>
                <a:ext cx="670005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Se o agente não explorar no começo, ele pode encontrar um caminho medíocre e ficar preso nele para sempre. </a:t>
                </a:r>
              </a:p>
              <a:p>
                <a:r>
                  <a:rPr lang="pt-BR" dirty="0"/>
                  <a:t>Assim, 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pt-BR" dirty="0"/>
                  <a:t> costuma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começar em 1.0 (100% de exploração), fazendo com que o agente tome ações aleatórias para descobrir o ambiente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 decair gradualmente à medida que o agente aprende (</a:t>
                </a:r>
                <a:r>
                  <a:rPr lang="pt-BR" i="1" dirty="0" err="1"/>
                  <a:t>decay</a:t>
                </a:r>
                <a:r>
                  <a:rPr lang="pt-BR" i="1" dirty="0"/>
                  <a:t> rate</a:t>
                </a:r>
                <a:r>
                  <a:rPr lang="pt-BR" dirty="0"/>
                  <a:t>).</a:t>
                </a:r>
              </a:p>
              <a:p>
                <a:r>
                  <a:rPr lang="pt-BR" dirty="0"/>
                  <a:t>A exploração agressiva no início.</a:t>
                </a:r>
              </a:p>
              <a:p>
                <a:r>
                  <a:rPr lang="pt-BR" dirty="0"/>
                  <a:t>Isso permite que o agente tenha a chance de aprender uma boa política.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0C21A-F4FC-B1BE-7D36-8D93DC0277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70022" y="1825624"/>
                <a:ext cx="6700058" cy="5032375"/>
              </a:xfrm>
              <a:blipFill>
                <a:blip r:embed="rId4"/>
                <a:stretch>
                  <a:fillRect l="-1638" t="-1937" r="-182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An Introduction to Q-Learning Part 2/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89" y="2390849"/>
            <a:ext cx="4305993" cy="318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803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A6B7C-8AE2-0626-7031-C9A0D36E6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573" y="1823299"/>
            <a:ext cx="3962400" cy="33719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600" dirty="0"/>
              <a:t>Como o agente aprende?</a:t>
            </a:r>
          </a:p>
          <a:p>
            <a:pPr marL="0" indent="0" algn="ctr">
              <a:buNone/>
            </a:pPr>
            <a:endParaRPr lang="pt-BR" sz="3600" dirty="0"/>
          </a:p>
          <a:p>
            <a:pPr marL="0" indent="0" algn="ctr">
              <a:buNone/>
            </a:pPr>
            <a:r>
              <a:rPr lang="pt-BR" sz="3600" dirty="0"/>
              <a:t>Ou seja, como a tabela-Q é atualizada?</a:t>
            </a:r>
            <a:endParaRPr lang="en-US" sz="3600" dirty="0"/>
          </a:p>
        </p:txBody>
      </p:sp>
      <p:pic>
        <p:nvPicPr>
          <p:cNvPr id="3074" name="Picture 2" descr="Reinforcement Learning In Real Life. Simple Explanation With Funny Cats">
            <a:extLst>
              <a:ext uri="{FF2B5EF4-FFF2-40B4-BE49-F238E27FC236}">
                <a16:creationId xmlns:a16="http://schemas.microsoft.com/office/drawing/2014/main" id="{BF6473FC-0F5F-F021-4950-C2C526AE6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58" y="1423306"/>
            <a:ext cx="741680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23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8643-03C9-A92E-0919-E944BBC48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5086" cy="1325563"/>
          </a:xfrm>
        </p:spPr>
        <p:txBody>
          <a:bodyPr/>
          <a:lstStyle/>
          <a:p>
            <a:r>
              <a:rPr lang="pt-BR" dirty="0"/>
              <a:t>Atualização da tabela-Q: </a:t>
            </a:r>
            <a:r>
              <a:rPr lang="en-US" dirty="0"/>
              <a:t>a </a:t>
            </a:r>
            <a:r>
              <a:rPr lang="en-US" dirty="0" err="1"/>
              <a:t>equação</a:t>
            </a:r>
            <a:r>
              <a:rPr lang="en-US" dirty="0"/>
              <a:t> de Bellman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A20D-5587-73F0-6A77-76736D8C97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tabela-Q é atualizada usando-se a equação derivada por Richard </a:t>
                </a:r>
                <a:r>
                  <a:rPr lang="pt-BR" dirty="0" err="1"/>
                  <a:t>Bellman</a:t>
                </a:r>
                <a:r>
                  <a:rPr lang="pt-BR" dirty="0"/>
                  <a:t>:</a:t>
                </a:r>
              </a:p>
              <a:p>
                <a:pPr marL="0" indent="0">
                  <a:buNone/>
                </a:pPr>
                <a:endParaRPr lang="pt-BR" sz="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γ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pt-BR" dirty="0"/>
                  <a:t>: é o valor atual na tabela para o estado e a ação.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pt-B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: </a:t>
                </a:r>
                <a:r>
                  <a:rPr lang="pt-BR" b="1" dirty="0"/>
                  <a:t>taxa de aprendizado, varia no intervalo (0, 1]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Define o quanto a nova informação substitui a antiga.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Valor pequeno → aprendizado lento.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Valor grande → atualização agressiva.</a:t>
                </a:r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dirty="0"/>
                  <a:t>: </a:t>
                </a:r>
                <a:r>
                  <a:rPr lang="pt-BR" b="1" dirty="0"/>
                  <a:t>recompensa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que ele acabou de ganhar por tomar a ação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Não há restrição de intervalo, mas manter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dirty="0"/>
                  <a:t> em intervalos pequenos, como [-1, 1] e [0, 1], ajuda na estabilidade e na </a:t>
                </a:r>
                <a:r>
                  <a:rPr lang="en-US" dirty="0" err="1"/>
                  <a:t>velocidade</a:t>
                </a:r>
                <a:r>
                  <a:rPr lang="en-US" dirty="0"/>
                  <a:t> de </a:t>
                </a:r>
                <a:r>
                  <a:rPr lang="en-US" dirty="0" err="1"/>
                  <a:t>convergência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A20D-5587-73F0-6A77-76736D8C97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5032375"/>
              </a:xfrm>
              <a:blipFill>
                <a:blip r:embed="rId3"/>
                <a:stretch>
                  <a:fillRect l="-913" t="-1937" r="-644" b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0194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8643-03C9-A92E-0919-E944BBC48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55086" cy="1325563"/>
          </a:xfrm>
        </p:spPr>
        <p:txBody>
          <a:bodyPr/>
          <a:lstStyle/>
          <a:p>
            <a:r>
              <a:rPr lang="pt-BR" dirty="0"/>
              <a:t>Atualização da tabela-Q: </a:t>
            </a:r>
            <a:r>
              <a:rPr lang="en-US" dirty="0"/>
              <a:t>a </a:t>
            </a:r>
            <a:r>
              <a:rPr lang="en-US" dirty="0" err="1"/>
              <a:t>equação</a:t>
            </a:r>
            <a:r>
              <a:rPr lang="en-US" dirty="0"/>
              <a:t> de Bellman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A20D-5587-73F0-6A77-76736D8C97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tabela-Q é atualizada usando-se a equação derivada por Richard </a:t>
                </a:r>
                <a:r>
                  <a:rPr lang="pt-BR" dirty="0" err="1"/>
                  <a:t>Bellman</a:t>
                </a:r>
                <a:r>
                  <a:rPr lang="pt-BR" dirty="0"/>
                  <a:t>:</a:t>
                </a:r>
              </a:p>
              <a:p>
                <a:pPr marL="0" indent="0">
                  <a:buNone/>
                </a:pPr>
                <a:endParaRPr lang="pt-BR" sz="1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γ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pt-BR" dirty="0"/>
                  <a:t>: </a:t>
                </a:r>
                <a:r>
                  <a:rPr lang="pt-BR" b="1" dirty="0"/>
                  <a:t>fator de desconto, varia no intervalo [0, 1]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Determina a importância das recompensas futuras.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Equilibra a importância entre recompensas imediatas e futuras.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Determina o </a:t>
                </a:r>
                <a:r>
                  <a:rPr lang="pt-BR" b="1" i="1" dirty="0"/>
                  <a:t>quão longe no futuro ele enxerga.</a:t>
                </a:r>
                <a:endParaRPr lang="pt-BR" b="1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: é o </a:t>
                </a:r>
                <a:r>
                  <a:rPr lang="pt-BR" b="1" dirty="0"/>
                  <a:t>melhor valor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pt-BR" b="1" dirty="0"/>
                  <a:t> possível no próximo estado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É a estimativa da recompensa futura.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equação assume que no próximo estado tomaremos a </a:t>
                </a:r>
                <a:r>
                  <a:rPr lang="pt-BR" b="1" dirty="0"/>
                  <a:t>melhor ação possível.</a:t>
                </a:r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56A20D-5587-73F0-6A77-76736D8C97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5032375"/>
              </a:xfrm>
              <a:blipFill>
                <a:blip r:embed="rId3"/>
                <a:stretch>
                  <a:fillRect l="-913" t="-1937" r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555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A6D8-ECD1-B38D-0188-C905A6ED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en-US" dirty="0" err="1"/>
              <a:t>equação</a:t>
            </a:r>
            <a:r>
              <a:rPr lang="en-US" dirty="0"/>
              <a:t> de Bellman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88D2D-1B58-788D-B9CB-AA2B58DAC9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34057" cy="50323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γ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</m:fName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alvo</m:t>
                          </m:r>
                        </m:lim>
                      </m:limLow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estimativa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atual</m:t>
                          </m:r>
                        </m:lim>
                      </m:limLow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 termo dentro dos colchetes é chamado de </a:t>
                </a:r>
                <a:r>
                  <a:rPr lang="pt-BR" b="1" dirty="0"/>
                  <a:t>Erro de Diferença Temporal</a:t>
                </a:r>
                <a:r>
                  <a:rPr lang="pt-BR" dirty="0"/>
                  <a:t> (</a:t>
                </a:r>
                <a:r>
                  <a:rPr lang="en-US" i="1" dirty="0"/>
                  <a:t>temporal difference</a:t>
                </a:r>
                <a:r>
                  <a:rPr lang="en-US" dirty="0"/>
                  <a:t> (</a:t>
                </a:r>
                <a:r>
                  <a:rPr lang="pt-BR" dirty="0"/>
                  <a:t>TD) </a:t>
                </a:r>
                <a:r>
                  <a:rPr lang="pt-BR" i="1" dirty="0" err="1"/>
                  <a:t>error</a:t>
                </a:r>
                <a:r>
                  <a:rPr lang="pt-BR" dirty="0"/>
                  <a:t>).</a:t>
                </a:r>
              </a:p>
              <a:p>
                <a:r>
                  <a:rPr lang="pt-BR" dirty="0"/>
                  <a:t>É a diferença entre o que acabamos de descobrir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) e o que achávamos que sabíamos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pt-BR" dirty="0"/>
                  <a:t>). </a:t>
                </a:r>
              </a:p>
              <a:p>
                <a:r>
                  <a:rPr lang="pt-BR" dirty="0"/>
                  <a:t>Nós multiplicamos esse erro por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 para corrigir nossa crença passo a passo.</a:t>
                </a:r>
              </a:p>
              <a:p>
                <a:r>
                  <a:rPr lang="pt-BR" dirty="0"/>
                  <a:t>A cada transição,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pt-BR" dirty="0"/>
                  <a:t> se aproxima da recompensa imediata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pt-BR" dirty="0"/>
                  <a:t> mais o valor futuro ótimo descontado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788D2D-1B58-788D-B9CB-AA2B58DAC9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34057" cy="5032375"/>
              </a:xfrm>
              <a:blipFill>
                <a:blip r:embed="rId3"/>
                <a:stretch>
                  <a:fillRect l="-922" t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795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en-US" dirty="0" err="1"/>
              <a:t>equação</a:t>
            </a:r>
            <a:r>
              <a:rPr lang="en-US" dirty="0"/>
              <a:t> de Bellman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A equação de </a:t>
                </a:r>
                <a:r>
                  <a:rPr lang="pt-BR" dirty="0" err="1"/>
                  <a:t>Bellman</a:t>
                </a:r>
                <a:r>
                  <a:rPr lang="pt-BR" dirty="0"/>
                  <a:t> diz basicamente: </a:t>
                </a:r>
              </a:p>
              <a:p>
                <a:pPr marL="0" indent="0" algn="ctr">
                  <a:buNone/>
                </a:pPr>
                <a:r>
                  <a:rPr lang="pt-BR" dirty="0"/>
                  <a:t>“O valor de uma ação = recompensa imediata + melhor valor futuro possível”</a:t>
                </a:r>
              </a:p>
              <a:p>
                <a:r>
                  <a:rPr lang="pt-BR" dirty="0"/>
                  <a:t>Ou seja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γ</m:t>
                              </m:r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  <a:p>
                <a:r>
                  <a:rPr lang="pt-BR" dirty="0"/>
                  <a:t>A equação de </a:t>
                </a:r>
                <a:r>
                  <a:rPr lang="pt-BR" dirty="0" err="1"/>
                  <a:t>Bellman</a:t>
                </a:r>
                <a:r>
                  <a:rPr lang="pt-BR" dirty="0"/>
                  <a:t> pode ser interpretada como:</a:t>
                </a:r>
              </a:p>
              <a:p>
                <a:pPr marL="0" indent="0" algn="ctr">
                  <a:buNone/>
                </a:pPr>
                <a:r>
                  <a:rPr lang="pt-BR" dirty="0"/>
                  <a:t>Novo valor = Valor antigo +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pt-BR" dirty="0"/>
                  <a:t> erro</a:t>
                </a:r>
              </a:p>
              <a:p>
                <a:r>
                  <a:rPr lang="pt-BR" dirty="0"/>
                  <a:t>Ou seja, ajusta-se a estimativa </a:t>
                </a:r>
                <a:r>
                  <a:rPr lang="pt-BR" b="1" dirty="0"/>
                  <a:t>na direção do valor alvo.</a:t>
                </a:r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895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5501FFEB-BE69-B908-3625-F1E9E47232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A influência do fator de desconto,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5501FFEB-BE69-B908-3625-F1E9E4723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3900079-52BC-C584-121B-EE74AF2CB1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: o agente só liga para recompensas imediatas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Foca no curto prazo, recompensas futuras não importam.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aprendizado é mais rápido.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Usado em sistemas de controle em tempo real.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Por exemplo: controle de potência, MAC em redes (</a:t>
                </a:r>
                <a:r>
                  <a:rPr lang="en-US" dirty="0" err="1"/>
                  <a:t>transmitir</a:t>
                </a:r>
                <a:r>
                  <a:rPr lang="en-US" dirty="0"/>
                  <a:t> agora </a:t>
                </a:r>
                <a:r>
                  <a:rPr lang="en-US" dirty="0" err="1"/>
                  <a:t>ou</a:t>
                </a:r>
                <a:r>
                  <a:rPr lang="en-US" dirty="0"/>
                  <a:t> </a:t>
                </a:r>
                <a:r>
                  <a:rPr lang="en-US" dirty="0" err="1"/>
                  <a:t>esperar</a:t>
                </a:r>
                <a:r>
                  <a:rPr lang="en-US" dirty="0"/>
                  <a:t>), </a:t>
                </a:r>
                <a:r>
                  <a:rPr lang="en-US" dirty="0" err="1"/>
                  <a:t>controle</a:t>
                </a:r>
                <a:r>
                  <a:rPr lang="en-US" dirty="0"/>
                  <a:t> de </a:t>
                </a:r>
                <a:r>
                  <a:rPr lang="en-US" dirty="0" err="1"/>
                  <a:t>marcapasso</a:t>
                </a:r>
                <a:r>
                  <a:rPr lang="en-US" dirty="0"/>
                  <a:t>, </a:t>
                </a:r>
                <a:r>
                  <a:rPr lang="en-US" i="1" dirty="0"/>
                  <a:t>day trading</a:t>
                </a:r>
                <a:r>
                  <a:rPr lang="en-US" dirty="0"/>
                  <a:t> (</a:t>
                </a:r>
                <a:r>
                  <a:rPr lang="en-US" dirty="0" err="1"/>
                  <a:t>comprar</a:t>
                </a:r>
                <a:r>
                  <a:rPr lang="en-US" dirty="0"/>
                  <a:t> </a:t>
                </a:r>
                <a:r>
                  <a:rPr lang="en-US" dirty="0" err="1"/>
                  <a:t>ou</a:t>
                </a:r>
                <a:r>
                  <a:rPr lang="en-US" dirty="0"/>
                  <a:t> vender </a:t>
                </a:r>
                <a:r>
                  <a:rPr lang="en-US" dirty="0" err="1"/>
                  <a:t>ações</a:t>
                </a:r>
                <a:r>
                  <a:rPr lang="en-US" dirty="0"/>
                  <a:t> a </a:t>
                </a:r>
                <a:r>
                  <a:rPr lang="en-US" dirty="0" err="1"/>
                  <a:t>cada</a:t>
                </a:r>
                <a:r>
                  <a:rPr lang="en-US" dirty="0"/>
                  <a:t> </a:t>
                </a:r>
                <a:r>
                  <a:rPr lang="en-US" dirty="0" err="1"/>
                  <a:t>minuto</a:t>
                </a:r>
                <a:r>
                  <a:rPr lang="en-US" dirty="0"/>
                  <a:t>).</a:t>
                </a:r>
                <a:endParaRPr lang="pt-B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pt-BR" dirty="0"/>
                  <a:t>: o agente busca recompensas a longo prazo.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Ele valoriza recompensas que ocorrerão muito tempo depois.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treinamento é mais lento.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Usado em </a:t>
                </a:r>
                <a:r>
                  <a:rPr lang="en-US" dirty="0" err="1"/>
                  <a:t>navegação</a:t>
                </a:r>
                <a:r>
                  <a:rPr lang="en-US" dirty="0"/>
                  <a:t> </a:t>
                </a:r>
                <a:r>
                  <a:rPr lang="en-US" dirty="0" err="1"/>
                  <a:t>ou</a:t>
                </a:r>
                <a:r>
                  <a:rPr lang="en-US" dirty="0"/>
                  <a:t> </a:t>
                </a:r>
                <a:r>
                  <a:rPr lang="en-US" dirty="0" err="1"/>
                  <a:t>robótica</a:t>
                </a:r>
                <a:r>
                  <a:rPr lang="en-US" dirty="0"/>
                  <a:t>, </a:t>
                </a:r>
                <a:r>
                  <a:rPr lang="en-US" dirty="0" err="1"/>
                  <a:t>jogos</a:t>
                </a:r>
                <a:r>
                  <a:rPr lang="en-US" dirty="0"/>
                  <a:t> de </a:t>
                </a:r>
                <a:r>
                  <a:rPr lang="en-US" dirty="0" err="1"/>
                  <a:t>estratégia</a:t>
                </a:r>
                <a:r>
                  <a:rPr lang="en-US" dirty="0"/>
                  <a:t>, </a:t>
                </a:r>
                <a:r>
                  <a:rPr lang="en-US" dirty="0" err="1"/>
                  <a:t>planejamento</a:t>
                </a:r>
                <a:r>
                  <a:rPr lang="en-US" dirty="0"/>
                  <a:t> </a:t>
                </a:r>
                <a:r>
                  <a:rPr lang="pt-BR" dirty="0"/>
                  <a:t>onde ações iniciais afetam o resultado final e a recompensa só vem muito tempo depois ou no final</a:t>
                </a:r>
                <a:r>
                  <a:rPr lang="en-US" dirty="0"/>
                  <a:t>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en-US" dirty="0"/>
                  <a:t>Por </a:t>
                </a:r>
                <a:r>
                  <a:rPr lang="en-US" dirty="0" err="1"/>
                  <a:t>exemplo</a:t>
                </a:r>
                <a:r>
                  <a:rPr lang="en-US" dirty="0"/>
                  <a:t>: </a:t>
                </a:r>
                <a:r>
                  <a:rPr lang="pt-BR" dirty="0"/>
                  <a:t>robô indo até um destino distante, </a:t>
                </a:r>
                <a:r>
                  <a:rPr lang="pt-BR" i="1" dirty="0" err="1"/>
                  <a:t>pac</a:t>
                </a:r>
                <a:r>
                  <a:rPr lang="pt-BR" i="1" dirty="0"/>
                  <a:t> </a:t>
                </a:r>
                <a:r>
                  <a:rPr lang="pt-BR" i="1" dirty="0" err="1"/>
                  <a:t>man</a:t>
                </a:r>
                <a:r>
                  <a:rPr lang="pt-BR" i="1" dirty="0"/>
                  <a:t>, </a:t>
                </a:r>
                <a:r>
                  <a:rPr lang="pt-BR" dirty="0"/>
                  <a:t>xadrez, d</a:t>
                </a:r>
                <a:r>
                  <a:rPr lang="en-US" dirty="0" err="1"/>
                  <a:t>ecidir</a:t>
                </a:r>
                <a:r>
                  <a:rPr lang="en-US" dirty="0"/>
                  <a:t> </a:t>
                </a:r>
                <a:r>
                  <a:rPr lang="en-US" dirty="0" err="1"/>
                  <a:t>trajetórias</a:t>
                </a:r>
                <a:r>
                  <a:rPr lang="en-US" dirty="0"/>
                  <a:t> </a:t>
                </a:r>
                <a:r>
                  <a:rPr lang="en-US" dirty="0" err="1"/>
                  <a:t>eficientes</a:t>
                </a:r>
                <a:r>
                  <a:rPr lang="en-US" dirty="0"/>
                  <a:t> para v</a:t>
                </a:r>
                <a:r>
                  <a:rPr lang="pt-BR" dirty="0" err="1"/>
                  <a:t>eículos</a:t>
                </a:r>
                <a:r>
                  <a:rPr lang="pt-BR" dirty="0"/>
                  <a:t> autônomos (planejamento de rota).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3900079-52BC-C584-121B-EE74AF2CB1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  <a:blipFill>
                <a:blip r:embed="rId4"/>
                <a:stretch>
                  <a:fillRect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562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Off-</a:t>
            </a:r>
            <a:r>
              <a:rPr lang="pt-BR" i="1" dirty="0" err="1"/>
              <a:t>policy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65378" cy="490768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γ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pt-B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 Q-</a:t>
                </a:r>
                <a:r>
                  <a:rPr lang="pt-BR" i="1" dirty="0" err="1"/>
                  <a:t>learning</a:t>
                </a:r>
                <a:r>
                  <a:rPr lang="pt-BR" dirty="0"/>
                  <a:t> é um algoritmo </a:t>
                </a:r>
                <a:r>
                  <a:rPr lang="pt-BR" i="1" dirty="0"/>
                  <a:t>off-</a:t>
                </a:r>
                <a:r>
                  <a:rPr lang="pt-BR" i="1" dirty="0" err="1"/>
                  <a:t>policy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Ele atualiza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assumindo que o agente sempre escolhe a ação ótima futura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pt-BR" dirty="0"/>
                  <a:t>), independentemente da ação realmente tomada.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Mesmo que o algoritmo tenha explorado (ação aleatória), ele aprende como se tivesse agido de forma ótima.</a:t>
                </a:r>
              </a:p>
              <a:p>
                <a:r>
                  <a:rPr lang="pt-BR" dirty="0"/>
                  <a:t>Algoritmos </a:t>
                </a:r>
                <a:r>
                  <a:rPr lang="pt-BR" i="1" dirty="0" err="1"/>
                  <a:t>on-policy</a:t>
                </a:r>
                <a:r>
                  <a:rPr lang="pt-BR" dirty="0"/>
                  <a:t> usam a ação realmente escolhida para atualizar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65378" cy="4907684"/>
              </a:xfrm>
              <a:blipFill>
                <a:blip r:embed="rId3"/>
                <a:stretch>
                  <a:fillRect l="-983" r="-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0391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847702" y="1825624"/>
            <a:ext cx="9344297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O tabuleiro possui 4 </a:t>
            </a:r>
            <a:r>
              <a:rPr lang="pt-BR" b="1" dirty="0"/>
              <a:t>estados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Início (S): estado inicial de cada episódio, recompensa 0, não terminal.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Célula neutra (N): recompensa 0, não terminal.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Bomba (B): recompensa -1, </a:t>
            </a:r>
            <a:r>
              <a:rPr lang="pt-BR" b="1" dirty="0"/>
              <a:t>terminal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Meta (G): recompensa +1, </a:t>
            </a:r>
            <a:r>
              <a:rPr lang="pt-BR" b="1" dirty="0"/>
              <a:t>terminal</a:t>
            </a:r>
            <a:r>
              <a:rPr lang="pt-BR" dirty="0"/>
              <a:t>.</a:t>
            </a:r>
          </a:p>
          <a:p>
            <a:r>
              <a:rPr lang="pt-BR" b="1" dirty="0"/>
              <a:t>Ações</a:t>
            </a:r>
            <a:r>
              <a:rPr lang="pt-BR" dirty="0"/>
              <a:t>: cima, baixo, esquerda, direita.</a:t>
            </a:r>
          </a:p>
          <a:p>
            <a:r>
              <a:rPr lang="pt-BR" b="1" dirty="0"/>
              <a:t>Transições com bordas</a:t>
            </a:r>
            <a:r>
              <a:rPr lang="pt-BR" dirty="0"/>
              <a:t>: se uma ação levar para fora do tabuleiro, o agente </a:t>
            </a:r>
            <a:r>
              <a:rPr lang="pt-BR" b="1" dirty="0"/>
              <a:t>permanece na mesma célula</a:t>
            </a:r>
            <a:r>
              <a:rPr lang="pt-BR" dirty="0"/>
              <a:t>. A recompensa é a da célula onde ele permanece.</a:t>
            </a:r>
          </a:p>
          <a:p>
            <a:r>
              <a:rPr lang="pt-BR" b="1" dirty="0"/>
              <a:t>Dinâmica dos terminais</a:t>
            </a:r>
            <a:r>
              <a:rPr lang="pt-BR" dirty="0"/>
              <a:t>: ao atingir a Meta ou a Bomba, o episódio termina imediatamente. Não há ações seguintes nesses estados.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5" name="Retângulo 4"/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6" name="Retângulo 5"/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7" name="Retângulo 6"/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8" name="Retângulo 7"/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1944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036423" y="1825624"/>
                <a:ext cx="8155576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pt-BR" b="1" dirty="0"/>
                  <a:t>Parâmetros escolhidos para o exemplo</a:t>
                </a:r>
                <a:r>
                  <a:rPr lang="pt-BR" dirty="0"/>
                  <a:t>:</a:t>
                </a:r>
              </a:p>
              <a:p>
                <a:r>
                  <a:rPr lang="pt-BR" dirty="0"/>
                  <a:t>Taxa de aprendizado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Fator de desconto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b="1" dirty="0"/>
                  <a:t>Política de exploração</a:t>
                </a:r>
                <a:r>
                  <a:rPr lang="pt-BR" dirty="0"/>
                  <a:t>: 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pt-BR" dirty="0"/>
                  <a:t>-</a:t>
                </a:r>
                <a:r>
                  <a:rPr lang="pt-BR" i="1" dirty="0" err="1"/>
                  <a:t>greedy</a:t>
                </a:r>
                <a:r>
                  <a:rPr lang="pt-BR" dirty="0"/>
                  <a:t> com</a:t>
                </a:r>
                <a:r>
                  <a:rPr lang="pt-B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pt-BR" dirty="0"/>
                  <a:t> (50% de chance de ação aleatória, 50% de ação gulosa).</a:t>
                </a:r>
              </a:p>
              <a:p>
                <a:r>
                  <a:rPr lang="pt-BR" dirty="0"/>
                  <a:t>Iniciaremos o exemplo com esse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pt-BR" dirty="0"/>
                  <a:t> e depois consideraremos uma fase puramente gulosa para observar a política aprendida.</a:t>
                </a:r>
              </a:p>
              <a:p>
                <a:r>
                  <a:rPr lang="pt-BR" b="1" dirty="0"/>
                  <a:t>Inicialização</a:t>
                </a:r>
                <a:r>
                  <a:rPr lang="pt-BR" dirty="0"/>
                  <a:t>: todos os 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Bomba e Meta são terminais: nunca selecionamos ações neles.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36423" y="1825624"/>
                <a:ext cx="8155576" cy="5032375"/>
              </a:xfrm>
              <a:blipFill rotWithShape="0">
                <a:blip r:embed="rId2"/>
                <a:stretch>
                  <a:fillRect l="-1495" t="-26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74168F4C-1461-0E67-739C-794F3BA2E27F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1661C77-6D49-7695-33A8-24AC8975F8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8951278C-FB4A-EA25-283F-21CE38908F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22AD8854-3FD9-C9E4-14E1-3BE99181B3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7CB8B283-FDDD-232D-F6E6-84A69DA7A3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6262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p:graphicFrame>
        <p:nvGraphicFramePr>
          <p:cNvPr id="9" name="Espaço Reservado para Conteúdo 8"/>
          <p:cNvGraphicFramePr>
            <a:graphicFrameLocks noGrp="1"/>
          </p:cNvGraphicFramePr>
          <p:nvPr>
            <p:ph idx="1"/>
          </p:nvPr>
        </p:nvGraphicFramePr>
        <p:xfrm>
          <a:off x="4311333" y="3051165"/>
          <a:ext cx="6795825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Estado/Ação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Cima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Direita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Baixo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Esquerda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Início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Neutro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Bomba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Meta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4311332" y="2342806"/>
            <a:ext cx="788066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Tabela Q inicial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Agora vamos simular alguns episódios, mostrando a cada passo, o cálculo da atualização e a evolução da tabela.</a:t>
            </a:r>
          </a:p>
        </p:txBody>
      </p:sp>
      <p:grpSp>
        <p:nvGrpSpPr>
          <p:cNvPr id="3" name="Grupo 3">
            <a:extLst>
              <a:ext uri="{FF2B5EF4-FFF2-40B4-BE49-F238E27FC236}">
                <a16:creationId xmlns:a16="http://schemas.microsoft.com/office/drawing/2014/main" id="{7C8390DF-E0F5-77C3-F23D-5FC5AE3E3275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3C72E2F4-5305-3B2E-282A-1E79CDCAAD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10D217D7-C106-8C6F-4BD4-43179CF2C0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3168522B-6B86-CD14-1F31-D243D71FCE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0876C38C-DD14-442A-C28C-EA87854843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62012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3114136" y="1825624"/>
                <a:ext cx="9077863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Episódio 1</a:t>
                </a:r>
              </a:p>
              <a:p>
                <a:r>
                  <a:rPr lang="pt-BR" b="1" dirty="0"/>
                  <a:t>Passo 1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Estado atual: </a:t>
                </a:r>
                <a:r>
                  <a:rPr lang="pt-BR" b="1" dirty="0"/>
                  <a:t>início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Como todos os valores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, suponha que, por exploração, o agente selecionou a ação: </a:t>
                </a:r>
                <a:r>
                  <a:rPr lang="pt-BR" b="1" dirty="0"/>
                  <a:t>baixo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Transição: </a:t>
                </a:r>
                <a:r>
                  <a:rPr lang="pt-BR" b="1" dirty="0"/>
                  <a:t>início</a:t>
                </a:r>
                <a:r>
                  <a:rPr lang="pt-BR" dirty="0"/>
                  <a:t> + </a:t>
                </a:r>
                <a:r>
                  <a:rPr lang="pt-BR" b="1" dirty="0"/>
                  <a:t>baixo</a:t>
                </a:r>
                <a:r>
                  <a:rPr lang="pt-BR" dirty="0"/>
                  <a:t> → </a:t>
                </a:r>
                <a:r>
                  <a:rPr lang="pt-BR" b="1" dirty="0"/>
                  <a:t>bomba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Recompensa: 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pt-BR" dirty="0"/>
                  <a:t>, estado seguinte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/>
                  <a:t>bomba</a:t>
                </a:r>
                <a:r>
                  <a:rPr lang="pt-BR" dirty="0"/>
                  <a:t> (terminal).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0">
                                <a:latin typeface="Cambria Math" panose="02040503050406030204" pitchFamily="18" charset="0"/>
                              </a:rPr>
                              <m:t>𝐛𝐨𝐦𝐛𝐚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pt-BR" dirty="0"/>
                  <a:t> (terminal, 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 não se altera).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Atualização de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0" smtClean="0">
                            <a:latin typeface="Cambria Math" panose="02040503050406030204" pitchFamily="18" charset="0"/>
                          </a:rPr>
                          <m:t>𝐢𝐧</m:t>
                        </m:r>
                        <m:r>
                          <a:rPr lang="pt-BR" b="1" i="0" smtClean="0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pt-BR" b="1" i="0" smtClean="0">
                            <a:latin typeface="Cambria Math" panose="02040503050406030204" pitchFamily="18" charset="0"/>
                          </a:rPr>
                          <m:t>𝐜𝐢𝐨</m:t>
                        </m:r>
                        <m:r>
                          <a:rPr lang="pt-BR" b="1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1" i="0" smtClean="0">
                            <a:latin typeface="Cambria Math" panose="02040503050406030204" pitchFamily="18" charset="0"/>
                          </a:rPr>
                          <m:t>𝐛𝐚𝐢𝐱𝐨</m:t>
                        </m:r>
                      </m:e>
                    </m:d>
                  </m:oMath>
                </a14:m>
                <a:r>
                  <a:rPr lang="pt-BR" dirty="0"/>
                  <a:t>: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𝐢𝐧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𝐜𝐢𝐨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𝐛𝐚𝐢𝐱𝐨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=0+0.5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−1+0.9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×0−0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=−0.5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Episódio terminado.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4136" y="1825624"/>
                <a:ext cx="9077863" cy="5032375"/>
              </a:xfrm>
              <a:blipFill>
                <a:blip r:embed="rId2"/>
                <a:stretch>
                  <a:fillRect l="-1410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52739C65-D0F3-969D-4CE3-48D566EEC92A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C84F92F-615E-1709-587F-0C0082635D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B072F3F0-DF5C-9F14-FA4C-B908B5AAB2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F817F531-4BB3-C8D4-5DFE-E07397B1EB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3712FA53-3015-46D6-E410-8B38FB21C7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0389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p:graphicFrame>
        <p:nvGraphicFramePr>
          <p:cNvPr id="9" name="Espaço Reservado para Conteúdo 8"/>
          <p:cNvGraphicFramePr>
            <a:graphicFrameLocks noGrp="1"/>
          </p:cNvGraphicFramePr>
          <p:nvPr>
            <p:ph idx="1"/>
          </p:nvPr>
        </p:nvGraphicFramePr>
        <p:xfrm>
          <a:off x="4311333" y="3051165"/>
          <a:ext cx="6795825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Estado/Ação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Cima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Direita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Baixo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Esquerda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Início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Neutro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Bomba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Meta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Tabela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sz="2800" dirty="0"/>
                  <a:t> após episódio 1</a:t>
                </a:r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547" t="-10465" b="-325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3">
            <a:extLst>
              <a:ext uri="{FF2B5EF4-FFF2-40B4-BE49-F238E27FC236}">
                <a16:creationId xmlns:a16="http://schemas.microsoft.com/office/drawing/2014/main" id="{A6EFEECC-8467-430E-EB31-A76CBC11E369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CC4D669-B84F-F224-1CA6-0A58DE1C9A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386D1B5E-1B22-B171-16F1-752F6267EC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38072C44-2D02-8348-7FBA-682002BA7F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7675FA49-3A89-8102-AC62-E355B4BDDD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6557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3304903" y="1825624"/>
                <a:ext cx="8887096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Episódio 2</a:t>
                </a:r>
              </a:p>
              <a:p>
                <a:r>
                  <a:rPr lang="pt-BR" b="1" dirty="0"/>
                  <a:t>Passo 1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Ações com maior 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 em </a:t>
                </a:r>
                <a:r>
                  <a:rPr lang="pt-BR" b="1" dirty="0"/>
                  <a:t>início</a:t>
                </a:r>
                <a:r>
                  <a:rPr lang="pt-BR" dirty="0"/>
                  <a:t>: </a:t>
                </a:r>
                <a:r>
                  <a:rPr lang="pt-BR" b="1" dirty="0"/>
                  <a:t>cima</a:t>
                </a:r>
                <a:r>
                  <a:rPr lang="pt-BR" dirty="0"/>
                  <a:t>, </a:t>
                </a:r>
                <a:r>
                  <a:rPr lang="pt-BR" b="1" dirty="0"/>
                  <a:t>direita</a:t>
                </a:r>
                <a:r>
                  <a:rPr lang="pt-BR" dirty="0"/>
                  <a:t> e </a:t>
                </a:r>
                <a:r>
                  <a:rPr lang="pt-BR" b="1" dirty="0"/>
                  <a:t>esquerda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política poderia escolher qualquer uma delas, mas vamos supor que a escolha foi aleatória (exploração): </a:t>
                </a:r>
                <a:r>
                  <a:rPr lang="pt-BR" b="1" dirty="0"/>
                  <a:t>direita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Transição: </a:t>
                </a:r>
                <a:r>
                  <a:rPr lang="pt-BR" b="1" dirty="0"/>
                  <a:t>início</a:t>
                </a:r>
                <a:r>
                  <a:rPr lang="pt-BR" dirty="0"/>
                  <a:t> + </a:t>
                </a:r>
                <a:r>
                  <a:rPr lang="pt-BR" b="1" dirty="0"/>
                  <a:t>direita</a:t>
                </a:r>
                <a:r>
                  <a:rPr lang="pt-BR" dirty="0"/>
                  <a:t> → </a:t>
                </a:r>
                <a:r>
                  <a:rPr lang="pt-BR" b="1" dirty="0"/>
                  <a:t>neutro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Recompensa: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, estado seguinte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/>
                  <a:t>neutro </a:t>
                </a:r>
                <a:r>
                  <a:rPr lang="pt-BR" dirty="0"/>
                  <a:t>(não terminal).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0" smtClean="0">
                                <a:latin typeface="Cambria Math" panose="02040503050406030204" pitchFamily="18" charset="0"/>
                              </a:rPr>
                              <m:t>𝐧𝐞𝐮𝐭𝐫𝐨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pt-BR" dirty="0"/>
                  <a:t> (todos zero).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Atualização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>
                            <a:latin typeface="Cambria Math" panose="02040503050406030204" pitchFamily="18" charset="0"/>
                          </a:rPr>
                          <m:t>𝐢𝐧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𝐜𝐢𝐨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𝐝𝐢𝐫𝐞𝐢𝐭𝐚</m:t>
                        </m:r>
                      </m:e>
                    </m:d>
                  </m:oMath>
                </a14:m>
                <a:r>
                  <a:rPr lang="pt-BR" dirty="0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>
                              <a:latin typeface="Cambria Math" panose="02040503050406030204" pitchFamily="18" charset="0"/>
                            </a:rPr>
                            <m:t>𝐢𝐧</m:t>
                          </m:r>
                          <m:r>
                            <a:rPr lang="pt-BR" b="1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pt-BR" b="1">
                              <a:latin typeface="Cambria Math" panose="02040503050406030204" pitchFamily="18" charset="0"/>
                            </a:rPr>
                            <m:t>𝐜𝐢𝐨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𝐝𝐢𝐫𝐞𝐢𝐭𝐚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b="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valor permanece 0.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04903" y="1825624"/>
                <a:ext cx="8887096" cy="5032375"/>
              </a:xfrm>
              <a:blipFill rotWithShape="0">
                <a:blip r:embed="rId2"/>
                <a:stretch>
                  <a:fillRect l="-1372" t="-1937" r="-8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A83B95AD-699F-5328-D211-3678DEC21F99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D977EDCF-B182-EBBE-38F0-08E1481914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CD598AA9-8E90-283B-ADF7-0801367D39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5A7BA062-625E-0D18-EA96-C438DD9E9B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BCABF3F3-A175-319A-D217-4197A29269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0709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3304903" y="1825624"/>
                <a:ext cx="8887096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Episódio 2</a:t>
                </a:r>
              </a:p>
              <a:p>
                <a:r>
                  <a:rPr lang="pt-BR" b="1" dirty="0"/>
                  <a:t>Passo 2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Agora o agente está em </a:t>
                </a:r>
                <a:r>
                  <a:rPr lang="pt-BR" b="1" dirty="0"/>
                  <a:t>neutro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Todas as ações em </a:t>
                </a:r>
                <a:r>
                  <a:rPr lang="pt-BR" b="1" dirty="0"/>
                  <a:t>neutro</a:t>
                </a:r>
                <a:r>
                  <a:rPr lang="pt-BR" dirty="0"/>
                  <a:t> com 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Suponha que, por exploração, o agente escolheu </a:t>
                </a:r>
                <a:r>
                  <a:rPr lang="pt-BR" b="1" dirty="0"/>
                  <a:t>baixo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Transição: </a:t>
                </a:r>
                <a:r>
                  <a:rPr lang="pt-BR" b="1" dirty="0"/>
                  <a:t>neutro</a:t>
                </a:r>
                <a:r>
                  <a:rPr lang="pt-BR" dirty="0"/>
                  <a:t> + </a:t>
                </a:r>
                <a:r>
                  <a:rPr lang="pt-BR" b="1" dirty="0"/>
                  <a:t>baixo</a:t>
                </a:r>
                <a:r>
                  <a:rPr lang="pt-BR" dirty="0"/>
                  <a:t> → </a:t>
                </a:r>
                <a:r>
                  <a:rPr lang="pt-BR" b="1" dirty="0"/>
                  <a:t>meta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Recompensa: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pt-BR" dirty="0"/>
                  <a:t>, estado seguinte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/>
                  <a:t>meta </a:t>
                </a:r>
                <a:r>
                  <a:rPr lang="pt-BR" dirty="0"/>
                  <a:t>(terminal).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0" smtClean="0">
                                <a:latin typeface="Cambria Math" panose="02040503050406030204" pitchFamily="18" charset="0"/>
                              </a:rPr>
                              <m:t>𝐦𝐞𝐭𝐚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pt-BR" dirty="0"/>
                  <a:t> (todos zero).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Atualização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>
                            <a:latin typeface="Cambria Math" panose="02040503050406030204" pitchFamily="18" charset="0"/>
                          </a:rPr>
                          <m:t>𝐧𝐞𝐮𝐭𝐫𝐨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𝐛𝐚𝐢𝐱𝐨</m:t>
                        </m:r>
                      </m:e>
                    </m:d>
                  </m:oMath>
                </a14:m>
                <a:r>
                  <a:rPr lang="pt-BR"/>
                  <a:t>:</a:t>
                </a:r>
                <a:endParaRPr lang="pt-B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𝐧𝐞𝐮𝐭𝐫𝐨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𝐛𝐚𝐢𝐱𝐨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=0+0.5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+0.9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×0−0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.5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Episódio terminado.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04903" y="1825624"/>
                <a:ext cx="8887096" cy="5032375"/>
              </a:xfrm>
              <a:blipFill rotWithShape="0">
                <a:blip r:embed="rId2"/>
                <a:stretch>
                  <a:fillRect l="-1372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23A925FE-739D-AD88-CC9F-311717E70EC7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E92CC85B-8519-33DA-373E-FE4C2D3710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8C077A30-29E2-D15B-A333-DC70E6B22B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9CF834AF-34A4-4E6B-49B9-F18CDBDDCC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8EC56E4C-69F1-08FE-4B15-87679A0711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651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p:graphicFrame>
        <p:nvGraphicFramePr>
          <p:cNvPr id="9" name="Espaço Reservado para Conteúdo 8"/>
          <p:cNvGraphicFramePr>
            <a:graphicFrameLocks noGrp="1"/>
          </p:cNvGraphicFramePr>
          <p:nvPr>
            <p:ph idx="1"/>
          </p:nvPr>
        </p:nvGraphicFramePr>
        <p:xfrm>
          <a:off x="4311333" y="3051165"/>
          <a:ext cx="6795825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Estado/Ação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Cima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Direita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Baixo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Esquerda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Início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Neutro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Bomba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Meta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Tabela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após episódio 2</a:t>
                </a:r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547" t="-10465" b="-325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3">
            <a:extLst>
              <a:ext uri="{FF2B5EF4-FFF2-40B4-BE49-F238E27FC236}">
                <a16:creationId xmlns:a16="http://schemas.microsoft.com/office/drawing/2014/main" id="{E0B03E94-77B3-6496-2BA8-13E2D6CFF6D4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7B1AC67F-3091-9EFF-8140-65B4D669E1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25D18C62-2D77-519D-E7DC-F484F798A3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3EC1D4B1-4FC8-D0C9-D002-F9C37AD93D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F4A4D55C-0BDD-78CB-72FD-8A3D55B395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3403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3304903" y="1825624"/>
                <a:ext cx="8887096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Episódio 3</a:t>
                </a:r>
              </a:p>
              <a:p>
                <a:r>
                  <a:rPr lang="pt-BR" b="1" dirty="0"/>
                  <a:t>Passo 1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Ações com maior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 em </a:t>
                </a:r>
                <a:r>
                  <a:rPr lang="pt-BR" b="1" dirty="0"/>
                  <a:t>início</a:t>
                </a:r>
                <a:r>
                  <a:rPr lang="pt-BR" dirty="0"/>
                  <a:t>: </a:t>
                </a:r>
                <a:r>
                  <a:rPr lang="pt-BR" b="1" dirty="0"/>
                  <a:t>cima</a:t>
                </a:r>
                <a:r>
                  <a:rPr lang="pt-BR" dirty="0"/>
                  <a:t>, </a:t>
                </a:r>
                <a:r>
                  <a:rPr lang="pt-BR" b="1" dirty="0"/>
                  <a:t>direita</a:t>
                </a:r>
                <a:r>
                  <a:rPr lang="pt-BR" dirty="0"/>
                  <a:t> e </a:t>
                </a:r>
                <a:r>
                  <a:rPr lang="pt-BR" b="1" dirty="0"/>
                  <a:t>esquerda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Podemos ter exploração ou </a:t>
                </a:r>
                <a:r>
                  <a:rPr lang="pt-BR" dirty="0" err="1"/>
                  <a:t>explotação</a:t>
                </a:r>
                <a:r>
                  <a:rPr lang="pt-BR" dirty="0"/>
                  <a:t>. Suponha que a escolha foi gulosa (explotação): </a:t>
                </a:r>
                <a:r>
                  <a:rPr lang="pt-BR" b="1" dirty="0"/>
                  <a:t>direita.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Transição: </a:t>
                </a:r>
                <a:r>
                  <a:rPr lang="pt-BR" b="1" dirty="0"/>
                  <a:t>início</a:t>
                </a:r>
                <a:r>
                  <a:rPr lang="pt-BR" dirty="0"/>
                  <a:t> + </a:t>
                </a:r>
                <a:r>
                  <a:rPr lang="pt-BR" b="1" dirty="0"/>
                  <a:t>direita</a:t>
                </a:r>
                <a:r>
                  <a:rPr lang="pt-BR" dirty="0"/>
                  <a:t> → </a:t>
                </a:r>
                <a:r>
                  <a:rPr lang="pt-BR" b="1" dirty="0"/>
                  <a:t>neutro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Recompensa: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, estado seguinte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/>
                  <a:t>neutro </a:t>
                </a:r>
                <a:r>
                  <a:rPr lang="pt-BR" dirty="0"/>
                  <a:t>(não terminal).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>
                                <a:latin typeface="Cambria Math" panose="02040503050406030204" pitchFamily="18" charset="0"/>
                              </a:rPr>
                              <m:t>𝐧𝐞𝐮𝐭𝐫𝐨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.5</m:t>
                        </m:r>
                      </m:e>
                    </m:func>
                  </m:oMath>
                </a14:m>
                <a:r>
                  <a:rPr lang="pt-BR" dirty="0"/>
                  <a:t> (ação </a:t>
                </a:r>
                <a:r>
                  <a:rPr lang="pt-BR" b="1" dirty="0"/>
                  <a:t>baixo</a:t>
                </a:r>
                <a:r>
                  <a:rPr lang="pt-BR" dirty="0"/>
                  <a:t> no estado </a:t>
                </a:r>
                <a:r>
                  <a:rPr lang="pt-BR" b="1" dirty="0"/>
                  <a:t>neutro</a:t>
                </a:r>
                <a:r>
                  <a:rPr lang="pt-BR" dirty="0"/>
                  <a:t>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Atualização: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>
                              <a:latin typeface="Cambria Math" panose="02040503050406030204" pitchFamily="18" charset="0"/>
                            </a:rPr>
                            <m:t>𝐢𝐧</m:t>
                          </m:r>
                          <m:r>
                            <a:rPr lang="pt-BR" b="1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pt-BR" b="1">
                              <a:latin typeface="Cambria Math" panose="02040503050406030204" pitchFamily="18" charset="0"/>
                            </a:rPr>
                            <m:t>𝐜𝐢𝐨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>
                              <a:latin typeface="Cambria Math" panose="02040503050406030204" pitchFamily="18" charset="0"/>
                            </a:rPr>
                            <m:t>𝐝𝐢𝐫𝐞𝐢𝐭𝐚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=0+0.5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0+0.9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.5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.225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04903" y="1825624"/>
                <a:ext cx="8887096" cy="5032375"/>
              </a:xfrm>
              <a:blipFill>
                <a:blip r:embed="rId2"/>
                <a:stretch>
                  <a:fillRect l="-1372" t="-1937" r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EBE285D3-11CE-3FC5-5973-50143D808579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BEC31F2A-4596-4382-1F8A-DD0743BB5A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32316B35-D1F6-B410-F0F0-0CC6B2E71E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35D8BADA-04FE-0F42-C046-362CE030D1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81187E6C-A2A7-2DC0-5E9F-CF67594C0A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0650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3304903" y="1825624"/>
                <a:ext cx="8887096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Episódio 3</a:t>
                </a:r>
              </a:p>
              <a:p>
                <a:r>
                  <a:rPr lang="pt-BR" b="1" dirty="0"/>
                  <a:t>Passo 2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Agora o agente está no estado </a:t>
                </a:r>
                <a:r>
                  <a:rPr lang="pt-BR" b="1" dirty="0"/>
                  <a:t>neutro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Suponha que, por exploração, o agente escolheu </a:t>
                </a:r>
                <a:r>
                  <a:rPr lang="pt-BR" b="1" dirty="0"/>
                  <a:t>baixo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Transição: </a:t>
                </a:r>
                <a:r>
                  <a:rPr lang="pt-BR" b="1" dirty="0"/>
                  <a:t>neutro</a:t>
                </a:r>
                <a:r>
                  <a:rPr lang="pt-BR" dirty="0"/>
                  <a:t> + </a:t>
                </a:r>
                <a:r>
                  <a:rPr lang="pt-BR" b="1" dirty="0"/>
                  <a:t>baixo</a:t>
                </a:r>
                <a:r>
                  <a:rPr lang="pt-BR" dirty="0"/>
                  <a:t> → </a:t>
                </a:r>
                <a:r>
                  <a:rPr lang="pt-BR" b="1" dirty="0"/>
                  <a:t>meta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Recompensa: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=+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, estado seguinte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/>
                  <a:t>meta </a:t>
                </a:r>
                <a:r>
                  <a:rPr lang="pt-BR" dirty="0"/>
                  <a:t>(terminal).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0" smtClean="0">
                                <a:latin typeface="Cambria Math" panose="02040503050406030204" pitchFamily="18" charset="0"/>
                              </a:rPr>
                              <m:t>𝐦𝐞𝐭𝐚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pt-BR" dirty="0"/>
                  <a:t> (todos zero).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Atualização: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𝐧𝐞𝐮𝐭𝐫𝐨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𝐛𝐚𝐢𝐱𝐨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Episódio terminado.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04903" y="1825624"/>
                <a:ext cx="8887096" cy="5032375"/>
              </a:xfrm>
              <a:blipFill>
                <a:blip r:embed="rId2"/>
                <a:stretch>
                  <a:fillRect l="-1372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C3A8E62A-6481-4CF4-7C1B-7A3314F9C8A6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17430A1C-640B-A4D9-FA51-15344FE3B6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EC8A0BB-532F-E9F7-B84E-D46C89C0B0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2210461D-7EE8-27BE-1D77-112D6EDE2D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3A4C7A6B-5027-C764-7373-B54B417419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93773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p:graphicFrame>
        <p:nvGraphicFramePr>
          <p:cNvPr id="9" name="Espaço Reservado para Conteúdo 8"/>
          <p:cNvGraphicFramePr>
            <a:graphicFrameLocks noGrp="1"/>
          </p:cNvGraphicFramePr>
          <p:nvPr>
            <p:ph idx="1"/>
          </p:nvPr>
        </p:nvGraphicFramePr>
        <p:xfrm>
          <a:off x="4311333" y="3051165"/>
          <a:ext cx="6795825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Estado/Ação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Cima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Direita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Baixo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Esquerda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Início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Neutro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Bomba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Meta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Tabela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sz="2800" dirty="0"/>
                  <a:t> após episódio 3</a:t>
                </a:r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547" t="-10465" b="-325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3">
            <a:extLst>
              <a:ext uri="{FF2B5EF4-FFF2-40B4-BE49-F238E27FC236}">
                <a16:creationId xmlns:a16="http://schemas.microsoft.com/office/drawing/2014/main" id="{F10DB6EC-BF4C-440E-F262-5A6959A4A280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E598BFA1-D9AC-A326-1CE9-16A5D8D020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925F04BF-00A1-22BC-BB23-280A02C5A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DF578BFA-6526-0273-5F67-36257FA1E9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EE874D75-B9F8-4D8C-6CBD-F56BB6D370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826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2886891" y="1825624"/>
                <a:ext cx="9305108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Episódio 4</a:t>
                </a:r>
              </a:p>
              <a:p>
                <a:r>
                  <a:rPr lang="pt-BR" b="1" dirty="0"/>
                  <a:t>Passo 1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Ação com maior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 em </a:t>
                </a:r>
                <a:r>
                  <a:rPr lang="pt-BR" b="1" dirty="0"/>
                  <a:t>início</a:t>
                </a:r>
                <a:r>
                  <a:rPr lang="pt-BR" dirty="0"/>
                  <a:t>: </a:t>
                </a:r>
                <a:r>
                  <a:rPr lang="pt-BR" b="1" dirty="0"/>
                  <a:t>direita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Suponha que, por </a:t>
                </a:r>
                <a:r>
                  <a:rPr lang="pt-BR" dirty="0" err="1"/>
                  <a:t>explotação</a:t>
                </a:r>
                <a:r>
                  <a:rPr lang="pt-BR" dirty="0"/>
                  <a:t>, o agente escolheu </a:t>
                </a:r>
                <a:r>
                  <a:rPr lang="pt-BR" b="1" dirty="0"/>
                  <a:t>direita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Transição: </a:t>
                </a:r>
                <a:r>
                  <a:rPr lang="pt-BR" b="1" dirty="0"/>
                  <a:t>início </a:t>
                </a:r>
                <a:r>
                  <a:rPr lang="pt-BR" dirty="0"/>
                  <a:t>+ </a:t>
                </a:r>
                <a:r>
                  <a:rPr lang="pt-BR" b="1" dirty="0"/>
                  <a:t>direita </a:t>
                </a:r>
                <a:r>
                  <a:rPr lang="pt-BR" dirty="0"/>
                  <a:t>→ </a:t>
                </a:r>
                <a:r>
                  <a:rPr lang="pt-BR" b="1" dirty="0"/>
                  <a:t>neutro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Recompensa: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, estado seguinte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/>
                  <a:t>neutro </a:t>
                </a:r>
                <a:r>
                  <a:rPr lang="pt-BR" dirty="0"/>
                  <a:t>(não terminal).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0" smtClean="0">
                                <a:latin typeface="Cambria Math" panose="02040503050406030204" pitchFamily="18" charset="0"/>
                              </a:rPr>
                              <m:t>𝐧𝐞𝐮𝐭𝐫𝐨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e>
                    </m:func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Atualização: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𝐢𝐧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𝐜𝐢𝐨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𝐝𝐢𝐫𝐞𝐢𝐭𝐚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5+0.5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+0.9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.75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86891" y="1825624"/>
                <a:ext cx="9305108" cy="5032375"/>
              </a:xfrm>
              <a:blipFill rotWithShape="0">
                <a:blip r:embed="rId2"/>
                <a:stretch>
                  <a:fillRect l="-1376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C34C076B-29E7-DE53-C439-F6FEDFF73C43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E18D00F2-7B67-3087-EDDC-FC10ECA943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19B5E6A-1D05-C66B-9812-1A9DD5CC79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9856A90-BC94-F116-5763-AD5B851E46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445A72D5-FF96-1B59-4C25-50FA342E53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70552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3122762" y="1825624"/>
                <a:ext cx="9069237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Episódio 4</a:t>
                </a:r>
              </a:p>
              <a:p>
                <a:r>
                  <a:rPr lang="pt-BR" b="1" dirty="0"/>
                  <a:t>Passo 2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Agora o agente está no estado </a:t>
                </a:r>
                <a:r>
                  <a:rPr lang="pt-BR" b="1" dirty="0"/>
                  <a:t>neutro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Suponha que, por </a:t>
                </a:r>
                <a:r>
                  <a:rPr lang="pt-BR" dirty="0" err="1"/>
                  <a:t>explotação</a:t>
                </a:r>
                <a:r>
                  <a:rPr lang="pt-BR" dirty="0"/>
                  <a:t>, o agente escolheu </a:t>
                </a:r>
                <a:r>
                  <a:rPr lang="pt-BR" b="1" dirty="0"/>
                  <a:t>baixo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Transição: </a:t>
                </a:r>
                <a:r>
                  <a:rPr lang="pt-BR" b="1" dirty="0"/>
                  <a:t>neutro</a:t>
                </a:r>
                <a:r>
                  <a:rPr lang="pt-BR" dirty="0"/>
                  <a:t> + </a:t>
                </a:r>
                <a:r>
                  <a:rPr lang="pt-BR" b="1" dirty="0"/>
                  <a:t>baixo</a:t>
                </a:r>
                <a:r>
                  <a:rPr lang="pt-BR" dirty="0"/>
                  <a:t> → </a:t>
                </a:r>
                <a:r>
                  <a:rPr lang="pt-BR" b="1" dirty="0"/>
                  <a:t>meta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Recompensa: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pt-BR" dirty="0"/>
                  <a:t>, estado seguinte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/>
                  <a:t>meta </a:t>
                </a:r>
                <a:r>
                  <a:rPr lang="pt-BR" dirty="0"/>
                  <a:t>(terminal).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0" smtClean="0">
                                <a:latin typeface="Cambria Math" panose="02040503050406030204" pitchFamily="18" charset="0"/>
                              </a:rPr>
                              <m:t>𝐦𝐞𝐭𝐚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pt-BR" dirty="0"/>
                  <a:t> (todos zero).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Atualização: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𝐧𝐞𝐮𝐭𝐫𝐨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𝐛𝐚𝐢𝐱𝐨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.75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+0.5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0−0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.75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.875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Episódio terminado.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2762" y="1825624"/>
                <a:ext cx="9069237" cy="5032375"/>
              </a:xfrm>
              <a:blipFill>
                <a:blip r:embed="rId2"/>
                <a:stretch>
                  <a:fillRect l="-1344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907DA066-8133-FF9B-4E6F-BAD19D2EC1C5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FE0D284-CC29-BD50-3209-E11F69AAA8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27247A6E-3FC7-A4F3-B1EB-A93EAB30C5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DF32018-56D0-B24E-056D-C3CB17D8D9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BA45D1E7-5273-369D-F84E-5F26EEBF66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7552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p:graphicFrame>
        <p:nvGraphicFramePr>
          <p:cNvPr id="9" name="Espaço Reservado para Conteúdo 8"/>
          <p:cNvGraphicFramePr>
            <a:graphicFrameLocks noGrp="1"/>
          </p:cNvGraphicFramePr>
          <p:nvPr>
            <p:ph idx="1"/>
          </p:nvPr>
        </p:nvGraphicFramePr>
        <p:xfrm>
          <a:off x="4311333" y="3051165"/>
          <a:ext cx="6795825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Estado/Ação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Cima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Direita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Baixo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Esquerda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Início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Neutro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Bomba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Meta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Tabela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sz="2800" dirty="0"/>
                  <a:t> após episódio 4</a:t>
                </a:r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547" t="-10465" b="-325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3">
            <a:extLst>
              <a:ext uri="{FF2B5EF4-FFF2-40B4-BE49-F238E27FC236}">
                <a16:creationId xmlns:a16="http://schemas.microsoft.com/office/drawing/2014/main" id="{97AB1642-5AA8-EA0E-096A-60B24F1C7FBC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B6C2E181-276E-F0F5-4FF6-736C7D0278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FFB770A5-8E8D-D495-1F13-287EB2A209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FCB1C7CA-2334-4A26-15FA-A21F21BEBB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946104EC-AA89-4517-282A-5E24468C2B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56807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6C105-B08E-C283-5F24-25330850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2E62E-8899-0FBE-1C65-0C35CD1EC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9F3AA60-528A-1223-FDC2-0A9A76949B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25634" y="1825624"/>
                <a:ext cx="9566365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Episódio 5</a:t>
                </a:r>
              </a:p>
              <a:p>
                <a:r>
                  <a:rPr lang="pt-BR" b="1" dirty="0"/>
                  <a:t>Passo 1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Ação com maior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 em </a:t>
                </a:r>
                <a:r>
                  <a:rPr lang="pt-BR" b="1" dirty="0"/>
                  <a:t>início</a:t>
                </a:r>
                <a:r>
                  <a:rPr lang="pt-BR" dirty="0"/>
                  <a:t>: </a:t>
                </a:r>
                <a:r>
                  <a:rPr lang="pt-BR" b="1" dirty="0"/>
                  <a:t>direita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Suponha que, por exploração, o agente escolheu </a:t>
                </a:r>
                <a:r>
                  <a:rPr lang="pt-BR" b="1" dirty="0"/>
                  <a:t>cima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Transição: </a:t>
                </a:r>
                <a:r>
                  <a:rPr lang="pt-BR" b="1" dirty="0"/>
                  <a:t>início </a:t>
                </a:r>
                <a:r>
                  <a:rPr lang="pt-BR" dirty="0"/>
                  <a:t>+ </a:t>
                </a:r>
                <a:r>
                  <a:rPr lang="pt-BR" b="1" dirty="0"/>
                  <a:t>cima </a:t>
                </a:r>
                <a:r>
                  <a:rPr lang="pt-BR" dirty="0"/>
                  <a:t>→ </a:t>
                </a:r>
                <a:r>
                  <a:rPr lang="pt-BR" b="1" dirty="0"/>
                  <a:t>início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Recompensa: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, estado seguinte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/>
                  <a:t>início </a:t>
                </a:r>
                <a:r>
                  <a:rPr lang="pt-BR" dirty="0"/>
                  <a:t>(não terminal).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1" dirty="0"/>
                              <m:t>in</m:t>
                            </m:r>
                            <m:r>
                              <m:rPr>
                                <m:nor/>
                              </m:rPr>
                              <a:rPr lang="pt-BR" b="1" dirty="0"/>
                              <m:t>í</m:t>
                            </m:r>
                            <m:r>
                              <m:rPr>
                                <m:nor/>
                              </m:rPr>
                              <a:rPr lang="pt-BR" b="1" dirty="0"/>
                              <m:t>cio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.45</m:t>
                        </m:r>
                      </m:e>
                    </m:func>
                  </m:oMath>
                </a14:m>
                <a:r>
                  <a:rPr lang="pt-BR" dirty="0"/>
                  <a:t> (direita).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Atualização: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𝐢𝐧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𝐜𝐢𝐨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𝐜𝐢𝐦𝐚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=0+0.5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+0.9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.45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0.2025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agente aprende que mesmo uma ação que não sai do lugar pode ter valor, pois do mesmo estado inicial pode-se depois tomar a ação ótima. 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9F3AA60-528A-1223-FDC2-0A9A76949B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25634" y="1825624"/>
                <a:ext cx="9566365" cy="5032375"/>
              </a:xfrm>
              <a:blipFill>
                <a:blip r:embed="rId2"/>
                <a:stretch>
                  <a:fillRect l="-1338" t="-1937" r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3D712B58-602F-97FB-7627-4714717F910E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31D04275-DFD5-D5AB-9C57-93F9B34121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44E82013-A8FB-8252-757D-8F5ADFA51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38841B52-9AB5-ADA8-CCB8-0EE9BB88E2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2BB231D3-EBFE-5EAA-CBCF-15F5CAD9A2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6841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2625634" y="1825624"/>
                <a:ext cx="9566365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Episódio 5</a:t>
                </a:r>
              </a:p>
              <a:p>
                <a:r>
                  <a:rPr lang="pt-BR" b="1" dirty="0"/>
                  <a:t>Passo 2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Ação com maior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 em </a:t>
                </a:r>
                <a:r>
                  <a:rPr lang="pt-BR" b="1" dirty="0"/>
                  <a:t>início</a:t>
                </a:r>
                <a:r>
                  <a:rPr lang="pt-BR" dirty="0"/>
                  <a:t>: </a:t>
                </a:r>
                <a:r>
                  <a:rPr lang="pt-BR" b="1" dirty="0"/>
                  <a:t>direita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Suponha que, por exploração, o agente escolheu </a:t>
                </a:r>
                <a:r>
                  <a:rPr lang="pt-BR" b="1" dirty="0"/>
                  <a:t>baixo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Transição: </a:t>
                </a:r>
                <a:r>
                  <a:rPr lang="pt-BR" b="1" dirty="0"/>
                  <a:t>início </a:t>
                </a:r>
                <a:r>
                  <a:rPr lang="pt-BR" dirty="0"/>
                  <a:t>+ </a:t>
                </a:r>
                <a:r>
                  <a:rPr lang="pt-BR" b="1" dirty="0"/>
                  <a:t>baixo </a:t>
                </a:r>
                <a:r>
                  <a:rPr lang="pt-BR" dirty="0"/>
                  <a:t>→ </a:t>
                </a:r>
                <a:r>
                  <a:rPr lang="pt-BR" b="1" dirty="0"/>
                  <a:t>bomba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Recompensa: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pt-BR" dirty="0"/>
                  <a:t>, estado seguinte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/>
                  <a:t>bomba </a:t>
                </a:r>
                <a:r>
                  <a:rPr lang="pt-BR" dirty="0"/>
                  <a:t>(terminal).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0" smtClean="0">
                                <a:latin typeface="Cambria Math" panose="02040503050406030204" pitchFamily="18" charset="0"/>
                              </a:rPr>
                              <m:t>𝐛𝐨𝐦𝐛𝐚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func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Atualização: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𝐢𝐧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𝐜𝐢𝐨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𝐛𝐚𝐢𝐱𝐨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0.5+0.5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+0.9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0.5</m:t>
                              </m:r>
                            </m:e>
                          </m:d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−0.75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 err="1"/>
                  <a:t>Episódio</a:t>
                </a:r>
                <a:r>
                  <a:rPr lang="en-US" dirty="0"/>
                  <a:t> </a:t>
                </a:r>
                <a:r>
                  <a:rPr lang="en-US" dirty="0" err="1"/>
                  <a:t>terminado</a:t>
                </a:r>
                <a:r>
                  <a:rPr lang="en-US" dirty="0"/>
                  <a:t>.</a:t>
                </a:r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25634" y="1825624"/>
                <a:ext cx="9566365" cy="5032375"/>
              </a:xfrm>
              <a:blipFill>
                <a:blip r:embed="rId2"/>
                <a:stretch>
                  <a:fillRect l="-1338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DF94485B-AE4C-F75C-E41A-1454145ABFD4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BC0E42BE-20EE-6391-7B40-2481F60D9E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26DE4AF6-E438-43FC-F271-569141A400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F756718D-F35F-17A7-98DE-B2D1A59BF3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55F72E72-9CE5-A5FA-DA01-254003A9B9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7995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B3614-FABC-7C3E-7892-9B8F596E2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8E34B-1B46-88D5-8CCF-87CAC41B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EB0C3E7A-B1DC-85C3-EAE9-B4372A128F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311333" y="3051165"/>
          <a:ext cx="6795825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Estado/Ação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Cima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Direita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Baixo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Esquerda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Início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-0.75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Neutro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Bomba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Meta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3534E12-EEBC-1E44-7531-38B020BCD93B}"/>
                  </a:ext>
                </a:extLst>
              </p:cNvPr>
              <p:cNvSpPr txBox="1"/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Tabela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sz="2800" dirty="0"/>
                  <a:t> após episódio 5</a:t>
                </a:r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3534E12-EEBC-1E44-7531-38B020BCD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blipFill>
                <a:blip r:embed="rId2"/>
                <a:stretch>
                  <a:fillRect l="-1547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3">
            <a:extLst>
              <a:ext uri="{FF2B5EF4-FFF2-40B4-BE49-F238E27FC236}">
                <a16:creationId xmlns:a16="http://schemas.microsoft.com/office/drawing/2014/main" id="{A4966D2B-85F8-0521-1011-54E0AC4BD6CC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70EB4F07-CDE4-7B93-9F89-2052F60E7C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61992374-0B19-CF53-EF7F-9F2985CD99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D23F6670-A456-7315-9B92-8C222E32C8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2581746B-7FBE-D589-E9F0-017F9C07CC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6046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2734574" y="1825624"/>
                <a:ext cx="9457425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Episódio 6</a:t>
                </a:r>
              </a:p>
              <a:p>
                <a:r>
                  <a:rPr lang="pt-BR" b="1" dirty="0"/>
                  <a:t>Passo 1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agente está em </a:t>
                </a:r>
                <a:r>
                  <a:rPr lang="pt-BR" b="1" dirty="0"/>
                  <a:t>início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Suponha que, por explotação, o agente escolheu </a:t>
                </a:r>
                <a:r>
                  <a:rPr lang="pt-BR" b="1" dirty="0"/>
                  <a:t>direita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Transição: </a:t>
                </a:r>
                <a:r>
                  <a:rPr lang="pt-BR" b="1" dirty="0"/>
                  <a:t>início</a:t>
                </a:r>
                <a:r>
                  <a:rPr lang="pt-BR" dirty="0"/>
                  <a:t> + </a:t>
                </a:r>
                <a:r>
                  <a:rPr lang="pt-BR" b="1" dirty="0"/>
                  <a:t>direita</a:t>
                </a:r>
                <a:r>
                  <a:rPr lang="pt-BR" dirty="0"/>
                  <a:t> → </a:t>
                </a:r>
                <a:r>
                  <a:rPr lang="pt-BR" b="1" dirty="0"/>
                  <a:t>neutro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Recompensa: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, estado seguinte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/>
                  <a:t>neutro </a:t>
                </a:r>
                <a:r>
                  <a:rPr lang="pt-BR" dirty="0"/>
                  <a:t>(não terminal).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0" smtClean="0">
                                <a:latin typeface="Cambria Math" panose="02040503050406030204" pitchFamily="18" charset="0"/>
                              </a:rPr>
                              <m:t>𝐧𝐞𝐮𝐭𝐫𝐨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875</m:t>
                        </m:r>
                      </m:e>
                    </m:func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Atualização: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𝐢𝐧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𝐜𝐢𝐨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𝐝𝐢𝐫𝐞𝐢𝐭𝐚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875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45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61875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34574" y="1825624"/>
                <a:ext cx="9457425" cy="5032375"/>
              </a:xfrm>
              <a:blipFill>
                <a:blip r:embed="rId2"/>
                <a:stretch>
                  <a:fillRect l="-1354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A7BC4A8D-D796-ADE9-5C3E-DC9FDEB4D9AA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69CCD7D3-E6BD-4509-98AD-7E5057DC75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9D85948-B4FC-9F02-DFA7-BEE0F00D6A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2F381161-3DB9-07D5-736B-CE812B5F46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FBE29D97-DE5A-E0C7-E380-6CE9167BA0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0936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39CAA-CA9A-17C5-4F53-2040ACB06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C1840-788A-B4EB-FFCB-978C995C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C2FBE96-5446-39A1-74EB-AC0A5A12A3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04903" y="1825624"/>
                <a:ext cx="8887096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b="1" dirty="0"/>
                  <a:t>Episódio 6</a:t>
                </a:r>
              </a:p>
              <a:p>
                <a:r>
                  <a:rPr lang="pt-BR" b="1" dirty="0"/>
                  <a:t>Passo 2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Agora o agente está em </a:t>
                </a:r>
                <a:r>
                  <a:rPr lang="pt-BR" b="1" dirty="0"/>
                  <a:t>neutro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Suponha que, por </a:t>
                </a:r>
                <a:r>
                  <a:rPr lang="pt-BR" dirty="0" err="1"/>
                  <a:t>explotação</a:t>
                </a:r>
                <a:r>
                  <a:rPr lang="pt-BR" dirty="0"/>
                  <a:t>, o agente escolheu </a:t>
                </a:r>
                <a:r>
                  <a:rPr lang="pt-BR" b="1" dirty="0"/>
                  <a:t>baixo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Transição: </a:t>
                </a:r>
                <a:r>
                  <a:rPr lang="pt-BR" b="1" dirty="0"/>
                  <a:t>neutro</a:t>
                </a:r>
                <a:r>
                  <a:rPr lang="pt-BR" dirty="0"/>
                  <a:t> + </a:t>
                </a:r>
                <a:r>
                  <a:rPr lang="pt-BR" b="1" dirty="0"/>
                  <a:t>baixo</a:t>
                </a:r>
                <a:r>
                  <a:rPr lang="pt-BR" dirty="0"/>
                  <a:t> → </a:t>
                </a:r>
                <a:r>
                  <a:rPr lang="pt-BR" b="1" dirty="0"/>
                  <a:t>meta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Recompensa: 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pt-BR" dirty="0"/>
                  <a:t>, estado seguinte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/>
                  <a:t>meta </a:t>
                </a:r>
                <a:r>
                  <a:rPr lang="pt-BR" dirty="0"/>
                  <a:t>(terminal).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0" smtClean="0">
                                <a:latin typeface="Cambria Math" panose="02040503050406030204" pitchFamily="18" charset="0"/>
                              </a:rPr>
                              <m:t>𝐦𝐞𝐭𝐚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pt-BR" dirty="0"/>
                  <a:t> (todos zero).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Atualização: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𝐧𝐞𝐮𝐭𝐫𝐨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1" i="0" smtClean="0">
                              <a:latin typeface="Cambria Math" panose="02040503050406030204" pitchFamily="18" charset="0"/>
                            </a:rPr>
                            <m:t>𝐛𝐚𝐢𝐱𝐨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.875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+0.5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.875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.9375</m:t>
                      </m:r>
                    </m:oMath>
                  </m:oMathPara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Episódio terminado.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C2FBE96-5446-39A1-74EB-AC0A5A12A3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04903" y="1825624"/>
                <a:ext cx="8887096" cy="5032375"/>
              </a:xfrm>
              <a:blipFill>
                <a:blip r:embed="rId2"/>
                <a:stretch>
                  <a:fillRect l="-1372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3">
            <a:extLst>
              <a:ext uri="{FF2B5EF4-FFF2-40B4-BE49-F238E27FC236}">
                <a16:creationId xmlns:a16="http://schemas.microsoft.com/office/drawing/2014/main" id="{1C9C7E0A-930B-1223-22BF-9C4D2B0366A2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ACFB7B8-9A8C-618E-9B4C-6F746C4337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CA78B184-6DEA-798E-5381-55852D3254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35E7E50F-A81E-ABDC-C7FF-3920378E14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ABD9F065-EE79-EC55-5D64-C4AFFC354E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22019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</a:p>
        </p:txBody>
      </p:sp>
      <p:graphicFrame>
        <p:nvGraphicFramePr>
          <p:cNvPr id="9" name="Espaço Reservado para Conteúdo 8"/>
          <p:cNvGraphicFramePr>
            <a:graphicFrameLocks noGrp="1"/>
          </p:cNvGraphicFramePr>
          <p:nvPr>
            <p:ph idx="1"/>
          </p:nvPr>
        </p:nvGraphicFramePr>
        <p:xfrm>
          <a:off x="4311333" y="3051165"/>
          <a:ext cx="6795825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Estado/Ação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Cima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Direita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Baixo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Esquerda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Início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0.61875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-0.75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Neutro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0.9375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Bomba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Meta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/>
              <p:cNvSpPr txBox="1"/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Tabela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sz="2800" dirty="0"/>
                  <a:t> após episódio 6</a:t>
                </a:r>
              </a:p>
            </p:txBody>
          </p:sp>
        </mc:Choice>
        <mc:Fallback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332" y="2342806"/>
                <a:ext cx="7880667" cy="523220"/>
              </a:xfrm>
              <a:prstGeom prst="rect">
                <a:avLst/>
              </a:prstGeom>
              <a:blipFill>
                <a:blip r:embed="rId2"/>
                <a:stretch>
                  <a:fillRect l="-1547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3">
            <a:extLst>
              <a:ext uri="{FF2B5EF4-FFF2-40B4-BE49-F238E27FC236}">
                <a16:creationId xmlns:a16="http://schemas.microsoft.com/office/drawing/2014/main" id="{DEF799DB-8006-994B-CD53-25CB4B0B98B6}"/>
              </a:ext>
            </a:extLst>
          </p:cNvPr>
          <p:cNvGrpSpPr/>
          <p:nvPr/>
        </p:nvGrpSpPr>
        <p:grpSpPr>
          <a:xfrm>
            <a:off x="595868" y="3164302"/>
            <a:ext cx="1728000" cy="1728000"/>
            <a:chOff x="4153989" y="1828800"/>
            <a:chExt cx="1728000" cy="172800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E2EB6F0D-08F4-8D69-C2FE-785E2ABC22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1828800"/>
              <a:ext cx="864000" cy="864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início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8EC7E797-650D-EAAE-3A8F-0510CBDBCF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1828800"/>
              <a:ext cx="864000" cy="86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neutro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13D376C3-59B3-706A-E247-588F25D04A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3989" y="2692800"/>
              <a:ext cx="864000" cy="8640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bomba</a:t>
              </a: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5297A77D-2E9D-9983-0E9A-243853E80C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989" y="2692800"/>
              <a:ext cx="864000" cy="86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34758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8BEA5-A102-9E97-3B04-B974379B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numérico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BFC12CF-6F3C-48A9-EDEB-68CF1B71A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90648" y="1825624"/>
                <a:ext cx="9501351" cy="503237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 </a:t>
                </a:r>
                <a:r>
                  <a:rPr lang="en-US" dirty="0" err="1"/>
                  <a:t>convergência</a:t>
                </a:r>
                <a:r>
                  <a:rPr lang="en-US" dirty="0"/>
                  <a:t> final (</a:t>
                </a:r>
                <a:r>
                  <a:rPr lang="en-US" dirty="0" err="1"/>
                  <a:t>após</a:t>
                </a:r>
                <a:r>
                  <a:rPr lang="en-US" dirty="0"/>
                  <a:t> </a:t>
                </a:r>
                <a:r>
                  <a:rPr lang="en-US" dirty="0" err="1"/>
                  <a:t>muitas</a:t>
                </a:r>
                <a:r>
                  <a:rPr lang="en-US" dirty="0"/>
                  <a:t> visitas) leva </a:t>
                </a:r>
                <a:r>
                  <a:rPr lang="en-US" dirty="0" err="1"/>
                  <a:t>aos</a:t>
                </a:r>
                <a:r>
                  <a:rPr lang="en-US" dirty="0"/>
                  <a:t> </a:t>
                </a:r>
                <a:r>
                  <a:rPr lang="en-US" dirty="0" err="1"/>
                  <a:t>valores</a:t>
                </a:r>
                <a:r>
                  <a:rPr lang="en-US" dirty="0"/>
                  <a:t> </a:t>
                </a:r>
                <a:r>
                  <a:rPr lang="en-US" dirty="0" err="1"/>
                  <a:t>ótimos</a:t>
                </a:r>
                <a:r>
                  <a:rPr lang="en-US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>
                            <a:latin typeface="Cambria Math" panose="02040503050406030204" pitchFamily="18" charset="0"/>
                          </a:rPr>
                          <m:t>𝐢𝐧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𝐜𝐢𝐨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𝐝𝐢𝐫𝐞𝐢𝐭𝐚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=0+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×1=0.9</m:t>
                    </m:r>
                  </m:oMath>
                </a14:m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>
                            <a:latin typeface="Cambria Math" panose="02040503050406030204" pitchFamily="18" charset="0"/>
                          </a:rPr>
                          <m:t>𝐧𝐞𝐮𝐭𝐫𝐨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𝐛𝐚𝐢𝐱𝐨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×0=1.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>
                            <a:latin typeface="Cambria Math" panose="02040503050406030204" pitchFamily="18" charset="0"/>
                          </a:rPr>
                          <m:t>𝐢𝐧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𝐜𝐢𝐨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𝐜𝐢𝐦𝐚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×0.9=0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.81</m:t>
                    </m:r>
                  </m:oMath>
                </a14:m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>
                            <a:latin typeface="Cambria Math" panose="02040503050406030204" pitchFamily="18" charset="0"/>
                          </a:rPr>
                          <m:t>𝐢𝐧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𝐜𝐢𝐨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𝐞𝐬𝐪𝐮𝐞𝐫𝐝𝐚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=0+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×0.9=0.81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borda</a:t>
                </a:r>
                <a:r>
                  <a:rPr lang="en-US" dirty="0"/>
                  <a:t> </a:t>
                </a:r>
                <a:r>
                  <a:rPr lang="en-US" dirty="0" err="1"/>
                  <a:t>mantém</a:t>
                </a:r>
                <a:r>
                  <a:rPr lang="en-US" dirty="0"/>
                  <a:t> </a:t>
                </a:r>
                <a:r>
                  <a:rPr lang="en-US" dirty="0" err="1"/>
                  <a:t>em</a:t>
                </a:r>
                <a:r>
                  <a:rPr lang="en-US" dirty="0"/>
                  <a:t> </a:t>
                </a:r>
                <a:r>
                  <a:rPr lang="en-US" b="1" dirty="0" err="1"/>
                  <a:t>início</a:t>
                </a:r>
                <a:r>
                  <a:rPr lang="en-US" dirty="0"/>
                  <a:t>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>
                            <a:latin typeface="Cambria Math" panose="02040503050406030204" pitchFamily="18" charset="0"/>
                          </a:rPr>
                          <m:t>𝐧𝐞𝐮𝐭𝐫𝐨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𝐞𝐬𝐪𝐮𝐞𝐫𝐝𝐚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=0+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×0.9=0.81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vai</a:t>
                </a:r>
                <a:r>
                  <a:rPr lang="en-US" dirty="0"/>
                  <a:t> para </a:t>
                </a:r>
                <a:r>
                  <a:rPr lang="en-US" b="1" dirty="0" err="1"/>
                  <a:t>início</a:t>
                </a:r>
                <a:r>
                  <a:rPr lang="en-US" dirty="0"/>
                  <a:t>)</a:t>
                </a:r>
                <a:endParaRPr lang="ar-AE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>
                            <a:latin typeface="Cambria Math" panose="02040503050406030204" pitchFamily="18" charset="0"/>
                          </a:rPr>
                          <m:t>𝐢𝐧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𝐜𝐢𝐨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b="1">
                            <a:latin typeface="Cambria Math" panose="02040503050406030204" pitchFamily="18" charset="0"/>
                          </a:rPr>
                          <m:t>𝐛𝐚𝐢𝐱𝐨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−1.0</m:t>
                    </m:r>
                  </m:oMath>
                </a14:m>
                <a:r>
                  <a:rPr lang="pt-BR" dirty="0"/>
                  <a:t> (</a:t>
                </a:r>
                <a:r>
                  <a:rPr lang="pt-BR" b="1" dirty="0"/>
                  <a:t>bomba</a:t>
                </a:r>
                <a:r>
                  <a:rPr lang="pt-BR" dirty="0"/>
                  <a:t>, terminal)</a:t>
                </a:r>
              </a:p>
              <a:p>
                <a:r>
                  <a:rPr lang="pt-BR" dirty="0"/>
                  <a:t>Após muitos episódios, se tornarmos a política completamente gulosa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), o agente seguirá: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Em </a:t>
                </a:r>
                <a:r>
                  <a:rPr lang="pt-BR" b="1" dirty="0"/>
                  <a:t>início</a:t>
                </a:r>
                <a:r>
                  <a:rPr lang="pt-BR" dirty="0"/>
                  <a:t>: escolher </a:t>
                </a:r>
                <a:r>
                  <a:rPr lang="pt-BR" b="1" dirty="0"/>
                  <a:t>direita</a:t>
                </a:r>
                <a:r>
                  <a:rPr lang="pt-BR" dirty="0"/>
                  <a:t> 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pt-BR" dirty="0"/>
                  <a:t>, a maior)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Em </a:t>
                </a:r>
                <a:r>
                  <a:rPr lang="pt-BR" b="1" dirty="0"/>
                  <a:t>neutro</a:t>
                </a:r>
                <a:r>
                  <a:rPr lang="pt-BR" dirty="0"/>
                  <a:t>: escolher </a:t>
                </a:r>
                <a:r>
                  <a:rPr lang="pt-BR" b="1" dirty="0"/>
                  <a:t>baixo</a:t>
                </a:r>
                <a:r>
                  <a:rPr lang="pt-BR" dirty="0"/>
                  <a:t> 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pt-BR" dirty="0"/>
                  <a:t>)</a:t>
                </a:r>
              </a:p>
              <a:p>
                <a:r>
                  <a:rPr lang="pt-BR" dirty="0"/>
                  <a:t>Esse caminho leva diretamente à </a:t>
                </a:r>
                <a:r>
                  <a:rPr lang="pt-BR" b="1" dirty="0"/>
                  <a:t>meta</a:t>
                </a:r>
                <a:r>
                  <a:rPr lang="pt-BR" dirty="0"/>
                  <a:t> sem pisar na </a:t>
                </a:r>
                <a:r>
                  <a:rPr lang="pt-BR" b="1" dirty="0"/>
                  <a:t>bomba</a:t>
                </a:r>
                <a:r>
                  <a:rPr lang="pt-BR" dirty="0"/>
                  <a:t>, maximizando a recompensa acumulada descontada.</a:t>
                </a:r>
              </a:p>
              <a:p>
                <a:r>
                  <a:rPr lang="en-US" dirty="0" err="1"/>
                  <a:t>Exemplo</a:t>
                </a:r>
                <a:r>
                  <a:rPr lang="en-US" dirty="0"/>
                  <a:t>: </a:t>
                </a:r>
                <a:r>
                  <a:rPr lang="en-US" dirty="0">
                    <a:hlinkClick r:id="rId3"/>
                  </a:rPr>
                  <a:t>q_learning_grid_2x2.ipynb</a:t>
                </a:r>
                <a:endParaRPr lang="en-US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BFC12CF-6F3C-48A9-EDEB-68CF1B71A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90648" y="1825624"/>
                <a:ext cx="9501351" cy="5032375"/>
              </a:xfrm>
              <a:blipFill>
                <a:blip r:embed="rId4"/>
                <a:stretch>
                  <a:fillRect l="-962" t="-3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Agrupar 14">
            <a:extLst>
              <a:ext uri="{FF2B5EF4-FFF2-40B4-BE49-F238E27FC236}">
                <a16:creationId xmlns:a16="http://schemas.microsoft.com/office/drawing/2014/main" id="{67352F71-1EFC-D234-0260-68383DA05579}"/>
              </a:ext>
            </a:extLst>
          </p:cNvPr>
          <p:cNvGrpSpPr/>
          <p:nvPr/>
        </p:nvGrpSpPr>
        <p:grpSpPr>
          <a:xfrm>
            <a:off x="490764" y="3059199"/>
            <a:ext cx="1728000" cy="1728000"/>
            <a:chOff x="595868" y="3164302"/>
            <a:chExt cx="1728000" cy="1728000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F6DB54DD-4C93-6389-DDC0-CFDF8251428A}"/>
                </a:ext>
              </a:extLst>
            </p:cNvPr>
            <p:cNvGrpSpPr/>
            <p:nvPr/>
          </p:nvGrpSpPr>
          <p:grpSpPr>
            <a:xfrm>
              <a:off x="595868" y="3164302"/>
              <a:ext cx="1728000" cy="1728000"/>
              <a:chOff x="4153989" y="1828800"/>
              <a:chExt cx="1728000" cy="1728000"/>
            </a:xfrm>
          </p:grpSpPr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E8FF33FC-11E5-A10F-8D40-0F7B7621F5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53989" y="1828800"/>
                <a:ext cx="864000" cy="864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início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4A8C9A05-EEC2-DA94-BF2B-798D4F0EF8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17989" y="1828800"/>
                <a:ext cx="864000" cy="864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neutro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6AAB823D-B38A-7233-6A3C-3F70C03743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53989" y="2692800"/>
                <a:ext cx="864000" cy="8640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bomba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F6CD2D79-9F90-965C-B7DC-6ADD56D215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17989" y="2692800"/>
                <a:ext cx="864000" cy="8640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meta</a:t>
                </a:r>
              </a:p>
            </p:txBody>
          </p:sp>
        </p:grpSp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06EDFD38-5B31-C208-B9BB-6D838ADB756F}"/>
                </a:ext>
              </a:extLst>
            </p:cNvPr>
            <p:cNvSpPr/>
            <p:nvPr/>
          </p:nvSpPr>
          <p:spPr>
            <a:xfrm>
              <a:off x="1288256" y="3451810"/>
              <a:ext cx="292619" cy="288985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eta: para a Direita 11">
              <a:extLst>
                <a:ext uri="{FF2B5EF4-FFF2-40B4-BE49-F238E27FC236}">
                  <a16:creationId xmlns:a16="http://schemas.microsoft.com/office/drawing/2014/main" id="{09D55985-231E-7D2B-B919-9C8008C68C6F}"/>
                </a:ext>
              </a:extLst>
            </p:cNvPr>
            <p:cNvSpPr/>
            <p:nvPr/>
          </p:nvSpPr>
          <p:spPr>
            <a:xfrm rot="5400000">
              <a:off x="1745558" y="3934410"/>
              <a:ext cx="292619" cy="288985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438180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1B62-8582-E09F-DA69-E77F3F495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maldição</a:t>
            </a:r>
            <a:r>
              <a:rPr lang="en-US" dirty="0"/>
              <a:t> da </a:t>
            </a:r>
            <a:r>
              <a:rPr lang="en-US" dirty="0" err="1"/>
              <a:t>dimensionalidade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B47E26-1487-F7F1-F157-E71A864B45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0140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</a:t>
                </a:r>
                <a:r>
                  <a:rPr lang="pt-BR" dirty="0" err="1"/>
                  <a:t>Q-</a:t>
                </a:r>
                <a:r>
                  <a:rPr lang="pt-BR" i="1" dirty="0" err="1"/>
                  <a:t>learning</a:t>
                </a:r>
                <a:r>
                  <a:rPr lang="pt-BR" dirty="0"/>
                  <a:t> tem uma limitação conhecida como o </a:t>
                </a:r>
                <a:r>
                  <a:rPr lang="pt-BR" b="1" dirty="0"/>
                  <a:t>problema do espaço de estados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Ele requer que todos os estados estejam em uma tabela.</a:t>
                </a:r>
              </a:p>
              <a:p>
                <a:r>
                  <a:rPr lang="pt-BR" dirty="0"/>
                  <a:t>Porém, e se quisermos treiná-lo para jogar Xadrez?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São aproximadamente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</m:oMath>
                </a14:m>
                <a:r>
                  <a:rPr lang="pt-BR" dirty="0"/>
                  <a:t> estados.</a:t>
                </a:r>
              </a:p>
              <a:p>
                <a:r>
                  <a:rPr lang="pt-BR" dirty="0"/>
                  <a:t>E se quisermos treiná-lo para dirigir um carro autônomo usando uma câmara para observar o ambiente?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Milhões de pixels gerando bilhões de estados contínuos.</a:t>
                </a:r>
              </a:p>
              <a:p>
                <a:r>
                  <a:rPr lang="pt-BR" dirty="0"/>
                  <a:t>É impossível armazenar a tabela-Q na memória do computador ou percorrê-la a tempo de tomar uma decisão, tornando o treinamento impossível.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B47E26-1487-F7F1-F157-E71A864B45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01400" cy="5032375"/>
              </a:xfrm>
              <a:blipFill>
                <a:blip r:embed="rId3"/>
                <a:stretch>
                  <a:fillRect l="-980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02935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F0FE-EA94-74C4-913C-E1B2789B6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maldição</a:t>
            </a:r>
            <a:r>
              <a:rPr lang="en-US" dirty="0"/>
              <a:t> da </a:t>
            </a:r>
            <a:r>
              <a:rPr lang="en-US" dirty="0" err="1"/>
              <a:t>dimensionalidade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116BB-1259-5A42-97B8-F5F027BBE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6600" cy="4351338"/>
          </a:xfrm>
        </p:spPr>
        <p:txBody>
          <a:bodyPr/>
          <a:lstStyle/>
          <a:p>
            <a:r>
              <a:rPr lang="pt-BR" dirty="0"/>
              <a:t>Para problemas com poucas ações e estados, a tabela é ótima. </a:t>
            </a:r>
          </a:p>
          <a:p>
            <a:r>
              <a:rPr lang="pt-BR" dirty="0"/>
              <a:t>Mas, por exemplo, em engenharia robótica, os estados são contínuos: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exemplo, velocidade, ângulo da articulação. </a:t>
            </a:r>
          </a:p>
          <a:p>
            <a:r>
              <a:rPr lang="pt-BR" dirty="0"/>
              <a:t>Não podemos ter uma linha na tabela-Q para um ângulo de 45,1 graus e outra para 45,2 graus.</a:t>
            </a:r>
          </a:p>
          <a:p>
            <a:r>
              <a:rPr lang="pt-BR" dirty="0"/>
              <a:t>Assim, se o espaço de estados é </a:t>
            </a:r>
            <a:r>
              <a:rPr lang="pt-BR" b="1" dirty="0"/>
              <a:t>grande ou contínuo </a:t>
            </a:r>
            <a:r>
              <a:rPr lang="pt-BR" dirty="0"/>
              <a:t>a tabela-Q é inviável.</a:t>
            </a:r>
          </a:p>
          <a:p>
            <a:r>
              <a:rPr lang="pt-BR" dirty="0"/>
              <a:t>Precisamos de </a:t>
            </a:r>
            <a:r>
              <a:rPr lang="pt-BR" b="1" dirty="0"/>
              <a:t>generalização</a:t>
            </a:r>
            <a:r>
              <a:rPr lang="pt-BR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452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EB4A-BCBE-6A0F-12D6-6770FC41F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Trocando a tabela-Q por redes neurais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F2B59-589E-C89D-B023-E847F3DC92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47658" y="1825624"/>
                <a:ext cx="6444342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b="1" dirty="0"/>
                  <a:t>A solução:</a:t>
                </a:r>
                <a:r>
                  <a:rPr lang="pt-BR" dirty="0"/>
                  <a:t> Em vez de usar uma matriz para buscar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usamos uma </a:t>
                </a:r>
                <a:r>
                  <a:rPr lang="pt-BR" b="1" dirty="0"/>
                  <a:t>rede neural</a:t>
                </a:r>
                <a:r>
                  <a:rPr lang="pt-BR" dirty="0"/>
                  <a:t> para </a:t>
                </a:r>
                <a:r>
                  <a:rPr lang="pt-BR" i="1" dirty="0"/>
                  <a:t>aproximar</a:t>
                </a:r>
                <a:r>
                  <a:rPr lang="pt-BR" dirty="0"/>
                  <a:t> a função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 rede aprender a generalizar estados: o agente não precisa visitar todos os estados.</a:t>
                </a:r>
              </a:p>
              <a:p>
                <a:r>
                  <a:rPr lang="pt-BR" b="1" dirty="0"/>
                  <a:t>Entrada:</a:t>
                </a:r>
                <a:r>
                  <a:rPr lang="pt-BR" dirty="0"/>
                  <a:t> O estado (e.g., a imagem da câmera).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Agora, o estado pode ser composto por valores contínuos.</a:t>
                </a:r>
              </a:p>
              <a:p>
                <a:r>
                  <a:rPr lang="pt-BR" b="1" dirty="0"/>
                  <a:t>Saída:</a:t>
                </a:r>
                <a:r>
                  <a:rPr lang="pt-BR" dirty="0"/>
                  <a:t> Os valores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 para todas as ações possíveis naquele estado.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F2B59-589E-C89D-B023-E847F3DC92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7658" y="1825624"/>
                <a:ext cx="6444342" cy="5032375"/>
              </a:xfrm>
              <a:blipFill>
                <a:blip r:embed="rId3"/>
                <a:stretch>
                  <a:fillRect l="-1703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Cracking the Spell of Q* - A New Method in Problem Solving | Benny's Mind  Hack">
            <a:extLst>
              <a:ext uri="{FF2B5EF4-FFF2-40B4-BE49-F238E27FC236}">
                <a16:creationId xmlns:a16="http://schemas.microsoft.com/office/drawing/2014/main" id="{2FAF9048-FD7A-0345-D833-A8A15BE69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2242457"/>
            <a:ext cx="5172489" cy="339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52508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DEA96-2DFF-1829-9984-096F6593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Onde RL é </a:t>
            </a:r>
            <a:r>
              <a:rPr lang="en-US" dirty="0" err="1"/>
              <a:t>usado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0E88F-503C-2590-9D5D-B2BDD50D2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1856" y="1825624"/>
            <a:ext cx="7130144" cy="5032375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Robótica e manufatura: </a:t>
            </a:r>
            <a:r>
              <a:rPr lang="pt-BR" dirty="0"/>
              <a:t>Ensinar robôs a andar, agarrar objetos ou equilibrar cargas.</a:t>
            </a:r>
          </a:p>
          <a:p>
            <a:r>
              <a:rPr lang="pt-BR" b="1" dirty="0"/>
              <a:t>Otimização de redes e sistemas:</a:t>
            </a:r>
            <a:r>
              <a:rPr lang="pt-BR" dirty="0"/>
              <a:t> Roteamento de pacotes dinâmico para evitar gargalos na rede.</a:t>
            </a:r>
          </a:p>
          <a:p>
            <a:r>
              <a:rPr lang="pt-BR" b="1" dirty="0"/>
              <a:t>Sistemas de recomendação: </a:t>
            </a:r>
            <a:r>
              <a:rPr lang="pt-BR" dirty="0"/>
              <a:t>Otimizar qual vídeo ou anúncio mostrar para você na internet com base no engajamento a longo prazo.</a:t>
            </a:r>
          </a:p>
          <a:p>
            <a:r>
              <a:rPr lang="pt-BR" b="1" dirty="0"/>
              <a:t>Controle industrial:</a:t>
            </a:r>
            <a:r>
              <a:rPr lang="pt-BR" dirty="0"/>
              <a:t> Ajuste fino de caldeiras e refrigeração em data centers para reduzir consumo de energia.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5EF8FE-70EB-D556-D43F-F69593E54B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7" y="2416629"/>
            <a:ext cx="4604655" cy="306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925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Exemplo: q-</a:t>
            </a:r>
            <a:r>
              <a:rPr lang="pt-BR" dirty="0" err="1">
                <a:hlinkClick r:id="rId3"/>
              </a:rPr>
              <a:t>learning.ipynb</a:t>
            </a:r>
            <a:endParaRPr lang="en-US" dirty="0"/>
          </a:p>
          <a:p>
            <a:pPr marL="0" indent="0">
              <a:buNone/>
            </a:pPr>
            <a:endParaRPr lang="pt-BR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27C64FD-88E0-EC8E-2A34-0D5737B4C854}"/>
              </a:ext>
            </a:extLst>
          </p:cNvPr>
          <p:cNvGrpSpPr/>
          <p:nvPr/>
        </p:nvGrpSpPr>
        <p:grpSpPr>
          <a:xfrm>
            <a:off x="1752685" y="2681262"/>
            <a:ext cx="8371070" cy="2659743"/>
            <a:chOff x="1752685" y="2681262"/>
            <a:chExt cx="8371070" cy="2659743"/>
          </a:xfrm>
        </p:grpSpPr>
        <p:pic>
          <p:nvPicPr>
            <p:cNvPr id="12" name="Picture 4" descr="Project Jupyter | Try Jupyter">
              <a:extLst>
                <a:ext uri="{FF2B5EF4-FFF2-40B4-BE49-F238E27FC236}">
                  <a16:creationId xmlns:a16="http://schemas.microsoft.com/office/drawing/2014/main" id="{FF92EA36-91E7-292B-D7A0-2D4D83A10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1027" y="3102450"/>
              <a:ext cx="3461657" cy="181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Google Colaboratory Colab - Guía Completa Español - Marketing Branding">
              <a:extLst>
                <a:ext uri="{FF2B5EF4-FFF2-40B4-BE49-F238E27FC236}">
                  <a16:creationId xmlns:a16="http://schemas.microsoft.com/office/drawing/2014/main" id="{46F1718A-89E6-9E63-E40B-2B19852D6A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65" r="10641"/>
            <a:stretch/>
          </p:blipFill>
          <p:spPr bwMode="auto">
            <a:xfrm>
              <a:off x="6792684" y="2681262"/>
              <a:ext cx="3331071" cy="2659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0" descr="IT12A01: FUNDAMENTALS OF PYTHON PROGRAMMING (SF) (SYNCHRONOUS E-LEARNING) -  NTUC LearningHub">
              <a:extLst>
                <a:ext uri="{FF2B5EF4-FFF2-40B4-BE49-F238E27FC236}">
                  <a16:creationId xmlns:a16="http://schemas.microsoft.com/office/drawing/2014/main" id="{33F6B1B4-9B79-D634-3E35-33F24609C8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19" r="20198"/>
            <a:stretch/>
          </p:blipFill>
          <p:spPr bwMode="auto">
            <a:xfrm>
              <a:off x="1752685" y="3176833"/>
              <a:ext cx="1894114" cy="18779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Sinal de Adição 7">
              <a:extLst>
                <a:ext uri="{FF2B5EF4-FFF2-40B4-BE49-F238E27FC236}">
                  <a16:creationId xmlns:a16="http://schemas.microsoft.com/office/drawing/2014/main" id="{6959EE6C-DCDB-E78B-5C50-EBD3FF3049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6799" y="3545037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Sinal de Adição 10">
              <a:extLst>
                <a:ext uri="{FF2B5EF4-FFF2-40B4-BE49-F238E27FC236}">
                  <a16:creationId xmlns:a16="http://schemas.microsoft.com/office/drawing/2014/main" id="{30A21FDB-ABA6-9FD5-49EF-7762414AE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6043" y="3467980"/>
              <a:ext cx="468000" cy="468000"/>
            </a:xfrm>
            <a:prstGeom prst="mathPlu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637170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0E11-3B37-4336-5BF0-C8C03335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exercícios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B14AB-72E4-05EB-962C-F8B4618D0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Lista #14 – </a:t>
            </a:r>
            <a:r>
              <a:rPr lang="pt-BR"/>
              <a:t>Q-</a:t>
            </a:r>
            <a:r>
              <a:rPr lang="pt-BR" dirty="0"/>
              <a:t>l</a:t>
            </a:r>
            <a:r>
              <a:rPr lang="pt-BR"/>
              <a:t>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5313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FB381-AAB9-2788-1601-EB1230F3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AF40FF5-E3E4-99F0-8C87-687EB32C12F9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Figuras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16900664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BB54A8AF-5D7A-DF48-6B51-A97D3BA5AE2B}"/>
              </a:ext>
            </a:extLst>
          </p:cNvPr>
          <p:cNvGrpSpPr/>
          <p:nvPr/>
        </p:nvGrpSpPr>
        <p:grpSpPr>
          <a:xfrm>
            <a:off x="2902132" y="2387826"/>
            <a:ext cx="5141381" cy="2330287"/>
            <a:chOff x="-330925" y="4347254"/>
            <a:chExt cx="5141381" cy="233028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8F414E-0878-E9AC-3349-365D683589EF}"/>
                </a:ext>
              </a:extLst>
            </p:cNvPr>
            <p:cNvSpPr/>
            <p:nvPr/>
          </p:nvSpPr>
          <p:spPr>
            <a:xfrm>
              <a:off x="2090057" y="6262799"/>
              <a:ext cx="370114" cy="2300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7A2140F-0BEB-DFFC-0173-0DDE81A0BAF4}"/>
                </a:ext>
              </a:extLst>
            </p:cNvPr>
            <p:cNvSpPr/>
            <p:nvPr/>
          </p:nvSpPr>
          <p:spPr>
            <a:xfrm>
              <a:off x="2090057" y="6032722"/>
              <a:ext cx="370114" cy="2300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67CE66F-B1C9-97C2-5191-323C447A4039}"/>
                </a:ext>
              </a:extLst>
            </p:cNvPr>
            <p:cNvSpPr/>
            <p:nvPr/>
          </p:nvSpPr>
          <p:spPr>
            <a:xfrm>
              <a:off x="2090057" y="4692368"/>
              <a:ext cx="370114" cy="2300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4116E33-D3F4-D7FB-DCEF-760C9C024249}"/>
                </a:ext>
              </a:extLst>
            </p:cNvPr>
            <p:cNvSpPr/>
            <p:nvPr/>
          </p:nvSpPr>
          <p:spPr>
            <a:xfrm>
              <a:off x="2090057" y="4462291"/>
              <a:ext cx="370114" cy="2300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0375811A-BC31-5203-21BF-8C1AEDCA810A}"/>
                </a:ext>
              </a:extLst>
            </p:cNvPr>
            <p:cNvCxnSpPr>
              <a:cxnSpLocks/>
              <a:stCxn id="17" idx="3"/>
              <a:endCxn id="18" idx="3"/>
            </p:cNvCxnSpPr>
            <p:nvPr/>
          </p:nvCxnSpPr>
          <p:spPr>
            <a:xfrm>
              <a:off x="3298371" y="4693670"/>
              <a:ext cx="12700" cy="1569130"/>
            </a:xfrm>
            <a:prstGeom prst="bentConnector3">
              <a:avLst>
                <a:gd name="adj1" fmla="val 454285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957717F-F346-A328-0454-3432762A09F8}"/>
                </a:ext>
              </a:extLst>
            </p:cNvPr>
            <p:cNvSpPr/>
            <p:nvPr/>
          </p:nvSpPr>
          <p:spPr>
            <a:xfrm>
              <a:off x="2090057" y="4347254"/>
              <a:ext cx="1208314" cy="6928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Agente</a:t>
              </a:r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9EF6FE5-6FBC-BC13-63C8-D6E9E3E272C4}"/>
                </a:ext>
              </a:extLst>
            </p:cNvPr>
            <p:cNvSpPr/>
            <p:nvPr/>
          </p:nvSpPr>
          <p:spPr>
            <a:xfrm>
              <a:off x="2090057" y="5916384"/>
              <a:ext cx="1208314" cy="6928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Ambiente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EBC8956-45EC-9A9F-7CAD-7A468058ABF1}"/>
                    </a:ext>
                  </a:extLst>
                </p:cNvPr>
                <p:cNvSpPr txBox="1"/>
                <p:nvPr/>
              </p:nvSpPr>
              <p:spPr>
                <a:xfrm>
                  <a:off x="3863340" y="5292917"/>
                  <a:ext cx="94711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600" dirty="0"/>
                    <a:t>ação,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EBC8956-45EC-9A9F-7CAD-7A468058AB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3340" y="5292917"/>
                  <a:ext cx="947116" cy="338554"/>
                </a:xfrm>
                <a:prstGeom prst="rect">
                  <a:avLst/>
                </a:prstGeom>
                <a:blipFill>
                  <a:blip r:embed="rId2"/>
                  <a:stretch>
                    <a:fillRect l="-3226" t="-545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B8DF4A4-00E2-9B10-CC12-B0D274CCB842}"/>
                    </a:ext>
                  </a:extLst>
                </p:cNvPr>
                <p:cNvSpPr txBox="1"/>
                <p:nvPr/>
              </p:nvSpPr>
              <p:spPr>
                <a:xfrm>
                  <a:off x="1563188" y="5778428"/>
                  <a:ext cx="5268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B8DF4A4-00E2-9B10-CC12-B0D274CCB8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3188" y="5778428"/>
                  <a:ext cx="52686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76B01EB-53C8-C2B2-1104-8A2BC1DE4624}"/>
                    </a:ext>
                  </a:extLst>
                </p:cNvPr>
                <p:cNvSpPr txBox="1"/>
                <p:nvPr/>
              </p:nvSpPr>
              <p:spPr>
                <a:xfrm>
                  <a:off x="1537788" y="6308209"/>
                  <a:ext cx="5268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76B01EB-53C8-C2B2-1104-8A2BC1DE4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7788" y="6308209"/>
                  <a:ext cx="526868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B0A48D5-77C9-C29A-8EF5-BED0E6E38CD2}"/>
                </a:ext>
              </a:extLst>
            </p:cNvPr>
            <p:cNvSpPr/>
            <p:nvPr/>
          </p:nvSpPr>
          <p:spPr>
            <a:xfrm>
              <a:off x="1175657" y="6032722"/>
              <a:ext cx="370114" cy="2300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8728DA3-DA01-CAB9-540E-37EADA51BE57}"/>
                </a:ext>
              </a:extLst>
            </p:cNvPr>
            <p:cNvSpPr/>
            <p:nvPr/>
          </p:nvSpPr>
          <p:spPr>
            <a:xfrm>
              <a:off x="1175656" y="6262798"/>
              <a:ext cx="370114" cy="2300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20E553C2-F044-7C77-F846-B80760291225}"/>
                </a:ext>
              </a:extLst>
            </p:cNvPr>
            <p:cNvCxnSpPr>
              <a:cxnSpLocks/>
              <a:stCxn id="20" idx="1"/>
              <a:endCxn id="33" idx="1"/>
            </p:cNvCxnSpPr>
            <p:nvPr/>
          </p:nvCxnSpPr>
          <p:spPr>
            <a:xfrm rot="10800000" flipH="1">
              <a:off x="1175657" y="4807406"/>
              <a:ext cx="914400" cy="1340354"/>
            </a:xfrm>
            <a:prstGeom prst="bentConnector3">
              <a:avLst>
                <a:gd name="adj1" fmla="val -1666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AEFECE4-5D15-A8B3-453D-610BA5638D05}"/>
                </a:ext>
              </a:extLst>
            </p:cNvPr>
            <p:cNvCxnSpPr>
              <a:stCxn id="27" idx="1"/>
              <a:endCxn id="20" idx="3"/>
            </p:cNvCxnSpPr>
            <p:nvPr/>
          </p:nvCxnSpPr>
          <p:spPr>
            <a:xfrm flipH="1">
              <a:off x="1545771" y="6147760"/>
              <a:ext cx="5442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6FFE6A0-55AE-62C1-3F6E-5291D436B5AB}"/>
                </a:ext>
              </a:extLst>
            </p:cNvPr>
            <p:cNvCxnSpPr>
              <a:cxnSpLocks/>
              <a:stCxn id="26" idx="1"/>
              <a:endCxn id="21" idx="3"/>
            </p:cNvCxnSpPr>
            <p:nvPr/>
          </p:nvCxnSpPr>
          <p:spPr>
            <a:xfrm flipH="1" flipV="1">
              <a:off x="1545770" y="6377836"/>
              <a:ext cx="54428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73307ED6-2342-7662-DD14-B12FEDB6983C}"/>
                </a:ext>
              </a:extLst>
            </p:cNvPr>
            <p:cNvCxnSpPr>
              <a:stCxn id="21" idx="1"/>
              <a:endCxn id="34" idx="1"/>
            </p:cNvCxnSpPr>
            <p:nvPr/>
          </p:nvCxnSpPr>
          <p:spPr>
            <a:xfrm rot="10800000" flipH="1">
              <a:off x="1175655" y="4577330"/>
              <a:ext cx="914401" cy="1800507"/>
            </a:xfrm>
            <a:prstGeom prst="bentConnector3">
              <a:avLst>
                <a:gd name="adj1" fmla="val -541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B737731-0DAB-FB54-8D60-66210A48E60A}"/>
                </a:ext>
              </a:extLst>
            </p:cNvPr>
            <p:cNvCxnSpPr>
              <a:cxnSpLocks/>
              <a:stCxn id="20" idx="1"/>
              <a:endCxn id="20" idx="3"/>
            </p:cNvCxnSpPr>
            <p:nvPr/>
          </p:nvCxnSpPr>
          <p:spPr>
            <a:xfrm>
              <a:off x="1175657" y="6147760"/>
              <a:ext cx="3701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AED5B7A-243B-6FAD-C904-A72171DA10E4}"/>
                </a:ext>
              </a:extLst>
            </p:cNvPr>
            <p:cNvCxnSpPr>
              <a:cxnSpLocks/>
              <a:stCxn id="21" idx="1"/>
              <a:endCxn id="21" idx="3"/>
            </p:cNvCxnSpPr>
            <p:nvPr/>
          </p:nvCxnSpPr>
          <p:spPr>
            <a:xfrm>
              <a:off x="1175656" y="6377836"/>
              <a:ext cx="3701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98BB9BE-FF5B-BD53-700F-EF25882F8757}"/>
                    </a:ext>
                  </a:extLst>
                </p:cNvPr>
                <p:cNvSpPr txBox="1"/>
                <p:nvPr/>
              </p:nvSpPr>
              <p:spPr>
                <a:xfrm>
                  <a:off x="1001213" y="5260489"/>
                  <a:ext cx="110626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600" dirty="0"/>
                    <a:t>reforço,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98BB9BE-FF5B-BD53-700F-EF25882F87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213" y="5260489"/>
                  <a:ext cx="1106260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3315" t="-545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33C1F87-4FD6-565B-5CE1-B94FB9D5F703}"/>
                    </a:ext>
                  </a:extLst>
                </p:cNvPr>
                <p:cNvSpPr txBox="1"/>
                <p:nvPr/>
              </p:nvSpPr>
              <p:spPr>
                <a:xfrm>
                  <a:off x="-330925" y="5260489"/>
                  <a:ext cx="100438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sz="1600" dirty="0"/>
                    <a:t>estado,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33C1F87-4FD6-565B-5CE1-B94FB9D5F7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30925" y="5260489"/>
                  <a:ext cx="1004386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3030" t="-545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A8E8F72-A082-BAC3-6C41-D1C1204F72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2119" y="6028070"/>
              <a:ext cx="1" cy="46015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88486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8914</TotalTime>
  <Words>4659</Words>
  <Application>Microsoft Office PowerPoint</Application>
  <PresentationFormat>Widescreen</PresentationFormat>
  <Paragraphs>726</Paragraphs>
  <Slides>57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4" baseType="lpstr">
      <vt:lpstr>Arial</vt:lpstr>
      <vt:lpstr>Calibri</vt:lpstr>
      <vt:lpstr>Calibri Light</vt:lpstr>
      <vt:lpstr>Cambria Math</vt:lpstr>
      <vt:lpstr>Courier New</vt:lpstr>
      <vt:lpstr>Wingdings</vt:lpstr>
      <vt:lpstr>Tema do Office</vt:lpstr>
      <vt:lpstr>C24 – Inteligência Artificial: Q-learning</vt:lpstr>
      <vt:lpstr>Apresentação do PowerPoint</vt:lpstr>
      <vt:lpstr>O que é reinforcement learning?</vt:lpstr>
      <vt:lpstr>Diferenças chave entre os paradigmas</vt:lpstr>
      <vt:lpstr>Diferenças chave entre os paradigmas</vt:lpstr>
      <vt:lpstr>Diferenças chave entre os paradigmas</vt:lpstr>
      <vt:lpstr>Analogia</vt:lpstr>
      <vt:lpstr>Conceitos fundamentais de RL</vt:lpstr>
      <vt:lpstr>Conceitos fundamentais de RL</vt:lpstr>
      <vt:lpstr>Conceitos fundamentais de RL</vt:lpstr>
      <vt:lpstr>Algoritmos de RL</vt:lpstr>
      <vt:lpstr>O que é Q-learning?</vt:lpstr>
      <vt:lpstr>O que significa o "Q"? </vt:lpstr>
      <vt:lpstr>O que significa o "Q"? </vt:lpstr>
      <vt:lpstr>Como o Q-learning aprende?</vt:lpstr>
      <vt:lpstr>O que é um episódio?</vt:lpstr>
      <vt:lpstr>O que é um episódio?</vt:lpstr>
      <vt:lpstr>Exploração vs. Explotação (ε-greedy) </vt:lpstr>
      <vt:lpstr>Exploração vs. Explotação (ε-greedy) </vt:lpstr>
      <vt:lpstr>Apresentação do PowerPoint</vt:lpstr>
      <vt:lpstr>Atualização da tabela-Q: a equação de Bellman</vt:lpstr>
      <vt:lpstr>Atualização da tabela-Q: a equação de Bellman</vt:lpstr>
      <vt:lpstr>A equação de Bellman</vt:lpstr>
      <vt:lpstr>A equação de Bellman</vt:lpstr>
      <vt:lpstr>A influência do fator de desconto, γ</vt:lpstr>
      <vt:lpstr>Off-policy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Exemplo numérico</vt:lpstr>
      <vt:lpstr>A maldição da dimensionalidade</vt:lpstr>
      <vt:lpstr>A maldição da dimensionalidade</vt:lpstr>
      <vt:lpstr>Trocando a tabela-Q por redes neurais</vt:lpstr>
      <vt:lpstr>Onde RL é usado?</vt:lpstr>
      <vt:lpstr>Exemplo</vt:lpstr>
      <vt:lpstr>Lista de exercícios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1837</cp:revision>
  <dcterms:created xsi:type="dcterms:W3CDTF">2020-01-20T13:50:05Z</dcterms:created>
  <dcterms:modified xsi:type="dcterms:W3CDTF">2026-05-05T18:53:25Z</dcterms:modified>
</cp:coreProperties>
</file>