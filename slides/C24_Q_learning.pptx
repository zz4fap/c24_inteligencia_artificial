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48" r:id="rId20"/>
    <p:sldId id="339" r:id="rId21"/>
    <p:sldId id="337" r:id="rId22"/>
    <p:sldId id="316" r:id="rId23"/>
    <p:sldId id="340" r:id="rId24"/>
    <p:sldId id="345" r:id="rId25"/>
    <p:sldId id="341" r:id="rId26"/>
    <p:sldId id="342" r:id="rId27"/>
    <p:sldId id="343" r:id="rId28"/>
    <p:sldId id="344" r:id="rId29"/>
    <p:sldId id="346" r:id="rId30"/>
    <p:sldId id="347" r:id="rId31"/>
    <p:sldId id="293" r:id="rId32"/>
    <p:sldId id="306" r:id="rId33"/>
    <p:sldId id="324" r:id="rId34"/>
    <p:sldId id="323" r:id="rId3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45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 smtClean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Finanças:</a:t>
            </a:r>
            <a:r>
              <a:rPr lang="pt-BR" dirty="0" smtClean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https://colab.research.google.com/github/zz4fap/c24_inteligencia_artificial/blob/master/notebooks/mlp.ipynb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=""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=""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=""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=""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=""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=""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=""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=""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=""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=""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</a:t>
                </a:r>
                <a:r>
                  <a:rPr lang="pt-BR" sz="2800" dirty="0" smtClean="0"/>
                  <a:t>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1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Q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 smtClean="0"/>
                  <a:t>).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119058" cy="5032375"/>
              </a:xfrm>
              <a:blipFill rotWithShape="0">
                <a:blip r:embed="rId4"/>
                <a:stretch>
                  <a:fillRect l="-1541" t="-1937" r="-26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05745" y="1825624"/>
                <a:ext cx="760119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</a:t>
                </a:r>
                <a:r>
                  <a:rPr lang="pt-BR" dirty="0"/>
                  <a:t>o agente não explorar no começo, ele pode encontrar um caminho medíocre e ficar preso nele para sempre. </a:t>
                </a:r>
              </a:p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costuma</a:t>
                </a:r>
              </a:p>
              <a:p>
                <a:pPr lvl="1"/>
                <a:r>
                  <a:rPr lang="pt-BR" dirty="0" smtClean="0"/>
                  <a:t>começar </a:t>
                </a:r>
                <a:r>
                  <a:rPr lang="pt-BR" dirty="0"/>
                  <a:t>em 1.0 (100% de exploração</a:t>
                </a:r>
                <a:r>
                  <a:rPr lang="pt-BR" dirty="0"/>
                  <a:t>), tomando ações aleatórias para descobrir o </a:t>
                </a:r>
                <a:r>
                  <a:rPr lang="pt-BR" dirty="0" smtClean="0"/>
                  <a:t>ambiente</a:t>
                </a:r>
                <a:endParaRPr lang="pt-BR" dirty="0" smtClean="0"/>
              </a:p>
              <a:p>
                <a:pPr lvl="1"/>
                <a:r>
                  <a:rPr lang="pt-BR" dirty="0" smtClean="0"/>
                  <a:t>e </a:t>
                </a:r>
                <a:r>
                  <a:rPr lang="pt-BR" dirty="0"/>
                  <a:t>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 smtClean="0"/>
                  <a:t>).</a:t>
                </a:r>
              </a:p>
              <a:p>
                <a:r>
                  <a:rPr lang="pt-BR" dirty="0"/>
                  <a:t>Com -</a:t>
                </a:r>
                <a:r>
                  <a:rPr lang="pt-BR" dirty="0" err="1"/>
                  <a:t>greedy</a:t>
                </a:r>
                <a:r>
                  <a:rPr lang="pt-BR" dirty="0"/>
                  <a:t>, inicia-se com alto (fazendo ações aleatórias para descobrir o ambiente) e diminui-se gradualmente. Isso permite aprender o Q corretamente antes de “explorar demais” o que aparenta já ser ótimo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05745" y="1825624"/>
                <a:ext cx="7601197" cy="5032375"/>
              </a:xfrm>
              <a:blipFill rotWithShape="0">
                <a:blip r:embed="rId4"/>
                <a:stretch>
                  <a:fillRect l="-144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7" y="2972739"/>
            <a:ext cx="3357880" cy="2481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=""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: é o </a:t>
                </a:r>
                <a:r>
                  <a:rPr lang="pt-BR" dirty="0"/>
                  <a:t>valor atual na tabela para o estado e ação.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: </a:t>
                </a:r>
                <a:r>
                  <a:rPr lang="pt-BR" b="1" dirty="0"/>
                  <a:t>taxa de </a:t>
                </a:r>
                <a:r>
                  <a:rPr lang="pt-BR" b="1" dirty="0" smtClean="0"/>
                  <a:t>aprendizado [0, 1]</a:t>
                </a:r>
                <a:r>
                  <a:rPr lang="pt-BR" dirty="0" smtClean="0"/>
                  <a:t>. Define </a:t>
                </a:r>
                <a:r>
                  <a:rPr lang="pt-BR" dirty="0"/>
                  <a:t>o quanto a nova informação substitui a </a:t>
                </a:r>
                <a:r>
                  <a:rPr lang="pt-BR" dirty="0" smtClean="0"/>
                  <a:t>antiga. 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recompensa</a:t>
                </a:r>
                <a:r>
                  <a:rPr lang="pt-BR" dirty="0"/>
                  <a:t>. 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fator </a:t>
                </a:r>
                <a:r>
                  <a:rPr lang="pt-BR" b="1" dirty="0"/>
                  <a:t>de </a:t>
                </a:r>
                <a:r>
                  <a:rPr lang="pt-BR" b="1" dirty="0" smtClean="0"/>
                  <a:t>desconto [0, 1]</a:t>
                </a:r>
                <a:r>
                  <a:rPr lang="pt-BR" dirty="0" smtClean="0"/>
                  <a:t>. Determina </a:t>
                </a:r>
                <a:r>
                  <a:rPr lang="pt-BR" dirty="0"/>
                  <a:t>a importância das recompensas </a:t>
                </a:r>
                <a:r>
                  <a:rPr lang="pt-BR" dirty="0" smtClean="0"/>
                  <a:t>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: o </a:t>
                </a:r>
                <a:r>
                  <a:rPr lang="pt-BR" dirty="0"/>
                  <a:t>agente só liga para recompensas </a:t>
                </a:r>
                <a:r>
                  <a:rPr lang="pt-BR" dirty="0" smtClean="0"/>
                  <a:t>imediatas (recompensas futuras não importam).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: o agente </a:t>
                </a:r>
                <a:r>
                  <a:rPr lang="pt-BR" dirty="0"/>
                  <a:t>busca recompensas a longo prazo.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 smtClean="0"/>
                  <a:t> </a:t>
                </a:r>
                <a:r>
                  <a:rPr lang="pt-BR" b="1" dirty="0"/>
                  <a:t>possível no próximo estado</a:t>
                </a:r>
                <a:r>
                  <a:rPr lang="pt-BR" dirty="0"/>
                  <a:t>. É a </a:t>
                </a:r>
                <a:r>
                  <a:rPr lang="pt-BR" dirty="0" smtClean="0"/>
                  <a:t>estimativa da recompensa futura.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805" t="-2421" r="-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'Erro de Diferença Temporal'. 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</a:t>
                </a:r>
                <a:r>
                  <a:rPr lang="pt-BR" dirty="0" smtClean="0"/>
                  <a:t>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se aproxima da </a:t>
                </a:r>
                <a:r>
                  <a:rPr lang="pt-BR" dirty="0"/>
                  <a:t>recompensa </a:t>
                </a:r>
                <a:r>
                  <a:rPr lang="pt-BR" dirty="0" smtClean="0"/>
                  <a:t>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mais o valor futuro </a:t>
                </a:r>
                <a:r>
                  <a:rPr lang="pt-BR" dirty="0" smtClean="0"/>
                  <a:t>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 smtClean="0"/>
                  <a:t>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 rotWithShape="0">
                <a:blip r:embed="rId3"/>
                <a:stretch>
                  <a:fillRect l="-922" r="-4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i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Ele requer </a:t>
                </a:r>
                <a:r>
                  <a:rPr lang="pt-BR" dirty="0"/>
                  <a:t>que todos os estados estejam em uma tabela.</a:t>
                </a:r>
              </a:p>
              <a:p>
                <a:r>
                  <a:rPr lang="pt-BR" dirty="0"/>
                  <a:t>Porém, 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 smtClean="0"/>
                  <a:t>É </a:t>
                </a:r>
                <a:r>
                  <a:rPr lang="pt-BR" dirty="0"/>
                  <a:t>impossível armazenar </a:t>
                </a:r>
                <a:r>
                  <a:rPr lang="pt-BR" dirty="0" smtClean="0"/>
                  <a:t>a tabela-Q </a:t>
                </a:r>
                <a:r>
                  <a:rPr lang="pt-BR" dirty="0"/>
                  <a:t>na memória </a:t>
                </a:r>
                <a:r>
                  <a:rPr lang="pt-BR" dirty="0" smtClean="0"/>
                  <a:t>do </a:t>
                </a:r>
                <a:r>
                  <a:rPr lang="pt-BR" dirty="0"/>
                  <a:t>computador ou percorrê-la a tempo de tomar uma </a:t>
                </a:r>
                <a:r>
                  <a:rPr lang="pt-BR" dirty="0" smtClean="0"/>
                  <a:t>decisão, tornando o treinamento impossível.</a:t>
                </a:r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 rotWithShape="0">
                <a:blip r:embed="rId3"/>
                <a:stretch>
                  <a:fillRect l="-980" t="-1937" r="-16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 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=""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</a:t>
            </a:r>
            <a:r>
              <a:rPr lang="pt-BR" b="1" dirty="0" smtClean="0"/>
              <a:t>manufatura: </a:t>
            </a:r>
            <a:r>
              <a:rPr lang="pt-BR" dirty="0" smtClean="0"/>
              <a:t>Ensinar </a:t>
            </a:r>
            <a:r>
              <a:rPr lang="pt-BR" dirty="0"/>
              <a:t>robôs a andar, agarrar objetos ou equilibrar cargas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</a:t>
            </a:r>
            <a:r>
              <a:rPr lang="pt-BR" b="1" dirty="0" smtClean="0"/>
              <a:t>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smtClean="0"/>
              <a:t>q-</a:t>
            </a:r>
            <a:r>
              <a:rPr lang="pt-BR" dirty="0" err="1" smtClean="0"/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</a:t>
            </a:r>
            <a:r>
              <a:rPr lang="pt-BR" dirty="0" smtClean="0"/>
              <a:t>#14 – Q-</a:t>
            </a:r>
            <a:r>
              <a:rPr lang="pt-BR" dirty="0" err="1" smtClean="0"/>
              <a:t>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=""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=""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=""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=""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=""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=""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=""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=""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=""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=""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=""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=""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=""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=""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=""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8671</TotalTime>
  <Words>1968</Words>
  <Application>Microsoft Office PowerPoint</Application>
  <PresentationFormat>Widescreen</PresentationFormat>
  <Paragraphs>230</Paragraphs>
  <Slides>34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Apresentação do PowerPoint</vt:lpstr>
      <vt:lpstr>A equação de Bellman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1798</cp:revision>
  <dcterms:created xsi:type="dcterms:W3CDTF">2020-01-20T13:50:05Z</dcterms:created>
  <dcterms:modified xsi:type="dcterms:W3CDTF">2026-04-26T20:50:51Z</dcterms:modified>
</cp:coreProperties>
</file>