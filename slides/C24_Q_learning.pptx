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27" r:id="rId12"/>
    <p:sldId id="328" r:id="rId13"/>
    <p:sldId id="330" r:id="rId14"/>
    <p:sldId id="334" r:id="rId15"/>
    <p:sldId id="316" r:id="rId16"/>
    <p:sldId id="333" r:id="rId17"/>
    <p:sldId id="329" r:id="rId18"/>
    <p:sldId id="331" r:id="rId19"/>
    <p:sldId id="293" r:id="rId20"/>
    <p:sldId id="314" r:id="rId21"/>
    <p:sldId id="306" r:id="rId22"/>
    <p:sldId id="324" r:id="rId23"/>
    <p:sldId id="323" r:id="rId2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086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7390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 e dos objetos/obstáculos no galpão, cidade ou jogo.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Q-Learning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Espaços de ações e estados discretos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Q-Network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Q-learning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ações</a:t>
            </a:r>
            <a:r>
              <a:rPr lang="en-US" dirty="0"/>
              <a:t> </a:t>
            </a:r>
            <a:r>
              <a:rPr lang="en-US" dirty="0" err="1"/>
              <a:t>discreto</a:t>
            </a:r>
            <a:r>
              <a:rPr lang="en-US" dirty="0"/>
              <a:t> e </a:t>
            </a: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 </a:t>
            </a:r>
            <a:r>
              <a:rPr lang="en-US" dirty="0" err="1"/>
              <a:t>contínuo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dirty="0" err="1"/>
              <a:t>Deep</a:t>
            </a:r>
            <a:r>
              <a:rPr lang="pt-BR" b="1" dirty="0"/>
              <a:t> </a:t>
            </a:r>
            <a:r>
              <a:rPr lang="pt-BR" b="1" dirty="0" err="1"/>
              <a:t>Deterministic</a:t>
            </a:r>
            <a:r>
              <a:rPr lang="pt-BR" b="1" dirty="0"/>
              <a:t>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6A6C9-67EC-449F-0095-BDC761937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77600" cy="5032375"/>
          </a:xfrm>
        </p:spPr>
        <p:txBody>
          <a:bodyPr/>
          <a:lstStyle/>
          <a:p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um algoritmo </a:t>
            </a:r>
            <a:r>
              <a:rPr lang="pt-BR" b="1" i="1" dirty="0"/>
              <a:t>model-</a:t>
            </a:r>
            <a:r>
              <a:rPr lang="pt-BR" b="1" i="1" dirty="0" err="1"/>
              <a:t>free</a:t>
            </a:r>
            <a:r>
              <a:rPr lang="pt-BR" dirty="0"/>
              <a:t>.</a:t>
            </a:r>
          </a:p>
          <a:p>
            <a:r>
              <a:rPr lang="pt-BR" dirty="0"/>
              <a:t>Ele não conhece as regras do ambiente. </a:t>
            </a:r>
          </a:p>
          <a:p>
            <a:r>
              <a:rPr lang="pt-BR" dirty="0"/>
              <a:t>Em RL, o </a:t>
            </a:r>
            <a:r>
              <a:rPr lang="pt-BR" b="1" dirty="0"/>
              <a:t>"modelo"</a:t>
            </a:r>
            <a:r>
              <a:rPr lang="pt-BR" dirty="0"/>
              <a:t> é o conhecimento das regras do ambiente.</a:t>
            </a:r>
          </a:p>
          <a:p>
            <a:r>
              <a:rPr lang="pt-BR" dirty="0"/>
              <a:t>Ele aprende pela experiência.</a:t>
            </a:r>
          </a:p>
          <a:p>
            <a:r>
              <a:rPr lang="en-US" dirty="0"/>
              <a:t>Ele </a:t>
            </a:r>
            <a:r>
              <a:rPr lang="en-US" dirty="0" err="1"/>
              <a:t>começa</a:t>
            </a:r>
            <a:r>
              <a:rPr lang="en-US" dirty="0"/>
              <a:t> “</a:t>
            </a:r>
            <a:r>
              <a:rPr lang="en-US" dirty="0" err="1"/>
              <a:t>cego</a:t>
            </a:r>
            <a:r>
              <a:rPr lang="en-US" dirty="0"/>
              <a:t>” e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pt-BR" dirty="0"/>
              <a:t>tentativa e erro vai aprendendo.</a:t>
            </a:r>
          </a:p>
          <a:p>
            <a:r>
              <a:rPr lang="pt-BR" dirty="0"/>
              <a:t>Se temos um modelo, sabemos exatamente o que vai acontecer antes de agir. </a:t>
            </a:r>
          </a:p>
          <a:p>
            <a:r>
              <a:rPr lang="pt-BR" dirty="0"/>
              <a:t>Por exemplo em um jogo de tabuleiro: </a:t>
            </a:r>
            <a:r>
              <a:rPr lang="pt-BR" i="1" dirty="0"/>
              <a:t>"Se eu estou na casa A e for para a direita, eu TENHO 100% de chance de cair na casa B e ganhar 5 pontos"</a:t>
            </a:r>
            <a:r>
              <a:rPr lang="pt-BR" dirty="0"/>
              <a:t>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77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quão boa é uma determinada ação em um estado específico.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uma função chamada</a:t>
                </a:r>
                <a:r>
                  <a:rPr lang="pt-BR" b="1" dirty="0"/>
                  <a:t> </a:t>
                </a:r>
                <a:r>
                  <a:rPr lang="pt-BR" dirty="0"/>
                  <a:t>de</a:t>
                </a:r>
                <a:r>
                  <a:rPr lang="pt-BR" b="1" dirty="0"/>
                  <a:t> </a:t>
                </a:r>
                <a:r>
                  <a:rPr lang="pt-BR" b="1" dirty="0" err="1"/>
                  <a:t>valor-ação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ela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por uma tabela (ou matriz),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77600" cy="5032375"/>
              </a:xfrm>
              <a:blipFill>
                <a:blip r:embed="rId3"/>
                <a:stretch>
                  <a:fillRect l="-973" t="-1937" r="-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objetivo do algoritmo é preencher a tabela com os valores que façam o agente escolher a melhor ação sempre.</a:t>
            </a:r>
          </a:p>
        </p:txBody>
      </p:sp>
      <p:pic>
        <p:nvPicPr>
          <p:cNvPr id="2050" name="Picture 2" descr="Q-Learning vs. Deep Q-Learning vs. Deep Q-Network | Baeldung on Computer  Science">
            <a:extLst>
              <a:ext uri="{FF2B5EF4-FFF2-40B4-BE49-F238E27FC236}">
                <a16:creationId xmlns:a16="http://schemas.microsoft.com/office/drawing/2014/main" id="{271A5777-6004-9B57-95BB-06526F57C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0508" y="3581401"/>
            <a:ext cx="6290983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E7639-2B44-D877-80E8-CB165DA36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r>
              <a:rPr lang="pt-BR" dirty="0"/>
              <a:t>aa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B07B2-D2A5-6A39-907B-E2794AA9F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491F0A8-A92C-A246-1499-9F21D5DCABF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839711"/>
            <a:ext cx="264816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712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D343F-1952-C012-31AC-0443BF9C1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:a16="http://schemas.microsoft.com/office/drawing/2014/main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68086" y="2326822"/>
            <a:ext cx="6487886" cy="3649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Evaluating a Hybrid LLM Q-Learning/DQN Framework for Adaptive Obstacle  Avoidance in Embedded Robotics">
            <a:extLst>
              <a:ext uri="{FF2B5EF4-FFF2-40B4-BE49-F238E27FC236}">
                <a16:creationId xmlns:a16="http://schemas.microsoft.com/office/drawing/2014/main" id="{BA833512-3FC7-011C-B55D-9BC5E88B4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9965" y="1885951"/>
            <a:ext cx="5238750" cy="1809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:a16="http://schemas.microsoft.com/office/drawing/2014/main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0221" y="3429000"/>
            <a:ext cx="6667500" cy="43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37944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8420</TotalTime>
  <Words>1129</Words>
  <Application>Microsoft Office PowerPoint</Application>
  <PresentationFormat>Widescreen</PresentationFormat>
  <Paragraphs>111</Paragraphs>
  <Slides>23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PowerPoint Presentation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significa o "Q"? </vt:lpstr>
      <vt:lpstr>O que significa o "Q"?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Referências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1763</cp:revision>
  <dcterms:created xsi:type="dcterms:W3CDTF">2020-01-20T13:50:05Z</dcterms:created>
  <dcterms:modified xsi:type="dcterms:W3CDTF">2026-04-24T16:59:02Z</dcterms:modified>
</cp:coreProperties>
</file>