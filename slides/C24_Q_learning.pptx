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6" r:id="rId9"/>
    <p:sldId id="319" r:id="rId10"/>
    <p:sldId id="322" r:id="rId11"/>
    <p:sldId id="309" r:id="rId12"/>
    <p:sldId id="310" r:id="rId13"/>
    <p:sldId id="311" r:id="rId14"/>
    <p:sldId id="312" r:id="rId15"/>
    <p:sldId id="313" r:id="rId16"/>
    <p:sldId id="293" r:id="rId17"/>
    <p:sldId id="314" r:id="rId18"/>
    <p:sldId id="306" r:id="rId1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002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47C74-AA7B-3F30-CE84-004473E3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E4C741-B890-FCB5-138A-C67977AAD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5266D-73F1-BCB0-265C-192E1290B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E374B-17A3-96C1-5271-F06E116DF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5926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27914" y="1836510"/>
                <a:ext cx="6433457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algoritmo de trading,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onde o agente opera e com o qual interage.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feedback (positivo ou negativo) recebido após uma ação.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27914" y="1836510"/>
                <a:ext cx="6433457" cy="5021489"/>
              </a:xfrm>
              <a:blipFill>
                <a:blip r:embed="rId3"/>
                <a:stretch>
                  <a:fillRect l="-1705" t="-1942" r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FF40252-D70D-DF89-7A6D-82F50130B1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6" t="12857" r="9074" b="11905"/>
          <a:stretch>
            <a:fillRect/>
          </a:stretch>
        </p:blipFill>
        <p:spPr>
          <a:xfrm>
            <a:off x="-489858" y="590096"/>
            <a:ext cx="4990915" cy="2492828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375811A-BC31-5203-21BF-8C1AEDCA810A}"/>
              </a:ext>
            </a:extLst>
          </p:cNvPr>
          <p:cNvCxnSpPr>
            <a:cxnSpLocks/>
            <a:stCxn id="17" idx="3"/>
            <a:endCxn id="18" idx="3"/>
          </p:cNvCxnSpPr>
          <p:nvPr/>
        </p:nvCxnSpPr>
        <p:spPr>
          <a:xfrm>
            <a:off x="3298371" y="4693670"/>
            <a:ext cx="12700" cy="1569130"/>
          </a:xfrm>
          <a:prstGeom prst="bentConnector3">
            <a:avLst>
              <a:gd name="adj1" fmla="val 45428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3D9D79-6AB4-D27E-4481-E60E0856012A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 rot="10800000">
            <a:off x="2090057" y="4807406"/>
            <a:ext cx="12700" cy="13403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957717F-F346-A328-0454-3432762A09F8}"/>
              </a:ext>
            </a:extLst>
          </p:cNvPr>
          <p:cNvSpPr/>
          <p:nvPr/>
        </p:nvSpPr>
        <p:spPr>
          <a:xfrm>
            <a:off x="2090057" y="4347254"/>
            <a:ext cx="1208314" cy="6928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Agente</a:t>
            </a:r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9EF6FE5-6FBC-BC13-63C8-D6E9E3E272C4}"/>
              </a:ext>
            </a:extLst>
          </p:cNvPr>
          <p:cNvSpPr/>
          <p:nvPr/>
        </p:nvSpPr>
        <p:spPr>
          <a:xfrm>
            <a:off x="2090057" y="5916384"/>
            <a:ext cx="1208314" cy="6928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Ambiente</a:t>
            </a:r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8F414E-0878-E9AC-3349-365D683589EF}"/>
              </a:ext>
            </a:extLst>
          </p:cNvPr>
          <p:cNvSpPr/>
          <p:nvPr/>
        </p:nvSpPr>
        <p:spPr>
          <a:xfrm>
            <a:off x="2090057" y="6262799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A2140F-0BEB-DFFC-0173-0DDE81A0BAF4}"/>
              </a:ext>
            </a:extLst>
          </p:cNvPr>
          <p:cNvSpPr/>
          <p:nvPr/>
        </p:nvSpPr>
        <p:spPr>
          <a:xfrm>
            <a:off x="2090057" y="6032722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7CE66F-B1C9-97C2-5191-323C447A4039}"/>
              </a:ext>
            </a:extLst>
          </p:cNvPr>
          <p:cNvSpPr/>
          <p:nvPr/>
        </p:nvSpPr>
        <p:spPr>
          <a:xfrm>
            <a:off x="2090057" y="4692368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116E33-D3F4-D7FB-DCEF-760C9C024249}"/>
              </a:ext>
            </a:extLst>
          </p:cNvPr>
          <p:cNvSpPr/>
          <p:nvPr/>
        </p:nvSpPr>
        <p:spPr>
          <a:xfrm>
            <a:off x="2090057" y="4462291"/>
            <a:ext cx="370114" cy="2300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E464A75-8DCF-FE0C-4988-63A14D19D5CD}"/>
              </a:ext>
            </a:extLst>
          </p:cNvPr>
          <p:cNvCxnSpPr>
            <a:stCxn id="26" idx="1"/>
            <a:endCxn id="34" idx="1"/>
          </p:cNvCxnSpPr>
          <p:nvPr/>
        </p:nvCxnSpPr>
        <p:spPr>
          <a:xfrm rot="10800000">
            <a:off x="2090057" y="4577329"/>
            <a:ext cx="12700" cy="1800508"/>
          </a:xfrm>
          <a:prstGeom prst="bentConnector3">
            <a:avLst>
              <a:gd name="adj1" fmla="val 43714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EBC8956-45EC-9A9F-7CAD-7A468058ABF1}"/>
                  </a:ext>
                </a:extLst>
              </p:cNvPr>
              <p:cNvSpPr txBox="1"/>
              <p:nvPr/>
            </p:nvSpPr>
            <p:spPr>
              <a:xfrm>
                <a:off x="3864428" y="5292917"/>
                <a:ext cx="8638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ação,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EBC8956-45EC-9A9F-7CAD-7A468058A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4428" y="5292917"/>
                <a:ext cx="863891" cy="369332"/>
              </a:xfrm>
              <a:prstGeom prst="rect">
                <a:avLst/>
              </a:prstGeom>
              <a:blipFill>
                <a:blip r:embed="rId5"/>
                <a:stretch>
                  <a:fillRect l="-6338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ADE0A-2709-4969-FA9A-1E03D6996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3AE6F-314D-C94A-A767-C6F5519A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7CA75-E443-356F-518F-21B4DDB32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168743" cy="5021489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Agente:</a:t>
            </a:r>
            <a:r>
              <a:rPr lang="pt-BR" dirty="0"/>
              <a:t> O tomador de decisão (</a:t>
            </a:r>
            <a:r>
              <a:rPr lang="pt-BR" dirty="0" err="1"/>
              <a:t>ex</a:t>
            </a:r>
            <a:r>
              <a:rPr lang="pt-BR" dirty="0"/>
              <a:t>: um robô, um algoritmo de trading).</a:t>
            </a:r>
          </a:p>
          <a:p>
            <a:r>
              <a:rPr lang="pt-BR" b="1" dirty="0"/>
              <a:t>Ambiente:</a:t>
            </a:r>
            <a:r>
              <a:rPr lang="pt-BR" dirty="0"/>
              <a:t> O mundo onde o agente opera e com o qual interage.</a:t>
            </a:r>
          </a:p>
          <a:p>
            <a:r>
              <a:rPr lang="pt-BR" b="1" dirty="0"/>
              <a:t>Estado ($s$):</a:t>
            </a:r>
            <a:r>
              <a:rPr lang="pt-BR" dirty="0"/>
              <a:t> A situação atual do agente no ambiente.</a:t>
            </a:r>
          </a:p>
          <a:p>
            <a:r>
              <a:rPr lang="pt-BR" b="1" dirty="0"/>
              <a:t>Ação ($a$):</a:t>
            </a:r>
            <a:r>
              <a:rPr lang="pt-BR" dirty="0"/>
              <a:t> O que o agente pode fazer.</a:t>
            </a:r>
          </a:p>
          <a:p>
            <a:r>
              <a:rPr lang="pt-BR" b="1" dirty="0"/>
              <a:t>Recompensa ($r$):</a:t>
            </a:r>
            <a:r>
              <a:rPr lang="pt-BR" dirty="0"/>
              <a:t> O feedback (positivo ou negativo) recebido após uma ação.</a:t>
            </a:r>
          </a:p>
          <a:p>
            <a:endParaRPr lang="pt-BR" dirty="0"/>
          </a:p>
          <a:p>
            <a:r>
              <a:rPr lang="pt-BR" dirty="0"/>
              <a:t>O agente observa o estado, escolhe uma ação, o ambiente muda, e o agente recebe uma recompensa. O objetivo do agente é maximizar a soma total de recompensas ao longo do tempo, não apenas a recompensa imediata.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0317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8085</TotalTime>
  <Words>584</Words>
  <Application>Microsoft Office PowerPoint</Application>
  <PresentationFormat>Widescreen</PresentationFormat>
  <Paragraphs>60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Q-learning</vt:lpstr>
      <vt:lpstr>PowerPoint Presentation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PowerPoint Presentation</vt:lpstr>
      <vt:lpstr>Conceitos fundamentais de RL</vt:lpstr>
      <vt:lpstr>Conceitos fundamentais de RL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PowerPoint Presentation</vt:lpstr>
      <vt:lpstr>Referências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1739</cp:revision>
  <dcterms:created xsi:type="dcterms:W3CDTF">2020-01-20T13:50:05Z</dcterms:created>
  <dcterms:modified xsi:type="dcterms:W3CDTF">2026-04-22T15:14:15Z</dcterms:modified>
</cp:coreProperties>
</file>