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handoutMasterIdLst>
    <p:handoutMasterId r:id="rId40"/>
  </p:handoutMasterIdLst>
  <p:sldIdLst>
    <p:sldId id="256" r:id="rId2"/>
    <p:sldId id="315" r:id="rId3"/>
    <p:sldId id="307" r:id="rId4"/>
    <p:sldId id="317" r:id="rId5"/>
    <p:sldId id="320" r:id="rId6"/>
    <p:sldId id="321" r:id="rId7"/>
    <p:sldId id="318" r:id="rId8"/>
    <p:sldId id="319" r:id="rId9"/>
    <p:sldId id="325" r:id="rId10"/>
    <p:sldId id="326" r:id="rId11"/>
    <p:sldId id="327" r:id="rId12"/>
    <p:sldId id="328" r:id="rId13"/>
    <p:sldId id="330" r:id="rId14"/>
    <p:sldId id="334" r:id="rId15"/>
    <p:sldId id="333" r:id="rId16"/>
    <p:sldId id="335" r:id="rId17"/>
    <p:sldId id="338" r:id="rId18"/>
    <p:sldId id="336" r:id="rId19"/>
    <p:sldId id="348" r:id="rId20"/>
    <p:sldId id="339" r:id="rId21"/>
    <p:sldId id="337" r:id="rId22"/>
    <p:sldId id="351" r:id="rId23"/>
    <p:sldId id="316" r:id="rId24"/>
    <p:sldId id="340" r:id="rId25"/>
    <p:sldId id="350" r:id="rId26"/>
    <p:sldId id="349" r:id="rId27"/>
    <p:sldId id="345" r:id="rId28"/>
    <p:sldId id="341" r:id="rId29"/>
    <p:sldId id="342" r:id="rId30"/>
    <p:sldId id="343" r:id="rId31"/>
    <p:sldId id="344" r:id="rId32"/>
    <p:sldId id="346" r:id="rId33"/>
    <p:sldId id="347" r:id="rId34"/>
    <p:sldId id="293" r:id="rId35"/>
    <p:sldId id="306" r:id="rId36"/>
    <p:sldId id="324" r:id="rId37"/>
    <p:sldId id="323" r:id="rId38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352" autoAdjust="0"/>
    <p:restoredTop sz="79540" autoAdjust="0"/>
  </p:normalViewPr>
  <p:slideViewPr>
    <p:cSldViewPr snapToGrid="0">
      <p:cViewPr varScale="1">
        <p:scale>
          <a:sx n="58" d="100"/>
          <a:sy n="58" d="100"/>
        </p:scale>
        <p:origin x="1452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26/04/2026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66914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B4C3711-83BC-221A-A341-2BE62BCF8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5957728F-CFA3-D0A6-7780-F800EBAC1F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4AD3E5CB-A8B8-7F4B-200F-94D044C81C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3F9D8EC2-522A-3A24-97FD-162C1CF3C1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823269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78600EE-A6A2-2235-BCC6-6DE0C5D8D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B1C41149-DCAF-E8F8-FB78-0B242E2217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F4C5329E-ECB5-4CB1-3A33-CFC57176F4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37AB7C02-5FA9-66E4-2433-F97393A5C0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75771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2F2E69C-0407-4619-FFB1-7502CF033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E3C6894B-B13E-3C0F-BEC3-8A663E9850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B76A1B01-A242-46E3-F92E-FB0EA2882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4BA915CE-E13E-5840-D0C6-249ACB7C2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151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04451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D0A5E72-3763-6194-5E85-BE2635403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82466988-6655-8B01-840E-0BE3EDB68F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5E09F3D0-11CA-2E8D-04C5-104C59DCE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68F0BCD7-F825-C67D-D845-8316B4C4B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12674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D0A5E72-3763-6194-5E85-BE2635403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82466988-6655-8B01-840E-0BE3EDB68F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5E09F3D0-11CA-2E8D-04C5-104C59DCE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68F0BCD7-F825-C67D-D845-8316B4C4B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81724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• PPO (Proximal </a:t>
            </a:r>
            <a:r>
              <a:rPr lang="pt-BR" b="1" dirty="0" err="1"/>
              <a:t>Policy</a:t>
            </a:r>
            <a:r>
              <a:rPr lang="pt-BR" b="1" dirty="0"/>
              <a:t> </a:t>
            </a:r>
            <a:r>
              <a:rPr lang="pt-BR" b="1" dirty="0" err="1"/>
              <a:t>Optimization</a:t>
            </a:r>
            <a:r>
              <a:rPr lang="pt-BR" b="1" dirty="0"/>
              <a:t>)</a:t>
            </a:r>
          </a:p>
          <a:p>
            <a:r>
              <a:rPr lang="pt-BR" dirty="0"/>
              <a:t>Um dos mais usados hoje. </a:t>
            </a:r>
          </a:p>
          <a:p>
            <a:r>
              <a:rPr lang="pt-BR" dirty="0"/>
              <a:t>Estável e relativamente simples. </a:t>
            </a:r>
          </a:p>
          <a:p>
            <a:r>
              <a:rPr lang="pt-BR" dirty="0"/>
              <a:t>Muito popular em aplicações práticas.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04575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 algoritmo </a:t>
            </a:r>
            <a:r>
              <a:rPr lang="pt-BR" b="1" i="1" dirty="0"/>
              <a:t>model-</a:t>
            </a:r>
            <a:r>
              <a:rPr lang="pt-BR" b="1" i="1" dirty="0" err="1"/>
              <a:t>based</a:t>
            </a:r>
            <a:r>
              <a:rPr lang="pt-BR" dirty="0"/>
              <a:t> é como alguém que estuda o mapa (regras do ambiente) de uma cidade antes de sair de casa. </a:t>
            </a:r>
          </a:p>
          <a:p>
            <a:r>
              <a:rPr lang="pt-BR" dirty="0"/>
              <a:t>O </a:t>
            </a:r>
            <a:r>
              <a:rPr lang="pt-BR" b="1" dirty="0" err="1"/>
              <a:t>Q-</a:t>
            </a:r>
            <a:r>
              <a:rPr lang="pt-BR" b="1" i="1" dirty="0" err="1"/>
              <a:t>learning</a:t>
            </a:r>
            <a:r>
              <a:rPr lang="pt-BR" b="1" dirty="0"/>
              <a:t> </a:t>
            </a:r>
            <a:r>
              <a:rPr lang="pt-BR" dirty="0"/>
              <a:t>é a pessoa que sai andando sem mapa, errando até decorar o caminho.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65867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55DD39D-8438-4F45-71B4-9F8747421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6C322D5B-AD1C-1DB1-53A1-6978329C3F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F5D7455F-337E-5D6B-A02A-380397063D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Encontrar a função Q ideal que guie o agente para a melhor decisão sempre.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B5124413-04E6-A99E-E6BA-F56674216B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52458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3CD62A6-7D00-3C53-05CF-A6197A836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6DFDE321-184D-9B7D-CEA2-205606B85A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6DA764DC-3F53-958D-91A3-DB06BD4A3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Encontrar a função Q ideal que guie o agente para a melhor decisão sempre.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6BC07E3E-C02F-977B-3C72-FEF303694F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26992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1" dirty="0"/>
                  <a:t>épsilon (</a:t>
                </a:r>
                <a14:m>
                  <m:oMath xmlns:m="http://schemas.openxmlformats.org/officeDocument/2006/math">
                    <m:r>
                      <a:rPr lang="pt-BR" sz="12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pt-BR" sz="1200" b="1" dirty="0"/>
                  <a:t>)-</a:t>
                </a:r>
                <a:r>
                  <a:rPr lang="pt-BR" sz="1200" b="1" dirty="0" err="1"/>
                  <a:t>greedy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1" dirty="0"/>
                  <a:t>épsilon (</a:t>
                </a:r>
                <a:r>
                  <a:rPr lang="pt-BR" sz="1200" b="1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𝜺</a:t>
                </a:r>
                <a:r>
                  <a:rPr lang="pt-BR" sz="1200" b="1" dirty="0"/>
                  <a:t>)-</a:t>
                </a:r>
                <a:r>
                  <a:rPr lang="pt-BR" sz="1200" b="1" dirty="0" err="1"/>
                  <a:t>greedy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181209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pessoa de frente para dois restaurantes: um que ela sempre vai e ama (Explotação) e um restaurante novo recém-inaugurado (Exploração).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05039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pessoa de frente para dois restaurantes: um que ela sempre vai e ama (Explotação) e um restaurante novo recém-inaugurado (Exploração).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96773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676755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10629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noProof="0" dirty="0" smtClean="0"/>
                  <a:t>Se a</a:t>
                </a:r>
                <a:r>
                  <a:rPr lang="pt-BR" baseline="0" noProof="0" dirty="0" smtClean="0"/>
                  <a:t> recompensa atual mais a estimativa da recompensa futura (TD error =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baseline="0" noProof="0" dirty="0" smtClean="0"/>
                  <a:t>) for baixa, a diferença TD </a:t>
                </a:r>
                <a:r>
                  <a:rPr lang="pt-BR" baseline="0" noProof="0" dirty="0" err="1" smtClean="0"/>
                  <a:t>error</a:t>
                </a:r>
                <a:r>
                  <a:rPr lang="pt-BR" baseline="0" noProof="0" dirty="0" smtClean="0"/>
                  <a:t> 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noProof="0" dirty="0" smtClean="0"/>
                  <a:t> poderá ser negativa, diminuindo a qualidade da</a:t>
                </a:r>
                <a:r>
                  <a:rPr lang="pt-BR" baseline="0" noProof="0" dirty="0" smtClean="0"/>
                  <a:t> ação a no estado s.</a:t>
                </a:r>
              </a:p>
              <a:p>
                <a:r>
                  <a:rPr lang="pt-BR" baseline="0" noProof="0" dirty="0" smtClean="0"/>
                  <a:t>TD error =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noProof="0" dirty="0" smtClean="0"/>
                  <a:t> é chamado de alvo, ou seja, queremos que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noProof="0" dirty="0" smtClean="0"/>
                  <a:t> se aproxime dele ao longo do tempo iterativamente.</a:t>
                </a:r>
              </a:p>
              <a:p>
                <a:r>
                  <a:rPr lang="pt-BR" dirty="0" smtClean="0"/>
                  <a:t>O aprendizado busca ajustar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 smtClean="0"/>
                  <a:t> na direção do alvo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noProof="0" dirty="0" smtClean="0"/>
                  <a:t>Se a</a:t>
                </a:r>
                <a:r>
                  <a:rPr lang="pt-BR" baseline="0" noProof="0" dirty="0" smtClean="0"/>
                  <a:t> recompensa atual mais a estimativa da recompensa futura (TD error =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𝑟+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el-G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γ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max)┬(𝑎^′ )⁡𝑄(𝑠^′,𝑎^′ )</a:t>
                </a:r>
                <a:r>
                  <a:rPr lang="pt-BR" baseline="0" noProof="0" dirty="0" smtClean="0"/>
                  <a:t>) for baixa, a diferença TD </a:t>
                </a:r>
                <a:r>
                  <a:rPr lang="pt-BR" baseline="0" noProof="0" dirty="0" err="1" smtClean="0"/>
                  <a:t>error</a:t>
                </a:r>
                <a:r>
                  <a:rPr lang="pt-BR" baseline="0" noProof="0" dirty="0" smtClean="0"/>
                  <a:t> e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𝑄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(𝑠,𝑎)</a:t>
                </a:r>
                <a:r>
                  <a:rPr lang="pt-BR" noProof="0" dirty="0" smtClean="0"/>
                  <a:t> poderá ser negativa, diminuindo a qualidade da</a:t>
                </a:r>
                <a:r>
                  <a:rPr lang="pt-BR" baseline="0" noProof="0" dirty="0" smtClean="0"/>
                  <a:t> ação a no estado s.</a:t>
                </a:r>
              </a:p>
              <a:p>
                <a:r>
                  <a:rPr lang="pt-BR" baseline="0" noProof="0" dirty="0" smtClean="0"/>
                  <a:t>TD error =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𝑟+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el-G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γ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max)┬(𝑎^′ )⁡𝑄(𝑠^′,𝑎^′ )</a:t>
                </a:r>
                <a:r>
                  <a:rPr lang="pt-BR" noProof="0" dirty="0" smtClean="0"/>
                  <a:t> é chamado de alvo, ou seja, queremos que </a:t>
                </a:r>
                <a:r>
                  <a:rPr lang="pt-BR" i="0" smtClean="0">
                    <a:latin typeface="Cambria Math" panose="02040503050406030204" pitchFamily="18" charset="0"/>
                  </a:rPr>
                  <a:t>𝑄</a:t>
                </a:r>
                <a:r>
                  <a:rPr lang="pt-BR" i="0">
                    <a:latin typeface="Cambria Math" panose="02040503050406030204" pitchFamily="18" charset="0"/>
                  </a:rPr>
                  <a:t>(𝑠,𝑎)</a:t>
                </a:r>
                <a:r>
                  <a:rPr lang="pt-BR" noProof="0" dirty="0" smtClean="0"/>
                  <a:t> se aproxime dele ao longo do tempo iterativamente.</a:t>
                </a:r>
              </a:p>
              <a:p>
                <a:r>
                  <a:rPr lang="pt-BR" dirty="0" smtClean="0"/>
                  <a:t>O aprendizado busca ajustar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𝑄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(𝑠,𝑎)</a:t>
                </a:r>
                <a:r>
                  <a:rPr lang="pt-BR" dirty="0" smtClean="0"/>
                  <a:t> na direção do alvo</a:t>
                </a:r>
                <a:endParaRPr lang="pt-BR" noProof="0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280940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3999245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597623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006461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019927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 smtClean="0"/>
              <a:t>Finanças:</a:t>
            </a:r>
            <a:r>
              <a:rPr lang="pt-BR" dirty="0" smtClean="0"/>
              <a:t> Algoritmos de trading que aprendem a comprar e vender ações maximizando o lucro ao longo de meses.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18411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https://colab.research.google.com/github/zz4fap/c24_inteligencia_artificial/blob/master/notebooks/mlp.ipynb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7784190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16544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=""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=""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=""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=""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=""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=""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=""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=""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=""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=""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=""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=""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jpe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jpe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0.png"/><Relationship Id="rId4" Type="http://schemas.openxmlformats.org/officeDocument/2006/relationships/image" Target="../media/image1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 err="1"/>
              <a:t>Q-learning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59B6A74E-8855-B416-1D2B-EC3735DC0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16486" y="1706903"/>
            <a:ext cx="5323115" cy="3944937"/>
          </a:xfrm>
        </p:spPr>
        <p:txBody>
          <a:bodyPr>
            <a:normAutofit/>
          </a:bodyPr>
          <a:lstStyle/>
          <a:p>
            <a:r>
              <a:rPr lang="pt-BR" dirty="0"/>
              <a:t>As máquinas podem aprender a tomar decisões ótimas sozinhas sem supervisão (</a:t>
            </a:r>
            <a:r>
              <a:rPr lang="pt-BR" i="1" dirty="0"/>
              <a:t>dataset</a:t>
            </a:r>
            <a:r>
              <a:rPr lang="pt-BR" dirty="0"/>
              <a:t>), apenas por tentativa e erro.</a:t>
            </a:r>
          </a:p>
          <a:p>
            <a:r>
              <a:rPr lang="pt-BR" dirty="0"/>
              <a:t>Esse é o coração do </a:t>
            </a:r>
            <a:r>
              <a:rPr lang="pt-BR" i="1" dirty="0" err="1"/>
              <a:t>reinforcement</a:t>
            </a:r>
            <a:r>
              <a:rPr lang="pt-BR" i="1" dirty="0"/>
              <a:t> learning</a:t>
            </a:r>
            <a:r>
              <a:rPr lang="pt-BR" dirty="0"/>
              <a:t> (RL). </a:t>
            </a:r>
          </a:p>
          <a:p>
            <a:r>
              <a:rPr lang="pt-BR" dirty="0"/>
              <a:t>Nessa aula, aprenderemos o funcionamento do algoritmo mais clássicos da área: o </a:t>
            </a:r>
            <a:r>
              <a:rPr lang="pt-BR" dirty="0" err="1"/>
              <a:t>Q-learning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1026" name="Picture 2" descr="Reinforcement Learning">
            <a:extLst>
              <a:ext uri="{FF2B5EF4-FFF2-40B4-BE49-F238E27FC236}">
                <a16:creationId xmlns="" xmlns:a16="http://schemas.microsoft.com/office/drawing/2014/main" id="{5526EDB3-366A-5FFB-4A2D-BC3494C1E8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6" r="8204"/>
          <a:stretch>
            <a:fillRect/>
          </a:stretch>
        </p:blipFill>
        <p:spPr bwMode="auto">
          <a:xfrm>
            <a:off x="152399" y="1565389"/>
            <a:ext cx="6161315" cy="3944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9651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</a:t>
            </a:r>
            <a:r>
              <a:rPr lang="pt-BR" i="1" dirty="0" err="1"/>
              <a:t>reinforcement</a:t>
            </a:r>
            <a:r>
              <a:rPr lang="pt-BR" i="1" dirty="0"/>
              <a:t> learning</a:t>
            </a:r>
            <a:r>
              <a:rPr lang="pt-BR" dirty="0"/>
              <a:t>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255828" cy="5032375"/>
          </a:xfrm>
        </p:spPr>
        <p:txBody>
          <a:bodyPr>
            <a:normAutofit/>
          </a:bodyPr>
          <a:lstStyle/>
          <a:p>
            <a:r>
              <a:rPr lang="pt-BR" dirty="0"/>
              <a:t>É um dos paradigmas de aprendizado de </a:t>
            </a:r>
            <a:r>
              <a:rPr lang="pt-BR" i="1" dirty="0"/>
              <a:t>machine learning</a:t>
            </a:r>
            <a:r>
              <a:rPr lang="pt-BR" dirty="0"/>
              <a:t> focado em como tomar </a:t>
            </a:r>
            <a:r>
              <a:rPr lang="pt-BR" i="1" dirty="0"/>
              <a:t>ações</a:t>
            </a:r>
            <a:r>
              <a:rPr lang="pt-BR" dirty="0"/>
              <a:t> para maximizar uma </a:t>
            </a:r>
            <a:r>
              <a:rPr lang="pt-BR" i="1" dirty="0"/>
              <a:t>recompensa</a:t>
            </a:r>
            <a:r>
              <a:rPr lang="pt-BR" dirty="0"/>
              <a:t> futura.</a:t>
            </a:r>
            <a:endParaRPr lang="en-US" dirty="0"/>
          </a:p>
          <a:p>
            <a:endParaRPr lang="pt-BR" dirty="0"/>
          </a:p>
        </p:txBody>
      </p:sp>
      <p:pic>
        <p:nvPicPr>
          <p:cNvPr id="2051" name="Picture 3" descr="Understanding the Pillars of Machine Learning: Supervised, Unsupervised,  and Reinforcement Learning">
            <a:extLst>
              <a:ext uri="{FF2B5EF4-FFF2-40B4-BE49-F238E27FC236}">
                <a16:creationId xmlns="" xmlns:a16="http://schemas.microsoft.com/office/drawing/2014/main" id="{BDF6F402-9EED-6D9D-33D9-227B654D16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92" b="3060"/>
          <a:stretch>
            <a:fillRect/>
          </a:stretch>
        </p:blipFill>
        <p:spPr bwMode="auto">
          <a:xfrm>
            <a:off x="2345028" y="2786743"/>
            <a:ext cx="7501943" cy="3853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370B64E-1F58-2FF0-BFB3-B1D955875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86CC3BAE-52FC-3697-DB30-5B05B3469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0A06D34D-8885-14BC-AF7E-F271D7D63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1744" y="1825624"/>
            <a:ext cx="7391400" cy="5032375"/>
          </a:xfrm>
        </p:spPr>
        <p:txBody>
          <a:bodyPr>
            <a:normAutofit/>
          </a:bodyPr>
          <a:lstStyle/>
          <a:p>
            <a:r>
              <a:rPr lang="pt-BR" dirty="0"/>
              <a:t>Ao contrário dos aprendizados supervisionado e não supervisionado, não temos um </a:t>
            </a:r>
            <a:r>
              <a:rPr lang="pt-BR" i="1" dirty="0"/>
              <a:t>dataset</a:t>
            </a:r>
            <a:r>
              <a:rPr lang="pt-BR" dirty="0"/>
              <a:t>, seja ele rotulado ou não.</a:t>
            </a:r>
          </a:p>
          <a:p>
            <a:r>
              <a:rPr lang="pt-BR" dirty="0"/>
              <a:t>Não há um </a:t>
            </a:r>
            <a:r>
              <a:rPr lang="pt-BR" i="1" dirty="0"/>
              <a:t>dataset</a:t>
            </a:r>
            <a:r>
              <a:rPr lang="pt-BR" dirty="0"/>
              <a:t>: o agente </a:t>
            </a:r>
            <a:r>
              <a:rPr lang="pt-BR" b="1" dirty="0"/>
              <a:t>gera seus próprios dados</a:t>
            </a:r>
            <a:r>
              <a:rPr lang="pt-BR" dirty="0"/>
              <a:t> enquanto tenta, erra e aprende.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Nesse contexto, o agente é o algoritmo de aprendizado por reforço.</a:t>
            </a:r>
          </a:p>
          <a:p>
            <a:r>
              <a:rPr lang="pt-BR" dirty="0"/>
              <a:t>O aprendizado ocorre por experiência através de interações com um ambiente.</a:t>
            </a:r>
          </a:p>
        </p:txBody>
      </p:sp>
      <p:pic>
        <p:nvPicPr>
          <p:cNvPr id="4" name="Imagem 16">
            <a:extLst>
              <a:ext uri="{FF2B5EF4-FFF2-40B4-BE49-F238E27FC236}">
                <a16:creationId xmlns="" xmlns:a16="http://schemas.microsoft.com/office/drawing/2014/main" id="{7937C6EA-BFD8-5278-9EE0-796D1842173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1728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3753AED-FA4F-39DE-91A4-E5C845C0C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6E88774E-D7D6-D9E6-4449-244D34EE9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0E79548E-494A-A12A-30F7-F4E225B6C3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1485" y="1825624"/>
            <a:ext cx="7271657" cy="5032375"/>
          </a:xfrm>
        </p:spPr>
        <p:txBody>
          <a:bodyPr>
            <a:normAutofit/>
          </a:bodyPr>
          <a:lstStyle/>
          <a:p>
            <a:r>
              <a:rPr lang="pt-BR" dirty="0"/>
              <a:t>A algoritmo aprende na prática, sendo premiado ou penalizado pelo ambiente por ações tomadas até descobrir a melhor estratégia, chamada de política nesse contexto.</a:t>
            </a:r>
          </a:p>
          <a:p>
            <a:r>
              <a:rPr lang="pt-BR" dirty="0"/>
              <a:t>Existe um sinal de </a:t>
            </a:r>
            <a:r>
              <a:rPr lang="pt-BR" b="1" dirty="0"/>
              <a:t>recompensa ou reforço enviado pelo ambiente.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ambiente diz ao agente: "Isso foi bom (+10)" ou "Isso foi péssimo (-5)".</a:t>
            </a:r>
          </a:p>
          <a:p>
            <a:r>
              <a:rPr lang="pt-BR" dirty="0"/>
              <a:t>É um guia, mas ele não diz </a:t>
            </a:r>
            <a:r>
              <a:rPr lang="pt-BR" i="1" dirty="0"/>
              <a:t>qual</a:t>
            </a:r>
            <a:r>
              <a:rPr lang="pt-BR" dirty="0"/>
              <a:t> era a ação certa, apenas se a que foi tomada foi boa ou ruim.</a:t>
            </a:r>
            <a:endParaRPr lang="en-US" dirty="0"/>
          </a:p>
          <a:p>
            <a:pPr lvl="1"/>
            <a:endParaRPr lang="pt-BR" dirty="0"/>
          </a:p>
        </p:txBody>
      </p:sp>
      <p:pic>
        <p:nvPicPr>
          <p:cNvPr id="6" name="Imagem 16">
            <a:extLst>
              <a:ext uri="{FF2B5EF4-FFF2-40B4-BE49-F238E27FC236}">
                <a16:creationId xmlns="" xmlns:a16="http://schemas.microsoft.com/office/drawing/2014/main" id="{C8EB1D57-2EF7-64D2-25BE-6F8A0BE933D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8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41FFEFA-1EED-2754-CDBD-7CC34D06F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E4CDBB74-F243-3F53-FEC5-AF11CE256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8A609E9F-E2C8-D6E3-78D1-C44C117B55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8313" y="1825624"/>
            <a:ext cx="7064829" cy="5032375"/>
          </a:xfrm>
        </p:spPr>
        <p:txBody>
          <a:bodyPr>
            <a:normAutofit/>
          </a:bodyPr>
          <a:lstStyle/>
          <a:p>
            <a:r>
              <a:rPr lang="pt-BR" dirty="0"/>
              <a:t>O aprendizado por reforço foca na tomada de decisão para maximizar recompensas ao longo do tempo.</a:t>
            </a:r>
          </a:p>
          <a:p>
            <a:r>
              <a:rPr lang="pt-BR" dirty="0"/>
              <a:t>Ele responde à pergunta: </a:t>
            </a:r>
            <a:r>
              <a:rPr lang="pt-BR" i="1" dirty="0"/>
              <a:t>"Qual sequência de ações eu devo tomar para ganhar o prêmio lá na frente?“</a:t>
            </a:r>
          </a:p>
        </p:txBody>
      </p:sp>
      <p:pic>
        <p:nvPicPr>
          <p:cNvPr id="4" name="Imagem 16">
            <a:extLst>
              <a:ext uri="{FF2B5EF4-FFF2-40B4-BE49-F238E27FC236}">
                <a16:creationId xmlns="" xmlns:a16="http://schemas.microsoft.com/office/drawing/2014/main" id="{DF71A34D-2B36-AF4A-818D-805CF072BD5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1E045BB-096B-FD28-B7D5-E94A5FD7C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Analogia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DC3C87D0-4294-EB29-295B-08AD14444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7400" y="1825624"/>
            <a:ext cx="6324600" cy="5032375"/>
          </a:xfrm>
        </p:spPr>
        <p:txBody>
          <a:bodyPr>
            <a:normAutofit/>
          </a:bodyPr>
          <a:lstStyle/>
          <a:p>
            <a:r>
              <a:rPr lang="pt-BR" dirty="0"/>
              <a:t>Aprendizado por reforço é como adestrar um cachorro. </a:t>
            </a:r>
          </a:p>
          <a:p>
            <a:r>
              <a:rPr lang="pt-BR" dirty="0"/>
              <a:t>Você não diz a ele </a:t>
            </a:r>
            <a:r>
              <a:rPr lang="pt-BR" i="1" dirty="0"/>
              <a:t>como</a:t>
            </a:r>
            <a:r>
              <a:rPr lang="pt-BR" dirty="0"/>
              <a:t> se sentar ou pegar o graveto.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há dados rotulados ensinando os movimentos musculares. </a:t>
            </a:r>
          </a:p>
          <a:p>
            <a:r>
              <a:rPr lang="pt-BR" dirty="0"/>
              <a:t>Você dá um petisco (recompensa) quando ele senta ou pega o graveto, e ele aprende a associar a ação ao resultado positivo.</a:t>
            </a:r>
          </a:p>
          <a:p>
            <a:endParaRPr lang="en-US" dirty="0"/>
          </a:p>
        </p:txBody>
      </p:sp>
      <p:pic>
        <p:nvPicPr>
          <p:cNvPr id="4" name="Picture 4" descr="A Beginner's Guide to Reinforcement Learning and its Basic Implementation  from Scratch | by Tanvi Penumudy | Analytics Vidhya | Medium">
            <a:extLst>
              <a:ext uri="{FF2B5EF4-FFF2-40B4-BE49-F238E27FC236}">
                <a16:creationId xmlns="" xmlns:a16="http://schemas.microsoft.com/office/drawing/2014/main" id="{A37B35F5-6EF1-B612-B863-263AB00420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" y="2603262"/>
            <a:ext cx="5344886" cy="2687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1548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D479DA3-4A1A-74AE-26DA-FD6E65250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D674119D-90D2-5043-F365-B3EB6F8479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36510"/>
                <a:ext cx="11353800" cy="5021489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Agente:</a:t>
                </a:r>
                <a:r>
                  <a:rPr lang="pt-BR" dirty="0"/>
                  <a:t> O tomador de decisões.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um robô, um carro autônomo.</a:t>
                </a:r>
              </a:p>
              <a:p>
                <a:r>
                  <a:rPr lang="pt-BR" b="1" dirty="0"/>
                  <a:t>Ambiente:</a:t>
                </a:r>
                <a:r>
                  <a:rPr lang="pt-BR" dirty="0"/>
                  <a:t> O mundo com o qual o agente interage.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um galpão, uma cidade, um tabuleiro de jogo.</a:t>
                </a:r>
              </a:p>
              <a:p>
                <a:r>
                  <a:rPr lang="pt-BR" b="1" dirty="0"/>
                  <a:t>Estado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/>
                  <a:t>): A situação atual do agente no ambiente.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A posição do agente e dos objetos/obstáculos no galpão, cidade ou jogo.</a:t>
                </a:r>
              </a:p>
              <a:p>
                <a:r>
                  <a:rPr lang="pt-BR" b="1" dirty="0"/>
                  <a:t>Ação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): O que o agente pode fazer.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movimentos (esquerda, direita, para cima/baixo), acelerar, frear.</a:t>
                </a:r>
              </a:p>
              <a:p>
                <a:r>
                  <a:rPr lang="pt-BR" b="1" dirty="0"/>
                  <a:t>Recompensa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): O </a:t>
                </a:r>
                <a:r>
                  <a:rPr lang="pt-BR" i="1" dirty="0"/>
                  <a:t>feedback</a:t>
                </a:r>
                <a:r>
                  <a:rPr lang="pt-BR" dirty="0"/>
                  <a:t> (positivo ou negativo) recebido após uma ação.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D674119D-90D2-5043-F365-B3EB6F8479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36510"/>
                <a:ext cx="11353800" cy="5021489"/>
              </a:xfrm>
              <a:blipFill rotWithShape="0">
                <a:blip r:embed="rId3"/>
                <a:stretch>
                  <a:fillRect l="-967" t="-194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4752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DB2BBDA-DAF3-B7AC-FB99-7C5B9285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98D36C9-8653-8E41-11D8-585B6AC0D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981046E0-93D4-BF9F-C552-72A01838A8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70022" y="1836510"/>
                <a:ext cx="6821978" cy="502148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agente e o ambiente interagem em etapas de tempo discreto: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+2, …,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cada instante t, o agente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observa o estado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pt-BR" dirty="0"/>
                  <a:t> (conjunto de estados possíveis).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base em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ele seleciona uma 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pt-BR" dirty="0"/>
                  <a:t> (conjunto de ações disponíveis).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um instante depois, como consequência de sua ação, o agente recebe uma recompensa,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pt-BR" dirty="0"/>
                  <a:t> (conjunto de todas as possíveis recompensas).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se encontra em um novo estado,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81046E0-93D4-BF9F-C552-72A01838A8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70022" y="1836510"/>
                <a:ext cx="6821978" cy="5021489"/>
              </a:xfrm>
              <a:blipFill rotWithShape="0">
                <a:blip r:embed="rId3"/>
                <a:stretch>
                  <a:fillRect l="-1609" t="-1942" r="-294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" name="Picture 60">
            <a:extLst>
              <a:ext uri="{FF2B5EF4-FFF2-40B4-BE49-F238E27FC236}">
                <a16:creationId xmlns="" xmlns:a16="http://schemas.microsoft.com/office/drawing/2014/main" id="{22F895FA-1424-E50C-97F4-4F0BE0413C2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684" y="2934833"/>
            <a:ext cx="5007083" cy="226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6556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DB2BBDA-DAF3-B7AC-FB99-7C5B9285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98D36C9-8653-8E41-11D8-585B6AC0D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981046E0-93D4-BF9F-C552-72A01838A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6510"/>
            <a:ext cx="11353800" cy="5021489"/>
          </a:xfrm>
        </p:spPr>
        <p:txBody>
          <a:bodyPr>
            <a:normAutofit/>
          </a:bodyPr>
          <a:lstStyle/>
          <a:p>
            <a:r>
              <a:rPr lang="pt-BR" dirty="0"/>
              <a:t> O objetivo do agente é maximizar a soma total de recompensas ao longo do tempo, não apenas a recompensa imediata.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="" xmlns:a16="http://schemas.microsoft.com/office/drawing/2014/main" id="{22F895FA-1424-E50C-97F4-4F0BE0413C2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2071" y="3283382"/>
            <a:ext cx="6167857" cy="2784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037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212CAF6-B58D-36CC-E75E-B9EBC01B5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RL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5516FA30-D5F7-2E83-352E-3527EE589D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Alguns dos algoritmos de RL mais conhecidos e importantes são: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 err="1"/>
              <a:t>Q-Learning</a:t>
            </a:r>
            <a:endParaRPr lang="pt-BR" b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 dos algoritmos mais clássicos.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Espaços de ações e estados discretos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Base de muitos métodos modernos.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b="1" dirty="0"/>
              <a:t>Deep Q-Network (DQN)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 err="1"/>
              <a:t>Combina</a:t>
            </a:r>
            <a:r>
              <a:rPr lang="en-US" dirty="0"/>
              <a:t> Q-learning com redes </a:t>
            </a:r>
            <a:r>
              <a:rPr lang="en-US" dirty="0" err="1"/>
              <a:t>neurais</a:t>
            </a:r>
            <a:r>
              <a:rPr lang="en-US" dirty="0"/>
              <a:t> </a:t>
            </a:r>
            <a:r>
              <a:rPr lang="en-US" dirty="0" err="1"/>
              <a:t>profundas</a:t>
            </a:r>
            <a:r>
              <a:rPr lang="en-US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 err="1"/>
              <a:t>Espaço</a:t>
            </a:r>
            <a:r>
              <a:rPr lang="en-US" dirty="0"/>
              <a:t> de </a:t>
            </a:r>
            <a:r>
              <a:rPr lang="en-US" dirty="0" err="1"/>
              <a:t>ações</a:t>
            </a:r>
            <a:r>
              <a:rPr lang="en-US" dirty="0"/>
              <a:t> </a:t>
            </a:r>
            <a:r>
              <a:rPr lang="en-US" dirty="0" err="1"/>
              <a:t>discreto</a:t>
            </a:r>
            <a:r>
              <a:rPr lang="en-US" dirty="0"/>
              <a:t> e </a:t>
            </a:r>
            <a:r>
              <a:rPr lang="en-US" dirty="0" err="1"/>
              <a:t>espaço</a:t>
            </a:r>
            <a:r>
              <a:rPr lang="en-US" dirty="0"/>
              <a:t> de </a:t>
            </a:r>
            <a:r>
              <a:rPr lang="en-US" dirty="0" err="1"/>
              <a:t>estados</a:t>
            </a:r>
            <a:r>
              <a:rPr lang="en-US" dirty="0"/>
              <a:t> </a:t>
            </a:r>
            <a:r>
              <a:rPr lang="en-US" dirty="0" err="1"/>
              <a:t>contínuo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DDPG (</a:t>
            </a:r>
            <a:r>
              <a:rPr lang="pt-BR" b="1" dirty="0" err="1"/>
              <a:t>Deep</a:t>
            </a:r>
            <a:r>
              <a:rPr lang="pt-BR" b="1" dirty="0"/>
              <a:t> </a:t>
            </a:r>
            <a:r>
              <a:rPr lang="pt-BR" b="1" dirty="0" err="1"/>
              <a:t>Deterministic</a:t>
            </a:r>
            <a:r>
              <a:rPr lang="pt-BR" b="1" dirty="0"/>
              <a:t> </a:t>
            </a:r>
            <a:r>
              <a:rPr lang="pt-BR" b="1" dirty="0" err="1"/>
              <a:t>Policy</a:t>
            </a:r>
            <a:r>
              <a:rPr lang="pt-BR" b="1" dirty="0"/>
              <a:t> </a:t>
            </a:r>
            <a:r>
              <a:rPr lang="pt-BR" b="1" dirty="0" err="1"/>
              <a:t>Gradient</a:t>
            </a:r>
            <a:r>
              <a:rPr lang="pt-BR" b="1" dirty="0"/>
              <a:t>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Extensão do DQN para espaços de ações e estados contínuos.</a:t>
            </a:r>
          </a:p>
          <a:p>
            <a:r>
              <a:rPr lang="pt-BR" dirty="0"/>
              <a:t>Devido a sua simplicidade e por introduzir de forma clara os conceitos fundamentais de aprendizado por reforço, focaremos no </a:t>
            </a:r>
            <a:r>
              <a:rPr lang="pt-BR" b="1" dirty="0" err="1"/>
              <a:t>Q-</a:t>
            </a:r>
            <a:r>
              <a:rPr lang="pt-BR" b="1" i="1" dirty="0" err="1"/>
              <a:t>learning</a:t>
            </a:r>
            <a:r>
              <a:rPr lang="pt-BR" dirty="0"/>
              <a:t>, proposto por Christopher Watkins em 1989.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892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C8E92F5-0D3A-0F43-282A-3A7C06039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</a:t>
            </a:r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?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9AB6A6C9-67EC-449F-0095-BDC7619374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77600" cy="5032375"/>
          </a:xfrm>
        </p:spPr>
        <p:txBody>
          <a:bodyPr/>
          <a:lstStyle/>
          <a:p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 é um algoritmo </a:t>
            </a:r>
            <a:r>
              <a:rPr lang="pt-BR" b="1" i="1" dirty="0"/>
              <a:t>model-</a:t>
            </a:r>
            <a:r>
              <a:rPr lang="pt-BR" b="1" i="1" dirty="0" err="1"/>
              <a:t>free</a:t>
            </a:r>
            <a:r>
              <a:rPr lang="pt-BR" dirty="0"/>
              <a:t>.</a:t>
            </a:r>
          </a:p>
          <a:p>
            <a:r>
              <a:rPr lang="pt-BR" dirty="0"/>
              <a:t>Ele não conhece as regras do ambiente. </a:t>
            </a:r>
          </a:p>
          <a:p>
            <a:r>
              <a:rPr lang="pt-BR" dirty="0"/>
              <a:t>Em RL, o </a:t>
            </a:r>
            <a:r>
              <a:rPr lang="pt-BR" b="1" dirty="0"/>
              <a:t>"modelo"</a:t>
            </a:r>
            <a:r>
              <a:rPr lang="pt-BR" dirty="0"/>
              <a:t> é o conhecimento das regras do ambiente.</a:t>
            </a:r>
          </a:p>
          <a:p>
            <a:r>
              <a:rPr lang="pt-BR" dirty="0"/>
              <a:t>Ele aprende pela experiência.</a:t>
            </a:r>
          </a:p>
          <a:p>
            <a:r>
              <a:rPr lang="en-US" dirty="0"/>
              <a:t>Ele </a:t>
            </a:r>
            <a:r>
              <a:rPr lang="en-US" dirty="0" err="1"/>
              <a:t>começa</a:t>
            </a:r>
            <a:r>
              <a:rPr lang="en-US" dirty="0"/>
              <a:t> “</a:t>
            </a:r>
            <a:r>
              <a:rPr lang="en-US" dirty="0" err="1"/>
              <a:t>cego</a:t>
            </a:r>
            <a:r>
              <a:rPr lang="en-US" dirty="0"/>
              <a:t>” e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pt-BR" dirty="0"/>
              <a:t>tentativa e erro vai aprendendo.</a:t>
            </a:r>
          </a:p>
          <a:p>
            <a:r>
              <a:rPr lang="pt-BR" dirty="0"/>
              <a:t>Se temos um modelo, sabemos exatamente o que vai acontecer antes de agir. </a:t>
            </a:r>
          </a:p>
          <a:p>
            <a:r>
              <a:rPr lang="pt-BR" dirty="0"/>
              <a:t>Por exemplo em um jogo de tabuleiro: </a:t>
            </a:r>
            <a:r>
              <a:rPr lang="pt-BR" i="1" dirty="0"/>
              <a:t>"Se eu estou na casa A e for para a direita, eu TENHO 100% de chance de cair na casa B e ganhar 5 pontos"</a:t>
            </a:r>
            <a:r>
              <a:rPr lang="pt-BR" dirty="0"/>
              <a:t>.</a:t>
            </a:r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053399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4614044-1D84-E441-8AC3-FB3FD9221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6E93585-9339-7002-7C62-27331F24C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significa o "Q"?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A1483011-729D-F9ED-5FD6-580E6A4020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9856" y="1825625"/>
                <a:ext cx="789214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Significa </a:t>
                </a:r>
                <a:r>
                  <a:rPr lang="pt-BR" b="1" dirty="0"/>
                  <a:t>qualidade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Representa o quão boa é uma determinada ação em um estado específico.</a:t>
                </a:r>
              </a:p>
              <a:p>
                <a:r>
                  <a:rPr lang="pt-BR" dirty="0"/>
                  <a:t>Quem informa a </a:t>
                </a:r>
                <a:r>
                  <a:rPr lang="pt-BR" b="1" dirty="0"/>
                  <a:t>qualidade</a:t>
                </a:r>
                <a:r>
                  <a:rPr lang="pt-BR" dirty="0"/>
                  <a:t> é uma função chamada</a:t>
                </a:r>
                <a:r>
                  <a:rPr lang="pt-BR" b="1" dirty="0"/>
                  <a:t> </a:t>
                </a:r>
                <a:r>
                  <a:rPr lang="pt-BR" dirty="0"/>
                  <a:t>de</a:t>
                </a:r>
                <a:r>
                  <a:rPr lang="pt-BR" b="1" dirty="0"/>
                  <a:t> </a:t>
                </a:r>
                <a:r>
                  <a:rPr lang="pt-BR" b="1" dirty="0" err="1"/>
                  <a:t>valor-ação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mede o retorno (qualidade) esperado ao executar a ação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 no estado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No </a:t>
                </a:r>
                <a:r>
                  <a:rPr lang="pt-BR" dirty="0" err="1"/>
                  <a:t>Q-</a:t>
                </a:r>
                <a:r>
                  <a:rPr lang="pt-BR" i="1" dirty="0" err="1"/>
                  <a:t>learning</a:t>
                </a:r>
                <a:r>
                  <a:rPr lang="pt-BR" dirty="0"/>
                  <a:t>, ela é definida de forma </a:t>
                </a:r>
                <a:r>
                  <a:rPr lang="pt-BR" b="1" dirty="0"/>
                  <a:t>discreta</a:t>
                </a:r>
                <a:r>
                  <a:rPr lang="pt-BR" dirty="0"/>
                  <a:t> (estados e ações) por uma tabela (ou matriz), chamada de </a:t>
                </a:r>
                <a:r>
                  <a:rPr lang="pt-BR" b="1" dirty="0"/>
                  <a:t>tabela-Q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As linhas são os estados e as colunas são as ações.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483011-729D-F9ED-5FD6-580E6A4020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9856" y="1825625"/>
                <a:ext cx="7892143" cy="5032375"/>
              </a:xfrm>
              <a:blipFill>
                <a:blip r:embed="rId3"/>
                <a:stretch>
                  <a:fillRect l="-1390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>
            <a:extLst>
              <a:ext uri="{FF2B5EF4-FFF2-40B4-BE49-F238E27FC236}">
                <a16:creationId xmlns="" xmlns:a16="http://schemas.microsoft.com/office/drawing/2014/main" id="{A14A3494-F972-A92A-0152-CCA1FC8882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6847051"/>
              </p:ext>
            </p:extLst>
          </p:nvPr>
        </p:nvGraphicFramePr>
        <p:xfrm>
          <a:off x="1594365" y="3429000"/>
          <a:ext cx="1756228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9057">
                  <a:extLst>
                    <a:ext uri="{9D8B030D-6E8A-4147-A177-3AD203B41FA5}">
                      <a16:colId xmlns="" xmlns:a16="http://schemas.microsoft.com/office/drawing/2014/main" val="4237906138"/>
                    </a:ext>
                  </a:extLst>
                </a:gridCol>
                <a:gridCol w="439057">
                  <a:extLst>
                    <a:ext uri="{9D8B030D-6E8A-4147-A177-3AD203B41FA5}">
                      <a16:colId xmlns="" xmlns:a16="http://schemas.microsoft.com/office/drawing/2014/main" val="3865218800"/>
                    </a:ext>
                  </a:extLst>
                </a:gridCol>
                <a:gridCol w="439057">
                  <a:extLst>
                    <a:ext uri="{9D8B030D-6E8A-4147-A177-3AD203B41FA5}">
                      <a16:colId xmlns="" xmlns:a16="http://schemas.microsoft.com/office/drawing/2014/main" val="2205689395"/>
                    </a:ext>
                  </a:extLst>
                </a:gridCol>
                <a:gridCol w="439057">
                  <a:extLst>
                    <a:ext uri="{9D8B030D-6E8A-4147-A177-3AD203B41FA5}">
                      <a16:colId xmlns="" xmlns:a16="http://schemas.microsoft.com/office/drawing/2014/main" val="3536600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10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="" xmlns:a16="http://schemas.microsoft.com/office/drawing/2014/main" val="6544886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="" xmlns:a16="http://schemas.microsoft.com/office/drawing/2014/main" val="6525696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3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="" xmlns:a16="http://schemas.microsoft.com/office/drawing/2014/main" val="20074046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C8ED1C15-0942-089C-7805-CB510EC72FB1}"/>
              </a:ext>
            </a:extLst>
          </p:cNvPr>
          <p:cNvSpPr txBox="1"/>
          <p:nvPr/>
        </p:nvSpPr>
        <p:spPr>
          <a:xfrm rot="16200000">
            <a:off x="571748" y="3800593"/>
            <a:ext cx="902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Estados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35E39535-416D-18D0-A4E0-B8FD0EF37FF9}"/>
              </a:ext>
            </a:extLst>
          </p:cNvPr>
          <p:cNvSpPr txBox="1"/>
          <p:nvPr/>
        </p:nvSpPr>
        <p:spPr>
          <a:xfrm>
            <a:off x="2102185" y="2745693"/>
            <a:ext cx="740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Ações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9877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22219F2-045D-7C64-9A87-54D2232BD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7EA5E16-B19C-BA31-7BEC-009E02E41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significa o "Q"?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2D34463B-65B5-66E6-8A30-437FFFA8DE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55829" cy="5032375"/>
          </a:xfrm>
        </p:spPr>
        <p:txBody>
          <a:bodyPr>
            <a:normAutofit/>
          </a:bodyPr>
          <a:lstStyle/>
          <a:p>
            <a:r>
              <a:rPr lang="pt-BR" dirty="0"/>
              <a:t>Cada entrada da tabela armazena um valor de qualidade para um par estado-ação.</a:t>
            </a:r>
            <a:endParaRPr lang="pt-BR" dirty="0">
              <a:solidFill>
                <a:srgbClr val="FF0000"/>
              </a:solidFill>
            </a:endParaRPr>
          </a:p>
          <a:p>
            <a:r>
              <a:rPr lang="pt-BR" dirty="0"/>
              <a:t>O objetivo do algoritmo é preencher a tabela com os valores que façam o agente escolher a melhor ação sempre.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22635AC4-CE1D-B8AF-A040-2F87EF1759C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2685" y="3599123"/>
            <a:ext cx="6226629" cy="3171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58242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091E349-E10B-155D-AA4C-5C644F1CA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o </a:t>
            </a:r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 aprende?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="" xmlns:a16="http://schemas.microsoft.com/office/drawing/2014/main" id="{9A332D99-C136-4CA9-0B03-FA3FA5195ED6}"/>
                  </a:ext>
                </a:extLst>
              </p:cNvPr>
              <p:cNvSpPr txBox="1"/>
              <p:nvPr/>
            </p:nvSpPr>
            <p:spPr>
              <a:xfrm>
                <a:off x="1099021" y="1874728"/>
                <a:ext cx="9993956" cy="310854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28600" indent="-228600">
                  <a:buFont typeface="+mj-lt"/>
                  <a:buAutoNum type="arabicPeriod"/>
                </a:pPr>
                <a:r>
                  <a:rPr lang="pt-BR" sz="2800" dirty="0"/>
                  <a:t> Inicialize a tabela-Q com zeros.</a:t>
                </a:r>
              </a:p>
              <a:p>
                <a:pPr marL="228600" indent="-228600">
                  <a:buFont typeface="+mj-lt"/>
                  <a:buAutoNum type="arabicPeriod"/>
                </a:pPr>
                <a:r>
                  <a:rPr lang="pt-BR" sz="2800" dirty="0"/>
                  <a:t> Observe o estado </a:t>
                </a:r>
                <a:r>
                  <a:rPr lang="pt-BR" sz="2800" dirty="0" smtClean="0"/>
                  <a:t>atual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228600" indent="-228600">
                  <a:buFont typeface="+mj-lt"/>
                  <a:buAutoNum type="arabicPeriod"/>
                </a:pPr>
                <a:r>
                  <a:rPr lang="pt-BR" sz="2800" dirty="0"/>
                  <a:t> Repita até o fim do </a:t>
                </a:r>
                <a:r>
                  <a:rPr lang="pt-BR" sz="2800" b="1" dirty="0"/>
                  <a:t>episódio</a:t>
                </a:r>
                <a:r>
                  <a:rPr lang="pt-BR" sz="2800" dirty="0"/>
                  <a:t>:</a:t>
                </a:r>
              </a:p>
              <a:p>
                <a:pPr marL="628650" lvl="1" indent="-171450">
                  <a:buFont typeface="Courier New" panose="02070309020205020404" pitchFamily="49" charset="0"/>
                  <a:buChar char="o"/>
                </a:pPr>
                <a:r>
                  <a:rPr lang="pt-BR" sz="2800" dirty="0"/>
                  <a:t> Escolha uma ação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sz="2800" dirty="0"/>
                  <a:t> usando a </a:t>
                </a:r>
                <a:r>
                  <a:rPr lang="pt-BR" sz="2800" b="1" dirty="0"/>
                  <a:t>política </a:t>
                </a:r>
                <a14:m>
                  <m:oMath xmlns:m="http://schemas.openxmlformats.org/officeDocument/2006/math">
                    <m:r>
                      <a:rPr lang="pt-BR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pt-BR" sz="2800" b="1" dirty="0"/>
                  <a:t>-</a:t>
                </a:r>
                <a:r>
                  <a:rPr lang="pt-BR" sz="2800" b="1" i="1" dirty="0" err="1"/>
                  <a:t>greedy</a:t>
                </a:r>
                <a:r>
                  <a:rPr lang="pt-BR" sz="2800" dirty="0"/>
                  <a:t>.</a:t>
                </a:r>
              </a:p>
              <a:p>
                <a:pPr marL="628650" lvl="1" indent="-171450">
                  <a:buFont typeface="Courier New" panose="02070309020205020404" pitchFamily="49" charset="0"/>
                  <a:buChar char="o"/>
                </a:pPr>
                <a:r>
                  <a:rPr lang="pt-BR" sz="2800" dirty="0"/>
                  <a:t> Execute a ação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sz="2800" dirty="0"/>
                  <a:t>, observe o novo estado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pt-BR" sz="2800" dirty="0"/>
                  <a:t> e a recompensa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628650" lvl="1" indent="-171450">
                  <a:buFont typeface="Courier New" panose="02070309020205020404" pitchFamily="49" charset="0"/>
                  <a:buChar char="o"/>
                </a:pPr>
                <a:r>
                  <a:rPr lang="pt-BR" sz="2800" b="1" dirty="0"/>
                  <a:t> Atualize o valor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b="1" dirty="0"/>
                  <a:t> na tabela-Q.</a:t>
                </a:r>
                <a:endParaRPr lang="pt-BR" sz="2800" dirty="0"/>
              </a:p>
              <a:p>
                <a:pPr marL="628650" lvl="1" indent="-171450">
                  <a:buFont typeface="Courier New" panose="02070309020205020404" pitchFamily="49" charset="0"/>
                  <a:buChar char="o"/>
                </a:pPr>
                <a:r>
                  <a:rPr lang="pt-BR" sz="2800" dirty="0"/>
                  <a:t> Atualize o estado atual: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pt-B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←</m:t>
                        </m:r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A332D99-C136-4CA9-0B03-FA3FA5195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9021" y="1874728"/>
                <a:ext cx="9993956" cy="3108543"/>
              </a:xfrm>
              <a:prstGeom prst="rect">
                <a:avLst/>
              </a:prstGeom>
              <a:blipFill rotWithShape="0">
                <a:blip r:embed="rId3"/>
                <a:stretch>
                  <a:fillRect l="-1218" t="-1957" b="-469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="" xmlns:a16="http://schemas.microsoft.com/office/drawing/2014/main" id="{5C7A4183-CC79-97FF-3245-59A711D4BDF1}"/>
              </a:ext>
            </a:extLst>
          </p:cNvPr>
          <p:cNvSpPr txBox="1"/>
          <p:nvPr/>
        </p:nvSpPr>
        <p:spPr>
          <a:xfrm>
            <a:off x="1099021" y="5631320"/>
            <a:ext cx="999395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dirty="0"/>
              <a:t>O 'aprender' acontece na etapa de atualização, que veremos a seguir.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5270151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B40FE1F-C1FB-195D-22B9-96044B5DA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episódio?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EAC332DA-1674-3813-EFF7-0720AB3234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36085" cy="5032375"/>
          </a:xfrm>
        </p:spPr>
        <p:txBody>
          <a:bodyPr>
            <a:normAutofit/>
          </a:bodyPr>
          <a:lstStyle/>
          <a:p>
            <a:r>
              <a:rPr lang="pt-BR" dirty="0"/>
              <a:t>É uma sequência </a:t>
            </a:r>
            <a:r>
              <a:rPr lang="pt-BR" b="1" dirty="0"/>
              <a:t>completa</a:t>
            </a:r>
            <a:r>
              <a:rPr lang="pt-BR" dirty="0"/>
              <a:t> de interações entre o agente e o ambiente, que começa num </a:t>
            </a:r>
            <a:r>
              <a:rPr lang="pt-BR" b="1" dirty="0"/>
              <a:t>estado inicial</a:t>
            </a:r>
            <a:r>
              <a:rPr lang="pt-BR" dirty="0"/>
              <a:t> e termina quando um </a:t>
            </a:r>
            <a:r>
              <a:rPr lang="pt-BR" b="1" dirty="0"/>
              <a:t>estado terminal</a:t>
            </a:r>
            <a:r>
              <a:rPr lang="pt-BR" dirty="0"/>
              <a:t> é alcançado.</a:t>
            </a:r>
          </a:p>
          <a:p>
            <a:r>
              <a:rPr lang="pt-BR" dirty="0"/>
              <a:t>O episódio é como uma "partida" ou uma "tentativa":</a:t>
            </a:r>
          </a:p>
          <a:p>
            <a:pPr marL="971550" lvl="1" indent="-514350">
              <a:buFont typeface="+mj-lt"/>
              <a:buAutoNum type="arabicPeriod"/>
            </a:pPr>
            <a:r>
              <a:rPr lang="pt-BR" b="1" dirty="0"/>
              <a:t>Início:</a:t>
            </a:r>
            <a:r>
              <a:rPr lang="pt-BR" dirty="0"/>
              <a:t> O ambiente é resetado para uma posição inicial (e.g., o rato aparece no início do mapa).</a:t>
            </a:r>
          </a:p>
          <a:p>
            <a:pPr marL="971550" lvl="1" indent="-514350">
              <a:buAutoNum type="arabicPeriod"/>
            </a:pPr>
            <a:r>
              <a:rPr lang="pt-BR" b="1" dirty="0"/>
              <a:t>Ciclo:</a:t>
            </a:r>
            <a:r>
              <a:rPr lang="pt-BR" dirty="0"/>
              <a:t> O agente toma ações, recebe recompensas e o ambiente muda de estado sucessivamente.</a:t>
            </a:r>
          </a:p>
          <a:p>
            <a:pPr marL="971550" lvl="1" indent="-514350">
              <a:buAutoNum type="arabicPeriod"/>
            </a:pPr>
            <a:r>
              <a:rPr lang="pt-BR" b="1" dirty="0"/>
              <a:t>Fim:</a:t>
            </a:r>
            <a:r>
              <a:rPr lang="pt-BR" dirty="0"/>
              <a:t> O episódio se encerra quando um critério é atingido, como: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O agente atinge o </a:t>
            </a:r>
            <a:r>
              <a:rPr lang="pt-BR" b="1" dirty="0"/>
              <a:t>objetivo</a:t>
            </a:r>
            <a:r>
              <a:rPr lang="pt-BR" dirty="0"/>
              <a:t> (e.g., rato chegar ao queijo).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O agente comete um </a:t>
            </a:r>
            <a:r>
              <a:rPr lang="pt-BR" b="1" dirty="0"/>
              <a:t>erro fatal</a:t>
            </a:r>
            <a:r>
              <a:rPr lang="pt-BR" dirty="0"/>
              <a:t> (e.g., rato encontrar uma bomba).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O tempo ou o </a:t>
            </a:r>
            <a:r>
              <a:rPr lang="pt-BR" b="1" dirty="0"/>
              <a:t>limite de passos</a:t>
            </a:r>
            <a:r>
              <a:rPr lang="pt-BR" dirty="0"/>
              <a:t> esgota-se.</a:t>
            </a:r>
          </a:p>
        </p:txBody>
      </p:sp>
    </p:spTree>
    <p:extLst>
      <p:ext uri="{BB962C8B-B14F-4D97-AF65-F5344CB8AC3E}">
        <p14:creationId xmlns:p14="http://schemas.microsoft.com/office/powerpoint/2010/main" val="5965842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F8A4587-A984-EA93-857E-8D1DC320A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0D07A575-E745-E7EC-954B-2D561DB0A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episódio?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8FDE82B6-892B-61F8-DE72-D88190E83F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57857" cy="5032375"/>
          </a:xfrm>
        </p:spPr>
        <p:txBody>
          <a:bodyPr>
            <a:normAutofit/>
          </a:bodyPr>
          <a:lstStyle/>
          <a:p>
            <a:r>
              <a:rPr lang="pt-BR" dirty="0"/>
              <a:t>O treino do </a:t>
            </a:r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 é feito ao longo de muitos episódios. </a:t>
            </a:r>
          </a:p>
          <a:p>
            <a:r>
              <a:rPr lang="pt-BR" dirty="0"/>
              <a:t>Em cada novo episódio, o agente utiliza o que aprendeu nos anteriores (os valores na tabela-Q) para tentar obter uma recompensa total maior do que na tentativa passada.</a:t>
            </a:r>
          </a:p>
          <a:p>
            <a:r>
              <a:rPr lang="pt-BR" dirty="0"/>
              <a:t>O treinamento encerra-se quando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soma das recompensas obtidas ao longo do episódio para de subir e "estaciona" em um valor alto por muitos episódios seguidos.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Isso significa que o agente já explorou o suficiente e encontrou o caminho ótimo.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ou pela ausência de mudanças significativas nos valores da tabela-Q.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73896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="" xmlns:a16="http://schemas.microsoft.com/office/drawing/2014/main" id="{7BB2B1C3-607B-4033-88D5-A1CF66C9D6F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Exploração vs. Explotação (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-</a:t>
                </a:r>
                <a:r>
                  <a:rPr lang="pt-BR" i="1" dirty="0" err="1"/>
                  <a:t>greedy</a:t>
                </a:r>
                <a:r>
                  <a:rPr lang="pt-BR" dirty="0"/>
                  <a:t>) </a:t>
                </a:r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B2B1C3-607B-4033-88D5-A1CF66C9D6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D80C21A-F4FC-B1BE-7D36-8D93DC0277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87884" y="1825624"/>
                <a:ext cx="7304116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 smtClean="0"/>
                  <a:t>Exploração:</a:t>
                </a:r>
                <a:r>
                  <a:rPr lang="pt-BR" dirty="0"/>
                  <a:t> Tentar ações aleatórias para descobrir novas recompensas.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Riscos altos, mas possíveis ganhos altos a longo prazo.</a:t>
                </a:r>
              </a:p>
              <a:p>
                <a:r>
                  <a:rPr lang="pt-BR" b="1" dirty="0"/>
                  <a:t>Explotação:</a:t>
                </a:r>
                <a:r>
                  <a:rPr lang="pt-BR" dirty="0"/>
                  <a:t> Escolher a melhor ação conhecida usando a tabela-Q atual.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Garantia de recompensa conhecida.</a:t>
                </a:r>
              </a:p>
              <a:p>
                <a:r>
                  <a:rPr lang="pt-BR" b="1" dirty="0"/>
                  <a:t>A estratégia </a:t>
                </a:r>
                <a:r>
                  <a:rPr lang="pt-BR" b="1" dirty="0" err="1"/>
                  <a:t>Epsilon-Greedy</a:t>
                </a:r>
                <a:r>
                  <a:rPr lang="pt-BR" b="1" dirty="0"/>
                  <a:t> (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pt-BR" b="1" dirty="0"/>
                  <a:t>-</a:t>
                </a:r>
                <a:r>
                  <a:rPr lang="pt-BR" b="1" i="1" dirty="0" err="1"/>
                  <a:t>greedy</a:t>
                </a:r>
                <a:r>
                  <a:rPr lang="pt-BR" b="1" dirty="0"/>
                  <a:t>):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probabilidade 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 (e.g., 10%), o agente </a:t>
                </a:r>
                <a:r>
                  <a:rPr lang="pt-BR" b="1" dirty="0"/>
                  <a:t>explora</a:t>
                </a:r>
                <a:r>
                  <a:rPr lang="pt-BR" dirty="0"/>
                  <a:t> (ação aleatória).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probabilidade 1 -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 (e.g., 90%), o agente </a:t>
                </a:r>
                <a:r>
                  <a:rPr lang="pt-BR" b="1" dirty="0"/>
                  <a:t>explota</a:t>
                </a:r>
                <a:r>
                  <a:rPr lang="pt-BR" dirty="0"/>
                  <a:t> (escolhe o </a:t>
                </a:r>
                <a:r>
                  <a:rPr lang="pt-BR" dirty="0" err="1"/>
                  <a:t>max</a:t>
                </a:r>
                <a:r>
                  <a:rPr lang="pt-BR" dirty="0"/>
                  <a:t>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 smtClean="0"/>
                  <a:t> para o estado atual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 smtClean="0"/>
                  <a:t>).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5D80C21A-F4FC-B1BE-7D36-8D93DC0277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87884" y="1825624"/>
                <a:ext cx="7304116" cy="5032375"/>
              </a:xfrm>
              <a:blipFill rotWithShape="0">
                <a:blip r:embed="rId4"/>
                <a:stretch>
                  <a:fillRect l="-1503" t="-1937" r="-8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Machine learning series - part 5: Exploration vs. Exploitation dilemma in  Reinforcement learning — Steemit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83" y="2389617"/>
            <a:ext cx="4853501" cy="32297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44783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="" xmlns:a16="http://schemas.microsoft.com/office/drawing/2014/main" id="{7BB2B1C3-607B-4033-88D5-A1CF66C9D6F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Exploração vs. Explotação (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-</a:t>
                </a:r>
                <a:r>
                  <a:rPr lang="pt-BR" i="1" dirty="0" err="1"/>
                  <a:t>greedy</a:t>
                </a:r>
                <a:r>
                  <a:rPr lang="pt-BR" dirty="0"/>
                  <a:t>) </a:t>
                </a:r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B2B1C3-607B-4033-88D5-A1CF66C9D6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D80C21A-F4FC-B1BE-7D36-8D93DC0277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70022" y="1825624"/>
                <a:ext cx="67000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Se </a:t>
                </a:r>
                <a:r>
                  <a:rPr lang="pt-BR" dirty="0"/>
                  <a:t>o agente não explorar no começo, ele pode encontrar um caminho medíocre e ficar preso nele para sempre. </a:t>
                </a:r>
              </a:p>
              <a:p>
                <a:r>
                  <a:rPr lang="pt-BR" dirty="0" smtClean="0"/>
                  <a:t>Assim,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 </a:t>
                </a:r>
                <a:r>
                  <a:rPr lang="pt-BR" dirty="0" smtClean="0"/>
                  <a:t>costuma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começar </a:t>
                </a:r>
                <a:r>
                  <a:rPr lang="pt-BR" dirty="0"/>
                  <a:t>em 1.0 (100% de exploração), </a:t>
                </a:r>
                <a:r>
                  <a:rPr lang="pt-BR" dirty="0" smtClean="0"/>
                  <a:t>fazendo com que o agente tome </a:t>
                </a:r>
                <a:r>
                  <a:rPr lang="pt-BR" dirty="0"/>
                  <a:t>ações aleatórias para descobrir o </a:t>
                </a:r>
                <a:r>
                  <a:rPr lang="pt-BR" dirty="0" smtClean="0"/>
                  <a:t>ambiente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e </a:t>
                </a:r>
                <a:r>
                  <a:rPr lang="pt-BR" dirty="0"/>
                  <a:t>decair gradualmente à medida que o agente aprende (</a:t>
                </a:r>
                <a:r>
                  <a:rPr lang="pt-BR" i="1" dirty="0" err="1"/>
                  <a:t>decay</a:t>
                </a:r>
                <a:r>
                  <a:rPr lang="pt-BR" i="1" dirty="0"/>
                  <a:t> rate</a:t>
                </a:r>
                <a:r>
                  <a:rPr lang="pt-BR" dirty="0" smtClean="0"/>
                  <a:t>).</a:t>
                </a:r>
              </a:p>
              <a:p>
                <a:r>
                  <a:rPr lang="pt-BR" dirty="0" smtClean="0"/>
                  <a:t>Isso permite que o agente tenha a chance de aprender uma boa política.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5D80C21A-F4FC-B1BE-7D36-8D93DC0277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70022" y="1825624"/>
                <a:ext cx="6700058" cy="5032375"/>
              </a:xfrm>
              <a:blipFill rotWithShape="0">
                <a:blip r:embed="rId4"/>
                <a:stretch>
                  <a:fillRect l="-1638" t="-1937" r="-18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An Introduction to Q-Learning Part 2/2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889" y="2390849"/>
            <a:ext cx="4305993" cy="3182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48039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407A6B7C-8AE2-0626-7031-C9A0D36E6C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46573" y="1823299"/>
            <a:ext cx="3962400" cy="33719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3600" dirty="0"/>
              <a:t>Como o agente aprende?</a:t>
            </a:r>
          </a:p>
          <a:p>
            <a:pPr marL="0" indent="0" algn="ctr">
              <a:buNone/>
            </a:pPr>
            <a:endParaRPr lang="pt-BR" sz="3600" dirty="0"/>
          </a:p>
          <a:p>
            <a:pPr marL="0" indent="0" algn="ctr">
              <a:buNone/>
            </a:pPr>
            <a:r>
              <a:rPr lang="pt-BR" sz="3600" dirty="0"/>
              <a:t>Ou seja, como a tabela-Q é atualizada?</a:t>
            </a:r>
            <a:endParaRPr lang="en-US" sz="3600" dirty="0"/>
          </a:p>
        </p:txBody>
      </p:sp>
      <p:pic>
        <p:nvPicPr>
          <p:cNvPr id="3074" name="Picture 2" descr="Reinforcement Learning In Real Life. Simple Explanation With Funny Cats">
            <a:extLst>
              <a:ext uri="{FF2B5EF4-FFF2-40B4-BE49-F238E27FC236}">
                <a16:creationId xmlns="" xmlns:a16="http://schemas.microsoft.com/office/drawing/2014/main" id="{BF6473FC-0F5F-F021-4950-C2C526AE66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858" y="1423306"/>
            <a:ext cx="7416800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1235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3D78643-03C9-A92E-0919-E944BBC48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55086" cy="1325563"/>
          </a:xfrm>
        </p:spPr>
        <p:txBody>
          <a:bodyPr/>
          <a:lstStyle/>
          <a:p>
            <a:r>
              <a:rPr lang="pt-BR" dirty="0"/>
              <a:t>Atualização da tabela-Q: </a:t>
            </a:r>
            <a:r>
              <a:rPr lang="en-US" dirty="0"/>
              <a:t>a </a:t>
            </a:r>
            <a:r>
              <a:rPr lang="en-US" dirty="0" err="1"/>
              <a:t>equação</a:t>
            </a:r>
            <a:r>
              <a:rPr lang="en-US" dirty="0"/>
              <a:t> de Bellman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9E56A20D-5587-73F0-6A77-76736D8C9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A tabela-Q é atualizada usando-se a equação derivada por Richard </a:t>
                </a:r>
                <a:r>
                  <a:rPr lang="pt-BR" dirty="0" err="1"/>
                  <a:t>Bellman</a:t>
                </a:r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:endParaRPr lang="pt-BR" sz="1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γ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 smtClean="0"/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 smtClean="0"/>
                  <a:t>: é o </a:t>
                </a:r>
                <a:r>
                  <a:rPr lang="pt-BR" dirty="0"/>
                  <a:t>valor atual na tabela para o estado e </a:t>
                </a:r>
                <a:r>
                  <a:rPr lang="pt-BR" dirty="0" smtClean="0"/>
                  <a:t>a ação</a:t>
                </a:r>
                <a:r>
                  <a:rPr lang="pt-BR" dirty="0"/>
                  <a:t>.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 smtClean="0"/>
                  <a:t>: </a:t>
                </a:r>
                <a:r>
                  <a:rPr lang="pt-BR" b="1" dirty="0"/>
                  <a:t>taxa de </a:t>
                </a:r>
                <a:r>
                  <a:rPr lang="pt-BR" b="1" dirty="0" smtClean="0"/>
                  <a:t>aprendizado [0, 1]</a:t>
                </a:r>
                <a:r>
                  <a:rPr lang="pt-BR" dirty="0" smtClean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Define </a:t>
                </a:r>
                <a:r>
                  <a:rPr lang="pt-BR" dirty="0"/>
                  <a:t>o quanto a nova informação substitui a </a:t>
                </a:r>
                <a:r>
                  <a:rPr lang="pt-BR" dirty="0" smtClean="0"/>
                  <a:t>antiga.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Valor pequeno </a:t>
                </a:r>
                <a:r>
                  <a:rPr lang="pt-BR" dirty="0"/>
                  <a:t>→ aprendizado lento </a:t>
                </a:r>
                <a:endParaRPr lang="pt-BR" dirty="0" smtClean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Valor grande </a:t>
                </a:r>
                <a:r>
                  <a:rPr lang="pt-BR" dirty="0"/>
                  <a:t>→ atualização </a:t>
                </a:r>
                <a:r>
                  <a:rPr lang="pt-BR" dirty="0" smtClean="0"/>
                  <a:t>agressiva</a:t>
                </a:r>
                <a:endParaRPr lang="pt-BR" dirty="0"/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: </a:t>
                </a:r>
                <a:r>
                  <a:rPr lang="pt-BR" b="1" dirty="0" smtClean="0"/>
                  <a:t>recompensa</a:t>
                </a:r>
                <a:r>
                  <a:rPr lang="pt-BR" dirty="0"/>
                  <a:t>. </a:t>
                </a:r>
                <a:endParaRPr lang="pt-BR" dirty="0" smtClean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O </a:t>
                </a:r>
                <a:r>
                  <a:rPr lang="pt-BR" dirty="0"/>
                  <a:t>que ele acabou de ganhar por tomar a ação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9E56A20D-5587-73F0-6A77-76736D8C9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  <a:blipFill rotWithShape="0">
                <a:blip r:embed="rId3"/>
                <a:stretch>
                  <a:fillRect l="-913" t="-1937" r="-64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01949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3D78643-03C9-A92E-0919-E944BBC48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55086" cy="1325563"/>
          </a:xfrm>
        </p:spPr>
        <p:txBody>
          <a:bodyPr/>
          <a:lstStyle/>
          <a:p>
            <a:r>
              <a:rPr lang="pt-BR" dirty="0"/>
              <a:t>Atualização da tabela-Q: </a:t>
            </a:r>
            <a:r>
              <a:rPr lang="en-US" dirty="0"/>
              <a:t>a </a:t>
            </a:r>
            <a:r>
              <a:rPr lang="en-US" dirty="0" err="1"/>
              <a:t>equação</a:t>
            </a:r>
            <a:r>
              <a:rPr lang="en-US" dirty="0"/>
              <a:t> de Bellman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9E56A20D-5587-73F0-6A77-76736D8C9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A tabela-Q é atualizada usando-se a equação derivada por Richard </a:t>
                </a:r>
                <a:r>
                  <a:rPr lang="pt-BR" dirty="0" err="1"/>
                  <a:t>Bellman</a:t>
                </a:r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:endParaRPr lang="pt-BR" sz="1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γ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 smtClean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</m:oMath>
                </a14:m>
                <a:r>
                  <a:rPr lang="pt-BR" dirty="0"/>
                  <a:t>: </a:t>
                </a:r>
                <a:r>
                  <a:rPr lang="pt-BR" b="1" dirty="0" smtClean="0"/>
                  <a:t>fator </a:t>
                </a:r>
                <a:r>
                  <a:rPr lang="pt-BR" b="1" dirty="0"/>
                  <a:t>de </a:t>
                </a:r>
                <a:r>
                  <a:rPr lang="pt-BR" b="1" dirty="0" smtClean="0"/>
                  <a:t>desconto [0, 1]</a:t>
                </a:r>
                <a:r>
                  <a:rPr lang="pt-BR" dirty="0" smtClean="0"/>
                  <a:t>. Determina </a:t>
                </a:r>
                <a:r>
                  <a:rPr lang="pt-BR" dirty="0"/>
                  <a:t>a importância das recompensas </a:t>
                </a:r>
                <a:r>
                  <a:rPr lang="pt-BR" dirty="0" smtClean="0"/>
                  <a:t>futuras.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 smtClean="0"/>
                  <a:t>: o </a:t>
                </a:r>
                <a:r>
                  <a:rPr lang="pt-BR" dirty="0"/>
                  <a:t>agente só liga para recompensas </a:t>
                </a:r>
                <a:r>
                  <a:rPr lang="pt-BR" dirty="0" smtClean="0"/>
                  <a:t>imediatas (recompensas futuras não importam).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  <m: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 smtClean="0"/>
                  <a:t>: o agente </a:t>
                </a:r>
                <a:r>
                  <a:rPr lang="pt-BR" dirty="0"/>
                  <a:t>busca recompensas a longo prazo.</a:t>
                </a:r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: é o </a:t>
                </a:r>
                <a:r>
                  <a:rPr lang="pt-BR" b="1" dirty="0"/>
                  <a:t>melhor valor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 smtClean="0"/>
                  <a:t> </a:t>
                </a:r>
                <a:r>
                  <a:rPr lang="pt-BR" b="1" dirty="0"/>
                  <a:t>possível no próximo estado</a:t>
                </a:r>
                <a:r>
                  <a:rPr lang="pt-BR" dirty="0"/>
                  <a:t>. </a:t>
                </a:r>
                <a:endParaRPr lang="pt-BR" dirty="0" smtClean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É </a:t>
                </a:r>
                <a:r>
                  <a:rPr lang="pt-BR" dirty="0"/>
                  <a:t>a </a:t>
                </a:r>
                <a:r>
                  <a:rPr lang="pt-BR" dirty="0" smtClean="0"/>
                  <a:t>estimativa da recompensa futura.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A equação assume </a:t>
                </a:r>
                <a:r>
                  <a:rPr lang="pt-BR" dirty="0"/>
                  <a:t>que no próximo estado </a:t>
                </a:r>
                <a:r>
                  <a:rPr lang="pt-BR" dirty="0" smtClean="0"/>
                  <a:t>tomaremos </a:t>
                </a:r>
                <a:r>
                  <a:rPr lang="pt-BR" dirty="0"/>
                  <a:t>a </a:t>
                </a:r>
                <a:r>
                  <a:rPr lang="pt-BR" b="1" dirty="0"/>
                  <a:t>melhor ação </a:t>
                </a:r>
                <a:r>
                  <a:rPr lang="pt-BR" b="1" dirty="0" smtClean="0"/>
                  <a:t>possível.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9E56A20D-5587-73F0-6A77-76736D8C9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  <a:blipFill rotWithShape="0">
                <a:blip r:embed="rId3"/>
                <a:stretch>
                  <a:fillRect l="-913" t="-1937" r="-64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95557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74F2722-DA1E-D930-DC99-59F795E3E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97BD2D05-0E48-B94D-DBC7-FBDCBC17C0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5400" b="1" dirty="0">
                <a:solidFill>
                  <a:srgbClr val="FF0000"/>
                </a:solidFill>
              </a:rPr>
              <a:t>PAREI AQUI!!!!!!!!!!!!</a:t>
            </a:r>
            <a:endParaRPr lang="en-US" sz="5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90505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2C5A6D8-ECD1-B38D-0188-C905A6EDF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</a:t>
            </a:r>
            <a:r>
              <a:rPr lang="en-US" dirty="0" err="1"/>
              <a:t>equação</a:t>
            </a:r>
            <a:r>
              <a:rPr lang="en-US" dirty="0"/>
              <a:t> de Bellman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9E788D2D-1B58-788D-B9CB-AA2B58DAC9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34057" cy="5032375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limLow>
                                    <m:limLow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l-G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γ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max</m:t>
                                      </m:r>
                                    </m:e>
                                    <m:lim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lim>
                                  </m:limLow>
                                </m:fName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alvo</m:t>
                          </m:r>
                        </m:lim>
                      </m:limLow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estimativa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atual</m:t>
                          </m:r>
                        </m:lim>
                      </m:limLow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termo dentro dos colchetes é chamado de 'Erro de Diferença </a:t>
                </a:r>
                <a:r>
                  <a:rPr lang="pt-BR" dirty="0" smtClean="0"/>
                  <a:t>Temporal (TD </a:t>
                </a:r>
                <a:r>
                  <a:rPr lang="pt-BR" i="1" dirty="0" err="1" smtClean="0"/>
                  <a:t>error</a:t>
                </a:r>
                <a:r>
                  <a:rPr lang="pt-BR" dirty="0" smtClean="0"/>
                  <a:t>).</a:t>
                </a:r>
                <a:endParaRPr lang="pt-BR" dirty="0"/>
              </a:p>
              <a:p>
                <a:r>
                  <a:rPr lang="pt-BR" dirty="0"/>
                  <a:t>É a diferença entre o que acabamos de descobrir (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) e o que achávamos que sabíamos (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/>
                  <a:t>). </a:t>
                </a:r>
              </a:p>
              <a:p>
                <a:r>
                  <a:rPr lang="pt-BR" dirty="0"/>
                  <a:t>Nós multiplicamos esse erro p</a:t>
                </a:r>
                <a:r>
                  <a:rPr lang="pt-BR" dirty="0" smtClean="0"/>
                  <a:t>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para corrigir nossa crença passo a passo</a:t>
                </a:r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A </a:t>
                </a:r>
                <a:r>
                  <a:rPr lang="pt-BR" dirty="0"/>
                  <a:t>cada transição,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 smtClean="0"/>
                  <a:t> se aproxima da </a:t>
                </a:r>
                <a:r>
                  <a:rPr lang="pt-BR" dirty="0"/>
                  <a:t>recompensa </a:t>
                </a:r>
                <a:r>
                  <a:rPr lang="pt-BR" dirty="0" smtClean="0"/>
                  <a:t>imediata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 smtClean="0"/>
                  <a:t> </a:t>
                </a:r>
                <a:r>
                  <a:rPr lang="pt-BR" dirty="0"/>
                  <a:t>mais o valor futuro </a:t>
                </a:r>
                <a:r>
                  <a:rPr lang="pt-BR" dirty="0" smtClean="0"/>
                  <a:t>ótimo descontado (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 smtClean="0"/>
                  <a:t>).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9E788D2D-1B58-788D-B9CB-AA2B58DAC9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34057" cy="5032375"/>
              </a:xfrm>
              <a:blipFill rotWithShape="0">
                <a:blip r:embed="rId3"/>
                <a:stretch>
                  <a:fillRect l="-922" t="-1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57959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</a:t>
            </a:r>
            <a:r>
              <a:rPr lang="en-US" dirty="0" err="1"/>
              <a:t>equação</a:t>
            </a:r>
            <a:r>
              <a:rPr lang="en-US" dirty="0"/>
              <a:t> de Bellman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pt-BR" dirty="0" smtClean="0"/>
                  <a:t>A equação de </a:t>
                </a:r>
                <a:r>
                  <a:rPr lang="pt-BR" dirty="0" err="1"/>
                  <a:t>Bellman</a:t>
                </a:r>
                <a:r>
                  <a:rPr lang="pt-BR" dirty="0"/>
                  <a:t> diz basicamente</a:t>
                </a:r>
                <a:r>
                  <a:rPr lang="pt-BR" dirty="0" smtClean="0"/>
                  <a:t>: </a:t>
                </a:r>
              </a:p>
              <a:p>
                <a:pPr marL="0" indent="0" algn="ctr">
                  <a:buNone/>
                </a:pPr>
                <a:r>
                  <a:rPr lang="pt-BR" dirty="0" smtClean="0"/>
                  <a:t>“</a:t>
                </a:r>
                <a:r>
                  <a:rPr lang="pt-BR" dirty="0"/>
                  <a:t>O valor de uma ação = recompensa imediata + melhor valor futuro possível</a:t>
                </a:r>
                <a:r>
                  <a:rPr lang="pt-BR" dirty="0" smtClean="0"/>
                  <a:t>”</a:t>
                </a:r>
              </a:p>
              <a:p>
                <a:r>
                  <a:rPr lang="pt-BR" dirty="0" smtClean="0"/>
                  <a:t>Ou seja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γ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lim>
                          </m:limLow>
                        </m:fName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 smtClean="0">
                  <a:ea typeface="Cambria Math" panose="02040503050406030204" pitchFamily="18" charset="0"/>
                </a:endParaRPr>
              </a:p>
              <a:p>
                <a:r>
                  <a:rPr lang="pt-BR" dirty="0"/>
                  <a:t>A equação </a:t>
                </a:r>
                <a:r>
                  <a:rPr lang="pt-BR" dirty="0" smtClean="0"/>
                  <a:t>de </a:t>
                </a:r>
                <a:r>
                  <a:rPr lang="pt-BR" dirty="0" err="1" smtClean="0"/>
                  <a:t>Bellman</a:t>
                </a:r>
                <a:r>
                  <a:rPr lang="pt-BR" dirty="0" smtClean="0"/>
                  <a:t> pode </a:t>
                </a:r>
                <a:r>
                  <a:rPr lang="pt-BR" dirty="0"/>
                  <a:t>ser interpretada como:</a:t>
                </a:r>
              </a:p>
              <a:p>
                <a:pPr marL="0" indent="0" algn="ctr">
                  <a:buNone/>
                </a:pPr>
                <a:r>
                  <a:rPr lang="pt-BR" dirty="0" smtClean="0"/>
                  <a:t>Novo valor = Valor antigo +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 smtClean="0"/>
                  <a:t> </a:t>
                </a:r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pt-BR" dirty="0" smtClean="0"/>
                  <a:t> erro</a:t>
                </a:r>
              </a:p>
              <a:p>
                <a:r>
                  <a:rPr lang="pt-BR" dirty="0" smtClean="0"/>
                  <a:t>Ou seja, ajusta-se a </a:t>
                </a:r>
                <a:r>
                  <a:rPr lang="pt-BR" dirty="0"/>
                  <a:t>estimativa </a:t>
                </a:r>
                <a:r>
                  <a:rPr lang="pt-BR" b="1" dirty="0"/>
                  <a:t>na direção do valor </a:t>
                </a:r>
                <a:r>
                  <a:rPr lang="pt-BR" b="1" dirty="0" smtClean="0"/>
                  <a:t>alvo.</a:t>
                </a:r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58950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smtClean="0"/>
              <a:t>Off-</a:t>
            </a:r>
            <a:r>
              <a:rPr lang="pt-BR" i="1" dirty="0" err="1" smtClean="0"/>
              <a:t>policy</a:t>
            </a:r>
            <a:endParaRPr lang="pt-BR" i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165378" cy="4907684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γ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t-BR" dirty="0" smtClean="0"/>
              </a:p>
              <a:p>
                <a:r>
                  <a:rPr lang="pt-BR" dirty="0" smtClean="0"/>
                  <a:t>O </a:t>
                </a:r>
                <a:r>
                  <a:rPr lang="pt-BR" dirty="0"/>
                  <a:t>Q-</a:t>
                </a:r>
                <a:r>
                  <a:rPr lang="pt-BR" i="1" dirty="0" err="1"/>
                  <a:t>learning</a:t>
                </a:r>
                <a:r>
                  <a:rPr lang="pt-BR" dirty="0"/>
                  <a:t> é </a:t>
                </a:r>
                <a:r>
                  <a:rPr lang="pt-BR" dirty="0" smtClean="0"/>
                  <a:t>um algoritmo </a:t>
                </a:r>
                <a:r>
                  <a:rPr lang="pt-BR" i="1" dirty="0" smtClean="0"/>
                  <a:t>off-</a:t>
                </a:r>
                <a:r>
                  <a:rPr lang="pt-BR" i="1" dirty="0" err="1" smtClean="0"/>
                  <a:t>policy</a:t>
                </a:r>
                <a:r>
                  <a:rPr lang="pt-BR" dirty="0"/>
                  <a:t>.</a:t>
                </a:r>
                <a:endParaRPr lang="pt-BR" dirty="0" smtClean="0"/>
              </a:p>
              <a:p>
                <a:r>
                  <a:rPr lang="pt-BR" dirty="0" smtClean="0"/>
                  <a:t>Ele atualiza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 smtClean="0"/>
                  <a:t> assumindo </a:t>
                </a:r>
                <a:r>
                  <a:rPr lang="pt-BR" dirty="0"/>
                  <a:t>que o agente sempre escolhe a ação ótima futura </a:t>
                </a:r>
                <a:r>
                  <a:rPr lang="pt-BR" dirty="0" smtClean="0"/>
                  <a:t>(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pt-BR" dirty="0" smtClean="0"/>
                  <a:t> </a:t>
                </a:r>
                <a:r>
                  <a:rPr lang="pt-BR" dirty="0"/>
                  <a:t>), independentemente da ação realmente </a:t>
                </a:r>
                <a:r>
                  <a:rPr lang="pt-BR" dirty="0" smtClean="0"/>
                  <a:t>tomada.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Mesmo </a:t>
                </a:r>
                <a:r>
                  <a:rPr lang="pt-BR" dirty="0"/>
                  <a:t>que </a:t>
                </a:r>
                <a:r>
                  <a:rPr lang="pt-BR" dirty="0" smtClean="0"/>
                  <a:t>o algoritmo tenha </a:t>
                </a:r>
                <a:r>
                  <a:rPr lang="pt-BR" dirty="0"/>
                  <a:t>explorado (ação aleatória</a:t>
                </a:r>
                <a:r>
                  <a:rPr lang="pt-BR" dirty="0" smtClean="0"/>
                  <a:t>), ele aprende </a:t>
                </a:r>
                <a:r>
                  <a:rPr lang="pt-BR" dirty="0"/>
                  <a:t>como se tivesse agido de forma ótima.</a:t>
                </a:r>
                <a:endParaRPr lang="pt-BR" dirty="0" smtClean="0"/>
              </a:p>
              <a:p>
                <a:r>
                  <a:rPr lang="pt-BR" dirty="0" smtClean="0"/>
                  <a:t>Algoritmos </a:t>
                </a:r>
                <a:r>
                  <a:rPr lang="pt-BR" i="1" dirty="0" err="1" smtClean="0"/>
                  <a:t>on-policy</a:t>
                </a:r>
                <a:r>
                  <a:rPr lang="pt-BR" dirty="0"/>
                  <a:t> usam a ação realmente escolhida para </a:t>
                </a:r>
                <a:r>
                  <a:rPr lang="pt-BR" dirty="0" smtClean="0"/>
                  <a:t>atualizar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165378" cy="4907684"/>
              </a:xfrm>
              <a:blipFill rotWithShape="0">
                <a:blip r:embed="rId2"/>
                <a:stretch>
                  <a:fillRect l="-983" r="-81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03915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36F8D36-63A1-F427-6A4F-01E854EEB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EB894157-32A4-5B45-5642-D7607A5096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9903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EB01B62-8582-E09F-DA69-E77F3F495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maldição</a:t>
            </a:r>
            <a:r>
              <a:rPr lang="en-US" dirty="0"/>
              <a:t> da </a:t>
            </a:r>
            <a:r>
              <a:rPr lang="en-US" dirty="0" err="1"/>
              <a:t>dimensionalidade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0DB47E26-1487-F7F1-F157-E71A864B45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:r>
                  <a:rPr lang="pt-BR" dirty="0" err="1"/>
                  <a:t>Q-</a:t>
                </a:r>
                <a:r>
                  <a:rPr lang="pt-BR" i="1" dirty="0" err="1"/>
                  <a:t>learning</a:t>
                </a:r>
                <a:r>
                  <a:rPr lang="pt-BR" dirty="0"/>
                  <a:t> tem uma limitação conhecida como o </a:t>
                </a:r>
                <a:r>
                  <a:rPr lang="pt-BR" i="1" dirty="0"/>
                  <a:t>problema do espaço de estados</a:t>
                </a:r>
                <a:r>
                  <a:rPr lang="pt-BR" dirty="0"/>
                  <a:t>.</a:t>
                </a:r>
              </a:p>
              <a:p>
                <a:r>
                  <a:rPr lang="pt-BR" dirty="0" smtClean="0"/>
                  <a:t>Ele requer </a:t>
                </a:r>
                <a:r>
                  <a:rPr lang="pt-BR" dirty="0"/>
                  <a:t>que todos os estados estejam em uma tabela.</a:t>
                </a:r>
              </a:p>
              <a:p>
                <a:r>
                  <a:rPr lang="pt-BR" dirty="0"/>
                  <a:t>Porém, e se </a:t>
                </a:r>
                <a:r>
                  <a:rPr lang="pt-BR" dirty="0" smtClean="0"/>
                  <a:t>quisermos </a:t>
                </a:r>
                <a:r>
                  <a:rPr lang="pt-BR" dirty="0"/>
                  <a:t>treiná-lo para jogar Xadrez?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São aproximadamente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40</m:t>
                        </m:r>
                      </m:sup>
                    </m:sSup>
                  </m:oMath>
                </a14:m>
                <a:r>
                  <a:rPr lang="pt-BR" dirty="0"/>
                  <a:t> estados.</a:t>
                </a:r>
              </a:p>
              <a:p>
                <a:r>
                  <a:rPr lang="pt-BR" dirty="0"/>
                  <a:t>E se </a:t>
                </a:r>
                <a:r>
                  <a:rPr lang="pt-BR" dirty="0" smtClean="0"/>
                  <a:t>quisermos </a:t>
                </a:r>
                <a:r>
                  <a:rPr lang="pt-BR" dirty="0"/>
                  <a:t>treiná-lo para dirigir um carro autônomo usando uma câmara para observar o ambiente?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Milhões de pixels gerando bilhões de estados contínuos.</a:t>
                </a:r>
              </a:p>
              <a:p>
                <a:r>
                  <a:rPr lang="pt-BR" dirty="0" smtClean="0"/>
                  <a:t>É </a:t>
                </a:r>
                <a:r>
                  <a:rPr lang="pt-BR" dirty="0"/>
                  <a:t>impossível armazenar </a:t>
                </a:r>
                <a:r>
                  <a:rPr lang="pt-BR" dirty="0" smtClean="0"/>
                  <a:t>a tabela-Q </a:t>
                </a:r>
                <a:r>
                  <a:rPr lang="pt-BR" dirty="0"/>
                  <a:t>na memória </a:t>
                </a:r>
                <a:r>
                  <a:rPr lang="pt-BR" dirty="0" smtClean="0"/>
                  <a:t>do </a:t>
                </a:r>
                <a:r>
                  <a:rPr lang="pt-BR" dirty="0"/>
                  <a:t>computador ou percorrê-la a tempo de tomar uma </a:t>
                </a:r>
                <a:r>
                  <a:rPr lang="pt-BR" dirty="0" smtClean="0"/>
                  <a:t>decisão, tornando o treinamento impossível.</a:t>
                </a:r>
                <a:endParaRPr lang="pt-BR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0DB47E26-1487-F7F1-F157-E71A864B45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5"/>
              </a:xfrm>
              <a:blipFill rotWithShape="0">
                <a:blip r:embed="rId3"/>
                <a:stretch>
                  <a:fillRect l="-980" t="-1937" r="-16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02935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C71F0FE-EA94-74C4-913C-E1B2789B6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maldição</a:t>
            </a:r>
            <a:r>
              <a:rPr lang="en-US" dirty="0"/>
              <a:t> da </a:t>
            </a:r>
            <a:r>
              <a:rPr lang="en-US" dirty="0" err="1"/>
              <a:t>dimensionalidade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387116BB-1259-5A42-97B8-F5F027BBE6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96600" cy="4351338"/>
          </a:xfrm>
        </p:spPr>
        <p:txBody>
          <a:bodyPr/>
          <a:lstStyle/>
          <a:p>
            <a:r>
              <a:rPr lang="pt-BR" dirty="0"/>
              <a:t>Para problemas com poucas ações e estados, a tabela é ótima. </a:t>
            </a:r>
          </a:p>
          <a:p>
            <a:r>
              <a:rPr lang="pt-BR" dirty="0"/>
              <a:t>Mas, por exemplo, em engenharia robótica, os estados são contínuos: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velocidade, ângulo da articulação. </a:t>
            </a:r>
          </a:p>
          <a:p>
            <a:r>
              <a:rPr lang="pt-BR" dirty="0"/>
              <a:t>Não podemos ter uma linha na tabela-Q para um ângulo de 45,1 graus e outra para 45,2 graus. </a:t>
            </a:r>
          </a:p>
          <a:p>
            <a:r>
              <a:rPr lang="pt-BR" dirty="0"/>
              <a:t>Precisamos de </a:t>
            </a:r>
            <a:r>
              <a:rPr lang="pt-BR" b="1" dirty="0"/>
              <a:t>generalização</a:t>
            </a:r>
            <a:r>
              <a:rPr lang="pt-BR" dirty="0"/>
              <a:t>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452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0FD9EB4A-BCBE-6A0F-12D6-6770FC41F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Trocando a tabela-Q por redes neurais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9B1F2B59-589E-C89D-B023-E847F3DC92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47658" y="1825624"/>
                <a:ext cx="644434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A solução:</a:t>
                </a:r>
                <a:r>
                  <a:rPr lang="pt-BR" dirty="0"/>
                  <a:t> Em vez de usar uma matriz para buscar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usamos uma </a:t>
                </a:r>
                <a:r>
                  <a:rPr lang="pt-BR" b="1" dirty="0"/>
                  <a:t>rede neural</a:t>
                </a:r>
                <a:r>
                  <a:rPr lang="pt-BR" dirty="0"/>
                  <a:t> para </a:t>
                </a:r>
                <a:r>
                  <a:rPr lang="pt-BR" i="1" dirty="0"/>
                  <a:t>aproximar</a:t>
                </a:r>
                <a:r>
                  <a:rPr lang="pt-BR" dirty="0"/>
                  <a:t> a função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rede aprender a generalizar estados: o agente não precisa visitar todos os estados.</a:t>
                </a:r>
              </a:p>
              <a:p>
                <a:r>
                  <a:rPr lang="pt-BR" b="1" dirty="0"/>
                  <a:t>Entrada:</a:t>
                </a:r>
                <a:r>
                  <a:rPr lang="pt-BR" dirty="0"/>
                  <a:t> O estado (e.g., a imagem da câmera).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Agora, o estado pode ser composto por valores contínuos.</a:t>
                </a:r>
              </a:p>
              <a:p>
                <a:r>
                  <a:rPr lang="pt-BR" b="1" dirty="0"/>
                  <a:t>Saída:</a:t>
                </a:r>
                <a:r>
                  <a:rPr lang="pt-BR" dirty="0"/>
                  <a:t> Os valores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para todas as ações possíveis naquele estado.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1F2B59-589E-C89D-B023-E847F3DC92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47658" y="1825624"/>
                <a:ext cx="6444342" cy="5032375"/>
              </a:xfrm>
              <a:blipFill>
                <a:blip r:embed="rId3"/>
                <a:stretch>
                  <a:fillRect l="-1703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 descr="Cracking the Spell of Q* - A New Method in Problem Solving | Benny's Mind  Hack">
            <a:extLst>
              <a:ext uri="{FF2B5EF4-FFF2-40B4-BE49-F238E27FC236}">
                <a16:creationId xmlns="" xmlns:a16="http://schemas.microsoft.com/office/drawing/2014/main" id="{2FAF9048-FD7A-0345-D833-A8A15BE693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0" y="2242457"/>
            <a:ext cx="5172489" cy="3399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52508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8EDEA96-2DFF-1829-9984-096F6593B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Onde RL é </a:t>
            </a:r>
            <a:r>
              <a:rPr lang="en-US" dirty="0" err="1"/>
              <a:t>usado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0160E88F-503C-2590-9D5D-B2BDD50D27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61856" y="1825624"/>
            <a:ext cx="7130144" cy="5032375"/>
          </a:xfrm>
        </p:spPr>
        <p:txBody>
          <a:bodyPr>
            <a:normAutofit lnSpcReduction="10000"/>
          </a:bodyPr>
          <a:lstStyle/>
          <a:p>
            <a:r>
              <a:rPr lang="pt-BR" b="1" dirty="0"/>
              <a:t>Robótica e </a:t>
            </a:r>
            <a:r>
              <a:rPr lang="pt-BR" b="1" dirty="0" smtClean="0"/>
              <a:t>manufatura: </a:t>
            </a:r>
            <a:r>
              <a:rPr lang="pt-BR" dirty="0" smtClean="0"/>
              <a:t>Ensinar </a:t>
            </a:r>
            <a:r>
              <a:rPr lang="pt-BR" dirty="0"/>
              <a:t>robôs a andar, agarrar objetos ou equilibrar cargas</a:t>
            </a:r>
            <a:r>
              <a:rPr lang="pt-BR" dirty="0" smtClean="0"/>
              <a:t>.</a:t>
            </a:r>
            <a:endParaRPr lang="pt-BR" dirty="0"/>
          </a:p>
          <a:p>
            <a:r>
              <a:rPr lang="pt-BR" b="1" dirty="0"/>
              <a:t>Otimização de redes e sistemas:</a:t>
            </a:r>
            <a:r>
              <a:rPr lang="pt-BR" dirty="0"/>
              <a:t> Roteamento de pacotes dinâmico para evitar gargalos na rede.</a:t>
            </a:r>
          </a:p>
          <a:p>
            <a:r>
              <a:rPr lang="pt-BR" b="1" dirty="0"/>
              <a:t>Sistemas de recomendação</a:t>
            </a:r>
            <a:r>
              <a:rPr lang="pt-BR" b="1" dirty="0" smtClean="0"/>
              <a:t>: </a:t>
            </a:r>
            <a:r>
              <a:rPr lang="pt-BR" dirty="0"/>
              <a:t>Otimizar qual vídeo ou anúncio mostrar para você na internet com base no engajamento a longo prazo.</a:t>
            </a:r>
          </a:p>
          <a:p>
            <a:r>
              <a:rPr lang="pt-BR" b="1" dirty="0"/>
              <a:t>Controle industrial:</a:t>
            </a:r>
            <a:r>
              <a:rPr lang="pt-BR" dirty="0"/>
              <a:t> Ajuste fino de caldeiras e refrigeração em data centers para reduzir consumo de energia</a:t>
            </a:r>
            <a:r>
              <a:rPr lang="pt-BR" dirty="0" smtClean="0"/>
              <a:t>.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265EF8FE-70EB-D556-D43F-F69593E54B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917" y="2416629"/>
            <a:ext cx="4604655" cy="3069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11925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Exemplo: </a:t>
            </a:r>
            <a:r>
              <a:rPr lang="pt-BR" dirty="0" smtClean="0"/>
              <a:t>q-</a:t>
            </a:r>
            <a:r>
              <a:rPr lang="pt-BR" dirty="0" err="1" smtClean="0"/>
              <a:t>learning.ipynb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=""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=""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=""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=""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=""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=""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7637170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Lista </a:t>
            </a:r>
            <a:r>
              <a:rPr lang="pt-BR" dirty="0" smtClean="0"/>
              <a:t>#14 – Q-</a:t>
            </a:r>
            <a:r>
              <a:rPr lang="pt-BR" dirty="0" err="1" smtClean="0"/>
              <a:t>learning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45313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3DFB381-AAB9-2788-1601-EB1230F30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4AF40FF5-E3E4-99F0-8C87-687EB32C12F9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16900664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="" xmlns:a16="http://schemas.microsoft.com/office/drawing/2014/main" id="{BB54A8AF-5D7A-DF48-6B51-A97D3BA5AE2B}"/>
              </a:ext>
            </a:extLst>
          </p:cNvPr>
          <p:cNvGrpSpPr/>
          <p:nvPr/>
        </p:nvGrpSpPr>
        <p:grpSpPr>
          <a:xfrm>
            <a:off x="2902132" y="2387826"/>
            <a:ext cx="5141381" cy="2330287"/>
            <a:chOff x="-330925" y="4347254"/>
            <a:chExt cx="5141381" cy="2330287"/>
          </a:xfrm>
        </p:grpSpPr>
        <p:sp>
          <p:nvSpPr>
            <p:cNvPr id="26" name="Rectangle 25">
              <a:extLst>
                <a:ext uri="{FF2B5EF4-FFF2-40B4-BE49-F238E27FC236}">
                  <a16:creationId xmlns="" xmlns:a16="http://schemas.microsoft.com/office/drawing/2014/main" id="{A78F414E-0878-E9AC-3349-365D683589EF}"/>
                </a:ext>
              </a:extLst>
            </p:cNvPr>
            <p:cNvSpPr/>
            <p:nvPr/>
          </p:nvSpPr>
          <p:spPr>
            <a:xfrm>
              <a:off x="2090057" y="6262799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="" xmlns:a16="http://schemas.microsoft.com/office/drawing/2014/main" id="{67A2140F-0BEB-DFFC-0173-0DDE81A0BAF4}"/>
                </a:ext>
              </a:extLst>
            </p:cNvPr>
            <p:cNvSpPr/>
            <p:nvPr/>
          </p:nvSpPr>
          <p:spPr>
            <a:xfrm>
              <a:off x="2090057" y="6032722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="" xmlns:a16="http://schemas.microsoft.com/office/drawing/2014/main" id="{C67CE66F-B1C9-97C2-5191-323C447A4039}"/>
                </a:ext>
              </a:extLst>
            </p:cNvPr>
            <p:cNvSpPr/>
            <p:nvPr/>
          </p:nvSpPr>
          <p:spPr>
            <a:xfrm>
              <a:off x="2090057" y="4692368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="" xmlns:a16="http://schemas.microsoft.com/office/drawing/2014/main" id="{44116E33-D3F4-D7FB-DCEF-760C9C024249}"/>
                </a:ext>
              </a:extLst>
            </p:cNvPr>
            <p:cNvSpPr/>
            <p:nvPr/>
          </p:nvSpPr>
          <p:spPr>
            <a:xfrm>
              <a:off x="2090057" y="4462291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Connector: Elbow 11">
              <a:extLst>
                <a:ext uri="{FF2B5EF4-FFF2-40B4-BE49-F238E27FC236}">
                  <a16:creationId xmlns="" xmlns:a16="http://schemas.microsoft.com/office/drawing/2014/main" id="{0375811A-BC31-5203-21BF-8C1AEDCA810A}"/>
                </a:ext>
              </a:extLst>
            </p:cNvPr>
            <p:cNvCxnSpPr>
              <a:cxnSpLocks/>
              <a:stCxn id="17" idx="3"/>
              <a:endCxn id="18" idx="3"/>
            </p:cNvCxnSpPr>
            <p:nvPr/>
          </p:nvCxnSpPr>
          <p:spPr>
            <a:xfrm>
              <a:off x="3298371" y="4693670"/>
              <a:ext cx="12700" cy="1569130"/>
            </a:xfrm>
            <a:prstGeom prst="bentConnector3">
              <a:avLst>
                <a:gd name="adj1" fmla="val 4542858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angle: Rounded Corners 16">
              <a:extLst>
                <a:ext uri="{FF2B5EF4-FFF2-40B4-BE49-F238E27FC236}">
                  <a16:creationId xmlns="" xmlns:a16="http://schemas.microsoft.com/office/drawing/2014/main" id="{D957717F-F346-A328-0454-3432762A09F8}"/>
                </a:ext>
              </a:extLst>
            </p:cNvPr>
            <p:cNvSpPr/>
            <p:nvPr/>
          </p:nvSpPr>
          <p:spPr>
            <a:xfrm>
              <a:off x="2090057" y="4347254"/>
              <a:ext cx="1208314" cy="69283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Agente</a:t>
              </a:r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="" xmlns:a16="http://schemas.microsoft.com/office/drawing/2014/main" id="{39EF6FE5-6FBC-BC13-63C8-D6E9E3E272C4}"/>
                </a:ext>
              </a:extLst>
            </p:cNvPr>
            <p:cNvSpPr/>
            <p:nvPr/>
          </p:nvSpPr>
          <p:spPr>
            <a:xfrm>
              <a:off x="2090057" y="5916384"/>
              <a:ext cx="1208314" cy="69283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Ambiente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="" xmlns:a16="http://schemas.microsoft.com/office/drawing/2014/main" id="{DEBC8956-45EC-9A9F-7CAD-7A468058ABF1}"/>
                    </a:ext>
                  </a:extLst>
                </p:cNvPr>
                <p:cNvSpPr txBox="1"/>
                <p:nvPr/>
              </p:nvSpPr>
              <p:spPr>
                <a:xfrm>
                  <a:off x="3863340" y="5292917"/>
                  <a:ext cx="94711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ação,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DEBC8956-45EC-9A9F-7CAD-7A468058AB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63340" y="5292917"/>
                  <a:ext cx="947116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3226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="" xmlns:a16="http://schemas.microsoft.com/office/drawing/2014/main" id="{6B8DF4A4-00E2-9B10-CC12-B0D274CCB842}"/>
                    </a:ext>
                  </a:extLst>
                </p:cNvPr>
                <p:cNvSpPr txBox="1"/>
                <p:nvPr/>
              </p:nvSpPr>
              <p:spPr>
                <a:xfrm>
                  <a:off x="1563188" y="5778428"/>
                  <a:ext cx="5268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DF4A4-00E2-9B10-CC12-B0D274CCB8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3188" y="5778428"/>
                  <a:ext cx="526868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="" xmlns:a16="http://schemas.microsoft.com/office/drawing/2014/main" id="{376B01EB-53C8-C2B2-1104-8A2BC1DE4624}"/>
                    </a:ext>
                  </a:extLst>
                </p:cNvPr>
                <p:cNvSpPr txBox="1"/>
                <p:nvPr/>
              </p:nvSpPr>
              <p:spPr>
                <a:xfrm>
                  <a:off x="1537788" y="6308209"/>
                  <a:ext cx="5268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76B01EB-53C8-C2B2-1104-8A2BC1DE46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37788" y="6308209"/>
                  <a:ext cx="526868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34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="" xmlns:a16="http://schemas.microsoft.com/office/drawing/2014/main" id="{8B0A48D5-77C9-C29A-8EF5-BED0E6E38CD2}"/>
                </a:ext>
              </a:extLst>
            </p:cNvPr>
            <p:cNvSpPr/>
            <p:nvPr/>
          </p:nvSpPr>
          <p:spPr>
            <a:xfrm>
              <a:off x="1175657" y="6032722"/>
              <a:ext cx="370114" cy="2300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="" xmlns:a16="http://schemas.microsoft.com/office/drawing/2014/main" id="{48728DA3-DA01-CAB9-540E-37EADA51BE57}"/>
                </a:ext>
              </a:extLst>
            </p:cNvPr>
            <p:cNvSpPr/>
            <p:nvPr/>
          </p:nvSpPr>
          <p:spPr>
            <a:xfrm>
              <a:off x="1175656" y="6262798"/>
              <a:ext cx="370114" cy="2300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="" xmlns:a16="http://schemas.microsoft.com/office/drawing/2014/main" id="{20E553C2-F044-7C77-F846-B80760291225}"/>
                </a:ext>
              </a:extLst>
            </p:cNvPr>
            <p:cNvCxnSpPr>
              <a:cxnSpLocks/>
              <a:stCxn id="20" idx="1"/>
              <a:endCxn id="33" idx="1"/>
            </p:cNvCxnSpPr>
            <p:nvPr/>
          </p:nvCxnSpPr>
          <p:spPr>
            <a:xfrm rot="10800000" flipH="1">
              <a:off x="1175657" y="4807406"/>
              <a:ext cx="914400" cy="1340354"/>
            </a:xfrm>
            <a:prstGeom prst="bentConnector3">
              <a:avLst>
                <a:gd name="adj1" fmla="val -16667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="" xmlns:a16="http://schemas.microsoft.com/office/drawing/2014/main" id="{6AEFECE4-5D15-A8B3-453D-610BA5638D05}"/>
                </a:ext>
              </a:extLst>
            </p:cNvPr>
            <p:cNvCxnSpPr>
              <a:stCxn id="27" idx="1"/>
              <a:endCxn id="20" idx="3"/>
            </p:cNvCxnSpPr>
            <p:nvPr/>
          </p:nvCxnSpPr>
          <p:spPr>
            <a:xfrm flipH="1">
              <a:off x="1545771" y="6147760"/>
              <a:ext cx="54428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="" xmlns:a16="http://schemas.microsoft.com/office/drawing/2014/main" id="{B6FFE6A0-55AE-62C1-3F6E-5291D436B5AB}"/>
                </a:ext>
              </a:extLst>
            </p:cNvPr>
            <p:cNvCxnSpPr>
              <a:cxnSpLocks/>
              <a:stCxn id="26" idx="1"/>
              <a:endCxn id="21" idx="3"/>
            </p:cNvCxnSpPr>
            <p:nvPr/>
          </p:nvCxnSpPr>
          <p:spPr>
            <a:xfrm flipH="1" flipV="1">
              <a:off x="1545770" y="6377836"/>
              <a:ext cx="54428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: Elbow 39">
              <a:extLst>
                <a:ext uri="{FF2B5EF4-FFF2-40B4-BE49-F238E27FC236}">
                  <a16:creationId xmlns="" xmlns:a16="http://schemas.microsoft.com/office/drawing/2014/main" id="{73307ED6-2342-7662-DD14-B12FEDB6983C}"/>
                </a:ext>
              </a:extLst>
            </p:cNvPr>
            <p:cNvCxnSpPr>
              <a:stCxn id="21" idx="1"/>
              <a:endCxn id="34" idx="1"/>
            </p:cNvCxnSpPr>
            <p:nvPr/>
          </p:nvCxnSpPr>
          <p:spPr>
            <a:xfrm rot="10800000" flipH="1">
              <a:off x="1175655" y="4577330"/>
              <a:ext cx="914401" cy="1800507"/>
            </a:xfrm>
            <a:prstGeom prst="bentConnector3">
              <a:avLst>
                <a:gd name="adj1" fmla="val -54167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="" xmlns:a16="http://schemas.microsoft.com/office/drawing/2014/main" id="{6B737731-0DAB-FB54-8D60-66210A48E60A}"/>
                </a:ext>
              </a:extLst>
            </p:cNvPr>
            <p:cNvCxnSpPr>
              <a:cxnSpLocks/>
              <a:stCxn id="20" idx="1"/>
              <a:endCxn id="20" idx="3"/>
            </p:cNvCxnSpPr>
            <p:nvPr/>
          </p:nvCxnSpPr>
          <p:spPr>
            <a:xfrm>
              <a:off x="1175657" y="6147760"/>
              <a:ext cx="37011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="" xmlns:a16="http://schemas.microsoft.com/office/drawing/2014/main" id="{7AED5B7A-243B-6FAD-C904-A72171DA10E4}"/>
                </a:ext>
              </a:extLst>
            </p:cNvPr>
            <p:cNvCxnSpPr>
              <a:cxnSpLocks/>
              <a:stCxn id="21" idx="1"/>
              <a:endCxn id="21" idx="3"/>
            </p:cNvCxnSpPr>
            <p:nvPr/>
          </p:nvCxnSpPr>
          <p:spPr>
            <a:xfrm>
              <a:off x="1175656" y="6377836"/>
              <a:ext cx="37011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C98BB9BE-FF5B-BD53-700F-EF25882F8757}"/>
                    </a:ext>
                  </a:extLst>
                </p:cNvPr>
                <p:cNvSpPr txBox="1"/>
                <p:nvPr/>
              </p:nvSpPr>
              <p:spPr>
                <a:xfrm>
                  <a:off x="1001213" y="5260489"/>
                  <a:ext cx="1106260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reforço,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98BB9BE-FF5B-BD53-700F-EF25882F87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1213" y="5260489"/>
                  <a:ext cx="1106260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3315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="" xmlns:a16="http://schemas.microsoft.com/office/drawing/2014/main" id="{033C1F87-4FD6-565B-5CE1-B94FB9D5F703}"/>
                    </a:ext>
                  </a:extLst>
                </p:cNvPr>
                <p:cNvSpPr txBox="1"/>
                <p:nvPr/>
              </p:nvSpPr>
              <p:spPr>
                <a:xfrm>
                  <a:off x="-330925" y="5260489"/>
                  <a:ext cx="100438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estado,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033C1F87-4FD6-565B-5CE1-B94FB9D5F7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30925" y="5260489"/>
                  <a:ext cx="1004386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3030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8" name="Straight Connector 57">
              <a:extLst>
                <a:ext uri="{FF2B5EF4-FFF2-40B4-BE49-F238E27FC236}">
                  <a16:creationId xmlns="" xmlns:a16="http://schemas.microsoft.com/office/drawing/2014/main" id="{1A8E8F72-A082-BAC3-6C41-D1C1204F72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52119" y="6028070"/>
              <a:ext cx="1" cy="460152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988486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8732</TotalTime>
  <Words>2007</Words>
  <Application>Microsoft Office PowerPoint</Application>
  <PresentationFormat>Widescreen</PresentationFormat>
  <Paragraphs>256</Paragraphs>
  <Slides>37</Slides>
  <Notes>25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37</vt:i4>
      </vt:variant>
    </vt:vector>
  </HeadingPairs>
  <TitlesOfParts>
    <vt:vector size="44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Q-learning</vt:lpstr>
      <vt:lpstr>Apresentação do PowerPoint</vt:lpstr>
      <vt:lpstr>O que é reinforcement learning?</vt:lpstr>
      <vt:lpstr>Diferenças chave entre os paradigmas</vt:lpstr>
      <vt:lpstr>Diferenças chave entre os paradigmas</vt:lpstr>
      <vt:lpstr>Diferenças chave entre os paradigmas</vt:lpstr>
      <vt:lpstr>Analogia</vt:lpstr>
      <vt:lpstr>Conceitos fundamentais de RL</vt:lpstr>
      <vt:lpstr>Conceitos fundamentais de RL</vt:lpstr>
      <vt:lpstr>Conceitos fundamentais de RL</vt:lpstr>
      <vt:lpstr>Algoritmos de RL</vt:lpstr>
      <vt:lpstr>O que é Q-learning?</vt:lpstr>
      <vt:lpstr>O que significa o "Q"? </vt:lpstr>
      <vt:lpstr>O que significa o "Q"? </vt:lpstr>
      <vt:lpstr>Como o Q-learning aprende?</vt:lpstr>
      <vt:lpstr>O que é um episódio?</vt:lpstr>
      <vt:lpstr>O que é um episódio?</vt:lpstr>
      <vt:lpstr>Exploração vs. Explotação (ε-greedy) </vt:lpstr>
      <vt:lpstr>Exploração vs. Explotação (ε-greedy) </vt:lpstr>
      <vt:lpstr>Apresentação do PowerPoint</vt:lpstr>
      <vt:lpstr>Atualização da tabela-Q: a equação de Bellman</vt:lpstr>
      <vt:lpstr>Atualização da tabela-Q: a equação de Bellman</vt:lpstr>
      <vt:lpstr>Apresentação do PowerPoint</vt:lpstr>
      <vt:lpstr>A equação de Bellman</vt:lpstr>
      <vt:lpstr>A equação de Bellman</vt:lpstr>
      <vt:lpstr>Off-policy</vt:lpstr>
      <vt:lpstr>Exemplo numérico</vt:lpstr>
      <vt:lpstr>A maldição da dimensionalidade</vt:lpstr>
      <vt:lpstr>A maldição da dimensionalidade</vt:lpstr>
      <vt:lpstr>Trocando a tabela-Q por redes neurais</vt:lpstr>
      <vt:lpstr>Onde RL é usado?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1809</cp:revision>
  <dcterms:created xsi:type="dcterms:W3CDTF">2020-01-20T13:50:05Z</dcterms:created>
  <dcterms:modified xsi:type="dcterms:W3CDTF">2026-04-27T01:31:51Z</dcterms:modified>
</cp:coreProperties>
</file>