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4"/>
  </p:notesMasterIdLst>
  <p:handoutMasterIdLst>
    <p:handoutMasterId r:id="rId35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33" r:id="rId16"/>
    <p:sldId id="335" r:id="rId17"/>
    <p:sldId id="338" r:id="rId18"/>
    <p:sldId id="336" r:id="rId19"/>
    <p:sldId id="339" r:id="rId20"/>
    <p:sldId id="337" r:id="rId21"/>
    <p:sldId id="316" r:id="rId22"/>
    <p:sldId id="340" r:id="rId23"/>
    <p:sldId id="345" r:id="rId24"/>
    <p:sldId id="341" r:id="rId25"/>
    <p:sldId id="342" r:id="rId26"/>
    <p:sldId id="343" r:id="rId27"/>
    <p:sldId id="344" r:id="rId28"/>
    <p:sldId id="331" r:id="rId29"/>
    <p:sldId id="293" r:id="rId30"/>
    <p:sldId id="306" r:id="rId31"/>
    <p:sldId id="324" r:id="rId32"/>
    <p:sldId id="323" r:id="rId3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352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086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40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inicial (atual)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Q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Se o agente não explorar no começo, ele pode encontrar um caminho medíocre e ficar preso nele para sempre. </a:t>
                </a:r>
              </a:p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 começar em 1.0 (100% de exploração) 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3" cy="5032375"/>
              </a:xfrm>
              <a:blipFill>
                <a:blip r:embed="rId4"/>
                <a:stretch>
                  <a:fillRect l="-927" t="-1937" r="-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 err="1"/>
                  <a:t>onde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: é a </a:t>
                </a:r>
                <a:r>
                  <a:rPr lang="pt-BR" b="1" dirty="0"/>
                  <a:t>taxa de aprendizado</a:t>
                </a:r>
                <a:r>
                  <a:rPr lang="pt-BR" dirty="0"/>
                  <a:t>. Valor entre 0 e 1. Determina o peso da nova informação em relação à velha.</a:t>
                </a:r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é </a:t>
                </a:r>
                <a:r>
                  <a:rPr lang="pt-BR" b="1" dirty="0"/>
                  <a:t>recompensa</a:t>
                </a:r>
                <a:r>
                  <a:rPr lang="pt-BR" dirty="0"/>
                  <a:t>. O 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fator de desconto</a:t>
                </a:r>
                <a:r>
                  <a:rPr lang="pt-BR" dirty="0"/>
                  <a:t>. Entre 0 e 1. Determina a importância das recompensas futuras.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Q possível no próximo estado</a:t>
                </a:r>
                <a:r>
                  <a:rPr lang="pt-BR" dirty="0"/>
                  <a:t>. É a estimativa do futuro.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1074" t="-2663" r="-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234057" cy="4351338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'Erro de Diferença Temporal'. </a:t>
                </a:r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pelo nosso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234057" cy="4351338"/>
              </a:xfrm>
              <a:blipFill>
                <a:blip r:embed="rId3"/>
                <a:stretch>
                  <a:fillRect l="-922" r="-70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6F8D36-63A1-F427-6A4F-01E854EE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94157-32A4-5B45-5642-D7607A509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90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i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tradicional requer que todos os estados estejam em uma tabela.</a:t>
                </a:r>
              </a:p>
              <a:p>
                <a:r>
                  <a:rPr lang="pt-BR" dirty="0"/>
                  <a:t>Porém, e se queremos 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queremos 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/>
                  <a:t>A tabela se torna gigantesca: a memória se esgota, e o treinamento se torna impossível.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>
                <a:blip r:embed="rId3"/>
                <a:stretch>
                  <a:fillRect l="-980" t="-1937" r="-1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 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  <a:blipFill>
                <a:blip r:embed="rId3"/>
                <a:stretch>
                  <a:fillRect l="-170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242457"/>
            <a:ext cx="5172489" cy="339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6999513" cy="5032375"/>
          </a:xfrm>
        </p:spPr>
        <p:txBody>
          <a:bodyPr/>
          <a:lstStyle/>
          <a:p>
            <a:r>
              <a:rPr lang="pt-BR" b="1" dirty="0"/>
              <a:t>Robótica e manufatura:</a:t>
            </a:r>
            <a:r>
              <a:rPr lang="pt-BR" dirty="0"/>
              <a:t> Braços robóticos que aprendem a agarrar objetos.</a:t>
            </a:r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recomendação:</a:t>
            </a:r>
            <a:r>
              <a:rPr lang="pt-BR" dirty="0"/>
              <a:t> Customização de conteúdo onde a recompensa é o "clique" ou "tempo de retenção" do usuário.</a:t>
            </a:r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energia.</a:t>
            </a:r>
          </a:p>
          <a:p>
            <a:endParaRPr lang="en-US" dirty="0"/>
          </a:p>
          <a:p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D343F-1952-C012-31AC-0443BF9C1B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Evaluating a Hybrid LLM Q-Learning/DQN Framework for Adaptive Obstacle  Avoidance in Embedded Robotics">
            <a:extLst>
              <a:ext uri="{FF2B5EF4-FFF2-40B4-BE49-F238E27FC236}">
                <a16:creationId xmlns:a16="http://schemas.microsoft.com/office/drawing/2014/main" id="{BA833512-3FC7-011C-B55D-9BC5E88B4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951265"/>
            <a:ext cx="5238750" cy="1809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537944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8609</TotalTime>
  <Words>2164</Words>
  <Application>Microsoft Office PowerPoint</Application>
  <PresentationFormat>Widescreen</PresentationFormat>
  <Paragraphs>210</Paragraphs>
  <Slides>32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9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PowerPoint Presentation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PowerPoint Presentation</vt:lpstr>
      <vt:lpstr>Atualização da tabela-Q: a equação de Bellman</vt:lpstr>
      <vt:lpstr>PowerPoint Presentation</vt:lpstr>
      <vt:lpstr>A equação de Bellman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1783</cp:revision>
  <dcterms:created xsi:type="dcterms:W3CDTF">2020-01-20T13:50:05Z</dcterms:created>
  <dcterms:modified xsi:type="dcterms:W3CDTF">2026-04-26T15:45:16Z</dcterms:modified>
</cp:coreProperties>
</file>