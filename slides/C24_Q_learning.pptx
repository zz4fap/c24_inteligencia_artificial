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6" r:id="rId2"/>
    <p:sldId id="315" r:id="rId3"/>
    <p:sldId id="307" r:id="rId4"/>
    <p:sldId id="317" r:id="rId5"/>
    <p:sldId id="320" r:id="rId6"/>
    <p:sldId id="321" r:id="rId7"/>
    <p:sldId id="318" r:id="rId8"/>
    <p:sldId id="316" r:id="rId9"/>
    <p:sldId id="319" r:id="rId10"/>
    <p:sldId id="322" r:id="rId11"/>
    <p:sldId id="309" r:id="rId12"/>
    <p:sldId id="310" r:id="rId13"/>
    <p:sldId id="311" r:id="rId14"/>
    <p:sldId id="312" r:id="rId15"/>
    <p:sldId id="313" r:id="rId16"/>
    <p:sldId id="293" r:id="rId17"/>
    <p:sldId id="314" r:id="rId18"/>
    <p:sldId id="306" r:id="rId1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23/04/2026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66914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C3711-83BC-221A-A341-2BE62BCF8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57728F-CFA3-D0A6-7780-F800EBAC1F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D3E5CB-A8B8-7F4B-200F-94D044C81C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9D8EC2-522A-3A24-97FD-162C1CF3C1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823269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600EE-A6A2-2235-BCC6-6DE0C5D8D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C41149-DCAF-E8F8-FB78-0B242E2217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C5329E-ECB5-4CB1-3A33-CFC57176F4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AB7C02-5FA9-66E4-2433-F97393A5C0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75771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2E69C-0407-4619-FFB1-7502CF033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C6894B-B13E-3C0F-BEC3-8A663E985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A1B01-A242-46E3-F92E-FB0EA2882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915CE-E13E-5840-D0C6-249ACB7C2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151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04451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47C74-AA7B-3F30-CE84-004473E34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E4C741-B890-FCB5-138A-C67977AAD2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75266D-73F1-BCB0-265C-192E1290B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1E374B-17A3-96C1-5271-F06E116DF2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59264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7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 err="1"/>
              <a:t>Q-learning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6A74E-8855-B416-1D2B-EC3735DC0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6486" y="1706903"/>
            <a:ext cx="5323115" cy="3944937"/>
          </a:xfrm>
        </p:spPr>
        <p:txBody>
          <a:bodyPr>
            <a:normAutofit/>
          </a:bodyPr>
          <a:lstStyle/>
          <a:p>
            <a:r>
              <a:rPr lang="pt-BR" dirty="0"/>
              <a:t>As máquinas podem aprender a tomar decisões ótimas sozinhas sem supervisão (</a:t>
            </a:r>
            <a:r>
              <a:rPr lang="pt-BR" i="1" dirty="0"/>
              <a:t>dataset</a:t>
            </a:r>
            <a:r>
              <a:rPr lang="pt-BR" dirty="0"/>
              <a:t>), apenas por tentativa e erro.</a:t>
            </a:r>
          </a:p>
          <a:p>
            <a:r>
              <a:rPr lang="pt-BR" dirty="0"/>
              <a:t>Esse é o coração do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 (RL). </a:t>
            </a:r>
          </a:p>
          <a:p>
            <a:r>
              <a:rPr lang="pt-BR" dirty="0"/>
              <a:t>Nessa aula, aprenderemos o funcionamento do algoritmo mais clássicos da área: o </a:t>
            </a:r>
            <a:r>
              <a:rPr lang="pt-BR" dirty="0" err="1"/>
              <a:t>Q-learning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1026" name="Picture 2" descr="Reinforcement Learning">
            <a:extLst>
              <a:ext uri="{FF2B5EF4-FFF2-40B4-BE49-F238E27FC236}">
                <a16:creationId xmlns:a16="http://schemas.microsoft.com/office/drawing/2014/main" id="{5526EDB3-366A-5FFB-4A2D-BC3494C1E8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6" r="8204"/>
          <a:stretch>
            <a:fillRect/>
          </a:stretch>
        </p:blipFill>
        <p:spPr bwMode="auto">
          <a:xfrm>
            <a:off x="152399" y="1565389"/>
            <a:ext cx="6161315" cy="3944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9651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5"/>
          </a:xfrm>
        </p:spPr>
        <p:txBody>
          <a:bodyPr>
            <a:normAutofit/>
          </a:bodyPr>
          <a:lstStyle/>
          <a:p>
            <a:r>
              <a:rPr lang="pt-BR" dirty="0"/>
              <a:t>É um dos paradigmas de aprendizado de </a:t>
            </a:r>
            <a:r>
              <a:rPr lang="pt-BR" i="1" dirty="0"/>
              <a:t>machine learning</a:t>
            </a:r>
            <a:r>
              <a:rPr lang="pt-BR" dirty="0"/>
              <a:t> focado em como tomar </a:t>
            </a:r>
            <a:r>
              <a:rPr lang="pt-BR" i="1" dirty="0"/>
              <a:t>ações</a:t>
            </a:r>
            <a:r>
              <a:rPr lang="pt-BR" dirty="0"/>
              <a:t> para maximizar uma </a:t>
            </a:r>
            <a:r>
              <a:rPr lang="pt-BR" i="1" dirty="0"/>
              <a:t>recompensa</a:t>
            </a:r>
            <a:r>
              <a:rPr lang="pt-BR" dirty="0"/>
              <a:t> futura.</a:t>
            </a:r>
            <a:endParaRPr lang="en-US" dirty="0"/>
          </a:p>
          <a:p>
            <a:endParaRPr lang="pt-BR" dirty="0"/>
          </a:p>
        </p:txBody>
      </p:sp>
      <p:pic>
        <p:nvPicPr>
          <p:cNvPr id="2051" name="Picture 3" descr="Understanding the Pillars of Machine Learning: Supervised, Unsupervised,  and Reinforcement Learning">
            <a:extLst>
              <a:ext uri="{FF2B5EF4-FFF2-40B4-BE49-F238E27FC236}">
                <a16:creationId xmlns:a16="http://schemas.microsoft.com/office/drawing/2014/main" id="{BDF6F402-9EED-6D9D-33D9-227B654D16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92" b="3060"/>
          <a:stretch>
            <a:fillRect/>
          </a:stretch>
        </p:blipFill>
        <p:spPr bwMode="auto">
          <a:xfrm>
            <a:off x="2345028" y="2786743"/>
            <a:ext cx="7501943" cy="3853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0B64E-1F58-2FF0-BFB3-B1D955875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CC3BAE-52FC-3697-DB30-5B05B3469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A06D34D-8885-14BC-AF7E-F271D7D63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1744" y="1825624"/>
            <a:ext cx="7391400" cy="5032375"/>
          </a:xfrm>
        </p:spPr>
        <p:txBody>
          <a:bodyPr>
            <a:normAutofit/>
          </a:bodyPr>
          <a:lstStyle/>
          <a:p>
            <a:r>
              <a:rPr lang="pt-BR" dirty="0"/>
              <a:t>Ao contrário dos aprendizados supervisionado e não supervisionado, não temos um </a:t>
            </a:r>
            <a:r>
              <a:rPr lang="pt-BR" i="1" dirty="0"/>
              <a:t>dataset</a:t>
            </a:r>
            <a:r>
              <a:rPr lang="pt-BR" dirty="0"/>
              <a:t>, seja ele rotulado ou não.</a:t>
            </a:r>
          </a:p>
          <a:p>
            <a:r>
              <a:rPr lang="pt-BR" dirty="0"/>
              <a:t>Não há um </a:t>
            </a:r>
            <a:r>
              <a:rPr lang="pt-BR" i="1" dirty="0"/>
              <a:t>dataset</a:t>
            </a:r>
            <a:r>
              <a:rPr lang="pt-BR" dirty="0"/>
              <a:t>: o agente </a:t>
            </a:r>
            <a:r>
              <a:rPr lang="pt-BR" b="1" dirty="0"/>
              <a:t>gera seus próprios dados</a:t>
            </a:r>
            <a:r>
              <a:rPr lang="pt-BR" dirty="0"/>
              <a:t> enquanto tenta, erra e aprende.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 contexto, o agente é o algoritmo de aprendizado por reforço.</a:t>
            </a:r>
          </a:p>
          <a:p>
            <a:r>
              <a:rPr lang="pt-BR" dirty="0"/>
              <a:t>O aprendizado ocorre por experiência através de interações com um ambiente.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id="{7937C6EA-BFD8-5278-9EE0-796D184217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172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53AED-FA4F-39DE-91A4-E5C845C0C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88774E-D7D6-D9E6-4449-244D34EE9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79548E-494A-A12A-30F7-F4E225B6C3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1485" y="1825624"/>
            <a:ext cx="7271657" cy="5032375"/>
          </a:xfrm>
        </p:spPr>
        <p:txBody>
          <a:bodyPr>
            <a:normAutofit/>
          </a:bodyPr>
          <a:lstStyle/>
          <a:p>
            <a:r>
              <a:rPr lang="pt-BR" dirty="0"/>
              <a:t>A algoritmo aprende na prática, sendo premiado ou penalizado pelo ambiente por ações tomadas até descobrir a melhor estratégia, chamada de política nesse contexto.</a:t>
            </a:r>
          </a:p>
          <a:p>
            <a:r>
              <a:rPr lang="pt-BR" dirty="0"/>
              <a:t>Existe um sinal de </a:t>
            </a:r>
            <a:r>
              <a:rPr lang="pt-BR" b="1" dirty="0"/>
              <a:t>recompensa ou reforço enviado pelo ambiente.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ambiente diz ao agente: "Isso foi bom (+10)" ou "Isso foi péssimo (-5)".</a:t>
            </a:r>
          </a:p>
          <a:p>
            <a:r>
              <a:rPr lang="pt-BR" dirty="0"/>
              <a:t>É um guia, mas ele não diz </a:t>
            </a:r>
            <a:r>
              <a:rPr lang="pt-BR" i="1" dirty="0"/>
              <a:t>qual</a:t>
            </a:r>
            <a:r>
              <a:rPr lang="pt-BR" dirty="0"/>
              <a:t> era a ação certa, apenas se a que foi tomada foi boa ou ruim.</a:t>
            </a:r>
            <a:endParaRPr lang="en-US" dirty="0"/>
          </a:p>
          <a:p>
            <a:pPr lvl="1"/>
            <a:endParaRPr lang="pt-BR" dirty="0"/>
          </a:p>
        </p:txBody>
      </p:sp>
      <p:pic>
        <p:nvPicPr>
          <p:cNvPr id="6" name="Imagem 16">
            <a:extLst>
              <a:ext uri="{FF2B5EF4-FFF2-40B4-BE49-F238E27FC236}">
                <a16:creationId xmlns:a16="http://schemas.microsoft.com/office/drawing/2014/main" id="{C8EB1D57-2EF7-64D2-25BE-6F8A0BE933D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8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FFEFA-1EED-2754-CDBD-7CC34D06F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CDBB74-F243-3F53-FEC5-AF11CE256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609E9F-E2C8-D6E3-78D1-C44C117B5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8313" y="1825624"/>
            <a:ext cx="7064829" cy="5032375"/>
          </a:xfrm>
        </p:spPr>
        <p:txBody>
          <a:bodyPr>
            <a:normAutofit/>
          </a:bodyPr>
          <a:lstStyle/>
          <a:p>
            <a:r>
              <a:rPr lang="pt-BR" dirty="0"/>
              <a:t>O aprendizado por reforço foca na tomada de decisão para maximizar recompensas ao longo do tempo.</a:t>
            </a:r>
          </a:p>
          <a:p>
            <a:r>
              <a:rPr lang="pt-BR" dirty="0"/>
              <a:t>Ele responde à pergunta: </a:t>
            </a:r>
            <a:r>
              <a:rPr lang="pt-BR" i="1" dirty="0"/>
              <a:t>"Qual sequência de ações eu devo tomar para ganhar o prêmio lá na frente?“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id="{DF71A34D-2B36-AF4A-818D-805CF072BD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045BB-096B-FD28-B7D5-E94A5FD7C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Analogia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C87D0-4294-EB29-295B-08AD1444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7400" y="1825624"/>
            <a:ext cx="6324600" cy="5032375"/>
          </a:xfrm>
        </p:spPr>
        <p:txBody>
          <a:bodyPr>
            <a:normAutofit/>
          </a:bodyPr>
          <a:lstStyle/>
          <a:p>
            <a:r>
              <a:rPr lang="pt-BR" dirty="0"/>
              <a:t>Aprendizado por reforço é como adestrar um cachorro. </a:t>
            </a:r>
          </a:p>
          <a:p>
            <a:r>
              <a:rPr lang="pt-BR" dirty="0"/>
              <a:t>Você não diz a ele </a:t>
            </a:r>
            <a:r>
              <a:rPr lang="pt-BR" i="1" dirty="0"/>
              <a:t>como</a:t>
            </a:r>
            <a:r>
              <a:rPr lang="pt-BR" dirty="0"/>
              <a:t> se sentar ou pegar o graveto.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há dados rotulados ensinando os movimentos musculares. </a:t>
            </a:r>
          </a:p>
          <a:p>
            <a:r>
              <a:rPr lang="pt-BR" dirty="0"/>
              <a:t>Você dá um petisco (recompensa) quando ele senta ou pega o graveto, e ele aprende a associar a ação ao resultado positivo.</a:t>
            </a:r>
          </a:p>
          <a:p>
            <a:endParaRPr lang="en-US" dirty="0"/>
          </a:p>
        </p:txBody>
      </p:sp>
      <p:pic>
        <p:nvPicPr>
          <p:cNvPr id="4" name="Picture 4" descr="A Beginner's Guide to Reinforcement Learning and its Basic Implementation  from Scratch | by Tanvi Penumudy | Analytics Vidhya | Medium">
            <a:extLst>
              <a:ext uri="{FF2B5EF4-FFF2-40B4-BE49-F238E27FC236}">
                <a16:creationId xmlns:a16="http://schemas.microsoft.com/office/drawing/2014/main" id="{A37B35F5-6EF1-B612-B863-263AB0042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" y="2603262"/>
            <a:ext cx="5344886" cy="2687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1548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F2722-DA1E-D930-DC99-59F795E3E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D2D05-0E48-B94D-DBC7-FBDCBC17C0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 AQUI!!!!!!!!!!!!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90505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79DA3-4A1A-74AE-26DA-FD6E65250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74119D-90D2-5043-F365-B3EB6F8479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27914" y="1836510"/>
                <a:ext cx="6433457" cy="5021489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Agente:</a:t>
                </a:r>
                <a:r>
                  <a:rPr lang="pt-BR" dirty="0"/>
                  <a:t> O tomador de decisões.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robô, um algoritmo de trading, carro autônomo.</a:t>
                </a:r>
              </a:p>
              <a:p>
                <a:r>
                  <a:rPr lang="pt-BR" b="1" dirty="0"/>
                  <a:t>Ambiente:</a:t>
                </a:r>
                <a:r>
                  <a:rPr lang="pt-BR" dirty="0"/>
                  <a:t> O mundo onde o agente opera e com o qual interage.</a:t>
                </a:r>
              </a:p>
              <a:p>
                <a:r>
                  <a:rPr lang="pt-BR" b="1" dirty="0"/>
                  <a:t>Estado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): A situação atual do agente no ambiente.</a:t>
                </a:r>
              </a:p>
              <a:p>
                <a:r>
                  <a:rPr lang="pt-BR" b="1" dirty="0"/>
                  <a:t>Ação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): O que o agente pode fazer.</a:t>
                </a:r>
              </a:p>
              <a:p>
                <a:r>
                  <a:rPr lang="pt-BR" b="1" dirty="0"/>
                  <a:t>Recompensa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): O feedback (positivo ou negativo) recebido após uma ação.</a:t>
                </a: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74119D-90D2-5043-F365-B3EB6F8479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27914" y="1836510"/>
                <a:ext cx="6433457" cy="5021489"/>
              </a:xfrm>
              <a:blipFill>
                <a:blip r:embed="rId3"/>
                <a:stretch>
                  <a:fillRect l="-1705" t="-1942" r="-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9FF40252-D70D-DF89-7A6D-82F50130B1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6" t="12857" r="9074" b="11905"/>
          <a:stretch>
            <a:fillRect/>
          </a:stretch>
        </p:blipFill>
        <p:spPr>
          <a:xfrm>
            <a:off x="-489858" y="590096"/>
            <a:ext cx="4990915" cy="2492828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0375811A-BC31-5203-21BF-8C1AEDCA810A}"/>
              </a:ext>
            </a:extLst>
          </p:cNvPr>
          <p:cNvCxnSpPr>
            <a:cxnSpLocks/>
            <a:stCxn id="17" idx="3"/>
            <a:endCxn id="18" idx="3"/>
          </p:cNvCxnSpPr>
          <p:nvPr/>
        </p:nvCxnSpPr>
        <p:spPr>
          <a:xfrm>
            <a:off x="3298371" y="4693670"/>
            <a:ext cx="12700" cy="1569130"/>
          </a:xfrm>
          <a:prstGeom prst="bentConnector3">
            <a:avLst>
              <a:gd name="adj1" fmla="val 454285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3D9D79-6AB4-D27E-4481-E60E0856012A}"/>
              </a:ext>
            </a:extLst>
          </p:cNvPr>
          <p:cNvCxnSpPr>
            <a:cxnSpLocks/>
            <a:stCxn id="27" idx="1"/>
            <a:endCxn id="33" idx="1"/>
          </p:cNvCxnSpPr>
          <p:nvPr/>
        </p:nvCxnSpPr>
        <p:spPr>
          <a:xfrm rot="10800000">
            <a:off x="2090057" y="4807406"/>
            <a:ext cx="12700" cy="1340354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957717F-F346-A328-0454-3432762A09F8}"/>
              </a:ext>
            </a:extLst>
          </p:cNvPr>
          <p:cNvSpPr/>
          <p:nvPr/>
        </p:nvSpPr>
        <p:spPr>
          <a:xfrm>
            <a:off x="2090057" y="4347254"/>
            <a:ext cx="1208314" cy="69283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Agente</a:t>
            </a:r>
            <a:endParaRPr lang="en-US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9EF6FE5-6FBC-BC13-63C8-D6E9E3E272C4}"/>
              </a:ext>
            </a:extLst>
          </p:cNvPr>
          <p:cNvSpPr/>
          <p:nvPr/>
        </p:nvSpPr>
        <p:spPr>
          <a:xfrm>
            <a:off x="2090057" y="5916384"/>
            <a:ext cx="1208314" cy="69283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Ambiente</a:t>
            </a:r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78F414E-0878-E9AC-3349-365D683589EF}"/>
              </a:ext>
            </a:extLst>
          </p:cNvPr>
          <p:cNvSpPr/>
          <p:nvPr/>
        </p:nvSpPr>
        <p:spPr>
          <a:xfrm>
            <a:off x="2090057" y="6262799"/>
            <a:ext cx="370114" cy="2300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7A2140F-0BEB-DFFC-0173-0DDE81A0BAF4}"/>
              </a:ext>
            </a:extLst>
          </p:cNvPr>
          <p:cNvSpPr/>
          <p:nvPr/>
        </p:nvSpPr>
        <p:spPr>
          <a:xfrm>
            <a:off x="2090057" y="6032722"/>
            <a:ext cx="370114" cy="2300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67CE66F-B1C9-97C2-5191-323C447A4039}"/>
              </a:ext>
            </a:extLst>
          </p:cNvPr>
          <p:cNvSpPr/>
          <p:nvPr/>
        </p:nvSpPr>
        <p:spPr>
          <a:xfrm>
            <a:off x="2090057" y="4692368"/>
            <a:ext cx="370114" cy="2300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4116E33-D3F4-D7FB-DCEF-760C9C024249}"/>
              </a:ext>
            </a:extLst>
          </p:cNvPr>
          <p:cNvSpPr/>
          <p:nvPr/>
        </p:nvSpPr>
        <p:spPr>
          <a:xfrm>
            <a:off x="2090057" y="4462291"/>
            <a:ext cx="370114" cy="2300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2E464A75-8DCF-FE0C-4988-63A14D19D5CD}"/>
              </a:ext>
            </a:extLst>
          </p:cNvPr>
          <p:cNvCxnSpPr>
            <a:stCxn id="26" idx="1"/>
            <a:endCxn id="34" idx="1"/>
          </p:cNvCxnSpPr>
          <p:nvPr/>
        </p:nvCxnSpPr>
        <p:spPr>
          <a:xfrm rot="10800000">
            <a:off x="2090057" y="4577329"/>
            <a:ext cx="12700" cy="1800508"/>
          </a:xfrm>
          <a:prstGeom prst="bentConnector3">
            <a:avLst>
              <a:gd name="adj1" fmla="val 437142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EBC8956-45EC-9A9F-7CAD-7A468058ABF1}"/>
                  </a:ext>
                </a:extLst>
              </p:cNvPr>
              <p:cNvSpPr txBox="1"/>
              <p:nvPr/>
            </p:nvSpPr>
            <p:spPr>
              <a:xfrm>
                <a:off x="3864428" y="5292917"/>
                <a:ext cx="86389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ação,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EBC8956-45EC-9A9F-7CAD-7A468058AB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4428" y="5292917"/>
                <a:ext cx="863891" cy="369332"/>
              </a:xfrm>
              <a:prstGeom prst="rect">
                <a:avLst/>
              </a:prstGeom>
              <a:blipFill>
                <a:blip r:embed="rId5"/>
                <a:stretch>
                  <a:fillRect l="-6338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47520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ADE0A-2709-4969-FA9A-1E03D6996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3AE6F-314D-C94A-A767-C6F5519A7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F7CA75-E443-356F-518F-21B4DDB32C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6510"/>
            <a:ext cx="11168743" cy="502148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r>
              <a:rPr lang="pt-BR" dirty="0"/>
              <a:t>O agente observa o estado, escolhe uma ação, o ambiente muda, e o agente recebe uma recompensa. O objetivo do agente é maximizar a soma total de recompensas ao longo do tempo, não apenas a recompensa imediata.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03173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Arquitetura e funcionamento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Treinamento e otimização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22F88A5-87D1-340F-853F-8C2ED8F8C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69808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Exemplo(s) de aplicação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Comparação com outros 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A32550-8C76-B013-2EC7-989D8C3B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F043237-7757-7557-B63E-D4EB5152D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72649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8097</TotalTime>
  <Words>514</Words>
  <Application>Microsoft Office PowerPoint</Application>
  <PresentationFormat>Widescreen</PresentationFormat>
  <Paragraphs>55</Paragraphs>
  <Slides>18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Calibri</vt:lpstr>
      <vt:lpstr>Calibri Light</vt:lpstr>
      <vt:lpstr>Cambria Math</vt:lpstr>
      <vt:lpstr>Wingdings</vt:lpstr>
      <vt:lpstr>Tema do Office</vt:lpstr>
      <vt:lpstr>C24 – Inteligência Artificial: Q-learning</vt:lpstr>
      <vt:lpstr>PowerPoint Presentation</vt:lpstr>
      <vt:lpstr>O que é reinforcement learning?</vt:lpstr>
      <vt:lpstr>Diferenças chave entre os paradigmas</vt:lpstr>
      <vt:lpstr>Diferenças chave entre os paradigmas</vt:lpstr>
      <vt:lpstr>Diferenças chave entre os paradigmas</vt:lpstr>
      <vt:lpstr>Analogia</vt:lpstr>
      <vt:lpstr>PowerPoint Presentation</vt:lpstr>
      <vt:lpstr>Conceitos fundamentais de RL</vt:lpstr>
      <vt:lpstr>Conceitos fundamentais de RL</vt:lpstr>
      <vt:lpstr>Arquitetura e funcionamento</vt:lpstr>
      <vt:lpstr>Treinamento e otimização</vt:lpstr>
      <vt:lpstr>Vantagens e desvantagens</vt:lpstr>
      <vt:lpstr>Exemplo(s) de aplicação</vt:lpstr>
      <vt:lpstr>Comparação com outros algoritmos</vt:lpstr>
      <vt:lpstr>PowerPoint Presentation</vt:lpstr>
      <vt:lpstr>Referências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1740</cp:revision>
  <dcterms:created xsi:type="dcterms:W3CDTF">2020-01-20T13:50:05Z</dcterms:created>
  <dcterms:modified xsi:type="dcterms:W3CDTF">2026-04-23T17:29:47Z</dcterms:modified>
</cp:coreProperties>
</file>