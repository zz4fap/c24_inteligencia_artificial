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2"/>
  </p:notesMasterIdLst>
  <p:handoutMasterIdLst>
    <p:handoutMasterId r:id="rId33"/>
  </p:handoutMasterIdLst>
  <p:sldIdLst>
    <p:sldId id="256" r:id="rId2"/>
    <p:sldId id="325" r:id="rId3"/>
    <p:sldId id="474" r:id="rId4"/>
    <p:sldId id="310" r:id="rId5"/>
    <p:sldId id="480" r:id="rId6"/>
    <p:sldId id="481" r:id="rId7"/>
    <p:sldId id="482" r:id="rId8"/>
    <p:sldId id="494" r:id="rId9"/>
    <p:sldId id="497" r:id="rId10"/>
    <p:sldId id="499" r:id="rId11"/>
    <p:sldId id="483" r:id="rId12"/>
    <p:sldId id="527" r:id="rId13"/>
    <p:sldId id="526" r:id="rId14"/>
    <p:sldId id="504" r:id="rId15"/>
    <p:sldId id="528" r:id="rId16"/>
    <p:sldId id="486" r:id="rId17"/>
    <p:sldId id="485" r:id="rId18"/>
    <p:sldId id="487" r:id="rId19"/>
    <p:sldId id="489" r:id="rId20"/>
    <p:sldId id="488" r:id="rId21"/>
    <p:sldId id="495" r:id="rId22"/>
    <p:sldId id="491" r:id="rId23"/>
    <p:sldId id="492" r:id="rId24"/>
    <p:sldId id="525" r:id="rId25"/>
    <p:sldId id="524" r:id="rId26"/>
    <p:sldId id="505" r:id="rId27"/>
    <p:sldId id="523" r:id="rId28"/>
    <p:sldId id="307" r:id="rId29"/>
    <p:sldId id="293" r:id="rId30"/>
    <p:sldId id="306" r:id="rId31"/>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078" autoAdjust="0"/>
    <p:restoredTop sz="90315" autoAdjust="0"/>
  </p:normalViewPr>
  <p:slideViewPr>
    <p:cSldViewPr snapToGrid="0">
      <p:cViewPr varScale="1">
        <p:scale>
          <a:sx n="100" d="100"/>
          <a:sy n="100" d="100"/>
        </p:scale>
        <p:origin x="1218" y="78"/>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microsoft.com/office/2015/10/relationships/revisionInfo" Target="revisionInfo.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handoutMaster" Target="handoutMasters/handoutMaster1.xml"/><Relationship Id="rId38"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25/02/2026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25/02/2026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ou </a:t>
            </a:r>
            <a:r>
              <a:rPr lang="pt-BR" dirty="0" err="1"/>
              <a:t>multi-label</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generalização da função logística para múltiplas entradas é a função de ativação de função softmax, usada em regressões logísticas </a:t>
            </a:r>
            <a:r>
              <a:rPr lang="pt-BR" sz="1200" b="0" i="0" kern="1200" dirty="0" err="1">
                <a:solidFill>
                  <a:schemeClr val="tx1"/>
                </a:solidFill>
                <a:effectLst/>
                <a:latin typeface="+mn-lt"/>
                <a:ea typeface="+mn-ea"/>
                <a:cs typeface="+mn-cs"/>
              </a:rPr>
              <a:t>multinomiais</a:t>
            </a:r>
            <a:r>
              <a:rPr lang="pt-BR" sz="1200" b="0" i="0" kern="1200" dirty="0">
                <a:solidFill>
                  <a:schemeClr val="tx1"/>
                </a:solidFill>
                <a:effectLst/>
                <a:latin typeface="+mn-lt"/>
                <a:ea typeface="+mn-ea"/>
                <a:cs typeface="+mn-cs"/>
              </a:rPr>
              <a:t>.</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Saída interpretada como as probabilidades de uma variável aleatória multinomial, ou seja, as probabilidades de uma variável categoricamente distribuída, dado um conjunto de atributos.</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uma abordagem mais robusta que as anteriores e que consiste em criar um </a:t>
            </a:r>
            <a:r>
              <a:rPr lang="pt-BR" b="1" i="1" dirty="0"/>
              <a:t>único</a:t>
            </a:r>
            <a:r>
              <a:rPr lang="pt-BR" dirty="0"/>
              <a:t> modelo em que cada saída representa a </a:t>
            </a:r>
            <a:r>
              <a:rPr lang="pt-BR" b="1" i="1" dirty="0"/>
              <a:t>probabilidade</a:t>
            </a:r>
            <a:r>
              <a:rPr lang="pt-BR" dirty="0"/>
              <a:t> de um exemplo pertencer a uma classe específica.</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a:t>
            </a:fld>
            <a:endParaRPr lang="pt-BR"/>
          </a:p>
        </p:txBody>
      </p:sp>
    </p:spTree>
    <p:extLst>
      <p:ext uri="{BB962C8B-B14F-4D97-AF65-F5344CB8AC3E}">
        <p14:creationId xmlns:p14="http://schemas.microsoft.com/office/powerpoint/2010/main" val="31936593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1" kern="1200" dirty="0">
                <a:solidFill>
                  <a:schemeClr val="tx1"/>
                </a:solidFill>
                <a:effectLst/>
                <a:latin typeface="+mn-lt"/>
                <a:ea typeface="+mn-ea"/>
                <a:cs typeface="+mn-cs"/>
              </a:rPr>
              <a:t>Exemplos de classes não mutuamente exclusivas:</a:t>
            </a:r>
          </a:p>
          <a:p>
            <a:r>
              <a:rPr lang="pt-BR" sz="1200" b="1" i="0" kern="1200" dirty="0">
                <a:solidFill>
                  <a:schemeClr val="tx1"/>
                </a:solidFill>
                <a:effectLst/>
                <a:latin typeface="+mn-lt"/>
                <a:ea typeface="+mn-ea"/>
                <a:cs typeface="+mn-cs"/>
              </a:rPr>
              <a:t>Classificação de documentos por tópicos</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documento pode ser sobre "Política", "Economia" e "Saúde" ao mesmo tempo.</a:t>
            </a:r>
          </a:p>
          <a:p>
            <a:r>
              <a:rPr lang="pt-BR" sz="1200" b="1" i="0" kern="1200" dirty="0">
                <a:solidFill>
                  <a:schemeClr val="tx1"/>
                </a:solidFill>
                <a:effectLst/>
                <a:latin typeface="+mn-lt"/>
                <a:ea typeface="+mn-ea"/>
                <a:cs typeface="+mn-cs"/>
              </a:rPr>
              <a:t>Reconhecimento de objetos em imagens</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Uma imagem pode conter "gato", "cão" e "árvore" simultaneamente.</a:t>
            </a:r>
          </a:p>
          <a:p>
            <a:r>
              <a:rPr lang="pt-BR" sz="1200" b="1" i="0" kern="1200" dirty="0">
                <a:solidFill>
                  <a:schemeClr val="tx1"/>
                </a:solidFill>
                <a:effectLst/>
                <a:latin typeface="+mn-lt"/>
                <a:ea typeface="+mn-ea"/>
                <a:cs typeface="+mn-cs"/>
              </a:rPr>
              <a:t>Sistema de recomendação de filmes por gêneros</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filme pode ser classificado como "Comédia", "Romance" e "Drama".</a:t>
            </a:r>
          </a:p>
          <a:p>
            <a:r>
              <a:rPr lang="pt-BR" sz="1200" b="1" i="0" kern="1200" dirty="0">
                <a:solidFill>
                  <a:schemeClr val="tx1"/>
                </a:solidFill>
                <a:effectLst/>
                <a:latin typeface="+mn-lt"/>
                <a:ea typeface="+mn-ea"/>
                <a:cs typeface="+mn-cs"/>
              </a:rPr>
              <a:t>Diagnóstico médico</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paciente pode ter múltiplas doenças: "diabetes", "hipertensão" e "asma".</a:t>
            </a:r>
          </a:p>
          <a:p>
            <a:r>
              <a:rPr lang="pt-BR" sz="1200" b="1" i="0" kern="1200" dirty="0">
                <a:solidFill>
                  <a:schemeClr val="tx1"/>
                </a:solidFill>
                <a:effectLst/>
                <a:latin typeface="+mn-lt"/>
                <a:ea typeface="+mn-ea"/>
                <a:cs typeface="+mn-cs"/>
              </a:rPr>
              <a:t>Análise de sentimentos em texto</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texto pode expressar "alegria", "surpresa" e "raiva" ao mesmo tempo.</a:t>
            </a:r>
          </a:p>
          <a:p>
            <a:r>
              <a:rPr lang="pt-BR" sz="1200" b="1" i="0" kern="1200" dirty="0" err="1">
                <a:solidFill>
                  <a:schemeClr val="tx1"/>
                </a:solidFill>
                <a:effectLst/>
                <a:latin typeface="+mn-lt"/>
                <a:ea typeface="+mn-ea"/>
                <a:cs typeface="+mn-cs"/>
              </a:rPr>
              <a:t>Tags</a:t>
            </a:r>
            <a:r>
              <a:rPr lang="pt-BR" sz="1200" b="1" i="0" kern="1200" dirty="0">
                <a:solidFill>
                  <a:schemeClr val="tx1"/>
                </a:solidFill>
                <a:effectLst/>
                <a:latin typeface="+mn-lt"/>
                <a:ea typeface="+mn-ea"/>
                <a:cs typeface="+mn-cs"/>
              </a:rPr>
              <a:t> em produtos de e-commerce</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produto pode ter </a:t>
            </a:r>
            <a:r>
              <a:rPr lang="pt-BR" sz="1200" b="0" i="0" kern="1200" dirty="0" err="1">
                <a:solidFill>
                  <a:schemeClr val="tx1"/>
                </a:solidFill>
                <a:effectLst/>
                <a:latin typeface="+mn-lt"/>
                <a:ea typeface="+mn-ea"/>
                <a:cs typeface="+mn-cs"/>
              </a:rPr>
              <a:t>tags</a:t>
            </a:r>
            <a:r>
              <a:rPr lang="pt-BR" sz="1200" b="0" i="0" kern="1200" dirty="0">
                <a:solidFill>
                  <a:schemeClr val="tx1"/>
                </a:solidFill>
                <a:effectLst/>
                <a:latin typeface="+mn-lt"/>
                <a:ea typeface="+mn-ea"/>
                <a:cs typeface="+mn-cs"/>
              </a:rPr>
              <a:t> como "barato", "ecológico", "promoção" e "novidade".</a:t>
            </a:r>
          </a:p>
          <a:p>
            <a:r>
              <a:rPr lang="pt-BR" sz="1200" b="1" i="0" kern="1200" dirty="0">
                <a:solidFill>
                  <a:schemeClr val="tx1"/>
                </a:solidFill>
                <a:effectLst/>
                <a:latin typeface="+mn-lt"/>
                <a:ea typeface="+mn-ea"/>
                <a:cs typeface="+mn-cs"/>
              </a:rPr>
              <a:t>Classificação de músicas por gênero</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Uma música pode ser "rock", "eletrônica" e "experimental" simultaneamente.</a:t>
            </a:r>
          </a:p>
          <a:p>
            <a:br>
              <a:rPr lang="pt-BR" dirty="0"/>
            </a:br>
            <a:br>
              <a:rPr lang="pt-BR" dirty="0"/>
            </a:br>
            <a:r>
              <a:rPr lang="pt-BR" dirty="0"/>
              <a:t>O classificador Softmax prevê/prediz apenas uma classe de cada vez (ou seja, ele é </a:t>
            </a:r>
            <a:r>
              <a:rPr lang="pt-BR" dirty="0" err="1"/>
              <a:t>multiclasse</a:t>
            </a:r>
            <a:r>
              <a:rPr lang="pt-BR" dirty="0"/>
              <a:t>, e não </a:t>
            </a:r>
            <a:r>
              <a:rPr lang="pt-BR" dirty="0" err="1"/>
              <a:t>multi-saída</a:t>
            </a:r>
            <a:r>
              <a:rPr lang="pt-BR" dirty="0"/>
              <a:t> ou </a:t>
            </a:r>
            <a:r>
              <a:rPr lang="pt-BR" dirty="0" err="1"/>
              <a:t>multi-label</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generalização da função logística para múltiplas entradas é a função de ativação de função softmax, usada em regressões logísticas </a:t>
            </a:r>
            <a:r>
              <a:rPr lang="pt-BR" sz="1200" b="0" i="0" kern="1200" dirty="0" err="1">
                <a:solidFill>
                  <a:schemeClr val="tx1"/>
                </a:solidFill>
                <a:effectLst/>
                <a:latin typeface="+mn-lt"/>
                <a:ea typeface="+mn-ea"/>
                <a:cs typeface="+mn-cs"/>
              </a:rPr>
              <a:t>multinomiais</a:t>
            </a:r>
            <a:r>
              <a:rPr lang="pt-BR" sz="1200" b="0" i="0" kern="1200" dirty="0">
                <a:solidFill>
                  <a:schemeClr val="tx1"/>
                </a:solidFill>
                <a:effectLst/>
                <a:latin typeface="+mn-lt"/>
                <a:ea typeface="+mn-ea"/>
                <a:cs typeface="+mn-cs"/>
              </a:rPr>
              <a:t>.</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Saída interpretada como as probabilidades de uma variável aleatória multinomial, ou seja, as probabilidades de uma variável categoricamente distribuída, dado um conjunto de atributos.</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uma abordagem mais robusta que as anteriores e que consiste em criar um </a:t>
            </a:r>
            <a:r>
              <a:rPr lang="pt-BR" b="1" i="1" dirty="0"/>
              <a:t>único</a:t>
            </a:r>
            <a:r>
              <a:rPr lang="pt-BR" dirty="0"/>
              <a:t> modelo em que cada saída representa a </a:t>
            </a:r>
            <a:r>
              <a:rPr lang="pt-BR" b="1" i="1" dirty="0"/>
              <a:t>probabilidade</a:t>
            </a:r>
            <a:r>
              <a:rPr lang="pt-BR" dirty="0"/>
              <a:t> de um exemplo pertencer a uma classe específica.</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33243422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endParaRPr lang="pt-BR" dirty="0"/>
          </a:p>
          <a:p>
            <a:endParaRPr lang="en-US"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a:t>
            </a:fld>
            <a:endParaRPr lang="pt-BR"/>
          </a:p>
        </p:txBody>
      </p:sp>
    </p:spTree>
    <p:extLst>
      <p:ext uri="{BB962C8B-B14F-4D97-AF65-F5344CB8AC3E}">
        <p14:creationId xmlns:p14="http://schemas.microsoft.com/office/powerpoint/2010/main" val="408906921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10483321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 classificação </a:t>
            </a:r>
            <a:r>
              <a:rPr lang="pt-BR" b="0" i="0" dirty="0" err="1">
                <a:solidFill>
                  <a:srgbClr val="374151"/>
                </a:solidFill>
                <a:effectLst/>
                <a:latin typeface="Söhne"/>
              </a:rPr>
              <a:t>multilabel</a:t>
            </a:r>
            <a:r>
              <a:rPr lang="pt-BR" b="0" i="0" dirty="0">
                <a:solidFill>
                  <a:srgbClr val="374151"/>
                </a:solidFill>
                <a:effectLst/>
                <a:latin typeface="Söhne"/>
              </a:rPr>
              <a:t> é uma tarefa de aprendizado de máquina em que um modelo é treinado para atribuir múltiplas etiquetas a uma única instância de dados. Em outras palavras, cada exemplo de entrada pode ser associado a mais de uma classe ou categoria ao mesmo tempo. Isso difere da classificação </a:t>
            </a:r>
            <a:r>
              <a:rPr lang="pt-BR" b="0" i="0" dirty="0" err="1">
                <a:solidFill>
                  <a:srgbClr val="374151"/>
                </a:solidFill>
                <a:effectLst/>
                <a:latin typeface="Söhne"/>
              </a:rPr>
              <a:t>multiclasse</a:t>
            </a:r>
            <a:r>
              <a:rPr lang="pt-BR" b="0" i="0" dirty="0">
                <a:solidFill>
                  <a:srgbClr val="374151"/>
                </a:solidFill>
                <a:effectLst/>
                <a:latin typeface="Söhne"/>
              </a:rPr>
              <a:t>, onde cada exemplo é atribuído a uma única classe exclusiva.</a:t>
            </a:r>
          </a:p>
          <a:p>
            <a:pPr algn="l"/>
            <a:endParaRPr lang="pt-BR" b="0" i="0" dirty="0">
              <a:solidFill>
                <a:srgbClr val="374151"/>
              </a:solidFill>
              <a:effectLst/>
              <a:latin typeface="Söhne"/>
            </a:endParaRPr>
          </a:p>
          <a:p>
            <a:pPr algn="l"/>
            <a:r>
              <a:rPr lang="pt-BR" b="0" i="0" dirty="0">
                <a:solidFill>
                  <a:srgbClr val="374151"/>
                </a:solidFill>
                <a:effectLst/>
                <a:latin typeface="Söhne"/>
              </a:rPr>
              <a:t>A classificação </a:t>
            </a:r>
            <a:r>
              <a:rPr lang="pt-BR" b="0" i="0" dirty="0" err="1">
                <a:solidFill>
                  <a:srgbClr val="374151"/>
                </a:solidFill>
                <a:effectLst/>
                <a:latin typeface="Söhne"/>
              </a:rPr>
              <a:t>multilabel</a:t>
            </a:r>
            <a:r>
              <a:rPr lang="pt-BR" b="0" i="0" dirty="0">
                <a:solidFill>
                  <a:srgbClr val="374151"/>
                </a:solidFill>
                <a:effectLst/>
                <a:latin typeface="Söhne"/>
              </a:rPr>
              <a:t> é frequentemente usada em situações em que os dados podem pertencer a várias categorias simultaneamente. Por exemplo, na análise de texto, um modelo pode ser treinado para categorizar um artigo em tópicos múltiplos, como "tecnologia", "ciência" e "saúde", tudo ao mesmo tempo.</a:t>
            </a:r>
          </a:p>
          <a:p>
            <a:pPr algn="l"/>
            <a:endParaRPr lang="pt-BR" b="0" i="0" dirty="0">
              <a:solidFill>
                <a:srgbClr val="374151"/>
              </a:solidFill>
              <a:effectLst/>
              <a:latin typeface="Söhne"/>
            </a:endParaRPr>
          </a:p>
          <a:p>
            <a:pPr algn="l"/>
            <a:r>
              <a:rPr lang="pt-BR" b="0" i="0" dirty="0">
                <a:solidFill>
                  <a:srgbClr val="374151"/>
                </a:solidFill>
                <a:effectLst/>
                <a:latin typeface="Söhne"/>
              </a:rPr>
              <a:t>Para lidar com a classificação </a:t>
            </a:r>
            <a:r>
              <a:rPr lang="pt-BR" b="0" i="0" dirty="0" err="1">
                <a:solidFill>
                  <a:srgbClr val="374151"/>
                </a:solidFill>
                <a:effectLst/>
                <a:latin typeface="Söhne"/>
              </a:rPr>
              <a:t>multilabel</a:t>
            </a:r>
            <a:r>
              <a:rPr lang="pt-BR" b="0" i="0" dirty="0">
                <a:solidFill>
                  <a:srgbClr val="374151"/>
                </a:solidFill>
                <a:effectLst/>
                <a:latin typeface="Söhne"/>
              </a:rPr>
              <a:t>, as funções de ativação na camada de saída da rede neural devem ser escolhidas de acordo com o problema. A função de ativação mais comum nesse contexto é a </a:t>
            </a:r>
            <a:r>
              <a:rPr lang="pt-BR" b="0" i="0" dirty="0" err="1">
                <a:solidFill>
                  <a:srgbClr val="374151"/>
                </a:solidFill>
                <a:effectLst/>
                <a:latin typeface="Söhne"/>
              </a:rPr>
              <a:t>sigmoid</a:t>
            </a:r>
            <a:r>
              <a:rPr lang="pt-BR" b="0" i="0" dirty="0">
                <a:solidFill>
                  <a:srgbClr val="374151"/>
                </a:solidFill>
                <a:effectLst/>
                <a:latin typeface="Söhne"/>
              </a:rPr>
              <a:t>, que produz saídas entre 0 e 1, representando as probabilidades de pertencer a cada classe individual.</a:t>
            </a:r>
          </a:p>
          <a:p>
            <a:pPr algn="l"/>
            <a:endParaRPr lang="pt-BR" b="0" i="0" dirty="0">
              <a:solidFill>
                <a:srgbClr val="374151"/>
              </a:solidFill>
              <a:effectLst/>
              <a:latin typeface="Söhne"/>
            </a:endParaRPr>
          </a:p>
          <a:p>
            <a:pPr algn="l"/>
            <a:r>
              <a:rPr lang="pt-BR" b="0" i="0" dirty="0">
                <a:solidFill>
                  <a:srgbClr val="374151"/>
                </a:solidFill>
                <a:effectLst/>
                <a:latin typeface="Söhne"/>
              </a:rPr>
              <a:t>No treinamento, uma abordagem comum é usar a função de perda de entropia cruzada binária (</a:t>
            </a:r>
            <a:r>
              <a:rPr lang="pt-BR" b="0" i="0" dirty="0" err="1">
                <a:solidFill>
                  <a:srgbClr val="374151"/>
                </a:solidFill>
                <a:effectLst/>
                <a:latin typeface="Söhne"/>
              </a:rPr>
              <a:t>Binary</a:t>
            </a:r>
            <a:r>
              <a:rPr lang="pt-BR" b="0" i="0" dirty="0">
                <a:solidFill>
                  <a:srgbClr val="374151"/>
                </a:solidFill>
                <a:effectLst/>
                <a:latin typeface="Söhne"/>
              </a:rPr>
              <a:t> Cross-</a:t>
            </a:r>
            <a:r>
              <a:rPr lang="pt-BR" b="0" i="0" dirty="0" err="1">
                <a:solidFill>
                  <a:srgbClr val="374151"/>
                </a:solidFill>
                <a:effectLst/>
                <a:latin typeface="Söhne"/>
              </a:rPr>
              <a:t>Entropy</a:t>
            </a:r>
            <a:r>
              <a:rPr lang="pt-BR" b="0" i="0" dirty="0">
                <a:solidFill>
                  <a:srgbClr val="374151"/>
                </a:solidFill>
                <a:effectLst/>
                <a:latin typeface="Söhne"/>
              </a:rPr>
              <a:t>) para cada etiqueta individual. Cada etiqueta é tratada como uma tarefa de classificação binária, onde a perda é calculada entre a saída prevista e o valor real (0 ou 1) para cada etiqueta.</a:t>
            </a:r>
          </a:p>
          <a:p>
            <a:pPr algn="l"/>
            <a:endParaRPr lang="pt-BR" b="0" i="0" dirty="0">
              <a:solidFill>
                <a:srgbClr val="374151"/>
              </a:solidFill>
              <a:effectLst/>
              <a:latin typeface="Söhne"/>
            </a:endParaRPr>
          </a:p>
          <a:p>
            <a:pPr algn="l"/>
            <a:r>
              <a:rPr lang="pt-BR" b="0" i="0" dirty="0">
                <a:solidFill>
                  <a:srgbClr val="374151"/>
                </a:solidFill>
                <a:effectLst/>
                <a:latin typeface="Söhne"/>
              </a:rPr>
              <a:t>A classificação </a:t>
            </a:r>
            <a:r>
              <a:rPr lang="pt-BR" b="0" i="0" dirty="0" err="1">
                <a:solidFill>
                  <a:srgbClr val="374151"/>
                </a:solidFill>
                <a:effectLst/>
                <a:latin typeface="Söhne"/>
              </a:rPr>
              <a:t>multilabel</a:t>
            </a:r>
            <a:r>
              <a:rPr lang="pt-BR" b="0" i="0" dirty="0">
                <a:solidFill>
                  <a:srgbClr val="374151"/>
                </a:solidFill>
                <a:effectLst/>
                <a:latin typeface="Söhne"/>
              </a:rPr>
              <a:t> é aplicada em várias áreas, como análise de texto, processamento de linguagem natural, bioinformática e sistemas de recomendação, onde os dados podem ser associados a múltiplas categorias simultaneamente.</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164767522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endParaRPr lang="pt-BR" dirty="0"/>
          </a:p>
          <a:p>
            <a:endParaRPr lang="en-US"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15895662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dirty="0"/>
              <a:t>Observe que, quando existem apenas duas classes (Q = 2), a função de erro acima é equivalente à função de erro da regressão logística</a:t>
            </a:r>
            <a:r>
              <a:rPr lang="pt-BR" baseline="0" dirty="0"/>
              <a:t>.</a:t>
            </a:r>
            <a:endParaRPr lang="pt-BR" dirty="0"/>
          </a:p>
          <a:p>
            <a:endParaRPr lang="pt-BR" dirty="0"/>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74021983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dirty="0"/>
              <a:t>Observe que, quando existem apenas duas classes (Q = 2), a função de erro acima é equivalente à função de erro da regressão logística</a:t>
            </a:r>
            <a:r>
              <a:rPr lang="pt-BR" baseline="0" dirty="0"/>
              <a:t>.</a:t>
            </a:r>
            <a:endParaRPr lang="pt-BR" dirty="0"/>
          </a:p>
          <a:p>
            <a:endParaRPr lang="pt-BR" dirty="0"/>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38368925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390059460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pt-BR" sz="1200" i="1" smtClean="0">
                            <a:latin typeface="Cambria Math" panose="02040503050406030204" pitchFamily="18" charset="0"/>
                          </a:rPr>
                        </m:ctrlPr>
                      </m:sSubPr>
                      <m:e>
                        <m:r>
                          <a:rPr lang="pt-BR" sz="1200" b="1" i="1">
                            <a:latin typeface="Cambria Math" panose="02040503050406030204" pitchFamily="18" charset="0"/>
                          </a:rPr>
                          <m:t>𝒚</m:t>
                        </m:r>
                      </m:e>
                      <m:sub>
                        <m:r>
                          <a:rPr lang="pt-BR" sz="1200" b="0" i="1" smtClean="0">
                            <a:latin typeface="Cambria Math" panose="02040503050406030204" pitchFamily="18" charset="0"/>
                          </a:rPr>
                          <m:t>𝑞</m:t>
                        </m:r>
                      </m:sub>
                    </m:sSub>
                  </m:oMath>
                </a14:m>
                <a:r>
                  <a:rPr lang="pt-BR" sz="1200" b="0" i="0" dirty="0">
                    <a:solidFill>
                      <a:srgbClr val="000000"/>
                    </a:solidFill>
                    <a:effectLst/>
                    <a:latin typeface="CambriaMath"/>
                  </a:rPr>
                  <a:t> vetor coluna composto pelo</a:t>
                </a:r>
                <a:r>
                  <a:rPr lang="pt-BR" sz="1200" b="0" i="0" baseline="0" dirty="0">
                    <a:solidFill>
                      <a:srgbClr val="000000"/>
                    </a:solidFill>
                    <a:effectLst/>
                    <a:latin typeface="CambriaMath"/>
                  </a:rPr>
                  <a:t> </a:t>
                </a:r>
                <a:r>
                  <a:rPr lang="pt-BR" sz="1200" b="0" i="0" dirty="0">
                    <a:solidFill>
                      <a:srgbClr val="000000"/>
                    </a:solidFill>
                    <a:effectLst/>
                    <a:latin typeface="CambriaMath"/>
                  </a:rPr>
                  <a:t>q-ésimo elemento</a:t>
                </a:r>
                <a:r>
                  <a:rPr lang="pt-BR" sz="1200" b="0" i="0" baseline="0" dirty="0">
                    <a:solidFill>
                      <a:srgbClr val="000000"/>
                    </a:solidFill>
                    <a:effectLst/>
                    <a:latin typeface="CambriaMath"/>
                  </a:rPr>
                  <a:t> do vetor de rótulo na codificação </a:t>
                </a:r>
                <a:r>
                  <a:rPr lang="pt-BR" sz="1200" b="0" i="0" baseline="0" dirty="0" err="1">
                    <a:solidFill>
                      <a:srgbClr val="000000"/>
                    </a:solidFill>
                    <a:effectLst/>
                    <a:latin typeface="CambriaMath"/>
                  </a:rPr>
                  <a:t>one</a:t>
                </a:r>
                <a:r>
                  <a:rPr lang="pt-BR" sz="1200" b="0" i="0" baseline="0" dirty="0">
                    <a:solidFill>
                      <a:srgbClr val="000000"/>
                    </a:solidFill>
                    <a:effectLst/>
                    <a:latin typeface="CambriaMath"/>
                  </a:rPr>
                  <a:t>-hot </a:t>
                </a:r>
                <a:r>
                  <a:rPr lang="pt-BR" baseline="0" dirty="0"/>
                  <a:t>para cada um dos N vetores de atributo.</a:t>
                </a:r>
                <a:endParaRPr lang="pt-BR" sz="1200" b="0" i="0" baseline="0" dirty="0">
                  <a:solidFill>
                    <a:srgbClr val="000000"/>
                  </a:solidFill>
                  <a:effectLst/>
                  <a:latin typeface="CambriaMath"/>
                </a:endParaRPr>
              </a:p>
              <a:p>
                <a14:m>
                  <m:oMath xmlns:m="http://schemas.openxmlformats.org/officeDocument/2006/math">
                    <m:sSub>
                      <m:sSubPr>
                        <m:ctrlPr>
                          <a:rPr lang="pt-BR" sz="1200" i="1" smtClean="0">
                            <a:latin typeface="Cambria Math" panose="02040503050406030204" pitchFamily="18" charset="0"/>
                          </a:rPr>
                        </m:ctrlPr>
                      </m:sSubPr>
                      <m:e>
                        <m:acc>
                          <m:accPr>
                            <m:chr m:val="̂"/>
                            <m:ctrlPr>
                              <a:rPr lang="pt-BR" sz="1200" i="1">
                                <a:latin typeface="Cambria Math" panose="02040503050406030204" pitchFamily="18" charset="0"/>
                              </a:rPr>
                            </m:ctrlPr>
                          </m:accPr>
                          <m:e>
                            <m:r>
                              <a:rPr lang="pt-BR" sz="1200" b="1" i="1">
                                <a:latin typeface="Cambria Math" panose="02040503050406030204" pitchFamily="18" charset="0"/>
                              </a:rPr>
                              <m:t>𝒚</m:t>
                            </m:r>
                          </m:e>
                        </m:acc>
                      </m:e>
                      <m:sub>
                        <m:r>
                          <a:rPr lang="pt-BR" sz="1200" b="0" i="1" smtClean="0">
                            <a:latin typeface="Cambria Math" panose="02040503050406030204" pitchFamily="18" charset="0"/>
                          </a:rPr>
                          <m:t>𝑞</m:t>
                        </m:r>
                      </m:sub>
                    </m:sSub>
                  </m:oMath>
                </a14:m>
                <a:r>
                  <a:rPr lang="pt-BR" dirty="0"/>
                  <a:t> vetor coluna composto</a:t>
                </a:r>
                <a:r>
                  <a:rPr lang="pt-BR" baseline="0" dirty="0"/>
                  <a:t> pela </a:t>
                </a:r>
                <a:r>
                  <a:rPr lang="pt-BR" dirty="0"/>
                  <a:t>q-</a:t>
                </a:r>
                <a:r>
                  <a:rPr lang="pt-BR" dirty="0" err="1"/>
                  <a:t>ésima</a:t>
                </a:r>
                <a:r>
                  <a:rPr lang="pt-BR" baseline="0" dirty="0"/>
                  <a:t> saída do regressor softmax, i.e., q-</a:t>
                </a:r>
                <a:r>
                  <a:rPr lang="pt-BR" baseline="0" dirty="0" err="1"/>
                  <a:t>ésima</a:t>
                </a:r>
                <a:r>
                  <a:rPr lang="pt-BR" baseline="0" dirty="0"/>
                  <a:t> função hipótese, para cada um dos N vetores de atributo.</a:t>
                </a:r>
              </a:p>
              <a:p>
                <a:endParaRPr lang="pt-BR" baseline="0" dirty="0"/>
              </a:p>
              <a:p>
                <a:r>
                  <a:rPr lang="pt-BR" baseline="0" dirty="0"/>
                  <a:t>Contendo o q-ésimo valor do vetor </a:t>
                </a:r>
                <a:r>
                  <a:rPr lang="pt-BR" baseline="0" dirty="0" err="1"/>
                  <a:t>one</a:t>
                </a:r>
                <a:r>
                  <a:rPr lang="pt-BR" baseline="0" dirty="0"/>
                  <a:t>-hot e de saída do regressor softmax para cada um das N entradas, respectivamente.</a:t>
                </a:r>
                <a:endParaRPr lang="pt-BR" dirty="0"/>
              </a:p>
              <a:p>
                <a:endParaRPr lang="pt-BR" dirty="0"/>
              </a:p>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1" i="0">
                    <a:latin typeface="Cambria Math" panose="02040503050406030204" pitchFamily="18" charset="0"/>
                  </a:rPr>
                  <a:t>𝒚_</a:t>
                </a:r>
                <a:r>
                  <a:rPr lang="pt-BR" sz="1200" b="0" i="0">
                    <a:latin typeface="Cambria Math" panose="02040503050406030204" pitchFamily="18" charset="0"/>
                  </a:rPr>
                  <a:t>𝑞</a:t>
                </a:r>
                <a:r>
                  <a:rPr lang="pt-BR" sz="1200" b="0" i="0" dirty="0">
                    <a:solidFill>
                      <a:srgbClr val="000000"/>
                    </a:solidFill>
                    <a:effectLst/>
                    <a:latin typeface="CambriaMath"/>
                  </a:rPr>
                  <a:t> vetor coluna composto pelo</a:t>
                </a:r>
                <a:r>
                  <a:rPr lang="pt-BR" sz="1200" b="0" i="0" baseline="0" dirty="0">
                    <a:solidFill>
                      <a:srgbClr val="000000"/>
                    </a:solidFill>
                    <a:effectLst/>
                    <a:latin typeface="CambriaMath"/>
                  </a:rPr>
                  <a:t> </a:t>
                </a:r>
                <a:r>
                  <a:rPr lang="pt-BR" sz="1200" b="0" i="0" dirty="0">
                    <a:solidFill>
                      <a:srgbClr val="000000"/>
                    </a:solidFill>
                    <a:effectLst/>
                    <a:latin typeface="CambriaMath"/>
                  </a:rPr>
                  <a:t>q-ésimo elemento</a:t>
                </a:r>
                <a:r>
                  <a:rPr lang="pt-BR" sz="1200" b="0" i="0" baseline="0" dirty="0">
                    <a:solidFill>
                      <a:srgbClr val="000000"/>
                    </a:solidFill>
                    <a:effectLst/>
                    <a:latin typeface="CambriaMath"/>
                  </a:rPr>
                  <a:t> do vetor de rótulo na codificação </a:t>
                </a:r>
                <a:r>
                  <a:rPr lang="pt-BR" sz="1200" b="0" i="0" baseline="0" dirty="0" err="1">
                    <a:solidFill>
                      <a:srgbClr val="000000"/>
                    </a:solidFill>
                    <a:effectLst/>
                    <a:latin typeface="CambriaMath"/>
                  </a:rPr>
                  <a:t>one</a:t>
                </a:r>
                <a:r>
                  <a:rPr lang="pt-BR" sz="1200" b="0" i="0" baseline="0" dirty="0">
                    <a:solidFill>
                      <a:srgbClr val="000000"/>
                    </a:solidFill>
                    <a:effectLst/>
                    <a:latin typeface="CambriaMath"/>
                  </a:rPr>
                  <a:t>-hot </a:t>
                </a:r>
                <a:r>
                  <a:rPr lang="pt-BR" baseline="0" dirty="0"/>
                  <a:t>para cada um dos N vetores de atributo.</a:t>
                </a:r>
                <a:endParaRPr lang="pt-BR" sz="1200" b="0" i="0" baseline="0" dirty="0">
                  <a:solidFill>
                    <a:srgbClr val="000000"/>
                  </a:solidFill>
                  <a:effectLst/>
                  <a:latin typeface="CambriaMath"/>
                </a:endParaRPr>
              </a:p>
              <a:p>
                <a:pPr/>
                <a:r>
                  <a:rPr lang="pt-BR" sz="1200" b="1" i="0">
                    <a:latin typeface="Cambria Math" panose="02040503050406030204" pitchFamily="18" charset="0"/>
                  </a:rPr>
                  <a:t>𝒚 ̂_</a:t>
                </a:r>
                <a:r>
                  <a:rPr lang="pt-BR" sz="1200" b="0" i="0">
                    <a:latin typeface="Cambria Math" panose="02040503050406030204" pitchFamily="18" charset="0"/>
                  </a:rPr>
                  <a:t>𝑞</a:t>
                </a:r>
                <a:r>
                  <a:rPr lang="pt-BR" dirty="0"/>
                  <a:t> vetor coluna composto</a:t>
                </a:r>
                <a:r>
                  <a:rPr lang="pt-BR" baseline="0" dirty="0"/>
                  <a:t> pela </a:t>
                </a:r>
                <a:r>
                  <a:rPr lang="pt-BR" dirty="0"/>
                  <a:t>q-</a:t>
                </a:r>
                <a:r>
                  <a:rPr lang="pt-BR" dirty="0" err="1"/>
                  <a:t>ésima</a:t>
                </a:r>
                <a:r>
                  <a:rPr lang="pt-BR" baseline="0" dirty="0"/>
                  <a:t> saída do regressor softmax, i.e., q-</a:t>
                </a:r>
                <a:r>
                  <a:rPr lang="pt-BR" baseline="0" dirty="0" err="1"/>
                  <a:t>ésima</a:t>
                </a:r>
                <a:r>
                  <a:rPr lang="pt-BR" baseline="0" dirty="0"/>
                  <a:t> função hipótese, para cada um dos N vetores de atributo.</a:t>
                </a:r>
              </a:p>
              <a:p>
                <a:pPr/>
                <a:endParaRPr lang="pt-BR" baseline="0" dirty="0"/>
              </a:p>
              <a:p>
                <a:pPr/>
                <a:r>
                  <a:rPr lang="pt-BR" baseline="0" dirty="0"/>
                  <a:t>Contendo o q-ésimo valor do vetor </a:t>
                </a:r>
                <a:r>
                  <a:rPr lang="pt-BR" baseline="0" dirty="0" err="1"/>
                  <a:t>one</a:t>
                </a:r>
                <a:r>
                  <a:rPr lang="pt-BR" baseline="0" dirty="0"/>
                  <a:t>-hot e de saída do regressor softmax para cada um das N entradas, respectivamente.</a:t>
                </a:r>
                <a:endParaRPr lang="pt-BR" dirty="0"/>
              </a:p>
              <a:p>
                <a:endParaRPr lang="pt-BR" dirty="0"/>
              </a:p>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6FC8D850-966F-45A6-8DE7-15B891E7D40D}" type="slidenum">
              <a:rPr lang="pt-BR" smtClean="0"/>
              <a:t>19</a:t>
            </a:fld>
            <a:endParaRPr lang="pt-BR"/>
          </a:p>
        </p:txBody>
      </p:sp>
    </p:spTree>
    <p:extLst>
      <p:ext uri="{BB962C8B-B14F-4D97-AF65-F5344CB8AC3E}">
        <p14:creationId xmlns:p14="http://schemas.microsoft.com/office/powerpoint/2010/main" val="146177389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42542725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312930563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22</a:t>
            </a:fld>
            <a:endParaRPr lang="pt-BR"/>
          </a:p>
        </p:txBody>
      </p:sp>
    </p:spTree>
    <p:extLst>
      <p:ext uri="{BB962C8B-B14F-4D97-AF65-F5344CB8AC3E}">
        <p14:creationId xmlns:p14="http://schemas.microsoft.com/office/powerpoint/2010/main" val="419234520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No regressor softmax, normalizamos as combinações de atributos de entrada para transformar as pontuações brutas (ou combinações) em probabilidades. Existem boas razões para isso:</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Interpretação Probabilística:</a:t>
            </a:r>
            <a:r>
              <a:rPr lang="pt-BR" b="0" i="0" dirty="0">
                <a:solidFill>
                  <a:srgbClr val="374151"/>
                </a:solidFill>
                <a:effectLst/>
                <a:latin typeface="Söhne"/>
              </a:rPr>
              <a:t> O regressor softmax é comumente usado em problemas de classificação </a:t>
            </a:r>
            <a:r>
              <a:rPr lang="pt-BR" b="0" i="0" dirty="0" err="1">
                <a:solidFill>
                  <a:srgbClr val="374151"/>
                </a:solidFill>
                <a:effectLst/>
                <a:latin typeface="Söhne"/>
              </a:rPr>
              <a:t>multiclasse</a:t>
            </a:r>
            <a:r>
              <a:rPr lang="pt-BR" b="0" i="0" dirty="0">
                <a:solidFill>
                  <a:srgbClr val="374151"/>
                </a:solidFill>
                <a:effectLst/>
                <a:latin typeface="Söhne"/>
              </a:rPr>
              <a:t>, onde você deseja atribuir uma probabilidade para cada classe possível. Normalizando as combinações de atributos em probabilidades, você obtém uma interpretação probabilística direta dos resultados. Isso significa que as saídas do regressor representam a probabilidade de pertencer a cada classe.</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Escalas de Saída Consistentes:</a:t>
            </a:r>
            <a:r>
              <a:rPr lang="pt-BR" b="0" i="0" dirty="0">
                <a:solidFill>
                  <a:srgbClr val="374151"/>
                </a:solidFill>
                <a:effectLst/>
                <a:latin typeface="Söhne"/>
              </a:rPr>
              <a:t> Normalizar as saídas garante que elas estejam na mesma escala (entre 0 e 1) e somem para 1. Isso facilita a comparação das probabilidades e a tomada de decisões com base nas saídas do modelo.</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Função de Perda Adequada:</a:t>
            </a:r>
            <a:r>
              <a:rPr lang="pt-BR" b="0" i="0" dirty="0">
                <a:solidFill>
                  <a:srgbClr val="374151"/>
                </a:solidFill>
                <a:effectLst/>
                <a:latin typeface="Söhne"/>
              </a:rPr>
              <a:t> A normalização das saídas é fundamental para o cálculo da função de perda adequada, que é usada durante o treinamento para ajustar os pesos do modelo. A função de perda geralmente é formulada com base nas probabilidades previstas e nas probabilidades reais das classes.</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Estabilidade Numérica:</a:t>
            </a:r>
            <a:r>
              <a:rPr lang="pt-BR" b="0" i="0" dirty="0">
                <a:solidFill>
                  <a:srgbClr val="374151"/>
                </a:solidFill>
                <a:effectLst/>
                <a:latin typeface="Söhne"/>
              </a:rPr>
              <a:t> Normalizar as combinações de atributos ajuda a evitar problemas de estabilidade numérica, especialmente quando as combinações podem ser grandes números. Isso ocorre porque a exponenciação de grandes valores pode resultar em números muito grandes, levando a instabilidade computacional. A normalização ajuda a controlar isso.</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normalização das combinações de atributos no regressor softmax é fundamental para garantir que as saídas do modelo sejam interpretáveis como probabilidades e para garantir um treinamento estável e adequado. Usar as próprias combinações sem normalização não forneceria as probabilidades desejadas e levaria a problemas de interpretação e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128092592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b="1" dirty="0"/>
                  <a:t>Exemplo</a:t>
                </a:r>
                <a:r>
                  <a:rPr lang="pt-BR" dirty="0"/>
                  <a:t>:</a:t>
                </a:r>
                <a:r>
                  <a:rPr lang="pt-BR" baseline="0" dirty="0"/>
                  <a:t> </a:t>
                </a:r>
                <a:r>
                  <a:rPr lang="pt-BR" dirty="0"/>
                  <a:t>https://colab.research.google.com/github/zz4fap/t320_aprendizado_de_maquina/blob/main/notebooks/classificação/</a:t>
                </a:r>
                <a:r>
                  <a:rPr lang="pt-BR" dirty="0" err="1"/>
                  <a:t>softmax_regressor_with_scikit_learn.ipynb</a:t>
                </a:r>
                <a:endParaRPr lang="pt-BR" dirty="0"/>
              </a:p>
              <a:p>
                <a:endParaRPr lang="pt-BR" b="1"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Assim como o classificador de </a:t>
                </a:r>
                <a:r>
                  <a:rPr lang="pt-BR" b="1" i="1" dirty="0"/>
                  <a:t>regressão logística</a:t>
                </a:r>
                <a:r>
                  <a:rPr lang="pt-BR" dirty="0"/>
                  <a:t>, o classificador de </a:t>
                </a:r>
                <a:r>
                  <a:rPr lang="pt-BR" b="1" i="1" dirty="0"/>
                  <a:t>regressão softmax</a:t>
                </a:r>
                <a:r>
                  <a:rPr lang="pt-BR" dirty="0"/>
                  <a:t> prevê a classe com a maior probabilidade estimada (que é simplesmente a classe com a maior valor para o produto escalar </a:t>
                </a:r>
                <a14:m>
                  <m:oMath xmlns:m="http://schemas.openxmlformats.org/officeDocument/2006/math">
                    <m:sSup>
                      <m:sSupPr>
                        <m:ctrlPr>
                          <a:rPr lang="pt-BR" i="1">
                            <a:latin typeface="Cambria Math" panose="02040503050406030204" pitchFamily="18" charset="0"/>
                          </a:rPr>
                        </m:ctrlPr>
                      </m:sSupPr>
                      <m:e>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sup>
                        <m:r>
                          <a:rPr lang="pt-BR" i="1">
                            <a:latin typeface="Cambria Math" panose="02040503050406030204" pitchFamily="18" charset="0"/>
                          </a:rPr>
                          <m:t>𝑇</m:t>
                        </m:r>
                      </m:sup>
                    </m:sSup>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dirty="0"/>
                  <a:t>).</a:t>
                </a:r>
              </a:p>
              <a:p>
                <a:endParaRPr lang="pt-BR" b="1" dirty="0"/>
              </a:p>
              <a:p>
                <a:endParaRPr lang="pt-BR" dirty="0"/>
              </a:p>
            </p:txBody>
          </p:sp>
        </mc:Choice>
        <mc:Fallback xmlns="">
          <p:sp>
            <p:nvSpPr>
              <p:cNvPr id="3" name="Espaço Reservado para Anotações 2"/>
              <p:cNvSpPr>
                <a:spLocks noGrp="1"/>
              </p:cNvSpPr>
              <p:nvPr>
                <p:ph type="body" idx="1"/>
              </p:nvPr>
            </p:nvSpPr>
            <p:spPr/>
            <p:txBody>
              <a:bodyPr/>
              <a:lstStyle/>
              <a:p>
                <a:r>
                  <a:rPr lang="pt-BR" b="1" dirty="0"/>
                  <a:t>Exemplo</a:t>
                </a:r>
                <a:r>
                  <a:rPr lang="pt-BR" dirty="0"/>
                  <a:t>:</a:t>
                </a:r>
                <a:r>
                  <a:rPr lang="pt-BR" baseline="0" dirty="0"/>
                  <a:t> </a:t>
                </a:r>
                <a:r>
                  <a:rPr lang="pt-BR" dirty="0"/>
                  <a:t>https://colab.research.google.com/github/zz4fap/t320_aprendizado_de_maquina/blob/main/notebooks/classificação/</a:t>
                </a:r>
                <a:r>
                  <a:rPr lang="pt-BR" dirty="0" err="1"/>
                  <a:t>softmax_regressor_with_scikit_learn.ipynb</a:t>
                </a:r>
                <a:endParaRPr lang="pt-BR" dirty="0"/>
              </a:p>
              <a:p>
                <a:endParaRPr lang="pt-BR" b="1"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Assim como o classificador de </a:t>
                </a:r>
                <a:r>
                  <a:rPr lang="pt-BR" b="1" i="1" dirty="0"/>
                  <a:t>regressão logística</a:t>
                </a:r>
                <a:r>
                  <a:rPr lang="pt-BR" dirty="0"/>
                  <a:t>, o classificador de </a:t>
                </a:r>
                <a:r>
                  <a:rPr lang="pt-BR" b="1" i="1" dirty="0"/>
                  <a:t>regressão softmax</a:t>
                </a:r>
                <a:r>
                  <a:rPr lang="pt-BR" dirty="0"/>
                  <a:t> prevê a classe com a maior probabilidade estimada (que é simplesmente a classe com a maior valor para o produto escalar </a:t>
                </a:r>
                <a:r>
                  <a:rPr lang="pt-BR" i="0">
                    <a:latin typeface="Cambria Math" panose="02040503050406030204" pitchFamily="18" charset="0"/>
                  </a:rPr>
                  <a:t>〖</a:t>
                </a:r>
                <a:r>
                  <a:rPr lang="pt-BR" b="1" i="0">
                    <a:latin typeface="Cambria Math" panose="02040503050406030204" pitchFamily="18" charset="0"/>
                  </a:rPr>
                  <a:t>𝒙</a:t>
                </a:r>
                <a:r>
                  <a:rPr lang="pt-BR" i="0">
                    <a:latin typeface="Cambria Math" panose="02040503050406030204" pitchFamily="18" charset="0"/>
                  </a:rPr>
                  <a:t>(𝑖)〗^𝑇</a:t>
                </a:r>
                <a:r>
                  <a:rPr lang="pt-BR" b="1" i="0">
                    <a:latin typeface="Cambria Math" panose="02040503050406030204" pitchFamily="18" charset="0"/>
                  </a:rPr>
                  <a:t> 𝒂_</a:t>
                </a:r>
                <a:r>
                  <a:rPr lang="pt-BR" i="0">
                    <a:latin typeface="Cambria Math" panose="02040503050406030204" pitchFamily="18" charset="0"/>
                  </a:rPr>
                  <a:t>𝑞</a:t>
                </a:r>
                <a:r>
                  <a:rPr lang="pt-BR" dirty="0"/>
                  <a:t>).</a:t>
                </a:r>
              </a:p>
              <a:p>
                <a:endParaRPr lang="pt-BR" b="1"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215064394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en-US" b="0" i="0" dirty="0">
                <a:solidFill>
                  <a:srgbClr val="172B4D"/>
                </a:solidFill>
                <a:effectLst/>
                <a:latin typeface="-apple-system"/>
              </a:rPr>
              <a:t>Improvements</a:t>
            </a:r>
          </a:p>
          <a:p>
            <a:pPr algn="l"/>
            <a:r>
              <a:rPr lang="en-US" b="0" i="0" dirty="0">
                <a:solidFill>
                  <a:srgbClr val="172B4D"/>
                </a:solidFill>
                <a:effectLst/>
                <a:latin typeface="-apple-system"/>
              </a:rPr>
              <a:t>This saves memory when the label is sparse (the number of classes is very large). Now how we can improve the speed?</a:t>
            </a:r>
          </a:p>
          <a:p>
            <a:pPr algn="l"/>
            <a:r>
              <a:rPr lang="en-US" b="0" i="0" dirty="0">
                <a:solidFill>
                  <a:srgbClr val="172B4D"/>
                </a:solidFill>
                <a:effectLst/>
                <a:latin typeface="-apple-system"/>
              </a:rPr>
              <a:t>When labels are mutually exclusive, in normal cross-entropy calculation, there is a lot of log/dot/sum operations applied on </a:t>
            </a:r>
            <a:r>
              <a:rPr lang="en-US" b="0" i="0" dirty="0" err="1">
                <a:solidFill>
                  <a:srgbClr val="172B4D"/>
                </a:solidFill>
                <a:effectLst/>
                <a:latin typeface="-apple-system"/>
              </a:rPr>
              <a:t>y_pred</a:t>
            </a:r>
            <a:r>
              <a:rPr lang="en-US" b="0" i="0" dirty="0">
                <a:solidFill>
                  <a:srgbClr val="172B4D"/>
                </a:solidFill>
                <a:effectLst/>
                <a:latin typeface="-apple-system"/>
              </a:rPr>
              <a:t> probabilities that will eventually be 0s. We actually don't need those operations.</a:t>
            </a:r>
          </a:p>
          <a:p>
            <a:pPr algn="l"/>
            <a:r>
              <a:rPr lang="en-US" b="0" i="0" dirty="0">
                <a:solidFill>
                  <a:srgbClr val="172B4D"/>
                </a:solidFill>
                <a:effectLst/>
                <a:latin typeface="-apple-system"/>
              </a:rPr>
              <a:t>Instead of doing log operations on all </a:t>
            </a:r>
            <a:r>
              <a:rPr lang="en-US" b="0" i="0" dirty="0" err="1">
                <a:solidFill>
                  <a:srgbClr val="172B4D"/>
                </a:solidFill>
                <a:effectLst/>
                <a:latin typeface="-apple-system"/>
              </a:rPr>
              <a:t>y_pred</a:t>
            </a:r>
            <a:r>
              <a:rPr lang="en-US" b="0" i="0" dirty="0">
                <a:solidFill>
                  <a:srgbClr val="172B4D"/>
                </a:solidFill>
                <a:effectLst/>
                <a:latin typeface="-apple-system"/>
              </a:rPr>
              <a:t> and then dot with </a:t>
            </a:r>
            <a:r>
              <a:rPr lang="en-US" b="0" i="0" dirty="0" err="1">
                <a:solidFill>
                  <a:srgbClr val="172B4D"/>
                </a:solidFill>
                <a:effectLst/>
                <a:latin typeface="-apple-system"/>
              </a:rPr>
              <a:t>y_true</a:t>
            </a:r>
            <a:r>
              <a:rPr lang="en-US" b="0" i="0" dirty="0">
                <a:solidFill>
                  <a:srgbClr val="172B4D"/>
                </a:solidFill>
                <a:effectLst/>
                <a:latin typeface="-apple-system"/>
              </a:rPr>
              <a:t>, we can directly pick the probability from </a:t>
            </a:r>
            <a:r>
              <a:rPr lang="en-US" b="0" i="0" dirty="0" err="1">
                <a:solidFill>
                  <a:srgbClr val="172B4D"/>
                </a:solidFill>
                <a:effectLst/>
                <a:latin typeface="-apple-system"/>
              </a:rPr>
              <a:t>y_pred</a:t>
            </a:r>
            <a:r>
              <a:rPr lang="en-US" b="0" i="0" dirty="0">
                <a:solidFill>
                  <a:srgbClr val="172B4D"/>
                </a:solidFill>
                <a:effectLst/>
                <a:latin typeface="-apple-system"/>
              </a:rPr>
              <a:t> at the index provided by </a:t>
            </a:r>
            <a:r>
              <a:rPr lang="en-US" b="0" i="0" dirty="0" err="1">
                <a:solidFill>
                  <a:srgbClr val="172B4D"/>
                </a:solidFill>
                <a:effectLst/>
                <a:latin typeface="-apple-system"/>
              </a:rPr>
              <a:t>y_true</a:t>
            </a:r>
            <a:r>
              <a:rPr lang="en-US" b="0" i="0" dirty="0">
                <a:solidFill>
                  <a:srgbClr val="172B4D"/>
                </a:solidFill>
                <a:effectLst/>
                <a:latin typeface="-apple-system"/>
              </a:rPr>
              <a:t>. Then apply log operation. No dot and sum operation is needed.</a:t>
            </a:r>
          </a:p>
          <a:p>
            <a:pPr algn="l"/>
            <a:r>
              <a:rPr lang="en-US" b="0" i="0" dirty="0">
                <a:solidFill>
                  <a:srgbClr val="172B4D"/>
                </a:solidFill>
                <a:effectLst/>
                <a:latin typeface="-apple-system"/>
              </a:rPr>
              <a:t>Following is the pseudo code:</a:t>
            </a:r>
          </a:p>
          <a:p>
            <a:r>
              <a:rPr lang="en-US" dirty="0"/>
              <a:t>loss = </a:t>
            </a:r>
            <a:r>
              <a:rPr lang="en-US" dirty="0" err="1"/>
              <a:t>mx.sym.pick</a:t>
            </a:r>
            <a:r>
              <a:rPr lang="en-US" dirty="0"/>
              <a:t>(</a:t>
            </a:r>
            <a:r>
              <a:rPr lang="en-US" dirty="0" err="1"/>
              <a:t>y_pred</a:t>
            </a:r>
            <a:r>
              <a:rPr lang="en-US" dirty="0"/>
              <a:t>, </a:t>
            </a:r>
            <a:r>
              <a:rPr lang="en-US" dirty="0" err="1"/>
              <a:t>y_true</a:t>
            </a:r>
            <a:r>
              <a:rPr lang="en-US" dirty="0"/>
              <a:t>, axis=axis, </a:t>
            </a:r>
            <a:r>
              <a:rPr lang="en-US" dirty="0" err="1"/>
              <a:t>keepdims</a:t>
            </a:r>
            <a:r>
              <a:rPr lang="en-US" dirty="0"/>
              <a:t>=True) loss = - mx.sym.log(loss, axis=axis)</a:t>
            </a:r>
            <a:endParaRPr lang="pt-BR" dirty="0"/>
          </a:p>
          <a:p>
            <a:endParaRPr lang="pt-BR" dirty="0"/>
          </a:p>
          <a:p>
            <a:r>
              <a:rPr lang="pt-BR" dirty="0"/>
              <a:t>Referências</a:t>
            </a:r>
          </a:p>
          <a:p>
            <a:endParaRPr lang="pt-BR" dirty="0"/>
          </a:p>
          <a:p>
            <a:r>
              <a:rPr lang="pt-BR" dirty="0"/>
              <a:t>[1] https://cwiki.apache.org/confluence/display/MXNET/Multi-hot+Sparse+Categorical+Cross-entropy</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26</a:t>
            </a:fld>
            <a:endParaRPr lang="pt-BR"/>
          </a:p>
        </p:txBody>
      </p:sp>
    </p:spTree>
    <p:extLst>
      <p:ext uri="{BB962C8B-B14F-4D97-AF65-F5344CB8AC3E}">
        <p14:creationId xmlns:p14="http://schemas.microsoft.com/office/powerpoint/2010/main" val="90231393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en-US" b="0" i="0" dirty="0">
                <a:solidFill>
                  <a:srgbClr val="172B4D"/>
                </a:solidFill>
                <a:effectLst/>
                <a:latin typeface="-apple-system"/>
              </a:rPr>
              <a:t>Improvements</a:t>
            </a:r>
          </a:p>
          <a:p>
            <a:pPr algn="l"/>
            <a:r>
              <a:rPr lang="en-US" b="0" i="0" dirty="0">
                <a:solidFill>
                  <a:srgbClr val="172B4D"/>
                </a:solidFill>
                <a:effectLst/>
                <a:latin typeface="-apple-system"/>
              </a:rPr>
              <a:t>This saves memory when the label is sparse (the number of classes is very large). Now how we can improve the speed?</a:t>
            </a:r>
          </a:p>
          <a:p>
            <a:pPr algn="l"/>
            <a:r>
              <a:rPr lang="en-US" b="0" i="0" dirty="0">
                <a:solidFill>
                  <a:srgbClr val="172B4D"/>
                </a:solidFill>
                <a:effectLst/>
                <a:latin typeface="-apple-system"/>
              </a:rPr>
              <a:t>When labels are mutually exclusive, in normal cross-entropy calculation, there is a lot of log/dot/sum operations applied on </a:t>
            </a:r>
            <a:r>
              <a:rPr lang="en-US" b="0" i="0" dirty="0" err="1">
                <a:solidFill>
                  <a:srgbClr val="172B4D"/>
                </a:solidFill>
                <a:effectLst/>
                <a:latin typeface="-apple-system"/>
              </a:rPr>
              <a:t>y_pred</a:t>
            </a:r>
            <a:r>
              <a:rPr lang="en-US" b="0" i="0" dirty="0">
                <a:solidFill>
                  <a:srgbClr val="172B4D"/>
                </a:solidFill>
                <a:effectLst/>
                <a:latin typeface="-apple-system"/>
              </a:rPr>
              <a:t> probabilities that will eventually be 0s. We actually don't need those operations.</a:t>
            </a:r>
          </a:p>
          <a:p>
            <a:pPr algn="l"/>
            <a:r>
              <a:rPr lang="en-US" b="0" i="0" dirty="0">
                <a:solidFill>
                  <a:srgbClr val="172B4D"/>
                </a:solidFill>
                <a:effectLst/>
                <a:latin typeface="-apple-system"/>
              </a:rPr>
              <a:t>Instead of doing log operations on all </a:t>
            </a:r>
            <a:r>
              <a:rPr lang="en-US" b="0" i="0" dirty="0" err="1">
                <a:solidFill>
                  <a:srgbClr val="172B4D"/>
                </a:solidFill>
                <a:effectLst/>
                <a:latin typeface="-apple-system"/>
              </a:rPr>
              <a:t>y_pred</a:t>
            </a:r>
            <a:r>
              <a:rPr lang="en-US" b="0" i="0" dirty="0">
                <a:solidFill>
                  <a:srgbClr val="172B4D"/>
                </a:solidFill>
                <a:effectLst/>
                <a:latin typeface="-apple-system"/>
              </a:rPr>
              <a:t> and then dot with </a:t>
            </a:r>
            <a:r>
              <a:rPr lang="en-US" b="0" i="0" dirty="0" err="1">
                <a:solidFill>
                  <a:srgbClr val="172B4D"/>
                </a:solidFill>
                <a:effectLst/>
                <a:latin typeface="-apple-system"/>
              </a:rPr>
              <a:t>y_true</a:t>
            </a:r>
            <a:r>
              <a:rPr lang="en-US" b="0" i="0" dirty="0">
                <a:solidFill>
                  <a:srgbClr val="172B4D"/>
                </a:solidFill>
                <a:effectLst/>
                <a:latin typeface="-apple-system"/>
              </a:rPr>
              <a:t>, we can directly pick the probability from </a:t>
            </a:r>
            <a:r>
              <a:rPr lang="en-US" b="0" i="0" dirty="0" err="1">
                <a:solidFill>
                  <a:srgbClr val="172B4D"/>
                </a:solidFill>
                <a:effectLst/>
                <a:latin typeface="-apple-system"/>
              </a:rPr>
              <a:t>y_pred</a:t>
            </a:r>
            <a:r>
              <a:rPr lang="en-US" b="0" i="0" dirty="0">
                <a:solidFill>
                  <a:srgbClr val="172B4D"/>
                </a:solidFill>
                <a:effectLst/>
                <a:latin typeface="-apple-system"/>
              </a:rPr>
              <a:t> at the index provided by </a:t>
            </a:r>
            <a:r>
              <a:rPr lang="en-US" b="0" i="0" dirty="0" err="1">
                <a:solidFill>
                  <a:srgbClr val="172B4D"/>
                </a:solidFill>
                <a:effectLst/>
                <a:latin typeface="-apple-system"/>
              </a:rPr>
              <a:t>y_true</a:t>
            </a:r>
            <a:r>
              <a:rPr lang="en-US" b="0" i="0" dirty="0">
                <a:solidFill>
                  <a:srgbClr val="172B4D"/>
                </a:solidFill>
                <a:effectLst/>
                <a:latin typeface="-apple-system"/>
              </a:rPr>
              <a:t>. Then apply log operation. No dot and sum operation is needed.</a:t>
            </a:r>
          </a:p>
          <a:p>
            <a:pPr algn="l"/>
            <a:r>
              <a:rPr lang="en-US" b="0" i="0" dirty="0">
                <a:solidFill>
                  <a:srgbClr val="172B4D"/>
                </a:solidFill>
                <a:effectLst/>
                <a:latin typeface="-apple-system"/>
              </a:rPr>
              <a:t>Following is the pseudo code:</a:t>
            </a:r>
          </a:p>
          <a:p>
            <a:r>
              <a:rPr lang="en-US" dirty="0"/>
              <a:t>loss = </a:t>
            </a:r>
            <a:r>
              <a:rPr lang="en-US" dirty="0" err="1"/>
              <a:t>mx.sym.pick</a:t>
            </a:r>
            <a:r>
              <a:rPr lang="en-US" dirty="0"/>
              <a:t>(</a:t>
            </a:r>
            <a:r>
              <a:rPr lang="en-US" dirty="0" err="1"/>
              <a:t>y_pred</a:t>
            </a:r>
            <a:r>
              <a:rPr lang="en-US" dirty="0"/>
              <a:t>, </a:t>
            </a:r>
            <a:r>
              <a:rPr lang="en-US" dirty="0" err="1"/>
              <a:t>y_true</a:t>
            </a:r>
            <a:r>
              <a:rPr lang="en-US" dirty="0"/>
              <a:t>, axis=axis, </a:t>
            </a:r>
            <a:r>
              <a:rPr lang="en-US" dirty="0" err="1"/>
              <a:t>keepdims</a:t>
            </a:r>
            <a:r>
              <a:rPr lang="en-US" dirty="0"/>
              <a:t>=True) loss = - mx.sym.log(loss, axis=axis)</a:t>
            </a:r>
            <a:endParaRPr lang="pt-BR" dirty="0"/>
          </a:p>
          <a:p>
            <a:endParaRPr lang="pt-BR" dirty="0"/>
          </a:p>
          <a:p>
            <a:r>
              <a:rPr lang="pt-BR" dirty="0"/>
              <a:t>Referências</a:t>
            </a:r>
          </a:p>
          <a:p>
            <a:endParaRPr lang="pt-BR" dirty="0"/>
          </a:p>
          <a:p>
            <a:r>
              <a:rPr lang="pt-BR" dirty="0"/>
              <a:t>[1] https://cwiki.apache.org/confluence/display/MXNET/Multi-hot+Sparse+Categorical+Cross-entropy</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222943807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25/02/2026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25/02/2026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25/02/2026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25/02/2026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25/02/2026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25/02/2026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25/02/2026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25/02/2026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25/02/2026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25/02/2026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25/02/2026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25/02/2026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6.jpe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7.png"/><Relationship Id="rId1" Type="http://schemas.openxmlformats.org/officeDocument/2006/relationships/slideLayout" Target="../slideLayouts/slideLayout2.xml"/><Relationship Id="rId5" Type="http://schemas.openxmlformats.org/officeDocument/2006/relationships/image" Target="../media/image6.jpe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4" Type="http://schemas.openxmlformats.org/officeDocument/2006/relationships/image" Target="../media/image71.png"/></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1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hyperlink" Target="https://colab.research.google.com/github/zz4fap/t320_aprendizado_de_maquina/blob/main/notebooks/classifica&#231;&#227;o/softmax_regressor_with_scikit_learn.ipynb"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730.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75.png"/><Relationship Id="rId4" Type="http://schemas.openxmlformats.org/officeDocument/2006/relationships/image" Target="../media/image74.png"/></Relationships>
</file>

<file path=ppt/slides/_rels/slide27.xml.rels><?xml version="1.0" encoding="UTF-8" standalone="yes"?>
<Relationships xmlns="http://schemas.openxmlformats.org/package/2006/relationships"><Relationship Id="rId3" Type="http://schemas.openxmlformats.org/officeDocument/2006/relationships/image" Target="../media/image730.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75.png"/><Relationship Id="rId4" Type="http://schemas.openxmlformats.org/officeDocument/2006/relationships/image" Target="../media/image74.png"/></Relationships>
</file>

<file path=ppt/slides/_rels/slide28.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err="1"/>
              <a:t>Regressor</a:t>
            </a:r>
            <a:r>
              <a:rPr lang="pt-BR" sz="7200" b="1" i="1" dirty="0"/>
              <a:t> </a:t>
            </a:r>
            <a:r>
              <a:rPr lang="pt-BR" sz="7200" b="1" i="1" dirty="0" err="1"/>
              <a:t>Softmax</a:t>
            </a:r>
            <a:endParaRPr lang="pt-BR" sz="7200" b="1" i="1" dirty="0"/>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Casos multiclasses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5638799" y="1784680"/>
                <a:ext cx="6444343" cy="5073320"/>
              </a:xfrm>
            </p:spPr>
            <p:txBody>
              <a:bodyPr>
                <a:normAutofit/>
              </a:bodyPr>
              <a:lstStyle/>
              <a:p>
                <a:r>
                  <a:rPr lang="pt-BR" dirty="0"/>
                  <a:t>Até agora, nós vimos como classificar utilizando a </a:t>
                </a:r>
                <a:r>
                  <a:rPr lang="pt-BR" b="1" dirty="0"/>
                  <a:t>regressão logística</a:t>
                </a:r>
                <a:r>
                  <a:rPr lang="pt-BR" dirty="0"/>
                  <a:t>.</a:t>
                </a:r>
              </a:p>
              <a:p>
                <a:pPr lvl="1">
                  <a:buFont typeface="Wingdings" panose="05000000000000000000" pitchFamily="2" charset="2"/>
                  <a:buChar char="§"/>
                </a:pPr>
                <a:r>
                  <a:rPr lang="pt-BR" dirty="0"/>
                  <a:t>Classificação binária.</a:t>
                </a:r>
              </a:p>
              <a:p>
                <a:r>
                  <a:rPr lang="pt-BR" dirty="0"/>
                  <a:t>Mas e quando o problema possuir mais de 2 classes (i.e., </a:t>
                </a:r>
                <a14:m>
                  <m:oMath xmlns:m="http://schemas.openxmlformats.org/officeDocument/2006/math">
                    <m:r>
                      <a:rPr lang="pt-BR" i="1">
                        <a:latin typeface="Cambria Math" panose="02040503050406030204" pitchFamily="18" charset="0"/>
                      </a:rPr>
                      <m:t>𝑄</m:t>
                    </m:r>
                    <m:r>
                      <a:rPr lang="pt-BR" b="0" i="1" smtClean="0">
                        <a:latin typeface="Cambria Math" panose="02040503050406030204" pitchFamily="18" charset="0"/>
                      </a:rPr>
                      <m:t>&gt;</m:t>
                    </m:r>
                    <m:r>
                      <a:rPr lang="pt-BR" i="1">
                        <a:latin typeface="Cambria Math" panose="02040503050406030204" pitchFamily="18" charset="0"/>
                      </a:rPr>
                      <m:t>2</m:t>
                    </m:r>
                  </m:oMath>
                </a14:m>
                <a:r>
                  <a:rPr lang="pt-BR" dirty="0"/>
                  <a:t>)? </a:t>
                </a:r>
              </a:p>
              <a:p>
                <a:r>
                  <a:rPr lang="pt-BR" dirty="0"/>
                  <a:t>Por exemplo</a:t>
                </a:r>
              </a:p>
              <a:p>
                <a:pPr lvl="1">
                  <a:buFont typeface="Wingdings" panose="05000000000000000000" pitchFamily="2" charset="2"/>
                  <a:buChar char="§"/>
                </a:pPr>
                <a:r>
                  <a:rPr lang="pt-BR" dirty="0"/>
                  <a:t>Reconhecimento de dígitos: 10 dígitos.</a:t>
                </a:r>
              </a:p>
              <a:p>
                <a:pPr lvl="1">
                  <a:buFont typeface="Wingdings" panose="05000000000000000000" pitchFamily="2" charset="2"/>
                  <a:buChar char="§"/>
                </a:pPr>
                <a:r>
                  <a:rPr lang="pt-BR" dirty="0"/>
                  <a:t>Classificação de texto: Esportes, Economia, Política, Entretenimento, etc.</a:t>
                </a:r>
              </a:p>
              <a:p>
                <a:pPr lvl="1">
                  <a:buFont typeface="Wingdings" panose="05000000000000000000" pitchFamily="2" charset="2"/>
                  <a:buChar char="§"/>
                </a:pPr>
                <a:r>
                  <a:rPr lang="pt-BR" dirty="0"/>
                  <a:t>Classificação de sentimentos: Neutro, Positivo, Negativo.</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5638799" y="1784680"/>
                <a:ext cx="6444343" cy="5073320"/>
              </a:xfrm>
              <a:blipFill>
                <a:blip r:embed="rId2"/>
                <a:stretch>
                  <a:fillRect l="-1703" t="-2043"/>
                </a:stretch>
              </a:blipFill>
            </p:spPr>
            <p:txBody>
              <a:bodyPr/>
              <a:lstStyle/>
              <a:p>
                <a:r>
                  <a:rPr lang="en-US">
                    <a:noFill/>
                  </a:rPr>
                  <a:t> </a:t>
                </a:r>
              </a:p>
            </p:txBody>
          </p:sp>
        </mc:Fallback>
      </mc:AlternateContent>
      <p:pic>
        <p:nvPicPr>
          <p:cNvPr id="4" name="Picture 2" descr="Ana Barros (@anathinker) | Twitter">
            <a:extLst>
              <a:ext uri="{FF2B5EF4-FFF2-40B4-BE49-F238E27FC236}">
                <a16:creationId xmlns:a16="http://schemas.microsoft.com/office/drawing/2014/main" id="{AF3F0044-4F7D-98F6-34C1-8351487DFDA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5470" y="1802867"/>
            <a:ext cx="2541212" cy="1683988"/>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6" descr="Analyzing Text Classification Techniques on Youtube Data">
            <a:extLst>
              <a:ext uri="{FF2B5EF4-FFF2-40B4-BE49-F238E27FC236}">
                <a16:creationId xmlns:a16="http://schemas.microsoft.com/office/drawing/2014/main" id="{0E6041F8-AB14-54C0-C790-0288A3AC8FB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1107" t="4114" r="9213" b="4823"/>
          <a:stretch/>
        </p:blipFill>
        <p:spPr bwMode="auto">
          <a:xfrm>
            <a:off x="1199846" y="4635253"/>
            <a:ext cx="3073671" cy="1756383"/>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Sentiment Fig 1">
            <a:extLst>
              <a:ext uri="{FF2B5EF4-FFF2-40B4-BE49-F238E27FC236}">
                <a16:creationId xmlns:a16="http://schemas.microsoft.com/office/drawing/2014/main" id="{1E7CC96F-55AB-1482-92F6-240F8E2E0D1E}"/>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42094" y="2551870"/>
            <a:ext cx="2587232" cy="18335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198336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Casos multiclasses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5780314" y="1784680"/>
                <a:ext cx="6293070" cy="5073320"/>
              </a:xfrm>
            </p:spPr>
            <p:txBody>
              <a:bodyPr>
                <a:normAutofit/>
              </a:bodyPr>
              <a:lstStyle/>
              <a:p>
                <a:r>
                  <a:rPr lang="pt-BR" dirty="0"/>
                  <a:t>Quando </a:t>
                </a:r>
                <a14:m>
                  <m:oMath xmlns:m="http://schemas.openxmlformats.org/officeDocument/2006/math">
                    <m:r>
                      <a:rPr lang="pt-BR" i="1" smtClean="0">
                        <a:latin typeface="Cambria Math" panose="02040503050406030204" pitchFamily="18" charset="0"/>
                      </a:rPr>
                      <m:t>𝑄</m:t>
                    </m:r>
                    <m:r>
                      <a:rPr lang="pt-BR" b="0" i="1" smtClean="0">
                        <a:latin typeface="Cambria Math" panose="02040503050406030204" pitchFamily="18" charset="0"/>
                      </a:rPr>
                      <m:t>&gt;</m:t>
                    </m:r>
                    <m:r>
                      <a:rPr lang="pt-BR" i="1">
                        <a:latin typeface="Cambria Math" panose="02040503050406030204" pitchFamily="18" charset="0"/>
                      </a:rPr>
                      <m:t>2</m:t>
                    </m:r>
                  </m:oMath>
                </a14:m>
                <a:r>
                  <a:rPr lang="pt-BR" dirty="0"/>
                  <a:t>, chamamos o problema de classificação </a:t>
                </a:r>
                <a:r>
                  <a:rPr lang="pt-BR" b="1" dirty="0">
                    <a:solidFill>
                      <a:srgbClr val="00B050"/>
                    </a:solidFill>
                  </a:rPr>
                  <a:t>multiclasses</a:t>
                </a:r>
                <a:r>
                  <a:rPr lang="pt-BR" dirty="0"/>
                  <a:t>.</a:t>
                </a:r>
              </a:p>
              <a:p>
                <a:r>
                  <a:rPr lang="pt-BR" dirty="0"/>
                  <a:t>Podemos resolver estes problemas com o </a:t>
                </a:r>
                <a:r>
                  <a:rPr lang="pt-BR" b="1" dirty="0"/>
                  <a:t>regressor </a:t>
                </a:r>
                <a:r>
                  <a:rPr lang="pt-BR" b="1" i="1" dirty="0"/>
                  <a:t>softmax</a:t>
                </a:r>
                <a:r>
                  <a:rPr lang="pt-BR" dirty="0"/>
                  <a:t>, que é uma generalização do regressor logístico.</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5780314" y="1784680"/>
                <a:ext cx="6293070" cy="5073320"/>
              </a:xfrm>
              <a:blipFill>
                <a:blip r:embed="rId2"/>
                <a:stretch>
                  <a:fillRect l="-1742" t="-2043" r="-678"/>
                </a:stretch>
              </a:blipFill>
            </p:spPr>
            <p:txBody>
              <a:bodyPr/>
              <a:lstStyle/>
              <a:p>
                <a:r>
                  <a:rPr lang="en-US">
                    <a:noFill/>
                  </a:rPr>
                  <a:t> </a:t>
                </a:r>
              </a:p>
            </p:txBody>
          </p:sp>
        </mc:Fallback>
      </mc:AlternateContent>
      <p:pic>
        <p:nvPicPr>
          <p:cNvPr id="7" name="Picture 2" descr="Ana Barros (@anathinker) | Twitter">
            <a:extLst>
              <a:ext uri="{FF2B5EF4-FFF2-40B4-BE49-F238E27FC236}">
                <a16:creationId xmlns:a16="http://schemas.microsoft.com/office/drawing/2014/main" id="{A2D479C7-0684-420F-2CCD-64C3DB79FDA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5470" y="1802867"/>
            <a:ext cx="2541212" cy="1683988"/>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6" descr="Analyzing Text Classification Techniques on Youtube Data">
            <a:extLst>
              <a:ext uri="{FF2B5EF4-FFF2-40B4-BE49-F238E27FC236}">
                <a16:creationId xmlns:a16="http://schemas.microsoft.com/office/drawing/2014/main" id="{A59F8A2C-ACDF-09C7-B528-9064CEF3B848}"/>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1107" t="4114" r="9213" b="4823"/>
          <a:stretch/>
        </p:blipFill>
        <p:spPr bwMode="auto">
          <a:xfrm>
            <a:off x="1199846" y="4635253"/>
            <a:ext cx="3073671" cy="1756383"/>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descr="Sentiment Fig 1">
            <a:extLst>
              <a:ext uri="{FF2B5EF4-FFF2-40B4-BE49-F238E27FC236}">
                <a16:creationId xmlns:a16="http://schemas.microsoft.com/office/drawing/2014/main" id="{E178FF16-CC3F-C34B-6C8B-874BC4FA61A4}"/>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42094" y="2551870"/>
            <a:ext cx="2587232" cy="18335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451724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2D24C2-D54D-FEB5-FDA7-95B90D639CA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4DC8D060-FBEE-2672-1856-348481B4896E}"/>
              </a:ext>
            </a:extLst>
          </p:cNvPr>
          <p:cNvSpPr>
            <a:spLocks noGrp="1"/>
          </p:cNvSpPr>
          <p:nvPr>
            <p:ph idx="1"/>
          </p:nvPr>
        </p:nvSpPr>
        <p:spPr/>
        <p:txBody>
          <a:bodyPr>
            <a:normAutofit/>
          </a:bodyPr>
          <a:lstStyle/>
          <a:p>
            <a:r>
              <a:rPr lang="pt-BR" sz="4400" b="1" dirty="0">
                <a:solidFill>
                  <a:srgbClr val="FF0000"/>
                </a:solidFill>
              </a:rPr>
              <a:t>PAREI AQUI!!!!!!!!!!!!!!!</a:t>
            </a:r>
            <a:endParaRPr lang="en-US" sz="4400" b="1" dirty="0">
              <a:solidFill>
                <a:srgbClr val="FF0000"/>
              </a:solidFill>
            </a:endParaRPr>
          </a:p>
        </p:txBody>
      </p:sp>
    </p:spTree>
    <p:extLst>
      <p:ext uri="{BB962C8B-B14F-4D97-AF65-F5344CB8AC3E}">
        <p14:creationId xmlns:p14="http://schemas.microsoft.com/office/powerpoint/2010/main" val="17938743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022D379-CAA0-9DC9-CDBD-6E0EBE1BFF31}"/>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B68F0D74-8673-A432-A1D7-BDEF7725851A}"/>
                  </a:ext>
                </a:extLst>
              </p:cNvPr>
              <p:cNvSpPr>
                <a:spLocks noGrp="1"/>
              </p:cNvSpPr>
              <p:nvPr>
                <p:ph idx="1"/>
              </p:nvPr>
            </p:nvSpPr>
            <p:spPr>
              <a:xfrm>
                <a:off x="838199" y="1825624"/>
                <a:ext cx="11059391" cy="5032375"/>
              </a:xfrm>
            </p:spPr>
            <p:txBody>
              <a:bodyPr>
                <a:normAutofit/>
              </a:bodyPr>
              <a:lstStyle/>
              <a:p>
                <a:r>
                  <a:rPr lang="pt-BR" dirty="0"/>
                  <a:t>Também conhecida como </a:t>
                </a:r>
                <a:r>
                  <a:rPr lang="pt-BR" b="1" dirty="0"/>
                  <a:t>regressão logística multinomial</a:t>
                </a:r>
                <a:r>
                  <a:rPr lang="pt-BR" dirty="0"/>
                  <a:t>.</a:t>
                </a:r>
              </a:p>
              <a:p>
                <a:pPr lvl="1">
                  <a:buFont typeface="Wingdings" panose="05000000000000000000" pitchFamily="2" charset="2"/>
                  <a:buChar char="§"/>
                </a:pPr>
                <a:r>
                  <a:rPr lang="pt-BR" dirty="0"/>
                  <a:t>Pois suas saídas podem ser interpretadas como as </a:t>
                </a:r>
                <a:r>
                  <a:rPr lang="pt-BR" b="1" dirty="0">
                    <a:solidFill>
                      <a:srgbClr val="00B050"/>
                    </a:solidFill>
                  </a:rPr>
                  <a:t>probabilidades de uma variável categórica </a:t>
                </a:r>
                <a:r>
                  <a:rPr lang="pt-BR" dirty="0"/>
                  <a:t>(as classes) </a:t>
                </a:r>
                <a:r>
                  <a:rPr lang="pt-BR" b="1" dirty="0">
                    <a:solidFill>
                      <a:srgbClr val="00B050"/>
                    </a:solidFill>
                  </a:rPr>
                  <a:t>dado os atributos e pesos.</a:t>
                </a:r>
              </a:p>
              <a:p>
                <a:pPr lvl="1">
                  <a:buFont typeface="Wingdings" panose="05000000000000000000" pitchFamily="2" charset="2"/>
                  <a:buChar char="§"/>
                </a:pPr>
                <a:r>
                  <a:rPr lang="pt-BR" dirty="0"/>
                  <a:t>Ou seja, a regressão </a:t>
                </a:r>
                <a:r>
                  <a:rPr lang="pt-BR" b="1" i="1" dirty="0">
                    <a:solidFill>
                      <a:srgbClr val="00B050"/>
                    </a:solidFill>
                  </a:rPr>
                  <a:t>softmax</a:t>
                </a:r>
                <a:r>
                  <a:rPr lang="pt-BR" b="1" dirty="0">
                    <a:solidFill>
                      <a:srgbClr val="00B050"/>
                    </a:solidFill>
                  </a:rPr>
                  <a:t> estima a probabilidade de um exemplo de entrada pertencer a cada uma das </a:t>
                </a:r>
                <a14:m>
                  <m:oMath xmlns:m="http://schemas.openxmlformats.org/officeDocument/2006/math">
                    <m:r>
                      <a:rPr lang="pt-BR" i="1" smtClean="0">
                        <a:solidFill>
                          <a:srgbClr val="00B050"/>
                        </a:solidFill>
                        <a:latin typeface="Cambria Math" panose="02040503050406030204" pitchFamily="18" charset="0"/>
                      </a:rPr>
                      <m:t>𝑄</m:t>
                    </m:r>
                  </m:oMath>
                </a14:m>
                <a:r>
                  <a:rPr lang="pt-BR" b="1" dirty="0">
                    <a:solidFill>
                      <a:srgbClr val="00B050"/>
                    </a:solidFill>
                  </a:rPr>
                  <a:t> possíveis classes</a:t>
                </a:r>
                <a:r>
                  <a:rPr lang="pt-BR" dirty="0"/>
                  <a:t>.</a:t>
                </a:r>
              </a:p>
              <a:p>
                <a:r>
                  <a:rPr lang="pt-BR" dirty="0"/>
                  <a:t>O regressor tem </a:t>
                </a:r>
                <a14:m>
                  <m:oMath xmlns:m="http://schemas.openxmlformats.org/officeDocument/2006/math">
                    <m:r>
                      <a:rPr lang="pt-BR" b="0" i="1" smtClean="0">
                        <a:latin typeface="Cambria Math" panose="02040503050406030204" pitchFamily="18" charset="0"/>
                      </a:rPr>
                      <m:t>𝑄</m:t>
                    </m:r>
                  </m:oMath>
                </a14:m>
                <a:r>
                  <a:rPr lang="pt-BR" dirty="0"/>
                  <a:t> saídas, onde cada saída representa a </a:t>
                </a:r>
                <a:r>
                  <a:rPr lang="pt-BR" b="1" dirty="0">
                    <a:solidFill>
                      <a:srgbClr val="00B050"/>
                    </a:solidFill>
                  </a:rPr>
                  <a:t>probabilidade</a:t>
                </a:r>
                <a:r>
                  <a:rPr lang="pt-BR" dirty="0"/>
                  <a:t> de um exemplo pertencer a uma das </a:t>
                </a:r>
                <a14:m>
                  <m:oMath xmlns:m="http://schemas.openxmlformats.org/officeDocument/2006/math">
                    <m:r>
                      <a:rPr lang="pt-BR" i="1">
                        <a:latin typeface="Cambria Math" panose="02040503050406030204" pitchFamily="18" charset="0"/>
                      </a:rPr>
                      <m:t>𝑄</m:t>
                    </m:r>
                  </m:oMath>
                </a14:m>
                <a:r>
                  <a:rPr lang="pt-BR" dirty="0"/>
                  <a:t> classes.</a:t>
                </a:r>
              </a:p>
              <a:p>
                <a:pPr lvl="1">
                  <a:buFont typeface="Wingdings" panose="05000000000000000000" pitchFamily="2" charset="2"/>
                  <a:buChar char="§"/>
                </a:pPr>
                <a:r>
                  <a:rPr lang="pt-BR" dirty="0"/>
                  <a:t>Por exemplo, para um problema com 4 classes, teremos um classificador com 4 saídas.</a:t>
                </a:r>
              </a:p>
            </p:txBody>
          </p:sp>
        </mc:Choice>
        <mc:Fallback>
          <p:sp>
            <p:nvSpPr>
              <p:cNvPr id="3" name="Espaço Reservado para Conteúdo 2">
                <a:extLst>
                  <a:ext uri="{FF2B5EF4-FFF2-40B4-BE49-F238E27FC236}">
                    <a16:creationId xmlns:a16="http://schemas.microsoft.com/office/drawing/2014/main" id="{B68F0D74-8673-A432-A1D7-BDEF7725851A}"/>
                  </a:ext>
                </a:extLst>
              </p:cNvPr>
              <p:cNvSpPr>
                <a:spLocks noGrp="1" noRot="1" noChangeAspect="1" noMove="1" noResize="1" noEditPoints="1" noAdjustHandles="1" noChangeArrowheads="1" noChangeShapeType="1" noTextEdit="1"/>
              </p:cNvSpPr>
              <p:nvPr>
                <p:ph idx="1"/>
              </p:nvPr>
            </p:nvSpPr>
            <p:spPr>
              <a:xfrm>
                <a:off x="838199" y="1825624"/>
                <a:ext cx="11059391" cy="5032375"/>
              </a:xfrm>
              <a:blipFill>
                <a:blip r:embed="rId3"/>
                <a:stretch>
                  <a:fillRect l="-937" t="-1937" r="-1433"/>
                </a:stretch>
              </a:blipFill>
            </p:spPr>
            <p:txBody>
              <a:bodyPr/>
              <a:lstStyle/>
              <a:p>
                <a:r>
                  <a:rPr lang="en-US">
                    <a:noFill/>
                  </a:rPr>
                  <a:t> </a:t>
                </a:r>
              </a:p>
            </p:txBody>
          </p:sp>
        </mc:Fallback>
      </mc:AlternateContent>
    </p:spTree>
    <p:extLst>
      <p:ext uri="{BB962C8B-B14F-4D97-AF65-F5344CB8AC3E}">
        <p14:creationId xmlns:p14="http://schemas.microsoft.com/office/powerpoint/2010/main" val="310767353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19F0958-530D-D942-BA01-15C1583DD1E6}"/>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21416F72-28FB-E27C-D129-16A944A87C67}"/>
                  </a:ext>
                </a:extLst>
              </p:cNvPr>
              <p:cNvSpPr>
                <a:spLocks noGrp="1"/>
              </p:cNvSpPr>
              <p:nvPr>
                <p:ph idx="1"/>
              </p:nvPr>
            </p:nvSpPr>
            <p:spPr>
              <a:xfrm>
                <a:off x="838199" y="1825624"/>
                <a:ext cx="11132127" cy="5032375"/>
              </a:xfrm>
            </p:spPr>
            <p:txBody>
              <a:bodyPr/>
              <a:lstStyle/>
              <a:p>
                <a:r>
                  <a:rPr lang="pt-BR" dirty="0"/>
                  <a:t>Ele prediz </a:t>
                </a:r>
                <a:r>
                  <a:rPr lang="pt-BR" b="1" dirty="0"/>
                  <a:t>apenas </a:t>
                </a:r>
                <a:r>
                  <a:rPr lang="pt-BR" b="1" dirty="0">
                    <a:solidFill>
                      <a:srgbClr val="FF0000"/>
                    </a:solidFill>
                  </a:rPr>
                  <a:t>uma</a:t>
                </a:r>
                <a:r>
                  <a:rPr lang="pt-BR" b="1" dirty="0"/>
                  <a:t> classe por classificação</a:t>
                </a:r>
                <a:r>
                  <a:rPr lang="pt-BR" dirty="0"/>
                  <a:t>, portanto, ele deve ser usado apenas com </a:t>
                </a:r>
                <a:r>
                  <a:rPr lang="pt-BR" b="1" dirty="0"/>
                  <a:t>classes mutuamente exclusivas </a:t>
                </a:r>
                <a:r>
                  <a:rPr lang="pt-BR" dirty="0"/>
                  <a:t>como, por exemplo, diferentes tipos de plantas, dígitos, carros, etc.</a:t>
                </a:r>
              </a:p>
              <a:p>
                <a:pPr lvl="1">
                  <a:buFont typeface="Wingdings" panose="05000000000000000000" pitchFamily="2" charset="2"/>
                  <a:buChar char="§"/>
                </a:pPr>
                <a:r>
                  <a:rPr lang="pt-BR" b="1" dirty="0"/>
                  <a:t>Classes mutuamente exclusivas</a:t>
                </a:r>
                <a:r>
                  <a:rPr lang="pt-BR" dirty="0"/>
                  <a:t>: caso onde os exemplos pertencem a apenas uma das </a:t>
                </a:r>
                <a14:m>
                  <m:oMath xmlns:m="http://schemas.openxmlformats.org/officeDocument/2006/math">
                    <m:r>
                      <a:rPr lang="pt-BR" i="1">
                        <a:latin typeface="Cambria Math" panose="02040503050406030204" pitchFamily="18" charset="0"/>
                      </a:rPr>
                      <m:t>𝑄</m:t>
                    </m:r>
                  </m:oMath>
                </a14:m>
                <a:r>
                  <a:rPr lang="pt-BR" dirty="0"/>
                  <a:t> classes.</a:t>
                </a:r>
              </a:p>
              <a:p>
                <a:pPr lvl="1">
                  <a:buFont typeface="Wingdings" panose="05000000000000000000" pitchFamily="2" charset="2"/>
                  <a:buChar char="§"/>
                </a:pPr>
                <a:r>
                  <a:rPr lang="pt-BR" dirty="0"/>
                  <a:t>Já notícias, músicas e imagens, por exemplo, podem pertencer a várias ou conter várias classes ao mesmo tempo.</a:t>
                </a:r>
              </a:p>
              <a:p>
                <a:r>
                  <a:rPr lang="pt-BR" dirty="0"/>
                  <a:t>O </a:t>
                </a:r>
                <a:r>
                  <a:rPr lang="pt-BR" b="1" dirty="0"/>
                  <a:t>regressor </a:t>
                </a:r>
                <a:r>
                  <a:rPr lang="pt-BR" b="1" i="1" dirty="0"/>
                  <a:t>softmax</a:t>
                </a:r>
                <a:r>
                  <a:rPr lang="pt-BR" b="1" dirty="0"/>
                  <a:t> </a:t>
                </a:r>
                <a:r>
                  <a:rPr lang="pt-BR" b="1" dirty="0">
                    <a:solidFill>
                      <a:srgbClr val="00B050"/>
                    </a:solidFill>
                  </a:rPr>
                  <a:t>possui uma função hipótese de classificação</a:t>
                </a:r>
                <a:r>
                  <a:rPr lang="pt-BR" dirty="0"/>
                  <a:t>, </a:t>
                </a:r>
                <a14:m>
                  <m:oMath xmlns:m="http://schemas.openxmlformats.org/officeDocument/2006/math">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e>
                    </m:d>
                  </m:oMath>
                </a14:m>
                <a:r>
                  <a:rPr lang="pt-BR" dirty="0"/>
                  <a:t>, e, consequentemente, </a:t>
                </a:r>
                <a:r>
                  <a:rPr lang="pt-BR" b="1" dirty="0">
                    <a:solidFill>
                      <a:srgbClr val="00B050"/>
                    </a:solidFill>
                  </a:rPr>
                  <a:t>uma função discriminante</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r>
                      <a:rPr lang="pt-BR" b="1" i="1">
                        <a:latin typeface="Cambria Math" panose="02040503050406030204" pitchFamily="18" charset="0"/>
                      </a:rPr>
                      <m:t>)</m:t>
                    </m:r>
                  </m:oMath>
                </a14:m>
                <a:r>
                  <a:rPr lang="pt-BR" dirty="0"/>
                  <a:t>, </a:t>
                </a:r>
                <a:r>
                  <a:rPr lang="pt-BR" b="1" dirty="0">
                    <a:solidFill>
                      <a:srgbClr val="00B050"/>
                    </a:solidFill>
                  </a:rPr>
                  <a:t>para cada classe </a:t>
                </a:r>
                <a14:m>
                  <m:oMath xmlns:m="http://schemas.openxmlformats.org/officeDocument/2006/math">
                    <m:r>
                      <a:rPr lang="pt-BR" i="1">
                        <a:latin typeface="Cambria Math" panose="02040503050406030204" pitchFamily="18" charset="0"/>
                      </a:rPr>
                      <m:t>𝑞</m:t>
                    </m:r>
                  </m:oMath>
                </a14:m>
                <a:r>
                  <a:rPr lang="pt-BR" dirty="0"/>
                  <a:t>.</a:t>
                </a:r>
              </a:p>
              <a:p>
                <a:pPr lvl="1">
                  <a:buFont typeface="Wingdings" panose="05000000000000000000" pitchFamily="2" charset="2"/>
                  <a:buChar char="§"/>
                </a:pPr>
                <a:r>
                  <a:rPr lang="pt-BR" dirty="0"/>
                  <a:t>Se temos 3 classes, teremos 3 funções discriminantes,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r>
                      <a:rPr lang="pt-BR" b="1" i="1">
                        <a:latin typeface="Cambria Math" panose="02040503050406030204" pitchFamily="18" charset="0"/>
                      </a:rPr>
                      <m:t>)</m:t>
                    </m:r>
                  </m:oMath>
                </a14:m>
                <a:r>
                  <a:rPr lang="pt-BR" dirty="0"/>
                  <a:t>.</a:t>
                </a:r>
              </a:p>
            </p:txBody>
          </p:sp>
        </mc:Choice>
        <mc:Fallback>
          <p:sp>
            <p:nvSpPr>
              <p:cNvPr id="3" name="Espaço Reservado para Conteúdo 2">
                <a:extLst>
                  <a:ext uri="{FF2B5EF4-FFF2-40B4-BE49-F238E27FC236}">
                    <a16:creationId xmlns:a16="http://schemas.microsoft.com/office/drawing/2014/main" id="{21416F72-28FB-E27C-D129-16A944A87C67}"/>
                  </a:ext>
                </a:extLst>
              </p:cNvPr>
              <p:cNvSpPr>
                <a:spLocks noGrp="1" noRot="1" noChangeAspect="1" noMove="1" noResize="1" noEditPoints="1" noAdjustHandles="1" noChangeArrowheads="1" noChangeShapeType="1" noTextEdit="1"/>
              </p:cNvSpPr>
              <p:nvPr>
                <p:ph idx="1"/>
              </p:nvPr>
            </p:nvSpPr>
            <p:spPr>
              <a:xfrm>
                <a:off x="838199" y="1825624"/>
                <a:ext cx="11132127" cy="5032375"/>
              </a:xfrm>
              <a:blipFill>
                <a:blip r:embed="rId3"/>
                <a:stretch>
                  <a:fillRect l="-930" t="-1937" r="-493"/>
                </a:stretch>
              </a:blipFill>
            </p:spPr>
            <p:txBody>
              <a:bodyPr/>
              <a:lstStyle/>
              <a:p>
                <a:r>
                  <a:rPr lang="en-US">
                    <a:noFill/>
                  </a:rPr>
                  <a:t> </a:t>
                </a:r>
              </a:p>
            </p:txBody>
          </p:sp>
        </mc:Fallback>
      </mc:AlternateContent>
    </p:spTree>
    <p:extLst>
      <p:ext uri="{BB962C8B-B14F-4D97-AF65-F5344CB8AC3E}">
        <p14:creationId xmlns:p14="http://schemas.microsoft.com/office/powerpoint/2010/main" val="36439784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CD47F25-5DD1-794E-8733-BFD771A2DE49}"/>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D79BB7DC-99E7-8958-EC77-566B7E3C2BBB}"/>
                  </a:ext>
                </a:extLst>
              </p:cNvPr>
              <p:cNvSpPr>
                <a:spLocks noGrp="1"/>
              </p:cNvSpPr>
              <p:nvPr>
                <p:ph idx="1"/>
              </p:nvPr>
            </p:nvSpPr>
            <p:spPr>
              <a:xfrm>
                <a:off x="838200" y="1825624"/>
                <a:ext cx="11080174" cy="5032375"/>
              </a:xfrm>
            </p:spPr>
            <p:txBody>
              <a:bodyPr/>
              <a:lstStyle/>
              <a:p>
                <a:r>
                  <a:rPr lang="pt-BR" dirty="0"/>
                  <a:t>A </a:t>
                </a:r>
                <a:r>
                  <a:rPr lang="pt-BR" b="1" dirty="0"/>
                  <a:t>função hipótese de classificação</a:t>
                </a:r>
                <a:r>
                  <a:rPr lang="pt-BR" b="1" i="1" dirty="0"/>
                  <a:t> </a:t>
                </a:r>
                <a:r>
                  <a:rPr lang="pt-BR" dirty="0"/>
                  <a:t>associada à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classe,</a:t>
                </a:r>
                <a:r>
                  <a:rPr lang="pt-BR" b="1" i="1" dirty="0"/>
                  <a:t> </a:t>
                </a:r>
                <a14:m>
                  <m:oMath xmlns:m="http://schemas.openxmlformats.org/officeDocument/2006/math">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e>
                    </m:d>
                    <m:r>
                      <a:rPr lang="pt-BR" b="1" i="1">
                        <a:latin typeface="Cambria Math" panose="02040503050406030204" pitchFamily="18" charset="0"/>
                      </a:rPr>
                      <m:t>,</m:t>
                    </m:r>
                  </m:oMath>
                </a14:m>
                <a:r>
                  <a:rPr lang="pt-BR" dirty="0"/>
                  <a:t> é obtida passando-se a </a:t>
                </a:r>
                <a:r>
                  <a:rPr lang="pt-BR" b="1" dirty="0"/>
                  <a:t>função discriminante </a:t>
                </a:r>
                <a:r>
                  <a:rPr lang="pt-BR" dirty="0"/>
                  <a:t>da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classe,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r>
                      <a:rPr lang="pt-BR" b="1" i="1">
                        <a:latin typeface="Cambria Math" panose="02040503050406030204" pitchFamily="18" charset="0"/>
                      </a:rPr>
                      <m:t>)</m:t>
                    </m:r>
                  </m:oMath>
                </a14:m>
                <a:r>
                  <a:rPr lang="pt-BR" dirty="0"/>
                  <a:t>, através da </a:t>
                </a:r>
                <a:r>
                  <a:rPr lang="pt-BR" b="1" dirty="0">
                    <a:solidFill>
                      <a:srgbClr val="7030A0"/>
                    </a:solidFill>
                  </a:rPr>
                  <a:t>função (de ativação) </a:t>
                </a:r>
                <a:r>
                  <a:rPr lang="pt-BR" b="1" i="1" dirty="0">
                    <a:solidFill>
                      <a:srgbClr val="7030A0"/>
                    </a:solidFill>
                  </a:rPr>
                  <a:t>softmax</a:t>
                </a:r>
                <a:r>
                  <a:rPr lang="pt-BR" dirty="0"/>
                  <a:t>,</a:t>
                </a:r>
              </a:p>
              <a:p>
                <a:pPr marL="0" indent="0" algn="ctr">
                  <a:buNone/>
                </a:pPr>
                <a14:m>
                  <m:oMathPara xmlns:m="http://schemas.openxmlformats.org/officeDocument/2006/math">
                    <m:oMathParaPr>
                      <m:jc m:val="centerGroup"/>
                    </m:oMathParaPr>
                    <m:oMath xmlns:m="http://schemas.openxmlformats.org/officeDocument/2006/math">
                      <m:r>
                        <a:rPr lang="pt-BR" sz="2400" i="1">
                          <a:latin typeface="Cambria Math" panose="02040503050406030204" pitchFamily="18" charset="0"/>
                        </a:rPr>
                        <m:t>𝑃</m:t>
                      </m:r>
                      <m:d>
                        <m:dPr>
                          <m:ctrlPr>
                            <a:rPr lang="pt-BR" sz="2400" i="1">
                              <a:latin typeface="Cambria Math" panose="02040503050406030204" pitchFamily="18" charset="0"/>
                            </a:rPr>
                          </m:ctrlPr>
                        </m:dPr>
                        <m:e>
                          <m:sSub>
                            <m:sSubPr>
                              <m:ctrlPr>
                                <a:rPr lang="pt-BR" sz="2400" i="1">
                                  <a:latin typeface="Cambria Math" panose="02040503050406030204" pitchFamily="18" charset="0"/>
                                </a:rPr>
                              </m:ctrlPr>
                            </m:sSubPr>
                            <m:e>
                              <m:r>
                                <a:rPr lang="pt-BR" sz="2400" i="1">
                                  <a:latin typeface="Cambria Math" panose="02040503050406030204" pitchFamily="18" charset="0"/>
                                </a:rPr>
                                <m:t>𝐶</m:t>
                              </m:r>
                            </m:e>
                            <m:sub>
                              <m:r>
                                <a:rPr lang="pt-BR" sz="2400" i="1">
                                  <a:latin typeface="Cambria Math" panose="02040503050406030204" pitchFamily="18" charset="0"/>
                                </a:rPr>
                                <m:t>𝑞</m:t>
                              </m:r>
                            </m:sub>
                          </m:sSub>
                          <m:r>
                            <a:rPr lang="pt-BR" sz="2400" b="0" i="1" smtClean="0">
                              <a:latin typeface="Cambria Math" panose="02040503050406030204" pitchFamily="18" charset="0"/>
                            </a:rPr>
                            <m:t> </m:t>
                          </m:r>
                          <m:r>
                            <a:rPr lang="pt-BR" sz="2400" i="1">
                              <a:latin typeface="Cambria Math" panose="02040503050406030204" pitchFamily="18" charset="0"/>
                            </a:rPr>
                            <m:t>|</m:t>
                          </m:r>
                          <m:r>
                            <a:rPr lang="pt-BR" sz="2400" b="0" i="1" smtClean="0">
                              <a:latin typeface="Cambria Math" panose="02040503050406030204" pitchFamily="18" charset="0"/>
                            </a:rPr>
                            <m:t> </m:t>
                          </m:r>
                          <m:r>
                            <a:rPr lang="pt-BR" sz="2400" b="1" i="1">
                              <a:latin typeface="Cambria Math" panose="02040503050406030204" pitchFamily="18" charset="0"/>
                            </a:rPr>
                            <m:t>𝒙</m:t>
                          </m:r>
                          <m:d>
                            <m:dPr>
                              <m:ctrlPr>
                                <a:rPr lang="pt-BR" sz="2400" b="1" i="1">
                                  <a:latin typeface="Cambria Math" panose="02040503050406030204" pitchFamily="18" charset="0"/>
                                </a:rPr>
                              </m:ctrlPr>
                            </m:dPr>
                            <m:e>
                              <m:r>
                                <a:rPr lang="pt-BR" sz="2400" i="1">
                                  <a:latin typeface="Cambria Math" panose="02040503050406030204" pitchFamily="18" charset="0"/>
                                </a:rPr>
                                <m:t>𝑖</m:t>
                              </m:r>
                            </m:e>
                          </m:d>
                          <m:r>
                            <a:rPr lang="pt-BR" sz="2400" b="0" i="1" smtClean="0">
                              <a:latin typeface="Cambria Math" panose="02040503050406030204" pitchFamily="18" charset="0"/>
                            </a:rPr>
                            <m:t>,</m:t>
                          </m:r>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b="0" i="1" smtClean="0">
                                  <a:latin typeface="Cambria Math" panose="02040503050406030204" pitchFamily="18" charset="0"/>
                                </a:rPr>
                                <m:t>𝑞</m:t>
                              </m:r>
                            </m:sub>
                          </m:sSub>
                        </m:e>
                      </m:d>
                      <m:r>
                        <a:rPr lang="pt-BR" sz="2400" i="1">
                          <a:latin typeface="Cambria Math" panose="02040503050406030204" pitchFamily="18" charset="0"/>
                        </a:rPr>
                        <m:t>=</m:t>
                      </m:r>
                      <m:sSubSup>
                        <m:sSubSupPr>
                          <m:ctrlPr>
                            <a:rPr lang="pt-BR" sz="2400" b="1" i="1">
                              <a:latin typeface="Cambria Math" panose="02040503050406030204" pitchFamily="18" charset="0"/>
                            </a:rPr>
                          </m:ctrlPr>
                        </m:sSubSupPr>
                        <m:e>
                          <m:r>
                            <a:rPr lang="pt-BR" sz="2400" i="1">
                              <a:latin typeface="Cambria Math" panose="02040503050406030204" pitchFamily="18" charset="0"/>
                            </a:rPr>
                            <m:t>h</m:t>
                          </m:r>
                        </m:e>
                        <m:sub>
                          <m:r>
                            <a:rPr lang="pt-BR" sz="2400" b="1" i="1">
                              <a:latin typeface="Cambria Math" panose="02040503050406030204" pitchFamily="18" charset="0"/>
                            </a:rPr>
                            <m:t>𝒂</m:t>
                          </m:r>
                        </m:sub>
                        <m:sup>
                          <m:r>
                            <a:rPr lang="pt-BR" sz="2400" i="1">
                              <a:latin typeface="Cambria Math" panose="02040503050406030204" pitchFamily="18" charset="0"/>
                            </a:rPr>
                            <m:t>𝑞</m:t>
                          </m:r>
                        </m:sup>
                      </m:sSubSup>
                      <m:d>
                        <m:dPr>
                          <m:ctrlPr>
                            <a:rPr lang="pt-BR" sz="2400" i="1">
                              <a:latin typeface="Cambria Math" panose="02040503050406030204" pitchFamily="18" charset="0"/>
                            </a:rPr>
                          </m:ctrlPr>
                        </m:dPr>
                        <m:e>
                          <m:r>
                            <a:rPr lang="pt-BR" sz="2400" b="1" i="1">
                              <a:latin typeface="Cambria Math" panose="02040503050406030204" pitchFamily="18" charset="0"/>
                            </a:rPr>
                            <m:t>𝒙</m:t>
                          </m:r>
                          <m:d>
                            <m:dPr>
                              <m:ctrlPr>
                                <a:rPr lang="pt-BR" sz="2400" b="1" i="1">
                                  <a:latin typeface="Cambria Math" panose="02040503050406030204" pitchFamily="18" charset="0"/>
                                </a:rPr>
                              </m:ctrlPr>
                            </m:dPr>
                            <m:e>
                              <m:r>
                                <a:rPr lang="pt-BR" sz="2400" i="1">
                                  <a:latin typeface="Cambria Math" panose="02040503050406030204" pitchFamily="18" charset="0"/>
                                </a:rPr>
                                <m:t>𝑖</m:t>
                              </m:r>
                            </m:e>
                          </m:d>
                        </m:e>
                      </m:d>
                      <m:r>
                        <a:rPr lang="pt-BR" sz="2400" b="1" i="1">
                          <a:latin typeface="Cambria Math" panose="02040503050406030204" pitchFamily="18" charset="0"/>
                        </a:rPr>
                        <m:t>=</m:t>
                      </m:r>
                      <m:f>
                        <m:fPr>
                          <m:ctrlPr>
                            <a:rPr lang="pt-BR" sz="2400" b="1" i="1">
                              <a:latin typeface="Cambria Math" panose="02040503050406030204" pitchFamily="18" charset="0"/>
                            </a:rPr>
                          </m:ctrlPr>
                        </m:fPr>
                        <m:num>
                          <m:sSup>
                            <m:sSupPr>
                              <m:ctrlPr>
                                <a:rPr lang="pt-BR" sz="2400" b="1" i="1">
                                  <a:latin typeface="Cambria Math" panose="02040503050406030204" pitchFamily="18" charset="0"/>
                                </a:rPr>
                              </m:ctrlPr>
                            </m:sSupPr>
                            <m:e>
                              <m:r>
                                <a:rPr lang="pt-BR" sz="2400" i="1">
                                  <a:latin typeface="Cambria Math" panose="02040503050406030204" pitchFamily="18" charset="0"/>
                                </a:rPr>
                                <m:t>𝑒</m:t>
                              </m:r>
                            </m:e>
                            <m:sup>
                              <m:sSub>
                                <m:sSubPr>
                                  <m:ctrlPr>
                                    <a:rPr lang="pt-BR" sz="2400" i="1">
                                      <a:latin typeface="Cambria Math" panose="02040503050406030204" pitchFamily="18" charset="0"/>
                                    </a:rPr>
                                  </m:ctrlPr>
                                </m:sSubPr>
                                <m:e>
                                  <m:r>
                                    <a:rPr lang="pt-BR" sz="2400" i="1">
                                      <a:latin typeface="Cambria Math" panose="02040503050406030204" pitchFamily="18" charset="0"/>
                                    </a:rPr>
                                    <m:t>𝑔</m:t>
                                  </m:r>
                                </m:e>
                                <m:sub>
                                  <m:r>
                                    <a:rPr lang="pt-BR" sz="2400" i="1">
                                      <a:latin typeface="Cambria Math" panose="02040503050406030204" pitchFamily="18" charset="0"/>
                                    </a:rPr>
                                    <m:t>𝑞</m:t>
                                  </m:r>
                                </m:sub>
                              </m:sSub>
                              <m:r>
                                <a:rPr lang="pt-BR" sz="2400" b="1" i="1">
                                  <a:latin typeface="Cambria Math" panose="02040503050406030204" pitchFamily="18" charset="0"/>
                                </a:rPr>
                                <m:t>(</m:t>
                              </m:r>
                              <m:r>
                                <a:rPr lang="pt-BR" sz="2400" b="1" i="1">
                                  <a:latin typeface="Cambria Math" panose="02040503050406030204" pitchFamily="18" charset="0"/>
                                </a:rPr>
                                <m:t>𝒙</m:t>
                              </m:r>
                              <m:r>
                                <a:rPr lang="pt-BR" sz="2400" i="1">
                                  <a:latin typeface="Cambria Math" panose="02040503050406030204" pitchFamily="18" charset="0"/>
                                </a:rPr>
                                <m:t>(</m:t>
                              </m:r>
                              <m:r>
                                <a:rPr lang="pt-BR" sz="2400" i="1">
                                  <a:latin typeface="Cambria Math" panose="02040503050406030204" pitchFamily="18" charset="0"/>
                                </a:rPr>
                                <m:t>𝑖</m:t>
                              </m:r>
                              <m:r>
                                <a:rPr lang="pt-BR" sz="2400" i="1">
                                  <a:latin typeface="Cambria Math" panose="02040503050406030204" pitchFamily="18" charset="0"/>
                                </a:rPr>
                                <m:t>)</m:t>
                              </m:r>
                              <m:r>
                                <a:rPr lang="pt-BR" sz="2400" b="1" i="1">
                                  <a:latin typeface="Cambria Math" panose="02040503050406030204" pitchFamily="18" charset="0"/>
                                </a:rPr>
                                <m:t>)</m:t>
                              </m:r>
                            </m:sup>
                          </m:sSup>
                        </m:num>
                        <m:den>
                          <m:nary>
                            <m:naryPr>
                              <m:chr m:val="∑"/>
                              <m:ctrlPr>
                                <a:rPr lang="pt-BR" sz="2400" b="1" i="1">
                                  <a:latin typeface="Cambria Math" panose="02040503050406030204" pitchFamily="18" charset="0"/>
                                </a:rPr>
                              </m:ctrlPr>
                            </m:naryPr>
                            <m:sub>
                              <m:r>
                                <a:rPr lang="pt-BR" sz="2400" i="1">
                                  <a:latin typeface="Cambria Math" panose="02040503050406030204" pitchFamily="18" charset="0"/>
                                </a:rPr>
                                <m:t>𝑗</m:t>
                              </m:r>
                              <m:r>
                                <a:rPr lang="pt-BR" sz="2400" i="1">
                                  <a:latin typeface="Cambria Math" panose="02040503050406030204" pitchFamily="18" charset="0"/>
                                </a:rPr>
                                <m:t>=0</m:t>
                              </m:r>
                            </m:sub>
                            <m:sup>
                              <m:r>
                                <a:rPr lang="pt-BR" sz="2400" i="1">
                                  <a:latin typeface="Cambria Math" panose="02040503050406030204" pitchFamily="18" charset="0"/>
                                </a:rPr>
                                <m:t>𝑄</m:t>
                              </m:r>
                              <m:r>
                                <a:rPr lang="pt-BR" sz="2400" b="0" i="1" smtClean="0">
                                  <a:latin typeface="Cambria Math" panose="02040503050406030204" pitchFamily="18" charset="0"/>
                                </a:rPr>
                                <m:t>−1</m:t>
                              </m:r>
                            </m:sup>
                            <m:e>
                              <m:sSup>
                                <m:sSupPr>
                                  <m:ctrlPr>
                                    <a:rPr lang="pt-BR" sz="2400" b="1" i="1">
                                      <a:latin typeface="Cambria Math" panose="02040503050406030204" pitchFamily="18" charset="0"/>
                                    </a:rPr>
                                  </m:ctrlPr>
                                </m:sSupPr>
                                <m:e>
                                  <m:r>
                                    <a:rPr lang="pt-BR" sz="2400" i="1">
                                      <a:latin typeface="Cambria Math" panose="02040503050406030204" pitchFamily="18" charset="0"/>
                                    </a:rPr>
                                    <m:t>𝑒</m:t>
                                  </m:r>
                                </m:e>
                                <m:sup>
                                  <m:sSub>
                                    <m:sSubPr>
                                      <m:ctrlPr>
                                        <a:rPr lang="pt-BR" sz="2400" i="1">
                                          <a:latin typeface="Cambria Math" panose="02040503050406030204" pitchFamily="18" charset="0"/>
                                        </a:rPr>
                                      </m:ctrlPr>
                                    </m:sSubPr>
                                    <m:e>
                                      <m:r>
                                        <a:rPr lang="pt-BR" sz="2400" i="1">
                                          <a:latin typeface="Cambria Math" panose="02040503050406030204" pitchFamily="18" charset="0"/>
                                        </a:rPr>
                                        <m:t>𝑔</m:t>
                                      </m:r>
                                    </m:e>
                                    <m:sub>
                                      <m:r>
                                        <a:rPr lang="pt-BR" sz="2400" i="1">
                                          <a:latin typeface="Cambria Math" panose="02040503050406030204" pitchFamily="18" charset="0"/>
                                        </a:rPr>
                                        <m:t>𝑗</m:t>
                                      </m:r>
                                    </m:sub>
                                  </m:sSub>
                                  <m:r>
                                    <a:rPr lang="pt-BR" sz="2400" b="1" i="1">
                                      <a:latin typeface="Cambria Math" panose="02040503050406030204" pitchFamily="18" charset="0"/>
                                    </a:rPr>
                                    <m:t>(</m:t>
                                  </m:r>
                                  <m:r>
                                    <a:rPr lang="pt-BR" sz="2400" b="1" i="1">
                                      <a:latin typeface="Cambria Math" panose="02040503050406030204" pitchFamily="18" charset="0"/>
                                    </a:rPr>
                                    <m:t>𝒙</m:t>
                                  </m:r>
                                  <m:r>
                                    <a:rPr lang="pt-BR" sz="2400" i="1">
                                      <a:latin typeface="Cambria Math" panose="02040503050406030204" pitchFamily="18" charset="0"/>
                                    </a:rPr>
                                    <m:t>(</m:t>
                                  </m:r>
                                  <m:r>
                                    <a:rPr lang="pt-BR" sz="2400" i="1">
                                      <a:latin typeface="Cambria Math" panose="02040503050406030204" pitchFamily="18" charset="0"/>
                                    </a:rPr>
                                    <m:t>𝑖</m:t>
                                  </m:r>
                                  <m:r>
                                    <a:rPr lang="pt-BR" sz="2400" i="1">
                                      <a:latin typeface="Cambria Math" panose="02040503050406030204" pitchFamily="18" charset="0"/>
                                    </a:rPr>
                                    <m:t>)</m:t>
                                  </m:r>
                                  <m:r>
                                    <a:rPr lang="pt-BR" sz="2400" b="1" i="1">
                                      <a:latin typeface="Cambria Math" panose="02040503050406030204" pitchFamily="18" charset="0"/>
                                    </a:rPr>
                                    <m:t>)</m:t>
                                  </m:r>
                                </m:sup>
                              </m:sSup>
                            </m:e>
                          </m:nary>
                        </m:den>
                      </m:f>
                      <m:r>
                        <a:rPr lang="pt-BR" sz="2400" b="1" i="1">
                          <a:latin typeface="Cambria Math" panose="02040503050406030204" pitchFamily="18" charset="0"/>
                          <a:ea typeface="Cambria Math" panose="02040503050406030204" pitchFamily="18" charset="0"/>
                        </a:rPr>
                        <m:t>∈</m:t>
                      </m:r>
                      <m:r>
                        <a:rPr lang="pt-BR" sz="2400" b="1" i="1">
                          <a:latin typeface="Cambria Math" panose="02040503050406030204" pitchFamily="18" charset="0"/>
                          <a:ea typeface="Cambria Math" panose="02040503050406030204" pitchFamily="18" charset="0"/>
                        </a:rPr>
                        <m:t>ℝ</m:t>
                      </m:r>
                      <m:r>
                        <a:rPr lang="pt-BR" sz="2400" b="1" i="1">
                          <a:latin typeface="Cambria Math" panose="02040503050406030204" pitchFamily="18" charset="0"/>
                          <a:ea typeface="Cambria Math" panose="02040503050406030204" pitchFamily="18" charset="0"/>
                        </a:rPr>
                        <m:t> </m:t>
                      </m:r>
                      <m:d>
                        <m:dPr>
                          <m:begChr m:val="["/>
                          <m:endChr m:val="]"/>
                          <m:ctrlPr>
                            <a:rPr lang="pt-BR" sz="2400" b="1" i="1">
                              <a:latin typeface="Cambria Math" panose="02040503050406030204" pitchFamily="18" charset="0"/>
                              <a:ea typeface="Cambria Math" panose="02040503050406030204" pitchFamily="18" charset="0"/>
                            </a:rPr>
                          </m:ctrlPr>
                        </m:dPr>
                        <m:e>
                          <m:r>
                            <a:rPr lang="pt-BR" sz="2400">
                              <a:latin typeface="Cambria Math" panose="02040503050406030204" pitchFamily="18" charset="0"/>
                            </a:rPr>
                            <m:t>0,</m:t>
                          </m:r>
                          <m:r>
                            <a:rPr lang="pt-BR" sz="2400" b="0" i="0" smtClean="0">
                              <a:latin typeface="Cambria Math" panose="02040503050406030204" pitchFamily="18" charset="0"/>
                            </a:rPr>
                            <m:t> </m:t>
                          </m:r>
                          <m:r>
                            <a:rPr lang="pt-BR" sz="2400">
                              <a:latin typeface="Cambria Math" panose="02040503050406030204" pitchFamily="18" charset="0"/>
                            </a:rPr>
                            <m:t>1</m:t>
                          </m:r>
                        </m:e>
                      </m:d>
                      <m:r>
                        <a:rPr lang="pt-BR" sz="2400" b="1" i="1" smtClean="0">
                          <a:latin typeface="Cambria Math" panose="02040503050406030204" pitchFamily="18" charset="0"/>
                        </a:rPr>
                        <m:t>,</m:t>
                      </m:r>
                    </m:oMath>
                  </m:oMathPara>
                </a14:m>
                <a:endParaRPr lang="pt-BR" sz="2400" i="1" dirty="0"/>
              </a:p>
              <a:p>
                <a:pPr marL="0" indent="0">
                  <a:buNone/>
                </a:pPr>
                <a:r>
                  <a:rPr lang="pt-BR" dirty="0"/>
                  <a:t>onde</a:t>
                </a:r>
                <a:r>
                  <a:rPr lang="pt-BR" i="1" dirty="0"/>
                  <a:t>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r>
                      <a:rPr lang="pt-BR" b="1" i="1">
                        <a:latin typeface="Cambria Math" panose="02040503050406030204" pitchFamily="18" charset="0"/>
                      </a:rPr>
                      <m:t>=</m:t>
                    </m:r>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Sup>
                                    <m:sSubSupPr>
                                      <m:ctrlPr>
                                        <a:rPr lang="pt-BR" i="1">
                                          <a:latin typeface="Cambria Math" panose="02040503050406030204" pitchFamily="18" charset="0"/>
                                        </a:rPr>
                                      </m:ctrlPr>
                                    </m:sSubSupPr>
                                    <m:e>
                                      <m:r>
                                        <a:rPr lang="pt-BR" i="1">
                                          <a:latin typeface="Cambria Math" panose="02040503050406030204" pitchFamily="18" charset="0"/>
                                        </a:rPr>
                                        <m:t>𝑎</m:t>
                                      </m:r>
                                    </m:e>
                                    <m:sub>
                                      <m:r>
                                        <a:rPr lang="pt-BR" i="1">
                                          <a:latin typeface="Cambria Math" panose="02040503050406030204" pitchFamily="18" charset="0"/>
                                        </a:rPr>
                                        <m:t>0</m:t>
                                      </m:r>
                                    </m:sub>
                                    <m:sup>
                                      <m:r>
                                        <a:rPr lang="pt-BR" i="1">
                                          <a:latin typeface="Cambria Math" panose="02040503050406030204" pitchFamily="18" charset="0"/>
                                        </a:rPr>
                                        <m:t>𝑞</m:t>
                                      </m:r>
                                    </m:sup>
                                  </m:sSubSup>
                                </m:e>
                                <m:e>
                                  <m:sSubSup>
                                    <m:sSubSupPr>
                                      <m:ctrlPr>
                                        <a:rPr lang="pt-BR" i="1">
                                          <a:latin typeface="Cambria Math" panose="02040503050406030204" pitchFamily="18" charset="0"/>
                                        </a:rPr>
                                      </m:ctrlPr>
                                    </m:sSubSupPr>
                                    <m:e>
                                      <m:r>
                                        <a:rPr lang="pt-BR" i="1">
                                          <a:latin typeface="Cambria Math" panose="02040503050406030204" pitchFamily="18" charset="0"/>
                                        </a:rPr>
                                        <m:t>𝑎</m:t>
                                      </m:r>
                                    </m:e>
                                    <m:sub>
                                      <m:r>
                                        <a:rPr lang="pt-BR" i="1">
                                          <a:latin typeface="Cambria Math" panose="02040503050406030204" pitchFamily="18" charset="0"/>
                                        </a:rPr>
                                        <m:t>1</m:t>
                                      </m:r>
                                    </m:sub>
                                    <m:sup>
                                      <m:r>
                                        <a:rPr lang="pt-BR" i="1">
                                          <a:latin typeface="Cambria Math" panose="02040503050406030204" pitchFamily="18" charset="0"/>
                                        </a:rPr>
                                        <m:t>𝑞</m:t>
                                      </m:r>
                                    </m:sup>
                                  </m:sSubSup>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Sup>
                                          <m:sSubSupPr>
                                            <m:ctrlPr>
                                              <a:rPr lang="pt-BR" i="1">
                                                <a:latin typeface="Cambria Math" panose="02040503050406030204" pitchFamily="18" charset="0"/>
                                              </a:rPr>
                                            </m:ctrlPr>
                                          </m:sSubSupPr>
                                          <m:e>
                                            <m:r>
                                              <a:rPr lang="pt-BR" i="1">
                                                <a:latin typeface="Cambria Math" panose="02040503050406030204" pitchFamily="18" charset="0"/>
                                              </a:rPr>
                                              <m:t>𝑎</m:t>
                                            </m:r>
                                          </m:e>
                                          <m:sub>
                                            <m:r>
                                              <a:rPr lang="pt-BR" i="1">
                                                <a:latin typeface="Cambria Math" panose="02040503050406030204" pitchFamily="18" charset="0"/>
                                              </a:rPr>
                                              <m:t>𝐾</m:t>
                                            </m:r>
                                          </m:sub>
                                          <m:sup>
                                            <m:r>
                                              <a:rPr lang="pt-BR" i="1">
                                                <a:latin typeface="Cambria Math" panose="02040503050406030204" pitchFamily="18" charset="0"/>
                                              </a:rPr>
                                              <m:t>𝑞</m:t>
                                            </m:r>
                                          </m:sup>
                                        </m:sSubSup>
                                      </m:e>
                                    </m:mr>
                                  </m:m>
                                </m:e>
                              </m:mr>
                            </m:m>
                          </m:e>
                        </m:d>
                      </m:e>
                      <m:sup>
                        <m:r>
                          <a:rPr lang="pt-BR" b="1" i="1">
                            <a:latin typeface="Cambria Math" panose="02040503050406030204" pitchFamily="18" charset="0"/>
                          </a:rPr>
                          <m:t>𝑻</m:t>
                        </m:r>
                      </m:sup>
                    </m:sSup>
                    <m:r>
                      <a:rPr lang="pt-BR" b="1" i="1" smtClean="0">
                        <a:latin typeface="Cambria Math" panose="02040503050406030204" pitchFamily="18" charset="0"/>
                        <a:ea typeface="Cambria Math" panose="02040503050406030204" pitchFamily="18" charset="0"/>
                      </a:rPr>
                      <m:t>∈</m:t>
                    </m:r>
                    <m:sSup>
                      <m:sSupPr>
                        <m:ctrlPr>
                          <a:rPr lang="pt-BR" b="1" i="1" smtClean="0">
                            <a:latin typeface="Cambria Math" panose="02040503050406030204" pitchFamily="18" charset="0"/>
                            <a:ea typeface="Cambria Math" panose="02040503050406030204" pitchFamily="18" charset="0"/>
                          </a:rPr>
                        </m:ctrlPr>
                      </m:sSupPr>
                      <m:e>
                        <m:r>
                          <a:rPr lang="pt-BR" b="1" i="1" smtClean="0">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+1×1</m:t>
                        </m:r>
                      </m:sup>
                    </m:sSup>
                  </m:oMath>
                </a14:m>
                <a:r>
                  <a:rPr lang="pt-BR" i="1" dirty="0"/>
                  <a:t> </a:t>
                </a:r>
                <a:r>
                  <a:rPr lang="pt-BR" dirty="0"/>
                  <a:t>é o </a:t>
                </a:r>
                <a:r>
                  <a:rPr lang="pt-BR" b="1" dirty="0"/>
                  <a:t>vetor de pesos</a:t>
                </a:r>
                <a:r>
                  <a:rPr lang="pt-BR" b="1" i="1" dirty="0"/>
                  <a:t> </a:t>
                </a:r>
                <a:r>
                  <a:rPr lang="pt-BR" dirty="0"/>
                  <a:t>da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a:t>
                </a:r>
                <a:r>
                  <a:rPr lang="pt-BR" b="1" dirty="0"/>
                  <a:t>função discriminante</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r>
                      <a:rPr lang="pt-BR" b="1" i="1">
                        <a:latin typeface="Cambria Math" panose="02040503050406030204" pitchFamily="18" charset="0"/>
                      </a:rPr>
                      <m:t>)</m:t>
                    </m:r>
                  </m:oMath>
                </a14:m>
                <a:r>
                  <a:rPr lang="pt-BR" dirty="0"/>
                  <a:t>, e </a:t>
                </a:r>
                <a14:m>
                  <m:oMath xmlns:m="http://schemas.openxmlformats.org/officeDocument/2006/math">
                    <m:r>
                      <a:rPr lang="pt-BR" i="1">
                        <a:latin typeface="Cambria Math" panose="02040503050406030204" pitchFamily="18" charset="0"/>
                      </a:rPr>
                      <m:t>𝑖</m:t>
                    </m:r>
                  </m:oMath>
                </a14:m>
                <a:r>
                  <a:rPr lang="pt-BR" dirty="0"/>
                  <a:t> indica o número da amostra.</a:t>
                </a:r>
              </a:p>
              <a:p>
                <a:r>
                  <a:rPr lang="pt-BR" sz="2800" dirty="0"/>
                  <a:t>Cada função discriminante tem seu próprio vetor de pesos, </a:t>
                </a:r>
                <a14:m>
                  <m:oMath xmlns:m="http://schemas.openxmlformats.org/officeDocument/2006/math">
                    <m:sSub>
                      <m:sSubPr>
                        <m:ctrlPr>
                          <a:rPr lang="pt-BR" b="1" i="1" smtClean="0">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sz="2800" dirty="0"/>
                  <a:t>.</a:t>
                </a:r>
              </a:p>
              <a:p>
                <a:r>
                  <a:rPr lang="pt-BR" dirty="0"/>
                  <a:t>Além do regressor </a:t>
                </a:r>
                <a:r>
                  <a:rPr lang="pt-BR" i="1" dirty="0"/>
                  <a:t>softmax</a:t>
                </a:r>
                <a:r>
                  <a:rPr lang="pt-BR" dirty="0"/>
                  <a:t>, ela é usada na </a:t>
                </a:r>
                <a:r>
                  <a:rPr lang="pt-BR" b="1" dirty="0">
                    <a:solidFill>
                      <a:srgbClr val="00B050"/>
                    </a:solidFill>
                  </a:rPr>
                  <a:t>camada de saída</a:t>
                </a:r>
                <a:r>
                  <a:rPr lang="pt-BR" dirty="0">
                    <a:solidFill>
                      <a:srgbClr val="00B050"/>
                    </a:solidFill>
                  </a:rPr>
                  <a:t> </a:t>
                </a:r>
                <a:r>
                  <a:rPr lang="pt-BR" dirty="0"/>
                  <a:t>de </a:t>
                </a:r>
                <a:r>
                  <a:rPr lang="pt-BR" b="1" dirty="0">
                    <a:solidFill>
                      <a:srgbClr val="00B050"/>
                    </a:solidFill>
                  </a:rPr>
                  <a:t>redes neurais</a:t>
                </a:r>
                <a:r>
                  <a:rPr lang="pt-BR" dirty="0"/>
                  <a:t> empregadas em tarefas de </a:t>
                </a:r>
                <a:r>
                  <a:rPr lang="pt-BR" b="1" dirty="0">
                    <a:solidFill>
                      <a:srgbClr val="00B050"/>
                    </a:solidFill>
                  </a:rPr>
                  <a:t>classificação.</a:t>
                </a:r>
                <a:endParaRPr lang="pt-BR" sz="2800" dirty="0"/>
              </a:p>
              <a:p>
                <a:pPr marL="0" indent="0">
                  <a:buNone/>
                </a:pPr>
                <a:endParaRPr lang="pt-BR" dirty="0"/>
              </a:p>
            </p:txBody>
          </p:sp>
        </mc:Choice>
        <mc:Fallback>
          <p:sp>
            <p:nvSpPr>
              <p:cNvPr id="3" name="Espaço Reservado para Conteúdo 2">
                <a:extLst>
                  <a:ext uri="{FF2B5EF4-FFF2-40B4-BE49-F238E27FC236}">
                    <a16:creationId xmlns:a16="http://schemas.microsoft.com/office/drawing/2014/main" id="{D79BB7DC-99E7-8958-EC77-566B7E3C2BBB}"/>
                  </a:ext>
                </a:extLst>
              </p:cNvPr>
              <p:cNvSpPr>
                <a:spLocks noGrp="1" noRot="1" noChangeAspect="1" noMove="1" noResize="1" noEditPoints="1" noAdjustHandles="1" noChangeArrowheads="1" noChangeShapeType="1" noTextEdit="1"/>
              </p:cNvSpPr>
              <p:nvPr>
                <p:ph idx="1"/>
              </p:nvPr>
            </p:nvSpPr>
            <p:spPr>
              <a:xfrm>
                <a:off x="838200" y="1825624"/>
                <a:ext cx="11080174" cy="5032375"/>
              </a:xfrm>
              <a:blipFill>
                <a:blip r:embed="rId3"/>
                <a:stretch>
                  <a:fillRect l="-1156" t="-1332"/>
                </a:stretch>
              </a:blipFill>
            </p:spPr>
            <p:txBody>
              <a:bodyPr/>
              <a:lstStyle/>
              <a:p>
                <a:r>
                  <a:rPr lang="en-US">
                    <a:noFill/>
                  </a:rPr>
                  <a:t> </a:t>
                </a:r>
              </a:p>
            </p:txBody>
          </p:sp>
        </mc:Fallback>
      </mc:AlternateContent>
    </p:spTree>
    <p:extLst>
      <p:ext uri="{BB962C8B-B14F-4D97-AF65-F5344CB8AC3E}">
        <p14:creationId xmlns:p14="http://schemas.microsoft.com/office/powerpoint/2010/main" val="8915452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E3438D-F516-F1D3-A02F-51857586D07A}"/>
              </a:ext>
            </a:extLst>
          </p:cNvPr>
          <p:cNvSpPr>
            <a:spLocks noGrp="1"/>
          </p:cNvSpPr>
          <p:nvPr>
            <p:ph type="title"/>
          </p:nvPr>
        </p:nvSpPr>
        <p:spPr/>
        <p:txBody>
          <a:bodyPr/>
          <a:lstStyle/>
          <a:p>
            <a:r>
              <a:rPr lang="pt-BR" dirty="0"/>
              <a:t>Função de ativação </a:t>
            </a:r>
            <a:r>
              <a:rPr lang="pt-BR" i="1" dirty="0"/>
              <a:t>softmax</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BCAAD57B-65A0-9DAD-79FC-2AE2692EB84B}"/>
                  </a:ext>
                </a:extLst>
              </p:cNvPr>
              <p:cNvSpPr>
                <a:spLocks noGrp="1"/>
              </p:cNvSpPr>
              <p:nvPr>
                <p:ph idx="1"/>
              </p:nvPr>
            </p:nvSpPr>
            <p:spPr>
              <a:xfrm>
                <a:off x="838200" y="1825624"/>
                <a:ext cx="11232473" cy="5032375"/>
              </a:xfrm>
            </p:spPr>
            <p:txBody>
              <a:bodyPr>
                <a:normAutofit/>
              </a:bodyPr>
              <a:lstStyle/>
              <a:p>
                <a:r>
                  <a:rPr lang="pt-BR" b="0" dirty="0">
                    <a:effectLst/>
                  </a:rPr>
                  <a:t>Ela transforma um </a:t>
                </a:r>
                <a:r>
                  <a:rPr lang="pt-BR" b="1" dirty="0">
                    <a:solidFill>
                      <a:srgbClr val="00B050"/>
                    </a:solidFill>
                    <a:effectLst/>
                  </a:rPr>
                  <a:t>vetor </a:t>
                </a:r>
                <a:r>
                  <a:rPr lang="pt-BR" b="1" dirty="0">
                    <a:solidFill>
                      <a:srgbClr val="00B050"/>
                    </a:solidFill>
                  </a:rPr>
                  <a:t>com</a:t>
                </a:r>
                <a:r>
                  <a:rPr lang="pt-BR" b="1" dirty="0">
                    <a:solidFill>
                      <a:srgbClr val="00B050"/>
                    </a:solidFill>
                    <a:effectLst/>
                  </a:rPr>
                  <a:t> valores</a:t>
                </a:r>
                <a:r>
                  <a:rPr lang="pt-BR" b="1" dirty="0">
                    <a:solidFill>
                      <a:srgbClr val="00B050"/>
                    </a:solidFill>
                  </a:rPr>
                  <a:t> de </a:t>
                </a:r>
                <a:r>
                  <a:rPr lang="pt-BR" b="1" dirty="0">
                    <a:solidFill>
                      <a:srgbClr val="00B050"/>
                    </a:solidFill>
                    <a:effectLst/>
                  </a:rPr>
                  <a:t>funções discriminantes em uma distribuição de probabilidades</a:t>
                </a:r>
                <a:r>
                  <a:rPr lang="pt-BR" b="0" dirty="0">
                    <a:effectLst/>
                  </a:rPr>
                  <a:t>.</a:t>
                </a:r>
              </a:p>
              <a:p>
                <a:pPr lvl="1">
                  <a:buFont typeface="Wingdings" panose="05000000000000000000" pitchFamily="2" charset="2"/>
                  <a:buChar char="§"/>
                </a:pPr>
                <a:r>
                  <a:rPr lang="pt-BR" dirty="0"/>
                  <a:t>O somatório de termos exponenciais no denominador </a:t>
                </a:r>
                <a:r>
                  <a:rPr lang="pt-BR" b="1" dirty="0">
                    <a:solidFill>
                      <a:srgbClr val="00B050"/>
                    </a:solidFill>
                  </a:rPr>
                  <a:t>normaliza</a:t>
                </a:r>
                <a:r>
                  <a:rPr lang="pt-BR" dirty="0"/>
                  <a:t> o valor da </a:t>
                </a:r>
                <a:r>
                  <a:rPr lang="pt-BR" i="1" dirty="0"/>
                  <a:t>q</a:t>
                </a:r>
                <a:r>
                  <a:rPr lang="pt-BR" dirty="0"/>
                  <a:t>-ésima saída de tal forma que o somatório das </a:t>
                </a:r>
                <a14:m>
                  <m:oMath xmlns:m="http://schemas.openxmlformats.org/officeDocument/2006/math">
                    <m:r>
                      <a:rPr lang="pt-BR" i="1">
                        <a:latin typeface="Cambria Math" panose="02040503050406030204" pitchFamily="18" charset="0"/>
                      </a:rPr>
                      <m:t>𝑄</m:t>
                    </m:r>
                  </m:oMath>
                </a14:m>
                <a:r>
                  <a:rPr lang="pt-BR" dirty="0"/>
                  <a:t> saídas seja igual a 1</a:t>
                </a:r>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𝑞</m:t>
                              </m:r>
                            </m:sub>
                          </m:sSub>
                          <m:r>
                            <a:rPr lang="pt-BR" i="1">
                              <a:latin typeface="Cambria Math" panose="02040503050406030204" pitchFamily="18" charset="0"/>
                            </a:rPr>
                            <m:t> </m:t>
                          </m:r>
                          <m:r>
                            <a:rPr lang="pt-BR" i="1">
                              <a:latin typeface="Cambria Math" panose="02040503050406030204" pitchFamily="18" charset="0"/>
                            </a:rPr>
                            <m:t>|</m:t>
                          </m:r>
                          <m:r>
                            <a:rPr lang="pt-BR" i="1">
                              <a:latin typeface="Cambria Math" panose="02040503050406030204" pitchFamily="18" charset="0"/>
                            </a:rPr>
                            <m:t> </m:t>
                          </m:r>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e>
                      </m:d>
                      <m:r>
                        <a:rPr lang="pt-BR" i="1">
                          <a:latin typeface="Cambria Math" panose="02040503050406030204" pitchFamily="18" charset="0"/>
                        </a:rPr>
                        <m:t>=</m:t>
                      </m:r>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e>
                      </m:d>
                      <m:r>
                        <a:rPr lang="pt-BR" b="1" i="1">
                          <a:latin typeface="Cambria Math" panose="02040503050406030204" pitchFamily="18" charset="0"/>
                        </a:rPr>
                        <m:t>=</m:t>
                      </m:r>
                      <m:f>
                        <m:fPr>
                          <m:ctrlPr>
                            <a:rPr lang="pt-BR" b="1" i="1">
                              <a:latin typeface="Cambria Math" panose="02040503050406030204" pitchFamily="18" charset="0"/>
                            </a:rPr>
                          </m:ctrlPr>
                        </m:fPr>
                        <m:num>
                          <m:sSup>
                            <m:sSupPr>
                              <m:ctrlPr>
                                <a:rPr lang="pt-BR" b="1" i="1">
                                  <a:latin typeface="Cambria Math" panose="02040503050406030204" pitchFamily="18" charset="0"/>
                                </a:rPr>
                              </m:ctrlPr>
                            </m:sSupPr>
                            <m:e>
                              <m:r>
                                <a:rPr lang="pt-BR" i="1">
                                  <a:latin typeface="Cambria Math" panose="02040503050406030204" pitchFamily="18" charset="0"/>
                                </a:rPr>
                                <m:t>𝑒</m:t>
                              </m:r>
                            </m:e>
                            <m:sup>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r>
                                <a:rPr lang="pt-BR" b="1" i="1">
                                  <a:latin typeface="Cambria Math" panose="02040503050406030204" pitchFamily="18" charset="0"/>
                                </a:rPr>
                                <m:t>)</m:t>
                              </m:r>
                            </m:sup>
                          </m:sSup>
                        </m:num>
                        <m:den>
                          <m:nary>
                            <m:naryPr>
                              <m:chr m:val="∑"/>
                              <m:ctrlPr>
                                <a:rPr lang="pt-BR" b="1" i="1">
                                  <a:latin typeface="Cambria Math" panose="02040503050406030204" pitchFamily="18" charset="0"/>
                                </a:rPr>
                              </m:ctrlPr>
                            </m:naryPr>
                            <m:sub>
                              <m:r>
                                <a:rPr lang="pt-BR" i="1">
                                  <a:latin typeface="Cambria Math" panose="02040503050406030204" pitchFamily="18" charset="0"/>
                                </a:rPr>
                                <m:t>𝑗</m:t>
                              </m:r>
                              <m:r>
                                <a:rPr lang="pt-BR" i="1">
                                  <a:latin typeface="Cambria Math" panose="02040503050406030204" pitchFamily="18" charset="0"/>
                                </a:rPr>
                                <m:t>=0</m:t>
                              </m:r>
                            </m:sub>
                            <m:sup>
                              <m:r>
                                <a:rPr lang="pt-BR" i="1">
                                  <a:latin typeface="Cambria Math" panose="02040503050406030204" pitchFamily="18" charset="0"/>
                                </a:rPr>
                                <m:t>𝑄</m:t>
                              </m:r>
                              <m:r>
                                <a:rPr lang="pt-BR" i="1">
                                  <a:latin typeface="Cambria Math" panose="02040503050406030204" pitchFamily="18" charset="0"/>
                                </a:rPr>
                                <m:t>−1</m:t>
                              </m:r>
                            </m:sup>
                            <m:e>
                              <m:sSup>
                                <m:sSupPr>
                                  <m:ctrlPr>
                                    <a:rPr lang="pt-BR" b="1" i="1">
                                      <a:latin typeface="Cambria Math" panose="02040503050406030204" pitchFamily="18" charset="0"/>
                                    </a:rPr>
                                  </m:ctrlPr>
                                </m:sSupPr>
                                <m:e>
                                  <m:r>
                                    <a:rPr lang="pt-BR" i="1">
                                      <a:latin typeface="Cambria Math" panose="02040503050406030204" pitchFamily="18" charset="0"/>
                                    </a:rPr>
                                    <m:t>𝑒</m:t>
                                  </m:r>
                                </m:e>
                                <m:sup>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𝑗</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r>
                                    <a:rPr lang="pt-BR" b="1" i="1">
                                      <a:latin typeface="Cambria Math" panose="02040503050406030204" pitchFamily="18" charset="0"/>
                                    </a:rPr>
                                    <m:t>)</m:t>
                                  </m:r>
                                </m:sup>
                              </m:sSup>
                            </m:e>
                          </m:nary>
                        </m:den>
                      </m:f>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r>
                        <a:rPr lang="pt-BR" b="1" i="1">
                          <a:latin typeface="Cambria Math" panose="02040503050406030204" pitchFamily="18" charset="0"/>
                          <a:ea typeface="Cambria Math" panose="02040503050406030204" pitchFamily="18" charset="0"/>
                        </a:rPr>
                        <m:t> </m:t>
                      </m:r>
                      <m:d>
                        <m:dPr>
                          <m:begChr m:val="["/>
                          <m:endChr m:val="]"/>
                          <m:ctrlPr>
                            <a:rPr lang="pt-BR" b="1" i="1">
                              <a:latin typeface="Cambria Math" panose="02040503050406030204" pitchFamily="18" charset="0"/>
                              <a:ea typeface="Cambria Math" panose="02040503050406030204" pitchFamily="18" charset="0"/>
                            </a:rPr>
                          </m:ctrlPr>
                        </m:dPr>
                        <m:e>
                          <m:r>
                            <a:rPr lang="pt-BR">
                              <a:latin typeface="Cambria Math" panose="02040503050406030204" pitchFamily="18" charset="0"/>
                            </a:rPr>
                            <m:t>0,</m:t>
                          </m:r>
                          <m:r>
                            <a:rPr lang="pt-BR">
                              <a:latin typeface="Cambria Math" panose="02040503050406030204" pitchFamily="18" charset="0"/>
                            </a:rPr>
                            <m:t> </m:t>
                          </m:r>
                          <m:r>
                            <a:rPr lang="pt-BR">
                              <a:latin typeface="Cambria Math" panose="02040503050406030204" pitchFamily="18" charset="0"/>
                            </a:rPr>
                            <m:t>1</m:t>
                          </m:r>
                        </m:e>
                      </m:d>
                      <m:r>
                        <a:rPr lang="pt-BR" b="1" i="1" smtClean="0">
                          <a:latin typeface="Cambria Math" panose="02040503050406030204" pitchFamily="18" charset="0"/>
                        </a:rPr>
                        <m:t> </m:t>
                      </m:r>
                      <m:r>
                        <a:rPr lang="pt-BR" b="1"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𝑞</m:t>
                      </m:r>
                      <m:r>
                        <a:rPr lang="pt-BR" b="1" i="1" smtClean="0">
                          <a:latin typeface="Cambria Math" panose="02040503050406030204" pitchFamily="18" charset="0"/>
                          <a:ea typeface="Cambria Math" panose="02040503050406030204" pitchFamily="18" charset="0"/>
                        </a:rPr>
                        <m:t>.</m:t>
                      </m:r>
                    </m:oMath>
                  </m:oMathPara>
                </a14:m>
                <a:endParaRPr lang="pt-BR" b="0" dirty="0">
                  <a:effectLst/>
                </a:endParaRPr>
              </a:p>
              <a:p>
                <a:r>
                  <a:rPr lang="pt-BR" dirty="0"/>
                  <a:t>Dado um exemplo de entrada, ela </a:t>
                </a:r>
                <a:r>
                  <a:rPr lang="pt-BR" b="1" dirty="0">
                    <a:solidFill>
                      <a:srgbClr val="00B050"/>
                    </a:solidFill>
                  </a:rPr>
                  <a:t>atribui</a:t>
                </a:r>
                <a:r>
                  <a:rPr lang="pt-BR" dirty="0"/>
                  <a:t> uma </a:t>
                </a:r>
                <a:r>
                  <a:rPr lang="pt-BR" b="1" dirty="0">
                    <a:solidFill>
                      <a:srgbClr val="00B050"/>
                    </a:solidFill>
                  </a:rPr>
                  <a:t>probabilidade</a:t>
                </a:r>
                <a:r>
                  <a:rPr lang="pt-BR" dirty="0">
                    <a:solidFill>
                      <a:srgbClr val="00B050"/>
                    </a:solidFill>
                  </a:rPr>
                  <a:t> </a:t>
                </a:r>
                <a:r>
                  <a:rPr lang="pt-BR" b="1" dirty="0">
                    <a:solidFill>
                      <a:srgbClr val="00B050"/>
                    </a:solidFill>
                  </a:rPr>
                  <a:t>para cada classe </a:t>
                </a:r>
                <a:r>
                  <a:rPr lang="pt-BR" dirty="0"/>
                  <a:t>possível.</a:t>
                </a:r>
              </a:p>
              <a:p>
                <a:r>
                  <a:rPr lang="pt-BR" dirty="0"/>
                  <a:t>É uma generalização da função sigmoide.</a:t>
                </a:r>
              </a:p>
            </p:txBody>
          </p:sp>
        </mc:Choice>
        <mc:Fallback>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838200" y="1825624"/>
                <a:ext cx="11232473" cy="5032375"/>
              </a:xfrm>
              <a:blipFill>
                <a:blip r:embed="rId3"/>
                <a:stretch>
                  <a:fillRect l="-977" t="-1937" r="-1140"/>
                </a:stretch>
              </a:blipFill>
            </p:spPr>
            <p:txBody>
              <a:bodyPr/>
              <a:lstStyle/>
              <a:p>
                <a:r>
                  <a:rPr lang="en-US">
                    <a:noFill/>
                  </a:rPr>
                  <a:t> </a:t>
                </a:r>
              </a:p>
            </p:txBody>
          </p:sp>
        </mc:Fallback>
      </mc:AlternateContent>
      <p:sp>
        <p:nvSpPr>
          <p:cNvPr id="5" name="Rectangle 11">
            <a:extLst>
              <a:ext uri="{FF2B5EF4-FFF2-40B4-BE49-F238E27FC236}">
                <a16:creationId xmlns:a16="http://schemas.microsoft.com/office/drawing/2014/main" id="{D1D7E603-A964-1188-9D09-B0C1E18592FA}"/>
              </a:ext>
            </a:extLst>
          </p:cNvPr>
          <p:cNvSpPr/>
          <p:nvPr/>
        </p:nvSpPr>
        <p:spPr>
          <a:xfrm>
            <a:off x="6652985" y="3843791"/>
            <a:ext cx="2066472" cy="575809"/>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31572083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9DAA83A-B143-94BB-B48B-41A7423070CE}"/>
              </a:ext>
            </a:extLst>
          </p:cNvPr>
          <p:cNvSpPr>
            <a:spLocks noGrp="1"/>
          </p:cNvSpPr>
          <p:nvPr>
            <p:ph type="title"/>
          </p:nvPr>
        </p:nvSpPr>
        <p:spPr/>
        <p:txBody>
          <a:bodyPr/>
          <a:lstStyle/>
          <a:p>
            <a:r>
              <a:rPr lang="pt-BR" dirty="0"/>
              <a:t>Função de ativação </a:t>
            </a:r>
            <a:r>
              <a:rPr lang="pt-BR" i="1" dirty="0"/>
              <a:t>softmax</a:t>
            </a:r>
            <a:endParaRPr lang="pt-BR" dirty="0"/>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32DF54A1-52F5-C48C-7CD4-D6E451DF19D8}"/>
                  </a:ext>
                </a:extLst>
              </p:cNvPr>
              <p:cNvSpPr>
                <a:spLocks noGrp="1"/>
              </p:cNvSpPr>
              <p:nvPr>
                <p:ph idx="1"/>
              </p:nvPr>
            </p:nvSpPr>
            <p:spPr>
              <a:xfrm>
                <a:off x="6646606" y="1825624"/>
                <a:ext cx="5417575" cy="5032375"/>
              </a:xfrm>
            </p:spPr>
            <p:txBody>
              <a:bodyPr>
                <a:normAutofit/>
              </a:bodyPr>
              <a:lstStyle/>
              <a:p>
                <a:r>
                  <a:rPr lang="pt-BR" dirty="0"/>
                  <a:t>A função </a:t>
                </a:r>
                <a:r>
                  <a:rPr lang="pt-BR" i="1" dirty="0"/>
                  <a:t>softmax</a:t>
                </a:r>
                <a:r>
                  <a:rPr lang="pt-BR" dirty="0"/>
                  <a:t> </a:t>
                </a:r>
                <a:r>
                  <a:rPr lang="pt-BR" dirty="0">
                    <a:solidFill>
                      <a:schemeClr val="tx1"/>
                    </a:solidFill>
                  </a:rPr>
                  <a:t>o</a:t>
                </a:r>
                <a:r>
                  <a:rPr lang="pt-BR" b="0" i="0" dirty="0">
                    <a:solidFill>
                      <a:schemeClr val="tx1"/>
                    </a:solidFill>
                    <a:effectLst/>
                  </a:rPr>
                  <a:t>pera da seguinte maneira.</a:t>
                </a:r>
              </a:p>
              <a:p>
                <a:r>
                  <a:rPr lang="pt-BR" b="0" i="0" dirty="0">
                    <a:solidFill>
                      <a:schemeClr val="tx1"/>
                    </a:solidFill>
                    <a:effectLst/>
                  </a:rPr>
                  <a:t>Dado um </a:t>
                </a:r>
                <a:r>
                  <a:rPr lang="pt-BR" b="1" dirty="0">
                    <a:solidFill>
                      <a:srgbClr val="00B050"/>
                    </a:solidFill>
                    <a:effectLst/>
                  </a:rPr>
                  <a:t>vetor </a:t>
                </a:r>
                <a:r>
                  <a:rPr lang="pt-BR" b="1" dirty="0">
                    <a:solidFill>
                      <a:srgbClr val="00B050"/>
                    </a:solidFill>
                  </a:rPr>
                  <a:t>com</a:t>
                </a:r>
                <a:r>
                  <a:rPr lang="pt-BR" b="1" dirty="0">
                    <a:solidFill>
                      <a:srgbClr val="00B050"/>
                    </a:solidFill>
                    <a:effectLst/>
                  </a:rPr>
                  <a:t> valores de funções discriminantes</a:t>
                </a:r>
                <a:r>
                  <a:rPr lang="pt-BR" b="0" i="0" dirty="0">
                    <a:solidFill>
                      <a:schemeClr val="tx1"/>
                    </a:solidFill>
                    <a:effectLst/>
                  </a:rPr>
                  <a:t>, </a:t>
                </a:r>
                <a14:m>
                  <m:oMath xmlns:m="http://schemas.openxmlformats.org/officeDocument/2006/math">
                    <m:sSub>
                      <m:sSubPr>
                        <m:ctrlPr>
                          <a:rPr lang="pt-BR" sz="2800" i="1" smtClean="0">
                            <a:solidFill>
                              <a:schemeClr val="tx1"/>
                            </a:solidFill>
                            <a:latin typeface="Cambria Math" panose="02040503050406030204" pitchFamily="18" charset="0"/>
                          </a:rPr>
                        </m:ctrlPr>
                      </m:sSubPr>
                      <m:e>
                        <m:r>
                          <a:rPr lang="pt-BR" sz="2800" i="1">
                            <a:solidFill>
                              <a:schemeClr val="tx1"/>
                            </a:solidFill>
                            <a:latin typeface="Cambria Math" panose="02040503050406030204" pitchFamily="18" charset="0"/>
                          </a:rPr>
                          <m:t>𝑔</m:t>
                        </m:r>
                      </m:e>
                      <m:sub>
                        <m:r>
                          <a:rPr lang="pt-BR" sz="2800" b="0" i="1" smtClean="0">
                            <a:solidFill>
                              <a:schemeClr val="tx1"/>
                            </a:solidFill>
                            <a:latin typeface="Cambria Math" panose="02040503050406030204" pitchFamily="18" charset="0"/>
                          </a:rPr>
                          <m:t>𝑞</m:t>
                        </m:r>
                      </m:sub>
                    </m:sSub>
                    <m:d>
                      <m:dPr>
                        <m:ctrlPr>
                          <a:rPr lang="pt-BR" sz="2800" i="1">
                            <a:solidFill>
                              <a:schemeClr val="tx1"/>
                            </a:solidFill>
                            <a:latin typeface="Cambria Math" panose="02040503050406030204" pitchFamily="18" charset="0"/>
                          </a:rPr>
                        </m:ctrlPr>
                      </m:dPr>
                      <m:e>
                        <m:r>
                          <a:rPr lang="pt-BR" sz="2800" b="1" i="1">
                            <a:solidFill>
                              <a:schemeClr val="tx1"/>
                            </a:solidFill>
                            <a:latin typeface="Cambria Math" panose="02040503050406030204" pitchFamily="18" charset="0"/>
                          </a:rPr>
                          <m:t>𝒙</m:t>
                        </m:r>
                      </m:e>
                    </m:d>
                    <m:r>
                      <a:rPr lang="pt-BR" sz="2800" b="0" i="1" smtClean="0">
                        <a:solidFill>
                          <a:schemeClr val="tx1"/>
                        </a:solidFill>
                        <a:latin typeface="Cambria Math" panose="02040503050406030204" pitchFamily="18" charset="0"/>
                      </a:rPr>
                      <m:t>,</m:t>
                    </m:r>
                    <m:r>
                      <a:rPr lang="pt-BR" sz="2800" i="1" smtClean="0">
                        <a:solidFill>
                          <a:schemeClr val="tx1"/>
                        </a:solidFill>
                        <a:latin typeface="Cambria Math" panose="02040503050406030204" pitchFamily="18" charset="0"/>
                        <a:ea typeface="Cambria Math" panose="02040503050406030204" pitchFamily="18" charset="0"/>
                      </a:rPr>
                      <m:t>∀</m:t>
                    </m:r>
                    <m:r>
                      <a:rPr lang="pt-BR" sz="2800" b="0" i="1" smtClean="0">
                        <a:solidFill>
                          <a:schemeClr val="tx1"/>
                        </a:solidFill>
                        <a:latin typeface="Cambria Math" panose="02040503050406030204" pitchFamily="18" charset="0"/>
                        <a:ea typeface="Cambria Math" panose="02040503050406030204" pitchFamily="18" charset="0"/>
                      </a:rPr>
                      <m:t>𝑞</m:t>
                    </m:r>
                  </m:oMath>
                </a14:m>
                <a:r>
                  <a:rPr lang="pt-BR" b="0" i="0" dirty="0">
                    <a:solidFill>
                      <a:schemeClr val="tx1"/>
                    </a:solidFill>
                    <a:effectLst/>
                  </a:rPr>
                  <a:t>, ela</a:t>
                </a:r>
                <a:endParaRPr lang="pt-BR" dirty="0"/>
              </a:p>
              <a:p>
                <a:pPr lvl="1">
                  <a:buFont typeface="Wingdings" panose="05000000000000000000" pitchFamily="2" charset="2"/>
                  <a:buChar char="§"/>
                </a:pPr>
                <a:r>
                  <a:rPr lang="pt-BR" b="0" i="0" dirty="0">
                    <a:solidFill>
                      <a:schemeClr val="tx1"/>
                    </a:solidFill>
                    <a:effectLst/>
                  </a:rPr>
                  <a:t>calcula a exponencial de cada função discriminante, </a:t>
                </a:r>
              </a:p>
              <a:p>
                <a:pPr lvl="1">
                  <a:buFont typeface="Wingdings" panose="05000000000000000000" pitchFamily="2" charset="2"/>
                  <a:buChar char="§"/>
                </a:pPr>
                <a:r>
                  <a:rPr lang="pt-BR" b="0" i="0" dirty="0">
                    <a:solidFill>
                      <a:schemeClr val="tx1"/>
                    </a:solidFill>
                    <a:effectLst/>
                  </a:rPr>
                  <a:t>normaliza essas exponenciais dividindo-as pela soma de todas as exponenciais, gerando uma distribuição de probabilidades das classes.</a:t>
                </a:r>
              </a:p>
            </p:txBody>
          </p:sp>
        </mc:Choice>
        <mc:Fallback>
          <p:sp>
            <p:nvSpPr>
              <p:cNvPr id="3" name="Espaço Reservado para Conteúdo 2">
                <a:extLst>
                  <a:ext uri="{FF2B5EF4-FFF2-40B4-BE49-F238E27FC236}">
                    <a16:creationId xmlns:a16="http://schemas.microsoft.com/office/drawing/2014/main" id="{32DF54A1-52F5-C48C-7CD4-D6E451DF19D8}"/>
                  </a:ext>
                </a:extLst>
              </p:cNvPr>
              <p:cNvSpPr>
                <a:spLocks noGrp="1" noRot="1" noChangeAspect="1" noMove="1" noResize="1" noEditPoints="1" noAdjustHandles="1" noChangeArrowheads="1" noChangeShapeType="1" noTextEdit="1"/>
              </p:cNvSpPr>
              <p:nvPr>
                <p:ph idx="1"/>
              </p:nvPr>
            </p:nvSpPr>
            <p:spPr>
              <a:xfrm>
                <a:off x="6646606" y="1825624"/>
                <a:ext cx="5417575" cy="5032375"/>
              </a:xfrm>
              <a:blipFill>
                <a:blip r:embed="rId2"/>
                <a:stretch>
                  <a:fillRect l="-2025" t="-1937"/>
                </a:stretch>
              </a:blipFill>
            </p:spPr>
            <p:txBody>
              <a:bodyPr/>
              <a:lstStyle/>
              <a:p>
                <a:r>
                  <a:rPr lang="en-US">
                    <a:noFill/>
                  </a:rPr>
                  <a:t> </a:t>
                </a:r>
              </a:p>
            </p:txBody>
          </p:sp>
        </mc:Fallback>
      </mc:AlternateContent>
      <p:pic>
        <p:nvPicPr>
          <p:cNvPr id="6" name="Imagem 5">
            <a:extLst>
              <a:ext uri="{FF2B5EF4-FFF2-40B4-BE49-F238E27FC236}">
                <a16:creationId xmlns:a16="http://schemas.microsoft.com/office/drawing/2014/main" id="{ED5D1F5D-F195-0452-50D4-07E9F2B1C49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75559" y="2536723"/>
            <a:ext cx="6066351" cy="2487561"/>
          </a:xfrm>
          <a:prstGeom prst="rect">
            <a:avLst/>
          </a:prstGeom>
        </p:spPr>
      </p:pic>
      <p:sp>
        <p:nvSpPr>
          <p:cNvPr id="8" name="CaixaDeTexto 7">
            <a:extLst>
              <a:ext uri="{FF2B5EF4-FFF2-40B4-BE49-F238E27FC236}">
                <a16:creationId xmlns:a16="http://schemas.microsoft.com/office/drawing/2014/main" id="{0DC5673F-9B77-2E9E-8317-E71CA8896FE0}"/>
              </a:ext>
            </a:extLst>
          </p:cNvPr>
          <p:cNvSpPr txBox="1"/>
          <p:nvPr/>
        </p:nvSpPr>
        <p:spPr>
          <a:xfrm>
            <a:off x="127819" y="6492875"/>
            <a:ext cx="2792362" cy="276999"/>
          </a:xfrm>
          <a:prstGeom prst="rect">
            <a:avLst/>
          </a:prstGeom>
          <a:noFill/>
        </p:spPr>
        <p:txBody>
          <a:bodyPr wrap="square">
            <a:spAutoFit/>
          </a:bodyPr>
          <a:lstStyle/>
          <a:p>
            <a:r>
              <a:rPr lang="pt-BR" sz="1200" b="0" dirty="0">
                <a:effectLst/>
              </a:rPr>
              <a:t>OBS.:</a:t>
            </a:r>
            <a:r>
              <a:rPr lang="pt-BR" sz="1200" b="0" i="1" dirty="0">
                <a:effectLst/>
              </a:rPr>
              <a:t> e</a:t>
            </a:r>
            <a:r>
              <a:rPr lang="pt-BR" sz="1200" b="0" i="0" dirty="0">
                <a:effectLst/>
              </a:rPr>
              <a:t> é a base do logaritmo natural. </a:t>
            </a:r>
            <a:endParaRPr lang="pt-BR" sz="1200" dirty="0"/>
          </a:p>
        </p:txBody>
      </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CBD55F82-56D5-32C8-C5AB-AF99477FBAAC}"/>
                  </a:ext>
                </a:extLst>
              </p:cNvPr>
              <p:cNvSpPr txBox="1"/>
              <p:nvPr/>
            </p:nvSpPr>
            <p:spPr>
              <a:xfrm>
                <a:off x="1543507" y="5639486"/>
                <a:ext cx="3530454" cy="461665"/>
              </a:xfrm>
              <a:prstGeom prst="rect">
                <a:avLst/>
              </a:prstGeom>
              <a:noFill/>
            </p:spPr>
            <p:txBody>
              <a:bodyPr wrap="none" rtlCol="0">
                <a:spAutoFit/>
              </a:bodyPr>
              <a:lstStyle/>
              <a:p>
                <a14:m>
                  <m:oMath xmlns:m="http://schemas.openxmlformats.org/officeDocument/2006/math">
                    <m:r>
                      <a:rPr lang="pt-BR" sz="2400" b="0" i="1" smtClean="0">
                        <a:latin typeface="Cambria Math" panose="02040503050406030204" pitchFamily="18" charset="0"/>
                      </a:rPr>
                      <m:t>𝑄</m:t>
                    </m:r>
                    <m:r>
                      <a:rPr lang="pt-BR" sz="2400" b="0" i="1" smtClean="0">
                        <a:latin typeface="Cambria Math" panose="02040503050406030204" pitchFamily="18" charset="0"/>
                      </a:rPr>
                      <m:t>=5</m:t>
                    </m:r>
                  </m:oMath>
                </a14:m>
                <a:r>
                  <a:rPr lang="pt-BR" sz="2400" dirty="0"/>
                  <a:t> (número de classes)</a:t>
                </a:r>
              </a:p>
            </p:txBody>
          </p:sp>
        </mc:Choice>
        <mc:Fallback xmlns="">
          <p:sp>
            <p:nvSpPr>
              <p:cNvPr id="4" name="CaixaDeTexto 3">
                <a:extLst>
                  <a:ext uri="{FF2B5EF4-FFF2-40B4-BE49-F238E27FC236}">
                    <a16:creationId xmlns:a16="http://schemas.microsoft.com/office/drawing/2014/main" id="{CBD55F82-56D5-32C8-C5AB-AF99477FBAAC}"/>
                  </a:ext>
                </a:extLst>
              </p:cNvPr>
              <p:cNvSpPr txBox="1">
                <a:spLocks noRot="1" noChangeAspect="1" noMove="1" noResize="1" noEditPoints="1" noAdjustHandles="1" noChangeArrowheads="1" noChangeShapeType="1" noTextEdit="1"/>
              </p:cNvSpPr>
              <p:nvPr/>
            </p:nvSpPr>
            <p:spPr>
              <a:xfrm>
                <a:off x="1543507" y="5639486"/>
                <a:ext cx="3530454" cy="461665"/>
              </a:xfrm>
              <a:prstGeom prst="rect">
                <a:avLst/>
              </a:prstGeom>
              <a:blipFill>
                <a:blip r:embed="rId4"/>
                <a:stretch>
                  <a:fillRect l="-1209" t="-10526" r="-1900" b="-28947"/>
                </a:stretch>
              </a:blipFill>
            </p:spPr>
            <p:txBody>
              <a:bodyPr/>
              <a:lstStyle/>
              <a:p>
                <a:r>
                  <a:rPr lang="en-US">
                    <a:noFill/>
                  </a:rPr>
                  <a:t> </a:t>
                </a:r>
              </a:p>
            </p:txBody>
          </p:sp>
        </mc:Fallback>
      </mc:AlternateContent>
    </p:spTree>
    <p:extLst>
      <p:ext uri="{BB962C8B-B14F-4D97-AF65-F5344CB8AC3E}">
        <p14:creationId xmlns:p14="http://schemas.microsoft.com/office/powerpoint/2010/main" val="32419477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9DAA83A-B143-94BB-B48B-41A7423070CE}"/>
              </a:ext>
            </a:extLst>
          </p:cNvPr>
          <p:cNvSpPr>
            <a:spLocks noGrp="1"/>
          </p:cNvSpPr>
          <p:nvPr>
            <p:ph type="title"/>
          </p:nvPr>
        </p:nvSpPr>
        <p:spPr/>
        <p:txBody>
          <a:bodyPr/>
          <a:lstStyle/>
          <a:p>
            <a:r>
              <a:rPr lang="pt-BR" dirty="0"/>
              <a:t>Função de ativação </a:t>
            </a:r>
            <a:r>
              <a:rPr lang="pt-BR" i="1" dirty="0"/>
              <a:t>softmax</a:t>
            </a:r>
            <a:endParaRPr lang="pt-BR" dirty="0"/>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32DF54A1-52F5-C48C-7CD4-D6E451DF19D8}"/>
                  </a:ext>
                </a:extLst>
              </p:cNvPr>
              <p:cNvSpPr>
                <a:spLocks noGrp="1"/>
              </p:cNvSpPr>
              <p:nvPr>
                <p:ph idx="1"/>
              </p:nvPr>
            </p:nvSpPr>
            <p:spPr>
              <a:xfrm>
                <a:off x="838200" y="1825624"/>
                <a:ext cx="11225981" cy="5032375"/>
              </a:xfrm>
            </p:spPr>
            <p:txBody>
              <a:bodyPr>
                <a:normAutofit/>
              </a:bodyPr>
              <a:lstStyle/>
              <a:p>
                <a:r>
                  <a:rPr lang="pt-BR" b="0" dirty="0">
                    <a:effectLst/>
                  </a:rPr>
                  <a:t>Ela </a:t>
                </a:r>
                <a:r>
                  <a:rPr lang="pt-BR" b="1" dirty="0">
                    <a:solidFill>
                      <a:srgbClr val="00B050"/>
                    </a:solidFill>
                    <a:effectLst/>
                  </a:rPr>
                  <a:t>garante que as saídas estejam no intervalo entre 0 e 1, e a soma de todas as saídas seja igual a 1</a:t>
                </a:r>
                <a:r>
                  <a:rPr lang="pt-BR" b="0" dirty="0">
                    <a:effectLst/>
                  </a:rPr>
                  <a:t>, tornando-as interpretáveis como uma </a:t>
                </a:r>
                <a:r>
                  <a:rPr lang="pt-BR" b="1" dirty="0">
                    <a:solidFill>
                      <a:srgbClr val="00B050"/>
                    </a:solidFill>
                    <a:effectLst/>
                  </a:rPr>
                  <a:t>função massa de probabilidade </a:t>
                </a:r>
                <a:r>
                  <a:rPr lang="pt-BR" b="1" dirty="0" err="1">
                    <a:solidFill>
                      <a:srgbClr val="00B050"/>
                    </a:solidFill>
                    <a:effectLst/>
                  </a:rPr>
                  <a:t>multinomial</a:t>
                </a:r>
                <a:r>
                  <a:rPr lang="pt-BR" b="0" dirty="0">
                    <a:effectLst/>
                  </a:rPr>
                  <a:t>.</a:t>
                </a:r>
              </a:p>
              <a:p>
                <a:r>
                  <a:rPr lang="pt-BR" dirty="0"/>
                  <a:t>Ela</a:t>
                </a:r>
                <a:r>
                  <a:rPr lang="pt-BR" b="1" i="1" dirty="0"/>
                  <a:t> </a:t>
                </a:r>
                <a:r>
                  <a:rPr lang="pt-BR" dirty="0"/>
                  <a:t>atribui uma </a:t>
                </a:r>
                <a:r>
                  <a:rPr lang="pt-BR" b="1" dirty="0"/>
                  <a:t>probabilidade condicional</a:t>
                </a:r>
                <a:r>
                  <a:rPr lang="pt-BR" dirty="0"/>
                  <a:t>,</a:t>
                </a:r>
                <a:r>
                  <a:rPr lang="pt-BR" b="1" i="1" dirty="0"/>
                  <a:t> </a:t>
                </a:r>
                <a14:m>
                  <m:oMath xmlns:m="http://schemas.openxmlformats.org/officeDocument/2006/math">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𝑞</m:t>
                            </m:r>
                          </m:sub>
                        </m:sSub>
                        <m:r>
                          <a:rPr lang="pt-BR" i="1">
                            <a:latin typeface="Cambria Math" panose="02040503050406030204" pitchFamily="18" charset="0"/>
                          </a:rPr>
                          <m:t> |</m:t>
                        </m:r>
                        <m:r>
                          <a:rPr lang="pt-BR" b="1" i="1">
                            <a:latin typeface="Cambria Math" panose="02040503050406030204" pitchFamily="18" charset="0"/>
                          </a:rPr>
                          <m:t> </m:t>
                        </m:r>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e>
                    </m:d>
                    <m:r>
                      <a:rPr lang="pt-BR" i="1" smtClean="0">
                        <a:latin typeface="Cambria Math" panose="02040503050406030204" pitchFamily="18" charset="0"/>
                        <a:ea typeface="Cambria Math" panose="02040503050406030204" pitchFamily="18" charset="0"/>
                      </a:rPr>
                      <m:t>∈</m:t>
                    </m:r>
                    <m:d>
                      <m:dPr>
                        <m:begChr m:val="["/>
                        <m:endChr m:val="]"/>
                        <m:ctrlPr>
                          <a:rPr lang="pt-BR" i="1" smtClean="0">
                            <a:latin typeface="Cambria Math" panose="02040503050406030204" pitchFamily="18" charset="0"/>
                            <a:ea typeface="Cambria Math" panose="02040503050406030204" pitchFamily="18" charset="0"/>
                          </a:rPr>
                        </m:ctrlPr>
                      </m:dPr>
                      <m:e>
                        <m:r>
                          <a:rPr lang="pt-BR" b="0" i="1" smtClean="0">
                            <a:latin typeface="Cambria Math" panose="02040503050406030204" pitchFamily="18" charset="0"/>
                            <a:ea typeface="Cambria Math" panose="02040503050406030204" pitchFamily="18" charset="0"/>
                          </a:rPr>
                          <m:t>0, 1</m:t>
                        </m:r>
                      </m:e>
                    </m:d>
                  </m:oMath>
                </a14:m>
                <a:r>
                  <a:rPr lang="pt-BR" dirty="0"/>
                  <a:t>, a cada classe, </a:t>
                </a:r>
                <a14:m>
                  <m:oMath xmlns:m="http://schemas.openxmlformats.org/officeDocument/2006/math">
                    <m:r>
                      <a:rPr lang="pt-BR" i="1">
                        <a:latin typeface="Cambria Math" panose="02040503050406030204" pitchFamily="18" charset="0"/>
                      </a:rPr>
                      <m:t>𝑞</m:t>
                    </m:r>
                  </m:oMath>
                </a14:m>
                <a:r>
                  <a:rPr lang="pt-BR" dirty="0"/>
                  <a:t>, onde </a:t>
                </a:r>
                <a:r>
                  <a:rPr lang="pt-BR" b="1" dirty="0">
                    <a:solidFill>
                      <a:srgbClr val="00B050"/>
                    </a:solidFill>
                  </a:rPr>
                  <a:t>a soma das </a:t>
                </a:r>
                <a14:m>
                  <m:oMath xmlns:m="http://schemas.openxmlformats.org/officeDocument/2006/math">
                    <m:r>
                      <a:rPr lang="pt-BR" b="1" i="0">
                        <a:solidFill>
                          <a:srgbClr val="00B050"/>
                        </a:solidFill>
                        <a:latin typeface="Cambria Math" panose="02040503050406030204" pitchFamily="18" charset="0"/>
                      </a:rPr>
                      <m:t>𝐐</m:t>
                    </m:r>
                  </m:oMath>
                </a14:m>
                <a:r>
                  <a:rPr lang="pt-BR" b="1" dirty="0">
                    <a:solidFill>
                      <a:srgbClr val="00B050"/>
                    </a:solidFill>
                  </a:rPr>
                  <a:t> probabilidades deve ser igual a 1</a:t>
                </a:r>
              </a:p>
              <a:p>
                <a:pPr marL="0" indent="0" algn="ctr">
                  <a:buNone/>
                </a:pPr>
                <a14:m>
                  <m:oMath xmlns:m="http://schemas.openxmlformats.org/officeDocument/2006/math">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0</m:t>
                            </m:r>
                          </m:sub>
                        </m:sSub>
                        <m:r>
                          <a:rPr lang="pt-BR" i="1">
                            <a:latin typeface="Cambria Math" panose="02040503050406030204" pitchFamily="18" charset="0"/>
                          </a:rPr>
                          <m:t> |</m:t>
                        </m:r>
                        <m:r>
                          <a:rPr lang="pt-BR" b="1" i="1">
                            <a:latin typeface="Cambria Math" panose="02040503050406030204" pitchFamily="18" charset="0"/>
                          </a:rPr>
                          <m:t> </m:t>
                        </m:r>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0</m:t>
                            </m:r>
                          </m:sub>
                        </m:sSub>
                      </m:e>
                    </m:d>
                    <m:r>
                      <a:rPr lang="pt-BR" i="1">
                        <a:latin typeface="Cambria Math" panose="02040503050406030204" pitchFamily="18" charset="0"/>
                      </a:rPr>
                      <m:t>+</m:t>
                    </m:r>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1</m:t>
                            </m:r>
                          </m:sub>
                        </m:sSub>
                        <m:r>
                          <a:rPr lang="pt-BR" i="1">
                            <a:latin typeface="Cambria Math" panose="02040503050406030204" pitchFamily="18" charset="0"/>
                          </a:rPr>
                          <m:t> |</m:t>
                        </m:r>
                        <m:r>
                          <a:rPr lang="pt-BR" b="1" i="1">
                            <a:latin typeface="Cambria Math" panose="02040503050406030204" pitchFamily="18" charset="0"/>
                          </a:rPr>
                          <m:t> </m:t>
                        </m:r>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m:t>
                            </m:r>
                            <m:r>
                              <a:rPr lang="pt-BR" b="1" i="1">
                                <a:latin typeface="Cambria Math" panose="02040503050406030204" pitchFamily="18" charset="0"/>
                              </a:rPr>
                              <m:t>𝒂</m:t>
                            </m:r>
                          </m:e>
                          <m:sub>
                            <m:r>
                              <a:rPr lang="pt-BR" i="1">
                                <a:latin typeface="Cambria Math" panose="02040503050406030204" pitchFamily="18" charset="0"/>
                              </a:rPr>
                              <m:t>1</m:t>
                            </m:r>
                          </m:sub>
                        </m:sSub>
                      </m:e>
                    </m:d>
                    <m:r>
                      <a:rPr lang="pt-BR">
                        <a:latin typeface="Cambria Math" panose="02040503050406030204" pitchFamily="18" charset="0"/>
                      </a:rPr>
                      <m:t>+</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𝑄</m:t>
                            </m:r>
                            <m:r>
                              <a:rPr lang="pt-BR" i="1">
                                <a:latin typeface="Cambria Math" panose="02040503050406030204" pitchFamily="18" charset="0"/>
                              </a:rPr>
                              <m:t>−1</m:t>
                            </m:r>
                          </m:sub>
                        </m:sSub>
                        <m:r>
                          <a:rPr lang="pt-BR" i="1">
                            <a:latin typeface="Cambria Math" panose="02040503050406030204" pitchFamily="18" charset="0"/>
                          </a:rPr>
                          <m:t> |</m:t>
                        </m:r>
                        <m:r>
                          <a:rPr lang="pt-BR" i="1">
                            <a:latin typeface="Cambria Math" panose="02040503050406030204" pitchFamily="18" charset="0"/>
                          </a:rPr>
                          <m:t> </m:t>
                        </m:r>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𝑄</m:t>
                            </m:r>
                            <m:r>
                              <a:rPr lang="pt-BR" i="1">
                                <a:latin typeface="Cambria Math" panose="02040503050406030204" pitchFamily="18" charset="0"/>
                              </a:rPr>
                              <m:t>−1</m:t>
                            </m:r>
                          </m:sub>
                        </m:sSub>
                      </m:e>
                    </m:d>
                    <m:r>
                      <a:rPr lang="pt-BR" i="1">
                        <a:latin typeface="Cambria Math" panose="02040503050406030204" pitchFamily="18" charset="0"/>
                      </a:rPr>
                      <m:t>=1</m:t>
                    </m:r>
                  </m:oMath>
                </a14:m>
                <a:r>
                  <a:rPr lang="pt-BR" dirty="0"/>
                  <a:t>.</a:t>
                </a:r>
              </a:p>
            </p:txBody>
          </p:sp>
        </mc:Choice>
        <mc:Fallback>
          <p:sp>
            <p:nvSpPr>
              <p:cNvPr id="3" name="Espaço Reservado para Conteúdo 2">
                <a:extLst>
                  <a:ext uri="{FF2B5EF4-FFF2-40B4-BE49-F238E27FC236}">
                    <a16:creationId xmlns:a16="http://schemas.microsoft.com/office/drawing/2014/main" id="{32DF54A1-52F5-C48C-7CD4-D6E451DF19D8}"/>
                  </a:ext>
                </a:extLst>
              </p:cNvPr>
              <p:cNvSpPr>
                <a:spLocks noGrp="1" noRot="1" noChangeAspect="1" noMove="1" noResize="1" noEditPoints="1" noAdjustHandles="1" noChangeArrowheads="1" noChangeShapeType="1" noTextEdit="1"/>
              </p:cNvSpPr>
              <p:nvPr>
                <p:ph idx="1"/>
              </p:nvPr>
            </p:nvSpPr>
            <p:spPr>
              <a:xfrm>
                <a:off x="838200" y="1825624"/>
                <a:ext cx="11225981" cy="5032375"/>
              </a:xfrm>
              <a:blipFill>
                <a:blip r:embed="rId3"/>
                <a:stretch>
                  <a:fillRect l="-978" t="-1937"/>
                </a:stretch>
              </a:blipFill>
            </p:spPr>
            <p:txBody>
              <a:bodyPr/>
              <a:lstStyle/>
              <a:p>
                <a:r>
                  <a:rPr lang="en-US">
                    <a:noFill/>
                  </a:rPr>
                  <a:t> </a:t>
                </a:r>
              </a:p>
            </p:txBody>
          </p:sp>
        </mc:Fallback>
      </mc:AlternateContent>
      <p:pic>
        <p:nvPicPr>
          <p:cNvPr id="6" name="Imagem 5">
            <a:extLst>
              <a:ext uri="{FF2B5EF4-FFF2-40B4-BE49-F238E27FC236}">
                <a16:creationId xmlns:a16="http://schemas.microsoft.com/office/drawing/2014/main" id="{ED5D1F5D-F195-0452-50D4-07E9F2B1C49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590832" y="4709525"/>
            <a:ext cx="5010336" cy="2054533"/>
          </a:xfrm>
          <a:prstGeom prst="rect">
            <a:avLst/>
          </a:prstGeom>
        </p:spPr>
      </p:pic>
      <mc:AlternateContent xmlns:mc="http://schemas.openxmlformats.org/markup-compatibility/2006">
        <mc:Choice xmlns:a14="http://schemas.microsoft.com/office/drawing/2010/main" Requires="a14">
          <p:sp>
            <p:nvSpPr>
              <p:cNvPr id="4" name="CaixaDeTexto 3">
                <a:extLst>
                  <a:ext uri="{FF2B5EF4-FFF2-40B4-BE49-F238E27FC236}">
                    <a16:creationId xmlns:a16="http://schemas.microsoft.com/office/drawing/2014/main" id="{2B7728A0-505D-9DAE-23EC-8172E2EEEFA9}"/>
                  </a:ext>
                </a:extLst>
              </p:cNvPr>
              <p:cNvSpPr txBox="1"/>
              <p:nvPr/>
            </p:nvSpPr>
            <p:spPr>
              <a:xfrm>
                <a:off x="8601168" y="6488667"/>
                <a:ext cx="2701189" cy="369332"/>
              </a:xfrm>
              <a:prstGeom prst="rect">
                <a:avLst/>
              </a:prstGeom>
              <a:noFill/>
            </p:spPr>
            <p:txBody>
              <a:bodyPr wrap="none" rtlCol="0">
                <a:spAutoFit/>
              </a:bodyPr>
              <a:lstStyle/>
              <a:p>
                <a14:m>
                  <m:oMath xmlns:m="http://schemas.openxmlformats.org/officeDocument/2006/math">
                    <m:r>
                      <a:rPr lang="pt-BR" b="0" i="1" smtClean="0">
                        <a:latin typeface="Cambria Math" panose="02040503050406030204" pitchFamily="18" charset="0"/>
                      </a:rPr>
                      <m:t>𝑄</m:t>
                    </m:r>
                    <m:r>
                      <a:rPr lang="pt-BR" b="0" i="1" smtClean="0">
                        <a:latin typeface="Cambria Math" panose="02040503050406030204" pitchFamily="18" charset="0"/>
                      </a:rPr>
                      <m:t>=5</m:t>
                    </m:r>
                  </m:oMath>
                </a14:m>
                <a:r>
                  <a:rPr lang="pt-BR" dirty="0"/>
                  <a:t> (número de classes)</a:t>
                </a:r>
              </a:p>
            </p:txBody>
          </p:sp>
        </mc:Choice>
        <mc:Fallback>
          <p:sp>
            <p:nvSpPr>
              <p:cNvPr id="4" name="CaixaDeTexto 3">
                <a:extLst>
                  <a:ext uri="{FF2B5EF4-FFF2-40B4-BE49-F238E27FC236}">
                    <a16:creationId xmlns:a16="http://schemas.microsoft.com/office/drawing/2014/main" id="{2B7728A0-505D-9DAE-23EC-8172E2EEEFA9}"/>
                  </a:ext>
                </a:extLst>
              </p:cNvPr>
              <p:cNvSpPr txBox="1">
                <a:spLocks noRot="1" noChangeAspect="1" noMove="1" noResize="1" noEditPoints="1" noAdjustHandles="1" noChangeArrowheads="1" noChangeShapeType="1" noTextEdit="1"/>
              </p:cNvSpPr>
              <p:nvPr/>
            </p:nvSpPr>
            <p:spPr>
              <a:xfrm>
                <a:off x="8601168" y="6488667"/>
                <a:ext cx="2701189" cy="369332"/>
              </a:xfrm>
              <a:prstGeom prst="rect">
                <a:avLst/>
              </a:prstGeom>
              <a:blipFill>
                <a:blip r:embed="rId5"/>
                <a:stretch>
                  <a:fillRect l="-451" t="-8197" r="-1354" b="-24590"/>
                </a:stretch>
              </a:blipFill>
            </p:spPr>
            <p:txBody>
              <a:bodyPr/>
              <a:lstStyle/>
              <a:p>
                <a:r>
                  <a:rPr lang="en-US">
                    <a:noFill/>
                  </a:rPr>
                  <a:t> </a:t>
                </a:r>
              </a:p>
            </p:txBody>
          </p:sp>
        </mc:Fallback>
      </mc:AlternateContent>
    </p:spTree>
    <p:extLst>
      <p:ext uri="{BB962C8B-B14F-4D97-AF65-F5344CB8AC3E}">
        <p14:creationId xmlns:p14="http://schemas.microsoft.com/office/powerpoint/2010/main" val="37101915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28A152F-93D8-11FA-9B7A-B62AE5BB6486}"/>
              </a:ext>
            </a:extLst>
          </p:cNvPr>
          <p:cNvSpPr>
            <a:spLocks noGrp="1"/>
          </p:cNvSpPr>
          <p:nvPr>
            <p:ph type="title"/>
          </p:nvPr>
        </p:nvSpPr>
        <p:spPr/>
        <p:txBody>
          <a:bodyPr/>
          <a:lstStyle/>
          <a:p>
            <a:r>
              <a:rPr lang="pt-BR" dirty="0"/>
              <a:t>Função de ativação </a:t>
            </a:r>
            <a:r>
              <a:rPr lang="pt-BR" i="1" dirty="0"/>
              <a:t>softmax</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B3535727-BB24-BB15-5C03-3DA9A3F9A09A}"/>
                  </a:ext>
                </a:extLst>
              </p:cNvPr>
              <p:cNvSpPr>
                <a:spLocks noGrp="1"/>
              </p:cNvSpPr>
              <p:nvPr>
                <p:ph idx="1"/>
              </p:nvPr>
            </p:nvSpPr>
            <p:spPr>
              <a:xfrm>
                <a:off x="6096001" y="1825624"/>
                <a:ext cx="5998028" cy="5032375"/>
              </a:xfrm>
            </p:spPr>
            <p:txBody>
              <a:bodyPr>
                <a:normAutofit/>
              </a:bodyPr>
              <a:lstStyle/>
              <a:p>
                <a:r>
                  <a:rPr lang="pt-BR" dirty="0"/>
                  <a:t>Assim como com o regressor logístico, podemos usar </a:t>
                </a:r>
                <a:r>
                  <a:rPr lang="pt-BR" b="1" dirty="0"/>
                  <a:t>hiperplanos</a:t>
                </a:r>
                <a:r>
                  <a:rPr lang="pt-BR" dirty="0"/>
                  <a:t> ou </a:t>
                </a:r>
                <a:r>
                  <a:rPr lang="pt-BR" b="1" dirty="0"/>
                  <a:t>polinômios</a:t>
                </a:r>
                <a:r>
                  <a:rPr lang="pt-BR" dirty="0"/>
                  <a:t> como </a:t>
                </a:r>
                <a:r>
                  <a:rPr lang="pt-BR" b="1" dirty="0"/>
                  <a:t>funções discriminantes</a:t>
                </a:r>
                <a:r>
                  <a:rPr lang="pt-BR" dirty="0"/>
                  <a:t>.</a:t>
                </a:r>
              </a:p>
              <a:p>
                <a:r>
                  <a:rPr lang="pt-BR" dirty="0"/>
                  <a:t>Nosso objetivo é encontrar um </a:t>
                </a:r>
                <a:r>
                  <a:rPr lang="pt-BR" b="1" dirty="0"/>
                  <a:t>modelo</a:t>
                </a:r>
                <a:r>
                  <a:rPr lang="pt-BR" dirty="0"/>
                  <a:t> (i.e., </a:t>
                </a:r>
                <a:r>
                  <a:rPr lang="pt-BR" b="1" dirty="0"/>
                  <a:t>equação</a:t>
                </a:r>
                <a:r>
                  <a:rPr lang="pt-BR" dirty="0"/>
                  <a:t> e os respectivos </a:t>
                </a:r>
                <a:r>
                  <a:rPr lang="pt-BR" b="1" dirty="0"/>
                  <a:t>pesos</a:t>
                </a:r>
                <a:r>
                  <a:rPr lang="pt-BR" dirty="0"/>
                  <a:t> das </a:t>
                </a:r>
                <a14:m>
                  <m:oMath xmlns:m="http://schemas.openxmlformats.org/officeDocument/2006/math">
                    <m:r>
                      <a:rPr lang="pt-BR" i="1">
                        <a:latin typeface="Cambria Math" panose="02040503050406030204" pitchFamily="18" charset="0"/>
                      </a:rPr>
                      <m:t>𝑄</m:t>
                    </m:r>
                  </m:oMath>
                </a14:m>
                <a:r>
                  <a:rPr lang="pt-BR" dirty="0"/>
                  <a:t> funções hipótese) que </a:t>
                </a:r>
                <a:r>
                  <a:rPr lang="pt-BR" b="1" dirty="0">
                    <a:solidFill>
                      <a:srgbClr val="00B050"/>
                    </a:solidFill>
                  </a:rPr>
                  <a:t>atribua uma alta probabilidade para a classe alvo </a:t>
                </a:r>
                <a:r>
                  <a:rPr lang="pt-BR" dirty="0"/>
                  <a:t>e, consequentemente, </a:t>
                </a:r>
                <a:r>
                  <a:rPr lang="pt-BR" b="1" dirty="0">
                    <a:solidFill>
                      <a:srgbClr val="00B050"/>
                    </a:solidFill>
                  </a:rPr>
                  <a:t>uma baixa probabilidade para as demais classes</a:t>
                </a:r>
                <a:r>
                  <a:rPr lang="pt-BR" dirty="0"/>
                  <a:t>.</a:t>
                </a:r>
              </a:p>
              <a:p>
                <a:pPr marL="0" indent="0" algn="ctr">
                  <a:buNone/>
                </a:pPr>
                <a:endParaRPr lang="pt-BR" dirty="0"/>
              </a:p>
            </p:txBody>
          </p:sp>
        </mc:Choice>
        <mc:Fallback>
          <p:sp>
            <p:nvSpPr>
              <p:cNvPr id="3" name="Espaço Reservado para Conteúdo 2">
                <a:extLst>
                  <a:ext uri="{FF2B5EF4-FFF2-40B4-BE49-F238E27FC236}">
                    <a16:creationId xmlns:a16="http://schemas.microsoft.com/office/drawing/2014/main" id="{B3535727-BB24-BB15-5C03-3DA9A3F9A09A}"/>
                  </a:ext>
                </a:extLst>
              </p:cNvPr>
              <p:cNvSpPr>
                <a:spLocks noGrp="1" noRot="1" noChangeAspect="1" noMove="1" noResize="1" noEditPoints="1" noAdjustHandles="1" noChangeArrowheads="1" noChangeShapeType="1" noTextEdit="1"/>
              </p:cNvSpPr>
              <p:nvPr>
                <p:ph idx="1"/>
              </p:nvPr>
            </p:nvSpPr>
            <p:spPr>
              <a:xfrm>
                <a:off x="6096001" y="1825624"/>
                <a:ext cx="5998028" cy="5032375"/>
              </a:xfrm>
              <a:blipFill>
                <a:blip r:embed="rId3"/>
                <a:stretch>
                  <a:fillRect l="-1829" t="-1937" r="-2846"/>
                </a:stretch>
              </a:blipFill>
            </p:spPr>
            <p:txBody>
              <a:bodyPr/>
              <a:lstStyle/>
              <a:p>
                <a:r>
                  <a:rPr lang="en-US">
                    <a:noFill/>
                  </a:rPr>
                  <a:t> </a:t>
                </a:r>
              </a:p>
            </p:txBody>
          </p:sp>
        </mc:Fallback>
      </mc:AlternateContent>
      <p:pic>
        <p:nvPicPr>
          <p:cNvPr id="4" name="Imagem 5">
            <a:extLst>
              <a:ext uri="{FF2B5EF4-FFF2-40B4-BE49-F238E27FC236}">
                <a16:creationId xmlns:a16="http://schemas.microsoft.com/office/drawing/2014/main" id="{42A1713D-06B5-FB35-8488-833F7CAB716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34041" y="2536723"/>
            <a:ext cx="6066351" cy="2487561"/>
          </a:xfrm>
          <a:prstGeom prst="rect">
            <a:avLst/>
          </a:prstGeom>
        </p:spPr>
      </p:pic>
    </p:spTree>
    <p:extLst>
      <p:ext uri="{BB962C8B-B14F-4D97-AF65-F5344CB8AC3E}">
        <p14:creationId xmlns:p14="http://schemas.microsoft.com/office/powerpoint/2010/main" val="40867176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B9D242-5419-0FFB-7863-B3BB3BD80869}"/>
              </a:ext>
            </a:extLst>
          </p:cNvPr>
          <p:cNvSpPr>
            <a:spLocks noGrp="1"/>
          </p:cNvSpPr>
          <p:nvPr>
            <p:ph type="title"/>
          </p:nvPr>
        </p:nvSpPr>
        <p:spPr/>
        <p:txBody>
          <a:bodyPr/>
          <a:lstStyle/>
          <a:p>
            <a:r>
              <a:rPr lang="pt-BR" dirty="0"/>
              <a:t>Função de erro</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34B1DEA3-BAAD-D90C-CD9D-99A5A24F4544}"/>
                  </a:ext>
                </a:extLst>
              </p:cNvPr>
              <p:cNvSpPr>
                <a:spLocks noGrp="1"/>
              </p:cNvSpPr>
              <p:nvPr>
                <p:ph idx="1"/>
              </p:nvPr>
            </p:nvSpPr>
            <p:spPr>
              <a:xfrm>
                <a:off x="838199" y="1825624"/>
                <a:ext cx="11353801" cy="5032375"/>
              </a:xfrm>
            </p:spPr>
            <p:txBody>
              <a:bodyPr>
                <a:normAutofit/>
              </a:bodyPr>
              <a:lstStyle/>
              <a:p>
                <a:r>
                  <a:rPr lang="pt-BR" dirty="0"/>
                  <a:t>Para atingir o objetivo, devemos definir uma </a:t>
                </a:r>
                <a:r>
                  <a:rPr lang="pt-BR" b="1" dirty="0"/>
                  <a:t>função de erro </a:t>
                </a:r>
                <a:r>
                  <a:rPr lang="pt-BR" dirty="0"/>
                  <a:t>a ser </a:t>
                </a:r>
                <a:r>
                  <a:rPr lang="pt-BR" b="1" dirty="0">
                    <a:solidFill>
                      <a:srgbClr val="7030A0"/>
                    </a:solidFill>
                  </a:rPr>
                  <a:t>minimizada</a:t>
                </a:r>
                <a:r>
                  <a:rPr lang="pt-BR" dirty="0"/>
                  <a:t>.</a:t>
                </a:r>
              </a:p>
              <a:p>
                <a:r>
                  <a:rPr lang="pt-BR" dirty="0"/>
                  <a:t>Usamos a generalização da função da entropia cruzada, chamada de </a:t>
                </a:r>
                <a:r>
                  <a:rPr lang="pt-BR" b="1" dirty="0"/>
                  <a:t>entropia cruzada categórica</a:t>
                </a:r>
                <a:r>
                  <a:rPr lang="pt-BR" dirty="0"/>
                  <a:t>, a qual é dada por</a:t>
                </a:r>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smtClean="0">
                              <a:latin typeface="Cambria Math" panose="02040503050406030204" pitchFamily="18" charset="0"/>
                            </a:rPr>
                            <m:t>𝑨</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𝑞</m:t>
                              </m:r>
                              <m:r>
                                <a:rPr lang="pt-BR" i="1">
                                  <a:latin typeface="Cambria Math" panose="02040503050406030204" pitchFamily="18" charset="0"/>
                                </a:rPr>
                                <m:t>=</m:t>
                              </m:r>
                              <m:r>
                                <a:rPr lang="pt-BR" i="1">
                                  <a:latin typeface="Cambria Math" panose="02040503050406030204" pitchFamily="18" charset="0"/>
                                </a:rPr>
                                <m:t>0</m:t>
                              </m:r>
                            </m:sub>
                            <m:sup>
                              <m:r>
                                <a:rPr lang="pt-BR" i="1">
                                  <a:latin typeface="Cambria Math" panose="02040503050406030204" pitchFamily="18" charset="0"/>
                                </a:rPr>
                                <m:t>𝑄</m:t>
                              </m:r>
                              <m:r>
                                <a:rPr lang="pt-BR" i="1">
                                  <a:latin typeface="Cambria Math" panose="02040503050406030204" pitchFamily="18" charset="0"/>
                                </a:rPr>
                                <m:t>−1</m:t>
                              </m:r>
                            </m:sup>
                            <m:e>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rPr>
                                    <m:t>𝑞</m:t>
                                  </m:r>
                                </m:e>
                              </m:d>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a:latin typeface="Cambria Math" panose="02040503050406030204" pitchFamily="18" charset="0"/>
                                        </a:rPr>
                                      </m:ctrlPr>
                                    </m:dPr>
                                    <m:e>
                                      <m:acc>
                                        <m:accPr>
                                          <m:chr m:val="̂"/>
                                          <m:ctrlPr>
                                            <a:rPr lang="pt-BR" i="1">
                                              <a:latin typeface="Cambria Math" panose="02040503050406030204" pitchFamily="18" charset="0"/>
                                            </a:rPr>
                                          </m:ctrlPr>
                                        </m:accPr>
                                        <m:e>
                                          <m:r>
                                            <a:rPr lang="pt-BR" b="0" i="1">
                                              <a:latin typeface="Cambria Math" panose="02040503050406030204" pitchFamily="18" charset="0"/>
                                            </a:rPr>
                                            <m:t>𝑦</m:t>
                                          </m:r>
                                        </m:e>
                                      </m:acc>
                                      <m:r>
                                        <a:rPr lang="pt-BR" b="0" i="1">
                                          <a:latin typeface="Cambria Math" panose="02040503050406030204" pitchFamily="18" charset="0"/>
                                        </a:rPr>
                                        <m:t> </m:t>
                                      </m:r>
                                      <m:d>
                                        <m:dPr>
                                          <m:ctrlPr>
                                            <a:rPr lang="pt-BR" i="1">
                                              <a:latin typeface="Cambria Math" panose="02040503050406030204" pitchFamily="18" charset="0"/>
                                            </a:rPr>
                                          </m:ctrlPr>
                                        </m:dPr>
                                        <m:e>
                                          <m:r>
                                            <a:rPr lang="pt-BR" i="1">
                                              <a:latin typeface="Cambria Math" panose="02040503050406030204" pitchFamily="18" charset="0"/>
                                            </a:rPr>
                                            <m:t>𝑛</m:t>
                                          </m:r>
                                        </m:e>
                                      </m:d>
                                    </m:e>
                                  </m:d>
                                </m:e>
                              </m:func>
                            </m:e>
                          </m:nary>
                        </m:e>
                      </m:nary>
                      <m:r>
                        <a:rPr lang="pt-BR" i="1">
                          <a:latin typeface="Cambria Math" panose="02040503050406030204" pitchFamily="18" charset="0"/>
                        </a:rPr>
                        <m:t>,</m:t>
                      </m:r>
                    </m:oMath>
                  </m:oMathPara>
                </a14:m>
                <a:endParaRPr lang="pt-BR" dirty="0"/>
              </a:p>
              <a:p>
                <a:pPr marL="0" indent="0">
                  <a:buNone/>
                </a:pPr>
                <a:r>
                  <a:rPr lang="pt-BR" dirty="0"/>
                  <a:t>onde 1{⋅} é a </a:t>
                </a:r>
                <a:r>
                  <a:rPr lang="pt-BR" b="1" dirty="0"/>
                  <a:t>função indicadora </a:t>
                </a:r>
                <a:r>
                  <a:rPr lang="pt-BR" dirty="0"/>
                  <a:t>(1{condição verdadeira} = 1 e 1{condição falsa} = 0), </a:t>
                </a:r>
                <a14:m>
                  <m:oMath xmlns:m="http://schemas.openxmlformats.org/officeDocument/2006/math">
                    <m:r>
                      <a:rPr lang="pt-BR" b="1" i="1" smtClean="0">
                        <a:latin typeface="Cambria Math" panose="02040503050406030204" pitchFamily="18" charset="0"/>
                      </a:rPr>
                      <m:t>𝑨</m:t>
                    </m:r>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i="1" dirty="0">
                            <a:latin typeface="Cambria Math" panose="02040503050406030204" pitchFamily="18" charset="0"/>
                            <a:ea typeface="Cambria Math" panose="02040503050406030204" pitchFamily="18" charset="0"/>
                          </a:rPr>
                          <m:t>𝐾</m:t>
                        </m:r>
                        <m:r>
                          <a:rPr lang="pt-BR" i="1" dirty="0">
                            <a:latin typeface="Cambria Math" panose="02040503050406030204" pitchFamily="18" charset="0"/>
                            <a:ea typeface="Cambria Math" panose="02040503050406030204" pitchFamily="18" charset="0"/>
                          </a:rPr>
                          <m:t>+1×</m:t>
                        </m:r>
                        <m:r>
                          <a:rPr lang="pt-BR" i="1" dirty="0">
                            <a:latin typeface="Cambria Math" panose="02040503050406030204" pitchFamily="18" charset="0"/>
                            <a:ea typeface="Cambria Math" panose="02040503050406030204" pitchFamily="18" charset="0"/>
                          </a:rPr>
                          <m:t>𝑄</m:t>
                        </m:r>
                      </m:sup>
                    </m:sSup>
                  </m:oMath>
                </a14:m>
                <a:r>
                  <a:rPr lang="pt-BR" dirty="0"/>
                  <a:t> é a matriz com os </a:t>
                </a:r>
                <a:r>
                  <a:rPr lang="pt-BR" b="1" dirty="0"/>
                  <a:t>pesos</a:t>
                </a:r>
                <a:r>
                  <a:rPr lang="pt-BR" dirty="0"/>
                  <a:t> das </a:t>
                </a:r>
                <a14:m>
                  <m:oMath xmlns:m="http://schemas.openxmlformats.org/officeDocument/2006/math">
                    <m:r>
                      <a:rPr lang="pt-BR" i="1">
                        <a:latin typeface="Cambria Math" panose="02040503050406030204" pitchFamily="18" charset="0"/>
                      </a:rPr>
                      <m:t>𝑄</m:t>
                    </m:r>
                  </m:oMath>
                </a14:m>
                <a:r>
                  <a:rPr lang="pt-BR" b="1" i="1" dirty="0"/>
                  <a:t> </a:t>
                </a:r>
                <a:r>
                  <a:rPr lang="pt-BR" b="1" dirty="0"/>
                  <a:t>funções hipótese</a:t>
                </a:r>
                <a:r>
                  <a:rPr lang="pt-BR" dirty="0"/>
                  <a:t>, </a:t>
                </a:r>
                <a14:m>
                  <m:oMath xmlns:m="http://schemas.openxmlformats.org/officeDocument/2006/math">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é rótulo do </a:t>
                </a:r>
                <a14:m>
                  <m:oMath xmlns:m="http://schemas.openxmlformats.org/officeDocument/2006/math">
                    <m:r>
                      <a:rPr lang="pt-BR" i="1">
                        <a:latin typeface="Cambria Math" panose="02040503050406030204" pitchFamily="18" charset="0"/>
                      </a:rPr>
                      <m:t>𝑛</m:t>
                    </m:r>
                  </m:oMath>
                </a14:m>
                <a:r>
                  <a:rPr lang="pt-BR" dirty="0"/>
                  <a:t>-ésimo exemplo e </a:t>
                </a:r>
                <a14:m>
                  <m:oMath xmlns:m="http://schemas.openxmlformats.org/officeDocument/2006/math">
                    <m:sSubSup>
                      <m:sSubSupPr>
                        <m:ctrlPr>
                          <a:rPr lang="pt-BR" b="1" i="1">
                            <a:latin typeface="Cambria Math" panose="02040503050406030204" pitchFamily="18" charset="0"/>
                          </a:rPr>
                        </m:ctrlPr>
                      </m:sSubSupPr>
                      <m:e>
                        <m:acc>
                          <m:accPr>
                            <m:chr m:val="̂"/>
                            <m:ctrlPr>
                              <a:rPr lang="pt-BR" i="1">
                                <a:latin typeface="Cambria Math" panose="02040503050406030204" pitchFamily="18" charset="0"/>
                              </a:rPr>
                            </m:ctrlPr>
                          </m:accPr>
                          <m:e>
                            <m:r>
                              <a:rPr lang="pt-BR" b="0" i="1">
                                <a:latin typeface="Cambria Math" panose="02040503050406030204" pitchFamily="18" charset="0"/>
                              </a:rPr>
                              <m:t>𝑦</m:t>
                            </m:r>
                          </m:e>
                        </m:acc>
                        <m:r>
                          <a:rPr lang="pt-BR" b="0" i="1">
                            <a:latin typeface="Cambria Math" panose="02040503050406030204" pitchFamily="18" charset="0"/>
                          </a:rPr>
                          <m:t> </m:t>
                        </m:r>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d>
                  </m:oMath>
                </a14:m>
                <a:r>
                  <a:rPr lang="pt-BR" dirty="0"/>
                  <a:t> é a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saída do modelo para o </a:t>
                </a:r>
                <a14:m>
                  <m:oMath xmlns:m="http://schemas.openxmlformats.org/officeDocument/2006/math">
                    <m:r>
                      <a:rPr lang="pt-BR" i="1">
                        <a:latin typeface="Cambria Math" panose="02040503050406030204" pitchFamily="18" charset="0"/>
                      </a:rPr>
                      <m:t>𝑛</m:t>
                    </m:r>
                  </m:oMath>
                </a14:m>
                <a:r>
                  <a:rPr lang="pt-BR" dirty="0"/>
                  <a:t>-ésimo exemplo.</a:t>
                </a:r>
              </a:p>
              <a:p>
                <a:pPr lvl="1">
                  <a:buFont typeface="Wingdings" panose="05000000000000000000" pitchFamily="2" charset="2"/>
                  <a:buChar char="§"/>
                </a:pPr>
                <a:r>
                  <a:rPr lang="pt-BR" dirty="0"/>
                  <a:t>O erro tende a 0 quando </a:t>
                </a:r>
                <a14:m>
                  <m:oMath xmlns:m="http://schemas.openxmlformats.org/officeDocument/2006/math">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d>
                  </m:oMath>
                </a14:m>
                <a:r>
                  <a:rPr lang="pt-BR" dirty="0"/>
                  <a:t> tende a 1, caso contrário, o erro aumenta.</a:t>
                </a:r>
              </a:p>
            </p:txBody>
          </p:sp>
        </mc:Choice>
        <mc:Fallback>
          <p:sp>
            <p:nvSpPr>
              <p:cNvPr id="3" name="Content Placeholder 2">
                <a:extLst>
                  <a:ext uri="{FF2B5EF4-FFF2-40B4-BE49-F238E27FC236}">
                    <a16:creationId xmlns:a16="http://schemas.microsoft.com/office/drawing/2014/main" id="{34B1DEA3-BAAD-D90C-CD9D-99A5A24F4544}"/>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1074" t="-1937" r="-376" b="-2179"/>
                </a:stretch>
              </a:blipFill>
            </p:spPr>
            <p:txBody>
              <a:bodyPr/>
              <a:lstStyle/>
              <a:p>
                <a:r>
                  <a:rPr lang="en-US">
                    <a:noFill/>
                  </a:rPr>
                  <a:t> </a:t>
                </a:r>
              </a:p>
            </p:txBody>
          </p:sp>
        </mc:Fallback>
      </mc:AlternateContent>
    </p:spTree>
    <p:extLst>
      <p:ext uri="{BB962C8B-B14F-4D97-AF65-F5344CB8AC3E}">
        <p14:creationId xmlns:p14="http://schemas.microsoft.com/office/powerpoint/2010/main" val="115875191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538D5-DC01-EC48-38D2-99D754F1BB92}"/>
              </a:ext>
            </a:extLst>
          </p:cNvPr>
          <p:cNvSpPr>
            <a:spLocks noGrp="1"/>
          </p:cNvSpPr>
          <p:nvPr>
            <p:ph type="title"/>
          </p:nvPr>
        </p:nvSpPr>
        <p:spPr/>
        <p:txBody>
          <a:bodyPr/>
          <a:lstStyle/>
          <a:p>
            <a:r>
              <a:rPr lang="pt-BR" dirty="0"/>
              <a:t>Função de erro</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17D7928D-3A32-7330-5FDC-756155EF2F3D}"/>
                  </a:ext>
                </a:extLst>
              </p:cNvPr>
              <p:cNvSpPr>
                <a:spLocks noGrp="1"/>
              </p:cNvSpPr>
              <p:nvPr>
                <p:ph idx="1"/>
              </p:nvPr>
            </p:nvSpPr>
            <p:spPr/>
            <p:txBody>
              <a:bodyPr/>
              <a:lstStyle/>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𝑨</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𝑞</m:t>
                              </m:r>
                              <m:r>
                                <a:rPr lang="pt-BR" i="1">
                                  <a:latin typeface="Cambria Math" panose="02040503050406030204" pitchFamily="18" charset="0"/>
                                </a:rPr>
                                <m:t>=0</m:t>
                              </m:r>
                            </m:sub>
                            <m:sup>
                              <m:r>
                                <a:rPr lang="pt-BR" i="1">
                                  <a:latin typeface="Cambria Math" panose="02040503050406030204" pitchFamily="18" charset="0"/>
                                </a:rPr>
                                <m:t>𝑄</m:t>
                              </m:r>
                              <m:r>
                                <a:rPr lang="pt-BR" i="1">
                                  <a:latin typeface="Cambria Math" panose="02040503050406030204" pitchFamily="18" charset="0"/>
                                </a:rPr>
                                <m:t>−1</m:t>
                              </m:r>
                            </m:sup>
                            <m:e>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rPr>
                                    <m:t>𝑞</m:t>
                                  </m:r>
                                </m:e>
                              </m:d>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a:latin typeface="Cambria Math" panose="02040503050406030204" pitchFamily="18" charset="0"/>
                                        </a:rPr>
                                      </m:ctrlPr>
                                    </m:dPr>
                                    <m:e>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 </m:t>
                                      </m:r>
                                      <m:d>
                                        <m:dPr>
                                          <m:ctrlPr>
                                            <a:rPr lang="pt-BR" i="1">
                                              <a:latin typeface="Cambria Math" panose="02040503050406030204" pitchFamily="18" charset="0"/>
                                            </a:rPr>
                                          </m:ctrlPr>
                                        </m:dPr>
                                        <m:e>
                                          <m:r>
                                            <a:rPr lang="pt-BR" i="1">
                                              <a:latin typeface="Cambria Math" panose="02040503050406030204" pitchFamily="18" charset="0"/>
                                            </a:rPr>
                                            <m:t>𝑛</m:t>
                                          </m:r>
                                        </m:e>
                                      </m:d>
                                    </m:e>
                                  </m:d>
                                </m:e>
                              </m:func>
                            </m:e>
                          </m:nary>
                        </m:e>
                      </m:nary>
                    </m:oMath>
                  </m:oMathPara>
                </a14:m>
                <a:endParaRPr lang="pt-BR" dirty="0"/>
              </a:p>
              <a:p>
                <a:r>
                  <a:rPr lang="pt-BR" dirty="0"/>
                  <a:t>A matriz </a:t>
                </a:r>
                <a14:m>
                  <m:oMath xmlns:m="http://schemas.openxmlformats.org/officeDocument/2006/math">
                    <m:r>
                      <a:rPr lang="pt-BR" b="1" i="1">
                        <a:latin typeface="Cambria Math" panose="02040503050406030204" pitchFamily="18" charset="0"/>
                      </a:rPr>
                      <m:t>𝑨</m:t>
                    </m:r>
                  </m:oMath>
                </a14:m>
                <a:r>
                  <a:rPr lang="pt-BR" dirty="0"/>
                  <a:t> contém em suas colunas os vetores de pesos,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dirty="0"/>
                  <a:t>, de cada uma das </a:t>
                </a:r>
                <a14:m>
                  <m:oMath xmlns:m="http://schemas.openxmlformats.org/officeDocument/2006/math">
                    <m:r>
                      <a:rPr lang="pt-BR" i="1">
                        <a:latin typeface="Cambria Math" panose="02040503050406030204" pitchFamily="18" charset="0"/>
                      </a:rPr>
                      <m:t>𝑄</m:t>
                    </m:r>
                  </m:oMath>
                </a14:m>
                <a:r>
                  <a:rPr lang="pt-BR" dirty="0"/>
                  <a:t> </a:t>
                </a:r>
                <a:r>
                  <a:rPr lang="pt-BR" b="1" dirty="0"/>
                  <a:t>funções discriminantes</a:t>
                </a:r>
                <a:r>
                  <a:rPr lang="pt-BR" dirty="0"/>
                  <a:t>.</a:t>
                </a:r>
              </a:p>
              <a:p>
                <a:r>
                  <a:rPr lang="pt-BR" dirty="0"/>
                  <a:t>A função mede a </a:t>
                </a:r>
                <a:r>
                  <a:rPr lang="pt-BR" b="1" dirty="0">
                    <a:solidFill>
                      <a:schemeClr val="accent2"/>
                    </a:solidFill>
                  </a:rPr>
                  <a:t>diferença </a:t>
                </a:r>
                <a:r>
                  <a:rPr lang="pt-BR" b="1" dirty="0">
                    <a:solidFill>
                      <a:srgbClr val="7030A0"/>
                    </a:solidFill>
                  </a:rPr>
                  <a:t>entre as distribuições de probabilidade preditas pelo modelo e as distribuições dos rótulos </a:t>
                </a:r>
                <a:r>
                  <a:rPr lang="pt-BR" dirty="0"/>
                  <a:t>das classes.</a:t>
                </a:r>
              </a:p>
              <a:p>
                <a:endParaRPr lang="pt-BR" dirty="0"/>
              </a:p>
              <a:p>
                <a:endParaRPr lang="en-US" dirty="0"/>
              </a:p>
            </p:txBody>
          </p:sp>
        </mc:Choice>
        <mc:Fallback>
          <p:sp>
            <p:nvSpPr>
              <p:cNvPr id="3" name="Content Placeholder 2">
                <a:extLst>
                  <a:ext uri="{FF2B5EF4-FFF2-40B4-BE49-F238E27FC236}">
                    <a16:creationId xmlns:a16="http://schemas.microsoft.com/office/drawing/2014/main" id="{17D7928D-3A32-7330-5FDC-756155EF2F3D}"/>
                  </a:ext>
                </a:extLst>
              </p:cNvPr>
              <p:cNvSpPr>
                <a:spLocks noGrp="1" noRot="1" noChangeAspect="1" noMove="1" noResize="1" noEditPoints="1" noAdjustHandles="1" noChangeArrowheads="1" noChangeShapeType="1" noTextEdit="1"/>
              </p:cNvSpPr>
              <p:nvPr>
                <p:ph idx="1"/>
              </p:nvPr>
            </p:nvSpPr>
            <p:spPr>
              <a:blipFill>
                <a:blip r:embed="rId2"/>
                <a:stretch>
                  <a:fillRect l="-1043" r="-58"/>
                </a:stretch>
              </a:blipFill>
            </p:spPr>
            <p:txBody>
              <a:bodyPr/>
              <a:lstStyle/>
              <a:p>
                <a:r>
                  <a:rPr lang="en-US">
                    <a:noFill/>
                  </a:rPr>
                  <a:t> </a:t>
                </a:r>
              </a:p>
            </p:txBody>
          </p:sp>
        </mc:Fallback>
      </mc:AlternateContent>
    </p:spTree>
    <p:extLst>
      <p:ext uri="{BB962C8B-B14F-4D97-AF65-F5344CB8AC3E}">
        <p14:creationId xmlns:p14="http://schemas.microsoft.com/office/powerpoint/2010/main" val="23536568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E7CD05-66F2-8967-6154-CCED38E0F987}"/>
              </a:ext>
            </a:extLst>
          </p:cNvPr>
          <p:cNvSpPr>
            <a:spLocks noGrp="1"/>
          </p:cNvSpPr>
          <p:nvPr>
            <p:ph type="title"/>
          </p:nvPr>
        </p:nvSpPr>
        <p:spPr/>
        <p:txBody>
          <a:bodyPr/>
          <a:lstStyle/>
          <a:p>
            <a:r>
              <a:rPr lang="pt-BR" dirty="0"/>
              <a:t>Função de erro</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21A86630-5D79-AD4B-79FC-6C8373E8DB39}"/>
                  </a:ext>
                </a:extLst>
              </p:cNvPr>
              <p:cNvSpPr>
                <a:spLocks noGrp="1"/>
              </p:cNvSpPr>
              <p:nvPr>
                <p:ph idx="1"/>
              </p:nvPr>
            </p:nvSpPr>
            <p:spPr>
              <a:xfrm>
                <a:off x="838199" y="1825624"/>
                <a:ext cx="11144693" cy="5032375"/>
              </a:xfrm>
            </p:spPr>
            <p:txBody>
              <a:bodyPr>
                <a:normAutofit/>
              </a:bodyPr>
              <a:lstStyle/>
              <a:p>
                <a:r>
                  <a:rPr lang="pt-BR" dirty="0"/>
                  <a:t>Usando a codificação </a:t>
                </a:r>
                <a:r>
                  <a:rPr lang="pt-BR" b="1" i="1" dirty="0"/>
                  <a:t>one-hot</a:t>
                </a:r>
                <a:r>
                  <a:rPr lang="pt-BR" dirty="0"/>
                  <a:t>, a equação pode ser re-escrita como</a:t>
                </a:r>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smtClean="0">
                              <a:latin typeface="Cambria Math" panose="02040503050406030204" pitchFamily="18" charset="0"/>
                            </a:rPr>
                            <m:t>𝑨</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r>
                                <a:rPr lang="pt-BR" b="1" i="1">
                                  <a:latin typeface="Cambria Math" panose="02040503050406030204" pitchFamily="18" charset="0"/>
                                </a:rPr>
                                <m:t>𝒚</m:t>
                              </m:r>
                              <m:d>
                                <m:dPr>
                                  <m:ctrlPr>
                                    <a:rPr lang="pt-BR" b="1" i="1">
                                      <a:latin typeface="Cambria Math" panose="02040503050406030204" pitchFamily="18" charset="0"/>
                                    </a:rPr>
                                  </m:ctrlPr>
                                </m:dPr>
                                <m:e>
                                  <m:r>
                                    <a:rPr lang="pt-BR" b="0" i="1" smtClean="0">
                                      <a:latin typeface="Cambria Math" panose="02040503050406030204" pitchFamily="18" charset="0"/>
                                    </a:rPr>
                                    <m:t>𝑛</m:t>
                                  </m:r>
                                </m:e>
                              </m:d>
                            </m:e>
                            <m:sup>
                              <m:r>
                                <a:rPr lang="pt-BR" i="1">
                                  <a:latin typeface="Cambria Math" panose="02040503050406030204" pitchFamily="18" charset="0"/>
                                </a:rPr>
                                <m:t>𝑇</m:t>
                              </m:r>
                            </m:sup>
                          </m:sSup>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smtClean="0">
                                      <a:latin typeface="Cambria Math" panose="02040503050406030204" pitchFamily="18" charset="0"/>
                                    </a:rPr>
                                  </m:ctrlPr>
                                </m:dPr>
                                <m:e>
                                  <m:acc>
                                    <m:accPr>
                                      <m:chr m:val="̂"/>
                                      <m:ctrlPr>
                                        <a:rPr lang="pt-BR" i="1" smtClean="0">
                                          <a:latin typeface="Cambria Math" panose="02040503050406030204" pitchFamily="18" charset="0"/>
                                        </a:rPr>
                                      </m:ctrlPr>
                                    </m:accPr>
                                    <m:e>
                                      <m:r>
                                        <a:rPr lang="pt-BR" b="1" i="1" smtClean="0">
                                          <a:latin typeface="Cambria Math" panose="02040503050406030204" pitchFamily="18" charset="0"/>
                                        </a:rPr>
                                        <m:t>𝒚</m:t>
                                      </m:r>
                                    </m:e>
                                  </m:acc>
                                  <m:r>
                                    <a:rPr lang="pt-BR" b="0" i="1" smtClean="0">
                                      <a:latin typeface="Cambria Math" panose="02040503050406030204" pitchFamily="18" charset="0"/>
                                    </a:rPr>
                                    <m:t> </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d>
                            </m:e>
                          </m:func>
                        </m:e>
                      </m:nary>
                      <m:r>
                        <a:rPr lang="pt-BR" b="0" i="1" smtClean="0">
                          <a:latin typeface="Cambria Math" panose="02040503050406030204" pitchFamily="18" charset="0"/>
                        </a:rPr>
                        <m:t>,</m:t>
                      </m:r>
                    </m:oMath>
                  </m:oMathPara>
                </a14:m>
                <a:endParaRPr lang="pt-BR" b="0" i="0" dirty="0">
                  <a:effectLst/>
                </a:endParaRPr>
              </a:p>
              <a:p>
                <a:pPr marL="0" indent="0">
                  <a:buNone/>
                </a:pPr>
                <a:r>
                  <a:rPr lang="pt-BR" dirty="0"/>
                  <a:t>onde </a:t>
                </a:r>
                <a14:m>
                  <m:oMath xmlns:m="http://schemas.openxmlformats.org/officeDocument/2006/math">
                    <m:r>
                      <a:rPr lang="pt-BR" b="1" i="1">
                        <a:latin typeface="Cambria Math" panose="02040503050406030204" pitchFamily="18" charset="0"/>
                      </a:rPr>
                      <m:t>𝒚</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sSup>
                      <m:sSupPr>
                        <m:ctrlPr>
                          <a:rPr lang="pt-BR" i="1" smtClean="0">
                            <a:latin typeface="Cambria Math" panose="02040503050406030204" pitchFamily="18" charset="0"/>
                          </a:rPr>
                        </m:ctrlPr>
                      </m:sSupPr>
                      <m:e>
                        <m:d>
                          <m:dPr>
                            <m:begChr m:val="["/>
                            <m:endChr m:val="]"/>
                            <m:ctrlPr>
                              <a:rPr lang="pt-BR" i="1" smtClean="0">
                                <a:latin typeface="Cambria Math" panose="02040503050406030204" pitchFamily="18" charset="0"/>
                              </a:rPr>
                            </m:ctrlPr>
                          </m:dPr>
                          <m:e>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b="0" i="1" smtClean="0">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rPr>
                              <m:t>,</m:t>
                            </m:r>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b="0" i="1" smtClean="0">
                                    <a:latin typeface="Cambria Math" panose="02040503050406030204" pitchFamily="18" charset="0"/>
                                  </a:rPr>
                                  <m:t>𝑄</m:t>
                                </m:r>
                                <m:r>
                                  <a:rPr lang="pt-BR" b="0" i="1" smtClean="0">
                                    <a:latin typeface="Cambria Math" panose="02040503050406030204" pitchFamily="18" charset="0"/>
                                  </a:rPr>
                                  <m:t>−1</m:t>
                                </m:r>
                              </m:e>
                            </m:d>
                          </m:e>
                        </m:d>
                      </m:e>
                      <m:sup>
                        <m:r>
                          <a:rPr lang="pt-BR" b="0" i="1" smtClean="0">
                            <a:latin typeface="Cambria Math" panose="02040503050406030204" pitchFamily="18" charset="0"/>
                          </a:rPr>
                          <m:t>𝑇</m:t>
                        </m:r>
                      </m:sup>
                    </m:sSup>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b="0" i="1" dirty="0" smtClean="0">
                            <a:latin typeface="Cambria Math" panose="02040503050406030204" pitchFamily="18" charset="0"/>
                            <a:ea typeface="Cambria Math" panose="02040503050406030204" pitchFamily="18" charset="0"/>
                          </a:rPr>
                          <m:t>𝑄</m:t>
                        </m:r>
                        <m:r>
                          <a:rPr lang="pt-BR" i="1" dirty="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1</m:t>
                        </m:r>
                      </m:sup>
                    </m:sSup>
                  </m:oMath>
                </a14:m>
                <a:r>
                  <a:rPr lang="pt-BR" dirty="0"/>
                  <a:t> é um vetor com os rótulos usando a codificação </a:t>
                </a:r>
                <a:r>
                  <a:rPr lang="pt-BR" b="1" i="1" dirty="0"/>
                  <a:t>one-hot</a:t>
                </a:r>
                <a:r>
                  <a:rPr lang="pt-BR" dirty="0"/>
                  <a:t> e </a:t>
                </a:r>
                <a14:m>
                  <m:oMath xmlns:m="http://schemas.openxmlformats.org/officeDocument/2006/math">
                    <m:acc>
                      <m:accPr>
                        <m:chr m:val="̂"/>
                        <m:ctrlPr>
                          <a:rPr lang="pt-BR" i="1">
                            <a:latin typeface="Cambria Math" panose="02040503050406030204" pitchFamily="18" charset="0"/>
                          </a:rPr>
                        </m:ctrlPr>
                      </m:accPr>
                      <m:e>
                        <m:r>
                          <a:rPr lang="pt-BR" b="1" i="1">
                            <a:latin typeface="Cambria Math" panose="02040503050406030204" pitchFamily="18" charset="0"/>
                          </a:rPr>
                          <m:t>𝒚</m:t>
                        </m:r>
                      </m:e>
                    </m:acc>
                    <m:r>
                      <a:rPr lang="pt-BR" i="1">
                        <a:latin typeface="Cambria Math" panose="02040503050406030204" pitchFamily="18" charset="0"/>
                      </a:rPr>
                      <m:t> </m:t>
                    </m:r>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sSup>
                      <m:sSupPr>
                        <m:ctrlPr>
                          <a:rPr lang="pt-BR" b="0" i="1" smtClean="0">
                            <a:latin typeface="Cambria Math" panose="02040503050406030204" pitchFamily="18" charset="0"/>
                          </a:rPr>
                        </m:ctrlPr>
                      </m:sSupPr>
                      <m:e>
                        <m:d>
                          <m:dPr>
                            <m:begChr m:val="["/>
                            <m:endChr m:val="]"/>
                            <m:ctrlPr>
                              <a:rPr lang="pt-BR" i="1">
                                <a:latin typeface="Cambria Math" panose="02040503050406030204" pitchFamily="18" charset="0"/>
                              </a:rPr>
                            </m:ctrlPr>
                          </m:dPr>
                          <m:e>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b="0" i="1" smtClean="0">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b="1" i="1">
                                <a:latin typeface="Cambria Math" panose="02040503050406030204" pitchFamily="18" charset="0"/>
                              </a:rPr>
                              <m:t>,⋯</m:t>
                            </m:r>
                            <m:r>
                              <a:rPr lang="pt-BR" i="1">
                                <a:latin typeface="Cambria Math" panose="02040503050406030204" pitchFamily="18" charset="0"/>
                              </a:rPr>
                              <m:t>,</m:t>
                            </m:r>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𝑄</m:t>
                                </m:r>
                                <m:r>
                                  <a:rPr lang="pt-BR" b="0" i="1" smtClean="0">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b="0" i="1" smtClean="0">
                            <a:latin typeface="Cambria Math" panose="02040503050406030204" pitchFamily="18" charset="0"/>
                          </a:rPr>
                          <m:t>𝑇</m:t>
                        </m:r>
                      </m:sup>
                    </m:sSup>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b="0" i="1" dirty="0" smtClean="0">
                            <a:latin typeface="Cambria Math" panose="02040503050406030204" pitchFamily="18" charset="0"/>
                            <a:ea typeface="Cambria Math" panose="02040503050406030204" pitchFamily="18" charset="0"/>
                          </a:rPr>
                          <m:t>𝑄</m:t>
                        </m:r>
                        <m:r>
                          <a:rPr lang="pt-BR" i="1" dirty="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1</m:t>
                        </m:r>
                      </m:sup>
                    </m:sSup>
                    <m:r>
                      <a:rPr lang="pt-BR" i="1" dirty="0">
                        <a:latin typeface="Cambria Math" panose="02040503050406030204" pitchFamily="18" charset="0"/>
                        <a:ea typeface="Cambria Math" panose="02040503050406030204" pitchFamily="18" charset="0"/>
                      </a:rPr>
                      <m:t> </m:t>
                    </m:r>
                  </m:oMath>
                </a14:m>
                <a:r>
                  <a:rPr lang="pt-BR" dirty="0"/>
                  <a:t>é um vetor com as </a:t>
                </a:r>
                <a14:m>
                  <m:oMath xmlns:m="http://schemas.openxmlformats.org/officeDocument/2006/math">
                    <m:r>
                      <a:rPr lang="pt-BR" i="1" dirty="0">
                        <a:latin typeface="Cambria Math" panose="02040503050406030204" pitchFamily="18" charset="0"/>
                        <a:ea typeface="Cambria Math" panose="02040503050406030204" pitchFamily="18" charset="0"/>
                      </a:rPr>
                      <m:t>𝑄</m:t>
                    </m:r>
                  </m:oMath>
                </a14:m>
                <a:r>
                  <a:rPr lang="pt-BR" dirty="0"/>
                  <a:t> saídas do modelo para o </a:t>
                </a:r>
                <a14:m>
                  <m:oMath xmlns:m="http://schemas.openxmlformats.org/officeDocument/2006/math">
                    <m:r>
                      <a:rPr lang="pt-BR" i="1">
                        <a:latin typeface="Cambria Math" panose="02040503050406030204" pitchFamily="18" charset="0"/>
                      </a:rPr>
                      <m:t>𝑛</m:t>
                    </m:r>
                  </m:oMath>
                </a14:m>
                <a:r>
                  <a:rPr lang="pt-BR" dirty="0"/>
                  <a:t>-ésimo exemplo de entrada.</a:t>
                </a:r>
                <a:endParaRPr lang="pt-BR" b="1" i="1" dirty="0"/>
              </a:p>
              <a:p>
                <a:r>
                  <a:rPr lang="pt-BR" b="0" dirty="0">
                    <a:effectLst/>
                  </a:rPr>
                  <a:t>Durante o </a:t>
                </a:r>
                <a:r>
                  <a:rPr lang="pt-BR" b="1" dirty="0">
                    <a:solidFill>
                      <a:srgbClr val="7030A0"/>
                    </a:solidFill>
                    <a:effectLst/>
                  </a:rPr>
                  <a:t>treinamento</a:t>
                </a:r>
                <a:r>
                  <a:rPr lang="pt-BR" b="0" dirty="0">
                    <a:effectLst/>
                  </a:rPr>
                  <a:t> do modelo, o </a:t>
                </a:r>
                <a:r>
                  <a:rPr lang="pt-BR" b="1" dirty="0">
                    <a:solidFill>
                      <a:srgbClr val="7030A0"/>
                    </a:solidFill>
                    <a:effectLst/>
                  </a:rPr>
                  <a:t>objetivo é minimizar a entropia cruzada categórica</a:t>
                </a:r>
                <a:r>
                  <a:rPr lang="pt-BR" b="0" dirty="0">
                    <a:effectLst/>
                  </a:rPr>
                  <a:t>, ou seja, fazer com que as </a:t>
                </a:r>
                <a:r>
                  <a:rPr lang="pt-BR" b="1" dirty="0">
                    <a:solidFill>
                      <a:srgbClr val="00B050"/>
                    </a:solidFill>
                    <a:effectLst/>
                  </a:rPr>
                  <a:t>probabilidades previstas pelo modelo se aproximem ao máximo dos rótulos dos exemplos</a:t>
                </a:r>
                <a:r>
                  <a:rPr lang="pt-BR" b="0" dirty="0">
                    <a:effectLst/>
                  </a:rPr>
                  <a:t>. </a:t>
                </a:r>
              </a:p>
            </p:txBody>
          </p:sp>
        </mc:Choice>
        <mc:Fallback>
          <p:sp>
            <p:nvSpPr>
              <p:cNvPr id="3" name="Espaço Reservado para Conteúdo 2">
                <a:extLst>
                  <a:ext uri="{FF2B5EF4-FFF2-40B4-BE49-F238E27FC236}">
                    <a16:creationId xmlns:a16="http://schemas.microsoft.com/office/drawing/2014/main" id="{21A86630-5D79-AD4B-79FC-6C8373E8DB39}"/>
                  </a:ext>
                </a:extLst>
              </p:cNvPr>
              <p:cNvSpPr>
                <a:spLocks noGrp="1" noRot="1" noChangeAspect="1" noMove="1" noResize="1" noEditPoints="1" noAdjustHandles="1" noChangeArrowheads="1" noChangeShapeType="1" noTextEdit="1"/>
              </p:cNvSpPr>
              <p:nvPr>
                <p:ph idx="1"/>
              </p:nvPr>
            </p:nvSpPr>
            <p:spPr>
              <a:xfrm>
                <a:off x="838199" y="1825624"/>
                <a:ext cx="11144693" cy="5032375"/>
              </a:xfrm>
              <a:blipFill>
                <a:blip r:embed="rId2"/>
                <a:stretch>
                  <a:fillRect l="-1093" t="-1937" r="-547"/>
                </a:stretch>
              </a:blipFill>
            </p:spPr>
            <p:txBody>
              <a:bodyPr/>
              <a:lstStyle/>
              <a:p>
                <a:r>
                  <a:rPr lang="en-US">
                    <a:noFill/>
                  </a:rPr>
                  <a:t> </a:t>
                </a:r>
              </a:p>
            </p:txBody>
          </p:sp>
        </mc:Fallback>
      </mc:AlternateContent>
    </p:spTree>
    <p:extLst>
      <p:ext uri="{BB962C8B-B14F-4D97-AF65-F5344CB8AC3E}">
        <p14:creationId xmlns:p14="http://schemas.microsoft.com/office/powerpoint/2010/main" val="18246350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B66ECE-C57A-76F7-E106-D8A6E46ABC3B}"/>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B8B2F442-6248-8CBE-6AF7-4168BCB3748C}"/>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85713065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ACEE090-DD33-6575-4FA7-70E4DD8E6119}"/>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59835C31-F047-4C77-EE04-457C9679811A}"/>
                  </a:ext>
                </a:extLst>
              </p:cNvPr>
              <p:cNvSpPr>
                <a:spLocks noGrp="1"/>
              </p:cNvSpPr>
              <p:nvPr>
                <p:ph idx="1"/>
              </p:nvPr>
            </p:nvSpPr>
            <p:spPr>
              <a:xfrm>
                <a:off x="838200" y="1825624"/>
                <a:ext cx="11144250" cy="5032375"/>
              </a:xfrm>
            </p:spPr>
            <p:txBody>
              <a:bodyPr/>
              <a:lstStyle/>
              <a:p>
                <a:r>
                  <a:rPr lang="pt-BR" dirty="0"/>
                  <a:t>Usando-se a codificação </a:t>
                </a:r>
                <a:r>
                  <a:rPr lang="pt-BR" b="1" i="1" dirty="0"/>
                  <a:t>one-hot</a:t>
                </a:r>
                <a:r>
                  <a:rPr lang="pt-BR" dirty="0"/>
                  <a:t>, a equação de erro médio pode ser reescrita como</a:t>
                </a:r>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𝑨</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r>
                              <a:rPr lang="pt-BR" b="1" i="1">
                                <a:latin typeface="Cambria Math" panose="02040503050406030204" pitchFamily="18" charset="0"/>
                              </a:rPr>
                              <m:t>𝒚</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sup>
                            <m:r>
                              <a:rPr lang="pt-BR" i="1">
                                <a:latin typeface="Cambria Math" panose="02040503050406030204" pitchFamily="18" charset="0"/>
                              </a:rPr>
                              <m:t>𝑇</m:t>
                            </m:r>
                          </m:sup>
                        </m:sSup>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b="1" i="1">
                                        <a:latin typeface="Cambria Math" panose="02040503050406030204" pitchFamily="18" charset="0"/>
                                      </a:rPr>
                                      <m:t>𝒉</m:t>
                                    </m:r>
                                  </m:e>
                                  <m:sub>
                                    <m:r>
                                      <a:rPr lang="pt-BR" b="1" i="1">
                                        <a:latin typeface="Cambria Math" panose="02040503050406030204" pitchFamily="18" charset="0"/>
                                      </a:rPr>
                                      <m:t>𝒂</m:t>
                                    </m:r>
                                  </m:sub>
                                </m:sSub>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e>
                                </m:d>
                              </m:e>
                            </m:d>
                          </m:e>
                        </m:func>
                      </m:e>
                    </m:nary>
                  </m:oMath>
                </a14:m>
                <a:r>
                  <a:rPr lang="pt-BR" i="1" dirty="0"/>
                  <a:t>,</a:t>
                </a:r>
              </a:p>
              <a:p>
                <a:pPr marL="0" indent="0">
                  <a:buNone/>
                </a:pPr>
                <a:r>
                  <a:rPr lang="pt-BR" dirty="0"/>
                  <a:t>onde </a:t>
                </a:r>
                <a14:m>
                  <m:oMath xmlns:m="http://schemas.openxmlformats.org/officeDocument/2006/math">
                    <m:r>
                      <a:rPr lang="pt-BR" b="1" i="1">
                        <a:latin typeface="Cambria Math" panose="02040503050406030204" pitchFamily="18" charset="0"/>
                      </a:rPr>
                      <m:t>𝒚</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m>
                              <m:mPr>
                                <m:mcs>
                                  <m:mc>
                                    <m:mcPr>
                                      <m:count m:val="3"/>
                                      <m:mcJc m:val="center"/>
                                    </m:mcPr>
                                  </m:mc>
                                </m:mcs>
                                <m:ctrlPr>
                                  <a:rPr lang="pt-BR" i="1">
                                    <a:latin typeface="Cambria Math" panose="02040503050406030204" pitchFamily="18" charset="0"/>
                                  </a:rPr>
                                </m:ctrlPr>
                              </m:mPr>
                              <m:mr>
                                <m:e>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𝑖</m:t>
                                          </m:r>
                                        </m:e>
                                      </m:d>
                                      <m:r>
                                        <a:rPr lang="pt-BR" i="1">
                                          <a:latin typeface="Cambria Math" panose="02040503050406030204" pitchFamily="18" charset="0"/>
                                        </a:rPr>
                                        <m:t>==</m:t>
                                      </m:r>
                                      <m:r>
                                        <a:rPr lang="pt-BR" b="0" i="1" smtClean="0">
                                          <a:latin typeface="Cambria Math" panose="02040503050406030204" pitchFamily="18" charset="0"/>
                                        </a:rPr>
                                        <m:t>0</m:t>
                                      </m:r>
                                    </m:e>
                                  </m:d>
                                  <m:r>
                                    <a:rPr lang="pt-BR" i="1">
                                      <a:latin typeface="Cambria Math" panose="02040503050406030204" pitchFamily="18" charset="0"/>
                                    </a:rPr>
                                    <m:t>,</m:t>
                                  </m:r>
                                </m:e>
                                <m:e>
                                  <m:r>
                                    <a:rPr lang="pt-BR" i="1">
                                      <a:latin typeface="Cambria Math" panose="02040503050406030204" pitchFamily="18" charset="0"/>
                                      <a:ea typeface="Cambria Math" panose="02040503050406030204" pitchFamily="18" charset="0"/>
                                    </a:rPr>
                                    <m:t>⋯,</m:t>
                                  </m:r>
                                </m:e>
                                <m:e>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𝑖</m:t>
                                          </m:r>
                                        </m:e>
                                      </m:d>
                                      <m:r>
                                        <a:rPr lang="pt-BR" i="1">
                                          <a:latin typeface="Cambria Math" panose="02040503050406030204" pitchFamily="18" charset="0"/>
                                        </a:rPr>
                                        <m:t>==</m:t>
                                      </m:r>
                                      <m:r>
                                        <a:rPr lang="pt-BR" i="1">
                                          <a:latin typeface="Cambria Math" panose="02040503050406030204" pitchFamily="18" charset="0"/>
                                        </a:rPr>
                                        <m:t>𝑄</m:t>
                                      </m:r>
                                      <m:r>
                                        <a:rPr lang="pt-BR" b="0" i="1" smtClean="0">
                                          <a:latin typeface="Cambria Math" panose="02040503050406030204" pitchFamily="18" charset="0"/>
                                        </a:rPr>
                                        <m:t>−1</m:t>
                                      </m:r>
                                    </m:e>
                                  </m:d>
                                </m:e>
                              </m:mr>
                            </m:m>
                          </m:e>
                        </m:d>
                      </m:e>
                      <m:sup>
                        <m:r>
                          <a:rPr lang="pt-BR" i="1">
                            <a:latin typeface="Cambria Math" panose="02040503050406030204" pitchFamily="18" charset="0"/>
                          </a:rPr>
                          <m:t>𝑇</m:t>
                        </m:r>
                      </m:sup>
                    </m:sSup>
                  </m:oMath>
                </a14:m>
                <a:r>
                  <a:rPr lang="pt-BR" dirty="0"/>
                  <a:t> </a:t>
                </a:r>
                <a14:m>
                  <m:oMath xmlns:m="http://schemas.openxmlformats.org/officeDocument/2006/math">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b="0" i="1" dirty="0" smtClean="0">
                            <a:latin typeface="Cambria Math" panose="02040503050406030204" pitchFamily="18" charset="0"/>
                            <a:ea typeface="Cambria Math" panose="02040503050406030204" pitchFamily="18" charset="0"/>
                          </a:rPr>
                          <m:t>𝑄</m:t>
                        </m:r>
                        <m:r>
                          <a:rPr lang="pt-BR" i="1" dirty="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1</m:t>
                        </m:r>
                      </m:sup>
                    </m:sSup>
                  </m:oMath>
                </a14:m>
                <a:r>
                  <a:rPr lang="pt-BR" dirty="0"/>
                  <a:t> é um vetor coluna utilizando a codificação </a:t>
                </a:r>
                <a:r>
                  <a:rPr lang="pt-BR" b="1" i="1" dirty="0"/>
                  <a:t>one-hot</a:t>
                </a:r>
                <a:r>
                  <a:rPr lang="pt-BR" dirty="0"/>
                  <a:t> e </a:t>
                </a: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𝒉</m:t>
                        </m:r>
                      </m:e>
                      <m:sub>
                        <m:r>
                          <a:rPr lang="pt-BR" b="1" i="1">
                            <a:latin typeface="Cambria Math" panose="02040503050406030204" pitchFamily="18" charset="0"/>
                          </a:rPr>
                          <m:t>𝒂</m:t>
                        </m:r>
                      </m:sub>
                    </m:sSub>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e>
                    </m:d>
                  </m:oMath>
                </a14:m>
                <a:r>
                  <a:rPr lang="pt-BR" dirty="0"/>
                  <a:t> </a:t>
                </a:r>
                <a14:m>
                  <m:oMath xmlns:m="http://schemas.openxmlformats.org/officeDocument/2006/math">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b="0" i="1" dirty="0" smtClean="0">
                            <a:latin typeface="Cambria Math" panose="02040503050406030204" pitchFamily="18" charset="0"/>
                            <a:ea typeface="Cambria Math" panose="02040503050406030204" pitchFamily="18" charset="0"/>
                          </a:rPr>
                          <m:t>𝑄</m:t>
                        </m:r>
                        <m:r>
                          <a:rPr lang="pt-BR" i="1" dirty="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1</m:t>
                        </m:r>
                      </m:sup>
                    </m:sSup>
                    <m:r>
                      <a:rPr lang="pt-BR" i="1" dirty="0">
                        <a:latin typeface="Cambria Math" panose="02040503050406030204" pitchFamily="18" charset="0"/>
                        <a:ea typeface="Cambria Math" panose="02040503050406030204" pitchFamily="18" charset="0"/>
                      </a:rPr>
                      <m:t> </m:t>
                    </m:r>
                  </m:oMath>
                </a14:m>
                <a:r>
                  <a:rPr lang="pt-BR" dirty="0"/>
                  <a:t>é um vetor coluna com as saídas das </a:t>
                </a:r>
                <a14:m>
                  <m:oMath xmlns:m="http://schemas.openxmlformats.org/officeDocument/2006/math">
                    <m:r>
                      <a:rPr lang="pt-BR" b="0" i="1" smtClean="0">
                        <a:latin typeface="Cambria Math" panose="02040503050406030204" pitchFamily="18" charset="0"/>
                      </a:rPr>
                      <m:t>𝑄</m:t>
                    </m:r>
                  </m:oMath>
                </a14:m>
                <a:r>
                  <a:rPr lang="pt-BR" dirty="0"/>
                  <a:t> </a:t>
                </a:r>
                <a:r>
                  <a:rPr lang="pt-BR" b="1" i="1" dirty="0"/>
                  <a:t>funções hipóteses de classificação</a:t>
                </a:r>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𝒉</m:t>
                          </m:r>
                        </m:e>
                        <m:sub>
                          <m:r>
                            <a:rPr lang="pt-BR" b="1" i="1">
                              <a:latin typeface="Cambria Math" panose="02040503050406030204" pitchFamily="18" charset="0"/>
                            </a:rPr>
                            <m:t>𝒂</m:t>
                          </m:r>
                        </m:sub>
                      </m:sSub>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e>
                      </m:d>
                      <m:r>
                        <a:rPr lang="pt-BR" b="1" i="1">
                          <a:latin typeface="Cambria Math" panose="02040503050406030204" pitchFamily="18" charset="0"/>
                        </a:rPr>
                        <m:t>=</m:t>
                      </m:r>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b="0" i="1" smtClean="0">
                                            <a:latin typeface="Cambria Math" panose="02040503050406030204" pitchFamily="18" charset="0"/>
                                          </a:rPr>
                                          <m:t>0</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e>
                                    </m:d>
                                  </m:e>
                                  <m:e>
                                    <m:r>
                                      <a:rPr lang="pt-BR" b="1" i="1">
                                        <a:latin typeface="Cambria Math" panose="02040503050406030204" pitchFamily="18" charset="0"/>
                                      </a:rPr>
                                      <m:t>⋯</m:t>
                                    </m:r>
                                  </m:e>
                                  <m:e>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𝑄</m:t>
                                        </m:r>
                                        <m:r>
                                          <a:rPr lang="pt-BR" b="0" i="1" smtClean="0">
                                            <a:latin typeface="Cambria Math" panose="02040503050406030204" pitchFamily="18" charset="0"/>
                                          </a:rPr>
                                          <m:t>−1</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e>
                                    </m:d>
                                  </m:e>
                                </m:mr>
                              </m:m>
                            </m:e>
                          </m:d>
                        </m:e>
                        <m:sup>
                          <m:r>
                            <a:rPr lang="pt-BR" i="1">
                              <a:latin typeface="Cambria Math" panose="02040503050406030204" pitchFamily="18" charset="0"/>
                            </a:rPr>
                            <m:t>𝑇</m:t>
                          </m:r>
                        </m:sup>
                      </m:sSup>
                    </m:oMath>
                  </m:oMathPara>
                </a14:m>
                <a:endParaRPr lang="pt-BR" b="1" i="1" dirty="0">
                  <a:latin typeface="Cambria Math" panose="02040503050406030204" pitchFamily="18" charset="0"/>
                </a:endParaRPr>
              </a:p>
              <a:p>
                <a:pPr marL="0" indent="0" algn="ctr">
                  <a:buNone/>
                </a:pPr>
                <a14:m>
                  <m:oMath xmlns:m="http://schemas.openxmlformats.org/officeDocument/2006/math">
                    <m:r>
                      <a:rPr lang="pt-BR" b="1" i="1" smtClean="0">
                        <a:latin typeface="Cambria Math" panose="02040503050406030204" pitchFamily="18" charset="0"/>
                      </a:rPr>
                      <m:t>                                </m:t>
                    </m:r>
                    <m:sSup>
                      <m:sSupPr>
                        <m:ctrlPr>
                          <a:rPr lang="pt-BR" b="1" i="1">
                            <a:latin typeface="Cambria Math" panose="02040503050406030204" pitchFamily="18" charset="0"/>
                          </a:rPr>
                        </m:ctrlPr>
                      </m:sSupPr>
                      <m:e>
                        <m:r>
                          <a:rPr lang="pt-BR" b="1" i="1" smtClean="0">
                            <a:latin typeface="Cambria Math" panose="02040503050406030204" pitchFamily="18" charset="0"/>
                          </a:rPr>
                          <m:t>             =</m:t>
                        </m:r>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r>
                                    <a:rPr lang="pt-BR" i="1">
                                      <a:latin typeface="Cambria Math" panose="02040503050406030204" pitchFamily="18" charset="0"/>
                                    </a:rPr>
                                    <m:t>𝑃</m:t>
                                  </m:r>
                                  <m:d>
                                    <m:dPr>
                                      <m:endChr m:val="|"/>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0</m:t>
                                          </m:r>
                                        </m:sub>
                                      </m:sSub>
                                      <m:r>
                                        <a:rPr lang="pt-BR" i="1">
                                          <a:latin typeface="Cambria Math" panose="02040503050406030204" pitchFamily="18" charset="0"/>
                                        </a:rPr>
                                        <m:t> </m:t>
                                      </m:r>
                                    </m:e>
                                  </m:d>
                                  <m:r>
                                    <a:rPr lang="pt-BR" b="1" i="1">
                                      <a:latin typeface="Cambria Math" panose="02040503050406030204" pitchFamily="18" charset="0"/>
                                    </a:rPr>
                                    <m:t> </m:t>
                                  </m:r>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b="0" i="1" smtClean="0">
                                          <a:latin typeface="Cambria Math" panose="02040503050406030204" pitchFamily="18" charset="0"/>
                                        </a:rPr>
                                        <m:t>0</m:t>
                                      </m:r>
                                    </m:sub>
                                  </m:sSub>
                                  <m:r>
                                    <a:rPr lang="pt-BR" i="1">
                                      <a:latin typeface="Cambria Math" panose="02040503050406030204" pitchFamily="18" charset="0"/>
                                    </a:rPr>
                                    <m:t>)</m:t>
                                  </m:r>
                                </m:e>
                                <m:e>
                                  <m:r>
                                    <a:rPr lang="pt-BR" b="1" i="1">
                                      <a:latin typeface="Cambria Math" panose="02040503050406030204" pitchFamily="18" charset="0"/>
                                    </a:rPr>
                                    <m:t>⋯</m:t>
                                  </m:r>
                                </m:e>
                                <m:e>
                                  <m:r>
                                    <a:rPr lang="pt-BR" i="1">
                                      <a:latin typeface="Cambria Math" panose="02040503050406030204" pitchFamily="18" charset="0"/>
                                    </a:rPr>
                                    <m:t>𝑃</m:t>
                                  </m:r>
                                  <m:d>
                                    <m:dPr>
                                      <m:endChr m:val="|"/>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𝑄</m:t>
                                          </m:r>
                                          <m:r>
                                            <a:rPr lang="pt-BR" b="0" i="1" smtClean="0">
                                              <a:latin typeface="Cambria Math" panose="02040503050406030204" pitchFamily="18" charset="0"/>
                                            </a:rPr>
                                            <m:t>−1</m:t>
                                          </m:r>
                                        </m:sub>
                                      </m:sSub>
                                      <m:r>
                                        <a:rPr lang="pt-BR" i="1">
                                          <a:latin typeface="Cambria Math" panose="02040503050406030204" pitchFamily="18" charset="0"/>
                                        </a:rPr>
                                        <m:t> </m:t>
                                      </m:r>
                                    </m:e>
                                  </m:d>
                                  <m:r>
                                    <a:rPr lang="pt-BR" b="1" i="1">
                                      <a:latin typeface="Cambria Math" panose="02040503050406030204" pitchFamily="18" charset="0"/>
                                    </a:rPr>
                                    <m:t> </m:t>
                                  </m:r>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𝑄</m:t>
                                      </m:r>
                                      <m:r>
                                        <a:rPr lang="pt-BR" b="0" i="1" smtClean="0">
                                          <a:latin typeface="Cambria Math" panose="02040503050406030204" pitchFamily="18" charset="0"/>
                                        </a:rPr>
                                        <m:t>−1</m:t>
                                      </m:r>
                                    </m:sub>
                                  </m:sSub>
                                  <m:r>
                                    <a:rPr lang="pt-BR" i="1">
                                      <a:latin typeface="Cambria Math" panose="02040503050406030204" pitchFamily="18" charset="0"/>
                                    </a:rPr>
                                    <m:t>)</m:t>
                                  </m:r>
                                </m:e>
                              </m:mr>
                            </m:m>
                          </m:e>
                        </m:d>
                      </m:e>
                      <m:sup>
                        <m:r>
                          <a:rPr lang="pt-BR" i="1">
                            <a:latin typeface="Cambria Math" panose="02040503050406030204" pitchFamily="18" charset="0"/>
                          </a:rPr>
                          <m:t>𝑇</m:t>
                        </m:r>
                      </m:sup>
                    </m:sSup>
                  </m:oMath>
                </a14:m>
                <a:r>
                  <a:rPr lang="pt-BR" dirty="0"/>
                  <a:t>.</a:t>
                </a:r>
              </a:p>
            </p:txBody>
          </p:sp>
        </mc:Choice>
        <mc:Fallback xmlns="">
          <p:sp>
            <p:nvSpPr>
              <p:cNvPr id="3" name="Espaço Reservado para Conteúdo 2">
                <a:extLst>
                  <a:ext uri="{FF2B5EF4-FFF2-40B4-BE49-F238E27FC236}">
                    <a16:creationId xmlns:a16="http://schemas.microsoft.com/office/drawing/2014/main" id="{59835C31-F047-4C77-EE04-457C9679811A}"/>
                  </a:ext>
                </a:extLst>
              </p:cNvPr>
              <p:cNvSpPr>
                <a:spLocks noGrp="1" noRot="1" noChangeAspect="1" noMove="1" noResize="1" noEditPoints="1" noAdjustHandles="1" noChangeArrowheads="1" noChangeShapeType="1" noTextEdit="1"/>
              </p:cNvSpPr>
              <p:nvPr>
                <p:ph idx="1"/>
              </p:nvPr>
            </p:nvSpPr>
            <p:spPr>
              <a:xfrm>
                <a:off x="838200" y="1825624"/>
                <a:ext cx="11144250" cy="5032375"/>
              </a:xfrm>
              <a:blipFill>
                <a:blip r:embed="rId3"/>
                <a:stretch>
                  <a:fillRect l="-1149" t="-1937" r="-164"/>
                </a:stretch>
              </a:blipFill>
            </p:spPr>
            <p:txBody>
              <a:bodyPr/>
              <a:lstStyle/>
              <a:p>
                <a:r>
                  <a:rPr lang="pt-BR">
                    <a:noFill/>
                  </a:rPr>
                  <a:t> </a:t>
                </a:r>
              </a:p>
            </p:txBody>
          </p:sp>
        </mc:Fallback>
      </mc:AlternateContent>
    </p:spTree>
    <p:extLst>
      <p:ext uri="{BB962C8B-B14F-4D97-AF65-F5344CB8AC3E}">
        <p14:creationId xmlns:p14="http://schemas.microsoft.com/office/powerpoint/2010/main" val="198067558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4598F11-6F65-0753-89FE-F5ABED77B46A}"/>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EF4E6DC-E916-D97A-4D18-D469285C4F2C}"/>
                  </a:ext>
                </a:extLst>
              </p:cNvPr>
              <p:cNvSpPr>
                <a:spLocks noGrp="1"/>
              </p:cNvSpPr>
              <p:nvPr>
                <p:ph idx="1"/>
              </p:nvPr>
            </p:nvSpPr>
            <p:spPr>
              <a:xfrm>
                <a:off x="838200" y="1825624"/>
                <a:ext cx="11106150" cy="5032375"/>
              </a:xfrm>
            </p:spPr>
            <p:txBody>
              <a:bodyPr>
                <a:normAutofit/>
              </a:bodyPr>
              <a:lstStyle/>
              <a:p>
                <a:pPr marL="0" indent="0">
                  <a:buNone/>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𝑨</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r>
                                <a:rPr lang="pt-BR" b="1" i="1">
                                  <a:latin typeface="Cambria Math" panose="02040503050406030204" pitchFamily="18" charset="0"/>
                                </a:rPr>
                                <m:t>𝒚</m:t>
                              </m:r>
                              <m:d>
                                <m:dPr>
                                  <m:ctrlPr>
                                    <a:rPr lang="pt-BR" b="1" i="1">
                                      <a:latin typeface="Cambria Math" panose="02040503050406030204" pitchFamily="18" charset="0"/>
                                    </a:rPr>
                                  </m:ctrlPr>
                                </m:dPr>
                                <m:e>
                                  <m:r>
                                    <a:rPr lang="pt-BR" i="1">
                                      <a:latin typeface="Cambria Math" panose="02040503050406030204" pitchFamily="18" charset="0"/>
                                    </a:rPr>
                                    <m:t>𝑖</m:t>
                                  </m:r>
                                </m:e>
                              </m:d>
                            </m:e>
                            <m:sup>
                              <m:r>
                                <a:rPr lang="pt-BR" i="1">
                                  <a:latin typeface="Cambria Math" panose="02040503050406030204" pitchFamily="18" charset="0"/>
                                </a:rPr>
                                <m:t>𝑇</m:t>
                              </m:r>
                            </m:sup>
                          </m:sSup>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b="1" i="1">
                                          <a:latin typeface="Cambria Math" panose="02040503050406030204" pitchFamily="18" charset="0"/>
                                        </a:rPr>
                                        <m:t>𝒉</m:t>
                                      </m:r>
                                    </m:e>
                                    <m:sub>
                                      <m:r>
                                        <a:rPr lang="pt-BR" b="1" i="1">
                                          <a:latin typeface="Cambria Math" panose="02040503050406030204" pitchFamily="18" charset="0"/>
                                        </a:rPr>
                                        <m:t>𝒂</m:t>
                                      </m:r>
                                    </m:sub>
                                  </m:sSub>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e>
                                  </m:d>
                                </m:e>
                              </m:d>
                            </m:e>
                          </m:func>
                        </m:e>
                      </m:nary>
                      <m:r>
                        <a:rPr lang="pt-BR" b="1" i="1" smtClean="0">
                          <a:latin typeface="Cambria Math" panose="02040503050406030204" pitchFamily="18" charset="0"/>
                        </a:rPr>
                        <m:t>.</m:t>
                      </m:r>
                    </m:oMath>
                  </m:oMathPara>
                </a14:m>
                <a:endParaRPr lang="pt-BR" dirty="0"/>
              </a:p>
              <a:p>
                <a:r>
                  <a:rPr lang="pt-BR" dirty="0"/>
                  <a:t>Notem que quando existem apenas duas classes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=2</m:t>
                    </m:r>
                  </m:oMath>
                </a14:m>
                <a:r>
                  <a:rPr lang="pt-BR" dirty="0"/>
                  <a:t>), a </a:t>
                </a:r>
                <a:r>
                  <a:rPr lang="pt-BR" b="1" i="1" dirty="0"/>
                  <a:t>função de erro médio </a:t>
                </a:r>
                <a:r>
                  <a:rPr lang="pt-BR" dirty="0"/>
                  <a:t>é equivalente à </a:t>
                </a:r>
                <a:r>
                  <a:rPr lang="pt-BR" b="1" i="1" dirty="0"/>
                  <a:t>função de erro médio </a:t>
                </a:r>
                <a:r>
                  <a:rPr lang="pt-BR" dirty="0"/>
                  <a:t>do </a:t>
                </a:r>
                <a:r>
                  <a:rPr lang="pt-BR" b="1" i="1" dirty="0"/>
                  <a:t>regressor logístico</a:t>
                </a:r>
                <a:r>
                  <a:rPr lang="pt-BR" dirty="0"/>
                  <a:t>.</a:t>
                </a:r>
              </a:p>
              <a:p>
                <a:r>
                  <a:rPr lang="pt-BR" dirty="0"/>
                  <a:t>Ou seja, mesmo tendo sido pensado para o caso onde </a:t>
                </a:r>
                <a14:m>
                  <m:oMath xmlns:m="http://schemas.openxmlformats.org/officeDocument/2006/math">
                    <m:r>
                      <a:rPr lang="pt-BR" i="1">
                        <a:latin typeface="Cambria Math" panose="02040503050406030204" pitchFamily="18" charset="0"/>
                      </a:rPr>
                      <m:t>𝑄</m:t>
                    </m:r>
                    <m:r>
                      <a:rPr lang="pt-BR" b="0" i="1" smtClean="0">
                        <a:latin typeface="Cambria Math" panose="02040503050406030204" pitchFamily="18" charset="0"/>
                      </a:rPr>
                      <m:t>&gt;</m:t>
                    </m:r>
                    <m:r>
                      <a:rPr lang="pt-BR" i="1">
                        <a:latin typeface="Cambria Math" panose="02040503050406030204" pitchFamily="18" charset="0"/>
                      </a:rPr>
                      <m:t>2</m:t>
                    </m:r>
                  </m:oMath>
                </a14:m>
                <a:r>
                  <a:rPr lang="pt-BR" dirty="0"/>
                  <a:t>, o regressor softmax pode ser usado quando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=2</m:t>
                    </m:r>
                  </m:oMath>
                </a14:m>
                <a:r>
                  <a:rPr lang="pt-BR" dirty="0"/>
                  <a:t>.</a:t>
                </a:r>
              </a:p>
              <a:p>
                <a:r>
                  <a:rPr lang="pt-BR" dirty="0"/>
                  <a:t>Entretanto, existe um problema com essa função de erro médio.</a:t>
                </a:r>
              </a:p>
              <a:p>
                <a:r>
                  <a:rPr lang="pt-BR" dirty="0"/>
                  <a:t>A </a:t>
                </a:r>
                <a:r>
                  <a:rPr lang="pt-BR" b="1" i="1" dirty="0"/>
                  <a:t>função de erro médio </a:t>
                </a:r>
                <a:r>
                  <a:rPr lang="pt-BR" b="1" i="1" dirty="0">
                    <a:solidFill>
                      <a:srgbClr val="7030A0"/>
                    </a:solidFill>
                  </a:rPr>
                  <a:t>não é linear </a:t>
                </a:r>
                <a:r>
                  <a:rPr lang="pt-BR" dirty="0"/>
                  <a:t>e, portanto, </a:t>
                </a:r>
                <a:r>
                  <a:rPr lang="pt-BR" b="1" i="1" dirty="0">
                    <a:solidFill>
                      <a:srgbClr val="7030A0"/>
                    </a:solidFill>
                  </a:rPr>
                  <a:t>não existe uma forma fechada</a:t>
                </a:r>
                <a:r>
                  <a:rPr lang="pt-BR" b="1" i="1" dirty="0"/>
                  <a:t> </a:t>
                </a:r>
                <a:r>
                  <a:rPr lang="pt-BR" dirty="0"/>
                  <a:t>para encontramos os pesos.</a:t>
                </a:r>
              </a:p>
            </p:txBody>
          </p:sp>
        </mc:Choice>
        <mc:Fallback xmlns="">
          <p:sp>
            <p:nvSpPr>
              <p:cNvPr id="3" name="Espaço Reservado para Conteúdo 2">
                <a:extLst>
                  <a:ext uri="{FF2B5EF4-FFF2-40B4-BE49-F238E27FC236}">
                    <a16:creationId xmlns:a16="http://schemas.microsoft.com/office/drawing/2014/main" id="{FEF4E6DC-E916-D97A-4D18-D469285C4F2C}"/>
                  </a:ext>
                </a:extLst>
              </p:cNvPr>
              <p:cNvSpPr>
                <a:spLocks noGrp="1" noRot="1" noChangeAspect="1" noMove="1" noResize="1" noEditPoints="1" noAdjustHandles="1" noChangeArrowheads="1" noChangeShapeType="1" noTextEdit="1"/>
              </p:cNvSpPr>
              <p:nvPr>
                <p:ph idx="1"/>
              </p:nvPr>
            </p:nvSpPr>
            <p:spPr>
              <a:xfrm>
                <a:off x="838200" y="1825624"/>
                <a:ext cx="11106150" cy="5032375"/>
              </a:xfrm>
              <a:blipFill>
                <a:blip r:embed="rId3"/>
                <a:stretch>
                  <a:fillRect l="-988" r="-659"/>
                </a:stretch>
              </a:blipFill>
            </p:spPr>
            <p:txBody>
              <a:bodyPr/>
              <a:lstStyle/>
              <a:p>
                <a:r>
                  <a:rPr lang="pt-BR">
                    <a:noFill/>
                  </a:rPr>
                  <a:t> </a:t>
                </a:r>
              </a:p>
            </p:txBody>
          </p:sp>
        </mc:Fallback>
      </mc:AlternateContent>
    </p:spTree>
    <p:extLst>
      <p:ext uri="{BB962C8B-B14F-4D97-AF65-F5344CB8AC3E}">
        <p14:creationId xmlns:p14="http://schemas.microsoft.com/office/powerpoint/2010/main" val="123991210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5807923-28D2-8150-E304-526DA460D220}"/>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FACD180-C529-EB91-BD2D-B5F491B1E35C}"/>
                  </a:ext>
                </a:extLst>
              </p:cNvPr>
              <p:cNvSpPr>
                <a:spLocks noGrp="1"/>
              </p:cNvSpPr>
              <p:nvPr>
                <p:ph idx="1"/>
              </p:nvPr>
            </p:nvSpPr>
            <p:spPr>
              <a:xfrm>
                <a:off x="5867400" y="1825624"/>
                <a:ext cx="6162676" cy="5032375"/>
              </a:xfrm>
            </p:spPr>
            <p:txBody>
              <a:bodyPr/>
              <a:lstStyle/>
              <a:p>
                <a:r>
                  <a:rPr lang="pt-BR" dirty="0"/>
                  <a:t>Porém, ela é </a:t>
                </a:r>
                <a:r>
                  <a:rPr lang="pt-BR" b="1" i="1" dirty="0">
                    <a:solidFill>
                      <a:srgbClr val="00B050"/>
                    </a:solidFill>
                  </a:rPr>
                  <a:t>convexa</a:t>
                </a:r>
                <a:r>
                  <a:rPr lang="pt-BR" dirty="0"/>
                  <a:t> e </a:t>
                </a:r>
                <a:r>
                  <a:rPr lang="pt-BR" b="1" i="1" dirty="0">
                    <a:solidFill>
                      <a:srgbClr val="00B050"/>
                    </a:solidFill>
                  </a:rPr>
                  <a:t>contínua</a:t>
                </a:r>
                <a:r>
                  <a:rPr lang="pt-BR" dirty="0"/>
                  <a:t>. </a:t>
                </a:r>
              </a:p>
              <a:p>
                <a:r>
                  <a:rPr lang="pt-BR" dirty="0"/>
                  <a:t>Portanto,</a:t>
                </a:r>
                <a:r>
                  <a:rPr lang="pt-BR" b="1" i="1" dirty="0">
                    <a:solidFill>
                      <a:srgbClr val="00B050"/>
                    </a:solidFill>
                  </a:rPr>
                  <a:t> o algoritmo do gradiente descendente (qualquer versão) pode ser usado para encontrar o mínimo global</a:t>
                </a:r>
                <a:r>
                  <a:rPr lang="pt-BR" dirty="0"/>
                  <a:t>.</a:t>
                </a:r>
              </a:p>
              <a:p>
                <a:r>
                  <a:rPr lang="pt-BR" dirty="0"/>
                  <a:t>Sendo assim, usaremos o algoritmo do </a:t>
                </a:r>
                <a:r>
                  <a:rPr lang="pt-BR" b="1" i="1" dirty="0">
                    <a:solidFill>
                      <a:srgbClr val="7030A0"/>
                    </a:solidFill>
                  </a:rPr>
                  <a:t>gradiente descendente </a:t>
                </a:r>
                <a:r>
                  <a:rPr lang="pt-BR" dirty="0"/>
                  <a:t>para encontrar os </a:t>
                </a:r>
                <a:r>
                  <a:rPr lang="pt-BR" b="1" i="1" dirty="0"/>
                  <a:t>pesos</a:t>
                </a:r>
                <a:r>
                  <a:rPr lang="pt-BR" dirty="0"/>
                  <a:t> das </a:t>
                </a:r>
                <a14:m>
                  <m:oMath xmlns:m="http://schemas.openxmlformats.org/officeDocument/2006/math">
                    <m:r>
                      <a:rPr lang="pt-BR" i="1">
                        <a:latin typeface="Cambria Math" panose="02040503050406030204" pitchFamily="18" charset="0"/>
                      </a:rPr>
                      <m:t>𝑄</m:t>
                    </m:r>
                  </m:oMath>
                </a14:m>
                <a:r>
                  <a:rPr lang="pt-BR" dirty="0"/>
                  <a:t> funções discriminantes que </a:t>
                </a:r>
                <a:r>
                  <a:rPr lang="pt-BR" b="1" i="1" dirty="0"/>
                  <a:t>minimizam </a:t>
                </a:r>
                <a:r>
                  <a:rPr lang="pt-BR" dirty="0"/>
                  <a:t>a </a:t>
                </a:r>
                <a:r>
                  <a:rPr lang="pt-BR" b="1" i="1" dirty="0"/>
                  <a:t>função de erro médio</a:t>
                </a:r>
                <a:r>
                  <a:rPr lang="pt-BR" dirty="0"/>
                  <a:t>.</a:t>
                </a:r>
              </a:p>
              <a:p>
                <a:pPr marL="0" indent="0">
                  <a:buNone/>
                </a:pPr>
                <a:endParaRPr lang="pt-BR" dirty="0"/>
              </a:p>
              <a:p>
                <a:endParaRPr lang="pt-BR" dirty="0"/>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FFACD180-C529-EB91-BD2D-B5F491B1E35C}"/>
                  </a:ext>
                </a:extLst>
              </p:cNvPr>
              <p:cNvSpPr>
                <a:spLocks noGrp="1" noRot="1" noChangeAspect="1" noMove="1" noResize="1" noEditPoints="1" noAdjustHandles="1" noChangeArrowheads="1" noChangeShapeType="1" noTextEdit="1"/>
              </p:cNvSpPr>
              <p:nvPr>
                <p:ph idx="1"/>
              </p:nvPr>
            </p:nvSpPr>
            <p:spPr>
              <a:xfrm>
                <a:off x="5867400" y="1825624"/>
                <a:ext cx="6162676" cy="5032375"/>
              </a:xfrm>
              <a:blipFill rotWithShape="0">
                <a:blip r:embed="rId3"/>
                <a:stretch>
                  <a:fillRect l="-1782" t="-1937" r="-594"/>
                </a:stretch>
              </a:blipFill>
            </p:spPr>
            <p:txBody>
              <a:bodyPr/>
              <a:lstStyle/>
              <a:p>
                <a:r>
                  <a:rPr lang="pt-BR">
                    <a:noFill/>
                  </a:rPr>
                  <a:t> </a:t>
                </a:r>
              </a:p>
            </p:txBody>
          </p:sp>
        </mc:Fallback>
      </mc:AlternateContent>
      <p:pic>
        <p:nvPicPr>
          <p:cNvPr id="1026" name="Picture 2">
            <a:extLst>
              <a:ext uri="{FF2B5EF4-FFF2-40B4-BE49-F238E27FC236}">
                <a16:creationId xmlns:a16="http://schemas.microsoft.com/office/drawing/2014/main" id="{6FC2BDE8-91E0-6379-9BA3-76511C6153D5}"/>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3222" t="24652" r="11445" b="14963"/>
          <a:stretch/>
        </p:blipFill>
        <p:spPr bwMode="auto">
          <a:xfrm>
            <a:off x="568158" y="2428240"/>
            <a:ext cx="4704881" cy="326136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a:extLst>
              <a:ext uri="{FF2B5EF4-FFF2-40B4-BE49-F238E27FC236}">
                <a16:creationId xmlns:a16="http://schemas.microsoft.com/office/drawing/2014/main" id="{2771BE1F-7B74-36A4-AA69-9171B025A4B6}"/>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32262" t="6293" r="29928" b="89004"/>
          <a:stretch/>
        </p:blipFill>
        <p:spPr bwMode="auto">
          <a:xfrm>
            <a:off x="1559157" y="2092960"/>
            <a:ext cx="2722881" cy="254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8791466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D929962-9BFC-4174-AB35-CC23FA013168}"/>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D38055D-E355-F780-9CA0-0337EA0BE4FD}"/>
                  </a:ext>
                </a:extLst>
              </p:cNvPr>
              <p:cNvSpPr>
                <a:spLocks noGrp="1"/>
              </p:cNvSpPr>
              <p:nvPr>
                <p:ph idx="1"/>
              </p:nvPr>
            </p:nvSpPr>
            <p:spPr>
              <a:xfrm>
                <a:off x="838200" y="1825625"/>
                <a:ext cx="11163300" cy="5032375"/>
              </a:xfrm>
            </p:spPr>
            <p:txBody>
              <a:bodyPr>
                <a:normAutofit lnSpcReduction="10000"/>
              </a:bodyPr>
              <a:lstStyle/>
              <a:p>
                <a:r>
                  <a:rPr lang="pt-BR" dirty="0"/>
                  <a:t>A atualização dos </a:t>
                </a:r>
                <a:r>
                  <a:rPr lang="pt-BR" b="1" i="1" dirty="0"/>
                  <a:t>pesos</a:t>
                </a:r>
                <a:r>
                  <a:rPr lang="pt-BR" dirty="0"/>
                  <a:t> da </a:t>
                </a:r>
                <a:r>
                  <a:rPr lang="pt-BR" i="1" dirty="0"/>
                  <a:t>q</a:t>
                </a:r>
                <a:r>
                  <a:rPr lang="pt-BR" dirty="0"/>
                  <a:t>-</a:t>
                </a:r>
                <a:r>
                  <a:rPr lang="pt-BR" dirty="0" err="1"/>
                  <a:t>ésima</a:t>
                </a:r>
                <a:r>
                  <a:rPr lang="pt-BR" dirty="0"/>
                  <a:t> função discriminante, </a:t>
                </a:r>
                <a14:m>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r>
                      <a:rPr lang="pt-BR" b="1" i="1">
                        <a:latin typeface="Cambria Math" panose="02040503050406030204" pitchFamily="18" charset="0"/>
                      </a:rPr>
                      <m:t>)</m:t>
                    </m:r>
                  </m:oMath>
                </a14:m>
                <a:r>
                  <a:rPr lang="pt-BR" dirty="0"/>
                  <a:t>, é dada por</a:t>
                </a:r>
              </a:p>
              <a:p>
                <a:pPr marL="0" indent="0" algn="ctr">
                  <a:buNone/>
                </a:pPr>
                <a14:m>
                  <m:oMathPara xmlns:m="http://schemas.openxmlformats.org/officeDocument/2006/math">
                    <m:oMathParaPr>
                      <m:jc m:val="centerGroup"/>
                    </m:oMathParaPr>
                    <m:oMath xmlns:m="http://schemas.openxmlformats.org/officeDocument/2006/math">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r>
                        <a:rPr lang="pt-BR" sz="2400" b="1" i="1">
                          <a:latin typeface="Cambria Math" panose="02040503050406030204" pitchFamily="18" charset="0"/>
                        </a:rPr>
                        <m:t>=</m:t>
                      </m:r>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r>
                        <a:rPr lang="pt-BR" sz="2400" b="1" i="1">
                          <a:latin typeface="Cambria Math" panose="02040503050406030204" pitchFamily="18" charset="0"/>
                        </a:rPr>
                        <m:t>−</m:t>
                      </m:r>
                      <m:r>
                        <a:rPr lang="pt-BR" sz="2400" i="1">
                          <a:latin typeface="Cambria Math" panose="02040503050406030204" pitchFamily="18" charset="0"/>
                          <a:ea typeface="Cambria Math" panose="02040503050406030204" pitchFamily="18" charset="0"/>
                        </a:rPr>
                        <m:t>𝛼</m:t>
                      </m:r>
                      <m:f>
                        <m:fPr>
                          <m:ctrlPr>
                            <a:rPr lang="pt-BR" sz="2400" i="1">
                              <a:latin typeface="Cambria Math" panose="02040503050406030204" pitchFamily="18" charset="0"/>
                            </a:rPr>
                          </m:ctrlPr>
                        </m:fPr>
                        <m:num>
                          <m:r>
                            <a:rPr lang="pt-BR" sz="2400" i="1">
                              <a:latin typeface="Cambria Math" panose="02040503050406030204" pitchFamily="18" charset="0"/>
                            </a:rPr>
                            <m:t>𝜕</m:t>
                          </m:r>
                          <m:sSub>
                            <m:sSubPr>
                              <m:ctrlPr>
                                <a:rPr lang="pt-BR" sz="2400" i="1">
                                  <a:latin typeface="Cambria Math" panose="02040503050406030204" pitchFamily="18" charset="0"/>
                                </a:rPr>
                              </m:ctrlPr>
                            </m:sSubPr>
                            <m:e>
                              <m:r>
                                <a:rPr lang="pt-BR" sz="2400" i="1">
                                  <a:latin typeface="Cambria Math" panose="02040503050406030204" pitchFamily="18" charset="0"/>
                                </a:rPr>
                                <m:t>𝐽</m:t>
                              </m:r>
                            </m:e>
                            <m:sub>
                              <m:r>
                                <a:rPr lang="pt-BR" sz="2400" i="1">
                                  <a:latin typeface="Cambria Math" panose="02040503050406030204" pitchFamily="18" charset="0"/>
                                </a:rPr>
                                <m:t>𝑒</m:t>
                              </m:r>
                            </m:sub>
                          </m:sSub>
                          <m:d>
                            <m:dPr>
                              <m:ctrlPr>
                                <a:rPr lang="pt-BR" sz="2400" i="1">
                                  <a:latin typeface="Cambria Math" panose="02040503050406030204" pitchFamily="18" charset="0"/>
                                </a:rPr>
                              </m:ctrlPr>
                            </m:dPr>
                            <m:e>
                              <m:r>
                                <a:rPr lang="pt-BR" sz="2400" b="1" i="1">
                                  <a:latin typeface="Cambria Math" panose="02040503050406030204" pitchFamily="18" charset="0"/>
                                </a:rPr>
                                <m:t>𝑨</m:t>
                              </m:r>
                            </m:e>
                          </m:d>
                        </m:num>
                        <m:den>
                          <m:r>
                            <a:rPr lang="pt-BR" sz="2400" i="1">
                              <a:latin typeface="Cambria Math" panose="02040503050406030204" pitchFamily="18" charset="0"/>
                            </a:rPr>
                            <m:t>𝜕</m:t>
                          </m:r>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den>
                      </m:f>
                      <m:r>
                        <a:rPr lang="pt-BR" sz="2400" b="0" i="1" smtClean="0">
                          <a:latin typeface="Cambria Math" panose="02040503050406030204" pitchFamily="18" charset="0"/>
                        </a:rPr>
                        <m:t>, </m:t>
                      </m:r>
                      <m:r>
                        <a:rPr lang="pt-BR" sz="2400" b="0" i="1" smtClean="0">
                          <a:latin typeface="Cambria Math" panose="02040503050406030204" pitchFamily="18" charset="0"/>
                          <a:ea typeface="Cambria Math" panose="02040503050406030204" pitchFamily="18" charset="0"/>
                        </a:rPr>
                        <m:t>∀</m:t>
                      </m:r>
                      <m:r>
                        <a:rPr lang="pt-BR" sz="2400" b="0" i="1" smtClean="0">
                          <a:latin typeface="Cambria Math" panose="02040503050406030204" pitchFamily="18" charset="0"/>
                          <a:ea typeface="Cambria Math" panose="02040503050406030204" pitchFamily="18" charset="0"/>
                        </a:rPr>
                        <m:t>𝑞</m:t>
                      </m:r>
                      <m:r>
                        <a:rPr lang="pt-BR" sz="2400" b="0" i="1" smtClean="0">
                          <a:latin typeface="Cambria Math" panose="02040503050406030204" pitchFamily="18" charset="0"/>
                          <a:ea typeface="Cambria Math" panose="02040503050406030204" pitchFamily="18" charset="0"/>
                        </a:rPr>
                        <m:t>.</m:t>
                      </m:r>
                    </m:oMath>
                  </m:oMathPara>
                </a14:m>
                <a:endParaRPr lang="pt-BR" sz="2400" dirty="0"/>
              </a:p>
              <a:p>
                <a:r>
                  <a:rPr lang="pt-BR" dirty="0"/>
                  <a:t>Considerando o </a:t>
                </a:r>
                <a:r>
                  <a:rPr lang="pt-BR" b="1" i="1" dirty="0"/>
                  <a:t>hiperplano</a:t>
                </a:r>
                <a:r>
                  <a:rPr lang="pt-BR" dirty="0"/>
                  <a:t> como </a:t>
                </a:r>
                <a:r>
                  <a:rPr lang="pt-BR" b="1" i="1" dirty="0"/>
                  <a:t>função discriminante</a:t>
                </a:r>
                <a:r>
                  <a:rPr lang="pt-BR" dirty="0"/>
                  <a:t>, a derivada da </a:t>
                </a:r>
                <a:r>
                  <a:rPr lang="pt-BR" b="1" i="1" dirty="0"/>
                  <a:t>função de erro médio</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𝑨</m:t>
                        </m:r>
                      </m:e>
                    </m:d>
                  </m:oMath>
                </a14:m>
                <a:r>
                  <a:rPr lang="pt-BR" dirty="0"/>
                  <a:t>, com respeito ao vetor de pesos, </a:t>
                </a: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dirty="0"/>
                  <a:t>, é dada por</a:t>
                </a:r>
              </a:p>
              <a:p>
                <a:pPr marL="0" indent="0" algn="ctr">
                  <a:buNone/>
                </a:pPr>
                <a14:m>
                  <m:oMathPara xmlns:m="http://schemas.openxmlformats.org/officeDocument/2006/math">
                    <m:oMathParaPr>
                      <m:jc m:val="centerGroup"/>
                    </m:oMathParaPr>
                    <m:oMath xmlns:m="http://schemas.openxmlformats.org/officeDocument/2006/math">
                      <m:f>
                        <m:fPr>
                          <m:ctrlPr>
                            <a:rPr lang="pt-BR" sz="2400" i="1">
                              <a:latin typeface="Cambria Math" panose="02040503050406030204" pitchFamily="18" charset="0"/>
                            </a:rPr>
                          </m:ctrlPr>
                        </m:fPr>
                        <m:num>
                          <m:r>
                            <a:rPr lang="pt-BR" sz="2400" i="1">
                              <a:latin typeface="Cambria Math" panose="02040503050406030204" pitchFamily="18" charset="0"/>
                            </a:rPr>
                            <m:t>𝜕</m:t>
                          </m:r>
                          <m:sSub>
                            <m:sSubPr>
                              <m:ctrlPr>
                                <a:rPr lang="pt-BR" sz="2400" i="1">
                                  <a:latin typeface="Cambria Math" panose="02040503050406030204" pitchFamily="18" charset="0"/>
                                </a:rPr>
                              </m:ctrlPr>
                            </m:sSubPr>
                            <m:e>
                              <m:r>
                                <a:rPr lang="pt-BR" sz="2400" i="1">
                                  <a:latin typeface="Cambria Math" panose="02040503050406030204" pitchFamily="18" charset="0"/>
                                </a:rPr>
                                <m:t>𝐽</m:t>
                              </m:r>
                            </m:e>
                            <m:sub>
                              <m:r>
                                <a:rPr lang="pt-BR" sz="2400" i="1">
                                  <a:latin typeface="Cambria Math" panose="02040503050406030204" pitchFamily="18" charset="0"/>
                                </a:rPr>
                                <m:t>𝑒</m:t>
                              </m:r>
                            </m:sub>
                          </m:sSub>
                          <m:d>
                            <m:dPr>
                              <m:ctrlPr>
                                <a:rPr lang="pt-BR" sz="2400" i="1">
                                  <a:latin typeface="Cambria Math" panose="02040503050406030204" pitchFamily="18" charset="0"/>
                                </a:rPr>
                              </m:ctrlPr>
                            </m:dPr>
                            <m:e>
                              <m:r>
                                <a:rPr lang="pt-BR" sz="2400" b="1" i="1">
                                  <a:latin typeface="Cambria Math" panose="02040503050406030204" pitchFamily="18" charset="0"/>
                                </a:rPr>
                                <m:t>𝑨</m:t>
                              </m:r>
                            </m:e>
                          </m:d>
                        </m:num>
                        <m:den>
                          <m:r>
                            <a:rPr lang="pt-BR" sz="2400" i="1">
                              <a:latin typeface="Cambria Math" panose="02040503050406030204" pitchFamily="18" charset="0"/>
                            </a:rPr>
                            <m:t>𝜕</m:t>
                          </m:r>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den>
                      </m:f>
                      <m:r>
                        <a:rPr lang="pt-BR" sz="2400" b="1" i="1">
                          <a:latin typeface="Cambria Math" panose="02040503050406030204" pitchFamily="18" charset="0"/>
                        </a:rPr>
                        <m:t>=</m:t>
                      </m:r>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nary>
                        <m:naryPr>
                          <m:chr m:val="∑"/>
                          <m:ctrlPr>
                            <a:rPr lang="pt-BR" sz="2400" i="1">
                              <a:latin typeface="Cambria Math" panose="02040503050406030204" pitchFamily="18" charset="0"/>
                            </a:rPr>
                          </m:ctrlPr>
                        </m:naryPr>
                        <m:sub>
                          <m:r>
                            <m:rPr>
                              <m:brk m:alnAt="23"/>
                            </m:rPr>
                            <a:rPr lang="pt-BR" sz="2400" i="1">
                              <a:latin typeface="Cambria Math" panose="02040503050406030204" pitchFamily="18" charset="0"/>
                            </a:rPr>
                            <m:t>𝑖</m:t>
                          </m:r>
                          <m:r>
                            <a:rPr lang="pt-BR" sz="2400" i="1">
                              <a:latin typeface="Cambria Math" panose="02040503050406030204" pitchFamily="18" charset="0"/>
                            </a:rPr>
                            <m:t>=0</m:t>
                          </m:r>
                        </m:sub>
                        <m:sup>
                          <m:r>
                            <a:rPr lang="pt-BR" sz="2400" i="1">
                              <a:latin typeface="Cambria Math" panose="02040503050406030204" pitchFamily="18" charset="0"/>
                            </a:rPr>
                            <m:t>𝑁</m:t>
                          </m:r>
                          <m:r>
                            <a:rPr lang="pt-BR" sz="2400" i="1">
                              <a:latin typeface="Cambria Math" panose="02040503050406030204" pitchFamily="18" charset="0"/>
                            </a:rPr>
                            <m:t>−1</m:t>
                          </m:r>
                        </m:sup>
                        <m:e>
                          <m:d>
                            <m:dPr>
                              <m:begChr m:val="["/>
                              <m:endChr m:val="]"/>
                              <m:ctrlPr>
                                <a:rPr lang="pt-BR" sz="2400" i="1">
                                  <a:latin typeface="Cambria Math" panose="02040503050406030204" pitchFamily="18" charset="0"/>
                                </a:rPr>
                              </m:ctrlPr>
                            </m:dPr>
                            <m:e>
                              <m:r>
                                <a:rPr lang="pt-BR" sz="2400" i="1">
                                  <a:latin typeface="Cambria Math" panose="02040503050406030204" pitchFamily="18" charset="0"/>
                                </a:rPr>
                                <m:t>1</m:t>
                              </m:r>
                              <m:d>
                                <m:dPr>
                                  <m:begChr m:val="{"/>
                                  <m:endChr m:val="}"/>
                                  <m:ctrlPr>
                                    <a:rPr lang="pt-BR" sz="2400" i="1">
                                      <a:latin typeface="Cambria Math" panose="02040503050406030204" pitchFamily="18" charset="0"/>
                                    </a:rPr>
                                  </m:ctrlPr>
                                </m:dPr>
                                <m:e>
                                  <m:r>
                                    <a:rPr lang="pt-BR" sz="2400" i="1">
                                      <a:latin typeface="Cambria Math" panose="02040503050406030204" pitchFamily="18" charset="0"/>
                                    </a:rPr>
                                    <m:t>𝑦</m:t>
                                  </m:r>
                                  <m:d>
                                    <m:dPr>
                                      <m:ctrlPr>
                                        <a:rPr lang="pt-BR" sz="2400" i="1">
                                          <a:latin typeface="Cambria Math" panose="02040503050406030204" pitchFamily="18" charset="0"/>
                                        </a:rPr>
                                      </m:ctrlPr>
                                    </m:dPr>
                                    <m:e>
                                      <m:r>
                                        <a:rPr lang="pt-BR" sz="2400" i="1">
                                          <a:latin typeface="Cambria Math" panose="02040503050406030204" pitchFamily="18" charset="0"/>
                                        </a:rPr>
                                        <m:t>𝑖</m:t>
                                      </m:r>
                                    </m:e>
                                  </m:d>
                                  <m:r>
                                    <a:rPr lang="pt-BR" sz="2400" i="1">
                                      <a:latin typeface="Cambria Math" panose="02040503050406030204" pitchFamily="18" charset="0"/>
                                    </a:rPr>
                                    <m:t>==</m:t>
                                  </m:r>
                                  <m:r>
                                    <a:rPr lang="pt-BR" sz="2400" b="0" i="1" smtClean="0">
                                      <a:latin typeface="Cambria Math" panose="02040503050406030204" pitchFamily="18" charset="0"/>
                                    </a:rPr>
                                    <m:t>𝑞</m:t>
                                  </m:r>
                                </m:e>
                              </m:d>
                              <m:r>
                                <a:rPr lang="pt-BR" sz="2400" i="1">
                                  <a:latin typeface="Cambria Math" panose="02040503050406030204" pitchFamily="18" charset="0"/>
                                </a:rPr>
                                <m:t>−</m:t>
                              </m:r>
                              <m:sSubSup>
                                <m:sSubSupPr>
                                  <m:ctrlPr>
                                    <a:rPr lang="pt-BR" sz="2400" b="1" i="1">
                                      <a:latin typeface="Cambria Math" panose="02040503050406030204" pitchFamily="18" charset="0"/>
                                    </a:rPr>
                                  </m:ctrlPr>
                                </m:sSubSupPr>
                                <m:e>
                                  <m:r>
                                    <a:rPr lang="pt-BR" sz="2400" i="1">
                                      <a:latin typeface="Cambria Math" panose="02040503050406030204" pitchFamily="18" charset="0"/>
                                    </a:rPr>
                                    <m:t>h</m:t>
                                  </m:r>
                                </m:e>
                                <m:sub>
                                  <m:r>
                                    <a:rPr lang="pt-BR" sz="2400" b="1" i="1">
                                      <a:latin typeface="Cambria Math" panose="02040503050406030204" pitchFamily="18" charset="0"/>
                                    </a:rPr>
                                    <m:t>𝒂</m:t>
                                  </m:r>
                                </m:sub>
                                <m:sup>
                                  <m:r>
                                    <a:rPr lang="pt-BR" sz="2400" i="1">
                                      <a:latin typeface="Cambria Math" panose="02040503050406030204" pitchFamily="18" charset="0"/>
                                    </a:rPr>
                                    <m:t>𝑞</m:t>
                                  </m:r>
                                </m:sup>
                              </m:sSubSup>
                              <m:d>
                                <m:dPr>
                                  <m:ctrlPr>
                                    <a:rPr lang="pt-BR" sz="2400" i="1">
                                      <a:latin typeface="Cambria Math" panose="02040503050406030204" pitchFamily="18" charset="0"/>
                                    </a:rPr>
                                  </m:ctrlPr>
                                </m:dPr>
                                <m:e>
                                  <m:r>
                                    <a:rPr lang="pt-BR" sz="2400" b="1" i="1">
                                      <a:latin typeface="Cambria Math" panose="02040503050406030204" pitchFamily="18" charset="0"/>
                                    </a:rPr>
                                    <m:t>𝒙</m:t>
                                  </m:r>
                                  <m:d>
                                    <m:dPr>
                                      <m:ctrlPr>
                                        <a:rPr lang="pt-BR" sz="2400" b="1" i="1">
                                          <a:latin typeface="Cambria Math" panose="02040503050406030204" pitchFamily="18" charset="0"/>
                                        </a:rPr>
                                      </m:ctrlPr>
                                    </m:dPr>
                                    <m:e>
                                      <m:r>
                                        <a:rPr lang="pt-BR" sz="2400" i="1">
                                          <a:latin typeface="Cambria Math" panose="02040503050406030204" pitchFamily="18" charset="0"/>
                                        </a:rPr>
                                        <m:t>𝑖</m:t>
                                      </m:r>
                                    </m:e>
                                  </m:d>
                                </m:e>
                              </m:d>
                            </m:e>
                          </m:d>
                          <m:r>
                            <a:rPr lang="pt-BR" sz="2400" b="1" i="1">
                              <a:latin typeface="Cambria Math" panose="02040503050406030204" pitchFamily="18" charset="0"/>
                            </a:rPr>
                            <m:t>𝒙</m:t>
                          </m:r>
                          <m:d>
                            <m:dPr>
                              <m:ctrlPr>
                                <a:rPr lang="pt-BR" sz="2400" b="1" i="1">
                                  <a:latin typeface="Cambria Math" panose="02040503050406030204" pitchFamily="18" charset="0"/>
                                </a:rPr>
                              </m:ctrlPr>
                            </m:dPr>
                            <m:e>
                              <m:r>
                                <a:rPr lang="pt-BR" sz="2400" i="1">
                                  <a:latin typeface="Cambria Math" panose="02040503050406030204" pitchFamily="18" charset="0"/>
                                </a:rPr>
                                <m:t>𝑖</m:t>
                              </m:r>
                            </m:e>
                          </m:d>
                        </m:e>
                      </m:nary>
                      <m:r>
                        <a:rPr lang="pt-BR" sz="2400" i="1">
                          <a:latin typeface="Cambria Math" panose="02040503050406030204" pitchFamily="18" charset="0"/>
                        </a:rPr>
                        <m:t>=</m:t>
                      </m:r>
                      <m:sSup>
                        <m:sSupPr>
                          <m:ctrlPr>
                            <a:rPr lang="pt-BR" sz="2400" i="1">
                              <a:latin typeface="Cambria Math" panose="02040503050406030204" pitchFamily="18" charset="0"/>
                            </a:rPr>
                          </m:ctrlPr>
                        </m:sSupPr>
                        <m:e>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r>
                            <a:rPr lang="pt-BR" sz="2400" b="1" i="1">
                              <a:latin typeface="Cambria Math" panose="02040503050406030204" pitchFamily="18" charset="0"/>
                            </a:rPr>
                            <m:t>𝑿</m:t>
                          </m:r>
                        </m:e>
                        <m:sup>
                          <m:r>
                            <a:rPr lang="pt-BR" sz="2400" i="1">
                              <a:latin typeface="Cambria Math" panose="02040503050406030204" pitchFamily="18" charset="0"/>
                            </a:rPr>
                            <m:t>𝑇</m:t>
                          </m:r>
                        </m:sup>
                      </m:sSup>
                      <m:d>
                        <m:dPr>
                          <m:ctrlPr>
                            <a:rPr lang="pt-BR" sz="2400" i="1">
                              <a:latin typeface="Cambria Math" panose="02040503050406030204" pitchFamily="18" charset="0"/>
                            </a:rPr>
                          </m:ctrlPr>
                        </m:dPr>
                        <m:e>
                          <m:sSub>
                            <m:sSubPr>
                              <m:ctrlPr>
                                <a:rPr lang="pt-BR" sz="2400" i="1" smtClean="0">
                                  <a:latin typeface="Cambria Math" panose="02040503050406030204" pitchFamily="18" charset="0"/>
                                </a:rPr>
                              </m:ctrlPr>
                            </m:sSubPr>
                            <m:e>
                              <m:r>
                                <a:rPr lang="pt-BR" sz="2400" b="1" i="1">
                                  <a:latin typeface="Cambria Math" panose="02040503050406030204" pitchFamily="18" charset="0"/>
                                </a:rPr>
                                <m:t>𝒚</m:t>
                              </m:r>
                            </m:e>
                            <m:sub>
                              <m:r>
                                <a:rPr lang="pt-BR" sz="2400" b="0" i="1" smtClean="0">
                                  <a:latin typeface="Cambria Math" panose="02040503050406030204" pitchFamily="18" charset="0"/>
                                </a:rPr>
                                <m:t>𝑞</m:t>
                              </m:r>
                            </m:sub>
                          </m:sSub>
                          <m:r>
                            <a:rPr lang="pt-BR" sz="2400" i="1">
                              <a:latin typeface="Cambria Math" panose="02040503050406030204" pitchFamily="18" charset="0"/>
                            </a:rPr>
                            <m:t>−</m:t>
                          </m:r>
                          <m:sSub>
                            <m:sSubPr>
                              <m:ctrlPr>
                                <a:rPr lang="pt-BR" sz="2400" i="1" smtClean="0">
                                  <a:latin typeface="Cambria Math" panose="02040503050406030204" pitchFamily="18" charset="0"/>
                                </a:rPr>
                              </m:ctrlPr>
                            </m:sSubPr>
                            <m:e>
                              <m:acc>
                                <m:accPr>
                                  <m:chr m:val="̂"/>
                                  <m:ctrlPr>
                                    <a:rPr lang="pt-BR" sz="2400" i="1">
                                      <a:latin typeface="Cambria Math" panose="02040503050406030204" pitchFamily="18" charset="0"/>
                                    </a:rPr>
                                  </m:ctrlPr>
                                </m:accPr>
                                <m:e>
                                  <m:r>
                                    <a:rPr lang="pt-BR" sz="2400" b="1" i="1">
                                      <a:latin typeface="Cambria Math" panose="02040503050406030204" pitchFamily="18" charset="0"/>
                                    </a:rPr>
                                    <m:t>𝒚</m:t>
                                  </m:r>
                                </m:e>
                              </m:acc>
                            </m:e>
                            <m:sub>
                              <m:r>
                                <a:rPr lang="pt-BR" sz="2400" b="0" i="1" smtClean="0">
                                  <a:latin typeface="Cambria Math" panose="02040503050406030204" pitchFamily="18" charset="0"/>
                                </a:rPr>
                                <m:t>𝑞</m:t>
                              </m:r>
                            </m:sub>
                          </m:sSub>
                        </m:e>
                      </m:d>
                      <m:r>
                        <a:rPr lang="pt-BR" sz="2400" b="0" i="1" smtClean="0">
                          <a:latin typeface="Cambria Math" panose="02040503050406030204" pitchFamily="18" charset="0"/>
                        </a:rPr>
                        <m:t>,</m:t>
                      </m:r>
                    </m:oMath>
                  </m:oMathPara>
                </a14:m>
                <a:endParaRPr lang="pt-BR" sz="2400" b="0" i="0" dirty="0">
                  <a:latin typeface="Calibri" panose="020F0502020204030204" pitchFamily="34" charset="0"/>
                </a:endParaRPr>
              </a:p>
              <a:p>
                <a:pPr marL="0" indent="0">
                  <a:buNone/>
                </a:pPr>
                <a:r>
                  <a:rPr lang="pt-BR" sz="2800" b="0" i="0" dirty="0">
                    <a:solidFill>
                      <a:srgbClr val="000000"/>
                    </a:solidFill>
                    <a:effectLst/>
                    <a:latin typeface="Calibri" panose="020F0502020204030204" pitchFamily="34" charset="0"/>
                  </a:rPr>
                  <a:t>onde </a:t>
                </a:r>
                <a14:m>
                  <m:oMath xmlns:m="http://schemas.openxmlformats.org/officeDocument/2006/math">
                    <m:sSub>
                      <m:sSubPr>
                        <m:ctrlPr>
                          <a:rPr lang="pt-BR" sz="2800" i="1" smtClean="0">
                            <a:latin typeface="Cambria Math" panose="02040503050406030204" pitchFamily="18" charset="0"/>
                          </a:rPr>
                        </m:ctrlPr>
                      </m:sSubPr>
                      <m:e>
                        <m:r>
                          <a:rPr lang="pt-BR" sz="2800" b="1" i="1">
                            <a:latin typeface="Cambria Math" panose="02040503050406030204" pitchFamily="18" charset="0"/>
                          </a:rPr>
                          <m:t>𝒚</m:t>
                        </m:r>
                      </m:e>
                      <m:sub>
                        <m:r>
                          <a:rPr lang="pt-BR" sz="2800" b="0" i="1" smtClean="0">
                            <a:latin typeface="Cambria Math" panose="02040503050406030204" pitchFamily="18" charset="0"/>
                          </a:rPr>
                          <m:t>𝑞</m:t>
                        </m:r>
                      </m:sub>
                    </m:sSub>
                  </m:oMath>
                </a14:m>
                <a:r>
                  <a:rPr lang="pt-BR" sz="2800" b="0" i="0" dirty="0">
                    <a:solidFill>
                      <a:srgbClr val="000000"/>
                    </a:solidFill>
                    <a:effectLst/>
                    <a:latin typeface="CambriaMath"/>
                  </a:rPr>
                  <a:t> </a:t>
                </a:r>
                <a:r>
                  <a:rPr lang="pt-BR" sz="2800" b="0" i="0" dirty="0">
                    <a:solidFill>
                      <a:srgbClr val="000000"/>
                    </a:solidFill>
                    <a:effectLst/>
                    <a:latin typeface="Calibri" panose="020F0502020204030204" pitchFamily="34" charset="0"/>
                  </a:rPr>
                  <a:t>e </a:t>
                </a:r>
                <a14:m>
                  <m:oMath xmlns:m="http://schemas.openxmlformats.org/officeDocument/2006/math">
                    <m:sSub>
                      <m:sSubPr>
                        <m:ctrlPr>
                          <a:rPr lang="pt-BR" sz="2800" i="1">
                            <a:latin typeface="Cambria Math" panose="02040503050406030204" pitchFamily="18" charset="0"/>
                          </a:rPr>
                        </m:ctrlPr>
                      </m:sSubPr>
                      <m:e>
                        <m:acc>
                          <m:accPr>
                            <m:chr m:val="̂"/>
                            <m:ctrlPr>
                              <a:rPr lang="pt-BR" sz="2800" i="1">
                                <a:latin typeface="Cambria Math" panose="02040503050406030204" pitchFamily="18" charset="0"/>
                              </a:rPr>
                            </m:ctrlPr>
                          </m:accPr>
                          <m:e>
                            <m:r>
                              <a:rPr lang="pt-BR" sz="2800" b="1" i="1">
                                <a:latin typeface="Cambria Math" panose="02040503050406030204" pitchFamily="18" charset="0"/>
                              </a:rPr>
                              <m:t>𝒚</m:t>
                            </m:r>
                          </m:e>
                        </m:acc>
                      </m:e>
                      <m:sub>
                        <m:r>
                          <a:rPr lang="pt-BR" sz="2800" i="1">
                            <a:latin typeface="Cambria Math" panose="02040503050406030204" pitchFamily="18" charset="0"/>
                          </a:rPr>
                          <m:t>𝑞</m:t>
                        </m:r>
                      </m:sub>
                    </m:sSub>
                  </m:oMath>
                </a14:m>
                <a:r>
                  <a:rPr lang="pt-BR" sz="2800" b="0" i="0" dirty="0">
                    <a:solidFill>
                      <a:srgbClr val="000000"/>
                    </a:solidFill>
                    <a:effectLst/>
                    <a:latin typeface="Calibri" panose="020F0502020204030204" pitchFamily="34" charset="0"/>
                  </a:rPr>
                  <a:t> são vetores coluna ambos com dimensão </a:t>
                </a:r>
                <a14:m>
                  <m:oMath xmlns:m="http://schemas.openxmlformats.org/officeDocument/2006/math">
                    <m:r>
                      <a:rPr lang="pt-BR" sz="2400" b="0" i="1" dirty="0" smtClean="0">
                        <a:latin typeface="Cambria Math" panose="02040503050406030204" pitchFamily="18" charset="0"/>
                        <a:ea typeface="Cambria Math" panose="02040503050406030204" pitchFamily="18" charset="0"/>
                      </a:rPr>
                      <m:t>𝑁</m:t>
                    </m:r>
                    <m:r>
                      <a:rPr lang="pt-BR" sz="2400" i="1" dirty="0">
                        <a:latin typeface="Cambria Math" panose="02040503050406030204" pitchFamily="18" charset="0"/>
                        <a:ea typeface="Cambria Math" panose="02040503050406030204" pitchFamily="18" charset="0"/>
                      </a:rPr>
                      <m:t>×1</m:t>
                    </m:r>
                  </m:oMath>
                </a14:m>
                <a:r>
                  <a:rPr lang="pt-BR" dirty="0"/>
                  <a:t> contendo os </a:t>
                </a:r>
                <a14:m>
                  <m:oMath xmlns:m="http://schemas.openxmlformats.org/officeDocument/2006/math">
                    <m:r>
                      <a:rPr lang="pt-BR" i="1">
                        <a:latin typeface="Cambria Math" panose="02040503050406030204" pitchFamily="18" charset="0"/>
                      </a:rPr>
                      <m:t>𝑞</m:t>
                    </m:r>
                  </m:oMath>
                </a14:m>
                <a:r>
                  <a:rPr lang="pt-BR" dirty="0"/>
                  <a:t>-</a:t>
                </a:r>
                <a:r>
                  <a:rPr lang="pt-BR" dirty="0" err="1"/>
                  <a:t>ésimos</a:t>
                </a:r>
                <a:r>
                  <a:rPr lang="pt-BR" dirty="0"/>
                  <a:t> elementos dos vetores </a:t>
                </a:r>
                <a:r>
                  <a:rPr lang="pt-BR" i="1" dirty="0" err="1"/>
                  <a:t>one</a:t>
                </a:r>
                <a:r>
                  <a:rPr lang="pt-BR" i="1" dirty="0"/>
                  <a:t>-hot</a:t>
                </a:r>
                <a:r>
                  <a:rPr lang="pt-BR" dirty="0"/>
                  <a:t> e de saída do regressor softmax para cada um dos </a:t>
                </a:r>
                <a14:m>
                  <m:oMath xmlns:m="http://schemas.openxmlformats.org/officeDocument/2006/math">
                    <m:r>
                      <a:rPr lang="pt-BR" i="1">
                        <a:latin typeface="Cambria Math" panose="02040503050406030204" pitchFamily="18" charset="0"/>
                      </a:rPr>
                      <m:t>𝑁</m:t>
                    </m:r>
                  </m:oMath>
                </a14:m>
                <a:r>
                  <a:rPr lang="pt-BR" dirty="0"/>
                  <a:t> vetores de atributo, respectivamente.</a:t>
                </a:r>
              </a:p>
            </p:txBody>
          </p:sp>
        </mc:Choice>
        <mc:Fallback xmlns="">
          <p:sp>
            <p:nvSpPr>
              <p:cNvPr id="3" name="Espaço Reservado para Conteúdo 2">
                <a:extLst>
                  <a:ext uri="{FF2B5EF4-FFF2-40B4-BE49-F238E27FC236}">
                    <a16:creationId xmlns:a16="http://schemas.microsoft.com/office/drawing/2014/main" id="{1D38055D-E355-F780-9CA0-0337EA0BE4FD}"/>
                  </a:ext>
                </a:extLst>
              </p:cNvPr>
              <p:cNvSpPr>
                <a:spLocks noGrp="1" noRot="1" noChangeAspect="1" noMove="1" noResize="1" noEditPoints="1" noAdjustHandles="1" noChangeArrowheads="1" noChangeShapeType="1" noTextEdit="1"/>
              </p:cNvSpPr>
              <p:nvPr>
                <p:ph idx="1"/>
              </p:nvPr>
            </p:nvSpPr>
            <p:spPr>
              <a:xfrm>
                <a:off x="838200" y="1825625"/>
                <a:ext cx="11163300" cy="5032375"/>
              </a:xfrm>
              <a:blipFill>
                <a:blip r:embed="rId3"/>
                <a:stretch>
                  <a:fillRect l="-1147" t="-2421"/>
                </a:stretch>
              </a:blipFill>
            </p:spPr>
            <p:txBody>
              <a:bodyPr/>
              <a:lstStyle/>
              <a:p>
                <a:r>
                  <a:rPr lang="pt-BR">
                    <a:noFill/>
                  </a:rPr>
                  <a:t> </a:t>
                </a:r>
              </a:p>
            </p:txBody>
          </p:sp>
        </mc:Fallback>
      </mc:AlternateContent>
      <p:sp>
        <p:nvSpPr>
          <p:cNvPr id="4" name="TextBox 3">
            <a:extLst>
              <a:ext uri="{FF2B5EF4-FFF2-40B4-BE49-F238E27FC236}">
                <a16:creationId xmlns:a16="http://schemas.microsoft.com/office/drawing/2014/main" id="{39A1F0A7-6FE4-5915-6E73-B4358D34F953}"/>
              </a:ext>
            </a:extLst>
          </p:cNvPr>
          <p:cNvSpPr txBox="1"/>
          <p:nvPr/>
        </p:nvSpPr>
        <p:spPr>
          <a:xfrm>
            <a:off x="10762472" y="4184205"/>
            <a:ext cx="700548" cy="430887"/>
          </a:xfrm>
          <a:prstGeom prst="rect">
            <a:avLst/>
          </a:prstGeom>
          <a:noFill/>
        </p:spPr>
        <p:txBody>
          <a:bodyPr wrap="square" rtlCol="0">
            <a:spAutoFit/>
          </a:bodyPr>
          <a:lstStyle/>
          <a:p>
            <a:pPr algn="ctr"/>
            <a:r>
              <a:rPr lang="pt-BR" sz="1100" dirty="0"/>
              <a:t>Forma matricial</a:t>
            </a:r>
          </a:p>
        </p:txBody>
      </p:sp>
      <p:cxnSp>
        <p:nvCxnSpPr>
          <p:cNvPr id="5" name="Straight Arrow Connector 5">
            <a:extLst>
              <a:ext uri="{FF2B5EF4-FFF2-40B4-BE49-F238E27FC236}">
                <a16:creationId xmlns:a16="http://schemas.microsoft.com/office/drawing/2014/main" id="{C9B616E8-B74F-0DC6-87F9-63CCB1AB4FE1}"/>
              </a:ext>
            </a:extLst>
          </p:cNvPr>
          <p:cNvCxnSpPr>
            <a:stCxn id="4" idx="1"/>
          </p:cNvCxnSpPr>
          <p:nvPr/>
        </p:nvCxnSpPr>
        <p:spPr>
          <a:xfrm flipH="1">
            <a:off x="10342144" y="4399649"/>
            <a:ext cx="420328" cy="32286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4587551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1D0947A-594D-A8D5-95F3-38EB04C6BDB6}"/>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DBA288E-BBB8-E157-840C-AA685AD7D65C}"/>
                  </a:ext>
                </a:extLst>
              </p:cNvPr>
              <p:cNvSpPr>
                <a:spLocks noGrp="1"/>
              </p:cNvSpPr>
              <p:nvPr>
                <p:ph idx="1"/>
              </p:nvPr>
            </p:nvSpPr>
            <p:spPr>
              <a:xfrm>
                <a:off x="838200" y="1825624"/>
                <a:ext cx="11119338" cy="5032375"/>
              </a:xfrm>
            </p:spPr>
            <p:txBody>
              <a:bodyPr>
                <a:normAutofit/>
              </a:bodyPr>
              <a:lstStyle/>
              <a:p>
                <a:pPr marL="0" indent="0">
                  <a:buNone/>
                </a:pPr>
                <a14:m>
                  <m:oMathPara xmlns:m="http://schemas.openxmlformats.org/officeDocument/2006/math">
                    <m:oMathParaPr>
                      <m:jc m:val="centerGroup"/>
                    </m:oMathParaPr>
                    <m:oMath xmlns:m="http://schemas.openxmlformats.org/officeDocument/2006/math">
                      <m:f>
                        <m:fPr>
                          <m:ctrlPr>
                            <a:rPr lang="pt-BR" sz="2800" i="1" smtClean="0">
                              <a:latin typeface="Cambria Math" panose="02040503050406030204" pitchFamily="18" charset="0"/>
                            </a:rPr>
                          </m:ctrlPr>
                        </m:fPr>
                        <m:num>
                          <m:r>
                            <a:rPr lang="pt-BR" sz="2800" i="1">
                              <a:latin typeface="Cambria Math" panose="02040503050406030204" pitchFamily="18" charset="0"/>
                            </a:rPr>
                            <m:t>𝜕</m:t>
                          </m:r>
                          <m:sSub>
                            <m:sSubPr>
                              <m:ctrlPr>
                                <a:rPr lang="pt-BR" sz="2800" i="1">
                                  <a:latin typeface="Cambria Math" panose="02040503050406030204" pitchFamily="18" charset="0"/>
                                </a:rPr>
                              </m:ctrlPr>
                            </m:sSubPr>
                            <m:e>
                              <m:r>
                                <a:rPr lang="pt-BR" sz="2800" i="1">
                                  <a:latin typeface="Cambria Math" panose="02040503050406030204" pitchFamily="18" charset="0"/>
                                </a:rPr>
                                <m:t>𝐽</m:t>
                              </m:r>
                            </m:e>
                            <m:sub>
                              <m:r>
                                <a:rPr lang="pt-BR" sz="2800" i="1">
                                  <a:latin typeface="Cambria Math" panose="02040503050406030204" pitchFamily="18" charset="0"/>
                                </a:rPr>
                                <m:t>𝑒</m:t>
                              </m:r>
                            </m:sub>
                          </m:sSub>
                          <m:d>
                            <m:dPr>
                              <m:ctrlPr>
                                <a:rPr lang="pt-BR" sz="2800" i="1">
                                  <a:latin typeface="Cambria Math" panose="02040503050406030204" pitchFamily="18" charset="0"/>
                                </a:rPr>
                              </m:ctrlPr>
                            </m:dPr>
                            <m:e>
                              <m:r>
                                <a:rPr lang="pt-BR" sz="2800" b="1" i="1">
                                  <a:latin typeface="Cambria Math" panose="02040503050406030204" pitchFamily="18" charset="0"/>
                                </a:rPr>
                                <m:t>𝑨</m:t>
                              </m:r>
                            </m:e>
                          </m:d>
                        </m:num>
                        <m:den>
                          <m:r>
                            <a:rPr lang="pt-BR" sz="2800" i="1">
                              <a:latin typeface="Cambria Math" panose="02040503050406030204" pitchFamily="18" charset="0"/>
                            </a:rPr>
                            <m:t>𝜕</m:t>
                          </m:r>
                          <m:sSub>
                            <m:sSubPr>
                              <m:ctrlPr>
                                <a:rPr lang="pt-BR" sz="2800" i="1">
                                  <a:latin typeface="Cambria Math" panose="02040503050406030204" pitchFamily="18" charset="0"/>
                                </a:rPr>
                              </m:ctrlPr>
                            </m:sSubPr>
                            <m:e>
                              <m:r>
                                <a:rPr lang="pt-BR" sz="2800" b="1" i="1">
                                  <a:latin typeface="Cambria Math" panose="02040503050406030204" pitchFamily="18" charset="0"/>
                                </a:rPr>
                                <m:t>𝒂</m:t>
                              </m:r>
                            </m:e>
                            <m:sub>
                              <m:r>
                                <a:rPr lang="pt-BR" sz="2800" i="1">
                                  <a:latin typeface="Cambria Math" panose="02040503050406030204" pitchFamily="18" charset="0"/>
                                </a:rPr>
                                <m:t>𝑞</m:t>
                              </m:r>
                            </m:sub>
                          </m:sSub>
                        </m:den>
                      </m:f>
                      <m:r>
                        <a:rPr lang="pt-BR" sz="2800" i="1">
                          <a:latin typeface="Cambria Math" panose="02040503050406030204" pitchFamily="18" charset="0"/>
                        </a:rPr>
                        <m:t>=</m:t>
                      </m:r>
                      <m:sSup>
                        <m:sSupPr>
                          <m:ctrlPr>
                            <a:rPr lang="pt-BR" sz="2800" i="1">
                              <a:latin typeface="Cambria Math" panose="02040503050406030204" pitchFamily="18" charset="0"/>
                            </a:rPr>
                          </m:ctrlPr>
                        </m:sSupPr>
                        <m:e>
                          <m:r>
                            <a:rPr lang="pt-BR" sz="2800" i="1">
                              <a:latin typeface="Cambria Math" panose="02040503050406030204" pitchFamily="18" charset="0"/>
                            </a:rPr>
                            <m:t>−</m:t>
                          </m:r>
                          <m:f>
                            <m:fPr>
                              <m:ctrlPr>
                                <a:rPr lang="pt-BR" sz="2800" i="1">
                                  <a:latin typeface="Cambria Math" panose="02040503050406030204" pitchFamily="18" charset="0"/>
                                </a:rPr>
                              </m:ctrlPr>
                            </m:fPr>
                            <m:num>
                              <m:r>
                                <a:rPr lang="pt-BR" sz="2800" i="1">
                                  <a:latin typeface="Cambria Math" panose="02040503050406030204" pitchFamily="18" charset="0"/>
                                </a:rPr>
                                <m:t>1</m:t>
                              </m:r>
                            </m:num>
                            <m:den>
                              <m:r>
                                <a:rPr lang="pt-BR" sz="2800" i="1">
                                  <a:latin typeface="Cambria Math" panose="02040503050406030204" pitchFamily="18" charset="0"/>
                                </a:rPr>
                                <m:t>𝑁</m:t>
                              </m:r>
                            </m:den>
                          </m:f>
                          <m:r>
                            <a:rPr lang="pt-BR" sz="2800" b="1" i="1">
                              <a:latin typeface="Cambria Math" panose="02040503050406030204" pitchFamily="18" charset="0"/>
                            </a:rPr>
                            <m:t>𝑿</m:t>
                          </m:r>
                        </m:e>
                        <m:sup>
                          <m:r>
                            <a:rPr lang="pt-BR" sz="2800" i="1">
                              <a:latin typeface="Cambria Math" panose="02040503050406030204" pitchFamily="18" charset="0"/>
                            </a:rPr>
                            <m:t>𝑇</m:t>
                          </m:r>
                        </m:sup>
                      </m:sSup>
                      <m:d>
                        <m:dPr>
                          <m:ctrlPr>
                            <a:rPr lang="pt-BR" sz="2800" i="1">
                              <a:latin typeface="Cambria Math" panose="02040503050406030204" pitchFamily="18" charset="0"/>
                            </a:rPr>
                          </m:ctrlPr>
                        </m:dPr>
                        <m:e>
                          <m:sSub>
                            <m:sSubPr>
                              <m:ctrlPr>
                                <a:rPr lang="pt-BR" sz="2800" i="1" smtClean="0">
                                  <a:latin typeface="Cambria Math" panose="02040503050406030204" pitchFamily="18" charset="0"/>
                                </a:rPr>
                              </m:ctrlPr>
                            </m:sSubPr>
                            <m:e>
                              <m:r>
                                <a:rPr lang="pt-BR" sz="2800" b="1" i="1">
                                  <a:latin typeface="Cambria Math" panose="02040503050406030204" pitchFamily="18" charset="0"/>
                                </a:rPr>
                                <m:t>𝒚</m:t>
                              </m:r>
                            </m:e>
                            <m:sub>
                              <m:r>
                                <a:rPr lang="pt-BR" sz="2800" b="0" i="1" smtClean="0">
                                  <a:latin typeface="Cambria Math" panose="02040503050406030204" pitchFamily="18" charset="0"/>
                                </a:rPr>
                                <m:t>𝑞</m:t>
                              </m:r>
                            </m:sub>
                          </m:sSub>
                          <m:r>
                            <a:rPr lang="pt-BR" sz="2800" i="1">
                              <a:latin typeface="Cambria Math" panose="02040503050406030204" pitchFamily="18" charset="0"/>
                            </a:rPr>
                            <m:t>−</m:t>
                          </m:r>
                          <m:sSub>
                            <m:sSubPr>
                              <m:ctrlPr>
                                <a:rPr lang="pt-BR" sz="2800" i="1" smtClean="0">
                                  <a:latin typeface="Cambria Math" panose="02040503050406030204" pitchFamily="18" charset="0"/>
                                </a:rPr>
                              </m:ctrlPr>
                            </m:sSubPr>
                            <m:e>
                              <m:acc>
                                <m:accPr>
                                  <m:chr m:val="̂"/>
                                  <m:ctrlPr>
                                    <a:rPr lang="pt-BR" sz="2800" i="1">
                                      <a:latin typeface="Cambria Math" panose="02040503050406030204" pitchFamily="18" charset="0"/>
                                    </a:rPr>
                                  </m:ctrlPr>
                                </m:accPr>
                                <m:e>
                                  <m:r>
                                    <a:rPr lang="pt-BR" sz="2800" b="1" i="1">
                                      <a:latin typeface="Cambria Math" panose="02040503050406030204" pitchFamily="18" charset="0"/>
                                    </a:rPr>
                                    <m:t>𝒚</m:t>
                                  </m:r>
                                </m:e>
                              </m:acc>
                            </m:e>
                            <m:sub>
                              <m:r>
                                <a:rPr lang="pt-BR" sz="2800" b="0" i="1" smtClean="0">
                                  <a:latin typeface="Cambria Math" panose="02040503050406030204" pitchFamily="18" charset="0"/>
                                </a:rPr>
                                <m:t>𝑞</m:t>
                              </m:r>
                            </m:sub>
                          </m:sSub>
                        </m:e>
                      </m:d>
                      <m:r>
                        <a:rPr lang="pt-BR" sz="2800" b="0" i="1" smtClean="0">
                          <a:latin typeface="Cambria Math" panose="02040503050406030204" pitchFamily="18" charset="0"/>
                        </a:rPr>
                        <m:t>.</m:t>
                      </m:r>
                    </m:oMath>
                  </m:oMathPara>
                </a14:m>
                <a:endParaRPr lang="pt-BR" dirty="0"/>
              </a:p>
              <a:p>
                <a:r>
                  <a:rPr lang="pt-BR" dirty="0"/>
                  <a:t>Notem que essa expressão do vetor gradiente é </a:t>
                </a:r>
                <a:r>
                  <a:rPr lang="pt-BR" b="1" i="1" dirty="0">
                    <a:solidFill>
                      <a:srgbClr val="00B050"/>
                    </a:solidFill>
                  </a:rPr>
                  <a:t>idêntica</a:t>
                </a:r>
                <a:r>
                  <a:rPr lang="pt-BR" dirty="0"/>
                  <a:t> àquela obtida para o caso da </a:t>
                </a:r>
                <a:r>
                  <a:rPr lang="pt-BR" b="1" i="1" dirty="0">
                    <a:solidFill>
                      <a:srgbClr val="00B050"/>
                    </a:solidFill>
                  </a:rPr>
                  <a:t>regressão logística</a:t>
                </a:r>
                <a:r>
                  <a:rPr lang="pt-BR" b="1" i="1" dirty="0"/>
                  <a:t>.</a:t>
                </a:r>
              </a:p>
              <a:p>
                <a:r>
                  <a:rPr lang="pt-BR" dirty="0"/>
                  <a:t>O vetor gradiente pode ser reescrito levando-se em consideração todos os </a:t>
                </a:r>
                <a14:m>
                  <m:oMath xmlns:m="http://schemas.openxmlformats.org/officeDocument/2006/math">
                    <m:r>
                      <a:rPr lang="pt-BR" i="1" smtClean="0">
                        <a:latin typeface="Cambria Math" panose="02040503050406030204" pitchFamily="18" charset="0"/>
                      </a:rPr>
                      <m:t>𝑄</m:t>
                    </m:r>
                    <m:r>
                      <a:rPr lang="pt-BR" i="1" smtClean="0">
                        <a:latin typeface="Cambria Math" panose="02040503050406030204" pitchFamily="18" charset="0"/>
                      </a:rPr>
                      <m:t> </m:t>
                    </m:r>
                  </m:oMath>
                </a14:m>
                <a:r>
                  <a:rPr lang="pt-BR" dirty="0"/>
                  <a:t>vetores de peso:</a:t>
                </a:r>
              </a:p>
              <a:p>
                <a:pPr marL="0" indent="0">
                  <a:buNone/>
                </a:pPr>
                <a14:m>
                  <m:oMathPara xmlns:m="http://schemas.openxmlformats.org/officeDocument/2006/math">
                    <m:oMathParaPr>
                      <m:jc m:val="centerGroup"/>
                    </m:oMathParaPr>
                    <m:oMath xmlns:m="http://schemas.openxmlformats.org/officeDocument/2006/math">
                      <m:f>
                        <m:fPr>
                          <m:ctrlPr>
                            <a:rPr lang="pt-BR" sz="2800" i="1" smtClean="0">
                              <a:latin typeface="Cambria Math" panose="02040503050406030204" pitchFamily="18" charset="0"/>
                            </a:rPr>
                          </m:ctrlPr>
                        </m:fPr>
                        <m:num>
                          <m:r>
                            <a:rPr lang="pt-BR" sz="2800" i="1">
                              <a:latin typeface="Cambria Math" panose="02040503050406030204" pitchFamily="18" charset="0"/>
                            </a:rPr>
                            <m:t>𝜕</m:t>
                          </m:r>
                          <m:sSub>
                            <m:sSubPr>
                              <m:ctrlPr>
                                <a:rPr lang="pt-BR" sz="2800" i="1">
                                  <a:latin typeface="Cambria Math" panose="02040503050406030204" pitchFamily="18" charset="0"/>
                                </a:rPr>
                              </m:ctrlPr>
                            </m:sSubPr>
                            <m:e>
                              <m:r>
                                <a:rPr lang="pt-BR" sz="2800" i="1">
                                  <a:latin typeface="Cambria Math" panose="02040503050406030204" pitchFamily="18" charset="0"/>
                                </a:rPr>
                                <m:t>𝐽</m:t>
                              </m:r>
                            </m:e>
                            <m:sub>
                              <m:r>
                                <a:rPr lang="pt-BR" sz="2800" i="1">
                                  <a:latin typeface="Cambria Math" panose="02040503050406030204" pitchFamily="18" charset="0"/>
                                </a:rPr>
                                <m:t>𝑒</m:t>
                              </m:r>
                            </m:sub>
                          </m:sSub>
                          <m:d>
                            <m:dPr>
                              <m:ctrlPr>
                                <a:rPr lang="pt-BR" sz="2800" i="1">
                                  <a:latin typeface="Cambria Math" panose="02040503050406030204" pitchFamily="18" charset="0"/>
                                </a:rPr>
                              </m:ctrlPr>
                            </m:dPr>
                            <m:e>
                              <m:r>
                                <a:rPr lang="pt-BR" sz="2800" b="1" i="1">
                                  <a:latin typeface="Cambria Math" panose="02040503050406030204" pitchFamily="18" charset="0"/>
                                </a:rPr>
                                <m:t>𝑨</m:t>
                              </m:r>
                            </m:e>
                          </m:d>
                        </m:num>
                        <m:den>
                          <m:r>
                            <a:rPr lang="pt-BR" sz="2800" i="1">
                              <a:latin typeface="Cambria Math" panose="02040503050406030204" pitchFamily="18" charset="0"/>
                            </a:rPr>
                            <m:t>𝜕</m:t>
                          </m:r>
                          <m:r>
                            <a:rPr lang="pt-BR" b="1" i="1">
                              <a:latin typeface="Cambria Math" panose="02040503050406030204" pitchFamily="18" charset="0"/>
                            </a:rPr>
                            <m:t>𝑨</m:t>
                          </m:r>
                        </m:den>
                      </m:f>
                      <m:r>
                        <a:rPr lang="pt-BR" sz="2800" i="1">
                          <a:latin typeface="Cambria Math" panose="02040503050406030204" pitchFamily="18" charset="0"/>
                        </a:rPr>
                        <m:t>=</m:t>
                      </m:r>
                      <m:sSup>
                        <m:sSupPr>
                          <m:ctrlPr>
                            <a:rPr lang="pt-BR" sz="2800" i="1">
                              <a:latin typeface="Cambria Math" panose="02040503050406030204" pitchFamily="18" charset="0"/>
                            </a:rPr>
                          </m:ctrlPr>
                        </m:sSupPr>
                        <m:e>
                          <m:r>
                            <a:rPr lang="pt-BR" sz="2800" i="1">
                              <a:latin typeface="Cambria Math" panose="02040503050406030204" pitchFamily="18" charset="0"/>
                            </a:rPr>
                            <m:t>−</m:t>
                          </m:r>
                          <m:f>
                            <m:fPr>
                              <m:ctrlPr>
                                <a:rPr lang="pt-BR" sz="2800" i="1">
                                  <a:latin typeface="Cambria Math" panose="02040503050406030204" pitchFamily="18" charset="0"/>
                                </a:rPr>
                              </m:ctrlPr>
                            </m:fPr>
                            <m:num>
                              <m:r>
                                <a:rPr lang="pt-BR" sz="2800" i="1">
                                  <a:latin typeface="Cambria Math" panose="02040503050406030204" pitchFamily="18" charset="0"/>
                                </a:rPr>
                                <m:t>1</m:t>
                              </m:r>
                            </m:num>
                            <m:den>
                              <m:r>
                                <a:rPr lang="pt-BR" sz="2800" i="1">
                                  <a:latin typeface="Cambria Math" panose="02040503050406030204" pitchFamily="18" charset="0"/>
                                </a:rPr>
                                <m:t>𝑁</m:t>
                              </m:r>
                            </m:den>
                          </m:f>
                          <m:r>
                            <a:rPr lang="pt-BR" sz="2800" b="1" i="1">
                              <a:latin typeface="Cambria Math" panose="02040503050406030204" pitchFamily="18" charset="0"/>
                            </a:rPr>
                            <m:t>𝑿</m:t>
                          </m:r>
                        </m:e>
                        <m:sup>
                          <m:r>
                            <a:rPr lang="pt-BR" sz="2800" i="1">
                              <a:latin typeface="Cambria Math" panose="02040503050406030204" pitchFamily="18" charset="0"/>
                            </a:rPr>
                            <m:t>𝑇</m:t>
                          </m:r>
                        </m:sup>
                      </m:sSup>
                      <m:d>
                        <m:dPr>
                          <m:ctrlPr>
                            <a:rPr lang="pt-BR" sz="2800" i="1" smtClean="0">
                              <a:latin typeface="Cambria Math" panose="02040503050406030204" pitchFamily="18" charset="0"/>
                            </a:rPr>
                          </m:ctrlPr>
                        </m:dPr>
                        <m:e>
                          <m:r>
                            <a:rPr lang="pt-BR" sz="2800" b="1" i="1" smtClean="0">
                              <a:latin typeface="Cambria Math" panose="02040503050406030204" pitchFamily="18" charset="0"/>
                            </a:rPr>
                            <m:t>𝒀</m:t>
                          </m:r>
                          <m:r>
                            <a:rPr lang="pt-BR" sz="2800" b="0" i="1" smtClean="0">
                              <a:latin typeface="Cambria Math" panose="02040503050406030204" pitchFamily="18" charset="0"/>
                            </a:rPr>
                            <m:t>−</m:t>
                          </m:r>
                          <m:acc>
                            <m:accPr>
                              <m:chr m:val="̂"/>
                              <m:ctrlPr>
                                <a:rPr lang="pt-BR" sz="2800" b="0" i="1" smtClean="0">
                                  <a:latin typeface="Cambria Math" panose="02040503050406030204" pitchFamily="18" charset="0"/>
                                </a:rPr>
                              </m:ctrlPr>
                            </m:accPr>
                            <m:e>
                              <m:r>
                                <a:rPr lang="pt-BR" sz="2800" b="1" i="1" smtClean="0">
                                  <a:latin typeface="Cambria Math" panose="02040503050406030204" pitchFamily="18" charset="0"/>
                                </a:rPr>
                                <m:t>𝒀</m:t>
                              </m:r>
                            </m:e>
                          </m:acc>
                        </m:e>
                      </m:d>
                      <m:r>
                        <a:rPr lang="pt-BR" sz="2800" b="0" i="1"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sz="2800" b="1" i="1" smtClean="0">
                        <a:latin typeface="Cambria Math" panose="02040503050406030204" pitchFamily="18" charset="0"/>
                      </a:rPr>
                      <m:t>𝒀</m:t>
                    </m:r>
                  </m:oMath>
                </a14:m>
                <a:r>
                  <a:rPr lang="pt-BR" dirty="0"/>
                  <a:t> e </a:t>
                </a:r>
                <a14:m>
                  <m:oMath xmlns:m="http://schemas.openxmlformats.org/officeDocument/2006/math">
                    <m:acc>
                      <m:accPr>
                        <m:chr m:val="̂"/>
                        <m:ctrlPr>
                          <a:rPr lang="pt-BR" i="1">
                            <a:latin typeface="Cambria Math" panose="02040503050406030204" pitchFamily="18" charset="0"/>
                          </a:rPr>
                        </m:ctrlPr>
                      </m:accPr>
                      <m:e>
                        <m:r>
                          <a:rPr lang="pt-BR" b="1" i="1">
                            <a:latin typeface="Cambria Math" panose="02040503050406030204" pitchFamily="18" charset="0"/>
                          </a:rPr>
                          <m:t>𝒀</m:t>
                        </m:r>
                      </m:e>
                    </m:acc>
                  </m:oMath>
                </a14:m>
                <a:r>
                  <a:rPr lang="pt-BR" dirty="0"/>
                  <a:t> são matrizes com dimensão </a:t>
                </a:r>
                <a14:m>
                  <m:oMath xmlns:m="http://schemas.openxmlformats.org/officeDocument/2006/math">
                    <m:r>
                      <a:rPr lang="pt-BR" i="1" dirty="0">
                        <a:latin typeface="Cambria Math" panose="02040503050406030204" pitchFamily="18" charset="0"/>
                        <a:ea typeface="Cambria Math" panose="02040503050406030204" pitchFamily="18" charset="0"/>
                      </a:rPr>
                      <m:t>𝑁</m:t>
                    </m:r>
                    <m:r>
                      <a:rPr lang="pt-BR" i="1" dirty="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𝑄</m:t>
                    </m:r>
                  </m:oMath>
                </a14:m>
                <a:r>
                  <a:rPr lang="pt-BR" dirty="0"/>
                  <a:t> contendendo em cada linha os vetores </a:t>
                </a:r>
                <a14:m>
                  <m:oMath xmlns:m="http://schemas.openxmlformats.org/officeDocument/2006/math">
                    <m:sSup>
                      <m:sSupPr>
                        <m:ctrlPr>
                          <a:rPr lang="pt-BR" i="1" smtClean="0">
                            <a:latin typeface="Cambria Math" panose="02040503050406030204" pitchFamily="18" charset="0"/>
                          </a:rPr>
                        </m:ctrlPr>
                      </m:sSupPr>
                      <m:e>
                        <m:r>
                          <a:rPr lang="pt-BR" b="1" i="1">
                            <a:latin typeface="Cambria Math" panose="02040503050406030204" pitchFamily="18" charset="0"/>
                          </a:rPr>
                          <m:t>𝒚</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sup>
                        <m:r>
                          <a:rPr lang="pt-BR" b="0" i="1" smtClean="0">
                            <a:latin typeface="Cambria Math" panose="02040503050406030204" pitchFamily="18" charset="0"/>
                          </a:rPr>
                          <m:t>𝑇</m:t>
                        </m:r>
                      </m:sup>
                    </m:sSup>
                  </m:oMath>
                </a14:m>
                <a:r>
                  <a:rPr lang="pt-BR" dirty="0"/>
                  <a:t>e </a:t>
                </a:r>
                <a14:m>
                  <m:oMath xmlns:m="http://schemas.openxmlformats.org/officeDocument/2006/math">
                    <m:sSup>
                      <m:sSupPr>
                        <m:ctrlPr>
                          <a:rPr lang="pt-BR" i="1" smtClean="0">
                            <a:latin typeface="Cambria Math" panose="02040503050406030204" pitchFamily="18" charset="0"/>
                          </a:rPr>
                        </m:ctrlPr>
                      </m:sSupPr>
                      <m:e>
                        <m:sSub>
                          <m:sSubPr>
                            <m:ctrlPr>
                              <a:rPr lang="pt-BR" i="1">
                                <a:latin typeface="Cambria Math" panose="02040503050406030204" pitchFamily="18" charset="0"/>
                              </a:rPr>
                            </m:ctrlPr>
                          </m:sSubPr>
                          <m:e>
                            <m:r>
                              <a:rPr lang="pt-BR" b="1" i="1">
                                <a:latin typeface="Cambria Math" panose="02040503050406030204" pitchFamily="18" charset="0"/>
                              </a:rPr>
                              <m:t>𝒉</m:t>
                            </m:r>
                          </m:e>
                          <m:sub>
                            <m:r>
                              <a:rPr lang="pt-BR" b="1" i="1">
                                <a:latin typeface="Cambria Math" panose="02040503050406030204" pitchFamily="18" charset="0"/>
                              </a:rPr>
                              <m:t>𝒂</m:t>
                            </m:r>
                          </m:sub>
                        </m:sSub>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e>
                        </m:d>
                      </m:e>
                      <m:sup>
                        <m:r>
                          <a:rPr lang="pt-BR" b="0" i="1" smtClean="0">
                            <a:latin typeface="Cambria Math" panose="02040503050406030204" pitchFamily="18" charset="0"/>
                          </a:rPr>
                          <m:t>𝑇</m:t>
                        </m:r>
                      </m:sup>
                    </m:sSup>
                  </m:oMath>
                </a14:m>
                <a:r>
                  <a:rPr lang="pt-BR" dirty="0"/>
                  <a:t> para todos os </a:t>
                </a:r>
                <a14:m>
                  <m:oMath xmlns:m="http://schemas.openxmlformats.org/officeDocument/2006/math">
                    <m:r>
                      <a:rPr lang="pt-BR" i="1" dirty="0">
                        <a:latin typeface="Cambria Math" panose="02040503050406030204" pitchFamily="18" charset="0"/>
                        <a:ea typeface="Cambria Math" panose="02040503050406030204" pitchFamily="18" charset="0"/>
                      </a:rPr>
                      <m:t>𝑁</m:t>
                    </m:r>
                  </m:oMath>
                </a14:m>
                <a:r>
                  <a:rPr lang="pt-BR" dirty="0"/>
                  <a:t> exemplos, respectivamente.</a:t>
                </a:r>
              </a:p>
              <a:p>
                <a:endParaRPr lang="pt-BR" dirty="0"/>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DDBA288E-BBB8-E157-840C-AA685AD7D65C}"/>
                  </a:ext>
                </a:extLst>
              </p:cNvPr>
              <p:cNvSpPr>
                <a:spLocks noGrp="1" noRot="1" noChangeAspect="1" noMove="1" noResize="1" noEditPoints="1" noAdjustHandles="1" noChangeArrowheads="1" noChangeShapeType="1" noTextEdit="1"/>
              </p:cNvSpPr>
              <p:nvPr>
                <p:ph idx="1"/>
              </p:nvPr>
            </p:nvSpPr>
            <p:spPr>
              <a:xfrm>
                <a:off x="838200" y="1825624"/>
                <a:ext cx="11119338" cy="5032375"/>
              </a:xfrm>
              <a:blipFill rotWithShape="0">
                <a:blip r:embed="rId3"/>
                <a:stretch>
                  <a:fillRect l="-1151" r="-1754"/>
                </a:stretch>
              </a:blipFill>
            </p:spPr>
            <p:txBody>
              <a:bodyPr/>
              <a:lstStyle/>
              <a:p>
                <a:r>
                  <a:rPr lang="pt-BR">
                    <a:noFill/>
                  </a:rPr>
                  <a:t> </a:t>
                </a:r>
              </a:p>
            </p:txBody>
          </p:sp>
        </mc:Fallback>
      </mc:AlternateContent>
    </p:spTree>
    <p:extLst>
      <p:ext uri="{BB962C8B-B14F-4D97-AF65-F5344CB8AC3E}">
        <p14:creationId xmlns:p14="http://schemas.microsoft.com/office/powerpoint/2010/main" val="291430289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1D0947A-594D-A8D5-95F3-38EB04C6BDB6}"/>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DBA288E-BBB8-E157-840C-AA685AD7D65C}"/>
                  </a:ext>
                </a:extLst>
              </p:cNvPr>
              <p:cNvSpPr>
                <a:spLocks noGrp="1"/>
              </p:cNvSpPr>
              <p:nvPr>
                <p:ph idx="1"/>
              </p:nvPr>
            </p:nvSpPr>
            <p:spPr>
              <a:xfrm>
                <a:off x="838200" y="1825624"/>
                <a:ext cx="11119338" cy="5032375"/>
              </a:xfrm>
            </p:spPr>
            <p:txBody>
              <a:bodyPr>
                <a:normAutofit/>
              </a:bodyPr>
              <a:lstStyle/>
              <a:p>
                <a:pPr marL="0" indent="0">
                  <a:buNone/>
                </a:pPr>
                <a14:m>
                  <m:oMathPara xmlns:m="http://schemas.openxmlformats.org/officeDocument/2006/math">
                    <m:oMathParaPr>
                      <m:jc m:val="centerGroup"/>
                    </m:oMathParaPr>
                    <m:oMath xmlns:m="http://schemas.openxmlformats.org/officeDocument/2006/math">
                      <m:f>
                        <m:fPr>
                          <m:ctrlPr>
                            <a:rPr lang="pt-BR" sz="2800" i="1" smtClean="0">
                              <a:latin typeface="Cambria Math" panose="02040503050406030204" pitchFamily="18" charset="0"/>
                            </a:rPr>
                          </m:ctrlPr>
                        </m:fPr>
                        <m:num>
                          <m:r>
                            <a:rPr lang="pt-BR" sz="2800" i="1">
                              <a:latin typeface="Cambria Math" panose="02040503050406030204" pitchFamily="18" charset="0"/>
                            </a:rPr>
                            <m:t>𝜕</m:t>
                          </m:r>
                          <m:sSub>
                            <m:sSubPr>
                              <m:ctrlPr>
                                <a:rPr lang="pt-BR" sz="2800" i="1">
                                  <a:latin typeface="Cambria Math" panose="02040503050406030204" pitchFamily="18" charset="0"/>
                                </a:rPr>
                              </m:ctrlPr>
                            </m:sSubPr>
                            <m:e>
                              <m:r>
                                <a:rPr lang="pt-BR" sz="2800" i="1">
                                  <a:latin typeface="Cambria Math" panose="02040503050406030204" pitchFamily="18" charset="0"/>
                                </a:rPr>
                                <m:t>𝐽</m:t>
                              </m:r>
                            </m:e>
                            <m:sub>
                              <m:r>
                                <a:rPr lang="pt-BR" sz="2800" i="1">
                                  <a:latin typeface="Cambria Math" panose="02040503050406030204" pitchFamily="18" charset="0"/>
                                </a:rPr>
                                <m:t>𝑒</m:t>
                              </m:r>
                            </m:sub>
                          </m:sSub>
                          <m:d>
                            <m:dPr>
                              <m:ctrlPr>
                                <a:rPr lang="pt-BR" sz="2800" i="1">
                                  <a:latin typeface="Cambria Math" panose="02040503050406030204" pitchFamily="18" charset="0"/>
                                </a:rPr>
                              </m:ctrlPr>
                            </m:dPr>
                            <m:e>
                              <m:r>
                                <a:rPr lang="pt-BR" sz="2800" b="1" i="1">
                                  <a:latin typeface="Cambria Math" panose="02040503050406030204" pitchFamily="18" charset="0"/>
                                </a:rPr>
                                <m:t>𝑨</m:t>
                              </m:r>
                            </m:e>
                          </m:d>
                        </m:num>
                        <m:den>
                          <m:r>
                            <a:rPr lang="pt-BR" sz="2800" i="1">
                              <a:latin typeface="Cambria Math" panose="02040503050406030204" pitchFamily="18" charset="0"/>
                            </a:rPr>
                            <m:t>𝜕</m:t>
                          </m:r>
                          <m:r>
                            <a:rPr lang="pt-BR" b="1" i="1">
                              <a:latin typeface="Cambria Math" panose="02040503050406030204" pitchFamily="18" charset="0"/>
                            </a:rPr>
                            <m:t>𝑨</m:t>
                          </m:r>
                        </m:den>
                      </m:f>
                      <m:r>
                        <a:rPr lang="pt-BR" sz="2800" i="1">
                          <a:latin typeface="Cambria Math" panose="02040503050406030204" pitchFamily="18" charset="0"/>
                        </a:rPr>
                        <m:t>=</m:t>
                      </m:r>
                      <m:sSup>
                        <m:sSupPr>
                          <m:ctrlPr>
                            <a:rPr lang="pt-BR" sz="2800" i="1">
                              <a:latin typeface="Cambria Math" panose="02040503050406030204" pitchFamily="18" charset="0"/>
                            </a:rPr>
                          </m:ctrlPr>
                        </m:sSupPr>
                        <m:e>
                          <m:r>
                            <a:rPr lang="pt-BR" sz="2800" i="1">
                              <a:latin typeface="Cambria Math" panose="02040503050406030204" pitchFamily="18" charset="0"/>
                            </a:rPr>
                            <m:t>−</m:t>
                          </m:r>
                          <m:f>
                            <m:fPr>
                              <m:ctrlPr>
                                <a:rPr lang="pt-BR" sz="2800" i="1">
                                  <a:latin typeface="Cambria Math" panose="02040503050406030204" pitchFamily="18" charset="0"/>
                                </a:rPr>
                              </m:ctrlPr>
                            </m:fPr>
                            <m:num>
                              <m:r>
                                <a:rPr lang="pt-BR" sz="2800" i="1">
                                  <a:latin typeface="Cambria Math" panose="02040503050406030204" pitchFamily="18" charset="0"/>
                                </a:rPr>
                                <m:t>1</m:t>
                              </m:r>
                            </m:num>
                            <m:den>
                              <m:r>
                                <a:rPr lang="pt-BR" sz="2800" i="1">
                                  <a:latin typeface="Cambria Math" panose="02040503050406030204" pitchFamily="18" charset="0"/>
                                </a:rPr>
                                <m:t>𝑁</m:t>
                              </m:r>
                            </m:den>
                          </m:f>
                          <m:r>
                            <a:rPr lang="pt-BR" sz="2800" b="1" i="1">
                              <a:latin typeface="Cambria Math" panose="02040503050406030204" pitchFamily="18" charset="0"/>
                            </a:rPr>
                            <m:t>𝑿</m:t>
                          </m:r>
                        </m:e>
                        <m:sup>
                          <m:r>
                            <a:rPr lang="pt-BR" sz="2800" i="1">
                              <a:latin typeface="Cambria Math" panose="02040503050406030204" pitchFamily="18" charset="0"/>
                            </a:rPr>
                            <m:t>𝑇</m:t>
                          </m:r>
                        </m:sup>
                      </m:sSup>
                      <m:d>
                        <m:dPr>
                          <m:ctrlPr>
                            <a:rPr lang="pt-BR" sz="2800" i="1" smtClean="0">
                              <a:latin typeface="Cambria Math" panose="02040503050406030204" pitchFamily="18" charset="0"/>
                            </a:rPr>
                          </m:ctrlPr>
                        </m:dPr>
                        <m:e>
                          <m:r>
                            <a:rPr lang="pt-BR" sz="2800" b="1" i="1" smtClean="0">
                              <a:latin typeface="Cambria Math" panose="02040503050406030204" pitchFamily="18" charset="0"/>
                            </a:rPr>
                            <m:t>𝒀</m:t>
                          </m:r>
                          <m:r>
                            <a:rPr lang="pt-BR" sz="2800" b="0" i="1" smtClean="0">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𝒀</m:t>
                              </m:r>
                            </m:e>
                          </m:acc>
                        </m:e>
                      </m:d>
                    </m:oMath>
                  </m:oMathPara>
                </a14:m>
                <a:endParaRPr lang="pt-BR" dirty="0"/>
              </a:p>
              <a:p>
                <a:r>
                  <a:rPr lang="pt-BR" dirty="0"/>
                  <a:t>Como aconteceu com a regressão logística, notem que o </a:t>
                </a:r>
                <a:r>
                  <a:rPr lang="pt-BR" b="1" i="1" dirty="0"/>
                  <a:t>vetor gradiente </a:t>
                </a:r>
                <a:r>
                  <a:rPr lang="pt-BR" dirty="0"/>
                  <a:t>da</a:t>
                </a:r>
                <a:r>
                  <a:rPr lang="pt-BR" b="1" i="1" dirty="0"/>
                  <a:t> função de erro </a:t>
                </a:r>
                <a:r>
                  <a:rPr lang="pt-BR" b="1" i="1" dirty="0">
                    <a:solidFill>
                      <a:srgbClr val="00B050"/>
                    </a:solidFill>
                  </a:rPr>
                  <a:t>depende do formato da função discriminante </a:t>
                </a:r>
                <a:r>
                  <a:rPr lang="pt-BR" dirty="0"/>
                  <a:t>adotada.</a:t>
                </a:r>
              </a:p>
              <a:p>
                <a:r>
                  <a:rPr lang="pt-BR" dirty="0"/>
                  <a:t>Entretanto, como vimos antes, essa </a:t>
                </a:r>
                <a:r>
                  <a:rPr lang="pt-BR" b="1" i="1" dirty="0">
                    <a:solidFill>
                      <a:srgbClr val="00B050"/>
                    </a:solidFill>
                  </a:rPr>
                  <a:t>dependência afeta apenas a matriz de atributos</a:t>
                </a:r>
                <a:r>
                  <a:rPr lang="pt-BR" dirty="0"/>
                  <a:t>, </a:t>
                </a:r>
                <a14:m>
                  <m:oMath xmlns:m="http://schemas.openxmlformats.org/officeDocument/2006/math">
                    <m:r>
                      <a:rPr lang="pt-BR" b="1" i="1">
                        <a:latin typeface="Cambria Math" panose="02040503050406030204" pitchFamily="18" charset="0"/>
                      </a:rPr>
                      <m:t>𝑿</m:t>
                    </m:r>
                  </m:oMath>
                </a14:m>
                <a:r>
                  <a:rPr lang="pt-BR" dirty="0"/>
                  <a:t>.</a:t>
                </a:r>
              </a:p>
              <a:p>
                <a:r>
                  <a:rPr lang="pt-BR" sz="2800" b="0" i="0" dirty="0">
                    <a:solidFill>
                      <a:srgbClr val="000000"/>
                    </a:solidFill>
                    <a:effectLst/>
                    <a:latin typeface="Calibri" panose="020F0502020204030204" pitchFamily="34" charset="0"/>
                  </a:rPr>
                  <a:t>Portanto, </a:t>
                </a:r>
                <a:r>
                  <a:rPr lang="pt-BR" sz="2800" b="1" i="1" dirty="0">
                    <a:solidFill>
                      <a:srgbClr val="00B050"/>
                    </a:solidFill>
                    <a:effectLst/>
                    <a:latin typeface="Calibri" panose="020F0502020204030204" pitchFamily="34" charset="0"/>
                  </a:rPr>
                  <a:t>para formatos </a:t>
                </a:r>
                <a:r>
                  <a:rPr lang="pt-BR" dirty="0"/>
                  <a:t>de função discriminante diferentes de um hiperplano, </a:t>
                </a:r>
                <a:r>
                  <a:rPr lang="pt-BR" sz="2800" b="0" i="0" dirty="0">
                    <a:solidFill>
                      <a:srgbClr val="000000"/>
                    </a:solidFill>
                    <a:effectLst/>
                    <a:latin typeface="Calibri" panose="020F0502020204030204" pitchFamily="34" charset="0"/>
                  </a:rPr>
                  <a:t>basta </a:t>
                </a:r>
                <a:r>
                  <a:rPr lang="pt-BR" sz="2800" b="1" i="1" dirty="0">
                    <a:solidFill>
                      <a:srgbClr val="00B050"/>
                    </a:solidFill>
                    <a:effectLst/>
                    <a:latin typeface="Calibri" panose="020F0502020204030204" pitchFamily="34" charset="0"/>
                  </a:rPr>
                  <a:t>criar a matriz de atributos</a:t>
                </a:r>
                <a:r>
                  <a:rPr lang="pt-BR" b="0" i="0" dirty="0">
                    <a:solidFill>
                      <a:srgbClr val="000000"/>
                    </a:solidFill>
                    <a:effectLst/>
                    <a:latin typeface="Calibri" panose="020F0502020204030204" pitchFamily="34" charset="0"/>
                  </a:rPr>
                  <a:t>, </a:t>
                </a:r>
                <a14:m>
                  <m:oMath xmlns:m="http://schemas.openxmlformats.org/officeDocument/2006/math">
                    <m:r>
                      <a:rPr lang="pt-BR" b="1" i="1" smtClean="0">
                        <a:latin typeface="Cambria Math" panose="02040503050406030204" pitchFamily="18" charset="0"/>
                      </a:rPr>
                      <m:t>𝑿</m:t>
                    </m:r>
                  </m:oMath>
                </a14:m>
                <a:r>
                  <a:rPr lang="pt-BR" i="0" dirty="0">
                    <a:latin typeface="Calibri" panose="020F0502020204030204" pitchFamily="34" charset="0"/>
                  </a:rPr>
                  <a:t>, </a:t>
                </a:r>
                <a:r>
                  <a:rPr lang="pt-BR" b="1" i="1" dirty="0">
                    <a:solidFill>
                      <a:srgbClr val="00B050"/>
                    </a:solidFill>
                    <a:latin typeface="Calibri" panose="020F0502020204030204" pitchFamily="34" charset="0"/>
                  </a:rPr>
                  <a:t>seguindo o formato da função</a:t>
                </a:r>
                <a:r>
                  <a:rPr lang="pt-BR" i="0" dirty="0">
                    <a:latin typeface="Calibri" panose="020F0502020204030204" pitchFamily="34" charset="0"/>
                  </a:rPr>
                  <a:t>.</a:t>
                </a:r>
                <a:endParaRPr lang="pt-BR" dirty="0"/>
              </a:p>
              <a:p>
                <a:endParaRPr lang="pt-BR" dirty="0"/>
              </a:p>
              <a:p>
                <a:endParaRPr lang="pt-BR" dirty="0"/>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DDBA288E-BBB8-E157-840C-AA685AD7D65C}"/>
                  </a:ext>
                </a:extLst>
              </p:cNvPr>
              <p:cNvSpPr>
                <a:spLocks noGrp="1" noRot="1" noChangeAspect="1" noMove="1" noResize="1" noEditPoints="1" noAdjustHandles="1" noChangeArrowheads="1" noChangeShapeType="1" noTextEdit="1"/>
              </p:cNvSpPr>
              <p:nvPr>
                <p:ph idx="1"/>
              </p:nvPr>
            </p:nvSpPr>
            <p:spPr>
              <a:xfrm>
                <a:off x="838200" y="1825624"/>
                <a:ext cx="11119338" cy="5032375"/>
              </a:xfrm>
              <a:blipFill rotWithShape="0">
                <a:blip r:embed="rId3"/>
                <a:stretch>
                  <a:fillRect l="-987" r="-548"/>
                </a:stretch>
              </a:blipFill>
            </p:spPr>
            <p:txBody>
              <a:bodyPr/>
              <a:lstStyle/>
              <a:p>
                <a:r>
                  <a:rPr lang="pt-BR">
                    <a:noFill/>
                  </a:rPr>
                  <a:t> </a:t>
                </a:r>
              </a:p>
            </p:txBody>
          </p:sp>
        </mc:Fallback>
      </mc:AlternateContent>
    </p:spTree>
    <p:extLst>
      <p:ext uri="{BB962C8B-B14F-4D97-AF65-F5344CB8AC3E}">
        <p14:creationId xmlns:p14="http://schemas.microsoft.com/office/powerpoint/2010/main" val="275179797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7289C7-E211-F0FB-5D03-01DCF930ACAE}"/>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89224D24-6597-F88C-6310-B2A8EEA5142E}"/>
                  </a:ext>
                </a:extLst>
              </p:cNvPr>
              <p:cNvSpPr>
                <a:spLocks noGrp="1"/>
              </p:cNvSpPr>
              <p:nvPr>
                <p:ph idx="1"/>
              </p:nvPr>
            </p:nvSpPr>
            <p:spPr>
              <a:xfrm>
                <a:off x="838200" y="1825624"/>
                <a:ext cx="11109290" cy="5032375"/>
              </a:xfrm>
            </p:spPr>
            <p:txBody>
              <a:bodyPr/>
              <a:lstStyle/>
              <a:p>
                <a:r>
                  <a:rPr lang="pt-BR" dirty="0"/>
                  <a:t>O regressor softmax apresenta duas propriedades:</a:t>
                </a:r>
              </a:p>
              <a:p>
                <a:pPr lvl="1">
                  <a:buFont typeface="Wingdings" panose="05000000000000000000" pitchFamily="2" charset="2"/>
                  <a:buChar char="§"/>
                </a:pPr>
                <a14:m>
                  <m:oMath xmlns:m="http://schemas.openxmlformats.org/officeDocument/2006/math">
                    <m:r>
                      <a:rPr lang="pt-BR" sz="2200">
                        <a:latin typeface="Cambria Math" panose="02040503050406030204" pitchFamily="18" charset="0"/>
                        <a:ea typeface="Cambria Math" panose="02040503050406030204" pitchFamily="18" charset="0"/>
                      </a:rPr>
                      <m:t>0</m:t>
                    </m:r>
                    <m:r>
                      <a:rPr lang="pt-BR" sz="2200" b="1" i="1">
                        <a:latin typeface="Cambria Math" panose="02040503050406030204" pitchFamily="18" charset="0"/>
                        <a:ea typeface="Cambria Math" panose="02040503050406030204" pitchFamily="18" charset="0"/>
                      </a:rPr>
                      <m:t>≤</m:t>
                    </m:r>
                    <m:sSubSup>
                      <m:sSubSupPr>
                        <m:ctrlPr>
                          <a:rPr lang="pt-BR" sz="2200" b="1" i="1">
                            <a:latin typeface="Cambria Math" panose="02040503050406030204" pitchFamily="18" charset="0"/>
                          </a:rPr>
                        </m:ctrlPr>
                      </m:sSubSupPr>
                      <m:e>
                        <m:r>
                          <a:rPr lang="pt-BR" sz="2200" i="1">
                            <a:latin typeface="Cambria Math" panose="02040503050406030204" pitchFamily="18" charset="0"/>
                          </a:rPr>
                          <m:t>h</m:t>
                        </m:r>
                      </m:e>
                      <m:sub>
                        <m:r>
                          <a:rPr lang="pt-BR" sz="2200" b="1" i="1">
                            <a:latin typeface="Cambria Math" panose="02040503050406030204" pitchFamily="18" charset="0"/>
                          </a:rPr>
                          <m:t>𝒂</m:t>
                        </m:r>
                      </m:sub>
                      <m:sup>
                        <m:r>
                          <a:rPr lang="pt-BR" sz="2200" i="1">
                            <a:latin typeface="Cambria Math" panose="02040503050406030204" pitchFamily="18" charset="0"/>
                          </a:rPr>
                          <m:t>𝑞</m:t>
                        </m:r>
                      </m:sup>
                    </m:sSubSup>
                    <m:d>
                      <m:dPr>
                        <m:ctrlPr>
                          <a:rPr lang="pt-BR" sz="2200" i="1">
                            <a:latin typeface="Cambria Math" panose="02040503050406030204" pitchFamily="18" charset="0"/>
                          </a:rPr>
                        </m:ctrlPr>
                      </m:dPr>
                      <m:e>
                        <m:r>
                          <a:rPr lang="pt-BR" sz="2200" b="1" i="1">
                            <a:latin typeface="Cambria Math" panose="02040503050406030204" pitchFamily="18" charset="0"/>
                          </a:rPr>
                          <m:t>𝒙</m:t>
                        </m:r>
                        <m:d>
                          <m:dPr>
                            <m:ctrlPr>
                              <a:rPr lang="pt-BR" sz="2200" b="1" i="1">
                                <a:latin typeface="Cambria Math" panose="02040503050406030204" pitchFamily="18" charset="0"/>
                              </a:rPr>
                            </m:ctrlPr>
                          </m:dPr>
                          <m:e>
                            <m:r>
                              <a:rPr lang="pt-BR" sz="2200" i="1">
                                <a:latin typeface="Cambria Math" panose="02040503050406030204" pitchFamily="18" charset="0"/>
                              </a:rPr>
                              <m:t>𝑖</m:t>
                            </m:r>
                          </m:e>
                        </m:d>
                      </m:e>
                    </m:d>
                    <m:r>
                      <a:rPr lang="pt-BR" sz="2200" b="1" i="1">
                        <a:latin typeface="Cambria Math" panose="02040503050406030204" pitchFamily="18" charset="0"/>
                        <a:ea typeface="Cambria Math" panose="02040503050406030204" pitchFamily="18" charset="0"/>
                      </a:rPr>
                      <m:t>≤</m:t>
                    </m:r>
                    <m:r>
                      <a:rPr lang="pt-BR" sz="2200" i="1">
                        <a:latin typeface="Cambria Math" panose="02040503050406030204" pitchFamily="18" charset="0"/>
                        <a:ea typeface="Cambria Math" panose="02040503050406030204" pitchFamily="18" charset="0"/>
                      </a:rPr>
                      <m:t>1</m:t>
                    </m:r>
                  </m:oMath>
                </a14:m>
                <a:r>
                  <a:rPr lang="pt-BR" dirty="0"/>
                  <a:t>, ou seja, a saída da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função hipótese sempre será um valor dentro do intervalo [0, 1],</a:t>
                </a:r>
              </a:p>
              <a:p>
                <a:pPr lvl="1">
                  <a:buFont typeface="Wingdings" panose="05000000000000000000" pitchFamily="2" charset="2"/>
                  <a:buChar char="§"/>
                </a:pPr>
                <a14:m>
                  <m:oMath xmlns:m="http://schemas.openxmlformats.org/officeDocument/2006/math">
                    <m:nary>
                      <m:naryPr>
                        <m:chr m:val="∑"/>
                        <m:ctrlPr>
                          <a:rPr lang="pt-BR" sz="2200" i="1">
                            <a:latin typeface="Cambria Math" panose="02040503050406030204" pitchFamily="18" charset="0"/>
                          </a:rPr>
                        </m:ctrlPr>
                      </m:naryPr>
                      <m:sub>
                        <m:r>
                          <m:rPr>
                            <m:brk m:alnAt="23"/>
                          </m:rPr>
                          <a:rPr lang="pt-BR" sz="2200" i="1">
                            <a:latin typeface="Cambria Math" panose="02040503050406030204" pitchFamily="18" charset="0"/>
                          </a:rPr>
                          <m:t>𝑞</m:t>
                        </m:r>
                        <m:r>
                          <a:rPr lang="pt-BR" sz="2200" i="1">
                            <a:latin typeface="Cambria Math" panose="02040503050406030204" pitchFamily="18" charset="0"/>
                          </a:rPr>
                          <m:t>=</m:t>
                        </m:r>
                        <m:r>
                          <a:rPr lang="pt-BR" sz="2200" b="0" i="1" smtClean="0">
                            <a:latin typeface="Cambria Math" panose="02040503050406030204" pitchFamily="18" charset="0"/>
                          </a:rPr>
                          <m:t>0</m:t>
                        </m:r>
                      </m:sub>
                      <m:sup>
                        <m:r>
                          <a:rPr lang="pt-BR" sz="2200" i="1">
                            <a:latin typeface="Cambria Math" panose="02040503050406030204" pitchFamily="18" charset="0"/>
                          </a:rPr>
                          <m:t>𝑄</m:t>
                        </m:r>
                        <m:r>
                          <a:rPr lang="pt-BR" sz="2200" b="0" i="1" smtClean="0">
                            <a:latin typeface="Cambria Math" panose="02040503050406030204" pitchFamily="18" charset="0"/>
                          </a:rPr>
                          <m:t>−1</m:t>
                        </m:r>
                      </m:sup>
                      <m:e>
                        <m:sSubSup>
                          <m:sSubSupPr>
                            <m:ctrlPr>
                              <a:rPr lang="pt-BR" sz="2200" b="1" i="1">
                                <a:latin typeface="Cambria Math" panose="02040503050406030204" pitchFamily="18" charset="0"/>
                              </a:rPr>
                            </m:ctrlPr>
                          </m:sSubSupPr>
                          <m:e>
                            <m:r>
                              <a:rPr lang="pt-BR" sz="2200" i="1">
                                <a:latin typeface="Cambria Math" panose="02040503050406030204" pitchFamily="18" charset="0"/>
                              </a:rPr>
                              <m:t>h</m:t>
                            </m:r>
                          </m:e>
                          <m:sub>
                            <m:r>
                              <a:rPr lang="pt-BR" sz="2200" b="1" i="1">
                                <a:latin typeface="Cambria Math" panose="02040503050406030204" pitchFamily="18" charset="0"/>
                              </a:rPr>
                              <m:t>𝒂</m:t>
                            </m:r>
                          </m:sub>
                          <m:sup>
                            <m:r>
                              <a:rPr lang="pt-BR" sz="2200" i="1">
                                <a:latin typeface="Cambria Math" panose="02040503050406030204" pitchFamily="18" charset="0"/>
                              </a:rPr>
                              <m:t>𝑞</m:t>
                            </m:r>
                          </m:sup>
                        </m:sSubSup>
                        <m:d>
                          <m:dPr>
                            <m:ctrlPr>
                              <a:rPr lang="pt-BR" sz="2200" i="1">
                                <a:latin typeface="Cambria Math" panose="02040503050406030204" pitchFamily="18" charset="0"/>
                              </a:rPr>
                            </m:ctrlPr>
                          </m:dPr>
                          <m:e>
                            <m:r>
                              <a:rPr lang="pt-BR" sz="2200" b="1" i="1">
                                <a:latin typeface="Cambria Math" panose="02040503050406030204" pitchFamily="18" charset="0"/>
                              </a:rPr>
                              <m:t>𝒙</m:t>
                            </m:r>
                            <m:d>
                              <m:dPr>
                                <m:ctrlPr>
                                  <a:rPr lang="pt-BR" sz="2200" b="1" i="1">
                                    <a:latin typeface="Cambria Math" panose="02040503050406030204" pitchFamily="18" charset="0"/>
                                  </a:rPr>
                                </m:ctrlPr>
                              </m:dPr>
                              <m:e>
                                <m:r>
                                  <a:rPr lang="pt-BR" sz="2200" i="1">
                                    <a:latin typeface="Cambria Math" panose="02040503050406030204" pitchFamily="18" charset="0"/>
                                  </a:rPr>
                                  <m:t>𝑖</m:t>
                                </m:r>
                              </m:e>
                            </m:d>
                          </m:e>
                        </m:d>
                        <m:r>
                          <a:rPr lang="pt-BR" sz="2200" b="1" i="1">
                            <a:latin typeface="Cambria Math" panose="02040503050406030204" pitchFamily="18" charset="0"/>
                          </a:rPr>
                          <m:t>=</m:t>
                        </m:r>
                        <m:nary>
                          <m:naryPr>
                            <m:chr m:val="∑"/>
                            <m:ctrlPr>
                              <a:rPr lang="pt-BR" sz="2200" i="1">
                                <a:latin typeface="Cambria Math" panose="02040503050406030204" pitchFamily="18" charset="0"/>
                              </a:rPr>
                            </m:ctrlPr>
                          </m:naryPr>
                          <m:sub>
                            <m:r>
                              <m:rPr>
                                <m:brk m:alnAt="23"/>
                              </m:rPr>
                              <a:rPr lang="pt-BR" sz="2200" i="1">
                                <a:latin typeface="Cambria Math" panose="02040503050406030204" pitchFamily="18" charset="0"/>
                              </a:rPr>
                              <m:t>𝑞</m:t>
                            </m:r>
                            <m:r>
                              <a:rPr lang="pt-BR" sz="2200" i="1">
                                <a:latin typeface="Cambria Math" panose="02040503050406030204" pitchFamily="18" charset="0"/>
                              </a:rPr>
                              <m:t>=</m:t>
                            </m:r>
                            <m:r>
                              <a:rPr lang="pt-BR" sz="2200" b="0" i="1" smtClean="0">
                                <a:latin typeface="Cambria Math" panose="02040503050406030204" pitchFamily="18" charset="0"/>
                              </a:rPr>
                              <m:t>0</m:t>
                            </m:r>
                          </m:sub>
                          <m:sup>
                            <m:r>
                              <a:rPr lang="pt-BR" sz="2200" i="1">
                                <a:latin typeface="Cambria Math" panose="02040503050406030204" pitchFamily="18" charset="0"/>
                              </a:rPr>
                              <m:t>𝑄</m:t>
                            </m:r>
                            <m:r>
                              <a:rPr lang="pt-BR" sz="2200" b="0" i="1" smtClean="0">
                                <a:latin typeface="Cambria Math" panose="02040503050406030204" pitchFamily="18" charset="0"/>
                              </a:rPr>
                              <m:t>−1</m:t>
                            </m:r>
                          </m:sup>
                          <m:e>
                            <m:r>
                              <a:rPr lang="pt-BR" sz="2200" i="1">
                                <a:latin typeface="Cambria Math" panose="02040503050406030204" pitchFamily="18" charset="0"/>
                              </a:rPr>
                              <m:t>𝑃</m:t>
                            </m:r>
                            <m:d>
                              <m:dPr>
                                <m:endChr m:val="|"/>
                                <m:ctrlPr>
                                  <a:rPr lang="pt-BR" sz="2200" i="1">
                                    <a:latin typeface="Cambria Math" panose="02040503050406030204" pitchFamily="18" charset="0"/>
                                  </a:rPr>
                                </m:ctrlPr>
                              </m:dPr>
                              <m:e>
                                <m:sSub>
                                  <m:sSubPr>
                                    <m:ctrlPr>
                                      <a:rPr lang="pt-BR" sz="2200" i="1">
                                        <a:latin typeface="Cambria Math" panose="02040503050406030204" pitchFamily="18" charset="0"/>
                                      </a:rPr>
                                    </m:ctrlPr>
                                  </m:sSubPr>
                                  <m:e>
                                    <m:r>
                                      <a:rPr lang="pt-BR" sz="2200" i="1">
                                        <a:latin typeface="Cambria Math" panose="02040503050406030204" pitchFamily="18" charset="0"/>
                                      </a:rPr>
                                      <m:t>𝐶</m:t>
                                    </m:r>
                                  </m:e>
                                  <m:sub>
                                    <m:r>
                                      <a:rPr lang="pt-BR" sz="2200" i="1">
                                        <a:latin typeface="Cambria Math" panose="02040503050406030204" pitchFamily="18" charset="0"/>
                                      </a:rPr>
                                      <m:t>𝑞</m:t>
                                    </m:r>
                                  </m:sub>
                                </m:sSub>
                                <m:r>
                                  <a:rPr lang="pt-BR" sz="2200" i="1">
                                    <a:latin typeface="Cambria Math" panose="02040503050406030204" pitchFamily="18" charset="0"/>
                                  </a:rPr>
                                  <m:t> </m:t>
                                </m:r>
                              </m:e>
                            </m:d>
                            <m:r>
                              <a:rPr lang="pt-BR" sz="2200" b="1" i="1">
                                <a:latin typeface="Cambria Math" panose="02040503050406030204" pitchFamily="18" charset="0"/>
                              </a:rPr>
                              <m:t>𝒙</m:t>
                            </m:r>
                            <m:d>
                              <m:dPr>
                                <m:ctrlPr>
                                  <a:rPr lang="pt-BR" sz="2200" b="1" i="1">
                                    <a:latin typeface="Cambria Math" panose="02040503050406030204" pitchFamily="18" charset="0"/>
                                  </a:rPr>
                                </m:ctrlPr>
                              </m:dPr>
                              <m:e>
                                <m:r>
                                  <a:rPr lang="pt-BR" sz="2200" i="1">
                                    <a:latin typeface="Cambria Math" panose="02040503050406030204" pitchFamily="18" charset="0"/>
                                  </a:rPr>
                                  <m:t>𝑖</m:t>
                                </m:r>
                              </m:e>
                            </m:d>
                            <m:r>
                              <a:rPr lang="pt-BR" sz="2200" b="0" i="1" smtClean="0">
                                <a:latin typeface="Cambria Math" panose="02040503050406030204" pitchFamily="18" charset="0"/>
                              </a:rPr>
                              <m:t>;</m:t>
                            </m:r>
                            <m:sSub>
                              <m:sSubPr>
                                <m:ctrlPr>
                                  <a:rPr lang="pt-BR" sz="2200" i="1">
                                    <a:latin typeface="Cambria Math" panose="02040503050406030204" pitchFamily="18" charset="0"/>
                                  </a:rPr>
                                </m:ctrlPr>
                              </m:sSubPr>
                              <m:e>
                                <m:r>
                                  <a:rPr lang="pt-BR" sz="2200" b="1" i="1">
                                    <a:latin typeface="Cambria Math" panose="02040503050406030204" pitchFamily="18" charset="0"/>
                                  </a:rPr>
                                  <m:t>𝒂</m:t>
                                </m:r>
                              </m:e>
                              <m:sub>
                                <m:r>
                                  <a:rPr lang="pt-BR" sz="2200" i="1">
                                    <a:latin typeface="Cambria Math" panose="02040503050406030204" pitchFamily="18" charset="0"/>
                                  </a:rPr>
                                  <m:t>𝑞</m:t>
                                </m:r>
                              </m:sub>
                            </m:sSub>
                            <m:r>
                              <a:rPr lang="pt-BR" sz="2200" i="1">
                                <a:latin typeface="Cambria Math" panose="02040503050406030204" pitchFamily="18" charset="0"/>
                              </a:rPr>
                              <m:t>)</m:t>
                            </m:r>
                          </m:e>
                        </m:nary>
                        <m:r>
                          <a:rPr lang="pt-BR" sz="2200" i="1">
                            <a:latin typeface="Cambria Math" panose="02040503050406030204" pitchFamily="18" charset="0"/>
                          </a:rPr>
                          <m:t>=1</m:t>
                        </m:r>
                      </m:e>
                    </m:nary>
                  </m:oMath>
                </a14:m>
                <a:r>
                  <a:rPr lang="pt-BR" dirty="0"/>
                  <a:t>, ou seja, o somatório das </a:t>
                </a:r>
                <a:r>
                  <a:rPr lang="pt-BR" b="1" i="1" dirty="0"/>
                  <a:t>probabilidades condicionais</a:t>
                </a:r>
                <a:r>
                  <a:rPr lang="pt-BR" dirty="0"/>
                  <a:t> de todas as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 </m:t>
                    </m:r>
                  </m:oMath>
                </a14:m>
                <a:r>
                  <a:rPr lang="pt-BR" dirty="0"/>
                  <a:t>classes é igual a 1.</a:t>
                </a:r>
              </a:p>
              <a:p>
                <a:r>
                  <a:rPr lang="pt-BR" dirty="0"/>
                  <a:t>Estas duas propriedades fazem com que o vetor</a:t>
                </a:r>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𝒉</m:t>
                          </m:r>
                        </m:e>
                        <m:sub>
                          <m:r>
                            <a:rPr lang="pt-BR" b="1" i="1">
                              <a:latin typeface="Cambria Math" panose="02040503050406030204" pitchFamily="18" charset="0"/>
                            </a:rPr>
                            <m:t>𝒂</m:t>
                          </m:r>
                        </m:sub>
                      </m:sSub>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e>
                      </m:d>
                      <m:r>
                        <a:rPr lang="pt-BR" b="1" i="1">
                          <a:latin typeface="Cambria Math" panose="02040503050406030204" pitchFamily="18" charset="0"/>
                        </a:rPr>
                        <m:t>=</m:t>
                      </m:r>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b="0" i="1" smtClean="0">
                                            <a:latin typeface="Cambria Math" panose="02040503050406030204" pitchFamily="18" charset="0"/>
                                          </a:rPr>
                                          <m:t>0</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e>
                                    </m:d>
                                  </m:e>
                                  <m:e>
                                    <m:r>
                                      <a:rPr lang="pt-BR" b="1" i="1">
                                        <a:latin typeface="Cambria Math" panose="02040503050406030204" pitchFamily="18" charset="0"/>
                                      </a:rPr>
                                      <m:t>⋯</m:t>
                                    </m:r>
                                  </m:e>
                                  <m:e>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𝑄</m:t>
                                        </m:r>
                                        <m:r>
                                          <a:rPr lang="pt-BR" b="0" i="1" smtClean="0">
                                            <a:latin typeface="Cambria Math" panose="02040503050406030204" pitchFamily="18" charset="0"/>
                                          </a:rPr>
                                          <m:t>−1</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e>
                                    </m:d>
                                  </m:e>
                                </m:mr>
                              </m:m>
                            </m:e>
                          </m:d>
                        </m:e>
                        <m:sup>
                          <m:r>
                            <a:rPr lang="pt-BR" i="1">
                              <a:latin typeface="Cambria Math" panose="02040503050406030204" pitchFamily="18" charset="0"/>
                            </a:rPr>
                            <m:t>𝑇</m:t>
                          </m:r>
                        </m:sup>
                      </m:sSup>
                      <m:r>
                        <a:rPr lang="pt-BR" b="1" i="1">
                          <a:latin typeface="Cambria Math" panose="02040503050406030204" pitchFamily="18" charset="0"/>
                          <a:ea typeface="Cambria Math" panose="02040503050406030204" pitchFamily="18" charset="0"/>
                        </a:rPr>
                        <m:t>∈ </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𝑄</m:t>
                          </m:r>
                          <m:r>
                            <a:rPr lang="pt-BR" i="1">
                              <a:latin typeface="Cambria Math" panose="02040503050406030204" pitchFamily="18" charset="0"/>
                              <a:ea typeface="Cambria Math" panose="02040503050406030204" pitchFamily="18" charset="0"/>
                            </a:rPr>
                            <m:t>×1</m:t>
                          </m:r>
                        </m:sup>
                      </m:sSup>
                      <m:r>
                        <a:rPr lang="pt-BR" b="1" i="1">
                          <a:latin typeface="Cambria Math" panose="02040503050406030204" pitchFamily="18" charset="0"/>
                          <a:ea typeface="Cambria Math" panose="02040503050406030204" pitchFamily="18" charset="0"/>
                        </a:rPr>
                        <m:t>,</m:t>
                      </m:r>
                    </m:oMath>
                  </m:oMathPara>
                </a14:m>
                <a:endParaRPr lang="pt-BR" dirty="0"/>
              </a:p>
              <a:p>
                <a:pPr marL="0" indent="0">
                  <a:buNone/>
                </a:pPr>
                <a:r>
                  <a:rPr lang="pt-BR" dirty="0"/>
                  <a:t>que contém todas as saídas do regressor softmax, atenda os requisitos de uma </a:t>
                </a:r>
                <a:r>
                  <a:rPr lang="pt-BR" b="1" i="1" dirty="0"/>
                  <a:t>função massa de probabilidade multinomial.</a:t>
                </a:r>
                <a:endParaRPr lang="pt-BR" dirty="0"/>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89224D24-6597-F88C-6310-B2A8EEA5142E}"/>
                  </a:ext>
                </a:extLst>
              </p:cNvPr>
              <p:cNvSpPr>
                <a:spLocks noGrp="1" noRot="1" noChangeAspect="1" noMove="1" noResize="1" noEditPoints="1" noAdjustHandles="1" noChangeArrowheads="1" noChangeShapeType="1" noTextEdit="1"/>
              </p:cNvSpPr>
              <p:nvPr>
                <p:ph idx="1"/>
              </p:nvPr>
            </p:nvSpPr>
            <p:spPr>
              <a:xfrm>
                <a:off x="838200" y="1825624"/>
                <a:ext cx="11109290" cy="5032375"/>
              </a:xfrm>
              <a:blipFill rotWithShape="0">
                <a:blip r:embed="rId3"/>
                <a:stretch>
                  <a:fillRect l="-1153" t="-1937" r="-494"/>
                </a:stretch>
              </a:blipFill>
            </p:spPr>
            <p:txBody>
              <a:bodyPr/>
              <a:lstStyle/>
              <a:p>
                <a:r>
                  <a:rPr lang="pt-BR">
                    <a:noFill/>
                  </a:rPr>
                  <a:t> </a:t>
                </a:r>
              </a:p>
            </p:txBody>
          </p:sp>
        </mc:Fallback>
      </mc:AlternateContent>
    </p:spTree>
    <p:extLst>
      <p:ext uri="{BB962C8B-B14F-4D97-AF65-F5344CB8AC3E}">
        <p14:creationId xmlns:p14="http://schemas.microsoft.com/office/powerpoint/2010/main" val="101834069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F1FD81-6095-2AF0-8691-34E55B8A93B5}"/>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B734B24-DA50-860B-5D55-C33F6F451B6F}"/>
                  </a:ext>
                </a:extLst>
              </p:cNvPr>
              <p:cNvSpPr>
                <a:spLocks noGrp="1"/>
              </p:cNvSpPr>
              <p:nvPr>
                <p:ph idx="1"/>
              </p:nvPr>
            </p:nvSpPr>
            <p:spPr>
              <a:xfrm>
                <a:off x="838200" y="1825624"/>
                <a:ext cx="11188700" cy="5032375"/>
              </a:xfrm>
            </p:spPr>
            <p:txBody>
              <a:bodyPr>
                <a:normAutofit/>
              </a:bodyPr>
              <a:lstStyle/>
              <a:p>
                <a:r>
                  <a:rPr lang="pt-BR" dirty="0">
                    <a:solidFill>
                      <a:schemeClr val="tx1"/>
                    </a:solidFill>
                  </a:rPr>
                  <a:t>Após o treinamento, durante a </a:t>
                </a:r>
                <a:r>
                  <a:rPr lang="pt-BR" b="1" i="1" dirty="0">
                    <a:solidFill>
                      <a:srgbClr val="00B050"/>
                    </a:solidFill>
                  </a:rPr>
                  <a:t>fase de predição</a:t>
                </a:r>
                <a:r>
                  <a:rPr lang="pt-BR" dirty="0">
                    <a:solidFill>
                      <a:schemeClr val="tx1"/>
                    </a:solidFill>
                  </a:rPr>
                  <a:t>, o classificador atribui ao exemplo de entrada, </a:t>
                </a:r>
                <a14:m>
                  <m:oMath xmlns:m="http://schemas.openxmlformats.org/officeDocument/2006/math">
                    <m:r>
                      <a:rPr lang="pt-BR" b="1" i="1">
                        <a:solidFill>
                          <a:schemeClr val="tx1"/>
                        </a:solidFill>
                        <a:latin typeface="Cambria Math" panose="02040503050406030204" pitchFamily="18" charset="0"/>
                      </a:rPr>
                      <m:t>𝒙</m:t>
                    </m:r>
                    <m:d>
                      <m:dPr>
                        <m:ctrlPr>
                          <a:rPr lang="pt-BR" b="1" i="1">
                            <a:solidFill>
                              <a:schemeClr val="tx1"/>
                            </a:solidFill>
                            <a:latin typeface="Cambria Math" panose="02040503050406030204" pitchFamily="18" charset="0"/>
                          </a:rPr>
                        </m:ctrlPr>
                      </m:dPr>
                      <m:e>
                        <m:r>
                          <a:rPr lang="pt-BR" i="1">
                            <a:solidFill>
                              <a:schemeClr val="tx1"/>
                            </a:solidFill>
                            <a:latin typeface="Cambria Math" panose="02040503050406030204" pitchFamily="18" charset="0"/>
                          </a:rPr>
                          <m:t>𝑖</m:t>
                        </m:r>
                      </m:e>
                    </m:d>
                  </m:oMath>
                </a14:m>
                <a:r>
                  <a:rPr lang="pt-BR" dirty="0">
                    <a:solidFill>
                      <a:schemeClr val="tx1"/>
                    </a:solidFill>
                  </a:rPr>
                  <a:t>, a classe, </a:t>
                </a:r>
                <a14:m>
                  <m:oMath xmlns:m="http://schemas.openxmlformats.org/officeDocument/2006/math">
                    <m:r>
                      <a:rPr lang="pt-BR" i="1">
                        <a:solidFill>
                          <a:schemeClr val="tx1"/>
                        </a:solidFill>
                        <a:latin typeface="Cambria Math" panose="02040503050406030204" pitchFamily="18" charset="0"/>
                      </a:rPr>
                      <m:t>𝑞</m:t>
                    </m:r>
                  </m:oMath>
                </a14:m>
                <a:r>
                  <a:rPr lang="pt-BR" dirty="0">
                    <a:solidFill>
                      <a:schemeClr val="tx1"/>
                    </a:solidFill>
                  </a:rPr>
                  <a:t>, com a </a:t>
                </a:r>
                <a:r>
                  <a:rPr lang="pt-BR" b="1" i="1" dirty="0">
                    <a:solidFill>
                      <a:schemeClr val="tx1"/>
                    </a:solidFill>
                  </a:rPr>
                  <a:t>maior probabilidade estimada</a:t>
                </a:r>
                <a:r>
                  <a:rPr lang="pt-BR" dirty="0">
                    <a:solidFill>
                      <a:schemeClr val="tx1"/>
                    </a:solidFill>
                  </a:rPr>
                  <a:t>, ou seja, atribui a classe, </a:t>
                </a:r>
                <a14:m>
                  <m:oMath xmlns:m="http://schemas.openxmlformats.org/officeDocument/2006/math">
                    <m:r>
                      <a:rPr lang="pt-BR" i="1">
                        <a:solidFill>
                          <a:schemeClr val="tx1"/>
                        </a:solidFill>
                        <a:latin typeface="Cambria Math" panose="02040503050406030204" pitchFamily="18" charset="0"/>
                      </a:rPr>
                      <m:t>𝑞</m:t>
                    </m:r>
                  </m:oMath>
                </a14:m>
                <a:r>
                  <a:rPr lang="pt-BR" dirty="0">
                    <a:solidFill>
                      <a:schemeClr val="tx1"/>
                    </a:solidFill>
                  </a:rPr>
                  <a:t>, da função hipótese com maior valor:</a:t>
                </a:r>
                <a:endParaRPr lang="pt-BR" sz="1600" dirty="0">
                  <a:solidFill>
                    <a:schemeClr val="tx1"/>
                  </a:solidFill>
                </a:endParaRPr>
              </a:p>
              <a:p>
                <a:pPr marL="0" indent="0">
                  <a:buNone/>
                </a:pPr>
                <a14:m>
                  <m:oMathPara xmlns:m="http://schemas.openxmlformats.org/officeDocument/2006/math">
                    <m:oMathParaPr>
                      <m:jc m:val="centerGroup"/>
                    </m:oMathParaPr>
                    <m:oMath xmlns:m="http://schemas.openxmlformats.org/officeDocument/2006/math">
                      <m:sSub>
                        <m:sSubPr>
                          <m:ctrlPr>
                            <a:rPr lang="pt-BR" i="1" smtClean="0">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𝐶</m:t>
                          </m:r>
                        </m:e>
                        <m:sub>
                          <m:r>
                            <a:rPr lang="pt-BR" i="1">
                              <a:solidFill>
                                <a:schemeClr val="tx1"/>
                              </a:solidFill>
                              <a:latin typeface="Cambria Math" panose="02040503050406030204" pitchFamily="18" charset="0"/>
                            </a:rPr>
                            <m:t>𝑞</m:t>
                          </m:r>
                        </m:sub>
                      </m:sSub>
                      <m:r>
                        <a:rPr lang="pt-BR" i="1">
                          <a:solidFill>
                            <a:schemeClr val="tx1"/>
                          </a:solidFill>
                          <a:latin typeface="Cambria Math" panose="02040503050406030204" pitchFamily="18" charset="0"/>
                        </a:rPr>
                        <m:t>=</m:t>
                      </m:r>
                      <m:r>
                        <m:rPr>
                          <m:nor/>
                        </m:rPr>
                        <a:rPr lang="pt-BR" dirty="0">
                          <a:solidFill>
                            <a:schemeClr val="tx1"/>
                          </a:solidFill>
                        </a:rPr>
                        <m:t>arg</m:t>
                      </m:r>
                      <m:r>
                        <m:rPr>
                          <m:nor/>
                        </m:rPr>
                        <a:rPr lang="pt-BR" dirty="0">
                          <a:solidFill>
                            <a:schemeClr val="tx1"/>
                          </a:solidFill>
                        </a:rPr>
                        <m:t>. </m:t>
                      </m:r>
                      <m:func>
                        <m:funcPr>
                          <m:ctrlPr>
                            <a:rPr lang="pt-BR" i="1">
                              <a:solidFill>
                                <a:schemeClr val="tx1"/>
                              </a:solidFill>
                              <a:latin typeface="Cambria Math" panose="02040503050406030204" pitchFamily="18" charset="0"/>
                            </a:rPr>
                          </m:ctrlPr>
                        </m:funcPr>
                        <m:fName>
                          <m:limLow>
                            <m:limLowPr>
                              <m:ctrlPr>
                                <a:rPr lang="pt-BR" i="1">
                                  <a:solidFill>
                                    <a:schemeClr val="tx1"/>
                                  </a:solidFill>
                                  <a:latin typeface="Cambria Math" panose="02040503050406030204" pitchFamily="18" charset="0"/>
                                </a:rPr>
                              </m:ctrlPr>
                            </m:limLowPr>
                            <m:e>
                              <m:r>
                                <m:rPr>
                                  <m:sty m:val="p"/>
                                </m:rPr>
                                <a:rPr lang="pt-BR">
                                  <a:solidFill>
                                    <a:schemeClr val="tx1"/>
                                  </a:solidFill>
                                  <a:latin typeface="Cambria Math" panose="02040503050406030204" pitchFamily="18" charset="0"/>
                                </a:rPr>
                                <m:t>max</m:t>
                              </m:r>
                            </m:e>
                            <m:lim>
                              <m:r>
                                <a:rPr lang="pt-BR" i="1">
                                  <a:solidFill>
                                    <a:schemeClr val="tx1"/>
                                  </a:solidFill>
                                  <a:latin typeface="Cambria Math" panose="02040503050406030204" pitchFamily="18" charset="0"/>
                                </a:rPr>
                                <m:t>𝑞</m:t>
                              </m:r>
                            </m:lim>
                          </m:limLow>
                        </m:fName>
                        <m:e>
                          <m:sSubSup>
                            <m:sSubSupPr>
                              <m:ctrlPr>
                                <a:rPr lang="pt-BR" b="1" i="1">
                                  <a:solidFill>
                                    <a:schemeClr val="tx1"/>
                                  </a:solidFill>
                                  <a:latin typeface="Cambria Math" panose="02040503050406030204" pitchFamily="18" charset="0"/>
                                </a:rPr>
                              </m:ctrlPr>
                            </m:sSubSupPr>
                            <m:e>
                              <m:r>
                                <a:rPr lang="pt-BR" i="1">
                                  <a:solidFill>
                                    <a:schemeClr val="tx1"/>
                                  </a:solidFill>
                                  <a:latin typeface="Cambria Math" panose="02040503050406030204" pitchFamily="18" charset="0"/>
                                </a:rPr>
                                <m:t>h</m:t>
                              </m:r>
                            </m:e>
                            <m:sub>
                              <m:r>
                                <a:rPr lang="pt-BR" b="1" i="1">
                                  <a:solidFill>
                                    <a:schemeClr val="tx1"/>
                                  </a:solidFill>
                                  <a:latin typeface="Cambria Math" panose="02040503050406030204" pitchFamily="18" charset="0"/>
                                </a:rPr>
                                <m:t>𝒂</m:t>
                              </m:r>
                            </m:sub>
                            <m:sup>
                              <m:r>
                                <a:rPr lang="pt-BR" i="1">
                                  <a:solidFill>
                                    <a:schemeClr val="tx1"/>
                                  </a:solidFill>
                                  <a:latin typeface="Cambria Math" panose="02040503050406030204" pitchFamily="18" charset="0"/>
                                </a:rPr>
                                <m:t>𝑞</m:t>
                              </m:r>
                            </m:sup>
                          </m:sSubSup>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d>
                                <m:dPr>
                                  <m:ctrlPr>
                                    <a:rPr lang="pt-BR" b="1" i="1">
                                      <a:solidFill>
                                        <a:schemeClr val="tx1"/>
                                      </a:solidFill>
                                      <a:latin typeface="Cambria Math" panose="02040503050406030204" pitchFamily="18" charset="0"/>
                                    </a:rPr>
                                  </m:ctrlPr>
                                </m:dPr>
                                <m:e>
                                  <m:r>
                                    <a:rPr lang="pt-BR" i="1">
                                      <a:solidFill>
                                        <a:schemeClr val="tx1"/>
                                      </a:solidFill>
                                      <a:latin typeface="Cambria Math" panose="02040503050406030204" pitchFamily="18" charset="0"/>
                                    </a:rPr>
                                    <m:t>𝑖</m:t>
                                  </m:r>
                                </m:e>
                              </m:d>
                            </m:e>
                          </m:d>
                        </m:e>
                      </m:func>
                      <m:r>
                        <a:rPr lang="pt-BR" b="1" i="1" smtClean="0">
                          <a:solidFill>
                            <a:schemeClr val="tx1"/>
                          </a:solidFill>
                          <a:latin typeface="Cambria Math" panose="02040503050406030204" pitchFamily="18" charset="0"/>
                        </a:rPr>
                        <m:t>=</m:t>
                      </m:r>
                      <m:r>
                        <m:rPr>
                          <m:nor/>
                        </m:rPr>
                        <a:rPr lang="pt-BR" dirty="0">
                          <a:solidFill>
                            <a:schemeClr val="tx1"/>
                          </a:solidFill>
                        </a:rPr>
                        <m:t>arg</m:t>
                      </m:r>
                      <m:r>
                        <m:rPr>
                          <m:nor/>
                        </m:rPr>
                        <a:rPr lang="pt-BR" dirty="0">
                          <a:solidFill>
                            <a:schemeClr val="tx1"/>
                          </a:solidFill>
                        </a:rPr>
                        <m:t>. </m:t>
                      </m:r>
                      <m:func>
                        <m:funcPr>
                          <m:ctrlPr>
                            <a:rPr lang="pt-BR" i="1">
                              <a:solidFill>
                                <a:schemeClr val="tx1"/>
                              </a:solidFill>
                              <a:latin typeface="Cambria Math" panose="02040503050406030204" pitchFamily="18" charset="0"/>
                            </a:rPr>
                          </m:ctrlPr>
                        </m:funcPr>
                        <m:fName>
                          <m:limLow>
                            <m:limLowPr>
                              <m:ctrlPr>
                                <a:rPr lang="pt-BR" i="1">
                                  <a:solidFill>
                                    <a:schemeClr val="tx1"/>
                                  </a:solidFill>
                                  <a:latin typeface="Cambria Math" panose="02040503050406030204" pitchFamily="18" charset="0"/>
                                </a:rPr>
                              </m:ctrlPr>
                            </m:limLowPr>
                            <m:e>
                              <m:r>
                                <m:rPr>
                                  <m:sty m:val="p"/>
                                </m:rPr>
                                <a:rPr lang="pt-BR">
                                  <a:solidFill>
                                    <a:schemeClr val="tx1"/>
                                  </a:solidFill>
                                  <a:latin typeface="Cambria Math" panose="02040503050406030204" pitchFamily="18" charset="0"/>
                                </a:rPr>
                                <m:t>max</m:t>
                              </m:r>
                            </m:e>
                            <m:lim>
                              <m:r>
                                <a:rPr lang="pt-BR" i="1">
                                  <a:solidFill>
                                    <a:schemeClr val="tx1"/>
                                  </a:solidFill>
                                  <a:latin typeface="Cambria Math" panose="02040503050406030204" pitchFamily="18" charset="0"/>
                                </a:rPr>
                                <m:t>𝑞</m:t>
                              </m:r>
                            </m:lim>
                          </m:limLow>
                        </m:fName>
                        <m:e>
                          <m:r>
                            <a:rPr lang="pt-BR" i="1">
                              <a:solidFill>
                                <a:schemeClr val="tx1"/>
                              </a:solidFill>
                              <a:latin typeface="Cambria Math" panose="02040503050406030204" pitchFamily="18" charset="0"/>
                            </a:rPr>
                            <m:t>𝑃</m:t>
                          </m:r>
                          <m:d>
                            <m:dPr>
                              <m:endChr m:val="|"/>
                              <m:ctrlPr>
                                <a:rPr lang="pt-BR" i="1">
                                  <a:solidFill>
                                    <a:schemeClr val="tx1"/>
                                  </a:solidFill>
                                  <a:latin typeface="Cambria Math" panose="02040503050406030204" pitchFamily="18" charset="0"/>
                                </a:rPr>
                              </m:ctrlPr>
                            </m:dPr>
                            <m:e>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𝐶</m:t>
                                  </m:r>
                                </m:e>
                                <m:sub>
                                  <m:r>
                                    <a:rPr lang="pt-BR" b="0" i="1" smtClean="0">
                                      <a:solidFill>
                                        <a:schemeClr val="tx1"/>
                                      </a:solidFill>
                                      <a:latin typeface="Cambria Math" panose="02040503050406030204" pitchFamily="18" charset="0"/>
                                    </a:rPr>
                                    <m:t>𝑞</m:t>
                                  </m:r>
                                </m:sub>
                              </m:sSub>
                              <m:r>
                                <a:rPr lang="pt-BR" i="1">
                                  <a:solidFill>
                                    <a:schemeClr val="tx1"/>
                                  </a:solidFill>
                                  <a:latin typeface="Cambria Math" panose="02040503050406030204" pitchFamily="18" charset="0"/>
                                </a:rPr>
                                <m:t> </m:t>
                              </m:r>
                            </m:e>
                          </m:d>
                          <m:r>
                            <a:rPr lang="pt-BR" b="1" i="1">
                              <a:solidFill>
                                <a:schemeClr val="tx1"/>
                              </a:solidFill>
                              <a:latin typeface="Cambria Math" panose="02040503050406030204" pitchFamily="18" charset="0"/>
                            </a:rPr>
                            <m:t> </m:t>
                          </m:r>
                          <m:r>
                            <a:rPr lang="pt-BR" b="1" i="1">
                              <a:solidFill>
                                <a:schemeClr val="tx1"/>
                              </a:solidFill>
                              <a:latin typeface="Cambria Math" panose="02040503050406030204" pitchFamily="18" charset="0"/>
                            </a:rPr>
                            <m:t>𝒙</m:t>
                          </m:r>
                          <m:d>
                            <m:dPr>
                              <m:ctrlPr>
                                <a:rPr lang="pt-BR" b="0" i="1" smtClean="0">
                                  <a:solidFill>
                                    <a:schemeClr val="tx1"/>
                                  </a:solidFill>
                                  <a:latin typeface="Cambria Math" panose="02040503050406030204" pitchFamily="18" charset="0"/>
                                </a:rPr>
                              </m:ctrlPr>
                            </m:dPr>
                            <m:e>
                              <m:r>
                                <a:rPr lang="pt-BR" b="0" i="1" smtClean="0">
                                  <a:solidFill>
                                    <a:schemeClr val="tx1"/>
                                  </a:solidFill>
                                  <a:latin typeface="Cambria Math" panose="02040503050406030204" pitchFamily="18" charset="0"/>
                                </a:rPr>
                                <m:t>𝑖</m:t>
                              </m:r>
                            </m:e>
                          </m:d>
                          <m:r>
                            <a:rPr lang="pt-BR" b="0" i="1"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b="1" i="1">
                                  <a:solidFill>
                                    <a:schemeClr val="tx1"/>
                                  </a:solidFill>
                                  <a:latin typeface="Cambria Math" panose="02040503050406030204" pitchFamily="18" charset="0"/>
                                </a:rPr>
                                <m:t>𝒂</m:t>
                              </m:r>
                            </m:e>
                            <m:sub>
                              <m:r>
                                <a:rPr lang="pt-BR" b="0" i="1" smtClean="0">
                                  <a:solidFill>
                                    <a:schemeClr val="tx1"/>
                                  </a:solidFill>
                                  <a:latin typeface="Cambria Math" panose="02040503050406030204" pitchFamily="18" charset="0"/>
                                </a:rPr>
                                <m:t>𝑞</m:t>
                              </m:r>
                            </m:sub>
                          </m:sSub>
                          <m:r>
                            <a:rPr lang="pt-BR" b="0" i="1" smtClean="0">
                              <a:solidFill>
                                <a:schemeClr val="tx1"/>
                              </a:solidFill>
                              <a:latin typeface="Cambria Math" panose="02040503050406030204" pitchFamily="18" charset="0"/>
                            </a:rPr>
                            <m:t>)</m:t>
                          </m:r>
                        </m:e>
                      </m:func>
                      <m:r>
                        <a:rPr lang="pt-BR" b="0" i="1" smtClean="0">
                          <a:solidFill>
                            <a:schemeClr val="tx1"/>
                          </a:solidFill>
                          <a:latin typeface="Cambria Math" panose="02040503050406030204" pitchFamily="18" charset="0"/>
                        </a:rPr>
                        <m:t>.</m:t>
                      </m:r>
                    </m:oMath>
                  </m:oMathPara>
                </a14:m>
                <a:endParaRPr lang="pt-BR" b="0" dirty="0">
                  <a:solidFill>
                    <a:schemeClr val="tx1"/>
                  </a:solidFill>
                </a:endParaRPr>
              </a:p>
              <a:p>
                <a:r>
                  <a:rPr lang="pt-BR" dirty="0">
                    <a:solidFill>
                      <a:schemeClr val="tx1"/>
                    </a:solidFill>
                  </a:rPr>
                  <a:t>Uma outra forma de reescrevermos o problema de maximização acima é lembrarmos que a </a:t>
                </a:r>
                <a:r>
                  <a:rPr lang="pt-BR" b="1" i="1" dirty="0">
                    <a:solidFill>
                      <a:srgbClr val="00B050"/>
                    </a:solidFill>
                  </a:rPr>
                  <a:t>classe com maior probabilidade </a:t>
                </a:r>
                <a:r>
                  <a:rPr lang="pt-BR" dirty="0">
                    <a:solidFill>
                      <a:schemeClr val="tx1"/>
                    </a:solidFill>
                  </a:rPr>
                  <a:t>é simplesmente a </a:t>
                </a:r>
                <a:r>
                  <a:rPr lang="pt-BR" b="1" i="1" dirty="0">
                    <a:solidFill>
                      <a:srgbClr val="00B050"/>
                    </a:solidFill>
                  </a:rPr>
                  <a:t>classe com maior valor de função discriminante</a:t>
                </a:r>
                <a:r>
                  <a:rPr lang="pt-BR" dirty="0">
                    <a:solidFill>
                      <a:schemeClr val="tx1"/>
                    </a:solidFill>
                  </a:rPr>
                  <a:t>, </a:t>
                </a:r>
                <a14:m>
                  <m:oMath xmlns:m="http://schemas.openxmlformats.org/officeDocument/2006/math">
                    <m:sSup>
                      <m:sSupPr>
                        <m:ctrlPr>
                          <a:rPr lang="pt-BR" i="1">
                            <a:solidFill>
                              <a:schemeClr val="tx1"/>
                            </a:solidFill>
                            <a:latin typeface="Cambria Math" panose="02040503050406030204" pitchFamily="18" charset="0"/>
                          </a:rPr>
                        </m:ctrlPr>
                      </m:sSupPr>
                      <m:e>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𝑔</m:t>
                            </m:r>
                          </m:e>
                          <m:sub>
                            <m:r>
                              <a:rPr lang="pt-BR" i="1">
                                <a:solidFill>
                                  <a:schemeClr val="tx1"/>
                                </a:solidFill>
                                <a:latin typeface="Cambria Math" panose="02040503050406030204" pitchFamily="18" charset="0"/>
                              </a:rPr>
                              <m:t>𝑞</m:t>
                            </m:r>
                          </m:sub>
                        </m:sSub>
                        <m:d>
                          <m:dPr>
                            <m:ctrlPr>
                              <a:rPr lang="pt-BR" b="1"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d>
                              <m:dPr>
                                <m:ctrlPr>
                                  <a:rPr lang="pt-BR" b="1" i="1">
                                    <a:solidFill>
                                      <a:schemeClr val="tx1"/>
                                    </a:solidFill>
                                    <a:latin typeface="Cambria Math" panose="02040503050406030204" pitchFamily="18" charset="0"/>
                                  </a:rPr>
                                </m:ctrlPr>
                              </m:dPr>
                              <m:e>
                                <m:r>
                                  <a:rPr lang="pt-BR" i="1">
                                    <a:solidFill>
                                      <a:schemeClr val="tx1"/>
                                    </a:solidFill>
                                    <a:latin typeface="Cambria Math" panose="02040503050406030204" pitchFamily="18" charset="0"/>
                                  </a:rPr>
                                  <m:t>𝑖</m:t>
                                </m:r>
                              </m:e>
                            </m:d>
                          </m:e>
                        </m:d>
                        <m:r>
                          <a:rPr lang="pt-BR" b="1"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𝒙</m:t>
                        </m:r>
                        <m:d>
                          <m:dPr>
                            <m:ctrlPr>
                              <a:rPr lang="pt-BR" b="1" i="1">
                                <a:solidFill>
                                  <a:schemeClr val="tx1"/>
                                </a:solidFill>
                                <a:latin typeface="Cambria Math" panose="02040503050406030204" pitchFamily="18" charset="0"/>
                              </a:rPr>
                            </m:ctrlPr>
                          </m:dPr>
                          <m:e>
                            <m:r>
                              <a:rPr lang="pt-BR" i="1">
                                <a:solidFill>
                                  <a:schemeClr val="tx1"/>
                                </a:solidFill>
                                <a:latin typeface="Cambria Math" panose="02040503050406030204" pitchFamily="18" charset="0"/>
                              </a:rPr>
                              <m:t>𝑖</m:t>
                            </m:r>
                          </m:e>
                        </m:d>
                      </m:e>
                      <m:sup>
                        <m:r>
                          <a:rPr lang="pt-BR" i="1">
                            <a:solidFill>
                              <a:schemeClr val="tx1"/>
                            </a:solidFill>
                            <a:latin typeface="Cambria Math" panose="02040503050406030204" pitchFamily="18" charset="0"/>
                          </a:rPr>
                          <m:t>𝑇</m:t>
                        </m:r>
                      </m:sup>
                    </m:sSup>
                    <m:sSub>
                      <m:sSubPr>
                        <m:ctrlPr>
                          <a:rPr lang="pt-BR" b="1" i="1">
                            <a:solidFill>
                              <a:schemeClr val="tx1"/>
                            </a:solidFill>
                            <a:latin typeface="Cambria Math" panose="02040503050406030204" pitchFamily="18" charset="0"/>
                          </a:rPr>
                        </m:ctrlPr>
                      </m:sSubPr>
                      <m:e>
                        <m:r>
                          <a:rPr lang="pt-BR" b="1" i="1">
                            <a:solidFill>
                              <a:schemeClr val="tx1"/>
                            </a:solidFill>
                            <a:latin typeface="Cambria Math" panose="02040503050406030204" pitchFamily="18" charset="0"/>
                          </a:rPr>
                          <m:t>𝒂</m:t>
                        </m:r>
                      </m:e>
                      <m:sub>
                        <m:r>
                          <a:rPr lang="pt-BR" i="1">
                            <a:solidFill>
                              <a:schemeClr val="tx1"/>
                            </a:solidFill>
                            <a:latin typeface="Cambria Math" panose="02040503050406030204" pitchFamily="18" charset="0"/>
                          </a:rPr>
                          <m:t>𝑞</m:t>
                        </m:r>
                      </m:sub>
                    </m:sSub>
                  </m:oMath>
                </a14:m>
                <a:endParaRPr lang="pt-BR" sz="1600" dirty="0">
                  <a:solidFill>
                    <a:schemeClr val="tx1"/>
                  </a:solidFill>
                </a:endParaRPr>
              </a:p>
              <a:p>
                <a:pPr marL="0" indent="0" algn="ctr">
                  <a:buNone/>
                </a:pPr>
                <a14:m>
                  <m:oMathPara xmlns:m="http://schemas.openxmlformats.org/officeDocument/2006/math">
                    <m:oMathParaPr>
                      <m:jc m:val="centerGroup"/>
                    </m:oMathParaPr>
                    <m:oMath xmlns:m="http://schemas.openxmlformats.org/officeDocument/2006/math">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𝐶</m:t>
                          </m:r>
                        </m:e>
                        <m:sub>
                          <m:r>
                            <a:rPr lang="pt-BR" i="1">
                              <a:solidFill>
                                <a:schemeClr val="tx1"/>
                              </a:solidFill>
                              <a:latin typeface="Cambria Math" panose="02040503050406030204" pitchFamily="18" charset="0"/>
                            </a:rPr>
                            <m:t>𝑞</m:t>
                          </m:r>
                        </m:sub>
                      </m:sSub>
                      <m:r>
                        <a:rPr lang="pt-BR" i="1">
                          <a:solidFill>
                            <a:schemeClr val="tx1"/>
                          </a:solidFill>
                          <a:latin typeface="Cambria Math" panose="02040503050406030204" pitchFamily="18" charset="0"/>
                        </a:rPr>
                        <m:t>=</m:t>
                      </m:r>
                      <m:r>
                        <m:rPr>
                          <m:nor/>
                        </m:rPr>
                        <a:rPr lang="pt-BR" dirty="0">
                          <a:solidFill>
                            <a:schemeClr val="tx1"/>
                          </a:solidFill>
                        </a:rPr>
                        <m:t>arg</m:t>
                      </m:r>
                      <m:r>
                        <m:rPr>
                          <m:nor/>
                        </m:rPr>
                        <a:rPr lang="pt-BR" dirty="0">
                          <a:solidFill>
                            <a:schemeClr val="tx1"/>
                          </a:solidFill>
                        </a:rPr>
                        <m:t>. </m:t>
                      </m:r>
                      <m:func>
                        <m:funcPr>
                          <m:ctrlPr>
                            <a:rPr lang="pt-BR" i="1">
                              <a:solidFill>
                                <a:schemeClr val="tx1"/>
                              </a:solidFill>
                              <a:latin typeface="Cambria Math" panose="02040503050406030204" pitchFamily="18" charset="0"/>
                            </a:rPr>
                          </m:ctrlPr>
                        </m:funcPr>
                        <m:fName>
                          <m:limLow>
                            <m:limLowPr>
                              <m:ctrlPr>
                                <a:rPr lang="pt-BR" i="1">
                                  <a:solidFill>
                                    <a:schemeClr val="tx1"/>
                                  </a:solidFill>
                                  <a:latin typeface="Cambria Math" panose="02040503050406030204" pitchFamily="18" charset="0"/>
                                </a:rPr>
                              </m:ctrlPr>
                            </m:limLowPr>
                            <m:e>
                              <m:r>
                                <m:rPr>
                                  <m:sty m:val="p"/>
                                </m:rPr>
                                <a:rPr lang="pt-BR">
                                  <a:solidFill>
                                    <a:schemeClr val="tx1"/>
                                  </a:solidFill>
                                  <a:latin typeface="Cambria Math" panose="02040503050406030204" pitchFamily="18" charset="0"/>
                                </a:rPr>
                                <m:t>max</m:t>
                              </m:r>
                            </m:e>
                            <m:lim>
                              <m:r>
                                <a:rPr lang="pt-BR" i="1">
                                  <a:solidFill>
                                    <a:schemeClr val="tx1"/>
                                  </a:solidFill>
                                  <a:latin typeface="Cambria Math" panose="02040503050406030204" pitchFamily="18" charset="0"/>
                                </a:rPr>
                                <m:t>𝑞</m:t>
                              </m:r>
                            </m:lim>
                          </m:limLow>
                        </m:fName>
                        <m:e>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𝑔</m:t>
                              </m:r>
                            </m:e>
                            <m:sub>
                              <m:r>
                                <a:rPr lang="pt-BR" i="1">
                                  <a:solidFill>
                                    <a:schemeClr val="tx1"/>
                                  </a:solidFill>
                                  <a:latin typeface="Cambria Math" panose="02040503050406030204" pitchFamily="18" charset="0"/>
                                </a:rPr>
                                <m:t>𝑞</m:t>
                              </m:r>
                            </m:sub>
                          </m:sSub>
                          <m:d>
                            <m:dPr>
                              <m:ctrlPr>
                                <a:rPr lang="pt-BR" b="1"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d>
                                <m:dPr>
                                  <m:ctrlPr>
                                    <a:rPr lang="pt-BR" b="1" i="1">
                                      <a:solidFill>
                                        <a:schemeClr val="tx1"/>
                                      </a:solidFill>
                                      <a:latin typeface="Cambria Math" panose="02040503050406030204" pitchFamily="18" charset="0"/>
                                    </a:rPr>
                                  </m:ctrlPr>
                                </m:dPr>
                                <m:e>
                                  <m:r>
                                    <a:rPr lang="pt-BR" i="1">
                                      <a:solidFill>
                                        <a:schemeClr val="tx1"/>
                                      </a:solidFill>
                                      <a:latin typeface="Cambria Math" panose="02040503050406030204" pitchFamily="18" charset="0"/>
                                    </a:rPr>
                                    <m:t>𝑖</m:t>
                                  </m:r>
                                </m:e>
                              </m:d>
                            </m:e>
                          </m:d>
                        </m:e>
                      </m:func>
                      <m:r>
                        <a:rPr lang="pt-BR" i="1">
                          <a:solidFill>
                            <a:schemeClr val="tx1"/>
                          </a:solidFill>
                          <a:latin typeface="Cambria Math" panose="02040503050406030204" pitchFamily="18" charset="0"/>
                        </a:rPr>
                        <m:t>=</m:t>
                      </m:r>
                      <m:r>
                        <m:rPr>
                          <m:nor/>
                        </m:rPr>
                        <a:rPr lang="pt-BR" dirty="0">
                          <a:solidFill>
                            <a:schemeClr val="tx1"/>
                          </a:solidFill>
                        </a:rPr>
                        <m:t>arg</m:t>
                      </m:r>
                      <m:r>
                        <m:rPr>
                          <m:nor/>
                        </m:rPr>
                        <a:rPr lang="pt-BR" dirty="0">
                          <a:solidFill>
                            <a:schemeClr val="tx1"/>
                          </a:solidFill>
                        </a:rPr>
                        <m:t>. </m:t>
                      </m:r>
                      <m:func>
                        <m:funcPr>
                          <m:ctrlPr>
                            <a:rPr lang="pt-BR" i="1">
                              <a:solidFill>
                                <a:schemeClr val="tx1"/>
                              </a:solidFill>
                              <a:latin typeface="Cambria Math" panose="02040503050406030204" pitchFamily="18" charset="0"/>
                            </a:rPr>
                          </m:ctrlPr>
                        </m:funcPr>
                        <m:fName>
                          <m:limLow>
                            <m:limLowPr>
                              <m:ctrlPr>
                                <a:rPr lang="pt-BR" i="1">
                                  <a:solidFill>
                                    <a:schemeClr val="tx1"/>
                                  </a:solidFill>
                                  <a:latin typeface="Cambria Math" panose="02040503050406030204" pitchFamily="18" charset="0"/>
                                </a:rPr>
                              </m:ctrlPr>
                            </m:limLowPr>
                            <m:e>
                              <m:r>
                                <m:rPr>
                                  <m:sty m:val="p"/>
                                </m:rPr>
                                <a:rPr lang="pt-BR">
                                  <a:solidFill>
                                    <a:schemeClr val="tx1"/>
                                  </a:solidFill>
                                  <a:latin typeface="Cambria Math" panose="02040503050406030204" pitchFamily="18" charset="0"/>
                                </a:rPr>
                                <m:t>max</m:t>
                              </m:r>
                            </m:e>
                            <m:lim>
                              <m:r>
                                <a:rPr lang="pt-BR" i="1">
                                  <a:solidFill>
                                    <a:schemeClr val="tx1"/>
                                  </a:solidFill>
                                  <a:latin typeface="Cambria Math" panose="02040503050406030204" pitchFamily="18" charset="0"/>
                                </a:rPr>
                                <m:t>𝑞</m:t>
                              </m:r>
                            </m:lim>
                          </m:limLow>
                        </m:fName>
                        <m:e>
                          <m:sSup>
                            <m:sSupPr>
                              <m:ctrlPr>
                                <a:rPr lang="pt-BR" i="1">
                                  <a:solidFill>
                                    <a:schemeClr val="tx1"/>
                                  </a:solidFill>
                                  <a:latin typeface="Cambria Math" panose="02040503050406030204" pitchFamily="18" charset="0"/>
                                </a:rPr>
                              </m:ctrlPr>
                            </m:sSupPr>
                            <m:e>
                              <m:r>
                                <a:rPr lang="pt-BR" b="1" i="1">
                                  <a:solidFill>
                                    <a:schemeClr val="tx1"/>
                                  </a:solidFill>
                                  <a:latin typeface="Cambria Math" panose="02040503050406030204" pitchFamily="18" charset="0"/>
                                </a:rPr>
                                <m:t>𝒙</m:t>
                              </m:r>
                              <m:r>
                                <a:rPr lang="pt-BR" i="1">
                                  <a:solidFill>
                                    <a:schemeClr val="tx1"/>
                                  </a:solidFill>
                                  <a:latin typeface="Cambria Math" panose="02040503050406030204" pitchFamily="18" charset="0"/>
                                </a:rPr>
                                <m:t>(</m:t>
                              </m:r>
                              <m:r>
                                <a:rPr lang="pt-BR" i="1">
                                  <a:solidFill>
                                    <a:schemeClr val="tx1"/>
                                  </a:solidFill>
                                  <a:latin typeface="Cambria Math" panose="02040503050406030204" pitchFamily="18" charset="0"/>
                                </a:rPr>
                                <m:t>𝑖</m:t>
                              </m:r>
                              <m:r>
                                <a:rPr lang="pt-BR" i="1">
                                  <a:solidFill>
                                    <a:schemeClr val="tx1"/>
                                  </a:solidFill>
                                  <a:latin typeface="Cambria Math" panose="02040503050406030204" pitchFamily="18" charset="0"/>
                                </a:rPr>
                                <m:t>)</m:t>
                              </m:r>
                            </m:e>
                            <m:sup>
                              <m:r>
                                <a:rPr lang="pt-BR" i="1">
                                  <a:solidFill>
                                    <a:schemeClr val="tx1"/>
                                  </a:solidFill>
                                  <a:latin typeface="Cambria Math" panose="02040503050406030204" pitchFamily="18" charset="0"/>
                                </a:rPr>
                                <m:t>𝑇</m:t>
                              </m:r>
                            </m:sup>
                          </m:sSup>
                          <m:sSub>
                            <m:sSubPr>
                              <m:ctrlPr>
                                <a:rPr lang="pt-BR" b="1" i="1">
                                  <a:solidFill>
                                    <a:schemeClr val="tx1"/>
                                  </a:solidFill>
                                  <a:latin typeface="Cambria Math" panose="02040503050406030204" pitchFamily="18" charset="0"/>
                                </a:rPr>
                              </m:ctrlPr>
                            </m:sSubPr>
                            <m:e>
                              <m:r>
                                <a:rPr lang="pt-BR" b="1" i="1">
                                  <a:solidFill>
                                    <a:schemeClr val="tx1"/>
                                  </a:solidFill>
                                  <a:latin typeface="Cambria Math" panose="02040503050406030204" pitchFamily="18" charset="0"/>
                                </a:rPr>
                                <m:t>𝒂</m:t>
                              </m:r>
                            </m:e>
                            <m:sub>
                              <m:r>
                                <a:rPr lang="pt-BR" i="1">
                                  <a:solidFill>
                                    <a:schemeClr val="tx1"/>
                                  </a:solidFill>
                                  <a:latin typeface="Cambria Math" panose="02040503050406030204" pitchFamily="18" charset="0"/>
                                </a:rPr>
                                <m:t>𝑞</m:t>
                              </m:r>
                            </m:sub>
                          </m:sSub>
                        </m:e>
                      </m:func>
                      <m:r>
                        <a:rPr lang="pt-BR" b="0" i="0" smtClean="0">
                          <a:solidFill>
                            <a:schemeClr val="tx1"/>
                          </a:solidFill>
                          <a:latin typeface="Cambria Math" panose="02040503050406030204" pitchFamily="18" charset="0"/>
                        </a:rPr>
                        <m:t>.</m:t>
                      </m:r>
                    </m:oMath>
                  </m:oMathPara>
                </a14:m>
                <a:endParaRPr lang="pt-BR" dirty="0">
                  <a:solidFill>
                    <a:schemeClr val="tx1"/>
                  </a:solidFill>
                </a:endParaRPr>
              </a:p>
              <a:p>
                <a:r>
                  <a:rPr lang="pt-BR" b="1" dirty="0">
                    <a:solidFill>
                      <a:schemeClr val="tx1"/>
                    </a:solidFill>
                  </a:rPr>
                  <a:t>OBS</a:t>
                </a:r>
                <a:r>
                  <a:rPr lang="pt-BR" dirty="0">
                    <a:solidFill>
                      <a:schemeClr val="tx1"/>
                    </a:solidFill>
                  </a:rPr>
                  <a:t>.: A </a:t>
                </a:r>
                <a:r>
                  <a:rPr lang="pt-BR" b="1" i="1" dirty="0">
                    <a:solidFill>
                      <a:srgbClr val="00B050"/>
                    </a:solidFill>
                  </a:rPr>
                  <a:t>normalização</a:t>
                </a:r>
                <a:r>
                  <a:rPr lang="pt-BR" dirty="0">
                    <a:solidFill>
                      <a:schemeClr val="tx1"/>
                    </a:solidFill>
                  </a:rPr>
                  <a:t> faz com que </a:t>
                </a:r>
                <a:r>
                  <a:rPr lang="pt-BR" b="0" i="0" dirty="0">
                    <a:solidFill>
                      <a:schemeClr val="tx1"/>
                    </a:solidFill>
                    <a:effectLst/>
                  </a:rPr>
                  <a:t>as saídas do modelo sejam </a:t>
                </a:r>
                <a:r>
                  <a:rPr lang="pt-BR" b="1" i="1" dirty="0">
                    <a:solidFill>
                      <a:srgbClr val="00B050"/>
                    </a:solidFill>
                    <a:effectLst/>
                  </a:rPr>
                  <a:t>interpretáveis como probabilidades </a:t>
                </a:r>
                <a:r>
                  <a:rPr lang="pt-BR" b="0" i="0" dirty="0">
                    <a:solidFill>
                      <a:schemeClr val="tx1"/>
                    </a:solidFill>
                    <a:effectLst/>
                  </a:rPr>
                  <a:t>e </a:t>
                </a:r>
                <a:r>
                  <a:rPr lang="pt-BR" b="1" i="1" dirty="0">
                    <a:solidFill>
                      <a:srgbClr val="00B050"/>
                    </a:solidFill>
                    <a:effectLst/>
                  </a:rPr>
                  <a:t>garante um treinamento estável</a:t>
                </a:r>
                <a:r>
                  <a:rPr lang="pt-BR" b="0" i="0" dirty="0">
                    <a:effectLst/>
                  </a:rPr>
                  <a:t>.</a:t>
                </a:r>
                <a:endParaRPr lang="pt-BR" dirty="0">
                  <a:solidFill>
                    <a:schemeClr val="tx1"/>
                  </a:solidFill>
                </a:endParaRPr>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BB734B24-DA50-860B-5D55-C33F6F451B6F}"/>
                  </a:ext>
                </a:extLst>
              </p:cNvPr>
              <p:cNvSpPr>
                <a:spLocks noGrp="1" noRot="1" noChangeAspect="1" noMove="1" noResize="1" noEditPoints="1" noAdjustHandles="1" noChangeArrowheads="1" noChangeShapeType="1" noTextEdit="1"/>
              </p:cNvSpPr>
              <p:nvPr>
                <p:ph idx="1"/>
              </p:nvPr>
            </p:nvSpPr>
            <p:spPr>
              <a:xfrm>
                <a:off x="838200" y="1825624"/>
                <a:ext cx="11188700" cy="5032375"/>
              </a:xfrm>
              <a:blipFill rotWithShape="0">
                <a:blip r:embed="rId3"/>
                <a:stretch>
                  <a:fillRect l="-981" t="-1937" r="-327"/>
                </a:stretch>
              </a:blipFill>
            </p:spPr>
            <p:txBody>
              <a:bodyPr/>
              <a:lstStyle/>
              <a:p>
                <a:r>
                  <a:rPr lang="pt-BR">
                    <a:noFill/>
                  </a:rPr>
                  <a:t> </a:t>
                </a:r>
              </a:p>
            </p:txBody>
          </p:sp>
        </mc:Fallback>
      </mc:AlternateContent>
    </p:spTree>
    <p:extLst>
      <p:ext uri="{BB962C8B-B14F-4D97-AF65-F5344CB8AC3E}">
        <p14:creationId xmlns:p14="http://schemas.microsoft.com/office/powerpoint/2010/main" val="209690957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C175046-E9DF-FCC8-C62B-B00332089713}"/>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24721BB7-DBA3-D8BF-7F98-ED91BD59DAEC}"/>
                  </a:ext>
                </a:extLst>
              </p:cNvPr>
              <p:cNvSpPr>
                <a:spLocks noGrp="1"/>
              </p:cNvSpPr>
              <p:nvPr>
                <p:ph idx="1"/>
              </p:nvPr>
            </p:nvSpPr>
            <p:spPr>
              <a:xfrm>
                <a:off x="5951050" y="1825624"/>
                <a:ext cx="6124686" cy="5032375"/>
              </a:xfrm>
            </p:spPr>
            <p:txBody>
              <a:bodyPr>
                <a:normAutofit lnSpcReduction="10000"/>
              </a:bodyPr>
              <a:lstStyle/>
              <a:p>
                <a:r>
                  <a:rPr lang="pt-BR" dirty="0"/>
                  <a:t>A arquitetura de um </a:t>
                </a:r>
                <a:r>
                  <a:rPr lang="pt-BR" b="1" i="1" dirty="0"/>
                  <a:t>regressor softmax </a:t>
                </a:r>
                <a:r>
                  <a:rPr lang="pt-BR" dirty="0"/>
                  <a:t>para um problema com três classes (i.e., </a:t>
                </a:r>
                <a14:m>
                  <m:oMath xmlns:m="http://schemas.openxmlformats.org/officeDocument/2006/math">
                    <m:r>
                      <a:rPr lang="pt-BR" i="1">
                        <a:latin typeface="Cambria Math" panose="02040503050406030204" pitchFamily="18" charset="0"/>
                      </a:rPr>
                      <m:t>𝑄</m:t>
                    </m:r>
                    <m:r>
                      <a:rPr lang="pt-BR" b="0" i="1" smtClean="0">
                        <a:latin typeface="Cambria Math" panose="02040503050406030204" pitchFamily="18" charset="0"/>
                      </a:rPr>
                      <m:t>=3</m:t>
                    </m:r>
                  </m:oMath>
                </a14:m>
                <a:r>
                  <a:rPr lang="pt-BR" dirty="0"/>
                  <a:t>) e dois atributos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2</m:t>
                        </m:r>
                      </m:sub>
                    </m:sSub>
                  </m:oMath>
                </a14:m>
                <a:r>
                  <a:rPr lang="pt-BR" dirty="0"/>
                  <a:t>) é mostrada ao lado.</a:t>
                </a:r>
              </a:p>
              <a:p>
                <a:r>
                  <a:rPr lang="pt-BR" dirty="0"/>
                  <a:t>Em resumo, a ideia por trás da </a:t>
                </a:r>
                <a:r>
                  <a:rPr lang="pt-BR" b="1" i="1" dirty="0"/>
                  <a:t>regressão softmax </a:t>
                </a:r>
                <a:r>
                  <a:rPr lang="pt-BR" dirty="0"/>
                  <a:t>é bastante simples: </a:t>
                </a:r>
              </a:p>
              <a:p>
                <a:pPr lvl="1">
                  <a:buFont typeface="Wingdings" panose="05000000000000000000" pitchFamily="2" charset="2"/>
                  <a:buChar char="§"/>
                </a:pPr>
                <a:r>
                  <a:rPr lang="pt-BR" dirty="0"/>
                  <a:t>dado um exemplo de entrada, </a:t>
                </a:r>
                <a14:m>
                  <m:oMath xmlns:m="http://schemas.openxmlformats.org/officeDocument/2006/math">
                    <m:r>
                      <a:rPr lang="pt-BR" b="1" i="1">
                        <a:latin typeface="Cambria Math" panose="02040503050406030204" pitchFamily="18" charset="0"/>
                      </a:rPr>
                      <m:t>𝒙</m:t>
                    </m:r>
                    <m:r>
                      <a:rPr lang="pt-BR" b="0" i="0" smtClean="0">
                        <a:latin typeface="Cambria Math" panose="02040503050406030204" pitchFamily="18" charset="0"/>
                      </a:rPr>
                      <m:t>(</m:t>
                    </m:r>
                    <m:r>
                      <a:rPr lang="pt-BR" b="0" i="1" smtClean="0">
                        <a:latin typeface="Cambria Math" panose="02040503050406030204" pitchFamily="18" charset="0"/>
                      </a:rPr>
                      <m:t>𝑖</m:t>
                    </m:r>
                    <m:r>
                      <a:rPr lang="pt-BR" b="0" i="0" smtClean="0">
                        <a:latin typeface="Cambria Math" panose="02040503050406030204" pitchFamily="18" charset="0"/>
                      </a:rPr>
                      <m:t>)</m:t>
                    </m:r>
                  </m:oMath>
                </a14:m>
                <a:r>
                  <a:rPr lang="pt-BR" dirty="0"/>
                  <a:t>, </a:t>
                </a:r>
              </a:p>
              <a:p>
                <a:pPr lvl="1">
                  <a:buFont typeface="Wingdings" panose="05000000000000000000" pitchFamily="2" charset="2"/>
                  <a:buChar char="§"/>
                </a:pPr>
                <a:r>
                  <a:rPr lang="pt-BR" dirty="0"/>
                  <a:t>o regressor softmax calcula uma “</a:t>
                </a:r>
                <a:r>
                  <a:rPr lang="pt-BR" b="1" i="1" dirty="0"/>
                  <a:t>pontuação</a:t>
                </a:r>
                <a:r>
                  <a:rPr lang="pt-BR" i="1" dirty="0"/>
                  <a:t>”</a:t>
                </a:r>
                <a:r>
                  <a:rPr lang="pt-BR" dirty="0"/>
                  <a:t>, para cada classe </a:t>
                </a:r>
                <a14:m>
                  <m:oMath xmlns:m="http://schemas.openxmlformats.org/officeDocument/2006/math">
                    <m:r>
                      <a:rPr lang="pt-BR" i="1">
                        <a:latin typeface="Cambria Math" panose="02040503050406030204" pitchFamily="18" charset="0"/>
                      </a:rPr>
                      <m:t>𝑞</m:t>
                    </m:r>
                  </m:oMath>
                </a14:m>
                <a:r>
                  <a:rPr lang="pt-BR" dirty="0"/>
                  <a:t>, i.e., as saídas das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 </m:t>
                    </m:r>
                  </m:oMath>
                </a14:m>
                <a:r>
                  <a:rPr lang="pt-BR" dirty="0"/>
                  <a:t>funções discriminantes </a:t>
                </a:r>
                <a14:m>
                  <m:oMath xmlns:m="http://schemas.openxmlformats.org/officeDocument/2006/math">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d>
                          <m:dPr>
                            <m:ctrlPr>
                              <a:rPr lang="pt-BR" b="1" i="1">
                                <a:latin typeface="Cambria Math" panose="02040503050406030204" pitchFamily="18" charset="0"/>
                              </a:rPr>
                            </m:ctrlPr>
                          </m:dPr>
                          <m:e>
                            <m:r>
                              <a:rPr lang="pt-BR" b="1" i="1">
                                <a:latin typeface="Cambria Math" panose="02040503050406030204" pitchFamily="18" charset="0"/>
                              </a:rPr>
                              <m:t>𝒙</m:t>
                            </m:r>
                            <m:r>
                              <a:rPr lang="pt-BR">
                                <a:latin typeface="Cambria Math" panose="02040503050406030204" pitchFamily="18" charset="0"/>
                              </a:rPr>
                              <m:t>(</m:t>
                            </m:r>
                            <m:r>
                              <a:rPr lang="pt-BR" i="1">
                                <a:latin typeface="Cambria Math" panose="02040503050406030204" pitchFamily="18" charset="0"/>
                              </a:rPr>
                              <m:t>𝑖</m:t>
                            </m:r>
                            <m:r>
                              <a:rPr lang="pt-BR">
                                <a:latin typeface="Cambria Math" panose="02040503050406030204" pitchFamily="18" charset="0"/>
                              </a:rPr>
                              <m:t>)</m:t>
                            </m:r>
                          </m:e>
                        </m:d>
                        <m:r>
                          <a:rPr lang="pt-BR" b="1" i="1">
                            <a:latin typeface="Cambria Math" panose="02040503050406030204" pitchFamily="18" charset="0"/>
                          </a:rPr>
                          <m:t>=</m:t>
                        </m:r>
                        <m:r>
                          <a:rPr lang="pt-BR" b="1" i="1">
                            <a:latin typeface="Cambria Math" panose="02040503050406030204" pitchFamily="18" charset="0"/>
                          </a:rPr>
                          <m:t>𝒙</m:t>
                        </m:r>
                        <m:r>
                          <a:rPr lang="pt-BR">
                            <a:latin typeface="Cambria Math" panose="02040503050406030204" pitchFamily="18" charset="0"/>
                          </a:rPr>
                          <m:t>(</m:t>
                        </m:r>
                        <m:r>
                          <a:rPr lang="pt-BR" i="1">
                            <a:latin typeface="Cambria Math" panose="02040503050406030204" pitchFamily="18" charset="0"/>
                          </a:rPr>
                          <m:t>𝑖</m:t>
                        </m:r>
                        <m:r>
                          <a:rPr lang="pt-BR">
                            <a:latin typeface="Cambria Math" panose="02040503050406030204" pitchFamily="18" charset="0"/>
                          </a:rPr>
                          <m:t>)</m:t>
                        </m:r>
                      </m:e>
                      <m:sup>
                        <m:r>
                          <a:rPr lang="pt-BR" i="1">
                            <a:latin typeface="Cambria Math" panose="02040503050406030204" pitchFamily="18" charset="0"/>
                          </a:rPr>
                          <m:t>𝑇</m:t>
                        </m:r>
                      </m:sup>
                    </m:sSup>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r>
                      <a:rPr lang="pt-BR" b="0" i="0" smtClean="0">
                        <a:latin typeface="Cambria Math" panose="02040503050406030204" pitchFamily="18" charset="0"/>
                      </a:rPr>
                      <m:t>, </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𝑞</m:t>
                    </m:r>
                  </m:oMath>
                </a14:m>
                <a:r>
                  <a:rPr lang="pt-BR" dirty="0"/>
                  <a:t>.</a:t>
                </a:r>
              </a:p>
              <a:p>
                <a:pPr lvl="1">
                  <a:buFont typeface="Wingdings" panose="05000000000000000000" pitchFamily="2" charset="2"/>
                  <a:buChar char="§"/>
                </a:pPr>
                <a:r>
                  <a:rPr lang="pt-BR" dirty="0"/>
                  <a:t>e, em seguida, estima a probabilidade de cada classe aplicando a função softmax às “</a:t>
                </a:r>
                <a:r>
                  <a:rPr lang="pt-BR" b="1" i="1" dirty="0"/>
                  <a:t>pontuações</a:t>
                </a:r>
                <a:r>
                  <a:rPr lang="pt-BR" i="1" dirty="0"/>
                  <a:t>”</a:t>
                </a:r>
                <a:r>
                  <a:rPr lang="pt-BR" dirty="0"/>
                  <a:t>.</a:t>
                </a:r>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24721BB7-DBA3-D8BF-7F98-ED91BD59DAEC}"/>
                  </a:ext>
                </a:extLst>
              </p:cNvPr>
              <p:cNvSpPr>
                <a:spLocks noGrp="1" noRot="1" noChangeAspect="1" noMove="1" noResize="1" noEditPoints="1" noAdjustHandles="1" noChangeArrowheads="1" noChangeShapeType="1" noTextEdit="1"/>
              </p:cNvSpPr>
              <p:nvPr>
                <p:ph idx="1"/>
              </p:nvPr>
            </p:nvSpPr>
            <p:spPr>
              <a:xfrm>
                <a:off x="5951050" y="1825624"/>
                <a:ext cx="6124686" cy="5032375"/>
              </a:xfrm>
              <a:blipFill rotWithShape="0">
                <a:blip r:embed="rId3"/>
                <a:stretch>
                  <a:fillRect l="-1791" t="-2663" r="-2488"/>
                </a:stretch>
              </a:blipFill>
            </p:spPr>
            <p:txBody>
              <a:bodyPr/>
              <a:lstStyle/>
              <a:p>
                <a:r>
                  <a:rPr lang="pt-BR">
                    <a:noFill/>
                  </a:rPr>
                  <a:t> </a:t>
                </a:r>
              </a:p>
            </p:txBody>
          </p:sp>
        </mc:Fallback>
      </mc:AlternateContent>
      <p:sp>
        <p:nvSpPr>
          <p:cNvPr id="5" name="Rectangle 2">
            <a:extLst>
              <a:ext uri="{FF2B5EF4-FFF2-40B4-BE49-F238E27FC236}">
                <a16:creationId xmlns:a16="http://schemas.microsoft.com/office/drawing/2014/main" id="{0357C04D-3666-45D0-A263-597819F48D09}"/>
              </a:ext>
            </a:extLst>
          </p:cNvPr>
          <p:cNvSpPr/>
          <p:nvPr/>
        </p:nvSpPr>
        <p:spPr>
          <a:xfrm>
            <a:off x="0" y="6581001"/>
            <a:ext cx="3490956" cy="276999"/>
          </a:xfrm>
          <a:prstGeom prst="rect">
            <a:avLst/>
          </a:prstGeom>
        </p:spPr>
        <p:txBody>
          <a:bodyPr wrap="none">
            <a:spAutoFit/>
          </a:bodyPr>
          <a:lstStyle/>
          <a:p>
            <a:r>
              <a:rPr lang="pt-BR" sz="1200" dirty="0">
                <a:hlinkClick r:id="rId4"/>
              </a:rPr>
              <a:t>Exemplo: </a:t>
            </a:r>
            <a:r>
              <a:rPr lang="pt-BR" sz="1200" dirty="0" err="1">
                <a:hlinkClick r:id="rId4"/>
              </a:rPr>
              <a:t>softmax_regressor_with_scikit_learn.ipynb</a:t>
            </a:r>
            <a:endParaRPr lang="pt-BR" sz="1200" b="1" dirty="0"/>
          </a:p>
        </p:txBody>
      </p:sp>
      <p:pic>
        <p:nvPicPr>
          <p:cNvPr id="6" name="Imagem 5">
            <a:extLst>
              <a:ext uri="{FF2B5EF4-FFF2-40B4-BE49-F238E27FC236}">
                <a16:creationId xmlns:a16="http://schemas.microsoft.com/office/drawing/2014/main" id="{FF78CF76-EB26-3FAE-0391-E452288FA28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0236" y="2370360"/>
            <a:ext cx="5840814" cy="2951148"/>
          </a:xfrm>
          <a:prstGeom prst="rect">
            <a:avLst/>
          </a:prstGeom>
        </p:spPr>
      </p:pic>
    </p:spTree>
    <p:extLst>
      <p:ext uri="{BB962C8B-B14F-4D97-AF65-F5344CB8AC3E}">
        <p14:creationId xmlns:p14="http://schemas.microsoft.com/office/powerpoint/2010/main" val="338294050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B8B14D-F577-89AD-B702-F5C9D223176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9022554A-8FEA-8DD7-8F23-E08DFF7AD51C}"/>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90638309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96C2A53-74D8-E49C-5ACB-20A8EA43DCD1}"/>
              </a:ext>
            </a:extLst>
          </p:cNvPr>
          <p:cNvSpPr>
            <a:spLocks noGrp="1"/>
          </p:cNvSpPr>
          <p:nvPr>
            <p:ph type="title"/>
          </p:nvPr>
        </p:nvSpPr>
        <p:spPr/>
        <p:txBody>
          <a:bodyPr/>
          <a:lstStyle/>
          <a:p>
            <a:r>
              <a:rPr lang="pt-BR" dirty="0"/>
              <a:t>Entropia</a:t>
            </a:r>
            <a:r>
              <a:rPr lang="pt-BR" b="0" i="0" dirty="0">
                <a:effectLst/>
                <a:latin typeface="+mn-lt"/>
              </a:rPr>
              <a:t> </a:t>
            </a:r>
            <a:r>
              <a:rPr lang="pt-BR" dirty="0"/>
              <a:t>cruzada categórica esparsa</a:t>
            </a:r>
          </a:p>
        </p:txBody>
      </p:sp>
      <p:sp>
        <p:nvSpPr>
          <p:cNvPr id="3" name="Espaço Reservado para Conteúdo 2">
            <a:extLst>
              <a:ext uri="{FF2B5EF4-FFF2-40B4-BE49-F238E27FC236}">
                <a16:creationId xmlns:a16="http://schemas.microsoft.com/office/drawing/2014/main" id="{D7CCA71B-FA7B-C4F0-3F72-04C52F3D33CF}"/>
              </a:ext>
            </a:extLst>
          </p:cNvPr>
          <p:cNvSpPr>
            <a:spLocks noGrp="1"/>
          </p:cNvSpPr>
          <p:nvPr>
            <p:ph idx="1"/>
          </p:nvPr>
        </p:nvSpPr>
        <p:spPr>
          <a:xfrm>
            <a:off x="5968181" y="1825624"/>
            <a:ext cx="6076335" cy="5032375"/>
          </a:xfrm>
        </p:spPr>
        <p:txBody>
          <a:bodyPr>
            <a:normAutofit/>
          </a:bodyPr>
          <a:lstStyle/>
          <a:p>
            <a:r>
              <a:rPr lang="pt-BR" dirty="0"/>
              <a:t>É uma v</a:t>
            </a:r>
            <a:r>
              <a:rPr lang="pt-BR" b="0" i="0" dirty="0">
                <a:effectLst/>
              </a:rPr>
              <a:t>ariação da entropia cruzada categórica que </a:t>
            </a:r>
            <a:r>
              <a:rPr lang="pt-BR" b="1" i="1" dirty="0">
                <a:solidFill>
                  <a:srgbClr val="00B050"/>
                </a:solidFill>
                <a:effectLst/>
              </a:rPr>
              <a:t>ao invés de usar a codificação </a:t>
            </a:r>
            <a:r>
              <a:rPr lang="pt-BR" b="1" i="1" dirty="0" err="1">
                <a:solidFill>
                  <a:srgbClr val="00B050"/>
                </a:solidFill>
                <a:effectLst/>
              </a:rPr>
              <a:t>one</a:t>
            </a:r>
            <a:r>
              <a:rPr lang="pt-BR" b="1" i="1" dirty="0">
                <a:solidFill>
                  <a:srgbClr val="00B050"/>
                </a:solidFill>
                <a:effectLst/>
              </a:rPr>
              <a:t>-hot para os rótulos, utiliza </a:t>
            </a:r>
            <a:r>
              <a:rPr lang="pt-BR" b="1" i="1" dirty="0">
                <a:solidFill>
                  <a:srgbClr val="7030A0"/>
                </a:solidFill>
                <a:effectLst/>
              </a:rPr>
              <a:t>valores</a:t>
            </a:r>
            <a:r>
              <a:rPr lang="pt-BR" b="1" i="1" dirty="0">
                <a:solidFill>
                  <a:srgbClr val="00B050"/>
                </a:solidFill>
                <a:effectLst/>
              </a:rPr>
              <a:t> </a:t>
            </a:r>
            <a:r>
              <a:rPr lang="pt-BR" b="1" i="1" dirty="0">
                <a:solidFill>
                  <a:srgbClr val="7030A0"/>
                </a:solidFill>
                <a:effectLst/>
              </a:rPr>
              <a:t>inteiros</a:t>
            </a:r>
            <a:r>
              <a:rPr lang="pt-BR" b="0" i="0" dirty="0">
                <a:effectLst/>
              </a:rPr>
              <a:t> para indicar a classe a que pertence um exemplo.</a:t>
            </a:r>
          </a:p>
          <a:p>
            <a:r>
              <a:rPr lang="pt-BR" b="0" i="0" dirty="0">
                <a:effectLst/>
              </a:rPr>
              <a:t>Essa variação é particularmente </a:t>
            </a:r>
            <a:r>
              <a:rPr lang="pt-BR" b="1" i="1" dirty="0">
                <a:solidFill>
                  <a:srgbClr val="00B050"/>
                </a:solidFill>
                <a:effectLst/>
              </a:rPr>
              <a:t>útil quando se lida com uma grande quantidade de classes</a:t>
            </a:r>
            <a:r>
              <a:rPr lang="pt-BR" b="0" i="0" dirty="0">
                <a:effectLst/>
              </a:rPr>
              <a:t>.</a:t>
            </a:r>
          </a:p>
          <a:p>
            <a:r>
              <a:rPr lang="pt-BR" dirty="0"/>
              <a:t>Por exemplo, imaginem armazenar os vetores </a:t>
            </a:r>
            <a:r>
              <a:rPr lang="pt-BR" b="1" i="1" dirty="0" err="1"/>
              <a:t>one</a:t>
            </a:r>
            <a:r>
              <a:rPr lang="pt-BR" b="1" i="1" dirty="0"/>
              <a:t>-hot</a:t>
            </a:r>
            <a:r>
              <a:rPr lang="pt-BR" dirty="0"/>
              <a:t> de um problema com mil ou mais classes (e.g., ImageNet-1K, ImageNet-21K).</a:t>
            </a:r>
          </a:p>
        </p:txBody>
      </p:sp>
      <p:grpSp>
        <p:nvGrpSpPr>
          <p:cNvPr id="18" name="Agrupar 17">
            <a:extLst>
              <a:ext uri="{FF2B5EF4-FFF2-40B4-BE49-F238E27FC236}">
                <a16:creationId xmlns:a16="http://schemas.microsoft.com/office/drawing/2014/main" id="{1C75113D-F0D3-40F0-7EB7-3F38C71EEED3}"/>
              </a:ext>
            </a:extLst>
          </p:cNvPr>
          <p:cNvGrpSpPr/>
          <p:nvPr/>
        </p:nvGrpSpPr>
        <p:grpSpPr>
          <a:xfrm>
            <a:off x="272894" y="2711732"/>
            <a:ext cx="4335608" cy="2525685"/>
            <a:chOff x="-14185" y="2032324"/>
            <a:chExt cx="4335608" cy="2525685"/>
          </a:xfrm>
        </p:grpSpPr>
        <p:sp>
          <p:nvSpPr>
            <p:cNvPr id="6" name="Retângulo 5">
              <a:extLst>
                <a:ext uri="{FF2B5EF4-FFF2-40B4-BE49-F238E27FC236}">
                  <a16:creationId xmlns:a16="http://schemas.microsoft.com/office/drawing/2014/main" id="{A2511A0C-A351-8C36-97F4-842C0F8277A1}"/>
                </a:ext>
              </a:extLst>
            </p:cNvPr>
            <p:cNvSpPr/>
            <p:nvPr/>
          </p:nvSpPr>
          <p:spPr>
            <a:xfrm>
              <a:off x="1382233" y="2032324"/>
              <a:ext cx="720000" cy="720000"/>
            </a:xfrm>
            <a:prstGeom prst="rect">
              <a:avLst/>
            </a:prstGeom>
            <a:solidFill>
              <a:srgbClr val="92D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Triângulo isósceles 6">
              <a:extLst>
                <a:ext uri="{FF2B5EF4-FFF2-40B4-BE49-F238E27FC236}">
                  <a16:creationId xmlns:a16="http://schemas.microsoft.com/office/drawing/2014/main" id="{DAA887C1-C5C8-24B2-392D-8533579DC702}"/>
                </a:ext>
              </a:extLst>
            </p:cNvPr>
            <p:cNvSpPr/>
            <p:nvPr/>
          </p:nvSpPr>
          <p:spPr>
            <a:xfrm>
              <a:off x="2477386" y="2032324"/>
              <a:ext cx="720000" cy="720000"/>
            </a:xfrm>
            <a:prstGeom prst="triangle">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7">
              <a:extLst>
                <a:ext uri="{FF2B5EF4-FFF2-40B4-BE49-F238E27FC236}">
                  <a16:creationId xmlns:a16="http://schemas.microsoft.com/office/drawing/2014/main" id="{8A3CDA9F-67CF-C2B4-099A-C5BE81D643DC}"/>
                </a:ext>
              </a:extLst>
            </p:cNvPr>
            <p:cNvSpPr/>
            <p:nvPr/>
          </p:nvSpPr>
          <p:spPr>
            <a:xfrm>
              <a:off x="3572539" y="2032324"/>
              <a:ext cx="720000" cy="720000"/>
            </a:xfrm>
            <a:prstGeom prst="ellipse">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CaixaDeTexto 8">
              <a:extLst>
                <a:ext uri="{FF2B5EF4-FFF2-40B4-BE49-F238E27FC236}">
                  <a16:creationId xmlns:a16="http://schemas.microsoft.com/office/drawing/2014/main" id="{8199A5A8-0A24-4EC2-20A3-98F83377DBFD}"/>
                </a:ext>
              </a:extLst>
            </p:cNvPr>
            <p:cNvSpPr txBox="1"/>
            <p:nvPr/>
          </p:nvSpPr>
          <p:spPr>
            <a:xfrm>
              <a:off x="248087" y="2207658"/>
              <a:ext cx="925033" cy="369332"/>
            </a:xfrm>
            <a:prstGeom prst="rect">
              <a:avLst/>
            </a:prstGeom>
            <a:noFill/>
          </p:spPr>
          <p:txBody>
            <a:bodyPr wrap="square" rtlCol="0">
              <a:spAutoFit/>
            </a:bodyPr>
            <a:lstStyle/>
            <a:p>
              <a:r>
                <a:rPr lang="pt-BR" dirty="0"/>
                <a:t>Classe</a:t>
              </a:r>
            </a:p>
          </p:txBody>
        </p:sp>
        <p:sp>
          <p:nvSpPr>
            <p:cNvPr id="10" name="CaixaDeTexto 9">
              <a:extLst>
                <a:ext uri="{FF2B5EF4-FFF2-40B4-BE49-F238E27FC236}">
                  <a16:creationId xmlns:a16="http://schemas.microsoft.com/office/drawing/2014/main" id="{F55ABC8B-6228-1C4D-A9AB-E0B71E40180A}"/>
                </a:ext>
              </a:extLst>
            </p:cNvPr>
            <p:cNvSpPr txBox="1"/>
            <p:nvPr/>
          </p:nvSpPr>
          <p:spPr>
            <a:xfrm>
              <a:off x="248086" y="3244334"/>
              <a:ext cx="925033" cy="369332"/>
            </a:xfrm>
            <a:prstGeom prst="rect">
              <a:avLst/>
            </a:prstGeom>
            <a:noFill/>
          </p:spPr>
          <p:txBody>
            <a:bodyPr wrap="square" rtlCol="0">
              <a:spAutoFit/>
            </a:bodyPr>
            <a:lstStyle/>
            <a:p>
              <a:r>
                <a:rPr lang="pt-BR" dirty="0"/>
                <a:t>Rótulo</a:t>
              </a:r>
            </a:p>
          </p:txBody>
        </p:sp>
        <p:sp>
          <p:nvSpPr>
            <p:cNvPr id="11" name="CaixaDeTexto 10">
              <a:extLst>
                <a:ext uri="{FF2B5EF4-FFF2-40B4-BE49-F238E27FC236}">
                  <a16:creationId xmlns:a16="http://schemas.microsoft.com/office/drawing/2014/main" id="{11C67FAC-3435-3B5F-95EC-1347224EF4D7}"/>
                </a:ext>
              </a:extLst>
            </p:cNvPr>
            <p:cNvSpPr txBox="1"/>
            <p:nvPr/>
          </p:nvSpPr>
          <p:spPr>
            <a:xfrm>
              <a:off x="-14185" y="3911678"/>
              <a:ext cx="1268822" cy="646331"/>
            </a:xfrm>
            <a:prstGeom prst="rect">
              <a:avLst/>
            </a:prstGeom>
            <a:noFill/>
          </p:spPr>
          <p:txBody>
            <a:bodyPr wrap="square" rtlCol="0">
              <a:spAutoFit/>
            </a:bodyPr>
            <a:lstStyle/>
            <a:p>
              <a:pPr algn="ctr"/>
              <a:r>
                <a:rPr lang="pt-BR" dirty="0"/>
                <a:t>Codificação </a:t>
              </a:r>
              <a:r>
                <a:rPr lang="pt-BR" i="1" dirty="0" err="1"/>
                <a:t>one</a:t>
              </a:r>
              <a:r>
                <a:rPr lang="pt-BR" i="1" dirty="0"/>
                <a:t>-hot</a:t>
              </a:r>
            </a:p>
          </p:txBody>
        </p:sp>
        <p:sp>
          <p:nvSpPr>
            <p:cNvPr id="12" name="CaixaDeTexto 11">
              <a:extLst>
                <a:ext uri="{FF2B5EF4-FFF2-40B4-BE49-F238E27FC236}">
                  <a16:creationId xmlns:a16="http://schemas.microsoft.com/office/drawing/2014/main" id="{2BB958DE-B0F0-6123-72F8-7604263C45EE}"/>
                </a:ext>
              </a:extLst>
            </p:cNvPr>
            <p:cNvSpPr txBox="1"/>
            <p:nvPr/>
          </p:nvSpPr>
          <p:spPr>
            <a:xfrm>
              <a:off x="1382233" y="3244334"/>
              <a:ext cx="720000" cy="369332"/>
            </a:xfrm>
            <a:prstGeom prst="rect">
              <a:avLst/>
            </a:prstGeom>
            <a:noFill/>
          </p:spPr>
          <p:txBody>
            <a:bodyPr wrap="square" rtlCol="0">
              <a:spAutoFit/>
            </a:bodyPr>
            <a:lstStyle/>
            <a:p>
              <a:pPr algn="ctr"/>
              <a:r>
                <a:rPr lang="pt-BR" dirty="0"/>
                <a:t>0</a:t>
              </a:r>
            </a:p>
          </p:txBody>
        </p:sp>
        <p:sp>
          <p:nvSpPr>
            <p:cNvPr id="13" name="CaixaDeTexto 12">
              <a:extLst>
                <a:ext uri="{FF2B5EF4-FFF2-40B4-BE49-F238E27FC236}">
                  <a16:creationId xmlns:a16="http://schemas.microsoft.com/office/drawing/2014/main" id="{85E2DF27-6AAD-6444-FE8C-FA004DBB3D92}"/>
                </a:ext>
              </a:extLst>
            </p:cNvPr>
            <p:cNvSpPr txBox="1"/>
            <p:nvPr/>
          </p:nvSpPr>
          <p:spPr>
            <a:xfrm>
              <a:off x="2483943" y="3244334"/>
              <a:ext cx="720000" cy="369332"/>
            </a:xfrm>
            <a:prstGeom prst="rect">
              <a:avLst/>
            </a:prstGeom>
            <a:noFill/>
          </p:spPr>
          <p:txBody>
            <a:bodyPr wrap="square" rtlCol="0">
              <a:spAutoFit/>
            </a:bodyPr>
            <a:lstStyle/>
            <a:p>
              <a:pPr algn="ctr"/>
              <a:r>
                <a:rPr lang="pt-BR" dirty="0"/>
                <a:t>1</a:t>
              </a:r>
            </a:p>
          </p:txBody>
        </p:sp>
        <p:sp>
          <p:nvSpPr>
            <p:cNvPr id="14" name="CaixaDeTexto 13">
              <a:extLst>
                <a:ext uri="{FF2B5EF4-FFF2-40B4-BE49-F238E27FC236}">
                  <a16:creationId xmlns:a16="http://schemas.microsoft.com/office/drawing/2014/main" id="{A61C1416-031D-5CF6-5262-B4734B088127}"/>
                </a:ext>
              </a:extLst>
            </p:cNvPr>
            <p:cNvSpPr txBox="1"/>
            <p:nvPr/>
          </p:nvSpPr>
          <p:spPr>
            <a:xfrm>
              <a:off x="3601423" y="3244334"/>
              <a:ext cx="720000" cy="369332"/>
            </a:xfrm>
            <a:prstGeom prst="rect">
              <a:avLst/>
            </a:prstGeom>
            <a:noFill/>
          </p:spPr>
          <p:txBody>
            <a:bodyPr wrap="square" rtlCol="0">
              <a:spAutoFit/>
            </a:bodyPr>
            <a:lstStyle/>
            <a:p>
              <a:pPr algn="ctr"/>
              <a:r>
                <a:rPr lang="pt-BR" dirty="0"/>
                <a:t>2</a:t>
              </a:r>
            </a:p>
          </p:txBody>
        </p:sp>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F9BF22EE-6C63-4594-6D5C-9762C67D7015}"/>
                    </a:ext>
                  </a:extLst>
                </p:cNvPr>
                <p:cNvSpPr txBox="1"/>
                <p:nvPr/>
              </p:nvSpPr>
              <p:spPr>
                <a:xfrm>
                  <a:off x="1382233" y="4050177"/>
                  <a:ext cx="720000" cy="369332"/>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pt-BR" i="1" smtClean="0">
                                <a:latin typeface="Cambria Math" panose="02040503050406030204" pitchFamily="18" charset="0"/>
                              </a:rPr>
                            </m:ctrlPr>
                          </m:dPr>
                          <m:e>
                            <m:r>
                              <a:rPr lang="pt-BR" b="0" i="1" smtClean="0">
                                <a:latin typeface="Cambria Math" panose="02040503050406030204" pitchFamily="18" charset="0"/>
                              </a:rPr>
                              <m:t>1,0,0</m:t>
                            </m:r>
                          </m:e>
                        </m:d>
                      </m:oMath>
                    </m:oMathPara>
                  </a14:m>
                  <a:endParaRPr lang="pt-BR" dirty="0"/>
                </a:p>
              </p:txBody>
            </p:sp>
          </mc:Choice>
          <mc:Fallback xmlns="">
            <p:sp>
              <p:nvSpPr>
                <p:cNvPr id="15" name="CaixaDeTexto 14">
                  <a:extLst>
                    <a:ext uri="{FF2B5EF4-FFF2-40B4-BE49-F238E27FC236}">
                      <a16:creationId xmlns:a16="http://schemas.microsoft.com/office/drawing/2014/main" id="{F9BF22EE-6C63-4594-6D5C-9762C67D7015}"/>
                    </a:ext>
                  </a:extLst>
                </p:cNvPr>
                <p:cNvSpPr txBox="1">
                  <a:spLocks noRot="1" noChangeAspect="1" noMove="1" noResize="1" noEditPoints="1" noAdjustHandles="1" noChangeArrowheads="1" noChangeShapeType="1" noTextEdit="1"/>
                </p:cNvSpPr>
                <p:nvPr/>
              </p:nvSpPr>
              <p:spPr>
                <a:xfrm>
                  <a:off x="1382233" y="4050177"/>
                  <a:ext cx="720000" cy="369332"/>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89CD4DF6-4803-71CD-14A0-8362AF38ADA3}"/>
                    </a:ext>
                  </a:extLst>
                </p:cNvPr>
                <p:cNvSpPr txBox="1"/>
                <p:nvPr/>
              </p:nvSpPr>
              <p:spPr>
                <a:xfrm>
                  <a:off x="2483943" y="4050177"/>
                  <a:ext cx="720000" cy="369332"/>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pt-BR" i="1" smtClean="0">
                                <a:latin typeface="Cambria Math" panose="02040503050406030204" pitchFamily="18" charset="0"/>
                              </a:rPr>
                            </m:ctrlPr>
                          </m:dPr>
                          <m:e>
                            <m:r>
                              <a:rPr lang="pt-BR" b="0" i="1" smtClean="0">
                                <a:latin typeface="Cambria Math" panose="02040503050406030204" pitchFamily="18" charset="0"/>
                              </a:rPr>
                              <m:t>0,1,0</m:t>
                            </m:r>
                          </m:e>
                        </m:d>
                      </m:oMath>
                    </m:oMathPara>
                  </a14:m>
                  <a:endParaRPr lang="pt-BR" dirty="0"/>
                </a:p>
              </p:txBody>
            </p:sp>
          </mc:Choice>
          <mc:Fallback xmlns="">
            <p:sp>
              <p:nvSpPr>
                <p:cNvPr id="16" name="CaixaDeTexto 15">
                  <a:extLst>
                    <a:ext uri="{FF2B5EF4-FFF2-40B4-BE49-F238E27FC236}">
                      <a16:creationId xmlns:a16="http://schemas.microsoft.com/office/drawing/2014/main" id="{89CD4DF6-4803-71CD-14A0-8362AF38ADA3}"/>
                    </a:ext>
                  </a:extLst>
                </p:cNvPr>
                <p:cNvSpPr txBox="1">
                  <a:spLocks noRot="1" noChangeAspect="1" noMove="1" noResize="1" noEditPoints="1" noAdjustHandles="1" noChangeArrowheads="1" noChangeShapeType="1" noTextEdit="1"/>
                </p:cNvSpPr>
                <p:nvPr/>
              </p:nvSpPr>
              <p:spPr>
                <a:xfrm>
                  <a:off x="2483943" y="4050177"/>
                  <a:ext cx="720000" cy="369332"/>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7" name="CaixaDeTexto 16">
                  <a:extLst>
                    <a:ext uri="{FF2B5EF4-FFF2-40B4-BE49-F238E27FC236}">
                      <a16:creationId xmlns:a16="http://schemas.microsoft.com/office/drawing/2014/main" id="{C58013ED-1F40-DF8D-6894-8059D9E60D75}"/>
                    </a:ext>
                  </a:extLst>
                </p:cNvPr>
                <p:cNvSpPr txBox="1"/>
                <p:nvPr/>
              </p:nvSpPr>
              <p:spPr>
                <a:xfrm>
                  <a:off x="3601423" y="4050177"/>
                  <a:ext cx="720000" cy="369332"/>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pt-BR" i="1" smtClean="0">
                                <a:latin typeface="Cambria Math" panose="02040503050406030204" pitchFamily="18" charset="0"/>
                              </a:rPr>
                            </m:ctrlPr>
                          </m:dPr>
                          <m:e>
                            <m:r>
                              <a:rPr lang="pt-BR" b="0" i="1" smtClean="0">
                                <a:latin typeface="Cambria Math" panose="02040503050406030204" pitchFamily="18" charset="0"/>
                              </a:rPr>
                              <m:t>0,0,1</m:t>
                            </m:r>
                          </m:e>
                        </m:d>
                      </m:oMath>
                    </m:oMathPara>
                  </a14:m>
                  <a:endParaRPr lang="pt-BR" dirty="0"/>
                </a:p>
              </p:txBody>
            </p:sp>
          </mc:Choice>
          <mc:Fallback xmlns="">
            <p:sp>
              <p:nvSpPr>
                <p:cNvPr id="17" name="CaixaDeTexto 16">
                  <a:extLst>
                    <a:ext uri="{FF2B5EF4-FFF2-40B4-BE49-F238E27FC236}">
                      <a16:creationId xmlns:a16="http://schemas.microsoft.com/office/drawing/2014/main" id="{C58013ED-1F40-DF8D-6894-8059D9E60D75}"/>
                    </a:ext>
                  </a:extLst>
                </p:cNvPr>
                <p:cNvSpPr txBox="1">
                  <a:spLocks noRot="1" noChangeAspect="1" noMove="1" noResize="1" noEditPoints="1" noAdjustHandles="1" noChangeArrowheads="1" noChangeShapeType="1" noTextEdit="1"/>
                </p:cNvSpPr>
                <p:nvPr/>
              </p:nvSpPr>
              <p:spPr>
                <a:xfrm>
                  <a:off x="3601423" y="4050177"/>
                  <a:ext cx="720000" cy="369332"/>
                </a:xfrm>
                <a:prstGeom prst="rect">
                  <a:avLst/>
                </a:prstGeom>
                <a:blipFill>
                  <a:blip r:embed="rId5"/>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61060170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96C2A53-74D8-E49C-5ACB-20A8EA43DCD1}"/>
              </a:ext>
            </a:extLst>
          </p:cNvPr>
          <p:cNvSpPr>
            <a:spLocks noGrp="1"/>
          </p:cNvSpPr>
          <p:nvPr>
            <p:ph type="title"/>
          </p:nvPr>
        </p:nvSpPr>
        <p:spPr/>
        <p:txBody>
          <a:bodyPr/>
          <a:lstStyle/>
          <a:p>
            <a:r>
              <a:rPr lang="pt-BR" dirty="0"/>
              <a:t>Entropia</a:t>
            </a:r>
            <a:r>
              <a:rPr lang="pt-BR" b="0" i="0" dirty="0">
                <a:effectLst/>
                <a:latin typeface="+mn-lt"/>
              </a:rPr>
              <a:t> </a:t>
            </a:r>
            <a:r>
              <a:rPr lang="pt-BR" dirty="0"/>
              <a:t>cruzada categórica esparsa</a:t>
            </a:r>
          </a:p>
        </p:txBody>
      </p:sp>
      <p:sp>
        <p:nvSpPr>
          <p:cNvPr id="3" name="Espaço Reservado para Conteúdo 2">
            <a:extLst>
              <a:ext uri="{FF2B5EF4-FFF2-40B4-BE49-F238E27FC236}">
                <a16:creationId xmlns:a16="http://schemas.microsoft.com/office/drawing/2014/main" id="{D7CCA71B-FA7B-C4F0-3F72-04C52F3D33CF}"/>
              </a:ext>
            </a:extLst>
          </p:cNvPr>
          <p:cNvSpPr>
            <a:spLocks noGrp="1"/>
          </p:cNvSpPr>
          <p:nvPr>
            <p:ph idx="1"/>
          </p:nvPr>
        </p:nvSpPr>
        <p:spPr>
          <a:xfrm>
            <a:off x="5938684" y="1825624"/>
            <a:ext cx="6022944" cy="5032375"/>
          </a:xfrm>
        </p:spPr>
        <p:txBody>
          <a:bodyPr>
            <a:normAutofit/>
          </a:bodyPr>
          <a:lstStyle/>
          <a:p>
            <a:r>
              <a:rPr lang="pt-BR" b="0" i="0" dirty="0">
                <a:effectLst/>
              </a:rPr>
              <a:t>Isso </a:t>
            </a:r>
            <a:r>
              <a:rPr lang="pt-BR" b="1" i="1" dirty="0">
                <a:solidFill>
                  <a:srgbClr val="00B050"/>
                </a:solidFill>
                <a:effectLst/>
              </a:rPr>
              <a:t>economiza memória</a:t>
            </a:r>
            <a:r>
              <a:rPr lang="pt-BR" b="0" i="0" dirty="0">
                <a:effectLst/>
              </a:rPr>
              <a:t>, já que apenas </a:t>
            </a:r>
            <a:r>
              <a:rPr lang="pt-BR" b="1" i="1" dirty="0">
                <a:solidFill>
                  <a:srgbClr val="00B050"/>
                </a:solidFill>
                <a:effectLst/>
              </a:rPr>
              <a:t>um valor inteiro é necessário em vez de um vetor </a:t>
            </a:r>
            <a:r>
              <a:rPr lang="pt-BR" b="1" i="1" dirty="0" err="1">
                <a:solidFill>
                  <a:srgbClr val="00B050"/>
                </a:solidFill>
                <a:effectLst/>
              </a:rPr>
              <a:t>one</a:t>
            </a:r>
            <a:r>
              <a:rPr lang="pt-BR" b="1" i="1" dirty="0">
                <a:solidFill>
                  <a:srgbClr val="00B050"/>
                </a:solidFill>
                <a:effectLst/>
              </a:rPr>
              <a:t>-hot</a:t>
            </a:r>
            <a:r>
              <a:rPr lang="pt-BR" b="0" i="0" dirty="0">
                <a:effectLst/>
              </a:rPr>
              <a:t>.</a:t>
            </a:r>
          </a:p>
          <a:p>
            <a:r>
              <a:rPr lang="pt-BR" dirty="0"/>
              <a:t>Além disso, há uma </a:t>
            </a:r>
            <a:r>
              <a:rPr lang="pt-BR" b="1" i="1" dirty="0">
                <a:solidFill>
                  <a:srgbClr val="00B050"/>
                </a:solidFill>
              </a:rPr>
              <a:t>diminuição no tempo de cálculo</a:t>
            </a:r>
            <a:r>
              <a:rPr lang="pt-BR" dirty="0"/>
              <a:t>, já que podemos </a:t>
            </a:r>
            <a:r>
              <a:rPr lang="pt-BR" b="1" i="1" dirty="0">
                <a:solidFill>
                  <a:srgbClr val="0070C0"/>
                </a:solidFill>
              </a:rPr>
              <a:t>indexar diretamente a probabilidade de saída correta através do índice fornecido pelo rótulo</a:t>
            </a:r>
            <a:r>
              <a:rPr lang="pt-BR" dirty="0"/>
              <a:t>.</a:t>
            </a:r>
          </a:p>
          <a:p>
            <a:pPr lvl="1">
              <a:buFont typeface="Wingdings" panose="05000000000000000000" pitchFamily="2" charset="2"/>
              <a:buChar char="§"/>
            </a:pPr>
            <a:r>
              <a:rPr lang="pt-BR" dirty="0"/>
              <a:t>Com isso, evita-se vários cálculos de multiplicação, log e soma.</a:t>
            </a:r>
          </a:p>
        </p:txBody>
      </p:sp>
      <p:grpSp>
        <p:nvGrpSpPr>
          <p:cNvPr id="18" name="Agrupar 17">
            <a:extLst>
              <a:ext uri="{FF2B5EF4-FFF2-40B4-BE49-F238E27FC236}">
                <a16:creationId xmlns:a16="http://schemas.microsoft.com/office/drawing/2014/main" id="{1C75113D-F0D3-40F0-7EB7-3F38C71EEED3}"/>
              </a:ext>
            </a:extLst>
          </p:cNvPr>
          <p:cNvGrpSpPr/>
          <p:nvPr/>
        </p:nvGrpSpPr>
        <p:grpSpPr>
          <a:xfrm>
            <a:off x="272894" y="2711732"/>
            <a:ext cx="4335608" cy="2525685"/>
            <a:chOff x="-14185" y="2032324"/>
            <a:chExt cx="4335608" cy="2525685"/>
          </a:xfrm>
        </p:grpSpPr>
        <p:sp>
          <p:nvSpPr>
            <p:cNvPr id="6" name="Retângulo 5">
              <a:extLst>
                <a:ext uri="{FF2B5EF4-FFF2-40B4-BE49-F238E27FC236}">
                  <a16:creationId xmlns:a16="http://schemas.microsoft.com/office/drawing/2014/main" id="{A2511A0C-A351-8C36-97F4-842C0F8277A1}"/>
                </a:ext>
              </a:extLst>
            </p:cNvPr>
            <p:cNvSpPr/>
            <p:nvPr/>
          </p:nvSpPr>
          <p:spPr>
            <a:xfrm>
              <a:off x="1382233" y="2032324"/>
              <a:ext cx="720000" cy="720000"/>
            </a:xfrm>
            <a:prstGeom prst="rect">
              <a:avLst/>
            </a:prstGeom>
            <a:solidFill>
              <a:srgbClr val="92D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Triângulo isósceles 6">
              <a:extLst>
                <a:ext uri="{FF2B5EF4-FFF2-40B4-BE49-F238E27FC236}">
                  <a16:creationId xmlns:a16="http://schemas.microsoft.com/office/drawing/2014/main" id="{DAA887C1-C5C8-24B2-392D-8533579DC702}"/>
                </a:ext>
              </a:extLst>
            </p:cNvPr>
            <p:cNvSpPr/>
            <p:nvPr/>
          </p:nvSpPr>
          <p:spPr>
            <a:xfrm>
              <a:off x="2477386" y="2032324"/>
              <a:ext cx="720000" cy="720000"/>
            </a:xfrm>
            <a:prstGeom prst="triangle">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7">
              <a:extLst>
                <a:ext uri="{FF2B5EF4-FFF2-40B4-BE49-F238E27FC236}">
                  <a16:creationId xmlns:a16="http://schemas.microsoft.com/office/drawing/2014/main" id="{8A3CDA9F-67CF-C2B4-099A-C5BE81D643DC}"/>
                </a:ext>
              </a:extLst>
            </p:cNvPr>
            <p:cNvSpPr/>
            <p:nvPr/>
          </p:nvSpPr>
          <p:spPr>
            <a:xfrm>
              <a:off x="3572539" y="2032324"/>
              <a:ext cx="720000" cy="720000"/>
            </a:xfrm>
            <a:prstGeom prst="ellipse">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CaixaDeTexto 8">
              <a:extLst>
                <a:ext uri="{FF2B5EF4-FFF2-40B4-BE49-F238E27FC236}">
                  <a16:creationId xmlns:a16="http://schemas.microsoft.com/office/drawing/2014/main" id="{8199A5A8-0A24-4EC2-20A3-98F83377DBFD}"/>
                </a:ext>
              </a:extLst>
            </p:cNvPr>
            <p:cNvSpPr txBox="1"/>
            <p:nvPr/>
          </p:nvSpPr>
          <p:spPr>
            <a:xfrm>
              <a:off x="248087" y="2207658"/>
              <a:ext cx="925033" cy="369332"/>
            </a:xfrm>
            <a:prstGeom prst="rect">
              <a:avLst/>
            </a:prstGeom>
            <a:noFill/>
          </p:spPr>
          <p:txBody>
            <a:bodyPr wrap="square" rtlCol="0">
              <a:spAutoFit/>
            </a:bodyPr>
            <a:lstStyle/>
            <a:p>
              <a:r>
                <a:rPr lang="pt-BR" dirty="0"/>
                <a:t>Classe</a:t>
              </a:r>
            </a:p>
          </p:txBody>
        </p:sp>
        <p:sp>
          <p:nvSpPr>
            <p:cNvPr id="10" name="CaixaDeTexto 9">
              <a:extLst>
                <a:ext uri="{FF2B5EF4-FFF2-40B4-BE49-F238E27FC236}">
                  <a16:creationId xmlns:a16="http://schemas.microsoft.com/office/drawing/2014/main" id="{F55ABC8B-6228-1C4D-A9AB-E0B71E40180A}"/>
                </a:ext>
              </a:extLst>
            </p:cNvPr>
            <p:cNvSpPr txBox="1"/>
            <p:nvPr/>
          </p:nvSpPr>
          <p:spPr>
            <a:xfrm>
              <a:off x="248086" y="3244334"/>
              <a:ext cx="925033" cy="369332"/>
            </a:xfrm>
            <a:prstGeom prst="rect">
              <a:avLst/>
            </a:prstGeom>
            <a:noFill/>
          </p:spPr>
          <p:txBody>
            <a:bodyPr wrap="square" rtlCol="0">
              <a:spAutoFit/>
            </a:bodyPr>
            <a:lstStyle/>
            <a:p>
              <a:r>
                <a:rPr lang="pt-BR" dirty="0"/>
                <a:t>Rótulo</a:t>
              </a:r>
            </a:p>
          </p:txBody>
        </p:sp>
        <p:sp>
          <p:nvSpPr>
            <p:cNvPr id="11" name="CaixaDeTexto 10">
              <a:extLst>
                <a:ext uri="{FF2B5EF4-FFF2-40B4-BE49-F238E27FC236}">
                  <a16:creationId xmlns:a16="http://schemas.microsoft.com/office/drawing/2014/main" id="{11C67FAC-3435-3B5F-95EC-1347224EF4D7}"/>
                </a:ext>
              </a:extLst>
            </p:cNvPr>
            <p:cNvSpPr txBox="1"/>
            <p:nvPr/>
          </p:nvSpPr>
          <p:spPr>
            <a:xfrm>
              <a:off x="-14185" y="3911678"/>
              <a:ext cx="1268822" cy="646331"/>
            </a:xfrm>
            <a:prstGeom prst="rect">
              <a:avLst/>
            </a:prstGeom>
            <a:noFill/>
          </p:spPr>
          <p:txBody>
            <a:bodyPr wrap="square" rtlCol="0">
              <a:spAutoFit/>
            </a:bodyPr>
            <a:lstStyle/>
            <a:p>
              <a:pPr algn="ctr"/>
              <a:r>
                <a:rPr lang="pt-BR" dirty="0"/>
                <a:t>Codificação </a:t>
              </a:r>
              <a:r>
                <a:rPr lang="pt-BR" i="1" dirty="0" err="1"/>
                <a:t>one</a:t>
              </a:r>
              <a:r>
                <a:rPr lang="pt-BR" i="1" dirty="0"/>
                <a:t>-hot</a:t>
              </a:r>
            </a:p>
          </p:txBody>
        </p:sp>
        <p:sp>
          <p:nvSpPr>
            <p:cNvPr id="12" name="CaixaDeTexto 11">
              <a:extLst>
                <a:ext uri="{FF2B5EF4-FFF2-40B4-BE49-F238E27FC236}">
                  <a16:creationId xmlns:a16="http://schemas.microsoft.com/office/drawing/2014/main" id="{2BB958DE-B0F0-6123-72F8-7604263C45EE}"/>
                </a:ext>
              </a:extLst>
            </p:cNvPr>
            <p:cNvSpPr txBox="1"/>
            <p:nvPr/>
          </p:nvSpPr>
          <p:spPr>
            <a:xfrm>
              <a:off x="1382233" y="3244334"/>
              <a:ext cx="720000" cy="369332"/>
            </a:xfrm>
            <a:prstGeom prst="rect">
              <a:avLst/>
            </a:prstGeom>
            <a:noFill/>
          </p:spPr>
          <p:txBody>
            <a:bodyPr wrap="square" rtlCol="0">
              <a:spAutoFit/>
            </a:bodyPr>
            <a:lstStyle/>
            <a:p>
              <a:pPr algn="ctr"/>
              <a:r>
                <a:rPr lang="pt-BR" dirty="0"/>
                <a:t>0</a:t>
              </a:r>
            </a:p>
          </p:txBody>
        </p:sp>
        <p:sp>
          <p:nvSpPr>
            <p:cNvPr id="13" name="CaixaDeTexto 12">
              <a:extLst>
                <a:ext uri="{FF2B5EF4-FFF2-40B4-BE49-F238E27FC236}">
                  <a16:creationId xmlns:a16="http://schemas.microsoft.com/office/drawing/2014/main" id="{85E2DF27-6AAD-6444-FE8C-FA004DBB3D92}"/>
                </a:ext>
              </a:extLst>
            </p:cNvPr>
            <p:cNvSpPr txBox="1"/>
            <p:nvPr/>
          </p:nvSpPr>
          <p:spPr>
            <a:xfrm>
              <a:off x="2483943" y="3244334"/>
              <a:ext cx="720000" cy="369332"/>
            </a:xfrm>
            <a:prstGeom prst="rect">
              <a:avLst/>
            </a:prstGeom>
            <a:noFill/>
          </p:spPr>
          <p:txBody>
            <a:bodyPr wrap="square" rtlCol="0">
              <a:spAutoFit/>
            </a:bodyPr>
            <a:lstStyle/>
            <a:p>
              <a:pPr algn="ctr"/>
              <a:r>
                <a:rPr lang="pt-BR" dirty="0"/>
                <a:t>1</a:t>
              </a:r>
            </a:p>
          </p:txBody>
        </p:sp>
        <p:sp>
          <p:nvSpPr>
            <p:cNvPr id="14" name="CaixaDeTexto 13">
              <a:extLst>
                <a:ext uri="{FF2B5EF4-FFF2-40B4-BE49-F238E27FC236}">
                  <a16:creationId xmlns:a16="http://schemas.microsoft.com/office/drawing/2014/main" id="{A61C1416-031D-5CF6-5262-B4734B088127}"/>
                </a:ext>
              </a:extLst>
            </p:cNvPr>
            <p:cNvSpPr txBox="1"/>
            <p:nvPr/>
          </p:nvSpPr>
          <p:spPr>
            <a:xfrm>
              <a:off x="3601423" y="3244334"/>
              <a:ext cx="720000" cy="369332"/>
            </a:xfrm>
            <a:prstGeom prst="rect">
              <a:avLst/>
            </a:prstGeom>
            <a:noFill/>
          </p:spPr>
          <p:txBody>
            <a:bodyPr wrap="square" rtlCol="0">
              <a:spAutoFit/>
            </a:bodyPr>
            <a:lstStyle/>
            <a:p>
              <a:pPr algn="ctr"/>
              <a:r>
                <a:rPr lang="pt-BR" dirty="0"/>
                <a:t>2</a:t>
              </a:r>
            </a:p>
          </p:txBody>
        </p:sp>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F9BF22EE-6C63-4594-6D5C-9762C67D7015}"/>
                    </a:ext>
                  </a:extLst>
                </p:cNvPr>
                <p:cNvSpPr txBox="1"/>
                <p:nvPr/>
              </p:nvSpPr>
              <p:spPr>
                <a:xfrm>
                  <a:off x="1382233" y="4050177"/>
                  <a:ext cx="720000" cy="369332"/>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pt-BR" i="1" smtClean="0">
                                <a:latin typeface="Cambria Math" panose="02040503050406030204" pitchFamily="18" charset="0"/>
                              </a:rPr>
                            </m:ctrlPr>
                          </m:dPr>
                          <m:e>
                            <m:r>
                              <a:rPr lang="pt-BR" b="0" i="1" smtClean="0">
                                <a:latin typeface="Cambria Math" panose="02040503050406030204" pitchFamily="18" charset="0"/>
                              </a:rPr>
                              <m:t>1,0,0</m:t>
                            </m:r>
                          </m:e>
                        </m:d>
                      </m:oMath>
                    </m:oMathPara>
                  </a14:m>
                  <a:endParaRPr lang="pt-BR" dirty="0"/>
                </a:p>
              </p:txBody>
            </p:sp>
          </mc:Choice>
          <mc:Fallback xmlns="">
            <p:sp>
              <p:nvSpPr>
                <p:cNvPr id="15" name="CaixaDeTexto 14">
                  <a:extLst>
                    <a:ext uri="{FF2B5EF4-FFF2-40B4-BE49-F238E27FC236}">
                      <a16:creationId xmlns:a16="http://schemas.microsoft.com/office/drawing/2014/main" id="{F9BF22EE-6C63-4594-6D5C-9762C67D7015}"/>
                    </a:ext>
                  </a:extLst>
                </p:cNvPr>
                <p:cNvSpPr txBox="1">
                  <a:spLocks noRot="1" noChangeAspect="1" noMove="1" noResize="1" noEditPoints="1" noAdjustHandles="1" noChangeArrowheads="1" noChangeShapeType="1" noTextEdit="1"/>
                </p:cNvSpPr>
                <p:nvPr/>
              </p:nvSpPr>
              <p:spPr>
                <a:xfrm>
                  <a:off x="1382233" y="4050177"/>
                  <a:ext cx="720000" cy="369332"/>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89CD4DF6-4803-71CD-14A0-8362AF38ADA3}"/>
                    </a:ext>
                  </a:extLst>
                </p:cNvPr>
                <p:cNvSpPr txBox="1"/>
                <p:nvPr/>
              </p:nvSpPr>
              <p:spPr>
                <a:xfrm>
                  <a:off x="2483943" y="4050177"/>
                  <a:ext cx="720000" cy="369332"/>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pt-BR" i="1" smtClean="0">
                                <a:latin typeface="Cambria Math" panose="02040503050406030204" pitchFamily="18" charset="0"/>
                              </a:rPr>
                            </m:ctrlPr>
                          </m:dPr>
                          <m:e>
                            <m:r>
                              <a:rPr lang="pt-BR" b="0" i="1" smtClean="0">
                                <a:latin typeface="Cambria Math" panose="02040503050406030204" pitchFamily="18" charset="0"/>
                              </a:rPr>
                              <m:t>0,1,0</m:t>
                            </m:r>
                          </m:e>
                        </m:d>
                      </m:oMath>
                    </m:oMathPara>
                  </a14:m>
                  <a:endParaRPr lang="pt-BR" dirty="0"/>
                </a:p>
              </p:txBody>
            </p:sp>
          </mc:Choice>
          <mc:Fallback xmlns="">
            <p:sp>
              <p:nvSpPr>
                <p:cNvPr id="16" name="CaixaDeTexto 15">
                  <a:extLst>
                    <a:ext uri="{FF2B5EF4-FFF2-40B4-BE49-F238E27FC236}">
                      <a16:creationId xmlns:a16="http://schemas.microsoft.com/office/drawing/2014/main" id="{89CD4DF6-4803-71CD-14A0-8362AF38ADA3}"/>
                    </a:ext>
                  </a:extLst>
                </p:cNvPr>
                <p:cNvSpPr txBox="1">
                  <a:spLocks noRot="1" noChangeAspect="1" noMove="1" noResize="1" noEditPoints="1" noAdjustHandles="1" noChangeArrowheads="1" noChangeShapeType="1" noTextEdit="1"/>
                </p:cNvSpPr>
                <p:nvPr/>
              </p:nvSpPr>
              <p:spPr>
                <a:xfrm>
                  <a:off x="2483943" y="4050177"/>
                  <a:ext cx="720000" cy="369332"/>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7" name="CaixaDeTexto 16">
                  <a:extLst>
                    <a:ext uri="{FF2B5EF4-FFF2-40B4-BE49-F238E27FC236}">
                      <a16:creationId xmlns:a16="http://schemas.microsoft.com/office/drawing/2014/main" id="{C58013ED-1F40-DF8D-6894-8059D9E60D75}"/>
                    </a:ext>
                  </a:extLst>
                </p:cNvPr>
                <p:cNvSpPr txBox="1"/>
                <p:nvPr/>
              </p:nvSpPr>
              <p:spPr>
                <a:xfrm>
                  <a:off x="3601423" y="4050177"/>
                  <a:ext cx="720000" cy="369332"/>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pt-BR" i="1" smtClean="0">
                                <a:latin typeface="Cambria Math" panose="02040503050406030204" pitchFamily="18" charset="0"/>
                              </a:rPr>
                            </m:ctrlPr>
                          </m:dPr>
                          <m:e>
                            <m:r>
                              <a:rPr lang="pt-BR" b="0" i="1" smtClean="0">
                                <a:latin typeface="Cambria Math" panose="02040503050406030204" pitchFamily="18" charset="0"/>
                              </a:rPr>
                              <m:t>0,0,1</m:t>
                            </m:r>
                          </m:e>
                        </m:d>
                      </m:oMath>
                    </m:oMathPara>
                  </a14:m>
                  <a:endParaRPr lang="pt-BR" dirty="0"/>
                </a:p>
              </p:txBody>
            </p:sp>
          </mc:Choice>
          <mc:Fallback xmlns="">
            <p:sp>
              <p:nvSpPr>
                <p:cNvPr id="17" name="CaixaDeTexto 16">
                  <a:extLst>
                    <a:ext uri="{FF2B5EF4-FFF2-40B4-BE49-F238E27FC236}">
                      <a16:creationId xmlns:a16="http://schemas.microsoft.com/office/drawing/2014/main" id="{C58013ED-1F40-DF8D-6894-8059D9E60D75}"/>
                    </a:ext>
                  </a:extLst>
                </p:cNvPr>
                <p:cNvSpPr txBox="1">
                  <a:spLocks noRot="1" noChangeAspect="1" noMove="1" noResize="1" noEditPoints="1" noAdjustHandles="1" noChangeArrowheads="1" noChangeShapeType="1" noTextEdit="1"/>
                </p:cNvSpPr>
                <p:nvPr/>
              </p:nvSpPr>
              <p:spPr>
                <a:xfrm>
                  <a:off x="3601423" y="4050177"/>
                  <a:ext cx="720000" cy="369332"/>
                </a:xfrm>
                <a:prstGeom prst="rect">
                  <a:avLst/>
                </a:prstGeom>
                <a:blipFill>
                  <a:blip r:embed="rId5"/>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407320249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3129CB-DD74-6458-C483-13C1F6CC8AC0}"/>
              </a:ext>
            </a:extLst>
          </p:cNvPr>
          <p:cNvSpPr>
            <a:spLocks noGrp="1"/>
          </p:cNvSpPr>
          <p:nvPr>
            <p:ph type="title"/>
          </p:nvPr>
        </p:nvSpPr>
        <p:spPr/>
        <p:txBody>
          <a:bodyPr/>
          <a:lstStyle/>
          <a:p>
            <a:endParaRPr lang="en-US"/>
          </a:p>
        </p:txBody>
      </p:sp>
      <p:pic>
        <p:nvPicPr>
          <p:cNvPr id="1026" name="Picture 2" descr="SoftmaxRegression: Multiclass version of logistic regression - mlxtend">
            <a:extLst>
              <a:ext uri="{FF2B5EF4-FFF2-40B4-BE49-F238E27FC236}">
                <a16:creationId xmlns:a16="http://schemas.microsoft.com/office/drawing/2014/main" id="{65016EAD-25DD-EBF2-4113-C9BFF5E8543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86038" y="2343150"/>
            <a:ext cx="5219019" cy="39802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0339249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9480</TotalTime>
  <Words>5070</Words>
  <Application>Microsoft Office PowerPoint</Application>
  <PresentationFormat>Widescreen</PresentationFormat>
  <Paragraphs>301</Paragraphs>
  <Slides>30</Slides>
  <Notes>18</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30</vt:i4>
      </vt:variant>
    </vt:vector>
  </HeadingPairs>
  <TitlesOfParts>
    <vt:vector size="39" baseType="lpstr">
      <vt:lpstr>-apple-system</vt:lpstr>
      <vt:lpstr>Arial</vt:lpstr>
      <vt:lpstr>Calibri</vt:lpstr>
      <vt:lpstr>Calibri Light</vt:lpstr>
      <vt:lpstr>Cambria Math</vt:lpstr>
      <vt:lpstr>CambriaMath</vt:lpstr>
      <vt:lpstr>Söhne</vt:lpstr>
      <vt:lpstr>Wingdings</vt:lpstr>
      <vt:lpstr>Tema do Office</vt:lpstr>
      <vt:lpstr>C24 – Inteligência Artificial: Regressor Softmax</vt:lpstr>
      <vt:lpstr>Casos multiclasses</vt:lpstr>
      <vt:lpstr>Casos multiclasses</vt:lpstr>
      <vt:lpstr>PowerPoint Presentation</vt:lpstr>
      <vt:lpstr>Regressor softmax</vt:lpstr>
      <vt:lpstr>Regressor softmax</vt:lpstr>
      <vt:lpstr>Regressor softmax</vt:lpstr>
      <vt:lpstr>Função de ativação softmax</vt:lpstr>
      <vt:lpstr>Função de ativação softmax</vt:lpstr>
      <vt:lpstr>Função de ativação softmax</vt:lpstr>
      <vt:lpstr>Função de ativação softmax</vt:lpstr>
      <vt:lpstr>Função de erro</vt:lpstr>
      <vt:lpstr>Função de erro</vt:lpstr>
      <vt:lpstr>Função de erro</vt:lpstr>
      <vt:lpstr>PowerPoint Presentation</vt:lpstr>
      <vt:lpstr>Regressor softmax</vt:lpstr>
      <vt:lpstr>Regressor softmax</vt:lpstr>
      <vt:lpstr>Regressor softmax</vt:lpstr>
      <vt:lpstr>Regressor softmax</vt:lpstr>
      <vt:lpstr>Regressor softmax</vt:lpstr>
      <vt:lpstr>Regressor softmax</vt:lpstr>
      <vt:lpstr>Regressor softmax</vt:lpstr>
      <vt:lpstr>Regressor softmax</vt:lpstr>
      <vt:lpstr>Regressor softmax</vt:lpstr>
      <vt:lpstr>PowerPoint Presentation</vt:lpstr>
      <vt:lpstr>Entropia cruzada categórica esparsa</vt:lpstr>
      <vt:lpstr>Entropia cruzada categórica esparsa</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1764</cp:revision>
  <dcterms:created xsi:type="dcterms:W3CDTF">2020-01-20T13:50:05Z</dcterms:created>
  <dcterms:modified xsi:type="dcterms:W3CDTF">2026-02-26T14:40:06Z</dcterms:modified>
</cp:coreProperties>
</file>