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handoutMasterIdLst>
    <p:handoutMasterId r:id="rId26"/>
  </p:handoutMasterIdLst>
  <p:sldIdLst>
    <p:sldId id="256" r:id="rId2"/>
    <p:sldId id="325" r:id="rId3"/>
    <p:sldId id="474" r:id="rId4"/>
    <p:sldId id="498" r:id="rId5"/>
    <p:sldId id="499" r:id="rId6"/>
    <p:sldId id="500" r:id="rId7"/>
    <p:sldId id="501" r:id="rId8"/>
    <p:sldId id="502" r:id="rId9"/>
    <p:sldId id="503" r:id="rId10"/>
    <p:sldId id="504" r:id="rId11"/>
    <p:sldId id="505" r:id="rId12"/>
    <p:sldId id="506" r:id="rId13"/>
    <p:sldId id="507" r:id="rId14"/>
    <p:sldId id="508" r:id="rId15"/>
    <p:sldId id="509" r:id="rId16"/>
    <p:sldId id="510" r:id="rId17"/>
    <p:sldId id="511" r:id="rId18"/>
    <p:sldId id="512" r:id="rId19"/>
    <p:sldId id="513" r:id="rId20"/>
    <p:sldId id="456" r:id="rId21"/>
    <p:sldId id="457" r:id="rId22"/>
    <p:sldId id="293" r:id="rId23"/>
    <p:sldId id="306" r:id="rId24"/>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90315" autoAdjust="0"/>
  </p:normalViewPr>
  <p:slideViewPr>
    <p:cSldViewPr snapToGrid="0">
      <p:cViewPr varScale="1">
        <p:scale>
          <a:sx n="100" d="100"/>
          <a:sy n="100" d="100"/>
        </p:scale>
        <p:origin x="121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6/04/2026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06/04/2026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16978169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1" kern="1200" dirty="0">
                <a:solidFill>
                  <a:schemeClr val="tx1"/>
                </a:solidFill>
                <a:effectLst/>
                <a:latin typeface="+mn-lt"/>
                <a:ea typeface="+mn-ea"/>
                <a:cs typeface="+mn-cs"/>
              </a:rPr>
              <a:t>Exemplos de classes não mutuamente exclusivas:</a:t>
            </a:r>
          </a:p>
          <a:p>
            <a:r>
              <a:rPr lang="pt-BR" sz="1200" b="1" i="0" kern="1200" dirty="0">
                <a:solidFill>
                  <a:schemeClr val="tx1"/>
                </a:solidFill>
                <a:effectLst/>
                <a:latin typeface="+mn-lt"/>
                <a:ea typeface="+mn-ea"/>
                <a:cs typeface="+mn-cs"/>
              </a:rPr>
              <a:t>Classificação de documentos por tópicos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documento pode ser sobre "Política", "Economia" e "Saúde" ao mesmo tempo.</a:t>
            </a:r>
          </a:p>
          <a:p>
            <a:r>
              <a:rPr lang="pt-BR" sz="1200" b="1" i="0" kern="1200" dirty="0">
                <a:solidFill>
                  <a:schemeClr val="tx1"/>
                </a:solidFill>
                <a:effectLst/>
                <a:latin typeface="+mn-lt"/>
                <a:ea typeface="+mn-ea"/>
                <a:cs typeface="+mn-cs"/>
              </a:rPr>
              <a:t>Reconhecimento de objetos em imagens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imagem pode conter "gato", "cão" e "árvore" simultaneamente.</a:t>
            </a:r>
          </a:p>
          <a:p>
            <a:r>
              <a:rPr lang="pt-BR" sz="1200" b="1" i="0" kern="1200" dirty="0">
                <a:solidFill>
                  <a:schemeClr val="tx1"/>
                </a:solidFill>
                <a:effectLst/>
                <a:latin typeface="+mn-lt"/>
                <a:ea typeface="+mn-ea"/>
                <a:cs typeface="+mn-cs"/>
              </a:rPr>
              <a:t>Sistema de recomendação de filmes por gêneros</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filme pode ser classificado como "Comédia", "Romance" e "Drama".</a:t>
            </a:r>
          </a:p>
          <a:p>
            <a:r>
              <a:rPr lang="pt-BR" sz="1200" b="1" i="0" kern="1200" dirty="0">
                <a:solidFill>
                  <a:schemeClr val="tx1"/>
                </a:solidFill>
                <a:effectLst/>
                <a:latin typeface="+mn-lt"/>
                <a:ea typeface="+mn-ea"/>
                <a:cs typeface="+mn-cs"/>
              </a:rPr>
              <a:t>Diagnóstico médico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paciente pode ter múltiplas doenças: "diabetes", "hipertensão" e "asma".</a:t>
            </a:r>
          </a:p>
          <a:p>
            <a:r>
              <a:rPr lang="pt-BR" sz="1200" b="1" i="0" kern="1200" dirty="0">
                <a:solidFill>
                  <a:schemeClr val="tx1"/>
                </a:solidFill>
                <a:effectLst/>
                <a:latin typeface="+mn-lt"/>
                <a:ea typeface="+mn-ea"/>
                <a:cs typeface="+mn-cs"/>
              </a:rPr>
              <a:t>Análise de sentimentos em texto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texto pode expressar "alegria", "surpresa" e "raiva" ao mesmo tempo.</a:t>
            </a:r>
          </a:p>
          <a:p>
            <a:r>
              <a:rPr lang="pt-BR" sz="1200" b="1" i="0" kern="1200" dirty="0" err="1">
                <a:solidFill>
                  <a:schemeClr val="tx1"/>
                </a:solidFill>
                <a:effectLst/>
                <a:latin typeface="+mn-lt"/>
                <a:ea typeface="+mn-ea"/>
                <a:cs typeface="+mn-cs"/>
              </a:rPr>
              <a:t>Tags</a:t>
            </a:r>
            <a:r>
              <a:rPr lang="pt-BR" sz="1200" b="1" i="0" kern="1200" dirty="0">
                <a:solidFill>
                  <a:schemeClr val="tx1"/>
                </a:solidFill>
                <a:effectLst/>
                <a:latin typeface="+mn-lt"/>
                <a:ea typeface="+mn-ea"/>
                <a:cs typeface="+mn-cs"/>
              </a:rPr>
              <a:t> em produtos de e-commerce</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produto pode ter </a:t>
            </a:r>
            <a:r>
              <a:rPr lang="pt-BR" sz="1200" b="0" i="0" kern="1200" dirty="0" err="1">
                <a:solidFill>
                  <a:schemeClr val="tx1"/>
                </a:solidFill>
                <a:effectLst/>
                <a:latin typeface="+mn-lt"/>
                <a:ea typeface="+mn-ea"/>
                <a:cs typeface="+mn-cs"/>
              </a:rPr>
              <a:t>tags</a:t>
            </a:r>
            <a:r>
              <a:rPr lang="pt-BR" sz="1200" b="0" i="0" kern="1200" dirty="0">
                <a:solidFill>
                  <a:schemeClr val="tx1"/>
                </a:solidFill>
                <a:effectLst/>
                <a:latin typeface="+mn-lt"/>
                <a:ea typeface="+mn-ea"/>
                <a:cs typeface="+mn-cs"/>
              </a:rPr>
              <a:t> como "barato", "ecológico", "promoção" e "novidade".</a:t>
            </a:r>
          </a:p>
          <a:p>
            <a:r>
              <a:rPr lang="pt-BR" sz="1200" b="1" i="0" kern="1200" dirty="0">
                <a:solidFill>
                  <a:schemeClr val="tx1"/>
                </a:solidFill>
                <a:effectLst/>
                <a:latin typeface="+mn-lt"/>
                <a:ea typeface="+mn-ea"/>
                <a:cs typeface="+mn-cs"/>
              </a:rPr>
              <a:t>Classificação de músicas por gênero</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música pode ser "rock", "eletrônica" e "experimental" simultaneamente.</a:t>
            </a:r>
          </a:p>
          <a:p>
            <a:br>
              <a:rPr lang="pt-BR" dirty="0"/>
            </a:br>
            <a:br>
              <a:rPr lang="pt-BR" dirty="0"/>
            </a:br>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35959977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4774573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14:m>
                  <m:oMath xmlns:m="http://schemas.openxmlformats.org/officeDocument/2006/math">
                    <m:r>
                      <a:rPr lang="pt-BR" i="1">
                        <a:latin typeface="Cambria Math" panose="02040503050406030204" pitchFamily="18" charset="0"/>
                      </a:rPr>
                      <m:t>𝑄</m:t>
                    </m:r>
                  </m:oMath>
                </a14:m>
                <a:r>
                  <a:rPr lang="pt-BR" dirty="0"/>
                  <a:t> saídas seja igual a 1.</a:t>
                </a:r>
              </a:p>
              <a:p>
                <a:pPr algn="l"/>
                <a:endParaRPr lang="pt-BR" b="0" i="0" dirty="0">
                  <a:solidFill>
                    <a:srgbClr val="374151"/>
                  </a:solidFill>
                  <a:effectLst/>
                  <a:latin typeface="Söhne"/>
                </a:endParaRPr>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smtClean="0"/>
                  <a:t>O </a:t>
                </a:r>
                <a:r>
                  <a:rPr lang="pt-BR" dirty="0"/>
                  <a:t>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r>
                  <a:rPr lang="pt-BR" i="0">
                    <a:latin typeface="Cambria Math" panose="02040503050406030204" pitchFamily="18" charset="0"/>
                  </a:rPr>
                  <a:t>𝑄</a:t>
                </a:r>
                <a:r>
                  <a:rPr lang="pt-BR" dirty="0"/>
                  <a:t> saídas seja igual a </a:t>
                </a:r>
                <a:r>
                  <a:rPr lang="pt-BR" dirty="0" smtClean="0"/>
                  <a:t>1.</a:t>
                </a:r>
                <a:endParaRPr lang="pt-BR" dirty="0"/>
              </a:p>
              <a:p>
                <a:pPr algn="l"/>
                <a:endParaRPr lang="pt-BR" b="0" i="0" dirty="0">
                  <a:solidFill>
                    <a:srgbClr val="374151"/>
                  </a:solidFill>
                  <a:effectLst/>
                  <a:latin typeface="Söhne"/>
                </a:endParaRPr>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33345101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uma tarefa de aprendizado de máquina em que um modelo é treinado para atribuir múltiplas etiquetas a uma única instância de dados. Em outras palavras, cada exemplo de entrada pode ser associado a mais de uma classe ou categoria ao mesmo tempo. Isso difere da classificação </a:t>
            </a:r>
            <a:r>
              <a:rPr lang="pt-BR" b="0" i="0" dirty="0" err="1">
                <a:solidFill>
                  <a:srgbClr val="374151"/>
                </a:solidFill>
                <a:effectLst/>
                <a:latin typeface="Söhne"/>
              </a:rPr>
              <a:t>multiclasse</a:t>
            </a:r>
            <a:r>
              <a:rPr lang="pt-BR" b="0" i="0" dirty="0">
                <a:solidFill>
                  <a:srgbClr val="374151"/>
                </a:solidFill>
                <a:effectLst/>
                <a:latin typeface="Söhne"/>
              </a:rPr>
              <a:t>, onde cada exemplo é atribuído a uma única classe exclusiva.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frequentemente usada em situações em que os dados podem pertencer a várias categorias simultaneamente. Por exemplo, na análise de texto, um modelo pode ser treinado para categorizar um artigo em tópicos múltiplos, como "tecnologia", "ciência" e "saúde", tudo ao mesmo tempo.</a:t>
            </a:r>
          </a:p>
          <a:p>
            <a:pPr algn="l"/>
            <a:endParaRPr lang="pt-BR" b="0" i="0" dirty="0">
              <a:solidFill>
                <a:srgbClr val="374151"/>
              </a:solidFill>
              <a:effectLst/>
              <a:latin typeface="Söhne"/>
            </a:endParaRPr>
          </a:p>
          <a:p>
            <a:pPr algn="l"/>
            <a:r>
              <a:rPr lang="pt-BR" b="0" i="0" dirty="0">
                <a:solidFill>
                  <a:srgbClr val="374151"/>
                </a:solidFill>
                <a:effectLst/>
                <a:latin typeface="Söhne"/>
              </a:rPr>
              <a:t>Para lidar com a classificação </a:t>
            </a:r>
            <a:r>
              <a:rPr lang="pt-BR" b="0" i="0" dirty="0" err="1">
                <a:solidFill>
                  <a:srgbClr val="374151"/>
                </a:solidFill>
                <a:effectLst/>
                <a:latin typeface="Söhne"/>
              </a:rPr>
              <a:t>multilabel</a:t>
            </a:r>
            <a:r>
              <a:rPr lang="pt-BR" b="0" i="0" dirty="0">
                <a:solidFill>
                  <a:srgbClr val="374151"/>
                </a:solidFill>
                <a:effectLst/>
                <a:latin typeface="Söhne"/>
              </a:rPr>
              <a:t>, as funções de ativação na camada de saída da rede neural devem ser escolhidas de acordo com o problema. A função de ativação mais comum nesse contexto é a </a:t>
            </a:r>
            <a:r>
              <a:rPr lang="pt-BR" b="0" i="0" dirty="0" err="1">
                <a:solidFill>
                  <a:srgbClr val="374151"/>
                </a:solidFill>
                <a:effectLst/>
                <a:latin typeface="Söhne"/>
              </a:rPr>
              <a:t>sigmoid</a:t>
            </a:r>
            <a:r>
              <a:rPr lang="pt-BR" b="0" i="0" dirty="0">
                <a:solidFill>
                  <a:srgbClr val="374151"/>
                </a:solidFill>
                <a:effectLst/>
                <a:latin typeface="Söhne"/>
              </a:rPr>
              <a:t>, que produz saídas entre 0 e 1, representando as probabilidades de pertencer a cada classe individual.</a:t>
            </a:r>
          </a:p>
          <a:p>
            <a:pPr algn="l"/>
            <a:endParaRPr lang="pt-BR" b="0" i="0" dirty="0">
              <a:solidFill>
                <a:srgbClr val="374151"/>
              </a:solidFill>
              <a:effectLst/>
              <a:latin typeface="Söhne"/>
            </a:endParaRPr>
          </a:p>
          <a:p>
            <a:pPr algn="l"/>
            <a:r>
              <a:rPr lang="pt-BR" b="0" i="0" dirty="0">
                <a:solidFill>
                  <a:srgbClr val="374151"/>
                </a:solidFill>
                <a:effectLst/>
                <a:latin typeface="Söhne"/>
              </a:rPr>
              <a:t>No treinamento, uma abordagem comum é usar a função de perda de entropia cruzada binária (</a:t>
            </a:r>
            <a:r>
              <a:rPr lang="pt-BR" b="0" i="0" dirty="0" err="1">
                <a:solidFill>
                  <a:srgbClr val="374151"/>
                </a:solidFill>
                <a:effectLst/>
                <a:latin typeface="Söhne"/>
              </a:rPr>
              <a:t>Binary</a:t>
            </a:r>
            <a:r>
              <a:rPr lang="pt-BR" b="0" i="0" dirty="0">
                <a:solidFill>
                  <a:srgbClr val="374151"/>
                </a:solidFill>
                <a:effectLst/>
                <a:latin typeface="Söhne"/>
              </a:rPr>
              <a:t> Cross-</a:t>
            </a:r>
            <a:r>
              <a:rPr lang="pt-BR" b="0" i="0" dirty="0" err="1">
                <a:solidFill>
                  <a:srgbClr val="374151"/>
                </a:solidFill>
                <a:effectLst/>
                <a:latin typeface="Söhne"/>
              </a:rPr>
              <a:t>Entropy</a:t>
            </a:r>
            <a:r>
              <a:rPr lang="pt-BR" b="0" i="0" dirty="0">
                <a:solidFill>
                  <a:srgbClr val="374151"/>
                </a:solidFill>
                <a:effectLst/>
                <a:latin typeface="Söhne"/>
              </a:rPr>
              <a:t>) para cada etiqueta individual. Cada etiqueta é tratada como uma tarefa de classificação binária, onde a perda é calculada entre a saída prevista e o valor real (0 ou 1) para cada etiqueta.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aplicada em várias áreas, como análise de texto, processamento de linguagem natural, bioinformática e sistemas de recomendação, onde os dados podem ser associados a múltiplas categorias simultaneamente.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3691316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4689522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15716462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12940999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sz="1200" i="1" smtClean="0">
                            <a:latin typeface="Cambria Math" panose="02040503050406030204" pitchFamily="18" charset="0"/>
                          </a:rPr>
                        </m:ctrlPr>
                      </m:sSubPr>
                      <m:e>
                        <m:r>
                          <a:rPr lang="pt-BR" sz="1200" b="1" i="1">
                            <a:latin typeface="Cambria Math" panose="02040503050406030204" pitchFamily="18" charset="0"/>
                          </a:rPr>
                          <m:t>𝒚</m:t>
                        </m:r>
                      </m:e>
                      <m:sub>
                        <m:r>
                          <a:rPr lang="pt-BR" sz="1200" b="0" i="1" smtClean="0">
                            <a:latin typeface="Cambria Math" panose="02040503050406030204" pitchFamily="18" charset="0"/>
                          </a:rPr>
                          <m:t>𝑞</m:t>
                        </m:r>
                      </m:sub>
                    </m:sSub>
                  </m:oMath>
                </a14:m>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14:m>
                  <m:oMath xmlns:m="http://schemas.openxmlformats.org/officeDocument/2006/math">
                    <m:sSub>
                      <m:sSubPr>
                        <m:ctrlPr>
                          <a:rPr lang="pt-BR" sz="1200" i="1" smtClean="0">
                            <a:latin typeface="Cambria Math" panose="02040503050406030204" pitchFamily="18" charset="0"/>
                          </a:rPr>
                        </m:ctrlPr>
                      </m:sSubPr>
                      <m:e>
                        <m:acc>
                          <m:accPr>
                            <m:chr m:val="̂"/>
                            <m:ctrlPr>
                              <a:rPr lang="pt-BR" sz="1200" i="1">
                                <a:latin typeface="Cambria Math" panose="02040503050406030204" pitchFamily="18" charset="0"/>
                              </a:rPr>
                            </m:ctrlPr>
                          </m:accPr>
                          <m:e>
                            <m:r>
                              <a:rPr lang="pt-BR" sz="1200" b="1" i="1">
                                <a:latin typeface="Cambria Math" panose="02040503050406030204" pitchFamily="18" charset="0"/>
                              </a:rPr>
                              <m:t>𝒚</m:t>
                            </m:r>
                          </m:e>
                        </m:acc>
                      </m:e>
                      <m:sub>
                        <m:r>
                          <a:rPr lang="pt-BR" sz="1200" b="0" i="1" smtClean="0">
                            <a:latin typeface="Cambria Math" panose="02040503050406030204" pitchFamily="18" charset="0"/>
                          </a:rPr>
                          <m:t>𝑞</m:t>
                        </m:r>
                      </m:sub>
                    </m:sSub>
                  </m:oMath>
                </a14:m>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endParaRPr lang="pt-BR" baseline="0" dirty="0"/>
              </a:p>
              <a:p>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a:latin typeface="Cambria Math" panose="02040503050406030204" pitchFamily="18" charset="0"/>
                  </a:rPr>
                  <a:t>𝒚_</a:t>
                </a:r>
                <a:r>
                  <a:rPr lang="pt-BR" sz="1200" b="0" i="0">
                    <a:latin typeface="Cambria Math" panose="02040503050406030204" pitchFamily="18" charset="0"/>
                  </a:rPr>
                  <a:t>𝑞</a:t>
                </a:r>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pPr/>
                <a:r>
                  <a:rPr lang="pt-BR" sz="1200" b="1" i="0">
                    <a:latin typeface="Cambria Math" panose="02040503050406030204" pitchFamily="18" charset="0"/>
                  </a:rPr>
                  <a:t>𝒚 ̂_</a:t>
                </a:r>
                <a:r>
                  <a:rPr lang="pt-BR" sz="1200" b="0" i="0">
                    <a:latin typeface="Cambria Math" panose="02040503050406030204" pitchFamily="18" charset="0"/>
                  </a:rPr>
                  <a:t>𝑞</a:t>
                </a:r>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pPr/>
                <a:endParaRPr lang="pt-BR" baseline="0" dirty="0"/>
              </a:p>
              <a:p>
                <a:pPr/>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267966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39754578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regressor softmax, normalizamos as combinações de atributos de entrada para transformar as pontuações brutas (ou combinações) em probabilidades. Existem boas razões para isso: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Interpretação Probabilística:</a:t>
            </a:r>
            <a:r>
              <a:rPr lang="pt-BR" b="0" i="0" dirty="0">
                <a:solidFill>
                  <a:srgbClr val="374151"/>
                </a:solidFill>
                <a:effectLst/>
                <a:latin typeface="Söhne"/>
              </a:rPr>
              <a:t> O regressor softmax é comumente usado em problemas de classificação </a:t>
            </a:r>
            <a:r>
              <a:rPr lang="pt-BR" b="0" i="0" dirty="0" err="1">
                <a:solidFill>
                  <a:srgbClr val="374151"/>
                </a:solidFill>
                <a:effectLst/>
                <a:latin typeface="Söhne"/>
              </a:rPr>
              <a:t>multiclasse</a:t>
            </a:r>
            <a:r>
              <a:rPr lang="pt-BR" b="0" i="0" dirty="0">
                <a:solidFill>
                  <a:srgbClr val="374151"/>
                </a:solidFill>
                <a:effectLst/>
                <a:latin typeface="Söhne"/>
              </a:rPr>
              <a:t>, onde você deseja atribuir uma probabilidade para cada classe possível. Normalizando as combinações de atributos em probabilidades, você obtém uma interpretação probabilística direta dos resultados. Isso significa que as saídas do regressor representam a probabilidade de pertencer a cada classe.</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Escalas de Saída Consistentes:</a:t>
            </a:r>
            <a:r>
              <a:rPr lang="pt-BR" b="0" i="0" dirty="0">
                <a:solidFill>
                  <a:srgbClr val="374151"/>
                </a:solidFill>
                <a:effectLst/>
                <a:latin typeface="Söhne"/>
              </a:rPr>
              <a:t> Normalizar as saídas garante que elas estejam na mesma escala (entre 0 e 1) e somem para 1. Isso facilita a comparação das probabilidades e a tomada de decisões com base nas saídas do modelo.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Função de Perda Adequada:</a:t>
            </a:r>
            <a:r>
              <a:rPr lang="pt-BR" b="0" i="0" dirty="0">
                <a:solidFill>
                  <a:srgbClr val="374151"/>
                </a:solidFill>
                <a:effectLst/>
                <a:latin typeface="Söhne"/>
              </a:rPr>
              <a:t> A normalização das saídas é fundamental para o cálculo da função de perda adequada, que é usada durante o treinamento para ajustar os pesos do modelo. A função de perda geralmente é formulada com base nas probabilidades previstas e nas probabilidades reais das classes.</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Estabilidade Numérica:</a:t>
            </a:r>
            <a:r>
              <a:rPr lang="pt-BR" b="0" i="0" dirty="0">
                <a:solidFill>
                  <a:srgbClr val="374151"/>
                </a:solidFill>
                <a:effectLst/>
                <a:latin typeface="Söhne"/>
              </a:rPr>
              <a:t> Normalizar as combinações de atributos ajuda a evitar problemas de estabilidade numérica, especialmente quando as combinações podem ser grandes números. Isso ocorre porque a exponenciação de grandes valores pode resultar em números muito grandes, levando a instabilidade computacional. A normalização ajuda a controlar isso.</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normalização das combinações de atributos no regressor softmax é fundamental para garantir que as saídas do modelo sejam interpretáveis como probabilidades e para garantir um treinamento estável e adequado. Usar as próprias combinações sem normalização não forneceria as probabilidades desejadas e levaria a problemas de interpretação e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960469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14:m>
                  <m:oMath xmlns:m="http://schemas.openxmlformats.org/officeDocument/2006/math">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a:p>
                <a:endParaRPr lang="pt-BR" b="1" dirty="0"/>
              </a:p>
              <a:p>
                <a:endParaRPr lang="pt-BR" dirty="0"/>
              </a:p>
            </p:txBody>
          </p:sp>
        </mc:Choice>
        <mc:Fallback xmlns="">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r>
                  <a:rPr lang="pt-BR" i="0">
                    <a:latin typeface="Cambria Math" panose="02040503050406030204" pitchFamily="18" charset="0"/>
                  </a:rPr>
                  <a:t>〖</a:t>
                </a:r>
                <a:r>
                  <a:rPr lang="pt-BR" b="1" i="0">
                    <a:latin typeface="Cambria Math" panose="02040503050406030204" pitchFamily="18" charset="0"/>
                  </a:rPr>
                  <a:t>𝒙</a:t>
                </a:r>
                <a:r>
                  <a:rPr lang="pt-BR" i="0">
                    <a:latin typeface="Cambria Math" panose="02040503050406030204" pitchFamily="18" charset="0"/>
                  </a:rPr>
                  <a:t>(𝑖)〗^𝑇</a:t>
                </a:r>
                <a:r>
                  <a:rPr lang="pt-BR" b="1" i="0">
                    <a:latin typeface="Cambria Math" panose="02040503050406030204" pitchFamily="18" charset="0"/>
                  </a:rPr>
                  <a:t> 𝒂_</a:t>
                </a:r>
                <a:r>
                  <a:rPr lang="pt-BR" i="0">
                    <a:latin typeface="Cambria Math" panose="02040503050406030204" pitchFamily="18" charset="0"/>
                  </a:rPr>
                  <a:t>𝑞</a:t>
                </a:r>
                <a:r>
                  <a:rPr lang="pt-BR" dirty="0"/>
                  <a:t>).</a:t>
                </a:r>
              </a:p>
              <a:p>
                <a:endParaRPr lang="pt-BR" b="1"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6676947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rPr>
              <a:t>https://colab.research.google.com/github/zz4fap/c24_inteligencia_artificial/blob/master/notebooks/regressor_softmax.ipynb</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06/04/2026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06/04/2026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NULL"/><Relationship Id="rId1" Type="http://schemas.openxmlformats.org/officeDocument/2006/relationships/slideLayout" Target="../slideLayouts/slideLayout2.xml"/><Relationship Id="rId4" Type="http://schemas.openxmlformats.org/officeDocument/2006/relationships/image" Target="NULL"/></Relationships>
</file>

<file path=ppt/slides/_rels/slide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or_softmax.ipynb"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jpeg"/><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err="1"/>
              <a:t>Regressor</a:t>
            </a:r>
            <a:r>
              <a:rPr lang="pt-BR" sz="7200" b="1" i="1" dirty="0"/>
              <a:t> </a:t>
            </a:r>
            <a:r>
              <a:rPr lang="pt-BR" sz="7200" b="1" i="1" dirty="0" err="1"/>
              <a:t>Softmax</a:t>
            </a:r>
            <a:endParaRPr lang="pt-BR" sz="7200" b="1" i="1" dirty="0"/>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38799" y="1784680"/>
                <a:ext cx="6444343" cy="5073320"/>
              </a:xfrm>
            </p:spPr>
            <p:txBody>
              <a:bodyPr>
                <a:normAutofit/>
              </a:bodyPr>
              <a:lstStyle/>
              <a:p>
                <a:r>
                  <a:rPr lang="pt-BR" dirty="0"/>
                  <a:t>Até agora, nós vimos como classificar utilizando a </a:t>
                </a:r>
                <a:r>
                  <a:rPr lang="pt-BR" b="1" dirty="0"/>
                  <a:t>regressão logística</a:t>
                </a:r>
                <a:r>
                  <a:rPr lang="pt-BR" dirty="0"/>
                  <a:t>.</a:t>
                </a:r>
              </a:p>
              <a:p>
                <a:pPr lvl="1">
                  <a:buFont typeface="Wingdings" panose="05000000000000000000" pitchFamily="2" charset="2"/>
                  <a:buChar char="§"/>
                </a:pPr>
                <a:r>
                  <a:rPr lang="pt-BR" dirty="0"/>
                  <a:t>Classificação binária.</a:t>
                </a:r>
              </a:p>
              <a:p>
                <a:r>
                  <a:rPr lang="pt-BR" dirty="0"/>
                  <a:t>Mas e quando o problema possuir mais de 2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a:t>
                </a:r>
              </a:p>
              <a:p>
                <a:r>
                  <a:rPr lang="pt-BR" dirty="0"/>
                  <a:t>Por exemplo</a:t>
                </a:r>
              </a:p>
              <a:p>
                <a:pPr lvl="1">
                  <a:buFont typeface="Wingdings" panose="05000000000000000000" pitchFamily="2" charset="2"/>
                  <a:buChar char="§"/>
                </a:pPr>
                <a:r>
                  <a:rPr lang="pt-BR" dirty="0"/>
                  <a:t>Reconhecimento de dígitos: 10 dígitos.</a:t>
                </a:r>
              </a:p>
              <a:p>
                <a:pPr lvl="1">
                  <a:buFont typeface="Wingdings" panose="05000000000000000000" pitchFamily="2" charset="2"/>
                  <a:buChar char="§"/>
                </a:pPr>
                <a:r>
                  <a:rPr lang="pt-BR" dirty="0"/>
                  <a:t>Classificação de texto: Esportes, Economia, Política, Entretenimento, etc.</a:t>
                </a:r>
              </a:p>
              <a:p>
                <a:pPr lvl="1">
                  <a:buFont typeface="Wingdings" panose="05000000000000000000" pitchFamily="2" charset="2"/>
                  <a:buChar char="§"/>
                </a:pPr>
                <a:r>
                  <a:rPr lang="pt-BR" dirty="0"/>
                  <a:t>Classificação de sentimentos: Neutro, Positivo, Negativo.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38799" y="1784680"/>
                <a:ext cx="6444343" cy="5073320"/>
              </a:xfrm>
              <a:blipFill>
                <a:blip r:embed="rId2"/>
                <a:stretch>
                  <a:fillRect l="-1703" t="-2043"/>
                </a:stretch>
              </a:blipFill>
            </p:spPr>
            <p:txBody>
              <a:bodyPr/>
              <a:lstStyle/>
              <a:p>
                <a:r>
                  <a:rPr lang="en-US">
                    <a:noFill/>
                  </a:rPr>
                  <a:t> </a:t>
                </a:r>
              </a:p>
            </p:txBody>
          </p:sp>
        </mc:Fallback>
      </mc:AlternateContent>
      <p:pic>
        <p:nvPicPr>
          <p:cNvPr id="4" name="Picture 2" descr="Ana Barros (@anathinker) | Twitter">
            <a:extLst>
              <a:ext uri="{FF2B5EF4-FFF2-40B4-BE49-F238E27FC236}">
                <a16:creationId xmlns:a16="http://schemas.microsoft.com/office/drawing/2014/main" id="{AF3F0044-4F7D-98F6-34C1-8351487DFD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Analyzing Text Classification Techniques on Youtube Data">
            <a:extLst>
              <a:ext uri="{FF2B5EF4-FFF2-40B4-BE49-F238E27FC236}">
                <a16:creationId xmlns:a16="http://schemas.microsoft.com/office/drawing/2014/main" id="{0E6041F8-AB14-54C0-C790-0288A3AC8F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entiment Fig 1">
            <a:extLst>
              <a:ext uri="{FF2B5EF4-FFF2-40B4-BE49-F238E27FC236}">
                <a16:creationId xmlns:a16="http://schemas.microsoft.com/office/drawing/2014/main" id="{1E7CC96F-55AB-1482-92F6-240F8E2E0D1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833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780314" y="1784680"/>
                <a:ext cx="6293070" cy="5073320"/>
              </a:xfrm>
            </p:spPr>
            <p:txBody>
              <a:bodyPr>
                <a:normAutofit/>
              </a:bodyPr>
              <a:lstStyle/>
              <a:p>
                <a:r>
                  <a:rPr lang="pt-BR" dirty="0"/>
                  <a:t>Quando </a:t>
                </a:r>
                <a14:m>
                  <m:oMath xmlns:m="http://schemas.openxmlformats.org/officeDocument/2006/math">
                    <m:r>
                      <a:rPr lang="pt-BR" i="1" smtClean="0">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chamamos o problema de classificação </a:t>
                </a:r>
                <a:r>
                  <a:rPr lang="pt-BR" b="1" dirty="0">
                    <a:solidFill>
                      <a:srgbClr val="00B050"/>
                    </a:solidFill>
                  </a:rPr>
                  <a:t>multiclasses</a:t>
                </a:r>
                <a:r>
                  <a:rPr lang="pt-BR" dirty="0"/>
                  <a:t>.</a:t>
                </a:r>
              </a:p>
              <a:p>
                <a:r>
                  <a:rPr lang="pt-BR" dirty="0"/>
                  <a:t>Podemos resolver estes problemas com o </a:t>
                </a:r>
                <a:r>
                  <a:rPr lang="pt-BR" b="1" dirty="0"/>
                  <a:t>regressor </a:t>
                </a:r>
                <a:r>
                  <a:rPr lang="pt-BR" b="1" i="1" dirty="0"/>
                  <a:t>softmax</a:t>
                </a:r>
                <a:r>
                  <a:rPr lang="pt-BR" dirty="0"/>
                  <a:t>, que é uma generalização do regressor logístico.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780314" y="1784680"/>
                <a:ext cx="6293070" cy="5073320"/>
              </a:xfrm>
              <a:blipFill>
                <a:blip r:embed="rId2"/>
                <a:stretch>
                  <a:fillRect l="-1742" t="-2043" r="-678"/>
                </a:stretch>
              </a:blipFill>
            </p:spPr>
            <p:txBody>
              <a:bodyPr/>
              <a:lstStyle/>
              <a:p>
                <a:r>
                  <a:rPr lang="en-US">
                    <a:noFill/>
                  </a:rPr>
                  <a:t> </a:t>
                </a:r>
              </a:p>
            </p:txBody>
          </p:sp>
        </mc:Fallback>
      </mc:AlternateContent>
      <p:pic>
        <p:nvPicPr>
          <p:cNvPr id="7" name="Picture 2" descr="Ana Barros (@anathinker) | Twitter">
            <a:extLst>
              <a:ext uri="{FF2B5EF4-FFF2-40B4-BE49-F238E27FC236}">
                <a16:creationId xmlns:a16="http://schemas.microsoft.com/office/drawing/2014/main" id="{A2D479C7-0684-420F-2CCD-64C3DB79F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Analyzing Text Classification Techniques on Youtube Data">
            <a:extLst>
              <a:ext uri="{FF2B5EF4-FFF2-40B4-BE49-F238E27FC236}">
                <a16:creationId xmlns:a16="http://schemas.microsoft.com/office/drawing/2014/main" id="{A59F8A2C-ACDF-09C7-B528-9064CEF3B84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entiment Fig 1">
            <a:extLst>
              <a:ext uri="{FF2B5EF4-FFF2-40B4-BE49-F238E27FC236}">
                <a16:creationId xmlns:a16="http://schemas.microsoft.com/office/drawing/2014/main" id="{E178FF16-CC3F-C34B-6C8B-874BC4FA61A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5172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22D379-CAA0-9DC9-CDBD-6E0EBE1BFF31}"/>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68F0D74-8673-A432-A1D7-BDEF7725851A}"/>
                  </a:ext>
                </a:extLst>
              </p:cNvPr>
              <p:cNvSpPr>
                <a:spLocks noGrp="1"/>
              </p:cNvSpPr>
              <p:nvPr>
                <p:ph idx="1"/>
              </p:nvPr>
            </p:nvSpPr>
            <p:spPr>
              <a:xfrm>
                <a:off x="838199" y="1825624"/>
                <a:ext cx="11353801" cy="5032375"/>
              </a:xfrm>
            </p:spPr>
            <p:txBody>
              <a:bodyPr>
                <a:normAutofit/>
              </a:bodyPr>
              <a:lstStyle/>
              <a:p>
                <a:r>
                  <a:rPr lang="pt-BR" dirty="0"/>
                  <a:t>Também conhecida como </a:t>
                </a:r>
                <a:r>
                  <a:rPr lang="pt-BR" b="1" dirty="0"/>
                  <a:t>regressão logística multinomial</a:t>
                </a:r>
                <a:r>
                  <a:rPr lang="pt-BR" dirty="0"/>
                  <a:t>.</a:t>
                </a:r>
              </a:p>
              <a:p>
                <a:pPr lvl="1">
                  <a:buFont typeface="Wingdings" panose="05000000000000000000" pitchFamily="2" charset="2"/>
                  <a:buChar char="§"/>
                </a:pPr>
                <a:r>
                  <a:rPr lang="pt-BR" dirty="0"/>
                  <a:t>Pois suas saídas podem ser interpretadas como as </a:t>
                </a:r>
                <a:r>
                  <a:rPr lang="pt-BR" b="1" dirty="0">
                    <a:solidFill>
                      <a:srgbClr val="00B050"/>
                    </a:solidFill>
                  </a:rPr>
                  <a:t>probabilidades de uma variável categórica </a:t>
                </a:r>
                <a:r>
                  <a:rPr lang="pt-BR" dirty="0"/>
                  <a:t>(as classes) </a:t>
                </a:r>
                <a:r>
                  <a:rPr lang="pt-BR" b="1" dirty="0">
                    <a:solidFill>
                      <a:srgbClr val="00B050"/>
                    </a:solidFill>
                  </a:rPr>
                  <a:t>dado os atributos e os pesos.</a:t>
                </a:r>
              </a:p>
              <a:p>
                <a:pPr lvl="1">
                  <a:buFont typeface="Wingdings" panose="05000000000000000000" pitchFamily="2" charset="2"/>
                  <a:buChar char="§"/>
                </a:pPr>
                <a:r>
                  <a:rPr lang="pt-BR" dirty="0"/>
                  <a:t>Ou seja, a regressão </a:t>
                </a:r>
                <a:r>
                  <a:rPr lang="pt-BR" b="1" i="1" dirty="0">
                    <a:solidFill>
                      <a:srgbClr val="00B050"/>
                    </a:solidFill>
                  </a:rPr>
                  <a:t>softmax</a:t>
                </a:r>
                <a:r>
                  <a:rPr lang="pt-BR" b="1" dirty="0">
                    <a:solidFill>
                      <a:srgbClr val="00B050"/>
                    </a:solidFill>
                  </a:rPr>
                  <a:t> estima a probabilidade de um exemplo de entrada pertencer a cada uma das </a:t>
                </a:r>
                <a14:m>
                  <m:oMath xmlns:m="http://schemas.openxmlformats.org/officeDocument/2006/math">
                    <m:r>
                      <a:rPr lang="pt-BR" i="1" smtClean="0">
                        <a:solidFill>
                          <a:srgbClr val="00B050"/>
                        </a:solidFill>
                        <a:latin typeface="Cambria Math" panose="02040503050406030204" pitchFamily="18" charset="0"/>
                      </a:rPr>
                      <m:t>𝑄</m:t>
                    </m:r>
                  </m:oMath>
                </a14:m>
                <a:r>
                  <a:rPr lang="pt-BR" b="1" dirty="0">
                    <a:solidFill>
                      <a:srgbClr val="00B050"/>
                    </a:solidFill>
                  </a:rPr>
                  <a:t> possíveis classes</a:t>
                </a:r>
                <a:r>
                  <a:rPr lang="pt-BR" dirty="0"/>
                  <a:t>.</a:t>
                </a:r>
              </a:p>
              <a:p>
                <a:r>
                  <a:rPr lang="pt-BR" dirty="0"/>
                  <a:t>O </a:t>
                </a:r>
                <a:r>
                  <a:rPr lang="pt-BR" dirty="0" err="1"/>
                  <a:t>regressor</a:t>
                </a:r>
                <a:r>
                  <a:rPr lang="pt-BR" dirty="0"/>
                  <a:t> </a:t>
                </a:r>
                <a:r>
                  <a:rPr lang="pt-BR" i="1" dirty="0" err="1"/>
                  <a:t>softmax</a:t>
                </a:r>
                <a:r>
                  <a:rPr lang="pt-BR" dirty="0"/>
                  <a:t> tem </a:t>
                </a:r>
                <a14:m>
                  <m:oMath xmlns:m="http://schemas.openxmlformats.org/officeDocument/2006/math">
                    <m:r>
                      <a:rPr lang="pt-BR" b="0" i="1" smtClean="0">
                        <a:latin typeface="Cambria Math" panose="02040503050406030204" pitchFamily="18" charset="0"/>
                      </a:rPr>
                      <m:t>𝑄</m:t>
                    </m:r>
                  </m:oMath>
                </a14:m>
                <a:r>
                  <a:rPr lang="pt-BR" dirty="0"/>
                  <a:t> saídas, onde cada saída representa a </a:t>
                </a:r>
                <a:r>
                  <a:rPr lang="pt-BR" b="1" dirty="0">
                    <a:solidFill>
                      <a:srgbClr val="00B050"/>
                    </a:solidFill>
                  </a:rPr>
                  <a:t>probabilidade</a:t>
                </a:r>
                <a:r>
                  <a:rPr lang="pt-BR" dirty="0"/>
                  <a:t> de um exemplo pertencer a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para um problema com 4 classes, teremos um classificador com 4 saídas.</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B68F0D74-8673-A432-A1D7-BDEF7725851A}"/>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2710988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9F0958-530D-D942-BA01-15C1583DD1E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416F72-28FB-E27C-D129-16A944A87C67}"/>
                  </a:ext>
                </a:extLst>
              </p:cNvPr>
              <p:cNvSpPr>
                <a:spLocks noGrp="1"/>
              </p:cNvSpPr>
              <p:nvPr>
                <p:ph idx="1"/>
              </p:nvPr>
            </p:nvSpPr>
            <p:spPr>
              <a:xfrm>
                <a:off x="838199" y="1825624"/>
                <a:ext cx="11353801" cy="5032375"/>
              </a:xfrm>
            </p:spPr>
            <p:txBody>
              <a:bodyPr/>
              <a:lstStyle/>
              <a:p>
                <a:r>
                  <a:rPr lang="pt-BR" dirty="0"/>
                  <a:t>Ele prediz </a:t>
                </a:r>
                <a:r>
                  <a:rPr lang="pt-BR" b="1" dirty="0"/>
                  <a:t>apenas </a:t>
                </a:r>
                <a:r>
                  <a:rPr lang="pt-BR" b="1" dirty="0">
                    <a:solidFill>
                      <a:srgbClr val="FF0000"/>
                    </a:solidFill>
                  </a:rPr>
                  <a:t>uma</a:t>
                </a:r>
                <a:r>
                  <a:rPr lang="pt-BR" b="1" dirty="0"/>
                  <a:t> classe por classificação</a:t>
                </a:r>
                <a:r>
                  <a:rPr lang="pt-BR" dirty="0"/>
                  <a:t>, portanto, ele deve ser usado apenas com </a:t>
                </a:r>
                <a:r>
                  <a:rPr lang="pt-BR" b="1" dirty="0"/>
                  <a:t>classes mutuamente exclusivas </a:t>
                </a:r>
                <a:r>
                  <a:rPr lang="pt-BR" dirty="0"/>
                  <a:t>como, por exemplo, diferentes tipos de plantas, dígitos, carros, etc.</a:t>
                </a:r>
              </a:p>
              <a:p>
                <a:pPr lvl="1">
                  <a:buFont typeface="Wingdings" panose="05000000000000000000" pitchFamily="2" charset="2"/>
                  <a:buChar char="§"/>
                </a:pPr>
                <a:r>
                  <a:rPr lang="pt-BR" b="1" dirty="0"/>
                  <a:t>Classes mutuamente exclusivas</a:t>
                </a:r>
                <a:r>
                  <a:rPr lang="pt-BR" dirty="0"/>
                  <a:t>: caso onde os exemplos pertencem a apenas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notícias, músicas e imagens, por exemplo, podem pertencer a várias classes ao mesmo tempo.</a:t>
                </a:r>
              </a:p>
              <a:p>
                <a:r>
                  <a:rPr lang="pt-BR" dirty="0"/>
                  <a:t>O </a:t>
                </a:r>
                <a:r>
                  <a:rPr lang="pt-BR" b="1" dirty="0"/>
                  <a:t>regressor </a:t>
                </a:r>
                <a:r>
                  <a:rPr lang="pt-BR" b="1" i="1" dirty="0"/>
                  <a:t>softmax</a:t>
                </a:r>
                <a:r>
                  <a:rPr lang="pt-BR" b="1" dirty="0"/>
                  <a:t> </a:t>
                </a:r>
                <a:r>
                  <a:rPr lang="pt-BR" b="1" dirty="0">
                    <a:solidFill>
                      <a:srgbClr val="00B050"/>
                    </a:solidFill>
                  </a:rPr>
                  <a:t>possui uma função hipótese de classificação</a:t>
                </a:r>
                <a:r>
                  <a:rPr lang="pt-BR"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oMath>
                </a14:m>
                <a:r>
                  <a:rPr lang="pt-BR" dirty="0"/>
                  <a:t>, e, consequentemente, </a:t>
                </a:r>
                <a:r>
                  <a:rPr lang="pt-BR" b="1" dirty="0">
                    <a:solidFill>
                      <a:srgbClr val="00B050"/>
                    </a:solidFill>
                  </a:rPr>
                  <a:t>uma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
                </a:r>
                <a:r>
                  <a:rPr lang="pt-BR" b="1" dirty="0">
                    <a:solidFill>
                      <a:srgbClr val="00B050"/>
                    </a:solidFill>
                  </a:rPr>
                  <a:t>para cada classe </a:t>
                </a:r>
                <a14:m>
                  <m:oMath xmlns:m="http://schemas.openxmlformats.org/officeDocument/2006/math">
                    <m:r>
                      <a:rPr lang="pt-BR" i="1">
                        <a:latin typeface="Cambria Math" panose="02040503050406030204" pitchFamily="18" charset="0"/>
                      </a:rPr>
                      <m:t>𝑞</m:t>
                    </m:r>
                  </m:oMath>
                </a14:m>
                <a:r>
                  <a:rPr lang="pt-BR" dirty="0"/>
                  <a:t>.</a:t>
                </a:r>
              </a:p>
              <a:p>
                <a:pPr lvl="1">
                  <a:buFont typeface="Wingdings" panose="05000000000000000000" pitchFamily="2" charset="2"/>
                  <a:buChar char="§"/>
                </a:pPr>
                <a:r>
                  <a:rPr lang="pt-BR" dirty="0"/>
                  <a:t>Por exemplo, se temos 3 classes, teremos 3 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21416F72-28FB-E27C-D129-16A944A87C67}"/>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34855039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CD47F25-5DD1-794E-8733-BFD771A2DE49}"/>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79BB7DC-99E7-8958-EC77-566B7E3C2BBB}"/>
                  </a:ext>
                </a:extLst>
              </p:cNvPr>
              <p:cNvSpPr>
                <a:spLocks noGrp="1"/>
              </p:cNvSpPr>
              <p:nvPr>
                <p:ph idx="1"/>
              </p:nvPr>
            </p:nvSpPr>
            <p:spPr>
              <a:xfrm>
                <a:off x="838200" y="1825624"/>
                <a:ext cx="11080174" cy="5032375"/>
              </a:xfrm>
            </p:spPr>
            <p:txBody>
              <a:bodyPr>
                <a:normAutofit/>
              </a:bodyPr>
              <a:lstStyle/>
              <a:p>
                <a:r>
                  <a:rPr lang="pt-BR" dirty="0"/>
                  <a:t>A </a:t>
                </a:r>
                <a:r>
                  <a:rPr lang="pt-BR" b="1" dirty="0"/>
                  <a:t>função hipótese de classificação</a:t>
                </a:r>
                <a:r>
                  <a:rPr lang="pt-BR" b="1" i="1" dirty="0"/>
                  <a:t> </a:t>
                </a:r>
                <a:r>
                  <a:rPr lang="pt-BR" dirty="0"/>
                  <a:t>associada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a:t>
                </a:r>
                <a:r>
                  <a:rPr lang="pt-BR" b="1" i="1"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oMath>
                </a14:m>
                <a:r>
                  <a:rPr lang="pt-BR" dirty="0"/>
                  <a:t> é obtida passando-se a </a:t>
                </a:r>
                <a:r>
                  <a:rPr lang="pt-BR" b="1" dirty="0"/>
                  <a:t>função discriminante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através da </a:t>
                </a:r>
                <a:r>
                  <a:rPr lang="pt-BR" b="1" dirty="0">
                    <a:solidFill>
                      <a:srgbClr val="7030A0"/>
                    </a:solidFill>
                  </a:rPr>
                  <a:t>função (de ativação) </a:t>
                </a:r>
                <a:r>
                  <a:rPr lang="pt-BR" b="1" i="1" dirty="0">
                    <a:solidFill>
                      <a:srgbClr val="7030A0"/>
                    </a:solidFill>
                  </a:rPr>
                  <a:t>softmax</a:t>
                </a:r>
                <a:r>
                  <a:rPr lang="pt-BR" dirty="0"/>
                  <a:t>,</a:t>
                </a:r>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b="0" i="1" smtClean="0">
                              <a:latin typeface="Cambria Math" panose="02040503050406030204" pitchFamily="18" charset="0"/>
                            </a:rPr>
                            <m:t> </m:t>
                          </m:r>
                          <m:r>
                            <a:rPr lang="pt-BR" i="1">
                              <a:latin typeface="Cambria Math" panose="02040503050406030204" pitchFamily="18" charset="0"/>
                            </a:rPr>
                            <m:t>|</m:t>
                          </m:r>
                          <m:r>
                            <a:rPr lang="pt-BR" b="0" i="1" smtClean="0">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b="0" i="1" smtClean="0">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b="0" i="1" smtClean="0">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rPr>
                        <m:t>,</m:t>
                      </m:r>
                    </m:oMath>
                  </m:oMathPara>
                </a14:m>
                <a:endParaRPr lang="pt-BR" i="1" dirty="0"/>
              </a:p>
              <a:p>
                <a:pPr marL="0" indent="0">
                  <a:buNone/>
                </a:pPr>
                <a:r>
                  <a:rPr lang="pt-BR" dirty="0"/>
                  <a:t>onde</a:t>
                </a:r>
                <a:r>
                  <a:rPr lang="pt-BR" i="1"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1</m:t>
                                      </m:r>
                                    </m:sub>
                                    <m:sup>
                                      <m:r>
                                        <a:rPr lang="pt-BR" i="1">
                                          <a:latin typeface="Cambria Math" panose="02040503050406030204" pitchFamily="18" charset="0"/>
                                        </a:rPr>
                                        <m:t>𝑞</m:t>
                                      </m:r>
                                    </m:sup>
                                  </m:sSubSup>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𝐾</m:t>
                                            </m:r>
                                          </m:sub>
                                          <m:sup>
                                            <m:r>
                                              <a:rPr lang="pt-BR" i="1">
                                                <a:latin typeface="Cambria Math" panose="02040503050406030204" pitchFamily="18" charset="0"/>
                                              </a:rPr>
                                              <m:t>𝑞</m:t>
                                            </m:r>
                                          </m:sup>
                                        </m:sSubSup>
                                      </m:e>
                                    </m:mr>
                                  </m:m>
                                </m:e>
                              </m:mr>
                            </m:m>
                          </m:e>
                        </m:d>
                      </m:e>
                      <m:sup>
                        <m:r>
                          <a:rPr lang="pt-BR" b="1" i="1">
                            <a:latin typeface="Cambria Math" panose="02040503050406030204" pitchFamily="18" charset="0"/>
                          </a:rPr>
                          <m:t>𝑻</m:t>
                        </m:r>
                      </m:sup>
                    </m:sSup>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i="1" dirty="0"/>
                  <a:t> </a:t>
                </a:r>
                <a:r>
                  <a:rPr lang="pt-BR" dirty="0"/>
                  <a:t>é o </a:t>
                </a:r>
                <a:r>
                  <a:rPr lang="pt-BR" b="1" dirty="0"/>
                  <a:t>vetor de pesos</a:t>
                </a:r>
                <a:r>
                  <a:rPr lang="pt-BR" b="1" i="1" dirty="0"/>
                  <a:t>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b="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e </a:t>
                </a:r>
                <a14:m>
                  <m:oMath xmlns:m="http://schemas.openxmlformats.org/officeDocument/2006/math">
                    <m:r>
                      <a:rPr lang="pt-BR" b="0" i="1" smtClean="0">
                        <a:latin typeface="Cambria Math" panose="02040503050406030204" pitchFamily="18" charset="0"/>
                      </a:rPr>
                      <m:t>𝑛</m:t>
                    </m:r>
                  </m:oMath>
                </a14:m>
                <a:r>
                  <a:rPr lang="pt-BR" dirty="0"/>
                  <a:t> indica o número da amostra.</a:t>
                </a:r>
              </a:p>
              <a:p>
                <a:r>
                  <a:rPr lang="pt-BR" sz="2800" dirty="0"/>
                  <a:t>Cada função discriminante tem seu próprio vetor de pesos, </a:t>
                </a:r>
                <a14:m>
                  <m:oMath xmlns:m="http://schemas.openxmlformats.org/officeDocument/2006/math">
                    <m:sSub>
                      <m:sSubPr>
                        <m:ctrlPr>
                          <a:rPr lang="pt-BR" b="1" i="1" smtClean="0">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sz="2800" dirty="0"/>
                  <a:t>.</a:t>
                </a:r>
              </a:p>
              <a:p>
                <a:r>
                  <a:rPr lang="pt-BR" dirty="0"/>
                  <a:t>Além do regressor </a:t>
                </a:r>
                <a:r>
                  <a:rPr lang="pt-BR" i="1" dirty="0"/>
                  <a:t>softmax</a:t>
                </a:r>
                <a:r>
                  <a:rPr lang="pt-BR" dirty="0"/>
                  <a:t>, ela é usada na </a:t>
                </a:r>
                <a:r>
                  <a:rPr lang="pt-BR" b="1" dirty="0">
                    <a:solidFill>
                      <a:srgbClr val="00B050"/>
                    </a:solidFill>
                  </a:rPr>
                  <a:t>camada de saída</a:t>
                </a:r>
                <a:r>
                  <a:rPr lang="pt-BR" dirty="0">
                    <a:solidFill>
                      <a:srgbClr val="00B050"/>
                    </a:solidFill>
                  </a:rPr>
                  <a:t> </a:t>
                </a:r>
                <a:r>
                  <a:rPr lang="pt-BR" dirty="0"/>
                  <a:t>de </a:t>
                </a:r>
                <a:r>
                  <a:rPr lang="pt-BR" b="1" dirty="0">
                    <a:solidFill>
                      <a:srgbClr val="00B050"/>
                    </a:solidFill>
                  </a:rPr>
                  <a:t>redes neurais</a:t>
                </a:r>
                <a:r>
                  <a:rPr lang="pt-BR" dirty="0"/>
                  <a:t> empregadas em tarefas de </a:t>
                </a:r>
                <a:r>
                  <a:rPr lang="pt-BR" b="1" dirty="0">
                    <a:solidFill>
                      <a:srgbClr val="00B050"/>
                    </a:solidFill>
                  </a:rPr>
                  <a:t>classificação.</a:t>
                </a:r>
                <a:endParaRPr lang="pt-BR" sz="2800" dirty="0"/>
              </a:p>
              <a:p>
                <a:pPr marL="0" indent="0">
                  <a:buNone/>
                </a:pPr>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D79BB7DC-99E7-8958-EC77-566B7E3C2BBB}"/>
                  </a:ext>
                </a:extLst>
              </p:cNvPr>
              <p:cNvSpPr>
                <a:spLocks noGrp="1" noRot="1" noChangeAspect="1" noMove="1" noResize="1" noEditPoints="1" noAdjustHandles="1" noChangeArrowheads="1" noChangeShapeType="1" noTextEdit="1"/>
              </p:cNvSpPr>
              <p:nvPr>
                <p:ph idx="1"/>
              </p:nvPr>
            </p:nvSpPr>
            <p:spPr>
              <a:xfrm>
                <a:off x="838200" y="1825624"/>
                <a:ext cx="11080174" cy="5032375"/>
              </a:xfrm>
              <a:blipFill rotWithShape="0">
                <a:blip r:embed="rId3"/>
                <a:stretch>
                  <a:fillRect l="-1156" t="-1332"/>
                </a:stretch>
              </a:blipFill>
            </p:spPr>
            <p:txBody>
              <a:bodyPr/>
              <a:lstStyle/>
              <a:p>
                <a:r>
                  <a:rPr lang="pt-BR">
                    <a:noFill/>
                  </a:rPr>
                  <a:t> </a:t>
                </a:r>
              </a:p>
            </p:txBody>
          </p:sp>
        </mc:Fallback>
      </mc:AlternateContent>
    </p:spTree>
    <p:extLst>
      <p:ext uri="{BB962C8B-B14F-4D97-AF65-F5344CB8AC3E}">
        <p14:creationId xmlns:p14="http://schemas.microsoft.com/office/powerpoint/2010/main" val="34714531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838200" y="1825624"/>
                <a:ext cx="11353800" cy="5032375"/>
              </a:xfrm>
            </p:spPr>
            <p:txBody>
              <a:bodyPr>
                <a:normAutofit/>
              </a:bodyPr>
              <a:lstStyle/>
              <a:p>
                <a:r>
                  <a:rPr lang="pt-BR" dirty="0"/>
                  <a:t>É uma generalização da função sigmoide.</a:t>
                </a:r>
              </a:p>
              <a:p>
                <a:r>
                  <a:rPr lang="pt-BR" dirty="0"/>
                  <a:t>O somatório de termos exponenciais no denominador </a:t>
                </a:r>
                <a:r>
                  <a:rPr lang="pt-BR" b="1" dirty="0">
                    <a:solidFill>
                      <a:srgbClr val="00B050"/>
                    </a:solidFill>
                  </a:rPr>
                  <a:t>normaliza</a:t>
                </a:r>
                <a:r>
                  <a:rPr lang="pt-BR" dirty="0"/>
                  <a:t> o valor de cada uma das </a:t>
                </a:r>
                <a14:m>
                  <m:oMath xmlns:m="http://schemas.openxmlformats.org/officeDocument/2006/math">
                    <m:r>
                      <a:rPr lang="pt-BR" b="0" i="1" smtClean="0">
                        <a:latin typeface="Cambria Math" panose="02040503050406030204" pitchFamily="18" charset="0"/>
                      </a:rPr>
                      <m:t>𝑄</m:t>
                    </m:r>
                  </m:oMath>
                </a14:m>
                <a:r>
                  <a:rPr lang="pt-BR" dirty="0"/>
                  <a:t> saídas, fazendo com que elas fiquem no intervalo [0, 1].</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r>
                        <a:rPr lang="pt-BR" b="1" i="1">
                          <a:latin typeface="Cambria Math" panose="02040503050406030204" pitchFamily="18" charset="0"/>
                          <a:ea typeface="Cambria Math" panose="02040503050406030204" pitchFamily="18" charset="0"/>
                        </a:rPr>
                        <m:t> </m:t>
                      </m:r>
                      <m:d>
                        <m:dPr>
                          <m:begChr m:val="["/>
                          <m:endChr m:val="]"/>
                          <m:ctrlPr>
                            <a:rPr lang="pt-BR" b="1" i="1">
                              <a:latin typeface="Cambria Math" panose="02040503050406030204" pitchFamily="18" charset="0"/>
                              <a:ea typeface="Cambria Math" panose="02040503050406030204" pitchFamily="18" charset="0"/>
                            </a:rPr>
                          </m:ctrlPr>
                        </m:dPr>
                        <m:e>
                          <m:r>
                            <a:rPr lang="pt-BR">
                              <a:latin typeface="Cambria Math" panose="02040503050406030204" pitchFamily="18" charset="0"/>
                            </a:rPr>
                            <m:t>0, 1</m:t>
                          </m:r>
                        </m:e>
                      </m:d>
                      <m:r>
                        <a:rPr lang="pt-BR" b="1" i="1" smtClean="0">
                          <a:latin typeface="Cambria Math" panose="02040503050406030204" pitchFamily="18" charset="0"/>
                        </a:rPr>
                        <m:t> </m:t>
                      </m:r>
                      <m:r>
                        <a:rPr lang="pt-BR" b="1"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ea typeface="Cambria Math" panose="02040503050406030204" pitchFamily="18" charset="0"/>
                        </a:rPr>
                        <m:t>.</m:t>
                      </m:r>
                    </m:oMath>
                  </m:oMathPara>
                </a14:m>
                <a:endParaRPr lang="pt-BR" b="0" dirty="0">
                  <a:effectLst/>
                </a:endParaRPr>
              </a:p>
              <a:p>
                <a:r>
                  <a:rPr lang="pt-BR" dirty="0"/>
                  <a:t>Ela transforma os </a:t>
                </a:r>
                <a:r>
                  <a:rPr lang="pt-BR" b="1" dirty="0">
                    <a:solidFill>
                      <a:srgbClr val="00B050"/>
                    </a:solidFill>
                  </a:rPr>
                  <a:t>valores das </a:t>
                </a:r>
                <a14:m>
                  <m:oMath xmlns:m="http://schemas.openxmlformats.org/officeDocument/2006/math">
                    <m:r>
                      <a:rPr lang="pt-BR" b="1" i="1">
                        <a:solidFill>
                          <a:srgbClr val="00B050"/>
                        </a:solidFill>
                        <a:latin typeface="Cambria Math" panose="02040503050406030204" pitchFamily="18" charset="0"/>
                      </a:rPr>
                      <m:t>𝑸</m:t>
                    </m:r>
                  </m:oMath>
                </a14:m>
                <a:r>
                  <a:rPr lang="pt-BR" b="1" dirty="0">
                    <a:solidFill>
                      <a:srgbClr val="00B050"/>
                    </a:solidFill>
                  </a:rPr>
                  <a:t> funções discriminantes em uma distribuição de probabilidades</a:t>
                </a:r>
                <a:r>
                  <a:rPr lang="pt-BR" dirty="0"/>
                  <a:t>.</a:t>
                </a:r>
              </a:p>
              <a:p>
                <a:r>
                  <a:rPr lang="pt-BR" dirty="0"/>
                  <a:t>Assim, dado um exemplo de entrada, ela </a:t>
                </a:r>
                <a:r>
                  <a:rPr lang="pt-BR" b="1" dirty="0">
                    <a:solidFill>
                      <a:srgbClr val="00B050"/>
                    </a:solidFill>
                  </a:rPr>
                  <a:t>atribui</a:t>
                </a:r>
                <a:r>
                  <a:rPr lang="pt-BR" dirty="0"/>
                  <a:t> uma </a:t>
                </a:r>
                <a:r>
                  <a:rPr lang="pt-BR" b="1" dirty="0">
                    <a:solidFill>
                      <a:srgbClr val="00B050"/>
                    </a:solidFill>
                  </a:rPr>
                  <a:t>probabilidade</a:t>
                </a:r>
                <a:r>
                  <a:rPr lang="pt-BR" dirty="0">
                    <a:solidFill>
                      <a:srgbClr val="00B050"/>
                    </a:solidFill>
                  </a:rPr>
                  <a:t> </a:t>
                </a:r>
                <a:r>
                  <a:rPr lang="pt-BR" b="1" dirty="0">
                    <a:solidFill>
                      <a:srgbClr val="00B050"/>
                    </a:solidFill>
                  </a:rPr>
                  <a:t>condicional</a:t>
                </a:r>
                <a:r>
                  <a:rPr lang="pt-BR" dirty="0">
                    <a:solidFill>
                      <a:srgbClr val="00B050"/>
                    </a:solidFill>
                  </a:rPr>
                  <a:t> </a:t>
                </a: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ea typeface="Cambria Math" panose="02040503050406030204" pitchFamily="18" charset="0"/>
                      </a:rPr>
                      <m:t>∈</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0, 1</m:t>
                        </m:r>
                      </m:e>
                    </m:d>
                  </m:oMath>
                </a14:m>
                <a:r>
                  <a:rPr lang="pt-BR" dirty="0"/>
                  <a:t> </a:t>
                </a:r>
                <a:r>
                  <a:rPr lang="pt-BR" b="1" dirty="0">
                    <a:solidFill>
                      <a:srgbClr val="00B050"/>
                    </a:solidFill>
                  </a:rPr>
                  <a:t>a cada uma </a:t>
                </a:r>
                <a:r>
                  <a:rPr lang="pt-BR" dirty="0"/>
                  <a:t>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classes.</a:t>
                </a:r>
                <a:endParaRPr lang="pt-BR" b="1" dirty="0">
                  <a:solidFill>
                    <a:srgbClr val="00B050"/>
                  </a:solidFill>
                </a:endParaRP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BCAAD57B-65A0-9DAD-79FC-2AE2692EB84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r="-967"/>
                </a:stretch>
              </a:blipFill>
            </p:spPr>
            <p:txBody>
              <a:bodyPr/>
              <a:lstStyle/>
              <a:p>
                <a:r>
                  <a:rPr lang="pt-BR">
                    <a:noFill/>
                  </a:rPr>
                  <a:t> </a:t>
                </a:r>
              </a:p>
            </p:txBody>
          </p:sp>
        </mc:Fallback>
      </mc:AlternateContent>
      <p:sp>
        <p:nvSpPr>
          <p:cNvPr id="5" name="Rectangle 11">
            <a:extLst>
              <a:ext uri="{FF2B5EF4-FFF2-40B4-BE49-F238E27FC236}">
                <a16:creationId xmlns:a16="http://schemas.microsoft.com/office/drawing/2014/main" id="{D1D7E603-A964-1188-9D09-B0C1E18592FA}"/>
              </a:ext>
            </a:extLst>
          </p:cNvPr>
          <p:cNvSpPr/>
          <p:nvPr/>
        </p:nvSpPr>
        <p:spPr>
          <a:xfrm>
            <a:off x="6765514" y="3622566"/>
            <a:ext cx="2143124" cy="6102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375032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DF54A1-52F5-C48C-7CD4-D6E451DF19D8}"/>
                  </a:ext>
                </a:extLst>
              </p:cNvPr>
              <p:cNvSpPr>
                <a:spLocks noGrp="1"/>
              </p:cNvSpPr>
              <p:nvPr>
                <p:ph idx="1"/>
              </p:nvPr>
            </p:nvSpPr>
            <p:spPr>
              <a:xfrm>
                <a:off x="6646606" y="1825624"/>
                <a:ext cx="5545394" cy="5032375"/>
              </a:xfrm>
            </p:spPr>
            <p:txBody>
              <a:bodyPr>
                <a:normAutofit/>
              </a:bodyPr>
              <a:lstStyle/>
              <a:p>
                <a:r>
                  <a:rPr lang="pt-BR" dirty="0"/>
                  <a:t>A função </a:t>
                </a:r>
                <a:r>
                  <a:rPr lang="pt-BR" i="1" dirty="0"/>
                  <a:t>softmax</a:t>
                </a:r>
                <a:r>
                  <a:rPr lang="pt-BR" dirty="0"/>
                  <a:t> </a:t>
                </a:r>
                <a:r>
                  <a:rPr lang="pt-BR" dirty="0">
                    <a:solidFill>
                      <a:schemeClr val="tx1"/>
                    </a:solidFill>
                  </a:rPr>
                  <a:t>o</a:t>
                </a:r>
                <a:r>
                  <a:rPr lang="pt-BR" b="0" i="0" dirty="0">
                    <a:solidFill>
                      <a:schemeClr val="tx1"/>
                    </a:solidFill>
                    <a:effectLst/>
                  </a:rPr>
                  <a:t>pera da seguinte maneira.</a:t>
                </a:r>
              </a:p>
              <a:p>
                <a:r>
                  <a:rPr lang="pt-BR" b="0" i="0" dirty="0">
                    <a:solidFill>
                      <a:schemeClr val="tx1"/>
                    </a:solidFill>
                    <a:effectLst/>
                  </a:rPr>
                  <a:t>Dado um </a:t>
                </a:r>
                <a:r>
                  <a:rPr lang="pt-BR" b="1" dirty="0">
                    <a:solidFill>
                      <a:srgbClr val="00B050"/>
                    </a:solidFill>
                    <a:effectLst/>
                  </a:rPr>
                  <a:t>vetor </a:t>
                </a:r>
                <a:r>
                  <a:rPr lang="pt-BR" b="1" dirty="0">
                    <a:solidFill>
                      <a:srgbClr val="00B050"/>
                    </a:solidFill>
                  </a:rPr>
                  <a:t>com</a:t>
                </a:r>
                <a:r>
                  <a:rPr lang="pt-BR" b="1" dirty="0">
                    <a:solidFill>
                      <a:srgbClr val="00B050"/>
                    </a:solidFill>
                    <a:effectLst/>
                  </a:rPr>
                  <a:t> os valores das </a:t>
                </a:r>
                <a:r>
                  <a:rPr lang="pt-BR" dirty="0"/>
                  <a:t> </a:t>
                </a:r>
                <a14:m>
                  <m:oMath xmlns:m="http://schemas.openxmlformats.org/officeDocument/2006/math">
                    <m:r>
                      <a:rPr lang="pt-BR" b="1" i="1" smtClean="0">
                        <a:solidFill>
                          <a:srgbClr val="00B050"/>
                        </a:solidFill>
                        <a:latin typeface="Cambria Math" panose="02040503050406030204" pitchFamily="18" charset="0"/>
                      </a:rPr>
                      <m:t>𝑸</m:t>
                    </m:r>
                  </m:oMath>
                </a14:m>
                <a:r>
                  <a:rPr lang="pt-BR" b="1" dirty="0">
                    <a:solidFill>
                      <a:srgbClr val="00B050"/>
                    </a:solidFill>
                  </a:rPr>
                  <a:t> </a:t>
                </a:r>
                <a:r>
                  <a:rPr lang="pt-BR" b="1" dirty="0">
                    <a:solidFill>
                      <a:srgbClr val="00B050"/>
                    </a:solidFill>
                    <a:effectLst/>
                  </a:rPr>
                  <a:t>funções discriminantes</a:t>
                </a:r>
                <a:r>
                  <a:rPr lang="pt-BR" b="0" i="0" dirty="0">
                    <a:solidFill>
                      <a:schemeClr val="tx1"/>
                    </a:solidFill>
                    <a:effectLst/>
                  </a:rPr>
                  <a:t>, ela</a:t>
                </a:r>
                <a:endParaRPr lang="pt-BR" dirty="0"/>
              </a:p>
              <a:p>
                <a:pPr lvl="1">
                  <a:buFont typeface="Wingdings" panose="05000000000000000000" pitchFamily="2" charset="2"/>
                  <a:buChar char="§"/>
                </a:pPr>
                <a:r>
                  <a:rPr lang="pt-BR" b="0" i="0" dirty="0">
                    <a:solidFill>
                      <a:schemeClr val="tx1"/>
                    </a:solidFill>
                    <a:effectLst/>
                  </a:rPr>
                  <a:t>calcula a exponencial de cada função discriminante, </a:t>
                </a:r>
              </a:p>
              <a:p>
                <a:pPr lvl="1">
                  <a:buFont typeface="Wingdings" panose="05000000000000000000" pitchFamily="2" charset="2"/>
                  <a:buChar char="§"/>
                </a:pPr>
                <a:r>
                  <a:rPr lang="pt-BR" b="0" i="0" dirty="0">
                    <a:solidFill>
                      <a:schemeClr val="tx1"/>
                    </a:solidFill>
                    <a:effectLst/>
                  </a:rPr>
                  <a:t>normaliza essas exponenciais dividindo-as pela soma de todas as exponenciais, gerando uma distribuição de probabilidades das classes.</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32DF54A1-52F5-C48C-7CD4-D6E451DF19D8}"/>
                  </a:ext>
                </a:extLst>
              </p:cNvPr>
              <p:cNvSpPr>
                <a:spLocks noGrp="1" noRot="1" noChangeAspect="1" noMove="1" noResize="1" noEditPoints="1" noAdjustHandles="1" noChangeArrowheads="1" noChangeShapeType="1" noTextEdit="1"/>
              </p:cNvSpPr>
              <p:nvPr>
                <p:ph idx="1"/>
              </p:nvPr>
            </p:nvSpPr>
            <p:spPr>
              <a:xfrm>
                <a:off x="6646606" y="1825624"/>
                <a:ext cx="5545394" cy="5032375"/>
              </a:xfrm>
              <a:blipFill rotWithShape="0">
                <a:blip r:embed="rId2"/>
                <a:stretch>
                  <a:fillRect l="-1978" t="-1937" r="-1868"/>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id="{ED5D1F5D-F195-0452-50D4-07E9F2B1C49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559" y="2536723"/>
            <a:ext cx="6066351" cy="2487561"/>
          </a:xfrm>
          <a:prstGeom prst="rect">
            <a:avLst/>
          </a:prstGeom>
        </p:spPr>
      </p:pic>
      <p:sp>
        <p:nvSpPr>
          <p:cNvPr id="8" name="CaixaDeTexto 7">
            <a:extLst>
              <a:ext uri="{FF2B5EF4-FFF2-40B4-BE49-F238E27FC236}">
                <a16:creationId xmlns:a16="http://schemas.microsoft.com/office/drawing/2014/main" id="{0DC5673F-9B77-2E9E-8317-E71CA8896FE0}"/>
              </a:ext>
            </a:extLst>
          </p:cNvPr>
          <p:cNvSpPr txBox="1"/>
          <p:nvPr/>
        </p:nvSpPr>
        <p:spPr>
          <a:xfrm>
            <a:off x="127819" y="6492875"/>
            <a:ext cx="2792362" cy="276999"/>
          </a:xfrm>
          <a:prstGeom prst="rect">
            <a:avLst/>
          </a:prstGeom>
          <a:noFill/>
        </p:spPr>
        <p:txBody>
          <a:bodyPr wrap="square">
            <a:spAutoFit/>
          </a:bodyPr>
          <a:lstStyle/>
          <a:p>
            <a:r>
              <a:rPr lang="pt-BR" sz="1200" b="0" dirty="0">
                <a:effectLst/>
              </a:rPr>
              <a:t>OBS.:</a:t>
            </a:r>
            <a:r>
              <a:rPr lang="pt-BR" sz="1200" b="0" i="1" dirty="0">
                <a:effectLst/>
              </a:rPr>
              <a:t> e</a:t>
            </a:r>
            <a:r>
              <a:rPr lang="pt-BR" sz="1200" b="0" i="0" dirty="0">
                <a:effectLst/>
              </a:rPr>
              <a:t> é a base do logaritmo natural. </a:t>
            </a:r>
            <a:endParaRPr lang="pt-BR" sz="1200" dirty="0"/>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CBD55F82-56D5-32C8-C5AB-AF99477FBAAC}"/>
                  </a:ext>
                </a:extLst>
              </p:cNvPr>
              <p:cNvSpPr txBox="1"/>
              <p:nvPr/>
            </p:nvSpPr>
            <p:spPr>
              <a:xfrm>
                <a:off x="1543507" y="5639486"/>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xmlns="">
          <p:sp>
            <p:nvSpPr>
              <p:cNvPr id="4" name="CaixaDeTexto 3">
                <a:extLst>
                  <a:ext uri="{FF2B5EF4-FFF2-40B4-BE49-F238E27FC236}">
                    <a16:creationId xmlns:a16="http://schemas.microsoft.com/office/drawing/2014/main" id="{CBD55F82-56D5-32C8-C5AB-AF99477FBAAC}"/>
                  </a:ext>
                </a:extLst>
              </p:cNvPr>
              <p:cNvSpPr txBox="1">
                <a:spLocks noRot="1" noChangeAspect="1" noMove="1" noResize="1" noEditPoints="1" noAdjustHandles="1" noChangeArrowheads="1" noChangeShapeType="1" noTextEdit="1"/>
              </p:cNvSpPr>
              <p:nvPr/>
            </p:nvSpPr>
            <p:spPr>
              <a:xfrm>
                <a:off x="1543507" y="5639486"/>
                <a:ext cx="3530454" cy="461665"/>
              </a:xfrm>
              <a:prstGeom prst="rect">
                <a:avLst/>
              </a:prstGeom>
              <a:blipFill>
                <a:blip r:embed="rId4"/>
                <a:stretch>
                  <a:fillRect l="-1209" t="-10526" r="-1900" b="-28947"/>
                </a:stretch>
              </a:blipFill>
            </p:spPr>
            <p:txBody>
              <a:bodyPr/>
              <a:lstStyle/>
              <a:p>
                <a:r>
                  <a:rPr lang="en-US">
                    <a:noFill/>
                  </a:rPr>
                  <a:t> </a:t>
                </a:r>
              </a:p>
            </p:txBody>
          </p:sp>
        </mc:Fallback>
      </mc:AlternateContent>
    </p:spTree>
    <p:extLst>
      <p:ext uri="{BB962C8B-B14F-4D97-AF65-F5344CB8AC3E}">
        <p14:creationId xmlns:p14="http://schemas.microsoft.com/office/powerpoint/2010/main" val="23578092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DF54A1-52F5-C48C-7CD4-D6E451DF19D8}"/>
                  </a:ext>
                </a:extLst>
              </p:cNvPr>
              <p:cNvSpPr>
                <a:spLocks noGrp="1"/>
              </p:cNvSpPr>
              <p:nvPr>
                <p:ph idx="1"/>
              </p:nvPr>
            </p:nvSpPr>
            <p:spPr>
              <a:xfrm>
                <a:off x="838200" y="1825624"/>
                <a:ext cx="11353800" cy="5032375"/>
              </a:xfrm>
            </p:spPr>
            <p:txBody>
              <a:bodyPr>
                <a:normAutofit/>
              </a:bodyPr>
              <a:lstStyle/>
              <a:p>
                <a:r>
                  <a:rPr lang="pt-BR" b="0" dirty="0">
                    <a:effectLst/>
                  </a:rPr>
                  <a:t>Além de fazer c</a:t>
                </a:r>
                <a:r>
                  <a:rPr lang="pt-BR" dirty="0"/>
                  <a:t>om </a:t>
                </a:r>
                <a:r>
                  <a:rPr lang="pt-BR" dirty="0">
                    <a:effectLst/>
                  </a:rPr>
                  <a:t>que as </a:t>
                </a:r>
                <a:r>
                  <a:rPr lang="pt-BR" b="1" dirty="0">
                    <a:solidFill>
                      <a:srgbClr val="00B050"/>
                    </a:solidFill>
                    <a:effectLst/>
                  </a:rPr>
                  <a:t>saídas estejam no intervalo entre 0 e 1, </a:t>
                </a:r>
                <a:r>
                  <a:rPr lang="pt-BR" b="1" dirty="0">
                    <a:solidFill>
                      <a:srgbClr val="00B050"/>
                    </a:solidFill>
                  </a:rPr>
                  <a:t>ela garante que </a:t>
                </a:r>
                <a:r>
                  <a:rPr lang="pt-BR" b="1" dirty="0">
                    <a:solidFill>
                      <a:srgbClr val="00B050"/>
                    </a:solidFill>
                    <a:effectLst/>
                  </a:rPr>
                  <a:t>soma de todas as saídas sempre seja igual a 1</a:t>
                </a:r>
                <a:r>
                  <a:rPr lang="pt-BR" b="0" dirty="0">
                    <a:effectLst/>
                  </a:rPr>
                  <a:t>, tornando-as interpretáveis como uma </a:t>
                </a:r>
                <a:r>
                  <a:rPr lang="pt-BR" b="1" dirty="0">
                    <a:solidFill>
                      <a:schemeClr val="accent2"/>
                    </a:solidFill>
                    <a:effectLst/>
                  </a:rPr>
                  <a:t>função massa de probabilidade </a:t>
                </a:r>
                <a:r>
                  <a:rPr lang="pt-BR" b="1" dirty="0" err="1">
                    <a:solidFill>
                      <a:schemeClr val="accent2"/>
                    </a:solidFill>
                    <a:effectLst/>
                  </a:rPr>
                  <a:t>multinomial</a:t>
                </a:r>
                <a:r>
                  <a:rPr lang="pt-BR" b="0" dirty="0">
                    <a:effectLst/>
                  </a:rPr>
                  <a:t>.</a:t>
                </a:r>
              </a:p>
              <a:p>
                <a:pPr marL="0" indent="0" algn="ctr">
                  <a:buNone/>
                </a:pP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0</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0</m:t>
                            </m:r>
                          </m:sub>
                        </m:sSub>
                      </m:e>
                    </m:d>
                    <m:r>
                      <a:rPr lang="pt-BR" i="1">
                        <a:latin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m:t>
                            </m:r>
                            <m:r>
                              <a:rPr lang="pt-BR" b="1" i="1">
                                <a:latin typeface="Cambria Math" panose="02040503050406030204" pitchFamily="18" charset="0"/>
                              </a:rPr>
                              <m:t>𝒂</m:t>
                            </m:r>
                          </m:e>
                          <m:sub>
                            <m:r>
                              <a:rPr lang="pt-BR" i="1">
                                <a:latin typeface="Cambria Math" panose="02040503050406030204" pitchFamily="18" charset="0"/>
                              </a:rPr>
                              <m:t>1</m:t>
                            </m:r>
                          </m:sub>
                        </m:sSub>
                      </m:e>
                    </m:d>
                    <m:r>
                      <a:rPr lang="pt-BR">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i="1">
                                <a:latin typeface="Cambria Math" panose="02040503050406030204" pitchFamily="18" charset="0"/>
                              </a:rPr>
                              <m:t>−1</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𝑄</m:t>
                            </m:r>
                            <m:r>
                              <a:rPr lang="pt-BR" i="1">
                                <a:latin typeface="Cambria Math" panose="02040503050406030204" pitchFamily="18" charset="0"/>
                              </a:rPr>
                              <m:t>−1</m:t>
                            </m:r>
                          </m:sub>
                        </m:sSub>
                      </m:e>
                    </m:d>
                    <m:r>
                      <a:rPr lang="pt-BR" i="1">
                        <a:latin typeface="Cambria Math" panose="02040503050406030204" pitchFamily="18" charset="0"/>
                      </a:rPr>
                      <m:t>=1</m:t>
                    </m:r>
                  </m:oMath>
                </a14:m>
                <a:r>
                  <a:rPr lang="pt-BR" dirty="0"/>
                  <a:t>.</a:t>
                </a:r>
                <a:endParaRPr lang="pt-BR" b="0" dirty="0">
                  <a:effectLst/>
                </a:endParaRP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32DF54A1-52F5-C48C-7CD4-D6E451DF19D8}"/>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id="{ED5D1F5D-F195-0452-50D4-07E9F2B1C49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78470" y="3952568"/>
            <a:ext cx="6635059" cy="2720765"/>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B7728A0-505D-9DAE-23EC-8172E2EEEFA9}"/>
                  </a:ext>
                </a:extLst>
              </p:cNvPr>
              <p:cNvSpPr txBox="1"/>
              <p:nvPr/>
            </p:nvSpPr>
            <p:spPr>
              <a:xfrm>
                <a:off x="9468912" y="6488667"/>
                <a:ext cx="2701189"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=5</m:t>
                    </m:r>
                  </m:oMath>
                </a14:m>
                <a:r>
                  <a:rPr lang="pt-BR" dirty="0"/>
                  <a:t> (número de classes)</a:t>
                </a:r>
              </a:p>
            </p:txBody>
          </p:sp>
        </mc:Choice>
        <mc:Fallback xmlns="">
          <p:sp>
            <p:nvSpPr>
              <p:cNvPr id="4" name="CaixaDeTexto 3">
                <a:extLst>
                  <a:ext uri="{FF2B5EF4-FFF2-40B4-BE49-F238E27FC236}">
                    <a16:creationId xmlns="" xmlns:a16="http://schemas.microsoft.com/office/drawing/2014/main" xmlns:a14="http://schemas.microsoft.com/office/drawing/2010/main" id="{2B7728A0-505D-9DAE-23EC-8172E2EEEFA9}"/>
                  </a:ext>
                </a:extLst>
              </p:cNvPr>
              <p:cNvSpPr txBox="1">
                <a:spLocks noRot="1" noChangeAspect="1" noMove="1" noResize="1" noEditPoints="1" noAdjustHandles="1" noChangeArrowheads="1" noChangeShapeType="1" noTextEdit="1"/>
              </p:cNvSpPr>
              <p:nvPr/>
            </p:nvSpPr>
            <p:spPr>
              <a:xfrm>
                <a:off x="9468912" y="6488667"/>
                <a:ext cx="2701189" cy="369332"/>
              </a:xfrm>
              <a:prstGeom prst="rect">
                <a:avLst/>
              </a:prstGeom>
              <a:blipFill rotWithShape="0">
                <a:blip r:embed="rId5"/>
                <a:stretch>
                  <a:fillRect l="-451" t="-8197" r="-1580" b="-24590"/>
                </a:stretch>
              </a:blipFill>
            </p:spPr>
            <p:txBody>
              <a:bodyPr/>
              <a:lstStyle/>
              <a:p>
                <a:r>
                  <a:rPr lang="pt-BR">
                    <a:noFill/>
                  </a:rPr>
                  <a:t> </a:t>
                </a:r>
              </a:p>
            </p:txBody>
          </p:sp>
        </mc:Fallback>
      </mc:AlternateContent>
    </p:spTree>
    <p:extLst>
      <p:ext uri="{BB962C8B-B14F-4D97-AF65-F5344CB8AC3E}">
        <p14:creationId xmlns:p14="http://schemas.microsoft.com/office/powerpoint/2010/main" val="7994226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8A152F-93D8-11FA-9B7A-B62AE5BB6486}"/>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3535727-BB24-BB15-5C03-3DA9A3F9A09A}"/>
                  </a:ext>
                </a:extLst>
              </p:cNvPr>
              <p:cNvSpPr>
                <a:spLocks noGrp="1"/>
              </p:cNvSpPr>
              <p:nvPr>
                <p:ph idx="1"/>
              </p:nvPr>
            </p:nvSpPr>
            <p:spPr>
              <a:xfrm>
                <a:off x="6096001" y="1825624"/>
                <a:ext cx="5998028" cy="5032375"/>
              </a:xfrm>
            </p:spPr>
            <p:txBody>
              <a:bodyPr>
                <a:normAutofit/>
              </a:bodyPr>
              <a:lstStyle/>
              <a:p>
                <a:r>
                  <a:rPr lang="pt-BR" dirty="0"/>
                  <a:t>Assim como com o regressor logístico, podemos usar </a:t>
                </a:r>
                <a:r>
                  <a:rPr lang="pt-BR" b="1" dirty="0"/>
                  <a:t>hiperplanos</a:t>
                </a:r>
                <a:r>
                  <a:rPr lang="pt-BR" dirty="0"/>
                  <a:t> ou </a:t>
                </a:r>
                <a:r>
                  <a:rPr lang="pt-BR" b="1" dirty="0"/>
                  <a:t>polinômios</a:t>
                </a:r>
                <a:r>
                  <a:rPr lang="pt-BR" dirty="0"/>
                  <a:t> como </a:t>
                </a:r>
                <a:r>
                  <a:rPr lang="pt-BR" b="1" dirty="0"/>
                  <a:t>funções discriminantes</a:t>
                </a:r>
                <a:r>
                  <a:rPr lang="pt-BR" dirty="0"/>
                  <a:t>.</a:t>
                </a:r>
              </a:p>
              <a:p>
                <a:r>
                  <a:rPr lang="pt-BR" dirty="0"/>
                  <a:t>Nosso objetivo é encontrar um </a:t>
                </a:r>
                <a:r>
                  <a:rPr lang="pt-BR" b="1" dirty="0"/>
                  <a:t>modelo</a:t>
                </a:r>
                <a:r>
                  <a:rPr lang="pt-BR" dirty="0"/>
                  <a:t> (i.e., a </a:t>
                </a:r>
                <a:r>
                  <a:rPr lang="pt-BR" b="1" dirty="0"/>
                  <a:t>equação</a:t>
                </a:r>
                <a:r>
                  <a:rPr lang="pt-BR" dirty="0"/>
                  <a:t> e os respectivos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hipótese) que </a:t>
                </a:r>
                <a:r>
                  <a:rPr lang="pt-BR" b="1" dirty="0">
                    <a:solidFill>
                      <a:srgbClr val="00B050"/>
                    </a:solidFill>
                  </a:rPr>
                  <a:t>atribua uma alta probabilidade para a classe alvo </a:t>
                </a:r>
                <a:r>
                  <a:rPr lang="pt-BR" dirty="0"/>
                  <a:t>e, consequentemente, </a:t>
                </a:r>
                <a:r>
                  <a:rPr lang="pt-BR" b="1" dirty="0">
                    <a:solidFill>
                      <a:srgbClr val="00B050"/>
                    </a:solidFill>
                  </a:rPr>
                  <a:t>uma baixa probabilidade para as demais classes</a:t>
                </a:r>
                <a:r>
                  <a:rPr lang="pt-BR" dirty="0"/>
                  <a:t>.</a:t>
                </a:r>
              </a:p>
              <a:p>
                <a:pPr marL="0" indent="0" algn="ctr">
                  <a:buNone/>
                </a:pPr>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B3535727-BB24-BB15-5C03-3DA9A3F9A09A}"/>
                  </a:ext>
                </a:extLst>
              </p:cNvPr>
              <p:cNvSpPr>
                <a:spLocks noGrp="1" noRot="1" noChangeAspect="1" noMove="1" noResize="1" noEditPoints="1" noAdjustHandles="1" noChangeArrowheads="1" noChangeShapeType="1" noTextEdit="1"/>
              </p:cNvSpPr>
              <p:nvPr>
                <p:ph idx="1"/>
              </p:nvPr>
            </p:nvSpPr>
            <p:spPr>
              <a:xfrm>
                <a:off x="6096001" y="1825624"/>
                <a:ext cx="5998028" cy="5032375"/>
              </a:xfrm>
              <a:blipFill rotWithShape="0">
                <a:blip r:embed="rId3"/>
                <a:stretch>
                  <a:fillRect l="-1829" t="-1937" r="-1728"/>
                </a:stretch>
              </a:blipFill>
            </p:spPr>
            <p:txBody>
              <a:bodyPr/>
              <a:lstStyle/>
              <a:p>
                <a:r>
                  <a:rPr lang="pt-BR">
                    <a:noFill/>
                  </a:rPr>
                  <a:t> </a:t>
                </a:r>
              </a:p>
            </p:txBody>
          </p:sp>
        </mc:Fallback>
      </mc:AlternateContent>
      <p:pic>
        <p:nvPicPr>
          <p:cNvPr id="4" name="Imagem 5">
            <a:extLst>
              <a:ext uri="{FF2B5EF4-FFF2-40B4-BE49-F238E27FC236}">
                <a16:creationId xmlns:a16="http://schemas.microsoft.com/office/drawing/2014/main" id="{42A1713D-06B5-FB35-8488-833F7CAB716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4041" y="2536723"/>
            <a:ext cx="6066351" cy="2487561"/>
          </a:xfrm>
          <a:prstGeom prst="rect">
            <a:avLst/>
          </a:prstGeom>
        </p:spPr>
      </p:pic>
    </p:spTree>
    <p:extLst>
      <p:ext uri="{BB962C8B-B14F-4D97-AF65-F5344CB8AC3E}">
        <p14:creationId xmlns:p14="http://schemas.microsoft.com/office/powerpoint/2010/main" val="7651989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9D242-5419-0FFB-7863-B3BB3BD80869}"/>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4B1DEA3-BAAD-D90C-CD9D-99A5A24F4544}"/>
                  </a:ext>
                </a:extLst>
              </p:cNvPr>
              <p:cNvSpPr>
                <a:spLocks noGrp="1"/>
              </p:cNvSpPr>
              <p:nvPr>
                <p:ph idx="1"/>
              </p:nvPr>
            </p:nvSpPr>
            <p:spPr>
              <a:xfrm>
                <a:off x="838199" y="1825624"/>
                <a:ext cx="11353801" cy="5032375"/>
              </a:xfrm>
            </p:spPr>
            <p:txBody>
              <a:bodyPr>
                <a:normAutofit/>
              </a:bodyPr>
              <a:lstStyle/>
              <a:p>
                <a:r>
                  <a:rPr lang="pt-BR" dirty="0"/>
                  <a:t>Para atingir o objetivo, devemos definir uma </a:t>
                </a:r>
                <a:r>
                  <a:rPr lang="pt-BR" b="1" dirty="0"/>
                  <a:t>função de erro </a:t>
                </a:r>
                <a:r>
                  <a:rPr lang="pt-BR" dirty="0"/>
                  <a:t>a ser </a:t>
                </a:r>
                <a:r>
                  <a:rPr lang="pt-BR" b="1" dirty="0">
                    <a:solidFill>
                      <a:srgbClr val="7030A0"/>
                    </a:solidFill>
                  </a:rPr>
                  <a:t>minimizada</a:t>
                </a:r>
                <a:r>
                  <a:rPr lang="pt-BR" dirty="0"/>
                  <a:t>.</a:t>
                </a:r>
              </a:p>
              <a:p>
                <a:r>
                  <a:rPr lang="pt-BR" dirty="0"/>
                  <a:t>Usamos a </a:t>
                </a:r>
                <a:r>
                  <a:rPr lang="pt-BR" b="1" dirty="0">
                    <a:solidFill>
                      <a:schemeClr val="accent2"/>
                    </a:solidFill>
                  </a:rPr>
                  <a:t>generalização da função da entropia cruzada</a:t>
                </a:r>
                <a:r>
                  <a:rPr lang="pt-BR" dirty="0"/>
                  <a:t>, chamada de </a:t>
                </a:r>
                <a:r>
                  <a:rPr lang="pt-BR" b="1" dirty="0"/>
                  <a:t>entropia cruzada categórica</a:t>
                </a:r>
                <a:r>
                  <a:rPr lang="pt-BR" dirty="0"/>
                  <a:t>, a qual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r>
                        <a:rPr lang="pt-BR" i="1">
                          <a:latin typeface="Cambria Math" panose="02040503050406030204" pitchFamily="18" charset="0"/>
                        </a:rPr>
                        <m:t>,</m:t>
                      </m:r>
                    </m:oMath>
                  </m:oMathPara>
                </a14:m>
                <a:endParaRPr lang="pt-BR" dirty="0"/>
              </a:p>
              <a:p>
                <a:pPr marL="0" indent="0">
                  <a:buNone/>
                </a:pPr>
                <a:r>
                  <a:rPr lang="pt-BR" dirty="0"/>
                  <a:t>onde 1{⋅} é a </a:t>
                </a:r>
                <a:r>
                  <a:rPr lang="pt-BR" b="1" dirty="0"/>
                  <a:t>função indicadora </a:t>
                </a:r>
                <a:r>
                  <a:rPr lang="pt-BR" dirty="0"/>
                  <a:t>(1{condição verdadeira} = 1 e 1{condição falsa} = 0), </a:t>
                </a:r>
                <a14:m>
                  <m:oMath xmlns:m="http://schemas.openxmlformats.org/officeDocument/2006/math">
                    <m:r>
                      <a:rPr lang="pt-BR" b="1" i="1" smtClean="0">
                        <a:latin typeface="Cambria Math" panose="02040503050406030204" pitchFamily="18" charset="0"/>
                      </a:rPr>
                      <m:t>𝑨</m:t>
                    </m:r>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oMath>
                </a14:m>
                <a:r>
                  <a:rPr lang="pt-BR" dirty="0"/>
                  <a:t> é a matriz com 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b="1" i="1" dirty="0"/>
                  <a:t> </a:t>
                </a:r>
                <a:r>
                  <a:rPr lang="pt-BR" b="1" dirty="0"/>
                  <a:t>funções hipótese</a:t>
                </a:r>
                <a:r>
                  <a:rPr lang="pt-BR"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é rótulo do </a:t>
                </a:r>
                <a14:m>
                  <m:oMath xmlns:m="http://schemas.openxmlformats.org/officeDocument/2006/math">
                    <m:r>
                      <a:rPr lang="pt-BR" i="1">
                        <a:latin typeface="Cambria Math" panose="02040503050406030204" pitchFamily="18" charset="0"/>
                      </a:rPr>
                      <m:t>𝑛</m:t>
                    </m:r>
                  </m:oMath>
                </a14:m>
                <a:r>
                  <a:rPr lang="pt-BR" dirty="0"/>
                  <a:t>-ésimo exemplo e </a:t>
                </a:r>
                <a14:m>
                  <m:oMath xmlns:m="http://schemas.openxmlformats.org/officeDocument/2006/math">
                    <m:sSubSup>
                      <m:sSubSupPr>
                        <m:ctrlPr>
                          <a:rPr lang="pt-BR" b="1" i="1">
                            <a:latin typeface="Cambria Math" panose="02040503050406030204" pitchFamily="18" charset="0"/>
                          </a:rPr>
                        </m:ctrlPr>
                      </m:sSubSup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oMath>
                </a14:m>
                <a:r>
                  <a:rPr lang="pt-BR" dirty="0"/>
                  <a:t> é 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saída do modelo para o </a:t>
                </a:r>
                <a14:m>
                  <m:oMath xmlns:m="http://schemas.openxmlformats.org/officeDocument/2006/math">
                    <m:r>
                      <a:rPr lang="pt-BR" i="1">
                        <a:latin typeface="Cambria Math" panose="02040503050406030204" pitchFamily="18" charset="0"/>
                      </a:rPr>
                      <m:t>𝑛</m:t>
                    </m:r>
                  </m:oMath>
                </a14:m>
                <a:r>
                  <a:rPr lang="pt-BR" dirty="0"/>
                  <a:t>-ésimo exemplo.</a:t>
                </a:r>
              </a:p>
              <a:p>
                <a:pPr lvl="1">
                  <a:buFont typeface="Wingdings" panose="05000000000000000000" pitchFamily="2" charset="2"/>
                  <a:buChar char="§"/>
                </a:pPr>
                <a:r>
                  <a:rPr lang="pt-BR" b="1" dirty="0"/>
                  <a:t>OBS</a:t>
                </a:r>
                <a:r>
                  <a:rPr lang="pt-BR" dirty="0"/>
                  <a:t>.: O erro tende a 0 quando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oMath>
                </a14:m>
                <a:r>
                  <a:rPr lang="pt-BR" dirty="0"/>
                  <a:t> tende a 1, caso contrário, ele aumenta.</a:t>
                </a:r>
              </a:p>
            </p:txBody>
          </p:sp>
        </mc:Choice>
        <mc:Fallback xmlns="">
          <p:sp>
            <p:nvSpPr>
              <p:cNvPr id="3" name="Content Placeholder 2">
                <a:extLst>
                  <a:ext uri="{FF2B5EF4-FFF2-40B4-BE49-F238E27FC236}">
                    <a16:creationId xmlns="" xmlns:a16="http://schemas.microsoft.com/office/drawing/2014/main" xmlns:a14="http://schemas.microsoft.com/office/drawing/2010/main" id="{34B1DEA3-BAAD-D90C-CD9D-99A5A24F454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2"/>
                <a:stretch>
                  <a:fillRect l="-1074" t="-1937" r="-913" b="-2300"/>
                </a:stretch>
              </a:blipFill>
            </p:spPr>
            <p:txBody>
              <a:bodyPr/>
              <a:lstStyle/>
              <a:p>
                <a:r>
                  <a:rPr lang="pt-BR">
                    <a:noFill/>
                  </a:rPr>
                  <a:t> </a:t>
                </a:r>
              </a:p>
            </p:txBody>
          </p:sp>
        </mc:Fallback>
      </mc:AlternateContent>
    </p:spTree>
    <p:extLst>
      <p:ext uri="{BB962C8B-B14F-4D97-AF65-F5344CB8AC3E}">
        <p14:creationId xmlns:p14="http://schemas.microsoft.com/office/powerpoint/2010/main" val="29732743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538D5-DC01-EC48-38D2-99D754F1BB92}"/>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D7928D-3A32-7330-5FDC-756155EF2F3D}"/>
                  </a:ext>
                </a:extLst>
              </p:cNvPr>
              <p:cNvSpPr>
                <a:spLocks noGrp="1"/>
              </p:cNvSpPr>
              <p:nvPr>
                <p:ph idx="1"/>
              </p:nvPr>
            </p:nvSpPr>
            <p:spPr>
              <a:xfrm>
                <a:off x="838199" y="1840373"/>
                <a:ext cx="11152239" cy="4351338"/>
              </a:xfrm>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𝑞</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oMath>
                  </m:oMathPara>
                </a14:m>
                <a:endParaRPr lang="pt-BR" dirty="0"/>
              </a:p>
              <a:p>
                <a:r>
                  <a:rPr lang="pt-BR" dirty="0"/>
                  <a:t>A matriz </a:t>
                </a:r>
                <a14:m>
                  <m:oMath xmlns:m="http://schemas.openxmlformats.org/officeDocument/2006/math">
                    <m:r>
                      <a:rPr lang="pt-BR" b="1" i="1">
                        <a:latin typeface="Cambria Math" panose="02040503050406030204" pitchFamily="18" charset="0"/>
                      </a:rPr>
                      <m:t>𝑨</m:t>
                    </m:r>
                  </m:oMath>
                </a14:m>
                <a:r>
                  <a:rPr lang="pt-BR" dirty="0"/>
                  <a:t> contém em suas colunas os vetores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de cada uma das </a:t>
                </a:r>
                <a14:m>
                  <m:oMath xmlns:m="http://schemas.openxmlformats.org/officeDocument/2006/math">
                    <m:r>
                      <a:rPr lang="pt-BR" i="1">
                        <a:latin typeface="Cambria Math" panose="02040503050406030204" pitchFamily="18" charset="0"/>
                      </a:rPr>
                      <m:t>𝑄</m:t>
                    </m:r>
                  </m:oMath>
                </a14:m>
                <a:r>
                  <a:rPr lang="pt-BR" dirty="0"/>
                  <a:t> </a:t>
                </a:r>
                <a:r>
                  <a:rPr lang="pt-BR" b="1" dirty="0"/>
                  <a:t>funções discriminantes</a:t>
                </a:r>
                <a:r>
                  <a:rPr lang="pt-BR" dirty="0"/>
                  <a:t>.</a:t>
                </a:r>
              </a:p>
              <a:p>
                <a:r>
                  <a:rPr lang="pt-BR" dirty="0"/>
                  <a:t>Essa função mede a </a:t>
                </a:r>
                <a:r>
                  <a:rPr lang="pt-BR" b="1" dirty="0">
                    <a:solidFill>
                      <a:schemeClr val="accent2"/>
                    </a:solidFill>
                  </a:rPr>
                  <a:t>diferença </a:t>
                </a:r>
                <a:r>
                  <a:rPr lang="pt-BR" b="1" dirty="0">
                    <a:solidFill>
                      <a:srgbClr val="7030A0"/>
                    </a:solidFill>
                  </a:rPr>
                  <a:t>entre as distribuições de probabilidade da saída do modelo e a dos rótulos </a:t>
                </a:r>
                <a:r>
                  <a:rPr lang="pt-BR" dirty="0"/>
                  <a:t>das classes.</a:t>
                </a:r>
              </a:p>
            </p:txBody>
          </p:sp>
        </mc:Choice>
        <mc:Fallback xmlns="">
          <p:sp>
            <p:nvSpPr>
              <p:cNvPr id="3" name="Content Placeholder 2">
                <a:extLst>
                  <a:ext uri="{FF2B5EF4-FFF2-40B4-BE49-F238E27FC236}">
                    <a16:creationId xmlns="" xmlns:a16="http://schemas.microsoft.com/office/drawing/2014/main" xmlns:a14="http://schemas.microsoft.com/office/drawing/2010/main" id="{17D7928D-3A32-7330-5FDC-756155EF2F3D}"/>
                  </a:ext>
                </a:extLst>
              </p:cNvPr>
              <p:cNvSpPr>
                <a:spLocks noGrp="1" noRot="1" noChangeAspect="1" noMove="1" noResize="1" noEditPoints="1" noAdjustHandles="1" noChangeArrowheads="1" noChangeShapeType="1" noTextEdit="1"/>
              </p:cNvSpPr>
              <p:nvPr>
                <p:ph idx="1"/>
              </p:nvPr>
            </p:nvSpPr>
            <p:spPr>
              <a:xfrm>
                <a:off x="838199" y="1840373"/>
                <a:ext cx="11152239" cy="4351338"/>
              </a:xfrm>
              <a:blipFill rotWithShape="0">
                <a:blip r:embed="rId2"/>
                <a:stretch>
                  <a:fillRect l="-929" r="-874"/>
                </a:stretch>
              </a:blipFill>
            </p:spPr>
            <p:txBody>
              <a:bodyPr/>
              <a:lstStyle/>
              <a:p>
                <a:r>
                  <a:rPr lang="pt-BR">
                    <a:noFill/>
                  </a:rPr>
                  <a:t> </a:t>
                </a:r>
              </a:p>
            </p:txBody>
          </p:sp>
        </mc:Fallback>
      </mc:AlternateContent>
    </p:spTree>
    <p:extLst>
      <p:ext uri="{BB962C8B-B14F-4D97-AF65-F5344CB8AC3E}">
        <p14:creationId xmlns:p14="http://schemas.microsoft.com/office/powerpoint/2010/main" val="17409132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E7CD05-66F2-8967-6154-CCED38E0F987}"/>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A86630-5D79-AD4B-79FC-6C8373E8DB39}"/>
                  </a:ext>
                </a:extLst>
              </p:cNvPr>
              <p:cNvSpPr>
                <a:spLocks noGrp="1"/>
              </p:cNvSpPr>
              <p:nvPr>
                <p:ph idx="1"/>
              </p:nvPr>
            </p:nvSpPr>
            <p:spPr>
              <a:xfrm>
                <a:off x="838200" y="1825624"/>
                <a:ext cx="11240730" cy="5032375"/>
              </a:xfrm>
            </p:spPr>
            <p:txBody>
              <a:bodyPr>
                <a:normAutofit/>
              </a:bodyPr>
              <a:lstStyle/>
              <a:p>
                <a:r>
                  <a:rPr lang="pt-BR" dirty="0"/>
                  <a:t>Usando a codificação </a:t>
                </a:r>
                <a:r>
                  <a:rPr lang="pt-BR" b="1" i="1" dirty="0"/>
                  <a:t>one-hot</a:t>
                </a:r>
                <a:r>
                  <a:rPr lang="pt-BR" dirty="0"/>
                  <a:t>, a equação pode ser re-escrita como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m:t>
                            </m:r>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o vetor do </a:t>
                </a:r>
                <a14:m>
                  <m:oMath xmlns:m="http://schemas.openxmlformats.org/officeDocument/2006/math">
                    <m:r>
                      <a:rPr lang="pt-BR" i="1">
                        <a:latin typeface="Cambria Math" panose="02040503050406030204" pitchFamily="18" charset="0"/>
                      </a:rPr>
                      <m:t>𝑛</m:t>
                    </m:r>
                  </m:oMath>
                </a14:m>
                <a:r>
                  <a:rPr lang="pt-BR" dirty="0"/>
                  <a:t>-</a:t>
                </a:r>
                <a:r>
                  <a:rPr lang="pt-BR" dirty="0" err="1"/>
                  <a:t>ésimo</a:t>
                </a:r>
                <a:r>
                  <a:rPr lang="pt-BR" dirty="0"/>
                  <a:t> rótulo usando a codificação </a:t>
                </a:r>
                <a:r>
                  <a:rPr lang="pt-BR" b="1" i="1" dirty="0"/>
                  <a:t>one-hot</a:t>
                </a:r>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1" i="1">
                                <a:latin typeface="Cambria Math" panose="02040503050406030204" pitchFamily="18" charset="0"/>
                              </a:rPr>
                              <m:t>,⋯</m:t>
                            </m:r>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𝑄</m:t>
                                </m:r>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o vetor com as </a:t>
                </a:r>
                <a14:m>
                  <m:oMath xmlns:m="http://schemas.openxmlformats.org/officeDocument/2006/math">
                    <m:r>
                      <a:rPr lang="pt-BR" i="1" dirty="0">
                        <a:latin typeface="Cambria Math" panose="02040503050406030204" pitchFamily="18" charset="0"/>
                        <a:ea typeface="Cambria Math" panose="02040503050406030204" pitchFamily="18" charset="0"/>
                      </a:rPr>
                      <m:t>𝑄</m:t>
                    </m:r>
                  </m:oMath>
                </a14:m>
                <a:r>
                  <a:rPr lang="pt-BR" dirty="0"/>
                  <a:t> saídas do modelo para o </a:t>
                </a:r>
                <a14:m>
                  <m:oMath xmlns:m="http://schemas.openxmlformats.org/officeDocument/2006/math">
                    <m:r>
                      <a:rPr lang="pt-BR" i="1">
                        <a:latin typeface="Cambria Math" panose="02040503050406030204" pitchFamily="18" charset="0"/>
                      </a:rPr>
                      <m:t>𝑛</m:t>
                    </m:r>
                  </m:oMath>
                </a14:m>
                <a:r>
                  <a:rPr lang="pt-BR" dirty="0"/>
                  <a:t>-ésimo exemplo de entrada.</a:t>
                </a:r>
                <a:endParaRPr lang="pt-BR" b="1" i="1" dirty="0"/>
              </a:p>
              <a:p>
                <a:r>
                  <a:rPr lang="pt-BR" b="0" dirty="0">
                    <a:effectLst/>
                  </a:rPr>
                  <a:t>Durante o </a:t>
                </a:r>
                <a:r>
                  <a:rPr lang="pt-BR" b="1" dirty="0">
                    <a:solidFill>
                      <a:srgbClr val="7030A0"/>
                    </a:solidFill>
                    <a:effectLst/>
                  </a:rPr>
                  <a:t>treinamento</a:t>
                </a:r>
                <a:r>
                  <a:rPr lang="pt-BR" b="0" dirty="0">
                    <a:effectLst/>
                  </a:rPr>
                  <a:t> do modelo, o </a:t>
                </a:r>
                <a:r>
                  <a:rPr lang="pt-BR" b="1" dirty="0">
                    <a:solidFill>
                      <a:srgbClr val="7030A0"/>
                    </a:solidFill>
                    <a:effectLst/>
                  </a:rPr>
                  <a:t>objetivo é minimizar a entropia cruzada categórica</a:t>
                </a:r>
                <a:r>
                  <a:rPr lang="pt-BR" b="0" dirty="0">
                    <a:effectLst/>
                  </a:rPr>
                  <a:t>, ou seja, fazer com que as </a:t>
                </a:r>
                <a:r>
                  <a:rPr lang="pt-BR" b="1" dirty="0">
                    <a:solidFill>
                      <a:srgbClr val="00B050"/>
                    </a:solidFill>
                    <a:effectLst/>
                  </a:rPr>
                  <a:t>probabilidades previstas pelo modelo se aproximem ao máximo dos rótulos dos exemplos</a:t>
                </a:r>
                <a:r>
                  <a:rPr lang="pt-BR" b="0" dirty="0">
                    <a:effectLst/>
                  </a:rPr>
                  <a:t>. </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21A86630-5D79-AD4B-79FC-6C8373E8DB39}"/>
                  </a:ext>
                </a:extLst>
              </p:cNvPr>
              <p:cNvSpPr>
                <a:spLocks noGrp="1" noRot="1" noChangeAspect="1" noMove="1" noResize="1" noEditPoints="1" noAdjustHandles="1" noChangeArrowheads="1" noChangeShapeType="1" noTextEdit="1"/>
              </p:cNvSpPr>
              <p:nvPr>
                <p:ph idx="1"/>
              </p:nvPr>
            </p:nvSpPr>
            <p:spPr>
              <a:xfrm>
                <a:off x="838200" y="1825624"/>
                <a:ext cx="11240730" cy="5032375"/>
              </a:xfrm>
              <a:blipFill rotWithShape="0">
                <a:blip r:embed="rId2"/>
                <a:stretch>
                  <a:fillRect l="-1139" t="-1937" r="-1248"/>
                </a:stretch>
              </a:blipFill>
            </p:spPr>
            <p:txBody>
              <a:bodyPr/>
              <a:lstStyle/>
              <a:p>
                <a:r>
                  <a:rPr lang="pt-BR">
                    <a:noFill/>
                  </a:rPr>
                  <a:t> </a:t>
                </a:r>
              </a:p>
            </p:txBody>
          </p:sp>
        </mc:Fallback>
      </mc:AlternateContent>
    </p:spTree>
    <p:extLst>
      <p:ext uri="{BB962C8B-B14F-4D97-AF65-F5344CB8AC3E}">
        <p14:creationId xmlns:p14="http://schemas.microsoft.com/office/powerpoint/2010/main" val="24380809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4598F11-6F65-0753-89FE-F5ABED77B46A}"/>
              </a:ext>
            </a:extLst>
          </p:cNvPr>
          <p:cNvSpPr>
            <a:spLocks noGrp="1"/>
          </p:cNvSpPr>
          <p:nvPr>
            <p:ph type="title"/>
          </p:nvPr>
        </p:nvSpPr>
        <p:spPr/>
        <p:txBody>
          <a:bodyPr/>
          <a:lstStyle/>
          <a:p>
            <a:r>
              <a:rPr lang="pt-BR" dirty="0"/>
              <a:t>Função de erro</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EF4E6DC-E916-D97A-4D18-D469285C4F2C}"/>
                  </a:ext>
                </a:extLst>
              </p:cNvPr>
              <p:cNvSpPr>
                <a:spLocks noGrp="1"/>
              </p:cNvSpPr>
              <p:nvPr>
                <p:ph idx="1"/>
              </p:nvPr>
            </p:nvSpPr>
            <p:spPr>
              <a:xfrm>
                <a:off x="838200" y="1825624"/>
                <a:ext cx="112014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r>
                        <a:rPr lang="pt-BR" b="1" i="1" smtClean="0">
                          <a:latin typeface="Cambria Math" panose="02040503050406030204" pitchFamily="18" charset="0"/>
                        </a:rPr>
                        <m:t>.</m:t>
                      </m:r>
                    </m:oMath>
                  </m:oMathPara>
                </a14:m>
                <a:endParaRPr lang="pt-BR" dirty="0"/>
              </a:p>
              <a:p>
                <a:r>
                  <a:rPr lang="pt-BR" dirty="0"/>
                  <a:t>Notem que quando existem apenas duas classes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 a </a:t>
                </a:r>
                <a:r>
                  <a:rPr lang="pt-BR" b="1" dirty="0"/>
                  <a:t>função da entropia cruzada categórica </a:t>
                </a:r>
                <a:r>
                  <a:rPr lang="pt-BR" dirty="0"/>
                  <a:t>é equivalente à </a:t>
                </a:r>
                <a:r>
                  <a:rPr lang="pt-BR" b="1" dirty="0"/>
                  <a:t>função da entropia cruzada </a:t>
                </a:r>
                <a:r>
                  <a:rPr lang="pt-BR" dirty="0"/>
                  <a:t>do </a:t>
                </a:r>
                <a:r>
                  <a:rPr lang="pt-BR" b="1" dirty="0"/>
                  <a:t>regressor logístico</a:t>
                </a:r>
                <a:r>
                  <a:rPr lang="pt-BR" dirty="0"/>
                  <a:t>.</a:t>
                </a:r>
              </a:p>
              <a:p>
                <a:r>
                  <a:rPr lang="pt-BR" dirty="0"/>
                  <a:t>Ou seja, mesmo tendo sido pensado para o caso onde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o regressor </a:t>
                </a:r>
                <a:r>
                  <a:rPr lang="pt-BR" i="1" dirty="0"/>
                  <a:t>softmax</a:t>
                </a:r>
                <a:r>
                  <a:rPr lang="pt-BR" dirty="0"/>
                  <a:t> também pode ser usado quando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a:t>
                </a:r>
              </a:p>
              <a:p>
                <a:r>
                  <a:rPr lang="pt-BR" dirty="0"/>
                  <a:t>Entretanto, existe um problema com essa função de erro.</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FEF4E6DC-E916-D97A-4D18-D469285C4F2C}"/>
                  </a:ext>
                </a:extLst>
              </p:cNvPr>
              <p:cNvSpPr>
                <a:spLocks noGrp="1" noRot="1" noChangeAspect="1" noMove="1" noResize="1" noEditPoints="1" noAdjustHandles="1" noChangeArrowheads="1" noChangeShapeType="1" noTextEdit="1"/>
              </p:cNvSpPr>
              <p:nvPr>
                <p:ph idx="1"/>
              </p:nvPr>
            </p:nvSpPr>
            <p:spPr>
              <a:xfrm>
                <a:off x="838200" y="1825624"/>
                <a:ext cx="11201400" cy="5032375"/>
              </a:xfrm>
              <a:blipFill rotWithShape="0">
                <a:blip r:embed="rId3"/>
                <a:stretch>
                  <a:fillRect l="-980"/>
                </a:stretch>
              </a:blipFill>
            </p:spPr>
            <p:txBody>
              <a:bodyPr/>
              <a:lstStyle/>
              <a:p>
                <a:r>
                  <a:rPr lang="pt-BR">
                    <a:noFill/>
                  </a:rPr>
                  <a:t> </a:t>
                </a:r>
              </a:p>
            </p:txBody>
          </p:sp>
        </mc:Fallback>
      </mc:AlternateContent>
    </p:spTree>
    <p:extLst>
      <p:ext uri="{BB962C8B-B14F-4D97-AF65-F5344CB8AC3E}">
        <p14:creationId xmlns:p14="http://schemas.microsoft.com/office/powerpoint/2010/main" val="2229400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807923-28D2-8150-E304-526DA460D220}"/>
              </a:ext>
            </a:extLst>
          </p:cNvPr>
          <p:cNvSpPr>
            <a:spLocks noGrp="1"/>
          </p:cNvSpPr>
          <p:nvPr>
            <p:ph type="title"/>
          </p:nvPr>
        </p:nvSpPr>
        <p:spPr/>
        <p:txBody>
          <a:bodyPr/>
          <a:lstStyle/>
          <a:p>
            <a:r>
              <a:rPr lang="pt-BR" dirty="0"/>
              <a:t>Função de erro</a:t>
            </a:r>
            <a:endParaRPr lang="pt-BR" i="1" dirty="0"/>
          </a:p>
        </p:txBody>
      </p:sp>
      <p:sp>
        <p:nvSpPr>
          <p:cNvPr id="3" name="Espaço Reservado para Conteúdo 2">
            <a:extLst>
              <a:ext uri="{FF2B5EF4-FFF2-40B4-BE49-F238E27FC236}">
                <a16:creationId xmlns:a16="http://schemas.microsoft.com/office/drawing/2014/main" id="{FFACD180-C529-EB91-BD2D-B5F491B1E35C}"/>
              </a:ext>
            </a:extLst>
          </p:cNvPr>
          <p:cNvSpPr>
            <a:spLocks noGrp="1"/>
          </p:cNvSpPr>
          <p:nvPr>
            <p:ph idx="1"/>
          </p:nvPr>
        </p:nvSpPr>
        <p:spPr>
          <a:xfrm>
            <a:off x="5867400" y="1825624"/>
            <a:ext cx="6162676" cy="5032375"/>
          </a:xfrm>
        </p:spPr>
        <p:txBody>
          <a:bodyPr/>
          <a:lstStyle/>
          <a:p>
            <a:r>
              <a:rPr lang="pt-BR" dirty="0"/>
              <a:t>Essa </a:t>
            </a:r>
            <a:r>
              <a:rPr lang="pt-BR" b="1" dirty="0"/>
              <a:t>função de erro </a:t>
            </a:r>
            <a:r>
              <a:rPr lang="pt-BR" b="1" dirty="0">
                <a:solidFill>
                  <a:srgbClr val="7030A0"/>
                </a:solidFill>
              </a:rPr>
              <a:t>não é linear </a:t>
            </a:r>
            <a:r>
              <a:rPr lang="pt-BR" dirty="0"/>
              <a:t>e, portanto, </a:t>
            </a:r>
            <a:r>
              <a:rPr lang="pt-BR" b="1" dirty="0">
                <a:solidFill>
                  <a:srgbClr val="7030A0"/>
                </a:solidFill>
              </a:rPr>
              <a:t>não existe uma </a:t>
            </a:r>
            <a:r>
              <a:rPr lang="pt-BR" b="1" dirty="0">
                <a:solidFill>
                  <a:schemeClr val="accent2"/>
                </a:solidFill>
              </a:rPr>
              <a:t>forma fechada</a:t>
            </a:r>
            <a:r>
              <a:rPr lang="pt-BR" b="1" dirty="0"/>
              <a:t> </a:t>
            </a:r>
            <a:r>
              <a:rPr lang="pt-BR" dirty="0"/>
              <a:t>para encontramos os pesos.</a:t>
            </a:r>
          </a:p>
          <a:p>
            <a:r>
              <a:rPr lang="pt-BR" dirty="0"/>
              <a:t>Porém, ela é </a:t>
            </a:r>
            <a:r>
              <a:rPr lang="pt-BR" b="1" dirty="0">
                <a:solidFill>
                  <a:srgbClr val="00B050"/>
                </a:solidFill>
              </a:rPr>
              <a:t>convexa</a:t>
            </a:r>
            <a:r>
              <a:rPr lang="pt-BR" dirty="0"/>
              <a:t> e </a:t>
            </a:r>
            <a:r>
              <a:rPr lang="pt-BR" b="1" dirty="0">
                <a:solidFill>
                  <a:srgbClr val="00B050"/>
                </a:solidFill>
              </a:rPr>
              <a:t>contínua</a:t>
            </a:r>
            <a:r>
              <a:rPr lang="pt-BR" dirty="0"/>
              <a:t>. </a:t>
            </a:r>
          </a:p>
          <a:p>
            <a:r>
              <a:rPr lang="pt-BR" dirty="0"/>
              <a:t>Assim,</a:t>
            </a:r>
            <a:r>
              <a:rPr lang="pt-BR" b="1" dirty="0">
                <a:solidFill>
                  <a:srgbClr val="00B050"/>
                </a:solidFill>
              </a:rPr>
              <a:t> o algoritmo do gradiente descendente (qualquer versão) pode ser usado para encontrar o </a:t>
            </a:r>
            <a:r>
              <a:rPr lang="pt-BR" b="1" dirty="0">
                <a:solidFill>
                  <a:srgbClr val="7030A0"/>
                </a:solidFill>
              </a:rPr>
              <a:t>mínimo global</a:t>
            </a:r>
            <a:r>
              <a:rPr lang="pt-BR" dirty="0"/>
              <a:t>.</a:t>
            </a:r>
          </a:p>
          <a:p>
            <a:endParaRPr lang="pt-BR" dirty="0"/>
          </a:p>
        </p:txBody>
      </p:sp>
      <p:pic>
        <p:nvPicPr>
          <p:cNvPr id="1026" name="Picture 2">
            <a:extLst>
              <a:ext uri="{FF2B5EF4-FFF2-40B4-BE49-F238E27FC236}">
                <a16:creationId xmlns:a16="http://schemas.microsoft.com/office/drawing/2014/main" id="{6FC2BDE8-91E0-6379-9BA3-76511C6153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222" t="24652" r="11445" b="14963"/>
          <a:stretch/>
        </p:blipFill>
        <p:spPr bwMode="auto">
          <a:xfrm>
            <a:off x="568158" y="2428240"/>
            <a:ext cx="4704881" cy="3261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2771BE1F-7B74-36A4-AA69-9171B025A4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262" t="6293" r="29928" b="89004"/>
          <a:stretch/>
        </p:blipFill>
        <p:spPr bwMode="auto">
          <a:xfrm>
            <a:off x="1559157" y="2092960"/>
            <a:ext cx="2722881" cy="25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61134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929962-9BFC-4174-AB35-CC23FA013168}"/>
              </a:ext>
            </a:extLst>
          </p:cNvPr>
          <p:cNvSpPr>
            <a:spLocks noGrp="1"/>
          </p:cNvSpPr>
          <p:nvPr>
            <p:ph type="title"/>
          </p:nvPr>
        </p:nvSpPr>
        <p:spPr/>
        <p:txBody>
          <a:bodyPr/>
          <a:lstStyle/>
          <a:p>
            <a:r>
              <a:rPr lang="pt-BR" dirty="0"/>
              <a:t>Gradiente descendente</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D38055D-E355-F780-9CA0-0337EA0BE4FD}"/>
                  </a:ext>
                </a:extLst>
              </p:cNvPr>
              <p:cNvSpPr>
                <a:spLocks noGrp="1"/>
              </p:cNvSpPr>
              <p:nvPr>
                <p:ph idx="1"/>
              </p:nvPr>
            </p:nvSpPr>
            <p:spPr>
              <a:xfrm>
                <a:off x="838199" y="1825625"/>
                <a:ext cx="11353801" cy="5032375"/>
              </a:xfrm>
            </p:spPr>
            <p:txBody>
              <a:bodyPr>
                <a:normAutofit/>
              </a:bodyPr>
              <a:lstStyle/>
              <a:p>
                <a:r>
                  <a:rPr lang="pt-BR" dirty="0"/>
                  <a:t>A atualização dos </a:t>
                </a:r>
                <a:r>
                  <a:rPr lang="pt-BR" b="1" dirty="0"/>
                  <a:t>pesos</a:t>
                </a:r>
                <a:r>
                  <a:rPr lang="pt-BR" dirty="0"/>
                  <a:t> da </a:t>
                </a:r>
                <a:r>
                  <a:rPr lang="pt-BR" i="1" dirty="0"/>
                  <a:t>q</a:t>
                </a:r>
                <a:r>
                  <a:rPr lang="pt-BR" dirty="0"/>
                  <a:t>-</a:t>
                </a:r>
                <a:r>
                  <a:rPr lang="pt-BR" dirty="0" err="1"/>
                  <a:t>ésima</a:t>
                </a:r>
                <a:r>
                  <a:rPr lang="pt-BR" dirty="0"/>
                  <a:t> função discriminante,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0" i="1" smtClean="0">
                          <a:latin typeface="Cambria Math" panose="02040503050406030204" pitchFamily="18" charset="0"/>
                        </a:rPr>
                        <m:t>, </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𝑞</m:t>
                      </m:r>
                      <m:r>
                        <a:rPr lang="pt-BR" sz="2400" b="0" i="1" smtClean="0">
                          <a:latin typeface="Cambria Math" panose="02040503050406030204" pitchFamily="18" charset="0"/>
                          <a:ea typeface="Cambria Math" panose="02040503050406030204" pitchFamily="18" charset="0"/>
                        </a:rPr>
                        <m:t>.</m:t>
                      </m:r>
                    </m:oMath>
                  </m:oMathPara>
                </a14:m>
                <a:endParaRPr lang="pt-BR" sz="2400" dirty="0"/>
              </a:p>
              <a:p>
                <a:r>
                  <a:rPr lang="pt-BR" dirty="0"/>
                  <a:t>Considerando o </a:t>
                </a:r>
                <a:r>
                  <a:rPr lang="pt-BR" b="1" dirty="0"/>
                  <a:t>hiperplano</a:t>
                </a:r>
                <a:r>
                  <a:rPr lang="pt-BR" dirty="0"/>
                  <a:t> como </a:t>
                </a:r>
                <a:r>
                  <a:rPr lang="pt-BR" b="1" dirty="0"/>
                  <a:t>função discriminante</a:t>
                </a:r>
                <a:r>
                  <a:rPr lang="pt-BR" dirty="0"/>
                  <a:t>, a derivada da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oMath>
                </a14:m>
                <a:r>
                  <a:rPr lang="pt-BR" dirty="0"/>
                  <a:t>, com respeito ao vetor de pesos,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1" i="1">
                          <a:latin typeface="Cambria Math" panose="02040503050406030204" pitchFamily="18" charset="0"/>
                        </a:rPr>
                        <m:t>=</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b="0" i="1" smtClean="0">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1</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b="0" i="1" smtClean="0">
                                          <a:latin typeface="Cambria Math" panose="02040503050406030204" pitchFamily="18" charset="0"/>
                                        </a:rPr>
                                        <m:t>𝑛</m:t>
                                      </m:r>
                                    </m:e>
                                  </m:d>
                                  <m:r>
                                    <a:rPr lang="pt-BR" sz="2400" i="1">
                                      <a:latin typeface="Cambria Math" panose="02040503050406030204" pitchFamily="18" charset="0"/>
                                    </a:rPr>
                                    <m:t>==</m:t>
                                  </m:r>
                                  <m:r>
                                    <a:rPr lang="pt-BR" sz="2400" b="0" i="1" smtClean="0">
                                      <a:latin typeface="Cambria Math" panose="02040503050406030204" pitchFamily="18" charset="0"/>
                                    </a:rPr>
                                    <m:t>𝑞</m:t>
                                  </m:r>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nary>
                      <m:r>
                        <a:rPr lang="pt-BR" sz="2400" i="1">
                          <a:latin typeface="Cambria Math" panose="02040503050406030204" pitchFamily="18" charset="0"/>
                        </a:rPr>
                        <m:t>=</m:t>
                      </m:r>
                      <m:sSup>
                        <m:sSupPr>
                          <m:ctrlPr>
                            <a:rPr lang="pt-BR" sz="2400" i="1">
                              <a:latin typeface="Cambria Math" panose="02040503050406030204" pitchFamily="18" charset="0"/>
                            </a:rPr>
                          </m:ctrlPr>
                        </m:sSupPr>
                        <m:e>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r>
                            <a:rPr lang="pt-BR" sz="2400" b="1" i="1">
                              <a:latin typeface="Cambria Math" panose="02040503050406030204" pitchFamily="18" charset="0"/>
                            </a:rPr>
                            <m:t>𝑿</m:t>
                          </m:r>
                        </m:e>
                        <m:sup>
                          <m:r>
                            <a:rPr lang="pt-BR" sz="2400" i="1">
                              <a:latin typeface="Cambria Math" panose="02040503050406030204" pitchFamily="18" charset="0"/>
                            </a:rPr>
                            <m:t>𝑇</m:t>
                          </m:r>
                        </m:sup>
                      </m:sSup>
                      <m:d>
                        <m:dPr>
                          <m:ctrlPr>
                            <a:rPr lang="pt-BR" sz="2400" i="1">
                              <a:latin typeface="Cambria Math" panose="02040503050406030204" pitchFamily="18" charset="0"/>
                            </a:rPr>
                          </m:ctrlPr>
                        </m:dPr>
                        <m:e>
                          <m:sSub>
                            <m:sSubPr>
                              <m:ctrlPr>
                                <a:rPr lang="pt-BR" sz="2400" i="1" smtClean="0">
                                  <a:latin typeface="Cambria Math" panose="02040503050406030204" pitchFamily="18" charset="0"/>
                                </a:rPr>
                              </m:ctrlPr>
                            </m:sSubPr>
                            <m:e>
                              <m:r>
                                <a:rPr lang="pt-BR" sz="2400" b="1" i="1">
                                  <a:latin typeface="Cambria Math" panose="02040503050406030204" pitchFamily="18" charset="0"/>
                                </a:rPr>
                                <m:t>𝒚</m:t>
                              </m:r>
                            </m:e>
                            <m:sub>
                              <m:r>
                                <a:rPr lang="pt-BR" sz="2400" b="0" i="1" smtClean="0">
                                  <a:latin typeface="Cambria Math" panose="02040503050406030204" pitchFamily="18" charset="0"/>
                                </a:rPr>
                                <m:t>𝑞</m:t>
                              </m:r>
                            </m:sub>
                          </m:sSub>
                          <m:r>
                            <a:rPr lang="pt-BR" sz="2400" i="1">
                              <a:latin typeface="Cambria Math" panose="02040503050406030204" pitchFamily="18" charset="0"/>
                            </a:rPr>
                            <m:t>−</m:t>
                          </m:r>
                          <m:sSub>
                            <m:sSubPr>
                              <m:ctrlPr>
                                <a:rPr lang="pt-BR" sz="2400" i="1" smtClean="0">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b="1" i="1">
                                      <a:latin typeface="Cambria Math" panose="02040503050406030204" pitchFamily="18" charset="0"/>
                                    </a:rPr>
                                    <m:t>𝒚</m:t>
                                  </m:r>
                                </m:e>
                              </m:acc>
                            </m:e>
                            <m:sub>
                              <m:r>
                                <a:rPr lang="pt-BR" sz="2400" b="0" i="1" smtClean="0">
                                  <a:latin typeface="Cambria Math" panose="02040503050406030204" pitchFamily="18" charset="0"/>
                                </a:rPr>
                                <m:t>𝑞</m:t>
                              </m:r>
                            </m:sub>
                          </m:sSub>
                        </m:e>
                      </m:d>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+1×1</m:t>
                          </m:r>
                        </m:sup>
                      </m:sSup>
                      <m:r>
                        <a:rPr lang="pt-BR" sz="2400" b="0" i="1" smtClean="0">
                          <a:latin typeface="Cambria Math" panose="02040503050406030204" pitchFamily="18" charset="0"/>
                        </a:rPr>
                        <m:t>,</m:t>
                      </m:r>
                    </m:oMath>
                  </m:oMathPara>
                </a14:m>
                <a:endParaRPr lang="pt-BR" b="0" i="0" dirty="0">
                  <a:latin typeface="Calibri" panose="020F0502020204030204" pitchFamily="34" charset="0"/>
                </a:endParaRPr>
              </a:p>
              <a:p>
                <a:pPr marL="0" indent="0">
                  <a:buNone/>
                </a:pPr>
                <a:r>
                  <a:rPr lang="pt-BR" sz="2800" b="0" i="0" dirty="0">
                    <a:solidFill>
                      <a:srgbClr val="000000"/>
                    </a:solidFill>
                    <a:effectLst/>
                    <a:latin typeface="Calibri" panose="020F0502020204030204" pitchFamily="34" charset="0"/>
                  </a:rPr>
                  <a:t>onde </a:t>
                </a:r>
                <a14:m>
                  <m:oMath xmlns:m="http://schemas.openxmlformats.org/officeDocument/2006/math">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oMath>
                </a14:m>
                <a:r>
                  <a:rPr lang="pt-BR" sz="2800" b="0" i="0" dirty="0">
                    <a:solidFill>
                      <a:srgbClr val="000000"/>
                    </a:solidFill>
                    <a:effectLst/>
                    <a:latin typeface="CambriaMath"/>
                  </a:rPr>
                  <a:t> </a:t>
                </a:r>
                <a:r>
                  <a:rPr lang="pt-BR" sz="2800" b="0" i="0" dirty="0">
                    <a:solidFill>
                      <a:srgbClr val="000000"/>
                    </a:solidFill>
                    <a:effectLst/>
                    <a:latin typeface="Calibri" panose="020F0502020204030204" pitchFamily="34" charset="0"/>
                  </a:rPr>
                  <a:t>e </a:t>
                </a:r>
                <a14:m>
                  <m:oMath xmlns:m="http://schemas.openxmlformats.org/officeDocument/2006/math">
                    <m:sSub>
                      <m:sSubPr>
                        <m:ctrlPr>
                          <a:rPr lang="pt-BR" sz="2800" i="1">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i="1">
                            <a:latin typeface="Cambria Math" panose="02040503050406030204" pitchFamily="18" charset="0"/>
                          </a:rPr>
                          <m:t>𝑞</m:t>
                        </m:r>
                      </m:sub>
                    </m:sSub>
                    <m:r>
                      <a:rPr lang="pt-BR" sz="2800" i="1" smtClean="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pt-BR" sz="2800" b="0" i="0" dirty="0">
                    <a:solidFill>
                      <a:srgbClr val="000000"/>
                    </a:solidFill>
                    <a:effectLst/>
                    <a:latin typeface="Calibri" panose="020F0502020204030204" pitchFamily="34" charset="0"/>
                  </a:rPr>
                  <a:t>são vetores </a:t>
                </a:r>
                <a:r>
                  <a:rPr lang="pt-BR" dirty="0"/>
                  <a:t>contendo os </a:t>
                </a:r>
                <a14:m>
                  <m:oMath xmlns:m="http://schemas.openxmlformats.org/officeDocument/2006/math">
                    <m:r>
                      <a:rPr lang="pt-BR" i="1">
                        <a:latin typeface="Cambria Math" panose="02040503050406030204" pitchFamily="18" charset="0"/>
                      </a:rPr>
                      <m:t>𝑞</m:t>
                    </m:r>
                  </m:oMath>
                </a14:m>
                <a:r>
                  <a:rPr lang="pt-BR" dirty="0"/>
                  <a:t>-</a:t>
                </a:r>
                <a:r>
                  <a:rPr lang="pt-BR" dirty="0" err="1"/>
                  <a:t>ésimos</a:t>
                </a:r>
                <a:r>
                  <a:rPr lang="pt-BR" dirty="0"/>
                  <a:t> elementos dos vetores </a:t>
                </a:r>
                <a:r>
                  <a:rPr lang="pt-BR" i="1" dirty="0" err="1"/>
                  <a:t>one</a:t>
                </a:r>
                <a:r>
                  <a:rPr lang="pt-BR" i="1" dirty="0"/>
                  <a:t>-hot</a:t>
                </a:r>
                <a:r>
                  <a:rPr lang="pt-BR" dirty="0"/>
                  <a:t> e de saída do regressor </a:t>
                </a:r>
                <a:r>
                  <a:rPr lang="pt-BR" i="1" dirty="0"/>
                  <a:t>softmax</a:t>
                </a:r>
                <a:r>
                  <a:rPr lang="pt-BR" dirty="0"/>
                  <a:t> para cada um dos </a:t>
                </a:r>
                <a14:m>
                  <m:oMath xmlns:m="http://schemas.openxmlformats.org/officeDocument/2006/math">
                    <m:r>
                      <a:rPr lang="pt-BR" i="1">
                        <a:latin typeface="Cambria Math" panose="02040503050406030204" pitchFamily="18" charset="0"/>
                      </a:rPr>
                      <m:t>𝑁</m:t>
                    </m:r>
                  </m:oMath>
                </a14:m>
                <a:r>
                  <a:rPr lang="pt-BR" dirty="0"/>
                  <a:t> vetores de atributo, respectivamente.</a:t>
                </a:r>
              </a:p>
            </p:txBody>
          </p:sp>
        </mc:Choice>
        <mc:Fallback xmlns="">
          <p:sp>
            <p:nvSpPr>
              <p:cNvPr id="3" name="Espaço Reservado para Conteúdo 2">
                <a:extLst>
                  <a:ext uri="{FF2B5EF4-FFF2-40B4-BE49-F238E27FC236}">
                    <a16:creationId xmlns:a16="http://schemas.microsoft.com/office/drawing/2014/main" xmlns="" xmlns:a14="http://schemas.microsoft.com/office/drawing/2010/main" id="{1D38055D-E355-F780-9CA0-0337EA0BE4FD}"/>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rotWithShape="0">
                <a:blip r:embed="rId3"/>
                <a:stretch>
                  <a:fillRect l="-1074" t="-1695" r="-1396"/>
                </a:stretch>
              </a:blipFill>
            </p:spPr>
            <p:txBody>
              <a:bodyPr/>
              <a:lstStyle/>
              <a:p>
                <a:r>
                  <a:rPr lang="pt-BR">
                    <a:noFill/>
                  </a:rPr>
                  <a:t> </a:t>
                </a:r>
              </a:p>
            </p:txBody>
          </p:sp>
        </mc:Fallback>
      </mc:AlternateContent>
    </p:spTree>
    <p:extLst>
      <p:ext uri="{BB962C8B-B14F-4D97-AF65-F5344CB8AC3E}">
        <p14:creationId xmlns:p14="http://schemas.microsoft.com/office/powerpoint/2010/main" val="33797865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1D0947A-594D-A8D5-95F3-38EB04C6BDB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DBA288E-BBB8-E157-840C-AA685AD7D65C}"/>
                  </a:ext>
                </a:extLst>
              </p:cNvPr>
              <p:cNvSpPr>
                <a:spLocks noGrp="1"/>
              </p:cNvSpPr>
              <p:nvPr>
                <p:ph idx="1"/>
              </p:nvPr>
            </p:nvSpPr>
            <p:spPr>
              <a:xfrm>
                <a:off x="838200" y="1840864"/>
                <a:ext cx="11240729"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b="1" i="1">
                                  <a:latin typeface="Cambria Math" panose="02040503050406030204" pitchFamily="18" charset="0"/>
                                </a:rPr>
                                <m:t>𝒂</m:t>
                              </m:r>
                            </m:e>
                            <m:sub>
                              <m:r>
                                <a:rPr lang="pt-BR" sz="2800" i="1">
                                  <a:latin typeface="Cambria Math" panose="02040503050406030204" pitchFamily="18" charset="0"/>
                                </a:rPr>
                                <m:t>𝑞</m:t>
                              </m:r>
                            </m:sub>
                          </m:sSub>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a:latin typeface="Cambria Math" panose="02040503050406030204" pitchFamily="18" charset="0"/>
                            </a:rPr>
                          </m:ctrlPr>
                        </m:dPr>
                        <m:e>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r>
                            <a:rPr lang="pt-BR" sz="2800" i="1">
                              <a:latin typeface="Cambria Math" panose="02040503050406030204" pitchFamily="18" charset="0"/>
                            </a:rPr>
                            <m:t>−</m:t>
                          </m:r>
                          <m:sSub>
                            <m:sSubPr>
                              <m:ctrlPr>
                                <a:rPr lang="pt-BR" sz="2800" i="1" smtClean="0">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b="0" i="1" smtClean="0">
                                  <a:latin typeface="Cambria Math" panose="02040503050406030204" pitchFamily="18" charset="0"/>
                                </a:rPr>
                                <m:t>𝑞</m:t>
                              </m:r>
                            </m:sub>
                          </m:sSub>
                        </m:e>
                      </m:d>
                      <m:r>
                        <a:rPr lang="pt-BR" sz="2800" b="0" i="1" smtClean="0">
                          <a:latin typeface="Cambria Math" panose="02040503050406030204" pitchFamily="18" charset="0"/>
                        </a:rPr>
                        <m:t>.</m:t>
                      </m:r>
                    </m:oMath>
                  </m:oMathPara>
                </a14:m>
                <a:endParaRPr lang="pt-BR" dirty="0"/>
              </a:p>
              <a:p>
                <a:r>
                  <a:rPr lang="pt-BR" dirty="0"/>
                  <a:t>Notem que essa expressão do vetor gradiente é </a:t>
                </a:r>
                <a:r>
                  <a:rPr lang="pt-BR" b="1" dirty="0">
                    <a:solidFill>
                      <a:srgbClr val="00B050"/>
                    </a:solidFill>
                  </a:rPr>
                  <a:t>idêntica</a:t>
                </a:r>
                <a:r>
                  <a:rPr lang="pt-BR" dirty="0"/>
                  <a:t> àquela obtida para o caso da </a:t>
                </a:r>
                <a:r>
                  <a:rPr lang="pt-BR" b="1" dirty="0">
                    <a:solidFill>
                      <a:srgbClr val="00B050"/>
                    </a:solidFill>
                  </a:rPr>
                  <a:t>regressão logística</a:t>
                </a:r>
                <a:r>
                  <a:rPr lang="pt-BR" dirty="0"/>
                  <a:t>.</a:t>
                </a:r>
              </a:p>
              <a:p>
                <a:r>
                  <a:rPr lang="pt-BR" dirty="0"/>
                  <a:t>O vetor gradiente pode ser reescrito </a:t>
                </a:r>
                <a:r>
                  <a:rPr lang="pt-BR" b="1" dirty="0">
                    <a:solidFill>
                      <a:schemeClr val="accent2"/>
                    </a:solidFill>
                  </a:rPr>
                  <a:t>levando-se em consideração todos os </a:t>
                </a:r>
                <a14:m>
                  <m:oMath xmlns:m="http://schemas.openxmlformats.org/officeDocument/2006/math">
                    <m:r>
                      <a:rPr lang="pt-BR" b="1" i="1" smtClean="0">
                        <a:solidFill>
                          <a:schemeClr val="accent2"/>
                        </a:solidFill>
                        <a:latin typeface="Cambria Math" panose="02040503050406030204" pitchFamily="18" charset="0"/>
                      </a:rPr>
                      <m:t>𝑸</m:t>
                    </m:r>
                    <m:r>
                      <a:rPr lang="pt-BR" b="1" i="1" smtClean="0">
                        <a:solidFill>
                          <a:schemeClr val="accent2"/>
                        </a:solidFill>
                        <a:latin typeface="Cambria Math" panose="02040503050406030204" pitchFamily="18" charset="0"/>
                      </a:rPr>
                      <m:t> </m:t>
                    </m:r>
                  </m:oMath>
                </a14:m>
                <a:r>
                  <a:rPr lang="pt-BR" b="1" dirty="0">
                    <a:solidFill>
                      <a:schemeClr val="accent2"/>
                    </a:solidFill>
                  </a:rPr>
                  <a:t>vetores de peso</a:t>
                </a:r>
              </a:p>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sz="2800" b="0" i="1" smtClean="0">
                                  <a:latin typeface="Cambria Math" panose="02040503050406030204" pitchFamily="18" charset="0"/>
                                </a:rPr>
                              </m:ctrlPr>
                            </m:accPr>
                            <m:e>
                              <m:r>
                                <a:rPr lang="pt-BR" sz="2800" b="1" i="1" smtClean="0">
                                  <a:latin typeface="Cambria Math" panose="02040503050406030204" pitchFamily="18" charset="0"/>
                                </a:rPr>
                                <m:t>𝒀</m:t>
                              </m:r>
                            </m:e>
                          </m:acc>
                        </m:e>
                      </m:d>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r>
                        <a:rPr lang="pt-BR" sz="2800"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sz="2800" b="1" i="1" smtClean="0">
                        <a:latin typeface="Cambria Math" panose="02040503050406030204" pitchFamily="18" charset="0"/>
                      </a:rPr>
                      <m:t>𝒀</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𝒀</m:t>
                        </m:r>
                      </m:e>
                    </m:acc>
                    <m:r>
                      <a:rPr lang="pt-BR" i="1">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𝑄</m:t>
                        </m:r>
                      </m:sup>
                    </m:sSup>
                  </m:oMath>
                </a14:m>
                <a:r>
                  <a:rPr lang="pt-BR" dirty="0"/>
                  <a:t> são matrizes contendo em cada linha os vetores </a:t>
                </a:r>
                <a14:m>
                  <m:oMath xmlns:m="http://schemas.openxmlformats.org/officeDocument/2006/math">
                    <m:sSup>
                      <m:sSupPr>
                        <m:ctrlPr>
                          <a:rPr lang="pt-BR" i="1" smtClean="0">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e>
                      <m:sup>
                        <m:r>
                          <a:rPr lang="pt-BR" b="0" i="1" smtClean="0">
                            <a:latin typeface="Cambria Math" panose="02040503050406030204" pitchFamily="18" charset="0"/>
                          </a:rPr>
                          <m:t>𝑇</m:t>
                        </m:r>
                      </m:sup>
                    </m:sSup>
                  </m:oMath>
                </a14:m>
                <a:r>
                  <a:rPr lang="pt-BR" dirty="0"/>
                  <a:t>e </a:t>
                </a:r>
                <a14:m>
                  <m:oMath xmlns:m="http://schemas.openxmlformats.org/officeDocument/2006/math">
                    <m:sSup>
                      <m:sSupPr>
                        <m:ctrlPr>
                          <a:rPr lang="pt-BR" i="1" smtClean="0">
                            <a:latin typeface="Cambria Math" panose="02040503050406030204" pitchFamily="18" charset="0"/>
                          </a:rPr>
                        </m:ctrlPr>
                      </m:sSup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sup>
                        <m:r>
                          <a:rPr lang="pt-BR" b="0" i="1" smtClean="0">
                            <a:latin typeface="Cambria Math" panose="02040503050406030204" pitchFamily="18" charset="0"/>
                          </a:rPr>
                          <m:t>𝑇</m:t>
                        </m:r>
                      </m:sup>
                    </m:sSup>
                  </m:oMath>
                </a14:m>
                <a:r>
                  <a:rPr lang="pt-BR" dirty="0"/>
                  <a:t> para todos os </a:t>
                </a:r>
                <a14:m>
                  <m:oMath xmlns:m="http://schemas.openxmlformats.org/officeDocument/2006/math">
                    <m:r>
                      <a:rPr lang="pt-BR" i="1" dirty="0">
                        <a:latin typeface="Cambria Math" panose="02040503050406030204" pitchFamily="18" charset="0"/>
                        <a:ea typeface="Cambria Math" panose="02040503050406030204" pitchFamily="18" charset="0"/>
                      </a:rPr>
                      <m:t>𝑁</m:t>
                    </m:r>
                  </m:oMath>
                </a14:m>
                <a:r>
                  <a:rPr lang="pt-BR" dirty="0"/>
                  <a:t> exemplos, respectivamente.</a:t>
                </a:r>
              </a:p>
              <a:p>
                <a:r>
                  <a:rPr lang="pt-BR" dirty="0"/>
                  <a:t>Esse resultado é diretamente estendido para polinômios.</a:t>
                </a:r>
              </a:p>
            </p:txBody>
          </p:sp>
        </mc:Choice>
        <mc:Fallback xmlns="">
          <p:sp>
            <p:nvSpPr>
              <p:cNvPr id="3" name="Espaço Reservado para Conteúdo 2">
                <a:extLst>
                  <a:ext uri="{FF2B5EF4-FFF2-40B4-BE49-F238E27FC236}">
                    <a16:creationId xmlns:a16="http://schemas.microsoft.com/office/drawing/2014/main" xmlns="" xmlns:a14="http://schemas.microsoft.com/office/drawing/2010/main" id="{DDBA288E-BBB8-E157-840C-AA685AD7D65C}"/>
                  </a:ext>
                </a:extLst>
              </p:cNvPr>
              <p:cNvSpPr>
                <a:spLocks noGrp="1" noRot="1" noChangeAspect="1" noMove="1" noResize="1" noEditPoints="1" noAdjustHandles="1" noChangeArrowheads="1" noChangeShapeType="1" noTextEdit="1"/>
              </p:cNvSpPr>
              <p:nvPr>
                <p:ph idx="1"/>
              </p:nvPr>
            </p:nvSpPr>
            <p:spPr>
              <a:xfrm>
                <a:off x="838200" y="1840864"/>
                <a:ext cx="11240729" cy="5032375"/>
              </a:xfrm>
              <a:blipFill rotWithShape="0">
                <a:blip r:embed="rId3"/>
                <a:stretch>
                  <a:fillRect l="-1139" r="-1628" b="-848"/>
                </a:stretch>
              </a:blipFill>
            </p:spPr>
            <p:txBody>
              <a:bodyPr/>
              <a:lstStyle/>
              <a:p>
                <a:r>
                  <a:rPr lang="pt-BR">
                    <a:noFill/>
                  </a:rPr>
                  <a:t> </a:t>
                </a:r>
              </a:p>
            </p:txBody>
          </p:sp>
        </mc:Fallback>
      </mc:AlternateContent>
    </p:spTree>
    <p:extLst>
      <p:ext uri="{BB962C8B-B14F-4D97-AF65-F5344CB8AC3E}">
        <p14:creationId xmlns:p14="http://schemas.microsoft.com/office/powerpoint/2010/main" val="28191599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F1FD81-6095-2AF0-8691-34E55B8A93B5}"/>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B734B24-DA50-860B-5D55-C33F6F451B6F}"/>
                  </a:ext>
                </a:extLst>
              </p:cNvPr>
              <p:cNvSpPr>
                <a:spLocks noGrp="1"/>
              </p:cNvSpPr>
              <p:nvPr>
                <p:ph idx="1"/>
              </p:nvPr>
            </p:nvSpPr>
            <p:spPr>
              <a:xfrm>
                <a:off x="6096000" y="1825624"/>
                <a:ext cx="5930899" cy="5032375"/>
              </a:xfrm>
            </p:spPr>
            <p:txBody>
              <a:bodyPr>
                <a:normAutofit/>
              </a:bodyPr>
              <a:lstStyle/>
              <a:p>
                <a:r>
                  <a:rPr lang="pt-BR" dirty="0">
                    <a:solidFill>
                      <a:schemeClr val="tx1"/>
                    </a:solidFill>
                  </a:rPr>
                  <a:t>Após o treinamento, durante a </a:t>
                </a:r>
                <a:r>
                  <a:rPr lang="pt-BR" b="1" dirty="0">
                    <a:solidFill>
                      <a:srgbClr val="00B050"/>
                    </a:solidFill>
                  </a:rPr>
                  <a:t>fase de inferência</a:t>
                </a:r>
                <a:r>
                  <a:rPr lang="pt-BR" dirty="0">
                    <a:solidFill>
                      <a:schemeClr val="tx1"/>
                    </a:solidFill>
                  </a:rPr>
                  <a:t>, o </a:t>
                </a:r>
                <a:r>
                  <a:rPr lang="pt-BR" dirty="0" err="1">
                    <a:solidFill>
                      <a:schemeClr val="tx1"/>
                    </a:solidFill>
                  </a:rPr>
                  <a:t>regressor</a:t>
                </a:r>
                <a:r>
                  <a:rPr lang="pt-BR" dirty="0">
                    <a:solidFill>
                      <a:schemeClr val="tx1"/>
                    </a:solidFill>
                  </a:rPr>
                  <a:t> atribui ao exemplo de entrada, </a:t>
                </a:r>
                <a14:m>
                  <m:oMath xmlns:m="http://schemas.openxmlformats.org/officeDocument/2006/math">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oMath>
                </a14:m>
                <a:r>
                  <a:rPr lang="pt-BR" dirty="0">
                    <a:solidFill>
                      <a:schemeClr val="tx1"/>
                    </a:solidFill>
                  </a:rPr>
                  <a:t>,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com a </a:t>
                </a:r>
                <a:r>
                  <a:rPr lang="pt-BR" b="1" dirty="0">
                    <a:solidFill>
                      <a:schemeClr val="tx1"/>
                    </a:solidFill>
                  </a:rPr>
                  <a:t>maior probabilidade estimada</a:t>
                </a:r>
                <a:r>
                  <a:rPr lang="pt-BR" dirty="0">
                    <a:solidFill>
                      <a:schemeClr val="tx1"/>
                    </a:solidFill>
                  </a:rPr>
                  <a:t>, ou seja, atribui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da função hipótese com maior valor</a:t>
                </a:r>
                <a:endParaRPr lang="pt-BR" sz="160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Sup>
                            <m:sSubSupPr>
                              <m:ctrlPr>
                                <a:rPr lang="pt-BR" b="1" i="1">
                                  <a:solidFill>
                                    <a:schemeClr val="tx1"/>
                                  </a:solidFill>
                                  <a:latin typeface="Cambria Math" panose="02040503050406030204" pitchFamily="18" charset="0"/>
                                </a:rPr>
                              </m:ctrlPr>
                            </m:sSubSupPr>
                            <m:e>
                              <m:r>
                                <a:rPr lang="pt-BR" i="1">
                                  <a:solidFill>
                                    <a:schemeClr val="tx1"/>
                                  </a:solidFill>
                                  <a:latin typeface="Cambria Math" panose="02040503050406030204" pitchFamily="18" charset="0"/>
                                </a:rPr>
                                <m:t>h</m:t>
                              </m:r>
                            </m:e>
                            <m:sub>
                              <m:r>
                                <a:rPr lang="pt-BR" b="1" i="1">
                                  <a:solidFill>
                                    <a:schemeClr val="tx1"/>
                                  </a:solidFill>
                                  <a:latin typeface="Cambria Math" panose="02040503050406030204" pitchFamily="18" charset="0"/>
                                </a:rPr>
                                <m:t>𝒂</m:t>
                              </m:r>
                            </m:sub>
                            <m:sup>
                              <m:r>
                                <a:rPr lang="pt-BR" i="1">
                                  <a:solidFill>
                                    <a:schemeClr val="tx1"/>
                                  </a:solidFill>
                                  <a:latin typeface="Cambria Math" panose="02040503050406030204" pitchFamily="18" charset="0"/>
                                </a:rPr>
                                <m:t>𝑞</m:t>
                              </m:r>
                            </m:sup>
                          </m:sSubSup>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e>
                          </m:d>
                        </m:e>
                      </m:func>
                      <m:r>
                        <a:rPr lang="pt-BR" b="0" i="1" smtClean="0">
                          <a:solidFill>
                            <a:schemeClr val="tx1"/>
                          </a:solidFill>
                          <a:latin typeface="Cambria Math" panose="02040503050406030204" pitchFamily="18" charset="0"/>
                        </a:rPr>
                        <m:t>.</m:t>
                      </m:r>
                    </m:oMath>
                  </m:oMathPara>
                </a14:m>
                <a:endParaRPr lang="pt-BR" b="0" dirty="0">
                  <a:solidFill>
                    <a:schemeClr val="tx1"/>
                  </a:solidFill>
                </a:endParaRPr>
              </a:p>
              <a:p>
                <a:r>
                  <a:rPr lang="pt-BR" dirty="0"/>
                  <a:t>A arquitetura de um </a:t>
                </a:r>
                <a:r>
                  <a:rPr lang="pt-BR" b="1" dirty="0"/>
                  <a:t>regressor</a:t>
                </a:r>
                <a:r>
                  <a:rPr lang="pt-BR" b="1" i="1" dirty="0"/>
                  <a:t> softmax </a:t>
                </a:r>
                <a:r>
                  <a:rPr lang="pt-BR" dirty="0"/>
                  <a:t>para um problema com três classes (i.e.,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=3</m:t>
                    </m:r>
                  </m:oMath>
                </a14:m>
                <a:r>
                  <a:rPr lang="pt-BR" dirty="0"/>
                  <a:t>) e dois atributos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 é mostrada ao lado.</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BB734B24-DA50-860B-5D55-C33F6F451B6F}"/>
                  </a:ext>
                </a:extLst>
              </p:cNvPr>
              <p:cNvSpPr>
                <a:spLocks noGrp="1" noRot="1" noChangeAspect="1" noMove="1" noResize="1" noEditPoints="1" noAdjustHandles="1" noChangeArrowheads="1" noChangeShapeType="1" noTextEdit="1"/>
              </p:cNvSpPr>
              <p:nvPr>
                <p:ph idx="1"/>
              </p:nvPr>
            </p:nvSpPr>
            <p:spPr>
              <a:xfrm>
                <a:off x="6096000" y="1825624"/>
                <a:ext cx="5930899" cy="5032375"/>
              </a:xfrm>
              <a:blipFill rotWithShape="0">
                <a:blip r:embed="rId3"/>
                <a:stretch>
                  <a:fillRect l="-1850" t="-1937" r="-3186"/>
                </a:stretch>
              </a:blipFill>
            </p:spPr>
            <p:txBody>
              <a:bodyPr/>
              <a:lstStyle/>
              <a:p>
                <a:r>
                  <a:rPr lang="pt-BR">
                    <a:noFill/>
                  </a:rPr>
                  <a:t> </a:t>
                </a:r>
              </a:p>
            </p:txBody>
          </p:sp>
        </mc:Fallback>
      </mc:AlternateContent>
      <p:pic>
        <p:nvPicPr>
          <p:cNvPr id="4" name="Imagem 5">
            <a:extLst>
              <a:ext uri="{FF2B5EF4-FFF2-40B4-BE49-F238E27FC236}">
                <a16:creationId xmlns:a16="http://schemas.microsoft.com/office/drawing/2014/main" id="{535159CB-11DC-74B8-5C5F-D571CD0183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36873974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C175046-E9DF-FCC8-C62B-B00332089713}"/>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4721BB7-DBA3-D8BF-7F98-ED91BD59DAEC}"/>
                  </a:ext>
                </a:extLst>
              </p:cNvPr>
              <p:cNvSpPr>
                <a:spLocks noGrp="1"/>
              </p:cNvSpPr>
              <p:nvPr>
                <p:ph idx="1"/>
              </p:nvPr>
            </p:nvSpPr>
            <p:spPr>
              <a:xfrm>
                <a:off x="5951050" y="1825624"/>
                <a:ext cx="6124686" cy="5032375"/>
              </a:xfrm>
            </p:spPr>
            <p:txBody>
              <a:bodyPr>
                <a:normAutofit/>
              </a:bodyPr>
              <a:lstStyle/>
              <a:p>
                <a:r>
                  <a:rPr lang="pt-BR" dirty="0"/>
                  <a:t>Em resumo, a ideia por trás da </a:t>
                </a:r>
                <a:r>
                  <a:rPr lang="pt-BR" b="1" dirty="0"/>
                  <a:t>regressão</a:t>
                </a:r>
                <a:r>
                  <a:rPr lang="pt-BR" b="1" i="1" dirty="0"/>
                  <a:t> softmax </a:t>
                </a:r>
                <a:r>
                  <a:rPr lang="pt-BR" dirty="0"/>
                  <a:t>é bastante simples: </a:t>
                </a:r>
              </a:p>
              <a:p>
                <a:pPr lvl="1">
                  <a:buFont typeface="Wingdings" panose="05000000000000000000" pitchFamily="2" charset="2"/>
                  <a:buChar char="§"/>
                </a:pPr>
                <a:r>
                  <a:rPr lang="pt-BR" dirty="0"/>
                  <a:t>dado um exemplo de entrada, </a:t>
                </a:r>
                <a14:m>
                  <m:oMath xmlns:m="http://schemas.openxmlformats.org/officeDocument/2006/math">
                    <m:r>
                      <a:rPr lang="pt-BR" b="1" i="1">
                        <a:latin typeface="Cambria Math" panose="02040503050406030204" pitchFamily="18" charset="0"/>
                      </a:rPr>
                      <m:t>𝒙</m:t>
                    </m:r>
                    <m:r>
                      <a:rPr lang="pt-BR" b="0" i="0" smtClean="0">
                        <a:latin typeface="Cambria Math" panose="02040503050406030204" pitchFamily="18" charset="0"/>
                      </a:rPr>
                      <m:t>(</m:t>
                    </m:r>
                    <m:r>
                      <a:rPr lang="pt-BR" b="0" i="1" smtClean="0">
                        <a:latin typeface="Cambria Math" panose="02040503050406030204" pitchFamily="18" charset="0"/>
                      </a:rPr>
                      <m:t>𝑛</m:t>
                    </m:r>
                    <m:r>
                      <a:rPr lang="pt-BR" b="0" i="0" smtClean="0">
                        <a:latin typeface="Cambria Math" panose="02040503050406030204" pitchFamily="18" charset="0"/>
                      </a:rPr>
                      <m:t>)</m:t>
                    </m:r>
                  </m:oMath>
                </a14:m>
                <a:r>
                  <a:rPr lang="pt-BR" dirty="0"/>
                  <a:t>, </a:t>
                </a:r>
              </a:p>
              <a:p>
                <a:pPr lvl="1">
                  <a:buFont typeface="Wingdings" panose="05000000000000000000" pitchFamily="2" charset="2"/>
                  <a:buChar char="§"/>
                </a:pPr>
                <a:r>
                  <a:rPr lang="pt-BR" dirty="0"/>
                  <a:t>o regressor </a:t>
                </a:r>
                <a:r>
                  <a:rPr lang="pt-BR" i="1" dirty="0"/>
                  <a:t>softmax</a:t>
                </a:r>
                <a:r>
                  <a:rPr lang="pt-BR" dirty="0"/>
                  <a:t> calcula uma “</a:t>
                </a:r>
                <a:r>
                  <a:rPr lang="pt-BR" b="1" dirty="0"/>
                  <a:t>pontuação</a:t>
                </a:r>
                <a:r>
                  <a:rPr lang="pt-BR" dirty="0"/>
                  <a:t>”, para cada classe </a:t>
                </a:r>
                <a14:m>
                  <m:oMath xmlns:m="http://schemas.openxmlformats.org/officeDocument/2006/math">
                    <m:r>
                      <a:rPr lang="pt-BR" i="1">
                        <a:latin typeface="Cambria Math" panose="02040503050406030204" pitchFamily="18" charset="0"/>
                      </a:rPr>
                      <m:t>𝑞</m:t>
                    </m:r>
                  </m:oMath>
                </a14:m>
                <a:r>
                  <a:rPr lang="pt-BR" dirty="0"/>
                  <a:t>, i.e., as saídas 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d>
                      <m:dPr>
                        <m:ctrlPr>
                          <a:rPr lang="pt-BR" b="1" i="1">
                            <a:latin typeface="Cambria Math" panose="02040503050406030204" pitchFamily="18" charset="0"/>
                          </a:rPr>
                        </m:ctrlPr>
                      </m:dPr>
                      <m:e>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rPr>
                          <m:t>𝑛</m:t>
                        </m:r>
                        <m:r>
                          <a:rPr lang="pt-BR">
                            <a:latin typeface="Cambria Math" panose="02040503050406030204" pitchFamily="18" charset="0"/>
                          </a:rPr>
                          <m:t>)</m:t>
                        </m:r>
                      </m:e>
                    </m:d>
                    <m:r>
                      <a:rPr lang="pt-BR" b="1"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oMath>
                </a14:m>
                <a:r>
                  <a:rPr lang="pt-BR" dirty="0"/>
                  <a:t>.</a:t>
                </a:r>
              </a:p>
              <a:p>
                <a:pPr lvl="1">
                  <a:buFont typeface="Wingdings" panose="05000000000000000000" pitchFamily="2" charset="2"/>
                  <a:buChar char="§"/>
                </a:pPr>
                <a:r>
                  <a:rPr lang="pt-BR" dirty="0"/>
                  <a:t>e, em seguida, estima a probabilidade de cada classe aplicando a função </a:t>
                </a:r>
                <a:r>
                  <a:rPr lang="pt-BR" i="1" dirty="0"/>
                  <a:t>softmax</a:t>
                </a:r>
                <a:r>
                  <a:rPr lang="pt-BR" dirty="0"/>
                  <a:t> às “</a:t>
                </a:r>
                <a:r>
                  <a:rPr lang="pt-BR" b="1" dirty="0"/>
                  <a:t>pontuações</a:t>
                </a:r>
                <a:r>
                  <a:rPr lang="pt-BR" dirty="0"/>
                  <a:t>”.</a:t>
                </a:r>
              </a:p>
            </p:txBody>
          </p:sp>
        </mc:Choice>
        <mc:Fallback xmlns="">
          <p:sp>
            <p:nvSpPr>
              <p:cNvPr id="3" name="Espaço Reservado para Conteúdo 2">
                <a:extLst>
                  <a:ext uri="{FF2B5EF4-FFF2-40B4-BE49-F238E27FC236}">
                    <a16:creationId xmlns:a16="http://schemas.microsoft.com/office/drawing/2014/main" id="{24721BB7-DBA3-D8BF-7F98-ED91BD59DAEC}"/>
                  </a:ext>
                </a:extLst>
              </p:cNvPr>
              <p:cNvSpPr>
                <a:spLocks noGrp="1" noRot="1" noChangeAspect="1" noMove="1" noResize="1" noEditPoints="1" noAdjustHandles="1" noChangeArrowheads="1" noChangeShapeType="1" noTextEdit="1"/>
              </p:cNvSpPr>
              <p:nvPr>
                <p:ph idx="1"/>
              </p:nvPr>
            </p:nvSpPr>
            <p:spPr>
              <a:xfrm>
                <a:off x="5951050" y="1825624"/>
                <a:ext cx="6124686" cy="5032375"/>
              </a:xfrm>
              <a:blipFill>
                <a:blip r:embed="rId3"/>
                <a:stretch>
                  <a:fillRect l="-1791" t="-1937" r="-1592"/>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FF78CF76-EB26-3FAE-0391-E452288FA2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6698409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regressão_softmax.ipynb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t>Lista #7 – </a:t>
            </a:r>
            <a:r>
              <a:rPr lang="en-US" dirty="0" err="1"/>
              <a:t>Regressão</a:t>
            </a:r>
            <a:r>
              <a:rPr lang="en-US" dirty="0"/>
              <a:t> </a:t>
            </a:r>
            <a:r>
              <a:rPr lang="en-US" i="1" dirty="0"/>
              <a:t>softmax</a:t>
            </a:r>
          </a:p>
        </p:txBody>
      </p:sp>
    </p:spTree>
    <p:extLst>
      <p:ext uri="{BB962C8B-B14F-4D97-AF65-F5344CB8AC3E}">
        <p14:creationId xmlns:p14="http://schemas.microsoft.com/office/powerpoint/2010/main" val="23920531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9608</TotalTime>
  <Words>3577</Words>
  <Application>Microsoft Office PowerPoint</Application>
  <PresentationFormat>Widescreen</PresentationFormat>
  <Paragraphs>205</Paragraphs>
  <Slides>23</Slides>
  <Notes>14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Arial</vt:lpstr>
      <vt:lpstr>Calibri</vt:lpstr>
      <vt:lpstr>Calibri Light</vt:lpstr>
      <vt:lpstr>Cambria Math</vt:lpstr>
      <vt:lpstr>CambriaMath</vt:lpstr>
      <vt:lpstr>Söhne</vt:lpstr>
      <vt:lpstr>Wingdings</vt:lpstr>
      <vt:lpstr>Tema do Office</vt:lpstr>
      <vt:lpstr>C24 – Inteligência Artificial: Regressor Softmax</vt:lpstr>
      <vt:lpstr>Casos multiclasses</vt:lpstr>
      <vt:lpstr>Casos multiclasses</vt:lpstr>
      <vt:lpstr>Regressor softmax</vt:lpstr>
      <vt:lpstr>Regressor softmax</vt:lpstr>
      <vt:lpstr>Regressor softmax</vt:lpstr>
      <vt:lpstr>Função de ativação softmax</vt:lpstr>
      <vt:lpstr>Função de ativação softmax</vt:lpstr>
      <vt:lpstr>Função de ativação softmax</vt:lpstr>
      <vt:lpstr>Função de ativação softmax</vt:lpstr>
      <vt:lpstr>Função de erro</vt:lpstr>
      <vt:lpstr>Função de erro</vt:lpstr>
      <vt:lpstr>Função de erro</vt:lpstr>
      <vt:lpstr>Função de erro</vt:lpstr>
      <vt:lpstr>Função de erro</vt:lpstr>
      <vt:lpstr>Gradiente descendente</vt:lpstr>
      <vt:lpstr>Regressor softmax</vt:lpstr>
      <vt:lpstr>Regressor softmax</vt:lpstr>
      <vt:lpstr>Regressor softmax</vt:lpstr>
      <vt:lpstr>Exemplo</vt:lpstr>
      <vt:lpstr>Lista de exercícios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1791</cp:revision>
  <dcterms:created xsi:type="dcterms:W3CDTF">2020-01-20T13:50:05Z</dcterms:created>
  <dcterms:modified xsi:type="dcterms:W3CDTF">2026-04-06T11:00:31Z</dcterms:modified>
</cp:coreProperties>
</file>