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25" r:id="rId3"/>
    <p:sldId id="474" r:id="rId4"/>
    <p:sldId id="498" r:id="rId5"/>
    <p:sldId id="499" r:id="rId6"/>
    <p:sldId id="500" r:id="rId7"/>
    <p:sldId id="501" r:id="rId8"/>
    <p:sldId id="502" r:id="rId9"/>
    <p:sldId id="503" r:id="rId10"/>
    <p:sldId id="504" r:id="rId11"/>
    <p:sldId id="505" r:id="rId12"/>
    <p:sldId id="506" r:id="rId13"/>
    <p:sldId id="507" r:id="rId14"/>
    <p:sldId id="508" r:id="rId15"/>
    <p:sldId id="509" r:id="rId16"/>
    <p:sldId id="510" r:id="rId17"/>
    <p:sldId id="511" r:id="rId18"/>
    <p:sldId id="512" r:id="rId19"/>
    <p:sldId id="513" r:id="rId20"/>
    <p:sldId id="456" r:id="rId21"/>
    <p:sldId id="457" r:id="rId22"/>
    <p:sldId id="293" r:id="rId23"/>
    <p:sldId id="306" r:id="rId24"/>
    <p:sldId id="515" r:id="rId25"/>
    <p:sldId id="514" r:id="rId26"/>
    <p:sldId id="516"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4673" autoAdjust="0"/>
  </p:normalViewPr>
  <p:slideViewPr>
    <p:cSldViewPr snapToGrid="0">
      <p:cViewPr varScale="1">
        <p:scale>
          <a:sx n="69" d="100"/>
          <a:sy n="69" d="100"/>
        </p:scale>
        <p:origin x="936"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14/09/2026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14/09/2026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O regressor softmax não atribui mais de uma classe ao mesmo exemplo de entrada.</a:t>
            </a:r>
          </a:p>
          <a:p>
            <a:endParaRPr lang="pt-BR" sz="1200" b="0" i="0" kern="1200" dirty="0">
              <a:solidFill>
                <a:schemeClr val="tx1"/>
              </a:solidFill>
              <a:effectLst/>
              <a:latin typeface="+mn-lt"/>
              <a:ea typeface="+mn-ea"/>
              <a:cs typeface="+mn-cs"/>
            </a:endParaRPr>
          </a:p>
          <a:p>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b="1" i="1">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a:latin typeface="Cambria Math" panose="02040503050406030204" pitchFamily="18" charset="0"/>
                          </a:rPr>
                        </m:ctrlPr>
                      </m:sSubPr>
                      <m:e>
                        <m:acc>
                          <m:accPr>
                            <m:chr m:val="̂"/>
                            <m:ctrlPr>
                              <a:rPr lang="pt-BR" sz="1200" b="1"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multiclasse,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rPr>
              <a:t>https://colab.research.google.com/github/zz4fap/c24_inteligencia_artificial/blob/master/notebooks/regressor_softmax.ipynb</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14/09/2026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or_softmax.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jpeg"/><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7%20-%20Regress%C3%A3o%20softmax.pdf"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7.png"/><Relationship Id="rId7" Type="http://schemas.openxmlformats.org/officeDocument/2006/relationships/image" Target="../media/image271.png"/><Relationship Id="rId2"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image" Target="../media/image261.png"/><Relationship Id="rId5" Type="http://schemas.openxmlformats.org/officeDocument/2006/relationships/image" Target="../media/image250.png"/><Relationship Id="rId10" Type="http://schemas.openxmlformats.org/officeDocument/2006/relationships/image" Target="../media/image30.png"/><Relationship Id="rId4" Type="http://schemas.openxmlformats.org/officeDocument/2006/relationships/image" Target="NULL"/><Relationship Id="rId9"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Regressor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799" y="1784680"/>
                <a:ext cx="6553201"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sentimentos: Neutro, Positivo, Negativo.</a:t>
                </a:r>
              </a:p>
              <a:p>
                <a:pPr lvl="1">
                  <a:buFont typeface="Wingdings" panose="05000000000000000000" pitchFamily="2" charset="2"/>
                  <a:buChar char="§"/>
                </a:pPr>
                <a:r>
                  <a:rPr lang="pt-BR" dirty="0"/>
                  <a:t>Classificação de texto: Esportes, Economia, Política, Entretenimento, etc.</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799" y="1784680"/>
                <a:ext cx="6553201" cy="5073320"/>
              </a:xfrm>
              <a:blipFill>
                <a:blip r:embed="rId2"/>
                <a:stretch>
                  <a:fillRect l="-1674" t="-2043" r="-2884"/>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xmlns=""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xmlns=""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xmlns=""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a:t>
                </a:r>
                <a:r>
                  <a:rPr lang="pt-BR" b="1" dirty="0">
                    <a:solidFill>
                      <a:schemeClr val="accent2"/>
                    </a:solidFill>
                  </a:rPr>
                  <a:t>generalização do regressor logístico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xmlns=""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xmlns=""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xmlns=""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68F0D74-8673-A432-A1D7-BDEF7725851A}"/>
                  </a:ext>
                </a:extLst>
              </p:cNvPr>
              <p:cNvSpPr>
                <a:spLocks noGrp="1"/>
              </p:cNvSpPr>
              <p:nvPr>
                <p:ph idx="1"/>
              </p:nvPr>
            </p:nvSpPr>
            <p:spPr>
              <a:xfrm>
                <a:off x="838199" y="1825624"/>
                <a:ext cx="11353801" cy="5032375"/>
              </a:xfrm>
            </p:spPr>
            <p:txBody>
              <a:bodyPr>
                <a:normAutofit/>
              </a:bodyPr>
              <a:lstStyle/>
              <a:p>
                <a:r>
                  <a:rPr lang="pt-BR" dirty="0"/>
                  <a:t>A regressão </a:t>
                </a:r>
                <a:r>
                  <a:rPr lang="pt-BR" i="1" dirty="0"/>
                  <a:t>softmax</a:t>
                </a:r>
                <a:r>
                  <a:rPr lang="pt-BR" dirty="0"/>
                  <a:t> é também conhecida como </a:t>
                </a:r>
                <a:r>
                  <a:rPr lang="pt-BR" b="1" dirty="0"/>
                  <a:t>regressão logística multinomial</a:t>
                </a:r>
                <a:r>
                  <a:rPr lang="pt-BR" dirty="0"/>
                  <a:t>.</a:t>
                </a:r>
              </a:p>
              <a:p>
                <a:pPr lvl="1">
                  <a:buFont typeface="Wingdings" panose="05000000000000000000" pitchFamily="2" charset="2"/>
                  <a:buChar char="§"/>
                </a:pPr>
                <a:r>
                  <a:rPr lang="pt-BR" dirty="0"/>
                  <a:t>Pois as saídas do regressor podem ser interpretadas como as </a:t>
                </a:r>
                <a:r>
                  <a:rPr lang="pt-BR" b="1" dirty="0">
                    <a:solidFill>
                      <a:srgbClr val="00B050"/>
                    </a:solidFill>
                  </a:rPr>
                  <a:t>probabilidades condicionais das </a:t>
                </a:r>
                <a14:m>
                  <m:oMath xmlns:m="http://schemas.openxmlformats.org/officeDocument/2006/math">
                    <m:r>
                      <a:rPr lang="pt-BR" b="1">
                        <a:solidFill>
                          <a:srgbClr val="00B050"/>
                        </a:solidFill>
                        <a:latin typeface="Cambria Math" panose="02040503050406030204" pitchFamily="18" charset="0"/>
                      </a:rPr>
                      <m:t>𝑄</m:t>
                    </m:r>
                  </m:oMath>
                </a14:m>
                <a:r>
                  <a:rPr lang="pt-BR" b="1" dirty="0">
                    <a:solidFill>
                      <a:srgbClr val="00B050"/>
                    </a:solidFill>
                  </a:rPr>
                  <a:t> classes, dado um exemplo de entrada e os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a:t>
                </a:r>
                <a:r>
                  <a:rPr lang="pt-BR" b="1" dirty="0">
                    <a:solidFill>
                      <a:schemeClr val="accent2"/>
                    </a:solidFill>
                  </a:rPr>
                  <a:t>probabilidade</a:t>
                </a:r>
                <a:r>
                  <a:rPr lang="pt-BR" b="1" dirty="0">
                    <a:solidFill>
                      <a:srgbClr val="00B050"/>
                    </a:solidFill>
                  </a:rPr>
                  <a:t> de um </a:t>
                </a:r>
                <a:r>
                  <a:rPr lang="pt-BR" b="1" dirty="0">
                    <a:solidFill>
                      <a:schemeClr val="accent2"/>
                    </a:solidFill>
                  </a:rPr>
                  <a:t>exemplo</a:t>
                </a:r>
                <a:r>
                  <a:rPr lang="pt-BR" b="1" dirty="0">
                    <a:solidFill>
                      <a:srgbClr val="00B050"/>
                    </a:solidFill>
                  </a:rPr>
                  <a:t> de entrada </a:t>
                </a:r>
                <a:r>
                  <a:rPr lang="pt-BR" b="1" dirty="0">
                    <a:solidFill>
                      <a:schemeClr val="accent2"/>
                    </a:solidFill>
                  </a:rPr>
                  <a:t>pertencer a cada</a:t>
                </a:r>
                <a:r>
                  <a:rPr lang="pt-BR" b="1" dirty="0">
                    <a:solidFill>
                      <a:srgbClr val="00B050"/>
                    </a:solidFill>
                  </a:rPr>
                  <a:t>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a:t>
                </a:r>
                <a:r>
                  <a:rPr lang="pt-BR" b="1" dirty="0">
                    <a:solidFill>
                      <a:schemeClr val="accent2"/>
                    </a:solidFill>
                  </a:rPr>
                  <a:t>classes</a:t>
                </a:r>
                <a:r>
                  <a:rPr lang="pt-BR" dirty="0"/>
                  <a:t>.</a:t>
                </a:r>
              </a:p>
              <a:p>
                <a:r>
                  <a:rPr lang="pt-BR" dirty="0"/>
                  <a:t>O regressor </a:t>
                </a:r>
                <a:r>
                  <a:rPr lang="pt-BR" i="1" dirty="0" err="1"/>
                  <a:t>softmax</a:t>
                </a:r>
                <a:r>
                  <a:rPr lang="pt-BR" dirty="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416F72-28FB-E27C-D129-16A944A87C67}"/>
                  </a:ext>
                </a:extLst>
              </p:cNvPr>
              <p:cNvSpPr>
                <a:spLocks noGrp="1"/>
              </p:cNvSpPr>
              <p:nvPr>
                <p:ph idx="1"/>
              </p:nvPr>
            </p:nvSpPr>
            <p:spPr>
              <a:xfrm>
                <a:off x="838199" y="1825624"/>
                <a:ext cx="11353801" cy="5032375"/>
              </a:xfrm>
            </p:spPr>
            <p:txBody>
              <a:bodyPr>
                <a:normAutofit/>
              </a:bodyPr>
              <a:lstStyle/>
              <a:p>
                <a:r>
                  <a:rPr lang="pt-BR" dirty="0"/>
                  <a:t>Ele </a:t>
                </a:r>
                <a:r>
                  <a:rPr lang="pt-BR" b="1" dirty="0">
                    <a:solidFill>
                      <a:schemeClr val="accent2"/>
                    </a:solidFill>
                  </a:rPr>
                  <a:t>prediz</a:t>
                </a:r>
                <a:r>
                  <a:rPr lang="pt-BR" dirty="0"/>
                  <a:t>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a:t>
                </a:r>
                <a:r>
                  <a:rPr lang="pt-BR" b="1" dirty="0">
                    <a:solidFill>
                      <a:schemeClr val="accent2"/>
                    </a:solidFill>
                  </a:rPr>
                  <a:t>mutuamente exclusivas</a:t>
                </a:r>
                <a:r>
                  <a:rPr lang="pt-BR" dirty="0"/>
                  <a:t>.</a:t>
                </a:r>
              </a:p>
              <a:p>
                <a:pPr lvl="1">
                  <a:buFont typeface="Wingdings" panose="05000000000000000000" pitchFamily="2" charset="2"/>
                  <a:buChar char="§"/>
                </a:pPr>
                <a:r>
                  <a:rPr lang="pt-BR" b="1" dirty="0"/>
                  <a:t>Classes mutuamente exclusivas</a:t>
                </a:r>
                <a:r>
                  <a:rPr lang="pt-BR" dirty="0"/>
                  <a:t> são classes que </a:t>
                </a:r>
                <a:r>
                  <a:rPr lang="pt-BR" b="1" dirty="0"/>
                  <a:t>não podem ocorrer simultaneamente para o mesmo exemplo.</a:t>
                </a:r>
                <a:endParaRPr lang="pt-BR" dirty="0"/>
              </a:p>
              <a:p>
                <a:pPr lvl="1">
                  <a:buFont typeface="Wingdings" panose="05000000000000000000" pitchFamily="2" charset="2"/>
                  <a:buChar char="§"/>
                </a:pPr>
                <a:r>
                  <a:rPr lang="pt-BR" dirty="0"/>
                  <a:t>Suponham que queremos classificar uma imagem em Cachorro, Gato e Coelho.</a:t>
                </a:r>
              </a:p>
              <a:p>
                <a:pPr lvl="1">
                  <a:buFont typeface="Wingdings" panose="05000000000000000000" pitchFamily="2" charset="2"/>
                  <a:buChar char="§"/>
                </a:pPr>
                <a:r>
                  <a:rPr lang="pt-BR" dirty="0"/>
                  <a:t>Se estamos fazendo </a:t>
                </a:r>
                <a:r>
                  <a:rPr lang="pt-BR" b="1" dirty="0"/>
                  <a:t>classificação de uma única classe</a:t>
                </a:r>
                <a:r>
                  <a:rPr lang="pt-BR" dirty="0"/>
                  <a:t>, uma determinada imagem só pode receber </a:t>
                </a:r>
                <a:r>
                  <a:rPr lang="pt-BR" b="1" dirty="0"/>
                  <a:t>uma dessas classes</a:t>
                </a:r>
                <a:r>
                  <a:rPr lang="pt-BR" dirty="0"/>
                  <a:t>.</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Por exemplo, se temos 4 classes, teremos 4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a:p>
                <a:r>
                  <a:rPr lang="pt-BR" dirty="0"/>
                  <a:t>Cada função discriminante tem seu próprio vetor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859" b="-2058"/>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79BB7DC-99E7-8958-EC77-566B7E3C2BBB}"/>
                  </a:ext>
                </a:extLst>
              </p:cNvPr>
              <p:cNvSpPr>
                <a:spLocks noGrp="1"/>
              </p:cNvSpPr>
              <p:nvPr>
                <p:ph idx="1"/>
              </p:nvPr>
            </p:nvSpPr>
            <p:spPr>
              <a:xfrm>
                <a:off x="838200" y="1825624"/>
                <a:ext cx="11353800"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sua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onde </a:t>
                </a:r>
                <a14:m>
                  <m:oMath xmlns:m="http://schemas.openxmlformats.org/officeDocument/2006/math">
                    <m:r>
                      <a:rPr lang="pt-BR" b="1" i="1">
                        <a:latin typeface="Cambria Math" panose="02040503050406030204" pitchFamily="18" charset="0"/>
                      </a:rPr>
                      <m:t>𝑨</m:t>
                    </m:r>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𝑄</m:t>
                        </m:r>
                      </m:sup>
                    </m:sSup>
                  </m:oMath>
                </a14:m>
                <a:r>
                  <a:rPr lang="pt-BR" dirty="0"/>
                  <a:t> é a matriz contendo todos os </a:t>
                </a:r>
                <a14:m>
                  <m:oMath xmlns:m="http://schemas.openxmlformats.org/officeDocument/2006/math">
                    <m:r>
                      <a:rPr lang="pt-BR" i="1">
                        <a:latin typeface="Cambria Math" panose="02040503050406030204" pitchFamily="18" charset="0"/>
                        <a:ea typeface="Cambria Math" panose="02040503050406030204" pitchFamily="18" charset="0"/>
                      </a:rPr>
                      <m:t>𝑄</m:t>
                    </m:r>
                  </m:oMath>
                </a14:m>
                <a:r>
                  <a:rPr lang="pt-BR" dirty="0"/>
                  <a:t> vetores de pesos,</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dirty="0"/>
                  <a:t>Além do regressor </a:t>
                </a:r>
                <a:r>
                  <a:rPr lang="pt-BR" i="1" dirty="0"/>
                  <a:t>softmax</a:t>
                </a:r>
                <a:r>
                  <a:rPr lang="pt-BR" dirty="0"/>
                  <a:t>, essa função de ativação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332" r="-1128"/>
                </a:stretch>
              </a:blipFill>
            </p:spPr>
            <p:txBody>
              <a:bodyPr/>
              <a:lstStyle/>
              <a:p>
                <a:r>
                  <a:rPr lang="en-US">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838200" y="1825624"/>
                <a:ext cx="11353800" cy="5032375"/>
              </a:xfrm>
            </p:spPr>
            <p:txBody>
              <a:bodyPr>
                <a:normAutofit/>
              </a:bodyPr>
              <a:lstStyle/>
              <a:p>
                <a:r>
                  <a:rPr lang="pt-BR" dirty="0"/>
                  <a:t>É uma </a:t>
                </a:r>
                <a:r>
                  <a:rPr lang="pt-BR" b="1" dirty="0">
                    <a:solidFill>
                      <a:schemeClr val="accent2"/>
                    </a:solidFill>
                  </a:rPr>
                  <a:t>generalização</a:t>
                </a:r>
                <a:r>
                  <a:rPr lang="pt-BR" dirty="0"/>
                  <a:t> da função sigmoide.</a:t>
                </a:r>
              </a:p>
              <a:p>
                <a:r>
                  <a:rPr lang="pt-BR" dirty="0"/>
                  <a:t>O somatório de termos exponenciais no denominador </a:t>
                </a:r>
                <a:r>
                  <a:rPr lang="pt-BR" b="1" dirty="0">
                    <a:solidFill>
                      <a:srgbClr val="00B050"/>
                    </a:solidFill>
                  </a:rPr>
                  <a:t>normaliza</a:t>
                </a:r>
                <a:r>
                  <a:rPr lang="pt-BR" dirty="0"/>
                  <a:t> o valor de cada uma das </a:t>
                </a:r>
                <a14:m>
                  <m:oMath xmlns:m="http://schemas.openxmlformats.org/officeDocument/2006/math">
                    <m:r>
                      <a:rPr lang="pt-BR" b="0" i="1" smtClean="0">
                        <a:latin typeface="Cambria Math" panose="02040503050406030204" pitchFamily="18" charset="0"/>
                      </a:rPr>
                      <m:t>𝑄</m:t>
                    </m:r>
                  </m:oMath>
                </a14:m>
                <a:r>
                  <a:rPr lang="pt-BR" dirty="0"/>
                  <a:t> saídas, fazendo com que elas fiquem no intervalo [0,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(chamados de pontuações) em </a:t>
                </a:r>
                <a:r>
                  <a:rPr lang="pt-BR" b="1" dirty="0">
                    <a:solidFill>
                      <a:schemeClr val="accent2"/>
                    </a:solidFill>
                  </a:rPr>
                  <a:t>probabilidades</a:t>
                </a:r>
                <a:r>
                  <a:rPr lang="pt-BR" dirty="0"/>
                  <a:t>.</a:t>
                </a:r>
              </a:p>
              <a:p>
                <a:r>
                  <a:rPr lang="pt-BR" dirty="0"/>
                  <a:t>Assim,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condicional</a:t>
                </a:r>
                <a:r>
                  <a:rPr lang="pt-BR" dirty="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uma </a:t>
                </a:r>
                <a:r>
                  <a:rPr lang="pt-BR" dirty="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 dado um exemplo de entrada e os pesos.</a:t>
                </a:r>
                <a:endParaRPr lang="pt-BR" b="1" dirty="0">
                  <a:solidFill>
                    <a:srgbClr val="00B050"/>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1772"/>
                </a:stretch>
              </a:blipFill>
            </p:spPr>
            <p:txBody>
              <a:bodyPr/>
              <a:lstStyle/>
              <a:p>
                <a:r>
                  <a:rPr lang="pt-BR">
                    <a:noFill/>
                  </a:rPr>
                  <a:t> </a:t>
                </a:r>
              </a:p>
            </p:txBody>
          </p:sp>
        </mc:Fallback>
      </mc:AlternateContent>
      <p:sp>
        <p:nvSpPr>
          <p:cNvPr id="5" name="Rectangle 11">
            <a:extLst>
              <a:ext uri="{FF2B5EF4-FFF2-40B4-BE49-F238E27FC236}">
                <a16:creationId xmlns:a16="http://schemas.microsoft.com/office/drawing/2014/main" xmlns="" id="{D1D7E603-A964-1188-9D09-B0C1E18592FA}"/>
              </a:ext>
            </a:extLst>
          </p:cNvPr>
          <p:cNvSpPr/>
          <p:nvPr/>
        </p:nvSpPr>
        <p:spPr>
          <a:xfrm>
            <a:off x="670555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6280879" y="1825624"/>
                <a:ext cx="5911121"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os valores </a:t>
                </a:r>
                <a:r>
                  <a:rPr lang="pt-BR" b="1" dirty="0" smtClean="0">
                    <a:solidFill>
                      <a:srgbClr val="00B050"/>
                    </a:solidFill>
                    <a:effectLst/>
                  </a:rPr>
                  <a:t>das</a:t>
                </a:r>
                <a:r>
                  <a:rPr lang="pt-BR" dirty="0" smtClean="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discriminantes</a:t>
                </a:r>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das exponenciais de todas as funções discriminantes, gerando uma </a:t>
                </a:r>
                <a:r>
                  <a:rPr lang="pt-BR" b="1" i="0" dirty="0">
                    <a:solidFill>
                      <a:schemeClr val="tx1"/>
                    </a:solidFill>
                    <a:effectLst/>
                  </a:rPr>
                  <a:t>distribuição de probabilidades das classes</a:t>
                </a:r>
                <a:r>
                  <a:rPr lang="pt-BR" b="0" i="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32DF54A1-52F5-C48C-7CD4-D6E451DF19D8}"/>
                  </a:ext>
                </a:extLst>
              </p:cNvPr>
              <p:cNvSpPr>
                <a:spLocks noGrp="1" noRot="1" noChangeAspect="1" noMove="1" noResize="1" noEditPoints="1" noAdjustHandles="1" noChangeArrowheads="1" noChangeShapeType="1" noTextEdit="1"/>
              </p:cNvSpPr>
              <p:nvPr>
                <p:ph idx="1"/>
              </p:nvPr>
            </p:nvSpPr>
            <p:spPr>
              <a:xfrm>
                <a:off x="6280879" y="1825624"/>
                <a:ext cx="5911121" cy="5032375"/>
              </a:xfrm>
              <a:blipFill rotWithShape="0">
                <a:blip r:embed="rId2"/>
                <a:stretch>
                  <a:fillRect l="-1856" t="-1937" r="-1340"/>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pic>
        <p:nvPicPr>
          <p:cNvPr id="7" name="Imagem 6">
            <a:extLst>
              <a:ext uri="{FF2B5EF4-FFF2-40B4-BE49-F238E27FC236}">
                <a16:creationId xmlns:a16="http://schemas.microsoft.com/office/drawing/2014/main" xmlns="" id="{03DADAA4-A9A3-C4FC-EC6D-6222F1C4F8C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65423" y="2485499"/>
            <a:ext cx="6115456" cy="2468904"/>
          </a:xfrm>
          <a:prstGeom prst="rect">
            <a:avLst/>
          </a:prstGeom>
        </p:spPr>
      </p:pic>
    </p:spTree>
    <p:extLst>
      <p:ext uri="{BB962C8B-B14F-4D97-AF65-F5344CB8AC3E}">
        <p14:creationId xmlns:p14="http://schemas.microsoft.com/office/powerpoint/2010/main" val="2357809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838200" y="1825624"/>
                <a:ext cx="11353800" cy="5032375"/>
              </a:xfrm>
            </p:spPr>
            <p:txBody>
              <a:bodyPr>
                <a:normAutofit/>
              </a:bodyPr>
              <a:lstStyle/>
              <a:p>
                <a:r>
                  <a:rPr lang="pt-BR" b="0" dirty="0">
                    <a:effectLst/>
                  </a:rPr>
                  <a:t>Além de fazer c</a:t>
                </a:r>
                <a:r>
                  <a:rPr lang="pt-BR" dirty="0"/>
                  <a:t>om </a:t>
                </a:r>
                <a:r>
                  <a:rPr lang="pt-BR" dirty="0">
                    <a:effectLst/>
                  </a:rPr>
                  <a:t>que as </a:t>
                </a:r>
                <a:r>
                  <a:rPr lang="pt-BR" b="1" dirty="0">
                    <a:solidFill>
                      <a:srgbClr val="00B050"/>
                    </a:solidFill>
                    <a:effectLst/>
                  </a:rPr>
                  <a:t>saídas estejam no intervalo entre 0 e 1, </a:t>
                </a:r>
                <a:r>
                  <a:rPr lang="pt-BR" b="1" dirty="0">
                    <a:solidFill>
                      <a:srgbClr val="00B050"/>
                    </a:solidFill>
                  </a:rPr>
                  <a:t>ela garante que </a:t>
                </a:r>
                <a:r>
                  <a:rPr lang="pt-BR" b="1" dirty="0">
                    <a:solidFill>
                      <a:srgbClr val="7030A0"/>
                    </a:solidFill>
                    <a:effectLst/>
                  </a:rPr>
                  <a:t>soma </a:t>
                </a:r>
                <a:r>
                  <a:rPr lang="pt-BR" b="1" dirty="0">
                    <a:solidFill>
                      <a:srgbClr val="00B050"/>
                    </a:solidFill>
                    <a:effectLst/>
                  </a:rPr>
                  <a:t>de todas as saídas sempre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r>
                          <a:rPr lang="pt-BR" i="1" smtClean="0">
                            <a:latin typeface="Cambria Math" panose="02040503050406030204" pitchFamily="18" charset="0"/>
                          </a:rPr>
                          <m:t> </m:t>
                        </m:r>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1" i="1">
                            <a:latin typeface="Cambria Math" panose="02040503050406030204" pitchFamily="18" charset="0"/>
                          </a:rPr>
                          <m:t>𝑨</m:t>
                        </m:r>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1" i="1">
                            <a:latin typeface="Cambria Math" panose="02040503050406030204" pitchFamily="18" charset="0"/>
                          </a:rPr>
                          <m:t>𝑨</m:t>
                        </m:r>
                      </m:e>
                    </m:d>
                    <m:r>
                      <a:rPr lang="pt-BR" i="1">
                        <a:latin typeface="Cambria Math" panose="02040503050406030204" pitchFamily="18" charset="0"/>
                      </a:rPr>
                      <m:t>=1</m:t>
                    </m:r>
                  </m:oMath>
                </a14:m>
                <a:r>
                  <a:rPr lang="pt-BR" dirty="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pic>
        <p:nvPicPr>
          <p:cNvPr id="7" name="Imagem 6">
            <a:extLst>
              <a:ext uri="{FF2B5EF4-FFF2-40B4-BE49-F238E27FC236}">
                <a16:creationId xmlns:a16="http://schemas.microsoft.com/office/drawing/2014/main" xmlns="" id="{82FEAA71-0C5D-6685-9695-89249F4043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038272" y="4019763"/>
            <a:ext cx="6115456" cy="2468904"/>
          </a:xfrm>
          <a:prstGeom prst="rect">
            <a:avLst/>
          </a:prstGeom>
        </p:spPr>
      </p:pic>
    </p:spTree>
    <p:extLst>
      <p:ext uri="{BB962C8B-B14F-4D97-AF65-F5344CB8AC3E}">
        <p14:creationId xmlns:p14="http://schemas.microsoft.com/office/powerpoint/2010/main" val="799422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3535727-BB24-BB15-5C03-3DA9A3F9A09A}"/>
                  </a:ext>
                </a:extLst>
              </p:cNvPr>
              <p:cNvSpPr>
                <a:spLocks noGrp="1"/>
              </p:cNvSpPr>
              <p:nvPr>
                <p:ph idx="1"/>
              </p:nvPr>
            </p:nvSpPr>
            <p:spPr>
              <a:xfrm>
                <a:off x="5286376" y="1825624"/>
                <a:ext cx="6905624" cy="5032375"/>
              </a:xfrm>
            </p:spPr>
            <p:txBody>
              <a:bodyPr>
                <a:normAutofit/>
              </a:bodyPr>
              <a:lstStyle/>
              <a:p>
                <a:r>
                  <a:rPr lang="pt-BR" dirty="0"/>
                  <a:t>Assim como com o regressor logístico, podemos usar </a:t>
                </a:r>
                <a:r>
                  <a:rPr lang="pt-BR" b="1" dirty="0">
                    <a:solidFill>
                      <a:schemeClr val="accent2"/>
                    </a:solidFill>
                  </a:rPr>
                  <a:t>hiperplanos</a:t>
                </a:r>
                <a:r>
                  <a:rPr lang="pt-BR" dirty="0"/>
                  <a:t> ou </a:t>
                </a:r>
                <a:r>
                  <a:rPr lang="pt-BR" b="1" dirty="0">
                    <a:solidFill>
                      <a:schemeClr val="accent2"/>
                    </a:solidFill>
                  </a:rPr>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discriminantes) que </a:t>
                </a:r>
              </a:p>
              <a:p>
                <a:pPr lvl="1">
                  <a:buFont typeface="Wingdings" panose="05000000000000000000" pitchFamily="2" charset="2"/>
                  <a:buChar char="§"/>
                </a:pPr>
                <a:r>
                  <a:rPr lang="pt-BR" b="1" dirty="0">
                    <a:solidFill>
                      <a:srgbClr val="00B050"/>
                    </a:solidFill>
                  </a:rPr>
                  <a:t>atribua uma alta probabilidade para a classe alvo </a:t>
                </a:r>
              </a:p>
              <a:p>
                <a:pPr lvl="1">
                  <a:buFont typeface="Wingdings" panose="05000000000000000000" pitchFamily="2" charset="2"/>
                  <a:buChar char="§"/>
                </a:pPr>
                <a:r>
                  <a:rPr lang="pt-BR" dirty="0"/>
                  <a:t>e, consequentemente, </a:t>
                </a:r>
                <a:r>
                  <a:rPr lang="pt-BR" b="1" dirty="0">
                    <a:solidFill>
                      <a:srgbClr val="00B050"/>
                    </a:solidFill>
                  </a:rPr>
                  <a:t>uma baixa probabilidade para as demais classes</a:t>
                </a:r>
                <a:r>
                  <a:rPr lang="pt-BR" dirty="0"/>
                  <a:t>.</a:t>
                </a:r>
              </a:p>
              <a:p>
                <a:r>
                  <a:rPr lang="pt-BR" dirty="0"/>
                  <a:t>Por isso usamos vetores </a:t>
                </a:r>
                <a:r>
                  <a:rPr lang="pt-BR" b="1" i="1" dirty="0" err="1">
                    <a:solidFill>
                      <a:srgbClr val="7030A0"/>
                    </a:solidFill>
                  </a:rPr>
                  <a:t>one</a:t>
                </a:r>
                <a:r>
                  <a:rPr lang="pt-BR" b="1" i="1" dirty="0">
                    <a:solidFill>
                      <a:srgbClr val="7030A0"/>
                    </a:solidFill>
                  </a:rPr>
                  <a:t>-hot</a:t>
                </a:r>
                <a:r>
                  <a:rPr lang="pt-BR" b="1" dirty="0">
                    <a:solidFill>
                      <a:srgbClr val="7030A0"/>
                    </a:solidFill>
                  </a:rPr>
                  <a:t> como a representação dos rótulos</a:t>
                </a:r>
                <a:r>
                  <a:rPr lang="pt-BR" dirty="0"/>
                  <a:t>.</a:t>
                </a:r>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5286376" y="1825624"/>
                <a:ext cx="6905624" cy="5032375"/>
              </a:xfrm>
              <a:blipFill>
                <a:blip r:embed="rId3"/>
                <a:stretch>
                  <a:fillRect l="-1589" t="-1937" r="-167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xmlns="" id="{B29D6ED4-6B75-62EC-8922-9CCA4F704E2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9422" y="2649266"/>
            <a:ext cx="4292180" cy="2770936"/>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4B1DEA3-BAAD-D90C-CD9D-99A5A24F4544}"/>
                  </a:ext>
                </a:extLst>
              </p:cNvPr>
              <p:cNvSpPr>
                <a:spLocks noGrp="1"/>
              </p:cNvSpPr>
              <p:nvPr>
                <p:ph idx="1"/>
              </p:nvPr>
            </p:nvSpPr>
            <p:spPr>
              <a:xfrm>
                <a:off x="838199" y="1825624"/>
                <a:ext cx="11353801" cy="5032375"/>
              </a:xfrm>
            </p:spPr>
            <p:txBody>
              <a:bodyPr>
                <a:normAutofit lnSpcReduction="10000"/>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Para isso, 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limLow>
                                        <m:limLowPr>
                                          <m:ctrlPr>
                                            <a:rPr lang="pt-BR" i="1" smtClean="0">
                                              <a:latin typeface="Cambria Math" panose="02040503050406030204" pitchFamily="18" charset="0"/>
                                            </a:rPr>
                                          </m:ctrlPr>
                                        </m:limLowPr>
                                        <m:e>
                                          <m:groupChr>
                                            <m:groupChrPr>
                                              <m:chr m:val="⏟"/>
                                              <m:ctrlPr>
                                                <a:rPr lang="pt-BR" b="1" i="1">
                                                  <a:latin typeface="Cambria Math" panose="02040503050406030204" pitchFamily="18" charset="0"/>
                                                </a:rPr>
                                              </m:ctrlPr>
                                            </m:groupChrPr>
                                            <m:e>
                                              <m:sSubSup>
                                                <m:sSubSupPr>
                                                  <m:ctrlPr>
                                                    <a:rPr lang="pt-BR"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groupChr>
                                        </m:e>
                                        <m:lim>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lim>
                                      </m:limLow>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o </a:t>
                </a:r>
                <a:r>
                  <a:rPr lang="pt-BR" b="1" dirty="0">
                    <a:solidFill>
                      <a:srgbClr val="7030A0"/>
                    </a:solidFill>
                  </a:rPr>
                  <a:t>rótulo escalar </a:t>
                </a:r>
                <a:r>
                  <a:rPr lang="pt-BR" dirty="0"/>
                  <a:t>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a:t>
                </a:r>
              </a:p>
              <a:p>
                <a:pPr lvl="1">
                  <a:buFont typeface="Wingdings" panose="05000000000000000000" pitchFamily="2" charset="2"/>
                  <a:buChar char="§"/>
                </a:pPr>
                <a:r>
                  <a:rPr lang="pt-BR" b="1" dirty="0"/>
                  <a:t>OBS</a:t>
                </a:r>
                <a:r>
                  <a:rPr lang="pt-BR" dirty="0"/>
                  <a:t>.: O erro tende a 0 quando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b="1"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ele aumenta.</a:t>
                </a:r>
              </a:p>
            </p:txBody>
          </p:sp>
        </mc:Choice>
        <mc:Fallback xmlns="">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2663" r="-1610"/>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D7928D-3A32-7330-5FDC-756155EF2F3D}"/>
                  </a:ext>
                </a:extLst>
              </p:cNvPr>
              <p:cNvSpPr>
                <a:spLocks noGrp="1"/>
              </p:cNvSpPr>
              <p:nvPr>
                <p:ph idx="1"/>
              </p:nvPr>
            </p:nvSpPr>
            <p:spPr>
              <a:xfrm>
                <a:off x="4952246" y="1840372"/>
                <a:ext cx="7239754" cy="5017627"/>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A </a:t>
                </a:r>
                <a:r>
                  <a:rPr lang="pt-BR" b="1" dirty="0"/>
                  <a:t>entropia cruzada categórica </a:t>
                </a:r>
                <a:r>
                  <a:rPr lang="pt-BR" dirty="0"/>
                  <a:t>mede a </a:t>
                </a:r>
                <a:r>
                  <a:rPr lang="pt-BR" b="1" dirty="0">
                    <a:solidFill>
                      <a:schemeClr val="accent2"/>
                    </a:solidFill>
                  </a:rPr>
                  <a:t>diferença média </a:t>
                </a:r>
                <a:r>
                  <a:rPr lang="pt-BR" b="1" dirty="0">
                    <a:solidFill>
                      <a:srgbClr val="7030A0"/>
                    </a:solidFill>
                  </a:rPr>
                  <a:t>entre as distribuições de probabilidade da saída do modelo e a do vetor de rótulos </a:t>
                </a:r>
                <a:r>
                  <a:rPr lang="pt-BR" dirty="0"/>
                  <a:t>correspondente.</a:t>
                </a:r>
              </a:p>
            </p:txBody>
          </p:sp>
        </mc:Choice>
        <mc:Fallback xmlns="">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xfrm>
                <a:off x="4952246" y="1840372"/>
                <a:ext cx="7239754" cy="5017627"/>
              </a:xfrm>
              <a:blipFill>
                <a:blip r:embed="rId2"/>
                <a:stretch>
                  <a:fillRect l="-1515" t="-122" r="-101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4AA09737-BB93-F7AB-8A47-090B362628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9575" y="2585001"/>
            <a:ext cx="4292180" cy="2770936"/>
          </a:xfrm>
          <a:prstGeom prst="rect">
            <a:avLst/>
          </a:prstGeom>
        </p:spPr>
      </p:pic>
    </p:spTree>
    <p:extLst>
      <p:ext uri="{BB962C8B-B14F-4D97-AF65-F5344CB8AC3E}">
        <p14:creationId xmlns:p14="http://schemas.microsoft.com/office/powerpoint/2010/main" val="1740913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A86630-5D79-AD4B-79FC-6C8373E8DB39}"/>
                  </a:ext>
                </a:extLst>
              </p:cNvPr>
              <p:cNvSpPr>
                <a:spLocks noGrp="1"/>
              </p:cNvSpPr>
              <p:nvPr>
                <p:ph idx="1"/>
              </p:nvPr>
            </p:nvSpPr>
            <p:spPr>
              <a:xfrm>
                <a:off x="838200" y="1825624"/>
                <a:ext cx="1135380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b="1" i="1">
                                  <a:latin typeface="Cambria Math" panose="02040503050406030204" pitchFamily="18" charset="0"/>
                                </a:rPr>
                                <m:t>𝒚</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limLow>
                              <m:limLowPr>
                                <m:ctrlPr>
                                  <a:rPr lang="pt-BR" i="1" smtClean="0">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==0</m:t>
                                        </m:r>
                                      </m:e>
                                    </m:d>
                                  </m:e>
                                </m:groupChr>
                              </m:e>
                              <m:lim>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0</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lim>
                            </m:limLow>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𝑄</m:t>
                                        </m:r>
                                        <m:r>
                                          <a:rPr lang="pt-BR" i="1">
                                            <a:latin typeface="Cambria Math" panose="02040503050406030204" pitchFamily="18" charset="0"/>
                                          </a:rPr>
                                          <m:t>−1</m:t>
                                        </m:r>
                                      </m:e>
                                    </m:d>
                                  </m:e>
                                </m:groupChr>
                              </m:e>
                              <m:lim>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b="0" i="1" smtClean="0">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lim>
                            </m:limLow>
                            <m:r>
                              <a:rPr lang="pt-BR" i="1" smtClean="0">
                                <a:latin typeface="Cambria Math" panose="02040503050406030204" pitchFamily="18" charset="0"/>
                              </a:rPr>
                              <m:t> </m:t>
                            </m:r>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o vetor </a:t>
                </a:r>
                <a:r>
                  <a:rPr lang="pt-BR" b="1" i="1" dirty="0" err="1"/>
                  <a:t>one</a:t>
                </a:r>
                <a:r>
                  <a:rPr lang="pt-BR" b="1" i="1" dirty="0"/>
                  <a:t>-hot</a:t>
                </a:r>
                <a:r>
                  <a:rPr lang="pt-BR" dirty="0"/>
                  <a:t> do </a:t>
                </a:r>
                <a14:m>
                  <m:oMath xmlns:m="http://schemas.openxmlformats.org/officeDocument/2006/math">
                    <m:r>
                      <a:rPr lang="pt-BR" i="1">
                        <a:latin typeface="Cambria Math" panose="02040503050406030204" pitchFamily="18" charset="0"/>
                      </a:rPr>
                      <m:t>𝑛</m:t>
                    </m:r>
                  </m:oMath>
                </a14:m>
                <a:r>
                  <a:rPr lang="pt-BR" dirty="0"/>
                  <a:t>-ésimo rótulo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o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preditas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1128"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EF4E6DC-E916-D97A-4D18-D469285C4F2C}"/>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𝑨</m:t>
                          </m:r>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limLow>
                            <m:limLowPr>
                              <m:ctrlPr>
                                <a:rPr lang="pt-BR" i="1" smtClean="0">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==0</m:t>
                                      </m:r>
                                    </m:e>
                                  </m:d>
                                </m:e>
                              </m:groupChr>
                            </m:e>
                            <m:lim>
                              <m:r>
                                <a:rPr lang="pt-BR" b="0" i="1" smtClean="0">
                                  <a:latin typeface="Cambria Math" panose="02040503050406030204" pitchFamily="18" charset="0"/>
                                </a:rPr>
                                <m:t>(1−</m:t>
                              </m:r>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lim>
                          </m:limLow>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==1</m:t>
                                      </m:r>
                                    </m:e>
                                  </m:d>
                                </m:e>
                              </m:groupChr>
                            </m:e>
                            <m:lim>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lim>
                          </m:limLow>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da entropia cruzada categórica </a:t>
                </a:r>
                <a:r>
                  <a:rPr lang="pt-BR" dirty="0"/>
                  <a:t>é equivalente à </a:t>
                </a:r>
                <a:r>
                  <a:rPr lang="pt-BR" b="1" dirty="0"/>
                  <a:t>função da entropia cruzada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pPr lvl="1">
                  <a:buFont typeface="Wingdings" panose="05000000000000000000" pitchFamily="2" charset="2"/>
                  <a:buChar char="§"/>
                </a:pPr>
                <a:r>
                  <a:rPr lang="pt-BR" dirty="0"/>
                  <a:t>Porém, ao invés de uma única saída escalar, ele apresenta duas saídas, uma para a classe negativa e outra para a positiva.</a:t>
                </a:r>
              </a:p>
              <a:p>
                <a:r>
                  <a:rPr lang="pt-BR" dirty="0"/>
                  <a:t>Entretanto, existe um problema com essa função de erro.</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a:stretch>
              </a:blipFill>
            </p:spPr>
            <p:txBody>
              <a:bodyPr/>
              <a:lstStyle/>
              <a:p>
                <a:r>
                  <a:rPr lang="en-US">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xmlns=""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r>
              <a:rPr lang="pt-BR" dirty="0"/>
              <a:t>Vejamos como fica o </a:t>
            </a:r>
            <a:r>
              <a:rPr lang="pt-BR" dirty="0" smtClean="0"/>
              <a:t>GD para o regressor </a:t>
            </a:r>
            <a:r>
              <a:rPr lang="pt-BR" i="1" dirty="0" err="1" smtClean="0"/>
              <a:t>softmax</a:t>
            </a:r>
            <a:r>
              <a:rPr lang="pt-BR" dirty="0" smtClean="0"/>
              <a:t>.</a:t>
            </a:r>
            <a:endParaRPr lang="pt-BR" dirty="0"/>
          </a:p>
          <a:p>
            <a:endParaRPr lang="pt-BR" dirty="0"/>
          </a:p>
        </p:txBody>
      </p:sp>
      <p:pic>
        <p:nvPicPr>
          <p:cNvPr id="1026" name="Picture 2">
            <a:extLst>
              <a:ext uri="{FF2B5EF4-FFF2-40B4-BE49-F238E27FC236}">
                <a16:creationId xmlns:a16="http://schemas.microsoft.com/office/drawing/2014/main" xmlns=""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xmlns=""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D38055D-E355-F780-9CA0-0337EA0BE4FD}"/>
                  </a:ext>
                </a:extLst>
              </p:cNvPr>
              <p:cNvSpPr>
                <a:spLocks noGrp="1"/>
              </p:cNvSpPr>
              <p:nvPr>
                <p:ph idx="1"/>
              </p:nvPr>
            </p:nvSpPr>
            <p:spPr>
              <a:xfrm>
                <a:off x="838199" y="1825625"/>
                <a:ext cx="11353801" cy="5032375"/>
              </a:xfrm>
            </p:spPr>
            <p:txBody>
              <a:bodyPr>
                <a:normAutofit/>
              </a:bodyPr>
              <a:lstStyle/>
              <a:p>
                <a:r>
                  <a:rPr lang="pt-BR" dirty="0"/>
                  <a:t>A </a:t>
                </a:r>
                <a:r>
                  <a:rPr lang="pt-BR" b="1" dirty="0">
                    <a:solidFill>
                      <a:srgbClr val="7030A0"/>
                    </a:solidFill>
                  </a:rPr>
                  <a:t>equação de atualização dos pesos </a:t>
                </a:r>
                <a:r>
                  <a:rPr lang="pt-BR" dirty="0"/>
                  <a:t>da</a:t>
                </a:r>
                <a:r>
                  <a:rPr lang="pt-BR" b="1" dirty="0">
                    <a:solidFill>
                      <a:schemeClr val="accent2"/>
                    </a:solidFill>
                  </a:rPr>
                  <a:t> </a:t>
                </a:r>
                <a:r>
                  <a:rPr lang="pt-BR" b="1" i="1" dirty="0">
                    <a:solidFill>
                      <a:schemeClr val="accent2"/>
                    </a:solidFill>
                  </a:rPr>
                  <a:t>q</a:t>
                </a:r>
                <a:r>
                  <a:rPr lang="pt-BR" b="1" dirty="0">
                    <a:solidFill>
                      <a:schemeClr val="accent2"/>
                    </a:solidFill>
                  </a:rPr>
                  <a:t>-</a:t>
                </a:r>
                <a:r>
                  <a:rPr lang="pt-BR" b="1" dirty="0" err="1">
                    <a:solidFill>
                      <a:schemeClr val="accent2"/>
                    </a:solidFill>
                  </a:rPr>
                  <a:t>ésima</a:t>
                </a:r>
                <a:r>
                  <a:rPr lang="pt-BR" b="1" dirty="0">
                    <a:solidFill>
                      <a:schemeClr val="accent2"/>
                    </a:solidFill>
                  </a:rPr>
                  <a:t>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𝑨</m:t>
                        </m:r>
                      </m:e>
                    </m:d>
                  </m:oMath>
                </a14:m>
                <a:r>
                  <a:rPr lang="pt-BR" dirty="0"/>
                  <a:t>, com relação ao vetor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b="1" i="1">
                                      <a:latin typeface="Cambria Math" panose="02040503050406030204" pitchFamily="18" charset="0"/>
                                    </a:rPr>
                                  </m:ctrlPr>
                                </m:dPr>
                                <m:e>
                                  <m:r>
                                    <a:rPr lang="pt-BR" sz="2400" b="1" i="1">
                                      <a:latin typeface="Cambria Math" panose="02040503050406030204" pitchFamily="18" charset="0"/>
                                    </a:rPr>
                                    <m:t>𝒙</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smtClean="0">
                              <a:latin typeface="Cambria Math" panose="02040503050406030204" pitchFamily="18" charset="0"/>
                            </a:rPr>
                          </m:ctrlPr>
                        </m:dPr>
                        <m:e>
                          <m:sSub>
                            <m:sSubPr>
                              <m:ctrlPr>
                                <a:rPr lang="pt-BR" sz="2400" b="1" i="1">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a:latin typeface="Cambria Math" panose="02040503050406030204" pitchFamily="18" charset="0"/>
                                </a:rPr>
                              </m:ctrlPr>
                            </m:sSubPr>
                            <m:e>
                              <m:acc>
                                <m:accPr>
                                  <m:chr m:val="̂"/>
                                  <m:ctrlPr>
                                    <a:rPr lang="pt-BR" sz="2400" b="1"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b="1" i="1">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b="1"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todos os </a:t>
                </a:r>
                <a14:m>
                  <m:oMath xmlns:m="http://schemas.openxmlformats.org/officeDocument/2006/math">
                    <m:r>
                      <a:rPr lang="pt-BR" i="1" smtClean="0">
                        <a:latin typeface="Cambria Math" panose="02040503050406030204" pitchFamily="18" charset="0"/>
                      </a:rPr>
                      <m:t>𝑁</m:t>
                    </m:r>
                  </m:oMath>
                </a14:m>
                <a:r>
                  <a:rPr lang="pt-BR" dirty="0"/>
                  <a:t> vetores de atributos,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DBA288E-BBB8-E157-840C-AA685AD7D65C}"/>
                  </a:ext>
                </a:extLst>
              </p:cNvPr>
              <p:cNvSpPr>
                <a:spLocks noGrp="1"/>
              </p:cNvSpPr>
              <p:nvPr>
                <p:ph idx="1"/>
              </p:nvPr>
            </p:nvSpPr>
            <p:spPr>
              <a:xfrm>
                <a:off x="838200" y="1840864"/>
                <a:ext cx="1125723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b="1"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sSub>
                            <m:sSubPr>
                              <m:ctrlPr>
                                <a:rPr lang="pt-BR" sz="2800" b="1" i="1">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a:latin typeface="Cambria Math" panose="02040503050406030204" pitchFamily="18" charset="0"/>
                                </a:rPr>
                              </m:ctrlPr>
                            </m:sSubPr>
                            <m:e>
                              <m:acc>
                                <m:accPr>
                                  <m:chr m:val="̂"/>
                                  <m:ctrlPr>
                                    <a:rPr lang="pt-BR" sz="2800" b="1"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b="1" dirty="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 </a:t>
                </a:r>
                <a:r>
                  <a:rPr lang="pt-BR" dirty="0"/>
                  <a:t>passamos a ter uma </a:t>
                </a:r>
                <a:r>
                  <a:rPr lang="pt-BR" b="1" dirty="0">
                    <a:solidFill>
                      <a:srgbClr val="7030A0"/>
                    </a:solidFill>
                  </a:rPr>
                  <a:t>matriz de vetores gradiente</a:t>
                </a:r>
                <a:endParaRPr lang="pt-BR" b="1" dirty="0">
                  <a:solidFill>
                    <a:schemeClr val="accent2"/>
                  </a:solidFill>
                </a:endParaRPr>
              </a:p>
              <a:p>
                <a:pPr marL="0" indent="0">
                  <a:buNone/>
                </a:pPr>
                <a14:m>
                  <m:oMathPara xmlns:m="http://schemas.openxmlformats.org/officeDocument/2006/math">
                    <m:oMathParaPr>
                      <m:jc m:val="centerGroup"/>
                    </m:oMathParaPr>
                    <m:oMath xmlns:m="http://schemas.openxmlformats.org/officeDocument/2006/math">
                      <m:f>
                        <m:fPr>
                          <m:ctrlPr>
                            <a:rPr lang="pt-BR" sz="2800" i="1">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b="1"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1"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contendo em cada linha os vetores </a:t>
                </a:r>
                <a14:m>
                  <m:oMath xmlns:m="http://schemas.openxmlformats.org/officeDocument/2006/math">
                    <m:sSup>
                      <m:sSupPr>
                        <m:ctrlPr>
                          <a:rPr lang="pt-BR" b="1" i="1">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a:latin typeface="Cambria Math" panose="02040503050406030204" pitchFamily="18" charset="0"/>
                          </a:rPr>
                        </m:ctrlPr>
                      </m:sSupPr>
                      <m:e>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57230" cy="5032375"/>
              </a:xfrm>
              <a:blipFill>
                <a:blip r:embed="rId3"/>
                <a:stretch>
                  <a:fillRect l="-1138" r="-1354" b="-848"/>
                </a:stretch>
              </a:blipFill>
            </p:spPr>
            <p:txBody>
              <a:bodyPr/>
              <a:lstStyle/>
              <a:p>
                <a:r>
                  <a:rPr lang="en-US">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BB734B24-DA50-860B-5D55-C33F6F451B6F}"/>
                  </a:ext>
                </a:extLst>
              </p:cNvPr>
              <p:cNvSpPr>
                <a:spLocks noGrp="1"/>
              </p:cNvSpPr>
              <p:nvPr>
                <p:ph idx="1"/>
              </p:nvPr>
            </p:nvSpPr>
            <p:spPr>
              <a:xfrm>
                <a:off x="6096000" y="1840615"/>
                <a:ext cx="6096000" cy="5017386"/>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regressor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0" i="1" smtClean="0">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i="0" dirty="0">
                          <a:solidFill>
                            <a:schemeClr val="tx1"/>
                          </a:solidFill>
                        </a:rPr>
                        <m:t>arg</m:t>
                      </m:r>
                      <m:r>
                        <m:rPr>
                          <m:nor/>
                        </m:rPr>
                        <a:rPr lang="pt-BR" i="0"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0" i="1" smtClean="0">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BB734B24-DA50-860B-5D55-C33F6F451B6F}"/>
                  </a:ext>
                </a:extLst>
              </p:cNvPr>
              <p:cNvSpPr>
                <a:spLocks noGrp="1" noRot="1" noChangeAspect="1" noMove="1" noResize="1" noEditPoints="1" noAdjustHandles="1" noChangeArrowheads="1" noChangeShapeType="1" noTextEdit="1"/>
              </p:cNvSpPr>
              <p:nvPr>
                <p:ph idx="1"/>
              </p:nvPr>
            </p:nvSpPr>
            <p:spPr>
              <a:xfrm>
                <a:off x="6096000" y="1840615"/>
                <a:ext cx="6096000" cy="5017386"/>
              </a:xfrm>
              <a:blipFill rotWithShape="0">
                <a:blip r:embed="rId3"/>
                <a:stretch>
                  <a:fillRect l="-1800" t="-2066" r="-2700"/>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xmlns=""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5100"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669840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regressão_softmax.ipynb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#7 – </a:t>
            </a:r>
            <a:r>
              <a:rPr lang="en-US" dirty="0" err="1">
                <a:hlinkClick r:id="rId2"/>
              </a:rPr>
              <a:t>Regressão</a:t>
            </a:r>
            <a:r>
              <a:rPr lang="en-US" dirty="0">
                <a:hlinkClick r:id="rId2"/>
              </a:rPr>
              <a:t> </a:t>
            </a:r>
            <a:r>
              <a:rPr lang="en-US" i="1" dirty="0">
                <a:hlinkClick r:id="rId2"/>
              </a:rPr>
              <a:t>softmax</a:t>
            </a:r>
            <a:endParaRPr lang="en-US" i="1" dirty="0"/>
          </a:p>
        </p:txBody>
      </p:sp>
    </p:spTree>
    <p:extLst>
      <p:ext uri="{BB962C8B-B14F-4D97-AF65-F5344CB8AC3E}">
        <p14:creationId xmlns:p14="http://schemas.microsoft.com/office/powerpoint/2010/main" val="2392053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6DA37F4-4ED4-806C-CFDE-46C776755B3A}"/>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616605E6-566B-D397-B0D6-339FE7F8CB5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0793514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22">
            <a:extLst>
              <a:ext uri="{FF2B5EF4-FFF2-40B4-BE49-F238E27FC236}">
                <a16:creationId xmlns:a16="http://schemas.microsoft.com/office/drawing/2014/main" xmlns="" id="{BDB2E9D3-18AD-6A55-F414-20E01AF3185A}"/>
              </a:ext>
            </a:extLst>
          </p:cNvPr>
          <p:cNvGrpSpPr/>
          <p:nvPr/>
        </p:nvGrpSpPr>
        <p:grpSpPr>
          <a:xfrm>
            <a:off x="1027469" y="1870682"/>
            <a:ext cx="6115665" cy="2461594"/>
            <a:chOff x="1027469" y="1870682"/>
            <a:chExt cx="6115665" cy="2461594"/>
          </a:xfrm>
        </p:grpSpPr>
        <mc:AlternateContent xmlns:mc="http://schemas.openxmlformats.org/markup-compatibility/2006" xmlns:a14="http://schemas.microsoft.com/office/drawing/2010/main">
          <mc:Choice Requires="a14">
            <p:sp>
              <p:nvSpPr>
                <p:cNvPr id="5" name="CaixaDeTexto 5">
                  <a:extLst>
                    <a:ext uri="{FF2B5EF4-FFF2-40B4-BE49-F238E27FC236}">
                      <a16:creationId xmlns:a16="http://schemas.microsoft.com/office/drawing/2014/main" xmlns="" id="{AF11FFDB-E923-3C94-D47A-83418BDAD06C}"/>
                    </a:ext>
                  </a:extLst>
                </p:cNvPr>
                <p:cNvSpPr txBox="1"/>
                <p:nvPr/>
              </p:nvSpPr>
              <p:spPr>
                <a:xfrm>
                  <a:off x="5619134" y="2306131"/>
                  <a:ext cx="1243781"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6" name="CaixaDeTexto 5">
                  <a:extLst>
                    <a:ext uri="{FF2B5EF4-FFF2-40B4-BE49-F238E27FC236}">
                      <a16:creationId xmlns:a16="http://schemas.microsoft.com/office/drawing/2014/main" id="{1847DD7C-477D-13BD-7857-72F635E6564F}"/>
                    </a:ext>
                  </a:extLst>
                </p:cNvPr>
                <p:cNvSpPr txBox="1">
                  <a:spLocks noRot="1" noChangeAspect="1" noMove="1" noResize="1" noEditPoints="1" noAdjustHandles="1" noChangeArrowheads="1" noChangeShapeType="1" noTextEdit="1"/>
                </p:cNvSpPr>
                <p:nvPr/>
              </p:nvSpPr>
              <p:spPr>
                <a:xfrm>
                  <a:off x="5619134" y="2306131"/>
                  <a:ext cx="1243781" cy="2020874"/>
                </a:xfrm>
                <a:prstGeom prst="rect">
                  <a:avLst/>
                </a:prstGeom>
                <a:blipFill>
                  <a:blip r:embed="rId2"/>
                  <a:stretch>
                    <a:fillRect/>
                  </a:stretch>
                </a:blipFill>
              </p:spPr>
              <p:txBody>
                <a:bodyPr/>
                <a:lstStyle/>
                <a:p>
                  <a:r>
                    <a:rPr lang="pt-BR">
                      <a:noFill/>
                    </a:rPr>
                    <a:t> </a:t>
                  </a:r>
                </a:p>
              </p:txBody>
            </p:sp>
          </mc:Fallback>
        </mc:AlternateContent>
        <p:grpSp>
          <p:nvGrpSpPr>
            <p:cNvPr id="6" name="Agrupar 21">
              <a:extLst>
                <a:ext uri="{FF2B5EF4-FFF2-40B4-BE49-F238E27FC236}">
                  <a16:creationId xmlns:a16="http://schemas.microsoft.com/office/drawing/2014/main" xmlns="" id="{0216B346-D594-78F5-A2A5-C50F3A50B5DC}"/>
                </a:ext>
              </a:extLst>
            </p:cNvPr>
            <p:cNvGrpSpPr/>
            <p:nvPr/>
          </p:nvGrpSpPr>
          <p:grpSpPr>
            <a:xfrm>
              <a:off x="3229897" y="2546550"/>
              <a:ext cx="1820194" cy="1583011"/>
              <a:chOff x="3624417" y="4409768"/>
              <a:chExt cx="1820194" cy="1583011"/>
            </a:xfrm>
          </p:grpSpPr>
          <p:sp>
            <p:nvSpPr>
              <p:cNvPr id="19" name="Retângulo 6">
                <a:extLst>
                  <a:ext uri="{FF2B5EF4-FFF2-40B4-BE49-F238E27FC236}">
                    <a16:creationId xmlns:a16="http://schemas.microsoft.com/office/drawing/2014/main" xmlns="" id="{C45F9961-D53D-BEB9-F54B-3CC4703FA1F8}"/>
                  </a:ext>
                </a:extLst>
              </p:cNvPr>
              <p:cNvSpPr/>
              <p:nvPr/>
            </p:nvSpPr>
            <p:spPr>
              <a:xfrm>
                <a:off x="3628103" y="4409768"/>
                <a:ext cx="1816508" cy="1583011"/>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20" name="CaixaDeTexto 7">
                    <a:extLst>
                      <a:ext uri="{FF2B5EF4-FFF2-40B4-BE49-F238E27FC236}">
                        <a16:creationId xmlns:a16="http://schemas.microsoft.com/office/drawing/2014/main" xmlns="" id="{DD14F424-8D9A-FCFC-0455-7D5B5C6C43F0}"/>
                      </a:ext>
                    </a:extLst>
                  </p:cNvPr>
                  <p:cNvSpPr txBox="1"/>
                  <p:nvPr/>
                </p:nvSpPr>
                <p:spPr>
                  <a:xfrm>
                    <a:off x="3624417" y="4579045"/>
                    <a:ext cx="1816508" cy="12111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pt-BR" sz="2800" i="1">
                                  <a:latin typeface="Cambria Math" panose="02040503050406030204" pitchFamily="18" charset="0"/>
                                </a:rPr>
                              </m:ctrlPr>
                            </m:fPr>
                            <m:num>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i="1">
                                          <a:latin typeface="Cambria Math" panose="02040503050406030204" pitchFamily="18" charset="0"/>
                                        </a:rPr>
                                        <m:t>𝑖</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num>
                            <m:den>
                              <m:nary>
                                <m:naryPr>
                                  <m:chr m:val="∑"/>
                                  <m:limLoc m:val="subSup"/>
                                  <m:ctrlPr>
                                    <a:rPr lang="pt-BR" sz="2800" b="0" i="1" smtClean="0">
                                      <a:latin typeface="Cambria Math" panose="02040503050406030204" pitchFamily="18" charset="0"/>
                                    </a:rPr>
                                  </m:ctrlPr>
                                </m:naryPr>
                                <m:sub>
                                  <m:r>
                                    <m:rPr>
                                      <m:brk m:alnAt="25"/>
                                    </m:rPr>
                                    <a:rPr lang="pt-BR" sz="2800" b="0" i="1" smtClean="0">
                                      <a:latin typeface="Cambria Math" panose="02040503050406030204" pitchFamily="18" charset="0"/>
                                    </a:rPr>
                                    <m:t>𝑗</m:t>
                                  </m:r>
                                  <m:r>
                                    <a:rPr lang="pt-BR" sz="2800" b="0" i="1" smtClean="0">
                                      <a:latin typeface="Cambria Math" panose="02040503050406030204" pitchFamily="18" charset="0"/>
                                    </a:rPr>
                                    <m:t>=0</m:t>
                                  </m:r>
                                </m:sub>
                                <m:sup>
                                  <m:r>
                                    <a:rPr lang="pt-BR" sz="2800" b="0" i="1" smtClean="0">
                                      <a:latin typeface="Cambria Math" panose="02040503050406030204" pitchFamily="18" charset="0"/>
                                    </a:rPr>
                                    <m:t>𝑄</m:t>
                                  </m:r>
                                  <m:r>
                                    <a:rPr lang="pt-BR" sz="2800" b="0" i="1" smtClean="0">
                                      <a:latin typeface="Cambria Math" panose="02040503050406030204" pitchFamily="18" charset="0"/>
                                    </a:rPr>
                                    <m:t>−1</m:t>
                                  </m:r>
                                </m:sup>
                                <m:e>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b="0" i="1" smtClean="0">
                                              <a:latin typeface="Cambria Math" panose="02040503050406030204" pitchFamily="18" charset="0"/>
                                            </a:rPr>
                                            <m:t>𝑗</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e>
                              </m:nary>
                            </m:den>
                          </m:f>
                        </m:oMath>
                      </m:oMathPara>
                    </a14:m>
                    <a:endParaRPr lang="pt-BR" sz="2800" dirty="0"/>
                  </a:p>
                </p:txBody>
              </p:sp>
            </mc:Choice>
            <mc:Fallback xmlns="">
              <p:sp>
                <p:nvSpPr>
                  <p:cNvPr id="20" name="CaixaDeTexto 7">
                    <a:extLst>
                      <a:ext uri="{FF2B5EF4-FFF2-40B4-BE49-F238E27FC236}">
                        <a16:creationId xmlns:a16="http://schemas.microsoft.com/office/drawing/2014/main" id="{DD14F424-8D9A-FCFC-0455-7D5B5C6C43F0}"/>
                      </a:ext>
                    </a:extLst>
                  </p:cNvPr>
                  <p:cNvSpPr txBox="1">
                    <a:spLocks noRot="1" noChangeAspect="1" noMove="1" noResize="1" noEditPoints="1" noAdjustHandles="1" noChangeArrowheads="1" noChangeShapeType="1" noTextEdit="1"/>
                  </p:cNvSpPr>
                  <p:nvPr/>
                </p:nvSpPr>
                <p:spPr>
                  <a:xfrm>
                    <a:off x="3624417" y="4579045"/>
                    <a:ext cx="1816508" cy="1211165"/>
                  </a:xfrm>
                  <a:prstGeom prst="rect">
                    <a:avLst/>
                  </a:prstGeom>
                  <a:blipFill>
                    <a:blip r:embed="rId3"/>
                    <a:stretch>
                      <a:fillRect/>
                    </a:stretch>
                  </a:blipFill>
                </p:spPr>
                <p:txBody>
                  <a:bodyPr/>
                  <a:lstStyle/>
                  <a:p>
                    <a:r>
                      <a:rPr lang="en-US">
                        <a:noFill/>
                      </a:rPr>
                      <a:t> </a:t>
                    </a:r>
                  </a:p>
                </p:txBody>
              </p:sp>
            </mc:Fallback>
          </mc:AlternateContent>
        </p:grpSp>
        <p:sp>
          <p:nvSpPr>
            <p:cNvPr id="7" name="Seta: para a Direita 8">
              <a:extLst>
                <a:ext uri="{FF2B5EF4-FFF2-40B4-BE49-F238E27FC236}">
                  <a16:creationId xmlns:a16="http://schemas.microsoft.com/office/drawing/2014/main" xmlns="" id="{D3504EFE-235C-4EED-BD67-1F0134363B33}"/>
                </a:ext>
              </a:extLst>
            </p:cNvPr>
            <p:cNvSpPr/>
            <p:nvPr/>
          </p:nvSpPr>
          <p:spPr>
            <a:xfrm>
              <a:off x="2539180"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eta: para a Direita 9">
              <a:extLst>
                <a:ext uri="{FF2B5EF4-FFF2-40B4-BE49-F238E27FC236}">
                  <a16:creationId xmlns:a16="http://schemas.microsoft.com/office/drawing/2014/main" xmlns="" id="{E56F7404-32FC-ED2A-B5D6-AA6AAC63911A}"/>
                </a:ext>
              </a:extLst>
            </p:cNvPr>
            <p:cNvSpPr/>
            <p:nvPr/>
          </p:nvSpPr>
          <p:spPr>
            <a:xfrm>
              <a:off x="5166851"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10">
              <a:extLst>
                <a:ext uri="{FF2B5EF4-FFF2-40B4-BE49-F238E27FC236}">
                  <a16:creationId xmlns:a16="http://schemas.microsoft.com/office/drawing/2014/main" xmlns="" id="{4F9BC649-95D4-52BD-BA63-08F8688BBFD3}"/>
                </a:ext>
              </a:extLst>
            </p:cNvPr>
            <p:cNvSpPr txBox="1"/>
            <p:nvPr/>
          </p:nvSpPr>
          <p:spPr>
            <a:xfrm>
              <a:off x="5338913" y="1939991"/>
              <a:ext cx="1804221" cy="307777"/>
            </a:xfrm>
            <a:prstGeom prst="rect">
              <a:avLst/>
            </a:prstGeom>
            <a:noFill/>
          </p:spPr>
          <p:txBody>
            <a:bodyPr wrap="square" rtlCol="0">
              <a:spAutoFit/>
            </a:bodyPr>
            <a:lstStyle/>
            <a:p>
              <a:pPr algn="ctr"/>
              <a:r>
                <a:rPr lang="pt-BR" sz="1400" dirty="0"/>
                <a:t>Probabilidades</a:t>
              </a:r>
            </a:p>
          </p:txBody>
        </p:sp>
        <p:sp>
          <p:nvSpPr>
            <p:cNvPr id="10" name="CaixaDeTexto 12">
              <a:extLst>
                <a:ext uri="{FF2B5EF4-FFF2-40B4-BE49-F238E27FC236}">
                  <a16:creationId xmlns:a16="http://schemas.microsoft.com/office/drawing/2014/main" xmlns="" id="{9C4DD653-BC48-DCA1-5663-281ACCF13641}"/>
                </a:ext>
              </a:extLst>
            </p:cNvPr>
            <p:cNvSpPr txBox="1"/>
            <p:nvPr/>
          </p:nvSpPr>
          <p:spPr>
            <a:xfrm>
              <a:off x="3170903" y="1871346"/>
              <a:ext cx="1995948" cy="523220"/>
            </a:xfrm>
            <a:prstGeom prst="rect">
              <a:avLst/>
            </a:prstGeom>
            <a:noFill/>
          </p:spPr>
          <p:txBody>
            <a:bodyPr wrap="square" rtlCol="0">
              <a:spAutoFit/>
            </a:bodyPr>
            <a:lstStyle/>
            <a:p>
              <a:pPr algn="ctr"/>
              <a:r>
                <a:rPr lang="pt-BR" sz="1400" dirty="0"/>
                <a:t>Função de ativação </a:t>
              </a:r>
              <a:r>
                <a:rPr lang="pt-BR" sz="1400" i="1" dirty="0"/>
                <a:t>softmax</a:t>
              </a:r>
            </a:p>
          </p:txBody>
        </p:sp>
        <p:grpSp>
          <p:nvGrpSpPr>
            <p:cNvPr id="11" name="Agrupar 20">
              <a:extLst>
                <a:ext uri="{FF2B5EF4-FFF2-40B4-BE49-F238E27FC236}">
                  <a16:creationId xmlns:a16="http://schemas.microsoft.com/office/drawing/2014/main" xmlns="" id="{1FBA146D-CAB5-65CA-C09C-DFAE2CF0121E}"/>
                </a:ext>
              </a:extLst>
            </p:cNvPr>
            <p:cNvGrpSpPr/>
            <p:nvPr/>
          </p:nvGrpSpPr>
          <p:grpSpPr>
            <a:xfrm>
              <a:off x="1027469" y="1870682"/>
              <a:ext cx="1986994" cy="2461594"/>
              <a:chOff x="1558411" y="3805042"/>
              <a:chExt cx="1986994" cy="2461594"/>
            </a:xfrm>
          </p:grpSpPr>
          <mc:AlternateContent xmlns:mc="http://schemas.openxmlformats.org/markup-compatibility/2006" xmlns:a14="http://schemas.microsoft.com/office/drawing/2010/main">
            <mc:Choice Requires="a14">
              <p:sp>
                <p:nvSpPr>
                  <p:cNvPr id="12" name="CaixaDeTexto 4">
                    <a:extLst>
                      <a:ext uri="{FF2B5EF4-FFF2-40B4-BE49-F238E27FC236}">
                        <a16:creationId xmlns:a16="http://schemas.microsoft.com/office/drawing/2014/main" xmlns="" id="{43C8BB8A-C849-2483-4102-05D4F8A25AE9}"/>
                      </a:ext>
                    </a:extLst>
                  </p:cNvPr>
                  <p:cNvSpPr txBox="1"/>
                  <p:nvPr/>
                </p:nvSpPr>
                <p:spPr>
                  <a:xfrm>
                    <a:off x="2172929" y="4257368"/>
                    <a:ext cx="471948"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.3</m:t>
                                    </m:r>
                                  </m:e>
                                </m:mr>
                                <m:mr>
                                  <m:e>
                                    <m:r>
                                      <a:rPr lang="pt-BR" sz="2800" b="0" i="1" smtClean="0">
                                        <a:latin typeface="Cambria Math" panose="02040503050406030204" pitchFamily="18" charset="0"/>
                                      </a:rPr>
                                      <m:t>5.1</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2</m:t>
                                          </m:r>
                                          <m:r>
                                            <a:rPr lang="pt-BR" sz="2800" b="0" i="1" smtClean="0">
                                              <a:latin typeface="Cambria Math" panose="02040503050406030204" pitchFamily="18" charset="0"/>
                                            </a:rPr>
                                            <m:t>.2</m:t>
                                          </m:r>
                                        </m:e>
                                      </m:mr>
                                      <m:mr>
                                        <m:e>
                                          <m:r>
                                            <a:rPr lang="pt-BR" sz="2800" b="0" i="1" smtClean="0">
                                              <a:latin typeface="Cambria Math" panose="02040503050406030204" pitchFamily="18" charset="0"/>
                                            </a:rPr>
                                            <m:t>0.7</m:t>
                                          </m:r>
                                        </m:e>
                                      </m:mr>
                                      <m:mr>
                                        <m:e>
                                          <m:r>
                                            <a:rPr lang="pt-BR" sz="2800" b="0" i="1" smtClean="0">
                                              <a:latin typeface="Cambria Math" panose="02040503050406030204" pitchFamily="18" charset="0"/>
                                            </a:rPr>
                                            <m:t>1.1</m:t>
                                          </m:r>
                                        </m:e>
                                      </m:mr>
                                    </m:m>
                                  </m:e>
                                </m:mr>
                              </m:m>
                            </m:e>
                          </m:d>
                        </m:oMath>
                      </m:oMathPara>
                    </a14:m>
                    <a:endParaRPr lang="pt-BR" sz="2800" dirty="0"/>
                  </a:p>
                </p:txBody>
              </p:sp>
            </mc:Choice>
            <mc:Fallback xmlns="">
              <p:sp>
                <p:nvSpPr>
                  <p:cNvPr id="5" name="CaixaDeTexto 4">
                    <a:extLst>
                      <a:ext uri="{FF2B5EF4-FFF2-40B4-BE49-F238E27FC236}">
                        <a16:creationId xmlns:a16="http://schemas.microsoft.com/office/drawing/2014/main" id="{ECC8FEDC-452E-069A-74A0-6FE908CEF53B}"/>
                      </a:ext>
                    </a:extLst>
                  </p:cNvPr>
                  <p:cNvSpPr txBox="1">
                    <a:spLocks noRot="1" noChangeAspect="1" noMove="1" noResize="1" noEditPoints="1" noAdjustHandles="1" noChangeArrowheads="1" noChangeShapeType="1" noTextEdit="1"/>
                  </p:cNvSpPr>
                  <p:nvPr/>
                </p:nvSpPr>
                <p:spPr>
                  <a:xfrm>
                    <a:off x="2172929" y="4257368"/>
                    <a:ext cx="471948" cy="2009268"/>
                  </a:xfrm>
                  <a:prstGeom prst="rect">
                    <a:avLst/>
                  </a:prstGeom>
                  <a:blipFill>
                    <a:blip r:embed="rId4"/>
                    <a:stretch>
                      <a:fillRect r="-6794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1">
                    <a:extLst>
                      <a:ext uri="{FF2B5EF4-FFF2-40B4-BE49-F238E27FC236}">
                        <a16:creationId xmlns:a16="http://schemas.microsoft.com/office/drawing/2014/main" xmlns="" id="{AF290EB5-D075-77C8-B194-538454B60861}"/>
                      </a:ext>
                    </a:extLst>
                  </p:cNvPr>
                  <p:cNvSpPr txBox="1"/>
                  <p:nvPr/>
                </p:nvSpPr>
                <p:spPr>
                  <a:xfrm>
                    <a:off x="1744348" y="3805042"/>
                    <a:ext cx="1801057" cy="523220"/>
                  </a:xfrm>
                  <a:prstGeom prst="rect">
                    <a:avLst/>
                  </a:prstGeom>
                  <a:noFill/>
                </p:spPr>
                <p:txBody>
                  <a:bodyPr wrap="square" rtlCol="0">
                    <a:spAutoFit/>
                  </a:bodyPr>
                  <a:lstStyle/>
                  <a:p>
                    <a:pPr algn="ctr"/>
                    <a:r>
                      <a:rPr lang="pt-BR" sz="1400" dirty="0"/>
                      <a:t>Saídas das </a:t>
                    </a:r>
                    <a14:m>
                      <m:oMath xmlns:m="http://schemas.openxmlformats.org/officeDocument/2006/math">
                        <m:r>
                          <a:rPr lang="pt-BR" sz="1400" b="0" i="1" smtClean="0">
                            <a:latin typeface="Cambria Math" panose="02040503050406030204" pitchFamily="18" charset="0"/>
                          </a:rPr>
                          <m:t>𝑄</m:t>
                        </m:r>
                      </m:oMath>
                    </a14:m>
                    <a:r>
                      <a:rPr lang="pt-BR" sz="1400" dirty="0"/>
                      <a:t> funções discriminantes</a:t>
                    </a:r>
                  </a:p>
                </p:txBody>
              </p:sp>
            </mc:Choice>
            <mc:Fallback xmlns="">
              <p:sp>
                <p:nvSpPr>
                  <p:cNvPr id="13" name="CaixaDeTexto 11">
                    <a:extLst>
                      <a:ext uri="{FF2B5EF4-FFF2-40B4-BE49-F238E27FC236}">
                        <a16:creationId xmlns:a16="http://schemas.microsoft.com/office/drawing/2014/main" id="{AF290EB5-D075-77C8-B194-538454B60861}"/>
                      </a:ext>
                    </a:extLst>
                  </p:cNvPr>
                  <p:cNvSpPr txBox="1">
                    <a:spLocks noRot="1" noChangeAspect="1" noMove="1" noResize="1" noEditPoints="1" noAdjustHandles="1" noChangeArrowheads="1" noChangeShapeType="1" noTextEdit="1"/>
                  </p:cNvSpPr>
                  <p:nvPr/>
                </p:nvSpPr>
                <p:spPr>
                  <a:xfrm>
                    <a:off x="1744348" y="3805042"/>
                    <a:ext cx="1801057" cy="523220"/>
                  </a:xfrm>
                  <a:prstGeom prst="rect">
                    <a:avLst/>
                  </a:prstGeom>
                  <a:blipFill>
                    <a:blip r:embed="rId5"/>
                    <a:stretch>
                      <a:fillRect t="-2326" r="-1017" b="-104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4">
                    <a:extLst>
                      <a:ext uri="{FF2B5EF4-FFF2-40B4-BE49-F238E27FC236}">
                        <a16:creationId xmlns:a16="http://schemas.microsoft.com/office/drawing/2014/main" xmlns="" id="{34981BFA-7FF1-3BFF-417B-6F22F9C69AF2}"/>
                      </a:ext>
                    </a:extLst>
                  </p:cNvPr>
                  <p:cNvSpPr txBox="1"/>
                  <p:nvPr/>
                </p:nvSpPr>
                <p:spPr>
                  <a:xfrm>
                    <a:off x="1558411" y="4328926"/>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0</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4" name="CaixaDeTexto 14">
                    <a:extLst>
                      <a:ext uri="{FF2B5EF4-FFF2-40B4-BE49-F238E27FC236}">
                        <a16:creationId xmlns="" xmlns:a16="http://schemas.microsoft.com/office/drawing/2014/main" xmlns:a14="http://schemas.microsoft.com/office/drawing/2010/main" id="{34981BFA-7FF1-3BFF-417B-6F22F9C69AF2}"/>
                      </a:ext>
                    </a:extLst>
                  </p:cNvPr>
                  <p:cNvSpPr txBox="1">
                    <a:spLocks noRot="1" noChangeAspect="1" noMove="1" noResize="1" noEditPoints="1" noAdjustHandles="1" noChangeArrowheads="1" noChangeShapeType="1" noTextEdit="1"/>
                  </p:cNvSpPr>
                  <p:nvPr/>
                </p:nvSpPr>
                <p:spPr>
                  <a:xfrm>
                    <a:off x="1558411" y="4328926"/>
                    <a:ext cx="786581" cy="338554"/>
                  </a:xfrm>
                  <a:prstGeom prst="rect">
                    <a:avLst/>
                  </a:prstGeom>
                  <a:blipFill rotWithShape="0">
                    <a:blip r:embed="rId6"/>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5">
                    <a:extLst>
                      <a:ext uri="{FF2B5EF4-FFF2-40B4-BE49-F238E27FC236}">
                        <a16:creationId xmlns:a16="http://schemas.microsoft.com/office/drawing/2014/main" xmlns="" id="{DB8F6DFA-2208-43E8-18F4-BC5ACFDCAE49}"/>
                      </a:ext>
                    </a:extLst>
                  </p:cNvPr>
                  <p:cNvSpPr txBox="1"/>
                  <p:nvPr/>
                </p:nvSpPr>
                <p:spPr>
                  <a:xfrm>
                    <a:off x="1558411" y="4711915"/>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1</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5" name="CaixaDeTexto 15">
                    <a:extLst>
                      <a:ext uri="{FF2B5EF4-FFF2-40B4-BE49-F238E27FC236}">
                        <a16:creationId xmlns="" xmlns:a16="http://schemas.microsoft.com/office/drawing/2014/main" xmlns:a14="http://schemas.microsoft.com/office/drawing/2010/main" id="{DB8F6DFA-2208-43E8-18F4-BC5ACFDCAE49}"/>
                      </a:ext>
                    </a:extLst>
                  </p:cNvPr>
                  <p:cNvSpPr txBox="1">
                    <a:spLocks noRot="1" noChangeAspect="1" noMove="1" noResize="1" noEditPoints="1" noAdjustHandles="1" noChangeArrowheads="1" noChangeShapeType="1" noTextEdit="1"/>
                  </p:cNvSpPr>
                  <p:nvPr/>
                </p:nvSpPr>
                <p:spPr>
                  <a:xfrm>
                    <a:off x="1558411" y="4711915"/>
                    <a:ext cx="786581" cy="338554"/>
                  </a:xfrm>
                  <a:prstGeom prst="rect">
                    <a:avLst/>
                  </a:prstGeom>
                  <a:blipFill rotWithShape="0">
                    <a:blip r:embed="rId7"/>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6">
                    <a:extLst>
                      <a:ext uri="{FF2B5EF4-FFF2-40B4-BE49-F238E27FC236}">
                        <a16:creationId xmlns:a16="http://schemas.microsoft.com/office/drawing/2014/main" xmlns="" id="{A5EC037D-8EF0-3DEF-2F8B-84248AE8B86A}"/>
                      </a:ext>
                    </a:extLst>
                  </p:cNvPr>
                  <p:cNvSpPr txBox="1"/>
                  <p:nvPr/>
                </p:nvSpPr>
                <p:spPr>
                  <a:xfrm>
                    <a:off x="1558411" y="5081651"/>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2</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6" name="CaixaDeTexto 16">
                    <a:extLst>
                      <a:ext uri="{FF2B5EF4-FFF2-40B4-BE49-F238E27FC236}">
                        <a16:creationId xmlns="" xmlns:a16="http://schemas.microsoft.com/office/drawing/2014/main" xmlns:a14="http://schemas.microsoft.com/office/drawing/2010/main" id="{A5EC037D-8EF0-3DEF-2F8B-84248AE8B86A}"/>
                      </a:ext>
                    </a:extLst>
                  </p:cNvPr>
                  <p:cNvSpPr txBox="1">
                    <a:spLocks noRot="1" noChangeAspect="1" noMove="1" noResize="1" noEditPoints="1" noAdjustHandles="1" noChangeArrowheads="1" noChangeShapeType="1" noTextEdit="1"/>
                  </p:cNvSpPr>
                  <p:nvPr/>
                </p:nvSpPr>
                <p:spPr>
                  <a:xfrm>
                    <a:off x="1558411" y="5081651"/>
                    <a:ext cx="786581" cy="338554"/>
                  </a:xfrm>
                  <a:prstGeom prst="rect">
                    <a:avLst/>
                  </a:prstGeom>
                  <a:blipFill rotWithShape="0">
                    <a:blip r:embed="rId8"/>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7">
                    <a:extLst>
                      <a:ext uri="{FF2B5EF4-FFF2-40B4-BE49-F238E27FC236}">
                        <a16:creationId xmlns:a16="http://schemas.microsoft.com/office/drawing/2014/main" xmlns="" id="{E842A6BA-1A35-A84A-B1B8-54B2C0A49661}"/>
                      </a:ext>
                    </a:extLst>
                  </p:cNvPr>
                  <p:cNvSpPr txBox="1"/>
                  <p:nvPr/>
                </p:nvSpPr>
                <p:spPr>
                  <a:xfrm>
                    <a:off x="1558412" y="5483258"/>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3</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7" name="CaixaDeTexto 17">
                    <a:extLst>
                      <a:ext uri="{FF2B5EF4-FFF2-40B4-BE49-F238E27FC236}">
                        <a16:creationId xmlns="" xmlns:a16="http://schemas.microsoft.com/office/drawing/2014/main" xmlns:a14="http://schemas.microsoft.com/office/drawing/2010/main" id="{E842A6BA-1A35-A84A-B1B8-54B2C0A49661}"/>
                      </a:ext>
                    </a:extLst>
                  </p:cNvPr>
                  <p:cNvSpPr txBox="1">
                    <a:spLocks noRot="1" noChangeAspect="1" noMove="1" noResize="1" noEditPoints="1" noAdjustHandles="1" noChangeArrowheads="1" noChangeShapeType="1" noTextEdit="1"/>
                  </p:cNvSpPr>
                  <p:nvPr/>
                </p:nvSpPr>
                <p:spPr>
                  <a:xfrm>
                    <a:off x="1558412" y="5483258"/>
                    <a:ext cx="786581" cy="338554"/>
                  </a:xfrm>
                  <a:prstGeom prst="rect">
                    <a:avLst/>
                  </a:prstGeom>
                  <a:blipFill rotWithShape="0">
                    <a:blip r:embed="rId9"/>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8">
                    <a:extLst>
                      <a:ext uri="{FF2B5EF4-FFF2-40B4-BE49-F238E27FC236}">
                        <a16:creationId xmlns:a16="http://schemas.microsoft.com/office/drawing/2014/main" xmlns="" id="{AE06ADE1-A3FE-3684-A19B-1A4A69C1E4AB}"/>
                      </a:ext>
                    </a:extLst>
                  </p:cNvPr>
                  <p:cNvSpPr txBox="1"/>
                  <p:nvPr/>
                </p:nvSpPr>
                <p:spPr>
                  <a:xfrm>
                    <a:off x="1558411" y="5874947"/>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4</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8" name="CaixaDeTexto 18">
                    <a:extLst>
                      <a:ext uri="{FF2B5EF4-FFF2-40B4-BE49-F238E27FC236}">
                        <a16:creationId xmlns="" xmlns:a16="http://schemas.microsoft.com/office/drawing/2014/main" xmlns:a14="http://schemas.microsoft.com/office/drawing/2010/main" id="{AE06ADE1-A3FE-3684-A19B-1A4A69C1E4AB}"/>
                      </a:ext>
                    </a:extLst>
                  </p:cNvPr>
                  <p:cNvSpPr txBox="1">
                    <a:spLocks noRot="1" noChangeAspect="1" noMove="1" noResize="1" noEditPoints="1" noAdjustHandles="1" noChangeArrowheads="1" noChangeShapeType="1" noTextEdit="1"/>
                  </p:cNvSpPr>
                  <p:nvPr/>
                </p:nvSpPr>
                <p:spPr>
                  <a:xfrm>
                    <a:off x="1558411" y="5874947"/>
                    <a:ext cx="786581" cy="338554"/>
                  </a:xfrm>
                  <a:prstGeom prst="rect">
                    <a:avLst/>
                  </a:prstGeom>
                  <a:blipFill rotWithShape="0">
                    <a:blip r:embed="rId10"/>
                    <a:stretch>
                      <a:fillRect b="-8929"/>
                    </a:stretch>
                  </a:blipFill>
                </p:spPr>
                <p:txBody>
                  <a:bodyPr/>
                  <a:lstStyle/>
                  <a:p>
                    <a:r>
                      <a:rPr lang="pt-BR">
                        <a:noFill/>
                      </a:rPr>
                      <a:t> </a:t>
                    </a:r>
                  </a:p>
                </p:txBody>
              </p:sp>
            </mc:Fallback>
          </mc:AlternateContent>
        </p:grpSp>
      </p:grpSp>
    </p:spTree>
    <p:extLst>
      <p:ext uri="{BB962C8B-B14F-4D97-AF65-F5344CB8AC3E}">
        <p14:creationId xmlns:p14="http://schemas.microsoft.com/office/powerpoint/2010/main" val="36990590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C4572DC-35C8-C64C-E103-3D4F9246EA98}"/>
            </a:ext>
          </a:extLst>
        </p:cNvPr>
        <p:cNvGrpSpPr/>
        <p:nvPr/>
      </p:nvGrpSpPr>
      <p:grpSpPr>
        <a:xfrm>
          <a:off x="0" y="0"/>
          <a:ext cx="0" cy="0"/>
          <a:chOff x="0" y="0"/>
          <a:chExt cx="0" cy="0"/>
        </a:xfrm>
      </p:grpSpPr>
      <p:grpSp>
        <p:nvGrpSpPr>
          <p:cNvPr id="36" name="Group 35">
            <a:extLst>
              <a:ext uri="{FF2B5EF4-FFF2-40B4-BE49-F238E27FC236}">
                <a16:creationId xmlns:a16="http://schemas.microsoft.com/office/drawing/2014/main" xmlns="" id="{48F378AC-D060-0026-4561-6496453280FF}"/>
              </a:ext>
            </a:extLst>
          </p:cNvPr>
          <p:cNvGrpSpPr/>
          <p:nvPr/>
        </p:nvGrpSpPr>
        <p:grpSpPr>
          <a:xfrm>
            <a:off x="5040796" y="1567467"/>
            <a:ext cx="4280221" cy="2759538"/>
            <a:chOff x="5040796" y="1567467"/>
            <a:chExt cx="4280221" cy="2759538"/>
          </a:xfrm>
        </p:grpSpPr>
        <mc:AlternateContent xmlns:mc="http://schemas.openxmlformats.org/markup-compatibility/2006" xmlns:a14="http://schemas.microsoft.com/office/drawing/2010/main">
          <mc:Choice Requires="a14">
            <p:sp>
              <p:nvSpPr>
                <p:cNvPr id="5" name="CaixaDeTexto 5">
                  <a:extLst>
                    <a:ext uri="{FF2B5EF4-FFF2-40B4-BE49-F238E27FC236}">
                      <a16:creationId xmlns:a16="http://schemas.microsoft.com/office/drawing/2014/main" xmlns="" id="{E8D0D67D-860E-2510-92FC-57A520894F28}"/>
                    </a:ext>
                  </a:extLst>
                </p:cNvPr>
                <p:cNvSpPr txBox="1"/>
                <p:nvPr/>
              </p:nvSpPr>
              <p:spPr>
                <a:xfrm>
                  <a:off x="5400674" y="2306131"/>
                  <a:ext cx="978695"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5" name="CaixaDeTexto 5">
                  <a:extLst>
                    <a:ext uri="{FF2B5EF4-FFF2-40B4-BE49-F238E27FC236}">
                      <a16:creationId xmlns:a16="http://schemas.microsoft.com/office/drawing/2014/main" id="{E8D0D67D-860E-2510-92FC-57A520894F28}"/>
                    </a:ext>
                  </a:extLst>
                </p:cNvPr>
                <p:cNvSpPr txBox="1">
                  <a:spLocks noRot="1" noChangeAspect="1" noMove="1" noResize="1" noEditPoints="1" noAdjustHandles="1" noChangeArrowheads="1" noChangeShapeType="1" noTextEdit="1"/>
                </p:cNvSpPr>
                <p:nvPr/>
              </p:nvSpPr>
              <p:spPr>
                <a:xfrm>
                  <a:off x="5400674" y="2306131"/>
                  <a:ext cx="978695" cy="2020874"/>
                </a:xfrm>
                <a:prstGeom prst="rect">
                  <a:avLst/>
                </a:prstGeom>
                <a:blipFill>
                  <a:blip r:embed="rId2"/>
                  <a:stretch>
                    <a:fillRect r="-1875"/>
                  </a:stretch>
                </a:blipFill>
              </p:spPr>
              <p:txBody>
                <a:bodyPr/>
                <a:lstStyle/>
                <a:p>
                  <a:r>
                    <a:rPr lang="en-US">
                      <a:noFill/>
                    </a:rPr>
                    <a:t> </a:t>
                  </a:r>
                </a:p>
              </p:txBody>
            </p:sp>
          </mc:Fallback>
        </mc:AlternateContent>
        <p:sp>
          <p:nvSpPr>
            <p:cNvPr id="9" name="CaixaDeTexto 10">
              <a:extLst>
                <a:ext uri="{FF2B5EF4-FFF2-40B4-BE49-F238E27FC236}">
                  <a16:creationId xmlns:a16="http://schemas.microsoft.com/office/drawing/2014/main" xmlns="" id="{E297B5F7-3383-6E2F-1D8A-03955FAC43D2}"/>
                </a:ext>
              </a:extLst>
            </p:cNvPr>
            <p:cNvSpPr txBox="1"/>
            <p:nvPr/>
          </p:nvSpPr>
          <p:spPr>
            <a:xfrm>
              <a:off x="5040796" y="1567467"/>
              <a:ext cx="1943256" cy="738664"/>
            </a:xfrm>
            <a:prstGeom prst="rect">
              <a:avLst/>
            </a:prstGeom>
            <a:noFill/>
          </p:spPr>
          <p:txBody>
            <a:bodyPr wrap="square" rtlCol="0">
              <a:spAutoFit/>
            </a:bodyPr>
            <a:lstStyle/>
            <a:p>
              <a:pPr algn="ctr"/>
              <a:r>
                <a:rPr lang="pt-BR" sz="1400" dirty="0"/>
                <a:t>Saída da função de ativação </a:t>
              </a:r>
              <a:r>
                <a:rPr lang="pt-BR" sz="1400" i="1" dirty="0"/>
                <a:t>softmax</a:t>
              </a:r>
              <a:endParaRPr lang="pt-BR" sz="1400" dirty="0"/>
            </a:p>
            <a:p>
              <a:pPr algn="ctr"/>
              <a:r>
                <a:rPr lang="pt-BR" sz="1400" dirty="0"/>
                <a:t>(probabilidades)</a:t>
              </a:r>
            </a:p>
          </p:txBody>
        </p:sp>
        <mc:AlternateContent xmlns:mc="http://schemas.openxmlformats.org/markup-compatibility/2006" xmlns:a14="http://schemas.microsoft.com/office/drawing/2010/main">
          <mc:Choice Requires="a14">
            <p:sp>
              <p:nvSpPr>
                <p:cNvPr id="12" name="CaixaDeTexto 4">
                  <a:extLst>
                    <a:ext uri="{FF2B5EF4-FFF2-40B4-BE49-F238E27FC236}">
                      <a16:creationId xmlns:a16="http://schemas.microsoft.com/office/drawing/2014/main" xmlns="" id="{2C8DDC51-3A16-5E93-8268-EE62BDE151E0}"/>
                    </a:ext>
                  </a:extLst>
                </p:cNvPr>
                <p:cNvSpPr txBox="1"/>
                <p:nvPr/>
              </p:nvSpPr>
              <p:spPr>
                <a:xfrm>
                  <a:off x="8099425" y="2311739"/>
                  <a:ext cx="508000"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1</m:t>
                                  </m:r>
                                </m:e>
                              </m:mr>
                              <m:m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
                                </m:e>
                              </m:mr>
                            </m:m>
                          </m:e>
                        </m:d>
                      </m:oMath>
                    </m:oMathPara>
                  </a14:m>
                  <a:endParaRPr lang="pt-BR" sz="2800" dirty="0"/>
                </a:p>
              </p:txBody>
            </p:sp>
          </mc:Choice>
          <mc:Fallback xmlns="">
            <p:sp>
              <p:nvSpPr>
                <p:cNvPr id="12" name="CaixaDeTexto 4">
                  <a:extLst>
                    <a:ext uri="{FF2B5EF4-FFF2-40B4-BE49-F238E27FC236}">
                      <a16:creationId xmlns:a16="http://schemas.microsoft.com/office/drawing/2014/main" id="{2C8DDC51-3A16-5E93-8268-EE62BDE151E0}"/>
                    </a:ext>
                  </a:extLst>
                </p:cNvPr>
                <p:cNvSpPr txBox="1">
                  <a:spLocks noRot="1" noChangeAspect="1" noMove="1" noResize="1" noEditPoints="1" noAdjustHandles="1" noChangeArrowheads="1" noChangeShapeType="1" noTextEdit="1"/>
                </p:cNvSpPr>
                <p:nvPr/>
              </p:nvSpPr>
              <p:spPr>
                <a:xfrm>
                  <a:off x="8099425" y="2311739"/>
                  <a:ext cx="508000" cy="2009268"/>
                </a:xfrm>
                <a:prstGeom prst="rect">
                  <a:avLst/>
                </a:prstGeom>
                <a:blipFill>
                  <a:blip r:embed="rId3"/>
                  <a:stretch>
                    <a:fillRect r="-3614"/>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xmlns="" id="{EB611083-738F-80C1-2BA7-92EDB40EFB94}"/>
                </a:ext>
              </a:extLst>
            </p:cNvPr>
            <p:cNvSpPr/>
            <p:nvPr/>
          </p:nvSpPr>
          <p:spPr>
            <a:xfrm>
              <a:off x="6848474" y="2994737"/>
              <a:ext cx="956185" cy="643659"/>
            </a:xfrm>
            <a:prstGeom prst="rect">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endParaRPr lang="en-US" dirty="0">
                <a:solidFill>
                  <a:schemeClr val="tx1"/>
                </a:solidFill>
              </a:endParaRPr>
            </a:p>
          </p:txBody>
        </p:sp>
        <p:sp>
          <p:nvSpPr>
            <p:cNvPr id="3" name="CaixaDeTexto 10">
              <a:extLst>
                <a:ext uri="{FF2B5EF4-FFF2-40B4-BE49-F238E27FC236}">
                  <a16:creationId xmlns:a16="http://schemas.microsoft.com/office/drawing/2014/main" xmlns="" id="{F0E4EAFE-2F57-D46C-B71A-FC2B97DD9DC3}"/>
                </a:ext>
              </a:extLst>
            </p:cNvPr>
            <p:cNvSpPr txBox="1"/>
            <p:nvPr/>
          </p:nvSpPr>
          <p:spPr>
            <a:xfrm>
              <a:off x="7703840" y="1567467"/>
              <a:ext cx="1617177" cy="738664"/>
            </a:xfrm>
            <a:prstGeom prst="rect">
              <a:avLst/>
            </a:prstGeom>
            <a:noFill/>
          </p:spPr>
          <p:txBody>
            <a:bodyPr wrap="square" rtlCol="0">
              <a:spAutoFit/>
            </a:bodyPr>
            <a:lstStyle/>
            <a:p>
              <a:pPr algn="ctr"/>
              <a:r>
                <a:rPr lang="pt-BR" sz="1400" dirty="0"/>
                <a:t>Vetor </a:t>
              </a:r>
              <a:r>
                <a:rPr lang="pt-BR" sz="1400" i="1" dirty="0" err="1"/>
                <a:t>one</a:t>
              </a:r>
              <a:r>
                <a:rPr lang="pt-BR" sz="1400" i="1" dirty="0"/>
                <a:t>-hot</a:t>
              </a:r>
              <a:r>
                <a:rPr lang="pt-BR" sz="1400" dirty="0"/>
                <a:t> com a probabilidade real de cada classe.</a:t>
              </a:r>
            </a:p>
          </p:txBody>
        </p:sp>
        <p:cxnSp>
          <p:nvCxnSpPr>
            <p:cNvPr id="22" name="Straight Arrow Connector 21">
              <a:extLst>
                <a:ext uri="{FF2B5EF4-FFF2-40B4-BE49-F238E27FC236}">
                  <a16:creationId xmlns:a16="http://schemas.microsoft.com/office/drawing/2014/main" xmlns="" id="{8F2714CA-3421-42C2-2575-C2D5DB1B504D}"/>
                </a:ext>
              </a:extLst>
            </p:cNvPr>
            <p:cNvCxnSpPr>
              <a:cxnSpLocks/>
              <a:stCxn id="5" idx="3"/>
              <a:endCxn id="2" idx="1"/>
            </p:cNvCxnSpPr>
            <p:nvPr/>
          </p:nvCxnSpPr>
          <p:spPr>
            <a:xfrm flipV="1">
              <a:off x="6379369" y="3316567"/>
              <a:ext cx="469105" cy="1"/>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xmlns="" id="{4613A6D9-EABC-0CE5-50B4-C1C9AA047D5D}"/>
                </a:ext>
              </a:extLst>
            </p:cNvPr>
            <p:cNvCxnSpPr>
              <a:cxnSpLocks/>
              <a:endCxn id="2" idx="3"/>
            </p:cNvCxnSpPr>
            <p:nvPr/>
          </p:nvCxnSpPr>
          <p:spPr>
            <a:xfrm flipH="1">
              <a:off x="7804659" y="3316567"/>
              <a:ext cx="396000"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72011154"/>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9947</TotalTime>
  <Words>2037</Words>
  <Application>Microsoft Office PowerPoint</Application>
  <PresentationFormat>Widescreen</PresentationFormat>
  <Paragraphs>223</Paragraphs>
  <Slides>26</Slides>
  <Notes>14</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26</vt:i4>
      </vt:variant>
    </vt:vector>
  </HeadingPairs>
  <TitlesOfParts>
    <vt:vector size="34" baseType="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1865</cp:revision>
  <dcterms:created xsi:type="dcterms:W3CDTF">2020-01-20T13:50:05Z</dcterms:created>
  <dcterms:modified xsi:type="dcterms:W3CDTF">2026-09-14T21:34:56Z</dcterms:modified>
</cp:coreProperties>
</file>