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handoutMasterIdLst>
    <p:handoutMasterId r:id="rId29"/>
  </p:handoutMasterIdLst>
  <p:sldIdLst>
    <p:sldId id="256" r:id="rId2"/>
    <p:sldId id="325" r:id="rId3"/>
    <p:sldId id="474" r:id="rId4"/>
    <p:sldId id="498" r:id="rId5"/>
    <p:sldId id="499" r:id="rId6"/>
    <p:sldId id="500" r:id="rId7"/>
    <p:sldId id="501" r:id="rId8"/>
    <p:sldId id="502" r:id="rId9"/>
    <p:sldId id="503" r:id="rId10"/>
    <p:sldId id="504" r:id="rId11"/>
    <p:sldId id="505" r:id="rId12"/>
    <p:sldId id="506" r:id="rId13"/>
    <p:sldId id="507" r:id="rId14"/>
    <p:sldId id="508" r:id="rId15"/>
    <p:sldId id="509" r:id="rId16"/>
    <p:sldId id="510" r:id="rId17"/>
    <p:sldId id="511" r:id="rId18"/>
    <p:sldId id="512" r:id="rId19"/>
    <p:sldId id="513" r:id="rId20"/>
    <p:sldId id="456" r:id="rId21"/>
    <p:sldId id="457" r:id="rId22"/>
    <p:sldId id="293" r:id="rId23"/>
    <p:sldId id="306" r:id="rId24"/>
    <p:sldId id="515" r:id="rId25"/>
    <p:sldId id="514" r:id="rId26"/>
    <p:sldId id="516" r:id="rId27"/>
  </p:sldIdLst>
  <p:sldSz cx="12192000" cy="6858000"/>
  <p:notesSz cx="7315200" cy="96012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F1F5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FCA41B-7398-400B-83DC-FDE8722EB923}" v="79" dt="2020-02-09T01:28:39.6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078" autoAdjust="0"/>
    <p:restoredTop sz="87067" autoAdjust="0"/>
  </p:normalViewPr>
  <p:slideViewPr>
    <p:cSldViewPr snapToGrid="0">
      <p:cViewPr varScale="1">
        <p:scale>
          <a:sx n="64" d="100"/>
          <a:sy n="64" d="100"/>
        </p:scale>
        <p:origin x="1140" y="60"/>
      </p:cViewPr>
      <p:guideLst/>
    </p:cSldViewPr>
  </p:slideViewPr>
  <p:outlineViewPr>
    <p:cViewPr>
      <p:scale>
        <a:sx n="33" d="100"/>
        <a:sy n="33" d="100"/>
      </p:scale>
      <p:origin x="0" y="-8862"/>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lipe Augusto Pereira de Figueiredo" userId="e1771b70d906f94b" providerId="Windows Live" clId="Web-{B3FCA41B-7398-400B-83DC-FDE8722EB923}"/>
    <pc:docChg chg="modSld">
      <pc:chgData name="Felipe Augusto Pereira de Figueiredo" userId="e1771b70d906f94b" providerId="Windows Live" clId="Web-{B3FCA41B-7398-400B-83DC-FDE8722EB923}" dt="2020-02-09T01:40:38.055" v="257"/>
      <pc:docMkLst>
        <pc:docMk/>
      </pc:docMkLst>
      <pc:sldChg chg="modSp modNotes">
        <pc:chgData name="Felipe Augusto Pereira de Figueiredo" userId="e1771b70d906f94b" providerId="Windows Live" clId="Web-{B3FCA41B-7398-400B-83DC-FDE8722EB923}" dt="2020-02-09T01:26:20.191" v="45"/>
        <pc:sldMkLst>
          <pc:docMk/>
          <pc:sldMk cId="636059476" sldId="259"/>
        </pc:sldMkLst>
        <pc:spChg chg="mod">
          <ac:chgData name="Felipe Augusto Pereira de Figueiredo" userId="e1771b70d906f94b" providerId="Windows Live" clId="Web-{B3FCA41B-7398-400B-83DC-FDE8722EB923}" dt="2020-02-09T01:22:23.081" v="18" actId="1076"/>
          <ac:spMkLst>
            <pc:docMk/>
            <pc:sldMk cId="636059476" sldId="259"/>
            <ac:spMk id="3" creationId="{979D29AC-E01B-406F-AC75-55866B75A7CC}"/>
          </ac:spMkLst>
        </pc:spChg>
      </pc:sldChg>
      <pc:sldChg chg="modNotes">
        <pc:chgData name="Felipe Augusto Pereira de Figueiredo" userId="e1771b70d906f94b" providerId="Windows Live" clId="Web-{B3FCA41B-7398-400B-83DC-FDE8722EB923}" dt="2020-02-09T01:21:46.721" v="16"/>
        <pc:sldMkLst>
          <pc:docMk/>
          <pc:sldMk cId="248504461" sldId="267"/>
        </pc:sldMkLst>
      </pc:sldChg>
      <pc:sldChg chg="modSp modNotes">
        <pc:chgData name="Felipe Augusto Pereira de Figueiredo" userId="e1771b70d906f94b" providerId="Windows Live" clId="Web-{B3FCA41B-7398-400B-83DC-FDE8722EB923}" dt="2020-02-09T01:40:38.055" v="257"/>
        <pc:sldMkLst>
          <pc:docMk/>
          <pc:sldMk cId="2076219387" sldId="277"/>
        </pc:sldMkLst>
        <pc:spChg chg="mod">
          <ac:chgData name="Felipe Augusto Pereira de Figueiredo" userId="e1771b70d906f94b" providerId="Windows Live" clId="Web-{B3FCA41B-7398-400B-83DC-FDE8722EB923}" dt="2020-02-09T01:28:39.664" v="120" actId="14100"/>
          <ac:spMkLst>
            <pc:docMk/>
            <pc:sldMk cId="2076219387" sldId="277"/>
            <ac:spMk id="3" creationId="{5E0262E2-3A0F-4805-BCCB-6745237D1574}"/>
          </ac:spMkLst>
        </pc:spChg>
      </pc:sldChg>
    </pc:docChg>
  </pc:docChgLst>
  <pc:docChgLst>
    <pc:chgData name="Felipe Augusto Pereira de Figueiredo" userId="e1771b70d906f94b" providerId="Windows Live" clId="Web-{1FA475AF-6444-47C2-89B1-9776BABC0E66}"/>
    <pc:docChg chg="modSld">
      <pc:chgData name="Felipe Augusto Pereira de Figueiredo" userId="e1771b70d906f94b" providerId="Windows Live" clId="Web-{1FA475AF-6444-47C2-89B1-9776BABC0E66}" dt="2020-02-09T18:53:52.767" v="85"/>
      <pc:docMkLst>
        <pc:docMk/>
      </pc:docMkLst>
      <pc:sldChg chg="modNotes">
        <pc:chgData name="Felipe Augusto Pereira de Figueiredo" userId="e1771b70d906f94b" providerId="Windows Live" clId="Web-{1FA475AF-6444-47C2-89B1-9776BABC0E66}" dt="2020-02-09T18:53:52.767" v="85"/>
        <pc:sldMkLst>
          <pc:docMk/>
          <pc:sldMk cId="248504461" sldId="26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169922" cy="480722"/>
          </a:xfrm>
          <a:prstGeom prst="rect">
            <a:avLst/>
          </a:prstGeom>
        </p:spPr>
        <p:txBody>
          <a:bodyPr vert="horz" lIns="168634" tIns="84317" rIns="168634" bIns="84317" rtlCol="0"/>
          <a:lstStyle>
            <a:lvl1pPr algn="l">
              <a:defRPr sz="2200"/>
            </a:lvl1pPr>
          </a:lstStyle>
          <a:p>
            <a:endParaRPr lang="nl-BE"/>
          </a:p>
        </p:txBody>
      </p:sp>
      <p:sp>
        <p:nvSpPr>
          <p:cNvPr id="3" name="Date Placeholder 2"/>
          <p:cNvSpPr>
            <a:spLocks noGrp="1"/>
          </p:cNvSpPr>
          <p:nvPr>
            <p:ph type="dt" sz="quarter" idx="1"/>
          </p:nvPr>
        </p:nvSpPr>
        <p:spPr>
          <a:xfrm>
            <a:off x="4143589" y="0"/>
            <a:ext cx="3169922" cy="480722"/>
          </a:xfrm>
          <a:prstGeom prst="rect">
            <a:avLst/>
          </a:prstGeom>
        </p:spPr>
        <p:txBody>
          <a:bodyPr vert="horz" lIns="168634" tIns="84317" rIns="168634" bIns="84317" rtlCol="0"/>
          <a:lstStyle>
            <a:lvl1pPr algn="r">
              <a:defRPr sz="2200"/>
            </a:lvl1pPr>
          </a:lstStyle>
          <a:p>
            <a:fld id="{144F1436-6906-4D93-B7A2-786C327BFA14}" type="datetimeFigureOut">
              <a:rPr lang="nl-BE" smtClean="0"/>
              <a:t>13/09/2026</a:t>
            </a:fld>
            <a:endParaRPr lang="nl-BE"/>
          </a:p>
        </p:txBody>
      </p:sp>
      <p:sp>
        <p:nvSpPr>
          <p:cNvPr id="4" name="Footer Placeholder 3"/>
          <p:cNvSpPr>
            <a:spLocks noGrp="1"/>
          </p:cNvSpPr>
          <p:nvPr>
            <p:ph type="ftr" sz="quarter" idx="2"/>
          </p:nvPr>
        </p:nvSpPr>
        <p:spPr>
          <a:xfrm>
            <a:off x="1" y="9120488"/>
            <a:ext cx="3169922" cy="480718"/>
          </a:xfrm>
          <a:prstGeom prst="rect">
            <a:avLst/>
          </a:prstGeom>
        </p:spPr>
        <p:txBody>
          <a:bodyPr vert="horz" lIns="168634" tIns="84317" rIns="168634" bIns="84317" rtlCol="0" anchor="b"/>
          <a:lstStyle>
            <a:lvl1pPr algn="l">
              <a:defRPr sz="2200"/>
            </a:lvl1pPr>
          </a:lstStyle>
          <a:p>
            <a:endParaRPr lang="nl-BE"/>
          </a:p>
        </p:txBody>
      </p:sp>
      <p:sp>
        <p:nvSpPr>
          <p:cNvPr id="5" name="Slide Number Placeholder 4"/>
          <p:cNvSpPr>
            <a:spLocks noGrp="1"/>
          </p:cNvSpPr>
          <p:nvPr>
            <p:ph type="sldNum" sz="quarter" idx="3"/>
          </p:nvPr>
        </p:nvSpPr>
        <p:spPr>
          <a:xfrm>
            <a:off x="4143589" y="9120488"/>
            <a:ext cx="3169922" cy="480718"/>
          </a:xfrm>
          <a:prstGeom prst="rect">
            <a:avLst/>
          </a:prstGeom>
        </p:spPr>
        <p:txBody>
          <a:bodyPr vert="horz" lIns="168634" tIns="84317" rIns="168634" bIns="84317" rtlCol="0" anchor="b"/>
          <a:lstStyle>
            <a:lvl1pPr algn="r">
              <a:defRPr sz="2200"/>
            </a:lvl1pPr>
          </a:lstStyle>
          <a:p>
            <a:fld id="{F7E56D9B-79AD-444A-AFED-DEC23408F8B4}" type="slidenum">
              <a:rPr lang="nl-BE" smtClean="0"/>
              <a:t>‹nº›</a:t>
            </a:fld>
            <a:endParaRPr lang="nl-BE"/>
          </a:p>
        </p:txBody>
      </p:sp>
    </p:spTree>
    <p:extLst>
      <p:ext uri="{BB962C8B-B14F-4D97-AF65-F5344CB8AC3E}">
        <p14:creationId xmlns:p14="http://schemas.microsoft.com/office/powerpoint/2010/main" val="31635331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5" y="1"/>
            <a:ext cx="3169922" cy="1903121"/>
          </a:xfrm>
          <a:prstGeom prst="rect">
            <a:avLst/>
          </a:prstGeom>
        </p:spPr>
        <p:txBody>
          <a:bodyPr vert="horz" lIns="168634" tIns="84317" rIns="168634" bIns="84317" rtlCol="0"/>
          <a:lstStyle>
            <a:lvl1pPr algn="l">
              <a:defRPr sz="2200"/>
            </a:lvl1pPr>
          </a:lstStyle>
          <a:p>
            <a:endParaRPr lang="pt-BR"/>
          </a:p>
        </p:txBody>
      </p:sp>
      <p:sp>
        <p:nvSpPr>
          <p:cNvPr id="3" name="Espaço Reservado para Data 2"/>
          <p:cNvSpPr>
            <a:spLocks noGrp="1"/>
          </p:cNvSpPr>
          <p:nvPr>
            <p:ph type="dt" idx="1"/>
          </p:nvPr>
        </p:nvSpPr>
        <p:spPr>
          <a:xfrm>
            <a:off x="4143592" y="1"/>
            <a:ext cx="3169922" cy="1903121"/>
          </a:xfrm>
          <a:prstGeom prst="rect">
            <a:avLst/>
          </a:prstGeom>
        </p:spPr>
        <p:txBody>
          <a:bodyPr vert="horz" lIns="168634" tIns="84317" rIns="168634" bIns="84317" rtlCol="0"/>
          <a:lstStyle>
            <a:lvl1pPr algn="r">
              <a:defRPr sz="2200"/>
            </a:lvl1pPr>
          </a:lstStyle>
          <a:p>
            <a:fld id="{AA8CD09E-2914-4F47-B6C1-51B2C31814C9}" type="datetimeFigureOut">
              <a:rPr lang="pt-BR" smtClean="0"/>
              <a:t>13/09/2026</a:t>
            </a:fld>
            <a:endParaRPr lang="pt-BR"/>
          </a:p>
        </p:txBody>
      </p:sp>
      <p:sp>
        <p:nvSpPr>
          <p:cNvPr id="4" name="Espaço Reservado para Imagem de Slide 3"/>
          <p:cNvSpPr>
            <a:spLocks noGrp="1" noRot="1" noChangeAspect="1"/>
          </p:cNvSpPr>
          <p:nvPr>
            <p:ph type="sldImg" idx="2"/>
          </p:nvPr>
        </p:nvSpPr>
        <p:spPr>
          <a:xfrm>
            <a:off x="-7721600" y="4740275"/>
            <a:ext cx="22758400" cy="12801600"/>
          </a:xfrm>
          <a:prstGeom prst="rect">
            <a:avLst/>
          </a:prstGeom>
          <a:noFill/>
          <a:ln w="12700">
            <a:solidFill>
              <a:prstClr val="black"/>
            </a:solidFill>
          </a:ln>
        </p:spPr>
        <p:txBody>
          <a:bodyPr vert="horz" lIns="168634" tIns="84317" rIns="168634" bIns="84317" rtlCol="0" anchor="ctr"/>
          <a:lstStyle/>
          <a:p>
            <a:endParaRPr lang="pt-BR"/>
          </a:p>
        </p:txBody>
      </p:sp>
      <p:sp>
        <p:nvSpPr>
          <p:cNvPr id="5" name="Espaço Reservado para Anotações 4"/>
          <p:cNvSpPr>
            <a:spLocks noGrp="1"/>
          </p:cNvSpPr>
          <p:nvPr>
            <p:ph type="body" sz="quarter" idx="3"/>
          </p:nvPr>
        </p:nvSpPr>
        <p:spPr>
          <a:xfrm>
            <a:off x="731522" y="18254135"/>
            <a:ext cx="5852160" cy="14935200"/>
          </a:xfrm>
          <a:prstGeom prst="rect">
            <a:avLst/>
          </a:prstGeom>
        </p:spPr>
        <p:txBody>
          <a:bodyPr vert="horz" lIns="168634" tIns="84317" rIns="168634" bIns="84317" rtlCol="0"/>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5" y="36027558"/>
            <a:ext cx="3169922" cy="1903117"/>
          </a:xfrm>
          <a:prstGeom prst="rect">
            <a:avLst/>
          </a:prstGeom>
        </p:spPr>
        <p:txBody>
          <a:bodyPr vert="horz" lIns="168634" tIns="84317" rIns="168634" bIns="84317" rtlCol="0" anchor="b"/>
          <a:lstStyle>
            <a:lvl1pPr algn="l">
              <a:defRPr sz="2200"/>
            </a:lvl1pPr>
          </a:lstStyle>
          <a:p>
            <a:endParaRPr lang="pt-BR"/>
          </a:p>
        </p:txBody>
      </p:sp>
      <p:sp>
        <p:nvSpPr>
          <p:cNvPr id="7" name="Espaço Reservado para Número de Slide 6"/>
          <p:cNvSpPr>
            <a:spLocks noGrp="1"/>
          </p:cNvSpPr>
          <p:nvPr>
            <p:ph type="sldNum" sz="quarter" idx="5"/>
          </p:nvPr>
        </p:nvSpPr>
        <p:spPr>
          <a:xfrm>
            <a:off x="4143592" y="36027558"/>
            <a:ext cx="3169922" cy="1903117"/>
          </a:xfrm>
          <a:prstGeom prst="rect">
            <a:avLst/>
          </a:prstGeom>
        </p:spPr>
        <p:txBody>
          <a:bodyPr vert="horz" lIns="168634" tIns="84317" rIns="168634" bIns="84317" rtlCol="0" anchor="b"/>
          <a:lstStyle>
            <a:lvl1pPr algn="r">
              <a:defRPr sz="2200"/>
            </a:lvl1pPr>
          </a:lstStyle>
          <a:p>
            <a:fld id="{6FC8D850-966F-45A6-8DE7-15B891E7D40D}" type="slidenum">
              <a:rPr lang="pt-BR" smtClean="0"/>
              <a:t>‹nº›</a:t>
            </a:fld>
            <a:endParaRPr lang="pt-BR"/>
          </a:p>
        </p:txBody>
      </p:sp>
    </p:spTree>
    <p:extLst>
      <p:ext uri="{BB962C8B-B14F-4D97-AF65-F5344CB8AC3E}">
        <p14:creationId xmlns:p14="http://schemas.microsoft.com/office/powerpoint/2010/main" val="35418147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baseline="0"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a:t>
            </a:fld>
            <a:endParaRPr lang="pt-BR"/>
          </a:p>
        </p:txBody>
      </p:sp>
    </p:spTree>
    <p:extLst>
      <p:ext uri="{BB962C8B-B14F-4D97-AF65-F5344CB8AC3E}">
        <p14:creationId xmlns:p14="http://schemas.microsoft.com/office/powerpoint/2010/main" val="16607474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O classificador Softmax prevê/prediz apenas uma classe de cada vez (ou seja, ele é </a:t>
            </a:r>
            <a:r>
              <a:rPr lang="pt-BR" dirty="0" err="1"/>
              <a:t>multiclasse</a:t>
            </a:r>
            <a:r>
              <a:rPr lang="pt-BR" dirty="0"/>
              <a:t>, e não </a:t>
            </a:r>
            <a:r>
              <a:rPr lang="pt-BR" dirty="0" err="1"/>
              <a:t>multi-saída</a:t>
            </a:r>
            <a:r>
              <a:rPr lang="pt-BR" dirty="0"/>
              <a:t> ou </a:t>
            </a:r>
            <a:r>
              <a:rPr lang="pt-BR" dirty="0" err="1"/>
              <a:t>multi-label</a:t>
            </a:r>
            <a:r>
              <a:rPr lang="pt-BR" dirty="0"/>
              <a:t>), portanto, ele deve ser usado apenas com classes mutuamente exclusivas, como por exemplo diferentes tipos de plantas, dígitos, categorias</a:t>
            </a:r>
            <a:r>
              <a:rPr lang="pt-BR" baseline="0" dirty="0"/>
              <a:t> de notícias, etc</a:t>
            </a:r>
            <a:r>
              <a:rPr lang="pt-BR" dirty="0"/>
              <a:t>. Portanto, você não pode usá-lo para reconhecer várias pessoas em uma foto, por exemplo.</a:t>
            </a:r>
          </a:p>
          <a:p>
            <a:endParaRPr lang="pt-BR" dirty="0"/>
          </a:p>
          <a:p>
            <a:r>
              <a:rPr lang="pt-BR" sz="1200" b="0" i="0" kern="1200" dirty="0">
                <a:solidFill>
                  <a:schemeClr val="tx1"/>
                </a:solidFill>
                <a:effectLst/>
                <a:latin typeface="+mn-lt"/>
                <a:ea typeface="+mn-ea"/>
                <a:cs typeface="+mn-cs"/>
              </a:rPr>
              <a:t>Duas</a:t>
            </a:r>
            <a:r>
              <a:rPr lang="pt-BR" sz="1200" b="0" i="0" kern="1200" baseline="0" dirty="0">
                <a:solidFill>
                  <a:schemeClr val="tx1"/>
                </a:solidFill>
                <a:effectLst/>
                <a:latin typeface="+mn-lt"/>
                <a:ea typeface="+mn-ea"/>
                <a:cs typeface="+mn-cs"/>
              </a:rPr>
              <a:t> classes </a:t>
            </a:r>
            <a:r>
              <a:rPr lang="pt-BR" sz="1200" b="0" i="0" kern="1200" dirty="0">
                <a:solidFill>
                  <a:schemeClr val="tx1"/>
                </a:solidFill>
                <a:effectLst/>
                <a:latin typeface="+mn-lt"/>
                <a:ea typeface="+mn-ea"/>
                <a:cs typeface="+mn-cs"/>
              </a:rPr>
              <a:t>são </a:t>
            </a:r>
            <a:r>
              <a:rPr lang="pt-BR" sz="1200" b="1" i="0" kern="1200" dirty="0">
                <a:solidFill>
                  <a:schemeClr val="tx1"/>
                </a:solidFill>
                <a:effectLst/>
                <a:latin typeface="+mn-lt"/>
                <a:ea typeface="+mn-ea"/>
                <a:cs typeface="+mn-cs"/>
              </a:rPr>
              <a:t>classes mutuamente exclusivas</a:t>
            </a:r>
            <a:r>
              <a:rPr lang="pt-BR" sz="1200" b="0" i="0" kern="1200" dirty="0">
                <a:solidFill>
                  <a:schemeClr val="tx1"/>
                </a:solidFill>
                <a:effectLst/>
                <a:latin typeface="+mn-lt"/>
                <a:ea typeface="+mn-ea"/>
                <a:cs typeface="+mn-cs"/>
              </a:rPr>
              <a:t> se elas não podem ocorrer ao mesmo tempo.</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Uma generalização da função logística para múltiplas entradas é a função de ativação de função softmax, usada em regressões logísticas </a:t>
            </a:r>
            <a:r>
              <a:rPr lang="pt-BR" sz="1200" b="0" i="0" kern="1200" dirty="0" err="1">
                <a:solidFill>
                  <a:schemeClr val="tx1"/>
                </a:solidFill>
                <a:effectLst/>
                <a:latin typeface="+mn-lt"/>
                <a:ea typeface="+mn-ea"/>
                <a:cs typeface="+mn-cs"/>
              </a:rPr>
              <a:t>multinomiais</a:t>
            </a:r>
            <a:r>
              <a:rPr lang="pt-BR" sz="1200" b="0" i="0" kern="1200" dirty="0">
                <a:solidFill>
                  <a:schemeClr val="tx1"/>
                </a:solidFill>
                <a:effectLst/>
                <a:latin typeface="+mn-lt"/>
                <a:ea typeface="+mn-ea"/>
                <a:cs typeface="+mn-cs"/>
              </a:rPr>
              <a:t>.</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Saída interpretada como as probabilidades de uma variável aleatória multinomial, ou seja, as probabilidades de uma variável categoricamente distribuída, dado um conjunto de atributos.</a:t>
            </a:r>
          </a:p>
          <a:p>
            <a:endParaRPr lang="pt-BR"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É uma abordagem mais robusta que as anteriores e que consiste em criar um </a:t>
            </a:r>
            <a:r>
              <a:rPr lang="pt-BR" b="1" i="1" dirty="0"/>
              <a:t>único</a:t>
            </a:r>
            <a:r>
              <a:rPr lang="pt-BR" dirty="0"/>
              <a:t> modelo em que cada saída representa a </a:t>
            </a:r>
            <a:r>
              <a:rPr lang="pt-BR" b="1" i="1" dirty="0"/>
              <a:t>probabilidade</a:t>
            </a:r>
            <a:r>
              <a:rPr lang="pt-BR" dirty="0"/>
              <a:t> de um exemplo pertencer a uma classe específica.</a:t>
            </a:r>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4</a:t>
            </a:fld>
            <a:endParaRPr lang="pt-BR"/>
          </a:p>
        </p:txBody>
      </p:sp>
    </p:spTree>
    <p:extLst>
      <p:ext uri="{BB962C8B-B14F-4D97-AF65-F5344CB8AC3E}">
        <p14:creationId xmlns:p14="http://schemas.microsoft.com/office/powerpoint/2010/main" val="16978169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sz="1200" b="1" kern="1200" dirty="0">
                <a:solidFill>
                  <a:schemeClr val="tx1"/>
                </a:solidFill>
                <a:effectLst/>
                <a:latin typeface="+mn-lt"/>
                <a:ea typeface="+mn-ea"/>
                <a:cs typeface="+mn-cs"/>
              </a:rPr>
              <a:t>Exemplos de classes não mutuamente exclusivas:</a:t>
            </a:r>
          </a:p>
          <a:p>
            <a:r>
              <a:rPr lang="pt-BR" sz="1200" b="1" i="0" kern="1200" dirty="0">
                <a:solidFill>
                  <a:schemeClr val="tx1"/>
                </a:solidFill>
                <a:effectLst/>
                <a:latin typeface="+mn-lt"/>
                <a:ea typeface="+mn-ea"/>
                <a:cs typeface="+mn-cs"/>
              </a:rPr>
              <a:t>Classificação de documentos por tópicos</a:t>
            </a:r>
            <a:r>
              <a:rPr lang="pt-BR" sz="1200" b="0" i="0" kern="1200" dirty="0">
                <a:solidFill>
                  <a:schemeClr val="tx1"/>
                </a:solidFill>
                <a:effectLst/>
                <a:latin typeface="+mn-lt"/>
                <a:ea typeface="+mn-ea"/>
                <a:cs typeface="+mn-cs"/>
              </a:rPr>
              <a:t/>
            </a:r>
            <a:br>
              <a:rPr lang="pt-BR" sz="1200" b="0" i="0" kern="1200" dirty="0">
                <a:solidFill>
                  <a:schemeClr val="tx1"/>
                </a:solidFill>
                <a:effectLst/>
                <a:latin typeface="+mn-lt"/>
                <a:ea typeface="+mn-ea"/>
                <a:cs typeface="+mn-cs"/>
              </a:rPr>
            </a:br>
            <a:r>
              <a:rPr lang="pt-BR" sz="1200" b="0" i="0" kern="1200" dirty="0">
                <a:solidFill>
                  <a:schemeClr val="tx1"/>
                </a:solidFill>
                <a:effectLst/>
                <a:latin typeface="+mn-lt"/>
                <a:ea typeface="+mn-ea"/>
                <a:cs typeface="+mn-cs"/>
              </a:rPr>
              <a:t>Um documento pode ser sobre "Política", "Economia" e "Saúde" ao mesmo tempo.</a:t>
            </a:r>
          </a:p>
          <a:p>
            <a:r>
              <a:rPr lang="pt-BR" sz="1200" b="1" i="0" kern="1200" dirty="0">
                <a:solidFill>
                  <a:schemeClr val="tx1"/>
                </a:solidFill>
                <a:effectLst/>
                <a:latin typeface="+mn-lt"/>
                <a:ea typeface="+mn-ea"/>
                <a:cs typeface="+mn-cs"/>
              </a:rPr>
              <a:t>Reconhecimento de objetos em imagens</a:t>
            </a:r>
            <a:r>
              <a:rPr lang="pt-BR" sz="1200" b="0" i="0" kern="1200" dirty="0">
                <a:solidFill>
                  <a:schemeClr val="tx1"/>
                </a:solidFill>
                <a:effectLst/>
                <a:latin typeface="+mn-lt"/>
                <a:ea typeface="+mn-ea"/>
                <a:cs typeface="+mn-cs"/>
              </a:rPr>
              <a:t/>
            </a:r>
            <a:br>
              <a:rPr lang="pt-BR" sz="1200" b="0" i="0" kern="1200" dirty="0">
                <a:solidFill>
                  <a:schemeClr val="tx1"/>
                </a:solidFill>
                <a:effectLst/>
                <a:latin typeface="+mn-lt"/>
                <a:ea typeface="+mn-ea"/>
                <a:cs typeface="+mn-cs"/>
              </a:rPr>
            </a:br>
            <a:r>
              <a:rPr lang="pt-BR" sz="1200" b="0" i="0" kern="1200" dirty="0">
                <a:solidFill>
                  <a:schemeClr val="tx1"/>
                </a:solidFill>
                <a:effectLst/>
                <a:latin typeface="+mn-lt"/>
                <a:ea typeface="+mn-ea"/>
                <a:cs typeface="+mn-cs"/>
              </a:rPr>
              <a:t>Uma imagem pode conter "gato", "cão" e "árvore" simultaneamente.</a:t>
            </a:r>
          </a:p>
          <a:p>
            <a:r>
              <a:rPr lang="pt-BR" sz="1200" b="1" i="0" kern="1200" dirty="0">
                <a:solidFill>
                  <a:schemeClr val="tx1"/>
                </a:solidFill>
                <a:effectLst/>
                <a:latin typeface="+mn-lt"/>
                <a:ea typeface="+mn-ea"/>
                <a:cs typeface="+mn-cs"/>
              </a:rPr>
              <a:t>Sistema de recomendação de filmes por gêneros</a:t>
            </a:r>
            <a:r>
              <a:rPr lang="pt-BR" sz="1200" b="0" i="0" kern="1200" dirty="0">
                <a:solidFill>
                  <a:schemeClr val="tx1"/>
                </a:solidFill>
                <a:effectLst/>
                <a:latin typeface="+mn-lt"/>
                <a:ea typeface="+mn-ea"/>
                <a:cs typeface="+mn-cs"/>
              </a:rPr>
              <a:t/>
            </a:r>
            <a:br>
              <a:rPr lang="pt-BR" sz="1200" b="0" i="0" kern="1200" dirty="0">
                <a:solidFill>
                  <a:schemeClr val="tx1"/>
                </a:solidFill>
                <a:effectLst/>
                <a:latin typeface="+mn-lt"/>
                <a:ea typeface="+mn-ea"/>
                <a:cs typeface="+mn-cs"/>
              </a:rPr>
            </a:br>
            <a:r>
              <a:rPr lang="pt-BR" sz="1200" b="0" i="0" kern="1200" dirty="0">
                <a:solidFill>
                  <a:schemeClr val="tx1"/>
                </a:solidFill>
                <a:effectLst/>
                <a:latin typeface="+mn-lt"/>
                <a:ea typeface="+mn-ea"/>
                <a:cs typeface="+mn-cs"/>
              </a:rPr>
              <a:t>Um filme pode ser classificado como "Comédia", "Romance" e "Drama".</a:t>
            </a:r>
          </a:p>
          <a:p>
            <a:r>
              <a:rPr lang="pt-BR" sz="1200" b="1" i="0" kern="1200" dirty="0">
                <a:solidFill>
                  <a:schemeClr val="tx1"/>
                </a:solidFill>
                <a:effectLst/>
                <a:latin typeface="+mn-lt"/>
                <a:ea typeface="+mn-ea"/>
                <a:cs typeface="+mn-cs"/>
              </a:rPr>
              <a:t>Diagnóstico médico</a:t>
            </a:r>
            <a:r>
              <a:rPr lang="pt-BR" sz="1200" b="0" i="0" kern="1200" dirty="0">
                <a:solidFill>
                  <a:schemeClr val="tx1"/>
                </a:solidFill>
                <a:effectLst/>
                <a:latin typeface="+mn-lt"/>
                <a:ea typeface="+mn-ea"/>
                <a:cs typeface="+mn-cs"/>
              </a:rPr>
              <a:t/>
            </a:r>
            <a:br>
              <a:rPr lang="pt-BR" sz="1200" b="0" i="0" kern="1200" dirty="0">
                <a:solidFill>
                  <a:schemeClr val="tx1"/>
                </a:solidFill>
                <a:effectLst/>
                <a:latin typeface="+mn-lt"/>
                <a:ea typeface="+mn-ea"/>
                <a:cs typeface="+mn-cs"/>
              </a:rPr>
            </a:br>
            <a:r>
              <a:rPr lang="pt-BR" sz="1200" b="0" i="0" kern="1200" dirty="0">
                <a:solidFill>
                  <a:schemeClr val="tx1"/>
                </a:solidFill>
                <a:effectLst/>
                <a:latin typeface="+mn-lt"/>
                <a:ea typeface="+mn-ea"/>
                <a:cs typeface="+mn-cs"/>
              </a:rPr>
              <a:t>Um paciente pode ter múltiplas doenças: "diabetes", "hipertensão" e "asma".</a:t>
            </a:r>
          </a:p>
          <a:p>
            <a:r>
              <a:rPr lang="pt-BR" sz="1200" b="1" i="0" kern="1200" dirty="0">
                <a:solidFill>
                  <a:schemeClr val="tx1"/>
                </a:solidFill>
                <a:effectLst/>
                <a:latin typeface="+mn-lt"/>
                <a:ea typeface="+mn-ea"/>
                <a:cs typeface="+mn-cs"/>
              </a:rPr>
              <a:t>Análise de sentimentos em texto</a:t>
            </a:r>
            <a:r>
              <a:rPr lang="pt-BR" sz="1200" b="0" i="0" kern="1200" dirty="0">
                <a:solidFill>
                  <a:schemeClr val="tx1"/>
                </a:solidFill>
                <a:effectLst/>
                <a:latin typeface="+mn-lt"/>
                <a:ea typeface="+mn-ea"/>
                <a:cs typeface="+mn-cs"/>
              </a:rPr>
              <a:t/>
            </a:r>
            <a:br>
              <a:rPr lang="pt-BR" sz="1200" b="0" i="0" kern="1200" dirty="0">
                <a:solidFill>
                  <a:schemeClr val="tx1"/>
                </a:solidFill>
                <a:effectLst/>
                <a:latin typeface="+mn-lt"/>
                <a:ea typeface="+mn-ea"/>
                <a:cs typeface="+mn-cs"/>
              </a:rPr>
            </a:br>
            <a:r>
              <a:rPr lang="pt-BR" sz="1200" b="0" i="0" kern="1200" dirty="0">
                <a:solidFill>
                  <a:schemeClr val="tx1"/>
                </a:solidFill>
                <a:effectLst/>
                <a:latin typeface="+mn-lt"/>
                <a:ea typeface="+mn-ea"/>
                <a:cs typeface="+mn-cs"/>
              </a:rPr>
              <a:t>Um texto pode expressar "alegria", "surpresa" e "raiva" ao mesmo tempo.</a:t>
            </a:r>
          </a:p>
          <a:p>
            <a:r>
              <a:rPr lang="pt-BR" sz="1200" b="1" i="0" kern="1200" dirty="0" err="1">
                <a:solidFill>
                  <a:schemeClr val="tx1"/>
                </a:solidFill>
                <a:effectLst/>
                <a:latin typeface="+mn-lt"/>
                <a:ea typeface="+mn-ea"/>
                <a:cs typeface="+mn-cs"/>
              </a:rPr>
              <a:t>Tags</a:t>
            </a:r>
            <a:r>
              <a:rPr lang="pt-BR" sz="1200" b="1" i="0" kern="1200" dirty="0">
                <a:solidFill>
                  <a:schemeClr val="tx1"/>
                </a:solidFill>
                <a:effectLst/>
                <a:latin typeface="+mn-lt"/>
                <a:ea typeface="+mn-ea"/>
                <a:cs typeface="+mn-cs"/>
              </a:rPr>
              <a:t> em produtos de e-commerce</a:t>
            </a:r>
            <a:r>
              <a:rPr lang="pt-BR" sz="1200" b="0" i="0" kern="1200" dirty="0">
                <a:solidFill>
                  <a:schemeClr val="tx1"/>
                </a:solidFill>
                <a:effectLst/>
                <a:latin typeface="+mn-lt"/>
                <a:ea typeface="+mn-ea"/>
                <a:cs typeface="+mn-cs"/>
              </a:rPr>
              <a:t/>
            </a:r>
            <a:br>
              <a:rPr lang="pt-BR" sz="1200" b="0" i="0" kern="1200" dirty="0">
                <a:solidFill>
                  <a:schemeClr val="tx1"/>
                </a:solidFill>
                <a:effectLst/>
                <a:latin typeface="+mn-lt"/>
                <a:ea typeface="+mn-ea"/>
                <a:cs typeface="+mn-cs"/>
              </a:rPr>
            </a:br>
            <a:r>
              <a:rPr lang="pt-BR" sz="1200" b="0" i="0" kern="1200" dirty="0">
                <a:solidFill>
                  <a:schemeClr val="tx1"/>
                </a:solidFill>
                <a:effectLst/>
                <a:latin typeface="+mn-lt"/>
                <a:ea typeface="+mn-ea"/>
                <a:cs typeface="+mn-cs"/>
              </a:rPr>
              <a:t>Um produto pode ter </a:t>
            </a:r>
            <a:r>
              <a:rPr lang="pt-BR" sz="1200" b="0" i="0" kern="1200" dirty="0" err="1">
                <a:solidFill>
                  <a:schemeClr val="tx1"/>
                </a:solidFill>
                <a:effectLst/>
                <a:latin typeface="+mn-lt"/>
                <a:ea typeface="+mn-ea"/>
                <a:cs typeface="+mn-cs"/>
              </a:rPr>
              <a:t>tags</a:t>
            </a:r>
            <a:r>
              <a:rPr lang="pt-BR" sz="1200" b="0" i="0" kern="1200" dirty="0">
                <a:solidFill>
                  <a:schemeClr val="tx1"/>
                </a:solidFill>
                <a:effectLst/>
                <a:latin typeface="+mn-lt"/>
                <a:ea typeface="+mn-ea"/>
                <a:cs typeface="+mn-cs"/>
              </a:rPr>
              <a:t> como "barato", "ecológico", "promoção" e "novidade".</a:t>
            </a:r>
          </a:p>
          <a:p>
            <a:r>
              <a:rPr lang="pt-BR" sz="1200" b="1" i="0" kern="1200" dirty="0">
                <a:solidFill>
                  <a:schemeClr val="tx1"/>
                </a:solidFill>
                <a:effectLst/>
                <a:latin typeface="+mn-lt"/>
                <a:ea typeface="+mn-ea"/>
                <a:cs typeface="+mn-cs"/>
              </a:rPr>
              <a:t>Classificação de músicas por gênero</a:t>
            </a:r>
            <a:r>
              <a:rPr lang="pt-BR" sz="1200" b="0" i="0" kern="1200" dirty="0">
                <a:solidFill>
                  <a:schemeClr val="tx1"/>
                </a:solidFill>
                <a:effectLst/>
                <a:latin typeface="+mn-lt"/>
                <a:ea typeface="+mn-ea"/>
                <a:cs typeface="+mn-cs"/>
              </a:rPr>
              <a:t/>
            </a:r>
            <a:br>
              <a:rPr lang="pt-BR" sz="1200" b="0" i="0" kern="1200" dirty="0">
                <a:solidFill>
                  <a:schemeClr val="tx1"/>
                </a:solidFill>
                <a:effectLst/>
                <a:latin typeface="+mn-lt"/>
                <a:ea typeface="+mn-ea"/>
                <a:cs typeface="+mn-cs"/>
              </a:rPr>
            </a:br>
            <a:r>
              <a:rPr lang="pt-BR" sz="1200" b="0" i="0" kern="1200" dirty="0">
                <a:solidFill>
                  <a:schemeClr val="tx1"/>
                </a:solidFill>
                <a:effectLst/>
                <a:latin typeface="+mn-lt"/>
                <a:ea typeface="+mn-ea"/>
                <a:cs typeface="+mn-cs"/>
              </a:rPr>
              <a:t>Uma música pode ser "rock", "eletrônica" e "experimental" simultaneamente.</a:t>
            </a:r>
          </a:p>
          <a:p>
            <a:r>
              <a:rPr lang="pt-BR" dirty="0"/>
              <a:t/>
            </a:r>
            <a:br>
              <a:rPr lang="pt-BR" dirty="0"/>
            </a:br>
            <a:r>
              <a:rPr lang="pt-BR" dirty="0"/>
              <a:t/>
            </a:r>
            <a:br>
              <a:rPr lang="pt-BR" dirty="0"/>
            </a:br>
            <a:r>
              <a:rPr lang="pt-BR" dirty="0"/>
              <a:t>O classificador Softmax prevê/prediz apenas uma classe de cada vez (ou seja, ele é </a:t>
            </a:r>
            <a:r>
              <a:rPr lang="pt-BR" dirty="0" err="1"/>
              <a:t>multiclasse</a:t>
            </a:r>
            <a:r>
              <a:rPr lang="pt-BR" dirty="0"/>
              <a:t>, e não </a:t>
            </a:r>
            <a:r>
              <a:rPr lang="pt-BR" dirty="0" err="1"/>
              <a:t>multi-saída</a:t>
            </a:r>
            <a:r>
              <a:rPr lang="pt-BR" dirty="0"/>
              <a:t> ou </a:t>
            </a:r>
            <a:r>
              <a:rPr lang="pt-BR" dirty="0" err="1"/>
              <a:t>multi-label</a:t>
            </a:r>
            <a:r>
              <a:rPr lang="pt-BR" dirty="0"/>
              <a:t>), portanto, ele deve ser usado apenas com classes mutuamente exclusivas, como por exemplo diferentes tipos de plantas, dígitos, categorias</a:t>
            </a:r>
            <a:r>
              <a:rPr lang="pt-BR" baseline="0" dirty="0"/>
              <a:t> de notícias, etc</a:t>
            </a:r>
            <a:r>
              <a:rPr lang="pt-BR" dirty="0"/>
              <a:t>. Portanto, você não pode usá-lo para reconhecer várias pessoas em uma foto, por exemplo.</a:t>
            </a:r>
          </a:p>
          <a:p>
            <a:endParaRPr lang="pt-BR" dirty="0"/>
          </a:p>
          <a:p>
            <a:r>
              <a:rPr lang="pt-BR" sz="1200" b="0" i="0" kern="1200" dirty="0">
                <a:solidFill>
                  <a:schemeClr val="tx1"/>
                </a:solidFill>
                <a:effectLst/>
                <a:latin typeface="+mn-lt"/>
                <a:ea typeface="+mn-ea"/>
                <a:cs typeface="+mn-cs"/>
              </a:rPr>
              <a:t>Duas</a:t>
            </a:r>
            <a:r>
              <a:rPr lang="pt-BR" sz="1200" b="0" i="0" kern="1200" baseline="0" dirty="0">
                <a:solidFill>
                  <a:schemeClr val="tx1"/>
                </a:solidFill>
                <a:effectLst/>
                <a:latin typeface="+mn-lt"/>
                <a:ea typeface="+mn-ea"/>
                <a:cs typeface="+mn-cs"/>
              </a:rPr>
              <a:t> classes </a:t>
            </a:r>
            <a:r>
              <a:rPr lang="pt-BR" sz="1200" b="0" i="0" kern="1200" dirty="0">
                <a:solidFill>
                  <a:schemeClr val="tx1"/>
                </a:solidFill>
                <a:effectLst/>
                <a:latin typeface="+mn-lt"/>
                <a:ea typeface="+mn-ea"/>
                <a:cs typeface="+mn-cs"/>
              </a:rPr>
              <a:t>são </a:t>
            </a:r>
            <a:r>
              <a:rPr lang="pt-BR" sz="1200" b="1" i="0" kern="1200" dirty="0">
                <a:solidFill>
                  <a:schemeClr val="tx1"/>
                </a:solidFill>
                <a:effectLst/>
                <a:latin typeface="+mn-lt"/>
                <a:ea typeface="+mn-ea"/>
                <a:cs typeface="+mn-cs"/>
              </a:rPr>
              <a:t>classes mutuamente exclusivas</a:t>
            </a:r>
            <a:r>
              <a:rPr lang="pt-BR" sz="1200" b="0" i="0" kern="1200" dirty="0">
                <a:solidFill>
                  <a:schemeClr val="tx1"/>
                </a:solidFill>
                <a:effectLst/>
                <a:latin typeface="+mn-lt"/>
                <a:ea typeface="+mn-ea"/>
                <a:cs typeface="+mn-cs"/>
              </a:rPr>
              <a:t> se elas não podem ocorrer ao mesmo tempo.</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Uma generalização da função logística para múltiplas entradas é a função de ativação de função softmax, usada em regressões logísticas </a:t>
            </a:r>
            <a:r>
              <a:rPr lang="pt-BR" sz="1200" b="0" i="0" kern="1200" dirty="0" err="1">
                <a:solidFill>
                  <a:schemeClr val="tx1"/>
                </a:solidFill>
                <a:effectLst/>
                <a:latin typeface="+mn-lt"/>
                <a:ea typeface="+mn-ea"/>
                <a:cs typeface="+mn-cs"/>
              </a:rPr>
              <a:t>multinomiais</a:t>
            </a:r>
            <a:r>
              <a:rPr lang="pt-BR" sz="1200" b="0" i="0" kern="1200" dirty="0">
                <a:solidFill>
                  <a:schemeClr val="tx1"/>
                </a:solidFill>
                <a:effectLst/>
                <a:latin typeface="+mn-lt"/>
                <a:ea typeface="+mn-ea"/>
                <a:cs typeface="+mn-cs"/>
              </a:rPr>
              <a:t>.</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Saída interpretada como as probabilidades de uma variável aleatória multinomial, ou seja, as probabilidades de uma variável categoricamente distribuída, dado um conjunto de atributos.</a:t>
            </a:r>
          </a:p>
          <a:p>
            <a:endParaRPr lang="pt-BR"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É uma abordagem mais robusta que as anteriores e que consiste em criar um </a:t>
            </a:r>
            <a:r>
              <a:rPr lang="pt-BR" b="1" i="1" dirty="0"/>
              <a:t>único</a:t>
            </a:r>
            <a:r>
              <a:rPr lang="pt-BR" dirty="0"/>
              <a:t> modelo em que cada saída representa a </a:t>
            </a:r>
            <a:r>
              <a:rPr lang="pt-BR" b="1" i="1" dirty="0"/>
              <a:t>probabilidade</a:t>
            </a:r>
            <a:r>
              <a:rPr lang="pt-BR" dirty="0"/>
              <a:t> de um exemplo pertencer a uma classe específica.</a:t>
            </a:r>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5</a:t>
            </a:fld>
            <a:endParaRPr lang="pt-BR"/>
          </a:p>
        </p:txBody>
      </p:sp>
    </p:spTree>
    <p:extLst>
      <p:ext uri="{BB962C8B-B14F-4D97-AF65-F5344CB8AC3E}">
        <p14:creationId xmlns:p14="http://schemas.microsoft.com/office/powerpoint/2010/main" val="35959977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O classificador Softmax prevê/prediz apenas uma classe de cada vez (ou seja, ele é </a:t>
            </a:r>
            <a:r>
              <a:rPr lang="pt-BR" dirty="0" err="1"/>
              <a:t>multiclasse</a:t>
            </a:r>
            <a:r>
              <a:rPr lang="pt-BR" dirty="0"/>
              <a:t>, e não </a:t>
            </a:r>
            <a:r>
              <a:rPr lang="pt-BR" dirty="0" err="1"/>
              <a:t>multi-saída</a:t>
            </a:r>
            <a:r>
              <a:rPr lang="pt-BR" dirty="0"/>
              <a:t>), portanto, ele deve ser usado apenas com classes mutuamente exclusivas, como por exemplo diferentes tipos de plantas, dígitos, categorias</a:t>
            </a:r>
            <a:r>
              <a:rPr lang="pt-BR" baseline="0" dirty="0"/>
              <a:t> de notícias, etc</a:t>
            </a:r>
            <a:r>
              <a:rPr lang="pt-BR" dirty="0"/>
              <a:t>. Portanto, você não pode usá-lo para reconhecer várias pessoas em uma foto, por exemplo.</a:t>
            </a:r>
          </a:p>
          <a:p>
            <a:endParaRPr lang="pt-BR" dirty="0"/>
          </a:p>
          <a:p>
            <a:r>
              <a:rPr lang="pt-BR" sz="1200" b="0" i="0" kern="1200" dirty="0">
                <a:solidFill>
                  <a:schemeClr val="tx1"/>
                </a:solidFill>
                <a:effectLst/>
                <a:latin typeface="+mn-lt"/>
                <a:ea typeface="+mn-ea"/>
                <a:cs typeface="+mn-cs"/>
              </a:rPr>
              <a:t>Duas</a:t>
            </a:r>
            <a:r>
              <a:rPr lang="pt-BR" sz="1200" b="0" i="0" kern="1200" baseline="0" dirty="0">
                <a:solidFill>
                  <a:schemeClr val="tx1"/>
                </a:solidFill>
                <a:effectLst/>
                <a:latin typeface="+mn-lt"/>
                <a:ea typeface="+mn-ea"/>
                <a:cs typeface="+mn-cs"/>
              </a:rPr>
              <a:t> classes </a:t>
            </a:r>
            <a:r>
              <a:rPr lang="pt-BR" sz="1200" b="0" i="0" kern="1200" dirty="0">
                <a:solidFill>
                  <a:schemeClr val="tx1"/>
                </a:solidFill>
                <a:effectLst/>
                <a:latin typeface="+mn-lt"/>
                <a:ea typeface="+mn-ea"/>
                <a:cs typeface="+mn-cs"/>
              </a:rPr>
              <a:t>são </a:t>
            </a:r>
            <a:r>
              <a:rPr lang="pt-BR" sz="1200" b="1" i="0" kern="1200" dirty="0">
                <a:solidFill>
                  <a:schemeClr val="tx1"/>
                </a:solidFill>
                <a:effectLst/>
                <a:latin typeface="+mn-lt"/>
                <a:ea typeface="+mn-ea"/>
                <a:cs typeface="+mn-cs"/>
              </a:rPr>
              <a:t>classes mutuamente exclusivas</a:t>
            </a:r>
            <a:r>
              <a:rPr lang="pt-BR" sz="1200" b="0" i="0" kern="1200" dirty="0">
                <a:solidFill>
                  <a:schemeClr val="tx1"/>
                </a:solidFill>
                <a:effectLst/>
                <a:latin typeface="+mn-lt"/>
                <a:ea typeface="+mn-ea"/>
                <a:cs typeface="+mn-cs"/>
              </a:rPr>
              <a:t> se elas não podem ocorrer ao mesmo tempo.</a:t>
            </a:r>
            <a:endParaRPr lang="pt-BR" dirty="0"/>
          </a:p>
          <a:p>
            <a:endParaRPr lang="en-US" dirty="0"/>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6</a:t>
            </a:fld>
            <a:endParaRPr lang="pt-BR"/>
          </a:p>
        </p:txBody>
      </p:sp>
    </p:spTree>
    <p:extLst>
      <p:ext uri="{BB962C8B-B14F-4D97-AF65-F5344CB8AC3E}">
        <p14:creationId xmlns:p14="http://schemas.microsoft.com/office/powerpoint/2010/main" val="14774573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O somatório de termos exponenciais no denominador </a:t>
                </a:r>
                <a:r>
                  <a:rPr lang="pt-BR" b="1" dirty="0">
                    <a:solidFill>
                      <a:srgbClr val="00B050"/>
                    </a:solidFill>
                  </a:rPr>
                  <a:t>normaliza</a:t>
                </a:r>
                <a:r>
                  <a:rPr lang="pt-BR" dirty="0"/>
                  <a:t> o valor da </a:t>
                </a:r>
                <a:r>
                  <a:rPr lang="pt-BR" i="1" dirty="0"/>
                  <a:t>q</a:t>
                </a:r>
                <a:r>
                  <a:rPr lang="pt-BR" dirty="0"/>
                  <a:t>-ésima saída de tal forma que o somatório das </a:t>
                </a:r>
                <a14:m>
                  <m:oMath xmlns:m="http://schemas.openxmlformats.org/officeDocument/2006/math">
                    <m:r>
                      <a:rPr lang="pt-BR" i="1">
                        <a:latin typeface="Cambria Math" panose="02040503050406030204" pitchFamily="18" charset="0"/>
                      </a:rPr>
                      <m:t>𝑄</m:t>
                    </m:r>
                  </m:oMath>
                </a14:m>
                <a:r>
                  <a:rPr lang="pt-BR" dirty="0"/>
                  <a:t> saídas seja igual a 1.</a:t>
                </a:r>
              </a:p>
              <a:p>
                <a:pPr algn="l"/>
                <a:endParaRPr lang="pt-BR" b="0" i="0" dirty="0">
                  <a:solidFill>
                    <a:srgbClr val="374151"/>
                  </a:solidFill>
                  <a:effectLst/>
                  <a:latin typeface="Söhne"/>
                </a:endParaRPr>
              </a:p>
            </p:txBody>
          </p:sp>
        </mc:Choice>
        <mc:Fallback xmlns="">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smtClean="0"/>
                  <a:t>O </a:t>
                </a:r>
                <a:r>
                  <a:rPr lang="pt-BR" dirty="0"/>
                  <a:t>somatório de termos exponenciais no denominador </a:t>
                </a:r>
                <a:r>
                  <a:rPr lang="pt-BR" b="1" dirty="0">
                    <a:solidFill>
                      <a:srgbClr val="00B050"/>
                    </a:solidFill>
                  </a:rPr>
                  <a:t>normaliza</a:t>
                </a:r>
                <a:r>
                  <a:rPr lang="pt-BR" dirty="0"/>
                  <a:t> o valor da </a:t>
                </a:r>
                <a:r>
                  <a:rPr lang="pt-BR" i="1" dirty="0"/>
                  <a:t>q</a:t>
                </a:r>
                <a:r>
                  <a:rPr lang="pt-BR" dirty="0"/>
                  <a:t>-ésima saída de tal forma que o somatório das </a:t>
                </a:r>
                <a:r>
                  <a:rPr lang="pt-BR" i="0">
                    <a:latin typeface="Cambria Math" panose="02040503050406030204" pitchFamily="18" charset="0"/>
                  </a:rPr>
                  <a:t>𝑄</a:t>
                </a:r>
                <a:r>
                  <a:rPr lang="pt-BR" dirty="0"/>
                  <a:t> saídas seja igual a </a:t>
                </a:r>
                <a:r>
                  <a:rPr lang="pt-BR" dirty="0" smtClean="0"/>
                  <a:t>1.</a:t>
                </a:r>
                <a:endParaRPr lang="pt-BR" dirty="0"/>
              </a:p>
              <a:p>
                <a:pPr algn="l"/>
                <a:endParaRPr lang="pt-BR" b="0" i="0" dirty="0">
                  <a:solidFill>
                    <a:srgbClr val="374151"/>
                  </a:solidFill>
                  <a:effectLst/>
                  <a:latin typeface="Söhne"/>
                </a:endParaRPr>
              </a:p>
            </p:txBody>
          </p:sp>
        </mc:Fallback>
      </mc:AlternateContent>
      <p:sp>
        <p:nvSpPr>
          <p:cNvPr id="4" name="Espaço Reservado para Número de Slide 3"/>
          <p:cNvSpPr>
            <a:spLocks noGrp="1"/>
          </p:cNvSpPr>
          <p:nvPr>
            <p:ph type="sldNum" sz="quarter" idx="5"/>
          </p:nvPr>
        </p:nvSpPr>
        <p:spPr/>
        <p:txBody>
          <a:bodyPr/>
          <a:lstStyle/>
          <a:p>
            <a:fld id="{6FC8D850-966F-45A6-8DE7-15B891E7D40D}" type="slidenum">
              <a:rPr lang="pt-BR" smtClean="0"/>
              <a:t>7</a:t>
            </a:fld>
            <a:endParaRPr lang="pt-BR"/>
          </a:p>
        </p:txBody>
      </p:sp>
    </p:spTree>
    <p:extLst>
      <p:ext uri="{BB962C8B-B14F-4D97-AF65-F5344CB8AC3E}">
        <p14:creationId xmlns:p14="http://schemas.microsoft.com/office/powerpoint/2010/main" val="33345101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algn="l"/>
            <a:r>
              <a:rPr lang="pt-BR" b="0" i="0" dirty="0">
                <a:solidFill>
                  <a:srgbClr val="374151"/>
                </a:solidFill>
                <a:effectLst/>
                <a:latin typeface="Söhne"/>
              </a:rPr>
              <a:t>A classificação </a:t>
            </a:r>
            <a:r>
              <a:rPr lang="pt-BR" b="0" i="0" dirty="0" err="1">
                <a:solidFill>
                  <a:srgbClr val="374151"/>
                </a:solidFill>
                <a:effectLst/>
                <a:latin typeface="Söhne"/>
              </a:rPr>
              <a:t>multilabel</a:t>
            </a:r>
            <a:r>
              <a:rPr lang="pt-BR" b="0" i="0" dirty="0">
                <a:solidFill>
                  <a:srgbClr val="374151"/>
                </a:solidFill>
                <a:effectLst/>
                <a:latin typeface="Söhne"/>
              </a:rPr>
              <a:t> é uma tarefa de aprendizado de máquina em que um modelo é treinado para atribuir múltiplas etiquetas a uma única instância de dados. Em outras palavras, cada exemplo de entrada pode ser associado a mais de uma classe ou categoria ao mesmo tempo. Isso difere da classificação </a:t>
            </a:r>
            <a:r>
              <a:rPr lang="pt-BR" b="0" i="0" dirty="0" err="1">
                <a:solidFill>
                  <a:srgbClr val="374151"/>
                </a:solidFill>
                <a:effectLst/>
                <a:latin typeface="Söhne"/>
              </a:rPr>
              <a:t>multiclasse</a:t>
            </a:r>
            <a:r>
              <a:rPr lang="pt-BR" b="0" i="0" dirty="0">
                <a:solidFill>
                  <a:srgbClr val="374151"/>
                </a:solidFill>
                <a:effectLst/>
                <a:latin typeface="Söhne"/>
              </a:rPr>
              <a:t>, onde cada exemplo é atribuído a uma única classe exclusiva.</a:t>
            </a:r>
          </a:p>
          <a:p>
            <a:pPr algn="l"/>
            <a:endParaRPr lang="pt-BR" b="0" i="0" dirty="0">
              <a:solidFill>
                <a:srgbClr val="374151"/>
              </a:solidFill>
              <a:effectLst/>
              <a:latin typeface="Söhne"/>
            </a:endParaRPr>
          </a:p>
          <a:p>
            <a:pPr algn="l"/>
            <a:r>
              <a:rPr lang="pt-BR" b="0" i="0" dirty="0">
                <a:solidFill>
                  <a:srgbClr val="374151"/>
                </a:solidFill>
                <a:effectLst/>
                <a:latin typeface="Söhne"/>
              </a:rPr>
              <a:t>A classificação </a:t>
            </a:r>
            <a:r>
              <a:rPr lang="pt-BR" b="0" i="0" dirty="0" err="1">
                <a:solidFill>
                  <a:srgbClr val="374151"/>
                </a:solidFill>
                <a:effectLst/>
                <a:latin typeface="Söhne"/>
              </a:rPr>
              <a:t>multilabel</a:t>
            </a:r>
            <a:r>
              <a:rPr lang="pt-BR" b="0" i="0" dirty="0">
                <a:solidFill>
                  <a:srgbClr val="374151"/>
                </a:solidFill>
                <a:effectLst/>
                <a:latin typeface="Söhne"/>
              </a:rPr>
              <a:t> é frequentemente usada em situações em que os dados podem pertencer a várias categorias simultaneamente. Por exemplo, na análise de texto, um modelo pode ser treinado para categorizar um artigo em tópicos múltiplos, como "tecnologia", "ciência" e "saúde", tudo ao mesmo tempo.</a:t>
            </a:r>
          </a:p>
          <a:p>
            <a:pPr algn="l"/>
            <a:endParaRPr lang="pt-BR" b="0" i="0" dirty="0">
              <a:solidFill>
                <a:srgbClr val="374151"/>
              </a:solidFill>
              <a:effectLst/>
              <a:latin typeface="Söhne"/>
            </a:endParaRPr>
          </a:p>
          <a:p>
            <a:pPr algn="l"/>
            <a:r>
              <a:rPr lang="pt-BR" b="0" i="0" dirty="0">
                <a:solidFill>
                  <a:srgbClr val="374151"/>
                </a:solidFill>
                <a:effectLst/>
                <a:latin typeface="Söhne"/>
              </a:rPr>
              <a:t>Para lidar com a classificação </a:t>
            </a:r>
            <a:r>
              <a:rPr lang="pt-BR" b="0" i="0" dirty="0" err="1">
                <a:solidFill>
                  <a:srgbClr val="374151"/>
                </a:solidFill>
                <a:effectLst/>
                <a:latin typeface="Söhne"/>
              </a:rPr>
              <a:t>multilabel</a:t>
            </a:r>
            <a:r>
              <a:rPr lang="pt-BR" b="0" i="0" dirty="0">
                <a:solidFill>
                  <a:srgbClr val="374151"/>
                </a:solidFill>
                <a:effectLst/>
                <a:latin typeface="Söhne"/>
              </a:rPr>
              <a:t>, as funções de ativação na camada de saída da rede neural devem ser escolhidas de acordo com o problema. A função de ativação mais comum nesse contexto é a </a:t>
            </a:r>
            <a:r>
              <a:rPr lang="pt-BR" b="0" i="0" dirty="0" err="1">
                <a:solidFill>
                  <a:srgbClr val="374151"/>
                </a:solidFill>
                <a:effectLst/>
                <a:latin typeface="Söhne"/>
              </a:rPr>
              <a:t>sigmoid</a:t>
            </a:r>
            <a:r>
              <a:rPr lang="pt-BR" b="0" i="0" dirty="0">
                <a:solidFill>
                  <a:srgbClr val="374151"/>
                </a:solidFill>
                <a:effectLst/>
                <a:latin typeface="Söhne"/>
              </a:rPr>
              <a:t>, que produz saídas entre 0 e 1, representando as probabilidades de pertencer a cada classe individual.</a:t>
            </a:r>
          </a:p>
          <a:p>
            <a:pPr algn="l"/>
            <a:endParaRPr lang="pt-BR" b="0" i="0" dirty="0">
              <a:solidFill>
                <a:srgbClr val="374151"/>
              </a:solidFill>
              <a:effectLst/>
              <a:latin typeface="Söhne"/>
            </a:endParaRPr>
          </a:p>
          <a:p>
            <a:pPr algn="l"/>
            <a:r>
              <a:rPr lang="pt-BR" b="0" i="0" dirty="0">
                <a:solidFill>
                  <a:srgbClr val="374151"/>
                </a:solidFill>
                <a:effectLst/>
                <a:latin typeface="Söhne"/>
              </a:rPr>
              <a:t>No treinamento, uma abordagem comum é usar a função de perda de entropia cruzada binária (</a:t>
            </a:r>
            <a:r>
              <a:rPr lang="pt-BR" b="0" i="0" dirty="0" err="1">
                <a:solidFill>
                  <a:srgbClr val="374151"/>
                </a:solidFill>
                <a:effectLst/>
                <a:latin typeface="Söhne"/>
              </a:rPr>
              <a:t>Binary</a:t>
            </a:r>
            <a:r>
              <a:rPr lang="pt-BR" b="0" i="0" dirty="0">
                <a:solidFill>
                  <a:srgbClr val="374151"/>
                </a:solidFill>
                <a:effectLst/>
                <a:latin typeface="Söhne"/>
              </a:rPr>
              <a:t> Cross-</a:t>
            </a:r>
            <a:r>
              <a:rPr lang="pt-BR" b="0" i="0" dirty="0" err="1">
                <a:solidFill>
                  <a:srgbClr val="374151"/>
                </a:solidFill>
                <a:effectLst/>
                <a:latin typeface="Söhne"/>
              </a:rPr>
              <a:t>Entropy</a:t>
            </a:r>
            <a:r>
              <a:rPr lang="pt-BR" b="0" i="0" dirty="0">
                <a:solidFill>
                  <a:srgbClr val="374151"/>
                </a:solidFill>
                <a:effectLst/>
                <a:latin typeface="Söhne"/>
              </a:rPr>
              <a:t>) para cada etiqueta individual. Cada etiqueta é tratada como uma tarefa de classificação binária, onde a perda é calculada entre a saída prevista e o valor real (0 ou 1) para cada etiqueta.</a:t>
            </a:r>
          </a:p>
          <a:p>
            <a:pPr algn="l"/>
            <a:endParaRPr lang="pt-BR" b="0" i="0" dirty="0">
              <a:solidFill>
                <a:srgbClr val="374151"/>
              </a:solidFill>
              <a:effectLst/>
              <a:latin typeface="Söhne"/>
            </a:endParaRPr>
          </a:p>
          <a:p>
            <a:pPr algn="l"/>
            <a:r>
              <a:rPr lang="pt-BR" b="0" i="0" dirty="0">
                <a:solidFill>
                  <a:srgbClr val="374151"/>
                </a:solidFill>
                <a:effectLst/>
                <a:latin typeface="Söhne"/>
              </a:rPr>
              <a:t>A classificação </a:t>
            </a:r>
            <a:r>
              <a:rPr lang="pt-BR" b="0" i="0" dirty="0" err="1">
                <a:solidFill>
                  <a:srgbClr val="374151"/>
                </a:solidFill>
                <a:effectLst/>
                <a:latin typeface="Söhne"/>
              </a:rPr>
              <a:t>multilabel</a:t>
            </a:r>
            <a:r>
              <a:rPr lang="pt-BR" b="0" i="0" dirty="0">
                <a:solidFill>
                  <a:srgbClr val="374151"/>
                </a:solidFill>
                <a:effectLst/>
                <a:latin typeface="Söhne"/>
              </a:rPr>
              <a:t> é aplicada em várias áreas, como análise de texto, processamento de linguagem natural, bioinformática e sistemas de recomendação, onde os dados podem ser associados a múltiplas categorias simultaneamente.</a:t>
            </a:r>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9</a:t>
            </a:fld>
            <a:endParaRPr lang="pt-BR"/>
          </a:p>
        </p:txBody>
      </p:sp>
    </p:spTree>
    <p:extLst>
      <p:ext uri="{BB962C8B-B14F-4D97-AF65-F5344CB8AC3E}">
        <p14:creationId xmlns:p14="http://schemas.microsoft.com/office/powerpoint/2010/main" val="13691316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O classificador Softmax prevê/prediz apenas uma classe de cada vez (ou seja, ele é </a:t>
            </a:r>
            <a:r>
              <a:rPr lang="pt-BR" dirty="0" err="1"/>
              <a:t>multiclasse</a:t>
            </a:r>
            <a:r>
              <a:rPr lang="pt-BR" dirty="0"/>
              <a:t>, e não </a:t>
            </a:r>
            <a:r>
              <a:rPr lang="pt-BR" dirty="0" err="1"/>
              <a:t>multi-saída</a:t>
            </a:r>
            <a:r>
              <a:rPr lang="pt-BR" dirty="0"/>
              <a:t>), portanto, ele deve ser usado apenas com classes mutuamente exclusivas, como por exemplo diferentes tipos de plantas, dígitos, categorias</a:t>
            </a:r>
            <a:r>
              <a:rPr lang="pt-BR" baseline="0" dirty="0"/>
              <a:t> de notícias, etc</a:t>
            </a:r>
            <a:r>
              <a:rPr lang="pt-BR" dirty="0"/>
              <a:t>. Portanto, você não pode usá-lo para reconhecer várias pessoas em uma foto, por exemplo.</a:t>
            </a:r>
          </a:p>
          <a:p>
            <a:endParaRPr lang="pt-BR" dirty="0"/>
          </a:p>
          <a:p>
            <a:r>
              <a:rPr lang="pt-BR" sz="1200" b="0" i="0" kern="1200" dirty="0">
                <a:solidFill>
                  <a:schemeClr val="tx1"/>
                </a:solidFill>
                <a:effectLst/>
                <a:latin typeface="+mn-lt"/>
                <a:ea typeface="+mn-ea"/>
                <a:cs typeface="+mn-cs"/>
              </a:rPr>
              <a:t>Duas</a:t>
            </a:r>
            <a:r>
              <a:rPr lang="pt-BR" sz="1200" b="0" i="0" kern="1200" baseline="0" dirty="0">
                <a:solidFill>
                  <a:schemeClr val="tx1"/>
                </a:solidFill>
                <a:effectLst/>
                <a:latin typeface="+mn-lt"/>
                <a:ea typeface="+mn-ea"/>
                <a:cs typeface="+mn-cs"/>
              </a:rPr>
              <a:t> classes </a:t>
            </a:r>
            <a:r>
              <a:rPr lang="pt-BR" sz="1200" b="0" i="0" kern="1200" dirty="0">
                <a:solidFill>
                  <a:schemeClr val="tx1"/>
                </a:solidFill>
                <a:effectLst/>
                <a:latin typeface="+mn-lt"/>
                <a:ea typeface="+mn-ea"/>
                <a:cs typeface="+mn-cs"/>
              </a:rPr>
              <a:t>são </a:t>
            </a:r>
            <a:r>
              <a:rPr lang="pt-BR" sz="1200" b="1" i="0" kern="1200" dirty="0">
                <a:solidFill>
                  <a:schemeClr val="tx1"/>
                </a:solidFill>
                <a:effectLst/>
                <a:latin typeface="+mn-lt"/>
                <a:ea typeface="+mn-ea"/>
                <a:cs typeface="+mn-cs"/>
              </a:rPr>
              <a:t>classes mutuamente exclusivas</a:t>
            </a:r>
            <a:r>
              <a:rPr lang="pt-BR" sz="1200" b="0" i="0" kern="1200" dirty="0">
                <a:solidFill>
                  <a:schemeClr val="tx1"/>
                </a:solidFill>
                <a:effectLst/>
                <a:latin typeface="+mn-lt"/>
                <a:ea typeface="+mn-ea"/>
                <a:cs typeface="+mn-cs"/>
              </a:rPr>
              <a:t> se elas não podem ocorrer ao mesmo tempo.</a:t>
            </a:r>
            <a:endParaRPr lang="pt-BR" dirty="0"/>
          </a:p>
          <a:p>
            <a:endParaRPr lang="en-US" dirty="0"/>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10</a:t>
            </a:fld>
            <a:endParaRPr lang="pt-BR"/>
          </a:p>
        </p:txBody>
      </p:sp>
    </p:spTree>
    <p:extLst>
      <p:ext uri="{BB962C8B-B14F-4D97-AF65-F5344CB8AC3E}">
        <p14:creationId xmlns:p14="http://schemas.microsoft.com/office/powerpoint/2010/main" val="24689522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O classificador Softmax prevê/prediz apenas uma classe de cada vez (ou seja, ele é </a:t>
            </a:r>
            <a:r>
              <a:rPr lang="pt-BR" dirty="0" err="1"/>
              <a:t>multiclasse</a:t>
            </a:r>
            <a:r>
              <a:rPr lang="pt-BR" dirty="0"/>
              <a:t>, e não </a:t>
            </a:r>
            <a:r>
              <a:rPr lang="pt-BR" dirty="0" err="1"/>
              <a:t>multi-saída</a:t>
            </a:r>
            <a:r>
              <a:rPr lang="pt-BR" dirty="0"/>
              <a:t>), portanto, ele deve ser usado apenas com classes mutuamente exclusivas, como por exemplo diferentes tipos de plantas, dígitos, categorias</a:t>
            </a:r>
            <a:r>
              <a:rPr lang="pt-BR" baseline="0" dirty="0"/>
              <a:t> de notícias, etc</a:t>
            </a:r>
            <a:r>
              <a:rPr lang="pt-BR" dirty="0"/>
              <a:t>. Portanto, você não pode usá-lo para reconhecer várias pessoas em uma foto, por exemplo.</a:t>
            </a:r>
          </a:p>
          <a:p>
            <a:endParaRPr lang="pt-BR" dirty="0"/>
          </a:p>
          <a:p>
            <a:r>
              <a:rPr lang="pt-BR" dirty="0"/>
              <a:t>Observe que, quando existem apenas duas classes (Q = 2), a função de erro acima é equivalente à função de erro da regressão logística</a:t>
            </a:r>
            <a:r>
              <a:rPr lang="pt-BR" baseline="0" dirty="0"/>
              <a:t>.</a:t>
            </a:r>
            <a:endParaRPr lang="pt-BR" dirty="0"/>
          </a:p>
          <a:p>
            <a:endParaRPr lang="pt-BR" dirty="0"/>
          </a:p>
          <a:p>
            <a:endParaRPr lang="pt-BR" dirty="0"/>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14</a:t>
            </a:fld>
            <a:endParaRPr lang="pt-BR"/>
          </a:p>
        </p:txBody>
      </p:sp>
    </p:spTree>
    <p:extLst>
      <p:ext uri="{BB962C8B-B14F-4D97-AF65-F5344CB8AC3E}">
        <p14:creationId xmlns:p14="http://schemas.microsoft.com/office/powerpoint/2010/main" val="15716462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O objetivo do treinamento do classificador softmax é ter um modelo que estima uma alta probabilidade para a classe-alvo (e consequentemente uma baixa probabilidade para as outras classes).</a:t>
            </a:r>
          </a:p>
          <a:p>
            <a:endParaRPr lang="pt-BR" dirty="0"/>
          </a:p>
          <a:p>
            <a:r>
              <a:rPr lang="pt-BR" dirty="0"/>
              <a:t>A</a:t>
            </a:r>
            <a:r>
              <a:rPr lang="pt-BR" baseline="0" dirty="0"/>
              <a:t> classe</a:t>
            </a:r>
            <a:r>
              <a:rPr lang="pt-BR" dirty="0"/>
              <a:t> </a:t>
            </a:r>
            <a:r>
              <a:rPr lang="pt-BR" dirty="0" err="1"/>
              <a:t>LogisticRegression</a:t>
            </a:r>
            <a:r>
              <a:rPr lang="pt-BR" dirty="0"/>
              <a:t> da biblioteca </a:t>
            </a:r>
            <a:r>
              <a:rPr lang="pt-BR" dirty="0" err="1"/>
              <a:t>Scikit-Learn</a:t>
            </a:r>
            <a:r>
              <a:rPr lang="pt-BR" dirty="0"/>
              <a:t> usa a estratégia um-contra-todos por padrão quando você o treina com dados </a:t>
            </a:r>
            <a:r>
              <a:rPr lang="pt-BR" dirty="0" err="1"/>
              <a:t>pertencentrs</a:t>
            </a:r>
            <a:r>
              <a:rPr lang="pt-BR" dirty="0"/>
              <a:t> a mais de duas classes, mas você pode definir o parâmetro </a:t>
            </a:r>
            <a:r>
              <a:rPr lang="pt-BR" b="1" dirty="0" err="1"/>
              <a:t>mult_class</a:t>
            </a:r>
            <a:r>
              <a:rPr lang="pt-BR" dirty="0"/>
              <a:t> como "</a:t>
            </a:r>
            <a:r>
              <a:rPr lang="pt-BR" i="1" dirty="0"/>
              <a:t>multinomial</a:t>
            </a:r>
            <a:r>
              <a:rPr lang="pt-BR" dirty="0"/>
              <a:t>" para alternar para regressão Softmax. Você também deve especificar um </a:t>
            </a:r>
            <a:r>
              <a:rPr lang="pt-BR" b="1" dirty="0"/>
              <a:t>solver</a:t>
            </a:r>
            <a:r>
              <a:rPr lang="pt-BR" dirty="0"/>
              <a:t> que suporte a regressão Softmax, como o </a:t>
            </a:r>
            <a:r>
              <a:rPr lang="pt-BR" b="1" dirty="0"/>
              <a:t>solver</a:t>
            </a:r>
            <a:r>
              <a:rPr lang="pt-BR" dirty="0"/>
              <a:t> "</a:t>
            </a:r>
            <a:r>
              <a:rPr lang="pt-BR" dirty="0" err="1"/>
              <a:t>lbfgs</a:t>
            </a:r>
            <a:r>
              <a:rPr lang="pt-BR" dirty="0"/>
              <a:t>" (consulte a documentação do </a:t>
            </a:r>
            <a:r>
              <a:rPr lang="pt-BR" dirty="0" err="1"/>
              <a:t>Scikit-Learn</a:t>
            </a:r>
            <a:r>
              <a:rPr lang="pt-BR" dirty="0"/>
              <a:t> para obter mais detalhes). Ele também aplica regularização L2 por padrão, a qual você pode controlar usando o parâmetro </a:t>
            </a:r>
            <a:r>
              <a:rPr lang="pt-BR" b="1" dirty="0"/>
              <a:t>C</a:t>
            </a:r>
            <a:r>
              <a:rPr lang="pt-BR" dirty="0"/>
              <a:t>.</a:t>
            </a:r>
          </a:p>
          <a:p>
            <a:endParaRPr lang="pt-BR" dirty="0"/>
          </a:p>
          <a:p>
            <a:r>
              <a:rPr lang="pt-BR" dirty="0"/>
              <a:t>Referência:</a:t>
            </a:r>
          </a:p>
          <a:p>
            <a:r>
              <a:rPr lang="pt-BR" dirty="0"/>
              <a:t>[1] http://deeplearning.stanford.edu/tutorial/supervised/SoftmaxRegression/</a:t>
            </a:r>
          </a:p>
          <a:p>
            <a:r>
              <a:rPr lang="pt-BR" dirty="0"/>
              <a:t>[2] http://rasbt.github.io/mlxtend/user_guide/classifier/SoftmaxRegression/</a:t>
            </a:r>
          </a:p>
          <a:p>
            <a:endParaRPr lang="pt-BR" dirty="0"/>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15</a:t>
            </a:fld>
            <a:endParaRPr lang="pt-BR"/>
          </a:p>
        </p:txBody>
      </p:sp>
    </p:spTree>
    <p:extLst>
      <p:ext uri="{BB962C8B-B14F-4D97-AF65-F5344CB8AC3E}">
        <p14:creationId xmlns:p14="http://schemas.microsoft.com/office/powerpoint/2010/main" val="12940999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pt-BR" sz="1200" i="1" smtClean="0">
                            <a:latin typeface="Cambria Math" panose="02040503050406030204" pitchFamily="18" charset="0"/>
                          </a:rPr>
                        </m:ctrlPr>
                      </m:sSubPr>
                      <m:e>
                        <m:r>
                          <a:rPr lang="pt-BR" sz="1200" b="1" i="1">
                            <a:latin typeface="Cambria Math" panose="02040503050406030204" pitchFamily="18" charset="0"/>
                          </a:rPr>
                          <m:t>𝒚</m:t>
                        </m:r>
                      </m:e>
                      <m:sub>
                        <m:r>
                          <a:rPr lang="pt-BR" sz="1200" b="0" i="1" smtClean="0">
                            <a:latin typeface="Cambria Math" panose="02040503050406030204" pitchFamily="18" charset="0"/>
                          </a:rPr>
                          <m:t>𝑞</m:t>
                        </m:r>
                      </m:sub>
                    </m:sSub>
                  </m:oMath>
                </a14:m>
                <a:r>
                  <a:rPr lang="pt-BR" sz="1200" b="0" i="0" dirty="0">
                    <a:solidFill>
                      <a:srgbClr val="000000"/>
                    </a:solidFill>
                    <a:effectLst/>
                    <a:latin typeface="CambriaMath"/>
                  </a:rPr>
                  <a:t> vetor coluna composto pelo</a:t>
                </a:r>
                <a:r>
                  <a:rPr lang="pt-BR" sz="1200" b="0" i="0" baseline="0" dirty="0">
                    <a:solidFill>
                      <a:srgbClr val="000000"/>
                    </a:solidFill>
                    <a:effectLst/>
                    <a:latin typeface="CambriaMath"/>
                  </a:rPr>
                  <a:t> </a:t>
                </a:r>
                <a:r>
                  <a:rPr lang="pt-BR" sz="1200" b="0" i="0" dirty="0">
                    <a:solidFill>
                      <a:srgbClr val="000000"/>
                    </a:solidFill>
                    <a:effectLst/>
                    <a:latin typeface="CambriaMath"/>
                  </a:rPr>
                  <a:t>q-ésimo elemento</a:t>
                </a:r>
                <a:r>
                  <a:rPr lang="pt-BR" sz="1200" b="0" i="0" baseline="0" dirty="0">
                    <a:solidFill>
                      <a:srgbClr val="000000"/>
                    </a:solidFill>
                    <a:effectLst/>
                    <a:latin typeface="CambriaMath"/>
                  </a:rPr>
                  <a:t> do vetor de rótulo na codificação </a:t>
                </a:r>
                <a:r>
                  <a:rPr lang="pt-BR" sz="1200" b="0" i="0" baseline="0" dirty="0" err="1">
                    <a:solidFill>
                      <a:srgbClr val="000000"/>
                    </a:solidFill>
                    <a:effectLst/>
                    <a:latin typeface="CambriaMath"/>
                  </a:rPr>
                  <a:t>one</a:t>
                </a:r>
                <a:r>
                  <a:rPr lang="pt-BR" sz="1200" b="0" i="0" baseline="0" dirty="0">
                    <a:solidFill>
                      <a:srgbClr val="000000"/>
                    </a:solidFill>
                    <a:effectLst/>
                    <a:latin typeface="CambriaMath"/>
                  </a:rPr>
                  <a:t>-hot </a:t>
                </a:r>
                <a:r>
                  <a:rPr lang="pt-BR" baseline="0" dirty="0"/>
                  <a:t>para cada um dos N vetores de atributo.</a:t>
                </a:r>
                <a:endParaRPr lang="pt-BR" sz="1200" b="0" i="0" baseline="0" dirty="0">
                  <a:solidFill>
                    <a:srgbClr val="000000"/>
                  </a:solidFill>
                  <a:effectLst/>
                  <a:latin typeface="CambriaMath"/>
                </a:endParaRPr>
              </a:p>
              <a:p>
                <a14:m>
                  <m:oMath xmlns:m="http://schemas.openxmlformats.org/officeDocument/2006/math">
                    <m:sSub>
                      <m:sSubPr>
                        <m:ctrlPr>
                          <a:rPr lang="pt-BR" sz="1200" i="1" smtClean="0">
                            <a:latin typeface="Cambria Math" panose="02040503050406030204" pitchFamily="18" charset="0"/>
                          </a:rPr>
                        </m:ctrlPr>
                      </m:sSubPr>
                      <m:e>
                        <m:acc>
                          <m:accPr>
                            <m:chr m:val="̂"/>
                            <m:ctrlPr>
                              <a:rPr lang="pt-BR" sz="1200" i="1">
                                <a:latin typeface="Cambria Math" panose="02040503050406030204" pitchFamily="18" charset="0"/>
                              </a:rPr>
                            </m:ctrlPr>
                          </m:accPr>
                          <m:e>
                            <m:r>
                              <a:rPr lang="pt-BR" sz="1200" b="1" i="1">
                                <a:latin typeface="Cambria Math" panose="02040503050406030204" pitchFamily="18" charset="0"/>
                              </a:rPr>
                              <m:t>𝒚</m:t>
                            </m:r>
                          </m:e>
                        </m:acc>
                      </m:e>
                      <m:sub>
                        <m:r>
                          <a:rPr lang="pt-BR" sz="1200" b="0" i="1" smtClean="0">
                            <a:latin typeface="Cambria Math" panose="02040503050406030204" pitchFamily="18" charset="0"/>
                          </a:rPr>
                          <m:t>𝑞</m:t>
                        </m:r>
                      </m:sub>
                    </m:sSub>
                  </m:oMath>
                </a14:m>
                <a:r>
                  <a:rPr lang="pt-BR" dirty="0"/>
                  <a:t> vetor coluna composto</a:t>
                </a:r>
                <a:r>
                  <a:rPr lang="pt-BR" baseline="0" dirty="0"/>
                  <a:t> pela </a:t>
                </a:r>
                <a:r>
                  <a:rPr lang="pt-BR" dirty="0"/>
                  <a:t>q-</a:t>
                </a:r>
                <a:r>
                  <a:rPr lang="pt-BR" dirty="0" err="1"/>
                  <a:t>ésima</a:t>
                </a:r>
                <a:r>
                  <a:rPr lang="pt-BR" baseline="0" dirty="0"/>
                  <a:t> saída do regressor softmax, i.e., q-</a:t>
                </a:r>
                <a:r>
                  <a:rPr lang="pt-BR" baseline="0" dirty="0" err="1"/>
                  <a:t>ésima</a:t>
                </a:r>
                <a:r>
                  <a:rPr lang="pt-BR" baseline="0" dirty="0"/>
                  <a:t> função hipótese, para cada um dos N vetores de atributo.</a:t>
                </a:r>
              </a:p>
              <a:p>
                <a:endParaRPr lang="pt-BR" baseline="0" dirty="0"/>
              </a:p>
              <a:p>
                <a:r>
                  <a:rPr lang="pt-BR" baseline="0" dirty="0"/>
                  <a:t>Contendo o q-ésimo valor do vetor </a:t>
                </a:r>
                <a:r>
                  <a:rPr lang="pt-BR" baseline="0" dirty="0" err="1"/>
                  <a:t>one</a:t>
                </a:r>
                <a:r>
                  <a:rPr lang="pt-BR" baseline="0" dirty="0"/>
                  <a:t>-hot e de saída do regressor softmax para cada um das N entradas, respectivamente.</a:t>
                </a:r>
                <a:endParaRPr lang="pt-BR" dirty="0"/>
              </a:p>
              <a:p>
                <a:endParaRPr lang="pt-BR" dirty="0"/>
              </a:p>
              <a:p>
                <a:r>
                  <a:rPr lang="pt-BR" dirty="0"/>
                  <a:t>O objetivo do treinamento do classificador softmax é ter um modelo que estima uma alta probabilidade para a classe-alvo (e consequentemente uma baixa probabilidade para as outras classes).</a:t>
                </a:r>
              </a:p>
              <a:p>
                <a:endParaRPr lang="pt-BR" dirty="0"/>
              </a:p>
              <a:p>
                <a:r>
                  <a:rPr lang="pt-BR" dirty="0"/>
                  <a:t>A</a:t>
                </a:r>
                <a:r>
                  <a:rPr lang="pt-BR" baseline="0" dirty="0"/>
                  <a:t> classe</a:t>
                </a:r>
                <a:r>
                  <a:rPr lang="pt-BR" dirty="0"/>
                  <a:t> </a:t>
                </a:r>
                <a:r>
                  <a:rPr lang="pt-BR" dirty="0" err="1"/>
                  <a:t>LogisticRegression</a:t>
                </a:r>
                <a:r>
                  <a:rPr lang="pt-BR" dirty="0"/>
                  <a:t> da biblioteca </a:t>
                </a:r>
                <a:r>
                  <a:rPr lang="pt-BR" dirty="0" err="1"/>
                  <a:t>Scikit-Learn</a:t>
                </a:r>
                <a:r>
                  <a:rPr lang="pt-BR" dirty="0"/>
                  <a:t> usa a estratégia um-contra-todos por padrão quando você o treina com dados </a:t>
                </a:r>
                <a:r>
                  <a:rPr lang="pt-BR" dirty="0" err="1"/>
                  <a:t>pertencentrs</a:t>
                </a:r>
                <a:r>
                  <a:rPr lang="pt-BR" dirty="0"/>
                  <a:t> a mais de duas classes, mas você pode definir o parâmetro </a:t>
                </a:r>
                <a:r>
                  <a:rPr lang="pt-BR" b="1" dirty="0" err="1"/>
                  <a:t>mult_class</a:t>
                </a:r>
                <a:r>
                  <a:rPr lang="pt-BR" dirty="0"/>
                  <a:t> como "</a:t>
                </a:r>
                <a:r>
                  <a:rPr lang="pt-BR" i="1" dirty="0"/>
                  <a:t>multinomial</a:t>
                </a:r>
                <a:r>
                  <a:rPr lang="pt-BR" dirty="0"/>
                  <a:t>" para alternar para regressão Softmax. Você também deve especificar um </a:t>
                </a:r>
                <a:r>
                  <a:rPr lang="pt-BR" b="1" dirty="0"/>
                  <a:t>solver</a:t>
                </a:r>
                <a:r>
                  <a:rPr lang="pt-BR" dirty="0"/>
                  <a:t> que suporte a regressão Softmax, como o </a:t>
                </a:r>
                <a:r>
                  <a:rPr lang="pt-BR" b="1" dirty="0"/>
                  <a:t>solver</a:t>
                </a:r>
                <a:r>
                  <a:rPr lang="pt-BR" dirty="0"/>
                  <a:t> "</a:t>
                </a:r>
                <a:r>
                  <a:rPr lang="pt-BR" dirty="0" err="1"/>
                  <a:t>lbfgs</a:t>
                </a:r>
                <a:r>
                  <a:rPr lang="pt-BR" dirty="0"/>
                  <a:t>" (consulte a documentação do </a:t>
                </a:r>
                <a:r>
                  <a:rPr lang="pt-BR" dirty="0" err="1"/>
                  <a:t>Scikit-Learn</a:t>
                </a:r>
                <a:r>
                  <a:rPr lang="pt-BR" dirty="0"/>
                  <a:t> para obter mais detalhes). Ele também aplica regularização L2 por padrão, a qual você pode controlar usando o parâmetro </a:t>
                </a:r>
                <a:r>
                  <a:rPr lang="pt-BR" b="1" dirty="0"/>
                  <a:t>C</a:t>
                </a:r>
                <a:r>
                  <a:rPr lang="pt-BR" dirty="0"/>
                  <a:t>.</a:t>
                </a:r>
              </a:p>
              <a:p>
                <a:endParaRPr lang="pt-BR" dirty="0"/>
              </a:p>
              <a:p>
                <a:r>
                  <a:rPr lang="pt-BR" dirty="0"/>
                  <a:t>Referência:</a:t>
                </a:r>
              </a:p>
              <a:p>
                <a:r>
                  <a:rPr lang="pt-BR" dirty="0"/>
                  <a:t>[1] http://deeplearning.stanford.edu/tutorial/supervised/SoftmaxRegression/</a:t>
                </a:r>
              </a:p>
              <a:p>
                <a:r>
                  <a:rPr lang="pt-BR" dirty="0"/>
                  <a:t>[2] http://rasbt.github.io/mlxtend/user_guide/classifier/SoftmaxRegression/</a:t>
                </a:r>
              </a:p>
              <a:p>
                <a:endParaRPr lang="pt-BR" dirty="0"/>
              </a:p>
              <a:p>
                <a:endParaRPr lang="pt-BR" dirty="0"/>
              </a:p>
            </p:txBody>
          </p:sp>
        </mc:Choice>
        <mc:Fallback xmlns="">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b="1" i="0">
                    <a:latin typeface="Cambria Math" panose="02040503050406030204" pitchFamily="18" charset="0"/>
                  </a:rPr>
                  <a:t>𝒚_</a:t>
                </a:r>
                <a:r>
                  <a:rPr lang="pt-BR" sz="1200" b="0" i="0">
                    <a:latin typeface="Cambria Math" panose="02040503050406030204" pitchFamily="18" charset="0"/>
                  </a:rPr>
                  <a:t>𝑞</a:t>
                </a:r>
                <a:r>
                  <a:rPr lang="pt-BR" sz="1200" b="0" i="0" dirty="0">
                    <a:solidFill>
                      <a:srgbClr val="000000"/>
                    </a:solidFill>
                    <a:effectLst/>
                    <a:latin typeface="CambriaMath"/>
                  </a:rPr>
                  <a:t> vetor coluna composto pelo</a:t>
                </a:r>
                <a:r>
                  <a:rPr lang="pt-BR" sz="1200" b="0" i="0" baseline="0" dirty="0">
                    <a:solidFill>
                      <a:srgbClr val="000000"/>
                    </a:solidFill>
                    <a:effectLst/>
                    <a:latin typeface="CambriaMath"/>
                  </a:rPr>
                  <a:t> </a:t>
                </a:r>
                <a:r>
                  <a:rPr lang="pt-BR" sz="1200" b="0" i="0" dirty="0">
                    <a:solidFill>
                      <a:srgbClr val="000000"/>
                    </a:solidFill>
                    <a:effectLst/>
                    <a:latin typeface="CambriaMath"/>
                  </a:rPr>
                  <a:t>q-ésimo elemento</a:t>
                </a:r>
                <a:r>
                  <a:rPr lang="pt-BR" sz="1200" b="0" i="0" baseline="0" dirty="0">
                    <a:solidFill>
                      <a:srgbClr val="000000"/>
                    </a:solidFill>
                    <a:effectLst/>
                    <a:latin typeface="CambriaMath"/>
                  </a:rPr>
                  <a:t> do vetor de rótulo na codificação </a:t>
                </a:r>
                <a:r>
                  <a:rPr lang="pt-BR" sz="1200" b="0" i="0" baseline="0" dirty="0" err="1">
                    <a:solidFill>
                      <a:srgbClr val="000000"/>
                    </a:solidFill>
                    <a:effectLst/>
                    <a:latin typeface="CambriaMath"/>
                  </a:rPr>
                  <a:t>one</a:t>
                </a:r>
                <a:r>
                  <a:rPr lang="pt-BR" sz="1200" b="0" i="0" baseline="0" dirty="0">
                    <a:solidFill>
                      <a:srgbClr val="000000"/>
                    </a:solidFill>
                    <a:effectLst/>
                    <a:latin typeface="CambriaMath"/>
                  </a:rPr>
                  <a:t>-hot </a:t>
                </a:r>
                <a:r>
                  <a:rPr lang="pt-BR" baseline="0" dirty="0"/>
                  <a:t>para cada um dos N vetores de atributo.</a:t>
                </a:r>
                <a:endParaRPr lang="pt-BR" sz="1200" b="0" i="0" baseline="0" dirty="0">
                  <a:solidFill>
                    <a:srgbClr val="000000"/>
                  </a:solidFill>
                  <a:effectLst/>
                  <a:latin typeface="CambriaMath"/>
                </a:endParaRPr>
              </a:p>
              <a:p>
                <a:pPr/>
                <a:r>
                  <a:rPr lang="pt-BR" sz="1200" b="1" i="0">
                    <a:latin typeface="Cambria Math" panose="02040503050406030204" pitchFamily="18" charset="0"/>
                  </a:rPr>
                  <a:t>𝒚 ̂_</a:t>
                </a:r>
                <a:r>
                  <a:rPr lang="pt-BR" sz="1200" b="0" i="0">
                    <a:latin typeface="Cambria Math" panose="02040503050406030204" pitchFamily="18" charset="0"/>
                  </a:rPr>
                  <a:t>𝑞</a:t>
                </a:r>
                <a:r>
                  <a:rPr lang="pt-BR" dirty="0"/>
                  <a:t> vetor coluna composto</a:t>
                </a:r>
                <a:r>
                  <a:rPr lang="pt-BR" baseline="0" dirty="0"/>
                  <a:t> pela </a:t>
                </a:r>
                <a:r>
                  <a:rPr lang="pt-BR" dirty="0"/>
                  <a:t>q-</a:t>
                </a:r>
                <a:r>
                  <a:rPr lang="pt-BR" dirty="0" err="1"/>
                  <a:t>ésima</a:t>
                </a:r>
                <a:r>
                  <a:rPr lang="pt-BR" baseline="0" dirty="0"/>
                  <a:t> saída do regressor softmax, i.e., q-</a:t>
                </a:r>
                <a:r>
                  <a:rPr lang="pt-BR" baseline="0" dirty="0" err="1"/>
                  <a:t>ésima</a:t>
                </a:r>
                <a:r>
                  <a:rPr lang="pt-BR" baseline="0" dirty="0"/>
                  <a:t> função hipótese, para cada um dos N vetores de atributo.</a:t>
                </a:r>
              </a:p>
              <a:p>
                <a:pPr/>
                <a:endParaRPr lang="pt-BR" baseline="0" dirty="0"/>
              </a:p>
              <a:p>
                <a:pPr/>
                <a:r>
                  <a:rPr lang="pt-BR" baseline="0" dirty="0"/>
                  <a:t>Contendo o q-ésimo valor do vetor </a:t>
                </a:r>
                <a:r>
                  <a:rPr lang="pt-BR" baseline="0" dirty="0" err="1"/>
                  <a:t>one</a:t>
                </a:r>
                <a:r>
                  <a:rPr lang="pt-BR" baseline="0" dirty="0"/>
                  <a:t>-hot e de saída do regressor softmax para cada um das N entradas, respectivamente.</a:t>
                </a:r>
                <a:endParaRPr lang="pt-BR" dirty="0"/>
              </a:p>
              <a:p>
                <a:endParaRPr lang="pt-BR" dirty="0"/>
              </a:p>
              <a:p>
                <a:r>
                  <a:rPr lang="pt-BR" dirty="0"/>
                  <a:t>O objetivo do treinamento do classificador softmax é ter um modelo que estima uma alta probabilidade para a classe-alvo (e consequentemente uma baixa probabilidade para as outras classes).</a:t>
                </a:r>
              </a:p>
              <a:p>
                <a:endParaRPr lang="pt-BR" dirty="0"/>
              </a:p>
              <a:p>
                <a:r>
                  <a:rPr lang="pt-BR" dirty="0"/>
                  <a:t>A</a:t>
                </a:r>
                <a:r>
                  <a:rPr lang="pt-BR" baseline="0" dirty="0"/>
                  <a:t> classe</a:t>
                </a:r>
                <a:r>
                  <a:rPr lang="pt-BR" dirty="0"/>
                  <a:t> </a:t>
                </a:r>
                <a:r>
                  <a:rPr lang="pt-BR" dirty="0" err="1"/>
                  <a:t>LogisticRegression</a:t>
                </a:r>
                <a:r>
                  <a:rPr lang="pt-BR" dirty="0"/>
                  <a:t> da biblioteca </a:t>
                </a:r>
                <a:r>
                  <a:rPr lang="pt-BR" dirty="0" err="1"/>
                  <a:t>Scikit-Learn</a:t>
                </a:r>
                <a:r>
                  <a:rPr lang="pt-BR" dirty="0"/>
                  <a:t> usa a estratégia um-contra-todos por padrão quando você o treina com dados </a:t>
                </a:r>
                <a:r>
                  <a:rPr lang="pt-BR" dirty="0" err="1"/>
                  <a:t>pertencentrs</a:t>
                </a:r>
                <a:r>
                  <a:rPr lang="pt-BR" dirty="0"/>
                  <a:t> a mais de duas classes, mas você pode definir o parâmetro </a:t>
                </a:r>
                <a:r>
                  <a:rPr lang="pt-BR" b="1" dirty="0" err="1"/>
                  <a:t>mult_class</a:t>
                </a:r>
                <a:r>
                  <a:rPr lang="pt-BR" dirty="0"/>
                  <a:t> como "</a:t>
                </a:r>
                <a:r>
                  <a:rPr lang="pt-BR" i="1" dirty="0"/>
                  <a:t>multinomial</a:t>
                </a:r>
                <a:r>
                  <a:rPr lang="pt-BR" dirty="0"/>
                  <a:t>" para alternar para regressão Softmax. Você também deve especificar um </a:t>
                </a:r>
                <a:r>
                  <a:rPr lang="pt-BR" b="1" dirty="0"/>
                  <a:t>solver</a:t>
                </a:r>
                <a:r>
                  <a:rPr lang="pt-BR" dirty="0"/>
                  <a:t> que suporte a regressão Softmax, como o </a:t>
                </a:r>
                <a:r>
                  <a:rPr lang="pt-BR" b="1" dirty="0"/>
                  <a:t>solver</a:t>
                </a:r>
                <a:r>
                  <a:rPr lang="pt-BR" dirty="0"/>
                  <a:t> "</a:t>
                </a:r>
                <a:r>
                  <a:rPr lang="pt-BR" dirty="0" err="1"/>
                  <a:t>lbfgs</a:t>
                </a:r>
                <a:r>
                  <a:rPr lang="pt-BR" dirty="0"/>
                  <a:t>" (consulte a documentação do </a:t>
                </a:r>
                <a:r>
                  <a:rPr lang="pt-BR" dirty="0" err="1"/>
                  <a:t>Scikit-Learn</a:t>
                </a:r>
                <a:r>
                  <a:rPr lang="pt-BR" dirty="0"/>
                  <a:t> para obter mais detalhes). Ele também aplica regularização L2 por padrão, a qual você pode controlar usando o parâmetro </a:t>
                </a:r>
                <a:r>
                  <a:rPr lang="pt-BR" b="1" dirty="0"/>
                  <a:t>C</a:t>
                </a:r>
                <a:r>
                  <a:rPr lang="pt-BR" dirty="0"/>
                  <a:t>.</a:t>
                </a:r>
              </a:p>
              <a:p>
                <a:endParaRPr lang="pt-BR" dirty="0"/>
              </a:p>
              <a:p>
                <a:r>
                  <a:rPr lang="pt-BR" dirty="0"/>
                  <a:t>Referência:</a:t>
                </a:r>
              </a:p>
              <a:p>
                <a:r>
                  <a:rPr lang="pt-BR" dirty="0"/>
                  <a:t>[1] http://deeplearning.stanford.edu/tutorial/supervised/SoftmaxRegression/</a:t>
                </a:r>
              </a:p>
              <a:p>
                <a:r>
                  <a:rPr lang="pt-BR" dirty="0"/>
                  <a:t>[2] http://rasbt.github.io/mlxtend/user_guide/classifier/SoftmaxRegression/</a:t>
                </a:r>
              </a:p>
              <a:p>
                <a:endParaRPr lang="pt-BR" dirty="0"/>
              </a:p>
              <a:p>
                <a:endParaRPr lang="pt-BR" dirty="0"/>
              </a:p>
            </p:txBody>
          </p:sp>
        </mc:Fallback>
      </mc:AlternateContent>
      <p:sp>
        <p:nvSpPr>
          <p:cNvPr id="4" name="Espaço Reservado para Número de Slide 3"/>
          <p:cNvSpPr>
            <a:spLocks noGrp="1"/>
          </p:cNvSpPr>
          <p:nvPr>
            <p:ph type="sldNum" sz="quarter" idx="5"/>
          </p:nvPr>
        </p:nvSpPr>
        <p:spPr/>
        <p:txBody>
          <a:bodyPr/>
          <a:lstStyle/>
          <a:p>
            <a:fld id="{6FC8D850-966F-45A6-8DE7-15B891E7D40D}" type="slidenum">
              <a:rPr lang="pt-BR" smtClean="0"/>
              <a:t>16</a:t>
            </a:fld>
            <a:endParaRPr lang="pt-BR"/>
          </a:p>
        </p:txBody>
      </p:sp>
    </p:spTree>
    <p:extLst>
      <p:ext uri="{BB962C8B-B14F-4D97-AF65-F5344CB8AC3E}">
        <p14:creationId xmlns:p14="http://schemas.microsoft.com/office/powerpoint/2010/main" val="267966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O objetivo do treinamento do classificador softmax é ter um modelo que estima uma alta probabilidade para a classe-alvo (e consequentemente uma baixa probabilidade para as outras classes).</a:t>
            </a:r>
          </a:p>
          <a:p>
            <a:endParaRPr lang="pt-BR" dirty="0"/>
          </a:p>
          <a:p>
            <a:r>
              <a:rPr lang="pt-BR" dirty="0"/>
              <a:t>A</a:t>
            </a:r>
            <a:r>
              <a:rPr lang="pt-BR" baseline="0" dirty="0"/>
              <a:t> classe</a:t>
            </a:r>
            <a:r>
              <a:rPr lang="pt-BR" dirty="0"/>
              <a:t> </a:t>
            </a:r>
            <a:r>
              <a:rPr lang="pt-BR" dirty="0" err="1"/>
              <a:t>LogisticRegression</a:t>
            </a:r>
            <a:r>
              <a:rPr lang="pt-BR" dirty="0"/>
              <a:t> da biblioteca </a:t>
            </a:r>
            <a:r>
              <a:rPr lang="pt-BR" dirty="0" err="1"/>
              <a:t>Scikit-Learn</a:t>
            </a:r>
            <a:r>
              <a:rPr lang="pt-BR" dirty="0"/>
              <a:t> usa a estratégia um-contra-todos por padrão quando você o treina com dados </a:t>
            </a:r>
            <a:r>
              <a:rPr lang="pt-BR" dirty="0" err="1"/>
              <a:t>pertencentrs</a:t>
            </a:r>
            <a:r>
              <a:rPr lang="pt-BR" dirty="0"/>
              <a:t> a mais de duas classes, mas você pode definir o parâmetro </a:t>
            </a:r>
            <a:r>
              <a:rPr lang="pt-BR" b="1" dirty="0" err="1"/>
              <a:t>mult_class</a:t>
            </a:r>
            <a:r>
              <a:rPr lang="pt-BR" dirty="0"/>
              <a:t> como "</a:t>
            </a:r>
            <a:r>
              <a:rPr lang="pt-BR" i="1" dirty="0"/>
              <a:t>multinomial</a:t>
            </a:r>
            <a:r>
              <a:rPr lang="pt-BR" dirty="0"/>
              <a:t>" para alternar para regressão Softmax. Você também deve especificar um </a:t>
            </a:r>
            <a:r>
              <a:rPr lang="pt-BR" b="1" dirty="0"/>
              <a:t>solver</a:t>
            </a:r>
            <a:r>
              <a:rPr lang="pt-BR" dirty="0"/>
              <a:t> que suporte a regressão Softmax, como o </a:t>
            </a:r>
            <a:r>
              <a:rPr lang="pt-BR" b="1" dirty="0"/>
              <a:t>solver</a:t>
            </a:r>
            <a:r>
              <a:rPr lang="pt-BR" dirty="0"/>
              <a:t> "</a:t>
            </a:r>
            <a:r>
              <a:rPr lang="pt-BR" dirty="0" err="1"/>
              <a:t>lbfgs</a:t>
            </a:r>
            <a:r>
              <a:rPr lang="pt-BR" dirty="0"/>
              <a:t>" (consulte a documentação do </a:t>
            </a:r>
            <a:r>
              <a:rPr lang="pt-BR" dirty="0" err="1"/>
              <a:t>Scikit-Learn</a:t>
            </a:r>
            <a:r>
              <a:rPr lang="pt-BR" dirty="0"/>
              <a:t> para obter mais detalhes). Ele também aplica regularização L2 por padrão, a qual você pode controlar usando o parâmetro </a:t>
            </a:r>
            <a:r>
              <a:rPr lang="pt-BR" b="1" dirty="0"/>
              <a:t>C</a:t>
            </a:r>
            <a:r>
              <a:rPr lang="pt-BR" dirty="0"/>
              <a:t>.</a:t>
            </a:r>
          </a:p>
          <a:p>
            <a:endParaRPr lang="pt-BR" dirty="0"/>
          </a:p>
          <a:p>
            <a:r>
              <a:rPr lang="pt-BR" dirty="0"/>
              <a:t>Referência:</a:t>
            </a:r>
          </a:p>
          <a:p>
            <a:r>
              <a:rPr lang="pt-BR" dirty="0"/>
              <a:t>[1] http://deeplearning.stanford.edu/tutorial/supervised/SoftmaxRegression/</a:t>
            </a:r>
          </a:p>
          <a:p>
            <a:r>
              <a:rPr lang="pt-BR" dirty="0"/>
              <a:t>[2] http://rasbt.github.io/mlxtend/user_guide/classifier/SoftmaxRegression/</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17</a:t>
            </a:fld>
            <a:endParaRPr lang="pt-BR"/>
          </a:p>
        </p:txBody>
      </p:sp>
    </p:spTree>
    <p:extLst>
      <p:ext uri="{BB962C8B-B14F-4D97-AF65-F5344CB8AC3E}">
        <p14:creationId xmlns:p14="http://schemas.microsoft.com/office/powerpoint/2010/main" val="39754578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algn="l"/>
            <a:r>
              <a:rPr lang="pt-BR" b="0" i="0" dirty="0">
                <a:solidFill>
                  <a:srgbClr val="374151"/>
                </a:solidFill>
                <a:effectLst/>
                <a:latin typeface="Söhne"/>
              </a:rPr>
              <a:t>No regressor softmax, normalizamos as combinações de atributos de entrada para transformar as pontuações brutas (ou combinações) em probabilidades. Existem boas razões para isso:</a:t>
            </a:r>
          </a:p>
          <a:p>
            <a:pPr algn="l">
              <a:buFont typeface="+mj-lt"/>
              <a:buAutoNum type="arabicPeriod"/>
            </a:pPr>
            <a:endParaRPr lang="pt-BR" b="1" i="0" dirty="0">
              <a:solidFill>
                <a:srgbClr val="374151"/>
              </a:solidFill>
              <a:effectLst/>
              <a:latin typeface="Söhne"/>
            </a:endParaRPr>
          </a:p>
          <a:p>
            <a:pPr algn="l">
              <a:buFont typeface="+mj-lt"/>
              <a:buAutoNum type="arabicPeriod"/>
            </a:pPr>
            <a:r>
              <a:rPr lang="pt-BR" b="1" i="0" dirty="0">
                <a:solidFill>
                  <a:srgbClr val="374151"/>
                </a:solidFill>
                <a:effectLst/>
                <a:latin typeface="Söhne"/>
              </a:rPr>
              <a:t>Interpretação Probabilística:</a:t>
            </a:r>
            <a:r>
              <a:rPr lang="pt-BR" b="0" i="0" dirty="0">
                <a:solidFill>
                  <a:srgbClr val="374151"/>
                </a:solidFill>
                <a:effectLst/>
                <a:latin typeface="Söhne"/>
              </a:rPr>
              <a:t> O regressor softmax é comumente usado em problemas de classificação </a:t>
            </a:r>
            <a:r>
              <a:rPr lang="pt-BR" b="0" i="0" dirty="0" err="1">
                <a:solidFill>
                  <a:srgbClr val="374151"/>
                </a:solidFill>
                <a:effectLst/>
                <a:latin typeface="Söhne"/>
              </a:rPr>
              <a:t>multiclasse</a:t>
            </a:r>
            <a:r>
              <a:rPr lang="pt-BR" b="0" i="0" dirty="0">
                <a:solidFill>
                  <a:srgbClr val="374151"/>
                </a:solidFill>
                <a:effectLst/>
                <a:latin typeface="Söhne"/>
              </a:rPr>
              <a:t>, onde você deseja atribuir uma probabilidade para cada classe possível. Normalizando as combinações de atributos em probabilidades, você obtém uma interpretação probabilística direta dos resultados. Isso significa que as saídas do regressor representam a probabilidade de pertencer a cada classe.</a:t>
            </a:r>
          </a:p>
          <a:p>
            <a:pPr algn="l">
              <a:buFont typeface="+mj-lt"/>
              <a:buAutoNum type="arabicPeriod"/>
            </a:pPr>
            <a:endParaRPr lang="pt-BR" b="1" i="0" dirty="0">
              <a:solidFill>
                <a:srgbClr val="374151"/>
              </a:solidFill>
              <a:effectLst/>
              <a:latin typeface="Söhne"/>
            </a:endParaRPr>
          </a:p>
          <a:p>
            <a:pPr algn="l">
              <a:buFont typeface="+mj-lt"/>
              <a:buAutoNum type="arabicPeriod"/>
            </a:pPr>
            <a:r>
              <a:rPr lang="pt-BR" b="1" i="0" dirty="0">
                <a:solidFill>
                  <a:srgbClr val="374151"/>
                </a:solidFill>
                <a:effectLst/>
                <a:latin typeface="Söhne"/>
              </a:rPr>
              <a:t>Escalas de Saída Consistentes:</a:t>
            </a:r>
            <a:r>
              <a:rPr lang="pt-BR" b="0" i="0" dirty="0">
                <a:solidFill>
                  <a:srgbClr val="374151"/>
                </a:solidFill>
                <a:effectLst/>
                <a:latin typeface="Söhne"/>
              </a:rPr>
              <a:t> Normalizar as saídas garante que elas estejam na mesma escala (entre 0 e 1) e somem para 1. Isso facilita a comparação das probabilidades e a tomada de decisões com base nas saídas do modelo.</a:t>
            </a:r>
          </a:p>
          <a:p>
            <a:pPr algn="l">
              <a:buFont typeface="+mj-lt"/>
              <a:buAutoNum type="arabicPeriod"/>
            </a:pPr>
            <a:endParaRPr lang="pt-BR" b="1" i="0" dirty="0">
              <a:solidFill>
                <a:srgbClr val="374151"/>
              </a:solidFill>
              <a:effectLst/>
              <a:latin typeface="Söhne"/>
            </a:endParaRPr>
          </a:p>
          <a:p>
            <a:pPr algn="l">
              <a:buFont typeface="+mj-lt"/>
              <a:buAutoNum type="arabicPeriod"/>
            </a:pPr>
            <a:r>
              <a:rPr lang="pt-BR" b="1" i="0" dirty="0">
                <a:solidFill>
                  <a:srgbClr val="374151"/>
                </a:solidFill>
                <a:effectLst/>
                <a:latin typeface="Söhne"/>
              </a:rPr>
              <a:t>Função de Perda Adequada:</a:t>
            </a:r>
            <a:r>
              <a:rPr lang="pt-BR" b="0" i="0" dirty="0">
                <a:solidFill>
                  <a:srgbClr val="374151"/>
                </a:solidFill>
                <a:effectLst/>
                <a:latin typeface="Söhne"/>
              </a:rPr>
              <a:t> A normalização das saídas é fundamental para o cálculo da função de perda adequada, que é usada durante o treinamento para ajustar os pesos do modelo. A função de perda geralmente é formulada com base nas probabilidades previstas e nas probabilidades reais das classes.</a:t>
            </a:r>
          </a:p>
          <a:p>
            <a:pPr algn="l">
              <a:buFont typeface="+mj-lt"/>
              <a:buAutoNum type="arabicPeriod"/>
            </a:pPr>
            <a:endParaRPr lang="pt-BR" b="1" i="0" dirty="0">
              <a:solidFill>
                <a:srgbClr val="374151"/>
              </a:solidFill>
              <a:effectLst/>
              <a:latin typeface="Söhne"/>
            </a:endParaRPr>
          </a:p>
          <a:p>
            <a:pPr algn="l">
              <a:buFont typeface="+mj-lt"/>
              <a:buAutoNum type="arabicPeriod"/>
            </a:pPr>
            <a:r>
              <a:rPr lang="pt-BR" b="1" i="0" dirty="0">
                <a:solidFill>
                  <a:srgbClr val="374151"/>
                </a:solidFill>
                <a:effectLst/>
                <a:latin typeface="Söhne"/>
              </a:rPr>
              <a:t>Estabilidade Numérica:</a:t>
            </a:r>
            <a:r>
              <a:rPr lang="pt-BR" b="0" i="0" dirty="0">
                <a:solidFill>
                  <a:srgbClr val="374151"/>
                </a:solidFill>
                <a:effectLst/>
                <a:latin typeface="Söhne"/>
              </a:rPr>
              <a:t> Normalizar as combinações de atributos ajuda a evitar problemas de estabilidade numérica, especialmente quando as combinações podem ser grandes números. Isso ocorre porque a exponenciação de grandes valores pode resultar em números muito grandes, levando a instabilidade computacional. A normalização ajuda a controlar isso.</a:t>
            </a:r>
          </a:p>
          <a:p>
            <a:pPr algn="l"/>
            <a:endParaRPr lang="pt-BR" b="0" i="0" dirty="0">
              <a:solidFill>
                <a:srgbClr val="374151"/>
              </a:solidFill>
              <a:effectLst/>
              <a:latin typeface="Söhne"/>
            </a:endParaRPr>
          </a:p>
          <a:p>
            <a:pPr algn="l"/>
            <a:r>
              <a:rPr lang="pt-BR" b="0" i="0" dirty="0">
                <a:solidFill>
                  <a:srgbClr val="374151"/>
                </a:solidFill>
                <a:effectLst/>
                <a:latin typeface="Söhne"/>
              </a:rPr>
              <a:t>Em resumo, a normalização das combinações de atributos no regressor softmax é fundamental para garantir que as saídas do modelo sejam interpretáveis como probabilidades e para garantir um treinamento estável e adequado. Usar as próprias combinações sem normalização não forneceria as probabilidades desejadas e levaria a problemas de interpretação e treinamento.</a:t>
            </a:r>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18</a:t>
            </a:fld>
            <a:endParaRPr lang="pt-BR"/>
          </a:p>
        </p:txBody>
      </p:sp>
    </p:spTree>
    <p:extLst>
      <p:ext uri="{BB962C8B-B14F-4D97-AF65-F5344CB8AC3E}">
        <p14:creationId xmlns:p14="http://schemas.microsoft.com/office/powerpoint/2010/main" val="20960469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Espaço Reservado para Anotações 2"/>
              <p:cNvSpPr>
                <a:spLocks noGrp="1"/>
              </p:cNvSpPr>
              <p:nvPr>
                <p:ph type="body" idx="1"/>
              </p:nvPr>
            </p:nvSpPr>
            <p:spPr/>
            <p:txBody>
              <a:bodyPr/>
              <a:lstStyle/>
              <a:p>
                <a:r>
                  <a:rPr lang="pt-BR" b="1" dirty="0"/>
                  <a:t>Exemplo</a:t>
                </a:r>
                <a:r>
                  <a:rPr lang="pt-BR" dirty="0"/>
                  <a:t>:</a:t>
                </a:r>
                <a:r>
                  <a:rPr lang="pt-BR" baseline="0" dirty="0"/>
                  <a:t> </a:t>
                </a:r>
                <a:r>
                  <a:rPr lang="pt-BR" dirty="0"/>
                  <a:t>https://colab.research.google.com/github/zz4fap/t320_aprendizado_de_maquina/blob/main/notebooks/classificação/</a:t>
                </a:r>
                <a:r>
                  <a:rPr lang="pt-BR" dirty="0" err="1"/>
                  <a:t>softmax_regressor_with_scikit_learn.ipynb</a:t>
                </a:r>
                <a:endParaRPr lang="pt-BR" dirty="0"/>
              </a:p>
              <a:p>
                <a:endParaRPr lang="pt-BR" b="1"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Assim como o classificador de </a:t>
                </a:r>
                <a:r>
                  <a:rPr lang="pt-BR" b="1" i="1" dirty="0"/>
                  <a:t>regressão logística</a:t>
                </a:r>
                <a:r>
                  <a:rPr lang="pt-BR" dirty="0"/>
                  <a:t>, o classificador de </a:t>
                </a:r>
                <a:r>
                  <a:rPr lang="pt-BR" b="1" i="1" dirty="0"/>
                  <a:t>regressão softmax</a:t>
                </a:r>
                <a:r>
                  <a:rPr lang="pt-BR" dirty="0"/>
                  <a:t> prevê a classe com a maior probabilidade estimada (que é simplesmente a classe com a maior valor para o produto escalar </a:t>
                </a:r>
                <a14:m>
                  <m:oMath xmlns:m="http://schemas.openxmlformats.org/officeDocument/2006/math">
                    <m:sSup>
                      <m:sSupPr>
                        <m:ctrlPr>
                          <a:rPr lang="pt-BR" i="1">
                            <a:latin typeface="Cambria Math" panose="02040503050406030204" pitchFamily="18" charset="0"/>
                          </a:rPr>
                        </m:ctrlPr>
                      </m:sSupPr>
                      <m:e>
                        <m:r>
                          <a:rPr lang="pt-BR" b="1" i="1">
                            <a:latin typeface="Cambria Math" panose="02040503050406030204" pitchFamily="18" charset="0"/>
                          </a:rPr>
                          <m:t>𝒙</m:t>
                        </m:r>
                        <m:r>
                          <a:rPr lang="pt-BR" i="1">
                            <a:latin typeface="Cambria Math" panose="02040503050406030204" pitchFamily="18" charset="0"/>
                          </a:rPr>
                          <m:t>(</m:t>
                        </m:r>
                        <m:r>
                          <a:rPr lang="pt-BR" i="1">
                            <a:latin typeface="Cambria Math" panose="02040503050406030204" pitchFamily="18" charset="0"/>
                          </a:rPr>
                          <m:t>𝑖</m:t>
                        </m:r>
                        <m:r>
                          <a:rPr lang="pt-BR" i="1">
                            <a:latin typeface="Cambria Math" panose="02040503050406030204" pitchFamily="18" charset="0"/>
                          </a:rPr>
                          <m:t>)</m:t>
                        </m:r>
                      </m:e>
                      <m:sup>
                        <m:r>
                          <a:rPr lang="pt-BR" i="1">
                            <a:latin typeface="Cambria Math" panose="02040503050406030204" pitchFamily="18" charset="0"/>
                          </a:rPr>
                          <m:t>𝑇</m:t>
                        </m:r>
                      </m:sup>
                    </m:sSup>
                    <m:sSub>
                      <m:sSubPr>
                        <m:ctrlPr>
                          <a:rPr lang="pt-BR" b="1" i="1">
                            <a:latin typeface="Cambria Math" panose="02040503050406030204" pitchFamily="18" charset="0"/>
                          </a:rPr>
                        </m:ctrlPr>
                      </m:sSubPr>
                      <m:e>
                        <m:r>
                          <a:rPr lang="pt-BR" b="1" i="1">
                            <a:latin typeface="Cambria Math" panose="02040503050406030204" pitchFamily="18" charset="0"/>
                          </a:rPr>
                          <m:t>𝒂</m:t>
                        </m:r>
                      </m:e>
                      <m:sub>
                        <m:r>
                          <a:rPr lang="pt-BR" i="1">
                            <a:latin typeface="Cambria Math" panose="02040503050406030204" pitchFamily="18" charset="0"/>
                          </a:rPr>
                          <m:t>𝑞</m:t>
                        </m:r>
                      </m:sub>
                    </m:sSub>
                  </m:oMath>
                </a14:m>
                <a:r>
                  <a:rPr lang="pt-BR" dirty="0"/>
                  <a:t>).</a:t>
                </a:r>
              </a:p>
              <a:p>
                <a:endParaRPr lang="pt-BR" b="1" dirty="0"/>
              </a:p>
              <a:p>
                <a:endParaRPr lang="pt-BR" dirty="0"/>
              </a:p>
            </p:txBody>
          </p:sp>
        </mc:Choice>
        <mc:Fallback xmlns="">
          <p:sp>
            <p:nvSpPr>
              <p:cNvPr id="3" name="Espaço Reservado para Anotações 2"/>
              <p:cNvSpPr>
                <a:spLocks noGrp="1"/>
              </p:cNvSpPr>
              <p:nvPr>
                <p:ph type="body" idx="1"/>
              </p:nvPr>
            </p:nvSpPr>
            <p:spPr/>
            <p:txBody>
              <a:bodyPr/>
              <a:lstStyle/>
              <a:p>
                <a:r>
                  <a:rPr lang="pt-BR" b="1" dirty="0"/>
                  <a:t>Exemplo</a:t>
                </a:r>
                <a:r>
                  <a:rPr lang="pt-BR" dirty="0"/>
                  <a:t>:</a:t>
                </a:r>
                <a:r>
                  <a:rPr lang="pt-BR" baseline="0" dirty="0"/>
                  <a:t> </a:t>
                </a:r>
                <a:r>
                  <a:rPr lang="pt-BR" dirty="0"/>
                  <a:t>https://colab.research.google.com/github/zz4fap/t320_aprendizado_de_maquina/blob/main/notebooks/classificação/</a:t>
                </a:r>
                <a:r>
                  <a:rPr lang="pt-BR" dirty="0" err="1"/>
                  <a:t>softmax_regressor_with_scikit_learn.ipynb</a:t>
                </a:r>
                <a:endParaRPr lang="pt-BR" dirty="0"/>
              </a:p>
              <a:p>
                <a:endParaRPr lang="pt-BR" b="1"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Assim como o classificador de </a:t>
                </a:r>
                <a:r>
                  <a:rPr lang="pt-BR" b="1" i="1" dirty="0"/>
                  <a:t>regressão logística</a:t>
                </a:r>
                <a:r>
                  <a:rPr lang="pt-BR" dirty="0"/>
                  <a:t>, o classificador de </a:t>
                </a:r>
                <a:r>
                  <a:rPr lang="pt-BR" b="1" i="1" dirty="0"/>
                  <a:t>regressão softmax</a:t>
                </a:r>
                <a:r>
                  <a:rPr lang="pt-BR" dirty="0"/>
                  <a:t> prevê a classe com a maior probabilidade estimada (que é simplesmente a classe com a maior valor para o produto escalar </a:t>
                </a:r>
                <a:r>
                  <a:rPr lang="pt-BR" i="0">
                    <a:latin typeface="Cambria Math" panose="02040503050406030204" pitchFamily="18" charset="0"/>
                  </a:rPr>
                  <a:t>〖</a:t>
                </a:r>
                <a:r>
                  <a:rPr lang="pt-BR" b="1" i="0">
                    <a:latin typeface="Cambria Math" panose="02040503050406030204" pitchFamily="18" charset="0"/>
                  </a:rPr>
                  <a:t>𝒙</a:t>
                </a:r>
                <a:r>
                  <a:rPr lang="pt-BR" i="0">
                    <a:latin typeface="Cambria Math" panose="02040503050406030204" pitchFamily="18" charset="0"/>
                  </a:rPr>
                  <a:t>(𝑖)〗^𝑇</a:t>
                </a:r>
                <a:r>
                  <a:rPr lang="pt-BR" b="1" i="0">
                    <a:latin typeface="Cambria Math" panose="02040503050406030204" pitchFamily="18" charset="0"/>
                  </a:rPr>
                  <a:t> 𝒂_</a:t>
                </a:r>
                <a:r>
                  <a:rPr lang="pt-BR" i="0">
                    <a:latin typeface="Cambria Math" panose="02040503050406030204" pitchFamily="18" charset="0"/>
                  </a:rPr>
                  <a:t>𝑞</a:t>
                </a:r>
                <a:r>
                  <a:rPr lang="pt-BR" dirty="0"/>
                  <a:t>).</a:t>
                </a:r>
              </a:p>
              <a:p>
                <a:endParaRPr lang="pt-BR" b="1" dirty="0"/>
              </a:p>
              <a:p>
                <a:endParaRPr lang="pt-BR" dirty="0"/>
              </a:p>
            </p:txBody>
          </p:sp>
        </mc:Fallback>
      </mc:AlternateContent>
      <p:sp>
        <p:nvSpPr>
          <p:cNvPr id="4" name="Espaço Reservado para Número de Slide 3"/>
          <p:cNvSpPr>
            <a:spLocks noGrp="1"/>
          </p:cNvSpPr>
          <p:nvPr>
            <p:ph type="sldNum" sz="quarter" idx="5"/>
          </p:nvPr>
        </p:nvSpPr>
        <p:spPr/>
        <p:txBody>
          <a:bodyPr/>
          <a:lstStyle/>
          <a:p>
            <a:fld id="{6FC8D850-966F-45A6-8DE7-15B891E7D40D}" type="slidenum">
              <a:rPr lang="pt-BR" smtClean="0"/>
              <a:t>19</a:t>
            </a:fld>
            <a:endParaRPr lang="pt-BR"/>
          </a:p>
        </p:txBody>
      </p:sp>
    </p:spTree>
    <p:extLst>
      <p:ext uri="{BB962C8B-B14F-4D97-AF65-F5344CB8AC3E}">
        <p14:creationId xmlns:p14="http://schemas.microsoft.com/office/powerpoint/2010/main" val="36676947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pt-BR" sz="1200" kern="1200" dirty="0">
                <a:solidFill>
                  <a:schemeClr val="tx1"/>
                </a:solidFill>
                <a:latin typeface="+mn-lt"/>
                <a:ea typeface="+mn-ea"/>
                <a:cs typeface="+mn-cs"/>
              </a:rPr>
              <a:t>https://colab.research.google.com/github/zz4fap/c24_inteligencia_artificial/blob/master/notebooks/regressor_softmax.ipynb</a:t>
            </a:r>
            <a:endParaRPr lang="en-US" dirty="0"/>
          </a:p>
        </p:txBody>
      </p:sp>
      <p:sp>
        <p:nvSpPr>
          <p:cNvPr id="4" name="Slide Number Placeholder 3"/>
          <p:cNvSpPr>
            <a:spLocks noGrp="1"/>
          </p:cNvSpPr>
          <p:nvPr>
            <p:ph type="sldNum" sz="quarter" idx="5"/>
          </p:nvPr>
        </p:nvSpPr>
        <p:spPr/>
        <p:txBody>
          <a:bodyPr/>
          <a:lstStyle/>
          <a:p>
            <a:fld id="{6FC8D850-966F-45A6-8DE7-15B891E7D40D}" type="slidenum">
              <a:rPr lang="pt-BR" smtClean="0"/>
              <a:t>20</a:t>
            </a:fld>
            <a:endParaRPr lang="pt-BR"/>
          </a:p>
        </p:txBody>
      </p:sp>
    </p:spTree>
    <p:extLst>
      <p:ext uri="{BB962C8B-B14F-4D97-AF65-F5344CB8AC3E}">
        <p14:creationId xmlns:p14="http://schemas.microsoft.com/office/powerpoint/2010/main" val="42056490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1DB9B4FF-B06E-403C-A326-BDC64D8FF94E}"/>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xmlns="" id="{247BDFCE-746E-45BF-A319-4733D58D16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xmlns="" id="{9EDE2778-5372-4104-B96D-968184DA8288}"/>
              </a:ext>
            </a:extLst>
          </p:cNvPr>
          <p:cNvSpPr>
            <a:spLocks noGrp="1"/>
          </p:cNvSpPr>
          <p:nvPr>
            <p:ph type="dt" sz="half" idx="10"/>
          </p:nvPr>
        </p:nvSpPr>
        <p:spPr/>
        <p:txBody>
          <a:bodyPr/>
          <a:lstStyle/>
          <a:p>
            <a:fld id="{63289F7E-B80B-496E-81B4-D396C37C9454}" type="datetimeFigureOut">
              <a:rPr lang="pt-BR" smtClean="0"/>
              <a:t>13/09/2026</a:t>
            </a:fld>
            <a:endParaRPr lang="pt-BR"/>
          </a:p>
        </p:txBody>
      </p:sp>
      <p:sp>
        <p:nvSpPr>
          <p:cNvPr id="5" name="Espaço Reservado para Rodapé 4">
            <a:extLst>
              <a:ext uri="{FF2B5EF4-FFF2-40B4-BE49-F238E27FC236}">
                <a16:creationId xmlns:a16="http://schemas.microsoft.com/office/drawing/2014/main" xmlns="" id="{C1DD0F41-C861-4051-988D-3024A37A4B93}"/>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xmlns="" id="{07E5967E-D980-431A-A5DB-3F0C5030A81E}"/>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36497542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71BD44A5-8F21-4626-A01D-48A1C874B1D5}"/>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xmlns="" id="{B79E8085-65A9-48AA-951D-71D978BFF4ED}"/>
              </a:ext>
            </a:extLst>
          </p:cNvPr>
          <p:cNvSpPr>
            <a:spLocks noGrp="1"/>
          </p:cNvSpPr>
          <p:nvPr>
            <p:ph idx="1"/>
          </p:nvPr>
        </p:nvSpPr>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xmlns="" id="{F05BE1AF-51EA-425D-B188-DE7BD675009F}"/>
              </a:ext>
            </a:extLst>
          </p:cNvPr>
          <p:cNvSpPr>
            <a:spLocks noGrp="1"/>
          </p:cNvSpPr>
          <p:nvPr>
            <p:ph type="dt" sz="half" idx="10"/>
          </p:nvPr>
        </p:nvSpPr>
        <p:spPr/>
        <p:txBody>
          <a:bodyPr/>
          <a:lstStyle/>
          <a:p>
            <a:fld id="{63289F7E-B80B-496E-81B4-D396C37C9454}" type="datetimeFigureOut">
              <a:rPr lang="pt-BR" smtClean="0"/>
              <a:t>13/09/2026</a:t>
            </a:fld>
            <a:endParaRPr lang="pt-BR"/>
          </a:p>
        </p:txBody>
      </p:sp>
      <p:sp>
        <p:nvSpPr>
          <p:cNvPr id="5" name="Espaço Reservado para Rodapé 4">
            <a:extLst>
              <a:ext uri="{FF2B5EF4-FFF2-40B4-BE49-F238E27FC236}">
                <a16:creationId xmlns:a16="http://schemas.microsoft.com/office/drawing/2014/main" xmlns="" id="{121BE632-29CF-4CB9-B365-C9EF38F89BE6}"/>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xmlns="" id="{60CF3DD1-9AEC-4A57-B461-4E4DD86FAC18}"/>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36879079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34AB2FF0-A4D7-4E28-991D-FF26140D5988}"/>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xmlns="" id="{E2AC45B0-4145-40DB-8E61-10546117060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Editar estilos de texto Mestre</a:t>
            </a:r>
          </a:p>
        </p:txBody>
      </p:sp>
      <p:sp>
        <p:nvSpPr>
          <p:cNvPr id="4" name="Espaço Reservado para Data 3">
            <a:extLst>
              <a:ext uri="{FF2B5EF4-FFF2-40B4-BE49-F238E27FC236}">
                <a16:creationId xmlns:a16="http://schemas.microsoft.com/office/drawing/2014/main" xmlns="" id="{50F1D3FB-740A-4EBA-A309-2CE71D12ECFB}"/>
              </a:ext>
            </a:extLst>
          </p:cNvPr>
          <p:cNvSpPr>
            <a:spLocks noGrp="1"/>
          </p:cNvSpPr>
          <p:nvPr>
            <p:ph type="dt" sz="half" idx="10"/>
          </p:nvPr>
        </p:nvSpPr>
        <p:spPr/>
        <p:txBody>
          <a:bodyPr/>
          <a:lstStyle/>
          <a:p>
            <a:fld id="{63289F7E-B80B-496E-81B4-D396C37C9454}" type="datetimeFigureOut">
              <a:rPr lang="pt-BR" smtClean="0"/>
              <a:t>13/09/2026</a:t>
            </a:fld>
            <a:endParaRPr lang="pt-BR"/>
          </a:p>
        </p:txBody>
      </p:sp>
      <p:sp>
        <p:nvSpPr>
          <p:cNvPr id="5" name="Espaço Reservado para Rodapé 4">
            <a:extLst>
              <a:ext uri="{FF2B5EF4-FFF2-40B4-BE49-F238E27FC236}">
                <a16:creationId xmlns:a16="http://schemas.microsoft.com/office/drawing/2014/main" xmlns="" id="{BDCAB18F-8715-4465-A940-F9C193A2ACE9}"/>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xmlns="" id="{353466C6-8248-429F-8056-FF040BF509EB}"/>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24652279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BC7BB9F0-F14B-4A91-B2B7-35BC47FE4DE7}"/>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xmlns="" id="{EC1FC1C4-73DA-47A6-8496-B0B457F7D39A}"/>
              </a:ext>
            </a:extLst>
          </p:cNvPr>
          <p:cNvSpPr>
            <a:spLocks noGrp="1"/>
          </p:cNvSpPr>
          <p:nvPr>
            <p:ph sz="half" idx="1"/>
          </p:nvPr>
        </p:nvSpPr>
        <p:spPr>
          <a:xfrm>
            <a:off x="838200" y="1825625"/>
            <a:ext cx="5181600" cy="435133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xmlns="" id="{E92F06A8-A449-4D92-9912-76873E529B38}"/>
              </a:ext>
            </a:extLst>
          </p:cNvPr>
          <p:cNvSpPr>
            <a:spLocks noGrp="1"/>
          </p:cNvSpPr>
          <p:nvPr>
            <p:ph sz="half" idx="2"/>
          </p:nvPr>
        </p:nvSpPr>
        <p:spPr>
          <a:xfrm>
            <a:off x="6172200" y="1825625"/>
            <a:ext cx="5181600" cy="435133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xmlns="" id="{938070A4-BC2F-4D55-BD8D-DEAF11BB9EE9}"/>
              </a:ext>
            </a:extLst>
          </p:cNvPr>
          <p:cNvSpPr>
            <a:spLocks noGrp="1"/>
          </p:cNvSpPr>
          <p:nvPr>
            <p:ph type="dt" sz="half" idx="10"/>
          </p:nvPr>
        </p:nvSpPr>
        <p:spPr/>
        <p:txBody>
          <a:bodyPr/>
          <a:lstStyle/>
          <a:p>
            <a:fld id="{63289F7E-B80B-496E-81B4-D396C37C9454}" type="datetimeFigureOut">
              <a:rPr lang="pt-BR" smtClean="0"/>
              <a:t>13/09/2026</a:t>
            </a:fld>
            <a:endParaRPr lang="pt-BR"/>
          </a:p>
        </p:txBody>
      </p:sp>
      <p:sp>
        <p:nvSpPr>
          <p:cNvPr id="6" name="Espaço Reservado para Rodapé 5">
            <a:extLst>
              <a:ext uri="{FF2B5EF4-FFF2-40B4-BE49-F238E27FC236}">
                <a16:creationId xmlns:a16="http://schemas.microsoft.com/office/drawing/2014/main" xmlns="" id="{45CC2DB8-844A-465F-BA9A-7734C80C7F43}"/>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xmlns="" id="{4CC606A8-097B-4040-94E0-CD8C88280D8F}"/>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38985444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76D66686-0143-4CB6-8C09-BA326F1E7ACA}"/>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xmlns="" id="{0227AB85-F59E-4BCE-B846-4FA0992C2F2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4" name="Espaço Reservado para Conteúdo 3">
            <a:extLst>
              <a:ext uri="{FF2B5EF4-FFF2-40B4-BE49-F238E27FC236}">
                <a16:creationId xmlns:a16="http://schemas.microsoft.com/office/drawing/2014/main" xmlns="" id="{3373456C-7319-4D0A-827D-D29F6B083F5D}"/>
              </a:ext>
            </a:extLst>
          </p:cNvPr>
          <p:cNvSpPr>
            <a:spLocks noGrp="1"/>
          </p:cNvSpPr>
          <p:nvPr>
            <p:ph sz="half" idx="2"/>
          </p:nvPr>
        </p:nvSpPr>
        <p:spPr>
          <a:xfrm>
            <a:off x="839788" y="2505075"/>
            <a:ext cx="5157787" cy="368458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xmlns="" id="{4CD109D0-2E83-4262-8029-A871CEC474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6" name="Espaço Reservado para Conteúdo 5">
            <a:extLst>
              <a:ext uri="{FF2B5EF4-FFF2-40B4-BE49-F238E27FC236}">
                <a16:creationId xmlns:a16="http://schemas.microsoft.com/office/drawing/2014/main" xmlns="" id="{AD706E3A-CFBB-4A6C-A65F-D0360A9E74FE}"/>
              </a:ext>
            </a:extLst>
          </p:cNvPr>
          <p:cNvSpPr>
            <a:spLocks noGrp="1"/>
          </p:cNvSpPr>
          <p:nvPr>
            <p:ph sz="quarter" idx="4"/>
          </p:nvPr>
        </p:nvSpPr>
        <p:spPr>
          <a:xfrm>
            <a:off x="6172200" y="2505075"/>
            <a:ext cx="5183188" cy="368458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xmlns="" id="{4172C0E5-5AF0-4805-BB51-443733CD2BD5}"/>
              </a:ext>
            </a:extLst>
          </p:cNvPr>
          <p:cNvSpPr>
            <a:spLocks noGrp="1"/>
          </p:cNvSpPr>
          <p:nvPr>
            <p:ph type="dt" sz="half" idx="10"/>
          </p:nvPr>
        </p:nvSpPr>
        <p:spPr/>
        <p:txBody>
          <a:bodyPr/>
          <a:lstStyle/>
          <a:p>
            <a:fld id="{63289F7E-B80B-496E-81B4-D396C37C9454}" type="datetimeFigureOut">
              <a:rPr lang="pt-BR" smtClean="0"/>
              <a:t>13/09/2026</a:t>
            </a:fld>
            <a:endParaRPr lang="pt-BR"/>
          </a:p>
        </p:txBody>
      </p:sp>
      <p:sp>
        <p:nvSpPr>
          <p:cNvPr id="8" name="Espaço Reservado para Rodapé 7">
            <a:extLst>
              <a:ext uri="{FF2B5EF4-FFF2-40B4-BE49-F238E27FC236}">
                <a16:creationId xmlns:a16="http://schemas.microsoft.com/office/drawing/2014/main" xmlns="" id="{0E801648-156F-497E-99CF-797DF48051E1}"/>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xmlns="" id="{EEE23D32-80E7-4796-A137-66BF842E4B53}"/>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372245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2BCE2379-C78F-47E1-8CFC-B846E7AF148D}"/>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xmlns="" id="{342600A9-7F92-4E22-9D94-E4717252A817}"/>
              </a:ext>
            </a:extLst>
          </p:cNvPr>
          <p:cNvSpPr>
            <a:spLocks noGrp="1"/>
          </p:cNvSpPr>
          <p:nvPr>
            <p:ph type="dt" sz="half" idx="10"/>
          </p:nvPr>
        </p:nvSpPr>
        <p:spPr/>
        <p:txBody>
          <a:bodyPr/>
          <a:lstStyle/>
          <a:p>
            <a:fld id="{63289F7E-B80B-496E-81B4-D396C37C9454}" type="datetimeFigureOut">
              <a:rPr lang="pt-BR" smtClean="0"/>
              <a:t>13/09/2026</a:t>
            </a:fld>
            <a:endParaRPr lang="pt-BR"/>
          </a:p>
        </p:txBody>
      </p:sp>
      <p:sp>
        <p:nvSpPr>
          <p:cNvPr id="4" name="Espaço Reservado para Rodapé 3">
            <a:extLst>
              <a:ext uri="{FF2B5EF4-FFF2-40B4-BE49-F238E27FC236}">
                <a16:creationId xmlns:a16="http://schemas.microsoft.com/office/drawing/2014/main" xmlns="" id="{192E6BED-F546-40CC-A2DF-99CBA853654E}"/>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xmlns="" id="{6091CC40-A8C4-4063-80EB-CC5099621678}"/>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224413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xmlns="" id="{DD19515C-212C-4EAE-84A3-8FF4BC844F1B}"/>
              </a:ext>
            </a:extLst>
          </p:cNvPr>
          <p:cNvSpPr>
            <a:spLocks noGrp="1"/>
          </p:cNvSpPr>
          <p:nvPr>
            <p:ph type="dt" sz="half" idx="10"/>
          </p:nvPr>
        </p:nvSpPr>
        <p:spPr/>
        <p:txBody>
          <a:bodyPr/>
          <a:lstStyle/>
          <a:p>
            <a:fld id="{63289F7E-B80B-496E-81B4-D396C37C9454}" type="datetimeFigureOut">
              <a:rPr lang="pt-BR" smtClean="0"/>
              <a:t>13/09/2026</a:t>
            </a:fld>
            <a:endParaRPr lang="pt-BR"/>
          </a:p>
        </p:txBody>
      </p:sp>
      <p:sp>
        <p:nvSpPr>
          <p:cNvPr id="3" name="Espaço Reservado para Rodapé 2">
            <a:extLst>
              <a:ext uri="{FF2B5EF4-FFF2-40B4-BE49-F238E27FC236}">
                <a16:creationId xmlns:a16="http://schemas.microsoft.com/office/drawing/2014/main" xmlns="" id="{94D3D120-B3E8-4C96-861D-7A4F12F49B3A}"/>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xmlns="" id="{42E49B68-FA1B-468B-9F17-D5C09243D454}"/>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31812321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1C17BCBE-A897-4319-85EC-D87909C24980}"/>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xmlns="" id="{4226F885-0204-4913-868B-4B8B82576F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xmlns="" id="{00F9F784-A858-441B-8AB5-6970981417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Editar estilos de texto Mestre</a:t>
            </a:r>
          </a:p>
        </p:txBody>
      </p:sp>
      <p:sp>
        <p:nvSpPr>
          <p:cNvPr id="5" name="Espaço Reservado para Data 4">
            <a:extLst>
              <a:ext uri="{FF2B5EF4-FFF2-40B4-BE49-F238E27FC236}">
                <a16:creationId xmlns:a16="http://schemas.microsoft.com/office/drawing/2014/main" xmlns="" id="{A4DC363A-5000-472E-8B17-02E7DCB8840A}"/>
              </a:ext>
            </a:extLst>
          </p:cNvPr>
          <p:cNvSpPr>
            <a:spLocks noGrp="1"/>
          </p:cNvSpPr>
          <p:nvPr>
            <p:ph type="dt" sz="half" idx="10"/>
          </p:nvPr>
        </p:nvSpPr>
        <p:spPr/>
        <p:txBody>
          <a:bodyPr/>
          <a:lstStyle/>
          <a:p>
            <a:fld id="{63289F7E-B80B-496E-81B4-D396C37C9454}" type="datetimeFigureOut">
              <a:rPr lang="pt-BR" smtClean="0"/>
              <a:t>13/09/2026</a:t>
            </a:fld>
            <a:endParaRPr lang="pt-BR"/>
          </a:p>
        </p:txBody>
      </p:sp>
      <p:sp>
        <p:nvSpPr>
          <p:cNvPr id="6" name="Espaço Reservado para Rodapé 5">
            <a:extLst>
              <a:ext uri="{FF2B5EF4-FFF2-40B4-BE49-F238E27FC236}">
                <a16:creationId xmlns:a16="http://schemas.microsoft.com/office/drawing/2014/main" xmlns="" id="{5548425D-2C21-4C56-BAD4-662978775C28}"/>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xmlns="" id="{C63E9726-E64C-42B2-AE8A-8C235A956B48}"/>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25886100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11086A78-3E74-450C-96A6-CA8AC37AF772}"/>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xmlns="" id="{5F5B7312-975A-4DBC-9B2F-3652ADA006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xmlns="" id="{AAF805F5-1DFF-41C6-944C-7D79FE0D09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Editar estilos de texto Mestre</a:t>
            </a:r>
          </a:p>
        </p:txBody>
      </p:sp>
      <p:sp>
        <p:nvSpPr>
          <p:cNvPr id="5" name="Espaço Reservado para Data 4">
            <a:extLst>
              <a:ext uri="{FF2B5EF4-FFF2-40B4-BE49-F238E27FC236}">
                <a16:creationId xmlns:a16="http://schemas.microsoft.com/office/drawing/2014/main" xmlns="" id="{02113D81-8665-4516-BD81-C6A1F254EECD}"/>
              </a:ext>
            </a:extLst>
          </p:cNvPr>
          <p:cNvSpPr>
            <a:spLocks noGrp="1"/>
          </p:cNvSpPr>
          <p:nvPr>
            <p:ph type="dt" sz="half" idx="10"/>
          </p:nvPr>
        </p:nvSpPr>
        <p:spPr/>
        <p:txBody>
          <a:bodyPr/>
          <a:lstStyle/>
          <a:p>
            <a:fld id="{63289F7E-B80B-496E-81B4-D396C37C9454}" type="datetimeFigureOut">
              <a:rPr lang="pt-BR" smtClean="0"/>
              <a:t>13/09/2026</a:t>
            </a:fld>
            <a:endParaRPr lang="pt-BR"/>
          </a:p>
        </p:txBody>
      </p:sp>
      <p:sp>
        <p:nvSpPr>
          <p:cNvPr id="6" name="Espaço Reservado para Rodapé 5">
            <a:extLst>
              <a:ext uri="{FF2B5EF4-FFF2-40B4-BE49-F238E27FC236}">
                <a16:creationId xmlns:a16="http://schemas.microsoft.com/office/drawing/2014/main" xmlns="" id="{2B00C88B-FF32-40AA-A187-727D96FD7862}"/>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xmlns="" id="{A04D1A2D-69F7-4B8F-A730-BC26DC340BA6}"/>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20346468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9036C49F-3E68-4175-81BA-3C3FEE44308A}"/>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xmlns="" id="{426FA736-3DD3-4D4E-B57B-BBE1D8F7D424}"/>
              </a:ext>
            </a:extLst>
          </p:cNvPr>
          <p:cNvSpPr>
            <a:spLocks noGrp="1"/>
          </p:cNvSpPr>
          <p:nvPr>
            <p:ph type="body" orient="vert" idx="1"/>
          </p:nvPr>
        </p:nvSpPr>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xmlns="" id="{99E8855C-D8FD-48F6-B14E-861E0DE4D915}"/>
              </a:ext>
            </a:extLst>
          </p:cNvPr>
          <p:cNvSpPr>
            <a:spLocks noGrp="1"/>
          </p:cNvSpPr>
          <p:nvPr>
            <p:ph type="dt" sz="half" idx="10"/>
          </p:nvPr>
        </p:nvSpPr>
        <p:spPr/>
        <p:txBody>
          <a:bodyPr/>
          <a:lstStyle/>
          <a:p>
            <a:fld id="{63289F7E-B80B-496E-81B4-D396C37C9454}" type="datetimeFigureOut">
              <a:rPr lang="pt-BR" smtClean="0"/>
              <a:t>13/09/2026</a:t>
            </a:fld>
            <a:endParaRPr lang="pt-BR"/>
          </a:p>
        </p:txBody>
      </p:sp>
      <p:sp>
        <p:nvSpPr>
          <p:cNvPr id="5" name="Espaço Reservado para Rodapé 4">
            <a:extLst>
              <a:ext uri="{FF2B5EF4-FFF2-40B4-BE49-F238E27FC236}">
                <a16:creationId xmlns:a16="http://schemas.microsoft.com/office/drawing/2014/main" xmlns="" id="{97C0BB88-2F21-42A5-ACFF-83DA47F2D340}"/>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xmlns="" id="{6CB462B3-1F22-4C05-B4B8-7A279FB7D5E9}"/>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553481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xmlns="" id="{EAEAB728-701C-4207-A9D5-23FF45C60502}"/>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xmlns="" id="{BA8C8CCF-7823-480A-9A19-0F664DD17E3B}"/>
              </a:ext>
            </a:extLst>
          </p:cNvPr>
          <p:cNvSpPr>
            <a:spLocks noGrp="1"/>
          </p:cNvSpPr>
          <p:nvPr>
            <p:ph type="body" orient="vert" idx="1"/>
          </p:nvPr>
        </p:nvSpPr>
        <p:spPr>
          <a:xfrm>
            <a:off x="838200" y="365125"/>
            <a:ext cx="7734300" cy="5811838"/>
          </a:xfrm>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xmlns="" id="{721D5734-7B1F-425D-942F-6EB73344027C}"/>
              </a:ext>
            </a:extLst>
          </p:cNvPr>
          <p:cNvSpPr>
            <a:spLocks noGrp="1"/>
          </p:cNvSpPr>
          <p:nvPr>
            <p:ph type="dt" sz="half" idx="10"/>
          </p:nvPr>
        </p:nvSpPr>
        <p:spPr/>
        <p:txBody>
          <a:bodyPr/>
          <a:lstStyle/>
          <a:p>
            <a:fld id="{63289F7E-B80B-496E-81B4-D396C37C9454}" type="datetimeFigureOut">
              <a:rPr lang="pt-BR" smtClean="0"/>
              <a:t>13/09/2026</a:t>
            </a:fld>
            <a:endParaRPr lang="pt-BR"/>
          </a:p>
        </p:txBody>
      </p:sp>
      <p:sp>
        <p:nvSpPr>
          <p:cNvPr id="5" name="Espaço Reservado para Rodapé 4">
            <a:extLst>
              <a:ext uri="{FF2B5EF4-FFF2-40B4-BE49-F238E27FC236}">
                <a16:creationId xmlns:a16="http://schemas.microsoft.com/office/drawing/2014/main" xmlns="" id="{1E1AAEAC-F08D-45FE-89EC-B1B349A868C9}"/>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xmlns="" id="{BAA44493-9911-47B2-87A6-C2141A972BC8}"/>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2182454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xmlns="" id="{E69A0273-1966-4A1B-9370-4C1CE50363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xmlns="" id="{3B9CF87A-0448-49A7-AB25-EBC1D56A40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xmlns="" id="{2EF7B1F2-BB5A-44D0-816D-16AD2C7143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289F7E-B80B-496E-81B4-D396C37C9454}" type="datetimeFigureOut">
              <a:rPr lang="pt-BR" smtClean="0"/>
              <a:t>13/09/2026</a:t>
            </a:fld>
            <a:endParaRPr lang="pt-BR"/>
          </a:p>
        </p:txBody>
      </p:sp>
      <p:sp>
        <p:nvSpPr>
          <p:cNvPr id="5" name="Espaço Reservado para Rodapé 4">
            <a:extLst>
              <a:ext uri="{FF2B5EF4-FFF2-40B4-BE49-F238E27FC236}">
                <a16:creationId xmlns:a16="http://schemas.microsoft.com/office/drawing/2014/main" xmlns="" id="{C703F94C-2CC8-4DAA-BC35-14FC3E841D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a:extLst>
              <a:ext uri="{FF2B5EF4-FFF2-40B4-BE49-F238E27FC236}">
                <a16:creationId xmlns:a16="http://schemas.microsoft.com/office/drawing/2014/main" xmlns="" id="{64051336-7048-457A-8B61-D94291D716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7E88B7-70CE-4035-AE73-13FA6FB985D4}" type="slidenum">
              <a:rPr lang="pt-BR" smtClean="0"/>
              <a:t>‹nº›</a:t>
            </a:fld>
            <a:endParaRPr lang="pt-BR"/>
          </a:p>
        </p:txBody>
      </p:sp>
    </p:spTree>
    <p:extLst>
      <p:ext uri="{BB962C8B-B14F-4D97-AF65-F5344CB8AC3E}">
        <p14:creationId xmlns:p14="http://schemas.microsoft.com/office/powerpoint/2010/main" val="28362929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felipe.figueiredo@Inatel.br"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NUL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NUL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hyperlink" Target="https://colab.research.google.com/github/zz4fap/c24_inteligencia_artificial/blob/master/notebooks/regressor_softmax.ipynb"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jpeg"/><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2" Type="http://schemas.openxmlformats.org/officeDocument/2006/relationships/hyperlink" Target="https://github.com/zz4fap/c24_inteligencia_artificial/blob/main/listas/Lista%207%20-%20Regress%C3%A3o%20softmax.pdf"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NULL"/><Relationship Id="rId7" Type="http://schemas.openxmlformats.org/officeDocument/2006/relationships/image" Target="../media/image27.png"/><Relationship Id="rId2" Type="http://schemas.openxmlformats.org/officeDocument/2006/relationships/image" Target="NUL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0.png"/><Relationship Id="rId10" Type="http://schemas.openxmlformats.org/officeDocument/2006/relationships/image" Target="../media/image30.png"/><Relationship Id="rId4" Type="http://schemas.openxmlformats.org/officeDocument/2006/relationships/image" Target="NULL"/><Relationship Id="rId9" Type="http://schemas.openxmlformats.org/officeDocument/2006/relationships/image" Target="../media/image29.png"/></Relationships>
</file>

<file path=ppt/slides/_rels/slide26.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image" Target="../media/image26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xmlns="" id="{430EB894-B7D4-434C-9D1A-A14094D9BEEC}"/>
              </a:ext>
            </a:extLst>
          </p:cNvPr>
          <p:cNvSpPr txBox="1"/>
          <p:nvPr/>
        </p:nvSpPr>
        <p:spPr>
          <a:xfrm>
            <a:off x="7915801" y="5780602"/>
            <a:ext cx="4004345" cy="677108"/>
          </a:xfrm>
          <a:prstGeom prst="rect">
            <a:avLst/>
          </a:prstGeom>
          <a:noFill/>
        </p:spPr>
        <p:txBody>
          <a:bodyPr wrap="square" rtlCol="0">
            <a:spAutoFit/>
          </a:bodyPr>
          <a:lstStyle/>
          <a:p>
            <a:r>
              <a:rPr lang="pt-BR" sz="2000" dirty="0"/>
              <a:t>Felipe A. P. de Figueiredo</a:t>
            </a:r>
          </a:p>
          <a:p>
            <a:r>
              <a:rPr lang="pt-BR" dirty="0">
                <a:hlinkClick r:id="rId3"/>
              </a:rPr>
              <a:t>felipe.figueiredo@Inatel.br</a:t>
            </a:r>
            <a:endParaRPr lang="pt-BR" dirty="0"/>
          </a:p>
        </p:txBody>
      </p:sp>
      <p:pic>
        <p:nvPicPr>
          <p:cNvPr id="1026" name="Picture 2" descr="Logo">
            <a:extLst>
              <a:ext uri="{FF2B5EF4-FFF2-40B4-BE49-F238E27FC236}">
                <a16:creationId xmlns:a16="http://schemas.microsoft.com/office/drawing/2014/main" xmlns="" id="{3F2642E0-4F6A-4196-8F58-E77D36E9A33F}"/>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28759" b="28872"/>
          <a:stretch/>
        </p:blipFill>
        <p:spPr bwMode="auto">
          <a:xfrm>
            <a:off x="393306" y="5780602"/>
            <a:ext cx="2261388" cy="677109"/>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Image result for machine learning">
            <a:extLst>
              <a:ext uri="{FF2B5EF4-FFF2-40B4-BE49-F238E27FC236}">
                <a16:creationId xmlns:a16="http://schemas.microsoft.com/office/drawing/2014/main" xmlns="" id="{810CE0A2-4102-44A6-A370-175E7896CDCB}"/>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20193" t="8107" r="14530" b="5794"/>
          <a:stretch/>
        </p:blipFill>
        <p:spPr bwMode="auto">
          <a:xfrm>
            <a:off x="4965305" y="3439886"/>
            <a:ext cx="2261389" cy="2237061"/>
          </a:xfrm>
          <a:prstGeom prst="rect">
            <a:avLst/>
          </a:prstGeom>
          <a:noFill/>
          <a:extLst>
            <a:ext uri="{909E8E84-426E-40DD-AFC4-6F175D3DCCD1}">
              <a14:hiddenFill xmlns:a14="http://schemas.microsoft.com/office/drawing/2010/main">
                <a:solidFill>
                  <a:srgbClr val="FFFFFF"/>
                </a:solidFill>
              </a14:hiddenFill>
            </a:ext>
          </a:extLst>
        </p:spPr>
      </p:pic>
      <p:sp>
        <p:nvSpPr>
          <p:cNvPr id="7" name="Título 1">
            <a:extLst>
              <a:ext uri="{FF2B5EF4-FFF2-40B4-BE49-F238E27FC236}">
                <a16:creationId xmlns:a16="http://schemas.microsoft.com/office/drawing/2014/main" xmlns="" id="{32666AC8-2E17-4DB4-B0F5-60C640CCFD2E}"/>
              </a:ext>
            </a:extLst>
          </p:cNvPr>
          <p:cNvSpPr>
            <a:spLocks noGrp="1"/>
          </p:cNvSpPr>
          <p:nvPr>
            <p:ph type="ctrTitle"/>
          </p:nvPr>
        </p:nvSpPr>
        <p:spPr>
          <a:xfrm>
            <a:off x="631767" y="836433"/>
            <a:ext cx="10906298" cy="2690156"/>
          </a:xfrm>
        </p:spPr>
        <p:txBody>
          <a:bodyPr anchor="ctr">
            <a:noAutofit/>
          </a:bodyPr>
          <a:lstStyle/>
          <a:p>
            <a:r>
              <a:rPr lang="pt-BR" sz="6600" dirty="0"/>
              <a:t>C24 – Inteligência Artificial:</a:t>
            </a:r>
            <a:r>
              <a:rPr lang="pt-BR" sz="7200" dirty="0"/>
              <a:t/>
            </a:r>
            <a:br>
              <a:rPr lang="pt-BR" sz="7200" dirty="0"/>
            </a:br>
            <a:r>
              <a:rPr lang="pt-BR" sz="7200" b="1" i="1" dirty="0" err="1"/>
              <a:t>Regressor</a:t>
            </a:r>
            <a:r>
              <a:rPr lang="pt-BR" sz="7200" b="1" i="1" dirty="0"/>
              <a:t> </a:t>
            </a:r>
            <a:r>
              <a:rPr lang="pt-BR" sz="7200" b="1" i="1" dirty="0" err="1"/>
              <a:t>Softmax</a:t>
            </a:r>
            <a:endParaRPr lang="pt-BR" sz="7200" b="1" i="1" dirty="0"/>
          </a:p>
        </p:txBody>
      </p:sp>
    </p:spTree>
    <p:extLst>
      <p:ext uri="{BB962C8B-B14F-4D97-AF65-F5344CB8AC3E}">
        <p14:creationId xmlns:p14="http://schemas.microsoft.com/office/powerpoint/2010/main" val="6866526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Casos multiclasses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638799" y="1784680"/>
                <a:ext cx="6444343" cy="5073320"/>
              </a:xfrm>
            </p:spPr>
            <p:txBody>
              <a:bodyPr>
                <a:normAutofit/>
              </a:bodyPr>
              <a:lstStyle/>
              <a:p>
                <a:r>
                  <a:rPr lang="pt-BR" dirty="0"/>
                  <a:t>Até agora, nós vimos como classificar utilizando a </a:t>
                </a:r>
                <a:r>
                  <a:rPr lang="pt-BR" b="1" dirty="0"/>
                  <a:t>regressão logística</a:t>
                </a:r>
                <a:r>
                  <a:rPr lang="pt-BR" dirty="0"/>
                  <a:t>.</a:t>
                </a:r>
              </a:p>
              <a:p>
                <a:pPr lvl="1">
                  <a:buFont typeface="Wingdings" panose="05000000000000000000" pitchFamily="2" charset="2"/>
                  <a:buChar char="§"/>
                </a:pPr>
                <a:r>
                  <a:rPr lang="pt-BR" dirty="0"/>
                  <a:t>Classificação binária.</a:t>
                </a:r>
              </a:p>
              <a:p>
                <a:r>
                  <a:rPr lang="pt-BR" dirty="0"/>
                  <a:t>Mas e quando o problema possuir mais de 2 classes (i.e., </a:t>
                </a:r>
                <a14:m>
                  <m:oMath xmlns:m="http://schemas.openxmlformats.org/officeDocument/2006/math">
                    <m:r>
                      <a:rPr lang="pt-BR" i="1">
                        <a:latin typeface="Cambria Math" panose="02040503050406030204" pitchFamily="18" charset="0"/>
                      </a:rPr>
                      <m:t>𝑄</m:t>
                    </m:r>
                    <m:r>
                      <a:rPr lang="pt-BR" b="0" i="1" smtClean="0">
                        <a:latin typeface="Cambria Math" panose="02040503050406030204" pitchFamily="18" charset="0"/>
                      </a:rPr>
                      <m:t>&gt;</m:t>
                    </m:r>
                    <m:r>
                      <a:rPr lang="pt-BR" i="1">
                        <a:latin typeface="Cambria Math" panose="02040503050406030204" pitchFamily="18" charset="0"/>
                      </a:rPr>
                      <m:t>2</m:t>
                    </m:r>
                  </m:oMath>
                </a14:m>
                <a:r>
                  <a:rPr lang="pt-BR" dirty="0"/>
                  <a:t>)? </a:t>
                </a:r>
              </a:p>
              <a:p>
                <a:r>
                  <a:rPr lang="pt-BR" dirty="0"/>
                  <a:t>Por exemplo</a:t>
                </a:r>
              </a:p>
              <a:p>
                <a:pPr lvl="1">
                  <a:buFont typeface="Wingdings" panose="05000000000000000000" pitchFamily="2" charset="2"/>
                  <a:buChar char="§"/>
                </a:pPr>
                <a:r>
                  <a:rPr lang="pt-BR" dirty="0"/>
                  <a:t>Reconhecimento de dígitos: 10 dígitos.</a:t>
                </a:r>
              </a:p>
              <a:p>
                <a:pPr lvl="1">
                  <a:buFont typeface="Wingdings" panose="05000000000000000000" pitchFamily="2" charset="2"/>
                  <a:buChar char="§"/>
                </a:pPr>
                <a:r>
                  <a:rPr lang="pt-BR" dirty="0"/>
                  <a:t>Classificação de texto: Esportes, Economia, Política, Entretenimento, etc.</a:t>
                </a:r>
              </a:p>
              <a:p>
                <a:pPr lvl="1">
                  <a:buFont typeface="Wingdings" panose="05000000000000000000" pitchFamily="2" charset="2"/>
                  <a:buChar char="§"/>
                </a:pPr>
                <a:r>
                  <a:rPr lang="pt-BR" dirty="0"/>
                  <a:t>Classificação de sentimentos: Neutro, Positivo, Negativo.</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638799" y="1784680"/>
                <a:ext cx="6444343" cy="5073320"/>
              </a:xfrm>
              <a:blipFill>
                <a:blip r:embed="rId2"/>
                <a:stretch>
                  <a:fillRect l="-1703" t="-2043"/>
                </a:stretch>
              </a:blipFill>
            </p:spPr>
            <p:txBody>
              <a:bodyPr/>
              <a:lstStyle/>
              <a:p>
                <a:r>
                  <a:rPr lang="en-US">
                    <a:noFill/>
                  </a:rPr>
                  <a:t> </a:t>
                </a:r>
              </a:p>
            </p:txBody>
          </p:sp>
        </mc:Fallback>
      </mc:AlternateContent>
      <p:pic>
        <p:nvPicPr>
          <p:cNvPr id="4" name="Picture 2" descr="Ana Barros (@anathinker) | Twitter">
            <a:extLst>
              <a:ext uri="{FF2B5EF4-FFF2-40B4-BE49-F238E27FC236}">
                <a16:creationId xmlns:a16="http://schemas.microsoft.com/office/drawing/2014/main" xmlns="" id="{AF3F0044-4F7D-98F6-34C1-8351487DFD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5470" y="1802867"/>
            <a:ext cx="2541212" cy="168398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descr="Analyzing Text Classification Techniques on Youtube Data">
            <a:extLst>
              <a:ext uri="{FF2B5EF4-FFF2-40B4-BE49-F238E27FC236}">
                <a16:creationId xmlns:a16="http://schemas.microsoft.com/office/drawing/2014/main" xmlns="" id="{0E6041F8-AB14-54C0-C790-0288A3AC8FB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1107" t="4114" r="9213" b="4823"/>
          <a:stretch/>
        </p:blipFill>
        <p:spPr bwMode="auto">
          <a:xfrm>
            <a:off x="1199846" y="4635253"/>
            <a:ext cx="3073671" cy="175638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Sentiment Fig 1">
            <a:extLst>
              <a:ext uri="{FF2B5EF4-FFF2-40B4-BE49-F238E27FC236}">
                <a16:creationId xmlns:a16="http://schemas.microsoft.com/office/drawing/2014/main" xmlns="" id="{1E7CC96F-55AB-1482-92F6-240F8E2E0D1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842094" y="2551870"/>
            <a:ext cx="2587232" cy="18335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98336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Casos multiclasses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780314" y="1784680"/>
                <a:ext cx="6293070" cy="5073320"/>
              </a:xfrm>
            </p:spPr>
            <p:txBody>
              <a:bodyPr>
                <a:normAutofit/>
              </a:bodyPr>
              <a:lstStyle/>
              <a:p>
                <a:r>
                  <a:rPr lang="pt-BR" dirty="0"/>
                  <a:t>Quando </a:t>
                </a:r>
                <a14:m>
                  <m:oMath xmlns:m="http://schemas.openxmlformats.org/officeDocument/2006/math">
                    <m:r>
                      <a:rPr lang="pt-BR" i="1" smtClean="0">
                        <a:latin typeface="Cambria Math" panose="02040503050406030204" pitchFamily="18" charset="0"/>
                      </a:rPr>
                      <m:t>𝑄</m:t>
                    </m:r>
                    <m:r>
                      <a:rPr lang="pt-BR" b="0" i="1" smtClean="0">
                        <a:latin typeface="Cambria Math" panose="02040503050406030204" pitchFamily="18" charset="0"/>
                      </a:rPr>
                      <m:t>&gt;</m:t>
                    </m:r>
                    <m:r>
                      <a:rPr lang="pt-BR" i="1">
                        <a:latin typeface="Cambria Math" panose="02040503050406030204" pitchFamily="18" charset="0"/>
                      </a:rPr>
                      <m:t>2</m:t>
                    </m:r>
                  </m:oMath>
                </a14:m>
                <a:r>
                  <a:rPr lang="pt-BR" dirty="0"/>
                  <a:t>, chamamos o problema de classificação </a:t>
                </a:r>
                <a:r>
                  <a:rPr lang="pt-BR" b="1" dirty="0">
                    <a:solidFill>
                      <a:srgbClr val="00B050"/>
                    </a:solidFill>
                  </a:rPr>
                  <a:t>multiclasses</a:t>
                </a:r>
                <a:r>
                  <a:rPr lang="pt-BR" dirty="0"/>
                  <a:t>.</a:t>
                </a:r>
              </a:p>
              <a:p>
                <a:r>
                  <a:rPr lang="pt-BR" dirty="0"/>
                  <a:t>Podemos resolver estes problemas com o </a:t>
                </a:r>
                <a:r>
                  <a:rPr lang="pt-BR" b="1" dirty="0"/>
                  <a:t>regressor </a:t>
                </a:r>
                <a:r>
                  <a:rPr lang="pt-BR" b="1" i="1" dirty="0"/>
                  <a:t>softmax</a:t>
                </a:r>
                <a:r>
                  <a:rPr lang="pt-BR" dirty="0"/>
                  <a:t>, que é uma </a:t>
                </a:r>
                <a:r>
                  <a:rPr lang="pt-BR" b="1" dirty="0">
                    <a:solidFill>
                      <a:schemeClr val="accent2"/>
                    </a:solidFill>
                  </a:rPr>
                  <a:t>generalização do regressor logístico</a:t>
                </a:r>
                <a:r>
                  <a:rPr lang="pt-BR"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780314" y="1784680"/>
                <a:ext cx="6293070" cy="5073320"/>
              </a:xfrm>
              <a:blipFill>
                <a:blip r:embed="rId2"/>
                <a:stretch>
                  <a:fillRect l="-1742" t="-2043" r="-678"/>
                </a:stretch>
              </a:blipFill>
            </p:spPr>
            <p:txBody>
              <a:bodyPr/>
              <a:lstStyle/>
              <a:p>
                <a:r>
                  <a:rPr lang="en-US">
                    <a:noFill/>
                  </a:rPr>
                  <a:t> </a:t>
                </a:r>
              </a:p>
            </p:txBody>
          </p:sp>
        </mc:Fallback>
      </mc:AlternateContent>
      <p:pic>
        <p:nvPicPr>
          <p:cNvPr id="7" name="Picture 2" descr="Ana Barros (@anathinker) | Twitter">
            <a:extLst>
              <a:ext uri="{FF2B5EF4-FFF2-40B4-BE49-F238E27FC236}">
                <a16:creationId xmlns:a16="http://schemas.microsoft.com/office/drawing/2014/main" xmlns="" id="{A2D479C7-0684-420F-2CCD-64C3DB79FD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5470" y="1802867"/>
            <a:ext cx="2541212" cy="168398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Analyzing Text Classification Techniques on Youtube Data">
            <a:extLst>
              <a:ext uri="{FF2B5EF4-FFF2-40B4-BE49-F238E27FC236}">
                <a16:creationId xmlns:a16="http://schemas.microsoft.com/office/drawing/2014/main" xmlns="" id="{A59F8A2C-ACDF-09C7-B528-9064CEF3B84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1107" t="4114" r="9213" b="4823"/>
          <a:stretch/>
        </p:blipFill>
        <p:spPr bwMode="auto">
          <a:xfrm>
            <a:off x="1199846" y="4635253"/>
            <a:ext cx="3073671" cy="175638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Sentiment Fig 1">
            <a:extLst>
              <a:ext uri="{FF2B5EF4-FFF2-40B4-BE49-F238E27FC236}">
                <a16:creationId xmlns:a16="http://schemas.microsoft.com/office/drawing/2014/main" xmlns="" id="{E178FF16-CC3F-C34B-6C8B-874BC4FA61A4}"/>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842094" y="2551870"/>
            <a:ext cx="2587232" cy="18335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51724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B022D379-CAA0-9DC9-CDBD-6E0EBE1BFF31}"/>
              </a:ext>
            </a:extLst>
          </p:cNvPr>
          <p:cNvSpPr>
            <a:spLocks noGrp="1"/>
          </p:cNvSpPr>
          <p:nvPr>
            <p:ph type="title"/>
          </p:nvPr>
        </p:nvSpPr>
        <p:spPr/>
        <p:txBody>
          <a:bodyPr/>
          <a:lstStyle/>
          <a:p>
            <a:r>
              <a:rPr lang="pt-BR" dirty="0"/>
              <a:t>Regressor </a:t>
            </a:r>
            <a:r>
              <a:rPr lang="pt-BR" i="1" dirty="0"/>
              <a:t>softmax</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xmlns="" id="{B68F0D74-8673-A432-A1D7-BDEF7725851A}"/>
                  </a:ext>
                </a:extLst>
              </p:cNvPr>
              <p:cNvSpPr>
                <a:spLocks noGrp="1"/>
              </p:cNvSpPr>
              <p:nvPr>
                <p:ph idx="1"/>
              </p:nvPr>
            </p:nvSpPr>
            <p:spPr>
              <a:xfrm>
                <a:off x="838199" y="1825624"/>
                <a:ext cx="11353801" cy="5032375"/>
              </a:xfrm>
            </p:spPr>
            <p:txBody>
              <a:bodyPr>
                <a:normAutofit/>
              </a:bodyPr>
              <a:lstStyle/>
              <a:p>
                <a:r>
                  <a:rPr lang="pt-BR" dirty="0"/>
                  <a:t>Também conhecida como </a:t>
                </a:r>
                <a:r>
                  <a:rPr lang="pt-BR" b="1" dirty="0"/>
                  <a:t>regressão logística multinomial</a:t>
                </a:r>
                <a:r>
                  <a:rPr lang="pt-BR" dirty="0"/>
                  <a:t>.</a:t>
                </a:r>
              </a:p>
              <a:p>
                <a:pPr lvl="1">
                  <a:buFont typeface="Wingdings" panose="05000000000000000000" pitchFamily="2" charset="2"/>
                  <a:buChar char="§"/>
                </a:pPr>
                <a:r>
                  <a:rPr lang="pt-BR" dirty="0"/>
                  <a:t>Pois suas saídas podem ser interpretadas como as </a:t>
                </a:r>
                <a:r>
                  <a:rPr lang="pt-BR" b="1" dirty="0">
                    <a:solidFill>
                      <a:srgbClr val="00B050"/>
                    </a:solidFill>
                  </a:rPr>
                  <a:t>probabilidades </a:t>
                </a:r>
                <a:r>
                  <a:rPr lang="pt-BR" b="1" dirty="0" smtClean="0">
                    <a:solidFill>
                      <a:srgbClr val="00B050"/>
                    </a:solidFill>
                  </a:rPr>
                  <a:t>condicionais das </a:t>
                </a:r>
                <a14:m>
                  <m:oMath xmlns:m="http://schemas.openxmlformats.org/officeDocument/2006/math">
                    <m:r>
                      <a:rPr lang="pt-BR" b="1">
                        <a:solidFill>
                          <a:srgbClr val="00B050"/>
                        </a:solidFill>
                        <a:latin typeface="Cambria Math" panose="02040503050406030204" pitchFamily="18" charset="0"/>
                      </a:rPr>
                      <m:t>𝑄</m:t>
                    </m:r>
                  </m:oMath>
                </a14:m>
                <a:r>
                  <a:rPr lang="pt-BR" b="1" dirty="0" smtClean="0">
                    <a:solidFill>
                      <a:srgbClr val="00B050"/>
                    </a:solidFill>
                  </a:rPr>
                  <a:t> classes, dado um exemplo de entrada e os pesos.</a:t>
                </a:r>
              </a:p>
              <a:p>
                <a:pPr lvl="1">
                  <a:buFont typeface="Wingdings" panose="05000000000000000000" pitchFamily="2" charset="2"/>
                  <a:buChar char="§"/>
                </a:pPr>
                <a:r>
                  <a:rPr lang="pt-BR" dirty="0" smtClean="0"/>
                  <a:t>Ou </a:t>
                </a:r>
                <a:r>
                  <a:rPr lang="pt-BR" dirty="0"/>
                  <a:t>seja, a regressão </a:t>
                </a:r>
                <a:r>
                  <a:rPr lang="pt-BR" b="1" i="1" dirty="0">
                    <a:solidFill>
                      <a:srgbClr val="00B050"/>
                    </a:solidFill>
                  </a:rPr>
                  <a:t>softmax</a:t>
                </a:r>
                <a:r>
                  <a:rPr lang="pt-BR" b="1" dirty="0">
                    <a:solidFill>
                      <a:srgbClr val="00B050"/>
                    </a:solidFill>
                  </a:rPr>
                  <a:t> estima a </a:t>
                </a:r>
                <a:r>
                  <a:rPr lang="pt-BR" b="1" dirty="0">
                    <a:solidFill>
                      <a:schemeClr val="accent2"/>
                    </a:solidFill>
                  </a:rPr>
                  <a:t>probabilidade</a:t>
                </a:r>
                <a:r>
                  <a:rPr lang="pt-BR" b="1" dirty="0">
                    <a:solidFill>
                      <a:srgbClr val="00B050"/>
                    </a:solidFill>
                  </a:rPr>
                  <a:t> de um </a:t>
                </a:r>
                <a:r>
                  <a:rPr lang="pt-BR" b="1" dirty="0">
                    <a:solidFill>
                      <a:schemeClr val="accent2"/>
                    </a:solidFill>
                  </a:rPr>
                  <a:t>exemplo</a:t>
                </a:r>
                <a:r>
                  <a:rPr lang="pt-BR" b="1" dirty="0">
                    <a:solidFill>
                      <a:srgbClr val="00B050"/>
                    </a:solidFill>
                  </a:rPr>
                  <a:t> de entrada </a:t>
                </a:r>
                <a:r>
                  <a:rPr lang="pt-BR" b="1" dirty="0">
                    <a:solidFill>
                      <a:schemeClr val="accent2"/>
                    </a:solidFill>
                  </a:rPr>
                  <a:t>pertencer a cada</a:t>
                </a:r>
                <a:r>
                  <a:rPr lang="pt-BR" b="1" dirty="0">
                    <a:solidFill>
                      <a:srgbClr val="00B050"/>
                    </a:solidFill>
                  </a:rPr>
                  <a:t> uma das </a:t>
                </a:r>
                <a14:m>
                  <m:oMath xmlns:m="http://schemas.openxmlformats.org/officeDocument/2006/math">
                    <m:r>
                      <a:rPr lang="pt-BR" i="1" smtClean="0">
                        <a:solidFill>
                          <a:srgbClr val="00B050"/>
                        </a:solidFill>
                        <a:latin typeface="Cambria Math" panose="02040503050406030204" pitchFamily="18" charset="0"/>
                      </a:rPr>
                      <m:t>𝑄</m:t>
                    </m:r>
                  </m:oMath>
                </a14:m>
                <a:r>
                  <a:rPr lang="pt-BR" b="1" dirty="0">
                    <a:solidFill>
                      <a:srgbClr val="00B050"/>
                    </a:solidFill>
                  </a:rPr>
                  <a:t> possíveis </a:t>
                </a:r>
                <a:r>
                  <a:rPr lang="pt-BR" b="1" dirty="0">
                    <a:solidFill>
                      <a:schemeClr val="accent2"/>
                    </a:solidFill>
                  </a:rPr>
                  <a:t>classes</a:t>
                </a:r>
                <a:r>
                  <a:rPr lang="pt-BR" dirty="0"/>
                  <a:t>.</a:t>
                </a:r>
              </a:p>
              <a:p>
                <a:r>
                  <a:rPr lang="pt-BR" dirty="0"/>
                  <a:t>O </a:t>
                </a:r>
                <a:r>
                  <a:rPr lang="pt-BR" dirty="0" err="1"/>
                  <a:t>regressor</a:t>
                </a:r>
                <a:r>
                  <a:rPr lang="pt-BR" dirty="0"/>
                  <a:t> </a:t>
                </a:r>
                <a:r>
                  <a:rPr lang="pt-BR" i="1" dirty="0" err="1"/>
                  <a:t>softmax</a:t>
                </a:r>
                <a:r>
                  <a:rPr lang="pt-BR" dirty="0"/>
                  <a:t> tem </a:t>
                </a:r>
                <a14:m>
                  <m:oMath xmlns:m="http://schemas.openxmlformats.org/officeDocument/2006/math">
                    <m:r>
                      <a:rPr lang="pt-BR" b="0" i="1" smtClean="0">
                        <a:latin typeface="Cambria Math" panose="02040503050406030204" pitchFamily="18" charset="0"/>
                      </a:rPr>
                      <m:t>𝑄</m:t>
                    </m:r>
                  </m:oMath>
                </a14:m>
                <a:r>
                  <a:rPr lang="pt-BR" dirty="0"/>
                  <a:t> saídas, onde cada saída representa a </a:t>
                </a:r>
                <a:r>
                  <a:rPr lang="pt-BR" b="1" dirty="0">
                    <a:solidFill>
                      <a:srgbClr val="00B050"/>
                    </a:solidFill>
                  </a:rPr>
                  <a:t>probabilidade</a:t>
                </a:r>
                <a:r>
                  <a:rPr lang="pt-BR" dirty="0"/>
                  <a:t> de um exemplo pertencer a uma das </a:t>
                </a:r>
                <a14:m>
                  <m:oMath xmlns:m="http://schemas.openxmlformats.org/officeDocument/2006/math">
                    <m:r>
                      <a:rPr lang="pt-BR" i="1">
                        <a:latin typeface="Cambria Math" panose="02040503050406030204" pitchFamily="18" charset="0"/>
                      </a:rPr>
                      <m:t>𝑄</m:t>
                    </m:r>
                  </m:oMath>
                </a14:m>
                <a:r>
                  <a:rPr lang="pt-BR" dirty="0"/>
                  <a:t> classes.</a:t>
                </a:r>
              </a:p>
              <a:p>
                <a:pPr lvl="1">
                  <a:buFont typeface="Wingdings" panose="05000000000000000000" pitchFamily="2" charset="2"/>
                  <a:buChar char="§"/>
                </a:pPr>
                <a:r>
                  <a:rPr lang="pt-BR" dirty="0"/>
                  <a:t>Por exemplo, para um problema com 4 classes, teremos um classificador com 4 saídas.</a:t>
                </a:r>
              </a:p>
            </p:txBody>
          </p:sp>
        </mc:Choice>
        <mc:Fallback xmlns="">
          <p:sp>
            <p:nvSpPr>
              <p:cNvPr id="3" name="Espaço Reservado para Conteúdo 2">
                <a:extLst>
                  <a:ext uri="{FF2B5EF4-FFF2-40B4-BE49-F238E27FC236}">
                    <a16:creationId xmlns:a16="http://schemas.microsoft.com/office/drawing/2014/main" xmlns:a14="http://schemas.microsoft.com/office/drawing/2010/main" xmlns="" id="{B68F0D74-8673-A432-A1D7-BDEF7725851A}"/>
                  </a:ext>
                </a:extLst>
              </p:cNvPr>
              <p:cNvSpPr>
                <a:spLocks noGrp="1" noRot="1" noChangeAspect="1" noMove="1" noResize="1" noEditPoints="1" noAdjustHandles="1" noChangeArrowheads="1" noChangeShapeType="1" noTextEdit="1"/>
              </p:cNvSpPr>
              <p:nvPr>
                <p:ph idx="1"/>
              </p:nvPr>
            </p:nvSpPr>
            <p:spPr>
              <a:xfrm>
                <a:off x="838199" y="1825624"/>
                <a:ext cx="11353801" cy="5032375"/>
              </a:xfrm>
              <a:blipFill rotWithShape="0">
                <a:blip r:embed="rId3"/>
                <a:stretch>
                  <a:fillRect l="-913" t="-1937"/>
                </a:stretch>
              </a:blipFill>
            </p:spPr>
            <p:txBody>
              <a:bodyPr/>
              <a:lstStyle/>
              <a:p>
                <a:r>
                  <a:rPr lang="pt-BR">
                    <a:noFill/>
                  </a:rPr>
                  <a:t> </a:t>
                </a:r>
              </a:p>
            </p:txBody>
          </p:sp>
        </mc:Fallback>
      </mc:AlternateContent>
    </p:spTree>
    <p:extLst>
      <p:ext uri="{BB962C8B-B14F-4D97-AF65-F5344CB8AC3E}">
        <p14:creationId xmlns:p14="http://schemas.microsoft.com/office/powerpoint/2010/main" val="2710988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19F0958-530D-D942-BA01-15C1583DD1E6}"/>
              </a:ext>
            </a:extLst>
          </p:cNvPr>
          <p:cNvSpPr>
            <a:spLocks noGrp="1"/>
          </p:cNvSpPr>
          <p:nvPr>
            <p:ph type="title"/>
          </p:nvPr>
        </p:nvSpPr>
        <p:spPr/>
        <p:txBody>
          <a:bodyPr/>
          <a:lstStyle/>
          <a:p>
            <a:r>
              <a:rPr lang="pt-BR" dirty="0"/>
              <a:t>Regressor </a:t>
            </a:r>
            <a:r>
              <a:rPr lang="pt-BR" i="1" dirty="0"/>
              <a:t>softmax</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xmlns="" id="{21416F72-28FB-E27C-D129-16A944A87C67}"/>
                  </a:ext>
                </a:extLst>
              </p:cNvPr>
              <p:cNvSpPr>
                <a:spLocks noGrp="1"/>
              </p:cNvSpPr>
              <p:nvPr>
                <p:ph idx="1"/>
              </p:nvPr>
            </p:nvSpPr>
            <p:spPr>
              <a:xfrm>
                <a:off x="838199" y="1825624"/>
                <a:ext cx="11353801" cy="5032375"/>
              </a:xfrm>
            </p:spPr>
            <p:txBody>
              <a:bodyPr>
                <a:normAutofit/>
              </a:bodyPr>
              <a:lstStyle/>
              <a:p>
                <a:r>
                  <a:rPr lang="pt-BR" dirty="0"/>
                  <a:t>Ele </a:t>
                </a:r>
                <a:r>
                  <a:rPr lang="pt-BR" b="1" dirty="0">
                    <a:solidFill>
                      <a:schemeClr val="accent2"/>
                    </a:solidFill>
                  </a:rPr>
                  <a:t>prediz</a:t>
                </a:r>
                <a:r>
                  <a:rPr lang="pt-BR" dirty="0"/>
                  <a:t> </a:t>
                </a:r>
                <a:r>
                  <a:rPr lang="pt-BR" b="1" dirty="0"/>
                  <a:t>apenas </a:t>
                </a:r>
                <a:r>
                  <a:rPr lang="pt-BR" b="1" dirty="0">
                    <a:solidFill>
                      <a:srgbClr val="FF0000"/>
                    </a:solidFill>
                  </a:rPr>
                  <a:t>uma</a:t>
                </a:r>
                <a:r>
                  <a:rPr lang="pt-BR" b="1" dirty="0"/>
                  <a:t> classe por classificação</a:t>
                </a:r>
                <a:r>
                  <a:rPr lang="pt-BR" dirty="0"/>
                  <a:t>, portanto, ele deve ser usado apenas com </a:t>
                </a:r>
                <a:r>
                  <a:rPr lang="pt-BR" b="1" dirty="0"/>
                  <a:t>classes </a:t>
                </a:r>
                <a:r>
                  <a:rPr lang="pt-BR" b="1" dirty="0">
                    <a:solidFill>
                      <a:schemeClr val="accent2"/>
                    </a:solidFill>
                  </a:rPr>
                  <a:t>mutuamente </a:t>
                </a:r>
                <a:r>
                  <a:rPr lang="pt-BR" b="1" dirty="0" smtClean="0">
                    <a:solidFill>
                      <a:schemeClr val="accent2"/>
                    </a:solidFill>
                  </a:rPr>
                  <a:t>exclusivas</a:t>
                </a:r>
                <a:r>
                  <a:rPr lang="pt-BR" dirty="0" smtClean="0"/>
                  <a:t>.</a:t>
                </a:r>
                <a:endParaRPr lang="pt-BR" dirty="0"/>
              </a:p>
              <a:p>
                <a:pPr lvl="1">
                  <a:buFont typeface="Wingdings" panose="05000000000000000000" pitchFamily="2" charset="2"/>
                  <a:buChar char="§"/>
                </a:pPr>
                <a:r>
                  <a:rPr lang="pt-BR" b="1" dirty="0"/>
                  <a:t>Classes mutuamente </a:t>
                </a:r>
                <a:r>
                  <a:rPr lang="pt-BR" b="1" dirty="0" smtClean="0"/>
                  <a:t>exclusivas</a:t>
                </a:r>
                <a:r>
                  <a:rPr lang="pt-BR" dirty="0"/>
                  <a:t> </a:t>
                </a:r>
                <a:r>
                  <a:rPr lang="pt-BR" dirty="0" smtClean="0"/>
                  <a:t>são classes </a:t>
                </a:r>
                <a:r>
                  <a:rPr lang="pt-BR" dirty="0"/>
                  <a:t>que </a:t>
                </a:r>
                <a:r>
                  <a:rPr lang="pt-BR" b="1" dirty="0"/>
                  <a:t>não podem ocorrer simultaneamente para </a:t>
                </a:r>
                <a:r>
                  <a:rPr lang="pt-BR" b="1" dirty="0" smtClean="0"/>
                  <a:t>o mesmo exemplo.</a:t>
                </a:r>
                <a:endParaRPr lang="pt-BR" dirty="0" smtClean="0"/>
              </a:p>
              <a:p>
                <a:pPr lvl="1">
                  <a:buFont typeface="Wingdings" panose="05000000000000000000" pitchFamily="2" charset="2"/>
                  <a:buChar char="§"/>
                </a:pPr>
                <a:r>
                  <a:rPr lang="pt-BR" dirty="0"/>
                  <a:t>S</a:t>
                </a:r>
                <a:r>
                  <a:rPr lang="pt-BR" dirty="0" smtClean="0"/>
                  <a:t>uponham </a:t>
                </a:r>
                <a:r>
                  <a:rPr lang="pt-BR" dirty="0"/>
                  <a:t>que queremos classificar uma </a:t>
                </a:r>
                <a:r>
                  <a:rPr lang="pt-BR" dirty="0" smtClean="0"/>
                  <a:t>imagem em Cachorro, </a:t>
                </a:r>
                <a:r>
                  <a:rPr lang="pt-BR" dirty="0"/>
                  <a:t>Gato </a:t>
                </a:r>
                <a:r>
                  <a:rPr lang="pt-BR" dirty="0" smtClean="0"/>
                  <a:t>e Coelho.</a:t>
                </a:r>
                <a:endParaRPr lang="pt-BR" dirty="0"/>
              </a:p>
              <a:p>
                <a:pPr lvl="1">
                  <a:buFont typeface="Wingdings" panose="05000000000000000000" pitchFamily="2" charset="2"/>
                  <a:buChar char="§"/>
                </a:pPr>
                <a:r>
                  <a:rPr lang="pt-BR" dirty="0"/>
                  <a:t>Se estamos fazendo </a:t>
                </a:r>
                <a:r>
                  <a:rPr lang="pt-BR" b="1" dirty="0"/>
                  <a:t>classificação de uma única classe</a:t>
                </a:r>
                <a:r>
                  <a:rPr lang="pt-BR" dirty="0"/>
                  <a:t>, uma determinada imagem só pode </a:t>
                </a:r>
                <a:r>
                  <a:rPr lang="pt-BR" dirty="0" smtClean="0"/>
                  <a:t>receber </a:t>
                </a:r>
                <a:r>
                  <a:rPr lang="pt-BR" b="1" dirty="0" smtClean="0"/>
                  <a:t>uma </a:t>
                </a:r>
                <a:r>
                  <a:rPr lang="pt-BR" b="1" dirty="0"/>
                  <a:t>dessas classes</a:t>
                </a:r>
                <a:r>
                  <a:rPr lang="pt-BR" dirty="0" smtClean="0"/>
                  <a:t>.</a:t>
                </a:r>
              </a:p>
              <a:p>
                <a:r>
                  <a:rPr lang="pt-BR" dirty="0"/>
                  <a:t>O </a:t>
                </a:r>
                <a:r>
                  <a:rPr lang="pt-BR" b="1" dirty="0"/>
                  <a:t>regressor </a:t>
                </a:r>
                <a:r>
                  <a:rPr lang="pt-BR" b="1" i="1" dirty="0"/>
                  <a:t>softmax</a:t>
                </a:r>
                <a:r>
                  <a:rPr lang="pt-BR" b="1" dirty="0"/>
                  <a:t> </a:t>
                </a:r>
                <a:r>
                  <a:rPr lang="pt-BR" b="1" dirty="0">
                    <a:solidFill>
                      <a:srgbClr val="00B050"/>
                    </a:solidFill>
                  </a:rPr>
                  <a:t>possui uma função hipótese de classificação</a:t>
                </a:r>
                <a:r>
                  <a:rPr lang="pt-BR" dirty="0"/>
                  <a:t>, </a:t>
                </a:r>
                <a14:m>
                  <m:oMath xmlns:m="http://schemas.openxmlformats.org/officeDocument/2006/math">
                    <m:sSubSup>
                      <m:sSubSupPr>
                        <m:ctrlPr>
                          <a:rPr lang="pt-BR" b="1" i="1">
                            <a:latin typeface="Cambria Math" panose="02040503050406030204" pitchFamily="18" charset="0"/>
                          </a:rPr>
                        </m:ctrlPr>
                      </m:sSubSupPr>
                      <m:e>
                        <m:r>
                          <a:rPr lang="pt-BR" i="1">
                            <a:latin typeface="Cambria Math" panose="02040503050406030204" pitchFamily="18" charset="0"/>
                          </a:rPr>
                          <m:t>h</m:t>
                        </m:r>
                      </m:e>
                      <m:sub>
                        <m:r>
                          <a:rPr lang="pt-BR" b="1" i="1">
                            <a:latin typeface="Cambria Math" panose="02040503050406030204" pitchFamily="18" charset="0"/>
                          </a:rPr>
                          <m:t>𝒂</m:t>
                        </m:r>
                      </m:sub>
                      <m:sup>
                        <m:r>
                          <a:rPr lang="pt-BR" i="1">
                            <a:latin typeface="Cambria Math" panose="02040503050406030204" pitchFamily="18" charset="0"/>
                          </a:rPr>
                          <m:t>𝑞</m:t>
                        </m:r>
                      </m:sup>
                    </m:sSubSup>
                    <m:d>
                      <m:dPr>
                        <m:ctrlPr>
                          <a:rPr lang="pt-BR" i="1">
                            <a:latin typeface="Cambria Math" panose="02040503050406030204" pitchFamily="18" charset="0"/>
                          </a:rPr>
                        </m:ctrlPr>
                      </m:dPr>
                      <m:e>
                        <m:r>
                          <a:rPr lang="pt-BR" b="1" i="1">
                            <a:latin typeface="Cambria Math" panose="02040503050406030204" pitchFamily="18" charset="0"/>
                          </a:rPr>
                          <m:t>𝒙</m:t>
                        </m:r>
                        <m:d>
                          <m:dPr>
                            <m:ctrlPr>
                              <a:rPr lang="pt-BR" b="1" i="1">
                                <a:latin typeface="Cambria Math" panose="02040503050406030204" pitchFamily="18" charset="0"/>
                              </a:rPr>
                            </m:ctrlPr>
                          </m:dPr>
                          <m:e>
                            <m:r>
                              <a:rPr lang="pt-BR" b="0" i="1" smtClean="0">
                                <a:latin typeface="Cambria Math" panose="02040503050406030204" pitchFamily="18" charset="0"/>
                              </a:rPr>
                              <m:t>𝑛</m:t>
                            </m:r>
                          </m:e>
                        </m:d>
                      </m:e>
                    </m:d>
                  </m:oMath>
                </a14:m>
                <a:r>
                  <a:rPr lang="pt-BR" dirty="0" smtClean="0"/>
                  <a:t>, </a:t>
                </a:r>
                <a:r>
                  <a:rPr lang="pt-BR" dirty="0"/>
                  <a:t>e, consequentemente, </a:t>
                </a:r>
                <a:r>
                  <a:rPr lang="pt-BR" b="1" dirty="0">
                    <a:solidFill>
                      <a:srgbClr val="00B050"/>
                    </a:solidFill>
                  </a:rPr>
                  <a:t>uma função discriminante</a:t>
                </a:r>
                <a:r>
                  <a:rPr lang="pt-BR" dirty="0"/>
                  <a:t>,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𝑔</m:t>
                        </m:r>
                      </m:e>
                      <m:sub>
                        <m:r>
                          <a:rPr lang="pt-BR" i="1">
                            <a:latin typeface="Cambria Math" panose="02040503050406030204" pitchFamily="18" charset="0"/>
                          </a:rPr>
                          <m:t>𝑞</m:t>
                        </m:r>
                      </m:sub>
                    </m:sSub>
                    <m:r>
                      <a:rPr lang="pt-BR" b="1" i="1">
                        <a:latin typeface="Cambria Math" panose="02040503050406030204" pitchFamily="18" charset="0"/>
                      </a:rPr>
                      <m:t>(</m:t>
                    </m:r>
                    <m:r>
                      <a:rPr lang="pt-BR" b="1" i="1">
                        <a:latin typeface="Cambria Math" panose="02040503050406030204" pitchFamily="18" charset="0"/>
                      </a:rPr>
                      <m:t>𝒙</m:t>
                    </m:r>
                    <m:r>
                      <a:rPr lang="pt-BR" i="1">
                        <a:latin typeface="Cambria Math" panose="02040503050406030204" pitchFamily="18" charset="0"/>
                      </a:rPr>
                      <m:t>(</m:t>
                    </m:r>
                    <m:r>
                      <a:rPr lang="pt-BR" b="0" i="1" smtClean="0">
                        <a:latin typeface="Cambria Math" panose="02040503050406030204" pitchFamily="18" charset="0"/>
                      </a:rPr>
                      <m:t>𝑛</m:t>
                    </m:r>
                    <m:r>
                      <a:rPr lang="pt-BR" i="1">
                        <a:latin typeface="Cambria Math" panose="02040503050406030204" pitchFamily="18" charset="0"/>
                      </a:rPr>
                      <m:t>)</m:t>
                    </m:r>
                    <m:r>
                      <a:rPr lang="pt-BR" b="1" i="1">
                        <a:latin typeface="Cambria Math" panose="02040503050406030204" pitchFamily="18" charset="0"/>
                      </a:rPr>
                      <m:t>)</m:t>
                    </m:r>
                  </m:oMath>
                </a14:m>
                <a:r>
                  <a:rPr lang="pt-BR" dirty="0" smtClean="0"/>
                  <a:t>, </a:t>
                </a:r>
                <a:r>
                  <a:rPr lang="pt-BR" b="1" dirty="0">
                    <a:solidFill>
                      <a:srgbClr val="00B050"/>
                    </a:solidFill>
                  </a:rPr>
                  <a:t>para cada classe </a:t>
                </a:r>
                <a14:m>
                  <m:oMath xmlns:m="http://schemas.openxmlformats.org/officeDocument/2006/math">
                    <m:r>
                      <a:rPr lang="pt-BR" i="1">
                        <a:latin typeface="Cambria Math" panose="02040503050406030204" pitchFamily="18" charset="0"/>
                      </a:rPr>
                      <m:t>𝑞</m:t>
                    </m:r>
                  </m:oMath>
                </a14:m>
                <a:r>
                  <a:rPr lang="pt-BR" dirty="0"/>
                  <a:t>.</a:t>
                </a:r>
              </a:p>
              <a:p>
                <a:pPr lvl="1">
                  <a:buFont typeface="Wingdings" panose="05000000000000000000" pitchFamily="2" charset="2"/>
                  <a:buChar char="§"/>
                </a:pPr>
                <a:r>
                  <a:rPr lang="pt-BR" dirty="0"/>
                  <a:t>Por exemplo, se temos 4 classes, teremos 4 funções discriminantes,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𝑔</m:t>
                        </m:r>
                      </m:e>
                      <m:sub>
                        <m:r>
                          <a:rPr lang="pt-BR" i="1">
                            <a:latin typeface="Cambria Math" panose="02040503050406030204" pitchFamily="18" charset="0"/>
                          </a:rPr>
                          <m:t>𝑞</m:t>
                        </m:r>
                      </m:sub>
                    </m:sSub>
                    <m:r>
                      <a:rPr lang="pt-BR" b="1" i="1">
                        <a:latin typeface="Cambria Math" panose="02040503050406030204" pitchFamily="18" charset="0"/>
                      </a:rPr>
                      <m:t>(</m:t>
                    </m:r>
                    <m:r>
                      <a:rPr lang="pt-BR" b="1" i="1">
                        <a:latin typeface="Cambria Math" panose="02040503050406030204" pitchFamily="18" charset="0"/>
                      </a:rPr>
                      <m:t>𝒙</m:t>
                    </m:r>
                    <m:r>
                      <a:rPr lang="pt-BR" i="1">
                        <a:latin typeface="Cambria Math" panose="02040503050406030204" pitchFamily="18" charset="0"/>
                      </a:rPr>
                      <m:t>(</m:t>
                    </m:r>
                    <m:r>
                      <a:rPr lang="pt-BR" b="0" i="1" smtClean="0">
                        <a:latin typeface="Cambria Math" panose="02040503050406030204" pitchFamily="18" charset="0"/>
                      </a:rPr>
                      <m:t>𝑛</m:t>
                    </m:r>
                    <m:r>
                      <a:rPr lang="pt-BR" i="1">
                        <a:latin typeface="Cambria Math" panose="02040503050406030204" pitchFamily="18" charset="0"/>
                      </a:rPr>
                      <m:t>)</m:t>
                    </m:r>
                    <m:r>
                      <a:rPr lang="pt-BR" b="1" i="1">
                        <a:latin typeface="Cambria Math" panose="02040503050406030204" pitchFamily="18" charset="0"/>
                      </a:rPr>
                      <m:t>)</m:t>
                    </m:r>
                  </m:oMath>
                </a14:m>
                <a:r>
                  <a:rPr lang="pt-BR" dirty="0"/>
                  <a:t>.</a:t>
                </a:r>
                <a:endParaRPr lang="pt-BR" dirty="0" smtClean="0"/>
              </a:p>
              <a:p>
                <a:r>
                  <a:rPr lang="pt-BR" dirty="0"/>
                  <a:t>Cada função discriminante tem seu próprio vetor de pesos, </a:t>
                </a:r>
                <a14:m>
                  <m:oMath xmlns:m="http://schemas.openxmlformats.org/officeDocument/2006/math">
                    <m:sSub>
                      <m:sSubPr>
                        <m:ctrlPr>
                          <a:rPr lang="pt-BR" b="1" i="1">
                            <a:latin typeface="Cambria Math" panose="02040503050406030204" pitchFamily="18" charset="0"/>
                          </a:rPr>
                        </m:ctrlPr>
                      </m:sSubPr>
                      <m:e>
                        <m:r>
                          <a:rPr lang="pt-BR" b="1" i="1">
                            <a:latin typeface="Cambria Math" panose="02040503050406030204" pitchFamily="18" charset="0"/>
                          </a:rPr>
                          <m:t>𝒂</m:t>
                        </m:r>
                      </m:e>
                      <m:sub>
                        <m:r>
                          <a:rPr lang="pt-BR" i="1">
                            <a:latin typeface="Cambria Math" panose="02040503050406030204" pitchFamily="18" charset="0"/>
                          </a:rPr>
                          <m:t>𝑞</m:t>
                        </m:r>
                      </m:sub>
                    </m:sSub>
                  </m:oMath>
                </a14:m>
                <a:r>
                  <a:rPr lang="pt-BR" dirty="0" smtClean="0"/>
                  <a:t>.</a:t>
                </a:r>
                <a:endParaRPr lang="pt-BR" dirty="0"/>
              </a:p>
            </p:txBody>
          </p:sp>
        </mc:Choice>
        <mc:Fallback xmlns="">
          <p:sp>
            <p:nvSpPr>
              <p:cNvPr id="3" name="Espaço Reservado para Conteúdo 2">
                <a:extLst>
                  <a:ext uri="{FF2B5EF4-FFF2-40B4-BE49-F238E27FC236}">
                    <a16:creationId xmlns="" xmlns:a16="http://schemas.microsoft.com/office/drawing/2014/main" xmlns:a14="http://schemas.microsoft.com/office/drawing/2010/main" id="{21416F72-28FB-E27C-D129-16A944A87C67}"/>
                  </a:ext>
                </a:extLst>
              </p:cNvPr>
              <p:cNvSpPr>
                <a:spLocks noGrp="1" noRot="1" noChangeAspect="1" noMove="1" noResize="1" noEditPoints="1" noAdjustHandles="1" noChangeArrowheads="1" noChangeShapeType="1" noTextEdit="1"/>
              </p:cNvSpPr>
              <p:nvPr>
                <p:ph idx="1"/>
              </p:nvPr>
            </p:nvSpPr>
            <p:spPr>
              <a:xfrm>
                <a:off x="838199" y="1825624"/>
                <a:ext cx="11353801" cy="5032375"/>
              </a:xfrm>
              <a:blipFill rotWithShape="0">
                <a:blip r:embed="rId3"/>
                <a:stretch>
                  <a:fillRect l="-913" t="-1937" r="-859" b="-2058"/>
                </a:stretch>
              </a:blipFill>
            </p:spPr>
            <p:txBody>
              <a:bodyPr/>
              <a:lstStyle/>
              <a:p>
                <a:r>
                  <a:rPr lang="pt-BR">
                    <a:noFill/>
                  </a:rPr>
                  <a:t> </a:t>
                </a:r>
              </a:p>
            </p:txBody>
          </p:sp>
        </mc:Fallback>
      </mc:AlternateContent>
    </p:spTree>
    <p:extLst>
      <p:ext uri="{BB962C8B-B14F-4D97-AF65-F5344CB8AC3E}">
        <p14:creationId xmlns:p14="http://schemas.microsoft.com/office/powerpoint/2010/main" val="34855039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DCD47F25-5DD1-794E-8733-BFD771A2DE49}"/>
              </a:ext>
            </a:extLst>
          </p:cNvPr>
          <p:cNvSpPr>
            <a:spLocks noGrp="1"/>
          </p:cNvSpPr>
          <p:nvPr>
            <p:ph type="title"/>
          </p:nvPr>
        </p:nvSpPr>
        <p:spPr/>
        <p:txBody>
          <a:bodyPr/>
          <a:lstStyle/>
          <a:p>
            <a:r>
              <a:rPr lang="pt-BR" dirty="0"/>
              <a:t>Regressor </a:t>
            </a:r>
            <a:r>
              <a:rPr lang="pt-BR" i="1" dirty="0"/>
              <a:t>softmax</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xmlns="" id="{D79BB7DC-99E7-8958-EC77-566B7E3C2BBB}"/>
                  </a:ext>
                </a:extLst>
              </p:cNvPr>
              <p:cNvSpPr>
                <a:spLocks noGrp="1"/>
              </p:cNvSpPr>
              <p:nvPr>
                <p:ph idx="1"/>
              </p:nvPr>
            </p:nvSpPr>
            <p:spPr>
              <a:xfrm>
                <a:off x="838200" y="1825624"/>
                <a:ext cx="11353800" cy="5032375"/>
              </a:xfrm>
            </p:spPr>
            <p:txBody>
              <a:bodyPr>
                <a:normAutofit/>
              </a:bodyPr>
              <a:lstStyle/>
              <a:p>
                <a:r>
                  <a:rPr lang="pt-BR" dirty="0" smtClean="0"/>
                  <a:t>A </a:t>
                </a:r>
                <a:r>
                  <a:rPr lang="pt-BR" b="1" dirty="0"/>
                  <a:t>função hipótese de classificação</a:t>
                </a:r>
                <a:r>
                  <a:rPr lang="pt-BR" b="1" i="1" dirty="0"/>
                  <a:t> </a:t>
                </a:r>
                <a:r>
                  <a:rPr lang="pt-BR" dirty="0"/>
                  <a:t>associada à </a:t>
                </a:r>
                <a14:m>
                  <m:oMath xmlns:m="http://schemas.openxmlformats.org/officeDocument/2006/math">
                    <m:r>
                      <a:rPr lang="pt-BR" i="1">
                        <a:latin typeface="Cambria Math" panose="02040503050406030204" pitchFamily="18" charset="0"/>
                      </a:rPr>
                      <m:t>𝑞</m:t>
                    </m:r>
                  </m:oMath>
                </a14:m>
                <a:r>
                  <a:rPr lang="pt-BR" dirty="0"/>
                  <a:t>-</a:t>
                </a:r>
                <a:r>
                  <a:rPr lang="pt-BR" dirty="0" err="1"/>
                  <a:t>ésima</a:t>
                </a:r>
                <a:r>
                  <a:rPr lang="pt-BR" dirty="0"/>
                  <a:t> classe,</a:t>
                </a:r>
                <a:r>
                  <a:rPr lang="pt-BR" b="1" i="1" dirty="0"/>
                  <a:t> </a:t>
                </a:r>
                <a14:m>
                  <m:oMath xmlns:m="http://schemas.openxmlformats.org/officeDocument/2006/math">
                    <m:sSubSup>
                      <m:sSubSupPr>
                        <m:ctrlPr>
                          <a:rPr lang="pt-BR" b="1" i="1">
                            <a:latin typeface="Cambria Math" panose="02040503050406030204" pitchFamily="18" charset="0"/>
                          </a:rPr>
                        </m:ctrlPr>
                      </m:sSubSupPr>
                      <m:e>
                        <m:r>
                          <a:rPr lang="pt-BR" i="1">
                            <a:latin typeface="Cambria Math" panose="02040503050406030204" pitchFamily="18" charset="0"/>
                          </a:rPr>
                          <m:t>h</m:t>
                        </m:r>
                      </m:e>
                      <m:sub>
                        <m:r>
                          <a:rPr lang="pt-BR" b="1" i="1">
                            <a:latin typeface="Cambria Math" panose="02040503050406030204" pitchFamily="18" charset="0"/>
                          </a:rPr>
                          <m:t>𝒂</m:t>
                        </m:r>
                      </m:sub>
                      <m:sup>
                        <m:r>
                          <a:rPr lang="pt-BR" i="1">
                            <a:latin typeface="Cambria Math" panose="02040503050406030204" pitchFamily="18" charset="0"/>
                          </a:rPr>
                          <m:t>𝑞</m:t>
                        </m:r>
                      </m:sup>
                    </m:sSubSup>
                    <m:d>
                      <m:dPr>
                        <m:ctrlPr>
                          <a:rPr lang="pt-BR" i="1">
                            <a:latin typeface="Cambria Math" panose="02040503050406030204" pitchFamily="18" charset="0"/>
                          </a:rPr>
                        </m:ctrlPr>
                      </m:dPr>
                      <m:e>
                        <m:r>
                          <a:rPr lang="pt-BR" b="1" i="1">
                            <a:latin typeface="Cambria Math" panose="02040503050406030204" pitchFamily="18" charset="0"/>
                          </a:rPr>
                          <m:t>𝒙</m:t>
                        </m:r>
                        <m:d>
                          <m:dPr>
                            <m:ctrlPr>
                              <a:rPr lang="pt-BR" b="1" i="1">
                                <a:latin typeface="Cambria Math" panose="02040503050406030204" pitchFamily="18" charset="0"/>
                              </a:rPr>
                            </m:ctrlPr>
                          </m:dPr>
                          <m:e>
                            <m:r>
                              <a:rPr lang="pt-BR" b="0" i="1" smtClean="0">
                                <a:latin typeface="Cambria Math" panose="02040503050406030204" pitchFamily="18" charset="0"/>
                              </a:rPr>
                              <m:t>𝑛</m:t>
                            </m:r>
                          </m:e>
                        </m:d>
                      </m:e>
                    </m:d>
                    <m:r>
                      <a:rPr lang="pt-BR" b="1" i="1">
                        <a:latin typeface="Cambria Math" panose="02040503050406030204" pitchFamily="18" charset="0"/>
                      </a:rPr>
                      <m:t>,</m:t>
                    </m:r>
                  </m:oMath>
                </a14:m>
                <a:r>
                  <a:rPr lang="pt-BR" dirty="0"/>
                  <a:t> é obtida passando-se a </a:t>
                </a:r>
                <a:r>
                  <a:rPr lang="pt-BR" b="1" dirty="0"/>
                  <a:t>função discriminante </a:t>
                </a:r>
                <a:r>
                  <a:rPr lang="pt-BR" dirty="0"/>
                  <a:t>da </a:t>
                </a:r>
                <a14:m>
                  <m:oMath xmlns:m="http://schemas.openxmlformats.org/officeDocument/2006/math">
                    <m:r>
                      <a:rPr lang="pt-BR" i="1">
                        <a:latin typeface="Cambria Math" panose="02040503050406030204" pitchFamily="18" charset="0"/>
                      </a:rPr>
                      <m:t>𝑞</m:t>
                    </m:r>
                  </m:oMath>
                </a14:m>
                <a:r>
                  <a:rPr lang="pt-BR" dirty="0"/>
                  <a:t>-</a:t>
                </a:r>
                <a:r>
                  <a:rPr lang="pt-BR" dirty="0" err="1"/>
                  <a:t>ésima</a:t>
                </a:r>
                <a:r>
                  <a:rPr lang="pt-BR" dirty="0"/>
                  <a:t> classe,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𝑔</m:t>
                        </m:r>
                      </m:e>
                      <m:sub>
                        <m:r>
                          <a:rPr lang="pt-BR" i="1">
                            <a:latin typeface="Cambria Math" panose="02040503050406030204" pitchFamily="18" charset="0"/>
                          </a:rPr>
                          <m:t>𝑞</m:t>
                        </m:r>
                      </m:sub>
                    </m:sSub>
                    <m:r>
                      <a:rPr lang="pt-BR" b="1" i="1">
                        <a:latin typeface="Cambria Math" panose="02040503050406030204" pitchFamily="18" charset="0"/>
                      </a:rPr>
                      <m:t>(</m:t>
                    </m:r>
                    <m:r>
                      <a:rPr lang="pt-BR" b="1" i="1">
                        <a:latin typeface="Cambria Math" panose="02040503050406030204" pitchFamily="18" charset="0"/>
                      </a:rPr>
                      <m:t>𝒙</m:t>
                    </m:r>
                    <m:r>
                      <a:rPr lang="pt-BR" i="1">
                        <a:latin typeface="Cambria Math" panose="02040503050406030204" pitchFamily="18" charset="0"/>
                      </a:rPr>
                      <m:t>(</m:t>
                    </m:r>
                    <m:r>
                      <a:rPr lang="pt-BR" b="0" i="1" smtClean="0">
                        <a:latin typeface="Cambria Math" panose="02040503050406030204" pitchFamily="18" charset="0"/>
                      </a:rPr>
                      <m:t>𝑛</m:t>
                    </m:r>
                    <m:r>
                      <a:rPr lang="pt-BR" i="1">
                        <a:latin typeface="Cambria Math" panose="02040503050406030204" pitchFamily="18" charset="0"/>
                      </a:rPr>
                      <m:t>)</m:t>
                    </m:r>
                    <m:r>
                      <a:rPr lang="pt-BR" b="1" i="1">
                        <a:latin typeface="Cambria Math" panose="02040503050406030204" pitchFamily="18" charset="0"/>
                      </a:rPr>
                      <m:t>)</m:t>
                    </m:r>
                  </m:oMath>
                </a14:m>
                <a:r>
                  <a:rPr lang="pt-BR" dirty="0"/>
                  <a:t>, através da </a:t>
                </a:r>
                <a:r>
                  <a:rPr lang="pt-BR" b="1" dirty="0">
                    <a:solidFill>
                      <a:srgbClr val="7030A0"/>
                    </a:solidFill>
                  </a:rPr>
                  <a:t>função (de ativação) </a:t>
                </a:r>
                <a:r>
                  <a:rPr lang="pt-BR" b="1" i="1" dirty="0">
                    <a:solidFill>
                      <a:srgbClr val="7030A0"/>
                    </a:solidFill>
                  </a:rPr>
                  <a:t>softmax</a:t>
                </a:r>
                <a:r>
                  <a:rPr lang="pt-BR" dirty="0"/>
                  <a:t>,</a:t>
                </a:r>
              </a:p>
              <a:p>
                <a:pPr marL="0" indent="0" algn="ctr">
                  <a:buNone/>
                </a:pPr>
                <a14:m>
                  <m:oMathPara xmlns:m="http://schemas.openxmlformats.org/officeDocument/2006/math">
                    <m:oMathParaPr>
                      <m:jc m:val="centerGroup"/>
                    </m:oMathParaPr>
                    <m:oMath xmlns:m="http://schemas.openxmlformats.org/officeDocument/2006/math">
                      <m:r>
                        <a:rPr lang="pt-BR" i="1">
                          <a:latin typeface="Cambria Math" panose="02040503050406030204" pitchFamily="18" charset="0"/>
                        </a:rPr>
                        <m:t>𝑃</m:t>
                      </m:r>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𝐶</m:t>
                              </m:r>
                            </m:e>
                            <m:sub>
                              <m:r>
                                <a:rPr lang="pt-BR" i="1">
                                  <a:latin typeface="Cambria Math" panose="02040503050406030204" pitchFamily="18" charset="0"/>
                                </a:rPr>
                                <m:t>𝑞</m:t>
                              </m:r>
                            </m:sub>
                          </m:sSub>
                          <m:r>
                            <a:rPr lang="pt-BR" b="0" i="1" smtClean="0">
                              <a:latin typeface="Cambria Math" panose="02040503050406030204" pitchFamily="18" charset="0"/>
                            </a:rPr>
                            <m:t> </m:t>
                          </m:r>
                          <m:r>
                            <a:rPr lang="pt-BR" i="1">
                              <a:latin typeface="Cambria Math" panose="02040503050406030204" pitchFamily="18" charset="0"/>
                            </a:rPr>
                            <m:t>|</m:t>
                          </m:r>
                          <m:r>
                            <a:rPr lang="pt-BR" b="0" i="1" smtClean="0">
                              <a:latin typeface="Cambria Math" panose="02040503050406030204" pitchFamily="18" charset="0"/>
                            </a:rPr>
                            <m:t> </m:t>
                          </m:r>
                          <m:r>
                            <a:rPr lang="pt-BR" b="1" i="1">
                              <a:latin typeface="Cambria Math" panose="02040503050406030204" pitchFamily="18" charset="0"/>
                            </a:rPr>
                            <m:t>𝒙</m:t>
                          </m:r>
                          <m:d>
                            <m:dPr>
                              <m:ctrlPr>
                                <a:rPr lang="pt-BR" b="1" i="1">
                                  <a:latin typeface="Cambria Math" panose="02040503050406030204" pitchFamily="18" charset="0"/>
                                </a:rPr>
                              </m:ctrlPr>
                            </m:dPr>
                            <m:e>
                              <m:r>
                                <a:rPr lang="pt-BR" b="0" i="1" smtClean="0">
                                  <a:latin typeface="Cambria Math" panose="02040503050406030204" pitchFamily="18" charset="0"/>
                                </a:rPr>
                                <m:t>𝑛</m:t>
                              </m:r>
                            </m:e>
                          </m:d>
                          <m:r>
                            <a:rPr lang="pt-BR" b="0" i="1" smtClean="0">
                              <a:latin typeface="Cambria Math" panose="02040503050406030204" pitchFamily="18" charset="0"/>
                            </a:rPr>
                            <m:t>,</m:t>
                          </m:r>
                          <m:r>
                            <a:rPr lang="pt-BR" b="1" i="1" smtClean="0">
                              <a:latin typeface="Cambria Math" panose="02040503050406030204" pitchFamily="18" charset="0"/>
                            </a:rPr>
                            <m:t>𝑨</m:t>
                          </m:r>
                        </m:e>
                      </m:d>
                      <m:r>
                        <a:rPr lang="pt-BR" i="1">
                          <a:latin typeface="Cambria Math" panose="02040503050406030204" pitchFamily="18" charset="0"/>
                        </a:rPr>
                        <m:t>=</m:t>
                      </m:r>
                      <m:sSubSup>
                        <m:sSubSupPr>
                          <m:ctrlPr>
                            <a:rPr lang="pt-BR" b="1" i="1">
                              <a:latin typeface="Cambria Math" panose="02040503050406030204" pitchFamily="18" charset="0"/>
                            </a:rPr>
                          </m:ctrlPr>
                        </m:sSubSupPr>
                        <m:e>
                          <m:r>
                            <a:rPr lang="pt-BR" i="1">
                              <a:latin typeface="Cambria Math" panose="02040503050406030204" pitchFamily="18" charset="0"/>
                            </a:rPr>
                            <m:t>h</m:t>
                          </m:r>
                        </m:e>
                        <m:sub>
                          <m:r>
                            <a:rPr lang="pt-BR" b="1" i="1">
                              <a:latin typeface="Cambria Math" panose="02040503050406030204" pitchFamily="18" charset="0"/>
                            </a:rPr>
                            <m:t>𝒂</m:t>
                          </m:r>
                        </m:sub>
                        <m:sup>
                          <m:r>
                            <a:rPr lang="pt-BR" i="1">
                              <a:latin typeface="Cambria Math" panose="02040503050406030204" pitchFamily="18" charset="0"/>
                            </a:rPr>
                            <m:t>𝑞</m:t>
                          </m:r>
                        </m:sup>
                      </m:sSubSup>
                      <m:d>
                        <m:dPr>
                          <m:ctrlPr>
                            <a:rPr lang="pt-BR" i="1">
                              <a:latin typeface="Cambria Math" panose="02040503050406030204" pitchFamily="18" charset="0"/>
                            </a:rPr>
                          </m:ctrlPr>
                        </m:dPr>
                        <m:e>
                          <m:r>
                            <a:rPr lang="pt-BR" b="1" i="1">
                              <a:latin typeface="Cambria Math" panose="02040503050406030204" pitchFamily="18" charset="0"/>
                            </a:rPr>
                            <m:t>𝒙</m:t>
                          </m:r>
                          <m:d>
                            <m:dPr>
                              <m:ctrlPr>
                                <a:rPr lang="pt-BR" b="1" i="1">
                                  <a:latin typeface="Cambria Math" panose="02040503050406030204" pitchFamily="18" charset="0"/>
                                </a:rPr>
                              </m:ctrlPr>
                            </m:dPr>
                            <m:e>
                              <m:r>
                                <a:rPr lang="pt-BR" b="0" i="1" smtClean="0">
                                  <a:latin typeface="Cambria Math" panose="02040503050406030204" pitchFamily="18" charset="0"/>
                                </a:rPr>
                                <m:t>𝑛</m:t>
                              </m:r>
                            </m:e>
                          </m:d>
                        </m:e>
                      </m:d>
                      <m:r>
                        <a:rPr lang="pt-BR" b="1" i="1">
                          <a:latin typeface="Cambria Math" panose="02040503050406030204" pitchFamily="18" charset="0"/>
                        </a:rPr>
                        <m:t>=</m:t>
                      </m:r>
                      <m:f>
                        <m:fPr>
                          <m:ctrlPr>
                            <a:rPr lang="pt-BR" b="1" i="1">
                              <a:latin typeface="Cambria Math" panose="02040503050406030204" pitchFamily="18" charset="0"/>
                            </a:rPr>
                          </m:ctrlPr>
                        </m:fPr>
                        <m:num>
                          <m:sSup>
                            <m:sSupPr>
                              <m:ctrlPr>
                                <a:rPr lang="pt-BR" b="1" i="1">
                                  <a:latin typeface="Cambria Math" panose="02040503050406030204" pitchFamily="18" charset="0"/>
                                </a:rPr>
                              </m:ctrlPr>
                            </m:sSupPr>
                            <m:e>
                              <m:r>
                                <a:rPr lang="pt-BR" i="1">
                                  <a:latin typeface="Cambria Math" panose="02040503050406030204" pitchFamily="18" charset="0"/>
                                </a:rPr>
                                <m:t>𝑒</m:t>
                              </m:r>
                            </m:e>
                            <m:sup>
                              <m:sSub>
                                <m:sSubPr>
                                  <m:ctrlPr>
                                    <a:rPr lang="pt-BR" i="1">
                                      <a:latin typeface="Cambria Math" panose="02040503050406030204" pitchFamily="18" charset="0"/>
                                    </a:rPr>
                                  </m:ctrlPr>
                                </m:sSubPr>
                                <m:e>
                                  <m:r>
                                    <a:rPr lang="pt-BR" i="1">
                                      <a:latin typeface="Cambria Math" panose="02040503050406030204" pitchFamily="18" charset="0"/>
                                    </a:rPr>
                                    <m:t>𝑔</m:t>
                                  </m:r>
                                </m:e>
                                <m:sub>
                                  <m:r>
                                    <a:rPr lang="pt-BR" i="1">
                                      <a:latin typeface="Cambria Math" panose="02040503050406030204" pitchFamily="18" charset="0"/>
                                    </a:rPr>
                                    <m:t>𝑞</m:t>
                                  </m:r>
                                </m:sub>
                              </m:sSub>
                              <m:r>
                                <a:rPr lang="pt-BR" b="1" i="1">
                                  <a:latin typeface="Cambria Math" panose="02040503050406030204" pitchFamily="18" charset="0"/>
                                </a:rPr>
                                <m:t>(</m:t>
                              </m:r>
                              <m:r>
                                <a:rPr lang="pt-BR" b="1" i="1">
                                  <a:latin typeface="Cambria Math" panose="02040503050406030204" pitchFamily="18" charset="0"/>
                                </a:rPr>
                                <m:t>𝒙</m:t>
                              </m:r>
                              <m:r>
                                <a:rPr lang="pt-BR" i="1">
                                  <a:latin typeface="Cambria Math" panose="02040503050406030204" pitchFamily="18" charset="0"/>
                                </a:rPr>
                                <m:t>(</m:t>
                              </m:r>
                              <m:r>
                                <a:rPr lang="pt-BR" b="0" i="1" smtClean="0">
                                  <a:latin typeface="Cambria Math" panose="02040503050406030204" pitchFamily="18" charset="0"/>
                                </a:rPr>
                                <m:t>𝑛</m:t>
                              </m:r>
                              <m:r>
                                <a:rPr lang="pt-BR" i="1">
                                  <a:latin typeface="Cambria Math" panose="02040503050406030204" pitchFamily="18" charset="0"/>
                                </a:rPr>
                                <m:t>)</m:t>
                              </m:r>
                              <m:r>
                                <a:rPr lang="pt-BR" b="1" i="1">
                                  <a:latin typeface="Cambria Math" panose="02040503050406030204" pitchFamily="18" charset="0"/>
                                </a:rPr>
                                <m:t>)</m:t>
                              </m:r>
                            </m:sup>
                          </m:sSup>
                        </m:num>
                        <m:den>
                          <m:nary>
                            <m:naryPr>
                              <m:chr m:val="∑"/>
                              <m:ctrlPr>
                                <a:rPr lang="pt-BR" b="1" i="1">
                                  <a:latin typeface="Cambria Math" panose="02040503050406030204" pitchFamily="18" charset="0"/>
                                </a:rPr>
                              </m:ctrlPr>
                            </m:naryPr>
                            <m:sub>
                              <m:r>
                                <a:rPr lang="pt-BR" i="1">
                                  <a:latin typeface="Cambria Math" panose="02040503050406030204" pitchFamily="18" charset="0"/>
                                </a:rPr>
                                <m:t>𝑗</m:t>
                              </m:r>
                              <m:r>
                                <a:rPr lang="pt-BR" i="1">
                                  <a:latin typeface="Cambria Math" panose="02040503050406030204" pitchFamily="18" charset="0"/>
                                </a:rPr>
                                <m:t>=0</m:t>
                              </m:r>
                            </m:sub>
                            <m:sup>
                              <m:r>
                                <a:rPr lang="pt-BR" i="1">
                                  <a:latin typeface="Cambria Math" panose="02040503050406030204" pitchFamily="18" charset="0"/>
                                </a:rPr>
                                <m:t>𝑄</m:t>
                              </m:r>
                              <m:r>
                                <a:rPr lang="pt-BR" b="0" i="1" smtClean="0">
                                  <a:latin typeface="Cambria Math" panose="02040503050406030204" pitchFamily="18" charset="0"/>
                                </a:rPr>
                                <m:t>−1</m:t>
                              </m:r>
                            </m:sup>
                            <m:e>
                              <m:sSup>
                                <m:sSupPr>
                                  <m:ctrlPr>
                                    <a:rPr lang="pt-BR" b="1" i="1">
                                      <a:latin typeface="Cambria Math" panose="02040503050406030204" pitchFamily="18" charset="0"/>
                                    </a:rPr>
                                  </m:ctrlPr>
                                </m:sSupPr>
                                <m:e>
                                  <m:r>
                                    <a:rPr lang="pt-BR" i="1">
                                      <a:latin typeface="Cambria Math" panose="02040503050406030204" pitchFamily="18" charset="0"/>
                                    </a:rPr>
                                    <m:t>𝑒</m:t>
                                  </m:r>
                                </m:e>
                                <m:sup>
                                  <m:sSub>
                                    <m:sSubPr>
                                      <m:ctrlPr>
                                        <a:rPr lang="pt-BR" i="1">
                                          <a:latin typeface="Cambria Math" panose="02040503050406030204" pitchFamily="18" charset="0"/>
                                        </a:rPr>
                                      </m:ctrlPr>
                                    </m:sSubPr>
                                    <m:e>
                                      <m:r>
                                        <a:rPr lang="pt-BR" i="1">
                                          <a:latin typeface="Cambria Math" panose="02040503050406030204" pitchFamily="18" charset="0"/>
                                        </a:rPr>
                                        <m:t>𝑔</m:t>
                                      </m:r>
                                    </m:e>
                                    <m:sub>
                                      <m:r>
                                        <a:rPr lang="pt-BR" i="1">
                                          <a:latin typeface="Cambria Math" panose="02040503050406030204" pitchFamily="18" charset="0"/>
                                        </a:rPr>
                                        <m:t>𝑗</m:t>
                                      </m:r>
                                    </m:sub>
                                  </m:sSub>
                                  <m:r>
                                    <a:rPr lang="pt-BR" b="1" i="1">
                                      <a:latin typeface="Cambria Math" panose="02040503050406030204" pitchFamily="18" charset="0"/>
                                    </a:rPr>
                                    <m:t>(</m:t>
                                  </m:r>
                                  <m:r>
                                    <a:rPr lang="pt-BR" b="1" i="1">
                                      <a:latin typeface="Cambria Math" panose="02040503050406030204" pitchFamily="18" charset="0"/>
                                    </a:rPr>
                                    <m:t>𝒙</m:t>
                                  </m:r>
                                  <m:r>
                                    <a:rPr lang="pt-BR" i="1">
                                      <a:latin typeface="Cambria Math" panose="02040503050406030204" pitchFamily="18" charset="0"/>
                                    </a:rPr>
                                    <m:t>(</m:t>
                                  </m:r>
                                  <m:r>
                                    <a:rPr lang="pt-BR" b="0" i="1" smtClean="0">
                                      <a:latin typeface="Cambria Math" panose="02040503050406030204" pitchFamily="18" charset="0"/>
                                    </a:rPr>
                                    <m:t>𝑛</m:t>
                                  </m:r>
                                  <m:r>
                                    <a:rPr lang="pt-BR" i="1">
                                      <a:latin typeface="Cambria Math" panose="02040503050406030204" pitchFamily="18" charset="0"/>
                                    </a:rPr>
                                    <m:t>)</m:t>
                                  </m:r>
                                  <m:r>
                                    <a:rPr lang="pt-BR" b="1" i="1">
                                      <a:latin typeface="Cambria Math" panose="02040503050406030204" pitchFamily="18" charset="0"/>
                                    </a:rPr>
                                    <m:t>)</m:t>
                                  </m:r>
                                </m:sup>
                              </m:sSup>
                            </m:e>
                          </m:nary>
                        </m:den>
                      </m:f>
                      <m:r>
                        <a:rPr lang="pt-BR" b="0" i="1" smtClean="0">
                          <a:latin typeface="Cambria Math" panose="02040503050406030204" pitchFamily="18" charset="0"/>
                          <a:ea typeface="Cambria Math" panose="02040503050406030204" pitchFamily="18" charset="0"/>
                        </a:rPr>
                        <m:t>∀</m:t>
                      </m:r>
                      <m:r>
                        <a:rPr lang="pt-BR" b="0" i="1" smtClean="0">
                          <a:latin typeface="Cambria Math" panose="02040503050406030204" pitchFamily="18" charset="0"/>
                          <a:ea typeface="Cambria Math" panose="02040503050406030204" pitchFamily="18" charset="0"/>
                        </a:rPr>
                        <m:t>𝑞</m:t>
                      </m:r>
                      <m:r>
                        <a:rPr lang="pt-BR" b="1" i="1" smtClean="0">
                          <a:latin typeface="Cambria Math" panose="02040503050406030204" pitchFamily="18" charset="0"/>
                        </a:rPr>
                        <m:t>,</m:t>
                      </m:r>
                    </m:oMath>
                  </m:oMathPara>
                </a14:m>
                <a:endParaRPr lang="pt-BR" i="1" dirty="0"/>
              </a:p>
              <a:p>
                <a:pPr marL="0" indent="0">
                  <a:buNone/>
                </a:pPr>
                <a:r>
                  <a:rPr lang="pt-BR" dirty="0"/>
                  <a:t>o</a:t>
                </a:r>
                <a:r>
                  <a:rPr lang="pt-BR" dirty="0" smtClean="0"/>
                  <a:t>nde </a:t>
                </a:r>
                <a14:m>
                  <m:oMath xmlns:m="http://schemas.openxmlformats.org/officeDocument/2006/math">
                    <m:r>
                      <a:rPr lang="pt-BR" b="1" i="1">
                        <a:latin typeface="Cambria Math" panose="02040503050406030204" pitchFamily="18" charset="0"/>
                      </a:rPr>
                      <m:t>𝑨</m:t>
                    </m:r>
                    <m:r>
                      <a:rPr lang="pt-BR" b="1" i="1">
                        <a:latin typeface="Cambria Math" panose="02040503050406030204" pitchFamily="18" charset="0"/>
                        <a:ea typeface="Cambria Math" panose="02040503050406030204" pitchFamily="18" charset="0"/>
                      </a:rPr>
                      <m:t>∈</m:t>
                    </m:r>
                    <m:sSup>
                      <m:sSupPr>
                        <m:ctrlPr>
                          <a:rPr lang="pt-BR" b="1" i="1">
                            <a:latin typeface="Cambria Math" panose="02040503050406030204" pitchFamily="18" charset="0"/>
                            <a:ea typeface="Cambria Math" panose="02040503050406030204" pitchFamily="18" charset="0"/>
                          </a:rPr>
                        </m:ctrlPr>
                      </m:sSupPr>
                      <m:e>
                        <m:r>
                          <a:rPr lang="pt-BR" b="1" i="1">
                            <a:latin typeface="Cambria Math" panose="02040503050406030204" pitchFamily="18" charset="0"/>
                            <a:ea typeface="Cambria Math" panose="02040503050406030204" pitchFamily="18" charset="0"/>
                          </a:rPr>
                          <m:t>ℝ</m:t>
                        </m:r>
                      </m:e>
                      <m:sup>
                        <m:r>
                          <a:rPr lang="pt-BR" i="1">
                            <a:latin typeface="Cambria Math" panose="02040503050406030204" pitchFamily="18" charset="0"/>
                            <a:ea typeface="Cambria Math" panose="02040503050406030204" pitchFamily="18" charset="0"/>
                          </a:rPr>
                          <m:t>𝐾</m:t>
                        </m:r>
                        <m:r>
                          <a:rPr lang="pt-BR" i="1">
                            <a:latin typeface="Cambria Math" panose="02040503050406030204" pitchFamily="18" charset="0"/>
                            <a:ea typeface="Cambria Math" panose="02040503050406030204" pitchFamily="18" charset="0"/>
                          </a:rPr>
                          <m:t>+1×</m:t>
                        </m:r>
                        <m:r>
                          <a:rPr lang="pt-BR" b="0" i="1" smtClean="0">
                            <a:latin typeface="Cambria Math" panose="02040503050406030204" pitchFamily="18" charset="0"/>
                            <a:ea typeface="Cambria Math" panose="02040503050406030204" pitchFamily="18" charset="0"/>
                          </a:rPr>
                          <m:t>𝑄</m:t>
                        </m:r>
                      </m:sup>
                    </m:sSup>
                  </m:oMath>
                </a14:m>
                <a:r>
                  <a:rPr lang="pt-BR" dirty="0" smtClean="0"/>
                  <a:t> é a matriz contendo todos os </a:t>
                </a:r>
                <a14:m>
                  <m:oMath xmlns:m="http://schemas.openxmlformats.org/officeDocument/2006/math">
                    <m:r>
                      <a:rPr lang="pt-BR" i="1">
                        <a:latin typeface="Cambria Math" panose="02040503050406030204" pitchFamily="18" charset="0"/>
                        <a:ea typeface="Cambria Math" panose="02040503050406030204" pitchFamily="18" charset="0"/>
                      </a:rPr>
                      <m:t>𝑄</m:t>
                    </m:r>
                  </m:oMath>
                </a14:m>
                <a:r>
                  <a:rPr lang="pt-BR" dirty="0" smtClean="0"/>
                  <a:t> vetores de pesos,</a:t>
                </a:r>
                <a:r>
                  <a:rPr lang="pt-BR" i="1" dirty="0" smtClean="0"/>
                  <a:t> </a:t>
                </a:r>
                <a14:m>
                  <m:oMath xmlns:m="http://schemas.openxmlformats.org/officeDocument/2006/math">
                    <m:sSub>
                      <m:sSubPr>
                        <m:ctrlPr>
                          <a:rPr lang="pt-BR" b="1" i="1">
                            <a:latin typeface="Cambria Math" panose="02040503050406030204" pitchFamily="18" charset="0"/>
                          </a:rPr>
                        </m:ctrlPr>
                      </m:sSubPr>
                      <m:e>
                        <m:r>
                          <a:rPr lang="pt-BR" b="1" i="1">
                            <a:latin typeface="Cambria Math" panose="02040503050406030204" pitchFamily="18" charset="0"/>
                          </a:rPr>
                          <m:t>𝒂</m:t>
                        </m:r>
                      </m:e>
                      <m:sub>
                        <m:r>
                          <a:rPr lang="pt-BR" i="1">
                            <a:latin typeface="Cambria Math" panose="02040503050406030204" pitchFamily="18" charset="0"/>
                          </a:rPr>
                          <m:t>𝑞</m:t>
                        </m:r>
                      </m:sub>
                    </m:sSub>
                    <m:r>
                      <a:rPr lang="pt-BR" b="1" i="1">
                        <a:latin typeface="Cambria Math" panose="02040503050406030204" pitchFamily="18" charset="0"/>
                      </a:rPr>
                      <m:t>=</m:t>
                    </m:r>
                    <m:sSup>
                      <m:sSupPr>
                        <m:ctrlPr>
                          <a:rPr lang="pt-BR" b="1" i="1">
                            <a:latin typeface="Cambria Math" panose="02040503050406030204" pitchFamily="18" charset="0"/>
                          </a:rPr>
                        </m:ctrlPr>
                      </m:sSupPr>
                      <m:e>
                        <m:d>
                          <m:dPr>
                            <m:begChr m:val="["/>
                            <m:endChr m:val="]"/>
                            <m:ctrlPr>
                              <a:rPr lang="pt-BR" b="1" i="1">
                                <a:latin typeface="Cambria Math" panose="02040503050406030204" pitchFamily="18" charset="0"/>
                              </a:rPr>
                            </m:ctrlPr>
                          </m:dPr>
                          <m:e>
                            <m:m>
                              <m:mPr>
                                <m:mcs>
                                  <m:mc>
                                    <m:mcPr>
                                      <m:count m:val="3"/>
                                      <m:mcJc m:val="center"/>
                                    </m:mcPr>
                                  </m:mc>
                                </m:mcs>
                                <m:ctrlPr>
                                  <a:rPr lang="pt-BR" b="1" i="1">
                                    <a:latin typeface="Cambria Math" panose="02040503050406030204" pitchFamily="18" charset="0"/>
                                  </a:rPr>
                                </m:ctrlPr>
                              </m:mPr>
                              <m:mr>
                                <m:e>
                                  <m:sSubSup>
                                    <m:sSubSupPr>
                                      <m:ctrlPr>
                                        <a:rPr lang="pt-BR" i="1">
                                          <a:latin typeface="Cambria Math" panose="02040503050406030204" pitchFamily="18" charset="0"/>
                                        </a:rPr>
                                      </m:ctrlPr>
                                    </m:sSubSupPr>
                                    <m:e>
                                      <m:r>
                                        <a:rPr lang="pt-BR" i="1">
                                          <a:latin typeface="Cambria Math" panose="02040503050406030204" pitchFamily="18" charset="0"/>
                                        </a:rPr>
                                        <m:t>𝑎</m:t>
                                      </m:r>
                                    </m:e>
                                    <m:sub>
                                      <m:r>
                                        <a:rPr lang="pt-BR" i="1">
                                          <a:latin typeface="Cambria Math" panose="02040503050406030204" pitchFamily="18" charset="0"/>
                                        </a:rPr>
                                        <m:t>0</m:t>
                                      </m:r>
                                    </m:sub>
                                    <m:sup>
                                      <m:r>
                                        <a:rPr lang="pt-BR" i="1">
                                          <a:latin typeface="Cambria Math" panose="02040503050406030204" pitchFamily="18" charset="0"/>
                                        </a:rPr>
                                        <m:t>𝑞</m:t>
                                      </m:r>
                                    </m:sup>
                                  </m:sSubSup>
                                </m:e>
                                <m:e>
                                  <m:sSubSup>
                                    <m:sSubSupPr>
                                      <m:ctrlPr>
                                        <a:rPr lang="pt-BR" i="1">
                                          <a:latin typeface="Cambria Math" panose="02040503050406030204" pitchFamily="18" charset="0"/>
                                        </a:rPr>
                                      </m:ctrlPr>
                                    </m:sSubSupPr>
                                    <m:e>
                                      <m:r>
                                        <a:rPr lang="pt-BR" i="1">
                                          <a:latin typeface="Cambria Math" panose="02040503050406030204" pitchFamily="18" charset="0"/>
                                        </a:rPr>
                                        <m:t>𝑎</m:t>
                                      </m:r>
                                    </m:e>
                                    <m:sub>
                                      <m:r>
                                        <a:rPr lang="pt-BR" i="1">
                                          <a:latin typeface="Cambria Math" panose="02040503050406030204" pitchFamily="18" charset="0"/>
                                        </a:rPr>
                                        <m:t>1</m:t>
                                      </m:r>
                                    </m:sub>
                                    <m:sup>
                                      <m:r>
                                        <a:rPr lang="pt-BR" i="1">
                                          <a:latin typeface="Cambria Math" panose="02040503050406030204" pitchFamily="18" charset="0"/>
                                        </a:rPr>
                                        <m:t>𝑞</m:t>
                                      </m:r>
                                    </m:sup>
                                  </m:sSubSup>
                                </m:e>
                                <m:e>
                                  <m:m>
                                    <m:mPr>
                                      <m:mcs>
                                        <m:mc>
                                          <m:mcPr>
                                            <m:count m:val="2"/>
                                            <m:mcJc m:val="center"/>
                                          </m:mcPr>
                                        </m:mc>
                                      </m:mcs>
                                      <m:ctrlPr>
                                        <a:rPr lang="pt-BR" b="1" i="1">
                                          <a:latin typeface="Cambria Math" panose="02040503050406030204" pitchFamily="18" charset="0"/>
                                        </a:rPr>
                                      </m:ctrlPr>
                                    </m:mPr>
                                    <m:mr>
                                      <m:e>
                                        <m:r>
                                          <m:rPr>
                                            <m:brk m:alnAt="7"/>
                                          </m:rPr>
                                          <a:rPr lang="pt-BR" b="1" i="1">
                                            <a:latin typeface="Cambria Math" panose="02040503050406030204" pitchFamily="18" charset="0"/>
                                          </a:rPr>
                                          <m:t>⋯</m:t>
                                        </m:r>
                                      </m:e>
                                      <m:e>
                                        <m:sSubSup>
                                          <m:sSubSupPr>
                                            <m:ctrlPr>
                                              <a:rPr lang="pt-BR" i="1">
                                                <a:latin typeface="Cambria Math" panose="02040503050406030204" pitchFamily="18" charset="0"/>
                                              </a:rPr>
                                            </m:ctrlPr>
                                          </m:sSubSupPr>
                                          <m:e>
                                            <m:r>
                                              <a:rPr lang="pt-BR" i="1">
                                                <a:latin typeface="Cambria Math" panose="02040503050406030204" pitchFamily="18" charset="0"/>
                                              </a:rPr>
                                              <m:t>𝑎</m:t>
                                            </m:r>
                                          </m:e>
                                          <m:sub>
                                            <m:r>
                                              <a:rPr lang="pt-BR" i="1">
                                                <a:latin typeface="Cambria Math" panose="02040503050406030204" pitchFamily="18" charset="0"/>
                                              </a:rPr>
                                              <m:t>𝐾</m:t>
                                            </m:r>
                                          </m:sub>
                                          <m:sup>
                                            <m:r>
                                              <a:rPr lang="pt-BR" i="1">
                                                <a:latin typeface="Cambria Math" panose="02040503050406030204" pitchFamily="18" charset="0"/>
                                              </a:rPr>
                                              <m:t>𝑞</m:t>
                                            </m:r>
                                          </m:sup>
                                        </m:sSubSup>
                                      </m:e>
                                    </m:mr>
                                  </m:m>
                                </m:e>
                              </m:mr>
                            </m:m>
                          </m:e>
                        </m:d>
                      </m:e>
                      <m:sup>
                        <m:r>
                          <a:rPr lang="pt-BR" b="1" i="1">
                            <a:latin typeface="Cambria Math" panose="02040503050406030204" pitchFamily="18" charset="0"/>
                          </a:rPr>
                          <m:t>𝑻</m:t>
                        </m:r>
                      </m:sup>
                    </m:sSup>
                    <m:r>
                      <a:rPr lang="pt-BR" b="1" i="1" smtClean="0">
                        <a:latin typeface="Cambria Math" panose="02040503050406030204" pitchFamily="18" charset="0"/>
                        <a:ea typeface="Cambria Math" panose="02040503050406030204" pitchFamily="18" charset="0"/>
                      </a:rPr>
                      <m:t>∈</m:t>
                    </m:r>
                    <m:sSup>
                      <m:sSupPr>
                        <m:ctrlPr>
                          <a:rPr lang="pt-BR" b="1" i="1" smtClean="0">
                            <a:latin typeface="Cambria Math" panose="02040503050406030204" pitchFamily="18" charset="0"/>
                            <a:ea typeface="Cambria Math" panose="02040503050406030204" pitchFamily="18" charset="0"/>
                          </a:rPr>
                        </m:ctrlPr>
                      </m:sSupPr>
                      <m:e>
                        <m:r>
                          <a:rPr lang="pt-BR" b="1" i="1" smtClean="0">
                            <a:latin typeface="Cambria Math" panose="02040503050406030204" pitchFamily="18" charset="0"/>
                            <a:ea typeface="Cambria Math" panose="02040503050406030204" pitchFamily="18" charset="0"/>
                          </a:rPr>
                          <m:t>ℝ</m:t>
                        </m:r>
                      </m:e>
                      <m:sup>
                        <m:r>
                          <a:rPr lang="pt-BR" b="0" i="1" smtClean="0">
                            <a:latin typeface="Cambria Math" panose="02040503050406030204" pitchFamily="18" charset="0"/>
                            <a:ea typeface="Cambria Math" panose="02040503050406030204" pitchFamily="18" charset="0"/>
                          </a:rPr>
                          <m:t>𝐾</m:t>
                        </m:r>
                        <m:r>
                          <a:rPr lang="pt-BR" b="0" i="1" smtClean="0">
                            <a:latin typeface="Cambria Math" panose="02040503050406030204" pitchFamily="18" charset="0"/>
                            <a:ea typeface="Cambria Math" panose="02040503050406030204" pitchFamily="18" charset="0"/>
                          </a:rPr>
                          <m:t>+1×1</m:t>
                        </m:r>
                      </m:sup>
                    </m:sSup>
                  </m:oMath>
                </a14:m>
                <a:r>
                  <a:rPr lang="pt-BR" i="1" dirty="0"/>
                  <a:t> </a:t>
                </a:r>
                <a:r>
                  <a:rPr lang="pt-BR" dirty="0"/>
                  <a:t>é o </a:t>
                </a:r>
                <a:r>
                  <a:rPr lang="pt-BR" b="1" dirty="0"/>
                  <a:t>vetor de pesos</a:t>
                </a:r>
                <a:r>
                  <a:rPr lang="pt-BR" b="1" i="1" dirty="0"/>
                  <a:t> </a:t>
                </a:r>
                <a:r>
                  <a:rPr lang="pt-BR" dirty="0"/>
                  <a:t>da </a:t>
                </a:r>
                <a14:m>
                  <m:oMath xmlns:m="http://schemas.openxmlformats.org/officeDocument/2006/math">
                    <m:r>
                      <a:rPr lang="pt-BR" i="1">
                        <a:latin typeface="Cambria Math" panose="02040503050406030204" pitchFamily="18" charset="0"/>
                      </a:rPr>
                      <m:t>𝑞</m:t>
                    </m:r>
                  </m:oMath>
                </a14:m>
                <a:r>
                  <a:rPr lang="pt-BR" dirty="0"/>
                  <a:t>-</a:t>
                </a:r>
                <a:r>
                  <a:rPr lang="pt-BR" dirty="0" err="1"/>
                  <a:t>ésima</a:t>
                </a:r>
                <a:r>
                  <a:rPr lang="pt-BR" dirty="0"/>
                  <a:t> </a:t>
                </a:r>
                <a:r>
                  <a:rPr lang="pt-BR" b="1" dirty="0"/>
                  <a:t>função discriminante</a:t>
                </a:r>
                <a:r>
                  <a:rPr lang="pt-BR" dirty="0"/>
                  <a:t>,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𝑔</m:t>
                        </m:r>
                      </m:e>
                      <m:sub>
                        <m:r>
                          <a:rPr lang="pt-BR" i="1">
                            <a:latin typeface="Cambria Math" panose="02040503050406030204" pitchFamily="18" charset="0"/>
                          </a:rPr>
                          <m:t>𝑞</m:t>
                        </m:r>
                      </m:sub>
                    </m:sSub>
                    <m:r>
                      <a:rPr lang="pt-BR" b="1" i="1">
                        <a:latin typeface="Cambria Math" panose="02040503050406030204" pitchFamily="18" charset="0"/>
                      </a:rPr>
                      <m:t>(</m:t>
                    </m:r>
                    <m:r>
                      <a:rPr lang="pt-BR" b="1" i="1">
                        <a:latin typeface="Cambria Math" panose="02040503050406030204" pitchFamily="18" charset="0"/>
                      </a:rPr>
                      <m:t>𝒙</m:t>
                    </m:r>
                    <m:r>
                      <a:rPr lang="pt-BR" i="1">
                        <a:latin typeface="Cambria Math" panose="02040503050406030204" pitchFamily="18" charset="0"/>
                      </a:rPr>
                      <m:t>(</m:t>
                    </m:r>
                    <m:r>
                      <a:rPr lang="pt-BR" b="0" i="1" smtClean="0">
                        <a:latin typeface="Cambria Math" panose="02040503050406030204" pitchFamily="18" charset="0"/>
                      </a:rPr>
                      <m:t>𝑛</m:t>
                    </m:r>
                    <m:r>
                      <a:rPr lang="pt-BR" i="1">
                        <a:latin typeface="Cambria Math" panose="02040503050406030204" pitchFamily="18" charset="0"/>
                      </a:rPr>
                      <m:t>)</m:t>
                    </m:r>
                    <m:r>
                      <a:rPr lang="pt-BR" b="1" i="1">
                        <a:latin typeface="Cambria Math" panose="02040503050406030204" pitchFamily="18" charset="0"/>
                      </a:rPr>
                      <m:t>)</m:t>
                    </m:r>
                  </m:oMath>
                </a14:m>
                <a:r>
                  <a:rPr lang="pt-BR" dirty="0"/>
                  <a:t>, e </a:t>
                </a:r>
                <a14:m>
                  <m:oMath xmlns:m="http://schemas.openxmlformats.org/officeDocument/2006/math">
                    <m:r>
                      <a:rPr lang="pt-BR" b="0" i="1" smtClean="0">
                        <a:latin typeface="Cambria Math" panose="02040503050406030204" pitchFamily="18" charset="0"/>
                      </a:rPr>
                      <m:t>𝑛</m:t>
                    </m:r>
                  </m:oMath>
                </a14:m>
                <a:r>
                  <a:rPr lang="pt-BR" dirty="0"/>
                  <a:t> indica o número da amostra.</a:t>
                </a:r>
              </a:p>
              <a:p>
                <a:r>
                  <a:rPr lang="pt-BR" dirty="0" smtClean="0"/>
                  <a:t>Além </a:t>
                </a:r>
                <a:r>
                  <a:rPr lang="pt-BR" dirty="0"/>
                  <a:t>do regressor </a:t>
                </a:r>
                <a:r>
                  <a:rPr lang="pt-BR" i="1" dirty="0"/>
                  <a:t>softmax</a:t>
                </a:r>
                <a:r>
                  <a:rPr lang="pt-BR" dirty="0"/>
                  <a:t>, essa função de ativação é usada na </a:t>
                </a:r>
                <a:r>
                  <a:rPr lang="pt-BR" b="1" dirty="0">
                    <a:solidFill>
                      <a:srgbClr val="00B050"/>
                    </a:solidFill>
                  </a:rPr>
                  <a:t>camada de saída</a:t>
                </a:r>
                <a:r>
                  <a:rPr lang="pt-BR" dirty="0">
                    <a:solidFill>
                      <a:srgbClr val="00B050"/>
                    </a:solidFill>
                  </a:rPr>
                  <a:t> </a:t>
                </a:r>
                <a:r>
                  <a:rPr lang="pt-BR" dirty="0"/>
                  <a:t>de </a:t>
                </a:r>
                <a:r>
                  <a:rPr lang="pt-BR" b="1" dirty="0">
                    <a:solidFill>
                      <a:srgbClr val="00B050"/>
                    </a:solidFill>
                  </a:rPr>
                  <a:t>redes neurais</a:t>
                </a:r>
                <a:r>
                  <a:rPr lang="pt-BR" dirty="0"/>
                  <a:t> empregadas em tarefas de </a:t>
                </a:r>
                <a:r>
                  <a:rPr lang="pt-BR" b="1" dirty="0">
                    <a:solidFill>
                      <a:srgbClr val="00B050"/>
                    </a:solidFill>
                  </a:rPr>
                  <a:t>classificação.</a:t>
                </a:r>
                <a:endParaRPr lang="pt-BR" sz="2800" dirty="0"/>
              </a:p>
              <a:p>
                <a:pPr marL="0" indent="0">
                  <a:buNone/>
                </a:pPr>
                <a:endParaRPr lang="pt-BR" dirty="0"/>
              </a:p>
            </p:txBody>
          </p:sp>
        </mc:Choice>
        <mc:Fallback xmlns="">
          <p:sp>
            <p:nvSpPr>
              <p:cNvPr id="3" name="Espaço Reservado para Conteúdo 2">
                <a:extLst>
                  <a:ext uri="{FF2B5EF4-FFF2-40B4-BE49-F238E27FC236}">
                    <a16:creationId xmlns="" xmlns:a16="http://schemas.microsoft.com/office/drawing/2014/main" xmlns:a14="http://schemas.microsoft.com/office/drawing/2010/main" id="{D79BB7DC-99E7-8958-EC77-566B7E3C2BBB}"/>
                  </a:ext>
                </a:extLst>
              </p:cNvPr>
              <p:cNvSpPr>
                <a:spLocks noGrp="1" noRot="1" noChangeAspect="1" noMove="1" noResize="1" noEditPoints="1" noAdjustHandles="1" noChangeArrowheads="1" noChangeShapeType="1" noTextEdit="1"/>
              </p:cNvSpPr>
              <p:nvPr>
                <p:ph idx="1"/>
              </p:nvPr>
            </p:nvSpPr>
            <p:spPr>
              <a:xfrm>
                <a:off x="838200" y="1825624"/>
                <a:ext cx="11353800" cy="5032375"/>
              </a:xfrm>
              <a:blipFill rotWithShape="0">
                <a:blip r:embed="rId3"/>
                <a:stretch>
                  <a:fillRect l="-1128" t="-1332" r="-859"/>
                </a:stretch>
              </a:blipFill>
            </p:spPr>
            <p:txBody>
              <a:bodyPr/>
              <a:lstStyle/>
              <a:p>
                <a:r>
                  <a:rPr lang="pt-BR">
                    <a:noFill/>
                  </a:rPr>
                  <a:t> </a:t>
                </a:r>
              </a:p>
            </p:txBody>
          </p:sp>
        </mc:Fallback>
      </mc:AlternateContent>
    </p:spTree>
    <p:extLst>
      <p:ext uri="{BB962C8B-B14F-4D97-AF65-F5344CB8AC3E}">
        <p14:creationId xmlns:p14="http://schemas.microsoft.com/office/powerpoint/2010/main" val="34714531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2E3438D-F516-F1D3-A02F-51857586D07A}"/>
              </a:ext>
            </a:extLst>
          </p:cNvPr>
          <p:cNvSpPr>
            <a:spLocks noGrp="1"/>
          </p:cNvSpPr>
          <p:nvPr>
            <p:ph type="title"/>
          </p:nvPr>
        </p:nvSpPr>
        <p:spPr/>
        <p:txBody>
          <a:bodyPr/>
          <a:lstStyle/>
          <a:p>
            <a:r>
              <a:rPr lang="pt-BR" dirty="0"/>
              <a:t>Função de ativação </a:t>
            </a:r>
            <a:r>
              <a:rPr lang="pt-BR" i="1" dirty="0"/>
              <a:t>softmax</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xmlns="" id="{BCAAD57B-65A0-9DAD-79FC-2AE2692EB84B}"/>
                  </a:ext>
                </a:extLst>
              </p:cNvPr>
              <p:cNvSpPr>
                <a:spLocks noGrp="1"/>
              </p:cNvSpPr>
              <p:nvPr>
                <p:ph idx="1"/>
              </p:nvPr>
            </p:nvSpPr>
            <p:spPr>
              <a:xfrm>
                <a:off x="838200" y="1825624"/>
                <a:ext cx="11353800" cy="5032375"/>
              </a:xfrm>
            </p:spPr>
            <p:txBody>
              <a:bodyPr>
                <a:normAutofit/>
              </a:bodyPr>
              <a:lstStyle/>
              <a:p>
                <a:r>
                  <a:rPr lang="pt-BR" dirty="0" smtClean="0"/>
                  <a:t>É uma </a:t>
                </a:r>
                <a:r>
                  <a:rPr lang="pt-BR" b="1" dirty="0">
                    <a:solidFill>
                      <a:schemeClr val="accent2"/>
                    </a:solidFill>
                  </a:rPr>
                  <a:t>generalização</a:t>
                </a:r>
                <a:r>
                  <a:rPr lang="pt-BR" dirty="0"/>
                  <a:t> da função sigmoide.</a:t>
                </a:r>
              </a:p>
              <a:p>
                <a:r>
                  <a:rPr lang="pt-BR" dirty="0"/>
                  <a:t>O somatório de termos exponenciais no denominador </a:t>
                </a:r>
                <a:r>
                  <a:rPr lang="pt-BR" b="1" dirty="0">
                    <a:solidFill>
                      <a:srgbClr val="00B050"/>
                    </a:solidFill>
                  </a:rPr>
                  <a:t>normaliza</a:t>
                </a:r>
                <a:r>
                  <a:rPr lang="pt-BR" dirty="0"/>
                  <a:t> o valor de cada uma das </a:t>
                </a:r>
                <a14:m>
                  <m:oMath xmlns:m="http://schemas.openxmlformats.org/officeDocument/2006/math">
                    <m:r>
                      <a:rPr lang="pt-BR" b="0" i="1" smtClean="0">
                        <a:latin typeface="Cambria Math" panose="02040503050406030204" pitchFamily="18" charset="0"/>
                      </a:rPr>
                      <m:t>𝑄</m:t>
                    </m:r>
                  </m:oMath>
                </a14:m>
                <a:r>
                  <a:rPr lang="pt-BR" dirty="0"/>
                  <a:t> saídas, fazendo com que elas fiquem no intervalo [0, 1].</a:t>
                </a:r>
              </a:p>
              <a:p>
                <a:pPr marL="0" indent="0">
                  <a:buNone/>
                </a:pPr>
                <a14:m>
                  <m:oMathPara xmlns:m="http://schemas.openxmlformats.org/officeDocument/2006/math">
                    <m:oMathParaPr>
                      <m:jc m:val="centerGroup"/>
                    </m:oMathParaPr>
                    <m:oMath xmlns:m="http://schemas.openxmlformats.org/officeDocument/2006/math">
                      <m:r>
                        <a:rPr lang="pt-BR" i="1">
                          <a:latin typeface="Cambria Math" panose="02040503050406030204" pitchFamily="18" charset="0"/>
                        </a:rPr>
                        <m:t>𝑃</m:t>
                      </m:r>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𝐶</m:t>
                              </m:r>
                            </m:e>
                            <m:sub>
                              <m:r>
                                <a:rPr lang="pt-BR" i="1">
                                  <a:latin typeface="Cambria Math" panose="02040503050406030204" pitchFamily="18" charset="0"/>
                                </a:rPr>
                                <m:t>𝑞</m:t>
                              </m:r>
                            </m:sub>
                          </m:sSub>
                          <m:r>
                            <a:rPr lang="pt-BR" i="1">
                              <a:latin typeface="Cambria Math" panose="02040503050406030204" pitchFamily="18" charset="0"/>
                            </a:rPr>
                            <m:t> | </m:t>
                          </m:r>
                          <m:r>
                            <a:rPr lang="pt-BR" b="1" i="1">
                              <a:latin typeface="Cambria Math" panose="02040503050406030204" pitchFamily="18" charset="0"/>
                            </a:rPr>
                            <m:t>𝒙</m:t>
                          </m:r>
                          <m:d>
                            <m:dPr>
                              <m:ctrlPr>
                                <a:rPr lang="pt-BR" b="1" i="1">
                                  <a:latin typeface="Cambria Math" panose="02040503050406030204" pitchFamily="18" charset="0"/>
                                </a:rPr>
                              </m:ctrlPr>
                            </m:dPr>
                            <m:e>
                              <m:r>
                                <a:rPr lang="pt-BR" b="0" i="1" smtClean="0">
                                  <a:latin typeface="Cambria Math" panose="02040503050406030204" pitchFamily="18" charset="0"/>
                                </a:rPr>
                                <m:t>𝑛</m:t>
                              </m:r>
                            </m:e>
                          </m:d>
                          <m:r>
                            <a:rPr lang="pt-BR" i="1">
                              <a:latin typeface="Cambria Math" panose="02040503050406030204" pitchFamily="18" charset="0"/>
                            </a:rPr>
                            <m:t>,</m:t>
                          </m:r>
                          <m:r>
                            <a:rPr lang="pt-BR" b="1" i="1" smtClean="0">
                              <a:latin typeface="Cambria Math" panose="02040503050406030204" pitchFamily="18" charset="0"/>
                            </a:rPr>
                            <m:t>𝑨</m:t>
                          </m:r>
                        </m:e>
                      </m:d>
                      <m:r>
                        <a:rPr lang="pt-BR" i="1">
                          <a:latin typeface="Cambria Math" panose="02040503050406030204" pitchFamily="18" charset="0"/>
                        </a:rPr>
                        <m:t>=</m:t>
                      </m:r>
                      <m:sSubSup>
                        <m:sSubSupPr>
                          <m:ctrlPr>
                            <a:rPr lang="pt-BR" b="1" i="1">
                              <a:latin typeface="Cambria Math" panose="02040503050406030204" pitchFamily="18" charset="0"/>
                            </a:rPr>
                          </m:ctrlPr>
                        </m:sSubSupPr>
                        <m:e>
                          <m:r>
                            <a:rPr lang="pt-BR" i="1">
                              <a:latin typeface="Cambria Math" panose="02040503050406030204" pitchFamily="18" charset="0"/>
                            </a:rPr>
                            <m:t>h</m:t>
                          </m:r>
                        </m:e>
                        <m:sub>
                          <m:r>
                            <a:rPr lang="pt-BR" b="1" i="1">
                              <a:latin typeface="Cambria Math" panose="02040503050406030204" pitchFamily="18" charset="0"/>
                            </a:rPr>
                            <m:t>𝒂</m:t>
                          </m:r>
                        </m:sub>
                        <m:sup>
                          <m:r>
                            <a:rPr lang="pt-BR" i="1">
                              <a:latin typeface="Cambria Math" panose="02040503050406030204" pitchFamily="18" charset="0"/>
                            </a:rPr>
                            <m:t>𝑞</m:t>
                          </m:r>
                        </m:sup>
                      </m:sSubSup>
                      <m:d>
                        <m:dPr>
                          <m:ctrlPr>
                            <a:rPr lang="pt-BR" i="1">
                              <a:latin typeface="Cambria Math" panose="02040503050406030204" pitchFamily="18" charset="0"/>
                            </a:rPr>
                          </m:ctrlPr>
                        </m:dPr>
                        <m:e>
                          <m:r>
                            <a:rPr lang="pt-BR" b="1" i="1">
                              <a:latin typeface="Cambria Math" panose="02040503050406030204" pitchFamily="18" charset="0"/>
                            </a:rPr>
                            <m:t>𝒙</m:t>
                          </m:r>
                          <m:d>
                            <m:dPr>
                              <m:ctrlPr>
                                <a:rPr lang="pt-BR" b="1" i="1">
                                  <a:latin typeface="Cambria Math" panose="02040503050406030204" pitchFamily="18" charset="0"/>
                                </a:rPr>
                              </m:ctrlPr>
                            </m:dPr>
                            <m:e>
                              <m:r>
                                <a:rPr lang="pt-BR" b="0" i="1" smtClean="0">
                                  <a:latin typeface="Cambria Math" panose="02040503050406030204" pitchFamily="18" charset="0"/>
                                </a:rPr>
                                <m:t>𝑛</m:t>
                              </m:r>
                            </m:e>
                          </m:d>
                        </m:e>
                      </m:d>
                      <m:r>
                        <a:rPr lang="pt-BR" b="1" i="1">
                          <a:latin typeface="Cambria Math" panose="02040503050406030204" pitchFamily="18" charset="0"/>
                        </a:rPr>
                        <m:t>=</m:t>
                      </m:r>
                      <m:f>
                        <m:fPr>
                          <m:ctrlPr>
                            <a:rPr lang="pt-BR" b="1" i="1">
                              <a:latin typeface="Cambria Math" panose="02040503050406030204" pitchFamily="18" charset="0"/>
                            </a:rPr>
                          </m:ctrlPr>
                        </m:fPr>
                        <m:num>
                          <m:sSup>
                            <m:sSupPr>
                              <m:ctrlPr>
                                <a:rPr lang="pt-BR" b="1" i="1">
                                  <a:latin typeface="Cambria Math" panose="02040503050406030204" pitchFamily="18" charset="0"/>
                                </a:rPr>
                              </m:ctrlPr>
                            </m:sSupPr>
                            <m:e>
                              <m:r>
                                <a:rPr lang="pt-BR" i="1">
                                  <a:latin typeface="Cambria Math" panose="02040503050406030204" pitchFamily="18" charset="0"/>
                                </a:rPr>
                                <m:t>𝑒</m:t>
                              </m:r>
                            </m:e>
                            <m:sup>
                              <m:sSub>
                                <m:sSubPr>
                                  <m:ctrlPr>
                                    <a:rPr lang="pt-BR" i="1">
                                      <a:latin typeface="Cambria Math" panose="02040503050406030204" pitchFamily="18" charset="0"/>
                                    </a:rPr>
                                  </m:ctrlPr>
                                </m:sSubPr>
                                <m:e>
                                  <m:r>
                                    <a:rPr lang="pt-BR" i="1">
                                      <a:latin typeface="Cambria Math" panose="02040503050406030204" pitchFamily="18" charset="0"/>
                                    </a:rPr>
                                    <m:t>𝑔</m:t>
                                  </m:r>
                                </m:e>
                                <m:sub>
                                  <m:r>
                                    <a:rPr lang="pt-BR" i="1">
                                      <a:latin typeface="Cambria Math" panose="02040503050406030204" pitchFamily="18" charset="0"/>
                                    </a:rPr>
                                    <m:t>𝑞</m:t>
                                  </m:r>
                                </m:sub>
                              </m:sSub>
                              <m:r>
                                <a:rPr lang="pt-BR" b="1" i="1">
                                  <a:latin typeface="Cambria Math" panose="02040503050406030204" pitchFamily="18" charset="0"/>
                                </a:rPr>
                                <m:t>(</m:t>
                              </m:r>
                              <m:r>
                                <a:rPr lang="pt-BR" b="1" i="1">
                                  <a:latin typeface="Cambria Math" panose="02040503050406030204" pitchFamily="18" charset="0"/>
                                </a:rPr>
                                <m:t>𝒙</m:t>
                              </m:r>
                              <m:r>
                                <a:rPr lang="pt-BR" i="1">
                                  <a:latin typeface="Cambria Math" panose="02040503050406030204" pitchFamily="18" charset="0"/>
                                </a:rPr>
                                <m:t>(</m:t>
                              </m:r>
                              <m:r>
                                <a:rPr lang="pt-BR" b="0" i="1" smtClean="0">
                                  <a:latin typeface="Cambria Math" panose="02040503050406030204" pitchFamily="18" charset="0"/>
                                </a:rPr>
                                <m:t>𝑛</m:t>
                              </m:r>
                              <m:r>
                                <a:rPr lang="pt-BR" i="1">
                                  <a:latin typeface="Cambria Math" panose="02040503050406030204" pitchFamily="18" charset="0"/>
                                </a:rPr>
                                <m:t>)</m:t>
                              </m:r>
                              <m:r>
                                <a:rPr lang="pt-BR" b="1" i="1">
                                  <a:latin typeface="Cambria Math" panose="02040503050406030204" pitchFamily="18" charset="0"/>
                                </a:rPr>
                                <m:t>)</m:t>
                              </m:r>
                            </m:sup>
                          </m:sSup>
                        </m:num>
                        <m:den>
                          <m:nary>
                            <m:naryPr>
                              <m:chr m:val="∑"/>
                              <m:ctrlPr>
                                <a:rPr lang="pt-BR" b="1" i="1">
                                  <a:latin typeface="Cambria Math" panose="02040503050406030204" pitchFamily="18" charset="0"/>
                                </a:rPr>
                              </m:ctrlPr>
                            </m:naryPr>
                            <m:sub>
                              <m:r>
                                <a:rPr lang="pt-BR" i="1">
                                  <a:latin typeface="Cambria Math" panose="02040503050406030204" pitchFamily="18" charset="0"/>
                                </a:rPr>
                                <m:t>𝑗</m:t>
                              </m:r>
                              <m:r>
                                <a:rPr lang="pt-BR" i="1">
                                  <a:latin typeface="Cambria Math" panose="02040503050406030204" pitchFamily="18" charset="0"/>
                                </a:rPr>
                                <m:t>=0</m:t>
                              </m:r>
                            </m:sub>
                            <m:sup>
                              <m:r>
                                <a:rPr lang="pt-BR" i="1">
                                  <a:latin typeface="Cambria Math" panose="02040503050406030204" pitchFamily="18" charset="0"/>
                                </a:rPr>
                                <m:t>𝑄</m:t>
                              </m:r>
                              <m:r>
                                <a:rPr lang="pt-BR" i="1">
                                  <a:latin typeface="Cambria Math" panose="02040503050406030204" pitchFamily="18" charset="0"/>
                                </a:rPr>
                                <m:t>−1</m:t>
                              </m:r>
                            </m:sup>
                            <m:e>
                              <m:sSup>
                                <m:sSupPr>
                                  <m:ctrlPr>
                                    <a:rPr lang="pt-BR" b="1" i="1">
                                      <a:latin typeface="Cambria Math" panose="02040503050406030204" pitchFamily="18" charset="0"/>
                                    </a:rPr>
                                  </m:ctrlPr>
                                </m:sSupPr>
                                <m:e>
                                  <m:r>
                                    <a:rPr lang="pt-BR" i="1">
                                      <a:latin typeface="Cambria Math" panose="02040503050406030204" pitchFamily="18" charset="0"/>
                                    </a:rPr>
                                    <m:t>𝑒</m:t>
                                  </m:r>
                                </m:e>
                                <m:sup>
                                  <m:sSub>
                                    <m:sSubPr>
                                      <m:ctrlPr>
                                        <a:rPr lang="pt-BR" i="1">
                                          <a:latin typeface="Cambria Math" panose="02040503050406030204" pitchFamily="18" charset="0"/>
                                        </a:rPr>
                                      </m:ctrlPr>
                                    </m:sSubPr>
                                    <m:e>
                                      <m:r>
                                        <a:rPr lang="pt-BR" i="1">
                                          <a:latin typeface="Cambria Math" panose="02040503050406030204" pitchFamily="18" charset="0"/>
                                        </a:rPr>
                                        <m:t>𝑔</m:t>
                                      </m:r>
                                    </m:e>
                                    <m:sub>
                                      <m:r>
                                        <a:rPr lang="pt-BR" i="1">
                                          <a:latin typeface="Cambria Math" panose="02040503050406030204" pitchFamily="18" charset="0"/>
                                        </a:rPr>
                                        <m:t>𝑗</m:t>
                                      </m:r>
                                    </m:sub>
                                  </m:sSub>
                                  <m:r>
                                    <a:rPr lang="pt-BR" b="1" i="1">
                                      <a:latin typeface="Cambria Math" panose="02040503050406030204" pitchFamily="18" charset="0"/>
                                    </a:rPr>
                                    <m:t>(</m:t>
                                  </m:r>
                                  <m:r>
                                    <a:rPr lang="pt-BR" b="1" i="1">
                                      <a:latin typeface="Cambria Math" panose="02040503050406030204" pitchFamily="18" charset="0"/>
                                    </a:rPr>
                                    <m:t>𝒙</m:t>
                                  </m:r>
                                  <m:r>
                                    <a:rPr lang="pt-BR" i="1">
                                      <a:latin typeface="Cambria Math" panose="02040503050406030204" pitchFamily="18" charset="0"/>
                                    </a:rPr>
                                    <m:t>(</m:t>
                                  </m:r>
                                  <m:r>
                                    <a:rPr lang="pt-BR" b="0" i="1" smtClean="0">
                                      <a:latin typeface="Cambria Math" panose="02040503050406030204" pitchFamily="18" charset="0"/>
                                    </a:rPr>
                                    <m:t>𝑛</m:t>
                                  </m:r>
                                  <m:r>
                                    <a:rPr lang="pt-BR" i="1">
                                      <a:latin typeface="Cambria Math" panose="02040503050406030204" pitchFamily="18" charset="0"/>
                                    </a:rPr>
                                    <m:t>)</m:t>
                                  </m:r>
                                  <m:r>
                                    <a:rPr lang="pt-BR" b="1" i="1">
                                      <a:latin typeface="Cambria Math" panose="02040503050406030204" pitchFamily="18" charset="0"/>
                                    </a:rPr>
                                    <m:t>)</m:t>
                                  </m:r>
                                </m:sup>
                              </m:sSup>
                            </m:e>
                          </m:nary>
                        </m:den>
                      </m:f>
                      <m:r>
                        <a:rPr lang="pt-BR" b="1" i="1">
                          <a:latin typeface="Cambria Math" panose="02040503050406030204" pitchFamily="18" charset="0"/>
                          <a:ea typeface="Cambria Math" panose="02040503050406030204" pitchFamily="18" charset="0"/>
                        </a:rPr>
                        <m:t>∈</m:t>
                      </m:r>
                      <m:r>
                        <a:rPr lang="pt-BR" b="1" i="1">
                          <a:latin typeface="Cambria Math" panose="02040503050406030204" pitchFamily="18" charset="0"/>
                          <a:ea typeface="Cambria Math" panose="02040503050406030204" pitchFamily="18" charset="0"/>
                        </a:rPr>
                        <m:t>ℝ</m:t>
                      </m:r>
                      <m:r>
                        <a:rPr lang="pt-BR" b="1" i="1">
                          <a:latin typeface="Cambria Math" panose="02040503050406030204" pitchFamily="18" charset="0"/>
                          <a:ea typeface="Cambria Math" panose="02040503050406030204" pitchFamily="18" charset="0"/>
                        </a:rPr>
                        <m:t> </m:t>
                      </m:r>
                      <m:d>
                        <m:dPr>
                          <m:begChr m:val="["/>
                          <m:endChr m:val="]"/>
                          <m:ctrlPr>
                            <a:rPr lang="pt-BR" b="1" i="1">
                              <a:latin typeface="Cambria Math" panose="02040503050406030204" pitchFamily="18" charset="0"/>
                              <a:ea typeface="Cambria Math" panose="02040503050406030204" pitchFamily="18" charset="0"/>
                            </a:rPr>
                          </m:ctrlPr>
                        </m:dPr>
                        <m:e>
                          <m:r>
                            <a:rPr lang="pt-BR">
                              <a:latin typeface="Cambria Math" panose="02040503050406030204" pitchFamily="18" charset="0"/>
                            </a:rPr>
                            <m:t>0, 1</m:t>
                          </m:r>
                        </m:e>
                      </m:d>
                      <m:r>
                        <a:rPr lang="pt-BR" b="1" i="1" smtClean="0">
                          <a:latin typeface="Cambria Math" panose="02040503050406030204" pitchFamily="18" charset="0"/>
                        </a:rPr>
                        <m:t> </m:t>
                      </m:r>
                      <m:r>
                        <a:rPr lang="pt-BR" b="1" i="1" smtClean="0">
                          <a:latin typeface="Cambria Math" panose="02040503050406030204" pitchFamily="18" charset="0"/>
                          <a:ea typeface="Cambria Math" panose="02040503050406030204" pitchFamily="18" charset="0"/>
                        </a:rPr>
                        <m:t>∀</m:t>
                      </m:r>
                      <m:r>
                        <a:rPr lang="pt-BR" b="0" i="1" smtClean="0">
                          <a:latin typeface="Cambria Math" panose="02040503050406030204" pitchFamily="18" charset="0"/>
                          <a:ea typeface="Cambria Math" panose="02040503050406030204" pitchFamily="18" charset="0"/>
                        </a:rPr>
                        <m:t>𝑞</m:t>
                      </m:r>
                      <m:r>
                        <a:rPr lang="pt-BR" b="1" i="1" smtClean="0">
                          <a:latin typeface="Cambria Math" panose="02040503050406030204" pitchFamily="18" charset="0"/>
                          <a:ea typeface="Cambria Math" panose="02040503050406030204" pitchFamily="18" charset="0"/>
                        </a:rPr>
                        <m:t>.</m:t>
                      </m:r>
                    </m:oMath>
                  </m:oMathPara>
                </a14:m>
                <a:endParaRPr lang="pt-BR" b="0" dirty="0">
                  <a:effectLst/>
                </a:endParaRPr>
              </a:p>
              <a:p>
                <a:r>
                  <a:rPr lang="pt-BR" dirty="0"/>
                  <a:t>Ela transforma os </a:t>
                </a:r>
                <a:r>
                  <a:rPr lang="pt-BR" b="1" dirty="0">
                    <a:solidFill>
                      <a:srgbClr val="00B050"/>
                    </a:solidFill>
                  </a:rPr>
                  <a:t>valores das </a:t>
                </a:r>
                <a14:m>
                  <m:oMath xmlns:m="http://schemas.openxmlformats.org/officeDocument/2006/math">
                    <m:r>
                      <a:rPr lang="pt-BR" b="1" i="1">
                        <a:solidFill>
                          <a:srgbClr val="00B050"/>
                        </a:solidFill>
                        <a:latin typeface="Cambria Math" panose="02040503050406030204" pitchFamily="18" charset="0"/>
                      </a:rPr>
                      <m:t>𝑸</m:t>
                    </m:r>
                  </m:oMath>
                </a14:m>
                <a:r>
                  <a:rPr lang="pt-BR" b="1" dirty="0">
                    <a:solidFill>
                      <a:srgbClr val="00B050"/>
                    </a:solidFill>
                  </a:rPr>
                  <a:t> funções discriminantes </a:t>
                </a:r>
                <a:r>
                  <a:rPr lang="pt-BR" b="1" dirty="0" smtClean="0">
                    <a:solidFill>
                      <a:srgbClr val="00B050"/>
                    </a:solidFill>
                  </a:rPr>
                  <a:t>(chamados de pontuações) em </a:t>
                </a:r>
                <a:r>
                  <a:rPr lang="pt-BR" b="1" dirty="0" smtClean="0">
                    <a:solidFill>
                      <a:schemeClr val="accent2"/>
                    </a:solidFill>
                  </a:rPr>
                  <a:t>probabilidades</a:t>
                </a:r>
                <a:r>
                  <a:rPr lang="pt-BR" dirty="0"/>
                  <a:t>.</a:t>
                </a:r>
              </a:p>
              <a:p>
                <a:r>
                  <a:rPr lang="pt-BR" dirty="0"/>
                  <a:t>Assim</a:t>
                </a:r>
                <a:r>
                  <a:rPr lang="pt-BR" dirty="0" smtClean="0"/>
                  <a:t>, </a:t>
                </a:r>
                <a:r>
                  <a:rPr lang="pt-BR" dirty="0"/>
                  <a:t>ela </a:t>
                </a:r>
                <a:r>
                  <a:rPr lang="pt-BR" b="1" dirty="0">
                    <a:solidFill>
                      <a:srgbClr val="00B050"/>
                    </a:solidFill>
                  </a:rPr>
                  <a:t>atribui</a:t>
                </a:r>
                <a:r>
                  <a:rPr lang="pt-BR" dirty="0"/>
                  <a:t> uma </a:t>
                </a:r>
                <a:r>
                  <a:rPr lang="pt-BR" b="1" dirty="0">
                    <a:solidFill>
                      <a:srgbClr val="00B050"/>
                    </a:solidFill>
                  </a:rPr>
                  <a:t>probabilidade</a:t>
                </a:r>
                <a:r>
                  <a:rPr lang="pt-BR" dirty="0">
                    <a:solidFill>
                      <a:srgbClr val="00B050"/>
                    </a:solidFill>
                  </a:rPr>
                  <a:t> </a:t>
                </a:r>
                <a:r>
                  <a:rPr lang="pt-BR" b="1" dirty="0">
                    <a:solidFill>
                      <a:srgbClr val="00B050"/>
                    </a:solidFill>
                  </a:rPr>
                  <a:t>condicional</a:t>
                </a:r>
                <a:r>
                  <a:rPr lang="pt-BR" dirty="0">
                    <a:solidFill>
                      <a:srgbClr val="00B050"/>
                    </a:solidFill>
                  </a:rPr>
                  <a:t> </a:t>
                </a:r>
                <a14:m>
                  <m:oMath xmlns:m="http://schemas.openxmlformats.org/officeDocument/2006/math">
                    <m:r>
                      <a:rPr lang="pt-BR" i="1">
                        <a:latin typeface="Cambria Math" panose="02040503050406030204" pitchFamily="18" charset="0"/>
                      </a:rPr>
                      <m:t>𝑃</m:t>
                    </m:r>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𝐶</m:t>
                            </m:r>
                          </m:e>
                          <m:sub>
                            <m:r>
                              <a:rPr lang="pt-BR" i="1">
                                <a:latin typeface="Cambria Math" panose="02040503050406030204" pitchFamily="18" charset="0"/>
                              </a:rPr>
                              <m:t>𝑞</m:t>
                            </m:r>
                          </m:sub>
                        </m:sSub>
                        <m:r>
                          <a:rPr lang="pt-BR" i="1">
                            <a:latin typeface="Cambria Math" panose="02040503050406030204" pitchFamily="18" charset="0"/>
                          </a:rPr>
                          <m:t> |</m:t>
                        </m:r>
                        <m:r>
                          <a:rPr lang="pt-BR" b="1" i="1">
                            <a:latin typeface="Cambria Math" panose="02040503050406030204" pitchFamily="18" charset="0"/>
                          </a:rPr>
                          <m:t> </m:t>
                        </m:r>
                        <m:r>
                          <a:rPr lang="pt-BR" b="1" i="1">
                            <a:latin typeface="Cambria Math" panose="02040503050406030204" pitchFamily="18" charset="0"/>
                          </a:rPr>
                          <m:t>𝒙</m:t>
                        </m:r>
                        <m:d>
                          <m:dPr>
                            <m:ctrlPr>
                              <a:rPr lang="pt-BR" b="1" i="1">
                                <a:latin typeface="Cambria Math" panose="02040503050406030204" pitchFamily="18" charset="0"/>
                              </a:rPr>
                            </m:ctrlPr>
                          </m:dPr>
                          <m:e>
                            <m:r>
                              <a:rPr lang="pt-BR" i="1">
                                <a:latin typeface="Cambria Math" panose="02040503050406030204" pitchFamily="18" charset="0"/>
                              </a:rPr>
                              <m:t>𝑛</m:t>
                            </m:r>
                          </m:e>
                        </m:d>
                        <m:r>
                          <a:rPr lang="pt-BR" i="1">
                            <a:latin typeface="Cambria Math" panose="02040503050406030204" pitchFamily="18" charset="0"/>
                          </a:rPr>
                          <m:t>,</m:t>
                        </m:r>
                        <m:r>
                          <a:rPr lang="pt-BR" b="1" i="1" smtClean="0">
                            <a:latin typeface="Cambria Math" panose="02040503050406030204" pitchFamily="18" charset="0"/>
                          </a:rPr>
                          <m:t>𝑨</m:t>
                        </m:r>
                      </m:e>
                    </m:d>
                    <m:r>
                      <a:rPr lang="pt-BR" i="1">
                        <a:latin typeface="Cambria Math" panose="02040503050406030204" pitchFamily="18" charset="0"/>
                        <a:ea typeface="Cambria Math" panose="02040503050406030204" pitchFamily="18" charset="0"/>
                      </a:rPr>
                      <m:t>∈</m:t>
                    </m:r>
                    <m:d>
                      <m:dPr>
                        <m:begChr m:val="["/>
                        <m:endChr m:val="]"/>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0, 1</m:t>
                        </m:r>
                      </m:e>
                    </m:d>
                  </m:oMath>
                </a14:m>
                <a:r>
                  <a:rPr lang="pt-BR" dirty="0"/>
                  <a:t> </a:t>
                </a:r>
                <a:r>
                  <a:rPr lang="pt-BR" b="1" dirty="0">
                    <a:solidFill>
                      <a:srgbClr val="00B050"/>
                    </a:solidFill>
                  </a:rPr>
                  <a:t>a cada uma </a:t>
                </a:r>
                <a:r>
                  <a:rPr lang="pt-BR" dirty="0"/>
                  <a:t>das </a:t>
                </a:r>
                <a14:m>
                  <m:oMath xmlns:m="http://schemas.openxmlformats.org/officeDocument/2006/math">
                    <m:r>
                      <a:rPr lang="pt-BR" i="1">
                        <a:latin typeface="Cambria Math" panose="02040503050406030204" pitchFamily="18" charset="0"/>
                      </a:rPr>
                      <m:t>𝑄</m:t>
                    </m:r>
                    <m:r>
                      <a:rPr lang="pt-BR" i="1">
                        <a:latin typeface="Cambria Math" panose="02040503050406030204" pitchFamily="18" charset="0"/>
                      </a:rPr>
                      <m:t> </m:t>
                    </m:r>
                  </m:oMath>
                </a14:m>
                <a:r>
                  <a:rPr lang="pt-BR" dirty="0"/>
                  <a:t>classes dado um exemplo de </a:t>
                </a:r>
                <a:r>
                  <a:rPr lang="pt-BR" dirty="0" smtClean="0"/>
                  <a:t>entrada e os pesos.</a:t>
                </a:r>
                <a:endParaRPr lang="pt-BR" b="1" dirty="0">
                  <a:solidFill>
                    <a:srgbClr val="00B050"/>
                  </a:solidFill>
                </a:endParaRPr>
              </a:p>
            </p:txBody>
          </p:sp>
        </mc:Choice>
        <mc:Fallback xmlns="">
          <p:sp>
            <p:nvSpPr>
              <p:cNvPr id="3" name="Espaço Reservado para Conteúdo 2">
                <a:extLst>
                  <a:ext uri="{FF2B5EF4-FFF2-40B4-BE49-F238E27FC236}">
                    <a16:creationId xmlns="" xmlns:a16="http://schemas.microsoft.com/office/drawing/2014/main" xmlns:a14="http://schemas.microsoft.com/office/drawing/2010/main" id="{BCAAD57B-65A0-9DAD-79FC-2AE2692EB84B}"/>
                  </a:ext>
                </a:extLst>
              </p:cNvPr>
              <p:cNvSpPr>
                <a:spLocks noGrp="1" noRot="1" noChangeAspect="1" noMove="1" noResize="1" noEditPoints="1" noAdjustHandles="1" noChangeArrowheads="1" noChangeShapeType="1" noTextEdit="1"/>
              </p:cNvSpPr>
              <p:nvPr>
                <p:ph idx="1"/>
              </p:nvPr>
            </p:nvSpPr>
            <p:spPr>
              <a:xfrm>
                <a:off x="838200" y="1825624"/>
                <a:ext cx="11353800" cy="5032375"/>
              </a:xfrm>
              <a:blipFill rotWithShape="0">
                <a:blip r:embed="rId3"/>
                <a:stretch>
                  <a:fillRect l="-967" t="-1937" r="-1772"/>
                </a:stretch>
              </a:blipFill>
            </p:spPr>
            <p:txBody>
              <a:bodyPr/>
              <a:lstStyle/>
              <a:p>
                <a:r>
                  <a:rPr lang="pt-BR">
                    <a:noFill/>
                  </a:rPr>
                  <a:t> </a:t>
                </a:r>
              </a:p>
            </p:txBody>
          </p:sp>
        </mc:Fallback>
      </mc:AlternateContent>
      <p:sp>
        <p:nvSpPr>
          <p:cNvPr id="5" name="Rectangle 11">
            <a:extLst>
              <a:ext uri="{FF2B5EF4-FFF2-40B4-BE49-F238E27FC236}">
                <a16:creationId xmlns:a16="http://schemas.microsoft.com/office/drawing/2014/main" xmlns="" id="{D1D7E603-A964-1188-9D09-B0C1E18592FA}"/>
              </a:ext>
            </a:extLst>
          </p:cNvPr>
          <p:cNvSpPr/>
          <p:nvPr/>
        </p:nvSpPr>
        <p:spPr>
          <a:xfrm>
            <a:off x="6705554" y="3622566"/>
            <a:ext cx="2143124" cy="6102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23750326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99DAA83A-B143-94BB-B48B-41A7423070CE}"/>
              </a:ext>
            </a:extLst>
          </p:cNvPr>
          <p:cNvSpPr>
            <a:spLocks noGrp="1"/>
          </p:cNvSpPr>
          <p:nvPr>
            <p:ph type="title"/>
          </p:nvPr>
        </p:nvSpPr>
        <p:spPr/>
        <p:txBody>
          <a:bodyPr/>
          <a:lstStyle/>
          <a:p>
            <a:r>
              <a:rPr lang="pt-BR" dirty="0"/>
              <a:t>Função de ativação </a:t>
            </a:r>
            <a:r>
              <a:rPr lang="pt-BR" i="1" dirty="0"/>
              <a:t>softmax</a:t>
            </a:r>
            <a:endParaRPr lang="pt-BR" dirty="0"/>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xmlns="" id="{32DF54A1-52F5-C48C-7CD4-D6E451DF19D8}"/>
                  </a:ext>
                </a:extLst>
              </p:cNvPr>
              <p:cNvSpPr>
                <a:spLocks noGrp="1"/>
              </p:cNvSpPr>
              <p:nvPr>
                <p:ph idx="1"/>
              </p:nvPr>
            </p:nvSpPr>
            <p:spPr>
              <a:xfrm>
                <a:off x="6280879" y="1825624"/>
                <a:ext cx="5911121" cy="5032375"/>
              </a:xfrm>
            </p:spPr>
            <p:txBody>
              <a:bodyPr>
                <a:normAutofit/>
              </a:bodyPr>
              <a:lstStyle/>
              <a:p>
                <a:r>
                  <a:rPr lang="pt-BR" dirty="0"/>
                  <a:t>A função </a:t>
                </a:r>
                <a:r>
                  <a:rPr lang="pt-BR" i="1" dirty="0"/>
                  <a:t>softmax</a:t>
                </a:r>
                <a:r>
                  <a:rPr lang="pt-BR" dirty="0"/>
                  <a:t> </a:t>
                </a:r>
                <a:r>
                  <a:rPr lang="pt-BR" dirty="0">
                    <a:solidFill>
                      <a:schemeClr val="tx1"/>
                    </a:solidFill>
                  </a:rPr>
                  <a:t>o</a:t>
                </a:r>
                <a:r>
                  <a:rPr lang="pt-BR" b="0" i="0" dirty="0">
                    <a:solidFill>
                      <a:schemeClr val="tx1"/>
                    </a:solidFill>
                    <a:effectLst/>
                  </a:rPr>
                  <a:t>pera da seguinte maneira.</a:t>
                </a:r>
              </a:p>
              <a:p>
                <a:r>
                  <a:rPr lang="pt-BR" b="0" i="0" dirty="0">
                    <a:solidFill>
                      <a:schemeClr val="tx1"/>
                    </a:solidFill>
                    <a:effectLst/>
                  </a:rPr>
                  <a:t>Dado um </a:t>
                </a:r>
                <a:r>
                  <a:rPr lang="pt-BR" b="1" dirty="0">
                    <a:solidFill>
                      <a:srgbClr val="00B050"/>
                    </a:solidFill>
                    <a:effectLst/>
                  </a:rPr>
                  <a:t>vetor </a:t>
                </a:r>
                <a:r>
                  <a:rPr lang="pt-BR" b="1" dirty="0">
                    <a:solidFill>
                      <a:srgbClr val="00B050"/>
                    </a:solidFill>
                  </a:rPr>
                  <a:t>com</a:t>
                </a:r>
                <a:r>
                  <a:rPr lang="pt-BR" b="1" dirty="0">
                    <a:solidFill>
                      <a:srgbClr val="00B050"/>
                    </a:solidFill>
                    <a:effectLst/>
                  </a:rPr>
                  <a:t> os valores das </a:t>
                </a:r>
                <a:r>
                  <a:rPr lang="pt-BR" dirty="0"/>
                  <a:t> </a:t>
                </a:r>
                <a14:m>
                  <m:oMath xmlns:m="http://schemas.openxmlformats.org/officeDocument/2006/math">
                    <m:r>
                      <a:rPr lang="pt-BR" b="1" i="1" smtClean="0">
                        <a:solidFill>
                          <a:srgbClr val="00B050"/>
                        </a:solidFill>
                        <a:latin typeface="Cambria Math" panose="02040503050406030204" pitchFamily="18" charset="0"/>
                      </a:rPr>
                      <m:t>𝑸</m:t>
                    </m:r>
                  </m:oMath>
                </a14:m>
                <a:r>
                  <a:rPr lang="pt-BR" b="1" dirty="0">
                    <a:solidFill>
                      <a:srgbClr val="00B050"/>
                    </a:solidFill>
                  </a:rPr>
                  <a:t> </a:t>
                </a:r>
                <a:r>
                  <a:rPr lang="pt-BR" b="1" dirty="0">
                    <a:solidFill>
                      <a:srgbClr val="00B050"/>
                    </a:solidFill>
                    <a:effectLst/>
                  </a:rPr>
                  <a:t>funções discriminantes</a:t>
                </a:r>
                <a:r>
                  <a:rPr lang="pt-BR" b="0" i="0" dirty="0">
                    <a:solidFill>
                      <a:schemeClr val="tx1"/>
                    </a:solidFill>
                    <a:effectLst/>
                  </a:rPr>
                  <a:t>, ela</a:t>
                </a:r>
                <a:endParaRPr lang="pt-BR" dirty="0"/>
              </a:p>
              <a:p>
                <a:pPr lvl="1">
                  <a:buFont typeface="Wingdings" panose="05000000000000000000" pitchFamily="2" charset="2"/>
                  <a:buChar char="§"/>
                </a:pPr>
                <a:r>
                  <a:rPr lang="pt-BR" b="0" i="0" dirty="0">
                    <a:solidFill>
                      <a:schemeClr val="tx1"/>
                    </a:solidFill>
                    <a:effectLst/>
                  </a:rPr>
                  <a:t>calcula a exponencial de cada função discriminante, </a:t>
                </a:r>
              </a:p>
              <a:p>
                <a:pPr lvl="1">
                  <a:buFont typeface="Wingdings" panose="05000000000000000000" pitchFamily="2" charset="2"/>
                  <a:buChar char="§"/>
                </a:pPr>
                <a:r>
                  <a:rPr lang="pt-BR" b="0" i="0" dirty="0">
                    <a:solidFill>
                      <a:schemeClr val="tx1"/>
                    </a:solidFill>
                    <a:effectLst/>
                  </a:rPr>
                  <a:t>normaliza essas exponenciais </a:t>
                </a:r>
                <a:r>
                  <a:rPr lang="pt-BR" b="0" i="0" dirty="0" smtClean="0">
                    <a:solidFill>
                      <a:schemeClr val="tx1"/>
                    </a:solidFill>
                    <a:effectLst/>
                  </a:rPr>
                  <a:t>dividindo-os </a:t>
                </a:r>
                <a:r>
                  <a:rPr lang="pt-BR" b="0" i="0" dirty="0">
                    <a:solidFill>
                      <a:schemeClr val="tx1"/>
                    </a:solidFill>
                    <a:effectLst/>
                  </a:rPr>
                  <a:t>pela soma </a:t>
                </a:r>
                <a:r>
                  <a:rPr lang="pt-BR" b="0" i="0" dirty="0" smtClean="0">
                    <a:solidFill>
                      <a:schemeClr val="tx1"/>
                    </a:solidFill>
                    <a:effectLst/>
                  </a:rPr>
                  <a:t>das exponenciais de todas funções discriminantes, </a:t>
                </a:r>
                <a:r>
                  <a:rPr lang="pt-BR" b="0" i="0" dirty="0">
                    <a:solidFill>
                      <a:schemeClr val="tx1"/>
                    </a:solidFill>
                    <a:effectLst/>
                  </a:rPr>
                  <a:t>gerando uma </a:t>
                </a:r>
                <a:r>
                  <a:rPr lang="pt-BR" b="1" i="0" dirty="0">
                    <a:solidFill>
                      <a:schemeClr val="tx1"/>
                    </a:solidFill>
                    <a:effectLst/>
                  </a:rPr>
                  <a:t>distribuição de probabilidades das classes</a:t>
                </a:r>
                <a:r>
                  <a:rPr lang="pt-BR" b="0" i="0" dirty="0">
                    <a:solidFill>
                      <a:schemeClr val="tx1"/>
                    </a:solidFill>
                    <a:effectLst/>
                  </a:rPr>
                  <a:t>.</a:t>
                </a:r>
              </a:p>
            </p:txBody>
          </p:sp>
        </mc:Choice>
        <mc:Fallback xmlns="">
          <p:sp>
            <p:nvSpPr>
              <p:cNvPr id="3" name="Espaço Reservado para Conteúdo 2">
                <a:extLst>
                  <a:ext uri="{FF2B5EF4-FFF2-40B4-BE49-F238E27FC236}">
                    <a16:creationId xmlns="" xmlns:a16="http://schemas.microsoft.com/office/drawing/2014/main" xmlns:a14="http://schemas.microsoft.com/office/drawing/2010/main" id="{32DF54A1-52F5-C48C-7CD4-D6E451DF19D8}"/>
                  </a:ext>
                </a:extLst>
              </p:cNvPr>
              <p:cNvSpPr>
                <a:spLocks noGrp="1" noRot="1" noChangeAspect="1" noMove="1" noResize="1" noEditPoints="1" noAdjustHandles="1" noChangeArrowheads="1" noChangeShapeType="1" noTextEdit="1"/>
              </p:cNvSpPr>
              <p:nvPr>
                <p:ph idx="1"/>
              </p:nvPr>
            </p:nvSpPr>
            <p:spPr>
              <a:xfrm>
                <a:off x="6280879" y="1825624"/>
                <a:ext cx="5911121" cy="5032375"/>
              </a:xfrm>
              <a:blipFill rotWithShape="0">
                <a:blip r:embed="rId2"/>
                <a:stretch>
                  <a:fillRect l="-1856" t="-1937" r="-619"/>
                </a:stretch>
              </a:blipFill>
            </p:spPr>
            <p:txBody>
              <a:bodyPr/>
              <a:lstStyle/>
              <a:p>
                <a:r>
                  <a:rPr lang="pt-BR">
                    <a:noFill/>
                  </a:rPr>
                  <a:t> </a:t>
                </a:r>
              </a:p>
            </p:txBody>
          </p:sp>
        </mc:Fallback>
      </mc:AlternateContent>
      <p:sp>
        <p:nvSpPr>
          <p:cNvPr id="8" name="CaixaDeTexto 7">
            <a:extLst>
              <a:ext uri="{FF2B5EF4-FFF2-40B4-BE49-F238E27FC236}">
                <a16:creationId xmlns:a16="http://schemas.microsoft.com/office/drawing/2014/main" xmlns="" id="{0DC5673F-9B77-2E9E-8317-E71CA8896FE0}"/>
              </a:ext>
            </a:extLst>
          </p:cNvPr>
          <p:cNvSpPr txBox="1"/>
          <p:nvPr/>
        </p:nvSpPr>
        <p:spPr>
          <a:xfrm>
            <a:off x="127819" y="6492875"/>
            <a:ext cx="2792362" cy="276999"/>
          </a:xfrm>
          <a:prstGeom prst="rect">
            <a:avLst/>
          </a:prstGeom>
          <a:noFill/>
        </p:spPr>
        <p:txBody>
          <a:bodyPr wrap="square">
            <a:spAutoFit/>
          </a:bodyPr>
          <a:lstStyle/>
          <a:p>
            <a:r>
              <a:rPr lang="pt-BR" sz="1200" b="0" dirty="0">
                <a:effectLst/>
              </a:rPr>
              <a:t>OBS.:</a:t>
            </a:r>
            <a:r>
              <a:rPr lang="pt-BR" sz="1200" b="0" i="1" dirty="0">
                <a:effectLst/>
              </a:rPr>
              <a:t> e</a:t>
            </a:r>
            <a:r>
              <a:rPr lang="pt-BR" sz="1200" b="0" i="0" dirty="0">
                <a:effectLst/>
              </a:rPr>
              <a:t> é a base do logaritmo natural. </a:t>
            </a:r>
            <a:endParaRPr lang="pt-BR" sz="1200" dirty="0"/>
          </a:p>
        </p:txBody>
      </p:sp>
      <mc:AlternateContent xmlns:mc="http://schemas.openxmlformats.org/markup-compatibility/2006" xmlns:a14="http://schemas.microsoft.com/office/drawing/2010/main">
        <mc:Choice Requires="a14">
          <p:sp>
            <p:nvSpPr>
              <p:cNvPr id="4" name="CaixaDeTexto 3">
                <a:extLst>
                  <a:ext uri="{FF2B5EF4-FFF2-40B4-BE49-F238E27FC236}">
                    <a16:creationId xmlns:a16="http://schemas.microsoft.com/office/drawing/2014/main" xmlns="" id="{CBD55F82-56D5-32C8-C5AB-AF99477FBAAC}"/>
                  </a:ext>
                </a:extLst>
              </p:cNvPr>
              <p:cNvSpPr txBox="1"/>
              <p:nvPr/>
            </p:nvSpPr>
            <p:spPr>
              <a:xfrm>
                <a:off x="1543507" y="5639486"/>
                <a:ext cx="3530454" cy="461665"/>
              </a:xfrm>
              <a:prstGeom prst="rect">
                <a:avLst/>
              </a:prstGeom>
              <a:noFill/>
            </p:spPr>
            <p:txBody>
              <a:bodyPr wrap="none" rtlCol="0">
                <a:spAutoFit/>
              </a:bodyPr>
              <a:lstStyle/>
              <a:p>
                <a14:m>
                  <m:oMath xmlns:m="http://schemas.openxmlformats.org/officeDocument/2006/math">
                    <m:r>
                      <a:rPr lang="pt-BR" sz="2400" b="0" i="1" smtClean="0">
                        <a:latin typeface="Cambria Math" panose="02040503050406030204" pitchFamily="18" charset="0"/>
                      </a:rPr>
                      <m:t>𝑄</m:t>
                    </m:r>
                    <m:r>
                      <a:rPr lang="pt-BR" sz="2400" b="0" i="1" smtClean="0">
                        <a:latin typeface="Cambria Math" panose="02040503050406030204" pitchFamily="18" charset="0"/>
                      </a:rPr>
                      <m:t>=5</m:t>
                    </m:r>
                  </m:oMath>
                </a14:m>
                <a:r>
                  <a:rPr lang="pt-BR" sz="2400" dirty="0"/>
                  <a:t> (número de classes)</a:t>
                </a:r>
              </a:p>
            </p:txBody>
          </p:sp>
        </mc:Choice>
        <mc:Fallback xmlns="">
          <p:sp>
            <p:nvSpPr>
              <p:cNvPr id="4" name="CaixaDeTexto 3">
                <a:extLst>
                  <a:ext uri="{FF2B5EF4-FFF2-40B4-BE49-F238E27FC236}">
                    <a16:creationId xmlns:a16="http://schemas.microsoft.com/office/drawing/2014/main" id="{CBD55F82-56D5-32C8-C5AB-AF99477FBAAC}"/>
                  </a:ext>
                </a:extLst>
              </p:cNvPr>
              <p:cNvSpPr txBox="1">
                <a:spLocks noRot="1" noChangeAspect="1" noMove="1" noResize="1" noEditPoints="1" noAdjustHandles="1" noChangeArrowheads="1" noChangeShapeType="1" noTextEdit="1"/>
              </p:cNvSpPr>
              <p:nvPr/>
            </p:nvSpPr>
            <p:spPr>
              <a:xfrm>
                <a:off x="1543507" y="5639486"/>
                <a:ext cx="3530454" cy="461665"/>
              </a:xfrm>
              <a:prstGeom prst="rect">
                <a:avLst/>
              </a:prstGeom>
              <a:blipFill>
                <a:blip r:embed="rId4"/>
                <a:stretch>
                  <a:fillRect l="-1209" t="-10526" r="-1900" b="-28947"/>
                </a:stretch>
              </a:blipFill>
            </p:spPr>
            <p:txBody>
              <a:bodyPr/>
              <a:lstStyle/>
              <a:p>
                <a:r>
                  <a:rPr lang="en-US">
                    <a:noFill/>
                  </a:rPr>
                  <a:t> </a:t>
                </a:r>
              </a:p>
            </p:txBody>
          </p:sp>
        </mc:Fallback>
      </mc:AlternateContent>
      <p:pic>
        <p:nvPicPr>
          <p:cNvPr id="5" name="Imagem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1325" y="2424443"/>
            <a:ext cx="6114818" cy="2481287"/>
          </a:xfrm>
          <a:prstGeom prst="rect">
            <a:avLst/>
          </a:prstGeom>
        </p:spPr>
      </p:pic>
    </p:spTree>
    <p:extLst>
      <p:ext uri="{BB962C8B-B14F-4D97-AF65-F5344CB8AC3E}">
        <p14:creationId xmlns:p14="http://schemas.microsoft.com/office/powerpoint/2010/main" val="23578092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99DAA83A-B143-94BB-B48B-41A7423070CE}"/>
              </a:ext>
            </a:extLst>
          </p:cNvPr>
          <p:cNvSpPr>
            <a:spLocks noGrp="1"/>
          </p:cNvSpPr>
          <p:nvPr>
            <p:ph type="title"/>
          </p:nvPr>
        </p:nvSpPr>
        <p:spPr/>
        <p:txBody>
          <a:bodyPr/>
          <a:lstStyle/>
          <a:p>
            <a:r>
              <a:rPr lang="pt-BR" dirty="0"/>
              <a:t>Função de ativação </a:t>
            </a:r>
            <a:r>
              <a:rPr lang="pt-BR" i="1" dirty="0"/>
              <a:t>softmax</a:t>
            </a:r>
            <a:endParaRPr lang="pt-BR" dirty="0"/>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xmlns="" id="{32DF54A1-52F5-C48C-7CD4-D6E451DF19D8}"/>
                  </a:ext>
                </a:extLst>
              </p:cNvPr>
              <p:cNvSpPr>
                <a:spLocks noGrp="1"/>
              </p:cNvSpPr>
              <p:nvPr>
                <p:ph idx="1"/>
              </p:nvPr>
            </p:nvSpPr>
            <p:spPr>
              <a:xfrm>
                <a:off x="838200" y="1825624"/>
                <a:ext cx="11353800" cy="5032375"/>
              </a:xfrm>
            </p:spPr>
            <p:txBody>
              <a:bodyPr>
                <a:normAutofit/>
              </a:bodyPr>
              <a:lstStyle/>
              <a:p>
                <a:r>
                  <a:rPr lang="pt-BR" b="0" dirty="0" smtClean="0">
                    <a:effectLst/>
                  </a:rPr>
                  <a:t>Além de fazer c</a:t>
                </a:r>
                <a:r>
                  <a:rPr lang="pt-BR" dirty="0"/>
                  <a:t>om </a:t>
                </a:r>
                <a:r>
                  <a:rPr lang="pt-BR" dirty="0">
                    <a:effectLst/>
                  </a:rPr>
                  <a:t>que as </a:t>
                </a:r>
                <a:r>
                  <a:rPr lang="pt-BR" b="1" dirty="0">
                    <a:solidFill>
                      <a:srgbClr val="00B050"/>
                    </a:solidFill>
                    <a:effectLst/>
                  </a:rPr>
                  <a:t>saídas estejam no intervalo entre 0 e 1, </a:t>
                </a:r>
                <a:r>
                  <a:rPr lang="pt-BR" b="1" dirty="0">
                    <a:solidFill>
                      <a:srgbClr val="00B050"/>
                    </a:solidFill>
                  </a:rPr>
                  <a:t>ela garante que </a:t>
                </a:r>
                <a:r>
                  <a:rPr lang="pt-BR" b="1" dirty="0">
                    <a:solidFill>
                      <a:srgbClr val="7030A0"/>
                    </a:solidFill>
                    <a:effectLst/>
                  </a:rPr>
                  <a:t>soma </a:t>
                </a:r>
                <a:r>
                  <a:rPr lang="pt-BR" b="1" dirty="0">
                    <a:solidFill>
                      <a:srgbClr val="00B050"/>
                    </a:solidFill>
                    <a:effectLst/>
                  </a:rPr>
                  <a:t>de todas as saídas sempre seja igual a 1</a:t>
                </a:r>
                <a:r>
                  <a:rPr lang="pt-BR" b="0" dirty="0">
                    <a:effectLst/>
                  </a:rPr>
                  <a:t>, tornando-as interpretáveis como uma </a:t>
                </a:r>
                <a:r>
                  <a:rPr lang="pt-BR" b="1" dirty="0">
                    <a:solidFill>
                      <a:schemeClr val="accent2"/>
                    </a:solidFill>
                    <a:effectLst/>
                  </a:rPr>
                  <a:t>função massa de probabilidade </a:t>
                </a:r>
                <a:r>
                  <a:rPr lang="pt-BR" b="1" dirty="0" err="1">
                    <a:solidFill>
                      <a:schemeClr val="accent2"/>
                    </a:solidFill>
                    <a:effectLst/>
                  </a:rPr>
                  <a:t>multinomial</a:t>
                </a:r>
                <a:r>
                  <a:rPr lang="pt-BR" b="0" dirty="0">
                    <a:effectLst/>
                  </a:rPr>
                  <a:t>.</a:t>
                </a:r>
              </a:p>
              <a:p>
                <a:pPr marL="0" indent="0" algn="ctr">
                  <a:buNone/>
                </a:pPr>
                <a14:m>
                  <m:oMath xmlns:m="http://schemas.openxmlformats.org/officeDocument/2006/math">
                    <m:r>
                      <a:rPr lang="pt-BR" i="1">
                        <a:latin typeface="Cambria Math" panose="02040503050406030204" pitchFamily="18" charset="0"/>
                      </a:rPr>
                      <m:t>𝑃</m:t>
                    </m:r>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𝐶</m:t>
                            </m:r>
                          </m:e>
                          <m:sub>
                            <m:r>
                              <a:rPr lang="pt-BR" i="1">
                                <a:latin typeface="Cambria Math" panose="02040503050406030204" pitchFamily="18" charset="0"/>
                              </a:rPr>
                              <m:t>0</m:t>
                            </m:r>
                          </m:sub>
                        </m:sSub>
                        <m:r>
                          <a:rPr lang="pt-BR" i="1">
                            <a:latin typeface="Cambria Math" panose="02040503050406030204" pitchFamily="18" charset="0"/>
                          </a:rPr>
                          <m:t> |</m:t>
                        </m:r>
                        <m:r>
                          <a:rPr lang="pt-BR" b="1" i="1">
                            <a:latin typeface="Cambria Math" panose="02040503050406030204" pitchFamily="18" charset="0"/>
                          </a:rPr>
                          <m:t> </m:t>
                        </m:r>
                        <m:r>
                          <a:rPr lang="pt-BR" b="1" i="1">
                            <a:latin typeface="Cambria Math" panose="02040503050406030204" pitchFamily="18" charset="0"/>
                          </a:rPr>
                          <m:t>𝒙</m:t>
                        </m:r>
                        <m:d>
                          <m:dPr>
                            <m:ctrlPr>
                              <a:rPr lang="pt-BR" b="1" i="1">
                                <a:latin typeface="Cambria Math" panose="02040503050406030204" pitchFamily="18" charset="0"/>
                              </a:rPr>
                            </m:ctrlPr>
                          </m:dPr>
                          <m:e>
                            <m:r>
                              <a:rPr lang="pt-BR" i="1">
                                <a:latin typeface="Cambria Math" panose="02040503050406030204" pitchFamily="18" charset="0"/>
                              </a:rPr>
                              <m:t>𝑛</m:t>
                            </m:r>
                          </m:e>
                        </m:d>
                        <m:r>
                          <a:rPr lang="pt-BR" i="1">
                            <a:latin typeface="Cambria Math" panose="02040503050406030204" pitchFamily="18" charset="0"/>
                          </a:rPr>
                          <m:t>,</m:t>
                        </m:r>
                        <m:r>
                          <a:rPr lang="pt-BR" b="1" i="1" smtClean="0">
                            <a:latin typeface="Cambria Math" panose="02040503050406030204" pitchFamily="18" charset="0"/>
                          </a:rPr>
                          <m:t>𝑨</m:t>
                        </m:r>
                        <m:r>
                          <a:rPr lang="pt-BR" i="1" smtClean="0">
                            <a:latin typeface="Cambria Math" panose="02040503050406030204" pitchFamily="18" charset="0"/>
                          </a:rPr>
                          <m:t> </m:t>
                        </m:r>
                      </m:e>
                    </m:d>
                    <m:r>
                      <a:rPr lang="pt-BR" i="1">
                        <a:latin typeface="Cambria Math" panose="02040503050406030204" pitchFamily="18" charset="0"/>
                      </a:rPr>
                      <m:t>+</m:t>
                    </m:r>
                    <m:r>
                      <a:rPr lang="pt-BR" i="1">
                        <a:latin typeface="Cambria Math" panose="02040503050406030204" pitchFamily="18" charset="0"/>
                      </a:rPr>
                      <m:t>𝑃</m:t>
                    </m:r>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𝐶</m:t>
                            </m:r>
                          </m:e>
                          <m:sub>
                            <m:r>
                              <a:rPr lang="pt-BR" i="1">
                                <a:latin typeface="Cambria Math" panose="02040503050406030204" pitchFamily="18" charset="0"/>
                              </a:rPr>
                              <m:t>1</m:t>
                            </m:r>
                          </m:sub>
                        </m:sSub>
                        <m:r>
                          <a:rPr lang="pt-BR" i="1">
                            <a:latin typeface="Cambria Math" panose="02040503050406030204" pitchFamily="18" charset="0"/>
                          </a:rPr>
                          <m:t> |</m:t>
                        </m:r>
                        <m:r>
                          <a:rPr lang="pt-BR" b="1" i="1">
                            <a:latin typeface="Cambria Math" panose="02040503050406030204" pitchFamily="18" charset="0"/>
                          </a:rPr>
                          <m:t> </m:t>
                        </m:r>
                        <m:r>
                          <a:rPr lang="pt-BR" b="1" i="1">
                            <a:latin typeface="Cambria Math" panose="02040503050406030204" pitchFamily="18" charset="0"/>
                          </a:rPr>
                          <m:t>𝒙</m:t>
                        </m:r>
                        <m:d>
                          <m:dPr>
                            <m:ctrlPr>
                              <a:rPr lang="pt-BR" b="1" i="1">
                                <a:latin typeface="Cambria Math" panose="02040503050406030204" pitchFamily="18" charset="0"/>
                              </a:rPr>
                            </m:ctrlPr>
                          </m:dPr>
                          <m:e>
                            <m:r>
                              <a:rPr lang="pt-BR" i="1">
                                <a:latin typeface="Cambria Math" panose="02040503050406030204" pitchFamily="18" charset="0"/>
                              </a:rPr>
                              <m:t>𝑛</m:t>
                            </m:r>
                          </m:e>
                        </m:d>
                        <m:r>
                          <a:rPr lang="pt-BR" b="0" i="1" smtClean="0">
                            <a:latin typeface="Cambria Math" panose="02040503050406030204" pitchFamily="18" charset="0"/>
                          </a:rPr>
                          <m:t>,</m:t>
                        </m:r>
                        <m:r>
                          <a:rPr lang="pt-BR" b="1" i="1">
                            <a:latin typeface="Cambria Math" panose="02040503050406030204" pitchFamily="18" charset="0"/>
                          </a:rPr>
                          <m:t>𝑨</m:t>
                        </m:r>
                      </m:e>
                    </m:d>
                    <m:r>
                      <a:rPr lang="pt-BR">
                        <a:latin typeface="Cambria Math" panose="02040503050406030204" pitchFamily="18" charset="0"/>
                      </a:rPr>
                      <m:t>+</m:t>
                    </m:r>
                    <m:r>
                      <a:rPr lang="pt-BR" i="1">
                        <a:latin typeface="Cambria Math" panose="02040503050406030204" pitchFamily="18" charset="0"/>
                        <a:ea typeface="Cambria Math" panose="02040503050406030204" pitchFamily="18" charset="0"/>
                      </a:rPr>
                      <m:t>⋯+</m:t>
                    </m:r>
                    <m:r>
                      <a:rPr lang="pt-BR" i="1">
                        <a:latin typeface="Cambria Math" panose="02040503050406030204" pitchFamily="18" charset="0"/>
                      </a:rPr>
                      <m:t>𝑃</m:t>
                    </m:r>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𝐶</m:t>
                            </m:r>
                          </m:e>
                          <m:sub>
                            <m:r>
                              <a:rPr lang="pt-BR" i="1">
                                <a:latin typeface="Cambria Math" panose="02040503050406030204" pitchFamily="18" charset="0"/>
                              </a:rPr>
                              <m:t>𝑄</m:t>
                            </m:r>
                            <m:r>
                              <a:rPr lang="pt-BR" i="1">
                                <a:latin typeface="Cambria Math" panose="02040503050406030204" pitchFamily="18" charset="0"/>
                              </a:rPr>
                              <m:t>−1</m:t>
                            </m:r>
                          </m:sub>
                        </m:sSub>
                        <m:r>
                          <a:rPr lang="pt-BR" i="1">
                            <a:latin typeface="Cambria Math" panose="02040503050406030204" pitchFamily="18" charset="0"/>
                          </a:rPr>
                          <m:t> | </m:t>
                        </m:r>
                        <m:r>
                          <a:rPr lang="pt-BR" b="1" i="1">
                            <a:latin typeface="Cambria Math" panose="02040503050406030204" pitchFamily="18" charset="0"/>
                          </a:rPr>
                          <m:t>𝒙</m:t>
                        </m:r>
                        <m:d>
                          <m:dPr>
                            <m:ctrlPr>
                              <a:rPr lang="pt-BR" b="1" i="1">
                                <a:latin typeface="Cambria Math" panose="02040503050406030204" pitchFamily="18" charset="0"/>
                              </a:rPr>
                            </m:ctrlPr>
                          </m:dPr>
                          <m:e>
                            <m:r>
                              <a:rPr lang="pt-BR" i="1">
                                <a:latin typeface="Cambria Math" panose="02040503050406030204" pitchFamily="18" charset="0"/>
                              </a:rPr>
                              <m:t>𝑛</m:t>
                            </m:r>
                          </m:e>
                        </m:d>
                        <m:r>
                          <a:rPr lang="pt-BR" b="0" i="1" smtClean="0">
                            <a:latin typeface="Cambria Math" panose="02040503050406030204" pitchFamily="18" charset="0"/>
                          </a:rPr>
                          <m:t>,</m:t>
                        </m:r>
                        <m:r>
                          <a:rPr lang="pt-BR" b="1" i="1">
                            <a:latin typeface="Cambria Math" panose="02040503050406030204" pitchFamily="18" charset="0"/>
                          </a:rPr>
                          <m:t>𝑨</m:t>
                        </m:r>
                      </m:e>
                    </m:d>
                    <m:r>
                      <a:rPr lang="pt-BR" i="1">
                        <a:latin typeface="Cambria Math" panose="02040503050406030204" pitchFamily="18" charset="0"/>
                      </a:rPr>
                      <m:t>=1</m:t>
                    </m:r>
                  </m:oMath>
                </a14:m>
                <a:r>
                  <a:rPr lang="pt-BR" dirty="0"/>
                  <a:t>.</a:t>
                </a:r>
                <a:endParaRPr lang="pt-BR" b="0" dirty="0">
                  <a:effectLst/>
                </a:endParaRPr>
              </a:p>
            </p:txBody>
          </p:sp>
        </mc:Choice>
        <mc:Fallback xmlns="">
          <p:sp>
            <p:nvSpPr>
              <p:cNvPr id="3" name="Espaço Reservado para Conteúdo 2">
                <a:extLst>
                  <a:ext uri="{FF2B5EF4-FFF2-40B4-BE49-F238E27FC236}">
                    <a16:creationId xmlns="" xmlns:a16="http://schemas.microsoft.com/office/drawing/2014/main" xmlns:a14="http://schemas.microsoft.com/office/drawing/2010/main" id="{32DF54A1-52F5-C48C-7CD4-D6E451DF19D8}"/>
                  </a:ext>
                </a:extLst>
              </p:cNvPr>
              <p:cNvSpPr>
                <a:spLocks noGrp="1" noRot="1" noChangeAspect="1" noMove="1" noResize="1" noEditPoints="1" noAdjustHandles="1" noChangeArrowheads="1" noChangeShapeType="1" noTextEdit="1"/>
              </p:cNvSpPr>
              <p:nvPr>
                <p:ph idx="1"/>
              </p:nvPr>
            </p:nvSpPr>
            <p:spPr>
              <a:xfrm>
                <a:off x="838200" y="1825624"/>
                <a:ext cx="11353800" cy="5032375"/>
              </a:xfrm>
              <a:blipFill rotWithShape="0">
                <a:blip r:embed="rId3"/>
                <a:stretch>
                  <a:fillRect l="-967" t="-193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 name="CaixaDeTexto 3">
                <a:extLst>
                  <a:ext uri="{FF2B5EF4-FFF2-40B4-BE49-F238E27FC236}">
                    <a16:creationId xmlns:a16="http://schemas.microsoft.com/office/drawing/2014/main" xmlns="" id="{2B7728A0-505D-9DAE-23EC-8172E2EEEFA9}"/>
                  </a:ext>
                </a:extLst>
              </p:cNvPr>
              <p:cNvSpPr txBox="1"/>
              <p:nvPr/>
            </p:nvSpPr>
            <p:spPr>
              <a:xfrm>
                <a:off x="9468912" y="6488667"/>
                <a:ext cx="2701189" cy="369332"/>
              </a:xfrm>
              <a:prstGeom prst="rect">
                <a:avLst/>
              </a:prstGeom>
              <a:noFill/>
            </p:spPr>
            <p:txBody>
              <a:bodyPr wrap="none" rtlCol="0">
                <a:spAutoFit/>
              </a:bodyPr>
              <a:lstStyle/>
              <a:p>
                <a14:m>
                  <m:oMath xmlns:m="http://schemas.openxmlformats.org/officeDocument/2006/math">
                    <m:r>
                      <a:rPr lang="pt-BR" b="0" i="1" smtClean="0">
                        <a:latin typeface="Cambria Math" panose="02040503050406030204" pitchFamily="18" charset="0"/>
                      </a:rPr>
                      <m:t>𝑄</m:t>
                    </m:r>
                    <m:r>
                      <a:rPr lang="pt-BR" b="0" i="1" smtClean="0">
                        <a:latin typeface="Cambria Math" panose="02040503050406030204" pitchFamily="18" charset="0"/>
                      </a:rPr>
                      <m:t>=5</m:t>
                    </m:r>
                  </m:oMath>
                </a14:m>
                <a:r>
                  <a:rPr lang="pt-BR" dirty="0"/>
                  <a:t> (número de classes)</a:t>
                </a:r>
              </a:p>
            </p:txBody>
          </p:sp>
        </mc:Choice>
        <mc:Fallback xmlns="">
          <p:sp>
            <p:nvSpPr>
              <p:cNvPr id="4" name="CaixaDeTexto 3">
                <a:extLst>
                  <a:ext uri="{FF2B5EF4-FFF2-40B4-BE49-F238E27FC236}">
                    <a16:creationId xmlns="" xmlns:a16="http://schemas.microsoft.com/office/drawing/2014/main" xmlns:a14="http://schemas.microsoft.com/office/drawing/2010/main" id="{2B7728A0-505D-9DAE-23EC-8172E2EEEFA9}"/>
                  </a:ext>
                </a:extLst>
              </p:cNvPr>
              <p:cNvSpPr txBox="1">
                <a:spLocks noRot="1" noChangeAspect="1" noMove="1" noResize="1" noEditPoints="1" noAdjustHandles="1" noChangeArrowheads="1" noChangeShapeType="1" noTextEdit="1"/>
              </p:cNvSpPr>
              <p:nvPr/>
            </p:nvSpPr>
            <p:spPr>
              <a:xfrm>
                <a:off x="9468912" y="6488667"/>
                <a:ext cx="2701189" cy="369332"/>
              </a:xfrm>
              <a:prstGeom prst="rect">
                <a:avLst/>
              </a:prstGeom>
              <a:blipFill rotWithShape="0">
                <a:blip r:embed="rId5"/>
                <a:stretch>
                  <a:fillRect l="-451" t="-8197" r="-1580" b="-24590"/>
                </a:stretch>
              </a:blipFill>
            </p:spPr>
            <p:txBody>
              <a:bodyPr/>
              <a:lstStyle/>
              <a:p>
                <a:r>
                  <a:rPr lang="pt-BR">
                    <a:noFill/>
                  </a:rPr>
                  <a:t> </a:t>
                </a:r>
              </a:p>
            </p:txBody>
          </p:sp>
        </mc:Fallback>
      </mc:AlternateContent>
      <p:pic>
        <p:nvPicPr>
          <p:cNvPr id="6" name="Imagem 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038591" y="3863499"/>
            <a:ext cx="6114818" cy="2481287"/>
          </a:xfrm>
          <a:prstGeom prst="rect">
            <a:avLst/>
          </a:prstGeom>
        </p:spPr>
      </p:pic>
    </p:spTree>
    <p:extLst>
      <p:ext uri="{BB962C8B-B14F-4D97-AF65-F5344CB8AC3E}">
        <p14:creationId xmlns:p14="http://schemas.microsoft.com/office/powerpoint/2010/main" val="7994226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028A152F-93D8-11FA-9B7A-B62AE5BB6486}"/>
              </a:ext>
            </a:extLst>
          </p:cNvPr>
          <p:cNvSpPr>
            <a:spLocks noGrp="1"/>
          </p:cNvSpPr>
          <p:nvPr>
            <p:ph type="title"/>
          </p:nvPr>
        </p:nvSpPr>
        <p:spPr/>
        <p:txBody>
          <a:bodyPr/>
          <a:lstStyle/>
          <a:p>
            <a:r>
              <a:rPr lang="pt-BR" dirty="0"/>
              <a:t>Função de ativação </a:t>
            </a:r>
            <a:r>
              <a:rPr lang="pt-BR" i="1" dirty="0"/>
              <a:t>softmax</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xmlns="" id="{B3535727-BB24-BB15-5C03-3DA9A3F9A09A}"/>
                  </a:ext>
                </a:extLst>
              </p:cNvPr>
              <p:cNvSpPr>
                <a:spLocks noGrp="1"/>
              </p:cNvSpPr>
              <p:nvPr>
                <p:ph idx="1"/>
              </p:nvPr>
            </p:nvSpPr>
            <p:spPr>
              <a:xfrm>
                <a:off x="5286376" y="1825624"/>
                <a:ext cx="6905624" cy="5032375"/>
              </a:xfrm>
            </p:spPr>
            <p:txBody>
              <a:bodyPr>
                <a:normAutofit/>
              </a:bodyPr>
              <a:lstStyle/>
              <a:p>
                <a:r>
                  <a:rPr lang="pt-BR" dirty="0"/>
                  <a:t>Assim como com o regressor logístico, podemos usar </a:t>
                </a:r>
                <a:r>
                  <a:rPr lang="pt-BR" b="1" dirty="0">
                    <a:solidFill>
                      <a:schemeClr val="accent2"/>
                    </a:solidFill>
                  </a:rPr>
                  <a:t>hiperplanos</a:t>
                </a:r>
                <a:r>
                  <a:rPr lang="pt-BR" dirty="0"/>
                  <a:t> ou </a:t>
                </a:r>
                <a:r>
                  <a:rPr lang="pt-BR" b="1" dirty="0">
                    <a:solidFill>
                      <a:schemeClr val="accent2"/>
                    </a:solidFill>
                  </a:rPr>
                  <a:t>polinômios</a:t>
                </a:r>
                <a:r>
                  <a:rPr lang="pt-BR" dirty="0"/>
                  <a:t> como </a:t>
                </a:r>
                <a:r>
                  <a:rPr lang="pt-BR" b="1" dirty="0"/>
                  <a:t>funções discriminantes</a:t>
                </a:r>
                <a:r>
                  <a:rPr lang="pt-BR" dirty="0"/>
                  <a:t>.</a:t>
                </a:r>
              </a:p>
              <a:p>
                <a:r>
                  <a:rPr lang="pt-BR" dirty="0"/>
                  <a:t>Nosso objetivo é encontrar um </a:t>
                </a:r>
                <a:r>
                  <a:rPr lang="pt-BR" b="1" dirty="0"/>
                  <a:t>modelo</a:t>
                </a:r>
                <a:r>
                  <a:rPr lang="pt-BR" dirty="0"/>
                  <a:t> (i.e., a </a:t>
                </a:r>
                <a:r>
                  <a:rPr lang="pt-BR" b="1" dirty="0"/>
                  <a:t>equação</a:t>
                </a:r>
                <a:r>
                  <a:rPr lang="pt-BR" dirty="0"/>
                  <a:t> e os respectivos </a:t>
                </a:r>
                <a:r>
                  <a:rPr lang="pt-BR" b="1" dirty="0"/>
                  <a:t>pesos</a:t>
                </a:r>
                <a:r>
                  <a:rPr lang="pt-BR" dirty="0"/>
                  <a:t> das </a:t>
                </a:r>
                <a14:m>
                  <m:oMath xmlns:m="http://schemas.openxmlformats.org/officeDocument/2006/math">
                    <m:r>
                      <a:rPr lang="pt-BR" i="1">
                        <a:latin typeface="Cambria Math" panose="02040503050406030204" pitchFamily="18" charset="0"/>
                      </a:rPr>
                      <m:t>𝑄</m:t>
                    </m:r>
                  </m:oMath>
                </a14:m>
                <a:r>
                  <a:rPr lang="pt-BR" dirty="0"/>
                  <a:t> funções hipótese) que </a:t>
                </a:r>
              </a:p>
              <a:p>
                <a:pPr lvl="1">
                  <a:buFont typeface="Wingdings" panose="05000000000000000000" pitchFamily="2" charset="2"/>
                  <a:buChar char="§"/>
                </a:pPr>
                <a:r>
                  <a:rPr lang="pt-BR" b="1" dirty="0">
                    <a:solidFill>
                      <a:srgbClr val="00B050"/>
                    </a:solidFill>
                  </a:rPr>
                  <a:t>atribua uma alta probabilidade para a classe alvo </a:t>
                </a:r>
              </a:p>
              <a:p>
                <a:pPr lvl="1">
                  <a:buFont typeface="Wingdings" panose="05000000000000000000" pitchFamily="2" charset="2"/>
                  <a:buChar char="§"/>
                </a:pPr>
                <a:r>
                  <a:rPr lang="pt-BR" dirty="0"/>
                  <a:t>e, consequentemente, </a:t>
                </a:r>
                <a:r>
                  <a:rPr lang="pt-BR" b="1" dirty="0">
                    <a:solidFill>
                      <a:srgbClr val="00B050"/>
                    </a:solidFill>
                  </a:rPr>
                  <a:t>uma baixa probabilidade para as demais classes</a:t>
                </a:r>
                <a:r>
                  <a:rPr lang="pt-BR" dirty="0"/>
                  <a:t>.</a:t>
                </a:r>
              </a:p>
              <a:p>
                <a:r>
                  <a:rPr lang="pt-BR" dirty="0"/>
                  <a:t>Por isso usamos vetores </a:t>
                </a:r>
                <a:r>
                  <a:rPr lang="pt-BR" b="1" i="1" dirty="0" err="1">
                    <a:solidFill>
                      <a:srgbClr val="7030A0"/>
                    </a:solidFill>
                  </a:rPr>
                  <a:t>one</a:t>
                </a:r>
                <a:r>
                  <a:rPr lang="pt-BR" b="1" i="1" dirty="0">
                    <a:solidFill>
                      <a:srgbClr val="7030A0"/>
                    </a:solidFill>
                  </a:rPr>
                  <a:t>-hot</a:t>
                </a:r>
                <a:r>
                  <a:rPr lang="pt-BR" b="1" dirty="0">
                    <a:solidFill>
                      <a:srgbClr val="7030A0"/>
                    </a:solidFill>
                  </a:rPr>
                  <a:t> como </a:t>
                </a:r>
                <a:r>
                  <a:rPr lang="pt-BR" b="1" dirty="0" smtClean="0">
                    <a:solidFill>
                      <a:srgbClr val="7030A0"/>
                    </a:solidFill>
                  </a:rPr>
                  <a:t>a representação dos rótulos</a:t>
                </a:r>
                <a:r>
                  <a:rPr lang="pt-BR" dirty="0"/>
                  <a:t>.</a:t>
                </a:r>
              </a:p>
            </p:txBody>
          </p:sp>
        </mc:Choice>
        <mc:Fallback xmlns="">
          <p:sp>
            <p:nvSpPr>
              <p:cNvPr id="3" name="Espaço Reservado para Conteúdo 2">
                <a:extLst>
                  <a:ext uri="{FF2B5EF4-FFF2-40B4-BE49-F238E27FC236}">
                    <a16:creationId xmlns="" xmlns:a16="http://schemas.microsoft.com/office/drawing/2014/main" xmlns:a14="http://schemas.microsoft.com/office/drawing/2010/main" id="{B3535727-BB24-BB15-5C03-3DA9A3F9A09A}"/>
                  </a:ext>
                </a:extLst>
              </p:cNvPr>
              <p:cNvSpPr>
                <a:spLocks noGrp="1" noRot="1" noChangeAspect="1" noMove="1" noResize="1" noEditPoints="1" noAdjustHandles="1" noChangeArrowheads="1" noChangeShapeType="1" noTextEdit="1"/>
              </p:cNvSpPr>
              <p:nvPr>
                <p:ph idx="1"/>
              </p:nvPr>
            </p:nvSpPr>
            <p:spPr>
              <a:xfrm>
                <a:off x="5286376" y="1825624"/>
                <a:ext cx="6905624" cy="5032375"/>
              </a:xfrm>
              <a:blipFill rotWithShape="0">
                <a:blip r:embed="rId3"/>
                <a:stretch>
                  <a:fillRect l="-1589" t="-1937" r="-1677"/>
                </a:stretch>
              </a:blipFill>
            </p:spPr>
            <p:txBody>
              <a:bodyPr/>
              <a:lstStyle/>
              <a:p>
                <a:r>
                  <a:rPr lang="pt-BR">
                    <a:noFill/>
                  </a:rPr>
                  <a:t> </a:t>
                </a:r>
              </a:p>
            </p:txBody>
          </p:sp>
        </mc:Fallback>
      </mc:AlternateContent>
      <p:pic>
        <p:nvPicPr>
          <p:cNvPr id="7" name="Picture 6">
            <a:extLst>
              <a:ext uri="{FF2B5EF4-FFF2-40B4-BE49-F238E27FC236}">
                <a16:creationId xmlns:a16="http://schemas.microsoft.com/office/drawing/2014/main" xmlns="" id="{B29D6ED4-6B75-62EC-8922-9CCA4F704E2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59422" y="2649266"/>
            <a:ext cx="4292180" cy="2770936"/>
          </a:xfrm>
          <a:prstGeom prst="rect">
            <a:avLst/>
          </a:prstGeom>
        </p:spPr>
      </p:pic>
    </p:spTree>
    <p:extLst>
      <p:ext uri="{BB962C8B-B14F-4D97-AF65-F5344CB8AC3E}">
        <p14:creationId xmlns:p14="http://schemas.microsoft.com/office/powerpoint/2010/main" val="7651989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DB9D242-5419-0FFB-7863-B3BB3BD80869}"/>
              </a:ext>
            </a:extLst>
          </p:cNvPr>
          <p:cNvSpPr>
            <a:spLocks noGrp="1"/>
          </p:cNvSpPr>
          <p:nvPr>
            <p:ph type="title"/>
          </p:nvPr>
        </p:nvSpPr>
        <p:spPr/>
        <p:txBody>
          <a:bodyPr/>
          <a:lstStyle/>
          <a:p>
            <a:r>
              <a:rPr lang="pt-BR" dirty="0"/>
              <a:t>Função de erro</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xmlns="" id="{34B1DEA3-BAAD-D90C-CD9D-99A5A24F4544}"/>
                  </a:ext>
                </a:extLst>
              </p:cNvPr>
              <p:cNvSpPr>
                <a:spLocks noGrp="1"/>
              </p:cNvSpPr>
              <p:nvPr>
                <p:ph idx="1"/>
              </p:nvPr>
            </p:nvSpPr>
            <p:spPr>
              <a:xfrm>
                <a:off x="838199" y="1825624"/>
                <a:ext cx="11353801" cy="5032375"/>
              </a:xfrm>
            </p:spPr>
            <p:txBody>
              <a:bodyPr>
                <a:normAutofit lnSpcReduction="10000"/>
              </a:bodyPr>
              <a:lstStyle/>
              <a:p>
                <a:r>
                  <a:rPr lang="pt-BR" dirty="0"/>
                  <a:t>Para atingir o objetivo, devemos definir uma </a:t>
                </a:r>
                <a:r>
                  <a:rPr lang="pt-BR" b="1" dirty="0"/>
                  <a:t>função de erro </a:t>
                </a:r>
                <a:r>
                  <a:rPr lang="pt-BR" dirty="0"/>
                  <a:t>a ser </a:t>
                </a:r>
                <a:r>
                  <a:rPr lang="pt-BR" b="1" dirty="0">
                    <a:solidFill>
                      <a:srgbClr val="7030A0"/>
                    </a:solidFill>
                  </a:rPr>
                  <a:t>minimizada</a:t>
                </a:r>
                <a:r>
                  <a:rPr lang="pt-BR" dirty="0"/>
                  <a:t>.</a:t>
                </a:r>
              </a:p>
              <a:p>
                <a:r>
                  <a:rPr lang="pt-BR" dirty="0" smtClean="0"/>
                  <a:t>Para isso, usamos </a:t>
                </a:r>
                <a:r>
                  <a:rPr lang="pt-BR" dirty="0"/>
                  <a:t>a </a:t>
                </a:r>
                <a:r>
                  <a:rPr lang="pt-BR" b="1" dirty="0">
                    <a:solidFill>
                      <a:schemeClr val="accent2"/>
                    </a:solidFill>
                  </a:rPr>
                  <a:t>generalização da função da entropia cruzada</a:t>
                </a:r>
                <a:r>
                  <a:rPr lang="pt-BR" dirty="0"/>
                  <a:t>, chamada de </a:t>
                </a:r>
                <a:r>
                  <a:rPr lang="pt-BR" b="1" dirty="0"/>
                  <a:t>entropia cruzada categórica</a:t>
                </a:r>
                <a:r>
                  <a:rPr lang="pt-BR" dirty="0"/>
                  <a:t>, a qual é dada por</a:t>
                </a:r>
              </a:p>
              <a:p>
                <a:pPr marL="0" indent="0">
                  <a:buNone/>
                </a:pPr>
                <a14:m>
                  <m:oMathPara xmlns:m="http://schemas.openxmlformats.org/officeDocument/2006/math">
                    <m:oMathParaPr>
                      <m:jc m:val="centerGroup"/>
                    </m:oMathParaPr>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i="1">
                              <a:latin typeface="Cambria Math" panose="02040503050406030204" pitchFamily="18" charset="0"/>
                            </a:rPr>
                          </m:ctrlPr>
                        </m:dPr>
                        <m:e>
                          <m:r>
                            <a:rPr lang="pt-BR" b="1" i="1" smtClean="0">
                              <a:latin typeface="Cambria Math" panose="02040503050406030204" pitchFamily="18" charset="0"/>
                            </a:rPr>
                            <m:t>𝑨</m:t>
                          </m:r>
                        </m:e>
                      </m:d>
                      <m:r>
                        <a:rPr lang="pt-BR"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1</m:t>
                          </m:r>
                        </m:num>
                        <m:den>
                          <m:r>
                            <a:rPr lang="pt-BR" i="1">
                              <a:latin typeface="Cambria Math" panose="02040503050406030204" pitchFamily="18" charset="0"/>
                            </a:rPr>
                            <m:t>𝑁</m:t>
                          </m:r>
                        </m:den>
                      </m:f>
                      <m:nary>
                        <m:naryPr>
                          <m:chr m:val="∑"/>
                          <m:ctrlPr>
                            <a:rPr lang="pt-BR" i="1">
                              <a:latin typeface="Cambria Math" panose="02040503050406030204" pitchFamily="18" charset="0"/>
                            </a:rPr>
                          </m:ctrlPr>
                        </m:naryPr>
                        <m:sub>
                          <m:r>
                            <a:rPr lang="pt-BR" i="1">
                              <a:latin typeface="Cambria Math" panose="02040503050406030204" pitchFamily="18" charset="0"/>
                            </a:rPr>
                            <m:t>𝑛</m:t>
                          </m:r>
                          <m:r>
                            <a:rPr lang="pt-BR" i="1">
                              <a:latin typeface="Cambria Math" panose="02040503050406030204" pitchFamily="18" charset="0"/>
                            </a:rPr>
                            <m:t>=0</m:t>
                          </m:r>
                        </m:sub>
                        <m:sup>
                          <m:r>
                            <a:rPr lang="pt-BR" i="1">
                              <a:latin typeface="Cambria Math" panose="02040503050406030204" pitchFamily="18" charset="0"/>
                            </a:rPr>
                            <m:t>𝑁</m:t>
                          </m:r>
                          <m:r>
                            <a:rPr lang="pt-BR" i="1">
                              <a:latin typeface="Cambria Math" panose="02040503050406030204" pitchFamily="18" charset="0"/>
                            </a:rPr>
                            <m:t>−1</m:t>
                          </m:r>
                        </m:sup>
                        <m:e>
                          <m:nary>
                            <m:naryPr>
                              <m:chr m:val="∑"/>
                              <m:ctrlPr>
                                <a:rPr lang="pt-BR" i="1">
                                  <a:latin typeface="Cambria Math" panose="02040503050406030204" pitchFamily="18" charset="0"/>
                                </a:rPr>
                              </m:ctrlPr>
                            </m:naryPr>
                            <m:sub>
                              <m:r>
                                <m:rPr>
                                  <m:brk m:alnAt="23"/>
                                </m:rPr>
                                <a:rPr lang="pt-BR" i="1">
                                  <a:latin typeface="Cambria Math" panose="02040503050406030204" pitchFamily="18" charset="0"/>
                                </a:rPr>
                                <m:t>𝑞</m:t>
                              </m:r>
                              <m:r>
                                <a:rPr lang="pt-BR" i="1">
                                  <a:latin typeface="Cambria Math" panose="02040503050406030204" pitchFamily="18" charset="0"/>
                                </a:rPr>
                                <m:t>=0</m:t>
                              </m:r>
                            </m:sub>
                            <m:sup>
                              <m:r>
                                <a:rPr lang="pt-BR" i="1">
                                  <a:latin typeface="Cambria Math" panose="02040503050406030204" pitchFamily="18" charset="0"/>
                                </a:rPr>
                                <m:t>𝑄</m:t>
                              </m:r>
                              <m:r>
                                <a:rPr lang="pt-BR" i="1">
                                  <a:latin typeface="Cambria Math" panose="02040503050406030204" pitchFamily="18" charset="0"/>
                                </a:rPr>
                                <m:t>−1</m:t>
                              </m:r>
                            </m:sup>
                            <m:e>
                              <m:r>
                                <a:rPr lang="pt-BR" i="1">
                                  <a:latin typeface="Cambria Math" panose="02040503050406030204" pitchFamily="18" charset="0"/>
                                </a:rPr>
                                <m:t>1</m:t>
                              </m:r>
                              <m:d>
                                <m:dPr>
                                  <m:begChr m:val="{"/>
                                  <m:endChr m:val="}"/>
                                  <m:ctrlPr>
                                    <a:rPr lang="pt-BR" i="1">
                                      <a:latin typeface="Cambria Math" panose="02040503050406030204" pitchFamily="18" charset="0"/>
                                    </a:rPr>
                                  </m:ctrlPr>
                                </m:dPr>
                                <m:e>
                                  <m:r>
                                    <a:rPr lang="pt-BR" i="1">
                                      <a:latin typeface="Cambria Math" panose="02040503050406030204" pitchFamily="18" charset="0"/>
                                    </a:rPr>
                                    <m:t>𝑦</m:t>
                                  </m:r>
                                  <m:d>
                                    <m:dPr>
                                      <m:ctrlPr>
                                        <a:rPr lang="pt-BR" i="1">
                                          <a:latin typeface="Cambria Math" panose="02040503050406030204" pitchFamily="18" charset="0"/>
                                        </a:rPr>
                                      </m:ctrlPr>
                                    </m:dPr>
                                    <m:e>
                                      <m:r>
                                        <a:rPr lang="pt-BR" i="1">
                                          <a:latin typeface="Cambria Math" panose="02040503050406030204" pitchFamily="18" charset="0"/>
                                        </a:rPr>
                                        <m:t>𝑛</m:t>
                                      </m:r>
                                    </m:e>
                                  </m:d>
                                  <m:r>
                                    <a:rPr lang="pt-BR" i="1">
                                      <a:latin typeface="Cambria Math" panose="02040503050406030204" pitchFamily="18" charset="0"/>
                                    </a:rPr>
                                    <m:t>==</m:t>
                                  </m:r>
                                  <m:r>
                                    <a:rPr lang="pt-BR" i="1">
                                      <a:latin typeface="Cambria Math" panose="02040503050406030204" pitchFamily="18" charset="0"/>
                                    </a:rPr>
                                    <m:t>𝑞</m:t>
                                  </m:r>
                                </m:e>
                              </m:d>
                              <m:func>
                                <m:funcPr>
                                  <m:ctrlPr>
                                    <a:rPr lang="pt-BR" i="1">
                                      <a:latin typeface="Cambria Math" panose="02040503050406030204" pitchFamily="18" charset="0"/>
                                    </a:rPr>
                                  </m:ctrlPr>
                                </m:funcPr>
                                <m:fName>
                                  <m:r>
                                    <m:rPr>
                                      <m:sty m:val="p"/>
                                    </m:rPr>
                                    <a:rPr lang="pt-BR">
                                      <a:latin typeface="Cambria Math" panose="02040503050406030204" pitchFamily="18" charset="0"/>
                                    </a:rPr>
                                    <m:t>log</m:t>
                                  </m:r>
                                </m:fName>
                                <m:e>
                                  <m:d>
                                    <m:dPr>
                                      <m:ctrlPr>
                                        <a:rPr lang="pt-BR" i="1" smtClean="0">
                                          <a:latin typeface="Cambria Math" panose="02040503050406030204" pitchFamily="18" charset="0"/>
                                        </a:rPr>
                                      </m:ctrlPr>
                                    </m:dPr>
                                    <m:e>
                                      <m:limLow>
                                        <m:limLowPr>
                                          <m:ctrlPr>
                                            <a:rPr lang="pt-BR" i="1" smtClean="0">
                                              <a:latin typeface="Cambria Math" panose="02040503050406030204" pitchFamily="18" charset="0"/>
                                            </a:rPr>
                                          </m:ctrlPr>
                                        </m:limLowPr>
                                        <m:e>
                                          <m:groupChr>
                                            <m:groupChrPr>
                                              <m:chr m:val="⏟"/>
                                              <m:ctrlPr>
                                                <a:rPr lang="pt-BR" i="1" smtClean="0">
                                                  <a:latin typeface="Cambria Math" panose="02040503050406030204" pitchFamily="18" charset="0"/>
                                                </a:rPr>
                                              </m:ctrlPr>
                                            </m:groupChrPr>
                                            <m:e>
                                              <m:sSubSup>
                                                <m:sSubSupPr>
                                                  <m:ctrlPr>
                                                    <a:rPr lang="pt-BR" b="1" i="1">
                                                      <a:latin typeface="Cambria Math" panose="02040503050406030204" pitchFamily="18" charset="0"/>
                                                    </a:rPr>
                                                  </m:ctrlPr>
                                                </m:sSubSupPr>
                                                <m:e>
                                                  <m:r>
                                                    <a:rPr lang="pt-BR" i="1">
                                                      <a:latin typeface="Cambria Math" panose="02040503050406030204" pitchFamily="18" charset="0"/>
                                                    </a:rPr>
                                                    <m:t>h</m:t>
                                                  </m:r>
                                                </m:e>
                                                <m:sub>
                                                  <m:r>
                                                    <a:rPr lang="pt-BR" b="1" i="1">
                                                      <a:latin typeface="Cambria Math" panose="02040503050406030204" pitchFamily="18" charset="0"/>
                                                    </a:rPr>
                                                    <m:t>𝒂</m:t>
                                                  </m:r>
                                                </m:sub>
                                                <m:sup>
                                                  <m:r>
                                                    <a:rPr lang="pt-BR" i="1">
                                                      <a:latin typeface="Cambria Math" panose="02040503050406030204" pitchFamily="18" charset="0"/>
                                                    </a:rPr>
                                                    <m:t>𝑞</m:t>
                                                  </m:r>
                                                </m:sup>
                                              </m:sSubSup>
                                              <m:d>
                                                <m:dPr>
                                                  <m:ctrlPr>
                                                    <a:rPr lang="pt-BR" i="1">
                                                      <a:latin typeface="Cambria Math" panose="02040503050406030204" pitchFamily="18" charset="0"/>
                                                    </a:rPr>
                                                  </m:ctrlPr>
                                                </m:dPr>
                                                <m:e>
                                                  <m:r>
                                                    <a:rPr lang="pt-BR" b="1" i="1">
                                                      <a:latin typeface="Cambria Math" panose="02040503050406030204" pitchFamily="18" charset="0"/>
                                                    </a:rPr>
                                                    <m:t>𝒙</m:t>
                                                  </m:r>
                                                  <m:d>
                                                    <m:dPr>
                                                      <m:ctrlPr>
                                                        <a:rPr lang="pt-BR" b="1" i="1">
                                                          <a:latin typeface="Cambria Math" panose="02040503050406030204" pitchFamily="18" charset="0"/>
                                                        </a:rPr>
                                                      </m:ctrlPr>
                                                    </m:dPr>
                                                    <m:e>
                                                      <m:r>
                                                        <a:rPr lang="pt-BR" i="1">
                                                          <a:latin typeface="Cambria Math" panose="02040503050406030204" pitchFamily="18" charset="0"/>
                                                        </a:rPr>
                                                        <m:t>𝑛</m:t>
                                                      </m:r>
                                                    </m:e>
                                                  </m:d>
                                                </m:e>
                                              </m:d>
                                            </m:e>
                                          </m:groupChr>
                                        </m:e>
                                        <m:lim>
                                          <m:sSub>
                                            <m:sSubPr>
                                              <m:ctrlPr>
                                                <a:rPr lang="pt-BR" i="1">
                                                  <a:latin typeface="Cambria Math" panose="02040503050406030204" pitchFamily="18" charset="0"/>
                                                </a:rPr>
                                              </m:ctrlPr>
                                            </m:sSubPr>
                                            <m:e>
                                              <m:acc>
                                                <m:accPr>
                                                  <m:chr m:val="̂"/>
                                                  <m:ctrlPr>
                                                    <a:rPr lang="pt-BR" i="1">
                                                      <a:latin typeface="Cambria Math" panose="02040503050406030204" pitchFamily="18" charset="0"/>
                                                    </a:rPr>
                                                  </m:ctrlPr>
                                                </m:accPr>
                                                <m:e>
                                                  <m:r>
                                                    <a:rPr lang="pt-BR" i="1">
                                                      <a:latin typeface="Cambria Math" panose="02040503050406030204" pitchFamily="18" charset="0"/>
                                                    </a:rPr>
                                                    <m:t>𝑦</m:t>
                                                  </m:r>
                                                </m:e>
                                              </m:acc>
                                            </m:e>
                                            <m:sub>
                                              <m:r>
                                                <a:rPr lang="pt-BR" i="1">
                                                  <a:latin typeface="Cambria Math" panose="02040503050406030204" pitchFamily="18" charset="0"/>
                                                </a:rPr>
                                                <m:t>𝑞</m:t>
                                              </m:r>
                                            </m:sub>
                                          </m:sSub>
                                          <m:d>
                                            <m:dPr>
                                              <m:ctrlPr>
                                                <a:rPr lang="pt-BR" i="1">
                                                  <a:latin typeface="Cambria Math" panose="02040503050406030204" pitchFamily="18" charset="0"/>
                                                </a:rPr>
                                              </m:ctrlPr>
                                            </m:dPr>
                                            <m:e>
                                              <m:r>
                                                <a:rPr lang="pt-BR" i="1">
                                                  <a:latin typeface="Cambria Math" panose="02040503050406030204" pitchFamily="18" charset="0"/>
                                                </a:rPr>
                                                <m:t>𝑛</m:t>
                                              </m:r>
                                            </m:e>
                                          </m:d>
                                        </m:lim>
                                      </m:limLow>
                                    </m:e>
                                  </m:d>
                                </m:e>
                              </m:func>
                            </m:e>
                          </m:nary>
                        </m:e>
                      </m:nary>
                      <m:r>
                        <a:rPr lang="pt-BR" i="1">
                          <a:latin typeface="Cambria Math" panose="02040503050406030204" pitchFamily="18" charset="0"/>
                        </a:rPr>
                        <m:t>,</m:t>
                      </m:r>
                    </m:oMath>
                  </m:oMathPara>
                </a14:m>
                <a:endParaRPr lang="pt-BR" dirty="0"/>
              </a:p>
              <a:p>
                <a:pPr marL="0" indent="0">
                  <a:buNone/>
                </a:pPr>
                <a:r>
                  <a:rPr lang="pt-BR" dirty="0"/>
                  <a:t>onde 1{⋅} é a </a:t>
                </a:r>
                <a:r>
                  <a:rPr lang="pt-BR" b="1" dirty="0"/>
                  <a:t>função indicadora </a:t>
                </a:r>
                <a:r>
                  <a:rPr lang="pt-BR" dirty="0"/>
                  <a:t>(1{condição verdadeira} = 1 e 1{condição falsa} = 0), </a:t>
                </a:r>
                <a14:m>
                  <m:oMath xmlns:m="http://schemas.openxmlformats.org/officeDocument/2006/math">
                    <m:r>
                      <a:rPr lang="pt-BR" b="1" i="1" smtClean="0">
                        <a:latin typeface="Cambria Math" panose="02040503050406030204" pitchFamily="18" charset="0"/>
                      </a:rPr>
                      <m:t>𝑨</m:t>
                    </m:r>
                    <m:r>
                      <a:rPr lang="pt-BR" dirty="0">
                        <a:latin typeface="Cambria Math" panose="02040503050406030204" pitchFamily="18" charset="0"/>
                        <a:ea typeface="Cambria Math" panose="02040503050406030204" pitchFamily="18" charset="0"/>
                      </a:rPr>
                      <m:t>∈</m:t>
                    </m:r>
                    <m:sSup>
                      <m:sSupPr>
                        <m:ctrlPr>
                          <a:rPr lang="pt-BR" i="1" dirty="0">
                            <a:latin typeface="Cambria Math" panose="02040503050406030204" pitchFamily="18" charset="0"/>
                            <a:ea typeface="Cambria Math" panose="02040503050406030204" pitchFamily="18" charset="0"/>
                          </a:rPr>
                        </m:ctrlPr>
                      </m:sSupPr>
                      <m:e>
                        <m:r>
                          <a:rPr lang="pt-BR" i="1" dirty="0">
                            <a:latin typeface="Cambria Math" panose="02040503050406030204" pitchFamily="18" charset="0"/>
                            <a:ea typeface="Cambria Math" panose="02040503050406030204" pitchFamily="18" charset="0"/>
                          </a:rPr>
                          <m:t>ℝ</m:t>
                        </m:r>
                      </m:e>
                      <m:sup>
                        <m:r>
                          <a:rPr lang="pt-BR" i="1" dirty="0">
                            <a:latin typeface="Cambria Math" panose="02040503050406030204" pitchFamily="18" charset="0"/>
                            <a:ea typeface="Cambria Math" panose="02040503050406030204" pitchFamily="18" charset="0"/>
                          </a:rPr>
                          <m:t>𝐾</m:t>
                        </m:r>
                        <m:r>
                          <a:rPr lang="pt-BR" i="1" dirty="0">
                            <a:latin typeface="Cambria Math" panose="02040503050406030204" pitchFamily="18" charset="0"/>
                            <a:ea typeface="Cambria Math" panose="02040503050406030204" pitchFamily="18" charset="0"/>
                          </a:rPr>
                          <m:t>+1×</m:t>
                        </m:r>
                        <m:r>
                          <a:rPr lang="pt-BR" i="1" dirty="0">
                            <a:latin typeface="Cambria Math" panose="02040503050406030204" pitchFamily="18" charset="0"/>
                            <a:ea typeface="Cambria Math" panose="02040503050406030204" pitchFamily="18" charset="0"/>
                          </a:rPr>
                          <m:t>𝑄</m:t>
                        </m:r>
                      </m:sup>
                    </m:sSup>
                  </m:oMath>
                </a14:m>
                <a:r>
                  <a:rPr lang="pt-BR" dirty="0"/>
                  <a:t> é a matriz com os </a:t>
                </a:r>
                <a:r>
                  <a:rPr lang="pt-BR" b="1" dirty="0"/>
                  <a:t>pesos</a:t>
                </a:r>
                <a:r>
                  <a:rPr lang="pt-BR" dirty="0"/>
                  <a:t> das </a:t>
                </a:r>
                <a14:m>
                  <m:oMath xmlns:m="http://schemas.openxmlformats.org/officeDocument/2006/math">
                    <m:r>
                      <a:rPr lang="pt-BR" i="1">
                        <a:latin typeface="Cambria Math" panose="02040503050406030204" pitchFamily="18" charset="0"/>
                      </a:rPr>
                      <m:t>𝑄</m:t>
                    </m:r>
                  </m:oMath>
                </a14:m>
                <a:r>
                  <a:rPr lang="pt-BR" b="1" i="1" dirty="0"/>
                  <a:t> </a:t>
                </a:r>
                <a:r>
                  <a:rPr lang="pt-BR" b="1" dirty="0"/>
                  <a:t>funções hipótese</a:t>
                </a:r>
                <a:r>
                  <a:rPr lang="pt-BR" dirty="0"/>
                  <a:t>, </a:t>
                </a:r>
                <a14:m>
                  <m:oMath xmlns:m="http://schemas.openxmlformats.org/officeDocument/2006/math">
                    <m:r>
                      <a:rPr lang="pt-BR" i="1">
                        <a:latin typeface="Cambria Math" panose="02040503050406030204" pitchFamily="18" charset="0"/>
                      </a:rPr>
                      <m:t>𝑦</m:t>
                    </m:r>
                    <m:d>
                      <m:dPr>
                        <m:ctrlPr>
                          <a:rPr lang="pt-BR" i="1">
                            <a:latin typeface="Cambria Math" panose="02040503050406030204" pitchFamily="18" charset="0"/>
                          </a:rPr>
                        </m:ctrlPr>
                      </m:dPr>
                      <m:e>
                        <m:r>
                          <a:rPr lang="pt-BR" i="1">
                            <a:latin typeface="Cambria Math" panose="02040503050406030204" pitchFamily="18" charset="0"/>
                          </a:rPr>
                          <m:t>𝑛</m:t>
                        </m:r>
                      </m:e>
                    </m:d>
                  </m:oMath>
                </a14:m>
                <a:r>
                  <a:rPr lang="pt-BR" dirty="0"/>
                  <a:t> é </a:t>
                </a:r>
                <a:r>
                  <a:rPr lang="pt-BR" dirty="0" smtClean="0"/>
                  <a:t>o </a:t>
                </a:r>
                <a:r>
                  <a:rPr lang="pt-BR" b="1" dirty="0" smtClean="0">
                    <a:solidFill>
                      <a:srgbClr val="7030A0"/>
                    </a:solidFill>
                  </a:rPr>
                  <a:t>rótulo escalar </a:t>
                </a:r>
                <a:r>
                  <a:rPr lang="pt-BR" dirty="0" smtClean="0"/>
                  <a:t>da </a:t>
                </a:r>
                <a14:m>
                  <m:oMath xmlns:m="http://schemas.openxmlformats.org/officeDocument/2006/math">
                    <m:r>
                      <a:rPr lang="pt-BR" i="1">
                        <a:latin typeface="Cambria Math" panose="02040503050406030204" pitchFamily="18" charset="0"/>
                      </a:rPr>
                      <m:t>𝑛</m:t>
                    </m:r>
                  </m:oMath>
                </a14:m>
                <a:r>
                  <a:rPr lang="pt-BR" dirty="0"/>
                  <a:t>-</a:t>
                </a:r>
                <a:r>
                  <a:rPr lang="pt-BR" dirty="0" err="1"/>
                  <a:t>ésima</a:t>
                </a:r>
                <a:r>
                  <a:rPr lang="pt-BR" dirty="0"/>
                  <a:t> amostra e </a:t>
                </a:r>
                <a14:m>
                  <m:oMath xmlns:m="http://schemas.openxmlformats.org/officeDocument/2006/math">
                    <m:sSubSup>
                      <m:sSubSupPr>
                        <m:ctrlPr>
                          <a:rPr lang="pt-BR" b="1" i="1">
                            <a:latin typeface="Cambria Math" panose="02040503050406030204" pitchFamily="18" charset="0"/>
                          </a:rPr>
                        </m:ctrlPr>
                      </m:sSubSupPr>
                      <m:e>
                        <m:r>
                          <a:rPr lang="pt-BR" i="1">
                            <a:latin typeface="Cambria Math" panose="02040503050406030204" pitchFamily="18" charset="0"/>
                          </a:rPr>
                          <m:t>h</m:t>
                        </m:r>
                      </m:e>
                      <m:sub>
                        <m:r>
                          <a:rPr lang="pt-BR" b="1" i="1">
                            <a:latin typeface="Cambria Math" panose="02040503050406030204" pitchFamily="18" charset="0"/>
                          </a:rPr>
                          <m:t>𝒂</m:t>
                        </m:r>
                      </m:sub>
                      <m:sup>
                        <m:r>
                          <a:rPr lang="pt-BR" i="1">
                            <a:latin typeface="Cambria Math" panose="02040503050406030204" pitchFamily="18" charset="0"/>
                          </a:rPr>
                          <m:t>𝑞</m:t>
                        </m:r>
                      </m:sup>
                    </m:sSubSup>
                    <m:d>
                      <m:dPr>
                        <m:ctrlPr>
                          <a:rPr lang="pt-BR" i="1">
                            <a:latin typeface="Cambria Math" panose="02040503050406030204" pitchFamily="18" charset="0"/>
                          </a:rPr>
                        </m:ctrlPr>
                      </m:dPr>
                      <m:e>
                        <m:r>
                          <a:rPr lang="pt-BR" b="1" i="1">
                            <a:latin typeface="Cambria Math" panose="02040503050406030204" pitchFamily="18" charset="0"/>
                          </a:rPr>
                          <m:t>𝒙</m:t>
                        </m:r>
                        <m:d>
                          <m:dPr>
                            <m:ctrlPr>
                              <a:rPr lang="pt-BR" b="1" i="1">
                                <a:latin typeface="Cambria Math" panose="02040503050406030204" pitchFamily="18" charset="0"/>
                              </a:rPr>
                            </m:ctrlPr>
                          </m:dPr>
                          <m:e>
                            <m:r>
                              <a:rPr lang="pt-BR" i="1">
                                <a:latin typeface="Cambria Math" panose="02040503050406030204" pitchFamily="18" charset="0"/>
                              </a:rPr>
                              <m:t>𝑛</m:t>
                            </m:r>
                          </m:e>
                        </m:d>
                      </m:e>
                    </m:d>
                  </m:oMath>
                </a14:m>
                <a:r>
                  <a:rPr lang="pt-BR" dirty="0"/>
                  <a:t> é a </a:t>
                </a:r>
                <a14:m>
                  <m:oMath xmlns:m="http://schemas.openxmlformats.org/officeDocument/2006/math">
                    <m:r>
                      <a:rPr lang="pt-BR" i="1">
                        <a:latin typeface="Cambria Math" panose="02040503050406030204" pitchFamily="18" charset="0"/>
                      </a:rPr>
                      <m:t>𝑞</m:t>
                    </m:r>
                  </m:oMath>
                </a14:m>
                <a:r>
                  <a:rPr lang="pt-BR" dirty="0"/>
                  <a:t>-</a:t>
                </a:r>
                <a:r>
                  <a:rPr lang="pt-BR" dirty="0" err="1"/>
                  <a:t>ésima</a:t>
                </a:r>
                <a:r>
                  <a:rPr lang="pt-BR" dirty="0"/>
                  <a:t> saída do modelo para a </a:t>
                </a:r>
                <a14:m>
                  <m:oMath xmlns:m="http://schemas.openxmlformats.org/officeDocument/2006/math">
                    <m:r>
                      <a:rPr lang="pt-BR" i="1">
                        <a:latin typeface="Cambria Math" panose="02040503050406030204" pitchFamily="18" charset="0"/>
                      </a:rPr>
                      <m:t>𝑛</m:t>
                    </m:r>
                  </m:oMath>
                </a14:m>
                <a:r>
                  <a:rPr lang="pt-BR" dirty="0"/>
                  <a:t>-</a:t>
                </a:r>
                <a:r>
                  <a:rPr lang="pt-BR" dirty="0" err="1"/>
                  <a:t>ésima</a:t>
                </a:r>
                <a:r>
                  <a:rPr lang="pt-BR" dirty="0"/>
                  <a:t> amostra.</a:t>
                </a:r>
              </a:p>
              <a:p>
                <a:pPr lvl="1">
                  <a:buFont typeface="Wingdings" panose="05000000000000000000" pitchFamily="2" charset="2"/>
                  <a:buChar char="§"/>
                </a:pPr>
                <a:r>
                  <a:rPr lang="pt-BR" b="1" dirty="0"/>
                  <a:t>OBS</a:t>
                </a:r>
                <a:r>
                  <a:rPr lang="pt-BR" dirty="0"/>
                  <a:t>.: O erro tende a 0 quando </a:t>
                </a:r>
                <a14:m>
                  <m:oMath xmlns:m="http://schemas.openxmlformats.org/officeDocument/2006/math">
                    <m:sSubSup>
                      <m:sSubSupPr>
                        <m:ctrlPr>
                          <a:rPr lang="pt-BR" b="1" i="1">
                            <a:latin typeface="Cambria Math" panose="02040503050406030204" pitchFamily="18" charset="0"/>
                          </a:rPr>
                        </m:ctrlPr>
                      </m:sSubSupPr>
                      <m:e>
                        <m:r>
                          <a:rPr lang="pt-BR" i="1">
                            <a:latin typeface="Cambria Math" panose="02040503050406030204" pitchFamily="18" charset="0"/>
                          </a:rPr>
                          <m:t>h</m:t>
                        </m:r>
                      </m:e>
                      <m:sub>
                        <m:r>
                          <a:rPr lang="pt-BR" b="1" i="1">
                            <a:latin typeface="Cambria Math" panose="02040503050406030204" pitchFamily="18" charset="0"/>
                          </a:rPr>
                          <m:t>𝒂</m:t>
                        </m:r>
                      </m:sub>
                      <m:sup>
                        <m:r>
                          <a:rPr lang="pt-BR" i="1">
                            <a:latin typeface="Cambria Math" panose="02040503050406030204" pitchFamily="18" charset="0"/>
                          </a:rPr>
                          <m:t>𝑞</m:t>
                        </m:r>
                      </m:sup>
                    </m:sSubSup>
                    <m:d>
                      <m:dPr>
                        <m:ctrlPr>
                          <a:rPr lang="pt-BR" i="1">
                            <a:latin typeface="Cambria Math" panose="02040503050406030204" pitchFamily="18" charset="0"/>
                          </a:rPr>
                        </m:ctrlPr>
                      </m:dPr>
                      <m:e>
                        <m:r>
                          <a:rPr lang="pt-BR" b="1" i="1">
                            <a:latin typeface="Cambria Math" panose="02040503050406030204" pitchFamily="18" charset="0"/>
                          </a:rPr>
                          <m:t>𝒙</m:t>
                        </m:r>
                        <m:r>
                          <a:rPr lang="pt-BR" b="0" i="1" smtClean="0">
                            <a:latin typeface="Cambria Math" panose="02040503050406030204" pitchFamily="18" charset="0"/>
                          </a:rPr>
                          <m:t>(</m:t>
                        </m:r>
                        <m:r>
                          <a:rPr lang="pt-BR" b="0" i="1" smtClean="0">
                            <a:latin typeface="Cambria Math" panose="02040503050406030204" pitchFamily="18" charset="0"/>
                          </a:rPr>
                          <m:t>𝑛</m:t>
                        </m:r>
                        <m:r>
                          <a:rPr lang="pt-BR" b="0" i="1" smtClean="0">
                            <a:latin typeface="Cambria Math" panose="02040503050406030204" pitchFamily="18" charset="0"/>
                          </a:rPr>
                          <m:t>)</m:t>
                        </m:r>
                      </m:e>
                    </m:d>
                  </m:oMath>
                </a14:m>
                <a:r>
                  <a:rPr lang="pt-BR" dirty="0"/>
                  <a:t> tende a 1, caso contrário, ele aumenta.</a:t>
                </a:r>
              </a:p>
            </p:txBody>
          </p:sp>
        </mc:Choice>
        <mc:Fallback xmlns="">
          <p:sp>
            <p:nvSpPr>
              <p:cNvPr id="3" name="Content Placeholder 2">
                <a:extLst>
                  <a:ext uri="{FF2B5EF4-FFF2-40B4-BE49-F238E27FC236}">
                    <a16:creationId xmlns="" xmlns:a16="http://schemas.microsoft.com/office/drawing/2014/main" xmlns:a14="http://schemas.microsoft.com/office/drawing/2010/main" id="{34B1DEA3-BAAD-D90C-CD9D-99A5A24F4544}"/>
                  </a:ext>
                </a:extLst>
              </p:cNvPr>
              <p:cNvSpPr>
                <a:spLocks noGrp="1" noRot="1" noChangeAspect="1" noMove="1" noResize="1" noEditPoints="1" noAdjustHandles="1" noChangeArrowheads="1" noChangeShapeType="1" noTextEdit="1"/>
              </p:cNvSpPr>
              <p:nvPr>
                <p:ph idx="1"/>
              </p:nvPr>
            </p:nvSpPr>
            <p:spPr>
              <a:xfrm>
                <a:off x="838199" y="1825624"/>
                <a:ext cx="11353801" cy="5032375"/>
              </a:xfrm>
              <a:blipFill rotWithShape="0">
                <a:blip r:embed="rId2"/>
                <a:stretch>
                  <a:fillRect l="-1074" t="-2663" r="-1610"/>
                </a:stretch>
              </a:blipFill>
            </p:spPr>
            <p:txBody>
              <a:bodyPr/>
              <a:lstStyle/>
              <a:p>
                <a:r>
                  <a:rPr lang="pt-BR">
                    <a:noFill/>
                  </a:rPr>
                  <a:t> </a:t>
                </a:r>
              </a:p>
            </p:txBody>
          </p:sp>
        </mc:Fallback>
      </mc:AlternateContent>
    </p:spTree>
    <p:extLst>
      <p:ext uri="{BB962C8B-B14F-4D97-AF65-F5344CB8AC3E}">
        <p14:creationId xmlns:p14="http://schemas.microsoft.com/office/powerpoint/2010/main" val="29732743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97538D5-DC01-EC48-38D2-99D754F1BB92}"/>
              </a:ext>
            </a:extLst>
          </p:cNvPr>
          <p:cNvSpPr>
            <a:spLocks noGrp="1"/>
          </p:cNvSpPr>
          <p:nvPr>
            <p:ph type="title"/>
          </p:nvPr>
        </p:nvSpPr>
        <p:spPr/>
        <p:txBody>
          <a:bodyPr/>
          <a:lstStyle/>
          <a:p>
            <a:r>
              <a:rPr lang="pt-BR" dirty="0"/>
              <a:t>Função de erro</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xmlns="" id="{17D7928D-3A32-7330-5FDC-756155EF2F3D}"/>
                  </a:ext>
                </a:extLst>
              </p:cNvPr>
              <p:cNvSpPr>
                <a:spLocks noGrp="1"/>
              </p:cNvSpPr>
              <p:nvPr>
                <p:ph idx="1"/>
              </p:nvPr>
            </p:nvSpPr>
            <p:spPr>
              <a:xfrm>
                <a:off x="4952246" y="1840372"/>
                <a:ext cx="7239754" cy="5017627"/>
              </a:xfrm>
            </p:spPr>
            <p:txBody>
              <a:bodyPr/>
              <a:lstStyle/>
              <a:p>
                <a:pPr marL="0" indent="0">
                  <a:buNone/>
                </a:pPr>
                <a14:m>
                  <m:oMathPara xmlns:m="http://schemas.openxmlformats.org/officeDocument/2006/math">
                    <m:oMathParaPr>
                      <m:jc m:val="centerGroup"/>
                    </m:oMathParaPr>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i="1">
                              <a:latin typeface="Cambria Math" panose="02040503050406030204" pitchFamily="18" charset="0"/>
                            </a:rPr>
                          </m:ctrlPr>
                        </m:dPr>
                        <m:e>
                          <m:r>
                            <a:rPr lang="pt-BR" b="1" i="1">
                              <a:latin typeface="Cambria Math" panose="02040503050406030204" pitchFamily="18" charset="0"/>
                            </a:rPr>
                            <m:t>𝑨</m:t>
                          </m:r>
                        </m:e>
                      </m:d>
                      <m:r>
                        <a:rPr lang="pt-BR"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1</m:t>
                          </m:r>
                        </m:num>
                        <m:den>
                          <m:r>
                            <a:rPr lang="pt-BR" i="1">
                              <a:latin typeface="Cambria Math" panose="02040503050406030204" pitchFamily="18" charset="0"/>
                            </a:rPr>
                            <m:t>𝑁</m:t>
                          </m:r>
                        </m:den>
                      </m:f>
                      <m:nary>
                        <m:naryPr>
                          <m:chr m:val="∑"/>
                          <m:ctrlPr>
                            <a:rPr lang="pt-BR" i="1">
                              <a:latin typeface="Cambria Math" panose="02040503050406030204" pitchFamily="18" charset="0"/>
                            </a:rPr>
                          </m:ctrlPr>
                        </m:naryPr>
                        <m:sub>
                          <m:r>
                            <a:rPr lang="pt-BR" i="1">
                              <a:latin typeface="Cambria Math" panose="02040503050406030204" pitchFamily="18" charset="0"/>
                            </a:rPr>
                            <m:t>𝑛</m:t>
                          </m:r>
                          <m:r>
                            <a:rPr lang="pt-BR" i="1">
                              <a:latin typeface="Cambria Math" panose="02040503050406030204" pitchFamily="18" charset="0"/>
                            </a:rPr>
                            <m:t>=0</m:t>
                          </m:r>
                        </m:sub>
                        <m:sup>
                          <m:r>
                            <a:rPr lang="pt-BR" i="1">
                              <a:latin typeface="Cambria Math" panose="02040503050406030204" pitchFamily="18" charset="0"/>
                            </a:rPr>
                            <m:t>𝑁</m:t>
                          </m:r>
                          <m:r>
                            <a:rPr lang="pt-BR" i="1">
                              <a:latin typeface="Cambria Math" panose="02040503050406030204" pitchFamily="18" charset="0"/>
                            </a:rPr>
                            <m:t>−1</m:t>
                          </m:r>
                        </m:sup>
                        <m:e>
                          <m:nary>
                            <m:naryPr>
                              <m:chr m:val="∑"/>
                              <m:ctrlPr>
                                <a:rPr lang="pt-BR" i="1">
                                  <a:latin typeface="Cambria Math" panose="02040503050406030204" pitchFamily="18" charset="0"/>
                                </a:rPr>
                              </m:ctrlPr>
                            </m:naryPr>
                            <m:sub>
                              <m:r>
                                <m:rPr>
                                  <m:brk m:alnAt="23"/>
                                </m:rPr>
                                <a:rPr lang="pt-BR" i="1">
                                  <a:latin typeface="Cambria Math" panose="02040503050406030204" pitchFamily="18" charset="0"/>
                                </a:rPr>
                                <m:t>𝑞</m:t>
                              </m:r>
                              <m:r>
                                <a:rPr lang="pt-BR" i="1">
                                  <a:latin typeface="Cambria Math" panose="02040503050406030204" pitchFamily="18" charset="0"/>
                                </a:rPr>
                                <m:t>=0</m:t>
                              </m:r>
                            </m:sub>
                            <m:sup>
                              <m:r>
                                <a:rPr lang="pt-BR" i="1">
                                  <a:latin typeface="Cambria Math" panose="02040503050406030204" pitchFamily="18" charset="0"/>
                                </a:rPr>
                                <m:t>𝑄</m:t>
                              </m:r>
                              <m:r>
                                <a:rPr lang="pt-BR" i="1">
                                  <a:latin typeface="Cambria Math" panose="02040503050406030204" pitchFamily="18" charset="0"/>
                                </a:rPr>
                                <m:t>−1</m:t>
                              </m:r>
                            </m:sup>
                            <m:e>
                              <m:r>
                                <a:rPr lang="pt-BR" i="1">
                                  <a:latin typeface="Cambria Math" panose="02040503050406030204" pitchFamily="18" charset="0"/>
                                </a:rPr>
                                <m:t>1</m:t>
                              </m:r>
                              <m:d>
                                <m:dPr>
                                  <m:begChr m:val="{"/>
                                  <m:endChr m:val="}"/>
                                  <m:ctrlPr>
                                    <a:rPr lang="pt-BR" i="1">
                                      <a:latin typeface="Cambria Math" panose="02040503050406030204" pitchFamily="18" charset="0"/>
                                    </a:rPr>
                                  </m:ctrlPr>
                                </m:dPr>
                                <m:e>
                                  <m:r>
                                    <a:rPr lang="pt-BR" i="1">
                                      <a:latin typeface="Cambria Math" panose="02040503050406030204" pitchFamily="18" charset="0"/>
                                    </a:rPr>
                                    <m:t>𝑦</m:t>
                                  </m:r>
                                  <m:d>
                                    <m:dPr>
                                      <m:ctrlPr>
                                        <a:rPr lang="pt-BR" i="1">
                                          <a:latin typeface="Cambria Math" panose="02040503050406030204" pitchFamily="18" charset="0"/>
                                        </a:rPr>
                                      </m:ctrlPr>
                                    </m:dPr>
                                    <m:e>
                                      <m:r>
                                        <a:rPr lang="pt-BR" i="1">
                                          <a:latin typeface="Cambria Math" panose="02040503050406030204" pitchFamily="18" charset="0"/>
                                        </a:rPr>
                                        <m:t>𝑛</m:t>
                                      </m:r>
                                    </m:e>
                                  </m:d>
                                  <m:r>
                                    <a:rPr lang="pt-BR" i="1">
                                      <a:latin typeface="Cambria Math" panose="02040503050406030204" pitchFamily="18" charset="0"/>
                                    </a:rPr>
                                    <m:t>==</m:t>
                                  </m:r>
                                  <m:r>
                                    <a:rPr lang="pt-BR" i="1">
                                      <a:latin typeface="Cambria Math" panose="02040503050406030204" pitchFamily="18" charset="0"/>
                                    </a:rPr>
                                    <m:t>𝑞</m:t>
                                  </m:r>
                                </m:e>
                              </m:d>
                              <m:func>
                                <m:funcPr>
                                  <m:ctrlPr>
                                    <a:rPr lang="pt-BR" i="1">
                                      <a:latin typeface="Cambria Math" panose="02040503050406030204" pitchFamily="18" charset="0"/>
                                    </a:rPr>
                                  </m:ctrlPr>
                                </m:funcPr>
                                <m:fName>
                                  <m:r>
                                    <m:rPr>
                                      <m:sty m:val="p"/>
                                    </m:rPr>
                                    <a:rPr lang="pt-BR">
                                      <a:latin typeface="Cambria Math" panose="02040503050406030204" pitchFamily="18" charset="0"/>
                                    </a:rPr>
                                    <m:t>log</m:t>
                                  </m:r>
                                </m:fName>
                                <m:e>
                                  <m:d>
                                    <m:dPr>
                                      <m:ctrlPr>
                                        <a:rPr lang="pt-BR" i="1">
                                          <a:latin typeface="Cambria Math" panose="02040503050406030204" pitchFamily="18" charset="0"/>
                                        </a:rPr>
                                      </m:ctrlPr>
                                    </m:dPr>
                                    <m:e>
                                      <m:sSub>
                                        <m:sSubPr>
                                          <m:ctrlPr>
                                            <a:rPr lang="pt-BR" i="1">
                                              <a:latin typeface="Cambria Math" panose="02040503050406030204" pitchFamily="18" charset="0"/>
                                            </a:rPr>
                                          </m:ctrlPr>
                                        </m:sSubPr>
                                        <m:e>
                                          <m:acc>
                                            <m:accPr>
                                              <m:chr m:val="̂"/>
                                              <m:ctrlPr>
                                                <a:rPr lang="pt-BR" i="1">
                                                  <a:latin typeface="Cambria Math" panose="02040503050406030204" pitchFamily="18" charset="0"/>
                                                </a:rPr>
                                              </m:ctrlPr>
                                            </m:accPr>
                                            <m:e>
                                              <m:r>
                                                <a:rPr lang="pt-BR" i="1">
                                                  <a:latin typeface="Cambria Math" panose="02040503050406030204" pitchFamily="18" charset="0"/>
                                                </a:rPr>
                                                <m:t>𝑦</m:t>
                                              </m:r>
                                            </m:e>
                                          </m:acc>
                                        </m:e>
                                        <m:sub>
                                          <m:r>
                                            <a:rPr lang="pt-BR" i="1">
                                              <a:latin typeface="Cambria Math" panose="02040503050406030204" pitchFamily="18" charset="0"/>
                                            </a:rPr>
                                            <m:t>𝑞</m:t>
                                          </m:r>
                                        </m:sub>
                                      </m:sSub>
                                      <m:d>
                                        <m:dPr>
                                          <m:ctrlPr>
                                            <a:rPr lang="pt-BR" i="1">
                                              <a:latin typeface="Cambria Math" panose="02040503050406030204" pitchFamily="18" charset="0"/>
                                            </a:rPr>
                                          </m:ctrlPr>
                                        </m:dPr>
                                        <m:e>
                                          <m:r>
                                            <a:rPr lang="pt-BR" i="1">
                                              <a:latin typeface="Cambria Math" panose="02040503050406030204" pitchFamily="18" charset="0"/>
                                            </a:rPr>
                                            <m:t>𝑛</m:t>
                                          </m:r>
                                        </m:e>
                                      </m:d>
                                    </m:e>
                                  </m:d>
                                </m:e>
                              </m:func>
                            </m:e>
                          </m:nary>
                        </m:e>
                      </m:nary>
                    </m:oMath>
                  </m:oMathPara>
                </a14:m>
                <a:endParaRPr lang="pt-BR" dirty="0"/>
              </a:p>
              <a:p>
                <a:r>
                  <a:rPr lang="pt-BR" dirty="0"/>
                  <a:t>A matriz </a:t>
                </a:r>
                <a14:m>
                  <m:oMath xmlns:m="http://schemas.openxmlformats.org/officeDocument/2006/math">
                    <m:r>
                      <a:rPr lang="pt-BR" b="1" i="1">
                        <a:latin typeface="Cambria Math" panose="02040503050406030204" pitchFamily="18" charset="0"/>
                      </a:rPr>
                      <m:t>𝑨</m:t>
                    </m:r>
                  </m:oMath>
                </a14:m>
                <a:r>
                  <a:rPr lang="pt-BR" dirty="0"/>
                  <a:t> contém em suas colunas os vetores de pesos, </a:t>
                </a:r>
                <a14:m>
                  <m:oMath xmlns:m="http://schemas.openxmlformats.org/officeDocument/2006/math">
                    <m:sSub>
                      <m:sSubPr>
                        <m:ctrlPr>
                          <a:rPr lang="pt-BR" b="1" i="1">
                            <a:latin typeface="Cambria Math" panose="02040503050406030204" pitchFamily="18" charset="0"/>
                          </a:rPr>
                        </m:ctrlPr>
                      </m:sSubPr>
                      <m:e>
                        <m:r>
                          <a:rPr lang="pt-BR" b="1" i="1">
                            <a:latin typeface="Cambria Math" panose="02040503050406030204" pitchFamily="18" charset="0"/>
                          </a:rPr>
                          <m:t>𝒂</m:t>
                        </m:r>
                      </m:e>
                      <m:sub>
                        <m:r>
                          <a:rPr lang="pt-BR" i="1">
                            <a:latin typeface="Cambria Math" panose="02040503050406030204" pitchFamily="18" charset="0"/>
                          </a:rPr>
                          <m:t>𝑞</m:t>
                        </m:r>
                      </m:sub>
                    </m:sSub>
                  </m:oMath>
                </a14:m>
                <a:r>
                  <a:rPr lang="pt-BR" dirty="0"/>
                  <a:t>, de cada uma das </a:t>
                </a:r>
                <a14:m>
                  <m:oMath xmlns:m="http://schemas.openxmlformats.org/officeDocument/2006/math">
                    <m:r>
                      <a:rPr lang="pt-BR" i="1">
                        <a:latin typeface="Cambria Math" panose="02040503050406030204" pitchFamily="18" charset="0"/>
                      </a:rPr>
                      <m:t>𝑄</m:t>
                    </m:r>
                  </m:oMath>
                </a14:m>
                <a:r>
                  <a:rPr lang="pt-BR" dirty="0"/>
                  <a:t> </a:t>
                </a:r>
                <a:r>
                  <a:rPr lang="pt-BR" b="1" dirty="0"/>
                  <a:t>funções discriminantes</a:t>
                </a:r>
                <a:r>
                  <a:rPr lang="pt-BR" dirty="0"/>
                  <a:t>.</a:t>
                </a:r>
              </a:p>
              <a:p>
                <a:r>
                  <a:rPr lang="pt-BR" dirty="0" smtClean="0"/>
                  <a:t>A </a:t>
                </a:r>
                <a:r>
                  <a:rPr lang="pt-BR" b="1" dirty="0"/>
                  <a:t>entropia cruzada categórica </a:t>
                </a:r>
                <a:r>
                  <a:rPr lang="pt-BR" dirty="0" smtClean="0"/>
                  <a:t>mede </a:t>
                </a:r>
                <a:r>
                  <a:rPr lang="pt-BR" dirty="0"/>
                  <a:t>a </a:t>
                </a:r>
                <a:r>
                  <a:rPr lang="pt-BR" b="1" dirty="0">
                    <a:solidFill>
                      <a:schemeClr val="accent2"/>
                    </a:solidFill>
                  </a:rPr>
                  <a:t>diferença </a:t>
                </a:r>
                <a:r>
                  <a:rPr lang="pt-BR" b="1" dirty="0">
                    <a:solidFill>
                      <a:srgbClr val="7030A0"/>
                    </a:solidFill>
                  </a:rPr>
                  <a:t>entre as distribuições de probabilidade da saída do modelo e a dos rótulos </a:t>
                </a:r>
                <a:r>
                  <a:rPr lang="pt-BR" dirty="0"/>
                  <a:t>das classes.</a:t>
                </a:r>
              </a:p>
            </p:txBody>
          </p:sp>
        </mc:Choice>
        <mc:Fallback xmlns="">
          <p:sp>
            <p:nvSpPr>
              <p:cNvPr id="3" name="Content Placeholder 2">
                <a:extLst>
                  <a:ext uri="{FF2B5EF4-FFF2-40B4-BE49-F238E27FC236}">
                    <a16:creationId xmlns="" xmlns:a16="http://schemas.microsoft.com/office/drawing/2014/main" xmlns:a14="http://schemas.microsoft.com/office/drawing/2010/main" id="{17D7928D-3A32-7330-5FDC-756155EF2F3D}"/>
                  </a:ext>
                </a:extLst>
              </p:cNvPr>
              <p:cNvSpPr>
                <a:spLocks noGrp="1" noRot="1" noChangeAspect="1" noMove="1" noResize="1" noEditPoints="1" noAdjustHandles="1" noChangeArrowheads="1" noChangeShapeType="1" noTextEdit="1"/>
              </p:cNvSpPr>
              <p:nvPr>
                <p:ph idx="1"/>
              </p:nvPr>
            </p:nvSpPr>
            <p:spPr>
              <a:xfrm>
                <a:off x="4952246" y="1840372"/>
                <a:ext cx="7239754" cy="5017627"/>
              </a:xfrm>
              <a:blipFill rotWithShape="0">
                <a:blip r:embed="rId2"/>
                <a:stretch>
                  <a:fillRect l="-1515" r="-1010"/>
                </a:stretch>
              </a:blipFill>
            </p:spPr>
            <p:txBody>
              <a:bodyPr/>
              <a:lstStyle/>
              <a:p>
                <a:r>
                  <a:rPr lang="pt-BR">
                    <a:noFill/>
                  </a:rPr>
                  <a:t> </a:t>
                </a:r>
              </a:p>
            </p:txBody>
          </p:sp>
        </mc:Fallback>
      </mc:AlternateContent>
      <p:pic>
        <p:nvPicPr>
          <p:cNvPr id="5" name="Picture 4">
            <a:extLst>
              <a:ext uri="{FF2B5EF4-FFF2-40B4-BE49-F238E27FC236}">
                <a16:creationId xmlns:a16="http://schemas.microsoft.com/office/drawing/2014/main" xmlns="" id="{4AA09737-BB93-F7AB-8A47-090B362628C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9575" y="2585001"/>
            <a:ext cx="4292180" cy="2770936"/>
          </a:xfrm>
          <a:prstGeom prst="rect">
            <a:avLst/>
          </a:prstGeom>
        </p:spPr>
      </p:pic>
    </p:spTree>
    <p:extLst>
      <p:ext uri="{BB962C8B-B14F-4D97-AF65-F5344CB8AC3E}">
        <p14:creationId xmlns:p14="http://schemas.microsoft.com/office/powerpoint/2010/main" val="17409132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1FE7CD05-66F2-8967-6154-CCED38E0F987}"/>
              </a:ext>
            </a:extLst>
          </p:cNvPr>
          <p:cNvSpPr>
            <a:spLocks noGrp="1"/>
          </p:cNvSpPr>
          <p:nvPr>
            <p:ph type="title"/>
          </p:nvPr>
        </p:nvSpPr>
        <p:spPr/>
        <p:txBody>
          <a:bodyPr/>
          <a:lstStyle/>
          <a:p>
            <a:r>
              <a:rPr lang="pt-BR" dirty="0"/>
              <a:t>Função de erro</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xmlns="" id="{21A86630-5D79-AD4B-79FC-6C8373E8DB39}"/>
                  </a:ext>
                </a:extLst>
              </p:cNvPr>
              <p:cNvSpPr>
                <a:spLocks noGrp="1"/>
              </p:cNvSpPr>
              <p:nvPr>
                <p:ph idx="1"/>
              </p:nvPr>
            </p:nvSpPr>
            <p:spPr>
              <a:xfrm>
                <a:off x="838200" y="1825624"/>
                <a:ext cx="11353800" cy="5032375"/>
              </a:xfrm>
            </p:spPr>
            <p:txBody>
              <a:bodyPr>
                <a:normAutofit lnSpcReduction="10000"/>
              </a:bodyPr>
              <a:lstStyle/>
              <a:p>
                <a:r>
                  <a:rPr lang="pt-BR" dirty="0" smtClean="0"/>
                  <a:t>Usando a codificação </a:t>
                </a:r>
                <a:r>
                  <a:rPr lang="pt-BR" b="1" i="1" dirty="0"/>
                  <a:t>one-hot</a:t>
                </a:r>
                <a:r>
                  <a:rPr lang="pt-BR" dirty="0"/>
                  <a:t>, a equação pode ser re-escrita como</a:t>
                </a:r>
              </a:p>
              <a:p>
                <a:pPr marL="0" indent="0" algn="ctr">
                  <a:buNone/>
                </a:pPr>
                <a14:m>
                  <m:oMathPara xmlns:m="http://schemas.openxmlformats.org/officeDocument/2006/math">
                    <m:oMathParaPr>
                      <m:jc m:val="centerGroup"/>
                    </m:oMathParaPr>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i="1">
                              <a:latin typeface="Cambria Math" panose="02040503050406030204" pitchFamily="18" charset="0"/>
                            </a:rPr>
                          </m:ctrlPr>
                        </m:dPr>
                        <m:e>
                          <m:r>
                            <a:rPr lang="pt-BR" b="1" i="1" smtClean="0">
                              <a:latin typeface="Cambria Math" panose="02040503050406030204" pitchFamily="18" charset="0"/>
                            </a:rPr>
                            <m:t>𝑨</m:t>
                          </m:r>
                        </m:e>
                      </m:d>
                      <m:r>
                        <a:rPr lang="pt-BR"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1</m:t>
                          </m:r>
                        </m:num>
                        <m:den>
                          <m:r>
                            <a:rPr lang="pt-BR" i="1">
                              <a:latin typeface="Cambria Math" panose="02040503050406030204" pitchFamily="18" charset="0"/>
                            </a:rPr>
                            <m:t>𝑁</m:t>
                          </m:r>
                        </m:den>
                      </m:f>
                      <m:nary>
                        <m:naryPr>
                          <m:chr m:val="∑"/>
                          <m:ctrlPr>
                            <a:rPr lang="pt-BR" i="1">
                              <a:latin typeface="Cambria Math" panose="02040503050406030204" pitchFamily="18" charset="0"/>
                            </a:rPr>
                          </m:ctrlPr>
                        </m:naryPr>
                        <m:sub>
                          <m:r>
                            <a:rPr lang="pt-BR" b="0" i="1" smtClean="0">
                              <a:latin typeface="Cambria Math" panose="02040503050406030204" pitchFamily="18" charset="0"/>
                            </a:rPr>
                            <m:t>𝑛</m:t>
                          </m:r>
                          <m:r>
                            <a:rPr lang="pt-BR" i="1">
                              <a:latin typeface="Cambria Math" panose="02040503050406030204" pitchFamily="18" charset="0"/>
                            </a:rPr>
                            <m:t>=0</m:t>
                          </m:r>
                        </m:sub>
                        <m:sup>
                          <m:r>
                            <a:rPr lang="pt-BR" i="1">
                              <a:latin typeface="Cambria Math" panose="02040503050406030204" pitchFamily="18" charset="0"/>
                            </a:rPr>
                            <m:t>𝑁</m:t>
                          </m:r>
                          <m:r>
                            <a:rPr lang="pt-BR" i="1">
                              <a:latin typeface="Cambria Math" panose="02040503050406030204" pitchFamily="18" charset="0"/>
                            </a:rPr>
                            <m:t>−1</m:t>
                          </m:r>
                        </m:sup>
                        <m:e>
                          <m:sSup>
                            <m:sSupPr>
                              <m:ctrlPr>
                                <a:rPr lang="pt-BR" i="1">
                                  <a:latin typeface="Cambria Math" panose="02040503050406030204" pitchFamily="18" charset="0"/>
                                </a:rPr>
                              </m:ctrlPr>
                            </m:sSupPr>
                            <m:e>
                              <m:r>
                                <a:rPr lang="pt-BR" b="1" i="1">
                                  <a:latin typeface="Cambria Math" panose="02040503050406030204" pitchFamily="18" charset="0"/>
                                </a:rPr>
                                <m:t>𝒚</m:t>
                              </m:r>
                              <m:d>
                                <m:dPr>
                                  <m:ctrlPr>
                                    <a:rPr lang="pt-BR" b="1" i="1">
                                      <a:latin typeface="Cambria Math" panose="02040503050406030204" pitchFamily="18" charset="0"/>
                                    </a:rPr>
                                  </m:ctrlPr>
                                </m:dPr>
                                <m:e>
                                  <m:r>
                                    <a:rPr lang="pt-BR" b="0" i="1" smtClean="0">
                                      <a:latin typeface="Cambria Math" panose="02040503050406030204" pitchFamily="18" charset="0"/>
                                    </a:rPr>
                                    <m:t>𝑛</m:t>
                                  </m:r>
                                </m:e>
                              </m:d>
                            </m:e>
                            <m:sup>
                              <m:r>
                                <a:rPr lang="pt-BR" i="1">
                                  <a:latin typeface="Cambria Math" panose="02040503050406030204" pitchFamily="18" charset="0"/>
                                </a:rPr>
                                <m:t>𝑇</m:t>
                              </m:r>
                            </m:sup>
                          </m:sSup>
                          <m:func>
                            <m:funcPr>
                              <m:ctrlPr>
                                <a:rPr lang="pt-BR" i="1">
                                  <a:latin typeface="Cambria Math" panose="02040503050406030204" pitchFamily="18" charset="0"/>
                                </a:rPr>
                              </m:ctrlPr>
                            </m:funcPr>
                            <m:fName>
                              <m:r>
                                <m:rPr>
                                  <m:sty m:val="p"/>
                                </m:rPr>
                                <a:rPr lang="pt-BR">
                                  <a:latin typeface="Cambria Math" panose="02040503050406030204" pitchFamily="18" charset="0"/>
                                </a:rPr>
                                <m:t>log</m:t>
                              </m:r>
                            </m:fName>
                            <m:e>
                              <m:d>
                                <m:dPr>
                                  <m:ctrlPr>
                                    <a:rPr lang="pt-BR" i="1" smtClean="0">
                                      <a:latin typeface="Cambria Math" panose="02040503050406030204" pitchFamily="18" charset="0"/>
                                    </a:rPr>
                                  </m:ctrlPr>
                                </m:dPr>
                                <m:e>
                                  <m:acc>
                                    <m:accPr>
                                      <m:chr m:val="̂"/>
                                      <m:ctrlPr>
                                        <a:rPr lang="pt-BR" i="1" smtClean="0">
                                          <a:latin typeface="Cambria Math" panose="02040503050406030204" pitchFamily="18" charset="0"/>
                                        </a:rPr>
                                      </m:ctrlPr>
                                    </m:accPr>
                                    <m:e>
                                      <m:r>
                                        <a:rPr lang="pt-BR" b="1" i="1" smtClean="0">
                                          <a:latin typeface="Cambria Math" panose="02040503050406030204" pitchFamily="18" charset="0"/>
                                        </a:rPr>
                                        <m:t>𝒚</m:t>
                                      </m:r>
                                    </m:e>
                                  </m:acc>
                                  <m:d>
                                    <m:dPr>
                                      <m:ctrlPr>
                                        <a:rPr lang="pt-BR" b="0" i="1" smtClean="0">
                                          <a:latin typeface="Cambria Math" panose="02040503050406030204" pitchFamily="18" charset="0"/>
                                        </a:rPr>
                                      </m:ctrlPr>
                                    </m:dPr>
                                    <m:e>
                                      <m:r>
                                        <a:rPr lang="pt-BR" b="0" i="1" smtClean="0">
                                          <a:latin typeface="Cambria Math" panose="02040503050406030204" pitchFamily="18" charset="0"/>
                                        </a:rPr>
                                        <m:t>𝑛</m:t>
                                      </m:r>
                                    </m:e>
                                  </m:d>
                                </m:e>
                              </m:d>
                            </m:e>
                          </m:func>
                        </m:e>
                      </m:nary>
                      <m:r>
                        <a:rPr lang="pt-BR" b="0" i="1" smtClean="0">
                          <a:latin typeface="Cambria Math" panose="02040503050406030204" pitchFamily="18" charset="0"/>
                        </a:rPr>
                        <m:t>,</m:t>
                      </m:r>
                    </m:oMath>
                  </m:oMathPara>
                </a14:m>
                <a:endParaRPr lang="pt-BR" b="0" i="0" dirty="0">
                  <a:effectLst/>
                </a:endParaRPr>
              </a:p>
              <a:p>
                <a:pPr marL="0" indent="0">
                  <a:buNone/>
                </a:pPr>
                <a:r>
                  <a:rPr lang="pt-BR" dirty="0"/>
                  <a:t>onde </a:t>
                </a:r>
                <a14:m>
                  <m:oMath xmlns:m="http://schemas.openxmlformats.org/officeDocument/2006/math">
                    <m:r>
                      <a:rPr lang="pt-BR" b="1" i="1">
                        <a:latin typeface="Cambria Math" panose="02040503050406030204" pitchFamily="18" charset="0"/>
                      </a:rPr>
                      <m:t>𝒚</m:t>
                    </m:r>
                    <m:r>
                      <a:rPr lang="pt-BR" i="1">
                        <a:latin typeface="Cambria Math" panose="02040503050406030204" pitchFamily="18" charset="0"/>
                      </a:rPr>
                      <m:t>(</m:t>
                    </m:r>
                    <m:r>
                      <a:rPr lang="pt-BR" b="0" i="1" smtClean="0">
                        <a:latin typeface="Cambria Math" panose="02040503050406030204" pitchFamily="18" charset="0"/>
                      </a:rPr>
                      <m:t>𝑛</m:t>
                    </m:r>
                    <m:r>
                      <a:rPr lang="pt-BR" i="1">
                        <a:latin typeface="Cambria Math" panose="02040503050406030204" pitchFamily="18" charset="0"/>
                      </a:rPr>
                      <m:t>)=</m:t>
                    </m:r>
                    <m:sSup>
                      <m:sSupPr>
                        <m:ctrlPr>
                          <a:rPr lang="pt-BR" i="1" smtClean="0">
                            <a:latin typeface="Cambria Math" panose="02040503050406030204" pitchFamily="18" charset="0"/>
                          </a:rPr>
                        </m:ctrlPr>
                      </m:sSupPr>
                      <m:e>
                        <m:d>
                          <m:dPr>
                            <m:begChr m:val="["/>
                            <m:endChr m:val="]"/>
                            <m:ctrlPr>
                              <a:rPr lang="pt-BR" i="1" smtClean="0">
                                <a:latin typeface="Cambria Math" panose="02040503050406030204" pitchFamily="18" charset="0"/>
                              </a:rPr>
                            </m:ctrlPr>
                          </m:dPr>
                          <m:e>
                            <m:limLow>
                              <m:limLowPr>
                                <m:ctrlPr>
                                  <a:rPr lang="pt-BR" i="1" smtClean="0">
                                    <a:latin typeface="Cambria Math" panose="02040503050406030204" pitchFamily="18" charset="0"/>
                                  </a:rPr>
                                </m:ctrlPr>
                              </m:limLowPr>
                              <m:e>
                                <m:groupChr>
                                  <m:groupChrPr>
                                    <m:chr m:val="⏟"/>
                                    <m:ctrlPr>
                                      <a:rPr lang="pt-BR" i="1" smtClean="0">
                                        <a:latin typeface="Cambria Math" panose="02040503050406030204" pitchFamily="18" charset="0"/>
                                      </a:rPr>
                                    </m:ctrlPr>
                                  </m:groupChrPr>
                                  <m:e>
                                    <m:r>
                                      <a:rPr lang="pt-BR" i="1">
                                        <a:latin typeface="Cambria Math" panose="02040503050406030204" pitchFamily="18" charset="0"/>
                                      </a:rPr>
                                      <m:t>1</m:t>
                                    </m:r>
                                    <m:d>
                                      <m:dPr>
                                        <m:begChr m:val="{"/>
                                        <m:endChr m:val="}"/>
                                        <m:ctrlPr>
                                          <a:rPr lang="pt-BR" i="1">
                                            <a:latin typeface="Cambria Math" panose="02040503050406030204" pitchFamily="18" charset="0"/>
                                          </a:rPr>
                                        </m:ctrlPr>
                                      </m:dPr>
                                      <m:e>
                                        <m:r>
                                          <a:rPr lang="pt-BR" i="1">
                                            <a:latin typeface="Cambria Math" panose="02040503050406030204" pitchFamily="18" charset="0"/>
                                          </a:rPr>
                                          <m:t>𝑦</m:t>
                                        </m:r>
                                        <m:d>
                                          <m:dPr>
                                            <m:ctrlPr>
                                              <a:rPr lang="pt-BR" i="1">
                                                <a:latin typeface="Cambria Math" panose="02040503050406030204" pitchFamily="18" charset="0"/>
                                              </a:rPr>
                                            </m:ctrlPr>
                                          </m:dPr>
                                          <m:e>
                                            <m:r>
                                              <a:rPr lang="pt-BR" i="1">
                                                <a:latin typeface="Cambria Math" panose="02040503050406030204" pitchFamily="18" charset="0"/>
                                              </a:rPr>
                                              <m:t>𝑛</m:t>
                                            </m:r>
                                          </m:e>
                                        </m:d>
                                        <m:r>
                                          <a:rPr lang="pt-BR" i="1">
                                            <a:latin typeface="Cambria Math" panose="02040503050406030204" pitchFamily="18" charset="0"/>
                                          </a:rPr>
                                          <m:t>==0</m:t>
                                        </m:r>
                                      </m:e>
                                    </m:d>
                                  </m:e>
                                </m:groupChr>
                              </m:e>
                              <m:lim>
                                <m:sSub>
                                  <m:sSubPr>
                                    <m:ctrlPr>
                                      <a:rPr lang="pt-BR" i="1" smtClean="0">
                                        <a:latin typeface="Cambria Math" panose="02040503050406030204" pitchFamily="18" charset="0"/>
                                      </a:rPr>
                                    </m:ctrlPr>
                                  </m:sSubPr>
                                  <m:e>
                                    <m:r>
                                      <a:rPr lang="pt-BR" b="0" i="1" smtClean="0">
                                        <a:latin typeface="Cambria Math" panose="02040503050406030204" pitchFamily="18" charset="0"/>
                                      </a:rPr>
                                      <m:t>𝑦</m:t>
                                    </m:r>
                                  </m:e>
                                  <m:sub>
                                    <m:r>
                                      <a:rPr lang="pt-BR" b="0" i="1" smtClean="0">
                                        <a:latin typeface="Cambria Math" panose="02040503050406030204" pitchFamily="18" charset="0"/>
                                      </a:rPr>
                                      <m:t>0</m:t>
                                    </m:r>
                                  </m:sub>
                                </m:sSub>
                                <m:r>
                                  <a:rPr lang="pt-BR" b="0" i="1" smtClean="0">
                                    <a:latin typeface="Cambria Math" panose="02040503050406030204" pitchFamily="18" charset="0"/>
                                  </a:rPr>
                                  <m:t>(</m:t>
                                </m:r>
                                <m:r>
                                  <a:rPr lang="pt-BR" b="0" i="1" smtClean="0">
                                    <a:latin typeface="Cambria Math" panose="02040503050406030204" pitchFamily="18" charset="0"/>
                                  </a:rPr>
                                  <m:t>𝑛</m:t>
                                </m:r>
                                <m:r>
                                  <a:rPr lang="pt-BR" b="0" i="1" smtClean="0">
                                    <a:latin typeface="Cambria Math" panose="02040503050406030204" pitchFamily="18" charset="0"/>
                                  </a:rPr>
                                  <m:t>)</m:t>
                                </m:r>
                              </m:lim>
                            </m:limLow>
                            <m:r>
                              <a:rPr lang="pt-BR" b="0" i="1" smtClean="0">
                                <a:latin typeface="Cambria Math" panose="02040503050406030204" pitchFamily="18" charset="0"/>
                              </a:rPr>
                              <m:t>,</m:t>
                            </m:r>
                            <m:r>
                              <a:rPr lang="pt-BR" i="1">
                                <a:latin typeface="Cambria Math" panose="02040503050406030204" pitchFamily="18" charset="0"/>
                                <a:ea typeface="Cambria Math" panose="02040503050406030204" pitchFamily="18" charset="0"/>
                              </a:rPr>
                              <m:t>⋯</m:t>
                            </m:r>
                            <m:r>
                              <a:rPr lang="pt-BR" b="0" i="1" smtClean="0">
                                <a:latin typeface="Cambria Math" panose="02040503050406030204" pitchFamily="18" charset="0"/>
                              </a:rPr>
                              <m:t>,</m:t>
                            </m:r>
                            <m:limLow>
                              <m:limLowPr>
                                <m:ctrlPr>
                                  <a:rPr lang="pt-BR" b="0" i="1" smtClean="0">
                                    <a:latin typeface="Cambria Math" panose="02040503050406030204" pitchFamily="18" charset="0"/>
                                  </a:rPr>
                                </m:ctrlPr>
                              </m:limLowPr>
                              <m:e>
                                <m:groupChr>
                                  <m:groupChrPr>
                                    <m:chr m:val="⏟"/>
                                    <m:ctrlPr>
                                      <a:rPr lang="pt-BR" b="0" i="1" smtClean="0">
                                        <a:latin typeface="Cambria Math" panose="02040503050406030204" pitchFamily="18" charset="0"/>
                                      </a:rPr>
                                    </m:ctrlPr>
                                  </m:groupChrPr>
                                  <m:e>
                                    <m:r>
                                      <a:rPr lang="pt-BR" i="1">
                                        <a:latin typeface="Cambria Math" panose="02040503050406030204" pitchFamily="18" charset="0"/>
                                      </a:rPr>
                                      <m:t>1</m:t>
                                    </m:r>
                                    <m:d>
                                      <m:dPr>
                                        <m:begChr m:val="{"/>
                                        <m:endChr m:val="}"/>
                                        <m:ctrlPr>
                                          <a:rPr lang="pt-BR" i="1">
                                            <a:latin typeface="Cambria Math" panose="02040503050406030204" pitchFamily="18" charset="0"/>
                                          </a:rPr>
                                        </m:ctrlPr>
                                      </m:dPr>
                                      <m:e>
                                        <m:r>
                                          <a:rPr lang="pt-BR" i="1">
                                            <a:latin typeface="Cambria Math" panose="02040503050406030204" pitchFamily="18" charset="0"/>
                                          </a:rPr>
                                          <m:t>𝑦</m:t>
                                        </m:r>
                                        <m:d>
                                          <m:dPr>
                                            <m:ctrlPr>
                                              <a:rPr lang="pt-BR" i="1">
                                                <a:latin typeface="Cambria Math" panose="02040503050406030204" pitchFamily="18" charset="0"/>
                                              </a:rPr>
                                            </m:ctrlPr>
                                          </m:dPr>
                                          <m:e>
                                            <m:r>
                                              <a:rPr lang="pt-BR" i="1">
                                                <a:latin typeface="Cambria Math" panose="02040503050406030204" pitchFamily="18" charset="0"/>
                                              </a:rPr>
                                              <m:t>𝑛</m:t>
                                            </m:r>
                                          </m:e>
                                        </m:d>
                                        <m:r>
                                          <a:rPr lang="pt-BR" i="1">
                                            <a:latin typeface="Cambria Math" panose="02040503050406030204" pitchFamily="18" charset="0"/>
                                          </a:rPr>
                                          <m:t>==</m:t>
                                        </m:r>
                                        <m:r>
                                          <a:rPr lang="pt-BR" i="1">
                                            <a:latin typeface="Cambria Math" panose="02040503050406030204" pitchFamily="18" charset="0"/>
                                          </a:rPr>
                                          <m:t>𝑄</m:t>
                                        </m:r>
                                        <m:r>
                                          <a:rPr lang="pt-BR" i="1">
                                            <a:latin typeface="Cambria Math" panose="02040503050406030204" pitchFamily="18" charset="0"/>
                                          </a:rPr>
                                          <m:t>−1</m:t>
                                        </m:r>
                                      </m:e>
                                    </m:d>
                                  </m:e>
                                </m:groupChr>
                              </m:e>
                              <m:lim>
                                <m:sSub>
                                  <m:sSubPr>
                                    <m:ctrlPr>
                                      <a:rPr lang="pt-BR" i="1">
                                        <a:latin typeface="Cambria Math" panose="02040503050406030204" pitchFamily="18" charset="0"/>
                                      </a:rPr>
                                    </m:ctrlPr>
                                  </m:sSubPr>
                                  <m:e>
                                    <m:r>
                                      <a:rPr lang="pt-BR" i="1">
                                        <a:latin typeface="Cambria Math" panose="02040503050406030204" pitchFamily="18" charset="0"/>
                                      </a:rPr>
                                      <m:t>𝑦</m:t>
                                    </m:r>
                                  </m:e>
                                  <m:sub>
                                    <m:r>
                                      <a:rPr lang="pt-BR" b="0" i="1" smtClean="0">
                                        <a:latin typeface="Cambria Math" panose="02040503050406030204" pitchFamily="18" charset="0"/>
                                      </a:rPr>
                                      <m:t>𝑄</m:t>
                                    </m:r>
                                    <m:r>
                                      <a:rPr lang="pt-BR" b="0" i="1" smtClean="0">
                                        <a:latin typeface="Cambria Math" panose="02040503050406030204" pitchFamily="18" charset="0"/>
                                      </a:rPr>
                                      <m:t>−1</m:t>
                                    </m:r>
                                  </m:sub>
                                </m:sSub>
                                <m:r>
                                  <a:rPr lang="pt-BR" i="1">
                                    <a:latin typeface="Cambria Math" panose="02040503050406030204" pitchFamily="18" charset="0"/>
                                  </a:rPr>
                                  <m:t>(</m:t>
                                </m:r>
                                <m:r>
                                  <a:rPr lang="pt-BR" i="1">
                                    <a:latin typeface="Cambria Math" panose="02040503050406030204" pitchFamily="18" charset="0"/>
                                  </a:rPr>
                                  <m:t>𝑛</m:t>
                                </m:r>
                                <m:r>
                                  <a:rPr lang="pt-BR" i="1">
                                    <a:latin typeface="Cambria Math" panose="02040503050406030204" pitchFamily="18" charset="0"/>
                                  </a:rPr>
                                  <m:t>)</m:t>
                                </m:r>
                              </m:lim>
                            </m:limLow>
                            <m:r>
                              <a:rPr lang="pt-BR" i="1" smtClean="0">
                                <a:latin typeface="Cambria Math" panose="02040503050406030204" pitchFamily="18" charset="0"/>
                              </a:rPr>
                              <m:t> </m:t>
                            </m:r>
                          </m:e>
                        </m:d>
                      </m:e>
                      <m:sup>
                        <m:r>
                          <a:rPr lang="pt-BR" b="0" i="1" smtClean="0">
                            <a:latin typeface="Cambria Math" panose="02040503050406030204" pitchFamily="18" charset="0"/>
                          </a:rPr>
                          <m:t>𝑇</m:t>
                        </m:r>
                      </m:sup>
                    </m:sSup>
                    <m:r>
                      <a:rPr lang="pt-BR" dirty="0">
                        <a:latin typeface="Cambria Math" panose="02040503050406030204" pitchFamily="18" charset="0"/>
                        <a:ea typeface="Cambria Math" panose="02040503050406030204" pitchFamily="18" charset="0"/>
                      </a:rPr>
                      <m:t>∈</m:t>
                    </m:r>
                    <m:sSup>
                      <m:sSupPr>
                        <m:ctrlPr>
                          <a:rPr lang="pt-BR" i="1" dirty="0">
                            <a:latin typeface="Cambria Math" panose="02040503050406030204" pitchFamily="18" charset="0"/>
                            <a:ea typeface="Cambria Math" panose="02040503050406030204" pitchFamily="18" charset="0"/>
                          </a:rPr>
                        </m:ctrlPr>
                      </m:sSupPr>
                      <m:e>
                        <m:r>
                          <a:rPr lang="pt-BR" i="1" dirty="0">
                            <a:latin typeface="Cambria Math" panose="02040503050406030204" pitchFamily="18" charset="0"/>
                            <a:ea typeface="Cambria Math" panose="02040503050406030204" pitchFamily="18" charset="0"/>
                          </a:rPr>
                          <m:t>ℝ</m:t>
                        </m:r>
                      </m:e>
                      <m:sup>
                        <m:r>
                          <a:rPr lang="pt-BR" b="0" i="1" dirty="0" smtClean="0">
                            <a:latin typeface="Cambria Math" panose="02040503050406030204" pitchFamily="18" charset="0"/>
                            <a:ea typeface="Cambria Math" panose="02040503050406030204" pitchFamily="18" charset="0"/>
                          </a:rPr>
                          <m:t>𝑄</m:t>
                        </m:r>
                        <m:r>
                          <a:rPr lang="pt-BR" i="1" dirty="0">
                            <a:latin typeface="Cambria Math" panose="02040503050406030204" pitchFamily="18" charset="0"/>
                            <a:ea typeface="Cambria Math" panose="02040503050406030204" pitchFamily="18" charset="0"/>
                          </a:rPr>
                          <m:t>×</m:t>
                        </m:r>
                        <m:r>
                          <a:rPr lang="pt-BR" b="0" i="1" dirty="0" smtClean="0">
                            <a:latin typeface="Cambria Math" panose="02040503050406030204" pitchFamily="18" charset="0"/>
                            <a:ea typeface="Cambria Math" panose="02040503050406030204" pitchFamily="18" charset="0"/>
                          </a:rPr>
                          <m:t>1</m:t>
                        </m:r>
                      </m:sup>
                    </m:sSup>
                  </m:oMath>
                </a14:m>
                <a:r>
                  <a:rPr lang="pt-BR" dirty="0"/>
                  <a:t> é o vetor do </a:t>
                </a:r>
                <a14:m>
                  <m:oMath xmlns:m="http://schemas.openxmlformats.org/officeDocument/2006/math">
                    <m:r>
                      <a:rPr lang="pt-BR" i="1">
                        <a:latin typeface="Cambria Math" panose="02040503050406030204" pitchFamily="18" charset="0"/>
                      </a:rPr>
                      <m:t>𝑛</m:t>
                    </m:r>
                  </m:oMath>
                </a14:m>
                <a:r>
                  <a:rPr lang="pt-BR" dirty="0"/>
                  <a:t>-</a:t>
                </a:r>
                <a:r>
                  <a:rPr lang="pt-BR" dirty="0" err="1"/>
                  <a:t>ésimo</a:t>
                </a:r>
                <a:r>
                  <a:rPr lang="pt-BR" dirty="0"/>
                  <a:t> rótulo usando a codificação </a:t>
                </a:r>
                <a:r>
                  <a:rPr lang="pt-BR" b="1" i="1" dirty="0"/>
                  <a:t>one-hot</a:t>
                </a:r>
                <a:r>
                  <a:rPr lang="pt-BR" dirty="0"/>
                  <a:t> e </a:t>
                </a:r>
                <a14:m>
                  <m:oMath xmlns:m="http://schemas.openxmlformats.org/officeDocument/2006/math">
                    <m:acc>
                      <m:accPr>
                        <m:chr m:val="̂"/>
                        <m:ctrlPr>
                          <a:rPr lang="pt-BR" i="1">
                            <a:latin typeface="Cambria Math" panose="02040503050406030204" pitchFamily="18" charset="0"/>
                          </a:rPr>
                        </m:ctrlPr>
                      </m:accPr>
                      <m:e>
                        <m:r>
                          <a:rPr lang="pt-BR" b="1" i="1">
                            <a:latin typeface="Cambria Math" panose="02040503050406030204" pitchFamily="18" charset="0"/>
                          </a:rPr>
                          <m:t>𝒚</m:t>
                        </m:r>
                      </m:e>
                    </m:acc>
                    <m:d>
                      <m:dPr>
                        <m:ctrlPr>
                          <a:rPr lang="pt-BR" i="1">
                            <a:latin typeface="Cambria Math" panose="02040503050406030204" pitchFamily="18" charset="0"/>
                          </a:rPr>
                        </m:ctrlPr>
                      </m:dPr>
                      <m:e>
                        <m:r>
                          <a:rPr lang="pt-BR" i="1">
                            <a:latin typeface="Cambria Math" panose="02040503050406030204" pitchFamily="18" charset="0"/>
                          </a:rPr>
                          <m:t>𝑛</m:t>
                        </m:r>
                      </m:e>
                    </m:d>
                    <m:r>
                      <a:rPr lang="pt-BR" b="0" i="1" smtClean="0">
                        <a:latin typeface="Cambria Math" panose="02040503050406030204" pitchFamily="18" charset="0"/>
                      </a:rPr>
                      <m:t>=</m:t>
                    </m:r>
                    <m:sSup>
                      <m:sSupPr>
                        <m:ctrlPr>
                          <a:rPr lang="pt-BR" b="0" i="1" smtClean="0">
                            <a:latin typeface="Cambria Math" panose="02040503050406030204" pitchFamily="18" charset="0"/>
                          </a:rPr>
                        </m:ctrlPr>
                      </m:sSupPr>
                      <m:e>
                        <m:d>
                          <m:dPr>
                            <m:begChr m:val="["/>
                            <m:endChr m:val="]"/>
                            <m:ctrlPr>
                              <a:rPr lang="pt-BR" i="1">
                                <a:latin typeface="Cambria Math" panose="02040503050406030204" pitchFamily="18" charset="0"/>
                              </a:rPr>
                            </m:ctrlPr>
                          </m:dPr>
                          <m:e>
                            <m:sSub>
                              <m:sSubPr>
                                <m:ctrlPr>
                                  <a:rPr lang="pt-BR" i="1">
                                    <a:latin typeface="Cambria Math" panose="02040503050406030204" pitchFamily="18" charset="0"/>
                                  </a:rPr>
                                </m:ctrlPr>
                              </m:sSubPr>
                              <m:e>
                                <m:acc>
                                  <m:accPr>
                                    <m:chr m:val="̂"/>
                                    <m:ctrlPr>
                                      <a:rPr lang="pt-BR" i="1">
                                        <a:latin typeface="Cambria Math" panose="02040503050406030204" pitchFamily="18" charset="0"/>
                                      </a:rPr>
                                    </m:ctrlPr>
                                  </m:accPr>
                                  <m:e>
                                    <m:r>
                                      <a:rPr lang="pt-BR" i="1">
                                        <a:latin typeface="Cambria Math" panose="02040503050406030204" pitchFamily="18" charset="0"/>
                                      </a:rPr>
                                      <m:t>𝑦</m:t>
                                    </m:r>
                                  </m:e>
                                </m:acc>
                              </m:e>
                              <m:sub>
                                <m:r>
                                  <a:rPr lang="pt-BR" b="0" i="1" smtClean="0">
                                    <a:latin typeface="Cambria Math" panose="02040503050406030204" pitchFamily="18" charset="0"/>
                                  </a:rPr>
                                  <m:t>0</m:t>
                                </m:r>
                              </m:sub>
                            </m:sSub>
                            <m:d>
                              <m:dPr>
                                <m:ctrlPr>
                                  <a:rPr lang="pt-BR" i="1">
                                    <a:latin typeface="Cambria Math" panose="02040503050406030204" pitchFamily="18" charset="0"/>
                                  </a:rPr>
                                </m:ctrlPr>
                              </m:dPr>
                              <m:e>
                                <m:r>
                                  <a:rPr lang="pt-BR" i="1">
                                    <a:latin typeface="Cambria Math" panose="02040503050406030204" pitchFamily="18" charset="0"/>
                                  </a:rPr>
                                  <m:t>𝑛</m:t>
                                </m:r>
                              </m:e>
                            </m:d>
                            <m:r>
                              <a:rPr lang="pt-BR" b="1" i="1">
                                <a:latin typeface="Cambria Math" panose="02040503050406030204" pitchFamily="18" charset="0"/>
                              </a:rPr>
                              <m:t>,⋯</m:t>
                            </m:r>
                            <m:r>
                              <a:rPr lang="pt-BR" i="1">
                                <a:latin typeface="Cambria Math" panose="02040503050406030204" pitchFamily="18" charset="0"/>
                              </a:rPr>
                              <m:t>,</m:t>
                            </m:r>
                            <m:sSub>
                              <m:sSubPr>
                                <m:ctrlPr>
                                  <a:rPr lang="pt-BR" i="1">
                                    <a:latin typeface="Cambria Math" panose="02040503050406030204" pitchFamily="18" charset="0"/>
                                  </a:rPr>
                                </m:ctrlPr>
                              </m:sSubPr>
                              <m:e>
                                <m:acc>
                                  <m:accPr>
                                    <m:chr m:val="̂"/>
                                    <m:ctrlPr>
                                      <a:rPr lang="pt-BR" i="1">
                                        <a:latin typeface="Cambria Math" panose="02040503050406030204" pitchFamily="18" charset="0"/>
                                      </a:rPr>
                                    </m:ctrlPr>
                                  </m:accPr>
                                  <m:e>
                                    <m:r>
                                      <a:rPr lang="pt-BR" i="1">
                                        <a:latin typeface="Cambria Math" panose="02040503050406030204" pitchFamily="18" charset="0"/>
                                      </a:rPr>
                                      <m:t>𝑦</m:t>
                                    </m:r>
                                  </m:e>
                                </m:acc>
                              </m:e>
                              <m:sub>
                                <m:r>
                                  <a:rPr lang="pt-BR" i="1">
                                    <a:latin typeface="Cambria Math" panose="02040503050406030204" pitchFamily="18" charset="0"/>
                                  </a:rPr>
                                  <m:t>𝑄</m:t>
                                </m:r>
                                <m:r>
                                  <a:rPr lang="pt-BR" b="0" i="1" smtClean="0">
                                    <a:latin typeface="Cambria Math" panose="02040503050406030204" pitchFamily="18" charset="0"/>
                                  </a:rPr>
                                  <m:t>−1</m:t>
                                </m:r>
                              </m:sub>
                            </m:sSub>
                            <m:d>
                              <m:dPr>
                                <m:ctrlPr>
                                  <a:rPr lang="pt-BR" i="1">
                                    <a:latin typeface="Cambria Math" panose="02040503050406030204" pitchFamily="18" charset="0"/>
                                  </a:rPr>
                                </m:ctrlPr>
                              </m:dPr>
                              <m:e>
                                <m:r>
                                  <a:rPr lang="pt-BR" i="1">
                                    <a:latin typeface="Cambria Math" panose="02040503050406030204" pitchFamily="18" charset="0"/>
                                  </a:rPr>
                                  <m:t>𝑛</m:t>
                                </m:r>
                              </m:e>
                            </m:d>
                          </m:e>
                        </m:d>
                      </m:e>
                      <m:sup>
                        <m:r>
                          <a:rPr lang="pt-BR" b="0" i="1" smtClean="0">
                            <a:latin typeface="Cambria Math" panose="02040503050406030204" pitchFamily="18" charset="0"/>
                          </a:rPr>
                          <m:t>𝑇</m:t>
                        </m:r>
                      </m:sup>
                    </m:sSup>
                    <m:r>
                      <a:rPr lang="pt-BR" dirty="0">
                        <a:latin typeface="Cambria Math" panose="02040503050406030204" pitchFamily="18" charset="0"/>
                        <a:ea typeface="Cambria Math" panose="02040503050406030204" pitchFamily="18" charset="0"/>
                      </a:rPr>
                      <m:t>∈</m:t>
                    </m:r>
                    <m:sSup>
                      <m:sSupPr>
                        <m:ctrlPr>
                          <a:rPr lang="pt-BR" i="1" dirty="0">
                            <a:latin typeface="Cambria Math" panose="02040503050406030204" pitchFamily="18" charset="0"/>
                            <a:ea typeface="Cambria Math" panose="02040503050406030204" pitchFamily="18" charset="0"/>
                          </a:rPr>
                        </m:ctrlPr>
                      </m:sSupPr>
                      <m:e>
                        <m:r>
                          <a:rPr lang="pt-BR" i="1" dirty="0">
                            <a:latin typeface="Cambria Math" panose="02040503050406030204" pitchFamily="18" charset="0"/>
                            <a:ea typeface="Cambria Math" panose="02040503050406030204" pitchFamily="18" charset="0"/>
                          </a:rPr>
                          <m:t>ℝ</m:t>
                        </m:r>
                      </m:e>
                      <m:sup>
                        <m:r>
                          <a:rPr lang="pt-BR" b="0" i="1" dirty="0" smtClean="0">
                            <a:latin typeface="Cambria Math" panose="02040503050406030204" pitchFamily="18" charset="0"/>
                            <a:ea typeface="Cambria Math" panose="02040503050406030204" pitchFamily="18" charset="0"/>
                          </a:rPr>
                          <m:t>𝑄</m:t>
                        </m:r>
                        <m:r>
                          <a:rPr lang="pt-BR" i="1" dirty="0">
                            <a:latin typeface="Cambria Math" panose="02040503050406030204" pitchFamily="18" charset="0"/>
                            <a:ea typeface="Cambria Math" panose="02040503050406030204" pitchFamily="18" charset="0"/>
                          </a:rPr>
                          <m:t>×</m:t>
                        </m:r>
                        <m:r>
                          <a:rPr lang="pt-BR" b="0" i="1" dirty="0" smtClean="0">
                            <a:latin typeface="Cambria Math" panose="02040503050406030204" pitchFamily="18" charset="0"/>
                            <a:ea typeface="Cambria Math" panose="02040503050406030204" pitchFamily="18" charset="0"/>
                          </a:rPr>
                          <m:t>1</m:t>
                        </m:r>
                      </m:sup>
                    </m:sSup>
                    <m:r>
                      <a:rPr lang="pt-BR" i="1" dirty="0">
                        <a:latin typeface="Cambria Math" panose="02040503050406030204" pitchFamily="18" charset="0"/>
                        <a:ea typeface="Cambria Math" panose="02040503050406030204" pitchFamily="18" charset="0"/>
                      </a:rPr>
                      <m:t> </m:t>
                    </m:r>
                  </m:oMath>
                </a14:m>
                <a:r>
                  <a:rPr lang="pt-BR" dirty="0"/>
                  <a:t>é o vetor com as </a:t>
                </a:r>
                <a14:m>
                  <m:oMath xmlns:m="http://schemas.openxmlformats.org/officeDocument/2006/math">
                    <m:r>
                      <a:rPr lang="pt-BR" i="1" dirty="0">
                        <a:latin typeface="Cambria Math" panose="02040503050406030204" pitchFamily="18" charset="0"/>
                        <a:ea typeface="Cambria Math" panose="02040503050406030204" pitchFamily="18" charset="0"/>
                      </a:rPr>
                      <m:t>𝑄</m:t>
                    </m:r>
                  </m:oMath>
                </a14:m>
                <a:r>
                  <a:rPr lang="pt-BR" dirty="0"/>
                  <a:t> saídas do modelo para a </a:t>
                </a:r>
                <a14:m>
                  <m:oMath xmlns:m="http://schemas.openxmlformats.org/officeDocument/2006/math">
                    <m:r>
                      <a:rPr lang="pt-BR" i="1">
                        <a:latin typeface="Cambria Math" panose="02040503050406030204" pitchFamily="18" charset="0"/>
                      </a:rPr>
                      <m:t>𝑛</m:t>
                    </m:r>
                  </m:oMath>
                </a14:m>
                <a:r>
                  <a:rPr lang="pt-BR" dirty="0"/>
                  <a:t>-</a:t>
                </a:r>
                <a:r>
                  <a:rPr lang="pt-BR" dirty="0" err="1"/>
                  <a:t>ésima</a:t>
                </a:r>
                <a:r>
                  <a:rPr lang="pt-BR" dirty="0"/>
                  <a:t> amostra de entrada.</a:t>
                </a:r>
                <a:endParaRPr lang="pt-BR" b="1" i="1" dirty="0"/>
              </a:p>
              <a:p>
                <a:r>
                  <a:rPr lang="pt-BR" b="0" dirty="0">
                    <a:effectLst/>
                  </a:rPr>
                  <a:t>Durante o </a:t>
                </a:r>
                <a:r>
                  <a:rPr lang="pt-BR" b="1" dirty="0">
                    <a:solidFill>
                      <a:srgbClr val="7030A0"/>
                    </a:solidFill>
                    <a:effectLst/>
                  </a:rPr>
                  <a:t>treinamento</a:t>
                </a:r>
                <a:r>
                  <a:rPr lang="pt-BR" b="0" dirty="0">
                    <a:effectLst/>
                  </a:rPr>
                  <a:t> do modelo, o </a:t>
                </a:r>
                <a:r>
                  <a:rPr lang="pt-BR" b="1" dirty="0">
                    <a:solidFill>
                      <a:srgbClr val="7030A0"/>
                    </a:solidFill>
                    <a:effectLst/>
                  </a:rPr>
                  <a:t>objetivo é minimizar a entropia cruzada categórica</a:t>
                </a:r>
                <a:r>
                  <a:rPr lang="pt-BR" b="0" dirty="0">
                    <a:effectLst/>
                  </a:rPr>
                  <a:t>, ou seja, fazer com que as </a:t>
                </a:r>
                <a:r>
                  <a:rPr lang="pt-BR" b="1" dirty="0">
                    <a:solidFill>
                      <a:srgbClr val="00B050"/>
                    </a:solidFill>
                    <a:effectLst/>
                  </a:rPr>
                  <a:t>probabilidades previstas pelo modelo se aproximem ao máximo dos rótulos dos exemplos</a:t>
                </a:r>
                <a:r>
                  <a:rPr lang="pt-BR" b="0" dirty="0">
                    <a:effectLst/>
                  </a:rPr>
                  <a:t>. </a:t>
                </a:r>
              </a:p>
            </p:txBody>
          </p:sp>
        </mc:Choice>
        <mc:Fallback xmlns="">
          <p:sp>
            <p:nvSpPr>
              <p:cNvPr id="3" name="Espaço Reservado para Conteúdo 2">
                <a:extLst>
                  <a:ext uri="{FF2B5EF4-FFF2-40B4-BE49-F238E27FC236}">
                    <a16:creationId xmlns="" xmlns:a16="http://schemas.microsoft.com/office/drawing/2014/main" xmlns:a14="http://schemas.microsoft.com/office/drawing/2010/main" id="{21A86630-5D79-AD4B-79FC-6C8373E8DB39}"/>
                  </a:ext>
                </a:extLst>
              </p:cNvPr>
              <p:cNvSpPr>
                <a:spLocks noGrp="1" noRot="1" noChangeAspect="1" noMove="1" noResize="1" noEditPoints="1" noAdjustHandles="1" noChangeArrowheads="1" noChangeShapeType="1" noTextEdit="1"/>
              </p:cNvSpPr>
              <p:nvPr>
                <p:ph idx="1"/>
              </p:nvPr>
            </p:nvSpPr>
            <p:spPr>
              <a:xfrm>
                <a:off x="838200" y="1825624"/>
                <a:ext cx="11353800" cy="5032375"/>
              </a:xfrm>
              <a:blipFill rotWithShape="0">
                <a:blip r:embed="rId2"/>
                <a:stretch>
                  <a:fillRect l="-1128" t="-2663" r="-1611"/>
                </a:stretch>
              </a:blipFill>
            </p:spPr>
            <p:txBody>
              <a:bodyPr/>
              <a:lstStyle/>
              <a:p>
                <a:r>
                  <a:rPr lang="pt-BR">
                    <a:noFill/>
                  </a:rPr>
                  <a:t> </a:t>
                </a:r>
              </a:p>
            </p:txBody>
          </p:sp>
        </mc:Fallback>
      </mc:AlternateContent>
    </p:spTree>
    <p:extLst>
      <p:ext uri="{BB962C8B-B14F-4D97-AF65-F5344CB8AC3E}">
        <p14:creationId xmlns:p14="http://schemas.microsoft.com/office/powerpoint/2010/main" val="24380809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E4598F11-6F65-0753-89FE-F5ABED77B46A}"/>
              </a:ext>
            </a:extLst>
          </p:cNvPr>
          <p:cNvSpPr>
            <a:spLocks noGrp="1"/>
          </p:cNvSpPr>
          <p:nvPr>
            <p:ph type="title"/>
          </p:nvPr>
        </p:nvSpPr>
        <p:spPr/>
        <p:txBody>
          <a:bodyPr/>
          <a:lstStyle/>
          <a:p>
            <a:r>
              <a:rPr lang="pt-BR" dirty="0"/>
              <a:t>Função de erro</a:t>
            </a:r>
            <a:endParaRPr lang="pt-BR" i="1" dirty="0"/>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xmlns="" id="{FEF4E6DC-E916-D97A-4D18-D469285C4F2C}"/>
                  </a:ext>
                </a:extLst>
              </p:cNvPr>
              <p:cNvSpPr>
                <a:spLocks noGrp="1"/>
              </p:cNvSpPr>
              <p:nvPr>
                <p:ph idx="1"/>
              </p:nvPr>
            </p:nvSpPr>
            <p:spPr>
              <a:xfrm>
                <a:off x="838200" y="1825624"/>
                <a:ext cx="11353800" cy="5032375"/>
              </a:xfrm>
            </p:spPr>
            <p:txBody>
              <a:bodyPr>
                <a:normAutofit/>
              </a:bodyPr>
              <a:lstStyle/>
              <a:p>
                <a:pPr marL="0" indent="0">
                  <a:buNone/>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i="1">
                              <a:latin typeface="Cambria Math" panose="02040503050406030204" pitchFamily="18" charset="0"/>
                            </a:rPr>
                          </m:ctrlPr>
                        </m:dPr>
                        <m:e>
                          <m:r>
                            <a:rPr lang="pt-BR" b="1" i="1">
                              <a:latin typeface="Cambria Math" panose="02040503050406030204" pitchFamily="18" charset="0"/>
                            </a:rPr>
                            <m:t>𝑨</m:t>
                          </m:r>
                        </m:e>
                      </m:d>
                      <m:r>
                        <a:rPr lang="pt-BR"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1</m:t>
                          </m:r>
                        </m:num>
                        <m:den>
                          <m:r>
                            <a:rPr lang="pt-BR" i="1">
                              <a:latin typeface="Cambria Math" panose="02040503050406030204" pitchFamily="18" charset="0"/>
                            </a:rPr>
                            <m:t>𝑁</m:t>
                          </m:r>
                        </m:den>
                      </m:f>
                      <m:nary>
                        <m:naryPr>
                          <m:chr m:val="∑"/>
                          <m:ctrlPr>
                            <a:rPr lang="pt-BR" i="1">
                              <a:latin typeface="Cambria Math" panose="02040503050406030204" pitchFamily="18" charset="0"/>
                            </a:rPr>
                          </m:ctrlPr>
                        </m:naryPr>
                        <m:sub>
                          <m:r>
                            <a:rPr lang="pt-BR" b="0" i="1" smtClean="0">
                              <a:latin typeface="Cambria Math" panose="02040503050406030204" pitchFamily="18" charset="0"/>
                            </a:rPr>
                            <m:t>𝑛</m:t>
                          </m:r>
                          <m:r>
                            <a:rPr lang="pt-BR" i="1">
                              <a:latin typeface="Cambria Math" panose="02040503050406030204" pitchFamily="18" charset="0"/>
                            </a:rPr>
                            <m:t>=0</m:t>
                          </m:r>
                        </m:sub>
                        <m:sup>
                          <m:r>
                            <a:rPr lang="pt-BR" i="1">
                              <a:latin typeface="Cambria Math" panose="02040503050406030204" pitchFamily="18" charset="0"/>
                            </a:rPr>
                            <m:t>𝑁</m:t>
                          </m:r>
                          <m:r>
                            <a:rPr lang="pt-BR" i="1">
                              <a:latin typeface="Cambria Math" panose="02040503050406030204" pitchFamily="18" charset="0"/>
                            </a:rPr>
                            <m:t>−1</m:t>
                          </m:r>
                        </m:sup>
                        <m:e>
                          <m:sSup>
                            <m:sSupPr>
                              <m:ctrlPr>
                                <a:rPr lang="pt-BR" i="1">
                                  <a:latin typeface="Cambria Math" panose="02040503050406030204" pitchFamily="18" charset="0"/>
                                </a:rPr>
                              </m:ctrlPr>
                            </m:sSupPr>
                            <m:e>
                              <m:r>
                                <a:rPr lang="pt-BR" b="1" i="1">
                                  <a:latin typeface="Cambria Math" panose="02040503050406030204" pitchFamily="18" charset="0"/>
                                </a:rPr>
                                <m:t>𝒚</m:t>
                              </m:r>
                              <m:d>
                                <m:dPr>
                                  <m:ctrlPr>
                                    <a:rPr lang="pt-BR" b="1" i="1">
                                      <a:latin typeface="Cambria Math" panose="02040503050406030204" pitchFamily="18" charset="0"/>
                                    </a:rPr>
                                  </m:ctrlPr>
                                </m:dPr>
                                <m:e>
                                  <m:r>
                                    <a:rPr lang="pt-BR" b="0" i="1" smtClean="0">
                                      <a:latin typeface="Cambria Math" panose="02040503050406030204" pitchFamily="18" charset="0"/>
                                    </a:rPr>
                                    <m:t>𝑛</m:t>
                                  </m:r>
                                </m:e>
                              </m:d>
                            </m:e>
                            <m:sup>
                              <m:r>
                                <a:rPr lang="pt-BR" i="1">
                                  <a:latin typeface="Cambria Math" panose="02040503050406030204" pitchFamily="18" charset="0"/>
                                </a:rPr>
                                <m:t>𝑇</m:t>
                              </m:r>
                            </m:sup>
                          </m:sSup>
                          <m:func>
                            <m:funcPr>
                              <m:ctrlPr>
                                <a:rPr lang="pt-BR" i="1">
                                  <a:latin typeface="Cambria Math" panose="02040503050406030204" pitchFamily="18" charset="0"/>
                                </a:rPr>
                              </m:ctrlPr>
                            </m:funcPr>
                            <m:fName>
                              <m:r>
                                <m:rPr>
                                  <m:sty m:val="p"/>
                                </m:rPr>
                                <a:rPr lang="pt-BR">
                                  <a:latin typeface="Cambria Math" panose="02040503050406030204" pitchFamily="18" charset="0"/>
                                </a:rPr>
                                <m:t>log</m:t>
                              </m:r>
                            </m:fName>
                            <m:e>
                              <m:d>
                                <m:dPr>
                                  <m:ctrlPr>
                                    <a:rPr lang="pt-BR" i="1">
                                      <a:latin typeface="Cambria Math" panose="02040503050406030204" pitchFamily="18" charset="0"/>
                                    </a:rPr>
                                  </m:ctrlPr>
                                </m:dPr>
                                <m:e>
                                  <m:acc>
                                    <m:accPr>
                                      <m:chr m:val="̂"/>
                                      <m:ctrlPr>
                                        <a:rPr lang="pt-BR" i="1">
                                          <a:latin typeface="Cambria Math" panose="02040503050406030204" pitchFamily="18" charset="0"/>
                                        </a:rPr>
                                      </m:ctrlPr>
                                    </m:accPr>
                                    <m:e>
                                      <m:r>
                                        <a:rPr lang="pt-BR" b="1" i="1">
                                          <a:latin typeface="Cambria Math" panose="02040503050406030204" pitchFamily="18" charset="0"/>
                                        </a:rPr>
                                        <m:t>𝒚</m:t>
                                      </m:r>
                                    </m:e>
                                  </m:acc>
                                  <m:r>
                                    <a:rPr lang="pt-BR" i="1">
                                      <a:latin typeface="Cambria Math" panose="02040503050406030204" pitchFamily="18" charset="0"/>
                                    </a:rPr>
                                    <m:t> </m:t>
                                  </m:r>
                                  <m:d>
                                    <m:dPr>
                                      <m:ctrlPr>
                                        <a:rPr lang="pt-BR" i="1">
                                          <a:latin typeface="Cambria Math" panose="02040503050406030204" pitchFamily="18" charset="0"/>
                                        </a:rPr>
                                      </m:ctrlPr>
                                    </m:dPr>
                                    <m:e>
                                      <m:r>
                                        <a:rPr lang="pt-BR" i="1">
                                          <a:latin typeface="Cambria Math" panose="02040503050406030204" pitchFamily="18" charset="0"/>
                                        </a:rPr>
                                        <m:t>𝑛</m:t>
                                      </m:r>
                                    </m:e>
                                  </m:d>
                                </m:e>
                              </m:d>
                            </m:e>
                          </m:func>
                        </m:e>
                      </m:nary>
                      <m:r>
                        <a:rPr lang="pt-BR" b="1" i="1" smtClean="0">
                          <a:latin typeface="Cambria Math" panose="02040503050406030204" pitchFamily="18" charset="0"/>
                        </a:rPr>
                        <m:t>.</m:t>
                      </m:r>
                    </m:oMath>
                  </m:oMathPara>
                </a14:m>
                <a:endParaRPr lang="pt-BR" dirty="0"/>
              </a:p>
              <a:p>
                <a:r>
                  <a:rPr lang="pt-BR" dirty="0"/>
                  <a:t>Notem que quando existem apenas duas classes (</a:t>
                </a:r>
                <a14:m>
                  <m:oMath xmlns:m="http://schemas.openxmlformats.org/officeDocument/2006/math">
                    <m:r>
                      <a:rPr lang="pt-BR" i="1">
                        <a:latin typeface="Cambria Math" panose="02040503050406030204" pitchFamily="18" charset="0"/>
                      </a:rPr>
                      <m:t>𝑄</m:t>
                    </m:r>
                    <m:r>
                      <a:rPr lang="pt-BR" i="1">
                        <a:latin typeface="Cambria Math" panose="02040503050406030204" pitchFamily="18" charset="0"/>
                      </a:rPr>
                      <m:t>=2</m:t>
                    </m:r>
                  </m:oMath>
                </a14:m>
                <a:r>
                  <a:rPr lang="pt-BR" dirty="0"/>
                  <a:t>), a </a:t>
                </a:r>
                <a:r>
                  <a:rPr lang="pt-BR" b="1" dirty="0"/>
                  <a:t>função da entropia cruzada categórica </a:t>
                </a:r>
                <a:r>
                  <a:rPr lang="pt-BR" dirty="0"/>
                  <a:t>é equivalente à </a:t>
                </a:r>
                <a:r>
                  <a:rPr lang="pt-BR" b="1" dirty="0"/>
                  <a:t>função da entropia cruzada </a:t>
                </a:r>
                <a:r>
                  <a:rPr lang="pt-BR" dirty="0"/>
                  <a:t>do </a:t>
                </a:r>
                <a:r>
                  <a:rPr lang="pt-BR" b="1" dirty="0"/>
                  <a:t>regressor logístico</a:t>
                </a:r>
                <a:r>
                  <a:rPr lang="pt-BR" dirty="0"/>
                  <a:t>.</a:t>
                </a:r>
              </a:p>
              <a:p>
                <a:r>
                  <a:rPr lang="pt-BR" dirty="0"/>
                  <a:t>Ou seja, mesmo tendo sido pensado para o caso onde </a:t>
                </a:r>
                <a14:m>
                  <m:oMath xmlns:m="http://schemas.openxmlformats.org/officeDocument/2006/math">
                    <m:r>
                      <a:rPr lang="pt-BR" i="1">
                        <a:latin typeface="Cambria Math" panose="02040503050406030204" pitchFamily="18" charset="0"/>
                      </a:rPr>
                      <m:t>𝑄</m:t>
                    </m:r>
                    <m:r>
                      <a:rPr lang="pt-BR" b="0" i="1" smtClean="0">
                        <a:latin typeface="Cambria Math" panose="02040503050406030204" pitchFamily="18" charset="0"/>
                      </a:rPr>
                      <m:t>&gt;</m:t>
                    </m:r>
                    <m:r>
                      <a:rPr lang="pt-BR" i="1">
                        <a:latin typeface="Cambria Math" panose="02040503050406030204" pitchFamily="18" charset="0"/>
                      </a:rPr>
                      <m:t>2</m:t>
                    </m:r>
                  </m:oMath>
                </a14:m>
                <a:r>
                  <a:rPr lang="pt-BR" dirty="0"/>
                  <a:t>, o regressor </a:t>
                </a:r>
                <a:r>
                  <a:rPr lang="pt-BR" i="1" dirty="0"/>
                  <a:t>softmax</a:t>
                </a:r>
                <a:r>
                  <a:rPr lang="pt-BR" dirty="0"/>
                  <a:t> também pode ser usado quando </a:t>
                </a:r>
                <a14:m>
                  <m:oMath xmlns:m="http://schemas.openxmlformats.org/officeDocument/2006/math">
                    <m:r>
                      <a:rPr lang="pt-BR" i="1">
                        <a:latin typeface="Cambria Math" panose="02040503050406030204" pitchFamily="18" charset="0"/>
                      </a:rPr>
                      <m:t>𝑄</m:t>
                    </m:r>
                    <m:r>
                      <a:rPr lang="pt-BR" i="1">
                        <a:latin typeface="Cambria Math" panose="02040503050406030204" pitchFamily="18" charset="0"/>
                      </a:rPr>
                      <m:t>=2</m:t>
                    </m:r>
                  </m:oMath>
                </a14:m>
                <a:r>
                  <a:rPr lang="pt-BR" dirty="0" smtClean="0"/>
                  <a:t>.</a:t>
                </a:r>
              </a:p>
              <a:p>
                <a:pPr lvl="1">
                  <a:buFont typeface="Wingdings" panose="05000000000000000000" pitchFamily="2" charset="2"/>
                  <a:buChar char="§"/>
                </a:pPr>
                <a:r>
                  <a:rPr lang="pt-BR" dirty="0" smtClean="0"/>
                  <a:t>Porém, ao invés de uma única saída escalar, ele apresenta duas saídas, uma para a classe positiva e outra para a negativa.</a:t>
                </a:r>
                <a:endParaRPr lang="pt-BR" dirty="0"/>
              </a:p>
              <a:p>
                <a:r>
                  <a:rPr lang="pt-BR" dirty="0"/>
                  <a:t>Entretanto, existe um problema com essa função de erro.</a:t>
                </a:r>
              </a:p>
            </p:txBody>
          </p:sp>
        </mc:Choice>
        <mc:Fallback xmlns="">
          <p:sp>
            <p:nvSpPr>
              <p:cNvPr id="3" name="Espaço Reservado para Conteúdo 2">
                <a:extLst>
                  <a:ext uri="{FF2B5EF4-FFF2-40B4-BE49-F238E27FC236}">
                    <a16:creationId xmlns="" xmlns:a16="http://schemas.microsoft.com/office/drawing/2014/main" xmlns:a14="http://schemas.microsoft.com/office/drawing/2010/main" id="{FEF4E6DC-E916-D97A-4D18-D469285C4F2C}"/>
                  </a:ext>
                </a:extLst>
              </p:cNvPr>
              <p:cNvSpPr>
                <a:spLocks noGrp="1" noRot="1" noChangeAspect="1" noMove="1" noResize="1" noEditPoints="1" noAdjustHandles="1" noChangeArrowheads="1" noChangeShapeType="1" noTextEdit="1"/>
              </p:cNvSpPr>
              <p:nvPr>
                <p:ph idx="1"/>
              </p:nvPr>
            </p:nvSpPr>
            <p:spPr>
              <a:xfrm>
                <a:off x="838200" y="1825624"/>
                <a:ext cx="11353800" cy="5032375"/>
              </a:xfrm>
              <a:blipFill rotWithShape="0">
                <a:blip r:embed="rId3"/>
                <a:stretch>
                  <a:fillRect l="-967" r="-1611"/>
                </a:stretch>
              </a:blipFill>
            </p:spPr>
            <p:txBody>
              <a:bodyPr/>
              <a:lstStyle/>
              <a:p>
                <a:r>
                  <a:rPr lang="pt-BR">
                    <a:noFill/>
                  </a:rPr>
                  <a:t> </a:t>
                </a:r>
              </a:p>
            </p:txBody>
          </p:sp>
        </mc:Fallback>
      </mc:AlternateContent>
    </p:spTree>
    <p:extLst>
      <p:ext uri="{BB962C8B-B14F-4D97-AF65-F5344CB8AC3E}">
        <p14:creationId xmlns:p14="http://schemas.microsoft.com/office/powerpoint/2010/main" val="22294007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D5807923-28D2-8150-E304-526DA460D220}"/>
              </a:ext>
            </a:extLst>
          </p:cNvPr>
          <p:cNvSpPr>
            <a:spLocks noGrp="1"/>
          </p:cNvSpPr>
          <p:nvPr>
            <p:ph type="title"/>
          </p:nvPr>
        </p:nvSpPr>
        <p:spPr/>
        <p:txBody>
          <a:bodyPr/>
          <a:lstStyle/>
          <a:p>
            <a:r>
              <a:rPr lang="pt-BR" dirty="0"/>
              <a:t>Função de erro</a:t>
            </a:r>
            <a:endParaRPr lang="pt-BR" i="1" dirty="0"/>
          </a:p>
        </p:txBody>
      </p:sp>
      <p:sp>
        <p:nvSpPr>
          <p:cNvPr id="3" name="Espaço Reservado para Conteúdo 2">
            <a:extLst>
              <a:ext uri="{FF2B5EF4-FFF2-40B4-BE49-F238E27FC236}">
                <a16:creationId xmlns:a16="http://schemas.microsoft.com/office/drawing/2014/main" xmlns="" id="{FFACD180-C529-EB91-BD2D-B5F491B1E35C}"/>
              </a:ext>
            </a:extLst>
          </p:cNvPr>
          <p:cNvSpPr>
            <a:spLocks noGrp="1"/>
          </p:cNvSpPr>
          <p:nvPr>
            <p:ph idx="1"/>
          </p:nvPr>
        </p:nvSpPr>
        <p:spPr>
          <a:xfrm>
            <a:off x="5867400" y="1825624"/>
            <a:ext cx="6162676" cy="5032375"/>
          </a:xfrm>
        </p:spPr>
        <p:txBody>
          <a:bodyPr/>
          <a:lstStyle/>
          <a:p>
            <a:r>
              <a:rPr lang="pt-BR" dirty="0"/>
              <a:t>Essa </a:t>
            </a:r>
            <a:r>
              <a:rPr lang="pt-BR" b="1" dirty="0"/>
              <a:t>função de erro </a:t>
            </a:r>
            <a:r>
              <a:rPr lang="pt-BR" b="1" dirty="0">
                <a:solidFill>
                  <a:srgbClr val="7030A0"/>
                </a:solidFill>
              </a:rPr>
              <a:t>não é linear </a:t>
            </a:r>
            <a:r>
              <a:rPr lang="pt-BR" dirty="0"/>
              <a:t>e, portanto, </a:t>
            </a:r>
            <a:r>
              <a:rPr lang="pt-BR" b="1" dirty="0">
                <a:solidFill>
                  <a:srgbClr val="7030A0"/>
                </a:solidFill>
              </a:rPr>
              <a:t>não existe uma </a:t>
            </a:r>
            <a:r>
              <a:rPr lang="pt-BR" b="1" dirty="0">
                <a:solidFill>
                  <a:schemeClr val="accent2"/>
                </a:solidFill>
              </a:rPr>
              <a:t>forma fechada</a:t>
            </a:r>
            <a:r>
              <a:rPr lang="pt-BR" b="1" dirty="0"/>
              <a:t> </a:t>
            </a:r>
            <a:r>
              <a:rPr lang="pt-BR" dirty="0"/>
              <a:t>para encontramos os pesos.</a:t>
            </a:r>
          </a:p>
          <a:p>
            <a:r>
              <a:rPr lang="pt-BR" dirty="0"/>
              <a:t>Porém, ela é </a:t>
            </a:r>
            <a:r>
              <a:rPr lang="pt-BR" b="1" dirty="0">
                <a:solidFill>
                  <a:srgbClr val="00B050"/>
                </a:solidFill>
              </a:rPr>
              <a:t>convexa</a:t>
            </a:r>
            <a:r>
              <a:rPr lang="pt-BR" dirty="0"/>
              <a:t> e </a:t>
            </a:r>
            <a:r>
              <a:rPr lang="pt-BR" b="1" dirty="0">
                <a:solidFill>
                  <a:srgbClr val="00B050"/>
                </a:solidFill>
              </a:rPr>
              <a:t>contínua</a:t>
            </a:r>
            <a:r>
              <a:rPr lang="pt-BR" dirty="0"/>
              <a:t>. </a:t>
            </a:r>
          </a:p>
          <a:p>
            <a:r>
              <a:rPr lang="pt-BR" dirty="0"/>
              <a:t>Assim,</a:t>
            </a:r>
            <a:r>
              <a:rPr lang="pt-BR" b="1" dirty="0">
                <a:solidFill>
                  <a:srgbClr val="00B050"/>
                </a:solidFill>
              </a:rPr>
              <a:t> o algoritmo do gradiente descendente (qualquer versão) pode ser usado para encontrar o </a:t>
            </a:r>
            <a:r>
              <a:rPr lang="pt-BR" b="1" dirty="0">
                <a:solidFill>
                  <a:srgbClr val="7030A0"/>
                </a:solidFill>
              </a:rPr>
              <a:t>mínimo global</a:t>
            </a:r>
            <a:r>
              <a:rPr lang="pt-BR" dirty="0"/>
              <a:t>.</a:t>
            </a:r>
          </a:p>
          <a:p>
            <a:endParaRPr lang="pt-BR" dirty="0"/>
          </a:p>
        </p:txBody>
      </p:sp>
      <p:pic>
        <p:nvPicPr>
          <p:cNvPr id="1026" name="Picture 2">
            <a:extLst>
              <a:ext uri="{FF2B5EF4-FFF2-40B4-BE49-F238E27FC236}">
                <a16:creationId xmlns:a16="http://schemas.microsoft.com/office/drawing/2014/main" xmlns="" id="{6FC2BDE8-91E0-6379-9BA3-76511C6153D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3222" t="24652" r="11445" b="14963"/>
          <a:stretch/>
        </p:blipFill>
        <p:spPr bwMode="auto">
          <a:xfrm>
            <a:off x="568158" y="2428240"/>
            <a:ext cx="4704881" cy="326136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xmlns="" id="{2771BE1F-7B74-36A4-AA69-9171B025A4B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2262" t="6293" r="29928" b="89004"/>
          <a:stretch/>
        </p:blipFill>
        <p:spPr bwMode="auto">
          <a:xfrm>
            <a:off x="1559157" y="2092960"/>
            <a:ext cx="2722881" cy="254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61134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D929962-9BFC-4174-AB35-CC23FA013168}"/>
              </a:ext>
            </a:extLst>
          </p:cNvPr>
          <p:cNvSpPr>
            <a:spLocks noGrp="1"/>
          </p:cNvSpPr>
          <p:nvPr>
            <p:ph type="title"/>
          </p:nvPr>
        </p:nvSpPr>
        <p:spPr/>
        <p:txBody>
          <a:bodyPr/>
          <a:lstStyle/>
          <a:p>
            <a:r>
              <a:rPr lang="pt-BR" dirty="0"/>
              <a:t>Gradiente descendente</a:t>
            </a:r>
            <a:endParaRPr lang="pt-BR" i="1" dirty="0"/>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xmlns="" id="{1D38055D-E355-F780-9CA0-0337EA0BE4FD}"/>
                  </a:ext>
                </a:extLst>
              </p:cNvPr>
              <p:cNvSpPr>
                <a:spLocks noGrp="1"/>
              </p:cNvSpPr>
              <p:nvPr>
                <p:ph idx="1"/>
              </p:nvPr>
            </p:nvSpPr>
            <p:spPr>
              <a:xfrm>
                <a:off x="838199" y="1825625"/>
                <a:ext cx="11353801" cy="5032375"/>
              </a:xfrm>
            </p:spPr>
            <p:txBody>
              <a:bodyPr>
                <a:normAutofit/>
              </a:bodyPr>
              <a:lstStyle/>
              <a:p>
                <a:r>
                  <a:rPr lang="pt-BR" dirty="0"/>
                  <a:t>A atualização dos </a:t>
                </a:r>
                <a:r>
                  <a:rPr lang="pt-BR" b="1" dirty="0"/>
                  <a:t>pesos</a:t>
                </a:r>
                <a:r>
                  <a:rPr lang="pt-BR" dirty="0"/>
                  <a:t> da</a:t>
                </a:r>
                <a:r>
                  <a:rPr lang="pt-BR" b="1" dirty="0">
                    <a:solidFill>
                      <a:schemeClr val="accent2"/>
                    </a:solidFill>
                  </a:rPr>
                  <a:t> </a:t>
                </a:r>
                <a:r>
                  <a:rPr lang="pt-BR" b="1" i="1" dirty="0">
                    <a:solidFill>
                      <a:schemeClr val="accent2"/>
                    </a:solidFill>
                  </a:rPr>
                  <a:t>q</a:t>
                </a:r>
                <a:r>
                  <a:rPr lang="pt-BR" b="1" dirty="0">
                    <a:solidFill>
                      <a:schemeClr val="accent2"/>
                    </a:solidFill>
                  </a:rPr>
                  <a:t>-</a:t>
                </a:r>
                <a:r>
                  <a:rPr lang="pt-BR" b="1" dirty="0" err="1">
                    <a:solidFill>
                      <a:schemeClr val="accent2"/>
                    </a:solidFill>
                  </a:rPr>
                  <a:t>ésima</a:t>
                </a:r>
                <a:r>
                  <a:rPr lang="pt-BR" b="1" dirty="0">
                    <a:solidFill>
                      <a:schemeClr val="accent2"/>
                    </a:solidFill>
                  </a:rPr>
                  <a:t> função discriminante</a:t>
                </a:r>
                <a:r>
                  <a:rPr lang="pt-BR" dirty="0"/>
                  <a:t>, </a:t>
                </a:r>
                <a14:m>
                  <m:oMath xmlns:m="http://schemas.openxmlformats.org/officeDocument/2006/math">
                    <m:sSub>
                      <m:sSubPr>
                        <m:ctrlPr>
                          <a:rPr lang="pt-BR" i="1" smtClean="0">
                            <a:latin typeface="Cambria Math" panose="02040503050406030204" pitchFamily="18" charset="0"/>
                          </a:rPr>
                        </m:ctrlPr>
                      </m:sSubPr>
                      <m:e>
                        <m:r>
                          <a:rPr lang="pt-BR" i="1">
                            <a:latin typeface="Cambria Math" panose="02040503050406030204" pitchFamily="18" charset="0"/>
                          </a:rPr>
                          <m:t>𝑔</m:t>
                        </m:r>
                      </m:e>
                      <m:sub>
                        <m:r>
                          <a:rPr lang="pt-BR" i="1">
                            <a:latin typeface="Cambria Math" panose="02040503050406030204" pitchFamily="18" charset="0"/>
                          </a:rPr>
                          <m:t>𝑞</m:t>
                        </m:r>
                      </m:sub>
                    </m:sSub>
                    <m:r>
                      <a:rPr lang="pt-BR" b="1" i="1">
                        <a:latin typeface="Cambria Math" panose="02040503050406030204" pitchFamily="18" charset="0"/>
                      </a:rPr>
                      <m:t>(</m:t>
                    </m:r>
                    <m:r>
                      <a:rPr lang="pt-BR" b="1" i="1">
                        <a:latin typeface="Cambria Math" panose="02040503050406030204" pitchFamily="18" charset="0"/>
                      </a:rPr>
                      <m:t>𝒙</m:t>
                    </m:r>
                    <m:r>
                      <a:rPr lang="pt-BR" i="1">
                        <a:latin typeface="Cambria Math" panose="02040503050406030204" pitchFamily="18" charset="0"/>
                      </a:rPr>
                      <m:t>(</m:t>
                    </m:r>
                    <m:r>
                      <a:rPr lang="pt-BR" b="0" i="1" smtClean="0">
                        <a:latin typeface="Cambria Math" panose="02040503050406030204" pitchFamily="18" charset="0"/>
                      </a:rPr>
                      <m:t>𝑛</m:t>
                    </m:r>
                    <m:r>
                      <a:rPr lang="pt-BR" i="1">
                        <a:latin typeface="Cambria Math" panose="02040503050406030204" pitchFamily="18" charset="0"/>
                      </a:rPr>
                      <m:t>)</m:t>
                    </m:r>
                    <m:r>
                      <a:rPr lang="pt-BR" b="1" i="1">
                        <a:latin typeface="Cambria Math" panose="02040503050406030204" pitchFamily="18" charset="0"/>
                      </a:rPr>
                      <m:t>)</m:t>
                    </m:r>
                  </m:oMath>
                </a14:m>
                <a:r>
                  <a:rPr lang="pt-BR" dirty="0"/>
                  <a:t>, é dada por</a:t>
                </a:r>
              </a:p>
              <a:p>
                <a:pPr marL="0" indent="0" algn="ctr">
                  <a:buNone/>
                </a:pPr>
                <a14:m>
                  <m:oMathPara xmlns:m="http://schemas.openxmlformats.org/officeDocument/2006/math">
                    <m:oMathParaPr>
                      <m:jc m:val="centerGroup"/>
                    </m:oMathParaPr>
                    <m:oMath xmlns:m="http://schemas.openxmlformats.org/officeDocument/2006/math">
                      <m:sSub>
                        <m:sSubPr>
                          <m:ctrlPr>
                            <a:rPr lang="pt-BR" sz="2400" i="1">
                              <a:latin typeface="Cambria Math" panose="02040503050406030204" pitchFamily="18" charset="0"/>
                            </a:rPr>
                          </m:ctrlPr>
                        </m:sSubPr>
                        <m:e>
                          <m:r>
                            <a:rPr lang="pt-BR" sz="2400" b="1" i="1">
                              <a:latin typeface="Cambria Math" panose="02040503050406030204" pitchFamily="18" charset="0"/>
                            </a:rPr>
                            <m:t>𝒂</m:t>
                          </m:r>
                        </m:e>
                        <m:sub>
                          <m:r>
                            <a:rPr lang="pt-BR" sz="2400" i="1">
                              <a:latin typeface="Cambria Math" panose="02040503050406030204" pitchFamily="18" charset="0"/>
                            </a:rPr>
                            <m:t>𝑞</m:t>
                          </m:r>
                        </m:sub>
                      </m:sSub>
                      <m:r>
                        <a:rPr lang="pt-BR" sz="2400" b="1" i="1">
                          <a:latin typeface="Cambria Math" panose="02040503050406030204" pitchFamily="18" charset="0"/>
                        </a:rPr>
                        <m:t>=</m:t>
                      </m:r>
                      <m:sSub>
                        <m:sSubPr>
                          <m:ctrlPr>
                            <a:rPr lang="pt-BR" sz="2400" i="1">
                              <a:latin typeface="Cambria Math" panose="02040503050406030204" pitchFamily="18" charset="0"/>
                            </a:rPr>
                          </m:ctrlPr>
                        </m:sSubPr>
                        <m:e>
                          <m:r>
                            <a:rPr lang="pt-BR" sz="2400" b="1" i="1">
                              <a:latin typeface="Cambria Math" panose="02040503050406030204" pitchFamily="18" charset="0"/>
                            </a:rPr>
                            <m:t>𝒂</m:t>
                          </m:r>
                        </m:e>
                        <m:sub>
                          <m:r>
                            <a:rPr lang="pt-BR" sz="2400" i="1">
                              <a:latin typeface="Cambria Math" panose="02040503050406030204" pitchFamily="18" charset="0"/>
                            </a:rPr>
                            <m:t>𝑞</m:t>
                          </m:r>
                        </m:sub>
                      </m:sSub>
                      <m:r>
                        <a:rPr lang="pt-BR" sz="2400" b="1" i="1">
                          <a:latin typeface="Cambria Math" panose="02040503050406030204" pitchFamily="18" charset="0"/>
                        </a:rPr>
                        <m:t>−</m:t>
                      </m:r>
                      <m:r>
                        <a:rPr lang="pt-BR" sz="2400" i="1">
                          <a:latin typeface="Cambria Math" panose="02040503050406030204" pitchFamily="18" charset="0"/>
                          <a:ea typeface="Cambria Math" panose="02040503050406030204" pitchFamily="18" charset="0"/>
                        </a:rPr>
                        <m:t>𝛼</m:t>
                      </m:r>
                      <m:f>
                        <m:fPr>
                          <m:ctrlPr>
                            <a:rPr lang="pt-BR" sz="2400" i="1">
                              <a:latin typeface="Cambria Math" panose="02040503050406030204" pitchFamily="18" charset="0"/>
                            </a:rPr>
                          </m:ctrlPr>
                        </m:fPr>
                        <m:num>
                          <m:r>
                            <a:rPr lang="pt-BR" sz="2400" i="1">
                              <a:latin typeface="Cambria Math" panose="02040503050406030204" pitchFamily="18" charset="0"/>
                            </a:rPr>
                            <m:t>𝜕</m:t>
                          </m:r>
                          <m:sSub>
                            <m:sSubPr>
                              <m:ctrlPr>
                                <a:rPr lang="pt-BR" sz="2400" i="1">
                                  <a:latin typeface="Cambria Math" panose="02040503050406030204" pitchFamily="18" charset="0"/>
                                </a:rPr>
                              </m:ctrlPr>
                            </m:sSubPr>
                            <m:e>
                              <m:r>
                                <a:rPr lang="pt-BR" sz="2400" i="1">
                                  <a:latin typeface="Cambria Math" panose="02040503050406030204" pitchFamily="18" charset="0"/>
                                </a:rPr>
                                <m:t>𝐽</m:t>
                              </m:r>
                            </m:e>
                            <m:sub>
                              <m:r>
                                <a:rPr lang="pt-BR" sz="2400" i="1">
                                  <a:latin typeface="Cambria Math" panose="02040503050406030204" pitchFamily="18" charset="0"/>
                                </a:rPr>
                                <m:t>𝑒</m:t>
                              </m:r>
                            </m:sub>
                          </m:sSub>
                          <m:d>
                            <m:dPr>
                              <m:ctrlPr>
                                <a:rPr lang="pt-BR" sz="2400" i="1">
                                  <a:latin typeface="Cambria Math" panose="02040503050406030204" pitchFamily="18" charset="0"/>
                                </a:rPr>
                              </m:ctrlPr>
                            </m:dPr>
                            <m:e>
                              <m:r>
                                <a:rPr lang="pt-BR" sz="2400" b="1" i="1">
                                  <a:latin typeface="Cambria Math" panose="02040503050406030204" pitchFamily="18" charset="0"/>
                                </a:rPr>
                                <m:t>𝑨</m:t>
                              </m:r>
                            </m:e>
                          </m:d>
                        </m:num>
                        <m:den>
                          <m:r>
                            <a:rPr lang="pt-BR" sz="2400" i="1">
                              <a:latin typeface="Cambria Math" panose="02040503050406030204" pitchFamily="18" charset="0"/>
                            </a:rPr>
                            <m:t>𝜕</m:t>
                          </m:r>
                          <m:sSub>
                            <m:sSubPr>
                              <m:ctrlPr>
                                <a:rPr lang="pt-BR" sz="2400" i="1">
                                  <a:latin typeface="Cambria Math" panose="02040503050406030204" pitchFamily="18" charset="0"/>
                                </a:rPr>
                              </m:ctrlPr>
                            </m:sSubPr>
                            <m:e>
                              <m:r>
                                <a:rPr lang="pt-BR" sz="2400" b="1" i="1">
                                  <a:latin typeface="Cambria Math" panose="02040503050406030204" pitchFamily="18" charset="0"/>
                                </a:rPr>
                                <m:t>𝒂</m:t>
                              </m:r>
                            </m:e>
                            <m:sub>
                              <m:r>
                                <a:rPr lang="pt-BR" sz="2400" i="1">
                                  <a:latin typeface="Cambria Math" panose="02040503050406030204" pitchFamily="18" charset="0"/>
                                </a:rPr>
                                <m:t>𝑞</m:t>
                              </m:r>
                            </m:sub>
                          </m:sSub>
                        </m:den>
                      </m:f>
                      <m:r>
                        <a:rPr lang="pt-BR" sz="2400" b="0" i="1" smtClean="0">
                          <a:latin typeface="Cambria Math" panose="02040503050406030204" pitchFamily="18" charset="0"/>
                        </a:rPr>
                        <m:t>, </m:t>
                      </m:r>
                      <m:r>
                        <a:rPr lang="pt-BR" sz="2400" b="0" i="1" smtClean="0">
                          <a:latin typeface="Cambria Math" panose="02040503050406030204" pitchFamily="18" charset="0"/>
                          <a:ea typeface="Cambria Math" panose="02040503050406030204" pitchFamily="18" charset="0"/>
                        </a:rPr>
                        <m:t>∀</m:t>
                      </m:r>
                      <m:r>
                        <a:rPr lang="pt-BR" sz="2400" b="0" i="1" smtClean="0">
                          <a:latin typeface="Cambria Math" panose="02040503050406030204" pitchFamily="18" charset="0"/>
                          <a:ea typeface="Cambria Math" panose="02040503050406030204" pitchFamily="18" charset="0"/>
                        </a:rPr>
                        <m:t>𝑞</m:t>
                      </m:r>
                      <m:r>
                        <a:rPr lang="pt-BR" sz="2400" b="0" i="1" smtClean="0">
                          <a:latin typeface="Cambria Math" panose="02040503050406030204" pitchFamily="18" charset="0"/>
                          <a:ea typeface="Cambria Math" panose="02040503050406030204" pitchFamily="18" charset="0"/>
                        </a:rPr>
                        <m:t>.</m:t>
                      </m:r>
                    </m:oMath>
                  </m:oMathPara>
                </a14:m>
                <a:endParaRPr lang="pt-BR" sz="2400" dirty="0"/>
              </a:p>
              <a:p>
                <a:r>
                  <a:rPr lang="pt-BR" dirty="0"/>
                  <a:t>Considerando o </a:t>
                </a:r>
                <a:r>
                  <a:rPr lang="pt-BR" b="1" dirty="0"/>
                  <a:t>hiperplano</a:t>
                </a:r>
                <a:r>
                  <a:rPr lang="pt-BR" dirty="0"/>
                  <a:t> como </a:t>
                </a:r>
                <a:r>
                  <a:rPr lang="pt-BR" b="1" dirty="0"/>
                  <a:t>função discriminante</a:t>
                </a:r>
                <a:r>
                  <a:rPr lang="pt-BR" dirty="0"/>
                  <a:t>, a derivada da </a:t>
                </a:r>
                <a:r>
                  <a:rPr lang="pt-BR" b="1" dirty="0"/>
                  <a:t>função de erro</a:t>
                </a:r>
                <a:r>
                  <a:rPr lang="pt-BR" dirty="0"/>
                  <a:t>,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i="1">
                            <a:latin typeface="Cambria Math" panose="02040503050406030204" pitchFamily="18" charset="0"/>
                          </a:rPr>
                        </m:ctrlPr>
                      </m:dPr>
                      <m:e>
                        <m:r>
                          <a:rPr lang="pt-BR" b="1" i="1">
                            <a:latin typeface="Cambria Math" panose="02040503050406030204" pitchFamily="18" charset="0"/>
                          </a:rPr>
                          <m:t>𝑨</m:t>
                        </m:r>
                      </m:e>
                    </m:d>
                  </m:oMath>
                </a14:m>
                <a:r>
                  <a:rPr lang="pt-BR" dirty="0"/>
                  <a:t>, com respeito ao vetor de pesos, </a:t>
                </a:r>
                <a14:m>
                  <m:oMath xmlns:m="http://schemas.openxmlformats.org/officeDocument/2006/math">
                    <m:sSub>
                      <m:sSubPr>
                        <m:ctrlPr>
                          <a:rPr lang="pt-BR" i="1">
                            <a:latin typeface="Cambria Math" panose="02040503050406030204" pitchFamily="18" charset="0"/>
                          </a:rPr>
                        </m:ctrlPr>
                      </m:sSubPr>
                      <m:e>
                        <m:r>
                          <a:rPr lang="pt-BR" b="1" i="1">
                            <a:latin typeface="Cambria Math" panose="02040503050406030204" pitchFamily="18" charset="0"/>
                          </a:rPr>
                          <m:t>𝒂</m:t>
                        </m:r>
                      </m:e>
                      <m:sub>
                        <m:r>
                          <a:rPr lang="pt-BR" i="1">
                            <a:latin typeface="Cambria Math" panose="02040503050406030204" pitchFamily="18" charset="0"/>
                          </a:rPr>
                          <m:t>𝑞</m:t>
                        </m:r>
                      </m:sub>
                    </m:sSub>
                  </m:oMath>
                </a14:m>
                <a:r>
                  <a:rPr lang="pt-BR" dirty="0"/>
                  <a:t>, é dada por</a:t>
                </a:r>
              </a:p>
              <a:p>
                <a:pPr marL="0" indent="0" algn="ctr">
                  <a:buNone/>
                </a:pPr>
                <a14:m>
                  <m:oMathPara xmlns:m="http://schemas.openxmlformats.org/officeDocument/2006/math">
                    <m:oMathParaPr>
                      <m:jc m:val="centerGroup"/>
                    </m:oMathParaPr>
                    <m:oMath xmlns:m="http://schemas.openxmlformats.org/officeDocument/2006/math">
                      <m:f>
                        <m:fPr>
                          <m:ctrlPr>
                            <a:rPr lang="pt-BR" sz="2400" i="1">
                              <a:latin typeface="Cambria Math" panose="02040503050406030204" pitchFamily="18" charset="0"/>
                            </a:rPr>
                          </m:ctrlPr>
                        </m:fPr>
                        <m:num>
                          <m:r>
                            <a:rPr lang="pt-BR" sz="2400" i="1">
                              <a:latin typeface="Cambria Math" panose="02040503050406030204" pitchFamily="18" charset="0"/>
                            </a:rPr>
                            <m:t>𝜕</m:t>
                          </m:r>
                          <m:sSub>
                            <m:sSubPr>
                              <m:ctrlPr>
                                <a:rPr lang="pt-BR" sz="2400" i="1">
                                  <a:latin typeface="Cambria Math" panose="02040503050406030204" pitchFamily="18" charset="0"/>
                                </a:rPr>
                              </m:ctrlPr>
                            </m:sSubPr>
                            <m:e>
                              <m:r>
                                <a:rPr lang="pt-BR" sz="2400" i="1">
                                  <a:latin typeface="Cambria Math" panose="02040503050406030204" pitchFamily="18" charset="0"/>
                                </a:rPr>
                                <m:t>𝐽</m:t>
                              </m:r>
                            </m:e>
                            <m:sub>
                              <m:r>
                                <a:rPr lang="pt-BR" sz="2400" i="1">
                                  <a:latin typeface="Cambria Math" panose="02040503050406030204" pitchFamily="18" charset="0"/>
                                </a:rPr>
                                <m:t>𝑒</m:t>
                              </m:r>
                            </m:sub>
                          </m:sSub>
                          <m:d>
                            <m:dPr>
                              <m:ctrlPr>
                                <a:rPr lang="pt-BR" sz="2400" i="1">
                                  <a:latin typeface="Cambria Math" panose="02040503050406030204" pitchFamily="18" charset="0"/>
                                </a:rPr>
                              </m:ctrlPr>
                            </m:dPr>
                            <m:e>
                              <m:r>
                                <a:rPr lang="pt-BR" sz="2400" b="1" i="1">
                                  <a:latin typeface="Cambria Math" panose="02040503050406030204" pitchFamily="18" charset="0"/>
                                </a:rPr>
                                <m:t>𝑨</m:t>
                              </m:r>
                            </m:e>
                          </m:d>
                        </m:num>
                        <m:den>
                          <m:r>
                            <a:rPr lang="pt-BR" sz="2400" i="1">
                              <a:latin typeface="Cambria Math" panose="02040503050406030204" pitchFamily="18" charset="0"/>
                            </a:rPr>
                            <m:t>𝜕</m:t>
                          </m:r>
                          <m:sSub>
                            <m:sSubPr>
                              <m:ctrlPr>
                                <a:rPr lang="pt-BR" sz="2400" i="1">
                                  <a:latin typeface="Cambria Math" panose="02040503050406030204" pitchFamily="18" charset="0"/>
                                </a:rPr>
                              </m:ctrlPr>
                            </m:sSubPr>
                            <m:e>
                              <m:r>
                                <a:rPr lang="pt-BR" sz="2400" b="1" i="1">
                                  <a:latin typeface="Cambria Math" panose="02040503050406030204" pitchFamily="18" charset="0"/>
                                </a:rPr>
                                <m:t>𝒂</m:t>
                              </m:r>
                            </m:e>
                            <m:sub>
                              <m:r>
                                <a:rPr lang="pt-BR" sz="2400" i="1">
                                  <a:latin typeface="Cambria Math" panose="02040503050406030204" pitchFamily="18" charset="0"/>
                                </a:rPr>
                                <m:t>𝑞</m:t>
                              </m:r>
                            </m:sub>
                          </m:sSub>
                        </m:den>
                      </m:f>
                      <m:r>
                        <a:rPr lang="pt-BR" sz="2400" b="1" i="1">
                          <a:latin typeface="Cambria Math" panose="02040503050406030204" pitchFamily="18" charset="0"/>
                        </a:rPr>
                        <m:t>=</m:t>
                      </m:r>
                      <m:r>
                        <a:rPr lang="pt-BR" sz="2400" i="1">
                          <a:latin typeface="Cambria Math" panose="02040503050406030204" pitchFamily="18" charset="0"/>
                        </a:rPr>
                        <m:t>−</m:t>
                      </m:r>
                      <m:f>
                        <m:fPr>
                          <m:ctrlPr>
                            <a:rPr lang="pt-BR" sz="2400" i="1">
                              <a:latin typeface="Cambria Math" panose="02040503050406030204" pitchFamily="18" charset="0"/>
                            </a:rPr>
                          </m:ctrlPr>
                        </m:fPr>
                        <m:num>
                          <m:r>
                            <a:rPr lang="pt-BR" sz="2400" i="1">
                              <a:latin typeface="Cambria Math" panose="02040503050406030204" pitchFamily="18" charset="0"/>
                            </a:rPr>
                            <m:t>1</m:t>
                          </m:r>
                        </m:num>
                        <m:den>
                          <m:r>
                            <a:rPr lang="pt-BR" sz="2400" i="1">
                              <a:latin typeface="Cambria Math" panose="02040503050406030204" pitchFamily="18" charset="0"/>
                            </a:rPr>
                            <m:t>𝑁</m:t>
                          </m:r>
                        </m:den>
                      </m:f>
                      <m:nary>
                        <m:naryPr>
                          <m:chr m:val="∑"/>
                          <m:ctrlPr>
                            <a:rPr lang="pt-BR" sz="2400" i="1">
                              <a:latin typeface="Cambria Math" panose="02040503050406030204" pitchFamily="18" charset="0"/>
                            </a:rPr>
                          </m:ctrlPr>
                        </m:naryPr>
                        <m:sub>
                          <m:r>
                            <a:rPr lang="pt-BR" sz="2400" b="0" i="1" smtClean="0">
                              <a:latin typeface="Cambria Math" panose="02040503050406030204" pitchFamily="18" charset="0"/>
                            </a:rPr>
                            <m:t>𝑛</m:t>
                          </m:r>
                          <m:r>
                            <a:rPr lang="pt-BR" sz="2400" i="1">
                              <a:latin typeface="Cambria Math" panose="02040503050406030204" pitchFamily="18" charset="0"/>
                            </a:rPr>
                            <m:t>=0</m:t>
                          </m:r>
                        </m:sub>
                        <m:sup>
                          <m:r>
                            <a:rPr lang="pt-BR" sz="2400" i="1">
                              <a:latin typeface="Cambria Math" panose="02040503050406030204" pitchFamily="18" charset="0"/>
                            </a:rPr>
                            <m:t>𝑁</m:t>
                          </m:r>
                          <m:r>
                            <a:rPr lang="pt-BR" sz="2400" i="1">
                              <a:latin typeface="Cambria Math" panose="02040503050406030204" pitchFamily="18" charset="0"/>
                            </a:rPr>
                            <m:t>−1</m:t>
                          </m:r>
                        </m:sup>
                        <m:e>
                          <m:d>
                            <m:dPr>
                              <m:begChr m:val="["/>
                              <m:endChr m:val="]"/>
                              <m:ctrlPr>
                                <a:rPr lang="pt-BR" sz="2400" i="1">
                                  <a:latin typeface="Cambria Math" panose="02040503050406030204" pitchFamily="18" charset="0"/>
                                </a:rPr>
                              </m:ctrlPr>
                            </m:dPr>
                            <m:e>
                              <m:r>
                                <a:rPr lang="pt-BR" sz="2400" i="1">
                                  <a:latin typeface="Cambria Math" panose="02040503050406030204" pitchFamily="18" charset="0"/>
                                </a:rPr>
                                <m:t>1</m:t>
                              </m:r>
                              <m:d>
                                <m:dPr>
                                  <m:begChr m:val="{"/>
                                  <m:endChr m:val="}"/>
                                  <m:ctrlPr>
                                    <a:rPr lang="pt-BR" sz="2400" i="1">
                                      <a:latin typeface="Cambria Math" panose="02040503050406030204" pitchFamily="18" charset="0"/>
                                    </a:rPr>
                                  </m:ctrlPr>
                                </m:dPr>
                                <m:e>
                                  <m:r>
                                    <a:rPr lang="pt-BR" sz="2400" i="1">
                                      <a:latin typeface="Cambria Math" panose="02040503050406030204" pitchFamily="18" charset="0"/>
                                    </a:rPr>
                                    <m:t>𝑦</m:t>
                                  </m:r>
                                  <m:d>
                                    <m:dPr>
                                      <m:ctrlPr>
                                        <a:rPr lang="pt-BR" sz="2400" i="1">
                                          <a:latin typeface="Cambria Math" panose="02040503050406030204" pitchFamily="18" charset="0"/>
                                        </a:rPr>
                                      </m:ctrlPr>
                                    </m:dPr>
                                    <m:e>
                                      <m:r>
                                        <a:rPr lang="pt-BR" sz="2400" b="0" i="1" smtClean="0">
                                          <a:latin typeface="Cambria Math" panose="02040503050406030204" pitchFamily="18" charset="0"/>
                                        </a:rPr>
                                        <m:t>𝑛</m:t>
                                      </m:r>
                                    </m:e>
                                  </m:d>
                                  <m:r>
                                    <a:rPr lang="pt-BR" sz="2400" i="1">
                                      <a:latin typeface="Cambria Math" panose="02040503050406030204" pitchFamily="18" charset="0"/>
                                    </a:rPr>
                                    <m:t>==</m:t>
                                  </m:r>
                                  <m:r>
                                    <a:rPr lang="pt-BR" sz="2400" b="0" i="1" smtClean="0">
                                      <a:latin typeface="Cambria Math" panose="02040503050406030204" pitchFamily="18" charset="0"/>
                                    </a:rPr>
                                    <m:t>𝑞</m:t>
                                  </m:r>
                                </m:e>
                              </m:d>
                              <m:r>
                                <a:rPr lang="pt-BR" sz="2400" i="1">
                                  <a:latin typeface="Cambria Math" panose="02040503050406030204" pitchFamily="18" charset="0"/>
                                </a:rPr>
                                <m:t>−</m:t>
                              </m:r>
                              <m:sSubSup>
                                <m:sSubSupPr>
                                  <m:ctrlPr>
                                    <a:rPr lang="pt-BR" sz="2400" b="1" i="1">
                                      <a:latin typeface="Cambria Math" panose="02040503050406030204" pitchFamily="18" charset="0"/>
                                    </a:rPr>
                                  </m:ctrlPr>
                                </m:sSubSupPr>
                                <m:e>
                                  <m:r>
                                    <a:rPr lang="pt-BR" sz="2400" i="1">
                                      <a:latin typeface="Cambria Math" panose="02040503050406030204" pitchFamily="18" charset="0"/>
                                    </a:rPr>
                                    <m:t>h</m:t>
                                  </m:r>
                                </m:e>
                                <m:sub>
                                  <m:r>
                                    <a:rPr lang="pt-BR" sz="2400" b="1" i="1">
                                      <a:latin typeface="Cambria Math" panose="02040503050406030204" pitchFamily="18" charset="0"/>
                                    </a:rPr>
                                    <m:t>𝒂</m:t>
                                  </m:r>
                                </m:sub>
                                <m:sup>
                                  <m:r>
                                    <a:rPr lang="pt-BR" sz="2400" i="1">
                                      <a:latin typeface="Cambria Math" panose="02040503050406030204" pitchFamily="18" charset="0"/>
                                    </a:rPr>
                                    <m:t>𝑞</m:t>
                                  </m:r>
                                </m:sup>
                              </m:sSubSup>
                              <m:d>
                                <m:dPr>
                                  <m:ctrlPr>
                                    <a:rPr lang="pt-BR" sz="2400" i="1">
                                      <a:latin typeface="Cambria Math" panose="02040503050406030204" pitchFamily="18" charset="0"/>
                                    </a:rPr>
                                  </m:ctrlPr>
                                </m:dPr>
                                <m:e>
                                  <m:r>
                                    <a:rPr lang="pt-BR" sz="2400" b="1" i="1">
                                      <a:latin typeface="Cambria Math" panose="02040503050406030204" pitchFamily="18" charset="0"/>
                                    </a:rPr>
                                    <m:t>𝒙</m:t>
                                  </m:r>
                                  <m:d>
                                    <m:dPr>
                                      <m:ctrlPr>
                                        <a:rPr lang="pt-BR" sz="2400" b="1" i="1">
                                          <a:latin typeface="Cambria Math" panose="02040503050406030204" pitchFamily="18" charset="0"/>
                                        </a:rPr>
                                      </m:ctrlPr>
                                    </m:dPr>
                                    <m:e>
                                      <m:r>
                                        <a:rPr lang="pt-BR" sz="2400" b="0" i="1" smtClean="0">
                                          <a:latin typeface="Cambria Math" panose="02040503050406030204" pitchFamily="18" charset="0"/>
                                        </a:rPr>
                                        <m:t>𝑛</m:t>
                                      </m:r>
                                    </m:e>
                                  </m:d>
                                </m:e>
                              </m:d>
                            </m:e>
                          </m:d>
                          <m:r>
                            <a:rPr lang="pt-BR" sz="2400" b="1" i="1">
                              <a:latin typeface="Cambria Math" panose="02040503050406030204" pitchFamily="18" charset="0"/>
                            </a:rPr>
                            <m:t>𝒙</m:t>
                          </m:r>
                          <m:d>
                            <m:dPr>
                              <m:ctrlPr>
                                <a:rPr lang="pt-BR" sz="2400" b="1" i="1">
                                  <a:latin typeface="Cambria Math" panose="02040503050406030204" pitchFamily="18" charset="0"/>
                                </a:rPr>
                              </m:ctrlPr>
                            </m:dPr>
                            <m:e>
                              <m:r>
                                <a:rPr lang="pt-BR" sz="2400" b="0" i="1" smtClean="0">
                                  <a:latin typeface="Cambria Math" panose="02040503050406030204" pitchFamily="18" charset="0"/>
                                </a:rPr>
                                <m:t>𝑛</m:t>
                              </m:r>
                            </m:e>
                          </m:d>
                        </m:e>
                      </m:nary>
                      <m:r>
                        <a:rPr lang="pt-BR" sz="2400" i="1">
                          <a:latin typeface="Cambria Math" panose="02040503050406030204" pitchFamily="18" charset="0"/>
                        </a:rPr>
                        <m:t>=</m:t>
                      </m:r>
                      <m:sSup>
                        <m:sSupPr>
                          <m:ctrlPr>
                            <a:rPr lang="pt-BR" sz="2400" i="1">
                              <a:latin typeface="Cambria Math" panose="02040503050406030204" pitchFamily="18" charset="0"/>
                            </a:rPr>
                          </m:ctrlPr>
                        </m:sSupPr>
                        <m:e>
                          <m:r>
                            <a:rPr lang="pt-BR" sz="2400" i="1">
                              <a:latin typeface="Cambria Math" panose="02040503050406030204" pitchFamily="18" charset="0"/>
                            </a:rPr>
                            <m:t>−</m:t>
                          </m:r>
                          <m:f>
                            <m:fPr>
                              <m:ctrlPr>
                                <a:rPr lang="pt-BR" sz="2400" i="1">
                                  <a:latin typeface="Cambria Math" panose="02040503050406030204" pitchFamily="18" charset="0"/>
                                </a:rPr>
                              </m:ctrlPr>
                            </m:fPr>
                            <m:num>
                              <m:r>
                                <a:rPr lang="pt-BR" sz="2400" i="1">
                                  <a:latin typeface="Cambria Math" panose="02040503050406030204" pitchFamily="18" charset="0"/>
                                </a:rPr>
                                <m:t>1</m:t>
                              </m:r>
                            </m:num>
                            <m:den>
                              <m:r>
                                <a:rPr lang="pt-BR" sz="2400" i="1">
                                  <a:latin typeface="Cambria Math" panose="02040503050406030204" pitchFamily="18" charset="0"/>
                                </a:rPr>
                                <m:t>𝑁</m:t>
                              </m:r>
                            </m:den>
                          </m:f>
                          <m:r>
                            <a:rPr lang="pt-BR" sz="2400" b="1" i="1">
                              <a:latin typeface="Cambria Math" panose="02040503050406030204" pitchFamily="18" charset="0"/>
                            </a:rPr>
                            <m:t>𝑿</m:t>
                          </m:r>
                        </m:e>
                        <m:sup>
                          <m:r>
                            <a:rPr lang="pt-BR" sz="2400" i="1">
                              <a:latin typeface="Cambria Math" panose="02040503050406030204" pitchFamily="18" charset="0"/>
                            </a:rPr>
                            <m:t>𝑇</m:t>
                          </m:r>
                        </m:sup>
                      </m:sSup>
                      <m:d>
                        <m:dPr>
                          <m:ctrlPr>
                            <a:rPr lang="pt-BR" sz="2400" i="1">
                              <a:latin typeface="Cambria Math" panose="02040503050406030204" pitchFamily="18" charset="0"/>
                            </a:rPr>
                          </m:ctrlPr>
                        </m:dPr>
                        <m:e>
                          <m:sSub>
                            <m:sSubPr>
                              <m:ctrlPr>
                                <a:rPr lang="pt-BR" sz="2400" i="1" smtClean="0">
                                  <a:latin typeface="Cambria Math" panose="02040503050406030204" pitchFamily="18" charset="0"/>
                                </a:rPr>
                              </m:ctrlPr>
                            </m:sSubPr>
                            <m:e>
                              <m:r>
                                <a:rPr lang="pt-BR" sz="2400" b="1" i="1">
                                  <a:latin typeface="Cambria Math" panose="02040503050406030204" pitchFamily="18" charset="0"/>
                                </a:rPr>
                                <m:t>𝒚</m:t>
                              </m:r>
                            </m:e>
                            <m:sub>
                              <m:r>
                                <a:rPr lang="pt-BR" sz="2400" b="0" i="1" smtClean="0">
                                  <a:latin typeface="Cambria Math" panose="02040503050406030204" pitchFamily="18" charset="0"/>
                                </a:rPr>
                                <m:t>𝑞</m:t>
                              </m:r>
                            </m:sub>
                          </m:sSub>
                          <m:r>
                            <a:rPr lang="pt-BR" sz="2400" i="1">
                              <a:latin typeface="Cambria Math" panose="02040503050406030204" pitchFamily="18" charset="0"/>
                            </a:rPr>
                            <m:t>−</m:t>
                          </m:r>
                          <m:sSub>
                            <m:sSubPr>
                              <m:ctrlPr>
                                <a:rPr lang="pt-BR" sz="2400" i="1" smtClean="0">
                                  <a:latin typeface="Cambria Math" panose="02040503050406030204" pitchFamily="18" charset="0"/>
                                </a:rPr>
                              </m:ctrlPr>
                            </m:sSubPr>
                            <m:e>
                              <m:acc>
                                <m:accPr>
                                  <m:chr m:val="̂"/>
                                  <m:ctrlPr>
                                    <a:rPr lang="pt-BR" sz="2400" i="1">
                                      <a:latin typeface="Cambria Math" panose="02040503050406030204" pitchFamily="18" charset="0"/>
                                    </a:rPr>
                                  </m:ctrlPr>
                                </m:accPr>
                                <m:e>
                                  <m:r>
                                    <a:rPr lang="pt-BR" sz="2400" b="1" i="1">
                                      <a:latin typeface="Cambria Math" panose="02040503050406030204" pitchFamily="18" charset="0"/>
                                    </a:rPr>
                                    <m:t>𝒚</m:t>
                                  </m:r>
                                </m:e>
                              </m:acc>
                            </m:e>
                            <m:sub>
                              <m:r>
                                <a:rPr lang="pt-BR" sz="2400" b="0" i="1" smtClean="0">
                                  <a:latin typeface="Cambria Math" panose="02040503050406030204" pitchFamily="18" charset="0"/>
                                </a:rPr>
                                <m:t>𝑞</m:t>
                              </m:r>
                            </m:sub>
                          </m:sSub>
                        </m:e>
                      </m:d>
                      <m:r>
                        <a:rPr lang="pt-BR" dirty="0">
                          <a:latin typeface="Cambria Math" panose="02040503050406030204" pitchFamily="18" charset="0"/>
                          <a:ea typeface="Cambria Math" panose="02040503050406030204" pitchFamily="18" charset="0"/>
                        </a:rPr>
                        <m:t>∈</m:t>
                      </m:r>
                      <m:sSup>
                        <m:sSupPr>
                          <m:ctrlPr>
                            <a:rPr lang="pt-BR" i="1" dirty="0">
                              <a:latin typeface="Cambria Math" panose="02040503050406030204" pitchFamily="18" charset="0"/>
                              <a:ea typeface="Cambria Math" panose="02040503050406030204" pitchFamily="18" charset="0"/>
                            </a:rPr>
                          </m:ctrlPr>
                        </m:sSupPr>
                        <m:e>
                          <m:r>
                            <a:rPr lang="pt-BR" i="1" dirty="0">
                              <a:latin typeface="Cambria Math" panose="02040503050406030204" pitchFamily="18" charset="0"/>
                              <a:ea typeface="Cambria Math" panose="02040503050406030204" pitchFamily="18" charset="0"/>
                            </a:rPr>
                            <m:t>ℝ</m:t>
                          </m:r>
                        </m:e>
                        <m:sup>
                          <m:r>
                            <a:rPr lang="pt-BR" i="1" dirty="0">
                              <a:latin typeface="Cambria Math" panose="02040503050406030204" pitchFamily="18" charset="0"/>
                              <a:ea typeface="Cambria Math" panose="02040503050406030204" pitchFamily="18" charset="0"/>
                            </a:rPr>
                            <m:t>𝐾</m:t>
                          </m:r>
                          <m:r>
                            <a:rPr lang="pt-BR" i="1" dirty="0">
                              <a:latin typeface="Cambria Math" panose="02040503050406030204" pitchFamily="18" charset="0"/>
                              <a:ea typeface="Cambria Math" panose="02040503050406030204" pitchFamily="18" charset="0"/>
                            </a:rPr>
                            <m:t>+1×1</m:t>
                          </m:r>
                        </m:sup>
                      </m:sSup>
                      <m:r>
                        <a:rPr lang="pt-BR" sz="2400" b="0" i="1" smtClean="0">
                          <a:latin typeface="Cambria Math" panose="02040503050406030204" pitchFamily="18" charset="0"/>
                        </a:rPr>
                        <m:t>,</m:t>
                      </m:r>
                    </m:oMath>
                  </m:oMathPara>
                </a14:m>
                <a:endParaRPr lang="pt-BR" b="0" i="0" dirty="0">
                  <a:latin typeface="Calibri" panose="020F0502020204030204" pitchFamily="34" charset="0"/>
                </a:endParaRPr>
              </a:p>
              <a:p>
                <a:pPr marL="0" indent="0">
                  <a:buNone/>
                </a:pPr>
                <a:r>
                  <a:rPr lang="pt-BR" sz="2800" b="0" i="0" dirty="0">
                    <a:solidFill>
                      <a:srgbClr val="000000"/>
                    </a:solidFill>
                    <a:effectLst/>
                    <a:latin typeface="Calibri" panose="020F0502020204030204" pitchFamily="34" charset="0"/>
                  </a:rPr>
                  <a:t>onde </a:t>
                </a:r>
                <a14:m>
                  <m:oMath xmlns:m="http://schemas.openxmlformats.org/officeDocument/2006/math">
                    <m:sSub>
                      <m:sSubPr>
                        <m:ctrlPr>
                          <a:rPr lang="pt-BR" sz="2800" i="1" smtClean="0">
                            <a:latin typeface="Cambria Math" panose="02040503050406030204" pitchFamily="18" charset="0"/>
                          </a:rPr>
                        </m:ctrlPr>
                      </m:sSubPr>
                      <m:e>
                        <m:r>
                          <a:rPr lang="pt-BR" sz="2800" b="1" i="1">
                            <a:latin typeface="Cambria Math" panose="02040503050406030204" pitchFamily="18" charset="0"/>
                          </a:rPr>
                          <m:t>𝒚</m:t>
                        </m:r>
                      </m:e>
                      <m:sub>
                        <m:r>
                          <a:rPr lang="pt-BR" sz="2800" b="0" i="1" smtClean="0">
                            <a:latin typeface="Cambria Math" panose="02040503050406030204" pitchFamily="18" charset="0"/>
                          </a:rPr>
                          <m:t>𝑞</m:t>
                        </m:r>
                      </m:sub>
                    </m:sSub>
                  </m:oMath>
                </a14:m>
                <a:r>
                  <a:rPr lang="pt-BR" sz="2800" b="0" i="0" dirty="0">
                    <a:solidFill>
                      <a:srgbClr val="000000"/>
                    </a:solidFill>
                    <a:effectLst/>
                    <a:latin typeface="CambriaMath"/>
                  </a:rPr>
                  <a:t> </a:t>
                </a:r>
                <a:r>
                  <a:rPr lang="pt-BR" sz="2800" b="0" i="0" dirty="0">
                    <a:solidFill>
                      <a:srgbClr val="000000"/>
                    </a:solidFill>
                    <a:effectLst/>
                    <a:latin typeface="Calibri" panose="020F0502020204030204" pitchFamily="34" charset="0"/>
                  </a:rPr>
                  <a:t>e </a:t>
                </a:r>
                <a14:m>
                  <m:oMath xmlns:m="http://schemas.openxmlformats.org/officeDocument/2006/math">
                    <m:sSub>
                      <m:sSubPr>
                        <m:ctrlPr>
                          <a:rPr lang="pt-BR" sz="2800" i="1">
                            <a:latin typeface="Cambria Math" panose="02040503050406030204" pitchFamily="18" charset="0"/>
                          </a:rPr>
                        </m:ctrlPr>
                      </m:sSubPr>
                      <m:e>
                        <m:acc>
                          <m:accPr>
                            <m:chr m:val="̂"/>
                            <m:ctrlPr>
                              <a:rPr lang="pt-BR" sz="2800" i="1">
                                <a:latin typeface="Cambria Math" panose="02040503050406030204" pitchFamily="18" charset="0"/>
                              </a:rPr>
                            </m:ctrlPr>
                          </m:accPr>
                          <m:e>
                            <m:r>
                              <a:rPr lang="pt-BR" sz="2800" b="1" i="1">
                                <a:latin typeface="Cambria Math" panose="02040503050406030204" pitchFamily="18" charset="0"/>
                              </a:rPr>
                              <m:t>𝒚</m:t>
                            </m:r>
                          </m:e>
                        </m:acc>
                      </m:e>
                      <m:sub>
                        <m:r>
                          <a:rPr lang="pt-BR" sz="2800" i="1">
                            <a:latin typeface="Cambria Math" panose="02040503050406030204" pitchFamily="18" charset="0"/>
                          </a:rPr>
                          <m:t>𝑞</m:t>
                        </m:r>
                      </m:sub>
                    </m:sSub>
                    <m:r>
                      <a:rPr lang="pt-BR" sz="2800" i="1" smtClean="0">
                        <a:latin typeface="Cambria Math" panose="02040503050406030204" pitchFamily="18" charset="0"/>
                        <a:ea typeface="Cambria Math" panose="02040503050406030204" pitchFamily="18" charset="0"/>
                      </a:rPr>
                      <m:t>∈</m:t>
                    </m:r>
                    <m:sSup>
                      <m:sSupPr>
                        <m:ctrlPr>
                          <a:rPr lang="pt-BR" i="1" dirty="0">
                            <a:latin typeface="Cambria Math" panose="02040503050406030204" pitchFamily="18" charset="0"/>
                            <a:ea typeface="Cambria Math" panose="02040503050406030204" pitchFamily="18" charset="0"/>
                          </a:rPr>
                        </m:ctrlPr>
                      </m:sSupPr>
                      <m:e>
                        <m:r>
                          <a:rPr lang="pt-BR" i="1" dirty="0">
                            <a:latin typeface="Cambria Math" panose="02040503050406030204" pitchFamily="18" charset="0"/>
                            <a:ea typeface="Cambria Math" panose="02040503050406030204" pitchFamily="18" charset="0"/>
                          </a:rPr>
                          <m:t>ℝ</m:t>
                        </m:r>
                      </m:e>
                      <m:sup>
                        <m:r>
                          <a:rPr lang="pt-BR" b="0" i="1" dirty="0" smtClean="0">
                            <a:latin typeface="Cambria Math" panose="02040503050406030204" pitchFamily="18" charset="0"/>
                            <a:ea typeface="Cambria Math" panose="02040503050406030204" pitchFamily="18" charset="0"/>
                          </a:rPr>
                          <m:t>𝑁</m:t>
                        </m:r>
                        <m:r>
                          <a:rPr lang="pt-BR" i="1" dirty="0">
                            <a:latin typeface="Cambria Math" panose="02040503050406030204" pitchFamily="18" charset="0"/>
                            <a:ea typeface="Cambria Math" panose="02040503050406030204" pitchFamily="18" charset="0"/>
                          </a:rPr>
                          <m:t>×1</m:t>
                        </m:r>
                      </m:sup>
                    </m:sSup>
                  </m:oMath>
                </a14:m>
                <a:r>
                  <a:rPr lang="pt-BR" sz="2800" b="0" i="0" dirty="0">
                    <a:solidFill>
                      <a:srgbClr val="000000"/>
                    </a:solidFill>
                    <a:effectLst/>
                    <a:latin typeface="Calibri" panose="020F0502020204030204" pitchFamily="34" charset="0"/>
                  </a:rPr>
                  <a:t>são vetores </a:t>
                </a:r>
                <a:r>
                  <a:rPr lang="pt-BR" dirty="0"/>
                  <a:t>contendo os </a:t>
                </a:r>
                <a14:m>
                  <m:oMath xmlns:m="http://schemas.openxmlformats.org/officeDocument/2006/math">
                    <m:r>
                      <a:rPr lang="pt-BR" i="1">
                        <a:latin typeface="Cambria Math" panose="02040503050406030204" pitchFamily="18" charset="0"/>
                      </a:rPr>
                      <m:t>𝑞</m:t>
                    </m:r>
                  </m:oMath>
                </a14:m>
                <a:r>
                  <a:rPr lang="pt-BR" dirty="0"/>
                  <a:t>-</a:t>
                </a:r>
                <a:r>
                  <a:rPr lang="pt-BR" dirty="0" err="1"/>
                  <a:t>ésimos</a:t>
                </a:r>
                <a:r>
                  <a:rPr lang="pt-BR" dirty="0"/>
                  <a:t> elementos dos vetores </a:t>
                </a:r>
                <a:r>
                  <a:rPr lang="pt-BR" i="1" dirty="0" err="1"/>
                  <a:t>one</a:t>
                </a:r>
                <a:r>
                  <a:rPr lang="pt-BR" i="1" dirty="0"/>
                  <a:t>-hot</a:t>
                </a:r>
                <a:r>
                  <a:rPr lang="pt-BR" dirty="0"/>
                  <a:t> e de saída do regressor </a:t>
                </a:r>
                <a:r>
                  <a:rPr lang="pt-BR" i="1" dirty="0"/>
                  <a:t>softmax</a:t>
                </a:r>
                <a:r>
                  <a:rPr lang="pt-BR" dirty="0"/>
                  <a:t> para todos os </a:t>
                </a:r>
                <a14:m>
                  <m:oMath xmlns:m="http://schemas.openxmlformats.org/officeDocument/2006/math">
                    <m:r>
                      <a:rPr lang="pt-BR" i="1">
                        <a:latin typeface="Cambria Math" panose="02040503050406030204" pitchFamily="18" charset="0"/>
                      </a:rPr>
                      <m:t>𝑁</m:t>
                    </m:r>
                  </m:oMath>
                </a14:m>
                <a:r>
                  <a:rPr lang="pt-BR" dirty="0"/>
                  <a:t> vetores de atributos, respectivamente.</a:t>
                </a:r>
              </a:p>
            </p:txBody>
          </p:sp>
        </mc:Choice>
        <mc:Fallback xmlns="">
          <p:sp>
            <p:nvSpPr>
              <p:cNvPr id="3" name="Espaço Reservado para Conteúdo 2">
                <a:extLst>
                  <a:ext uri="{FF2B5EF4-FFF2-40B4-BE49-F238E27FC236}">
                    <a16:creationId xmlns:a16="http://schemas.microsoft.com/office/drawing/2014/main" id="{1D38055D-E355-F780-9CA0-0337EA0BE4FD}"/>
                  </a:ext>
                </a:extLst>
              </p:cNvPr>
              <p:cNvSpPr>
                <a:spLocks noGrp="1" noRot="1" noChangeAspect="1" noMove="1" noResize="1" noEditPoints="1" noAdjustHandles="1" noChangeArrowheads="1" noChangeShapeType="1" noTextEdit="1"/>
              </p:cNvSpPr>
              <p:nvPr>
                <p:ph idx="1"/>
              </p:nvPr>
            </p:nvSpPr>
            <p:spPr>
              <a:xfrm>
                <a:off x="838199" y="1825625"/>
                <a:ext cx="11353801" cy="5032375"/>
              </a:xfrm>
              <a:blipFill>
                <a:blip r:embed="rId3"/>
                <a:stretch>
                  <a:fillRect l="-1074" t="-1695"/>
                </a:stretch>
              </a:blipFill>
            </p:spPr>
            <p:txBody>
              <a:bodyPr/>
              <a:lstStyle/>
              <a:p>
                <a:r>
                  <a:rPr lang="en-US">
                    <a:noFill/>
                  </a:rPr>
                  <a:t> </a:t>
                </a:r>
              </a:p>
            </p:txBody>
          </p:sp>
        </mc:Fallback>
      </mc:AlternateContent>
    </p:spTree>
    <p:extLst>
      <p:ext uri="{BB962C8B-B14F-4D97-AF65-F5344CB8AC3E}">
        <p14:creationId xmlns:p14="http://schemas.microsoft.com/office/powerpoint/2010/main" val="33797865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01D0947A-594D-A8D5-95F3-38EB04C6BDB6}"/>
              </a:ext>
            </a:extLst>
          </p:cNvPr>
          <p:cNvSpPr>
            <a:spLocks noGrp="1"/>
          </p:cNvSpPr>
          <p:nvPr>
            <p:ph type="title"/>
          </p:nvPr>
        </p:nvSpPr>
        <p:spPr/>
        <p:txBody>
          <a:bodyPr/>
          <a:lstStyle/>
          <a:p>
            <a:r>
              <a:rPr lang="pt-BR" dirty="0"/>
              <a:t>Regressor </a:t>
            </a:r>
            <a:r>
              <a:rPr lang="pt-BR" i="1" dirty="0"/>
              <a:t>softmax</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xmlns="" id="{DDBA288E-BBB8-E157-840C-AA685AD7D65C}"/>
                  </a:ext>
                </a:extLst>
              </p:cNvPr>
              <p:cNvSpPr>
                <a:spLocks noGrp="1"/>
              </p:cNvSpPr>
              <p:nvPr>
                <p:ph idx="1"/>
              </p:nvPr>
            </p:nvSpPr>
            <p:spPr>
              <a:xfrm>
                <a:off x="838200" y="1840864"/>
                <a:ext cx="11257230" cy="5032375"/>
              </a:xfrm>
            </p:spPr>
            <p:txBody>
              <a:bodyPr>
                <a:normAutofit/>
              </a:bodyPr>
              <a:lstStyle/>
              <a:p>
                <a:pPr marL="0" indent="0">
                  <a:buNone/>
                </a:pPr>
                <a14:m>
                  <m:oMathPara xmlns:m="http://schemas.openxmlformats.org/officeDocument/2006/math">
                    <m:oMathParaPr>
                      <m:jc m:val="centerGroup"/>
                    </m:oMathParaPr>
                    <m:oMath xmlns:m="http://schemas.openxmlformats.org/officeDocument/2006/math">
                      <m:f>
                        <m:fPr>
                          <m:ctrlPr>
                            <a:rPr lang="pt-BR" sz="2800" i="1" smtClean="0">
                              <a:latin typeface="Cambria Math" panose="02040503050406030204" pitchFamily="18" charset="0"/>
                            </a:rPr>
                          </m:ctrlPr>
                        </m:fPr>
                        <m:num>
                          <m:r>
                            <a:rPr lang="pt-BR" sz="2800" i="1">
                              <a:latin typeface="Cambria Math" panose="02040503050406030204" pitchFamily="18" charset="0"/>
                            </a:rPr>
                            <m:t>𝜕</m:t>
                          </m:r>
                          <m:sSub>
                            <m:sSubPr>
                              <m:ctrlPr>
                                <a:rPr lang="pt-BR" sz="2800" i="1">
                                  <a:latin typeface="Cambria Math" panose="02040503050406030204" pitchFamily="18" charset="0"/>
                                </a:rPr>
                              </m:ctrlPr>
                            </m:sSubPr>
                            <m:e>
                              <m:r>
                                <a:rPr lang="pt-BR" sz="2800" i="1">
                                  <a:latin typeface="Cambria Math" panose="02040503050406030204" pitchFamily="18" charset="0"/>
                                </a:rPr>
                                <m:t>𝐽</m:t>
                              </m:r>
                            </m:e>
                            <m:sub>
                              <m:r>
                                <a:rPr lang="pt-BR" sz="2800" i="1">
                                  <a:latin typeface="Cambria Math" panose="02040503050406030204" pitchFamily="18" charset="0"/>
                                </a:rPr>
                                <m:t>𝑒</m:t>
                              </m:r>
                            </m:sub>
                          </m:sSub>
                          <m:d>
                            <m:dPr>
                              <m:ctrlPr>
                                <a:rPr lang="pt-BR" sz="2800" i="1">
                                  <a:latin typeface="Cambria Math" panose="02040503050406030204" pitchFamily="18" charset="0"/>
                                </a:rPr>
                              </m:ctrlPr>
                            </m:dPr>
                            <m:e>
                              <m:r>
                                <a:rPr lang="pt-BR" sz="2800" b="1" i="1">
                                  <a:latin typeface="Cambria Math" panose="02040503050406030204" pitchFamily="18" charset="0"/>
                                </a:rPr>
                                <m:t>𝑨</m:t>
                              </m:r>
                            </m:e>
                          </m:d>
                        </m:num>
                        <m:den>
                          <m:r>
                            <a:rPr lang="pt-BR" sz="2800" i="1">
                              <a:latin typeface="Cambria Math" panose="02040503050406030204" pitchFamily="18" charset="0"/>
                            </a:rPr>
                            <m:t>𝜕</m:t>
                          </m:r>
                          <m:sSub>
                            <m:sSubPr>
                              <m:ctrlPr>
                                <a:rPr lang="pt-BR" sz="2800" i="1">
                                  <a:latin typeface="Cambria Math" panose="02040503050406030204" pitchFamily="18" charset="0"/>
                                </a:rPr>
                              </m:ctrlPr>
                            </m:sSubPr>
                            <m:e>
                              <m:r>
                                <a:rPr lang="pt-BR" sz="2800" b="1" i="1">
                                  <a:latin typeface="Cambria Math" panose="02040503050406030204" pitchFamily="18" charset="0"/>
                                </a:rPr>
                                <m:t>𝒂</m:t>
                              </m:r>
                            </m:e>
                            <m:sub>
                              <m:r>
                                <a:rPr lang="pt-BR" sz="2800" i="1">
                                  <a:latin typeface="Cambria Math" panose="02040503050406030204" pitchFamily="18" charset="0"/>
                                </a:rPr>
                                <m:t>𝑞</m:t>
                              </m:r>
                            </m:sub>
                          </m:sSub>
                        </m:den>
                      </m:f>
                      <m:r>
                        <a:rPr lang="pt-BR" sz="2800" i="1">
                          <a:latin typeface="Cambria Math" panose="02040503050406030204" pitchFamily="18" charset="0"/>
                        </a:rPr>
                        <m:t>=</m:t>
                      </m:r>
                      <m:sSup>
                        <m:sSupPr>
                          <m:ctrlPr>
                            <a:rPr lang="pt-BR" sz="2800" i="1">
                              <a:latin typeface="Cambria Math" panose="02040503050406030204" pitchFamily="18" charset="0"/>
                            </a:rPr>
                          </m:ctrlPr>
                        </m:sSupPr>
                        <m:e>
                          <m:r>
                            <a:rPr lang="pt-BR" sz="2800" i="1">
                              <a:latin typeface="Cambria Math" panose="02040503050406030204" pitchFamily="18" charset="0"/>
                            </a:rPr>
                            <m:t>−</m:t>
                          </m:r>
                          <m:f>
                            <m:fPr>
                              <m:ctrlPr>
                                <a:rPr lang="pt-BR" sz="2800" i="1">
                                  <a:latin typeface="Cambria Math" panose="02040503050406030204" pitchFamily="18" charset="0"/>
                                </a:rPr>
                              </m:ctrlPr>
                            </m:fPr>
                            <m:num>
                              <m:r>
                                <a:rPr lang="pt-BR" sz="2800" i="1">
                                  <a:latin typeface="Cambria Math" panose="02040503050406030204" pitchFamily="18" charset="0"/>
                                </a:rPr>
                                <m:t>1</m:t>
                              </m:r>
                            </m:num>
                            <m:den>
                              <m:r>
                                <a:rPr lang="pt-BR" sz="2800" i="1">
                                  <a:latin typeface="Cambria Math" panose="02040503050406030204" pitchFamily="18" charset="0"/>
                                </a:rPr>
                                <m:t>𝑁</m:t>
                              </m:r>
                            </m:den>
                          </m:f>
                          <m:r>
                            <a:rPr lang="pt-BR" sz="2800" b="1" i="1">
                              <a:latin typeface="Cambria Math" panose="02040503050406030204" pitchFamily="18" charset="0"/>
                            </a:rPr>
                            <m:t>𝑿</m:t>
                          </m:r>
                        </m:e>
                        <m:sup>
                          <m:r>
                            <a:rPr lang="pt-BR" sz="2800" i="1">
                              <a:latin typeface="Cambria Math" panose="02040503050406030204" pitchFamily="18" charset="0"/>
                            </a:rPr>
                            <m:t>𝑇</m:t>
                          </m:r>
                        </m:sup>
                      </m:sSup>
                      <m:d>
                        <m:dPr>
                          <m:ctrlPr>
                            <a:rPr lang="pt-BR" sz="2800" i="1">
                              <a:latin typeface="Cambria Math" panose="02040503050406030204" pitchFamily="18" charset="0"/>
                            </a:rPr>
                          </m:ctrlPr>
                        </m:dPr>
                        <m:e>
                          <m:sSub>
                            <m:sSubPr>
                              <m:ctrlPr>
                                <a:rPr lang="pt-BR" sz="2800" i="1" smtClean="0">
                                  <a:latin typeface="Cambria Math" panose="02040503050406030204" pitchFamily="18" charset="0"/>
                                </a:rPr>
                              </m:ctrlPr>
                            </m:sSubPr>
                            <m:e>
                              <m:r>
                                <a:rPr lang="pt-BR" sz="2800" b="1" i="1">
                                  <a:latin typeface="Cambria Math" panose="02040503050406030204" pitchFamily="18" charset="0"/>
                                </a:rPr>
                                <m:t>𝒚</m:t>
                              </m:r>
                            </m:e>
                            <m:sub>
                              <m:r>
                                <a:rPr lang="pt-BR" sz="2800" b="0" i="1" smtClean="0">
                                  <a:latin typeface="Cambria Math" panose="02040503050406030204" pitchFamily="18" charset="0"/>
                                </a:rPr>
                                <m:t>𝑞</m:t>
                              </m:r>
                            </m:sub>
                          </m:sSub>
                          <m:r>
                            <a:rPr lang="pt-BR" sz="2800" i="1">
                              <a:latin typeface="Cambria Math" panose="02040503050406030204" pitchFamily="18" charset="0"/>
                            </a:rPr>
                            <m:t>−</m:t>
                          </m:r>
                          <m:sSub>
                            <m:sSubPr>
                              <m:ctrlPr>
                                <a:rPr lang="pt-BR" sz="2800" i="1" smtClean="0">
                                  <a:latin typeface="Cambria Math" panose="02040503050406030204" pitchFamily="18" charset="0"/>
                                </a:rPr>
                              </m:ctrlPr>
                            </m:sSubPr>
                            <m:e>
                              <m:acc>
                                <m:accPr>
                                  <m:chr m:val="̂"/>
                                  <m:ctrlPr>
                                    <a:rPr lang="pt-BR" sz="2800" i="1">
                                      <a:latin typeface="Cambria Math" panose="02040503050406030204" pitchFamily="18" charset="0"/>
                                    </a:rPr>
                                  </m:ctrlPr>
                                </m:accPr>
                                <m:e>
                                  <m:r>
                                    <a:rPr lang="pt-BR" sz="2800" b="1" i="1">
                                      <a:latin typeface="Cambria Math" panose="02040503050406030204" pitchFamily="18" charset="0"/>
                                    </a:rPr>
                                    <m:t>𝒚</m:t>
                                  </m:r>
                                </m:e>
                              </m:acc>
                            </m:e>
                            <m:sub>
                              <m:r>
                                <a:rPr lang="pt-BR" sz="2800" b="0" i="1" smtClean="0">
                                  <a:latin typeface="Cambria Math" panose="02040503050406030204" pitchFamily="18" charset="0"/>
                                </a:rPr>
                                <m:t>𝑞</m:t>
                              </m:r>
                            </m:sub>
                          </m:sSub>
                        </m:e>
                      </m:d>
                      <m:r>
                        <a:rPr lang="pt-BR" sz="2800" b="0" i="1" smtClean="0">
                          <a:latin typeface="Cambria Math" panose="02040503050406030204" pitchFamily="18" charset="0"/>
                        </a:rPr>
                        <m:t>.</m:t>
                      </m:r>
                    </m:oMath>
                  </m:oMathPara>
                </a14:m>
                <a:endParaRPr lang="pt-BR" dirty="0"/>
              </a:p>
              <a:p>
                <a:r>
                  <a:rPr lang="pt-BR" dirty="0"/>
                  <a:t>Notem que essa expressão do vetor gradiente é </a:t>
                </a:r>
                <a:r>
                  <a:rPr lang="pt-BR" b="1" dirty="0">
                    <a:solidFill>
                      <a:srgbClr val="00B050"/>
                    </a:solidFill>
                  </a:rPr>
                  <a:t>idêntica</a:t>
                </a:r>
                <a:r>
                  <a:rPr lang="pt-BR" dirty="0"/>
                  <a:t> àquela obtida para o caso da </a:t>
                </a:r>
                <a:r>
                  <a:rPr lang="pt-BR" b="1" dirty="0">
                    <a:solidFill>
                      <a:srgbClr val="00B050"/>
                    </a:solidFill>
                  </a:rPr>
                  <a:t>regressão logística</a:t>
                </a:r>
                <a:r>
                  <a:rPr lang="pt-BR" dirty="0"/>
                  <a:t>.</a:t>
                </a:r>
              </a:p>
              <a:p>
                <a:r>
                  <a:rPr lang="pt-BR" b="1" dirty="0">
                    <a:solidFill>
                      <a:schemeClr val="accent2"/>
                    </a:solidFill>
                  </a:rPr>
                  <a:t>Levando-se em consideração todos os </a:t>
                </a:r>
                <a14:m>
                  <m:oMath xmlns:m="http://schemas.openxmlformats.org/officeDocument/2006/math">
                    <m:r>
                      <a:rPr lang="pt-BR" b="1" i="1" smtClean="0">
                        <a:solidFill>
                          <a:schemeClr val="accent2"/>
                        </a:solidFill>
                        <a:latin typeface="Cambria Math" panose="02040503050406030204" pitchFamily="18" charset="0"/>
                      </a:rPr>
                      <m:t>𝑸</m:t>
                    </m:r>
                    <m:r>
                      <a:rPr lang="pt-BR" b="1" i="1" smtClean="0">
                        <a:solidFill>
                          <a:schemeClr val="accent2"/>
                        </a:solidFill>
                        <a:latin typeface="Cambria Math" panose="02040503050406030204" pitchFamily="18" charset="0"/>
                      </a:rPr>
                      <m:t> </m:t>
                    </m:r>
                  </m:oMath>
                </a14:m>
                <a:r>
                  <a:rPr lang="pt-BR" b="1" dirty="0">
                    <a:solidFill>
                      <a:schemeClr val="accent2"/>
                    </a:solidFill>
                  </a:rPr>
                  <a:t>vetores de peso, </a:t>
                </a:r>
                <a:r>
                  <a:rPr lang="pt-BR" dirty="0"/>
                  <a:t>passamos a ter uma </a:t>
                </a:r>
                <a:r>
                  <a:rPr lang="pt-BR" b="1" dirty="0">
                    <a:solidFill>
                      <a:srgbClr val="7030A0"/>
                    </a:solidFill>
                  </a:rPr>
                  <a:t>matriz de vetores gradiente</a:t>
                </a:r>
                <a:endParaRPr lang="pt-BR" b="1" dirty="0">
                  <a:solidFill>
                    <a:schemeClr val="accent2"/>
                  </a:solidFill>
                </a:endParaRPr>
              </a:p>
              <a:p>
                <a:pPr marL="0" indent="0">
                  <a:buNone/>
                </a:pPr>
                <a14:m>
                  <m:oMathPara xmlns:m="http://schemas.openxmlformats.org/officeDocument/2006/math">
                    <m:oMathParaPr>
                      <m:jc m:val="centerGroup"/>
                    </m:oMathParaPr>
                    <m:oMath xmlns:m="http://schemas.openxmlformats.org/officeDocument/2006/math">
                      <m:f>
                        <m:fPr>
                          <m:ctrlPr>
                            <a:rPr lang="pt-BR" sz="2800" i="1" smtClean="0">
                              <a:latin typeface="Cambria Math" panose="02040503050406030204" pitchFamily="18" charset="0"/>
                            </a:rPr>
                          </m:ctrlPr>
                        </m:fPr>
                        <m:num>
                          <m:r>
                            <a:rPr lang="pt-BR" sz="2800" i="1">
                              <a:latin typeface="Cambria Math" panose="02040503050406030204" pitchFamily="18" charset="0"/>
                            </a:rPr>
                            <m:t>𝜕</m:t>
                          </m:r>
                          <m:sSub>
                            <m:sSubPr>
                              <m:ctrlPr>
                                <a:rPr lang="pt-BR" sz="2800" i="1">
                                  <a:latin typeface="Cambria Math" panose="02040503050406030204" pitchFamily="18" charset="0"/>
                                </a:rPr>
                              </m:ctrlPr>
                            </m:sSubPr>
                            <m:e>
                              <m:r>
                                <a:rPr lang="pt-BR" sz="2800" i="1">
                                  <a:latin typeface="Cambria Math" panose="02040503050406030204" pitchFamily="18" charset="0"/>
                                </a:rPr>
                                <m:t>𝐽</m:t>
                              </m:r>
                            </m:e>
                            <m:sub>
                              <m:r>
                                <a:rPr lang="pt-BR" sz="2800" i="1">
                                  <a:latin typeface="Cambria Math" panose="02040503050406030204" pitchFamily="18" charset="0"/>
                                </a:rPr>
                                <m:t>𝑒</m:t>
                              </m:r>
                            </m:sub>
                          </m:sSub>
                          <m:d>
                            <m:dPr>
                              <m:ctrlPr>
                                <a:rPr lang="pt-BR" sz="2800" i="1">
                                  <a:latin typeface="Cambria Math" panose="02040503050406030204" pitchFamily="18" charset="0"/>
                                </a:rPr>
                              </m:ctrlPr>
                            </m:dPr>
                            <m:e>
                              <m:r>
                                <a:rPr lang="pt-BR" sz="2800" b="1" i="1">
                                  <a:latin typeface="Cambria Math" panose="02040503050406030204" pitchFamily="18" charset="0"/>
                                </a:rPr>
                                <m:t>𝑨</m:t>
                              </m:r>
                            </m:e>
                          </m:d>
                        </m:num>
                        <m:den>
                          <m:r>
                            <a:rPr lang="pt-BR" sz="2800" i="1">
                              <a:latin typeface="Cambria Math" panose="02040503050406030204" pitchFamily="18" charset="0"/>
                            </a:rPr>
                            <m:t>𝜕</m:t>
                          </m:r>
                          <m:r>
                            <a:rPr lang="pt-BR" b="1" i="1">
                              <a:latin typeface="Cambria Math" panose="02040503050406030204" pitchFamily="18" charset="0"/>
                            </a:rPr>
                            <m:t>𝑨</m:t>
                          </m:r>
                        </m:den>
                      </m:f>
                      <m:r>
                        <a:rPr lang="pt-BR" sz="2800" i="1">
                          <a:latin typeface="Cambria Math" panose="02040503050406030204" pitchFamily="18" charset="0"/>
                        </a:rPr>
                        <m:t>=</m:t>
                      </m:r>
                      <m:sSup>
                        <m:sSupPr>
                          <m:ctrlPr>
                            <a:rPr lang="pt-BR" sz="2800" i="1">
                              <a:latin typeface="Cambria Math" panose="02040503050406030204" pitchFamily="18" charset="0"/>
                            </a:rPr>
                          </m:ctrlPr>
                        </m:sSupPr>
                        <m:e>
                          <m:r>
                            <a:rPr lang="pt-BR" sz="2800" i="1">
                              <a:latin typeface="Cambria Math" panose="02040503050406030204" pitchFamily="18" charset="0"/>
                            </a:rPr>
                            <m:t>−</m:t>
                          </m:r>
                          <m:f>
                            <m:fPr>
                              <m:ctrlPr>
                                <a:rPr lang="pt-BR" sz="2800" i="1">
                                  <a:latin typeface="Cambria Math" panose="02040503050406030204" pitchFamily="18" charset="0"/>
                                </a:rPr>
                              </m:ctrlPr>
                            </m:fPr>
                            <m:num>
                              <m:r>
                                <a:rPr lang="pt-BR" sz="2800" i="1">
                                  <a:latin typeface="Cambria Math" panose="02040503050406030204" pitchFamily="18" charset="0"/>
                                </a:rPr>
                                <m:t>1</m:t>
                              </m:r>
                            </m:num>
                            <m:den>
                              <m:r>
                                <a:rPr lang="pt-BR" sz="2800" i="1">
                                  <a:latin typeface="Cambria Math" panose="02040503050406030204" pitchFamily="18" charset="0"/>
                                </a:rPr>
                                <m:t>𝑁</m:t>
                              </m:r>
                            </m:den>
                          </m:f>
                          <m:r>
                            <a:rPr lang="pt-BR" sz="2800" b="1" i="1">
                              <a:latin typeface="Cambria Math" panose="02040503050406030204" pitchFamily="18" charset="0"/>
                            </a:rPr>
                            <m:t>𝑿</m:t>
                          </m:r>
                        </m:e>
                        <m:sup>
                          <m:r>
                            <a:rPr lang="pt-BR" sz="2800" i="1">
                              <a:latin typeface="Cambria Math" panose="02040503050406030204" pitchFamily="18" charset="0"/>
                            </a:rPr>
                            <m:t>𝑇</m:t>
                          </m:r>
                        </m:sup>
                      </m:sSup>
                      <m:d>
                        <m:dPr>
                          <m:ctrlPr>
                            <a:rPr lang="pt-BR" sz="2800" i="1" smtClean="0">
                              <a:latin typeface="Cambria Math" panose="02040503050406030204" pitchFamily="18" charset="0"/>
                            </a:rPr>
                          </m:ctrlPr>
                        </m:dPr>
                        <m:e>
                          <m:r>
                            <a:rPr lang="pt-BR" sz="2800" b="1" i="1" smtClean="0">
                              <a:latin typeface="Cambria Math" panose="02040503050406030204" pitchFamily="18" charset="0"/>
                            </a:rPr>
                            <m:t>𝒀</m:t>
                          </m:r>
                          <m:r>
                            <a:rPr lang="pt-BR" sz="2800" b="0" i="1" smtClean="0">
                              <a:latin typeface="Cambria Math" panose="02040503050406030204" pitchFamily="18" charset="0"/>
                            </a:rPr>
                            <m:t>−</m:t>
                          </m:r>
                          <m:acc>
                            <m:accPr>
                              <m:chr m:val="̂"/>
                              <m:ctrlPr>
                                <a:rPr lang="pt-BR" sz="2800" b="0" i="1" smtClean="0">
                                  <a:latin typeface="Cambria Math" panose="02040503050406030204" pitchFamily="18" charset="0"/>
                                </a:rPr>
                              </m:ctrlPr>
                            </m:accPr>
                            <m:e>
                              <m:r>
                                <a:rPr lang="pt-BR" sz="2800" b="1" i="1" smtClean="0">
                                  <a:latin typeface="Cambria Math" panose="02040503050406030204" pitchFamily="18" charset="0"/>
                                </a:rPr>
                                <m:t>𝒀</m:t>
                              </m:r>
                            </m:e>
                          </m:acc>
                        </m:e>
                      </m:d>
                      <m:r>
                        <a:rPr lang="pt-BR" dirty="0">
                          <a:latin typeface="Cambria Math" panose="02040503050406030204" pitchFamily="18" charset="0"/>
                          <a:ea typeface="Cambria Math" panose="02040503050406030204" pitchFamily="18" charset="0"/>
                        </a:rPr>
                        <m:t>∈</m:t>
                      </m:r>
                      <m:sSup>
                        <m:sSupPr>
                          <m:ctrlPr>
                            <a:rPr lang="pt-BR" i="1" dirty="0">
                              <a:latin typeface="Cambria Math" panose="02040503050406030204" pitchFamily="18" charset="0"/>
                              <a:ea typeface="Cambria Math" panose="02040503050406030204" pitchFamily="18" charset="0"/>
                            </a:rPr>
                          </m:ctrlPr>
                        </m:sSupPr>
                        <m:e>
                          <m:r>
                            <a:rPr lang="pt-BR" i="1" dirty="0">
                              <a:latin typeface="Cambria Math" panose="02040503050406030204" pitchFamily="18" charset="0"/>
                              <a:ea typeface="Cambria Math" panose="02040503050406030204" pitchFamily="18" charset="0"/>
                            </a:rPr>
                            <m:t>ℝ</m:t>
                          </m:r>
                        </m:e>
                        <m:sup>
                          <m:r>
                            <a:rPr lang="pt-BR" i="1" dirty="0">
                              <a:latin typeface="Cambria Math" panose="02040503050406030204" pitchFamily="18" charset="0"/>
                              <a:ea typeface="Cambria Math" panose="02040503050406030204" pitchFamily="18" charset="0"/>
                            </a:rPr>
                            <m:t>𝐾</m:t>
                          </m:r>
                          <m:r>
                            <a:rPr lang="pt-BR" i="1" dirty="0">
                              <a:latin typeface="Cambria Math" panose="02040503050406030204" pitchFamily="18" charset="0"/>
                              <a:ea typeface="Cambria Math" panose="02040503050406030204" pitchFamily="18" charset="0"/>
                            </a:rPr>
                            <m:t>+1×</m:t>
                          </m:r>
                          <m:r>
                            <a:rPr lang="pt-BR" i="1" dirty="0">
                              <a:latin typeface="Cambria Math" panose="02040503050406030204" pitchFamily="18" charset="0"/>
                              <a:ea typeface="Cambria Math" panose="02040503050406030204" pitchFamily="18" charset="0"/>
                            </a:rPr>
                            <m:t>𝑄</m:t>
                          </m:r>
                        </m:sup>
                      </m:sSup>
                      <m:r>
                        <a:rPr lang="pt-BR" sz="2800" b="0" i="1" smtClean="0">
                          <a:latin typeface="Cambria Math" panose="02040503050406030204" pitchFamily="18" charset="0"/>
                        </a:rPr>
                        <m:t>,</m:t>
                      </m:r>
                    </m:oMath>
                  </m:oMathPara>
                </a14:m>
                <a:endParaRPr lang="pt-BR" dirty="0"/>
              </a:p>
              <a:p>
                <a:pPr marL="0" indent="0">
                  <a:buNone/>
                </a:pPr>
                <a:r>
                  <a:rPr lang="pt-BR" dirty="0"/>
                  <a:t>onde </a:t>
                </a:r>
                <a14:m>
                  <m:oMath xmlns:m="http://schemas.openxmlformats.org/officeDocument/2006/math">
                    <m:r>
                      <a:rPr lang="pt-BR" sz="2800" b="1" i="1" smtClean="0">
                        <a:latin typeface="Cambria Math" panose="02040503050406030204" pitchFamily="18" charset="0"/>
                      </a:rPr>
                      <m:t>𝒀</m:t>
                    </m:r>
                  </m:oMath>
                </a14:m>
                <a:r>
                  <a:rPr lang="pt-BR" dirty="0"/>
                  <a:t> e </a:t>
                </a:r>
                <a14:m>
                  <m:oMath xmlns:m="http://schemas.openxmlformats.org/officeDocument/2006/math">
                    <m:acc>
                      <m:accPr>
                        <m:chr m:val="̂"/>
                        <m:ctrlPr>
                          <a:rPr lang="pt-BR" i="1">
                            <a:latin typeface="Cambria Math" panose="02040503050406030204" pitchFamily="18" charset="0"/>
                          </a:rPr>
                        </m:ctrlPr>
                      </m:accPr>
                      <m:e>
                        <m:r>
                          <a:rPr lang="pt-BR" b="1" i="1">
                            <a:latin typeface="Cambria Math" panose="02040503050406030204" pitchFamily="18" charset="0"/>
                          </a:rPr>
                          <m:t>𝒀</m:t>
                        </m:r>
                      </m:e>
                    </m:acc>
                    <m:r>
                      <a:rPr lang="pt-BR" i="1">
                        <a:latin typeface="Cambria Math" panose="02040503050406030204" pitchFamily="18" charset="0"/>
                        <a:ea typeface="Cambria Math" panose="02040503050406030204" pitchFamily="18" charset="0"/>
                      </a:rPr>
                      <m:t>∈</m:t>
                    </m:r>
                    <m:sSup>
                      <m:sSupPr>
                        <m:ctrlPr>
                          <a:rPr lang="pt-BR" i="1" dirty="0">
                            <a:latin typeface="Cambria Math" panose="02040503050406030204" pitchFamily="18" charset="0"/>
                            <a:ea typeface="Cambria Math" panose="02040503050406030204" pitchFamily="18" charset="0"/>
                          </a:rPr>
                        </m:ctrlPr>
                      </m:sSupPr>
                      <m:e>
                        <m:r>
                          <a:rPr lang="pt-BR" i="1" dirty="0">
                            <a:latin typeface="Cambria Math" panose="02040503050406030204" pitchFamily="18" charset="0"/>
                            <a:ea typeface="Cambria Math" panose="02040503050406030204" pitchFamily="18" charset="0"/>
                          </a:rPr>
                          <m:t>ℝ</m:t>
                        </m:r>
                      </m:e>
                      <m:sup>
                        <m:r>
                          <a:rPr lang="pt-BR" i="1" dirty="0">
                            <a:latin typeface="Cambria Math" panose="02040503050406030204" pitchFamily="18" charset="0"/>
                            <a:ea typeface="Cambria Math" panose="02040503050406030204" pitchFamily="18" charset="0"/>
                          </a:rPr>
                          <m:t>𝑁</m:t>
                        </m:r>
                        <m:r>
                          <a:rPr lang="pt-BR" i="1" dirty="0">
                            <a:latin typeface="Cambria Math" panose="02040503050406030204" pitchFamily="18" charset="0"/>
                            <a:ea typeface="Cambria Math" panose="02040503050406030204" pitchFamily="18" charset="0"/>
                          </a:rPr>
                          <m:t>×</m:t>
                        </m:r>
                        <m:r>
                          <a:rPr lang="pt-BR" b="0" i="1" dirty="0" smtClean="0">
                            <a:latin typeface="Cambria Math" panose="02040503050406030204" pitchFamily="18" charset="0"/>
                            <a:ea typeface="Cambria Math" panose="02040503050406030204" pitchFamily="18" charset="0"/>
                          </a:rPr>
                          <m:t>𝑄</m:t>
                        </m:r>
                      </m:sup>
                    </m:sSup>
                  </m:oMath>
                </a14:m>
                <a:r>
                  <a:rPr lang="pt-BR" dirty="0"/>
                  <a:t> são matrizes contendo em cada linha os vetores </a:t>
                </a:r>
                <a14:m>
                  <m:oMath xmlns:m="http://schemas.openxmlformats.org/officeDocument/2006/math">
                    <m:sSup>
                      <m:sSupPr>
                        <m:ctrlPr>
                          <a:rPr lang="pt-BR" i="1" smtClean="0">
                            <a:latin typeface="Cambria Math" panose="02040503050406030204" pitchFamily="18" charset="0"/>
                          </a:rPr>
                        </m:ctrlPr>
                      </m:sSupPr>
                      <m:e>
                        <m:r>
                          <a:rPr lang="pt-BR" b="1" i="1">
                            <a:latin typeface="Cambria Math" panose="02040503050406030204" pitchFamily="18" charset="0"/>
                          </a:rPr>
                          <m:t>𝒚</m:t>
                        </m:r>
                        <m:r>
                          <a:rPr lang="pt-BR" i="1">
                            <a:latin typeface="Cambria Math" panose="02040503050406030204" pitchFamily="18" charset="0"/>
                          </a:rPr>
                          <m:t>(</m:t>
                        </m:r>
                        <m:r>
                          <a:rPr lang="pt-BR" b="0" i="1" smtClean="0">
                            <a:latin typeface="Cambria Math" panose="02040503050406030204" pitchFamily="18" charset="0"/>
                          </a:rPr>
                          <m:t>𝑛</m:t>
                        </m:r>
                        <m:r>
                          <a:rPr lang="pt-BR" i="1">
                            <a:latin typeface="Cambria Math" panose="02040503050406030204" pitchFamily="18" charset="0"/>
                          </a:rPr>
                          <m:t>)</m:t>
                        </m:r>
                      </m:e>
                      <m:sup>
                        <m:r>
                          <a:rPr lang="pt-BR" b="0" i="1" smtClean="0">
                            <a:latin typeface="Cambria Math" panose="02040503050406030204" pitchFamily="18" charset="0"/>
                          </a:rPr>
                          <m:t>𝑇</m:t>
                        </m:r>
                      </m:sup>
                    </m:sSup>
                  </m:oMath>
                </a14:m>
                <a:r>
                  <a:rPr lang="pt-BR" dirty="0"/>
                  <a:t>e </a:t>
                </a:r>
                <a14:m>
                  <m:oMath xmlns:m="http://schemas.openxmlformats.org/officeDocument/2006/math">
                    <m:sSup>
                      <m:sSupPr>
                        <m:ctrlPr>
                          <a:rPr lang="pt-BR" i="1" smtClean="0">
                            <a:latin typeface="Cambria Math" panose="02040503050406030204" pitchFamily="18" charset="0"/>
                          </a:rPr>
                        </m:ctrlPr>
                      </m:sSupPr>
                      <m:e>
                        <m:acc>
                          <m:accPr>
                            <m:chr m:val="̂"/>
                            <m:ctrlPr>
                              <a:rPr lang="pt-BR" i="1">
                                <a:latin typeface="Cambria Math" panose="02040503050406030204" pitchFamily="18" charset="0"/>
                              </a:rPr>
                            </m:ctrlPr>
                          </m:accPr>
                          <m:e>
                            <m:r>
                              <a:rPr lang="pt-BR" b="1" i="1">
                                <a:latin typeface="Cambria Math" panose="02040503050406030204" pitchFamily="18" charset="0"/>
                              </a:rPr>
                              <m:t>𝒚</m:t>
                            </m:r>
                          </m:e>
                        </m:acc>
                        <m:r>
                          <a:rPr lang="pt-BR" b="0" i="1" smtClean="0">
                            <a:latin typeface="Cambria Math" panose="02040503050406030204" pitchFamily="18" charset="0"/>
                          </a:rPr>
                          <m:t>(</m:t>
                        </m:r>
                        <m:r>
                          <a:rPr lang="pt-BR" b="0" i="1" smtClean="0">
                            <a:latin typeface="Cambria Math" panose="02040503050406030204" pitchFamily="18" charset="0"/>
                          </a:rPr>
                          <m:t>𝑛</m:t>
                        </m:r>
                        <m:r>
                          <a:rPr lang="pt-BR" b="0" i="1" smtClean="0">
                            <a:latin typeface="Cambria Math" panose="02040503050406030204" pitchFamily="18" charset="0"/>
                          </a:rPr>
                          <m:t>)</m:t>
                        </m:r>
                      </m:e>
                      <m:sup>
                        <m:r>
                          <a:rPr lang="pt-BR" b="0" i="1" smtClean="0">
                            <a:latin typeface="Cambria Math" panose="02040503050406030204" pitchFamily="18" charset="0"/>
                          </a:rPr>
                          <m:t>𝑇</m:t>
                        </m:r>
                      </m:sup>
                    </m:sSup>
                  </m:oMath>
                </a14:m>
                <a:r>
                  <a:rPr lang="pt-BR" dirty="0"/>
                  <a:t> para todos os </a:t>
                </a:r>
                <a14:m>
                  <m:oMath xmlns:m="http://schemas.openxmlformats.org/officeDocument/2006/math">
                    <m:r>
                      <a:rPr lang="pt-BR" i="1" dirty="0">
                        <a:latin typeface="Cambria Math" panose="02040503050406030204" pitchFamily="18" charset="0"/>
                        <a:ea typeface="Cambria Math" panose="02040503050406030204" pitchFamily="18" charset="0"/>
                      </a:rPr>
                      <m:t>𝑁</m:t>
                    </m:r>
                  </m:oMath>
                </a14:m>
                <a:r>
                  <a:rPr lang="pt-BR" dirty="0"/>
                  <a:t> exemplos, respectivamente.</a:t>
                </a:r>
              </a:p>
              <a:p>
                <a:r>
                  <a:rPr lang="pt-BR" dirty="0"/>
                  <a:t>Esse resultado é diretamente estendido para polinômios.</a:t>
                </a:r>
              </a:p>
            </p:txBody>
          </p:sp>
        </mc:Choice>
        <mc:Fallback xmlns="">
          <p:sp>
            <p:nvSpPr>
              <p:cNvPr id="3" name="Espaço Reservado para Conteúdo 2">
                <a:extLst>
                  <a:ext uri="{FF2B5EF4-FFF2-40B4-BE49-F238E27FC236}">
                    <a16:creationId xmlns:a16="http://schemas.microsoft.com/office/drawing/2014/main" id="{DDBA288E-BBB8-E157-840C-AA685AD7D65C}"/>
                  </a:ext>
                </a:extLst>
              </p:cNvPr>
              <p:cNvSpPr>
                <a:spLocks noGrp="1" noRot="1" noChangeAspect="1" noMove="1" noResize="1" noEditPoints="1" noAdjustHandles="1" noChangeArrowheads="1" noChangeShapeType="1" noTextEdit="1"/>
              </p:cNvSpPr>
              <p:nvPr>
                <p:ph idx="1"/>
              </p:nvPr>
            </p:nvSpPr>
            <p:spPr>
              <a:xfrm>
                <a:off x="838200" y="1840864"/>
                <a:ext cx="11257230" cy="5032375"/>
              </a:xfrm>
              <a:blipFill>
                <a:blip r:embed="rId3"/>
                <a:stretch>
                  <a:fillRect l="-1138" r="-1354" b="-848"/>
                </a:stretch>
              </a:blipFill>
            </p:spPr>
            <p:txBody>
              <a:bodyPr/>
              <a:lstStyle/>
              <a:p>
                <a:r>
                  <a:rPr lang="en-US">
                    <a:noFill/>
                  </a:rPr>
                  <a:t> </a:t>
                </a:r>
              </a:p>
            </p:txBody>
          </p:sp>
        </mc:Fallback>
      </mc:AlternateContent>
    </p:spTree>
    <p:extLst>
      <p:ext uri="{BB962C8B-B14F-4D97-AF65-F5344CB8AC3E}">
        <p14:creationId xmlns:p14="http://schemas.microsoft.com/office/powerpoint/2010/main" val="28191599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E0F1FD81-6095-2AF0-8691-34E55B8A93B5}"/>
              </a:ext>
            </a:extLst>
          </p:cNvPr>
          <p:cNvSpPr>
            <a:spLocks noGrp="1"/>
          </p:cNvSpPr>
          <p:nvPr>
            <p:ph type="title"/>
          </p:nvPr>
        </p:nvSpPr>
        <p:spPr/>
        <p:txBody>
          <a:bodyPr/>
          <a:lstStyle/>
          <a:p>
            <a:r>
              <a:rPr lang="pt-BR" dirty="0"/>
              <a:t>Regressor </a:t>
            </a:r>
            <a:r>
              <a:rPr lang="pt-BR" i="1" dirty="0"/>
              <a:t>softmax</a:t>
            </a:r>
          </a:p>
        </p:txBody>
      </p:sp>
      <mc:AlternateContent xmlns:mc="http://schemas.openxmlformats.org/markup-compatibility/2006">
        <mc:Choice xmlns:a14="http://schemas.microsoft.com/office/drawing/2010/main" Requires="a14">
          <p:sp>
            <p:nvSpPr>
              <p:cNvPr id="3" name="Espaço Reservado para Conteúdo 2">
                <a:extLst>
                  <a:ext uri="{FF2B5EF4-FFF2-40B4-BE49-F238E27FC236}">
                    <a16:creationId xmlns:a16="http://schemas.microsoft.com/office/drawing/2014/main" xmlns="" id="{BB734B24-DA50-860B-5D55-C33F6F451B6F}"/>
                  </a:ext>
                </a:extLst>
              </p:cNvPr>
              <p:cNvSpPr>
                <a:spLocks noGrp="1"/>
              </p:cNvSpPr>
              <p:nvPr>
                <p:ph idx="1"/>
              </p:nvPr>
            </p:nvSpPr>
            <p:spPr>
              <a:xfrm>
                <a:off x="6096000" y="1840614"/>
                <a:ext cx="6096000" cy="5032375"/>
              </a:xfrm>
            </p:spPr>
            <p:txBody>
              <a:bodyPr>
                <a:normAutofit/>
              </a:bodyPr>
              <a:lstStyle/>
              <a:p>
                <a:r>
                  <a:rPr lang="pt-BR" dirty="0">
                    <a:solidFill>
                      <a:schemeClr val="tx1"/>
                    </a:solidFill>
                  </a:rPr>
                  <a:t>Após o treinamento, durante a </a:t>
                </a:r>
                <a:r>
                  <a:rPr lang="pt-BR" b="1" dirty="0">
                    <a:solidFill>
                      <a:srgbClr val="00B050"/>
                    </a:solidFill>
                  </a:rPr>
                  <a:t>fase de inferência</a:t>
                </a:r>
                <a:r>
                  <a:rPr lang="pt-BR" dirty="0">
                    <a:solidFill>
                      <a:schemeClr val="tx1"/>
                    </a:solidFill>
                  </a:rPr>
                  <a:t>, o </a:t>
                </a:r>
                <a:r>
                  <a:rPr lang="pt-BR" dirty="0" err="1">
                    <a:solidFill>
                      <a:schemeClr val="tx1"/>
                    </a:solidFill>
                  </a:rPr>
                  <a:t>regressor</a:t>
                </a:r>
                <a:r>
                  <a:rPr lang="pt-BR" dirty="0">
                    <a:solidFill>
                      <a:schemeClr val="tx1"/>
                    </a:solidFill>
                  </a:rPr>
                  <a:t> atribui ao exemplo de entrada, </a:t>
                </a:r>
                <a14:m>
                  <m:oMath xmlns:m="http://schemas.openxmlformats.org/officeDocument/2006/math">
                    <m:r>
                      <a:rPr lang="pt-BR" b="1" i="1">
                        <a:solidFill>
                          <a:schemeClr val="tx1"/>
                        </a:solidFill>
                        <a:latin typeface="Cambria Math" panose="02040503050406030204" pitchFamily="18" charset="0"/>
                      </a:rPr>
                      <m:t>𝒙</m:t>
                    </m:r>
                    <m:d>
                      <m:dPr>
                        <m:ctrlPr>
                          <a:rPr lang="pt-BR" b="1" i="1">
                            <a:solidFill>
                              <a:schemeClr val="tx1"/>
                            </a:solidFill>
                            <a:latin typeface="Cambria Math" panose="02040503050406030204" pitchFamily="18" charset="0"/>
                          </a:rPr>
                        </m:ctrlPr>
                      </m:dPr>
                      <m:e>
                        <m:r>
                          <a:rPr lang="pt-BR" b="0" i="1" smtClean="0">
                            <a:solidFill>
                              <a:schemeClr val="tx1"/>
                            </a:solidFill>
                            <a:latin typeface="Cambria Math" panose="02040503050406030204" pitchFamily="18" charset="0"/>
                          </a:rPr>
                          <m:t>𝑛</m:t>
                        </m:r>
                      </m:e>
                    </m:d>
                  </m:oMath>
                </a14:m>
                <a:r>
                  <a:rPr lang="pt-BR" dirty="0">
                    <a:solidFill>
                      <a:schemeClr val="tx1"/>
                    </a:solidFill>
                  </a:rPr>
                  <a:t>, a classe, </a:t>
                </a:r>
                <a14:m>
                  <m:oMath xmlns:m="http://schemas.openxmlformats.org/officeDocument/2006/math">
                    <m:r>
                      <a:rPr lang="pt-BR" i="1">
                        <a:solidFill>
                          <a:schemeClr val="tx1"/>
                        </a:solidFill>
                        <a:latin typeface="Cambria Math" panose="02040503050406030204" pitchFamily="18" charset="0"/>
                      </a:rPr>
                      <m:t>𝑞</m:t>
                    </m:r>
                  </m:oMath>
                </a14:m>
                <a:r>
                  <a:rPr lang="pt-BR" dirty="0">
                    <a:solidFill>
                      <a:schemeClr val="tx1"/>
                    </a:solidFill>
                  </a:rPr>
                  <a:t>, com a </a:t>
                </a:r>
                <a:r>
                  <a:rPr lang="pt-BR" b="1" dirty="0">
                    <a:solidFill>
                      <a:schemeClr val="tx1"/>
                    </a:solidFill>
                  </a:rPr>
                  <a:t>maior </a:t>
                </a:r>
                <a:r>
                  <a:rPr lang="pt-BR" b="1" dirty="0" smtClean="0">
                    <a:solidFill>
                      <a:schemeClr val="tx1"/>
                    </a:solidFill>
                  </a:rPr>
                  <a:t>probabilidade</a:t>
                </a:r>
                <a:r>
                  <a:rPr lang="pt-BR" dirty="0" smtClean="0">
                    <a:solidFill>
                      <a:schemeClr val="tx1"/>
                    </a:solidFill>
                  </a:rPr>
                  <a:t>, </a:t>
                </a:r>
                <a:r>
                  <a:rPr lang="pt-BR" dirty="0">
                    <a:solidFill>
                      <a:schemeClr val="tx1"/>
                    </a:solidFill>
                  </a:rPr>
                  <a:t>ou seja, atribui a classe, </a:t>
                </a:r>
                <a14:m>
                  <m:oMath xmlns:m="http://schemas.openxmlformats.org/officeDocument/2006/math">
                    <m:r>
                      <a:rPr lang="pt-BR" i="1">
                        <a:solidFill>
                          <a:schemeClr val="tx1"/>
                        </a:solidFill>
                        <a:latin typeface="Cambria Math" panose="02040503050406030204" pitchFamily="18" charset="0"/>
                      </a:rPr>
                      <m:t>𝑞</m:t>
                    </m:r>
                  </m:oMath>
                </a14:m>
                <a:r>
                  <a:rPr lang="pt-BR" dirty="0">
                    <a:solidFill>
                      <a:schemeClr val="tx1"/>
                    </a:solidFill>
                  </a:rPr>
                  <a:t>, da função hipótese com maior valor</a:t>
                </a:r>
                <a:endParaRPr lang="pt-BR" sz="1600" dirty="0">
                  <a:solidFill>
                    <a:schemeClr val="tx1"/>
                  </a:solidFill>
                </a:endParaRPr>
              </a:p>
              <a:p>
                <a:pPr marL="0" indent="0">
                  <a:buNone/>
                </a:pPr>
                <a14:m>
                  <m:oMathPara xmlns:m="http://schemas.openxmlformats.org/officeDocument/2006/math">
                    <m:oMathParaPr>
                      <m:jc m:val="centerGroup"/>
                    </m:oMathParaPr>
                    <m:oMath xmlns:m="http://schemas.openxmlformats.org/officeDocument/2006/math">
                      <m:sSub>
                        <m:sSubPr>
                          <m:ctrlPr>
                            <a:rPr lang="pt-BR" i="1" smtClean="0">
                              <a:solidFill>
                                <a:schemeClr val="tx1"/>
                              </a:solidFill>
                              <a:latin typeface="Cambria Math" panose="02040503050406030204" pitchFamily="18" charset="0"/>
                            </a:rPr>
                          </m:ctrlPr>
                        </m:sSubPr>
                        <m:e>
                          <m:r>
                            <a:rPr lang="pt-BR" i="1">
                              <a:solidFill>
                                <a:schemeClr val="tx1"/>
                              </a:solidFill>
                              <a:latin typeface="Cambria Math" panose="02040503050406030204" pitchFamily="18" charset="0"/>
                            </a:rPr>
                            <m:t>𝐶</m:t>
                          </m:r>
                        </m:e>
                        <m:sub>
                          <m:r>
                            <a:rPr lang="pt-BR" i="1">
                              <a:solidFill>
                                <a:schemeClr val="tx1"/>
                              </a:solidFill>
                              <a:latin typeface="Cambria Math" panose="02040503050406030204" pitchFamily="18" charset="0"/>
                            </a:rPr>
                            <m:t>𝑞</m:t>
                          </m:r>
                        </m:sub>
                      </m:sSub>
                      <m:r>
                        <a:rPr lang="pt-BR" i="1">
                          <a:solidFill>
                            <a:schemeClr val="tx1"/>
                          </a:solidFill>
                          <a:latin typeface="Cambria Math" panose="02040503050406030204" pitchFamily="18" charset="0"/>
                        </a:rPr>
                        <m:t>=</m:t>
                      </m:r>
                      <m:r>
                        <m:rPr>
                          <m:nor/>
                        </m:rPr>
                        <a:rPr lang="pt-BR" dirty="0">
                          <a:solidFill>
                            <a:schemeClr val="tx1"/>
                          </a:solidFill>
                        </a:rPr>
                        <m:t>arg</m:t>
                      </m:r>
                      <m:r>
                        <m:rPr>
                          <m:nor/>
                        </m:rPr>
                        <a:rPr lang="pt-BR" dirty="0">
                          <a:solidFill>
                            <a:schemeClr val="tx1"/>
                          </a:solidFill>
                        </a:rPr>
                        <m:t>. </m:t>
                      </m:r>
                      <m:func>
                        <m:funcPr>
                          <m:ctrlPr>
                            <a:rPr lang="pt-BR" i="1">
                              <a:solidFill>
                                <a:schemeClr val="tx1"/>
                              </a:solidFill>
                              <a:latin typeface="Cambria Math" panose="02040503050406030204" pitchFamily="18" charset="0"/>
                            </a:rPr>
                          </m:ctrlPr>
                        </m:funcPr>
                        <m:fName>
                          <m:limLow>
                            <m:limLowPr>
                              <m:ctrlPr>
                                <a:rPr lang="pt-BR" i="1">
                                  <a:solidFill>
                                    <a:schemeClr val="tx1"/>
                                  </a:solidFill>
                                  <a:latin typeface="Cambria Math" panose="02040503050406030204" pitchFamily="18" charset="0"/>
                                </a:rPr>
                              </m:ctrlPr>
                            </m:limLowPr>
                            <m:e>
                              <m:r>
                                <m:rPr>
                                  <m:sty m:val="p"/>
                                </m:rPr>
                                <a:rPr lang="pt-BR">
                                  <a:solidFill>
                                    <a:schemeClr val="tx1"/>
                                  </a:solidFill>
                                  <a:latin typeface="Cambria Math" panose="02040503050406030204" pitchFamily="18" charset="0"/>
                                </a:rPr>
                                <m:t>max</m:t>
                              </m:r>
                            </m:e>
                            <m:lim>
                              <m:r>
                                <a:rPr lang="pt-BR" i="1">
                                  <a:solidFill>
                                    <a:schemeClr val="tx1"/>
                                  </a:solidFill>
                                  <a:latin typeface="Cambria Math" panose="02040503050406030204" pitchFamily="18" charset="0"/>
                                </a:rPr>
                                <m:t>𝑞</m:t>
                              </m:r>
                            </m:lim>
                          </m:limLow>
                        </m:fName>
                        <m:e>
                          <m:sSubSup>
                            <m:sSubSupPr>
                              <m:ctrlPr>
                                <a:rPr lang="pt-BR" b="1" i="1">
                                  <a:solidFill>
                                    <a:schemeClr val="tx1"/>
                                  </a:solidFill>
                                  <a:latin typeface="Cambria Math" panose="02040503050406030204" pitchFamily="18" charset="0"/>
                                </a:rPr>
                              </m:ctrlPr>
                            </m:sSubSupPr>
                            <m:e>
                              <m:r>
                                <a:rPr lang="pt-BR" i="1">
                                  <a:solidFill>
                                    <a:schemeClr val="tx1"/>
                                  </a:solidFill>
                                  <a:latin typeface="Cambria Math" panose="02040503050406030204" pitchFamily="18" charset="0"/>
                                </a:rPr>
                                <m:t>h</m:t>
                              </m:r>
                            </m:e>
                            <m:sub>
                              <m:r>
                                <a:rPr lang="pt-BR" b="1" i="1">
                                  <a:solidFill>
                                    <a:schemeClr val="tx1"/>
                                  </a:solidFill>
                                  <a:latin typeface="Cambria Math" panose="02040503050406030204" pitchFamily="18" charset="0"/>
                                </a:rPr>
                                <m:t>𝒂</m:t>
                              </m:r>
                            </m:sub>
                            <m:sup>
                              <m:r>
                                <a:rPr lang="pt-BR" i="1">
                                  <a:solidFill>
                                    <a:schemeClr val="tx1"/>
                                  </a:solidFill>
                                  <a:latin typeface="Cambria Math" panose="02040503050406030204" pitchFamily="18" charset="0"/>
                                </a:rPr>
                                <m:t>𝑞</m:t>
                              </m:r>
                            </m:sup>
                          </m:sSubSup>
                          <m:d>
                            <m:dPr>
                              <m:ctrlPr>
                                <a:rPr lang="pt-BR" i="1">
                                  <a:solidFill>
                                    <a:schemeClr val="tx1"/>
                                  </a:solidFill>
                                  <a:latin typeface="Cambria Math" panose="02040503050406030204" pitchFamily="18" charset="0"/>
                                </a:rPr>
                              </m:ctrlPr>
                            </m:dPr>
                            <m:e>
                              <m:r>
                                <a:rPr lang="pt-BR" b="1" i="1">
                                  <a:solidFill>
                                    <a:schemeClr val="tx1"/>
                                  </a:solidFill>
                                  <a:latin typeface="Cambria Math" panose="02040503050406030204" pitchFamily="18" charset="0"/>
                                </a:rPr>
                                <m:t>𝒙</m:t>
                              </m:r>
                              <m:d>
                                <m:dPr>
                                  <m:ctrlPr>
                                    <a:rPr lang="pt-BR" b="1" i="1">
                                      <a:solidFill>
                                        <a:schemeClr val="tx1"/>
                                      </a:solidFill>
                                      <a:latin typeface="Cambria Math" panose="02040503050406030204" pitchFamily="18" charset="0"/>
                                    </a:rPr>
                                  </m:ctrlPr>
                                </m:dPr>
                                <m:e>
                                  <m:r>
                                    <a:rPr lang="pt-BR" b="0" i="1" smtClean="0">
                                      <a:solidFill>
                                        <a:schemeClr val="tx1"/>
                                      </a:solidFill>
                                      <a:latin typeface="Cambria Math" panose="02040503050406030204" pitchFamily="18" charset="0"/>
                                    </a:rPr>
                                    <m:t>𝑛</m:t>
                                  </m:r>
                                </m:e>
                              </m:d>
                            </m:e>
                          </m:d>
                        </m:e>
                      </m:func>
                      <m:r>
                        <a:rPr lang="pt-BR" b="0" i="1" smtClean="0">
                          <a:solidFill>
                            <a:schemeClr val="tx1"/>
                          </a:solidFill>
                          <a:latin typeface="Cambria Math" panose="02040503050406030204" pitchFamily="18" charset="0"/>
                        </a:rPr>
                        <m:t>.</m:t>
                      </m:r>
                    </m:oMath>
                  </m:oMathPara>
                </a14:m>
                <a:endParaRPr lang="pt-BR" b="0" dirty="0">
                  <a:solidFill>
                    <a:schemeClr val="tx1"/>
                  </a:solidFill>
                </a:endParaRPr>
              </a:p>
              <a:p>
                <a:r>
                  <a:rPr lang="pt-BR" dirty="0"/>
                  <a:t>A arquitetura de um </a:t>
                </a:r>
                <a:r>
                  <a:rPr lang="pt-BR" b="1" dirty="0"/>
                  <a:t>regressor</a:t>
                </a:r>
                <a:r>
                  <a:rPr lang="pt-BR" b="1" i="1" dirty="0"/>
                  <a:t> softmax </a:t>
                </a:r>
                <a:r>
                  <a:rPr lang="pt-BR" dirty="0"/>
                  <a:t>para um problema com três classes (i.e., </a:t>
                </a:r>
                <a14:m>
                  <m:oMath xmlns:m="http://schemas.openxmlformats.org/officeDocument/2006/math">
                    <m:r>
                      <a:rPr lang="pt-BR" i="1">
                        <a:latin typeface="Cambria Math" panose="02040503050406030204" pitchFamily="18" charset="0"/>
                      </a:rPr>
                      <m:t>𝑄</m:t>
                    </m:r>
                    <m:r>
                      <a:rPr lang="pt-BR" i="1">
                        <a:latin typeface="Cambria Math" panose="02040503050406030204" pitchFamily="18" charset="0"/>
                      </a:rPr>
                      <m:t>=3</m:t>
                    </m:r>
                  </m:oMath>
                </a14:m>
                <a:r>
                  <a:rPr lang="pt-BR" dirty="0"/>
                  <a:t>) e dois atributos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1</m:t>
                        </m:r>
                      </m:sub>
                    </m:sSub>
                  </m:oMath>
                </a14:m>
                <a:r>
                  <a:rPr lang="pt-BR" dirty="0"/>
                  <a:t> e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2</m:t>
                        </m:r>
                      </m:sub>
                    </m:sSub>
                  </m:oMath>
                </a14:m>
                <a:r>
                  <a:rPr lang="pt-BR" dirty="0"/>
                  <a:t>) é mostrada ao lado.</a:t>
                </a:r>
              </a:p>
            </p:txBody>
          </p:sp>
        </mc:Choice>
        <mc:Fallback>
          <p:sp>
            <p:nvSpPr>
              <p:cNvPr id="3" name="Espaço Reservado para Conteúdo 2">
                <a:extLst>
                  <a:ext uri="{FF2B5EF4-FFF2-40B4-BE49-F238E27FC236}">
                    <a16:creationId xmlns:a16="http://schemas.microsoft.com/office/drawing/2014/main" xmlns="" xmlns:a14="http://schemas.microsoft.com/office/drawing/2010/main" id="{BB734B24-DA50-860B-5D55-C33F6F451B6F}"/>
                  </a:ext>
                </a:extLst>
              </p:cNvPr>
              <p:cNvSpPr>
                <a:spLocks noGrp="1" noRot="1" noChangeAspect="1" noMove="1" noResize="1" noEditPoints="1" noAdjustHandles="1" noChangeArrowheads="1" noChangeShapeType="1" noTextEdit="1"/>
              </p:cNvSpPr>
              <p:nvPr>
                <p:ph idx="1"/>
              </p:nvPr>
            </p:nvSpPr>
            <p:spPr>
              <a:xfrm>
                <a:off x="6096000" y="1840614"/>
                <a:ext cx="6096000" cy="5032375"/>
              </a:xfrm>
              <a:blipFill rotWithShape="0">
                <a:blip r:embed="rId3"/>
                <a:stretch>
                  <a:fillRect l="-1800" t="-2061" r="-2700"/>
                </a:stretch>
              </a:blipFill>
            </p:spPr>
            <p:txBody>
              <a:bodyPr/>
              <a:lstStyle/>
              <a:p>
                <a:r>
                  <a:rPr lang="pt-BR">
                    <a:noFill/>
                  </a:rPr>
                  <a:t> </a:t>
                </a:r>
              </a:p>
            </p:txBody>
          </p:sp>
        </mc:Fallback>
      </mc:AlternateContent>
      <p:pic>
        <p:nvPicPr>
          <p:cNvPr id="4" name="Imagem 5">
            <a:extLst>
              <a:ext uri="{FF2B5EF4-FFF2-40B4-BE49-F238E27FC236}">
                <a16:creationId xmlns:a16="http://schemas.microsoft.com/office/drawing/2014/main" xmlns="" id="{535159CB-11DC-74B8-5C5F-D571CD01832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236" y="2370360"/>
            <a:ext cx="5840814" cy="2951148"/>
          </a:xfrm>
          <a:prstGeom prst="rect">
            <a:avLst/>
          </a:prstGeom>
        </p:spPr>
      </p:pic>
    </p:spTree>
    <p:extLst>
      <p:ext uri="{BB962C8B-B14F-4D97-AF65-F5344CB8AC3E}">
        <p14:creationId xmlns:p14="http://schemas.microsoft.com/office/powerpoint/2010/main" val="36873974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FC175046-E9DF-FCC8-C62B-B00332089713}"/>
              </a:ext>
            </a:extLst>
          </p:cNvPr>
          <p:cNvSpPr>
            <a:spLocks noGrp="1"/>
          </p:cNvSpPr>
          <p:nvPr>
            <p:ph type="title"/>
          </p:nvPr>
        </p:nvSpPr>
        <p:spPr/>
        <p:txBody>
          <a:bodyPr/>
          <a:lstStyle/>
          <a:p>
            <a:r>
              <a:rPr lang="pt-BR" dirty="0"/>
              <a:t>Regressor </a:t>
            </a:r>
            <a:r>
              <a:rPr lang="pt-BR" i="1" dirty="0"/>
              <a:t>softmax</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xmlns="" id="{24721BB7-DBA3-D8BF-7F98-ED91BD59DAEC}"/>
                  </a:ext>
                </a:extLst>
              </p:cNvPr>
              <p:cNvSpPr>
                <a:spLocks noGrp="1"/>
              </p:cNvSpPr>
              <p:nvPr>
                <p:ph idx="1"/>
              </p:nvPr>
            </p:nvSpPr>
            <p:spPr>
              <a:xfrm>
                <a:off x="5951050" y="1825624"/>
                <a:ext cx="6124686" cy="5032375"/>
              </a:xfrm>
            </p:spPr>
            <p:txBody>
              <a:bodyPr>
                <a:normAutofit/>
              </a:bodyPr>
              <a:lstStyle/>
              <a:p>
                <a:r>
                  <a:rPr lang="pt-BR" dirty="0"/>
                  <a:t>Em resumo, a ideia por trás da </a:t>
                </a:r>
                <a:r>
                  <a:rPr lang="pt-BR" b="1" dirty="0"/>
                  <a:t>regressão</a:t>
                </a:r>
                <a:r>
                  <a:rPr lang="pt-BR" b="1" i="1" dirty="0"/>
                  <a:t> softmax </a:t>
                </a:r>
                <a:r>
                  <a:rPr lang="pt-BR" dirty="0"/>
                  <a:t>é bastante simples: </a:t>
                </a:r>
              </a:p>
              <a:p>
                <a:pPr lvl="1">
                  <a:buFont typeface="Wingdings" panose="05000000000000000000" pitchFamily="2" charset="2"/>
                  <a:buChar char="§"/>
                </a:pPr>
                <a:r>
                  <a:rPr lang="pt-BR" dirty="0"/>
                  <a:t>dado um exemplo de entrada, </a:t>
                </a:r>
                <a14:m>
                  <m:oMath xmlns:m="http://schemas.openxmlformats.org/officeDocument/2006/math">
                    <m:r>
                      <a:rPr lang="pt-BR" b="1" i="1">
                        <a:latin typeface="Cambria Math" panose="02040503050406030204" pitchFamily="18" charset="0"/>
                      </a:rPr>
                      <m:t>𝒙</m:t>
                    </m:r>
                    <m:r>
                      <a:rPr lang="pt-BR" b="0" i="0" smtClean="0">
                        <a:latin typeface="Cambria Math" panose="02040503050406030204" pitchFamily="18" charset="0"/>
                      </a:rPr>
                      <m:t>(</m:t>
                    </m:r>
                    <m:r>
                      <a:rPr lang="pt-BR" b="0" i="1" smtClean="0">
                        <a:latin typeface="Cambria Math" panose="02040503050406030204" pitchFamily="18" charset="0"/>
                      </a:rPr>
                      <m:t>𝑛</m:t>
                    </m:r>
                    <m:r>
                      <a:rPr lang="pt-BR" b="0" i="0" smtClean="0">
                        <a:latin typeface="Cambria Math" panose="02040503050406030204" pitchFamily="18" charset="0"/>
                      </a:rPr>
                      <m:t>)</m:t>
                    </m:r>
                  </m:oMath>
                </a14:m>
                <a:r>
                  <a:rPr lang="pt-BR" dirty="0"/>
                  <a:t>, </a:t>
                </a:r>
              </a:p>
              <a:p>
                <a:pPr lvl="1">
                  <a:buFont typeface="Wingdings" panose="05000000000000000000" pitchFamily="2" charset="2"/>
                  <a:buChar char="§"/>
                </a:pPr>
                <a:r>
                  <a:rPr lang="pt-BR" dirty="0"/>
                  <a:t>o regressor </a:t>
                </a:r>
                <a:r>
                  <a:rPr lang="pt-BR" i="1" dirty="0"/>
                  <a:t>softmax</a:t>
                </a:r>
                <a:r>
                  <a:rPr lang="pt-BR" dirty="0"/>
                  <a:t> calcula uma “</a:t>
                </a:r>
                <a:r>
                  <a:rPr lang="pt-BR" b="1" dirty="0"/>
                  <a:t>pontuação</a:t>
                </a:r>
                <a:r>
                  <a:rPr lang="pt-BR" dirty="0"/>
                  <a:t>”, para cada classe </a:t>
                </a:r>
                <a14:m>
                  <m:oMath xmlns:m="http://schemas.openxmlformats.org/officeDocument/2006/math">
                    <m:r>
                      <a:rPr lang="pt-BR" i="1">
                        <a:latin typeface="Cambria Math" panose="02040503050406030204" pitchFamily="18" charset="0"/>
                      </a:rPr>
                      <m:t>𝑞</m:t>
                    </m:r>
                  </m:oMath>
                </a14:m>
                <a:r>
                  <a:rPr lang="pt-BR" dirty="0"/>
                  <a:t>, i.e., as saídas das </a:t>
                </a:r>
                <a14:m>
                  <m:oMath xmlns:m="http://schemas.openxmlformats.org/officeDocument/2006/math">
                    <m:r>
                      <a:rPr lang="pt-BR" i="1">
                        <a:latin typeface="Cambria Math" panose="02040503050406030204" pitchFamily="18" charset="0"/>
                      </a:rPr>
                      <m:t>𝑄</m:t>
                    </m:r>
                    <m:r>
                      <a:rPr lang="pt-BR" i="1">
                        <a:latin typeface="Cambria Math" panose="02040503050406030204" pitchFamily="18" charset="0"/>
                      </a:rPr>
                      <m:t> </m:t>
                    </m:r>
                  </m:oMath>
                </a14:m>
                <a:r>
                  <a:rPr lang="pt-BR" dirty="0"/>
                  <a:t>funções discriminantes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𝑔</m:t>
                        </m:r>
                      </m:e>
                      <m:sub>
                        <m:r>
                          <a:rPr lang="pt-BR" i="1">
                            <a:latin typeface="Cambria Math" panose="02040503050406030204" pitchFamily="18" charset="0"/>
                          </a:rPr>
                          <m:t>𝑞</m:t>
                        </m:r>
                      </m:sub>
                    </m:sSub>
                    <m:d>
                      <m:dPr>
                        <m:ctrlPr>
                          <a:rPr lang="pt-BR" b="1" i="1">
                            <a:latin typeface="Cambria Math" panose="02040503050406030204" pitchFamily="18" charset="0"/>
                          </a:rPr>
                        </m:ctrlPr>
                      </m:dPr>
                      <m:e>
                        <m:r>
                          <a:rPr lang="pt-BR" b="1" i="1">
                            <a:latin typeface="Cambria Math" panose="02040503050406030204" pitchFamily="18" charset="0"/>
                          </a:rPr>
                          <m:t>𝒙</m:t>
                        </m:r>
                        <m:r>
                          <a:rPr lang="pt-BR">
                            <a:latin typeface="Cambria Math" panose="02040503050406030204" pitchFamily="18" charset="0"/>
                          </a:rPr>
                          <m:t>(</m:t>
                        </m:r>
                        <m:r>
                          <a:rPr lang="pt-BR" b="0" i="1" smtClean="0">
                            <a:latin typeface="Cambria Math" panose="02040503050406030204" pitchFamily="18" charset="0"/>
                          </a:rPr>
                          <m:t>𝑛</m:t>
                        </m:r>
                        <m:r>
                          <a:rPr lang="pt-BR">
                            <a:latin typeface="Cambria Math" panose="02040503050406030204" pitchFamily="18" charset="0"/>
                          </a:rPr>
                          <m:t>)</m:t>
                        </m:r>
                      </m:e>
                    </m:d>
                    <m:r>
                      <a:rPr lang="pt-BR" b="1" i="1" smtClean="0">
                        <a:latin typeface="Cambria Math" panose="02040503050406030204" pitchFamily="18" charset="0"/>
                      </a:rPr>
                      <m:t>, </m:t>
                    </m:r>
                    <m:r>
                      <a:rPr lang="pt-BR" b="0" i="1" smtClean="0">
                        <a:latin typeface="Cambria Math" panose="02040503050406030204" pitchFamily="18" charset="0"/>
                        <a:ea typeface="Cambria Math" panose="02040503050406030204" pitchFamily="18" charset="0"/>
                      </a:rPr>
                      <m:t>∀</m:t>
                    </m:r>
                    <m:r>
                      <a:rPr lang="pt-BR" b="0" i="1" smtClean="0">
                        <a:latin typeface="Cambria Math" panose="02040503050406030204" pitchFamily="18" charset="0"/>
                        <a:ea typeface="Cambria Math" panose="02040503050406030204" pitchFamily="18" charset="0"/>
                      </a:rPr>
                      <m:t>𝑞</m:t>
                    </m:r>
                  </m:oMath>
                </a14:m>
                <a:r>
                  <a:rPr lang="pt-BR" dirty="0"/>
                  <a:t>.</a:t>
                </a:r>
              </a:p>
              <a:p>
                <a:pPr lvl="1">
                  <a:buFont typeface="Wingdings" panose="05000000000000000000" pitchFamily="2" charset="2"/>
                  <a:buChar char="§"/>
                </a:pPr>
                <a:r>
                  <a:rPr lang="pt-BR" dirty="0"/>
                  <a:t>e, em seguida, estima a probabilidade de cada classe aplicando a função </a:t>
                </a:r>
                <a:r>
                  <a:rPr lang="pt-BR" i="1" dirty="0"/>
                  <a:t>softmax</a:t>
                </a:r>
                <a:r>
                  <a:rPr lang="pt-BR" dirty="0"/>
                  <a:t> às “</a:t>
                </a:r>
                <a:r>
                  <a:rPr lang="pt-BR" b="1" dirty="0"/>
                  <a:t>pontuações</a:t>
                </a:r>
                <a:r>
                  <a:rPr lang="pt-BR" dirty="0"/>
                  <a:t>”.</a:t>
                </a:r>
              </a:p>
            </p:txBody>
          </p:sp>
        </mc:Choice>
        <mc:Fallback xmlns="">
          <p:sp>
            <p:nvSpPr>
              <p:cNvPr id="3" name="Espaço Reservado para Conteúdo 2">
                <a:extLst>
                  <a:ext uri="{FF2B5EF4-FFF2-40B4-BE49-F238E27FC236}">
                    <a16:creationId xmlns:a16="http://schemas.microsoft.com/office/drawing/2014/main" id="{24721BB7-DBA3-D8BF-7F98-ED91BD59DAEC}"/>
                  </a:ext>
                </a:extLst>
              </p:cNvPr>
              <p:cNvSpPr>
                <a:spLocks noGrp="1" noRot="1" noChangeAspect="1" noMove="1" noResize="1" noEditPoints="1" noAdjustHandles="1" noChangeArrowheads="1" noChangeShapeType="1" noTextEdit="1"/>
              </p:cNvSpPr>
              <p:nvPr>
                <p:ph idx="1"/>
              </p:nvPr>
            </p:nvSpPr>
            <p:spPr>
              <a:xfrm>
                <a:off x="5951050" y="1825624"/>
                <a:ext cx="6124686" cy="5032375"/>
              </a:xfrm>
              <a:blipFill>
                <a:blip r:embed="rId3"/>
                <a:stretch>
                  <a:fillRect l="-1791" t="-1937" r="-1592"/>
                </a:stretch>
              </a:blipFill>
            </p:spPr>
            <p:txBody>
              <a:bodyPr/>
              <a:lstStyle/>
              <a:p>
                <a:r>
                  <a:rPr lang="en-US">
                    <a:noFill/>
                  </a:rPr>
                  <a:t> </a:t>
                </a:r>
              </a:p>
            </p:txBody>
          </p:sp>
        </mc:Fallback>
      </mc:AlternateContent>
      <p:pic>
        <p:nvPicPr>
          <p:cNvPr id="6" name="Imagem 5">
            <a:extLst>
              <a:ext uri="{FF2B5EF4-FFF2-40B4-BE49-F238E27FC236}">
                <a16:creationId xmlns:a16="http://schemas.microsoft.com/office/drawing/2014/main" xmlns="" id="{FF78CF76-EB26-3FAE-0391-E452288FA28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236" y="2370360"/>
            <a:ext cx="5840814" cy="2951148"/>
          </a:xfrm>
          <a:prstGeom prst="rect">
            <a:avLst/>
          </a:prstGeom>
        </p:spPr>
      </p:pic>
    </p:spTree>
    <p:extLst>
      <p:ext uri="{BB962C8B-B14F-4D97-AF65-F5344CB8AC3E}">
        <p14:creationId xmlns:p14="http://schemas.microsoft.com/office/powerpoint/2010/main" val="66984096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94AB8438-E56E-2412-517C-8456E4CA773C}"/>
              </a:ext>
            </a:extLst>
          </p:cNvPr>
          <p:cNvSpPr>
            <a:spLocks noGrp="1"/>
          </p:cNvSpPr>
          <p:nvPr>
            <p:ph type="title"/>
          </p:nvPr>
        </p:nvSpPr>
        <p:spPr/>
        <p:txBody>
          <a:bodyPr/>
          <a:lstStyle/>
          <a:p>
            <a:r>
              <a:rPr lang="pt-BR" dirty="0"/>
              <a:t>Exemplo</a:t>
            </a:r>
          </a:p>
        </p:txBody>
      </p:sp>
      <p:sp>
        <p:nvSpPr>
          <p:cNvPr id="3" name="Espaço Reservado para Conteúdo 2">
            <a:extLst>
              <a:ext uri="{FF2B5EF4-FFF2-40B4-BE49-F238E27FC236}">
                <a16:creationId xmlns:a16="http://schemas.microsoft.com/office/drawing/2014/main" xmlns="" id="{F7E2B09C-6D56-4C9F-A364-B904CCE2F1A0}"/>
              </a:ext>
            </a:extLst>
          </p:cNvPr>
          <p:cNvSpPr>
            <a:spLocks noGrp="1"/>
          </p:cNvSpPr>
          <p:nvPr>
            <p:ph idx="1"/>
          </p:nvPr>
        </p:nvSpPr>
        <p:spPr/>
        <p:txBody>
          <a:bodyPr/>
          <a:lstStyle/>
          <a:p>
            <a:r>
              <a:rPr lang="pt-BR" dirty="0">
                <a:hlinkClick r:id="rId3"/>
              </a:rPr>
              <a:t>Exemplo: </a:t>
            </a:r>
            <a:r>
              <a:rPr lang="pt-BR" dirty="0" err="1">
                <a:hlinkClick r:id="rId3"/>
              </a:rPr>
              <a:t>regressão_softmax.ipynb</a:t>
            </a:r>
            <a:endParaRPr lang="en-US" dirty="0"/>
          </a:p>
        </p:txBody>
      </p:sp>
      <p:grpSp>
        <p:nvGrpSpPr>
          <p:cNvPr id="18" name="Group 17">
            <a:extLst>
              <a:ext uri="{FF2B5EF4-FFF2-40B4-BE49-F238E27FC236}">
                <a16:creationId xmlns:a16="http://schemas.microsoft.com/office/drawing/2014/main" xmlns="" id="{627C64FD-88E0-EC8E-2A34-0D5737B4C854}"/>
              </a:ext>
            </a:extLst>
          </p:cNvPr>
          <p:cNvGrpSpPr/>
          <p:nvPr/>
        </p:nvGrpSpPr>
        <p:grpSpPr>
          <a:xfrm>
            <a:off x="1752685" y="2681262"/>
            <a:ext cx="8371070" cy="2659743"/>
            <a:chOff x="1752685" y="2681262"/>
            <a:chExt cx="8371070" cy="2659743"/>
          </a:xfrm>
        </p:grpSpPr>
        <p:pic>
          <p:nvPicPr>
            <p:cNvPr id="12" name="Picture 4" descr="Project Jupyter | Try Jupyter">
              <a:extLst>
                <a:ext uri="{FF2B5EF4-FFF2-40B4-BE49-F238E27FC236}">
                  <a16:creationId xmlns:a16="http://schemas.microsoft.com/office/drawing/2014/main" xmlns="" id="{FF92EA36-91E7-292B-D7A0-2D4D83A10F9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31027" y="3102450"/>
              <a:ext cx="3461657" cy="181737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8" descr="Google Colaboratory Colab - Guía Completa Español - Marketing Branding">
              <a:extLst>
                <a:ext uri="{FF2B5EF4-FFF2-40B4-BE49-F238E27FC236}">
                  <a16:creationId xmlns:a16="http://schemas.microsoft.com/office/drawing/2014/main" xmlns="" id="{46F1718A-89E6-9E63-E40B-2B19852D6AA0}"/>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5865" r="10641"/>
            <a:stretch/>
          </p:blipFill>
          <p:spPr bwMode="auto">
            <a:xfrm>
              <a:off x="6792684" y="2681262"/>
              <a:ext cx="3331071" cy="2659743"/>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0" descr="IT12A01: FUNDAMENTALS OF PYTHON PROGRAMMING (SF) (SYNCHRONOUS E-LEARNING) -  NTUC LearningHub">
              <a:extLst>
                <a:ext uri="{FF2B5EF4-FFF2-40B4-BE49-F238E27FC236}">
                  <a16:creationId xmlns:a16="http://schemas.microsoft.com/office/drawing/2014/main" xmlns="" id="{33F6B1B4-9B79-D634-3E35-33F24609C848}"/>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3319" r="20198"/>
            <a:stretch/>
          </p:blipFill>
          <p:spPr bwMode="auto">
            <a:xfrm>
              <a:off x="1752685" y="3176833"/>
              <a:ext cx="1894114" cy="1877924"/>
            </a:xfrm>
            <a:prstGeom prst="rect">
              <a:avLst/>
            </a:prstGeom>
            <a:noFill/>
            <a:extLst>
              <a:ext uri="{909E8E84-426E-40DD-AFC4-6F175D3DCCD1}">
                <a14:hiddenFill xmlns:a14="http://schemas.microsoft.com/office/drawing/2010/main">
                  <a:solidFill>
                    <a:srgbClr val="FFFFFF"/>
                  </a:solidFill>
                </a14:hiddenFill>
              </a:ext>
            </a:extLst>
          </p:spPr>
        </p:pic>
        <p:sp>
          <p:nvSpPr>
            <p:cNvPr id="15" name="Sinal de Adição 7">
              <a:extLst>
                <a:ext uri="{FF2B5EF4-FFF2-40B4-BE49-F238E27FC236}">
                  <a16:creationId xmlns:a16="http://schemas.microsoft.com/office/drawing/2014/main" xmlns="" id="{6959EE6C-DCDB-E78B-5C50-EBD3FF3049E2}"/>
                </a:ext>
              </a:extLst>
            </p:cNvPr>
            <p:cNvSpPr>
              <a:spLocks noChangeAspect="1"/>
            </p:cNvSpPr>
            <p:nvPr/>
          </p:nvSpPr>
          <p:spPr>
            <a:xfrm>
              <a:off x="3646799" y="3545037"/>
              <a:ext cx="468000" cy="468000"/>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Sinal de Adição 10">
              <a:extLst>
                <a:ext uri="{FF2B5EF4-FFF2-40B4-BE49-F238E27FC236}">
                  <a16:creationId xmlns:a16="http://schemas.microsoft.com/office/drawing/2014/main" xmlns="" id="{30A21FDB-ABA6-9FD5-49EF-7762414AEF0C}"/>
                </a:ext>
              </a:extLst>
            </p:cNvPr>
            <p:cNvSpPr>
              <a:spLocks noChangeAspect="1"/>
            </p:cNvSpPr>
            <p:nvPr/>
          </p:nvSpPr>
          <p:spPr>
            <a:xfrm>
              <a:off x="6096043" y="3467980"/>
              <a:ext cx="468000" cy="468000"/>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Tree>
    <p:extLst>
      <p:ext uri="{BB962C8B-B14F-4D97-AF65-F5344CB8AC3E}">
        <p14:creationId xmlns:p14="http://schemas.microsoft.com/office/powerpoint/2010/main" val="320933254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F49AE95-3E0A-F9BB-A3FD-4C328EF25334}"/>
              </a:ext>
            </a:extLst>
          </p:cNvPr>
          <p:cNvSpPr>
            <a:spLocks noGrp="1"/>
          </p:cNvSpPr>
          <p:nvPr>
            <p:ph type="title"/>
          </p:nvPr>
        </p:nvSpPr>
        <p:spPr/>
        <p:txBody>
          <a:bodyPr/>
          <a:lstStyle/>
          <a:p>
            <a:r>
              <a:rPr lang="pt-BR" dirty="0"/>
              <a:t>Lista de exercícios</a:t>
            </a:r>
            <a:endParaRPr lang="en-US" dirty="0"/>
          </a:p>
        </p:txBody>
      </p:sp>
      <p:sp>
        <p:nvSpPr>
          <p:cNvPr id="3" name="Content Placeholder 2">
            <a:extLst>
              <a:ext uri="{FF2B5EF4-FFF2-40B4-BE49-F238E27FC236}">
                <a16:creationId xmlns:a16="http://schemas.microsoft.com/office/drawing/2014/main" xmlns="" id="{A431927B-FE56-CB25-3ECF-AB5E92A7DC71}"/>
              </a:ext>
            </a:extLst>
          </p:cNvPr>
          <p:cNvSpPr>
            <a:spLocks noGrp="1"/>
          </p:cNvSpPr>
          <p:nvPr>
            <p:ph idx="1"/>
          </p:nvPr>
        </p:nvSpPr>
        <p:spPr/>
        <p:txBody>
          <a:bodyPr/>
          <a:lstStyle/>
          <a:p>
            <a:pPr marL="0" indent="0">
              <a:buNone/>
            </a:pPr>
            <a:r>
              <a:rPr lang="en-US" dirty="0">
                <a:hlinkClick r:id="rId2"/>
              </a:rPr>
              <a:t>Lista #7 – </a:t>
            </a:r>
            <a:r>
              <a:rPr lang="en-US" dirty="0" err="1">
                <a:hlinkClick r:id="rId2"/>
              </a:rPr>
              <a:t>Regressão</a:t>
            </a:r>
            <a:r>
              <a:rPr lang="en-US" dirty="0">
                <a:hlinkClick r:id="rId2"/>
              </a:rPr>
              <a:t> </a:t>
            </a:r>
            <a:r>
              <a:rPr lang="en-US" i="1" dirty="0">
                <a:hlinkClick r:id="rId2"/>
              </a:rPr>
              <a:t>softmax</a:t>
            </a:r>
            <a:endParaRPr lang="en-US" i="1" dirty="0"/>
          </a:p>
        </p:txBody>
      </p:sp>
    </p:spTree>
    <p:extLst>
      <p:ext uri="{BB962C8B-B14F-4D97-AF65-F5344CB8AC3E}">
        <p14:creationId xmlns:p14="http://schemas.microsoft.com/office/powerpoint/2010/main" val="239205311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xmlns="" id="{32666AC8-2E17-4DB4-B0F5-60C640CCFD2E}"/>
              </a:ext>
            </a:extLst>
          </p:cNvPr>
          <p:cNvSpPr txBox="1">
            <a:spLocks/>
          </p:cNvSpPr>
          <p:nvPr/>
        </p:nvSpPr>
        <p:spPr>
          <a:xfrm>
            <a:off x="1431533" y="2720526"/>
            <a:ext cx="9144000" cy="10295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sz="6600" dirty="0"/>
              <a:t>Perguntas?</a:t>
            </a:r>
            <a:endParaRPr lang="pt-BR" sz="6600" b="1" i="1" dirty="0"/>
          </a:p>
        </p:txBody>
      </p:sp>
    </p:spTree>
    <p:extLst>
      <p:ext uri="{BB962C8B-B14F-4D97-AF65-F5344CB8AC3E}">
        <p14:creationId xmlns:p14="http://schemas.microsoft.com/office/powerpoint/2010/main" val="377300566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xmlns="" id="{32666AC8-2E17-4DB4-B0F5-60C640CCFD2E}"/>
              </a:ext>
            </a:extLst>
          </p:cNvPr>
          <p:cNvSpPr txBox="1">
            <a:spLocks/>
          </p:cNvSpPr>
          <p:nvPr/>
        </p:nvSpPr>
        <p:spPr>
          <a:xfrm>
            <a:off x="1431533" y="2720526"/>
            <a:ext cx="9144000" cy="10295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sz="6600" dirty="0"/>
              <a:t>Obrigado!</a:t>
            </a:r>
            <a:endParaRPr lang="pt-BR" sz="6600" b="1" i="1" dirty="0"/>
          </a:p>
        </p:txBody>
      </p:sp>
    </p:spTree>
    <p:extLst>
      <p:ext uri="{BB962C8B-B14F-4D97-AF65-F5344CB8AC3E}">
        <p14:creationId xmlns:p14="http://schemas.microsoft.com/office/powerpoint/2010/main" val="26557046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6DA37F4-4ED4-806C-CFDE-46C776755B3A}"/>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xmlns="" id="{616605E6-566B-D397-B0D6-339FE7F8CB5E}"/>
              </a:ext>
            </a:extLst>
          </p:cNvPr>
          <p:cNvSpPr txBox="1">
            <a:spLocks/>
          </p:cNvSpPr>
          <p:nvPr/>
        </p:nvSpPr>
        <p:spPr>
          <a:xfrm>
            <a:off x="1431533" y="2720526"/>
            <a:ext cx="9144000" cy="10295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sz="6600" dirty="0"/>
              <a:t>Figuras</a:t>
            </a:r>
            <a:endParaRPr lang="pt-BR" sz="6600" b="1" i="1" dirty="0"/>
          </a:p>
        </p:txBody>
      </p:sp>
    </p:spTree>
    <p:extLst>
      <p:ext uri="{BB962C8B-B14F-4D97-AF65-F5344CB8AC3E}">
        <p14:creationId xmlns:p14="http://schemas.microsoft.com/office/powerpoint/2010/main" val="30793514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Agrupar 22">
            <a:extLst>
              <a:ext uri="{FF2B5EF4-FFF2-40B4-BE49-F238E27FC236}">
                <a16:creationId xmlns:a16="http://schemas.microsoft.com/office/drawing/2014/main" xmlns="" id="{BDB2E9D3-18AD-6A55-F414-20E01AF3185A}"/>
              </a:ext>
            </a:extLst>
          </p:cNvPr>
          <p:cNvGrpSpPr/>
          <p:nvPr/>
        </p:nvGrpSpPr>
        <p:grpSpPr>
          <a:xfrm>
            <a:off x="1027469" y="1870682"/>
            <a:ext cx="6115665" cy="2461594"/>
            <a:chOff x="1027469" y="1870682"/>
            <a:chExt cx="6115665" cy="2461594"/>
          </a:xfrm>
        </p:grpSpPr>
        <mc:AlternateContent xmlns:mc="http://schemas.openxmlformats.org/markup-compatibility/2006" xmlns:a14="http://schemas.microsoft.com/office/drawing/2010/main">
          <mc:Choice Requires="a14">
            <p:sp>
              <p:nvSpPr>
                <p:cNvPr id="5" name="CaixaDeTexto 5">
                  <a:extLst>
                    <a:ext uri="{FF2B5EF4-FFF2-40B4-BE49-F238E27FC236}">
                      <a16:creationId xmlns:a16="http://schemas.microsoft.com/office/drawing/2014/main" xmlns="" id="{AF11FFDB-E923-3C94-D47A-83418BDAD06C}"/>
                    </a:ext>
                  </a:extLst>
                </p:cNvPr>
                <p:cNvSpPr txBox="1"/>
                <p:nvPr/>
              </p:nvSpPr>
              <p:spPr>
                <a:xfrm>
                  <a:off x="5619134" y="2306131"/>
                  <a:ext cx="1243781" cy="20208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pt-BR" sz="2800" i="1" smtClean="0">
                                <a:latin typeface="Cambria Math" panose="02040503050406030204" pitchFamily="18" charset="0"/>
                              </a:rPr>
                            </m:ctrlPr>
                          </m:dPr>
                          <m:e>
                            <m:m>
                              <m:mPr>
                                <m:mcs>
                                  <m:mc>
                                    <m:mcPr>
                                      <m:count m:val="1"/>
                                      <m:mcJc m:val="center"/>
                                    </m:mcPr>
                                  </m:mc>
                                </m:mcs>
                                <m:ctrlPr>
                                  <a:rPr lang="pt-BR" sz="2800" i="1" smtClean="0">
                                    <a:latin typeface="Cambria Math" panose="02040503050406030204" pitchFamily="18" charset="0"/>
                                  </a:rPr>
                                </m:ctrlPr>
                              </m:mPr>
                              <m:mr>
                                <m:e>
                                  <m:r>
                                    <m:rPr>
                                      <m:brk m:alnAt="7"/>
                                    </m:rPr>
                                    <a:rPr lang="pt-BR" sz="2800" b="0" i="1" smtClean="0">
                                      <a:latin typeface="Cambria Math" panose="02040503050406030204" pitchFamily="18" charset="0"/>
                                    </a:rPr>
                                    <m:t>0</m:t>
                                  </m:r>
                                  <m:r>
                                    <a:rPr lang="pt-BR" sz="2800" b="0" i="1" smtClean="0">
                                      <a:latin typeface="Cambria Math" panose="02040503050406030204" pitchFamily="18" charset="0"/>
                                    </a:rPr>
                                    <m:t>.01</m:t>
                                  </m:r>
                                </m:e>
                              </m:mr>
                              <m:mr>
                                <m:e>
                                  <m:r>
                                    <a:rPr lang="pt-BR" sz="2800" b="0" i="1" smtClean="0">
                                      <a:latin typeface="Cambria Math" panose="02040503050406030204" pitchFamily="18" charset="0"/>
                                    </a:rPr>
                                    <m:t>0.9</m:t>
                                  </m:r>
                                </m:e>
                              </m:mr>
                              <m:mr>
                                <m:e>
                                  <m:m>
                                    <m:mPr>
                                      <m:mcs>
                                        <m:mc>
                                          <m:mcPr>
                                            <m:count m:val="1"/>
                                            <m:mcJc m:val="center"/>
                                          </m:mcPr>
                                        </m:mc>
                                      </m:mcs>
                                      <m:ctrlPr>
                                        <a:rPr lang="pt-BR" sz="2800" i="1" smtClean="0">
                                          <a:latin typeface="Cambria Math" panose="02040503050406030204" pitchFamily="18" charset="0"/>
                                        </a:rPr>
                                      </m:ctrlPr>
                                    </m:mPr>
                                    <m:mr>
                                      <m:e>
                                        <m:r>
                                          <m:rPr>
                                            <m:brk m:alnAt="7"/>
                                          </m:rPr>
                                          <a:rPr lang="pt-BR" sz="2800" b="0" i="1" smtClean="0">
                                            <a:latin typeface="Cambria Math" panose="02040503050406030204" pitchFamily="18" charset="0"/>
                                          </a:rPr>
                                          <m:t>0</m:t>
                                        </m:r>
                                        <m:r>
                                          <a:rPr lang="pt-BR" sz="2800" b="0" i="1" smtClean="0">
                                            <a:latin typeface="Cambria Math" panose="02040503050406030204" pitchFamily="18" charset="0"/>
                                          </a:rPr>
                                          <m:t>.05</m:t>
                                        </m:r>
                                      </m:e>
                                    </m:mr>
                                    <m:mr>
                                      <m:e>
                                        <m:r>
                                          <a:rPr lang="pt-BR" sz="2800" b="0" i="1" smtClean="0">
                                            <a:latin typeface="Cambria Math" panose="02040503050406030204" pitchFamily="18" charset="0"/>
                                          </a:rPr>
                                          <m:t>0.01</m:t>
                                        </m:r>
                                      </m:e>
                                    </m:mr>
                                    <m:mr>
                                      <m:e>
                                        <m:r>
                                          <a:rPr lang="pt-BR" sz="2800" b="0" i="1" smtClean="0">
                                            <a:latin typeface="Cambria Math" panose="02040503050406030204" pitchFamily="18" charset="0"/>
                                          </a:rPr>
                                          <m:t>0.02</m:t>
                                        </m:r>
                                      </m:e>
                                    </m:mr>
                                  </m:m>
                                </m:e>
                              </m:mr>
                            </m:m>
                          </m:e>
                        </m:d>
                      </m:oMath>
                    </m:oMathPara>
                  </a14:m>
                  <a:endParaRPr lang="pt-BR" sz="2800" dirty="0"/>
                </a:p>
              </p:txBody>
            </p:sp>
          </mc:Choice>
          <mc:Fallback xmlns="">
            <p:sp>
              <p:nvSpPr>
                <p:cNvPr id="6" name="CaixaDeTexto 5">
                  <a:extLst>
                    <a:ext uri="{FF2B5EF4-FFF2-40B4-BE49-F238E27FC236}">
                      <a16:creationId xmlns:a16="http://schemas.microsoft.com/office/drawing/2014/main" id="{1847DD7C-477D-13BD-7857-72F635E6564F}"/>
                    </a:ext>
                  </a:extLst>
                </p:cNvPr>
                <p:cNvSpPr txBox="1">
                  <a:spLocks noRot="1" noChangeAspect="1" noMove="1" noResize="1" noEditPoints="1" noAdjustHandles="1" noChangeArrowheads="1" noChangeShapeType="1" noTextEdit="1"/>
                </p:cNvSpPr>
                <p:nvPr/>
              </p:nvSpPr>
              <p:spPr>
                <a:xfrm>
                  <a:off x="5619134" y="2306131"/>
                  <a:ext cx="1243781" cy="2020874"/>
                </a:xfrm>
                <a:prstGeom prst="rect">
                  <a:avLst/>
                </a:prstGeom>
                <a:blipFill>
                  <a:blip r:embed="rId2"/>
                  <a:stretch>
                    <a:fillRect/>
                  </a:stretch>
                </a:blipFill>
              </p:spPr>
              <p:txBody>
                <a:bodyPr/>
                <a:lstStyle/>
                <a:p>
                  <a:r>
                    <a:rPr lang="pt-BR">
                      <a:noFill/>
                    </a:rPr>
                    <a:t> </a:t>
                  </a:r>
                </a:p>
              </p:txBody>
            </p:sp>
          </mc:Fallback>
        </mc:AlternateContent>
        <p:grpSp>
          <p:nvGrpSpPr>
            <p:cNvPr id="6" name="Agrupar 21">
              <a:extLst>
                <a:ext uri="{FF2B5EF4-FFF2-40B4-BE49-F238E27FC236}">
                  <a16:creationId xmlns:a16="http://schemas.microsoft.com/office/drawing/2014/main" xmlns="" id="{0216B346-D594-78F5-A2A5-C50F3A50B5DC}"/>
                </a:ext>
              </a:extLst>
            </p:cNvPr>
            <p:cNvGrpSpPr/>
            <p:nvPr/>
          </p:nvGrpSpPr>
          <p:grpSpPr>
            <a:xfrm>
              <a:off x="3229897" y="2546550"/>
              <a:ext cx="1820194" cy="1583011"/>
              <a:chOff x="3624417" y="4409768"/>
              <a:chExt cx="1820194" cy="1583011"/>
            </a:xfrm>
          </p:grpSpPr>
          <p:sp>
            <p:nvSpPr>
              <p:cNvPr id="19" name="Retângulo 6">
                <a:extLst>
                  <a:ext uri="{FF2B5EF4-FFF2-40B4-BE49-F238E27FC236}">
                    <a16:creationId xmlns:a16="http://schemas.microsoft.com/office/drawing/2014/main" xmlns="" id="{C45F9961-D53D-BEB9-F54B-3CC4703FA1F8}"/>
                  </a:ext>
                </a:extLst>
              </p:cNvPr>
              <p:cNvSpPr/>
              <p:nvPr/>
            </p:nvSpPr>
            <p:spPr>
              <a:xfrm>
                <a:off x="3628103" y="4409768"/>
                <a:ext cx="1816508" cy="1583011"/>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mc:AlternateContent xmlns:mc="http://schemas.openxmlformats.org/markup-compatibility/2006" xmlns:a14="http://schemas.microsoft.com/office/drawing/2010/main">
            <mc:Choice Requires="a14">
              <p:sp>
                <p:nvSpPr>
                  <p:cNvPr id="20" name="CaixaDeTexto 7">
                    <a:extLst>
                      <a:ext uri="{FF2B5EF4-FFF2-40B4-BE49-F238E27FC236}">
                        <a16:creationId xmlns:a16="http://schemas.microsoft.com/office/drawing/2014/main" xmlns="" id="{DD14F424-8D9A-FCFC-0455-7D5B5C6C43F0}"/>
                      </a:ext>
                    </a:extLst>
                  </p:cNvPr>
                  <p:cNvSpPr txBox="1"/>
                  <p:nvPr/>
                </p:nvSpPr>
                <p:spPr>
                  <a:xfrm>
                    <a:off x="3624417" y="4579045"/>
                    <a:ext cx="1816508" cy="12111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pt-BR" sz="2800" b="0" i="1" smtClean="0">
                                  <a:latin typeface="Cambria Math" panose="02040503050406030204" pitchFamily="18" charset="0"/>
                                </a:rPr>
                              </m:ctrlPr>
                            </m:fPr>
                            <m:num>
                              <m:sSup>
                                <m:sSupPr>
                                  <m:ctrlPr>
                                    <a:rPr lang="pt-BR" sz="2800" i="1">
                                      <a:latin typeface="Cambria Math" panose="02040503050406030204" pitchFamily="18" charset="0"/>
                                    </a:rPr>
                                  </m:ctrlPr>
                                </m:sSupPr>
                                <m:e>
                                  <m:r>
                                    <a:rPr lang="pt-BR" sz="2800" i="1">
                                      <a:latin typeface="Cambria Math" panose="02040503050406030204" pitchFamily="18" charset="0"/>
                                    </a:rPr>
                                    <m:t>𝑒</m:t>
                                  </m:r>
                                </m:e>
                                <m:sup>
                                  <m:sSub>
                                    <m:sSubPr>
                                      <m:ctrlPr>
                                        <a:rPr lang="pt-BR" sz="2800" i="1">
                                          <a:latin typeface="Cambria Math" panose="02040503050406030204" pitchFamily="18" charset="0"/>
                                        </a:rPr>
                                      </m:ctrlPr>
                                    </m:sSubPr>
                                    <m:e>
                                      <m:r>
                                        <a:rPr lang="pt-BR" sz="2800" i="1">
                                          <a:latin typeface="Cambria Math" panose="02040503050406030204" pitchFamily="18" charset="0"/>
                                        </a:rPr>
                                        <m:t>𝑔</m:t>
                                      </m:r>
                                    </m:e>
                                    <m:sub>
                                      <m:r>
                                        <a:rPr lang="pt-BR" sz="2800" i="1">
                                          <a:latin typeface="Cambria Math" panose="02040503050406030204" pitchFamily="18" charset="0"/>
                                        </a:rPr>
                                        <m:t>𝑖</m:t>
                                      </m:r>
                                    </m:sub>
                                  </m:sSub>
                                  <m:r>
                                    <a:rPr lang="pt-BR" sz="2800" i="1">
                                      <a:latin typeface="Cambria Math" panose="02040503050406030204" pitchFamily="18" charset="0"/>
                                    </a:rPr>
                                    <m:t>(</m:t>
                                  </m:r>
                                  <m:r>
                                    <a:rPr lang="pt-BR" sz="2800" b="1" i="1">
                                      <a:latin typeface="Cambria Math" panose="02040503050406030204" pitchFamily="18" charset="0"/>
                                    </a:rPr>
                                    <m:t>𝒙</m:t>
                                  </m:r>
                                  <m:r>
                                    <a:rPr lang="pt-BR" sz="2800" i="1">
                                      <a:latin typeface="Cambria Math" panose="02040503050406030204" pitchFamily="18" charset="0"/>
                                    </a:rPr>
                                    <m:t>)</m:t>
                                  </m:r>
                                </m:sup>
                              </m:sSup>
                            </m:num>
                            <m:den>
                              <m:nary>
                                <m:naryPr>
                                  <m:chr m:val="∑"/>
                                  <m:limLoc m:val="subSup"/>
                                  <m:ctrlPr>
                                    <a:rPr lang="pt-BR" sz="2800" b="0" i="1" smtClean="0">
                                      <a:latin typeface="Cambria Math" panose="02040503050406030204" pitchFamily="18" charset="0"/>
                                    </a:rPr>
                                  </m:ctrlPr>
                                </m:naryPr>
                                <m:sub>
                                  <m:r>
                                    <m:rPr>
                                      <m:brk m:alnAt="25"/>
                                    </m:rPr>
                                    <a:rPr lang="pt-BR" sz="2800" b="0" i="1" smtClean="0">
                                      <a:latin typeface="Cambria Math" panose="02040503050406030204" pitchFamily="18" charset="0"/>
                                    </a:rPr>
                                    <m:t>𝑗</m:t>
                                  </m:r>
                                  <m:r>
                                    <a:rPr lang="pt-BR" sz="2800" b="0" i="1" smtClean="0">
                                      <a:latin typeface="Cambria Math" panose="02040503050406030204" pitchFamily="18" charset="0"/>
                                    </a:rPr>
                                    <m:t>=1</m:t>
                                  </m:r>
                                </m:sub>
                                <m:sup>
                                  <m:r>
                                    <a:rPr lang="pt-BR" sz="2800" b="0" i="1" smtClean="0">
                                      <a:latin typeface="Cambria Math" panose="02040503050406030204" pitchFamily="18" charset="0"/>
                                    </a:rPr>
                                    <m:t>𝑄</m:t>
                                  </m:r>
                                </m:sup>
                                <m:e>
                                  <m:sSup>
                                    <m:sSupPr>
                                      <m:ctrlPr>
                                        <a:rPr lang="pt-BR" sz="2800" i="1">
                                          <a:latin typeface="Cambria Math" panose="02040503050406030204" pitchFamily="18" charset="0"/>
                                        </a:rPr>
                                      </m:ctrlPr>
                                    </m:sSupPr>
                                    <m:e>
                                      <m:r>
                                        <a:rPr lang="pt-BR" sz="2800" i="1">
                                          <a:latin typeface="Cambria Math" panose="02040503050406030204" pitchFamily="18" charset="0"/>
                                        </a:rPr>
                                        <m:t>𝑒</m:t>
                                      </m:r>
                                    </m:e>
                                    <m:sup>
                                      <m:sSub>
                                        <m:sSubPr>
                                          <m:ctrlPr>
                                            <a:rPr lang="pt-BR" sz="2800" i="1">
                                              <a:latin typeface="Cambria Math" panose="02040503050406030204" pitchFamily="18" charset="0"/>
                                            </a:rPr>
                                          </m:ctrlPr>
                                        </m:sSubPr>
                                        <m:e>
                                          <m:r>
                                            <a:rPr lang="pt-BR" sz="2800" i="1">
                                              <a:latin typeface="Cambria Math" panose="02040503050406030204" pitchFamily="18" charset="0"/>
                                            </a:rPr>
                                            <m:t>𝑔</m:t>
                                          </m:r>
                                        </m:e>
                                        <m:sub>
                                          <m:r>
                                            <a:rPr lang="pt-BR" sz="2800" b="0" i="1" smtClean="0">
                                              <a:latin typeface="Cambria Math" panose="02040503050406030204" pitchFamily="18" charset="0"/>
                                            </a:rPr>
                                            <m:t>𝑗</m:t>
                                          </m:r>
                                        </m:sub>
                                      </m:sSub>
                                      <m:r>
                                        <a:rPr lang="pt-BR" sz="2800" i="1">
                                          <a:latin typeface="Cambria Math" panose="02040503050406030204" pitchFamily="18" charset="0"/>
                                        </a:rPr>
                                        <m:t>(</m:t>
                                      </m:r>
                                      <m:r>
                                        <a:rPr lang="pt-BR" sz="2800" b="1" i="1">
                                          <a:latin typeface="Cambria Math" panose="02040503050406030204" pitchFamily="18" charset="0"/>
                                        </a:rPr>
                                        <m:t>𝒙</m:t>
                                      </m:r>
                                      <m:r>
                                        <a:rPr lang="pt-BR" sz="2800" i="1">
                                          <a:latin typeface="Cambria Math" panose="02040503050406030204" pitchFamily="18" charset="0"/>
                                        </a:rPr>
                                        <m:t>)</m:t>
                                      </m:r>
                                    </m:sup>
                                  </m:sSup>
                                </m:e>
                              </m:nary>
                            </m:den>
                          </m:f>
                        </m:oMath>
                      </m:oMathPara>
                    </a14:m>
                    <a:endParaRPr lang="pt-BR" sz="2800" dirty="0"/>
                  </a:p>
                </p:txBody>
              </p:sp>
            </mc:Choice>
            <mc:Fallback xmlns="">
              <p:sp>
                <p:nvSpPr>
                  <p:cNvPr id="8" name="CaixaDeTexto 7">
                    <a:extLst>
                      <a:ext uri="{FF2B5EF4-FFF2-40B4-BE49-F238E27FC236}">
                        <a16:creationId xmlns:a16="http://schemas.microsoft.com/office/drawing/2014/main" id="{4607DCF3-656F-5B3E-9FD4-3A9E08FFF13B}"/>
                      </a:ext>
                    </a:extLst>
                  </p:cNvPr>
                  <p:cNvSpPr txBox="1">
                    <a:spLocks noRot="1" noChangeAspect="1" noMove="1" noResize="1" noEditPoints="1" noAdjustHandles="1" noChangeArrowheads="1" noChangeShapeType="1" noTextEdit="1"/>
                  </p:cNvSpPr>
                  <p:nvPr/>
                </p:nvSpPr>
                <p:spPr>
                  <a:xfrm>
                    <a:off x="3624417" y="4579045"/>
                    <a:ext cx="1816508" cy="1211165"/>
                  </a:xfrm>
                  <a:prstGeom prst="rect">
                    <a:avLst/>
                  </a:prstGeom>
                  <a:blipFill>
                    <a:blip r:embed="rId3"/>
                    <a:stretch>
                      <a:fillRect/>
                    </a:stretch>
                  </a:blipFill>
                </p:spPr>
                <p:txBody>
                  <a:bodyPr/>
                  <a:lstStyle/>
                  <a:p>
                    <a:r>
                      <a:rPr lang="pt-BR">
                        <a:noFill/>
                      </a:rPr>
                      <a:t> </a:t>
                    </a:r>
                  </a:p>
                </p:txBody>
              </p:sp>
            </mc:Fallback>
          </mc:AlternateContent>
        </p:grpSp>
        <p:sp>
          <p:nvSpPr>
            <p:cNvPr id="7" name="Seta: para a Direita 8">
              <a:extLst>
                <a:ext uri="{FF2B5EF4-FFF2-40B4-BE49-F238E27FC236}">
                  <a16:creationId xmlns:a16="http://schemas.microsoft.com/office/drawing/2014/main" xmlns="" id="{D3504EFE-235C-4EED-BD67-1F0134363B33}"/>
                </a:ext>
              </a:extLst>
            </p:cNvPr>
            <p:cNvSpPr/>
            <p:nvPr/>
          </p:nvSpPr>
          <p:spPr>
            <a:xfrm>
              <a:off x="2539180" y="3254486"/>
              <a:ext cx="570271" cy="167140"/>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Seta: para a Direita 9">
              <a:extLst>
                <a:ext uri="{FF2B5EF4-FFF2-40B4-BE49-F238E27FC236}">
                  <a16:creationId xmlns:a16="http://schemas.microsoft.com/office/drawing/2014/main" xmlns="" id="{E56F7404-32FC-ED2A-B5D6-AA6AAC63911A}"/>
                </a:ext>
              </a:extLst>
            </p:cNvPr>
            <p:cNvSpPr/>
            <p:nvPr/>
          </p:nvSpPr>
          <p:spPr>
            <a:xfrm>
              <a:off x="5166851" y="3254486"/>
              <a:ext cx="570271" cy="167140"/>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CaixaDeTexto 10">
              <a:extLst>
                <a:ext uri="{FF2B5EF4-FFF2-40B4-BE49-F238E27FC236}">
                  <a16:creationId xmlns:a16="http://schemas.microsoft.com/office/drawing/2014/main" xmlns="" id="{4F9BC649-95D4-52BD-BA63-08F8688BBFD3}"/>
                </a:ext>
              </a:extLst>
            </p:cNvPr>
            <p:cNvSpPr txBox="1"/>
            <p:nvPr/>
          </p:nvSpPr>
          <p:spPr>
            <a:xfrm>
              <a:off x="5338913" y="1939991"/>
              <a:ext cx="1804221" cy="307777"/>
            </a:xfrm>
            <a:prstGeom prst="rect">
              <a:avLst/>
            </a:prstGeom>
            <a:noFill/>
          </p:spPr>
          <p:txBody>
            <a:bodyPr wrap="square" rtlCol="0">
              <a:spAutoFit/>
            </a:bodyPr>
            <a:lstStyle/>
            <a:p>
              <a:pPr algn="ctr"/>
              <a:r>
                <a:rPr lang="pt-BR" sz="1400" dirty="0"/>
                <a:t>Probabilidades</a:t>
              </a:r>
            </a:p>
          </p:txBody>
        </p:sp>
        <p:sp>
          <p:nvSpPr>
            <p:cNvPr id="10" name="CaixaDeTexto 12">
              <a:extLst>
                <a:ext uri="{FF2B5EF4-FFF2-40B4-BE49-F238E27FC236}">
                  <a16:creationId xmlns:a16="http://schemas.microsoft.com/office/drawing/2014/main" xmlns="" id="{9C4DD653-BC48-DCA1-5663-281ACCF13641}"/>
                </a:ext>
              </a:extLst>
            </p:cNvPr>
            <p:cNvSpPr txBox="1"/>
            <p:nvPr/>
          </p:nvSpPr>
          <p:spPr>
            <a:xfrm>
              <a:off x="3170903" y="1871346"/>
              <a:ext cx="1995948" cy="523220"/>
            </a:xfrm>
            <a:prstGeom prst="rect">
              <a:avLst/>
            </a:prstGeom>
            <a:noFill/>
          </p:spPr>
          <p:txBody>
            <a:bodyPr wrap="square" rtlCol="0">
              <a:spAutoFit/>
            </a:bodyPr>
            <a:lstStyle/>
            <a:p>
              <a:pPr algn="ctr"/>
              <a:r>
                <a:rPr lang="pt-BR" sz="1400" dirty="0"/>
                <a:t>Função de ativação </a:t>
              </a:r>
              <a:r>
                <a:rPr lang="pt-BR" sz="1400" i="1" dirty="0"/>
                <a:t>softmax</a:t>
              </a:r>
            </a:p>
          </p:txBody>
        </p:sp>
        <p:grpSp>
          <p:nvGrpSpPr>
            <p:cNvPr id="11" name="Agrupar 20">
              <a:extLst>
                <a:ext uri="{FF2B5EF4-FFF2-40B4-BE49-F238E27FC236}">
                  <a16:creationId xmlns:a16="http://schemas.microsoft.com/office/drawing/2014/main" xmlns="" id="{1FBA146D-CAB5-65CA-C09C-DFAE2CF0121E}"/>
                </a:ext>
              </a:extLst>
            </p:cNvPr>
            <p:cNvGrpSpPr/>
            <p:nvPr/>
          </p:nvGrpSpPr>
          <p:grpSpPr>
            <a:xfrm>
              <a:off x="1027469" y="1870682"/>
              <a:ext cx="1986994" cy="2461594"/>
              <a:chOff x="1558411" y="3805042"/>
              <a:chExt cx="1986994" cy="2461594"/>
            </a:xfrm>
          </p:grpSpPr>
          <mc:AlternateContent xmlns:mc="http://schemas.openxmlformats.org/markup-compatibility/2006" xmlns:a14="http://schemas.microsoft.com/office/drawing/2010/main">
            <mc:Choice Requires="a14">
              <p:sp>
                <p:nvSpPr>
                  <p:cNvPr id="12" name="CaixaDeTexto 4">
                    <a:extLst>
                      <a:ext uri="{FF2B5EF4-FFF2-40B4-BE49-F238E27FC236}">
                        <a16:creationId xmlns:a16="http://schemas.microsoft.com/office/drawing/2014/main" xmlns="" id="{43C8BB8A-C849-2483-4102-05D4F8A25AE9}"/>
                      </a:ext>
                    </a:extLst>
                  </p:cNvPr>
                  <p:cNvSpPr txBox="1"/>
                  <p:nvPr/>
                </p:nvSpPr>
                <p:spPr>
                  <a:xfrm>
                    <a:off x="2172929" y="4257368"/>
                    <a:ext cx="471948" cy="200926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pt-BR" sz="2800" i="1" smtClean="0">
                                  <a:latin typeface="Cambria Math" panose="02040503050406030204" pitchFamily="18" charset="0"/>
                                </a:rPr>
                              </m:ctrlPr>
                            </m:dPr>
                            <m:e>
                              <m:m>
                                <m:mPr>
                                  <m:mcs>
                                    <m:mc>
                                      <m:mcPr>
                                        <m:count m:val="1"/>
                                        <m:mcJc m:val="center"/>
                                      </m:mcPr>
                                    </m:mc>
                                  </m:mcs>
                                  <m:ctrlPr>
                                    <a:rPr lang="pt-BR" sz="2800" i="1" smtClean="0">
                                      <a:latin typeface="Cambria Math" panose="02040503050406030204" pitchFamily="18" charset="0"/>
                                    </a:rPr>
                                  </m:ctrlPr>
                                </m:mPr>
                                <m:mr>
                                  <m:e>
                                    <m:r>
                                      <m:rPr>
                                        <m:brk m:alnAt="7"/>
                                      </m:rPr>
                                      <a:rPr lang="pt-BR" sz="2800" b="0" i="1" smtClean="0">
                                        <a:latin typeface="Cambria Math" panose="02040503050406030204" pitchFamily="18" charset="0"/>
                                      </a:rPr>
                                      <m:t>1</m:t>
                                    </m:r>
                                    <m:r>
                                      <a:rPr lang="pt-BR" sz="2800" b="0" i="1" smtClean="0">
                                        <a:latin typeface="Cambria Math" panose="02040503050406030204" pitchFamily="18" charset="0"/>
                                      </a:rPr>
                                      <m:t>.3</m:t>
                                    </m:r>
                                  </m:e>
                                </m:mr>
                                <m:mr>
                                  <m:e>
                                    <m:r>
                                      <a:rPr lang="pt-BR" sz="2800" b="0" i="1" smtClean="0">
                                        <a:latin typeface="Cambria Math" panose="02040503050406030204" pitchFamily="18" charset="0"/>
                                      </a:rPr>
                                      <m:t>5.1</m:t>
                                    </m:r>
                                  </m:e>
                                </m:mr>
                                <m:mr>
                                  <m:e>
                                    <m:m>
                                      <m:mPr>
                                        <m:mcs>
                                          <m:mc>
                                            <m:mcPr>
                                              <m:count m:val="1"/>
                                              <m:mcJc m:val="center"/>
                                            </m:mcPr>
                                          </m:mc>
                                        </m:mcs>
                                        <m:ctrlPr>
                                          <a:rPr lang="pt-BR" sz="2800" i="1" smtClean="0">
                                            <a:latin typeface="Cambria Math" panose="02040503050406030204" pitchFamily="18" charset="0"/>
                                          </a:rPr>
                                        </m:ctrlPr>
                                      </m:mPr>
                                      <m:mr>
                                        <m:e>
                                          <m:r>
                                            <m:rPr>
                                              <m:brk m:alnAt="7"/>
                                            </m:rPr>
                                            <a:rPr lang="pt-BR" sz="2800" b="0" i="1" smtClean="0">
                                              <a:latin typeface="Cambria Math" panose="02040503050406030204" pitchFamily="18" charset="0"/>
                                            </a:rPr>
                                            <m:t>2</m:t>
                                          </m:r>
                                          <m:r>
                                            <a:rPr lang="pt-BR" sz="2800" b="0" i="1" smtClean="0">
                                              <a:latin typeface="Cambria Math" panose="02040503050406030204" pitchFamily="18" charset="0"/>
                                            </a:rPr>
                                            <m:t>.2</m:t>
                                          </m:r>
                                        </m:e>
                                      </m:mr>
                                      <m:mr>
                                        <m:e>
                                          <m:r>
                                            <a:rPr lang="pt-BR" sz="2800" b="0" i="1" smtClean="0">
                                              <a:latin typeface="Cambria Math" panose="02040503050406030204" pitchFamily="18" charset="0"/>
                                            </a:rPr>
                                            <m:t>0.7</m:t>
                                          </m:r>
                                        </m:e>
                                      </m:mr>
                                      <m:mr>
                                        <m:e>
                                          <m:r>
                                            <a:rPr lang="pt-BR" sz="2800" b="0" i="1" smtClean="0">
                                              <a:latin typeface="Cambria Math" panose="02040503050406030204" pitchFamily="18" charset="0"/>
                                            </a:rPr>
                                            <m:t>1.1</m:t>
                                          </m:r>
                                        </m:e>
                                      </m:mr>
                                    </m:m>
                                  </m:e>
                                </m:mr>
                              </m:m>
                            </m:e>
                          </m:d>
                        </m:oMath>
                      </m:oMathPara>
                    </a14:m>
                    <a:endParaRPr lang="pt-BR" sz="2800" dirty="0"/>
                  </a:p>
                </p:txBody>
              </p:sp>
            </mc:Choice>
            <mc:Fallback xmlns="">
              <p:sp>
                <p:nvSpPr>
                  <p:cNvPr id="5" name="CaixaDeTexto 4">
                    <a:extLst>
                      <a:ext uri="{FF2B5EF4-FFF2-40B4-BE49-F238E27FC236}">
                        <a16:creationId xmlns:a16="http://schemas.microsoft.com/office/drawing/2014/main" id="{ECC8FEDC-452E-069A-74A0-6FE908CEF53B}"/>
                      </a:ext>
                    </a:extLst>
                  </p:cNvPr>
                  <p:cNvSpPr txBox="1">
                    <a:spLocks noRot="1" noChangeAspect="1" noMove="1" noResize="1" noEditPoints="1" noAdjustHandles="1" noChangeArrowheads="1" noChangeShapeType="1" noTextEdit="1"/>
                  </p:cNvSpPr>
                  <p:nvPr/>
                </p:nvSpPr>
                <p:spPr>
                  <a:xfrm>
                    <a:off x="2172929" y="4257368"/>
                    <a:ext cx="471948" cy="2009268"/>
                  </a:xfrm>
                  <a:prstGeom prst="rect">
                    <a:avLst/>
                  </a:prstGeom>
                  <a:blipFill>
                    <a:blip r:embed="rId4"/>
                    <a:stretch>
                      <a:fillRect r="-6794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3" name="CaixaDeTexto 11">
                    <a:extLst>
                      <a:ext uri="{FF2B5EF4-FFF2-40B4-BE49-F238E27FC236}">
                        <a16:creationId xmlns:a16="http://schemas.microsoft.com/office/drawing/2014/main" xmlns="" id="{AF290EB5-D075-77C8-B194-538454B60861}"/>
                      </a:ext>
                    </a:extLst>
                  </p:cNvPr>
                  <p:cNvSpPr txBox="1"/>
                  <p:nvPr/>
                </p:nvSpPr>
                <p:spPr>
                  <a:xfrm>
                    <a:off x="1744348" y="3805042"/>
                    <a:ext cx="1801057" cy="523220"/>
                  </a:xfrm>
                  <a:prstGeom prst="rect">
                    <a:avLst/>
                  </a:prstGeom>
                  <a:noFill/>
                </p:spPr>
                <p:txBody>
                  <a:bodyPr wrap="square" rtlCol="0">
                    <a:spAutoFit/>
                  </a:bodyPr>
                  <a:lstStyle/>
                  <a:p>
                    <a:pPr algn="ctr"/>
                    <a:r>
                      <a:rPr lang="pt-BR" sz="1400" dirty="0"/>
                      <a:t>Saídas das </a:t>
                    </a:r>
                    <a14:m>
                      <m:oMath xmlns:m="http://schemas.openxmlformats.org/officeDocument/2006/math">
                        <m:r>
                          <a:rPr lang="pt-BR" sz="1400" b="0" i="1" smtClean="0">
                            <a:latin typeface="Cambria Math" panose="02040503050406030204" pitchFamily="18" charset="0"/>
                          </a:rPr>
                          <m:t>𝑄</m:t>
                        </m:r>
                      </m:oMath>
                    </a14:m>
                    <a:r>
                      <a:rPr lang="pt-BR" sz="1400" dirty="0"/>
                      <a:t> funções discriminantes</a:t>
                    </a:r>
                  </a:p>
                </p:txBody>
              </p:sp>
            </mc:Choice>
            <mc:Fallback xmlns="">
              <p:sp>
                <p:nvSpPr>
                  <p:cNvPr id="13" name="CaixaDeTexto 11">
                    <a:extLst>
                      <a:ext uri="{FF2B5EF4-FFF2-40B4-BE49-F238E27FC236}">
                        <a16:creationId xmlns:a16="http://schemas.microsoft.com/office/drawing/2014/main" id="{AF290EB5-D075-77C8-B194-538454B60861}"/>
                      </a:ext>
                    </a:extLst>
                  </p:cNvPr>
                  <p:cNvSpPr txBox="1">
                    <a:spLocks noRot="1" noChangeAspect="1" noMove="1" noResize="1" noEditPoints="1" noAdjustHandles="1" noChangeArrowheads="1" noChangeShapeType="1" noTextEdit="1"/>
                  </p:cNvSpPr>
                  <p:nvPr/>
                </p:nvSpPr>
                <p:spPr>
                  <a:xfrm>
                    <a:off x="1744348" y="3805042"/>
                    <a:ext cx="1801057" cy="523220"/>
                  </a:xfrm>
                  <a:prstGeom prst="rect">
                    <a:avLst/>
                  </a:prstGeom>
                  <a:blipFill>
                    <a:blip r:embed="rId5"/>
                    <a:stretch>
                      <a:fillRect t="-2326" r="-1017" b="-1046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CaixaDeTexto 14">
                    <a:extLst>
                      <a:ext uri="{FF2B5EF4-FFF2-40B4-BE49-F238E27FC236}">
                        <a16:creationId xmlns:a16="http://schemas.microsoft.com/office/drawing/2014/main" xmlns="" id="{34981BFA-7FF1-3BFF-417B-6F22F9C69AF2}"/>
                      </a:ext>
                    </a:extLst>
                  </p:cNvPr>
                  <p:cNvSpPr txBox="1"/>
                  <p:nvPr/>
                </p:nvSpPr>
                <p:spPr>
                  <a:xfrm>
                    <a:off x="1558411" y="4328926"/>
                    <a:ext cx="786581"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sz="1600" i="1" smtClean="0">
                                  <a:latin typeface="Cambria Math" panose="02040503050406030204" pitchFamily="18" charset="0"/>
                                </a:rPr>
                              </m:ctrlPr>
                            </m:sSubPr>
                            <m:e>
                              <m:r>
                                <a:rPr lang="pt-BR" sz="1600" i="1">
                                  <a:latin typeface="Cambria Math" panose="02040503050406030204" pitchFamily="18" charset="0"/>
                                </a:rPr>
                                <m:t>𝑔</m:t>
                              </m:r>
                            </m:e>
                            <m:sub>
                              <m:r>
                                <a:rPr lang="pt-BR" sz="1600" b="0" i="1" smtClean="0">
                                  <a:latin typeface="Cambria Math" panose="02040503050406030204" pitchFamily="18" charset="0"/>
                                </a:rPr>
                                <m:t>0</m:t>
                              </m:r>
                            </m:sub>
                          </m:sSub>
                          <m:r>
                            <a:rPr lang="pt-BR" sz="1600" i="1">
                              <a:latin typeface="Cambria Math" panose="02040503050406030204" pitchFamily="18" charset="0"/>
                            </a:rPr>
                            <m:t>(</m:t>
                          </m:r>
                          <m:r>
                            <a:rPr lang="pt-BR" sz="1600" b="1" i="1">
                              <a:latin typeface="Cambria Math" panose="02040503050406030204" pitchFamily="18" charset="0"/>
                            </a:rPr>
                            <m:t>𝒙</m:t>
                          </m:r>
                          <m:r>
                            <a:rPr lang="pt-BR" sz="1600" i="1">
                              <a:latin typeface="Cambria Math" panose="02040503050406030204" pitchFamily="18" charset="0"/>
                            </a:rPr>
                            <m:t>)</m:t>
                          </m:r>
                        </m:oMath>
                      </m:oMathPara>
                    </a14:m>
                    <a:endParaRPr lang="pt-BR" sz="1600" dirty="0"/>
                  </a:p>
                </p:txBody>
              </p:sp>
            </mc:Choice>
            <mc:Fallback xmlns="">
              <p:sp>
                <p:nvSpPr>
                  <p:cNvPr id="14" name="CaixaDeTexto 14">
                    <a:extLst>
                      <a:ext uri="{FF2B5EF4-FFF2-40B4-BE49-F238E27FC236}">
                        <a16:creationId xmlns="" xmlns:a16="http://schemas.microsoft.com/office/drawing/2014/main" xmlns:a14="http://schemas.microsoft.com/office/drawing/2010/main" id="{34981BFA-7FF1-3BFF-417B-6F22F9C69AF2}"/>
                      </a:ext>
                    </a:extLst>
                  </p:cNvPr>
                  <p:cNvSpPr txBox="1">
                    <a:spLocks noRot="1" noChangeAspect="1" noMove="1" noResize="1" noEditPoints="1" noAdjustHandles="1" noChangeArrowheads="1" noChangeShapeType="1" noTextEdit="1"/>
                  </p:cNvSpPr>
                  <p:nvPr/>
                </p:nvSpPr>
                <p:spPr>
                  <a:xfrm>
                    <a:off x="1558411" y="4328926"/>
                    <a:ext cx="786581" cy="338554"/>
                  </a:xfrm>
                  <a:prstGeom prst="rect">
                    <a:avLst/>
                  </a:prstGeom>
                  <a:blipFill rotWithShape="0">
                    <a:blip r:embed="rId6"/>
                    <a:stretch>
                      <a:fillRect b="-1090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5" name="CaixaDeTexto 15">
                    <a:extLst>
                      <a:ext uri="{FF2B5EF4-FFF2-40B4-BE49-F238E27FC236}">
                        <a16:creationId xmlns:a16="http://schemas.microsoft.com/office/drawing/2014/main" xmlns="" id="{DB8F6DFA-2208-43E8-18F4-BC5ACFDCAE49}"/>
                      </a:ext>
                    </a:extLst>
                  </p:cNvPr>
                  <p:cNvSpPr txBox="1"/>
                  <p:nvPr/>
                </p:nvSpPr>
                <p:spPr>
                  <a:xfrm>
                    <a:off x="1558411" y="4711915"/>
                    <a:ext cx="786581"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sz="1600" i="1" smtClean="0">
                                  <a:latin typeface="Cambria Math" panose="02040503050406030204" pitchFamily="18" charset="0"/>
                                </a:rPr>
                              </m:ctrlPr>
                            </m:sSubPr>
                            <m:e>
                              <m:r>
                                <a:rPr lang="pt-BR" sz="1600" i="1">
                                  <a:latin typeface="Cambria Math" panose="02040503050406030204" pitchFamily="18" charset="0"/>
                                </a:rPr>
                                <m:t>𝑔</m:t>
                              </m:r>
                            </m:e>
                            <m:sub>
                              <m:r>
                                <a:rPr lang="pt-BR" sz="1600" b="0" i="1" smtClean="0">
                                  <a:latin typeface="Cambria Math" panose="02040503050406030204" pitchFamily="18" charset="0"/>
                                </a:rPr>
                                <m:t>1</m:t>
                              </m:r>
                            </m:sub>
                          </m:sSub>
                          <m:r>
                            <a:rPr lang="pt-BR" sz="1600" i="1">
                              <a:latin typeface="Cambria Math" panose="02040503050406030204" pitchFamily="18" charset="0"/>
                            </a:rPr>
                            <m:t>(</m:t>
                          </m:r>
                          <m:r>
                            <a:rPr lang="pt-BR" sz="1600" b="1" i="1">
                              <a:latin typeface="Cambria Math" panose="02040503050406030204" pitchFamily="18" charset="0"/>
                            </a:rPr>
                            <m:t>𝒙</m:t>
                          </m:r>
                          <m:r>
                            <a:rPr lang="pt-BR" sz="1600" i="1">
                              <a:latin typeface="Cambria Math" panose="02040503050406030204" pitchFamily="18" charset="0"/>
                            </a:rPr>
                            <m:t>)</m:t>
                          </m:r>
                        </m:oMath>
                      </m:oMathPara>
                    </a14:m>
                    <a:endParaRPr lang="pt-BR" sz="1600" dirty="0"/>
                  </a:p>
                </p:txBody>
              </p:sp>
            </mc:Choice>
            <mc:Fallback xmlns="">
              <p:sp>
                <p:nvSpPr>
                  <p:cNvPr id="15" name="CaixaDeTexto 15">
                    <a:extLst>
                      <a:ext uri="{FF2B5EF4-FFF2-40B4-BE49-F238E27FC236}">
                        <a16:creationId xmlns="" xmlns:a16="http://schemas.microsoft.com/office/drawing/2014/main" xmlns:a14="http://schemas.microsoft.com/office/drawing/2010/main" id="{DB8F6DFA-2208-43E8-18F4-BC5ACFDCAE49}"/>
                      </a:ext>
                    </a:extLst>
                  </p:cNvPr>
                  <p:cNvSpPr txBox="1">
                    <a:spLocks noRot="1" noChangeAspect="1" noMove="1" noResize="1" noEditPoints="1" noAdjustHandles="1" noChangeArrowheads="1" noChangeShapeType="1" noTextEdit="1"/>
                  </p:cNvSpPr>
                  <p:nvPr/>
                </p:nvSpPr>
                <p:spPr>
                  <a:xfrm>
                    <a:off x="1558411" y="4711915"/>
                    <a:ext cx="786581" cy="338554"/>
                  </a:xfrm>
                  <a:prstGeom prst="rect">
                    <a:avLst/>
                  </a:prstGeom>
                  <a:blipFill rotWithShape="0">
                    <a:blip r:embed="rId7"/>
                    <a:stretch>
                      <a:fillRect b="-1090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6" name="CaixaDeTexto 16">
                    <a:extLst>
                      <a:ext uri="{FF2B5EF4-FFF2-40B4-BE49-F238E27FC236}">
                        <a16:creationId xmlns:a16="http://schemas.microsoft.com/office/drawing/2014/main" xmlns="" id="{A5EC037D-8EF0-3DEF-2F8B-84248AE8B86A}"/>
                      </a:ext>
                    </a:extLst>
                  </p:cNvPr>
                  <p:cNvSpPr txBox="1"/>
                  <p:nvPr/>
                </p:nvSpPr>
                <p:spPr>
                  <a:xfrm>
                    <a:off x="1558411" y="5081651"/>
                    <a:ext cx="786581"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sz="1600" i="1" smtClean="0">
                                  <a:latin typeface="Cambria Math" panose="02040503050406030204" pitchFamily="18" charset="0"/>
                                </a:rPr>
                              </m:ctrlPr>
                            </m:sSubPr>
                            <m:e>
                              <m:r>
                                <a:rPr lang="pt-BR" sz="1600" i="1">
                                  <a:latin typeface="Cambria Math" panose="02040503050406030204" pitchFamily="18" charset="0"/>
                                </a:rPr>
                                <m:t>𝑔</m:t>
                              </m:r>
                            </m:e>
                            <m:sub>
                              <m:r>
                                <a:rPr lang="pt-BR" sz="1600" b="0" i="1" smtClean="0">
                                  <a:latin typeface="Cambria Math" panose="02040503050406030204" pitchFamily="18" charset="0"/>
                                </a:rPr>
                                <m:t>2</m:t>
                              </m:r>
                            </m:sub>
                          </m:sSub>
                          <m:r>
                            <a:rPr lang="pt-BR" sz="1600" i="1">
                              <a:latin typeface="Cambria Math" panose="02040503050406030204" pitchFamily="18" charset="0"/>
                            </a:rPr>
                            <m:t>(</m:t>
                          </m:r>
                          <m:r>
                            <a:rPr lang="pt-BR" sz="1600" b="1" i="1">
                              <a:latin typeface="Cambria Math" panose="02040503050406030204" pitchFamily="18" charset="0"/>
                            </a:rPr>
                            <m:t>𝒙</m:t>
                          </m:r>
                          <m:r>
                            <a:rPr lang="pt-BR" sz="1600" i="1">
                              <a:latin typeface="Cambria Math" panose="02040503050406030204" pitchFamily="18" charset="0"/>
                            </a:rPr>
                            <m:t>)</m:t>
                          </m:r>
                        </m:oMath>
                      </m:oMathPara>
                    </a14:m>
                    <a:endParaRPr lang="pt-BR" sz="1600" dirty="0"/>
                  </a:p>
                </p:txBody>
              </p:sp>
            </mc:Choice>
            <mc:Fallback xmlns="">
              <p:sp>
                <p:nvSpPr>
                  <p:cNvPr id="16" name="CaixaDeTexto 16">
                    <a:extLst>
                      <a:ext uri="{FF2B5EF4-FFF2-40B4-BE49-F238E27FC236}">
                        <a16:creationId xmlns="" xmlns:a16="http://schemas.microsoft.com/office/drawing/2014/main" xmlns:a14="http://schemas.microsoft.com/office/drawing/2010/main" id="{A5EC037D-8EF0-3DEF-2F8B-84248AE8B86A}"/>
                      </a:ext>
                    </a:extLst>
                  </p:cNvPr>
                  <p:cNvSpPr txBox="1">
                    <a:spLocks noRot="1" noChangeAspect="1" noMove="1" noResize="1" noEditPoints="1" noAdjustHandles="1" noChangeArrowheads="1" noChangeShapeType="1" noTextEdit="1"/>
                  </p:cNvSpPr>
                  <p:nvPr/>
                </p:nvSpPr>
                <p:spPr>
                  <a:xfrm>
                    <a:off x="1558411" y="5081651"/>
                    <a:ext cx="786581" cy="338554"/>
                  </a:xfrm>
                  <a:prstGeom prst="rect">
                    <a:avLst/>
                  </a:prstGeom>
                  <a:blipFill rotWithShape="0">
                    <a:blip r:embed="rId8"/>
                    <a:stretch>
                      <a:fillRect b="-892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7" name="CaixaDeTexto 17">
                    <a:extLst>
                      <a:ext uri="{FF2B5EF4-FFF2-40B4-BE49-F238E27FC236}">
                        <a16:creationId xmlns:a16="http://schemas.microsoft.com/office/drawing/2014/main" xmlns="" id="{E842A6BA-1A35-A84A-B1B8-54B2C0A49661}"/>
                      </a:ext>
                    </a:extLst>
                  </p:cNvPr>
                  <p:cNvSpPr txBox="1"/>
                  <p:nvPr/>
                </p:nvSpPr>
                <p:spPr>
                  <a:xfrm>
                    <a:off x="1558412" y="5483258"/>
                    <a:ext cx="786581"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sz="1600" i="1" smtClean="0">
                                  <a:latin typeface="Cambria Math" panose="02040503050406030204" pitchFamily="18" charset="0"/>
                                </a:rPr>
                              </m:ctrlPr>
                            </m:sSubPr>
                            <m:e>
                              <m:r>
                                <a:rPr lang="pt-BR" sz="1600" i="1">
                                  <a:latin typeface="Cambria Math" panose="02040503050406030204" pitchFamily="18" charset="0"/>
                                </a:rPr>
                                <m:t>𝑔</m:t>
                              </m:r>
                            </m:e>
                            <m:sub>
                              <m:r>
                                <a:rPr lang="pt-BR" sz="1600" b="0" i="1" smtClean="0">
                                  <a:latin typeface="Cambria Math" panose="02040503050406030204" pitchFamily="18" charset="0"/>
                                </a:rPr>
                                <m:t>3</m:t>
                              </m:r>
                            </m:sub>
                          </m:sSub>
                          <m:r>
                            <a:rPr lang="pt-BR" sz="1600" i="1">
                              <a:latin typeface="Cambria Math" panose="02040503050406030204" pitchFamily="18" charset="0"/>
                            </a:rPr>
                            <m:t>(</m:t>
                          </m:r>
                          <m:r>
                            <a:rPr lang="pt-BR" sz="1600" b="1" i="1">
                              <a:latin typeface="Cambria Math" panose="02040503050406030204" pitchFamily="18" charset="0"/>
                            </a:rPr>
                            <m:t>𝒙</m:t>
                          </m:r>
                          <m:r>
                            <a:rPr lang="pt-BR" sz="1600" i="1">
                              <a:latin typeface="Cambria Math" panose="02040503050406030204" pitchFamily="18" charset="0"/>
                            </a:rPr>
                            <m:t>)</m:t>
                          </m:r>
                        </m:oMath>
                      </m:oMathPara>
                    </a14:m>
                    <a:endParaRPr lang="pt-BR" sz="1600" dirty="0"/>
                  </a:p>
                </p:txBody>
              </p:sp>
            </mc:Choice>
            <mc:Fallback xmlns="">
              <p:sp>
                <p:nvSpPr>
                  <p:cNvPr id="17" name="CaixaDeTexto 17">
                    <a:extLst>
                      <a:ext uri="{FF2B5EF4-FFF2-40B4-BE49-F238E27FC236}">
                        <a16:creationId xmlns="" xmlns:a16="http://schemas.microsoft.com/office/drawing/2014/main" xmlns:a14="http://schemas.microsoft.com/office/drawing/2010/main" id="{E842A6BA-1A35-A84A-B1B8-54B2C0A49661}"/>
                      </a:ext>
                    </a:extLst>
                  </p:cNvPr>
                  <p:cNvSpPr txBox="1">
                    <a:spLocks noRot="1" noChangeAspect="1" noMove="1" noResize="1" noEditPoints="1" noAdjustHandles="1" noChangeArrowheads="1" noChangeShapeType="1" noTextEdit="1"/>
                  </p:cNvSpPr>
                  <p:nvPr/>
                </p:nvSpPr>
                <p:spPr>
                  <a:xfrm>
                    <a:off x="1558412" y="5483258"/>
                    <a:ext cx="786581" cy="338554"/>
                  </a:xfrm>
                  <a:prstGeom prst="rect">
                    <a:avLst/>
                  </a:prstGeom>
                  <a:blipFill rotWithShape="0">
                    <a:blip r:embed="rId9"/>
                    <a:stretch>
                      <a:fillRect b="-892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8" name="CaixaDeTexto 18">
                    <a:extLst>
                      <a:ext uri="{FF2B5EF4-FFF2-40B4-BE49-F238E27FC236}">
                        <a16:creationId xmlns:a16="http://schemas.microsoft.com/office/drawing/2014/main" xmlns="" id="{AE06ADE1-A3FE-3684-A19B-1A4A69C1E4AB}"/>
                      </a:ext>
                    </a:extLst>
                  </p:cNvPr>
                  <p:cNvSpPr txBox="1"/>
                  <p:nvPr/>
                </p:nvSpPr>
                <p:spPr>
                  <a:xfrm>
                    <a:off x="1558411" y="5874947"/>
                    <a:ext cx="786581"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sz="1600" i="1" smtClean="0">
                                  <a:latin typeface="Cambria Math" panose="02040503050406030204" pitchFamily="18" charset="0"/>
                                </a:rPr>
                              </m:ctrlPr>
                            </m:sSubPr>
                            <m:e>
                              <m:r>
                                <a:rPr lang="pt-BR" sz="1600" i="1">
                                  <a:latin typeface="Cambria Math" panose="02040503050406030204" pitchFamily="18" charset="0"/>
                                </a:rPr>
                                <m:t>𝑔</m:t>
                              </m:r>
                            </m:e>
                            <m:sub>
                              <m:r>
                                <a:rPr lang="pt-BR" sz="1600" b="0" i="1" smtClean="0">
                                  <a:latin typeface="Cambria Math" panose="02040503050406030204" pitchFamily="18" charset="0"/>
                                </a:rPr>
                                <m:t>4</m:t>
                              </m:r>
                            </m:sub>
                          </m:sSub>
                          <m:r>
                            <a:rPr lang="pt-BR" sz="1600" i="1">
                              <a:latin typeface="Cambria Math" panose="02040503050406030204" pitchFamily="18" charset="0"/>
                            </a:rPr>
                            <m:t>(</m:t>
                          </m:r>
                          <m:r>
                            <a:rPr lang="pt-BR" sz="1600" b="1" i="1">
                              <a:latin typeface="Cambria Math" panose="02040503050406030204" pitchFamily="18" charset="0"/>
                            </a:rPr>
                            <m:t>𝒙</m:t>
                          </m:r>
                          <m:r>
                            <a:rPr lang="pt-BR" sz="1600" i="1">
                              <a:latin typeface="Cambria Math" panose="02040503050406030204" pitchFamily="18" charset="0"/>
                            </a:rPr>
                            <m:t>)</m:t>
                          </m:r>
                        </m:oMath>
                      </m:oMathPara>
                    </a14:m>
                    <a:endParaRPr lang="pt-BR" sz="1600" dirty="0"/>
                  </a:p>
                </p:txBody>
              </p:sp>
            </mc:Choice>
            <mc:Fallback xmlns="">
              <p:sp>
                <p:nvSpPr>
                  <p:cNvPr id="18" name="CaixaDeTexto 18">
                    <a:extLst>
                      <a:ext uri="{FF2B5EF4-FFF2-40B4-BE49-F238E27FC236}">
                        <a16:creationId xmlns="" xmlns:a16="http://schemas.microsoft.com/office/drawing/2014/main" xmlns:a14="http://schemas.microsoft.com/office/drawing/2010/main" id="{AE06ADE1-A3FE-3684-A19B-1A4A69C1E4AB}"/>
                      </a:ext>
                    </a:extLst>
                  </p:cNvPr>
                  <p:cNvSpPr txBox="1">
                    <a:spLocks noRot="1" noChangeAspect="1" noMove="1" noResize="1" noEditPoints="1" noAdjustHandles="1" noChangeArrowheads="1" noChangeShapeType="1" noTextEdit="1"/>
                  </p:cNvSpPr>
                  <p:nvPr/>
                </p:nvSpPr>
                <p:spPr>
                  <a:xfrm>
                    <a:off x="1558411" y="5874947"/>
                    <a:ext cx="786581" cy="338554"/>
                  </a:xfrm>
                  <a:prstGeom prst="rect">
                    <a:avLst/>
                  </a:prstGeom>
                  <a:blipFill rotWithShape="0">
                    <a:blip r:embed="rId10"/>
                    <a:stretch>
                      <a:fillRect b="-8929"/>
                    </a:stretch>
                  </a:blipFill>
                </p:spPr>
                <p:txBody>
                  <a:bodyPr/>
                  <a:lstStyle/>
                  <a:p>
                    <a:r>
                      <a:rPr lang="pt-BR">
                        <a:noFill/>
                      </a:rPr>
                      <a:t> </a:t>
                    </a:r>
                  </a:p>
                </p:txBody>
              </p:sp>
            </mc:Fallback>
          </mc:AlternateContent>
        </p:grpSp>
      </p:grpSp>
    </p:spTree>
    <p:extLst>
      <p:ext uri="{BB962C8B-B14F-4D97-AF65-F5344CB8AC3E}">
        <p14:creationId xmlns:p14="http://schemas.microsoft.com/office/powerpoint/2010/main" val="36990590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C4572DC-35C8-C64C-E103-3D4F9246EA98}"/>
            </a:ext>
          </a:extLst>
        </p:cNvPr>
        <p:cNvGrpSpPr/>
        <p:nvPr/>
      </p:nvGrpSpPr>
      <p:grpSpPr>
        <a:xfrm>
          <a:off x="0" y="0"/>
          <a:ext cx="0" cy="0"/>
          <a:chOff x="0" y="0"/>
          <a:chExt cx="0" cy="0"/>
        </a:xfrm>
      </p:grpSpPr>
      <p:grpSp>
        <p:nvGrpSpPr>
          <p:cNvPr id="36" name="Group 35">
            <a:extLst>
              <a:ext uri="{FF2B5EF4-FFF2-40B4-BE49-F238E27FC236}">
                <a16:creationId xmlns:a16="http://schemas.microsoft.com/office/drawing/2014/main" xmlns="" id="{48F378AC-D060-0026-4561-6496453280FF}"/>
              </a:ext>
            </a:extLst>
          </p:cNvPr>
          <p:cNvGrpSpPr/>
          <p:nvPr/>
        </p:nvGrpSpPr>
        <p:grpSpPr>
          <a:xfrm>
            <a:off x="5040796" y="1567467"/>
            <a:ext cx="4280221" cy="2759538"/>
            <a:chOff x="5040796" y="1567467"/>
            <a:chExt cx="4280221" cy="2759538"/>
          </a:xfrm>
        </p:grpSpPr>
        <mc:AlternateContent xmlns:mc="http://schemas.openxmlformats.org/markup-compatibility/2006" xmlns:a14="http://schemas.microsoft.com/office/drawing/2010/main">
          <mc:Choice Requires="a14">
            <p:sp>
              <p:nvSpPr>
                <p:cNvPr id="5" name="CaixaDeTexto 5">
                  <a:extLst>
                    <a:ext uri="{FF2B5EF4-FFF2-40B4-BE49-F238E27FC236}">
                      <a16:creationId xmlns:a16="http://schemas.microsoft.com/office/drawing/2014/main" xmlns="" id="{E8D0D67D-860E-2510-92FC-57A520894F28}"/>
                    </a:ext>
                  </a:extLst>
                </p:cNvPr>
                <p:cNvSpPr txBox="1"/>
                <p:nvPr/>
              </p:nvSpPr>
              <p:spPr>
                <a:xfrm>
                  <a:off x="5400674" y="2306131"/>
                  <a:ext cx="978695" cy="20208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pt-BR" sz="2800" i="1" smtClean="0">
                                <a:latin typeface="Cambria Math" panose="02040503050406030204" pitchFamily="18" charset="0"/>
                              </a:rPr>
                            </m:ctrlPr>
                          </m:dPr>
                          <m:e>
                            <m:m>
                              <m:mPr>
                                <m:mcs>
                                  <m:mc>
                                    <m:mcPr>
                                      <m:count m:val="1"/>
                                      <m:mcJc m:val="center"/>
                                    </m:mcPr>
                                  </m:mc>
                                </m:mcs>
                                <m:ctrlPr>
                                  <a:rPr lang="pt-BR" sz="2800" i="1" smtClean="0">
                                    <a:latin typeface="Cambria Math" panose="02040503050406030204" pitchFamily="18" charset="0"/>
                                  </a:rPr>
                                </m:ctrlPr>
                              </m:mPr>
                              <m:mr>
                                <m:e>
                                  <m:r>
                                    <m:rPr>
                                      <m:brk m:alnAt="7"/>
                                    </m:rPr>
                                    <a:rPr lang="pt-BR" sz="2800" b="0" i="1" smtClean="0">
                                      <a:latin typeface="Cambria Math" panose="02040503050406030204" pitchFamily="18" charset="0"/>
                                    </a:rPr>
                                    <m:t>0</m:t>
                                  </m:r>
                                  <m:r>
                                    <a:rPr lang="pt-BR" sz="2800" b="0" i="1" smtClean="0">
                                      <a:latin typeface="Cambria Math" panose="02040503050406030204" pitchFamily="18" charset="0"/>
                                    </a:rPr>
                                    <m:t>.01</m:t>
                                  </m:r>
                                </m:e>
                              </m:mr>
                              <m:mr>
                                <m:e>
                                  <m:r>
                                    <a:rPr lang="pt-BR" sz="2800" b="0" i="1" smtClean="0">
                                      <a:latin typeface="Cambria Math" panose="02040503050406030204" pitchFamily="18" charset="0"/>
                                    </a:rPr>
                                    <m:t>0.9</m:t>
                                  </m:r>
                                </m:e>
                              </m:mr>
                              <m:mr>
                                <m:e>
                                  <m:m>
                                    <m:mPr>
                                      <m:mcs>
                                        <m:mc>
                                          <m:mcPr>
                                            <m:count m:val="1"/>
                                            <m:mcJc m:val="center"/>
                                          </m:mcPr>
                                        </m:mc>
                                      </m:mcs>
                                      <m:ctrlPr>
                                        <a:rPr lang="pt-BR" sz="2800" i="1" smtClean="0">
                                          <a:latin typeface="Cambria Math" panose="02040503050406030204" pitchFamily="18" charset="0"/>
                                        </a:rPr>
                                      </m:ctrlPr>
                                    </m:mPr>
                                    <m:mr>
                                      <m:e>
                                        <m:r>
                                          <m:rPr>
                                            <m:brk m:alnAt="7"/>
                                          </m:rPr>
                                          <a:rPr lang="pt-BR" sz="2800" b="0" i="1" smtClean="0">
                                            <a:latin typeface="Cambria Math" panose="02040503050406030204" pitchFamily="18" charset="0"/>
                                          </a:rPr>
                                          <m:t>0</m:t>
                                        </m:r>
                                        <m:r>
                                          <a:rPr lang="pt-BR" sz="2800" b="0" i="1" smtClean="0">
                                            <a:latin typeface="Cambria Math" panose="02040503050406030204" pitchFamily="18" charset="0"/>
                                          </a:rPr>
                                          <m:t>.05</m:t>
                                        </m:r>
                                      </m:e>
                                    </m:mr>
                                    <m:mr>
                                      <m:e>
                                        <m:r>
                                          <a:rPr lang="pt-BR" sz="2800" b="0" i="1" smtClean="0">
                                            <a:latin typeface="Cambria Math" panose="02040503050406030204" pitchFamily="18" charset="0"/>
                                          </a:rPr>
                                          <m:t>0.01</m:t>
                                        </m:r>
                                      </m:e>
                                    </m:mr>
                                    <m:mr>
                                      <m:e>
                                        <m:r>
                                          <a:rPr lang="pt-BR" sz="2800" b="0" i="1" smtClean="0">
                                            <a:latin typeface="Cambria Math" panose="02040503050406030204" pitchFamily="18" charset="0"/>
                                          </a:rPr>
                                          <m:t>0.02</m:t>
                                        </m:r>
                                      </m:e>
                                    </m:mr>
                                  </m:m>
                                </m:e>
                              </m:mr>
                            </m:m>
                          </m:e>
                        </m:d>
                      </m:oMath>
                    </m:oMathPara>
                  </a14:m>
                  <a:endParaRPr lang="pt-BR" sz="2800" dirty="0"/>
                </a:p>
              </p:txBody>
            </p:sp>
          </mc:Choice>
          <mc:Fallback xmlns="">
            <p:sp>
              <p:nvSpPr>
                <p:cNvPr id="5" name="CaixaDeTexto 5">
                  <a:extLst>
                    <a:ext uri="{FF2B5EF4-FFF2-40B4-BE49-F238E27FC236}">
                      <a16:creationId xmlns:a16="http://schemas.microsoft.com/office/drawing/2014/main" id="{E8D0D67D-860E-2510-92FC-57A520894F28}"/>
                    </a:ext>
                  </a:extLst>
                </p:cNvPr>
                <p:cNvSpPr txBox="1">
                  <a:spLocks noRot="1" noChangeAspect="1" noMove="1" noResize="1" noEditPoints="1" noAdjustHandles="1" noChangeArrowheads="1" noChangeShapeType="1" noTextEdit="1"/>
                </p:cNvSpPr>
                <p:nvPr/>
              </p:nvSpPr>
              <p:spPr>
                <a:xfrm>
                  <a:off x="5400674" y="2306131"/>
                  <a:ext cx="978695" cy="2020874"/>
                </a:xfrm>
                <a:prstGeom prst="rect">
                  <a:avLst/>
                </a:prstGeom>
                <a:blipFill>
                  <a:blip r:embed="rId2"/>
                  <a:stretch>
                    <a:fillRect r="-1875"/>
                  </a:stretch>
                </a:blipFill>
              </p:spPr>
              <p:txBody>
                <a:bodyPr/>
                <a:lstStyle/>
                <a:p>
                  <a:r>
                    <a:rPr lang="en-US">
                      <a:noFill/>
                    </a:rPr>
                    <a:t> </a:t>
                  </a:r>
                </a:p>
              </p:txBody>
            </p:sp>
          </mc:Fallback>
        </mc:AlternateContent>
        <p:sp>
          <p:nvSpPr>
            <p:cNvPr id="9" name="CaixaDeTexto 10">
              <a:extLst>
                <a:ext uri="{FF2B5EF4-FFF2-40B4-BE49-F238E27FC236}">
                  <a16:creationId xmlns:a16="http://schemas.microsoft.com/office/drawing/2014/main" xmlns="" id="{E297B5F7-3383-6E2F-1D8A-03955FAC43D2}"/>
                </a:ext>
              </a:extLst>
            </p:cNvPr>
            <p:cNvSpPr txBox="1"/>
            <p:nvPr/>
          </p:nvSpPr>
          <p:spPr>
            <a:xfrm>
              <a:off x="5040796" y="1567467"/>
              <a:ext cx="1943256" cy="738664"/>
            </a:xfrm>
            <a:prstGeom prst="rect">
              <a:avLst/>
            </a:prstGeom>
            <a:noFill/>
          </p:spPr>
          <p:txBody>
            <a:bodyPr wrap="square" rtlCol="0">
              <a:spAutoFit/>
            </a:bodyPr>
            <a:lstStyle/>
            <a:p>
              <a:pPr algn="ctr"/>
              <a:r>
                <a:rPr lang="pt-BR" sz="1400" dirty="0"/>
                <a:t>Saída da função de ativação </a:t>
              </a:r>
              <a:r>
                <a:rPr lang="pt-BR" sz="1400" i="1" dirty="0"/>
                <a:t>softmax</a:t>
              </a:r>
              <a:endParaRPr lang="pt-BR" sz="1400" dirty="0"/>
            </a:p>
            <a:p>
              <a:pPr algn="ctr"/>
              <a:r>
                <a:rPr lang="pt-BR" sz="1400" dirty="0"/>
                <a:t>(probabilidades)</a:t>
              </a:r>
            </a:p>
          </p:txBody>
        </p:sp>
        <mc:AlternateContent xmlns:mc="http://schemas.openxmlformats.org/markup-compatibility/2006" xmlns:a14="http://schemas.microsoft.com/office/drawing/2010/main">
          <mc:Choice Requires="a14">
            <p:sp>
              <p:nvSpPr>
                <p:cNvPr id="12" name="CaixaDeTexto 4">
                  <a:extLst>
                    <a:ext uri="{FF2B5EF4-FFF2-40B4-BE49-F238E27FC236}">
                      <a16:creationId xmlns:a16="http://schemas.microsoft.com/office/drawing/2014/main" xmlns="" id="{2C8DDC51-3A16-5E93-8268-EE62BDE151E0}"/>
                    </a:ext>
                  </a:extLst>
                </p:cNvPr>
                <p:cNvSpPr txBox="1"/>
                <p:nvPr/>
              </p:nvSpPr>
              <p:spPr>
                <a:xfrm>
                  <a:off x="8099425" y="2311739"/>
                  <a:ext cx="508000" cy="200926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pt-BR" sz="2800" i="1" smtClean="0">
                                <a:latin typeface="Cambria Math" panose="02040503050406030204" pitchFamily="18" charset="0"/>
                              </a:rPr>
                            </m:ctrlPr>
                          </m:dPr>
                          <m:e>
                            <m:m>
                              <m:mPr>
                                <m:mcs>
                                  <m:mc>
                                    <m:mcPr>
                                      <m:count m:val="1"/>
                                      <m:mcJc m:val="center"/>
                                    </m:mcPr>
                                  </m:mc>
                                </m:mcs>
                                <m:ctrlPr>
                                  <a:rPr lang="pt-BR" sz="2800" i="1" smtClean="0">
                                    <a:latin typeface="Cambria Math" panose="02040503050406030204" pitchFamily="18" charset="0"/>
                                  </a:rPr>
                                </m:ctrlPr>
                              </m:mPr>
                              <m:mr>
                                <m:e>
                                  <m:r>
                                    <a:rPr lang="pt-BR" sz="2800" b="0" i="1" smtClean="0">
                                      <a:latin typeface="Cambria Math" panose="02040503050406030204" pitchFamily="18" charset="0"/>
                                    </a:rPr>
                                    <m:t>0</m:t>
                                  </m:r>
                                </m:e>
                              </m:mr>
                              <m:mr>
                                <m:e>
                                  <m:r>
                                    <a:rPr lang="pt-BR" sz="2800" b="0" i="1" smtClean="0">
                                      <a:latin typeface="Cambria Math" panose="02040503050406030204" pitchFamily="18" charset="0"/>
                                    </a:rPr>
                                    <m:t>1</m:t>
                                  </m:r>
                                </m:e>
                              </m:mr>
                              <m:mr>
                                <m:e>
                                  <m:m>
                                    <m:mPr>
                                      <m:mcs>
                                        <m:mc>
                                          <m:mcPr>
                                            <m:count m:val="1"/>
                                            <m:mcJc m:val="center"/>
                                          </m:mcPr>
                                        </m:mc>
                                      </m:mcs>
                                      <m:ctrlPr>
                                        <a:rPr lang="pt-BR" sz="2800" i="1" smtClean="0">
                                          <a:latin typeface="Cambria Math" panose="02040503050406030204" pitchFamily="18" charset="0"/>
                                        </a:rPr>
                                      </m:ctrlPr>
                                    </m:mPr>
                                    <m:mr>
                                      <m:e>
                                        <m:r>
                                          <a:rPr lang="pt-BR" sz="2800" b="0" i="1" smtClean="0">
                                            <a:latin typeface="Cambria Math" panose="02040503050406030204" pitchFamily="18" charset="0"/>
                                          </a:rPr>
                                          <m:t>0</m:t>
                                        </m:r>
                                      </m:e>
                                    </m:mr>
                                    <m:mr>
                                      <m:e>
                                        <m:r>
                                          <a:rPr lang="pt-BR" sz="2800" b="0" i="1" smtClean="0">
                                            <a:latin typeface="Cambria Math" panose="02040503050406030204" pitchFamily="18" charset="0"/>
                                          </a:rPr>
                                          <m:t>0</m:t>
                                        </m:r>
                                      </m:e>
                                    </m:mr>
                                    <m:mr>
                                      <m:e>
                                        <m:r>
                                          <a:rPr lang="pt-BR" sz="2800" b="0" i="1" smtClean="0">
                                            <a:latin typeface="Cambria Math" panose="02040503050406030204" pitchFamily="18" charset="0"/>
                                          </a:rPr>
                                          <m:t>0</m:t>
                                        </m:r>
                                      </m:e>
                                    </m:mr>
                                  </m:m>
                                </m:e>
                              </m:mr>
                            </m:m>
                          </m:e>
                        </m:d>
                      </m:oMath>
                    </m:oMathPara>
                  </a14:m>
                  <a:endParaRPr lang="pt-BR" sz="2800" dirty="0"/>
                </a:p>
              </p:txBody>
            </p:sp>
          </mc:Choice>
          <mc:Fallback xmlns="">
            <p:sp>
              <p:nvSpPr>
                <p:cNvPr id="12" name="CaixaDeTexto 4">
                  <a:extLst>
                    <a:ext uri="{FF2B5EF4-FFF2-40B4-BE49-F238E27FC236}">
                      <a16:creationId xmlns:a16="http://schemas.microsoft.com/office/drawing/2014/main" id="{2C8DDC51-3A16-5E93-8268-EE62BDE151E0}"/>
                    </a:ext>
                  </a:extLst>
                </p:cNvPr>
                <p:cNvSpPr txBox="1">
                  <a:spLocks noRot="1" noChangeAspect="1" noMove="1" noResize="1" noEditPoints="1" noAdjustHandles="1" noChangeArrowheads="1" noChangeShapeType="1" noTextEdit="1"/>
                </p:cNvSpPr>
                <p:nvPr/>
              </p:nvSpPr>
              <p:spPr>
                <a:xfrm>
                  <a:off x="8099425" y="2311739"/>
                  <a:ext cx="508000" cy="2009268"/>
                </a:xfrm>
                <a:prstGeom prst="rect">
                  <a:avLst/>
                </a:prstGeom>
                <a:blipFill>
                  <a:blip r:embed="rId3"/>
                  <a:stretch>
                    <a:fillRect r="-3614"/>
                  </a:stretch>
                </a:blipFill>
              </p:spPr>
              <p:txBody>
                <a:bodyPr/>
                <a:lstStyle/>
                <a:p>
                  <a:r>
                    <a:rPr lang="en-US">
                      <a:noFill/>
                    </a:rPr>
                    <a:t> </a:t>
                  </a:r>
                </a:p>
              </p:txBody>
            </p:sp>
          </mc:Fallback>
        </mc:AlternateContent>
        <p:sp>
          <p:nvSpPr>
            <p:cNvPr id="2" name="Rectangle 1">
              <a:extLst>
                <a:ext uri="{FF2B5EF4-FFF2-40B4-BE49-F238E27FC236}">
                  <a16:creationId xmlns:a16="http://schemas.microsoft.com/office/drawing/2014/main" xmlns="" id="{EB611083-738F-80C1-2BA7-92EDB40EFB94}"/>
                </a:ext>
              </a:extLst>
            </p:cNvPr>
            <p:cNvSpPr/>
            <p:nvPr/>
          </p:nvSpPr>
          <p:spPr>
            <a:xfrm>
              <a:off x="6848474" y="2994737"/>
              <a:ext cx="956185" cy="643659"/>
            </a:xfrm>
            <a:prstGeom prst="rect">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Função de erro</a:t>
              </a:r>
              <a:endParaRPr lang="en-US" dirty="0">
                <a:solidFill>
                  <a:schemeClr val="tx1"/>
                </a:solidFill>
              </a:endParaRPr>
            </a:p>
          </p:txBody>
        </p:sp>
        <p:sp>
          <p:nvSpPr>
            <p:cNvPr id="3" name="CaixaDeTexto 10">
              <a:extLst>
                <a:ext uri="{FF2B5EF4-FFF2-40B4-BE49-F238E27FC236}">
                  <a16:creationId xmlns:a16="http://schemas.microsoft.com/office/drawing/2014/main" xmlns="" id="{F0E4EAFE-2F57-D46C-B71A-FC2B97DD9DC3}"/>
                </a:ext>
              </a:extLst>
            </p:cNvPr>
            <p:cNvSpPr txBox="1"/>
            <p:nvPr/>
          </p:nvSpPr>
          <p:spPr>
            <a:xfrm>
              <a:off x="7703840" y="1567467"/>
              <a:ext cx="1617177" cy="738664"/>
            </a:xfrm>
            <a:prstGeom prst="rect">
              <a:avLst/>
            </a:prstGeom>
            <a:noFill/>
          </p:spPr>
          <p:txBody>
            <a:bodyPr wrap="square" rtlCol="0">
              <a:spAutoFit/>
            </a:bodyPr>
            <a:lstStyle/>
            <a:p>
              <a:pPr algn="ctr"/>
              <a:r>
                <a:rPr lang="pt-BR" sz="1400" dirty="0"/>
                <a:t>Vetor </a:t>
              </a:r>
              <a:r>
                <a:rPr lang="pt-BR" sz="1400" i="1" dirty="0" err="1"/>
                <a:t>one</a:t>
              </a:r>
              <a:r>
                <a:rPr lang="pt-BR" sz="1400" i="1" dirty="0"/>
                <a:t>-hot</a:t>
              </a:r>
              <a:r>
                <a:rPr lang="pt-BR" sz="1400" dirty="0"/>
                <a:t> com a probabilidade real de cada classe.</a:t>
              </a:r>
            </a:p>
          </p:txBody>
        </p:sp>
        <p:cxnSp>
          <p:nvCxnSpPr>
            <p:cNvPr id="22" name="Straight Arrow Connector 21">
              <a:extLst>
                <a:ext uri="{FF2B5EF4-FFF2-40B4-BE49-F238E27FC236}">
                  <a16:creationId xmlns:a16="http://schemas.microsoft.com/office/drawing/2014/main" xmlns="" id="{8F2714CA-3421-42C2-2575-C2D5DB1B504D}"/>
                </a:ext>
              </a:extLst>
            </p:cNvPr>
            <p:cNvCxnSpPr>
              <a:cxnSpLocks/>
              <a:stCxn id="5" idx="3"/>
              <a:endCxn id="2" idx="1"/>
            </p:cNvCxnSpPr>
            <p:nvPr/>
          </p:nvCxnSpPr>
          <p:spPr>
            <a:xfrm flipV="1">
              <a:off x="6379369" y="3316567"/>
              <a:ext cx="469105" cy="1"/>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xmlns="" id="{4613A6D9-EABC-0CE5-50B4-C1C9AA047D5D}"/>
                </a:ext>
              </a:extLst>
            </p:cNvPr>
            <p:cNvCxnSpPr>
              <a:cxnSpLocks/>
              <a:endCxn id="2" idx="3"/>
            </p:cNvCxnSpPr>
            <p:nvPr/>
          </p:nvCxnSpPr>
          <p:spPr>
            <a:xfrm flipH="1">
              <a:off x="7804659" y="3316567"/>
              <a:ext cx="396000"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72011154"/>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9806</TotalTime>
  <Words>2015</Words>
  <Application>Microsoft Office PowerPoint</Application>
  <PresentationFormat>Widescreen</PresentationFormat>
  <Paragraphs>228</Paragraphs>
  <Slides>26</Slides>
  <Notes>14</Notes>
  <HiddenSlides>0</HiddenSlides>
  <MMClips>0</MMClips>
  <ScaleCrop>false</ScaleCrop>
  <HeadingPairs>
    <vt:vector size="6" baseType="variant">
      <vt:variant>
        <vt:lpstr>Fontes usadas</vt:lpstr>
      </vt:variant>
      <vt:variant>
        <vt:i4>7</vt:i4>
      </vt:variant>
      <vt:variant>
        <vt:lpstr>Tema</vt:lpstr>
      </vt:variant>
      <vt:variant>
        <vt:i4>1</vt:i4>
      </vt:variant>
      <vt:variant>
        <vt:lpstr>Títulos de slides</vt:lpstr>
      </vt:variant>
      <vt:variant>
        <vt:i4>26</vt:i4>
      </vt:variant>
    </vt:vector>
  </HeadingPairs>
  <TitlesOfParts>
    <vt:vector size="34" baseType="lpstr">
      <vt:lpstr>Arial</vt:lpstr>
      <vt:lpstr>Calibri</vt:lpstr>
      <vt:lpstr>Calibri Light</vt:lpstr>
      <vt:lpstr>Cambria Math</vt:lpstr>
      <vt:lpstr>CambriaMath</vt:lpstr>
      <vt:lpstr>Söhne</vt:lpstr>
      <vt:lpstr>Wingdings</vt:lpstr>
      <vt:lpstr>Tema do Office</vt:lpstr>
      <vt:lpstr>C24 – Inteligência Artificial: Regressor Softmax</vt:lpstr>
      <vt:lpstr>Casos multiclasses</vt:lpstr>
      <vt:lpstr>Casos multiclasses</vt:lpstr>
      <vt:lpstr>Regressor softmax</vt:lpstr>
      <vt:lpstr>Regressor softmax</vt:lpstr>
      <vt:lpstr>Regressor softmax</vt:lpstr>
      <vt:lpstr>Função de ativação softmax</vt:lpstr>
      <vt:lpstr>Função de ativação softmax</vt:lpstr>
      <vt:lpstr>Função de ativação softmax</vt:lpstr>
      <vt:lpstr>Função de ativação softmax</vt:lpstr>
      <vt:lpstr>Função de erro</vt:lpstr>
      <vt:lpstr>Função de erro</vt:lpstr>
      <vt:lpstr>Função de erro</vt:lpstr>
      <vt:lpstr>Função de erro</vt:lpstr>
      <vt:lpstr>Função de erro</vt:lpstr>
      <vt:lpstr>Gradiente descendente</vt:lpstr>
      <vt:lpstr>Regressor softmax</vt:lpstr>
      <vt:lpstr>Regressor softmax</vt:lpstr>
      <vt:lpstr>Regressor softmax</vt:lpstr>
      <vt:lpstr>Exemplo</vt:lpstr>
      <vt:lpstr>Lista de exercícios</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TP555 - Inteligência Artificial e Machine Learning</dc:title>
  <dc:creator>Felipe Augusto Pereira de Figueiredo</dc:creator>
  <cp:lastModifiedBy>Felipe Augusto Pereira de Figueiredo</cp:lastModifiedBy>
  <cp:revision>1838</cp:revision>
  <dcterms:created xsi:type="dcterms:W3CDTF">2020-01-20T13:50:05Z</dcterms:created>
  <dcterms:modified xsi:type="dcterms:W3CDTF">2026-09-14T00:51:56Z</dcterms:modified>
</cp:coreProperties>
</file>