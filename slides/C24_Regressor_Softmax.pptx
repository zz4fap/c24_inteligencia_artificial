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 id="515" r:id="rId25"/>
    <p:sldId id="514" r:id="rId26"/>
    <p:sldId id="51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6247" autoAdjust="0"/>
  </p:normalViewPr>
  <p:slideViewPr>
    <p:cSldViewPr snapToGrid="0">
      <p:cViewPr varScale="1">
        <p:scale>
          <a:sx n="106" d="100"/>
          <a:sy n="106" d="100"/>
        </p:scale>
        <p:origin x="1014" y="11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6/04/2026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06/04/2026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7%20-%20Regress%C3%A3o%20softmax.pdf"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5.png"/><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a:t>
                </a:r>
                <a:r>
                  <a:rPr lang="pt-BR" b="1" dirty="0">
                    <a:solidFill>
                      <a:schemeClr val="accent2"/>
                    </a:solidFill>
                  </a:rPr>
                  <a:t>generalização do regressor logístico</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os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a:t>
                </a:r>
                <a:r>
                  <a:rPr lang="pt-BR" b="1" dirty="0">
                    <a:solidFill>
                      <a:schemeClr val="accent2"/>
                    </a:solidFill>
                  </a:rPr>
                  <a:t>probabilidade</a:t>
                </a:r>
                <a:r>
                  <a:rPr lang="pt-BR" b="1" dirty="0">
                    <a:solidFill>
                      <a:srgbClr val="00B050"/>
                    </a:solidFill>
                  </a:rPr>
                  <a:t> de um </a:t>
                </a:r>
                <a:r>
                  <a:rPr lang="pt-BR" b="1" dirty="0">
                    <a:solidFill>
                      <a:schemeClr val="accent2"/>
                    </a:solidFill>
                  </a:rPr>
                  <a:t>exemplo</a:t>
                </a:r>
                <a:r>
                  <a:rPr lang="pt-BR" b="1" dirty="0">
                    <a:solidFill>
                      <a:srgbClr val="00B050"/>
                    </a:solidFill>
                  </a:rPr>
                  <a:t> de entrada </a:t>
                </a:r>
                <a:r>
                  <a:rPr lang="pt-BR" b="1" dirty="0">
                    <a:solidFill>
                      <a:schemeClr val="accent2"/>
                    </a:solidFill>
                  </a:rPr>
                  <a:t>pertencer a cada</a:t>
                </a:r>
                <a:r>
                  <a:rPr lang="pt-BR" b="1" dirty="0">
                    <a:solidFill>
                      <a:srgbClr val="00B050"/>
                    </a:solidFill>
                  </a:rPr>
                  <a:t>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a:t>
                </a:r>
                <a:r>
                  <a:rPr lang="pt-BR" b="1" dirty="0">
                    <a:solidFill>
                      <a:schemeClr val="accent2"/>
                    </a:solidFill>
                  </a:rPr>
                  <a:t>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a:t>
                </a:r>
                <a:r>
                  <a:rPr lang="pt-BR" b="1" dirty="0">
                    <a:solidFill>
                      <a:schemeClr val="accent2"/>
                    </a:solidFill>
                  </a:rPr>
                  <a:t>prediz</a:t>
                </a:r>
                <a:r>
                  <a:rPr lang="pt-BR" dirty="0"/>
                  <a:t>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a:t>
                </a:r>
                <a:r>
                  <a:rPr lang="pt-BR" b="1" dirty="0">
                    <a:solidFill>
                      <a:schemeClr val="accent2"/>
                    </a:solidFill>
                  </a:rPr>
                  <a:t>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notícias, músicas e imagens, por exemplo, podem pertencer a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4 classes, teremos 4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239500"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essa função de ativação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239500" cy="5032375"/>
              </a:xfrm>
              <a:blipFill>
                <a:blip r:embed="rId3"/>
                <a:stretch>
                  <a:fillRect l="-1139" t="-1332" r="-1465"/>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a:t>É uma </a:t>
                </a:r>
                <a:r>
                  <a:rPr lang="pt-BR" b="1" dirty="0">
                    <a:solidFill>
                      <a:schemeClr val="accent2"/>
                    </a:solidFill>
                  </a:rPr>
                  <a:t>generalização</a:t>
                </a:r>
                <a:r>
                  <a:rPr lang="pt-BR" dirty="0"/>
                  <a:t>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a:t>
                </a:r>
                <a:r>
                  <a:rPr lang="pt-BR" b="1" dirty="0">
                    <a:solidFill>
                      <a:schemeClr val="accent2"/>
                    </a:solidFill>
                  </a:rPr>
                  <a:t>distribuição de probabilidades</a:t>
                </a:r>
                <a:r>
                  <a:rPr lang="pt-BR" dirty="0"/>
                  <a:t>.</a:t>
                </a:r>
              </a:p>
              <a:p>
                <a:r>
                  <a:rPr lang="pt-BR" dirty="0"/>
                  <a:t>Assim, 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a:t>
                </a:r>
                <a:endParaRPr lang="pt-BR" b="1" dirty="0">
                  <a:solidFill>
                    <a:srgbClr val="00B050"/>
                  </a:solidFill>
                </a:endParaRP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r="-967"/>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448628" y="1825624"/>
                <a:ext cx="5743372"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a:t>
                </a:r>
                <a:r>
                  <a:rPr lang="pt-BR" b="1" i="0" dirty="0">
                    <a:solidFill>
                      <a:schemeClr val="tx1"/>
                    </a:solidFill>
                    <a:effectLst/>
                  </a:rPr>
                  <a:t>distribuição de probabilidades das classes</a:t>
                </a:r>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448628" y="1825624"/>
                <a:ext cx="5743372" cy="5032375"/>
              </a:xfrm>
              <a:blipFill>
                <a:blip r:embed="rId2"/>
                <a:stretch>
                  <a:fillRect l="-1911" t="-1937" r="-1062"/>
                </a:stretch>
              </a:blipFill>
            </p:spPr>
            <p:txBody>
              <a:bodyPr/>
              <a:lstStyle/>
              <a:p>
                <a:r>
                  <a:rPr lang="en-US">
                    <a:noFill/>
                  </a:rPr>
                  <a:t> </a:t>
                </a:r>
              </a:p>
            </p:txBody>
          </p:sp>
        </mc:Fallback>
      </mc:AlternateContent>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CBF719E4-6CBA-943F-B474-06306C5F67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3172" y="2593657"/>
            <a:ext cx="6115456" cy="2468904"/>
          </a:xfrm>
          <a:prstGeom prst="rect">
            <a:avLst/>
          </a:prstGeom>
        </p:spPr>
      </p:pic>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00B050"/>
                    </a:solidFill>
                    <a:effectLst/>
                  </a:rPr>
                  <a:t>soma 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id="{5488725B-FC33-B5BC-707D-29521FAA0FD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38272" y="3889057"/>
            <a:ext cx="6115456" cy="2468904"/>
          </a:xfrm>
          <a:prstGeom prst="rect">
            <a:avLst/>
          </a:prstGeom>
        </p:spPr>
      </p:pic>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5286376" y="1825624"/>
                <a:ext cx="6905624" cy="5032375"/>
              </a:xfrm>
            </p:spPr>
            <p:txBody>
              <a:bodyPr>
                <a:normAutofit/>
              </a:bodyPr>
              <a:lstStyle/>
              <a:p>
                <a:r>
                  <a:rPr lang="pt-BR" dirty="0"/>
                  <a:t>Assim como com o regressor logístico, podemos usar </a:t>
                </a:r>
                <a:r>
                  <a:rPr lang="pt-BR" b="1" dirty="0">
                    <a:solidFill>
                      <a:schemeClr val="accent2"/>
                    </a:solidFill>
                  </a:rPr>
                  <a:t>hiperplanos</a:t>
                </a:r>
                <a:r>
                  <a:rPr lang="pt-BR" dirty="0"/>
                  <a:t> ou </a:t>
                </a:r>
                <a:r>
                  <a:rPr lang="pt-BR" b="1" dirty="0">
                    <a:solidFill>
                      <a:schemeClr val="accent2"/>
                    </a:solidFill>
                  </a:rPr>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p>
              <a:p>
                <a:pPr lvl="1">
                  <a:buFont typeface="Wingdings" panose="05000000000000000000" pitchFamily="2" charset="2"/>
                  <a:buChar char="§"/>
                </a:pPr>
                <a:r>
                  <a:rPr lang="pt-BR" b="1" dirty="0">
                    <a:solidFill>
                      <a:srgbClr val="00B050"/>
                    </a:solidFill>
                  </a:rPr>
                  <a:t>atribua uma alta probabilidade para a classe alvo </a:t>
                </a:r>
              </a:p>
              <a:p>
                <a:pPr lvl="1">
                  <a:buFont typeface="Wingdings" panose="05000000000000000000" pitchFamily="2" charset="2"/>
                  <a:buChar char="§"/>
                </a:pPr>
                <a:r>
                  <a:rPr lang="pt-BR" dirty="0"/>
                  <a:t>e, consequentemente, </a:t>
                </a:r>
                <a:r>
                  <a:rPr lang="pt-BR" b="1" dirty="0">
                    <a:solidFill>
                      <a:srgbClr val="00B050"/>
                    </a:solidFill>
                  </a:rPr>
                  <a:t>uma baixa probabilidade para as demais classes</a:t>
                </a:r>
                <a:r>
                  <a:rPr lang="pt-BR" dirty="0"/>
                  <a:t>.</a:t>
                </a:r>
              </a:p>
              <a:p>
                <a:r>
                  <a:rPr lang="pt-BR" dirty="0"/>
                  <a:t>Por isso usamos vetores </a:t>
                </a:r>
                <a:r>
                  <a:rPr lang="pt-BR" b="1" i="1" dirty="0" err="1">
                    <a:solidFill>
                      <a:srgbClr val="7030A0"/>
                    </a:solidFill>
                  </a:rPr>
                  <a:t>one</a:t>
                </a:r>
                <a:r>
                  <a:rPr lang="pt-BR" b="1" i="1" dirty="0">
                    <a:solidFill>
                      <a:srgbClr val="7030A0"/>
                    </a:solidFill>
                  </a:rPr>
                  <a:t>-hot</a:t>
                </a:r>
                <a:r>
                  <a:rPr lang="pt-BR" b="1" dirty="0">
                    <a:solidFill>
                      <a:srgbClr val="7030A0"/>
                    </a:solidFill>
                  </a:rPr>
                  <a:t> como rótulos</a:t>
                </a:r>
                <a:r>
                  <a:rPr lang="pt-BR" dirty="0"/>
                  <a:t>.</a:t>
                </a:r>
              </a:p>
            </p:txBody>
          </p:sp>
        </mc:Choice>
        <mc:Fallback>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5286376" y="1825624"/>
                <a:ext cx="6905624" cy="5032375"/>
              </a:xfrm>
              <a:blipFill>
                <a:blip r:embed="rId3"/>
                <a:stretch>
                  <a:fillRect l="-1589" t="-1937" r="-167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29D6ED4-6B75-62EC-8922-9CCA4F704E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422" y="2649266"/>
            <a:ext cx="4292180" cy="2770936"/>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lnSpcReduction="10000"/>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groupChr>
                                        </m:e>
                                        <m:lim>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lim>
                                      </m:limLow>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a:t>
                </a:r>
                <a:r>
                  <a:rPr lang="pt-BR" b="1" dirty="0">
                    <a:solidFill>
                      <a:srgbClr val="7030A0"/>
                    </a:solidFill>
                  </a:rPr>
                  <a:t>rótulo numérico</a:t>
                </a:r>
                <a:r>
                  <a:rPr lang="pt-BR" dirty="0"/>
                  <a:t>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2663"/>
                </a:stretch>
              </a:blipFill>
            </p:spPr>
            <p:txBody>
              <a:bodyPr/>
              <a:lstStyle/>
              <a:p>
                <a:r>
                  <a:rPr lang="en-US">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a:xfrm>
                <a:off x="4952246" y="1840372"/>
                <a:ext cx="7239754" cy="5017627"/>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Essa função mede a </a:t>
                </a:r>
                <a:r>
                  <a:rPr lang="pt-BR" b="1" dirty="0">
                    <a:solidFill>
                      <a:schemeClr val="accent2"/>
                    </a:solidFill>
                  </a:rPr>
                  <a:t>diferença </a:t>
                </a:r>
                <a:r>
                  <a:rPr lang="pt-BR" b="1" dirty="0">
                    <a:solidFill>
                      <a:srgbClr val="7030A0"/>
                    </a:solidFill>
                  </a:rPr>
                  <a:t>entre as distribuições de probabilidade da saída do modelo e a dos rótulos </a:t>
                </a:r>
                <a:r>
                  <a:rPr lang="pt-BR" dirty="0"/>
                  <a:t>das classes.</a:t>
                </a:r>
              </a:p>
            </p:txBody>
          </p:sp>
        </mc:Choice>
        <mc:Fallback>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xfrm>
                <a:off x="4952246" y="1840372"/>
                <a:ext cx="7239754" cy="5017627"/>
              </a:xfrm>
              <a:blipFill>
                <a:blip r:embed="rId2"/>
                <a:stretch>
                  <a:fillRect l="-1515" t="-122" r="-101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AA09737-BB93-F7AB-8A47-090B362628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9712" y="2450090"/>
            <a:ext cx="4292180" cy="2770936"/>
          </a:xfrm>
          <a:prstGeom prst="rect">
            <a:avLst/>
          </a:prstGeom>
        </p:spPr>
      </p:pic>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200" y="1825624"/>
                <a:ext cx="1135380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rótulo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1128" t="-1937" r="-96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a:t>A atualização dos </a:t>
                </a:r>
                <a:r>
                  <a:rPr lang="pt-BR" b="1" dirty="0"/>
                  <a:t>pesos</a:t>
                </a:r>
                <a:r>
                  <a:rPr lang="pt-BR" dirty="0"/>
                  <a:t> da</a:t>
                </a:r>
                <a:r>
                  <a:rPr lang="pt-BR" b="1" dirty="0">
                    <a:solidFill>
                      <a:schemeClr val="accent2"/>
                    </a:solidFill>
                  </a:rPr>
                  <a:t> </a:t>
                </a:r>
                <a:r>
                  <a:rPr lang="pt-BR" b="1" i="1" dirty="0">
                    <a:solidFill>
                      <a:schemeClr val="accent2"/>
                    </a:solidFill>
                  </a:rPr>
                  <a:t>q</a:t>
                </a:r>
                <a:r>
                  <a:rPr lang="pt-BR" b="1" dirty="0">
                    <a:solidFill>
                      <a:schemeClr val="accent2"/>
                    </a:solidFill>
                  </a:rPr>
                  <a:t>-</a:t>
                </a:r>
                <a:r>
                  <a:rPr lang="pt-BR" b="1" dirty="0" err="1">
                    <a:solidFill>
                      <a:schemeClr val="accent2"/>
                    </a:solidFill>
                  </a:rPr>
                  <a:t>ésima</a:t>
                </a:r>
                <a:r>
                  <a:rPr lang="pt-BR" b="1" dirty="0">
                    <a:solidFill>
                      <a:schemeClr val="accent2"/>
                    </a:solidFill>
                  </a:rPr>
                  <a:t> função discriminante</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todos os </a:t>
                </a:r>
                <a14:m>
                  <m:oMath xmlns:m="http://schemas.openxmlformats.org/officeDocument/2006/math">
                    <m:r>
                      <a:rPr lang="pt-BR" i="1">
                        <a:latin typeface="Cambria Math" panose="02040503050406030204" pitchFamily="18" charset="0"/>
                      </a:rPr>
                      <m:t>𝑁</m:t>
                    </m:r>
                  </m:oMath>
                </a14:m>
                <a:r>
                  <a:rPr lang="pt-BR" dirty="0"/>
                  <a:t> vetores de atributos, respectivamente.</a:t>
                </a:r>
              </a:p>
            </p:txBody>
          </p:sp>
        </mc:Choice>
        <mc:Fallback>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1074"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40864"/>
                <a:ext cx="1125723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 </a:t>
                </a:r>
                <a:r>
                  <a:rPr lang="pt-BR" dirty="0"/>
                  <a:t>passamos a ter uma </a:t>
                </a:r>
                <a:r>
                  <a:rPr lang="pt-BR" b="1" dirty="0">
                    <a:solidFill>
                      <a:srgbClr val="7030A0"/>
                    </a:solidFill>
                  </a:rPr>
                  <a:t>matriz de vetores gradiente</a:t>
                </a:r>
                <a:endParaRPr lang="pt-BR" b="1" dirty="0">
                  <a:solidFill>
                    <a:schemeClr val="accent2"/>
                  </a:solidFill>
                </a:endParaRP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57230" cy="5032375"/>
              </a:xfrm>
              <a:blipFill>
                <a:blip r:embed="rId3"/>
                <a:stretch>
                  <a:fillRect l="-1138" r="-1354" b="-848"/>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#7 – </a:t>
            </a:r>
            <a:r>
              <a:rPr lang="en-US" dirty="0" err="1">
                <a:hlinkClick r:id="rId2"/>
              </a:rPr>
              <a:t>Regressão</a:t>
            </a:r>
            <a:r>
              <a:rPr lang="en-US" dirty="0">
                <a:hlinkClick r:id="rId2"/>
              </a:rPr>
              <a:t> </a:t>
            </a:r>
            <a:r>
              <a:rPr lang="en-US" i="1" dirty="0">
                <a:hlinkClick r:id="rId2"/>
              </a:rPr>
              <a:t>softmax</a:t>
            </a:r>
            <a:endParaRPr lang="en-US" i="1" dirty="0"/>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A37F4-4ED4-806C-CFDE-46C776755B3A}"/>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616605E6-566B-D397-B0D6-339FE7F8CB5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0793514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22">
            <a:extLst>
              <a:ext uri="{FF2B5EF4-FFF2-40B4-BE49-F238E27FC236}">
                <a16:creationId xmlns:a16="http://schemas.microsoft.com/office/drawing/2014/main" id="{BDB2E9D3-18AD-6A55-F414-20E01AF3185A}"/>
              </a:ext>
            </a:extLst>
          </p:cNvPr>
          <p:cNvGrpSpPr/>
          <p:nvPr/>
        </p:nvGrpSpPr>
        <p:grpSpPr>
          <a:xfrm>
            <a:off x="1027469" y="1870682"/>
            <a:ext cx="6115665" cy="2461594"/>
            <a:chOff x="1027469" y="1870682"/>
            <a:chExt cx="6115665" cy="2461594"/>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id="{AF11FFDB-E923-3C94-D47A-83418BDAD06C}"/>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6" name="Agrupar 21">
              <a:extLst>
                <a:ext uri="{FF2B5EF4-FFF2-40B4-BE49-F238E27FC236}">
                  <a16:creationId xmlns:a16="http://schemas.microsoft.com/office/drawing/2014/main" id="{0216B346-D594-78F5-A2A5-C50F3A50B5DC}"/>
                </a:ext>
              </a:extLst>
            </p:cNvPr>
            <p:cNvGrpSpPr/>
            <p:nvPr/>
          </p:nvGrpSpPr>
          <p:grpSpPr>
            <a:xfrm>
              <a:off x="3229897" y="2546550"/>
              <a:ext cx="1820194" cy="1583011"/>
              <a:chOff x="3624417" y="4409768"/>
              <a:chExt cx="1820194" cy="1583011"/>
            </a:xfrm>
          </p:grpSpPr>
          <p:sp>
            <p:nvSpPr>
              <p:cNvPr id="19" name="Retângulo 6">
                <a:extLst>
                  <a:ext uri="{FF2B5EF4-FFF2-40B4-BE49-F238E27FC236}">
                    <a16:creationId xmlns:a16="http://schemas.microsoft.com/office/drawing/2014/main" id="{C45F9961-D53D-BEB9-F54B-3CC4703FA1F8}"/>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20" name="CaixaDeTexto 7">
                    <a:extLst>
                      <a:ext uri="{FF2B5EF4-FFF2-40B4-BE49-F238E27FC236}">
                        <a16:creationId xmlns:a16="http://schemas.microsoft.com/office/drawing/2014/main" id="{DD14F424-8D9A-FCFC-0455-7D5B5C6C43F0}"/>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b="0" i="1" smtClean="0">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=1</m:t>
                                  </m:r>
                                </m:sub>
                                <m:sup>
                                  <m:r>
                                    <a:rPr lang="pt-BR" sz="2800" b="0" i="1" smtClean="0">
                                      <a:latin typeface="Cambria Math" panose="02040503050406030204" pitchFamily="18" charset="0"/>
                                    </a:rPr>
                                    <m:t>𝑄</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8" name="CaixaDeTexto 7">
                    <a:extLst>
                      <a:ext uri="{FF2B5EF4-FFF2-40B4-BE49-F238E27FC236}">
                        <a16:creationId xmlns:a16="http://schemas.microsoft.com/office/drawing/2014/main" id="{4607DCF3-656F-5B3E-9FD4-3A9E08FFF13B}"/>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pt-BR">
                        <a:noFill/>
                      </a:rPr>
                      <a:t> </a:t>
                    </a:r>
                  </a:p>
                </p:txBody>
              </p:sp>
            </mc:Fallback>
          </mc:AlternateContent>
        </p:grpSp>
        <p:sp>
          <p:nvSpPr>
            <p:cNvPr id="7" name="Seta: para a Direita 8">
              <a:extLst>
                <a:ext uri="{FF2B5EF4-FFF2-40B4-BE49-F238E27FC236}">
                  <a16:creationId xmlns:a16="http://schemas.microsoft.com/office/drawing/2014/main" id="{D3504EFE-235C-4EED-BD67-1F0134363B33}"/>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eta: para a Direita 9">
              <a:extLst>
                <a:ext uri="{FF2B5EF4-FFF2-40B4-BE49-F238E27FC236}">
                  <a16:creationId xmlns:a16="http://schemas.microsoft.com/office/drawing/2014/main" id="{E56F7404-32FC-ED2A-B5D6-AA6AAC63911A}"/>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10">
              <a:extLst>
                <a:ext uri="{FF2B5EF4-FFF2-40B4-BE49-F238E27FC236}">
                  <a16:creationId xmlns:a16="http://schemas.microsoft.com/office/drawing/2014/main" id="{4F9BC649-95D4-52BD-BA63-08F8688BBFD3}"/>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0" name="CaixaDeTexto 12">
              <a:extLst>
                <a:ext uri="{FF2B5EF4-FFF2-40B4-BE49-F238E27FC236}">
                  <a16:creationId xmlns:a16="http://schemas.microsoft.com/office/drawing/2014/main" id="{9C4DD653-BC48-DCA1-5663-281ACCF13641}"/>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11" name="Agrupar 20">
              <a:extLst>
                <a:ext uri="{FF2B5EF4-FFF2-40B4-BE49-F238E27FC236}">
                  <a16:creationId xmlns:a16="http://schemas.microsoft.com/office/drawing/2014/main" id="{1FBA146D-CAB5-65CA-C09C-DFAE2CF0121E}"/>
                </a:ext>
              </a:extLst>
            </p:cNvPr>
            <p:cNvGrpSpPr/>
            <p:nvPr/>
          </p:nvGrpSpPr>
          <p:grpSpPr>
            <a:xfrm>
              <a:off x="1027469" y="1870682"/>
              <a:ext cx="1986994" cy="2461594"/>
              <a:chOff x="1558411" y="3805042"/>
              <a:chExt cx="1986994" cy="2461594"/>
            </a:xfrm>
          </p:grpSpPr>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id="{43C8BB8A-C849-2483-4102-05D4F8A25AE9}"/>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3" name="CaixaDeTexto 11">
                    <a:extLst>
                      <a:ext uri="{FF2B5EF4-FFF2-40B4-BE49-F238E27FC236}">
                        <a16:creationId xmlns:a16="http://schemas.microsoft.com/office/drawing/2014/main" id="{AF290EB5-D075-77C8-B194-538454B60861}"/>
                      </a:ext>
                    </a:extLst>
                  </p:cNvPr>
                  <p:cNvSpPr txBox="1"/>
                  <p:nvPr/>
                </p:nvSpPr>
                <p:spPr>
                  <a:xfrm>
                    <a:off x="1744348" y="3805042"/>
                    <a:ext cx="1801057" cy="523220"/>
                  </a:xfrm>
                  <a:prstGeom prst="rect">
                    <a:avLst/>
                  </a:prstGeom>
                  <a:noFill/>
                </p:spPr>
                <p:txBody>
                  <a:bodyPr wrap="square" rtlCol="0">
                    <a:spAutoFit/>
                  </a:bodyPr>
                  <a:lstStyle/>
                  <a:p>
                    <a:pPr algn="ctr"/>
                    <a:r>
                      <a:rPr lang="pt-BR" sz="1400" dirty="0"/>
                      <a:t>Saídas das </a:t>
                    </a:r>
                    <a14:m>
                      <m:oMath xmlns:m="http://schemas.openxmlformats.org/officeDocument/2006/math">
                        <m:r>
                          <a:rPr lang="pt-BR" sz="1400" b="0" i="1" smtClean="0">
                            <a:latin typeface="Cambria Math" panose="02040503050406030204" pitchFamily="18" charset="0"/>
                          </a:rPr>
                          <m:t>𝑄</m:t>
                        </m:r>
                      </m:oMath>
                    </a14:m>
                    <a:r>
                      <a:rPr lang="pt-BR" sz="1400" dirty="0"/>
                      <a:t> funções discriminantes</a:t>
                    </a:r>
                  </a:p>
                </p:txBody>
              </p:sp>
            </mc:Choice>
            <mc:Fallback>
              <p:sp>
                <p:nvSpPr>
                  <p:cNvPr id="13" name="CaixaDeTexto 11">
                    <a:extLst>
                      <a:ext uri="{FF2B5EF4-FFF2-40B4-BE49-F238E27FC236}">
                        <a16:creationId xmlns:a16="http://schemas.microsoft.com/office/drawing/2014/main" id="{AF290EB5-D075-77C8-B194-538454B60861}"/>
                      </a:ext>
                    </a:extLst>
                  </p:cNvPr>
                  <p:cNvSpPr txBox="1">
                    <a:spLocks noRot="1" noChangeAspect="1" noMove="1" noResize="1" noEditPoints="1" noAdjustHandles="1" noChangeArrowheads="1" noChangeShapeType="1" noTextEdit="1"/>
                  </p:cNvSpPr>
                  <p:nvPr/>
                </p:nvSpPr>
                <p:spPr>
                  <a:xfrm>
                    <a:off x="1744348" y="3805042"/>
                    <a:ext cx="1801057" cy="523220"/>
                  </a:xfrm>
                  <a:prstGeom prst="rect">
                    <a:avLst/>
                  </a:prstGeom>
                  <a:blipFill>
                    <a:blip r:embed="rId5"/>
                    <a:stretch>
                      <a:fillRect t="-2326" r="-1017"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4">
                    <a:extLst>
                      <a:ext uri="{FF2B5EF4-FFF2-40B4-BE49-F238E27FC236}">
                        <a16:creationId xmlns:a16="http://schemas.microsoft.com/office/drawing/2014/main" id="{34981BFA-7FF1-3BFF-417B-6F22F9C69AF2}"/>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4">
                    <a:extLst>
                      <a:ext uri="{FF2B5EF4-FFF2-40B4-BE49-F238E27FC236}">
                        <a16:creationId xmlns:a16="http://schemas.microsoft.com/office/drawing/2014/main" id="{21996556-5E1C-0532-ED2B-D417F96263BF}"/>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5">
                    <a:extLst>
                      <a:ext uri="{FF2B5EF4-FFF2-40B4-BE49-F238E27FC236}">
                        <a16:creationId xmlns:a16="http://schemas.microsoft.com/office/drawing/2014/main" id="{DB8F6DFA-2208-43E8-18F4-BC5ACFDCAE49}"/>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5">
                    <a:extLst>
                      <a:ext uri="{FF2B5EF4-FFF2-40B4-BE49-F238E27FC236}">
                        <a16:creationId xmlns:a16="http://schemas.microsoft.com/office/drawing/2014/main" id="{56799DC0-EC54-BFAE-A5C1-F9419AAD72E7}"/>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a:blip r:embed="rId7"/>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6">
                    <a:extLst>
                      <a:ext uri="{FF2B5EF4-FFF2-40B4-BE49-F238E27FC236}">
                        <a16:creationId xmlns:a16="http://schemas.microsoft.com/office/drawing/2014/main" id="{A5EC037D-8EF0-3DEF-2F8B-84248AE8B86A}"/>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6">
                    <a:extLst>
                      <a:ext uri="{FF2B5EF4-FFF2-40B4-BE49-F238E27FC236}">
                        <a16:creationId xmlns:a16="http://schemas.microsoft.com/office/drawing/2014/main" id="{D260C477-09FF-3E43-480D-BA56F3E968FB}"/>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7">
                    <a:extLst>
                      <a:ext uri="{FF2B5EF4-FFF2-40B4-BE49-F238E27FC236}">
                        <a16:creationId xmlns:a16="http://schemas.microsoft.com/office/drawing/2014/main" id="{E842A6BA-1A35-A84A-B1B8-54B2C0A49661}"/>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7">
                    <a:extLst>
                      <a:ext uri="{FF2B5EF4-FFF2-40B4-BE49-F238E27FC236}">
                        <a16:creationId xmlns:a16="http://schemas.microsoft.com/office/drawing/2014/main" id="{D39B43A7-A1EB-24AB-D6A2-C63A54430649}"/>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a:blip r:embed="rId9"/>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8">
                    <a:extLst>
                      <a:ext uri="{FF2B5EF4-FFF2-40B4-BE49-F238E27FC236}">
                        <a16:creationId xmlns:a16="http://schemas.microsoft.com/office/drawing/2014/main" id="{AE06ADE1-A3FE-3684-A19B-1A4A69C1E4AB}"/>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5</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9" name="CaixaDeTexto 18">
                    <a:extLst>
                      <a:ext uri="{FF2B5EF4-FFF2-40B4-BE49-F238E27FC236}">
                        <a16:creationId xmlns:a16="http://schemas.microsoft.com/office/drawing/2014/main" id="{F4C19D8A-53B6-E387-20AE-D331C04A4541}"/>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a:blip r:embed="rId10"/>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6990590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572DC-35C8-C64C-E103-3D4F9246EA98}"/>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id="{48F378AC-D060-0026-4561-6496453280FF}"/>
              </a:ext>
            </a:extLst>
          </p:cNvPr>
          <p:cNvGrpSpPr/>
          <p:nvPr/>
        </p:nvGrpSpPr>
        <p:grpSpPr>
          <a:xfrm>
            <a:off x="5040796" y="1567467"/>
            <a:ext cx="4280221" cy="2759538"/>
            <a:chOff x="5040796" y="1567467"/>
            <a:chExt cx="4280221" cy="2759538"/>
          </a:xfrm>
        </p:grpSpPr>
        <mc:AlternateContent xmlns:mc="http://schemas.openxmlformats.org/markup-compatibility/2006">
          <mc:Choice xmlns:a14="http://schemas.microsoft.com/office/drawing/2010/main" Requires="a14">
            <p:sp>
              <p:nvSpPr>
                <p:cNvPr id="5" name="CaixaDeTexto 5">
                  <a:extLst>
                    <a:ext uri="{FF2B5EF4-FFF2-40B4-BE49-F238E27FC236}">
                      <a16:creationId xmlns:a16="http://schemas.microsoft.com/office/drawing/2014/main" id="{E8D0D67D-860E-2510-92FC-57A520894F28}"/>
                    </a:ext>
                  </a:extLst>
                </p:cNvPr>
                <p:cNvSpPr txBox="1"/>
                <p:nvPr/>
              </p:nvSpPr>
              <p:spPr>
                <a:xfrm>
                  <a:off x="5400674" y="2306131"/>
                  <a:ext cx="978695"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p:sp>
              <p:nvSpPr>
                <p:cNvPr id="5" name="CaixaDeTexto 5">
                  <a:extLst>
                    <a:ext uri="{FF2B5EF4-FFF2-40B4-BE49-F238E27FC236}">
                      <a16:creationId xmlns:a16="http://schemas.microsoft.com/office/drawing/2014/main" id="{E8D0D67D-860E-2510-92FC-57A520894F28}"/>
                    </a:ext>
                  </a:extLst>
                </p:cNvPr>
                <p:cNvSpPr txBox="1">
                  <a:spLocks noRot="1" noChangeAspect="1" noMove="1" noResize="1" noEditPoints="1" noAdjustHandles="1" noChangeArrowheads="1" noChangeShapeType="1" noTextEdit="1"/>
                </p:cNvSpPr>
                <p:nvPr/>
              </p:nvSpPr>
              <p:spPr>
                <a:xfrm>
                  <a:off x="5400674" y="2306131"/>
                  <a:ext cx="978695" cy="2020874"/>
                </a:xfrm>
                <a:prstGeom prst="rect">
                  <a:avLst/>
                </a:prstGeom>
                <a:blipFill>
                  <a:blip r:embed="rId2"/>
                  <a:stretch>
                    <a:fillRect r="-1875"/>
                  </a:stretch>
                </a:blipFill>
              </p:spPr>
              <p:txBody>
                <a:bodyPr/>
                <a:lstStyle/>
                <a:p>
                  <a:r>
                    <a:rPr lang="en-US">
                      <a:noFill/>
                    </a:rPr>
                    <a:t> </a:t>
                  </a:r>
                </a:p>
              </p:txBody>
            </p:sp>
          </mc:Fallback>
        </mc:AlternateContent>
        <p:sp>
          <p:nvSpPr>
            <p:cNvPr id="9" name="CaixaDeTexto 10">
              <a:extLst>
                <a:ext uri="{FF2B5EF4-FFF2-40B4-BE49-F238E27FC236}">
                  <a16:creationId xmlns:a16="http://schemas.microsoft.com/office/drawing/2014/main" id="{E297B5F7-3383-6E2F-1D8A-03955FAC43D2}"/>
                </a:ext>
              </a:extLst>
            </p:cNvPr>
            <p:cNvSpPr txBox="1"/>
            <p:nvPr/>
          </p:nvSpPr>
          <p:spPr>
            <a:xfrm>
              <a:off x="5040796" y="1567467"/>
              <a:ext cx="1943256" cy="738664"/>
            </a:xfrm>
            <a:prstGeom prst="rect">
              <a:avLst/>
            </a:prstGeom>
            <a:noFill/>
          </p:spPr>
          <p:txBody>
            <a:bodyPr wrap="square" rtlCol="0">
              <a:spAutoFit/>
            </a:bodyPr>
            <a:lstStyle/>
            <a:p>
              <a:pPr algn="ctr"/>
              <a:r>
                <a:rPr lang="pt-BR" sz="1400" dirty="0"/>
                <a:t>Saída da função de ativação </a:t>
              </a:r>
              <a:r>
                <a:rPr lang="pt-BR" sz="1400" i="1" dirty="0"/>
                <a:t>softmax</a:t>
              </a:r>
              <a:endParaRPr lang="pt-BR" sz="1400" dirty="0"/>
            </a:p>
            <a:p>
              <a:pPr algn="ctr"/>
              <a:r>
                <a:rPr lang="pt-BR" sz="1400" dirty="0"/>
                <a:t>(probabilidades)</a:t>
              </a:r>
            </a:p>
          </p:txBody>
        </p:sp>
        <mc:AlternateContent xmlns:mc="http://schemas.openxmlformats.org/markup-compatibility/2006">
          <mc:Choice xmlns:a14="http://schemas.microsoft.com/office/drawing/2010/main" Requires="a14">
            <p:sp>
              <p:nvSpPr>
                <p:cNvPr id="12" name="CaixaDeTexto 4">
                  <a:extLst>
                    <a:ext uri="{FF2B5EF4-FFF2-40B4-BE49-F238E27FC236}">
                      <a16:creationId xmlns:a16="http://schemas.microsoft.com/office/drawing/2014/main" id="{2C8DDC51-3A16-5E93-8268-EE62BDE151E0}"/>
                    </a:ext>
                  </a:extLst>
                </p:cNvPr>
                <p:cNvSpPr txBox="1"/>
                <p:nvPr/>
              </p:nvSpPr>
              <p:spPr>
                <a:xfrm>
                  <a:off x="8099425" y="2311739"/>
                  <a:ext cx="508000"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1</m:t>
                                  </m:r>
                                </m:e>
                              </m:mr>
                              <m:m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
                                </m:e>
                              </m:mr>
                            </m:m>
                          </m:e>
                        </m:d>
                      </m:oMath>
                    </m:oMathPara>
                  </a14:m>
                  <a:endParaRPr lang="pt-BR" sz="2800" dirty="0"/>
                </a:p>
              </p:txBody>
            </p:sp>
          </mc:Choice>
          <mc:Fallback>
            <p:sp>
              <p:nvSpPr>
                <p:cNvPr id="12" name="CaixaDeTexto 4">
                  <a:extLst>
                    <a:ext uri="{FF2B5EF4-FFF2-40B4-BE49-F238E27FC236}">
                      <a16:creationId xmlns:a16="http://schemas.microsoft.com/office/drawing/2014/main" id="{2C8DDC51-3A16-5E93-8268-EE62BDE151E0}"/>
                    </a:ext>
                  </a:extLst>
                </p:cNvPr>
                <p:cNvSpPr txBox="1">
                  <a:spLocks noRot="1" noChangeAspect="1" noMove="1" noResize="1" noEditPoints="1" noAdjustHandles="1" noChangeArrowheads="1" noChangeShapeType="1" noTextEdit="1"/>
                </p:cNvSpPr>
                <p:nvPr/>
              </p:nvSpPr>
              <p:spPr>
                <a:xfrm>
                  <a:off x="8099425" y="2311739"/>
                  <a:ext cx="508000" cy="2009268"/>
                </a:xfrm>
                <a:prstGeom prst="rect">
                  <a:avLst/>
                </a:prstGeom>
                <a:blipFill>
                  <a:blip r:embed="rId3"/>
                  <a:stretch>
                    <a:fillRect r="-3614"/>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EB611083-738F-80C1-2BA7-92EDB40EFB94}"/>
                </a:ext>
              </a:extLst>
            </p:cNvPr>
            <p:cNvSpPr/>
            <p:nvPr/>
          </p:nvSpPr>
          <p:spPr>
            <a:xfrm>
              <a:off x="6848474" y="2994737"/>
              <a:ext cx="956185" cy="643659"/>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endParaRPr lang="en-US" dirty="0">
                <a:solidFill>
                  <a:schemeClr val="tx1"/>
                </a:solidFill>
              </a:endParaRPr>
            </a:p>
          </p:txBody>
        </p:sp>
        <p:sp>
          <p:nvSpPr>
            <p:cNvPr id="3" name="CaixaDeTexto 10">
              <a:extLst>
                <a:ext uri="{FF2B5EF4-FFF2-40B4-BE49-F238E27FC236}">
                  <a16:creationId xmlns:a16="http://schemas.microsoft.com/office/drawing/2014/main" id="{F0E4EAFE-2F57-D46C-B71A-FC2B97DD9DC3}"/>
                </a:ext>
              </a:extLst>
            </p:cNvPr>
            <p:cNvSpPr txBox="1"/>
            <p:nvPr/>
          </p:nvSpPr>
          <p:spPr>
            <a:xfrm>
              <a:off x="7703840" y="1567467"/>
              <a:ext cx="1617177" cy="738664"/>
            </a:xfrm>
            <a:prstGeom prst="rect">
              <a:avLst/>
            </a:prstGeom>
            <a:noFill/>
          </p:spPr>
          <p:txBody>
            <a:bodyPr wrap="square" rtlCol="0">
              <a:spAutoFit/>
            </a:bodyPr>
            <a:lstStyle/>
            <a:p>
              <a:pPr algn="ctr"/>
              <a:r>
                <a:rPr lang="pt-BR" sz="1400" dirty="0"/>
                <a:t>Vetor </a:t>
              </a:r>
              <a:r>
                <a:rPr lang="pt-BR" sz="1400" i="1" dirty="0" err="1"/>
                <a:t>one</a:t>
              </a:r>
              <a:r>
                <a:rPr lang="pt-BR" sz="1400" i="1" dirty="0"/>
                <a:t>-hot</a:t>
              </a:r>
              <a:r>
                <a:rPr lang="pt-BR" sz="1400" dirty="0"/>
                <a:t> com a probabilidade real de cada classe.</a:t>
              </a:r>
            </a:p>
          </p:txBody>
        </p:sp>
        <p:cxnSp>
          <p:nvCxnSpPr>
            <p:cNvPr id="22" name="Straight Arrow Connector 21">
              <a:extLst>
                <a:ext uri="{FF2B5EF4-FFF2-40B4-BE49-F238E27FC236}">
                  <a16:creationId xmlns:a16="http://schemas.microsoft.com/office/drawing/2014/main" id="{8F2714CA-3421-42C2-2575-C2D5DB1B504D}"/>
                </a:ext>
              </a:extLst>
            </p:cNvPr>
            <p:cNvCxnSpPr>
              <a:cxnSpLocks/>
              <a:stCxn id="5" idx="3"/>
              <a:endCxn id="2" idx="1"/>
            </p:cNvCxnSpPr>
            <p:nvPr/>
          </p:nvCxnSpPr>
          <p:spPr>
            <a:xfrm flipV="1">
              <a:off x="6379369" y="3316567"/>
              <a:ext cx="469105" cy="1"/>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613A6D9-EABC-0CE5-50B4-C1C9AA047D5D}"/>
                </a:ext>
              </a:extLst>
            </p:cNvPr>
            <p:cNvCxnSpPr>
              <a:cxnSpLocks/>
              <a:endCxn id="2" idx="3"/>
            </p:cNvCxnSpPr>
            <p:nvPr/>
          </p:nvCxnSpPr>
          <p:spPr>
            <a:xfrm flipH="1">
              <a:off x="7804659" y="3316567"/>
              <a:ext cx="396000"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72011154"/>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9696</TotalTime>
  <Words>3649</Words>
  <Application>Microsoft Office PowerPoint</Application>
  <PresentationFormat>Widescreen</PresentationFormat>
  <Paragraphs>226</Paragraphs>
  <Slides>26</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1810</cp:revision>
  <dcterms:created xsi:type="dcterms:W3CDTF">2020-01-20T13:50:05Z</dcterms:created>
  <dcterms:modified xsi:type="dcterms:W3CDTF">2026-04-06T15:05:06Z</dcterms:modified>
</cp:coreProperties>
</file>