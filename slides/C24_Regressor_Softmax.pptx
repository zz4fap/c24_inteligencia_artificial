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handoutMasterIdLst>
    <p:handoutMasterId r:id="rId26"/>
  </p:handoutMasterIdLst>
  <p:sldIdLst>
    <p:sldId id="256" r:id="rId2"/>
    <p:sldId id="325" r:id="rId3"/>
    <p:sldId id="474" r:id="rId4"/>
    <p:sldId id="480" r:id="rId5"/>
    <p:sldId id="481" r:id="rId6"/>
    <p:sldId id="482" r:id="rId7"/>
    <p:sldId id="494" r:id="rId8"/>
    <p:sldId id="497" r:id="rId9"/>
    <p:sldId id="499" r:id="rId10"/>
    <p:sldId id="483" r:id="rId11"/>
    <p:sldId id="527" r:id="rId12"/>
    <p:sldId id="526" r:id="rId13"/>
    <p:sldId id="504" r:id="rId14"/>
    <p:sldId id="485" r:id="rId15"/>
    <p:sldId id="487" r:id="rId16"/>
    <p:sldId id="489" r:id="rId17"/>
    <p:sldId id="488" r:id="rId18"/>
    <p:sldId id="492" r:id="rId19"/>
    <p:sldId id="525" r:id="rId20"/>
    <p:sldId id="456" r:id="rId21"/>
    <p:sldId id="457" r:id="rId22"/>
    <p:sldId id="293" r:id="rId23"/>
    <p:sldId id="306" r:id="rId24"/>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90315" autoAdjust="0"/>
  </p:normalViewPr>
  <p:slideViewPr>
    <p:cSldViewPr snapToGrid="0">
      <p:cViewPr varScale="1">
        <p:scale>
          <a:sx n="100" d="100"/>
          <a:sy n="100" d="100"/>
        </p:scale>
        <p:origin x="121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26/02/2026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26/02/2026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31936593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Exemplos de classes não mutuamente exclusivas:</a:t>
            </a:r>
          </a:p>
          <a:p>
            <a:r>
              <a:rPr lang="pt-BR" sz="1200" b="1" i="0" kern="1200" dirty="0">
                <a:solidFill>
                  <a:schemeClr val="tx1"/>
                </a:solidFill>
                <a:effectLst/>
                <a:latin typeface="+mn-lt"/>
                <a:ea typeface="+mn-ea"/>
                <a:cs typeface="+mn-cs"/>
              </a:rPr>
              <a:t>Classificação de documentos por tópicos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documento pode ser sobre "Política", "Economia" e "Saúde" ao mesmo tempo.</a:t>
            </a:r>
          </a:p>
          <a:p>
            <a:r>
              <a:rPr lang="pt-BR" sz="1200" b="1" i="0" kern="1200" dirty="0">
                <a:solidFill>
                  <a:schemeClr val="tx1"/>
                </a:solidFill>
                <a:effectLst/>
                <a:latin typeface="+mn-lt"/>
                <a:ea typeface="+mn-ea"/>
                <a:cs typeface="+mn-cs"/>
              </a:rPr>
              <a:t>Reconhecimento de objetos em imagens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imagem pode conter "gato", "cão" e "árvore" simultaneamente.</a:t>
            </a:r>
          </a:p>
          <a:p>
            <a:r>
              <a:rPr lang="pt-BR" sz="1200" b="1" i="0" kern="1200" dirty="0">
                <a:solidFill>
                  <a:schemeClr val="tx1"/>
                </a:solidFill>
                <a:effectLst/>
                <a:latin typeface="+mn-lt"/>
                <a:ea typeface="+mn-ea"/>
                <a:cs typeface="+mn-cs"/>
              </a:rPr>
              <a:t>Sistema de recomendação de filmes por gêneros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filme pode ser classificado como "Comédia", "Romance" e "Drama".</a:t>
            </a:r>
          </a:p>
          <a:p>
            <a:r>
              <a:rPr lang="pt-BR" sz="1200" b="1" i="0" kern="1200" dirty="0">
                <a:solidFill>
                  <a:schemeClr val="tx1"/>
                </a:solidFill>
                <a:effectLst/>
                <a:latin typeface="+mn-lt"/>
                <a:ea typeface="+mn-ea"/>
                <a:cs typeface="+mn-cs"/>
              </a:rPr>
              <a:t>Diagnóstico médico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paciente pode ter múltiplas doenças: "diabetes", "hipertensão" e "asma".</a:t>
            </a:r>
          </a:p>
          <a:p>
            <a:r>
              <a:rPr lang="pt-BR" sz="1200" b="1" i="0" kern="1200" dirty="0">
                <a:solidFill>
                  <a:schemeClr val="tx1"/>
                </a:solidFill>
                <a:effectLst/>
                <a:latin typeface="+mn-lt"/>
                <a:ea typeface="+mn-ea"/>
                <a:cs typeface="+mn-cs"/>
              </a:rPr>
              <a:t>Análise de sentimentos em texto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texto pode expressar "alegria", "surpresa" e "raiva" ao mesmo tempo.</a:t>
            </a:r>
          </a:p>
          <a:p>
            <a:r>
              <a:rPr lang="pt-BR" sz="1200" b="1" i="0" kern="1200" dirty="0" err="1">
                <a:solidFill>
                  <a:schemeClr val="tx1"/>
                </a:solidFill>
                <a:effectLst/>
                <a:latin typeface="+mn-lt"/>
                <a:ea typeface="+mn-ea"/>
                <a:cs typeface="+mn-cs"/>
              </a:rPr>
              <a:t>Tags</a:t>
            </a:r>
            <a:r>
              <a:rPr lang="pt-BR" sz="1200" b="1" i="0" kern="1200" dirty="0">
                <a:solidFill>
                  <a:schemeClr val="tx1"/>
                </a:solidFill>
                <a:effectLst/>
                <a:latin typeface="+mn-lt"/>
                <a:ea typeface="+mn-ea"/>
                <a:cs typeface="+mn-cs"/>
              </a:rPr>
              <a:t> em produtos de e-commerce</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produto pode ter </a:t>
            </a:r>
            <a:r>
              <a:rPr lang="pt-BR" sz="1200" b="0" i="0" kern="1200" dirty="0" err="1">
                <a:solidFill>
                  <a:schemeClr val="tx1"/>
                </a:solidFill>
                <a:effectLst/>
                <a:latin typeface="+mn-lt"/>
                <a:ea typeface="+mn-ea"/>
                <a:cs typeface="+mn-cs"/>
              </a:rPr>
              <a:t>tags</a:t>
            </a:r>
            <a:r>
              <a:rPr lang="pt-BR" sz="1200" b="0" i="0" kern="1200" dirty="0">
                <a:solidFill>
                  <a:schemeClr val="tx1"/>
                </a:solidFill>
                <a:effectLst/>
                <a:latin typeface="+mn-lt"/>
                <a:ea typeface="+mn-ea"/>
                <a:cs typeface="+mn-cs"/>
              </a:rPr>
              <a:t> como "barato", "ecológico", "promoção" e "novidade".</a:t>
            </a:r>
          </a:p>
          <a:p>
            <a:r>
              <a:rPr lang="pt-BR" sz="1200" b="1" i="0" kern="1200" dirty="0">
                <a:solidFill>
                  <a:schemeClr val="tx1"/>
                </a:solidFill>
                <a:effectLst/>
                <a:latin typeface="+mn-lt"/>
                <a:ea typeface="+mn-ea"/>
                <a:cs typeface="+mn-cs"/>
              </a:rPr>
              <a:t>Classificação de músicas por gênero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música pode ser "rock", "eletrônica" e "experimental" simultaneamente.</a:t>
            </a:r>
          </a:p>
          <a:p>
            <a:br>
              <a:rPr lang="pt-BR" dirty="0"/>
            </a:br>
            <a:br>
              <a:rPr lang="pt-BR" dirty="0"/>
            </a:br>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33243422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0890692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10483321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6476752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15895662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3836892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39005946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i="1" smtClean="0">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smtClean="0">
                            <a:latin typeface="Cambria Math" panose="02040503050406030204" pitchFamily="18" charset="0"/>
                          </a:rPr>
                        </m:ctrlPr>
                      </m:sSubPr>
                      <m:e>
                        <m:acc>
                          <m:accPr>
                            <m:chr m:val="̂"/>
                            <m:ctrlPr>
                              <a:rPr lang="pt-BR" sz="1200"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4617738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254272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a:t>
            </a:r>
            <a:r>
              <a:rPr lang="pt-BR" b="0" i="0" dirty="0" err="1">
                <a:solidFill>
                  <a:srgbClr val="374151"/>
                </a:solidFill>
                <a:effectLst/>
                <a:latin typeface="Söhne"/>
              </a:rPr>
              <a:t>multiclasse</a:t>
            </a:r>
            <a:r>
              <a:rPr lang="pt-BR" b="0" i="0" dirty="0">
                <a:solidFill>
                  <a:srgbClr val="374151"/>
                </a:solidFill>
                <a:effectLst/>
                <a:latin typeface="Söhne"/>
              </a:rPr>
              <a:t>,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12809259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1506439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26/02/2026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err="1"/>
              <a:t>Regressor</a:t>
            </a:r>
            <a:r>
              <a:rPr lang="pt-BR" sz="7200" b="1" i="1" dirty="0"/>
              <a:t> </a:t>
            </a:r>
            <a:r>
              <a:rPr lang="pt-BR" sz="7200" b="1" i="1" dirty="0" err="1"/>
              <a:t>Softmax</a:t>
            </a:r>
            <a:endParaRPr lang="pt-BR" sz="7200" b="1" i="1" dirty="0"/>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38799" y="1784680"/>
                <a:ext cx="6444343" cy="5073320"/>
              </a:xfrm>
            </p:spPr>
            <p:txBody>
              <a:bodyPr>
                <a:normAutofit/>
              </a:bodyPr>
              <a:lstStyle/>
              <a:p>
                <a:r>
                  <a:rPr lang="pt-BR" dirty="0"/>
                  <a:t>Até agora, nós vimos como classificar utilizando a </a:t>
                </a:r>
                <a:r>
                  <a:rPr lang="pt-BR" b="1" dirty="0"/>
                  <a:t>regressão logística</a:t>
                </a:r>
                <a:r>
                  <a:rPr lang="pt-BR" dirty="0"/>
                  <a:t>.</a:t>
                </a:r>
              </a:p>
              <a:p>
                <a:pPr lvl="1">
                  <a:buFont typeface="Wingdings" panose="05000000000000000000" pitchFamily="2" charset="2"/>
                  <a:buChar char="§"/>
                </a:pPr>
                <a:r>
                  <a:rPr lang="pt-BR" dirty="0"/>
                  <a:t>Classificação binária.</a:t>
                </a:r>
              </a:p>
              <a:p>
                <a:r>
                  <a:rPr lang="pt-BR" dirty="0"/>
                  <a:t>Mas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10 dígitos.</a:t>
                </a:r>
              </a:p>
              <a:p>
                <a:pPr lvl="1">
                  <a:buFont typeface="Wingdings" panose="05000000000000000000" pitchFamily="2" charset="2"/>
                  <a:buChar char="§"/>
                </a:pPr>
                <a:r>
                  <a:rPr lang="pt-BR" dirty="0"/>
                  <a:t>Classificação de texto: Esportes, Economia, Política, Entretenimento, etc.</a:t>
                </a:r>
              </a:p>
              <a:p>
                <a:pPr lvl="1">
                  <a:buFont typeface="Wingdings" panose="05000000000000000000" pitchFamily="2" charset="2"/>
                  <a:buChar char="§"/>
                </a:pPr>
                <a:r>
                  <a:rPr lang="pt-BR" dirty="0"/>
                  <a:t>Classificação de sentimentos: Neutro, Positivo, Negativo.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38799" y="1784680"/>
                <a:ext cx="6444343" cy="5073320"/>
              </a:xfrm>
              <a:blipFill>
                <a:blip r:embed="rId2"/>
                <a:stretch>
                  <a:fillRect l="-1703" t="-2043"/>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a16="http://schemas.microsoft.com/office/drawing/2014/main"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a16="http://schemas.microsoft.com/office/drawing/2014/main"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a16="http://schemas.microsoft.com/office/drawing/2014/main"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780314" y="1784680"/>
                <a:ext cx="6293070" cy="5073320"/>
              </a:xfrm>
            </p:spPr>
            <p:txBody>
              <a:bodyPr>
                <a:normAutofit/>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dirty="0">
                    <a:solidFill>
                      <a:srgbClr val="00B050"/>
                    </a:solidFill>
                  </a:rPr>
                  <a:t>multiclasses</a:t>
                </a:r>
                <a:r>
                  <a:rPr lang="pt-BR" dirty="0"/>
                  <a:t>.</a:t>
                </a:r>
              </a:p>
              <a:p>
                <a:r>
                  <a:rPr lang="pt-BR" dirty="0"/>
                  <a:t>Podemos resolver estes problemas com o </a:t>
                </a:r>
                <a:r>
                  <a:rPr lang="pt-BR" b="1" dirty="0"/>
                  <a:t>regressor </a:t>
                </a:r>
                <a:r>
                  <a:rPr lang="pt-BR" b="1" i="1" dirty="0"/>
                  <a:t>softmax</a:t>
                </a:r>
                <a:r>
                  <a:rPr lang="pt-BR" dirty="0"/>
                  <a:t>, que é uma generalização do regressor logístico.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780314" y="1784680"/>
                <a:ext cx="6293070" cy="5073320"/>
              </a:xfrm>
              <a:blipFill>
                <a:blip r:embed="rId2"/>
                <a:stretch>
                  <a:fillRect l="-1742" t="-2043" r="-678"/>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a16="http://schemas.microsoft.com/office/drawing/2014/main"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a16="http://schemas.microsoft.com/office/drawing/2014/main"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a16="http://schemas.microsoft.com/office/drawing/2014/main"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22D379-CAA0-9DC9-CDBD-6E0EBE1BFF31}"/>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68F0D74-8673-A432-A1D7-BDEF7725851A}"/>
                  </a:ext>
                </a:extLst>
              </p:cNvPr>
              <p:cNvSpPr>
                <a:spLocks noGrp="1"/>
              </p:cNvSpPr>
              <p:nvPr>
                <p:ph idx="1"/>
              </p:nvPr>
            </p:nvSpPr>
            <p:spPr>
              <a:xfrm>
                <a:off x="838199" y="1825624"/>
                <a:ext cx="11059391" cy="5032375"/>
              </a:xfrm>
            </p:spPr>
            <p:txBody>
              <a:bodyPr>
                <a:normAutofit/>
              </a:bodyPr>
              <a:lstStyle/>
              <a:p>
                <a:r>
                  <a:rPr lang="pt-BR" dirty="0"/>
                  <a:t>Também conhecida como </a:t>
                </a:r>
                <a:r>
                  <a:rPr lang="pt-BR" b="1" dirty="0"/>
                  <a:t>regressão logística multinomial</a:t>
                </a:r>
                <a:r>
                  <a:rPr lang="pt-BR" dirty="0"/>
                  <a:t>.</a:t>
                </a:r>
              </a:p>
              <a:p>
                <a:pPr lvl="1">
                  <a:buFont typeface="Wingdings" panose="05000000000000000000" pitchFamily="2" charset="2"/>
                  <a:buChar char="§"/>
                </a:pPr>
                <a:r>
                  <a:rPr lang="pt-BR" dirty="0"/>
                  <a:t>Pois suas saídas podem ser interpretadas como as </a:t>
                </a:r>
                <a:r>
                  <a:rPr lang="pt-BR" b="1" dirty="0">
                    <a:solidFill>
                      <a:srgbClr val="00B050"/>
                    </a:solidFill>
                  </a:rPr>
                  <a:t>probabilidades de uma variável categórica </a:t>
                </a:r>
                <a:r>
                  <a:rPr lang="pt-BR" dirty="0"/>
                  <a:t>(as classes) </a:t>
                </a:r>
                <a:r>
                  <a:rPr lang="pt-BR" b="1" dirty="0">
                    <a:solidFill>
                      <a:srgbClr val="00B050"/>
                    </a:solidFill>
                  </a:rPr>
                  <a:t>dado os atributos e pesos.</a:t>
                </a:r>
              </a:p>
              <a:p>
                <a:pPr lvl="1">
                  <a:buFont typeface="Wingdings" panose="05000000000000000000" pitchFamily="2" charset="2"/>
                  <a:buChar char="§"/>
                </a:pPr>
                <a:r>
                  <a:rPr lang="pt-BR" dirty="0"/>
                  <a:t>Ou seja, a regressão </a:t>
                </a:r>
                <a:r>
                  <a:rPr lang="pt-BR" b="1" i="1" dirty="0">
                    <a:solidFill>
                      <a:srgbClr val="00B050"/>
                    </a:solidFill>
                  </a:rPr>
                  <a:t>softmax</a:t>
                </a:r>
                <a:r>
                  <a:rPr lang="pt-BR" b="1" dirty="0">
                    <a:solidFill>
                      <a:srgbClr val="00B050"/>
                    </a:solidFill>
                  </a:rPr>
                  <a:t> estima a probabilidade de um exemplo de entrada pertencer a cada uma das </a:t>
                </a:r>
                <a14:m>
                  <m:oMath xmlns:m="http://schemas.openxmlformats.org/officeDocument/2006/math">
                    <m:r>
                      <a:rPr lang="pt-BR" i="1" smtClean="0">
                        <a:solidFill>
                          <a:srgbClr val="00B050"/>
                        </a:solidFill>
                        <a:latin typeface="Cambria Math" panose="02040503050406030204" pitchFamily="18" charset="0"/>
                      </a:rPr>
                      <m:t>𝑄</m:t>
                    </m:r>
                  </m:oMath>
                </a14:m>
                <a:r>
                  <a:rPr lang="pt-BR" b="1" dirty="0">
                    <a:solidFill>
                      <a:srgbClr val="00B050"/>
                    </a:solidFill>
                  </a:rPr>
                  <a:t> possíveis classes</a:t>
                </a:r>
                <a:r>
                  <a:rPr lang="pt-BR" dirty="0"/>
                  <a:t>.</a:t>
                </a:r>
              </a:p>
              <a:p>
                <a:r>
                  <a:rPr lang="pt-BR" dirty="0"/>
                  <a:t>O regressor tem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classificador com 4 saídas.</a:t>
                </a:r>
              </a:p>
            </p:txBody>
          </p:sp>
        </mc:Choice>
        <mc:Fallback xmlns="">
          <p:sp>
            <p:nvSpPr>
              <p:cNvPr id="3" name="Espaço Reservado para Conteúdo 2">
                <a:extLst>
                  <a:ext uri="{FF2B5EF4-FFF2-40B4-BE49-F238E27FC236}">
                    <a16:creationId xmlns:a16="http://schemas.microsoft.com/office/drawing/2014/main"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059391" cy="5032375"/>
              </a:xfrm>
              <a:blipFill>
                <a:blip r:embed="rId3"/>
                <a:stretch>
                  <a:fillRect l="-937" t="-1937" r="-1433"/>
                </a:stretch>
              </a:blipFill>
            </p:spPr>
            <p:txBody>
              <a:bodyPr/>
              <a:lstStyle/>
              <a:p>
                <a:r>
                  <a:rPr lang="en-US">
                    <a:noFill/>
                  </a:rPr>
                  <a:t> </a:t>
                </a:r>
              </a:p>
            </p:txBody>
          </p:sp>
        </mc:Fallback>
      </mc:AlternateContent>
    </p:spTree>
    <p:extLst>
      <p:ext uri="{BB962C8B-B14F-4D97-AF65-F5344CB8AC3E}">
        <p14:creationId xmlns:p14="http://schemas.microsoft.com/office/powerpoint/2010/main" val="31076735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9F0958-530D-D942-BA01-15C1583DD1E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21416F72-28FB-E27C-D129-16A944A87C67}"/>
                  </a:ext>
                </a:extLst>
              </p:cNvPr>
              <p:cNvSpPr>
                <a:spLocks noGrp="1"/>
              </p:cNvSpPr>
              <p:nvPr>
                <p:ph idx="1"/>
              </p:nvPr>
            </p:nvSpPr>
            <p:spPr>
              <a:xfrm>
                <a:off x="838199" y="1825624"/>
                <a:ext cx="11132127" cy="5032375"/>
              </a:xfrm>
            </p:spPr>
            <p:txBody>
              <a:bodyPr/>
              <a:lstStyle/>
              <a:p>
                <a:r>
                  <a:rPr lang="pt-BR" dirty="0"/>
                  <a:t>Ele prediz </a:t>
                </a:r>
                <a:r>
                  <a:rPr lang="pt-BR" b="1" dirty="0"/>
                  <a:t>apenas </a:t>
                </a:r>
                <a:r>
                  <a:rPr lang="pt-BR" b="1" dirty="0">
                    <a:solidFill>
                      <a:srgbClr val="FF0000"/>
                    </a:solidFill>
                  </a:rPr>
                  <a:t>uma</a:t>
                </a:r>
                <a:r>
                  <a:rPr lang="pt-BR" b="1" dirty="0"/>
                  <a:t> classe por classificação</a:t>
                </a:r>
                <a:r>
                  <a:rPr lang="pt-BR" dirty="0"/>
                  <a:t>, portanto, ele deve ser usado apenas com </a:t>
                </a:r>
                <a:r>
                  <a:rPr lang="pt-BR" b="1" dirty="0"/>
                  <a:t>classes mutuamente exclusivas </a:t>
                </a:r>
                <a:r>
                  <a:rPr lang="pt-BR" dirty="0"/>
                  <a:t>como, por exemplo, diferentes tipos de plantas, dígitos, carros, etc.</a:t>
                </a:r>
              </a:p>
              <a:p>
                <a:pPr lvl="1">
                  <a:buFont typeface="Wingdings" panose="05000000000000000000" pitchFamily="2" charset="2"/>
                  <a:buChar char="§"/>
                </a:pPr>
                <a:r>
                  <a:rPr lang="pt-BR" b="1" dirty="0"/>
                  <a:t>Classes mutuamente exclusivas</a:t>
                </a:r>
                <a:r>
                  <a:rPr lang="pt-BR" dirty="0"/>
                  <a:t>: caso onde os exemplos pertencem a apenas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Já notícias, músicas e imagens, por exemplo, podem pertencer a várias ou conter várias classes ao mesmo tempo.</a:t>
                </a:r>
              </a:p>
              <a:p>
                <a:r>
                  <a:rPr lang="pt-BR" dirty="0"/>
                  <a:t>O </a:t>
                </a:r>
                <a:r>
                  <a:rPr lang="pt-BR" b="1" dirty="0"/>
                  <a:t>regressor </a:t>
                </a:r>
                <a:r>
                  <a:rPr lang="pt-BR" b="1" i="1" dirty="0"/>
                  <a:t>softmax</a:t>
                </a:r>
                <a:r>
                  <a:rPr lang="pt-BR" b="1" dirty="0"/>
                  <a:t> </a:t>
                </a:r>
                <a:r>
                  <a:rPr lang="pt-BR" b="1" dirty="0">
                    <a:solidFill>
                      <a:srgbClr val="00B050"/>
                    </a:solidFill>
                  </a:rPr>
                  <a:t>possui uma função hipótese de classificação</a:t>
                </a:r>
                <a:r>
                  <a:rPr lang="pt-BR"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oMath>
                </a14:m>
                <a:r>
                  <a:rPr lang="pt-BR" dirty="0"/>
                  <a:t>, e, consequentemente, </a:t>
                </a:r>
                <a:r>
                  <a:rPr lang="pt-BR" b="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a:p>
                <a:pPr lvl="1">
                  <a:buFont typeface="Wingdings" panose="05000000000000000000" pitchFamily="2" charset="2"/>
                  <a:buChar char="§"/>
                </a:pPr>
                <a:r>
                  <a:rPr lang="pt-BR" dirty="0"/>
                  <a:t>Se temos 3 classes, teremos 3 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a:t>
                </a:r>
              </a:p>
            </p:txBody>
          </p:sp>
        </mc:Choice>
        <mc:Fallback>
          <p:sp>
            <p:nvSpPr>
              <p:cNvPr id="3" name="Espaço Reservado para Conteúdo 2">
                <a:extLst>
                  <a:ext uri="{FF2B5EF4-FFF2-40B4-BE49-F238E27FC236}">
                    <a16:creationId xmlns:a16="http://schemas.microsoft.com/office/drawing/2014/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a:blip r:embed="rId3"/>
                <a:stretch>
                  <a:fillRect l="-930" t="-1937" r="-876"/>
                </a:stretch>
              </a:blipFill>
            </p:spPr>
            <p:txBody>
              <a:bodyPr/>
              <a:lstStyle/>
              <a:p>
                <a:r>
                  <a:rPr lang="en-US">
                    <a:noFill/>
                  </a:rPr>
                  <a:t> </a:t>
                </a:r>
              </a:p>
            </p:txBody>
          </p:sp>
        </mc:Fallback>
      </mc:AlternateContent>
    </p:spTree>
    <p:extLst>
      <p:ext uri="{BB962C8B-B14F-4D97-AF65-F5344CB8AC3E}">
        <p14:creationId xmlns:p14="http://schemas.microsoft.com/office/powerpoint/2010/main" val="36439784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CD47F25-5DD1-794E-8733-BFD771A2DE4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79BB7DC-99E7-8958-EC77-566B7E3C2BBB}"/>
                  </a:ext>
                </a:extLst>
              </p:cNvPr>
              <p:cNvSpPr>
                <a:spLocks noGrp="1"/>
              </p:cNvSpPr>
              <p:nvPr>
                <p:ph idx="1"/>
              </p:nvPr>
            </p:nvSpPr>
            <p:spPr>
              <a:xfrm>
                <a:off x="838200" y="1825624"/>
                <a:ext cx="11080174" cy="5032375"/>
              </a:xfrm>
            </p:spPr>
            <p:txBody>
              <a:bodyPr>
                <a:normAutofit/>
              </a:bodyPr>
              <a:lstStyle/>
              <a:p>
                <a:r>
                  <a:rPr lang="pt-BR" dirty="0"/>
                  <a:t>A </a:t>
                </a:r>
                <a:r>
                  <a:rPr lang="pt-BR" b="1" dirty="0"/>
                  <a:t>função hipótese de classificação</a:t>
                </a:r>
                <a:r>
                  <a:rPr lang="pt-BR" b="1" i="1" dirty="0"/>
                  <a:t>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oMath>
                </a14:m>
                <a:r>
                  <a:rPr lang="pt-BR" dirty="0"/>
                  <a:t> é obtida passando-se a </a:t>
                </a:r>
                <a:r>
                  <a:rPr lang="pt-BR" b="1" dirty="0"/>
                  <a:t>função discriminante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dirty="0">
                    <a:solidFill>
                      <a:srgbClr val="7030A0"/>
                    </a:solidFill>
                  </a:rPr>
                  <a:t>função (de ativação) </a:t>
                </a:r>
                <a:r>
                  <a:rPr lang="pt-BR" b="1" i="1" dirty="0">
                    <a:solidFill>
                      <a:srgbClr val="7030A0"/>
                    </a:solidFill>
                  </a:rPr>
                  <a:t>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sz="2400" i="1">
                          <a:latin typeface="Cambria Math" panose="02040503050406030204" pitchFamily="18" charset="0"/>
                        </a:rPr>
                        <m:t>𝑃</m:t>
                      </m:r>
                      <m:d>
                        <m:dPr>
                          <m:ctrlPr>
                            <a:rPr lang="pt-BR" sz="2400" i="1">
                              <a:latin typeface="Cambria Math" panose="02040503050406030204" pitchFamily="18" charset="0"/>
                            </a:rPr>
                          </m:ctrlPr>
                        </m:dPr>
                        <m:e>
                          <m:sSub>
                            <m:sSubPr>
                              <m:ctrlPr>
                                <a:rPr lang="pt-BR" sz="2400" i="1">
                                  <a:latin typeface="Cambria Math" panose="02040503050406030204" pitchFamily="18" charset="0"/>
                                </a:rPr>
                              </m:ctrlPr>
                            </m:sSubPr>
                            <m:e>
                              <m:r>
                                <a:rPr lang="pt-BR" sz="2400" i="1">
                                  <a:latin typeface="Cambria Math" panose="02040503050406030204" pitchFamily="18" charset="0"/>
                                </a:rPr>
                                <m:t>𝐶</m:t>
                              </m:r>
                            </m:e>
                            <m:sub>
                              <m:r>
                                <a:rPr lang="pt-BR" sz="2400" i="1">
                                  <a:latin typeface="Cambria Math" panose="02040503050406030204" pitchFamily="18" charset="0"/>
                                </a:rPr>
                                <m:t>𝑞</m:t>
                              </m:r>
                            </m:sub>
                          </m:sSub>
                          <m:r>
                            <a:rPr lang="pt-BR" sz="2400" b="0" i="1" smtClean="0">
                              <a:latin typeface="Cambria Math" panose="02040503050406030204" pitchFamily="18" charset="0"/>
                            </a:rPr>
                            <m:t> </m:t>
                          </m:r>
                          <m:r>
                            <a:rPr lang="pt-BR" sz="2400" i="1">
                              <a:latin typeface="Cambria Math" panose="02040503050406030204" pitchFamily="18" charset="0"/>
                            </a:rPr>
                            <m:t>|</m:t>
                          </m:r>
                          <m:r>
                            <a:rPr lang="pt-BR" sz="2400" b="0" i="1" smtClean="0">
                              <a:latin typeface="Cambria Math" panose="02040503050406030204" pitchFamily="18" charset="0"/>
                            </a:rPr>
                            <m:t> </m:t>
                          </m:r>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b="0" i="1" smtClean="0">
                                  <a:latin typeface="Cambria Math" panose="02040503050406030204" pitchFamily="18" charset="0"/>
                                </a:rPr>
                                <m:t>𝑞</m:t>
                              </m:r>
                            </m:sub>
                          </m:sSub>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r>
                        <a:rPr lang="pt-BR" sz="2400" b="1" i="1">
                          <a:latin typeface="Cambria Math" panose="02040503050406030204" pitchFamily="18" charset="0"/>
                        </a:rPr>
                        <m:t>=</m:t>
                      </m:r>
                      <m:f>
                        <m:fPr>
                          <m:ctrlPr>
                            <a:rPr lang="pt-BR" sz="2400" b="1" i="1">
                              <a:latin typeface="Cambria Math" panose="02040503050406030204" pitchFamily="18" charset="0"/>
                            </a:rPr>
                          </m:ctrlPr>
                        </m:fPr>
                        <m:num>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b>
                                <m:sSubPr>
                                  <m:ctrlPr>
                                    <a:rPr lang="pt-BR" sz="2400" i="1">
                                      <a:latin typeface="Cambria Math" panose="02040503050406030204" pitchFamily="18" charset="0"/>
                                    </a:rPr>
                                  </m:ctrlPr>
                                </m:sSubPr>
                                <m:e>
                                  <m:r>
                                    <a:rPr lang="pt-BR" sz="2400" i="1">
                                      <a:latin typeface="Cambria Math" panose="02040503050406030204" pitchFamily="18" charset="0"/>
                                    </a:rPr>
                                    <m:t>𝑔</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r>
                                <a:rPr lang="pt-BR" sz="2400" b="0" i="1" smtClean="0">
                                  <a:latin typeface="Cambria Math" panose="02040503050406030204" pitchFamily="18" charset="0"/>
                                </a:rPr>
                                <m:t>𝑛</m:t>
                              </m:r>
                              <m:r>
                                <a:rPr lang="pt-BR" sz="2400" i="1">
                                  <a:latin typeface="Cambria Math" panose="02040503050406030204" pitchFamily="18" charset="0"/>
                                </a:rPr>
                                <m:t>)</m:t>
                              </m:r>
                              <m:r>
                                <a:rPr lang="pt-BR" sz="2400" b="1" i="1">
                                  <a:latin typeface="Cambria Math" panose="02040503050406030204" pitchFamily="18" charset="0"/>
                                </a:rPr>
                                <m:t>)</m:t>
                              </m:r>
                            </m:sup>
                          </m:sSup>
                        </m:num>
                        <m:den>
                          <m:nary>
                            <m:naryPr>
                              <m:chr m:val="∑"/>
                              <m:ctrlPr>
                                <a:rPr lang="pt-BR" sz="2400" b="1" i="1">
                                  <a:latin typeface="Cambria Math" panose="02040503050406030204" pitchFamily="18" charset="0"/>
                                </a:rPr>
                              </m:ctrlPr>
                            </m:naryPr>
                            <m:sub>
                              <m:r>
                                <a:rPr lang="pt-BR" sz="2400" i="1">
                                  <a:latin typeface="Cambria Math" panose="02040503050406030204" pitchFamily="18" charset="0"/>
                                </a:rPr>
                                <m:t>𝑗</m:t>
                              </m:r>
                              <m:r>
                                <a:rPr lang="pt-BR" sz="2400" i="1">
                                  <a:latin typeface="Cambria Math" panose="02040503050406030204" pitchFamily="18" charset="0"/>
                                </a:rPr>
                                <m:t>=0</m:t>
                              </m:r>
                            </m:sub>
                            <m:sup>
                              <m:r>
                                <a:rPr lang="pt-BR" sz="2400" i="1">
                                  <a:latin typeface="Cambria Math" panose="02040503050406030204" pitchFamily="18" charset="0"/>
                                </a:rPr>
                                <m:t>𝑄</m:t>
                              </m:r>
                              <m:r>
                                <a:rPr lang="pt-BR" sz="2400" b="0" i="1" smtClean="0">
                                  <a:latin typeface="Cambria Math" panose="02040503050406030204" pitchFamily="18" charset="0"/>
                                </a:rPr>
                                <m:t>−1</m:t>
                              </m:r>
                            </m:sup>
                            <m:e>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b>
                                    <m:sSubPr>
                                      <m:ctrlPr>
                                        <a:rPr lang="pt-BR" sz="2400" i="1">
                                          <a:latin typeface="Cambria Math" panose="02040503050406030204" pitchFamily="18" charset="0"/>
                                        </a:rPr>
                                      </m:ctrlPr>
                                    </m:sSubPr>
                                    <m:e>
                                      <m:r>
                                        <a:rPr lang="pt-BR" sz="2400" i="1">
                                          <a:latin typeface="Cambria Math" panose="02040503050406030204" pitchFamily="18" charset="0"/>
                                        </a:rPr>
                                        <m:t>𝑔</m:t>
                                      </m:r>
                                    </m:e>
                                    <m:sub>
                                      <m:r>
                                        <a:rPr lang="pt-BR" sz="2400" i="1">
                                          <a:latin typeface="Cambria Math" panose="02040503050406030204" pitchFamily="18" charset="0"/>
                                        </a:rPr>
                                        <m:t>𝑗</m:t>
                                      </m:r>
                                    </m:sub>
                                  </m:sSub>
                                  <m:r>
                                    <a:rPr lang="pt-BR" sz="2400" b="1"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r>
                                    <a:rPr lang="pt-BR" sz="2400" b="0" i="1" smtClean="0">
                                      <a:latin typeface="Cambria Math" panose="02040503050406030204" pitchFamily="18" charset="0"/>
                                    </a:rPr>
                                    <m:t>𝑛</m:t>
                                  </m:r>
                                  <m:r>
                                    <a:rPr lang="pt-BR" sz="2400" i="1">
                                      <a:latin typeface="Cambria Math" panose="02040503050406030204" pitchFamily="18" charset="0"/>
                                    </a:rPr>
                                    <m:t>)</m:t>
                                  </m:r>
                                  <m:r>
                                    <a:rPr lang="pt-BR" sz="2400" b="1" i="1">
                                      <a:latin typeface="Cambria Math" panose="02040503050406030204" pitchFamily="18" charset="0"/>
                                    </a:rPr>
                                    <m:t>)</m:t>
                                  </m:r>
                                </m:sup>
                              </m:sSup>
                            </m:e>
                          </m:nary>
                        </m:den>
                      </m:f>
                      <m:r>
                        <a:rPr lang="pt-BR"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ℝ</m:t>
                      </m:r>
                      <m:r>
                        <a:rPr lang="pt-BR" sz="2400" b="1" i="1">
                          <a:latin typeface="Cambria Math" panose="02040503050406030204" pitchFamily="18" charset="0"/>
                          <a:ea typeface="Cambria Math" panose="02040503050406030204" pitchFamily="18" charset="0"/>
                        </a:rPr>
                        <m:t> </m:t>
                      </m:r>
                      <m:d>
                        <m:dPr>
                          <m:begChr m:val="["/>
                          <m:endChr m:val="]"/>
                          <m:ctrlPr>
                            <a:rPr lang="pt-BR" sz="2400" b="1" i="1">
                              <a:latin typeface="Cambria Math" panose="02040503050406030204" pitchFamily="18" charset="0"/>
                              <a:ea typeface="Cambria Math" panose="02040503050406030204" pitchFamily="18" charset="0"/>
                            </a:rPr>
                          </m:ctrlPr>
                        </m:dPr>
                        <m:e>
                          <m:r>
                            <a:rPr lang="pt-BR" sz="2400">
                              <a:latin typeface="Cambria Math" panose="02040503050406030204" pitchFamily="18" charset="0"/>
                            </a:rPr>
                            <m:t>0,</m:t>
                          </m:r>
                          <m:r>
                            <a:rPr lang="pt-BR" sz="2400" b="0" i="0" smtClean="0">
                              <a:latin typeface="Cambria Math" panose="02040503050406030204" pitchFamily="18" charset="0"/>
                            </a:rPr>
                            <m:t> </m:t>
                          </m:r>
                          <m:r>
                            <a:rPr lang="pt-BR" sz="2400">
                              <a:latin typeface="Cambria Math" panose="02040503050406030204" pitchFamily="18" charset="0"/>
                            </a:rPr>
                            <m:t>1</m:t>
                          </m:r>
                        </m:e>
                      </m:d>
                      <m:r>
                        <a:rPr lang="pt-BR" sz="2400" b="1" i="1" smtClean="0">
                          <a:latin typeface="Cambria Math" panose="02040503050406030204" pitchFamily="18" charset="0"/>
                        </a:rPr>
                        <m:t>,</m:t>
                      </m:r>
                    </m:oMath>
                  </m:oMathPara>
                </a14:m>
                <a:endParaRPr lang="pt-BR" sz="2400" i="1" dirty="0"/>
              </a:p>
              <a:p>
                <a:pPr marL="0" indent="0">
                  <a:buNone/>
                </a:pPr>
                <a:r>
                  <a:rPr lang="pt-BR" dirty="0"/>
                  <a:t>onde</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dirty="0"/>
                  <a:t>vetor de pesos</a:t>
                </a:r>
                <a:r>
                  <a:rPr lang="pt-BR" b="1" i="1" dirty="0"/>
                  <a:t>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b="0" i="1" smtClean="0">
                        <a:latin typeface="Cambria Math" panose="02040503050406030204" pitchFamily="18" charset="0"/>
                      </a:rPr>
                      <m:t>𝑛</m:t>
                    </m:r>
                  </m:oMath>
                </a14:m>
                <a:r>
                  <a:rPr lang="pt-BR" dirty="0"/>
                  <a:t> indica o número da amostra.</a:t>
                </a:r>
              </a:p>
              <a:p>
                <a:r>
                  <a:rPr lang="pt-BR" sz="2800" dirty="0"/>
                  <a:t>Cada função discriminante tem seu próprio vetor de pesos, </a:t>
                </a:r>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sz="2800" dirty="0"/>
                  <a:t>.</a:t>
                </a:r>
              </a:p>
              <a:p>
                <a:r>
                  <a:rPr lang="pt-BR" dirty="0"/>
                  <a:t>Além do regressor </a:t>
                </a:r>
                <a:r>
                  <a:rPr lang="pt-BR" i="1" dirty="0"/>
                  <a:t>softmax</a:t>
                </a:r>
                <a:r>
                  <a:rPr lang="pt-BR" dirty="0"/>
                  <a:t>, ela é usada na </a:t>
                </a:r>
                <a:r>
                  <a:rPr lang="pt-BR" b="1" dirty="0">
                    <a:solidFill>
                      <a:srgbClr val="00B050"/>
                    </a:solidFill>
                  </a:rPr>
                  <a:t>camada de saída</a:t>
                </a:r>
                <a:r>
                  <a:rPr lang="pt-BR" dirty="0">
                    <a:solidFill>
                      <a:srgbClr val="00B050"/>
                    </a:solidFill>
                  </a:rPr>
                  <a:t> </a:t>
                </a:r>
                <a:r>
                  <a:rPr lang="pt-BR" dirty="0"/>
                  <a:t>de </a:t>
                </a:r>
                <a:r>
                  <a:rPr lang="pt-BR" b="1" dirty="0">
                    <a:solidFill>
                      <a:srgbClr val="00B050"/>
                    </a:solidFill>
                  </a:rPr>
                  <a:t>redes neurais</a:t>
                </a:r>
                <a:r>
                  <a:rPr lang="pt-BR" dirty="0"/>
                  <a:t> empregadas em tarefas de </a:t>
                </a:r>
                <a:r>
                  <a:rPr lang="pt-BR" b="1" dirty="0">
                    <a:solidFill>
                      <a:srgbClr val="00B050"/>
                    </a:solidFill>
                  </a:rPr>
                  <a:t>classificação.</a:t>
                </a:r>
                <a:endParaRPr lang="pt-BR" sz="2800" dirty="0"/>
              </a:p>
              <a:p>
                <a:pPr marL="0" indent="0">
                  <a:buNone/>
                </a:pPr>
                <a:endParaRPr lang="pt-BR" dirty="0"/>
              </a:p>
            </p:txBody>
          </p:sp>
        </mc:Choice>
        <mc:Fallback>
          <p:sp>
            <p:nvSpPr>
              <p:cNvPr id="3" name="Espaço Reservado para Conteúdo 2">
                <a:extLst>
                  <a:ext uri="{FF2B5EF4-FFF2-40B4-BE49-F238E27FC236}">
                    <a16:creationId xmlns:a16="http://schemas.microsoft.com/office/drawing/2014/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080174" cy="5032375"/>
              </a:xfrm>
              <a:blipFill>
                <a:blip r:embed="rId3"/>
                <a:stretch>
                  <a:fillRect l="-1156" t="-1332"/>
                </a:stretch>
              </a:blipFill>
            </p:spPr>
            <p:txBody>
              <a:bodyPr/>
              <a:lstStyle/>
              <a:p>
                <a:r>
                  <a:rPr lang="en-US">
                    <a:noFill/>
                  </a:rPr>
                  <a:t> </a:t>
                </a:r>
              </a:p>
            </p:txBody>
          </p:sp>
        </mc:Fallback>
      </mc:AlternateContent>
    </p:spTree>
    <p:extLst>
      <p:ext uri="{BB962C8B-B14F-4D97-AF65-F5344CB8AC3E}">
        <p14:creationId xmlns:p14="http://schemas.microsoft.com/office/powerpoint/2010/main" val="8915452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838200" y="1825624"/>
                <a:ext cx="11232473" cy="5032375"/>
              </a:xfrm>
            </p:spPr>
            <p:txBody>
              <a:bodyPr>
                <a:normAutofit/>
              </a:bodyPr>
              <a:lstStyle/>
              <a:p>
                <a:r>
                  <a:rPr lang="pt-BR" b="0" dirty="0">
                    <a:effectLst/>
                  </a:rPr>
                  <a:t>Ela transforma um </a:t>
                </a:r>
                <a:r>
                  <a:rPr lang="pt-BR" b="1" dirty="0">
                    <a:solidFill>
                      <a:srgbClr val="00B050"/>
                    </a:solidFill>
                    <a:effectLst/>
                  </a:rPr>
                  <a:t>vetor </a:t>
                </a:r>
                <a:r>
                  <a:rPr lang="pt-BR" b="1" dirty="0">
                    <a:solidFill>
                      <a:srgbClr val="00B050"/>
                    </a:solidFill>
                  </a:rPr>
                  <a:t>com</a:t>
                </a:r>
                <a:r>
                  <a:rPr lang="pt-BR" b="1" dirty="0">
                    <a:solidFill>
                      <a:srgbClr val="00B050"/>
                    </a:solidFill>
                    <a:effectLst/>
                  </a:rPr>
                  <a:t> valores</a:t>
                </a:r>
                <a:r>
                  <a:rPr lang="pt-BR" b="1" dirty="0">
                    <a:solidFill>
                      <a:srgbClr val="00B050"/>
                    </a:solidFill>
                  </a:rPr>
                  <a:t> de </a:t>
                </a:r>
                <a:r>
                  <a:rPr lang="pt-BR" b="1" dirty="0">
                    <a:solidFill>
                      <a:srgbClr val="00B050"/>
                    </a:solidFill>
                    <a:effectLst/>
                  </a:rPr>
                  <a:t>funções discriminantes em uma distribuição de probabilidades</a:t>
                </a:r>
                <a:r>
                  <a:rPr lang="pt-BR" b="0" dirty="0">
                    <a:effectLst/>
                  </a:rPr>
                  <a:t>.</a:t>
                </a:r>
              </a:p>
              <a:p>
                <a:pPr lvl="1">
                  <a:buFont typeface="Wingdings" panose="05000000000000000000" pitchFamily="2" charset="2"/>
                  <a:buChar char="§"/>
                </a:pPr>
                <a:r>
                  <a:rPr lang="pt-BR" dirty="0"/>
                  <a:t>O 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14:m>
                  <m:oMath xmlns:m="http://schemas.openxmlformats.org/officeDocument/2006/math">
                    <m:r>
                      <a:rPr lang="pt-BR" i="1">
                        <a:latin typeface="Cambria Math" panose="02040503050406030204" pitchFamily="18" charset="0"/>
                      </a:rPr>
                      <m:t>𝑄</m:t>
                    </m:r>
                  </m:oMath>
                </a14:m>
                <a:r>
                  <a:rPr lang="pt-BR" dirty="0"/>
                  <a:t> saídas seja igual a 1</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r>
                        <a:rPr lang="pt-BR" b="1" i="1">
                          <a:latin typeface="Cambria Math" panose="02040503050406030204" pitchFamily="18" charset="0"/>
                          <a:ea typeface="Cambria Math" panose="02040503050406030204" pitchFamily="18" charset="0"/>
                        </a:rPr>
                        <m:t> </m:t>
                      </m:r>
                      <m:d>
                        <m:dPr>
                          <m:begChr m:val="["/>
                          <m:endChr m:val="]"/>
                          <m:ctrlPr>
                            <a:rPr lang="pt-BR" b="1" i="1">
                              <a:latin typeface="Cambria Math" panose="02040503050406030204" pitchFamily="18" charset="0"/>
                              <a:ea typeface="Cambria Math" panose="02040503050406030204" pitchFamily="18" charset="0"/>
                            </a:rPr>
                          </m:ctrlPr>
                        </m:dPr>
                        <m:e>
                          <m:r>
                            <a:rPr lang="pt-BR">
                              <a:latin typeface="Cambria Math" panose="02040503050406030204" pitchFamily="18" charset="0"/>
                            </a:rPr>
                            <m:t>0, 1</m:t>
                          </m:r>
                        </m:e>
                      </m:d>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ea typeface="Cambria Math" panose="02040503050406030204" pitchFamily="18" charset="0"/>
                        </a:rPr>
                        <m:t>.</m:t>
                      </m:r>
                    </m:oMath>
                  </m:oMathPara>
                </a14:m>
                <a:endParaRPr lang="pt-BR" b="0" dirty="0">
                  <a:effectLst/>
                </a:endParaRPr>
              </a:p>
              <a:p>
                <a:r>
                  <a:rPr lang="pt-BR" dirty="0"/>
                  <a:t>Dado um exemplo de entrada, ela </a:t>
                </a:r>
                <a:r>
                  <a:rPr lang="pt-BR" b="1" dirty="0">
                    <a:solidFill>
                      <a:srgbClr val="00B050"/>
                    </a:solidFill>
                  </a:rPr>
                  <a:t>atribui</a:t>
                </a:r>
                <a:r>
                  <a:rPr lang="pt-BR" dirty="0"/>
                  <a:t> uma </a:t>
                </a:r>
                <a:r>
                  <a:rPr lang="pt-BR" b="1" dirty="0">
                    <a:solidFill>
                      <a:srgbClr val="00B050"/>
                    </a:solidFill>
                  </a:rPr>
                  <a:t>probabilidade</a:t>
                </a:r>
                <a:r>
                  <a:rPr lang="pt-BR" dirty="0">
                    <a:solidFill>
                      <a:srgbClr val="00B050"/>
                    </a:solidFill>
                  </a:rPr>
                  <a:t> </a:t>
                </a:r>
                <a:r>
                  <a:rPr lang="pt-BR" b="1" dirty="0">
                    <a:solidFill>
                      <a:srgbClr val="00B050"/>
                    </a:solidFill>
                  </a:rPr>
                  <a:t>para cada classe </a:t>
                </a:r>
                <a:r>
                  <a:rPr lang="pt-BR" dirty="0"/>
                  <a:t>possível.</a:t>
                </a:r>
              </a:p>
              <a:p>
                <a:r>
                  <a:rPr lang="pt-BR" dirty="0"/>
                  <a:t>É uma generalização da função sigmoide.</a:t>
                </a:r>
              </a:p>
            </p:txBody>
          </p:sp>
        </mc:Choice>
        <mc:Fallback>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838200" y="1825624"/>
                <a:ext cx="11232473" cy="5032375"/>
              </a:xfrm>
              <a:blipFill>
                <a:blip r:embed="rId3"/>
                <a:stretch>
                  <a:fillRect l="-977" t="-1937" r="-1140"/>
                </a:stretch>
              </a:blipFill>
            </p:spPr>
            <p:txBody>
              <a:bodyPr/>
              <a:lstStyle/>
              <a:p>
                <a:r>
                  <a:rPr lang="en-US">
                    <a:noFill/>
                  </a:rPr>
                  <a:t> </a:t>
                </a:r>
              </a:p>
            </p:txBody>
          </p:sp>
        </mc:Fallback>
      </mc:AlternateContent>
      <p:sp>
        <p:nvSpPr>
          <p:cNvPr id="5" name="Rectangle 11">
            <a:extLst>
              <a:ext uri="{FF2B5EF4-FFF2-40B4-BE49-F238E27FC236}">
                <a16:creationId xmlns:a16="http://schemas.microsoft.com/office/drawing/2014/main" id="{D1D7E603-A964-1188-9D09-B0C1E18592FA}"/>
              </a:ext>
            </a:extLst>
          </p:cNvPr>
          <p:cNvSpPr/>
          <p:nvPr/>
        </p:nvSpPr>
        <p:spPr>
          <a:xfrm>
            <a:off x="6677025" y="3843791"/>
            <a:ext cx="2143124" cy="57580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1572083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2DF54A1-52F5-C48C-7CD4-D6E451DF19D8}"/>
                  </a:ext>
                </a:extLst>
              </p:cNvPr>
              <p:cNvSpPr>
                <a:spLocks noGrp="1"/>
              </p:cNvSpPr>
              <p:nvPr>
                <p:ph idx="1"/>
              </p:nvPr>
            </p:nvSpPr>
            <p:spPr>
              <a:xfrm>
                <a:off x="6646606" y="1825624"/>
                <a:ext cx="5417575" cy="5032375"/>
              </a:xfrm>
            </p:spPr>
            <p:txBody>
              <a:bodyPr>
                <a:normAutofit/>
              </a:bodyPr>
              <a:lstStyle/>
              <a:p>
                <a:r>
                  <a:rPr lang="pt-BR" dirty="0"/>
                  <a:t>A função </a:t>
                </a:r>
                <a:r>
                  <a:rPr lang="pt-BR" i="1" dirty="0"/>
                  <a:t>softmax</a:t>
                </a:r>
                <a:r>
                  <a:rPr lang="pt-BR" dirty="0"/>
                  <a:t> </a:t>
                </a:r>
                <a:r>
                  <a:rPr lang="pt-BR" dirty="0">
                    <a:solidFill>
                      <a:schemeClr val="tx1"/>
                    </a:solidFill>
                  </a:rPr>
                  <a:t>o</a:t>
                </a:r>
                <a:r>
                  <a:rPr lang="pt-BR" b="0" i="0" dirty="0">
                    <a:solidFill>
                      <a:schemeClr val="tx1"/>
                    </a:solidFill>
                    <a:effectLst/>
                  </a:rPr>
                  <a:t>pera da seguinte maneira.</a:t>
                </a:r>
              </a:p>
              <a:p>
                <a:r>
                  <a:rPr lang="pt-BR" b="0" i="0" dirty="0">
                    <a:solidFill>
                      <a:schemeClr val="tx1"/>
                    </a:solidFill>
                    <a:effectLst/>
                  </a:rPr>
                  <a:t>Dado um </a:t>
                </a:r>
                <a:r>
                  <a:rPr lang="pt-BR" b="1" dirty="0">
                    <a:solidFill>
                      <a:srgbClr val="00B050"/>
                    </a:solidFill>
                    <a:effectLst/>
                  </a:rPr>
                  <a:t>vetor </a:t>
                </a:r>
                <a:r>
                  <a:rPr lang="pt-BR" b="1" dirty="0">
                    <a:solidFill>
                      <a:srgbClr val="00B050"/>
                    </a:solidFill>
                  </a:rPr>
                  <a:t>com</a:t>
                </a:r>
                <a:r>
                  <a:rPr lang="pt-BR" b="1" dirty="0">
                    <a:solidFill>
                      <a:srgbClr val="00B050"/>
                    </a:solidFill>
                    <a:effectLst/>
                  </a:rPr>
                  <a:t> valores de funções discriminantes</a:t>
                </a:r>
                <a:r>
                  <a:rPr lang="pt-BR" b="0" i="0" dirty="0">
                    <a:solidFill>
                      <a:schemeClr val="tx1"/>
                    </a:solidFill>
                    <a:effectLst/>
                  </a:rPr>
                  <a:t>, </a:t>
                </a:r>
                <a14:m>
                  <m:oMath xmlns:m="http://schemas.openxmlformats.org/officeDocument/2006/math">
                    <m:sSub>
                      <m:sSubPr>
                        <m:ctrlPr>
                          <a:rPr lang="pt-BR" sz="2800" i="1" smtClean="0">
                            <a:solidFill>
                              <a:schemeClr val="tx1"/>
                            </a:solidFill>
                            <a:latin typeface="Cambria Math" panose="02040503050406030204" pitchFamily="18" charset="0"/>
                          </a:rPr>
                        </m:ctrlPr>
                      </m:sSubPr>
                      <m:e>
                        <m:r>
                          <a:rPr lang="pt-BR" sz="2800" i="1">
                            <a:solidFill>
                              <a:schemeClr val="tx1"/>
                            </a:solidFill>
                            <a:latin typeface="Cambria Math" panose="02040503050406030204" pitchFamily="18" charset="0"/>
                          </a:rPr>
                          <m:t>𝑔</m:t>
                        </m:r>
                      </m:e>
                      <m:sub>
                        <m:r>
                          <a:rPr lang="pt-BR" sz="2800" b="0" i="1" smtClean="0">
                            <a:solidFill>
                              <a:schemeClr val="tx1"/>
                            </a:solidFill>
                            <a:latin typeface="Cambria Math" panose="02040503050406030204" pitchFamily="18" charset="0"/>
                          </a:rPr>
                          <m:t>𝑞</m:t>
                        </m:r>
                      </m:sub>
                    </m:sSub>
                    <m:d>
                      <m:dPr>
                        <m:ctrlPr>
                          <a:rPr lang="pt-BR" sz="2800" i="1">
                            <a:solidFill>
                              <a:schemeClr val="tx1"/>
                            </a:solidFill>
                            <a:latin typeface="Cambria Math" panose="02040503050406030204" pitchFamily="18" charset="0"/>
                          </a:rPr>
                        </m:ctrlPr>
                      </m:dPr>
                      <m:e>
                        <m:r>
                          <a:rPr lang="pt-BR" sz="2800" b="1" i="1">
                            <a:solidFill>
                              <a:schemeClr val="tx1"/>
                            </a:solidFill>
                            <a:latin typeface="Cambria Math" panose="02040503050406030204" pitchFamily="18" charset="0"/>
                          </a:rPr>
                          <m:t>𝒙</m:t>
                        </m:r>
                        <m:r>
                          <a:rPr lang="pt-BR" sz="2800" b="0" i="1" smtClean="0">
                            <a:solidFill>
                              <a:schemeClr val="tx1"/>
                            </a:solidFill>
                            <a:latin typeface="Cambria Math" panose="02040503050406030204" pitchFamily="18" charset="0"/>
                          </a:rPr>
                          <m:t>(</m:t>
                        </m:r>
                        <m:r>
                          <a:rPr lang="pt-BR" sz="2800" b="0" i="1" smtClean="0">
                            <a:solidFill>
                              <a:schemeClr val="tx1"/>
                            </a:solidFill>
                            <a:latin typeface="Cambria Math" panose="02040503050406030204" pitchFamily="18" charset="0"/>
                          </a:rPr>
                          <m:t>𝑛</m:t>
                        </m:r>
                        <m:r>
                          <a:rPr lang="pt-BR" sz="2800" b="0" i="1" smtClean="0">
                            <a:solidFill>
                              <a:schemeClr val="tx1"/>
                            </a:solidFill>
                            <a:latin typeface="Cambria Math" panose="02040503050406030204" pitchFamily="18" charset="0"/>
                          </a:rPr>
                          <m:t>)</m:t>
                        </m:r>
                      </m:e>
                    </m:d>
                    <m:r>
                      <a:rPr lang="pt-BR" sz="2800" b="0" i="1" smtClean="0">
                        <a:solidFill>
                          <a:schemeClr val="tx1"/>
                        </a:solidFill>
                        <a:latin typeface="Cambria Math" panose="02040503050406030204" pitchFamily="18" charset="0"/>
                      </a:rPr>
                      <m:t>,</m:t>
                    </m:r>
                    <m:r>
                      <a:rPr lang="pt-BR" sz="2800" i="1" smtClean="0">
                        <a:solidFill>
                          <a:schemeClr val="tx1"/>
                        </a:solidFill>
                        <a:latin typeface="Cambria Math" panose="02040503050406030204" pitchFamily="18" charset="0"/>
                        <a:ea typeface="Cambria Math" panose="02040503050406030204" pitchFamily="18" charset="0"/>
                      </a:rPr>
                      <m:t>∀</m:t>
                    </m:r>
                    <m:r>
                      <a:rPr lang="pt-BR" sz="2800" b="0" i="1" smtClean="0">
                        <a:solidFill>
                          <a:schemeClr val="tx1"/>
                        </a:solidFill>
                        <a:latin typeface="Cambria Math" panose="02040503050406030204" pitchFamily="18" charset="0"/>
                        <a:ea typeface="Cambria Math" panose="02040503050406030204" pitchFamily="18" charset="0"/>
                      </a:rPr>
                      <m:t>𝑞</m:t>
                    </m:r>
                  </m:oMath>
                </a14:m>
                <a:r>
                  <a:rPr lang="pt-BR" b="0" i="0" dirty="0">
                    <a:solidFill>
                      <a:schemeClr val="tx1"/>
                    </a:solidFill>
                    <a:effectLst/>
                  </a:rPr>
                  <a:t>, ela</a:t>
                </a:r>
                <a:endParaRPr lang="pt-BR" dirty="0"/>
              </a:p>
              <a:p>
                <a:pPr lvl="1">
                  <a:buFont typeface="Wingdings" panose="05000000000000000000" pitchFamily="2" charset="2"/>
                  <a:buChar char="§"/>
                </a:pPr>
                <a:r>
                  <a:rPr lang="pt-BR" b="0" i="0" dirty="0">
                    <a:solidFill>
                      <a:schemeClr val="tx1"/>
                    </a:solidFill>
                    <a:effectLst/>
                  </a:rPr>
                  <a:t>calcula a exponencial de cada função discriminante, </a:t>
                </a:r>
              </a:p>
              <a:p>
                <a:pPr lvl="1">
                  <a:buFont typeface="Wingdings" panose="05000000000000000000" pitchFamily="2" charset="2"/>
                  <a:buChar char="§"/>
                </a:pPr>
                <a:r>
                  <a:rPr lang="pt-BR" b="0" i="0" dirty="0">
                    <a:solidFill>
                      <a:schemeClr val="tx1"/>
                    </a:solidFill>
                    <a:effectLst/>
                  </a:rPr>
                  <a:t>normaliza essas exponenciais dividindo-as pela soma de todas as exponenciais, gerando uma distribuição de probabilidades das classes.</a:t>
                </a:r>
              </a:p>
            </p:txBody>
          </p:sp>
        </mc:Choice>
        <mc:Fallback>
          <p:sp>
            <p:nvSpPr>
              <p:cNvPr id="3" name="Espaço Reservado para Conteúdo 2">
                <a:extLst>
                  <a:ext uri="{FF2B5EF4-FFF2-40B4-BE49-F238E27FC236}">
                    <a16:creationId xmlns:a16="http://schemas.microsoft.com/office/drawing/2014/main" id="{32DF54A1-52F5-C48C-7CD4-D6E451DF19D8}"/>
                  </a:ext>
                </a:extLst>
              </p:cNvPr>
              <p:cNvSpPr>
                <a:spLocks noGrp="1" noRot="1" noChangeAspect="1" noMove="1" noResize="1" noEditPoints="1" noAdjustHandles="1" noChangeArrowheads="1" noChangeShapeType="1" noTextEdit="1"/>
              </p:cNvSpPr>
              <p:nvPr>
                <p:ph idx="1"/>
              </p:nvPr>
            </p:nvSpPr>
            <p:spPr>
              <a:xfrm>
                <a:off x="6646606" y="1825624"/>
                <a:ext cx="5417575" cy="5032375"/>
              </a:xfrm>
              <a:blipFill>
                <a:blip r:embed="rId2"/>
                <a:stretch>
                  <a:fillRect l="-2025"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ED5D1F5D-F195-0452-50D4-07E9F2B1C49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559" y="2536723"/>
            <a:ext cx="6066351" cy="2487561"/>
          </a:xfrm>
          <a:prstGeom prst="rect">
            <a:avLst/>
          </a:prstGeom>
        </p:spPr>
      </p:pic>
      <p:sp>
        <p:nvSpPr>
          <p:cNvPr id="8" name="CaixaDeTexto 7">
            <a:extLst>
              <a:ext uri="{FF2B5EF4-FFF2-40B4-BE49-F238E27FC236}">
                <a16:creationId xmlns:a16="http://schemas.microsoft.com/office/drawing/2014/main"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spTree>
    <p:extLst>
      <p:ext uri="{BB962C8B-B14F-4D97-AF65-F5344CB8AC3E}">
        <p14:creationId xmlns:p14="http://schemas.microsoft.com/office/powerpoint/2010/main" val="32419477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2DF54A1-52F5-C48C-7CD4-D6E451DF19D8}"/>
                  </a:ext>
                </a:extLst>
              </p:cNvPr>
              <p:cNvSpPr>
                <a:spLocks noGrp="1"/>
              </p:cNvSpPr>
              <p:nvPr>
                <p:ph idx="1"/>
              </p:nvPr>
            </p:nvSpPr>
            <p:spPr>
              <a:xfrm>
                <a:off x="838200" y="1825624"/>
                <a:ext cx="11225981" cy="5032375"/>
              </a:xfrm>
            </p:spPr>
            <p:txBody>
              <a:bodyPr>
                <a:normAutofit/>
              </a:bodyPr>
              <a:lstStyle/>
              <a:p>
                <a:r>
                  <a:rPr lang="pt-BR" b="0" dirty="0">
                    <a:effectLst/>
                  </a:rPr>
                  <a:t>Ela </a:t>
                </a:r>
                <a:r>
                  <a:rPr lang="pt-BR" b="1" dirty="0">
                    <a:solidFill>
                      <a:srgbClr val="00B050"/>
                    </a:solidFill>
                    <a:effectLst/>
                  </a:rPr>
                  <a:t>garante que as saídas estejam no intervalo entre 0 e 1, e a soma de todas as saídas seja igual a 1</a:t>
                </a:r>
                <a:r>
                  <a:rPr lang="pt-BR" b="0" dirty="0">
                    <a:effectLst/>
                  </a:rPr>
                  <a:t>, tornando-as interpretáveis como uma </a:t>
                </a:r>
                <a:r>
                  <a:rPr lang="pt-BR" b="1" dirty="0">
                    <a:solidFill>
                      <a:srgbClr val="00B050"/>
                    </a:solidFill>
                    <a:effectLst/>
                  </a:rPr>
                  <a:t>função massa de probabilidade </a:t>
                </a:r>
                <a:r>
                  <a:rPr lang="pt-BR" b="1" dirty="0" err="1">
                    <a:solidFill>
                      <a:srgbClr val="00B050"/>
                    </a:solidFill>
                    <a:effectLst/>
                  </a:rPr>
                  <a:t>multinomial</a:t>
                </a:r>
                <a:r>
                  <a:rPr lang="pt-BR" b="0" dirty="0">
                    <a:effectLst/>
                  </a:rPr>
                  <a:t>.</a:t>
                </a:r>
              </a:p>
              <a:p>
                <a:r>
                  <a:rPr lang="pt-BR" dirty="0"/>
                  <a:t>Ela</a:t>
                </a:r>
                <a:r>
                  <a:rPr lang="pt-BR" b="1" i="1" dirty="0"/>
                  <a:t> </a:t>
                </a:r>
                <a:r>
                  <a:rPr lang="pt-BR" dirty="0"/>
                  <a:t>atribui uma </a:t>
                </a:r>
                <a:r>
                  <a:rPr lang="pt-BR" b="1" dirty="0"/>
                  <a:t>probabilidade condicional</a:t>
                </a:r>
                <a:r>
                  <a:rPr lang="pt-BR" dirty="0"/>
                  <a:t>,</a:t>
                </a:r>
                <a:r>
                  <a:rPr lang="pt-BR" b="1" i="1" dirty="0"/>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smtClean="0">
                        <a:latin typeface="Cambria Math" panose="02040503050406030204" pitchFamily="18" charset="0"/>
                        <a:ea typeface="Cambria Math" panose="02040503050406030204" pitchFamily="18" charset="0"/>
                      </a:rPr>
                      <m:t>∈</m:t>
                    </m:r>
                    <m:d>
                      <m:dPr>
                        <m:begChr m:val="["/>
                        <m:endChr m:val="]"/>
                        <m:ctrlPr>
                          <a:rPr lang="pt-BR"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0, 1</m:t>
                        </m:r>
                      </m:e>
                    </m:d>
                  </m:oMath>
                </a14:m>
                <a:r>
                  <a:rPr lang="pt-BR" dirty="0"/>
                  <a:t>, a cada classe, </a:t>
                </a:r>
                <a14:m>
                  <m:oMath xmlns:m="http://schemas.openxmlformats.org/officeDocument/2006/math">
                    <m:r>
                      <a:rPr lang="pt-BR" i="1">
                        <a:latin typeface="Cambria Math" panose="02040503050406030204" pitchFamily="18" charset="0"/>
                      </a:rPr>
                      <m:t>𝑞</m:t>
                    </m:r>
                  </m:oMath>
                </a14:m>
                <a:r>
                  <a:rPr lang="pt-BR" dirty="0"/>
                  <a:t>, onde </a:t>
                </a:r>
                <a:r>
                  <a:rPr lang="pt-BR" b="1" dirty="0">
                    <a:solidFill>
                      <a:srgbClr val="00B050"/>
                    </a:solidFill>
                  </a:rPr>
                  <a:t>a soma das </a:t>
                </a:r>
                <a14:m>
                  <m:oMath xmlns:m="http://schemas.openxmlformats.org/officeDocument/2006/math">
                    <m:r>
                      <a:rPr lang="pt-BR" b="1" i="0">
                        <a:solidFill>
                          <a:srgbClr val="00B050"/>
                        </a:solidFill>
                        <a:latin typeface="Cambria Math" panose="02040503050406030204" pitchFamily="18" charset="0"/>
                      </a:rPr>
                      <m:t>𝐐</m:t>
                    </m:r>
                  </m:oMath>
                </a14:m>
                <a:r>
                  <a:rPr lang="pt-BR" b="1" dirty="0">
                    <a:solidFill>
                      <a:srgbClr val="00B050"/>
                    </a:solidFill>
                  </a:rPr>
                  <a:t> probabilidades deve ser igual a 1</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0</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0</m:t>
                            </m:r>
                          </m:sub>
                        </m:sSub>
                      </m:e>
                    </m:d>
                    <m:r>
                      <a:rPr lang="pt-BR" i="1">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m:t>
                            </m:r>
                            <m:r>
                              <a:rPr lang="pt-BR" b="1" i="1">
                                <a:latin typeface="Cambria Math" panose="02040503050406030204" pitchFamily="18" charset="0"/>
                              </a:rPr>
                              <m:t>𝒂</m:t>
                            </m:r>
                          </m:e>
                          <m:sub>
                            <m:r>
                              <a:rPr lang="pt-BR" i="1">
                                <a:latin typeface="Cambria Math" panose="02040503050406030204" pitchFamily="18" charset="0"/>
                              </a:rPr>
                              <m:t>1</m:t>
                            </m:r>
                          </m:sub>
                        </m:sSub>
                      </m:e>
                    </m:d>
                    <m:r>
                      <a:rPr lang="pt-BR">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i="1">
                                <a:latin typeface="Cambria Math" panose="02040503050406030204" pitchFamily="18" charset="0"/>
                              </a:rPr>
                              <m:t>−1</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𝑄</m:t>
                            </m:r>
                            <m:r>
                              <a:rPr lang="pt-BR" i="1">
                                <a:latin typeface="Cambria Math" panose="02040503050406030204" pitchFamily="18" charset="0"/>
                              </a:rPr>
                              <m:t>−1</m:t>
                            </m:r>
                          </m:sub>
                        </m:sSub>
                      </m:e>
                    </m:d>
                    <m:r>
                      <a:rPr lang="pt-BR" i="1">
                        <a:latin typeface="Cambria Math" panose="02040503050406030204" pitchFamily="18" charset="0"/>
                      </a:rPr>
                      <m:t>=1</m:t>
                    </m:r>
                  </m:oMath>
                </a14:m>
                <a:r>
                  <a:rPr lang="pt-BR" dirty="0"/>
                  <a:t>.</a:t>
                </a:r>
              </a:p>
            </p:txBody>
          </p:sp>
        </mc:Choice>
        <mc:Fallback>
          <p:sp>
            <p:nvSpPr>
              <p:cNvPr id="3" name="Espaço Reservado para Conteúdo 2">
                <a:extLst>
                  <a:ext uri="{FF2B5EF4-FFF2-40B4-BE49-F238E27FC236}">
                    <a16:creationId xmlns:a16="http://schemas.microsoft.com/office/drawing/2014/main" id="{32DF54A1-52F5-C48C-7CD4-D6E451DF19D8}"/>
                  </a:ext>
                </a:extLst>
              </p:cNvPr>
              <p:cNvSpPr>
                <a:spLocks noGrp="1" noRot="1" noChangeAspect="1" noMove="1" noResize="1" noEditPoints="1" noAdjustHandles="1" noChangeArrowheads="1" noChangeShapeType="1" noTextEdit="1"/>
              </p:cNvSpPr>
              <p:nvPr>
                <p:ph idx="1"/>
              </p:nvPr>
            </p:nvSpPr>
            <p:spPr>
              <a:xfrm>
                <a:off x="838200" y="1825624"/>
                <a:ext cx="11225981" cy="5032375"/>
              </a:xfrm>
              <a:blipFill>
                <a:blip r:embed="rId3"/>
                <a:stretch>
                  <a:fillRect l="-978"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ED5D1F5D-F195-0452-50D4-07E9F2B1C49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590832" y="4709525"/>
            <a:ext cx="5010336" cy="2054533"/>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B7728A0-505D-9DAE-23EC-8172E2EEEFA9}"/>
                  </a:ext>
                </a:extLst>
              </p:cNvPr>
              <p:cNvSpPr txBox="1"/>
              <p:nvPr/>
            </p:nvSpPr>
            <p:spPr>
              <a:xfrm>
                <a:off x="8601168" y="6488667"/>
                <a:ext cx="2701189"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=5</m:t>
                    </m:r>
                  </m:oMath>
                </a14:m>
                <a:r>
                  <a:rPr lang="pt-BR" dirty="0"/>
                  <a:t> (número de classes)</a:t>
                </a:r>
              </a:p>
            </p:txBody>
          </p:sp>
        </mc:Choice>
        <mc:Fallback xmlns="">
          <p:sp>
            <p:nvSpPr>
              <p:cNvPr id="4" name="CaixaDeTexto 3">
                <a:extLst>
                  <a:ext uri="{FF2B5EF4-FFF2-40B4-BE49-F238E27FC236}">
                    <a16:creationId xmlns:a16="http://schemas.microsoft.com/office/drawing/2014/main" id="{2B7728A0-505D-9DAE-23EC-8172E2EEEFA9}"/>
                  </a:ext>
                </a:extLst>
              </p:cNvPr>
              <p:cNvSpPr txBox="1">
                <a:spLocks noRot="1" noChangeAspect="1" noMove="1" noResize="1" noEditPoints="1" noAdjustHandles="1" noChangeArrowheads="1" noChangeShapeType="1" noTextEdit="1"/>
              </p:cNvSpPr>
              <p:nvPr/>
            </p:nvSpPr>
            <p:spPr>
              <a:xfrm>
                <a:off x="8601168" y="6488667"/>
                <a:ext cx="2701189" cy="369332"/>
              </a:xfrm>
              <a:prstGeom prst="rect">
                <a:avLst/>
              </a:prstGeom>
              <a:blipFill>
                <a:blip r:embed="rId5"/>
                <a:stretch>
                  <a:fillRect l="-451" t="-8197" r="-1354" b="-24590"/>
                </a:stretch>
              </a:blipFill>
            </p:spPr>
            <p:txBody>
              <a:bodyPr/>
              <a:lstStyle/>
              <a:p>
                <a:r>
                  <a:rPr lang="en-US">
                    <a:noFill/>
                  </a:rPr>
                  <a:t> </a:t>
                </a:r>
              </a:p>
            </p:txBody>
          </p:sp>
        </mc:Fallback>
      </mc:AlternateContent>
    </p:spTree>
    <p:extLst>
      <p:ext uri="{BB962C8B-B14F-4D97-AF65-F5344CB8AC3E}">
        <p14:creationId xmlns:p14="http://schemas.microsoft.com/office/powerpoint/2010/main" val="37101915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8A152F-93D8-11FA-9B7A-B62AE5BB6486}"/>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3535727-BB24-BB15-5C03-3DA9A3F9A09A}"/>
                  </a:ext>
                </a:extLst>
              </p:cNvPr>
              <p:cNvSpPr>
                <a:spLocks noGrp="1"/>
              </p:cNvSpPr>
              <p:nvPr>
                <p:ph idx="1"/>
              </p:nvPr>
            </p:nvSpPr>
            <p:spPr>
              <a:xfrm>
                <a:off x="6096001" y="1825624"/>
                <a:ext cx="5998028" cy="5032375"/>
              </a:xfrm>
            </p:spPr>
            <p:txBody>
              <a:bodyPr>
                <a:normAutofit/>
              </a:bodyPr>
              <a:lstStyle/>
              <a:p>
                <a:r>
                  <a:rPr lang="pt-BR" dirty="0"/>
                  <a:t>Assim como com o regressor logístico, podemos usar </a:t>
                </a:r>
                <a:r>
                  <a:rPr lang="pt-BR" b="1" dirty="0"/>
                  <a:t>hiperplanos</a:t>
                </a:r>
                <a:r>
                  <a:rPr lang="pt-BR" dirty="0"/>
                  <a:t> ou </a:t>
                </a:r>
                <a:r>
                  <a:rPr lang="pt-BR" b="1" dirty="0"/>
                  <a:t>polinômios</a:t>
                </a:r>
                <a:r>
                  <a:rPr lang="pt-BR" dirty="0"/>
                  <a:t> como </a:t>
                </a:r>
                <a:r>
                  <a:rPr lang="pt-BR" b="1" dirty="0"/>
                  <a:t>funções discriminantes</a:t>
                </a:r>
                <a:r>
                  <a:rPr lang="pt-BR" dirty="0"/>
                  <a:t>.</a:t>
                </a:r>
              </a:p>
              <a:p>
                <a:r>
                  <a:rPr lang="pt-BR" dirty="0"/>
                  <a:t>Nosso objetivo é encontrar um </a:t>
                </a:r>
                <a:r>
                  <a:rPr lang="pt-BR" b="1" dirty="0"/>
                  <a:t>modelo</a:t>
                </a:r>
                <a:r>
                  <a:rPr lang="pt-BR" dirty="0"/>
                  <a:t> (i.e., </a:t>
                </a:r>
                <a:r>
                  <a:rPr lang="pt-BR" b="1" dirty="0"/>
                  <a:t>equação</a:t>
                </a:r>
                <a:r>
                  <a:rPr lang="pt-BR" dirty="0"/>
                  <a:t> e os respectivos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hipótese) que </a:t>
                </a:r>
                <a:r>
                  <a:rPr lang="pt-BR" b="1" dirty="0">
                    <a:solidFill>
                      <a:srgbClr val="00B050"/>
                    </a:solidFill>
                  </a:rPr>
                  <a:t>atribua uma alta probabilidade para a classe alvo </a:t>
                </a:r>
                <a:r>
                  <a:rPr lang="pt-BR" dirty="0"/>
                  <a:t>e, consequentemente, </a:t>
                </a:r>
                <a:r>
                  <a:rPr lang="pt-BR" b="1" dirty="0">
                    <a:solidFill>
                      <a:srgbClr val="00B050"/>
                    </a:solidFill>
                  </a:rPr>
                  <a:t>uma baixa probabilidade para as demais classes</a:t>
                </a:r>
                <a:r>
                  <a:rPr lang="pt-BR" dirty="0"/>
                  <a:t>.</a:t>
                </a:r>
              </a:p>
              <a:p>
                <a:pPr marL="0" indent="0" algn="ctr">
                  <a:buNone/>
                </a:pPr>
                <a:endParaRPr lang="pt-BR" dirty="0"/>
              </a:p>
            </p:txBody>
          </p:sp>
        </mc:Choice>
        <mc:Fallback xmlns="">
          <p:sp>
            <p:nvSpPr>
              <p:cNvPr id="3" name="Espaço Reservado para Conteúdo 2">
                <a:extLst>
                  <a:ext uri="{FF2B5EF4-FFF2-40B4-BE49-F238E27FC236}">
                    <a16:creationId xmlns:a16="http://schemas.microsoft.com/office/drawing/2014/main" id="{B3535727-BB24-BB15-5C03-3DA9A3F9A09A}"/>
                  </a:ext>
                </a:extLst>
              </p:cNvPr>
              <p:cNvSpPr>
                <a:spLocks noGrp="1" noRot="1" noChangeAspect="1" noMove="1" noResize="1" noEditPoints="1" noAdjustHandles="1" noChangeArrowheads="1" noChangeShapeType="1" noTextEdit="1"/>
              </p:cNvSpPr>
              <p:nvPr>
                <p:ph idx="1"/>
              </p:nvPr>
            </p:nvSpPr>
            <p:spPr>
              <a:xfrm>
                <a:off x="6096001" y="1825624"/>
                <a:ext cx="5998028" cy="5032375"/>
              </a:xfrm>
              <a:blipFill>
                <a:blip r:embed="rId3"/>
                <a:stretch>
                  <a:fillRect l="-1829" t="-1937" r="-2846"/>
                </a:stretch>
              </a:blipFill>
            </p:spPr>
            <p:txBody>
              <a:bodyPr/>
              <a:lstStyle/>
              <a:p>
                <a:r>
                  <a:rPr lang="en-US">
                    <a:noFill/>
                  </a:rPr>
                  <a:t> </a:t>
                </a:r>
              </a:p>
            </p:txBody>
          </p:sp>
        </mc:Fallback>
      </mc:AlternateContent>
      <p:pic>
        <p:nvPicPr>
          <p:cNvPr id="4" name="Imagem 5">
            <a:extLst>
              <a:ext uri="{FF2B5EF4-FFF2-40B4-BE49-F238E27FC236}">
                <a16:creationId xmlns:a16="http://schemas.microsoft.com/office/drawing/2014/main" id="{42A1713D-06B5-FB35-8488-833F7CAB716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4041" y="2536723"/>
            <a:ext cx="6066351" cy="2487561"/>
          </a:xfrm>
          <a:prstGeom prst="rect">
            <a:avLst/>
          </a:prstGeom>
        </p:spPr>
      </p:pic>
    </p:spTree>
    <p:extLst>
      <p:ext uri="{BB962C8B-B14F-4D97-AF65-F5344CB8AC3E}">
        <p14:creationId xmlns:p14="http://schemas.microsoft.com/office/powerpoint/2010/main" val="40867176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9D242-5419-0FFB-7863-B3BB3BD80869}"/>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4B1DEA3-BAAD-D90C-CD9D-99A5A24F4544}"/>
                  </a:ext>
                </a:extLst>
              </p:cNvPr>
              <p:cNvSpPr>
                <a:spLocks noGrp="1"/>
              </p:cNvSpPr>
              <p:nvPr>
                <p:ph idx="1"/>
              </p:nvPr>
            </p:nvSpPr>
            <p:spPr>
              <a:xfrm>
                <a:off x="838199" y="1825624"/>
                <a:ext cx="11353801" cy="5032375"/>
              </a:xfrm>
            </p:spPr>
            <p:txBody>
              <a:bodyPr>
                <a:normAutofit/>
              </a:bodyPr>
              <a:lstStyle/>
              <a:p>
                <a:r>
                  <a:rPr lang="pt-BR" dirty="0"/>
                  <a:t>Para atingir o objetivo, devemos definir uma </a:t>
                </a:r>
                <a:r>
                  <a:rPr lang="pt-BR" b="1" dirty="0"/>
                  <a:t>função de erro </a:t>
                </a:r>
                <a:r>
                  <a:rPr lang="pt-BR" dirty="0"/>
                  <a:t>a ser </a:t>
                </a:r>
                <a:r>
                  <a:rPr lang="pt-BR" b="1" dirty="0">
                    <a:solidFill>
                      <a:srgbClr val="7030A0"/>
                    </a:solidFill>
                  </a:rPr>
                  <a:t>minimizada</a:t>
                </a:r>
                <a:r>
                  <a:rPr lang="pt-BR" dirty="0"/>
                  <a:t>.</a:t>
                </a:r>
              </a:p>
              <a:p>
                <a:r>
                  <a:rPr lang="pt-BR" dirty="0"/>
                  <a:t>Usamos a generalização da função da entropia cruzada, chamada de </a:t>
                </a:r>
                <a:r>
                  <a:rPr lang="pt-BR" b="1" dirty="0"/>
                  <a:t>entropia cruzada categórica</a:t>
                </a:r>
                <a:r>
                  <a:rPr lang="pt-BR" dirty="0"/>
                  <a:t>, a qual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r>
                        <a:rPr lang="pt-BR" i="1">
                          <a:latin typeface="Cambria Math" panose="02040503050406030204" pitchFamily="18" charset="0"/>
                        </a:rPr>
                        <m:t>,</m:t>
                      </m:r>
                    </m:oMath>
                  </m:oMathPara>
                </a14:m>
                <a:endParaRPr lang="pt-BR" dirty="0"/>
              </a:p>
              <a:p>
                <a:pPr marL="0" indent="0">
                  <a:buNone/>
                </a:pPr>
                <a:r>
                  <a:rPr lang="pt-BR" dirty="0"/>
                  <a:t>onde 1{⋅} é a </a:t>
                </a:r>
                <a:r>
                  <a:rPr lang="pt-BR" b="1" dirty="0"/>
                  <a:t>função indicadora </a:t>
                </a:r>
                <a:r>
                  <a:rPr lang="pt-BR" dirty="0"/>
                  <a:t>(1{condição verdadeira} = 1 e 1{condição falsa} = 0), </a:t>
                </a:r>
                <a14:m>
                  <m:oMath xmlns:m="http://schemas.openxmlformats.org/officeDocument/2006/math">
                    <m:r>
                      <a:rPr lang="pt-BR" b="1" i="1" smtClean="0">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a:t>
                </a:r>
                <a:r>
                  <a:rPr lang="pt-BR" b="1" dirty="0"/>
                  <a:t>funções hipótese</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é rótulo do </a:t>
                </a:r>
                <a14:m>
                  <m:oMath xmlns:m="http://schemas.openxmlformats.org/officeDocument/2006/math">
                    <m:r>
                      <a:rPr lang="pt-BR" i="1">
                        <a:latin typeface="Cambria Math" panose="02040503050406030204" pitchFamily="18" charset="0"/>
                      </a:rPr>
                      <m:t>𝑛</m:t>
                    </m:r>
                  </m:oMath>
                </a14:m>
                <a:r>
                  <a:rPr lang="pt-BR" dirty="0"/>
                  <a:t>-ésimo exemplo e </a:t>
                </a:r>
                <a14:m>
                  <m:oMath xmlns:m="http://schemas.openxmlformats.org/officeDocument/2006/math">
                    <m:sSubSup>
                      <m:sSubSupPr>
                        <m:ctrlPr>
                          <a:rPr lang="pt-BR" b="1" i="1">
                            <a:latin typeface="Cambria Math" panose="02040503050406030204" pitchFamily="18" charset="0"/>
                          </a:rPr>
                        </m:ctrlPr>
                      </m:sSubSupPr>
                      <m:e>
                        <m:acc>
                          <m:accPr>
                            <m:chr m:val="̂"/>
                            <m:ctrlPr>
                              <a:rPr lang="pt-BR" i="1">
                                <a:latin typeface="Cambria Math" panose="02040503050406030204" pitchFamily="18" charset="0"/>
                              </a:rPr>
                            </m:ctrlPr>
                          </m:accPr>
                          <m:e>
                            <m:r>
                              <a:rPr lang="pt-BR" b="0" i="1">
                                <a:latin typeface="Cambria Math" panose="02040503050406030204" pitchFamily="18" charset="0"/>
                              </a:rPr>
                              <m:t>𝑦</m:t>
                            </m:r>
                          </m:e>
                        </m:acc>
                        <m:r>
                          <a:rPr lang="pt-BR" b="0"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o </a:t>
                </a:r>
                <a14:m>
                  <m:oMath xmlns:m="http://schemas.openxmlformats.org/officeDocument/2006/math">
                    <m:r>
                      <a:rPr lang="pt-BR" i="1">
                        <a:latin typeface="Cambria Math" panose="02040503050406030204" pitchFamily="18" charset="0"/>
                      </a:rPr>
                      <m:t>𝑛</m:t>
                    </m:r>
                  </m:oMath>
                </a14:m>
                <a:r>
                  <a:rPr lang="pt-BR" dirty="0"/>
                  <a:t>-ésimo exemplo.</a:t>
                </a:r>
              </a:p>
              <a:p>
                <a:pPr lvl="1">
                  <a:buFont typeface="Wingdings" panose="05000000000000000000" pitchFamily="2" charset="2"/>
                  <a:buChar char="§"/>
                </a:pPr>
                <a:r>
                  <a:rPr lang="pt-BR" dirty="0"/>
                  <a:t>O erro tende a 0 quando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oMath>
                </a14:m>
                <a:r>
                  <a:rPr lang="pt-BR" dirty="0"/>
                  <a:t> tende a 1, caso contrário, o erro aumenta.</a:t>
                </a:r>
              </a:p>
            </p:txBody>
          </p:sp>
        </mc:Choice>
        <mc:Fallback>
          <p:sp>
            <p:nvSpPr>
              <p:cNvPr id="3" name="Content Placeholder 2">
                <a:extLst>
                  <a:ext uri="{FF2B5EF4-FFF2-40B4-BE49-F238E27FC236}">
                    <a16:creationId xmlns:a16="http://schemas.microsoft.com/office/drawing/2014/main" id="{34B1DEA3-BAAD-D90C-CD9D-99A5A24F454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t="-1937" r="-590" b="-2179"/>
                </a:stretch>
              </a:blipFill>
            </p:spPr>
            <p:txBody>
              <a:bodyPr/>
              <a:lstStyle/>
              <a:p>
                <a:r>
                  <a:rPr lang="en-US">
                    <a:noFill/>
                  </a:rPr>
                  <a:t> </a:t>
                </a:r>
              </a:p>
            </p:txBody>
          </p:sp>
        </mc:Fallback>
      </mc:AlternateContent>
    </p:spTree>
    <p:extLst>
      <p:ext uri="{BB962C8B-B14F-4D97-AF65-F5344CB8AC3E}">
        <p14:creationId xmlns:p14="http://schemas.microsoft.com/office/powerpoint/2010/main" val="1158751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538D5-DC01-EC48-38D2-99D754F1BB92}"/>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D7928D-3A32-7330-5FDC-756155EF2F3D}"/>
                  </a:ext>
                </a:extLst>
              </p:cNvPr>
              <p:cNvSpPr>
                <a:spLocks noGrp="1"/>
              </p:cNvSpPr>
              <p:nvPr>
                <p:ph idx="1"/>
              </p:nvPr>
            </p:nvSpPr>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oMath>
                  </m:oMathPara>
                </a14:m>
                <a:endParaRPr lang="pt-BR" dirty="0"/>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i="1">
                        <a:latin typeface="Cambria Math" panose="02040503050406030204" pitchFamily="18" charset="0"/>
                      </a:rPr>
                      <m:t>𝑄</m:t>
                    </m:r>
                  </m:oMath>
                </a14:m>
                <a:r>
                  <a:rPr lang="pt-BR" dirty="0"/>
                  <a:t> </a:t>
                </a:r>
                <a:r>
                  <a:rPr lang="pt-BR" b="1" dirty="0"/>
                  <a:t>funções discriminantes</a:t>
                </a:r>
                <a:r>
                  <a:rPr lang="pt-BR" dirty="0"/>
                  <a:t>.</a:t>
                </a:r>
              </a:p>
              <a:p>
                <a:r>
                  <a:rPr lang="pt-BR" dirty="0"/>
                  <a:t>A função mede a </a:t>
                </a:r>
                <a:r>
                  <a:rPr lang="pt-BR" b="1" dirty="0">
                    <a:solidFill>
                      <a:schemeClr val="accent2"/>
                    </a:solidFill>
                  </a:rPr>
                  <a:t>diferença </a:t>
                </a:r>
                <a:r>
                  <a:rPr lang="pt-BR" b="1" dirty="0">
                    <a:solidFill>
                      <a:srgbClr val="7030A0"/>
                    </a:solidFill>
                  </a:rPr>
                  <a:t>entre as distribuições de probabilidade preditas pelo modelo e as distribuições dos rótulos </a:t>
                </a:r>
                <a:r>
                  <a:rPr lang="pt-BR" dirty="0"/>
                  <a:t>das classes.</a:t>
                </a:r>
              </a:p>
              <a:p>
                <a:endParaRPr lang="pt-BR" dirty="0"/>
              </a:p>
              <a:p>
                <a:endParaRPr lang="en-US" dirty="0"/>
              </a:p>
            </p:txBody>
          </p:sp>
        </mc:Choice>
        <mc:Fallback xmlns="">
          <p:sp>
            <p:nvSpPr>
              <p:cNvPr id="3" name="Content Placeholder 2">
                <a:extLst>
                  <a:ext uri="{FF2B5EF4-FFF2-40B4-BE49-F238E27FC236}">
                    <a16:creationId xmlns:a16="http://schemas.microsoft.com/office/drawing/2014/main" id="{17D7928D-3A32-7330-5FDC-756155EF2F3D}"/>
                  </a:ext>
                </a:extLst>
              </p:cNvPr>
              <p:cNvSpPr>
                <a:spLocks noGrp="1" noRot="1" noChangeAspect="1" noMove="1" noResize="1" noEditPoints="1" noAdjustHandles="1" noChangeArrowheads="1" noChangeShapeType="1" noTextEdit="1"/>
              </p:cNvSpPr>
              <p:nvPr>
                <p:ph idx="1"/>
              </p:nvPr>
            </p:nvSpPr>
            <p:spPr>
              <a:blipFill>
                <a:blip r:embed="rId2"/>
                <a:stretch>
                  <a:fillRect l="-1043" r="-58"/>
                </a:stretch>
              </a:blipFill>
            </p:spPr>
            <p:txBody>
              <a:bodyPr/>
              <a:lstStyle/>
              <a:p>
                <a:r>
                  <a:rPr lang="en-US">
                    <a:noFill/>
                  </a:rPr>
                  <a:t> </a:t>
                </a:r>
              </a:p>
            </p:txBody>
          </p:sp>
        </mc:Fallback>
      </mc:AlternateContent>
    </p:spTree>
    <p:extLst>
      <p:ext uri="{BB962C8B-B14F-4D97-AF65-F5344CB8AC3E}">
        <p14:creationId xmlns:p14="http://schemas.microsoft.com/office/powerpoint/2010/main" val="23536568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E7CD05-66F2-8967-6154-CCED38E0F987}"/>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A86630-5D79-AD4B-79FC-6C8373E8DB39}"/>
                  </a:ext>
                </a:extLst>
              </p:cNvPr>
              <p:cNvSpPr>
                <a:spLocks noGrp="1"/>
              </p:cNvSpPr>
              <p:nvPr>
                <p:ph idx="1"/>
              </p:nvPr>
            </p:nvSpPr>
            <p:spPr>
              <a:xfrm>
                <a:off x="838199" y="1825624"/>
                <a:ext cx="11144693" cy="5032375"/>
              </a:xfrm>
            </p:spPr>
            <p:txBody>
              <a:bodyPr>
                <a:normAutofit/>
              </a:bodyPr>
              <a:lstStyle/>
              <a:p>
                <a:r>
                  <a:rPr lang="pt-BR" dirty="0"/>
                  <a:t>Usando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 </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um vetor com os rótulos usando a codificação </a:t>
                </a:r>
                <a:r>
                  <a:rPr lang="pt-BR" b="1" i="1" dirty="0"/>
                  <a:t>one-hot</a:t>
                </a:r>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um vetor 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o </a:t>
                </a:r>
                <a14:m>
                  <m:oMath xmlns:m="http://schemas.openxmlformats.org/officeDocument/2006/math">
                    <m:r>
                      <a:rPr lang="pt-BR" i="1">
                        <a:latin typeface="Cambria Math" panose="02040503050406030204" pitchFamily="18" charset="0"/>
                      </a:rPr>
                      <m:t>𝑛</m:t>
                    </m:r>
                  </m:oMath>
                </a14:m>
                <a:r>
                  <a:rPr lang="pt-BR" dirty="0"/>
                  <a:t>-ésimo exemplo de entrada.</a:t>
                </a:r>
                <a:endParaRPr lang="pt-BR" b="1" i="1" dirty="0"/>
              </a:p>
              <a:p>
                <a:r>
                  <a:rPr lang="pt-BR" b="0" dirty="0">
                    <a:effectLst/>
                  </a:rPr>
                  <a:t>Durante o </a:t>
                </a:r>
                <a:r>
                  <a:rPr lang="pt-BR" b="1" dirty="0">
                    <a:solidFill>
                      <a:srgbClr val="7030A0"/>
                    </a:solidFill>
                    <a:effectLst/>
                  </a:rPr>
                  <a:t>treinamento</a:t>
                </a:r>
                <a:r>
                  <a:rPr lang="pt-BR" b="0" dirty="0">
                    <a:effectLst/>
                  </a:rPr>
                  <a:t> do modelo, o </a:t>
                </a:r>
                <a:r>
                  <a:rPr lang="pt-BR" b="1" dirty="0">
                    <a:solidFill>
                      <a:srgbClr val="7030A0"/>
                    </a:solidFill>
                    <a:effectLst/>
                  </a:rPr>
                  <a:t>objetivo é minimizar a entropia cruzada categórica</a:t>
                </a:r>
                <a:r>
                  <a:rPr lang="pt-BR" b="0" dirty="0">
                    <a:effectLst/>
                  </a:rPr>
                  <a:t>, ou seja, fazer com que as </a:t>
                </a:r>
                <a:r>
                  <a:rPr lang="pt-BR" b="1" dirty="0">
                    <a:solidFill>
                      <a:srgbClr val="00B050"/>
                    </a:solidFill>
                    <a:effectLst/>
                  </a:rPr>
                  <a:t>probabilidades previstas pelo modelo se aproximem ao máximo dos rótulos dos exemplos</a:t>
                </a:r>
                <a:r>
                  <a:rPr lang="pt-BR" b="0" dirty="0">
                    <a:effectLst/>
                  </a:rPr>
                  <a:t>. </a:t>
                </a:r>
              </a:p>
            </p:txBody>
          </p:sp>
        </mc:Choice>
        <mc:Fallback xmlns="">
          <p:sp>
            <p:nvSpPr>
              <p:cNvPr id="3" name="Espaço Reservado para Conteúdo 2">
                <a:extLst>
                  <a:ext uri="{FF2B5EF4-FFF2-40B4-BE49-F238E27FC236}">
                    <a16:creationId xmlns:a16="http://schemas.microsoft.com/office/drawing/2014/main" id="{21A86630-5D79-AD4B-79FC-6C8373E8DB39}"/>
                  </a:ext>
                </a:extLst>
              </p:cNvPr>
              <p:cNvSpPr>
                <a:spLocks noGrp="1" noRot="1" noChangeAspect="1" noMove="1" noResize="1" noEditPoints="1" noAdjustHandles="1" noChangeArrowheads="1" noChangeShapeType="1" noTextEdit="1"/>
              </p:cNvSpPr>
              <p:nvPr>
                <p:ph idx="1"/>
              </p:nvPr>
            </p:nvSpPr>
            <p:spPr>
              <a:xfrm>
                <a:off x="838199" y="1825624"/>
                <a:ext cx="11144693" cy="5032375"/>
              </a:xfrm>
              <a:blipFill>
                <a:blip r:embed="rId2"/>
                <a:stretch>
                  <a:fillRect l="-1093" t="-1937" r="-547"/>
                </a:stretch>
              </a:blipFill>
            </p:spPr>
            <p:txBody>
              <a:bodyPr/>
              <a:lstStyle/>
              <a:p>
                <a:r>
                  <a:rPr lang="en-US">
                    <a:noFill/>
                  </a:rPr>
                  <a:t> </a:t>
                </a:r>
              </a:p>
            </p:txBody>
          </p:sp>
        </mc:Fallback>
      </mc:AlternateContent>
    </p:spTree>
    <p:extLst>
      <p:ext uri="{BB962C8B-B14F-4D97-AF65-F5344CB8AC3E}">
        <p14:creationId xmlns:p14="http://schemas.microsoft.com/office/powerpoint/2010/main" val="18246350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598F11-6F65-0753-89FE-F5ABED77B46A}"/>
              </a:ext>
            </a:extLst>
          </p:cNvPr>
          <p:cNvSpPr>
            <a:spLocks noGrp="1"/>
          </p:cNvSpPr>
          <p:nvPr>
            <p:ph type="title"/>
          </p:nvPr>
        </p:nvSpPr>
        <p:spPr/>
        <p:txBody>
          <a:bodyPr/>
          <a:lstStyle/>
          <a:p>
            <a:r>
              <a:rPr lang="pt-BR" dirty="0"/>
              <a:t>Função de erro</a:t>
            </a:r>
            <a:endParaRPr lang="pt-BR" i="1"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EF4E6DC-E916-D97A-4D18-D469285C4F2C}"/>
                  </a:ext>
                </a:extLst>
              </p:cNvPr>
              <p:cNvSpPr>
                <a:spLocks noGrp="1"/>
              </p:cNvSpPr>
              <p:nvPr>
                <p:ph idx="1"/>
              </p:nvPr>
            </p:nvSpPr>
            <p:spPr>
              <a:xfrm>
                <a:off x="838200" y="1825624"/>
                <a:ext cx="112014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r>
                        <a:rPr lang="pt-BR" b="1" i="1" smtClean="0">
                          <a:latin typeface="Cambria Math" panose="02040503050406030204" pitchFamily="18" charset="0"/>
                        </a:rPr>
                        <m:t>.</m:t>
                      </m:r>
                    </m:oMath>
                  </m:oMathPara>
                </a14:m>
                <a:endParaRPr lang="pt-BR" dirty="0"/>
              </a:p>
              <a:p>
                <a:r>
                  <a:rPr lang="pt-BR" dirty="0"/>
                  <a:t>Notem que 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m:t>
                    </m:r>
                    <m:r>
                      <a:rPr lang="pt-BR" i="1">
                        <a:latin typeface="Cambria Math" panose="02040503050406030204" pitchFamily="18" charset="0"/>
                      </a:rPr>
                      <m:t>2</m:t>
                    </m:r>
                  </m:oMath>
                </a14:m>
                <a:r>
                  <a:rPr lang="pt-BR" dirty="0"/>
                  <a:t>), a </a:t>
                </a:r>
                <a:r>
                  <a:rPr lang="pt-BR" b="1" dirty="0"/>
                  <a:t>função de erro médio </a:t>
                </a:r>
                <a:r>
                  <a:rPr lang="pt-BR" dirty="0"/>
                  <a:t>é equivalente à </a:t>
                </a:r>
                <a:r>
                  <a:rPr lang="pt-BR" b="1" dirty="0"/>
                  <a:t>função de erro médio </a:t>
                </a:r>
                <a:r>
                  <a:rPr lang="pt-BR" dirty="0"/>
                  <a:t>do </a:t>
                </a:r>
                <a:r>
                  <a:rPr lang="pt-BR" b="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a:t>
                </a:r>
                <a:r>
                  <a:rPr lang="pt-BR" i="1" dirty="0"/>
                  <a:t>softmax</a:t>
                </a:r>
                <a:r>
                  <a:rPr lang="pt-BR" dirty="0"/>
                  <a:t> também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m:t>
                    </m:r>
                    <m:r>
                      <a:rPr lang="pt-BR" i="1">
                        <a:latin typeface="Cambria Math" panose="02040503050406030204" pitchFamily="18" charset="0"/>
                      </a:rPr>
                      <m:t>2</m:t>
                    </m:r>
                  </m:oMath>
                </a14:m>
                <a:r>
                  <a:rPr lang="pt-BR" dirty="0"/>
                  <a:t>.</a:t>
                </a:r>
              </a:p>
              <a:p>
                <a:r>
                  <a:rPr lang="pt-BR" dirty="0"/>
                  <a:t>Entretanto, existe um problema com essa função de erro.</a:t>
                </a:r>
              </a:p>
            </p:txBody>
          </p:sp>
        </mc:Choice>
        <mc:Fallback>
          <p:sp>
            <p:nvSpPr>
              <p:cNvPr id="3" name="Espaço Reservado para Conteúdo 2">
                <a:extLst>
                  <a:ext uri="{FF2B5EF4-FFF2-40B4-BE49-F238E27FC236}">
                    <a16:creationId xmlns:a16="http://schemas.microsoft.com/office/drawing/2014/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201400" cy="5032375"/>
              </a:xfrm>
              <a:blipFill>
                <a:blip r:embed="rId3"/>
                <a:stretch>
                  <a:fillRect l="-980" r="-1524"/>
                </a:stretch>
              </a:blipFill>
            </p:spPr>
            <p:txBody>
              <a:bodyPr/>
              <a:lstStyle/>
              <a:p>
                <a:r>
                  <a:rPr lang="en-US">
                    <a:noFill/>
                  </a:rPr>
                  <a:t> </a:t>
                </a:r>
              </a:p>
            </p:txBody>
          </p:sp>
        </mc:Fallback>
      </mc:AlternateContent>
    </p:spTree>
    <p:extLst>
      <p:ext uri="{BB962C8B-B14F-4D97-AF65-F5344CB8AC3E}">
        <p14:creationId xmlns:p14="http://schemas.microsoft.com/office/powerpoint/2010/main" val="12399121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807923-28D2-8150-E304-526DA460D220}"/>
              </a:ext>
            </a:extLst>
          </p:cNvPr>
          <p:cNvSpPr>
            <a:spLocks noGrp="1"/>
          </p:cNvSpPr>
          <p:nvPr>
            <p:ph type="title"/>
          </p:nvPr>
        </p:nvSpPr>
        <p:spPr/>
        <p:txBody>
          <a:bodyPr/>
          <a:lstStyle/>
          <a:p>
            <a:r>
              <a:rPr lang="pt-BR" dirty="0"/>
              <a:t>Função de erro</a:t>
            </a:r>
            <a:endParaRPr lang="pt-BR" i="1" dirty="0"/>
          </a:p>
        </p:txBody>
      </p:sp>
      <p:sp>
        <p:nvSpPr>
          <p:cNvPr id="3" name="Espaço Reservado para Conteúdo 2">
            <a:extLst>
              <a:ext uri="{FF2B5EF4-FFF2-40B4-BE49-F238E27FC236}">
                <a16:creationId xmlns:a16="http://schemas.microsoft.com/office/drawing/2014/main" id="{FFACD180-C529-EB91-BD2D-B5F491B1E35C}"/>
              </a:ext>
            </a:extLst>
          </p:cNvPr>
          <p:cNvSpPr>
            <a:spLocks noGrp="1"/>
          </p:cNvSpPr>
          <p:nvPr>
            <p:ph idx="1"/>
          </p:nvPr>
        </p:nvSpPr>
        <p:spPr>
          <a:xfrm>
            <a:off x="5867400" y="1825624"/>
            <a:ext cx="6162676" cy="5032375"/>
          </a:xfrm>
        </p:spPr>
        <p:txBody>
          <a:bodyPr/>
          <a:lstStyle/>
          <a:p>
            <a:r>
              <a:rPr lang="pt-BR" dirty="0"/>
              <a:t>Essa </a:t>
            </a:r>
            <a:r>
              <a:rPr lang="pt-BR" b="1" dirty="0"/>
              <a:t>função de erro </a:t>
            </a:r>
            <a:r>
              <a:rPr lang="pt-BR" b="1" dirty="0">
                <a:solidFill>
                  <a:srgbClr val="7030A0"/>
                </a:solidFill>
              </a:rPr>
              <a:t>não é linear </a:t>
            </a:r>
            <a:r>
              <a:rPr lang="pt-BR" dirty="0"/>
              <a:t>e, portanto, </a:t>
            </a:r>
            <a:r>
              <a:rPr lang="pt-BR" b="1" dirty="0">
                <a:solidFill>
                  <a:srgbClr val="7030A0"/>
                </a:solidFill>
              </a:rPr>
              <a:t>não existe uma forma fechada</a:t>
            </a:r>
            <a:r>
              <a:rPr lang="pt-BR" b="1" dirty="0"/>
              <a:t> </a:t>
            </a:r>
            <a:r>
              <a:rPr lang="pt-BR" dirty="0"/>
              <a:t>para encontramos os pesos.</a:t>
            </a:r>
          </a:p>
          <a:p>
            <a:r>
              <a:rPr lang="pt-BR" dirty="0"/>
              <a:t>Porém, ela é </a:t>
            </a:r>
            <a:r>
              <a:rPr lang="pt-BR" b="1" dirty="0">
                <a:solidFill>
                  <a:srgbClr val="00B050"/>
                </a:solidFill>
              </a:rPr>
              <a:t>convexa</a:t>
            </a:r>
            <a:r>
              <a:rPr lang="pt-BR" dirty="0"/>
              <a:t> e </a:t>
            </a:r>
            <a:r>
              <a:rPr lang="pt-BR" b="1" dirty="0">
                <a:solidFill>
                  <a:srgbClr val="00B050"/>
                </a:solidFill>
              </a:rPr>
              <a:t>contínua</a:t>
            </a:r>
            <a:r>
              <a:rPr lang="pt-BR" dirty="0"/>
              <a:t>. </a:t>
            </a:r>
          </a:p>
          <a:p>
            <a:r>
              <a:rPr lang="pt-BR" dirty="0"/>
              <a:t>Assim,</a:t>
            </a:r>
            <a:r>
              <a:rPr lang="pt-BR" b="1" dirty="0">
                <a:solidFill>
                  <a:srgbClr val="00B050"/>
                </a:solidFill>
              </a:rPr>
              <a:t> o algoritmo do gradiente descendente (qualquer versão) pode ser usado para encontrar o </a:t>
            </a:r>
            <a:r>
              <a:rPr lang="pt-BR" b="1" dirty="0">
                <a:solidFill>
                  <a:srgbClr val="7030A0"/>
                </a:solidFill>
              </a:rPr>
              <a:t>mínimo global</a:t>
            </a:r>
            <a:r>
              <a:rPr lang="pt-BR" dirty="0"/>
              <a:t>.</a:t>
            </a:r>
          </a:p>
          <a:p>
            <a:endParaRPr lang="pt-BR" dirty="0"/>
          </a:p>
        </p:txBody>
      </p:sp>
      <p:pic>
        <p:nvPicPr>
          <p:cNvPr id="1026" name="Picture 2">
            <a:extLst>
              <a:ext uri="{FF2B5EF4-FFF2-40B4-BE49-F238E27FC236}">
                <a16:creationId xmlns:a16="http://schemas.microsoft.com/office/drawing/2014/main" id="{6FC2BDE8-91E0-6379-9BA3-76511C6153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2771BE1F-7B74-36A4-AA69-9171B025A4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79146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929962-9BFC-4174-AB35-CC23FA013168}"/>
              </a:ext>
            </a:extLst>
          </p:cNvPr>
          <p:cNvSpPr>
            <a:spLocks noGrp="1"/>
          </p:cNvSpPr>
          <p:nvPr>
            <p:ph type="title"/>
          </p:nvPr>
        </p:nvSpPr>
        <p:spPr/>
        <p:txBody>
          <a:bodyPr/>
          <a:lstStyle/>
          <a:p>
            <a:r>
              <a:rPr lang="pt-BR" dirty="0"/>
              <a:t>Gradiente descendente</a:t>
            </a:r>
            <a:endParaRPr lang="pt-BR" i="1"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D38055D-E355-F780-9CA0-0337EA0BE4FD}"/>
                  </a:ext>
                </a:extLst>
              </p:cNvPr>
              <p:cNvSpPr>
                <a:spLocks noGrp="1"/>
              </p:cNvSpPr>
              <p:nvPr>
                <p:ph idx="1"/>
              </p:nvPr>
            </p:nvSpPr>
            <p:spPr>
              <a:xfrm>
                <a:off x="838200" y="1825625"/>
                <a:ext cx="11163300" cy="5032375"/>
              </a:xfrm>
            </p:spPr>
            <p:txBody>
              <a:bodyPr>
                <a:normAutofit/>
              </a:bodyPr>
              <a:lstStyle/>
              <a:p>
                <a:r>
                  <a:rPr lang="pt-BR" dirty="0"/>
                  <a:t>A atualização dos </a:t>
                </a:r>
                <a:r>
                  <a:rPr lang="pt-BR" b="1" dirty="0"/>
                  <a:t>pesos</a:t>
                </a:r>
                <a:r>
                  <a:rPr lang="pt-BR" dirty="0"/>
                  <a:t> da </a:t>
                </a:r>
                <a:r>
                  <a:rPr lang="pt-BR" i="1" dirty="0"/>
                  <a:t>q</a:t>
                </a:r>
                <a:r>
                  <a:rPr lang="pt-BR" dirty="0"/>
                  <a:t>-</a:t>
                </a:r>
                <a:r>
                  <a:rPr lang="pt-BR" dirty="0" err="1"/>
                  <a:t>ésima</a:t>
                </a:r>
                <a:r>
                  <a:rPr lang="pt-BR" dirty="0"/>
                  <a:t> função discriminante,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dirty="0"/>
                  <a:t>hiperplano</a:t>
                </a:r>
                <a:r>
                  <a:rPr lang="pt-BR" dirty="0"/>
                  <a:t> como </a:t>
                </a:r>
                <a:r>
                  <a:rPr lang="pt-BR" b="1" dirty="0"/>
                  <a:t>função discriminante</a:t>
                </a:r>
                <a:r>
                  <a:rPr lang="pt-BR" dirty="0"/>
                  <a:t>, a derivada da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oMath>
                </a14:m>
                <a:r>
                  <a:rPr lang="pt-BR" dirty="0"/>
                  <a:t>, com respeito ao vetor de pesos,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b="0" i="1" smtClean="0">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b="0" i="1" smtClean="0">
                                          <a:latin typeface="Cambria Math" panose="02040503050406030204" pitchFamily="18" charset="0"/>
                                        </a:rPr>
                                        <m:t>𝑛</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a:latin typeface="Cambria Math" panose="02040503050406030204" pitchFamily="18" charset="0"/>
                            </a:rPr>
                          </m:ctrlPr>
                        </m:dPr>
                        <m:e>
                          <m:sSub>
                            <m:sSubPr>
                              <m:ctrlPr>
                                <a:rPr lang="pt-BR" sz="2400" i="1" smtClean="0">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smtClean="0">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sz="2400" b="0" i="1" smtClean="0">
                          <a:latin typeface="Cambria Math" panose="02040503050406030204" pitchFamily="18" charset="0"/>
                        </a:rPr>
                        <m:t>,</m:t>
                      </m:r>
                    </m:oMath>
                  </m:oMathPara>
                </a14:m>
                <a:endParaRPr lang="pt-BR" sz="2400"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r>
                      <a:rPr lang="pt-BR" sz="2800" i="1" smtClean="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i="1" dirty="0">
                            <a:latin typeface="Cambria Math" panose="02040503050406030204" pitchFamily="18" charset="0"/>
                            <a:ea typeface="Cambria Math" panose="02040503050406030204" pitchFamily="18" charset="0"/>
                          </a:rPr>
                          <m:t>1</m:t>
                        </m:r>
                      </m:sup>
                    </m:sSup>
                  </m:oMath>
                </a14:m>
                <a:r>
                  <a:rPr lang="pt-BR" sz="2800" b="0" i="0" dirty="0">
                    <a:solidFill>
                      <a:srgbClr val="000000"/>
                    </a:solidFill>
                    <a:effectLst/>
                    <a:latin typeface="Calibri" panose="020F0502020204030204" pitchFamily="34" charset="0"/>
                  </a:rPr>
                  <a:t>são vetores </a:t>
                </a:r>
                <a:r>
                  <a:rPr lang="pt-BR" dirty="0"/>
                  <a:t>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a:t>
                </a:r>
                <a:r>
                  <a:rPr lang="pt-BR" i="1" dirty="0"/>
                  <a:t>softmax</a:t>
                </a:r>
                <a:r>
                  <a:rPr lang="pt-BR" dirty="0"/>
                  <a:t> para cada um dos </a:t>
                </a:r>
                <a14:m>
                  <m:oMath xmlns:m="http://schemas.openxmlformats.org/officeDocument/2006/math">
                    <m:r>
                      <a:rPr lang="pt-BR" i="1">
                        <a:latin typeface="Cambria Math" panose="02040503050406030204" pitchFamily="18" charset="0"/>
                      </a:rPr>
                      <m:t>𝑁</m:t>
                    </m:r>
                  </m:oMath>
                </a14:m>
                <a:r>
                  <a:rPr lang="pt-BR" dirty="0"/>
                  <a:t> vetores de atributo, respectivamente.</a:t>
                </a:r>
              </a:p>
            </p:txBody>
          </p:sp>
        </mc:Choice>
        <mc:Fallback>
          <p:sp>
            <p:nvSpPr>
              <p:cNvPr id="3" name="Espaço Reservado para Conteúdo 2">
                <a:extLst>
                  <a:ext uri="{FF2B5EF4-FFF2-40B4-BE49-F238E27FC236}">
                    <a16:creationId xmlns:a16="http://schemas.microsoft.com/office/drawing/2014/main" id="{1D38055D-E355-F780-9CA0-0337EA0BE4FD}"/>
                  </a:ext>
                </a:extLst>
              </p:cNvPr>
              <p:cNvSpPr>
                <a:spLocks noGrp="1" noRot="1" noChangeAspect="1" noMove="1" noResize="1" noEditPoints="1" noAdjustHandles="1" noChangeArrowheads="1" noChangeShapeType="1" noTextEdit="1"/>
              </p:cNvSpPr>
              <p:nvPr>
                <p:ph idx="1"/>
              </p:nvPr>
            </p:nvSpPr>
            <p:spPr>
              <a:xfrm>
                <a:off x="838200" y="1825625"/>
                <a:ext cx="11163300" cy="5032375"/>
              </a:xfrm>
              <a:blipFill>
                <a:blip r:embed="rId3"/>
                <a:stretch>
                  <a:fillRect l="-1147" t="-1695"/>
                </a:stretch>
              </a:blipFill>
            </p:spPr>
            <p:txBody>
              <a:bodyPr/>
              <a:lstStyle/>
              <a:p>
                <a:r>
                  <a:rPr lang="en-US">
                    <a:noFill/>
                  </a:rPr>
                  <a:t> </a:t>
                </a:r>
              </a:p>
            </p:txBody>
          </p:sp>
        </mc:Fallback>
      </mc:AlternateContent>
    </p:spTree>
    <p:extLst>
      <p:ext uri="{BB962C8B-B14F-4D97-AF65-F5344CB8AC3E}">
        <p14:creationId xmlns:p14="http://schemas.microsoft.com/office/powerpoint/2010/main" val="26458755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DBA288E-BBB8-E157-840C-AA685AD7D65C}"/>
                  </a:ext>
                </a:extLst>
              </p:cNvPr>
              <p:cNvSpPr>
                <a:spLocks noGrp="1"/>
              </p:cNvSpPr>
              <p:nvPr>
                <p:ph idx="1"/>
              </p:nvPr>
            </p:nvSpPr>
            <p:spPr>
              <a:xfrm>
                <a:off x="838200" y="1825624"/>
                <a:ext cx="11119338"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smtClean="0">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dirty="0">
                    <a:solidFill>
                      <a:srgbClr val="00B050"/>
                    </a:solidFill>
                  </a:rPr>
                  <a:t>idêntica</a:t>
                </a:r>
                <a:r>
                  <a:rPr lang="pt-BR" dirty="0"/>
                  <a:t> àquela obtida para o caso da </a:t>
                </a:r>
                <a:r>
                  <a:rPr lang="pt-BR" b="1" dirty="0">
                    <a:solidFill>
                      <a:srgbClr val="00B050"/>
                    </a:solidFill>
                  </a:rPr>
                  <a:t>regressão logística</a:t>
                </a:r>
                <a:r>
                  <a:rPr lang="pt-BR" dirty="0"/>
                  <a:t>.</a:t>
                </a:r>
              </a:p>
              <a:p>
                <a:r>
                  <a:rPr lang="pt-BR" dirty="0"/>
                  <a:t>O vetor gradiente pode ser reescrito levando-se em consideração todos os </a:t>
                </a:r>
                <a14:m>
                  <m:oMath xmlns:m="http://schemas.openxmlformats.org/officeDocument/2006/math">
                    <m:r>
                      <a:rPr lang="pt-BR" i="1" smtClean="0">
                        <a:latin typeface="Cambria Math" panose="02040503050406030204" pitchFamily="18" charset="0"/>
                      </a:rPr>
                      <m:t>𝑄</m:t>
                    </m:r>
                    <m:r>
                      <a:rPr lang="pt-BR" i="1" smtClean="0">
                        <a:latin typeface="Cambria Math" panose="02040503050406030204" pitchFamily="18" charset="0"/>
                      </a:rPr>
                      <m:t> </m:t>
                    </m:r>
                  </m:oMath>
                </a14:m>
                <a:r>
                  <a:rPr lang="pt-BR" dirty="0"/>
                  <a:t>vetores de peso</a:t>
                </a:r>
              </a:p>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0"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𝒀</m:t>
                        </m:r>
                      </m:e>
                    </m:acc>
                    <m:r>
                      <a:rPr lang="pt-BR" i="1">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sup>
                    </m:sSup>
                  </m:oMath>
                </a14:m>
                <a:r>
                  <a:rPr lang="pt-BR" dirty="0"/>
                  <a:t> são matrizes contendendo em cada linha os vetores </a:t>
                </a:r>
                <a14:m>
                  <m:oMath xmlns:m="http://schemas.openxmlformats.org/officeDocument/2006/math">
                    <m:sSup>
                      <m:sSupPr>
                        <m:ctrlPr>
                          <a:rPr lang="pt-BR" i="1" smtClean="0">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smtClean="0">
                            <a:latin typeface="Cambria Math" panose="02040503050406030204" pitchFamily="18" charset="0"/>
                          </a:rPr>
                        </m:ctrlPr>
                      </m:sSup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r>
                  <a:rPr lang="pt-BR" dirty="0"/>
                  <a:t>Esse resultado é diretamente estendido para polinômios.</a:t>
                </a:r>
              </a:p>
            </p:txBody>
          </p:sp>
        </mc:Choice>
        <mc:Fallback>
          <p:sp>
            <p:nvSpPr>
              <p:cNvPr id="3" name="Espaço Reservado para Conteúdo 2">
                <a:extLst>
                  <a:ext uri="{FF2B5EF4-FFF2-40B4-BE49-F238E27FC236}">
                    <a16:creationId xmlns:a16="http://schemas.microsoft.com/office/drawing/2014/main" id="{DDBA288E-BBB8-E157-840C-AA685AD7D65C}"/>
                  </a:ext>
                </a:extLst>
              </p:cNvPr>
              <p:cNvSpPr>
                <a:spLocks noGrp="1" noRot="1" noChangeAspect="1" noMove="1" noResize="1" noEditPoints="1" noAdjustHandles="1" noChangeArrowheads="1" noChangeShapeType="1" noTextEdit="1"/>
              </p:cNvSpPr>
              <p:nvPr>
                <p:ph idx="1"/>
              </p:nvPr>
            </p:nvSpPr>
            <p:spPr>
              <a:xfrm>
                <a:off x="838200" y="1825624"/>
                <a:ext cx="11119338" cy="5032375"/>
              </a:xfrm>
              <a:blipFill>
                <a:blip r:embed="rId3"/>
                <a:stretch>
                  <a:fillRect l="-1151" r="-1754" b="-726"/>
                </a:stretch>
              </a:blipFill>
            </p:spPr>
            <p:txBody>
              <a:bodyPr/>
              <a:lstStyle/>
              <a:p>
                <a:r>
                  <a:rPr lang="en-US">
                    <a:noFill/>
                  </a:rPr>
                  <a:t> </a:t>
                </a:r>
              </a:p>
            </p:txBody>
          </p:sp>
        </mc:Fallback>
      </mc:AlternateContent>
    </p:spTree>
    <p:extLst>
      <p:ext uri="{BB962C8B-B14F-4D97-AF65-F5344CB8AC3E}">
        <p14:creationId xmlns:p14="http://schemas.microsoft.com/office/powerpoint/2010/main" val="29143028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F1FD81-6095-2AF0-8691-34E55B8A93B5}"/>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B734B24-DA50-860B-5D55-C33F6F451B6F}"/>
                  </a:ext>
                </a:extLst>
              </p:cNvPr>
              <p:cNvSpPr>
                <a:spLocks noGrp="1"/>
              </p:cNvSpPr>
              <p:nvPr>
                <p:ph idx="1"/>
              </p:nvPr>
            </p:nvSpPr>
            <p:spPr>
              <a:xfrm>
                <a:off x="6096000" y="1825624"/>
                <a:ext cx="5930899" cy="5032375"/>
              </a:xfrm>
            </p:spPr>
            <p:txBody>
              <a:bodyPr>
                <a:normAutofit/>
              </a:bodyPr>
              <a:lstStyle/>
              <a:p>
                <a:r>
                  <a:rPr lang="pt-BR" dirty="0">
                    <a:solidFill>
                      <a:schemeClr val="tx1"/>
                    </a:solidFill>
                  </a:rPr>
                  <a:t>Após o treinamento, durante a </a:t>
                </a:r>
                <a:r>
                  <a:rPr lang="pt-BR" b="1" dirty="0">
                    <a:solidFill>
                      <a:srgbClr val="00B050"/>
                    </a:solidFill>
                  </a:rPr>
                  <a:t>fase de inferência</a:t>
                </a:r>
                <a:r>
                  <a:rPr lang="pt-BR" dirty="0">
                    <a:solidFill>
                      <a:schemeClr val="tx1"/>
                    </a:solidFill>
                  </a:rPr>
                  <a:t>, o classificador atribui 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dirty="0">
                    <a:solidFill>
                      <a:schemeClr val="tx1"/>
                    </a:solidFill>
                  </a:rPr>
                  <a:t>maior probabilidade estimada</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b="1"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e>
                          </m:d>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t>A arquitetura de um </a:t>
                </a:r>
                <a:r>
                  <a:rPr lang="pt-BR" b="1" dirty="0"/>
                  <a:t>regressor</a:t>
                </a:r>
                <a:r>
                  <a:rPr lang="pt-BR" b="1" i="1" dirty="0"/>
                  <a:t>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m:t>
                    </m:r>
                    <m:r>
                      <a:rPr lang="pt-BR" i="1">
                        <a:latin typeface="Cambria Math" panose="02040503050406030204" pitchFamily="18" charset="0"/>
                      </a:rPr>
                      <m:t>3</m:t>
                    </m:r>
                  </m:oMath>
                </a14:m>
                <a:r>
                  <a:rPr lang="pt-BR" dirty="0"/>
                  <a:t>) e dois atributos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é mostrada ao lado.</a:t>
                </a:r>
              </a:p>
            </p:txBody>
          </p:sp>
        </mc:Choice>
        <mc:Fallback>
          <p:sp>
            <p:nvSpPr>
              <p:cNvPr id="3" name="Espaço Reservado para Conteúdo 2">
                <a:extLst>
                  <a:ext uri="{FF2B5EF4-FFF2-40B4-BE49-F238E27FC236}">
                    <a16:creationId xmlns:a16="http://schemas.microsoft.com/office/drawing/2014/main" id="{BB734B24-DA50-860B-5D55-C33F6F451B6F}"/>
                  </a:ext>
                </a:extLst>
              </p:cNvPr>
              <p:cNvSpPr>
                <a:spLocks noGrp="1" noRot="1" noChangeAspect="1" noMove="1" noResize="1" noEditPoints="1" noAdjustHandles="1" noChangeArrowheads="1" noChangeShapeType="1" noTextEdit="1"/>
              </p:cNvSpPr>
              <p:nvPr>
                <p:ph idx="1"/>
              </p:nvPr>
            </p:nvSpPr>
            <p:spPr>
              <a:xfrm>
                <a:off x="6096000" y="1825624"/>
                <a:ext cx="5930899" cy="5032375"/>
              </a:xfrm>
              <a:blipFill>
                <a:blip r:embed="rId3"/>
                <a:stretch>
                  <a:fillRect l="-1850" t="-1937" r="-719"/>
                </a:stretch>
              </a:blipFill>
            </p:spPr>
            <p:txBody>
              <a:bodyPr/>
              <a:lstStyle/>
              <a:p>
                <a:r>
                  <a:rPr lang="en-US">
                    <a:noFill/>
                  </a:rPr>
                  <a:t> </a:t>
                </a:r>
              </a:p>
            </p:txBody>
          </p:sp>
        </mc:Fallback>
      </mc:AlternateContent>
      <p:pic>
        <p:nvPicPr>
          <p:cNvPr id="4" name="Imagem 5">
            <a:extLst>
              <a:ext uri="{FF2B5EF4-FFF2-40B4-BE49-F238E27FC236}">
                <a16:creationId xmlns:a16="http://schemas.microsoft.com/office/drawing/2014/main" id="{535159CB-11DC-74B8-5C5F-D571CD0183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20969095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C175046-E9DF-FCC8-C62B-B00332089713}"/>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24721BB7-DBA3-D8BF-7F98-ED91BD59DAEC}"/>
                  </a:ext>
                </a:extLst>
              </p:cNvPr>
              <p:cNvSpPr>
                <a:spLocks noGrp="1"/>
              </p:cNvSpPr>
              <p:nvPr>
                <p:ph idx="1"/>
              </p:nvPr>
            </p:nvSpPr>
            <p:spPr>
              <a:xfrm>
                <a:off x="5951050" y="1825624"/>
                <a:ext cx="6124686" cy="5032375"/>
              </a:xfrm>
            </p:spPr>
            <p:txBody>
              <a:bodyPr>
                <a:normAutofit/>
              </a:bodyPr>
              <a:lstStyle/>
              <a:p>
                <a:r>
                  <a:rPr lang="pt-BR" dirty="0"/>
                  <a:t>Em resumo, a ideia por trás da </a:t>
                </a:r>
                <a:r>
                  <a:rPr lang="pt-BR" b="1" dirty="0"/>
                  <a:t>regressão</a:t>
                </a:r>
                <a:r>
                  <a:rPr lang="pt-BR" b="1" i="1" dirty="0"/>
                  <a:t>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𝑛</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a:t>
                </a:r>
                <a:r>
                  <a:rPr lang="pt-BR" i="1" dirty="0"/>
                  <a:t>softmax</a:t>
                </a:r>
                <a:r>
                  <a:rPr lang="pt-BR" dirty="0"/>
                  <a:t> calcula uma “</a:t>
                </a:r>
                <a:r>
                  <a:rPr lang="pt-BR" b="1" dirty="0"/>
                  <a:t>pontuação</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rPr>
                          <m:t>𝑛</m:t>
                        </m:r>
                        <m:r>
                          <a:rPr lang="pt-BR">
                            <a:latin typeface="Cambria Math" panose="02040503050406030204" pitchFamily="18" charset="0"/>
                          </a:rPr>
                          <m:t>)</m:t>
                        </m:r>
                      </m:e>
                    </m:d>
                    <m:r>
                      <a:rPr lang="pt-BR" b="1"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a:t>
                </a:r>
                <a:r>
                  <a:rPr lang="pt-BR" i="1" dirty="0"/>
                  <a:t>softmax</a:t>
                </a:r>
                <a:r>
                  <a:rPr lang="pt-BR" dirty="0"/>
                  <a:t> às “</a:t>
                </a:r>
                <a:r>
                  <a:rPr lang="pt-BR" b="1" dirty="0"/>
                  <a:t>pontuações</a:t>
                </a:r>
                <a:r>
                  <a:rPr lang="pt-BR" dirty="0"/>
                  <a:t>”.</a:t>
                </a:r>
              </a:p>
            </p:txBody>
          </p:sp>
        </mc:Choice>
        <mc:Fallback>
          <p:sp>
            <p:nvSpPr>
              <p:cNvPr id="3" name="Espaço Reservado para Conteúdo 2">
                <a:extLst>
                  <a:ext uri="{FF2B5EF4-FFF2-40B4-BE49-F238E27FC236}">
                    <a16:creationId xmlns:a16="http://schemas.microsoft.com/office/drawing/2014/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a:blip r:embed="rId3"/>
                <a:stretch>
                  <a:fillRect l="-1791" t="-1937" r="-1592"/>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FF78CF76-EB26-3FAE-0391-E452288FA2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33829405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t>Exemplo: </a:t>
            </a:r>
            <a:r>
              <a:rPr lang="pt-BR" dirty="0" err="1"/>
              <a:t>regressão_softmax.ipynb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t>Lista #7 – </a:t>
            </a:r>
            <a:r>
              <a:rPr lang="en-US" dirty="0" err="1"/>
              <a:t>Regressão</a:t>
            </a:r>
            <a:r>
              <a:rPr lang="en-US" dirty="0"/>
              <a:t> </a:t>
            </a:r>
            <a:r>
              <a:rPr lang="en-US" i="1" dirty="0"/>
              <a:t>softmax</a:t>
            </a:r>
          </a:p>
        </p:txBody>
      </p:sp>
    </p:spTree>
    <p:extLst>
      <p:ext uri="{BB962C8B-B14F-4D97-AF65-F5344CB8AC3E}">
        <p14:creationId xmlns:p14="http://schemas.microsoft.com/office/powerpoint/2010/main" val="23920531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9607</TotalTime>
  <Words>3789</Words>
  <Application>Microsoft Office PowerPoint</Application>
  <PresentationFormat>Widescreen</PresentationFormat>
  <Paragraphs>214</Paragraphs>
  <Slides>23</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Arial</vt:lpstr>
      <vt:lpstr>Calibri</vt:lpstr>
      <vt:lpstr>Calibri Light</vt:lpstr>
      <vt:lpstr>Cambria Math</vt:lpstr>
      <vt:lpstr>CambriaMath</vt:lpstr>
      <vt:lpstr>Söhne</vt:lpstr>
      <vt:lpstr>Wingdings</vt:lpstr>
      <vt:lpstr>Tema do Office</vt:lpstr>
      <vt:lpstr>C24 – Inteligência Artificial: Regressor Softmax</vt:lpstr>
      <vt:lpstr>Casos multiclasses</vt:lpstr>
      <vt:lpstr>Casos multiclasses</vt:lpstr>
      <vt:lpstr>Regressor softmax</vt:lpstr>
      <vt:lpstr>Regressor softmax</vt:lpstr>
      <vt:lpstr>Regressor softmax</vt:lpstr>
      <vt:lpstr>Função de ativação softmax</vt:lpstr>
      <vt:lpstr>Função de ativação softmax</vt:lpstr>
      <vt:lpstr>Função de ativação softmax</vt:lpstr>
      <vt:lpstr>Função de ativação softmax</vt:lpstr>
      <vt:lpstr>Função de erro</vt:lpstr>
      <vt:lpstr>Função de erro</vt:lpstr>
      <vt:lpstr>Função de erro</vt:lpstr>
      <vt:lpstr>Função de erro</vt:lpstr>
      <vt:lpstr>Função de erro</vt:lpstr>
      <vt:lpstr>Gradiente descendente</vt:lpstr>
      <vt:lpstr>Regressor softmax</vt:lpstr>
      <vt:lpstr>Regressor softmax</vt:lpstr>
      <vt:lpstr>Regressor softmax</vt:lpstr>
      <vt:lpstr>Exemplo</vt:lpstr>
      <vt:lpstr>Lista de exercícios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1788</cp:revision>
  <dcterms:created xsi:type="dcterms:W3CDTF">2020-01-20T13:50:05Z</dcterms:created>
  <dcterms:modified xsi:type="dcterms:W3CDTF">2026-02-26T19:41:10Z</dcterms:modified>
</cp:coreProperties>
</file>