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handoutMasterIdLst>
    <p:handoutMasterId r:id="rId79"/>
  </p:handoutMasterIdLst>
  <p:sldIdLst>
    <p:sldId id="494" r:id="rId2"/>
    <p:sldId id="495" r:id="rId3"/>
    <p:sldId id="406" r:id="rId4"/>
    <p:sldId id="496" r:id="rId5"/>
    <p:sldId id="442" r:id="rId6"/>
    <p:sldId id="484" r:id="rId7"/>
    <p:sldId id="498" r:id="rId8"/>
    <p:sldId id="492" r:id="rId9"/>
    <p:sldId id="483" r:id="rId10"/>
    <p:sldId id="497" r:id="rId11"/>
    <p:sldId id="503" r:id="rId12"/>
    <p:sldId id="485" r:id="rId13"/>
    <p:sldId id="501" r:id="rId14"/>
    <p:sldId id="505" r:id="rId15"/>
    <p:sldId id="507" r:id="rId16"/>
    <p:sldId id="506" r:id="rId17"/>
    <p:sldId id="502" r:id="rId18"/>
    <p:sldId id="499" r:id="rId19"/>
    <p:sldId id="504" r:id="rId20"/>
    <p:sldId id="487" r:id="rId21"/>
    <p:sldId id="456" r:id="rId22"/>
    <p:sldId id="457" r:id="rId23"/>
    <p:sldId id="480" r:id="rId24"/>
    <p:sldId id="481" r:id="rId25"/>
    <p:sldId id="482" r:id="rId26"/>
    <p:sldId id="431" r:id="rId27"/>
    <p:sldId id="451" r:id="rId28"/>
    <p:sldId id="454" r:id="rId29"/>
    <p:sldId id="429" r:id="rId30"/>
    <p:sldId id="435" r:id="rId31"/>
    <p:sldId id="432" r:id="rId32"/>
    <p:sldId id="433" r:id="rId33"/>
    <p:sldId id="434" r:id="rId34"/>
    <p:sldId id="453" r:id="rId35"/>
    <p:sldId id="436" r:id="rId36"/>
    <p:sldId id="440" r:id="rId37"/>
    <p:sldId id="437" r:id="rId38"/>
    <p:sldId id="445" r:id="rId39"/>
    <p:sldId id="449" r:id="rId40"/>
    <p:sldId id="450" r:id="rId41"/>
    <p:sldId id="452" r:id="rId42"/>
    <p:sldId id="486" r:id="rId43"/>
    <p:sldId id="488" r:id="rId44"/>
    <p:sldId id="464" r:id="rId45"/>
    <p:sldId id="465" r:id="rId46"/>
    <p:sldId id="455" r:id="rId47"/>
    <p:sldId id="460" r:id="rId48"/>
    <p:sldId id="467" r:id="rId49"/>
    <p:sldId id="461" r:id="rId50"/>
    <p:sldId id="493" r:id="rId51"/>
    <p:sldId id="462" r:id="rId52"/>
    <p:sldId id="466" r:id="rId53"/>
    <p:sldId id="468" r:id="rId54"/>
    <p:sldId id="508" r:id="rId55"/>
    <p:sldId id="477" r:id="rId56"/>
    <p:sldId id="405" r:id="rId57"/>
    <p:sldId id="293" r:id="rId58"/>
    <p:sldId id="306" r:id="rId59"/>
    <p:sldId id="491" r:id="rId60"/>
    <p:sldId id="441" r:id="rId61"/>
    <p:sldId id="469" r:id="rId62"/>
    <p:sldId id="470" r:id="rId63"/>
    <p:sldId id="471" r:id="rId64"/>
    <p:sldId id="472" r:id="rId65"/>
    <p:sldId id="475" r:id="rId66"/>
    <p:sldId id="474" r:id="rId67"/>
    <p:sldId id="478" r:id="rId68"/>
    <p:sldId id="490" r:id="rId69"/>
    <p:sldId id="438" r:id="rId70"/>
    <p:sldId id="443" r:id="rId71"/>
    <p:sldId id="446" r:id="rId72"/>
    <p:sldId id="447" r:id="rId73"/>
    <p:sldId id="448" r:id="rId74"/>
    <p:sldId id="458" r:id="rId75"/>
    <p:sldId id="459" r:id="rId76"/>
    <p:sldId id="479" r:id="rId7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15/03/2026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15/03/2026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15/03/2026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49.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0.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7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74.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75.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7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154804"/>
            <a:ext cx="11353800" cy="1703195"/>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aprende </a:t>
            </a:r>
            <a:r>
              <a:rPr lang="pt-BR" dirty="0"/>
              <a:t>os valores de </a:t>
            </a:r>
            <a:r>
              <a:rPr lang="pt-BR" b="1" dirty="0">
                <a:solidFill>
                  <a:srgbClr val="00B050"/>
                </a:solidFill>
              </a:rPr>
              <a:t>filtros de convolução</a:t>
            </a:r>
            <a:r>
              <a:rPr lang="pt-BR" dirty="0">
                <a:solidFill>
                  <a:srgbClr val="00B050"/>
                </a:solidFill>
              </a:rPr>
              <a:t> </a:t>
            </a:r>
            <a:r>
              <a:rPr lang="pt-BR" dirty="0"/>
              <a:t>(ou apenas </a:t>
            </a:r>
            <a:r>
              <a:rPr lang="pt-BR" b="1" dirty="0"/>
              <a:t>filtros</a:t>
            </a:r>
            <a:r>
              <a:rPr lang="pt-BR" dirty="0"/>
              <a:t>, mas também chamados de </a:t>
            </a:r>
            <a:r>
              <a:rPr lang="pt-BR" b="1" i="1" dirty="0"/>
              <a:t>kernels</a:t>
            </a:r>
            <a:r>
              <a:rPr lang="pt-BR" dirty="0"/>
              <a:t>).</a:t>
            </a:r>
          </a:p>
          <a:p>
            <a:pPr lvl="1">
              <a:buFont typeface="Wingdings" panose="05000000000000000000" pitchFamily="2" charset="2"/>
              <a:buChar char="§"/>
            </a:pPr>
            <a:r>
              <a:rPr lang="pt-BR" dirty="0"/>
              <a:t>Esses filtros são muito eficientes em “compreender”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396720"/>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err="1"/>
              <a:t>DNNs</a:t>
            </a:r>
            <a:r>
              <a:rPr lang="pt-BR" dirty="0"/>
              <a:t> </a:t>
            </a:r>
            <a:r>
              <a:rPr lang="pt-BR" b="1" dirty="0">
                <a:solidFill>
                  <a:srgbClr val="7030A0"/>
                </a:solidFill>
              </a:rPr>
              <a:t>não levam em consideração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42103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Correlações</a:t>
            </a:r>
            <a:r>
              <a:rPr lang="en-US" dirty="0"/>
              <a:t> </a:t>
            </a:r>
            <a:r>
              <a:rPr lang="en-US" dirty="0" err="1"/>
              <a:t>locais</a:t>
            </a:r>
            <a:r>
              <a:rPr lang="en-US" dirty="0"/>
              <a:t> entre </a:t>
            </a:r>
            <a:r>
              <a:rPr lang="en-US" i="1" dirty="0"/>
              <a:t>pixels</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reconhecimento de </a:t>
            </a:r>
            <a:r>
              <a:rPr lang="pt-BR" b="1" dirty="0">
                <a:solidFill>
                  <a:srgbClr val="00B050"/>
                </a:solidFill>
              </a:rPr>
              <a:t>imagens e objetos</a:t>
            </a:r>
            <a:r>
              <a:rPr lang="pt-BR" dirty="0"/>
              <a:t> que são </a:t>
            </a:r>
            <a:r>
              <a:rPr lang="pt-BR" b="1" dirty="0">
                <a:solidFill>
                  <a:srgbClr val="00B050"/>
                </a:solidFill>
              </a:rPr>
              <a:t>dominados</a:t>
            </a:r>
            <a:r>
              <a:rPr lang="pt-BR" dirty="0"/>
              <a:t> por </a:t>
            </a:r>
            <a:r>
              <a:rPr lang="pt-BR" b="1" dirty="0">
                <a:solidFill>
                  <a:srgbClr val="7030A0"/>
                </a:solidFill>
              </a:rPr>
              <a:t>padrões espacialmente locais</a:t>
            </a:r>
            <a:r>
              <a:rPr lang="pt-BR" dirty="0"/>
              <a:t>.</a:t>
            </a:r>
          </a:p>
          <a:p>
            <a:pPr marL="0" indent="0">
              <a:buNone/>
            </a:pPr>
            <a:endParaRPr lang="pt-BR" dirty="0"/>
          </a:p>
          <a:p>
            <a:pPr marL="0" indent="0" algn="ctr">
              <a:buNone/>
            </a:pPr>
            <a:r>
              <a:rPr lang="pt-BR" b="1" dirty="0">
                <a:solidFill>
                  <a:schemeClr val="accent5"/>
                </a:solidFill>
              </a:rPr>
              <a:t>Precisamos de redes mais eficientes e que levem em conta a localidade espacial dos dados.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29C7-67C9-8174-8129-0BBA674327C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3FEE3B61-3623-02AB-736C-65EA98218560}"/>
              </a:ext>
            </a:extLst>
          </p:cNvPr>
          <p:cNvSpPr>
            <a:spLocks noGrp="1"/>
          </p:cNvSpPr>
          <p:nvPr>
            <p:ph idx="1"/>
          </p:nvPr>
        </p:nvSpPr>
        <p:spPr/>
        <p:txBody>
          <a:bodyPr>
            <a:normAutofit/>
          </a:bodyPr>
          <a:lstStyle/>
          <a:p>
            <a:r>
              <a:rPr lang="pt-BR" sz="7200" b="1" dirty="0">
                <a:solidFill>
                  <a:srgbClr val="FF0000"/>
                </a:solidFill>
              </a:rPr>
              <a:t>PAREI AQUI!!!!!</a:t>
            </a:r>
            <a:endParaRPr lang="en-US" sz="7200" b="1" dirty="0">
              <a:solidFill>
                <a:srgbClr val="FF0000"/>
              </a:solidFill>
            </a:endParaRPr>
          </a:p>
        </p:txBody>
      </p:sp>
    </p:spTree>
    <p:extLst>
      <p:ext uri="{BB962C8B-B14F-4D97-AF65-F5344CB8AC3E}">
        <p14:creationId xmlns:p14="http://schemas.microsoft.com/office/powerpoint/2010/main" val="2069479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3490655" y="1825624"/>
            <a:ext cx="8701346" cy="5032375"/>
          </a:xfrm>
        </p:spPr>
        <p:txBody>
          <a:bodyPr>
            <a:normAutofit lnSpcReduction="10000"/>
          </a:bodyPr>
          <a:lstStyle/>
          <a:p>
            <a:r>
              <a:rPr lang="pt-BR" i="1" dirty="0" err="1"/>
              <a:t>Convolutional</a:t>
            </a:r>
            <a:r>
              <a:rPr lang="pt-BR" i="1" dirty="0"/>
              <a:t> neural networks</a:t>
            </a:r>
            <a:r>
              <a:rPr lang="pt-BR" dirty="0"/>
              <a:t> (</a:t>
            </a:r>
            <a:r>
              <a:rPr lang="pt-BR" dirty="0" err="1"/>
              <a:t>CNNs</a:t>
            </a:r>
            <a:r>
              <a:rPr lang="pt-BR" dirty="0"/>
              <a:t>) exploram as propriedades naturais das imagens:</a:t>
            </a:r>
          </a:p>
          <a:p>
            <a:pPr lvl="1">
              <a:buFont typeface="Wingdings" panose="05000000000000000000" pitchFamily="2" charset="2"/>
              <a:buChar char="§"/>
            </a:pPr>
            <a:r>
              <a:rPr lang="pt-BR" b="1" dirty="0"/>
              <a:t>Localidade: </a:t>
            </a:r>
            <a:r>
              <a:rPr lang="en-US" i="1" dirty="0"/>
              <a:t>pixels</a:t>
            </a:r>
            <a:r>
              <a:rPr lang="en-US" dirty="0"/>
              <a:t> </a:t>
            </a:r>
            <a:r>
              <a:rPr lang="en-US" dirty="0" err="1"/>
              <a:t>próximos</a:t>
            </a:r>
            <a:r>
              <a:rPr lang="en-US" dirty="0"/>
              <a:t> </a:t>
            </a:r>
            <a:r>
              <a:rPr lang="en-US" dirty="0" err="1"/>
              <a:t>são</a:t>
            </a:r>
            <a:r>
              <a:rPr lang="en-US" dirty="0"/>
              <a:t> </a:t>
            </a:r>
            <a:r>
              <a:rPr lang="en-US" dirty="0" err="1"/>
              <a:t>relacionados</a:t>
            </a:r>
            <a:r>
              <a:rPr lang="en-US" dirty="0"/>
              <a:t>.</a:t>
            </a:r>
          </a:p>
          <a:p>
            <a:pPr lvl="2">
              <a:buFont typeface="Wingdings" panose="05000000000000000000" pitchFamily="2" charset="2"/>
              <a:buChar char="§"/>
            </a:pPr>
            <a:r>
              <a:rPr lang="en-US" i="1" dirty="0"/>
              <a:t>pixels</a:t>
            </a:r>
            <a:r>
              <a:rPr lang="en-US" dirty="0"/>
              <a:t> dos </a:t>
            </a:r>
            <a:r>
              <a:rPr lang="en-US" dirty="0" err="1"/>
              <a:t>olhos</a:t>
            </a:r>
            <a:r>
              <a:rPr lang="en-US" dirty="0"/>
              <a:t>.</a:t>
            </a:r>
            <a:endParaRPr lang="pt-BR" dirty="0"/>
          </a:p>
          <a:p>
            <a:pPr lvl="1">
              <a:buFont typeface="Wingdings" panose="05000000000000000000" pitchFamily="2" charset="2"/>
              <a:buChar char="§"/>
            </a:pPr>
            <a:r>
              <a:rPr lang="pt-BR" b="1" dirty="0" err="1"/>
              <a:t>Estacionariedade</a:t>
            </a:r>
            <a:r>
              <a:rPr lang="pt-BR" b="1" dirty="0"/>
              <a:t>:</a:t>
            </a:r>
            <a:r>
              <a:rPr lang="pt-BR" dirty="0"/>
              <a:t> o mesmo padrão pode aparecer em qualquer posição da imagem.</a:t>
            </a:r>
          </a:p>
          <a:p>
            <a:pPr lvl="2">
              <a:buFont typeface="Wingdings" panose="05000000000000000000" pitchFamily="2" charset="2"/>
              <a:buChar char="§"/>
            </a:pPr>
            <a:r>
              <a:rPr lang="pt-BR" dirty="0"/>
              <a:t>olhos, orelhas e patas.</a:t>
            </a:r>
          </a:p>
          <a:p>
            <a:pPr lvl="1">
              <a:buFont typeface="Wingdings" panose="05000000000000000000" pitchFamily="2" charset="2"/>
              <a:buChar char="§"/>
            </a:pPr>
            <a:r>
              <a:rPr lang="pt-BR" b="1" dirty="0"/>
              <a:t>Composição hierárquica de padrões: </a:t>
            </a:r>
            <a:r>
              <a:rPr lang="pt-BR" dirty="0"/>
              <a:t>padrões simples formam padrões complexos.</a:t>
            </a:r>
          </a:p>
          <a:p>
            <a:pPr lvl="2">
              <a:buFont typeface="Courier New" panose="02070309020205020404" pitchFamily="49" charset="0"/>
              <a:buChar char="o"/>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a:t>
            </a:r>
            <a:r>
              <a:rPr lang="en-US" dirty="0" err="1"/>
              <a:t>borda</a:t>
            </a:r>
            <a:r>
              <a:rPr lang="en-US" dirty="0"/>
              <a:t> do </a:t>
            </a:r>
            <a:r>
              <a:rPr lang="en-US" dirty="0" err="1"/>
              <a:t>olho</a:t>
            </a:r>
            <a:endParaRPr lang="en-US" dirty="0"/>
          </a:p>
          <a:p>
            <a:pPr lvl="2">
              <a:buFont typeface="Courier New" panose="02070309020205020404" pitchFamily="49" charset="0"/>
              <a:buChar char="o"/>
            </a:pPr>
            <a:r>
              <a:rPr lang="en-US" dirty="0" err="1"/>
              <a:t>Intermediários</a:t>
            </a:r>
            <a:r>
              <a:rPr lang="en-US" dirty="0"/>
              <a:t>: </a:t>
            </a:r>
            <a:r>
              <a:rPr lang="pt-BR" dirty="0"/>
              <a:t>curva da orelha, forma triangular do nariz</a:t>
            </a:r>
          </a:p>
          <a:p>
            <a:pPr lvl="2">
              <a:buFont typeface="Courier New" panose="02070309020205020404" pitchFamily="49" charset="0"/>
              <a:buChar char="o"/>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2">
              <a:buFont typeface="Courier New" panose="02070309020205020404" pitchFamily="49" charset="0"/>
              <a:buChar char="o"/>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2">
              <a:buFont typeface="Courier New" panose="02070309020205020404" pitchFamily="49" charset="0"/>
              <a:buChar char="o"/>
            </a:pPr>
            <a:r>
              <a:rPr lang="en-US" dirty="0" err="1"/>
              <a:t>Objeto</a:t>
            </a:r>
            <a:r>
              <a:rPr lang="en-US" dirty="0"/>
              <a:t> </a:t>
            </a:r>
            <a:r>
              <a:rPr lang="en-US" dirty="0" err="1"/>
              <a:t>completo</a:t>
            </a:r>
            <a:r>
              <a:rPr lang="en-US" dirty="0"/>
              <a:t>: </a:t>
            </a:r>
            <a:r>
              <a:rPr lang="pt-BR" dirty="0"/>
              <a:t>bordas → texturas → partes → cabeça/corpo → gato</a:t>
            </a:r>
          </a:p>
        </p:txBody>
      </p:sp>
      <p:grpSp>
        <p:nvGrpSpPr>
          <p:cNvPr id="4" name="Agrupar 3">
            <a:extLst>
              <a:ext uri="{FF2B5EF4-FFF2-40B4-BE49-F238E27FC236}">
                <a16:creationId xmlns:a16="http://schemas.microsoft.com/office/drawing/2014/main" id="{FB02F6FF-5852-DDDB-71C2-509748369825}"/>
              </a:ext>
            </a:extLst>
          </p:cNvPr>
          <p:cNvGrpSpPr/>
          <p:nvPr/>
        </p:nvGrpSpPr>
        <p:grpSpPr>
          <a:xfrm>
            <a:off x="322338" y="2273706"/>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0C0DA5B6-3B4A-5C05-0BA0-F66EECEAC40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5DA9F9C7-24C6-A91C-7977-227364936C4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9D8D98FA-BE5A-8DF3-BD23-56A06A411504}"/>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4B838A2B-6DCB-82F9-A069-DFE17FC1638F}"/>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4AA84223-3A9F-160E-863E-D13CA8BACFA4}"/>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3A50ABF1-F5A3-8C68-5C74-99D0458BD680}"/>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7818758D-9DFE-C47D-195D-22A77F46AE2E}"/>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C71078CE-FE0A-77C2-AD7C-69F161EEB60F}"/>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62068C11-E1EF-9F2E-DA67-E5BA1C078DD0}"/>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D91C1800-F2E0-5D64-232E-E49BA5C3EE4C}"/>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p:txBody>
          <a:bodyPr>
            <a:normAutofit fontScale="25000" lnSpcReduction="20000"/>
          </a:bodyPr>
          <a:lstStyle/>
          <a:p>
            <a:r>
              <a:rPr lang="pt-BR" b="1" dirty="0"/>
              <a:t>1️⃣ Localidade (</a:t>
            </a:r>
            <a:r>
              <a:rPr lang="pt-BR" b="1" dirty="0" err="1"/>
              <a:t>Locality</a:t>
            </a:r>
            <a:r>
              <a:rPr lang="pt-BR" b="1" dirty="0"/>
              <a:t>)</a:t>
            </a:r>
          </a:p>
          <a:p>
            <a:r>
              <a:rPr lang="pt-BR" dirty="0"/>
              <a:t>A propriedade de </a:t>
            </a:r>
            <a:r>
              <a:rPr lang="pt-BR" b="1" dirty="0"/>
              <a:t>localidade</a:t>
            </a:r>
            <a:r>
              <a:rPr lang="pt-BR" dirty="0"/>
              <a:t> diz que:</a:t>
            </a:r>
          </a:p>
          <a:p>
            <a:r>
              <a:rPr lang="pt-BR" b="1" dirty="0"/>
              <a:t>pixels próximos em uma imagem tendem a estar correlacionados.</a:t>
            </a:r>
            <a:endParaRPr lang="pt-BR" dirty="0"/>
          </a:p>
          <a:p>
            <a:r>
              <a:rPr lang="pt-BR" dirty="0"/>
              <a:t>Por exemplo:</a:t>
            </a:r>
          </a:p>
          <a:p>
            <a:r>
              <a:rPr lang="pt-BR" dirty="0"/>
              <a:t>pixels vizinhos em uma região de céu têm cores parecidas</a:t>
            </a:r>
          </a:p>
          <a:p>
            <a:r>
              <a:rPr lang="pt-BR" dirty="0"/>
              <a:t>pixels de uma borda formam um </a:t>
            </a:r>
            <a:r>
              <a:rPr lang="pt-BR" b="1" dirty="0"/>
              <a:t>padrão local</a:t>
            </a:r>
            <a:endParaRPr lang="pt-BR" dirty="0"/>
          </a:p>
          <a:p>
            <a:r>
              <a:rPr lang="pt-BR" dirty="0"/>
              <a:t>Ou seja, </a:t>
            </a:r>
            <a:r>
              <a:rPr lang="pt-BR" b="1" dirty="0"/>
              <a:t>a maior parte da informação visual está em pequenas regiões da imagem</a:t>
            </a:r>
            <a:r>
              <a:rPr lang="pt-BR" dirty="0"/>
              <a:t>. </a:t>
            </a:r>
          </a:p>
          <a:p>
            <a:r>
              <a:rPr lang="pt-BR" b="1" dirty="0"/>
              <a:t>Como as </a:t>
            </a:r>
            <a:r>
              <a:rPr lang="pt-BR" b="1" dirty="0" err="1"/>
              <a:t>CNNs</a:t>
            </a:r>
            <a:r>
              <a:rPr lang="pt-BR" b="1" dirty="0"/>
              <a:t> exploram isso</a:t>
            </a:r>
          </a:p>
          <a:p>
            <a:r>
              <a:rPr lang="pt-BR" dirty="0"/>
              <a:t>Em vez de conectar cada neurônio a </a:t>
            </a:r>
            <a:r>
              <a:rPr lang="pt-BR" b="1" dirty="0"/>
              <a:t>todos os pixels</a:t>
            </a:r>
            <a:r>
              <a:rPr lang="pt-BR" dirty="0"/>
              <a:t>, as </a:t>
            </a:r>
            <a:r>
              <a:rPr lang="pt-BR" dirty="0" err="1"/>
              <a:t>CNNs</a:t>
            </a:r>
            <a:r>
              <a:rPr lang="pt-BR" dirty="0"/>
              <a:t> usam </a:t>
            </a:r>
            <a:r>
              <a:rPr lang="pt-BR" b="1" dirty="0"/>
              <a:t>filtros pequenos</a:t>
            </a:r>
            <a:r>
              <a:rPr lang="pt-BR" dirty="0"/>
              <a:t> (por exemplo 3×3 ou 5×5).</a:t>
            </a:r>
          </a:p>
          <a:p>
            <a:r>
              <a:rPr lang="pt-BR" dirty="0"/>
              <a:t>Cada neurônio olha apenas para uma </a:t>
            </a:r>
            <a:r>
              <a:rPr lang="pt-BR" b="1" dirty="0"/>
              <a:t>pequena região da imagem</a:t>
            </a:r>
            <a:r>
              <a:rPr lang="pt-BR" dirty="0"/>
              <a:t>, chamada:</a:t>
            </a:r>
          </a:p>
          <a:p>
            <a:r>
              <a:rPr lang="pt-BR" b="1" dirty="0"/>
              <a:t>campo receptivo (</a:t>
            </a:r>
            <a:r>
              <a:rPr lang="pt-BR" b="1" dirty="0" err="1"/>
              <a:t>receptive</a:t>
            </a:r>
            <a:r>
              <a:rPr lang="pt-BR" b="1" dirty="0"/>
              <a:t> </a:t>
            </a:r>
            <a:r>
              <a:rPr lang="pt-BR" b="1" dirty="0" err="1"/>
              <a:t>field</a:t>
            </a:r>
            <a:r>
              <a:rPr lang="pt-BR" b="1" dirty="0"/>
              <a:t>)</a:t>
            </a:r>
            <a:r>
              <a:rPr lang="pt-BR" dirty="0"/>
              <a:t>.</a:t>
            </a:r>
          </a:p>
          <a:p>
            <a:r>
              <a:rPr lang="pt-BR" dirty="0"/>
              <a:t>Isso permite detectar padrões locais como:</a:t>
            </a:r>
          </a:p>
          <a:p>
            <a:r>
              <a:rPr lang="pt-BR" dirty="0"/>
              <a:t>bordas</a:t>
            </a:r>
          </a:p>
          <a:p>
            <a:r>
              <a:rPr lang="pt-BR" dirty="0"/>
              <a:t>cantos</a:t>
            </a:r>
          </a:p>
          <a:p>
            <a:r>
              <a:rPr lang="pt-BR" dirty="0"/>
              <a:t>texturas</a:t>
            </a:r>
          </a:p>
          <a:p>
            <a:br>
              <a:rPr lang="pt-BR" dirty="0"/>
            </a:br>
            <a:endParaRPr lang="pt-BR" dirty="0"/>
          </a:p>
          <a:p>
            <a:r>
              <a:rPr lang="pt-BR" b="1" dirty="0"/>
              <a:t>2️⃣ </a:t>
            </a:r>
            <a:r>
              <a:rPr lang="pt-BR" b="1" dirty="0" err="1"/>
              <a:t>Estacionariedade</a:t>
            </a:r>
            <a:r>
              <a:rPr lang="pt-BR" b="1" dirty="0"/>
              <a:t> (</a:t>
            </a:r>
            <a:r>
              <a:rPr lang="pt-BR" b="1" dirty="0" err="1"/>
              <a:t>Stationarity</a:t>
            </a:r>
            <a:r>
              <a:rPr lang="pt-BR" b="1" dirty="0"/>
              <a:t>)</a:t>
            </a:r>
          </a:p>
          <a:p>
            <a:r>
              <a:rPr lang="pt-BR" dirty="0"/>
              <a:t>A </a:t>
            </a:r>
            <a:r>
              <a:rPr lang="pt-BR" b="1" dirty="0" err="1"/>
              <a:t>estacionariedade</a:t>
            </a:r>
            <a:r>
              <a:rPr lang="pt-BR" dirty="0"/>
              <a:t> significa que:</a:t>
            </a:r>
          </a:p>
          <a:p>
            <a:r>
              <a:rPr lang="pt-BR" b="1" dirty="0"/>
              <a:t>o mesmo padrão pode aparecer em qualquer posição da imagem</a:t>
            </a:r>
            <a:r>
              <a:rPr lang="pt-BR" dirty="0"/>
              <a:t>. </a:t>
            </a:r>
          </a:p>
          <a:p>
            <a:r>
              <a:rPr lang="pt-BR" dirty="0"/>
              <a:t>Por exemplo:</a:t>
            </a:r>
          </a:p>
          <a:p>
            <a:r>
              <a:rPr lang="pt-BR" dirty="0"/>
              <a:t>uma borda pode aparecer </a:t>
            </a:r>
            <a:r>
              <a:rPr lang="pt-BR" b="1" dirty="0"/>
              <a:t>em qualquer lugar</a:t>
            </a:r>
            <a:endParaRPr lang="pt-BR" dirty="0"/>
          </a:p>
          <a:p>
            <a:r>
              <a:rPr lang="pt-BR" dirty="0"/>
              <a:t>um olho pode aparecer </a:t>
            </a:r>
            <a:r>
              <a:rPr lang="pt-BR" b="1" dirty="0"/>
              <a:t>em diferentes regiões da imagem</a:t>
            </a:r>
            <a:endParaRPr lang="pt-BR" dirty="0"/>
          </a:p>
          <a:p>
            <a:r>
              <a:rPr lang="pt-BR" dirty="0"/>
              <a:t>uma roda pode aparecer </a:t>
            </a:r>
            <a:r>
              <a:rPr lang="pt-BR" b="1" dirty="0"/>
              <a:t>em qualquer posição do carro</a:t>
            </a:r>
            <a:endParaRPr lang="pt-BR" dirty="0"/>
          </a:p>
          <a:p>
            <a:r>
              <a:rPr lang="pt-BR" b="1" dirty="0"/>
              <a:t>Como as </a:t>
            </a:r>
            <a:r>
              <a:rPr lang="pt-BR" b="1" dirty="0" err="1"/>
              <a:t>CNNs</a:t>
            </a:r>
            <a:r>
              <a:rPr lang="pt-BR" b="1" dirty="0"/>
              <a:t> exploram isso</a:t>
            </a:r>
          </a:p>
          <a:p>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r>
              <a:rPr lang="pt-BR" dirty="0"/>
              <a:t>o </a:t>
            </a:r>
            <a:r>
              <a:rPr lang="pt-BR" b="1" dirty="0"/>
              <a:t>mesmo filtro</a:t>
            </a:r>
            <a:r>
              <a:rPr lang="pt-BR" dirty="0"/>
              <a:t> é aplicado em toda a imagem.</a:t>
            </a:r>
          </a:p>
          <a:p>
            <a:r>
              <a:rPr lang="pt-BR" dirty="0"/>
              <a:t>Ou seja:</a:t>
            </a:r>
          </a:p>
          <a:p>
            <a:r>
              <a:rPr lang="pt-BR" dirty="0"/>
              <a:t>o detector de borda é </a:t>
            </a:r>
            <a:r>
              <a:rPr lang="pt-BR" b="1" dirty="0"/>
              <a:t>o mesmo para todas as posições</a:t>
            </a:r>
            <a:r>
              <a:rPr lang="pt-BR" dirty="0"/>
              <a:t>.</a:t>
            </a:r>
          </a:p>
          <a:p>
            <a:r>
              <a:rPr lang="pt-BR" dirty="0"/>
              <a:t>Isso traz duas vantagens enormes:</a:t>
            </a:r>
          </a:p>
          <a:p>
            <a:r>
              <a:rPr lang="pt-BR" dirty="0"/>
              <a:t>1️⃣ muito menos parâmetros</a:t>
            </a:r>
            <a:br>
              <a:rPr lang="pt-BR" dirty="0"/>
            </a:br>
            <a:r>
              <a:rPr lang="pt-BR" dirty="0"/>
              <a:t>2️⃣ capacidade de detectar o mesmo padrão em qualquer posição</a:t>
            </a:r>
          </a:p>
          <a:p>
            <a:endParaRPr lang="en-US" dirty="0"/>
          </a:p>
        </p:txBody>
      </p:sp>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0EDBC-3389-9641-AF93-3E83AD2C09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92E380-6459-8F71-599A-5F1F961A772D}"/>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46B5E3F6-4362-8A30-2057-BAADED436B46}"/>
              </a:ext>
            </a:extLst>
          </p:cNvPr>
          <p:cNvSpPr>
            <a:spLocks noGrp="1"/>
          </p:cNvSpPr>
          <p:nvPr>
            <p:ph idx="1"/>
          </p:nvPr>
        </p:nvSpPr>
        <p:spPr>
          <a:xfrm>
            <a:off x="838200" y="1825624"/>
            <a:ext cx="11353800" cy="5032375"/>
          </a:xfrm>
        </p:spPr>
        <p:txBody>
          <a:bodyPr/>
          <a:lstStyle/>
          <a:p>
            <a:r>
              <a:rPr lang="pt-BR" dirty="0" err="1"/>
              <a:t>CNNs</a:t>
            </a:r>
            <a:r>
              <a:rPr lang="pt-BR" dirty="0"/>
              <a:t> aprendem representações hierárquicas dos padrões da imagem.</a:t>
            </a:r>
          </a:p>
          <a:p>
            <a:r>
              <a:rPr lang="pt-BR" dirty="0"/>
              <a:t>Além disso, existe o </a:t>
            </a:r>
            <a:r>
              <a:rPr lang="en-US" dirty="0" err="1"/>
              <a:t>compartilhamento</a:t>
            </a:r>
            <a:r>
              <a:rPr lang="en-US" dirty="0"/>
              <a:t> de pesos, </a:t>
            </a:r>
            <a:r>
              <a:rPr lang="en-US" dirty="0" err="1"/>
              <a:t>que</a:t>
            </a:r>
            <a:r>
              <a:rPr lang="en-US" dirty="0"/>
              <a:t> </a:t>
            </a:r>
            <a:r>
              <a:rPr lang="pt-BR" dirty="0"/>
              <a:t>reduz drasticamente o número de pesos e melhora a generalização (modelo menor, menos risco de </a:t>
            </a:r>
            <a:r>
              <a:rPr lang="pt-BR" i="1" dirty="0" err="1"/>
              <a:t>overfitting</a:t>
            </a:r>
            <a:r>
              <a:rPr lang="pt-BR" dirty="0"/>
              <a:t>).</a:t>
            </a:r>
          </a:p>
          <a:p>
            <a:pPr lvl="1"/>
            <a:r>
              <a:rPr lang="pt-BR" b="1" dirty="0"/>
              <a:t>Como as </a:t>
            </a:r>
            <a:r>
              <a:rPr lang="pt-BR" b="1" dirty="0" err="1"/>
              <a:t>CNNs</a:t>
            </a:r>
            <a:r>
              <a:rPr lang="pt-BR" b="1" dirty="0"/>
              <a:t> exploram isso</a:t>
            </a:r>
          </a:p>
          <a:p>
            <a:pPr lvl="1"/>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pPr lvl="1"/>
            <a:r>
              <a:rPr lang="pt-BR" dirty="0"/>
              <a:t>o </a:t>
            </a:r>
            <a:r>
              <a:rPr lang="pt-BR" b="1" dirty="0"/>
              <a:t>mesmo filtro</a:t>
            </a:r>
            <a:r>
              <a:rPr lang="pt-BR" dirty="0"/>
              <a:t> é aplicado em toda a imagem.</a:t>
            </a:r>
          </a:p>
          <a:p>
            <a:endParaRPr lang="pt-BR" dirty="0"/>
          </a:p>
          <a:p>
            <a:endParaRPr lang="en-US" dirty="0"/>
          </a:p>
        </p:txBody>
      </p:sp>
    </p:spTree>
    <p:extLst>
      <p:ext uri="{BB962C8B-B14F-4D97-AF65-F5344CB8AC3E}">
        <p14:creationId xmlns:p14="http://schemas.microsoft.com/office/powerpoint/2010/main" val="15177953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CA522-CA71-CBFD-EC99-4725C4DD3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B79F787-5315-FBF6-A0E4-34883636131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58032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5A6D1-BBED-5F7A-9226-B0448DACB9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14885D2-AE8E-18D1-4A2B-7D6007931A1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127038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74D49-B499-19F5-FE0F-B9039404F7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53A8F1-D6F8-F152-1E7E-04AE245609D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164238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dirty="0"/>
              <a:t>filtros de convolução</a:t>
            </a:r>
            <a:r>
              <a:rPr lang="pt-BR" dirty="0"/>
              <a:t> pode nos ajudar a </a:t>
            </a:r>
            <a:r>
              <a:rPr lang="pt-BR" dirty="0">
                <a:highlight>
                  <a:srgbClr val="FFFF00"/>
                </a:highlight>
              </a:rPr>
              <a:t>resolver esse problema. QUE PROBLE? REESCREVER!!!!!!</a:t>
            </a:r>
          </a:p>
          <a:p>
            <a:r>
              <a:rPr lang="pt-BR" dirty="0"/>
              <a:t>Os </a:t>
            </a:r>
            <a:r>
              <a:rPr lang="pt-BR" b="1" dirty="0"/>
              <a:t>filtros</a:t>
            </a:r>
            <a:r>
              <a:rPr lang="pt-BR" dirty="0"/>
              <a:t> podem ser </a:t>
            </a:r>
            <a:r>
              <a:rPr lang="pt-BR" b="1" dirty="0">
                <a:solidFill>
                  <a:srgbClr val="00B050"/>
                </a:solidFill>
              </a:rPr>
              <a:t>treinados para detectar características locais </a:t>
            </a:r>
            <a:r>
              <a:rPr lang="pt-BR" dirty="0"/>
              <a:t>que </a:t>
            </a:r>
            <a:r>
              <a:rPr lang="pt-BR" b="1" dirty="0">
                <a:solidFill>
                  <a:srgbClr val="7030A0"/>
                </a:solidFill>
              </a:rPr>
              <a:t>diferenciam pessoas de cavalos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Cores básicas e canais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5465851" y="1825624"/>
            <a:ext cx="6596009" cy="5032375"/>
          </a:xfrm>
        </p:spPr>
        <p:txBody>
          <a:bodyPr>
            <a:normAutofit lnSpcReduction="10000"/>
          </a:bodyPr>
          <a:lstStyle/>
          <a:p>
            <a:r>
              <a:rPr lang="pt-BR" dirty="0"/>
              <a:t>Antes de falarmos sobre convolução, vamos falar sobre </a:t>
            </a:r>
            <a:r>
              <a:rPr lang="pt-BR" b="1" i="1" dirty="0">
                <a:solidFill>
                  <a:srgbClr val="00B050"/>
                </a:solidFill>
              </a:rPr>
              <a:t>cores</a:t>
            </a:r>
            <a:r>
              <a:rPr lang="pt-BR" dirty="0"/>
              <a:t> (ou </a:t>
            </a:r>
            <a:r>
              <a:rPr lang="pt-BR" b="1" i="1" dirty="0">
                <a:solidFill>
                  <a:srgbClr val="00B050"/>
                </a:solidFill>
              </a:rPr>
              <a:t>canais</a:t>
            </a:r>
            <a:r>
              <a:rPr lang="pt-BR" dirty="0"/>
              <a:t>).</a:t>
            </a:r>
          </a:p>
          <a:p>
            <a:r>
              <a:rPr lang="pt-BR" dirty="0"/>
              <a:t>Até agora, ignoramos que imagens, em geral, consistem em três canais: vermelho (R), verde (G) e azul (B).</a:t>
            </a:r>
          </a:p>
          <a:p>
            <a:r>
              <a:rPr lang="pt-BR" dirty="0"/>
              <a:t>Imagens coloridas têm canais RGB para indicar a </a:t>
            </a:r>
            <a:r>
              <a:rPr lang="pt-BR" b="1" i="1" dirty="0">
                <a:solidFill>
                  <a:srgbClr val="00B050"/>
                </a:solidFill>
              </a:rPr>
              <a:t>quantidade de vermelho, verde e azul</a:t>
            </a:r>
            <a:r>
              <a:rPr lang="pt-BR" dirty="0"/>
              <a:t>.</a:t>
            </a:r>
          </a:p>
          <a:p>
            <a:r>
              <a:rPr lang="pt-BR" dirty="0"/>
              <a:t>Em suma, as </a:t>
            </a:r>
            <a:r>
              <a:rPr lang="pt-BR" b="1" i="1" dirty="0">
                <a:solidFill>
                  <a:srgbClr val="00B050"/>
                </a:solidFill>
              </a:rPr>
              <a:t>imagens não são</a:t>
            </a:r>
            <a:r>
              <a:rPr lang="pt-BR" dirty="0"/>
              <a:t>, em geral, </a:t>
            </a:r>
            <a:r>
              <a:rPr lang="pt-BR" b="1" i="1" dirty="0">
                <a:solidFill>
                  <a:srgbClr val="00B050"/>
                </a:solidFill>
              </a:rPr>
              <a:t>objetos bidimensionais</a:t>
            </a:r>
            <a:r>
              <a:rPr lang="pt-BR" dirty="0"/>
              <a:t>, mas sim </a:t>
            </a:r>
            <a:r>
              <a:rPr lang="pt-BR" b="1" i="1" dirty="0">
                <a:solidFill>
                  <a:srgbClr val="00B050"/>
                </a:solidFill>
              </a:rPr>
              <a:t>tensores de três dimensões</a:t>
            </a:r>
            <a:r>
              <a:rPr lang="pt-BR" dirty="0"/>
              <a:t>, caracterizados por </a:t>
            </a:r>
            <a:r>
              <a:rPr lang="pt-BR" b="1" i="1" dirty="0">
                <a:solidFill>
                  <a:srgbClr val="7030A0"/>
                </a:solidFill>
              </a:rPr>
              <a:t>altura</a:t>
            </a:r>
            <a:r>
              <a:rPr lang="pt-BR" dirty="0"/>
              <a:t>, </a:t>
            </a:r>
            <a:r>
              <a:rPr lang="pt-BR" b="1" i="1" dirty="0">
                <a:solidFill>
                  <a:srgbClr val="7030A0"/>
                </a:solidFill>
              </a:rPr>
              <a:t>largura</a:t>
            </a:r>
            <a:r>
              <a:rPr lang="pt-BR" dirty="0"/>
              <a:t> e </a:t>
            </a:r>
            <a:r>
              <a:rPr lang="pt-BR" b="1" i="1" dirty="0">
                <a:solidFill>
                  <a:srgbClr val="7030A0"/>
                </a:solidFill>
              </a:rPr>
              <a:t>canal</a:t>
            </a:r>
            <a:r>
              <a:rPr lang="pt-BR" dirty="0"/>
              <a:t>.</a:t>
            </a:r>
          </a:p>
          <a:p>
            <a:endParaRPr lang="pt-BR" dirty="0"/>
          </a:p>
        </p:txBody>
      </p:sp>
      <p:pic>
        <p:nvPicPr>
          <p:cNvPr id="4" name="Imagem 3">
            <a:extLst>
              <a:ext uri="{FF2B5EF4-FFF2-40B4-BE49-F238E27FC236}">
                <a16:creationId xmlns:a16="http://schemas.microsoft.com/office/drawing/2014/main" id="{BF5FDCF5-FA6A-E9B1-8E1D-A0544C66B1B8}"/>
              </a:ext>
            </a:extLst>
          </p:cNvPr>
          <p:cNvPicPr>
            <a:picLocks noChangeAspect="1"/>
          </p:cNvPicPr>
          <p:nvPr/>
        </p:nvPicPr>
        <p:blipFill>
          <a:blip r:embed="rId3"/>
          <a:stretch>
            <a:fillRect/>
          </a:stretch>
        </p:blipFill>
        <p:spPr>
          <a:xfrm>
            <a:off x="517959" y="1959188"/>
            <a:ext cx="2124027" cy="2156490"/>
          </a:xfrm>
          <a:prstGeom prst="rect">
            <a:avLst/>
          </a:prstGeom>
        </p:spPr>
      </p:pic>
      <p:pic>
        <p:nvPicPr>
          <p:cNvPr id="5" name="Imagem 4">
            <a:extLst>
              <a:ext uri="{FF2B5EF4-FFF2-40B4-BE49-F238E27FC236}">
                <a16:creationId xmlns:a16="http://schemas.microsoft.com/office/drawing/2014/main" id="{C045FBDC-0740-0137-66ED-5E9FF5078614}"/>
              </a:ext>
            </a:extLst>
          </p:cNvPr>
          <p:cNvPicPr>
            <a:picLocks noChangeAspect="1"/>
          </p:cNvPicPr>
          <p:nvPr/>
        </p:nvPicPr>
        <p:blipFill>
          <a:blip r:embed="rId4"/>
          <a:stretch>
            <a:fillRect/>
          </a:stretch>
        </p:blipFill>
        <p:spPr>
          <a:xfrm>
            <a:off x="2773502" y="4210618"/>
            <a:ext cx="2165887" cy="2156491"/>
          </a:xfrm>
          <a:prstGeom prst="rect">
            <a:avLst/>
          </a:prstGeom>
        </p:spPr>
      </p:pic>
    </p:spTree>
    <p:extLst>
      <p:ext uri="{BB962C8B-B14F-4D97-AF65-F5344CB8AC3E}">
        <p14:creationId xmlns:p14="http://schemas.microsoft.com/office/powerpoint/2010/main" val="2257087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lnSpcReduction="1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endParaRPr lang="pt-BR" dirty="0"/>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15672</TotalTime>
  <Words>6884</Words>
  <Application>Microsoft Office PowerPoint</Application>
  <PresentationFormat>Widescreen</PresentationFormat>
  <Paragraphs>1305</Paragraphs>
  <Slides>76</Slides>
  <Notes>35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76</vt:i4>
      </vt:variant>
    </vt:vector>
  </HeadingPairs>
  <TitlesOfParts>
    <vt:vector size="89"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O que vamos ver?</vt:lpstr>
      <vt:lpstr>O que vamos ver?</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PowerPoint Presentation</vt:lpstr>
      <vt:lpstr>Redes neurais convolucionais</vt:lpstr>
      <vt:lpstr>PowerPoint Presentation</vt:lpstr>
      <vt:lpstr>PowerPoint Presentation</vt:lpstr>
      <vt:lpstr>PowerPoint Presentation</vt:lpstr>
      <vt:lpstr>Filtros de convolução</vt:lpstr>
      <vt:lpstr>Neurônios biológicos</vt:lpstr>
      <vt:lpstr>Neurônios biológicos</vt:lpstr>
      <vt:lpstr>Diferença entre camadas densas e convolucionais</vt:lpstr>
      <vt:lpstr>Diferença entre camadas densas e convolucionais</vt:lpstr>
      <vt:lpstr>Diferença entre camadas densas e convolucionais</vt:lpstr>
      <vt:lpstr>Cores básicas e canais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Camadas densas</vt:lpstr>
      <vt:lpstr>Os filtros são aprendidos!</vt:lpstr>
      <vt:lpstr>PowerPoint Presentation</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2597</cp:revision>
  <dcterms:created xsi:type="dcterms:W3CDTF">2020-01-20T13:50:05Z</dcterms:created>
  <dcterms:modified xsi:type="dcterms:W3CDTF">2026-03-15T14:18:10Z</dcterms:modified>
</cp:coreProperties>
</file>