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494" r:id="rId2"/>
    <p:sldId id="406" r:id="rId3"/>
    <p:sldId id="442" r:id="rId4"/>
    <p:sldId id="483" r:id="rId5"/>
    <p:sldId id="484" r:id="rId6"/>
    <p:sldId id="492" r:id="rId7"/>
    <p:sldId id="485" r:id="rId8"/>
    <p:sldId id="427" r:id="rId9"/>
    <p:sldId id="428" r:id="rId10"/>
    <p:sldId id="487" r:id="rId11"/>
    <p:sldId id="456" r:id="rId12"/>
    <p:sldId id="457" r:id="rId13"/>
    <p:sldId id="480" r:id="rId14"/>
    <p:sldId id="481" r:id="rId15"/>
    <p:sldId id="482" r:id="rId16"/>
    <p:sldId id="431" r:id="rId17"/>
    <p:sldId id="451" r:id="rId18"/>
    <p:sldId id="454" r:id="rId19"/>
    <p:sldId id="429" r:id="rId20"/>
    <p:sldId id="435" r:id="rId21"/>
    <p:sldId id="432" r:id="rId22"/>
    <p:sldId id="433" r:id="rId23"/>
    <p:sldId id="434" r:id="rId24"/>
    <p:sldId id="453" r:id="rId25"/>
    <p:sldId id="436" r:id="rId26"/>
    <p:sldId id="440" r:id="rId27"/>
    <p:sldId id="437" r:id="rId28"/>
    <p:sldId id="445" r:id="rId29"/>
    <p:sldId id="449" r:id="rId30"/>
    <p:sldId id="450" r:id="rId31"/>
    <p:sldId id="452" r:id="rId32"/>
    <p:sldId id="486" r:id="rId33"/>
    <p:sldId id="488" r:id="rId34"/>
    <p:sldId id="464" r:id="rId35"/>
    <p:sldId id="465" r:id="rId36"/>
    <p:sldId id="455" r:id="rId37"/>
    <p:sldId id="460" r:id="rId38"/>
    <p:sldId id="467" r:id="rId39"/>
    <p:sldId id="461" r:id="rId40"/>
    <p:sldId id="493" r:id="rId41"/>
    <p:sldId id="462" r:id="rId42"/>
    <p:sldId id="466" r:id="rId43"/>
    <p:sldId id="468" r:id="rId44"/>
    <p:sldId id="477" r:id="rId45"/>
    <p:sldId id="405" r:id="rId46"/>
    <p:sldId id="293" r:id="rId47"/>
    <p:sldId id="306" r:id="rId48"/>
    <p:sldId id="491" r:id="rId49"/>
    <p:sldId id="441" r:id="rId50"/>
    <p:sldId id="469" r:id="rId51"/>
    <p:sldId id="470" r:id="rId52"/>
    <p:sldId id="471" r:id="rId53"/>
    <p:sldId id="472" r:id="rId54"/>
    <p:sldId id="475" r:id="rId55"/>
    <p:sldId id="474" r:id="rId56"/>
    <p:sldId id="478" r:id="rId57"/>
    <p:sldId id="490" r:id="rId58"/>
    <p:sldId id="438" r:id="rId59"/>
    <p:sldId id="443" r:id="rId60"/>
    <p:sldId id="446" r:id="rId61"/>
    <p:sldId id="447" r:id="rId62"/>
    <p:sldId id="448" r:id="rId63"/>
    <p:sldId id="458" r:id="rId64"/>
    <p:sldId id="459" r:id="rId65"/>
    <p:sldId id="479" r:id="rId6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err="1">
                <a:effectLst/>
                <a:latin typeface="Roboto" panose="02000000000000000000" pitchFamily="2" charset="0"/>
              </a:rPr>
              <a:t>With</a:t>
            </a:r>
            <a:r>
              <a:rPr lang="pt-BR" b="0" i="0" dirty="0">
                <a:effectLst/>
                <a:latin typeface="Roboto" panose="02000000000000000000" pitchFamily="2" charset="0"/>
              </a:rPr>
              <a:t> tabular data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4431290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15975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3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40.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5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6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64.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199" y="1825624"/>
            <a:ext cx="11154103" cy="5032376"/>
          </a:xfrm>
        </p:spPr>
        <p:txBody>
          <a:bodyPr>
            <a:normAutofit/>
          </a:bodyPr>
          <a:lstStyle/>
          <a:p>
            <a:r>
              <a:rPr lang="pt-BR" dirty="0"/>
              <a:t>Até agora, nossas redes neurais continham apenas dois tipos de camadas: </a:t>
            </a:r>
            <a:r>
              <a:rPr lang="pt-BR" b="1" i="1" dirty="0">
                <a:solidFill>
                  <a:srgbClr val="00B050"/>
                </a:solidFill>
              </a:rPr>
              <a:t>densas</a:t>
            </a:r>
            <a:r>
              <a:rPr lang="pt-BR" dirty="0"/>
              <a:t> e de </a:t>
            </a:r>
            <a:r>
              <a:rPr lang="pt-BR" b="1" i="1" dirty="0">
                <a:solidFill>
                  <a:srgbClr val="00B050"/>
                </a:solidFill>
              </a:rPr>
              <a:t>achatamento</a:t>
            </a:r>
            <a:r>
              <a:rPr lang="pt-BR" dirty="0"/>
              <a:t>. </a:t>
            </a:r>
          </a:p>
          <a:p>
            <a:r>
              <a:rPr lang="pt-BR" dirty="0"/>
              <a:t>Porém, um outro tipo muito importante são as </a:t>
            </a:r>
            <a:r>
              <a:rPr lang="pt-BR" b="1" i="1" dirty="0">
                <a:solidFill>
                  <a:srgbClr val="00B050"/>
                </a:solidFill>
              </a:rPr>
              <a:t>camadas convolucionais</a:t>
            </a:r>
            <a:r>
              <a:rPr lang="pt-BR" dirty="0"/>
              <a:t>.</a:t>
            </a:r>
          </a:p>
          <a:p>
            <a:r>
              <a:rPr lang="pt-BR" dirty="0"/>
              <a:t>Essas camadas formam as </a:t>
            </a:r>
            <a:r>
              <a:rPr lang="pt-BR" i="1" dirty="0" err="1"/>
              <a:t>Convolutional</a:t>
            </a:r>
            <a:r>
              <a:rPr lang="pt-BR" i="1" dirty="0"/>
              <a:t> Neural Networks</a:t>
            </a:r>
            <a:r>
              <a:rPr lang="pt-BR" dirty="0"/>
              <a:t> (</a:t>
            </a:r>
            <a:r>
              <a:rPr lang="pt-BR" dirty="0" err="1"/>
              <a:t>CNNs</a:t>
            </a:r>
            <a:r>
              <a:rPr lang="pt-BR" dirty="0"/>
              <a:t>).</a:t>
            </a:r>
          </a:p>
          <a:p>
            <a:r>
              <a:rPr lang="pt-BR" dirty="0"/>
              <a:t>A </a:t>
            </a:r>
            <a:r>
              <a:rPr lang="pt-BR" b="1" i="1" dirty="0">
                <a:solidFill>
                  <a:srgbClr val="00B050"/>
                </a:solidFill>
              </a:rPr>
              <a:t>principal diferença</a:t>
            </a:r>
            <a:r>
              <a:rPr lang="pt-BR" dirty="0"/>
              <a:t> para uma DNN é que ao invés de </a:t>
            </a:r>
            <a:r>
              <a:rPr lang="pt-BR" b="1" i="1" dirty="0">
                <a:solidFill>
                  <a:srgbClr val="00B050"/>
                </a:solidFill>
              </a:rPr>
              <a:t>aprender os pesos </a:t>
            </a:r>
            <a:r>
              <a:rPr lang="pt-BR" dirty="0"/>
              <a:t>das camadas densas, uma </a:t>
            </a:r>
            <a:r>
              <a:rPr lang="pt-BR" b="1" i="1" dirty="0">
                <a:solidFill>
                  <a:srgbClr val="00B050"/>
                </a:solidFill>
              </a:rPr>
              <a:t>CNN aprende </a:t>
            </a:r>
            <a:r>
              <a:rPr lang="pt-BR" dirty="0"/>
              <a:t>os valores de </a:t>
            </a:r>
            <a:r>
              <a:rPr lang="pt-BR" b="1" i="1" dirty="0">
                <a:solidFill>
                  <a:srgbClr val="00B050"/>
                </a:solidFill>
              </a:rPr>
              <a:t>filtros de convolução</a:t>
            </a:r>
            <a:r>
              <a:rPr lang="pt-BR" dirty="0">
                <a:solidFill>
                  <a:srgbClr val="00B050"/>
                </a:solidFill>
              </a:rPr>
              <a:t> </a:t>
            </a:r>
            <a:r>
              <a:rPr lang="pt-BR" dirty="0"/>
              <a:t>(ou apenas </a:t>
            </a:r>
            <a:r>
              <a:rPr lang="pt-BR" b="1" i="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a:p>
            <a:r>
              <a:rPr lang="pt-BR" dirty="0" err="1"/>
              <a:t>CNNs</a:t>
            </a:r>
            <a:r>
              <a:rPr lang="pt-BR" dirty="0"/>
              <a:t> são usadas em tarefas de </a:t>
            </a:r>
            <a:r>
              <a:rPr lang="pt-BR" b="1" i="1" dirty="0">
                <a:solidFill>
                  <a:srgbClr val="00B050"/>
                </a:solidFill>
              </a:rPr>
              <a:t>visão computacional</a:t>
            </a:r>
            <a:r>
              <a:rPr lang="pt-BR" dirty="0"/>
              <a:t>, como, por exemplo, </a:t>
            </a:r>
            <a:r>
              <a:rPr lang="pt-BR" b="1" i="1" dirty="0">
                <a:effectLst/>
              </a:rPr>
              <a:t>reconhecimento de objetos</a:t>
            </a:r>
            <a:r>
              <a:rPr lang="pt-BR" b="0" i="0" dirty="0">
                <a:effectLst/>
              </a:rPr>
              <a:t>, </a:t>
            </a:r>
            <a:r>
              <a:rPr lang="pt-BR" b="1" i="1" dirty="0">
                <a:effectLst/>
              </a:rPr>
              <a:t>detecção de padrões</a:t>
            </a:r>
            <a:r>
              <a:rPr lang="pt-BR" b="0" i="0" dirty="0">
                <a:effectLst/>
              </a:rPr>
              <a:t>, </a:t>
            </a:r>
            <a:r>
              <a:rPr lang="pt-BR" b="1" i="1" dirty="0">
                <a:effectLst/>
              </a:rPr>
              <a:t>segmentação de imagens</a:t>
            </a:r>
            <a:r>
              <a:rPr lang="pt-BR" b="0" i="0" dirty="0">
                <a:effectLst/>
              </a:rPr>
              <a:t>, </a:t>
            </a:r>
            <a:r>
              <a:rPr lang="pt-BR" b="1" i="1" dirty="0">
                <a:effectLst/>
              </a:rPr>
              <a:t>rastreamento de objetos</a:t>
            </a:r>
            <a:r>
              <a:rPr lang="pt-BR" b="0" i="0" dirty="0">
                <a:effectLst/>
              </a:rPr>
              <a:t>, etc.</a:t>
            </a:r>
            <a:endParaRPr lang="pt-BR" dirty="0"/>
          </a:p>
        </p:txBody>
      </p:sp>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75891" y="1825624"/>
            <a:ext cx="6537434" cy="5032375"/>
          </a:xfrm>
        </p:spPr>
        <p:txBody>
          <a:bodyPr>
            <a:normAutofit/>
          </a:bodyPr>
          <a:lstStyle/>
          <a:p>
            <a:r>
              <a:rPr lang="pt-BR" b="0" i="0" dirty="0" err="1">
                <a:effectLst/>
              </a:rPr>
              <a:t>DNNs</a:t>
            </a:r>
            <a:r>
              <a:rPr lang="pt-BR" b="0" i="0" dirty="0">
                <a:effectLst/>
              </a:rPr>
              <a:t> são </a:t>
            </a:r>
            <a:r>
              <a:rPr lang="pt-BR" b="1" i="1" dirty="0">
                <a:solidFill>
                  <a:srgbClr val="00B050"/>
                </a:solidFill>
                <a:effectLst/>
              </a:rPr>
              <a:t>ideais para dados </a:t>
            </a:r>
            <a:r>
              <a:rPr lang="pt-BR" b="1" i="1" dirty="0">
                <a:solidFill>
                  <a:schemeClr val="accent2"/>
                </a:solidFill>
                <a:effectLst/>
              </a:rPr>
              <a:t>tabulares</a:t>
            </a:r>
            <a:r>
              <a:rPr lang="pt-BR" b="0" i="0" dirty="0">
                <a:effectLst/>
              </a:rPr>
              <a:t>, onde os </a:t>
            </a:r>
            <a:r>
              <a:rPr lang="pt-BR" b="1" i="1" dirty="0">
                <a:solidFill>
                  <a:srgbClr val="00B050"/>
                </a:solidFill>
                <a:effectLst/>
              </a:rPr>
              <a:t>exemplos são representados por linhas e os atributos por colunas</a:t>
            </a:r>
            <a:r>
              <a:rPr lang="pt-BR" b="0" i="0" dirty="0">
                <a:effectLst/>
              </a:rPr>
              <a:t>.</a:t>
            </a:r>
          </a:p>
          <a:p>
            <a:r>
              <a:rPr lang="pt-BR" b="0" i="0" dirty="0">
                <a:effectLst/>
              </a:rPr>
              <a:t>Ao analisar esses dados, o objetivo de uma DNN é </a:t>
            </a:r>
            <a:r>
              <a:rPr lang="pt-BR" b="1" i="1" dirty="0">
                <a:solidFill>
                  <a:srgbClr val="00B050"/>
                </a:solidFill>
                <a:effectLst/>
              </a:rPr>
              <a:t>descobrir padrões que envolvem interações entre os atributos, </a:t>
            </a:r>
            <a:r>
              <a:rPr lang="pt-BR" b="1" i="1" dirty="0">
                <a:solidFill>
                  <a:srgbClr val="7030A0"/>
                </a:solidFill>
                <a:effectLst/>
              </a:rPr>
              <a:t>sem presumir uma estrutura espacial </a:t>
            </a:r>
            <a:r>
              <a:rPr lang="pt-BR" b="0" i="0" dirty="0">
                <a:effectLst/>
              </a:rPr>
              <a:t>(em termos de posicionamento físico) específica entre eles.</a:t>
            </a:r>
          </a:p>
          <a:p>
            <a:r>
              <a:rPr lang="pt-BR" b="0" i="0" dirty="0">
                <a:effectLst/>
              </a:rPr>
              <a:t>Em contraste, </a:t>
            </a:r>
            <a:r>
              <a:rPr lang="pt-BR" b="1" i="1" dirty="0">
                <a:solidFill>
                  <a:srgbClr val="7030A0"/>
                </a:solidFill>
                <a:effectLst/>
              </a:rPr>
              <a:t>imagens têm uma estrutura espacial</a:t>
            </a:r>
            <a:r>
              <a:rPr lang="pt-BR" b="0" i="0" dirty="0">
                <a:effectLst/>
              </a:rPr>
              <a:t> que pode ser explorada por modelos de ML.</a:t>
            </a:r>
            <a:endParaRPr lang="pt-BR" dirty="0"/>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Padrões globais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845996" y="1690688"/>
            <a:ext cx="6167328" cy="5167311"/>
          </a:xfrm>
        </p:spPr>
        <p:txBody>
          <a:bodyPr>
            <a:normAutofit/>
          </a:bodyPr>
          <a:lstStyle/>
          <a:p>
            <a:r>
              <a:rPr lang="pt-BR" dirty="0" err="1"/>
              <a:t>DNNs</a:t>
            </a:r>
            <a:r>
              <a:rPr lang="pt-BR" dirty="0"/>
              <a:t> </a:t>
            </a:r>
            <a:r>
              <a:rPr lang="pt-BR" b="1" i="1" dirty="0">
                <a:solidFill>
                  <a:srgbClr val="7030A0"/>
                </a:solidFill>
              </a:rPr>
              <a:t>não levam em consideração a estrutura espacial dos dados</a:t>
            </a:r>
            <a:r>
              <a:rPr lang="pt-BR" dirty="0"/>
              <a:t>.</a:t>
            </a:r>
          </a:p>
          <a:p>
            <a:r>
              <a:rPr lang="pt-BR" dirty="0"/>
              <a:t>Elas </a:t>
            </a:r>
            <a:r>
              <a:rPr lang="pt-BR" b="1" i="1" dirty="0">
                <a:solidFill>
                  <a:srgbClr val="00B050"/>
                </a:solidFill>
              </a:rPr>
              <a:t>tratam</a:t>
            </a:r>
            <a:r>
              <a:rPr lang="pt-BR" dirty="0"/>
              <a:t> </a:t>
            </a:r>
            <a:r>
              <a:rPr lang="pt-BR" b="1" i="1" dirty="0">
                <a:solidFill>
                  <a:srgbClr val="00B050"/>
                </a:solidFill>
              </a:rPr>
              <a:t>pixels de entrada distantes</a:t>
            </a:r>
            <a:r>
              <a:rPr lang="pt-BR" dirty="0"/>
              <a:t> uns dos outros </a:t>
            </a:r>
            <a:r>
              <a:rPr lang="pt-BR" b="1" i="1" dirty="0">
                <a:solidFill>
                  <a:srgbClr val="00B050"/>
                </a:solidFill>
              </a:rPr>
              <a:t>da mesma forma que pixels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463368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i="1" dirty="0">
                <a:solidFill>
                  <a:srgbClr val="00B050"/>
                </a:solidFill>
              </a:rPr>
              <a:t>ignoram a </a:t>
            </a:r>
            <a:r>
              <a:rPr lang="pt-BR" b="1" i="1" dirty="0">
                <a:solidFill>
                  <a:srgbClr val="7030A0"/>
                </a:solidFill>
              </a:rPr>
              <a:t>localidade de referência ou espacial</a:t>
            </a:r>
            <a:r>
              <a:rPr lang="pt-BR" b="1" i="1" dirty="0">
                <a:solidFill>
                  <a:srgbClr val="00B050"/>
                </a:solidFill>
              </a:rPr>
              <a:t> </a:t>
            </a:r>
            <a:r>
              <a:rPr lang="pt-BR" dirty="0"/>
              <a:t>em dados com topologia de grade (e.g., imagens), tanto computacional (eficiência) quanto semanticamente (significado de cada região).</a:t>
            </a:r>
          </a:p>
          <a:p>
            <a:r>
              <a:rPr lang="pt-BR" b="1" i="1" dirty="0">
                <a:solidFill>
                  <a:srgbClr val="7030A0"/>
                </a:solidFill>
              </a:rPr>
              <a:t>Localidade espacial</a:t>
            </a:r>
            <a:r>
              <a:rPr lang="pt-BR" b="0" i="0" dirty="0">
                <a:effectLst/>
              </a:rPr>
              <a:t>: em dados com topologia de grade, é a </a:t>
            </a:r>
            <a:r>
              <a:rPr lang="pt-BR" b="1" i="1" dirty="0">
                <a:solidFill>
                  <a:schemeClr val="accent2"/>
                </a:solidFill>
                <a:effectLst/>
              </a:rPr>
              <a:t>região</a:t>
            </a:r>
            <a:r>
              <a:rPr lang="pt-BR" b="0" i="0" dirty="0">
                <a:effectLst/>
              </a:rPr>
              <a:t> onde </a:t>
            </a:r>
            <a:r>
              <a:rPr lang="pt-BR" b="1" i="1" dirty="0">
                <a:solidFill>
                  <a:srgbClr val="00B050"/>
                </a:solidFill>
                <a:effectLst/>
              </a:rPr>
              <a:t>informações próximas </a:t>
            </a:r>
            <a:r>
              <a:rPr lang="pt-BR" b="0" i="0" dirty="0">
                <a:effectLst/>
              </a:rPr>
              <a:t>umas das outras </a:t>
            </a:r>
            <a:r>
              <a:rPr lang="pt-BR" b="1" i="1" dirty="0">
                <a:solidFill>
                  <a:srgbClr val="00B050"/>
                </a:solidFill>
                <a:effectLst/>
              </a:rPr>
              <a:t>estão relacionadas</a:t>
            </a:r>
            <a:r>
              <a:rPr lang="pt-BR" b="0" i="0" dirty="0">
                <a:effectLst/>
              </a:rPr>
              <a:t>. </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421033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i="1" dirty="0">
                <a:solidFill>
                  <a:schemeClr val="accent2"/>
                </a:solidFill>
              </a:rPr>
              <a:t>localidade espacial</a:t>
            </a:r>
            <a:r>
              <a:rPr lang="pt-BR" dirty="0"/>
              <a:t> é </a:t>
            </a:r>
            <a:r>
              <a:rPr lang="pt-BR" b="1" i="1" dirty="0">
                <a:solidFill>
                  <a:srgbClr val="7030A0"/>
                </a:solidFill>
              </a:rPr>
              <a:t>benéfica</a:t>
            </a:r>
            <a:r>
              <a:rPr lang="pt-BR" dirty="0"/>
              <a:t> para tarefas de </a:t>
            </a:r>
            <a:r>
              <a:rPr lang="pt-BR" b="1" i="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274724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Estrutura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i="1" dirty="0">
                <a:solidFill>
                  <a:schemeClr val="accent2"/>
                </a:solidFill>
              </a:rPr>
              <a:t>conectividade total dos neurônios</a:t>
            </a:r>
            <a:r>
              <a:rPr lang="pt-BR" b="1" i="1" dirty="0">
                <a:solidFill>
                  <a:srgbClr val="00B050"/>
                </a:solidFill>
              </a:rPr>
              <a:t> em uma DNN é um </a:t>
            </a:r>
            <a:r>
              <a:rPr lang="pt-BR" b="1" i="1" dirty="0">
                <a:solidFill>
                  <a:srgbClr val="7030A0"/>
                </a:solidFill>
              </a:rPr>
              <a:t>desperdício</a:t>
            </a:r>
            <a:r>
              <a:rPr lang="pt-BR" b="1" i="1" dirty="0">
                <a:solidFill>
                  <a:srgbClr val="00B050"/>
                </a:solidFill>
              </a:rPr>
              <a:t> </a:t>
            </a:r>
            <a:r>
              <a:rPr lang="pt-BR" dirty="0"/>
              <a:t>para propósitos como o reconhecimento de </a:t>
            </a:r>
            <a:r>
              <a:rPr lang="pt-BR" b="1" i="1" dirty="0">
                <a:solidFill>
                  <a:srgbClr val="00B050"/>
                </a:solidFill>
              </a:rPr>
              <a:t>imagens</a:t>
            </a:r>
            <a:r>
              <a:rPr lang="pt-BR" dirty="0"/>
              <a:t> que são </a:t>
            </a:r>
            <a:r>
              <a:rPr lang="pt-BR" b="1" i="1" dirty="0">
                <a:solidFill>
                  <a:srgbClr val="00B050"/>
                </a:solidFill>
              </a:rPr>
              <a:t>dominados</a:t>
            </a:r>
            <a:r>
              <a:rPr lang="pt-BR" dirty="0"/>
              <a:t> por </a:t>
            </a:r>
            <a:r>
              <a:rPr lang="pt-BR" b="1" i="1" dirty="0">
                <a:solidFill>
                  <a:srgbClr val="7030A0"/>
                </a:solidFill>
              </a:rPr>
              <a:t>padrões espacialmente locais</a:t>
            </a:r>
            <a:r>
              <a:rPr lang="pt-BR" dirty="0"/>
              <a:t>.</a:t>
            </a:r>
          </a:p>
          <a:p>
            <a:r>
              <a:rPr lang="pt-BR" dirty="0"/>
              <a:t>Além disso, por serem densamente conectadas, as </a:t>
            </a:r>
            <a:r>
              <a:rPr lang="pt-BR" b="1" i="1" dirty="0" err="1">
                <a:solidFill>
                  <a:srgbClr val="00B050"/>
                </a:solidFill>
              </a:rPr>
              <a:t>DNNs</a:t>
            </a:r>
            <a:r>
              <a:rPr lang="pt-BR" b="1" i="1" dirty="0">
                <a:solidFill>
                  <a:srgbClr val="00B050"/>
                </a:solidFill>
              </a:rPr>
              <a:t> requerem </a:t>
            </a:r>
            <a:r>
              <a:rPr lang="pt-BR" b="1" i="1" dirty="0">
                <a:solidFill>
                  <a:srgbClr val="00B050"/>
                </a:solidFill>
                <a:effectLst/>
              </a:rPr>
              <a:t>um grande número de parâmetros, levando a um alto custo computacional</a:t>
            </a:r>
            <a:r>
              <a:rPr lang="pt-BR" b="0" i="0" dirty="0">
                <a:effectLst/>
              </a:rPr>
              <a:t>.</a:t>
            </a:r>
            <a:endParaRPr lang="pt-BR" dirty="0"/>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Imagens simples e “comportadas”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096000" y="1825624"/>
            <a:ext cx="5917324" cy="5032375"/>
          </a:xfrm>
        </p:spPr>
        <p:txBody>
          <a:bodyPr>
            <a:normAutofit/>
          </a:bodyPr>
          <a:lstStyle/>
          <a:p>
            <a:r>
              <a:rPr lang="pt-BR" dirty="0"/>
              <a:t>Até o momento, as imagens que usamos nos problemas de classificação eram bem simples e “comportadas”.</a:t>
            </a:r>
          </a:p>
          <a:p>
            <a:r>
              <a:rPr lang="pt-BR" dirty="0"/>
              <a:t>Eram </a:t>
            </a:r>
            <a:r>
              <a:rPr lang="pt-BR" b="1" i="1" dirty="0">
                <a:solidFill>
                  <a:srgbClr val="00B050"/>
                </a:solidFill>
              </a:rPr>
              <a:t>imagens bidimensionais em tons de cinza</a:t>
            </a:r>
            <a:r>
              <a:rPr lang="pt-BR" dirty="0"/>
              <a:t>, com objetos </a:t>
            </a:r>
            <a:r>
              <a:rPr lang="pt-BR" b="1" i="1" dirty="0"/>
              <a:t>centralizados</a:t>
            </a:r>
            <a:r>
              <a:rPr lang="pt-BR" dirty="0"/>
              <a:t>, </a:t>
            </a:r>
            <a:r>
              <a:rPr lang="pt-BR" b="1" i="1" dirty="0"/>
              <a:t>sem</a:t>
            </a:r>
            <a:r>
              <a:rPr lang="pt-BR" dirty="0"/>
              <a:t> muita </a:t>
            </a:r>
            <a:r>
              <a:rPr lang="pt-BR" b="1" i="1" dirty="0"/>
              <a:t>variação</a:t>
            </a:r>
            <a:r>
              <a:rPr lang="pt-BR" dirty="0"/>
              <a:t> em termos de </a:t>
            </a:r>
            <a:r>
              <a:rPr lang="pt-BR" b="1" i="1" dirty="0"/>
              <a:t>rotação</a:t>
            </a:r>
            <a:r>
              <a:rPr lang="pt-BR" dirty="0"/>
              <a:t>, </a:t>
            </a:r>
            <a:r>
              <a:rPr lang="pt-BR" b="1" i="1" dirty="0"/>
              <a:t>iluminação</a:t>
            </a:r>
            <a:r>
              <a:rPr lang="pt-BR" dirty="0"/>
              <a:t>, </a:t>
            </a:r>
            <a:r>
              <a:rPr lang="pt-BR" b="1" i="1" dirty="0"/>
              <a:t>escala</a:t>
            </a:r>
            <a:r>
              <a:rPr lang="pt-BR" dirty="0"/>
              <a:t>, com um </a:t>
            </a:r>
            <a:r>
              <a:rPr lang="pt-BR" b="1" i="1" dirty="0"/>
              <a:t>mesmo fundo</a:t>
            </a:r>
            <a:r>
              <a:rPr lang="pt-BR" dirty="0"/>
              <a:t>, </a:t>
            </a:r>
            <a:r>
              <a:rPr lang="pt-BR" b="1" i="1" dirty="0"/>
              <a:t>sem </a:t>
            </a:r>
            <a:r>
              <a:rPr lang="pt-BR" b="1" i="1" dirty="0">
                <a:effectLst/>
              </a:rPr>
              <a:t>oclusões</a:t>
            </a:r>
            <a:r>
              <a:rPr lang="pt-BR" b="0" i="0" dirty="0">
                <a:effectLst/>
              </a:rPr>
              <a:t> (i.e., partes do objeto obstruídas), </a:t>
            </a:r>
            <a:r>
              <a:rPr lang="pt-BR" dirty="0"/>
              <a:t>etc.</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3861675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Mas e quando as imagens são mais complexas?</a:t>
            </a:r>
          </a:p>
          <a:p>
            <a:r>
              <a:rPr lang="pt-BR" dirty="0"/>
              <a:t>Com cores, objetos não centralizados, com variação em termos de rotação, iluminação, escala, diferentes fundos, </a:t>
            </a:r>
            <a:r>
              <a:rPr lang="pt-BR" b="0" i="0" dirty="0">
                <a:effectLst/>
              </a:rPr>
              <a:t>oclusões, </a:t>
            </a:r>
            <a:r>
              <a:rPr lang="pt-BR" dirty="0"/>
              <a:t>etc.</a:t>
            </a:r>
          </a:p>
          <a:p>
            <a:r>
              <a:rPr lang="pt-BR" dirty="0"/>
              <a:t>Por exemplo, e se quiséssemos classificar imagens de pessoas e cavalos?</a:t>
            </a:r>
          </a:p>
        </p:txBody>
      </p:sp>
      <p:pic>
        <p:nvPicPr>
          <p:cNvPr id="5" name="Imagem 4">
            <a:extLst>
              <a:ext uri="{FF2B5EF4-FFF2-40B4-BE49-F238E27FC236}">
                <a16:creationId xmlns:a16="http://schemas.microsoft.com/office/drawing/2014/main" id="{B90DEACD-FB99-FF37-8876-F0514CDC9E70}"/>
              </a:ext>
            </a:extLst>
          </p:cNvPr>
          <p:cNvPicPr>
            <a:picLocks noChangeAspect="1"/>
          </p:cNvPicPr>
          <p:nvPr/>
        </p:nvPicPr>
        <p:blipFill>
          <a:blip r:embed="rId2"/>
          <a:stretch>
            <a:fillRect/>
          </a:stretch>
        </p:blipFill>
        <p:spPr>
          <a:xfrm>
            <a:off x="299250" y="1825624"/>
            <a:ext cx="2385575" cy="2422036"/>
          </a:xfrm>
          <a:prstGeom prst="rect">
            <a:avLst/>
          </a:prstGeom>
        </p:spPr>
      </p:pic>
      <p:pic>
        <p:nvPicPr>
          <p:cNvPr id="7" name="Imagem 6">
            <a:extLst>
              <a:ext uri="{FF2B5EF4-FFF2-40B4-BE49-F238E27FC236}">
                <a16:creationId xmlns:a16="http://schemas.microsoft.com/office/drawing/2014/main" id="{87D9D255-6733-0D61-095D-FE93735462D8}"/>
              </a:ext>
            </a:extLst>
          </p:cNvPr>
          <p:cNvPicPr>
            <a:picLocks noChangeAspect="1"/>
          </p:cNvPicPr>
          <p:nvPr/>
        </p:nvPicPr>
        <p:blipFill>
          <a:blip r:embed="rId3"/>
          <a:stretch>
            <a:fillRect/>
          </a:stretch>
        </p:blipFill>
        <p:spPr>
          <a:xfrm>
            <a:off x="2857863" y="4247660"/>
            <a:ext cx="2432590" cy="2422037"/>
          </a:xfrm>
          <a:prstGeom prst="rect">
            <a:avLst/>
          </a:prstGeom>
        </p:spPr>
      </p:pic>
    </p:spTree>
    <p:extLst>
      <p:ext uri="{BB962C8B-B14F-4D97-AF65-F5344CB8AC3E}">
        <p14:creationId xmlns:p14="http://schemas.microsoft.com/office/powerpoint/2010/main" val="90457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i="1" dirty="0"/>
              <a:t>filtros de convolução</a:t>
            </a:r>
            <a:r>
              <a:rPr lang="pt-BR" dirty="0"/>
              <a:t> pode nos ajudar a resolver esse problema.</a:t>
            </a:r>
          </a:p>
          <a:p>
            <a:r>
              <a:rPr lang="pt-BR" dirty="0"/>
              <a:t>Os </a:t>
            </a:r>
            <a:r>
              <a:rPr lang="pt-BR" b="1" i="1" dirty="0"/>
              <a:t>filtros</a:t>
            </a:r>
            <a:r>
              <a:rPr lang="pt-BR" dirty="0"/>
              <a:t> podem ser </a:t>
            </a:r>
            <a:r>
              <a:rPr lang="pt-BR" b="1" i="1" dirty="0">
                <a:solidFill>
                  <a:srgbClr val="00B050"/>
                </a:solidFill>
              </a:rPr>
              <a:t>treinados para detectar características locais </a:t>
            </a:r>
            <a:r>
              <a:rPr lang="pt-BR" dirty="0"/>
              <a:t>que </a:t>
            </a:r>
            <a:r>
              <a:rPr lang="pt-BR" b="1" i="1" dirty="0">
                <a:solidFill>
                  <a:srgbClr val="7030A0"/>
                </a:solidFill>
              </a:rPr>
              <a:t>diferenciam pessoas de cavalos</a:t>
            </a:r>
            <a:r>
              <a:rPr lang="pt-BR" dirty="0"/>
              <a:t>.</a:t>
            </a:r>
          </a:p>
          <a:p>
            <a:r>
              <a:rPr lang="pt-BR" dirty="0"/>
              <a:t>Essa ideia de usar </a:t>
            </a:r>
            <a:r>
              <a:rPr lang="pt-BR" b="1" i="1" dirty="0">
                <a:solidFill>
                  <a:srgbClr val="00B050"/>
                </a:solidFill>
              </a:rPr>
              <a:t>filtros</a:t>
            </a:r>
            <a:r>
              <a:rPr lang="pt-BR" dirty="0"/>
              <a:t> que </a:t>
            </a:r>
            <a:r>
              <a:rPr lang="pt-BR" b="1" i="1" dirty="0">
                <a:solidFill>
                  <a:srgbClr val="00B050"/>
                </a:solidFill>
              </a:rPr>
              <a:t>detectam características</a:t>
            </a:r>
            <a:r>
              <a:rPr lang="pt-BR" dirty="0"/>
              <a:t> que fazem um </a:t>
            </a:r>
            <a:r>
              <a:rPr lang="pt-BR" b="1" i="1" dirty="0">
                <a:solidFill>
                  <a:srgbClr val="00B050"/>
                </a:solidFill>
              </a:rPr>
              <a:t>objeto ser diferente de outro</a:t>
            </a:r>
            <a:r>
              <a:rPr lang="pt-BR" dirty="0"/>
              <a:t> é </a:t>
            </a:r>
            <a:r>
              <a:rPr lang="pt-BR" b="1" i="1" dirty="0">
                <a:solidFill>
                  <a:srgbClr val="00B050"/>
                </a:solidFill>
              </a:rPr>
              <a:t>baseada</a:t>
            </a:r>
            <a:r>
              <a:rPr lang="pt-BR" dirty="0"/>
              <a:t> em como os neurônios do </a:t>
            </a:r>
            <a:r>
              <a:rPr lang="pt-BR" b="1" i="1" dirty="0">
                <a:solidFill>
                  <a:srgbClr val="7030A0"/>
                </a:solidFill>
              </a:rPr>
              <a:t>córtex visual </a:t>
            </a:r>
            <a:r>
              <a:rPr lang="pt-BR" b="1" i="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Cores básicas e canais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5465851" y="1825624"/>
            <a:ext cx="6596009" cy="5032375"/>
          </a:xfrm>
        </p:spPr>
        <p:txBody>
          <a:bodyPr>
            <a:normAutofit lnSpcReduction="10000"/>
          </a:bodyPr>
          <a:lstStyle/>
          <a:p>
            <a:r>
              <a:rPr lang="pt-BR" dirty="0"/>
              <a:t>Antes de falarmos sobre convolução, vamos falar sobre </a:t>
            </a:r>
            <a:r>
              <a:rPr lang="pt-BR" b="1" i="1" dirty="0">
                <a:solidFill>
                  <a:srgbClr val="00B050"/>
                </a:solidFill>
              </a:rPr>
              <a:t>cores</a:t>
            </a:r>
            <a:r>
              <a:rPr lang="pt-BR" dirty="0"/>
              <a:t> (ou </a:t>
            </a:r>
            <a:r>
              <a:rPr lang="pt-BR" b="1" i="1" dirty="0">
                <a:solidFill>
                  <a:srgbClr val="00B050"/>
                </a:solidFill>
              </a:rPr>
              <a:t>canais</a:t>
            </a:r>
            <a:r>
              <a:rPr lang="pt-BR" dirty="0"/>
              <a:t>).</a:t>
            </a:r>
          </a:p>
          <a:p>
            <a:r>
              <a:rPr lang="pt-BR" dirty="0"/>
              <a:t>Até agora, ignoramos que imagens, em geral, consistem em três canais: vermelho (R), verde (G) e azul (B).</a:t>
            </a:r>
          </a:p>
          <a:p>
            <a:r>
              <a:rPr lang="pt-BR" dirty="0"/>
              <a:t>Imagens coloridas têm canais RGB para indicar a </a:t>
            </a:r>
            <a:r>
              <a:rPr lang="pt-BR" b="1" i="1" dirty="0">
                <a:solidFill>
                  <a:srgbClr val="00B050"/>
                </a:solidFill>
              </a:rPr>
              <a:t>quantidade de vermelho, verde e azul</a:t>
            </a:r>
            <a:r>
              <a:rPr lang="pt-BR" dirty="0"/>
              <a:t>.</a:t>
            </a:r>
          </a:p>
          <a:p>
            <a:r>
              <a:rPr lang="pt-BR" dirty="0"/>
              <a:t>Em suma, as </a:t>
            </a:r>
            <a:r>
              <a:rPr lang="pt-BR" b="1" i="1" dirty="0">
                <a:solidFill>
                  <a:srgbClr val="00B050"/>
                </a:solidFill>
              </a:rPr>
              <a:t>imagens não são</a:t>
            </a:r>
            <a:r>
              <a:rPr lang="pt-BR" dirty="0"/>
              <a:t>, em geral, </a:t>
            </a:r>
            <a:r>
              <a:rPr lang="pt-BR" b="1" i="1" dirty="0">
                <a:solidFill>
                  <a:srgbClr val="00B050"/>
                </a:solidFill>
              </a:rPr>
              <a:t>objetos bidimensionais</a:t>
            </a:r>
            <a:r>
              <a:rPr lang="pt-BR" dirty="0"/>
              <a:t>, mas sim </a:t>
            </a:r>
            <a:r>
              <a:rPr lang="pt-BR" b="1" i="1" dirty="0">
                <a:solidFill>
                  <a:srgbClr val="00B050"/>
                </a:solidFill>
              </a:rPr>
              <a:t>tensores de três dimensões</a:t>
            </a:r>
            <a:r>
              <a:rPr lang="pt-BR" dirty="0"/>
              <a:t>, caracterizados por </a:t>
            </a:r>
            <a:r>
              <a:rPr lang="pt-BR" b="1" i="1" dirty="0">
                <a:solidFill>
                  <a:srgbClr val="7030A0"/>
                </a:solidFill>
              </a:rPr>
              <a:t>altura</a:t>
            </a:r>
            <a:r>
              <a:rPr lang="pt-BR" dirty="0"/>
              <a:t>, </a:t>
            </a:r>
            <a:r>
              <a:rPr lang="pt-BR" b="1" i="1" dirty="0">
                <a:solidFill>
                  <a:srgbClr val="7030A0"/>
                </a:solidFill>
              </a:rPr>
              <a:t>largura</a:t>
            </a:r>
            <a:r>
              <a:rPr lang="pt-BR" dirty="0"/>
              <a:t> e </a:t>
            </a:r>
            <a:r>
              <a:rPr lang="pt-BR" b="1" i="1" dirty="0">
                <a:solidFill>
                  <a:srgbClr val="7030A0"/>
                </a:solidFill>
              </a:rPr>
              <a:t>canal</a:t>
            </a:r>
            <a:r>
              <a:rPr lang="pt-BR" dirty="0"/>
              <a:t>.</a:t>
            </a:r>
          </a:p>
          <a:p>
            <a:endParaRPr lang="pt-BR" dirty="0"/>
          </a:p>
        </p:txBody>
      </p:sp>
      <p:pic>
        <p:nvPicPr>
          <p:cNvPr id="4" name="Imagem 3">
            <a:extLst>
              <a:ext uri="{FF2B5EF4-FFF2-40B4-BE49-F238E27FC236}">
                <a16:creationId xmlns:a16="http://schemas.microsoft.com/office/drawing/2014/main" id="{BF5FDCF5-FA6A-E9B1-8E1D-A0544C66B1B8}"/>
              </a:ext>
            </a:extLst>
          </p:cNvPr>
          <p:cNvPicPr>
            <a:picLocks noChangeAspect="1"/>
          </p:cNvPicPr>
          <p:nvPr/>
        </p:nvPicPr>
        <p:blipFill>
          <a:blip r:embed="rId3"/>
          <a:stretch>
            <a:fillRect/>
          </a:stretch>
        </p:blipFill>
        <p:spPr>
          <a:xfrm>
            <a:off x="517959" y="1959188"/>
            <a:ext cx="2124027" cy="2156490"/>
          </a:xfrm>
          <a:prstGeom prst="rect">
            <a:avLst/>
          </a:prstGeom>
        </p:spPr>
      </p:pic>
      <p:pic>
        <p:nvPicPr>
          <p:cNvPr id="5" name="Imagem 4">
            <a:extLst>
              <a:ext uri="{FF2B5EF4-FFF2-40B4-BE49-F238E27FC236}">
                <a16:creationId xmlns:a16="http://schemas.microsoft.com/office/drawing/2014/main" id="{C045FBDC-0740-0137-66ED-5E9FF5078614}"/>
              </a:ext>
            </a:extLst>
          </p:cNvPr>
          <p:cNvPicPr>
            <a:picLocks noChangeAspect="1"/>
          </p:cNvPicPr>
          <p:nvPr/>
        </p:nvPicPr>
        <p:blipFill>
          <a:blip r:embed="rId4"/>
          <a:stretch>
            <a:fillRect/>
          </a:stretch>
        </p:blipFill>
        <p:spPr>
          <a:xfrm>
            <a:off x="2773502" y="4210618"/>
            <a:ext cx="2165887" cy="2156491"/>
          </a:xfrm>
          <a:prstGeom prst="rect">
            <a:avLst/>
          </a:prstGeom>
        </p:spPr>
      </p:pic>
    </p:spTree>
    <p:extLst>
      <p:ext uri="{BB962C8B-B14F-4D97-AF65-F5344CB8AC3E}">
        <p14:creationId xmlns:p14="http://schemas.microsoft.com/office/powerpoint/2010/main" val="225708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lnSpcReduction="1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endParaRPr lang="pt-BR" dirty="0"/>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15395</TotalTime>
  <Words>6248</Words>
  <Application>Microsoft Office PowerPoint</Application>
  <PresentationFormat>Widescreen</PresentationFormat>
  <Paragraphs>1228</Paragraphs>
  <Slides>65</Slides>
  <Notes>34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65</vt:i4>
      </vt:variant>
    </vt:vector>
  </HeadingPairs>
  <TitlesOfParts>
    <vt:vector size="77" baseType="lpstr">
      <vt:lpstr>-apple-system</vt:lpstr>
      <vt:lpstr>Arial</vt:lpstr>
      <vt:lpstr>Calibri</vt:lpstr>
      <vt:lpstr>Calibri Light</vt:lpstr>
      <vt:lpstr>Cambria Math</vt:lpstr>
      <vt:lpstr>DeepSeek-CJK-patch</vt:lpstr>
      <vt:lpstr>Google Sans</vt:lpstr>
      <vt:lpstr>Roboto</vt:lpstr>
      <vt:lpstr>Söhne</vt:lpstr>
      <vt:lpstr>Trebuchet MS</vt:lpstr>
      <vt:lpstr>Wingdings</vt:lpstr>
      <vt:lpstr>Tema do Office</vt:lpstr>
      <vt:lpstr>C24 – Inteligência Artificial: Redes Neurais Convolucionais</vt:lpstr>
      <vt:lpstr>O que vamos ver?</vt:lpstr>
      <vt:lpstr>Dados tabulares </vt:lpstr>
      <vt:lpstr>Padrões globais</vt:lpstr>
      <vt:lpstr>Localidade de referência</vt:lpstr>
      <vt:lpstr>Localidade de referência</vt:lpstr>
      <vt:lpstr>Estrutura espacial</vt:lpstr>
      <vt:lpstr>Imagens simples e “comportadas”</vt:lpstr>
      <vt:lpstr>Imagens complexas</vt:lpstr>
      <vt:lpstr>Imagens complexas</vt:lpstr>
      <vt:lpstr>Neurônios biológicos</vt:lpstr>
      <vt:lpstr>Neurônios biológicos</vt:lpstr>
      <vt:lpstr>Diferença entre camadas densas e convolucionais</vt:lpstr>
      <vt:lpstr>Diferença entre camadas densas e convolucionais</vt:lpstr>
      <vt:lpstr>Diferença entre camadas densas e convolucionais</vt:lpstr>
      <vt:lpstr>Cores básicas e canais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Camadas densas</vt:lpstr>
      <vt:lpstr>Os filtros são aprendidos!</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2571</cp:revision>
  <dcterms:created xsi:type="dcterms:W3CDTF">2020-01-20T13:50:05Z</dcterms:created>
  <dcterms:modified xsi:type="dcterms:W3CDTF">2026-03-12T20:42:33Z</dcterms:modified>
</cp:coreProperties>
</file>