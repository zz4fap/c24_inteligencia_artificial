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handoutMasterIdLst>
    <p:handoutMasterId r:id="rId106"/>
  </p:handoutMasterIdLst>
  <p:sldIdLst>
    <p:sldId id="494" r:id="rId2"/>
    <p:sldId id="495" r:id="rId3"/>
    <p:sldId id="406" r:id="rId4"/>
    <p:sldId id="496" r:id="rId5"/>
    <p:sldId id="520" r:id="rId6"/>
    <p:sldId id="442" r:id="rId7"/>
    <p:sldId id="484" r:id="rId8"/>
    <p:sldId id="498" r:id="rId9"/>
    <p:sldId id="492" r:id="rId10"/>
    <p:sldId id="497" r:id="rId11"/>
    <p:sldId id="503" r:id="rId12"/>
    <p:sldId id="485" r:id="rId13"/>
    <p:sldId id="522" r:id="rId14"/>
    <p:sldId id="505" r:id="rId15"/>
    <p:sldId id="507" r:id="rId16"/>
    <p:sldId id="516" r:id="rId17"/>
    <p:sldId id="513" r:id="rId18"/>
    <p:sldId id="517" r:id="rId19"/>
    <p:sldId id="515" r:id="rId20"/>
    <p:sldId id="523" r:id="rId21"/>
    <p:sldId id="509" r:id="rId22"/>
    <p:sldId id="594"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595" r:id="rId40"/>
    <p:sldId id="488" r:id="rId41"/>
    <p:sldId id="464" r:id="rId42"/>
    <p:sldId id="465" r:id="rId43"/>
    <p:sldId id="437" r:id="rId44"/>
    <p:sldId id="445" r:id="rId45"/>
    <p:sldId id="449" r:id="rId46"/>
    <p:sldId id="450" r:id="rId47"/>
    <p:sldId id="452" r:id="rId48"/>
    <p:sldId id="511" r:id="rId49"/>
    <p:sldId id="455" r:id="rId50"/>
    <p:sldId id="533" r:id="rId51"/>
    <p:sldId id="591" r:id="rId52"/>
    <p:sldId id="460" r:id="rId53"/>
    <p:sldId id="467" r:id="rId54"/>
    <p:sldId id="530" r:id="rId55"/>
    <p:sldId id="531" r:id="rId56"/>
    <p:sldId id="461" r:id="rId57"/>
    <p:sldId id="493" r:id="rId58"/>
    <p:sldId id="462" r:id="rId59"/>
    <p:sldId id="466" r:id="rId60"/>
    <p:sldId id="512" r:id="rId61"/>
    <p:sldId id="538" r:id="rId62"/>
    <p:sldId id="539" r:id="rId63"/>
    <p:sldId id="536" r:id="rId64"/>
    <p:sldId id="558" r:id="rId65"/>
    <p:sldId id="541" r:id="rId66"/>
    <p:sldId id="440" r:id="rId67"/>
    <p:sldId id="542" r:id="rId68"/>
    <p:sldId id="554" r:id="rId69"/>
    <p:sldId id="543" r:id="rId70"/>
    <p:sldId id="544" r:id="rId71"/>
    <p:sldId id="545" r:id="rId72"/>
    <p:sldId id="593" r:id="rId73"/>
    <p:sldId id="547" r:id="rId74"/>
    <p:sldId id="548" r:id="rId75"/>
    <p:sldId id="549" r:id="rId76"/>
    <p:sldId id="550" r:id="rId77"/>
    <p:sldId id="551" r:id="rId78"/>
    <p:sldId id="552" r:id="rId79"/>
    <p:sldId id="588" r:id="rId80"/>
    <p:sldId id="589" r:id="rId81"/>
    <p:sldId id="293" r:id="rId82"/>
    <p:sldId id="306" r:id="rId83"/>
    <p:sldId id="491" r:id="rId84"/>
    <p:sldId id="441" r:id="rId85"/>
    <p:sldId id="469" r:id="rId86"/>
    <p:sldId id="470" r:id="rId87"/>
    <p:sldId id="471" r:id="rId88"/>
    <p:sldId id="472" r:id="rId89"/>
    <p:sldId id="475" r:id="rId90"/>
    <p:sldId id="474" r:id="rId91"/>
    <p:sldId id="540" r:id="rId92"/>
    <p:sldId id="478" r:id="rId93"/>
    <p:sldId id="477" r:id="rId94"/>
    <p:sldId id="490" r:id="rId95"/>
    <p:sldId id="438" r:id="rId96"/>
    <p:sldId id="443" r:id="rId97"/>
    <p:sldId id="446" r:id="rId98"/>
    <p:sldId id="447" r:id="rId99"/>
    <p:sldId id="448" r:id="rId100"/>
    <p:sldId id="458" r:id="rId101"/>
    <p:sldId id="459" r:id="rId102"/>
    <p:sldId id="479" r:id="rId103"/>
    <p:sldId id="556" r:id="rId10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1840" autoAdjust="0"/>
  </p:normalViewPr>
  <p:slideViewPr>
    <p:cSldViewPr snapToGrid="0">
      <p:cViewPr varScale="1">
        <p:scale>
          <a:sx n="90" d="100"/>
          <a:sy n="90" d="100"/>
        </p:scale>
        <p:origin x="1716"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5/10/relationships/revisionInfo" Target="revisionInfo.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14/10/2026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14/10/2026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7319019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partes e objetos completos.</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MLPs </a:t>
            </a:r>
            <a:r>
              <a:rPr lang="en-US" b="1" dirty="0" err="1"/>
              <a:t>não</a:t>
            </a:r>
            <a:r>
              <a:rPr lang="en-US" b="1" dirty="0"/>
              <a:t> </a:t>
            </a:r>
            <a:r>
              <a:rPr lang="en-US" b="1" dirty="0" err="1"/>
              <a:t>exploram</a:t>
            </a:r>
            <a:r>
              <a:rPr lang="en-US" b="1" dirty="0"/>
              <a:t> </a:t>
            </a:r>
            <a:r>
              <a:rPr lang="en-US" b="1" dirty="0" err="1"/>
              <a:t>explicitamente</a:t>
            </a:r>
            <a:r>
              <a:rPr lang="en-US" b="1" dirty="0"/>
              <a:t> à </a:t>
            </a:r>
            <a:r>
              <a:rPr lang="en-US" b="1" dirty="0" err="1"/>
              <a:t>estrutura</a:t>
            </a:r>
            <a:r>
              <a:rPr lang="en-US" b="1" dirty="0"/>
              <a:t> </a:t>
            </a:r>
            <a:r>
              <a:rPr lang="en-US" b="1" dirty="0" err="1"/>
              <a:t>espacial</a:t>
            </a:r>
            <a:r>
              <a:rPr lang="en-US" dirty="0"/>
              <a:t> da </a:t>
            </a:r>
            <a:r>
              <a:rPr lang="en-US" dirty="0" err="1"/>
              <a:t>imagem</a:t>
            </a:r>
            <a:r>
              <a:rPr lang="en-US" dirty="0"/>
              <a:t>.</a:t>
            </a:r>
          </a:p>
          <a:p>
            <a:endParaRPr lang="en-US" dirty="0"/>
          </a:p>
          <a:p>
            <a:r>
              <a:rPr lang="en-US" b="1" dirty="0"/>
              <a:t>MLPs </a:t>
            </a:r>
            <a:r>
              <a:rPr lang="en-US" b="1" dirty="0" err="1"/>
              <a:t>não</a:t>
            </a:r>
            <a:r>
              <a:rPr lang="en-US" b="1" dirty="0"/>
              <a:t> </a:t>
            </a:r>
            <a:r>
              <a:rPr lang="en-US" b="1" dirty="0" err="1"/>
              <a:t>impõe</a:t>
            </a:r>
            <a:r>
              <a:rPr lang="en-US" b="1" dirty="0"/>
              <a:t> </a:t>
            </a:r>
            <a:r>
              <a:rPr lang="en-US" b="1" dirty="0" err="1"/>
              <a:t>que</a:t>
            </a:r>
            <a:r>
              <a:rPr lang="en-US" b="1" dirty="0"/>
              <a:t> pixels </a:t>
            </a:r>
            <a:r>
              <a:rPr lang="en-US" b="1" dirty="0" err="1"/>
              <a:t>próximos</a:t>
            </a:r>
            <a:r>
              <a:rPr lang="en-US" b="1" dirty="0"/>
              <a:t> </a:t>
            </a:r>
            <a:r>
              <a:rPr lang="en-US" b="1" dirty="0" err="1"/>
              <a:t>estejam</a:t>
            </a:r>
            <a:r>
              <a:rPr lang="en-US" b="1" dirty="0"/>
              <a:t> </a:t>
            </a:r>
            <a:r>
              <a:rPr lang="en-US" b="1" dirty="0" err="1"/>
              <a:t>relacionados</a:t>
            </a:r>
            <a:r>
              <a:rPr lang="en-US" b="1" dirty="0"/>
              <a:t> nem </a:t>
            </a:r>
            <a:r>
              <a:rPr lang="en-US" b="1" dirty="0" err="1"/>
              <a:t>que</a:t>
            </a:r>
            <a:r>
              <a:rPr lang="en-US" b="1" dirty="0"/>
              <a:t> o </a:t>
            </a:r>
            <a:r>
              <a:rPr lang="en-US" b="1" dirty="0" err="1"/>
              <a:t>mesmo</a:t>
            </a:r>
            <a:r>
              <a:rPr lang="en-US" b="1" dirty="0"/>
              <a:t> </a:t>
            </a:r>
            <a:r>
              <a:rPr lang="en-US" b="1" dirty="0" err="1"/>
              <a:t>padrão</a:t>
            </a:r>
            <a:r>
              <a:rPr lang="en-US" b="1" dirty="0"/>
              <a:t> </a:t>
            </a:r>
            <a:r>
              <a:rPr lang="en-US" b="1" dirty="0" err="1"/>
              <a:t>seja</a:t>
            </a:r>
            <a:r>
              <a:rPr lang="en-US" b="1" dirty="0"/>
              <a:t> </a:t>
            </a:r>
            <a:r>
              <a:rPr lang="en-US" b="1" dirty="0" err="1"/>
              <a:t>detectado</a:t>
            </a:r>
            <a:r>
              <a:rPr lang="en-US" b="1" dirty="0"/>
              <a:t> </a:t>
            </a:r>
            <a:r>
              <a:rPr lang="en-US" b="1" dirty="0" err="1"/>
              <a:t>independentemente</a:t>
            </a:r>
            <a:r>
              <a:rPr lang="en-US" b="1" dirty="0"/>
              <a:t> da </a:t>
            </a:r>
            <a:r>
              <a:rPr lang="en-US" b="1" dirty="0" err="1"/>
              <a:t>posição</a:t>
            </a:r>
            <a:r>
              <a:rPr lang="en-US" dirty="0"/>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informações próximas umas das outras estão relacionadas. </a:t>
            </a:r>
            <a:endParaRPr lang="pt-BR" b="0" i="0" dirty="0">
              <a:solidFill>
                <a:srgbClr val="404040"/>
              </a:solidFill>
              <a:effectLst/>
              <a:latin typeface="DeepSeek-CJK-patch"/>
            </a:endParaRPr>
          </a:p>
          <a:p>
            <a:endParaRPr lang="pt-BR" b="0" i="0" dirty="0">
              <a:solidFill>
                <a:srgbClr val="404040"/>
              </a:solidFill>
              <a:effectLst/>
              <a:latin typeface="DeepSeek-CJK-patch"/>
            </a:endParaRPr>
          </a:p>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DNNs,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Uma MLP </a:t>
            </a:r>
            <a:r>
              <a:rPr lang="en-US" dirty="0" err="1"/>
              <a:t>que</a:t>
            </a:r>
            <a:r>
              <a:rPr lang="en-US" dirty="0"/>
              <a:t> </a:t>
            </a:r>
            <a:r>
              <a:rPr lang="en-US" dirty="0" err="1"/>
              <a:t>aprendeu</a:t>
            </a:r>
            <a:r>
              <a:rPr lang="en-US" dirty="0"/>
              <a:t> a </a:t>
            </a:r>
            <a:r>
              <a:rPr lang="en-US" dirty="0" err="1"/>
              <a:t>reconhecer</a:t>
            </a:r>
            <a:r>
              <a:rPr lang="en-US" dirty="0"/>
              <a:t> um </a:t>
            </a:r>
            <a:r>
              <a:rPr lang="en-US" dirty="0" err="1"/>
              <a:t>olho</a:t>
            </a:r>
            <a:r>
              <a:rPr lang="en-US" dirty="0"/>
              <a:t> no canto superior </a:t>
            </a:r>
            <a:r>
              <a:rPr lang="en-US" dirty="0" err="1"/>
              <a:t>esquerdo</a:t>
            </a:r>
            <a:r>
              <a:rPr lang="en-US" dirty="0"/>
              <a:t> </a:t>
            </a:r>
            <a:r>
              <a:rPr lang="en-US" dirty="0" err="1"/>
              <a:t>precisa</a:t>
            </a:r>
            <a:r>
              <a:rPr lang="en-US" dirty="0"/>
              <a:t> </a:t>
            </a:r>
            <a:r>
              <a:rPr lang="en-US" dirty="0" err="1"/>
              <a:t>reaprender</a:t>
            </a:r>
            <a:r>
              <a:rPr lang="en-US" dirty="0"/>
              <a:t> o </a:t>
            </a:r>
            <a:r>
              <a:rPr lang="en-US" dirty="0" err="1"/>
              <a:t>mesmo</a:t>
            </a:r>
            <a:r>
              <a:rPr lang="en-US" dirty="0"/>
              <a:t> </a:t>
            </a:r>
            <a:r>
              <a:rPr lang="en-US" dirty="0" err="1"/>
              <a:t>padrão</a:t>
            </a:r>
            <a:r>
              <a:rPr lang="en-US" dirty="0"/>
              <a:t> </a:t>
            </a:r>
            <a:r>
              <a:rPr lang="en-US" dirty="0" err="1"/>
              <a:t>em</a:t>
            </a:r>
            <a:r>
              <a:rPr lang="en-US" dirty="0"/>
              <a:t> </a:t>
            </a:r>
            <a:r>
              <a:rPr lang="en-US" dirty="0" err="1"/>
              <a:t>cada</a:t>
            </a:r>
            <a:r>
              <a:rPr lang="en-US" dirty="0"/>
              <a:t> </a:t>
            </a:r>
            <a:r>
              <a:rPr lang="en-US" dirty="0" err="1"/>
              <a:t>posição</a:t>
            </a:r>
            <a:r>
              <a:rPr lang="en-US" dirty="0"/>
              <a:t>.</a:t>
            </a:r>
          </a:p>
          <a:p>
            <a:endParaRPr lang="en-US" dirty="0"/>
          </a:p>
          <a:p>
            <a:r>
              <a:rPr lang="en-US" dirty="0"/>
              <a:t>A MLP </a:t>
            </a:r>
            <a:r>
              <a:rPr lang="en-US" dirty="0" err="1"/>
              <a:t>precisa</a:t>
            </a:r>
            <a:r>
              <a:rPr lang="en-US" dirty="0"/>
              <a:t> de </a:t>
            </a:r>
            <a:r>
              <a:rPr lang="en-US" dirty="0" err="1"/>
              <a:t>capacidade</a:t>
            </a:r>
            <a:r>
              <a:rPr lang="en-US" dirty="0"/>
              <a:t> extra para </a:t>
            </a:r>
            <a:r>
              <a:rPr lang="en-US" dirty="0" err="1"/>
              <a:t>compensar</a:t>
            </a:r>
            <a:r>
              <a:rPr lang="en-US" dirty="0"/>
              <a:t> o </a:t>
            </a:r>
            <a:r>
              <a:rPr lang="en-US" dirty="0" err="1"/>
              <a:t>que</a:t>
            </a:r>
            <a:r>
              <a:rPr lang="en-US" dirty="0"/>
              <a:t> a CNN </a:t>
            </a:r>
            <a:r>
              <a:rPr lang="en-US" dirty="0" err="1"/>
              <a:t>já</a:t>
            </a:r>
            <a:r>
              <a:rPr lang="en-US" dirty="0"/>
              <a:t> </a:t>
            </a:r>
            <a:r>
              <a:rPr lang="en-US" dirty="0" err="1"/>
              <a:t>tem</a:t>
            </a:r>
            <a:r>
              <a:rPr lang="en-US" dirty="0"/>
              <a:t> </a:t>
            </a:r>
            <a:r>
              <a:rPr lang="en-US" dirty="0" err="1"/>
              <a:t>embutido</a:t>
            </a:r>
            <a:r>
              <a:rPr lang="en-US" dirty="0"/>
              <a:t>: se um </a:t>
            </a:r>
            <a:r>
              <a:rPr lang="en-US" dirty="0" err="1"/>
              <a:t>padrão</a:t>
            </a:r>
            <a:r>
              <a:rPr lang="en-US" dirty="0"/>
              <a:t> </a:t>
            </a:r>
            <a:r>
              <a:rPr lang="en-US" dirty="0" err="1"/>
              <a:t>pode</a:t>
            </a:r>
            <a:r>
              <a:rPr lang="en-US" dirty="0"/>
              <a:t> </a:t>
            </a:r>
            <a:r>
              <a:rPr lang="en-US" dirty="0" err="1"/>
              <a:t>aparecer</a:t>
            </a:r>
            <a:r>
              <a:rPr lang="en-US" dirty="0"/>
              <a:t> </a:t>
            </a:r>
            <a:r>
              <a:rPr lang="en-US" dirty="0" err="1"/>
              <a:t>em</a:t>
            </a:r>
            <a:r>
              <a:rPr lang="en-US" dirty="0"/>
              <a:t> </a:t>
            </a:r>
            <a:r>
              <a:rPr lang="en-US" dirty="0" err="1"/>
              <a:t>várias</a:t>
            </a:r>
            <a:r>
              <a:rPr lang="en-US" dirty="0"/>
              <a:t> </a:t>
            </a:r>
            <a:r>
              <a:rPr lang="en-US" dirty="0" err="1"/>
              <a:t>posições</a:t>
            </a:r>
            <a:r>
              <a:rPr lang="en-US" dirty="0"/>
              <a:t>, a MLP </a:t>
            </a:r>
            <a:r>
              <a:rPr lang="en-US" dirty="0" err="1"/>
              <a:t>precisa</a:t>
            </a:r>
            <a:r>
              <a:rPr lang="en-US" dirty="0"/>
              <a:t> de </a:t>
            </a:r>
            <a:r>
              <a:rPr lang="en-US" dirty="0" err="1"/>
              <a:t>neurônios</a:t>
            </a:r>
            <a:r>
              <a:rPr lang="en-US" dirty="0"/>
              <a:t> </a:t>
            </a:r>
            <a:r>
              <a:rPr lang="en-US" dirty="0" err="1"/>
              <a:t>dedicados</a:t>
            </a:r>
            <a:r>
              <a:rPr lang="en-US" dirty="0"/>
              <a:t> a </a:t>
            </a:r>
            <a:r>
              <a:rPr lang="en-US" dirty="0" err="1"/>
              <a:t>detectá</a:t>
            </a:r>
            <a:r>
              <a:rPr lang="en-US" dirty="0"/>
              <a:t>-lo </a:t>
            </a:r>
            <a:r>
              <a:rPr lang="en-US" dirty="0" err="1"/>
              <a:t>em</a:t>
            </a:r>
            <a:r>
              <a:rPr lang="en-US" dirty="0"/>
              <a:t> </a:t>
            </a:r>
            <a:r>
              <a:rPr lang="en-US" dirty="0" err="1"/>
              <a:t>cada</a:t>
            </a:r>
            <a:r>
              <a:rPr lang="en-US" dirty="0"/>
              <a:t> </a:t>
            </a:r>
            <a:r>
              <a:rPr lang="en-US" dirty="0" err="1"/>
              <a:t>uma</a:t>
            </a:r>
            <a:r>
              <a:rPr lang="en-US" dirty="0"/>
              <a:t> delas.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8748644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buFont typeface="Courier New" panose="02070309020205020404" pitchFamily="49" charset="0"/>
              <a:buNone/>
            </a:pPr>
            <a:r>
              <a:rPr lang="pt-BR" dirty="0"/>
              <a:t>Características simples se unem para criar características mais complexas.</a:t>
            </a:r>
          </a:p>
          <a:p>
            <a:pPr lvl="0">
              <a:buFont typeface="Courier New" panose="02070309020205020404" pitchFamily="49" charset="0"/>
              <a:buNone/>
            </a:pPr>
            <a:r>
              <a:rPr lang="pt-BR" dirty="0"/>
              <a:t>Por exemplo, bordas, linhas e cantos formam contornos e texturas, que formam partes elementares de objetos e, que por sua vez, formam objetos completos.</a:t>
            </a:r>
          </a:p>
          <a:p>
            <a:pPr lvl="0">
              <a:buFont typeface="Courier New" panose="02070309020205020404" pitchFamily="49" charset="0"/>
              <a:buNone/>
            </a:pP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171450" lvl="0" indent="-171450">
              <a:buFont typeface="Arial" panose="020B0604020202020204" pitchFamily="34" charset="0"/>
              <a:buChar char="•"/>
            </a:pPr>
            <a:r>
              <a:rPr lang="pt-BR" b="0" dirty="0"/>
              <a:t>Localidade espacial: pixels próximos são correlacionados</a:t>
            </a:r>
          </a:p>
          <a:p>
            <a:pPr marL="171450" lvl="0" indent="-171450">
              <a:buFont typeface="Arial" panose="020B0604020202020204" pitchFamily="34" charset="0"/>
              <a:buChar char="•"/>
            </a:pPr>
            <a:r>
              <a:rPr lang="pt-BR" b="0" dirty="0" err="1"/>
              <a:t>Estacionariedade</a:t>
            </a:r>
            <a:r>
              <a:rPr lang="pt-BR" b="0" dirty="0"/>
              <a:t>: o mesmo padrão pode se repetir em outras posições da imagem</a:t>
            </a:r>
          </a:p>
          <a:p>
            <a:pPr marL="171450" lvl="0" indent="-171450">
              <a:buFont typeface="Arial" panose="020B0604020202020204" pitchFamily="34" charset="0"/>
              <a:buChar char="•"/>
            </a:pPr>
            <a:r>
              <a:rPr lang="pt-BR" b="0" dirty="0"/>
              <a:t>Composição hierárquica de padrões: </a:t>
            </a:r>
            <a:r>
              <a:rPr lang="pt-BR" dirty="0"/>
              <a:t>Padrões simples formam padrões mais complexos</a:t>
            </a:r>
          </a:p>
          <a:p>
            <a:pPr marL="171450" lvl="0" indent="-171450">
              <a:buFont typeface="Arial" panose="020B0604020202020204" pitchFamily="34" charset="0"/>
              <a:buChar char="•"/>
            </a:pPr>
            <a:endParaRPr lang="pt-BR" b="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pPr marL="0" lvl="0" indent="0">
              <a:buFont typeface="Arial" panose="020B0604020202020204" pitchFamily="34" charset="0"/>
              <a:buNone/>
            </a:pPr>
            <a:endParaRPr lang="pt-BR" b="0"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3118636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noProof="0" dirty="0"/>
              <a:t>As camadas densas c</a:t>
            </a:r>
            <a:r>
              <a:rPr lang="pt-BR" baseline="0" noProof="0" dirty="0"/>
              <a:t>ombinam as características de alto nível detectadas </a:t>
            </a:r>
            <a:r>
              <a:rPr lang="pt-BR" noProof="0" dirty="0"/>
              <a:t>para produzir a saída final,</a:t>
            </a:r>
            <a:r>
              <a:rPr lang="pt-BR" baseline="0" noProof="0" dirty="0"/>
              <a:t> ou seja, em uma classe a que pertence uma imagem de entrada.</a:t>
            </a:r>
            <a:endParaRPr lang="pt-BR" noProof="0" dirty="0"/>
          </a:p>
          <a:p>
            <a:endParaRPr lang="pt-BR" baseline="0" noProof="0" dirty="0"/>
          </a:p>
          <a:p>
            <a:r>
              <a:rPr lang="pt-BR" baseline="0" noProof="0" dirty="0"/>
              <a:t>Na entrada das camadas densas temos informação semântica e não mais espacial.</a:t>
            </a:r>
          </a:p>
          <a:p>
            <a:endParaRPr lang="pt-BR" baseline="0" noProof="0" dirty="0"/>
          </a:p>
          <a:p>
            <a:r>
              <a:rPr lang="pt-BR" noProof="0" dirty="0"/>
              <a:t>A pergunta que os mapas de características na entrada das camadas densas respondem deixa de ser "onde há uma borda?" e passa a ser "o que há na imagem?".</a:t>
            </a:r>
          </a:p>
          <a:p>
            <a:endParaRPr lang="pt-BR" noProof="0" dirty="0"/>
          </a:p>
          <a:p>
            <a:r>
              <a:rPr lang="pt-BR" noProof="0" dirty="0"/>
              <a:t>As camadas densas só precisam combinar as características ("tem pelo, tem focinho, tem orelha pontuda → gato"), e isso é um problema de combinação de atributos, não de geometria.</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5125763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32498784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u="none" strike="noStrike" kern="1200" dirty="0">
                <a:solidFill>
                  <a:schemeClr val="tx1"/>
                </a:solidFill>
                <a:effectLst/>
                <a:latin typeface="+mn-lt"/>
                <a:ea typeface="+mn-ea"/>
                <a:cs typeface="+mn-cs"/>
              </a:rPr>
              <a:t>O </a:t>
            </a:r>
            <a:r>
              <a:rPr lang="en-US" sz="1200" b="0" u="none" strike="noStrike" kern="1200" dirty="0" err="1">
                <a:solidFill>
                  <a:schemeClr val="tx1"/>
                </a:solidFill>
                <a:effectLst/>
                <a:latin typeface="+mn-lt"/>
                <a:ea typeface="+mn-ea"/>
                <a:cs typeface="+mn-cs"/>
              </a:rPr>
              <a:t>córtex</a:t>
            </a:r>
            <a:r>
              <a:rPr lang="en-US" sz="1200" b="0" u="none" strike="noStrike" kern="1200" dirty="0">
                <a:solidFill>
                  <a:schemeClr val="tx1"/>
                </a:solidFill>
                <a:effectLst/>
                <a:latin typeface="+mn-lt"/>
                <a:ea typeface="+mn-ea"/>
                <a:cs typeface="+mn-cs"/>
              </a:rPr>
              <a:t> cerebral </a:t>
            </a:r>
            <a:r>
              <a:rPr lang="en-US" dirty="0"/>
              <a:t>é a </a:t>
            </a:r>
            <a:r>
              <a:rPr lang="en-US" dirty="0" err="1"/>
              <a:t>camada</a:t>
            </a:r>
            <a:r>
              <a:rPr lang="en-US" dirty="0"/>
              <a:t> </a:t>
            </a:r>
            <a:r>
              <a:rPr lang="en-US" dirty="0" err="1"/>
              <a:t>mais</a:t>
            </a:r>
            <a:r>
              <a:rPr lang="en-US" dirty="0"/>
              <a:t> externa do </a:t>
            </a:r>
            <a:r>
              <a:rPr lang="en-US" dirty="0" err="1"/>
              <a:t>cérebro</a:t>
            </a:r>
            <a:endParaRPr lang="pt-BR" b="0" i="0" dirty="0">
              <a:solidFill>
                <a:srgbClr val="BDC1C6"/>
              </a:solidFill>
              <a:effectLst/>
              <a:latin typeface="Google Sans"/>
            </a:endParaRP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584955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informação ao longo das camadas do córtex deixa de ser “onde está tal padrão” (informação espacial) para “o que está contido” (informação semântica) no que é visto.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CNNs,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a:t>i </a:t>
            </a:r>
            <a:r>
              <a:rPr lang="en-US" dirty="0" err="1"/>
              <a:t>Índice</a:t>
            </a:r>
            <a:r>
              <a:rPr lang="en-US" dirty="0"/>
              <a:t> da </a:t>
            </a:r>
            <a:r>
              <a:rPr lang="en-US" b="1" dirty="0" err="1"/>
              <a:t>linha</a:t>
            </a:r>
            <a:r>
              <a:rPr lang="en-US" dirty="0"/>
              <a:t> </a:t>
            </a:r>
            <a:r>
              <a:rPr lang="en-US" dirty="0" err="1"/>
              <a:t>na</a:t>
            </a:r>
            <a:r>
              <a:rPr lang="en-US" dirty="0"/>
              <a:t> </a:t>
            </a:r>
            <a:r>
              <a:rPr lang="en-US" dirty="0" err="1"/>
              <a:t>saída</a:t>
            </a:r>
            <a:r>
              <a:rPr lang="en-US" dirty="0"/>
              <a:t> (e </a:t>
            </a:r>
            <a:r>
              <a:rPr lang="en-US" dirty="0" err="1"/>
              <a:t>posição</a:t>
            </a:r>
            <a:r>
              <a:rPr lang="en-US" dirty="0"/>
              <a:t> vertical </a:t>
            </a:r>
            <a:r>
              <a:rPr lang="en-US" dirty="0" err="1"/>
              <a:t>inicial</a:t>
            </a:r>
            <a:r>
              <a:rPr lang="en-US" dirty="0"/>
              <a:t> da </a:t>
            </a:r>
            <a:r>
              <a:rPr lang="en-US" dirty="0" err="1"/>
              <a:t>janela</a:t>
            </a:r>
            <a:r>
              <a:rPr lang="en-US" dirty="0"/>
              <a:t> </a:t>
            </a:r>
            <a:r>
              <a:rPr lang="en-US" dirty="0" err="1"/>
              <a:t>na</a:t>
            </a:r>
            <a:r>
              <a:rPr lang="en-US" dirty="0"/>
              <a:t> entrada)</a:t>
            </a:r>
          </a:p>
          <a:p>
            <a:r>
              <a:rPr lang="en-US" b="1" dirty="0"/>
              <a:t>j </a:t>
            </a:r>
            <a:r>
              <a:rPr lang="en-US" dirty="0" err="1"/>
              <a:t>Índice</a:t>
            </a:r>
            <a:r>
              <a:rPr lang="en-US" dirty="0"/>
              <a:t> da </a:t>
            </a:r>
            <a:r>
              <a:rPr lang="en-US" b="1" dirty="0" err="1"/>
              <a:t>coluna</a:t>
            </a:r>
            <a:r>
              <a:rPr lang="en-US" dirty="0"/>
              <a:t> </a:t>
            </a:r>
            <a:r>
              <a:rPr lang="en-US" dirty="0" err="1"/>
              <a:t>na</a:t>
            </a:r>
            <a:r>
              <a:rPr lang="en-US" dirty="0"/>
              <a:t> </a:t>
            </a:r>
            <a:r>
              <a:rPr lang="en-US" dirty="0" err="1"/>
              <a:t>saída</a:t>
            </a:r>
            <a:r>
              <a:rPr lang="en-US" dirty="0"/>
              <a:t> (e </a:t>
            </a:r>
            <a:r>
              <a:rPr lang="en-US" dirty="0" err="1"/>
              <a:t>posição</a:t>
            </a:r>
            <a:r>
              <a:rPr lang="en-US" dirty="0"/>
              <a:t> horizontal </a:t>
            </a:r>
            <a:r>
              <a:rPr lang="en-US" dirty="0" err="1"/>
              <a:t>inicial</a:t>
            </a:r>
            <a:r>
              <a:rPr lang="en-US" dirty="0"/>
              <a:t> da </a:t>
            </a:r>
            <a:r>
              <a:rPr lang="en-US" dirty="0" err="1"/>
              <a:t>janela</a:t>
            </a:r>
            <a:r>
              <a:rPr lang="en-US" dirty="0"/>
              <a:t> </a:t>
            </a:r>
            <a:r>
              <a:rPr lang="en-US" dirty="0" err="1"/>
              <a:t>na</a:t>
            </a:r>
            <a:r>
              <a:rPr lang="en-US" dirty="0"/>
              <a:t> entrada)</a:t>
            </a:r>
          </a:p>
          <a:p>
            <a:r>
              <a:rPr lang="en-US" b="1" dirty="0"/>
              <a:t>m </a:t>
            </a:r>
            <a:r>
              <a:rPr lang="en-US" dirty="0" err="1"/>
              <a:t>Índice</a:t>
            </a:r>
            <a:r>
              <a:rPr lang="en-US" dirty="0"/>
              <a:t> da </a:t>
            </a:r>
            <a:r>
              <a:rPr lang="en-US" b="1" dirty="0" err="1"/>
              <a:t>linha</a:t>
            </a:r>
            <a:r>
              <a:rPr lang="en-US" b="1" dirty="0"/>
              <a:t> </a:t>
            </a:r>
            <a:r>
              <a:rPr lang="en-US" b="1" dirty="0" err="1"/>
              <a:t>dentro</a:t>
            </a:r>
            <a:r>
              <a:rPr lang="en-US" b="1" dirty="0"/>
              <a:t> do kernel</a:t>
            </a:r>
            <a:r>
              <a:rPr lang="en-US" dirty="0"/>
              <a:t> (</a:t>
            </a:r>
            <a:r>
              <a:rPr lang="en-US" dirty="0" err="1"/>
              <a:t>deslocamento</a:t>
            </a:r>
            <a:r>
              <a:rPr lang="en-US" dirty="0"/>
              <a:t> vertical a </a:t>
            </a:r>
            <a:r>
              <a:rPr lang="en-US" dirty="0" err="1"/>
              <a:t>partir</a:t>
            </a:r>
            <a:r>
              <a:rPr lang="en-US" dirty="0"/>
              <a:t> de </a:t>
            </a:r>
            <a:r>
              <a:rPr lang="en-US" dirty="0" err="1"/>
              <a:t>i</a:t>
            </a:r>
            <a:r>
              <a:rPr lang="en-US" dirty="0"/>
              <a:t>)</a:t>
            </a:r>
          </a:p>
          <a:p>
            <a:r>
              <a:rPr lang="en-US" b="1" dirty="0"/>
              <a:t>n </a:t>
            </a:r>
            <a:r>
              <a:rPr lang="en-US" dirty="0" err="1"/>
              <a:t>Índice</a:t>
            </a:r>
            <a:r>
              <a:rPr lang="en-US" dirty="0"/>
              <a:t> da </a:t>
            </a:r>
            <a:r>
              <a:rPr lang="en-US" b="1" dirty="0" err="1"/>
              <a:t>coluna</a:t>
            </a:r>
            <a:r>
              <a:rPr lang="en-US" b="1" dirty="0"/>
              <a:t> </a:t>
            </a:r>
            <a:r>
              <a:rPr lang="en-US" b="1" dirty="0" err="1"/>
              <a:t>dentro</a:t>
            </a:r>
            <a:r>
              <a:rPr lang="en-US" b="1" dirty="0"/>
              <a:t> do kernel</a:t>
            </a:r>
            <a:r>
              <a:rPr lang="en-US" dirty="0"/>
              <a:t> (</a:t>
            </a:r>
            <a:r>
              <a:rPr lang="en-US" dirty="0" err="1"/>
              <a:t>deslocamento</a:t>
            </a:r>
            <a:r>
              <a:rPr lang="en-US" dirty="0"/>
              <a:t> horizontal a </a:t>
            </a:r>
            <a:r>
              <a:rPr lang="en-US" dirty="0" err="1"/>
              <a:t>partir</a:t>
            </a:r>
            <a:r>
              <a:rPr lang="en-US" dirty="0"/>
              <a:t> de j)</a:t>
            </a:r>
          </a:p>
          <a:p>
            <a:pPr rtl="0"/>
            <a:endParaRPr lang="en-US" b="1" dirty="0"/>
          </a:p>
          <a:p>
            <a:pPr rtl="0"/>
            <a:endParaRPr lang="en-US" b="1" dirty="0"/>
          </a:p>
          <a:p>
            <a:pPr rtl="0"/>
            <a:r>
              <a:rPr lang="en-US" b="1" dirty="0"/>
              <a:t>Como </a:t>
            </a:r>
            <a:r>
              <a:rPr lang="en-US" b="1" dirty="0" err="1"/>
              <a:t>os</a:t>
            </a:r>
            <a:r>
              <a:rPr lang="en-US" b="1" dirty="0"/>
              <a:t> </a:t>
            </a:r>
            <a:r>
              <a:rPr lang="en-US" b="1" dirty="0" err="1"/>
              <a:t>índices</a:t>
            </a:r>
            <a:r>
              <a:rPr lang="en-US" b="1" dirty="0"/>
              <a:t> se </a:t>
            </a:r>
            <a:r>
              <a:rPr lang="en-US" b="1" dirty="0" err="1"/>
              <a:t>relacionam</a:t>
            </a:r>
            <a:endParaRPr lang="en-US" b="1" dirty="0"/>
          </a:p>
          <a:p>
            <a:pPr lvl="0" rtl="0"/>
            <a:r>
              <a:rPr lang="en-US" b="1" dirty="0"/>
              <a:t>O par (</a:t>
            </a:r>
            <a:r>
              <a:rPr lang="en-US" b="1" dirty="0" err="1"/>
              <a:t>i</a:t>
            </a:r>
            <a:r>
              <a:rPr lang="en-US" b="1" dirty="0"/>
              <a:t>, j)</a:t>
            </a:r>
            <a:r>
              <a:rPr lang="en-US" dirty="0"/>
              <a:t> </a:t>
            </a:r>
            <a:r>
              <a:rPr lang="en-US" dirty="0" err="1"/>
              <a:t>diz</a:t>
            </a:r>
            <a:r>
              <a:rPr lang="en-US" dirty="0"/>
              <a:t> </a:t>
            </a:r>
            <a:r>
              <a:rPr lang="en-US" i="1" dirty="0" err="1"/>
              <a:t>onde</a:t>
            </a:r>
            <a:r>
              <a:rPr lang="en-US" dirty="0"/>
              <a:t> a </a:t>
            </a:r>
            <a:r>
              <a:rPr lang="en-US" dirty="0" err="1"/>
              <a:t>janela</a:t>
            </a:r>
            <a:r>
              <a:rPr lang="en-US" dirty="0"/>
              <a:t> </a:t>
            </a:r>
            <a:r>
              <a:rPr lang="en-US" dirty="0" err="1"/>
              <a:t>está</a:t>
            </a:r>
            <a:r>
              <a:rPr lang="en-US" dirty="0"/>
              <a:t> </a:t>
            </a:r>
            <a:r>
              <a:rPr lang="en-US" dirty="0" err="1"/>
              <a:t>posicionada</a:t>
            </a:r>
            <a:r>
              <a:rPr lang="en-US" dirty="0"/>
              <a:t> </a:t>
            </a:r>
            <a:r>
              <a:rPr lang="en-US" dirty="0" err="1"/>
              <a:t>na</a:t>
            </a:r>
            <a:r>
              <a:rPr lang="en-US" dirty="0"/>
              <a:t> entrada, e </a:t>
            </a:r>
            <a:r>
              <a:rPr lang="en-US" dirty="0" err="1"/>
              <a:t>também</a:t>
            </a:r>
            <a:r>
              <a:rPr lang="en-US" dirty="0"/>
              <a:t> </a:t>
            </a:r>
            <a:r>
              <a:rPr lang="en-US" i="1" dirty="0" err="1"/>
              <a:t>onde</a:t>
            </a:r>
            <a:r>
              <a:rPr lang="en-US" dirty="0"/>
              <a:t> o </a:t>
            </a:r>
            <a:r>
              <a:rPr lang="en-US" dirty="0" err="1"/>
              <a:t>resultado</a:t>
            </a:r>
            <a:r>
              <a:rPr lang="en-US" dirty="0"/>
              <a:t> </a:t>
            </a:r>
            <a:r>
              <a:rPr lang="en-US" dirty="0" err="1"/>
              <a:t>será</a:t>
            </a:r>
            <a:r>
              <a:rPr lang="en-US" dirty="0"/>
              <a:t> </a:t>
            </a:r>
            <a:r>
              <a:rPr lang="en-US" dirty="0" err="1"/>
              <a:t>armazenado</a:t>
            </a:r>
            <a:r>
              <a:rPr lang="en-US" dirty="0"/>
              <a:t> </a:t>
            </a:r>
            <a:r>
              <a:rPr lang="en-US" dirty="0" err="1"/>
              <a:t>na</a:t>
            </a:r>
            <a:r>
              <a:rPr lang="en-US" dirty="0"/>
              <a:t> </a:t>
            </a:r>
            <a:r>
              <a:rPr lang="en-US" dirty="0" err="1"/>
              <a:t>saída</a:t>
            </a:r>
            <a:r>
              <a:rPr lang="en-US" dirty="0"/>
              <a:t>.</a:t>
            </a:r>
          </a:p>
          <a:p>
            <a:pPr lvl="0" rtl="0"/>
            <a:r>
              <a:rPr lang="en-US" b="1" dirty="0"/>
              <a:t>O par (m, n)</a:t>
            </a:r>
            <a:r>
              <a:rPr lang="en-US" dirty="0"/>
              <a:t> </a:t>
            </a:r>
            <a:r>
              <a:rPr lang="en-US" dirty="0" err="1"/>
              <a:t>percorre</a:t>
            </a:r>
            <a:r>
              <a:rPr lang="en-US" dirty="0"/>
              <a:t> </a:t>
            </a:r>
            <a:r>
              <a:rPr lang="en-US" i="1" dirty="0" err="1"/>
              <a:t>dentro</a:t>
            </a:r>
            <a:r>
              <a:rPr lang="en-US" dirty="0"/>
              <a:t> do kernel. Para o kernel 2×2 do </a:t>
            </a:r>
            <a:r>
              <a:rPr lang="en-US" dirty="0" err="1"/>
              <a:t>exemplo</a:t>
            </a:r>
            <a:r>
              <a:rPr lang="en-US" dirty="0"/>
              <a:t>, m ∈ {0, 1} e n ∈ {0, 1}.</a:t>
            </a:r>
          </a:p>
          <a:p>
            <a:pPr lvl="0" rtl="0"/>
            <a:r>
              <a:rPr lang="en-US" b="1" dirty="0"/>
              <a:t>I(</a:t>
            </a:r>
            <a:r>
              <a:rPr lang="en-US" b="1" dirty="0" err="1"/>
              <a:t>i+m</a:t>
            </a:r>
            <a:r>
              <a:rPr lang="en-US" b="1" dirty="0"/>
              <a:t>, </a:t>
            </a:r>
            <a:r>
              <a:rPr lang="en-US" b="1" dirty="0" err="1"/>
              <a:t>j+n</a:t>
            </a:r>
            <a:r>
              <a:rPr lang="en-US" b="1" dirty="0"/>
              <a:t>)</a:t>
            </a:r>
            <a:r>
              <a:rPr lang="en-US" dirty="0"/>
              <a:t> é, </a:t>
            </a:r>
            <a:r>
              <a:rPr lang="en-US" dirty="0" err="1"/>
              <a:t>portanto</a:t>
            </a:r>
            <a:r>
              <a:rPr lang="en-US" dirty="0"/>
              <a:t>, o pixel da entrada </a:t>
            </a:r>
            <a:r>
              <a:rPr lang="en-US" dirty="0" err="1"/>
              <a:t>que</a:t>
            </a:r>
            <a:r>
              <a:rPr lang="en-US" dirty="0"/>
              <a:t> </a:t>
            </a:r>
            <a:r>
              <a:rPr lang="en-US" dirty="0" err="1"/>
              <a:t>fica</a:t>
            </a:r>
            <a:r>
              <a:rPr lang="en-US" dirty="0"/>
              <a:t> sob a </a:t>
            </a:r>
            <a:r>
              <a:rPr lang="en-US" dirty="0" err="1"/>
              <a:t>posição</a:t>
            </a:r>
            <a:r>
              <a:rPr lang="en-US" dirty="0"/>
              <a:t> (m, n) do kernel </a:t>
            </a:r>
            <a:r>
              <a:rPr lang="en-US" dirty="0" err="1"/>
              <a:t>quando</a:t>
            </a:r>
            <a:r>
              <a:rPr lang="en-US" dirty="0"/>
              <a:t> a </a:t>
            </a:r>
            <a:r>
              <a:rPr lang="en-US" dirty="0" err="1"/>
              <a:t>janela</a:t>
            </a:r>
            <a:r>
              <a:rPr lang="en-US" dirty="0"/>
              <a:t> </a:t>
            </a:r>
            <a:r>
              <a:rPr lang="en-US" dirty="0" err="1"/>
              <a:t>está</a:t>
            </a:r>
            <a:r>
              <a:rPr lang="en-US" dirty="0"/>
              <a:t> </a:t>
            </a:r>
            <a:r>
              <a:rPr lang="en-US" dirty="0" err="1"/>
              <a:t>em</a:t>
            </a:r>
            <a:r>
              <a:rPr lang="en-US" dirty="0"/>
              <a:t> (</a:t>
            </a:r>
            <a:r>
              <a:rPr lang="en-US" dirty="0" err="1"/>
              <a:t>i</a:t>
            </a:r>
            <a:r>
              <a:rPr lang="en-US" dirty="0"/>
              <a:t>, j).</a:t>
            </a:r>
          </a:p>
          <a:p>
            <a:endParaRPr lang="pt-BR" dirty="0"/>
          </a:p>
          <a:p>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000000"/>
                </a:solidFill>
                <a:effectLst/>
                <a:latin typeface="Roboto" panose="02000000000000000000" pitchFamily="2" charset="0"/>
              </a:rPr>
              <a:t>Uma ativação alta significa que uma determinada característica foi encontrada.</a:t>
            </a:r>
            <a:endParaRPr lang="en-US" b="0" i="0" dirty="0">
              <a:solidFill>
                <a:srgbClr val="000000"/>
              </a:solidFill>
              <a:effectLst/>
              <a:latin typeface="Roboto" panose="02000000000000000000" pitchFamily="2" charset="0"/>
            </a:endParaRPr>
          </a:p>
          <a:p>
            <a:endParaRPr lang="en-US" b="0" i="0" dirty="0">
              <a:solidFill>
                <a:srgbClr val="000000"/>
              </a:solidFill>
              <a:effectLst/>
              <a:latin typeface="Roboto" panose="02000000000000000000" pitchFamily="2" charset="0"/>
            </a:endParaRPr>
          </a:p>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b="1" dirty="0"/>
              <a:t>Stride </a:t>
            </a:r>
            <a:r>
              <a:rPr lang="en-US" b="1" dirty="0" err="1"/>
              <a:t>pequeno</a:t>
            </a:r>
            <a:r>
              <a:rPr lang="en-US" b="1" dirty="0"/>
              <a:t>:</a:t>
            </a:r>
            <a:r>
              <a:rPr lang="en-US" dirty="0"/>
              <a:t> o kernel é </a:t>
            </a:r>
            <a:r>
              <a:rPr lang="en-US" dirty="0" err="1"/>
              <a:t>avaliado</a:t>
            </a:r>
            <a:r>
              <a:rPr lang="en-US" dirty="0"/>
              <a:t> </a:t>
            </a:r>
            <a:r>
              <a:rPr lang="en-US" dirty="0" err="1"/>
              <a:t>em</a:t>
            </a:r>
            <a:r>
              <a:rPr lang="en-US" dirty="0"/>
              <a:t> </a:t>
            </a:r>
            <a:r>
              <a:rPr lang="en-US" dirty="0" err="1"/>
              <a:t>muitas</a:t>
            </a:r>
            <a:r>
              <a:rPr lang="en-US" dirty="0"/>
              <a:t> </a:t>
            </a:r>
            <a:r>
              <a:rPr lang="en-US" dirty="0" err="1"/>
              <a:t>posições</a:t>
            </a:r>
            <a:r>
              <a:rPr lang="en-US" dirty="0"/>
              <a:t>, com grande </a:t>
            </a:r>
            <a:r>
              <a:rPr lang="en-US" dirty="0" err="1"/>
              <a:t>sobreposição</a:t>
            </a:r>
            <a:r>
              <a:rPr lang="en-US" dirty="0"/>
              <a:t> entre </a:t>
            </a:r>
            <a:r>
              <a:rPr lang="en-US" dirty="0" err="1"/>
              <a:t>janelas</a:t>
            </a:r>
            <a:r>
              <a:rPr lang="en-US" dirty="0"/>
              <a:t>. A </a:t>
            </a:r>
            <a:r>
              <a:rPr lang="en-US" dirty="0" err="1"/>
              <a:t>saída</a:t>
            </a:r>
            <a:r>
              <a:rPr lang="en-US" dirty="0"/>
              <a:t> </a:t>
            </a:r>
            <a:r>
              <a:rPr lang="en-US" dirty="0" err="1"/>
              <a:t>preserva</a:t>
            </a:r>
            <a:r>
              <a:rPr lang="en-US" dirty="0"/>
              <a:t> </a:t>
            </a:r>
            <a:r>
              <a:rPr lang="en-US" dirty="0" err="1"/>
              <a:t>mais</a:t>
            </a:r>
            <a:r>
              <a:rPr lang="en-US" dirty="0"/>
              <a:t> </a:t>
            </a:r>
            <a:r>
              <a:rPr lang="en-US" dirty="0" err="1"/>
              <a:t>resolução</a:t>
            </a:r>
            <a:r>
              <a:rPr lang="en-US" dirty="0"/>
              <a:t> </a:t>
            </a:r>
            <a:r>
              <a:rPr lang="en-US" dirty="0" err="1"/>
              <a:t>espacial</a:t>
            </a:r>
            <a:r>
              <a:rPr lang="en-US" dirty="0"/>
              <a:t> e </a:t>
            </a:r>
            <a:r>
              <a:rPr lang="en-US" dirty="0" err="1"/>
              <a:t>informação</a:t>
            </a:r>
            <a:r>
              <a:rPr lang="en-US" dirty="0"/>
              <a:t> de </a:t>
            </a:r>
            <a:r>
              <a:rPr lang="en-US" dirty="0" err="1"/>
              <a:t>localização</a:t>
            </a:r>
            <a:r>
              <a:rPr lang="en-US" dirty="0"/>
              <a:t>.</a:t>
            </a:r>
          </a:p>
          <a:p>
            <a:pPr lvl="0" rtl="0"/>
            <a:r>
              <a:rPr lang="en-US" b="1" dirty="0"/>
              <a:t>Stride grande:</a:t>
            </a:r>
            <a:r>
              <a:rPr lang="en-US" dirty="0"/>
              <a:t> o kernel pula </a:t>
            </a:r>
            <a:r>
              <a:rPr lang="en-US" dirty="0" err="1"/>
              <a:t>posições</a:t>
            </a:r>
            <a:r>
              <a:rPr lang="en-US" dirty="0"/>
              <a:t>, e a </a:t>
            </a:r>
            <a:r>
              <a:rPr lang="en-US" dirty="0" err="1"/>
              <a:t>saída</a:t>
            </a:r>
            <a:r>
              <a:rPr lang="en-US" dirty="0"/>
              <a:t> é </a:t>
            </a:r>
            <a:r>
              <a:rPr lang="en-US" dirty="0" err="1"/>
              <a:t>mais</a:t>
            </a:r>
            <a:r>
              <a:rPr lang="en-US" dirty="0"/>
              <a:t> </a:t>
            </a:r>
            <a:r>
              <a:rPr lang="en-US" dirty="0" err="1"/>
              <a:t>grosseira</a:t>
            </a:r>
            <a:r>
              <a:rPr lang="en-US" dirty="0"/>
              <a:t>. </a:t>
            </a:r>
            <a:r>
              <a:rPr lang="en-US" dirty="0" err="1"/>
              <a:t>Detalhes</a:t>
            </a:r>
            <a:r>
              <a:rPr lang="en-US" dirty="0"/>
              <a:t> </a:t>
            </a:r>
            <a:r>
              <a:rPr lang="en-US" dirty="0" err="1"/>
              <a:t>finos</a:t>
            </a:r>
            <a:r>
              <a:rPr lang="en-US" dirty="0"/>
              <a:t> </a:t>
            </a:r>
            <a:r>
              <a:rPr lang="en-US" dirty="0" err="1"/>
              <a:t>podem</a:t>
            </a:r>
            <a:r>
              <a:rPr lang="en-US" dirty="0"/>
              <a:t> ser </a:t>
            </a:r>
            <a:r>
              <a:rPr lang="en-US" dirty="0" err="1"/>
              <a:t>perdidos</a:t>
            </a:r>
            <a:r>
              <a:rPr lang="en-US" dirty="0"/>
              <a:t> (</a:t>
            </a:r>
            <a:r>
              <a:rPr lang="en-US" dirty="0" err="1"/>
              <a:t>efeito</a:t>
            </a:r>
            <a:r>
              <a:rPr lang="en-US" dirty="0"/>
              <a:t> de </a:t>
            </a:r>
            <a:r>
              <a:rPr lang="en-US" i="1" dirty="0"/>
              <a:t>aliasing</a:t>
            </a:r>
            <a:r>
              <a:rPr lang="en-US" dirty="0"/>
              <a:t>), e a </a:t>
            </a:r>
            <a:r>
              <a:rPr lang="en-US" dirty="0" err="1"/>
              <a:t>localização</a:t>
            </a:r>
            <a:r>
              <a:rPr lang="en-US" dirty="0"/>
              <a:t> </a:t>
            </a:r>
            <a:r>
              <a:rPr lang="en-US" dirty="0" err="1"/>
              <a:t>fica</a:t>
            </a:r>
            <a:r>
              <a:rPr lang="en-US" dirty="0"/>
              <a:t> </a:t>
            </a:r>
            <a:r>
              <a:rPr lang="en-US" dirty="0" err="1"/>
              <a:t>menos</a:t>
            </a:r>
            <a:r>
              <a:rPr lang="en-US" dirty="0"/>
              <a:t> </a:t>
            </a:r>
            <a:r>
              <a:rPr lang="en-US" dirty="0" err="1"/>
              <a:t>precisa</a:t>
            </a:r>
            <a:r>
              <a:rPr lang="en-US" dirty="0"/>
              <a:t>.</a:t>
            </a:r>
          </a:p>
          <a:p>
            <a:pPr lvl="0" rtl="0"/>
            <a:endParaRPr lang="en-US" dirty="0"/>
          </a:p>
          <a:p>
            <a:pPr lvl="0" rtl="0"/>
            <a:r>
              <a:rPr lang="pt-BR" sz="1600" b="1" noProof="0" dirty="0"/>
              <a:t>Quanto maior o stride, menor o nível de detalhe</a:t>
            </a:r>
            <a:endParaRPr lang="en-US" sz="1600" b="1"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r>
              <a:rPr lang="en-US" dirty="0"/>
              <a:t>O stride </a:t>
            </a:r>
            <a:r>
              <a:rPr lang="en-US" dirty="0" err="1"/>
              <a:t>controla</a:t>
            </a:r>
            <a:r>
              <a:rPr lang="en-US" dirty="0"/>
              <a:t> a </a:t>
            </a:r>
            <a:r>
              <a:rPr lang="en-US" b="1" dirty="0" err="1"/>
              <a:t>resolução</a:t>
            </a:r>
            <a:r>
              <a:rPr lang="en-US" b="1" dirty="0"/>
              <a:t> </a:t>
            </a:r>
            <a:r>
              <a:rPr lang="en-US" b="1" dirty="0" err="1"/>
              <a:t>espacial</a:t>
            </a:r>
            <a:r>
              <a:rPr lang="en-US" dirty="0"/>
              <a:t> (e a </a:t>
            </a:r>
            <a:r>
              <a:rPr lang="en-US" dirty="0" err="1"/>
              <a:t>quantidade</a:t>
            </a:r>
            <a:r>
              <a:rPr lang="en-US" dirty="0"/>
              <a:t> de </a:t>
            </a:r>
            <a:r>
              <a:rPr lang="en-US" dirty="0" err="1"/>
              <a:t>detalhe</a:t>
            </a:r>
            <a:r>
              <a:rPr lang="en-US" dirty="0"/>
              <a:t> </a:t>
            </a:r>
            <a:r>
              <a:rPr lang="en-US" dirty="0" err="1"/>
              <a:t>preservado</a:t>
            </a:r>
            <a:r>
              <a:rPr lang="en-US" dirty="0"/>
              <a:t>) </a:t>
            </a:r>
            <a:r>
              <a:rPr lang="en-US" dirty="0" err="1"/>
              <a:t>em</a:t>
            </a:r>
            <a:r>
              <a:rPr lang="en-US" dirty="0"/>
              <a:t> </a:t>
            </a:r>
            <a:r>
              <a:rPr lang="en-US" dirty="0" err="1"/>
              <a:t>troca</a:t>
            </a:r>
            <a:r>
              <a:rPr lang="en-US" dirty="0"/>
              <a:t> de </a:t>
            </a:r>
            <a:r>
              <a:rPr lang="en-US" dirty="0" err="1"/>
              <a:t>custo</a:t>
            </a:r>
            <a:r>
              <a:rPr lang="en-US" dirty="0"/>
              <a:t> </a:t>
            </a:r>
            <a:r>
              <a:rPr lang="en-US" dirty="0" err="1"/>
              <a:t>computacional</a:t>
            </a:r>
            <a:r>
              <a:rPr lang="en-US" dirty="0"/>
              <a:t>.</a:t>
            </a:r>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noProof="0" dirty="0">
                <a:effectLst/>
                <a:latin typeface="Roboto" panose="02000000000000000000" pitchFamily="2" charset="0"/>
              </a:rPr>
              <a:t>As regiões do mapa de características com linhas verticais ficam altamente ativadas, ao contrário de outras regiões.</a:t>
            </a:r>
          </a:p>
          <a:p>
            <a:endParaRPr lang="pt-BR" b="0" i="0" noProof="0" dirty="0">
              <a:effectLst/>
              <a:latin typeface="Roboto" panose="02000000000000000000" pitchFamily="2" charset="0"/>
            </a:endParaRPr>
          </a:p>
          <a:p>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convolutional</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output </a:t>
            </a:r>
            <a:r>
              <a:rPr lang="pt-BR" b="0" i="0" noProof="0" dirty="0" err="1">
                <a:effectLst/>
                <a:latin typeface="Roboto" panose="02000000000000000000" pitchFamily="2" charset="0"/>
              </a:rPr>
              <a:t>is</a:t>
            </a:r>
            <a:r>
              <a:rPr lang="pt-BR" b="0" i="0" noProof="0" dirty="0">
                <a:effectLst/>
                <a:latin typeface="Roboto" panose="02000000000000000000" pitchFamily="2" charset="0"/>
              </a:rPr>
              <a:t> </a:t>
            </a:r>
            <a:r>
              <a:rPr lang="pt-BR" b="0" i="0" noProof="0" dirty="0" err="1">
                <a:effectLst/>
                <a:latin typeface="Roboto" panose="02000000000000000000" pitchFamily="2" charset="0"/>
              </a:rPr>
              <a:t>sometimes</a:t>
            </a:r>
            <a:r>
              <a:rPr lang="pt-BR" b="0" i="0" noProof="0" dirty="0">
                <a:effectLst/>
                <a:latin typeface="Roboto" panose="02000000000000000000" pitchFamily="2" charset="0"/>
              </a:rPr>
              <a:t> </a:t>
            </a:r>
            <a:r>
              <a:rPr lang="pt-BR" b="0" i="0" noProof="0" dirty="0" err="1">
                <a:effectLst/>
                <a:latin typeface="Roboto" panose="02000000000000000000" pitchFamily="2" charset="0"/>
              </a:rPr>
              <a:t>called</a:t>
            </a:r>
            <a:r>
              <a:rPr lang="pt-BR" b="0" i="0" noProof="0" dirty="0">
                <a:effectLst/>
                <a:latin typeface="Roboto" panose="02000000000000000000" pitchFamily="2" charset="0"/>
              </a:rPr>
              <a:t> a </a:t>
            </a:r>
            <a:r>
              <a:rPr lang="pt-BR" b="0" i="1" noProof="0" dirty="0">
                <a:effectLst/>
                <a:latin typeface="Roboto" panose="02000000000000000000" pitchFamily="2" charset="0"/>
              </a:rPr>
              <a:t>feature </a:t>
            </a:r>
            <a:r>
              <a:rPr lang="pt-BR" b="0" i="1" noProof="0" dirty="0" err="1">
                <a:effectLst/>
                <a:latin typeface="Roboto" panose="02000000000000000000" pitchFamily="2" charset="0"/>
              </a:rPr>
              <a:t>map</a:t>
            </a:r>
            <a:r>
              <a:rPr lang="pt-BR" b="0" i="0" noProof="0" dirty="0">
                <a:effectLst/>
                <a:latin typeface="Roboto" panose="02000000000000000000" pitchFamily="2" charset="0"/>
              </a:rPr>
              <a:t>, as it </a:t>
            </a:r>
            <a:r>
              <a:rPr lang="pt-BR" b="0" i="0" noProof="0" dirty="0" err="1">
                <a:effectLst/>
                <a:latin typeface="Roboto" panose="02000000000000000000" pitchFamily="2" charset="0"/>
              </a:rPr>
              <a:t>can</a:t>
            </a:r>
            <a:r>
              <a:rPr lang="pt-BR" b="0" i="0" noProof="0" dirty="0">
                <a:effectLst/>
                <a:latin typeface="Roboto" panose="02000000000000000000" pitchFamily="2" charset="0"/>
              </a:rPr>
              <a:t> </a:t>
            </a:r>
            <a:r>
              <a:rPr lang="pt-BR" b="0" i="0" noProof="0" dirty="0" err="1">
                <a:effectLst/>
                <a:latin typeface="Roboto" panose="02000000000000000000" pitchFamily="2" charset="0"/>
              </a:rPr>
              <a:t>be</a:t>
            </a:r>
            <a:r>
              <a:rPr lang="pt-BR" b="0" i="0" noProof="0" dirty="0">
                <a:effectLst/>
                <a:latin typeface="Roboto" panose="02000000000000000000" pitchFamily="2" charset="0"/>
              </a:rPr>
              <a:t> </a:t>
            </a:r>
            <a:r>
              <a:rPr lang="pt-BR" b="0" i="0" noProof="0" dirty="0" err="1">
                <a:effectLst/>
                <a:latin typeface="Roboto" panose="02000000000000000000" pitchFamily="2" charset="0"/>
              </a:rPr>
              <a:t>regarded</a:t>
            </a:r>
            <a:r>
              <a:rPr lang="pt-BR" b="0" i="0" noProof="0" dirty="0">
                <a:effectLst/>
                <a:latin typeface="Roboto" panose="02000000000000000000" pitchFamily="2" charset="0"/>
              </a:rPr>
              <a:t> as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learned</a:t>
            </a:r>
            <a:r>
              <a:rPr lang="pt-BR" b="0" i="0" noProof="0" dirty="0">
                <a:effectLst/>
                <a:latin typeface="Roboto" panose="02000000000000000000" pitchFamily="2" charset="0"/>
              </a:rPr>
              <a:t> </a:t>
            </a:r>
            <a:r>
              <a:rPr lang="pt-BR" b="0" i="0" noProof="0" dirty="0" err="1">
                <a:effectLst/>
                <a:latin typeface="Roboto" panose="02000000000000000000" pitchFamily="2" charset="0"/>
              </a:rPr>
              <a:t>representations</a:t>
            </a:r>
            <a:r>
              <a:rPr lang="pt-BR" b="0" i="0" noProof="0" dirty="0">
                <a:effectLst/>
                <a:latin typeface="Roboto" panose="02000000000000000000" pitchFamily="2" charset="0"/>
              </a:rPr>
              <a:t> (features) in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spatial</a:t>
            </a:r>
            <a:r>
              <a:rPr lang="pt-BR" b="0" i="0" noProof="0" dirty="0">
                <a:effectLst/>
                <a:latin typeface="Roboto" panose="02000000000000000000" pitchFamily="2" charset="0"/>
              </a:rPr>
              <a:t> </a:t>
            </a:r>
            <a:r>
              <a:rPr lang="pt-BR" b="0" i="0" noProof="0" dirty="0" err="1">
                <a:effectLst/>
                <a:latin typeface="Roboto" panose="02000000000000000000" pitchFamily="2" charset="0"/>
              </a:rPr>
              <a:t>dimensions</a:t>
            </a:r>
            <a:r>
              <a:rPr lang="pt-BR" b="0" i="0" noProof="0" dirty="0">
                <a:effectLst/>
                <a:latin typeface="Roboto" panose="02000000000000000000" pitchFamily="2" charset="0"/>
              </a:rPr>
              <a:t> (e.g., </a:t>
            </a:r>
            <a:r>
              <a:rPr lang="pt-BR" b="0" i="0" noProof="0" dirty="0" err="1">
                <a:effectLst/>
                <a:latin typeface="Roboto" panose="02000000000000000000" pitchFamily="2" charset="0"/>
              </a:rPr>
              <a:t>width</a:t>
            </a:r>
            <a:r>
              <a:rPr lang="pt-BR" b="0" i="0" noProof="0" dirty="0">
                <a:effectLst/>
                <a:latin typeface="Roboto" panose="02000000000000000000" pitchFamily="2" charset="0"/>
              </a:rPr>
              <a:t> </a:t>
            </a:r>
            <a:r>
              <a:rPr lang="pt-BR" b="0" i="0" noProof="0" dirty="0" err="1">
                <a:effectLst/>
                <a:latin typeface="Roboto" panose="02000000000000000000" pitchFamily="2" charset="0"/>
              </a:rPr>
              <a:t>and</a:t>
            </a:r>
            <a:r>
              <a:rPr lang="pt-BR" b="0" i="0" noProof="0" dirty="0">
                <a:effectLst/>
                <a:latin typeface="Roboto" panose="02000000000000000000" pitchFamily="2" charset="0"/>
              </a:rPr>
              <a:t> </a:t>
            </a:r>
            <a:r>
              <a:rPr lang="pt-BR" b="0" i="0" noProof="0" dirty="0" err="1">
                <a:effectLst/>
                <a:latin typeface="Roboto" panose="02000000000000000000" pitchFamily="2" charset="0"/>
              </a:rPr>
              <a:t>height</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subsequent</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In CNNs, for </a:t>
            </a:r>
            <a:r>
              <a:rPr lang="pt-BR" b="0" i="0" noProof="0" dirty="0" err="1">
                <a:effectLst/>
                <a:latin typeface="Roboto" panose="02000000000000000000" pitchFamily="2" charset="0"/>
              </a:rPr>
              <a:t>any</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a:t>
            </a:r>
            <a:r>
              <a:rPr lang="pt-BR" b="0" i="0" noProof="0" dirty="0">
                <a:effectLst/>
                <a:latin typeface="Roboto" panose="02000000000000000000" pitchFamily="2" charset="0"/>
              </a:rPr>
              <a:t> x </a:t>
            </a:r>
            <a:r>
              <a:rPr lang="pt-BR" b="0" i="0" noProof="0" dirty="0" err="1">
                <a:effectLst/>
                <a:latin typeface="Roboto" panose="02000000000000000000" pitchFamily="2" charset="0"/>
              </a:rPr>
              <a:t>of</a:t>
            </a:r>
            <a:r>
              <a:rPr lang="pt-BR" b="0" i="0" noProof="0" dirty="0">
                <a:effectLst/>
                <a:latin typeface="Roboto" panose="02000000000000000000" pitchFamily="2" charset="0"/>
              </a:rPr>
              <a:t> some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its </a:t>
            </a:r>
            <a:r>
              <a:rPr lang="pt-BR" b="0" i="1" noProof="0" dirty="0" err="1">
                <a:effectLst/>
                <a:latin typeface="Roboto" panose="02000000000000000000" pitchFamily="2" charset="0"/>
              </a:rPr>
              <a:t>receptive</a:t>
            </a:r>
            <a:r>
              <a:rPr lang="pt-BR" b="0" i="1" noProof="0" dirty="0">
                <a:effectLst/>
                <a:latin typeface="Roboto" panose="02000000000000000000" pitchFamily="2" charset="0"/>
              </a:rPr>
              <a:t> </a:t>
            </a:r>
            <a:r>
              <a:rPr lang="pt-BR" b="0" i="1" noProof="0" dirty="0" err="1">
                <a:effectLst/>
                <a:latin typeface="Roboto" panose="02000000000000000000" pitchFamily="2" charset="0"/>
              </a:rPr>
              <a:t>field</a:t>
            </a:r>
            <a:r>
              <a:rPr lang="pt-BR" b="0" i="0" noProof="0" dirty="0">
                <a:effectLst/>
                <a:latin typeface="Roboto" panose="02000000000000000000" pitchFamily="2" charset="0"/>
              </a:rPr>
              <a:t> </a:t>
            </a:r>
            <a:r>
              <a:rPr lang="pt-BR" b="0" i="0" noProof="0" dirty="0" err="1">
                <a:effectLst/>
                <a:latin typeface="Roboto" panose="02000000000000000000" pitchFamily="2" charset="0"/>
              </a:rPr>
              <a:t>refers</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elements</a:t>
            </a:r>
            <a:r>
              <a:rPr lang="pt-BR" b="0" i="0" noProof="0" dirty="0">
                <a:effectLst/>
                <a:latin typeface="Roboto" panose="02000000000000000000" pitchFamily="2" charset="0"/>
              </a:rPr>
              <a:t> (</a:t>
            </a:r>
            <a:r>
              <a:rPr lang="pt-BR" b="0" i="0" noProof="0" dirty="0" err="1">
                <a:effectLst/>
                <a:latin typeface="Roboto" panose="02000000000000000000" pitchFamily="2" charset="0"/>
              </a:rPr>
              <a:t>from</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previous</a:t>
            </a:r>
            <a:r>
              <a:rPr lang="pt-BR" b="0" i="0" noProof="0" dirty="0">
                <a:effectLst/>
                <a:latin typeface="Roboto" panose="02000000000000000000" pitchFamily="2" charset="0"/>
              </a:rPr>
              <a:t> </a:t>
            </a:r>
            <a:r>
              <a:rPr lang="pt-BR" b="0" i="0" noProof="0" dirty="0" err="1">
                <a:effectLst/>
                <a:latin typeface="Roboto" panose="02000000000000000000" pitchFamily="2" charset="0"/>
              </a:rPr>
              <a:t>layers</a:t>
            </a:r>
            <a:r>
              <a:rPr lang="pt-BR" b="0" i="0" noProof="0" dirty="0">
                <a:effectLst/>
                <a:latin typeface="Roboto" panose="02000000000000000000" pitchFamily="2" charset="0"/>
              </a:rPr>
              <a:t>) </a:t>
            </a:r>
            <a:r>
              <a:rPr lang="pt-BR" b="0" i="0" noProof="0" dirty="0" err="1">
                <a:effectLst/>
                <a:latin typeface="Roboto" panose="02000000000000000000" pitchFamily="2" charset="0"/>
              </a:rPr>
              <a:t>that</a:t>
            </a:r>
            <a:r>
              <a:rPr lang="pt-BR" b="0" i="0" noProof="0" dirty="0">
                <a:effectLst/>
                <a:latin typeface="Roboto" panose="02000000000000000000" pitchFamily="2" charset="0"/>
              </a:rPr>
              <a:t> </a:t>
            </a:r>
            <a:r>
              <a:rPr lang="pt-BR" b="0" i="0" noProof="0" dirty="0" err="1">
                <a:effectLst/>
                <a:latin typeface="Roboto" panose="02000000000000000000" pitchFamily="2" charset="0"/>
              </a:rPr>
              <a:t>may</a:t>
            </a:r>
            <a:r>
              <a:rPr lang="pt-BR" b="0" i="0" noProof="0" dirty="0">
                <a:effectLst/>
                <a:latin typeface="Roboto" panose="02000000000000000000" pitchFamily="2" charset="0"/>
              </a:rPr>
              <a:t> </a:t>
            </a:r>
            <a:r>
              <a:rPr lang="pt-BR" b="0" i="0" noProof="0" dirty="0" err="1">
                <a:effectLst/>
                <a:latin typeface="Roboto" panose="02000000000000000000" pitchFamily="2" charset="0"/>
              </a:rPr>
              <a:t>affect</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calculation</a:t>
            </a:r>
            <a:r>
              <a:rPr lang="pt-BR" b="0" i="0" noProof="0" dirty="0">
                <a:effectLst/>
                <a:latin typeface="Roboto" panose="02000000000000000000" pitchFamily="2" charset="0"/>
              </a:rPr>
              <a:t> </a:t>
            </a:r>
            <a:r>
              <a:rPr lang="pt-BR" b="0" i="0" noProof="0" dirty="0" err="1">
                <a:effectLst/>
                <a:latin typeface="Roboto" panose="02000000000000000000" pitchFamily="2" charset="0"/>
              </a:rPr>
              <a:t>of</a:t>
            </a:r>
            <a:r>
              <a:rPr lang="pt-BR" b="0" i="0" noProof="0" dirty="0">
                <a:effectLst/>
                <a:latin typeface="Roboto" panose="02000000000000000000" pitchFamily="2" charset="0"/>
              </a:rPr>
              <a:t> x </a:t>
            </a:r>
            <a:r>
              <a:rPr lang="pt-BR" b="0" i="0" noProof="0" dirty="0" err="1">
                <a:effectLst/>
                <a:latin typeface="Roboto" panose="02000000000000000000" pitchFamily="2" charset="0"/>
              </a:rPr>
              <a:t>during</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forward</a:t>
            </a:r>
            <a:r>
              <a:rPr lang="pt-BR" b="0" i="0" noProof="0" dirty="0">
                <a:effectLst/>
                <a:latin typeface="Roboto" panose="02000000000000000000" pitchFamily="2" charset="0"/>
              </a:rPr>
              <a:t> </a:t>
            </a:r>
            <a:r>
              <a:rPr lang="pt-BR" b="0" i="0" noProof="0" dirty="0" err="1">
                <a:effectLst/>
                <a:latin typeface="Roboto" panose="02000000000000000000" pitchFamily="2" charset="0"/>
              </a:rPr>
              <a:t>propagation</a:t>
            </a:r>
            <a:r>
              <a:rPr lang="pt-BR" b="0" i="0" noProof="0" dirty="0">
                <a:effectLst/>
                <a:latin typeface="Roboto" panose="02000000000000000000" pitchFamily="2" charset="0"/>
              </a:rPr>
              <a:t>.</a:t>
            </a:r>
            <a:endParaRPr lang="pt-BR" noProof="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Empilhamento ou concatenação dos mapas de ativação de todos os kernels da camada</a:t>
            </a:r>
          </a:p>
          <a:p>
            <a:endParaRPr lang="pt-BR" dirty="0"/>
          </a:p>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CE21C55-9883-C91A-ED04-C20DA8056AF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1C79975A-1861-16A8-B741-A6657BACD1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noProof="0" dirty="0">
                <a:effectLst/>
              </a:rPr>
              <a:t>Além disso, ela </a:t>
            </a:r>
            <a:r>
              <a:rPr lang="pt-BR" b="1" noProof="0" dirty="0">
                <a:solidFill>
                  <a:srgbClr val="00B050"/>
                </a:solidFill>
                <a:effectLst/>
              </a:rPr>
              <a:t>ajuda a tornar a rede </a:t>
            </a:r>
            <a:r>
              <a:rPr lang="pt-BR" b="1" noProof="0" dirty="0">
                <a:solidFill>
                  <a:schemeClr val="accent2"/>
                </a:solidFill>
                <a:effectLst/>
              </a:rPr>
              <a:t>mais robusta a </a:t>
            </a:r>
            <a:r>
              <a:rPr lang="pt-BR" b="1" noProof="0" dirty="0">
                <a:solidFill>
                  <a:schemeClr val="accent1"/>
                </a:solidFill>
                <a:effectLst/>
              </a:rPr>
              <a:t>pequenas</a:t>
            </a:r>
            <a:r>
              <a:rPr lang="pt-BR" b="1" noProof="0" dirty="0">
                <a:solidFill>
                  <a:schemeClr val="accent2"/>
                </a:solidFill>
                <a:effectLst/>
              </a:rPr>
              <a:t> mudanças na posição</a:t>
            </a:r>
            <a:r>
              <a:rPr lang="pt-BR" b="1" noProof="0" dirty="0">
                <a:solidFill>
                  <a:srgbClr val="00B050"/>
                </a:solidFill>
                <a:effectLst/>
              </a:rPr>
              <a:t> das características</a:t>
            </a:r>
            <a:r>
              <a:rPr lang="pt-BR" noProof="0" dirty="0">
                <a:solidFill>
                  <a:srgbClr val="00B050"/>
                </a:solidFill>
              </a:rPr>
              <a:t>.</a:t>
            </a:r>
            <a:endParaRPr lang="pt-BR" b="0" noProof="0" dirty="0">
              <a:effectLst/>
            </a:endParaRPr>
          </a:p>
          <a:p>
            <a:endParaRPr lang="pt-BR" b="1" dirty="0"/>
          </a:p>
          <a:p>
            <a:r>
              <a:rPr lang="en-US" dirty="0"/>
              <a:t>A rede </a:t>
            </a:r>
            <a:r>
              <a:rPr lang="en-US" dirty="0" err="1"/>
              <a:t>fica</a:t>
            </a:r>
            <a:r>
              <a:rPr lang="en-US" dirty="0"/>
              <a:t> </a:t>
            </a:r>
            <a:r>
              <a:rPr lang="en-US" dirty="0" err="1"/>
              <a:t>menos</a:t>
            </a:r>
            <a:r>
              <a:rPr lang="en-US" dirty="0"/>
              <a:t> </a:t>
            </a:r>
            <a:r>
              <a:rPr lang="en-US" dirty="0" err="1"/>
              <a:t>sensível</a:t>
            </a:r>
            <a:r>
              <a:rPr lang="en-US" dirty="0"/>
              <a:t> à </a:t>
            </a:r>
            <a:r>
              <a:rPr lang="en-US" dirty="0" err="1"/>
              <a:t>posição</a:t>
            </a:r>
            <a:r>
              <a:rPr lang="en-US" dirty="0"/>
              <a:t> </a:t>
            </a:r>
            <a:r>
              <a:rPr lang="en-US" dirty="0" err="1"/>
              <a:t>exata</a:t>
            </a:r>
            <a:r>
              <a:rPr lang="en-US" dirty="0"/>
              <a:t> do </a:t>
            </a:r>
            <a:r>
              <a:rPr lang="en-US" dirty="0" err="1"/>
              <a:t>padrão</a:t>
            </a:r>
            <a:r>
              <a:rPr lang="en-US" dirty="0"/>
              <a:t>.</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9996389E-F565-0B86-9A11-118EBD8E4A43}"/>
              </a:ext>
            </a:extLst>
          </p:cNvPr>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r>
              <a:rPr lang="pt-BR" dirty="0"/>
              <a:t>Ele </a:t>
            </a:r>
            <a:r>
              <a:rPr lang="en-US" dirty="0" err="1"/>
              <a:t>preserva</a:t>
            </a:r>
            <a:r>
              <a:rPr lang="en-US" dirty="0"/>
              <a:t> a </a:t>
            </a:r>
            <a:r>
              <a:rPr lang="en-US" dirty="0" err="1"/>
              <a:t>ativação</a:t>
            </a:r>
            <a:r>
              <a:rPr lang="en-US" dirty="0"/>
              <a:t> </a:t>
            </a:r>
            <a:r>
              <a:rPr lang="en-US" dirty="0" err="1"/>
              <a:t>mais</a:t>
            </a:r>
            <a:r>
              <a:rPr lang="en-US" dirty="0"/>
              <a:t> forte, </a:t>
            </a:r>
            <a:r>
              <a:rPr lang="en-US" dirty="0" err="1"/>
              <a:t>ou</a:t>
            </a:r>
            <a:r>
              <a:rPr lang="en-US" dirty="0"/>
              <a:t> </a:t>
            </a:r>
            <a:r>
              <a:rPr lang="en-US" dirty="0" err="1"/>
              <a:t>seja</a:t>
            </a:r>
            <a:r>
              <a:rPr lang="en-US" dirty="0"/>
              <a:t>, "o </a:t>
            </a:r>
            <a:r>
              <a:rPr lang="en-US" dirty="0" err="1"/>
              <a:t>padrão</a:t>
            </a:r>
            <a:r>
              <a:rPr lang="en-US" dirty="0"/>
              <a:t> </a:t>
            </a:r>
            <a:r>
              <a:rPr lang="en-US" dirty="0" err="1"/>
              <a:t>apareceu</a:t>
            </a:r>
            <a:r>
              <a:rPr lang="en-US" dirty="0"/>
              <a:t> </a:t>
            </a:r>
            <a:r>
              <a:rPr lang="en-US" dirty="0" err="1"/>
              <a:t>nesta</a:t>
            </a:r>
            <a:r>
              <a:rPr lang="en-US" dirty="0"/>
              <a:t> </a:t>
            </a:r>
            <a:r>
              <a:rPr lang="en-US" dirty="0" err="1"/>
              <a:t>janela</a:t>
            </a:r>
            <a:r>
              <a:rPr lang="en-US" dirty="0"/>
              <a:t>“, mas </a:t>
            </a:r>
            <a:r>
              <a:rPr lang="en-US" dirty="0" err="1"/>
              <a:t>não</a:t>
            </a:r>
            <a:r>
              <a:rPr lang="en-US" dirty="0"/>
              <a:t> </a:t>
            </a:r>
            <a:r>
              <a:rPr lang="en-US" dirty="0" err="1"/>
              <a:t>preserva</a:t>
            </a:r>
            <a:r>
              <a:rPr lang="en-US" dirty="0"/>
              <a:t> a </a:t>
            </a:r>
            <a:r>
              <a:rPr lang="en-US" dirty="0" err="1"/>
              <a:t>informação</a:t>
            </a:r>
            <a:r>
              <a:rPr lang="en-US" dirty="0"/>
              <a:t> da </a:t>
            </a:r>
            <a:r>
              <a:rPr lang="en-US" dirty="0" err="1"/>
              <a:t>localização</a:t>
            </a:r>
            <a:r>
              <a:rPr lang="en-US" dirty="0"/>
              <a:t>.</a:t>
            </a:r>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b="0" dirty="0"/>
              <a:t>A </a:t>
            </a:r>
            <a:r>
              <a:rPr lang="en-US" b="0" dirty="0" err="1"/>
              <a:t>imagem</a:t>
            </a:r>
            <a:r>
              <a:rPr lang="en-US" b="0" dirty="0"/>
              <a:t> de entrada é um </a:t>
            </a:r>
            <a:r>
              <a:rPr lang="en-US" b="0" dirty="0" err="1"/>
              <a:t>mapa</a:t>
            </a:r>
            <a:r>
              <a:rPr lang="en-US" b="0" dirty="0"/>
              <a:t> de </a:t>
            </a:r>
            <a:r>
              <a:rPr lang="en-US" b="0" dirty="0" err="1"/>
              <a:t>ativações</a:t>
            </a:r>
            <a:r>
              <a:rPr lang="en-US" b="0" dirty="0"/>
              <a:t> </a:t>
            </a:r>
            <a:r>
              <a:rPr lang="en-US" b="0" dirty="0" err="1"/>
              <a:t>resultado</a:t>
            </a:r>
            <a:r>
              <a:rPr lang="en-US" b="0" dirty="0"/>
              <a:t> da </a:t>
            </a:r>
            <a:r>
              <a:rPr lang="en-US" b="0" dirty="0" err="1"/>
              <a:t>aplicação</a:t>
            </a:r>
            <a:r>
              <a:rPr lang="en-US" b="0" dirty="0"/>
              <a:t> de um kernel detector de </a:t>
            </a:r>
            <a:r>
              <a:rPr lang="en-US" b="0" dirty="0" err="1"/>
              <a:t>bordas</a:t>
            </a:r>
            <a:r>
              <a:rPr lang="en-US" b="0" dirty="0"/>
              <a:t>.</a:t>
            </a:r>
          </a:p>
          <a:p>
            <a:pPr lvl="0" rtl="0"/>
            <a:endParaRPr lang="en-US" b="0" dirty="0"/>
          </a:p>
          <a:p>
            <a:pPr lvl="0" rtl="0"/>
            <a:r>
              <a:rPr lang="en-US" b="0" dirty="0" err="1"/>
              <a:t>Preserva</a:t>
            </a:r>
            <a:r>
              <a:rPr lang="en-US" b="0" dirty="0"/>
              <a:t> as </a:t>
            </a:r>
            <a:r>
              <a:rPr lang="en-US" b="0" dirty="0" err="1"/>
              <a:t>respostas</a:t>
            </a:r>
            <a:r>
              <a:rPr lang="en-US" b="0" dirty="0"/>
              <a:t> </a:t>
            </a:r>
            <a:r>
              <a:rPr lang="en-US" b="0" dirty="0" err="1"/>
              <a:t>mais</a:t>
            </a:r>
            <a:r>
              <a:rPr lang="en-US" b="0" dirty="0"/>
              <a:t> fortes: as </a:t>
            </a:r>
            <a:r>
              <a:rPr lang="en-US" b="0" dirty="0" err="1"/>
              <a:t>bordas</a:t>
            </a:r>
            <a:r>
              <a:rPr lang="en-US" b="0" dirty="0"/>
              <a:t> do </a:t>
            </a:r>
            <a:r>
              <a:rPr lang="en-US" b="0" dirty="0" err="1"/>
              <a:t>cérebro</a:t>
            </a:r>
            <a:r>
              <a:rPr lang="en-US" b="0" dirty="0"/>
              <a:t> </a:t>
            </a:r>
            <a:r>
              <a:rPr lang="en-US" b="0" dirty="0" err="1"/>
              <a:t>permanecem</a:t>
            </a:r>
            <a:r>
              <a:rPr lang="en-US" b="0" dirty="0"/>
              <a:t> </a:t>
            </a:r>
            <a:r>
              <a:rPr lang="en-US" b="0" dirty="0" err="1"/>
              <a:t>bem</a:t>
            </a:r>
            <a:r>
              <a:rPr lang="en-US" b="0" dirty="0"/>
              <a:t> </a:t>
            </a:r>
            <a:r>
              <a:rPr lang="en-US" b="0" dirty="0" err="1"/>
              <a:t>visíveis</a:t>
            </a:r>
            <a:r>
              <a:rPr lang="en-US" b="0" dirty="0"/>
              <a:t>.</a:t>
            </a:r>
          </a:p>
          <a:p>
            <a:pPr lvl="0" rtl="0"/>
            <a:r>
              <a:rPr lang="en-US" b="0" dirty="0" err="1"/>
              <a:t>Descarta</a:t>
            </a:r>
            <a:r>
              <a:rPr lang="en-US" b="0" dirty="0"/>
              <a:t> as </a:t>
            </a:r>
            <a:r>
              <a:rPr lang="en-US" b="0" dirty="0" err="1"/>
              <a:t>ativações</a:t>
            </a:r>
            <a:r>
              <a:rPr lang="en-US" b="0" dirty="0"/>
              <a:t> </a:t>
            </a:r>
            <a:r>
              <a:rPr lang="en-US" b="0" dirty="0" err="1"/>
              <a:t>que</a:t>
            </a:r>
            <a:r>
              <a:rPr lang="en-US" b="0" dirty="0"/>
              <a:t> </a:t>
            </a:r>
            <a:r>
              <a:rPr lang="en-US" b="0" dirty="0" err="1"/>
              <a:t>têm</a:t>
            </a:r>
            <a:r>
              <a:rPr lang="en-US" b="0" dirty="0"/>
              <a:t> </a:t>
            </a:r>
            <a:r>
              <a:rPr lang="en-US" b="0" dirty="0" err="1"/>
              <a:t>baixa</a:t>
            </a:r>
            <a:r>
              <a:rPr lang="en-US" b="0" dirty="0"/>
              <a:t> </a:t>
            </a:r>
            <a:r>
              <a:rPr lang="en-US" b="0" dirty="0" err="1"/>
              <a:t>intensidade</a:t>
            </a:r>
            <a:r>
              <a:rPr lang="en-US" b="0" dirty="0"/>
              <a:t> e a </a:t>
            </a:r>
            <a:r>
              <a:rPr lang="en-US" b="0" dirty="0" err="1"/>
              <a:t>posição</a:t>
            </a:r>
            <a:r>
              <a:rPr lang="en-US" b="0" dirty="0"/>
              <a:t> </a:t>
            </a:r>
            <a:r>
              <a:rPr lang="en-US" b="0" dirty="0" err="1"/>
              <a:t>exata</a:t>
            </a:r>
            <a:r>
              <a:rPr lang="en-US" b="0" dirty="0"/>
              <a:t> </a:t>
            </a:r>
            <a:r>
              <a:rPr lang="en-US" b="0" dirty="0" err="1"/>
              <a:t>dentro</a:t>
            </a:r>
            <a:r>
              <a:rPr lang="en-US" b="0" dirty="0"/>
              <a:t> de </a:t>
            </a:r>
            <a:r>
              <a:rPr lang="en-US" b="0" dirty="0" err="1"/>
              <a:t>cada</a:t>
            </a:r>
            <a:r>
              <a:rPr lang="en-US" b="0" dirty="0"/>
              <a:t> </a:t>
            </a:r>
            <a:r>
              <a:rPr lang="en-US" b="0" dirty="0" err="1"/>
              <a:t>janela</a:t>
            </a:r>
            <a:r>
              <a:rPr lang="en-US" b="0" dirty="0"/>
              <a:t>.</a:t>
            </a:r>
          </a:p>
          <a:p>
            <a:endParaRPr lang="pt-BR" dirty="0"/>
          </a:p>
          <a:p>
            <a:endParaRPr lang="pt-BR" dirty="0"/>
          </a:p>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Temos a entrada do bloco, que pode ser uma imagem ou a saída de outra camada, os kernels, os pesos de bias de cada kernel, as funções de ativação e a camada de </a:t>
            </a:r>
            <a:r>
              <a:rPr lang="pt-BR" sz="1200" b="1" dirty="0" err="1"/>
              <a:t>pooling</a:t>
            </a:r>
            <a:endParaRPr lang="pt-BR" sz="1200"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 padding pode ser adicionado à entrada do bloco.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lvl="0" rtl="0"/>
            <a:r>
              <a:rPr lang="en-US" dirty="0"/>
              <a:t>O </a:t>
            </a:r>
            <a:r>
              <a:rPr lang="en-US" i="1" dirty="0"/>
              <a:t>padding</a:t>
            </a:r>
            <a:r>
              <a:rPr lang="en-US" dirty="0"/>
              <a:t> </a:t>
            </a:r>
            <a:r>
              <a:rPr lang="en-US" dirty="0" err="1"/>
              <a:t>adiciona</a:t>
            </a:r>
            <a:r>
              <a:rPr lang="en-US" dirty="0"/>
              <a:t> </a:t>
            </a:r>
            <a:r>
              <a:rPr lang="en-US" dirty="0" err="1"/>
              <a:t>camadas</a:t>
            </a:r>
            <a:r>
              <a:rPr lang="en-US" dirty="0"/>
              <a:t> de </a:t>
            </a:r>
            <a:r>
              <a:rPr lang="en-US" dirty="0" err="1"/>
              <a:t>valores</a:t>
            </a:r>
            <a:r>
              <a:rPr lang="en-US" dirty="0"/>
              <a:t> (</a:t>
            </a:r>
            <a:r>
              <a:rPr lang="en-US" dirty="0" err="1"/>
              <a:t>geralmente</a:t>
            </a:r>
            <a:r>
              <a:rPr lang="en-US" dirty="0"/>
              <a:t> zeros) </a:t>
            </a:r>
            <a:r>
              <a:rPr lang="en-US" dirty="0" err="1"/>
              <a:t>ao</a:t>
            </a:r>
            <a:r>
              <a:rPr lang="en-US" dirty="0"/>
              <a:t> </a:t>
            </a:r>
            <a:r>
              <a:rPr lang="en-US" dirty="0" err="1"/>
              <a:t>redor</a:t>
            </a:r>
            <a:r>
              <a:rPr lang="en-US" dirty="0"/>
              <a:t> da entrada, o </a:t>
            </a:r>
            <a:r>
              <a:rPr lang="en-US" dirty="0" err="1"/>
              <a:t>que</a:t>
            </a:r>
            <a:r>
              <a:rPr lang="en-US" dirty="0"/>
              <a:t>: </a:t>
            </a:r>
            <a:r>
              <a:rPr lang="en-US" b="1" dirty="0" err="1"/>
              <a:t>preserva</a:t>
            </a:r>
            <a:r>
              <a:rPr lang="en-US" b="1" dirty="0"/>
              <a:t> a </a:t>
            </a:r>
            <a:r>
              <a:rPr lang="en-US" b="1" dirty="0" err="1"/>
              <a:t>dimensão</a:t>
            </a:r>
            <a:r>
              <a:rPr lang="en-US" dirty="0"/>
              <a:t> da </a:t>
            </a:r>
            <a:r>
              <a:rPr lang="en-US" dirty="0" err="1"/>
              <a:t>saída</a:t>
            </a:r>
            <a:r>
              <a:rPr lang="en-US" dirty="0"/>
              <a:t>, </a:t>
            </a:r>
            <a:r>
              <a:rPr lang="en-US" dirty="0" err="1"/>
              <a:t>quando</a:t>
            </a:r>
            <a:r>
              <a:rPr lang="en-US" dirty="0"/>
              <a:t> </a:t>
            </a:r>
            <a:r>
              <a:rPr lang="en-US" dirty="0" err="1"/>
              <a:t>desejado</a:t>
            </a:r>
            <a:r>
              <a:rPr lang="en-US" dirty="0"/>
              <a:t>;</a:t>
            </a:r>
          </a:p>
          <a:p>
            <a:pPr lvl="0" rtl="0"/>
            <a:r>
              <a:rPr lang="en-US" dirty="0" err="1"/>
              <a:t>faz</a:t>
            </a:r>
            <a:r>
              <a:rPr lang="en-US" dirty="0"/>
              <a:t> </a:t>
            </a:r>
            <a:r>
              <a:rPr lang="en-US" dirty="0" err="1"/>
              <a:t>os</a:t>
            </a:r>
            <a:r>
              <a:rPr lang="en-US" dirty="0"/>
              <a:t> </a:t>
            </a:r>
            <a:r>
              <a:rPr lang="en-US" i="1" dirty="0"/>
              <a:t>pixels</a:t>
            </a:r>
            <a:r>
              <a:rPr lang="en-US" dirty="0"/>
              <a:t> das </a:t>
            </a:r>
            <a:r>
              <a:rPr lang="en-US" dirty="0" err="1"/>
              <a:t>bordas</a:t>
            </a:r>
            <a:r>
              <a:rPr lang="en-US" dirty="0"/>
              <a:t> </a:t>
            </a:r>
            <a:r>
              <a:rPr lang="en-US" dirty="0" err="1"/>
              <a:t>contribuírem</a:t>
            </a:r>
            <a:r>
              <a:rPr lang="en-US" dirty="0"/>
              <a:t> </a:t>
            </a:r>
            <a:r>
              <a:rPr lang="en-US" b="1" dirty="0"/>
              <a:t>de forma </a:t>
            </a:r>
            <a:r>
              <a:rPr lang="en-US" b="1" dirty="0" err="1"/>
              <a:t>mais</a:t>
            </a:r>
            <a:r>
              <a:rPr lang="en-US" b="1" dirty="0"/>
              <a:t> </a:t>
            </a:r>
            <a:r>
              <a:rPr lang="en-US" b="1" dirty="0" err="1"/>
              <a:t>equilibrada</a:t>
            </a:r>
            <a:r>
              <a:rPr lang="en-US" dirty="0"/>
              <a:t> para a </a:t>
            </a:r>
            <a:r>
              <a:rPr lang="en-US" dirty="0" err="1"/>
              <a:t>extração</a:t>
            </a:r>
            <a:r>
              <a:rPr lang="en-US" dirty="0"/>
              <a:t> de </a:t>
            </a:r>
            <a:r>
              <a:rPr lang="en-US" dirty="0" err="1"/>
              <a:t>características</a:t>
            </a:r>
            <a:r>
              <a:rPr lang="en-US" dirty="0"/>
              <a:t>.</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40406379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24.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2.gif"/></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6.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3.jpe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jpeg"/><Relationship Id="rId4" Type="http://schemas.openxmlformats.org/officeDocument/2006/relationships/image" Target="../media/image54.png"/></Relationships>
</file>

<file path=ppt/slides/_rels/slide80.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8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9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100.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0.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1.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são a base das </a:t>
            </a:r>
            <a:r>
              <a:rPr lang="pt-BR" sz="2800" i="1" dirty="0" err="1"/>
              <a:t>Convolutional</a:t>
            </a:r>
            <a:r>
              <a:rPr lang="pt-BR" sz="2800" i="1" dirty="0"/>
              <a:t> Neural Networks </a:t>
            </a:r>
            <a:r>
              <a:rPr lang="pt-BR" sz="2800" dirty="0"/>
              <a:t>(CNNs).</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DNNs versus CNNs</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fontScale="92500" lnSpcReduction="10000"/>
          </a:bodyPr>
          <a:lstStyle/>
          <a:p>
            <a:r>
              <a:rPr lang="pt-BR" dirty="0"/>
              <a:t>A </a:t>
            </a:r>
            <a:r>
              <a:rPr lang="pt-BR" b="1" dirty="0">
                <a:solidFill>
                  <a:srgbClr val="00B050"/>
                </a:solidFill>
              </a:rPr>
              <a:t>principal diferença</a:t>
            </a:r>
            <a:r>
              <a:rPr lang="pt-BR" dirty="0"/>
              <a:t> para uma rede densa (DNN) é que ao invés de </a:t>
            </a:r>
            <a:r>
              <a:rPr lang="pt-BR" b="1" dirty="0">
                <a:solidFill>
                  <a:srgbClr val="00B050"/>
                </a:solidFill>
              </a:rPr>
              <a:t>aprender </a:t>
            </a:r>
            <a:r>
              <a:rPr lang="pt-BR" b="1" dirty="0">
                <a:solidFill>
                  <a:srgbClr val="7030A0"/>
                </a:solidFill>
              </a:rPr>
              <a:t>relações globais </a:t>
            </a:r>
            <a:r>
              <a:rPr lang="pt-BR" b="1" dirty="0">
                <a:solidFill>
                  <a:srgbClr val="00B050"/>
                </a:solidFill>
              </a:rPr>
              <a:t>entre os atributos</a:t>
            </a:r>
            <a:r>
              <a:rPr lang="pt-BR" dirty="0"/>
              <a:t>, uma </a:t>
            </a:r>
            <a:r>
              <a:rPr lang="pt-BR" b="1" dirty="0">
                <a:solidFill>
                  <a:srgbClr val="00B050"/>
                </a:solidFill>
              </a:rPr>
              <a:t>CNN aprende </a:t>
            </a:r>
            <a:r>
              <a:rPr lang="pt-BR" b="1" dirty="0">
                <a:solidFill>
                  <a:srgbClr val="7030A0"/>
                </a:solidFill>
              </a:rPr>
              <a:t>relações (padrões) locais,</a:t>
            </a:r>
            <a:r>
              <a:rPr lang="pt-BR" dirty="0"/>
              <a:t> que podem aparecer em qualquer lugar de uma imagem,</a:t>
            </a:r>
            <a:r>
              <a:rPr lang="pt-BR" b="1" dirty="0">
                <a:solidFill>
                  <a:srgbClr val="00B050"/>
                </a:solidFill>
              </a:rPr>
              <a:t> através de filtros de convolução </a:t>
            </a:r>
            <a:r>
              <a:rPr lang="pt-BR" dirty="0"/>
              <a:t>(ou </a:t>
            </a:r>
            <a:r>
              <a:rPr lang="pt-BR" b="1" i="1" dirty="0">
                <a:solidFill>
                  <a:schemeClr val="accent2"/>
                </a:solidFill>
              </a:rPr>
              <a:t>kernels</a:t>
            </a:r>
            <a:r>
              <a:rPr lang="pt-BR" dirty="0"/>
              <a:t>).</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a:t>Em geral, CNNs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09625" y="2414587"/>
            <a:ext cx="10515600" cy="1985963"/>
          </a:xfrm>
        </p:spPr>
        <p:txBody>
          <a:bodyPr>
            <a:normAutofit/>
          </a:bodyPr>
          <a:lstStyle/>
          <a:p>
            <a:pPr marL="0" indent="0" algn="ctr">
              <a:buNone/>
            </a:pPr>
            <a:r>
              <a:rPr lang="pt-BR" sz="6000" dirty="0"/>
              <a:t>Por que </a:t>
            </a:r>
            <a:r>
              <a:rPr lang="pt-BR" sz="6600" dirty="0"/>
              <a:t>não</a:t>
            </a:r>
            <a:r>
              <a:rPr lang="pt-BR" sz="6000" dirty="0"/>
              <a:t> usamos redes densas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40" y="1825624"/>
            <a:ext cx="6695660" cy="5032375"/>
          </a:xfrm>
        </p:spPr>
        <p:txBody>
          <a:bodyPr>
            <a:normAutofit/>
          </a:bodyPr>
          <a:lstStyle/>
          <a:p>
            <a:r>
              <a:rPr lang="pt-BR" b="0" noProof="0" dirty="0">
                <a:effectLst/>
              </a:rPr>
              <a:t>DNNs são </a:t>
            </a:r>
            <a:r>
              <a:rPr lang="pt-BR" b="1" noProof="0" dirty="0">
                <a:solidFill>
                  <a:srgbClr val="00B050"/>
                </a:solidFill>
                <a:effectLst/>
              </a:rPr>
              <a:t>adequadas para dados </a:t>
            </a:r>
            <a:r>
              <a:rPr lang="pt-BR" b="1" noProof="0" dirty="0">
                <a:solidFill>
                  <a:schemeClr val="accent2"/>
                </a:solidFill>
                <a:effectLst/>
              </a:rPr>
              <a:t>tabulares</a:t>
            </a:r>
            <a:r>
              <a:rPr lang="pt-BR" b="0" noProof="0" dirty="0">
                <a:effectLst/>
              </a:rPr>
              <a:t>, onde os </a:t>
            </a:r>
            <a:r>
              <a:rPr lang="pt-BR" b="1" noProof="0" dirty="0">
                <a:solidFill>
                  <a:srgbClr val="00B050"/>
                </a:solidFill>
                <a:effectLst/>
              </a:rPr>
              <a:t>exemplos são representados por linhas e os atributos por colunas</a:t>
            </a:r>
            <a:r>
              <a:rPr lang="pt-BR" b="0" noProof="0" dirty="0">
                <a:effectLst/>
              </a:rPr>
              <a:t>.</a:t>
            </a:r>
          </a:p>
          <a:p>
            <a:r>
              <a:rPr lang="pt-BR" noProof="0" dirty="0"/>
              <a:t>O objetivo de uma MLP é </a:t>
            </a:r>
            <a:r>
              <a:rPr lang="pt-BR" b="1" noProof="0" dirty="0"/>
              <a:t>aprender </a:t>
            </a:r>
            <a:r>
              <a:rPr lang="pt-BR" b="1" noProof="0" dirty="0">
                <a:solidFill>
                  <a:srgbClr val="0070C0"/>
                </a:solidFill>
              </a:rPr>
              <a:t>relações globais</a:t>
            </a:r>
            <a:r>
              <a:rPr lang="pt-BR" b="1" noProof="0" dirty="0"/>
              <a:t> entre os atributos</a:t>
            </a:r>
            <a:r>
              <a:rPr lang="pt-BR" noProof="0" dirty="0"/>
              <a:t>, sem </a:t>
            </a:r>
            <a:r>
              <a:rPr lang="pt-BR" b="1" noProof="0" dirty="0">
                <a:solidFill>
                  <a:srgbClr val="00B0F0"/>
                </a:solidFill>
              </a:rPr>
              <a:t>considerar uma estrutura espacial ou de vizinhança </a:t>
            </a:r>
            <a:r>
              <a:rPr lang="pt-BR" noProof="0" dirty="0"/>
              <a:t>entre eles.</a:t>
            </a:r>
          </a:p>
          <a:p>
            <a:r>
              <a:rPr lang="pt-BR" noProof="0" dirty="0"/>
              <a:t>DNNs </a:t>
            </a:r>
            <a:r>
              <a:rPr lang="pt-BR" b="1" noProof="0" dirty="0">
                <a:solidFill>
                  <a:srgbClr val="7030A0"/>
                </a:solidFill>
              </a:rPr>
              <a:t>não possuem</a:t>
            </a:r>
            <a:r>
              <a:rPr lang="pt-BR" noProof="0" dirty="0"/>
              <a:t>, por construção, </a:t>
            </a:r>
            <a:r>
              <a:rPr lang="pt-BR" b="1" noProof="0" dirty="0">
                <a:solidFill>
                  <a:srgbClr val="7030A0"/>
                </a:solidFill>
              </a:rPr>
              <a:t>conhecimento de que </a:t>
            </a:r>
            <a:r>
              <a:rPr lang="pt-BR" b="1" i="1" noProof="0" dirty="0">
                <a:solidFill>
                  <a:srgbClr val="7030A0"/>
                </a:solidFill>
              </a:rPr>
              <a:t>pixels</a:t>
            </a:r>
            <a:r>
              <a:rPr lang="pt-BR" b="1" noProof="0" dirty="0">
                <a:solidFill>
                  <a:srgbClr val="7030A0"/>
                </a:solidFill>
              </a:rPr>
              <a:t> próximos formam uma estrutura espacial (i.e., estão relacionados)</a:t>
            </a:r>
            <a:r>
              <a:rPr lang="pt-BR" noProof="0" dirty="0"/>
              <a:t>.</a:t>
            </a:r>
            <a:endParaRPr lang="pt-BR" b="0" noProof="0" dirty="0">
              <a:effectLst/>
            </a:endParaRP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87886" y="1725546"/>
            <a:ext cx="4588632" cy="3834362"/>
          </a:xfrm>
          <a:prstGeom prst="rect">
            <a:avLst/>
          </a:prstGeom>
        </p:spPr>
      </p:pic>
      <p:sp>
        <p:nvSpPr>
          <p:cNvPr id="4" name="CaixaDeTexto 3">
            <a:extLst>
              <a:ext uri="{FF2B5EF4-FFF2-40B4-BE49-F238E27FC236}">
                <a16:creationId xmlns:a16="http://schemas.microsoft.com/office/drawing/2014/main" id="{95FA7017-2A82-FBFD-66BC-D195F1B43CB2}"/>
              </a:ext>
            </a:extLst>
          </p:cNvPr>
          <p:cNvSpPr txBox="1"/>
          <p:nvPr/>
        </p:nvSpPr>
        <p:spPr>
          <a:xfrm>
            <a:off x="387886" y="6169709"/>
            <a:ext cx="4423144" cy="646331"/>
          </a:xfrm>
          <a:prstGeom prst="rect">
            <a:avLst/>
          </a:prstGeom>
          <a:noFill/>
        </p:spPr>
        <p:txBody>
          <a:bodyPr wrap="square" rtlCol="0">
            <a:spAutoFit/>
          </a:bodyPr>
          <a:lstStyle/>
          <a:p>
            <a:pPr algn="ctr"/>
            <a:r>
              <a:rPr lang="pt-BR" dirty="0"/>
              <a:t>A MLP aprende o que é um 7 </a:t>
            </a:r>
            <a:r>
              <a:rPr lang="pt-BR" b="1" dirty="0">
                <a:solidFill>
                  <a:schemeClr val="accent2"/>
                </a:solidFill>
              </a:rPr>
              <a:t>relacionando todos</a:t>
            </a:r>
            <a:r>
              <a:rPr lang="pt-BR" dirty="0"/>
              <a:t> os 784 </a:t>
            </a:r>
            <a:r>
              <a:rPr lang="pt-BR" i="1" dirty="0"/>
              <a:t>pixels</a:t>
            </a:r>
            <a:r>
              <a:rPr lang="pt-BR" dirty="0"/>
              <a:t>.</a:t>
            </a:r>
            <a:endParaRPr lang="en-US" dirty="0"/>
          </a:p>
        </p:txBody>
      </p:sp>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0EB66EDE-4FEF-7030-6EF2-A0CBD51FAE51}"/>
                  </a:ext>
                </a:extLst>
              </p:cNvPr>
              <p:cNvSpPr txBox="1"/>
              <p:nvPr/>
            </p:nvSpPr>
            <p:spPr>
              <a:xfrm>
                <a:off x="377573" y="5744794"/>
                <a:ext cx="450734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𝑁</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i="1">
                              <a:latin typeface="Cambria Math" panose="02040503050406030204" pitchFamily="18" charset="0"/>
                            </a:rPr>
                            <m:t>1</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784</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784</m:t>
                          </m:r>
                        </m:sub>
                      </m:sSub>
                    </m:oMath>
                  </m:oMathPara>
                </a14:m>
                <a:endParaRPr lang="en-US" dirty="0"/>
              </a:p>
            </p:txBody>
          </p:sp>
        </mc:Choice>
        <mc:Fallback xmlns="">
          <p:sp>
            <p:nvSpPr>
              <p:cNvPr id="7" name="CaixaDeTexto 6">
                <a:extLst>
                  <a:ext uri="{FF2B5EF4-FFF2-40B4-BE49-F238E27FC236}">
                    <a16:creationId xmlns:a16="http://schemas.microsoft.com/office/drawing/2014/main" id="{0EB66EDE-4FEF-7030-6EF2-A0CBD51FAE51}"/>
                  </a:ext>
                </a:extLst>
              </p:cNvPr>
              <p:cNvSpPr txBox="1">
                <a:spLocks noRot="1" noChangeAspect="1" noMove="1" noResize="1" noEditPoints="1" noAdjustHandles="1" noChangeArrowheads="1" noChangeShapeType="1" noTextEdit="1"/>
              </p:cNvSpPr>
              <p:nvPr/>
            </p:nvSpPr>
            <p:spPr>
              <a:xfrm>
                <a:off x="377573" y="5744794"/>
                <a:ext cx="4507345" cy="369332"/>
              </a:xfrm>
              <a:prstGeom prst="rect">
                <a:avLst/>
              </a:prstGeom>
              <a:blipFill>
                <a:blip r:embed="rId4"/>
                <a:stretch>
                  <a:fillRect b="-6557"/>
                </a:stretch>
              </a:blipFill>
            </p:spPr>
            <p:txBody>
              <a:bodyPr/>
              <a:lstStyle/>
              <a:p>
                <a:r>
                  <a:rPr lang="en-US">
                    <a:noFill/>
                  </a:rPr>
                  <a:t> </a:t>
                </a:r>
              </a:p>
            </p:txBody>
          </p:sp>
        </mc:Fallback>
      </mc:AlternateContent>
      <p:cxnSp>
        <p:nvCxnSpPr>
          <p:cNvPr id="9" name="Conector de Seta Reta 8">
            <a:extLst>
              <a:ext uri="{FF2B5EF4-FFF2-40B4-BE49-F238E27FC236}">
                <a16:creationId xmlns:a16="http://schemas.microsoft.com/office/drawing/2014/main" id="{4A778D9C-8279-D912-26AC-933241651C0D}"/>
              </a:ext>
            </a:extLst>
          </p:cNvPr>
          <p:cNvCxnSpPr>
            <a:stCxn id="7" idx="0"/>
          </p:cNvCxnSpPr>
          <p:nvPr/>
        </p:nvCxnSpPr>
        <p:spPr>
          <a:xfrm flipV="1">
            <a:off x="2631246" y="5486400"/>
            <a:ext cx="1091009" cy="2583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28896" y="1690688"/>
            <a:ext cx="5963104" cy="5167311"/>
          </a:xfrm>
        </p:spPr>
        <p:txBody>
          <a:bodyPr>
            <a:normAutofit/>
          </a:bodyPr>
          <a:lstStyle/>
          <a:p>
            <a:r>
              <a:rPr lang="pt-BR" noProof="0" dirty="0"/>
              <a:t>DNNs </a:t>
            </a:r>
            <a:r>
              <a:rPr lang="pt-BR" b="1" noProof="0" dirty="0">
                <a:solidFill>
                  <a:srgbClr val="00B050"/>
                </a:solidFill>
              </a:rPr>
              <a:t>aprendem</a:t>
            </a:r>
            <a:r>
              <a:rPr lang="pt-BR" b="1" noProof="0" dirty="0">
                <a:solidFill>
                  <a:srgbClr val="7030A0"/>
                </a:solidFill>
              </a:rPr>
              <a:t> </a:t>
            </a:r>
            <a:r>
              <a:rPr lang="pt-BR" b="1" noProof="0" dirty="0">
                <a:solidFill>
                  <a:schemeClr val="accent2"/>
                </a:solidFill>
              </a:rPr>
              <a:t>padrões globais</a:t>
            </a:r>
            <a:r>
              <a:rPr lang="pt-BR" noProof="0" dirty="0"/>
              <a:t>.</a:t>
            </a:r>
          </a:p>
          <a:p>
            <a:r>
              <a:rPr lang="pt-BR" noProof="0" dirty="0"/>
              <a:t>Elas </a:t>
            </a:r>
            <a:r>
              <a:rPr lang="pt-BR" b="1" noProof="0" dirty="0">
                <a:solidFill>
                  <a:srgbClr val="FF0000"/>
                </a:solidFill>
              </a:rPr>
              <a:t>não incorporam explicitamente</a:t>
            </a:r>
            <a:r>
              <a:rPr lang="pt-BR" b="1" noProof="0" dirty="0">
                <a:solidFill>
                  <a:srgbClr val="00B050"/>
                </a:solidFill>
              </a:rPr>
              <a:t> </a:t>
            </a:r>
            <a:r>
              <a:rPr lang="pt-BR" noProof="0" dirty="0"/>
              <a:t>a</a:t>
            </a:r>
            <a:r>
              <a:rPr lang="pt-BR" b="1" noProof="0" dirty="0">
                <a:solidFill>
                  <a:srgbClr val="00B050"/>
                </a:solidFill>
              </a:rPr>
              <a:t> </a:t>
            </a:r>
            <a:r>
              <a:rPr lang="pt-BR" b="1" noProof="0" dirty="0">
                <a:solidFill>
                  <a:srgbClr val="7030A0"/>
                </a:solidFill>
              </a:rPr>
              <a:t>localidade espacial</a:t>
            </a:r>
            <a:r>
              <a:rPr lang="pt-BR" b="1" noProof="0" dirty="0">
                <a:solidFill>
                  <a:srgbClr val="00B050"/>
                </a:solidFill>
              </a:rPr>
              <a:t> </a:t>
            </a:r>
            <a:r>
              <a:rPr lang="pt-BR" noProof="0" dirty="0"/>
              <a:t>em dados com topologia de grade (e.g., imagens).</a:t>
            </a:r>
          </a:p>
          <a:p>
            <a:pPr lvl="1">
              <a:buFont typeface="Wingdings" panose="05000000000000000000" pitchFamily="2" charset="2"/>
              <a:buChar char="§"/>
            </a:pPr>
            <a:r>
              <a:rPr lang="pt-BR" b="1" noProof="0" dirty="0">
                <a:solidFill>
                  <a:srgbClr val="7030A0"/>
                </a:solidFill>
              </a:rPr>
              <a:t>Localidade espacial</a:t>
            </a:r>
            <a:r>
              <a:rPr lang="pt-BR" b="0" noProof="0" dirty="0">
                <a:effectLst/>
              </a:rPr>
              <a:t>: </a:t>
            </a:r>
            <a:r>
              <a:rPr lang="pt-BR" b="1" noProof="0" dirty="0">
                <a:solidFill>
                  <a:schemeClr val="accent2"/>
                </a:solidFill>
                <a:effectLst/>
              </a:rPr>
              <a:t>região</a:t>
            </a:r>
            <a:r>
              <a:rPr lang="pt-BR" b="0" noProof="0" dirty="0">
                <a:effectLst/>
              </a:rPr>
              <a:t> onde </a:t>
            </a:r>
            <a:r>
              <a:rPr lang="pt-BR" b="1" noProof="0" dirty="0">
                <a:solidFill>
                  <a:srgbClr val="00B050"/>
                </a:solidFill>
                <a:effectLst/>
              </a:rPr>
              <a:t>informações próximas </a:t>
            </a:r>
            <a:r>
              <a:rPr lang="pt-BR" b="0" noProof="0" dirty="0">
                <a:effectLst/>
              </a:rPr>
              <a:t>umas das outras </a:t>
            </a:r>
            <a:r>
              <a:rPr lang="pt-BR" b="1" noProof="0" dirty="0">
                <a:solidFill>
                  <a:srgbClr val="00B050"/>
                </a:solidFill>
                <a:effectLst/>
              </a:rPr>
              <a:t>estão relacionadas</a:t>
            </a:r>
            <a:r>
              <a:rPr lang="pt-BR" b="0" noProof="0" dirty="0">
                <a:effectLst/>
              </a:rPr>
              <a:t>.</a:t>
            </a:r>
          </a:p>
          <a:p>
            <a:pPr lvl="1">
              <a:buFont typeface="Wingdings" panose="05000000000000000000" pitchFamily="2" charset="2"/>
              <a:buChar char="§"/>
            </a:pPr>
            <a:r>
              <a:rPr lang="pt-BR" b="1" dirty="0">
                <a:solidFill>
                  <a:schemeClr val="accent1"/>
                </a:solidFill>
              </a:rPr>
              <a:t>Topologia em grade</a:t>
            </a:r>
            <a:r>
              <a:rPr lang="pt-BR" dirty="0"/>
              <a:t>: cada elemento possui uma posição e uma vizinhança espacial bem definida.</a:t>
            </a:r>
            <a:endParaRPr lang="pt-BR" b="0" noProof="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830997"/>
          </a:xfrm>
          <a:prstGeom prst="rect">
            <a:avLst/>
          </a:prstGeom>
          <a:noFill/>
        </p:spPr>
        <p:txBody>
          <a:bodyPr wrap="square">
            <a:spAutoFit/>
          </a:bodyPr>
          <a:lstStyle/>
          <a:p>
            <a:pPr algn="ctr"/>
            <a:r>
              <a:rPr lang="pt-BR" sz="1600" dirty="0"/>
              <a:t>CNN: neurônios recebem (olham) apenas uma parte dos </a:t>
            </a:r>
            <a:r>
              <a:rPr lang="pt-BR" sz="1600" i="1" dirty="0"/>
              <a:t>pixels</a:t>
            </a:r>
            <a:r>
              <a:rPr lang="pt-BR" sz="1600" dirty="0"/>
              <a:t> da imagem</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679931" y="1825624"/>
            <a:ext cx="6418283" cy="5032375"/>
          </a:xfrm>
        </p:spPr>
        <p:txBody>
          <a:bodyPr>
            <a:normAutofit/>
          </a:bodyPr>
          <a:lstStyle/>
          <a:p>
            <a:r>
              <a:rPr lang="pt-BR" b="1" noProof="0" dirty="0">
                <a:solidFill>
                  <a:srgbClr val="7030A0"/>
                </a:solidFill>
              </a:rPr>
              <a:t>I</a:t>
            </a:r>
            <a:r>
              <a:rPr lang="pt-BR" b="1" noProof="0" dirty="0">
                <a:solidFill>
                  <a:srgbClr val="7030A0"/>
                </a:solidFill>
                <a:effectLst/>
              </a:rPr>
              <a:t>magens têm uma estrutura espacial</a:t>
            </a:r>
            <a:r>
              <a:rPr lang="pt-BR" b="0" noProof="0" dirty="0">
                <a:effectLst/>
              </a:rPr>
              <a:t> que pode ser explorada por CNNs.</a:t>
            </a:r>
            <a:endParaRPr lang="pt-BR" noProof="0" dirty="0"/>
          </a:p>
          <a:p>
            <a:r>
              <a:rPr lang="pt-BR" noProof="0" dirty="0"/>
              <a:t>Os </a:t>
            </a:r>
            <a:r>
              <a:rPr lang="pt-BR" i="1" noProof="0" dirty="0"/>
              <a:t>pixels</a:t>
            </a:r>
            <a:r>
              <a:rPr lang="pt-BR" noProof="0" dirty="0"/>
              <a:t> possuem </a:t>
            </a:r>
            <a:r>
              <a:rPr lang="pt-BR" b="1" noProof="0" dirty="0">
                <a:solidFill>
                  <a:schemeClr val="accent5"/>
                </a:solidFill>
              </a:rPr>
              <a:t>posição no espaço</a:t>
            </a:r>
            <a:r>
              <a:rPr lang="pt-BR" noProof="0" dirty="0"/>
              <a:t>.</a:t>
            </a:r>
          </a:p>
          <a:p>
            <a:r>
              <a:rPr lang="pt-BR" noProof="0" dirty="0"/>
              <a:t>Em uma imagem, </a:t>
            </a:r>
            <a:r>
              <a:rPr lang="pt-BR" i="1" noProof="0" dirty="0"/>
              <a:t>pixels</a:t>
            </a:r>
            <a:r>
              <a:rPr lang="pt-BR" noProof="0" dirty="0"/>
              <a:t> </a:t>
            </a:r>
            <a:r>
              <a:rPr lang="pt-BR" b="1" noProof="0" dirty="0">
                <a:solidFill>
                  <a:schemeClr val="accent5"/>
                </a:solidFill>
              </a:rPr>
              <a:t>vizinhos</a:t>
            </a:r>
            <a:r>
              <a:rPr lang="pt-BR" noProof="0" dirty="0"/>
              <a:t> tendem a conter informações </a:t>
            </a:r>
            <a:r>
              <a:rPr lang="pt-BR" b="1" noProof="0" dirty="0">
                <a:solidFill>
                  <a:schemeClr val="accent5"/>
                </a:solidFill>
              </a:rPr>
              <a:t>relacionadas</a:t>
            </a:r>
            <a:r>
              <a:rPr lang="pt-BR" noProof="0" dirty="0"/>
              <a:t>.</a:t>
            </a:r>
          </a:p>
          <a:p>
            <a:r>
              <a:rPr lang="pt-BR" noProof="0" dirty="0"/>
              <a:t>Por exemplo, no caso do gato ao lado, existem </a:t>
            </a:r>
            <a:r>
              <a:rPr lang="pt-BR" b="1" noProof="0" dirty="0">
                <a:solidFill>
                  <a:schemeClr val="accent2"/>
                </a:solidFill>
              </a:rPr>
              <a:t>correlações locais </a:t>
            </a:r>
            <a:r>
              <a:rPr lang="pt-BR" noProof="0" dirty="0"/>
              <a:t>entre os </a:t>
            </a:r>
            <a:r>
              <a:rPr lang="pt-BR" i="1" noProof="0" dirty="0"/>
              <a:t>pixels </a:t>
            </a:r>
            <a:r>
              <a:rPr lang="pt-BR" noProof="0" dirty="0"/>
              <a:t>dos olhos, nariz, boca, etc.</a:t>
            </a:r>
          </a:p>
          <a:p>
            <a:pPr marL="0" indent="0">
              <a:buNone/>
            </a:pPr>
            <a:endParaRPr lang="pt-BR" noProof="0"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(ou </a:t>
            </a:r>
            <a:r>
              <a:rPr lang="pt-BR" b="1" dirty="0">
                <a:solidFill>
                  <a:srgbClr val="0070C0"/>
                </a:solidFill>
              </a:rPr>
              <a:t>padrões</a:t>
            </a:r>
            <a:r>
              <a:rPr lang="pt-BR" dirty="0"/>
              <a:t>) importantes como </a:t>
            </a:r>
            <a:r>
              <a:rPr lang="pt-BR" b="1" dirty="0">
                <a:solidFill>
                  <a:schemeClr val="accent2"/>
                </a:solidFill>
              </a:rPr>
              <a:t>bordas, contornos, texturas, formas, partes de objetos e objetos inteiros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a:p>
            <a:r>
              <a:rPr lang="pt-BR" dirty="0"/>
              <a:t>As CNNs exploram a localidade espacial usando filtros que percorrem a imagem em busca de padrões.</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5791200" y="1825624"/>
            <a:ext cx="6400800" cy="5032375"/>
          </a:xfrm>
        </p:spPr>
        <p:txBody>
          <a:bodyPr>
            <a:normAutofit lnSpcReduction="10000"/>
          </a:bodyPr>
          <a:lstStyle/>
          <a:p>
            <a:r>
              <a:rPr lang="pt-BR" dirty="0"/>
              <a:t>DNNs são </a:t>
            </a:r>
            <a:r>
              <a:rPr lang="pt-BR" b="1" dirty="0">
                <a:solidFill>
                  <a:srgbClr val="0070C0"/>
                </a:solidFill>
              </a:rPr>
              <a:t>computacionalmente ineficientes </a:t>
            </a:r>
            <a:r>
              <a:rPr lang="pt-BR" dirty="0"/>
              <a:t>para processamento de imagens.</a:t>
            </a:r>
          </a:p>
          <a:p>
            <a:r>
              <a:rPr lang="pt-BR" dirty="0"/>
              <a:t>Redes densas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de uma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239148" y="2068946"/>
            <a:ext cx="5095217" cy="4257675"/>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353800" cy="5032375"/>
          </a:xfrm>
        </p:spPr>
        <p:txBody>
          <a:bodyPr>
            <a:normAutofit lnSpcReduction="10000"/>
          </a:bodyPr>
          <a:lstStyle/>
          <a:p>
            <a:r>
              <a:rPr lang="pt-BR" noProof="0" dirty="0"/>
              <a:t>Em uma DNN, o </a:t>
            </a:r>
            <a:r>
              <a:rPr lang="pt-BR" b="1" noProof="0" dirty="0">
                <a:solidFill>
                  <a:srgbClr val="7030A0"/>
                </a:solidFill>
              </a:rPr>
              <a:t>número de pesos cresce com a resolução da imagem</a:t>
            </a:r>
            <a:r>
              <a:rPr lang="pt-BR" noProof="0" dirty="0"/>
              <a:t>.</a:t>
            </a:r>
          </a:p>
          <a:p>
            <a:r>
              <a:rPr lang="pt-BR" noProof="0" dirty="0"/>
              <a:t>Problemas causados por um modelo grande</a:t>
            </a:r>
          </a:p>
          <a:p>
            <a:pPr lvl="1">
              <a:buFont typeface="Wingdings" panose="05000000000000000000" pitchFamily="2" charset="2"/>
              <a:buChar char="§"/>
            </a:pPr>
            <a:r>
              <a:rPr lang="pt-BR" noProof="0" dirty="0"/>
              <a:t>alto custo computacional</a:t>
            </a:r>
          </a:p>
          <a:p>
            <a:pPr lvl="2">
              <a:buFont typeface="Courier New" panose="02070309020205020404" pitchFamily="49" charset="0"/>
              <a:buChar char="o"/>
            </a:pPr>
            <a:r>
              <a:rPr lang="pt-BR" noProof="0" dirty="0"/>
              <a:t>treinamento mais lento</a:t>
            </a:r>
          </a:p>
          <a:p>
            <a:pPr lvl="2">
              <a:buFont typeface="Courier New" panose="02070309020205020404" pitchFamily="49" charset="0"/>
              <a:buChar char="o"/>
            </a:pPr>
            <a:r>
              <a:rPr lang="pt-BR" noProof="0" dirty="0"/>
              <a:t>maior consumo de memória</a:t>
            </a:r>
          </a:p>
          <a:p>
            <a:pPr lvl="1">
              <a:buFont typeface="Wingdings" panose="05000000000000000000" pitchFamily="2" charset="2"/>
              <a:buChar char="§"/>
            </a:pPr>
            <a:r>
              <a:rPr lang="pt-BR" noProof="0" dirty="0"/>
              <a:t>maior risco de </a:t>
            </a:r>
            <a:r>
              <a:rPr lang="pt-BR" i="1" noProof="0" dirty="0" err="1"/>
              <a:t>overfitting</a:t>
            </a:r>
            <a:endParaRPr lang="pt-BR" noProof="0" dirty="0"/>
          </a:p>
          <a:p>
            <a:r>
              <a:rPr lang="pt-BR" noProof="0" dirty="0"/>
              <a:t>Em geral, para ter desempenho similar, </a:t>
            </a:r>
            <a:r>
              <a:rPr lang="pt-BR" noProof="0" dirty="0" err="1"/>
              <a:t>DNNs</a:t>
            </a:r>
            <a:r>
              <a:rPr lang="pt-BR" noProof="0" dirty="0"/>
              <a:t> precisam ser maiores do que CNNs, pois precisam de mais nós para apreender o mesmo padrão em diferentes posições.</a:t>
            </a:r>
          </a:p>
          <a:p>
            <a:r>
              <a:rPr lang="pt-BR" noProof="0" dirty="0"/>
              <a:t>Além disso, por </a:t>
            </a:r>
            <a:r>
              <a:rPr lang="pt-BR" b="1" noProof="0" dirty="0">
                <a:solidFill>
                  <a:schemeClr val="accent2"/>
                </a:solidFill>
              </a:rPr>
              <a:t>desconsiderarem a estrutura espacial</a:t>
            </a:r>
            <a:r>
              <a:rPr lang="pt-BR" noProof="0" dirty="0"/>
              <a:t> dos </a:t>
            </a:r>
            <a:r>
              <a:rPr lang="pt-BR" i="1" noProof="0" dirty="0"/>
              <a:t>pixels</a:t>
            </a:r>
            <a:r>
              <a:rPr lang="pt-BR" noProof="0" dirty="0"/>
              <a:t>, seriam necessárias </a:t>
            </a:r>
            <a:r>
              <a:rPr lang="pt-BR" b="1" noProof="0" dirty="0">
                <a:solidFill>
                  <a:schemeClr val="accent2"/>
                </a:solidFill>
              </a:rPr>
              <a:t>redes e </a:t>
            </a:r>
            <a:r>
              <a:rPr lang="pt-BR" b="1" i="1" noProof="0" dirty="0" err="1">
                <a:solidFill>
                  <a:schemeClr val="accent2"/>
                </a:solidFill>
              </a:rPr>
              <a:t>datasets</a:t>
            </a:r>
            <a:r>
              <a:rPr lang="pt-BR" b="1" noProof="0" dirty="0">
                <a:solidFill>
                  <a:schemeClr val="accent2"/>
                </a:solidFill>
              </a:rPr>
              <a:t> extremamente grandes</a:t>
            </a:r>
            <a:r>
              <a:rPr lang="pt-BR" noProof="0" dirty="0"/>
              <a:t> para funcionarem bem com </a:t>
            </a:r>
            <a:r>
              <a:rPr lang="pt-BR" b="1" noProof="0" dirty="0">
                <a:solidFill>
                  <a:srgbClr val="00B050"/>
                </a:solidFill>
              </a:rPr>
              <a:t>problemas de detecção e segmentação de objetos</a:t>
            </a:r>
            <a:r>
              <a:rPr lang="pt-BR" noProof="0" dirty="0"/>
              <a:t>, os quais se </a:t>
            </a:r>
            <a:r>
              <a:rPr lang="pt-BR" b="1" noProof="0" dirty="0">
                <a:solidFill>
                  <a:srgbClr val="0070C0"/>
                </a:solidFill>
              </a:rPr>
              <a:t>baseiam na localização dos objetos</a:t>
            </a:r>
            <a:r>
              <a:rPr lang="pt-BR" noProof="0" dirty="0"/>
              <a:t>.</a:t>
            </a:r>
          </a:p>
        </p:txBody>
      </p:sp>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DNNs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184635" y="1690688"/>
            <a:ext cx="7007365" cy="5167311"/>
          </a:xfrm>
        </p:spPr>
        <p:txBody>
          <a:bodyPr>
            <a:normAutofit/>
          </a:bodyPr>
          <a:lstStyle/>
          <a:p>
            <a:r>
              <a:rPr lang="pt-BR" dirty="0"/>
              <a:t>Portanto, a </a:t>
            </a:r>
            <a:r>
              <a:rPr lang="pt-BR" b="1" dirty="0">
                <a:solidFill>
                  <a:schemeClr val="accent2"/>
                </a:solidFill>
              </a:rPr>
              <a:t>conectividade total dos nós </a:t>
            </a:r>
            <a:r>
              <a:rPr lang="pt-BR" b="1" dirty="0">
                <a:solidFill>
                  <a:srgbClr val="00B050"/>
                </a:solidFill>
              </a:rPr>
              <a:t>em uma DNN é um </a:t>
            </a:r>
            <a:r>
              <a:rPr lang="pt-BR" b="1" dirty="0">
                <a:solidFill>
                  <a:srgbClr val="7030A0"/>
                </a:solidFill>
              </a:rPr>
              <a:t>desperdício</a:t>
            </a:r>
            <a:r>
              <a:rPr lang="pt-BR" b="1" dirty="0">
                <a:solidFill>
                  <a:srgbClr val="00B050"/>
                </a:solidFill>
              </a:rPr>
              <a:t> </a:t>
            </a:r>
            <a:r>
              <a:rPr lang="pt-BR" dirty="0"/>
              <a:t>para tarefas de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linhas e cantos formam contornos e texturas, que formam partes elementares de objetos e, que por sua vez, formam objetos completos.</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5" name="Retângulo 4">
            <a:extLst>
              <a:ext uri="{FF2B5EF4-FFF2-40B4-BE49-F238E27FC236}">
                <a16:creationId xmlns:a16="http://schemas.microsoft.com/office/drawing/2014/main" id="{8D29EB07-1347-746F-6BE8-B358BCF1DA57}"/>
              </a:ext>
            </a:extLst>
          </p:cNvPr>
          <p:cNvSpPr/>
          <p:nvPr/>
        </p:nvSpPr>
        <p:spPr>
          <a:xfrm>
            <a:off x="3282180" y="6057892"/>
            <a:ext cx="18668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bordas, linhas e cantos</a:t>
            </a:r>
            <a:endParaRPr lang="en-US" dirty="0">
              <a:solidFill>
                <a:schemeClr val="tx1"/>
              </a:solidFill>
            </a:endParaRPr>
          </a:p>
        </p:txBody>
      </p:sp>
      <p:sp>
        <p:nvSpPr>
          <p:cNvPr id="18" name="Retângulo 17">
            <a:extLst>
              <a:ext uri="{FF2B5EF4-FFF2-40B4-BE49-F238E27FC236}">
                <a16:creationId xmlns:a16="http://schemas.microsoft.com/office/drawing/2014/main" id="{22ABE9CA-18E7-1C2F-0CC4-443BD3549CDF}"/>
              </a:ext>
            </a:extLst>
          </p:cNvPr>
          <p:cNvSpPr/>
          <p:nvPr/>
        </p:nvSpPr>
        <p:spPr>
          <a:xfrm>
            <a:off x="5483770" y="6057894"/>
            <a:ext cx="17906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contornos e texturas</a:t>
            </a:r>
            <a:endParaRPr lang="en-US" dirty="0">
              <a:solidFill>
                <a:schemeClr val="tx1"/>
              </a:solidFill>
            </a:endParaRPr>
          </a:p>
        </p:txBody>
      </p:sp>
      <p:sp>
        <p:nvSpPr>
          <p:cNvPr id="20" name="Retângulo 19">
            <a:extLst>
              <a:ext uri="{FF2B5EF4-FFF2-40B4-BE49-F238E27FC236}">
                <a16:creationId xmlns:a16="http://schemas.microsoft.com/office/drawing/2014/main" id="{4F6BF176-12C3-8061-9D69-084617A773C1}"/>
              </a:ext>
            </a:extLst>
          </p:cNvPr>
          <p:cNvSpPr/>
          <p:nvPr/>
        </p:nvSpPr>
        <p:spPr>
          <a:xfrm>
            <a:off x="7609160" y="6057893"/>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partes elementares de objetos</a:t>
            </a:r>
            <a:endParaRPr lang="en-US" dirty="0">
              <a:solidFill>
                <a:schemeClr val="tx1"/>
              </a:solidFill>
            </a:endParaRPr>
          </a:p>
        </p:txBody>
      </p:sp>
      <p:sp>
        <p:nvSpPr>
          <p:cNvPr id="22" name="Retângulo 21">
            <a:extLst>
              <a:ext uri="{FF2B5EF4-FFF2-40B4-BE49-F238E27FC236}">
                <a16:creationId xmlns:a16="http://schemas.microsoft.com/office/drawing/2014/main" id="{483991D4-367A-11C1-ADEB-64FCDF31F186}"/>
              </a:ext>
            </a:extLst>
          </p:cNvPr>
          <p:cNvSpPr/>
          <p:nvPr/>
        </p:nvSpPr>
        <p:spPr>
          <a:xfrm>
            <a:off x="9934575" y="6057898"/>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objetos inteiros</a:t>
            </a:r>
            <a:endParaRPr lang="en-US" dirty="0">
              <a:solidFill>
                <a:schemeClr val="tx1"/>
              </a:solidFill>
            </a:endParaRPr>
          </a:p>
        </p:txBody>
      </p:sp>
      <p:cxnSp>
        <p:nvCxnSpPr>
          <p:cNvPr id="24" name="Conector de Seta Reta 23">
            <a:extLst>
              <a:ext uri="{FF2B5EF4-FFF2-40B4-BE49-F238E27FC236}">
                <a16:creationId xmlns:a16="http://schemas.microsoft.com/office/drawing/2014/main" id="{E6C823D7-1AE5-0431-C884-A93340BD14C6}"/>
              </a:ext>
            </a:extLst>
          </p:cNvPr>
          <p:cNvCxnSpPr>
            <a:stCxn id="5" idx="3"/>
            <a:endCxn id="18" idx="1"/>
          </p:cNvCxnSpPr>
          <p:nvPr/>
        </p:nvCxnSpPr>
        <p:spPr>
          <a:xfrm>
            <a:off x="5149045" y="6339667"/>
            <a:ext cx="334725" cy="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508F072-E631-E6F4-44C1-4824CD18124E}"/>
              </a:ext>
            </a:extLst>
          </p:cNvPr>
          <p:cNvCxnSpPr>
            <a:stCxn id="18" idx="3"/>
            <a:endCxn id="20" idx="1"/>
          </p:cNvCxnSpPr>
          <p:nvPr/>
        </p:nvCxnSpPr>
        <p:spPr>
          <a:xfrm flipV="1">
            <a:off x="7274435" y="6339668"/>
            <a:ext cx="334725"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id="{4B18ECCD-F744-CBED-6BE7-E7BD26B2A124}"/>
              </a:ext>
            </a:extLst>
          </p:cNvPr>
          <p:cNvCxnSpPr>
            <a:stCxn id="20" idx="3"/>
            <a:endCxn id="22" idx="1"/>
          </p:cNvCxnSpPr>
          <p:nvPr/>
        </p:nvCxnSpPr>
        <p:spPr>
          <a:xfrm>
            <a:off x="9599850" y="6339668"/>
            <a:ext cx="334725" cy="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CNN</a:t>
            </a:r>
            <a:r>
              <a:rPr lang="pt-BR" sz="6000" dirty="0"/>
              <a:t>s?</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257925" y="1825624"/>
            <a:ext cx="5934075" cy="5032375"/>
          </a:xfrm>
        </p:spPr>
        <p:txBody>
          <a:bodyPr>
            <a:normAutofit/>
          </a:bodyPr>
          <a:lstStyle/>
          <a:p>
            <a:r>
              <a:rPr lang="pt-BR" noProof="0" dirty="0"/>
              <a:t>CNNs são </a:t>
            </a:r>
            <a:r>
              <a:rPr lang="pt-BR" b="1" noProof="0" dirty="0">
                <a:solidFill>
                  <a:schemeClr val="accent2"/>
                </a:solidFill>
              </a:rPr>
              <a:t>mais eficientes que redes densas</a:t>
            </a:r>
            <a:r>
              <a:rPr lang="pt-BR" noProof="0" dirty="0"/>
              <a:t>: o </a:t>
            </a:r>
            <a:r>
              <a:rPr lang="pt-BR" b="1" noProof="0" dirty="0">
                <a:solidFill>
                  <a:srgbClr val="00B050"/>
                </a:solidFill>
              </a:rPr>
              <a:t>número de pesos depende do tamanho e da quantidade de filtros</a:t>
            </a:r>
            <a:r>
              <a:rPr lang="pt-BR" noProof="0" dirty="0"/>
              <a:t>, não da resolução da imagem.</a:t>
            </a:r>
          </a:p>
          <a:p>
            <a:r>
              <a:rPr lang="pt-BR" noProof="0" dirty="0"/>
              <a:t>CNNs exploram as propriedades naturais das imagens:</a:t>
            </a:r>
          </a:p>
          <a:p>
            <a:pPr lvl="1">
              <a:buFont typeface="Wingdings" panose="05000000000000000000" pitchFamily="2" charset="2"/>
              <a:buChar char="§"/>
            </a:pPr>
            <a:r>
              <a:rPr lang="pt-BR" b="1" noProof="0" dirty="0"/>
              <a:t>Localidade espacial</a:t>
            </a:r>
          </a:p>
          <a:p>
            <a:pPr lvl="1">
              <a:buFont typeface="Wingdings" panose="05000000000000000000" pitchFamily="2" charset="2"/>
              <a:buChar char="§"/>
            </a:pPr>
            <a:r>
              <a:rPr lang="pt-BR" b="1" noProof="0" dirty="0" err="1"/>
              <a:t>Estacionariedade</a:t>
            </a:r>
            <a:endParaRPr lang="pt-BR" noProof="0" dirty="0"/>
          </a:p>
          <a:p>
            <a:pPr lvl="1">
              <a:buFont typeface="Wingdings" panose="05000000000000000000" pitchFamily="2" charset="2"/>
              <a:buChar char="§"/>
            </a:pPr>
            <a:r>
              <a:rPr lang="pt-BR" b="1" noProof="0" dirty="0"/>
              <a:t>Composição hierárquica de padrões</a:t>
            </a:r>
            <a:endParaRPr lang="pt-BR" noProof="0"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CNNs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pt-BR" i="1" dirty="0"/>
              <a:t>pixels</a:t>
            </a:r>
            <a:r>
              <a:rPr lang="pt-BR" dirty="0"/>
              <a:t> dos olhos do gato.</a:t>
            </a:r>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CNNs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135541" y="1825624"/>
            <a:ext cx="7056462" cy="5032376"/>
          </a:xfrm>
        </p:spPr>
        <p:txBody>
          <a:bodyPr>
            <a:normAutofit/>
          </a:bodyPr>
          <a:lstStyle/>
          <a:p>
            <a:r>
              <a:rPr lang="pt-BR" noProof="0" dirty="0"/>
              <a:t>Em vez de </a:t>
            </a:r>
            <a:r>
              <a:rPr lang="pt-BR" b="1" noProof="0" dirty="0">
                <a:solidFill>
                  <a:srgbClr val="00B050"/>
                </a:solidFill>
              </a:rPr>
              <a:t>conectar cada neurônio da CNN a todos os </a:t>
            </a:r>
            <a:r>
              <a:rPr lang="pt-BR" b="1" i="1" noProof="0" dirty="0">
                <a:solidFill>
                  <a:srgbClr val="00B050"/>
                </a:solidFill>
              </a:rPr>
              <a:t>pixels</a:t>
            </a:r>
            <a:r>
              <a:rPr lang="pt-BR" noProof="0" dirty="0"/>
              <a:t> da imagem, cada neurônio “olha” apenas para uma </a:t>
            </a:r>
            <a:r>
              <a:rPr lang="pt-BR" b="1" noProof="0" dirty="0">
                <a:solidFill>
                  <a:schemeClr val="accent2"/>
                </a:solidFill>
              </a:rPr>
              <a:t>pequena região</a:t>
            </a:r>
            <a:r>
              <a:rPr lang="pt-BR" noProof="0" dirty="0"/>
              <a:t>, chamada de </a:t>
            </a:r>
            <a:r>
              <a:rPr lang="pt-BR" b="1" noProof="0" dirty="0">
                <a:solidFill>
                  <a:schemeClr val="accent2"/>
                </a:solidFill>
              </a:rPr>
              <a:t>campo receptivo</a:t>
            </a:r>
            <a:r>
              <a:rPr lang="pt-BR" noProof="0" dirty="0"/>
              <a:t>.</a:t>
            </a:r>
          </a:p>
          <a:p>
            <a:r>
              <a:rPr lang="pt-BR" noProof="0" dirty="0"/>
              <a:t>O tamanho do campo receptivo é definido por uma matriz (2D ou 3D) chamada de </a:t>
            </a:r>
            <a:r>
              <a:rPr lang="pt-BR" b="1" noProof="0" dirty="0">
                <a:solidFill>
                  <a:srgbClr val="7030A0"/>
                </a:solidFill>
              </a:rPr>
              <a:t>filtro (de convolução)</a:t>
            </a:r>
            <a:r>
              <a:rPr lang="pt-BR" noProof="0" dirty="0"/>
              <a:t> ou </a:t>
            </a:r>
            <a:r>
              <a:rPr lang="pt-BR" b="1" i="1" noProof="0" dirty="0">
                <a:solidFill>
                  <a:srgbClr val="7030A0"/>
                </a:solidFill>
              </a:rPr>
              <a:t>kernel</a:t>
            </a:r>
            <a:r>
              <a:rPr lang="pt-BR" noProof="0" dirty="0"/>
              <a:t>.</a:t>
            </a:r>
          </a:p>
          <a:p>
            <a:r>
              <a:rPr lang="pt-BR" noProof="0" dirty="0"/>
              <a:t>Isso permite detectar </a:t>
            </a:r>
            <a:r>
              <a:rPr lang="pt-BR" b="1" noProof="0" dirty="0"/>
              <a:t>padrões locais </a:t>
            </a:r>
            <a:r>
              <a:rPr lang="pt-BR" noProof="0" dirty="0"/>
              <a:t>como:</a:t>
            </a:r>
          </a:p>
          <a:p>
            <a:pPr lvl="1">
              <a:buFont typeface="Wingdings" panose="05000000000000000000" pitchFamily="2" charset="2"/>
              <a:buChar char="§"/>
            </a:pPr>
            <a:r>
              <a:rPr lang="pt-BR" noProof="0" dirty="0"/>
              <a:t>bordas, linhas, cantos, cor</a:t>
            </a:r>
          </a:p>
          <a:p>
            <a:pPr lvl="1">
              <a:buFont typeface="Wingdings" panose="05000000000000000000" pitchFamily="2" charset="2"/>
              <a:buChar char="§"/>
            </a:pPr>
            <a:r>
              <a:rPr lang="pt-BR" noProof="0" dirty="0"/>
              <a:t>texturas, partes elementares de objetos</a:t>
            </a:r>
          </a:p>
          <a:p>
            <a:pPr lvl="1">
              <a:buFont typeface="Wingdings" panose="05000000000000000000" pitchFamily="2" charset="2"/>
              <a:buChar char="§"/>
            </a:pPr>
            <a:r>
              <a:rPr lang="pt-BR" noProof="0" dirty="0"/>
              <a:t>partes reconhecíveis de objetos: olhos ou orelhas</a:t>
            </a:r>
          </a:p>
          <a:p>
            <a:pPr lvl="1">
              <a:buFont typeface="Wingdings" panose="05000000000000000000" pitchFamily="2" charset="2"/>
              <a:buChar char="§"/>
            </a:pPr>
            <a:r>
              <a:rPr lang="pt-BR" noProof="0" dirty="0"/>
              <a:t>objeto inteiro: gato</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82836" y="1942916"/>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r>
              <a:rPr lang="pt-BR" dirty="0"/>
              <a:t>Como as CNNs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a:solidFill>
                  <a:srgbClr val="00B050"/>
                </a:solidFill>
              </a:rPr>
              <a:t>CNNs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Por exemplo, um filtro que detecta bordas é o mesmo para todas as posições.</a:t>
            </a:r>
          </a:p>
          <a:p>
            <a:r>
              <a:rPr lang="pt-BR" dirty="0"/>
              <a:t>Isso traz grandes </a:t>
            </a:r>
            <a:r>
              <a:rPr lang="pt-BR" b="1" dirty="0">
                <a:solidFill>
                  <a:srgbClr val="00B050"/>
                </a:solidFill>
              </a:rPr>
              <a:t>vantagens</a:t>
            </a:r>
            <a:r>
              <a:rPr lang="pt-BR" dirty="0"/>
              <a:t>:</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 da imagem</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3"/>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noProof="0" dirty="0"/>
              <a:t>Imagens possuem uma </a:t>
            </a:r>
            <a:r>
              <a:rPr lang="pt-BR" b="1" noProof="0" dirty="0">
                <a:solidFill>
                  <a:schemeClr val="accent2"/>
                </a:solidFill>
              </a:rPr>
              <a:t>estrutura</a:t>
            </a:r>
            <a:r>
              <a:rPr lang="pt-BR" noProof="0" dirty="0">
                <a:solidFill>
                  <a:schemeClr val="accent2"/>
                </a:solidFill>
              </a:rPr>
              <a:t> </a:t>
            </a:r>
            <a:r>
              <a:rPr lang="pt-BR" b="1" noProof="0" dirty="0">
                <a:solidFill>
                  <a:schemeClr val="accent2"/>
                </a:solidFill>
              </a:rPr>
              <a:t>hierárquica</a:t>
            </a:r>
            <a:r>
              <a:rPr lang="pt-BR" noProof="0" dirty="0"/>
              <a:t>.</a:t>
            </a:r>
          </a:p>
          <a:p>
            <a:r>
              <a:rPr lang="pt-BR" noProof="0" dirty="0"/>
              <a:t>Padrões simples formam padrões mais complexos:</a:t>
            </a:r>
          </a:p>
          <a:p>
            <a:pPr lvl="1">
              <a:buFont typeface="Wingdings" panose="05000000000000000000" pitchFamily="2" charset="2"/>
              <a:buChar char="§"/>
            </a:pPr>
            <a:r>
              <a:rPr lang="pt-BR" b="1" noProof="0" dirty="0"/>
              <a:t>Simples</a:t>
            </a:r>
            <a:r>
              <a:rPr lang="pt-BR" noProof="0" dirty="0"/>
              <a:t>: contorno da orelha, borda do nariz e do olho</a:t>
            </a:r>
          </a:p>
          <a:p>
            <a:pPr lvl="1">
              <a:buFont typeface="Wingdings" panose="05000000000000000000" pitchFamily="2" charset="2"/>
              <a:buChar char="§"/>
            </a:pPr>
            <a:r>
              <a:rPr lang="pt-BR" b="1" noProof="0" dirty="0"/>
              <a:t>Intermediários</a:t>
            </a:r>
            <a:r>
              <a:rPr lang="pt-BR" noProof="0" dirty="0"/>
              <a:t>: curvatura da orelha, forma triangular do nariz</a:t>
            </a:r>
          </a:p>
          <a:p>
            <a:pPr lvl="1">
              <a:buFont typeface="Wingdings" panose="05000000000000000000" pitchFamily="2" charset="2"/>
              <a:buChar char="§"/>
            </a:pPr>
            <a:r>
              <a:rPr lang="pt-BR" b="1" noProof="0" dirty="0"/>
              <a:t>Partes menores</a:t>
            </a:r>
            <a:r>
              <a:rPr lang="pt-BR" noProof="0" dirty="0"/>
              <a:t>: olho, nariz, bigode, boca</a:t>
            </a:r>
          </a:p>
          <a:p>
            <a:pPr lvl="1">
              <a:buFont typeface="Wingdings" panose="05000000000000000000" pitchFamily="2" charset="2"/>
              <a:buChar char="§"/>
            </a:pPr>
            <a:r>
              <a:rPr lang="pt-BR" b="1" noProof="0" dirty="0"/>
              <a:t>Partes maiores</a:t>
            </a:r>
            <a:r>
              <a:rPr lang="pt-BR" noProof="0" dirty="0"/>
              <a:t>: face, cabeça, corpo, rabo</a:t>
            </a:r>
          </a:p>
          <a:p>
            <a:pPr lvl="1">
              <a:buFont typeface="Wingdings" panose="05000000000000000000" pitchFamily="2" charset="2"/>
              <a:buChar char="§"/>
            </a:pPr>
            <a:r>
              <a:rPr lang="pt-BR" b="1" noProof="0" dirty="0"/>
              <a:t>Objeto completo</a:t>
            </a:r>
            <a:r>
              <a:rPr lang="pt-BR" dirty="0"/>
              <a:t>: gato</a:t>
            </a:r>
            <a:endParaRPr lang="pt-BR" noProof="0" dirty="0"/>
          </a:p>
          <a:p>
            <a:r>
              <a:rPr lang="pt-BR" noProof="0" dirty="0"/>
              <a:t>As </a:t>
            </a:r>
            <a:r>
              <a:rPr lang="pt-BR" b="1" noProof="0" dirty="0">
                <a:solidFill>
                  <a:srgbClr val="00B050"/>
                </a:solidFill>
              </a:rPr>
              <a:t>camadas</a:t>
            </a:r>
            <a:r>
              <a:rPr lang="pt-BR" noProof="0" dirty="0"/>
              <a:t> de uma CNN </a:t>
            </a:r>
            <a:r>
              <a:rPr lang="pt-BR" b="1" noProof="0" dirty="0">
                <a:solidFill>
                  <a:srgbClr val="00B050"/>
                </a:solidFill>
              </a:rPr>
              <a:t>aprendem a hierarquia</a:t>
            </a:r>
            <a:r>
              <a:rPr lang="pt-BR" noProof="0" dirty="0"/>
              <a:t> de padrões da imagem.</a:t>
            </a:r>
          </a:p>
          <a:p>
            <a:pPr lvl="1">
              <a:buFont typeface="Wingdings" panose="05000000000000000000" pitchFamily="2" charset="2"/>
              <a:buChar char="§"/>
            </a:pPr>
            <a:r>
              <a:rPr lang="pt-BR" noProof="0"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pt-BR" noProof="0" dirty="0"/>
              <a:t>Uma </a:t>
            </a:r>
            <a:r>
              <a:rPr lang="pt-BR" b="1" noProof="0" dirty="0">
                <a:solidFill>
                  <a:schemeClr val="accent1"/>
                </a:solidFill>
              </a:rPr>
              <a:t>CNN para classificação de imagens </a:t>
            </a:r>
            <a:r>
              <a:rPr lang="pt-BR" noProof="0" dirty="0"/>
              <a:t>é composta por:</a:t>
            </a:r>
          </a:p>
          <a:p>
            <a:pPr lvl="1">
              <a:buFont typeface="Wingdings" panose="05000000000000000000" pitchFamily="2" charset="2"/>
              <a:buChar char="§"/>
            </a:pPr>
            <a:r>
              <a:rPr lang="pt-BR" noProof="0" dirty="0"/>
              <a:t>Uma entrada (imagem)</a:t>
            </a:r>
          </a:p>
          <a:p>
            <a:pPr lvl="1">
              <a:buFont typeface="Wingdings" panose="05000000000000000000" pitchFamily="2" charset="2"/>
              <a:buChar char="§"/>
            </a:pPr>
            <a:r>
              <a:rPr lang="pt-BR" noProof="0" dirty="0"/>
              <a:t>Um ou mais grupos de</a:t>
            </a:r>
          </a:p>
          <a:p>
            <a:pPr lvl="2">
              <a:buFont typeface="Courier New" panose="02070309020205020404" pitchFamily="49" charset="0"/>
              <a:buChar char="o"/>
            </a:pPr>
            <a:r>
              <a:rPr lang="pt-BR" noProof="0" dirty="0"/>
              <a:t>Camadas de convolução</a:t>
            </a:r>
          </a:p>
          <a:p>
            <a:pPr lvl="3">
              <a:buFont typeface="Wingdings" panose="05000000000000000000" pitchFamily="2" charset="2"/>
              <a:buChar char="ü"/>
            </a:pPr>
            <a:r>
              <a:rPr lang="pt-BR" dirty="0"/>
              <a:t>F</a:t>
            </a:r>
            <a:r>
              <a:rPr lang="pt-BR" noProof="0" dirty="0" err="1"/>
              <a:t>iltros</a:t>
            </a:r>
            <a:r>
              <a:rPr lang="pt-BR" noProof="0" dirty="0"/>
              <a:t> de convolução</a:t>
            </a:r>
          </a:p>
          <a:p>
            <a:pPr lvl="3">
              <a:buFont typeface="Wingdings" panose="05000000000000000000" pitchFamily="2" charset="2"/>
              <a:buChar char="ü"/>
            </a:pPr>
            <a:r>
              <a:rPr lang="pt-BR" noProof="0" dirty="0"/>
              <a:t>Funções de ativação</a:t>
            </a:r>
          </a:p>
          <a:p>
            <a:pPr lvl="2">
              <a:buFont typeface="Courier New" panose="02070309020205020404" pitchFamily="49" charset="0"/>
              <a:buChar char="o"/>
            </a:pPr>
            <a:r>
              <a:rPr lang="pt-BR" noProof="0" dirty="0"/>
              <a:t>Camadas de </a:t>
            </a:r>
            <a:r>
              <a:rPr lang="pt-BR" i="1" noProof="0" dirty="0" err="1"/>
              <a:t>pooling</a:t>
            </a:r>
            <a:endParaRPr lang="pt-BR" i="1" noProof="0" dirty="0"/>
          </a:p>
          <a:p>
            <a:pPr lvl="1">
              <a:buFont typeface="Wingdings" panose="05000000000000000000" pitchFamily="2" charset="2"/>
              <a:buChar char="§"/>
            </a:pPr>
            <a:r>
              <a:rPr lang="pt-BR" noProof="0" dirty="0"/>
              <a:t>Uma camada </a:t>
            </a:r>
            <a:r>
              <a:rPr lang="pt-BR" i="1" noProof="0" dirty="0" err="1"/>
              <a:t>flatten</a:t>
            </a:r>
            <a:endParaRPr lang="pt-BR" i="1" noProof="0" dirty="0"/>
          </a:p>
          <a:p>
            <a:pPr lvl="1">
              <a:buFont typeface="Wingdings" panose="05000000000000000000" pitchFamily="2" charset="2"/>
              <a:buChar char="§"/>
            </a:pPr>
            <a:r>
              <a:rPr lang="pt-BR" noProof="0" dirty="0"/>
              <a:t>Uma ou mais camadas totalmente conectadas</a:t>
            </a:r>
          </a:p>
          <a:p>
            <a:pPr lvl="1">
              <a:buFont typeface="Wingdings" panose="05000000000000000000" pitchFamily="2" charset="2"/>
              <a:buChar char="§"/>
            </a:pPr>
            <a:r>
              <a:rPr lang="pt-BR" noProof="0" dirty="0"/>
              <a:t>Uma função de ativação </a:t>
            </a:r>
            <a:r>
              <a:rPr lang="pt-BR" i="1" noProof="0" dirty="0"/>
              <a:t>softmax </a:t>
            </a:r>
            <a:r>
              <a:rPr lang="pt-BR" noProof="0" dirty="0"/>
              <a:t>para gerar as probabilidades de saída</a:t>
            </a:r>
          </a:p>
        </p:txBody>
      </p:sp>
      <p:pic>
        <p:nvPicPr>
          <p:cNvPr id="1026" name="Picture 2" descr="Convolutional Neural Network | Deep Learning | Developers Breach"/>
          <p:cNvPicPr>
            <a:picLocks noChangeAspect="1" noChangeArrowheads="1"/>
          </p:cNvPicPr>
          <p:nvPr/>
        </p:nvPicPr>
        <p:blipFill rotWithShape="1">
          <a:blip r:embed="rId3">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FEEAC-EB1A-3B91-5B2B-DD4D165B0DD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008826-7C42-4F6F-9B58-7B6580B7F6E0}"/>
              </a:ext>
            </a:extLst>
          </p:cNvPr>
          <p:cNvSpPr>
            <a:spLocks noGrp="1"/>
          </p:cNvSpPr>
          <p:nvPr>
            <p:ph idx="1"/>
          </p:nvPr>
        </p:nvSpPr>
        <p:spPr>
          <a:xfrm>
            <a:off x="506186" y="2453703"/>
            <a:ext cx="11179628" cy="1950594"/>
          </a:xfrm>
        </p:spPr>
        <p:txBody>
          <a:bodyPr>
            <a:normAutofit fontScale="92500"/>
          </a:bodyPr>
          <a:lstStyle/>
          <a:p>
            <a:pPr marL="0" indent="0" algn="ctr">
              <a:buNone/>
            </a:pPr>
            <a:r>
              <a:rPr lang="pt-BR" sz="6000" dirty="0"/>
              <a:t>Vamos entender um pouco mais sobre cada uma das partes das CNNs</a:t>
            </a:r>
            <a:endParaRPr lang="en-US" sz="6000" dirty="0"/>
          </a:p>
        </p:txBody>
      </p:sp>
    </p:spTree>
    <p:extLst>
      <p:ext uri="{BB962C8B-B14F-4D97-AF65-F5344CB8AC3E}">
        <p14:creationId xmlns:p14="http://schemas.microsoft.com/office/powerpoint/2010/main" val="3145566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 de cores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5923722" y="1825624"/>
            <a:ext cx="6268277"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os filtros de convolução</a:t>
            </a:r>
            <a:r>
              <a:rPr lang="pt-BR" dirty="0"/>
              <a:t> sobre a imagem.</a:t>
            </a:r>
          </a:p>
          <a:p>
            <a:r>
              <a:rPr lang="pt-BR" dirty="0"/>
              <a:t>O filtro:</a:t>
            </a:r>
          </a:p>
          <a:p>
            <a:pPr lvl="1">
              <a:buFont typeface="Wingdings" panose="05000000000000000000" pitchFamily="2" charset="2"/>
              <a:buChar char="§"/>
            </a:pPr>
            <a:r>
              <a:rPr lang="pt-BR" sz="2800" dirty="0"/>
              <a:t>tem seus elementos multiplicados com os valores locais da imagem (campo receptivo)</a:t>
            </a:r>
          </a:p>
          <a:p>
            <a:pPr lvl="2">
              <a:buFont typeface="Courier New" panose="02070309020205020404" pitchFamily="49" charset="0"/>
              <a:buChar char="o"/>
            </a:pPr>
            <a:r>
              <a:rPr lang="pt-BR" sz="2400" dirty="0"/>
              <a:t>A multiplicação é elemento a elemento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7" name="Agrupar 6">
            <a:extLst>
              <a:ext uri="{FF2B5EF4-FFF2-40B4-BE49-F238E27FC236}">
                <a16:creationId xmlns:a16="http://schemas.microsoft.com/office/drawing/2014/main" id="{06EA1970-25B8-52B6-C19C-299E17415B1D}"/>
              </a:ext>
            </a:extLst>
          </p:cNvPr>
          <p:cNvGrpSpPr/>
          <p:nvPr/>
        </p:nvGrpSpPr>
        <p:grpSpPr>
          <a:xfrm>
            <a:off x="108784" y="2574235"/>
            <a:ext cx="5793166" cy="3012647"/>
            <a:chOff x="130556" y="2574235"/>
            <a:chExt cx="5793166" cy="3012647"/>
          </a:xfrm>
        </p:grpSpPr>
        <p:grpSp>
          <p:nvGrpSpPr>
            <p:cNvPr id="5" name="Group 4">
              <a:extLst>
                <a:ext uri="{FF2B5EF4-FFF2-40B4-BE49-F238E27FC236}">
                  <a16:creationId xmlns:a16="http://schemas.microsoft.com/office/drawing/2014/main" id="{674323C5-E1CA-52A1-66C4-ABEDCED3482B}"/>
                </a:ext>
              </a:extLst>
            </p:cNvPr>
            <p:cNvGrpSpPr/>
            <p:nvPr/>
          </p:nvGrpSpPr>
          <p:grpSpPr>
            <a:xfrm>
              <a:off x="130556" y="2574235"/>
              <a:ext cx="5793166" cy="3012647"/>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6" name="CaixaDeTexto 5">
              <a:extLst>
                <a:ext uri="{FF2B5EF4-FFF2-40B4-BE49-F238E27FC236}">
                  <a16:creationId xmlns:a16="http://schemas.microsoft.com/office/drawing/2014/main" id="{C4E72025-95A7-49B9-1526-4EA3C5BC6D37}"/>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convolução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570541" y="1825624"/>
                <a:ext cx="5621459" cy="5032375"/>
              </a:xfrm>
            </p:spPr>
            <p:txBody>
              <a:bodyPr>
                <a:noAutofit/>
              </a:bodyPr>
              <a:lstStyle/>
              <a:p>
                <a:r>
                  <a:rPr lang="pt-BR" dirty="0"/>
                  <a:t>Após o filtro, aplica-se uma </a:t>
                </a:r>
                <a:r>
                  <a:rPr lang="pt-BR" b="1" dirty="0">
                    <a:solidFill>
                      <a:schemeClr val="accent2"/>
                    </a:solidFill>
                  </a:rPr>
                  <a:t>função de ativação não linear ao escalar</a:t>
                </a:r>
                <a:r>
                  <a:rPr lang="pt-BR" dirty="0"/>
                  <a:t>.</a:t>
                </a:r>
              </a:p>
              <a:p>
                <a:pPr lvl="1">
                  <a:buFont typeface="Wingdings" panose="05000000000000000000" pitchFamily="2" charset="2"/>
                  <a:buChar char="§"/>
                </a:pPr>
                <a:r>
                  <a:rPr lang="pt-BR" dirty="0"/>
                  <a:t>Em geral, usa-se a função </a:t>
                </a:r>
                <a:r>
                  <a:rPr lang="pt-BR" i="1" dirty="0" err="1"/>
                  <a:t>rectified</a:t>
                </a:r>
                <a:r>
                  <a:rPr lang="pt-BR" i="1" dirty="0"/>
                  <a:t> linear </a:t>
                </a:r>
                <a:r>
                  <a:rPr lang="pt-BR" i="1" dirty="0" err="1"/>
                  <a:t>unit</a:t>
                </a:r>
                <a:r>
                  <a:rPr lang="pt-BR" i="1" dirty="0"/>
                  <a:t> </a:t>
                </a:r>
                <a:r>
                  <a:rPr lang="pt-BR" dirty="0"/>
                  <a:t>(</a:t>
                </a:r>
                <a:r>
                  <a:rPr lang="pt-BR" dirty="0" err="1"/>
                  <a:t>ReLU</a:t>
                </a:r>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uma </a:t>
                </a:r>
                <a:r>
                  <a:rPr lang="pt-BR" b="1" dirty="0">
                    <a:solidFill>
                      <a:schemeClr val="accent1"/>
                    </a:solidFill>
                  </a:rPr>
                  <a:t>mapa de padrões detectados</a:t>
                </a:r>
                <a:r>
                  <a:rPr lang="pt-BR" dirty="0"/>
                  <a:t>.</a:t>
                </a:r>
              </a:p>
            </p:txBody>
          </p:sp>
        </mc:Choice>
        <mc:Fallback xmlns="">
          <p:sp>
            <p:nvSpPr>
              <p:cNvPr id="3" name="Espaço Reservado para Conteúdo 2">
                <a:extLst>
                  <a:ext uri="{FF2B5EF4-FFF2-40B4-BE49-F238E27FC236}">
                    <a16:creationId xmlns:a16="http://schemas.microsoft.com/office/drawing/2014/main" id="{B49B87AE-AA0F-2A43-6D68-AF9FA330C9D9}"/>
                  </a:ext>
                </a:extLst>
              </p:cNvPr>
              <p:cNvSpPr>
                <a:spLocks noGrp="1" noRot="1" noChangeAspect="1" noMove="1" noResize="1" noEditPoints="1" noAdjustHandles="1" noChangeArrowheads="1" noChangeShapeType="1" noTextEdit="1"/>
              </p:cNvSpPr>
              <p:nvPr>
                <p:ph idx="1"/>
              </p:nvPr>
            </p:nvSpPr>
            <p:spPr>
              <a:xfrm>
                <a:off x="6570541" y="1825624"/>
                <a:ext cx="5621459" cy="5032375"/>
              </a:xfrm>
              <a:blipFill>
                <a:blip r:embed="rId3"/>
                <a:stretch>
                  <a:fillRect l="-1952" t="-1937" r="-2386"/>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00D74A89-1397-8D50-7FB3-174767E51FF8}"/>
              </a:ext>
            </a:extLst>
          </p:cNvPr>
          <p:cNvGrpSpPr/>
          <p:nvPr/>
        </p:nvGrpSpPr>
        <p:grpSpPr>
          <a:xfrm>
            <a:off x="302834" y="2432720"/>
            <a:ext cx="5793166" cy="3012647"/>
            <a:chOff x="130556" y="2574235"/>
            <a:chExt cx="5793166" cy="3012647"/>
          </a:xfrm>
        </p:grpSpPr>
        <p:grpSp>
          <p:nvGrpSpPr>
            <p:cNvPr id="5" name="Group 4">
              <a:extLst>
                <a:ext uri="{FF2B5EF4-FFF2-40B4-BE49-F238E27FC236}">
                  <a16:creationId xmlns:a16="http://schemas.microsoft.com/office/drawing/2014/main" id="{65697BCF-6AED-8258-C323-65DC61C3C995}"/>
                </a:ext>
              </a:extLst>
            </p:cNvPr>
            <p:cNvGrpSpPr/>
            <p:nvPr/>
          </p:nvGrpSpPr>
          <p:grpSpPr>
            <a:xfrm>
              <a:off x="130556" y="2574235"/>
              <a:ext cx="5793166" cy="3012647"/>
              <a:chOff x="291326" y="2823587"/>
              <a:chExt cx="4917071" cy="2543852"/>
            </a:xfrm>
          </p:grpSpPr>
          <p:pic>
            <p:nvPicPr>
              <p:cNvPr id="10" name="Picture 4">
                <a:extLst>
                  <a:ext uri="{FF2B5EF4-FFF2-40B4-BE49-F238E27FC236}">
                    <a16:creationId xmlns:a16="http://schemas.microsoft.com/office/drawing/2014/main" id="{AB9336D8-2FF2-896E-C6BD-54D7CE668F9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3">
                <a:extLst>
                  <a:ext uri="{FF2B5EF4-FFF2-40B4-BE49-F238E27FC236}">
                    <a16:creationId xmlns:a16="http://schemas.microsoft.com/office/drawing/2014/main" id="{15CD9111-6F54-803D-AFCD-BFE9FA775AC4}"/>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9" name="CaixaDeTexto 8">
              <a:extLst>
                <a:ext uri="{FF2B5EF4-FFF2-40B4-BE49-F238E27FC236}">
                  <a16:creationId xmlns:a16="http://schemas.microsoft.com/office/drawing/2014/main" id="{E2DB97D1-751C-E7DE-E2C6-6E9FEF94B900}"/>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 </a:t>
            </a:r>
            <a:r>
              <a:rPr lang="pt-BR" b="1" dirty="0">
                <a:solidFill>
                  <a:srgbClr val="00B050"/>
                </a:solidFill>
              </a:rPr>
              <a:t>presentes nas imagens</a:t>
            </a:r>
            <a:r>
              <a:rPr lang="pt-BR" dirty="0"/>
              <a:t>.</a:t>
            </a:r>
          </a:p>
          <a:p>
            <a:pPr lvl="1">
              <a:buFont typeface="Wingdings" panose="05000000000000000000" pitchFamily="2" charset="2"/>
              <a:buChar char="§"/>
            </a:pPr>
            <a:r>
              <a:rPr lang="pt-BR" dirty="0"/>
              <a:t>Os filtros têm </a:t>
            </a:r>
            <a:r>
              <a:rPr lang="pt-BR" b="1" dirty="0">
                <a:solidFill>
                  <a:srgbClr val="7030A0"/>
                </a:solidFill>
              </a:rPr>
              <a:t>pesos que são aprendidos</a:t>
            </a:r>
            <a:r>
              <a:rPr lang="pt-BR" dirty="0"/>
              <a:t>.</a:t>
            </a:r>
          </a:p>
          <a:p>
            <a:r>
              <a:rPr lang="pt-BR" dirty="0"/>
              <a:t>Essa ideia de usar </a:t>
            </a:r>
            <a:r>
              <a:rPr lang="pt-BR" b="1" dirty="0">
                <a:solidFill>
                  <a:srgbClr val="00B050"/>
                </a:solidFill>
              </a:rPr>
              <a:t>filtros</a:t>
            </a:r>
            <a:r>
              <a:rPr lang="pt-BR" dirty="0"/>
              <a:t> para </a:t>
            </a:r>
            <a:r>
              <a:rPr lang="pt-BR" b="1" dirty="0">
                <a:solidFill>
                  <a:srgbClr val="00B050"/>
                </a:solidFill>
              </a:rPr>
              <a:t>detectar padrões</a:t>
            </a:r>
            <a:r>
              <a:rPr lang="pt-BR" dirty="0"/>
              <a:t> é </a:t>
            </a:r>
            <a:r>
              <a:rPr lang="pt-BR" b="1" dirty="0">
                <a:solidFill>
                  <a:srgbClr val="00B050"/>
                </a:solidFill>
              </a:rPr>
              <a:t>baseada</a:t>
            </a:r>
            <a:r>
              <a:rPr lang="pt-BR" dirty="0"/>
              <a:t> em como os </a:t>
            </a:r>
            <a:r>
              <a:rPr lang="pt-BR" b="1" dirty="0">
                <a:solidFill>
                  <a:srgbClr val="7030A0"/>
                </a:solidFill>
              </a:rPr>
              <a:t>neurônios biológicos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a:bodyPr>
          <a:lstStyle/>
          <a:p>
            <a:r>
              <a:rPr lang="pt-BR" dirty="0"/>
              <a:t>Os </a:t>
            </a:r>
            <a:r>
              <a:rPr lang="pt-BR" b="1" dirty="0">
                <a:solidFill>
                  <a:srgbClr val="00B050"/>
                </a:solidFill>
              </a:rPr>
              <a:t>neurônios</a:t>
            </a:r>
            <a:r>
              <a:rPr lang="pt-BR" dirty="0"/>
              <a:t> do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F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486401" y="1825624"/>
            <a:ext cx="6705600"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de convolução</a:t>
            </a:r>
            <a:r>
              <a:rPr lang="pt-BR" b="0" dirty="0">
                <a:effectLst/>
              </a:rPr>
              <a:t> entre seus elementos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partes específicas de objetos e objetos inteiros.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solidFill>
                  <a:srgbClr val="00B0F0"/>
                </a:solidFill>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das matrizes</a:t>
            </a:r>
            <a:r>
              <a:rPr lang="pt-BR" b="0" dirty="0">
                <a:effectLst/>
              </a:rPr>
              <a:t> necessários para </a:t>
            </a:r>
            <a:r>
              <a:rPr lang="pt-BR" b="1" dirty="0">
                <a:effectLst/>
              </a:rPr>
              <a:t>detectar as características que identificam, por exemplo, um gato</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4" y="1825624"/>
                <a:ext cx="5948855" cy="5032375"/>
              </a:xfrm>
            </p:spPr>
            <p:txBody>
              <a:bodyPr>
                <a:normAutofit/>
              </a:bodyPr>
              <a:lstStyle/>
              <a:p>
                <a:r>
                  <a:rPr lang="pt-BR" dirty="0"/>
                  <a:t>Para entendermos como a operação de convolução funciona, vamos considerar, inicialmente, imagens bidimensionais (e.g., imagens em tons de cinza).</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4" y="1825624"/>
                <a:ext cx="5948855" cy="5032375"/>
              </a:xfrm>
              <a:blipFill>
                <a:blip r:embed="rId3"/>
                <a:stretch>
                  <a:fillRect l="-1844" t="-1937" r="-30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0" y="5534780"/>
                <a:ext cx="7032617" cy="1323439"/>
              </a:xfrm>
              <a:prstGeom prst="rect">
                <a:avLst/>
              </a:prstGeom>
              <a:noFill/>
            </p:spPr>
            <p:txBody>
              <a:bodyPr wrap="square" rtlCol="0">
                <a:spAutoFit/>
              </a:bodyPr>
              <a:lstStyle/>
              <a:p>
                <a14:m>
                  <m:oMath xmlns:m="http://schemas.openxmlformats.org/officeDocument/2006/math">
                    <m:r>
                      <a:rPr lang="pt-BR" sz="1600" i="1" smtClean="0">
                        <a:latin typeface="Cambria Math" panose="02040503050406030204" pitchFamily="18" charset="0"/>
                        <a:ea typeface="Cambria Math" panose="02040503050406030204" pitchFamily="18" charset="0"/>
                      </a:rPr>
                      <m:t>𝐼</m:t>
                    </m:r>
                  </m:oMath>
                </a14:m>
                <a:r>
                  <a:rPr lang="pt-BR" sz="1600" dirty="0">
                    <a:latin typeface="Cambria Math" panose="02040503050406030204" pitchFamily="18" charset="0"/>
                    <a:ea typeface="Cambria Math" panose="02040503050406030204" pitchFamily="18" charset="0"/>
                  </a:rPr>
                  <a:t> : entrada </a:t>
                </a:r>
                <a:r>
                  <a:rPr lang="pt-BR" sz="1600" dirty="0"/>
                  <a:t>(e.g., uma imagem ou o </a:t>
                </a:r>
                <a:r>
                  <a:rPr lang="en-US" sz="1600" dirty="0" err="1"/>
                  <a:t>mapa</a:t>
                </a:r>
                <a:r>
                  <a:rPr lang="en-US" sz="1600" dirty="0"/>
                  <a:t> da </a:t>
                </a:r>
                <a:r>
                  <a:rPr lang="en-US" sz="1600" dirty="0" err="1"/>
                  <a:t>camada</a:t>
                </a:r>
                <a:r>
                  <a:rPr lang="en-US" sz="1600" dirty="0"/>
                  <a:t> anterior</a:t>
                </a:r>
                <a:r>
                  <a:rPr lang="pt-BR" sz="1600" dirty="0"/>
                  <a:t>)</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𝐾</m:t>
                    </m:r>
                  </m:oMath>
                </a14:m>
                <a:r>
                  <a:rPr lang="pt-BR" sz="1600" b="0" dirty="0">
                    <a:latin typeface="Cambria Math" panose="02040503050406030204" pitchFamily="18" charset="0"/>
                    <a:ea typeface="Cambria Math" panose="02040503050406030204" pitchFamily="18" charset="0"/>
                  </a:rPr>
                  <a:t>: </a:t>
                </a:r>
                <a:r>
                  <a:rPr lang="pt-BR" sz="1600" b="0" i="1" dirty="0">
                    <a:latin typeface="Cambria Math" panose="02040503050406030204" pitchFamily="18" charset="0"/>
                    <a:ea typeface="Cambria Math" panose="02040503050406030204" pitchFamily="18" charset="0"/>
                  </a:rPr>
                  <a:t>kernel</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𝑂</m:t>
                    </m:r>
                  </m:oMath>
                </a14:m>
                <a:r>
                  <a:rPr lang="pt-BR" sz="1600" dirty="0"/>
                  <a:t>: saída da convolução</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𝑖</m:t>
                    </m:r>
                  </m:oMath>
                </a14:m>
                <a:r>
                  <a:rPr lang="pt-BR" sz="1600" dirty="0"/>
                  <a:t>, </a:t>
                </a:r>
                <a14:m>
                  <m:oMath xmlns:m="http://schemas.openxmlformats.org/officeDocument/2006/math">
                    <m:r>
                      <a:rPr lang="pt-BR" sz="1600" b="0" i="1" smtClean="0">
                        <a:latin typeface="Cambria Math" panose="02040503050406030204" pitchFamily="18" charset="0"/>
                        <a:ea typeface="Cambria Math" panose="02040503050406030204" pitchFamily="18" charset="0"/>
                      </a:rPr>
                      <m:t>𝑗</m:t>
                    </m:r>
                  </m:oMath>
                </a14:m>
                <a:r>
                  <a:rPr lang="pt-BR" sz="1600" dirty="0"/>
                  <a:t>: índices da linha e da coluna na saída e no campo receptivo de entrada</a:t>
                </a:r>
              </a:p>
              <a:p>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𝑚</m:t>
                    </m:r>
                  </m:oMath>
                </a14:m>
                <a:r>
                  <a:rPr lang="pt-BR" sz="1600" dirty="0"/>
                  <a:t>, </a:t>
                </a:r>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𝑛</m:t>
                    </m:r>
                  </m:oMath>
                </a14:m>
                <a:r>
                  <a:rPr lang="pt-BR" sz="1600" dirty="0"/>
                  <a:t>: índices da linha e da coluna do kernel, respectivamente</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0" y="5534780"/>
                <a:ext cx="7032617" cy="1323439"/>
              </a:xfrm>
              <a:prstGeom prst="rect">
                <a:avLst/>
              </a:prstGeom>
              <a:blipFill>
                <a:blip r:embed="rId7"/>
                <a:stretch>
                  <a:fillRect t="-2304" b="-5069"/>
                </a:stretch>
              </a:blipFill>
            </p:spPr>
            <p:txBody>
              <a:bodyPr/>
              <a:lstStyle/>
              <a:p>
                <a:r>
                  <a:rPr lang="en-US">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noProof="0" dirty="0"/>
              <a:t>Ao calcular a convolução, começamos com a</a:t>
            </a:r>
            <a:r>
              <a:rPr lang="pt-BR" b="1" noProof="0" dirty="0"/>
              <a:t> </a:t>
            </a:r>
            <a:r>
              <a:rPr lang="pt-BR" b="1" noProof="0" dirty="0">
                <a:solidFill>
                  <a:schemeClr val="accent2"/>
                </a:solidFill>
              </a:rPr>
              <a:t>janela de convolução</a:t>
            </a:r>
            <a:r>
              <a:rPr lang="pt-BR" b="1" noProof="0" dirty="0"/>
              <a:t> (</a:t>
            </a:r>
            <a:r>
              <a:rPr lang="pt-BR" b="1" noProof="0" dirty="0">
                <a:solidFill>
                  <a:srgbClr val="7030A0"/>
                </a:solidFill>
              </a:rPr>
              <a:t>ou campo receptivo</a:t>
            </a:r>
            <a:r>
              <a:rPr lang="pt-BR" b="1" noProof="0" dirty="0"/>
              <a:t>) </a:t>
            </a:r>
            <a:r>
              <a:rPr lang="pt-BR" noProof="0" dirty="0"/>
              <a:t>no </a:t>
            </a:r>
            <a:r>
              <a:rPr lang="pt-BR" b="1" noProof="0" dirty="0"/>
              <a:t>canto superior esquerdo</a:t>
            </a:r>
            <a:r>
              <a:rPr lang="pt-BR" noProof="0" dirty="0"/>
              <a:t> do </a:t>
            </a:r>
            <a:r>
              <a:rPr lang="pt-BR" b="1" noProof="0" dirty="0">
                <a:solidFill>
                  <a:srgbClr val="00B050"/>
                </a:solidFill>
              </a:rPr>
              <a:t>tensor de entrada </a:t>
            </a:r>
            <a:r>
              <a:rPr lang="pt-BR" noProof="0" dirty="0"/>
              <a:t>(e.g., uma imagem ou saída da camada anterior).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a:t>
            </a:r>
            <a:r>
              <a:rPr lang="pt-BR" sz="1200" b="1" dirty="0">
                <a:solidFill>
                  <a:schemeClr val="accent2"/>
                </a:solidFill>
              </a:rPr>
              <a:t>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discutiremos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229225" y="1825624"/>
            <a:ext cx="6962775"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0070C0"/>
                </a:solidFill>
              </a:rPr>
              <a:t>identificar</a:t>
            </a:r>
            <a:r>
              <a:rPr lang="pt-BR" b="1" dirty="0">
                <a:solidFill>
                  <a:srgbClr val="7030A0"/>
                </a:solidFill>
              </a:rPr>
              <a:t> características na entrada</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mapa de ativações</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 um filtro ao longo de cada posição espacial</a:t>
            </a:r>
            <a:r>
              <a:rPr lang="pt-BR" dirty="0"/>
              <a:t> do tensor de entrada.</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lnSpcReduction="10000"/>
          </a:bodyPr>
          <a:lstStyle/>
          <a:p>
            <a:r>
              <a:rPr lang="pt-BR" noProof="0" dirty="0"/>
              <a:t>O </a:t>
            </a:r>
            <a:r>
              <a:rPr lang="pt-BR" b="1" i="1" noProof="0" dirty="0">
                <a:solidFill>
                  <a:srgbClr val="0070C0"/>
                </a:solidFill>
              </a:rPr>
              <a:t>stride</a:t>
            </a:r>
            <a:r>
              <a:rPr lang="pt-BR" noProof="0" dirty="0"/>
              <a:t> controla o deslizamento do </a:t>
            </a:r>
            <a:r>
              <a:rPr lang="pt-BR" i="1" noProof="0" dirty="0"/>
              <a:t>kernel</a:t>
            </a:r>
            <a:r>
              <a:rPr lang="pt-BR" noProof="0" dirty="0"/>
              <a:t> sobre o tensor</a:t>
            </a:r>
            <a:r>
              <a:rPr lang="pt-BR" dirty="0"/>
              <a:t> de entrada</a:t>
            </a:r>
            <a:r>
              <a:rPr lang="pt-BR" noProof="0" dirty="0"/>
              <a:t>. </a:t>
            </a:r>
          </a:p>
          <a:p>
            <a:r>
              <a:rPr lang="pt-BR" noProof="0" dirty="0"/>
              <a:t>É o número de </a:t>
            </a:r>
            <a:r>
              <a:rPr lang="pt-BR" i="1" noProof="0" dirty="0"/>
              <a:t>pixels</a:t>
            </a:r>
            <a:r>
              <a:rPr lang="pt-BR" noProof="0" dirty="0"/>
              <a:t> que o </a:t>
            </a:r>
            <a:r>
              <a:rPr lang="pt-BR" i="1" noProof="0" dirty="0"/>
              <a:t>kernel</a:t>
            </a:r>
            <a:r>
              <a:rPr lang="pt-BR" noProof="0" dirty="0"/>
              <a:t> avança a cada aplicação da convolução.</a:t>
            </a:r>
          </a:p>
          <a:p>
            <a:r>
              <a:rPr lang="pt-BR" noProof="0" dirty="0"/>
              <a:t>No exemplo anterior, o </a:t>
            </a:r>
            <a:r>
              <a:rPr lang="pt-BR" b="1" i="1" noProof="0" dirty="0">
                <a:solidFill>
                  <a:srgbClr val="0070C0"/>
                </a:solidFill>
              </a:rPr>
              <a:t>stride</a:t>
            </a:r>
            <a:r>
              <a:rPr lang="pt-BR" noProof="0" dirty="0"/>
              <a:t> era de 1 </a:t>
            </a:r>
            <a:r>
              <a:rPr lang="pt-BR" i="1" noProof="0" dirty="0"/>
              <a:t>pixel</a:t>
            </a:r>
            <a:r>
              <a:rPr lang="pt-BR" noProof="0" dirty="0"/>
              <a:t> para a direita e para baixo.</a:t>
            </a:r>
          </a:p>
          <a:p>
            <a:r>
              <a:rPr lang="pt-BR" noProof="0" dirty="0"/>
              <a:t>Para que serve sua variação?</a:t>
            </a:r>
          </a:p>
          <a:p>
            <a:pPr lvl="1">
              <a:buFont typeface="Wingdings" panose="05000000000000000000" pitchFamily="2" charset="2"/>
              <a:buChar char="§"/>
            </a:pPr>
            <a:r>
              <a:rPr lang="pt-BR" noProof="0" dirty="0"/>
              <a:t>Reduzir o tamanho do mapa de características (</a:t>
            </a:r>
            <a:r>
              <a:rPr lang="pt-BR" i="1" noProof="0" dirty="0"/>
              <a:t>downsampling</a:t>
            </a:r>
            <a:r>
              <a:rPr lang="pt-BR" noProof="0" dirty="0"/>
              <a:t>)</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resolução da saída.</a:t>
            </a:r>
            <a:endParaRPr lang="pt-BR" noProof="0" dirty="0"/>
          </a:p>
          <a:p>
            <a:pPr lvl="1">
              <a:buFont typeface="Wingdings" panose="05000000000000000000" pitchFamily="2" charset="2"/>
              <a:buChar char="§"/>
            </a:pPr>
            <a:r>
              <a:rPr lang="pt-BR" noProof="0" dirty="0"/>
              <a:t>Reduzir o custo computacional.</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quantidade de cálculos.</a:t>
            </a:r>
          </a:p>
          <a:p>
            <a:pPr lvl="1">
              <a:buFont typeface="Wingdings" panose="05000000000000000000" pitchFamily="2" charset="2"/>
              <a:buChar char="§"/>
            </a:pPr>
            <a:r>
              <a:rPr lang="pt-BR" noProof="0" dirty="0"/>
              <a:t>Controlar o nível de detalhe preservado.</a:t>
            </a:r>
          </a:p>
          <a:p>
            <a:pPr lvl="2">
              <a:buFont typeface="Courier New" panose="02070309020205020404" pitchFamily="49" charset="0"/>
              <a:buChar char="o"/>
            </a:pPr>
            <a:r>
              <a:rPr lang="pt-BR" i="1" noProof="0" dirty="0"/>
              <a:t>Stride</a:t>
            </a:r>
            <a:r>
              <a:rPr lang="pt-BR" noProof="0" dirty="0"/>
              <a:t> pequeno:</a:t>
            </a:r>
            <a:r>
              <a:rPr lang="pt-BR" dirty="0"/>
              <a:t> maior sobreposição entre janelas, o que preserva mais resolução espacial e informação de localização na saída, porém, tem custo computacional maior.</a:t>
            </a:r>
            <a:endParaRPr lang="pt-BR" noProof="0" dirty="0"/>
          </a:p>
          <a:p>
            <a:pPr lvl="2">
              <a:buFont typeface="Courier New" panose="02070309020205020404" pitchFamily="49" charset="0"/>
              <a:buChar char="o"/>
            </a:pPr>
            <a:r>
              <a:rPr lang="pt-BR" i="1" noProof="0" dirty="0"/>
              <a:t>Stride</a:t>
            </a:r>
            <a:r>
              <a:rPr lang="pt-BR" noProof="0" dirty="0"/>
              <a:t> grande: </a:t>
            </a:r>
            <a:r>
              <a:rPr lang="pt-BR" dirty="0"/>
              <a:t>saída de menor resolução, menor custo computacional, mas com risco de perder detalhes finos (o </a:t>
            </a:r>
            <a:r>
              <a:rPr lang="pt-BR" i="1" dirty="0"/>
              <a:t>kernel</a:t>
            </a:r>
            <a:r>
              <a:rPr lang="pt-BR" dirty="0"/>
              <a:t> pula posições) e a localização fica menos precisa.</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noProof="0" dirty="0"/>
                  <a:t>Portanto, o </a:t>
                </a:r>
                <a:r>
                  <a:rPr lang="pt-BR" i="1" noProof="0" dirty="0"/>
                  <a:t>stride</a:t>
                </a:r>
                <a:r>
                  <a:rPr lang="pt-BR" noProof="0" dirty="0"/>
                  <a:t> controla o equilíbrio entre </a:t>
                </a:r>
                <a:r>
                  <a:rPr lang="pt-BR" b="1" noProof="0" dirty="0"/>
                  <a:t>resolução espacial vs. eficiência.</a:t>
                </a:r>
                <a:endParaRPr lang="pt-BR" noProof="0" dirty="0"/>
              </a:p>
              <a:p>
                <a:r>
                  <a:rPr lang="pt-BR" noProof="0" dirty="0"/>
                  <a:t>No exemplo ao lado, o </a:t>
                </a:r>
                <a:r>
                  <a:rPr lang="pt-BR" i="1" noProof="0" dirty="0"/>
                  <a:t>stride</a:t>
                </a:r>
                <a:r>
                  <a:rPr lang="pt-BR" noProof="0" dirty="0"/>
                  <a:t> é de 2 para deslizamentos ao longo das colunas e linhas.</a:t>
                </a:r>
              </a:p>
              <a:p>
                <a:pPr lvl="1">
                  <a:buFont typeface="Wingdings" panose="05000000000000000000" pitchFamily="2" charset="2"/>
                  <a:buChar char="§"/>
                </a:pPr>
                <a:r>
                  <a:rPr lang="pt-BR" i="1" noProof="0" dirty="0"/>
                  <a:t>Downsampling</a:t>
                </a:r>
                <a:r>
                  <a:rPr lang="pt-BR" noProof="0" dirty="0"/>
                  <a:t>: Entrada </a:t>
                </a:r>
                <a14:m>
                  <m:oMath xmlns:m="http://schemas.openxmlformats.org/officeDocument/2006/math">
                    <m:r>
                      <a:rPr lang="pt-BR" b="0" i="1" noProof="0" smtClean="0">
                        <a:latin typeface="Cambria Math" panose="02040503050406030204" pitchFamily="18" charset="0"/>
                      </a:rPr>
                      <m:t>4</m:t>
                    </m:r>
                    <m:r>
                      <a:rPr lang="pt-BR" b="0" i="1" noProof="0" smtClean="0">
                        <a:latin typeface="Cambria Math" panose="02040503050406030204" pitchFamily="18" charset="0"/>
                        <a:ea typeface="Cambria Math" panose="02040503050406030204" pitchFamily="18" charset="0"/>
                      </a:rPr>
                      <m:t>×4</m:t>
                    </m:r>
                  </m:oMath>
                </a14:m>
                <a:r>
                  <a:rPr lang="pt-BR" noProof="0" dirty="0"/>
                  <a:t> tem como saída um mapa de </a:t>
                </a:r>
                <a14:m>
                  <m:oMath xmlns:m="http://schemas.openxmlformats.org/officeDocument/2006/math">
                    <m:r>
                      <a:rPr lang="pt-BR" b="0" i="0" noProof="0" smtClean="0">
                        <a:latin typeface="Cambria Math" panose="02040503050406030204" pitchFamily="18" charset="0"/>
                        <a:ea typeface="Cambria Math" panose="02040503050406030204" pitchFamily="18" charset="0"/>
                      </a:rPr>
                      <m:t>2</m:t>
                    </m:r>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2</m:t>
                    </m:r>
                  </m:oMath>
                </a14:m>
                <a:endParaRPr lang="pt-BR" noProof="0" dirty="0"/>
              </a:p>
              <a:p>
                <a:r>
                  <a:rPr lang="pt-BR" noProof="0" dirty="0"/>
                  <a:t>Porém, ele pode ser diferente para deslocamentos ao longo das linhas e colunas.</a:t>
                </a:r>
              </a:p>
            </p:txBody>
          </p:sp>
        </mc:Choice>
        <mc:Fallback xmlns="">
          <p:sp>
            <p:nvSpPr>
              <p:cNvPr id="6" name="Espaço Reservado para Conteúdo 5">
                <a:extLst>
                  <a:ext uri="{FF2B5EF4-FFF2-40B4-BE49-F238E27FC236}">
                    <a16:creationId xmlns:a16="http://schemas.microsoft.com/office/drawing/2014/main" id="{08C86F11-4D94-E07B-050B-BAFEC1DDF558}"/>
                  </a:ext>
                </a:extLst>
              </p:cNvPr>
              <p:cNvSpPr>
                <a:spLocks noGrp="1" noRot="1" noChangeAspect="1" noMove="1" noResize="1" noEditPoints="1" noAdjustHandles="1" noChangeArrowheads="1" noChangeShapeType="1" noTextEdit="1"/>
              </p:cNvSpPr>
              <p:nvPr>
                <p:ph idx="1"/>
              </p:nvPr>
            </p:nvSpPr>
            <p:spPr>
              <a:xfrm>
                <a:off x="5647174" y="1825624"/>
                <a:ext cx="6544826" cy="5032375"/>
              </a:xfrm>
              <a:blipFill>
                <a:blip r:embed="rId3"/>
                <a:stretch>
                  <a:fillRect l="-1676" t="-1937"/>
                </a:stretch>
              </a:blipFill>
            </p:spPr>
            <p:txBody>
              <a:bodyPr/>
              <a:lstStyle/>
              <a:p>
                <a:r>
                  <a:rPr lang="en-US">
                    <a:noFill/>
                  </a:rPr>
                  <a:t> </a:t>
                </a:r>
              </a:p>
            </p:txBody>
          </p:sp>
        </mc:Fallback>
      </mc:AlternateContent>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C30E0-8081-B0A7-573B-8D5BAFB388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4ED3848-5F72-8F8E-2C64-8BA12C5D5C5F}"/>
              </a:ext>
            </a:extLst>
          </p:cNvPr>
          <p:cNvSpPr>
            <a:spLocks noGrp="1"/>
          </p:cNvSpPr>
          <p:nvPr>
            <p:ph idx="1"/>
          </p:nvPr>
        </p:nvSpPr>
        <p:spPr>
          <a:xfrm>
            <a:off x="506186" y="2941351"/>
            <a:ext cx="11179628" cy="975297"/>
          </a:xfrm>
        </p:spPr>
        <p:txBody>
          <a:bodyPr>
            <a:normAutofit/>
          </a:bodyPr>
          <a:lstStyle/>
          <a:p>
            <a:pPr marL="0" indent="0" algn="ctr">
              <a:buNone/>
            </a:pPr>
            <a:r>
              <a:rPr lang="pt-BR" sz="6000" dirty="0"/>
              <a:t>Filtros detectam padrões</a:t>
            </a:r>
            <a:endParaRPr lang="en-US" sz="6000" dirty="0"/>
          </a:p>
        </p:txBody>
      </p:sp>
    </p:spTree>
    <p:extLst>
      <p:ext uri="{BB962C8B-B14F-4D97-AF65-F5344CB8AC3E}">
        <p14:creationId xmlns:p14="http://schemas.microsoft.com/office/powerpoint/2010/main" val="37305855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419600"/>
            <a:ext cx="11353801" cy="2438400"/>
          </a:xfrm>
        </p:spPr>
        <p:txBody>
          <a:bodyPr>
            <a:normAutofit/>
          </a:bodyPr>
          <a:lstStyle/>
          <a:p>
            <a:r>
              <a:rPr lang="pt-BR" dirty="0"/>
              <a:t>Na figura, a imagem de entrada apresenta três padrões lineares (linhas).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t>
            </a:r>
            <a:r>
              <a:rPr lang="pt-BR" b="1" i="0" dirty="0">
                <a:solidFill>
                  <a:srgbClr val="00B050"/>
                </a:solidFill>
                <a:effectLst/>
              </a:rPr>
              <a:t>aprende</a:t>
            </a:r>
            <a:r>
              <a:rPr lang="pt-BR" b="0" i="0" dirty="0">
                <a:effectLst/>
              </a:rPr>
              <a:t>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linhas horizontais, linhas verticais e linhas diagonais.</a:t>
            </a:r>
          </a:p>
          <a:p>
            <a:r>
              <a:rPr lang="pt-BR" b="1" dirty="0">
                <a:solidFill>
                  <a:schemeClr val="accent2"/>
                </a:solidFill>
              </a:rPr>
              <a:t>Cada filtro gera um mapa de características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Ao aplicarmos o </a:t>
            </a:r>
            <a:r>
              <a:rPr lang="pt-BR" i="1" dirty="0"/>
              <a:t>kernel</a:t>
            </a:r>
            <a:r>
              <a:rPr lang="pt-BR" dirty="0"/>
              <a:t> mostrado, obtemos o resultado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39855"/>
            <a:ext cx="11353799" cy="2518146"/>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a:t>
            </a:r>
            <a:r>
              <a:rPr lang="pt-BR" b="1" dirty="0">
                <a:solidFill>
                  <a:srgbClr val="00B050"/>
                </a:solidFill>
              </a:rPr>
              <a:t>removemos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 para um </a:t>
            </a:r>
            <a:r>
              <a:rPr lang="pt-BR" i="1" dirty="0"/>
              <a:t>kernel</a:t>
            </a:r>
            <a:r>
              <a:rPr lang="pt-BR" dirty="0"/>
              <a:t>.</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570381" y="1825624"/>
            <a:ext cx="4621619" cy="5032375"/>
          </a:xfrm>
        </p:spPr>
        <p:txBody>
          <a:bodyPr>
            <a:normAutofit lnSpcReduction="10000"/>
          </a:bodyPr>
          <a:lstStyle/>
          <a:p>
            <a:r>
              <a:rPr lang="pt-BR" dirty="0"/>
              <a:t>Em geral, se a imagem tem 3 dimensões, o </a:t>
            </a:r>
            <a:r>
              <a:rPr lang="pt-BR" b="1" i="1" dirty="0"/>
              <a:t>kernel</a:t>
            </a:r>
            <a:r>
              <a:rPr lang="pt-BR" dirty="0"/>
              <a:t> também terá 3 dimensões.</a:t>
            </a:r>
          </a:p>
          <a:p>
            <a:r>
              <a:rPr lang="pt-BR" dirty="0"/>
              <a:t>Nesse caso, a </a:t>
            </a:r>
            <a:r>
              <a:rPr lang="pt-BR" b="1" dirty="0">
                <a:solidFill>
                  <a:srgbClr val="00B0F0"/>
                </a:solidFill>
              </a:rPr>
              <a:t>convolução é aplicada por canal</a:t>
            </a:r>
            <a:r>
              <a:rPr lang="pt-BR" dirty="0"/>
              <a:t>.</a:t>
            </a:r>
          </a:p>
          <a:p>
            <a:r>
              <a:rPr lang="pt-BR" dirty="0"/>
              <a:t>Ou seja, realiza-se</a:t>
            </a:r>
            <a:r>
              <a:rPr lang="pt-BR" b="1" dirty="0">
                <a:solidFill>
                  <a:srgbClr val="00B050"/>
                </a:solidFill>
              </a:rPr>
              <a:t> 3 operações de convolução separadas </a:t>
            </a:r>
            <a:r>
              <a:rPr lang="pt-BR" dirty="0"/>
              <a:t>que têm seus </a:t>
            </a:r>
            <a:r>
              <a:rPr lang="pt-BR" b="1" dirty="0">
                <a:solidFill>
                  <a:schemeClr val="accent2"/>
                </a:solidFill>
              </a:rPr>
              <a:t>resultados somados ao final</a:t>
            </a:r>
            <a:r>
              <a:rPr lang="pt-BR" dirty="0"/>
              <a:t> para gerar </a:t>
            </a:r>
            <a:r>
              <a:rPr lang="pt-BR" b="1" dirty="0">
                <a:solidFill>
                  <a:srgbClr val="7030A0"/>
                </a:solidFill>
              </a:rPr>
              <a:t>uma saída escalar</a:t>
            </a:r>
            <a:r>
              <a:rPr lang="pt-BR" dirty="0"/>
              <a:t>.</a:t>
            </a:r>
          </a:p>
          <a:p>
            <a:r>
              <a:rPr lang="pt-BR" dirty="0"/>
              <a:t>No exemplo, usamos </a:t>
            </a:r>
            <a:r>
              <a:rPr lang="pt-BR" i="1" dirty="0"/>
              <a:t>stride</a:t>
            </a:r>
            <a:r>
              <a:rPr lang="pt-BR" dirty="0"/>
              <a:t> = 1.</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9D73C8F-DA5E-B25C-664A-DD35CA4402F9}"/>
              </a:ext>
            </a:extLst>
          </p:cNvPr>
          <p:cNvSpPr>
            <a:spLocks noGrp="1"/>
          </p:cNvSpPr>
          <p:nvPr>
            <p:ph idx="1"/>
          </p:nvPr>
        </p:nvSpPr>
        <p:spPr>
          <a:xfrm>
            <a:off x="7644810" y="1825624"/>
            <a:ext cx="4547190" cy="5032375"/>
          </a:xfrm>
        </p:spPr>
        <p:txBody>
          <a:bodyPr>
            <a:normAutofit/>
          </a:bodyPr>
          <a:lstStyle/>
          <a:p>
            <a:r>
              <a:rPr lang="pt-BR" dirty="0"/>
              <a:t>A seguir, move-se a janela de convolução 1 elemento para a direita e calcula-se as 3 convoluções.</a:t>
            </a:r>
          </a:p>
          <a:p>
            <a:r>
              <a:rPr lang="pt-BR" dirty="0"/>
              <a:t>Ao final, soma-se os 3 escalares resultantes das 3 convoluções para gerar o elemento do mapa de ativações.</a:t>
            </a:r>
          </a:p>
        </p:txBody>
      </p:sp>
    </p:spTree>
    <p:extLst>
      <p:ext uri="{BB962C8B-B14F-4D97-AF65-F5344CB8AC3E}">
        <p14:creationId xmlns:p14="http://schemas.microsoft.com/office/powerpoint/2010/main" val="744138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8759458-B897-4B64-C83F-764BD728F86B}"/>
              </a:ext>
            </a:extLst>
          </p:cNvPr>
          <p:cNvSpPr>
            <a:spLocks noGrp="1"/>
          </p:cNvSpPr>
          <p:nvPr>
            <p:ph idx="1"/>
          </p:nvPr>
        </p:nvSpPr>
        <p:spPr>
          <a:xfrm>
            <a:off x="7756634" y="1825624"/>
            <a:ext cx="4435365" cy="5032375"/>
          </a:xfrm>
        </p:spPr>
        <p:txBody>
          <a:bodyPr>
            <a:normAutofit/>
          </a:bodyPr>
          <a:lstStyle/>
          <a:p>
            <a:r>
              <a:rPr lang="pt-BR" dirty="0"/>
              <a:t>Move-se a janela e repete-se as convoluções até que toda a entrada seja processada.</a:t>
            </a:r>
          </a:p>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85860" y="1825624"/>
                <a:ext cx="5706140" cy="5032375"/>
              </a:xfrm>
            </p:spPr>
            <p:txBody>
              <a:bodyPr>
                <a:normAutofit lnSpcReduction="10000"/>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a:t>
                </a:r>
                <a:r>
                  <a:rPr lang="pt-BR" dirty="0"/>
                  <a:t>dos mapas de características de todos os </a:t>
                </a:r>
                <a:r>
                  <a:rPr lang="pt-BR" i="1" dirty="0"/>
                  <a:t>kernels</a:t>
                </a:r>
                <a:r>
                  <a:rPr lang="pt-BR" dirty="0"/>
                  <a:t> da camada.</a:t>
                </a:r>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85860" y="1825624"/>
                <a:ext cx="5706140" cy="5032375"/>
              </a:xfrm>
              <a:blipFill>
                <a:blip r:embed="rId3"/>
                <a:stretch>
                  <a:fillRect l="-1923" t="-2663" r="-1175" b="-1211"/>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4"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solidFill>
                  <a:srgbClr val="00B0F0"/>
                </a:solidFill>
              </a:rPr>
              <a:t>relações complexas e não lineares entre as características</a:t>
            </a:r>
            <a:r>
              <a:rPr lang="pt-BR" dirty="0"/>
              <a:t>.</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a:solidFill>
                  <a:srgbClr val="7030A0"/>
                </a:solidFill>
              </a:rPr>
              <a:t>CNNs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209953" y="1825624"/>
                <a:ext cx="6982047"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dos mapas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a:t>
                </a:r>
                <a:r>
                  <a:rPr lang="pt-BR" b="1" dirty="0">
                    <a:solidFill>
                      <a:srgbClr val="00B050"/>
                    </a:solidFill>
                  </a:rPr>
                  <a:t>pequenas regiões </a:t>
                </a:r>
                <a:r>
                  <a:rPr lang="pt-BR" dirty="0"/>
                  <a:t>(janelas) e </a:t>
                </a:r>
                <a:r>
                  <a:rPr lang="pt-BR" b="1" dirty="0">
                    <a:solidFill>
                      <a:srgbClr val="00B0F0"/>
                    </a:solidFill>
                  </a:rPr>
                  <a:t>resume</a:t>
                </a:r>
                <a:r>
                  <a:rPr lang="pt-BR" b="1" dirty="0">
                    <a:solidFill>
                      <a:schemeClr val="accent1"/>
                    </a:solidFill>
                  </a:rPr>
                  <a:t> cada região a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um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elementos e seleciona o </a:t>
                </a:r>
                <a:r>
                  <a:rPr lang="pt-BR" b="1" dirty="0">
                    <a:solidFill>
                      <a:srgbClr val="00B0F0"/>
                    </a:solidFill>
                  </a:rPr>
                  <a:t>maior valor da janela</a:t>
                </a:r>
                <a:r>
                  <a:rPr lang="pt-BR" dirty="0"/>
                  <a:t> (</a:t>
                </a:r>
                <a:r>
                  <a:rPr lang="pt-BR" i="1" dirty="0" err="1"/>
                  <a:t>max</a:t>
                </a:r>
                <a:r>
                  <a:rPr lang="pt-BR" i="1" dirty="0"/>
                  <a:t> </a:t>
                </a:r>
                <a:r>
                  <a:rPr lang="pt-BR" i="1" dirty="0" err="1"/>
                  <a:t>pooling</a:t>
                </a:r>
                <a:r>
                  <a:rPr lang="pt-BR" dirty="0"/>
                  <a:t>).</a:t>
                </a:r>
              </a:p>
              <a:p>
                <a:endParaRPr lang="pt-BR" dirty="0"/>
              </a:p>
            </p:txBody>
          </p:sp>
        </mc:Choice>
        <mc:Fallback>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209953" y="1825624"/>
                <a:ext cx="6982047" cy="5032375"/>
              </a:xfrm>
              <a:blipFill>
                <a:blip r:embed="rId3"/>
                <a:stretch>
                  <a:fillRect l="-1572" t="-1937" r="-139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6105" y="2662962"/>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709684" y="1825624"/>
            <a:ext cx="6482318" cy="5032375"/>
          </a:xfrm>
        </p:spPr>
        <p:txBody>
          <a:bodyPr>
            <a:normAutofit/>
          </a:bodyPr>
          <a:lstStyle/>
          <a:p>
            <a:r>
              <a:rPr lang="pt-BR" noProof="0" dirty="0"/>
              <a:t>O </a:t>
            </a:r>
            <a:r>
              <a:rPr lang="pt-BR" i="1" noProof="0" dirty="0" err="1"/>
              <a:t>pooling</a:t>
            </a:r>
            <a:r>
              <a:rPr lang="pt-BR" noProof="0" dirty="0"/>
              <a:t> </a:t>
            </a:r>
            <a:r>
              <a:rPr lang="pt-BR" b="1" noProof="0" dirty="0">
                <a:solidFill>
                  <a:schemeClr val="accent2"/>
                </a:solidFill>
              </a:rPr>
              <a:t>diminui custo computacional e a quantidade de memória usada</a:t>
            </a:r>
            <a:r>
              <a:rPr lang="pt-BR" noProof="0" dirty="0"/>
              <a:t>, assim como o </a:t>
            </a:r>
            <a:r>
              <a:rPr lang="pt-BR" i="1" noProof="0" dirty="0"/>
              <a:t>stride</a:t>
            </a:r>
            <a:r>
              <a:rPr lang="pt-BR" noProof="0" dirty="0"/>
              <a:t> que vimos antes.</a:t>
            </a:r>
            <a:endParaRPr lang="pt-BR" dirty="0"/>
          </a:p>
          <a:p>
            <a:r>
              <a:rPr lang="pt-BR" dirty="0"/>
              <a:t>A redução das dimensões </a:t>
            </a:r>
            <a:r>
              <a:rPr lang="pt-BR" b="1" dirty="0">
                <a:solidFill>
                  <a:srgbClr val="00B050"/>
                </a:solidFill>
              </a:rPr>
              <a:t>ajuda a controlar o </a:t>
            </a:r>
            <a:r>
              <a:rPr lang="pt-BR" b="1" i="1" dirty="0" err="1">
                <a:solidFill>
                  <a:srgbClr val="00B050"/>
                </a:solidFill>
              </a:rPr>
              <a:t>overfitting</a:t>
            </a:r>
            <a:r>
              <a:rPr lang="pt-BR" i="1" dirty="0"/>
              <a:t>.</a:t>
            </a:r>
            <a:endParaRPr lang="pt-BR" i="1" noProof="0" dirty="0"/>
          </a:p>
          <a:p>
            <a:r>
              <a:rPr lang="pt-BR" b="1" dirty="0">
                <a:solidFill>
                  <a:srgbClr val="7030A0"/>
                </a:solidFill>
              </a:rPr>
              <a:t>Campo receptivo maior</a:t>
            </a:r>
            <a:r>
              <a:rPr lang="pt-BR" dirty="0"/>
              <a:t>: com mapas menores, os </a:t>
            </a:r>
            <a:r>
              <a:rPr lang="pt-BR" i="1" dirty="0"/>
              <a:t>kernels</a:t>
            </a:r>
            <a:r>
              <a:rPr lang="pt-BR" dirty="0"/>
              <a:t> das camadas seguintes </a:t>
            </a:r>
            <a:r>
              <a:rPr lang="pt-BR" b="1" dirty="0">
                <a:solidFill>
                  <a:srgbClr val="00B0F0"/>
                </a:solidFill>
              </a:rPr>
              <a:t>cobrem uma área maior da imagem original</a:t>
            </a:r>
            <a:r>
              <a:rPr lang="pt-BR" dirty="0"/>
              <a:t>, o que ajuda a capturar padrões mais globais.</a:t>
            </a:r>
            <a:endParaRPr lang="pt-BR" b="0" noProof="0" dirty="0">
              <a:effectLst/>
            </a:endParaRPr>
          </a:p>
        </p:txBody>
      </p:sp>
      <p:pic>
        <p:nvPicPr>
          <p:cNvPr id="4" name="Imagem 3">
            <a:extLst>
              <a:ext uri="{FF2B5EF4-FFF2-40B4-BE49-F238E27FC236}">
                <a16:creationId xmlns:a16="http://schemas.microsoft.com/office/drawing/2014/main"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3434" y="2614590"/>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1439CFAB-0A76-A38D-426B-FE600E870631}"/>
              </a:ext>
            </a:extLst>
          </p:cNvPr>
          <p:cNvSpPr>
            <a:spLocks noGrp="1"/>
          </p:cNvSpPr>
          <p:nvPr>
            <p:ph idx="1"/>
          </p:nvPr>
        </p:nvSpPr>
        <p:spPr>
          <a:xfrm>
            <a:off x="4937760" y="1825624"/>
            <a:ext cx="7254240"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dos padrões não afetam muito o resultado.</a:t>
            </a:r>
          </a:p>
          <a:p>
            <a:pPr lvl="1">
              <a:buFont typeface="Wingdings" panose="05000000000000000000" pitchFamily="2" charset="2"/>
              <a:buChar char="§"/>
            </a:pPr>
            <a:r>
              <a:rPr lang="pt-BR" b="1" dirty="0">
                <a:solidFill>
                  <a:srgbClr val="FF0000"/>
                </a:solidFill>
              </a:rPr>
              <a:t>Faz com que a rede foque na presença de um padrão</a:t>
            </a:r>
            <a:r>
              <a:rPr lang="pt-BR" dirty="0"/>
              <a:t>, </a:t>
            </a:r>
            <a:r>
              <a:rPr lang="pt-BR" b="1" dirty="0">
                <a:solidFill>
                  <a:srgbClr val="00B0F0"/>
                </a:solidFill>
              </a:rPr>
              <a:t>e 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contribui para que a CNN </a:t>
            </a:r>
            <a:r>
              <a:rPr lang="pt-BR" b="1" dirty="0">
                <a:solidFill>
                  <a:schemeClr val="accent2"/>
                </a:solidFill>
              </a:rPr>
              <a:t>perca informação espacial</a:t>
            </a:r>
            <a:r>
              <a:rPr lang="pt-BR" dirty="0"/>
              <a:t> e ganhe </a:t>
            </a:r>
            <a:r>
              <a:rPr lang="pt-BR" b="1" dirty="0">
                <a:solidFill>
                  <a:srgbClr val="00B050"/>
                </a:solidFill>
              </a:rPr>
              <a:t>informação semântica</a:t>
            </a:r>
            <a:r>
              <a:rPr lang="pt-BR" dirty="0"/>
              <a:t>.</a:t>
            </a:r>
          </a:p>
        </p:txBody>
      </p:sp>
      <p:pic>
        <p:nvPicPr>
          <p:cNvPr id="6" name="Imagem 5">
            <a:extLst>
              <a:ext uri="{FF2B5EF4-FFF2-40B4-BE49-F238E27FC236}">
                <a16:creationId xmlns:a16="http://schemas.microsoft.com/office/drawing/2014/main"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janela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353801" cy="1424459"/>
          </a:xfrm>
        </p:spPr>
        <p:txBody>
          <a:bodyPr>
            <a:normAutofit/>
          </a:bodyPr>
          <a:lstStyle/>
          <a:p>
            <a:r>
              <a:rPr lang="pt-BR" noProof="0" dirty="0"/>
              <a:t>Na figura, o </a:t>
            </a:r>
            <a:r>
              <a:rPr lang="pt-BR" i="1" noProof="0" dirty="0" err="1"/>
              <a:t>max</a:t>
            </a:r>
            <a:r>
              <a:rPr lang="pt-BR" i="1" noProof="0" dirty="0"/>
              <a:t> </a:t>
            </a:r>
            <a:r>
              <a:rPr lang="pt-BR" i="1" noProof="0" dirty="0" err="1"/>
              <a:t>pooling</a:t>
            </a:r>
            <a:r>
              <a:rPr lang="pt-BR" noProof="0" dirty="0"/>
              <a:t> </a:t>
            </a:r>
            <a:r>
              <a:rPr lang="pt-BR" b="1" noProof="0" dirty="0">
                <a:solidFill>
                  <a:srgbClr val="00B050"/>
                </a:solidFill>
              </a:rPr>
              <a:t>diminui a resolução</a:t>
            </a:r>
            <a:r>
              <a:rPr lang="pt-BR" noProof="0" dirty="0">
                <a:solidFill>
                  <a:srgbClr val="00B050"/>
                </a:solidFill>
              </a:rPr>
              <a:t> </a:t>
            </a:r>
            <a:r>
              <a:rPr lang="pt-BR" noProof="0" dirty="0"/>
              <a:t>da imagem, </a:t>
            </a:r>
            <a:r>
              <a:rPr lang="pt-BR" b="1" noProof="0" dirty="0">
                <a:solidFill>
                  <a:srgbClr val="7030A0"/>
                </a:solidFill>
              </a:rPr>
              <a:t>preserva as ativações mais fortes</a:t>
            </a:r>
            <a:r>
              <a:rPr lang="pt-BR" noProof="0" dirty="0"/>
              <a:t>, como as </a:t>
            </a:r>
            <a:r>
              <a:rPr lang="pt-BR" b="1" noProof="0" dirty="0"/>
              <a:t>bordas do cérebro</a:t>
            </a:r>
            <a:r>
              <a:rPr lang="pt-BR" noProof="0" dirty="0"/>
              <a:t>, e </a:t>
            </a:r>
            <a:r>
              <a:rPr lang="pt-BR" b="1" noProof="0" dirty="0">
                <a:solidFill>
                  <a:schemeClr val="accent2"/>
                </a:solidFill>
              </a:rPr>
              <a:t>descarta os detalhes de baixa intensidade e a posição exata </a:t>
            </a:r>
            <a:r>
              <a:rPr lang="pt-BR" noProof="0" dirty="0"/>
              <a:t>dentro de cada janela de </a:t>
            </a:r>
            <a:r>
              <a:rPr lang="pt-BR" i="1" noProof="0" dirty="0" err="1"/>
              <a:t>pooling</a:t>
            </a:r>
            <a:r>
              <a:rPr lang="pt-BR" noProof="0"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m 2" descr="A Gentle Introduction to the Rectified Linear Unit (ReLU) -  MachineLearningMastery.com">
            <a:extLst>
              <a:ext uri="{FF2B5EF4-FFF2-40B4-BE49-F238E27FC236}">
                <a16:creationId xmlns:a16="http://schemas.microsoft.com/office/drawing/2014/main" id="{F9CB12DE-0072-D818-D69B-957218B9DB9B}"/>
              </a:ext>
            </a:extLst>
          </p:cNvPr>
          <p:cNvPicPr>
            <a:picLocks noChangeAspect="1"/>
          </p:cNvPicPr>
          <p:nvPr/>
        </p:nvPicPr>
        <p:blipFill>
          <a:blip r:embed="rId4"/>
          <a:srcRect l="9147" t="11242" r="9612" b="5452"/>
          <a:stretch>
            <a:fillRect/>
          </a:stretch>
        </p:blipFill>
        <p:spPr>
          <a:xfrm>
            <a:off x="5231219" y="3586678"/>
            <a:ext cx="1116417" cy="858606"/>
          </a:xfrm>
          <a:prstGeom prst="rect">
            <a:avLst/>
          </a:prstGeom>
        </p:spPr>
      </p:pic>
    </p:spTree>
    <p:extLst>
      <p:ext uri="{BB962C8B-B14F-4D97-AF65-F5344CB8AC3E}">
        <p14:creationId xmlns:p14="http://schemas.microsoft.com/office/powerpoint/2010/main" val="23683858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O neurônio de uma CNN</a:t>
            </a:r>
            <a:endParaRPr lang="en-US" dirty="0"/>
          </a:p>
        </p:txBody>
      </p:sp>
      <p:grpSp>
        <p:nvGrpSpPr>
          <p:cNvPr id="11" name="Agrupar 10">
            <a:extLst>
              <a:ext uri="{FF2B5EF4-FFF2-40B4-BE49-F238E27FC236}">
                <a16:creationId xmlns:a16="http://schemas.microsoft.com/office/drawing/2014/main" id="{CD19948C-0A02-6B73-F0FE-3E1389167F6C}"/>
              </a:ext>
            </a:extLst>
          </p:cNvPr>
          <p:cNvGrpSpPr/>
          <p:nvPr/>
        </p:nvGrpSpPr>
        <p:grpSpPr>
          <a:xfrm>
            <a:off x="121406" y="1435457"/>
            <a:ext cx="9229621" cy="5422543"/>
            <a:chOff x="1291002" y="1435457"/>
            <a:chExt cx="9229621" cy="5422543"/>
          </a:xfrm>
        </p:grpSpPr>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pic>
          <p:nvPicPr>
            <p:cNvPr id="6" name="Imagem 5" descr="A Gentle Introduction to the Rectified Linear Unit (ReLU) -  MachineLearningMastery.com">
              <a:extLst>
                <a:ext uri="{FF2B5EF4-FFF2-40B4-BE49-F238E27FC236}">
                  <a16:creationId xmlns:a16="http://schemas.microsoft.com/office/drawing/2014/main" id="{20FF5D93-1676-2045-B8D5-69E6CB496CD7}"/>
                </a:ext>
              </a:extLst>
            </p:cNvPr>
            <p:cNvPicPr>
              <a:picLocks noChangeAspect="1"/>
            </p:cNvPicPr>
            <p:nvPr/>
          </p:nvPicPr>
          <p:blipFill>
            <a:blip r:embed="rId4"/>
            <a:srcRect l="9147" t="11242" r="9612" b="5452"/>
            <a:stretch>
              <a:fillRect/>
            </a:stretch>
          </p:blipFill>
          <p:spPr>
            <a:xfrm>
              <a:off x="5231219" y="3586678"/>
              <a:ext cx="1116417" cy="858606"/>
            </a:xfrm>
            <a:prstGeom prst="rect">
              <a:avLst/>
            </a:prstGeom>
          </p:spPr>
        </p:pic>
      </p:grpSp>
      <p:sp>
        <p:nvSpPr>
          <p:cNvPr id="9" name="CaixaDeTexto 8">
            <a:extLst>
              <a:ext uri="{FF2B5EF4-FFF2-40B4-BE49-F238E27FC236}">
                <a16:creationId xmlns:a16="http://schemas.microsoft.com/office/drawing/2014/main" id="{E9A59A16-E64A-0AB6-EFED-20F2361DB45A}"/>
              </a:ext>
            </a:extLst>
          </p:cNvPr>
          <p:cNvSpPr txBox="1"/>
          <p:nvPr/>
        </p:nvSpPr>
        <p:spPr>
          <a:xfrm>
            <a:off x="8421739" y="4272677"/>
            <a:ext cx="3770261" cy="2585323"/>
          </a:xfrm>
          <a:prstGeom prst="rect">
            <a:avLst/>
          </a:prstGeom>
          <a:noFill/>
        </p:spPr>
        <p:txBody>
          <a:bodyPr wrap="square" rtlCol="0">
            <a:spAutoFit/>
          </a:bodyPr>
          <a:lstStyle/>
          <a:p>
            <a:pPr algn="ctr"/>
            <a:r>
              <a:rPr lang="pt-BR" dirty="0"/>
              <a:t>O neurônio é composto pelo </a:t>
            </a:r>
            <a:r>
              <a:rPr lang="pt-BR" i="1" dirty="0"/>
              <a:t>kernel</a:t>
            </a:r>
            <a:r>
              <a:rPr lang="pt-BR" dirty="0"/>
              <a:t>, pelo peso de </a:t>
            </a:r>
            <a:r>
              <a:rPr lang="pt-BR" i="1" dirty="0"/>
              <a:t>bias</a:t>
            </a:r>
            <a:r>
              <a:rPr lang="pt-BR" dirty="0"/>
              <a:t> e pela função de ativação.</a:t>
            </a:r>
          </a:p>
          <a:p>
            <a:pPr algn="ctr"/>
            <a:endParaRPr lang="pt-BR" dirty="0"/>
          </a:p>
          <a:p>
            <a:pPr algn="ctr"/>
            <a:r>
              <a:rPr lang="pt-BR" dirty="0"/>
              <a:t>Cada posição do mapa de ativações corresponde à saída de um neurônio.</a:t>
            </a:r>
          </a:p>
          <a:p>
            <a:pPr algn="ctr"/>
            <a:endParaRPr lang="pt-BR" dirty="0"/>
          </a:p>
          <a:p>
            <a:pPr algn="ctr"/>
            <a:r>
              <a:rPr lang="pt-BR" dirty="0"/>
              <a:t>Todos os neurônios que geram um mesmo mapa usam o mesmo </a:t>
            </a:r>
            <a:r>
              <a:rPr lang="pt-BR" i="1" dirty="0"/>
              <a:t>kernel</a:t>
            </a:r>
            <a:r>
              <a:rPr lang="pt-BR" dirty="0"/>
              <a:t>.</a:t>
            </a:r>
            <a:endParaRPr lang="en-US" dirty="0"/>
          </a:p>
        </p:txBody>
      </p:sp>
    </p:spTree>
    <p:extLst>
      <p:ext uri="{BB962C8B-B14F-4D97-AF65-F5344CB8AC3E}">
        <p14:creationId xmlns:p14="http://schemas.microsoft.com/office/powerpoint/2010/main" val="37568381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Após a</a:t>
                </a:r>
                <a:r>
                  <a:rPr lang="pt-BR" b="1" dirty="0">
                    <a:solidFill>
                      <a:srgbClr val="00B050"/>
                    </a:solidFill>
                    <a:effectLst/>
                  </a:rPr>
                  <a:t> aplicação de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a:stretch>
              </a:blipFill>
            </p:spPr>
            <p:txBody>
              <a:bodyPr/>
              <a:lstStyle/>
              <a:p>
                <a:r>
                  <a:rPr lang="en-US">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776457720"/>
              </p:ext>
            </p:extLst>
          </p:nvPr>
        </p:nvGraphicFramePr>
        <p:xfrm>
          <a:off x="678712" y="3301831"/>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192299275"/>
              </p:ext>
            </p:extLst>
          </p:nvPr>
        </p:nvGraphicFramePr>
        <p:xfrm>
          <a:off x="2574954" y="348725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1972798" y="3598750"/>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1972798" y="3598750"/>
                <a:ext cx="578069" cy="461665"/>
              </a:xfrm>
              <a:prstGeom prst="rect">
                <a:avLst/>
              </a:prstGeom>
              <a:blipFill>
                <a:blip r:embed="rId4"/>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493732" y="353719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493732" y="3537195"/>
                <a:ext cx="578069" cy="523220"/>
              </a:xfrm>
              <a:prstGeom prst="rect">
                <a:avLst/>
              </a:prstGeom>
              <a:blipFill>
                <a:blip r:embed="rId5"/>
                <a:stretch>
                  <a:fillRect/>
                </a:stretch>
              </a:blipFill>
            </p:spPr>
            <p:txBody>
              <a:bodyPr/>
              <a:lstStyle/>
              <a:p>
                <a:r>
                  <a:rPr lang="en-US">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3317573849"/>
              </p:ext>
            </p:extLst>
          </p:nvPr>
        </p:nvGraphicFramePr>
        <p:xfrm>
          <a:off x="4119974" y="348725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678712" y="2932499"/>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586777" y="3102260"/>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119973" y="310226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704247" y="4470524"/>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704247" y="4470524"/>
                <a:ext cx="12430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430790" y="4290471"/>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430790" y="4290471"/>
                <a:ext cx="124301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3974878" y="428922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3974878" y="4289222"/>
                <a:ext cx="1243014" cy="369332"/>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901070" y="1825624"/>
            <a:ext cx="6290930" cy="5032375"/>
          </a:xfrm>
        </p:spPr>
        <p:txBody>
          <a:bodyPr>
            <a:normAutofit/>
          </a:bodyPr>
          <a:lstStyle/>
          <a:p>
            <a:r>
              <a:rPr lang="pt-BR" noProof="0" dirty="0"/>
              <a:t>A convolução </a:t>
            </a:r>
            <a:r>
              <a:rPr lang="pt-BR" b="1" noProof="0" dirty="0">
                <a:solidFill>
                  <a:schemeClr val="accent2"/>
                </a:solidFill>
              </a:rPr>
              <a:t>reduz o tamanho do mapa de características </a:t>
            </a:r>
            <a:r>
              <a:rPr lang="pt-BR" noProof="0" dirty="0"/>
              <a:t>e faz com que os </a:t>
            </a:r>
            <a:r>
              <a:rPr lang="pt-BR" i="1" noProof="0" dirty="0"/>
              <a:t>pixels</a:t>
            </a:r>
            <a:r>
              <a:rPr lang="pt-BR" noProof="0" dirty="0"/>
              <a:t> das </a:t>
            </a:r>
            <a:r>
              <a:rPr lang="pt-BR" b="1" noProof="0" dirty="0">
                <a:solidFill>
                  <a:srgbClr val="00B050"/>
                </a:solidFill>
              </a:rPr>
              <a:t>bordas participem de menos convoluções que os centrais </a:t>
            </a:r>
            <a:r>
              <a:rPr lang="pt-BR" noProof="0" dirty="0"/>
              <a:t>(subutilização), podem perder informações nas bordas.</a:t>
            </a:r>
          </a:p>
          <a:p>
            <a:r>
              <a:rPr lang="pt-BR" b="1" dirty="0">
                <a:solidFill>
                  <a:srgbClr val="00B050"/>
                </a:solidFill>
              </a:rPr>
              <a:t>O </a:t>
            </a:r>
            <a:r>
              <a:rPr lang="pt-BR" b="1" i="1" dirty="0">
                <a:solidFill>
                  <a:srgbClr val="00B050"/>
                </a:solidFill>
              </a:rPr>
              <a:t>padding</a:t>
            </a:r>
            <a:r>
              <a:rPr lang="pt-BR" b="1" dirty="0">
                <a:solidFill>
                  <a:srgbClr val="00B050"/>
                </a:solidFill>
              </a:rPr>
              <a:t> adiciona </a:t>
            </a:r>
            <a:r>
              <a:rPr lang="pt-BR" b="1" i="1" dirty="0">
                <a:solidFill>
                  <a:srgbClr val="00B050"/>
                </a:solidFill>
              </a:rPr>
              <a:t>pixels </a:t>
            </a:r>
            <a:r>
              <a:rPr lang="pt-BR" b="1" dirty="0">
                <a:solidFill>
                  <a:srgbClr val="00B050"/>
                </a:solidFill>
              </a:rPr>
              <a:t>de preenchimento </a:t>
            </a:r>
            <a:r>
              <a:rPr lang="pt-BR" dirty="0"/>
              <a:t>às</a:t>
            </a:r>
            <a:r>
              <a:rPr lang="pt-BR" b="1" dirty="0">
                <a:solidFill>
                  <a:srgbClr val="00B050"/>
                </a:solidFill>
              </a:rPr>
              <a:t> </a:t>
            </a:r>
            <a:r>
              <a:rPr lang="pt-BR" b="1" dirty="0">
                <a:solidFill>
                  <a:schemeClr val="accent2"/>
                </a:solidFill>
              </a:rPr>
              <a:t>bordas</a:t>
            </a:r>
            <a:r>
              <a:rPr lang="pt-BR" b="1" dirty="0">
                <a:solidFill>
                  <a:srgbClr val="00B050"/>
                </a:solidFill>
              </a:rPr>
              <a:t> </a:t>
            </a:r>
            <a:r>
              <a:rPr lang="pt-BR" b="1" dirty="0">
                <a:solidFill>
                  <a:srgbClr val="0070C0"/>
                </a:solidFill>
              </a:rPr>
              <a:t>da entrada</a:t>
            </a:r>
            <a:r>
              <a:rPr lang="pt-BR" dirty="0"/>
              <a:t>, controlando assim o tamanho dos mapas de características</a:t>
            </a:r>
            <a:r>
              <a:rPr lang="pt-BR" b="1" dirty="0">
                <a:solidFill>
                  <a:srgbClr val="00B050"/>
                </a:solidFill>
              </a:rPr>
              <a:t> </a:t>
            </a:r>
            <a:r>
              <a:rPr lang="pt-BR" dirty="0"/>
              <a:t>de saída de uma camada convolucional.</a:t>
            </a:r>
          </a:p>
        </p:txBody>
      </p:sp>
      <p:pic>
        <p:nvPicPr>
          <p:cNvPr id="9" name="Imagem 8">
            <a:extLst>
              <a:ext uri="{FF2B5EF4-FFF2-40B4-BE49-F238E27FC236}">
                <a16:creationId xmlns:a16="http://schemas.microsoft.com/office/drawing/2014/main" id="{8F61EECE-DACB-9B39-439D-8BEA9FE222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0411" y="2672722"/>
            <a:ext cx="5148385" cy="2526371"/>
          </a:xfrm>
          <a:prstGeom prst="rect">
            <a:avLst/>
          </a:prstGeom>
        </p:spPr>
      </p:pic>
    </p:spTree>
    <p:extLst>
      <p:ext uri="{BB962C8B-B14F-4D97-AF65-F5344CB8AC3E}">
        <p14:creationId xmlns:p14="http://schemas.microsoft.com/office/powerpoint/2010/main" val="30022239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6096000" y="1825624"/>
            <a:ext cx="6096000" cy="5032375"/>
          </a:xfrm>
        </p:spPr>
        <p:txBody>
          <a:bodyPr>
            <a:normAutofit/>
          </a:bodyPr>
          <a:lstStyle/>
          <a:p>
            <a:r>
              <a:rPr lang="pt-BR" noProof="0" dirty="0"/>
              <a:t>Em geral, os </a:t>
            </a:r>
            <a:r>
              <a:rPr lang="pt-BR" b="1" i="1" noProof="0" dirty="0">
                <a:solidFill>
                  <a:srgbClr val="7030A0"/>
                </a:solidFill>
              </a:rPr>
              <a:t>pixels </a:t>
            </a:r>
            <a:r>
              <a:rPr lang="pt-BR" b="1" noProof="0" dirty="0">
                <a:solidFill>
                  <a:srgbClr val="7030A0"/>
                </a:solidFill>
              </a:rPr>
              <a:t>de</a:t>
            </a:r>
            <a:r>
              <a:rPr lang="pt-BR" b="1" i="1" noProof="0" dirty="0">
                <a:solidFill>
                  <a:srgbClr val="7030A0"/>
                </a:solidFill>
              </a:rPr>
              <a:t> padding </a:t>
            </a:r>
            <a:r>
              <a:rPr lang="pt-BR" b="1" noProof="0" dirty="0">
                <a:solidFill>
                  <a:srgbClr val="7030A0"/>
                </a:solidFill>
              </a:rPr>
              <a:t>são feitos iguais a zero</a:t>
            </a:r>
            <a:r>
              <a:rPr lang="pt-BR" noProof="0" dirty="0"/>
              <a:t>.</a:t>
            </a:r>
          </a:p>
          <a:p>
            <a:r>
              <a:rPr lang="pt-BR" noProof="0" dirty="0"/>
              <a:t>O </a:t>
            </a:r>
            <a:r>
              <a:rPr lang="pt-BR" i="1" noProof="0" dirty="0"/>
              <a:t>padding</a:t>
            </a:r>
            <a:r>
              <a:rPr lang="pt-BR" noProof="0" dirty="0"/>
              <a:t> garante que todos os </a:t>
            </a:r>
            <a:r>
              <a:rPr lang="pt-BR" i="1" noProof="0" dirty="0"/>
              <a:t>pixels</a:t>
            </a:r>
            <a:r>
              <a:rPr lang="pt-BR" noProof="0" dirty="0"/>
              <a:t> </a:t>
            </a:r>
            <a:r>
              <a:rPr lang="pt-BR" b="1" noProof="0" dirty="0">
                <a:solidFill>
                  <a:srgbClr val="00B050"/>
                </a:solidFill>
              </a:rPr>
              <a:t>contribuam de forma mais igualitária </a:t>
            </a:r>
            <a:r>
              <a:rPr lang="pt-BR" noProof="0" dirty="0"/>
              <a:t>para a extração de características.</a:t>
            </a:r>
          </a:p>
          <a:p>
            <a:r>
              <a:rPr lang="pt-BR" noProof="0" dirty="0"/>
              <a:t>A equação ao lado dá o </a:t>
            </a:r>
            <a:r>
              <a:rPr lang="pt-BR" b="1" noProof="0" dirty="0"/>
              <a:t>tamanho da saída de uma camada convolucional</a:t>
            </a:r>
            <a:r>
              <a:rPr lang="pt-BR" b="1" dirty="0"/>
              <a:t> </a:t>
            </a:r>
            <a:r>
              <a:rPr lang="pt-BR" noProof="0" dirty="0"/>
              <a:t>ao longo de </a:t>
            </a:r>
            <a:r>
              <a:rPr lang="pt-BR" b="1" noProof="0" dirty="0"/>
              <a:t>uma dimensão</a:t>
            </a:r>
            <a:r>
              <a:rPr lang="pt-BR" noProof="0" dirty="0"/>
              <a:t> (altura ou largura).</a:t>
            </a:r>
            <a:endParaRPr lang="pt-BR" b="0" i="0" noProof="0" dirty="0">
              <a:effectLst/>
            </a:endParaRPr>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73695" y="1811485"/>
            <a:ext cx="5148385" cy="2526371"/>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84AFB6D4-6631-419D-E379-8BB1CB10A50B}"/>
                  </a:ext>
                </a:extLst>
              </p:cNvPr>
              <p:cNvSpPr txBox="1"/>
              <p:nvPr/>
            </p:nvSpPr>
            <p:spPr>
              <a:xfrm>
                <a:off x="762286" y="465004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b="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5" name="CaixaDeTexto 4">
                <a:extLst>
                  <a:ext uri="{FF2B5EF4-FFF2-40B4-BE49-F238E27FC236}">
                    <a16:creationId xmlns:a16="http://schemas.microsoft.com/office/drawing/2014/main" id="{84AFB6D4-6631-419D-E379-8BB1CB10A50B}"/>
                  </a:ext>
                </a:extLst>
              </p:cNvPr>
              <p:cNvSpPr txBox="1">
                <a:spLocks noRot="1" noChangeAspect="1" noMove="1" noResize="1" noEditPoints="1" noAdjustHandles="1" noChangeArrowheads="1" noChangeShapeType="1" noTextEdit="1"/>
              </p:cNvSpPr>
              <p:nvPr/>
            </p:nvSpPr>
            <p:spPr>
              <a:xfrm>
                <a:off x="762286" y="4650043"/>
                <a:ext cx="4771204" cy="2069797"/>
              </a:xfrm>
              <a:prstGeom prst="rect">
                <a:avLst/>
              </a:prstGeom>
              <a:blipFill>
                <a:blip r:embed="rId4"/>
                <a:stretch>
                  <a:fillRect b="-2360"/>
                </a:stretch>
              </a:blipFill>
            </p:spPr>
            <p:txBody>
              <a:bodyPr/>
              <a:lstStyle/>
              <a:p>
                <a:r>
                  <a:rPr lang="en-US">
                    <a:noFill/>
                  </a:rPr>
                  <a:t> </a:t>
                </a:r>
              </a:p>
            </p:txBody>
          </p:sp>
        </mc:Fallback>
      </mc:AlternateContent>
    </p:spTree>
    <p:extLst>
      <p:ext uri="{BB962C8B-B14F-4D97-AF65-F5344CB8AC3E}">
        <p14:creationId xmlns:p14="http://schemas.microsoft.com/office/powerpoint/2010/main" val="23376255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70C0"/>
                </a:solidFill>
              </a:rPr>
              <a:t>volume 3D</a:t>
            </a:r>
            <a:r>
              <a:rPr lang="pt-BR" dirty="0"/>
              <a:t> de dados.</a:t>
            </a:r>
          </a:p>
          <a:p>
            <a:r>
              <a:rPr lang="pt-BR" dirty="0"/>
              <a:t>Porém, as </a:t>
            </a:r>
            <a:r>
              <a:rPr lang="pt-BR" b="1" dirty="0"/>
              <a:t>camadas densas </a:t>
            </a:r>
            <a:r>
              <a:rPr lang="pt-BR" dirty="0"/>
              <a:t>esperam </a:t>
            </a:r>
            <a:r>
              <a:rPr lang="pt-BR" b="1" dirty="0"/>
              <a:t>vetores 1D como entrada</a:t>
            </a:r>
            <a:r>
              <a:rPr lang="pt-BR" dirty="0"/>
              <a:t>.</a:t>
            </a:r>
          </a:p>
          <a:p>
            <a:r>
              <a:rPr lang="pt-BR" dirty="0"/>
              <a:t>Assim, transforma-se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e de achatamento, as </a:t>
            </a:r>
            <a:r>
              <a:rPr lang="pt-BR" b="1" dirty="0">
                <a:solidFill>
                  <a:schemeClr val="accent2"/>
                </a:solidFill>
                <a:effectLst/>
              </a:rPr>
              <a:t>CNNs têm </a:t>
            </a:r>
            <a:r>
              <a:rPr lang="pt-BR" b="1" dirty="0">
                <a:solidFill>
                  <a:srgbClr val="00B050"/>
                </a:solidFill>
                <a:effectLst/>
              </a:rPr>
              <a:t>uma ou mais camadas densas</a:t>
            </a:r>
            <a:r>
              <a:rPr lang="pt-BR" dirty="0">
                <a:effectLst/>
              </a:rPr>
              <a:t>.</a:t>
            </a:r>
          </a:p>
          <a:p>
            <a:r>
              <a:rPr lang="pt-BR" dirty="0"/>
              <a:t>As camadas densas</a:t>
            </a:r>
          </a:p>
          <a:p>
            <a:pPr lvl="1">
              <a:buFont typeface="Wingdings" panose="05000000000000000000" pitchFamily="2" charset="2"/>
              <a:buChar char="§"/>
            </a:pPr>
            <a:r>
              <a:rPr lang="pt-BR" dirty="0"/>
              <a:t>recebem o vetor 1D com </a:t>
            </a:r>
            <a:r>
              <a:rPr lang="pt-BR" b="1" dirty="0">
                <a:solidFill>
                  <a:srgbClr val="7030A0"/>
                </a:solidFill>
              </a:rPr>
              <a:t>todas as características extraídas</a:t>
            </a:r>
            <a:r>
              <a:rPr lang="pt-BR" dirty="0"/>
              <a:t> pela rede,</a:t>
            </a:r>
          </a:p>
          <a:p>
            <a:pPr lvl="1">
              <a:buFont typeface="Wingdings" panose="05000000000000000000" pitchFamily="2" charset="2"/>
              <a:buChar char="§"/>
            </a:pPr>
            <a:r>
              <a:rPr lang="pt-BR" b="1" dirty="0">
                <a:solidFill>
                  <a:schemeClr val="accent2"/>
                </a:solidFill>
              </a:rPr>
              <a:t>combinam todas as características</a:t>
            </a:r>
            <a:r>
              <a:rPr lang="pt-BR" dirty="0"/>
              <a:t> </a:t>
            </a:r>
            <a:r>
              <a:rPr lang="pt-BR" b="1" dirty="0">
                <a:solidFill>
                  <a:srgbClr val="00B0F0"/>
                </a:solidFill>
              </a:rPr>
              <a:t>extraídas</a:t>
            </a:r>
            <a:r>
              <a:rPr lang="pt-BR" dirty="0"/>
              <a:t>,</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usando a função </a:t>
            </a:r>
            <a:r>
              <a:rPr lang="pt-BR" i="1" dirty="0"/>
              <a:t>softmax</a:t>
            </a:r>
            <a:r>
              <a:rPr lang="pt-BR" dirty="0"/>
              <a:t>, gerando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699051" y="1825624"/>
            <a:ext cx="6492949" cy="5032375"/>
          </a:xfrm>
        </p:spPr>
        <p:txBody>
          <a:bodyPr>
            <a:normAutofit lnSpcReduction="10000"/>
          </a:bodyPr>
          <a:lstStyle/>
          <a:p>
            <a:r>
              <a:rPr lang="pt-BR" noProof="0" dirty="0"/>
              <a:t>Em outras palavras, elas </a:t>
            </a:r>
            <a:r>
              <a:rPr lang="pt-BR" b="1" noProof="0" dirty="0">
                <a:solidFill>
                  <a:srgbClr val="7030A0"/>
                </a:solidFill>
              </a:rPr>
              <a:t>usam as características detectadas para decidir a classe</a:t>
            </a:r>
            <a:r>
              <a:rPr lang="pt-BR" noProof="0" dirty="0"/>
              <a:t>.</a:t>
            </a:r>
          </a:p>
          <a:p>
            <a:r>
              <a:rPr lang="pt-BR" noProof="0" dirty="0"/>
              <a:t>Por exemplo, se as características de um gato são ativadas, a rede dá uma alta probabilidade para a classe gato.</a:t>
            </a:r>
          </a:p>
          <a:p>
            <a:r>
              <a:rPr lang="pt-BR" noProof="0" dirty="0"/>
              <a:t>Por que usar camadas densas no final?</a:t>
            </a:r>
          </a:p>
          <a:p>
            <a:pPr lvl="1">
              <a:buFont typeface="Wingdings" panose="05000000000000000000" pitchFamily="2" charset="2"/>
              <a:buChar char="§"/>
            </a:pPr>
            <a:r>
              <a:rPr lang="pt-BR" noProof="0" dirty="0"/>
              <a:t>Convoluções são locais (olham pedaços da imagem).</a:t>
            </a:r>
          </a:p>
          <a:p>
            <a:pPr lvl="1">
              <a:buFont typeface="Wingdings" panose="05000000000000000000" pitchFamily="2" charset="2"/>
              <a:buChar char="§"/>
            </a:pPr>
            <a:r>
              <a:rPr lang="pt-BR" noProof="0" dirty="0"/>
              <a:t>As camadas densas olham tudo ao mesmo tempo.</a:t>
            </a:r>
          </a:p>
          <a:p>
            <a:r>
              <a:rPr lang="pt-BR" noProof="0" dirty="0"/>
              <a:t>Ou seja, </a:t>
            </a:r>
            <a:r>
              <a:rPr lang="pt-BR" dirty="0"/>
              <a:t>as camadas densas </a:t>
            </a:r>
            <a:r>
              <a:rPr lang="pt-BR" noProof="0" dirty="0"/>
              <a:t>aprendem </a:t>
            </a:r>
            <a:r>
              <a:rPr lang="pt-BR" b="1" noProof="0" dirty="0">
                <a:solidFill>
                  <a:schemeClr val="accent2"/>
                </a:solidFill>
              </a:rPr>
              <a:t>relações globais entre características</a:t>
            </a:r>
            <a:r>
              <a:rPr lang="pt-BR" noProof="0" dirty="0"/>
              <a:t>.</a:t>
            </a:r>
          </a:p>
          <a:p>
            <a:pPr>
              <a:buFont typeface="Wingdings" panose="05000000000000000000" pitchFamily="2" charset="2"/>
              <a:buChar char="§"/>
            </a:pPr>
            <a:endParaRPr lang="pt-BR" noProof="0"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95693" y="2743667"/>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374004" cy="5032375"/>
          </a:xfrm>
        </p:spPr>
        <p:txBody>
          <a:bodyPr>
            <a:normAutofit/>
          </a:bodyPr>
          <a:lstStyle/>
          <a:p>
            <a:r>
              <a:rPr lang="pt-BR" dirty="0"/>
              <a:t>As funções de ativação das camadas densas, com exceção da última, em geral, são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pt-BR" noProof="0" dirty="0"/>
              <a:t>Treinamento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CNNs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e das camadas densas</a:t>
            </a:r>
            <a:r>
              <a:rPr lang="pt-BR" dirty="0"/>
              <a:t>.</a:t>
            </a:r>
          </a:p>
          <a:p>
            <a:r>
              <a:rPr lang="pt-BR" dirty="0"/>
              <a:t>Os gradientes são calculados para os:</a:t>
            </a:r>
          </a:p>
          <a:p>
            <a:pPr lvl="1">
              <a:buFont typeface="Wingdings" panose="05000000000000000000" pitchFamily="2" charset="2"/>
              <a:buChar char="§"/>
            </a:pPr>
            <a:r>
              <a:rPr lang="pt-BR" dirty="0"/>
              <a:t>pesos dos filtros mais os pesos de </a:t>
            </a:r>
            <a:r>
              <a:rPr lang="pt-BR" i="1" dirty="0"/>
              <a:t>bias</a:t>
            </a:r>
          </a:p>
          <a:p>
            <a:pPr lvl="1">
              <a:buFont typeface="Wingdings" panose="05000000000000000000" pitchFamily="2" charset="2"/>
              <a:buChar char="§"/>
            </a:pPr>
            <a:r>
              <a:rPr lang="pt-BR" dirty="0"/>
              <a:t>e pesos das camadas densas.</a:t>
            </a:r>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8" y="1825624"/>
            <a:ext cx="11186161" cy="5032375"/>
          </a:xfrm>
        </p:spPr>
        <p:txBody>
          <a:bodyPr/>
          <a:lstStyle/>
          <a:p>
            <a:r>
              <a:rPr lang="pt-BR" dirty="0"/>
              <a:t>Além de </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como penalizações L1/L2 e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err="1"/>
              <a:t>dropout</a:t>
            </a:r>
            <a:r>
              <a:rPr lang="pt-BR" i="1" dirty="0"/>
              <a: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a:t>
            </a:r>
            <a:endParaRPr lang="pt-BR" dirty="0"/>
          </a:p>
          <a:p>
            <a:r>
              <a:rPr lang="pt-BR" dirty="0"/>
              <a:t>Essas </a:t>
            </a:r>
            <a:r>
              <a:rPr lang="pt-BR" b="1" dirty="0">
                <a:solidFill>
                  <a:srgbClr val="7030A0"/>
                </a:solidFill>
              </a:rPr>
              <a:t>técnicas se aplicam a qualquer tipo de rede neural, não apenas a CNNs</a:t>
            </a:r>
            <a:r>
              <a:rPr lang="pt-BR" dirty="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chemeClr val="accent2"/>
                </a:solidFill>
              </a:rPr>
              <a:t>“</a:t>
            </a:r>
            <a:r>
              <a:rPr lang="pt-BR" b="1" dirty="0">
                <a:solidFill>
                  <a:schemeClr val="accent2"/>
                </a:solidFill>
                <a:effectLst/>
              </a:rPr>
              <a:t>desligar</a:t>
            </a:r>
            <a:r>
              <a:rPr lang="pt-BR" b="1" dirty="0">
                <a:solidFill>
                  <a:schemeClr val="accent2"/>
                </a:solidFill>
              </a:rPr>
              <a:t>”</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das camadas</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a:t>
            </a:r>
            <a:r>
              <a:rPr lang="pt-BR" b="1" i="0" dirty="0">
                <a:solidFill>
                  <a:schemeClr val="accent2"/>
                </a:solidFill>
                <a:effectLst/>
              </a:rPr>
              <a:t>neurônios não contribuirão para o cálculo das saídas</a:t>
            </a:r>
            <a:r>
              <a:rPr lang="pt-BR" b="0" i="0" dirty="0">
                <a:effectLst/>
              </a:rPr>
              <a:t>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t>
            </a:r>
            <a:r>
              <a:rPr lang="pt-BR" b="1" dirty="0">
                <a:solidFill>
                  <a:schemeClr val="accent2"/>
                </a:solidFill>
              </a:rPr>
              <a:t>aprender de forma mais robusta.</a:t>
            </a:r>
          </a:p>
          <a:p>
            <a:pPr lvl="1">
              <a:buFont typeface="Wingdings" panose="05000000000000000000" pitchFamily="2" charset="2"/>
              <a:buChar char="§"/>
            </a:pPr>
            <a:r>
              <a:rPr lang="pt-BR" dirty="0"/>
              <a:t>A rede </a:t>
            </a:r>
            <a:r>
              <a:rPr lang="pt-BR" b="1" dirty="0">
                <a:solidFill>
                  <a:srgbClr val="00B050"/>
                </a:solidFill>
              </a:rPr>
              <a:t>não pode depender de combinações fixas</a:t>
            </a:r>
            <a:r>
              <a:rPr lang="pt-BR" dirty="0"/>
              <a:t> de neurônios.</a:t>
            </a:r>
          </a:p>
          <a:p>
            <a:r>
              <a:rPr lang="pt-BR" dirty="0"/>
              <a:t>Um neurônio precisa funcionar bem mesmo se outros neurônios desaparecerem.</a:t>
            </a:r>
          </a:p>
          <a:p>
            <a:r>
              <a:rPr lang="pt-BR" dirty="0"/>
              <a:t>Isso força a rede a </a:t>
            </a:r>
            <a:r>
              <a:rPr lang="pt-BR" b="1" dirty="0">
                <a:solidFill>
                  <a:srgbClr val="7030A0"/>
                </a:solidFill>
              </a:rPr>
              <a:t>aprender</a:t>
            </a:r>
            <a:r>
              <a:rPr lang="pt-BR" dirty="0">
                <a:solidFill>
                  <a:srgbClr val="7030A0"/>
                </a:solidFill>
              </a:rPr>
              <a:t> </a:t>
            </a:r>
            <a:r>
              <a:rPr lang="pt-BR" b="1" dirty="0">
                <a:solidFill>
                  <a:srgbClr val="7030A0"/>
                </a:solidFill>
              </a:rPr>
              <a:t>representações mais generalizáveis</a:t>
            </a:r>
            <a:r>
              <a:rPr lang="pt-BR" b="1" dirty="0"/>
              <a:t>.</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a:t>
            </a:r>
            <a:r>
              <a:rPr lang="pt-BR" b="1" dirty="0">
                <a:solidFill>
                  <a:schemeClr val="accent1"/>
                </a:solidFill>
              </a:rPr>
              <a:t>generalizando melhor</a:t>
            </a:r>
            <a:r>
              <a:rPr lang="pt-BR" dirty="0"/>
              <a:t>.</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7A4DB6AD-774F-EE4D-667C-372702738F63}"/>
              </a:ext>
            </a:extLst>
          </p:cNvPr>
          <p:cNvSpPr>
            <a:spLocks noGrp="1"/>
          </p:cNvSpPr>
          <p:nvPr>
            <p:ph idx="1"/>
          </p:nvPr>
        </p:nvSpPr>
        <p:spPr>
          <a:xfrm>
            <a:off x="6096000" y="1825624"/>
            <a:ext cx="5986410" cy="5032375"/>
          </a:xfrm>
        </p:spPr>
        <p:txBody>
          <a:bodyPr>
            <a:normAutofit/>
          </a:bodyPr>
          <a:lstStyle/>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CNNs </a:t>
            </a:r>
            <a:r>
              <a:rPr lang="pt-BR" b="1" dirty="0">
                <a:solidFill>
                  <a:srgbClr val="7030A0"/>
                </a:solidFill>
              </a:rPr>
              <a:t>robustas à </a:t>
            </a:r>
          </a:p>
          <a:p>
            <a:pPr lvl="1">
              <a:buFont typeface="Wingdings" panose="05000000000000000000" pitchFamily="2" charset="2"/>
              <a:buChar char="§"/>
            </a:pPr>
            <a:r>
              <a:rPr lang="pt-BR" dirty="0"/>
              <a:t>rotação,</a:t>
            </a:r>
          </a:p>
          <a:p>
            <a:pPr lvl="1">
              <a:buFont typeface="Wingdings" panose="05000000000000000000" pitchFamily="2" charset="2"/>
              <a:buChar char="§"/>
            </a:pPr>
            <a:r>
              <a:rPr lang="pt-BR" dirty="0"/>
              <a:t>qualidade,</a:t>
            </a:r>
          </a:p>
          <a:p>
            <a:pPr lvl="1">
              <a:buFont typeface="Wingdings" panose="05000000000000000000" pitchFamily="2" charset="2"/>
              <a:buChar char="§"/>
            </a:pPr>
            <a:r>
              <a:rPr lang="pt-BR" dirty="0"/>
              <a:t>luminosidade,</a:t>
            </a:r>
          </a:p>
          <a:p>
            <a:pPr lvl="1">
              <a:buFont typeface="Wingdings" panose="05000000000000000000" pitchFamily="2" charset="2"/>
              <a:buChar char="§"/>
            </a:pPr>
            <a:r>
              <a:rPr lang="pt-BR" dirty="0"/>
              <a:t>e escala dos objetos</a:t>
            </a:r>
          </a:p>
          <a:p>
            <a:pPr marL="0" indent="0">
              <a:buNone/>
            </a:pPr>
            <a:r>
              <a:rPr lang="pt-BR" b="1" dirty="0">
                <a:solidFill>
                  <a:srgbClr val="7030A0"/>
                </a:solidFill>
              </a:rPr>
              <a:t>das imagens.</a:t>
            </a:r>
            <a:endParaRPr lang="pt-BR" dirty="0"/>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dos fatores acima</a:t>
            </a:r>
            <a:r>
              <a:rPr lang="pt-BR" b="0" dirty="0">
                <a:effectLst/>
              </a:rPr>
              <a:t>.</a:t>
            </a:r>
          </a:p>
        </p:txBody>
      </p:sp>
      <p:pic>
        <p:nvPicPr>
          <p:cNvPr id="4" name="Picture 2" descr="Data Augmentation for Computer Vision | by TagX | Medium">
            <a:extLst>
              <a:ext uri="{FF2B5EF4-FFF2-40B4-BE49-F238E27FC236}">
                <a16:creationId xmlns:a16="http://schemas.microsoft.com/office/drawing/2014/main"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437242"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pertencentes a </a:t>
            </a:r>
            <a:r>
              <a:rPr lang="pt-BR" b="1" dirty="0">
                <a:solidFill>
                  <a:schemeClr val="accent2"/>
                </a:solidFill>
                <a:effectLst/>
              </a:rPr>
              <a:t>100 classes diferentes</a:t>
            </a:r>
            <a:r>
              <a:rPr lang="pt-BR" b="0" dirty="0">
                <a:effectLst/>
              </a:rPr>
              <a:t>,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a:t>
            </a:r>
            <a:r>
              <a:rPr lang="pt-BR" b="1" dirty="0">
                <a:solidFill>
                  <a:schemeClr val="accent2"/>
                </a:solidFill>
                <a:effectLst/>
              </a:rPr>
              <a:t>reutilizar partes </a:t>
            </a:r>
            <a:r>
              <a:rPr lang="pt-BR" b="1" dirty="0">
                <a:solidFill>
                  <a:srgbClr val="00B050"/>
                </a:solidFill>
                <a:effectLst/>
              </a:rPr>
              <a:t>da primeira rede</a:t>
            </a:r>
            <a:r>
              <a:rPr lang="pt-BR" b="0" dirty="0">
                <a:effectLst/>
              </a:rPr>
              <a:t>.</a:t>
            </a:r>
          </a:p>
          <a:p>
            <a:pPr lvl="1">
              <a:buFont typeface="Wingdings" panose="05000000000000000000" pitchFamily="2" charset="2"/>
              <a:buChar char="§"/>
            </a:pPr>
            <a:r>
              <a:rPr lang="pt-BR" dirty="0"/>
              <a:t>Reutilizamos as camadas inicias.</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a:p>
            <a:r>
              <a:rPr lang="pt-BR" b="0" dirty="0">
                <a:effectLst/>
              </a:rPr>
              <a:t>Os modelos </a:t>
            </a:r>
            <a:r>
              <a:rPr lang="pt-BR" b="1" dirty="0" err="1">
                <a:solidFill>
                  <a:schemeClr val="accent2"/>
                </a:solidFill>
                <a:effectLst/>
              </a:rPr>
              <a:t>pré</a:t>
            </a:r>
            <a:r>
              <a:rPr lang="pt-BR" b="1" dirty="0">
                <a:solidFill>
                  <a:schemeClr val="accent2"/>
                </a:solidFill>
                <a:effectLst/>
              </a:rPr>
              <a:t>-treinados já aprenderam a</a:t>
            </a:r>
            <a:r>
              <a:rPr lang="en-US" b="1" dirty="0">
                <a:solidFill>
                  <a:schemeClr val="accent2"/>
                </a:solidFill>
              </a:rPr>
              <a:t> </a:t>
            </a:r>
            <a:r>
              <a:rPr lang="en-US" b="1" dirty="0" err="1">
                <a:solidFill>
                  <a:schemeClr val="accent2"/>
                </a:solidFill>
              </a:rPr>
              <a:t>detectar</a:t>
            </a:r>
            <a:r>
              <a:rPr lang="en-US" b="1" dirty="0">
                <a:solidFill>
                  <a:schemeClr val="accent2"/>
                </a:solidFill>
              </a:rPr>
              <a:t> </a:t>
            </a:r>
            <a:r>
              <a:rPr lang="en-US" b="1" dirty="0" err="1">
                <a:solidFill>
                  <a:schemeClr val="accent2"/>
                </a:solidFill>
              </a:rPr>
              <a:t>padrões</a:t>
            </a:r>
            <a:r>
              <a:rPr lang="en-US" b="1" dirty="0">
                <a:solidFill>
                  <a:schemeClr val="accent2"/>
                </a:solidFill>
              </a:rPr>
              <a:t> </a:t>
            </a:r>
            <a:r>
              <a:rPr lang="en-US" b="1" dirty="0" err="1">
                <a:solidFill>
                  <a:schemeClr val="accent2"/>
                </a:solidFill>
              </a:rPr>
              <a:t>básicos</a:t>
            </a:r>
            <a:r>
              <a:rPr lang="en-US" dirty="0"/>
              <a:t>: </a:t>
            </a:r>
            <a:r>
              <a:rPr lang="en-US" dirty="0" err="1"/>
              <a:t>bordas</a:t>
            </a:r>
            <a:r>
              <a:rPr lang="en-US" dirty="0"/>
              <a:t>, </a:t>
            </a:r>
            <a:r>
              <a:rPr lang="en-US" dirty="0" err="1"/>
              <a:t>texturas</a:t>
            </a:r>
            <a:r>
              <a:rPr lang="en-US" dirty="0"/>
              <a:t>, formas e </a:t>
            </a:r>
            <a:r>
              <a:rPr lang="en-US" dirty="0" err="1"/>
              <a:t>objetos</a:t>
            </a:r>
            <a:r>
              <a:rPr lang="en-US" dirty="0"/>
              <a:t>.</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978769" y="1825624"/>
            <a:ext cx="6108457"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a:t>
            </a:r>
            <a:r>
              <a:rPr lang="pt-BR" b="1" dirty="0">
                <a:solidFill>
                  <a:schemeClr val="accent2"/>
                </a:solidFill>
                <a:effectLst/>
              </a:rPr>
              <a:t>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77803" y="1825624"/>
            <a:ext cx="6414198"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Por requerer menos dados, o </a:t>
            </a:r>
            <a:r>
              <a:rPr lang="pt-BR" b="0" i="1" dirty="0" err="1">
                <a:effectLst/>
              </a:rPr>
              <a:t>transfer</a:t>
            </a:r>
            <a:r>
              <a:rPr lang="pt-BR" b="0" i="1" dirty="0">
                <a:effectLst/>
              </a:rPr>
              <a:t> </a:t>
            </a:r>
            <a:r>
              <a:rPr lang="pt-BR" b="0" i="1" dirty="0" err="1">
                <a:effectLst/>
              </a:rPr>
              <a:t>learning</a:t>
            </a:r>
            <a:r>
              <a:rPr lang="pt-BR" b="0" dirty="0">
                <a:effectLst/>
              </a:rPr>
              <a:t>:</a:t>
            </a:r>
          </a:p>
          <a:p>
            <a:pPr lvl="1">
              <a:buFont typeface="Wingdings" panose="05000000000000000000" pitchFamily="2" charset="2"/>
              <a:buChar char="§"/>
            </a:pPr>
            <a:r>
              <a:rPr lang="pt-BR" b="1">
                <a:solidFill>
                  <a:srgbClr val="00B050"/>
                </a:solidFill>
                <a:effectLst/>
              </a:rPr>
              <a:t>acelera o </a:t>
            </a:r>
            <a:r>
              <a:rPr lang="pt-BR" b="1" dirty="0">
                <a:solidFill>
                  <a:srgbClr val="00B050"/>
                </a:solidFill>
                <a:effectLst/>
              </a:rPr>
              <a:t>treinamento</a:t>
            </a:r>
            <a:endParaRPr lang="pt-BR" dirty="0">
              <a:solidFill>
                <a:srgbClr val="00B050"/>
              </a:solidFill>
            </a:endParaRPr>
          </a:p>
          <a:p>
            <a:pPr lvl="1">
              <a:buFont typeface="Wingdings" panose="05000000000000000000" pitchFamily="2" charset="2"/>
              <a:buChar char="§"/>
            </a:pPr>
            <a:r>
              <a:rPr lang="pt-BR" b="1" dirty="0">
                <a:solidFill>
                  <a:schemeClr val="accent2"/>
                </a:solidFill>
              </a:rPr>
              <a:t>e</a:t>
            </a:r>
            <a:r>
              <a:rPr lang="pt-BR" b="1" dirty="0">
                <a:solidFill>
                  <a:schemeClr val="accent2"/>
                </a:solidFill>
                <a:effectLst/>
              </a:rPr>
              <a:t> requer </a:t>
            </a:r>
            <a:r>
              <a:rPr lang="en-US" b="1" dirty="0" err="1">
                <a:solidFill>
                  <a:schemeClr val="accent2"/>
                </a:solidFill>
              </a:rPr>
              <a:t>menor</a:t>
            </a:r>
            <a:r>
              <a:rPr lang="en-US" b="1" dirty="0">
                <a:solidFill>
                  <a:schemeClr val="accent2"/>
                </a:solidFill>
              </a:rPr>
              <a:t> </a:t>
            </a:r>
            <a:r>
              <a:rPr lang="en-US" b="1" dirty="0" err="1">
                <a:solidFill>
                  <a:schemeClr val="accent2"/>
                </a:solidFill>
              </a:rPr>
              <a:t>poder</a:t>
            </a:r>
            <a:r>
              <a:rPr lang="en-US" b="1" dirty="0">
                <a:solidFill>
                  <a:schemeClr val="accent2"/>
                </a:solidFill>
              </a:rPr>
              <a:t> </a:t>
            </a:r>
            <a:r>
              <a:rPr lang="en-US" b="1" dirty="0" err="1">
                <a:solidFill>
                  <a:schemeClr val="accent2"/>
                </a:solidFill>
              </a:rPr>
              <a:t>computacional</a:t>
            </a:r>
            <a:r>
              <a:rPr lang="en-US" b="1" dirty="0">
                <a:solidFill>
                  <a:schemeClr val="accent2"/>
                </a:solidFill>
              </a:rPr>
              <a:t>.</a:t>
            </a:r>
            <a:endParaRPr lang="pt-BR" b="1" dirty="0">
              <a:solidFill>
                <a:schemeClr val="accent2"/>
              </a:solidFill>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CNNs</a:t>
            </a:r>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17644</TotalTime>
  <Words>10545</Words>
  <Application>Microsoft Office PowerPoint</Application>
  <PresentationFormat>Widescreen</PresentationFormat>
  <Paragraphs>1645</Paragraphs>
  <Slides>103</Slides>
  <Notes>52</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103</vt:i4>
      </vt:variant>
    </vt:vector>
  </HeadingPairs>
  <TitlesOfParts>
    <vt:vector size="116"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espacial</vt:lpstr>
      <vt:lpstr>Localidade espacial</vt:lpstr>
      <vt:lpstr>Localidade espacial</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Apresentação do PowerPoint</vt:lpstr>
      <vt:lpstr>Imagens</vt:lpstr>
      <vt:lpstr>Camada de convolução</vt:lpstr>
      <vt:lpstr>Camada de convolução</vt:lpstr>
      <vt:lpstr>Filtros de convolução ou kernels</vt:lpstr>
      <vt:lpstr>Neurônios do córtex visual</vt:lpstr>
      <vt:lpstr>Neurônios do córtex visual</vt:lpstr>
      <vt:lpstr>Filtros de convolução ou kernels</vt:lpstr>
      <vt:lpstr>Filtros de convolução ou kernels</vt:lpstr>
      <vt:lpstr>Operação de convolução com kernel 2D</vt:lpstr>
      <vt:lpstr>Operação de convolução com kernel 2D</vt:lpstr>
      <vt:lpstr>Operação de convolução com kernel 2D</vt:lpstr>
      <vt:lpstr>Operação de convolução com kernel 2D</vt:lpstr>
      <vt:lpstr>Operação de convolução com kernel 2D</vt:lpstr>
      <vt:lpstr>Mapa de características</vt:lpstr>
      <vt:lpstr>Stride</vt:lpstr>
      <vt:lpstr>Stride</vt:lpstr>
      <vt:lpstr>Apresentação do PowerPoint</vt:lpstr>
      <vt:lpstr>Filtros detectam padrões</vt:lpstr>
      <vt:lpstr>Aplicando kernels a imagens</vt:lpstr>
      <vt:lpstr>Aplicando kernels a imagens</vt:lpstr>
      <vt:lpstr>Operação de convolução com kernel 3D</vt:lpstr>
      <vt:lpstr>Operação de convolução com kernel 3D</vt:lpstr>
      <vt:lpstr>Operação de convolução com kernel 3D</vt:lpstr>
      <vt:lpstr>Operação de convolução com kernel 3D</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O neurônio de uma CNN</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3050</cp:revision>
  <dcterms:created xsi:type="dcterms:W3CDTF">2020-01-20T13:50:05Z</dcterms:created>
  <dcterms:modified xsi:type="dcterms:W3CDTF">2026-10-14T21:31:34Z</dcterms:modified>
</cp:coreProperties>
</file>