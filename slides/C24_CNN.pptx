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handoutMasterIdLst>
    <p:handoutMasterId r:id="rId102"/>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488" r:id="rId39"/>
    <p:sldId id="464" r:id="rId40"/>
    <p:sldId id="465" r:id="rId41"/>
    <p:sldId id="437" r:id="rId42"/>
    <p:sldId id="445" r:id="rId43"/>
    <p:sldId id="449" r:id="rId44"/>
    <p:sldId id="450" r:id="rId45"/>
    <p:sldId id="511" r:id="rId46"/>
    <p:sldId id="452" r:id="rId47"/>
    <p:sldId id="455" r:id="rId48"/>
    <p:sldId id="533" r:id="rId49"/>
    <p:sldId id="460" r:id="rId50"/>
    <p:sldId id="467" r:id="rId51"/>
    <p:sldId id="530" r:id="rId52"/>
    <p:sldId id="531" r:id="rId53"/>
    <p:sldId id="461" r:id="rId54"/>
    <p:sldId id="493" r:id="rId55"/>
    <p:sldId id="462" r:id="rId56"/>
    <p:sldId id="466" r:id="rId57"/>
    <p:sldId id="512" r:id="rId58"/>
    <p:sldId id="538" r:id="rId59"/>
    <p:sldId id="539" r:id="rId60"/>
    <p:sldId id="536" r:id="rId61"/>
    <p:sldId id="558" r:id="rId62"/>
    <p:sldId id="541" r:id="rId63"/>
    <p:sldId id="440" r:id="rId64"/>
    <p:sldId id="542" r:id="rId65"/>
    <p:sldId id="554" r:id="rId66"/>
    <p:sldId id="543" r:id="rId67"/>
    <p:sldId id="544" r:id="rId68"/>
    <p:sldId id="545" r:id="rId69"/>
    <p:sldId id="547" r:id="rId70"/>
    <p:sldId id="548" r:id="rId71"/>
    <p:sldId id="549" r:id="rId72"/>
    <p:sldId id="550" r:id="rId73"/>
    <p:sldId id="551" r:id="rId74"/>
    <p:sldId id="552" r:id="rId75"/>
    <p:sldId id="588" r:id="rId76"/>
    <p:sldId id="589" r:id="rId77"/>
    <p:sldId id="293" r:id="rId78"/>
    <p:sldId id="306" r:id="rId79"/>
    <p:sldId id="491" r:id="rId80"/>
    <p:sldId id="441" r:id="rId81"/>
    <p:sldId id="469" r:id="rId82"/>
    <p:sldId id="470" r:id="rId83"/>
    <p:sldId id="471" r:id="rId84"/>
    <p:sldId id="472" r:id="rId85"/>
    <p:sldId id="475" r:id="rId86"/>
    <p:sldId id="474" r:id="rId87"/>
    <p:sldId id="540" r:id="rId88"/>
    <p:sldId id="478" r:id="rId89"/>
    <p:sldId id="477" r:id="rId90"/>
    <p:sldId id="490" r:id="rId91"/>
    <p:sldId id="438" r:id="rId92"/>
    <p:sldId id="443" r:id="rId93"/>
    <p:sldId id="446" r:id="rId94"/>
    <p:sldId id="447" r:id="rId95"/>
    <p:sldId id="448" r:id="rId96"/>
    <p:sldId id="458" r:id="rId97"/>
    <p:sldId id="459" r:id="rId98"/>
    <p:sldId id="479" r:id="rId99"/>
    <p:sldId id="556" r:id="rId10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10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97.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9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a:t>Elas não</a:t>
            </a:r>
            <a:r>
              <a:rPr lang="pt-BR" b="1" dirty="0">
                <a:solidFill>
                  <a:srgbClr val="7030A0"/>
                </a:solidFill>
              </a:rPr>
              <a:t> consideram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492278" y="1690688"/>
            <a:ext cx="5699721"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padrões globais</a:t>
            </a:r>
            <a:r>
              <a:rPr lang="pt-BR" dirty="0"/>
              <a:t>.</a:t>
            </a:r>
          </a:p>
          <a:p>
            <a:r>
              <a:rPr lang="pt-BR" dirty="0"/>
              <a:t>Elas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60344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recém todos os pixels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603440" y="5794599"/>
            <a:ext cx="2686049" cy="584775"/>
          </a:xfrm>
          <a:prstGeom prst="rect">
            <a:avLst/>
          </a:prstGeom>
          <a:noFill/>
        </p:spPr>
        <p:txBody>
          <a:bodyPr wrap="square">
            <a:spAutoFit/>
          </a:bodyPr>
          <a:lstStyle/>
          <a:p>
            <a:pPr algn="ctr"/>
            <a:r>
              <a:rPr lang="pt-BR" sz="1600" dirty="0"/>
              <a:t>CNN: neurônios recebem apenas uma parte dos pixels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do gato, </a:t>
            </a:r>
            <a:r>
              <a:rPr lang="en-US" dirty="0" err="1"/>
              <a:t>por</a:t>
            </a:r>
            <a:r>
              <a:rPr lang="en-US" dirty="0"/>
              <a:t> </a:t>
            </a:r>
            <a:r>
              <a:rPr lang="en-US" dirty="0" err="1"/>
              <a:t>exemplo</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a:t>
            </a:r>
            <a:r>
              <a:rPr lang="pt-BR" sz="6000" dirty="0" err="1"/>
              <a:t>NNs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Qual é a arquitetura de uma</a:t>
            </a:r>
            <a:r>
              <a:rPr lang="pt-BR" sz="6600" dirty="0"/>
              <a:t> C</a:t>
            </a:r>
            <a:r>
              <a:rPr lang="pt-BR" sz="6000" dirty="0"/>
              <a:t>NN?</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a:bodyPr>
          <a:lstStyle/>
          <a:p>
            <a:r>
              <a:rPr lang="en-US" dirty="0"/>
              <a:t>Uma CNN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812782" y="1825624"/>
            <a:ext cx="5379217" cy="5032375"/>
          </a:xfrm>
        </p:spPr>
        <p:txBody>
          <a:bodyPr>
            <a:noAutofit/>
          </a:bodyPr>
          <a:lstStyle/>
          <a:p>
            <a:r>
              <a:rPr lang="pt-BR" dirty="0"/>
              <a:t>A camada de convolução é responsável por extrair características da imagem.</a:t>
            </a:r>
          </a:p>
          <a:p>
            <a:r>
              <a:rPr lang="pt-BR" dirty="0"/>
              <a:t>Ela faz isso aplicando filtros sobre a imagem.</a:t>
            </a:r>
          </a:p>
          <a:p>
            <a:r>
              <a:rPr lang="pt-BR" dirty="0"/>
              <a:t>Esse filtro:</a:t>
            </a:r>
          </a:p>
          <a:p>
            <a:pPr lvl="1">
              <a:buFont typeface="Wingdings" panose="05000000000000000000" pitchFamily="2" charset="2"/>
              <a:buChar char="§"/>
            </a:pPr>
            <a:r>
              <a:rPr lang="pt-BR" sz="2800" dirty="0"/>
              <a:t>multiplica valores locais da imagem</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220988"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função de ativação.</a:t>
            </a:r>
          </a:p>
          <a:p>
            <a:r>
              <a:rPr lang="pt-BR" dirty="0"/>
              <a:t>Esse processo é repetido por toda a imagem.</a:t>
            </a:r>
          </a:p>
          <a:p>
            <a:r>
              <a:rPr lang="pt-BR" dirty="0"/>
              <a:t>O resultado é um mapa de características (</a:t>
            </a:r>
            <a:r>
              <a:rPr lang="pt-BR" i="1" dirty="0"/>
              <a:t>feature </a:t>
            </a:r>
            <a:r>
              <a:rPr lang="pt-BR" i="1" dirty="0" err="1"/>
              <a:t>map</a:t>
            </a:r>
            <a:r>
              <a:rPr lang="pt-BR" dirty="0"/>
              <a:t>) detectados.</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lnSpcReduction="10000"/>
          </a:bodyPr>
          <a:lstStyle/>
          <a:p>
            <a:r>
              <a:rPr lang="pt-BR" dirty="0"/>
              <a:t>Alguns </a:t>
            </a:r>
            <a:r>
              <a:rPr lang="pt-BR" b="1" dirty="0">
                <a:solidFill>
                  <a:srgbClr val="00B050"/>
                </a:solidFill>
              </a:rPr>
              <a:t>neurônios biológicos reagem</a:t>
            </a:r>
            <a:r>
              <a:rPr lang="pt-BR" dirty="0"/>
              <a:t> apenas a imagens de </a:t>
            </a:r>
            <a:r>
              <a:rPr lang="pt-BR" b="1" dirty="0">
                <a:solidFill>
                  <a:srgbClr val="00B050"/>
                </a:solidFill>
              </a:rPr>
              <a:t>linhas horizontais</a:t>
            </a:r>
            <a:r>
              <a:rPr lang="pt-BR" dirty="0"/>
              <a:t>, enquanto </a:t>
            </a:r>
            <a:r>
              <a:rPr lang="pt-BR" b="1" dirty="0">
                <a:solidFill>
                  <a:srgbClr val="00B050"/>
                </a:solidFill>
              </a:rPr>
              <a:t>outros, reagem </a:t>
            </a:r>
            <a:r>
              <a:rPr lang="pt-BR" dirty="0"/>
              <a:t>apenas 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7" y="1825624"/>
            <a:ext cx="6412117" cy="5032375"/>
          </a:xfrm>
        </p:spPr>
        <p:txBody>
          <a:bodyPr>
            <a:normAutofit/>
          </a:bodyPr>
          <a:lstStyle/>
          <a:p>
            <a:r>
              <a:rPr lang="pt-BR" dirty="0"/>
              <a:t>Um </a:t>
            </a:r>
            <a:r>
              <a:rPr lang="pt-BR" b="1" i="1" dirty="0">
                <a:solidFill>
                  <a:srgbClr val="7030A0"/>
                </a:solidFill>
                <a:effectLst/>
              </a:rPr>
              <a:t>kernel</a:t>
            </a:r>
            <a:r>
              <a:rPr lang="pt-BR" b="0" dirty="0">
                <a:effectLst/>
              </a:rPr>
              <a:t> é um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coloridas, eles têm 3 dimensões e 2 dimensões para imagens em tons de cinza.</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dirty="0">
                <a:effectLst/>
              </a:rPr>
              <a:t>Cada </a:t>
            </a:r>
            <a:r>
              <a:rPr lang="pt-BR" b="1" i="1" dirty="0">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effectLst/>
              </a:rPr>
              <a:t>kernels</a:t>
            </a:r>
            <a:r>
              <a:rPr lang="pt-BR" b="0" dirty="0">
                <a:effectLst/>
              </a:rPr>
              <a:t> </a:t>
            </a:r>
            <a:r>
              <a:rPr lang="pt-BR" b="1" dirty="0">
                <a:solidFill>
                  <a:srgbClr val="7030A0"/>
                </a:solidFill>
                <a:effectLst/>
              </a:rPr>
              <a:t>aprendem</a:t>
            </a:r>
            <a:r>
              <a:rPr lang="pt-BR" b="0" dirty="0">
                <a:effectLst/>
              </a:rPr>
              <a:t> a </a:t>
            </a:r>
            <a:r>
              <a:rPr lang="pt-BR" b="1" dirty="0">
                <a:solidFill>
                  <a:srgbClr val="00B050"/>
                </a:solidFill>
                <a:effectLst/>
              </a:rPr>
              <a:t>detectar</a:t>
            </a:r>
            <a:r>
              <a:rPr lang="pt-BR" b="0" dirty="0">
                <a:effectLst/>
              </a:rPr>
              <a:t> as características mais relevantes para a tarefa específica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do tensor</a:t>
            </a:r>
            <a:r>
              <a:rPr lang="pt-BR" b="0" dirty="0">
                <a:effectLst/>
              </a:rPr>
              <a:t>, necessários para </a:t>
            </a:r>
            <a:r>
              <a:rPr lang="pt-BR" b="1" dirty="0">
                <a:effectLst/>
              </a:rPr>
              <a:t>detectar um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a:t>
            </a:r>
            <a:r>
              <a:rPr lang="pt-BR" b="1" dirty="0"/>
              <a:t> janela de convolução </a:t>
            </a:r>
            <a:r>
              <a:rPr lang="pt-BR" dirty="0"/>
              <a:t>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ou de ativação.</a:t>
            </a:r>
            <a:endParaRPr lang="pt-BR" dirty="0"/>
          </a:p>
          <a:p>
            <a:r>
              <a:rPr lang="pt-BR" dirty="0"/>
              <a:t>É chamado assim, pois </a:t>
            </a:r>
            <a:r>
              <a:rPr lang="pt-BR" b="1" dirty="0">
                <a:solidFill>
                  <a:srgbClr val="00B050"/>
                </a:solidFill>
              </a:rPr>
              <a:t>fornece as respostas/ativações desse filtro em cada posição espacial</a:t>
            </a:r>
            <a:r>
              <a:rPr lang="pt-BR" dirty="0"/>
              <a:t> da imagem.</a:t>
            </a:r>
          </a:p>
          <a:p>
            <a:r>
              <a:rPr lang="pt-BR" dirty="0"/>
              <a:t>Ele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dirty="0">
                <a:solidFill>
                  <a:srgbClr val="00B050"/>
                </a:solidFill>
              </a:rPr>
              <a:t>eficiência computacional</a:t>
            </a:r>
            <a:r>
              <a:rPr lang="pt-BR" dirty="0"/>
              <a:t> ou porque desejamos </a:t>
            </a:r>
            <a:r>
              <a:rPr lang="pt-BR" b="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linhas verticais e escurece todo o resto</a:t>
            </a:r>
            <a:r>
              <a:rPr lang="pt-BR" dirty="0"/>
              <a:t>.</a:t>
            </a:r>
          </a:p>
          <a:p>
            <a:r>
              <a:rPr lang="pt-BR" dirty="0"/>
              <a:t>Portanto, podemos considerar este kernel como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processo é chamado de </a:t>
            </a:r>
            <a:r>
              <a:rPr lang="pt-BR" b="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a:t>
            </a:r>
            <a:r>
              <a:rPr lang="en-US" dirty="0" err="1"/>
              <a:t>intruduz</a:t>
            </a:r>
            <a:r>
              <a:rPr lang="en-US" dirty="0"/>
              <a:t> </a:t>
            </a:r>
            <a:r>
              <a:rPr lang="en-US" dirty="0" err="1"/>
              <a:t>não</a:t>
            </a:r>
            <a:r>
              <a:rPr lang="en-US" dirty="0"/>
              <a:t> </a:t>
            </a:r>
            <a:r>
              <a:rPr lang="en-US" dirty="0" err="1"/>
              <a:t>linearidade</a:t>
            </a:r>
            <a:r>
              <a:rPr lang="pt-BR" dirty="0"/>
              <a:t>.</a:t>
            </a:r>
          </a:p>
          <a:p>
            <a:r>
              <a:rPr lang="pt-BR"/>
              <a:t>Ela é aplicada </a:t>
            </a:r>
            <a:r>
              <a:rPr lang="pt-BR" dirty="0"/>
              <a:t>diretamente ao mapa de características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suas variantes.</a:t>
            </a:r>
          </a:p>
          <a:p>
            <a:endParaRPr lang="pt-BR" dirty="0"/>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a:t>Em </a:t>
            </a:r>
            <a:r>
              <a:rPr lang="pt-BR" dirty="0"/>
              <a:t>classificação, elas usam as características para decidir </a:t>
            </a:r>
            <a:r>
              <a:rPr lang="pt-BR"/>
              <a:t>a classe.</a:t>
            </a:r>
            <a:endParaRPr lang="pt-BR" dirty="0"/>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16462</TotalTime>
  <Words>8880</Words>
  <Application>Microsoft Office PowerPoint</Application>
  <PresentationFormat>Widescreen</PresentationFormat>
  <Paragraphs>1509</Paragraphs>
  <Slides>99</Slides>
  <Notes>44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99</vt:i4>
      </vt:variant>
    </vt:vector>
  </HeadingPairs>
  <TitlesOfParts>
    <vt:vector size="112"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PowerPoint Presentation</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PowerPoint Presentation</vt:lpstr>
      <vt:lpstr>Redes neurais convolucionais</vt:lpstr>
      <vt:lpstr>Localidade</vt:lpstr>
      <vt:lpstr>Localidade</vt:lpstr>
      <vt:lpstr>Estacionariedade</vt:lpstr>
      <vt:lpstr>Estacionariedade</vt:lpstr>
      <vt:lpstr>Composição hierárquica de padrões</vt:lpstr>
      <vt:lpstr>PowerPoint Presentation</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PowerPoint Presentation</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PowerPoint Presentation</vt:lpstr>
      <vt:lpstr>Características imperceptíveis</vt:lpstr>
      <vt:lpstr>Explorando CNNs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2707</cp:revision>
  <dcterms:created xsi:type="dcterms:W3CDTF">2020-01-20T13:50:05Z</dcterms:created>
  <dcterms:modified xsi:type="dcterms:W3CDTF">2026-03-20T16:52:34Z</dcterms:modified>
</cp:coreProperties>
</file>