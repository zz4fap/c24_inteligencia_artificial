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6"/>
  </p:notesMasterIdLst>
  <p:handoutMasterIdLst>
    <p:handoutMasterId r:id="rId107"/>
  </p:handoutMasterIdLst>
  <p:sldIdLst>
    <p:sldId id="494" r:id="rId2"/>
    <p:sldId id="495" r:id="rId3"/>
    <p:sldId id="406" r:id="rId4"/>
    <p:sldId id="496" r:id="rId5"/>
    <p:sldId id="520" r:id="rId6"/>
    <p:sldId id="442" r:id="rId7"/>
    <p:sldId id="484" r:id="rId8"/>
    <p:sldId id="498" r:id="rId9"/>
    <p:sldId id="492" r:id="rId10"/>
    <p:sldId id="497" r:id="rId11"/>
    <p:sldId id="503" r:id="rId12"/>
    <p:sldId id="485" r:id="rId13"/>
    <p:sldId id="522" r:id="rId14"/>
    <p:sldId id="505" r:id="rId15"/>
    <p:sldId id="507" r:id="rId16"/>
    <p:sldId id="516" r:id="rId17"/>
    <p:sldId id="513" r:id="rId18"/>
    <p:sldId id="517" r:id="rId19"/>
    <p:sldId id="515" r:id="rId20"/>
    <p:sldId id="523" r:id="rId21"/>
    <p:sldId id="509" r:id="rId22"/>
    <p:sldId id="594" r:id="rId23"/>
    <p:sldId id="431" r:id="rId24"/>
    <p:sldId id="514" r:id="rId25"/>
    <p:sldId id="532" r:id="rId26"/>
    <p:sldId id="487" r:id="rId27"/>
    <p:sldId id="456" r:id="rId28"/>
    <p:sldId id="457" r:id="rId29"/>
    <p:sldId id="451" r:id="rId30"/>
    <p:sldId id="454" r:id="rId31"/>
    <p:sldId id="429" r:id="rId32"/>
    <p:sldId id="435" r:id="rId33"/>
    <p:sldId id="432" r:id="rId34"/>
    <p:sldId id="433" r:id="rId35"/>
    <p:sldId id="434" r:id="rId36"/>
    <p:sldId id="453" r:id="rId37"/>
    <p:sldId id="436" r:id="rId38"/>
    <p:sldId id="590" r:id="rId39"/>
    <p:sldId id="595" r:id="rId40"/>
    <p:sldId id="488" r:id="rId41"/>
    <p:sldId id="464" r:id="rId42"/>
    <p:sldId id="465" r:id="rId43"/>
    <p:sldId id="437" r:id="rId44"/>
    <p:sldId id="445" r:id="rId45"/>
    <p:sldId id="449" r:id="rId46"/>
    <p:sldId id="450" r:id="rId47"/>
    <p:sldId id="452" r:id="rId48"/>
    <p:sldId id="511" r:id="rId49"/>
    <p:sldId id="455" r:id="rId50"/>
    <p:sldId id="533" r:id="rId51"/>
    <p:sldId id="591" r:id="rId52"/>
    <p:sldId id="460" r:id="rId53"/>
    <p:sldId id="467" r:id="rId54"/>
    <p:sldId id="530" r:id="rId55"/>
    <p:sldId id="531" r:id="rId56"/>
    <p:sldId id="461" r:id="rId57"/>
    <p:sldId id="493" r:id="rId58"/>
    <p:sldId id="462" r:id="rId59"/>
    <p:sldId id="592" r:id="rId60"/>
    <p:sldId id="466" r:id="rId61"/>
    <p:sldId id="512" r:id="rId62"/>
    <p:sldId id="538" r:id="rId63"/>
    <p:sldId id="539" r:id="rId64"/>
    <p:sldId id="536" r:id="rId65"/>
    <p:sldId id="558" r:id="rId66"/>
    <p:sldId id="541" r:id="rId67"/>
    <p:sldId id="440" r:id="rId68"/>
    <p:sldId id="542" r:id="rId69"/>
    <p:sldId id="554" r:id="rId70"/>
    <p:sldId id="543" r:id="rId71"/>
    <p:sldId id="544" r:id="rId72"/>
    <p:sldId id="545" r:id="rId73"/>
    <p:sldId id="593" r:id="rId74"/>
    <p:sldId id="547" r:id="rId75"/>
    <p:sldId id="548" r:id="rId76"/>
    <p:sldId id="549" r:id="rId77"/>
    <p:sldId id="550" r:id="rId78"/>
    <p:sldId id="551" r:id="rId79"/>
    <p:sldId id="552" r:id="rId80"/>
    <p:sldId id="588" r:id="rId81"/>
    <p:sldId id="589" r:id="rId82"/>
    <p:sldId id="293" r:id="rId83"/>
    <p:sldId id="306" r:id="rId84"/>
    <p:sldId id="491" r:id="rId85"/>
    <p:sldId id="441" r:id="rId86"/>
    <p:sldId id="469" r:id="rId87"/>
    <p:sldId id="470" r:id="rId88"/>
    <p:sldId id="471" r:id="rId89"/>
    <p:sldId id="472" r:id="rId90"/>
    <p:sldId id="475" r:id="rId91"/>
    <p:sldId id="474" r:id="rId92"/>
    <p:sldId id="540" r:id="rId93"/>
    <p:sldId id="478" r:id="rId94"/>
    <p:sldId id="477" r:id="rId95"/>
    <p:sldId id="490" r:id="rId96"/>
    <p:sldId id="438" r:id="rId97"/>
    <p:sldId id="443" r:id="rId98"/>
    <p:sldId id="446" r:id="rId99"/>
    <p:sldId id="447" r:id="rId100"/>
    <p:sldId id="448" r:id="rId101"/>
    <p:sldId id="458" r:id="rId102"/>
    <p:sldId id="459" r:id="rId103"/>
    <p:sldId id="479" r:id="rId104"/>
    <p:sldId id="556" r:id="rId105"/>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81840" autoAdjust="0"/>
  </p:normalViewPr>
  <p:slideViewPr>
    <p:cSldViewPr snapToGrid="0">
      <p:cViewPr varScale="1">
        <p:scale>
          <a:sx n="90" d="100"/>
          <a:sy n="90" d="100"/>
        </p:scale>
        <p:origin x="1716" y="96"/>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microsoft.com/office/2016/11/relationships/changesInfo" Target="changesInfos/changesInfo1.xml"/><Relationship Id="rId16" Type="http://schemas.openxmlformats.org/officeDocument/2006/relationships/slide" Target="slides/slide15.xml"/><Relationship Id="rId107" Type="http://schemas.openxmlformats.org/officeDocument/2006/relationships/handoutMaster" Target="handoutMasters/handout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microsoft.com/office/2015/10/relationships/revisionInfo" Target="revisionInfo.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14/10/2026</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‹nº›</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14/10/2026</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‹nº›</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a:t>
            </a:fld>
            <a:endParaRPr lang="pt-BR"/>
          </a:p>
        </p:txBody>
      </p:sp>
    </p:spTree>
    <p:extLst>
      <p:ext uri="{BB962C8B-B14F-4D97-AF65-F5344CB8AC3E}">
        <p14:creationId xmlns:p14="http://schemas.microsoft.com/office/powerpoint/2010/main" val="731901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A convolução permite que as CNNs detectem padrões locais em uma imagem, como bordas, texturas, partes e objetos completos.</a:t>
            </a:r>
          </a:p>
          <a:p>
            <a:r>
              <a:rPr lang="pt-BR" b="0" i="0" dirty="0">
                <a:solidFill>
                  <a:srgbClr val="374151"/>
                </a:solidFill>
                <a:effectLst/>
                <a:latin typeface="Söhne"/>
              </a:rPr>
              <a:t>O compartilhamento de parâmetros reduz drasticamente o número de parâmetros da rede, tornando-a mais eficiente e menos propensa a </a:t>
            </a:r>
            <a:r>
              <a:rPr lang="pt-BR" b="0" i="0" dirty="0" err="1">
                <a:solidFill>
                  <a:srgbClr val="374151"/>
                </a:solidFill>
                <a:effectLst/>
                <a:latin typeface="Söhne"/>
              </a:rPr>
              <a:t>overfitting</a:t>
            </a:r>
            <a:r>
              <a:rPr lang="pt-BR" b="0" i="0" dirty="0">
                <a:solidFill>
                  <a:srgbClr val="374151"/>
                </a:solidFill>
                <a:effectLst/>
                <a:latin typeface="Söhne"/>
              </a:rPr>
              <a:t>.</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3874238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0917-F276-CC72-4611-67B21CE208A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A4D5C26-3743-1E33-0427-58447774DB9A}"/>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A766490F-CCD8-4878-FD1F-4753DB36E762}"/>
              </a:ext>
            </a:extLst>
          </p:cNvPr>
          <p:cNvSpPr>
            <a:spLocks noGrp="1"/>
          </p:cNvSpPr>
          <p:nvPr>
            <p:ph type="body" idx="1"/>
          </p:nvPr>
        </p:nvSpPr>
        <p:spPr/>
        <p:txBody>
          <a:bodyPr/>
          <a:lstStyle/>
          <a:p>
            <a:r>
              <a:rPr lang="pt-BR" b="0" i="0" dirty="0">
                <a:solidFill>
                  <a:srgbClr val="374151"/>
                </a:solidFill>
                <a:effectLst/>
                <a:latin typeface="Söhne"/>
              </a:rPr>
              <a:t>A convolução permite que as CNNs detectem padrões locais em uma imagem, como bordas, texturas e outras características. </a:t>
            </a:r>
          </a:p>
          <a:p>
            <a:r>
              <a:rPr lang="pt-BR" b="0" i="0" dirty="0">
                <a:solidFill>
                  <a:srgbClr val="374151"/>
                </a:solidFill>
                <a:effectLst/>
                <a:latin typeface="Söhne"/>
              </a:rPr>
              <a:t>O compartilhamento de parâmetros reduz drasticamente o número de parâmetros da rede, tornando-a mais eficiente e menos propensa a </a:t>
            </a:r>
            <a:r>
              <a:rPr lang="pt-BR" b="0" i="0" dirty="0" err="1">
                <a:solidFill>
                  <a:srgbClr val="374151"/>
                </a:solidFill>
                <a:effectLst/>
                <a:latin typeface="Söhne"/>
              </a:rPr>
              <a:t>overfitting</a:t>
            </a:r>
            <a:r>
              <a:rPr lang="pt-BR" b="0" i="0" dirty="0">
                <a:solidFill>
                  <a:srgbClr val="374151"/>
                </a:solidFill>
                <a:effectLst/>
                <a:latin typeface="Söhne"/>
              </a:rPr>
              <a:t>.</a:t>
            </a:r>
            <a:endParaRPr lang="pt-BR" dirty="0"/>
          </a:p>
        </p:txBody>
      </p:sp>
      <p:sp>
        <p:nvSpPr>
          <p:cNvPr id="4" name="Espaço Reservado para Número de Slide 3">
            <a:extLst>
              <a:ext uri="{FF2B5EF4-FFF2-40B4-BE49-F238E27FC236}">
                <a16:creationId xmlns:a16="http://schemas.microsoft.com/office/drawing/2014/main" id="{22503A1B-9E43-F110-522B-C8F381A526D7}"/>
              </a:ext>
            </a:extLst>
          </p:cNvPr>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4121916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dirty="0"/>
              <a:t>MLPs </a:t>
            </a:r>
            <a:r>
              <a:rPr lang="en-US" b="1" dirty="0" err="1"/>
              <a:t>não</a:t>
            </a:r>
            <a:r>
              <a:rPr lang="en-US" b="1" dirty="0"/>
              <a:t> </a:t>
            </a:r>
            <a:r>
              <a:rPr lang="en-US" b="1" dirty="0" err="1"/>
              <a:t>exploram</a:t>
            </a:r>
            <a:r>
              <a:rPr lang="en-US" b="1" dirty="0"/>
              <a:t> </a:t>
            </a:r>
            <a:r>
              <a:rPr lang="en-US" b="1" dirty="0" err="1"/>
              <a:t>explicitamente</a:t>
            </a:r>
            <a:r>
              <a:rPr lang="en-US" b="1" dirty="0"/>
              <a:t> à </a:t>
            </a:r>
            <a:r>
              <a:rPr lang="en-US" b="1" dirty="0" err="1"/>
              <a:t>estrutura</a:t>
            </a:r>
            <a:r>
              <a:rPr lang="en-US" b="1" dirty="0"/>
              <a:t> </a:t>
            </a:r>
            <a:r>
              <a:rPr lang="en-US" b="1" dirty="0" err="1"/>
              <a:t>espacial</a:t>
            </a:r>
            <a:r>
              <a:rPr lang="en-US" dirty="0"/>
              <a:t> da </a:t>
            </a:r>
            <a:r>
              <a:rPr lang="en-US" dirty="0" err="1"/>
              <a:t>imagem</a:t>
            </a:r>
            <a:r>
              <a:rPr lang="en-US" dirty="0"/>
              <a:t>.</a:t>
            </a:r>
          </a:p>
          <a:p>
            <a:endParaRPr lang="en-US" dirty="0"/>
          </a:p>
          <a:p>
            <a:r>
              <a:rPr lang="en-US" b="1" dirty="0"/>
              <a:t>MLPs </a:t>
            </a:r>
            <a:r>
              <a:rPr lang="en-US" b="1" dirty="0" err="1"/>
              <a:t>não</a:t>
            </a:r>
            <a:r>
              <a:rPr lang="en-US" b="1" dirty="0"/>
              <a:t> </a:t>
            </a:r>
            <a:r>
              <a:rPr lang="en-US" b="1" dirty="0" err="1"/>
              <a:t>impõe</a:t>
            </a:r>
            <a:r>
              <a:rPr lang="en-US" b="1" dirty="0"/>
              <a:t> </a:t>
            </a:r>
            <a:r>
              <a:rPr lang="en-US" b="1" dirty="0" err="1"/>
              <a:t>que</a:t>
            </a:r>
            <a:r>
              <a:rPr lang="en-US" b="1" dirty="0"/>
              <a:t> pixels </a:t>
            </a:r>
            <a:r>
              <a:rPr lang="en-US" b="1" dirty="0" err="1"/>
              <a:t>próximos</a:t>
            </a:r>
            <a:r>
              <a:rPr lang="en-US" b="1" dirty="0"/>
              <a:t> </a:t>
            </a:r>
            <a:r>
              <a:rPr lang="en-US" b="1" dirty="0" err="1"/>
              <a:t>estejam</a:t>
            </a:r>
            <a:r>
              <a:rPr lang="en-US" b="1" dirty="0"/>
              <a:t> </a:t>
            </a:r>
            <a:r>
              <a:rPr lang="en-US" b="1" dirty="0" err="1"/>
              <a:t>relacionados</a:t>
            </a:r>
            <a:r>
              <a:rPr lang="en-US" b="1" dirty="0"/>
              <a:t> nem </a:t>
            </a:r>
            <a:r>
              <a:rPr lang="en-US" b="1" dirty="0" err="1"/>
              <a:t>que</a:t>
            </a:r>
            <a:r>
              <a:rPr lang="en-US" b="1" dirty="0"/>
              <a:t> o </a:t>
            </a:r>
            <a:r>
              <a:rPr lang="en-US" b="1" dirty="0" err="1"/>
              <a:t>mesmo</a:t>
            </a:r>
            <a:r>
              <a:rPr lang="en-US" b="1" dirty="0"/>
              <a:t> </a:t>
            </a:r>
            <a:r>
              <a:rPr lang="en-US" b="1" dirty="0" err="1"/>
              <a:t>padrão</a:t>
            </a:r>
            <a:r>
              <a:rPr lang="en-US" b="1" dirty="0"/>
              <a:t> </a:t>
            </a:r>
            <a:r>
              <a:rPr lang="en-US" b="1" dirty="0" err="1"/>
              <a:t>seja</a:t>
            </a:r>
            <a:r>
              <a:rPr lang="en-US" b="1" dirty="0"/>
              <a:t> </a:t>
            </a:r>
            <a:r>
              <a:rPr lang="en-US" b="1" dirty="0" err="1"/>
              <a:t>detectado</a:t>
            </a:r>
            <a:r>
              <a:rPr lang="en-US" b="1" dirty="0"/>
              <a:t> </a:t>
            </a:r>
            <a:r>
              <a:rPr lang="en-US" b="1" dirty="0" err="1"/>
              <a:t>independentemente</a:t>
            </a:r>
            <a:r>
              <a:rPr lang="en-US" b="1" dirty="0"/>
              <a:t> da </a:t>
            </a:r>
            <a:r>
              <a:rPr lang="en-US" b="1" dirty="0" err="1"/>
              <a:t>posição</a:t>
            </a:r>
            <a:r>
              <a:rPr lang="en-US" dirty="0"/>
              <a:t>.</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4187441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1" i="0" dirty="0">
                <a:effectLst/>
                <a:latin typeface="Söhne"/>
              </a:rPr>
              <a:t>Localidade de Referência</a:t>
            </a:r>
            <a:r>
              <a:rPr lang="pt-BR" b="0" i="0" dirty="0">
                <a:solidFill>
                  <a:srgbClr val="374151"/>
                </a:solidFill>
                <a:effectLst/>
                <a:latin typeface="Söhne"/>
              </a:rPr>
              <a:t>: informações próximas umas das outras estão relacionadas. </a:t>
            </a:r>
            <a:endParaRPr lang="pt-BR" b="0" i="0" dirty="0">
              <a:solidFill>
                <a:srgbClr val="404040"/>
              </a:solidFill>
              <a:effectLst/>
              <a:latin typeface="DeepSeek-CJK-patch"/>
            </a:endParaRPr>
          </a:p>
          <a:p>
            <a:endParaRPr lang="pt-BR" b="0" i="0" dirty="0">
              <a:solidFill>
                <a:srgbClr val="404040"/>
              </a:solidFill>
              <a:effectLst/>
              <a:latin typeface="DeepSeek-CJK-patch"/>
            </a:endParaRPr>
          </a:p>
          <a:p>
            <a:r>
              <a:rPr lang="pt-BR" b="0" i="0" dirty="0">
                <a:solidFill>
                  <a:srgbClr val="404040"/>
                </a:solidFill>
                <a:effectLst/>
                <a:latin typeface="DeepSeek-CJK-patch"/>
              </a:rPr>
              <a:t>Em redes neurais convolucionais (CNNs), o conceito de </a:t>
            </a:r>
            <a:r>
              <a:rPr lang="pt-BR" b="1" i="0" dirty="0">
                <a:solidFill>
                  <a:srgbClr val="404040"/>
                </a:solidFill>
                <a:effectLst/>
                <a:latin typeface="DeepSeek-CJK-patch"/>
              </a:rPr>
              <a:t>localidade de referência</a:t>
            </a:r>
            <a:r>
              <a:rPr lang="pt-BR" b="0" i="0" dirty="0">
                <a:solidFill>
                  <a:srgbClr val="404040"/>
                </a:solidFill>
                <a:effectLst/>
                <a:latin typeface="DeepSeek-CJK-patch"/>
              </a:rPr>
              <a:t> (ou </a:t>
            </a:r>
            <a:r>
              <a:rPr lang="pt-BR" b="1" i="0" dirty="0">
                <a:solidFill>
                  <a:srgbClr val="404040"/>
                </a:solidFill>
                <a:effectLst/>
                <a:latin typeface="DeepSeek-CJK-patch"/>
              </a:rPr>
              <a:t>localidade espacial</a:t>
            </a:r>
            <a:r>
              <a:rPr lang="pt-BR" b="0" i="0" dirty="0">
                <a:solidFill>
                  <a:srgbClr val="404040"/>
                </a:solidFill>
                <a:effectLst/>
                <a:latin typeface="DeepSeek-CJK-patch"/>
              </a:rPr>
              <a:t>) está relacionado à forma como a rede processa informações em regiões limitadas (locais) da entrada, como uma imagem. Essa característica é fundamental para o funcionamento das CNNs e está diretamente ligada à arquitetura das camadas convolucionais</a:t>
            </a:r>
            <a:br>
              <a:rPr lang="pt-BR" b="0" i="0" dirty="0">
                <a:solidFill>
                  <a:srgbClr val="404040"/>
                </a:solidFill>
                <a:effectLst/>
                <a:latin typeface="DeepSeek-CJK-patch"/>
              </a:rPr>
            </a:br>
            <a:endParaRPr lang="pt-BR" b="1" i="0" dirty="0">
              <a:effectLst/>
              <a:latin typeface="Söhne"/>
            </a:endParaRPr>
          </a:p>
          <a:p>
            <a:r>
              <a:rPr lang="pt-BR" b="1" i="0" dirty="0">
                <a:effectLst/>
                <a:latin typeface="Söhne"/>
              </a:rPr>
              <a:t>Localidade de Referência</a:t>
            </a:r>
            <a:r>
              <a:rPr lang="pt-BR" b="0" i="0" dirty="0">
                <a:solidFill>
                  <a:srgbClr val="374151"/>
                </a:solidFill>
                <a:effectLst/>
                <a:latin typeface="Söhne"/>
              </a:rPr>
              <a:t>: A localidade de referência refere-se ao conceito de que em dados com topologia de grade, como imagens, informações próximas umas das outras estão relacionadas. Por exemplo, em uma imagem, pixels vizinhos tendem a conter informações semelhantes e relacionadas. A exploração dessa localidade pode ser benéfica para tarefas de reconhecimento de padrões.</a:t>
            </a:r>
          </a:p>
          <a:p>
            <a:endParaRPr lang="pt-BR" b="0" i="0" dirty="0">
              <a:solidFill>
                <a:srgbClr val="374151"/>
              </a:solidFill>
              <a:effectLst/>
              <a:latin typeface="Söhne"/>
            </a:endParaRPr>
          </a:p>
          <a:p>
            <a:r>
              <a:rPr lang="pt-BR" b="1" i="0" dirty="0">
                <a:solidFill>
                  <a:srgbClr val="374151"/>
                </a:solidFill>
                <a:effectLst/>
                <a:latin typeface="Söhne"/>
              </a:rPr>
              <a:t>Redes Neurais Convolucionais (CNNs)</a:t>
            </a:r>
            <a:r>
              <a:rPr lang="pt-BR" b="0" i="0" dirty="0">
                <a:solidFill>
                  <a:srgbClr val="374151"/>
                </a:solidFill>
                <a:effectLst/>
                <a:latin typeface="Söhne"/>
              </a:rPr>
              <a:t>: As CNNs foram projetadas especificamente para capturar a localidade de referência em dados com topologia de grade, como imagens. Elas usam camadas convolucionais que aplicam filtros pequenos a regiões locais da imagem, permitindo que aprendam características locais, como bordas, texturas e padrões. Isso torna as CNNs eficientes na extração de características e no processamento de dados de grade, pois reduz drasticamente o número de parâmetros e leva em consideração a estrutura local dos dados.</a:t>
            </a:r>
          </a:p>
          <a:p>
            <a:endParaRPr lang="pt-BR" b="0" i="0" dirty="0">
              <a:solidFill>
                <a:srgbClr val="374151"/>
              </a:solidFill>
              <a:effectLst/>
              <a:latin typeface="Söhne"/>
            </a:endParaRPr>
          </a:p>
          <a:p>
            <a:r>
              <a:rPr lang="pt-BR" b="1" i="0" dirty="0">
                <a:solidFill>
                  <a:srgbClr val="374151"/>
                </a:solidFill>
                <a:effectLst/>
                <a:latin typeface="Söhne"/>
              </a:rPr>
              <a:t>Computacionalmente e Semanticamente</a:t>
            </a:r>
            <a:r>
              <a:rPr lang="pt-BR" b="0" i="0" dirty="0">
                <a:solidFill>
                  <a:srgbClr val="374151"/>
                </a:solidFill>
                <a:effectLst/>
                <a:latin typeface="Söhne"/>
              </a:rPr>
              <a:t>: A frase destaca que as DNNs ignoram tanto a localidade de referência computacionalmente quanto semanticamente. Isso significa que, ao usar DNNs para tarefas em que a estrutura espacial dos dados é importante (como processamento de imagens), as DNNs não são tão eficientes quanto as CNNs. Elas não tiram proveito da estrutura da grade e não consideram a semântica das informações locais, o que pode levar a um processamento menos eficaz e a um uso ineficiente de recursos computacionais.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2566743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B14E7-0763-5D49-7C93-2854051B36D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F125FF4-1F3C-1E9C-5807-96AFE577CBB2}"/>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21E36E95-3693-FD32-35D8-E82D8D7DB72A}"/>
              </a:ext>
            </a:extLst>
          </p:cNvPr>
          <p:cNvSpPr>
            <a:spLocks noGrp="1"/>
          </p:cNvSpPr>
          <p:nvPr>
            <p:ph type="body" idx="1"/>
          </p:nvPr>
        </p:nvSpPr>
        <p:spPr/>
        <p:txBody>
          <a:bodyPr/>
          <a:lstStyle/>
          <a:p>
            <a:r>
              <a:rPr lang="pt-BR" dirty="0"/>
              <a:t>Com DNNs, se trocarmos a ordem das colunas, o significado </a:t>
            </a:r>
            <a:r>
              <a:rPr lang="pt-BR" b="1" dirty="0"/>
              <a:t>não muda</a:t>
            </a:r>
            <a:r>
              <a:rPr lang="pt-BR" dirty="0"/>
              <a:t>, desde que saibamos qual coluna é qual. Ou seja, </a:t>
            </a:r>
            <a:r>
              <a:rPr lang="pt-BR" b="1" dirty="0"/>
              <a:t>não existe uma relação espacial entre os atributos</a:t>
            </a:r>
            <a:r>
              <a:rPr lang="pt-BR" dirty="0"/>
              <a:t>.</a:t>
            </a:r>
          </a:p>
          <a:p>
            <a:r>
              <a:rPr lang="pt-BR" dirty="0"/>
              <a:t>Por isso, modelos como </a:t>
            </a:r>
            <a:r>
              <a:rPr lang="pt-BR" b="1" dirty="0"/>
              <a:t>redes neurais densas (MLP/DNN)</a:t>
            </a:r>
            <a:r>
              <a:rPr lang="pt-BR" dirty="0"/>
              <a:t> funcionam bem: eles aprendem </a:t>
            </a:r>
            <a:r>
              <a:rPr lang="pt-BR" b="1" dirty="0"/>
              <a:t>relações entre variáveis</a:t>
            </a:r>
            <a:r>
              <a:rPr lang="pt-BR" dirty="0"/>
              <a:t>, mas </a:t>
            </a:r>
            <a:r>
              <a:rPr lang="pt-BR" b="1" dirty="0"/>
              <a:t>não dependem de posição espacial</a:t>
            </a:r>
            <a:r>
              <a:rPr lang="pt-BR" dirty="0"/>
              <a:t>.</a:t>
            </a:r>
          </a:p>
        </p:txBody>
      </p:sp>
      <p:sp>
        <p:nvSpPr>
          <p:cNvPr id="4" name="Espaço Reservado para Número de Slide 3">
            <a:extLst>
              <a:ext uri="{FF2B5EF4-FFF2-40B4-BE49-F238E27FC236}">
                <a16:creationId xmlns:a16="http://schemas.microsoft.com/office/drawing/2014/main" id="{9D367E69-ED38-0514-37F3-BEB5AB0C2402}"/>
              </a:ext>
            </a:extLst>
          </p:cNvPr>
          <p:cNvSpPr>
            <a:spLocks noGrp="1"/>
          </p:cNvSpPr>
          <p:nvPr>
            <p:ph type="sldNum" sz="quarter" idx="5"/>
          </p:nvPr>
        </p:nvSpPr>
        <p:spPr/>
        <p:txBody>
          <a:bodyPr/>
          <a:lstStyle/>
          <a:p>
            <a:fld id="{6FC8D850-966F-45A6-8DE7-15B891E7D40D}" type="slidenum">
              <a:rPr lang="pt-BR" smtClean="0"/>
              <a:t>8</a:t>
            </a:fld>
            <a:endParaRPr lang="pt-BR"/>
          </a:p>
        </p:txBody>
      </p:sp>
    </p:spTree>
    <p:extLst>
      <p:ext uri="{BB962C8B-B14F-4D97-AF65-F5344CB8AC3E}">
        <p14:creationId xmlns:p14="http://schemas.microsoft.com/office/powerpoint/2010/main" val="36866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BD9EB-C1CD-7092-406B-CB05CE9FFB4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5AFF286-276A-B4C6-C615-4BFA22F815B6}"/>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2ACDB899-389F-2674-A9A5-68137310B85F}"/>
              </a:ext>
            </a:extLst>
          </p:cNvPr>
          <p:cNvSpPr>
            <a:spLocks noGrp="1"/>
          </p:cNvSpPr>
          <p:nvPr>
            <p:ph type="body" idx="1"/>
          </p:nvPr>
        </p:nvSpPr>
        <p:spPr/>
        <p:txBody>
          <a:bodyPr/>
          <a:lstStyle/>
          <a:p>
            <a:r>
              <a:rPr lang="pt-BR" b="0" i="0" dirty="0">
                <a:solidFill>
                  <a:srgbClr val="404040"/>
                </a:solidFill>
                <a:effectLst/>
                <a:latin typeface="DeepSeek-CJK-patch"/>
              </a:rPr>
              <a:t>Em redes neurais convolucionais (CNNs), o conceito de </a:t>
            </a:r>
            <a:r>
              <a:rPr lang="pt-BR" b="1" i="0" dirty="0">
                <a:solidFill>
                  <a:srgbClr val="404040"/>
                </a:solidFill>
                <a:effectLst/>
                <a:latin typeface="DeepSeek-CJK-patch"/>
              </a:rPr>
              <a:t>localidade de referência</a:t>
            </a:r>
            <a:r>
              <a:rPr lang="pt-BR" b="0" i="0" dirty="0">
                <a:solidFill>
                  <a:srgbClr val="404040"/>
                </a:solidFill>
                <a:effectLst/>
                <a:latin typeface="DeepSeek-CJK-patch"/>
              </a:rPr>
              <a:t> (ou </a:t>
            </a:r>
            <a:r>
              <a:rPr lang="pt-BR" b="1" i="0" dirty="0">
                <a:solidFill>
                  <a:srgbClr val="404040"/>
                </a:solidFill>
                <a:effectLst/>
                <a:latin typeface="DeepSeek-CJK-patch"/>
              </a:rPr>
              <a:t>localidade espacial</a:t>
            </a:r>
            <a:r>
              <a:rPr lang="pt-BR" b="0" i="0" dirty="0">
                <a:solidFill>
                  <a:srgbClr val="404040"/>
                </a:solidFill>
                <a:effectLst/>
                <a:latin typeface="DeepSeek-CJK-patch"/>
              </a:rPr>
              <a:t>) está relacionado à forma como a rede processa informações em regiões limitadas (locais) da entrada, como uma imagem. Essa característica é fundamental para o funcionamento das CNNs e está diretamente ligada à arquitetura das camadas convolucionais</a:t>
            </a:r>
            <a:br>
              <a:rPr lang="pt-BR" b="0" i="0" dirty="0">
                <a:solidFill>
                  <a:srgbClr val="404040"/>
                </a:solidFill>
                <a:effectLst/>
                <a:latin typeface="DeepSeek-CJK-patch"/>
              </a:rPr>
            </a:br>
            <a:endParaRPr lang="pt-BR" b="1" i="0" dirty="0">
              <a:effectLst/>
              <a:latin typeface="Söhne"/>
            </a:endParaRPr>
          </a:p>
          <a:p>
            <a:r>
              <a:rPr lang="pt-BR" b="1" i="0" dirty="0">
                <a:effectLst/>
                <a:latin typeface="Söhne"/>
              </a:rPr>
              <a:t>Localidade de Referência</a:t>
            </a:r>
            <a:r>
              <a:rPr lang="pt-BR" b="0" i="0" dirty="0">
                <a:solidFill>
                  <a:srgbClr val="374151"/>
                </a:solidFill>
                <a:effectLst/>
                <a:latin typeface="Söhne"/>
              </a:rPr>
              <a:t>: A localidade de referência refere-se ao conceito de que em dados com topologia de grade, como imagens, informações próximas umas das outras estão relacionadas. Por exemplo, em uma imagem, pixels vizinhos tendem a conter informações semelhantes e relacionadas. A exploração dessa localidade pode ser benéfica para tarefas de reconhecimento de padrões.</a:t>
            </a:r>
          </a:p>
          <a:p>
            <a:endParaRPr lang="pt-BR" b="0" i="0" dirty="0">
              <a:solidFill>
                <a:srgbClr val="374151"/>
              </a:solidFill>
              <a:effectLst/>
              <a:latin typeface="Söhne"/>
            </a:endParaRPr>
          </a:p>
          <a:p>
            <a:r>
              <a:rPr lang="pt-BR" b="1" i="0" dirty="0">
                <a:solidFill>
                  <a:srgbClr val="374151"/>
                </a:solidFill>
                <a:effectLst/>
                <a:latin typeface="Söhne"/>
              </a:rPr>
              <a:t>Redes Neurais Convolucionais (CNNs)</a:t>
            </a:r>
            <a:r>
              <a:rPr lang="pt-BR" b="0" i="0" dirty="0">
                <a:solidFill>
                  <a:srgbClr val="374151"/>
                </a:solidFill>
                <a:effectLst/>
                <a:latin typeface="Söhne"/>
              </a:rPr>
              <a:t>: As CNNs foram projetadas especificamente para capturar a localidade de referência em dados com topologia de grade, como imagens. Elas usam camadas convolucionais que aplicam filtros pequenos a regiões locais da imagem, permitindo que aprendam características locais, como bordas, texturas e padrões. Isso torna as CNNs eficientes na extração de características e no processamento de dados de grade, pois reduz drasticamente o número de parâmetros e leva em consideração a estrutura local dos dados.</a:t>
            </a:r>
          </a:p>
          <a:p>
            <a:endParaRPr lang="pt-BR" b="0" i="0" dirty="0">
              <a:solidFill>
                <a:srgbClr val="374151"/>
              </a:solidFill>
              <a:effectLst/>
              <a:latin typeface="Söhne"/>
            </a:endParaRPr>
          </a:p>
          <a:p>
            <a:r>
              <a:rPr lang="pt-BR" b="1" i="0" dirty="0">
                <a:solidFill>
                  <a:srgbClr val="374151"/>
                </a:solidFill>
                <a:effectLst/>
                <a:latin typeface="Söhne"/>
              </a:rPr>
              <a:t>Computacionalmente e Semanticamente</a:t>
            </a:r>
            <a:r>
              <a:rPr lang="pt-BR" b="0" i="0" dirty="0">
                <a:solidFill>
                  <a:srgbClr val="374151"/>
                </a:solidFill>
                <a:effectLst/>
                <a:latin typeface="Söhne"/>
              </a:rPr>
              <a:t>: A frase destaca que as DNNs ignoram tanto a localidade de referência computacionalmente quanto semanticamente. Isso significa que, ao usar DNNs para tarefas em que a estrutura espacial dos dados é importante (como processamento de imagens), as DNNs não são tão eficientes quanto as CNNs. Elas não tiram proveito da estrutura da grade e não consideram a semântica das informações locais, o que pode levar a um processamento menos eficaz e a um uso ineficiente de recursos computacionais.</a:t>
            </a:r>
          </a:p>
          <a:p>
            <a:endParaRPr lang="pt-BR" dirty="0"/>
          </a:p>
        </p:txBody>
      </p:sp>
      <p:sp>
        <p:nvSpPr>
          <p:cNvPr id="4" name="Espaço Reservado para Número de Slide 3">
            <a:extLst>
              <a:ext uri="{FF2B5EF4-FFF2-40B4-BE49-F238E27FC236}">
                <a16:creationId xmlns:a16="http://schemas.microsoft.com/office/drawing/2014/main" id="{C73EE38E-4B4D-E00E-DB0A-D1AE1F5391E8}"/>
              </a:ext>
            </a:extLst>
          </p:cNvPr>
          <p:cNvSpPr>
            <a:spLocks noGrp="1"/>
          </p:cNvSpPr>
          <p:nvPr>
            <p:ph type="sldNum" sz="quarter" idx="5"/>
          </p:nvPr>
        </p:nvSpPr>
        <p:spPr/>
        <p:txBody>
          <a:bodyPr/>
          <a:lstStyle/>
          <a:p>
            <a:fld id="{6FC8D850-966F-45A6-8DE7-15B891E7D40D}" type="slidenum">
              <a:rPr lang="pt-BR" smtClean="0"/>
              <a:t>9</a:t>
            </a:fld>
            <a:endParaRPr lang="pt-BR"/>
          </a:p>
        </p:txBody>
      </p:sp>
    </p:spTree>
    <p:extLst>
      <p:ext uri="{BB962C8B-B14F-4D97-AF65-F5344CB8AC3E}">
        <p14:creationId xmlns:p14="http://schemas.microsoft.com/office/powerpoint/2010/main" val="1205214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dirty="0"/>
              <a:t>Uma MLP </a:t>
            </a:r>
            <a:r>
              <a:rPr lang="en-US" dirty="0" err="1"/>
              <a:t>que</a:t>
            </a:r>
            <a:r>
              <a:rPr lang="en-US" dirty="0"/>
              <a:t> </a:t>
            </a:r>
            <a:r>
              <a:rPr lang="en-US" dirty="0" err="1"/>
              <a:t>aprendeu</a:t>
            </a:r>
            <a:r>
              <a:rPr lang="en-US" dirty="0"/>
              <a:t> a </a:t>
            </a:r>
            <a:r>
              <a:rPr lang="en-US" dirty="0" err="1"/>
              <a:t>reconhecer</a:t>
            </a:r>
            <a:r>
              <a:rPr lang="en-US" dirty="0"/>
              <a:t> um </a:t>
            </a:r>
            <a:r>
              <a:rPr lang="en-US" dirty="0" err="1"/>
              <a:t>olho</a:t>
            </a:r>
            <a:r>
              <a:rPr lang="en-US" dirty="0"/>
              <a:t> no canto superior </a:t>
            </a:r>
            <a:r>
              <a:rPr lang="en-US" dirty="0" err="1"/>
              <a:t>esquerdo</a:t>
            </a:r>
            <a:r>
              <a:rPr lang="en-US" dirty="0"/>
              <a:t> </a:t>
            </a:r>
            <a:r>
              <a:rPr lang="en-US" dirty="0" err="1"/>
              <a:t>precisa</a:t>
            </a:r>
            <a:r>
              <a:rPr lang="en-US" dirty="0"/>
              <a:t> </a:t>
            </a:r>
            <a:r>
              <a:rPr lang="en-US" dirty="0" err="1"/>
              <a:t>reaprender</a:t>
            </a:r>
            <a:r>
              <a:rPr lang="en-US" dirty="0"/>
              <a:t> o </a:t>
            </a:r>
            <a:r>
              <a:rPr lang="en-US" dirty="0" err="1"/>
              <a:t>mesmo</a:t>
            </a:r>
            <a:r>
              <a:rPr lang="en-US" dirty="0"/>
              <a:t> </a:t>
            </a:r>
            <a:r>
              <a:rPr lang="en-US" dirty="0" err="1"/>
              <a:t>padrão</a:t>
            </a:r>
            <a:r>
              <a:rPr lang="en-US" dirty="0"/>
              <a:t> </a:t>
            </a:r>
            <a:r>
              <a:rPr lang="en-US" dirty="0" err="1"/>
              <a:t>em</a:t>
            </a:r>
            <a:r>
              <a:rPr lang="en-US" dirty="0"/>
              <a:t> </a:t>
            </a:r>
            <a:r>
              <a:rPr lang="en-US" dirty="0" err="1"/>
              <a:t>cada</a:t>
            </a:r>
            <a:r>
              <a:rPr lang="en-US" dirty="0"/>
              <a:t> </a:t>
            </a:r>
            <a:r>
              <a:rPr lang="en-US" dirty="0" err="1"/>
              <a:t>posição</a:t>
            </a:r>
            <a:r>
              <a:rPr lang="en-US" dirty="0"/>
              <a:t>.</a:t>
            </a:r>
          </a:p>
          <a:p>
            <a:endParaRPr lang="en-US" dirty="0"/>
          </a:p>
          <a:p>
            <a:r>
              <a:rPr lang="en-US" dirty="0"/>
              <a:t>A MLP </a:t>
            </a:r>
            <a:r>
              <a:rPr lang="en-US" dirty="0" err="1"/>
              <a:t>precisa</a:t>
            </a:r>
            <a:r>
              <a:rPr lang="en-US" dirty="0"/>
              <a:t> de </a:t>
            </a:r>
            <a:r>
              <a:rPr lang="en-US" dirty="0" err="1"/>
              <a:t>capacidade</a:t>
            </a:r>
            <a:r>
              <a:rPr lang="en-US" dirty="0"/>
              <a:t> extra para </a:t>
            </a:r>
            <a:r>
              <a:rPr lang="en-US" dirty="0" err="1"/>
              <a:t>compensar</a:t>
            </a:r>
            <a:r>
              <a:rPr lang="en-US" dirty="0"/>
              <a:t> o </a:t>
            </a:r>
            <a:r>
              <a:rPr lang="en-US" dirty="0" err="1"/>
              <a:t>que</a:t>
            </a:r>
            <a:r>
              <a:rPr lang="en-US" dirty="0"/>
              <a:t> a CNN </a:t>
            </a:r>
            <a:r>
              <a:rPr lang="en-US" dirty="0" err="1"/>
              <a:t>já</a:t>
            </a:r>
            <a:r>
              <a:rPr lang="en-US" dirty="0"/>
              <a:t> </a:t>
            </a:r>
            <a:r>
              <a:rPr lang="en-US" dirty="0" err="1"/>
              <a:t>tem</a:t>
            </a:r>
            <a:r>
              <a:rPr lang="en-US" dirty="0"/>
              <a:t> </a:t>
            </a:r>
            <a:r>
              <a:rPr lang="en-US" dirty="0" err="1"/>
              <a:t>embutido</a:t>
            </a:r>
            <a:r>
              <a:rPr lang="en-US" dirty="0"/>
              <a:t>: se um </a:t>
            </a:r>
            <a:r>
              <a:rPr lang="en-US" dirty="0" err="1"/>
              <a:t>padrão</a:t>
            </a:r>
            <a:r>
              <a:rPr lang="en-US" dirty="0"/>
              <a:t> </a:t>
            </a:r>
            <a:r>
              <a:rPr lang="en-US" dirty="0" err="1"/>
              <a:t>pode</a:t>
            </a:r>
            <a:r>
              <a:rPr lang="en-US" dirty="0"/>
              <a:t> </a:t>
            </a:r>
            <a:r>
              <a:rPr lang="en-US" dirty="0" err="1"/>
              <a:t>aparecer</a:t>
            </a:r>
            <a:r>
              <a:rPr lang="en-US" dirty="0"/>
              <a:t> </a:t>
            </a:r>
            <a:r>
              <a:rPr lang="en-US" dirty="0" err="1"/>
              <a:t>em</a:t>
            </a:r>
            <a:r>
              <a:rPr lang="en-US" dirty="0"/>
              <a:t> </a:t>
            </a:r>
            <a:r>
              <a:rPr lang="en-US" dirty="0" err="1"/>
              <a:t>várias</a:t>
            </a:r>
            <a:r>
              <a:rPr lang="en-US" dirty="0"/>
              <a:t> </a:t>
            </a:r>
            <a:r>
              <a:rPr lang="en-US" dirty="0" err="1"/>
              <a:t>posições</a:t>
            </a:r>
            <a:r>
              <a:rPr lang="en-US" dirty="0"/>
              <a:t>, a MLP </a:t>
            </a:r>
            <a:r>
              <a:rPr lang="en-US" dirty="0" err="1"/>
              <a:t>precisa</a:t>
            </a:r>
            <a:r>
              <a:rPr lang="en-US" dirty="0"/>
              <a:t> de </a:t>
            </a:r>
            <a:r>
              <a:rPr lang="en-US" dirty="0" err="1"/>
              <a:t>neurônios</a:t>
            </a:r>
            <a:r>
              <a:rPr lang="en-US" dirty="0"/>
              <a:t> </a:t>
            </a:r>
            <a:r>
              <a:rPr lang="en-US" dirty="0" err="1"/>
              <a:t>dedicados</a:t>
            </a:r>
            <a:r>
              <a:rPr lang="en-US" dirty="0"/>
              <a:t> a </a:t>
            </a:r>
            <a:r>
              <a:rPr lang="en-US" dirty="0" err="1"/>
              <a:t>detectá</a:t>
            </a:r>
            <a:r>
              <a:rPr lang="en-US" dirty="0"/>
              <a:t>-lo </a:t>
            </a:r>
            <a:r>
              <a:rPr lang="en-US" dirty="0" err="1"/>
              <a:t>em</a:t>
            </a:r>
            <a:r>
              <a:rPr lang="en-US" dirty="0"/>
              <a:t> </a:t>
            </a:r>
            <a:r>
              <a:rPr lang="en-US" dirty="0" err="1"/>
              <a:t>cada</a:t>
            </a:r>
            <a:r>
              <a:rPr lang="en-US" dirty="0"/>
              <a:t> </a:t>
            </a:r>
            <a:r>
              <a:rPr lang="en-US" dirty="0" err="1"/>
              <a:t>uma</a:t>
            </a:r>
            <a:r>
              <a:rPr lang="en-US" dirty="0"/>
              <a:t> delas.</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874864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lvl="0">
              <a:buFont typeface="Courier New" panose="02070309020205020404" pitchFamily="49" charset="0"/>
              <a:buNone/>
            </a:pPr>
            <a:r>
              <a:rPr lang="pt-BR" dirty="0"/>
              <a:t>Características simples se unem para criar características mais complexas.</a:t>
            </a:r>
          </a:p>
          <a:p>
            <a:pPr lvl="0">
              <a:buFont typeface="Courier New" panose="02070309020205020404" pitchFamily="49" charset="0"/>
              <a:buNone/>
            </a:pPr>
            <a:r>
              <a:rPr lang="pt-BR" dirty="0"/>
              <a:t>Por exemplo, bordas, linhas e cantos formam contornos e texturas, que formam partes elementares de objetos e, que por sua vez, formam objetos completos.</a:t>
            </a:r>
          </a:p>
          <a:p>
            <a:pPr lvl="0">
              <a:buFont typeface="Courier New" panose="02070309020205020404" pitchFamily="49" charset="0"/>
              <a:buNone/>
            </a:pP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2394026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171450" lvl="0" indent="-171450">
              <a:buFont typeface="Arial" panose="020B0604020202020204" pitchFamily="34" charset="0"/>
              <a:buChar char="•"/>
            </a:pPr>
            <a:r>
              <a:rPr lang="pt-BR" b="0" dirty="0"/>
              <a:t>Localidade espacial: pixels próximos são correlacionados</a:t>
            </a:r>
          </a:p>
          <a:p>
            <a:pPr marL="171450" lvl="0" indent="-171450">
              <a:buFont typeface="Arial" panose="020B0604020202020204" pitchFamily="34" charset="0"/>
              <a:buChar char="•"/>
            </a:pPr>
            <a:r>
              <a:rPr lang="pt-BR" b="0" dirty="0" err="1"/>
              <a:t>Estacionariedade</a:t>
            </a:r>
            <a:r>
              <a:rPr lang="pt-BR" b="0" dirty="0"/>
              <a:t>: o mesmo padrão pode se repetir em outras posições da imagem</a:t>
            </a:r>
          </a:p>
          <a:p>
            <a:pPr marL="171450" lvl="0" indent="-171450">
              <a:buFont typeface="Arial" panose="020B0604020202020204" pitchFamily="34" charset="0"/>
              <a:buChar char="•"/>
            </a:pPr>
            <a:r>
              <a:rPr lang="pt-BR" b="0" dirty="0"/>
              <a:t>Composição hierárquica de padrões: </a:t>
            </a:r>
            <a:r>
              <a:rPr lang="pt-BR" dirty="0"/>
              <a:t>Padrões simples formam padrões mais complexos</a:t>
            </a:r>
          </a:p>
          <a:p>
            <a:pPr marL="171450" lvl="0" indent="-171450">
              <a:buFont typeface="Arial" panose="020B0604020202020204" pitchFamily="34" charset="0"/>
              <a:buChar char="•"/>
            </a:pPr>
            <a:endParaRPr lang="pt-BR" b="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err="1"/>
              <a:t>Eficiência</a:t>
            </a:r>
            <a:r>
              <a:rPr lang="en-US" b="1" dirty="0"/>
              <a:t> de </a:t>
            </a:r>
            <a:r>
              <a:rPr lang="en-US" b="1" dirty="0" err="1"/>
              <a:t>parâmetros</a:t>
            </a:r>
            <a:r>
              <a:rPr lang="en-US" b="1" dirty="0"/>
              <a:t>:</a:t>
            </a:r>
            <a:r>
              <a:rPr lang="en-US" dirty="0"/>
              <a:t> </a:t>
            </a:r>
            <a:r>
              <a:rPr lang="en-US" dirty="0" err="1"/>
              <a:t>uma</a:t>
            </a:r>
            <a:r>
              <a:rPr lang="en-US" dirty="0"/>
              <a:t> </a:t>
            </a:r>
            <a:r>
              <a:rPr lang="en-US" dirty="0" err="1"/>
              <a:t>camada</a:t>
            </a:r>
            <a:r>
              <a:rPr lang="en-US" dirty="0"/>
              <a:t> </a:t>
            </a:r>
            <a:r>
              <a:rPr lang="en-US" dirty="0" err="1"/>
              <a:t>convolucional</a:t>
            </a:r>
            <a:r>
              <a:rPr lang="en-US" dirty="0"/>
              <a:t> </a:t>
            </a:r>
            <a:r>
              <a:rPr lang="en-US" dirty="0" err="1"/>
              <a:t>tem</a:t>
            </a:r>
            <a:r>
              <a:rPr lang="en-US" dirty="0"/>
              <a:t> </a:t>
            </a:r>
            <a:r>
              <a:rPr lang="en-US" dirty="0" err="1"/>
              <a:t>muito</a:t>
            </a:r>
            <a:r>
              <a:rPr lang="en-US" dirty="0"/>
              <a:t> </a:t>
            </a:r>
            <a:r>
              <a:rPr lang="en-US" dirty="0" err="1"/>
              <a:t>menos</a:t>
            </a:r>
            <a:r>
              <a:rPr lang="en-US" dirty="0"/>
              <a:t> pesos </a:t>
            </a:r>
            <a:r>
              <a:rPr lang="en-US" dirty="0" err="1"/>
              <a:t>que</a:t>
            </a:r>
            <a:r>
              <a:rPr lang="en-US" dirty="0"/>
              <a:t> </a:t>
            </a:r>
            <a:r>
              <a:rPr lang="en-US" dirty="0" err="1"/>
              <a:t>uma</a:t>
            </a:r>
            <a:r>
              <a:rPr lang="en-US" dirty="0"/>
              <a:t> </a:t>
            </a:r>
            <a:r>
              <a:rPr lang="en-US" dirty="0" err="1"/>
              <a:t>densa</a:t>
            </a:r>
            <a:r>
              <a:rPr lang="en-US" dirty="0"/>
              <a:t> </a:t>
            </a:r>
            <a:r>
              <a:rPr lang="en-US" dirty="0" err="1"/>
              <a:t>equivalente</a:t>
            </a:r>
            <a:r>
              <a:rPr lang="en-US" dirty="0"/>
              <a:t>.</a:t>
            </a:r>
            <a:endParaRPr lang="pt-BR" dirty="0"/>
          </a:p>
          <a:p>
            <a:pPr marL="0" lvl="0" indent="0">
              <a:buFont typeface="Arial" panose="020B0604020202020204" pitchFamily="34" charset="0"/>
              <a:buNone/>
            </a:pPr>
            <a:endParaRPr lang="pt-BR" b="0"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14</a:t>
            </a:fld>
            <a:endParaRPr lang="pt-BR"/>
          </a:p>
        </p:txBody>
      </p:sp>
    </p:spTree>
    <p:extLst>
      <p:ext uri="{BB962C8B-B14F-4D97-AF65-F5344CB8AC3E}">
        <p14:creationId xmlns:p14="http://schemas.microsoft.com/office/powerpoint/2010/main" val="6482741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pt-BR" i="1" dirty="0" err="1"/>
              <a:t>receptive</a:t>
            </a:r>
            <a:r>
              <a:rPr lang="pt-BR" i="1" dirty="0"/>
              <a:t> </a:t>
            </a:r>
            <a:r>
              <a:rPr lang="pt-BR" i="1" dirty="0" err="1"/>
              <a:t>field</a:t>
            </a:r>
            <a:r>
              <a:rPr lang="pt-BR" i="1" dirty="0"/>
              <a:t> </a:t>
            </a:r>
            <a:r>
              <a:rPr lang="pt-BR" dirty="0"/>
              <a:t>é </a:t>
            </a:r>
            <a:r>
              <a:rPr lang="pt-BR" b="1" dirty="0"/>
              <a:t>o pedaço da imagem que o neurônio “enxerga”</a:t>
            </a:r>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16</a:t>
            </a:fld>
            <a:endParaRPr lang="pt-BR"/>
          </a:p>
        </p:txBody>
      </p:sp>
    </p:spTree>
    <p:extLst>
      <p:ext uri="{BB962C8B-B14F-4D97-AF65-F5344CB8AC3E}">
        <p14:creationId xmlns:p14="http://schemas.microsoft.com/office/powerpoint/2010/main" val="10867093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Eficiência</a:t>
            </a:r>
            <a:r>
              <a:rPr lang="en-US" b="1" dirty="0"/>
              <a:t> de </a:t>
            </a:r>
            <a:r>
              <a:rPr lang="en-US" b="1" dirty="0" err="1"/>
              <a:t>parâmetros</a:t>
            </a:r>
            <a:r>
              <a:rPr lang="en-US" b="1" dirty="0"/>
              <a:t>:</a:t>
            </a:r>
            <a:r>
              <a:rPr lang="en-US" dirty="0"/>
              <a:t> </a:t>
            </a:r>
            <a:r>
              <a:rPr lang="en-US" dirty="0" err="1"/>
              <a:t>uma</a:t>
            </a:r>
            <a:r>
              <a:rPr lang="en-US" dirty="0"/>
              <a:t> </a:t>
            </a:r>
            <a:r>
              <a:rPr lang="en-US" dirty="0" err="1"/>
              <a:t>camada</a:t>
            </a:r>
            <a:r>
              <a:rPr lang="en-US" dirty="0"/>
              <a:t> </a:t>
            </a:r>
            <a:r>
              <a:rPr lang="en-US" dirty="0" err="1"/>
              <a:t>convolucional</a:t>
            </a:r>
            <a:r>
              <a:rPr lang="en-US" dirty="0"/>
              <a:t> </a:t>
            </a:r>
            <a:r>
              <a:rPr lang="en-US" dirty="0" err="1"/>
              <a:t>tem</a:t>
            </a:r>
            <a:r>
              <a:rPr lang="en-US" dirty="0"/>
              <a:t> </a:t>
            </a:r>
            <a:r>
              <a:rPr lang="en-US" dirty="0" err="1"/>
              <a:t>muito</a:t>
            </a:r>
            <a:r>
              <a:rPr lang="en-US" dirty="0"/>
              <a:t> </a:t>
            </a:r>
            <a:r>
              <a:rPr lang="en-US" dirty="0" err="1"/>
              <a:t>menos</a:t>
            </a:r>
            <a:r>
              <a:rPr lang="en-US" dirty="0"/>
              <a:t> pesos </a:t>
            </a:r>
            <a:r>
              <a:rPr lang="en-US" dirty="0" err="1"/>
              <a:t>que</a:t>
            </a:r>
            <a:r>
              <a:rPr lang="en-US" dirty="0"/>
              <a:t> </a:t>
            </a:r>
            <a:r>
              <a:rPr lang="en-US" dirty="0" err="1"/>
              <a:t>uma</a:t>
            </a:r>
            <a:r>
              <a:rPr lang="en-US" dirty="0"/>
              <a:t> </a:t>
            </a:r>
            <a:r>
              <a:rPr lang="en-US" dirty="0" err="1"/>
              <a:t>densa</a:t>
            </a:r>
            <a:r>
              <a:rPr lang="en-US" dirty="0"/>
              <a:t> </a:t>
            </a:r>
            <a:r>
              <a:rPr lang="en-US" dirty="0" err="1"/>
              <a:t>equivalente</a:t>
            </a:r>
            <a:r>
              <a:rPr lang="en-US" dirty="0"/>
              <a:t>.</a:t>
            </a:r>
            <a:endParaRPr lang="pt-BR" dirty="0"/>
          </a:p>
          <a:p>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3311863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noProof="0" dirty="0"/>
              <a:t>As camadas densas c</a:t>
            </a:r>
            <a:r>
              <a:rPr lang="pt-BR" baseline="0" noProof="0" dirty="0"/>
              <a:t>ombinam as características de alto nível detectadas </a:t>
            </a:r>
            <a:r>
              <a:rPr lang="pt-BR" noProof="0" dirty="0"/>
              <a:t>para produzir a saída final,</a:t>
            </a:r>
            <a:r>
              <a:rPr lang="pt-BR" baseline="0" noProof="0" dirty="0"/>
              <a:t> ou seja, em uma classe a que pertence uma imagem de entrada.</a:t>
            </a:r>
            <a:endParaRPr lang="pt-BR" noProof="0" dirty="0"/>
          </a:p>
          <a:p>
            <a:endParaRPr lang="pt-BR" baseline="0" noProof="0" dirty="0"/>
          </a:p>
          <a:p>
            <a:r>
              <a:rPr lang="pt-BR" baseline="0" noProof="0" dirty="0"/>
              <a:t>Na entrada das camadas densas temos informação semântica e não mais espacial.</a:t>
            </a:r>
          </a:p>
          <a:p>
            <a:endParaRPr lang="pt-BR" baseline="0" noProof="0" dirty="0"/>
          </a:p>
          <a:p>
            <a:r>
              <a:rPr lang="pt-BR" noProof="0" dirty="0"/>
              <a:t>A pergunta que os mapas de características na entrada das camadas densas respondem deixa de ser "onde há uma borda?" e passa a ser "o que há na imagem?".</a:t>
            </a:r>
          </a:p>
          <a:p>
            <a:endParaRPr lang="pt-BR" noProof="0" dirty="0"/>
          </a:p>
          <a:p>
            <a:r>
              <a:rPr lang="pt-BR" noProof="0" dirty="0"/>
              <a:t>As camadas densas só precisam combinar as características ("tem pelo, tem focinho, tem orelha pontuda → gato"), e isso é um problema de combinação de atributos, não de geometria.</a:t>
            </a:r>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21</a:t>
            </a:fld>
            <a:endParaRPr lang="pt-BR"/>
          </a:p>
        </p:txBody>
      </p:sp>
    </p:spTree>
    <p:extLst>
      <p:ext uri="{BB962C8B-B14F-4D97-AF65-F5344CB8AC3E}">
        <p14:creationId xmlns:p14="http://schemas.microsoft.com/office/powerpoint/2010/main" val="512576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Os pixels contêm informações sobre cor e brilho e são organizados em uma grade retangular. Em uma imagem colorida, geralmente, cada pixel é composto por três componentes de cores básicas: vermelho (R), verde (G) e azul (B), formando assim uma tríade de cores conhecida como o modelo RGB. A combinação dessas três cores em diferentes intensidades cria uma ampla variedade de cores e tons em uma imagem.</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4075787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25</a:t>
            </a:fld>
            <a:endParaRPr lang="pt-BR"/>
          </a:p>
        </p:txBody>
      </p:sp>
    </p:spTree>
    <p:extLst>
      <p:ext uri="{BB962C8B-B14F-4D97-AF65-F5344CB8AC3E}">
        <p14:creationId xmlns:p14="http://schemas.microsoft.com/office/powerpoint/2010/main" val="32498784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sz="1200" b="0" u="none" strike="noStrike" kern="1200" dirty="0">
                <a:solidFill>
                  <a:schemeClr val="tx1"/>
                </a:solidFill>
                <a:effectLst/>
                <a:latin typeface="+mn-lt"/>
                <a:ea typeface="+mn-ea"/>
                <a:cs typeface="+mn-cs"/>
              </a:rPr>
              <a:t>O </a:t>
            </a:r>
            <a:r>
              <a:rPr lang="en-US" sz="1200" b="0" u="none" strike="noStrike" kern="1200" dirty="0" err="1">
                <a:solidFill>
                  <a:schemeClr val="tx1"/>
                </a:solidFill>
                <a:effectLst/>
                <a:latin typeface="+mn-lt"/>
                <a:ea typeface="+mn-ea"/>
                <a:cs typeface="+mn-cs"/>
              </a:rPr>
              <a:t>córtex</a:t>
            </a:r>
            <a:r>
              <a:rPr lang="en-US" sz="1200" b="0" u="none" strike="noStrike" kern="1200" dirty="0">
                <a:solidFill>
                  <a:schemeClr val="tx1"/>
                </a:solidFill>
                <a:effectLst/>
                <a:latin typeface="+mn-lt"/>
                <a:ea typeface="+mn-ea"/>
                <a:cs typeface="+mn-cs"/>
              </a:rPr>
              <a:t> cerebral </a:t>
            </a:r>
            <a:r>
              <a:rPr lang="en-US" dirty="0"/>
              <a:t>é a </a:t>
            </a:r>
            <a:r>
              <a:rPr lang="en-US" dirty="0" err="1"/>
              <a:t>camada</a:t>
            </a:r>
            <a:r>
              <a:rPr lang="en-US" dirty="0"/>
              <a:t> </a:t>
            </a:r>
            <a:r>
              <a:rPr lang="en-US" dirty="0" err="1"/>
              <a:t>mais</a:t>
            </a:r>
            <a:r>
              <a:rPr lang="en-US" dirty="0"/>
              <a:t> externa do </a:t>
            </a:r>
            <a:r>
              <a:rPr lang="en-US" dirty="0" err="1"/>
              <a:t>cérebro</a:t>
            </a:r>
            <a:endParaRPr lang="pt-BR" b="0" i="0" dirty="0">
              <a:solidFill>
                <a:srgbClr val="BDC1C6"/>
              </a:solidFill>
              <a:effectLst/>
              <a:latin typeface="Google Sans"/>
            </a:endParaRPr>
          </a:p>
          <a:p>
            <a:r>
              <a:rPr lang="pt-BR" b="0" i="0" dirty="0">
                <a:solidFill>
                  <a:srgbClr val="BDC1C6"/>
                </a:solidFill>
                <a:effectLst/>
                <a:latin typeface="Google Sans"/>
              </a:rPr>
              <a:t>O córtex visual do cérebro é a área do córtex cerebral que processa as informações visuais.</a:t>
            </a:r>
            <a:endParaRPr lang="pt-BR" b="0" i="0" dirty="0">
              <a:solidFill>
                <a:srgbClr val="E8EAED"/>
              </a:solidFill>
              <a:effectLst/>
              <a:latin typeface="Google Sans"/>
            </a:endParaRPr>
          </a:p>
          <a:p>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21584955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A informação ao longo das camadas do córtex deixa de ser “onde está tal padrão” (informação espacial) para “o que está contido” (informação semântica) no que é visto.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3430005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https://dennybritz.com/posts/wildml/understanding-convolutional-neural-networks-for-nlp/</a:t>
            </a:r>
          </a:p>
          <a:p>
            <a:endParaRPr lang="pt-BR" dirty="0"/>
          </a:p>
          <a:p>
            <a:r>
              <a:rPr lang="pt-BR" dirty="0"/>
              <a:t>Um mapa de características (também chamado de mapa de ativação ou </a:t>
            </a:r>
            <a:r>
              <a:rPr lang="pt-BR" dirty="0" err="1"/>
              <a:t>feature</a:t>
            </a:r>
            <a:r>
              <a:rPr lang="pt-BR" dirty="0"/>
              <a:t> </a:t>
            </a:r>
            <a:r>
              <a:rPr lang="pt-BR" dirty="0" err="1"/>
              <a:t>map</a:t>
            </a:r>
            <a:r>
              <a:rPr lang="pt-BR" dirty="0"/>
              <a:t> em inglês) em uma rede neural, especialmente em uma rede neural convolucional (CNN), é uma representação bidimensional das características extraídas de uma camada anterior da rede. Essas características são obtidas por meio de operações de convolução, </a:t>
            </a:r>
            <a:r>
              <a:rPr lang="pt-BR" dirty="0" err="1"/>
              <a:t>pooling</a:t>
            </a:r>
            <a:r>
              <a:rPr lang="pt-BR" dirty="0"/>
              <a:t> e ativação aplicadas à entrada da rede (que pode ser uma imagem ou outra forma de dados).</a:t>
            </a:r>
          </a:p>
          <a:p>
            <a:endParaRPr lang="pt-BR" dirty="0"/>
          </a:p>
          <a:p>
            <a:r>
              <a:rPr lang="pt-BR" dirty="0"/>
              <a:t>Aqui estão algumas informações importantes sobre os mapas de características em uma rede neural:</a:t>
            </a:r>
          </a:p>
          <a:p>
            <a:endParaRPr lang="pt-BR" dirty="0"/>
          </a:p>
          <a:p>
            <a:r>
              <a:rPr lang="pt-BR" dirty="0"/>
              <a:t>1. **Mapa de Características por Camada**: Normalmente, em uma CNN, cada camada convolucional produz um conjunto de mapas de características. Cada mapa de características captura diferentes aspectos das características presentes na imagem de entrada. Por exemplo, um mapa de características pode destacar bordas, outro pode enfatizar texturas, e assim por diante.</a:t>
            </a:r>
          </a:p>
          <a:p>
            <a:endParaRPr lang="pt-BR" dirty="0"/>
          </a:p>
          <a:p>
            <a:r>
              <a:rPr lang="pt-BR" dirty="0"/>
              <a:t>2. **Dimensões Espaciais**: Um mapa de características é uma matriz bidimensional, onde cada elemento na matriz corresponde à ativação de um neurônio na camada convolucional. As dimensões espaciais (largura e altura) dos mapas de características podem variar dependendo da arquitetura da rede e das operações aplicadas.</a:t>
            </a:r>
          </a:p>
          <a:p>
            <a:endParaRPr lang="pt-BR" dirty="0"/>
          </a:p>
          <a:p>
            <a:r>
              <a:rPr lang="pt-BR" dirty="0"/>
              <a:t>3. **Profundidade**: A profundidade de um mapa de características se refere ao número de canais (ou neurônios) nesse mapa. Cada canal é responsável por detectar uma característica específica na entrada. Em um mapa de características RGB, por exemplo, você pode ter canais responsáveis por detectar a presença de cores como vermelho, verde e azul.</a:t>
            </a:r>
          </a:p>
          <a:p>
            <a:endParaRPr lang="pt-BR" dirty="0"/>
          </a:p>
          <a:p>
            <a:r>
              <a:rPr lang="pt-BR" dirty="0"/>
              <a:t>4. **Transformações Hierárquicas**: À medida que os dados fluem pela rede, os mapas de características em camadas subsequentes tendem a representar características mais abstratas e complexas, resultando em uma hierarquia de representações. Por exemplo, os primeiros mapas de características podem representar bordas simples, enquanto mapas mais profundos podem representar características mais complexas, como rostos em uma imagem.</a:t>
            </a:r>
          </a:p>
          <a:p>
            <a:endParaRPr lang="pt-BR" dirty="0"/>
          </a:p>
          <a:p>
            <a:r>
              <a:rPr lang="pt-BR" dirty="0"/>
              <a:t>5. **Convoluções e </a:t>
            </a:r>
            <a:r>
              <a:rPr lang="pt-BR" dirty="0" err="1"/>
              <a:t>Pooling</a:t>
            </a:r>
            <a:r>
              <a:rPr lang="pt-BR" dirty="0"/>
              <a:t>**: A criação de mapas de características envolve a aplicação de operações de convolução para extrair padrões locais e, em seguida, operações de </a:t>
            </a:r>
            <a:r>
              <a:rPr lang="pt-BR" dirty="0" err="1"/>
              <a:t>pooling</a:t>
            </a:r>
            <a:r>
              <a:rPr lang="pt-BR" dirty="0"/>
              <a:t> para reduzir as dimensões espaciais e preservar características importantes.</a:t>
            </a:r>
          </a:p>
          <a:p>
            <a:endParaRPr lang="pt-BR" dirty="0"/>
          </a:p>
          <a:p>
            <a:r>
              <a:rPr lang="pt-BR" dirty="0"/>
              <a:t>Os mapas de características são essenciais para o funcionamento das CNNs, pois permitem que a rede aprenda representações hierárquicas das entradas, o que é particularmente útil em tarefas de visão computacional, como reconhecimento de objetos em imagens. Cada mapa de características fornece informações valiosas sobre diferentes aspectos das imagens de entrada e, quando combinados em camadas posteriores da rede, podem levar a uma compreensão mais profunda e abstrata dos dados.</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29</a:t>
            </a:fld>
            <a:endParaRPr lang="pt-BR"/>
          </a:p>
        </p:txBody>
      </p:sp>
    </p:spTree>
    <p:extLst>
      <p:ext uri="{BB962C8B-B14F-4D97-AF65-F5344CB8AC3E}">
        <p14:creationId xmlns:p14="http://schemas.microsoft.com/office/powerpoint/2010/main" val="29647968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https://dennybritz.com/posts/wildml/understanding-convolutional-neural-networks-for-nlp/</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30</a:t>
            </a:fld>
            <a:endParaRPr lang="pt-BR"/>
          </a:p>
        </p:txBody>
      </p:sp>
    </p:spTree>
    <p:extLst>
      <p:ext uri="{BB962C8B-B14F-4D97-AF65-F5344CB8AC3E}">
        <p14:creationId xmlns:p14="http://schemas.microsoft.com/office/powerpoint/2010/main" val="2587823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b="1" dirty="0"/>
              <a:t>i </a:t>
            </a:r>
            <a:r>
              <a:rPr lang="en-US" dirty="0" err="1"/>
              <a:t>Índice</a:t>
            </a:r>
            <a:r>
              <a:rPr lang="en-US" dirty="0"/>
              <a:t> da </a:t>
            </a:r>
            <a:r>
              <a:rPr lang="en-US" b="1" dirty="0" err="1"/>
              <a:t>linha</a:t>
            </a:r>
            <a:r>
              <a:rPr lang="en-US" dirty="0"/>
              <a:t> </a:t>
            </a:r>
            <a:r>
              <a:rPr lang="en-US" dirty="0" err="1"/>
              <a:t>na</a:t>
            </a:r>
            <a:r>
              <a:rPr lang="en-US" dirty="0"/>
              <a:t> </a:t>
            </a:r>
            <a:r>
              <a:rPr lang="en-US" dirty="0" err="1"/>
              <a:t>saída</a:t>
            </a:r>
            <a:r>
              <a:rPr lang="en-US" dirty="0"/>
              <a:t> (e </a:t>
            </a:r>
            <a:r>
              <a:rPr lang="en-US" dirty="0" err="1"/>
              <a:t>posição</a:t>
            </a:r>
            <a:r>
              <a:rPr lang="en-US" dirty="0"/>
              <a:t> vertical </a:t>
            </a:r>
            <a:r>
              <a:rPr lang="en-US" dirty="0" err="1"/>
              <a:t>inicial</a:t>
            </a:r>
            <a:r>
              <a:rPr lang="en-US" dirty="0"/>
              <a:t> da </a:t>
            </a:r>
            <a:r>
              <a:rPr lang="en-US" dirty="0" err="1"/>
              <a:t>janela</a:t>
            </a:r>
            <a:r>
              <a:rPr lang="en-US" dirty="0"/>
              <a:t> </a:t>
            </a:r>
            <a:r>
              <a:rPr lang="en-US" dirty="0" err="1"/>
              <a:t>na</a:t>
            </a:r>
            <a:r>
              <a:rPr lang="en-US" dirty="0"/>
              <a:t> entrada)</a:t>
            </a:r>
          </a:p>
          <a:p>
            <a:r>
              <a:rPr lang="en-US" b="1" dirty="0"/>
              <a:t>j </a:t>
            </a:r>
            <a:r>
              <a:rPr lang="en-US" dirty="0" err="1"/>
              <a:t>Índice</a:t>
            </a:r>
            <a:r>
              <a:rPr lang="en-US" dirty="0"/>
              <a:t> da </a:t>
            </a:r>
            <a:r>
              <a:rPr lang="en-US" b="1" dirty="0" err="1"/>
              <a:t>coluna</a:t>
            </a:r>
            <a:r>
              <a:rPr lang="en-US" dirty="0"/>
              <a:t> </a:t>
            </a:r>
            <a:r>
              <a:rPr lang="en-US" dirty="0" err="1"/>
              <a:t>na</a:t>
            </a:r>
            <a:r>
              <a:rPr lang="en-US" dirty="0"/>
              <a:t> </a:t>
            </a:r>
            <a:r>
              <a:rPr lang="en-US" dirty="0" err="1"/>
              <a:t>saída</a:t>
            </a:r>
            <a:r>
              <a:rPr lang="en-US" dirty="0"/>
              <a:t> (e </a:t>
            </a:r>
            <a:r>
              <a:rPr lang="en-US" dirty="0" err="1"/>
              <a:t>posição</a:t>
            </a:r>
            <a:r>
              <a:rPr lang="en-US" dirty="0"/>
              <a:t> horizontal </a:t>
            </a:r>
            <a:r>
              <a:rPr lang="en-US" dirty="0" err="1"/>
              <a:t>inicial</a:t>
            </a:r>
            <a:r>
              <a:rPr lang="en-US" dirty="0"/>
              <a:t> da </a:t>
            </a:r>
            <a:r>
              <a:rPr lang="en-US" dirty="0" err="1"/>
              <a:t>janela</a:t>
            </a:r>
            <a:r>
              <a:rPr lang="en-US" dirty="0"/>
              <a:t> </a:t>
            </a:r>
            <a:r>
              <a:rPr lang="en-US" dirty="0" err="1"/>
              <a:t>na</a:t>
            </a:r>
            <a:r>
              <a:rPr lang="en-US" dirty="0"/>
              <a:t> entrada)</a:t>
            </a:r>
          </a:p>
          <a:p>
            <a:r>
              <a:rPr lang="en-US" b="1" dirty="0"/>
              <a:t>m </a:t>
            </a:r>
            <a:r>
              <a:rPr lang="en-US" dirty="0" err="1"/>
              <a:t>Índice</a:t>
            </a:r>
            <a:r>
              <a:rPr lang="en-US" dirty="0"/>
              <a:t> da </a:t>
            </a:r>
            <a:r>
              <a:rPr lang="en-US" b="1" dirty="0" err="1"/>
              <a:t>linha</a:t>
            </a:r>
            <a:r>
              <a:rPr lang="en-US" b="1" dirty="0"/>
              <a:t> </a:t>
            </a:r>
            <a:r>
              <a:rPr lang="en-US" b="1" dirty="0" err="1"/>
              <a:t>dentro</a:t>
            </a:r>
            <a:r>
              <a:rPr lang="en-US" b="1" dirty="0"/>
              <a:t> do kernel</a:t>
            </a:r>
            <a:r>
              <a:rPr lang="en-US" dirty="0"/>
              <a:t> (</a:t>
            </a:r>
            <a:r>
              <a:rPr lang="en-US" dirty="0" err="1"/>
              <a:t>deslocamento</a:t>
            </a:r>
            <a:r>
              <a:rPr lang="en-US" dirty="0"/>
              <a:t> vertical a </a:t>
            </a:r>
            <a:r>
              <a:rPr lang="en-US" dirty="0" err="1"/>
              <a:t>partir</a:t>
            </a:r>
            <a:r>
              <a:rPr lang="en-US" dirty="0"/>
              <a:t> de </a:t>
            </a:r>
            <a:r>
              <a:rPr lang="en-US" dirty="0" err="1"/>
              <a:t>i</a:t>
            </a:r>
            <a:r>
              <a:rPr lang="en-US" dirty="0"/>
              <a:t>)</a:t>
            </a:r>
          </a:p>
          <a:p>
            <a:r>
              <a:rPr lang="en-US" b="1" dirty="0"/>
              <a:t>n </a:t>
            </a:r>
            <a:r>
              <a:rPr lang="en-US" dirty="0" err="1"/>
              <a:t>Índice</a:t>
            </a:r>
            <a:r>
              <a:rPr lang="en-US" dirty="0"/>
              <a:t> da </a:t>
            </a:r>
            <a:r>
              <a:rPr lang="en-US" b="1" dirty="0" err="1"/>
              <a:t>coluna</a:t>
            </a:r>
            <a:r>
              <a:rPr lang="en-US" b="1" dirty="0"/>
              <a:t> </a:t>
            </a:r>
            <a:r>
              <a:rPr lang="en-US" b="1" dirty="0" err="1"/>
              <a:t>dentro</a:t>
            </a:r>
            <a:r>
              <a:rPr lang="en-US" b="1" dirty="0"/>
              <a:t> do kernel</a:t>
            </a:r>
            <a:r>
              <a:rPr lang="en-US" dirty="0"/>
              <a:t> (</a:t>
            </a:r>
            <a:r>
              <a:rPr lang="en-US" dirty="0" err="1"/>
              <a:t>deslocamento</a:t>
            </a:r>
            <a:r>
              <a:rPr lang="en-US" dirty="0"/>
              <a:t> horizontal a </a:t>
            </a:r>
            <a:r>
              <a:rPr lang="en-US" dirty="0" err="1"/>
              <a:t>partir</a:t>
            </a:r>
            <a:r>
              <a:rPr lang="en-US" dirty="0"/>
              <a:t> de j)</a:t>
            </a:r>
          </a:p>
          <a:p>
            <a:pPr rtl="0"/>
            <a:endParaRPr lang="en-US" b="1" dirty="0"/>
          </a:p>
          <a:p>
            <a:pPr rtl="0"/>
            <a:endParaRPr lang="en-US" b="1" dirty="0"/>
          </a:p>
          <a:p>
            <a:pPr rtl="0"/>
            <a:r>
              <a:rPr lang="en-US" b="1" dirty="0"/>
              <a:t>Como </a:t>
            </a:r>
            <a:r>
              <a:rPr lang="en-US" b="1" dirty="0" err="1"/>
              <a:t>os</a:t>
            </a:r>
            <a:r>
              <a:rPr lang="en-US" b="1" dirty="0"/>
              <a:t> </a:t>
            </a:r>
            <a:r>
              <a:rPr lang="en-US" b="1" dirty="0" err="1"/>
              <a:t>índices</a:t>
            </a:r>
            <a:r>
              <a:rPr lang="en-US" b="1" dirty="0"/>
              <a:t> se </a:t>
            </a:r>
            <a:r>
              <a:rPr lang="en-US" b="1" dirty="0" err="1"/>
              <a:t>relacionam</a:t>
            </a:r>
            <a:endParaRPr lang="en-US" b="1" dirty="0"/>
          </a:p>
          <a:p>
            <a:pPr lvl="0" rtl="0"/>
            <a:r>
              <a:rPr lang="en-US" b="1" dirty="0"/>
              <a:t>O par (</a:t>
            </a:r>
            <a:r>
              <a:rPr lang="en-US" b="1" dirty="0" err="1"/>
              <a:t>i</a:t>
            </a:r>
            <a:r>
              <a:rPr lang="en-US" b="1" dirty="0"/>
              <a:t>, j)</a:t>
            </a:r>
            <a:r>
              <a:rPr lang="en-US" dirty="0"/>
              <a:t> </a:t>
            </a:r>
            <a:r>
              <a:rPr lang="en-US" dirty="0" err="1"/>
              <a:t>diz</a:t>
            </a:r>
            <a:r>
              <a:rPr lang="en-US" dirty="0"/>
              <a:t> </a:t>
            </a:r>
            <a:r>
              <a:rPr lang="en-US" i="1" dirty="0" err="1"/>
              <a:t>onde</a:t>
            </a:r>
            <a:r>
              <a:rPr lang="en-US" dirty="0"/>
              <a:t> a </a:t>
            </a:r>
            <a:r>
              <a:rPr lang="en-US" dirty="0" err="1"/>
              <a:t>janela</a:t>
            </a:r>
            <a:r>
              <a:rPr lang="en-US" dirty="0"/>
              <a:t> </a:t>
            </a:r>
            <a:r>
              <a:rPr lang="en-US" dirty="0" err="1"/>
              <a:t>está</a:t>
            </a:r>
            <a:r>
              <a:rPr lang="en-US" dirty="0"/>
              <a:t> </a:t>
            </a:r>
            <a:r>
              <a:rPr lang="en-US" dirty="0" err="1"/>
              <a:t>posicionada</a:t>
            </a:r>
            <a:r>
              <a:rPr lang="en-US" dirty="0"/>
              <a:t> </a:t>
            </a:r>
            <a:r>
              <a:rPr lang="en-US" dirty="0" err="1"/>
              <a:t>na</a:t>
            </a:r>
            <a:r>
              <a:rPr lang="en-US" dirty="0"/>
              <a:t> entrada, e </a:t>
            </a:r>
            <a:r>
              <a:rPr lang="en-US" dirty="0" err="1"/>
              <a:t>também</a:t>
            </a:r>
            <a:r>
              <a:rPr lang="en-US" dirty="0"/>
              <a:t> </a:t>
            </a:r>
            <a:r>
              <a:rPr lang="en-US" i="1" dirty="0" err="1"/>
              <a:t>onde</a:t>
            </a:r>
            <a:r>
              <a:rPr lang="en-US" dirty="0"/>
              <a:t> o </a:t>
            </a:r>
            <a:r>
              <a:rPr lang="en-US" dirty="0" err="1"/>
              <a:t>resultado</a:t>
            </a:r>
            <a:r>
              <a:rPr lang="en-US" dirty="0"/>
              <a:t> </a:t>
            </a:r>
            <a:r>
              <a:rPr lang="en-US" dirty="0" err="1"/>
              <a:t>será</a:t>
            </a:r>
            <a:r>
              <a:rPr lang="en-US" dirty="0"/>
              <a:t> </a:t>
            </a:r>
            <a:r>
              <a:rPr lang="en-US" dirty="0" err="1"/>
              <a:t>armazenado</a:t>
            </a:r>
            <a:r>
              <a:rPr lang="en-US" dirty="0"/>
              <a:t> </a:t>
            </a:r>
            <a:r>
              <a:rPr lang="en-US" dirty="0" err="1"/>
              <a:t>na</a:t>
            </a:r>
            <a:r>
              <a:rPr lang="en-US" dirty="0"/>
              <a:t> </a:t>
            </a:r>
            <a:r>
              <a:rPr lang="en-US" dirty="0" err="1"/>
              <a:t>saída</a:t>
            </a:r>
            <a:r>
              <a:rPr lang="en-US" dirty="0"/>
              <a:t>.</a:t>
            </a:r>
          </a:p>
          <a:p>
            <a:pPr lvl="0" rtl="0"/>
            <a:r>
              <a:rPr lang="en-US" b="1" dirty="0"/>
              <a:t>O par (m, n)</a:t>
            </a:r>
            <a:r>
              <a:rPr lang="en-US" dirty="0"/>
              <a:t> </a:t>
            </a:r>
            <a:r>
              <a:rPr lang="en-US" dirty="0" err="1"/>
              <a:t>percorre</a:t>
            </a:r>
            <a:r>
              <a:rPr lang="en-US" dirty="0"/>
              <a:t> </a:t>
            </a:r>
            <a:r>
              <a:rPr lang="en-US" i="1" dirty="0" err="1"/>
              <a:t>dentro</a:t>
            </a:r>
            <a:r>
              <a:rPr lang="en-US" dirty="0"/>
              <a:t> do kernel. Para o kernel 2×2 do </a:t>
            </a:r>
            <a:r>
              <a:rPr lang="en-US" dirty="0" err="1"/>
              <a:t>exemplo</a:t>
            </a:r>
            <a:r>
              <a:rPr lang="en-US" dirty="0"/>
              <a:t>, m ∈ {0, 1} e n ∈ {0, 1}.</a:t>
            </a:r>
          </a:p>
          <a:p>
            <a:pPr lvl="0" rtl="0"/>
            <a:r>
              <a:rPr lang="en-US" b="1" dirty="0"/>
              <a:t>I(</a:t>
            </a:r>
            <a:r>
              <a:rPr lang="en-US" b="1" dirty="0" err="1"/>
              <a:t>i+m</a:t>
            </a:r>
            <a:r>
              <a:rPr lang="en-US" b="1" dirty="0"/>
              <a:t>, </a:t>
            </a:r>
            <a:r>
              <a:rPr lang="en-US" b="1" dirty="0" err="1"/>
              <a:t>j+n</a:t>
            </a:r>
            <a:r>
              <a:rPr lang="en-US" b="1" dirty="0"/>
              <a:t>)</a:t>
            </a:r>
            <a:r>
              <a:rPr lang="en-US" dirty="0"/>
              <a:t> é, </a:t>
            </a:r>
            <a:r>
              <a:rPr lang="en-US" dirty="0" err="1"/>
              <a:t>portanto</a:t>
            </a:r>
            <a:r>
              <a:rPr lang="en-US" dirty="0"/>
              <a:t>, o pixel da entrada </a:t>
            </a:r>
            <a:r>
              <a:rPr lang="en-US" dirty="0" err="1"/>
              <a:t>que</a:t>
            </a:r>
            <a:r>
              <a:rPr lang="en-US" dirty="0"/>
              <a:t> </a:t>
            </a:r>
            <a:r>
              <a:rPr lang="en-US" dirty="0" err="1"/>
              <a:t>fica</a:t>
            </a:r>
            <a:r>
              <a:rPr lang="en-US" dirty="0"/>
              <a:t> sob a </a:t>
            </a:r>
            <a:r>
              <a:rPr lang="en-US" dirty="0" err="1"/>
              <a:t>posição</a:t>
            </a:r>
            <a:r>
              <a:rPr lang="en-US" dirty="0"/>
              <a:t> (m, n) do kernel </a:t>
            </a:r>
            <a:r>
              <a:rPr lang="en-US" dirty="0" err="1"/>
              <a:t>quando</a:t>
            </a:r>
            <a:r>
              <a:rPr lang="en-US" dirty="0"/>
              <a:t> a </a:t>
            </a:r>
            <a:r>
              <a:rPr lang="en-US" dirty="0" err="1"/>
              <a:t>janela</a:t>
            </a:r>
            <a:r>
              <a:rPr lang="en-US" dirty="0"/>
              <a:t> </a:t>
            </a:r>
            <a:r>
              <a:rPr lang="en-US" dirty="0" err="1"/>
              <a:t>está</a:t>
            </a:r>
            <a:r>
              <a:rPr lang="en-US" dirty="0"/>
              <a:t> </a:t>
            </a:r>
            <a:r>
              <a:rPr lang="en-US" dirty="0" err="1"/>
              <a:t>em</a:t>
            </a:r>
            <a:r>
              <a:rPr lang="en-US" dirty="0"/>
              <a:t> (</a:t>
            </a:r>
            <a:r>
              <a:rPr lang="en-US" dirty="0" err="1"/>
              <a:t>i</a:t>
            </a:r>
            <a:r>
              <a:rPr lang="en-US" dirty="0"/>
              <a:t>, j).</a:t>
            </a:r>
          </a:p>
          <a:p>
            <a:endParaRPr lang="pt-BR" dirty="0"/>
          </a:p>
          <a:p>
            <a:endParaRPr lang="pt-BR" dirty="0"/>
          </a:p>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31</a:t>
            </a:fld>
            <a:endParaRPr lang="pt-BR"/>
          </a:p>
        </p:txBody>
      </p:sp>
    </p:spTree>
    <p:extLst>
      <p:ext uri="{BB962C8B-B14F-4D97-AF65-F5344CB8AC3E}">
        <p14:creationId xmlns:p14="http://schemas.microsoft.com/office/powerpoint/2010/main" val="42216285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4025565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https://d2l.ai/chapter_convolutional-neural-networks/padding-and-strides.html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22660416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34</a:t>
            </a:fld>
            <a:endParaRPr lang="pt-BR"/>
          </a:p>
        </p:txBody>
      </p:sp>
    </p:spTree>
    <p:extLst>
      <p:ext uri="{BB962C8B-B14F-4D97-AF65-F5344CB8AC3E}">
        <p14:creationId xmlns:p14="http://schemas.microsoft.com/office/powerpoint/2010/main" val="2529665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35</a:t>
            </a:fld>
            <a:endParaRPr lang="pt-BR"/>
          </a:p>
        </p:txBody>
      </p:sp>
    </p:spTree>
    <p:extLst>
      <p:ext uri="{BB962C8B-B14F-4D97-AF65-F5344CB8AC3E}">
        <p14:creationId xmlns:p14="http://schemas.microsoft.com/office/powerpoint/2010/main" val="8144866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000000"/>
                </a:solidFill>
                <a:effectLst/>
                <a:latin typeface="Roboto" panose="02000000000000000000" pitchFamily="2" charset="0"/>
              </a:rPr>
              <a:t>Uma ativação alta significa que uma determinada característica foi encontrada.</a:t>
            </a:r>
            <a:endParaRPr lang="en-US" b="0" i="0" dirty="0">
              <a:solidFill>
                <a:srgbClr val="000000"/>
              </a:solidFill>
              <a:effectLst/>
              <a:latin typeface="Roboto" panose="02000000000000000000" pitchFamily="2" charset="0"/>
            </a:endParaRPr>
          </a:p>
          <a:p>
            <a:endParaRPr lang="en-US" b="0" i="0" dirty="0">
              <a:solidFill>
                <a:srgbClr val="000000"/>
              </a:solidFill>
              <a:effectLst/>
              <a:latin typeface="Roboto" panose="02000000000000000000" pitchFamily="2" charset="0"/>
            </a:endParaRPr>
          </a:p>
          <a:p>
            <a:r>
              <a:rPr lang="en-US" b="0" i="0" dirty="0">
                <a:solidFill>
                  <a:srgbClr val="000000"/>
                </a:solidFill>
                <a:effectLst/>
                <a:latin typeface="Roboto" panose="02000000000000000000" pitchFamily="2" charset="0"/>
              </a:rPr>
              <a:t>As we slide the filter over the width and height of the input volume we will produce a 2-dimensional activation map that gives the responses of that filter at every spatial position. Intuitively, the network will learn filters that activate when they see some type of visual feature such as an edge of some orientation or a blotch of some color on the first layer, or eventually entire honeycomb or wheel-like patterns on higher layers of the network.</a:t>
            </a:r>
          </a:p>
          <a:p>
            <a:endParaRPr lang="en-US" b="0" i="0" dirty="0">
              <a:solidFill>
                <a:srgbClr val="232629"/>
              </a:solidFill>
              <a:effectLst/>
              <a:latin typeface="-apple-system"/>
            </a:endParaRPr>
          </a:p>
          <a:p>
            <a:r>
              <a:rPr lang="en-US" b="0" i="0" dirty="0">
                <a:solidFill>
                  <a:srgbClr val="232629"/>
                </a:solidFill>
                <a:effectLst/>
                <a:latin typeface="-apple-system"/>
              </a:rPr>
              <a:t>A high activation means a certain feature was found.</a:t>
            </a:r>
          </a:p>
          <a:p>
            <a:endParaRPr lang="pt-BR" dirty="0"/>
          </a:p>
          <a:p>
            <a:r>
              <a:rPr lang="pt-BR" dirty="0"/>
              <a:t>Referências</a:t>
            </a:r>
          </a:p>
          <a:p>
            <a:r>
              <a:rPr lang="pt-BR" dirty="0"/>
              <a:t>[1] http://d2l.ai/chapter_convolutional-neural-networks/conv-layer.html</a:t>
            </a:r>
          </a:p>
          <a:p>
            <a:r>
              <a:rPr lang="pt-BR" dirty="0"/>
              <a:t>[2] https://stats.stackexchange.com/questions/291820/what-is-the-definition-of-a-feature-map-aka-activation-map-in-a-convolutio/292064#292064</a:t>
            </a:r>
          </a:p>
          <a:p>
            <a:r>
              <a:rPr lang="pt-BR" dirty="0"/>
              <a:t>[3] https://cs231n.github.io/convolutional-networks/</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36</a:t>
            </a:fld>
            <a:endParaRPr lang="pt-BR"/>
          </a:p>
        </p:txBody>
      </p:sp>
    </p:spTree>
    <p:extLst>
      <p:ext uri="{BB962C8B-B14F-4D97-AF65-F5344CB8AC3E}">
        <p14:creationId xmlns:p14="http://schemas.microsoft.com/office/powerpoint/2010/main" val="3899048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lvl="0" rtl="0"/>
            <a:r>
              <a:rPr lang="en-US" b="1" dirty="0"/>
              <a:t>Stride </a:t>
            </a:r>
            <a:r>
              <a:rPr lang="en-US" b="1" dirty="0" err="1"/>
              <a:t>pequeno</a:t>
            </a:r>
            <a:r>
              <a:rPr lang="en-US" b="1" dirty="0"/>
              <a:t>:</a:t>
            </a:r>
            <a:r>
              <a:rPr lang="en-US" dirty="0"/>
              <a:t> o kernel é </a:t>
            </a:r>
            <a:r>
              <a:rPr lang="en-US" dirty="0" err="1"/>
              <a:t>avaliado</a:t>
            </a:r>
            <a:r>
              <a:rPr lang="en-US" dirty="0"/>
              <a:t> </a:t>
            </a:r>
            <a:r>
              <a:rPr lang="en-US" dirty="0" err="1"/>
              <a:t>em</a:t>
            </a:r>
            <a:r>
              <a:rPr lang="en-US" dirty="0"/>
              <a:t> </a:t>
            </a:r>
            <a:r>
              <a:rPr lang="en-US" dirty="0" err="1"/>
              <a:t>muitas</a:t>
            </a:r>
            <a:r>
              <a:rPr lang="en-US" dirty="0"/>
              <a:t> </a:t>
            </a:r>
            <a:r>
              <a:rPr lang="en-US" dirty="0" err="1"/>
              <a:t>posições</a:t>
            </a:r>
            <a:r>
              <a:rPr lang="en-US" dirty="0"/>
              <a:t>, com grande </a:t>
            </a:r>
            <a:r>
              <a:rPr lang="en-US" dirty="0" err="1"/>
              <a:t>sobreposição</a:t>
            </a:r>
            <a:r>
              <a:rPr lang="en-US" dirty="0"/>
              <a:t> entre </a:t>
            </a:r>
            <a:r>
              <a:rPr lang="en-US" dirty="0" err="1"/>
              <a:t>janelas</a:t>
            </a:r>
            <a:r>
              <a:rPr lang="en-US" dirty="0"/>
              <a:t>. A </a:t>
            </a:r>
            <a:r>
              <a:rPr lang="en-US" dirty="0" err="1"/>
              <a:t>saída</a:t>
            </a:r>
            <a:r>
              <a:rPr lang="en-US" dirty="0"/>
              <a:t> </a:t>
            </a:r>
            <a:r>
              <a:rPr lang="en-US" dirty="0" err="1"/>
              <a:t>preserva</a:t>
            </a:r>
            <a:r>
              <a:rPr lang="en-US" dirty="0"/>
              <a:t> </a:t>
            </a:r>
            <a:r>
              <a:rPr lang="en-US" dirty="0" err="1"/>
              <a:t>mais</a:t>
            </a:r>
            <a:r>
              <a:rPr lang="en-US" dirty="0"/>
              <a:t> </a:t>
            </a:r>
            <a:r>
              <a:rPr lang="en-US" dirty="0" err="1"/>
              <a:t>resolução</a:t>
            </a:r>
            <a:r>
              <a:rPr lang="en-US" dirty="0"/>
              <a:t> </a:t>
            </a:r>
            <a:r>
              <a:rPr lang="en-US" dirty="0" err="1"/>
              <a:t>espacial</a:t>
            </a:r>
            <a:r>
              <a:rPr lang="en-US" dirty="0"/>
              <a:t> e </a:t>
            </a:r>
            <a:r>
              <a:rPr lang="en-US" dirty="0" err="1"/>
              <a:t>informação</a:t>
            </a:r>
            <a:r>
              <a:rPr lang="en-US" dirty="0"/>
              <a:t> de </a:t>
            </a:r>
            <a:r>
              <a:rPr lang="en-US" dirty="0" err="1"/>
              <a:t>localização</a:t>
            </a:r>
            <a:r>
              <a:rPr lang="en-US" dirty="0"/>
              <a:t>.</a:t>
            </a:r>
          </a:p>
          <a:p>
            <a:pPr lvl="0" rtl="0"/>
            <a:r>
              <a:rPr lang="en-US" b="1" dirty="0"/>
              <a:t>Stride grande:</a:t>
            </a:r>
            <a:r>
              <a:rPr lang="en-US" dirty="0"/>
              <a:t> o kernel pula </a:t>
            </a:r>
            <a:r>
              <a:rPr lang="en-US" dirty="0" err="1"/>
              <a:t>posições</a:t>
            </a:r>
            <a:r>
              <a:rPr lang="en-US" dirty="0"/>
              <a:t>, e a </a:t>
            </a:r>
            <a:r>
              <a:rPr lang="en-US" dirty="0" err="1"/>
              <a:t>saída</a:t>
            </a:r>
            <a:r>
              <a:rPr lang="en-US" dirty="0"/>
              <a:t> é </a:t>
            </a:r>
            <a:r>
              <a:rPr lang="en-US" dirty="0" err="1"/>
              <a:t>mais</a:t>
            </a:r>
            <a:r>
              <a:rPr lang="en-US" dirty="0"/>
              <a:t> </a:t>
            </a:r>
            <a:r>
              <a:rPr lang="en-US" dirty="0" err="1"/>
              <a:t>grosseira</a:t>
            </a:r>
            <a:r>
              <a:rPr lang="en-US" dirty="0"/>
              <a:t>. </a:t>
            </a:r>
            <a:r>
              <a:rPr lang="en-US" dirty="0" err="1"/>
              <a:t>Detalhes</a:t>
            </a:r>
            <a:r>
              <a:rPr lang="en-US" dirty="0"/>
              <a:t> </a:t>
            </a:r>
            <a:r>
              <a:rPr lang="en-US" dirty="0" err="1"/>
              <a:t>finos</a:t>
            </a:r>
            <a:r>
              <a:rPr lang="en-US" dirty="0"/>
              <a:t> </a:t>
            </a:r>
            <a:r>
              <a:rPr lang="en-US" dirty="0" err="1"/>
              <a:t>podem</a:t>
            </a:r>
            <a:r>
              <a:rPr lang="en-US" dirty="0"/>
              <a:t> ser </a:t>
            </a:r>
            <a:r>
              <a:rPr lang="en-US" dirty="0" err="1"/>
              <a:t>perdidos</a:t>
            </a:r>
            <a:r>
              <a:rPr lang="en-US" dirty="0"/>
              <a:t> (</a:t>
            </a:r>
            <a:r>
              <a:rPr lang="en-US" dirty="0" err="1"/>
              <a:t>efeito</a:t>
            </a:r>
            <a:r>
              <a:rPr lang="en-US" dirty="0"/>
              <a:t> de </a:t>
            </a:r>
            <a:r>
              <a:rPr lang="en-US" i="1" dirty="0"/>
              <a:t>aliasing</a:t>
            </a:r>
            <a:r>
              <a:rPr lang="en-US" dirty="0"/>
              <a:t>), e a </a:t>
            </a:r>
            <a:r>
              <a:rPr lang="en-US" dirty="0" err="1"/>
              <a:t>localização</a:t>
            </a:r>
            <a:r>
              <a:rPr lang="en-US" dirty="0"/>
              <a:t> </a:t>
            </a:r>
            <a:r>
              <a:rPr lang="en-US" dirty="0" err="1"/>
              <a:t>fica</a:t>
            </a:r>
            <a:r>
              <a:rPr lang="en-US" dirty="0"/>
              <a:t> </a:t>
            </a:r>
            <a:r>
              <a:rPr lang="en-US" dirty="0" err="1"/>
              <a:t>menos</a:t>
            </a:r>
            <a:r>
              <a:rPr lang="en-US" dirty="0"/>
              <a:t> </a:t>
            </a:r>
            <a:r>
              <a:rPr lang="en-US" dirty="0" err="1"/>
              <a:t>precisa</a:t>
            </a:r>
            <a:r>
              <a:rPr lang="en-US" dirty="0"/>
              <a:t>.</a:t>
            </a:r>
          </a:p>
          <a:p>
            <a:pPr lvl="0" rtl="0"/>
            <a:endParaRPr lang="en-US" dirty="0"/>
          </a:p>
          <a:p>
            <a:pPr lvl="0" rtl="0"/>
            <a:r>
              <a:rPr lang="pt-BR" sz="1600" b="1" noProof="0" dirty="0"/>
              <a:t>Quanto maior o stride, menor o nível de detalhe</a:t>
            </a:r>
            <a:endParaRPr lang="en-US" sz="1600" b="1" dirty="0"/>
          </a:p>
          <a:p>
            <a:endParaRPr lang="pt-BR" dirty="0"/>
          </a:p>
          <a:p>
            <a:r>
              <a:rPr lang="pt-BR" dirty="0"/>
              <a:t>Referências</a:t>
            </a:r>
          </a:p>
          <a:p>
            <a:r>
              <a:rPr lang="pt-BR" dirty="0"/>
              <a:t>[1] http://d2l.ai/chapter_convolutional-neural-networks/conv-layer.html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37</a:t>
            </a:fld>
            <a:endParaRPr lang="pt-BR"/>
          </a:p>
        </p:txBody>
      </p:sp>
    </p:spTree>
    <p:extLst>
      <p:ext uri="{BB962C8B-B14F-4D97-AF65-F5344CB8AC3E}">
        <p14:creationId xmlns:p14="http://schemas.microsoft.com/office/powerpoint/2010/main" val="39747044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86018-3AC2-D8BF-F61C-98BF54CDCE5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1B86E25-C733-F00E-2902-83B5D6D6AABB}"/>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3F273BE8-B07A-317C-4EAC-657A5DFD4A94}"/>
              </a:ext>
            </a:extLst>
          </p:cNvPr>
          <p:cNvSpPr>
            <a:spLocks noGrp="1"/>
          </p:cNvSpPr>
          <p:nvPr>
            <p:ph type="body" idx="1"/>
          </p:nvPr>
        </p:nvSpPr>
        <p:spPr/>
        <p:txBody>
          <a:bodyPr/>
          <a:lstStyle/>
          <a:p>
            <a:r>
              <a:rPr lang="en-US" dirty="0"/>
              <a:t>O stride </a:t>
            </a:r>
            <a:r>
              <a:rPr lang="en-US" dirty="0" err="1"/>
              <a:t>controla</a:t>
            </a:r>
            <a:r>
              <a:rPr lang="en-US" dirty="0"/>
              <a:t> a </a:t>
            </a:r>
            <a:r>
              <a:rPr lang="en-US" b="1" dirty="0" err="1"/>
              <a:t>resolução</a:t>
            </a:r>
            <a:r>
              <a:rPr lang="en-US" b="1" dirty="0"/>
              <a:t> </a:t>
            </a:r>
            <a:r>
              <a:rPr lang="en-US" b="1" dirty="0" err="1"/>
              <a:t>espacial</a:t>
            </a:r>
            <a:r>
              <a:rPr lang="en-US" dirty="0"/>
              <a:t> (e a </a:t>
            </a:r>
            <a:r>
              <a:rPr lang="en-US" dirty="0" err="1"/>
              <a:t>quantidade</a:t>
            </a:r>
            <a:r>
              <a:rPr lang="en-US" dirty="0"/>
              <a:t> de </a:t>
            </a:r>
            <a:r>
              <a:rPr lang="en-US" dirty="0" err="1"/>
              <a:t>detalhe</a:t>
            </a:r>
            <a:r>
              <a:rPr lang="en-US" dirty="0"/>
              <a:t> </a:t>
            </a:r>
            <a:r>
              <a:rPr lang="en-US" dirty="0" err="1"/>
              <a:t>preservado</a:t>
            </a:r>
            <a:r>
              <a:rPr lang="en-US" dirty="0"/>
              <a:t>) </a:t>
            </a:r>
            <a:r>
              <a:rPr lang="en-US" dirty="0" err="1"/>
              <a:t>em</a:t>
            </a:r>
            <a:r>
              <a:rPr lang="en-US" dirty="0"/>
              <a:t> </a:t>
            </a:r>
            <a:r>
              <a:rPr lang="en-US" dirty="0" err="1"/>
              <a:t>troca</a:t>
            </a:r>
            <a:r>
              <a:rPr lang="en-US" dirty="0"/>
              <a:t> de </a:t>
            </a:r>
            <a:r>
              <a:rPr lang="en-US" dirty="0" err="1"/>
              <a:t>custo</a:t>
            </a:r>
            <a:r>
              <a:rPr lang="en-US" dirty="0"/>
              <a:t> </a:t>
            </a:r>
            <a:r>
              <a:rPr lang="en-US" dirty="0" err="1"/>
              <a:t>computacional</a:t>
            </a:r>
            <a:r>
              <a:rPr lang="en-US" dirty="0"/>
              <a:t>.</a:t>
            </a:r>
            <a:endParaRPr lang="pt-BR" dirty="0"/>
          </a:p>
          <a:p>
            <a:endParaRPr lang="pt-BR" dirty="0"/>
          </a:p>
          <a:p>
            <a:r>
              <a:rPr lang="pt-BR" dirty="0"/>
              <a:t>Referências</a:t>
            </a:r>
          </a:p>
          <a:p>
            <a:r>
              <a:rPr lang="pt-BR" dirty="0"/>
              <a:t>[1] http://d2l.ai/chapter_convolutional-neural-networks/conv-layer.html</a:t>
            </a:r>
          </a:p>
        </p:txBody>
      </p:sp>
      <p:sp>
        <p:nvSpPr>
          <p:cNvPr id="4" name="Espaço Reservado para Número de Slide 3">
            <a:extLst>
              <a:ext uri="{FF2B5EF4-FFF2-40B4-BE49-F238E27FC236}">
                <a16:creationId xmlns:a16="http://schemas.microsoft.com/office/drawing/2014/main" id="{FF9DFED9-07CB-1299-72FB-DFEA3B5A5C43}"/>
              </a:ext>
            </a:extLst>
          </p:cNvPr>
          <p:cNvSpPr>
            <a:spLocks noGrp="1"/>
          </p:cNvSpPr>
          <p:nvPr>
            <p:ph type="sldNum" sz="quarter" idx="5"/>
          </p:nvPr>
        </p:nvSpPr>
        <p:spPr/>
        <p:txBody>
          <a:bodyPr/>
          <a:lstStyle/>
          <a:p>
            <a:fld id="{6FC8D850-966F-45A6-8DE7-15B891E7D40D}" type="slidenum">
              <a:rPr lang="pt-BR" smtClean="0"/>
              <a:t>38</a:t>
            </a:fld>
            <a:endParaRPr lang="pt-BR"/>
          </a:p>
        </p:txBody>
      </p:sp>
    </p:spTree>
    <p:extLst>
      <p:ext uri="{BB962C8B-B14F-4D97-AF65-F5344CB8AC3E}">
        <p14:creationId xmlns:p14="http://schemas.microsoft.com/office/powerpoint/2010/main" val="10156021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Em CNN:</a:t>
            </a:r>
          </a:p>
          <a:p>
            <a:r>
              <a:rPr lang="pt-BR" dirty="0"/>
              <a:t>cada filtro aprende um padrão específico </a:t>
            </a:r>
          </a:p>
          <a:p>
            <a:r>
              <a:rPr lang="pt-BR" dirty="0"/>
              <a:t>incluindo </a:t>
            </a:r>
            <a:r>
              <a:rPr lang="pt-BR" b="1" dirty="0"/>
              <a:t>orientação</a:t>
            </a:r>
            <a:r>
              <a:rPr lang="pt-BR" dirty="0"/>
              <a:t> </a:t>
            </a:r>
          </a:p>
          <a:p>
            <a:r>
              <a:rPr lang="pt-BR" dirty="0"/>
              <a:t>📌 Resultado:</a:t>
            </a:r>
          </a:p>
          <a:p>
            <a:r>
              <a:rPr lang="pt-BR" dirty="0"/>
              <a:t>um filtro que detecta uma borda vertical não detecta a mesma borda rotacionada</a:t>
            </a:r>
          </a:p>
          <a:p>
            <a:endParaRPr lang="pt-BR" dirty="0"/>
          </a:p>
        </p:txBody>
      </p:sp>
      <p:sp>
        <p:nvSpPr>
          <p:cNvPr id="4" name="Espaço Reservado para Número de Slide 3"/>
          <p:cNvSpPr>
            <a:spLocks noGrp="1"/>
          </p:cNvSpPr>
          <p:nvPr>
            <p:ph type="sldNum" sz="quarter" idx="10"/>
          </p:nvPr>
        </p:nvSpPr>
        <p:spPr/>
        <p:txBody>
          <a:bodyPr/>
          <a:lstStyle/>
          <a:p>
            <a:fld id="{6FC8D850-966F-45A6-8DE7-15B891E7D40D}" type="slidenum">
              <a:rPr lang="pt-BR" smtClean="0"/>
              <a:t>40</a:t>
            </a:fld>
            <a:endParaRPr lang="pt-BR"/>
          </a:p>
        </p:txBody>
      </p:sp>
    </p:spTree>
    <p:extLst>
      <p:ext uri="{BB962C8B-B14F-4D97-AF65-F5344CB8AC3E}">
        <p14:creationId xmlns:p14="http://schemas.microsoft.com/office/powerpoint/2010/main" val="30659936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noProof="0" dirty="0">
                <a:effectLst/>
                <a:latin typeface="Roboto" panose="02000000000000000000" pitchFamily="2" charset="0"/>
              </a:rPr>
              <a:t>As regiões do mapa de características com linhas verticais ficam altamente ativadas, ao contrário de outras regiões.</a:t>
            </a:r>
          </a:p>
          <a:p>
            <a:endParaRPr lang="pt-BR" b="0" i="0" noProof="0" dirty="0">
              <a:effectLst/>
              <a:latin typeface="Roboto" panose="02000000000000000000" pitchFamily="2" charset="0"/>
            </a:endParaRPr>
          </a:p>
          <a:p>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convolutional</a:t>
            </a:r>
            <a:r>
              <a:rPr lang="pt-BR" b="0" i="0" noProof="0" dirty="0">
                <a:effectLst/>
                <a:latin typeface="Roboto" panose="02000000000000000000" pitchFamily="2" charset="0"/>
              </a:rPr>
              <a:t> </a:t>
            </a:r>
            <a:r>
              <a:rPr lang="pt-BR" b="0" i="0" noProof="0" dirty="0" err="1">
                <a:effectLst/>
                <a:latin typeface="Roboto" panose="02000000000000000000" pitchFamily="2" charset="0"/>
              </a:rPr>
              <a:t>layer</a:t>
            </a:r>
            <a:r>
              <a:rPr lang="pt-BR" b="0" i="0" noProof="0" dirty="0">
                <a:effectLst/>
                <a:latin typeface="Roboto" panose="02000000000000000000" pitchFamily="2" charset="0"/>
              </a:rPr>
              <a:t> output </a:t>
            </a:r>
            <a:r>
              <a:rPr lang="pt-BR" b="0" i="0" noProof="0" dirty="0" err="1">
                <a:effectLst/>
                <a:latin typeface="Roboto" panose="02000000000000000000" pitchFamily="2" charset="0"/>
              </a:rPr>
              <a:t>is</a:t>
            </a:r>
            <a:r>
              <a:rPr lang="pt-BR" b="0" i="0" noProof="0" dirty="0">
                <a:effectLst/>
                <a:latin typeface="Roboto" panose="02000000000000000000" pitchFamily="2" charset="0"/>
              </a:rPr>
              <a:t> </a:t>
            </a:r>
            <a:r>
              <a:rPr lang="pt-BR" b="0" i="0" noProof="0" dirty="0" err="1">
                <a:effectLst/>
                <a:latin typeface="Roboto" panose="02000000000000000000" pitchFamily="2" charset="0"/>
              </a:rPr>
              <a:t>sometimes</a:t>
            </a:r>
            <a:r>
              <a:rPr lang="pt-BR" b="0" i="0" noProof="0" dirty="0">
                <a:effectLst/>
                <a:latin typeface="Roboto" panose="02000000000000000000" pitchFamily="2" charset="0"/>
              </a:rPr>
              <a:t> </a:t>
            </a:r>
            <a:r>
              <a:rPr lang="pt-BR" b="0" i="0" noProof="0" dirty="0" err="1">
                <a:effectLst/>
                <a:latin typeface="Roboto" panose="02000000000000000000" pitchFamily="2" charset="0"/>
              </a:rPr>
              <a:t>called</a:t>
            </a:r>
            <a:r>
              <a:rPr lang="pt-BR" b="0" i="0" noProof="0" dirty="0">
                <a:effectLst/>
                <a:latin typeface="Roboto" panose="02000000000000000000" pitchFamily="2" charset="0"/>
              </a:rPr>
              <a:t> a </a:t>
            </a:r>
            <a:r>
              <a:rPr lang="pt-BR" b="0" i="1" noProof="0" dirty="0">
                <a:effectLst/>
                <a:latin typeface="Roboto" panose="02000000000000000000" pitchFamily="2" charset="0"/>
              </a:rPr>
              <a:t>feature </a:t>
            </a:r>
            <a:r>
              <a:rPr lang="pt-BR" b="0" i="1" noProof="0" dirty="0" err="1">
                <a:effectLst/>
                <a:latin typeface="Roboto" panose="02000000000000000000" pitchFamily="2" charset="0"/>
              </a:rPr>
              <a:t>map</a:t>
            </a:r>
            <a:r>
              <a:rPr lang="pt-BR" b="0" i="0" noProof="0" dirty="0">
                <a:effectLst/>
                <a:latin typeface="Roboto" panose="02000000000000000000" pitchFamily="2" charset="0"/>
              </a:rPr>
              <a:t>, as it </a:t>
            </a:r>
            <a:r>
              <a:rPr lang="pt-BR" b="0" i="0" noProof="0" dirty="0" err="1">
                <a:effectLst/>
                <a:latin typeface="Roboto" panose="02000000000000000000" pitchFamily="2" charset="0"/>
              </a:rPr>
              <a:t>can</a:t>
            </a:r>
            <a:r>
              <a:rPr lang="pt-BR" b="0" i="0" noProof="0" dirty="0">
                <a:effectLst/>
                <a:latin typeface="Roboto" panose="02000000000000000000" pitchFamily="2" charset="0"/>
              </a:rPr>
              <a:t> </a:t>
            </a:r>
            <a:r>
              <a:rPr lang="pt-BR" b="0" i="0" noProof="0" dirty="0" err="1">
                <a:effectLst/>
                <a:latin typeface="Roboto" panose="02000000000000000000" pitchFamily="2" charset="0"/>
              </a:rPr>
              <a:t>be</a:t>
            </a:r>
            <a:r>
              <a:rPr lang="pt-BR" b="0" i="0" noProof="0" dirty="0">
                <a:effectLst/>
                <a:latin typeface="Roboto" panose="02000000000000000000" pitchFamily="2" charset="0"/>
              </a:rPr>
              <a:t> </a:t>
            </a:r>
            <a:r>
              <a:rPr lang="pt-BR" b="0" i="0" noProof="0" dirty="0" err="1">
                <a:effectLst/>
                <a:latin typeface="Roboto" panose="02000000000000000000" pitchFamily="2" charset="0"/>
              </a:rPr>
              <a:t>regarded</a:t>
            </a:r>
            <a:r>
              <a:rPr lang="pt-BR" b="0" i="0" noProof="0" dirty="0">
                <a:effectLst/>
                <a:latin typeface="Roboto" panose="02000000000000000000" pitchFamily="2" charset="0"/>
              </a:rPr>
              <a:t> as </a:t>
            </a:r>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learned</a:t>
            </a:r>
            <a:r>
              <a:rPr lang="pt-BR" b="0" i="0" noProof="0" dirty="0">
                <a:effectLst/>
                <a:latin typeface="Roboto" panose="02000000000000000000" pitchFamily="2" charset="0"/>
              </a:rPr>
              <a:t> </a:t>
            </a:r>
            <a:r>
              <a:rPr lang="pt-BR" b="0" i="0" noProof="0" dirty="0" err="1">
                <a:effectLst/>
                <a:latin typeface="Roboto" panose="02000000000000000000" pitchFamily="2" charset="0"/>
              </a:rPr>
              <a:t>representations</a:t>
            </a:r>
            <a:r>
              <a:rPr lang="pt-BR" b="0" i="0" noProof="0" dirty="0">
                <a:effectLst/>
                <a:latin typeface="Roboto" panose="02000000000000000000" pitchFamily="2" charset="0"/>
              </a:rPr>
              <a:t> (features) in </a:t>
            </a:r>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spatial</a:t>
            </a:r>
            <a:r>
              <a:rPr lang="pt-BR" b="0" i="0" noProof="0" dirty="0">
                <a:effectLst/>
                <a:latin typeface="Roboto" panose="02000000000000000000" pitchFamily="2" charset="0"/>
              </a:rPr>
              <a:t> </a:t>
            </a:r>
            <a:r>
              <a:rPr lang="pt-BR" b="0" i="0" noProof="0" dirty="0" err="1">
                <a:effectLst/>
                <a:latin typeface="Roboto" panose="02000000000000000000" pitchFamily="2" charset="0"/>
              </a:rPr>
              <a:t>dimensions</a:t>
            </a:r>
            <a:r>
              <a:rPr lang="pt-BR" b="0" i="0" noProof="0" dirty="0">
                <a:effectLst/>
                <a:latin typeface="Roboto" panose="02000000000000000000" pitchFamily="2" charset="0"/>
              </a:rPr>
              <a:t> (e.g., </a:t>
            </a:r>
            <a:r>
              <a:rPr lang="pt-BR" b="0" i="0" noProof="0" dirty="0" err="1">
                <a:effectLst/>
                <a:latin typeface="Roboto" panose="02000000000000000000" pitchFamily="2" charset="0"/>
              </a:rPr>
              <a:t>width</a:t>
            </a:r>
            <a:r>
              <a:rPr lang="pt-BR" b="0" i="0" noProof="0" dirty="0">
                <a:effectLst/>
                <a:latin typeface="Roboto" panose="02000000000000000000" pitchFamily="2" charset="0"/>
              </a:rPr>
              <a:t> </a:t>
            </a:r>
            <a:r>
              <a:rPr lang="pt-BR" b="0" i="0" noProof="0" dirty="0" err="1">
                <a:effectLst/>
                <a:latin typeface="Roboto" panose="02000000000000000000" pitchFamily="2" charset="0"/>
              </a:rPr>
              <a:t>and</a:t>
            </a:r>
            <a:r>
              <a:rPr lang="pt-BR" b="0" i="0" noProof="0" dirty="0">
                <a:effectLst/>
                <a:latin typeface="Roboto" panose="02000000000000000000" pitchFamily="2" charset="0"/>
              </a:rPr>
              <a:t> </a:t>
            </a:r>
            <a:r>
              <a:rPr lang="pt-BR" b="0" i="0" noProof="0" dirty="0" err="1">
                <a:effectLst/>
                <a:latin typeface="Roboto" panose="02000000000000000000" pitchFamily="2" charset="0"/>
              </a:rPr>
              <a:t>height</a:t>
            </a:r>
            <a:r>
              <a:rPr lang="pt-BR" b="0" i="0" noProof="0" dirty="0">
                <a:effectLst/>
                <a:latin typeface="Roboto" panose="02000000000000000000" pitchFamily="2" charset="0"/>
              </a:rPr>
              <a:t>) </a:t>
            </a:r>
            <a:r>
              <a:rPr lang="pt-BR" b="0" i="0" noProof="0" dirty="0" err="1">
                <a:effectLst/>
                <a:latin typeface="Roboto" panose="02000000000000000000" pitchFamily="2" charset="0"/>
              </a:rPr>
              <a:t>to</a:t>
            </a:r>
            <a:r>
              <a:rPr lang="pt-BR" b="0" i="0" noProof="0" dirty="0">
                <a:effectLst/>
                <a:latin typeface="Roboto" panose="02000000000000000000" pitchFamily="2" charset="0"/>
              </a:rPr>
              <a:t> </a:t>
            </a:r>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subsequent</a:t>
            </a:r>
            <a:r>
              <a:rPr lang="pt-BR" b="0" i="0" noProof="0" dirty="0">
                <a:effectLst/>
                <a:latin typeface="Roboto" panose="02000000000000000000" pitchFamily="2" charset="0"/>
              </a:rPr>
              <a:t> </a:t>
            </a:r>
            <a:r>
              <a:rPr lang="pt-BR" b="0" i="0" noProof="0" dirty="0" err="1">
                <a:effectLst/>
                <a:latin typeface="Roboto" panose="02000000000000000000" pitchFamily="2" charset="0"/>
              </a:rPr>
              <a:t>layer</a:t>
            </a:r>
            <a:r>
              <a:rPr lang="pt-BR" b="0" i="0" noProof="0" dirty="0">
                <a:effectLst/>
                <a:latin typeface="Roboto" panose="02000000000000000000" pitchFamily="2" charset="0"/>
              </a:rPr>
              <a:t>. In CNNs, for </a:t>
            </a:r>
            <a:r>
              <a:rPr lang="pt-BR" b="0" i="0" noProof="0" dirty="0" err="1">
                <a:effectLst/>
                <a:latin typeface="Roboto" panose="02000000000000000000" pitchFamily="2" charset="0"/>
              </a:rPr>
              <a:t>any</a:t>
            </a:r>
            <a:r>
              <a:rPr lang="pt-BR" b="0" i="0" noProof="0" dirty="0">
                <a:effectLst/>
                <a:latin typeface="Roboto" panose="02000000000000000000" pitchFamily="2" charset="0"/>
              </a:rPr>
              <a:t> </a:t>
            </a:r>
            <a:r>
              <a:rPr lang="pt-BR" b="0" i="0" noProof="0" dirty="0" err="1">
                <a:effectLst/>
                <a:latin typeface="Roboto" panose="02000000000000000000" pitchFamily="2" charset="0"/>
              </a:rPr>
              <a:t>element</a:t>
            </a:r>
            <a:r>
              <a:rPr lang="pt-BR" b="0" i="0" noProof="0" dirty="0">
                <a:effectLst/>
                <a:latin typeface="Roboto" panose="02000000000000000000" pitchFamily="2" charset="0"/>
              </a:rPr>
              <a:t> x </a:t>
            </a:r>
            <a:r>
              <a:rPr lang="pt-BR" b="0" i="0" noProof="0" dirty="0" err="1">
                <a:effectLst/>
                <a:latin typeface="Roboto" panose="02000000000000000000" pitchFamily="2" charset="0"/>
              </a:rPr>
              <a:t>of</a:t>
            </a:r>
            <a:r>
              <a:rPr lang="pt-BR" b="0" i="0" noProof="0" dirty="0">
                <a:effectLst/>
                <a:latin typeface="Roboto" panose="02000000000000000000" pitchFamily="2" charset="0"/>
              </a:rPr>
              <a:t> some </a:t>
            </a:r>
            <a:r>
              <a:rPr lang="pt-BR" b="0" i="0" noProof="0" dirty="0" err="1">
                <a:effectLst/>
                <a:latin typeface="Roboto" panose="02000000000000000000" pitchFamily="2" charset="0"/>
              </a:rPr>
              <a:t>layer</a:t>
            </a:r>
            <a:r>
              <a:rPr lang="pt-BR" b="0" i="0" noProof="0" dirty="0">
                <a:effectLst/>
                <a:latin typeface="Roboto" panose="02000000000000000000" pitchFamily="2" charset="0"/>
              </a:rPr>
              <a:t>, its </a:t>
            </a:r>
            <a:r>
              <a:rPr lang="pt-BR" b="0" i="1" noProof="0" dirty="0" err="1">
                <a:effectLst/>
                <a:latin typeface="Roboto" panose="02000000000000000000" pitchFamily="2" charset="0"/>
              </a:rPr>
              <a:t>receptive</a:t>
            </a:r>
            <a:r>
              <a:rPr lang="pt-BR" b="0" i="1" noProof="0" dirty="0">
                <a:effectLst/>
                <a:latin typeface="Roboto" panose="02000000000000000000" pitchFamily="2" charset="0"/>
              </a:rPr>
              <a:t> </a:t>
            </a:r>
            <a:r>
              <a:rPr lang="pt-BR" b="0" i="1" noProof="0" dirty="0" err="1">
                <a:effectLst/>
                <a:latin typeface="Roboto" panose="02000000000000000000" pitchFamily="2" charset="0"/>
              </a:rPr>
              <a:t>field</a:t>
            </a:r>
            <a:r>
              <a:rPr lang="pt-BR" b="0" i="0" noProof="0" dirty="0">
                <a:effectLst/>
                <a:latin typeface="Roboto" panose="02000000000000000000" pitchFamily="2" charset="0"/>
              </a:rPr>
              <a:t> </a:t>
            </a:r>
            <a:r>
              <a:rPr lang="pt-BR" b="0" i="0" noProof="0" dirty="0" err="1">
                <a:effectLst/>
                <a:latin typeface="Roboto" panose="02000000000000000000" pitchFamily="2" charset="0"/>
              </a:rPr>
              <a:t>refers</a:t>
            </a:r>
            <a:r>
              <a:rPr lang="pt-BR" b="0" i="0" noProof="0" dirty="0">
                <a:effectLst/>
                <a:latin typeface="Roboto" panose="02000000000000000000" pitchFamily="2" charset="0"/>
              </a:rPr>
              <a:t> </a:t>
            </a:r>
            <a:r>
              <a:rPr lang="pt-BR" b="0" i="0" noProof="0" dirty="0" err="1">
                <a:effectLst/>
                <a:latin typeface="Roboto" panose="02000000000000000000" pitchFamily="2" charset="0"/>
              </a:rPr>
              <a:t>to</a:t>
            </a:r>
            <a:r>
              <a:rPr lang="pt-BR" b="0" i="0" noProof="0" dirty="0">
                <a:effectLst/>
                <a:latin typeface="Roboto" panose="02000000000000000000" pitchFamily="2" charset="0"/>
              </a:rPr>
              <a:t> </a:t>
            </a:r>
            <a:r>
              <a:rPr lang="pt-BR" b="0" i="0" noProof="0" dirty="0" err="1">
                <a:effectLst/>
                <a:latin typeface="Roboto" panose="02000000000000000000" pitchFamily="2" charset="0"/>
              </a:rPr>
              <a:t>all</a:t>
            </a:r>
            <a:r>
              <a:rPr lang="pt-BR" b="0" i="0" noProof="0" dirty="0">
                <a:effectLst/>
                <a:latin typeface="Roboto" panose="02000000000000000000" pitchFamily="2" charset="0"/>
              </a:rPr>
              <a:t> </a:t>
            </a:r>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elements</a:t>
            </a:r>
            <a:r>
              <a:rPr lang="pt-BR" b="0" i="0" noProof="0" dirty="0">
                <a:effectLst/>
                <a:latin typeface="Roboto" panose="02000000000000000000" pitchFamily="2" charset="0"/>
              </a:rPr>
              <a:t> (</a:t>
            </a:r>
            <a:r>
              <a:rPr lang="pt-BR" b="0" i="0" noProof="0" dirty="0" err="1">
                <a:effectLst/>
                <a:latin typeface="Roboto" panose="02000000000000000000" pitchFamily="2" charset="0"/>
              </a:rPr>
              <a:t>from</a:t>
            </a:r>
            <a:r>
              <a:rPr lang="pt-BR" b="0" i="0" noProof="0" dirty="0">
                <a:effectLst/>
                <a:latin typeface="Roboto" panose="02000000000000000000" pitchFamily="2" charset="0"/>
              </a:rPr>
              <a:t> </a:t>
            </a:r>
            <a:r>
              <a:rPr lang="pt-BR" b="0" i="0" noProof="0" dirty="0" err="1">
                <a:effectLst/>
                <a:latin typeface="Roboto" panose="02000000000000000000" pitchFamily="2" charset="0"/>
              </a:rPr>
              <a:t>all</a:t>
            </a:r>
            <a:r>
              <a:rPr lang="pt-BR" b="0" i="0" noProof="0" dirty="0">
                <a:effectLst/>
                <a:latin typeface="Roboto" panose="02000000000000000000" pitchFamily="2" charset="0"/>
              </a:rPr>
              <a:t> </a:t>
            </a:r>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previous</a:t>
            </a:r>
            <a:r>
              <a:rPr lang="pt-BR" b="0" i="0" noProof="0" dirty="0">
                <a:effectLst/>
                <a:latin typeface="Roboto" panose="02000000000000000000" pitchFamily="2" charset="0"/>
              </a:rPr>
              <a:t> </a:t>
            </a:r>
            <a:r>
              <a:rPr lang="pt-BR" b="0" i="0" noProof="0" dirty="0" err="1">
                <a:effectLst/>
                <a:latin typeface="Roboto" panose="02000000000000000000" pitchFamily="2" charset="0"/>
              </a:rPr>
              <a:t>layers</a:t>
            </a:r>
            <a:r>
              <a:rPr lang="pt-BR" b="0" i="0" noProof="0" dirty="0">
                <a:effectLst/>
                <a:latin typeface="Roboto" panose="02000000000000000000" pitchFamily="2" charset="0"/>
              </a:rPr>
              <a:t>) </a:t>
            </a:r>
            <a:r>
              <a:rPr lang="pt-BR" b="0" i="0" noProof="0" dirty="0" err="1">
                <a:effectLst/>
                <a:latin typeface="Roboto" panose="02000000000000000000" pitchFamily="2" charset="0"/>
              </a:rPr>
              <a:t>that</a:t>
            </a:r>
            <a:r>
              <a:rPr lang="pt-BR" b="0" i="0" noProof="0" dirty="0">
                <a:effectLst/>
                <a:latin typeface="Roboto" panose="02000000000000000000" pitchFamily="2" charset="0"/>
              </a:rPr>
              <a:t> </a:t>
            </a:r>
            <a:r>
              <a:rPr lang="pt-BR" b="0" i="0" noProof="0" dirty="0" err="1">
                <a:effectLst/>
                <a:latin typeface="Roboto" panose="02000000000000000000" pitchFamily="2" charset="0"/>
              </a:rPr>
              <a:t>may</a:t>
            </a:r>
            <a:r>
              <a:rPr lang="pt-BR" b="0" i="0" noProof="0" dirty="0">
                <a:effectLst/>
                <a:latin typeface="Roboto" panose="02000000000000000000" pitchFamily="2" charset="0"/>
              </a:rPr>
              <a:t> </a:t>
            </a:r>
            <a:r>
              <a:rPr lang="pt-BR" b="0" i="0" noProof="0" dirty="0" err="1">
                <a:effectLst/>
                <a:latin typeface="Roboto" panose="02000000000000000000" pitchFamily="2" charset="0"/>
              </a:rPr>
              <a:t>affect</a:t>
            </a:r>
            <a:r>
              <a:rPr lang="pt-BR" b="0" i="0" noProof="0" dirty="0">
                <a:effectLst/>
                <a:latin typeface="Roboto" panose="02000000000000000000" pitchFamily="2" charset="0"/>
              </a:rPr>
              <a:t> </a:t>
            </a:r>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calculation</a:t>
            </a:r>
            <a:r>
              <a:rPr lang="pt-BR" b="0" i="0" noProof="0" dirty="0">
                <a:effectLst/>
                <a:latin typeface="Roboto" panose="02000000000000000000" pitchFamily="2" charset="0"/>
              </a:rPr>
              <a:t> </a:t>
            </a:r>
            <a:r>
              <a:rPr lang="pt-BR" b="0" i="0" noProof="0" dirty="0" err="1">
                <a:effectLst/>
                <a:latin typeface="Roboto" panose="02000000000000000000" pitchFamily="2" charset="0"/>
              </a:rPr>
              <a:t>of</a:t>
            </a:r>
            <a:r>
              <a:rPr lang="pt-BR" b="0" i="0" noProof="0" dirty="0">
                <a:effectLst/>
                <a:latin typeface="Roboto" panose="02000000000000000000" pitchFamily="2" charset="0"/>
              </a:rPr>
              <a:t> x </a:t>
            </a:r>
            <a:r>
              <a:rPr lang="pt-BR" b="0" i="0" noProof="0" dirty="0" err="1">
                <a:effectLst/>
                <a:latin typeface="Roboto" panose="02000000000000000000" pitchFamily="2" charset="0"/>
              </a:rPr>
              <a:t>during</a:t>
            </a:r>
            <a:r>
              <a:rPr lang="pt-BR" b="0" i="0" noProof="0" dirty="0">
                <a:effectLst/>
                <a:latin typeface="Roboto" panose="02000000000000000000" pitchFamily="2" charset="0"/>
              </a:rPr>
              <a:t> </a:t>
            </a:r>
            <a:r>
              <a:rPr lang="pt-BR" b="0" i="0" noProof="0" dirty="0" err="1">
                <a:effectLst/>
                <a:latin typeface="Roboto" panose="02000000000000000000" pitchFamily="2" charset="0"/>
              </a:rPr>
              <a:t>the</a:t>
            </a:r>
            <a:r>
              <a:rPr lang="pt-BR" b="0" i="0" noProof="0" dirty="0">
                <a:effectLst/>
                <a:latin typeface="Roboto" panose="02000000000000000000" pitchFamily="2" charset="0"/>
              </a:rPr>
              <a:t> </a:t>
            </a:r>
            <a:r>
              <a:rPr lang="pt-BR" b="0" i="0" noProof="0" dirty="0" err="1">
                <a:effectLst/>
                <a:latin typeface="Roboto" panose="02000000000000000000" pitchFamily="2" charset="0"/>
              </a:rPr>
              <a:t>forward</a:t>
            </a:r>
            <a:r>
              <a:rPr lang="pt-BR" b="0" i="0" noProof="0" dirty="0">
                <a:effectLst/>
                <a:latin typeface="Roboto" panose="02000000000000000000" pitchFamily="2" charset="0"/>
              </a:rPr>
              <a:t> </a:t>
            </a:r>
            <a:r>
              <a:rPr lang="pt-BR" b="0" i="0" noProof="0" dirty="0" err="1">
                <a:effectLst/>
                <a:latin typeface="Roboto" panose="02000000000000000000" pitchFamily="2" charset="0"/>
              </a:rPr>
              <a:t>propagation</a:t>
            </a:r>
            <a:r>
              <a:rPr lang="pt-BR" b="0" i="0" noProof="0" dirty="0">
                <a:effectLst/>
                <a:latin typeface="Roboto" panose="02000000000000000000" pitchFamily="2" charset="0"/>
              </a:rPr>
              <a:t>.</a:t>
            </a:r>
            <a:endParaRPr lang="pt-BR" noProof="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41</a:t>
            </a:fld>
            <a:endParaRPr lang="pt-BR"/>
          </a:p>
        </p:txBody>
      </p:sp>
    </p:spTree>
    <p:extLst>
      <p:ext uri="{BB962C8B-B14F-4D97-AF65-F5344CB8AC3E}">
        <p14:creationId xmlns:p14="http://schemas.microsoft.com/office/powerpoint/2010/main" val="3343546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en-US" b="0" i="0" dirty="0">
                <a:effectLst/>
                <a:latin typeface="Roboto" panose="02000000000000000000" pitchFamily="2" charset="0"/>
              </a:rPr>
              <a:t>the convolutional layer output is sometimes called a </a:t>
            </a:r>
            <a:r>
              <a:rPr lang="en-US" b="0" i="1" dirty="0">
                <a:effectLst/>
                <a:latin typeface="Roboto" panose="02000000000000000000" pitchFamily="2" charset="0"/>
              </a:rPr>
              <a:t>feature map</a:t>
            </a:r>
            <a:r>
              <a:rPr lang="en-US" b="0" i="0" dirty="0">
                <a:effectLst/>
                <a:latin typeface="Roboto" panose="02000000000000000000" pitchFamily="2" charset="0"/>
              </a:rPr>
              <a:t>, as it can be regarded as the learned representations (features) in the spatial dimensions (e.g., width and height) to the subsequent layer. In CNNs, for any element x of some layer, its </a:t>
            </a:r>
            <a:r>
              <a:rPr lang="en-US" b="0" i="1" dirty="0">
                <a:effectLst/>
                <a:latin typeface="Roboto" panose="02000000000000000000" pitchFamily="2" charset="0"/>
              </a:rPr>
              <a:t>receptive field</a:t>
            </a:r>
            <a:r>
              <a:rPr lang="en-US" b="0" i="0" dirty="0">
                <a:effectLst/>
                <a:latin typeface="Roboto" panose="02000000000000000000" pitchFamily="2" charset="0"/>
              </a:rPr>
              <a:t> refers to all the elements (from all the previous layers) that may affect the calculation of x during the forward propagation.</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42</a:t>
            </a:fld>
            <a:endParaRPr lang="pt-BR"/>
          </a:p>
        </p:txBody>
      </p:sp>
    </p:spTree>
    <p:extLst>
      <p:ext uri="{BB962C8B-B14F-4D97-AF65-F5344CB8AC3E}">
        <p14:creationId xmlns:p14="http://schemas.microsoft.com/office/powerpoint/2010/main" val="654983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Empilhamento ou concatenação dos mapas de ativação de todos os kernels da camada</a:t>
            </a:r>
          </a:p>
          <a:p>
            <a:endParaRPr lang="pt-BR" dirty="0"/>
          </a:p>
          <a:p>
            <a:r>
              <a:rPr lang="pt-BR" dirty="0"/>
              <a:t>Referências</a:t>
            </a:r>
          </a:p>
          <a:p>
            <a:endParaRPr lang="pt-BR" dirty="0"/>
          </a:p>
          <a:p>
            <a:r>
              <a:rPr lang="pt-BR" dirty="0"/>
              <a:t>[1] https://datahacker.rs/one-layer-covolutional-neural-network/</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47</a:t>
            </a:fld>
            <a:endParaRPr lang="pt-BR"/>
          </a:p>
        </p:txBody>
      </p:sp>
    </p:spTree>
    <p:extLst>
      <p:ext uri="{BB962C8B-B14F-4D97-AF65-F5344CB8AC3E}">
        <p14:creationId xmlns:p14="http://schemas.microsoft.com/office/powerpoint/2010/main" val="713317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Referências</a:t>
            </a:r>
          </a:p>
          <a:p>
            <a:endParaRPr lang="pt-BR" dirty="0"/>
          </a:p>
          <a:p>
            <a:r>
              <a:rPr lang="pt-BR" dirty="0"/>
              <a:t>[1] https://courses.cs.washington.edu/courses/cse416/22su/lectures/10/lecture_10.pdf</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49</a:t>
            </a:fld>
            <a:endParaRPr lang="pt-BR"/>
          </a:p>
        </p:txBody>
      </p:sp>
    </p:spTree>
    <p:extLst>
      <p:ext uri="{BB962C8B-B14F-4D97-AF65-F5344CB8AC3E}">
        <p14:creationId xmlns:p14="http://schemas.microsoft.com/office/powerpoint/2010/main" val="3286683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8204D-B7D3-CB93-E40E-B4E3B7152B9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58CBB61-875B-ED13-428D-72088EE0CF8F}"/>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5210B4C2-F534-1C81-08C2-6BAF6EE284B8}"/>
              </a:ext>
            </a:extLst>
          </p:cNvPr>
          <p:cNvSpPr>
            <a:spLocks noGrp="1"/>
          </p:cNvSpPr>
          <p:nvPr>
            <p:ph type="body" idx="1"/>
          </p:nvPr>
        </p:nvSpPr>
        <p:spPr/>
        <p:txBody>
          <a:bodyPr/>
          <a:lstStyle/>
          <a:p>
            <a:r>
              <a:rPr lang="pt-BR" dirty="0" err="1"/>
              <a:t>pooling</a:t>
            </a:r>
            <a:r>
              <a:rPr lang="pt-BR" dirty="0"/>
              <a:t> NÃO torna a rede invariante à rotação.</a:t>
            </a:r>
            <a:endParaRPr lang="pt-BR" b="1" dirty="0"/>
          </a:p>
          <a:p>
            <a:endParaRPr lang="pt-BR" b="1" dirty="0"/>
          </a:p>
          <a:p>
            <a:r>
              <a:rPr lang="pt-BR" b="1" dirty="0"/>
              <a:t>⚙️ Por que o </a:t>
            </a:r>
            <a:r>
              <a:rPr lang="pt-BR" b="1" dirty="0" err="1"/>
              <a:t>pooling</a:t>
            </a:r>
            <a:r>
              <a:rPr lang="pt-BR" b="1" dirty="0"/>
              <a:t> cria essa invariância?</a:t>
            </a:r>
          </a:p>
          <a:p>
            <a:r>
              <a:rPr lang="pt-BR" dirty="0"/>
              <a:t>A chave está aqui:</a:t>
            </a:r>
          </a:p>
          <a:p>
            <a:r>
              <a:rPr lang="pt-BR" b="1" dirty="0"/>
              <a:t>🔹 O </a:t>
            </a:r>
            <a:r>
              <a:rPr lang="pt-BR" b="1" dirty="0" err="1"/>
              <a:t>pooling</a:t>
            </a:r>
            <a:r>
              <a:rPr lang="pt-BR" b="1" dirty="0"/>
              <a:t> “ignora a posição exata dentro da janela”</a:t>
            </a:r>
          </a:p>
          <a:p>
            <a:r>
              <a:rPr lang="pt-BR" dirty="0"/>
              <a:t>Ele só pergunta:</a:t>
            </a:r>
          </a:p>
          <a:p>
            <a:r>
              <a:rPr lang="pt-BR" dirty="0"/>
              <a:t>“Qual é o maior valor aqui?” (</a:t>
            </a:r>
            <a:r>
              <a:rPr lang="pt-BR" dirty="0" err="1"/>
              <a:t>max</a:t>
            </a:r>
            <a:r>
              <a:rPr lang="pt-BR" dirty="0"/>
              <a:t> </a:t>
            </a:r>
            <a:r>
              <a:rPr lang="pt-BR" dirty="0" err="1"/>
              <a:t>pooling</a:t>
            </a:r>
            <a:r>
              <a:rPr lang="pt-BR" dirty="0"/>
              <a:t>)</a:t>
            </a:r>
          </a:p>
          <a:p>
            <a:r>
              <a:rPr lang="pt-BR" dirty="0"/>
              <a:t>ou “Qual é a média aqui?” (</a:t>
            </a:r>
            <a:r>
              <a:rPr lang="pt-BR" dirty="0" err="1"/>
              <a:t>avg</a:t>
            </a:r>
            <a:r>
              <a:rPr lang="pt-BR" dirty="0"/>
              <a:t> </a:t>
            </a:r>
            <a:r>
              <a:rPr lang="pt-BR" dirty="0" err="1"/>
              <a:t>pooling</a:t>
            </a:r>
            <a:r>
              <a:rPr lang="pt-BR" dirty="0"/>
              <a:t>)</a:t>
            </a:r>
          </a:p>
          <a:p>
            <a:r>
              <a:rPr lang="pt-BR" dirty="0"/>
              <a:t>👉 Não importa se o padrão está:</a:t>
            </a:r>
          </a:p>
          <a:p>
            <a:r>
              <a:rPr lang="pt-BR" dirty="0"/>
              <a:t>no canto esquerdo</a:t>
            </a:r>
          </a:p>
          <a:p>
            <a:r>
              <a:rPr lang="pt-BR" dirty="0"/>
              <a:t>no centro</a:t>
            </a:r>
          </a:p>
          <a:p>
            <a:r>
              <a:rPr lang="pt-BR" dirty="0"/>
              <a:t>no canto direito</a:t>
            </a:r>
          </a:p>
          <a:p>
            <a:r>
              <a:rPr lang="pt-BR" dirty="0"/>
              <a:t>👉 Desde que esteja </a:t>
            </a:r>
            <a:r>
              <a:rPr lang="pt-BR" b="1" dirty="0"/>
              <a:t>dentro da janela</a:t>
            </a:r>
            <a:r>
              <a:rPr lang="pt-BR" dirty="0"/>
              <a:t>, o resultado pode ser o mesmo</a:t>
            </a:r>
          </a:p>
          <a:p>
            <a:r>
              <a:rPr lang="pt-BR" dirty="0"/>
              <a:t>Isso faz com que:</a:t>
            </a:r>
          </a:p>
          <a:p>
            <a:r>
              <a:rPr lang="pt-BR" dirty="0"/>
              <a:t>pequenas mudanças espaciais não alterem muito a saída</a:t>
            </a:r>
          </a:p>
          <a:p>
            <a:r>
              <a:rPr lang="pt-BR" dirty="0"/>
              <a:t>📌 Por isso dizemos que ele torna a representação </a:t>
            </a:r>
            <a:r>
              <a:rPr lang="pt-BR" b="1" dirty="0"/>
              <a:t>aproximadamente invariante a pequenas translações</a:t>
            </a:r>
            <a:endParaRPr lang="pt-BR" dirty="0"/>
          </a:p>
          <a:p>
            <a:endParaRPr lang="pt-BR" dirty="0"/>
          </a:p>
          <a:p>
            <a:endParaRPr lang="pt-BR" dirty="0"/>
          </a:p>
          <a:p>
            <a:r>
              <a:rPr lang="pt-BR" dirty="0"/>
              <a:t>Referências</a:t>
            </a:r>
          </a:p>
          <a:p>
            <a:endParaRPr lang="pt-BR" dirty="0"/>
          </a:p>
          <a:p>
            <a:r>
              <a:rPr lang="pt-BR" dirty="0"/>
              <a:t>[1] https://courses.cs.washington.edu/courses/cse416/22su/lectures/10/lecture_10.pdf</a:t>
            </a:r>
          </a:p>
        </p:txBody>
      </p:sp>
      <p:sp>
        <p:nvSpPr>
          <p:cNvPr id="4" name="Espaço Reservado para Número de Slide 3">
            <a:extLst>
              <a:ext uri="{FF2B5EF4-FFF2-40B4-BE49-F238E27FC236}">
                <a16:creationId xmlns:a16="http://schemas.microsoft.com/office/drawing/2014/main" id="{2F973CB1-458F-E9FB-D83B-DB83D0ED9E8C}"/>
              </a:ext>
            </a:extLst>
          </p:cNvPr>
          <p:cNvSpPr>
            <a:spLocks noGrp="1"/>
          </p:cNvSpPr>
          <p:nvPr>
            <p:ph type="sldNum" sz="quarter" idx="5"/>
          </p:nvPr>
        </p:nvSpPr>
        <p:spPr/>
        <p:txBody>
          <a:bodyPr/>
          <a:lstStyle/>
          <a:p>
            <a:fld id="{6FC8D850-966F-45A6-8DE7-15B891E7D40D}" type="slidenum">
              <a:rPr lang="pt-BR" smtClean="0"/>
              <a:t>50</a:t>
            </a:fld>
            <a:endParaRPr lang="pt-BR"/>
          </a:p>
        </p:txBody>
      </p:sp>
    </p:spTree>
    <p:extLst>
      <p:ext uri="{BB962C8B-B14F-4D97-AF65-F5344CB8AC3E}">
        <p14:creationId xmlns:p14="http://schemas.microsoft.com/office/powerpoint/2010/main" val="13585659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DDD92-4A56-B373-7E56-5DFA5F1F4CB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CE21C55-9883-C91A-ED04-C20DA8056AF5}"/>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1C79975A-1861-16A8-B741-A6657BACD12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0" noProof="0" dirty="0">
                <a:effectLst/>
              </a:rPr>
              <a:t>Além disso, ela </a:t>
            </a:r>
            <a:r>
              <a:rPr lang="pt-BR" b="1" noProof="0" dirty="0">
                <a:solidFill>
                  <a:srgbClr val="00B050"/>
                </a:solidFill>
                <a:effectLst/>
              </a:rPr>
              <a:t>ajuda a tornar a rede </a:t>
            </a:r>
            <a:r>
              <a:rPr lang="pt-BR" b="1" noProof="0" dirty="0">
                <a:solidFill>
                  <a:schemeClr val="accent2"/>
                </a:solidFill>
                <a:effectLst/>
              </a:rPr>
              <a:t>mais robusta a </a:t>
            </a:r>
            <a:r>
              <a:rPr lang="pt-BR" b="1" noProof="0" dirty="0">
                <a:solidFill>
                  <a:schemeClr val="accent1"/>
                </a:solidFill>
                <a:effectLst/>
              </a:rPr>
              <a:t>pequenas</a:t>
            </a:r>
            <a:r>
              <a:rPr lang="pt-BR" b="1" noProof="0" dirty="0">
                <a:solidFill>
                  <a:schemeClr val="accent2"/>
                </a:solidFill>
                <a:effectLst/>
              </a:rPr>
              <a:t> mudanças na posição</a:t>
            </a:r>
            <a:r>
              <a:rPr lang="pt-BR" b="1" noProof="0" dirty="0">
                <a:solidFill>
                  <a:srgbClr val="00B050"/>
                </a:solidFill>
                <a:effectLst/>
              </a:rPr>
              <a:t> das características</a:t>
            </a:r>
            <a:r>
              <a:rPr lang="pt-BR" noProof="0" dirty="0">
                <a:solidFill>
                  <a:srgbClr val="00B050"/>
                </a:solidFill>
              </a:rPr>
              <a:t>.</a:t>
            </a:r>
            <a:endParaRPr lang="pt-BR" b="0" noProof="0" dirty="0">
              <a:effectLst/>
            </a:endParaRPr>
          </a:p>
          <a:p>
            <a:endParaRPr lang="pt-BR" b="1" dirty="0"/>
          </a:p>
          <a:p>
            <a:r>
              <a:rPr lang="en-US" dirty="0"/>
              <a:t>A rede </a:t>
            </a:r>
            <a:r>
              <a:rPr lang="en-US" dirty="0" err="1"/>
              <a:t>fica</a:t>
            </a:r>
            <a:r>
              <a:rPr lang="en-US" dirty="0"/>
              <a:t> </a:t>
            </a:r>
            <a:r>
              <a:rPr lang="en-US" dirty="0" err="1"/>
              <a:t>menos</a:t>
            </a:r>
            <a:r>
              <a:rPr lang="en-US" dirty="0"/>
              <a:t> </a:t>
            </a:r>
            <a:r>
              <a:rPr lang="en-US" dirty="0" err="1"/>
              <a:t>sensível</a:t>
            </a:r>
            <a:r>
              <a:rPr lang="en-US" dirty="0"/>
              <a:t> à </a:t>
            </a:r>
            <a:r>
              <a:rPr lang="en-US" dirty="0" err="1"/>
              <a:t>posição</a:t>
            </a:r>
            <a:r>
              <a:rPr lang="en-US" dirty="0"/>
              <a:t> </a:t>
            </a:r>
            <a:r>
              <a:rPr lang="en-US" dirty="0" err="1"/>
              <a:t>exata</a:t>
            </a:r>
            <a:r>
              <a:rPr lang="en-US" dirty="0"/>
              <a:t> do </a:t>
            </a:r>
            <a:r>
              <a:rPr lang="en-US" dirty="0" err="1"/>
              <a:t>padrão</a:t>
            </a:r>
            <a:r>
              <a:rPr lang="en-US" dirty="0"/>
              <a:t>.</a:t>
            </a:r>
            <a:endParaRPr lang="pt-BR" b="1" dirty="0"/>
          </a:p>
          <a:p>
            <a:endParaRPr lang="pt-BR" b="1" dirty="0"/>
          </a:p>
          <a:p>
            <a:r>
              <a:rPr lang="pt-BR" b="1" dirty="0"/>
              <a:t>⚙️ Por que o </a:t>
            </a:r>
            <a:r>
              <a:rPr lang="pt-BR" b="1" dirty="0" err="1"/>
              <a:t>pooling</a:t>
            </a:r>
            <a:r>
              <a:rPr lang="pt-BR" b="1" dirty="0"/>
              <a:t> cria essa invariância?</a:t>
            </a:r>
          </a:p>
          <a:p>
            <a:r>
              <a:rPr lang="pt-BR" dirty="0"/>
              <a:t>A chave está aqui:</a:t>
            </a:r>
          </a:p>
          <a:p>
            <a:r>
              <a:rPr lang="pt-BR" b="1" dirty="0"/>
              <a:t>🔹 O </a:t>
            </a:r>
            <a:r>
              <a:rPr lang="pt-BR" b="1" dirty="0" err="1"/>
              <a:t>pooling</a:t>
            </a:r>
            <a:r>
              <a:rPr lang="pt-BR" b="1" dirty="0"/>
              <a:t> “ignora a posição exata dentro da janela”</a:t>
            </a:r>
          </a:p>
          <a:p>
            <a:r>
              <a:rPr lang="pt-BR" dirty="0"/>
              <a:t>Ele só pergunta:</a:t>
            </a:r>
          </a:p>
          <a:p>
            <a:r>
              <a:rPr lang="pt-BR" dirty="0"/>
              <a:t>“Qual é o maior valor aqui?” (</a:t>
            </a:r>
            <a:r>
              <a:rPr lang="pt-BR" dirty="0" err="1"/>
              <a:t>max</a:t>
            </a:r>
            <a:r>
              <a:rPr lang="pt-BR" dirty="0"/>
              <a:t> </a:t>
            </a:r>
            <a:r>
              <a:rPr lang="pt-BR" dirty="0" err="1"/>
              <a:t>pooling</a:t>
            </a:r>
            <a:r>
              <a:rPr lang="pt-BR" dirty="0"/>
              <a:t>)</a:t>
            </a:r>
          </a:p>
          <a:p>
            <a:r>
              <a:rPr lang="pt-BR" dirty="0"/>
              <a:t>ou “Qual é a média aqui?” (</a:t>
            </a:r>
            <a:r>
              <a:rPr lang="pt-BR" dirty="0" err="1"/>
              <a:t>avg</a:t>
            </a:r>
            <a:r>
              <a:rPr lang="pt-BR" dirty="0"/>
              <a:t> </a:t>
            </a:r>
            <a:r>
              <a:rPr lang="pt-BR" dirty="0" err="1"/>
              <a:t>pooling</a:t>
            </a:r>
            <a:r>
              <a:rPr lang="pt-BR" dirty="0"/>
              <a:t>)</a:t>
            </a:r>
          </a:p>
          <a:p>
            <a:r>
              <a:rPr lang="pt-BR" dirty="0"/>
              <a:t>👉 Não importa se o padrão está:</a:t>
            </a:r>
          </a:p>
          <a:p>
            <a:r>
              <a:rPr lang="pt-BR" dirty="0"/>
              <a:t>no canto esquerdo</a:t>
            </a:r>
          </a:p>
          <a:p>
            <a:r>
              <a:rPr lang="pt-BR" dirty="0"/>
              <a:t>no centro</a:t>
            </a:r>
          </a:p>
          <a:p>
            <a:r>
              <a:rPr lang="pt-BR" dirty="0"/>
              <a:t>no canto direito</a:t>
            </a:r>
          </a:p>
          <a:p>
            <a:r>
              <a:rPr lang="pt-BR" dirty="0"/>
              <a:t>👉 Desde que esteja </a:t>
            </a:r>
            <a:r>
              <a:rPr lang="pt-BR" b="1" dirty="0"/>
              <a:t>dentro da janela</a:t>
            </a:r>
            <a:r>
              <a:rPr lang="pt-BR" dirty="0"/>
              <a:t>, o resultado pode ser o mesmo</a:t>
            </a:r>
          </a:p>
          <a:p>
            <a:r>
              <a:rPr lang="pt-BR" dirty="0"/>
              <a:t>Isso faz com que:</a:t>
            </a:r>
          </a:p>
          <a:p>
            <a:r>
              <a:rPr lang="pt-BR" dirty="0"/>
              <a:t>pequenas mudanças espaciais não alterem muito a saída</a:t>
            </a:r>
          </a:p>
          <a:p>
            <a:r>
              <a:rPr lang="pt-BR" dirty="0"/>
              <a:t>📌 Por isso dizemos que ele torna a representação </a:t>
            </a:r>
            <a:r>
              <a:rPr lang="pt-BR" b="1" dirty="0"/>
              <a:t>aproximadamente invariante a pequenas translações</a:t>
            </a:r>
            <a:endParaRPr lang="pt-BR" dirty="0"/>
          </a:p>
          <a:p>
            <a:endParaRPr lang="pt-BR" dirty="0"/>
          </a:p>
          <a:p>
            <a:endParaRPr lang="pt-BR" dirty="0"/>
          </a:p>
          <a:p>
            <a:r>
              <a:rPr lang="pt-BR" dirty="0"/>
              <a:t>Referências</a:t>
            </a:r>
          </a:p>
          <a:p>
            <a:endParaRPr lang="pt-BR" dirty="0"/>
          </a:p>
          <a:p>
            <a:r>
              <a:rPr lang="pt-BR" dirty="0"/>
              <a:t>[1] https://courses.cs.washington.edu/courses/cse416/22su/lectures/10/lecture_10.pdf</a:t>
            </a:r>
          </a:p>
        </p:txBody>
      </p:sp>
      <p:sp>
        <p:nvSpPr>
          <p:cNvPr id="4" name="Espaço Reservado para Número de Slide 3">
            <a:extLst>
              <a:ext uri="{FF2B5EF4-FFF2-40B4-BE49-F238E27FC236}">
                <a16:creationId xmlns:a16="http://schemas.microsoft.com/office/drawing/2014/main" id="{9996389E-F565-0B86-9A11-118EBD8E4A43}"/>
              </a:ext>
            </a:extLst>
          </p:cNvPr>
          <p:cNvSpPr>
            <a:spLocks noGrp="1"/>
          </p:cNvSpPr>
          <p:nvPr>
            <p:ph type="sldNum" sz="quarter" idx="5"/>
          </p:nvPr>
        </p:nvSpPr>
        <p:spPr/>
        <p:txBody>
          <a:bodyPr/>
          <a:lstStyle/>
          <a:p>
            <a:fld id="{6FC8D850-966F-45A6-8DE7-15B891E7D40D}" type="slidenum">
              <a:rPr lang="pt-BR" smtClean="0"/>
              <a:t>51</a:t>
            </a:fld>
            <a:endParaRPr lang="pt-BR"/>
          </a:p>
        </p:txBody>
      </p:sp>
    </p:spTree>
    <p:extLst>
      <p:ext uri="{BB962C8B-B14F-4D97-AF65-F5344CB8AC3E}">
        <p14:creationId xmlns:p14="http://schemas.microsoft.com/office/powerpoint/2010/main" val="9406060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O </a:t>
            </a:r>
            <a:r>
              <a:rPr lang="pt-BR" dirty="0" err="1"/>
              <a:t>max</a:t>
            </a:r>
            <a:r>
              <a:rPr lang="pt-BR" dirty="0"/>
              <a:t> </a:t>
            </a:r>
            <a:r>
              <a:rPr lang="pt-BR" dirty="0" err="1"/>
              <a:t>pooling</a:t>
            </a:r>
            <a:r>
              <a:rPr lang="pt-BR" dirty="0"/>
              <a:t> </a:t>
            </a:r>
            <a:r>
              <a:rPr lang="pt-BR" b="1" dirty="0">
                <a:solidFill>
                  <a:srgbClr val="00B050"/>
                </a:solidFill>
              </a:rPr>
              <a:t>compacta</a:t>
            </a:r>
            <a:r>
              <a:rPr lang="pt-BR" dirty="0"/>
              <a:t> os dados </a:t>
            </a:r>
            <a:r>
              <a:rPr lang="pt-BR" b="1" dirty="0">
                <a:solidFill>
                  <a:srgbClr val="00B050"/>
                </a:solidFill>
              </a:rPr>
              <a:t>sem perder os padrões mais importantes</a:t>
            </a:r>
            <a:r>
              <a:rPr lang="pt-BR" dirty="0"/>
              <a:t>.</a:t>
            </a:r>
          </a:p>
          <a:p>
            <a:endParaRPr lang="pt-BR" dirty="0"/>
          </a:p>
          <a:p>
            <a:r>
              <a:rPr lang="pt-BR" dirty="0"/>
              <a:t>O </a:t>
            </a:r>
            <a:r>
              <a:rPr lang="pt-BR" dirty="0" err="1"/>
              <a:t>max</a:t>
            </a:r>
            <a:r>
              <a:rPr lang="pt-BR" dirty="0"/>
              <a:t> </a:t>
            </a:r>
            <a:r>
              <a:rPr lang="pt-BR" dirty="0" err="1"/>
              <a:t>pooling</a:t>
            </a:r>
            <a:r>
              <a:rPr lang="pt-BR" dirty="0"/>
              <a:t> </a:t>
            </a:r>
            <a:r>
              <a:rPr lang="en-US" dirty="0" err="1"/>
              <a:t>preserva</a:t>
            </a:r>
            <a:r>
              <a:rPr lang="en-US" dirty="0"/>
              <a:t> a </a:t>
            </a:r>
            <a:r>
              <a:rPr lang="en-US" dirty="0" err="1"/>
              <a:t>ativação</a:t>
            </a:r>
            <a:r>
              <a:rPr lang="en-US" dirty="0"/>
              <a:t> </a:t>
            </a:r>
            <a:r>
              <a:rPr lang="en-US" dirty="0" err="1"/>
              <a:t>mais</a:t>
            </a:r>
            <a:r>
              <a:rPr lang="en-US" dirty="0"/>
              <a:t> forte, </a:t>
            </a:r>
            <a:r>
              <a:rPr lang="en-US" dirty="0" err="1"/>
              <a:t>ou</a:t>
            </a:r>
            <a:r>
              <a:rPr lang="en-US" dirty="0"/>
              <a:t> </a:t>
            </a:r>
            <a:r>
              <a:rPr lang="en-US" dirty="0" err="1"/>
              <a:t>seja</a:t>
            </a:r>
            <a:r>
              <a:rPr lang="en-US" dirty="0"/>
              <a:t>, "o </a:t>
            </a:r>
            <a:r>
              <a:rPr lang="en-US" dirty="0" err="1"/>
              <a:t>padrão</a:t>
            </a:r>
            <a:r>
              <a:rPr lang="en-US" dirty="0"/>
              <a:t> </a:t>
            </a:r>
            <a:r>
              <a:rPr lang="en-US" dirty="0" err="1"/>
              <a:t>apareceu</a:t>
            </a:r>
            <a:r>
              <a:rPr lang="en-US" dirty="0"/>
              <a:t> </a:t>
            </a:r>
            <a:r>
              <a:rPr lang="en-US" dirty="0" err="1"/>
              <a:t>aqui</a:t>
            </a:r>
            <a:r>
              <a:rPr lang="en-US" dirty="0"/>
              <a:t>". </a:t>
            </a:r>
            <a:endParaRPr lang="pt-BR" dirty="0"/>
          </a:p>
          <a:p>
            <a:endParaRPr lang="pt-BR" dirty="0"/>
          </a:p>
          <a:p>
            <a:r>
              <a:rPr lang="pt-BR" dirty="0"/>
              <a:t>Referências</a:t>
            </a:r>
          </a:p>
          <a:p>
            <a:endParaRPr lang="pt-BR" dirty="0"/>
          </a:p>
          <a:p>
            <a:r>
              <a:rPr lang="pt-BR" dirty="0"/>
              <a:t>[1] https://courses.cs.washington.edu/courses/cse416/22su/lectures/10/lecture_10.pdf</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52</a:t>
            </a:fld>
            <a:endParaRPr lang="pt-BR"/>
          </a:p>
        </p:txBody>
      </p:sp>
    </p:spTree>
    <p:extLst>
      <p:ext uri="{BB962C8B-B14F-4D97-AF65-F5344CB8AC3E}">
        <p14:creationId xmlns:p14="http://schemas.microsoft.com/office/powerpoint/2010/main" val="21551942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lvl="0" rtl="0"/>
            <a:r>
              <a:rPr lang="en-US" dirty="0"/>
              <a:t>A </a:t>
            </a:r>
            <a:r>
              <a:rPr lang="en-US" dirty="0" err="1"/>
              <a:t>imagem</a:t>
            </a:r>
            <a:r>
              <a:rPr lang="en-US" dirty="0"/>
              <a:t> de entrada é um </a:t>
            </a:r>
            <a:r>
              <a:rPr lang="en-US" dirty="0" err="1"/>
              <a:t>mapa</a:t>
            </a:r>
            <a:r>
              <a:rPr lang="en-US" dirty="0"/>
              <a:t> de </a:t>
            </a:r>
            <a:r>
              <a:rPr lang="en-US" dirty="0" err="1"/>
              <a:t>ativações</a:t>
            </a:r>
            <a:r>
              <a:rPr lang="en-US" dirty="0"/>
              <a:t> </a:t>
            </a:r>
            <a:r>
              <a:rPr lang="en-US" dirty="0" err="1"/>
              <a:t>resultado</a:t>
            </a:r>
            <a:r>
              <a:rPr lang="en-US" dirty="0"/>
              <a:t> de um kernel detector de </a:t>
            </a:r>
            <a:r>
              <a:rPr lang="en-US" dirty="0" err="1"/>
              <a:t>bordas</a:t>
            </a:r>
            <a:r>
              <a:rPr lang="en-US" dirty="0"/>
              <a:t>.</a:t>
            </a:r>
          </a:p>
          <a:p>
            <a:pPr lvl="0" rtl="0"/>
            <a:endParaRPr lang="en-US" b="1" dirty="0"/>
          </a:p>
          <a:p>
            <a:pPr lvl="0" rtl="0"/>
            <a:r>
              <a:rPr lang="en-US" b="1" dirty="0" err="1"/>
              <a:t>Preserva</a:t>
            </a:r>
            <a:r>
              <a:rPr lang="en-US" b="1" dirty="0"/>
              <a:t> as </a:t>
            </a:r>
            <a:r>
              <a:rPr lang="en-US" b="1" dirty="0" err="1"/>
              <a:t>respostas</a:t>
            </a:r>
            <a:r>
              <a:rPr lang="en-US" b="1" dirty="0"/>
              <a:t> </a:t>
            </a:r>
            <a:r>
              <a:rPr lang="en-US" b="1" dirty="0" err="1"/>
              <a:t>mais</a:t>
            </a:r>
            <a:r>
              <a:rPr lang="en-US" b="1" dirty="0"/>
              <a:t> fortes:</a:t>
            </a:r>
            <a:r>
              <a:rPr lang="en-US" dirty="0"/>
              <a:t> as </a:t>
            </a:r>
            <a:r>
              <a:rPr lang="en-US" dirty="0" err="1"/>
              <a:t>bordas</a:t>
            </a:r>
            <a:r>
              <a:rPr lang="en-US" dirty="0"/>
              <a:t> do </a:t>
            </a:r>
            <a:r>
              <a:rPr lang="en-US" dirty="0" err="1"/>
              <a:t>cérebro</a:t>
            </a:r>
            <a:r>
              <a:rPr lang="en-US" dirty="0"/>
              <a:t> </a:t>
            </a:r>
            <a:r>
              <a:rPr lang="en-US" dirty="0" err="1"/>
              <a:t>permanecem</a:t>
            </a:r>
            <a:r>
              <a:rPr lang="en-US" dirty="0"/>
              <a:t> </a:t>
            </a:r>
            <a:r>
              <a:rPr lang="en-US" dirty="0" err="1"/>
              <a:t>bem</a:t>
            </a:r>
            <a:r>
              <a:rPr lang="en-US" dirty="0"/>
              <a:t> </a:t>
            </a:r>
            <a:r>
              <a:rPr lang="en-US" dirty="0" err="1"/>
              <a:t>visíveis</a:t>
            </a:r>
            <a:r>
              <a:rPr lang="en-US" dirty="0"/>
              <a:t>.</a:t>
            </a:r>
          </a:p>
          <a:p>
            <a:pPr lvl="0" rtl="0"/>
            <a:r>
              <a:rPr lang="en-US" b="1" dirty="0" err="1"/>
              <a:t>Descarta</a:t>
            </a:r>
            <a:r>
              <a:rPr lang="en-US" b="1" dirty="0"/>
              <a:t> o </a:t>
            </a:r>
            <a:r>
              <a:rPr lang="en-US" b="1" dirty="0" err="1"/>
              <a:t>que</a:t>
            </a:r>
            <a:r>
              <a:rPr lang="en-US" b="1" dirty="0"/>
              <a:t> é </a:t>
            </a:r>
            <a:r>
              <a:rPr lang="en-US" b="1" dirty="0" err="1"/>
              <a:t>fraco</a:t>
            </a:r>
            <a:r>
              <a:rPr lang="en-US" b="1" dirty="0"/>
              <a:t> </a:t>
            </a:r>
            <a:r>
              <a:rPr lang="en-US" b="1" dirty="0" err="1"/>
              <a:t>ou</a:t>
            </a:r>
            <a:r>
              <a:rPr lang="en-US" b="1" dirty="0"/>
              <a:t> </a:t>
            </a:r>
            <a:r>
              <a:rPr lang="en-US" b="1" dirty="0" err="1"/>
              <a:t>muito</a:t>
            </a:r>
            <a:r>
              <a:rPr lang="en-US" b="1" dirty="0"/>
              <a:t> local:</a:t>
            </a:r>
            <a:r>
              <a:rPr lang="en-US" dirty="0"/>
              <a:t> </a:t>
            </a:r>
            <a:r>
              <a:rPr lang="en-US" dirty="0" err="1"/>
              <a:t>ativações</a:t>
            </a:r>
            <a:r>
              <a:rPr lang="en-US" dirty="0"/>
              <a:t> </a:t>
            </a:r>
            <a:r>
              <a:rPr lang="en-US" dirty="0" err="1"/>
              <a:t>que</a:t>
            </a:r>
            <a:r>
              <a:rPr lang="en-US" dirty="0"/>
              <a:t> </a:t>
            </a:r>
            <a:r>
              <a:rPr lang="en-US" dirty="0" err="1"/>
              <a:t>têm</a:t>
            </a:r>
            <a:r>
              <a:rPr lang="en-US" dirty="0"/>
              <a:t> </a:t>
            </a:r>
            <a:r>
              <a:rPr lang="en-US" dirty="0" err="1"/>
              <a:t>baixa</a:t>
            </a:r>
            <a:r>
              <a:rPr lang="en-US" dirty="0"/>
              <a:t> </a:t>
            </a:r>
            <a:r>
              <a:rPr lang="en-US" dirty="0" err="1"/>
              <a:t>intensidade</a:t>
            </a:r>
            <a:r>
              <a:rPr lang="en-US" dirty="0"/>
              <a:t> e a </a:t>
            </a:r>
            <a:r>
              <a:rPr lang="en-US" dirty="0" err="1"/>
              <a:t>posição</a:t>
            </a:r>
            <a:r>
              <a:rPr lang="en-US" dirty="0"/>
              <a:t> </a:t>
            </a:r>
            <a:r>
              <a:rPr lang="en-US" dirty="0" err="1"/>
              <a:t>exata</a:t>
            </a:r>
            <a:r>
              <a:rPr lang="en-US" dirty="0"/>
              <a:t> </a:t>
            </a:r>
            <a:r>
              <a:rPr lang="en-US" dirty="0" err="1"/>
              <a:t>dentro</a:t>
            </a:r>
            <a:r>
              <a:rPr lang="en-US" dirty="0"/>
              <a:t> de </a:t>
            </a:r>
            <a:r>
              <a:rPr lang="en-US" dirty="0" err="1"/>
              <a:t>cada</a:t>
            </a:r>
            <a:r>
              <a:rPr lang="en-US" dirty="0"/>
              <a:t> </a:t>
            </a:r>
            <a:r>
              <a:rPr lang="en-US" dirty="0" err="1"/>
              <a:t>janela</a:t>
            </a:r>
            <a:r>
              <a:rPr lang="en-US" dirty="0"/>
              <a:t>.</a:t>
            </a:r>
          </a:p>
          <a:p>
            <a:endParaRPr lang="pt-BR" dirty="0"/>
          </a:p>
          <a:p>
            <a:endParaRPr lang="pt-BR" dirty="0"/>
          </a:p>
          <a:p>
            <a:r>
              <a:rPr lang="pt-BR" dirty="0"/>
              <a:t>Referências</a:t>
            </a:r>
          </a:p>
          <a:p>
            <a:r>
              <a:rPr lang="pt-BR" dirty="0"/>
              <a:t>[1] https://mriquestions.com/convolutional-network.html</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53</a:t>
            </a:fld>
            <a:endParaRPr lang="pt-BR"/>
          </a:p>
        </p:txBody>
      </p:sp>
    </p:spTree>
    <p:extLst>
      <p:ext uri="{BB962C8B-B14F-4D97-AF65-F5344CB8AC3E}">
        <p14:creationId xmlns:p14="http://schemas.microsoft.com/office/powerpoint/2010/main" val="21508936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t>OBS</a:t>
            </a:r>
            <a:r>
              <a:rPr lang="pt-BR" sz="1200" dirty="0"/>
              <a:t>.: assume-se uma configuração de preenchimento que mantém o tamanho espacial dos dados em camadas convolucionais.</a:t>
            </a:r>
          </a:p>
          <a:p>
            <a:endParaRPr lang="pt-BR" dirty="0"/>
          </a:p>
          <a:p>
            <a:r>
              <a:rPr lang="pt-BR" dirty="0"/>
              <a:t>Referências</a:t>
            </a:r>
          </a:p>
          <a:p>
            <a:r>
              <a:rPr lang="pt-BR" dirty="0"/>
              <a:t>[1] https://learnopencv.com/understanding-convolutional-neural-networks-cnn/</a:t>
            </a:r>
          </a:p>
          <a:p>
            <a:r>
              <a:rPr lang="pt-BR" dirty="0"/>
              <a:t>[2] https://datahacker.rs/one-layer-covolutional-neural-network/</a:t>
            </a:r>
          </a:p>
          <a:p>
            <a:endParaRPr lang="pt-BR" dirty="0"/>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54</a:t>
            </a:fld>
            <a:endParaRPr lang="pt-BR"/>
          </a:p>
        </p:txBody>
      </p:sp>
    </p:spTree>
    <p:extLst>
      <p:ext uri="{BB962C8B-B14F-4D97-AF65-F5344CB8AC3E}">
        <p14:creationId xmlns:p14="http://schemas.microsoft.com/office/powerpoint/2010/main" val="33156252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281D-CFEA-2DAE-4225-D018A4083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0834C6-F6D9-5E0E-19F7-9B22417494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869493-04FE-318E-C873-861BAD945B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t>OBS</a:t>
            </a:r>
            <a:r>
              <a:rPr lang="pt-BR" sz="1200" dirty="0"/>
              <a:t>.: assume-se uma configuração de preenchimento que mantém o tamanho espacial dos dados em camadas convolucionais.</a:t>
            </a:r>
          </a:p>
          <a:p>
            <a:endParaRPr lang="pt-BR" dirty="0"/>
          </a:p>
          <a:p>
            <a:r>
              <a:rPr lang="pt-BR" dirty="0"/>
              <a:t>Referências</a:t>
            </a:r>
          </a:p>
          <a:p>
            <a:r>
              <a:rPr lang="pt-BR" dirty="0"/>
              <a:t>[1] https://learnopencv.com/understanding-convolutional-neural-networks-cnn/</a:t>
            </a:r>
          </a:p>
          <a:p>
            <a:r>
              <a:rPr lang="pt-BR" dirty="0"/>
              <a:t>[2] https://datahacker.rs/one-layer-covolutional-neural-network/</a:t>
            </a:r>
          </a:p>
          <a:p>
            <a:endParaRPr lang="pt-BR" dirty="0"/>
          </a:p>
          <a:p>
            <a:endParaRPr lang="en-US" dirty="0"/>
          </a:p>
        </p:txBody>
      </p:sp>
      <p:sp>
        <p:nvSpPr>
          <p:cNvPr id="4" name="Slide Number Placeholder 3">
            <a:extLst>
              <a:ext uri="{FF2B5EF4-FFF2-40B4-BE49-F238E27FC236}">
                <a16:creationId xmlns:a16="http://schemas.microsoft.com/office/drawing/2014/main" id="{DBBFC574-80DD-409E-6478-9B71625A3477}"/>
              </a:ext>
            </a:extLst>
          </p:cNvPr>
          <p:cNvSpPr>
            <a:spLocks noGrp="1"/>
          </p:cNvSpPr>
          <p:nvPr>
            <p:ph type="sldNum" sz="quarter" idx="5"/>
          </p:nvPr>
        </p:nvSpPr>
        <p:spPr/>
        <p:txBody>
          <a:bodyPr/>
          <a:lstStyle/>
          <a:p>
            <a:fld id="{6FC8D850-966F-45A6-8DE7-15B891E7D40D}" type="slidenum">
              <a:rPr lang="pt-BR" smtClean="0"/>
              <a:t>55</a:t>
            </a:fld>
            <a:endParaRPr lang="pt-BR"/>
          </a:p>
        </p:txBody>
      </p:sp>
    </p:spTree>
    <p:extLst>
      <p:ext uri="{BB962C8B-B14F-4D97-AF65-F5344CB8AC3E}">
        <p14:creationId xmlns:p14="http://schemas.microsoft.com/office/powerpoint/2010/main" val="286476302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2C2F35"/>
                </a:solidFill>
                <a:effectLst/>
                <a:latin typeface="Trebuchet MS" panose="020B0603020202020204" pitchFamily="34" charset="0"/>
              </a:rPr>
              <a:t>A função piso é definida como uma função que retorna o maior inteiro menor ou igual a </a:t>
            </a:r>
            <a:r>
              <a:rPr lang="pt-BR" b="0" i="1" dirty="0">
                <a:solidFill>
                  <a:srgbClr val="2C2F35"/>
                </a:solidFill>
                <a:effectLst/>
                <a:latin typeface="Trebuchet MS" panose="020B0603020202020204" pitchFamily="34" charset="0"/>
              </a:rPr>
              <a:t>x</a:t>
            </a:r>
            <a:r>
              <a:rPr lang="pt-BR" b="0" i="0" dirty="0">
                <a:solidFill>
                  <a:srgbClr val="2C2F35"/>
                </a:solidFill>
                <a:effectLst/>
                <a:latin typeface="Trebuchet MS" panose="020B0603020202020204" pitchFamily="34" charset="0"/>
              </a:rPr>
              <a:t>.</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56</a:t>
            </a:fld>
            <a:endParaRPr lang="pt-BR"/>
          </a:p>
        </p:txBody>
      </p:sp>
    </p:spTree>
    <p:extLst>
      <p:ext uri="{BB962C8B-B14F-4D97-AF65-F5344CB8AC3E}">
        <p14:creationId xmlns:p14="http://schemas.microsoft.com/office/powerpoint/2010/main" val="35312209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2C2F35"/>
                </a:solidFill>
                <a:effectLst/>
                <a:latin typeface="Trebuchet MS" panose="020B0603020202020204" pitchFamily="34" charset="0"/>
              </a:rPr>
              <a:t>A função piso é definida como uma função que retorna o maior inteiro menor ou igual a </a:t>
            </a:r>
            <a:r>
              <a:rPr lang="pt-BR" b="0" i="1" dirty="0">
                <a:solidFill>
                  <a:srgbClr val="2C2F35"/>
                </a:solidFill>
                <a:effectLst/>
                <a:latin typeface="Trebuchet MS" panose="020B0603020202020204" pitchFamily="34" charset="0"/>
              </a:rPr>
              <a:t>x</a:t>
            </a:r>
            <a:r>
              <a:rPr lang="pt-BR" b="0" i="0" dirty="0">
                <a:solidFill>
                  <a:srgbClr val="2C2F35"/>
                </a:solidFill>
                <a:effectLst/>
                <a:latin typeface="Trebuchet MS" panose="020B0603020202020204" pitchFamily="34" charset="0"/>
              </a:rPr>
              <a:t>.</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57</a:t>
            </a:fld>
            <a:endParaRPr lang="pt-BR"/>
          </a:p>
        </p:txBody>
      </p:sp>
    </p:spTree>
    <p:extLst>
      <p:ext uri="{BB962C8B-B14F-4D97-AF65-F5344CB8AC3E}">
        <p14:creationId xmlns:p14="http://schemas.microsoft.com/office/powerpoint/2010/main" val="2976838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lvl="0" rtl="0"/>
            <a:r>
              <a:rPr lang="en-US" dirty="0"/>
              <a:t>O </a:t>
            </a:r>
            <a:r>
              <a:rPr lang="en-US" i="1" dirty="0"/>
              <a:t>padding</a:t>
            </a:r>
            <a:r>
              <a:rPr lang="en-US" dirty="0"/>
              <a:t> </a:t>
            </a:r>
            <a:r>
              <a:rPr lang="en-US" dirty="0" err="1"/>
              <a:t>adiciona</a:t>
            </a:r>
            <a:r>
              <a:rPr lang="en-US" dirty="0"/>
              <a:t> </a:t>
            </a:r>
            <a:r>
              <a:rPr lang="en-US" dirty="0" err="1"/>
              <a:t>camadas</a:t>
            </a:r>
            <a:r>
              <a:rPr lang="en-US" dirty="0"/>
              <a:t> de </a:t>
            </a:r>
            <a:r>
              <a:rPr lang="en-US" dirty="0" err="1"/>
              <a:t>valores</a:t>
            </a:r>
            <a:r>
              <a:rPr lang="en-US" dirty="0"/>
              <a:t> (</a:t>
            </a:r>
            <a:r>
              <a:rPr lang="en-US" dirty="0" err="1"/>
              <a:t>geralmente</a:t>
            </a:r>
            <a:r>
              <a:rPr lang="en-US" dirty="0"/>
              <a:t> zeros) </a:t>
            </a:r>
            <a:r>
              <a:rPr lang="en-US" dirty="0" err="1"/>
              <a:t>ao</a:t>
            </a:r>
            <a:r>
              <a:rPr lang="en-US" dirty="0"/>
              <a:t> </a:t>
            </a:r>
            <a:r>
              <a:rPr lang="en-US" dirty="0" err="1"/>
              <a:t>redor</a:t>
            </a:r>
            <a:r>
              <a:rPr lang="en-US" dirty="0"/>
              <a:t> da entrada, o </a:t>
            </a:r>
            <a:r>
              <a:rPr lang="en-US" dirty="0" err="1"/>
              <a:t>que</a:t>
            </a:r>
            <a:r>
              <a:rPr lang="en-US" dirty="0"/>
              <a:t>: </a:t>
            </a:r>
            <a:r>
              <a:rPr lang="en-US" b="1" dirty="0" err="1"/>
              <a:t>preserva</a:t>
            </a:r>
            <a:r>
              <a:rPr lang="en-US" b="1" dirty="0"/>
              <a:t> a </a:t>
            </a:r>
            <a:r>
              <a:rPr lang="en-US" b="1" dirty="0" err="1"/>
              <a:t>dimensão</a:t>
            </a:r>
            <a:r>
              <a:rPr lang="en-US" dirty="0"/>
              <a:t> da </a:t>
            </a:r>
            <a:r>
              <a:rPr lang="en-US" dirty="0" err="1"/>
              <a:t>saída</a:t>
            </a:r>
            <a:r>
              <a:rPr lang="en-US" dirty="0"/>
              <a:t>, </a:t>
            </a:r>
            <a:r>
              <a:rPr lang="en-US" dirty="0" err="1"/>
              <a:t>quando</a:t>
            </a:r>
            <a:r>
              <a:rPr lang="en-US" dirty="0"/>
              <a:t> </a:t>
            </a:r>
            <a:r>
              <a:rPr lang="en-US" dirty="0" err="1"/>
              <a:t>desejado</a:t>
            </a:r>
            <a:r>
              <a:rPr lang="en-US" dirty="0"/>
              <a:t>;</a:t>
            </a:r>
          </a:p>
          <a:p>
            <a:pPr lvl="0" rtl="0"/>
            <a:r>
              <a:rPr lang="en-US" dirty="0" err="1"/>
              <a:t>faz</a:t>
            </a:r>
            <a:r>
              <a:rPr lang="en-US" dirty="0"/>
              <a:t> </a:t>
            </a:r>
            <a:r>
              <a:rPr lang="en-US" dirty="0" err="1"/>
              <a:t>os</a:t>
            </a:r>
            <a:r>
              <a:rPr lang="en-US" dirty="0"/>
              <a:t> </a:t>
            </a:r>
            <a:r>
              <a:rPr lang="en-US" i="1" dirty="0"/>
              <a:t>pixels</a:t>
            </a:r>
            <a:r>
              <a:rPr lang="en-US" dirty="0"/>
              <a:t> das </a:t>
            </a:r>
            <a:r>
              <a:rPr lang="en-US" dirty="0" err="1"/>
              <a:t>bordas</a:t>
            </a:r>
            <a:r>
              <a:rPr lang="en-US" dirty="0"/>
              <a:t> </a:t>
            </a:r>
            <a:r>
              <a:rPr lang="en-US" dirty="0" err="1"/>
              <a:t>contribuírem</a:t>
            </a:r>
            <a:r>
              <a:rPr lang="en-US" dirty="0"/>
              <a:t> </a:t>
            </a:r>
            <a:r>
              <a:rPr lang="en-US" b="1" dirty="0"/>
              <a:t>de forma </a:t>
            </a:r>
            <a:r>
              <a:rPr lang="en-US" b="1" dirty="0" err="1"/>
              <a:t>mais</a:t>
            </a:r>
            <a:r>
              <a:rPr lang="en-US" b="1" dirty="0"/>
              <a:t> </a:t>
            </a:r>
            <a:r>
              <a:rPr lang="en-US" b="1" dirty="0" err="1"/>
              <a:t>equilibrada</a:t>
            </a:r>
            <a:r>
              <a:rPr lang="en-US" dirty="0"/>
              <a:t> para a </a:t>
            </a:r>
            <a:r>
              <a:rPr lang="en-US" dirty="0" err="1"/>
              <a:t>extração</a:t>
            </a:r>
            <a:r>
              <a:rPr lang="en-US" dirty="0"/>
              <a:t> de </a:t>
            </a:r>
            <a:r>
              <a:rPr lang="en-US" dirty="0" err="1"/>
              <a:t>características</a:t>
            </a:r>
            <a:r>
              <a:rPr lang="en-US" dirty="0"/>
              <a:t>.</a:t>
            </a:r>
          </a:p>
          <a:p>
            <a:endParaRPr lang="en-US"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58</a:t>
            </a:fld>
            <a:endParaRPr lang="pt-BR"/>
          </a:p>
        </p:txBody>
      </p:sp>
    </p:spTree>
    <p:extLst>
      <p:ext uri="{BB962C8B-B14F-4D97-AF65-F5344CB8AC3E}">
        <p14:creationId xmlns:p14="http://schemas.microsoft.com/office/powerpoint/2010/main" val="40406379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Elas recebem as características extraídas pelas camadas convolucionais como entrada e, em seguida, aprendem a mapear essas características para as classes de destino (no caso da classificação) ou para um valor de destino (no caso da regressão).</a:t>
            </a:r>
            <a:endParaRPr lang="pt-BR" b="1" i="0" dirty="0">
              <a:effectLst/>
              <a:latin typeface="Söhne"/>
            </a:endParaRPr>
          </a:p>
          <a:p>
            <a:r>
              <a:rPr lang="pt-BR" b="1" i="0" dirty="0">
                <a:effectLst/>
                <a:latin typeface="Söhne"/>
              </a:rPr>
              <a:t>Combinação de Características:</a:t>
            </a:r>
            <a:r>
              <a:rPr lang="pt-BR" b="0" i="0" dirty="0">
                <a:solidFill>
                  <a:srgbClr val="374151"/>
                </a:solidFill>
                <a:effectLst/>
                <a:latin typeface="Söhne"/>
              </a:rPr>
              <a:t> As camadas densas têm conexões densas entre todas as unidades de saída das camadas convolucionais e as unidades de saída da camada densa anterior. Isso significa que cada unidade na camada densa pode combinar informações de todas as características extraídas pelas camadas convolucionais, permitindo que a rede aprenda padrões complexos e relações entre essas características.</a:t>
            </a:r>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60</a:t>
            </a:fld>
            <a:endParaRPr lang="pt-BR"/>
          </a:p>
        </p:txBody>
      </p:sp>
    </p:spTree>
    <p:extLst>
      <p:ext uri="{BB962C8B-B14F-4D97-AF65-F5344CB8AC3E}">
        <p14:creationId xmlns:p14="http://schemas.microsoft.com/office/powerpoint/2010/main" val="42458356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b="0" i="0" dirty="0">
                <a:solidFill>
                  <a:srgbClr val="374151"/>
                </a:solidFill>
                <a:effectLst/>
                <a:latin typeface="Söhne"/>
              </a:rPr>
              <a:t>Elas recebem as características extraídas pelas camadas convolucionais como entrada e, em seguida, aprendem a mapear essas características para as classes de destino (no caso da classificação) ou para um valor de destino (no caso da regressão).</a:t>
            </a:r>
            <a:endParaRPr lang="pt-BR" b="1" i="0" dirty="0">
              <a:effectLst/>
              <a:latin typeface="Söhne"/>
            </a:endParaRPr>
          </a:p>
          <a:p>
            <a:r>
              <a:rPr lang="pt-BR" b="1" i="0" dirty="0">
                <a:effectLst/>
                <a:latin typeface="Söhne"/>
              </a:rPr>
              <a:t>Combinação de Características:</a:t>
            </a:r>
            <a:r>
              <a:rPr lang="pt-BR" b="0" i="0" dirty="0">
                <a:solidFill>
                  <a:srgbClr val="374151"/>
                </a:solidFill>
                <a:effectLst/>
                <a:latin typeface="Söhne"/>
              </a:rPr>
              <a:t> As camadas densas têm conexões densas entre todas as unidades de saída das camadas convolucionais e as unidades de saída da camada densa anterior. Isso significa que cada unidade na camada densa pode combinar informações de todas as características extraídas pelas camadas convolucionais, permitindo que a rede aprenda padrões complexos e relações entre essas características.</a:t>
            </a:r>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61</a:t>
            </a:fld>
            <a:endParaRPr lang="pt-BR"/>
          </a:p>
        </p:txBody>
      </p:sp>
    </p:spTree>
    <p:extLst>
      <p:ext uri="{BB962C8B-B14F-4D97-AF65-F5344CB8AC3E}">
        <p14:creationId xmlns:p14="http://schemas.microsoft.com/office/powerpoint/2010/main" val="30052699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50CEE-0A21-E9C8-2E79-E78439D5033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0D106C-C4BF-D660-649E-F59E19709D9F}"/>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358563D8-A3DA-8916-1160-C4097940E5DE}"/>
              </a:ext>
            </a:extLst>
          </p:cNvPr>
          <p:cNvSpPr>
            <a:spLocks noGrp="1"/>
          </p:cNvSpPr>
          <p:nvPr>
            <p:ph type="body" idx="1"/>
          </p:nvPr>
        </p:nvSpPr>
        <p:spPr/>
        <p:txBody>
          <a:bodyPr/>
          <a:lstStyle/>
          <a:p>
            <a:r>
              <a:rPr lang="pt-BR" b="0" i="0" dirty="0">
                <a:solidFill>
                  <a:srgbClr val="374151"/>
                </a:solidFill>
                <a:effectLst/>
                <a:latin typeface="Söhne"/>
              </a:rPr>
              <a:t>Elas recebem as características extraídas pelas camadas convolucionais como entrada e, em seguida, aprendem a mapear essas características para as classes de destino (no caso da classificação) ou para um valor de destino (no caso da regressão).</a:t>
            </a:r>
            <a:endParaRPr lang="pt-BR" b="1" i="0" dirty="0">
              <a:effectLst/>
              <a:latin typeface="Söhne"/>
            </a:endParaRPr>
          </a:p>
          <a:p>
            <a:r>
              <a:rPr lang="pt-BR" b="1" i="0" dirty="0">
                <a:effectLst/>
                <a:latin typeface="Söhne"/>
              </a:rPr>
              <a:t>Combinação de Características:</a:t>
            </a:r>
            <a:r>
              <a:rPr lang="pt-BR" b="0" i="0" dirty="0">
                <a:solidFill>
                  <a:srgbClr val="374151"/>
                </a:solidFill>
                <a:effectLst/>
                <a:latin typeface="Söhne"/>
              </a:rPr>
              <a:t> As camadas densas têm conexões densas entre todas as unidades de saída das camadas convolucionais e as unidades de saída da camada densa anterior. Isso significa que cada unidade na camada densa pode combinar informações de todas as características extraídas pelas camadas convolucionais, permitindo que a rede aprenda padrões complexos e relações entre essas características.</a:t>
            </a:r>
            <a:endParaRPr lang="pt-BR" dirty="0"/>
          </a:p>
          <a:p>
            <a:endParaRPr lang="pt-BR" dirty="0"/>
          </a:p>
        </p:txBody>
      </p:sp>
      <p:sp>
        <p:nvSpPr>
          <p:cNvPr id="4" name="Espaço Reservado para Número de Slide 3">
            <a:extLst>
              <a:ext uri="{FF2B5EF4-FFF2-40B4-BE49-F238E27FC236}">
                <a16:creationId xmlns:a16="http://schemas.microsoft.com/office/drawing/2014/main" id="{CAD84C08-D064-60EA-22BD-EEB30E2E1E96}"/>
              </a:ext>
            </a:extLst>
          </p:cNvPr>
          <p:cNvSpPr>
            <a:spLocks noGrp="1"/>
          </p:cNvSpPr>
          <p:nvPr>
            <p:ph type="sldNum" sz="quarter" idx="5"/>
          </p:nvPr>
        </p:nvSpPr>
        <p:spPr/>
        <p:txBody>
          <a:bodyPr/>
          <a:lstStyle/>
          <a:p>
            <a:fld id="{6FC8D850-966F-45A6-8DE7-15B891E7D40D}" type="slidenum">
              <a:rPr lang="pt-BR" smtClean="0"/>
              <a:t>62</a:t>
            </a:fld>
            <a:endParaRPr lang="pt-BR"/>
          </a:p>
        </p:txBody>
      </p:sp>
    </p:spTree>
    <p:extLst>
      <p:ext uri="{BB962C8B-B14F-4D97-AF65-F5344CB8AC3E}">
        <p14:creationId xmlns:p14="http://schemas.microsoft.com/office/powerpoint/2010/main" val="29484481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9C17-8600-4310-3157-E79E34CF613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6A8DB14-CA55-277E-902D-22B304036A37}"/>
              </a:ext>
            </a:extLst>
          </p:cNvPr>
          <p:cNvSpPr>
            <a:spLocks noGrp="1" noRot="1" noChangeAspect="1"/>
          </p:cNvSpPr>
          <p:nvPr>
            <p:ph type="sldImg"/>
          </p:nvPr>
        </p:nvSpPr>
        <p:spPr/>
        <p:txBody>
          <a:bodyPr/>
          <a:lstStyle/>
          <a:p>
            <a:endParaRPr lang="en-US"/>
          </a:p>
        </p:txBody>
      </p:sp>
      <p:sp>
        <p:nvSpPr>
          <p:cNvPr id="3" name="Espaço Reservado para Anotações 2">
            <a:extLst>
              <a:ext uri="{FF2B5EF4-FFF2-40B4-BE49-F238E27FC236}">
                <a16:creationId xmlns:a16="http://schemas.microsoft.com/office/drawing/2014/main" id="{A9637D80-A7A5-92FC-F5E4-C6DE38F56111}"/>
              </a:ext>
            </a:extLst>
          </p:cNvPr>
          <p:cNvSpPr>
            <a:spLocks noGrp="1"/>
          </p:cNvSpPr>
          <p:nvPr>
            <p:ph type="body" idx="1"/>
          </p:nvPr>
        </p:nvSpPr>
        <p:spPr/>
        <p:txBody>
          <a:bodyPr/>
          <a:lstStyle/>
          <a:p>
            <a:r>
              <a:rPr lang="pt-BR" b="0" i="0" dirty="0">
                <a:solidFill>
                  <a:srgbClr val="374151"/>
                </a:solidFill>
                <a:effectLst/>
                <a:latin typeface="Söhne"/>
              </a:rPr>
              <a:t>Elas recebem as características extraídas pelas camadas convolucionais como entrada e, em seguida, aprendem a mapear essas características para as classes de destino (no caso da classificação) ou para um valor de destino (no caso da regressão).</a:t>
            </a:r>
            <a:endParaRPr lang="pt-BR" b="1" i="0" dirty="0">
              <a:effectLst/>
              <a:latin typeface="Söhne"/>
            </a:endParaRPr>
          </a:p>
          <a:p>
            <a:r>
              <a:rPr lang="pt-BR" b="1" i="0" dirty="0">
                <a:effectLst/>
                <a:latin typeface="Söhne"/>
              </a:rPr>
              <a:t>Combinação de Características:</a:t>
            </a:r>
            <a:r>
              <a:rPr lang="pt-BR" b="0" i="0" dirty="0">
                <a:solidFill>
                  <a:srgbClr val="374151"/>
                </a:solidFill>
                <a:effectLst/>
                <a:latin typeface="Söhne"/>
              </a:rPr>
              <a:t> As camadas densas têm conexões densas entre todas as unidades de saída das camadas convolucionais e as unidades de saída da camada densa anterior. Isso significa que cada unidade na camada densa pode combinar informações de todas as características extraídas pelas camadas convolucionais, permitindo que a rede aprenda padrões complexos e relações entre essas características.</a:t>
            </a:r>
            <a:endParaRPr lang="pt-BR" dirty="0"/>
          </a:p>
          <a:p>
            <a:endParaRPr lang="pt-BR" dirty="0"/>
          </a:p>
        </p:txBody>
      </p:sp>
      <p:sp>
        <p:nvSpPr>
          <p:cNvPr id="4" name="Espaço Reservado para Número de Slide 3">
            <a:extLst>
              <a:ext uri="{FF2B5EF4-FFF2-40B4-BE49-F238E27FC236}">
                <a16:creationId xmlns:a16="http://schemas.microsoft.com/office/drawing/2014/main" id="{DDE78CB7-3392-2A06-B81B-EA555296BB66}"/>
              </a:ext>
            </a:extLst>
          </p:cNvPr>
          <p:cNvSpPr>
            <a:spLocks noGrp="1"/>
          </p:cNvSpPr>
          <p:nvPr>
            <p:ph type="sldNum" sz="quarter" idx="5"/>
          </p:nvPr>
        </p:nvSpPr>
        <p:spPr/>
        <p:txBody>
          <a:bodyPr/>
          <a:lstStyle/>
          <a:p>
            <a:fld id="{6FC8D850-966F-45A6-8DE7-15B891E7D40D}" type="slidenum">
              <a:rPr lang="pt-BR" smtClean="0"/>
              <a:t>63</a:t>
            </a:fld>
            <a:endParaRPr lang="pt-BR"/>
          </a:p>
        </p:txBody>
      </p:sp>
    </p:spTree>
    <p:extLst>
      <p:ext uri="{BB962C8B-B14F-4D97-AF65-F5344CB8AC3E}">
        <p14:creationId xmlns:p14="http://schemas.microsoft.com/office/powerpoint/2010/main" val="17167775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https://colab.research.google.com/github/zz4fap/tp557-iot-ml/blob/master/examples/</a:t>
            </a:r>
            <a:r>
              <a:rPr lang="en-US" dirty="0" err="1"/>
              <a:t>Sobreajuste_e_dropout.ipynb</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Dropout é uma técnica de regularização usada em redes neurais para evitar o sobreajuste (</a:t>
            </a:r>
            <a:r>
              <a:rPr lang="pt-BR" dirty="0" err="1"/>
              <a:t>overfitting</a:t>
            </a:r>
            <a:r>
              <a:rPr lang="pt-BR" dirty="0"/>
              <a:t>). O sobreajuste ocorre quando uma rede neural se torna muito especializada nos dados de treinamento e não generaliza bem para novos dados. O </a:t>
            </a:r>
            <a:r>
              <a:rPr lang="pt-BR" dirty="0" err="1"/>
              <a:t>dropout</a:t>
            </a:r>
            <a:r>
              <a:rPr lang="pt-BR" dirty="0"/>
              <a:t> é uma abordagem eficaz para melhorar a generalização de uma rede neural. Aqui está como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**Desligamento Aleatório de Neurônios**: Durante o treinamento da rede neural, o </a:t>
            </a:r>
            <a:r>
              <a:rPr lang="pt-BR" dirty="0" err="1"/>
              <a:t>dropout</a:t>
            </a:r>
            <a:r>
              <a:rPr lang="pt-BR" dirty="0"/>
              <a:t> envolve aleatoriamente "desligar" ou "descartar" um subconjunto dos neurônios em cada camada. Isso significa que esses neurônios não contribuirão para o cálculo das saídas da rede durante essa iteração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**Taxa de Dropout**: Um </a:t>
            </a:r>
            <a:r>
              <a:rPr lang="pt-BR" dirty="0" err="1"/>
              <a:t>hiperparâmetro</a:t>
            </a:r>
            <a:r>
              <a:rPr lang="pt-BR" dirty="0"/>
              <a:t> chamado "taxa de </a:t>
            </a:r>
            <a:r>
              <a:rPr lang="pt-BR" dirty="0" err="1"/>
              <a:t>dropout</a:t>
            </a:r>
            <a:r>
              <a:rPr lang="pt-BR" dirty="0"/>
              <a:t>" é definido antes do treinamento. Essa taxa determina a probabilidade de um neurônio ser desligado durante cada iteração. Por exemplo, uma taxa de </a:t>
            </a:r>
            <a:r>
              <a:rPr lang="pt-BR" dirty="0" err="1"/>
              <a:t>dropout</a:t>
            </a:r>
            <a:r>
              <a:rPr lang="pt-BR" dirty="0"/>
              <a:t> de 0,5 significa que, em média, metade dos neurônios será desligada em cada iteração.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**Treinamento Estocástico**: O </a:t>
            </a:r>
            <a:r>
              <a:rPr lang="pt-BR" dirty="0" err="1"/>
              <a:t>dropout</a:t>
            </a:r>
            <a:r>
              <a:rPr lang="pt-BR" dirty="0"/>
              <a:t> introduz uma forma de treinamento estocástico, onde a rede não pode depender excessivamente de nenhum neurônio específico. Isso obriga a rede a aprender recursos mais robustos e a generalizar melhor para dados que não foram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a:t>
            </a:r>
            <a:r>
              <a:rPr lang="pt-BR" dirty="0" err="1"/>
              <a:t>Averaging</a:t>
            </a:r>
            <a:r>
              <a:rPr lang="pt-BR" dirty="0"/>
              <a:t> de Múltiplos Modelos**: O </a:t>
            </a:r>
            <a:r>
              <a:rPr lang="pt-BR" dirty="0" err="1"/>
              <a:t>dropout</a:t>
            </a:r>
            <a:r>
              <a:rPr lang="pt-BR" dirty="0"/>
              <a:t> efetivamente treina várias </a:t>
            </a:r>
            <a:r>
              <a:rPr lang="pt-BR" dirty="0" err="1"/>
              <a:t>sub-redes</a:t>
            </a:r>
            <a:r>
              <a:rPr lang="pt-BR" dirty="0"/>
              <a:t> durante o treinamento, já que diferentes subconjuntos de neurônios são desligados a cada iteração. Isso é semelhante a treinar uma série de modelos diferentes e, durante a inferência, os resultados dessas </a:t>
            </a:r>
            <a:r>
              <a:rPr lang="pt-BR" dirty="0" err="1"/>
              <a:t>sub-redes</a:t>
            </a:r>
            <a:r>
              <a:rPr lang="pt-BR" dirty="0"/>
              <a:t> são médios ou ponderados de alguma forma para produzir a saída final da rede.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Benefícios do Dropout: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Reduz o risco de sobreajuste, permitindo que a rede generalize melhor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Ajuda a evitar a dependência excessiva de neurônios individuais, tornando o modelo mais robusto.</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Funciona bem em redes neurais profundas, onde o risco de </a:t>
            </a:r>
            <a:r>
              <a:rPr lang="pt-BR" dirty="0" err="1"/>
              <a:t>overfitting</a:t>
            </a:r>
            <a:r>
              <a:rPr lang="pt-BR" dirty="0"/>
              <a:t> é mais alto.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Embora o </a:t>
            </a:r>
            <a:r>
              <a:rPr lang="pt-BR" dirty="0" err="1"/>
              <a:t>dropout</a:t>
            </a:r>
            <a:r>
              <a:rPr lang="pt-BR" dirty="0"/>
              <a:t> seja uma técnica eficaz de regularização, é importante ajustar a taxa de </a:t>
            </a:r>
            <a:r>
              <a:rPr lang="pt-BR" dirty="0" err="1"/>
              <a:t>dropout</a:t>
            </a:r>
            <a:r>
              <a:rPr lang="pt-BR" dirty="0"/>
              <a:t> adequadamente, pois uma taxa muito alta pode prejudicar o aprendizado, enquanto uma taxa muito baixa pode não fornecer os benefícios desejados. A taxa de </a:t>
            </a:r>
            <a:r>
              <a:rPr lang="pt-BR" dirty="0" err="1"/>
              <a:t>dropout</a:t>
            </a:r>
            <a:r>
              <a:rPr lang="pt-BR" dirty="0"/>
              <a:t> é geralmente escolhida por meio de experimentação e validação cruzada em um conjunto de validação.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67</a:t>
            </a:fld>
            <a:endParaRPr lang="pt-BR"/>
          </a:p>
        </p:txBody>
      </p:sp>
    </p:spTree>
    <p:extLst>
      <p:ext uri="{BB962C8B-B14F-4D97-AF65-F5344CB8AC3E}">
        <p14:creationId xmlns:p14="http://schemas.microsoft.com/office/powerpoint/2010/main" val="15682553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Heuristicamente: de forma simplista, intuitiva, </a:t>
            </a:r>
            <a:r>
              <a:rPr lang="pt-BR" b="0" i="0" dirty="0">
                <a:solidFill>
                  <a:srgbClr val="1F1F1F"/>
                </a:solidFill>
                <a:effectLst/>
                <a:latin typeface="Google Sans"/>
              </a:rPr>
              <a:t>analogia aproximada, mas não perfeita.</a:t>
            </a:r>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68</a:t>
            </a:fld>
            <a:endParaRPr lang="pt-BR"/>
          </a:p>
        </p:txBody>
      </p:sp>
    </p:spTree>
    <p:extLst>
      <p:ext uri="{BB962C8B-B14F-4D97-AF65-F5344CB8AC3E}">
        <p14:creationId xmlns:p14="http://schemas.microsoft.com/office/powerpoint/2010/main" val="7164358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O</a:t>
            </a:r>
            <a:r>
              <a:rPr lang="pt-BR" b="0" dirty="0">
                <a:effectLst/>
              </a:rPr>
              <a:t>s </a:t>
            </a:r>
            <a:r>
              <a:rPr lang="pt-BR" b="1" dirty="0">
                <a:solidFill>
                  <a:srgbClr val="00B050"/>
                </a:solidFill>
                <a:effectLst/>
              </a:rPr>
              <a:t>resultados das redes são ponderados </a:t>
            </a:r>
            <a:r>
              <a:rPr lang="pt-BR" b="0" dirty="0">
                <a:effectLst/>
              </a:rPr>
              <a:t>(e.g., média implícita) para produzir a saída final da rede.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Referência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https://www.deeplearningbook.com.br/capitulo-23-como-funciona-o-dropout/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Exemplo: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https://colab.research.google.com/github/zz4fap/tp557-iot-ml/blob/master/examples/</a:t>
            </a:r>
            <a:r>
              <a:rPr lang="en-US" dirty="0" err="1"/>
              <a:t>Sobreajuste_e_dropout.ipynb</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Dropout é uma técnica de regularização usada em redes neurais para evitar o sobreajuste (</a:t>
            </a:r>
            <a:r>
              <a:rPr lang="pt-BR" dirty="0" err="1"/>
              <a:t>overfitting</a:t>
            </a:r>
            <a:r>
              <a:rPr lang="pt-BR" dirty="0"/>
              <a:t>). O sobreajuste ocorre quando uma rede neural se torna muito especializada nos dados de treinamento e não generaliza bem para novos dados. O </a:t>
            </a:r>
            <a:r>
              <a:rPr lang="pt-BR" dirty="0" err="1"/>
              <a:t>dropout</a:t>
            </a:r>
            <a:r>
              <a:rPr lang="pt-BR" dirty="0"/>
              <a:t> é uma abordagem eficaz para melhorar a generalização de uma rede neural. Aqui está como funciona:</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1. **Desligamento Aleatório de Neurônios**: Durante o treinamento da rede neural, o </a:t>
            </a:r>
            <a:r>
              <a:rPr lang="pt-BR" dirty="0" err="1"/>
              <a:t>dropout</a:t>
            </a:r>
            <a:r>
              <a:rPr lang="pt-BR" dirty="0"/>
              <a:t> envolve aleatoriamente "desligar" ou "descartar" um subconjunto dos neurônios em cada camada. Isso significa que esses neurônios não contribuirão para o cálculo das saídas da rede durante essa iteração de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2. **Taxa de Dropout**: Um </a:t>
            </a:r>
            <a:r>
              <a:rPr lang="pt-BR" dirty="0" err="1"/>
              <a:t>hiperparâmetro</a:t>
            </a:r>
            <a:r>
              <a:rPr lang="pt-BR" dirty="0"/>
              <a:t> chamado "taxa de </a:t>
            </a:r>
            <a:r>
              <a:rPr lang="pt-BR" dirty="0" err="1"/>
              <a:t>dropout</a:t>
            </a:r>
            <a:r>
              <a:rPr lang="pt-BR" dirty="0"/>
              <a:t>" é definido antes do treinamento. Essa taxa determina a probabilidade de um neurônio ser desligado durante cada iteração. Por exemplo, uma taxa de </a:t>
            </a:r>
            <a:r>
              <a:rPr lang="pt-BR" dirty="0" err="1"/>
              <a:t>dropout</a:t>
            </a:r>
            <a:r>
              <a:rPr lang="pt-BR" dirty="0"/>
              <a:t> de 0,5 significa que, em média, metade dos neurônios será desligada em cada iteração.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3. **Treinamento Estocástico**: O </a:t>
            </a:r>
            <a:r>
              <a:rPr lang="pt-BR" dirty="0" err="1"/>
              <a:t>dropout</a:t>
            </a:r>
            <a:r>
              <a:rPr lang="pt-BR" dirty="0"/>
              <a:t> introduz uma forma de treinamento estocástico, onde a rede não pode depender excessivamente de nenhum neurônio específico. Isso obriga a rede a aprender recursos mais robustos e a generalizar melhor para dados que não foram vistos durante o treinamento.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4. **</a:t>
            </a:r>
            <a:r>
              <a:rPr lang="pt-BR" dirty="0" err="1"/>
              <a:t>Averaging</a:t>
            </a:r>
            <a:r>
              <a:rPr lang="pt-BR" dirty="0"/>
              <a:t> de Múltiplos Modelos**: O </a:t>
            </a:r>
            <a:r>
              <a:rPr lang="pt-BR" dirty="0" err="1"/>
              <a:t>dropout</a:t>
            </a:r>
            <a:r>
              <a:rPr lang="pt-BR" dirty="0"/>
              <a:t> efetivamente treina várias </a:t>
            </a:r>
            <a:r>
              <a:rPr lang="pt-BR" dirty="0" err="1"/>
              <a:t>sub-redes</a:t>
            </a:r>
            <a:r>
              <a:rPr lang="pt-BR" dirty="0"/>
              <a:t> durante o treinamento, já que diferentes subconjuntos de neurônios são desligados a cada iteração. Isso é semelhante a treinar uma série de modelos diferentes e, durante a inferência, os resultados dessas </a:t>
            </a:r>
            <a:r>
              <a:rPr lang="pt-BR" dirty="0" err="1"/>
              <a:t>sub-redes</a:t>
            </a:r>
            <a:r>
              <a:rPr lang="pt-BR" dirty="0"/>
              <a:t> são médios ou ponderados de alguma forma para produzir a saída final da rede.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Benefícios do Dropout: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Reduz o risco de sobreajuste, permitindo que a rede generalize melhor para novos dados.</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Ajuda a evitar a dependência excessiva de neurônios individuais, tornando o modelo mais robusto.</a:t>
            </a:r>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 Funciona bem em redes neurais profundas, onde o risco de </a:t>
            </a:r>
            <a:r>
              <a:rPr lang="pt-BR" dirty="0" err="1"/>
              <a:t>overfitting</a:t>
            </a:r>
            <a:r>
              <a:rPr lang="pt-BR" dirty="0"/>
              <a:t> é mais alto.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dirty="0"/>
          </a:p>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Embora o </a:t>
            </a:r>
            <a:r>
              <a:rPr lang="pt-BR" dirty="0" err="1"/>
              <a:t>dropout</a:t>
            </a:r>
            <a:r>
              <a:rPr lang="pt-BR" dirty="0"/>
              <a:t> seja uma técnica eficaz de regularização, é importante ajustar a taxa de </a:t>
            </a:r>
            <a:r>
              <a:rPr lang="pt-BR" dirty="0" err="1"/>
              <a:t>dropout</a:t>
            </a:r>
            <a:r>
              <a:rPr lang="pt-BR" dirty="0"/>
              <a:t> adequadamente, pois uma taxa muito alta pode prejudicar o aprendizado, enquanto uma taxa muito baixa pode não fornecer os benefícios desejados. A taxa de </a:t>
            </a:r>
            <a:r>
              <a:rPr lang="pt-BR" dirty="0" err="1"/>
              <a:t>dropout</a:t>
            </a:r>
            <a:r>
              <a:rPr lang="pt-BR" dirty="0"/>
              <a:t> é geralmente escolhida por meio de experimentação e validação cruzada em um conjunto de validação.</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70</a:t>
            </a:fld>
            <a:endParaRPr lang="pt-BR"/>
          </a:p>
        </p:txBody>
      </p:sp>
    </p:spTree>
    <p:extLst>
      <p:ext uri="{BB962C8B-B14F-4D97-AF65-F5344CB8AC3E}">
        <p14:creationId xmlns:p14="http://schemas.microsoft.com/office/powerpoint/2010/main" val="2138774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en-US"/>
          </a:p>
        </p:txBody>
      </p:sp>
      <p:sp>
        <p:nvSpPr>
          <p:cNvPr id="3" name="Espaço Reservado para Anotações 2"/>
          <p:cNvSpPr>
            <a:spLocks noGrp="1"/>
          </p:cNvSpPr>
          <p:nvPr>
            <p:ph type="body" idx="1"/>
          </p:nvPr>
        </p:nvSpPr>
        <p:spPr/>
        <p:txBody>
          <a:bodyPr/>
          <a:lstStyle/>
          <a:p>
            <a:r>
              <a:rPr lang="pt-BR" dirty="0"/>
              <a:t>https://colab.research.google.com/github/zz4fap/tp557-iot-ml/blob/master/examples/Treinamento_com_e_sem_data_augmentation.ipynb</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71</a:t>
            </a:fld>
            <a:endParaRPr lang="pt-BR"/>
          </a:p>
        </p:txBody>
      </p:sp>
    </p:spTree>
    <p:extLst>
      <p:ext uri="{BB962C8B-B14F-4D97-AF65-F5344CB8AC3E}">
        <p14:creationId xmlns:p14="http://schemas.microsoft.com/office/powerpoint/2010/main" val="2790262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https://colab.research.google.com/github/zz4fap/c24_inteligencia_artificial/blob/master/notebooks/cnn.ipynb</a:t>
            </a:r>
          </a:p>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80</a:t>
            </a:fld>
            <a:endParaRPr lang="pt-BR"/>
          </a:p>
        </p:txBody>
      </p:sp>
    </p:spTree>
    <p:extLst>
      <p:ext uri="{BB962C8B-B14F-4D97-AF65-F5344CB8AC3E}">
        <p14:creationId xmlns:p14="http://schemas.microsoft.com/office/powerpoint/2010/main" val="22121306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FC8D850-966F-45A6-8DE7-15B891E7D40D}" type="slidenum">
              <a:rPr lang="pt-BR" smtClean="0"/>
              <a:t>81</a:t>
            </a:fld>
            <a:endParaRPr lang="pt-BR"/>
          </a:p>
        </p:txBody>
      </p:sp>
    </p:spTree>
    <p:extLst>
      <p:ext uri="{BB962C8B-B14F-4D97-AF65-F5344CB8AC3E}">
        <p14:creationId xmlns:p14="http://schemas.microsoft.com/office/powerpoint/2010/main" val="306355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14/10/2026</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‹nº›</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14/10/2026</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‹nº›</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elipe.figueiredo@Inatel.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gif"/></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130.png"/></Relationships>
</file>

<file path=ppt/slides/_rels/slide3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s>
</file>

<file path=ppt/slides/_rels/slide3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0.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0.png"/></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0.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hyperlink" Target="https://setosa.io/ev/image-kernels/" TargetMode="Externa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29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91.png"/></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1.png"/></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hyperlink" Target="https://colab.research.google.com/github/zz4fap/c24_inteligencia_artificial/blob/master/notebooks/cnn.ipynb"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jpeg"/><Relationship Id="rId4" Type="http://schemas.openxmlformats.org/officeDocument/2006/relationships/image" Target="../media/image58.png"/></Relationships>
</file>

<file path=ppt/slides/_rels/slide81.xml.rels><?xml version="1.0" encoding="UTF-8" standalone="yes"?>
<Relationships xmlns="http://schemas.openxmlformats.org/package/2006/relationships"><Relationship Id="rId3" Type="http://schemas.openxmlformats.org/officeDocument/2006/relationships/hyperlink" Target="https://github.com/zz4fap/c24_inteligencia_artificial/blob/main/listas/Lista%2010%20-%20CNN.pdf"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9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9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cs.stanford.edu/people/karpathy/convnetjs/demo/mnist.html" TargetMode="External"/><Relationship Id="rId2" Type="http://schemas.openxmlformats.org/officeDocument/2006/relationships/hyperlink" Target="https://poloclub.github.io/cnn-explainer/" TargetMode="External"/><Relationship Id="rId1" Type="http://schemas.openxmlformats.org/officeDocument/2006/relationships/slideLayout" Target="../slideLayouts/slideLayout2.xml"/><Relationship Id="rId4" Type="http://schemas.openxmlformats.org/officeDocument/2006/relationships/hyperlink" Target="https://cs.stanford.edu/people/karpathy/convnetjs/demo/cifar10.html" TargetMode="Externa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s>
</file>

<file path=ppt/slides/_rels/slide97.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0.png"/><Relationship Id="rId9" Type="http://schemas.openxmlformats.org/officeDocument/2006/relationships/image" Target="../media/image340.png"/></Relationships>
</file>

<file path=ppt/slides/_rels/slide98.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0.png"/><Relationship Id="rId9" Type="http://schemas.openxmlformats.org/officeDocument/2006/relationships/image" Target="../media/image340.png"/></Relationships>
</file>

<file path=ppt/slides/_rels/slide99.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50.png"/><Relationship Id="rId4" Type="http://schemas.openxmlformats.org/officeDocument/2006/relationships/image" Target="../media/image290.png"/><Relationship Id="rId9" Type="http://schemas.openxmlformats.org/officeDocument/2006/relationships/image" Target="../media/image340.png"/></Relationships>
</file>

<file path=ppt/slides/_rels/slide100.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80.png"/><Relationship Id="rId7" Type="http://schemas.openxmlformats.org/officeDocument/2006/relationships/image" Target="../media/image320.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10" Type="http://schemas.openxmlformats.org/officeDocument/2006/relationships/image" Target="../media/image360.png"/><Relationship Id="rId4" Type="http://schemas.openxmlformats.org/officeDocument/2006/relationships/image" Target="../media/image290.png"/><Relationship Id="rId9" Type="http://schemas.openxmlformats.org/officeDocument/2006/relationships/image" Target="../media/image340.png"/></Relationships>
</file>

<file path=ppt/slides/_rels/slide10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01.png"/><Relationship Id="rId7" Type="http://schemas.openxmlformats.org/officeDocument/2006/relationships/image" Target="../media/image540.png"/><Relationship Id="rId2" Type="http://schemas.openxmlformats.org/officeDocument/2006/relationships/image" Target="../media/image491.png"/><Relationship Id="rId1" Type="http://schemas.openxmlformats.org/officeDocument/2006/relationships/slideLayout" Target="../slideLayouts/slideLayout2.xml"/><Relationship Id="rId6" Type="http://schemas.openxmlformats.org/officeDocument/2006/relationships/image" Target="../media/image530.png"/><Relationship Id="rId11" Type="http://schemas.openxmlformats.org/officeDocument/2006/relationships/image" Target="../media/image580.png"/><Relationship Id="rId5" Type="http://schemas.openxmlformats.org/officeDocument/2006/relationships/image" Target="../media/image520.png"/><Relationship Id="rId10" Type="http://schemas.openxmlformats.org/officeDocument/2006/relationships/image" Target="../media/image570.png"/><Relationship Id="rId4" Type="http://schemas.openxmlformats.org/officeDocument/2006/relationships/image" Target="../media/image511.png"/><Relationship Id="rId9" Type="http://schemas.openxmlformats.org/officeDocument/2006/relationships/image" Target="../media/image560.png"/></Relationships>
</file>

<file path=ppt/slides/_rels/slide102.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70.png"/><Relationship Id="rId1" Type="http://schemas.openxmlformats.org/officeDocument/2006/relationships/slideLayout" Target="../slideLayouts/slideLayout2.xml"/><Relationship Id="rId6" Type="http://schemas.openxmlformats.org/officeDocument/2006/relationships/image" Target="../media/image510.png"/><Relationship Id="rId5" Type="http://schemas.openxmlformats.org/officeDocument/2006/relationships/image" Target="../media/image500.png"/><Relationship Id="rId4" Type="http://schemas.openxmlformats.org/officeDocument/2006/relationships/image" Target="../media/image490.png"/></Relationships>
</file>

<file path=ppt/slides/_rels/slide10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 P. de Figueiredo</a:t>
            </a:r>
          </a:p>
          <a:p>
            <a:r>
              <a:rPr lang="pt-BR" dirty="0">
                <a:hlinkClick r:id="rId3"/>
              </a:rPr>
              <a:t>felipe.figueiredo@Inatel.br</a:t>
            </a:r>
            <a:endParaRPr lang="pt-BR" dirty="0"/>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0193" t="8107" r="14530" b="5794"/>
          <a:stretch/>
        </p:blipFill>
        <p:spPr bwMode="auto">
          <a:xfrm>
            <a:off x="4965305" y="3439886"/>
            <a:ext cx="2261389" cy="2237061"/>
          </a:xfrm>
          <a:prstGeom prst="rect">
            <a:avLst/>
          </a:prstGeom>
          <a:noFill/>
          <a:extLst>
            <a:ext uri="{909E8E84-426E-40DD-AFC4-6F175D3DCCD1}">
              <a14:hiddenFill xmlns:a14="http://schemas.microsoft.com/office/drawing/2010/main">
                <a:solidFill>
                  <a:srgbClr val="FFFFFF"/>
                </a:solidFill>
              </a14:hiddenFill>
            </a:ext>
          </a:extLst>
        </p:spPr>
      </p:pic>
      <p:sp>
        <p:nvSpPr>
          <p:cNvPr id="7" name="Título 1">
            <a:extLst>
              <a:ext uri="{FF2B5EF4-FFF2-40B4-BE49-F238E27FC236}">
                <a16:creationId xmlns:a16="http://schemas.microsoft.com/office/drawing/2014/main" id="{32666AC8-2E17-4DB4-B0F5-60C640CCFD2E}"/>
              </a:ext>
            </a:extLst>
          </p:cNvPr>
          <p:cNvSpPr>
            <a:spLocks noGrp="1"/>
          </p:cNvSpPr>
          <p:nvPr>
            <p:ph type="ctrTitle"/>
          </p:nvPr>
        </p:nvSpPr>
        <p:spPr>
          <a:xfrm>
            <a:off x="631767" y="836433"/>
            <a:ext cx="10906298" cy="2690156"/>
          </a:xfrm>
        </p:spPr>
        <p:txBody>
          <a:bodyPr anchor="ctr">
            <a:noAutofit/>
          </a:bodyPr>
          <a:lstStyle/>
          <a:p>
            <a:r>
              <a:rPr lang="pt-BR" sz="6600" dirty="0"/>
              <a:t>C24 – Inteligência Artificial:</a:t>
            </a:r>
            <a:br>
              <a:rPr lang="pt-BR" sz="7200" dirty="0"/>
            </a:br>
            <a:r>
              <a:rPr lang="pt-BR" sz="7200" b="1" i="1" dirty="0"/>
              <a:t>Redes Neurais Convolucionais</a:t>
            </a:r>
          </a:p>
        </p:txBody>
      </p:sp>
    </p:spTree>
    <p:extLst>
      <p:ext uri="{BB962C8B-B14F-4D97-AF65-F5344CB8AC3E}">
        <p14:creationId xmlns:p14="http://schemas.microsoft.com/office/powerpoint/2010/main" val="1806433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01FE2FE-BB0B-8614-B043-A69BEF398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961" y="1269955"/>
            <a:ext cx="6854442" cy="4569628"/>
          </a:xfrm>
          <a:prstGeom prst="rect">
            <a:avLst/>
          </a:prstGeom>
        </p:spPr>
      </p:pic>
      <p:sp>
        <p:nvSpPr>
          <p:cNvPr id="7" name="TextBox 6">
            <a:extLst>
              <a:ext uri="{FF2B5EF4-FFF2-40B4-BE49-F238E27FC236}">
                <a16:creationId xmlns:a16="http://schemas.microsoft.com/office/drawing/2014/main" id="{1D6203D5-FABF-ABA8-41F9-7A42A10F74D5}"/>
              </a:ext>
            </a:extLst>
          </p:cNvPr>
          <p:cNvSpPr txBox="1"/>
          <p:nvPr/>
        </p:nvSpPr>
        <p:spPr>
          <a:xfrm>
            <a:off x="7231462" y="1569610"/>
            <a:ext cx="4819861" cy="3970318"/>
          </a:xfrm>
          <a:prstGeom prst="rect">
            <a:avLst/>
          </a:prstGeom>
          <a:noFill/>
        </p:spPr>
        <p:txBody>
          <a:bodyPr wrap="square">
            <a:spAutoFit/>
          </a:bodyPr>
          <a:lstStyle/>
          <a:p>
            <a:pPr marL="342900" indent="-342900">
              <a:buFont typeface="Arial" panose="020B0604020202020204" pitchFamily="34" charset="0"/>
              <a:buChar char="•"/>
            </a:pPr>
            <a:r>
              <a:rPr lang="pt-BR" sz="2800" dirty="0"/>
              <a:t>Até agora, nossas redes neurais continham apenas </a:t>
            </a:r>
            <a:r>
              <a:rPr lang="pt-BR" sz="2800" b="1" dirty="0">
                <a:solidFill>
                  <a:srgbClr val="00B050"/>
                </a:solidFill>
              </a:rPr>
              <a:t>camadas</a:t>
            </a:r>
            <a:r>
              <a:rPr lang="pt-BR" sz="2800" dirty="0"/>
              <a:t> </a:t>
            </a:r>
            <a:r>
              <a:rPr lang="pt-BR" sz="2800" b="1" dirty="0">
                <a:solidFill>
                  <a:srgbClr val="00B050"/>
                </a:solidFill>
              </a:rPr>
              <a:t>densas.</a:t>
            </a:r>
            <a:endParaRPr lang="pt-BR" sz="2800" dirty="0"/>
          </a:p>
          <a:p>
            <a:pPr marL="342900" indent="-342900">
              <a:buFont typeface="Arial" panose="020B0604020202020204" pitchFamily="34" charset="0"/>
              <a:buChar char="•"/>
            </a:pPr>
            <a:r>
              <a:rPr lang="pt-BR" sz="2800" dirty="0"/>
              <a:t>Porém, um outro tipo muito importante são as </a:t>
            </a:r>
            <a:r>
              <a:rPr lang="pt-BR" sz="2800" b="1" dirty="0">
                <a:solidFill>
                  <a:srgbClr val="00B050"/>
                </a:solidFill>
              </a:rPr>
              <a:t>camadas convolucionais</a:t>
            </a:r>
            <a:r>
              <a:rPr lang="pt-BR" sz="2800" dirty="0"/>
              <a:t>.</a:t>
            </a:r>
          </a:p>
          <a:p>
            <a:pPr marL="342900" indent="-342900">
              <a:buFont typeface="Arial" panose="020B0604020202020204" pitchFamily="34" charset="0"/>
              <a:buChar char="•"/>
            </a:pPr>
            <a:r>
              <a:rPr lang="pt-BR" sz="2800" dirty="0"/>
              <a:t>Essas camadas são a base das </a:t>
            </a:r>
            <a:r>
              <a:rPr lang="pt-BR" sz="2800" i="1" dirty="0" err="1"/>
              <a:t>Convolutional</a:t>
            </a:r>
            <a:r>
              <a:rPr lang="pt-BR" sz="2800" i="1" dirty="0"/>
              <a:t> Neural Networks </a:t>
            </a:r>
            <a:r>
              <a:rPr lang="pt-BR" sz="2800" dirty="0"/>
              <a:t>(CNNs).</a:t>
            </a:r>
          </a:p>
        </p:txBody>
      </p:sp>
    </p:spTree>
    <p:extLst>
      <p:ext uri="{BB962C8B-B14F-4D97-AF65-F5344CB8AC3E}">
        <p14:creationId xmlns:p14="http://schemas.microsoft.com/office/powerpoint/2010/main" val="3943092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B3FED-5D1A-7084-5333-A3B2FA75F608}"/>
              </a:ext>
            </a:extLst>
          </p:cNvPr>
          <p:cNvSpPr>
            <a:spLocks noGrp="1"/>
          </p:cNvSpPr>
          <p:nvPr>
            <p:ph type="title"/>
          </p:nvPr>
        </p:nvSpPr>
        <p:spPr/>
        <p:txBody>
          <a:bodyPr/>
          <a:lstStyle/>
          <a:p>
            <a:r>
              <a:rPr lang="pt-BR" dirty="0"/>
              <a:t>DNNs versus CNNs</a:t>
            </a:r>
          </a:p>
        </p:txBody>
      </p:sp>
      <p:sp>
        <p:nvSpPr>
          <p:cNvPr id="3" name="Espaço Reservado para Conteúdo 2">
            <a:extLst>
              <a:ext uri="{FF2B5EF4-FFF2-40B4-BE49-F238E27FC236}">
                <a16:creationId xmlns:a16="http://schemas.microsoft.com/office/drawing/2014/main" id="{25FE7774-7186-A846-D8DE-518B2CBF4EBD}"/>
              </a:ext>
            </a:extLst>
          </p:cNvPr>
          <p:cNvSpPr>
            <a:spLocks noGrp="1"/>
          </p:cNvSpPr>
          <p:nvPr>
            <p:ph idx="1"/>
          </p:nvPr>
        </p:nvSpPr>
        <p:spPr>
          <a:xfrm>
            <a:off x="838200" y="5410200"/>
            <a:ext cx="11353800" cy="1447799"/>
          </a:xfrm>
        </p:spPr>
        <p:txBody>
          <a:bodyPr>
            <a:normAutofit fontScale="92500" lnSpcReduction="10000"/>
          </a:bodyPr>
          <a:lstStyle/>
          <a:p>
            <a:r>
              <a:rPr lang="pt-BR" dirty="0"/>
              <a:t>A </a:t>
            </a:r>
            <a:r>
              <a:rPr lang="pt-BR" b="1" dirty="0">
                <a:solidFill>
                  <a:srgbClr val="00B050"/>
                </a:solidFill>
              </a:rPr>
              <a:t>principal diferença</a:t>
            </a:r>
            <a:r>
              <a:rPr lang="pt-BR" dirty="0"/>
              <a:t> para uma rede densa (DNN) é que ao invés de </a:t>
            </a:r>
            <a:r>
              <a:rPr lang="pt-BR" b="1" dirty="0">
                <a:solidFill>
                  <a:srgbClr val="00B050"/>
                </a:solidFill>
              </a:rPr>
              <a:t>aprender </a:t>
            </a:r>
            <a:r>
              <a:rPr lang="pt-BR" b="1" dirty="0">
                <a:solidFill>
                  <a:srgbClr val="7030A0"/>
                </a:solidFill>
              </a:rPr>
              <a:t>relações globais </a:t>
            </a:r>
            <a:r>
              <a:rPr lang="pt-BR" b="1" dirty="0">
                <a:solidFill>
                  <a:srgbClr val="00B050"/>
                </a:solidFill>
              </a:rPr>
              <a:t>entre os atributos</a:t>
            </a:r>
            <a:r>
              <a:rPr lang="pt-BR" dirty="0"/>
              <a:t>, uma </a:t>
            </a:r>
            <a:r>
              <a:rPr lang="pt-BR" b="1" dirty="0">
                <a:solidFill>
                  <a:srgbClr val="00B050"/>
                </a:solidFill>
              </a:rPr>
              <a:t>CNN aprende </a:t>
            </a:r>
            <a:r>
              <a:rPr lang="pt-BR" b="1" dirty="0">
                <a:solidFill>
                  <a:srgbClr val="7030A0"/>
                </a:solidFill>
              </a:rPr>
              <a:t>relações (padrões) locais,</a:t>
            </a:r>
            <a:r>
              <a:rPr lang="pt-BR" dirty="0"/>
              <a:t> que podem aparecer em qualquer lugar de uma imagem,</a:t>
            </a:r>
            <a:r>
              <a:rPr lang="pt-BR" b="1" dirty="0">
                <a:solidFill>
                  <a:srgbClr val="00B050"/>
                </a:solidFill>
              </a:rPr>
              <a:t> através de filtros de convolução </a:t>
            </a:r>
            <a:r>
              <a:rPr lang="pt-BR" dirty="0"/>
              <a:t>(ou </a:t>
            </a:r>
            <a:r>
              <a:rPr lang="pt-BR" b="1" i="1" dirty="0">
                <a:solidFill>
                  <a:schemeClr val="accent2"/>
                </a:solidFill>
              </a:rPr>
              <a:t>kernels</a:t>
            </a:r>
            <a:r>
              <a:rPr lang="pt-BR" dirty="0"/>
              <a:t>).</a:t>
            </a:r>
          </a:p>
        </p:txBody>
      </p:sp>
      <p:pic>
        <p:nvPicPr>
          <p:cNvPr id="1026" name="Picture 2" descr="Convolutional Neural Network | Deep Learning | Developers Breach">
            <a:extLst>
              <a:ext uri="{FF2B5EF4-FFF2-40B4-BE49-F238E27FC236}">
                <a16:creationId xmlns:a16="http://schemas.microsoft.com/office/drawing/2014/main" id="{0E970DBB-77F4-8AC1-F62E-1A4B42865D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52" b="2388"/>
          <a:stretch>
            <a:fillRect/>
          </a:stretch>
        </p:blipFill>
        <p:spPr bwMode="auto">
          <a:xfrm>
            <a:off x="1900928" y="1690688"/>
            <a:ext cx="8390144" cy="3630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739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AED5D-B41B-1577-34F4-730BAE9DEA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B106C9-75B0-7C0B-73F8-CC40CA72CB35}"/>
              </a:ext>
            </a:extLst>
          </p:cNvPr>
          <p:cNvSpPr>
            <a:spLocks noGrp="1"/>
          </p:cNvSpPr>
          <p:nvPr>
            <p:ph type="title"/>
          </p:nvPr>
        </p:nvSpPr>
        <p:spPr/>
        <p:txBody>
          <a:bodyPr/>
          <a:lstStyle/>
          <a:p>
            <a:r>
              <a:rPr lang="pt-BR" dirty="0"/>
              <a:t>O que vamos ver?</a:t>
            </a:r>
          </a:p>
        </p:txBody>
      </p:sp>
      <p:sp>
        <p:nvSpPr>
          <p:cNvPr id="3" name="Espaço Reservado para Conteúdo 2">
            <a:extLst>
              <a:ext uri="{FF2B5EF4-FFF2-40B4-BE49-F238E27FC236}">
                <a16:creationId xmlns:a16="http://schemas.microsoft.com/office/drawing/2014/main" id="{B18C1CF3-9177-AFF9-F93C-340CD3DD08DB}"/>
              </a:ext>
            </a:extLst>
          </p:cNvPr>
          <p:cNvSpPr>
            <a:spLocks noGrp="1"/>
          </p:cNvSpPr>
          <p:nvPr>
            <p:ph idx="1"/>
          </p:nvPr>
        </p:nvSpPr>
        <p:spPr>
          <a:xfrm>
            <a:off x="6858000" y="1825624"/>
            <a:ext cx="5334000" cy="5032376"/>
          </a:xfrm>
        </p:spPr>
        <p:txBody>
          <a:bodyPr>
            <a:normAutofit/>
          </a:bodyPr>
          <a:lstStyle/>
          <a:p>
            <a:r>
              <a:rPr lang="pt-BR" dirty="0"/>
              <a:t>Em geral, CNNs são usadas em tarefas de </a:t>
            </a:r>
            <a:r>
              <a:rPr lang="pt-BR" b="1" dirty="0">
                <a:solidFill>
                  <a:srgbClr val="00B050"/>
                </a:solidFill>
              </a:rPr>
              <a:t>visão computacional</a:t>
            </a:r>
            <a:r>
              <a:rPr lang="pt-BR" dirty="0"/>
              <a:t>, como, por exemplo </a:t>
            </a:r>
          </a:p>
          <a:p>
            <a:pPr lvl="1">
              <a:buFont typeface="Wingdings" panose="05000000000000000000" pitchFamily="2" charset="2"/>
              <a:buChar char="§"/>
            </a:pPr>
            <a:r>
              <a:rPr lang="pt-BR" dirty="0"/>
              <a:t>c</a:t>
            </a:r>
            <a:r>
              <a:rPr lang="pt-BR" dirty="0">
                <a:effectLst/>
              </a:rPr>
              <a:t>lassificação de imagens,</a:t>
            </a:r>
          </a:p>
          <a:p>
            <a:pPr lvl="1">
              <a:buFont typeface="Wingdings" panose="05000000000000000000" pitchFamily="2" charset="2"/>
              <a:buChar char="§"/>
            </a:pPr>
            <a:r>
              <a:rPr lang="pt-BR" dirty="0">
                <a:effectLst/>
              </a:rPr>
              <a:t>detecção de objetos, </a:t>
            </a:r>
          </a:p>
          <a:p>
            <a:pPr lvl="1">
              <a:buFont typeface="Wingdings" panose="05000000000000000000" pitchFamily="2" charset="2"/>
              <a:buChar char="§"/>
            </a:pPr>
            <a:r>
              <a:rPr lang="pt-BR" dirty="0">
                <a:effectLst/>
              </a:rPr>
              <a:t>segmentação de objetos</a:t>
            </a:r>
            <a:r>
              <a:rPr lang="pt-BR" dirty="0"/>
              <a:t>,</a:t>
            </a:r>
            <a:endParaRPr lang="pt-BR" dirty="0">
              <a:effectLst/>
            </a:endParaRPr>
          </a:p>
          <a:p>
            <a:pPr lvl="1">
              <a:buFont typeface="Wingdings" panose="05000000000000000000" pitchFamily="2" charset="2"/>
              <a:buChar char="§"/>
            </a:pPr>
            <a:r>
              <a:rPr lang="pt-BR" dirty="0"/>
              <a:t>r</a:t>
            </a:r>
            <a:r>
              <a:rPr lang="pt-BR" dirty="0">
                <a:effectLst/>
              </a:rPr>
              <a:t>econhecimento facial e</a:t>
            </a:r>
          </a:p>
          <a:p>
            <a:pPr lvl="1">
              <a:buFont typeface="Wingdings" panose="05000000000000000000" pitchFamily="2" charset="2"/>
              <a:buChar char="§"/>
            </a:pPr>
            <a:r>
              <a:rPr lang="pt-BR" dirty="0"/>
              <a:t>análise médica.</a:t>
            </a:r>
          </a:p>
        </p:txBody>
      </p:sp>
      <p:pic>
        <p:nvPicPr>
          <p:cNvPr id="4" name="Picture 2" descr="Simple Image Classification using Convolutional Neural Network — Deep  Learning in python. | by Venkatesh Tata | Becoming Human: Artificial  Intelligence Magazine">
            <a:extLst>
              <a:ext uri="{FF2B5EF4-FFF2-40B4-BE49-F238E27FC236}">
                <a16:creationId xmlns:a16="http://schemas.microsoft.com/office/drawing/2014/main" id="{C0AFAB2C-9D47-47D6-3E4F-F5B741F5107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3018" b="9513"/>
          <a:stretch/>
        </p:blipFill>
        <p:spPr bwMode="auto">
          <a:xfrm>
            <a:off x="100360" y="2352104"/>
            <a:ext cx="6757640" cy="294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641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5CB179-7314-0CCC-D7B6-BEFC111FE906}"/>
              </a:ext>
            </a:extLst>
          </p:cNvPr>
          <p:cNvSpPr>
            <a:spLocks noGrp="1"/>
          </p:cNvSpPr>
          <p:nvPr>
            <p:ph idx="1"/>
          </p:nvPr>
        </p:nvSpPr>
        <p:spPr>
          <a:xfrm>
            <a:off x="809625" y="2414587"/>
            <a:ext cx="10515600" cy="1985963"/>
          </a:xfrm>
        </p:spPr>
        <p:txBody>
          <a:bodyPr>
            <a:normAutofit/>
          </a:bodyPr>
          <a:lstStyle/>
          <a:p>
            <a:pPr marL="0" indent="0" algn="ctr">
              <a:buNone/>
            </a:pPr>
            <a:r>
              <a:rPr lang="pt-BR" sz="6000" dirty="0"/>
              <a:t>Por que </a:t>
            </a:r>
            <a:r>
              <a:rPr lang="pt-BR" sz="6600" dirty="0"/>
              <a:t>não</a:t>
            </a:r>
            <a:r>
              <a:rPr lang="pt-BR" sz="6000" dirty="0"/>
              <a:t> usamos redes densas (</a:t>
            </a:r>
            <a:r>
              <a:rPr lang="pt-BR" sz="6000" dirty="0" err="1"/>
              <a:t>DNNs</a:t>
            </a:r>
            <a:r>
              <a:rPr lang="pt-BR" sz="6000" dirty="0"/>
              <a:t>)?</a:t>
            </a:r>
            <a:endParaRPr lang="en-US" sz="6000" dirty="0"/>
          </a:p>
        </p:txBody>
      </p:sp>
    </p:spTree>
    <p:extLst>
      <p:ext uri="{BB962C8B-B14F-4D97-AF65-F5344CB8AC3E}">
        <p14:creationId xmlns:p14="http://schemas.microsoft.com/office/powerpoint/2010/main" val="3199157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B9476-4706-8E81-221F-E5040AB27D23}"/>
              </a:ext>
            </a:extLst>
          </p:cNvPr>
          <p:cNvSpPr>
            <a:spLocks noGrp="1"/>
          </p:cNvSpPr>
          <p:nvPr>
            <p:ph type="title"/>
          </p:nvPr>
        </p:nvSpPr>
        <p:spPr/>
        <p:txBody>
          <a:bodyPr/>
          <a:lstStyle/>
          <a:p>
            <a:r>
              <a:rPr lang="pt-BR" dirty="0"/>
              <a:t>Dados tabulares </a:t>
            </a:r>
          </a:p>
        </p:txBody>
      </p:sp>
      <p:sp>
        <p:nvSpPr>
          <p:cNvPr id="3" name="Espaço Reservado para Conteúdo 2">
            <a:extLst>
              <a:ext uri="{FF2B5EF4-FFF2-40B4-BE49-F238E27FC236}">
                <a16:creationId xmlns:a16="http://schemas.microsoft.com/office/drawing/2014/main" id="{3DB90306-31A3-7468-D521-F26B9341F612}"/>
              </a:ext>
            </a:extLst>
          </p:cNvPr>
          <p:cNvSpPr>
            <a:spLocks noGrp="1"/>
          </p:cNvSpPr>
          <p:nvPr>
            <p:ph idx="1"/>
          </p:nvPr>
        </p:nvSpPr>
        <p:spPr>
          <a:xfrm>
            <a:off x="5496340" y="1825624"/>
            <a:ext cx="6695660" cy="5032375"/>
          </a:xfrm>
        </p:spPr>
        <p:txBody>
          <a:bodyPr>
            <a:normAutofit/>
          </a:bodyPr>
          <a:lstStyle/>
          <a:p>
            <a:r>
              <a:rPr lang="pt-BR" b="0" noProof="0" dirty="0">
                <a:effectLst/>
              </a:rPr>
              <a:t>DNNs são </a:t>
            </a:r>
            <a:r>
              <a:rPr lang="pt-BR" b="1" noProof="0" dirty="0">
                <a:solidFill>
                  <a:srgbClr val="00B050"/>
                </a:solidFill>
                <a:effectLst/>
              </a:rPr>
              <a:t>adequadas para dados </a:t>
            </a:r>
            <a:r>
              <a:rPr lang="pt-BR" b="1" noProof="0" dirty="0">
                <a:solidFill>
                  <a:schemeClr val="accent2"/>
                </a:solidFill>
                <a:effectLst/>
              </a:rPr>
              <a:t>tabulares</a:t>
            </a:r>
            <a:r>
              <a:rPr lang="pt-BR" b="0" noProof="0" dirty="0">
                <a:effectLst/>
              </a:rPr>
              <a:t>, onde os </a:t>
            </a:r>
            <a:r>
              <a:rPr lang="pt-BR" b="1" noProof="0" dirty="0">
                <a:solidFill>
                  <a:srgbClr val="00B050"/>
                </a:solidFill>
                <a:effectLst/>
              </a:rPr>
              <a:t>exemplos são representados por linhas e os atributos por colunas</a:t>
            </a:r>
            <a:r>
              <a:rPr lang="pt-BR" b="0" noProof="0" dirty="0">
                <a:effectLst/>
              </a:rPr>
              <a:t>.</a:t>
            </a:r>
          </a:p>
          <a:p>
            <a:r>
              <a:rPr lang="pt-BR" noProof="0" dirty="0"/>
              <a:t>O objetivo de uma MLP é </a:t>
            </a:r>
            <a:r>
              <a:rPr lang="pt-BR" b="1" noProof="0" dirty="0"/>
              <a:t>aprender </a:t>
            </a:r>
            <a:r>
              <a:rPr lang="pt-BR" b="1" noProof="0" dirty="0">
                <a:solidFill>
                  <a:srgbClr val="0070C0"/>
                </a:solidFill>
              </a:rPr>
              <a:t>relações globais</a:t>
            </a:r>
            <a:r>
              <a:rPr lang="pt-BR" b="1" noProof="0" dirty="0"/>
              <a:t> entre os atributos</a:t>
            </a:r>
            <a:r>
              <a:rPr lang="pt-BR" noProof="0" dirty="0"/>
              <a:t>, sem </a:t>
            </a:r>
            <a:r>
              <a:rPr lang="pt-BR" b="1" noProof="0" dirty="0">
                <a:solidFill>
                  <a:srgbClr val="00B0F0"/>
                </a:solidFill>
              </a:rPr>
              <a:t>considerar uma estrutura espacial ou de vizinhança </a:t>
            </a:r>
            <a:r>
              <a:rPr lang="pt-BR" noProof="0" dirty="0"/>
              <a:t>entre eles.</a:t>
            </a:r>
          </a:p>
          <a:p>
            <a:r>
              <a:rPr lang="pt-BR" noProof="0" dirty="0"/>
              <a:t>DNNs </a:t>
            </a:r>
            <a:r>
              <a:rPr lang="pt-BR" b="1" noProof="0" dirty="0">
                <a:solidFill>
                  <a:srgbClr val="7030A0"/>
                </a:solidFill>
              </a:rPr>
              <a:t>não possuem</a:t>
            </a:r>
            <a:r>
              <a:rPr lang="pt-BR" noProof="0" dirty="0"/>
              <a:t>, por construção, </a:t>
            </a:r>
            <a:r>
              <a:rPr lang="pt-BR" b="1" noProof="0" dirty="0">
                <a:solidFill>
                  <a:srgbClr val="7030A0"/>
                </a:solidFill>
              </a:rPr>
              <a:t>conhecimento de que </a:t>
            </a:r>
            <a:r>
              <a:rPr lang="pt-BR" b="1" i="1" noProof="0" dirty="0">
                <a:solidFill>
                  <a:srgbClr val="7030A0"/>
                </a:solidFill>
              </a:rPr>
              <a:t>pixels</a:t>
            </a:r>
            <a:r>
              <a:rPr lang="pt-BR" b="1" noProof="0" dirty="0">
                <a:solidFill>
                  <a:srgbClr val="7030A0"/>
                </a:solidFill>
              </a:rPr>
              <a:t> próximos formam uma estrutura espacial (i.e., estão relacionados)</a:t>
            </a:r>
            <a:r>
              <a:rPr lang="pt-BR" noProof="0" dirty="0"/>
              <a:t>.</a:t>
            </a:r>
            <a:endParaRPr lang="pt-BR" b="0" noProof="0" dirty="0">
              <a:effectLst/>
            </a:endParaRPr>
          </a:p>
        </p:txBody>
      </p:sp>
      <p:pic>
        <p:nvPicPr>
          <p:cNvPr id="5" name="Imagem 4">
            <a:extLst>
              <a:ext uri="{FF2B5EF4-FFF2-40B4-BE49-F238E27FC236}">
                <a16:creationId xmlns:a16="http://schemas.microsoft.com/office/drawing/2014/main" id="{E3CDC4BE-18F1-F196-DB89-42DF13D65A10}"/>
              </a:ext>
            </a:extLst>
          </p:cNvPr>
          <p:cNvPicPr>
            <a:picLocks noChangeAspect="1"/>
          </p:cNvPicPr>
          <p:nvPr/>
        </p:nvPicPr>
        <p:blipFill rotWithShape="1">
          <a:blip r:embed="rId3"/>
          <a:srcRect l="3436" t="2799"/>
          <a:stretch/>
        </p:blipFill>
        <p:spPr>
          <a:xfrm>
            <a:off x="387886" y="1725546"/>
            <a:ext cx="4588632" cy="3834362"/>
          </a:xfrm>
          <a:prstGeom prst="rect">
            <a:avLst/>
          </a:prstGeom>
        </p:spPr>
      </p:pic>
      <p:sp>
        <p:nvSpPr>
          <p:cNvPr id="4" name="CaixaDeTexto 3">
            <a:extLst>
              <a:ext uri="{FF2B5EF4-FFF2-40B4-BE49-F238E27FC236}">
                <a16:creationId xmlns:a16="http://schemas.microsoft.com/office/drawing/2014/main" id="{95FA7017-2A82-FBFD-66BC-D195F1B43CB2}"/>
              </a:ext>
            </a:extLst>
          </p:cNvPr>
          <p:cNvSpPr txBox="1"/>
          <p:nvPr/>
        </p:nvSpPr>
        <p:spPr>
          <a:xfrm>
            <a:off x="387886" y="6169709"/>
            <a:ext cx="4423144" cy="646331"/>
          </a:xfrm>
          <a:prstGeom prst="rect">
            <a:avLst/>
          </a:prstGeom>
          <a:noFill/>
        </p:spPr>
        <p:txBody>
          <a:bodyPr wrap="square" rtlCol="0">
            <a:spAutoFit/>
          </a:bodyPr>
          <a:lstStyle/>
          <a:p>
            <a:pPr algn="ctr"/>
            <a:r>
              <a:rPr lang="pt-BR" dirty="0"/>
              <a:t>A MLP aprende o que é um 7 </a:t>
            </a:r>
            <a:r>
              <a:rPr lang="pt-BR" b="1" dirty="0">
                <a:solidFill>
                  <a:schemeClr val="accent2"/>
                </a:solidFill>
              </a:rPr>
              <a:t>relacionando todos</a:t>
            </a:r>
            <a:r>
              <a:rPr lang="pt-BR" dirty="0"/>
              <a:t> os 784 </a:t>
            </a:r>
            <a:r>
              <a:rPr lang="pt-BR" i="1" dirty="0"/>
              <a:t>pixels</a:t>
            </a:r>
            <a:r>
              <a:rPr lang="pt-BR" dirty="0"/>
              <a:t>.</a:t>
            </a:r>
            <a:endParaRPr lang="en-US" dirty="0"/>
          </a:p>
        </p:txBody>
      </p:sp>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0EB66EDE-4FEF-7030-6EF2-A0CBD51FAE51}"/>
                  </a:ext>
                </a:extLst>
              </p:cNvPr>
              <p:cNvSpPr txBox="1"/>
              <p:nvPr/>
            </p:nvSpPr>
            <p:spPr>
              <a:xfrm>
                <a:off x="377573" y="5744794"/>
                <a:ext cx="4507345" cy="369332"/>
              </a:xfrm>
              <a:prstGeom prst="rect">
                <a:avLst/>
              </a:prstGeom>
              <a:noFill/>
            </p:spPr>
            <p:txBody>
              <a:bodyPr wrap="square" rtlCol="0">
                <a:spAutoFit/>
              </a:bodyPr>
              <a:lstStyle/>
              <a:p>
                <a:pPr/>
                <a14:m>
                  <m:oMathPara xmlns:m="http://schemas.openxmlformats.org/officeDocument/2006/math">
                    <m:oMath>
                      <m:sSub>
                        <m:sSubPr>
                          <m:ctrlPr>
                            <a:rPr lang="pt-BR" b="0" i="1" smtClean="0">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𝑁</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0</m:t>
                          </m:r>
                        </m:sub>
                      </m:sSub>
                      <m:r>
                        <a:rPr lang="pt-BR" b="0" i="1" smtClean="0">
                          <a:latin typeface="Cambria Math" panose="02040503050406030204" pitchFamily="18" charset="0"/>
                        </a:rPr>
                        <m:t>+</m:t>
                      </m:r>
                      <m:sSub>
                        <m:sSubPr>
                          <m:ctrlPr>
                            <a:rPr lang="pt-BR" b="0" i="1" smtClean="0">
                              <a:latin typeface="Cambria Math" panose="02040503050406030204" pitchFamily="18" charset="0"/>
                            </a:rPr>
                          </m:ctrlPr>
                        </m:sSubPr>
                        <m:e>
                          <m:r>
                            <a:rPr lang="pt-BR" b="0" i="1" smtClean="0">
                              <a:latin typeface="Cambria Math" panose="02040503050406030204" pitchFamily="18" charset="0"/>
                            </a:rPr>
                            <m:t>𝑥</m:t>
                          </m:r>
                        </m:e>
                        <m:sub>
                          <m:r>
                            <a:rPr lang="pt-BR" i="1">
                              <a:latin typeface="Cambria Math" panose="02040503050406030204" pitchFamily="18" charset="0"/>
                            </a:rPr>
                            <m:t>1</m:t>
                          </m:r>
                        </m:sub>
                      </m:sSub>
                      <m:sSub>
                        <m:sSubPr>
                          <m:ctrlPr>
                            <a:rPr lang="pt-BR" b="0" i="1" smtClean="0">
                              <a:latin typeface="Cambria Math" panose="02040503050406030204" pitchFamily="18" charset="0"/>
                            </a:rPr>
                          </m:ctrlPr>
                        </m:sSubPr>
                        <m:e>
                          <m:r>
                            <a:rPr lang="pt-BR" b="0" i="1" smtClean="0">
                              <a:latin typeface="Cambria Math" panose="02040503050406030204" pitchFamily="18" charset="0"/>
                            </a:rPr>
                            <m:t>𝑤</m:t>
                          </m:r>
                        </m:e>
                        <m:sub>
                          <m:r>
                            <a:rPr lang="pt-BR" b="0" i="1" smtClean="0">
                              <a:latin typeface="Cambria Math" panose="02040503050406030204" pitchFamily="18" charset="0"/>
                            </a:rPr>
                            <m:t>1</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2</m:t>
                          </m:r>
                        </m:sub>
                      </m:sSub>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2</m:t>
                          </m:r>
                        </m:sub>
                      </m:sSub>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b="0" i="1" smtClean="0">
                              <a:latin typeface="Cambria Math" panose="02040503050406030204" pitchFamily="18" charset="0"/>
                            </a:rPr>
                            <m:t>784</m:t>
                          </m:r>
                        </m:sub>
                      </m:sSub>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784</m:t>
                          </m:r>
                        </m:sub>
                      </m:sSub>
                    </m:oMath>
                  </m:oMathPara>
                </a14:m>
                <a:endParaRPr lang="en-US" dirty="0"/>
              </a:p>
            </p:txBody>
          </p:sp>
        </mc:Choice>
        <mc:Fallback xmlns="">
          <p:sp>
            <p:nvSpPr>
              <p:cNvPr id="7" name="CaixaDeTexto 6">
                <a:extLst>
                  <a:ext uri="{FF2B5EF4-FFF2-40B4-BE49-F238E27FC236}">
                    <a16:creationId xmlns:a16="http://schemas.microsoft.com/office/drawing/2014/main" id="{0EB66EDE-4FEF-7030-6EF2-A0CBD51FAE51}"/>
                  </a:ext>
                </a:extLst>
              </p:cNvPr>
              <p:cNvSpPr txBox="1">
                <a:spLocks noRot="1" noChangeAspect="1" noMove="1" noResize="1" noEditPoints="1" noAdjustHandles="1" noChangeArrowheads="1" noChangeShapeType="1" noTextEdit="1"/>
              </p:cNvSpPr>
              <p:nvPr/>
            </p:nvSpPr>
            <p:spPr>
              <a:xfrm>
                <a:off x="377573" y="5744794"/>
                <a:ext cx="4507345" cy="369332"/>
              </a:xfrm>
              <a:prstGeom prst="rect">
                <a:avLst/>
              </a:prstGeom>
              <a:blipFill>
                <a:blip r:embed="rId4"/>
                <a:stretch>
                  <a:fillRect b="-6557"/>
                </a:stretch>
              </a:blipFill>
            </p:spPr>
            <p:txBody>
              <a:bodyPr/>
              <a:lstStyle/>
              <a:p>
                <a:r>
                  <a:rPr lang="en-US">
                    <a:noFill/>
                  </a:rPr>
                  <a:t> </a:t>
                </a:r>
              </a:p>
            </p:txBody>
          </p:sp>
        </mc:Fallback>
      </mc:AlternateContent>
      <p:cxnSp>
        <p:nvCxnSpPr>
          <p:cNvPr id="9" name="Conector de Seta Reta 8">
            <a:extLst>
              <a:ext uri="{FF2B5EF4-FFF2-40B4-BE49-F238E27FC236}">
                <a16:creationId xmlns:a16="http://schemas.microsoft.com/office/drawing/2014/main" id="{4A778D9C-8279-D912-26AC-933241651C0D}"/>
              </a:ext>
            </a:extLst>
          </p:cNvPr>
          <p:cNvCxnSpPr>
            <a:stCxn id="7" idx="0"/>
          </p:cNvCxnSpPr>
          <p:nvPr/>
        </p:nvCxnSpPr>
        <p:spPr>
          <a:xfrm flipV="1">
            <a:off x="2631246" y="5486400"/>
            <a:ext cx="1091009" cy="258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2270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B9476-4706-8E81-221F-E5040AB27D23}"/>
              </a:ext>
            </a:extLst>
          </p:cNvPr>
          <p:cNvSpPr>
            <a:spLocks noGrp="1"/>
          </p:cNvSpPr>
          <p:nvPr>
            <p:ph type="title"/>
          </p:nvPr>
        </p:nvSpPr>
        <p:spPr/>
        <p:txBody>
          <a:bodyPr/>
          <a:lstStyle/>
          <a:p>
            <a:r>
              <a:rPr lang="pt-BR" dirty="0"/>
              <a:t>Localidade espacial</a:t>
            </a:r>
          </a:p>
        </p:txBody>
      </p:sp>
      <p:sp>
        <p:nvSpPr>
          <p:cNvPr id="3" name="Espaço Reservado para Conteúdo 2">
            <a:extLst>
              <a:ext uri="{FF2B5EF4-FFF2-40B4-BE49-F238E27FC236}">
                <a16:creationId xmlns:a16="http://schemas.microsoft.com/office/drawing/2014/main" id="{3DB90306-31A3-7468-D521-F26B9341F612}"/>
              </a:ext>
            </a:extLst>
          </p:cNvPr>
          <p:cNvSpPr>
            <a:spLocks noGrp="1"/>
          </p:cNvSpPr>
          <p:nvPr>
            <p:ph idx="1"/>
          </p:nvPr>
        </p:nvSpPr>
        <p:spPr>
          <a:xfrm>
            <a:off x="6228896" y="1690688"/>
            <a:ext cx="5963104" cy="5167311"/>
          </a:xfrm>
        </p:spPr>
        <p:txBody>
          <a:bodyPr>
            <a:normAutofit/>
          </a:bodyPr>
          <a:lstStyle/>
          <a:p>
            <a:r>
              <a:rPr lang="pt-BR" noProof="0" dirty="0"/>
              <a:t>DNNs </a:t>
            </a:r>
            <a:r>
              <a:rPr lang="pt-BR" b="1" noProof="0" dirty="0">
                <a:solidFill>
                  <a:srgbClr val="00B050"/>
                </a:solidFill>
              </a:rPr>
              <a:t>aprendem</a:t>
            </a:r>
            <a:r>
              <a:rPr lang="pt-BR" b="1" noProof="0" dirty="0">
                <a:solidFill>
                  <a:srgbClr val="7030A0"/>
                </a:solidFill>
              </a:rPr>
              <a:t> </a:t>
            </a:r>
            <a:r>
              <a:rPr lang="pt-BR" b="1" noProof="0" dirty="0">
                <a:solidFill>
                  <a:schemeClr val="accent2"/>
                </a:solidFill>
              </a:rPr>
              <a:t>padrões globais</a:t>
            </a:r>
            <a:r>
              <a:rPr lang="pt-BR" noProof="0" dirty="0"/>
              <a:t>.</a:t>
            </a:r>
          </a:p>
          <a:p>
            <a:r>
              <a:rPr lang="pt-BR" noProof="0" dirty="0"/>
              <a:t>Elas </a:t>
            </a:r>
            <a:r>
              <a:rPr lang="pt-BR" b="1" noProof="0" dirty="0">
                <a:solidFill>
                  <a:srgbClr val="FF0000"/>
                </a:solidFill>
              </a:rPr>
              <a:t>não incorporam explicitamente</a:t>
            </a:r>
            <a:r>
              <a:rPr lang="pt-BR" b="1" noProof="0" dirty="0">
                <a:solidFill>
                  <a:srgbClr val="00B050"/>
                </a:solidFill>
              </a:rPr>
              <a:t> </a:t>
            </a:r>
            <a:r>
              <a:rPr lang="pt-BR" noProof="0" dirty="0"/>
              <a:t>a</a:t>
            </a:r>
            <a:r>
              <a:rPr lang="pt-BR" b="1" noProof="0" dirty="0">
                <a:solidFill>
                  <a:srgbClr val="00B050"/>
                </a:solidFill>
              </a:rPr>
              <a:t> </a:t>
            </a:r>
            <a:r>
              <a:rPr lang="pt-BR" b="1" noProof="0" dirty="0">
                <a:solidFill>
                  <a:srgbClr val="7030A0"/>
                </a:solidFill>
              </a:rPr>
              <a:t>localidade espacial</a:t>
            </a:r>
            <a:r>
              <a:rPr lang="pt-BR" b="1" noProof="0" dirty="0">
                <a:solidFill>
                  <a:srgbClr val="00B050"/>
                </a:solidFill>
              </a:rPr>
              <a:t> </a:t>
            </a:r>
            <a:r>
              <a:rPr lang="pt-BR" noProof="0" dirty="0"/>
              <a:t>em dados com topologia de grade (e.g., imagens).</a:t>
            </a:r>
          </a:p>
          <a:p>
            <a:pPr lvl="1">
              <a:buFont typeface="Wingdings" panose="05000000000000000000" pitchFamily="2" charset="2"/>
              <a:buChar char="§"/>
            </a:pPr>
            <a:r>
              <a:rPr lang="pt-BR" b="1" noProof="0" dirty="0">
                <a:solidFill>
                  <a:srgbClr val="7030A0"/>
                </a:solidFill>
              </a:rPr>
              <a:t>Localidade espacial</a:t>
            </a:r>
            <a:r>
              <a:rPr lang="pt-BR" b="0" noProof="0" dirty="0">
                <a:effectLst/>
              </a:rPr>
              <a:t>: </a:t>
            </a:r>
            <a:r>
              <a:rPr lang="pt-BR" b="1" noProof="0" dirty="0">
                <a:solidFill>
                  <a:schemeClr val="accent2"/>
                </a:solidFill>
                <a:effectLst/>
              </a:rPr>
              <a:t>região</a:t>
            </a:r>
            <a:r>
              <a:rPr lang="pt-BR" b="0" noProof="0" dirty="0">
                <a:effectLst/>
              </a:rPr>
              <a:t> onde </a:t>
            </a:r>
            <a:r>
              <a:rPr lang="pt-BR" b="1" noProof="0" dirty="0">
                <a:solidFill>
                  <a:srgbClr val="00B050"/>
                </a:solidFill>
                <a:effectLst/>
              </a:rPr>
              <a:t>informações próximas </a:t>
            </a:r>
            <a:r>
              <a:rPr lang="pt-BR" b="0" noProof="0" dirty="0">
                <a:effectLst/>
              </a:rPr>
              <a:t>umas das outras </a:t>
            </a:r>
            <a:r>
              <a:rPr lang="pt-BR" b="1" noProof="0" dirty="0">
                <a:solidFill>
                  <a:srgbClr val="00B050"/>
                </a:solidFill>
                <a:effectLst/>
              </a:rPr>
              <a:t>estão relacionadas</a:t>
            </a:r>
            <a:r>
              <a:rPr lang="pt-BR" b="0" noProof="0" dirty="0">
                <a:effectLst/>
              </a:rPr>
              <a:t>.</a:t>
            </a:r>
          </a:p>
          <a:p>
            <a:pPr lvl="1">
              <a:buFont typeface="Wingdings" panose="05000000000000000000" pitchFamily="2" charset="2"/>
              <a:buChar char="§"/>
            </a:pPr>
            <a:r>
              <a:rPr lang="pt-BR" b="1" dirty="0">
                <a:solidFill>
                  <a:schemeClr val="accent1"/>
                </a:solidFill>
              </a:rPr>
              <a:t>Topologia em grade</a:t>
            </a:r>
            <a:r>
              <a:rPr lang="pt-BR" dirty="0"/>
              <a:t>: cada elemento possui uma posição e uma vizinhança espacial bem definida.</a:t>
            </a:r>
            <a:endParaRPr lang="pt-BR" b="0" noProof="0" dirty="0">
              <a:effectLst/>
            </a:endParaRPr>
          </a:p>
        </p:txBody>
      </p:sp>
      <p:grpSp>
        <p:nvGrpSpPr>
          <p:cNvPr id="4" name="Group 3">
            <a:extLst>
              <a:ext uri="{FF2B5EF4-FFF2-40B4-BE49-F238E27FC236}">
                <a16:creationId xmlns:a16="http://schemas.microsoft.com/office/drawing/2014/main" id="{2E07E23F-787D-05CE-1936-A9E05A759478}"/>
              </a:ext>
            </a:extLst>
          </p:cNvPr>
          <p:cNvGrpSpPr/>
          <p:nvPr/>
        </p:nvGrpSpPr>
        <p:grpSpPr>
          <a:xfrm>
            <a:off x="3171370" y="2133029"/>
            <a:ext cx="2686050" cy="3504074"/>
            <a:chOff x="1407560" y="2002400"/>
            <a:chExt cx="2686050" cy="3504074"/>
          </a:xfrm>
        </p:grpSpPr>
        <p:pic>
          <p:nvPicPr>
            <p:cNvPr id="1032" name="Picture 8" descr="Cat Sounds:Amazon.com.br:Appstore for Android">
              <a:extLst>
                <a:ext uri="{FF2B5EF4-FFF2-40B4-BE49-F238E27FC236}">
                  <a16:creationId xmlns:a16="http://schemas.microsoft.com/office/drawing/2014/main" id="{A7970926-2B3A-AEDE-AC8B-A2A98FA1FF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id="{CD4003C3-0C7C-1D8E-74B7-646F03CF6A54}"/>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89B771EE-0EBA-4D92-9502-0794CE05D00A}"/>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1A00E978-C90E-8E55-839D-00AD3033D2CC}"/>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96FCAC61-7225-5213-0F9A-14993EBBD0A2}"/>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0A74E7E2-1897-EF81-EA84-5E6CFA67601B}"/>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C53EDD42-B6EA-C25A-D2AA-5151E121664C}"/>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A020F276-B44C-12BD-B41F-27663F4CADAB}"/>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CBE0E914-7E1B-DA81-472B-5F87D15B86F7}"/>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FCE2FD66-A6F8-9ED4-968A-EA6ECE24713B}"/>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 name="Group 4">
            <a:extLst>
              <a:ext uri="{FF2B5EF4-FFF2-40B4-BE49-F238E27FC236}">
                <a16:creationId xmlns:a16="http://schemas.microsoft.com/office/drawing/2014/main" id="{56E3C715-A95E-4872-275B-E9C851D18697}"/>
              </a:ext>
            </a:extLst>
          </p:cNvPr>
          <p:cNvGrpSpPr/>
          <p:nvPr/>
        </p:nvGrpSpPr>
        <p:grpSpPr>
          <a:xfrm>
            <a:off x="160539" y="2133029"/>
            <a:ext cx="2686050" cy="3504075"/>
            <a:chOff x="1407560" y="2002399"/>
            <a:chExt cx="2686050" cy="3504075"/>
          </a:xfrm>
        </p:grpSpPr>
        <p:pic>
          <p:nvPicPr>
            <p:cNvPr id="15" name="Picture 8" descr="Cat Sounds:Amazon.com.br:Appstore for Android">
              <a:extLst>
                <a:ext uri="{FF2B5EF4-FFF2-40B4-BE49-F238E27FC236}">
                  <a16:creationId xmlns:a16="http://schemas.microsoft.com/office/drawing/2014/main" id="{08EB44A0-A06C-301A-B47B-46CA99C8CF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16" name="Retângulo 5">
              <a:extLst>
                <a:ext uri="{FF2B5EF4-FFF2-40B4-BE49-F238E27FC236}">
                  <a16:creationId xmlns:a16="http://schemas.microsoft.com/office/drawing/2014/main" id="{71C38124-B176-6E16-E5DB-F0D8946C8702}"/>
                </a:ext>
              </a:extLst>
            </p:cNvPr>
            <p:cNvSpPr/>
            <p:nvPr/>
          </p:nvSpPr>
          <p:spPr>
            <a:xfrm>
              <a:off x="1407560" y="2002399"/>
              <a:ext cx="2686050" cy="35040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8" name="TextBox 17">
            <a:extLst>
              <a:ext uri="{FF2B5EF4-FFF2-40B4-BE49-F238E27FC236}">
                <a16:creationId xmlns:a16="http://schemas.microsoft.com/office/drawing/2014/main" id="{63224D1B-0910-2A4C-6589-D32712AC59A3}"/>
              </a:ext>
            </a:extLst>
          </p:cNvPr>
          <p:cNvSpPr txBox="1"/>
          <p:nvPr/>
        </p:nvSpPr>
        <p:spPr>
          <a:xfrm>
            <a:off x="160539" y="5794599"/>
            <a:ext cx="2686049" cy="584775"/>
          </a:xfrm>
          <a:prstGeom prst="rect">
            <a:avLst/>
          </a:prstGeom>
          <a:noFill/>
        </p:spPr>
        <p:txBody>
          <a:bodyPr wrap="square">
            <a:spAutoFit/>
          </a:bodyPr>
          <a:lstStyle/>
          <a:p>
            <a:pPr algn="ctr"/>
            <a:r>
              <a:rPr lang="pt-BR" sz="1600" dirty="0"/>
              <a:t>DNN: neurônios recebem todos os </a:t>
            </a:r>
            <a:r>
              <a:rPr lang="pt-BR" sz="1600" i="1" dirty="0"/>
              <a:t>pixels</a:t>
            </a:r>
            <a:r>
              <a:rPr lang="pt-BR" sz="1600" dirty="0"/>
              <a:t> como entrada</a:t>
            </a:r>
            <a:endParaRPr lang="en-US" sz="1600" dirty="0"/>
          </a:p>
        </p:txBody>
      </p:sp>
      <p:sp>
        <p:nvSpPr>
          <p:cNvPr id="19" name="TextBox 18">
            <a:extLst>
              <a:ext uri="{FF2B5EF4-FFF2-40B4-BE49-F238E27FC236}">
                <a16:creationId xmlns:a16="http://schemas.microsoft.com/office/drawing/2014/main" id="{52940996-45F6-A6EB-29E3-6665C831E4F1}"/>
              </a:ext>
            </a:extLst>
          </p:cNvPr>
          <p:cNvSpPr txBox="1"/>
          <p:nvPr/>
        </p:nvSpPr>
        <p:spPr>
          <a:xfrm>
            <a:off x="3171370" y="5794599"/>
            <a:ext cx="2686049" cy="830997"/>
          </a:xfrm>
          <a:prstGeom prst="rect">
            <a:avLst/>
          </a:prstGeom>
          <a:noFill/>
        </p:spPr>
        <p:txBody>
          <a:bodyPr wrap="square">
            <a:spAutoFit/>
          </a:bodyPr>
          <a:lstStyle/>
          <a:p>
            <a:pPr algn="ctr"/>
            <a:r>
              <a:rPr lang="pt-BR" sz="1600" dirty="0"/>
              <a:t>CNN: neurônios recebem (olham) apenas uma parte dos </a:t>
            </a:r>
            <a:r>
              <a:rPr lang="pt-BR" sz="1600" i="1" dirty="0"/>
              <a:t>pixels</a:t>
            </a:r>
            <a:r>
              <a:rPr lang="pt-BR" sz="1600" dirty="0"/>
              <a:t> da imagem</a:t>
            </a:r>
            <a:endParaRPr lang="en-US" sz="1600" dirty="0"/>
          </a:p>
        </p:txBody>
      </p:sp>
    </p:spTree>
    <p:extLst>
      <p:ext uri="{BB962C8B-B14F-4D97-AF65-F5344CB8AC3E}">
        <p14:creationId xmlns:p14="http://schemas.microsoft.com/office/powerpoint/2010/main" val="3421033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52942-5A7D-D92D-4364-508038F7C4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63BBC11-CAC8-A2E1-6B54-065C22989E41}"/>
              </a:ext>
            </a:extLst>
          </p:cNvPr>
          <p:cNvSpPr>
            <a:spLocks noGrp="1"/>
          </p:cNvSpPr>
          <p:nvPr>
            <p:ph type="title"/>
          </p:nvPr>
        </p:nvSpPr>
        <p:spPr/>
        <p:txBody>
          <a:bodyPr/>
          <a:lstStyle/>
          <a:p>
            <a:r>
              <a:rPr lang="pt-BR" dirty="0"/>
              <a:t>Localidade espacial</a:t>
            </a:r>
          </a:p>
        </p:txBody>
      </p:sp>
      <p:sp>
        <p:nvSpPr>
          <p:cNvPr id="3" name="Espaço Reservado para Conteúdo 2">
            <a:extLst>
              <a:ext uri="{FF2B5EF4-FFF2-40B4-BE49-F238E27FC236}">
                <a16:creationId xmlns:a16="http://schemas.microsoft.com/office/drawing/2014/main" id="{571886B4-3D69-8E6B-F148-ABE6C250A82B}"/>
              </a:ext>
            </a:extLst>
          </p:cNvPr>
          <p:cNvSpPr>
            <a:spLocks noGrp="1"/>
          </p:cNvSpPr>
          <p:nvPr>
            <p:ph idx="1"/>
          </p:nvPr>
        </p:nvSpPr>
        <p:spPr>
          <a:xfrm>
            <a:off x="5679931" y="1825624"/>
            <a:ext cx="6418283" cy="5032375"/>
          </a:xfrm>
        </p:spPr>
        <p:txBody>
          <a:bodyPr>
            <a:normAutofit/>
          </a:bodyPr>
          <a:lstStyle/>
          <a:p>
            <a:r>
              <a:rPr lang="pt-BR" b="1" noProof="0" dirty="0">
                <a:solidFill>
                  <a:srgbClr val="7030A0"/>
                </a:solidFill>
              </a:rPr>
              <a:t>I</a:t>
            </a:r>
            <a:r>
              <a:rPr lang="pt-BR" b="1" noProof="0" dirty="0">
                <a:solidFill>
                  <a:srgbClr val="7030A0"/>
                </a:solidFill>
                <a:effectLst/>
              </a:rPr>
              <a:t>magens têm uma estrutura espacial</a:t>
            </a:r>
            <a:r>
              <a:rPr lang="pt-BR" b="0" noProof="0" dirty="0">
                <a:effectLst/>
              </a:rPr>
              <a:t> que pode ser explorada por CNNs.</a:t>
            </a:r>
            <a:endParaRPr lang="pt-BR" noProof="0" dirty="0"/>
          </a:p>
          <a:p>
            <a:r>
              <a:rPr lang="pt-BR" noProof="0" dirty="0"/>
              <a:t>Os </a:t>
            </a:r>
            <a:r>
              <a:rPr lang="pt-BR" i="1" noProof="0" dirty="0"/>
              <a:t>pixels</a:t>
            </a:r>
            <a:r>
              <a:rPr lang="pt-BR" noProof="0" dirty="0"/>
              <a:t> possuem </a:t>
            </a:r>
            <a:r>
              <a:rPr lang="pt-BR" b="1" noProof="0" dirty="0">
                <a:solidFill>
                  <a:schemeClr val="accent5"/>
                </a:solidFill>
              </a:rPr>
              <a:t>posição no espaço</a:t>
            </a:r>
            <a:r>
              <a:rPr lang="pt-BR" noProof="0" dirty="0"/>
              <a:t>.</a:t>
            </a:r>
          </a:p>
          <a:p>
            <a:r>
              <a:rPr lang="pt-BR" noProof="0" dirty="0"/>
              <a:t>Em uma imagem, </a:t>
            </a:r>
            <a:r>
              <a:rPr lang="pt-BR" i="1" noProof="0" dirty="0"/>
              <a:t>pixels</a:t>
            </a:r>
            <a:r>
              <a:rPr lang="pt-BR" noProof="0" dirty="0"/>
              <a:t> </a:t>
            </a:r>
            <a:r>
              <a:rPr lang="pt-BR" b="1" noProof="0" dirty="0">
                <a:solidFill>
                  <a:schemeClr val="accent5"/>
                </a:solidFill>
              </a:rPr>
              <a:t>vizinhos</a:t>
            </a:r>
            <a:r>
              <a:rPr lang="pt-BR" noProof="0" dirty="0"/>
              <a:t> tendem a conter informações </a:t>
            </a:r>
            <a:r>
              <a:rPr lang="pt-BR" b="1" noProof="0" dirty="0">
                <a:solidFill>
                  <a:schemeClr val="accent5"/>
                </a:solidFill>
              </a:rPr>
              <a:t>relacionadas</a:t>
            </a:r>
            <a:r>
              <a:rPr lang="pt-BR" noProof="0" dirty="0"/>
              <a:t>.</a:t>
            </a:r>
          </a:p>
          <a:p>
            <a:r>
              <a:rPr lang="pt-BR" noProof="0" dirty="0"/>
              <a:t>Por exemplo, no caso do gato ao lado, existem </a:t>
            </a:r>
            <a:r>
              <a:rPr lang="pt-BR" b="1" noProof="0" dirty="0">
                <a:solidFill>
                  <a:schemeClr val="accent2"/>
                </a:solidFill>
              </a:rPr>
              <a:t>correlações locais </a:t>
            </a:r>
            <a:r>
              <a:rPr lang="pt-BR" noProof="0" dirty="0"/>
              <a:t>entre os </a:t>
            </a:r>
            <a:r>
              <a:rPr lang="pt-BR" i="1" noProof="0" dirty="0"/>
              <a:t>pixels </a:t>
            </a:r>
            <a:r>
              <a:rPr lang="pt-BR" noProof="0" dirty="0"/>
              <a:t>dos olhos, nariz, boca, etc.</a:t>
            </a:r>
          </a:p>
          <a:p>
            <a:pPr marL="0" indent="0">
              <a:buNone/>
            </a:pPr>
            <a:endParaRPr lang="pt-BR" noProof="0" dirty="0"/>
          </a:p>
        </p:txBody>
      </p:sp>
      <p:grpSp>
        <p:nvGrpSpPr>
          <p:cNvPr id="4" name="Group 3">
            <a:extLst>
              <a:ext uri="{FF2B5EF4-FFF2-40B4-BE49-F238E27FC236}">
                <a16:creationId xmlns:a16="http://schemas.microsoft.com/office/drawing/2014/main" id="{B34925BB-D85D-98F6-D357-1C1DB5A0B824}"/>
              </a:ext>
            </a:extLst>
          </p:cNvPr>
          <p:cNvGrpSpPr/>
          <p:nvPr/>
        </p:nvGrpSpPr>
        <p:grpSpPr>
          <a:xfrm>
            <a:off x="1407560" y="2002400"/>
            <a:ext cx="2686050" cy="3504074"/>
            <a:chOff x="1407560" y="2002400"/>
            <a:chExt cx="2686050" cy="3504074"/>
          </a:xfrm>
        </p:grpSpPr>
        <p:pic>
          <p:nvPicPr>
            <p:cNvPr id="5" name="Picture 8" descr="Cat Sounds:Amazon.com.br:Appstore for Android">
              <a:extLst>
                <a:ext uri="{FF2B5EF4-FFF2-40B4-BE49-F238E27FC236}">
                  <a16:creationId xmlns:a16="http://schemas.microsoft.com/office/drawing/2014/main" id="{FEB53273-28C2-5B05-27E7-30D2038785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7" name="Retângulo 5">
              <a:extLst>
                <a:ext uri="{FF2B5EF4-FFF2-40B4-BE49-F238E27FC236}">
                  <a16:creationId xmlns:a16="http://schemas.microsoft.com/office/drawing/2014/main" id="{B4F43B88-7999-A3C0-FB33-D20EA4193E41}"/>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6">
              <a:extLst>
                <a:ext uri="{FF2B5EF4-FFF2-40B4-BE49-F238E27FC236}">
                  <a16:creationId xmlns:a16="http://schemas.microsoft.com/office/drawing/2014/main" id="{DB00686E-2666-CF7A-F0A6-D62C377A5EC9}"/>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7">
              <a:extLst>
                <a:ext uri="{FF2B5EF4-FFF2-40B4-BE49-F238E27FC236}">
                  <a16:creationId xmlns:a16="http://schemas.microsoft.com/office/drawing/2014/main" id="{BE17B58A-542C-018C-B716-75A558056DF3}"/>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8">
              <a:extLst>
                <a:ext uri="{FF2B5EF4-FFF2-40B4-BE49-F238E27FC236}">
                  <a16:creationId xmlns:a16="http://schemas.microsoft.com/office/drawing/2014/main" id="{D449844F-B116-ED7B-422A-857FB2867C07}"/>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9">
              <a:extLst>
                <a:ext uri="{FF2B5EF4-FFF2-40B4-BE49-F238E27FC236}">
                  <a16:creationId xmlns:a16="http://schemas.microsoft.com/office/drawing/2014/main" id="{6C311409-B9BF-9D9A-CC1D-F815C482860F}"/>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0">
              <a:extLst>
                <a:ext uri="{FF2B5EF4-FFF2-40B4-BE49-F238E27FC236}">
                  <a16:creationId xmlns:a16="http://schemas.microsoft.com/office/drawing/2014/main" id="{6E413866-150C-20A9-EAB5-55C178E19EE5}"/>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1">
              <a:extLst>
                <a:ext uri="{FF2B5EF4-FFF2-40B4-BE49-F238E27FC236}">
                  <a16:creationId xmlns:a16="http://schemas.microsoft.com/office/drawing/2014/main" id="{0C0A5C78-A473-E217-4FB4-6147AEF24111}"/>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2">
              <a:extLst>
                <a:ext uri="{FF2B5EF4-FFF2-40B4-BE49-F238E27FC236}">
                  <a16:creationId xmlns:a16="http://schemas.microsoft.com/office/drawing/2014/main" id="{EF3367C6-8418-23EB-534D-AC41574C3A1A}"/>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3">
              <a:extLst>
                <a:ext uri="{FF2B5EF4-FFF2-40B4-BE49-F238E27FC236}">
                  <a16:creationId xmlns:a16="http://schemas.microsoft.com/office/drawing/2014/main" id="{6316B3F0-DEDE-1742-5F75-8492A891569B}"/>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786275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0FE01-F0E0-A1DC-6117-BAC0832F39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2FC63E-DB87-0910-98C6-05444737DADD}"/>
              </a:ext>
            </a:extLst>
          </p:cNvPr>
          <p:cNvSpPr>
            <a:spLocks noGrp="1"/>
          </p:cNvSpPr>
          <p:nvPr>
            <p:ph type="title"/>
          </p:nvPr>
        </p:nvSpPr>
        <p:spPr/>
        <p:txBody>
          <a:bodyPr/>
          <a:lstStyle/>
          <a:p>
            <a:r>
              <a:rPr lang="pt-BR" dirty="0"/>
              <a:t>Localidade espacial</a:t>
            </a:r>
          </a:p>
        </p:txBody>
      </p:sp>
      <p:sp>
        <p:nvSpPr>
          <p:cNvPr id="3" name="Espaço Reservado para Conteúdo 2">
            <a:extLst>
              <a:ext uri="{FF2B5EF4-FFF2-40B4-BE49-F238E27FC236}">
                <a16:creationId xmlns:a16="http://schemas.microsoft.com/office/drawing/2014/main" id="{F434799A-470D-3EBB-F387-A749D074AD97}"/>
              </a:ext>
            </a:extLst>
          </p:cNvPr>
          <p:cNvSpPr>
            <a:spLocks noGrp="1"/>
          </p:cNvSpPr>
          <p:nvPr>
            <p:ph idx="1"/>
          </p:nvPr>
        </p:nvSpPr>
        <p:spPr>
          <a:xfrm>
            <a:off x="5925406" y="1690688"/>
            <a:ext cx="6266594" cy="5167311"/>
          </a:xfrm>
        </p:spPr>
        <p:txBody>
          <a:bodyPr>
            <a:normAutofit/>
          </a:bodyPr>
          <a:lstStyle/>
          <a:p>
            <a:r>
              <a:rPr lang="pt-BR" b="1" dirty="0">
                <a:solidFill>
                  <a:srgbClr val="00B050"/>
                </a:solidFill>
              </a:rPr>
              <a:t>Estruturas</a:t>
            </a:r>
            <a:r>
              <a:rPr lang="pt-BR" dirty="0"/>
              <a:t> (ou </a:t>
            </a:r>
            <a:r>
              <a:rPr lang="pt-BR" b="1" dirty="0">
                <a:solidFill>
                  <a:srgbClr val="0070C0"/>
                </a:solidFill>
              </a:rPr>
              <a:t>padrões</a:t>
            </a:r>
            <a:r>
              <a:rPr lang="pt-BR" dirty="0"/>
              <a:t>) importantes como </a:t>
            </a:r>
            <a:r>
              <a:rPr lang="pt-BR" b="1" dirty="0">
                <a:solidFill>
                  <a:schemeClr val="accent2"/>
                </a:solidFill>
              </a:rPr>
              <a:t>bordas, contornos, texturas, formas, partes de objetos e objetos inteiros</a:t>
            </a:r>
            <a:r>
              <a:rPr lang="pt-BR" dirty="0"/>
              <a:t> </a:t>
            </a:r>
            <a:r>
              <a:rPr lang="pt-BR" b="1" dirty="0">
                <a:solidFill>
                  <a:srgbClr val="00B050"/>
                </a:solidFill>
              </a:rPr>
              <a:t>dependem da organização espacial</a:t>
            </a:r>
            <a:r>
              <a:rPr lang="pt-BR" dirty="0"/>
              <a:t>.</a:t>
            </a:r>
          </a:p>
          <a:p>
            <a:r>
              <a:rPr lang="pt-BR" dirty="0"/>
              <a:t>Portanto, a exploração da </a:t>
            </a:r>
            <a:r>
              <a:rPr lang="pt-BR" b="1" dirty="0">
                <a:solidFill>
                  <a:schemeClr val="accent2"/>
                </a:solidFill>
              </a:rPr>
              <a:t>localidade espacial</a:t>
            </a:r>
            <a:r>
              <a:rPr lang="pt-BR" dirty="0"/>
              <a:t> é </a:t>
            </a:r>
            <a:r>
              <a:rPr lang="pt-BR" b="1" dirty="0">
                <a:solidFill>
                  <a:srgbClr val="7030A0"/>
                </a:solidFill>
              </a:rPr>
              <a:t>benéfica</a:t>
            </a:r>
            <a:r>
              <a:rPr lang="pt-BR" dirty="0"/>
              <a:t> para tarefas de </a:t>
            </a:r>
            <a:r>
              <a:rPr lang="pt-BR" b="1" dirty="0">
                <a:solidFill>
                  <a:srgbClr val="00B050"/>
                </a:solidFill>
              </a:rPr>
              <a:t>reconhecimento de padrões</a:t>
            </a:r>
            <a:r>
              <a:rPr lang="pt-BR" dirty="0"/>
              <a:t>.</a:t>
            </a:r>
          </a:p>
          <a:p>
            <a:r>
              <a:rPr lang="pt-BR" dirty="0"/>
              <a:t>As CNNs exploram a localidade espacial usando filtros que percorrem a imagem em busca de padrões.</a:t>
            </a:r>
          </a:p>
        </p:txBody>
      </p:sp>
      <p:pic>
        <p:nvPicPr>
          <p:cNvPr id="1032" name="Picture 8" descr="Cat Sounds:Amazon.com.br:Appstore for Android">
            <a:extLst>
              <a:ext uri="{FF2B5EF4-FFF2-40B4-BE49-F238E27FC236}">
                <a16:creationId xmlns:a16="http://schemas.microsoft.com/office/drawing/2014/main" id="{69DAD0E9-4FAE-2960-FE3D-DD02792B760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id="{77F0EE82-3619-2BC9-D04D-300F5136D683}"/>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7E43839-2425-D8E8-70BC-D4A9670A0050}"/>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3DBAE59F-4F7A-9D59-6832-3432563DE04A}"/>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AA73542C-5273-F2A3-0F71-59C0FBE7EAE0}"/>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FC9B7E39-0644-58DF-22B8-056A5193BF8A}"/>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5F92F4A6-46DB-2830-8F87-074365303279}"/>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FEAB395B-DB8B-2228-E561-651CEC8B41C0}"/>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B03D9488-1BE1-BAB0-3839-6BAC7315D798}"/>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739E1330-7DD7-0E1A-7A67-257A390105D5}"/>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38671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2C8EF-AB91-5AE0-1010-2F6D8AB9B149}"/>
              </a:ext>
            </a:extLst>
          </p:cNvPr>
          <p:cNvSpPr>
            <a:spLocks noGrp="1"/>
          </p:cNvSpPr>
          <p:nvPr>
            <p:ph type="title"/>
          </p:nvPr>
        </p:nvSpPr>
        <p:spPr/>
        <p:txBody>
          <a:bodyPr/>
          <a:lstStyle/>
          <a:p>
            <a:r>
              <a:rPr lang="pt-BR" dirty="0"/>
              <a:t>DNNs e imagens</a:t>
            </a:r>
            <a:endParaRPr lang="en-US" dirty="0"/>
          </a:p>
        </p:txBody>
      </p:sp>
      <p:sp>
        <p:nvSpPr>
          <p:cNvPr id="3" name="Content Placeholder 2">
            <a:extLst>
              <a:ext uri="{FF2B5EF4-FFF2-40B4-BE49-F238E27FC236}">
                <a16:creationId xmlns:a16="http://schemas.microsoft.com/office/drawing/2014/main" id="{A6DF8FBE-510E-60CC-8176-7BA5CC3F40ED}"/>
              </a:ext>
            </a:extLst>
          </p:cNvPr>
          <p:cNvSpPr>
            <a:spLocks noGrp="1"/>
          </p:cNvSpPr>
          <p:nvPr>
            <p:ph idx="1"/>
          </p:nvPr>
        </p:nvSpPr>
        <p:spPr>
          <a:xfrm>
            <a:off x="5791200" y="1825624"/>
            <a:ext cx="6400800" cy="5032375"/>
          </a:xfrm>
        </p:spPr>
        <p:txBody>
          <a:bodyPr>
            <a:normAutofit lnSpcReduction="10000"/>
          </a:bodyPr>
          <a:lstStyle/>
          <a:p>
            <a:r>
              <a:rPr lang="pt-BR" dirty="0"/>
              <a:t>DNNs são </a:t>
            </a:r>
            <a:r>
              <a:rPr lang="pt-BR" b="1" dirty="0">
                <a:solidFill>
                  <a:srgbClr val="0070C0"/>
                </a:solidFill>
              </a:rPr>
              <a:t>computacionalmente ineficientes </a:t>
            </a:r>
            <a:r>
              <a:rPr lang="pt-BR" dirty="0"/>
              <a:t>para processamento de imagens.</a:t>
            </a:r>
          </a:p>
          <a:p>
            <a:r>
              <a:rPr lang="pt-BR" dirty="0"/>
              <a:t>Redes densas </a:t>
            </a:r>
            <a:r>
              <a:rPr lang="pt-BR" b="1" dirty="0">
                <a:solidFill>
                  <a:srgbClr val="00B050"/>
                </a:solidFill>
              </a:rPr>
              <a:t>conectam cada </a:t>
            </a:r>
            <a:r>
              <a:rPr lang="pt-BR" b="1" i="1" dirty="0">
                <a:solidFill>
                  <a:srgbClr val="00B050"/>
                </a:solidFill>
              </a:rPr>
              <a:t>pixel</a:t>
            </a:r>
            <a:r>
              <a:rPr lang="pt-BR" b="1" dirty="0">
                <a:solidFill>
                  <a:srgbClr val="00B050"/>
                </a:solidFill>
              </a:rPr>
              <a:t> a todos os nós de uma camada</a:t>
            </a:r>
            <a:r>
              <a:rPr lang="pt-BR" dirty="0"/>
              <a:t>, gerando um número enorme de pesos, o que resulta em uma </a:t>
            </a:r>
            <a:r>
              <a:rPr lang="pt-BR" b="1" dirty="0">
                <a:solidFill>
                  <a:schemeClr val="accent2"/>
                </a:solidFill>
              </a:rPr>
              <a:t>rede muito grande</a:t>
            </a:r>
            <a:r>
              <a:rPr lang="pt-BR" dirty="0"/>
              <a:t>.</a:t>
            </a:r>
          </a:p>
          <a:p>
            <a:r>
              <a:rPr lang="pt-BR" dirty="0"/>
              <a:t>Exemplo: </a:t>
            </a:r>
          </a:p>
          <a:p>
            <a:pPr lvl="1">
              <a:buFont typeface="Wingdings" panose="05000000000000000000" pitchFamily="2" charset="2"/>
              <a:buChar char="§"/>
            </a:pPr>
            <a:r>
              <a:rPr lang="pt-BR" dirty="0"/>
              <a:t>Uma imagem de 28 x 28 </a:t>
            </a:r>
            <a:r>
              <a:rPr lang="pt-BR" i="1" dirty="0"/>
              <a:t>pixels</a:t>
            </a:r>
            <a:r>
              <a:rPr lang="pt-BR" dirty="0"/>
              <a:t> gera uma entrada com 784 atributos.</a:t>
            </a:r>
          </a:p>
          <a:p>
            <a:pPr lvl="1">
              <a:buFont typeface="Wingdings" panose="05000000000000000000" pitchFamily="2" charset="2"/>
              <a:buChar char="§"/>
            </a:pPr>
            <a:r>
              <a:rPr lang="pt-BR" dirty="0"/>
              <a:t>Se a primeira camada tiver 100 neurônios serão 784 x 100 = 78400 pesos.</a:t>
            </a:r>
          </a:p>
          <a:p>
            <a:pPr lvl="1">
              <a:buFont typeface="Wingdings" panose="05000000000000000000" pitchFamily="2" charset="2"/>
              <a:buChar char="§"/>
            </a:pPr>
            <a:r>
              <a:rPr lang="pt-BR" dirty="0"/>
              <a:t>E isso apenas na primeira camada.</a:t>
            </a:r>
          </a:p>
        </p:txBody>
      </p:sp>
      <p:pic>
        <p:nvPicPr>
          <p:cNvPr id="4" name="Imagem 4">
            <a:extLst>
              <a:ext uri="{FF2B5EF4-FFF2-40B4-BE49-F238E27FC236}">
                <a16:creationId xmlns:a16="http://schemas.microsoft.com/office/drawing/2014/main" id="{0308087D-86EF-412C-6CA8-1BF28EF98C76}"/>
              </a:ext>
            </a:extLst>
          </p:cNvPr>
          <p:cNvPicPr>
            <a:picLocks noChangeAspect="1"/>
          </p:cNvPicPr>
          <p:nvPr/>
        </p:nvPicPr>
        <p:blipFill rotWithShape="1">
          <a:blip r:embed="rId2"/>
          <a:srcRect l="3436" t="2799"/>
          <a:stretch/>
        </p:blipFill>
        <p:spPr>
          <a:xfrm>
            <a:off x="239148" y="2068946"/>
            <a:ext cx="5095217" cy="4257675"/>
          </a:xfrm>
          <a:prstGeom prst="rect">
            <a:avLst/>
          </a:prstGeom>
        </p:spPr>
      </p:pic>
    </p:spTree>
    <p:extLst>
      <p:ext uri="{BB962C8B-B14F-4D97-AF65-F5344CB8AC3E}">
        <p14:creationId xmlns:p14="http://schemas.microsoft.com/office/powerpoint/2010/main" val="152836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1FED1-29EB-9C18-A564-4295FA221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6A82D-5315-FBD2-521E-FD42CB8EB43F}"/>
              </a:ext>
            </a:extLst>
          </p:cNvPr>
          <p:cNvSpPr>
            <a:spLocks noGrp="1"/>
          </p:cNvSpPr>
          <p:nvPr>
            <p:ph type="title"/>
          </p:nvPr>
        </p:nvSpPr>
        <p:spPr/>
        <p:txBody>
          <a:bodyPr/>
          <a:lstStyle/>
          <a:p>
            <a:r>
              <a:rPr lang="pt-BR" dirty="0"/>
              <a:t>DNNs e imagens</a:t>
            </a:r>
            <a:endParaRPr lang="en-US" dirty="0"/>
          </a:p>
        </p:txBody>
      </p:sp>
      <p:sp>
        <p:nvSpPr>
          <p:cNvPr id="3" name="Content Placeholder 2">
            <a:extLst>
              <a:ext uri="{FF2B5EF4-FFF2-40B4-BE49-F238E27FC236}">
                <a16:creationId xmlns:a16="http://schemas.microsoft.com/office/drawing/2014/main" id="{84209266-0CBD-52DA-7D66-1CC92AD4491B}"/>
              </a:ext>
            </a:extLst>
          </p:cNvPr>
          <p:cNvSpPr>
            <a:spLocks noGrp="1"/>
          </p:cNvSpPr>
          <p:nvPr>
            <p:ph idx="1"/>
          </p:nvPr>
        </p:nvSpPr>
        <p:spPr>
          <a:xfrm>
            <a:off x="838200" y="1825624"/>
            <a:ext cx="11353800" cy="5032375"/>
          </a:xfrm>
        </p:spPr>
        <p:txBody>
          <a:bodyPr>
            <a:normAutofit lnSpcReduction="10000"/>
          </a:bodyPr>
          <a:lstStyle/>
          <a:p>
            <a:r>
              <a:rPr lang="pt-BR" noProof="0" dirty="0"/>
              <a:t>Em uma DNN, o </a:t>
            </a:r>
            <a:r>
              <a:rPr lang="pt-BR" b="1" noProof="0" dirty="0">
                <a:solidFill>
                  <a:srgbClr val="7030A0"/>
                </a:solidFill>
              </a:rPr>
              <a:t>número de pesos cresce com a resolução da imagem</a:t>
            </a:r>
            <a:r>
              <a:rPr lang="pt-BR" noProof="0" dirty="0"/>
              <a:t>.</a:t>
            </a:r>
          </a:p>
          <a:p>
            <a:r>
              <a:rPr lang="pt-BR" noProof="0" dirty="0"/>
              <a:t>Problemas causados por um modelo grande</a:t>
            </a:r>
          </a:p>
          <a:p>
            <a:pPr lvl="1">
              <a:buFont typeface="Wingdings" panose="05000000000000000000" pitchFamily="2" charset="2"/>
              <a:buChar char="§"/>
            </a:pPr>
            <a:r>
              <a:rPr lang="pt-BR" noProof="0" dirty="0"/>
              <a:t>alto custo computacional</a:t>
            </a:r>
          </a:p>
          <a:p>
            <a:pPr lvl="2">
              <a:buFont typeface="Courier New" panose="02070309020205020404" pitchFamily="49" charset="0"/>
              <a:buChar char="o"/>
            </a:pPr>
            <a:r>
              <a:rPr lang="pt-BR" noProof="0" dirty="0"/>
              <a:t>treinamento mais lento</a:t>
            </a:r>
          </a:p>
          <a:p>
            <a:pPr lvl="2">
              <a:buFont typeface="Courier New" panose="02070309020205020404" pitchFamily="49" charset="0"/>
              <a:buChar char="o"/>
            </a:pPr>
            <a:r>
              <a:rPr lang="pt-BR" noProof="0" dirty="0"/>
              <a:t>maior consumo de memória</a:t>
            </a:r>
          </a:p>
          <a:p>
            <a:pPr lvl="1">
              <a:buFont typeface="Wingdings" panose="05000000000000000000" pitchFamily="2" charset="2"/>
              <a:buChar char="§"/>
            </a:pPr>
            <a:r>
              <a:rPr lang="pt-BR" noProof="0" dirty="0"/>
              <a:t>maior risco de </a:t>
            </a:r>
            <a:r>
              <a:rPr lang="pt-BR" i="1" noProof="0" dirty="0" err="1"/>
              <a:t>overfitting</a:t>
            </a:r>
            <a:endParaRPr lang="pt-BR" noProof="0" dirty="0"/>
          </a:p>
          <a:p>
            <a:r>
              <a:rPr lang="pt-BR" noProof="0" dirty="0"/>
              <a:t>Em geral, para ter desempenho similar, </a:t>
            </a:r>
            <a:r>
              <a:rPr lang="pt-BR" noProof="0" dirty="0" err="1"/>
              <a:t>DNNs</a:t>
            </a:r>
            <a:r>
              <a:rPr lang="pt-BR" noProof="0" dirty="0"/>
              <a:t> precisam ser maiores do que CNNs, pois precisam de mais nós para apreender o mesmo padrão em diferentes posições.</a:t>
            </a:r>
          </a:p>
          <a:p>
            <a:r>
              <a:rPr lang="pt-BR" noProof="0" dirty="0"/>
              <a:t>Além disso, por </a:t>
            </a:r>
            <a:r>
              <a:rPr lang="pt-BR" b="1" noProof="0" dirty="0">
                <a:solidFill>
                  <a:schemeClr val="accent2"/>
                </a:solidFill>
              </a:rPr>
              <a:t>desconsiderarem a estrutura espacial</a:t>
            </a:r>
            <a:r>
              <a:rPr lang="pt-BR" noProof="0" dirty="0"/>
              <a:t> dos </a:t>
            </a:r>
            <a:r>
              <a:rPr lang="pt-BR" i="1" noProof="0" dirty="0"/>
              <a:t>pixels</a:t>
            </a:r>
            <a:r>
              <a:rPr lang="pt-BR" noProof="0" dirty="0"/>
              <a:t>, seriam necessárias </a:t>
            </a:r>
            <a:r>
              <a:rPr lang="pt-BR" b="1" noProof="0" dirty="0">
                <a:solidFill>
                  <a:schemeClr val="accent2"/>
                </a:solidFill>
              </a:rPr>
              <a:t>redes e </a:t>
            </a:r>
            <a:r>
              <a:rPr lang="pt-BR" b="1" i="1" noProof="0" dirty="0" err="1">
                <a:solidFill>
                  <a:schemeClr val="accent2"/>
                </a:solidFill>
              </a:rPr>
              <a:t>datasets</a:t>
            </a:r>
            <a:r>
              <a:rPr lang="pt-BR" b="1" noProof="0" dirty="0">
                <a:solidFill>
                  <a:schemeClr val="accent2"/>
                </a:solidFill>
              </a:rPr>
              <a:t> extremamente grandes</a:t>
            </a:r>
            <a:r>
              <a:rPr lang="pt-BR" noProof="0" dirty="0"/>
              <a:t> para funcionarem bem com </a:t>
            </a:r>
            <a:r>
              <a:rPr lang="pt-BR" b="1" noProof="0" dirty="0">
                <a:solidFill>
                  <a:srgbClr val="00B050"/>
                </a:solidFill>
              </a:rPr>
              <a:t>problemas de detecção e segmentação de objetos</a:t>
            </a:r>
            <a:r>
              <a:rPr lang="pt-BR" noProof="0" dirty="0"/>
              <a:t>, os quais se </a:t>
            </a:r>
            <a:r>
              <a:rPr lang="pt-BR" b="1" noProof="0" dirty="0">
                <a:solidFill>
                  <a:srgbClr val="0070C0"/>
                </a:solidFill>
              </a:rPr>
              <a:t>baseiam na localização dos objetos</a:t>
            </a:r>
            <a:r>
              <a:rPr lang="pt-BR" noProof="0" dirty="0"/>
              <a:t>.</a:t>
            </a:r>
          </a:p>
        </p:txBody>
      </p:sp>
    </p:spTree>
    <p:extLst>
      <p:ext uri="{BB962C8B-B14F-4D97-AF65-F5344CB8AC3E}">
        <p14:creationId xmlns:p14="http://schemas.microsoft.com/office/powerpoint/2010/main" val="2689438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1B9476-4706-8E81-221F-E5040AB27D23}"/>
              </a:ext>
            </a:extLst>
          </p:cNvPr>
          <p:cNvSpPr>
            <a:spLocks noGrp="1"/>
          </p:cNvSpPr>
          <p:nvPr>
            <p:ph type="title"/>
          </p:nvPr>
        </p:nvSpPr>
        <p:spPr/>
        <p:txBody>
          <a:bodyPr/>
          <a:lstStyle/>
          <a:p>
            <a:r>
              <a:rPr lang="pt-BR" dirty="0"/>
              <a:t>DNNs e imagens</a:t>
            </a:r>
          </a:p>
        </p:txBody>
      </p:sp>
      <p:sp>
        <p:nvSpPr>
          <p:cNvPr id="3" name="Espaço Reservado para Conteúdo 2">
            <a:extLst>
              <a:ext uri="{FF2B5EF4-FFF2-40B4-BE49-F238E27FC236}">
                <a16:creationId xmlns:a16="http://schemas.microsoft.com/office/drawing/2014/main" id="{3DB90306-31A3-7468-D521-F26B9341F612}"/>
              </a:ext>
            </a:extLst>
          </p:cNvPr>
          <p:cNvSpPr>
            <a:spLocks noGrp="1"/>
          </p:cNvSpPr>
          <p:nvPr>
            <p:ph idx="1"/>
          </p:nvPr>
        </p:nvSpPr>
        <p:spPr>
          <a:xfrm>
            <a:off x="5184635" y="1690688"/>
            <a:ext cx="7007365" cy="5167311"/>
          </a:xfrm>
        </p:spPr>
        <p:txBody>
          <a:bodyPr>
            <a:normAutofit/>
          </a:bodyPr>
          <a:lstStyle/>
          <a:p>
            <a:r>
              <a:rPr lang="pt-BR" dirty="0"/>
              <a:t>Portanto, a </a:t>
            </a:r>
            <a:r>
              <a:rPr lang="pt-BR" b="1" dirty="0">
                <a:solidFill>
                  <a:schemeClr val="accent2"/>
                </a:solidFill>
              </a:rPr>
              <a:t>conectividade total dos nós </a:t>
            </a:r>
            <a:r>
              <a:rPr lang="pt-BR" b="1" dirty="0">
                <a:solidFill>
                  <a:srgbClr val="00B050"/>
                </a:solidFill>
              </a:rPr>
              <a:t>em uma DNN é um </a:t>
            </a:r>
            <a:r>
              <a:rPr lang="pt-BR" b="1" dirty="0">
                <a:solidFill>
                  <a:srgbClr val="7030A0"/>
                </a:solidFill>
              </a:rPr>
              <a:t>desperdício</a:t>
            </a:r>
            <a:r>
              <a:rPr lang="pt-BR" b="1" dirty="0">
                <a:solidFill>
                  <a:srgbClr val="00B050"/>
                </a:solidFill>
              </a:rPr>
              <a:t> </a:t>
            </a:r>
            <a:r>
              <a:rPr lang="pt-BR" dirty="0"/>
              <a:t>para tarefas de </a:t>
            </a:r>
            <a:r>
              <a:rPr lang="pt-BR" b="1" dirty="0">
                <a:solidFill>
                  <a:srgbClr val="0070C0"/>
                </a:solidFill>
              </a:rPr>
              <a:t>processamento de imagens</a:t>
            </a:r>
            <a:r>
              <a:rPr lang="pt-BR" dirty="0"/>
              <a:t>, as quais são</a:t>
            </a:r>
          </a:p>
          <a:p>
            <a:pPr lvl="1">
              <a:buFont typeface="Wingdings" panose="05000000000000000000" pitchFamily="2" charset="2"/>
              <a:buChar char="§"/>
            </a:pPr>
            <a:r>
              <a:rPr lang="pt-BR" b="1" dirty="0">
                <a:solidFill>
                  <a:srgbClr val="7030A0"/>
                </a:solidFill>
              </a:rPr>
              <a:t>dominadas por padrões espacialmente locais </a:t>
            </a:r>
          </a:p>
          <a:p>
            <a:pPr lvl="1">
              <a:buFont typeface="Wingdings" panose="05000000000000000000" pitchFamily="2" charset="2"/>
              <a:buChar char="§"/>
            </a:pPr>
            <a:r>
              <a:rPr lang="pt-BR" b="1" dirty="0">
                <a:solidFill>
                  <a:schemeClr val="accent6"/>
                </a:solidFill>
              </a:rPr>
              <a:t>e contêm hierarquias</a:t>
            </a:r>
            <a:r>
              <a:rPr lang="pt-BR" dirty="0">
                <a:solidFill>
                  <a:schemeClr val="accent6"/>
                </a:solidFill>
              </a:rPr>
              <a:t>.</a:t>
            </a:r>
          </a:p>
          <a:p>
            <a:pPr lvl="2">
              <a:buFont typeface="Courier New" panose="02070309020205020404" pitchFamily="49" charset="0"/>
              <a:buChar char="o"/>
            </a:pPr>
            <a:r>
              <a:rPr lang="pt-BR" dirty="0"/>
              <a:t>Características simples se unem para criar características mais complexas.</a:t>
            </a:r>
          </a:p>
          <a:p>
            <a:pPr lvl="2">
              <a:buFont typeface="Courier New" panose="02070309020205020404" pitchFamily="49" charset="0"/>
              <a:buChar char="o"/>
            </a:pPr>
            <a:r>
              <a:rPr lang="pt-BR" dirty="0"/>
              <a:t>Por exemplo, bordas, linhas e cantos formam contornos e texturas, que formam partes elementares de objetos e, que por sua vez, formam objetos completos.</a:t>
            </a:r>
          </a:p>
        </p:txBody>
      </p:sp>
      <p:grpSp>
        <p:nvGrpSpPr>
          <p:cNvPr id="4" name="Agrupar 3">
            <a:extLst>
              <a:ext uri="{FF2B5EF4-FFF2-40B4-BE49-F238E27FC236}">
                <a16:creationId xmlns:a16="http://schemas.microsoft.com/office/drawing/2014/main" id="{66F683E1-CBA1-6C0C-2E99-63D108B5F7CD}"/>
              </a:ext>
            </a:extLst>
          </p:cNvPr>
          <p:cNvGrpSpPr/>
          <p:nvPr/>
        </p:nvGrpSpPr>
        <p:grpSpPr>
          <a:xfrm>
            <a:off x="1407560" y="2002400"/>
            <a:ext cx="2686050" cy="3504074"/>
            <a:chOff x="1407560" y="2002400"/>
            <a:chExt cx="2686050" cy="3504074"/>
          </a:xfrm>
        </p:grpSpPr>
        <p:pic>
          <p:nvPicPr>
            <p:cNvPr id="1032" name="Picture 8" descr="Cat Sounds:Amazon.com.br:Appstore for Android">
              <a:extLst>
                <a:ext uri="{FF2B5EF4-FFF2-40B4-BE49-F238E27FC236}">
                  <a16:creationId xmlns:a16="http://schemas.microsoft.com/office/drawing/2014/main" id="{A7970926-2B3A-AEDE-AC8B-A2A98FA1FFE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6" name="Retângulo 5">
              <a:extLst>
                <a:ext uri="{FF2B5EF4-FFF2-40B4-BE49-F238E27FC236}">
                  <a16:creationId xmlns:a16="http://schemas.microsoft.com/office/drawing/2014/main" id="{CD4003C3-0C7C-1D8E-74B7-646F03CF6A54}"/>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89B771EE-0EBA-4D92-9502-0794CE05D00A}"/>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1A00E978-C90E-8E55-839D-00AD3033D2CC}"/>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96FCAC61-7225-5213-0F9A-14993EBBD0A2}"/>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0A74E7E2-1897-EF81-EA84-5E6CFA67601B}"/>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C53EDD42-B6EA-C25A-D2AA-5151E121664C}"/>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A020F276-B44C-12BD-B41F-27663F4CADAB}"/>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CBE0E914-7E1B-DA81-472B-5F87D15B86F7}"/>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FCE2FD66-A6F8-9ED4-968A-EA6ECE24713B}"/>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5" name="Retângulo 4">
            <a:extLst>
              <a:ext uri="{FF2B5EF4-FFF2-40B4-BE49-F238E27FC236}">
                <a16:creationId xmlns:a16="http://schemas.microsoft.com/office/drawing/2014/main" id="{8D29EB07-1347-746F-6BE8-B358BCF1DA57}"/>
              </a:ext>
            </a:extLst>
          </p:cNvPr>
          <p:cNvSpPr/>
          <p:nvPr/>
        </p:nvSpPr>
        <p:spPr>
          <a:xfrm>
            <a:off x="3282180" y="6057892"/>
            <a:ext cx="1866865" cy="563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bordas, linhas e cantos</a:t>
            </a:r>
            <a:endParaRPr lang="en-US" dirty="0">
              <a:solidFill>
                <a:schemeClr val="tx1"/>
              </a:solidFill>
            </a:endParaRPr>
          </a:p>
        </p:txBody>
      </p:sp>
      <p:sp>
        <p:nvSpPr>
          <p:cNvPr id="18" name="Retângulo 17">
            <a:extLst>
              <a:ext uri="{FF2B5EF4-FFF2-40B4-BE49-F238E27FC236}">
                <a16:creationId xmlns:a16="http://schemas.microsoft.com/office/drawing/2014/main" id="{22ABE9CA-18E7-1C2F-0CC4-443BD3549CDF}"/>
              </a:ext>
            </a:extLst>
          </p:cNvPr>
          <p:cNvSpPr/>
          <p:nvPr/>
        </p:nvSpPr>
        <p:spPr>
          <a:xfrm>
            <a:off x="5483770" y="6057894"/>
            <a:ext cx="1790665" cy="563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contornos e texturas</a:t>
            </a:r>
            <a:endParaRPr lang="en-US" dirty="0">
              <a:solidFill>
                <a:schemeClr val="tx1"/>
              </a:solidFill>
            </a:endParaRPr>
          </a:p>
        </p:txBody>
      </p:sp>
      <p:sp>
        <p:nvSpPr>
          <p:cNvPr id="20" name="Retângulo 19">
            <a:extLst>
              <a:ext uri="{FF2B5EF4-FFF2-40B4-BE49-F238E27FC236}">
                <a16:creationId xmlns:a16="http://schemas.microsoft.com/office/drawing/2014/main" id="{4F6BF176-12C3-8061-9D69-084617A773C1}"/>
              </a:ext>
            </a:extLst>
          </p:cNvPr>
          <p:cNvSpPr/>
          <p:nvPr/>
        </p:nvSpPr>
        <p:spPr>
          <a:xfrm>
            <a:off x="7609160" y="6057893"/>
            <a:ext cx="1990690" cy="563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partes elementares de objetos</a:t>
            </a:r>
            <a:endParaRPr lang="en-US" dirty="0">
              <a:solidFill>
                <a:schemeClr val="tx1"/>
              </a:solidFill>
            </a:endParaRPr>
          </a:p>
        </p:txBody>
      </p:sp>
      <p:sp>
        <p:nvSpPr>
          <p:cNvPr id="22" name="Retângulo 21">
            <a:extLst>
              <a:ext uri="{FF2B5EF4-FFF2-40B4-BE49-F238E27FC236}">
                <a16:creationId xmlns:a16="http://schemas.microsoft.com/office/drawing/2014/main" id="{483991D4-367A-11C1-ADEB-64FCDF31F186}"/>
              </a:ext>
            </a:extLst>
          </p:cNvPr>
          <p:cNvSpPr/>
          <p:nvPr/>
        </p:nvSpPr>
        <p:spPr>
          <a:xfrm>
            <a:off x="9934575" y="6057898"/>
            <a:ext cx="1990690" cy="5635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objetos inteiros</a:t>
            </a:r>
            <a:endParaRPr lang="en-US" dirty="0">
              <a:solidFill>
                <a:schemeClr val="tx1"/>
              </a:solidFill>
            </a:endParaRPr>
          </a:p>
        </p:txBody>
      </p:sp>
      <p:cxnSp>
        <p:nvCxnSpPr>
          <p:cNvPr id="24" name="Conector de Seta Reta 23">
            <a:extLst>
              <a:ext uri="{FF2B5EF4-FFF2-40B4-BE49-F238E27FC236}">
                <a16:creationId xmlns:a16="http://schemas.microsoft.com/office/drawing/2014/main" id="{E6C823D7-1AE5-0431-C884-A93340BD14C6}"/>
              </a:ext>
            </a:extLst>
          </p:cNvPr>
          <p:cNvCxnSpPr>
            <a:stCxn id="5" idx="3"/>
            <a:endCxn id="18" idx="1"/>
          </p:cNvCxnSpPr>
          <p:nvPr/>
        </p:nvCxnSpPr>
        <p:spPr>
          <a:xfrm>
            <a:off x="5149045" y="6339667"/>
            <a:ext cx="334725"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3508F072-E631-E6F4-44C1-4824CD18124E}"/>
              </a:ext>
            </a:extLst>
          </p:cNvPr>
          <p:cNvCxnSpPr>
            <a:stCxn id="18" idx="3"/>
            <a:endCxn id="20" idx="1"/>
          </p:cNvCxnSpPr>
          <p:nvPr/>
        </p:nvCxnSpPr>
        <p:spPr>
          <a:xfrm flipV="1">
            <a:off x="7274435" y="6339668"/>
            <a:ext cx="33472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4B18ECCD-F744-CBED-6BE7-E7BD26B2A124}"/>
              </a:ext>
            </a:extLst>
          </p:cNvPr>
          <p:cNvCxnSpPr>
            <a:stCxn id="20" idx="3"/>
            <a:endCxn id="22" idx="1"/>
          </p:cNvCxnSpPr>
          <p:nvPr/>
        </p:nvCxnSpPr>
        <p:spPr>
          <a:xfrm>
            <a:off x="9599850" y="6339668"/>
            <a:ext cx="334725" cy="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30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02083-172F-FD40-3F1A-9C2E89F6B0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4ADEE-3A91-E581-1095-167BA9C9E20A}"/>
              </a:ext>
            </a:extLst>
          </p:cNvPr>
          <p:cNvSpPr>
            <a:spLocks noGrp="1"/>
          </p:cNvSpPr>
          <p:nvPr>
            <p:ph idx="1"/>
          </p:nvPr>
        </p:nvSpPr>
        <p:spPr>
          <a:xfrm>
            <a:off x="838200" y="2930019"/>
            <a:ext cx="10515600" cy="997962"/>
          </a:xfrm>
        </p:spPr>
        <p:txBody>
          <a:bodyPr>
            <a:normAutofit/>
          </a:bodyPr>
          <a:lstStyle/>
          <a:p>
            <a:pPr marL="0" indent="0" algn="ctr">
              <a:buNone/>
            </a:pPr>
            <a:r>
              <a:rPr lang="pt-BR" sz="6000" dirty="0"/>
              <a:t>Por que </a:t>
            </a:r>
            <a:r>
              <a:rPr lang="pt-BR" sz="6600" dirty="0"/>
              <a:t>usar CNN</a:t>
            </a:r>
            <a:r>
              <a:rPr lang="pt-BR" sz="6000" dirty="0"/>
              <a:t>s?</a:t>
            </a:r>
            <a:endParaRPr lang="en-US" sz="6000" dirty="0"/>
          </a:p>
        </p:txBody>
      </p:sp>
    </p:spTree>
    <p:extLst>
      <p:ext uri="{BB962C8B-B14F-4D97-AF65-F5344CB8AC3E}">
        <p14:creationId xmlns:p14="http://schemas.microsoft.com/office/powerpoint/2010/main" val="4158520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CA629-B2D5-DA27-6291-F0600213D50E}"/>
              </a:ext>
            </a:extLst>
          </p:cNvPr>
          <p:cNvSpPr>
            <a:spLocks noGrp="1"/>
          </p:cNvSpPr>
          <p:nvPr>
            <p:ph type="title"/>
          </p:nvPr>
        </p:nvSpPr>
        <p:spPr/>
        <p:txBody>
          <a:bodyPr/>
          <a:lstStyle/>
          <a:p>
            <a:r>
              <a:rPr lang="pt-BR" dirty="0"/>
              <a:t>Redes neurais convolucionais</a:t>
            </a:r>
            <a:endParaRPr lang="en-US" dirty="0"/>
          </a:p>
        </p:txBody>
      </p:sp>
      <p:sp>
        <p:nvSpPr>
          <p:cNvPr id="3" name="Content Placeholder 2">
            <a:extLst>
              <a:ext uri="{FF2B5EF4-FFF2-40B4-BE49-F238E27FC236}">
                <a16:creationId xmlns:a16="http://schemas.microsoft.com/office/drawing/2014/main" id="{05AB3C9B-6CE5-71CF-7815-F1230EEA02DF}"/>
              </a:ext>
            </a:extLst>
          </p:cNvPr>
          <p:cNvSpPr>
            <a:spLocks noGrp="1"/>
          </p:cNvSpPr>
          <p:nvPr>
            <p:ph idx="1"/>
          </p:nvPr>
        </p:nvSpPr>
        <p:spPr>
          <a:xfrm>
            <a:off x="6257925" y="1825624"/>
            <a:ext cx="5934075" cy="5032375"/>
          </a:xfrm>
        </p:spPr>
        <p:txBody>
          <a:bodyPr>
            <a:normAutofit/>
          </a:bodyPr>
          <a:lstStyle/>
          <a:p>
            <a:r>
              <a:rPr lang="pt-BR" noProof="0" dirty="0"/>
              <a:t>CNNs são </a:t>
            </a:r>
            <a:r>
              <a:rPr lang="pt-BR" b="1" noProof="0" dirty="0">
                <a:solidFill>
                  <a:schemeClr val="accent2"/>
                </a:solidFill>
              </a:rPr>
              <a:t>mais eficientes que redes densas</a:t>
            </a:r>
            <a:r>
              <a:rPr lang="pt-BR" noProof="0" dirty="0"/>
              <a:t>: o </a:t>
            </a:r>
            <a:r>
              <a:rPr lang="pt-BR" b="1" noProof="0" dirty="0">
                <a:solidFill>
                  <a:srgbClr val="00B050"/>
                </a:solidFill>
              </a:rPr>
              <a:t>número de pesos depende do tamanho e da quantidade de filtros</a:t>
            </a:r>
            <a:r>
              <a:rPr lang="pt-BR" noProof="0" dirty="0"/>
              <a:t>, não da resolução da imagem.</a:t>
            </a:r>
          </a:p>
          <a:p>
            <a:r>
              <a:rPr lang="pt-BR" noProof="0" dirty="0"/>
              <a:t>CNNs exploram as propriedades naturais das imagens:</a:t>
            </a:r>
          </a:p>
          <a:p>
            <a:pPr lvl="1">
              <a:buFont typeface="Wingdings" panose="05000000000000000000" pitchFamily="2" charset="2"/>
              <a:buChar char="§"/>
            </a:pPr>
            <a:r>
              <a:rPr lang="pt-BR" b="1" noProof="0" dirty="0"/>
              <a:t>Localidade espacial</a:t>
            </a:r>
          </a:p>
          <a:p>
            <a:pPr lvl="1">
              <a:buFont typeface="Wingdings" panose="05000000000000000000" pitchFamily="2" charset="2"/>
              <a:buChar char="§"/>
            </a:pPr>
            <a:r>
              <a:rPr lang="pt-BR" b="1" noProof="0" dirty="0" err="1"/>
              <a:t>Estacionariedade</a:t>
            </a:r>
            <a:endParaRPr lang="pt-BR" noProof="0" dirty="0"/>
          </a:p>
          <a:p>
            <a:pPr lvl="1">
              <a:buFont typeface="Wingdings" panose="05000000000000000000" pitchFamily="2" charset="2"/>
              <a:buChar char="§"/>
            </a:pPr>
            <a:r>
              <a:rPr lang="pt-BR" b="1" noProof="0" dirty="0"/>
              <a:t>Composição hierárquica de padrões</a:t>
            </a:r>
            <a:endParaRPr lang="pt-BR" noProof="0" dirty="0"/>
          </a:p>
        </p:txBody>
      </p:sp>
      <p:pic>
        <p:nvPicPr>
          <p:cNvPr id="15" name="Imagem 14">
            <a:extLst>
              <a:ext uri="{FF2B5EF4-FFF2-40B4-BE49-F238E27FC236}">
                <a16:creationId xmlns:a16="http://schemas.microsoft.com/office/drawing/2014/main" id="{691CAD4C-7731-F201-4777-F4C7E861E3EA}"/>
              </a:ext>
            </a:extLst>
          </p:cNvPr>
          <p:cNvPicPr>
            <a:picLocks noChangeAspect="1"/>
          </p:cNvPicPr>
          <p:nvPr/>
        </p:nvPicPr>
        <p:blipFill>
          <a:blip r:embed="rId3"/>
          <a:stretch>
            <a:fillRect/>
          </a:stretch>
        </p:blipFill>
        <p:spPr>
          <a:xfrm>
            <a:off x="438524" y="1964984"/>
            <a:ext cx="5657476" cy="4767935"/>
          </a:xfrm>
          <a:prstGeom prst="rect">
            <a:avLst/>
          </a:prstGeom>
        </p:spPr>
      </p:pic>
      <p:sp>
        <p:nvSpPr>
          <p:cNvPr id="6" name="TextBox 5">
            <a:extLst>
              <a:ext uri="{FF2B5EF4-FFF2-40B4-BE49-F238E27FC236}">
                <a16:creationId xmlns:a16="http://schemas.microsoft.com/office/drawing/2014/main" id="{C294B835-27AD-F55D-903F-7D27E4AEE028}"/>
              </a:ext>
            </a:extLst>
          </p:cNvPr>
          <p:cNvSpPr txBox="1"/>
          <p:nvPr/>
        </p:nvSpPr>
        <p:spPr>
          <a:xfrm>
            <a:off x="5135901" y="6594419"/>
            <a:ext cx="7056099" cy="276999"/>
          </a:xfrm>
          <a:prstGeom prst="rect">
            <a:avLst/>
          </a:prstGeom>
          <a:noFill/>
        </p:spPr>
        <p:txBody>
          <a:bodyPr wrap="none" rtlCol="0">
            <a:spAutoFit/>
          </a:bodyPr>
          <a:lstStyle/>
          <a:p>
            <a:r>
              <a:rPr lang="pt-BR" sz="1200" dirty="0"/>
              <a:t>OBS.: CNNs são, em geral, usadas com imagens, mas podem ser aplicadas a outros tipos de dados (e.g., áudio)</a:t>
            </a:r>
            <a:endParaRPr lang="en-US" sz="1200" dirty="0"/>
          </a:p>
        </p:txBody>
      </p:sp>
    </p:spTree>
    <p:extLst>
      <p:ext uri="{BB962C8B-B14F-4D97-AF65-F5344CB8AC3E}">
        <p14:creationId xmlns:p14="http://schemas.microsoft.com/office/powerpoint/2010/main" val="2389405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2E06-5B04-2482-2E52-A4EB66B8E248}"/>
              </a:ext>
            </a:extLst>
          </p:cNvPr>
          <p:cNvSpPr>
            <a:spLocks noGrp="1"/>
          </p:cNvSpPr>
          <p:nvPr>
            <p:ph type="title"/>
          </p:nvPr>
        </p:nvSpPr>
        <p:spPr/>
        <p:txBody>
          <a:bodyPr/>
          <a:lstStyle/>
          <a:p>
            <a:r>
              <a:rPr lang="pt-BR" dirty="0"/>
              <a:t>Localidade espacial</a:t>
            </a:r>
            <a:endParaRPr lang="en-US" dirty="0"/>
          </a:p>
        </p:txBody>
      </p:sp>
      <p:sp>
        <p:nvSpPr>
          <p:cNvPr id="3" name="Content Placeholder 2">
            <a:extLst>
              <a:ext uri="{FF2B5EF4-FFF2-40B4-BE49-F238E27FC236}">
                <a16:creationId xmlns:a16="http://schemas.microsoft.com/office/drawing/2014/main" id="{25E157A4-7B6B-8A25-98BF-83553C2E31FA}"/>
              </a:ext>
            </a:extLst>
          </p:cNvPr>
          <p:cNvSpPr>
            <a:spLocks noGrp="1"/>
          </p:cNvSpPr>
          <p:nvPr>
            <p:ph idx="1"/>
          </p:nvPr>
        </p:nvSpPr>
        <p:spPr>
          <a:xfrm>
            <a:off x="5988818" y="1825624"/>
            <a:ext cx="6203182" cy="5032375"/>
          </a:xfrm>
        </p:spPr>
        <p:txBody>
          <a:bodyPr>
            <a:normAutofit/>
          </a:bodyPr>
          <a:lstStyle/>
          <a:p>
            <a:r>
              <a:rPr lang="pt-BR" dirty="0"/>
              <a:t>A propriedade da </a:t>
            </a:r>
            <a:r>
              <a:rPr lang="pt-BR" b="1" dirty="0">
                <a:solidFill>
                  <a:srgbClr val="7030A0"/>
                </a:solidFill>
              </a:rPr>
              <a:t>localidade espacial</a:t>
            </a:r>
            <a:r>
              <a:rPr lang="pt-BR" dirty="0"/>
              <a:t> diz que </a:t>
            </a:r>
            <a:r>
              <a:rPr lang="pt-BR" i="1" dirty="0"/>
              <a:t>pixels</a:t>
            </a:r>
            <a:r>
              <a:rPr lang="pt-BR" dirty="0"/>
              <a:t> próximos tendem a ser </a:t>
            </a:r>
            <a:r>
              <a:rPr lang="pt-BR" b="1" dirty="0">
                <a:solidFill>
                  <a:schemeClr val="accent2"/>
                </a:solidFill>
              </a:rPr>
              <a:t>correlacionados</a:t>
            </a:r>
            <a:r>
              <a:rPr lang="pt-BR" dirty="0"/>
              <a:t>.</a:t>
            </a:r>
          </a:p>
          <a:p>
            <a:r>
              <a:rPr lang="pt-BR" dirty="0"/>
              <a:t>Por exemplo, os </a:t>
            </a:r>
            <a:r>
              <a:rPr lang="pt-BR" i="1" dirty="0"/>
              <a:t>pixels</a:t>
            </a:r>
            <a:r>
              <a:rPr lang="pt-BR" dirty="0"/>
              <a:t> dos olhos do gato.</a:t>
            </a:r>
          </a:p>
          <a:p>
            <a:r>
              <a:rPr lang="pt-BR" dirty="0"/>
              <a:t>Ou seja, a </a:t>
            </a:r>
            <a:r>
              <a:rPr lang="pt-BR" b="1" dirty="0">
                <a:solidFill>
                  <a:schemeClr val="accent2"/>
                </a:solidFill>
              </a:rPr>
              <a:t>maior parte da informação visual</a:t>
            </a:r>
            <a:r>
              <a:rPr lang="pt-BR" dirty="0"/>
              <a:t> está em </a:t>
            </a:r>
            <a:r>
              <a:rPr lang="pt-BR" b="1" dirty="0">
                <a:solidFill>
                  <a:srgbClr val="00B050"/>
                </a:solidFill>
              </a:rPr>
              <a:t>pequenas regiões da imagem</a:t>
            </a:r>
            <a:r>
              <a:rPr lang="pt-BR" dirty="0"/>
              <a:t>. </a:t>
            </a:r>
          </a:p>
          <a:p>
            <a:r>
              <a:rPr lang="pt-BR" dirty="0"/>
              <a:t>Como as CNNs exploram isso?</a:t>
            </a:r>
          </a:p>
        </p:txBody>
      </p:sp>
      <p:pic>
        <p:nvPicPr>
          <p:cNvPr id="4" name="Imagem 14">
            <a:extLst>
              <a:ext uri="{FF2B5EF4-FFF2-40B4-BE49-F238E27FC236}">
                <a16:creationId xmlns:a16="http://schemas.microsoft.com/office/drawing/2014/main" id="{40FDAD37-A7B6-7404-2232-956F3B2ACF4C}"/>
              </a:ext>
            </a:extLst>
          </p:cNvPr>
          <p:cNvPicPr>
            <a:picLocks noChangeAspect="1"/>
          </p:cNvPicPr>
          <p:nvPr/>
        </p:nvPicPr>
        <p:blipFill>
          <a:blip r:embed="rId2"/>
          <a:stretch>
            <a:fillRect/>
          </a:stretch>
        </p:blipFill>
        <p:spPr>
          <a:xfrm>
            <a:off x="307895" y="1825624"/>
            <a:ext cx="5123982" cy="4318324"/>
          </a:xfrm>
          <a:prstGeom prst="rect">
            <a:avLst/>
          </a:prstGeom>
        </p:spPr>
      </p:pic>
    </p:spTree>
    <p:extLst>
      <p:ext uri="{BB962C8B-B14F-4D97-AF65-F5344CB8AC3E}">
        <p14:creationId xmlns:p14="http://schemas.microsoft.com/office/powerpoint/2010/main" val="170160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251AC-D284-BFD7-B84D-5AB8E07FDA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5E15A7-6FFA-77B6-A35E-9B146F08FA8D}"/>
              </a:ext>
            </a:extLst>
          </p:cNvPr>
          <p:cNvSpPr>
            <a:spLocks noGrp="1"/>
          </p:cNvSpPr>
          <p:nvPr>
            <p:ph type="title"/>
          </p:nvPr>
        </p:nvSpPr>
        <p:spPr/>
        <p:txBody>
          <a:bodyPr/>
          <a:lstStyle/>
          <a:p>
            <a:r>
              <a:rPr lang="pt-BR" dirty="0"/>
              <a:t>Localidade espacial</a:t>
            </a:r>
            <a:endParaRPr lang="en-US" dirty="0"/>
          </a:p>
        </p:txBody>
      </p:sp>
      <p:sp>
        <p:nvSpPr>
          <p:cNvPr id="3" name="Content Placeholder 2">
            <a:extLst>
              <a:ext uri="{FF2B5EF4-FFF2-40B4-BE49-F238E27FC236}">
                <a16:creationId xmlns:a16="http://schemas.microsoft.com/office/drawing/2014/main" id="{07068B0D-EE66-28C6-5AFE-707F91CF294C}"/>
              </a:ext>
            </a:extLst>
          </p:cNvPr>
          <p:cNvSpPr>
            <a:spLocks noGrp="1"/>
          </p:cNvSpPr>
          <p:nvPr>
            <p:ph idx="1"/>
          </p:nvPr>
        </p:nvSpPr>
        <p:spPr>
          <a:xfrm>
            <a:off x="5135541" y="1825624"/>
            <a:ext cx="7056462" cy="5032376"/>
          </a:xfrm>
        </p:spPr>
        <p:txBody>
          <a:bodyPr>
            <a:normAutofit/>
          </a:bodyPr>
          <a:lstStyle/>
          <a:p>
            <a:r>
              <a:rPr lang="pt-BR" noProof="0" dirty="0"/>
              <a:t>Em vez de </a:t>
            </a:r>
            <a:r>
              <a:rPr lang="pt-BR" b="1" noProof="0" dirty="0">
                <a:solidFill>
                  <a:srgbClr val="00B050"/>
                </a:solidFill>
              </a:rPr>
              <a:t>conectar cada neurônio da CNN a todos os </a:t>
            </a:r>
            <a:r>
              <a:rPr lang="pt-BR" b="1" i="1" noProof="0" dirty="0">
                <a:solidFill>
                  <a:srgbClr val="00B050"/>
                </a:solidFill>
              </a:rPr>
              <a:t>pixels</a:t>
            </a:r>
            <a:r>
              <a:rPr lang="pt-BR" noProof="0" dirty="0"/>
              <a:t> da imagem, cada neurônio “olha” apenas para uma </a:t>
            </a:r>
            <a:r>
              <a:rPr lang="pt-BR" b="1" noProof="0" dirty="0">
                <a:solidFill>
                  <a:schemeClr val="accent2"/>
                </a:solidFill>
              </a:rPr>
              <a:t>pequena região</a:t>
            </a:r>
            <a:r>
              <a:rPr lang="pt-BR" noProof="0" dirty="0"/>
              <a:t>, chamada de </a:t>
            </a:r>
            <a:r>
              <a:rPr lang="pt-BR" b="1" noProof="0" dirty="0">
                <a:solidFill>
                  <a:schemeClr val="accent2"/>
                </a:solidFill>
              </a:rPr>
              <a:t>campo receptivo</a:t>
            </a:r>
            <a:r>
              <a:rPr lang="pt-BR" noProof="0" dirty="0"/>
              <a:t>.</a:t>
            </a:r>
          </a:p>
          <a:p>
            <a:r>
              <a:rPr lang="pt-BR" noProof="0" dirty="0"/>
              <a:t>O tamanho do campo receptivo é definido por uma matriz (2D ou 3D) chamada de </a:t>
            </a:r>
            <a:r>
              <a:rPr lang="pt-BR" b="1" noProof="0" dirty="0">
                <a:solidFill>
                  <a:srgbClr val="7030A0"/>
                </a:solidFill>
              </a:rPr>
              <a:t>filtro (de convolução)</a:t>
            </a:r>
            <a:r>
              <a:rPr lang="pt-BR" noProof="0" dirty="0"/>
              <a:t> ou </a:t>
            </a:r>
            <a:r>
              <a:rPr lang="pt-BR" b="1" i="1" noProof="0" dirty="0">
                <a:solidFill>
                  <a:srgbClr val="7030A0"/>
                </a:solidFill>
              </a:rPr>
              <a:t>kernel</a:t>
            </a:r>
            <a:r>
              <a:rPr lang="pt-BR" noProof="0" dirty="0"/>
              <a:t>.</a:t>
            </a:r>
          </a:p>
          <a:p>
            <a:r>
              <a:rPr lang="pt-BR" noProof="0" dirty="0"/>
              <a:t>Isso permite detectar </a:t>
            </a:r>
            <a:r>
              <a:rPr lang="pt-BR" b="1" noProof="0" dirty="0"/>
              <a:t>padrões locais </a:t>
            </a:r>
            <a:r>
              <a:rPr lang="pt-BR" noProof="0" dirty="0"/>
              <a:t>como:</a:t>
            </a:r>
          </a:p>
          <a:p>
            <a:pPr lvl="1">
              <a:buFont typeface="Wingdings" panose="05000000000000000000" pitchFamily="2" charset="2"/>
              <a:buChar char="§"/>
            </a:pPr>
            <a:r>
              <a:rPr lang="pt-BR" noProof="0" dirty="0"/>
              <a:t>bordas, linhas, cantos, cor</a:t>
            </a:r>
          </a:p>
          <a:p>
            <a:pPr lvl="1">
              <a:buFont typeface="Wingdings" panose="05000000000000000000" pitchFamily="2" charset="2"/>
              <a:buChar char="§"/>
            </a:pPr>
            <a:r>
              <a:rPr lang="pt-BR" noProof="0" dirty="0"/>
              <a:t>texturas, partes elementares de objetos</a:t>
            </a:r>
          </a:p>
          <a:p>
            <a:pPr lvl="1">
              <a:buFont typeface="Wingdings" panose="05000000000000000000" pitchFamily="2" charset="2"/>
              <a:buChar char="§"/>
            </a:pPr>
            <a:r>
              <a:rPr lang="pt-BR" noProof="0" dirty="0"/>
              <a:t>partes reconhecíveis de objetos: olhos ou orelhas</a:t>
            </a:r>
          </a:p>
          <a:p>
            <a:pPr lvl="1">
              <a:buFont typeface="Wingdings" panose="05000000000000000000" pitchFamily="2" charset="2"/>
              <a:buChar char="§"/>
            </a:pPr>
            <a:r>
              <a:rPr lang="pt-BR" noProof="0" dirty="0"/>
              <a:t>objeto inteiro: gato</a:t>
            </a:r>
          </a:p>
        </p:txBody>
      </p:sp>
      <p:pic>
        <p:nvPicPr>
          <p:cNvPr id="4" name="Imagem 14">
            <a:extLst>
              <a:ext uri="{FF2B5EF4-FFF2-40B4-BE49-F238E27FC236}">
                <a16:creationId xmlns:a16="http://schemas.microsoft.com/office/drawing/2014/main" id="{67987A66-DA4D-6280-9C74-D4A4D05A51FC}"/>
              </a:ext>
            </a:extLst>
          </p:cNvPr>
          <p:cNvPicPr>
            <a:picLocks noChangeAspect="1"/>
          </p:cNvPicPr>
          <p:nvPr/>
        </p:nvPicPr>
        <p:blipFill>
          <a:blip r:embed="rId3"/>
          <a:stretch>
            <a:fillRect/>
          </a:stretch>
        </p:blipFill>
        <p:spPr>
          <a:xfrm>
            <a:off x="82836" y="1942916"/>
            <a:ext cx="4893678" cy="4124231"/>
          </a:xfrm>
          <a:prstGeom prst="rect">
            <a:avLst/>
          </a:prstGeom>
        </p:spPr>
      </p:pic>
    </p:spTree>
    <p:extLst>
      <p:ext uri="{BB962C8B-B14F-4D97-AF65-F5344CB8AC3E}">
        <p14:creationId xmlns:p14="http://schemas.microsoft.com/office/powerpoint/2010/main" val="3612854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2E06-5B04-2482-2E52-A4EB66B8E248}"/>
              </a:ext>
            </a:extLst>
          </p:cNvPr>
          <p:cNvSpPr>
            <a:spLocks noGrp="1"/>
          </p:cNvSpPr>
          <p:nvPr>
            <p:ph type="title"/>
          </p:nvPr>
        </p:nvSpPr>
        <p:spPr/>
        <p:txBody>
          <a:bodyPr/>
          <a:lstStyle/>
          <a:p>
            <a:r>
              <a:rPr lang="pt-BR" dirty="0" err="1"/>
              <a:t>Estacionariedade</a:t>
            </a:r>
            <a:endParaRPr lang="en-US" dirty="0"/>
          </a:p>
        </p:txBody>
      </p:sp>
      <p:sp>
        <p:nvSpPr>
          <p:cNvPr id="3" name="Content Placeholder 2">
            <a:extLst>
              <a:ext uri="{FF2B5EF4-FFF2-40B4-BE49-F238E27FC236}">
                <a16:creationId xmlns:a16="http://schemas.microsoft.com/office/drawing/2014/main" id="{25E157A4-7B6B-8A25-98BF-83553C2E31FA}"/>
              </a:ext>
            </a:extLst>
          </p:cNvPr>
          <p:cNvSpPr>
            <a:spLocks noGrp="1"/>
          </p:cNvSpPr>
          <p:nvPr>
            <p:ph idx="1"/>
          </p:nvPr>
        </p:nvSpPr>
        <p:spPr>
          <a:xfrm>
            <a:off x="5546690" y="1825624"/>
            <a:ext cx="6645310" cy="5032375"/>
          </a:xfrm>
        </p:spPr>
        <p:txBody>
          <a:bodyPr>
            <a:normAutofit/>
          </a:bodyPr>
          <a:lstStyle/>
          <a:p>
            <a:r>
              <a:rPr lang="pt-BR" dirty="0"/>
              <a:t>A </a:t>
            </a:r>
            <a:r>
              <a:rPr lang="pt-BR" dirty="0" err="1"/>
              <a:t>estacionariedade</a:t>
            </a:r>
            <a:r>
              <a:rPr lang="pt-BR" dirty="0"/>
              <a:t> significa que o </a:t>
            </a:r>
            <a:r>
              <a:rPr lang="pt-BR" b="1" dirty="0">
                <a:solidFill>
                  <a:srgbClr val="7030A0"/>
                </a:solidFill>
              </a:rPr>
              <a:t>mesmo padrão pode aparecer em qualquer posição da imagem</a:t>
            </a:r>
            <a:r>
              <a:rPr lang="pt-BR" dirty="0"/>
              <a:t>. </a:t>
            </a:r>
          </a:p>
          <a:p>
            <a:r>
              <a:rPr lang="pt-BR" dirty="0"/>
              <a:t>Por exemplo:</a:t>
            </a:r>
          </a:p>
          <a:p>
            <a:pPr lvl="1">
              <a:buFont typeface="Wingdings" panose="05000000000000000000" pitchFamily="2" charset="2"/>
              <a:buChar char="§"/>
            </a:pPr>
            <a:r>
              <a:rPr lang="pt-BR" dirty="0"/>
              <a:t>olhos, orelhas e patas do gato podem aparecer em diferentes regiões da imagem</a:t>
            </a:r>
          </a:p>
          <a:p>
            <a:r>
              <a:rPr lang="pt-BR" dirty="0"/>
              <a:t>Como as CNNs exploram isso?</a:t>
            </a:r>
          </a:p>
        </p:txBody>
      </p:sp>
      <p:pic>
        <p:nvPicPr>
          <p:cNvPr id="4" name="Imagem 14">
            <a:extLst>
              <a:ext uri="{FF2B5EF4-FFF2-40B4-BE49-F238E27FC236}">
                <a16:creationId xmlns:a16="http://schemas.microsoft.com/office/drawing/2014/main" id="{84020581-A20B-3211-C4DB-050E4A58C9B8}"/>
              </a:ext>
            </a:extLst>
          </p:cNvPr>
          <p:cNvPicPr>
            <a:picLocks noChangeAspect="1"/>
          </p:cNvPicPr>
          <p:nvPr/>
        </p:nvPicPr>
        <p:blipFill>
          <a:blip r:embed="rId2"/>
          <a:stretch>
            <a:fillRect/>
          </a:stretch>
        </p:blipFill>
        <p:spPr>
          <a:xfrm>
            <a:off x="332297" y="2043290"/>
            <a:ext cx="4893678" cy="4124231"/>
          </a:xfrm>
          <a:prstGeom prst="rect">
            <a:avLst/>
          </a:prstGeom>
        </p:spPr>
      </p:pic>
    </p:spTree>
    <p:extLst>
      <p:ext uri="{BB962C8B-B14F-4D97-AF65-F5344CB8AC3E}">
        <p14:creationId xmlns:p14="http://schemas.microsoft.com/office/powerpoint/2010/main" val="3551567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63FF5-BB11-253B-A948-1A69ABD00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86BDD-CC26-4F5D-484D-5E3C29C53557}"/>
              </a:ext>
            </a:extLst>
          </p:cNvPr>
          <p:cNvSpPr>
            <a:spLocks noGrp="1"/>
          </p:cNvSpPr>
          <p:nvPr>
            <p:ph type="title"/>
          </p:nvPr>
        </p:nvSpPr>
        <p:spPr/>
        <p:txBody>
          <a:bodyPr/>
          <a:lstStyle/>
          <a:p>
            <a:r>
              <a:rPr lang="pt-BR" dirty="0" err="1"/>
              <a:t>Estacionariedade</a:t>
            </a:r>
            <a:endParaRPr lang="en-US" dirty="0"/>
          </a:p>
        </p:txBody>
      </p:sp>
      <p:sp>
        <p:nvSpPr>
          <p:cNvPr id="3" name="Content Placeholder 2">
            <a:extLst>
              <a:ext uri="{FF2B5EF4-FFF2-40B4-BE49-F238E27FC236}">
                <a16:creationId xmlns:a16="http://schemas.microsoft.com/office/drawing/2014/main" id="{7C82D4E9-F72D-CEAF-44B5-6E4FFCDC7B48}"/>
              </a:ext>
            </a:extLst>
          </p:cNvPr>
          <p:cNvSpPr>
            <a:spLocks noGrp="1"/>
          </p:cNvSpPr>
          <p:nvPr>
            <p:ph idx="1"/>
          </p:nvPr>
        </p:nvSpPr>
        <p:spPr>
          <a:xfrm>
            <a:off x="5496448" y="1825624"/>
            <a:ext cx="6695552" cy="5032375"/>
          </a:xfrm>
        </p:spPr>
        <p:txBody>
          <a:bodyPr>
            <a:normAutofit/>
          </a:bodyPr>
          <a:lstStyle/>
          <a:p>
            <a:r>
              <a:rPr lang="pt-BR" dirty="0"/>
              <a:t>As </a:t>
            </a:r>
            <a:r>
              <a:rPr lang="pt-BR" b="1" dirty="0">
                <a:solidFill>
                  <a:srgbClr val="00B050"/>
                </a:solidFill>
              </a:rPr>
              <a:t>CNNs compartilham os pesos</a:t>
            </a:r>
            <a:r>
              <a:rPr lang="pt-BR" dirty="0"/>
              <a:t>.</a:t>
            </a:r>
          </a:p>
          <a:p>
            <a:pPr lvl="1">
              <a:buFont typeface="Wingdings" panose="05000000000000000000" pitchFamily="2" charset="2"/>
              <a:buChar char="§"/>
            </a:pPr>
            <a:r>
              <a:rPr lang="pt-BR" dirty="0"/>
              <a:t>O </a:t>
            </a:r>
            <a:r>
              <a:rPr lang="pt-BR" b="1" dirty="0">
                <a:solidFill>
                  <a:srgbClr val="7030A0"/>
                </a:solidFill>
              </a:rPr>
              <a:t>mesmo filtro </a:t>
            </a:r>
            <a:r>
              <a:rPr lang="pt-BR" dirty="0"/>
              <a:t>é aplicado em </a:t>
            </a:r>
            <a:r>
              <a:rPr lang="pt-BR" b="1" dirty="0">
                <a:solidFill>
                  <a:srgbClr val="7030A0"/>
                </a:solidFill>
              </a:rPr>
              <a:t>toda a imagem</a:t>
            </a:r>
            <a:r>
              <a:rPr lang="pt-BR" dirty="0"/>
              <a:t>.</a:t>
            </a:r>
          </a:p>
          <a:p>
            <a:r>
              <a:rPr lang="pt-BR" dirty="0"/>
              <a:t>Por exemplo, um filtro que detecta bordas é o mesmo para todas as posições.</a:t>
            </a:r>
          </a:p>
          <a:p>
            <a:r>
              <a:rPr lang="pt-BR" dirty="0"/>
              <a:t>Isso traz grandes </a:t>
            </a:r>
            <a:r>
              <a:rPr lang="pt-BR" b="1" dirty="0">
                <a:solidFill>
                  <a:srgbClr val="00B050"/>
                </a:solidFill>
              </a:rPr>
              <a:t>vantagens</a:t>
            </a:r>
            <a:r>
              <a:rPr lang="pt-BR" dirty="0"/>
              <a:t>:</a:t>
            </a:r>
          </a:p>
          <a:p>
            <a:pPr lvl="1">
              <a:buFont typeface="Wingdings" panose="05000000000000000000" pitchFamily="2" charset="2"/>
              <a:buChar char="§"/>
            </a:pPr>
            <a:r>
              <a:rPr lang="pt-BR" dirty="0"/>
              <a:t>muito menos parâmetros</a:t>
            </a:r>
          </a:p>
          <a:p>
            <a:pPr lvl="1">
              <a:buFont typeface="Wingdings" panose="05000000000000000000" pitchFamily="2" charset="2"/>
              <a:buChar char="§"/>
            </a:pPr>
            <a:r>
              <a:rPr lang="pt-BR" dirty="0"/>
              <a:t>melhora a generalização (modelo menor, menos risco de </a:t>
            </a:r>
            <a:r>
              <a:rPr lang="pt-BR" i="1" dirty="0" err="1"/>
              <a:t>overfitting</a:t>
            </a:r>
            <a:r>
              <a:rPr lang="pt-BR" dirty="0"/>
              <a:t>)</a:t>
            </a:r>
          </a:p>
          <a:p>
            <a:pPr lvl="1">
              <a:buFont typeface="Wingdings" panose="05000000000000000000" pitchFamily="2" charset="2"/>
              <a:buChar char="§"/>
            </a:pPr>
            <a:r>
              <a:rPr lang="pt-BR" dirty="0"/>
              <a:t>capacidade de detectar o mesmo padrão em qualquer posição da imagem</a:t>
            </a:r>
          </a:p>
          <a:p>
            <a:endParaRPr lang="en-US" dirty="0"/>
          </a:p>
        </p:txBody>
      </p:sp>
      <p:pic>
        <p:nvPicPr>
          <p:cNvPr id="4" name="Imagem 14">
            <a:extLst>
              <a:ext uri="{FF2B5EF4-FFF2-40B4-BE49-F238E27FC236}">
                <a16:creationId xmlns:a16="http://schemas.microsoft.com/office/drawing/2014/main" id="{CD7F409F-0721-ED67-3988-3BC31E5C448B}"/>
              </a:ext>
            </a:extLst>
          </p:cNvPr>
          <p:cNvPicPr>
            <a:picLocks noChangeAspect="1"/>
          </p:cNvPicPr>
          <p:nvPr/>
        </p:nvPicPr>
        <p:blipFill>
          <a:blip r:embed="rId3"/>
          <a:stretch>
            <a:fillRect/>
          </a:stretch>
        </p:blipFill>
        <p:spPr>
          <a:xfrm>
            <a:off x="332297" y="2043290"/>
            <a:ext cx="4893678" cy="4124231"/>
          </a:xfrm>
          <a:prstGeom prst="rect">
            <a:avLst/>
          </a:prstGeom>
        </p:spPr>
      </p:pic>
    </p:spTree>
    <p:extLst>
      <p:ext uri="{BB962C8B-B14F-4D97-AF65-F5344CB8AC3E}">
        <p14:creationId xmlns:p14="http://schemas.microsoft.com/office/powerpoint/2010/main" val="1198594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0BC16-1B81-27E7-4891-E30DBBBE8C33}"/>
              </a:ext>
            </a:extLst>
          </p:cNvPr>
          <p:cNvSpPr>
            <a:spLocks noGrp="1"/>
          </p:cNvSpPr>
          <p:nvPr>
            <p:ph type="title"/>
          </p:nvPr>
        </p:nvSpPr>
        <p:spPr/>
        <p:txBody>
          <a:bodyPr/>
          <a:lstStyle/>
          <a:p>
            <a:r>
              <a:rPr lang="pt-BR" dirty="0"/>
              <a:t>Composição hierárquica de padrões</a:t>
            </a:r>
            <a:endParaRPr lang="en-US" dirty="0"/>
          </a:p>
        </p:txBody>
      </p:sp>
      <p:sp>
        <p:nvSpPr>
          <p:cNvPr id="3" name="Content Placeholder 2">
            <a:extLst>
              <a:ext uri="{FF2B5EF4-FFF2-40B4-BE49-F238E27FC236}">
                <a16:creationId xmlns:a16="http://schemas.microsoft.com/office/drawing/2014/main" id="{D623BE5D-63A0-00D2-FB71-6F5D32F809A8}"/>
              </a:ext>
            </a:extLst>
          </p:cNvPr>
          <p:cNvSpPr>
            <a:spLocks noGrp="1"/>
          </p:cNvSpPr>
          <p:nvPr>
            <p:ph idx="1"/>
          </p:nvPr>
        </p:nvSpPr>
        <p:spPr>
          <a:xfrm>
            <a:off x="5084465" y="1825624"/>
            <a:ext cx="7107535" cy="5032375"/>
          </a:xfrm>
        </p:spPr>
        <p:txBody>
          <a:bodyPr>
            <a:normAutofit lnSpcReduction="10000"/>
          </a:bodyPr>
          <a:lstStyle/>
          <a:p>
            <a:r>
              <a:rPr lang="pt-BR" noProof="0" dirty="0"/>
              <a:t>Imagens possuem uma </a:t>
            </a:r>
            <a:r>
              <a:rPr lang="pt-BR" b="1" noProof="0" dirty="0">
                <a:solidFill>
                  <a:schemeClr val="accent2"/>
                </a:solidFill>
              </a:rPr>
              <a:t>estrutura</a:t>
            </a:r>
            <a:r>
              <a:rPr lang="pt-BR" noProof="0" dirty="0">
                <a:solidFill>
                  <a:schemeClr val="accent2"/>
                </a:solidFill>
              </a:rPr>
              <a:t> </a:t>
            </a:r>
            <a:r>
              <a:rPr lang="pt-BR" b="1" noProof="0" dirty="0">
                <a:solidFill>
                  <a:schemeClr val="accent2"/>
                </a:solidFill>
              </a:rPr>
              <a:t>hierárquica</a:t>
            </a:r>
            <a:r>
              <a:rPr lang="pt-BR" noProof="0" dirty="0"/>
              <a:t>.</a:t>
            </a:r>
          </a:p>
          <a:p>
            <a:r>
              <a:rPr lang="pt-BR" noProof="0" dirty="0"/>
              <a:t>Padrões simples formam padrões mais complexos:</a:t>
            </a:r>
          </a:p>
          <a:p>
            <a:pPr lvl="1">
              <a:buFont typeface="Wingdings" panose="05000000000000000000" pitchFamily="2" charset="2"/>
              <a:buChar char="§"/>
            </a:pPr>
            <a:r>
              <a:rPr lang="pt-BR" b="1" noProof="0" dirty="0"/>
              <a:t>Simples</a:t>
            </a:r>
            <a:r>
              <a:rPr lang="pt-BR" noProof="0" dirty="0"/>
              <a:t>: contorno da orelha, borda do nariz e do olho</a:t>
            </a:r>
          </a:p>
          <a:p>
            <a:pPr lvl="1">
              <a:buFont typeface="Wingdings" panose="05000000000000000000" pitchFamily="2" charset="2"/>
              <a:buChar char="§"/>
            </a:pPr>
            <a:r>
              <a:rPr lang="pt-BR" b="1" noProof="0" dirty="0"/>
              <a:t>Intermediários</a:t>
            </a:r>
            <a:r>
              <a:rPr lang="pt-BR" noProof="0" dirty="0"/>
              <a:t>: curvatura da orelha, forma triangular do nariz</a:t>
            </a:r>
          </a:p>
          <a:p>
            <a:pPr lvl="1">
              <a:buFont typeface="Wingdings" panose="05000000000000000000" pitchFamily="2" charset="2"/>
              <a:buChar char="§"/>
            </a:pPr>
            <a:r>
              <a:rPr lang="pt-BR" b="1" noProof="0" dirty="0"/>
              <a:t>Partes menores</a:t>
            </a:r>
            <a:r>
              <a:rPr lang="pt-BR" noProof="0" dirty="0"/>
              <a:t>: olho, nariz, bigode, boca</a:t>
            </a:r>
          </a:p>
          <a:p>
            <a:pPr lvl="1">
              <a:buFont typeface="Wingdings" panose="05000000000000000000" pitchFamily="2" charset="2"/>
              <a:buChar char="§"/>
            </a:pPr>
            <a:r>
              <a:rPr lang="pt-BR" b="1" noProof="0" dirty="0"/>
              <a:t>Partes maiores</a:t>
            </a:r>
            <a:r>
              <a:rPr lang="pt-BR" noProof="0" dirty="0"/>
              <a:t>: face, cabeça, corpo, rabo</a:t>
            </a:r>
          </a:p>
          <a:p>
            <a:pPr lvl="1">
              <a:buFont typeface="Wingdings" panose="05000000000000000000" pitchFamily="2" charset="2"/>
              <a:buChar char="§"/>
            </a:pPr>
            <a:r>
              <a:rPr lang="pt-BR" b="1" noProof="0" dirty="0"/>
              <a:t>Objeto completo</a:t>
            </a:r>
            <a:r>
              <a:rPr lang="pt-BR" dirty="0"/>
              <a:t>: gato</a:t>
            </a:r>
            <a:endParaRPr lang="pt-BR" noProof="0" dirty="0"/>
          </a:p>
          <a:p>
            <a:r>
              <a:rPr lang="pt-BR" noProof="0" dirty="0"/>
              <a:t>As </a:t>
            </a:r>
            <a:r>
              <a:rPr lang="pt-BR" b="1" noProof="0" dirty="0">
                <a:solidFill>
                  <a:srgbClr val="00B050"/>
                </a:solidFill>
              </a:rPr>
              <a:t>camadas</a:t>
            </a:r>
            <a:r>
              <a:rPr lang="pt-BR" noProof="0" dirty="0"/>
              <a:t> de uma CNN </a:t>
            </a:r>
            <a:r>
              <a:rPr lang="pt-BR" b="1" noProof="0" dirty="0">
                <a:solidFill>
                  <a:srgbClr val="00B050"/>
                </a:solidFill>
              </a:rPr>
              <a:t>aprendem a hierarquia</a:t>
            </a:r>
            <a:r>
              <a:rPr lang="pt-BR" noProof="0" dirty="0"/>
              <a:t> de padrões da imagem.</a:t>
            </a:r>
          </a:p>
          <a:p>
            <a:pPr lvl="1">
              <a:buFont typeface="Wingdings" panose="05000000000000000000" pitchFamily="2" charset="2"/>
              <a:buChar char="§"/>
            </a:pPr>
            <a:r>
              <a:rPr lang="pt-BR" noProof="0" dirty="0"/>
              <a:t>bordas → contornos → partes → objeto</a:t>
            </a:r>
          </a:p>
        </p:txBody>
      </p:sp>
      <p:pic>
        <p:nvPicPr>
          <p:cNvPr id="4" name="Imagem 14">
            <a:extLst>
              <a:ext uri="{FF2B5EF4-FFF2-40B4-BE49-F238E27FC236}">
                <a16:creationId xmlns:a16="http://schemas.microsoft.com/office/drawing/2014/main" id="{E8D088F0-5CFF-D406-72B5-FF1099A9CF84}"/>
              </a:ext>
            </a:extLst>
          </p:cNvPr>
          <p:cNvPicPr>
            <a:picLocks noChangeAspect="1"/>
          </p:cNvPicPr>
          <p:nvPr/>
        </p:nvPicPr>
        <p:blipFill>
          <a:blip r:embed="rId2"/>
          <a:stretch>
            <a:fillRect/>
          </a:stretch>
        </p:blipFill>
        <p:spPr>
          <a:xfrm>
            <a:off x="101187" y="2220685"/>
            <a:ext cx="4720296" cy="3978111"/>
          </a:xfrm>
          <a:prstGeom prst="rect">
            <a:avLst/>
          </a:prstGeom>
        </p:spPr>
      </p:pic>
    </p:spTree>
    <p:extLst>
      <p:ext uri="{BB962C8B-B14F-4D97-AF65-F5344CB8AC3E}">
        <p14:creationId xmlns:p14="http://schemas.microsoft.com/office/powerpoint/2010/main" val="510372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D3E06-0B7F-39A8-445E-7883486F49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6A4790-FB41-BECF-EA77-74D8C0C597C4}"/>
              </a:ext>
            </a:extLst>
          </p:cNvPr>
          <p:cNvSpPr>
            <a:spLocks noGrp="1"/>
          </p:cNvSpPr>
          <p:nvPr>
            <p:ph idx="1"/>
          </p:nvPr>
        </p:nvSpPr>
        <p:spPr>
          <a:xfrm>
            <a:off x="838200" y="2447235"/>
            <a:ext cx="10515600" cy="1963529"/>
          </a:xfrm>
        </p:spPr>
        <p:txBody>
          <a:bodyPr>
            <a:normAutofit/>
          </a:bodyPr>
          <a:lstStyle/>
          <a:p>
            <a:pPr marL="0" indent="0" algn="ctr">
              <a:buNone/>
            </a:pPr>
            <a:r>
              <a:rPr lang="pt-BR" sz="6000" dirty="0"/>
              <a:t>Como é a arquitetura de uma</a:t>
            </a:r>
            <a:r>
              <a:rPr lang="pt-BR" sz="6600" dirty="0"/>
              <a:t> CNN</a:t>
            </a:r>
            <a:r>
              <a:rPr lang="pt-BR" sz="6000" dirty="0"/>
              <a:t>?</a:t>
            </a:r>
            <a:endParaRPr lang="en-US" sz="6000" dirty="0"/>
          </a:p>
        </p:txBody>
      </p:sp>
    </p:spTree>
    <p:extLst>
      <p:ext uri="{BB962C8B-B14F-4D97-AF65-F5344CB8AC3E}">
        <p14:creationId xmlns:p14="http://schemas.microsoft.com/office/powerpoint/2010/main" val="3720281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Arquitetura geral de uma CNN</a:t>
            </a:r>
          </a:p>
        </p:txBody>
      </p:sp>
      <p:sp>
        <p:nvSpPr>
          <p:cNvPr id="3" name="Espaço Reservado para Conteúdo 2"/>
          <p:cNvSpPr>
            <a:spLocks noGrp="1"/>
          </p:cNvSpPr>
          <p:nvPr>
            <p:ph idx="1"/>
          </p:nvPr>
        </p:nvSpPr>
        <p:spPr>
          <a:xfrm>
            <a:off x="7948246" y="1825624"/>
            <a:ext cx="4243754" cy="5032375"/>
          </a:xfrm>
        </p:spPr>
        <p:txBody>
          <a:bodyPr>
            <a:normAutofit lnSpcReduction="10000"/>
          </a:bodyPr>
          <a:lstStyle/>
          <a:p>
            <a:r>
              <a:rPr lang="pt-BR" noProof="0" dirty="0"/>
              <a:t>Uma </a:t>
            </a:r>
            <a:r>
              <a:rPr lang="pt-BR" b="1" noProof="0" dirty="0">
                <a:solidFill>
                  <a:schemeClr val="accent1"/>
                </a:solidFill>
              </a:rPr>
              <a:t>CNN para classificação de imagens </a:t>
            </a:r>
            <a:r>
              <a:rPr lang="pt-BR" noProof="0" dirty="0"/>
              <a:t>é composta por:</a:t>
            </a:r>
          </a:p>
          <a:p>
            <a:pPr lvl="1">
              <a:buFont typeface="Wingdings" panose="05000000000000000000" pitchFamily="2" charset="2"/>
              <a:buChar char="§"/>
            </a:pPr>
            <a:r>
              <a:rPr lang="pt-BR" noProof="0" dirty="0"/>
              <a:t>Uma entrada (imagem)</a:t>
            </a:r>
          </a:p>
          <a:p>
            <a:pPr lvl="1">
              <a:buFont typeface="Wingdings" panose="05000000000000000000" pitchFamily="2" charset="2"/>
              <a:buChar char="§"/>
            </a:pPr>
            <a:r>
              <a:rPr lang="pt-BR" noProof="0" dirty="0"/>
              <a:t>Um ou mais grupos de</a:t>
            </a:r>
          </a:p>
          <a:p>
            <a:pPr lvl="2">
              <a:buFont typeface="Courier New" panose="02070309020205020404" pitchFamily="49" charset="0"/>
              <a:buChar char="o"/>
            </a:pPr>
            <a:r>
              <a:rPr lang="pt-BR" noProof="0" dirty="0"/>
              <a:t>Camadas de convolução</a:t>
            </a:r>
          </a:p>
          <a:p>
            <a:pPr lvl="3">
              <a:buFont typeface="Wingdings" panose="05000000000000000000" pitchFamily="2" charset="2"/>
              <a:buChar char="ü"/>
            </a:pPr>
            <a:r>
              <a:rPr lang="pt-BR" dirty="0"/>
              <a:t>F</a:t>
            </a:r>
            <a:r>
              <a:rPr lang="pt-BR" noProof="0" dirty="0" err="1"/>
              <a:t>iltros</a:t>
            </a:r>
            <a:r>
              <a:rPr lang="pt-BR" noProof="0" dirty="0"/>
              <a:t> de convolução</a:t>
            </a:r>
          </a:p>
          <a:p>
            <a:pPr lvl="3">
              <a:buFont typeface="Wingdings" panose="05000000000000000000" pitchFamily="2" charset="2"/>
              <a:buChar char="ü"/>
            </a:pPr>
            <a:r>
              <a:rPr lang="pt-BR" noProof="0" dirty="0"/>
              <a:t>Funções de ativação</a:t>
            </a:r>
          </a:p>
          <a:p>
            <a:pPr lvl="2">
              <a:buFont typeface="Courier New" panose="02070309020205020404" pitchFamily="49" charset="0"/>
              <a:buChar char="o"/>
            </a:pPr>
            <a:r>
              <a:rPr lang="pt-BR" noProof="0" dirty="0"/>
              <a:t>Camadas de </a:t>
            </a:r>
            <a:r>
              <a:rPr lang="pt-BR" i="1" noProof="0" dirty="0" err="1"/>
              <a:t>pooling</a:t>
            </a:r>
            <a:endParaRPr lang="pt-BR" i="1" noProof="0" dirty="0"/>
          </a:p>
          <a:p>
            <a:pPr lvl="1">
              <a:buFont typeface="Wingdings" panose="05000000000000000000" pitchFamily="2" charset="2"/>
              <a:buChar char="§"/>
            </a:pPr>
            <a:r>
              <a:rPr lang="pt-BR" noProof="0" dirty="0"/>
              <a:t>Uma camada </a:t>
            </a:r>
            <a:r>
              <a:rPr lang="pt-BR" i="1" noProof="0" dirty="0" err="1"/>
              <a:t>flatten</a:t>
            </a:r>
            <a:endParaRPr lang="pt-BR" i="1" noProof="0" dirty="0"/>
          </a:p>
          <a:p>
            <a:pPr lvl="1">
              <a:buFont typeface="Wingdings" panose="05000000000000000000" pitchFamily="2" charset="2"/>
              <a:buChar char="§"/>
            </a:pPr>
            <a:r>
              <a:rPr lang="pt-BR" noProof="0" dirty="0"/>
              <a:t>Uma ou mais camadas totalmente conectadas</a:t>
            </a:r>
          </a:p>
          <a:p>
            <a:pPr lvl="1">
              <a:buFont typeface="Wingdings" panose="05000000000000000000" pitchFamily="2" charset="2"/>
              <a:buChar char="§"/>
            </a:pPr>
            <a:r>
              <a:rPr lang="pt-BR" noProof="0" dirty="0"/>
              <a:t>Uma função de ativação </a:t>
            </a:r>
            <a:r>
              <a:rPr lang="pt-BR" i="1" noProof="0" dirty="0"/>
              <a:t>softmax </a:t>
            </a:r>
            <a:r>
              <a:rPr lang="pt-BR" noProof="0" dirty="0"/>
              <a:t>para gerar as probabilidades de saída</a:t>
            </a:r>
          </a:p>
        </p:txBody>
      </p:sp>
      <p:pic>
        <p:nvPicPr>
          <p:cNvPr id="1026" name="Picture 2" descr="Convolutional Neural Network | Deep Learning | Developers Breach"/>
          <p:cNvPicPr>
            <a:picLocks noChangeAspect="1" noChangeArrowheads="1"/>
          </p:cNvPicPr>
          <p:nvPr/>
        </p:nvPicPr>
        <p:blipFill rotWithShape="1">
          <a:blip r:embed="rId3">
            <a:extLst>
              <a:ext uri="{28A0092B-C50C-407E-A947-70E740481C1C}">
                <a14:useLocalDpi xmlns:a14="http://schemas.microsoft.com/office/drawing/2010/main" val="0"/>
              </a:ext>
            </a:extLst>
          </a:blip>
          <a:srcRect l="1348" t="17989" r="1624" b="2984"/>
          <a:stretch/>
        </p:blipFill>
        <p:spPr bwMode="auto">
          <a:xfrm>
            <a:off x="18315" y="2377440"/>
            <a:ext cx="8040275" cy="3077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990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FEEAC-EB1A-3B91-5B2B-DD4D165B0D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008826-7C42-4F6F-9B58-7B6580B7F6E0}"/>
              </a:ext>
            </a:extLst>
          </p:cNvPr>
          <p:cNvSpPr>
            <a:spLocks noGrp="1"/>
          </p:cNvSpPr>
          <p:nvPr>
            <p:ph idx="1"/>
          </p:nvPr>
        </p:nvSpPr>
        <p:spPr>
          <a:xfrm>
            <a:off x="506186" y="2453703"/>
            <a:ext cx="11179628" cy="1950594"/>
          </a:xfrm>
        </p:spPr>
        <p:txBody>
          <a:bodyPr>
            <a:normAutofit fontScale="92500"/>
          </a:bodyPr>
          <a:lstStyle/>
          <a:p>
            <a:pPr marL="0" indent="0" algn="ctr">
              <a:buNone/>
            </a:pPr>
            <a:r>
              <a:rPr lang="pt-BR" sz="6000" dirty="0"/>
              <a:t>Vamos entender um pouco mais sobre cada uma das partes das CNNs</a:t>
            </a:r>
            <a:endParaRPr lang="en-US" sz="6000" dirty="0"/>
          </a:p>
        </p:txBody>
      </p:sp>
    </p:spTree>
    <p:extLst>
      <p:ext uri="{BB962C8B-B14F-4D97-AF65-F5344CB8AC3E}">
        <p14:creationId xmlns:p14="http://schemas.microsoft.com/office/powerpoint/2010/main" val="314556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AE4793-151C-2CA5-C485-E1D4FC40C3DE}"/>
              </a:ext>
            </a:extLst>
          </p:cNvPr>
          <p:cNvSpPr>
            <a:spLocks noGrp="1"/>
          </p:cNvSpPr>
          <p:nvPr>
            <p:ph type="title"/>
          </p:nvPr>
        </p:nvSpPr>
        <p:spPr/>
        <p:txBody>
          <a:bodyPr/>
          <a:lstStyle/>
          <a:p>
            <a:r>
              <a:rPr lang="pt-BR" dirty="0"/>
              <a:t>Imagens</a:t>
            </a:r>
          </a:p>
        </p:txBody>
      </p:sp>
      <p:sp>
        <p:nvSpPr>
          <p:cNvPr id="3" name="Espaço Reservado para Conteúdo 2">
            <a:extLst>
              <a:ext uri="{FF2B5EF4-FFF2-40B4-BE49-F238E27FC236}">
                <a16:creationId xmlns:a16="http://schemas.microsoft.com/office/drawing/2014/main" id="{85588E49-E748-7646-F1CF-D0DB5ED66B65}"/>
              </a:ext>
            </a:extLst>
          </p:cNvPr>
          <p:cNvSpPr>
            <a:spLocks noGrp="1"/>
          </p:cNvSpPr>
          <p:nvPr>
            <p:ph idx="1"/>
          </p:nvPr>
        </p:nvSpPr>
        <p:spPr>
          <a:xfrm>
            <a:off x="4808483" y="1825624"/>
            <a:ext cx="7383517" cy="5032375"/>
          </a:xfrm>
        </p:spPr>
        <p:txBody>
          <a:bodyPr>
            <a:normAutofit/>
          </a:bodyPr>
          <a:lstStyle/>
          <a:p>
            <a:r>
              <a:rPr lang="pt-BR" dirty="0"/>
              <a:t>Podemos agrupar as imagens em dois tipos: </a:t>
            </a:r>
            <a:r>
              <a:rPr lang="pt-BR" b="1" dirty="0">
                <a:solidFill>
                  <a:schemeClr val="accent2"/>
                </a:solidFill>
              </a:rPr>
              <a:t>coloridas</a:t>
            </a:r>
            <a:r>
              <a:rPr lang="pt-BR" dirty="0"/>
              <a:t> e em </a:t>
            </a:r>
            <a:r>
              <a:rPr lang="pt-BR" b="1" dirty="0">
                <a:solidFill>
                  <a:schemeClr val="tx1">
                    <a:lumMod val="50000"/>
                    <a:lumOff val="50000"/>
                  </a:schemeClr>
                </a:solidFill>
              </a:rPr>
              <a:t>tons de cinza</a:t>
            </a:r>
            <a:r>
              <a:rPr lang="pt-BR" dirty="0"/>
              <a:t>.</a:t>
            </a:r>
          </a:p>
          <a:p>
            <a:r>
              <a:rPr lang="pt-BR" dirty="0"/>
              <a:t>Em imagens coloridas, cada </a:t>
            </a:r>
            <a:r>
              <a:rPr lang="pt-BR" i="1" dirty="0"/>
              <a:t>pixel</a:t>
            </a:r>
            <a:r>
              <a:rPr lang="pt-BR" dirty="0"/>
              <a:t> é </a:t>
            </a:r>
            <a:r>
              <a:rPr lang="pt-BR" b="1" dirty="0">
                <a:solidFill>
                  <a:srgbClr val="00B050"/>
                </a:solidFill>
              </a:rPr>
              <a:t>formado por três valores</a:t>
            </a:r>
            <a:r>
              <a:rPr lang="pt-BR" dirty="0"/>
              <a:t>: vermelho (R), verde (G) e azul (B).</a:t>
            </a:r>
          </a:p>
          <a:p>
            <a:r>
              <a:rPr lang="pt-BR" dirty="0"/>
              <a:t>Imagens coloridas são </a:t>
            </a:r>
            <a:r>
              <a:rPr lang="pt-BR" b="1" dirty="0">
                <a:solidFill>
                  <a:srgbClr val="7030A0"/>
                </a:solidFill>
              </a:rPr>
              <a:t>tridimensionais</a:t>
            </a:r>
            <a:r>
              <a:rPr lang="pt-BR" dirty="0"/>
              <a:t> (3D):</a:t>
            </a:r>
          </a:p>
          <a:p>
            <a:pPr lvl="1">
              <a:buFont typeface="Wingdings" panose="05000000000000000000" pitchFamily="2" charset="2"/>
              <a:buChar char="§"/>
            </a:pPr>
            <a:r>
              <a:rPr lang="pt-BR" dirty="0"/>
              <a:t>altura × largura × 3 canais de cores</a:t>
            </a:r>
          </a:p>
          <a:p>
            <a:pPr lvl="1">
              <a:buFont typeface="Wingdings" panose="05000000000000000000" pitchFamily="2" charset="2"/>
              <a:buChar char="§"/>
            </a:pPr>
            <a:r>
              <a:rPr lang="pt-BR" dirty="0"/>
              <a:t>Cada canal indicada a quantidade de cada cor.</a:t>
            </a:r>
          </a:p>
          <a:p>
            <a:r>
              <a:rPr lang="pt-BR" dirty="0"/>
              <a:t>Imagens em tons de cinza são </a:t>
            </a:r>
            <a:r>
              <a:rPr lang="pt-BR" b="1" dirty="0">
                <a:solidFill>
                  <a:srgbClr val="7030A0"/>
                </a:solidFill>
              </a:rPr>
              <a:t>bidimensionais</a:t>
            </a:r>
            <a:r>
              <a:rPr lang="pt-BR" dirty="0"/>
              <a:t>:</a:t>
            </a:r>
          </a:p>
          <a:p>
            <a:pPr lvl="1">
              <a:buFont typeface="Wingdings" panose="05000000000000000000" pitchFamily="2" charset="2"/>
              <a:buChar char="§"/>
            </a:pPr>
            <a:r>
              <a:rPr lang="pt-BR" dirty="0"/>
              <a:t>altura × largura</a:t>
            </a:r>
          </a:p>
          <a:p>
            <a:pPr lvl="1">
              <a:buFont typeface="Wingdings" panose="05000000000000000000" pitchFamily="2" charset="2"/>
              <a:buChar char="§"/>
            </a:pPr>
            <a:r>
              <a:rPr lang="pt-BR" dirty="0"/>
              <a:t>Cada </a:t>
            </a:r>
            <a:r>
              <a:rPr lang="pt-BR" i="1" dirty="0"/>
              <a:t>pixel</a:t>
            </a:r>
            <a:r>
              <a:rPr lang="pt-BR" dirty="0"/>
              <a:t> carrega apenas informação de </a:t>
            </a:r>
            <a:r>
              <a:rPr lang="pt-BR" b="1" dirty="0"/>
              <a:t>intensidade luminosa</a:t>
            </a:r>
          </a:p>
        </p:txBody>
      </p:sp>
      <p:pic>
        <p:nvPicPr>
          <p:cNvPr id="2050" name="Picture 2" descr="Imagens de Tons De Cinza | Baixe imagens gratuitas na Unsplas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158" y="1825624"/>
            <a:ext cx="2802812" cy="186854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lustração de gato colorido com estilo pop art 3726462 Vetor no Vecteez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1527" y="4288219"/>
            <a:ext cx="2301765" cy="2301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708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Camada de </a:t>
            </a:r>
            <a:r>
              <a:rPr lang="pt-BR" dirty="0" err="1"/>
              <a:t>convolução</a:t>
            </a:r>
            <a:endParaRPr lang="pt-BR" dirty="0"/>
          </a:p>
        </p:txBody>
      </p:sp>
      <p:sp>
        <p:nvSpPr>
          <p:cNvPr id="3" name="Espaço Reservado para Conteúdo 2"/>
          <p:cNvSpPr>
            <a:spLocks noGrp="1"/>
          </p:cNvSpPr>
          <p:nvPr>
            <p:ph idx="1"/>
          </p:nvPr>
        </p:nvSpPr>
        <p:spPr>
          <a:xfrm>
            <a:off x="5923722" y="1825624"/>
            <a:ext cx="6268277" cy="5032375"/>
          </a:xfrm>
        </p:spPr>
        <p:txBody>
          <a:bodyPr>
            <a:noAutofit/>
          </a:bodyPr>
          <a:lstStyle/>
          <a:p>
            <a:r>
              <a:rPr lang="pt-BR" dirty="0"/>
              <a:t>A camada de convolução é responsável por </a:t>
            </a:r>
            <a:r>
              <a:rPr lang="pt-BR" b="1" dirty="0">
                <a:solidFill>
                  <a:srgbClr val="7030A0"/>
                </a:solidFill>
              </a:rPr>
              <a:t>extrair características da imagem</a:t>
            </a:r>
            <a:r>
              <a:rPr lang="pt-BR" dirty="0"/>
              <a:t>.</a:t>
            </a:r>
          </a:p>
          <a:p>
            <a:r>
              <a:rPr lang="pt-BR" dirty="0"/>
              <a:t>Ela faz isso </a:t>
            </a:r>
            <a:r>
              <a:rPr lang="pt-BR" b="1" dirty="0">
                <a:solidFill>
                  <a:schemeClr val="accent2"/>
                </a:solidFill>
              </a:rPr>
              <a:t>deslizando os filtros de convolução</a:t>
            </a:r>
            <a:r>
              <a:rPr lang="pt-BR" dirty="0"/>
              <a:t> sobre a imagem.</a:t>
            </a:r>
          </a:p>
          <a:p>
            <a:r>
              <a:rPr lang="pt-BR" dirty="0"/>
              <a:t>O filtro:</a:t>
            </a:r>
          </a:p>
          <a:p>
            <a:pPr lvl="1">
              <a:buFont typeface="Wingdings" panose="05000000000000000000" pitchFamily="2" charset="2"/>
              <a:buChar char="§"/>
            </a:pPr>
            <a:r>
              <a:rPr lang="pt-BR" sz="2800" dirty="0"/>
              <a:t>tem seus elementos multiplicados com os valores locais da imagem (campo receptivo)</a:t>
            </a:r>
          </a:p>
          <a:p>
            <a:pPr lvl="2">
              <a:buFont typeface="Courier New" panose="02070309020205020404" pitchFamily="49" charset="0"/>
              <a:buChar char="o"/>
            </a:pPr>
            <a:r>
              <a:rPr lang="pt-BR" sz="2400" dirty="0"/>
              <a:t>A multiplicação é elemento a elemento</a:t>
            </a:r>
          </a:p>
          <a:p>
            <a:pPr lvl="1">
              <a:buFont typeface="Wingdings" panose="05000000000000000000" pitchFamily="2" charset="2"/>
              <a:buChar char="§"/>
            </a:pPr>
            <a:r>
              <a:rPr lang="pt-BR" sz="2800" dirty="0"/>
              <a:t>soma os resultados,</a:t>
            </a:r>
          </a:p>
          <a:p>
            <a:pPr lvl="1">
              <a:buFont typeface="Wingdings" panose="05000000000000000000" pitchFamily="2" charset="2"/>
              <a:buChar char="§"/>
            </a:pPr>
            <a:r>
              <a:rPr lang="pt-BR" sz="2800" dirty="0"/>
              <a:t>e gera uma saída escalar.</a:t>
            </a:r>
          </a:p>
        </p:txBody>
      </p:sp>
      <p:grpSp>
        <p:nvGrpSpPr>
          <p:cNvPr id="7" name="Agrupar 6">
            <a:extLst>
              <a:ext uri="{FF2B5EF4-FFF2-40B4-BE49-F238E27FC236}">
                <a16:creationId xmlns:a16="http://schemas.microsoft.com/office/drawing/2014/main" id="{06EA1970-25B8-52B6-C19C-299E17415B1D}"/>
              </a:ext>
            </a:extLst>
          </p:cNvPr>
          <p:cNvGrpSpPr/>
          <p:nvPr/>
        </p:nvGrpSpPr>
        <p:grpSpPr>
          <a:xfrm>
            <a:off x="108784" y="2574235"/>
            <a:ext cx="5793166" cy="3012647"/>
            <a:chOff x="130556" y="2574235"/>
            <a:chExt cx="5793166" cy="3012647"/>
          </a:xfrm>
        </p:grpSpPr>
        <p:grpSp>
          <p:nvGrpSpPr>
            <p:cNvPr id="5" name="Group 4">
              <a:extLst>
                <a:ext uri="{FF2B5EF4-FFF2-40B4-BE49-F238E27FC236}">
                  <a16:creationId xmlns:a16="http://schemas.microsoft.com/office/drawing/2014/main" id="{674323C5-E1CA-52A1-66C4-ABEDCED3482B}"/>
                </a:ext>
              </a:extLst>
            </p:cNvPr>
            <p:cNvGrpSpPr/>
            <p:nvPr/>
          </p:nvGrpSpPr>
          <p:grpSpPr>
            <a:xfrm>
              <a:off x="130556" y="2574235"/>
              <a:ext cx="5793166" cy="3012647"/>
              <a:chOff x="291326" y="2823587"/>
              <a:chExt cx="4917071" cy="2543852"/>
            </a:xfrm>
          </p:grpSpPr>
          <p:pic>
            <p:nvPicPr>
              <p:cNvPr id="1028" name="Picture 4">
                <a:extLst>
                  <a:ext uri="{FF2B5EF4-FFF2-40B4-BE49-F238E27FC236}">
                    <a16:creationId xmlns:a16="http://schemas.microsoft.com/office/drawing/2014/main" id="{C58E78D2-4773-C78A-DE50-C280F0BDD66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651"/>
              <a:stretch>
                <a:fillRect/>
              </a:stretch>
            </p:blipFill>
            <p:spPr bwMode="auto">
              <a:xfrm>
                <a:off x="291326" y="2823587"/>
                <a:ext cx="4917071" cy="229102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C7E8AD-BE95-CAE3-2500-BA275853FFE2}"/>
                  </a:ext>
                </a:extLst>
              </p:cNvPr>
              <p:cNvSpPr txBox="1"/>
              <p:nvPr/>
            </p:nvSpPr>
            <p:spPr>
              <a:xfrm>
                <a:off x="2877711" y="5114611"/>
                <a:ext cx="447902" cy="252828"/>
              </a:xfrm>
              <a:prstGeom prst="rect">
                <a:avLst/>
              </a:prstGeom>
              <a:noFill/>
            </p:spPr>
            <p:txBody>
              <a:bodyPr wrap="none" rtlCol="0">
                <a:spAutoFit/>
              </a:bodyPr>
              <a:lstStyle/>
              <a:p>
                <a:r>
                  <a:rPr lang="pt-BR" sz="1200" b="1" i="1" dirty="0"/>
                  <a:t>filtro</a:t>
                </a:r>
                <a:endParaRPr lang="en-US" sz="1200" b="1" i="1" dirty="0"/>
              </a:p>
            </p:txBody>
          </p:sp>
        </p:grpSp>
        <p:sp>
          <p:nvSpPr>
            <p:cNvPr id="6" name="CaixaDeTexto 5">
              <a:extLst>
                <a:ext uri="{FF2B5EF4-FFF2-40B4-BE49-F238E27FC236}">
                  <a16:creationId xmlns:a16="http://schemas.microsoft.com/office/drawing/2014/main" id="{C4E72025-95A7-49B9-1526-4EA3C5BC6D37}"/>
                </a:ext>
              </a:extLst>
            </p:cNvPr>
            <p:cNvSpPr txBox="1"/>
            <p:nvPr/>
          </p:nvSpPr>
          <p:spPr>
            <a:xfrm>
              <a:off x="605097" y="4928232"/>
              <a:ext cx="708848" cy="276999"/>
            </a:xfrm>
            <a:prstGeom prst="rect">
              <a:avLst/>
            </a:prstGeom>
            <a:noFill/>
          </p:spPr>
          <p:txBody>
            <a:bodyPr wrap="none" rtlCol="0">
              <a:spAutoFit/>
            </a:bodyPr>
            <a:lstStyle/>
            <a:p>
              <a:r>
                <a:rPr lang="pt-BR" sz="1200" b="1" i="1" dirty="0"/>
                <a:t>imagem</a:t>
              </a:r>
              <a:endParaRPr lang="en-US" sz="1200" b="1" i="1" dirty="0"/>
            </a:p>
          </p:txBody>
        </p:sp>
      </p:grpSp>
    </p:spTree>
    <p:extLst>
      <p:ext uri="{BB962C8B-B14F-4D97-AF65-F5344CB8AC3E}">
        <p14:creationId xmlns:p14="http://schemas.microsoft.com/office/powerpoint/2010/main" val="26769456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67AF5-14CA-5053-AE1D-E1ECD26960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11ACC4-D427-8062-8A64-E6ECD76E0DAD}"/>
              </a:ext>
            </a:extLst>
          </p:cNvPr>
          <p:cNvSpPr>
            <a:spLocks noGrp="1"/>
          </p:cNvSpPr>
          <p:nvPr>
            <p:ph type="title"/>
          </p:nvPr>
        </p:nvSpPr>
        <p:spPr/>
        <p:txBody>
          <a:bodyPr/>
          <a:lstStyle/>
          <a:p>
            <a:r>
              <a:rPr lang="pt-BR" dirty="0"/>
              <a:t>Camada de convolução</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B49B87AE-AA0F-2A43-6D68-AF9FA330C9D9}"/>
                  </a:ext>
                </a:extLst>
              </p:cNvPr>
              <p:cNvSpPr>
                <a:spLocks noGrp="1"/>
              </p:cNvSpPr>
              <p:nvPr>
                <p:ph idx="1"/>
              </p:nvPr>
            </p:nvSpPr>
            <p:spPr>
              <a:xfrm>
                <a:off x="6570541" y="1825624"/>
                <a:ext cx="5621459" cy="5032375"/>
              </a:xfrm>
            </p:spPr>
            <p:txBody>
              <a:bodyPr>
                <a:noAutofit/>
              </a:bodyPr>
              <a:lstStyle/>
              <a:p>
                <a:r>
                  <a:rPr lang="pt-BR" dirty="0"/>
                  <a:t>Após o filtro, aplica-se uma </a:t>
                </a:r>
                <a:r>
                  <a:rPr lang="pt-BR" b="1" dirty="0">
                    <a:solidFill>
                      <a:schemeClr val="accent2"/>
                    </a:solidFill>
                  </a:rPr>
                  <a:t>função de ativação não linear ao escalar</a:t>
                </a:r>
                <a:r>
                  <a:rPr lang="pt-BR" dirty="0"/>
                  <a:t>.</a:t>
                </a:r>
              </a:p>
              <a:p>
                <a:pPr lvl="1">
                  <a:buFont typeface="Wingdings" panose="05000000000000000000" pitchFamily="2" charset="2"/>
                  <a:buChar char="§"/>
                </a:pPr>
                <a:r>
                  <a:rPr lang="pt-BR" dirty="0"/>
                  <a:t>Em geral, usa-se a função </a:t>
                </a:r>
                <a:r>
                  <a:rPr lang="pt-BR" i="1" dirty="0" err="1"/>
                  <a:t>rectified</a:t>
                </a:r>
                <a:r>
                  <a:rPr lang="pt-BR" i="1" dirty="0"/>
                  <a:t> linear </a:t>
                </a:r>
                <a:r>
                  <a:rPr lang="pt-BR" i="1" dirty="0" err="1"/>
                  <a:t>unit</a:t>
                </a:r>
                <a:r>
                  <a:rPr lang="pt-BR" i="1" dirty="0"/>
                  <a:t> </a:t>
                </a:r>
                <a:r>
                  <a:rPr lang="pt-BR" dirty="0"/>
                  <a:t>(</a:t>
                </a:r>
                <a:r>
                  <a:rPr lang="pt-BR" dirty="0" err="1"/>
                  <a:t>ReLU</a:t>
                </a:r>
                <a:r>
                  <a:rPr lang="pt-BR" dirty="0"/>
                  <a:t>): </a:t>
                </a:r>
                <a14:m>
                  <m:oMath xmlns:m="http://schemas.openxmlformats.org/officeDocument/2006/math">
                    <m:r>
                      <m:rPr>
                        <m:sty m:val="p"/>
                      </m:rPr>
                      <a:rPr lang="pt-BR" b="0" i="0" smtClean="0">
                        <a:latin typeface="Cambria Math" panose="02040503050406030204" pitchFamily="18" charset="0"/>
                      </a:rPr>
                      <m:t>max</m:t>
                    </m:r>
                    <m:r>
                      <a:rPr lang="pt-BR" b="0" i="1" smtClean="0">
                        <a:latin typeface="Cambria Math" panose="02040503050406030204" pitchFamily="18" charset="0"/>
                      </a:rPr>
                      <m:t>⁡(0,</m:t>
                    </m:r>
                    <m:r>
                      <a:rPr lang="pt-BR" b="0" i="1" smtClean="0">
                        <a:latin typeface="Cambria Math" panose="02040503050406030204" pitchFamily="18" charset="0"/>
                      </a:rPr>
                      <m:t>𝑥</m:t>
                    </m:r>
                    <m:r>
                      <a:rPr lang="pt-BR" b="0" i="1" smtClean="0">
                        <a:latin typeface="Cambria Math" panose="02040503050406030204" pitchFamily="18" charset="0"/>
                      </a:rPr>
                      <m:t>)</m:t>
                    </m:r>
                  </m:oMath>
                </a14:m>
                <a:r>
                  <a:rPr lang="pt-BR" dirty="0"/>
                  <a:t>.</a:t>
                </a:r>
              </a:p>
              <a:p>
                <a:r>
                  <a:rPr lang="pt-BR" dirty="0"/>
                  <a:t>Esse processo é repetido por toda a imagem.</a:t>
                </a:r>
              </a:p>
              <a:p>
                <a:r>
                  <a:rPr lang="pt-BR" dirty="0"/>
                  <a:t>O resultado é um </a:t>
                </a:r>
                <a:r>
                  <a:rPr lang="pt-BR" b="1" dirty="0">
                    <a:solidFill>
                      <a:schemeClr val="accent2"/>
                    </a:solidFill>
                  </a:rPr>
                  <a:t>mapa de características</a:t>
                </a:r>
                <a:r>
                  <a:rPr lang="pt-BR" dirty="0"/>
                  <a:t> (</a:t>
                </a:r>
                <a:r>
                  <a:rPr lang="pt-BR" i="1" dirty="0"/>
                  <a:t>feature </a:t>
                </a:r>
                <a:r>
                  <a:rPr lang="pt-BR" i="1" dirty="0" err="1"/>
                  <a:t>map</a:t>
                </a:r>
                <a:r>
                  <a:rPr lang="pt-BR" dirty="0"/>
                  <a:t>) </a:t>
                </a:r>
                <a:r>
                  <a:rPr lang="pt-BR" b="1" dirty="0">
                    <a:solidFill>
                      <a:srgbClr val="00B050"/>
                    </a:solidFill>
                  </a:rPr>
                  <a:t>detectadas</a:t>
                </a:r>
                <a:r>
                  <a:rPr lang="pt-BR" dirty="0"/>
                  <a:t>.</a:t>
                </a:r>
              </a:p>
              <a:p>
                <a:r>
                  <a:rPr lang="pt-BR" dirty="0"/>
                  <a:t>Ou seja, uma </a:t>
                </a:r>
                <a:r>
                  <a:rPr lang="pt-BR" b="1" dirty="0">
                    <a:solidFill>
                      <a:schemeClr val="accent1"/>
                    </a:solidFill>
                  </a:rPr>
                  <a:t>mapa de padrões detectados</a:t>
                </a:r>
                <a:r>
                  <a:rPr lang="pt-BR" dirty="0"/>
                  <a:t>.</a:t>
                </a:r>
              </a:p>
            </p:txBody>
          </p:sp>
        </mc:Choice>
        <mc:Fallback xmlns="">
          <p:sp>
            <p:nvSpPr>
              <p:cNvPr id="3" name="Espaço Reservado para Conteúdo 2">
                <a:extLst>
                  <a:ext uri="{FF2B5EF4-FFF2-40B4-BE49-F238E27FC236}">
                    <a16:creationId xmlns:a16="http://schemas.microsoft.com/office/drawing/2014/main" id="{B49B87AE-AA0F-2A43-6D68-AF9FA330C9D9}"/>
                  </a:ext>
                </a:extLst>
              </p:cNvPr>
              <p:cNvSpPr>
                <a:spLocks noGrp="1" noRot="1" noChangeAspect="1" noMove="1" noResize="1" noEditPoints="1" noAdjustHandles="1" noChangeArrowheads="1" noChangeShapeType="1" noTextEdit="1"/>
              </p:cNvSpPr>
              <p:nvPr>
                <p:ph idx="1"/>
              </p:nvPr>
            </p:nvSpPr>
            <p:spPr>
              <a:xfrm>
                <a:off x="6570541" y="1825624"/>
                <a:ext cx="5621459" cy="5032375"/>
              </a:xfrm>
              <a:blipFill>
                <a:blip r:embed="rId3"/>
                <a:stretch>
                  <a:fillRect l="-1952" t="-1937" r="-2386"/>
                </a:stretch>
              </a:blipFill>
            </p:spPr>
            <p:txBody>
              <a:bodyPr/>
              <a:lstStyle/>
              <a:p>
                <a:r>
                  <a:rPr lang="en-US">
                    <a:noFill/>
                  </a:rPr>
                  <a:t> </a:t>
                </a:r>
              </a:p>
            </p:txBody>
          </p:sp>
        </mc:Fallback>
      </mc:AlternateContent>
      <p:grpSp>
        <p:nvGrpSpPr>
          <p:cNvPr id="4" name="Agrupar 3">
            <a:extLst>
              <a:ext uri="{FF2B5EF4-FFF2-40B4-BE49-F238E27FC236}">
                <a16:creationId xmlns:a16="http://schemas.microsoft.com/office/drawing/2014/main" id="{00D74A89-1397-8D50-7FB3-174767E51FF8}"/>
              </a:ext>
            </a:extLst>
          </p:cNvPr>
          <p:cNvGrpSpPr/>
          <p:nvPr/>
        </p:nvGrpSpPr>
        <p:grpSpPr>
          <a:xfrm>
            <a:off x="302834" y="2432720"/>
            <a:ext cx="5793166" cy="3012647"/>
            <a:chOff x="130556" y="2574235"/>
            <a:chExt cx="5793166" cy="3012647"/>
          </a:xfrm>
        </p:grpSpPr>
        <p:grpSp>
          <p:nvGrpSpPr>
            <p:cNvPr id="5" name="Group 4">
              <a:extLst>
                <a:ext uri="{FF2B5EF4-FFF2-40B4-BE49-F238E27FC236}">
                  <a16:creationId xmlns:a16="http://schemas.microsoft.com/office/drawing/2014/main" id="{65697BCF-6AED-8258-C323-65DC61C3C995}"/>
                </a:ext>
              </a:extLst>
            </p:cNvPr>
            <p:cNvGrpSpPr/>
            <p:nvPr/>
          </p:nvGrpSpPr>
          <p:grpSpPr>
            <a:xfrm>
              <a:off x="130556" y="2574235"/>
              <a:ext cx="5793166" cy="3012647"/>
              <a:chOff x="291326" y="2823587"/>
              <a:chExt cx="4917071" cy="2543852"/>
            </a:xfrm>
          </p:grpSpPr>
          <p:pic>
            <p:nvPicPr>
              <p:cNvPr id="10" name="Picture 4">
                <a:extLst>
                  <a:ext uri="{FF2B5EF4-FFF2-40B4-BE49-F238E27FC236}">
                    <a16:creationId xmlns:a16="http://schemas.microsoft.com/office/drawing/2014/main" id="{AB9336D8-2FF2-896E-C6BD-54D7CE668F9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6651"/>
              <a:stretch>
                <a:fillRect/>
              </a:stretch>
            </p:blipFill>
            <p:spPr bwMode="auto">
              <a:xfrm>
                <a:off x="291326" y="2823587"/>
                <a:ext cx="4917071" cy="229102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3">
                <a:extLst>
                  <a:ext uri="{FF2B5EF4-FFF2-40B4-BE49-F238E27FC236}">
                    <a16:creationId xmlns:a16="http://schemas.microsoft.com/office/drawing/2014/main" id="{15CD9111-6F54-803D-AFCD-BFE9FA775AC4}"/>
                  </a:ext>
                </a:extLst>
              </p:cNvPr>
              <p:cNvSpPr txBox="1"/>
              <p:nvPr/>
            </p:nvSpPr>
            <p:spPr>
              <a:xfrm>
                <a:off x="2877711" y="5114611"/>
                <a:ext cx="447902" cy="252828"/>
              </a:xfrm>
              <a:prstGeom prst="rect">
                <a:avLst/>
              </a:prstGeom>
              <a:noFill/>
            </p:spPr>
            <p:txBody>
              <a:bodyPr wrap="none" rtlCol="0">
                <a:spAutoFit/>
              </a:bodyPr>
              <a:lstStyle/>
              <a:p>
                <a:r>
                  <a:rPr lang="pt-BR" sz="1200" b="1" i="1" dirty="0"/>
                  <a:t>filtro</a:t>
                </a:r>
                <a:endParaRPr lang="en-US" sz="1200" b="1" i="1" dirty="0"/>
              </a:p>
            </p:txBody>
          </p:sp>
        </p:grpSp>
        <p:sp>
          <p:nvSpPr>
            <p:cNvPr id="9" name="CaixaDeTexto 8">
              <a:extLst>
                <a:ext uri="{FF2B5EF4-FFF2-40B4-BE49-F238E27FC236}">
                  <a16:creationId xmlns:a16="http://schemas.microsoft.com/office/drawing/2014/main" id="{E2DB97D1-751C-E7DE-E2C6-6E9FEF94B900}"/>
                </a:ext>
              </a:extLst>
            </p:cNvPr>
            <p:cNvSpPr txBox="1"/>
            <p:nvPr/>
          </p:nvSpPr>
          <p:spPr>
            <a:xfrm>
              <a:off x="605097" y="4928232"/>
              <a:ext cx="708848" cy="276999"/>
            </a:xfrm>
            <a:prstGeom prst="rect">
              <a:avLst/>
            </a:prstGeom>
            <a:noFill/>
          </p:spPr>
          <p:txBody>
            <a:bodyPr wrap="none" rtlCol="0">
              <a:spAutoFit/>
            </a:bodyPr>
            <a:lstStyle/>
            <a:p>
              <a:r>
                <a:rPr lang="pt-BR" sz="1200" b="1" i="1" dirty="0"/>
                <a:t>imagem</a:t>
              </a:r>
              <a:endParaRPr lang="en-US" sz="1200" b="1" i="1" dirty="0"/>
            </a:p>
          </p:txBody>
        </p:sp>
      </p:grpSp>
    </p:spTree>
    <p:extLst>
      <p:ext uri="{BB962C8B-B14F-4D97-AF65-F5344CB8AC3E}">
        <p14:creationId xmlns:p14="http://schemas.microsoft.com/office/powerpoint/2010/main" val="2940570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A951B7-26D0-12FA-7AE3-4CD59110067D}"/>
              </a:ext>
            </a:extLst>
          </p:cNvPr>
          <p:cNvSpPr>
            <a:spLocks noGrp="1"/>
          </p:cNvSpPr>
          <p:nvPr>
            <p:ph type="title"/>
          </p:nvPr>
        </p:nvSpPr>
        <p:spPr/>
        <p:txBody>
          <a:bodyPr/>
          <a:lstStyle/>
          <a:p>
            <a:r>
              <a:rPr lang="pt-BR" dirty="0"/>
              <a:t>Filtros de convolução ou </a:t>
            </a:r>
            <a:r>
              <a:rPr lang="pt-BR" i="1" dirty="0"/>
              <a:t>kernels</a:t>
            </a:r>
            <a:endParaRPr lang="pt-BR" dirty="0"/>
          </a:p>
        </p:txBody>
      </p:sp>
      <p:sp>
        <p:nvSpPr>
          <p:cNvPr id="3" name="Espaço Reservado para Conteúdo 2">
            <a:extLst>
              <a:ext uri="{FF2B5EF4-FFF2-40B4-BE49-F238E27FC236}">
                <a16:creationId xmlns:a16="http://schemas.microsoft.com/office/drawing/2014/main" id="{8F5B0A49-A3CD-CFA0-C43A-88F829127E5D}"/>
              </a:ext>
            </a:extLst>
          </p:cNvPr>
          <p:cNvSpPr>
            <a:spLocks noGrp="1"/>
          </p:cNvSpPr>
          <p:nvPr>
            <p:ph idx="1"/>
          </p:nvPr>
        </p:nvSpPr>
        <p:spPr>
          <a:xfrm>
            <a:off x="5666903" y="1825624"/>
            <a:ext cx="6525098" cy="5032375"/>
          </a:xfrm>
        </p:spPr>
        <p:txBody>
          <a:bodyPr>
            <a:normAutofit/>
          </a:bodyPr>
          <a:lstStyle/>
          <a:p>
            <a:r>
              <a:rPr lang="pt-BR" dirty="0"/>
              <a:t>Os </a:t>
            </a:r>
            <a:r>
              <a:rPr lang="pt-BR" b="1" dirty="0"/>
              <a:t>filtros</a:t>
            </a:r>
            <a:r>
              <a:rPr lang="pt-BR" dirty="0"/>
              <a:t> são </a:t>
            </a:r>
            <a:r>
              <a:rPr lang="pt-BR" b="1" dirty="0">
                <a:solidFill>
                  <a:srgbClr val="FF0000"/>
                </a:solidFill>
              </a:rPr>
              <a:t>treinados</a:t>
            </a:r>
            <a:r>
              <a:rPr lang="pt-BR" b="1" dirty="0">
                <a:solidFill>
                  <a:srgbClr val="00B050"/>
                </a:solidFill>
              </a:rPr>
              <a:t> para detectar características </a:t>
            </a:r>
            <a:r>
              <a:rPr lang="pt-BR" b="1" dirty="0">
                <a:solidFill>
                  <a:schemeClr val="accent2"/>
                </a:solidFill>
              </a:rPr>
              <a:t>(padrões) </a:t>
            </a:r>
            <a:r>
              <a:rPr lang="pt-BR" b="1" dirty="0">
                <a:solidFill>
                  <a:srgbClr val="00B050"/>
                </a:solidFill>
              </a:rPr>
              <a:t>presentes nas imagens</a:t>
            </a:r>
            <a:r>
              <a:rPr lang="pt-BR" dirty="0"/>
              <a:t>.</a:t>
            </a:r>
          </a:p>
          <a:p>
            <a:pPr lvl="1">
              <a:buFont typeface="Wingdings" panose="05000000000000000000" pitchFamily="2" charset="2"/>
              <a:buChar char="§"/>
            </a:pPr>
            <a:r>
              <a:rPr lang="pt-BR" dirty="0"/>
              <a:t>Os filtros têm </a:t>
            </a:r>
            <a:r>
              <a:rPr lang="pt-BR" b="1" dirty="0">
                <a:solidFill>
                  <a:srgbClr val="7030A0"/>
                </a:solidFill>
              </a:rPr>
              <a:t>pesos que são aprendidos</a:t>
            </a:r>
            <a:r>
              <a:rPr lang="pt-BR" dirty="0"/>
              <a:t>.</a:t>
            </a:r>
          </a:p>
          <a:p>
            <a:r>
              <a:rPr lang="pt-BR" dirty="0"/>
              <a:t>Essa ideia de usar </a:t>
            </a:r>
            <a:r>
              <a:rPr lang="pt-BR" b="1" dirty="0">
                <a:solidFill>
                  <a:srgbClr val="00B050"/>
                </a:solidFill>
              </a:rPr>
              <a:t>filtros</a:t>
            </a:r>
            <a:r>
              <a:rPr lang="pt-BR" dirty="0"/>
              <a:t> para </a:t>
            </a:r>
            <a:r>
              <a:rPr lang="pt-BR" b="1" dirty="0">
                <a:solidFill>
                  <a:srgbClr val="00B050"/>
                </a:solidFill>
              </a:rPr>
              <a:t>detectar padrões</a:t>
            </a:r>
            <a:r>
              <a:rPr lang="pt-BR" dirty="0"/>
              <a:t> é </a:t>
            </a:r>
            <a:r>
              <a:rPr lang="pt-BR" b="1" dirty="0">
                <a:solidFill>
                  <a:srgbClr val="00B050"/>
                </a:solidFill>
              </a:rPr>
              <a:t>baseada</a:t>
            </a:r>
            <a:r>
              <a:rPr lang="pt-BR" dirty="0"/>
              <a:t> em como os </a:t>
            </a:r>
            <a:r>
              <a:rPr lang="pt-BR" b="1" dirty="0">
                <a:solidFill>
                  <a:srgbClr val="7030A0"/>
                </a:solidFill>
              </a:rPr>
              <a:t>neurônios biológicos do córtex visual </a:t>
            </a:r>
            <a:r>
              <a:rPr lang="pt-BR" b="1" dirty="0">
                <a:solidFill>
                  <a:srgbClr val="00B050"/>
                </a:solidFill>
              </a:rPr>
              <a:t>funcionam</a:t>
            </a:r>
            <a:r>
              <a:rPr lang="pt-BR" dirty="0"/>
              <a:t>.</a:t>
            </a:r>
          </a:p>
        </p:txBody>
      </p:sp>
      <p:grpSp>
        <p:nvGrpSpPr>
          <p:cNvPr id="4" name="Agrupar 3">
            <a:extLst>
              <a:ext uri="{FF2B5EF4-FFF2-40B4-BE49-F238E27FC236}">
                <a16:creationId xmlns:a16="http://schemas.microsoft.com/office/drawing/2014/main" id="{39E951EA-BFC3-5882-4D5B-881852D4C8FB}"/>
              </a:ext>
            </a:extLst>
          </p:cNvPr>
          <p:cNvGrpSpPr/>
          <p:nvPr/>
        </p:nvGrpSpPr>
        <p:grpSpPr>
          <a:xfrm>
            <a:off x="1407560" y="2002400"/>
            <a:ext cx="2686050" cy="3504074"/>
            <a:chOff x="1407560" y="2002400"/>
            <a:chExt cx="2686050" cy="3504074"/>
          </a:xfrm>
        </p:grpSpPr>
        <p:pic>
          <p:nvPicPr>
            <p:cNvPr id="6" name="Picture 8" descr="Cat Sounds:Amazon.com.br:Appstore for Android">
              <a:extLst>
                <a:ext uri="{FF2B5EF4-FFF2-40B4-BE49-F238E27FC236}">
                  <a16:creationId xmlns:a16="http://schemas.microsoft.com/office/drawing/2014/main" id="{209A79E4-B049-5B83-6382-73CA34EA1D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779" t="7842" r="18218" b="8662"/>
            <a:stretch/>
          </p:blipFill>
          <p:spPr bwMode="auto">
            <a:xfrm>
              <a:off x="1407560" y="2002400"/>
              <a:ext cx="2686050" cy="3504074"/>
            </a:xfrm>
            <a:prstGeom prst="rect">
              <a:avLst/>
            </a:prstGeom>
            <a:noFill/>
            <a:extLst>
              <a:ext uri="{909E8E84-426E-40DD-AFC4-6F175D3DCCD1}">
                <a14:hiddenFill xmlns:a14="http://schemas.microsoft.com/office/drawing/2010/main">
                  <a:solidFill>
                    <a:srgbClr val="FFFFFF"/>
                  </a:solidFill>
                </a14:hiddenFill>
              </a:ext>
            </a:extLst>
          </p:spPr>
        </p:pic>
        <p:sp>
          <p:nvSpPr>
            <p:cNvPr id="8" name="Retângulo 7">
              <a:extLst>
                <a:ext uri="{FF2B5EF4-FFF2-40B4-BE49-F238E27FC236}">
                  <a16:creationId xmlns:a16="http://schemas.microsoft.com/office/drawing/2014/main" id="{A7BC8EFD-91B8-76E7-F83F-C3DF9FE2C87F}"/>
                </a:ext>
              </a:extLst>
            </p:cNvPr>
            <p:cNvSpPr/>
            <p:nvPr/>
          </p:nvSpPr>
          <p:spPr>
            <a:xfrm>
              <a:off x="2498585" y="200240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20B6110E-B934-8D25-01CE-37B1381F987A}"/>
                </a:ext>
              </a:extLst>
            </p:cNvPr>
            <p:cNvSpPr/>
            <p:nvPr/>
          </p:nvSpPr>
          <p:spPr>
            <a:xfrm>
              <a:off x="2624585" y="2938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551F55B2-7066-B27E-2615-BA7D9212E93B}"/>
                </a:ext>
              </a:extLst>
            </p:cNvPr>
            <p:cNvSpPr/>
            <p:nvPr/>
          </p:nvSpPr>
          <p:spPr>
            <a:xfrm>
              <a:off x="2810323" y="3190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F6CC3200-2382-E704-BA88-118134A502BF}"/>
                </a:ext>
              </a:extLst>
            </p:cNvPr>
            <p:cNvSpPr/>
            <p:nvPr/>
          </p:nvSpPr>
          <p:spPr>
            <a:xfrm>
              <a:off x="2750585" y="34427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a:extLst>
                <a:ext uri="{FF2B5EF4-FFF2-40B4-BE49-F238E27FC236}">
                  <a16:creationId xmlns:a16="http://schemas.microsoft.com/office/drawing/2014/main" id="{02932EA7-85EF-FD72-2E3E-38937C816927}"/>
                </a:ext>
              </a:extLst>
            </p:cNvPr>
            <p:cNvSpPr/>
            <p:nvPr/>
          </p:nvSpPr>
          <p:spPr>
            <a:xfrm>
              <a:off x="1414064" y="44500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E3B9AF6D-A606-5A75-FB0C-FF5195BEA0CF}"/>
                </a:ext>
              </a:extLst>
            </p:cNvPr>
            <p:cNvSpPr/>
            <p:nvPr/>
          </p:nvSpPr>
          <p:spPr>
            <a:xfrm>
              <a:off x="2300735"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EA44ED4C-F82C-8A71-4AFB-6848B749B3DD}"/>
                </a:ext>
              </a:extLst>
            </p:cNvPr>
            <p:cNvSpPr/>
            <p:nvPr/>
          </p:nvSpPr>
          <p:spPr>
            <a:xfrm>
              <a:off x="3113356" y="5199325"/>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C6D1F65B-4123-B0AC-CA52-101FAEB375CF}"/>
                </a:ext>
              </a:extLst>
            </p:cNvPr>
            <p:cNvSpPr/>
            <p:nvPr/>
          </p:nvSpPr>
          <p:spPr>
            <a:xfrm>
              <a:off x="3239356" y="4316468"/>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CA86CB97-88B9-F31E-51E1-9E1DEF10DB79}"/>
                </a:ext>
              </a:extLst>
            </p:cNvPr>
            <p:cNvSpPr/>
            <p:nvPr/>
          </p:nvSpPr>
          <p:spPr>
            <a:xfrm>
              <a:off x="3596135" y="2726850"/>
              <a:ext cx="252000" cy="252000"/>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60669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48BC6-878A-0A44-F2DB-FE23ABF6E17F}"/>
              </a:ext>
            </a:extLst>
          </p:cNvPr>
          <p:cNvSpPr>
            <a:spLocks noGrp="1"/>
          </p:cNvSpPr>
          <p:nvPr>
            <p:ph type="title"/>
          </p:nvPr>
        </p:nvSpPr>
        <p:spPr/>
        <p:txBody>
          <a:bodyPr/>
          <a:lstStyle/>
          <a:p>
            <a:r>
              <a:rPr lang="pt-BR" dirty="0"/>
              <a:t>Neurônios do córtex visual</a:t>
            </a:r>
          </a:p>
        </p:txBody>
      </p:sp>
      <p:sp>
        <p:nvSpPr>
          <p:cNvPr id="3" name="Espaço Reservado para Conteúdo 2">
            <a:extLst>
              <a:ext uri="{FF2B5EF4-FFF2-40B4-BE49-F238E27FC236}">
                <a16:creationId xmlns:a16="http://schemas.microsoft.com/office/drawing/2014/main" id="{BC071A48-AD79-1F5F-59AD-A4174571AA34}"/>
              </a:ext>
            </a:extLst>
          </p:cNvPr>
          <p:cNvSpPr>
            <a:spLocks noGrp="1"/>
          </p:cNvSpPr>
          <p:nvPr>
            <p:ph idx="1"/>
          </p:nvPr>
        </p:nvSpPr>
        <p:spPr>
          <a:xfrm>
            <a:off x="934948" y="4771475"/>
            <a:ext cx="11114177" cy="2086524"/>
          </a:xfrm>
        </p:spPr>
        <p:txBody>
          <a:bodyPr>
            <a:normAutofit/>
          </a:bodyPr>
          <a:lstStyle/>
          <a:p>
            <a:r>
              <a:rPr lang="pt-BR" dirty="0"/>
              <a:t>Os </a:t>
            </a:r>
            <a:r>
              <a:rPr lang="pt-BR" b="1" dirty="0">
                <a:solidFill>
                  <a:srgbClr val="00B050"/>
                </a:solidFill>
              </a:rPr>
              <a:t>neurônios</a:t>
            </a:r>
            <a:r>
              <a:rPr lang="pt-BR" dirty="0"/>
              <a:t> do córtex visual </a:t>
            </a:r>
            <a:r>
              <a:rPr lang="pt-BR" b="1" dirty="0">
                <a:solidFill>
                  <a:schemeClr val="accent2"/>
                </a:solidFill>
              </a:rPr>
              <a:t>respondem a padrões específicos</a:t>
            </a:r>
            <a:r>
              <a:rPr lang="pt-BR" b="1" dirty="0">
                <a:solidFill>
                  <a:srgbClr val="00B050"/>
                </a:solidFill>
              </a:rPr>
              <a:t> </a:t>
            </a:r>
            <a:r>
              <a:rPr lang="pt-BR" dirty="0"/>
              <a:t>em</a:t>
            </a:r>
            <a:r>
              <a:rPr lang="pt-BR" b="1" dirty="0"/>
              <a:t> </a:t>
            </a:r>
            <a:r>
              <a:rPr lang="pt-BR" b="1" dirty="0">
                <a:solidFill>
                  <a:srgbClr val="0070C0"/>
                </a:solidFill>
              </a:rPr>
              <a:t>pequenas</a:t>
            </a:r>
            <a:r>
              <a:rPr lang="pt-BR" b="1" dirty="0">
                <a:solidFill>
                  <a:srgbClr val="00B050"/>
                </a:solidFill>
              </a:rPr>
              <a:t> regiões do campo visual</a:t>
            </a:r>
            <a:r>
              <a:rPr lang="pt-BR" dirty="0">
                <a:solidFill>
                  <a:srgbClr val="00B050"/>
                </a:solidFill>
              </a:rPr>
              <a:t> </a:t>
            </a:r>
            <a:r>
              <a:rPr lang="pt-BR" dirty="0"/>
              <a:t>chamadas </a:t>
            </a:r>
            <a:r>
              <a:rPr lang="pt-BR" b="1" dirty="0">
                <a:solidFill>
                  <a:srgbClr val="00B0F0"/>
                </a:solidFill>
              </a:rPr>
              <a:t>campos receptivos</a:t>
            </a:r>
            <a:r>
              <a:rPr lang="pt-BR" dirty="0"/>
              <a:t>.</a:t>
            </a:r>
          </a:p>
          <a:p>
            <a:r>
              <a:rPr lang="pt-BR" dirty="0"/>
              <a:t>À medida que o sinal visual percorre as camadas do cérebro, os </a:t>
            </a:r>
            <a:r>
              <a:rPr lang="pt-BR" b="1" dirty="0">
                <a:solidFill>
                  <a:srgbClr val="00B050"/>
                </a:solidFill>
              </a:rPr>
              <a:t>neurônios respondem </a:t>
            </a:r>
            <a:r>
              <a:rPr lang="pt-BR" dirty="0"/>
              <a:t>a</a:t>
            </a:r>
            <a:r>
              <a:rPr lang="pt-BR" b="1" dirty="0">
                <a:solidFill>
                  <a:srgbClr val="00B050"/>
                </a:solidFill>
              </a:rPr>
              <a:t> </a:t>
            </a:r>
            <a:r>
              <a:rPr lang="pt-BR" b="1" dirty="0">
                <a:solidFill>
                  <a:srgbClr val="7030A0"/>
                </a:solidFill>
              </a:rPr>
              <a:t>padrões mais complexos </a:t>
            </a:r>
            <a:r>
              <a:rPr lang="pt-BR" b="1" dirty="0">
                <a:solidFill>
                  <a:srgbClr val="00B050"/>
                </a:solidFill>
              </a:rPr>
              <a:t>em campos receptivos maiores</a:t>
            </a:r>
            <a:r>
              <a:rPr lang="pt-BR" dirty="0"/>
              <a:t>.</a:t>
            </a:r>
          </a:p>
        </p:txBody>
      </p:sp>
      <p:pic>
        <p:nvPicPr>
          <p:cNvPr id="5" name="Imagem 4">
            <a:extLst>
              <a:ext uri="{FF2B5EF4-FFF2-40B4-BE49-F238E27FC236}">
                <a16:creationId xmlns:a16="http://schemas.microsoft.com/office/drawing/2014/main" id="{353349EB-2E77-4905-5765-DAB5AB6DD247}"/>
              </a:ext>
            </a:extLst>
          </p:cNvPr>
          <p:cNvPicPr>
            <a:picLocks noChangeAspect="1"/>
          </p:cNvPicPr>
          <p:nvPr/>
        </p:nvPicPr>
        <p:blipFill>
          <a:blip r:embed="rId3"/>
          <a:stretch>
            <a:fillRect/>
          </a:stretch>
        </p:blipFill>
        <p:spPr>
          <a:xfrm>
            <a:off x="1993465" y="1890445"/>
            <a:ext cx="8205070" cy="2682426"/>
          </a:xfrm>
          <a:prstGeom prst="rect">
            <a:avLst/>
          </a:prstGeom>
        </p:spPr>
      </p:pic>
    </p:spTree>
    <p:extLst>
      <p:ext uri="{BB962C8B-B14F-4D97-AF65-F5344CB8AC3E}">
        <p14:creationId xmlns:p14="http://schemas.microsoft.com/office/powerpoint/2010/main" val="2446739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148BC6-878A-0A44-F2DB-FE23ABF6E17F}"/>
              </a:ext>
            </a:extLst>
          </p:cNvPr>
          <p:cNvSpPr>
            <a:spLocks noGrp="1"/>
          </p:cNvSpPr>
          <p:nvPr>
            <p:ph type="title"/>
          </p:nvPr>
        </p:nvSpPr>
        <p:spPr/>
        <p:txBody>
          <a:bodyPr/>
          <a:lstStyle/>
          <a:p>
            <a:r>
              <a:rPr lang="pt-BR" dirty="0"/>
              <a:t>Neurônios do córtex visual</a:t>
            </a:r>
          </a:p>
        </p:txBody>
      </p:sp>
      <p:sp>
        <p:nvSpPr>
          <p:cNvPr id="3" name="Espaço Reservado para Conteúdo 2">
            <a:extLst>
              <a:ext uri="{FF2B5EF4-FFF2-40B4-BE49-F238E27FC236}">
                <a16:creationId xmlns:a16="http://schemas.microsoft.com/office/drawing/2014/main" id="{BC071A48-AD79-1F5F-59AD-A4174571AA34}"/>
              </a:ext>
            </a:extLst>
          </p:cNvPr>
          <p:cNvSpPr>
            <a:spLocks noGrp="1"/>
          </p:cNvSpPr>
          <p:nvPr>
            <p:ph idx="1"/>
          </p:nvPr>
        </p:nvSpPr>
        <p:spPr>
          <a:xfrm>
            <a:off x="602901" y="4726111"/>
            <a:ext cx="11589099" cy="2131887"/>
          </a:xfrm>
        </p:spPr>
        <p:txBody>
          <a:bodyPr>
            <a:normAutofit/>
          </a:bodyPr>
          <a:lstStyle/>
          <a:p>
            <a:r>
              <a:rPr lang="pt-BR" dirty="0"/>
              <a:t>Alguns </a:t>
            </a:r>
            <a:r>
              <a:rPr lang="pt-BR" b="1" dirty="0">
                <a:solidFill>
                  <a:srgbClr val="00B050"/>
                </a:solidFill>
              </a:rPr>
              <a:t>neurônios com campos receptivos pequenos reagem</a:t>
            </a:r>
            <a:r>
              <a:rPr lang="pt-BR" dirty="0"/>
              <a:t> a </a:t>
            </a:r>
            <a:r>
              <a:rPr lang="pt-BR" b="1" dirty="0">
                <a:solidFill>
                  <a:srgbClr val="00B050"/>
                </a:solidFill>
              </a:rPr>
              <a:t>linhas horizontais</a:t>
            </a:r>
            <a:r>
              <a:rPr lang="pt-BR" dirty="0"/>
              <a:t>, enquanto </a:t>
            </a:r>
            <a:r>
              <a:rPr lang="pt-BR" b="1" dirty="0">
                <a:solidFill>
                  <a:srgbClr val="00B050"/>
                </a:solidFill>
              </a:rPr>
              <a:t>outros, reagem </a:t>
            </a:r>
            <a:r>
              <a:rPr lang="pt-BR" dirty="0"/>
              <a:t>a </a:t>
            </a:r>
            <a:r>
              <a:rPr lang="pt-BR" b="1" dirty="0">
                <a:solidFill>
                  <a:srgbClr val="00B050"/>
                </a:solidFill>
              </a:rPr>
              <a:t>linhas com orientações diferentes</a:t>
            </a:r>
            <a:r>
              <a:rPr lang="pt-BR" dirty="0"/>
              <a:t>.</a:t>
            </a:r>
          </a:p>
          <a:p>
            <a:r>
              <a:rPr lang="pt-BR" dirty="0"/>
              <a:t>Outros com </a:t>
            </a:r>
            <a:r>
              <a:rPr lang="pt-BR" b="1" dirty="0">
                <a:solidFill>
                  <a:srgbClr val="00B050"/>
                </a:solidFill>
              </a:rPr>
              <a:t>campos receptivos maiores </a:t>
            </a:r>
            <a:r>
              <a:rPr lang="pt-BR" dirty="0"/>
              <a:t>reagem a </a:t>
            </a:r>
            <a:r>
              <a:rPr lang="pt-BR" b="1" dirty="0">
                <a:solidFill>
                  <a:srgbClr val="00B050"/>
                </a:solidFill>
              </a:rPr>
              <a:t>padrões mais complexos</a:t>
            </a:r>
            <a:r>
              <a:rPr lang="pt-BR" dirty="0"/>
              <a:t> que são </a:t>
            </a:r>
            <a:r>
              <a:rPr lang="pt-BR" b="1" dirty="0">
                <a:solidFill>
                  <a:srgbClr val="00B050"/>
                </a:solidFill>
              </a:rPr>
              <a:t>combinações de padrões mais simples</a:t>
            </a:r>
            <a:r>
              <a:rPr lang="pt-BR" dirty="0"/>
              <a:t>.</a:t>
            </a:r>
          </a:p>
        </p:txBody>
      </p:sp>
      <p:pic>
        <p:nvPicPr>
          <p:cNvPr id="6" name="Imagem 5">
            <a:extLst>
              <a:ext uri="{FF2B5EF4-FFF2-40B4-BE49-F238E27FC236}">
                <a16:creationId xmlns:a16="http://schemas.microsoft.com/office/drawing/2014/main" id="{7A65F04E-7A2C-5F6A-31A5-E4E7D6CCB651}"/>
              </a:ext>
            </a:extLst>
          </p:cNvPr>
          <p:cNvPicPr>
            <a:picLocks noChangeAspect="1"/>
          </p:cNvPicPr>
          <p:nvPr/>
        </p:nvPicPr>
        <p:blipFill>
          <a:blip r:embed="rId2"/>
          <a:stretch>
            <a:fillRect/>
          </a:stretch>
        </p:blipFill>
        <p:spPr>
          <a:xfrm>
            <a:off x="1993465" y="1867186"/>
            <a:ext cx="8205070" cy="2682426"/>
          </a:xfrm>
          <a:prstGeom prst="rect">
            <a:avLst/>
          </a:prstGeom>
        </p:spPr>
      </p:pic>
    </p:spTree>
    <p:extLst>
      <p:ext uri="{BB962C8B-B14F-4D97-AF65-F5344CB8AC3E}">
        <p14:creationId xmlns:p14="http://schemas.microsoft.com/office/powerpoint/2010/main" val="33937322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617CA2-D366-5591-D365-031CADD5B68F}"/>
              </a:ext>
            </a:extLst>
          </p:cNvPr>
          <p:cNvSpPr>
            <a:spLocks noGrp="1"/>
          </p:cNvSpPr>
          <p:nvPr>
            <p:ph type="title"/>
          </p:nvPr>
        </p:nvSpPr>
        <p:spPr/>
        <p:txBody>
          <a:bodyPr/>
          <a:lstStyle/>
          <a:p>
            <a:r>
              <a:rPr lang="pt-BR" dirty="0"/>
              <a:t>Filtros de convolução ou </a:t>
            </a:r>
            <a:r>
              <a:rPr lang="pt-BR" i="1" dirty="0"/>
              <a:t>kernels</a:t>
            </a:r>
          </a:p>
        </p:txBody>
      </p:sp>
      <p:sp>
        <p:nvSpPr>
          <p:cNvPr id="3" name="Espaço Reservado para Conteúdo 2">
            <a:extLst>
              <a:ext uri="{FF2B5EF4-FFF2-40B4-BE49-F238E27FC236}">
                <a16:creationId xmlns:a16="http://schemas.microsoft.com/office/drawing/2014/main" id="{D0D4C109-DA4E-D4E5-AC68-01E976426AD8}"/>
              </a:ext>
            </a:extLst>
          </p:cNvPr>
          <p:cNvSpPr>
            <a:spLocks noGrp="1"/>
          </p:cNvSpPr>
          <p:nvPr>
            <p:ph idx="1"/>
          </p:nvPr>
        </p:nvSpPr>
        <p:spPr>
          <a:xfrm>
            <a:off x="5486401" y="1825624"/>
            <a:ext cx="6705600" cy="5032375"/>
          </a:xfrm>
        </p:spPr>
        <p:txBody>
          <a:bodyPr>
            <a:normAutofit/>
          </a:bodyPr>
          <a:lstStyle/>
          <a:p>
            <a:r>
              <a:rPr lang="pt-BR" dirty="0"/>
              <a:t>Um </a:t>
            </a:r>
            <a:r>
              <a:rPr lang="pt-BR" b="1" i="1" dirty="0">
                <a:solidFill>
                  <a:srgbClr val="7030A0"/>
                </a:solidFill>
                <a:effectLst/>
              </a:rPr>
              <a:t>kernel</a:t>
            </a:r>
            <a:r>
              <a:rPr lang="pt-BR" b="0" dirty="0">
                <a:effectLst/>
              </a:rPr>
              <a:t> é uma </a:t>
            </a:r>
            <a:r>
              <a:rPr lang="pt-BR" b="1" dirty="0">
                <a:solidFill>
                  <a:schemeClr val="accent2"/>
                </a:solidFill>
                <a:effectLst/>
              </a:rPr>
              <a:t>matriz</a:t>
            </a:r>
            <a:r>
              <a:rPr lang="pt-BR" b="0" dirty="0">
                <a:effectLst/>
              </a:rPr>
              <a:t> (ou tensor) responsável por </a:t>
            </a:r>
            <a:r>
              <a:rPr lang="pt-BR" b="1" dirty="0">
                <a:solidFill>
                  <a:srgbClr val="00B050"/>
                </a:solidFill>
                <a:effectLst/>
              </a:rPr>
              <a:t>detectar características específicas em uma imagem</a:t>
            </a:r>
            <a:r>
              <a:rPr lang="pt-BR" b="0" dirty="0">
                <a:effectLst/>
              </a:rPr>
              <a:t>.</a:t>
            </a:r>
          </a:p>
          <a:p>
            <a:r>
              <a:rPr lang="pt-BR" dirty="0"/>
              <a:t>Ele </a:t>
            </a:r>
            <a:r>
              <a:rPr lang="pt-BR" b="0" dirty="0">
                <a:effectLst/>
              </a:rPr>
              <a:t>percorre </a:t>
            </a:r>
            <a:r>
              <a:rPr lang="pt-BR" dirty="0"/>
              <a:t>uma</a:t>
            </a:r>
            <a:r>
              <a:rPr lang="pt-BR" b="0" dirty="0">
                <a:effectLst/>
              </a:rPr>
              <a:t> imagem realizando </a:t>
            </a:r>
            <a:r>
              <a:rPr lang="pt-BR" b="1" dirty="0">
                <a:solidFill>
                  <a:srgbClr val="00B050"/>
                </a:solidFill>
                <a:effectLst/>
              </a:rPr>
              <a:t>operações de convolução</a:t>
            </a:r>
            <a:r>
              <a:rPr lang="pt-BR" b="0" dirty="0">
                <a:effectLst/>
              </a:rPr>
              <a:t> entre seus elementos e os dos </a:t>
            </a:r>
            <a:r>
              <a:rPr lang="pt-BR" b="0" i="1" dirty="0">
                <a:effectLst/>
              </a:rPr>
              <a:t>pixels</a:t>
            </a:r>
            <a:r>
              <a:rPr lang="pt-BR" b="0" dirty="0">
                <a:effectLst/>
              </a:rPr>
              <a:t> na região da imagem correspondente ao seu</a:t>
            </a:r>
            <a:r>
              <a:rPr lang="pt-BR" dirty="0"/>
              <a:t> </a:t>
            </a:r>
            <a:r>
              <a:rPr lang="pt-BR" b="1" dirty="0">
                <a:solidFill>
                  <a:srgbClr val="00B050"/>
                </a:solidFill>
                <a:effectLst/>
              </a:rPr>
              <a:t>campo receptivo</a:t>
            </a:r>
            <a:r>
              <a:rPr lang="pt-BR" b="0" dirty="0">
                <a:effectLst/>
              </a:rPr>
              <a:t>.</a:t>
            </a:r>
          </a:p>
          <a:p>
            <a:r>
              <a:rPr lang="pt-BR" dirty="0"/>
              <a:t>Para imagens </a:t>
            </a:r>
            <a:r>
              <a:rPr lang="pt-BR" b="1" dirty="0">
                <a:solidFill>
                  <a:schemeClr val="accent1"/>
                </a:solidFill>
              </a:rPr>
              <a:t>coloridas</a:t>
            </a:r>
            <a:r>
              <a:rPr lang="pt-BR" dirty="0"/>
              <a:t>, eles têm </a:t>
            </a:r>
            <a:r>
              <a:rPr lang="pt-BR" b="1" dirty="0">
                <a:solidFill>
                  <a:schemeClr val="accent1"/>
                </a:solidFill>
              </a:rPr>
              <a:t>3 dimensões</a:t>
            </a:r>
            <a:r>
              <a:rPr lang="pt-BR" dirty="0"/>
              <a:t> e </a:t>
            </a:r>
            <a:r>
              <a:rPr lang="pt-BR" b="1" dirty="0"/>
              <a:t>2 dimensões</a:t>
            </a:r>
            <a:r>
              <a:rPr lang="pt-BR" dirty="0"/>
              <a:t> para imagens em </a:t>
            </a:r>
            <a:r>
              <a:rPr lang="pt-BR" b="1" dirty="0"/>
              <a:t>tons de cinza</a:t>
            </a:r>
            <a:r>
              <a:rPr lang="pt-BR" dirty="0"/>
              <a:t>.</a:t>
            </a:r>
            <a:endParaRPr lang="pt-BR" b="0" dirty="0">
              <a:effectLst/>
            </a:endParaRPr>
          </a:p>
        </p:txBody>
      </p:sp>
      <p:grpSp>
        <p:nvGrpSpPr>
          <p:cNvPr id="10" name="Agrupar 9">
            <a:extLst>
              <a:ext uri="{FF2B5EF4-FFF2-40B4-BE49-F238E27FC236}">
                <a16:creationId xmlns:a16="http://schemas.microsoft.com/office/drawing/2014/main" id="{393A6803-8CB7-AAAA-54B0-14A003B0EAB7}"/>
              </a:ext>
            </a:extLst>
          </p:cNvPr>
          <p:cNvGrpSpPr/>
          <p:nvPr/>
        </p:nvGrpSpPr>
        <p:grpSpPr>
          <a:xfrm>
            <a:off x="2498616" y="2116269"/>
            <a:ext cx="1315770" cy="3142920"/>
            <a:chOff x="1479112" y="2137290"/>
            <a:chExt cx="1315770" cy="3142920"/>
          </a:xfrm>
        </p:grpSpPr>
        <p:graphicFrame>
          <p:nvGraphicFramePr>
            <p:cNvPr id="8" name="Tabela 4">
              <a:extLst>
                <a:ext uri="{FF2B5EF4-FFF2-40B4-BE49-F238E27FC236}">
                  <a16:creationId xmlns:a16="http://schemas.microsoft.com/office/drawing/2014/main" id="{EB90F607-C31F-517B-77C5-9D9929A933DE}"/>
                </a:ext>
              </a:extLst>
            </p:cNvPr>
            <p:cNvGraphicFramePr>
              <a:graphicFrameLocks/>
            </p:cNvGraphicFramePr>
            <p:nvPr>
              <p:extLst>
                <p:ext uri="{D42A27DB-BD31-4B8C-83A1-F6EECF244321}">
                  <p14:modId xmlns:p14="http://schemas.microsoft.com/office/powerpoint/2010/main" val="2634062259"/>
                </p:ext>
              </p:extLst>
            </p:nvPr>
          </p:nvGraphicFramePr>
          <p:xfrm>
            <a:off x="1835594" y="429161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graphicFrame>
          <p:nvGraphicFramePr>
            <p:cNvPr id="7" name="Tabela 4">
              <a:extLst>
                <a:ext uri="{FF2B5EF4-FFF2-40B4-BE49-F238E27FC236}">
                  <a16:creationId xmlns:a16="http://schemas.microsoft.com/office/drawing/2014/main" id="{7126498E-E22B-DAA9-37A6-29E364F2C970}"/>
                </a:ext>
              </a:extLst>
            </p:cNvPr>
            <p:cNvGraphicFramePr>
              <a:graphicFrameLocks/>
            </p:cNvGraphicFramePr>
            <p:nvPr>
              <p:extLst>
                <p:ext uri="{D42A27DB-BD31-4B8C-83A1-F6EECF244321}">
                  <p14:modId xmlns:p14="http://schemas.microsoft.com/office/powerpoint/2010/main" val="2391878118"/>
                </p:ext>
              </p:extLst>
            </p:nvPr>
          </p:nvGraphicFramePr>
          <p:xfrm>
            <a:off x="1657353" y="437789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graphicFrame>
          <p:nvGraphicFramePr>
            <p:cNvPr id="4" name="Tabela 4">
              <a:extLst>
                <a:ext uri="{FF2B5EF4-FFF2-40B4-BE49-F238E27FC236}">
                  <a16:creationId xmlns:a16="http://schemas.microsoft.com/office/drawing/2014/main" id="{CFD95762-F8DE-81FE-C4E9-8D66BEBCB811}"/>
                </a:ext>
              </a:extLst>
            </p:cNvPr>
            <p:cNvGraphicFramePr>
              <a:graphicFrameLocks/>
            </p:cNvGraphicFramePr>
            <p:nvPr>
              <p:extLst>
                <p:ext uri="{D42A27DB-BD31-4B8C-83A1-F6EECF244321}">
                  <p14:modId xmlns:p14="http://schemas.microsoft.com/office/powerpoint/2010/main" val="4218400641"/>
                </p:ext>
              </p:extLst>
            </p:nvPr>
          </p:nvGraphicFramePr>
          <p:xfrm>
            <a:off x="1609835" y="2546946"/>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p:sp>
          <p:nvSpPr>
            <p:cNvPr id="5" name="CaixaDeTexto 4">
              <a:extLst>
                <a:ext uri="{FF2B5EF4-FFF2-40B4-BE49-F238E27FC236}">
                  <a16:creationId xmlns:a16="http://schemas.microsoft.com/office/drawing/2014/main" id="{D0EA9B26-38CE-1968-8D22-E48A4497C387}"/>
                </a:ext>
              </a:extLst>
            </p:cNvPr>
            <p:cNvSpPr txBox="1"/>
            <p:nvPr/>
          </p:nvSpPr>
          <p:spPr>
            <a:xfrm>
              <a:off x="1479112" y="2137290"/>
              <a:ext cx="1132052" cy="369332"/>
            </a:xfrm>
            <a:prstGeom prst="rect">
              <a:avLst/>
            </a:prstGeom>
            <a:noFill/>
          </p:spPr>
          <p:txBody>
            <a:bodyPr wrap="square" rtlCol="0">
              <a:spAutoFit/>
            </a:bodyPr>
            <a:lstStyle/>
            <a:p>
              <a:pPr algn="ctr"/>
              <a:r>
                <a:rPr lang="pt-BR" dirty="0"/>
                <a:t>Kernel 2D</a:t>
              </a:r>
            </a:p>
          </p:txBody>
        </p:sp>
        <p:graphicFrame>
          <p:nvGraphicFramePr>
            <p:cNvPr id="6" name="Tabela 4">
              <a:extLst>
                <a:ext uri="{FF2B5EF4-FFF2-40B4-BE49-F238E27FC236}">
                  <a16:creationId xmlns:a16="http://schemas.microsoft.com/office/drawing/2014/main" id="{280819F3-F602-E083-3DA1-FC41E7741BD3}"/>
                </a:ext>
              </a:extLst>
            </p:cNvPr>
            <p:cNvGraphicFramePr>
              <a:graphicFrameLocks/>
            </p:cNvGraphicFramePr>
            <p:nvPr>
              <p:extLst>
                <p:ext uri="{D42A27DB-BD31-4B8C-83A1-F6EECF244321}">
                  <p14:modId xmlns:p14="http://schemas.microsoft.com/office/powerpoint/2010/main" val="516418329"/>
                </p:ext>
              </p:extLst>
            </p:nvPr>
          </p:nvGraphicFramePr>
          <p:xfrm>
            <a:off x="1479112" y="453853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sp>
          <p:nvSpPr>
            <p:cNvPr id="9" name="CaixaDeTexto 8">
              <a:extLst>
                <a:ext uri="{FF2B5EF4-FFF2-40B4-BE49-F238E27FC236}">
                  <a16:creationId xmlns:a16="http://schemas.microsoft.com/office/drawing/2014/main" id="{8AECE292-9CC9-7AF8-2480-6EF55CF45330}"/>
                </a:ext>
              </a:extLst>
            </p:cNvPr>
            <p:cNvSpPr txBox="1"/>
            <p:nvPr/>
          </p:nvSpPr>
          <p:spPr>
            <a:xfrm>
              <a:off x="1662830" y="3874261"/>
              <a:ext cx="1132052" cy="369332"/>
            </a:xfrm>
            <a:prstGeom prst="rect">
              <a:avLst/>
            </a:prstGeom>
            <a:noFill/>
          </p:spPr>
          <p:txBody>
            <a:bodyPr wrap="square" rtlCol="0">
              <a:spAutoFit/>
            </a:bodyPr>
            <a:lstStyle/>
            <a:p>
              <a:pPr algn="ctr"/>
              <a:r>
                <a:rPr lang="pt-BR" dirty="0"/>
                <a:t>Kernel 3D</a:t>
              </a:r>
            </a:p>
          </p:txBody>
        </p:sp>
      </p:grpSp>
    </p:spTree>
    <p:extLst>
      <p:ext uri="{BB962C8B-B14F-4D97-AF65-F5344CB8AC3E}">
        <p14:creationId xmlns:p14="http://schemas.microsoft.com/office/powerpoint/2010/main" val="33105581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617CA2-D366-5591-D365-031CADD5B68F}"/>
              </a:ext>
            </a:extLst>
          </p:cNvPr>
          <p:cNvSpPr>
            <a:spLocks noGrp="1"/>
          </p:cNvSpPr>
          <p:nvPr>
            <p:ph type="title"/>
          </p:nvPr>
        </p:nvSpPr>
        <p:spPr/>
        <p:txBody>
          <a:bodyPr/>
          <a:lstStyle/>
          <a:p>
            <a:r>
              <a:rPr lang="pt-BR" dirty="0"/>
              <a:t>Filtros de convolução ou </a:t>
            </a:r>
            <a:r>
              <a:rPr lang="pt-BR" i="1" dirty="0"/>
              <a:t>kernels</a:t>
            </a:r>
          </a:p>
        </p:txBody>
      </p:sp>
      <p:sp>
        <p:nvSpPr>
          <p:cNvPr id="3" name="Espaço Reservado para Conteúdo 2">
            <a:extLst>
              <a:ext uri="{FF2B5EF4-FFF2-40B4-BE49-F238E27FC236}">
                <a16:creationId xmlns:a16="http://schemas.microsoft.com/office/drawing/2014/main" id="{D0D4C109-DA4E-D4E5-AC68-01E976426AD8}"/>
              </a:ext>
            </a:extLst>
          </p:cNvPr>
          <p:cNvSpPr>
            <a:spLocks noGrp="1"/>
          </p:cNvSpPr>
          <p:nvPr>
            <p:ph idx="1"/>
          </p:nvPr>
        </p:nvSpPr>
        <p:spPr>
          <a:xfrm>
            <a:off x="5566787" y="1825624"/>
            <a:ext cx="6625213" cy="5032375"/>
          </a:xfrm>
        </p:spPr>
        <p:txBody>
          <a:bodyPr>
            <a:normAutofit/>
          </a:bodyPr>
          <a:lstStyle/>
          <a:p>
            <a:r>
              <a:rPr lang="pt-BR" b="0" dirty="0">
                <a:effectLst/>
              </a:rPr>
              <a:t>Cada </a:t>
            </a:r>
            <a:r>
              <a:rPr lang="pt-BR" b="1" i="1" dirty="0">
                <a:solidFill>
                  <a:srgbClr val="7030A0"/>
                </a:solidFill>
                <a:effectLst/>
              </a:rPr>
              <a:t>kernel</a:t>
            </a:r>
            <a:r>
              <a:rPr lang="pt-BR" b="0" dirty="0">
                <a:effectLst/>
              </a:rPr>
              <a:t> </a:t>
            </a:r>
            <a:r>
              <a:rPr lang="pt-BR" b="1" dirty="0">
                <a:solidFill>
                  <a:srgbClr val="00B050"/>
                </a:solidFill>
                <a:effectLst/>
              </a:rPr>
              <a:t>detecta um tipo particular de característica</a:t>
            </a:r>
            <a:r>
              <a:rPr lang="pt-BR" b="0" dirty="0">
                <a:effectLst/>
              </a:rPr>
              <a:t>, como bordas, texturas, partes específicas de objetos e objetos inteiros. </a:t>
            </a:r>
          </a:p>
          <a:p>
            <a:r>
              <a:rPr lang="pt-BR" b="0" dirty="0">
                <a:effectLst/>
              </a:rPr>
              <a:t>Os </a:t>
            </a:r>
            <a:r>
              <a:rPr lang="pt-BR" b="1" i="1" dirty="0">
                <a:solidFill>
                  <a:srgbClr val="7030A0"/>
                </a:solidFill>
                <a:effectLst/>
              </a:rPr>
              <a:t>kernels</a:t>
            </a:r>
            <a:r>
              <a:rPr lang="pt-BR" b="0" dirty="0">
                <a:effectLst/>
              </a:rPr>
              <a:t> </a:t>
            </a:r>
            <a:r>
              <a:rPr lang="pt-BR" b="1" dirty="0">
                <a:solidFill>
                  <a:schemeClr val="accent2"/>
                </a:solidFill>
                <a:effectLst/>
              </a:rPr>
              <a:t>aprendem</a:t>
            </a:r>
            <a:r>
              <a:rPr lang="pt-BR" b="0" dirty="0">
                <a:effectLst/>
              </a:rPr>
              <a:t> a </a:t>
            </a:r>
            <a:r>
              <a:rPr lang="pt-BR" b="1" dirty="0">
                <a:solidFill>
                  <a:srgbClr val="00B050"/>
                </a:solidFill>
                <a:effectLst/>
              </a:rPr>
              <a:t>detectar</a:t>
            </a:r>
            <a:r>
              <a:rPr lang="pt-BR" b="0" dirty="0">
                <a:effectLst/>
              </a:rPr>
              <a:t> as </a:t>
            </a:r>
            <a:r>
              <a:rPr lang="pt-BR" b="1" dirty="0">
                <a:solidFill>
                  <a:srgbClr val="0070C0"/>
                </a:solidFill>
                <a:effectLst/>
              </a:rPr>
              <a:t>características mais relevantes </a:t>
            </a:r>
            <a:r>
              <a:rPr lang="pt-BR" b="0" dirty="0">
                <a:effectLst/>
              </a:rPr>
              <a:t>para a tarefa em mãos.</a:t>
            </a:r>
          </a:p>
          <a:p>
            <a:pPr lvl="1">
              <a:buFont typeface="Wingdings" panose="05000000000000000000" pitchFamily="2" charset="2"/>
              <a:buChar char="§"/>
            </a:pPr>
            <a:r>
              <a:rPr lang="pt-BR" b="0" dirty="0">
                <a:effectLst/>
              </a:rPr>
              <a:t>Eles </a:t>
            </a:r>
            <a:r>
              <a:rPr lang="pt-BR" b="1" dirty="0">
                <a:solidFill>
                  <a:srgbClr val="00B0F0"/>
                </a:solidFill>
                <a:effectLst/>
              </a:rPr>
              <a:t>aprendem</a:t>
            </a:r>
            <a:r>
              <a:rPr lang="pt-BR" b="0" dirty="0">
                <a:effectLst/>
              </a:rPr>
              <a:t>, a partir do </a:t>
            </a:r>
            <a:r>
              <a:rPr lang="pt-BR" b="1" dirty="0">
                <a:effectLst/>
              </a:rPr>
              <a:t>conjunto de treinamento</a:t>
            </a:r>
            <a:r>
              <a:rPr lang="pt-BR" b="0" dirty="0">
                <a:effectLst/>
              </a:rPr>
              <a:t>, os valores dos </a:t>
            </a:r>
            <a:r>
              <a:rPr lang="pt-BR" b="1" dirty="0">
                <a:effectLst/>
              </a:rPr>
              <a:t>elementos das matrizes</a:t>
            </a:r>
            <a:r>
              <a:rPr lang="pt-BR" b="0" dirty="0">
                <a:effectLst/>
              </a:rPr>
              <a:t> necessários para </a:t>
            </a:r>
            <a:r>
              <a:rPr lang="pt-BR" b="1" dirty="0">
                <a:effectLst/>
              </a:rPr>
              <a:t>detectar as características que identificam, por exemplo, um gato</a:t>
            </a:r>
            <a:r>
              <a:rPr lang="pt-BR" b="0" dirty="0">
                <a:effectLst/>
              </a:rPr>
              <a:t>.</a:t>
            </a:r>
          </a:p>
        </p:txBody>
      </p:sp>
      <p:grpSp>
        <p:nvGrpSpPr>
          <p:cNvPr id="10" name="Agrupar 9">
            <a:extLst>
              <a:ext uri="{FF2B5EF4-FFF2-40B4-BE49-F238E27FC236}">
                <a16:creationId xmlns:a16="http://schemas.microsoft.com/office/drawing/2014/main" id="{6185C9FF-69D2-32D6-6BFE-951A916EC030}"/>
              </a:ext>
            </a:extLst>
          </p:cNvPr>
          <p:cNvGrpSpPr/>
          <p:nvPr/>
        </p:nvGrpSpPr>
        <p:grpSpPr>
          <a:xfrm>
            <a:off x="2498616" y="2116269"/>
            <a:ext cx="1315770" cy="3142920"/>
            <a:chOff x="1479112" y="2137290"/>
            <a:chExt cx="1315770" cy="3142920"/>
          </a:xfrm>
        </p:grpSpPr>
        <p:graphicFrame>
          <p:nvGraphicFramePr>
            <p:cNvPr id="11" name="Tabela 4">
              <a:extLst>
                <a:ext uri="{FF2B5EF4-FFF2-40B4-BE49-F238E27FC236}">
                  <a16:creationId xmlns:a16="http://schemas.microsoft.com/office/drawing/2014/main" id="{D5E74F44-732E-04E1-98FF-1419FE3E9041}"/>
                </a:ext>
              </a:extLst>
            </p:cNvPr>
            <p:cNvGraphicFramePr>
              <a:graphicFrameLocks/>
            </p:cNvGraphicFramePr>
            <p:nvPr>
              <p:extLst>
                <p:ext uri="{D42A27DB-BD31-4B8C-83A1-F6EECF244321}">
                  <p14:modId xmlns:p14="http://schemas.microsoft.com/office/powerpoint/2010/main" val="544126363"/>
                </p:ext>
              </p:extLst>
            </p:nvPr>
          </p:nvGraphicFramePr>
          <p:xfrm>
            <a:off x="1835594" y="429161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graphicFrame>
          <p:nvGraphicFramePr>
            <p:cNvPr id="12" name="Tabela 4">
              <a:extLst>
                <a:ext uri="{FF2B5EF4-FFF2-40B4-BE49-F238E27FC236}">
                  <a16:creationId xmlns:a16="http://schemas.microsoft.com/office/drawing/2014/main" id="{60391CC2-9E61-71B5-64F6-3AB866A2C48A}"/>
                </a:ext>
              </a:extLst>
            </p:cNvPr>
            <p:cNvGraphicFramePr>
              <a:graphicFrameLocks/>
            </p:cNvGraphicFramePr>
            <p:nvPr>
              <p:extLst>
                <p:ext uri="{D42A27DB-BD31-4B8C-83A1-F6EECF244321}">
                  <p14:modId xmlns:p14="http://schemas.microsoft.com/office/powerpoint/2010/main" val="1002679664"/>
                </p:ext>
              </p:extLst>
            </p:nvPr>
          </p:nvGraphicFramePr>
          <p:xfrm>
            <a:off x="1657353" y="437789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graphicFrame>
          <p:nvGraphicFramePr>
            <p:cNvPr id="13" name="Tabela 4">
              <a:extLst>
                <a:ext uri="{FF2B5EF4-FFF2-40B4-BE49-F238E27FC236}">
                  <a16:creationId xmlns:a16="http://schemas.microsoft.com/office/drawing/2014/main" id="{157D61E9-8994-CBA8-31AC-23373C3F1586}"/>
                </a:ext>
              </a:extLst>
            </p:cNvPr>
            <p:cNvGraphicFramePr>
              <a:graphicFrameLocks/>
            </p:cNvGraphicFramePr>
            <p:nvPr>
              <p:extLst>
                <p:ext uri="{D42A27DB-BD31-4B8C-83A1-F6EECF244321}">
                  <p14:modId xmlns:p14="http://schemas.microsoft.com/office/powerpoint/2010/main" val="1173604609"/>
                </p:ext>
              </p:extLst>
            </p:nvPr>
          </p:nvGraphicFramePr>
          <p:xfrm>
            <a:off x="1609835" y="2546946"/>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p:sp>
          <p:nvSpPr>
            <p:cNvPr id="14" name="CaixaDeTexto 13">
              <a:extLst>
                <a:ext uri="{FF2B5EF4-FFF2-40B4-BE49-F238E27FC236}">
                  <a16:creationId xmlns:a16="http://schemas.microsoft.com/office/drawing/2014/main" id="{F98483D0-48E7-B237-081C-34EAEA330107}"/>
                </a:ext>
              </a:extLst>
            </p:cNvPr>
            <p:cNvSpPr txBox="1"/>
            <p:nvPr/>
          </p:nvSpPr>
          <p:spPr>
            <a:xfrm>
              <a:off x="1479112" y="2137290"/>
              <a:ext cx="1132052" cy="369332"/>
            </a:xfrm>
            <a:prstGeom prst="rect">
              <a:avLst/>
            </a:prstGeom>
            <a:noFill/>
          </p:spPr>
          <p:txBody>
            <a:bodyPr wrap="square" rtlCol="0">
              <a:spAutoFit/>
            </a:bodyPr>
            <a:lstStyle/>
            <a:p>
              <a:pPr algn="ctr"/>
              <a:r>
                <a:rPr lang="pt-BR" dirty="0"/>
                <a:t>Kernel 2D</a:t>
              </a:r>
            </a:p>
          </p:txBody>
        </p:sp>
        <p:graphicFrame>
          <p:nvGraphicFramePr>
            <p:cNvPr id="15" name="Tabela 4">
              <a:extLst>
                <a:ext uri="{FF2B5EF4-FFF2-40B4-BE49-F238E27FC236}">
                  <a16:creationId xmlns:a16="http://schemas.microsoft.com/office/drawing/2014/main" id="{10981081-BA12-4BAA-438B-8DC350A05918}"/>
                </a:ext>
              </a:extLst>
            </p:cNvPr>
            <p:cNvGraphicFramePr>
              <a:graphicFrameLocks/>
            </p:cNvGraphicFramePr>
            <p:nvPr>
              <p:extLst>
                <p:ext uri="{D42A27DB-BD31-4B8C-83A1-F6EECF244321}">
                  <p14:modId xmlns:p14="http://schemas.microsoft.com/office/powerpoint/2010/main" val="2249505512"/>
                </p:ext>
              </p:extLst>
            </p:nvPr>
          </p:nvGraphicFramePr>
          <p:xfrm>
            <a:off x="1479112" y="453853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sp>
          <p:nvSpPr>
            <p:cNvPr id="16" name="CaixaDeTexto 15">
              <a:extLst>
                <a:ext uri="{FF2B5EF4-FFF2-40B4-BE49-F238E27FC236}">
                  <a16:creationId xmlns:a16="http://schemas.microsoft.com/office/drawing/2014/main" id="{0BCD3537-0FCB-3330-6585-BBB805A7FC30}"/>
                </a:ext>
              </a:extLst>
            </p:cNvPr>
            <p:cNvSpPr txBox="1"/>
            <p:nvPr/>
          </p:nvSpPr>
          <p:spPr>
            <a:xfrm>
              <a:off x="1662830" y="3874261"/>
              <a:ext cx="1132052" cy="369332"/>
            </a:xfrm>
            <a:prstGeom prst="rect">
              <a:avLst/>
            </a:prstGeom>
            <a:noFill/>
          </p:spPr>
          <p:txBody>
            <a:bodyPr wrap="square" rtlCol="0">
              <a:spAutoFit/>
            </a:bodyPr>
            <a:lstStyle/>
            <a:p>
              <a:pPr algn="ctr"/>
              <a:r>
                <a:rPr lang="pt-BR" dirty="0"/>
                <a:t>Kernel 3D</a:t>
              </a:r>
            </a:p>
          </p:txBody>
        </p:sp>
      </p:grpSp>
    </p:spTree>
    <p:extLst>
      <p:ext uri="{BB962C8B-B14F-4D97-AF65-F5344CB8AC3E}">
        <p14:creationId xmlns:p14="http://schemas.microsoft.com/office/powerpoint/2010/main" val="3469718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B7399-AC46-A6E1-01FA-F088ADE4FBC2}"/>
              </a:ext>
            </a:extLst>
          </p:cNvPr>
          <p:cNvSpPr>
            <a:spLocks noGrp="1"/>
          </p:cNvSpPr>
          <p:nvPr>
            <p:ph type="title"/>
          </p:nvPr>
        </p:nvSpPr>
        <p:spPr/>
        <p:txBody>
          <a:bodyPr/>
          <a:lstStyle/>
          <a:p>
            <a:r>
              <a:rPr lang="pt-BR" dirty="0"/>
              <a:t>Operação de convolução com </a:t>
            </a:r>
            <a:r>
              <a:rPr lang="pt-BR" i="1" dirty="0"/>
              <a:t>kernel</a:t>
            </a:r>
            <a:r>
              <a:rPr lang="pt-BR" dirty="0"/>
              <a:t> 2D</a:t>
            </a:r>
          </a:p>
        </p:txBody>
      </p:sp>
      <mc:AlternateContent xmlns:mc="http://schemas.openxmlformats.org/markup-compatibility/2006" xmlns:a14="http://schemas.microsoft.com/office/drawing/2010/main">
        <mc:Choice Requires="a14">
          <p:sp>
            <p:nvSpPr>
              <p:cNvPr id="6" name="Espaço Reservado para Conteúdo 5">
                <a:extLst>
                  <a:ext uri="{FF2B5EF4-FFF2-40B4-BE49-F238E27FC236}">
                    <a16:creationId xmlns:a16="http://schemas.microsoft.com/office/drawing/2014/main" id="{96C3292B-4443-865B-28D7-E54C4111F076}"/>
                  </a:ext>
                </a:extLst>
              </p:cNvPr>
              <p:cNvSpPr>
                <a:spLocks noGrp="1"/>
              </p:cNvSpPr>
              <p:nvPr>
                <p:ph idx="1"/>
              </p:nvPr>
            </p:nvSpPr>
            <p:spPr>
              <a:xfrm>
                <a:off x="6243144" y="1825624"/>
                <a:ext cx="5948855" cy="5032375"/>
              </a:xfrm>
            </p:spPr>
            <p:txBody>
              <a:bodyPr>
                <a:normAutofit/>
              </a:bodyPr>
              <a:lstStyle/>
              <a:p>
                <a:r>
                  <a:rPr lang="pt-BR" dirty="0"/>
                  <a:t>Para entendermos como a operação de convolução funciona, vamos considerar, inicialmente, imagens bidimensionais (e.g., imagens em tons de cinza).</a:t>
                </a:r>
              </a:p>
              <a:p>
                <a:r>
                  <a:rPr lang="pt-BR" dirty="0"/>
                  <a:t>O símbolo </a:t>
                </a:r>
                <a14:m>
                  <m:oMath xmlns:m="http://schemas.openxmlformats.org/officeDocument/2006/math">
                    <m:r>
                      <a:rPr lang="pt-BR" i="1" smtClean="0">
                        <a:latin typeface="Cambria Math" panose="02040503050406030204" pitchFamily="18" charset="0"/>
                        <a:ea typeface="Cambria Math" panose="02040503050406030204" pitchFamily="18" charset="0"/>
                      </a:rPr>
                      <m:t>⊛</m:t>
                    </m:r>
                  </m:oMath>
                </a14:m>
                <a:r>
                  <a:rPr lang="pt-BR" dirty="0"/>
                  <a:t> representa a operação de convolução.</a:t>
                </a:r>
              </a:p>
              <a:p>
                <a:r>
                  <a:rPr lang="pt-BR" dirty="0"/>
                  <a:t>O operação é representada pela equação ao lado.</a:t>
                </a:r>
              </a:p>
            </p:txBody>
          </p:sp>
        </mc:Choice>
        <mc:Fallback xmlns="">
          <p:sp>
            <p:nvSpPr>
              <p:cNvPr id="6" name="Espaço Reservado para Conteúdo 5">
                <a:extLst>
                  <a:ext uri="{FF2B5EF4-FFF2-40B4-BE49-F238E27FC236}">
                    <a16:creationId xmlns:a16="http://schemas.microsoft.com/office/drawing/2014/main" id="{96C3292B-4443-865B-28D7-E54C4111F076}"/>
                  </a:ext>
                </a:extLst>
              </p:cNvPr>
              <p:cNvSpPr>
                <a:spLocks noGrp="1" noRot="1" noChangeAspect="1" noMove="1" noResize="1" noEditPoints="1" noAdjustHandles="1" noChangeArrowheads="1" noChangeShapeType="1" noTextEdit="1"/>
              </p:cNvSpPr>
              <p:nvPr>
                <p:ph idx="1"/>
              </p:nvPr>
            </p:nvSpPr>
            <p:spPr>
              <a:xfrm>
                <a:off x="6243144" y="1825624"/>
                <a:ext cx="5948855" cy="5032375"/>
              </a:xfrm>
              <a:blipFill>
                <a:blip r:embed="rId3"/>
                <a:stretch>
                  <a:fillRect l="-1844" t="-1937" r="-30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D08B629D-258D-3010-3F74-6583162CDAA0}"/>
                  </a:ext>
                </a:extLst>
              </p:cNvPr>
              <p:cNvSpPr txBox="1"/>
              <p:nvPr/>
            </p:nvSpPr>
            <p:spPr>
              <a:xfrm>
                <a:off x="0" y="4426064"/>
                <a:ext cx="6243145" cy="1137876"/>
              </a:xfrm>
              <a:prstGeom prst="rect">
                <a:avLst/>
              </a:prstGeom>
              <a:noFill/>
            </p:spPr>
            <p:txBody>
              <a:bodyPr wrap="square">
                <a:spAutoFit/>
              </a:bodyPr>
              <a:lstStyle/>
              <a:p>
                <a:pPr marL="0" indent="0">
                  <a:buNone/>
                </a:pPr>
                <a14:m>
                  <m:oMathPara xmlns:m="http://schemas.openxmlformats.org/officeDocument/2006/math">
                    <m:o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0" y="4426064"/>
                <a:ext cx="6243145" cy="1137876"/>
              </a:xfrm>
              <a:prstGeom prst="rect">
                <a:avLst/>
              </a:prstGeom>
              <a:blipFill>
                <a:blip r:embed="rId4"/>
                <a:stretch>
                  <a:fillRect/>
                </a:stretch>
              </a:blipFill>
            </p:spPr>
            <p:txBody>
              <a:bodyPr/>
              <a:lstStyle/>
              <a:p>
                <a:r>
                  <a:rPr lang="pt-BR">
                    <a:noFill/>
                  </a:rPr>
                  <a:t> </a:t>
                </a:r>
              </a:p>
            </p:txBody>
          </p:sp>
        </mc:Fallback>
      </mc:AlternateContent>
      <p:grpSp>
        <p:nvGrpSpPr>
          <p:cNvPr id="18" name="Agrupar 17">
            <a:extLst>
              <a:ext uri="{FF2B5EF4-FFF2-40B4-BE49-F238E27FC236}">
                <a16:creationId xmlns:a16="http://schemas.microsoft.com/office/drawing/2014/main" id="{3D4840A5-A7FE-7736-7256-0BF65657B1E6}"/>
              </a:ext>
            </a:extLst>
          </p:cNvPr>
          <p:cNvGrpSpPr/>
          <p:nvPr/>
        </p:nvGrpSpPr>
        <p:grpSpPr>
          <a:xfrm>
            <a:off x="838200" y="2177587"/>
            <a:ext cx="4311868" cy="1481852"/>
            <a:chOff x="838200" y="2503408"/>
            <a:chExt cx="4311868" cy="1481852"/>
          </a:xfrm>
        </p:grpSpPr>
        <mc:AlternateContent xmlns:mc="http://schemas.openxmlformats.org/markup-compatibility/2006" xmlns:a14="http://schemas.microsoft.com/office/drawing/2010/main">
          <mc:Choice Requires="a14">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3366073508"/>
                    </p:ext>
                  </p:extLst>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Choice>
          <mc:Fallback xmlns="">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3366073508"/>
                    </p:ext>
                  </p:extLst>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extLst>
                    <p:ext uri="{D42A27DB-BD31-4B8C-83A1-F6EECF244321}">
                      <p14:modId xmlns:p14="http://schemas.microsoft.com/office/powerpoint/2010/main" val="1389380067"/>
                    </p:ext>
                  </p:extLst>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extLst>
                    <p:ext uri="{D42A27DB-BD31-4B8C-83A1-F6EECF244321}">
                      <p14:modId xmlns:p14="http://schemas.microsoft.com/office/powerpoint/2010/main" val="1389380067"/>
                    </p:ext>
                  </p:extLst>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12480A3-50D2-93DB-2FC2-4DBF0CE8B18C}"/>
                    </a:ext>
                  </a:extLst>
                </p:cNvPr>
                <p:cNvSpPr txBox="1"/>
                <p:nvPr/>
              </p:nvSpPr>
              <p:spPr>
                <a:xfrm>
                  <a:off x="2132286" y="316965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316965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BE637D-BCDA-1557-B962-763A4DEE29A5}"/>
                    </a:ext>
                  </a:extLst>
                </p:cNvPr>
                <p:cNvSpPr txBox="1"/>
                <p:nvPr/>
              </p:nvSpPr>
              <p:spPr>
                <a:xfrm>
                  <a:off x="3653220" y="3108104"/>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3108104"/>
                  <a:ext cx="57806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392385079"/>
                    </p:ext>
                  </p:extLst>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392385079"/>
                    </p:ext>
                  </p:extLst>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15" name="CaixaDeTexto 14">
              <a:extLst>
                <a:ext uri="{FF2B5EF4-FFF2-40B4-BE49-F238E27FC236}">
                  <a16:creationId xmlns:a16="http://schemas.microsoft.com/office/drawing/2014/main" id="{1DD30C51-7FC3-C492-E7BB-85C7BC47423B}"/>
                </a:ext>
              </a:extLst>
            </p:cNvPr>
            <p:cNvSpPr txBox="1"/>
            <p:nvPr/>
          </p:nvSpPr>
          <p:spPr>
            <a:xfrm>
              <a:off x="838200" y="2503408"/>
              <a:ext cx="1294085" cy="369332"/>
            </a:xfrm>
            <a:prstGeom prst="rect">
              <a:avLst/>
            </a:prstGeom>
            <a:noFill/>
          </p:spPr>
          <p:txBody>
            <a:bodyPr wrap="square" rtlCol="0">
              <a:spAutoFit/>
            </a:bodyPr>
            <a:lstStyle/>
            <a:p>
              <a:pPr algn="ctr"/>
              <a:r>
                <a:rPr lang="pt-BR" b="1" dirty="0"/>
                <a:t>I</a:t>
              </a:r>
              <a:r>
                <a:rPr lang="pt-BR" dirty="0"/>
                <a:t>nput</a:t>
              </a:r>
            </a:p>
          </p:txBody>
        </p:sp>
        <p:sp>
          <p:nvSpPr>
            <p:cNvPr id="16" name="CaixaDeTexto 15">
              <a:extLst>
                <a:ext uri="{FF2B5EF4-FFF2-40B4-BE49-F238E27FC236}">
                  <a16:creationId xmlns:a16="http://schemas.microsoft.com/office/drawing/2014/main" id="{76C8B262-6054-1EC9-24FC-F0E6F6CB657D}"/>
                </a:ext>
              </a:extLst>
            </p:cNvPr>
            <p:cNvSpPr txBox="1"/>
            <p:nvPr/>
          </p:nvSpPr>
          <p:spPr>
            <a:xfrm>
              <a:off x="2746265" y="2673169"/>
              <a:ext cx="858783" cy="369332"/>
            </a:xfrm>
            <a:prstGeom prst="rect">
              <a:avLst/>
            </a:prstGeom>
            <a:noFill/>
          </p:spPr>
          <p:txBody>
            <a:bodyPr wrap="square" rtlCol="0">
              <a:spAutoFit/>
            </a:bodyPr>
            <a:lstStyle/>
            <a:p>
              <a:pPr algn="ctr"/>
              <a:r>
                <a:rPr lang="pt-BR" b="1" dirty="0"/>
                <a:t>K</a:t>
              </a:r>
              <a:r>
                <a:rPr lang="pt-BR" dirty="0"/>
                <a:t>ernel</a:t>
              </a:r>
            </a:p>
          </p:txBody>
        </p:sp>
        <p:sp>
          <p:nvSpPr>
            <p:cNvPr id="17" name="CaixaDeTexto 16">
              <a:extLst>
                <a:ext uri="{FF2B5EF4-FFF2-40B4-BE49-F238E27FC236}">
                  <a16:creationId xmlns:a16="http://schemas.microsoft.com/office/drawing/2014/main" id="{42EBEA7C-E891-80AF-EB7F-19CD72A35768}"/>
                </a:ext>
              </a:extLst>
            </p:cNvPr>
            <p:cNvSpPr txBox="1"/>
            <p:nvPr/>
          </p:nvSpPr>
          <p:spPr>
            <a:xfrm>
              <a:off x="4279461" y="2673169"/>
              <a:ext cx="870606" cy="369332"/>
            </a:xfrm>
            <a:prstGeom prst="rect">
              <a:avLst/>
            </a:prstGeom>
            <a:noFill/>
          </p:spPr>
          <p:txBody>
            <a:bodyPr wrap="square" rtlCol="0">
              <a:spAutoFit/>
            </a:bodyPr>
            <a:lstStyle/>
            <a:p>
              <a:pPr algn="ctr"/>
              <a:r>
                <a:rPr lang="pt-BR" b="1" dirty="0"/>
                <a:t>O</a:t>
              </a:r>
              <a:r>
                <a:rPr lang="pt-BR" dirty="0"/>
                <a:t>utput</a:t>
              </a:r>
            </a:p>
          </p:txBody>
        </p:sp>
      </p:grpSp>
      <p:sp>
        <p:nvSpPr>
          <p:cNvPr id="3" name="Seta: para Baixo 2">
            <a:extLst>
              <a:ext uri="{FF2B5EF4-FFF2-40B4-BE49-F238E27FC236}">
                <a16:creationId xmlns:a16="http://schemas.microsoft.com/office/drawing/2014/main" id="{20FFCDFB-D30B-EE37-7EBD-E01B18A1100B}"/>
              </a:ext>
            </a:extLst>
          </p:cNvPr>
          <p:cNvSpPr/>
          <p:nvPr/>
        </p:nvSpPr>
        <p:spPr>
          <a:xfrm>
            <a:off x="2869324" y="3757991"/>
            <a:ext cx="735724" cy="6268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25236317-8512-751D-DD1D-20B071AC5DE9}"/>
                  </a:ext>
                </a:extLst>
              </p:cNvPr>
              <p:cNvSpPr txBox="1"/>
              <p:nvPr/>
            </p:nvSpPr>
            <p:spPr>
              <a:xfrm>
                <a:off x="0" y="5534780"/>
                <a:ext cx="7032617" cy="1323439"/>
              </a:xfrm>
              <a:prstGeom prst="rect">
                <a:avLst/>
              </a:prstGeom>
              <a:noFill/>
            </p:spPr>
            <p:txBody>
              <a:bodyPr wrap="square" rtlCol="0">
                <a:spAutoFit/>
              </a:bodyPr>
              <a:lstStyle/>
              <a:p>
                <a14:m>
                  <m:oMath xmlns:m="http://schemas.openxmlformats.org/officeDocument/2006/math">
                    <m:r>
                      <a:rPr lang="pt-BR" sz="1600" i="1" smtClean="0">
                        <a:latin typeface="Cambria Math" panose="02040503050406030204" pitchFamily="18" charset="0"/>
                        <a:ea typeface="Cambria Math" panose="02040503050406030204" pitchFamily="18" charset="0"/>
                      </a:rPr>
                      <m:t>𝐼</m:t>
                    </m:r>
                  </m:oMath>
                </a14:m>
                <a:r>
                  <a:rPr lang="pt-BR" sz="1600" dirty="0">
                    <a:latin typeface="Cambria Math" panose="02040503050406030204" pitchFamily="18" charset="0"/>
                    <a:ea typeface="Cambria Math" panose="02040503050406030204" pitchFamily="18" charset="0"/>
                  </a:rPr>
                  <a:t> : entrada </a:t>
                </a:r>
                <a:r>
                  <a:rPr lang="pt-BR" sz="1600" dirty="0"/>
                  <a:t>(e.g., uma imagem ou o </a:t>
                </a:r>
                <a:r>
                  <a:rPr lang="en-US" sz="1600" dirty="0" err="1"/>
                  <a:t>mapa</a:t>
                </a:r>
                <a:r>
                  <a:rPr lang="en-US" sz="1600" dirty="0"/>
                  <a:t> da </a:t>
                </a:r>
                <a:r>
                  <a:rPr lang="en-US" sz="1600" dirty="0" err="1"/>
                  <a:t>camada</a:t>
                </a:r>
                <a:r>
                  <a:rPr lang="en-US" sz="1600" dirty="0"/>
                  <a:t> anterior</a:t>
                </a:r>
                <a:r>
                  <a:rPr lang="pt-BR" sz="1600" dirty="0"/>
                  <a:t>)</a:t>
                </a:r>
              </a:p>
              <a:p>
                <a14:m>
                  <m:oMath xmlns:m="http://schemas.openxmlformats.org/officeDocument/2006/math">
                    <m:r>
                      <a:rPr lang="pt-BR" sz="1600" b="0" i="1" smtClean="0">
                        <a:latin typeface="Cambria Math" panose="02040503050406030204" pitchFamily="18" charset="0"/>
                        <a:ea typeface="Cambria Math" panose="02040503050406030204" pitchFamily="18" charset="0"/>
                      </a:rPr>
                      <m:t>𝐾</m:t>
                    </m:r>
                  </m:oMath>
                </a14:m>
                <a:r>
                  <a:rPr lang="pt-BR" sz="1600" b="0" dirty="0">
                    <a:latin typeface="Cambria Math" panose="02040503050406030204" pitchFamily="18" charset="0"/>
                    <a:ea typeface="Cambria Math" panose="02040503050406030204" pitchFamily="18" charset="0"/>
                  </a:rPr>
                  <a:t>: </a:t>
                </a:r>
                <a:r>
                  <a:rPr lang="pt-BR" sz="1600" b="0" i="1" dirty="0">
                    <a:latin typeface="Cambria Math" panose="02040503050406030204" pitchFamily="18" charset="0"/>
                    <a:ea typeface="Cambria Math" panose="02040503050406030204" pitchFamily="18" charset="0"/>
                  </a:rPr>
                  <a:t>kernel</a:t>
                </a:r>
              </a:p>
              <a:p>
                <a14:m>
                  <m:oMath xmlns:m="http://schemas.openxmlformats.org/officeDocument/2006/math">
                    <m:r>
                      <a:rPr lang="pt-BR" sz="1600" b="0" i="1" smtClean="0">
                        <a:latin typeface="Cambria Math" panose="02040503050406030204" pitchFamily="18" charset="0"/>
                        <a:ea typeface="Cambria Math" panose="02040503050406030204" pitchFamily="18" charset="0"/>
                      </a:rPr>
                      <m:t>𝑂</m:t>
                    </m:r>
                  </m:oMath>
                </a14:m>
                <a:r>
                  <a:rPr lang="pt-BR" sz="1600" dirty="0"/>
                  <a:t>: saída da convolução</a:t>
                </a:r>
              </a:p>
              <a:p>
                <a14:m>
                  <m:oMath xmlns:m="http://schemas.openxmlformats.org/officeDocument/2006/math">
                    <m:r>
                      <a:rPr lang="pt-BR" sz="1600" b="0" i="1" smtClean="0">
                        <a:latin typeface="Cambria Math" panose="02040503050406030204" pitchFamily="18" charset="0"/>
                        <a:ea typeface="Cambria Math" panose="02040503050406030204" pitchFamily="18" charset="0"/>
                      </a:rPr>
                      <m:t>𝑖</m:t>
                    </m:r>
                  </m:oMath>
                </a14:m>
                <a:r>
                  <a:rPr lang="pt-BR" sz="1600" dirty="0"/>
                  <a:t>, </a:t>
                </a:r>
                <a14:m>
                  <m:oMath xmlns:m="http://schemas.openxmlformats.org/officeDocument/2006/math">
                    <m:r>
                      <a:rPr lang="pt-BR" sz="1600" b="0" i="1" smtClean="0">
                        <a:latin typeface="Cambria Math" panose="02040503050406030204" pitchFamily="18" charset="0"/>
                        <a:ea typeface="Cambria Math" panose="02040503050406030204" pitchFamily="18" charset="0"/>
                      </a:rPr>
                      <m:t>𝑗</m:t>
                    </m:r>
                  </m:oMath>
                </a14:m>
                <a:r>
                  <a:rPr lang="pt-BR" sz="1600" dirty="0"/>
                  <a:t>: índices da linha e da coluna na saída e no campo receptivo de entrada</a:t>
                </a:r>
              </a:p>
              <a:p>
                <a14:m>
                  <m:oMath xmlns:m="http://schemas.openxmlformats.org/officeDocument/2006/math">
                    <m:r>
                      <m:rPr>
                        <m:brk m:alnAt="7"/>
                      </m:rPr>
                      <a:rPr lang="pt-BR" sz="1600" i="1">
                        <a:latin typeface="Cambria Math" panose="02040503050406030204" pitchFamily="18" charset="0"/>
                        <a:ea typeface="Cambria Math" panose="02040503050406030204" pitchFamily="18" charset="0"/>
                      </a:rPr>
                      <m:t>𝑚</m:t>
                    </m:r>
                  </m:oMath>
                </a14:m>
                <a:r>
                  <a:rPr lang="pt-BR" sz="1600" dirty="0"/>
                  <a:t>, </a:t>
                </a:r>
                <a14:m>
                  <m:oMath xmlns:m="http://schemas.openxmlformats.org/officeDocument/2006/math">
                    <m:r>
                      <m:rPr>
                        <m:brk m:alnAt="7"/>
                      </m:rPr>
                      <a:rPr lang="pt-BR" sz="1600" i="1">
                        <a:latin typeface="Cambria Math" panose="02040503050406030204" pitchFamily="18" charset="0"/>
                        <a:ea typeface="Cambria Math" panose="02040503050406030204" pitchFamily="18" charset="0"/>
                      </a:rPr>
                      <m:t>𝑛</m:t>
                    </m:r>
                  </m:oMath>
                </a14:m>
                <a:r>
                  <a:rPr lang="pt-BR" sz="1600" dirty="0"/>
                  <a:t>: índices da linha e da coluna do kernel, respectivamente</a:t>
                </a:r>
              </a:p>
            </p:txBody>
          </p:sp>
        </mc:Choice>
        <mc:Fallback xmlns="">
          <p:sp>
            <p:nvSpPr>
              <p:cNvPr id="4" name="CaixaDeTexto 3">
                <a:extLst>
                  <a:ext uri="{FF2B5EF4-FFF2-40B4-BE49-F238E27FC236}">
                    <a16:creationId xmlns:a16="http://schemas.microsoft.com/office/drawing/2014/main" id="{25236317-8512-751D-DD1D-20B071AC5DE9}"/>
                  </a:ext>
                </a:extLst>
              </p:cNvPr>
              <p:cNvSpPr txBox="1">
                <a:spLocks noRot="1" noChangeAspect="1" noMove="1" noResize="1" noEditPoints="1" noAdjustHandles="1" noChangeArrowheads="1" noChangeShapeType="1" noTextEdit="1"/>
              </p:cNvSpPr>
              <p:nvPr/>
            </p:nvSpPr>
            <p:spPr>
              <a:xfrm>
                <a:off x="0" y="5534780"/>
                <a:ext cx="7032617" cy="1323439"/>
              </a:xfrm>
              <a:prstGeom prst="rect">
                <a:avLst/>
              </a:prstGeom>
              <a:blipFill>
                <a:blip r:embed="rId7"/>
                <a:stretch>
                  <a:fillRect t="-2304" b="-5069"/>
                </a:stretch>
              </a:blipFill>
            </p:spPr>
            <p:txBody>
              <a:bodyPr/>
              <a:lstStyle/>
              <a:p>
                <a:r>
                  <a:rPr lang="en-US">
                    <a:noFill/>
                  </a:rPr>
                  <a:t> </a:t>
                </a:r>
              </a:p>
            </p:txBody>
          </p:sp>
        </mc:Fallback>
      </mc:AlternateContent>
    </p:spTree>
    <p:extLst>
      <p:ext uri="{BB962C8B-B14F-4D97-AF65-F5344CB8AC3E}">
        <p14:creationId xmlns:p14="http://schemas.microsoft.com/office/powerpoint/2010/main" val="2353396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Conector reto 38">
            <a:extLst>
              <a:ext uri="{FF2B5EF4-FFF2-40B4-BE49-F238E27FC236}">
                <a16:creationId xmlns:a16="http://schemas.microsoft.com/office/drawing/2014/main" id="{92333203-DD75-95F3-445A-FF387DB74693}"/>
              </a:ext>
            </a:extLst>
          </p:cNvPr>
          <p:cNvCxnSpPr>
            <a:cxnSpLocks/>
          </p:cNvCxnSpPr>
          <p:nvPr/>
        </p:nvCxnSpPr>
        <p:spPr>
          <a:xfrm>
            <a:off x="1707356" y="2546919"/>
            <a:ext cx="1897692" cy="18542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3" name="Conector reto 32">
            <a:extLst>
              <a:ext uri="{FF2B5EF4-FFF2-40B4-BE49-F238E27FC236}">
                <a16:creationId xmlns:a16="http://schemas.microsoft.com/office/drawing/2014/main" id="{F4CF36CD-4569-3C2D-7DC0-625C74DE6CB4}"/>
              </a:ext>
            </a:extLst>
          </p:cNvPr>
          <p:cNvCxnSpPr/>
          <p:nvPr/>
        </p:nvCxnSpPr>
        <p:spPr>
          <a:xfrm>
            <a:off x="1707356" y="3288506"/>
            <a:ext cx="1897692" cy="18551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31" name="Conector reto 30">
            <a:extLst>
              <a:ext uri="{FF2B5EF4-FFF2-40B4-BE49-F238E27FC236}">
                <a16:creationId xmlns:a16="http://schemas.microsoft.com/office/drawing/2014/main" id="{7DA86514-C355-EB56-2B2A-46EBD71C9F8B}"/>
              </a:ext>
            </a:extLst>
          </p:cNvPr>
          <p:cNvCxnSpPr/>
          <p:nvPr/>
        </p:nvCxnSpPr>
        <p:spPr>
          <a:xfrm>
            <a:off x="838200" y="3288506"/>
            <a:ext cx="1896242" cy="185513"/>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96DB7399-AC46-A6E1-01FA-F088ADE4FBC2}"/>
              </a:ext>
            </a:extLst>
          </p:cNvPr>
          <p:cNvSpPr>
            <a:spLocks noGrp="1"/>
          </p:cNvSpPr>
          <p:nvPr>
            <p:ph type="title"/>
          </p:nvPr>
        </p:nvSpPr>
        <p:spPr/>
        <p:txBody>
          <a:bodyPr/>
          <a:lstStyle/>
          <a:p>
            <a:r>
              <a:rPr lang="pt-BR" dirty="0"/>
              <a:t>Operação de convolução com </a:t>
            </a:r>
            <a:r>
              <a:rPr lang="pt-BR" i="1" dirty="0"/>
              <a:t>kernel</a:t>
            </a:r>
            <a:r>
              <a:rPr lang="pt-BR" dirty="0"/>
              <a:t> 2D</a:t>
            </a:r>
          </a:p>
        </p:txBody>
      </p:sp>
      <p:sp>
        <p:nvSpPr>
          <p:cNvPr id="6" name="Espaço Reservado para Conteúdo 5">
            <a:extLst>
              <a:ext uri="{FF2B5EF4-FFF2-40B4-BE49-F238E27FC236}">
                <a16:creationId xmlns:a16="http://schemas.microsoft.com/office/drawing/2014/main" id="{96C3292B-4443-865B-28D7-E54C4111F076}"/>
              </a:ext>
            </a:extLst>
          </p:cNvPr>
          <p:cNvSpPr>
            <a:spLocks noGrp="1"/>
          </p:cNvSpPr>
          <p:nvPr>
            <p:ph idx="1"/>
          </p:nvPr>
        </p:nvSpPr>
        <p:spPr>
          <a:xfrm>
            <a:off x="6611007" y="1825624"/>
            <a:ext cx="5580993" cy="5032375"/>
          </a:xfrm>
        </p:spPr>
        <p:txBody>
          <a:bodyPr>
            <a:normAutofit/>
          </a:bodyPr>
          <a:lstStyle/>
          <a:p>
            <a:r>
              <a:rPr lang="pt-BR" noProof="0" dirty="0"/>
              <a:t>Ao calcular a convolução, começamos com a</a:t>
            </a:r>
            <a:r>
              <a:rPr lang="pt-BR" b="1" noProof="0" dirty="0"/>
              <a:t> </a:t>
            </a:r>
            <a:r>
              <a:rPr lang="pt-BR" b="1" noProof="0" dirty="0">
                <a:solidFill>
                  <a:schemeClr val="accent2"/>
                </a:solidFill>
              </a:rPr>
              <a:t>janela de convolução</a:t>
            </a:r>
            <a:r>
              <a:rPr lang="pt-BR" b="1" noProof="0" dirty="0"/>
              <a:t> (</a:t>
            </a:r>
            <a:r>
              <a:rPr lang="pt-BR" b="1" noProof="0" dirty="0">
                <a:solidFill>
                  <a:srgbClr val="7030A0"/>
                </a:solidFill>
              </a:rPr>
              <a:t>ou campo receptivo</a:t>
            </a:r>
            <a:r>
              <a:rPr lang="pt-BR" b="1" noProof="0" dirty="0"/>
              <a:t>) </a:t>
            </a:r>
            <a:r>
              <a:rPr lang="pt-BR" noProof="0" dirty="0"/>
              <a:t>no </a:t>
            </a:r>
            <a:r>
              <a:rPr lang="pt-BR" b="1" noProof="0" dirty="0"/>
              <a:t>canto superior esquerdo</a:t>
            </a:r>
            <a:r>
              <a:rPr lang="pt-BR" noProof="0" dirty="0"/>
              <a:t> do </a:t>
            </a:r>
            <a:r>
              <a:rPr lang="pt-BR" b="1" noProof="0" dirty="0">
                <a:solidFill>
                  <a:srgbClr val="00B050"/>
                </a:solidFill>
              </a:rPr>
              <a:t>tensor de entrada </a:t>
            </a:r>
            <a:r>
              <a:rPr lang="pt-BR" noProof="0" dirty="0"/>
              <a:t>(e.g., uma imagem ou saída da camada anterior). </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D08B629D-258D-3010-3F74-6583162CDAA0}"/>
                  </a:ext>
                </a:extLst>
              </p:cNvPr>
              <p:cNvSpPr txBox="1"/>
              <p:nvPr/>
            </p:nvSpPr>
            <p:spPr>
              <a:xfrm>
                <a:off x="0" y="4397098"/>
                <a:ext cx="6888072" cy="1999650"/>
              </a:xfrm>
              <a:prstGeom prst="rect">
                <a:avLst/>
              </a:prstGeom>
              <a:noFill/>
            </p:spPr>
            <p:txBody>
              <a:bodyPr wrap="square">
                <a:spAutoFit/>
              </a:bodyPr>
              <a:lstStyle/>
              <a:p>
                <a:pPr marL="0" indent="0">
                  <a:buNone/>
                </a:pPr>
                <a14:m>
                  <m:oMathPara xmlns:m="http://schemas.openxmlformats.org/officeDocument/2006/math">
                    <m:o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=0∗0+1∗1+3∗2+4∗3</m:t>
                      </m:r>
                    </m:oMath>
                  </m:oMathPara>
                </a14:m>
                <a:endParaRPr lang="pt-BR" sz="2800" b="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=19</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0" y="4397098"/>
                <a:ext cx="6888072" cy="1999650"/>
              </a:xfrm>
              <a:prstGeom prst="rect">
                <a:avLst/>
              </a:prstGeom>
              <a:blipFill>
                <a:blip r:embed="rId3"/>
                <a:stretch>
                  <a:fillRect/>
                </a:stretch>
              </a:blipFill>
            </p:spPr>
            <p:txBody>
              <a:bodyPr/>
              <a:lstStyle/>
              <a:p>
                <a:r>
                  <a:rPr lang="pt-BR">
                    <a:noFill/>
                  </a:rPr>
                  <a:t> </a:t>
                </a:r>
              </a:p>
            </p:txBody>
          </p:sp>
        </mc:Fallback>
      </mc:AlternateContent>
      <p:grpSp>
        <p:nvGrpSpPr>
          <p:cNvPr id="18" name="Agrupar 17">
            <a:extLst>
              <a:ext uri="{FF2B5EF4-FFF2-40B4-BE49-F238E27FC236}">
                <a16:creationId xmlns:a16="http://schemas.microsoft.com/office/drawing/2014/main" id="{3D4840A5-A7FE-7736-7256-0BF65657B1E6}"/>
              </a:ext>
            </a:extLst>
          </p:cNvPr>
          <p:cNvGrpSpPr/>
          <p:nvPr/>
        </p:nvGrpSpPr>
        <p:grpSpPr>
          <a:xfrm>
            <a:off x="838200" y="2177587"/>
            <a:ext cx="4311868" cy="1481852"/>
            <a:chOff x="838200" y="2503408"/>
            <a:chExt cx="4311868" cy="1481852"/>
          </a:xfrm>
        </p:grpSpPr>
        <mc:AlternateContent xmlns:mc="http://schemas.openxmlformats.org/markup-compatibility/2006" xmlns:a14="http://schemas.microsoft.com/office/drawing/2010/main">
          <mc:Choice Requires="a14">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Choice>
          <mc:Fallback xmlns="">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3958000016"/>
                    </p:ext>
                  </p:extLst>
                </p:nvPr>
              </p:nvGraphicFramePr>
              <p:xfrm>
                <a:off x="838200" y="2872740"/>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12480A3-50D2-93DB-2FC2-4DBF0CE8B18C}"/>
                    </a:ext>
                  </a:extLst>
                </p:cNvPr>
                <p:cNvSpPr txBox="1"/>
                <p:nvPr/>
              </p:nvSpPr>
              <p:spPr>
                <a:xfrm>
                  <a:off x="2132286" y="316965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316965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BE637D-BCDA-1557-B962-763A4DEE29A5}"/>
                    </a:ext>
                  </a:extLst>
                </p:cNvPr>
                <p:cNvSpPr txBox="1"/>
                <p:nvPr/>
              </p:nvSpPr>
              <p:spPr>
                <a:xfrm>
                  <a:off x="3653220" y="3108104"/>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3108104"/>
                  <a:ext cx="57806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2273965621"/>
                    </p:ext>
                  </p:extLst>
                </p:nvPr>
              </p:nvGraphicFramePr>
              <p:xfrm>
                <a:off x="427946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15" name="CaixaDeTexto 14">
              <a:extLst>
                <a:ext uri="{FF2B5EF4-FFF2-40B4-BE49-F238E27FC236}">
                  <a16:creationId xmlns:a16="http://schemas.microsoft.com/office/drawing/2014/main" id="{1DD30C51-7FC3-C492-E7BB-85C7BC47423B}"/>
                </a:ext>
              </a:extLst>
            </p:cNvPr>
            <p:cNvSpPr txBox="1"/>
            <p:nvPr/>
          </p:nvSpPr>
          <p:spPr>
            <a:xfrm>
              <a:off x="838200" y="2503408"/>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id="{76C8B262-6054-1EC9-24FC-F0E6F6CB657D}"/>
                </a:ext>
              </a:extLst>
            </p:cNvPr>
            <p:cNvSpPr txBox="1"/>
            <p:nvPr/>
          </p:nvSpPr>
          <p:spPr>
            <a:xfrm>
              <a:off x="2746265" y="2673169"/>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id="{42EBEA7C-E891-80AF-EB7F-19CD72A35768}"/>
                </a:ext>
              </a:extLst>
            </p:cNvPr>
            <p:cNvSpPr txBox="1"/>
            <p:nvPr/>
          </p:nvSpPr>
          <p:spPr>
            <a:xfrm>
              <a:off x="4279461" y="2673169"/>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extLst>
                    <p:ext uri="{D42A27DB-BD31-4B8C-83A1-F6EECF244321}">
                      <p14:modId xmlns:p14="http://schemas.microsoft.com/office/powerpoint/2010/main" val="3103282144"/>
                    </p:ext>
                  </p:extLst>
                </p:nvPr>
              </p:nvGraphicFramePr>
              <p:xfrm>
                <a:off x="2734442" y="305816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p:grpSp>
      <p:cxnSp>
        <p:nvCxnSpPr>
          <p:cNvPr id="35" name="Conector reto 34">
            <a:extLst>
              <a:ext uri="{FF2B5EF4-FFF2-40B4-BE49-F238E27FC236}">
                <a16:creationId xmlns:a16="http://schemas.microsoft.com/office/drawing/2014/main" id="{1ED2284E-862D-3385-A95D-08F11A4C58CC}"/>
              </a:ext>
            </a:extLst>
          </p:cNvPr>
          <p:cNvCxnSpPr>
            <a:cxnSpLocks/>
          </p:cNvCxnSpPr>
          <p:nvPr/>
        </p:nvCxnSpPr>
        <p:spPr>
          <a:xfrm>
            <a:off x="838200" y="2546919"/>
            <a:ext cx="1896242" cy="185420"/>
          </a:xfrm>
          <a:prstGeom prst="line">
            <a:avLst/>
          </a:prstGeom>
          <a:ln w="127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2" name="CaixaDeTexto 41">
            <a:extLst>
              <a:ext uri="{FF2B5EF4-FFF2-40B4-BE49-F238E27FC236}">
                <a16:creationId xmlns:a16="http://schemas.microsoft.com/office/drawing/2014/main" id="{4C76E058-0378-65D5-ADEC-A97A871CBAFE}"/>
              </a:ext>
            </a:extLst>
          </p:cNvPr>
          <p:cNvSpPr txBox="1"/>
          <p:nvPr/>
        </p:nvSpPr>
        <p:spPr>
          <a:xfrm>
            <a:off x="0" y="1734169"/>
            <a:ext cx="1535872" cy="461665"/>
          </a:xfrm>
          <a:prstGeom prst="rect">
            <a:avLst/>
          </a:prstGeom>
          <a:noFill/>
        </p:spPr>
        <p:txBody>
          <a:bodyPr wrap="square" rtlCol="0">
            <a:spAutoFit/>
          </a:bodyPr>
          <a:lstStyle/>
          <a:p>
            <a:pPr algn="ctr"/>
            <a:r>
              <a:rPr lang="pt-BR" sz="1200" dirty="0"/>
              <a:t>Janela de convolução ou </a:t>
            </a:r>
            <a:r>
              <a:rPr lang="pt-BR" sz="1200" b="1" dirty="0">
                <a:solidFill>
                  <a:schemeClr val="accent2"/>
                </a:solidFill>
              </a:rPr>
              <a:t>campo receptivo</a:t>
            </a:r>
          </a:p>
        </p:txBody>
      </p:sp>
      <p:cxnSp>
        <p:nvCxnSpPr>
          <p:cNvPr id="46" name="Conector: Curvo 45">
            <a:extLst>
              <a:ext uri="{FF2B5EF4-FFF2-40B4-BE49-F238E27FC236}">
                <a16:creationId xmlns:a16="http://schemas.microsoft.com/office/drawing/2014/main" id="{7A7C2766-37C5-C0D2-ED4B-9B2709D52B62}"/>
              </a:ext>
            </a:extLst>
          </p:cNvPr>
          <p:cNvCxnSpPr>
            <a:cxnSpLocks/>
          </p:cNvCxnSpPr>
          <p:nvPr/>
        </p:nvCxnSpPr>
        <p:spPr>
          <a:xfrm rot="16200000" flipH="1">
            <a:off x="261889" y="2392413"/>
            <a:ext cx="635861" cy="337206"/>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3562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B7399-AC46-A6E1-01FA-F088ADE4FBC2}"/>
              </a:ext>
            </a:extLst>
          </p:cNvPr>
          <p:cNvSpPr>
            <a:spLocks noGrp="1"/>
          </p:cNvSpPr>
          <p:nvPr>
            <p:ph type="title"/>
          </p:nvPr>
        </p:nvSpPr>
        <p:spPr/>
        <p:txBody>
          <a:bodyPr/>
          <a:lstStyle/>
          <a:p>
            <a:r>
              <a:rPr lang="pt-BR" dirty="0"/>
              <a:t>Operação de convolução com </a:t>
            </a:r>
            <a:r>
              <a:rPr lang="pt-BR" i="1" dirty="0"/>
              <a:t>kernel</a:t>
            </a:r>
            <a:r>
              <a:rPr lang="pt-BR" dirty="0"/>
              <a:t> 2D</a:t>
            </a:r>
          </a:p>
        </p:txBody>
      </p:sp>
      <p:sp>
        <p:nvSpPr>
          <p:cNvPr id="6" name="Espaço Reservado para Conteúdo 5">
            <a:extLst>
              <a:ext uri="{FF2B5EF4-FFF2-40B4-BE49-F238E27FC236}">
                <a16:creationId xmlns:a16="http://schemas.microsoft.com/office/drawing/2014/main" id="{96C3292B-4443-865B-28D7-E54C4111F076}"/>
              </a:ext>
            </a:extLst>
          </p:cNvPr>
          <p:cNvSpPr>
            <a:spLocks noGrp="1"/>
          </p:cNvSpPr>
          <p:nvPr>
            <p:ph idx="1"/>
          </p:nvPr>
        </p:nvSpPr>
        <p:spPr>
          <a:xfrm>
            <a:off x="6413061" y="1825624"/>
            <a:ext cx="5663325" cy="5032375"/>
          </a:xfrm>
        </p:spPr>
        <p:txBody>
          <a:bodyPr>
            <a:normAutofit/>
          </a:bodyPr>
          <a:lstStyle/>
          <a:p>
            <a:r>
              <a:rPr lang="pt-BR" dirty="0"/>
              <a:t>Em seguida, deslizamos a janela, por exemplo, um elemento para a direita.</a:t>
            </a:r>
          </a:p>
          <a:p>
            <a:r>
              <a:rPr lang="pt-BR" dirty="0"/>
              <a:t>O deslocamento é definido pelo </a:t>
            </a:r>
            <a:r>
              <a:rPr lang="pt-BR" b="1" i="1" dirty="0">
                <a:solidFill>
                  <a:srgbClr val="0070C0"/>
                </a:solidFill>
              </a:rPr>
              <a:t>stride</a:t>
            </a:r>
            <a:r>
              <a:rPr lang="pt-BR" dirty="0"/>
              <a:t>, o qual discutiremos a seguir.</a:t>
            </a:r>
          </a:p>
          <a:p>
            <a:endParaRPr lang="pt-BR" dirty="0"/>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D08B629D-258D-3010-3F74-6583162CDAA0}"/>
                  </a:ext>
                </a:extLst>
              </p:cNvPr>
              <p:cNvSpPr txBox="1"/>
              <p:nvPr/>
            </p:nvSpPr>
            <p:spPr>
              <a:xfrm>
                <a:off x="242760" y="4311082"/>
                <a:ext cx="6170301" cy="199965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=1∗0+2∗1+4∗2+5∗3</m:t>
                      </m:r>
                    </m:oMath>
                  </m:oMathPara>
                </a14:m>
                <a:endParaRPr lang="pt-BR" sz="28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=25</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242760" y="4311082"/>
                <a:ext cx="6170301" cy="1999650"/>
              </a:xfrm>
              <a:prstGeom prst="rect">
                <a:avLst/>
              </a:prstGeom>
              <a:blipFill>
                <a:blip r:embed="rId3"/>
                <a:stretch>
                  <a:fillRect/>
                </a:stretch>
              </a:blipFill>
            </p:spPr>
            <p:txBody>
              <a:bodyPr/>
              <a:lstStyle/>
              <a:p>
                <a:r>
                  <a:rPr lang="pt-BR">
                    <a:noFill/>
                  </a:rPr>
                  <a:t> </a:t>
                </a:r>
              </a:p>
            </p:txBody>
          </p:sp>
        </mc:Fallback>
      </mc:AlternateContent>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4169981938"/>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5"/>
                <a:stretch>
                  <a:fillRect/>
                </a:stretch>
              </a:blipFill>
            </p:spPr>
            <p:txBody>
              <a:bodyPr/>
              <a:lstStyle/>
              <a:p>
                <a:r>
                  <a:rPr lang="pt-BR">
                    <a:noFill/>
                  </a:rPr>
                  <a:t> </a:t>
                </a:r>
              </a:p>
            </p:txBody>
          </p:sp>
        </mc:Fallback>
      </mc:AlternateContent>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3359264833"/>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p:sp>
        <p:nvSpPr>
          <p:cNvPr id="15" name="CaixaDeTexto 14">
            <a:extLst>
              <a:ext uri="{FF2B5EF4-FFF2-40B4-BE49-F238E27FC236}">
                <a16:creationId xmlns:a16="http://schemas.microsoft.com/office/drawing/2014/main"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spTree>
    <p:extLst>
      <p:ext uri="{BB962C8B-B14F-4D97-AF65-F5344CB8AC3E}">
        <p14:creationId xmlns:p14="http://schemas.microsoft.com/office/powerpoint/2010/main" val="1275003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B7399-AC46-A6E1-01FA-F088ADE4FBC2}"/>
              </a:ext>
            </a:extLst>
          </p:cNvPr>
          <p:cNvSpPr>
            <a:spLocks noGrp="1"/>
          </p:cNvSpPr>
          <p:nvPr>
            <p:ph type="title"/>
          </p:nvPr>
        </p:nvSpPr>
        <p:spPr/>
        <p:txBody>
          <a:bodyPr/>
          <a:lstStyle/>
          <a:p>
            <a:r>
              <a:rPr lang="pt-BR" dirty="0"/>
              <a:t>Operação de convolução com </a:t>
            </a:r>
            <a:r>
              <a:rPr lang="pt-BR" i="1" dirty="0"/>
              <a:t>kernel</a:t>
            </a:r>
            <a:r>
              <a:rPr lang="pt-BR" dirty="0"/>
              <a:t> 2D</a:t>
            </a:r>
          </a:p>
        </p:txBody>
      </p:sp>
      <p:sp>
        <p:nvSpPr>
          <p:cNvPr id="6" name="Espaço Reservado para Conteúdo 5">
            <a:extLst>
              <a:ext uri="{FF2B5EF4-FFF2-40B4-BE49-F238E27FC236}">
                <a16:creationId xmlns:a16="http://schemas.microsoft.com/office/drawing/2014/main" id="{96C3292B-4443-865B-28D7-E54C4111F076}"/>
              </a:ext>
            </a:extLst>
          </p:cNvPr>
          <p:cNvSpPr>
            <a:spLocks noGrp="1"/>
          </p:cNvSpPr>
          <p:nvPr>
            <p:ph idx="1"/>
          </p:nvPr>
        </p:nvSpPr>
        <p:spPr>
          <a:xfrm>
            <a:off x="6611007" y="1825624"/>
            <a:ext cx="5465379" cy="5032375"/>
          </a:xfrm>
        </p:spPr>
        <p:txBody>
          <a:bodyPr>
            <a:normAutofit/>
          </a:bodyPr>
          <a:lstStyle/>
          <a:p>
            <a:r>
              <a:rPr lang="pt-BR" dirty="0"/>
              <a:t>Ao chegar-se ao final das colunas do tensor de entrada, volta-se ao seu início, deslizando a janela, por exemplo, um elemento para baixo, ou seja, uma linha.</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D08B629D-258D-3010-3F74-6583162CDAA0}"/>
                  </a:ext>
                </a:extLst>
              </p:cNvPr>
              <p:cNvSpPr txBox="1"/>
              <p:nvPr/>
            </p:nvSpPr>
            <p:spPr>
              <a:xfrm>
                <a:off x="471528" y="4515670"/>
                <a:ext cx="6139479" cy="199965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=3∗0+4∗1+6∗2+7∗3</m:t>
                      </m:r>
                    </m:oMath>
                  </m:oMathPara>
                </a14:m>
                <a:endParaRPr lang="pt-BR" sz="28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=37</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471528" y="4515670"/>
                <a:ext cx="6139479" cy="1999650"/>
              </a:xfrm>
              <a:prstGeom prst="rect">
                <a:avLst/>
              </a:prstGeom>
              <a:blipFill>
                <a:blip r:embed="rId3"/>
                <a:stretch>
                  <a:fillRect/>
                </a:stretch>
              </a:blipFill>
            </p:spPr>
            <p:txBody>
              <a:bodyPr/>
              <a:lstStyle/>
              <a:p>
                <a:r>
                  <a:rPr lang="pt-BR">
                    <a:noFill/>
                  </a:rPr>
                  <a:t> </a:t>
                </a:r>
              </a:p>
            </p:txBody>
          </p:sp>
        </mc:Fallback>
      </mc:AlternateContent>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2168675225"/>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5"/>
                <a:stretch>
                  <a:fillRect/>
                </a:stretch>
              </a:blipFill>
            </p:spPr>
            <p:txBody>
              <a:bodyPr/>
              <a:lstStyle/>
              <a:p>
                <a:r>
                  <a:rPr lang="pt-BR">
                    <a:noFill/>
                  </a:rPr>
                  <a:t> </a:t>
                </a:r>
              </a:p>
            </p:txBody>
          </p:sp>
        </mc:Fallback>
      </mc:AlternateContent>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3281316034"/>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p:sp>
        <p:nvSpPr>
          <p:cNvPr id="15" name="CaixaDeTexto 14">
            <a:extLst>
              <a:ext uri="{FF2B5EF4-FFF2-40B4-BE49-F238E27FC236}">
                <a16:creationId xmlns:a16="http://schemas.microsoft.com/office/drawing/2014/main"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spTree>
    <p:extLst>
      <p:ext uri="{BB962C8B-B14F-4D97-AF65-F5344CB8AC3E}">
        <p14:creationId xmlns:p14="http://schemas.microsoft.com/office/powerpoint/2010/main" val="4231943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B7399-AC46-A6E1-01FA-F088ADE4FBC2}"/>
              </a:ext>
            </a:extLst>
          </p:cNvPr>
          <p:cNvSpPr>
            <a:spLocks noGrp="1"/>
          </p:cNvSpPr>
          <p:nvPr>
            <p:ph type="title"/>
          </p:nvPr>
        </p:nvSpPr>
        <p:spPr/>
        <p:txBody>
          <a:bodyPr/>
          <a:lstStyle/>
          <a:p>
            <a:r>
              <a:rPr lang="pt-BR" dirty="0"/>
              <a:t>Operação de convolução com </a:t>
            </a:r>
            <a:r>
              <a:rPr lang="pt-BR" i="1" dirty="0"/>
              <a:t>kernel</a:t>
            </a:r>
            <a:r>
              <a:rPr lang="pt-BR" dirty="0"/>
              <a:t> 2D</a:t>
            </a:r>
          </a:p>
        </p:txBody>
      </p:sp>
      <p:sp>
        <p:nvSpPr>
          <p:cNvPr id="6" name="Espaço Reservado para Conteúdo 5">
            <a:extLst>
              <a:ext uri="{FF2B5EF4-FFF2-40B4-BE49-F238E27FC236}">
                <a16:creationId xmlns:a16="http://schemas.microsoft.com/office/drawing/2014/main" id="{96C3292B-4443-865B-28D7-E54C4111F076}"/>
              </a:ext>
            </a:extLst>
          </p:cNvPr>
          <p:cNvSpPr>
            <a:spLocks noGrp="1"/>
          </p:cNvSpPr>
          <p:nvPr>
            <p:ph idx="1"/>
          </p:nvPr>
        </p:nvSpPr>
        <p:spPr>
          <a:xfrm>
            <a:off x="6413063" y="1825624"/>
            <a:ext cx="5663324" cy="5032375"/>
          </a:xfrm>
        </p:spPr>
        <p:txBody>
          <a:bodyPr>
            <a:normAutofit/>
          </a:bodyPr>
          <a:lstStyle/>
          <a:p>
            <a:r>
              <a:rPr lang="pt-BR" dirty="0"/>
              <a:t>Em seguida, deslizamos a janela um elemento para a direita. </a:t>
            </a:r>
          </a:p>
          <a:p>
            <a:r>
              <a:rPr lang="pt-BR" dirty="0"/>
              <a:t>Esse processo se repete até que a janela de convolução tenha percorrido todo o tensor de entrada.</a:t>
            </a:r>
          </a:p>
        </p:txBody>
      </p: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D08B629D-258D-3010-3F74-6583162CDAA0}"/>
                  </a:ext>
                </a:extLst>
              </p:cNvPr>
              <p:cNvSpPr txBox="1"/>
              <p:nvPr/>
            </p:nvSpPr>
            <p:spPr>
              <a:xfrm>
                <a:off x="209950" y="4493225"/>
                <a:ext cx="6118931" cy="199965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rPr>
                        <m:t>𝑂</m:t>
                      </m:r>
                      <m:d>
                        <m:dPr>
                          <m:ctrlPr>
                            <a:rPr lang="pt-BR" sz="2800" i="1">
                              <a:latin typeface="Cambria Math" panose="02040503050406030204" pitchFamily="18" charset="0"/>
                            </a:rPr>
                          </m:ctrlPr>
                        </m:dPr>
                        <m:e>
                          <m:r>
                            <a:rPr lang="pt-BR" sz="2800" i="1">
                              <a:latin typeface="Cambria Math" panose="02040503050406030204" pitchFamily="18" charset="0"/>
                            </a:rPr>
                            <m:t>𝑖</m:t>
                          </m:r>
                          <m:r>
                            <a:rPr lang="pt-BR" sz="2800" i="1">
                              <a:latin typeface="Cambria Math" panose="02040503050406030204" pitchFamily="18" charset="0"/>
                            </a:rPr>
                            <m:t>,</m:t>
                          </m:r>
                          <m:r>
                            <a:rPr lang="pt-BR" sz="2800" i="1">
                              <a:latin typeface="Cambria Math" panose="02040503050406030204" pitchFamily="18" charset="0"/>
                            </a:rPr>
                            <m:t>𝑗</m:t>
                          </m:r>
                        </m:e>
                      </m:d>
                      <m:r>
                        <a:rPr lang="pt-BR" sz="2800" i="1">
                          <a:latin typeface="Cambria Math" panose="02040503050406030204" pitchFamily="18" charset="0"/>
                        </a:rPr>
                        <m:t>=</m:t>
                      </m:r>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𝑚</m:t>
                          </m:r>
                        </m:sub>
                        <m:sup/>
                        <m:e>
                          <m:nary>
                            <m:naryPr>
                              <m:chr m:val="∑"/>
                              <m:supHide m:val="on"/>
                              <m:ctrlPr>
                                <a:rPr lang="pt-BR" sz="2800" i="1">
                                  <a:latin typeface="Cambria Math" panose="02040503050406030204" pitchFamily="18" charset="0"/>
                                  <a:ea typeface="Cambria Math" panose="02040503050406030204" pitchFamily="18" charset="0"/>
                                </a:rPr>
                              </m:ctrlPr>
                            </m:naryPr>
                            <m:sub>
                              <m:r>
                                <m:rPr>
                                  <m:brk m:alnAt="7"/>
                                </m:rPr>
                                <a:rPr lang="pt-BR" sz="2800" i="1">
                                  <a:latin typeface="Cambria Math" panose="02040503050406030204" pitchFamily="18" charset="0"/>
                                  <a:ea typeface="Cambria Math" panose="02040503050406030204" pitchFamily="18" charset="0"/>
                                </a:rPr>
                                <m:t>𝑛</m:t>
                              </m:r>
                            </m:sub>
                            <m:sup/>
                            <m:e>
                              <m:r>
                                <a:rPr lang="pt-BR" sz="2800" i="1">
                                  <a:latin typeface="Cambria Math" panose="02040503050406030204" pitchFamily="18" charset="0"/>
                                  <a:ea typeface="Cambria Math" panose="02040503050406030204" pitchFamily="18" charset="0"/>
                                </a:rPr>
                                <m:t>𝐼</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𝑖</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𝑗</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r>
                                <a:rPr lang="pt-BR" sz="2800" i="1">
                                  <a:latin typeface="Cambria Math" panose="02040503050406030204" pitchFamily="18" charset="0"/>
                                  <a:ea typeface="Cambria Math" panose="02040503050406030204" pitchFamily="18" charset="0"/>
                                </a:rPr>
                                <m:t>)</m:t>
                              </m:r>
                            </m:e>
                          </m:nary>
                        </m:e>
                      </m:nary>
                      <m:r>
                        <a:rPr lang="pt-BR" sz="2800" i="1">
                          <a:latin typeface="Cambria Math" panose="02040503050406030204" pitchFamily="18" charset="0"/>
                          <a:ea typeface="Cambria Math" panose="02040503050406030204" pitchFamily="18" charset="0"/>
                        </a:rPr>
                        <m:t>𝐾</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𝑛</m:t>
                          </m:r>
                        </m:e>
                      </m:d>
                    </m:oMath>
                  </m:oMathPara>
                </a14:m>
                <a:endParaRPr lang="pt-BR" sz="280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=4∗0+5∗1+7∗2+8∗3</m:t>
                      </m:r>
                    </m:oMath>
                  </m:oMathPara>
                </a14:m>
                <a:endParaRPr lang="pt-BR" sz="2800" b="0" i="1" dirty="0">
                  <a:latin typeface="Cambria Math" panose="02040503050406030204" pitchFamily="18" charset="0"/>
                  <a:ea typeface="Cambria Math" panose="02040503050406030204" pitchFamily="18" charset="0"/>
                </a:endParaRPr>
              </a:p>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=43</m:t>
                      </m:r>
                    </m:oMath>
                  </m:oMathPara>
                </a14:m>
                <a:endParaRPr lang="pt-BR" sz="2800" i="1" dirty="0">
                  <a:ea typeface="Cambria Math" panose="02040503050406030204" pitchFamily="18" charset="0"/>
                </a:endParaRPr>
              </a:p>
            </p:txBody>
          </p:sp>
        </mc:Choice>
        <mc:Fallback xmlns="">
          <p:sp>
            <p:nvSpPr>
              <p:cNvPr id="14" name="CaixaDeTexto 13">
                <a:extLst>
                  <a:ext uri="{FF2B5EF4-FFF2-40B4-BE49-F238E27FC236}">
                    <a16:creationId xmlns:a16="http://schemas.microsoft.com/office/drawing/2014/main" id="{D08B629D-258D-3010-3F74-6583162CDAA0}"/>
                  </a:ext>
                </a:extLst>
              </p:cNvPr>
              <p:cNvSpPr txBox="1">
                <a:spLocks noRot="1" noChangeAspect="1" noMove="1" noResize="1" noEditPoints="1" noAdjustHandles="1" noChangeArrowheads="1" noChangeShapeType="1" noTextEdit="1"/>
              </p:cNvSpPr>
              <p:nvPr/>
            </p:nvSpPr>
            <p:spPr>
              <a:xfrm>
                <a:off x="209950" y="4493225"/>
                <a:ext cx="6118931" cy="1999650"/>
              </a:xfrm>
              <a:prstGeom prst="rect">
                <a:avLst/>
              </a:prstGeom>
              <a:blipFill>
                <a:blip r:embed="rId3"/>
                <a:stretch>
                  <a:fillRect/>
                </a:stretch>
              </a:blipFill>
            </p:spPr>
            <p:txBody>
              <a:bodyPr/>
              <a:lstStyle/>
              <a:p>
                <a:r>
                  <a:rPr lang="pt-BR">
                    <a:noFill/>
                  </a:rPr>
                  <a:t> </a:t>
                </a:r>
              </a:p>
            </p:txBody>
          </p:sp>
        </mc:Fallback>
      </mc:AlternateContent>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1035348438"/>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907704462"/>
                  </a:ext>
                </a:extLst>
              </a:tr>
            </a:tbl>
          </a:graphicData>
        </a:graphic>
      </p:graphicFrame>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5"/>
                <a:stretch>
                  <a:fillRect/>
                </a:stretch>
              </a:blipFill>
            </p:spPr>
            <p:txBody>
              <a:bodyPr/>
              <a:lstStyle/>
              <a:p>
                <a:r>
                  <a:rPr lang="pt-BR">
                    <a:noFill/>
                  </a:rPr>
                  <a:t> </a:t>
                </a:r>
              </a:p>
            </p:txBody>
          </p:sp>
        </mc:Fallback>
      </mc:AlternateContent>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1203970131"/>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p:sp>
        <p:nvSpPr>
          <p:cNvPr id="15" name="CaixaDeTexto 14">
            <a:extLst>
              <a:ext uri="{FF2B5EF4-FFF2-40B4-BE49-F238E27FC236}">
                <a16:creationId xmlns:a16="http://schemas.microsoft.com/office/drawing/2014/main"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spTree>
    <p:extLst>
      <p:ext uri="{BB962C8B-B14F-4D97-AF65-F5344CB8AC3E}">
        <p14:creationId xmlns:p14="http://schemas.microsoft.com/office/powerpoint/2010/main" val="34639215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B7399-AC46-A6E1-01FA-F088ADE4FBC2}"/>
              </a:ext>
            </a:extLst>
          </p:cNvPr>
          <p:cNvSpPr>
            <a:spLocks noGrp="1"/>
          </p:cNvSpPr>
          <p:nvPr>
            <p:ph type="title"/>
          </p:nvPr>
        </p:nvSpPr>
        <p:spPr/>
        <p:txBody>
          <a:bodyPr/>
          <a:lstStyle/>
          <a:p>
            <a:r>
              <a:rPr lang="pt-BR" dirty="0"/>
              <a:t>Mapa de características</a:t>
            </a:r>
          </a:p>
        </p:txBody>
      </p:sp>
      <p:sp>
        <p:nvSpPr>
          <p:cNvPr id="6" name="Espaço Reservado para Conteúdo 5">
            <a:extLst>
              <a:ext uri="{FF2B5EF4-FFF2-40B4-BE49-F238E27FC236}">
                <a16:creationId xmlns:a16="http://schemas.microsoft.com/office/drawing/2014/main" id="{96C3292B-4443-865B-28D7-E54C4111F076}"/>
              </a:ext>
            </a:extLst>
          </p:cNvPr>
          <p:cNvSpPr>
            <a:spLocks noGrp="1"/>
          </p:cNvSpPr>
          <p:nvPr>
            <p:ph idx="1"/>
          </p:nvPr>
        </p:nvSpPr>
        <p:spPr>
          <a:xfrm>
            <a:off x="5229225" y="1825624"/>
            <a:ext cx="6962775" cy="5032375"/>
          </a:xfrm>
        </p:spPr>
        <p:txBody>
          <a:bodyPr>
            <a:normAutofit lnSpcReduction="10000"/>
          </a:bodyPr>
          <a:lstStyle/>
          <a:p>
            <a:r>
              <a:rPr lang="pt-BR" dirty="0"/>
              <a:t>Lembrando que o </a:t>
            </a:r>
            <a:r>
              <a:rPr lang="pt-BR" b="1" dirty="0">
                <a:solidFill>
                  <a:srgbClr val="7030A0"/>
                </a:solidFill>
              </a:rPr>
              <a:t>objetivo</a:t>
            </a:r>
            <a:r>
              <a:rPr lang="pt-BR" dirty="0"/>
              <a:t> dos </a:t>
            </a:r>
            <a:r>
              <a:rPr lang="pt-BR" b="1" i="1" dirty="0">
                <a:solidFill>
                  <a:srgbClr val="00B050"/>
                </a:solidFill>
              </a:rPr>
              <a:t>kernels</a:t>
            </a:r>
            <a:r>
              <a:rPr lang="pt-BR" dirty="0"/>
              <a:t> é </a:t>
            </a:r>
            <a:r>
              <a:rPr lang="pt-BR" b="1" dirty="0">
                <a:solidFill>
                  <a:srgbClr val="0070C0"/>
                </a:solidFill>
              </a:rPr>
              <a:t>identificar</a:t>
            </a:r>
            <a:r>
              <a:rPr lang="pt-BR" b="1" dirty="0">
                <a:solidFill>
                  <a:srgbClr val="7030A0"/>
                </a:solidFill>
              </a:rPr>
              <a:t> características na entrada</a:t>
            </a:r>
            <a:r>
              <a:rPr lang="pt-BR" dirty="0"/>
              <a:t>.</a:t>
            </a:r>
          </a:p>
          <a:p>
            <a:r>
              <a:rPr lang="pt-BR" dirty="0"/>
              <a:t>Portanto, o resultado da operação de convolução é chamado de </a:t>
            </a:r>
            <a:r>
              <a:rPr lang="pt-BR" b="1" dirty="0">
                <a:solidFill>
                  <a:schemeClr val="accent2"/>
                </a:solidFill>
              </a:rPr>
              <a:t>mapa de características</a:t>
            </a:r>
            <a:r>
              <a:rPr lang="pt-BR" b="1" dirty="0"/>
              <a:t> </a:t>
            </a:r>
            <a:r>
              <a:rPr lang="pt-BR" b="1" dirty="0">
                <a:solidFill>
                  <a:srgbClr val="0070C0"/>
                </a:solidFill>
              </a:rPr>
              <a:t>ou mapa de ativações</a:t>
            </a:r>
            <a:r>
              <a:rPr lang="pt-BR" b="1" dirty="0"/>
              <a:t>.</a:t>
            </a:r>
            <a:endParaRPr lang="pt-BR" dirty="0"/>
          </a:p>
          <a:p>
            <a:r>
              <a:rPr lang="pt-BR" dirty="0"/>
              <a:t>É chamado assim, pois </a:t>
            </a:r>
            <a:r>
              <a:rPr lang="pt-BR" b="1" dirty="0">
                <a:solidFill>
                  <a:srgbClr val="00B050"/>
                </a:solidFill>
              </a:rPr>
              <a:t>fornece as </a:t>
            </a:r>
            <a:r>
              <a:rPr lang="pt-BR" b="1" dirty="0">
                <a:solidFill>
                  <a:srgbClr val="0070C0"/>
                </a:solidFill>
              </a:rPr>
              <a:t>ativações</a:t>
            </a:r>
            <a:r>
              <a:rPr lang="pt-BR" b="1" dirty="0">
                <a:solidFill>
                  <a:srgbClr val="00B050"/>
                </a:solidFill>
              </a:rPr>
              <a:t> de um filtro ao longo de cada posição espacial</a:t>
            </a:r>
            <a:r>
              <a:rPr lang="pt-BR" dirty="0"/>
              <a:t> do tensor de entrada.</a:t>
            </a:r>
          </a:p>
          <a:p>
            <a:r>
              <a:rPr lang="pt-BR" dirty="0"/>
              <a:t>O mapa mostra </a:t>
            </a:r>
            <a:r>
              <a:rPr lang="pt-BR" b="1" dirty="0">
                <a:solidFill>
                  <a:schemeClr val="accent2"/>
                </a:solidFill>
              </a:rPr>
              <a:t>onde</a:t>
            </a:r>
            <a:r>
              <a:rPr lang="pt-BR" dirty="0"/>
              <a:t> e com que </a:t>
            </a:r>
            <a:r>
              <a:rPr lang="pt-BR" b="1" dirty="0">
                <a:solidFill>
                  <a:schemeClr val="accent2"/>
                </a:solidFill>
              </a:rPr>
              <a:t>intensidade</a:t>
            </a:r>
            <a:r>
              <a:rPr lang="pt-BR" dirty="0"/>
              <a:t> uma característica específica (detectada pelo filtro) está presente no tensor de entrada.</a:t>
            </a:r>
          </a:p>
        </p:txBody>
      </p:sp>
      <p:grpSp>
        <p:nvGrpSpPr>
          <p:cNvPr id="3" name="Agrupar 2">
            <a:extLst>
              <a:ext uri="{FF2B5EF4-FFF2-40B4-BE49-F238E27FC236}">
                <a16:creationId xmlns:a16="http://schemas.microsoft.com/office/drawing/2014/main" id="{AF85E069-3585-EA25-B0D1-2D4A9615CF3F}"/>
              </a:ext>
            </a:extLst>
          </p:cNvPr>
          <p:cNvGrpSpPr/>
          <p:nvPr/>
        </p:nvGrpSpPr>
        <p:grpSpPr>
          <a:xfrm>
            <a:off x="486507" y="3242712"/>
            <a:ext cx="4311868" cy="1481852"/>
            <a:chOff x="838200" y="2177587"/>
            <a:chExt cx="4311868" cy="1481852"/>
          </a:xfrm>
        </p:grpSpPr>
        <mc:AlternateContent xmlns:mc="http://schemas.openxmlformats.org/markup-compatibility/2006" xmlns:a14="http://schemas.microsoft.com/office/drawing/2010/main">
          <mc:Choice Requires="a14">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2517581144"/>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704462"/>
                        </a:ext>
                      </a:extLst>
                    </a:tr>
                  </a:tbl>
                </a:graphicData>
              </a:graphic>
            </p:graphicFrame>
          </mc:Choice>
          <mc:Fallback xmlns="">
            <p:graphicFrame>
              <p:nvGraphicFramePr>
                <p:cNvPr id="7" name="Tabela 4">
                  <a:extLst>
                    <a:ext uri="{FF2B5EF4-FFF2-40B4-BE49-F238E27FC236}">
                      <a16:creationId xmlns:a16="http://schemas.microsoft.com/office/drawing/2014/main" id="{C4C2D6BD-31E3-2F49-63EB-CFE4150DDAF6}"/>
                    </a:ext>
                  </a:extLst>
                </p:cNvPr>
                <p:cNvGraphicFramePr>
                  <a:graphicFrameLocks/>
                </p:cNvGraphicFramePr>
                <p:nvPr>
                  <p:extLst>
                    <p:ext uri="{D42A27DB-BD31-4B8C-83A1-F6EECF244321}">
                      <p14:modId xmlns:p14="http://schemas.microsoft.com/office/powerpoint/2010/main" val="2517581144"/>
                    </p:ext>
                  </p:extLst>
                </p:nvPr>
              </p:nvGraphicFramePr>
              <p:xfrm>
                <a:off x="838200" y="2546919"/>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extLst>
                    <p:ext uri="{D42A27DB-BD31-4B8C-83A1-F6EECF244321}">
                      <p14:modId xmlns:p14="http://schemas.microsoft.com/office/powerpoint/2010/main" val="131220695"/>
                    </p:ext>
                  </p:extLst>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8" name="Tabela 4">
                  <a:extLst>
                    <a:ext uri="{FF2B5EF4-FFF2-40B4-BE49-F238E27FC236}">
                      <a16:creationId xmlns:a16="http://schemas.microsoft.com/office/drawing/2014/main" id="{5F214703-DA81-DEF4-831A-390E707C56EF}"/>
                    </a:ext>
                  </a:extLst>
                </p:cNvPr>
                <p:cNvGraphicFramePr>
                  <a:graphicFrameLocks/>
                </p:cNvGraphicFramePr>
                <p:nvPr>
                  <p:extLst>
                    <p:ext uri="{D42A27DB-BD31-4B8C-83A1-F6EECF244321}">
                      <p14:modId xmlns:p14="http://schemas.microsoft.com/office/powerpoint/2010/main" val="131220695"/>
                    </p:ext>
                  </p:extLst>
                </p:nvPr>
              </p:nvGraphicFramePr>
              <p:xfrm>
                <a:off x="273444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312480A3-50D2-93DB-2FC2-4DBF0CE8B18C}"/>
                    </a:ext>
                  </a:extLst>
                </p:cNvPr>
                <p:cNvSpPr txBox="1"/>
                <p:nvPr/>
              </p:nvSpPr>
              <p:spPr>
                <a:xfrm>
                  <a:off x="2132286" y="2843838"/>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0" name="CaixaDeTexto 9">
                  <a:extLst>
                    <a:ext uri="{FF2B5EF4-FFF2-40B4-BE49-F238E27FC236}">
                      <a16:creationId xmlns:a16="http://schemas.microsoft.com/office/drawing/2014/main" id="{312480A3-50D2-93DB-2FC2-4DBF0CE8B18C}"/>
                    </a:ext>
                  </a:extLst>
                </p:cNvPr>
                <p:cNvSpPr txBox="1">
                  <a:spLocks noRot="1" noChangeAspect="1" noMove="1" noResize="1" noEditPoints="1" noAdjustHandles="1" noChangeArrowheads="1" noChangeShapeType="1" noTextEdit="1"/>
                </p:cNvSpPr>
                <p:nvPr/>
              </p:nvSpPr>
              <p:spPr>
                <a:xfrm>
                  <a:off x="2132286" y="2843838"/>
                  <a:ext cx="578069" cy="461665"/>
                </a:xfrm>
                <a:prstGeom prst="rect">
                  <a:avLst/>
                </a:prstGeom>
                <a:blipFill>
                  <a:blip r:embed="rId3"/>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1CBE637D-BCDA-1557-B962-763A4DEE29A5}"/>
                    </a:ext>
                  </a:extLst>
                </p:cNvPr>
                <p:cNvSpPr txBox="1"/>
                <p:nvPr/>
              </p:nvSpPr>
              <p:spPr>
                <a:xfrm>
                  <a:off x="3653220" y="2782283"/>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1" name="CaixaDeTexto 10">
                  <a:extLst>
                    <a:ext uri="{FF2B5EF4-FFF2-40B4-BE49-F238E27FC236}">
                      <a16:creationId xmlns:a16="http://schemas.microsoft.com/office/drawing/2014/main" id="{1CBE637D-BCDA-1557-B962-763A4DEE29A5}"/>
                    </a:ext>
                  </a:extLst>
                </p:cNvPr>
                <p:cNvSpPr txBox="1">
                  <a:spLocks noRot="1" noChangeAspect="1" noMove="1" noResize="1" noEditPoints="1" noAdjustHandles="1" noChangeArrowheads="1" noChangeShapeType="1" noTextEdit="1"/>
                </p:cNvSpPr>
                <p:nvPr/>
              </p:nvSpPr>
              <p:spPr>
                <a:xfrm>
                  <a:off x="3653220" y="2782283"/>
                  <a:ext cx="578069"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3616512560"/>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12" name="Tabela 4">
                  <a:extLst>
                    <a:ext uri="{FF2B5EF4-FFF2-40B4-BE49-F238E27FC236}">
                      <a16:creationId xmlns:a16="http://schemas.microsoft.com/office/drawing/2014/main" id="{09CC5A7F-CFC9-B6FB-7B31-611EFC1892DC}"/>
                    </a:ext>
                  </a:extLst>
                </p:cNvPr>
                <p:cNvGraphicFramePr>
                  <a:graphicFrameLocks/>
                </p:cNvGraphicFramePr>
                <p:nvPr>
                  <p:extLst>
                    <p:ext uri="{D42A27DB-BD31-4B8C-83A1-F6EECF244321}">
                      <p14:modId xmlns:p14="http://schemas.microsoft.com/office/powerpoint/2010/main" val="3616512560"/>
                    </p:ext>
                  </p:extLst>
                </p:nvPr>
              </p:nvGraphicFramePr>
              <p:xfrm>
                <a:off x="4279462" y="273233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p:sp>
          <p:nvSpPr>
            <p:cNvPr id="15" name="CaixaDeTexto 14">
              <a:extLst>
                <a:ext uri="{FF2B5EF4-FFF2-40B4-BE49-F238E27FC236}">
                  <a16:creationId xmlns:a16="http://schemas.microsoft.com/office/drawing/2014/main" id="{1DD30C51-7FC3-C492-E7BB-85C7BC47423B}"/>
                </a:ext>
              </a:extLst>
            </p:cNvPr>
            <p:cNvSpPr txBox="1"/>
            <p:nvPr/>
          </p:nvSpPr>
          <p:spPr>
            <a:xfrm>
              <a:off x="838200" y="2177587"/>
              <a:ext cx="1294085" cy="369332"/>
            </a:xfrm>
            <a:prstGeom prst="rect">
              <a:avLst/>
            </a:prstGeom>
            <a:noFill/>
          </p:spPr>
          <p:txBody>
            <a:bodyPr wrap="square" rtlCol="0">
              <a:spAutoFit/>
            </a:bodyPr>
            <a:lstStyle/>
            <a:p>
              <a:pPr algn="ctr"/>
              <a:r>
                <a:rPr lang="pt-BR" dirty="0"/>
                <a:t>Input</a:t>
              </a:r>
            </a:p>
          </p:txBody>
        </p:sp>
        <p:sp>
          <p:nvSpPr>
            <p:cNvPr id="16" name="CaixaDeTexto 15">
              <a:extLst>
                <a:ext uri="{FF2B5EF4-FFF2-40B4-BE49-F238E27FC236}">
                  <a16:creationId xmlns:a16="http://schemas.microsoft.com/office/drawing/2014/main" id="{76C8B262-6054-1EC9-24FC-F0E6F6CB657D}"/>
                </a:ext>
              </a:extLst>
            </p:cNvPr>
            <p:cNvSpPr txBox="1"/>
            <p:nvPr/>
          </p:nvSpPr>
          <p:spPr>
            <a:xfrm>
              <a:off x="2746265" y="2347348"/>
              <a:ext cx="858783" cy="369332"/>
            </a:xfrm>
            <a:prstGeom prst="rect">
              <a:avLst/>
            </a:prstGeom>
            <a:noFill/>
          </p:spPr>
          <p:txBody>
            <a:bodyPr wrap="square" rtlCol="0">
              <a:spAutoFit/>
            </a:bodyPr>
            <a:lstStyle/>
            <a:p>
              <a:pPr algn="ctr"/>
              <a:r>
                <a:rPr lang="pt-BR" dirty="0"/>
                <a:t>Kernel</a:t>
              </a:r>
            </a:p>
          </p:txBody>
        </p:sp>
        <p:sp>
          <p:nvSpPr>
            <p:cNvPr id="17" name="CaixaDeTexto 16">
              <a:extLst>
                <a:ext uri="{FF2B5EF4-FFF2-40B4-BE49-F238E27FC236}">
                  <a16:creationId xmlns:a16="http://schemas.microsoft.com/office/drawing/2014/main" id="{42EBEA7C-E891-80AF-EB7F-19CD72A35768}"/>
                </a:ext>
              </a:extLst>
            </p:cNvPr>
            <p:cNvSpPr txBox="1"/>
            <p:nvPr/>
          </p:nvSpPr>
          <p:spPr>
            <a:xfrm>
              <a:off x="4279461" y="2347348"/>
              <a:ext cx="870606" cy="369332"/>
            </a:xfrm>
            <a:prstGeom prst="rect">
              <a:avLst/>
            </a:prstGeom>
            <a:noFill/>
          </p:spPr>
          <p:txBody>
            <a:bodyPr wrap="square" rtlCol="0">
              <a:spAutoFit/>
            </a:bodyPr>
            <a:lstStyle/>
            <a:p>
              <a:pPr algn="ctr"/>
              <a:r>
                <a:rPr lang="pt-BR" dirty="0"/>
                <a:t>Output</a:t>
              </a:r>
            </a:p>
          </p:txBody>
        </p:sp>
      </p:grpSp>
    </p:spTree>
    <p:extLst>
      <p:ext uri="{BB962C8B-B14F-4D97-AF65-F5344CB8AC3E}">
        <p14:creationId xmlns:p14="http://schemas.microsoft.com/office/powerpoint/2010/main" val="2063425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DB7399-AC46-A6E1-01FA-F088ADE4FBC2}"/>
              </a:ext>
            </a:extLst>
          </p:cNvPr>
          <p:cNvSpPr>
            <a:spLocks noGrp="1"/>
          </p:cNvSpPr>
          <p:nvPr>
            <p:ph type="title"/>
          </p:nvPr>
        </p:nvSpPr>
        <p:spPr/>
        <p:txBody>
          <a:bodyPr/>
          <a:lstStyle/>
          <a:p>
            <a:r>
              <a:rPr lang="pt-BR" i="1" dirty="0"/>
              <a:t>Stride</a:t>
            </a:r>
          </a:p>
        </p:txBody>
      </p:sp>
      <p:sp>
        <p:nvSpPr>
          <p:cNvPr id="6" name="Espaço Reservado para Conteúdo 5">
            <a:extLst>
              <a:ext uri="{FF2B5EF4-FFF2-40B4-BE49-F238E27FC236}">
                <a16:creationId xmlns:a16="http://schemas.microsoft.com/office/drawing/2014/main" id="{96C3292B-4443-865B-28D7-E54C4111F076}"/>
              </a:ext>
            </a:extLst>
          </p:cNvPr>
          <p:cNvSpPr>
            <a:spLocks noGrp="1"/>
          </p:cNvSpPr>
          <p:nvPr>
            <p:ph idx="1"/>
          </p:nvPr>
        </p:nvSpPr>
        <p:spPr>
          <a:xfrm>
            <a:off x="838200" y="1825624"/>
            <a:ext cx="11353800" cy="5032375"/>
          </a:xfrm>
        </p:spPr>
        <p:txBody>
          <a:bodyPr>
            <a:normAutofit lnSpcReduction="10000"/>
          </a:bodyPr>
          <a:lstStyle/>
          <a:p>
            <a:r>
              <a:rPr lang="pt-BR" noProof="0" dirty="0"/>
              <a:t>O </a:t>
            </a:r>
            <a:r>
              <a:rPr lang="pt-BR" b="1" i="1" noProof="0" dirty="0">
                <a:solidFill>
                  <a:srgbClr val="0070C0"/>
                </a:solidFill>
              </a:rPr>
              <a:t>stride</a:t>
            </a:r>
            <a:r>
              <a:rPr lang="pt-BR" noProof="0" dirty="0"/>
              <a:t> controla o deslizamento do </a:t>
            </a:r>
            <a:r>
              <a:rPr lang="pt-BR" i="1" noProof="0" dirty="0"/>
              <a:t>kernel</a:t>
            </a:r>
            <a:r>
              <a:rPr lang="pt-BR" noProof="0" dirty="0"/>
              <a:t> sobre o tensor</a:t>
            </a:r>
            <a:r>
              <a:rPr lang="pt-BR" dirty="0"/>
              <a:t> de entrada</a:t>
            </a:r>
            <a:r>
              <a:rPr lang="pt-BR" noProof="0" dirty="0"/>
              <a:t>. </a:t>
            </a:r>
          </a:p>
          <a:p>
            <a:r>
              <a:rPr lang="pt-BR" noProof="0" dirty="0"/>
              <a:t>É o número de </a:t>
            </a:r>
            <a:r>
              <a:rPr lang="pt-BR" i="1" noProof="0" dirty="0"/>
              <a:t>pixels</a:t>
            </a:r>
            <a:r>
              <a:rPr lang="pt-BR" noProof="0" dirty="0"/>
              <a:t> que o </a:t>
            </a:r>
            <a:r>
              <a:rPr lang="pt-BR" i="1" noProof="0" dirty="0"/>
              <a:t>kernel</a:t>
            </a:r>
            <a:r>
              <a:rPr lang="pt-BR" noProof="0" dirty="0"/>
              <a:t> avança a cada aplicação da convolução.</a:t>
            </a:r>
          </a:p>
          <a:p>
            <a:r>
              <a:rPr lang="pt-BR" noProof="0" dirty="0"/>
              <a:t>No exemplo anterior, o </a:t>
            </a:r>
            <a:r>
              <a:rPr lang="pt-BR" b="1" i="1" noProof="0" dirty="0">
                <a:solidFill>
                  <a:srgbClr val="0070C0"/>
                </a:solidFill>
              </a:rPr>
              <a:t>stride</a:t>
            </a:r>
            <a:r>
              <a:rPr lang="pt-BR" noProof="0" dirty="0"/>
              <a:t> era de 1 </a:t>
            </a:r>
            <a:r>
              <a:rPr lang="pt-BR" i="1" noProof="0" dirty="0"/>
              <a:t>pixel</a:t>
            </a:r>
            <a:r>
              <a:rPr lang="pt-BR" noProof="0" dirty="0"/>
              <a:t> para a direita e para baixo.</a:t>
            </a:r>
          </a:p>
          <a:p>
            <a:r>
              <a:rPr lang="pt-BR" noProof="0" dirty="0"/>
              <a:t>Para que serve sua variação?</a:t>
            </a:r>
          </a:p>
          <a:p>
            <a:pPr lvl="1">
              <a:buFont typeface="Wingdings" panose="05000000000000000000" pitchFamily="2" charset="2"/>
              <a:buChar char="§"/>
            </a:pPr>
            <a:r>
              <a:rPr lang="pt-BR" noProof="0" dirty="0"/>
              <a:t>Reduzir o tamanho do mapa de características (</a:t>
            </a:r>
            <a:r>
              <a:rPr lang="pt-BR" i="1" noProof="0" dirty="0"/>
              <a:t>downsampling</a:t>
            </a:r>
            <a:r>
              <a:rPr lang="pt-BR" noProof="0" dirty="0"/>
              <a:t>)</a:t>
            </a:r>
          </a:p>
          <a:p>
            <a:pPr lvl="2">
              <a:buFont typeface="Courier New" panose="02070309020205020404" pitchFamily="49" charset="0"/>
              <a:buChar char="o"/>
            </a:pPr>
            <a:r>
              <a:rPr lang="pt-BR" noProof="0" dirty="0"/>
              <a:t>Aumentar o </a:t>
            </a:r>
            <a:r>
              <a:rPr lang="pt-BR" i="1" noProof="0" dirty="0"/>
              <a:t>stride</a:t>
            </a:r>
            <a:r>
              <a:rPr lang="pt-BR" noProof="0" dirty="0"/>
              <a:t> </a:t>
            </a:r>
            <a:r>
              <a:rPr lang="pt-BR" b="1" noProof="0" dirty="0"/>
              <a:t>reduz a resolução da saída.</a:t>
            </a:r>
            <a:endParaRPr lang="pt-BR" noProof="0" dirty="0"/>
          </a:p>
          <a:p>
            <a:pPr lvl="1">
              <a:buFont typeface="Wingdings" panose="05000000000000000000" pitchFamily="2" charset="2"/>
              <a:buChar char="§"/>
            </a:pPr>
            <a:r>
              <a:rPr lang="pt-BR" noProof="0" dirty="0"/>
              <a:t>Reduzir o custo computacional.</a:t>
            </a:r>
          </a:p>
          <a:p>
            <a:pPr lvl="2">
              <a:buFont typeface="Courier New" panose="02070309020205020404" pitchFamily="49" charset="0"/>
              <a:buChar char="o"/>
            </a:pPr>
            <a:r>
              <a:rPr lang="pt-BR" noProof="0" dirty="0"/>
              <a:t>Aumentar o </a:t>
            </a:r>
            <a:r>
              <a:rPr lang="pt-BR" i="1" noProof="0" dirty="0"/>
              <a:t>stride</a:t>
            </a:r>
            <a:r>
              <a:rPr lang="pt-BR" noProof="0" dirty="0"/>
              <a:t> </a:t>
            </a:r>
            <a:r>
              <a:rPr lang="pt-BR" b="1" noProof="0" dirty="0"/>
              <a:t>reduz a quantidade de cálculos.</a:t>
            </a:r>
          </a:p>
          <a:p>
            <a:pPr lvl="1">
              <a:buFont typeface="Wingdings" panose="05000000000000000000" pitchFamily="2" charset="2"/>
              <a:buChar char="§"/>
            </a:pPr>
            <a:r>
              <a:rPr lang="pt-BR" noProof="0" dirty="0"/>
              <a:t>Controlar o nível de detalhe preservado.</a:t>
            </a:r>
          </a:p>
          <a:p>
            <a:pPr lvl="2">
              <a:buFont typeface="Courier New" panose="02070309020205020404" pitchFamily="49" charset="0"/>
              <a:buChar char="o"/>
            </a:pPr>
            <a:r>
              <a:rPr lang="pt-BR" i="1" noProof="0" dirty="0"/>
              <a:t>Stride</a:t>
            </a:r>
            <a:r>
              <a:rPr lang="pt-BR" noProof="0" dirty="0"/>
              <a:t> pequeno:</a:t>
            </a:r>
            <a:r>
              <a:rPr lang="pt-BR" dirty="0"/>
              <a:t> maior sobreposição entre janelas, o que preserva mais resolução espacial e informação de localização na saída, porém, tem custo computacional maior.</a:t>
            </a:r>
            <a:endParaRPr lang="pt-BR" noProof="0" dirty="0"/>
          </a:p>
          <a:p>
            <a:pPr lvl="2">
              <a:buFont typeface="Courier New" panose="02070309020205020404" pitchFamily="49" charset="0"/>
              <a:buChar char="o"/>
            </a:pPr>
            <a:r>
              <a:rPr lang="pt-BR" i="1" noProof="0" dirty="0"/>
              <a:t>Stride</a:t>
            </a:r>
            <a:r>
              <a:rPr lang="pt-BR" noProof="0" dirty="0"/>
              <a:t> grande: </a:t>
            </a:r>
            <a:r>
              <a:rPr lang="pt-BR" dirty="0"/>
              <a:t>saída de menor resolução, menor custo computacional, mas com risco de perder detalhes finos (o </a:t>
            </a:r>
            <a:r>
              <a:rPr lang="pt-BR" i="1" dirty="0"/>
              <a:t>kernel</a:t>
            </a:r>
            <a:r>
              <a:rPr lang="pt-BR" dirty="0"/>
              <a:t> pula posições) e a localização fica menos precisa.</a:t>
            </a:r>
          </a:p>
        </p:txBody>
      </p:sp>
    </p:spTree>
    <p:extLst>
      <p:ext uri="{BB962C8B-B14F-4D97-AF65-F5344CB8AC3E}">
        <p14:creationId xmlns:p14="http://schemas.microsoft.com/office/powerpoint/2010/main" val="10410995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3FEC0-2EDE-DEE7-ADA7-D1D3E60685A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9BE4B1-97D7-A915-F657-F34845A7038C}"/>
              </a:ext>
            </a:extLst>
          </p:cNvPr>
          <p:cNvSpPr>
            <a:spLocks noGrp="1"/>
          </p:cNvSpPr>
          <p:nvPr>
            <p:ph type="title"/>
          </p:nvPr>
        </p:nvSpPr>
        <p:spPr/>
        <p:txBody>
          <a:bodyPr/>
          <a:lstStyle/>
          <a:p>
            <a:r>
              <a:rPr lang="pt-BR" i="1" dirty="0"/>
              <a:t>Stride</a:t>
            </a:r>
          </a:p>
        </p:txBody>
      </p:sp>
      <mc:AlternateContent xmlns:mc="http://schemas.openxmlformats.org/markup-compatibility/2006" xmlns:a14="http://schemas.microsoft.com/office/drawing/2010/main">
        <mc:Choice Requires="a14">
          <p:sp>
            <p:nvSpPr>
              <p:cNvPr id="6" name="Espaço Reservado para Conteúdo 5">
                <a:extLst>
                  <a:ext uri="{FF2B5EF4-FFF2-40B4-BE49-F238E27FC236}">
                    <a16:creationId xmlns:a16="http://schemas.microsoft.com/office/drawing/2014/main" id="{08C86F11-4D94-E07B-050B-BAFEC1DDF558}"/>
                  </a:ext>
                </a:extLst>
              </p:cNvPr>
              <p:cNvSpPr>
                <a:spLocks noGrp="1"/>
              </p:cNvSpPr>
              <p:nvPr>
                <p:ph idx="1"/>
              </p:nvPr>
            </p:nvSpPr>
            <p:spPr>
              <a:xfrm>
                <a:off x="5647174" y="1825624"/>
                <a:ext cx="6544826" cy="5032375"/>
              </a:xfrm>
            </p:spPr>
            <p:txBody>
              <a:bodyPr>
                <a:normAutofit/>
              </a:bodyPr>
              <a:lstStyle/>
              <a:p>
                <a:r>
                  <a:rPr lang="pt-BR" noProof="0" dirty="0"/>
                  <a:t>Portanto, o </a:t>
                </a:r>
                <a:r>
                  <a:rPr lang="pt-BR" i="1" noProof="0" dirty="0"/>
                  <a:t>stride</a:t>
                </a:r>
                <a:r>
                  <a:rPr lang="pt-BR" noProof="0" dirty="0"/>
                  <a:t> controla o equilíbrio entre </a:t>
                </a:r>
                <a:r>
                  <a:rPr lang="pt-BR" b="1" noProof="0" dirty="0"/>
                  <a:t>resolução espacial vs. eficiência.</a:t>
                </a:r>
                <a:endParaRPr lang="pt-BR" noProof="0" dirty="0"/>
              </a:p>
              <a:p>
                <a:r>
                  <a:rPr lang="pt-BR" noProof="0" dirty="0"/>
                  <a:t>No exemplo ao lado, o </a:t>
                </a:r>
                <a:r>
                  <a:rPr lang="pt-BR" i="1" noProof="0" dirty="0"/>
                  <a:t>stride</a:t>
                </a:r>
                <a:r>
                  <a:rPr lang="pt-BR" noProof="0" dirty="0"/>
                  <a:t> é de 2 para deslizamentos ao longo das colunas e linhas.</a:t>
                </a:r>
              </a:p>
              <a:p>
                <a:pPr lvl="1">
                  <a:buFont typeface="Wingdings" panose="05000000000000000000" pitchFamily="2" charset="2"/>
                  <a:buChar char="§"/>
                </a:pPr>
                <a:r>
                  <a:rPr lang="pt-BR" i="1" noProof="0" dirty="0"/>
                  <a:t>Downsampling</a:t>
                </a:r>
                <a:r>
                  <a:rPr lang="pt-BR" noProof="0" dirty="0"/>
                  <a:t>: Entrada </a:t>
                </a:r>
                <a14:m>
                  <m:oMath xmlns:m="http://schemas.openxmlformats.org/officeDocument/2006/math">
                    <m:r>
                      <a:rPr lang="pt-BR" b="0" i="1" noProof="0" smtClean="0">
                        <a:latin typeface="Cambria Math" panose="02040503050406030204" pitchFamily="18" charset="0"/>
                      </a:rPr>
                      <m:t>4</m:t>
                    </m:r>
                    <m:r>
                      <a:rPr lang="pt-BR" b="0" i="1" noProof="0" smtClean="0">
                        <a:latin typeface="Cambria Math" panose="02040503050406030204" pitchFamily="18" charset="0"/>
                        <a:ea typeface="Cambria Math" panose="02040503050406030204" pitchFamily="18" charset="0"/>
                      </a:rPr>
                      <m:t>×4</m:t>
                    </m:r>
                  </m:oMath>
                </a14:m>
                <a:r>
                  <a:rPr lang="pt-BR" noProof="0" dirty="0"/>
                  <a:t> tem como saída um mapa de </a:t>
                </a:r>
                <a14:m>
                  <m:oMath xmlns:m="http://schemas.openxmlformats.org/officeDocument/2006/math">
                    <m:r>
                      <a:rPr lang="pt-BR" b="0" i="0" noProof="0" smtClean="0">
                        <a:latin typeface="Cambria Math" panose="02040503050406030204" pitchFamily="18" charset="0"/>
                        <a:ea typeface="Cambria Math" panose="02040503050406030204" pitchFamily="18" charset="0"/>
                      </a:rPr>
                      <m:t>2</m:t>
                    </m:r>
                    <m:r>
                      <a:rPr lang="pt-BR" i="1" noProof="0">
                        <a:latin typeface="Cambria Math" panose="02040503050406030204" pitchFamily="18" charset="0"/>
                        <a:ea typeface="Cambria Math" panose="02040503050406030204" pitchFamily="18" charset="0"/>
                      </a:rPr>
                      <m:t>×</m:t>
                    </m:r>
                    <m:r>
                      <a:rPr lang="pt-BR" b="0" i="1" noProof="0" smtClean="0">
                        <a:latin typeface="Cambria Math" panose="02040503050406030204" pitchFamily="18" charset="0"/>
                        <a:ea typeface="Cambria Math" panose="02040503050406030204" pitchFamily="18" charset="0"/>
                      </a:rPr>
                      <m:t>2</m:t>
                    </m:r>
                  </m:oMath>
                </a14:m>
                <a:endParaRPr lang="pt-BR" noProof="0" dirty="0"/>
              </a:p>
              <a:p>
                <a:r>
                  <a:rPr lang="pt-BR" noProof="0" dirty="0"/>
                  <a:t>Porém, ele pode ser diferente para deslocamentos ao longo das linhas e colunas.</a:t>
                </a:r>
              </a:p>
            </p:txBody>
          </p:sp>
        </mc:Choice>
        <mc:Fallback xmlns="">
          <p:sp>
            <p:nvSpPr>
              <p:cNvPr id="6" name="Espaço Reservado para Conteúdo 5">
                <a:extLst>
                  <a:ext uri="{FF2B5EF4-FFF2-40B4-BE49-F238E27FC236}">
                    <a16:creationId xmlns:a16="http://schemas.microsoft.com/office/drawing/2014/main" id="{08C86F11-4D94-E07B-050B-BAFEC1DDF558}"/>
                  </a:ext>
                </a:extLst>
              </p:cNvPr>
              <p:cNvSpPr>
                <a:spLocks noGrp="1" noRot="1" noChangeAspect="1" noMove="1" noResize="1" noEditPoints="1" noAdjustHandles="1" noChangeArrowheads="1" noChangeShapeType="1" noTextEdit="1"/>
              </p:cNvSpPr>
              <p:nvPr>
                <p:ph idx="1"/>
              </p:nvPr>
            </p:nvSpPr>
            <p:spPr>
              <a:xfrm>
                <a:off x="5647174" y="1825624"/>
                <a:ext cx="6544826" cy="5032375"/>
              </a:xfrm>
              <a:blipFill>
                <a:blip r:embed="rId3"/>
                <a:stretch>
                  <a:fillRect l="-1676" t="-1937"/>
                </a:stretch>
              </a:blipFill>
            </p:spPr>
            <p:txBody>
              <a:bodyPr/>
              <a:lstStyle/>
              <a:p>
                <a:r>
                  <a:rPr lang="en-US">
                    <a:noFill/>
                  </a:rPr>
                  <a:t> </a:t>
                </a:r>
              </a:p>
            </p:txBody>
          </p:sp>
        </mc:Fallback>
      </mc:AlternateContent>
      <p:pic>
        <p:nvPicPr>
          <p:cNvPr id="9" name="Imagem 8">
            <a:extLst>
              <a:ext uri="{FF2B5EF4-FFF2-40B4-BE49-F238E27FC236}">
                <a16:creationId xmlns:a16="http://schemas.microsoft.com/office/drawing/2014/main" id="{2E7D9F4F-1DB2-E99B-33C5-E46912A66C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32335" y="1900784"/>
            <a:ext cx="3769035" cy="4882054"/>
          </a:xfrm>
          <a:prstGeom prst="rect">
            <a:avLst/>
          </a:prstGeom>
        </p:spPr>
      </p:pic>
    </p:spTree>
    <p:extLst>
      <p:ext uri="{BB962C8B-B14F-4D97-AF65-F5344CB8AC3E}">
        <p14:creationId xmlns:p14="http://schemas.microsoft.com/office/powerpoint/2010/main" val="3725184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C30E0-8081-B0A7-573B-8D5BAFB388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ED3848-5F72-8F8E-2C64-8BA12C5D5C5F}"/>
              </a:ext>
            </a:extLst>
          </p:cNvPr>
          <p:cNvSpPr>
            <a:spLocks noGrp="1"/>
          </p:cNvSpPr>
          <p:nvPr>
            <p:ph idx="1"/>
          </p:nvPr>
        </p:nvSpPr>
        <p:spPr>
          <a:xfrm>
            <a:off x="506186" y="2941351"/>
            <a:ext cx="11179628" cy="975297"/>
          </a:xfrm>
        </p:spPr>
        <p:txBody>
          <a:bodyPr>
            <a:normAutofit/>
          </a:bodyPr>
          <a:lstStyle/>
          <a:p>
            <a:pPr marL="0" indent="0" algn="ctr">
              <a:buNone/>
            </a:pPr>
            <a:r>
              <a:rPr lang="pt-BR" sz="6000" dirty="0"/>
              <a:t>Filtros detectam padrões</a:t>
            </a:r>
            <a:endParaRPr lang="en-US" sz="6000" dirty="0"/>
          </a:p>
        </p:txBody>
      </p:sp>
    </p:spTree>
    <p:extLst>
      <p:ext uri="{BB962C8B-B14F-4D97-AF65-F5344CB8AC3E}">
        <p14:creationId xmlns:p14="http://schemas.microsoft.com/office/powerpoint/2010/main" val="3730585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Agrupar 3">
            <a:extLst>
              <a:ext uri="{FF2B5EF4-FFF2-40B4-BE49-F238E27FC236}">
                <a16:creationId xmlns:a16="http://schemas.microsoft.com/office/drawing/2014/main" id="{D872F4FC-2FC8-BB6E-9E93-AE1ED29B9AA3}"/>
              </a:ext>
            </a:extLst>
          </p:cNvPr>
          <p:cNvGrpSpPr/>
          <p:nvPr/>
        </p:nvGrpSpPr>
        <p:grpSpPr>
          <a:xfrm>
            <a:off x="1717729" y="1312121"/>
            <a:ext cx="9092325" cy="3008673"/>
            <a:chOff x="2534852" y="1688232"/>
            <a:chExt cx="9092325" cy="3008673"/>
          </a:xfrm>
        </p:grpSpPr>
        <p:pic>
          <p:nvPicPr>
            <p:cNvPr id="1026" name="Picture 2" descr="Convolutional layer with three filters.">
              <a:extLst>
                <a:ext uri="{FF2B5EF4-FFF2-40B4-BE49-F238E27FC236}">
                  <a16:creationId xmlns:a16="http://schemas.microsoft.com/office/drawing/2014/main" id="{FDA7B237-9C5E-6200-75A2-2E9F8F9D0EA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0" r="1031"/>
            <a:stretch/>
          </p:blipFill>
          <p:spPr bwMode="auto">
            <a:xfrm>
              <a:off x="2534852" y="1690688"/>
              <a:ext cx="7122296" cy="3006217"/>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5731D3E3-B97F-0C63-5E05-83F62DBDB2C7}"/>
                </a:ext>
              </a:extLst>
            </p:cNvPr>
            <p:cNvSpPr txBox="1"/>
            <p:nvPr/>
          </p:nvSpPr>
          <p:spPr>
            <a:xfrm>
              <a:off x="8785780" y="1688232"/>
              <a:ext cx="2841397" cy="954107"/>
            </a:xfrm>
            <a:prstGeom prst="rect">
              <a:avLst/>
            </a:prstGeom>
            <a:noFill/>
          </p:spPr>
          <p:txBody>
            <a:bodyPr wrap="square">
              <a:spAutoFit/>
            </a:bodyPr>
            <a:lstStyle/>
            <a:p>
              <a:pPr algn="ctr"/>
              <a:r>
                <a:rPr lang="pt-BR" sz="1400" b="0" i="0" dirty="0">
                  <a:solidFill>
                    <a:srgbClr val="222222"/>
                  </a:solidFill>
                  <a:effectLst/>
                  <a:latin typeface="Arial" panose="020B0604020202020204" pitchFamily="34" charset="0"/>
                </a:rPr>
                <a:t>Os mapas de ativação mostram os </a:t>
              </a:r>
              <a:r>
                <a:rPr lang="pt-BR" sz="1400" b="1" i="0" dirty="0">
                  <a:solidFill>
                    <a:srgbClr val="0070C0"/>
                  </a:solidFill>
                  <a:effectLst/>
                  <a:latin typeface="Arial" panose="020B0604020202020204" pitchFamily="34" charset="0"/>
                </a:rPr>
                <a:t>neurônios altamente ativados </a:t>
              </a:r>
              <a:r>
                <a:rPr lang="pt-BR" sz="1400" b="0" i="0" dirty="0">
                  <a:solidFill>
                    <a:srgbClr val="222222"/>
                  </a:solidFill>
                  <a:effectLst/>
                  <a:latin typeface="Arial" panose="020B0604020202020204" pitchFamily="34" charset="0"/>
                </a:rPr>
                <a:t>associados a cada filtro.</a:t>
              </a:r>
              <a:endParaRPr lang="pt-BR" sz="1400" dirty="0"/>
            </a:p>
          </p:txBody>
        </p:sp>
        <p:cxnSp>
          <p:nvCxnSpPr>
            <p:cNvPr id="7" name="Conector de Seta Reta 6">
              <a:extLst>
                <a:ext uri="{FF2B5EF4-FFF2-40B4-BE49-F238E27FC236}">
                  <a16:creationId xmlns:a16="http://schemas.microsoft.com/office/drawing/2014/main" id="{4FAA22FD-157A-5B17-8257-62218A4DB470}"/>
                </a:ext>
              </a:extLst>
            </p:cNvPr>
            <p:cNvCxnSpPr>
              <a:cxnSpLocks/>
              <a:stCxn id="5" idx="1"/>
            </p:cNvCxnSpPr>
            <p:nvPr/>
          </p:nvCxnSpPr>
          <p:spPr>
            <a:xfrm flipH="1">
              <a:off x="8342722" y="2245861"/>
              <a:ext cx="443058" cy="18103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ítulo 1">
            <a:extLst>
              <a:ext uri="{FF2B5EF4-FFF2-40B4-BE49-F238E27FC236}">
                <a16:creationId xmlns:a16="http://schemas.microsoft.com/office/drawing/2014/main" id="{17BF0EA4-331C-96D9-4ED8-22917D3D9478}"/>
              </a:ext>
            </a:extLst>
          </p:cNvPr>
          <p:cNvSpPr>
            <a:spLocks noGrp="1"/>
          </p:cNvSpPr>
          <p:nvPr>
            <p:ph type="title"/>
          </p:nvPr>
        </p:nvSpPr>
        <p:spPr/>
        <p:txBody>
          <a:bodyPr/>
          <a:lstStyle/>
          <a:p>
            <a:r>
              <a:rPr lang="pt-BR" dirty="0"/>
              <a:t>Filtros detectam padrões</a:t>
            </a:r>
          </a:p>
        </p:txBody>
      </p:sp>
      <p:sp>
        <p:nvSpPr>
          <p:cNvPr id="3" name="Espaço Reservado para Conteúdo 2">
            <a:extLst>
              <a:ext uri="{FF2B5EF4-FFF2-40B4-BE49-F238E27FC236}">
                <a16:creationId xmlns:a16="http://schemas.microsoft.com/office/drawing/2014/main" id="{23822213-187E-84B8-F6E9-C0BC863FFA29}"/>
              </a:ext>
            </a:extLst>
          </p:cNvPr>
          <p:cNvSpPr>
            <a:spLocks noGrp="1"/>
          </p:cNvSpPr>
          <p:nvPr>
            <p:ph idx="1"/>
          </p:nvPr>
        </p:nvSpPr>
        <p:spPr>
          <a:xfrm>
            <a:off x="838199" y="4419600"/>
            <a:ext cx="11353801" cy="2438400"/>
          </a:xfrm>
        </p:spPr>
        <p:txBody>
          <a:bodyPr>
            <a:normAutofit/>
          </a:bodyPr>
          <a:lstStyle/>
          <a:p>
            <a:r>
              <a:rPr lang="pt-BR" dirty="0"/>
              <a:t>Na figura, a imagem de entrada apresenta três padrões lineares (linhas).</a:t>
            </a:r>
          </a:p>
          <a:p>
            <a:r>
              <a:rPr lang="pt-BR" dirty="0"/>
              <a:t>Temos uma camada convolucional com três filtros.</a:t>
            </a:r>
          </a:p>
          <a:p>
            <a:r>
              <a:rPr lang="pt-BR" b="0" i="0" dirty="0">
                <a:effectLst/>
              </a:rPr>
              <a:t>Cada </a:t>
            </a:r>
            <a:r>
              <a:rPr lang="pt-BR" b="1" i="0" dirty="0">
                <a:solidFill>
                  <a:srgbClr val="7030A0"/>
                </a:solidFill>
                <a:effectLst/>
              </a:rPr>
              <a:t>filtro</a:t>
            </a:r>
            <a:r>
              <a:rPr lang="pt-BR" b="0" i="0" dirty="0">
                <a:effectLst/>
              </a:rPr>
              <a:t> </a:t>
            </a:r>
            <a:r>
              <a:rPr lang="pt-BR" b="1" i="0" dirty="0">
                <a:solidFill>
                  <a:srgbClr val="00B050"/>
                </a:solidFill>
                <a:effectLst/>
              </a:rPr>
              <a:t>aprende</a:t>
            </a:r>
            <a:r>
              <a:rPr lang="pt-BR" b="0" i="0" dirty="0">
                <a:effectLst/>
              </a:rPr>
              <a:t> a </a:t>
            </a:r>
            <a:r>
              <a:rPr lang="pt-BR" b="1" i="0" dirty="0">
                <a:solidFill>
                  <a:srgbClr val="7030A0"/>
                </a:solidFill>
                <a:effectLst/>
              </a:rPr>
              <a:t>detectar </a:t>
            </a:r>
            <a:r>
              <a:rPr lang="pt-BR" b="1" i="0" dirty="0">
                <a:solidFill>
                  <a:schemeClr val="accent2"/>
                </a:solidFill>
                <a:effectLst/>
              </a:rPr>
              <a:t>um</a:t>
            </a:r>
            <a:r>
              <a:rPr lang="pt-BR" b="1" i="0" dirty="0">
                <a:solidFill>
                  <a:srgbClr val="7030A0"/>
                </a:solidFill>
                <a:effectLst/>
              </a:rPr>
              <a:t> padrão específico</a:t>
            </a:r>
            <a:r>
              <a:rPr lang="pt-BR" b="0" i="0" dirty="0">
                <a:effectLst/>
              </a:rPr>
              <a:t>: linhas horizontais, linhas verticais e linhas diagonais.</a:t>
            </a:r>
          </a:p>
          <a:p>
            <a:r>
              <a:rPr lang="pt-BR" b="1" dirty="0">
                <a:solidFill>
                  <a:schemeClr val="accent2"/>
                </a:solidFill>
              </a:rPr>
              <a:t>Cada filtro gera um mapa de características diferente</a:t>
            </a:r>
            <a:r>
              <a:rPr lang="pt-BR" dirty="0"/>
              <a:t>.</a:t>
            </a:r>
          </a:p>
        </p:txBody>
      </p:sp>
    </p:spTree>
    <p:extLst>
      <p:ext uri="{BB962C8B-B14F-4D97-AF65-F5344CB8AC3E}">
        <p14:creationId xmlns:p14="http://schemas.microsoft.com/office/powerpoint/2010/main" val="16509866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98294E-A2EC-1502-33A1-CE8905F02228}"/>
              </a:ext>
            </a:extLst>
          </p:cNvPr>
          <p:cNvSpPr>
            <a:spLocks noGrp="1"/>
          </p:cNvSpPr>
          <p:nvPr>
            <p:ph type="title"/>
          </p:nvPr>
        </p:nvSpPr>
        <p:spPr/>
        <p:txBody>
          <a:bodyPr/>
          <a:lstStyle/>
          <a:p>
            <a:r>
              <a:rPr lang="pt-BR" dirty="0"/>
              <a:t>Aplicando </a:t>
            </a:r>
            <a:r>
              <a:rPr lang="pt-BR" i="1" dirty="0"/>
              <a:t>kernels</a:t>
            </a:r>
            <a:r>
              <a:rPr lang="pt-BR" dirty="0"/>
              <a:t> a imagens</a:t>
            </a:r>
          </a:p>
        </p:txBody>
      </p:sp>
      <p:sp>
        <p:nvSpPr>
          <p:cNvPr id="3" name="Espaço Reservado para Conteúdo 2">
            <a:extLst>
              <a:ext uri="{FF2B5EF4-FFF2-40B4-BE49-F238E27FC236}">
                <a16:creationId xmlns:a16="http://schemas.microsoft.com/office/drawing/2014/main" id="{79A41281-5AE9-F7D6-F75E-259E79DE9E36}"/>
              </a:ext>
            </a:extLst>
          </p:cNvPr>
          <p:cNvSpPr>
            <a:spLocks noGrp="1"/>
          </p:cNvSpPr>
          <p:nvPr>
            <p:ph idx="1"/>
          </p:nvPr>
        </p:nvSpPr>
        <p:spPr>
          <a:xfrm>
            <a:off x="838201" y="4600280"/>
            <a:ext cx="11239918" cy="2257720"/>
          </a:xfrm>
        </p:spPr>
        <p:txBody>
          <a:bodyPr>
            <a:normAutofit/>
          </a:bodyPr>
          <a:lstStyle/>
          <a:p>
            <a:r>
              <a:rPr lang="pt-BR" dirty="0"/>
              <a:t>Considerem a imagem em tons de cinza à esquerda.</a:t>
            </a:r>
          </a:p>
          <a:p>
            <a:r>
              <a:rPr lang="pt-BR" dirty="0"/>
              <a:t>Ao aplicarmos o </a:t>
            </a:r>
            <a:r>
              <a:rPr lang="pt-BR" i="1" dirty="0"/>
              <a:t>kernel</a:t>
            </a:r>
            <a:r>
              <a:rPr lang="pt-BR" dirty="0"/>
              <a:t> mostrado, obtemos o resultado à direita.</a:t>
            </a:r>
          </a:p>
          <a:p>
            <a:r>
              <a:rPr lang="pt-BR" dirty="0"/>
              <a:t>Ele </a:t>
            </a:r>
            <a:r>
              <a:rPr lang="pt-BR" b="1" dirty="0">
                <a:solidFill>
                  <a:srgbClr val="00B050"/>
                </a:solidFill>
              </a:rPr>
              <a:t>realça muito as </a:t>
            </a:r>
            <a:r>
              <a:rPr lang="pt-BR" b="1" dirty="0">
                <a:solidFill>
                  <a:srgbClr val="7030A0"/>
                </a:solidFill>
              </a:rPr>
              <a:t>linhas verticais </a:t>
            </a:r>
            <a:r>
              <a:rPr lang="pt-BR" b="1" dirty="0">
                <a:solidFill>
                  <a:srgbClr val="00B050"/>
                </a:solidFill>
              </a:rPr>
              <a:t>e </a:t>
            </a:r>
            <a:r>
              <a:rPr lang="pt-BR" b="1" dirty="0">
                <a:solidFill>
                  <a:schemeClr val="accent2"/>
                </a:solidFill>
              </a:rPr>
              <a:t>escurece todo o resto</a:t>
            </a:r>
            <a:r>
              <a:rPr lang="pt-BR" dirty="0"/>
              <a:t>.</a:t>
            </a:r>
          </a:p>
          <a:p>
            <a:r>
              <a:rPr lang="pt-BR" dirty="0"/>
              <a:t>Portanto, podemos dizer que este </a:t>
            </a:r>
            <a:r>
              <a:rPr lang="pt-BR" i="1" dirty="0"/>
              <a:t>kernel</a:t>
            </a:r>
            <a:r>
              <a:rPr lang="pt-BR" dirty="0"/>
              <a:t> é um </a:t>
            </a:r>
            <a:r>
              <a:rPr lang="pt-BR" b="1" dirty="0">
                <a:solidFill>
                  <a:srgbClr val="00B050"/>
                </a:solidFill>
              </a:rPr>
              <a:t>detector de linhas verticais</a:t>
            </a:r>
            <a:r>
              <a:rPr lang="pt-BR" dirty="0"/>
              <a:t>.</a:t>
            </a:r>
          </a:p>
        </p:txBody>
      </p:sp>
      <p:graphicFrame>
        <p:nvGraphicFramePr>
          <p:cNvPr id="10" name="Tabela 4">
            <a:extLst>
              <a:ext uri="{FF2B5EF4-FFF2-40B4-BE49-F238E27FC236}">
                <a16:creationId xmlns:a16="http://schemas.microsoft.com/office/drawing/2014/main" id="{B4271DF3-039B-2ACF-9AC0-B95945CC76CD}"/>
              </a:ext>
            </a:extLst>
          </p:cNvPr>
          <p:cNvGraphicFramePr>
            <a:graphicFrameLocks/>
          </p:cNvGraphicFramePr>
          <p:nvPr/>
        </p:nvGraphicFramePr>
        <p:xfrm>
          <a:off x="5617493" y="246679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sp>
        <p:nvSpPr>
          <p:cNvPr id="11" name="Seta: para a Direita 10">
            <a:extLst>
              <a:ext uri="{FF2B5EF4-FFF2-40B4-BE49-F238E27FC236}">
                <a16:creationId xmlns:a16="http://schemas.microsoft.com/office/drawing/2014/main" id="{10C3AF48-41B5-92A4-5000-842C0C313F82}"/>
              </a:ext>
            </a:extLst>
          </p:cNvPr>
          <p:cNvSpPr/>
          <p:nvPr/>
        </p:nvSpPr>
        <p:spPr>
          <a:xfrm>
            <a:off x="5239770" y="283112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para a Direita 11">
            <a:extLst>
              <a:ext uri="{FF2B5EF4-FFF2-40B4-BE49-F238E27FC236}">
                <a16:creationId xmlns:a16="http://schemas.microsoft.com/office/drawing/2014/main" id="{43A231E7-D40D-59B3-94A7-EA32FAC23EAC}"/>
              </a:ext>
            </a:extLst>
          </p:cNvPr>
          <p:cNvSpPr/>
          <p:nvPr/>
        </p:nvSpPr>
        <p:spPr>
          <a:xfrm>
            <a:off x="6889569" y="283890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Picture 2">
            <a:extLst>
              <a:ext uri="{FF2B5EF4-FFF2-40B4-BE49-F238E27FC236}">
                <a16:creationId xmlns:a16="http://schemas.microsoft.com/office/drawing/2014/main" id="{5FC488B1-5902-86C8-C98F-0FEFF46EA2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973" t="3272" b="3062"/>
          <a:stretch/>
        </p:blipFill>
        <p:spPr bwMode="auto">
          <a:xfrm>
            <a:off x="7393398" y="1690688"/>
            <a:ext cx="3314166" cy="248209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F5A9BD79-A0BA-7D45-5254-F4A627B4B2B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973" t="3166" b="3166"/>
          <a:stretch/>
        </p:blipFill>
        <p:spPr bwMode="auto">
          <a:xfrm>
            <a:off x="1805783" y="1690688"/>
            <a:ext cx="3314166" cy="2482091"/>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404B1AA2-ED49-E855-8A66-569E17795431}"/>
              </a:ext>
            </a:extLst>
          </p:cNvPr>
          <p:cNvSpPr txBox="1"/>
          <p:nvPr/>
        </p:nvSpPr>
        <p:spPr>
          <a:xfrm>
            <a:off x="5871353" y="1988225"/>
            <a:ext cx="770640" cy="369332"/>
          </a:xfrm>
          <a:prstGeom prst="rect">
            <a:avLst/>
          </a:prstGeom>
          <a:noFill/>
        </p:spPr>
        <p:txBody>
          <a:bodyPr wrap="square">
            <a:spAutoFit/>
          </a:bodyPr>
          <a:lstStyle/>
          <a:p>
            <a:r>
              <a:rPr lang="pt-BR" i="1" dirty="0"/>
              <a:t>kernel</a:t>
            </a:r>
            <a:endParaRPr lang="pt-BR" dirty="0"/>
          </a:p>
        </p:txBody>
      </p:sp>
      <p:sp>
        <p:nvSpPr>
          <p:cNvPr id="5" name="CaixaDeTexto 4">
            <a:extLst>
              <a:ext uri="{FF2B5EF4-FFF2-40B4-BE49-F238E27FC236}">
                <a16:creationId xmlns:a16="http://schemas.microsoft.com/office/drawing/2014/main" id="{3AC81DFC-312F-0685-AA08-805C8A79BA72}"/>
              </a:ext>
            </a:extLst>
          </p:cNvPr>
          <p:cNvSpPr txBox="1"/>
          <p:nvPr/>
        </p:nvSpPr>
        <p:spPr>
          <a:xfrm>
            <a:off x="5762010" y="3628130"/>
            <a:ext cx="953979" cy="307777"/>
          </a:xfrm>
          <a:prstGeom prst="rect">
            <a:avLst/>
          </a:prstGeom>
          <a:noFill/>
        </p:spPr>
        <p:txBody>
          <a:bodyPr wrap="none" rtlCol="0">
            <a:spAutoFit/>
          </a:bodyPr>
          <a:lstStyle/>
          <a:p>
            <a:r>
              <a:rPr lang="pt-BR" sz="1400" i="1" dirty="0" err="1"/>
              <a:t>right</a:t>
            </a:r>
            <a:r>
              <a:rPr lang="pt-BR" sz="1400" i="1" dirty="0"/>
              <a:t> </a:t>
            </a:r>
            <a:r>
              <a:rPr lang="pt-BR" sz="1400" i="1" dirty="0" err="1"/>
              <a:t>sobel</a:t>
            </a:r>
            <a:endParaRPr lang="en-US" sz="1400" i="1" dirty="0"/>
          </a:p>
        </p:txBody>
      </p:sp>
      <p:sp>
        <p:nvSpPr>
          <p:cNvPr id="7" name="CaixaDeTexto 6">
            <a:extLst>
              <a:ext uri="{FF2B5EF4-FFF2-40B4-BE49-F238E27FC236}">
                <a16:creationId xmlns:a16="http://schemas.microsoft.com/office/drawing/2014/main" id="{FA5CCBA6-6983-1B34-087A-290B3BA47357}"/>
              </a:ext>
            </a:extLst>
          </p:cNvPr>
          <p:cNvSpPr txBox="1"/>
          <p:nvPr/>
        </p:nvSpPr>
        <p:spPr>
          <a:xfrm>
            <a:off x="9349483" y="4277114"/>
            <a:ext cx="2533427" cy="646331"/>
          </a:xfrm>
          <a:prstGeom prst="rect">
            <a:avLst/>
          </a:prstGeom>
          <a:noFill/>
        </p:spPr>
        <p:txBody>
          <a:bodyPr wrap="square" rtlCol="0">
            <a:spAutoFit/>
          </a:bodyPr>
          <a:lstStyle/>
          <a:p>
            <a:pPr algn="ctr"/>
            <a:r>
              <a:rPr lang="pt-BR" sz="1200" dirty="0"/>
              <a:t>OBS.: após a aplicação do filtro, a imagem da direita tem resolução menor do que a da esquerda</a:t>
            </a:r>
            <a:endParaRPr lang="en-US" sz="1200" dirty="0"/>
          </a:p>
        </p:txBody>
      </p:sp>
    </p:spTree>
    <p:extLst>
      <p:ext uri="{BB962C8B-B14F-4D97-AF65-F5344CB8AC3E}">
        <p14:creationId xmlns:p14="http://schemas.microsoft.com/office/powerpoint/2010/main" val="36507460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98294E-A2EC-1502-33A1-CE8905F02228}"/>
              </a:ext>
            </a:extLst>
          </p:cNvPr>
          <p:cNvSpPr>
            <a:spLocks noGrp="1"/>
          </p:cNvSpPr>
          <p:nvPr>
            <p:ph type="title"/>
          </p:nvPr>
        </p:nvSpPr>
        <p:spPr/>
        <p:txBody>
          <a:bodyPr/>
          <a:lstStyle/>
          <a:p>
            <a:r>
              <a:rPr lang="pt-BR" dirty="0"/>
              <a:t>Aplicando </a:t>
            </a:r>
            <a:r>
              <a:rPr lang="pt-BR" i="1" dirty="0"/>
              <a:t>kernels</a:t>
            </a:r>
            <a:r>
              <a:rPr lang="pt-BR" dirty="0"/>
              <a:t> a imagens</a:t>
            </a:r>
          </a:p>
        </p:txBody>
      </p:sp>
      <p:sp>
        <p:nvSpPr>
          <p:cNvPr id="3" name="Espaço Reservado para Conteúdo 2">
            <a:extLst>
              <a:ext uri="{FF2B5EF4-FFF2-40B4-BE49-F238E27FC236}">
                <a16:creationId xmlns:a16="http://schemas.microsoft.com/office/drawing/2014/main" id="{79A41281-5AE9-F7D6-F75E-259E79DE9E36}"/>
              </a:ext>
            </a:extLst>
          </p:cNvPr>
          <p:cNvSpPr>
            <a:spLocks noGrp="1"/>
          </p:cNvSpPr>
          <p:nvPr>
            <p:ph idx="1"/>
          </p:nvPr>
        </p:nvSpPr>
        <p:spPr>
          <a:xfrm>
            <a:off x="838200" y="4339855"/>
            <a:ext cx="11353799" cy="2518146"/>
          </a:xfrm>
        </p:spPr>
        <p:txBody>
          <a:bodyPr>
            <a:normAutofit lnSpcReduction="10000"/>
          </a:bodyPr>
          <a:lstStyle/>
          <a:p>
            <a:r>
              <a:rPr lang="pt-BR" dirty="0"/>
              <a:t>Já o </a:t>
            </a:r>
            <a:r>
              <a:rPr lang="pt-BR" i="1" dirty="0"/>
              <a:t>kernel</a:t>
            </a:r>
            <a:r>
              <a:rPr lang="pt-BR" dirty="0"/>
              <a:t> acima, </a:t>
            </a:r>
            <a:r>
              <a:rPr lang="pt-BR" b="1" dirty="0">
                <a:solidFill>
                  <a:srgbClr val="00B050"/>
                </a:solidFill>
              </a:rPr>
              <a:t>detecta linhas horizontais</a:t>
            </a:r>
            <a:r>
              <a:rPr lang="pt-BR" dirty="0"/>
              <a:t>, </a:t>
            </a:r>
            <a:r>
              <a:rPr lang="pt-BR" b="1" dirty="0">
                <a:solidFill>
                  <a:schemeClr val="accent2"/>
                </a:solidFill>
              </a:rPr>
              <a:t>escurecendo</a:t>
            </a:r>
            <a:r>
              <a:rPr lang="pt-BR" dirty="0"/>
              <a:t> quase tudo na imagem que não seja uma linha horizontal.</a:t>
            </a:r>
          </a:p>
          <a:p>
            <a:r>
              <a:rPr lang="pt-BR" dirty="0"/>
              <a:t>Ao aplicar </a:t>
            </a:r>
            <a:r>
              <a:rPr lang="pt-BR" i="1" dirty="0"/>
              <a:t>kernels</a:t>
            </a:r>
            <a:r>
              <a:rPr lang="pt-BR" dirty="0"/>
              <a:t> como esses, </a:t>
            </a:r>
            <a:r>
              <a:rPr lang="pt-BR" b="1" dirty="0">
                <a:solidFill>
                  <a:srgbClr val="00B050"/>
                </a:solidFill>
              </a:rPr>
              <a:t>removemos quase tudo</a:t>
            </a:r>
            <a:r>
              <a:rPr lang="pt-BR" dirty="0"/>
              <a:t>, </a:t>
            </a:r>
            <a:r>
              <a:rPr lang="pt-BR" b="1" dirty="0">
                <a:solidFill>
                  <a:srgbClr val="00B050"/>
                </a:solidFill>
              </a:rPr>
              <a:t>exceto uma característica distinta</a:t>
            </a:r>
            <a:r>
              <a:rPr lang="pt-BR" dirty="0"/>
              <a:t>.</a:t>
            </a:r>
          </a:p>
          <a:p>
            <a:r>
              <a:rPr lang="pt-BR" dirty="0"/>
              <a:t>Esse é o processo chamado de </a:t>
            </a:r>
            <a:r>
              <a:rPr lang="pt-BR" b="1" dirty="0">
                <a:solidFill>
                  <a:srgbClr val="7030A0"/>
                </a:solidFill>
              </a:rPr>
              <a:t>extração de características</a:t>
            </a:r>
            <a:r>
              <a:rPr lang="pt-BR" dirty="0"/>
              <a:t>.</a:t>
            </a:r>
          </a:p>
          <a:p>
            <a:pPr lvl="1">
              <a:buFont typeface="Wingdings" panose="05000000000000000000" pitchFamily="2" charset="2"/>
              <a:buChar char="§"/>
            </a:pPr>
            <a:r>
              <a:rPr lang="pt-BR" dirty="0"/>
              <a:t>Processo que determina as partes mais importantes de uma imagem para um </a:t>
            </a:r>
            <a:r>
              <a:rPr lang="pt-BR" i="1" dirty="0"/>
              <a:t>kernel</a:t>
            </a:r>
            <a:r>
              <a:rPr lang="pt-BR" dirty="0"/>
              <a:t>.</a:t>
            </a:r>
          </a:p>
        </p:txBody>
      </p:sp>
      <p:sp>
        <p:nvSpPr>
          <p:cNvPr id="11" name="Seta: para a Direita 10">
            <a:extLst>
              <a:ext uri="{FF2B5EF4-FFF2-40B4-BE49-F238E27FC236}">
                <a16:creationId xmlns:a16="http://schemas.microsoft.com/office/drawing/2014/main" id="{10C3AF48-41B5-92A4-5000-842C0C313F82}"/>
              </a:ext>
            </a:extLst>
          </p:cNvPr>
          <p:cNvSpPr/>
          <p:nvPr/>
        </p:nvSpPr>
        <p:spPr>
          <a:xfrm>
            <a:off x="5239770" y="283112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Seta: para a Direita 11">
            <a:extLst>
              <a:ext uri="{FF2B5EF4-FFF2-40B4-BE49-F238E27FC236}">
                <a16:creationId xmlns:a16="http://schemas.microsoft.com/office/drawing/2014/main" id="{43A231E7-D40D-59B3-94A7-EA32FAC23EAC}"/>
              </a:ext>
            </a:extLst>
          </p:cNvPr>
          <p:cNvSpPr/>
          <p:nvPr/>
        </p:nvSpPr>
        <p:spPr>
          <a:xfrm>
            <a:off x="6889569" y="2838901"/>
            <a:ext cx="338501" cy="368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050" name="Picture 2">
            <a:extLst>
              <a:ext uri="{FF2B5EF4-FFF2-40B4-BE49-F238E27FC236}">
                <a16:creationId xmlns:a16="http://schemas.microsoft.com/office/drawing/2014/main" id="{F5A9BD79-A0BA-7D45-5254-F4A627B4B2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973" t="3166" b="3166"/>
          <a:stretch/>
        </p:blipFill>
        <p:spPr bwMode="auto">
          <a:xfrm>
            <a:off x="1805783" y="1690688"/>
            <a:ext cx="3314166" cy="248209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ela 4">
            <a:extLst>
              <a:ext uri="{FF2B5EF4-FFF2-40B4-BE49-F238E27FC236}">
                <a16:creationId xmlns:a16="http://schemas.microsoft.com/office/drawing/2014/main" id="{29DF527E-25DB-B115-55B6-F140189A530C}"/>
              </a:ext>
            </a:extLst>
          </p:cNvPr>
          <p:cNvGraphicFramePr>
            <a:graphicFrameLocks/>
          </p:cNvGraphicFramePr>
          <p:nvPr/>
        </p:nvGraphicFramePr>
        <p:xfrm>
          <a:off x="5617493" y="24770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pic>
        <p:nvPicPr>
          <p:cNvPr id="3074" name="Picture 2">
            <a:extLst>
              <a:ext uri="{FF2B5EF4-FFF2-40B4-BE49-F238E27FC236}">
                <a16:creationId xmlns:a16="http://schemas.microsoft.com/office/drawing/2014/main" id="{E24573D8-E4C0-390E-C8F4-26229D5BC7E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050" t="2718" b="3115"/>
          <a:stretch/>
        </p:blipFill>
        <p:spPr bwMode="auto">
          <a:xfrm>
            <a:off x="7358051" y="1690687"/>
            <a:ext cx="3291514" cy="2482091"/>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CD951C64-26FA-C703-255B-C6D63EEECA4D}"/>
              </a:ext>
            </a:extLst>
          </p:cNvPr>
          <p:cNvSpPr txBox="1"/>
          <p:nvPr/>
        </p:nvSpPr>
        <p:spPr>
          <a:xfrm>
            <a:off x="9698803" y="6637486"/>
            <a:ext cx="2565115" cy="253916"/>
          </a:xfrm>
          <a:prstGeom prst="rect">
            <a:avLst/>
          </a:prstGeom>
          <a:noFill/>
        </p:spPr>
        <p:txBody>
          <a:bodyPr wrap="square">
            <a:spAutoFit/>
          </a:bodyPr>
          <a:lstStyle/>
          <a:p>
            <a:r>
              <a:rPr lang="pt-BR" sz="1050" b="1" dirty="0"/>
              <a:t>fonte</a:t>
            </a:r>
            <a:r>
              <a:rPr lang="pt-BR" sz="1050" dirty="0"/>
              <a:t>: </a:t>
            </a:r>
            <a:r>
              <a:rPr lang="pt-BR" sz="1050" dirty="0">
                <a:hlinkClick r:id="rId5"/>
              </a:rPr>
              <a:t>https://setosa.io/ev/image-kernels/</a:t>
            </a:r>
            <a:endParaRPr lang="pt-BR" sz="1050" dirty="0"/>
          </a:p>
        </p:txBody>
      </p:sp>
      <p:sp>
        <p:nvSpPr>
          <p:cNvPr id="8" name="CaixaDeTexto 7">
            <a:extLst>
              <a:ext uri="{FF2B5EF4-FFF2-40B4-BE49-F238E27FC236}">
                <a16:creationId xmlns:a16="http://schemas.microsoft.com/office/drawing/2014/main" id="{A304C040-D825-0594-9468-B1A68F562CBC}"/>
              </a:ext>
            </a:extLst>
          </p:cNvPr>
          <p:cNvSpPr txBox="1"/>
          <p:nvPr/>
        </p:nvSpPr>
        <p:spPr>
          <a:xfrm>
            <a:off x="5871353" y="1988225"/>
            <a:ext cx="770640" cy="369332"/>
          </a:xfrm>
          <a:prstGeom prst="rect">
            <a:avLst/>
          </a:prstGeom>
          <a:noFill/>
        </p:spPr>
        <p:txBody>
          <a:bodyPr wrap="square">
            <a:spAutoFit/>
          </a:bodyPr>
          <a:lstStyle/>
          <a:p>
            <a:r>
              <a:rPr lang="pt-BR" i="1" dirty="0"/>
              <a:t>kernel</a:t>
            </a:r>
            <a:endParaRPr lang="pt-BR" dirty="0"/>
          </a:p>
        </p:txBody>
      </p:sp>
      <p:sp>
        <p:nvSpPr>
          <p:cNvPr id="4" name="CaixaDeTexto 3">
            <a:extLst>
              <a:ext uri="{FF2B5EF4-FFF2-40B4-BE49-F238E27FC236}">
                <a16:creationId xmlns:a16="http://schemas.microsoft.com/office/drawing/2014/main" id="{8742060B-3607-8D76-F390-2FF75A80EDC6}"/>
              </a:ext>
            </a:extLst>
          </p:cNvPr>
          <p:cNvSpPr txBox="1"/>
          <p:nvPr/>
        </p:nvSpPr>
        <p:spPr>
          <a:xfrm>
            <a:off x="5685266" y="3638831"/>
            <a:ext cx="1142813" cy="307777"/>
          </a:xfrm>
          <a:prstGeom prst="rect">
            <a:avLst/>
          </a:prstGeom>
          <a:noFill/>
        </p:spPr>
        <p:txBody>
          <a:bodyPr wrap="none" rtlCol="0">
            <a:spAutoFit/>
          </a:bodyPr>
          <a:lstStyle/>
          <a:p>
            <a:r>
              <a:rPr lang="pt-BR" sz="1400" i="1" dirty="0" err="1"/>
              <a:t>bottom</a:t>
            </a:r>
            <a:r>
              <a:rPr lang="pt-BR" sz="1400" i="1" dirty="0"/>
              <a:t> </a:t>
            </a:r>
            <a:r>
              <a:rPr lang="pt-BR" sz="1400" i="1" dirty="0" err="1"/>
              <a:t>sobel</a:t>
            </a:r>
            <a:endParaRPr lang="en-US" sz="1400" i="1" dirty="0"/>
          </a:p>
        </p:txBody>
      </p:sp>
    </p:spTree>
    <p:extLst>
      <p:ext uri="{BB962C8B-B14F-4D97-AF65-F5344CB8AC3E}">
        <p14:creationId xmlns:p14="http://schemas.microsoft.com/office/powerpoint/2010/main" val="29384888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AED40A-9150-74EA-1077-CBE93F94A93C}"/>
              </a:ext>
            </a:extLst>
          </p:cNvPr>
          <p:cNvSpPr>
            <a:spLocks noGrp="1"/>
          </p:cNvSpPr>
          <p:nvPr>
            <p:ph type="title"/>
          </p:nvPr>
        </p:nvSpPr>
        <p:spPr/>
        <p:txBody>
          <a:bodyPr/>
          <a:lstStyle/>
          <a:p>
            <a:r>
              <a:rPr lang="pt-BR" dirty="0"/>
              <a:t>Operação de convolução com </a:t>
            </a:r>
            <a:r>
              <a:rPr lang="pt-BR" i="1" dirty="0"/>
              <a:t>kernel</a:t>
            </a:r>
            <a:r>
              <a:rPr lang="pt-BR" dirty="0"/>
              <a:t> 3D</a:t>
            </a:r>
          </a:p>
        </p:txBody>
      </p:sp>
      <p:sp>
        <p:nvSpPr>
          <p:cNvPr id="3" name="Espaço Reservado para Conteúdo 2">
            <a:extLst>
              <a:ext uri="{FF2B5EF4-FFF2-40B4-BE49-F238E27FC236}">
                <a16:creationId xmlns:a16="http://schemas.microsoft.com/office/drawing/2014/main" id="{C6A0F2B3-45CD-847C-2A26-4FC3420E0DAB}"/>
              </a:ext>
            </a:extLst>
          </p:cNvPr>
          <p:cNvSpPr>
            <a:spLocks noGrp="1"/>
          </p:cNvSpPr>
          <p:nvPr>
            <p:ph idx="1"/>
          </p:nvPr>
        </p:nvSpPr>
        <p:spPr>
          <a:xfrm>
            <a:off x="7644810" y="1825624"/>
            <a:ext cx="4547190" cy="5032375"/>
          </a:xfrm>
        </p:spPr>
        <p:txBody>
          <a:bodyPr>
            <a:normAutofit lnSpcReduction="10000"/>
          </a:bodyPr>
          <a:lstStyle/>
          <a:p>
            <a:r>
              <a:rPr lang="pt-BR" dirty="0"/>
              <a:t>Em geral, se a imagem tem 3 dimensões, o </a:t>
            </a:r>
            <a:r>
              <a:rPr lang="pt-BR" b="1" i="1" dirty="0"/>
              <a:t>kernel</a:t>
            </a:r>
            <a:r>
              <a:rPr lang="pt-BR" dirty="0"/>
              <a:t> também terá 3 dimensões.</a:t>
            </a:r>
          </a:p>
          <a:p>
            <a:r>
              <a:rPr lang="pt-BR" dirty="0"/>
              <a:t>Nesse caso, a convolução é aplicada por canal.</a:t>
            </a:r>
          </a:p>
          <a:p>
            <a:r>
              <a:rPr lang="pt-BR" dirty="0"/>
              <a:t>Ou seja, realiza-se</a:t>
            </a:r>
            <a:r>
              <a:rPr lang="pt-BR" b="1" dirty="0">
                <a:solidFill>
                  <a:srgbClr val="00B050"/>
                </a:solidFill>
              </a:rPr>
              <a:t> 3 operações de convolução separadas </a:t>
            </a:r>
            <a:r>
              <a:rPr lang="pt-BR" dirty="0"/>
              <a:t>que têm seus </a:t>
            </a:r>
            <a:r>
              <a:rPr lang="pt-BR" b="1" dirty="0">
                <a:solidFill>
                  <a:schemeClr val="accent2"/>
                </a:solidFill>
              </a:rPr>
              <a:t>resultados somados ao final</a:t>
            </a:r>
            <a:r>
              <a:rPr lang="pt-BR" dirty="0"/>
              <a:t> para gerar a saída escalar.</a:t>
            </a:r>
          </a:p>
          <a:p>
            <a:r>
              <a:rPr lang="pt-BR" dirty="0"/>
              <a:t>No exemplo, usamos </a:t>
            </a:r>
            <a:r>
              <a:rPr lang="pt-BR" i="1" dirty="0"/>
              <a:t>stride</a:t>
            </a:r>
            <a:r>
              <a:rPr lang="pt-BR" dirty="0"/>
              <a:t> = 1.</a:t>
            </a:r>
          </a:p>
        </p:txBody>
      </p:sp>
      <p:pic>
        <p:nvPicPr>
          <p:cNvPr id="13" name="Imagem 12">
            <a:extLst>
              <a:ext uri="{FF2B5EF4-FFF2-40B4-BE49-F238E27FC236}">
                <a16:creationId xmlns:a16="http://schemas.microsoft.com/office/drawing/2014/main" id="{E9DDA8A0-1355-BFAC-FC9A-9832CE0C99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4"/>
            <a:ext cx="7304921" cy="3979905"/>
          </a:xfrm>
          <a:prstGeom prst="rect">
            <a:avLst/>
          </a:prstGeom>
        </p:spPr>
      </p:pic>
      <p:sp>
        <p:nvSpPr>
          <p:cNvPr id="5" name="Retângulo 4">
            <a:extLst>
              <a:ext uri="{FF2B5EF4-FFF2-40B4-BE49-F238E27FC236}">
                <a16:creationId xmlns:a16="http://schemas.microsoft.com/office/drawing/2014/main" id="{DC97C772-8406-C1B6-0304-9674F8F2B93F}"/>
              </a:ext>
            </a:extLst>
          </p:cNvPr>
          <p:cNvSpPr/>
          <p:nvPr/>
        </p:nvSpPr>
        <p:spPr>
          <a:xfrm>
            <a:off x="2051049" y="3327400"/>
            <a:ext cx="1263651" cy="14859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 name="Conector de Seta Reta 6">
            <a:extLst>
              <a:ext uri="{FF2B5EF4-FFF2-40B4-BE49-F238E27FC236}">
                <a16:creationId xmlns:a16="http://schemas.microsoft.com/office/drawing/2014/main" id="{99079706-A133-393C-E0A1-1E8469F76249}"/>
              </a:ext>
            </a:extLst>
          </p:cNvPr>
          <p:cNvCxnSpPr/>
          <p:nvPr/>
        </p:nvCxnSpPr>
        <p:spPr>
          <a:xfrm flipV="1">
            <a:off x="2705100" y="2238375"/>
            <a:ext cx="0" cy="10890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CaixaDeTexto 20">
            <a:extLst>
              <a:ext uri="{FF2B5EF4-FFF2-40B4-BE49-F238E27FC236}">
                <a16:creationId xmlns:a16="http://schemas.microsoft.com/office/drawing/2014/main" id="{0EF91F02-497F-821A-9933-E8520D02F4E8}"/>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Tree>
    <p:extLst>
      <p:ext uri="{BB962C8B-B14F-4D97-AF65-F5344CB8AC3E}">
        <p14:creationId xmlns:p14="http://schemas.microsoft.com/office/powerpoint/2010/main" val="35340454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AED40A-9150-74EA-1077-CBE93F94A93C}"/>
              </a:ext>
            </a:extLst>
          </p:cNvPr>
          <p:cNvSpPr>
            <a:spLocks noGrp="1"/>
          </p:cNvSpPr>
          <p:nvPr>
            <p:ph type="title"/>
          </p:nvPr>
        </p:nvSpPr>
        <p:spPr/>
        <p:txBody>
          <a:bodyPr/>
          <a:lstStyle/>
          <a:p>
            <a:r>
              <a:rPr lang="pt-BR" dirty="0"/>
              <a:t>Operação de convolução com </a:t>
            </a:r>
            <a:r>
              <a:rPr lang="pt-BR" i="1" dirty="0"/>
              <a:t>kernel</a:t>
            </a:r>
            <a:r>
              <a:rPr lang="pt-BR" dirty="0"/>
              <a:t> 3D</a:t>
            </a:r>
          </a:p>
        </p:txBody>
      </p:sp>
      <p:pic>
        <p:nvPicPr>
          <p:cNvPr id="6" name="Imagem 5">
            <a:extLst>
              <a:ext uri="{FF2B5EF4-FFF2-40B4-BE49-F238E27FC236}">
                <a16:creationId xmlns:a16="http://schemas.microsoft.com/office/drawing/2014/main" id="{B95BA9E1-3F17-F39D-AC17-14CC48F771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4"/>
            <a:ext cx="7304921" cy="3979905"/>
          </a:xfrm>
          <a:prstGeom prst="rect">
            <a:avLst/>
          </a:prstGeom>
        </p:spPr>
      </p:pic>
      <p:sp>
        <p:nvSpPr>
          <p:cNvPr id="3" name="CaixaDeTexto 20">
            <a:extLst>
              <a:ext uri="{FF2B5EF4-FFF2-40B4-BE49-F238E27FC236}">
                <a16:creationId xmlns:a16="http://schemas.microsoft.com/office/drawing/2014/main" id="{4B93931E-D42C-0ED5-94E1-C02BB46A95CD}"/>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
        <p:nvSpPr>
          <p:cNvPr id="4" name="Espaço Reservado para Conteúdo 2">
            <a:extLst>
              <a:ext uri="{FF2B5EF4-FFF2-40B4-BE49-F238E27FC236}">
                <a16:creationId xmlns:a16="http://schemas.microsoft.com/office/drawing/2014/main" id="{49D73C8F-DA5E-B25C-664A-DD35CA4402F9}"/>
              </a:ext>
            </a:extLst>
          </p:cNvPr>
          <p:cNvSpPr>
            <a:spLocks noGrp="1"/>
          </p:cNvSpPr>
          <p:nvPr>
            <p:ph idx="1"/>
          </p:nvPr>
        </p:nvSpPr>
        <p:spPr>
          <a:xfrm>
            <a:off x="7644810" y="1825624"/>
            <a:ext cx="4547190" cy="5032375"/>
          </a:xfrm>
        </p:spPr>
        <p:txBody>
          <a:bodyPr>
            <a:normAutofit/>
          </a:bodyPr>
          <a:lstStyle/>
          <a:p>
            <a:r>
              <a:rPr lang="pt-BR" dirty="0"/>
              <a:t>Move-se a janela de convolução 1 elemento para a direita e calcula-se as 3 convoluções.</a:t>
            </a:r>
          </a:p>
          <a:p>
            <a:r>
              <a:rPr lang="pt-BR" dirty="0"/>
              <a:t>Ao final, soma-se os 3 escalares resultantes das 3 convoluções para gerar o elemento do mapa de ativações.</a:t>
            </a:r>
          </a:p>
        </p:txBody>
      </p:sp>
    </p:spTree>
    <p:extLst>
      <p:ext uri="{BB962C8B-B14F-4D97-AF65-F5344CB8AC3E}">
        <p14:creationId xmlns:p14="http://schemas.microsoft.com/office/powerpoint/2010/main" val="744138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AED40A-9150-74EA-1077-CBE93F94A93C}"/>
              </a:ext>
            </a:extLst>
          </p:cNvPr>
          <p:cNvSpPr>
            <a:spLocks noGrp="1"/>
          </p:cNvSpPr>
          <p:nvPr>
            <p:ph type="title"/>
          </p:nvPr>
        </p:nvSpPr>
        <p:spPr/>
        <p:txBody>
          <a:bodyPr/>
          <a:lstStyle/>
          <a:p>
            <a:r>
              <a:rPr lang="pt-BR" dirty="0"/>
              <a:t>Operação de convolução com </a:t>
            </a:r>
            <a:r>
              <a:rPr lang="pt-BR" i="1" dirty="0"/>
              <a:t>kernel</a:t>
            </a:r>
            <a:r>
              <a:rPr lang="pt-BR" dirty="0"/>
              <a:t> 3D</a:t>
            </a:r>
          </a:p>
        </p:txBody>
      </p:sp>
      <p:pic>
        <p:nvPicPr>
          <p:cNvPr id="7" name="Imagem 6">
            <a:extLst>
              <a:ext uri="{FF2B5EF4-FFF2-40B4-BE49-F238E27FC236}">
                <a16:creationId xmlns:a16="http://schemas.microsoft.com/office/drawing/2014/main" id="{8328A394-0A85-EDFE-CA32-E04993577F8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3"/>
            <a:ext cx="7304921" cy="3979905"/>
          </a:xfrm>
          <a:prstGeom prst="rect">
            <a:avLst/>
          </a:prstGeom>
        </p:spPr>
      </p:pic>
      <p:sp>
        <p:nvSpPr>
          <p:cNvPr id="3" name="CaixaDeTexto 20">
            <a:extLst>
              <a:ext uri="{FF2B5EF4-FFF2-40B4-BE49-F238E27FC236}">
                <a16:creationId xmlns:a16="http://schemas.microsoft.com/office/drawing/2014/main" id="{03C80EAD-7AF7-51C6-4B38-401848F68054}"/>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Tree>
    <p:extLst>
      <p:ext uri="{BB962C8B-B14F-4D97-AF65-F5344CB8AC3E}">
        <p14:creationId xmlns:p14="http://schemas.microsoft.com/office/powerpoint/2010/main" val="12590310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AED40A-9150-74EA-1077-CBE93F94A93C}"/>
              </a:ext>
            </a:extLst>
          </p:cNvPr>
          <p:cNvSpPr>
            <a:spLocks noGrp="1"/>
          </p:cNvSpPr>
          <p:nvPr>
            <p:ph type="title"/>
          </p:nvPr>
        </p:nvSpPr>
        <p:spPr/>
        <p:txBody>
          <a:bodyPr/>
          <a:lstStyle/>
          <a:p>
            <a:r>
              <a:rPr lang="pt-BR" dirty="0"/>
              <a:t>Operação de convolução com </a:t>
            </a:r>
            <a:r>
              <a:rPr lang="pt-BR" i="1" dirty="0"/>
              <a:t>kernel</a:t>
            </a:r>
            <a:r>
              <a:rPr lang="pt-BR" dirty="0"/>
              <a:t> 3D</a:t>
            </a:r>
          </a:p>
        </p:txBody>
      </p:sp>
      <p:pic>
        <p:nvPicPr>
          <p:cNvPr id="5" name="Imagem 4">
            <a:extLst>
              <a:ext uri="{FF2B5EF4-FFF2-40B4-BE49-F238E27FC236}">
                <a16:creationId xmlns:a16="http://schemas.microsoft.com/office/drawing/2014/main" id="{AD1132E5-99A1-3663-0FB9-B583CE1825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146" y="1825623"/>
            <a:ext cx="7512261" cy="3979905"/>
          </a:xfrm>
          <a:prstGeom prst="rect">
            <a:avLst/>
          </a:prstGeom>
        </p:spPr>
      </p:pic>
      <p:sp>
        <p:nvSpPr>
          <p:cNvPr id="3" name="CaixaDeTexto 20">
            <a:extLst>
              <a:ext uri="{FF2B5EF4-FFF2-40B4-BE49-F238E27FC236}">
                <a16:creationId xmlns:a16="http://schemas.microsoft.com/office/drawing/2014/main" id="{21156CD9-2A20-8933-E7C2-5E155936BC77}"/>
              </a:ext>
            </a:extLst>
          </p:cNvPr>
          <p:cNvSpPr txBox="1"/>
          <p:nvPr/>
        </p:nvSpPr>
        <p:spPr>
          <a:xfrm>
            <a:off x="3895243" y="1825624"/>
            <a:ext cx="870606" cy="369332"/>
          </a:xfrm>
          <a:prstGeom prst="rect">
            <a:avLst/>
          </a:prstGeom>
          <a:solidFill>
            <a:schemeClr val="bg1"/>
          </a:solidFill>
        </p:spPr>
        <p:txBody>
          <a:bodyPr wrap="square" rtlCol="0">
            <a:spAutoFit/>
          </a:bodyPr>
          <a:lstStyle/>
          <a:p>
            <a:pPr algn="ctr"/>
            <a:r>
              <a:rPr lang="pt-BR" dirty="0"/>
              <a:t>Input</a:t>
            </a:r>
          </a:p>
        </p:txBody>
      </p:sp>
      <p:sp>
        <p:nvSpPr>
          <p:cNvPr id="4" name="Espaço Reservado para Conteúdo 2">
            <a:extLst>
              <a:ext uri="{FF2B5EF4-FFF2-40B4-BE49-F238E27FC236}">
                <a16:creationId xmlns:a16="http://schemas.microsoft.com/office/drawing/2014/main" id="{48759458-B897-4B64-C83F-764BD728F86B}"/>
              </a:ext>
            </a:extLst>
          </p:cNvPr>
          <p:cNvSpPr>
            <a:spLocks noGrp="1"/>
          </p:cNvSpPr>
          <p:nvPr>
            <p:ph idx="1"/>
          </p:nvPr>
        </p:nvSpPr>
        <p:spPr>
          <a:xfrm>
            <a:off x="7756634" y="1825624"/>
            <a:ext cx="4435365" cy="5032375"/>
          </a:xfrm>
        </p:spPr>
        <p:txBody>
          <a:bodyPr>
            <a:normAutofit/>
          </a:bodyPr>
          <a:lstStyle/>
          <a:p>
            <a:r>
              <a:rPr lang="pt-BR" dirty="0"/>
              <a:t>Repete-se as convoluções até que toda a imagem ou saída da camada anterior seja processada.</a:t>
            </a:r>
          </a:p>
          <a:p>
            <a:r>
              <a:rPr lang="pt-BR" dirty="0"/>
              <a:t>Ao final temos </a:t>
            </a:r>
            <a:r>
              <a:rPr lang="pt-BR" b="1" dirty="0">
                <a:solidFill>
                  <a:srgbClr val="7030A0"/>
                </a:solidFill>
              </a:rPr>
              <a:t>apenas um </a:t>
            </a:r>
            <a:r>
              <a:rPr lang="pt-BR" b="1" dirty="0">
                <a:solidFill>
                  <a:schemeClr val="accent2"/>
                </a:solidFill>
              </a:rPr>
              <a:t>mapa de características</a:t>
            </a:r>
            <a:r>
              <a:rPr lang="pt-BR" dirty="0"/>
              <a:t>.</a:t>
            </a:r>
          </a:p>
        </p:txBody>
      </p:sp>
    </p:spTree>
    <p:extLst>
      <p:ext uri="{BB962C8B-B14F-4D97-AF65-F5344CB8AC3E}">
        <p14:creationId xmlns:p14="http://schemas.microsoft.com/office/powerpoint/2010/main" val="19840035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D62605-F9D3-9FD1-932C-7BF94AAF5856}"/>
              </a:ext>
            </a:extLst>
          </p:cNvPr>
          <p:cNvSpPr>
            <a:spLocks noGrp="1"/>
          </p:cNvSpPr>
          <p:nvPr>
            <p:ph type="title"/>
          </p:nvPr>
        </p:nvSpPr>
        <p:spPr/>
        <p:txBody>
          <a:bodyPr/>
          <a:lstStyle/>
          <a:p>
            <a:r>
              <a:rPr lang="pt-BR" i="1" dirty="0"/>
              <a:t>Kernels</a:t>
            </a:r>
            <a:r>
              <a:rPr lang="pt-BR" dirty="0"/>
              <a:t> diferentes para características diferentes</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3BE326F2-E03D-F00D-0FFA-8DB73E53DA3E}"/>
                  </a:ext>
                </a:extLst>
              </p:cNvPr>
              <p:cNvSpPr>
                <a:spLocks noGrp="1"/>
              </p:cNvSpPr>
              <p:nvPr>
                <p:ph idx="1"/>
              </p:nvPr>
            </p:nvSpPr>
            <p:spPr>
              <a:xfrm>
                <a:off x="6485860" y="1825624"/>
                <a:ext cx="5706140" cy="5032375"/>
              </a:xfrm>
            </p:spPr>
            <p:txBody>
              <a:bodyPr>
                <a:normAutofit lnSpcReduction="10000"/>
              </a:bodyPr>
              <a:lstStyle/>
              <a:p>
                <a:r>
                  <a:rPr lang="pt-BR" dirty="0"/>
                  <a:t>Em geral, cada </a:t>
                </a:r>
                <a:r>
                  <a:rPr lang="pt-BR" b="1" dirty="0">
                    <a:solidFill>
                      <a:srgbClr val="00B050"/>
                    </a:solidFill>
                  </a:rPr>
                  <a:t>camada convolucional possui </a:t>
                </a:r>
                <a:r>
                  <a:rPr lang="pt-BR" b="1" dirty="0">
                    <a:solidFill>
                      <a:srgbClr val="7030A0"/>
                    </a:solidFill>
                  </a:rPr>
                  <a:t>vários</a:t>
                </a:r>
                <a:r>
                  <a:rPr lang="pt-BR" b="1" dirty="0">
                    <a:solidFill>
                      <a:srgbClr val="00B050"/>
                    </a:solidFill>
                  </a:rPr>
                  <a:t> </a:t>
                </a:r>
                <a:r>
                  <a:rPr lang="pt-BR" b="1" i="1" dirty="0">
                    <a:solidFill>
                      <a:srgbClr val="00B050"/>
                    </a:solidFill>
                  </a:rPr>
                  <a:t>kernels</a:t>
                </a:r>
                <a:r>
                  <a:rPr lang="pt-BR" dirty="0"/>
                  <a:t>.</a:t>
                </a:r>
              </a:p>
              <a:p>
                <a:r>
                  <a:rPr lang="pt-BR" dirty="0"/>
                  <a:t>Cada </a:t>
                </a:r>
                <a:r>
                  <a:rPr lang="pt-BR" b="1" i="1" dirty="0">
                    <a:solidFill>
                      <a:srgbClr val="7030A0"/>
                    </a:solidFill>
                  </a:rPr>
                  <a:t>kernel</a:t>
                </a:r>
                <a:r>
                  <a:rPr lang="pt-BR" b="1" dirty="0">
                    <a:solidFill>
                      <a:srgbClr val="7030A0"/>
                    </a:solidFill>
                  </a:rPr>
                  <a:t> detecta </a:t>
                </a:r>
                <a:r>
                  <a:rPr lang="pt-BR" b="1" dirty="0">
                    <a:solidFill>
                      <a:schemeClr val="accent2"/>
                    </a:solidFill>
                  </a:rPr>
                  <a:t>uma característica diferente</a:t>
                </a:r>
                <a:r>
                  <a:rPr lang="pt-BR" dirty="0"/>
                  <a:t>.</a:t>
                </a:r>
              </a:p>
              <a:p>
                <a:r>
                  <a:rPr lang="pt-BR" dirty="0"/>
                  <a:t>O resultado da </a:t>
                </a:r>
                <a:r>
                  <a:rPr lang="pt-BR" b="1" dirty="0">
                    <a:solidFill>
                      <a:schemeClr val="accent1"/>
                    </a:solidFill>
                  </a:rPr>
                  <a:t>convolução com cada </a:t>
                </a:r>
                <a:r>
                  <a:rPr lang="pt-BR" b="1" i="1" dirty="0">
                    <a:solidFill>
                      <a:schemeClr val="accent1"/>
                    </a:solidFill>
                  </a:rPr>
                  <a:t>kernel</a:t>
                </a:r>
                <a:r>
                  <a:rPr lang="pt-BR" b="1" dirty="0">
                    <a:solidFill>
                      <a:schemeClr val="accent1"/>
                    </a:solidFill>
                  </a:rPr>
                  <a:t> tem um valor de </a:t>
                </a:r>
                <a:r>
                  <a:rPr lang="pt-BR" b="1" i="1" dirty="0">
                    <a:solidFill>
                      <a:schemeClr val="accent1"/>
                    </a:solidFill>
                  </a:rPr>
                  <a:t>bias</a:t>
                </a:r>
                <a:r>
                  <a:rPr lang="pt-BR" b="1" dirty="0">
                    <a:solidFill>
                      <a:schemeClr val="accent1"/>
                    </a:solidFill>
                  </a:rPr>
                  <a:t> somado</a:t>
                </a:r>
                <a:r>
                  <a:rPr lang="pt-BR" dirty="0"/>
                  <a:t> a ele e o resultado é passado por uma função de ativação,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a:t>
                </a:r>
              </a:p>
              <a:p>
                <a:r>
                  <a:rPr lang="pt-BR" dirty="0"/>
                  <a:t>A saída da camada é o resultado do </a:t>
                </a:r>
                <a:r>
                  <a:rPr lang="pt-BR" b="1" dirty="0">
                    <a:solidFill>
                      <a:schemeClr val="accent2"/>
                    </a:solidFill>
                  </a:rPr>
                  <a:t>empilhamento</a:t>
                </a:r>
                <a:r>
                  <a:rPr lang="pt-BR" b="1" dirty="0"/>
                  <a:t> </a:t>
                </a:r>
                <a:r>
                  <a:rPr lang="pt-BR" dirty="0"/>
                  <a:t>dos mapas de características de todos os </a:t>
                </a:r>
                <a:r>
                  <a:rPr lang="pt-BR" i="1" dirty="0"/>
                  <a:t>kernels</a:t>
                </a:r>
                <a:r>
                  <a:rPr lang="pt-BR" dirty="0"/>
                  <a:t> da camada.</a:t>
                </a:r>
              </a:p>
            </p:txBody>
          </p:sp>
        </mc:Choice>
        <mc:Fallback>
          <p:sp>
            <p:nvSpPr>
              <p:cNvPr id="3" name="Espaço Reservado para Conteúdo 2">
                <a:extLst>
                  <a:ext uri="{FF2B5EF4-FFF2-40B4-BE49-F238E27FC236}">
                    <a16:creationId xmlns:a16="http://schemas.microsoft.com/office/drawing/2014/main" id="{3BE326F2-E03D-F00D-0FFA-8DB73E53DA3E}"/>
                  </a:ext>
                </a:extLst>
              </p:cNvPr>
              <p:cNvSpPr>
                <a:spLocks noGrp="1" noRot="1" noChangeAspect="1" noMove="1" noResize="1" noEditPoints="1" noAdjustHandles="1" noChangeArrowheads="1" noChangeShapeType="1" noTextEdit="1"/>
              </p:cNvSpPr>
              <p:nvPr>
                <p:ph idx="1"/>
              </p:nvPr>
            </p:nvSpPr>
            <p:spPr>
              <a:xfrm>
                <a:off x="6485860" y="1825624"/>
                <a:ext cx="5706140" cy="5032375"/>
              </a:xfrm>
              <a:blipFill>
                <a:blip r:embed="rId3"/>
                <a:stretch>
                  <a:fillRect l="-1923" t="-2663" r="-1175" b="-1211"/>
                </a:stretch>
              </a:blipFill>
            </p:spPr>
            <p:txBody>
              <a:bodyPr/>
              <a:lstStyle/>
              <a:p>
                <a:r>
                  <a:rPr lang="en-US">
                    <a:noFill/>
                  </a:rPr>
                  <a:t> </a:t>
                </a:r>
              </a:p>
            </p:txBody>
          </p:sp>
        </mc:Fallback>
      </mc:AlternateContent>
      <p:pic>
        <p:nvPicPr>
          <p:cNvPr id="5" name="Imagem 4">
            <a:extLst>
              <a:ext uri="{FF2B5EF4-FFF2-40B4-BE49-F238E27FC236}">
                <a16:creationId xmlns:a16="http://schemas.microsoft.com/office/drawing/2014/main" id="{29BAA618-7159-6FB0-177B-6EB8D11213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084" y="2192097"/>
            <a:ext cx="6244591" cy="4337353"/>
          </a:xfrm>
          <a:prstGeom prst="rect">
            <a:avLst/>
          </a:prstGeom>
        </p:spPr>
      </p:pic>
    </p:spTree>
    <p:extLst>
      <p:ext uri="{BB962C8B-B14F-4D97-AF65-F5344CB8AC3E}">
        <p14:creationId xmlns:p14="http://schemas.microsoft.com/office/powerpoint/2010/main" val="40003729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Função de ativação</a:t>
            </a:r>
          </a:p>
        </p:txBody>
      </p:sp>
      <p:sp>
        <p:nvSpPr>
          <p:cNvPr id="3" name="Espaço Reservado para Conteúdo 2"/>
          <p:cNvSpPr>
            <a:spLocks noGrp="1"/>
          </p:cNvSpPr>
          <p:nvPr>
            <p:ph idx="1"/>
          </p:nvPr>
        </p:nvSpPr>
        <p:spPr>
          <a:xfrm>
            <a:off x="5064368" y="1825624"/>
            <a:ext cx="7127631" cy="5032375"/>
          </a:xfrm>
        </p:spPr>
        <p:txBody>
          <a:bodyPr>
            <a:normAutofit/>
          </a:bodyPr>
          <a:lstStyle/>
          <a:p>
            <a:r>
              <a:rPr lang="pt-BR" noProof="0" dirty="0"/>
              <a:t>A função de ativação introduz não linearidade.</a:t>
            </a:r>
          </a:p>
          <a:p>
            <a:pPr lvl="1">
              <a:buFont typeface="Wingdings" panose="05000000000000000000" pitchFamily="2" charset="2"/>
              <a:buChar char="§"/>
            </a:pPr>
            <a:r>
              <a:rPr lang="pt-BR" dirty="0"/>
              <a:t>Com ela, a rede aprende </a:t>
            </a:r>
            <a:r>
              <a:rPr lang="pt-BR" b="1" dirty="0">
                <a:solidFill>
                  <a:srgbClr val="00B0F0"/>
                </a:solidFill>
              </a:rPr>
              <a:t>relações complexas e não lineares entre as características</a:t>
            </a:r>
            <a:r>
              <a:rPr lang="pt-BR" dirty="0"/>
              <a:t>.</a:t>
            </a:r>
            <a:endParaRPr lang="pt-BR" noProof="0" dirty="0"/>
          </a:p>
          <a:p>
            <a:r>
              <a:rPr lang="pt-BR" noProof="0" dirty="0"/>
              <a:t>Ela é aplicada diretamente ao mapa de características </a:t>
            </a:r>
            <a:r>
              <a:rPr lang="pt-BR" b="1" noProof="0" dirty="0">
                <a:solidFill>
                  <a:schemeClr val="accent2"/>
                </a:solidFill>
              </a:rPr>
              <a:t>elemento a elemento</a:t>
            </a:r>
            <a:r>
              <a:rPr lang="pt-BR" noProof="0" dirty="0"/>
              <a:t>.</a:t>
            </a:r>
          </a:p>
          <a:p>
            <a:r>
              <a:rPr lang="pt-BR" dirty="0"/>
              <a:t>Ou seja,</a:t>
            </a:r>
            <a:r>
              <a:rPr lang="pt-BR" noProof="0" dirty="0"/>
              <a:t> cada valor do mapa é transformado individualmente pela função de ativação.</a:t>
            </a:r>
          </a:p>
          <a:p>
            <a:r>
              <a:rPr lang="pt-BR" noProof="0" dirty="0"/>
              <a:t>Em geral, como </a:t>
            </a:r>
            <a:r>
              <a:rPr lang="pt-BR" b="1" noProof="0" dirty="0">
                <a:solidFill>
                  <a:srgbClr val="7030A0"/>
                </a:solidFill>
              </a:rPr>
              <a:t>CNNs tendem a ter muitas camadas</a:t>
            </a:r>
            <a:r>
              <a:rPr lang="pt-BR" noProof="0" dirty="0"/>
              <a:t>, para evitar o </a:t>
            </a:r>
            <a:r>
              <a:rPr lang="pt-BR" b="1" noProof="0" dirty="0">
                <a:solidFill>
                  <a:srgbClr val="0070C0"/>
                </a:solidFill>
              </a:rPr>
              <a:t>desaparecimento do gradiente</a:t>
            </a:r>
            <a:r>
              <a:rPr lang="pt-BR" noProof="0" dirty="0"/>
              <a:t>, se usa funções de ativação do tipo </a:t>
            </a:r>
            <a:r>
              <a:rPr lang="pt-BR" noProof="0" dirty="0" err="1"/>
              <a:t>ReLU</a:t>
            </a:r>
            <a:r>
              <a:rPr lang="pt-BR" noProof="0" dirty="0"/>
              <a:t> ou suas variantes.</a:t>
            </a:r>
          </a:p>
        </p:txBody>
      </p:sp>
      <p:grpSp>
        <p:nvGrpSpPr>
          <p:cNvPr id="10" name="Grupo 9"/>
          <p:cNvGrpSpPr/>
          <p:nvPr/>
        </p:nvGrpSpPr>
        <p:grpSpPr>
          <a:xfrm>
            <a:off x="1313087" y="2119470"/>
            <a:ext cx="2029338" cy="3716340"/>
            <a:chOff x="1328327" y="1936590"/>
            <a:chExt cx="2029338" cy="3716340"/>
          </a:xfrm>
        </p:grpSpPr>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151DFBB2-EF9C-90CA-2CC0-A48170E71137}"/>
                    </a:ext>
                  </a:extLst>
                </p:cNvPr>
                <p:cNvGraphicFramePr>
                  <a:graphicFrameLocks/>
                </p:cNvGraphicFramePr>
                <p:nvPr>
                  <p:extLst>
                    <p:ext uri="{D42A27DB-BD31-4B8C-83A1-F6EECF244321}">
                      <p14:modId xmlns:p14="http://schemas.microsoft.com/office/powerpoint/2010/main" val="3705834902"/>
                    </p:ext>
                  </p:extLst>
                </p:nvPr>
              </p:nvGraphicFramePr>
              <p:xfrm>
                <a:off x="1662342" y="2305922"/>
                <a:ext cx="1370418" cy="986616"/>
              </p:xfrm>
              <a:graphic>
                <a:graphicData uri="http://schemas.openxmlformats.org/drawingml/2006/table">
                  <a:tbl>
                    <a:tblPr firstRow="1" bandRow="1">
                      <a:tableStyleId>{5C22544A-7EE6-4342-B048-85BDC9FD1C3A}</a:tableStyleId>
                    </a:tblPr>
                    <a:tblGrid>
                      <a:gridCol w="685209">
                        <a:extLst>
                          <a:ext uri="{9D8B030D-6E8A-4147-A177-3AD203B41FA5}">
                            <a16:colId xmlns:a16="http://schemas.microsoft.com/office/drawing/2014/main" val="3650072185"/>
                          </a:ext>
                        </a:extLst>
                      </a:gridCol>
                      <a:gridCol w="685209">
                        <a:extLst>
                          <a:ext uri="{9D8B030D-6E8A-4147-A177-3AD203B41FA5}">
                            <a16:colId xmlns:a16="http://schemas.microsoft.com/office/drawing/2014/main" val="1992468736"/>
                          </a:ext>
                        </a:extLst>
                      </a:gridCol>
                    </a:tblGrid>
                    <a:tr h="498238">
                      <a:tc>
                        <a:txBody>
                          <a:bodyPr/>
                          <a:lstStyle/>
                          <a:p>
                            <a:pPr algn="ctr"/>
                            <a:r>
                              <a:rPr lang="pt-BR" b="0" dirty="0">
                                <a:solidFill>
                                  <a:schemeClr val="tx1"/>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488378">
                      <a:tc>
                        <a:txBody>
                          <a:bodyPr/>
                          <a:lstStyle/>
                          <a:p>
                            <a:pPr algn="ctr"/>
                            <a:r>
                              <a:rPr lang="pt-BR" sz="1800" b="0" kern="1200" dirty="0">
                                <a:solidFill>
                                  <a:schemeClr val="tx1"/>
                                </a:solidFill>
                                <a:latin typeface="+mn-lt"/>
                                <a:ea typeface="+mn-ea"/>
                                <a:cs typeface="+mn-cs"/>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4" name="Tabela 4">
                  <a:extLst>
                    <a:ext uri="{FF2B5EF4-FFF2-40B4-BE49-F238E27FC236}">
                      <a16:creationId xmlns:a16="http://schemas.microsoft.com/office/drawing/2014/main" xmlns:a14="http://schemas.microsoft.com/office/drawing/2010/main" xmlns="" id="{151DFBB2-EF9C-90CA-2CC0-A48170E71137}"/>
                    </a:ext>
                  </a:extLst>
                </p:cNvPr>
                <p:cNvGraphicFramePr>
                  <a:graphicFrameLocks/>
                </p:cNvGraphicFramePr>
                <p:nvPr>
                  <p:extLst>
                    <p:ext uri="{D42A27DB-BD31-4B8C-83A1-F6EECF244321}">
                      <p14:modId xmlns:p14="http://schemas.microsoft.com/office/powerpoint/2010/main" val="3705834902"/>
                    </p:ext>
                  </p:extLst>
                </p:nvPr>
              </p:nvGraphicFramePr>
              <p:xfrm>
                <a:off x="1662342" y="2305922"/>
                <a:ext cx="1370418" cy="986616"/>
              </p:xfrm>
              <a:graphic>
                <a:graphicData uri="http://schemas.openxmlformats.org/drawingml/2006/table">
                  <a:tbl>
                    <a:tblPr firstRow="1" bandRow="1">
                      <a:tableStyleId>{5C22544A-7EE6-4342-B048-85BDC9FD1C3A}</a:tableStyleId>
                    </a:tblPr>
                    <a:tblGrid>
                      <a:gridCol w="685209">
                        <a:extLst>
                          <a:ext uri="{9D8B030D-6E8A-4147-A177-3AD203B41FA5}">
                            <a16:colId xmlns:a16="http://schemas.microsoft.com/office/drawing/2014/main" xmlns:a14="http://schemas.microsoft.com/office/drawing/2010/main" xmlns="" val="3650072185"/>
                          </a:ext>
                        </a:extLst>
                      </a:gridCol>
                      <a:gridCol w="685209">
                        <a:extLst>
                          <a:ext uri="{9D8B030D-6E8A-4147-A177-3AD203B41FA5}">
                            <a16:colId xmlns:a16="http://schemas.microsoft.com/office/drawing/2014/main" xmlns:a14="http://schemas.microsoft.com/office/drawing/2010/main" xmlns="" val="1992468736"/>
                          </a:ext>
                        </a:extLst>
                      </a:gridCol>
                    </a:tblGrid>
                    <a:tr h="498238">
                      <a:tc>
                        <a:txBody>
                          <a:bodyPr/>
                          <a:lstStyle/>
                          <a:p>
                            <a:pPr algn="ctr"/>
                            <a:r>
                              <a:rPr lang="pt-BR" b="0" dirty="0">
                                <a:solidFill>
                                  <a:schemeClr val="tx1"/>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823648222"/>
                        </a:ext>
                      </a:extLst>
                    </a:tr>
                    <a:tr h="488378">
                      <a:tc>
                        <a:txBody>
                          <a:bodyPr/>
                          <a:lstStyle/>
                          <a:p>
                            <a:pPr algn="ctr"/>
                            <a:r>
                              <a:rPr lang="pt-BR" sz="1800" b="0" kern="1200" dirty="0">
                                <a:solidFill>
                                  <a:schemeClr val="tx1"/>
                                </a:solidFill>
                                <a:latin typeface="+mn-lt"/>
                                <a:ea typeface="+mn-ea"/>
                                <a:cs typeface="+mn-cs"/>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505587699"/>
                        </a:ext>
                      </a:extLst>
                    </a:tr>
                  </a:tbl>
                </a:graphicData>
              </a:graphic>
            </p:graphicFrame>
          </mc:Fallback>
        </mc:AlternateContent>
        <mc:AlternateContent xmlns:mc="http://schemas.openxmlformats.org/markup-compatibility/2006" xmlns:a14="http://schemas.microsoft.com/office/drawing/2010/main">
          <mc:Choice Requires="a14">
            <p:sp>
              <p:nvSpPr>
                <p:cNvPr id="5" name="CaixaDeTexto 4"/>
                <p:cNvSpPr txBox="1"/>
                <p:nvPr/>
              </p:nvSpPr>
              <p:spPr>
                <a:xfrm>
                  <a:off x="1552429" y="1936590"/>
                  <a:ext cx="1681614" cy="369332"/>
                </a:xfrm>
                <a:prstGeom prst="rect">
                  <a:avLst/>
                </a:prstGeom>
                <a:noFill/>
              </p:spPr>
              <p:txBody>
                <a:bodyPr wrap="none" rtlCol="0">
                  <a:spAutoFit/>
                </a:bodyPr>
                <a:lstStyle/>
                <a:p>
                  <a:r>
                    <a:rPr lang="pt-BR" i="1" dirty="0"/>
                    <a:t>Feature </a:t>
                  </a:r>
                  <a:r>
                    <a:rPr lang="pt-BR" i="1" dirty="0" err="1"/>
                    <a:t>map</a:t>
                  </a:r>
                  <a:r>
                    <a:rPr lang="pt-BR" i="1" dirty="0"/>
                    <a:t>, </a:t>
                  </a:r>
                  <a14:m>
                    <m:oMath xmlns:m="http://schemas.openxmlformats.org/officeDocument/2006/math">
                      <m:r>
                        <a:rPr lang="pt-BR" i="1">
                          <a:latin typeface="Cambria Math" panose="02040503050406030204" pitchFamily="18" charset="0"/>
                        </a:rPr>
                        <m:t>𝑀</m:t>
                      </m:r>
                    </m:oMath>
                  </a14:m>
                  <a:endParaRPr lang="pt-BR" dirty="0"/>
                </a:p>
              </p:txBody>
            </p:sp>
          </mc:Choice>
          <mc:Fallback xmlns="">
            <p:sp>
              <p:nvSpPr>
                <p:cNvPr id="5" name="CaixaDeTexto 4"/>
                <p:cNvSpPr txBox="1">
                  <a:spLocks noRot="1" noChangeAspect="1" noMove="1" noResize="1" noEditPoints="1" noAdjustHandles="1" noChangeArrowheads="1" noChangeShapeType="1" noTextEdit="1"/>
                </p:cNvSpPr>
                <p:nvPr/>
              </p:nvSpPr>
              <p:spPr>
                <a:xfrm>
                  <a:off x="1552429" y="1936590"/>
                  <a:ext cx="1681614" cy="369332"/>
                </a:xfrm>
                <a:prstGeom prst="rect">
                  <a:avLst/>
                </a:prstGeom>
                <a:blipFill>
                  <a:blip r:embed="rId2"/>
                  <a:stretch>
                    <a:fillRect l="-2899"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aixaDeTexto 5"/>
                <p:cNvSpPr txBox="1"/>
                <p:nvPr/>
              </p:nvSpPr>
              <p:spPr>
                <a:xfrm>
                  <a:off x="1328327" y="3838332"/>
                  <a:ext cx="2029338" cy="369332"/>
                </a:xfrm>
                <a:prstGeom prst="rect">
                  <a:avLst/>
                </a:prstGeom>
                <a:noFill/>
              </p:spPr>
              <p:txBody>
                <a:bodyPr wrap="none" rtlCol="0">
                  <a:spAutoFit/>
                </a:bodyPr>
                <a:lstStyle/>
                <a:p>
                  <a14:m>
                    <m:oMath xmlns:m="http://schemas.openxmlformats.org/officeDocument/2006/math">
                      <m:r>
                        <a:rPr lang="pt-BR" b="0" i="1" smtClean="0">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𝑀</m:t>
                          </m:r>
                        </m:e>
                      </m:d>
                      <m:r>
                        <a:rPr lang="pt-BR" b="0" i="1" smtClean="0">
                          <a:latin typeface="Cambria Math" panose="02040503050406030204" pitchFamily="18" charset="0"/>
                        </a:rPr>
                        <m:t>=</m:t>
                      </m:r>
                    </m:oMath>
                  </a14:m>
                  <a:r>
                    <a:rPr lang="pt-BR" dirty="0"/>
                    <a:t> </a:t>
                  </a:r>
                  <a14:m>
                    <m:oMath xmlns:m="http://schemas.openxmlformats.org/officeDocument/2006/math">
                      <m:r>
                        <m:rPr>
                          <m:sty m:val="p"/>
                        </m:rPr>
                        <a:rPr lang="pt-BR" b="0" i="0" smtClean="0">
                          <a:latin typeface="Cambria Math" panose="02040503050406030204" pitchFamily="18" charset="0"/>
                        </a:rPr>
                        <m:t>max</m:t>
                      </m:r>
                      <m:r>
                        <a:rPr lang="pt-BR" b="0" i="1" smtClean="0">
                          <a:latin typeface="Cambria Math" panose="02040503050406030204" pitchFamily="18" charset="0"/>
                        </a:rPr>
                        <m:t>⁡(0, </m:t>
                      </m:r>
                      <m:r>
                        <a:rPr lang="pt-BR" b="0" i="1" smtClean="0">
                          <a:latin typeface="Cambria Math" panose="02040503050406030204" pitchFamily="18" charset="0"/>
                        </a:rPr>
                        <m:t>𝑀</m:t>
                      </m:r>
                      <m:r>
                        <a:rPr lang="pt-BR" b="0" i="1" smtClean="0">
                          <a:latin typeface="Cambria Math" panose="02040503050406030204" pitchFamily="18" charset="0"/>
                        </a:rPr>
                        <m:t>)</m:t>
                      </m:r>
                    </m:oMath>
                  </a14:m>
                  <a:endParaRPr lang="pt-BR" dirty="0"/>
                </a:p>
              </p:txBody>
            </p:sp>
          </mc:Choice>
          <mc:Fallback xmlns="">
            <p:sp>
              <p:nvSpPr>
                <p:cNvPr id="6" name="CaixaDeTexto 5"/>
                <p:cNvSpPr txBox="1">
                  <a:spLocks noRot="1" noChangeAspect="1" noMove="1" noResize="1" noEditPoints="1" noAdjustHandles="1" noChangeArrowheads="1" noChangeShapeType="1" noTextEdit="1"/>
                </p:cNvSpPr>
                <p:nvPr/>
              </p:nvSpPr>
              <p:spPr>
                <a:xfrm>
                  <a:off x="1328327" y="3838332"/>
                  <a:ext cx="2029338" cy="369332"/>
                </a:xfrm>
                <a:prstGeom prst="rect">
                  <a:avLst/>
                </a:prstGeom>
                <a:blipFill>
                  <a:blip r:embed="rId3"/>
                  <a:stretch>
                    <a:fillRect l="-901" b="-13333"/>
                  </a:stretch>
                </a:blipFill>
              </p:spPr>
              <p:txBody>
                <a:bodyPr/>
                <a:lstStyle/>
                <a:p>
                  <a:r>
                    <a:rPr lang="en-US">
                      <a:noFill/>
                    </a:rPr>
                    <a:t> </a:t>
                  </a:r>
                </a:p>
              </p:txBody>
            </p:sp>
          </mc:Fallback>
        </mc:AlternateContent>
        <p:sp>
          <p:nvSpPr>
            <p:cNvPr id="7" name="Seta para a direita 6"/>
            <p:cNvSpPr/>
            <p:nvPr/>
          </p:nvSpPr>
          <p:spPr>
            <a:xfrm rot="5400000">
              <a:off x="2167435" y="3487532"/>
              <a:ext cx="320040" cy="2743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graphicFrame>
              <p:nvGraphicFramePr>
                <p:cNvPr id="8" name="Tabela 4">
                  <a:extLst>
                    <a:ext uri="{FF2B5EF4-FFF2-40B4-BE49-F238E27FC236}">
                      <a16:creationId xmlns:a16="http://schemas.microsoft.com/office/drawing/2014/main" id="{151DFBB2-EF9C-90CA-2CC0-A48170E71137}"/>
                    </a:ext>
                  </a:extLst>
                </p:cNvPr>
                <p:cNvGraphicFramePr>
                  <a:graphicFrameLocks/>
                </p:cNvGraphicFramePr>
                <p:nvPr>
                  <p:extLst>
                    <p:ext uri="{D42A27DB-BD31-4B8C-83A1-F6EECF244321}">
                      <p14:modId xmlns:p14="http://schemas.microsoft.com/office/powerpoint/2010/main" val="2853135555"/>
                    </p:ext>
                  </p:extLst>
                </p:nvPr>
              </p:nvGraphicFramePr>
              <p:xfrm>
                <a:off x="1662342" y="4666314"/>
                <a:ext cx="1370418" cy="986616"/>
              </p:xfrm>
              <a:graphic>
                <a:graphicData uri="http://schemas.openxmlformats.org/drawingml/2006/table">
                  <a:tbl>
                    <a:tblPr firstRow="1" bandRow="1">
                      <a:tableStyleId>{5C22544A-7EE6-4342-B048-85BDC9FD1C3A}</a:tableStyleId>
                    </a:tblPr>
                    <a:tblGrid>
                      <a:gridCol w="685209">
                        <a:extLst>
                          <a:ext uri="{9D8B030D-6E8A-4147-A177-3AD203B41FA5}">
                            <a16:colId xmlns:a16="http://schemas.microsoft.com/office/drawing/2014/main" val="3650072185"/>
                          </a:ext>
                        </a:extLst>
                      </a:gridCol>
                      <a:gridCol w="685209">
                        <a:extLst>
                          <a:ext uri="{9D8B030D-6E8A-4147-A177-3AD203B41FA5}">
                            <a16:colId xmlns:a16="http://schemas.microsoft.com/office/drawing/2014/main" val="1992468736"/>
                          </a:ext>
                        </a:extLst>
                      </a:gridCol>
                    </a:tblGrid>
                    <a:tr h="498238">
                      <a:tc>
                        <a:txBody>
                          <a:bodyPr/>
                          <a:lstStyle/>
                          <a:p>
                            <a:pPr algn="ctr"/>
                            <a:r>
                              <a:rPr lang="pt-BR" b="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488378">
                      <a:tc>
                        <a:txBody>
                          <a:bodyPr/>
                          <a:lstStyle/>
                          <a:p>
                            <a:pPr algn="ctr"/>
                            <a:r>
                              <a:rPr lang="pt-BR" sz="1800" b="0" kern="1200" dirty="0">
                                <a:solidFill>
                                  <a:schemeClr val="tx1"/>
                                </a:solidFill>
                                <a:latin typeface="+mn-lt"/>
                                <a:ea typeface="+mn-ea"/>
                                <a:cs typeface="+mn-cs"/>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8" name="Tabela 4">
                  <a:extLst>
                    <a:ext uri="{FF2B5EF4-FFF2-40B4-BE49-F238E27FC236}">
                      <a16:creationId xmlns:a16="http://schemas.microsoft.com/office/drawing/2014/main" xmlns:a14="http://schemas.microsoft.com/office/drawing/2010/main" xmlns="" id="{151DFBB2-EF9C-90CA-2CC0-A48170E71137}"/>
                    </a:ext>
                  </a:extLst>
                </p:cNvPr>
                <p:cNvGraphicFramePr>
                  <a:graphicFrameLocks/>
                </p:cNvGraphicFramePr>
                <p:nvPr>
                  <p:extLst>
                    <p:ext uri="{D42A27DB-BD31-4B8C-83A1-F6EECF244321}">
                      <p14:modId xmlns:p14="http://schemas.microsoft.com/office/powerpoint/2010/main" val="2853135555"/>
                    </p:ext>
                  </p:extLst>
                </p:nvPr>
              </p:nvGraphicFramePr>
              <p:xfrm>
                <a:off x="1662342" y="4666314"/>
                <a:ext cx="1370418" cy="986616"/>
              </p:xfrm>
              <a:graphic>
                <a:graphicData uri="http://schemas.openxmlformats.org/drawingml/2006/table">
                  <a:tbl>
                    <a:tblPr firstRow="1" bandRow="1">
                      <a:tableStyleId>{5C22544A-7EE6-4342-B048-85BDC9FD1C3A}</a:tableStyleId>
                    </a:tblPr>
                    <a:tblGrid>
                      <a:gridCol w="685209">
                        <a:extLst>
                          <a:ext uri="{9D8B030D-6E8A-4147-A177-3AD203B41FA5}">
                            <a16:colId xmlns:a16="http://schemas.microsoft.com/office/drawing/2014/main" xmlns:a14="http://schemas.microsoft.com/office/drawing/2010/main" xmlns="" val="3650072185"/>
                          </a:ext>
                        </a:extLst>
                      </a:gridCol>
                      <a:gridCol w="685209">
                        <a:extLst>
                          <a:ext uri="{9D8B030D-6E8A-4147-A177-3AD203B41FA5}">
                            <a16:colId xmlns:a16="http://schemas.microsoft.com/office/drawing/2014/main" xmlns:a14="http://schemas.microsoft.com/office/drawing/2010/main" xmlns="" val="1992468736"/>
                          </a:ext>
                        </a:extLst>
                      </a:gridCol>
                    </a:tblGrid>
                    <a:tr h="498238">
                      <a:tc>
                        <a:txBody>
                          <a:bodyPr/>
                          <a:lstStyle/>
                          <a:p>
                            <a:pPr algn="ctr"/>
                            <a:r>
                              <a:rPr lang="pt-BR" b="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823648222"/>
                        </a:ext>
                      </a:extLst>
                    </a:tr>
                    <a:tr h="488378">
                      <a:tc>
                        <a:txBody>
                          <a:bodyPr/>
                          <a:lstStyle/>
                          <a:p>
                            <a:pPr algn="ctr"/>
                            <a:r>
                              <a:rPr lang="pt-BR" sz="1800" b="0" kern="1200" dirty="0">
                                <a:solidFill>
                                  <a:schemeClr val="tx1"/>
                                </a:solidFill>
                                <a:latin typeface="+mn-lt"/>
                                <a:ea typeface="+mn-ea"/>
                                <a:cs typeface="+mn-cs"/>
                              </a:rPr>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505587699"/>
                        </a:ext>
                      </a:extLst>
                    </a:tr>
                  </a:tbl>
                </a:graphicData>
              </a:graphic>
            </p:graphicFrame>
          </mc:Fallback>
        </mc:AlternateContent>
        <p:sp>
          <p:nvSpPr>
            <p:cNvPr id="9" name="Seta para a direita 8"/>
            <p:cNvSpPr/>
            <p:nvPr/>
          </p:nvSpPr>
          <p:spPr>
            <a:xfrm rot="5400000">
              <a:off x="2172882" y="4278043"/>
              <a:ext cx="320040" cy="2743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5371868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83C600-6413-8679-FD73-1BDFA060C656}"/>
              </a:ext>
            </a:extLst>
          </p:cNvPr>
          <p:cNvSpPr>
            <a:spLocks noGrp="1"/>
          </p:cNvSpPr>
          <p:nvPr>
            <p:ph type="title"/>
          </p:nvPr>
        </p:nvSpPr>
        <p:spPr/>
        <p:txBody>
          <a:bodyPr/>
          <a:lstStyle/>
          <a:p>
            <a:r>
              <a:rPr lang="pt-BR" dirty="0"/>
              <a:t>Camada de </a:t>
            </a:r>
            <a:r>
              <a:rPr lang="pt-BR" i="1" dirty="0"/>
              <a:t>Pooling</a:t>
            </a:r>
            <a:r>
              <a:rPr lang="pt-BR" dirty="0"/>
              <a:t> (ou subamostragem)</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0757EF79-7D6D-120A-5FF5-D61E8B4B343B}"/>
                  </a:ext>
                </a:extLst>
              </p:cNvPr>
              <p:cNvSpPr>
                <a:spLocks noGrp="1"/>
              </p:cNvSpPr>
              <p:nvPr>
                <p:ph idx="1"/>
              </p:nvPr>
            </p:nvSpPr>
            <p:spPr>
              <a:xfrm>
                <a:off x="5273749" y="1825624"/>
                <a:ext cx="6918251" cy="5032375"/>
              </a:xfrm>
            </p:spPr>
            <p:txBody>
              <a:bodyPr>
                <a:normAutofit/>
              </a:bodyPr>
              <a:lstStyle/>
              <a:p>
                <a:r>
                  <a:rPr lang="pt-BR" dirty="0"/>
                  <a:t>Aplicada </a:t>
                </a:r>
                <a:r>
                  <a:rPr lang="pt-BR" b="1" dirty="0">
                    <a:solidFill>
                      <a:srgbClr val="00B050"/>
                    </a:solidFill>
                  </a:rPr>
                  <a:t>após uma camada de convolução</a:t>
                </a:r>
                <a:r>
                  <a:rPr lang="pt-BR" dirty="0"/>
                  <a:t>.</a:t>
                </a:r>
              </a:p>
              <a:p>
                <a:r>
                  <a:rPr lang="pt-BR" dirty="0"/>
                  <a:t>Ela </a:t>
                </a:r>
                <a:r>
                  <a:rPr lang="pt-BR" b="1" dirty="0">
                    <a:solidFill>
                      <a:srgbClr val="00B050"/>
                    </a:solidFill>
                  </a:rPr>
                  <a:t>subamostra</a:t>
                </a:r>
                <a:r>
                  <a:rPr lang="pt-BR" dirty="0"/>
                  <a:t> sua entrada: </a:t>
                </a:r>
                <a:r>
                  <a:rPr lang="pt-BR" b="1" dirty="0">
                    <a:solidFill>
                      <a:schemeClr val="accent2"/>
                    </a:solidFill>
                  </a:rPr>
                  <a:t>reduz o tamanho espacial</a:t>
                </a:r>
                <a:r>
                  <a:rPr lang="pt-BR" dirty="0"/>
                  <a:t> dos mapas de características.</a:t>
                </a:r>
              </a:p>
              <a:p>
                <a:r>
                  <a:rPr lang="pt-BR" dirty="0"/>
                  <a:t>A operação de </a:t>
                </a:r>
                <a:r>
                  <a:rPr lang="pt-BR" i="1" dirty="0" err="1"/>
                  <a:t>pooling</a:t>
                </a:r>
                <a:r>
                  <a:rPr lang="pt-BR" dirty="0"/>
                  <a:t> </a:t>
                </a:r>
                <a:r>
                  <a:rPr lang="pt-BR" b="1" dirty="0">
                    <a:solidFill>
                      <a:srgbClr val="7030A0"/>
                    </a:solidFill>
                  </a:rPr>
                  <a:t>varre o mapa de características</a:t>
                </a:r>
                <a:r>
                  <a:rPr lang="pt-BR" dirty="0"/>
                  <a:t> em </a:t>
                </a:r>
                <a:r>
                  <a:rPr lang="pt-BR" b="1" dirty="0">
                    <a:solidFill>
                      <a:srgbClr val="00B050"/>
                    </a:solidFill>
                  </a:rPr>
                  <a:t>pequenas regiões </a:t>
                </a:r>
                <a:r>
                  <a:rPr lang="pt-BR" dirty="0"/>
                  <a:t>(janela) e </a:t>
                </a:r>
                <a:r>
                  <a:rPr lang="pt-BR" b="1" dirty="0">
                    <a:solidFill>
                      <a:srgbClr val="00B0F0"/>
                    </a:solidFill>
                  </a:rPr>
                  <a:t>resume</a:t>
                </a:r>
                <a:r>
                  <a:rPr lang="pt-BR" b="1" dirty="0">
                    <a:solidFill>
                      <a:schemeClr val="accent1"/>
                    </a:solidFill>
                  </a:rPr>
                  <a:t> cada região a um único valor</a:t>
                </a:r>
                <a:r>
                  <a:rPr lang="pt-BR" dirty="0"/>
                  <a:t>.</a:t>
                </a:r>
              </a:p>
              <a:p>
                <a:r>
                  <a:rPr lang="pt-BR" dirty="0"/>
                  <a:t>O exemplo ao lado usa uma janela de </a:t>
                </a:r>
                <a:r>
                  <a:rPr lang="pt-BR" i="1" dirty="0" err="1"/>
                  <a:t>pooling</a:t>
                </a:r>
                <a:r>
                  <a:rPr lang="pt-BR" dirty="0"/>
                  <a:t> </a:t>
                </a:r>
                <a14:m>
                  <m:oMath xmlns:m="http://schemas.openxmlformats.org/officeDocument/2006/math">
                    <m:r>
                      <a:rPr lang="pt-BR" b="0"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a14:m>
                <a:r>
                  <a:rPr lang="pt-BR" dirty="0"/>
                  <a:t> e </a:t>
                </a:r>
                <a:r>
                  <a:rPr lang="pt-BR" i="1" dirty="0"/>
                  <a:t>stride</a:t>
                </a:r>
                <a:r>
                  <a:rPr lang="pt-BR" dirty="0"/>
                  <a:t> de </a:t>
                </a:r>
                <a14:m>
                  <m:oMath xmlns:m="http://schemas.openxmlformats.org/officeDocument/2006/math">
                    <m:r>
                      <a:rPr lang="pt-BR" b="0" i="1" smtClean="0">
                        <a:latin typeface="Cambria Math" panose="02040503050406030204" pitchFamily="18" charset="0"/>
                      </a:rPr>
                      <m:t>2</m:t>
                    </m:r>
                  </m:oMath>
                </a14:m>
                <a:r>
                  <a:rPr lang="pt-BR" dirty="0"/>
                  <a:t> elementos e seleciona o </a:t>
                </a:r>
                <a:r>
                  <a:rPr lang="pt-BR" b="1" dirty="0">
                    <a:solidFill>
                      <a:srgbClr val="00B0F0"/>
                    </a:solidFill>
                  </a:rPr>
                  <a:t>maior valor da janela</a:t>
                </a:r>
                <a:r>
                  <a:rPr lang="pt-BR" dirty="0"/>
                  <a:t> (</a:t>
                </a:r>
                <a:r>
                  <a:rPr lang="pt-BR" i="1" dirty="0" err="1"/>
                  <a:t>max</a:t>
                </a:r>
                <a:r>
                  <a:rPr lang="pt-BR" i="1" dirty="0"/>
                  <a:t> </a:t>
                </a:r>
                <a:r>
                  <a:rPr lang="pt-BR" i="1" dirty="0" err="1"/>
                  <a:t>pooling</a:t>
                </a:r>
                <a:r>
                  <a:rPr lang="pt-BR" dirty="0"/>
                  <a:t>).</a:t>
                </a:r>
              </a:p>
              <a:p>
                <a:endParaRPr lang="pt-BR" dirty="0"/>
              </a:p>
            </p:txBody>
          </p:sp>
        </mc:Choice>
        <mc:Fallback>
          <p:sp>
            <p:nvSpPr>
              <p:cNvPr id="3" name="Espaço Reservado para Conteúdo 2">
                <a:extLst>
                  <a:ext uri="{FF2B5EF4-FFF2-40B4-BE49-F238E27FC236}">
                    <a16:creationId xmlns:a16="http://schemas.microsoft.com/office/drawing/2014/main" id="{0757EF79-7D6D-120A-5FF5-D61E8B4B343B}"/>
                  </a:ext>
                </a:extLst>
              </p:cNvPr>
              <p:cNvSpPr>
                <a:spLocks noGrp="1" noRot="1" noChangeAspect="1" noMove="1" noResize="1" noEditPoints="1" noAdjustHandles="1" noChangeArrowheads="1" noChangeShapeType="1" noTextEdit="1"/>
              </p:cNvSpPr>
              <p:nvPr>
                <p:ph idx="1"/>
              </p:nvPr>
            </p:nvSpPr>
            <p:spPr>
              <a:xfrm>
                <a:off x="5273749" y="1825624"/>
                <a:ext cx="6918251" cy="5032375"/>
              </a:xfrm>
              <a:blipFill>
                <a:blip r:embed="rId3"/>
                <a:stretch>
                  <a:fillRect l="-1586" t="-1937" r="-2731"/>
                </a:stretch>
              </a:blipFill>
            </p:spPr>
            <p:txBody>
              <a:bodyPr/>
              <a:lstStyle/>
              <a:p>
                <a:r>
                  <a:rPr lang="en-US">
                    <a:noFill/>
                  </a:rPr>
                  <a:t> </a:t>
                </a:r>
              </a:p>
            </p:txBody>
          </p:sp>
        </mc:Fallback>
      </mc:AlternateContent>
      <p:pic>
        <p:nvPicPr>
          <p:cNvPr id="6" name="Imagem 5">
            <a:extLst>
              <a:ext uri="{FF2B5EF4-FFF2-40B4-BE49-F238E27FC236}">
                <a16:creationId xmlns:a16="http://schemas.microsoft.com/office/drawing/2014/main" id="{1160C37D-DA47-F7AA-6346-2E8DC337E06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9900" y="2535371"/>
            <a:ext cx="4494458" cy="2244458"/>
          </a:xfrm>
          <a:prstGeom prst="rect">
            <a:avLst/>
          </a:prstGeom>
        </p:spPr>
      </p:pic>
    </p:spTree>
    <p:extLst>
      <p:ext uri="{BB962C8B-B14F-4D97-AF65-F5344CB8AC3E}">
        <p14:creationId xmlns:p14="http://schemas.microsoft.com/office/powerpoint/2010/main" val="33192747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BA28E-61DB-0149-F1A7-6B411044A7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89BD98-9AE7-303B-144A-64352B006C84}"/>
              </a:ext>
            </a:extLst>
          </p:cNvPr>
          <p:cNvSpPr>
            <a:spLocks noGrp="1"/>
          </p:cNvSpPr>
          <p:nvPr>
            <p:ph type="title"/>
          </p:nvPr>
        </p:nvSpPr>
        <p:spPr/>
        <p:txBody>
          <a:bodyPr/>
          <a:lstStyle/>
          <a:p>
            <a:r>
              <a:rPr lang="pt-BR" dirty="0"/>
              <a:t>Camada de </a:t>
            </a:r>
            <a:r>
              <a:rPr lang="pt-BR" i="1" dirty="0"/>
              <a:t>Pooling</a:t>
            </a:r>
            <a:r>
              <a:rPr lang="pt-BR" dirty="0"/>
              <a:t> (ou subamostragem)</a:t>
            </a:r>
          </a:p>
        </p:txBody>
      </p:sp>
      <p:sp>
        <p:nvSpPr>
          <p:cNvPr id="3" name="Espaço Reservado para Conteúdo 2">
            <a:extLst>
              <a:ext uri="{FF2B5EF4-FFF2-40B4-BE49-F238E27FC236}">
                <a16:creationId xmlns:a16="http://schemas.microsoft.com/office/drawing/2014/main" id="{4085D248-6DE1-3B0A-052A-EF2322A01601}"/>
              </a:ext>
            </a:extLst>
          </p:cNvPr>
          <p:cNvSpPr>
            <a:spLocks noGrp="1"/>
          </p:cNvSpPr>
          <p:nvPr>
            <p:ph idx="1"/>
          </p:nvPr>
        </p:nvSpPr>
        <p:spPr>
          <a:xfrm>
            <a:off x="5709684" y="1825624"/>
            <a:ext cx="6482318" cy="5032375"/>
          </a:xfrm>
        </p:spPr>
        <p:txBody>
          <a:bodyPr>
            <a:normAutofit/>
          </a:bodyPr>
          <a:lstStyle/>
          <a:p>
            <a:r>
              <a:rPr lang="pt-BR" noProof="0" dirty="0"/>
              <a:t>O </a:t>
            </a:r>
            <a:r>
              <a:rPr lang="pt-BR" i="1" noProof="0" dirty="0" err="1"/>
              <a:t>pooling</a:t>
            </a:r>
            <a:r>
              <a:rPr lang="pt-BR" noProof="0" dirty="0"/>
              <a:t> </a:t>
            </a:r>
            <a:r>
              <a:rPr lang="pt-BR" b="1" noProof="0" dirty="0">
                <a:solidFill>
                  <a:schemeClr val="accent2"/>
                </a:solidFill>
              </a:rPr>
              <a:t>diminui custo computacional e a quantidade de memória usada</a:t>
            </a:r>
            <a:r>
              <a:rPr lang="pt-BR" noProof="0" dirty="0"/>
              <a:t>, assim como o </a:t>
            </a:r>
            <a:r>
              <a:rPr lang="pt-BR" i="1" noProof="0" dirty="0"/>
              <a:t>stride</a:t>
            </a:r>
            <a:r>
              <a:rPr lang="pt-BR" noProof="0" dirty="0"/>
              <a:t> que vimos antes.</a:t>
            </a:r>
            <a:endParaRPr lang="pt-BR" dirty="0"/>
          </a:p>
          <a:p>
            <a:r>
              <a:rPr lang="pt-BR" dirty="0"/>
              <a:t>A redução das dimensões </a:t>
            </a:r>
            <a:r>
              <a:rPr lang="pt-BR" b="1" dirty="0">
                <a:solidFill>
                  <a:srgbClr val="00B050"/>
                </a:solidFill>
              </a:rPr>
              <a:t>ajuda a controlar o </a:t>
            </a:r>
            <a:r>
              <a:rPr lang="pt-BR" b="1" i="1" dirty="0" err="1">
                <a:solidFill>
                  <a:srgbClr val="00B050"/>
                </a:solidFill>
              </a:rPr>
              <a:t>overfitting</a:t>
            </a:r>
            <a:r>
              <a:rPr lang="pt-BR" i="1" dirty="0"/>
              <a:t>.</a:t>
            </a:r>
            <a:endParaRPr lang="pt-BR" i="1" noProof="0" dirty="0"/>
          </a:p>
          <a:p>
            <a:r>
              <a:rPr lang="pt-BR" b="1" dirty="0">
                <a:solidFill>
                  <a:srgbClr val="7030A0"/>
                </a:solidFill>
              </a:rPr>
              <a:t>Campo receptivo maior</a:t>
            </a:r>
            <a:r>
              <a:rPr lang="pt-BR" dirty="0"/>
              <a:t>: com mapas menores, cada </a:t>
            </a:r>
            <a:r>
              <a:rPr lang="pt-BR" i="1" dirty="0"/>
              <a:t>kernel</a:t>
            </a:r>
            <a:r>
              <a:rPr lang="pt-BR" dirty="0"/>
              <a:t> das camadas seguintes </a:t>
            </a:r>
            <a:r>
              <a:rPr lang="pt-BR" b="1" dirty="0">
                <a:solidFill>
                  <a:srgbClr val="00B0F0"/>
                </a:solidFill>
              </a:rPr>
              <a:t>cobre uma área maior da imagem original</a:t>
            </a:r>
            <a:r>
              <a:rPr lang="pt-BR" dirty="0"/>
              <a:t>, o que ajuda a capturar padrões mais globais.</a:t>
            </a:r>
            <a:endParaRPr lang="pt-BR" b="0" noProof="0" dirty="0">
              <a:effectLst/>
            </a:endParaRPr>
          </a:p>
        </p:txBody>
      </p:sp>
      <p:pic>
        <p:nvPicPr>
          <p:cNvPr id="4" name="Imagem 3">
            <a:extLst>
              <a:ext uri="{FF2B5EF4-FFF2-40B4-BE49-F238E27FC236}">
                <a16:creationId xmlns:a16="http://schemas.microsoft.com/office/drawing/2014/main" id="{FE4DC580-96F7-B48F-0B6E-21B8032CEF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885" y="2635855"/>
            <a:ext cx="4494458" cy="2244458"/>
          </a:xfrm>
          <a:prstGeom prst="rect">
            <a:avLst/>
          </a:prstGeom>
        </p:spPr>
      </p:pic>
    </p:spTree>
    <p:extLst>
      <p:ext uri="{BB962C8B-B14F-4D97-AF65-F5344CB8AC3E}">
        <p14:creationId xmlns:p14="http://schemas.microsoft.com/office/powerpoint/2010/main" val="2126647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EED98-DB5A-DFD7-9EC9-8804D9CEA7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9E375A-06BD-F918-D9A2-BB252D81D217}"/>
              </a:ext>
            </a:extLst>
          </p:cNvPr>
          <p:cNvSpPr>
            <a:spLocks noGrp="1"/>
          </p:cNvSpPr>
          <p:nvPr>
            <p:ph type="title"/>
          </p:nvPr>
        </p:nvSpPr>
        <p:spPr/>
        <p:txBody>
          <a:bodyPr/>
          <a:lstStyle/>
          <a:p>
            <a:r>
              <a:rPr lang="pt-BR" dirty="0"/>
              <a:t>Camada de </a:t>
            </a:r>
            <a:r>
              <a:rPr lang="pt-BR" i="1" dirty="0"/>
              <a:t>Pooling</a:t>
            </a:r>
            <a:r>
              <a:rPr lang="pt-BR" dirty="0"/>
              <a:t> (ou subamostragem)</a:t>
            </a:r>
          </a:p>
        </p:txBody>
      </p:sp>
      <p:sp>
        <p:nvSpPr>
          <p:cNvPr id="3" name="Espaço Reservado para Conteúdo 2">
            <a:extLst>
              <a:ext uri="{FF2B5EF4-FFF2-40B4-BE49-F238E27FC236}">
                <a16:creationId xmlns:a16="http://schemas.microsoft.com/office/drawing/2014/main" id="{1439CFAB-0A76-A38D-426B-FE600E870631}"/>
              </a:ext>
            </a:extLst>
          </p:cNvPr>
          <p:cNvSpPr>
            <a:spLocks noGrp="1"/>
          </p:cNvSpPr>
          <p:nvPr>
            <p:ph idx="1"/>
          </p:nvPr>
        </p:nvSpPr>
        <p:spPr>
          <a:xfrm>
            <a:off x="4937760" y="1825624"/>
            <a:ext cx="7254240" cy="5032375"/>
          </a:xfrm>
        </p:spPr>
        <p:txBody>
          <a:bodyPr>
            <a:normAutofit lnSpcReduction="10000"/>
          </a:bodyPr>
          <a:lstStyle/>
          <a:p>
            <a:r>
              <a:rPr lang="pt-BR" dirty="0"/>
              <a:t>A operação de </a:t>
            </a:r>
            <a:r>
              <a:rPr lang="pt-BR" i="1" dirty="0" err="1"/>
              <a:t>pooling</a:t>
            </a:r>
            <a:r>
              <a:rPr lang="pt-BR" dirty="0"/>
              <a:t> cria </a:t>
            </a:r>
            <a:r>
              <a:rPr lang="pt-BR" b="1" dirty="0">
                <a:solidFill>
                  <a:srgbClr val="7030A0"/>
                </a:solidFill>
              </a:rPr>
              <a:t>invariância local:</a:t>
            </a:r>
            <a:endParaRPr lang="pt-BR" dirty="0"/>
          </a:p>
          <a:p>
            <a:pPr lvl="1">
              <a:buFont typeface="Wingdings" panose="05000000000000000000" pitchFamily="2" charset="2"/>
              <a:buChar char="§"/>
            </a:pPr>
            <a:r>
              <a:rPr lang="pt-BR" b="1" dirty="0">
                <a:solidFill>
                  <a:schemeClr val="accent1"/>
                </a:solidFill>
              </a:rPr>
              <a:t>Pequenos deslocamentos </a:t>
            </a:r>
            <a:r>
              <a:rPr lang="pt-BR" dirty="0"/>
              <a:t>dos padrões não afetam muito o resultado.</a:t>
            </a:r>
          </a:p>
          <a:p>
            <a:pPr lvl="1">
              <a:buFont typeface="Wingdings" panose="05000000000000000000" pitchFamily="2" charset="2"/>
              <a:buChar char="§"/>
            </a:pPr>
            <a:r>
              <a:rPr lang="pt-BR" b="1" dirty="0">
                <a:solidFill>
                  <a:srgbClr val="FF0000"/>
                </a:solidFill>
              </a:rPr>
              <a:t>Faz com que a rede foque na presença do padrão</a:t>
            </a:r>
            <a:r>
              <a:rPr lang="pt-BR" dirty="0"/>
              <a:t>, </a:t>
            </a:r>
            <a:r>
              <a:rPr lang="pt-BR" b="1" dirty="0">
                <a:solidFill>
                  <a:srgbClr val="00B0F0"/>
                </a:solidFill>
              </a:rPr>
              <a:t>e não na sua localização</a:t>
            </a:r>
            <a:r>
              <a:rPr lang="pt-BR" dirty="0"/>
              <a:t>.</a:t>
            </a:r>
          </a:p>
          <a:p>
            <a:r>
              <a:rPr lang="pt-BR" dirty="0"/>
              <a:t>O padrão pode:</a:t>
            </a:r>
          </a:p>
          <a:p>
            <a:pPr lvl="1">
              <a:buFont typeface="Wingdings" panose="05000000000000000000" pitchFamily="2" charset="2"/>
              <a:buChar char="§"/>
            </a:pPr>
            <a:r>
              <a:rPr lang="pt-BR" dirty="0"/>
              <a:t>estar deslocado levemente</a:t>
            </a:r>
          </a:p>
          <a:p>
            <a:pPr lvl="1">
              <a:buFont typeface="Wingdings" panose="05000000000000000000" pitchFamily="2" charset="2"/>
              <a:buChar char="§"/>
            </a:pPr>
            <a:r>
              <a:rPr lang="pt-BR" dirty="0"/>
              <a:t>ter pequenas deformações</a:t>
            </a:r>
          </a:p>
          <a:p>
            <a:pPr lvl="1">
              <a:buFont typeface="Wingdings" panose="05000000000000000000" pitchFamily="2" charset="2"/>
              <a:buChar char="§"/>
            </a:pPr>
            <a:r>
              <a:rPr lang="pt-BR" dirty="0"/>
              <a:t>ter ruído</a:t>
            </a:r>
          </a:p>
          <a:p>
            <a:pPr marL="0" indent="0">
              <a:buNone/>
            </a:pPr>
            <a:r>
              <a:rPr lang="pt-BR" dirty="0"/>
              <a:t>e mesmo assim a CNN continua o reconhecendo.</a:t>
            </a:r>
          </a:p>
          <a:p>
            <a:r>
              <a:rPr lang="pt-BR" dirty="0"/>
              <a:t>O </a:t>
            </a:r>
            <a:r>
              <a:rPr lang="pt-BR" i="1" dirty="0" err="1"/>
              <a:t>pooling</a:t>
            </a:r>
            <a:r>
              <a:rPr lang="pt-BR" dirty="0"/>
              <a:t> contribui para que a CNN </a:t>
            </a:r>
            <a:r>
              <a:rPr lang="pt-BR" b="1" dirty="0">
                <a:solidFill>
                  <a:schemeClr val="accent2"/>
                </a:solidFill>
              </a:rPr>
              <a:t>perca informação espacial</a:t>
            </a:r>
            <a:r>
              <a:rPr lang="pt-BR" dirty="0"/>
              <a:t> e ganhe </a:t>
            </a:r>
            <a:r>
              <a:rPr lang="pt-BR" b="1" dirty="0">
                <a:solidFill>
                  <a:srgbClr val="00B050"/>
                </a:solidFill>
              </a:rPr>
              <a:t>informação semântica</a:t>
            </a:r>
            <a:r>
              <a:rPr lang="pt-BR" dirty="0"/>
              <a:t>.</a:t>
            </a:r>
          </a:p>
        </p:txBody>
      </p:sp>
      <p:pic>
        <p:nvPicPr>
          <p:cNvPr id="6" name="Imagem 5">
            <a:extLst>
              <a:ext uri="{FF2B5EF4-FFF2-40B4-BE49-F238E27FC236}">
                <a16:creationId xmlns:a16="http://schemas.microsoft.com/office/drawing/2014/main" id="{2C2791B8-13A1-E6BD-29A6-9B75EF7FD2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885" y="2635855"/>
            <a:ext cx="4494458" cy="2244458"/>
          </a:xfrm>
          <a:prstGeom prst="rect">
            <a:avLst/>
          </a:prstGeom>
        </p:spPr>
      </p:pic>
    </p:spTree>
    <p:extLst>
      <p:ext uri="{BB962C8B-B14F-4D97-AF65-F5344CB8AC3E}">
        <p14:creationId xmlns:p14="http://schemas.microsoft.com/office/powerpoint/2010/main" val="10066253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83C600-6413-8679-FD73-1BDFA060C656}"/>
              </a:ext>
            </a:extLst>
          </p:cNvPr>
          <p:cNvSpPr>
            <a:spLocks noGrp="1"/>
          </p:cNvSpPr>
          <p:nvPr>
            <p:ph type="title"/>
          </p:nvPr>
        </p:nvSpPr>
        <p:spPr/>
        <p:txBody>
          <a:bodyPr/>
          <a:lstStyle/>
          <a:p>
            <a:r>
              <a:rPr lang="pt-BR" i="1" dirty="0"/>
              <a:t>Max</a:t>
            </a:r>
            <a:r>
              <a:rPr lang="pt-BR" dirty="0"/>
              <a:t> </a:t>
            </a:r>
            <a:r>
              <a:rPr lang="pt-BR" i="1" dirty="0" err="1"/>
              <a:t>pooling</a:t>
            </a:r>
            <a:endParaRPr lang="pt-BR" dirty="0"/>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0757EF79-7D6D-120A-5FF5-D61E8B4B343B}"/>
                  </a:ext>
                </a:extLst>
              </p:cNvPr>
              <p:cNvSpPr>
                <a:spLocks noGrp="1"/>
              </p:cNvSpPr>
              <p:nvPr>
                <p:ph idx="1"/>
              </p:nvPr>
            </p:nvSpPr>
            <p:spPr>
              <a:xfrm>
                <a:off x="5617029" y="1825624"/>
                <a:ext cx="6574971" cy="5032375"/>
              </a:xfrm>
            </p:spPr>
            <p:txBody>
              <a:bodyPr>
                <a:normAutofit/>
              </a:bodyPr>
              <a:lstStyle/>
              <a:p>
                <a:r>
                  <a:rPr lang="pt-BR" dirty="0"/>
                  <a:t>A </a:t>
                </a:r>
                <a:r>
                  <a:rPr lang="pt-BR" dirty="0" err="1"/>
                  <a:t>subamostragem</a:t>
                </a:r>
                <a:r>
                  <a:rPr lang="pt-BR" dirty="0"/>
                  <a:t> mais usada é o </a:t>
                </a:r>
                <a:r>
                  <a:rPr lang="pt-BR" i="1" dirty="0" err="1"/>
                  <a:t>max</a:t>
                </a:r>
                <a:r>
                  <a:rPr lang="pt-BR" i="1" dirty="0"/>
                  <a:t> </a:t>
                </a:r>
                <a:r>
                  <a:rPr lang="pt-BR" i="1" dirty="0" err="1"/>
                  <a:t>pooling</a:t>
                </a:r>
                <a:r>
                  <a:rPr lang="pt-BR" dirty="0"/>
                  <a:t>, que aplica a </a:t>
                </a:r>
                <a:r>
                  <a:rPr lang="pt-BR" b="1" dirty="0">
                    <a:solidFill>
                      <a:srgbClr val="00B050"/>
                    </a:solidFill>
                  </a:rPr>
                  <a:t>operação </a:t>
                </a:r>
                <a14:m>
                  <m:oMath xmlns:m="http://schemas.openxmlformats.org/officeDocument/2006/math">
                    <m:r>
                      <a:rPr lang="pt-BR" b="1">
                        <a:solidFill>
                          <a:srgbClr val="00B050"/>
                        </a:solidFill>
                        <a:latin typeface="Cambria Math" panose="02040503050406030204" pitchFamily="18" charset="0"/>
                      </a:rPr>
                      <m:t>𝐦𝐚𝐱</m:t>
                    </m:r>
                    <m:r>
                      <a:rPr lang="pt-BR" b="1">
                        <a:solidFill>
                          <a:srgbClr val="00B050"/>
                        </a:solidFill>
                        <a:latin typeface="Cambria Math" panose="02040503050406030204" pitchFamily="18" charset="0"/>
                      </a:rPr>
                      <m:t>(.)</m:t>
                    </m:r>
                  </m:oMath>
                </a14:m>
                <a:r>
                  <a:rPr lang="pt-BR" b="1" dirty="0">
                    <a:solidFill>
                      <a:srgbClr val="00B050"/>
                    </a:solidFill>
                  </a:rPr>
                  <a:t> </a:t>
                </a:r>
                <a:r>
                  <a:rPr lang="pt-BR" dirty="0"/>
                  <a:t>a cada mapa de características de uma camada de convolução.</a:t>
                </a:r>
              </a:p>
              <a:p>
                <a:r>
                  <a:rPr lang="pt-BR" dirty="0"/>
                  <a:t>Somente o </a:t>
                </a:r>
                <a:r>
                  <a:rPr lang="pt-BR" b="1" dirty="0">
                    <a:solidFill>
                      <a:srgbClr val="00B050"/>
                    </a:solidFill>
                  </a:rPr>
                  <a:t>valor máximo de cada </a:t>
                </a:r>
                <a:r>
                  <a:rPr lang="pt-BR" b="1" dirty="0">
                    <a:solidFill>
                      <a:schemeClr val="accent2"/>
                    </a:solidFill>
                  </a:rPr>
                  <a:t>janela </a:t>
                </a:r>
                <a:r>
                  <a:rPr lang="pt-BR" b="1" dirty="0">
                    <a:solidFill>
                      <a:srgbClr val="00B050"/>
                    </a:solidFill>
                  </a:rPr>
                  <a:t>passa para a próxima camada</a:t>
                </a:r>
                <a:r>
                  <a:rPr lang="pt-BR" dirty="0"/>
                  <a:t>, enquanto os outros </a:t>
                </a:r>
                <a:r>
                  <a:rPr lang="pt-BR" b="1" dirty="0">
                    <a:solidFill>
                      <a:srgbClr val="00B050"/>
                    </a:solidFill>
                  </a:rPr>
                  <a:t>são descartados</a:t>
                </a:r>
                <a:r>
                  <a:rPr lang="pt-BR" dirty="0"/>
                  <a:t>.</a:t>
                </a:r>
              </a:p>
              <a:p>
                <a:r>
                  <a:rPr lang="pt-BR" dirty="0"/>
                  <a:t>Ele mantém apenas</a:t>
                </a:r>
                <a:r>
                  <a:rPr lang="pt-BR" b="1" dirty="0">
                    <a:solidFill>
                      <a:srgbClr val="00B050"/>
                    </a:solidFill>
                  </a:rPr>
                  <a:t> as características mais importantes</a:t>
                </a:r>
                <a:r>
                  <a:rPr lang="pt-BR" dirty="0"/>
                  <a:t> (mais fortes), </a:t>
                </a:r>
                <a:r>
                  <a:rPr lang="pt-BR" b="1" dirty="0">
                    <a:solidFill>
                      <a:srgbClr val="7030A0"/>
                    </a:solidFill>
                  </a:rPr>
                  <a:t>descartando as menos relevantes ou ruidosas</a:t>
                </a:r>
                <a:r>
                  <a:rPr lang="pt-BR" dirty="0"/>
                  <a:t>.</a:t>
                </a:r>
              </a:p>
            </p:txBody>
          </p:sp>
        </mc:Choice>
        <mc:Fallback>
          <p:sp>
            <p:nvSpPr>
              <p:cNvPr id="3" name="Espaço Reservado para Conteúdo 2">
                <a:extLst>
                  <a:ext uri="{FF2B5EF4-FFF2-40B4-BE49-F238E27FC236}">
                    <a16:creationId xmlns:a16="http://schemas.microsoft.com/office/drawing/2014/main" id="{0757EF79-7D6D-120A-5FF5-D61E8B4B343B}"/>
                  </a:ext>
                </a:extLst>
              </p:cNvPr>
              <p:cNvSpPr>
                <a:spLocks noGrp="1" noRot="1" noChangeAspect="1" noMove="1" noResize="1" noEditPoints="1" noAdjustHandles="1" noChangeArrowheads="1" noChangeShapeType="1" noTextEdit="1"/>
              </p:cNvSpPr>
              <p:nvPr>
                <p:ph idx="1"/>
              </p:nvPr>
            </p:nvSpPr>
            <p:spPr>
              <a:xfrm>
                <a:off x="5617029" y="1825624"/>
                <a:ext cx="6574971" cy="5032375"/>
              </a:xfrm>
              <a:blipFill>
                <a:blip r:embed="rId3"/>
                <a:stretch>
                  <a:fillRect l="-1668" t="-1937"/>
                </a:stretch>
              </a:blipFill>
            </p:spPr>
            <p:txBody>
              <a:bodyPr/>
              <a:lstStyle/>
              <a:p>
                <a:r>
                  <a:rPr lang="en-US">
                    <a:noFill/>
                  </a:rPr>
                  <a:t> </a:t>
                </a:r>
              </a:p>
            </p:txBody>
          </p:sp>
        </mc:Fallback>
      </mc:AlternateContent>
      <p:pic>
        <p:nvPicPr>
          <p:cNvPr id="4" name="Imagem 3">
            <a:extLst>
              <a:ext uri="{FF2B5EF4-FFF2-40B4-BE49-F238E27FC236}">
                <a16:creationId xmlns:a16="http://schemas.microsoft.com/office/drawing/2014/main" id="{D0B18EC2-9ED1-DF53-99DA-548629A7F7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9900" y="2535371"/>
            <a:ext cx="4494458" cy="2244458"/>
          </a:xfrm>
          <a:prstGeom prst="rect">
            <a:avLst/>
          </a:prstGeom>
        </p:spPr>
      </p:pic>
    </p:spTree>
    <p:extLst>
      <p:ext uri="{BB962C8B-B14F-4D97-AF65-F5344CB8AC3E}">
        <p14:creationId xmlns:p14="http://schemas.microsoft.com/office/powerpoint/2010/main" val="40996580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2EEE74-E184-8ED9-6B72-3DCB37E075CC}"/>
              </a:ext>
            </a:extLst>
          </p:cNvPr>
          <p:cNvSpPr>
            <a:spLocks noGrp="1"/>
          </p:cNvSpPr>
          <p:nvPr>
            <p:ph type="title"/>
          </p:nvPr>
        </p:nvSpPr>
        <p:spPr/>
        <p:txBody>
          <a:bodyPr/>
          <a:lstStyle/>
          <a:p>
            <a:r>
              <a:rPr lang="pt-BR" i="1" dirty="0"/>
              <a:t>Max</a:t>
            </a:r>
            <a:r>
              <a:rPr lang="pt-BR" dirty="0"/>
              <a:t> </a:t>
            </a:r>
            <a:r>
              <a:rPr lang="pt-BR" i="1" dirty="0" err="1"/>
              <a:t>pooling</a:t>
            </a:r>
            <a:endParaRPr lang="pt-BR" dirty="0"/>
          </a:p>
        </p:txBody>
      </p:sp>
      <p:sp>
        <p:nvSpPr>
          <p:cNvPr id="3" name="Espaço Reservado para Conteúdo 2">
            <a:extLst>
              <a:ext uri="{FF2B5EF4-FFF2-40B4-BE49-F238E27FC236}">
                <a16:creationId xmlns:a16="http://schemas.microsoft.com/office/drawing/2014/main" id="{5073409C-FE23-683F-9A45-E0884F8086F1}"/>
              </a:ext>
            </a:extLst>
          </p:cNvPr>
          <p:cNvSpPr>
            <a:spLocks noGrp="1"/>
          </p:cNvSpPr>
          <p:nvPr>
            <p:ph idx="1"/>
          </p:nvPr>
        </p:nvSpPr>
        <p:spPr>
          <a:xfrm>
            <a:off x="838199" y="5433541"/>
            <a:ext cx="11353801" cy="1424459"/>
          </a:xfrm>
        </p:spPr>
        <p:txBody>
          <a:bodyPr>
            <a:normAutofit/>
          </a:bodyPr>
          <a:lstStyle/>
          <a:p>
            <a:r>
              <a:rPr lang="pt-BR" noProof="0" dirty="0"/>
              <a:t>Na figura, o </a:t>
            </a:r>
            <a:r>
              <a:rPr lang="pt-BR" i="1" noProof="0" dirty="0" err="1"/>
              <a:t>max</a:t>
            </a:r>
            <a:r>
              <a:rPr lang="pt-BR" i="1" noProof="0" dirty="0"/>
              <a:t> </a:t>
            </a:r>
            <a:r>
              <a:rPr lang="pt-BR" i="1" noProof="0" dirty="0" err="1"/>
              <a:t>pooling</a:t>
            </a:r>
            <a:r>
              <a:rPr lang="pt-BR" noProof="0" dirty="0"/>
              <a:t> </a:t>
            </a:r>
            <a:r>
              <a:rPr lang="pt-BR" b="1" noProof="0" dirty="0">
                <a:solidFill>
                  <a:srgbClr val="00B050"/>
                </a:solidFill>
              </a:rPr>
              <a:t>diminui a resolução</a:t>
            </a:r>
            <a:r>
              <a:rPr lang="pt-BR" noProof="0" dirty="0">
                <a:solidFill>
                  <a:srgbClr val="00B050"/>
                </a:solidFill>
              </a:rPr>
              <a:t> </a:t>
            </a:r>
            <a:r>
              <a:rPr lang="pt-BR" noProof="0" dirty="0"/>
              <a:t>da imagem, </a:t>
            </a:r>
            <a:r>
              <a:rPr lang="pt-BR" b="1" noProof="0" dirty="0">
                <a:solidFill>
                  <a:srgbClr val="7030A0"/>
                </a:solidFill>
              </a:rPr>
              <a:t>preserva as ativações mais fortes</a:t>
            </a:r>
            <a:r>
              <a:rPr lang="pt-BR" noProof="0" dirty="0"/>
              <a:t>, como as </a:t>
            </a:r>
            <a:r>
              <a:rPr lang="pt-BR" b="1" noProof="0" dirty="0"/>
              <a:t>bordas do cérebro</a:t>
            </a:r>
            <a:r>
              <a:rPr lang="pt-BR" noProof="0" dirty="0"/>
              <a:t>, e </a:t>
            </a:r>
            <a:r>
              <a:rPr lang="pt-BR" b="1" noProof="0" dirty="0">
                <a:solidFill>
                  <a:schemeClr val="accent2"/>
                </a:solidFill>
              </a:rPr>
              <a:t>descarta detalhes de baixa intensidade e a posição exata </a:t>
            </a:r>
            <a:r>
              <a:rPr lang="pt-BR" noProof="0" dirty="0"/>
              <a:t>dentro de cada janela de </a:t>
            </a:r>
            <a:r>
              <a:rPr lang="pt-BR" i="1" noProof="0" dirty="0" err="1"/>
              <a:t>pooling</a:t>
            </a:r>
            <a:r>
              <a:rPr lang="pt-BR" noProof="0" dirty="0"/>
              <a:t>.</a:t>
            </a:r>
          </a:p>
        </p:txBody>
      </p:sp>
      <p:grpSp>
        <p:nvGrpSpPr>
          <p:cNvPr id="8" name="Agrupar 7">
            <a:extLst>
              <a:ext uri="{FF2B5EF4-FFF2-40B4-BE49-F238E27FC236}">
                <a16:creationId xmlns:a16="http://schemas.microsoft.com/office/drawing/2014/main" id="{B7151C5D-B0E9-AA0D-0BC7-1527241AB7FD}"/>
              </a:ext>
            </a:extLst>
          </p:cNvPr>
          <p:cNvGrpSpPr/>
          <p:nvPr/>
        </p:nvGrpSpPr>
        <p:grpSpPr>
          <a:xfrm>
            <a:off x="1975630" y="2078733"/>
            <a:ext cx="8059870" cy="2966762"/>
            <a:chOff x="1438381" y="1690688"/>
            <a:chExt cx="8059870" cy="2966762"/>
          </a:xfrm>
        </p:grpSpPr>
        <p:pic>
          <p:nvPicPr>
            <p:cNvPr id="4098" name="Picture 2" descr="Convolutional Neural Network - Questions and Answers ​in MRI">
              <a:extLst>
                <a:ext uri="{FF2B5EF4-FFF2-40B4-BE49-F238E27FC236}">
                  <a16:creationId xmlns:a16="http://schemas.microsoft.com/office/drawing/2014/main" id="{3904BC27-6419-5213-EC91-6AF64AEDCD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22" t="19476" r="50000" b="12360"/>
            <a:stretch/>
          </p:blipFill>
          <p:spPr bwMode="auto">
            <a:xfrm>
              <a:off x="1438381" y="1690688"/>
              <a:ext cx="2988496" cy="29667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nvolutional Neural Network - Questions and Answers ​in MRI">
              <a:extLst>
                <a:ext uri="{FF2B5EF4-FFF2-40B4-BE49-F238E27FC236}">
                  <a16:creationId xmlns:a16="http://schemas.microsoft.com/office/drawing/2014/main" id="{0A517654-8F72-470C-17E4-4447326E58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1823" t="11000" r="5197" b="55222"/>
            <a:stretch/>
          </p:blipFill>
          <p:spPr bwMode="auto">
            <a:xfrm>
              <a:off x="7492248" y="2169279"/>
              <a:ext cx="2006003" cy="199150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Retângulo 3">
                  <a:extLst>
                    <a:ext uri="{FF2B5EF4-FFF2-40B4-BE49-F238E27FC236}">
                      <a16:creationId xmlns:a16="http://schemas.microsoft.com/office/drawing/2014/main" id="{CA1EE9CF-9FF2-92C9-C4B9-0BD2045271E4}"/>
                    </a:ext>
                  </a:extLst>
                </p:cNvPr>
                <p:cNvSpPr/>
                <p:nvPr/>
              </p:nvSpPr>
              <p:spPr>
                <a:xfrm>
                  <a:off x="5166740" y="2747691"/>
                  <a:ext cx="1585645" cy="8527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pt-BR" b="0" i="1" smtClean="0">
                            <a:solidFill>
                              <a:schemeClr val="tx1"/>
                            </a:solidFill>
                            <a:latin typeface="Cambria Math" panose="02040503050406030204" pitchFamily="18" charset="0"/>
                          </a:rPr>
                          <m:t>2</m:t>
                        </m:r>
                        <m:r>
                          <a:rPr lang="pt-BR" b="0" i="1" smtClean="0">
                            <a:solidFill>
                              <a:schemeClr val="tx1"/>
                            </a:solidFill>
                            <a:latin typeface="Cambria Math" panose="02040503050406030204" pitchFamily="18" charset="0"/>
                            <a:ea typeface="Cambria Math" panose="02040503050406030204" pitchFamily="18" charset="0"/>
                          </a:rPr>
                          <m:t>×2</m:t>
                        </m:r>
                      </m:oMath>
                    </m:oMathPara>
                  </a14:m>
                  <a:endParaRPr lang="pt-BR" dirty="0">
                    <a:solidFill>
                      <a:schemeClr val="tx1"/>
                    </a:solidFill>
                  </a:endParaRPr>
                </a:p>
                <a:p>
                  <a:pPr algn="ctr"/>
                  <a:r>
                    <a:rPr lang="pt-BR" dirty="0">
                      <a:solidFill>
                        <a:schemeClr val="tx1"/>
                      </a:solidFill>
                    </a:rPr>
                    <a:t>Max </a:t>
                  </a:r>
                  <a:r>
                    <a:rPr lang="pt-BR" i="1" dirty="0">
                      <a:solidFill>
                        <a:schemeClr val="tx1"/>
                      </a:solidFill>
                    </a:rPr>
                    <a:t>pooling</a:t>
                  </a:r>
                </a:p>
              </p:txBody>
            </p:sp>
          </mc:Choice>
          <mc:Fallback xmlns="">
            <p:sp>
              <p:nvSpPr>
                <p:cNvPr id="4" name="Retângulo 3">
                  <a:extLst>
                    <a:ext uri="{FF2B5EF4-FFF2-40B4-BE49-F238E27FC236}">
                      <a16:creationId xmlns:a16="http://schemas.microsoft.com/office/drawing/2014/main" id="{CA1EE9CF-9FF2-92C9-C4B9-0BD2045271E4}"/>
                    </a:ext>
                  </a:extLst>
                </p:cNvPr>
                <p:cNvSpPr>
                  <a:spLocks noRot="1" noChangeAspect="1" noMove="1" noResize="1" noEditPoints="1" noAdjustHandles="1" noChangeArrowheads="1" noChangeShapeType="1" noTextEdit="1"/>
                </p:cNvSpPr>
                <p:nvPr/>
              </p:nvSpPr>
              <p:spPr>
                <a:xfrm>
                  <a:off x="5166740" y="2747691"/>
                  <a:ext cx="1585645" cy="852755"/>
                </a:xfrm>
                <a:prstGeom prst="rect">
                  <a:avLst/>
                </a:prstGeom>
                <a:blipFill>
                  <a:blip r:embed="rId4"/>
                  <a:stretch>
                    <a:fillRect/>
                  </a:stretch>
                </a:blipFill>
              </p:spPr>
              <p:txBody>
                <a:bodyPr/>
                <a:lstStyle/>
                <a:p>
                  <a:r>
                    <a:rPr lang="pt-BR">
                      <a:noFill/>
                    </a:rPr>
                    <a:t> </a:t>
                  </a:r>
                </a:p>
              </p:txBody>
            </p:sp>
          </mc:Fallback>
        </mc:AlternateContent>
        <p:sp>
          <p:nvSpPr>
            <p:cNvPr id="5" name="Seta: para a Direita 4">
              <a:extLst>
                <a:ext uri="{FF2B5EF4-FFF2-40B4-BE49-F238E27FC236}">
                  <a16:creationId xmlns:a16="http://schemas.microsoft.com/office/drawing/2014/main" id="{2529EEC0-3A44-021E-9FEA-0D67D05B0D98}"/>
                </a:ext>
              </a:extLst>
            </p:cNvPr>
            <p:cNvSpPr/>
            <p:nvPr/>
          </p:nvSpPr>
          <p:spPr>
            <a:xfrm>
              <a:off x="4636676" y="2963449"/>
              <a:ext cx="349321" cy="4212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para a Direita 5">
              <a:extLst>
                <a:ext uri="{FF2B5EF4-FFF2-40B4-BE49-F238E27FC236}">
                  <a16:creationId xmlns:a16="http://schemas.microsoft.com/office/drawing/2014/main" id="{D5B336D0-2AF8-5895-0973-7AC5C8057B4F}"/>
                </a:ext>
              </a:extLst>
            </p:cNvPr>
            <p:cNvSpPr/>
            <p:nvPr/>
          </p:nvSpPr>
          <p:spPr>
            <a:xfrm>
              <a:off x="6933128" y="2963448"/>
              <a:ext cx="349321" cy="4212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1536509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61F0E-26A3-8AE6-681D-675B661453D6}"/>
              </a:ext>
            </a:extLst>
          </p:cNvPr>
          <p:cNvSpPr>
            <a:spLocks noGrp="1"/>
          </p:cNvSpPr>
          <p:nvPr>
            <p:ph type="title"/>
          </p:nvPr>
        </p:nvSpPr>
        <p:spPr/>
        <p:txBody>
          <a:bodyPr/>
          <a:lstStyle/>
          <a:p>
            <a:r>
              <a:rPr lang="pt-BR" dirty="0"/>
              <a:t>Bloco de convolução</a:t>
            </a:r>
            <a:endParaRPr lang="en-US" dirty="0"/>
          </a:p>
        </p:txBody>
      </p:sp>
      <p:pic>
        <p:nvPicPr>
          <p:cNvPr id="4" name="Picture 2" descr="Understanding Convolutional Neural Network: A Complete Guide">
            <a:extLst>
              <a:ext uri="{FF2B5EF4-FFF2-40B4-BE49-F238E27FC236}">
                <a16:creationId xmlns:a16="http://schemas.microsoft.com/office/drawing/2014/main" id="{7DABC2AC-0438-63EC-71A5-61DC3A4197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1002" y="1435457"/>
            <a:ext cx="9229621" cy="5422543"/>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m 2" descr="A Gentle Introduction to the Rectified Linear Unit (ReLU) -  MachineLearningMastery.com">
            <a:extLst>
              <a:ext uri="{FF2B5EF4-FFF2-40B4-BE49-F238E27FC236}">
                <a16:creationId xmlns:a16="http://schemas.microsoft.com/office/drawing/2014/main" id="{F9CB12DE-0072-D818-D69B-957218B9DB9B}"/>
              </a:ext>
            </a:extLst>
          </p:cNvPr>
          <p:cNvPicPr>
            <a:picLocks noChangeAspect="1"/>
          </p:cNvPicPr>
          <p:nvPr/>
        </p:nvPicPr>
        <p:blipFill>
          <a:blip r:embed="rId4"/>
          <a:srcRect l="9147" t="11242" r="9612" b="5452"/>
          <a:stretch>
            <a:fillRect/>
          </a:stretch>
        </p:blipFill>
        <p:spPr>
          <a:xfrm>
            <a:off x="5231219" y="3586678"/>
            <a:ext cx="1116417" cy="858606"/>
          </a:xfrm>
          <a:prstGeom prst="rect">
            <a:avLst/>
          </a:prstGeom>
        </p:spPr>
      </p:pic>
    </p:spTree>
    <p:extLst>
      <p:ext uri="{BB962C8B-B14F-4D97-AF65-F5344CB8AC3E}">
        <p14:creationId xmlns:p14="http://schemas.microsoft.com/office/powerpoint/2010/main" val="23683858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3A1E3-7AA0-568F-D0ED-85563B58A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C597B-6742-BC7E-5C42-C84DB3AA2FA5}"/>
              </a:ext>
            </a:extLst>
          </p:cNvPr>
          <p:cNvSpPr>
            <a:spLocks noGrp="1"/>
          </p:cNvSpPr>
          <p:nvPr>
            <p:ph type="title"/>
          </p:nvPr>
        </p:nvSpPr>
        <p:spPr/>
        <p:txBody>
          <a:bodyPr/>
          <a:lstStyle/>
          <a:p>
            <a:r>
              <a:rPr lang="pt-BR" dirty="0"/>
              <a:t>Neurônio</a:t>
            </a:r>
            <a:endParaRPr lang="en-US" dirty="0"/>
          </a:p>
        </p:txBody>
      </p:sp>
      <p:grpSp>
        <p:nvGrpSpPr>
          <p:cNvPr id="11" name="Agrupar 10">
            <a:extLst>
              <a:ext uri="{FF2B5EF4-FFF2-40B4-BE49-F238E27FC236}">
                <a16:creationId xmlns:a16="http://schemas.microsoft.com/office/drawing/2014/main" id="{CD19948C-0A02-6B73-F0FE-3E1389167F6C}"/>
              </a:ext>
            </a:extLst>
          </p:cNvPr>
          <p:cNvGrpSpPr/>
          <p:nvPr/>
        </p:nvGrpSpPr>
        <p:grpSpPr>
          <a:xfrm>
            <a:off x="121406" y="1435457"/>
            <a:ext cx="9229621" cy="5422543"/>
            <a:chOff x="1291002" y="1435457"/>
            <a:chExt cx="9229621" cy="5422543"/>
          </a:xfrm>
        </p:grpSpPr>
        <p:pic>
          <p:nvPicPr>
            <p:cNvPr id="4" name="Picture 2" descr="Understanding Convolutional Neural Network: A Complete Guide">
              <a:extLst>
                <a:ext uri="{FF2B5EF4-FFF2-40B4-BE49-F238E27FC236}">
                  <a16:creationId xmlns:a16="http://schemas.microsoft.com/office/drawing/2014/main" id="{AC9B5132-450D-FF2A-6298-FD85F48673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1002" y="1435457"/>
              <a:ext cx="9229621" cy="542254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02E54BF-8C08-AF75-E2EE-2A0F0AF38CF5}"/>
                </a:ext>
              </a:extLst>
            </p:cNvPr>
            <p:cNvSpPr/>
            <p:nvPr/>
          </p:nvSpPr>
          <p:spPr>
            <a:xfrm>
              <a:off x="1818751" y="2130252"/>
              <a:ext cx="4612193" cy="241160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7AAE51E-C258-E23C-9672-679711758DC6}"/>
                </a:ext>
              </a:extLst>
            </p:cNvPr>
            <p:cNvSpPr txBox="1"/>
            <p:nvPr/>
          </p:nvSpPr>
          <p:spPr>
            <a:xfrm>
              <a:off x="3385495" y="1701297"/>
              <a:ext cx="3045449" cy="461665"/>
            </a:xfrm>
            <a:prstGeom prst="rect">
              <a:avLst/>
            </a:prstGeom>
            <a:noFill/>
          </p:spPr>
          <p:txBody>
            <a:bodyPr wrap="none" rtlCol="0">
              <a:spAutoFit/>
            </a:bodyPr>
            <a:lstStyle/>
            <a:p>
              <a:r>
                <a:rPr lang="pt-BR" sz="2400" b="1" dirty="0">
                  <a:solidFill>
                    <a:srgbClr val="FF0000"/>
                  </a:solidFill>
                </a:rPr>
                <a:t>Neurônio de uma CNN</a:t>
              </a:r>
              <a:endParaRPr lang="en-US" sz="2400" b="1" dirty="0">
                <a:solidFill>
                  <a:srgbClr val="FF0000"/>
                </a:solidFill>
              </a:endParaRPr>
            </a:p>
          </p:txBody>
        </p:sp>
        <p:sp>
          <p:nvSpPr>
            <p:cNvPr id="8" name="Rectangle 7">
              <a:extLst>
                <a:ext uri="{FF2B5EF4-FFF2-40B4-BE49-F238E27FC236}">
                  <a16:creationId xmlns:a16="http://schemas.microsoft.com/office/drawing/2014/main" id="{6A565247-B224-3E08-202E-63326C7403D3}"/>
                </a:ext>
              </a:extLst>
            </p:cNvPr>
            <p:cNvSpPr/>
            <p:nvPr/>
          </p:nvSpPr>
          <p:spPr>
            <a:xfrm>
              <a:off x="6949443" y="3175279"/>
              <a:ext cx="295419" cy="50241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E33F299-519A-19BA-CD7C-C4A1D3E66BD1}"/>
                </a:ext>
              </a:extLst>
            </p:cNvPr>
            <p:cNvSpPr txBox="1"/>
            <p:nvPr/>
          </p:nvSpPr>
          <p:spPr>
            <a:xfrm>
              <a:off x="6664569" y="3677697"/>
              <a:ext cx="1464547" cy="646331"/>
            </a:xfrm>
            <a:prstGeom prst="rect">
              <a:avLst/>
            </a:prstGeom>
            <a:noFill/>
          </p:spPr>
          <p:txBody>
            <a:bodyPr wrap="square">
              <a:spAutoFit/>
            </a:bodyPr>
            <a:lstStyle/>
            <a:p>
              <a:r>
                <a:rPr lang="pt-BR" sz="1800" b="1" dirty="0">
                  <a:solidFill>
                    <a:srgbClr val="FF0000"/>
                  </a:solidFill>
                </a:rPr>
                <a:t>Saída do neurônio</a:t>
              </a:r>
              <a:endParaRPr lang="en-US" sz="1800" b="1" dirty="0">
                <a:solidFill>
                  <a:srgbClr val="FF0000"/>
                </a:solidFill>
              </a:endParaRPr>
            </a:p>
          </p:txBody>
        </p:sp>
        <p:pic>
          <p:nvPicPr>
            <p:cNvPr id="6" name="Imagem 5" descr="A Gentle Introduction to the Rectified Linear Unit (ReLU) -  MachineLearningMastery.com">
              <a:extLst>
                <a:ext uri="{FF2B5EF4-FFF2-40B4-BE49-F238E27FC236}">
                  <a16:creationId xmlns:a16="http://schemas.microsoft.com/office/drawing/2014/main" id="{20FF5D93-1676-2045-B8D5-69E6CB496CD7}"/>
                </a:ext>
              </a:extLst>
            </p:cNvPr>
            <p:cNvPicPr>
              <a:picLocks noChangeAspect="1"/>
            </p:cNvPicPr>
            <p:nvPr/>
          </p:nvPicPr>
          <p:blipFill>
            <a:blip r:embed="rId4"/>
            <a:srcRect l="9147" t="11242" r="9612" b="5452"/>
            <a:stretch>
              <a:fillRect/>
            </a:stretch>
          </p:blipFill>
          <p:spPr>
            <a:xfrm>
              <a:off x="5231219" y="3586678"/>
              <a:ext cx="1116417" cy="858606"/>
            </a:xfrm>
            <a:prstGeom prst="rect">
              <a:avLst/>
            </a:prstGeom>
          </p:spPr>
        </p:pic>
      </p:grpSp>
      <p:sp>
        <p:nvSpPr>
          <p:cNvPr id="9" name="CaixaDeTexto 8">
            <a:extLst>
              <a:ext uri="{FF2B5EF4-FFF2-40B4-BE49-F238E27FC236}">
                <a16:creationId xmlns:a16="http://schemas.microsoft.com/office/drawing/2014/main" id="{E9A59A16-E64A-0AB6-EFED-20F2361DB45A}"/>
              </a:ext>
            </a:extLst>
          </p:cNvPr>
          <p:cNvSpPr txBox="1"/>
          <p:nvPr/>
        </p:nvSpPr>
        <p:spPr>
          <a:xfrm>
            <a:off x="8662436" y="3991382"/>
            <a:ext cx="3379955" cy="2862322"/>
          </a:xfrm>
          <a:prstGeom prst="rect">
            <a:avLst/>
          </a:prstGeom>
          <a:noFill/>
        </p:spPr>
        <p:txBody>
          <a:bodyPr wrap="square" rtlCol="0">
            <a:spAutoFit/>
          </a:bodyPr>
          <a:lstStyle/>
          <a:p>
            <a:pPr algn="ctr"/>
            <a:r>
              <a:rPr lang="pt-BR" dirty="0"/>
              <a:t>O neurônio é composto pelo </a:t>
            </a:r>
            <a:r>
              <a:rPr lang="pt-BR" i="1" dirty="0"/>
              <a:t>kernel</a:t>
            </a:r>
            <a:r>
              <a:rPr lang="pt-BR" dirty="0"/>
              <a:t>, pelo peso de </a:t>
            </a:r>
            <a:r>
              <a:rPr lang="pt-BR" i="1" dirty="0"/>
              <a:t>bias</a:t>
            </a:r>
            <a:r>
              <a:rPr lang="pt-BR" dirty="0"/>
              <a:t> e pela função de ativação.</a:t>
            </a:r>
          </a:p>
          <a:p>
            <a:pPr algn="ctr"/>
            <a:endParaRPr lang="pt-BR" dirty="0"/>
          </a:p>
          <a:p>
            <a:pPr algn="ctr"/>
            <a:r>
              <a:rPr lang="pt-BR" dirty="0"/>
              <a:t>Cada posição do mapa de ativações corresponde a um neurônio.</a:t>
            </a:r>
          </a:p>
          <a:p>
            <a:pPr algn="ctr"/>
            <a:endParaRPr lang="pt-BR" dirty="0"/>
          </a:p>
          <a:p>
            <a:pPr algn="ctr"/>
            <a:r>
              <a:rPr lang="pt-BR" dirty="0"/>
              <a:t>Todos os neurônios de um mesmo mapa usam o mesmo </a:t>
            </a:r>
            <a:r>
              <a:rPr lang="pt-BR" i="1" dirty="0"/>
              <a:t>kernel</a:t>
            </a:r>
            <a:r>
              <a:rPr lang="pt-BR" dirty="0"/>
              <a:t>.</a:t>
            </a:r>
            <a:endParaRPr lang="en-US" dirty="0"/>
          </a:p>
        </p:txBody>
      </p:sp>
    </p:spTree>
    <p:extLst>
      <p:ext uri="{BB962C8B-B14F-4D97-AF65-F5344CB8AC3E}">
        <p14:creationId xmlns:p14="http://schemas.microsoft.com/office/powerpoint/2010/main" val="37568381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982808-ADC1-D99A-5EBB-CF8814C45545}"/>
              </a:ext>
            </a:extLst>
          </p:cNvPr>
          <p:cNvSpPr>
            <a:spLocks noGrp="1"/>
          </p:cNvSpPr>
          <p:nvPr>
            <p:ph type="title"/>
          </p:nvPr>
        </p:nvSpPr>
        <p:spPr/>
        <p:txBody>
          <a:bodyPr/>
          <a:lstStyle/>
          <a:p>
            <a:r>
              <a:rPr lang="pt-BR" i="1" dirty="0"/>
              <a:t>Padding</a:t>
            </a:r>
            <a:r>
              <a:rPr lang="pt-BR" dirty="0"/>
              <a:t> ou preenchimento</a:t>
            </a:r>
          </a:p>
        </p:txBody>
      </p:sp>
      <mc:AlternateContent xmlns:mc="http://schemas.openxmlformats.org/markup-compatibility/2006">
        <mc:Choice xmlns:a14="http://schemas.microsoft.com/office/drawing/2010/main" Requires="a14">
          <p:sp>
            <p:nvSpPr>
              <p:cNvPr id="3" name="Espaço Reservado para Conteúdo 2">
                <a:extLst>
                  <a:ext uri="{FF2B5EF4-FFF2-40B4-BE49-F238E27FC236}">
                    <a16:creationId xmlns:a16="http://schemas.microsoft.com/office/drawing/2014/main" id="{C9B1FE04-F6F1-AF10-F6F0-40369D98189E}"/>
                  </a:ext>
                </a:extLst>
              </p:cNvPr>
              <p:cNvSpPr>
                <a:spLocks noGrp="1"/>
              </p:cNvSpPr>
              <p:nvPr>
                <p:ph idx="1"/>
              </p:nvPr>
            </p:nvSpPr>
            <p:spPr>
              <a:xfrm>
                <a:off x="5689600" y="1825624"/>
                <a:ext cx="6502400" cy="5032375"/>
              </a:xfrm>
            </p:spPr>
            <p:txBody>
              <a:bodyPr>
                <a:normAutofit/>
              </a:bodyPr>
              <a:lstStyle/>
              <a:p>
                <a:r>
                  <a:rPr lang="pt-BR" b="1" dirty="0">
                    <a:solidFill>
                      <a:srgbClr val="00B050"/>
                    </a:solidFill>
                  </a:rPr>
                  <a:t>Após a</a:t>
                </a:r>
                <a:r>
                  <a:rPr lang="pt-BR" b="1" dirty="0">
                    <a:solidFill>
                      <a:srgbClr val="00B050"/>
                    </a:solidFill>
                    <a:effectLst/>
                  </a:rPr>
                  <a:t> aplicação de muitas </a:t>
                </a:r>
                <a:r>
                  <a:rPr lang="pt-BR" b="1" dirty="0">
                    <a:solidFill>
                      <a:schemeClr val="accent2"/>
                    </a:solidFill>
                    <a:effectLst/>
                  </a:rPr>
                  <a:t>convoluções</a:t>
                </a:r>
                <a:r>
                  <a:rPr lang="pt-BR" b="1" dirty="0">
                    <a:solidFill>
                      <a:srgbClr val="00B050"/>
                    </a:solidFill>
                    <a:effectLst/>
                  </a:rPr>
                  <a:t> </a:t>
                </a:r>
                <a:r>
                  <a:rPr lang="pt-BR" b="0" dirty="0">
                    <a:solidFill>
                      <a:schemeClr val="tx1"/>
                    </a:solidFill>
                    <a:effectLst/>
                  </a:rPr>
                  <a:t>sucessivas, </a:t>
                </a:r>
                <a:r>
                  <a:rPr lang="pt-BR" dirty="0"/>
                  <a:t>as </a:t>
                </a:r>
                <a:r>
                  <a:rPr lang="pt-BR" b="1" dirty="0">
                    <a:solidFill>
                      <a:srgbClr val="00B050"/>
                    </a:solidFill>
                  </a:rPr>
                  <a:t>imagens </a:t>
                </a:r>
                <a:r>
                  <a:rPr lang="pt-BR" b="1" dirty="0">
                    <a:solidFill>
                      <a:srgbClr val="00B050"/>
                    </a:solidFill>
                    <a:effectLst/>
                  </a:rPr>
                  <a:t>tendem </a:t>
                </a:r>
                <a:r>
                  <a:rPr lang="pt-BR" b="0" dirty="0">
                    <a:solidFill>
                      <a:schemeClr val="tx1"/>
                    </a:solidFill>
                    <a:effectLst/>
                  </a:rPr>
                  <a:t>a se </a:t>
                </a:r>
                <a:r>
                  <a:rPr lang="pt-BR" b="1" dirty="0">
                    <a:solidFill>
                      <a:srgbClr val="00B050"/>
                    </a:solidFill>
                    <a:effectLst/>
                  </a:rPr>
                  <a:t>tornar</a:t>
                </a:r>
                <a:r>
                  <a:rPr lang="pt-BR" b="0" dirty="0">
                    <a:solidFill>
                      <a:schemeClr val="tx1"/>
                    </a:solidFill>
                    <a:effectLst/>
                  </a:rPr>
                  <a:t> consideravelmente </a:t>
                </a:r>
                <a:r>
                  <a:rPr lang="pt-BR" b="1" dirty="0">
                    <a:solidFill>
                      <a:srgbClr val="00B050"/>
                    </a:solidFill>
                    <a:effectLst/>
                  </a:rPr>
                  <a:t>menores</a:t>
                </a:r>
                <a:r>
                  <a:rPr lang="pt-BR" b="0" dirty="0">
                    <a:solidFill>
                      <a:schemeClr val="tx1"/>
                    </a:solidFill>
                    <a:effectLst/>
                  </a:rPr>
                  <a:t> do que as da entrada.</a:t>
                </a:r>
              </a:p>
              <a:p>
                <a:r>
                  <a:rPr lang="pt-BR" dirty="0"/>
                  <a:t>Por exemplo, s</a:t>
                </a:r>
                <a:r>
                  <a:rPr lang="pt-BR" b="0" i="0" dirty="0">
                    <a:solidFill>
                      <a:schemeClr val="tx1"/>
                    </a:solidFill>
                    <a:effectLst/>
                  </a:rPr>
                  <a:t>e </a:t>
                </a:r>
                <a:r>
                  <a:rPr lang="pt-BR" dirty="0">
                    <a:solidFill>
                      <a:schemeClr val="tx1"/>
                    </a:solidFill>
                  </a:rPr>
                  <a:t>temos uma </a:t>
                </a:r>
                <a:r>
                  <a:rPr lang="pt-BR" b="0" i="0" dirty="0">
                    <a:solidFill>
                      <a:schemeClr val="tx1"/>
                    </a:solidFill>
                    <a:effectLst/>
                  </a:rPr>
                  <a:t>imagem de entrada com </a:t>
                </a:r>
                <a14:m>
                  <m:oMath xmlns:m="http://schemas.openxmlformats.org/officeDocument/2006/math">
                    <m:r>
                      <a:rPr lang="pt-BR" b="0" i="1" smtClean="0">
                        <a:solidFill>
                          <a:schemeClr val="tx1"/>
                        </a:solidFill>
                        <a:effectLst/>
                        <a:latin typeface="Cambria Math" panose="02040503050406030204" pitchFamily="18" charset="0"/>
                      </a:rPr>
                      <m:t>240</m:t>
                    </m:r>
                    <m:r>
                      <a:rPr lang="pt-BR" b="0" i="1" smtClean="0">
                        <a:solidFill>
                          <a:schemeClr val="tx1"/>
                        </a:solidFill>
                        <a:effectLst/>
                        <a:latin typeface="Cambria Math" panose="02040503050406030204" pitchFamily="18" charset="0"/>
                        <a:ea typeface="Cambria Math" panose="02040503050406030204" pitchFamily="18" charset="0"/>
                      </a:rPr>
                      <m:t>×240</m:t>
                    </m:r>
                  </m:oMath>
                </a14:m>
                <a:r>
                  <a:rPr lang="pt-BR" b="0" i="0" dirty="0">
                    <a:solidFill>
                      <a:schemeClr val="tx1"/>
                    </a:solidFill>
                    <a:effectLst/>
                  </a:rPr>
                  <a:t> </a:t>
                </a:r>
                <a:r>
                  <a:rPr lang="pt-BR" b="0" i="1" dirty="0">
                    <a:solidFill>
                      <a:schemeClr val="tx1"/>
                    </a:solidFill>
                    <a:effectLst/>
                  </a:rPr>
                  <a:t>pixels</a:t>
                </a:r>
                <a:r>
                  <a:rPr lang="pt-BR" dirty="0">
                    <a:solidFill>
                      <a:schemeClr val="tx1"/>
                    </a:solidFill>
                  </a:rPr>
                  <a:t>, após </a:t>
                </a:r>
                <a:r>
                  <a:rPr lang="pt-BR" b="0" i="0" dirty="0">
                    <a:solidFill>
                      <a:schemeClr val="tx1"/>
                    </a:solidFill>
                    <a:effectLst/>
                  </a:rPr>
                  <a:t>dez camadas de convolução</a:t>
                </a:r>
                <a:r>
                  <a:rPr lang="pt-BR" dirty="0">
                    <a:solidFill>
                      <a:schemeClr val="tx1"/>
                    </a:solidFill>
                  </a:rPr>
                  <a:t> </a:t>
                </a:r>
                <a14:m>
                  <m:oMath xmlns:m="http://schemas.openxmlformats.org/officeDocument/2006/math">
                    <m:r>
                      <a:rPr lang="pt-BR" b="0" i="0" smtClean="0">
                        <a:solidFill>
                          <a:schemeClr val="tx1"/>
                        </a:solidFill>
                        <a:latin typeface="Cambria Math" panose="02040503050406030204" pitchFamily="18" charset="0"/>
                        <a:ea typeface="Cambria Math" panose="02040503050406030204" pitchFamily="18" charset="0"/>
                      </a:rPr>
                      <m:t>5</m:t>
                    </m:r>
                    <m:r>
                      <a:rPr lang="pt-BR" i="1">
                        <a:solidFill>
                          <a:schemeClr val="tx1"/>
                        </a:solidFill>
                        <a:latin typeface="Cambria Math" panose="02040503050406030204" pitchFamily="18" charset="0"/>
                        <a:ea typeface="Cambria Math" panose="02040503050406030204" pitchFamily="18" charset="0"/>
                      </a:rPr>
                      <m:t>×</m:t>
                    </m:r>
                    <m:r>
                      <a:rPr lang="pt-BR" b="0" i="1" smtClean="0">
                        <a:solidFill>
                          <a:schemeClr val="tx1"/>
                        </a:solidFill>
                        <a:latin typeface="Cambria Math" panose="02040503050406030204" pitchFamily="18" charset="0"/>
                        <a:ea typeface="Cambria Math" panose="02040503050406030204" pitchFamily="18" charset="0"/>
                      </a:rPr>
                      <m:t>5</m:t>
                    </m:r>
                  </m:oMath>
                </a14:m>
                <a:r>
                  <a:rPr lang="pt-BR" b="0" i="0" dirty="0">
                    <a:solidFill>
                      <a:schemeClr val="tx1"/>
                    </a:solidFill>
                    <a:effectLst/>
                  </a:rPr>
                  <a:t> com </a:t>
                </a:r>
                <a:r>
                  <a:rPr lang="pt-BR" b="0" i="1" dirty="0">
                    <a:solidFill>
                      <a:schemeClr val="tx1"/>
                    </a:solidFill>
                    <a:effectLst/>
                  </a:rPr>
                  <a:t>stride</a:t>
                </a:r>
                <a:r>
                  <a:rPr lang="pt-BR" b="0" i="0" dirty="0">
                    <a:solidFill>
                      <a:schemeClr val="tx1"/>
                    </a:solidFill>
                    <a:effectLst/>
                  </a:rPr>
                  <a:t> igual a 1, ela é reduzida para </a:t>
                </a:r>
                <a14:m>
                  <m:oMath xmlns:m="http://schemas.openxmlformats.org/officeDocument/2006/math">
                    <m:r>
                      <a:rPr lang="pt-BR" i="1">
                        <a:solidFill>
                          <a:schemeClr val="tx1"/>
                        </a:solidFill>
                        <a:latin typeface="Cambria Math" panose="02040503050406030204" pitchFamily="18" charset="0"/>
                      </a:rPr>
                      <m:t>2</m:t>
                    </m:r>
                    <m:r>
                      <a:rPr lang="pt-BR" b="0" i="1" smtClean="0">
                        <a:solidFill>
                          <a:schemeClr val="tx1"/>
                        </a:solidFill>
                        <a:latin typeface="Cambria Math" panose="02040503050406030204" pitchFamily="18" charset="0"/>
                      </a:rPr>
                      <m:t>0</m:t>
                    </m:r>
                    <m:r>
                      <a:rPr lang="pt-BR" i="1">
                        <a:solidFill>
                          <a:schemeClr val="tx1"/>
                        </a:solidFill>
                        <a:latin typeface="Cambria Math" panose="02040503050406030204" pitchFamily="18" charset="0"/>
                      </a:rPr>
                      <m:t>0</m:t>
                    </m:r>
                    <m:r>
                      <a:rPr lang="pt-BR" i="1">
                        <a:solidFill>
                          <a:schemeClr val="tx1"/>
                        </a:solidFill>
                        <a:latin typeface="Cambria Math" panose="02040503050406030204" pitchFamily="18" charset="0"/>
                        <a:ea typeface="Cambria Math" panose="02040503050406030204" pitchFamily="18" charset="0"/>
                      </a:rPr>
                      <m:t>×2</m:t>
                    </m:r>
                    <m:r>
                      <a:rPr lang="pt-BR" b="0" i="1" smtClean="0">
                        <a:solidFill>
                          <a:schemeClr val="tx1"/>
                        </a:solidFill>
                        <a:latin typeface="Cambria Math" panose="02040503050406030204" pitchFamily="18" charset="0"/>
                        <a:ea typeface="Cambria Math" panose="02040503050406030204" pitchFamily="18" charset="0"/>
                      </a:rPr>
                      <m:t>0</m:t>
                    </m:r>
                    <m:r>
                      <a:rPr lang="pt-BR" i="1">
                        <a:solidFill>
                          <a:schemeClr val="tx1"/>
                        </a:solidFill>
                        <a:latin typeface="Cambria Math" panose="02040503050406030204" pitchFamily="18" charset="0"/>
                        <a:ea typeface="Cambria Math" panose="02040503050406030204" pitchFamily="18" charset="0"/>
                      </a:rPr>
                      <m:t>0 </m:t>
                    </m:r>
                  </m:oMath>
                </a14:m>
                <a:r>
                  <a:rPr lang="pt-BR" b="0" i="1" dirty="0">
                    <a:solidFill>
                      <a:schemeClr val="tx1"/>
                    </a:solidFill>
                    <a:effectLst/>
                  </a:rPr>
                  <a:t>pixels</a:t>
                </a:r>
                <a:r>
                  <a:rPr lang="pt-BR" b="0" i="0" dirty="0">
                    <a:solidFill>
                      <a:schemeClr val="tx1"/>
                    </a:solidFill>
                    <a:effectLst/>
                  </a:rPr>
                  <a:t>. </a:t>
                </a:r>
              </a:p>
              <a:p>
                <a:r>
                  <a:rPr lang="pt-BR" dirty="0"/>
                  <a:t>Isso reduz a imagem em</a:t>
                </a:r>
                <a:r>
                  <a:rPr lang="pt-BR" dirty="0">
                    <a:solidFill>
                      <a:schemeClr val="tx1"/>
                    </a:solidFill>
                  </a:rPr>
                  <a:t> </a:t>
                </a:r>
                <a14:m>
                  <m:oMath xmlns:m="http://schemas.openxmlformats.org/officeDocument/2006/math">
                    <m:r>
                      <a:rPr lang="pt-BR" i="1" smtClean="0">
                        <a:solidFill>
                          <a:schemeClr val="tx1"/>
                        </a:solidFill>
                        <a:latin typeface="Cambria Math" panose="02040503050406030204" pitchFamily="18" charset="0"/>
                        <a:ea typeface="Cambria Math" panose="02040503050406030204" pitchFamily="18" charset="0"/>
                      </a:rPr>
                      <m:t>≈</m:t>
                    </m:r>
                  </m:oMath>
                </a14:m>
                <a:r>
                  <a:rPr lang="pt-BR" dirty="0">
                    <a:solidFill>
                      <a:schemeClr val="tx1"/>
                    </a:solidFill>
                  </a:rPr>
                  <a:t>17%</a:t>
                </a:r>
                <a:r>
                  <a:rPr lang="pt-BR" dirty="0"/>
                  <a:t>.</a:t>
                </a:r>
                <a:endParaRPr lang="pt-BR" b="0" i="0" dirty="0">
                  <a:solidFill>
                    <a:schemeClr val="tx1"/>
                  </a:solidFill>
                  <a:effectLst/>
                </a:endParaRPr>
              </a:p>
            </p:txBody>
          </p:sp>
        </mc:Choice>
        <mc:Fallback>
          <p:sp>
            <p:nvSpPr>
              <p:cNvPr id="3" name="Espaço Reservado para Conteúdo 2">
                <a:extLst>
                  <a:ext uri="{FF2B5EF4-FFF2-40B4-BE49-F238E27FC236}">
                    <a16:creationId xmlns:a16="http://schemas.microsoft.com/office/drawing/2014/main" id="{C9B1FE04-F6F1-AF10-F6F0-40369D98189E}"/>
                  </a:ext>
                </a:extLst>
              </p:cNvPr>
              <p:cNvSpPr>
                <a:spLocks noGrp="1" noRot="1" noChangeAspect="1" noMove="1" noResize="1" noEditPoints="1" noAdjustHandles="1" noChangeArrowheads="1" noChangeShapeType="1" noTextEdit="1"/>
              </p:cNvSpPr>
              <p:nvPr>
                <p:ph idx="1"/>
              </p:nvPr>
            </p:nvSpPr>
            <p:spPr>
              <a:xfrm>
                <a:off x="5689600" y="1825624"/>
                <a:ext cx="6502400" cy="5032375"/>
              </a:xfrm>
              <a:blipFill>
                <a:blip r:embed="rId3"/>
                <a:stretch>
                  <a:fillRect l="-1687" t="-1937"/>
                </a:stretch>
              </a:blipFill>
            </p:spPr>
            <p:txBody>
              <a:bodyPr/>
              <a:lstStyle/>
              <a:p>
                <a:r>
                  <a:rPr lang="en-US">
                    <a:noFill/>
                  </a:rPr>
                  <a:t> </a:t>
                </a:r>
              </a:p>
            </p:txBody>
          </p:sp>
        </mc:Fallback>
      </mc:AlternateContent>
      <p:graphicFrame>
        <p:nvGraphicFramePr>
          <p:cNvPr id="5" name="Tabela 4">
            <a:extLst>
              <a:ext uri="{FF2B5EF4-FFF2-40B4-BE49-F238E27FC236}">
                <a16:creationId xmlns:a16="http://schemas.microsoft.com/office/drawing/2014/main" id="{AE6D50D0-AD5D-D694-4CFA-F8C0DAAC5EA8}"/>
              </a:ext>
            </a:extLst>
          </p:cNvPr>
          <p:cNvGraphicFramePr>
            <a:graphicFrameLocks/>
          </p:cNvGraphicFramePr>
          <p:nvPr>
            <p:extLst>
              <p:ext uri="{D42A27DB-BD31-4B8C-83A1-F6EECF244321}">
                <p14:modId xmlns:p14="http://schemas.microsoft.com/office/powerpoint/2010/main" val="776457720"/>
              </p:ext>
            </p:extLst>
          </p:nvPr>
        </p:nvGraphicFramePr>
        <p:xfrm>
          <a:off x="678712" y="3301831"/>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704462"/>
                  </a:ext>
                </a:extLst>
              </a:tr>
            </a:tbl>
          </a:graphicData>
        </a:graphic>
      </p:graphicFrame>
      <p:graphicFrame>
        <p:nvGraphicFramePr>
          <p:cNvPr id="6" name="Tabela 4">
            <a:extLst>
              <a:ext uri="{FF2B5EF4-FFF2-40B4-BE49-F238E27FC236}">
                <a16:creationId xmlns:a16="http://schemas.microsoft.com/office/drawing/2014/main" id="{FF7B0AED-4297-5F0D-1915-6DABA0D05C70}"/>
              </a:ext>
            </a:extLst>
          </p:cNvPr>
          <p:cNvGraphicFramePr>
            <a:graphicFrameLocks/>
          </p:cNvGraphicFramePr>
          <p:nvPr>
            <p:extLst>
              <p:ext uri="{D42A27DB-BD31-4B8C-83A1-F6EECF244321}">
                <p14:modId xmlns:p14="http://schemas.microsoft.com/office/powerpoint/2010/main" val="192299275"/>
              </p:ext>
            </p:extLst>
          </p:nvPr>
        </p:nvGraphicFramePr>
        <p:xfrm>
          <a:off x="2574954" y="348725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AlternateContent xmlns:mc="http://schemas.openxmlformats.org/markup-compatibility/2006">
        <mc:Choice xmlns:a14="http://schemas.microsoft.com/office/drawing/2010/main" Requires="a14">
          <p:sp>
            <p:nvSpPr>
              <p:cNvPr id="7" name="CaixaDeTexto 6">
                <a:extLst>
                  <a:ext uri="{FF2B5EF4-FFF2-40B4-BE49-F238E27FC236}">
                    <a16:creationId xmlns:a16="http://schemas.microsoft.com/office/drawing/2014/main" id="{528D9D4E-AB58-5A0F-04BD-A9CFB1831F44}"/>
                  </a:ext>
                </a:extLst>
              </p:cNvPr>
              <p:cNvSpPr txBox="1"/>
              <p:nvPr/>
            </p:nvSpPr>
            <p:spPr>
              <a:xfrm>
                <a:off x="1972798" y="3598750"/>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p:sp>
            <p:nvSpPr>
              <p:cNvPr id="7" name="CaixaDeTexto 6">
                <a:extLst>
                  <a:ext uri="{FF2B5EF4-FFF2-40B4-BE49-F238E27FC236}">
                    <a16:creationId xmlns:a16="http://schemas.microsoft.com/office/drawing/2014/main" id="{528D9D4E-AB58-5A0F-04BD-A9CFB1831F44}"/>
                  </a:ext>
                </a:extLst>
              </p:cNvPr>
              <p:cNvSpPr txBox="1">
                <a:spLocks noRot="1" noChangeAspect="1" noMove="1" noResize="1" noEditPoints="1" noAdjustHandles="1" noChangeArrowheads="1" noChangeShapeType="1" noTextEdit="1"/>
              </p:cNvSpPr>
              <p:nvPr/>
            </p:nvSpPr>
            <p:spPr>
              <a:xfrm>
                <a:off x="1972798" y="3598750"/>
                <a:ext cx="578069" cy="461665"/>
              </a:xfrm>
              <a:prstGeom prst="rect">
                <a:avLst/>
              </a:prstGeom>
              <a:blipFill>
                <a:blip r:embed="rId4"/>
                <a:stretch>
                  <a:fillRect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aixaDeTexto 7">
                <a:extLst>
                  <a:ext uri="{FF2B5EF4-FFF2-40B4-BE49-F238E27FC236}">
                    <a16:creationId xmlns:a16="http://schemas.microsoft.com/office/drawing/2014/main" id="{3744E9DB-089F-7808-5191-D38F09F6D621}"/>
                  </a:ext>
                </a:extLst>
              </p:cNvPr>
              <p:cNvSpPr txBox="1"/>
              <p:nvPr/>
            </p:nvSpPr>
            <p:spPr>
              <a:xfrm>
                <a:off x="3493732" y="3537195"/>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p:sp>
            <p:nvSpPr>
              <p:cNvPr id="8" name="CaixaDeTexto 7">
                <a:extLst>
                  <a:ext uri="{FF2B5EF4-FFF2-40B4-BE49-F238E27FC236}">
                    <a16:creationId xmlns:a16="http://schemas.microsoft.com/office/drawing/2014/main" id="{3744E9DB-089F-7808-5191-D38F09F6D621}"/>
                  </a:ext>
                </a:extLst>
              </p:cNvPr>
              <p:cNvSpPr txBox="1">
                <a:spLocks noRot="1" noChangeAspect="1" noMove="1" noResize="1" noEditPoints="1" noAdjustHandles="1" noChangeArrowheads="1" noChangeShapeType="1" noTextEdit="1"/>
              </p:cNvSpPr>
              <p:nvPr/>
            </p:nvSpPr>
            <p:spPr>
              <a:xfrm>
                <a:off x="3493732" y="3537195"/>
                <a:ext cx="578069" cy="523220"/>
              </a:xfrm>
              <a:prstGeom prst="rect">
                <a:avLst/>
              </a:prstGeom>
              <a:blipFill>
                <a:blip r:embed="rId5"/>
                <a:stretch>
                  <a:fillRect/>
                </a:stretch>
              </a:blipFill>
            </p:spPr>
            <p:txBody>
              <a:bodyPr/>
              <a:lstStyle/>
              <a:p>
                <a:r>
                  <a:rPr lang="en-US">
                    <a:noFill/>
                  </a:rPr>
                  <a:t> </a:t>
                </a:r>
              </a:p>
            </p:txBody>
          </p:sp>
        </mc:Fallback>
      </mc:AlternateContent>
      <p:graphicFrame>
        <p:nvGraphicFramePr>
          <p:cNvPr id="10" name="Tabela 4">
            <a:extLst>
              <a:ext uri="{FF2B5EF4-FFF2-40B4-BE49-F238E27FC236}">
                <a16:creationId xmlns:a16="http://schemas.microsoft.com/office/drawing/2014/main" id="{6F944977-B700-575F-4A2C-3200014DFAF1}"/>
              </a:ext>
            </a:extLst>
          </p:cNvPr>
          <p:cNvGraphicFramePr>
            <a:graphicFrameLocks/>
          </p:cNvGraphicFramePr>
          <p:nvPr>
            <p:extLst>
              <p:ext uri="{D42A27DB-BD31-4B8C-83A1-F6EECF244321}">
                <p14:modId xmlns:p14="http://schemas.microsoft.com/office/powerpoint/2010/main" val="3317573849"/>
              </p:ext>
            </p:extLst>
          </p:nvPr>
        </p:nvGraphicFramePr>
        <p:xfrm>
          <a:off x="4119974" y="348725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sp>
        <p:nvSpPr>
          <p:cNvPr id="11" name="CaixaDeTexto 10">
            <a:extLst>
              <a:ext uri="{FF2B5EF4-FFF2-40B4-BE49-F238E27FC236}">
                <a16:creationId xmlns:a16="http://schemas.microsoft.com/office/drawing/2014/main" id="{BA271B14-00B8-A39B-0427-D097E75001F8}"/>
              </a:ext>
            </a:extLst>
          </p:cNvPr>
          <p:cNvSpPr txBox="1"/>
          <p:nvPr/>
        </p:nvSpPr>
        <p:spPr>
          <a:xfrm>
            <a:off x="678712" y="2932499"/>
            <a:ext cx="1294085" cy="369332"/>
          </a:xfrm>
          <a:prstGeom prst="rect">
            <a:avLst/>
          </a:prstGeom>
          <a:noFill/>
        </p:spPr>
        <p:txBody>
          <a:bodyPr wrap="square" rtlCol="0">
            <a:spAutoFit/>
          </a:bodyPr>
          <a:lstStyle/>
          <a:p>
            <a:pPr algn="ctr"/>
            <a:r>
              <a:rPr lang="pt-BR" dirty="0"/>
              <a:t>Input</a:t>
            </a:r>
          </a:p>
        </p:txBody>
      </p:sp>
      <p:sp>
        <p:nvSpPr>
          <p:cNvPr id="12" name="CaixaDeTexto 11">
            <a:extLst>
              <a:ext uri="{FF2B5EF4-FFF2-40B4-BE49-F238E27FC236}">
                <a16:creationId xmlns:a16="http://schemas.microsoft.com/office/drawing/2014/main" id="{7B8B8CA8-61E4-C9CA-6A4D-466E8231B771}"/>
              </a:ext>
            </a:extLst>
          </p:cNvPr>
          <p:cNvSpPr txBox="1"/>
          <p:nvPr/>
        </p:nvSpPr>
        <p:spPr>
          <a:xfrm>
            <a:off x="2586777" y="3102260"/>
            <a:ext cx="858783" cy="369332"/>
          </a:xfrm>
          <a:prstGeom prst="rect">
            <a:avLst/>
          </a:prstGeom>
          <a:noFill/>
        </p:spPr>
        <p:txBody>
          <a:bodyPr wrap="square" rtlCol="0">
            <a:spAutoFit/>
          </a:bodyPr>
          <a:lstStyle/>
          <a:p>
            <a:pPr algn="ctr"/>
            <a:r>
              <a:rPr lang="pt-BR" dirty="0"/>
              <a:t>Kernel</a:t>
            </a:r>
          </a:p>
        </p:txBody>
      </p:sp>
      <p:sp>
        <p:nvSpPr>
          <p:cNvPr id="13" name="CaixaDeTexto 12">
            <a:extLst>
              <a:ext uri="{FF2B5EF4-FFF2-40B4-BE49-F238E27FC236}">
                <a16:creationId xmlns:a16="http://schemas.microsoft.com/office/drawing/2014/main" id="{08F6AF5F-F6FE-1F04-3AE2-CFD130F56D12}"/>
              </a:ext>
            </a:extLst>
          </p:cNvPr>
          <p:cNvSpPr txBox="1"/>
          <p:nvPr/>
        </p:nvSpPr>
        <p:spPr>
          <a:xfrm>
            <a:off x="4119973" y="3102260"/>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mc:Choice xmlns:a14="http://schemas.microsoft.com/office/drawing/2010/main" Requires="a14">
          <p:sp>
            <p:nvSpPr>
              <p:cNvPr id="14" name="CaixaDeTexto 13">
                <a:extLst>
                  <a:ext uri="{FF2B5EF4-FFF2-40B4-BE49-F238E27FC236}">
                    <a16:creationId xmlns:a16="http://schemas.microsoft.com/office/drawing/2014/main" id="{C4ED1B6B-ADDA-0555-0D3C-655F9BE099D0}"/>
                  </a:ext>
                </a:extLst>
              </p:cNvPr>
              <p:cNvSpPr txBox="1"/>
              <p:nvPr/>
            </p:nvSpPr>
            <p:spPr>
              <a:xfrm>
                <a:off x="704247" y="4470524"/>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m:t>
                      </m:r>
                    </m:oMath>
                  </m:oMathPara>
                </a14:m>
                <a:endParaRPr lang="pt-BR" dirty="0"/>
              </a:p>
            </p:txBody>
          </p:sp>
        </mc:Choice>
        <mc:Fallback>
          <p:sp>
            <p:nvSpPr>
              <p:cNvPr id="14" name="CaixaDeTexto 13">
                <a:extLst>
                  <a:ext uri="{FF2B5EF4-FFF2-40B4-BE49-F238E27FC236}">
                    <a16:creationId xmlns:a16="http://schemas.microsoft.com/office/drawing/2014/main" id="{C4ED1B6B-ADDA-0555-0D3C-655F9BE099D0}"/>
                  </a:ext>
                </a:extLst>
              </p:cNvPr>
              <p:cNvSpPr txBox="1">
                <a:spLocks noRot="1" noChangeAspect="1" noMove="1" noResize="1" noEditPoints="1" noAdjustHandles="1" noChangeArrowheads="1" noChangeShapeType="1" noTextEdit="1"/>
              </p:cNvSpPr>
              <p:nvPr/>
            </p:nvSpPr>
            <p:spPr>
              <a:xfrm>
                <a:off x="704247" y="4470524"/>
                <a:ext cx="12430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CaixaDeTexto 14">
                <a:extLst>
                  <a:ext uri="{FF2B5EF4-FFF2-40B4-BE49-F238E27FC236}">
                    <a16:creationId xmlns:a16="http://schemas.microsoft.com/office/drawing/2014/main" id="{E6EFF395-28CF-5ECC-8A5B-88979EEE5E69}"/>
                  </a:ext>
                </a:extLst>
              </p:cNvPr>
              <p:cNvSpPr txBox="1"/>
              <p:nvPr/>
            </p:nvSpPr>
            <p:spPr>
              <a:xfrm>
                <a:off x="2430790" y="4290471"/>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p:sp>
            <p:nvSpPr>
              <p:cNvPr id="15" name="CaixaDeTexto 14">
                <a:extLst>
                  <a:ext uri="{FF2B5EF4-FFF2-40B4-BE49-F238E27FC236}">
                    <a16:creationId xmlns:a16="http://schemas.microsoft.com/office/drawing/2014/main" id="{E6EFF395-28CF-5ECC-8A5B-88979EEE5E69}"/>
                  </a:ext>
                </a:extLst>
              </p:cNvPr>
              <p:cNvSpPr txBox="1">
                <a:spLocks noRot="1" noChangeAspect="1" noMove="1" noResize="1" noEditPoints="1" noAdjustHandles="1" noChangeArrowheads="1" noChangeShapeType="1" noTextEdit="1"/>
              </p:cNvSpPr>
              <p:nvPr/>
            </p:nvSpPr>
            <p:spPr>
              <a:xfrm>
                <a:off x="2430790" y="4290471"/>
                <a:ext cx="1243014"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2C10FA52-A477-AC9D-2463-3ABFBFC9F7F3}"/>
                  </a:ext>
                </a:extLst>
              </p:cNvPr>
              <p:cNvSpPr txBox="1"/>
              <p:nvPr/>
            </p:nvSpPr>
            <p:spPr>
              <a:xfrm>
                <a:off x="3974878" y="4289222"/>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p:sp>
            <p:nvSpPr>
              <p:cNvPr id="16" name="CaixaDeTexto 15">
                <a:extLst>
                  <a:ext uri="{FF2B5EF4-FFF2-40B4-BE49-F238E27FC236}">
                    <a16:creationId xmlns:a16="http://schemas.microsoft.com/office/drawing/2014/main" id="{2C10FA52-A477-AC9D-2463-3ABFBFC9F7F3}"/>
                  </a:ext>
                </a:extLst>
              </p:cNvPr>
              <p:cNvSpPr txBox="1">
                <a:spLocks noRot="1" noChangeAspect="1" noMove="1" noResize="1" noEditPoints="1" noAdjustHandles="1" noChangeArrowheads="1" noChangeShapeType="1" noTextEdit="1"/>
              </p:cNvSpPr>
              <p:nvPr/>
            </p:nvSpPr>
            <p:spPr>
              <a:xfrm>
                <a:off x="3974878" y="4289222"/>
                <a:ext cx="1243014" cy="36933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350344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982808-ADC1-D99A-5EBB-CF8814C45545}"/>
              </a:ext>
            </a:extLst>
          </p:cNvPr>
          <p:cNvSpPr>
            <a:spLocks noGrp="1"/>
          </p:cNvSpPr>
          <p:nvPr>
            <p:ph type="title"/>
          </p:nvPr>
        </p:nvSpPr>
        <p:spPr/>
        <p:txBody>
          <a:bodyPr/>
          <a:lstStyle/>
          <a:p>
            <a:r>
              <a:rPr lang="pt-BR" i="1" dirty="0"/>
              <a:t>Padding</a:t>
            </a:r>
            <a:r>
              <a:rPr lang="pt-BR" dirty="0"/>
              <a:t> ou preenchimento</a:t>
            </a:r>
          </a:p>
        </p:txBody>
      </p:sp>
      <p:sp>
        <p:nvSpPr>
          <p:cNvPr id="3" name="Espaço Reservado para Conteúdo 2">
            <a:extLst>
              <a:ext uri="{FF2B5EF4-FFF2-40B4-BE49-F238E27FC236}">
                <a16:creationId xmlns:a16="http://schemas.microsoft.com/office/drawing/2014/main" id="{C9B1FE04-F6F1-AF10-F6F0-40369D98189E}"/>
              </a:ext>
            </a:extLst>
          </p:cNvPr>
          <p:cNvSpPr>
            <a:spLocks noGrp="1"/>
          </p:cNvSpPr>
          <p:nvPr>
            <p:ph idx="1"/>
          </p:nvPr>
        </p:nvSpPr>
        <p:spPr>
          <a:xfrm>
            <a:off x="5689599" y="1825624"/>
            <a:ext cx="6388519" cy="5032375"/>
          </a:xfrm>
        </p:spPr>
        <p:txBody>
          <a:bodyPr>
            <a:normAutofit/>
          </a:bodyPr>
          <a:lstStyle/>
          <a:p>
            <a:r>
              <a:rPr lang="pt-BR" noProof="0" dirty="0"/>
              <a:t>A convolução </a:t>
            </a:r>
            <a:r>
              <a:rPr lang="pt-BR" b="1" noProof="0" dirty="0">
                <a:solidFill>
                  <a:schemeClr val="accent2"/>
                </a:solidFill>
              </a:rPr>
              <a:t>reduz o tamanho do mapa de características </a:t>
            </a:r>
            <a:r>
              <a:rPr lang="pt-BR" noProof="0" dirty="0"/>
              <a:t>e faz com que os </a:t>
            </a:r>
            <a:r>
              <a:rPr lang="pt-BR" i="1" noProof="0" dirty="0"/>
              <a:t>pixels</a:t>
            </a:r>
            <a:r>
              <a:rPr lang="pt-BR" noProof="0" dirty="0"/>
              <a:t> das </a:t>
            </a:r>
            <a:r>
              <a:rPr lang="pt-BR" b="1" noProof="0" dirty="0">
                <a:solidFill>
                  <a:srgbClr val="00B050"/>
                </a:solidFill>
              </a:rPr>
              <a:t>bordas participem de menos convoluções que os centrais </a:t>
            </a:r>
            <a:r>
              <a:rPr lang="pt-BR" noProof="0" dirty="0"/>
              <a:t>(subutilização).</a:t>
            </a:r>
          </a:p>
          <a:p>
            <a:r>
              <a:rPr lang="pt-BR" noProof="0" dirty="0"/>
              <a:t>O </a:t>
            </a:r>
            <a:r>
              <a:rPr lang="pt-BR" i="1" noProof="0" dirty="0"/>
              <a:t>padding</a:t>
            </a:r>
            <a:r>
              <a:rPr lang="pt-BR" noProof="0" dirty="0"/>
              <a:t> garante que todos os </a:t>
            </a:r>
            <a:r>
              <a:rPr lang="pt-BR" i="1" noProof="0" dirty="0"/>
              <a:t>pixels</a:t>
            </a:r>
            <a:r>
              <a:rPr lang="pt-BR" noProof="0" dirty="0"/>
              <a:t> </a:t>
            </a:r>
            <a:r>
              <a:rPr lang="pt-BR" b="1" noProof="0" dirty="0">
                <a:solidFill>
                  <a:srgbClr val="00B050"/>
                </a:solidFill>
              </a:rPr>
              <a:t>contribuam de forma mais igualitária </a:t>
            </a:r>
            <a:r>
              <a:rPr lang="pt-BR" noProof="0" dirty="0"/>
              <a:t>para a extração de características.</a:t>
            </a:r>
          </a:p>
        </p:txBody>
      </p:sp>
      <p:graphicFrame>
        <p:nvGraphicFramePr>
          <p:cNvPr id="5" name="Tabela 4">
            <a:extLst>
              <a:ext uri="{FF2B5EF4-FFF2-40B4-BE49-F238E27FC236}">
                <a16:creationId xmlns:a16="http://schemas.microsoft.com/office/drawing/2014/main" id="{AE6D50D0-AD5D-D694-4CFA-F8C0DAAC5EA8}"/>
              </a:ext>
            </a:extLst>
          </p:cNvPr>
          <p:cNvGraphicFramePr>
            <a:graphicFrameLocks/>
          </p:cNvGraphicFramePr>
          <p:nvPr>
            <p:extLst>
              <p:ext uri="{D42A27DB-BD31-4B8C-83A1-F6EECF244321}">
                <p14:modId xmlns:p14="http://schemas.microsoft.com/office/powerpoint/2010/main" val="2729802895"/>
              </p:ext>
            </p:extLst>
          </p:nvPr>
        </p:nvGraphicFramePr>
        <p:xfrm>
          <a:off x="721242" y="3259301"/>
          <a:ext cx="1305909" cy="111252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gridCol w="435303">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07704462"/>
                  </a:ext>
                </a:extLst>
              </a:tr>
            </a:tbl>
          </a:graphicData>
        </a:graphic>
      </p:graphicFrame>
      <p:graphicFrame>
        <p:nvGraphicFramePr>
          <p:cNvPr id="6" name="Tabela 4">
            <a:extLst>
              <a:ext uri="{FF2B5EF4-FFF2-40B4-BE49-F238E27FC236}">
                <a16:creationId xmlns:a16="http://schemas.microsoft.com/office/drawing/2014/main" id="{FF7B0AED-4297-5F0D-1915-6DABA0D05C70}"/>
              </a:ext>
            </a:extLst>
          </p:cNvPr>
          <p:cNvGraphicFramePr>
            <a:graphicFrameLocks/>
          </p:cNvGraphicFramePr>
          <p:nvPr>
            <p:extLst>
              <p:ext uri="{D42A27DB-BD31-4B8C-83A1-F6EECF244321}">
                <p14:modId xmlns:p14="http://schemas.microsoft.com/office/powerpoint/2010/main" val="1593709090"/>
              </p:ext>
            </p:extLst>
          </p:nvPr>
        </p:nvGraphicFramePr>
        <p:xfrm>
          <a:off x="2617484" y="344472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AlternateContent xmlns:mc="http://schemas.openxmlformats.org/markup-compatibility/2006">
        <mc:Choice xmlns:a14="http://schemas.microsoft.com/office/drawing/2010/main" Requires="a14">
          <p:sp>
            <p:nvSpPr>
              <p:cNvPr id="7" name="CaixaDeTexto 6">
                <a:extLst>
                  <a:ext uri="{FF2B5EF4-FFF2-40B4-BE49-F238E27FC236}">
                    <a16:creationId xmlns:a16="http://schemas.microsoft.com/office/drawing/2014/main" id="{528D9D4E-AB58-5A0F-04BD-A9CFB1831F44}"/>
                  </a:ext>
                </a:extLst>
              </p:cNvPr>
              <p:cNvSpPr txBox="1"/>
              <p:nvPr/>
            </p:nvSpPr>
            <p:spPr>
              <a:xfrm>
                <a:off x="2015328" y="3556220"/>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p:sp>
            <p:nvSpPr>
              <p:cNvPr id="7" name="CaixaDeTexto 6">
                <a:extLst>
                  <a:ext uri="{FF2B5EF4-FFF2-40B4-BE49-F238E27FC236}">
                    <a16:creationId xmlns:a16="http://schemas.microsoft.com/office/drawing/2014/main" id="{528D9D4E-AB58-5A0F-04BD-A9CFB1831F44}"/>
                  </a:ext>
                </a:extLst>
              </p:cNvPr>
              <p:cNvSpPr txBox="1">
                <a:spLocks noRot="1" noChangeAspect="1" noMove="1" noResize="1" noEditPoints="1" noAdjustHandles="1" noChangeArrowheads="1" noChangeShapeType="1" noTextEdit="1"/>
              </p:cNvSpPr>
              <p:nvPr/>
            </p:nvSpPr>
            <p:spPr>
              <a:xfrm>
                <a:off x="2015328" y="3556220"/>
                <a:ext cx="578069" cy="461665"/>
              </a:xfrm>
              <a:prstGeom prst="rect">
                <a:avLst/>
              </a:prstGeom>
              <a:blipFill>
                <a:blip r:embed="rId3"/>
                <a:stretch>
                  <a:fillRect b="-92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aixaDeTexto 7">
                <a:extLst>
                  <a:ext uri="{FF2B5EF4-FFF2-40B4-BE49-F238E27FC236}">
                    <a16:creationId xmlns:a16="http://schemas.microsoft.com/office/drawing/2014/main" id="{3744E9DB-089F-7808-5191-D38F09F6D621}"/>
                  </a:ext>
                </a:extLst>
              </p:cNvPr>
              <p:cNvSpPr txBox="1"/>
              <p:nvPr/>
            </p:nvSpPr>
            <p:spPr>
              <a:xfrm>
                <a:off x="3536262" y="3494665"/>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p:sp>
            <p:nvSpPr>
              <p:cNvPr id="8" name="CaixaDeTexto 7">
                <a:extLst>
                  <a:ext uri="{FF2B5EF4-FFF2-40B4-BE49-F238E27FC236}">
                    <a16:creationId xmlns:a16="http://schemas.microsoft.com/office/drawing/2014/main" id="{3744E9DB-089F-7808-5191-D38F09F6D621}"/>
                  </a:ext>
                </a:extLst>
              </p:cNvPr>
              <p:cNvSpPr txBox="1">
                <a:spLocks noRot="1" noChangeAspect="1" noMove="1" noResize="1" noEditPoints="1" noAdjustHandles="1" noChangeArrowheads="1" noChangeShapeType="1" noTextEdit="1"/>
              </p:cNvSpPr>
              <p:nvPr/>
            </p:nvSpPr>
            <p:spPr>
              <a:xfrm>
                <a:off x="3536262" y="3494665"/>
                <a:ext cx="578069" cy="523220"/>
              </a:xfrm>
              <a:prstGeom prst="rect">
                <a:avLst/>
              </a:prstGeom>
              <a:blipFill>
                <a:blip r:embed="rId4"/>
                <a:stretch>
                  <a:fillRect/>
                </a:stretch>
              </a:blipFill>
            </p:spPr>
            <p:txBody>
              <a:bodyPr/>
              <a:lstStyle/>
              <a:p>
                <a:r>
                  <a:rPr lang="en-US">
                    <a:noFill/>
                  </a:rPr>
                  <a:t> </a:t>
                </a:r>
              </a:p>
            </p:txBody>
          </p:sp>
        </mc:Fallback>
      </mc:AlternateContent>
      <p:graphicFrame>
        <p:nvGraphicFramePr>
          <p:cNvPr id="10" name="Tabela 4">
            <a:extLst>
              <a:ext uri="{FF2B5EF4-FFF2-40B4-BE49-F238E27FC236}">
                <a16:creationId xmlns:a16="http://schemas.microsoft.com/office/drawing/2014/main" id="{6F944977-B700-575F-4A2C-3200014DFAF1}"/>
              </a:ext>
            </a:extLst>
          </p:cNvPr>
          <p:cNvGraphicFramePr>
            <a:graphicFrameLocks/>
          </p:cNvGraphicFramePr>
          <p:nvPr>
            <p:extLst>
              <p:ext uri="{D42A27DB-BD31-4B8C-83A1-F6EECF244321}">
                <p14:modId xmlns:p14="http://schemas.microsoft.com/office/powerpoint/2010/main" val="3181267656"/>
              </p:ext>
            </p:extLst>
          </p:nvPr>
        </p:nvGraphicFramePr>
        <p:xfrm>
          <a:off x="4162504" y="344472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sp>
        <p:nvSpPr>
          <p:cNvPr id="11" name="CaixaDeTexto 10">
            <a:extLst>
              <a:ext uri="{FF2B5EF4-FFF2-40B4-BE49-F238E27FC236}">
                <a16:creationId xmlns:a16="http://schemas.microsoft.com/office/drawing/2014/main" id="{BA271B14-00B8-A39B-0427-D097E75001F8}"/>
              </a:ext>
            </a:extLst>
          </p:cNvPr>
          <p:cNvSpPr txBox="1"/>
          <p:nvPr/>
        </p:nvSpPr>
        <p:spPr>
          <a:xfrm>
            <a:off x="721242" y="2889969"/>
            <a:ext cx="1294085" cy="369332"/>
          </a:xfrm>
          <a:prstGeom prst="rect">
            <a:avLst/>
          </a:prstGeom>
          <a:noFill/>
        </p:spPr>
        <p:txBody>
          <a:bodyPr wrap="square" rtlCol="0">
            <a:spAutoFit/>
          </a:bodyPr>
          <a:lstStyle/>
          <a:p>
            <a:pPr algn="ctr"/>
            <a:r>
              <a:rPr lang="pt-BR" dirty="0"/>
              <a:t>Input</a:t>
            </a:r>
          </a:p>
        </p:txBody>
      </p:sp>
      <p:sp>
        <p:nvSpPr>
          <p:cNvPr id="12" name="CaixaDeTexto 11">
            <a:extLst>
              <a:ext uri="{FF2B5EF4-FFF2-40B4-BE49-F238E27FC236}">
                <a16:creationId xmlns:a16="http://schemas.microsoft.com/office/drawing/2014/main" id="{7B8B8CA8-61E4-C9CA-6A4D-466E8231B771}"/>
              </a:ext>
            </a:extLst>
          </p:cNvPr>
          <p:cNvSpPr txBox="1"/>
          <p:nvPr/>
        </p:nvSpPr>
        <p:spPr>
          <a:xfrm>
            <a:off x="2629307" y="3059730"/>
            <a:ext cx="858783" cy="369332"/>
          </a:xfrm>
          <a:prstGeom prst="rect">
            <a:avLst/>
          </a:prstGeom>
          <a:noFill/>
        </p:spPr>
        <p:txBody>
          <a:bodyPr wrap="square" rtlCol="0">
            <a:spAutoFit/>
          </a:bodyPr>
          <a:lstStyle/>
          <a:p>
            <a:pPr algn="ctr"/>
            <a:r>
              <a:rPr lang="pt-BR" dirty="0"/>
              <a:t>Kernel</a:t>
            </a:r>
          </a:p>
        </p:txBody>
      </p:sp>
      <p:sp>
        <p:nvSpPr>
          <p:cNvPr id="13" name="CaixaDeTexto 12">
            <a:extLst>
              <a:ext uri="{FF2B5EF4-FFF2-40B4-BE49-F238E27FC236}">
                <a16:creationId xmlns:a16="http://schemas.microsoft.com/office/drawing/2014/main" id="{08F6AF5F-F6FE-1F04-3AE2-CFD130F56D12}"/>
              </a:ext>
            </a:extLst>
          </p:cNvPr>
          <p:cNvSpPr txBox="1"/>
          <p:nvPr/>
        </p:nvSpPr>
        <p:spPr>
          <a:xfrm>
            <a:off x="4162503" y="3059730"/>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mc:Choice xmlns:a14="http://schemas.microsoft.com/office/drawing/2010/main" Requires="a14">
          <p:sp>
            <p:nvSpPr>
              <p:cNvPr id="14" name="CaixaDeTexto 13">
                <a:extLst>
                  <a:ext uri="{FF2B5EF4-FFF2-40B4-BE49-F238E27FC236}">
                    <a16:creationId xmlns:a16="http://schemas.microsoft.com/office/drawing/2014/main" id="{C4ED1B6B-ADDA-0555-0D3C-655F9BE099D0}"/>
                  </a:ext>
                </a:extLst>
              </p:cNvPr>
              <p:cNvSpPr txBox="1"/>
              <p:nvPr/>
            </p:nvSpPr>
            <p:spPr>
              <a:xfrm>
                <a:off x="746777" y="4427994"/>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m:t>
                      </m:r>
                    </m:oMath>
                  </m:oMathPara>
                </a14:m>
                <a:endParaRPr lang="pt-BR" dirty="0"/>
              </a:p>
            </p:txBody>
          </p:sp>
        </mc:Choice>
        <mc:Fallback>
          <p:sp>
            <p:nvSpPr>
              <p:cNvPr id="14" name="CaixaDeTexto 13">
                <a:extLst>
                  <a:ext uri="{FF2B5EF4-FFF2-40B4-BE49-F238E27FC236}">
                    <a16:creationId xmlns:a16="http://schemas.microsoft.com/office/drawing/2014/main" id="{C4ED1B6B-ADDA-0555-0D3C-655F9BE099D0}"/>
                  </a:ext>
                </a:extLst>
              </p:cNvPr>
              <p:cNvSpPr txBox="1">
                <a:spLocks noRot="1" noChangeAspect="1" noMove="1" noResize="1" noEditPoints="1" noAdjustHandles="1" noChangeArrowheads="1" noChangeShapeType="1" noTextEdit="1"/>
              </p:cNvSpPr>
              <p:nvPr/>
            </p:nvSpPr>
            <p:spPr>
              <a:xfrm>
                <a:off x="746777" y="4427994"/>
                <a:ext cx="124301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CaixaDeTexto 14">
                <a:extLst>
                  <a:ext uri="{FF2B5EF4-FFF2-40B4-BE49-F238E27FC236}">
                    <a16:creationId xmlns:a16="http://schemas.microsoft.com/office/drawing/2014/main" id="{E6EFF395-28CF-5ECC-8A5B-88979EEE5E69}"/>
                  </a:ext>
                </a:extLst>
              </p:cNvPr>
              <p:cNvSpPr txBox="1"/>
              <p:nvPr/>
            </p:nvSpPr>
            <p:spPr>
              <a:xfrm>
                <a:off x="2473320" y="4247941"/>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p:sp>
            <p:nvSpPr>
              <p:cNvPr id="15" name="CaixaDeTexto 14">
                <a:extLst>
                  <a:ext uri="{FF2B5EF4-FFF2-40B4-BE49-F238E27FC236}">
                    <a16:creationId xmlns:a16="http://schemas.microsoft.com/office/drawing/2014/main" id="{E6EFF395-28CF-5ECC-8A5B-88979EEE5E69}"/>
                  </a:ext>
                </a:extLst>
              </p:cNvPr>
              <p:cNvSpPr txBox="1">
                <a:spLocks noRot="1" noChangeAspect="1" noMove="1" noResize="1" noEditPoints="1" noAdjustHandles="1" noChangeArrowheads="1" noChangeShapeType="1" noTextEdit="1"/>
              </p:cNvSpPr>
              <p:nvPr/>
            </p:nvSpPr>
            <p:spPr>
              <a:xfrm>
                <a:off x="2473320" y="4247941"/>
                <a:ext cx="12430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CaixaDeTexto 15">
                <a:extLst>
                  <a:ext uri="{FF2B5EF4-FFF2-40B4-BE49-F238E27FC236}">
                    <a16:creationId xmlns:a16="http://schemas.microsoft.com/office/drawing/2014/main" id="{2C10FA52-A477-AC9D-2463-3ABFBFC9F7F3}"/>
                  </a:ext>
                </a:extLst>
              </p:cNvPr>
              <p:cNvSpPr txBox="1"/>
              <p:nvPr/>
            </p:nvSpPr>
            <p:spPr>
              <a:xfrm>
                <a:off x="4017408" y="4246692"/>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m:t>
                      </m:r>
                      <m:r>
                        <a:rPr lang="pt-BR" b="0" i="0" smtClean="0">
                          <a:latin typeface="Cambria Math" panose="02040503050406030204" pitchFamily="18" charset="0"/>
                          <a:ea typeface="Cambria Math" panose="02040503050406030204" pitchFamily="18" charset="0"/>
                        </a:rPr>
                        <m:t>2</m:t>
                      </m:r>
                    </m:oMath>
                  </m:oMathPara>
                </a14:m>
                <a:endParaRPr lang="pt-BR" dirty="0"/>
              </a:p>
            </p:txBody>
          </p:sp>
        </mc:Choice>
        <mc:Fallback>
          <p:sp>
            <p:nvSpPr>
              <p:cNvPr id="16" name="CaixaDeTexto 15">
                <a:extLst>
                  <a:ext uri="{FF2B5EF4-FFF2-40B4-BE49-F238E27FC236}">
                    <a16:creationId xmlns:a16="http://schemas.microsoft.com/office/drawing/2014/main" id="{2C10FA52-A477-AC9D-2463-3ABFBFC9F7F3}"/>
                  </a:ext>
                </a:extLst>
              </p:cNvPr>
              <p:cNvSpPr txBox="1">
                <a:spLocks noRot="1" noChangeAspect="1" noMove="1" noResize="1" noEditPoints="1" noAdjustHandles="1" noChangeArrowheads="1" noChangeShapeType="1" noTextEdit="1"/>
              </p:cNvSpPr>
              <p:nvPr/>
            </p:nvSpPr>
            <p:spPr>
              <a:xfrm>
                <a:off x="4017408" y="4246692"/>
                <a:ext cx="1243014"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022239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982808-ADC1-D99A-5EBB-CF8814C45545}"/>
              </a:ext>
            </a:extLst>
          </p:cNvPr>
          <p:cNvSpPr>
            <a:spLocks noGrp="1"/>
          </p:cNvSpPr>
          <p:nvPr>
            <p:ph type="title"/>
          </p:nvPr>
        </p:nvSpPr>
        <p:spPr/>
        <p:txBody>
          <a:bodyPr/>
          <a:lstStyle/>
          <a:p>
            <a:r>
              <a:rPr lang="pt-BR" i="1" dirty="0"/>
              <a:t>Padding</a:t>
            </a:r>
            <a:r>
              <a:rPr lang="pt-BR" dirty="0"/>
              <a:t> ou preenchimento</a:t>
            </a:r>
          </a:p>
        </p:txBody>
      </p:sp>
      <p:sp>
        <p:nvSpPr>
          <p:cNvPr id="3" name="Espaço Reservado para Conteúdo 2">
            <a:extLst>
              <a:ext uri="{FF2B5EF4-FFF2-40B4-BE49-F238E27FC236}">
                <a16:creationId xmlns:a16="http://schemas.microsoft.com/office/drawing/2014/main" id="{C9B1FE04-F6F1-AF10-F6F0-40369D98189E}"/>
              </a:ext>
            </a:extLst>
          </p:cNvPr>
          <p:cNvSpPr>
            <a:spLocks noGrp="1"/>
          </p:cNvSpPr>
          <p:nvPr>
            <p:ph idx="1"/>
          </p:nvPr>
        </p:nvSpPr>
        <p:spPr>
          <a:xfrm>
            <a:off x="6096000" y="1825624"/>
            <a:ext cx="6022312" cy="5032375"/>
          </a:xfrm>
        </p:spPr>
        <p:txBody>
          <a:bodyPr>
            <a:normAutofit/>
          </a:bodyPr>
          <a:lstStyle/>
          <a:p>
            <a:r>
              <a:rPr lang="pt-BR" b="0" i="0" dirty="0">
                <a:effectLst/>
              </a:rPr>
              <a:t>O </a:t>
            </a:r>
            <a:r>
              <a:rPr lang="pt-BR" b="1" i="1" dirty="0">
                <a:effectLst/>
              </a:rPr>
              <a:t>padding</a:t>
            </a:r>
            <a:r>
              <a:rPr lang="pt-BR" b="0" i="0" dirty="0">
                <a:effectLst/>
              </a:rPr>
              <a:t> </a:t>
            </a:r>
            <a:r>
              <a:rPr lang="pt-BR" dirty="0"/>
              <a:t>é usado </a:t>
            </a:r>
            <a:r>
              <a:rPr lang="pt-BR" b="0" dirty="0">
                <a:effectLst/>
              </a:rPr>
              <a:t>para </a:t>
            </a:r>
            <a:r>
              <a:rPr lang="pt-BR" b="1" dirty="0">
                <a:solidFill>
                  <a:srgbClr val="00B050"/>
                </a:solidFill>
                <a:effectLst/>
              </a:rPr>
              <a:t>controlar o tamanho dos mapas de características </a:t>
            </a:r>
            <a:r>
              <a:rPr lang="pt-BR" b="0" dirty="0">
                <a:effectLst/>
              </a:rPr>
              <a:t>de saída de uma camada convolucional</a:t>
            </a:r>
            <a:r>
              <a:rPr lang="pt-BR" dirty="0"/>
              <a:t>.</a:t>
            </a:r>
            <a:endParaRPr lang="pt-BR" b="0" dirty="0">
              <a:effectLst/>
            </a:endParaRPr>
          </a:p>
          <a:p>
            <a:r>
              <a:rPr lang="pt-BR" b="1" i="1" dirty="0">
                <a:solidFill>
                  <a:srgbClr val="00B050"/>
                </a:solidFill>
                <a:effectLst/>
              </a:rPr>
              <a:t>Pixels </a:t>
            </a:r>
            <a:r>
              <a:rPr lang="pt-BR" b="1" dirty="0">
                <a:solidFill>
                  <a:srgbClr val="00B050"/>
                </a:solidFill>
                <a:effectLst/>
              </a:rPr>
              <a:t>de preenchimento são adicionados às </a:t>
            </a:r>
            <a:r>
              <a:rPr lang="pt-BR" b="1" dirty="0">
                <a:solidFill>
                  <a:schemeClr val="accent2"/>
                </a:solidFill>
                <a:effectLst/>
              </a:rPr>
              <a:t>bordas</a:t>
            </a:r>
            <a:r>
              <a:rPr lang="pt-BR" b="1" dirty="0">
                <a:solidFill>
                  <a:srgbClr val="00B050"/>
                </a:solidFill>
                <a:effectLst/>
              </a:rPr>
              <a:t> </a:t>
            </a:r>
            <a:r>
              <a:rPr lang="pt-BR" b="1" dirty="0">
                <a:solidFill>
                  <a:srgbClr val="0070C0"/>
                </a:solidFill>
                <a:effectLst/>
              </a:rPr>
              <a:t>da imagem ou aos mapas de características</a:t>
            </a:r>
            <a:r>
              <a:rPr lang="pt-BR" b="0" dirty="0">
                <a:effectLst/>
              </a:rPr>
              <a:t>, aumentando assim seu tamanho efetivo.</a:t>
            </a:r>
          </a:p>
          <a:p>
            <a:r>
              <a:rPr lang="pt-BR" b="0" i="0" dirty="0">
                <a:effectLst/>
              </a:rPr>
              <a:t>Em geral, os </a:t>
            </a:r>
            <a:r>
              <a:rPr lang="pt-BR" b="1" i="1" dirty="0">
                <a:solidFill>
                  <a:srgbClr val="7030A0"/>
                </a:solidFill>
                <a:effectLst/>
              </a:rPr>
              <a:t>pixels </a:t>
            </a:r>
            <a:r>
              <a:rPr lang="pt-BR" b="1" dirty="0">
                <a:solidFill>
                  <a:srgbClr val="7030A0"/>
                </a:solidFill>
                <a:effectLst/>
              </a:rPr>
              <a:t>de</a:t>
            </a:r>
            <a:r>
              <a:rPr lang="pt-BR" b="1" i="1" dirty="0">
                <a:solidFill>
                  <a:srgbClr val="7030A0"/>
                </a:solidFill>
                <a:effectLst/>
              </a:rPr>
              <a:t> padding </a:t>
            </a:r>
            <a:r>
              <a:rPr lang="pt-BR" b="1" dirty="0">
                <a:solidFill>
                  <a:srgbClr val="7030A0"/>
                </a:solidFill>
                <a:effectLst/>
              </a:rPr>
              <a:t>são feitos iguais a zero</a:t>
            </a:r>
            <a:r>
              <a:rPr lang="pt-BR" b="0" dirty="0">
                <a:effectLst/>
              </a:rPr>
              <a:t>.</a:t>
            </a:r>
          </a:p>
        </p:txBody>
      </p:sp>
      <p:pic>
        <p:nvPicPr>
          <p:cNvPr id="6" name="Imagem 5">
            <a:extLst>
              <a:ext uri="{FF2B5EF4-FFF2-40B4-BE49-F238E27FC236}">
                <a16:creationId xmlns:a16="http://schemas.microsoft.com/office/drawing/2014/main" id="{C0B71047-D961-229D-327A-FDFFBBE555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3695" y="1811485"/>
            <a:ext cx="5148385" cy="2526371"/>
          </a:xfrm>
          <a:prstGeom prst="rect">
            <a:avLst/>
          </a:prstGeom>
        </p:spPr>
      </p:pic>
      <mc:AlternateContent xmlns:mc="http://schemas.openxmlformats.org/markup-compatibility/2006">
        <mc:Choice xmlns:a14="http://schemas.microsoft.com/office/drawing/2010/main" Requires="a14">
          <p:sp>
            <p:nvSpPr>
              <p:cNvPr id="5" name="CaixaDeTexto 4">
                <a:extLst>
                  <a:ext uri="{FF2B5EF4-FFF2-40B4-BE49-F238E27FC236}">
                    <a16:creationId xmlns:a16="http://schemas.microsoft.com/office/drawing/2014/main" id="{84AFB6D4-6631-419D-E379-8BB1CB10A50B}"/>
                  </a:ext>
                </a:extLst>
              </p:cNvPr>
              <p:cNvSpPr txBox="1"/>
              <p:nvPr/>
            </p:nvSpPr>
            <p:spPr>
              <a:xfrm>
                <a:off x="762286" y="4650043"/>
                <a:ext cx="4771204" cy="2069797"/>
              </a:xfrm>
              <a:prstGeom prst="rect">
                <a:avLst/>
              </a:prstGeom>
              <a:noFill/>
            </p:spPr>
            <p:txBody>
              <a:bodyPr wrap="square" rtlCol="0">
                <a:spAutoFit/>
              </a:bodyPr>
              <a:lstStyle/>
              <a:p>
                <a:pPr/>
                <a14:m>
                  <m:oMathPara xmlns:m="http://schemas.openxmlformats.org/officeDocument/2006/math">
                    <m:oMath>
                      <m:sSub>
                        <m:sSubPr>
                          <m:ctrlPr>
                            <a:rPr lang="pt-BR" sz="2000" i="1">
                              <a:latin typeface="Cambria Math" panose="02040503050406030204" pitchFamily="18" charset="0"/>
                            </a:rPr>
                          </m:ctrlPr>
                        </m:sSubPr>
                        <m:e>
                          <m:r>
                            <a:rPr lang="pt-BR" sz="2000" i="1">
                              <a:latin typeface="Cambria Math" panose="02040503050406030204" pitchFamily="18" charset="0"/>
                            </a:rPr>
                            <m:t>𝑛</m:t>
                          </m:r>
                        </m:e>
                        <m:sub>
                          <m:r>
                            <a:rPr lang="pt-BR" sz="2000" b="0" i="1" smtClean="0">
                              <a:latin typeface="Cambria Math" panose="02040503050406030204" pitchFamily="18" charset="0"/>
                            </a:rPr>
                            <m:t>𝑜𝑢𝑡</m:t>
                          </m:r>
                        </m:sub>
                      </m:sSub>
                      <m:r>
                        <a:rPr lang="pt-BR" sz="2000" b="0" i="1" smtClean="0">
                          <a:latin typeface="Cambria Math" panose="02040503050406030204" pitchFamily="18" charset="0"/>
                        </a:rPr>
                        <m:t>=</m:t>
                      </m:r>
                      <m:d>
                        <m:dPr>
                          <m:begChr m:val="⌊"/>
                          <m:endChr m:val="⌋"/>
                          <m:ctrlPr>
                            <a:rPr lang="pt-BR" sz="2000" b="0" i="1" smtClean="0">
                              <a:latin typeface="Cambria Math" panose="02040503050406030204" pitchFamily="18" charset="0"/>
                            </a:rPr>
                          </m:ctrlPr>
                        </m:dPr>
                        <m:e>
                          <m:f>
                            <m:fPr>
                              <m:ctrlPr>
                                <a:rPr lang="pt-BR" sz="2000" b="0" i="1" smtClean="0">
                                  <a:latin typeface="Cambria Math" panose="02040503050406030204" pitchFamily="18" charset="0"/>
                                </a:rPr>
                              </m:ctrlPr>
                            </m:fPr>
                            <m:num>
                              <m:sSub>
                                <m:sSubPr>
                                  <m:ctrlPr>
                                    <a:rPr lang="pt-BR" sz="2000" b="0" i="1" smtClean="0">
                                      <a:latin typeface="Cambria Math" panose="02040503050406030204" pitchFamily="18" charset="0"/>
                                    </a:rPr>
                                  </m:ctrlPr>
                                </m:sSubPr>
                                <m:e>
                                  <m:r>
                                    <a:rPr lang="pt-BR" sz="2000" b="0" i="1" smtClean="0">
                                      <a:latin typeface="Cambria Math" panose="02040503050406030204" pitchFamily="18" charset="0"/>
                                    </a:rPr>
                                    <m:t>𝑛</m:t>
                                  </m:r>
                                </m:e>
                                <m:sub>
                                  <m:r>
                                    <a:rPr lang="pt-BR" sz="2000" b="0" i="1" smtClean="0">
                                      <a:latin typeface="Cambria Math" panose="02040503050406030204" pitchFamily="18" charset="0"/>
                                    </a:rPr>
                                    <m:t>𝑖𝑛</m:t>
                                  </m:r>
                                </m:sub>
                              </m:sSub>
                              <m:r>
                                <a:rPr lang="pt-BR" sz="2000" b="0" i="1" smtClean="0">
                                  <a:latin typeface="Cambria Math" panose="02040503050406030204" pitchFamily="18" charset="0"/>
                                </a:rPr>
                                <m:t>+2</m:t>
                              </m:r>
                              <m:r>
                                <a:rPr lang="pt-BR" sz="2000" b="0" i="1" smtClean="0">
                                  <a:latin typeface="Cambria Math" panose="02040503050406030204" pitchFamily="18" charset="0"/>
                                </a:rPr>
                                <m:t>𝑝</m:t>
                              </m:r>
                              <m:r>
                                <a:rPr lang="pt-BR" sz="2000" b="0" i="1" smtClean="0">
                                  <a:latin typeface="Cambria Math" panose="02040503050406030204" pitchFamily="18" charset="0"/>
                                </a:rPr>
                                <m:t>−</m:t>
                              </m:r>
                              <m:r>
                                <a:rPr lang="pt-BR" sz="2000" b="0" i="1" smtClean="0">
                                  <a:latin typeface="Cambria Math" panose="02040503050406030204" pitchFamily="18" charset="0"/>
                                </a:rPr>
                                <m:t>𝑘</m:t>
                              </m:r>
                            </m:num>
                            <m:den>
                              <m:r>
                                <a:rPr lang="pt-BR" sz="2000" b="0" i="1" smtClean="0">
                                  <a:latin typeface="Cambria Math" panose="02040503050406030204" pitchFamily="18" charset="0"/>
                                </a:rPr>
                                <m:t>𝑠</m:t>
                              </m:r>
                            </m:den>
                          </m:f>
                        </m:e>
                      </m:d>
                      <m:r>
                        <a:rPr lang="pt-BR" sz="2000" b="0" i="1" smtClean="0">
                          <a:latin typeface="Cambria Math" panose="02040503050406030204" pitchFamily="18" charset="0"/>
                        </a:rPr>
                        <m:t>+1</m:t>
                      </m:r>
                    </m:oMath>
                  </m:oMathPara>
                </a14:m>
                <a:endParaRPr lang="pt-BR" sz="2000" dirty="0"/>
              </a:p>
              <a:p>
                <a14:m>
                  <m:oMath xmlns:m="http://schemas.openxmlformats.org/officeDocument/2006/math">
                    <m:sSub>
                      <m:sSubPr>
                        <m:ctrlPr>
                          <a:rPr lang="pt-BR" sz="1400" i="1">
                            <a:latin typeface="Cambria Math" panose="02040503050406030204" pitchFamily="18" charset="0"/>
                          </a:rPr>
                        </m:ctrlPr>
                      </m:sSubPr>
                      <m:e>
                        <m:r>
                          <a:rPr lang="pt-BR" sz="1400" i="1">
                            <a:latin typeface="Cambria Math" panose="02040503050406030204" pitchFamily="18" charset="0"/>
                          </a:rPr>
                          <m:t>𝑛</m:t>
                        </m:r>
                      </m:e>
                      <m:sub>
                        <m:r>
                          <a:rPr lang="pt-BR" sz="1400" b="0" i="1" smtClean="0">
                            <a:latin typeface="Cambria Math" panose="02040503050406030204" pitchFamily="18" charset="0"/>
                          </a:rPr>
                          <m:t>𝑜𝑢𝑡</m:t>
                        </m:r>
                      </m:sub>
                    </m:sSub>
                    <m:r>
                      <a:rPr lang="pt-BR" sz="1400" b="0" i="1" smtClean="0">
                        <a:latin typeface="Cambria Math" panose="02040503050406030204" pitchFamily="18" charset="0"/>
                      </a:rPr>
                      <m:t> </m:t>
                    </m:r>
                  </m:oMath>
                </a14:m>
                <a:r>
                  <a:rPr lang="pt-BR" sz="1400" dirty="0"/>
                  <a:t>: dimensão da saída</a:t>
                </a:r>
              </a:p>
              <a:p>
                <a14:m>
                  <m:oMath xmlns:m="http://schemas.openxmlformats.org/officeDocument/2006/math">
                    <m:sSub>
                      <m:sSubPr>
                        <m:ctrlPr>
                          <a:rPr lang="pt-BR" sz="1400" b="0" i="1" smtClean="0">
                            <a:latin typeface="Cambria Math" panose="02040503050406030204" pitchFamily="18" charset="0"/>
                          </a:rPr>
                        </m:ctrlPr>
                      </m:sSubPr>
                      <m:e>
                        <m:r>
                          <a:rPr lang="pt-BR" sz="1400" b="0" i="1" smtClean="0">
                            <a:latin typeface="Cambria Math" panose="02040503050406030204" pitchFamily="18" charset="0"/>
                          </a:rPr>
                          <m:t>𝑛</m:t>
                        </m:r>
                      </m:e>
                      <m:sub>
                        <m:r>
                          <a:rPr lang="pt-BR" sz="1400" b="0" i="1" smtClean="0">
                            <a:latin typeface="Cambria Math" panose="02040503050406030204" pitchFamily="18" charset="0"/>
                          </a:rPr>
                          <m:t>𝑖𝑛</m:t>
                        </m:r>
                      </m:sub>
                    </m:sSub>
                    <m:r>
                      <a:rPr lang="pt-BR" sz="1400" b="0" i="1" smtClean="0">
                        <a:latin typeface="Cambria Math" panose="02040503050406030204" pitchFamily="18" charset="0"/>
                      </a:rPr>
                      <m:t> </m:t>
                    </m:r>
                  </m:oMath>
                </a14:m>
                <a:r>
                  <a:rPr lang="pt-BR" sz="1400" dirty="0"/>
                  <a:t>: dimensão da entrada</a:t>
                </a:r>
              </a:p>
              <a:p>
                <a14:m>
                  <m:oMath xmlns:m="http://schemas.openxmlformats.org/officeDocument/2006/math">
                    <m:r>
                      <a:rPr lang="pt-BR" sz="1400" b="0" i="1" smtClean="0">
                        <a:latin typeface="Cambria Math" panose="02040503050406030204" pitchFamily="18" charset="0"/>
                      </a:rPr>
                      <m:t>𝑘</m:t>
                    </m:r>
                    <m:r>
                      <a:rPr lang="pt-BR" sz="1400" b="0" i="1" smtClean="0">
                        <a:latin typeface="Cambria Math" panose="02040503050406030204" pitchFamily="18" charset="0"/>
                      </a:rPr>
                      <m:t> </m:t>
                    </m:r>
                  </m:oMath>
                </a14:m>
                <a:r>
                  <a:rPr lang="pt-BR" sz="1400" dirty="0"/>
                  <a:t>: dimensão do kernel</a:t>
                </a:r>
              </a:p>
              <a:p>
                <a14:m>
                  <m:oMath xmlns:m="http://schemas.openxmlformats.org/officeDocument/2006/math">
                    <m:r>
                      <a:rPr lang="pt-BR" sz="1400" b="0" i="1" smtClean="0">
                        <a:latin typeface="Cambria Math" panose="02040503050406030204" pitchFamily="18" charset="0"/>
                      </a:rPr>
                      <m:t>𝑝</m:t>
                    </m:r>
                    <m:r>
                      <a:rPr lang="pt-BR" sz="1400" b="0" i="1" smtClean="0">
                        <a:latin typeface="Cambria Math" panose="02040503050406030204" pitchFamily="18" charset="0"/>
                      </a:rPr>
                      <m:t> </m:t>
                    </m:r>
                  </m:oMath>
                </a14:m>
                <a:r>
                  <a:rPr lang="pt-BR" sz="1400" dirty="0"/>
                  <a:t>: quantidade camadas de </a:t>
                </a:r>
                <a:r>
                  <a:rPr lang="pt-BR" sz="1400" i="1" dirty="0"/>
                  <a:t>padding</a:t>
                </a:r>
              </a:p>
              <a:p>
                <a14:m>
                  <m:oMath xmlns:m="http://schemas.openxmlformats.org/officeDocument/2006/math">
                    <m:r>
                      <a:rPr lang="pt-BR" sz="1400" b="0" i="1" smtClean="0">
                        <a:latin typeface="Cambria Math" panose="02040503050406030204" pitchFamily="18" charset="0"/>
                      </a:rPr>
                      <m:t>𝑠</m:t>
                    </m:r>
                    <m:r>
                      <a:rPr lang="pt-BR" sz="1400" b="0" i="1" smtClean="0">
                        <a:latin typeface="Cambria Math" panose="02040503050406030204" pitchFamily="18" charset="0"/>
                      </a:rPr>
                      <m:t> </m:t>
                    </m:r>
                  </m:oMath>
                </a14:m>
                <a:r>
                  <a:rPr lang="pt-BR" sz="1400" dirty="0"/>
                  <a:t>: tamanho do </a:t>
                </a:r>
                <a:r>
                  <a:rPr lang="pt-BR" sz="1400" i="1" dirty="0"/>
                  <a:t>stride</a:t>
                </a:r>
                <a:endParaRPr lang="pt-BR" sz="1400" dirty="0"/>
              </a:p>
              <a:p>
                <a14:m>
                  <m:oMath xmlns:m="http://schemas.openxmlformats.org/officeDocument/2006/math">
                    <m:d>
                      <m:dPr>
                        <m:begChr m:val="⌊"/>
                        <m:endChr m:val="⌋"/>
                        <m:ctrlPr>
                          <a:rPr lang="pt-BR" sz="1400" b="0" i="1" smtClean="0">
                            <a:solidFill>
                              <a:schemeClr val="tx1"/>
                            </a:solidFill>
                            <a:latin typeface="Cambria Math" panose="02040503050406030204" pitchFamily="18" charset="0"/>
                          </a:rPr>
                        </m:ctrlPr>
                      </m:dPr>
                      <m:e>
                        <m:r>
                          <a:rPr lang="pt-BR" sz="1400" b="0" i="1" smtClean="0">
                            <a:solidFill>
                              <a:schemeClr val="tx1"/>
                            </a:solidFill>
                            <a:latin typeface="Cambria Math" panose="02040503050406030204" pitchFamily="18" charset="0"/>
                          </a:rPr>
                          <m:t>𝑥</m:t>
                        </m:r>
                      </m:e>
                    </m:d>
                  </m:oMath>
                </a14:m>
                <a:r>
                  <a:rPr lang="pt-BR" sz="1400" i="1" dirty="0">
                    <a:solidFill>
                      <a:schemeClr val="tx1"/>
                    </a:solidFill>
                  </a:rPr>
                  <a:t> </a:t>
                </a:r>
                <a:r>
                  <a:rPr lang="pt-BR" sz="1400" dirty="0">
                    <a:solidFill>
                      <a:schemeClr val="tx1"/>
                    </a:solidFill>
                  </a:rPr>
                  <a:t>:</a:t>
                </a:r>
                <a:r>
                  <a:rPr lang="pt-BR" sz="1400" i="1" dirty="0">
                    <a:solidFill>
                      <a:schemeClr val="tx1"/>
                    </a:solidFill>
                  </a:rPr>
                  <a:t> </a:t>
                </a:r>
                <a:r>
                  <a:rPr lang="pt-BR" sz="1400" dirty="0">
                    <a:solidFill>
                      <a:schemeClr val="tx1"/>
                    </a:solidFill>
                  </a:rPr>
                  <a:t>função piso retorna o maior inteiro menor ou igual a </a:t>
                </a:r>
                <a14:m>
                  <m:oMath xmlns:m="http://schemas.openxmlformats.org/officeDocument/2006/math">
                    <m:r>
                      <a:rPr lang="pt-BR" sz="1400" i="1">
                        <a:solidFill>
                          <a:schemeClr val="tx1"/>
                        </a:solidFill>
                        <a:latin typeface="Cambria Math" panose="02040503050406030204" pitchFamily="18" charset="0"/>
                      </a:rPr>
                      <m:t>𝑥</m:t>
                    </m:r>
                  </m:oMath>
                </a14:m>
                <a:r>
                  <a:rPr lang="pt-BR" sz="1400" dirty="0">
                    <a:solidFill>
                      <a:schemeClr val="tx1"/>
                    </a:solidFill>
                  </a:rPr>
                  <a:t>.</a:t>
                </a:r>
              </a:p>
            </p:txBody>
          </p:sp>
        </mc:Choice>
        <mc:Fallback>
          <p:sp>
            <p:nvSpPr>
              <p:cNvPr id="5" name="CaixaDeTexto 4">
                <a:extLst>
                  <a:ext uri="{FF2B5EF4-FFF2-40B4-BE49-F238E27FC236}">
                    <a16:creationId xmlns:a16="http://schemas.microsoft.com/office/drawing/2014/main" id="{84AFB6D4-6631-419D-E379-8BB1CB10A50B}"/>
                  </a:ext>
                </a:extLst>
              </p:cNvPr>
              <p:cNvSpPr txBox="1">
                <a:spLocks noRot="1" noChangeAspect="1" noMove="1" noResize="1" noEditPoints="1" noAdjustHandles="1" noChangeArrowheads="1" noChangeShapeType="1" noTextEdit="1"/>
              </p:cNvSpPr>
              <p:nvPr/>
            </p:nvSpPr>
            <p:spPr>
              <a:xfrm>
                <a:off x="762286" y="4650043"/>
                <a:ext cx="4771204" cy="2069797"/>
              </a:xfrm>
              <a:prstGeom prst="rect">
                <a:avLst/>
              </a:prstGeom>
              <a:blipFill>
                <a:blip r:embed="rId4"/>
                <a:stretch>
                  <a:fillRect b="-2360"/>
                </a:stretch>
              </a:blipFill>
            </p:spPr>
            <p:txBody>
              <a:bodyPr/>
              <a:lstStyle/>
              <a:p>
                <a:r>
                  <a:rPr lang="en-US">
                    <a:noFill/>
                  </a:rPr>
                  <a:t> </a:t>
                </a:r>
              </a:p>
            </p:txBody>
          </p:sp>
        </mc:Fallback>
      </mc:AlternateContent>
    </p:spTree>
    <p:extLst>
      <p:ext uri="{BB962C8B-B14F-4D97-AF65-F5344CB8AC3E}">
        <p14:creationId xmlns:p14="http://schemas.microsoft.com/office/powerpoint/2010/main" val="23376255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E3418-1E40-8554-43E4-92F1E186EF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32D5115-DC4C-8500-BD71-12FB6C49929F}"/>
              </a:ext>
            </a:extLst>
          </p:cNvPr>
          <p:cNvSpPr>
            <a:spLocks noGrp="1"/>
          </p:cNvSpPr>
          <p:nvPr>
            <p:ph type="title"/>
          </p:nvPr>
        </p:nvSpPr>
        <p:spPr/>
        <p:txBody>
          <a:bodyPr/>
          <a:lstStyle/>
          <a:p>
            <a:r>
              <a:rPr lang="pt-BR" i="1" dirty="0"/>
              <a:t>Padding</a:t>
            </a:r>
            <a:r>
              <a:rPr lang="pt-BR" dirty="0"/>
              <a:t> ou preenchimento</a:t>
            </a:r>
          </a:p>
        </p:txBody>
      </p:sp>
      <p:sp>
        <p:nvSpPr>
          <p:cNvPr id="3" name="Espaço Reservado para Conteúdo 2">
            <a:extLst>
              <a:ext uri="{FF2B5EF4-FFF2-40B4-BE49-F238E27FC236}">
                <a16:creationId xmlns:a16="http://schemas.microsoft.com/office/drawing/2014/main" id="{03A801BA-DD64-6C21-825D-60819889B011}"/>
              </a:ext>
            </a:extLst>
          </p:cNvPr>
          <p:cNvSpPr>
            <a:spLocks noGrp="1"/>
          </p:cNvSpPr>
          <p:nvPr>
            <p:ph idx="1"/>
          </p:nvPr>
        </p:nvSpPr>
        <p:spPr>
          <a:xfrm>
            <a:off x="5475767" y="1825624"/>
            <a:ext cx="6716233" cy="5032375"/>
          </a:xfrm>
        </p:spPr>
        <p:txBody>
          <a:bodyPr>
            <a:normAutofit/>
          </a:bodyPr>
          <a:lstStyle/>
          <a:p>
            <a:r>
              <a:rPr lang="pt-BR" b="0" noProof="0" dirty="0">
                <a:effectLst/>
              </a:rPr>
              <a:t>É </a:t>
            </a:r>
            <a:r>
              <a:rPr lang="pt-BR" b="1" noProof="0" dirty="0">
                <a:solidFill>
                  <a:srgbClr val="00B050"/>
                </a:solidFill>
                <a:effectLst/>
              </a:rPr>
              <a:t>comum usar</a:t>
            </a:r>
            <a:r>
              <a:rPr lang="pt-BR" b="0" noProof="0" dirty="0">
                <a:solidFill>
                  <a:srgbClr val="00B050"/>
                </a:solidFill>
                <a:effectLst/>
              </a:rPr>
              <a:t> </a:t>
            </a:r>
            <a:r>
              <a:rPr lang="pt-BR" b="0" i="1" noProof="0" dirty="0">
                <a:effectLst/>
              </a:rPr>
              <a:t>padding</a:t>
            </a:r>
            <a:r>
              <a:rPr lang="pt-BR" b="0" noProof="0" dirty="0">
                <a:effectLst/>
              </a:rPr>
              <a:t> nas </a:t>
            </a:r>
            <a:r>
              <a:rPr lang="pt-BR" b="1" noProof="0" dirty="0">
                <a:solidFill>
                  <a:srgbClr val="00B050"/>
                </a:solidFill>
                <a:effectLst/>
              </a:rPr>
              <a:t>camadas iniciais para </a:t>
            </a:r>
          </a:p>
          <a:p>
            <a:pPr lvl="1">
              <a:buFont typeface="Wingdings" panose="05000000000000000000" pitchFamily="2" charset="2"/>
              <a:buChar char="§"/>
            </a:pPr>
            <a:r>
              <a:rPr lang="pt-BR" b="1" noProof="0" dirty="0">
                <a:solidFill>
                  <a:srgbClr val="7030A0"/>
                </a:solidFill>
                <a:effectLst/>
              </a:rPr>
              <a:t>preservar resolução espacial</a:t>
            </a:r>
            <a:endParaRPr lang="pt-BR" b="0" noProof="0" dirty="0">
              <a:effectLst/>
            </a:endParaRPr>
          </a:p>
          <a:p>
            <a:pPr lvl="1">
              <a:buFont typeface="Wingdings" panose="05000000000000000000" pitchFamily="2" charset="2"/>
              <a:buChar char="§"/>
            </a:pPr>
            <a:r>
              <a:rPr lang="pt-BR" noProof="0" dirty="0"/>
              <a:t>e </a:t>
            </a:r>
            <a:r>
              <a:rPr lang="pt-BR" b="1" noProof="0" dirty="0">
                <a:solidFill>
                  <a:srgbClr val="0070C0"/>
                </a:solidFill>
              </a:rPr>
              <a:t>não perder informação</a:t>
            </a:r>
            <a:r>
              <a:rPr lang="pt-BR" noProof="0" dirty="0"/>
              <a:t> </a:t>
            </a:r>
            <a:r>
              <a:rPr lang="pt-BR" b="1" noProof="0" dirty="0">
                <a:solidFill>
                  <a:srgbClr val="0070C0"/>
                </a:solidFill>
              </a:rPr>
              <a:t>nas bordas</a:t>
            </a:r>
            <a:r>
              <a:rPr lang="pt-BR" noProof="0" dirty="0"/>
              <a:t>.</a:t>
            </a:r>
          </a:p>
          <a:p>
            <a:r>
              <a:rPr lang="pt-BR" noProof="0" dirty="0"/>
              <a:t>Já as </a:t>
            </a:r>
            <a:r>
              <a:rPr lang="pt-BR" b="1" noProof="0" dirty="0">
                <a:solidFill>
                  <a:schemeClr val="accent2"/>
                </a:solidFill>
              </a:rPr>
              <a:t>c</a:t>
            </a:r>
            <a:r>
              <a:rPr lang="pt-BR" b="1" noProof="0" dirty="0">
                <a:solidFill>
                  <a:schemeClr val="accent2"/>
                </a:solidFill>
                <a:effectLst/>
              </a:rPr>
              <a:t>amadas finais não o aplicam</a:t>
            </a:r>
            <a:r>
              <a:rPr lang="pt-BR" noProof="0" dirty="0">
                <a:effectLst/>
              </a:rPr>
              <a:t> para </a:t>
            </a:r>
          </a:p>
          <a:p>
            <a:pPr lvl="1">
              <a:buFont typeface="Wingdings" panose="05000000000000000000" pitchFamily="2" charset="2"/>
              <a:buChar char="§"/>
            </a:pPr>
            <a:r>
              <a:rPr lang="pt-BR" b="0" noProof="0" dirty="0">
                <a:effectLst/>
              </a:rPr>
              <a:t>reduzir a dimensionalidade</a:t>
            </a:r>
          </a:p>
          <a:p>
            <a:pPr lvl="1">
              <a:buFont typeface="Wingdings" panose="05000000000000000000" pitchFamily="2" charset="2"/>
              <a:buChar char="§"/>
            </a:pPr>
            <a:r>
              <a:rPr lang="pt-BR" noProof="0" dirty="0"/>
              <a:t>e extrair características mais abstratas.</a:t>
            </a:r>
          </a:p>
          <a:p>
            <a:r>
              <a:rPr lang="pt-BR" b="1" noProof="0" dirty="0"/>
              <a:t>Características abstratas</a:t>
            </a:r>
            <a:r>
              <a:rPr lang="pt-BR" noProof="0" dirty="0"/>
              <a:t>: </a:t>
            </a:r>
            <a:r>
              <a:rPr lang="pt-BR" b="1" noProof="0" dirty="0">
                <a:solidFill>
                  <a:srgbClr val="00B050"/>
                </a:solidFill>
              </a:rPr>
              <a:t>capturam o significado da imagem</a:t>
            </a:r>
            <a:r>
              <a:rPr lang="pt-BR" noProof="0" dirty="0"/>
              <a:t> (</a:t>
            </a:r>
            <a:r>
              <a:rPr lang="pt-BR" b="1" noProof="0" dirty="0">
                <a:solidFill>
                  <a:schemeClr val="accent2"/>
                </a:solidFill>
              </a:rPr>
              <a:t>informação semântica</a:t>
            </a:r>
            <a:r>
              <a:rPr lang="pt-BR" noProof="0" dirty="0"/>
              <a:t>).</a:t>
            </a:r>
          </a:p>
          <a:p>
            <a:pPr lvl="1">
              <a:buFont typeface="Wingdings" panose="05000000000000000000" pitchFamily="2" charset="2"/>
              <a:buChar char="§"/>
            </a:pPr>
            <a:r>
              <a:rPr lang="pt-BR" noProof="0" dirty="0"/>
              <a:t>São as características complexas/globais: objetos completos, contexto de uma cena, etc.</a:t>
            </a:r>
          </a:p>
        </p:txBody>
      </p:sp>
      <p:pic>
        <p:nvPicPr>
          <p:cNvPr id="6" name="Imagem 5">
            <a:extLst>
              <a:ext uri="{FF2B5EF4-FFF2-40B4-BE49-F238E27FC236}">
                <a16:creationId xmlns:a16="http://schemas.microsoft.com/office/drawing/2014/main" id="{43DFC1B5-93D0-8953-69C0-EC679B9288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31" y="2652764"/>
            <a:ext cx="5148385" cy="2526371"/>
          </a:xfrm>
          <a:prstGeom prst="rect">
            <a:avLst/>
          </a:prstGeom>
        </p:spPr>
      </p:pic>
    </p:spTree>
    <p:extLst>
      <p:ext uri="{BB962C8B-B14F-4D97-AF65-F5344CB8AC3E}">
        <p14:creationId xmlns:p14="http://schemas.microsoft.com/office/powerpoint/2010/main" val="11615560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9867DE-93F9-6F75-29F2-7E94E1E64828}"/>
              </a:ext>
            </a:extLst>
          </p:cNvPr>
          <p:cNvSpPr>
            <a:spLocks noGrp="1"/>
          </p:cNvSpPr>
          <p:nvPr>
            <p:ph type="title"/>
          </p:nvPr>
        </p:nvSpPr>
        <p:spPr/>
        <p:txBody>
          <a:bodyPr/>
          <a:lstStyle/>
          <a:p>
            <a:r>
              <a:rPr lang="pt-BR" dirty="0"/>
              <a:t>Camada de </a:t>
            </a:r>
            <a:r>
              <a:rPr lang="pt-BR" i="1" dirty="0" err="1"/>
              <a:t>flatten</a:t>
            </a:r>
            <a:endParaRPr lang="pt-BR" i="1" dirty="0"/>
          </a:p>
        </p:txBody>
      </p:sp>
      <p:sp>
        <p:nvSpPr>
          <p:cNvPr id="3" name="Espaço Reservado para Conteúdo 2">
            <a:extLst>
              <a:ext uri="{FF2B5EF4-FFF2-40B4-BE49-F238E27FC236}">
                <a16:creationId xmlns:a16="http://schemas.microsoft.com/office/drawing/2014/main" id="{2DCB2729-0EA2-C0DE-BA82-4BE3E7D0CA05}"/>
              </a:ext>
            </a:extLst>
          </p:cNvPr>
          <p:cNvSpPr>
            <a:spLocks noGrp="1"/>
          </p:cNvSpPr>
          <p:nvPr>
            <p:ph idx="1"/>
          </p:nvPr>
        </p:nvSpPr>
        <p:spPr>
          <a:xfrm>
            <a:off x="6414916" y="1825624"/>
            <a:ext cx="5777084" cy="5032375"/>
          </a:xfrm>
        </p:spPr>
        <p:txBody>
          <a:bodyPr>
            <a:normAutofit/>
          </a:bodyPr>
          <a:lstStyle/>
          <a:p>
            <a:r>
              <a:rPr lang="pt-BR" dirty="0"/>
              <a:t>Na saída da </a:t>
            </a:r>
            <a:r>
              <a:rPr lang="pt-BR" b="1" dirty="0">
                <a:solidFill>
                  <a:schemeClr val="accent2"/>
                </a:solidFill>
              </a:rPr>
              <a:t>etapa de extração de características</a:t>
            </a:r>
            <a:r>
              <a:rPr lang="pt-BR" dirty="0"/>
              <a:t> temos </a:t>
            </a:r>
            <a:r>
              <a:rPr lang="pt-BR" b="1" dirty="0">
                <a:solidFill>
                  <a:srgbClr val="00B050"/>
                </a:solidFill>
              </a:rPr>
              <a:t>vários mapas de características</a:t>
            </a:r>
            <a:r>
              <a:rPr lang="pt-BR" dirty="0"/>
              <a:t>, formando um </a:t>
            </a:r>
            <a:r>
              <a:rPr lang="pt-BR" b="1" dirty="0">
                <a:solidFill>
                  <a:srgbClr val="0070C0"/>
                </a:solidFill>
              </a:rPr>
              <a:t>volume 3D</a:t>
            </a:r>
            <a:r>
              <a:rPr lang="pt-BR" dirty="0"/>
              <a:t> de dados.</a:t>
            </a:r>
          </a:p>
          <a:p>
            <a:r>
              <a:rPr lang="pt-BR" dirty="0"/>
              <a:t>Porém, as </a:t>
            </a:r>
            <a:r>
              <a:rPr lang="pt-BR" b="1" dirty="0"/>
              <a:t>camadas densas </a:t>
            </a:r>
            <a:r>
              <a:rPr lang="pt-BR" dirty="0"/>
              <a:t>trabalham com </a:t>
            </a:r>
            <a:r>
              <a:rPr lang="pt-BR" b="1" dirty="0"/>
              <a:t>vetores 1D</a:t>
            </a:r>
            <a:r>
              <a:rPr lang="pt-BR" dirty="0"/>
              <a:t>.</a:t>
            </a:r>
          </a:p>
          <a:p>
            <a:r>
              <a:rPr lang="pt-BR" dirty="0"/>
              <a:t>Assim, transforma-se os mapas de características em vetores 1D.</a:t>
            </a:r>
          </a:p>
          <a:p>
            <a:r>
              <a:rPr lang="pt-BR" dirty="0"/>
              <a:t>Essa camada não possui parâmetros treináveis.</a:t>
            </a:r>
            <a:endParaRPr lang="pt-BR" i="0" dirty="0">
              <a:effectLst/>
            </a:endParaRPr>
          </a:p>
        </p:txBody>
      </p:sp>
      <p:grpSp>
        <p:nvGrpSpPr>
          <p:cNvPr id="4" name="Grupo 3"/>
          <p:cNvGrpSpPr/>
          <p:nvPr/>
        </p:nvGrpSpPr>
        <p:grpSpPr>
          <a:xfrm>
            <a:off x="171236" y="1846181"/>
            <a:ext cx="6243680" cy="2452611"/>
            <a:chOff x="140414" y="2910840"/>
            <a:chExt cx="6243680" cy="2452611"/>
          </a:xfrm>
        </p:grpSpPr>
        <p:pic>
          <p:nvPicPr>
            <p:cNvPr id="5122" name="Picture 2" descr="Convolutional Neural Network | Deep Learning | Developers Breach">
              <a:extLst>
                <a:ext uri="{FF2B5EF4-FFF2-40B4-BE49-F238E27FC236}">
                  <a16:creationId xmlns:a16="http://schemas.microsoft.com/office/drawing/2014/main" id="{22ABAFD7-F3F3-213A-E35A-11DCC2477EE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423"/>
            <a:stretch/>
          </p:blipFill>
          <p:spPr bwMode="auto">
            <a:xfrm>
              <a:off x="140414" y="2910840"/>
              <a:ext cx="6243680" cy="2452611"/>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B82B671A-25C0-2923-645A-F46D5C28DAE3}"/>
                </a:ext>
              </a:extLst>
            </p:cNvPr>
            <p:cNvSpPr/>
            <p:nvPr/>
          </p:nvSpPr>
          <p:spPr>
            <a:xfrm>
              <a:off x="3779520" y="3154680"/>
              <a:ext cx="533400" cy="153924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Grupo 7"/>
          <p:cNvGrpSpPr/>
          <p:nvPr/>
        </p:nvGrpSpPr>
        <p:grpSpPr>
          <a:xfrm>
            <a:off x="1268638" y="5112424"/>
            <a:ext cx="1016354" cy="897173"/>
            <a:chOff x="9213115" y="567890"/>
            <a:chExt cx="1016354" cy="897173"/>
          </a:xfrm>
        </p:grpSpPr>
        <p:graphicFrame>
          <p:nvGraphicFramePr>
            <p:cNvPr id="6" name="Tabela 4">
              <a:extLst>
                <a:ext uri="{FF2B5EF4-FFF2-40B4-BE49-F238E27FC236}">
                  <a16:creationId xmlns:a16="http://schemas.microsoft.com/office/drawing/2014/main" id="{832D0791-B3A2-B520-E5EB-A3B29FA99E5C}"/>
                </a:ext>
              </a:extLst>
            </p:cNvPr>
            <p:cNvGraphicFramePr>
              <a:graphicFrameLocks/>
            </p:cNvGraphicFramePr>
            <p:nvPr>
              <p:extLst>
                <p:ext uri="{D42A27DB-BD31-4B8C-83A1-F6EECF244321}">
                  <p14:modId xmlns:p14="http://schemas.microsoft.com/office/powerpoint/2010/main" val="3750223447"/>
                </p:ext>
              </p:extLst>
            </p:nvPr>
          </p:nvGraphicFramePr>
          <p:xfrm>
            <a:off x="9358863" y="56789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graphicFrame>
          <p:nvGraphicFramePr>
            <p:cNvPr id="7" name="Tabela 4">
              <a:extLst>
                <a:ext uri="{FF2B5EF4-FFF2-40B4-BE49-F238E27FC236}">
                  <a16:creationId xmlns:a16="http://schemas.microsoft.com/office/drawing/2014/main" id="{5B74D404-9ECB-3EF8-4A02-FC73F8FD954E}"/>
                </a:ext>
              </a:extLst>
            </p:cNvPr>
            <p:cNvGraphicFramePr>
              <a:graphicFrameLocks/>
            </p:cNvGraphicFramePr>
            <p:nvPr>
              <p:extLst>
                <p:ext uri="{D42A27DB-BD31-4B8C-83A1-F6EECF244321}">
                  <p14:modId xmlns:p14="http://schemas.microsoft.com/office/powerpoint/2010/main" val="3093921741"/>
                </p:ext>
              </p:extLst>
            </p:nvPr>
          </p:nvGraphicFramePr>
          <p:xfrm>
            <a:off x="9213115" y="723383"/>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p:grpSp>
      <p:graphicFrame>
        <p:nvGraphicFramePr>
          <p:cNvPr id="9" name="Tabela 8"/>
          <p:cNvGraphicFramePr>
            <a:graphicFrameLocks noGrp="1"/>
          </p:cNvGraphicFramePr>
          <p:nvPr>
            <p:extLst>
              <p:ext uri="{D42A27DB-BD31-4B8C-83A1-F6EECF244321}">
                <p14:modId xmlns:p14="http://schemas.microsoft.com/office/powerpoint/2010/main" val="3753501515"/>
              </p:ext>
            </p:extLst>
          </p:nvPr>
        </p:nvGraphicFramePr>
        <p:xfrm>
          <a:off x="3828756" y="4341811"/>
          <a:ext cx="428834" cy="2438400"/>
        </p:xfrm>
        <a:graphic>
          <a:graphicData uri="http://schemas.openxmlformats.org/drawingml/2006/table">
            <a:tbl>
              <a:tblPr firstRow="1" bandRow="1">
                <a:tableStyleId>{2D5ABB26-0587-4C30-8999-92F81FD0307C}</a:tableStyleId>
              </a:tblPr>
              <a:tblGrid>
                <a:gridCol w="428834">
                  <a:extLst>
                    <a:ext uri="{9D8B030D-6E8A-4147-A177-3AD203B41FA5}">
                      <a16:colId xmlns:a16="http://schemas.microsoft.com/office/drawing/2014/main" val="20000"/>
                    </a:ext>
                  </a:extLst>
                </a:gridCol>
              </a:tblGrid>
              <a:tr h="254253">
                <a:tc>
                  <a:txBody>
                    <a:bodyPr/>
                    <a:lstStyle/>
                    <a:p>
                      <a:r>
                        <a:rPr lang="pt-BR" sz="1400" dirty="0"/>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54253">
                <a:tc>
                  <a:txBody>
                    <a:bodyPr/>
                    <a:lstStyle/>
                    <a:p>
                      <a:r>
                        <a:rPr lang="pt-BR" sz="1400" dirty="0"/>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4253">
                <a:tc>
                  <a:txBody>
                    <a:bodyPr/>
                    <a:lstStyle/>
                    <a:p>
                      <a:r>
                        <a:rPr lang="pt-BR" sz="1400" dirty="0"/>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54253">
                <a:tc>
                  <a:txBody>
                    <a:bodyPr/>
                    <a:lstStyle/>
                    <a:p>
                      <a:r>
                        <a:rPr lang="pt-BR" sz="1400" dirty="0"/>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4253">
                <a:tc>
                  <a:txBody>
                    <a:bodyPr/>
                    <a:lstStyle/>
                    <a:p>
                      <a:r>
                        <a:rPr lang="pt-BR" sz="1400" dirty="0"/>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4253">
                <a:tc>
                  <a:txBody>
                    <a:bodyPr/>
                    <a:lstStyle/>
                    <a:p>
                      <a:r>
                        <a:rPr lang="pt-BR" sz="1400" dirty="0"/>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54253">
                <a:tc>
                  <a:txBody>
                    <a:bodyPr/>
                    <a:lstStyle/>
                    <a:p>
                      <a:r>
                        <a:rPr lang="pt-BR" sz="1400" dirty="0"/>
                        <a:t>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54253">
                <a:tc>
                  <a:txBody>
                    <a:bodyPr/>
                    <a:lstStyle/>
                    <a:p>
                      <a:r>
                        <a:rPr lang="pt-BR" sz="1400" dirty="0"/>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10" name="CaixaDeTexto 9"/>
          <p:cNvSpPr txBox="1"/>
          <p:nvPr/>
        </p:nvSpPr>
        <p:spPr>
          <a:xfrm rot="16200000">
            <a:off x="2498856" y="5393729"/>
            <a:ext cx="970288" cy="369332"/>
          </a:xfrm>
          <a:prstGeom prst="rect">
            <a:avLst/>
          </a:prstGeom>
          <a:noFill/>
          <a:ln>
            <a:solidFill>
              <a:schemeClr val="tx1"/>
            </a:solidFill>
          </a:ln>
        </p:spPr>
        <p:txBody>
          <a:bodyPr wrap="square" rtlCol="0">
            <a:spAutoFit/>
          </a:bodyPr>
          <a:lstStyle/>
          <a:p>
            <a:pPr algn="ctr"/>
            <a:r>
              <a:rPr lang="pt-BR" dirty="0" err="1"/>
              <a:t>flatten</a:t>
            </a:r>
            <a:endParaRPr lang="pt-BR" dirty="0"/>
          </a:p>
        </p:txBody>
      </p:sp>
      <p:sp>
        <p:nvSpPr>
          <p:cNvPr id="11" name="Seta para a direita 10"/>
          <p:cNvSpPr/>
          <p:nvPr/>
        </p:nvSpPr>
        <p:spPr>
          <a:xfrm>
            <a:off x="3365441" y="5392974"/>
            <a:ext cx="242604" cy="370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Seta para a direita 12"/>
          <p:cNvSpPr/>
          <p:nvPr/>
        </p:nvSpPr>
        <p:spPr>
          <a:xfrm>
            <a:off x="2420861" y="5375591"/>
            <a:ext cx="242604" cy="3708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7440876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9867DE-93F9-6F75-29F2-7E94E1E64828}"/>
              </a:ext>
            </a:extLst>
          </p:cNvPr>
          <p:cNvSpPr>
            <a:spLocks noGrp="1"/>
          </p:cNvSpPr>
          <p:nvPr>
            <p:ph type="title"/>
          </p:nvPr>
        </p:nvSpPr>
        <p:spPr/>
        <p:txBody>
          <a:bodyPr/>
          <a:lstStyle/>
          <a:p>
            <a:r>
              <a:rPr lang="pt-BR" dirty="0"/>
              <a:t>Camadas densas</a:t>
            </a:r>
          </a:p>
        </p:txBody>
      </p:sp>
      <p:sp>
        <p:nvSpPr>
          <p:cNvPr id="3" name="Espaço Reservado para Conteúdo 2">
            <a:extLst>
              <a:ext uri="{FF2B5EF4-FFF2-40B4-BE49-F238E27FC236}">
                <a16:creationId xmlns:a16="http://schemas.microsoft.com/office/drawing/2014/main" id="{2DCB2729-0EA2-C0DE-BA82-4BE3E7D0CA05}"/>
              </a:ext>
            </a:extLst>
          </p:cNvPr>
          <p:cNvSpPr>
            <a:spLocks noGrp="1"/>
          </p:cNvSpPr>
          <p:nvPr>
            <p:ph idx="1"/>
          </p:nvPr>
        </p:nvSpPr>
        <p:spPr>
          <a:xfrm>
            <a:off x="6414916" y="1825624"/>
            <a:ext cx="5777084" cy="5032375"/>
          </a:xfrm>
        </p:spPr>
        <p:txBody>
          <a:bodyPr>
            <a:normAutofit/>
          </a:bodyPr>
          <a:lstStyle/>
          <a:p>
            <a:r>
              <a:rPr lang="pt-BR" dirty="0">
                <a:effectLst/>
              </a:rPr>
              <a:t>Depois das camadas convolucionais e de achatamento, as </a:t>
            </a:r>
            <a:r>
              <a:rPr lang="pt-BR" b="1" dirty="0">
                <a:solidFill>
                  <a:schemeClr val="accent2"/>
                </a:solidFill>
                <a:effectLst/>
              </a:rPr>
              <a:t>CNNs têm </a:t>
            </a:r>
            <a:r>
              <a:rPr lang="pt-BR" b="1" dirty="0">
                <a:solidFill>
                  <a:srgbClr val="00B050"/>
                </a:solidFill>
                <a:effectLst/>
              </a:rPr>
              <a:t>uma ou mais camadas densas</a:t>
            </a:r>
            <a:r>
              <a:rPr lang="pt-BR" dirty="0">
                <a:effectLst/>
              </a:rPr>
              <a:t>.</a:t>
            </a:r>
          </a:p>
          <a:p>
            <a:r>
              <a:rPr lang="pt-BR" dirty="0"/>
              <a:t>As camadas densas</a:t>
            </a:r>
          </a:p>
          <a:p>
            <a:pPr lvl="1">
              <a:buFont typeface="Wingdings" panose="05000000000000000000" pitchFamily="2" charset="2"/>
              <a:buChar char="§"/>
            </a:pPr>
            <a:r>
              <a:rPr lang="pt-BR" dirty="0"/>
              <a:t>recebem o vetor 1D com </a:t>
            </a:r>
            <a:r>
              <a:rPr lang="pt-BR" b="1" dirty="0">
                <a:solidFill>
                  <a:srgbClr val="7030A0"/>
                </a:solidFill>
              </a:rPr>
              <a:t>todas as características extraídas</a:t>
            </a:r>
            <a:r>
              <a:rPr lang="pt-BR" dirty="0"/>
              <a:t> pelas camadas convolucionais da rede,</a:t>
            </a:r>
          </a:p>
          <a:p>
            <a:pPr lvl="1">
              <a:buFont typeface="Wingdings" panose="05000000000000000000" pitchFamily="2" charset="2"/>
              <a:buChar char="§"/>
            </a:pPr>
            <a:r>
              <a:rPr lang="pt-BR" b="1" dirty="0">
                <a:solidFill>
                  <a:schemeClr val="accent2"/>
                </a:solidFill>
              </a:rPr>
              <a:t>combinam todas as características</a:t>
            </a:r>
            <a:r>
              <a:rPr lang="pt-BR" dirty="0"/>
              <a:t> extraídas,</a:t>
            </a:r>
          </a:p>
          <a:p>
            <a:pPr lvl="1">
              <a:buFont typeface="Wingdings" panose="05000000000000000000" pitchFamily="2" charset="2"/>
              <a:buChar char="§"/>
            </a:pPr>
            <a:r>
              <a:rPr lang="pt-BR" dirty="0"/>
              <a:t>geram </a:t>
            </a:r>
            <a:r>
              <a:rPr lang="pt-BR" b="1" dirty="0">
                <a:solidFill>
                  <a:schemeClr val="accent1"/>
                </a:solidFill>
              </a:rPr>
              <a:t>pontuações</a:t>
            </a:r>
            <a:r>
              <a:rPr lang="pt-BR" dirty="0"/>
              <a:t> para cada classe</a:t>
            </a:r>
          </a:p>
          <a:p>
            <a:pPr lvl="1">
              <a:buFont typeface="Wingdings" panose="05000000000000000000" pitchFamily="2" charset="2"/>
              <a:buChar char="§"/>
            </a:pPr>
            <a:r>
              <a:rPr lang="pt-BR" dirty="0"/>
              <a:t>e as </a:t>
            </a:r>
            <a:r>
              <a:rPr lang="pt-BR" b="1" dirty="0">
                <a:solidFill>
                  <a:schemeClr val="accent6"/>
                </a:solidFill>
              </a:rPr>
              <a:t>normalizam</a:t>
            </a:r>
            <a:r>
              <a:rPr lang="pt-BR" dirty="0"/>
              <a:t> (função </a:t>
            </a:r>
            <a:r>
              <a:rPr lang="pt-BR" i="1" dirty="0"/>
              <a:t>softmax</a:t>
            </a:r>
            <a:r>
              <a:rPr lang="pt-BR" dirty="0"/>
              <a:t>), gerando uma predição final (probabilidades).</a:t>
            </a:r>
          </a:p>
        </p:txBody>
      </p:sp>
      <p:pic>
        <p:nvPicPr>
          <p:cNvPr id="5122" name="Picture 2" descr="Convolutional Neural Network | Deep Learning | Developers Breach">
            <a:extLst>
              <a:ext uri="{FF2B5EF4-FFF2-40B4-BE49-F238E27FC236}">
                <a16:creationId xmlns:a16="http://schemas.microsoft.com/office/drawing/2014/main" id="{22ABAFD7-F3F3-213A-E35A-11DCC2477E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414" y="2459402"/>
            <a:ext cx="6243680" cy="2934529"/>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33E545DB-A81A-570A-9B42-6A00170BFF5F}"/>
              </a:ext>
            </a:extLst>
          </p:cNvPr>
          <p:cNvSpPr/>
          <p:nvPr/>
        </p:nvSpPr>
        <p:spPr>
          <a:xfrm>
            <a:off x="219074" y="4929188"/>
            <a:ext cx="3802857" cy="35242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B82B671A-25C0-2923-645A-F46D5C28DAE3}"/>
              </a:ext>
            </a:extLst>
          </p:cNvPr>
          <p:cNvSpPr/>
          <p:nvPr/>
        </p:nvSpPr>
        <p:spPr>
          <a:xfrm>
            <a:off x="4078840" y="4929188"/>
            <a:ext cx="1393274" cy="35242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25376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0DD59-A549-5EF3-DC3B-EC2CB5A05E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2BDB20-D1FE-45B3-9B31-004D6D5D5257}"/>
              </a:ext>
            </a:extLst>
          </p:cNvPr>
          <p:cNvSpPr>
            <a:spLocks noGrp="1"/>
          </p:cNvSpPr>
          <p:nvPr>
            <p:ph type="title"/>
          </p:nvPr>
        </p:nvSpPr>
        <p:spPr/>
        <p:txBody>
          <a:bodyPr/>
          <a:lstStyle/>
          <a:p>
            <a:r>
              <a:rPr lang="pt-BR" dirty="0"/>
              <a:t>Camadas densas</a:t>
            </a:r>
          </a:p>
        </p:txBody>
      </p:sp>
      <p:sp>
        <p:nvSpPr>
          <p:cNvPr id="3" name="Espaço Reservado para Conteúdo 2">
            <a:extLst>
              <a:ext uri="{FF2B5EF4-FFF2-40B4-BE49-F238E27FC236}">
                <a16:creationId xmlns:a16="http://schemas.microsoft.com/office/drawing/2014/main" id="{3CF83F02-CAA4-3BD6-0452-0B6570744B86}"/>
              </a:ext>
            </a:extLst>
          </p:cNvPr>
          <p:cNvSpPr>
            <a:spLocks noGrp="1"/>
          </p:cNvSpPr>
          <p:nvPr>
            <p:ph idx="1"/>
          </p:nvPr>
        </p:nvSpPr>
        <p:spPr>
          <a:xfrm>
            <a:off x="5817996" y="1825624"/>
            <a:ext cx="6374004" cy="5032375"/>
          </a:xfrm>
        </p:spPr>
        <p:txBody>
          <a:bodyPr>
            <a:normAutofit/>
          </a:bodyPr>
          <a:lstStyle/>
          <a:p>
            <a:r>
              <a:rPr lang="pt-BR" noProof="0"/>
              <a:t>Em outras palavras, elas </a:t>
            </a:r>
            <a:r>
              <a:rPr lang="pt-BR" b="1" noProof="0">
                <a:solidFill>
                  <a:srgbClr val="7030A0"/>
                </a:solidFill>
              </a:rPr>
              <a:t>usam as características detectadas para decidir a classe</a:t>
            </a:r>
            <a:r>
              <a:rPr lang="pt-BR" noProof="0"/>
              <a:t>.</a:t>
            </a:r>
          </a:p>
          <a:p>
            <a:r>
              <a:rPr lang="pt-BR" noProof="0" dirty="0"/>
              <a:t>Por exemplo, se as características de um gato são ativadas → é um gato.</a:t>
            </a:r>
          </a:p>
          <a:p>
            <a:r>
              <a:rPr lang="pt-BR" noProof="0" dirty="0"/>
              <a:t>Por que usar camadas densas no final?</a:t>
            </a:r>
          </a:p>
          <a:p>
            <a:pPr lvl="1">
              <a:buFont typeface="Wingdings" panose="05000000000000000000" pitchFamily="2" charset="2"/>
              <a:buChar char="§"/>
            </a:pPr>
            <a:r>
              <a:rPr lang="pt-BR" noProof="0" dirty="0"/>
              <a:t>Convoluções são locais (olham pedaços da imagem).</a:t>
            </a:r>
          </a:p>
          <a:p>
            <a:pPr lvl="1">
              <a:buFont typeface="Wingdings" panose="05000000000000000000" pitchFamily="2" charset="2"/>
              <a:buChar char="§"/>
            </a:pPr>
            <a:r>
              <a:rPr lang="pt-BR" noProof="0" dirty="0"/>
              <a:t>DNNs olham tudo ao mesmo tempo.</a:t>
            </a:r>
          </a:p>
          <a:p>
            <a:r>
              <a:rPr lang="pt-BR" noProof="0" dirty="0"/>
              <a:t>Ou seja, a DNN aprende </a:t>
            </a:r>
            <a:r>
              <a:rPr lang="pt-BR" b="1" noProof="0" dirty="0">
                <a:solidFill>
                  <a:schemeClr val="accent2"/>
                </a:solidFill>
              </a:rPr>
              <a:t>relações globais entre características</a:t>
            </a:r>
            <a:r>
              <a:rPr lang="pt-BR" noProof="0" dirty="0"/>
              <a:t>.</a:t>
            </a:r>
          </a:p>
          <a:p>
            <a:pPr>
              <a:buFont typeface="Wingdings" panose="05000000000000000000" pitchFamily="2" charset="2"/>
              <a:buChar char="§"/>
            </a:pPr>
            <a:endParaRPr lang="pt-BR" noProof="0" dirty="0"/>
          </a:p>
        </p:txBody>
      </p:sp>
      <p:pic>
        <p:nvPicPr>
          <p:cNvPr id="6" name="Picture 2" descr="Simple Image Classification using Convolutional Neural Network — Deep  Learning in python. | by Venkatesh Tata | Becoming Human: Artificial  Intelligence Magazine">
            <a:extLst>
              <a:ext uri="{FF2B5EF4-FFF2-40B4-BE49-F238E27FC236}">
                <a16:creationId xmlns:a16="http://schemas.microsoft.com/office/drawing/2014/main" id="{146BE2AE-6272-DE9C-05D4-550BED31F35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3018" b="9513"/>
          <a:stretch/>
        </p:blipFill>
        <p:spPr bwMode="auto">
          <a:xfrm>
            <a:off x="188375" y="2552282"/>
            <a:ext cx="5422015" cy="2362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64565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3E19-032F-2A74-C391-A0A7F99256E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A5A278-483B-4B34-79A6-F9F7863A4492}"/>
              </a:ext>
            </a:extLst>
          </p:cNvPr>
          <p:cNvSpPr>
            <a:spLocks noGrp="1"/>
          </p:cNvSpPr>
          <p:nvPr>
            <p:ph type="title"/>
          </p:nvPr>
        </p:nvSpPr>
        <p:spPr/>
        <p:txBody>
          <a:bodyPr/>
          <a:lstStyle/>
          <a:p>
            <a:r>
              <a:rPr lang="pt-BR" dirty="0"/>
              <a:t>Camadas densas</a:t>
            </a:r>
          </a:p>
        </p:txBody>
      </p:sp>
      <p:sp>
        <p:nvSpPr>
          <p:cNvPr id="3" name="Espaço Reservado para Conteúdo 2">
            <a:extLst>
              <a:ext uri="{FF2B5EF4-FFF2-40B4-BE49-F238E27FC236}">
                <a16:creationId xmlns:a16="http://schemas.microsoft.com/office/drawing/2014/main" id="{095F916C-7F5A-B8B6-560A-030AA56364E1}"/>
              </a:ext>
            </a:extLst>
          </p:cNvPr>
          <p:cNvSpPr>
            <a:spLocks noGrp="1"/>
          </p:cNvSpPr>
          <p:nvPr>
            <p:ph idx="1"/>
          </p:nvPr>
        </p:nvSpPr>
        <p:spPr>
          <a:xfrm>
            <a:off x="5817996" y="1825624"/>
            <a:ext cx="6280219" cy="5032375"/>
          </a:xfrm>
        </p:spPr>
        <p:txBody>
          <a:bodyPr>
            <a:normAutofit/>
          </a:bodyPr>
          <a:lstStyle/>
          <a:p>
            <a:r>
              <a:rPr lang="pt-BR" dirty="0"/>
              <a:t>As funções de ativação das camadas densas ocultas, em geral, são </a:t>
            </a:r>
            <a:r>
              <a:rPr lang="pt-BR" dirty="0" err="1"/>
              <a:t>ReLU</a:t>
            </a:r>
            <a:r>
              <a:rPr lang="pt-BR" dirty="0"/>
              <a:t> ou suas variantes.</a:t>
            </a:r>
          </a:p>
          <a:p>
            <a:r>
              <a:rPr lang="pt-BR" dirty="0"/>
              <a:t>A camada densa de saída usa funções de ativação:</a:t>
            </a:r>
          </a:p>
          <a:p>
            <a:pPr lvl="1">
              <a:buFont typeface="Wingdings" panose="05000000000000000000" pitchFamily="2" charset="2"/>
              <a:buChar char="§"/>
            </a:pPr>
            <a:r>
              <a:rPr lang="pt-BR" i="1" dirty="0"/>
              <a:t>Softmax</a:t>
            </a:r>
            <a:r>
              <a:rPr lang="pt-BR" dirty="0"/>
              <a:t>, para classificação multiclasses.</a:t>
            </a:r>
          </a:p>
          <a:p>
            <a:pPr lvl="1">
              <a:buFont typeface="Wingdings" panose="05000000000000000000" pitchFamily="2" charset="2"/>
              <a:buChar char="§"/>
            </a:pPr>
            <a:r>
              <a:rPr lang="pt-BR" dirty="0"/>
              <a:t>Logística, para classificação binária e </a:t>
            </a:r>
            <a:r>
              <a:rPr lang="pt-BR" dirty="0" err="1"/>
              <a:t>multi-rótulo</a:t>
            </a:r>
            <a:r>
              <a:rPr lang="pt-BR" dirty="0"/>
              <a:t>.</a:t>
            </a:r>
          </a:p>
          <a:p>
            <a:pPr lvl="1">
              <a:buFont typeface="Wingdings" panose="05000000000000000000" pitchFamily="2" charset="2"/>
              <a:buChar char="§"/>
            </a:pPr>
            <a:r>
              <a:rPr lang="pt-BR" dirty="0"/>
              <a:t>Identidade, para regressão.</a:t>
            </a:r>
          </a:p>
        </p:txBody>
      </p:sp>
      <p:pic>
        <p:nvPicPr>
          <p:cNvPr id="6" name="Picture 2" descr="Simple Image Classification using Convolutional Neural Network — Deep  Learning in python. | by Venkatesh Tata | Becoming Human: Artificial  Intelligence Magazine">
            <a:extLst>
              <a:ext uri="{FF2B5EF4-FFF2-40B4-BE49-F238E27FC236}">
                <a16:creationId xmlns:a16="http://schemas.microsoft.com/office/drawing/2014/main" id="{C1087BB4-0D03-5D94-BB2B-4DCD6B46872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3018" b="9513"/>
          <a:stretch/>
        </p:blipFill>
        <p:spPr bwMode="auto">
          <a:xfrm>
            <a:off x="188375" y="2552282"/>
            <a:ext cx="5422015" cy="2362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4263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CE524-7270-ADA4-EA78-8ADD2D4317A1}"/>
              </a:ext>
            </a:extLst>
          </p:cNvPr>
          <p:cNvSpPr>
            <a:spLocks noGrp="1"/>
          </p:cNvSpPr>
          <p:nvPr>
            <p:ph type="title"/>
          </p:nvPr>
        </p:nvSpPr>
        <p:spPr/>
        <p:txBody>
          <a:bodyPr/>
          <a:lstStyle/>
          <a:p>
            <a:r>
              <a:rPr lang="en-US" dirty="0" err="1"/>
              <a:t>Treinamento</a:t>
            </a:r>
            <a:r>
              <a:rPr lang="en-US" dirty="0"/>
              <a:t> de CNNs</a:t>
            </a:r>
          </a:p>
        </p:txBody>
      </p:sp>
      <p:sp>
        <p:nvSpPr>
          <p:cNvPr id="3" name="Content Placeholder 2">
            <a:extLst>
              <a:ext uri="{FF2B5EF4-FFF2-40B4-BE49-F238E27FC236}">
                <a16:creationId xmlns:a16="http://schemas.microsoft.com/office/drawing/2014/main" id="{400AFD32-D519-C64C-3AAD-24981EA39C3B}"/>
              </a:ext>
            </a:extLst>
          </p:cNvPr>
          <p:cNvSpPr>
            <a:spLocks noGrp="1"/>
          </p:cNvSpPr>
          <p:nvPr>
            <p:ph idx="1"/>
          </p:nvPr>
        </p:nvSpPr>
        <p:spPr>
          <a:xfrm>
            <a:off x="838200" y="1825624"/>
            <a:ext cx="11229870" cy="5032375"/>
          </a:xfrm>
        </p:spPr>
        <p:txBody>
          <a:bodyPr/>
          <a:lstStyle/>
          <a:p>
            <a:r>
              <a:rPr lang="pt-BR" dirty="0"/>
              <a:t>Assim como outras redes neurais, CNNs são treinadas </a:t>
            </a:r>
            <a:r>
              <a:rPr lang="pt-BR" b="1" dirty="0">
                <a:solidFill>
                  <a:srgbClr val="7030A0"/>
                </a:solidFill>
              </a:rPr>
              <a:t>usando-se o algoritmo da retropropagação do erro</a:t>
            </a:r>
            <a:r>
              <a:rPr lang="pt-BR" dirty="0"/>
              <a:t>.</a:t>
            </a:r>
          </a:p>
          <a:p>
            <a:r>
              <a:rPr lang="pt-BR" dirty="0"/>
              <a:t>O objetivo é </a:t>
            </a:r>
            <a:r>
              <a:rPr lang="pt-BR" b="1" dirty="0">
                <a:solidFill>
                  <a:schemeClr val="accent2"/>
                </a:solidFill>
              </a:rPr>
              <a:t>aprender os pesos dos filtros e das camadas densas</a:t>
            </a:r>
            <a:r>
              <a:rPr lang="pt-BR" dirty="0"/>
              <a:t>.</a:t>
            </a:r>
          </a:p>
          <a:p>
            <a:r>
              <a:rPr lang="pt-BR" dirty="0"/>
              <a:t>Os gradientes são calculados para os:</a:t>
            </a:r>
          </a:p>
          <a:p>
            <a:pPr lvl="1">
              <a:buFont typeface="Wingdings" panose="05000000000000000000" pitchFamily="2" charset="2"/>
              <a:buChar char="§"/>
            </a:pPr>
            <a:r>
              <a:rPr lang="pt-BR" dirty="0"/>
              <a:t>pesos dos filtros mais os pesos de </a:t>
            </a:r>
            <a:r>
              <a:rPr lang="pt-BR" i="1" dirty="0"/>
              <a:t>bias</a:t>
            </a:r>
          </a:p>
          <a:p>
            <a:pPr lvl="1">
              <a:buFont typeface="Wingdings" panose="05000000000000000000" pitchFamily="2" charset="2"/>
              <a:buChar char="§"/>
            </a:pPr>
            <a:r>
              <a:rPr lang="pt-BR" dirty="0"/>
              <a:t>e pesos das camadas densas.</a:t>
            </a:r>
          </a:p>
          <a:p>
            <a:r>
              <a:rPr lang="pt-BR" dirty="0"/>
              <a:t>As funções de erro mais usadas são o EQM, para tarefas de regressão, e a entropia-cruzada, para tarefas de classificação.</a:t>
            </a:r>
          </a:p>
        </p:txBody>
      </p:sp>
    </p:spTree>
    <p:extLst>
      <p:ext uri="{BB962C8B-B14F-4D97-AF65-F5344CB8AC3E}">
        <p14:creationId xmlns:p14="http://schemas.microsoft.com/office/powerpoint/2010/main" val="423352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40C43-ACD7-144E-0F3E-E9CAE362B3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A4E797-AD48-F4A6-2F80-3860E52E1DDB}"/>
              </a:ext>
            </a:extLst>
          </p:cNvPr>
          <p:cNvSpPr>
            <a:spLocks noGrp="1"/>
          </p:cNvSpPr>
          <p:nvPr>
            <p:ph idx="1"/>
          </p:nvPr>
        </p:nvSpPr>
        <p:spPr>
          <a:xfrm>
            <a:off x="418681" y="1946868"/>
            <a:ext cx="11354637" cy="2964263"/>
          </a:xfrm>
        </p:spPr>
        <p:txBody>
          <a:bodyPr>
            <a:normAutofit/>
          </a:bodyPr>
          <a:lstStyle/>
          <a:p>
            <a:pPr marL="0" indent="0" algn="ctr">
              <a:buNone/>
            </a:pPr>
            <a:r>
              <a:rPr lang="pt-BR" sz="6000" dirty="0"/>
              <a:t>Como podemos mitigar o sobreajuste em modelos profundos?</a:t>
            </a:r>
            <a:endParaRPr lang="en-US" sz="6000" dirty="0"/>
          </a:p>
        </p:txBody>
      </p:sp>
    </p:spTree>
    <p:extLst>
      <p:ext uri="{BB962C8B-B14F-4D97-AF65-F5344CB8AC3E}">
        <p14:creationId xmlns:p14="http://schemas.microsoft.com/office/powerpoint/2010/main" val="1598808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D5A3C-7B57-C2DC-0D45-09E379ED99A6}"/>
              </a:ext>
            </a:extLst>
          </p:cNvPr>
          <p:cNvSpPr>
            <a:spLocks noGrp="1"/>
          </p:cNvSpPr>
          <p:nvPr>
            <p:ph type="title"/>
          </p:nvPr>
        </p:nvSpPr>
        <p:spPr/>
        <p:txBody>
          <a:bodyPr/>
          <a:lstStyle/>
          <a:p>
            <a:r>
              <a:rPr lang="pt-BR" dirty="0"/>
              <a:t>Como evitar o sobreajuste</a:t>
            </a:r>
            <a:endParaRPr lang="en-US" dirty="0"/>
          </a:p>
        </p:txBody>
      </p:sp>
      <p:sp>
        <p:nvSpPr>
          <p:cNvPr id="3" name="Content Placeholder 2">
            <a:extLst>
              <a:ext uri="{FF2B5EF4-FFF2-40B4-BE49-F238E27FC236}">
                <a16:creationId xmlns:a16="http://schemas.microsoft.com/office/drawing/2014/main" id="{6AB47D42-D65A-091F-602E-D48FCAB64F03}"/>
              </a:ext>
            </a:extLst>
          </p:cNvPr>
          <p:cNvSpPr>
            <a:spLocks noGrp="1"/>
          </p:cNvSpPr>
          <p:nvPr>
            <p:ph idx="1"/>
          </p:nvPr>
        </p:nvSpPr>
        <p:spPr>
          <a:xfrm>
            <a:off x="838198" y="1825624"/>
            <a:ext cx="11186161" cy="5032375"/>
          </a:xfrm>
        </p:spPr>
        <p:txBody>
          <a:bodyPr/>
          <a:lstStyle/>
          <a:p>
            <a:r>
              <a:rPr lang="pt-BR" dirty="0"/>
              <a:t>Além de </a:t>
            </a:r>
          </a:p>
          <a:p>
            <a:pPr lvl="1">
              <a:buFont typeface="Wingdings" panose="05000000000000000000" pitchFamily="2" charset="2"/>
              <a:buChar char="§"/>
            </a:pPr>
            <a:r>
              <a:rPr lang="pt-BR" b="1" dirty="0">
                <a:solidFill>
                  <a:schemeClr val="accent2"/>
                </a:solidFill>
              </a:rPr>
              <a:t>aumentar o </a:t>
            </a:r>
            <a:r>
              <a:rPr lang="pt-BR" b="1" i="1" dirty="0">
                <a:solidFill>
                  <a:schemeClr val="accent2"/>
                </a:solidFill>
              </a:rPr>
              <a:t>dataset</a:t>
            </a:r>
            <a:r>
              <a:rPr lang="pt-BR" dirty="0"/>
              <a:t>, </a:t>
            </a:r>
          </a:p>
          <a:p>
            <a:pPr lvl="1">
              <a:buFont typeface="Wingdings" panose="05000000000000000000" pitchFamily="2" charset="2"/>
              <a:buChar char="§"/>
            </a:pPr>
            <a:r>
              <a:rPr lang="pt-BR" b="1" dirty="0">
                <a:solidFill>
                  <a:schemeClr val="accent5"/>
                </a:solidFill>
              </a:rPr>
              <a:t>reduzir a complexidade</a:t>
            </a:r>
            <a:r>
              <a:rPr lang="pt-BR" dirty="0"/>
              <a:t> do modelo</a:t>
            </a:r>
          </a:p>
          <a:p>
            <a:pPr lvl="1">
              <a:buFont typeface="Wingdings" panose="05000000000000000000" pitchFamily="2" charset="2"/>
              <a:buChar char="§"/>
            </a:pPr>
            <a:r>
              <a:rPr lang="pt-BR" dirty="0"/>
              <a:t>e </a:t>
            </a:r>
            <a:r>
              <a:rPr lang="pt-BR" b="1" dirty="0">
                <a:solidFill>
                  <a:srgbClr val="00B050"/>
                </a:solidFill>
              </a:rPr>
              <a:t>aplicar técnicas de regularização</a:t>
            </a:r>
            <a:r>
              <a:rPr lang="pt-BR" dirty="0"/>
              <a:t> como penalizações L1/L2 e </a:t>
            </a:r>
            <a:r>
              <a:rPr lang="pt-BR" i="1" dirty="0"/>
              <a:t>early-stopping</a:t>
            </a:r>
            <a:r>
              <a:rPr lang="pt-BR" dirty="0"/>
              <a:t>, </a:t>
            </a:r>
          </a:p>
          <a:p>
            <a:pPr marL="0" indent="0">
              <a:buNone/>
            </a:pPr>
            <a:r>
              <a:rPr lang="pt-BR" dirty="0"/>
              <a:t>podemos usar três outras técnicas para evitar o </a:t>
            </a:r>
            <a:r>
              <a:rPr lang="pt-BR" i="1" dirty="0" err="1"/>
              <a:t>overfitting</a:t>
            </a:r>
            <a:r>
              <a:rPr lang="pt-BR" i="1" dirty="0"/>
              <a:t>:</a:t>
            </a:r>
          </a:p>
          <a:p>
            <a:pPr lvl="1">
              <a:buFont typeface="Wingdings" panose="05000000000000000000" pitchFamily="2" charset="2"/>
              <a:buChar char="§"/>
            </a:pPr>
            <a:r>
              <a:rPr lang="pt-BR" i="1" dirty="0" err="1"/>
              <a:t>dropout</a:t>
            </a:r>
            <a:r>
              <a:rPr lang="pt-BR" i="1" dirty="0"/>
              <a:t>,</a:t>
            </a:r>
          </a:p>
          <a:p>
            <a:pPr lvl="1">
              <a:buFont typeface="Wingdings" panose="05000000000000000000" pitchFamily="2" charset="2"/>
              <a:buChar char="§"/>
            </a:pPr>
            <a:r>
              <a:rPr lang="pt-BR" i="1" dirty="0"/>
              <a:t>data augmentation,</a:t>
            </a:r>
          </a:p>
          <a:p>
            <a:pPr lvl="1">
              <a:buFont typeface="Wingdings" panose="05000000000000000000" pitchFamily="2" charset="2"/>
              <a:buChar char="§"/>
            </a:pPr>
            <a:r>
              <a:rPr lang="pt-BR" dirty="0"/>
              <a:t>e </a:t>
            </a:r>
            <a:r>
              <a:rPr lang="pt-BR" i="1" dirty="0" err="1"/>
              <a:t>transfer</a:t>
            </a:r>
            <a:r>
              <a:rPr lang="pt-BR" i="1" dirty="0"/>
              <a:t> learning</a:t>
            </a:r>
            <a:endParaRPr lang="pt-BR" dirty="0"/>
          </a:p>
          <a:p>
            <a:r>
              <a:rPr lang="pt-BR" dirty="0"/>
              <a:t>Essas </a:t>
            </a:r>
            <a:r>
              <a:rPr lang="pt-BR" b="1" dirty="0">
                <a:solidFill>
                  <a:srgbClr val="7030A0"/>
                </a:solidFill>
              </a:rPr>
              <a:t>técnicas se aplicam a qualquer tipo de rede neural, não apenas a CNNs</a:t>
            </a:r>
            <a:r>
              <a:rPr lang="pt-BR" dirty="0"/>
              <a:t>.</a:t>
            </a:r>
            <a:endParaRPr lang="en-US" dirty="0"/>
          </a:p>
        </p:txBody>
      </p:sp>
    </p:spTree>
    <p:extLst>
      <p:ext uri="{BB962C8B-B14F-4D97-AF65-F5344CB8AC3E}">
        <p14:creationId xmlns:p14="http://schemas.microsoft.com/office/powerpoint/2010/main" val="40919655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6F209-3E3E-0136-4083-293C5897A43D}"/>
              </a:ext>
            </a:extLst>
          </p:cNvPr>
          <p:cNvSpPr>
            <a:spLocks noGrp="1"/>
          </p:cNvSpPr>
          <p:nvPr>
            <p:ph type="title"/>
          </p:nvPr>
        </p:nvSpPr>
        <p:spPr/>
        <p:txBody>
          <a:bodyPr/>
          <a:lstStyle/>
          <a:p>
            <a:r>
              <a:rPr lang="pt-BR" i="1" dirty="0"/>
              <a:t>Dropout</a:t>
            </a:r>
          </a:p>
        </p:txBody>
      </p:sp>
      <p:sp>
        <p:nvSpPr>
          <p:cNvPr id="3" name="Espaço Reservado para Conteúdo 2">
            <a:extLst>
              <a:ext uri="{FF2B5EF4-FFF2-40B4-BE49-F238E27FC236}">
                <a16:creationId xmlns:a16="http://schemas.microsoft.com/office/drawing/2014/main" id="{D2294B5F-B438-34E2-4845-29E47EF0DECB}"/>
              </a:ext>
            </a:extLst>
          </p:cNvPr>
          <p:cNvSpPr>
            <a:spLocks noGrp="1"/>
          </p:cNvSpPr>
          <p:nvPr>
            <p:ph idx="1"/>
          </p:nvPr>
        </p:nvSpPr>
        <p:spPr>
          <a:xfrm>
            <a:off x="5550946" y="1825624"/>
            <a:ext cx="6641054" cy="5032375"/>
          </a:xfrm>
        </p:spPr>
        <p:txBody>
          <a:bodyPr>
            <a:normAutofit/>
          </a:bodyPr>
          <a:lstStyle/>
          <a:p>
            <a:r>
              <a:rPr lang="pt-BR" b="0" dirty="0">
                <a:effectLst/>
              </a:rPr>
              <a:t>O </a:t>
            </a:r>
            <a:r>
              <a:rPr lang="pt-BR" b="1" i="1" dirty="0" err="1">
                <a:solidFill>
                  <a:srgbClr val="00B050"/>
                </a:solidFill>
                <a:effectLst/>
              </a:rPr>
              <a:t>dropout</a:t>
            </a:r>
            <a:r>
              <a:rPr lang="pt-BR" b="0" dirty="0">
                <a:effectLst/>
              </a:rPr>
              <a:t> é uma técnica de regularização.</a:t>
            </a:r>
          </a:p>
          <a:p>
            <a:r>
              <a:rPr lang="pt-BR" b="0" dirty="0">
                <a:effectLst/>
              </a:rPr>
              <a:t>Envolve </a:t>
            </a:r>
            <a:r>
              <a:rPr lang="pt-BR" b="1" dirty="0">
                <a:solidFill>
                  <a:schemeClr val="accent2"/>
                </a:solidFill>
              </a:rPr>
              <a:t>“</a:t>
            </a:r>
            <a:r>
              <a:rPr lang="pt-BR" b="1" dirty="0">
                <a:solidFill>
                  <a:schemeClr val="accent2"/>
                </a:solidFill>
                <a:effectLst/>
              </a:rPr>
              <a:t>desligar</a:t>
            </a:r>
            <a:r>
              <a:rPr lang="pt-BR" b="1" dirty="0">
                <a:solidFill>
                  <a:schemeClr val="accent2"/>
                </a:solidFill>
              </a:rPr>
              <a:t>”</a:t>
            </a:r>
            <a:r>
              <a:rPr lang="pt-BR" b="1" dirty="0">
                <a:solidFill>
                  <a:srgbClr val="00B050"/>
                </a:solidFill>
              </a:rPr>
              <a:t> </a:t>
            </a:r>
            <a:r>
              <a:rPr lang="pt-BR" b="1" dirty="0">
                <a:solidFill>
                  <a:schemeClr val="accent1"/>
                </a:solidFill>
              </a:rPr>
              <a:t>aleatoriamente </a:t>
            </a:r>
            <a:r>
              <a:rPr lang="pt-BR" b="1" dirty="0">
                <a:solidFill>
                  <a:srgbClr val="00B050"/>
                </a:solidFill>
                <a:effectLst/>
              </a:rPr>
              <a:t>neurônios das camadas</a:t>
            </a:r>
            <a:r>
              <a:rPr lang="pt-BR" b="0" dirty="0">
                <a:effectLst/>
              </a:rPr>
              <a:t> </a:t>
            </a:r>
            <a:r>
              <a:rPr lang="pt-BR" b="1" dirty="0">
                <a:solidFill>
                  <a:srgbClr val="7030A0"/>
                </a:solidFill>
                <a:effectLst/>
              </a:rPr>
              <a:t>durante o treinamento </a:t>
            </a:r>
            <a:r>
              <a:rPr lang="pt-BR" b="0" dirty="0">
                <a:effectLst/>
              </a:rPr>
              <a:t>da rede neural. </a:t>
            </a:r>
          </a:p>
          <a:p>
            <a:r>
              <a:rPr lang="pt-BR" b="0" i="0" dirty="0">
                <a:effectLst/>
              </a:rPr>
              <a:t>Isso significa que esses </a:t>
            </a:r>
            <a:r>
              <a:rPr lang="pt-BR" b="1" i="0" dirty="0">
                <a:solidFill>
                  <a:schemeClr val="accent2"/>
                </a:solidFill>
                <a:effectLst/>
              </a:rPr>
              <a:t>neurônios não contribuirão para o cálculo das saídas</a:t>
            </a:r>
            <a:r>
              <a:rPr lang="pt-BR" b="0" i="0" dirty="0">
                <a:effectLst/>
              </a:rPr>
              <a:t> da rede durante uma iteração de treinamento.</a:t>
            </a:r>
          </a:p>
          <a:p>
            <a:r>
              <a:rPr lang="pt-BR" dirty="0"/>
              <a:t>Desta forma, o </a:t>
            </a:r>
            <a:r>
              <a:rPr lang="pt-BR" b="1" dirty="0">
                <a:solidFill>
                  <a:srgbClr val="00B050"/>
                </a:solidFill>
              </a:rPr>
              <a:t>modelo</a:t>
            </a:r>
            <a:r>
              <a:rPr lang="pt-BR" dirty="0"/>
              <a:t> fica </a:t>
            </a:r>
            <a:r>
              <a:rPr lang="pt-BR" b="1" dirty="0">
                <a:solidFill>
                  <a:srgbClr val="00B050"/>
                </a:solidFill>
              </a:rPr>
              <a:t>menos complexo</a:t>
            </a:r>
            <a:r>
              <a:rPr lang="pt-BR" dirty="0"/>
              <a:t>, </a:t>
            </a:r>
            <a:r>
              <a:rPr lang="pt-BR" b="1" dirty="0">
                <a:solidFill>
                  <a:srgbClr val="00B050"/>
                </a:solidFill>
              </a:rPr>
              <a:t>diminuindo</a:t>
            </a:r>
            <a:r>
              <a:rPr lang="pt-BR" dirty="0"/>
              <a:t> as chances de </a:t>
            </a:r>
            <a:r>
              <a:rPr lang="pt-BR" b="1" dirty="0">
                <a:solidFill>
                  <a:srgbClr val="00B050"/>
                </a:solidFill>
              </a:rPr>
              <a:t>sobreajuste</a:t>
            </a:r>
            <a:r>
              <a:rPr lang="pt-BR" dirty="0"/>
              <a:t>.</a:t>
            </a:r>
            <a:endParaRPr lang="pt-BR" b="0" dirty="0">
              <a:effectLst/>
            </a:endParaRPr>
          </a:p>
        </p:txBody>
      </p:sp>
      <p:pic>
        <p:nvPicPr>
          <p:cNvPr id="1026" name="Picture 2" descr="Dropout in Neural Networks. Dropout layers have been the go-to… | by Harsh  Yadav | Towards Data Science">
            <a:extLst>
              <a:ext uri="{FF2B5EF4-FFF2-40B4-BE49-F238E27FC236}">
                <a16:creationId xmlns:a16="http://schemas.microsoft.com/office/drawing/2014/main" id="{7908373E-5974-7415-1DDF-423DEBE8BB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61" r="4461"/>
          <a:stretch/>
        </p:blipFill>
        <p:spPr bwMode="auto">
          <a:xfrm>
            <a:off x="239507" y="2451798"/>
            <a:ext cx="5088188" cy="2982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8078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254C9C-C6CB-0424-71DD-96428C3A28EC}"/>
              </a:ext>
            </a:extLst>
          </p:cNvPr>
          <p:cNvSpPr>
            <a:spLocks noGrp="1"/>
          </p:cNvSpPr>
          <p:nvPr>
            <p:ph type="title"/>
          </p:nvPr>
        </p:nvSpPr>
        <p:spPr/>
        <p:txBody>
          <a:bodyPr/>
          <a:lstStyle/>
          <a:p>
            <a:r>
              <a:rPr lang="pt-BR" i="1" dirty="0"/>
              <a:t>Dropout</a:t>
            </a:r>
            <a:endParaRPr lang="pt-BR" dirty="0"/>
          </a:p>
        </p:txBody>
      </p:sp>
      <p:sp>
        <p:nvSpPr>
          <p:cNvPr id="3" name="Espaço Reservado para Conteúdo 2">
            <a:extLst>
              <a:ext uri="{FF2B5EF4-FFF2-40B4-BE49-F238E27FC236}">
                <a16:creationId xmlns:a16="http://schemas.microsoft.com/office/drawing/2014/main" id="{A50D1392-AD6B-0EBC-D5DD-B515F3F949A0}"/>
              </a:ext>
            </a:extLst>
          </p:cNvPr>
          <p:cNvSpPr>
            <a:spLocks noGrp="1"/>
          </p:cNvSpPr>
          <p:nvPr>
            <p:ph idx="1"/>
          </p:nvPr>
        </p:nvSpPr>
        <p:spPr>
          <a:xfrm>
            <a:off x="838200" y="5665304"/>
            <a:ext cx="11247783" cy="1192695"/>
          </a:xfrm>
        </p:spPr>
        <p:txBody>
          <a:bodyPr/>
          <a:lstStyle/>
          <a:p>
            <a:r>
              <a:rPr lang="pt-BR" dirty="0">
                <a:effectLst/>
              </a:rPr>
              <a:t>Quando</a:t>
            </a:r>
            <a:r>
              <a:rPr lang="pt-BR" b="0" dirty="0">
                <a:effectLst/>
              </a:rPr>
              <a:t> </a:t>
            </a:r>
            <a:r>
              <a:rPr lang="pt-BR" b="1" dirty="0">
                <a:solidFill>
                  <a:srgbClr val="00B050"/>
                </a:solidFill>
                <a:effectLst/>
              </a:rPr>
              <a:t>desligamos</a:t>
            </a:r>
            <a:r>
              <a:rPr lang="pt-BR" b="0" dirty="0">
                <a:effectLst/>
              </a:rPr>
              <a:t> diferentes conjuntos de </a:t>
            </a:r>
            <a:r>
              <a:rPr lang="pt-BR" b="1" dirty="0">
                <a:solidFill>
                  <a:srgbClr val="00B050"/>
                </a:solidFill>
                <a:effectLst/>
              </a:rPr>
              <a:t>neurônios</a:t>
            </a:r>
            <a:r>
              <a:rPr lang="pt-BR" b="0" dirty="0">
                <a:effectLst/>
              </a:rPr>
              <a:t>, é como se </a:t>
            </a:r>
            <a:r>
              <a:rPr lang="pt-BR" b="1" dirty="0">
                <a:solidFill>
                  <a:srgbClr val="00B050"/>
                </a:solidFill>
                <a:effectLst/>
              </a:rPr>
              <a:t>estivéssemos </a:t>
            </a:r>
            <a:r>
              <a:rPr lang="pt-BR" b="1" dirty="0">
                <a:solidFill>
                  <a:srgbClr val="7030A0"/>
                </a:solidFill>
                <a:effectLst/>
              </a:rPr>
              <a:t>treinando várias redes</a:t>
            </a:r>
            <a:r>
              <a:rPr lang="pt-BR" b="0" dirty="0">
                <a:effectLst/>
              </a:rPr>
              <a:t> neurais diferentes. </a:t>
            </a:r>
          </a:p>
        </p:txBody>
      </p:sp>
      <p:pic>
        <p:nvPicPr>
          <p:cNvPr id="5" name="Picture 4">
            <a:extLst>
              <a:ext uri="{FF2B5EF4-FFF2-40B4-BE49-F238E27FC236}">
                <a16:creationId xmlns:a16="http://schemas.microsoft.com/office/drawing/2014/main" id="{A9DBED52-63A3-49F4-B259-F858D6FEBF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25420" y="1524837"/>
            <a:ext cx="8255287" cy="3808325"/>
          </a:xfrm>
          <a:prstGeom prst="rect">
            <a:avLst/>
          </a:prstGeom>
        </p:spPr>
      </p:pic>
    </p:spTree>
    <p:extLst>
      <p:ext uri="{BB962C8B-B14F-4D97-AF65-F5344CB8AC3E}">
        <p14:creationId xmlns:p14="http://schemas.microsoft.com/office/powerpoint/2010/main" val="19484924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B9955-B886-F345-CA6A-868AABE1723A}"/>
              </a:ext>
            </a:extLst>
          </p:cNvPr>
          <p:cNvSpPr>
            <a:spLocks noGrp="1"/>
          </p:cNvSpPr>
          <p:nvPr>
            <p:ph type="title"/>
          </p:nvPr>
        </p:nvSpPr>
        <p:spPr/>
        <p:txBody>
          <a:bodyPr/>
          <a:lstStyle/>
          <a:p>
            <a:r>
              <a:rPr lang="pt-BR" i="1" dirty="0"/>
              <a:t>Dropout</a:t>
            </a:r>
            <a:endParaRPr lang="en-US" dirty="0"/>
          </a:p>
        </p:txBody>
      </p:sp>
      <p:sp>
        <p:nvSpPr>
          <p:cNvPr id="3" name="Content Placeholder 2">
            <a:extLst>
              <a:ext uri="{FF2B5EF4-FFF2-40B4-BE49-F238E27FC236}">
                <a16:creationId xmlns:a16="http://schemas.microsoft.com/office/drawing/2014/main" id="{EF23C141-AB58-8826-B947-F4DF63AF4D23}"/>
              </a:ext>
            </a:extLst>
          </p:cNvPr>
          <p:cNvSpPr>
            <a:spLocks noGrp="1"/>
          </p:cNvSpPr>
          <p:nvPr>
            <p:ph idx="1"/>
          </p:nvPr>
        </p:nvSpPr>
        <p:spPr>
          <a:xfrm>
            <a:off x="6385560" y="1825624"/>
            <a:ext cx="5806440" cy="5032375"/>
          </a:xfrm>
        </p:spPr>
        <p:txBody>
          <a:bodyPr>
            <a:normAutofit/>
          </a:bodyPr>
          <a:lstStyle/>
          <a:p>
            <a:r>
              <a:rPr lang="pt-BR" dirty="0"/>
              <a:t>Com </a:t>
            </a:r>
            <a:r>
              <a:rPr lang="pt-BR" i="1" dirty="0" err="1"/>
              <a:t>dropout</a:t>
            </a:r>
            <a:r>
              <a:rPr lang="pt-BR" dirty="0"/>
              <a:t>:</a:t>
            </a:r>
          </a:p>
          <a:p>
            <a:pPr lvl="1">
              <a:buFont typeface="Wingdings" panose="05000000000000000000" pitchFamily="2" charset="2"/>
              <a:buChar char="§"/>
            </a:pPr>
            <a:r>
              <a:rPr lang="pt-BR" dirty="0"/>
              <a:t>Cada neurônio precisa </a:t>
            </a:r>
            <a:r>
              <a:rPr lang="pt-BR" b="1" dirty="0">
                <a:solidFill>
                  <a:schemeClr val="accent2"/>
                </a:solidFill>
              </a:rPr>
              <a:t>aprender de forma mais robusta.</a:t>
            </a:r>
          </a:p>
          <a:p>
            <a:pPr lvl="1">
              <a:buFont typeface="Wingdings" panose="05000000000000000000" pitchFamily="2" charset="2"/>
              <a:buChar char="§"/>
            </a:pPr>
            <a:r>
              <a:rPr lang="pt-BR" dirty="0"/>
              <a:t>A rede </a:t>
            </a:r>
            <a:r>
              <a:rPr lang="pt-BR" b="1" dirty="0">
                <a:solidFill>
                  <a:srgbClr val="00B050"/>
                </a:solidFill>
              </a:rPr>
              <a:t>não pode depender de combinações fixas</a:t>
            </a:r>
            <a:r>
              <a:rPr lang="pt-BR" dirty="0"/>
              <a:t> de neurônios.</a:t>
            </a:r>
          </a:p>
          <a:p>
            <a:r>
              <a:rPr lang="pt-BR" dirty="0"/>
              <a:t>Um neurônio precisa funcionar bem mesmo se outros neurônios desaparecerem.</a:t>
            </a:r>
          </a:p>
          <a:p>
            <a:r>
              <a:rPr lang="pt-BR" dirty="0"/>
              <a:t>Isso força a rede a </a:t>
            </a:r>
            <a:r>
              <a:rPr lang="pt-BR" b="1" dirty="0">
                <a:solidFill>
                  <a:srgbClr val="7030A0"/>
                </a:solidFill>
              </a:rPr>
              <a:t>aprender</a:t>
            </a:r>
            <a:r>
              <a:rPr lang="pt-BR" dirty="0">
                <a:solidFill>
                  <a:srgbClr val="7030A0"/>
                </a:solidFill>
              </a:rPr>
              <a:t> </a:t>
            </a:r>
            <a:r>
              <a:rPr lang="pt-BR" b="1" dirty="0">
                <a:solidFill>
                  <a:srgbClr val="7030A0"/>
                </a:solidFill>
              </a:rPr>
              <a:t>representações mais generalizáveis</a:t>
            </a:r>
            <a:r>
              <a:rPr lang="pt-BR" b="1" dirty="0"/>
              <a:t>.</a:t>
            </a:r>
            <a:endParaRPr lang="pt-BR" dirty="0"/>
          </a:p>
        </p:txBody>
      </p:sp>
      <p:pic>
        <p:nvPicPr>
          <p:cNvPr id="4" name="Picture 2" descr="Dropout in Neural Networks. Dropout layers have been the go-to… | by Harsh  Yadav | Towards Data Science">
            <a:extLst>
              <a:ext uri="{FF2B5EF4-FFF2-40B4-BE49-F238E27FC236}">
                <a16:creationId xmlns:a16="http://schemas.microsoft.com/office/drawing/2014/main" id="{68FC5623-1869-938B-C3BD-E6310D65C8A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61" r="4461"/>
          <a:stretch/>
        </p:blipFill>
        <p:spPr bwMode="auto">
          <a:xfrm>
            <a:off x="666227" y="2299398"/>
            <a:ext cx="5088188" cy="2982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82764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6F209-3E3E-0136-4083-293C5897A43D}"/>
              </a:ext>
            </a:extLst>
          </p:cNvPr>
          <p:cNvSpPr>
            <a:spLocks noGrp="1"/>
          </p:cNvSpPr>
          <p:nvPr>
            <p:ph type="title"/>
          </p:nvPr>
        </p:nvSpPr>
        <p:spPr/>
        <p:txBody>
          <a:bodyPr/>
          <a:lstStyle/>
          <a:p>
            <a:r>
              <a:rPr lang="pt-BR" i="1" dirty="0"/>
              <a:t>Dropout</a:t>
            </a:r>
            <a:endParaRPr lang="pt-BR" dirty="0"/>
          </a:p>
        </p:txBody>
      </p:sp>
      <p:sp>
        <p:nvSpPr>
          <p:cNvPr id="3" name="Espaço Reservado para Conteúdo 2">
            <a:extLst>
              <a:ext uri="{FF2B5EF4-FFF2-40B4-BE49-F238E27FC236}">
                <a16:creationId xmlns:a16="http://schemas.microsoft.com/office/drawing/2014/main" id="{D2294B5F-B438-34E2-4845-29E47EF0DECB}"/>
              </a:ext>
            </a:extLst>
          </p:cNvPr>
          <p:cNvSpPr>
            <a:spLocks noGrp="1"/>
          </p:cNvSpPr>
          <p:nvPr>
            <p:ph idx="1"/>
          </p:nvPr>
        </p:nvSpPr>
        <p:spPr>
          <a:xfrm>
            <a:off x="838200" y="4099560"/>
            <a:ext cx="11213387" cy="2758440"/>
          </a:xfrm>
        </p:spPr>
        <p:txBody>
          <a:bodyPr>
            <a:normAutofit lnSpcReduction="10000"/>
          </a:bodyPr>
          <a:lstStyle/>
          <a:p>
            <a:r>
              <a:rPr lang="pt-BR" dirty="0"/>
              <a:t>D</a:t>
            </a:r>
            <a:r>
              <a:rPr lang="pt-BR" b="0" dirty="0">
                <a:effectLst/>
              </a:rPr>
              <a:t>urante a </a:t>
            </a:r>
            <a:r>
              <a:rPr lang="pt-BR" b="1" dirty="0">
                <a:solidFill>
                  <a:srgbClr val="7030A0"/>
                </a:solidFill>
                <a:effectLst/>
              </a:rPr>
              <a:t>inferência</a:t>
            </a:r>
            <a:r>
              <a:rPr lang="pt-BR" b="0" dirty="0">
                <a:effectLst/>
              </a:rPr>
              <a:t>, o </a:t>
            </a:r>
            <a:r>
              <a:rPr lang="pt-BR" b="0" i="1" dirty="0" err="1">
                <a:effectLst/>
              </a:rPr>
              <a:t>dropout</a:t>
            </a:r>
            <a:r>
              <a:rPr lang="pt-BR" b="0" dirty="0">
                <a:effectLst/>
              </a:rPr>
              <a:t> não é aplicado (todos neurônios são usados).</a:t>
            </a:r>
          </a:p>
          <a:p>
            <a:r>
              <a:rPr lang="pt-BR" b="1" dirty="0"/>
              <a:t>Mesmo usando apenas uma única rede na inferência</a:t>
            </a:r>
            <a:r>
              <a:rPr lang="pt-BR" dirty="0"/>
              <a:t>, o comportamento dela é equivalente a uma </a:t>
            </a:r>
            <a:r>
              <a:rPr lang="pt-BR" b="1" dirty="0">
                <a:solidFill>
                  <a:schemeClr val="accent2"/>
                </a:solidFill>
              </a:rPr>
              <a:t>média de muitas redes diferentes</a:t>
            </a:r>
            <a:r>
              <a:rPr lang="pt-BR" dirty="0">
                <a:solidFill>
                  <a:schemeClr val="accent2"/>
                </a:solidFill>
              </a:rPr>
              <a:t> </a:t>
            </a:r>
            <a:r>
              <a:rPr lang="pt-BR" dirty="0"/>
              <a:t>treinadas com </a:t>
            </a:r>
            <a:r>
              <a:rPr lang="pt-BR" i="1" dirty="0" err="1"/>
              <a:t>dropout</a:t>
            </a:r>
            <a:r>
              <a:rPr lang="pt-BR" dirty="0"/>
              <a:t>.</a:t>
            </a:r>
            <a:endParaRPr lang="pt-BR" b="0" dirty="0">
              <a:effectLst/>
            </a:endParaRPr>
          </a:p>
          <a:p>
            <a:r>
              <a:rPr lang="pt-BR" b="0" dirty="0">
                <a:effectLst/>
              </a:rPr>
              <a:t>As </a:t>
            </a:r>
            <a:r>
              <a:rPr lang="pt-BR" b="1" dirty="0">
                <a:solidFill>
                  <a:srgbClr val="00B050"/>
                </a:solidFill>
                <a:effectLst/>
              </a:rPr>
              <a:t>diferentes redes se </a:t>
            </a:r>
            <a:r>
              <a:rPr lang="pt-BR" b="1" dirty="0">
                <a:solidFill>
                  <a:srgbClr val="7030A0"/>
                </a:solidFill>
                <a:effectLst/>
              </a:rPr>
              <a:t>combinam </a:t>
            </a:r>
            <a:r>
              <a:rPr lang="pt-BR" b="0" dirty="0">
                <a:effectLst/>
              </a:rPr>
              <a:t>para reduzir o efeito do</a:t>
            </a:r>
            <a:r>
              <a:rPr lang="pt-BR" b="1" dirty="0">
                <a:solidFill>
                  <a:srgbClr val="00B050"/>
                </a:solidFill>
                <a:effectLst/>
              </a:rPr>
              <a:t> sobreajuste</a:t>
            </a:r>
            <a:r>
              <a:rPr lang="pt-BR" dirty="0"/>
              <a:t>, </a:t>
            </a:r>
            <a:r>
              <a:rPr lang="pt-BR" b="1" dirty="0">
                <a:solidFill>
                  <a:schemeClr val="accent1"/>
                </a:solidFill>
              </a:rPr>
              <a:t>generalizando melhor</a:t>
            </a:r>
            <a:r>
              <a:rPr lang="pt-BR" dirty="0"/>
              <a:t>.</a:t>
            </a:r>
            <a:endParaRPr lang="pt-BR" dirty="0">
              <a:effectLst/>
            </a:endParaRPr>
          </a:p>
        </p:txBody>
      </p:sp>
      <p:pic>
        <p:nvPicPr>
          <p:cNvPr id="5" name="Picture 4">
            <a:extLst>
              <a:ext uri="{FF2B5EF4-FFF2-40B4-BE49-F238E27FC236}">
                <a16:creationId xmlns:a16="http://schemas.microsoft.com/office/drawing/2014/main" id="{A9DBED52-63A3-49F4-B259-F858D6FEBF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35870" y="1296238"/>
            <a:ext cx="5720259" cy="2638867"/>
          </a:xfrm>
          <a:prstGeom prst="rect">
            <a:avLst/>
          </a:prstGeom>
        </p:spPr>
      </p:pic>
    </p:spTree>
    <p:extLst>
      <p:ext uri="{BB962C8B-B14F-4D97-AF65-F5344CB8AC3E}">
        <p14:creationId xmlns:p14="http://schemas.microsoft.com/office/powerpoint/2010/main" val="41452240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6F209-3E3E-0136-4083-293C5897A43D}"/>
              </a:ext>
            </a:extLst>
          </p:cNvPr>
          <p:cNvSpPr>
            <a:spLocks noGrp="1"/>
          </p:cNvSpPr>
          <p:nvPr>
            <p:ph type="title"/>
          </p:nvPr>
        </p:nvSpPr>
        <p:spPr/>
        <p:txBody>
          <a:bodyPr/>
          <a:lstStyle/>
          <a:p>
            <a:r>
              <a:rPr lang="pt-BR" i="1" dirty="0"/>
              <a:t>Data augmentation</a:t>
            </a:r>
            <a:endParaRPr lang="pt-BR" dirty="0"/>
          </a:p>
        </p:txBody>
      </p:sp>
      <p:sp>
        <p:nvSpPr>
          <p:cNvPr id="3" name="Espaço Reservado para Conteúdo 2">
            <a:extLst>
              <a:ext uri="{FF2B5EF4-FFF2-40B4-BE49-F238E27FC236}">
                <a16:creationId xmlns:a16="http://schemas.microsoft.com/office/drawing/2014/main" id="{D2294B5F-B438-34E2-4845-29E47EF0DECB}"/>
              </a:ext>
            </a:extLst>
          </p:cNvPr>
          <p:cNvSpPr>
            <a:spLocks noGrp="1"/>
          </p:cNvSpPr>
          <p:nvPr>
            <p:ph idx="1"/>
          </p:nvPr>
        </p:nvSpPr>
        <p:spPr>
          <a:xfrm>
            <a:off x="6318607" y="1825624"/>
            <a:ext cx="5857865" cy="5032375"/>
          </a:xfrm>
        </p:spPr>
        <p:txBody>
          <a:bodyPr>
            <a:normAutofit/>
          </a:bodyPr>
          <a:lstStyle/>
          <a:p>
            <a:r>
              <a:rPr lang="pt-BR" b="1" dirty="0">
                <a:effectLst/>
              </a:rPr>
              <a:t>Podemos </a:t>
            </a:r>
            <a:r>
              <a:rPr lang="pt-BR" b="1" dirty="0">
                <a:solidFill>
                  <a:schemeClr val="accent2"/>
                </a:solidFill>
                <a:effectLst/>
              </a:rPr>
              <a:t>aumentar artificialmente os dados</a:t>
            </a:r>
            <a:r>
              <a:rPr lang="pt-BR" dirty="0">
                <a:effectLst/>
              </a:rPr>
              <a:t>.</a:t>
            </a:r>
          </a:p>
          <a:p>
            <a:r>
              <a:rPr lang="pt-BR" b="0" dirty="0">
                <a:effectLst/>
              </a:rPr>
              <a:t>O objetivo é </a:t>
            </a:r>
            <a:r>
              <a:rPr lang="pt-BR" b="1" dirty="0">
                <a:solidFill>
                  <a:srgbClr val="00B050"/>
                </a:solidFill>
                <a:effectLst/>
              </a:rPr>
              <a:t>aumentar</a:t>
            </a:r>
            <a:r>
              <a:rPr lang="pt-BR" b="0" dirty="0">
                <a:effectLst/>
              </a:rPr>
              <a:t> a </a:t>
            </a:r>
            <a:r>
              <a:rPr lang="pt-BR" b="1" dirty="0">
                <a:solidFill>
                  <a:srgbClr val="00B0F0"/>
                </a:solidFill>
                <a:effectLst/>
              </a:rPr>
              <a:t>diversidade</a:t>
            </a:r>
            <a:r>
              <a:rPr lang="pt-BR" b="0" dirty="0">
                <a:effectLst/>
              </a:rPr>
              <a:t> dos dados de treinamento </a:t>
            </a:r>
            <a:r>
              <a:rPr lang="pt-BR" b="1" dirty="0">
                <a:solidFill>
                  <a:srgbClr val="7030A0"/>
                </a:solidFill>
                <a:effectLst/>
              </a:rPr>
              <a:t>criando novos exemplos a </a:t>
            </a:r>
            <a:r>
              <a:rPr lang="pt-BR" b="1" dirty="0">
                <a:solidFill>
                  <a:schemeClr val="accent1"/>
                </a:solidFill>
                <a:effectLst/>
              </a:rPr>
              <a:t>partir dos dados existentes</a:t>
            </a:r>
            <a:r>
              <a:rPr lang="pt-BR" b="0" dirty="0">
                <a:effectLst/>
              </a:rPr>
              <a:t>.</a:t>
            </a:r>
          </a:p>
          <a:p>
            <a:r>
              <a:rPr lang="pt-BR" b="0" dirty="0">
                <a:effectLst/>
              </a:rPr>
              <a:t>Essa técnica ajuda a melhorar o desempenho do modelo, tornando-o mais </a:t>
            </a:r>
            <a:r>
              <a:rPr lang="pt-BR" b="1" dirty="0">
                <a:solidFill>
                  <a:srgbClr val="00B050"/>
                </a:solidFill>
                <a:effectLst/>
              </a:rPr>
              <a:t>robusto</a:t>
            </a:r>
            <a:r>
              <a:rPr lang="pt-BR" b="0" dirty="0">
                <a:effectLst/>
              </a:rPr>
              <a:t> e capaz de </a:t>
            </a:r>
            <a:r>
              <a:rPr lang="pt-BR" b="1" dirty="0">
                <a:solidFill>
                  <a:srgbClr val="00B050"/>
                </a:solidFill>
                <a:effectLst/>
              </a:rPr>
              <a:t>generalizar melhor</a:t>
            </a:r>
            <a:r>
              <a:rPr lang="pt-BR" b="0" dirty="0">
                <a:effectLst/>
              </a:rPr>
              <a:t>. </a:t>
            </a:r>
          </a:p>
        </p:txBody>
      </p:sp>
      <p:pic>
        <p:nvPicPr>
          <p:cNvPr id="4" name="Picture 2" descr="Data Augmentation for Computer Vision | by TagX | Medium">
            <a:extLst>
              <a:ext uri="{FF2B5EF4-FFF2-40B4-BE49-F238E27FC236}">
                <a16:creationId xmlns:a16="http://schemas.microsoft.com/office/drawing/2014/main" id="{5692B4E6-B888-E061-A50A-821892C9D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134" y="2463502"/>
            <a:ext cx="5857866" cy="329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81077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6F209-3E3E-0136-4083-293C5897A43D}"/>
              </a:ext>
            </a:extLst>
          </p:cNvPr>
          <p:cNvSpPr>
            <a:spLocks noGrp="1"/>
          </p:cNvSpPr>
          <p:nvPr>
            <p:ph type="title"/>
          </p:nvPr>
        </p:nvSpPr>
        <p:spPr/>
        <p:txBody>
          <a:bodyPr/>
          <a:lstStyle/>
          <a:p>
            <a:r>
              <a:rPr lang="pt-BR" i="1" dirty="0"/>
              <a:t>Data augmentation</a:t>
            </a:r>
            <a:endParaRPr lang="pt-BR" dirty="0"/>
          </a:p>
        </p:txBody>
      </p:sp>
      <p:sp>
        <p:nvSpPr>
          <p:cNvPr id="3" name="Espaço Reservado para Conteúdo 2">
            <a:extLst>
              <a:ext uri="{FF2B5EF4-FFF2-40B4-BE49-F238E27FC236}">
                <a16:creationId xmlns:a16="http://schemas.microsoft.com/office/drawing/2014/main" id="{D2294B5F-B438-34E2-4845-29E47EF0DECB}"/>
              </a:ext>
            </a:extLst>
          </p:cNvPr>
          <p:cNvSpPr>
            <a:spLocks noGrp="1"/>
          </p:cNvSpPr>
          <p:nvPr>
            <p:ph idx="1"/>
          </p:nvPr>
        </p:nvSpPr>
        <p:spPr>
          <a:xfrm>
            <a:off x="5757706" y="1825624"/>
            <a:ext cx="6434294" cy="5032375"/>
          </a:xfrm>
        </p:spPr>
        <p:txBody>
          <a:bodyPr>
            <a:normAutofit/>
          </a:bodyPr>
          <a:lstStyle/>
          <a:p>
            <a:r>
              <a:rPr lang="pt-BR" dirty="0"/>
              <a:t>Quando o problema envolve </a:t>
            </a:r>
            <a:r>
              <a:rPr lang="pt-BR" b="1" dirty="0">
                <a:solidFill>
                  <a:srgbClr val="00B050"/>
                </a:solidFill>
              </a:rPr>
              <a:t>imagens</a:t>
            </a:r>
            <a:r>
              <a:rPr lang="pt-BR" dirty="0"/>
              <a:t>, podemos aplicar </a:t>
            </a:r>
            <a:r>
              <a:rPr lang="pt-BR" b="1" dirty="0">
                <a:solidFill>
                  <a:srgbClr val="00B050"/>
                </a:solidFill>
                <a:effectLst/>
              </a:rPr>
              <a:t>transformações</a:t>
            </a:r>
            <a:r>
              <a:rPr lang="pt-BR" b="0" dirty="0">
                <a:effectLst/>
              </a:rPr>
              <a:t>, como </a:t>
            </a:r>
          </a:p>
          <a:p>
            <a:pPr lvl="1">
              <a:buFont typeface="Wingdings" panose="05000000000000000000" pitchFamily="2" charset="2"/>
              <a:buChar char="§"/>
            </a:pPr>
            <a:r>
              <a:rPr lang="pt-BR" b="1" dirty="0">
                <a:solidFill>
                  <a:srgbClr val="00B050"/>
                </a:solidFill>
                <a:effectLst/>
              </a:rPr>
              <a:t>rotação</a:t>
            </a:r>
            <a:r>
              <a:rPr lang="pt-BR" b="0" dirty="0">
                <a:effectLst/>
              </a:rPr>
              <a:t>, </a:t>
            </a:r>
          </a:p>
          <a:p>
            <a:pPr lvl="1">
              <a:buFont typeface="Wingdings" panose="05000000000000000000" pitchFamily="2" charset="2"/>
              <a:buChar char="§"/>
            </a:pPr>
            <a:r>
              <a:rPr lang="pt-BR" b="1" dirty="0">
                <a:solidFill>
                  <a:srgbClr val="00B050"/>
                </a:solidFill>
              </a:rPr>
              <a:t>e</a:t>
            </a:r>
            <a:r>
              <a:rPr lang="pt-BR" b="1" dirty="0">
                <a:solidFill>
                  <a:srgbClr val="00B050"/>
                </a:solidFill>
                <a:effectLst/>
              </a:rPr>
              <a:t>spelhamento</a:t>
            </a:r>
            <a:endParaRPr lang="pt-BR" dirty="0">
              <a:solidFill>
                <a:srgbClr val="00B050"/>
              </a:solidFill>
            </a:endParaRPr>
          </a:p>
          <a:p>
            <a:pPr lvl="1">
              <a:buFont typeface="Wingdings" panose="05000000000000000000" pitchFamily="2" charset="2"/>
              <a:buChar char="§"/>
            </a:pPr>
            <a:r>
              <a:rPr lang="pt-BR" b="1" dirty="0">
                <a:solidFill>
                  <a:srgbClr val="00B050"/>
                </a:solidFill>
                <a:effectLst/>
              </a:rPr>
              <a:t>corte</a:t>
            </a:r>
            <a:r>
              <a:rPr lang="pt-BR" b="0" dirty="0">
                <a:effectLst/>
              </a:rPr>
              <a:t>, </a:t>
            </a:r>
          </a:p>
          <a:p>
            <a:pPr lvl="1">
              <a:buFont typeface="Wingdings" panose="05000000000000000000" pitchFamily="2" charset="2"/>
              <a:buChar char="§"/>
            </a:pPr>
            <a:r>
              <a:rPr lang="pt-BR" b="0" dirty="0">
                <a:effectLst/>
              </a:rPr>
              <a:t>modificação do </a:t>
            </a:r>
            <a:r>
              <a:rPr lang="pt-BR" b="1" dirty="0">
                <a:solidFill>
                  <a:srgbClr val="00B050"/>
                </a:solidFill>
                <a:effectLst/>
              </a:rPr>
              <a:t>brilho</a:t>
            </a:r>
            <a:r>
              <a:rPr lang="pt-BR" b="0" dirty="0">
                <a:effectLst/>
              </a:rPr>
              <a:t>, </a:t>
            </a:r>
          </a:p>
          <a:p>
            <a:pPr lvl="1">
              <a:buFont typeface="Wingdings" panose="05000000000000000000" pitchFamily="2" charset="2"/>
              <a:buChar char="§"/>
            </a:pPr>
            <a:r>
              <a:rPr lang="pt-BR" b="0" dirty="0">
                <a:effectLst/>
              </a:rPr>
              <a:t>adição de </a:t>
            </a:r>
            <a:r>
              <a:rPr lang="pt-BR" b="1" dirty="0">
                <a:solidFill>
                  <a:srgbClr val="00B050"/>
                </a:solidFill>
                <a:effectLst/>
              </a:rPr>
              <a:t>ruído</a:t>
            </a:r>
            <a:r>
              <a:rPr lang="pt-BR" b="0" dirty="0">
                <a:effectLst/>
              </a:rPr>
              <a:t>, </a:t>
            </a:r>
          </a:p>
          <a:p>
            <a:pPr lvl="1">
              <a:buFont typeface="Wingdings" panose="05000000000000000000" pitchFamily="2" charset="2"/>
              <a:buChar char="§"/>
            </a:pPr>
            <a:r>
              <a:rPr lang="pt-BR" b="1" dirty="0">
                <a:solidFill>
                  <a:srgbClr val="00B050"/>
                </a:solidFill>
                <a:effectLst/>
              </a:rPr>
              <a:t>desfoque</a:t>
            </a:r>
            <a:r>
              <a:rPr lang="pt-BR" b="0" dirty="0">
                <a:effectLst/>
              </a:rPr>
              <a:t>,</a:t>
            </a:r>
          </a:p>
          <a:p>
            <a:pPr lvl="1">
              <a:buFont typeface="Wingdings" panose="05000000000000000000" pitchFamily="2" charset="2"/>
              <a:buChar char="§"/>
            </a:pPr>
            <a:r>
              <a:rPr lang="pt-BR" dirty="0"/>
              <a:t>transformação para </a:t>
            </a:r>
            <a:r>
              <a:rPr lang="pt-BR" b="1" dirty="0">
                <a:solidFill>
                  <a:srgbClr val="00B050"/>
                </a:solidFill>
              </a:rPr>
              <a:t>escala de cinza</a:t>
            </a:r>
            <a:r>
              <a:rPr lang="pt-BR" dirty="0"/>
              <a:t>,</a:t>
            </a:r>
            <a:endParaRPr lang="pt-BR" b="0" dirty="0">
              <a:effectLst/>
            </a:endParaRPr>
          </a:p>
          <a:p>
            <a:pPr lvl="1">
              <a:buFont typeface="Wingdings" panose="05000000000000000000" pitchFamily="2" charset="2"/>
              <a:buChar char="§"/>
            </a:pPr>
            <a:r>
              <a:rPr lang="pt-BR" b="0" dirty="0">
                <a:effectLst/>
              </a:rPr>
              <a:t>etc.</a:t>
            </a:r>
          </a:p>
          <a:p>
            <a:r>
              <a:rPr lang="pt-BR" dirty="0"/>
              <a:t>A rede é treinada com a </a:t>
            </a:r>
            <a:r>
              <a:rPr lang="pt-BR" b="1" dirty="0"/>
              <a:t>mesma imagem, mas com diferentes transformações</a:t>
            </a:r>
            <a:r>
              <a:rPr lang="pt-BR" dirty="0"/>
              <a:t>.</a:t>
            </a:r>
          </a:p>
        </p:txBody>
      </p:sp>
      <p:pic>
        <p:nvPicPr>
          <p:cNvPr id="1026" name="Picture 2" descr="Data Augmentation for Computer Vision | by TagX | Medium">
            <a:extLst>
              <a:ext uri="{FF2B5EF4-FFF2-40B4-BE49-F238E27FC236}">
                <a16:creationId xmlns:a16="http://schemas.microsoft.com/office/drawing/2014/main" id="{FB7D8235-3582-6BF9-817B-5D611675B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91" y="2471894"/>
            <a:ext cx="5489454" cy="3087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90968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A965A-78A8-F9E6-C357-48218B967E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961B12-5587-E0AD-0C28-980251754268}"/>
              </a:ext>
            </a:extLst>
          </p:cNvPr>
          <p:cNvSpPr>
            <a:spLocks noGrp="1"/>
          </p:cNvSpPr>
          <p:nvPr>
            <p:ph type="title"/>
          </p:nvPr>
        </p:nvSpPr>
        <p:spPr/>
        <p:txBody>
          <a:bodyPr/>
          <a:lstStyle/>
          <a:p>
            <a:r>
              <a:rPr lang="pt-BR" i="1" dirty="0"/>
              <a:t>Data augmentation</a:t>
            </a:r>
            <a:endParaRPr lang="pt-BR" dirty="0"/>
          </a:p>
        </p:txBody>
      </p:sp>
      <p:sp>
        <p:nvSpPr>
          <p:cNvPr id="3" name="Espaço Reservado para Conteúdo 2">
            <a:extLst>
              <a:ext uri="{FF2B5EF4-FFF2-40B4-BE49-F238E27FC236}">
                <a16:creationId xmlns:a16="http://schemas.microsoft.com/office/drawing/2014/main" id="{7A4DB6AD-774F-EE4D-667C-372702738F63}"/>
              </a:ext>
            </a:extLst>
          </p:cNvPr>
          <p:cNvSpPr>
            <a:spLocks noGrp="1"/>
          </p:cNvSpPr>
          <p:nvPr>
            <p:ph idx="1"/>
          </p:nvPr>
        </p:nvSpPr>
        <p:spPr>
          <a:xfrm>
            <a:off x="6096000" y="1825624"/>
            <a:ext cx="5986410" cy="5032375"/>
          </a:xfrm>
        </p:spPr>
        <p:txBody>
          <a:bodyPr>
            <a:normAutofit/>
          </a:bodyPr>
          <a:lstStyle/>
          <a:p>
            <a:r>
              <a:rPr lang="pt-BR" dirty="0"/>
              <a:t>O </a:t>
            </a:r>
            <a:r>
              <a:rPr lang="pt-BR" b="1" i="1" dirty="0">
                <a:solidFill>
                  <a:srgbClr val="00B050"/>
                </a:solidFill>
              </a:rPr>
              <a:t>data a</a:t>
            </a:r>
            <a:r>
              <a:rPr lang="pt-BR" b="1" i="1" dirty="0">
                <a:solidFill>
                  <a:srgbClr val="00B050"/>
                </a:solidFill>
                <a:effectLst/>
              </a:rPr>
              <a:t>ugmentation</a:t>
            </a:r>
            <a:r>
              <a:rPr lang="pt-BR" b="1" i="1" dirty="0">
                <a:solidFill>
                  <a:srgbClr val="00B050"/>
                </a:solidFill>
              </a:rPr>
              <a:t> </a:t>
            </a:r>
            <a:r>
              <a:rPr lang="pt-BR" b="1" dirty="0">
                <a:solidFill>
                  <a:srgbClr val="00B050"/>
                </a:solidFill>
              </a:rPr>
              <a:t>torna CNNs </a:t>
            </a:r>
            <a:r>
              <a:rPr lang="pt-BR" b="1" dirty="0">
                <a:solidFill>
                  <a:srgbClr val="7030A0"/>
                </a:solidFill>
              </a:rPr>
              <a:t>robustas à </a:t>
            </a:r>
          </a:p>
          <a:p>
            <a:pPr lvl="1">
              <a:buFont typeface="Wingdings" panose="05000000000000000000" pitchFamily="2" charset="2"/>
              <a:buChar char="§"/>
            </a:pPr>
            <a:r>
              <a:rPr lang="pt-BR" dirty="0"/>
              <a:t>rotação,</a:t>
            </a:r>
          </a:p>
          <a:p>
            <a:pPr lvl="1">
              <a:buFont typeface="Wingdings" panose="05000000000000000000" pitchFamily="2" charset="2"/>
              <a:buChar char="§"/>
            </a:pPr>
            <a:r>
              <a:rPr lang="pt-BR" dirty="0"/>
              <a:t>qualidade,</a:t>
            </a:r>
          </a:p>
          <a:p>
            <a:pPr lvl="1">
              <a:buFont typeface="Wingdings" panose="05000000000000000000" pitchFamily="2" charset="2"/>
              <a:buChar char="§"/>
            </a:pPr>
            <a:r>
              <a:rPr lang="pt-BR" dirty="0"/>
              <a:t>luminosidade,</a:t>
            </a:r>
          </a:p>
          <a:p>
            <a:pPr lvl="1">
              <a:buFont typeface="Wingdings" panose="05000000000000000000" pitchFamily="2" charset="2"/>
              <a:buChar char="§"/>
            </a:pPr>
            <a:r>
              <a:rPr lang="pt-BR" dirty="0"/>
              <a:t>e escala dos objetos</a:t>
            </a:r>
          </a:p>
          <a:p>
            <a:pPr marL="0" indent="0">
              <a:buNone/>
            </a:pPr>
            <a:r>
              <a:rPr lang="pt-BR" b="1" dirty="0">
                <a:solidFill>
                  <a:srgbClr val="7030A0"/>
                </a:solidFill>
              </a:rPr>
              <a:t>das imagens.</a:t>
            </a:r>
            <a:endParaRPr lang="pt-BR" dirty="0"/>
          </a:p>
          <a:p>
            <a:r>
              <a:rPr lang="pt-BR" b="0" dirty="0">
                <a:effectLst/>
              </a:rPr>
              <a:t>Assim a rede aprende a </a:t>
            </a:r>
            <a:r>
              <a:rPr lang="pt-BR" b="1" dirty="0">
                <a:solidFill>
                  <a:srgbClr val="00B050"/>
                </a:solidFill>
                <a:effectLst/>
              </a:rPr>
              <a:t>reconhecer padrões </a:t>
            </a:r>
            <a:r>
              <a:rPr lang="pt-BR" b="1" dirty="0">
                <a:solidFill>
                  <a:srgbClr val="7030A0"/>
                </a:solidFill>
                <a:effectLst/>
              </a:rPr>
              <a:t>independentemente dos fatores acima</a:t>
            </a:r>
            <a:r>
              <a:rPr lang="pt-BR" b="0" dirty="0">
                <a:effectLst/>
              </a:rPr>
              <a:t>.</a:t>
            </a:r>
          </a:p>
        </p:txBody>
      </p:sp>
      <p:pic>
        <p:nvPicPr>
          <p:cNvPr id="4" name="Picture 2" descr="Data Augmentation for Computer Vision | by TagX | Medium">
            <a:extLst>
              <a:ext uri="{FF2B5EF4-FFF2-40B4-BE49-F238E27FC236}">
                <a16:creationId xmlns:a16="http://schemas.microsoft.com/office/drawing/2014/main" id="{F994AEE2-26F2-F8CE-748C-BE6C17413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91" y="2471894"/>
            <a:ext cx="5489454" cy="3087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3793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4DDB77-2ADD-1183-CAAA-7C3763BFBA8D}"/>
              </a:ext>
            </a:extLst>
          </p:cNvPr>
          <p:cNvSpPr>
            <a:spLocks noGrp="1"/>
          </p:cNvSpPr>
          <p:nvPr>
            <p:ph type="title"/>
          </p:nvPr>
        </p:nvSpPr>
        <p:spPr/>
        <p:txBody>
          <a:bodyPr/>
          <a:lstStyle/>
          <a:p>
            <a:r>
              <a:rPr lang="pt-BR" i="1" dirty="0" err="1"/>
              <a:t>Transfer</a:t>
            </a:r>
            <a:r>
              <a:rPr lang="pt-BR" i="1" dirty="0"/>
              <a:t> learning</a:t>
            </a:r>
            <a:endParaRPr lang="pt-BR" dirty="0"/>
          </a:p>
        </p:txBody>
      </p:sp>
      <p:sp>
        <p:nvSpPr>
          <p:cNvPr id="3" name="Espaço Reservado para Conteúdo 2">
            <a:extLst>
              <a:ext uri="{FF2B5EF4-FFF2-40B4-BE49-F238E27FC236}">
                <a16:creationId xmlns:a16="http://schemas.microsoft.com/office/drawing/2014/main" id="{0F005E55-CF79-10BA-EFE2-7E4460C2F6E6}"/>
              </a:ext>
            </a:extLst>
          </p:cNvPr>
          <p:cNvSpPr>
            <a:spLocks noGrp="1"/>
          </p:cNvSpPr>
          <p:nvPr>
            <p:ph idx="1"/>
          </p:nvPr>
        </p:nvSpPr>
        <p:spPr>
          <a:xfrm>
            <a:off x="5375564" y="1825624"/>
            <a:ext cx="6732700" cy="5032375"/>
          </a:xfrm>
        </p:spPr>
        <p:txBody>
          <a:bodyPr>
            <a:normAutofit/>
          </a:bodyPr>
          <a:lstStyle/>
          <a:p>
            <a:r>
              <a:rPr lang="pt-BR" b="1" i="1" dirty="0">
                <a:solidFill>
                  <a:srgbClr val="7030A0"/>
                </a:solidFill>
              </a:rPr>
              <a:t>T</a:t>
            </a:r>
            <a:r>
              <a:rPr lang="pt-BR" b="1" i="1" dirty="0">
                <a:solidFill>
                  <a:srgbClr val="7030A0"/>
                </a:solidFill>
                <a:effectLst/>
              </a:rPr>
              <a:t>ransfer learning</a:t>
            </a:r>
            <a:r>
              <a:rPr lang="pt-BR" dirty="0">
                <a:solidFill>
                  <a:srgbClr val="7030A0"/>
                </a:solidFill>
                <a:effectLst/>
              </a:rPr>
              <a:t> </a:t>
            </a:r>
            <a:r>
              <a:rPr lang="pt-BR" dirty="0">
                <a:effectLst/>
              </a:rPr>
              <a:t>ou </a:t>
            </a:r>
            <a:r>
              <a:rPr lang="pt-BR" b="1" dirty="0">
                <a:solidFill>
                  <a:srgbClr val="7030A0"/>
                </a:solidFill>
              </a:rPr>
              <a:t>transferência de aprendizado</a:t>
            </a:r>
            <a:r>
              <a:rPr lang="pt-BR" dirty="0"/>
              <a:t> é</a:t>
            </a:r>
            <a:r>
              <a:rPr lang="pt-BR" b="0" dirty="0">
                <a:effectLst/>
              </a:rPr>
              <a:t> uma abordagem que envolve o uso de um </a:t>
            </a:r>
            <a:r>
              <a:rPr lang="pt-BR" b="1" dirty="0">
                <a:solidFill>
                  <a:srgbClr val="00B050"/>
                </a:solidFill>
                <a:effectLst/>
              </a:rPr>
              <a:t>modelo </a:t>
            </a:r>
            <a:r>
              <a:rPr lang="pt-BR" b="1" dirty="0">
                <a:solidFill>
                  <a:srgbClr val="0070C0"/>
                </a:solidFill>
                <a:effectLst/>
              </a:rPr>
              <a:t>pré-treinado</a:t>
            </a:r>
            <a:r>
              <a:rPr lang="pt-BR" b="1" dirty="0">
                <a:solidFill>
                  <a:srgbClr val="00B050"/>
                </a:solidFill>
                <a:effectLst/>
              </a:rPr>
              <a:t> em uma tarefa </a:t>
            </a:r>
            <a:r>
              <a:rPr lang="pt-BR" b="0" dirty="0">
                <a:effectLst/>
              </a:rPr>
              <a:t>(ou </a:t>
            </a:r>
            <a:r>
              <a:rPr lang="pt-BR" b="1" dirty="0">
                <a:solidFill>
                  <a:schemeClr val="accent2"/>
                </a:solidFill>
                <a:effectLst/>
              </a:rPr>
              <a:t>domínio</a:t>
            </a:r>
            <a:r>
              <a:rPr lang="pt-BR" b="0" dirty="0">
                <a:effectLst/>
              </a:rPr>
              <a:t>) relacionada </a:t>
            </a:r>
            <a:r>
              <a:rPr lang="pt-BR" b="1" dirty="0">
                <a:solidFill>
                  <a:srgbClr val="00B050"/>
                </a:solidFill>
                <a:effectLst/>
              </a:rPr>
              <a:t>como ponto de partida para uma nova tarefa</a:t>
            </a:r>
            <a:r>
              <a:rPr lang="pt-BR" b="0" dirty="0">
                <a:effectLst/>
              </a:rPr>
              <a:t>.</a:t>
            </a:r>
          </a:p>
          <a:p>
            <a:r>
              <a:rPr lang="pt-BR" dirty="0"/>
              <a:t>Por exemplo, usar um </a:t>
            </a:r>
            <a:r>
              <a:rPr lang="pt-BR" b="1" dirty="0">
                <a:solidFill>
                  <a:schemeClr val="accent2"/>
                </a:solidFill>
              </a:rPr>
              <a:t>modelo </a:t>
            </a:r>
            <a:r>
              <a:rPr lang="pt-BR" b="1" dirty="0" err="1">
                <a:solidFill>
                  <a:schemeClr val="accent2"/>
                </a:solidFill>
              </a:rPr>
              <a:t>pré</a:t>
            </a:r>
            <a:r>
              <a:rPr lang="pt-BR" b="1" dirty="0">
                <a:solidFill>
                  <a:schemeClr val="accent2"/>
                </a:solidFill>
              </a:rPr>
              <a:t>-treinado em um grande conjunto de dados com diferentes tipos de plantas</a:t>
            </a:r>
            <a:r>
              <a:rPr lang="pt-BR" dirty="0"/>
              <a:t> e </a:t>
            </a:r>
            <a:r>
              <a:rPr lang="pt-BR" b="1" dirty="0">
                <a:solidFill>
                  <a:srgbClr val="00B050"/>
                </a:solidFill>
              </a:rPr>
              <a:t>ajustá-lo</a:t>
            </a:r>
            <a:r>
              <a:rPr lang="pt-BR" dirty="0"/>
              <a:t> para a </a:t>
            </a:r>
            <a:r>
              <a:rPr lang="pt-BR" b="1" dirty="0">
                <a:solidFill>
                  <a:srgbClr val="7030A0"/>
                </a:solidFill>
              </a:rPr>
              <a:t>classificação de doenças em pés de feijão</a:t>
            </a:r>
            <a:r>
              <a:rPr lang="pt-BR" dirty="0"/>
              <a:t>. </a:t>
            </a:r>
            <a:endParaRPr lang="pt-BR" b="0" dirty="0">
              <a:effectLst/>
            </a:endParaRPr>
          </a:p>
        </p:txBody>
      </p:sp>
      <p:pic>
        <p:nvPicPr>
          <p:cNvPr id="2052" name="Picture 4" descr="Transfer Learning">
            <a:extLst>
              <a:ext uri="{FF2B5EF4-FFF2-40B4-BE49-F238E27FC236}">
                <a16:creationId xmlns:a16="http://schemas.microsoft.com/office/drawing/2014/main" id="{3B6B0EBE-D06E-6F94-33ED-085555A9B1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48" t="15906" b="27976"/>
          <a:stretch/>
        </p:blipFill>
        <p:spPr bwMode="auto">
          <a:xfrm>
            <a:off x="1289139" y="2483695"/>
            <a:ext cx="3116941" cy="2556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71357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4DDB77-2ADD-1183-CAAA-7C3763BFBA8D}"/>
              </a:ext>
            </a:extLst>
          </p:cNvPr>
          <p:cNvSpPr>
            <a:spLocks noGrp="1"/>
          </p:cNvSpPr>
          <p:nvPr>
            <p:ph type="title"/>
          </p:nvPr>
        </p:nvSpPr>
        <p:spPr/>
        <p:txBody>
          <a:bodyPr/>
          <a:lstStyle/>
          <a:p>
            <a:r>
              <a:rPr lang="pt-BR" i="1" dirty="0" err="1"/>
              <a:t>Transfer</a:t>
            </a:r>
            <a:r>
              <a:rPr lang="pt-BR" i="1" dirty="0"/>
              <a:t> learning</a:t>
            </a:r>
            <a:endParaRPr lang="pt-BR" dirty="0"/>
          </a:p>
        </p:txBody>
      </p:sp>
      <p:sp>
        <p:nvSpPr>
          <p:cNvPr id="3" name="Espaço Reservado para Conteúdo 2">
            <a:extLst>
              <a:ext uri="{FF2B5EF4-FFF2-40B4-BE49-F238E27FC236}">
                <a16:creationId xmlns:a16="http://schemas.microsoft.com/office/drawing/2014/main" id="{0F005E55-CF79-10BA-EFE2-7E4460C2F6E6}"/>
              </a:ext>
            </a:extLst>
          </p:cNvPr>
          <p:cNvSpPr>
            <a:spLocks noGrp="1"/>
          </p:cNvSpPr>
          <p:nvPr>
            <p:ph idx="1"/>
          </p:nvPr>
        </p:nvSpPr>
        <p:spPr>
          <a:xfrm>
            <a:off x="838200" y="5327374"/>
            <a:ext cx="11258550" cy="1530625"/>
          </a:xfrm>
        </p:spPr>
        <p:txBody>
          <a:bodyPr>
            <a:normAutofit lnSpcReduction="10000"/>
          </a:bodyPr>
          <a:lstStyle/>
          <a:p>
            <a:r>
              <a:rPr lang="pt-BR" b="0" dirty="0">
                <a:effectLst/>
              </a:rPr>
              <a:t>Usamos o </a:t>
            </a:r>
            <a:r>
              <a:rPr lang="pt-BR" b="1" dirty="0">
                <a:solidFill>
                  <a:srgbClr val="7030A0"/>
                </a:solidFill>
                <a:effectLst/>
              </a:rPr>
              <a:t>conhecimento adquirido </a:t>
            </a:r>
            <a:r>
              <a:rPr lang="pt-BR" b="0" dirty="0">
                <a:effectLst/>
              </a:rPr>
              <a:t>por um </a:t>
            </a:r>
            <a:r>
              <a:rPr lang="pt-BR" b="1" dirty="0">
                <a:solidFill>
                  <a:srgbClr val="7030A0"/>
                </a:solidFill>
                <a:effectLst/>
              </a:rPr>
              <a:t>modelo treinando em uma grande base de dados </a:t>
            </a:r>
            <a:r>
              <a:rPr lang="pt-BR" b="0" dirty="0">
                <a:effectLst/>
              </a:rPr>
              <a:t>como </a:t>
            </a:r>
            <a:r>
              <a:rPr lang="pt-BR" b="1" dirty="0">
                <a:solidFill>
                  <a:srgbClr val="00B050"/>
                </a:solidFill>
                <a:effectLst/>
              </a:rPr>
              <a:t>ponto de partida </a:t>
            </a:r>
            <a:r>
              <a:rPr lang="pt-BR" b="0" dirty="0">
                <a:effectLst/>
              </a:rPr>
              <a:t>para treinar um modelo com uma </a:t>
            </a:r>
            <a:r>
              <a:rPr lang="pt-BR" b="1" dirty="0">
                <a:solidFill>
                  <a:srgbClr val="00B050"/>
                </a:solidFill>
                <a:effectLst/>
              </a:rPr>
              <a:t>base de treinamento, </a:t>
            </a:r>
            <a:r>
              <a:rPr lang="pt-BR" b="1" dirty="0">
                <a:solidFill>
                  <a:schemeClr val="accent2"/>
                </a:solidFill>
                <a:effectLst/>
              </a:rPr>
              <a:t>em geral</a:t>
            </a:r>
            <a:r>
              <a:rPr lang="pt-BR" b="1" dirty="0">
                <a:solidFill>
                  <a:srgbClr val="00B050"/>
                </a:solidFill>
                <a:effectLst/>
              </a:rPr>
              <a:t>, menor</a:t>
            </a:r>
            <a:r>
              <a:rPr lang="pt-BR" b="0" dirty="0">
                <a:effectLst/>
              </a:rPr>
              <a:t>, </a:t>
            </a:r>
            <a:r>
              <a:rPr lang="pt-BR" b="1" dirty="0">
                <a:solidFill>
                  <a:srgbClr val="00B050"/>
                </a:solidFill>
                <a:effectLst/>
              </a:rPr>
              <a:t>mas que seja </a:t>
            </a:r>
            <a:r>
              <a:rPr lang="pt-BR" b="1" dirty="0">
                <a:solidFill>
                  <a:srgbClr val="0070C0"/>
                </a:solidFill>
                <a:effectLst/>
              </a:rPr>
              <a:t>relacionada</a:t>
            </a:r>
            <a:r>
              <a:rPr lang="pt-BR" b="1" dirty="0">
                <a:solidFill>
                  <a:srgbClr val="00B050"/>
                </a:solidFill>
                <a:effectLst/>
              </a:rPr>
              <a:t> à primeira</a:t>
            </a:r>
            <a:r>
              <a:rPr lang="pt-BR" b="0" dirty="0">
                <a:effectLst/>
              </a:rPr>
              <a:t>.</a:t>
            </a:r>
          </a:p>
        </p:txBody>
      </p:sp>
      <p:pic>
        <p:nvPicPr>
          <p:cNvPr id="2054" name="Picture 6" descr="Transfer Learning in Deep Learning - Introduction to Deep Learning - YouTube">
            <a:extLst>
              <a:ext uri="{FF2B5EF4-FFF2-40B4-BE49-F238E27FC236}">
                <a16:creationId xmlns:a16="http://schemas.microsoft.com/office/drawing/2014/main" id="{A6F8E130-AB12-AC2A-89D6-74C318B4BA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970" t="40674" r="16894" b="5323"/>
          <a:stretch/>
        </p:blipFill>
        <p:spPr bwMode="auto">
          <a:xfrm>
            <a:off x="3055905" y="1848679"/>
            <a:ext cx="6080189" cy="2792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4738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4DDB77-2ADD-1183-CAAA-7C3763BFBA8D}"/>
              </a:ext>
            </a:extLst>
          </p:cNvPr>
          <p:cNvSpPr>
            <a:spLocks noGrp="1"/>
          </p:cNvSpPr>
          <p:nvPr>
            <p:ph type="title"/>
          </p:nvPr>
        </p:nvSpPr>
        <p:spPr/>
        <p:txBody>
          <a:bodyPr/>
          <a:lstStyle/>
          <a:p>
            <a:r>
              <a:rPr lang="pt-BR" i="1" dirty="0" err="1"/>
              <a:t>Transfer</a:t>
            </a:r>
            <a:r>
              <a:rPr lang="pt-BR" i="1" dirty="0"/>
              <a:t> learning</a:t>
            </a:r>
            <a:endParaRPr lang="pt-BR" dirty="0"/>
          </a:p>
        </p:txBody>
      </p:sp>
      <p:sp>
        <p:nvSpPr>
          <p:cNvPr id="3" name="Espaço Reservado para Conteúdo 2">
            <a:extLst>
              <a:ext uri="{FF2B5EF4-FFF2-40B4-BE49-F238E27FC236}">
                <a16:creationId xmlns:a16="http://schemas.microsoft.com/office/drawing/2014/main" id="{0F005E55-CF79-10BA-EFE2-7E4460C2F6E6}"/>
              </a:ext>
            </a:extLst>
          </p:cNvPr>
          <p:cNvSpPr>
            <a:spLocks noGrp="1"/>
          </p:cNvSpPr>
          <p:nvPr>
            <p:ph idx="1"/>
          </p:nvPr>
        </p:nvSpPr>
        <p:spPr>
          <a:xfrm>
            <a:off x="5754758" y="1825624"/>
            <a:ext cx="6437242" cy="5032375"/>
          </a:xfrm>
        </p:spPr>
        <p:txBody>
          <a:bodyPr>
            <a:normAutofit/>
          </a:bodyPr>
          <a:lstStyle/>
          <a:p>
            <a:r>
              <a:rPr lang="pt-BR" b="0" dirty="0">
                <a:effectLst/>
              </a:rPr>
              <a:t>Suponham que temos uma </a:t>
            </a:r>
            <a:r>
              <a:rPr lang="pt-BR" b="1" dirty="0">
                <a:solidFill>
                  <a:srgbClr val="00B050"/>
                </a:solidFill>
                <a:effectLst/>
              </a:rPr>
              <a:t>rede </a:t>
            </a:r>
            <a:r>
              <a:rPr lang="pt-BR" b="1" dirty="0" err="1">
                <a:solidFill>
                  <a:srgbClr val="00B050"/>
                </a:solidFill>
                <a:effectLst/>
              </a:rPr>
              <a:t>pré</a:t>
            </a:r>
            <a:r>
              <a:rPr lang="pt-BR" b="1" dirty="0">
                <a:solidFill>
                  <a:srgbClr val="00B050"/>
                </a:solidFill>
                <a:effectLst/>
              </a:rPr>
              <a:t>-treinada</a:t>
            </a:r>
            <a:r>
              <a:rPr lang="pt-BR" b="0" dirty="0">
                <a:effectLst/>
              </a:rPr>
              <a:t> para classificar imagens pertencentes a </a:t>
            </a:r>
            <a:r>
              <a:rPr lang="pt-BR" b="1" dirty="0">
                <a:solidFill>
                  <a:schemeClr val="accent2"/>
                </a:solidFill>
                <a:effectLst/>
              </a:rPr>
              <a:t>100 classes diferentes</a:t>
            </a:r>
            <a:r>
              <a:rPr lang="pt-BR" b="0" dirty="0">
                <a:effectLst/>
              </a:rPr>
              <a:t>, incluindo </a:t>
            </a:r>
            <a:r>
              <a:rPr lang="pt-BR" b="1" dirty="0">
                <a:solidFill>
                  <a:srgbClr val="00B050"/>
                </a:solidFill>
                <a:effectLst/>
              </a:rPr>
              <a:t>animais</a:t>
            </a:r>
            <a:r>
              <a:rPr lang="pt-BR" b="0" dirty="0">
                <a:effectLst/>
              </a:rPr>
              <a:t>, </a:t>
            </a:r>
            <a:r>
              <a:rPr lang="pt-BR" b="1" dirty="0">
                <a:solidFill>
                  <a:srgbClr val="00B050"/>
                </a:solidFill>
                <a:effectLst/>
              </a:rPr>
              <a:t>plantas</a:t>
            </a:r>
            <a:r>
              <a:rPr lang="pt-BR" b="0" dirty="0">
                <a:effectLst/>
              </a:rPr>
              <a:t>, </a:t>
            </a:r>
            <a:r>
              <a:rPr lang="pt-BR" b="1" dirty="0">
                <a:solidFill>
                  <a:srgbClr val="00B050"/>
                </a:solidFill>
                <a:effectLst/>
              </a:rPr>
              <a:t>veículos</a:t>
            </a:r>
            <a:r>
              <a:rPr lang="pt-BR" dirty="0"/>
              <a:t>, etc. e </a:t>
            </a:r>
            <a:r>
              <a:rPr lang="pt-BR" b="0" dirty="0">
                <a:effectLst/>
              </a:rPr>
              <a:t>queremos treinar uma </a:t>
            </a:r>
            <a:r>
              <a:rPr lang="pt-BR" b="1" dirty="0">
                <a:solidFill>
                  <a:srgbClr val="7030A0"/>
                </a:solidFill>
                <a:effectLst/>
              </a:rPr>
              <a:t>nova rede para classificar </a:t>
            </a:r>
            <a:r>
              <a:rPr lang="pt-BR" b="1" dirty="0">
                <a:solidFill>
                  <a:srgbClr val="0070C0"/>
                </a:solidFill>
                <a:effectLst/>
              </a:rPr>
              <a:t>tipos específicos de veículos</a:t>
            </a:r>
            <a:r>
              <a:rPr lang="pt-BR" b="0" dirty="0">
                <a:effectLst/>
              </a:rPr>
              <a:t>. </a:t>
            </a:r>
          </a:p>
          <a:p>
            <a:r>
              <a:rPr lang="pt-BR" dirty="0"/>
              <a:t>Por e</a:t>
            </a:r>
            <a:r>
              <a:rPr lang="pt-BR" b="0" dirty="0">
                <a:effectLst/>
              </a:rPr>
              <a:t>ssas tarefas serem semelhantes, </a:t>
            </a:r>
            <a:r>
              <a:rPr lang="pt-BR" b="1" dirty="0">
                <a:solidFill>
                  <a:srgbClr val="00B050"/>
                </a:solidFill>
                <a:effectLst/>
              </a:rPr>
              <a:t>podemos </a:t>
            </a:r>
            <a:r>
              <a:rPr lang="pt-BR" b="1" dirty="0">
                <a:solidFill>
                  <a:schemeClr val="accent2"/>
                </a:solidFill>
                <a:effectLst/>
              </a:rPr>
              <a:t>reutilizar partes </a:t>
            </a:r>
            <a:r>
              <a:rPr lang="pt-BR" b="1" dirty="0">
                <a:solidFill>
                  <a:srgbClr val="00B050"/>
                </a:solidFill>
                <a:effectLst/>
              </a:rPr>
              <a:t>da primeira rede</a:t>
            </a:r>
            <a:r>
              <a:rPr lang="pt-BR" b="0" dirty="0">
                <a:effectLst/>
              </a:rPr>
              <a:t>.</a:t>
            </a:r>
          </a:p>
          <a:p>
            <a:pPr lvl="1">
              <a:buFont typeface="Wingdings" panose="05000000000000000000" pitchFamily="2" charset="2"/>
              <a:buChar char="§"/>
            </a:pPr>
            <a:r>
              <a:rPr lang="pt-BR" dirty="0"/>
              <a:t>Reutilizamos as camadas inicias.</a:t>
            </a:r>
            <a:endParaRPr lang="pt-BR" b="0" dirty="0">
              <a:effectLst/>
            </a:endParaRPr>
          </a:p>
        </p:txBody>
      </p:sp>
      <p:pic>
        <p:nvPicPr>
          <p:cNvPr id="2052" name="Picture 4" descr="Transfer Learning">
            <a:extLst>
              <a:ext uri="{FF2B5EF4-FFF2-40B4-BE49-F238E27FC236}">
                <a16:creationId xmlns:a16="http://schemas.microsoft.com/office/drawing/2014/main" id="{3B6B0EBE-D06E-6F94-33ED-085555A9B1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48" t="15906" b="27976"/>
          <a:stretch/>
        </p:blipFill>
        <p:spPr bwMode="auto">
          <a:xfrm>
            <a:off x="1249382" y="1787956"/>
            <a:ext cx="3116941" cy="25561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nsfer Learning in Deep Learning - Introduction to Deep Learning - YouTube">
            <a:extLst>
              <a:ext uri="{FF2B5EF4-FFF2-40B4-BE49-F238E27FC236}">
                <a16:creationId xmlns:a16="http://schemas.microsoft.com/office/drawing/2014/main" id="{A6F8E130-AB12-AC2A-89D6-74C318B4B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70" t="40674" r="16894" b="5323"/>
          <a:stretch/>
        </p:blipFill>
        <p:spPr bwMode="auto">
          <a:xfrm>
            <a:off x="765379" y="4721652"/>
            <a:ext cx="4137891" cy="190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9957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4DDB77-2ADD-1183-CAAA-7C3763BFBA8D}"/>
              </a:ext>
            </a:extLst>
          </p:cNvPr>
          <p:cNvSpPr>
            <a:spLocks noGrp="1"/>
          </p:cNvSpPr>
          <p:nvPr>
            <p:ph type="title"/>
          </p:nvPr>
        </p:nvSpPr>
        <p:spPr/>
        <p:txBody>
          <a:bodyPr/>
          <a:lstStyle/>
          <a:p>
            <a:r>
              <a:rPr lang="pt-BR" i="1" dirty="0" err="1"/>
              <a:t>Transfer</a:t>
            </a:r>
            <a:r>
              <a:rPr lang="pt-BR" i="1" dirty="0"/>
              <a:t> learning</a:t>
            </a:r>
            <a:endParaRPr lang="pt-BR" dirty="0"/>
          </a:p>
        </p:txBody>
      </p:sp>
      <p:sp>
        <p:nvSpPr>
          <p:cNvPr id="3" name="Espaço Reservado para Conteúdo 2">
            <a:extLst>
              <a:ext uri="{FF2B5EF4-FFF2-40B4-BE49-F238E27FC236}">
                <a16:creationId xmlns:a16="http://schemas.microsoft.com/office/drawing/2014/main" id="{0F005E55-CF79-10BA-EFE2-7E4460C2F6E6}"/>
              </a:ext>
            </a:extLst>
          </p:cNvPr>
          <p:cNvSpPr>
            <a:spLocks noGrp="1"/>
          </p:cNvSpPr>
          <p:nvPr>
            <p:ph idx="1"/>
          </p:nvPr>
        </p:nvSpPr>
        <p:spPr>
          <a:xfrm>
            <a:off x="6096000" y="1825624"/>
            <a:ext cx="5957454" cy="5032375"/>
          </a:xfrm>
        </p:spPr>
        <p:txBody>
          <a:bodyPr>
            <a:normAutofit/>
          </a:bodyPr>
          <a:lstStyle/>
          <a:p>
            <a:r>
              <a:rPr lang="pt-BR" b="0" dirty="0">
                <a:effectLst/>
              </a:rPr>
              <a:t>Modelos pré-treinados em grandes conjuntos de dados </a:t>
            </a:r>
            <a:r>
              <a:rPr lang="pt-BR" b="1" dirty="0">
                <a:solidFill>
                  <a:srgbClr val="00B050"/>
                </a:solidFill>
                <a:effectLst/>
              </a:rPr>
              <a:t>extraem características relevantes dos dados</a:t>
            </a:r>
            <a:r>
              <a:rPr lang="pt-BR" b="0" dirty="0">
                <a:effectLst/>
              </a:rPr>
              <a:t>. </a:t>
            </a:r>
          </a:p>
          <a:p>
            <a:r>
              <a:rPr lang="pt-BR" b="0" dirty="0">
                <a:effectLst/>
              </a:rPr>
              <a:t>Essas </a:t>
            </a:r>
            <a:r>
              <a:rPr lang="pt-BR" b="1" dirty="0">
                <a:solidFill>
                  <a:srgbClr val="00B050"/>
                </a:solidFill>
                <a:effectLst/>
              </a:rPr>
              <a:t>características são transferidas para o novo modelo</a:t>
            </a:r>
            <a:r>
              <a:rPr lang="pt-BR" b="0" dirty="0">
                <a:effectLst/>
              </a:rPr>
              <a:t>, que pode se beneficiar de uma </a:t>
            </a:r>
            <a:r>
              <a:rPr lang="pt-BR" b="1" dirty="0">
                <a:solidFill>
                  <a:srgbClr val="7030A0"/>
                </a:solidFill>
                <a:effectLst/>
              </a:rPr>
              <a:t>inicialização mais informada</a:t>
            </a:r>
            <a:r>
              <a:rPr lang="pt-BR" b="0" dirty="0">
                <a:effectLst/>
              </a:rPr>
              <a:t>.</a:t>
            </a:r>
          </a:p>
          <a:p>
            <a:r>
              <a:rPr lang="pt-BR" b="0" dirty="0">
                <a:effectLst/>
              </a:rPr>
              <a:t>Os modelos </a:t>
            </a:r>
            <a:r>
              <a:rPr lang="pt-BR" b="1" dirty="0" err="1">
                <a:solidFill>
                  <a:schemeClr val="accent2"/>
                </a:solidFill>
                <a:effectLst/>
              </a:rPr>
              <a:t>pré</a:t>
            </a:r>
            <a:r>
              <a:rPr lang="pt-BR" b="1" dirty="0">
                <a:solidFill>
                  <a:schemeClr val="accent2"/>
                </a:solidFill>
                <a:effectLst/>
              </a:rPr>
              <a:t>-treinados já aprenderam a</a:t>
            </a:r>
            <a:r>
              <a:rPr lang="en-US" b="1" dirty="0">
                <a:solidFill>
                  <a:schemeClr val="accent2"/>
                </a:solidFill>
              </a:rPr>
              <a:t> </a:t>
            </a:r>
            <a:r>
              <a:rPr lang="en-US" b="1" dirty="0" err="1">
                <a:solidFill>
                  <a:schemeClr val="accent2"/>
                </a:solidFill>
              </a:rPr>
              <a:t>detectar</a:t>
            </a:r>
            <a:r>
              <a:rPr lang="en-US" b="1" dirty="0">
                <a:solidFill>
                  <a:schemeClr val="accent2"/>
                </a:solidFill>
              </a:rPr>
              <a:t> </a:t>
            </a:r>
            <a:r>
              <a:rPr lang="en-US" b="1" dirty="0" err="1">
                <a:solidFill>
                  <a:schemeClr val="accent2"/>
                </a:solidFill>
              </a:rPr>
              <a:t>padrões</a:t>
            </a:r>
            <a:r>
              <a:rPr lang="en-US" b="1" dirty="0">
                <a:solidFill>
                  <a:schemeClr val="accent2"/>
                </a:solidFill>
              </a:rPr>
              <a:t> </a:t>
            </a:r>
            <a:r>
              <a:rPr lang="en-US" b="1" dirty="0" err="1">
                <a:solidFill>
                  <a:schemeClr val="accent2"/>
                </a:solidFill>
              </a:rPr>
              <a:t>básicos</a:t>
            </a:r>
            <a:r>
              <a:rPr lang="en-US" dirty="0"/>
              <a:t>: </a:t>
            </a:r>
            <a:r>
              <a:rPr lang="en-US" dirty="0" err="1"/>
              <a:t>bordas</a:t>
            </a:r>
            <a:r>
              <a:rPr lang="en-US" dirty="0"/>
              <a:t>, </a:t>
            </a:r>
            <a:r>
              <a:rPr lang="en-US" dirty="0" err="1"/>
              <a:t>texturas</a:t>
            </a:r>
            <a:r>
              <a:rPr lang="en-US" dirty="0"/>
              <a:t>, formas e </a:t>
            </a:r>
            <a:r>
              <a:rPr lang="en-US" dirty="0" err="1"/>
              <a:t>objetos</a:t>
            </a:r>
            <a:r>
              <a:rPr lang="en-US" dirty="0"/>
              <a:t>.</a:t>
            </a:r>
            <a:endParaRPr lang="pt-BR" b="0" dirty="0">
              <a:effectLst/>
            </a:endParaRPr>
          </a:p>
        </p:txBody>
      </p:sp>
      <p:pic>
        <p:nvPicPr>
          <p:cNvPr id="2052" name="Picture 4" descr="Transfer Learning">
            <a:extLst>
              <a:ext uri="{FF2B5EF4-FFF2-40B4-BE49-F238E27FC236}">
                <a16:creationId xmlns:a16="http://schemas.microsoft.com/office/drawing/2014/main" id="{3B6B0EBE-D06E-6F94-33ED-085555A9B1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48" t="15906" b="27976"/>
          <a:stretch/>
        </p:blipFill>
        <p:spPr bwMode="auto">
          <a:xfrm>
            <a:off x="1249382" y="1787956"/>
            <a:ext cx="3116941" cy="25561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nsfer Learning in Deep Learning - Introduction to Deep Learning - YouTube">
            <a:extLst>
              <a:ext uri="{FF2B5EF4-FFF2-40B4-BE49-F238E27FC236}">
                <a16:creationId xmlns:a16="http://schemas.microsoft.com/office/drawing/2014/main" id="{A6F8E130-AB12-AC2A-89D6-74C318B4B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70" t="40674" r="16894" b="5323"/>
          <a:stretch/>
        </p:blipFill>
        <p:spPr bwMode="auto">
          <a:xfrm>
            <a:off x="765379" y="4721652"/>
            <a:ext cx="4137891" cy="190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29907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4DDB77-2ADD-1183-CAAA-7C3763BFBA8D}"/>
              </a:ext>
            </a:extLst>
          </p:cNvPr>
          <p:cNvSpPr>
            <a:spLocks noGrp="1"/>
          </p:cNvSpPr>
          <p:nvPr>
            <p:ph type="title"/>
          </p:nvPr>
        </p:nvSpPr>
        <p:spPr/>
        <p:txBody>
          <a:bodyPr/>
          <a:lstStyle/>
          <a:p>
            <a:r>
              <a:rPr lang="pt-BR" i="1" dirty="0"/>
              <a:t>T</a:t>
            </a:r>
            <a:r>
              <a:rPr lang="pt-BR" b="0" i="1" dirty="0">
                <a:effectLst/>
              </a:rPr>
              <a:t>ransfer learning</a:t>
            </a:r>
            <a:endParaRPr lang="pt-BR" dirty="0"/>
          </a:p>
        </p:txBody>
      </p:sp>
      <p:sp>
        <p:nvSpPr>
          <p:cNvPr id="3" name="Espaço Reservado para Conteúdo 2">
            <a:extLst>
              <a:ext uri="{FF2B5EF4-FFF2-40B4-BE49-F238E27FC236}">
                <a16:creationId xmlns:a16="http://schemas.microsoft.com/office/drawing/2014/main" id="{0F005E55-CF79-10BA-EFE2-7E4460C2F6E6}"/>
              </a:ext>
            </a:extLst>
          </p:cNvPr>
          <p:cNvSpPr>
            <a:spLocks noGrp="1"/>
          </p:cNvSpPr>
          <p:nvPr>
            <p:ph idx="1"/>
          </p:nvPr>
        </p:nvSpPr>
        <p:spPr>
          <a:xfrm>
            <a:off x="5978769" y="1825624"/>
            <a:ext cx="6108457" cy="5032375"/>
          </a:xfrm>
        </p:spPr>
        <p:txBody>
          <a:bodyPr>
            <a:normAutofit/>
          </a:bodyPr>
          <a:lstStyle/>
          <a:p>
            <a:r>
              <a:rPr lang="pt-BR" b="0" dirty="0">
                <a:effectLst/>
              </a:rPr>
              <a:t>O </a:t>
            </a:r>
            <a:r>
              <a:rPr lang="pt-BR" b="0" i="1" dirty="0" err="1">
                <a:effectLst/>
              </a:rPr>
              <a:t>transfer</a:t>
            </a:r>
            <a:r>
              <a:rPr lang="pt-BR" b="0" i="1" dirty="0">
                <a:effectLst/>
              </a:rPr>
              <a:t> learning</a:t>
            </a:r>
            <a:r>
              <a:rPr lang="pt-BR" b="0" dirty="0">
                <a:effectLst/>
              </a:rPr>
              <a:t> </a:t>
            </a:r>
            <a:r>
              <a:rPr lang="pt-BR" b="1" dirty="0">
                <a:solidFill>
                  <a:srgbClr val="00B050"/>
                </a:solidFill>
                <a:effectLst/>
              </a:rPr>
              <a:t>pode evitar </a:t>
            </a:r>
            <a:r>
              <a:rPr lang="pt-BR" b="0" dirty="0">
                <a:effectLst/>
              </a:rPr>
              <a:t>que o </a:t>
            </a:r>
            <a:r>
              <a:rPr lang="pt-BR" b="1" dirty="0">
                <a:solidFill>
                  <a:srgbClr val="00B050"/>
                </a:solidFill>
                <a:effectLst/>
              </a:rPr>
              <a:t>novo modelo sobreajuste</a:t>
            </a:r>
            <a:r>
              <a:rPr lang="pt-BR" b="0" dirty="0">
                <a:effectLst/>
              </a:rPr>
              <a:t>, pois ele </a:t>
            </a:r>
            <a:r>
              <a:rPr lang="pt-BR" b="1" dirty="0">
                <a:solidFill>
                  <a:srgbClr val="7030A0"/>
                </a:solidFill>
                <a:effectLst/>
              </a:rPr>
              <a:t>já começa com características relevantes</a:t>
            </a:r>
            <a:r>
              <a:rPr lang="pt-BR" b="0" dirty="0">
                <a:effectLst/>
              </a:rPr>
              <a:t>.</a:t>
            </a:r>
          </a:p>
          <a:p>
            <a:r>
              <a:rPr lang="pt-BR" b="0" dirty="0">
                <a:effectLst/>
              </a:rPr>
              <a:t>Como o </a:t>
            </a:r>
            <a:r>
              <a:rPr lang="pt-BR" b="1" dirty="0">
                <a:solidFill>
                  <a:srgbClr val="00B050"/>
                </a:solidFill>
                <a:effectLst/>
              </a:rPr>
              <a:t>modelo pré-treinado já adquiriu um bom entendimento de </a:t>
            </a:r>
            <a:r>
              <a:rPr lang="pt-BR" b="1" dirty="0">
                <a:solidFill>
                  <a:schemeClr val="accent2"/>
                </a:solidFill>
                <a:effectLst/>
              </a:rPr>
              <a:t>características genéricas </a:t>
            </a:r>
            <a:r>
              <a:rPr lang="pt-BR" b="0" dirty="0">
                <a:effectLst/>
              </a:rPr>
              <a:t>em uma tarefa relacionada, o </a:t>
            </a:r>
            <a:r>
              <a:rPr lang="pt-BR" b="1" dirty="0">
                <a:solidFill>
                  <a:srgbClr val="7030A0"/>
                </a:solidFill>
                <a:effectLst/>
              </a:rPr>
              <a:t>treinamento do novo modelo pode exigir menos dados </a:t>
            </a:r>
            <a:r>
              <a:rPr lang="pt-BR" b="0" dirty="0">
                <a:effectLst/>
              </a:rPr>
              <a:t>para alcançar um bom desempenho.</a:t>
            </a:r>
          </a:p>
        </p:txBody>
      </p:sp>
      <p:pic>
        <p:nvPicPr>
          <p:cNvPr id="2052" name="Picture 4" descr="Transfer Learning">
            <a:extLst>
              <a:ext uri="{FF2B5EF4-FFF2-40B4-BE49-F238E27FC236}">
                <a16:creationId xmlns:a16="http://schemas.microsoft.com/office/drawing/2014/main" id="{3B6B0EBE-D06E-6F94-33ED-085555A9B1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48" t="15906" b="27976"/>
          <a:stretch/>
        </p:blipFill>
        <p:spPr bwMode="auto">
          <a:xfrm>
            <a:off x="1249382" y="1787956"/>
            <a:ext cx="3116941" cy="25561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nsfer Learning in Deep Learning - Introduction to Deep Learning - YouTube">
            <a:extLst>
              <a:ext uri="{FF2B5EF4-FFF2-40B4-BE49-F238E27FC236}">
                <a16:creationId xmlns:a16="http://schemas.microsoft.com/office/drawing/2014/main" id="{A6F8E130-AB12-AC2A-89D6-74C318B4B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70" t="40674" r="16894" b="5323"/>
          <a:stretch/>
        </p:blipFill>
        <p:spPr bwMode="auto">
          <a:xfrm>
            <a:off x="765379" y="4721652"/>
            <a:ext cx="4137891" cy="190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2343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4DDB77-2ADD-1183-CAAA-7C3763BFBA8D}"/>
              </a:ext>
            </a:extLst>
          </p:cNvPr>
          <p:cNvSpPr>
            <a:spLocks noGrp="1"/>
          </p:cNvSpPr>
          <p:nvPr>
            <p:ph type="title"/>
          </p:nvPr>
        </p:nvSpPr>
        <p:spPr/>
        <p:txBody>
          <a:bodyPr/>
          <a:lstStyle/>
          <a:p>
            <a:r>
              <a:rPr lang="pt-BR" i="1" dirty="0"/>
              <a:t>T</a:t>
            </a:r>
            <a:r>
              <a:rPr lang="pt-BR" b="0" i="1" dirty="0">
                <a:effectLst/>
              </a:rPr>
              <a:t>ransfer learning</a:t>
            </a:r>
            <a:endParaRPr lang="pt-BR" dirty="0"/>
          </a:p>
        </p:txBody>
      </p:sp>
      <p:sp>
        <p:nvSpPr>
          <p:cNvPr id="3" name="Espaço Reservado para Conteúdo 2">
            <a:extLst>
              <a:ext uri="{FF2B5EF4-FFF2-40B4-BE49-F238E27FC236}">
                <a16:creationId xmlns:a16="http://schemas.microsoft.com/office/drawing/2014/main" id="{0F005E55-CF79-10BA-EFE2-7E4460C2F6E6}"/>
              </a:ext>
            </a:extLst>
          </p:cNvPr>
          <p:cNvSpPr>
            <a:spLocks noGrp="1"/>
          </p:cNvSpPr>
          <p:nvPr>
            <p:ph idx="1"/>
          </p:nvPr>
        </p:nvSpPr>
        <p:spPr>
          <a:xfrm>
            <a:off x="5777803" y="1825624"/>
            <a:ext cx="6414198" cy="5032375"/>
          </a:xfrm>
        </p:spPr>
        <p:txBody>
          <a:bodyPr>
            <a:normAutofit/>
          </a:bodyPr>
          <a:lstStyle/>
          <a:p>
            <a:r>
              <a:rPr lang="pt-BR" b="0" dirty="0">
                <a:effectLst/>
              </a:rPr>
              <a:t>O </a:t>
            </a:r>
            <a:r>
              <a:rPr lang="pt-BR" b="0" i="1" dirty="0" err="1">
                <a:effectLst/>
              </a:rPr>
              <a:t>transfer</a:t>
            </a:r>
            <a:r>
              <a:rPr lang="pt-BR" b="0" i="1" dirty="0">
                <a:effectLst/>
              </a:rPr>
              <a:t> learning</a:t>
            </a:r>
            <a:r>
              <a:rPr lang="pt-BR" b="0" dirty="0">
                <a:effectLst/>
              </a:rPr>
              <a:t> é particularmente </a:t>
            </a:r>
            <a:r>
              <a:rPr lang="pt-BR" b="1" dirty="0">
                <a:solidFill>
                  <a:srgbClr val="00B050"/>
                </a:solidFill>
                <a:effectLst/>
              </a:rPr>
              <a:t>útil</a:t>
            </a:r>
            <a:r>
              <a:rPr lang="pt-BR" b="0" dirty="0">
                <a:effectLst/>
              </a:rPr>
              <a:t> </a:t>
            </a:r>
            <a:r>
              <a:rPr lang="pt-BR" b="1" dirty="0">
                <a:solidFill>
                  <a:srgbClr val="00B050"/>
                </a:solidFill>
                <a:effectLst/>
              </a:rPr>
              <a:t>quando os dados de treinamento são escassos</a:t>
            </a:r>
            <a:r>
              <a:rPr lang="pt-BR" b="0" dirty="0">
                <a:effectLst/>
              </a:rPr>
              <a:t>, o que é uma situação </a:t>
            </a:r>
            <a:r>
              <a:rPr lang="pt-BR" b="1" dirty="0">
                <a:solidFill>
                  <a:srgbClr val="7030A0"/>
                </a:solidFill>
                <a:effectLst/>
              </a:rPr>
              <a:t>propensa ao sobreajuste</a:t>
            </a:r>
            <a:r>
              <a:rPr lang="pt-BR" b="0" dirty="0">
                <a:effectLst/>
              </a:rPr>
              <a:t>.</a:t>
            </a:r>
          </a:p>
          <a:p>
            <a:r>
              <a:rPr lang="pt-BR" b="0" dirty="0">
                <a:effectLst/>
              </a:rPr>
              <a:t>Por requerer menos dados, o </a:t>
            </a:r>
            <a:r>
              <a:rPr lang="pt-BR" b="0" i="1" dirty="0" err="1">
                <a:effectLst/>
              </a:rPr>
              <a:t>transfer</a:t>
            </a:r>
            <a:r>
              <a:rPr lang="pt-BR" b="0" i="1" dirty="0">
                <a:effectLst/>
              </a:rPr>
              <a:t> </a:t>
            </a:r>
            <a:r>
              <a:rPr lang="pt-BR" b="0" i="1" dirty="0" err="1">
                <a:effectLst/>
              </a:rPr>
              <a:t>learning</a:t>
            </a:r>
            <a:r>
              <a:rPr lang="pt-BR" b="0" dirty="0">
                <a:effectLst/>
              </a:rPr>
              <a:t>:</a:t>
            </a:r>
          </a:p>
          <a:p>
            <a:pPr lvl="1">
              <a:buFont typeface="Wingdings" panose="05000000000000000000" pitchFamily="2" charset="2"/>
              <a:buChar char="§"/>
            </a:pPr>
            <a:r>
              <a:rPr lang="pt-BR" b="1">
                <a:solidFill>
                  <a:srgbClr val="00B050"/>
                </a:solidFill>
                <a:effectLst/>
              </a:rPr>
              <a:t>acelera o </a:t>
            </a:r>
            <a:r>
              <a:rPr lang="pt-BR" b="1" dirty="0">
                <a:solidFill>
                  <a:srgbClr val="00B050"/>
                </a:solidFill>
                <a:effectLst/>
              </a:rPr>
              <a:t>treinamento</a:t>
            </a:r>
            <a:endParaRPr lang="pt-BR" dirty="0">
              <a:solidFill>
                <a:srgbClr val="00B050"/>
              </a:solidFill>
            </a:endParaRPr>
          </a:p>
          <a:p>
            <a:pPr lvl="1">
              <a:buFont typeface="Wingdings" panose="05000000000000000000" pitchFamily="2" charset="2"/>
              <a:buChar char="§"/>
            </a:pPr>
            <a:r>
              <a:rPr lang="pt-BR" b="1" dirty="0">
                <a:solidFill>
                  <a:schemeClr val="accent2"/>
                </a:solidFill>
              </a:rPr>
              <a:t>e</a:t>
            </a:r>
            <a:r>
              <a:rPr lang="pt-BR" b="1" dirty="0">
                <a:solidFill>
                  <a:schemeClr val="accent2"/>
                </a:solidFill>
                <a:effectLst/>
              </a:rPr>
              <a:t> requer </a:t>
            </a:r>
            <a:r>
              <a:rPr lang="en-US" b="1" dirty="0" err="1">
                <a:solidFill>
                  <a:schemeClr val="accent2"/>
                </a:solidFill>
              </a:rPr>
              <a:t>menor</a:t>
            </a:r>
            <a:r>
              <a:rPr lang="en-US" b="1" dirty="0">
                <a:solidFill>
                  <a:schemeClr val="accent2"/>
                </a:solidFill>
              </a:rPr>
              <a:t> </a:t>
            </a:r>
            <a:r>
              <a:rPr lang="en-US" b="1" dirty="0" err="1">
                <a:solidFill>
                  <a:schemeClr val="accent2"/>
                </a:solidFill>
              </a:rPr>
              <a:t>poder</a:t>
            </a:r>
            <a:r>
              <a:rPr lang="en-US" b="1" dirty="0">
                <a:solidFill>
                  <a:schemeClr val="accent2"/>
                </a:solidFill>
              </a:rPr>
              <a:t> </a:t>
            </a:r>
            <a:r>
              <a:rPr lang="en-US" b="1" dirty="0" err="1">
                <a:solidFill>
                  <a:schemeClr val="accent2"/>
                </a:solidFill>
              </a:rPr>
              <a:t>computacional</a:t>
            </a:r>
            <a:r>
              <a:rPr lang="en-US" b="1" dirty="0">
                <a:solidFill>
                  <a:schemeClr val="accent2"/>
                </a:solidFill>
              </a:rPr>
              <a:t>.</a:t>
            </a:r>
            <a:endParaRPr lang="pt-BR" b="1" dirty="0">
              <a:solidFill>
                <a:schemeClr val="accent2"/>
              </a:solidFill>
              <a:effectLst/>
            </a:endParaRPr>
          </a:p>
        </p:txBody>
      </p:sp>
      <p:pic>
        <p:nvPicPr>
          <p:cNvPr id="2052" name="Picture 4" descr="Transfer Learning">
            <a:extLst>
              <a:ext uri="{FF2B5EF4-FFF2-40B4-BE49-F238E27FC236}">
                <a16:creationId xmlns:a16="http://schemas.microsoft.com/office/drawing/2014/main" id="{3B6B0EBE-D06E-6F94-33ED-085555A9B1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848" t="15906" b="27976"/>
          <a:stretch/>
        </p:blipFill>
        <p:spPr bwMode="auto">
          <a:xfrm>
            <a:off x="1249382" y="1787956"/>
            <a:ext cx="3116941" cy="255616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nsfer Learning in Deep Learning - Introduction to Deep Learning - YouTube">
            <a:extLst>
              <a:ext uri="{FF2B5EF4-FFF2-40B4-BE49-F238E27FC236}">
                <a16:creationId xmlns:a16="http://schemas.microsoft.com/office/drawing/2014/main" id="{A6F8E130-AB12-AC2A-89D6-74C318B4BA2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70" t="40674" r="16894" b="5323"/>
          <a:stretch/>
        </p:blipFill>
        <p:spPr bwMode="auto">
          <a:xfrm>
            <a:off x="765379" y="4721652"/>
            <a:ext cx="4137891" cy="1900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0384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AB8438-E56E-2412-517C-8456E4CA773C}"/>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F7E2B09C-6D56-4C9F-A364-B904CCE2F1A0}"/>
              </a:ext>
            </a:extLst>
          </p:cNvPr>
          <p:cNvSpPr>
            <a:spLocks noGrp="1"/>
          </p:cNvSpPr>
          <p:nvPr>
            <p:ph idx="1"/>
          </p:nvPr>
        </p:nvSpPr>
        <p:spPr/>
        <p:txBody>
          <a:bodyPr/>
          <a:lstStyle/>
          <a:p>
            <a:r>
              <a:rPr lang="pt-BR" dirty="0">
                <a:hlinkClick r:id="rId3"/>
              </a:rPr>
              <a:t>Exemplo: </a:t>
            </a:r>
            <a:r>
              <a:rPr lang="pt-BR" dirty="0" err="1">
                <a:hlinkClick r:id="rId3"/>
              </a:rPr>
              <a:t>cnn.ipynb</a:t>
            </a:r>
            <a:endParaRPr lang="en-US" dirty="0"/>
          </a:p>
          <a:p>
            <a:pPr marL="0" indent="0">
              <a:buNone/>
            </a:pPr>
            <a:endParaRPr lang="pt-BR" dirty="0"/>
          </a:p>
        </p:txBody>
      </p:sp>
      <p:grpSp>
        <p:nvGrpSpPr>
          <p:cNvPr id="18" name="Group 17">
            <a:extLst>
              <a:ext uri="{FF2B5EF4-FFF2-40B4-BE49-F238E27FC236}">
                <a16:creationId xmlns:a16="http://schemas.microsoft.com/office/drawing/2014/main" id="{627C64FD-88E0-EC8E-2A34-0D5737B4C854}"/>
              </a:ext>
            </a:extLst>
          </p:cNvPr>
          <p:cNvGrpSpPr/>
          <p:nvPr/>
        </p:nvGrpSpPr>
        <p:grpSpPr>
          <a:xfrm>
            <a:off x="1752685" y="2681262"/>
            <a:ext cx="8371070" cy="2659743"/>
            <a:chOff x="1752685" y="2681262"/>
            <a:chExt cx="8371070" cy="2659743"/>
          </a:xfrm>
        </p:grpSpPr>
        <p:pic>
          <p:nvPicPr>
            <p:cNvPr id="12" name="Picture 4" descr="Project Jupyter | Try Jupyter">
              <a:extLst>
                <a:ext uri="{FF2B5EF4-FFF2-40B4-BE49-F238E27FC236}">
                  <a16:creationId xmlns:a16="http://schemas.microsoft.com/office/drawing/2014/main" id="{FF92EA36-91E7-292B-D7A0-2D4D83A10F9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1027" y="3102450"/>
              <a:ext cx="3461657" cy="181737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Google Colaboratory Colab - Guía Completa Español - Marketing Branding">
              <a:extLst>
                <a:ext uri="{FF2B5EF4-FFF2-40B4-BE49-F238E27FC236}">
                  <a16:creationId xmlns:a16="http://schemas.microsoft.com/office/drawing/2014/main" id="{46F1718A-89E6-9E63-E40B-2B19852D6AA0}"/>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865" r="10641"/>
            <a:stretch/>
          </p:blipFill>
          <p:spPr bwMode="auto">
            <a:xfrm>
              <a:off x="6792684" y="2681262"/>
              <a:ext cx="3331071" cy="265974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IT12A01: FUNDAMENTALS OF PYTHON PROGRAMMING (SF) (SYNCHRONOUS E-LEARNING) -  NTUC LearningHub">
              <a:extLst>
                <a:ext uri="{FF2B5EF4-FFF2-40B4-BE49-F238E27FC236}">
                  <a16:creationId xmlns:a16="http://schemas.microsoft.com/office/drawing/2014/main" id="{33F6B1B4-9B79-D634-3E35-33F24609C84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319" r="20198"/>
            <a:stretch/>
          </p:blipFill>
          <p:spPr bwMode="auto">
            <a:xfrm>
              <a:off x="1752685" y="3176833"/>
              <a:ext cx="1894114" cy="1877924"/>
            </a:xfrm>
            <a:prstGeom prst="rect">
              <a:avLst/>
            </a:prstGeom>
            <a:noFill/>
            <a:extLst>
              <a:ext uri="{909E8E84-426E-40DD-AFC4-6F175D3DCCD1}">
                <a14:hiddenFill xmlns:a14="http://schemas.microsoft.com/office/drawing/2010/main">
                  <a:solidFill>
                    <a:srgbClr val="FFFFFF"/>
                  </a:solidFill>
                </a14:hiddenFill>
              </a:ext>
            </a:extLst>
          </p:spPr>
        </p:pic>
        <p:sp>
          <p:nvSpPr>
            <p:cNvPr id="15" name="Sinal de Adição 7">
              <a:extLst>
                <a:ext uri="{FF2B5EF4-FFF2-40B4-BE49-F238E27FC236}">
                  <a16:creationId xmlns:a16="http://schemas.microsoft.com/office/drawing/2014/main" id="{6959EE6C-DCDB-E78B-5C50-EBD3FF3049E2}"/>
                </a:ext>
              </a:extLst>
            </p:cNvPr>
            <p:cNvSpPr>
              <a:spLocks noChangeAspect="1"/>
            </p:cNvSpPr>
            <p:nvPr/>
          </p:nvSpPr>
          <p:spPr>
            <a:xfrm>
              <a:off x="3646799" y="3545037"/>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Sinal de Adição 10">
              <a:extLst>
                <a:ext uri="{FF2B5EF4-FFF2-40B4-BE49-F238E27FC236}">
                  <a16:creationId xmlns:a16="http://schemas.microsoft.com/office/drawing/2014/main" id="{30A21FDB-ABA6-9FD5-49EF-7762414AEF0C}"/>
                </a:ext>
              </a:extLst>
            </p:cNvPr>
            <p:cNvSpPr>
              <a:spLocks noChangeAspect="1"/>
            </p:cNvSpPr>
            <p:nvPr/>
          </p:nvSpPr>
          <p:spPr>
            <a:xfrm>
              <a:off x="6096043" y="3467980"/>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40578833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0E11-3B37-4336-5BF0-C8C033354AF6}"/>
              </a:ext>
            </a:extLst>
          </p:cNvPr>
          <p:cNvSpPr>
            <a:spLocks noGrp="1"/>
          </p:cNvSpPr>
          <p:nvPr>
            <p:ph type="title"/>
          </p:nvPr>
        </p:nvSpPr>
        <p:spPr/>
        <p:txBody>
          <a:bodyPr/>
          <a:lstStyle/>
          <a:p>
            <a:r>
              <a:rPr lang="pt-BR" dirty="0"/>
              <a:t>Lista de exercícios</a:t>
            </a:r>
            <a:endParaRPr lang="en-US" dirty="0"/>
          </a:p>
        </p:txBody>
      </p:sp>
      <p:sp>
        <p:nvSpPr>
          <p:cNvPr id="3" name="Content Placeholder 2">
            <a:extLst>
              <a:ext uri="{FF2B5EF4-FFF2-40B4-BE49-F238E27FC236}">
                <a16:creationId xmlns:a16="http://schemas.microsoft.com/office/drawing/2014/main" id="{32CB14AB-72E4-05EB-962C-F8B4618D0574}"/>
              </a:ext>
            </a:extLst>
          </p:cNvPr>
          <p:cNvSpPr>
            <a:spLocks noGrp="1"/>
          </p:cNvSpPr>
          <p:nvPr>
            <p:ph idx="1"/>
          </p:nvPr>
        </p:nvSpPr>
        <p:spPr/>
        <p:txBody>
          <a:bodyPr/>
          <a:lstStyle/>
          <a:p>
            <a:pPr marL="0" indent="0">
              <a:buNone/>
            </a:pPr>
            <a:r>
              <a:rPr lang="pt-BR" dirty="0">
                <a:hlinkClick r:id="rId3"/>
              </a:rPr>
              <a:t>Lista #10 - CNN</a:t>
            </a:r>
            <a:endParaRPr lang="en-US" dirty="0"/>
          </a:p>
        </p:txBody>
      </p:sp>
    </p:spTree>
    <p:extLst>
      <p:ext uri="{BB962C8B-B14F-4D97-AF65-F5344CB8AC3E}">
        <p14:creationId xmlns:p14="http://schemas.microsoft.com/office/powerpoint/2010/main" val="343721703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19759815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5991458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524000" y="1939565"/>
            <a:ext cx="9144000" cy="29788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Anexo I: Exemplo de classificação de imagens </a:t>
            </a:r>
            <a:endParaRPr lang="pt-BR" sz="6600" b="1" i="1" dirty="0"/>
          </a:p>
        </p:txBody>
      </p:sp>
    </p:spTree>
    <p:extLst>
      <p:ext uri="{BB962C8B-B14F-4D97-AF65-F5344CB8AC3E}">
        <p14:creationId xmlns:p14="http://schemas.microsoft.com/office/powerpoint/2010/main" val="13454634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id="{20D6BBE4-2214-A808-8A9F-F5661EC22C43}"/>
              </a:ext>
            </a:extLst>
          </p:cNvPr>
          <p:cNvSpPr>
            <a:spLocks noGrp="1"/>
          </p:cNvSpPr>
          <p:nvPr>
            <p:ph idx="1"/>
          </p:nvPr>
        </p:nvSpPr>
        <p:spPr>
          <a:xfrm>
            <a:off x="6359703" y="1825624"/>
            <a:ext cx="5681609" cy="5032375"/>
          </a:xfrm>
        </p:spPr>
        <p:txBody>
          <a:bodyPr/>
          <a:lstStyle/>
          <a:p>
            <a:r>
              <a:rPr lang="pt-BR" dirty="0"/>
              <a:t>Para entender melhor o que uma camada de convolução faz, vamos considerar um exemplo simples.</a:t>
            </a:r>
          </a:p>
          <a:p>
            <a:r>
              <a:rPr lang="pt-BR" dirty="0"/>
              <a:t>Vamos supor que </a:t>
            </a:r>
            <a:r>
              <a:rPr lang="pt-BR" b="1" dirty="0">
                <a:solidFill>
                  <a:srgbClr val="00B050"/>
                </a:solidFill>
              </a:rPr>
              <a:t>não conhecemos o conteúdo da imagem </a:t>
            </a:r>
            <a:r>
              <a:rPr lang="pt-BR" dirty="0"/>
              <a:t>ao lado.</a:t>
            </a:r>
          </a:p>
          <a:p>
            <a:r>
              <a:rPr lang="pt-BR" dirty="0"/>
              <a:t>Isso foi simulado deixando-a embaçada.</a:t>
            </a:r>
          </a:p>
        </p:txBody>
      </p:sp>
      <p:pic>
        <p:nvPicPr>
          <p:cNvPr id="5" name="Imagem 4">
            <a:extLst>
              <a:ext uri="{FF2B5EF4-FFF2-40B4-BE49-F238E27FC236}">
                <a16:creationId xmlns:a16="http://schemas.microsoft.com/office/drawing/2014/main" id="{7EC23D52-74B1-2A6F-BA30-BEB43D2E019D}"/>
              </a:ext>
            </a:extLst>
          </p:cNvPr>
          <p:cNvPicPr>
            <a:picLocks/>
          </p:cNvPicPr>
          <p:nvPr/>
        </p:nvPicPr>
        <p:blipFill>
          <a:blip r:embed="rId2"/>
          <a:stretch>
            <a:fillRect/>
          </a:stretch>
        </p:blipFill>
        <p:spPr>
          <a:xfrm>
            <a:off x="1177247" y="2219218"/>
            <a:ext cx="3420000" cy="3420000"/>
          </a:xfrm>
          <a:prstGeom prst="rect">
            <a:avLst/>
          </a:prstGeom>
        </p:spPr>
      </p:pic>
    </p:spTree>
    <p:extLst>
      <p:ext uri="{BB962C8B-B14F-4D97-AF65-F5344CB8AC3E}">
        <p14:creationId xmlns:p14="http://schemas.microsoft.com/office/powerpoint/2010/main" val="30757981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id="{20D6BBE4-2214-A808-8A9F-F5661EC22C43}"/>
              </a:ext>
            </a:extLst>
          </p:cNvPr>
          <p:cNvSpPr>
            <a:spLocks noGrp="1"/>
          </p:cNvSpPr>
          <p:nvPr>
            <p:ph idx="1"/>
          </p:nvPr>
        </p:nvSpPr>
        <p:spPr>
          <a:xfrm>
            <a:off x="6359703" y="1825624"/>
            <a:ext cx="5681609" cy="5032375"/>
          </a:xfrm>
        </p:spPr>
        <p:txBody>
          <a:bodyPr/>
          <a:lstStyle/>
          <a:p>
            <a:r>
              <a:rPr lang="pt-BR" dirty="0"/>
              <a:t>Então, digamos que haja um </a:t>
            </a:r>
            <a:r>
              <a:rPr lang="pt-BR" b="1" dirty="0">
                <a:solidFill>
                  <a:srgbClr val="00B050"/>
                </a:solidFill>
              </a:rPr>
              <a:t>filtro ou um conjunto de filtros </a:t>
            </a:r>
            <a:r>
              <a:rPr lang="pt-BR" dirty="0"/>
              <a:t>que ao serem passados sobre a imagem </a:t>
            </a:r>
            <a:r>
              <a:rPr lang="pt-BR" b="1" dirty="0">
                <a:solidFill>
                  <a:srgbClr val="00B050"/>
                </a:solidFill>
              </a:rPr>
              <a:t>extraem as características</a:t>
            </a:r>
            <a:r>
              <a:rPr lang="pt-BR" b="1" dirty="0"/>
              <a:t> </a:t>
            </a:r>
            <a:r>
              <a:rPr lang="pt-BR" dirty="0"/>
              <a:t>mostradas ao lado. </a:t>
            </a:r>
          </a:p>
          <a:p>
            <a:r>
              <a:rPr lang="pt-BR" dirty="0"/>
              <a:t>Como podemos ver, </a:t>
            </a:r>
            <a:r>
              <a:rPr lang="pt-BR" b="1" dirty="0">
                <a:solidFill>
                  <a:srgbClr val="00B050"/>
                </a:solidFill>
              </a:rPr>
              <a:t>são duas formas verticais</a:t>
            </a:r>
            <a:r>
              <a:rPr lang="pt-BR" dirty="0"/>
              <a:t>, que se parecem com pernas humanas.</a:t>
            </a:r>
          </a:p>
        </p:txBody>
      </p:sp>
      <p:pic>
        <p:nvPicPr>
          <p:cNvPr id="6" name="Imagem 5">
            <a:extLst>
              <a:ext uri="{FF2B5EF4-FFF2-40B4-BE49-F238E27FC236}">
                <a16:creationId xmlns:a16="http://schemas.microsoft.com/office/drawing/2014/main" id="{7CB6CBF7-2145-F591-A06C-A618EFC81915}"/>
              </a:ext>
            </a:extLst>
          </p:cNvPr>
          <p:cNvPicPr>
            <a:picLocks/>
          </p:cNvPicPr>
          <p:nvPr/>
        </p:nvPicPr>
        <p:blipFill>
          <a:blip r:embed="rId2"/>
          <a:stretch>
            <a:fillRect/>
          </a:stretch>
        </p:blipFill>
        <p:spPr>
          <a:xfrm>
            <a:off x="1187521" y="2132477"/>
            <a:ext cx="3420000" cy="3420000"/>
          </a:xfrm>
          <a:prstGeom prst="rect">
            <a:avLst/>
          </a:prstGeom>
        </p:spPr>
      </p:pic>
    </p:spTree>
    <p:extLst>
      <p:ext uri="{BB962C8B-B14F-4D97-AF65-F5344CB8AC3E}">
        <p14:creationId xmlns:p14="http://schemas.microsoft.com/office/powerpoint/2010/main" val="30124587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id="{20D6BBE4-2214-A808-8A9F-F5661EC22C43}"/>
              </a:ext>
            </a:extLst>
          </p:cNvPr>
          <p:cNvSpPr>
            <a:spLocks noGrp="1"/>
          </p:cNvSpPr>
          <p:nvPr>
            <p:ph idx="1"/>
          </p:nvPr>
        </p:nvSpPr>
        <p:spPr>
          <a:xfrm>
            <a:off x="5804899" y="1825624"/>
            <a:ext cx="6236413" cy="5032375"/>
          </a:xfrm>
        </p:spPr>
        <p:txBody>
          <a:bodyPr>
            <a:normAutofit/>
          </a:bodyPr>
          <a:lstStyle/>
          <a:p>
            <a:r>
              <a:rPr lang="pt-BR" dirty="0"/>
              <a:t>Na sequência, </a:t>
            </a:r>
            <a:r>
              <a:rPr lang="pt-BR" b="1" dirty="0">
                <a:solidFill>
                  <a:srgbClr val="00B050"/>
                </a:solidFill>
              </a:rPr>
              <a:t>outros filtros extraem as características</a:t>
            </a:r>
            <a:r>
              <a:rPr lang="pt-BR" dirty="0"/>
              <a:t> mostradas ao lado.</a:t>
            </a:r>
          </a:p>
          <a:p>
            <a:r>
              <a:rPr lang="pt-BR" dirty="0"/>
              <a:t>São pequenas formas cilíndricas que se projetam a partir de um cilindro maior.</a:t>
            </a:r>
          </a:p>
          <a:p>
            <a:r>
              <a:rPr lang="pt-BR" dirty="0"/>
              <a:t>Nosso </a:t>
            </a:r>
            <a:r>
              <a:rPr lang="pt-BR" b="1" dirty="0">
                <a:solidFill>
                  <a:srgbClr val="00B050"/>
                </a:solidFill>
              </a:rPr>
              <a:t>cérebro vê isso </a:t>
            </a:r>
            <a:r>
              <a:rPr lang="pt-BR" dirty="0"/>
              <a:t>e </a:t>
            </a:r>
            <a:r>
              <a:rPr lang="pt-BR" b="1" dirty="0">
                <a:solidFill>
                  <a:srgbClr val="00B050"/>
                </a:solidFill>
              </a:rPr>
              <a:t>instantaneamente classifica como mãos</a:t>
            </a:r>
            <a:r>
              <a:rPr lang="pt-BR" dirty="0"/>
              <a:t>.</a:t>
            </a:r>
          </a:p>
          <a:p>
            <a:r>
              <a:rPr lang="pt-BR" dirty="0"/>
              <a:t>Porém uma rede neural em treinamento ainda não sabe disso.</a:t>
            </a:r>
          </a:p>
          <a:p>
            <a:r>
              <a:rPr lang="pt-BR" dirty="0"/>
              <a:t>Ela apenas sabe que um filtro pode extrair essas características.</a:t>
            </a:r>
          </a:p>
        </p:txBody>
      </p:sp>
      <p:pic>
        <p:nvPicPr>
          <p:cNvPr id="5" name="Imagem 4">
            <a:extLst>
              <a:ext uri="{FF2B5EF4-FFF2-40B4-BE49-F238E27FC236}">
                <a16:creationId xmlns:a16="http://schemas.microsoft.com/office/drawing/2014/main" id="{9DCD6380-56B9-99E1-F2D6-BD5C81030980}"/>
              </a:ext>
            </a:extLst>
          </p:cNvPr>
          <p:cNvPicPr>
            <a:picLocks noChangeAspect="1"/>
          </p:cNvPicPr>
          <p:nvPr/>
        </p:nvPicPr>
        <p:blipFill>
          <a:blip r:embed="rId2"/>
          <a:stretch>
            <a:fillRect/>
          </a:stretch>
        </p:blipFill>
        <p:spPr>
          <a:xfrm>
            <a:off x="940941" y="2270588"/>
            <a:ext cx="3420000" cy="3420000"/>
          </a:xfrm>
          <a:prstGeom prst="rect">
            <a:avLst/>
          </a:prstGeom>
        </p:spPr>
      </p:pic>
    </p:spTree>
    <p:extLst>
      <p:ext uri="{BB962C8B-B14F-4D97-AF65-F5344CB8AC3E}">
        <p14:creationId xmlns:p14="http://schemas.microsoft.com/office/powerpoint/2010/main" val="32014970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id="{20D6BBE4-2214-A808-8A9F-F5661EC22C43}"/>
              </a:ext>
            </a:extLst>
          </p:cNvPr>
          <p:cNvSpPr>
            <a:spLocks noGrp="1"/>
          </p:cNvSpPr>
          <p:nvPr>
            <p:ph idx="1"/>
          </p:nvPr>
        </p:nvSpPr>
        <p:spPr>
          <a:xfrm>
            <a:off x="5887093" y="1825624"/>
            <a:ext cx="6154220" cy="5032375"/>
          </a:xfrm>
        </p:spPr>
        <p:txBody>
          <a:bodyPr>
            <a:normAutofit lnSpcReduction="10000"/>
          </a:bodyPr>
          <a:lstStyle/>
          <a:p>
            <a:r>
              <a:rPr lang="pt-BR" dirty="0"/>
              <a:t>Em seguida, </a:t>
            </a:r>
            <a:r>
              <a:rPr lang="pt-BR" b="1" dirty="0">
                <a:solidFill>
                  <a:srgbClr val="00B050"/>
                </a:solidFill>
              </a:rPr>
              <a:t>outros filtros extraem um círculo com outros dois círculos menores, uma saliência e algumas formas paralelas</a:t>
            </a:r>
            <a:r>
              <a:rPr lang="pt-BR" dirty="0"/>
              <a:t>.</a:t>
            </a:r>
          </a:p>
          <a:p>
            <a:r>
              <a:rPr lang="pt-BR" dirty="0"/>
              <a:t>Nosso cérebro reconhece esse conjunto de pixels como um rosto com olhos, boca e nariz.</a:t>
            </a:r>
          </a:p>
          <a:p>
            <a:r>
              <a:rPr lang="pt-BR" dirty="0"/>
              <a:t>Mas, novamente, o modelo não tem contexto para decidir o que esses pixels são.</a:t>
            </a:r>
          </a:p>
          <a:p>
            <a:r>
              <a:rPr lang="pt-BR" dirty="0"/>
              <a:t>Ele só sabe que um filtro específico pode extrair essas características.</a:t>
            </a:r>
          </a:p>
        </p:txBody>
      </p:sp>
      <p:pic>
        <p:nvPicPr>
          <p:cNvPr id="6" name="Imagem 5">
            <a:extLst>
              <a:ext uri="{FF2B5EF4-FFF2-40B4-BE49-F238E27FC236}">
                <a16:creationId xmlns:a16="http://schemas.microsoft.com/office/drawing/2014/main" id="{0512BE5F-A7F8-F372-D1CF-793E365D50C4}"/>
              </a:ext>
            </a:extLst>
          </p:cNvPr>
          <p:cNvPicPr>
            <a:picLocks/>
          </p:cNvPicPr>
          <p:nvPr/>
        </p:nvPicPr>
        <p:blipFill>
          <a:blip r:embed="rId2"/>
          <a:stretch>
            <a:fillRect/>
          </a:stretch>
        </p:blipFill>
        <p:spPr>
          <a:xfrm>
            <a:off x="1208069" y="2329665"/>
            <a:ext cx="3420000" cy="3420000"/>
          </a:xfrm>
          <a:prstGeom prst="rect">
            <a:avLst/>
          </a:prstGeom>
        </p:spPr>
      </p:pic>
    </p:spTree>
    <p:extLst>
      <p:ext uri="{BB962C8B-B14F-4D97-AF65-F5344CB8AC3E}">
        <p14:creationId xmlns:p14="http://schemas.microsoft.com/office/powerpoint/2010/main" val="7024044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id="{20D6BBE4-2214-A808-8A9F-F5661EC22C43}"/>
              </a:ext>
            </a:extLst>
          </p:cNvPr>
          <p:cNvSpPr>
            <a:spLocks noGrp="1"/>
          </p:cNvSpPr>
          <p:nvPr>
            <p:ph idx="1"/>
          </p:nvPr>
        </p:nvSpPr>
        <p:spPr>
          <a:xfrm>
            <a:off x="838200" y="4217242"/>
            <a:ext cx="11203113" cy="2640756"/>
          </a:xfrm>
        </p:spPr>
        <p:txBody>
          <a:bodyPr>
            <a:normAutofit/>
          </a:bodyPr>
          <a:lstStyle/>
          <a:p>
            <a:r>
              <a:rPr lang="pt-BR" b="0" dirty="0">
                <a:effectLst/>
              </a:rPr>
              <a:t>Quando essas </a:t>
            </a:r>
            <a:r>
              <a:rPr lang="pt-BR" b="1" dirty="0">
                <a:solidFill>
                  <a:srgbClr val="00B050"/>
                </a:solidFill>
                <a:effectLst/>
              </a:rPr>
              <a:t>características estão presentes em uma imagem rotulada como humana</a:t>
            </a:r>
            <a:r>
              <a:rPr lang="pt-BR" b="0" dirty="0">
                <a:effectLst/>
              </a:rPr>
              <a:t>, a rede neural pode ser </a:t>
            </a:r>
            <a:r>
              <a:rPr lang="pt-BR" b="1" dirty="0">
                <a:solidFill>
                  <a:srgbClr val="00B050"/>
                </a:solidFill>
                <a:effectLst/>
              </a:rPr>
              <a:t>treinada para aprender filtros que extraem essas informações</a:t>
            </a:r>
            <a:r>
              <a:rPr lang="pt-BR" b="0" dirty="0">
                <a:effectLst/>
              </a:rPr>
              <a:t>. </a:t>
            </a:r>
          </a:p>
          <a:p>
            <a:r>
              <a:rPr lang="pt-BR" dirty="0"/>
              <a:t>A rede </a:t>
            </a:r>
            <a:r>
              <a:rPr lang="pt-BR" b="1" dirty="0">
                <a:solidFill>
                  <a:srgbClr val="00B050"/>
                </a:solidFill>
              </a:rPr>
              <a:t>pode combinar as características extraídas pelos três filtros </a:t>
            </a:r>
            <a:r>
              <a:rPr lang="pt-BR" dirty="0"/>
              <a:t>(i.e., pernas, mãos e face) para detectar seres humanos </a:t>
            </a:r>
            <a:r>
              <a:rPr lang="pt-BR" b="0" dirty="0">
                <a:effectLst/>
              </a:rPr>
              <a:t>em imagens inéditas.</a:t>
            </a:r>
          </a:p>
          <a:p>
            <a:pPr lvl="1">
              <a:buFont typeface="Wingdings" panose="05000000000000000000" pitchFamily="2" charset="2"/>
              <a:buChar char="§"/>
            </a:pPr>
            <a:r>
              <a:rPr lang="pt-BR" dirty="0"/>
              <a:t>A(s) camada(s) densa(s) faz(em) essa combinação.</a:t>
            </a:r>
          </a:p>
        </p:txBody>
      </p:sp>
      <p:pic>
        <p:nvPicPr>
          <p:cNvPr id="4" name="Imagem 3">
            <a:extLst>
              <a:ext uri="{FF2B5EF4-FFF2-40B4-BE49-F238E27FC236}">
                <a16:creationId xmlns:a16="http://schemas.microsoft.com/office/drawing/2014/main" id="{25F7A39E-1626-69A1-D7FD-DA7585D55A44}"/>
              </a:ext>
            </a:extLst>
          </p:cNvPr>
          <p:cNvPicPr>
            <a:picLocks/>
          </p:cNvPicPr>
          <p:nvPr/>
        </p:nvPicPr>
        <p:blipFill>
          <a:blip r:embed="rId2"/>
          <a:stretch>
            <a:fillRect/>
          </a:stretch>
        </p:blipFill>
        <p:spPr>
          <a:xfrm>
            <a:off x="1214765" y="1569375"/>
            <a:ext cx="2276986" cy="2252613"/>
          </a:xfrm>
          <a:prstGeom prst="rect">
            <a:avLst/>
          </a:prstGeom>
        </p:spPr>
      </p:pic>
      <p:pic>
        <p:nvPicPr>
          <p:cNvPr id="5" name="Imagem 4">
            <a:extLst>
              <a:ext uri="{FF2B5EF4-FFF2-40B4-BE49-F238E27FC236}">
                <a16:creationId xmlns:a16="http://schemas.microsoft.com/office/drawing/2014/main" id="{F3CA95D3-92C8-2890-4CC6-018C2186F9E8}"/>
              </a:ext>
            </a:extLst>
          </p:cNvPr>
          <p:cNvPicPr>
            <a:picLocks noChangeAspect="1"/>
          </p:cNvPicPr>
          <p:nvPr/>
        </p:nvPicPr>
        <p:blipFill>
          <a:blip r:embed="rId3"/>
          <a:stretch>
            <a:fillRect/>
          </a:stretch>
        </p:blipFill>
        <p:spPr>
          <a:xfrm>
            <a:off x="4347118" y="1566807"/>
            <a:ext cx="2276986" cy="2276986"/>
          </a:xfrm>
          <a:prstGeom prst="rect">
            <a:avLst/>
          </a:prstGeom>
        </p:spPr>
      </p:pic>
      <p:pic>
        <p:nvPicPr>
          <p:cNvPr id="7" name="Imagem 6">
            <a:extLst>
              <a:ext uri="{FF2B5EF4-FFF2-40B4-BE49-F238E27FC236}">
                <a16:creationId xmlns:a16="http://schemas.microsoft.com/office/drawing/2014/main" id="{C6A6E7AB-B0B3-124B-836D-2D46112929A6}"/>
              </a:ext>
            </a:extLst>
          </p:cNvPr>
          <p:cNvPicPr>
            <a:picLocks/>
          </p:cNvPicPr>
          <p:nvPr/>
        </p:nvPicPr>
        <p:blipFill>
          <a:blip r:embed="rId4"/>
          <a:stretch>
            <a:fillRect/>
          </a:stretch>
        </p:blipFill>
        <p:spPr>
          <a:xfrm>
            <a:off x="7627304" y="1569375"/>
            <a:ext cx="2276986" cy="2252613"/>
          </a:xfrm>
          <a:prstGeom prst="rect">
            <a:avLst/>
          </a:prstGeom>
        </p:spPr>
      </p:pic>
      <p:sp>
        <p:nvSpPr>
          <p:cNvPr id="8" name="Sinal de Adição 7">
            <a:extLst>
              <a:ext uri="{FF2B5EF4-FFF2-40B4-BE49-F238E27FC236}">
                <a16:creationId xmlns:a16="http://schemas.microsoft.com/office/drawing/2014/main" id="{B27F6C99-DA07-7E21-355E-5C992A1FA9D3}"/>
              </a:ext>
            </a:extLst>
          </p:cNvPr>
          <p:cNvSpPr/>
          <p:nvPr/>
        </p:nvSpPr>
        <p:spPr>
          <a:xfrm>
            <a:off x="3692525" y="249533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Sinal de Adição 8">
            <a:extLst>
              <a:ext uri="{FF2B5EF4-FFF2-40B4-BE49-F238E27FC236}">
                <a16:creationId xmlns:a16="http://schemas.microsoft.com/office/drawing/2014/main" id="{84A9BF48-8777-F6C5-20D4-CFAFDD18BD91}"/>
              </a:ext>
            </a:extLst>
          </p:cNvPr>
          <p:cNvSpPr/>
          <p:nvPr/>
        </p:nvSpPr>
        <p:spPr>
          <a:xfrm>
            <a:off x="6930495" y="2504954"/>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Igual a 9">
            <a:extLst>
              <a:ext uri="{FF2B5EF4-FFF2-40B4-BE49-F238E27FC236}">
                <a16:creationId xmlns:a16="http://schemas.microsoft.com/office/drawing/2014/main" id="{3EB3839C-6252-FB94-DA7A-46513E65D86E}"/>
              </a:ext>
            </a:extLst>
          </p:cNvPr>
          <p:cNvSpPr/>
          <p:nvPr/>
        </p:nvSpPr>
        <p:spPr>
          <a:xfrm>
            <a:off x="10042291" y="2546168"/>
            <a:ext cx="400692" cy="284814"/>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1" name="CaixaDeTexto 10">
            <a:extLst>
              <a:ext uri="{FF2B5EF4-FFF2-40B4-BE49-F238E27FC236}">
                <a16:creationId xmlns:a16="http://schemas.microsoft.com/office/drawing/2014/main" id="{5C78B840-887B-AFEE-E8A0-75B2A1685013}"/>
              </a:ext>
            </a:extLst>
          </p:cNvPr>
          <p:cNvSpPr txBox="1"/>
          <p:nvPr/>
        </p:nvSpPr>
        <p:spPr>
          <a:xfrm>
            <a:off x="10442983" y="2495335"/>
            <a:ext cx="1107876" cy="369332"/>
          </a:xfrm>
          <a:prstGeom prst="rect">
            <a:avLst/>
          </a:prstGeom>
          <a:noFill/>
        </p:spPr>
        <p:txBody>
          <a:bodyPr wrap="square" rtlCol="0">
            <a:spAutoFit/>
          </a:bodyPr>
          <a:lstStyle/>
          <a:p>
            <a:pPr algn="ctr"/>
            <a:r>
              <a:rPr lang="pt-BR" b="1" dirty="0"/>
              <a:t>Humano</a:t>
            </a:r>
          </a:p>
        </p:txBody>
      </p:sp>
    </p:spTree>
    <p:extLst>
      <p:ext uri="{BB962C8B-B14F-4D97-AF65-F5344CB8AC3E}">
        <p14:creationId xmlns:p14="http://schemas.microsoft.com/office/powerpoint/2010/main" val="3593251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FDEE0-F22A-CFC7-3FC5-441368F0AF81}"/>
              </a:ext>
            </a:extLst>
          </p:cNvPr>
          <p:cNvSpPr>
            <a:spLocks noGrp="1"/>
          </p:cNvSpPr>
          <p:nvPr>
            <p:ph type="title"/>
          </p:nvPr>
        </p:nvSpPr>
        <p:spPr/>
        <p:txBody>
          <a:bodyPr/>
          <a:lstStyle/>
          <a:p>
            <a:r>
              <a:rPr lang="pt-BR" dirty="0"/>
              <a:t>Exemplo de classificação de imagens</a:t>
            </a:r>
          </a:p>
        </p:txBody>
      </p:sp>
      <p:sp>
        <p:nvSpPr>
          <p:cNvPr id="3" name="Espaço Reservado para Conteúdo 2">
            <a:extLst>
              <a:ext uri="{FF2B5EF4-FFF2-40B4-BE49-F238E27FC236}">
                <a16:creationId xmlns:a16="http://schemas.microsoft.com/office/drawing/2014/main" id="{20D6BBE4-2214-A808-8A9F-F5661EC22C43}"/>
              </a:ext>
            </a:extLst>
          </p:cNvPr>
          <p:cNvSpPr>
            <a:spLocks noGrp="1"/>
          </p:cNvSpPr>
          <p:nvPr>
            <p:ph idx="1"/>
          </p:nvPr>
        </p:nvSpPr>
        <p:spPr>
          <a:xfrm>
            <a:off x="838200" y="4253500"/>
            <a:ext cx="11203113" cy="2604497"/>
          </a:xfrm>
        </p:spPr>
        <p:txBody>
          <a:bodyPr>
            <a:normAutofit/>
          </a:bodyPr>
          <a:lstStyle/>
          <a:p>
            <a:r>
              <a:rPr lang="pt-BR" dirty="0"/>
              <a:t>A </a:t>
            </a:r>
            <a:r>
              <a:rPr lang="pt-BR" b="1" dirty="0">
                <a:solidFill>
                  <a:srgbClr val="00B050"/>
                </a:solidFill>
              </a:rPr>
              <a:t>mesma rede pode ser treinada para identificar </a:t>
            </a:r>
            <a:r>
              <a:rPr lang="pt-BR" dirty="0"/>
              <a:t>diferentes </a:t>
            </a:r>
            <a:r>
              <a:rPr lang="pt-BR" b="1" dirty="0">
                <a:solidFill>
                  <a:srgbClr val="00B050"/>
                </a:solidFill>
              </a:rPr>
              <a:t>características</a:t>
            </a:r>
            <a:r>
              <a:rPr lang="pt-BR" dirty="0"/>
              <a:t> presentes nas imagens de </a:t>
            </a:r>
            <a:r>
              <a:rPr lang="pt-BR" b="1" dirty="0">
                <a:solidFill>
                  <a:srgbClr val="00B050"/>
                </a:solidFill>
              </a:rPr>
              <a:t>cavalos</a:t>
            </a:r>
            <a:r>
              <a:rPr lang="pt-BR" dirty="0"/>
              <a:t>. </a:t>
            </a:r>
          </a:p>
          <a:p>
            <a:r>
              <a:rPr lang="pt-BR" dirty="0"/>
              <a:t>Assim, ao </a:t>
            </a:r>
            <a:r>
              <a:rPr lang="pt-BR" b="1" dirty="0">
                <a:solidFill>
                  <a:srgbClr val="00B050"/>
                </a:solidFill>
              </a:rPr>
              <a:t>aprender conjuntos de filtros que podem detectar humanos ou cavalos</a:t>
            </a:r>
            <a:r>
              <a:rPr lang="pt-BR" dirty="0"/>
              <a:t>, temos um </a:t>
            </a:r>
            <a:r>
              <a:rPr lang="pt-BR" b="1" dirty="0">
                <a:solidFill>
                  <a:srgbClr val="00B050"/>
                </a:solidFill>
              </a:rPr>
              <a:t>modelo de visão computacional</a:t>
            </a:r>
            <a:r>
              <a:rPr lang="pt-BR" dirty="0"/>
              <a:t> que pode </a:t>
            </a:r>
            <a:r>
              <a:rPr lang="pt-BR" b="1" dirty="0">
                <a:solidFill>
                  <a:srgbClr val="00B050"/>
                </a:solidFill>
              </a:rPr>
              <a:t>lidar</a:t>
            </a:r>
            <a:r>
              <a:rPr lang="pt-BR" dirty="0"/>
              <a:t> com </a:t>
            </a:r>
            <a:r>
              <a:rPr lang="pt-BR" b="1" dirty="0">
                <a:solidFill>
                  <a:srgbClr val="00B050"/>
                </a:solidFill>
              </a:rPr>
              <a:t>imagens complexas</a:t>
            </a:r>
            <a:r>
              <a:rPr lang="pt-BR" dirty="0"/>
              <a:t> e </a:t>
            </a:r>
            <a:r>
              <a:rPr lang="pt-BR" b="1" dirty="0">
                <a:solidFill>
                  <a:srgbClr val="00B050"/>
                </a:solidFill>
              </a:rPr>
              <a:t>predizer</a:t>
            </a:r>
            <a:r>
              <a:rPr lang="pt-BR" dirty="0"/>
              <a:t> </a:t>
            </a:r>
            <a:r>
              <a:rPr lang="pt-BR" b="1" dirty="0">
                <a:solidFill>
                  <a:srgbClr val="00B050"/>
                </a:solidFill>
              </a:rPr>
              <a:t>o que há nelas</a:t>
            </a:r>
            <a:r>
              <a:rPr lang="pt-BR" dirty="0"/>
              <a:t>.</a:t>
            </a:r>
          </a:p>
        </p:txBody>
      </p:sp>
      <p:sp>
        <p:nvSpPr>
          <p:cNvPr id="8" name="Sinal de Adição 7">
            <a:extLst>
              <a:ext uri="{FF2B5EF4-FFF2-40B4-BE49-F238E27FC236}">
                <a16:creationId xmlns:a16="http://schemas.microsoft.com/office/drawing/2014/main" id="{B27F6C99-DA07-7E21-355E-5C992A1FA9D3}"/>
              </a:ext>
            </a:extLst>
          </p:cNvPr>
          <p:cNvSpPr/>
          <p:nvPr/>
        </p:nvSpPr>
        <p:spPr>
          <a:xfrm>
            <a:off x="3732866" y="258464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Sinal de Adição 8">
            <a:extLst>
              <a:ext uri="{FF2B5EF4-FFF2-40B4-BE49-F238E27FC236}">
                <a16:creationId xmlns:a16="http://schemas.microsoft.com/office/drawing/2014/main" id="{84A9BF48-8777-F6C5-20D4-CFAFDD18BD91}"/>
              </a:ext>
            </a:extLst>
          </p:cNvPr>
          <p:cNvSpPr/>
          <p:nvPr/>
        </p:nvSpPr>
        <p:spPr>
          <a:xfrm>
            <a:off x="6927911" y="258464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Igual a 9">
            <a:extLst>
              <a:ext uri="{FF2B5EF4-FFF2-40B4-BE49-F238E27FC236}">
                <a16:creationId xmlns:a16="http://schemas.microsoft.com/office/drawing/2014/main" id="{3EB3839C-6252-FB94-DA7A-46513E65D86E}"/>
              </a:ext>
            </a:extLst>
          </p:cNvPr>
          <p:cNvSpPr/>
          <p:nvPr/>
        </p:nvSpPr>
        <p:spPr>
          <a:xfrm>
            <a:off x="10056261" y="2634611"/>
            <a:ext cx="400692" cy="284814"/>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1" name="CaixaDeTexto 10">
            <a:extLst>
              <a:ext uri="{FF2B5EF4-FFF2-40B4-BE49-F238E27FC236}">
                <a16:creationId xmlns:a16="http://schemas.microsoft.com/office/drawing/2014/main" id="{5C78B840-887B-AFEE-E8A0-75B2A1685013}"/>
              </a:ext>
            </a:extLst>
          </p:cNvPr>
          <p:cNvSpPr txBox="1"/>
          <p:nvPr/>
        </p:nvSpPr>
        <p:spPr>
          <a:xfrm>
            <a:off x="10456953" y="2583778"/>
            <a:ext cx="1107876" cy="369332"/>
          </a:xfrm>
          <a:prstGeom prst="rect">
            <a:avLst/>
          </a:prstGeom>
          <a:noFill/>
        </p:spPr>
        <p:txBody>
          <a:bodyPr wrap="square" rtlCol="0">
            <a:spAutoFit/>
          </a:bodyPr>
          <a:lstStyle/>
          <a:p>
            <a:pPr algn="ctr"/>
            <a:r>
              <a:rPr lang="pt-BR" b="1" dirty="0"/>
              <a:t>Cavalo</a:t>
            </a:r>
          </a:p>
        </p:txBody>
      </p:sp>
      <p:pic>
        <p:nvPicPr>
          <p:cNvPr id="12" name="Imagem 11">
            <a:extLst>
              <a:ext uri="{FF2B5EF4-FFF2-40B4-BE49-F238E27FC236}">
                <a16:creationId xmlns:a16="http://schemas.microsoft.com/office/drawing/2014/main" id="{107AF85C-54A3-B17D-3028-6D8CAA7ED938}"/>
              </a:ext>
            </a:extLst>
          </p:cNvPr>
          <p:cNvPicPr>
            <a:picLocks noChangeAspect="1"/>
          </p:cNvPicPr>
          <p:nvPr/>
        </p:nvPicPr>
        <p:blipFill rotWithShape="1">
          <a:blip r:embed="rId2"/>
          <a:srcRect l="752" t="-1" b="1193"/>
          <a:stretch/>
        </p:blipFill>
        <p:spPr>
          <a:xfrm>
            <a:off x="1181109" y="1556901"/>
            <a:ext cx="2409551" cy="2398866"/>
          </a:xfrm>
          <a:prstGeom prst="rect">
            <a:avLst/>
          </a:prstGeom>
        </p:spPr>
      </p:pic>
      <p:pic>
        <p:nvPicPr>
          <p:cNvPr id="14" name="Imagem 13">
            <a:extLst>
              <a:ext uri="{FF2B5EF4-FFF2-40B4-BE49-F238E27FC236}">
                <a16:creationId xmlns:a16="http://schemas.microsoft.com/office/drawing/2014/main" id="{C321B982-829D-ED71-3A97-250B5BE6960C}"/>
              </a:ext>
            </a:extLst>
          </p:cNvPr>
          <p:cNvPicPr>
            <a:picLocks noChangeAspect="1"/>
          </p:cNvPicPr>
          <p:nvPr/>
        </p:nvPicPr>
        <p:blipFill>
          <a:blip r:embed="rId3"/>
          <a:stretch>
            <a:fillRect/>
          </a:stretch>
        </p:blipFill>
        <p:spPr>
          <a:xfrm>
            <a:off x="4335485" y="1585558"/>
            <a:ext cx="2398866" cy="2398866"/>
          </a:xfrm>
          <a:prstGeom prst="rect">
            <a:avLst/>
          </a:prstGeom>
        </p:spPr>
      </p:pic>
      <p:pic>
        <p:nvPicPr>
          <p:cNvPr id="16" name="Imagem 15">
            <a:extLst>
              <a:ext uri="{FF2B5EF4-FFF2-40B4-BE49-F238E27FC236}">
                <a16:creationId xmlns:a16="http://schemas.microsoft.com/office/drawing/2014/main" id="{0B52E920-4033-FB09-D05A-ED4983DE62B2}"/>
              </a:ext>
            </a:extLst>
          </p:cNvPr>
          <p:cNvPicPr>
            <a:picLocks noChangeAspect="1"/>
          </p:cNvPicPr>
          <p:nvPr/>
        </p:nvPicPr>
        <p:blipFill>
          <a:blip r:embed="rId4"/>
          <a:stretch>
            <a:fillRect/>
          </a:stretch>
        </p:blipFill>
        <p:spPr>
          <a:xfrm>
            <a:off x="7511889" y="1585558"/>
            <a:ext cx="2408128" cy="2398866"/>
          </a:xfrm>
          <a:prstGeom prst="rect">
            <a:avLst/>
          </a:prstGeom>
        </p:spPr>
      </p:pic>
    </p:spTree>
    <p:extLst>
      <p:ext uri="{BB962C8B-B14F-4D97-AF65-F5344CB8AC3E}">
        <p14:creationId xmlns:p14="http://schemas.microsoft.com/office/powerpoint/2010/main" val="4523762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DCA666-F40D-E83F-D623-044CC2AD2AE0}"/>
              </a:ext>
            </a:extLst>
          </p:cNvPr>
          <p:cNvSpPr>
            <a:spLocks noGrp="1"/>
          </p:cNvSpPr>
          <p:nvPr>
            <p:ph type="title"/>
          </p:nvPr>
        </p:nvSpPr>
        <p:spPr/>
        <p:txBody>
          <a:bodyPr/>
          <a:lstStyle/>
          <a:p>
            <a:r>
              <a:rPr lang="pt-BR" dirty="0"/>
              <a:t>Observação</a:t>
            </a:r>
          </a:p>
        </p:txBody>
      </p:sp>
      <p:sp>
        <p:nvSpPr>
          <p:cNvPr id="3" name="Espaço Reservado para Conteúdo 2">
            <a:extLst>
              <a:ext uri="{FF2B5EF4-FFF2-40B4-BE49-F238E27FC236}">
                <a16:creationId xmlns:a16="http://schemas.microsoft.com/office/drawing/2014/main" id="{F77E1BB2-DC0E-DD7A-0379-DBD5E73E790A}"/>
              </a:ext>
            </a:extLst>
          </p:cNvPr>
          <p:cNvSpPr>
            <a:spLocks noGrp="1"/>
          </p:cNvSpPr>
          <p:nvPr>
            <p:ph idx="1"/>
          </p:nvPr>
        </p:nvSpPr>
        <p:spPr>
          <a:xfrm>
            <a:off x="838200" y="4276622"/>
            <a:ext cx="11213386" cy="2581378"/>
          </a:xfrm>
        </p:spPr>
        <p:txBody>
          <a:bodyPr>
            <a:normAutofit lnSpcReduction="10000"/>
          </a:bodyPr>
          <a:lstStyle/>
          <a:p>
            <a:r>
              <a:rPr lang="pt-BR" b="0" i="0" dirty="0">
                <a:effectLst/>
              </a:rPr>
              <a:t>Notem que usamos pernas, mãos e rostos como exemplos de características extraídas por um filtro. </a:t>
            </a:r>
          </a:p>
          <a:p>
            <a:r>
              <a:rPr lang="pt-BR" b="0" i="0" dirty="0">
                <a:effectLst/>
              </a:rPr>
              <a:t>Essas são formas reconhecíveis pelo nosso cérebro, então as utilizamos para ilustrar o conceito. </a:t>
            </a:r>
          </a:p>
          <a:p>
            <a:r>
              <a:rPr lang="pt-BR" dirty="0"/>
              <a:t>Porém, as redes convolucionais, muito provavelmente </a:t>
            </a:r>
            <a:r>
              <a:rPr lang="pt-BR" b="1" dirty="0"/>
              <a:t>aprenderão características imperceptíveis</a:t>
            </a:r>
            <a:r>
              <a:rPr lang="pt-BR" dirty="0"/>
              <a:t> a nós humanos.</a:t>
            </a:r>
            <a:endParaRPr lang="pt-BR" b="0" dirty="0">
              <a:effectLst/>
            </a:endParaRPr>
          </a:p>
        </p:txBody>
      </p:sp>
      <p:pic>
        <p:nvPicPr>
          <p:cNvPr id="13" name="Imagem 12">
            <a:extLst>
              <a:ext uri="{FF2B5EF4-FFF2-40B4-BE49-F238E27FC236}">
                <a16:creationId xmlns:a16="http://schemas.microsoft.com/office/drawing/2014/main" id="{A8DCFFB0-DAB3-CAEC-072B-154BE622DD5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8608" y="1844800"/>
            <a:ext cx="10338362" cy="2277709"/>
          </a:xfrm>
          <a:prstGeom prst="rect">
            <a:avLst/>
          </a:prstGeom>
        </p:spPr>
      </p:pic>
    </p:spTree>
    <p:extLst>
      <p:ext uri="{BB962C8B-B14F-4D97-AF65-F5344CB8AC3E}">
        <p14:creationId xmlns:p14="http://schemas.microsoft.com/office/powerpoint/2010/main" val="288157120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001DA-DCEC-5E10-7F92-5990D52164B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DD2E1D2-A849-7B55-76BD-64E38E092AB2}"/>
              </a:ext>
            </a:extLst>
          </p:cNvPr>
          <p:cNvSpPr txBox="1">
            <a:spLocks/>
          </p:cNvSpPr>
          <p:nvPr/>
        </p:nvSpPr>
        <p:spPr>
          <a:xfrm>
            <a:off x="1524000" y="1939565"/>
            <a:ext cx="9144000" cy="29788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Anexo II: Links interessantes </a:t>
            </a:r>
            <a:endParaRPr lang="pt-BR" sz="6600" b="1" i="1" dirty="0"/>
          </a:p>
        </p:txBody>
      </p:sp>
    </p:spTree>
    <p:extLst>
      <p:ext uri="{BB962C8B-B14F-4D97-AF65-F5344CB8AC3E}">
        <p14:creationId xmlns:p14="http://schemas.microsoft.com/office/powerpoint/2010/main" val="22965670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DCA666-F40D-E83F-D623-044CC2AD2AE0}"/>
              </a:ext>
            </a:extLst>
          </p:cNvPr>
          <p:cNvSpPr>
            <a:spLocks noGrp="1"/>
          </p:cNvSpPr>
          <p:nvPr>
            <p:ph type="title"/>
          </p:nvPr>
        </p:nvSpPr>
        <p:spPr/>
        <p:txBody>
          <a:bodyPr/>
          <a:lstStyle/>
          <a:p>
            <a:r>
              <a:rPr lang="pt-BR" dirty="0"/>
              <a:t>Características imperceptíveis</a:t>
            </a:r>
          </a:p>
        </p:txBody>
      </p:sp>
      <p:sp>
        <p:nvSpPr>
          <p:cNvPr id="3" name="Espaço Reservado para Conteúdo 2">
            <a:extLst>
              <a:ext uri="{FF2B5EF4-FFF2-40B4-BE49-F238E27FC236}">
                <a16:creationId xmlns:a16="http://schemas.microsoft.com/office/drawing/2014/main" id="{F77E1BB2-DC0E-DD7A-0379-DBD5E73E790A}"/>
              </a:ext>
            </a:extLst>
          </p:cNvPr>
          <p:cNvSpPr>
            <a:spLocks noGrp="1"/>
          </p:cNvSpPr>
          <p:nvPr>
            <p:ph idx="1"/>
          </p:nvPr>
        </p:nvSpPr>
        <p:spPr>
          <a:xfrm>
            <a:off x="7417942" y="1825624"/>
            <a:ext cx="4633643" cy="5032375"/>
          </a:xfrm>
        </p:spPr>
        <p:txBody>
          <a:bodyPr>
            <a:normAutofit/>
          </a:bodyPr>
          <a:lstStyle/>
          <a:p>
            <a:r>
              <a:rPr lang="pt-BR" b="0" dirty="0">
                <a:effectLst/>
              </a:rPr>
              <a:t>No entanto, </a:t>
            </a:r>
            <a:r>
              <a:rPr lang="pt-BR" b="1" dirty="0">
                <a:solidFill>
                  <a:srgbClr val="00B050"/>
                </a:solidFill>
                <a:effectLst/>
              </a:rPr>
              <a:t>quando filtros são treinados </a:t>
            </a:r>
            <a:r>
              <a:rPr lang="pt-BR" b="0" dirty="0">
                <a:effectLst/>
              </a:rPr>
              <a:t>para detectar características em imagens, </a:t>
            </a:r>
            <a:r>
              <a:rPr lang="pt-BR" b="1" dirty="0">
                <a:solidFill>
                  <a:srgbClr val="00B050"/>
                </a:solidFill>
                <a:effectLst/>
              </a:rPr>
              <a:t>eles podem identificar coisas que são imperceptíveis para os seres humanos</a:t>
            </a:r>
            <a:r>
              <a:rPr lang="pt-BR" b="0" dirty="0">
                <a:effectLst/>
              </a:rPr>
              <a:t>. </a:t>
            </a:r>
          </a:p>
          <a:p>
            <a:r>
              <a:rPr lang="pt-BR" b="0" i="0" dirty="0">
                <a:effectLst/>
              </a:rPr>
              <a:t>Podem existir padrões de </a:t>
            </a:r>
            <a:r>
              <a:rPr lang="pt-BR" b="0" i="1" dirty="0">
                <a:effectLst/>
              </a:rPr>
              <a:t>pixels</a:t>
            </a:r>
            <a:r>
              <a:rPr lang="pt-BR" b="0" i="0" dirty="0">
                <a:effectLst/>
              </a:rPr>
              <a:t> que correspondam a uma imagem rotulada, mas que não tenham significado aparente para nós.</a:t>
            </a:r>
            <a:endParaRPr lang="pt-BR" dirty="0"/>
          </a:p>
        </p:txBody>
      </p:sp>
      <p:pic>
        <p:nvPicPr>
          <p:cNvPr id="4" name="Imagem 3">
            <a:extLst>
              <a:ext uri="{FF2B5EF4-FFF2-40B4-BE49-F238E27FC236}">
                <a16:creationId xmlns:a16="http://schemas.microsoft.com/office/drawing/2014/main" id="{02C4A6D8-0B3F-87FC-C45F-5CF3F8175011}"/>
              </a:ext>
            </a:extLst>
          </p:cNvPr>
          <p:cNvPicPr>
            <a:picLocks noChangeAspect="1"/>
          </p:cNvPicPr>
          <p:nvPr/>
        </p:nvPicPr>
        <p:blipFill>
          <a:blip r:embed="rId2"/>
          <a:stretch>
            <a:fillRect/>
          </a:stretch>
        </p:blipFill>
        <p:spPr>
          <a:xfrm>
            <a:off x="140415" y="2065104"/>
            <a:ext cx="7077961" cy="3729521"/>
          </a:xfrm>
          <a:prstGeom prst="rect">
            <a:avLst/>
          </a:prstGeom>
        </p:spPr>
      </p:pic>
    </p:spTree>
    <p:extLst>
      <p:ext uri="{BB962C8B-B14F-4D97-AF65-F5344CB8AC3E}">
        <p14:creationId xmlns:p14="http://schemas.microsoft.com/office/powerpoint/2010/main" val="8332081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0AA258-CFED-0708-A8AE-D122F0A03D6F}"/>
              </a:ext>
            </a:extLst>
          </p:cNvPr>
          <p:cNvSpPr>
            <a:spLocks noGrp="1"/>
          </p:cNvSpPr>
          <p:nvPr>
            <p:ph type="title"/>
          </p:nvPr>
        </p:nvSpPr>
        <p:spPr/>
        <p:txBody>
          <a:bodyPr/>
          <a:lstStyle/>
          <a:p>
            <a:r>
              <a:rPr lang="pt-BR" dirty="0"/>
              <a:t>Explorando CNNs</a:t>
            </a:r>
          </a:p>
        </p:txBody>
      </p:sp>
      <p:sp>
        <p:nvSpPr>
          <p:cNvPr id="3" name="Espaço Reservado para Conteúdo 2">
            <a:extLst>
              <a:ext uri="{FF2B5EF4-FFF2-40B4-BE49-F238E27FC236}">
                <a16:creationId xmlns:a16="http://schemas.microsoft.com/office/drawing/2014/main" id="{7220047D-C08F-9584-6306-30D203C0CF89}"/>
              </a:ext>
            </a:extLst>
          </p:cNvPr>
          <p:cNvSpPr>
            <a:spLocks noGrp="1"/>
          </p:cNvSpPr>
          <p:nvPr>
            <p:ph idx="1"/>
          </p:nvPr>
        </p:nvSpPr>
        <p:spPr>
          <a:xfrm>
            <a:off x="838199" y="1825625"/>
            <a:ext cx="10874339" cy="4351338"/>
          </a:xfrm>
        </p:spPr>
        <p:txBody>
          <a:bodyPr/>
          <a:lstStyle/>
          <a:p>
            <a:r>
              <a:rPr lang="pt-BR" dirty="0"/>
              <a:t>CNN </a:t>
            </a:r>
            <a:r>
              <a:rPr lang="pt-BR" dirty="0" err="1"/>
              <a:t>Explainer</a:t>
            </a:r>
            <a:endParaRPr lang="pt-BR" dirty="0"/>
          </a:p>
          <a:p>
            <a:pPr lvl="1">
              <a:buFont typeface="Wingdings" panose="05000000000000000000" pitchFamily="2" charset="2"/>
              <a:buChar char="§"/>
            </a:pPr>
            <a:r>
              <a:rPr lang="pt-BR" dirty="0">
                <a:solidFill>
                  <a:srgbClr val="0563C1"/>
                </a:solidFill>
                <a:hlinkClick r:id="rId2"/>
              </a:rPr>
              <a:t>https</a:t>
            </a:r>
            <a:r>
              <a:rPr lang="pt-BR" dirty="0">
                <a:hlinkClick r:id="rId2"/>
              </a:rPr>
              <a:t>://poloclub.github.io/cnn-explainer/ </a:t>
            </a:r>
            <a:endParaRPr lang="pt-BR" dirty="0"/>
          </a:p>
          <a:p>
            <a:r>
              <a:rPr lang="pt-BR" dirty="0" err="1"/>
              <a:t>ConvNetJS</a:t>
            </a:r>
            <a:r>
              <a:rPr lang="pt-BR" dirty="0"/>
              <a:t> MNIST demo</a:t>
            </a:r>
          </a:p>
          <a:p>
            <a:pPr lvl="1">
              <a:buFont typeface="Wingdings" panose="05000000000000000000" pitchFamily="2" charset="2"/>
              <a:buChar char="§"/>
            </a:pPr>
            <a:r>
              <a:rPr lang="pt-BR" dirty="0">
                <a:hlinkClick r:id="rId3"/>
              </a:rPr>
              <a:t>https://cs.stanford.edu/people/karpathy/convnetjs/demo/mnist.html</a:t>
            </a:r>
            <a:endParaRPr lang="pt-BR" dirty="0"/>
          </a:p>
          <a:p>
            <a:r>
              <a:rPr lang="pt-BR" dirty="0" err="1"/>
              <a:t>ConvNetJS</a:t>
            </a:r>
            <a:r>
              <a:rPr lang="pt-BR" dirty="0"/>
              <a:t> CIFAR-10 demo</a:t>
            </a:r>
          </a:p>
          <a:p>
            <a:pPr lvl="1">
              <a:buFont typeface="Wingdings" panose="05000000000000000000" pitchFamily="2" charset="2"/>
              <a:buChar char="§"/>
            </a:pPr>
            <a:r>
              <a:rPr lang="pt-BR" dirty="0">
                <a:hlinkClick r:id="rId4"/>
              </a:rPr>
              <a:t>https://cs.stanford.edu/people/karpathy/convnetjs/demo/cifar10.html</a:t>
            </a:r>
            <a:endParaRPr lang="pt-BR" dirty="0"/>
          </a:p>
        </p:txBody>
      </p:sp>
    </p:spTree>
    <p:extLst>
      <p:ext uri="{BB962C8B-B14F-4D97-AF65-F5344CB8AC3E}">
        <p14:creationId xmlns:p14="http://schemas.microsoft.com/office/powerpoint/2010/main" val="362939386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Figuras</a:t>
            </a:r>
            <a:endParaRPr lang="pt-BR" sz="6600" b="1" i="1" dirty="0"/>
          </a:p>
        </p:txBody>
      </p:sp>
    </p:spTree>
    <p:extLst>
      <p:ext uri="{BB962C8B-B14F-4D97-AF65-F5344CB8AC3E}">
        <p14:creationId xmlns:p14="http://schemas.microsoft.com/office/powerpoint/2010/main" val="17882746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ixaDeTexto 6">
            <a:extLst>
              <a:ext uri="{FF2B5EF4-FFF2-40B4-BE49-F238E27FC236}">
                <a16:creationId xmlns:a16="http://schemas.microsoft.com/office/drawing/2014/main" id="{C10D9D7E-21EA-C2D8-5761-4F6786036D00}"/>
              </a:ext>
            </a:extLst>
          </p:cNvPr>
          <p:cNvSpPr txBox="1"/>
          <p:nvPr/>
        </p:nvSpPr>
        <p:spPr>
          <a:xfrm>
            <a:off x="1296715" y="82399"/>
            <a:ext cx="1657350" cy="369332"/>
          </a:xfrm>
          <a:prstGeom prst="rect">
            <a:avLst/>
          </a:prstGeom>
          <a:noFill/>
        </p:spPr>
        <p:txBody>
          <a:bodyPr wrap="square" rtlCol="0">
            <a:spAutoFit/>
          </a:bodyPr>
          <a:lstStyle/>
          <a:p>
            <a:pPr algn="ctr"/>
            <a:r>
              <a:rPr lang="pt-BR" dirty="0"/>
              <a:t>Input</a:t>
            </a:r>
          </a:p>
        </p:txBody>
      </p:sp>
      <p:grpSp>
        <p:nvGrpSpPr>
          <p:cNvPr id="30" name="Agrupar 29">
            <a:extLst>
              <a:ext uri="{FF2B5EF4-FFF2-40B4-BE49-F238E27FC236}">
                <a16:creationId xmlns:a16="http://schemas.microsoft.com/office/drawing/2014/main" id="{C253F684-8E73-FD40-BE49-2A50F4A7A603}"/>
              </a:ext>
            </a:extLst>
          </p:cNvPr>
          <p:cNvGrpSpPr/>
          <p:nvPr/>
        </p:nvGrpSpPr>
        <p:grpSpPr>
          <a:xfrm>
            <a:off x="1296713" y="451731"/>
            <a:ext cx="4619517" cy="5927244"/>
            <a:chOff x="1296713" y="451731"/>
            <a:chExt cx="4619517" cy="5927244"/>
          </a:xfrm>
        </p:grpSpPr>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1073076516"/>
                    </p:ext>
                  </p:extLst>
                </p:nvPr>
              </p:nvGraphicFramePr>
              <p:xfrm>
                <a:off x="1296713" y="451731"/>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1073076516"/>
                    </p:ext>
                  </p:extLst>
                </p:nvPr>
              </p:nvGraphicFramePr>
              <p:xfrm>
                <a:off x="1296713" y="451731"/>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838627264"/>
                    </p:ext>
                  </p:extLst>
                </p:nvPr>
              </p:nvGraphicFramePr>
              <p:xfrm>
                <a:off x="3564541" y="836722"/>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838627264"/>
                    </p:ext>
                  </p:extLst>
                </p:nvPr>
              </p:nvGraphicFramePr>
              <p:xfrm>
                <a:off x="3564541" y="836722"/>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F95B3DA-B65D-197D-DA2B-E33A2B91AF70}"/>
                    </a:ext>
                  </a:extLst>
                </p:cNvPr>
                <p:cNvSpPr txBox="1"/>
                <p:nvPr/>
              </p:nvSpPr>
              <p:spPr>
                <a:xfrm>
                  <a:off x="2962385" y="948221"/>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962385" y="948221"/>
                  <a:ext cx="578069" cy="461665"/>
                </a:xfrm>
                <a:prstGeom prst="rect">
                  <a:avLst/>
                </a:prstGeom>
                <a:blipFill>
                  <a:blip r:embed="rId2"/>
                  <a:stretch>
                    <a:fillRect b="-10667"/>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A352DED4-AC8A-2504-0A48-2A08B9F1ECAA}"/>
                </a:ext>
              </a:extLst>
            </p:cNvPr>
            <p:cNvSpPr txBox="1"/>
            <p:nvPr/>
          </p:nvSpPr>
          <p:spPr>
            <a:xfrm>
              <a:off x="3576364" y="451731"/>
              <a:ext cx="858783"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graphicFrame>
              <p:nvGraphicFramePr>
                <p:cNvPr id="9" name="Tabela 4">
                  <a:extLst>
                    <a:ext uri="{FF2B5EF4-FFF2-40B4-BE49-F238E27FC236}">
                      <a16:creationId xmlns:a16="http://schemas.microsoft.com/office/drawing/2014/main" id="{6DF99C71-2B0B-7A28-D9B1-5E28C2C23069}"/>
                    </a:ext>
                  </a:extLst>
                </p:cNvPr>
                <p:cNvGraphicFramePr>
                  <a:graphicFrameLocks/>
                </p:cNvGraphicFramePr>
                <p:nvPr>
                  <p:extLst>
                    <p:ext uri="{D42A27DB-BD31-4B8C-83A1-F6EECF244321}">
                      <p14:modId xmlns:p14="http://schemas.microsoft.com/office/powerpoint/2010/main" val="4284218161"/>
                    </p:ext>
                  </p:extLst>
                </p:nvPr>
              </p:nvGraphicFramePr>
              <p:xfrm>
                <a:off x="1296713" y="2651124"/>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Choice>
          <mc:Fallback xmlns="">
            <p:graphicFrame>
              <p:nvGraphicFramePr>
                <p:cNvPr id="9" name="Tabela 4">
                  <a:extLst>
                    <a:ext uri="{FF2B5EF4-FFF2-40B4-BE49-F238E27FC236}">
                      <a16:creationId xmlns:a16="http://schemas.microsoft.com/office/drawing/2014/main" id="{6DF99C71-2B0B-7A28-D9B1-5E28C2C23069}"/>
                    </a:ext>
                  </a:extLst>
                </p:cNvPr>
                <p:cNvGraphicFramePr>
                  <a:graphicFrameLocks/>
                </p:cNvGraphicFramePr>
                <p:nvPr>
                  <p:extLst>
                    <p:ext uri="{D42A27DB-BD31-4B8C-83A1-F6EECF244321}">
                      <p14:modId xmlns:p14="http://schemas.microsoft.com/office/powerpoint/2010/main" val="4284218161"/>
                    </p:ext>
                  </p:extLst>
                </p:nvPr>
              </p:nvGraphicFramePr>
              <p:xfrm>
                <a:off x="1296713" y="2651124"/>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p:sp>
          <p:nvSpPr>
            <p:cNvPr id="10" name="CaixaDeTexto 9">
              <a:extLst>
                <a:ext uri="{FF2B5EF4-FFF2-40B4-BE49-F238E27FC236}">
                  <a16:creationId xmlns:a16="http://schemas.microsoft.com/office/drawing/2014/main" id="{AE00C155-A3E4-2792-E47C-5F2929E60BCC}"/>
                </a:ext>
              </a:extLst>
            </p:cNvPr>
            <p:cNvSpPr txBox="1"/>
            <p:nvPr/>
          </p:nvSpPr>
          <p:spPr>
            <a:xfrm>
              <a:off x="1296714" y="4527949"/>
              <a:ext cx="1657352"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11" name="Tabela 4">
                  <a:extLst>
                    <a:ext uri="{FF2B5EF4-FFF2-40B4-BE49-F238E27FC236}">
                      <a16:creationId xmlns:a16="http://schemas.microsoft.com/office/drawing/2014/main" id="{6498B05F-4A0B-BE8C-9AEE-1F43D0F4F446}"/>
                    </a:ext>
                  </a:extLst>
                </p:cNvPr>
                <p:cNvGraphicFramePr>
                  <a:graphicFrameLocks/>
                </p:cNvGraphicFramePr>
                <p:nvPr>
                  <p:extLst>
                    <p:ext uri="{D42A27DB-BD31-4B8C-83A1-F6EECF244321}">
                      <p14:modId xmlns:p14="http://schemas.microsoft.com/office/powerpoint/2010/main" val="896458233"/>
                    </p:ext>
                  </p:extLst>
                </p:nvPr>
              </p:nvGraphicFramePr>
              <p:xfrm>
                <a:off x="1296713" y="4895615"/>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Choice>
          <mc:Fallback xmlns="">
            <p:graphicFrame>
              <p:nvGraphicFramePr>
                <p:cNvPr id="11" name="Tabela 4">
                  <a:extLst>
                    <a:ext uri="{FF2B5EF4-FFF2-40B4-BE49-F238E27FC236}">
                      <a16:creationId xmlns:a16="http://schemas.microsoft.com/office/drawing/2014/main" id="{6498B05F-4A0B-BE8C-9AEE-1F43D0F4F446}"/>
                    </a:ext>
                  </a:extLst>
                </p:cNvPr>
                <p:cNvGraphicFramePr>
                  <a:graphicFrameLocks/>
                </p:cNvGraphicFramePr>
                <p:nvPr>
                  <p:extLst>
                    <p:ext uri="{D42A27DB-BD31-4B8C-83A1-F6EECF244321}">
                      <p14:modId xmlns:p14="http://schemas.microsoft.com/office/powerpoint/2010/main" val="896458233"/>
                    </p:ext>
                  </p:extLst>
                </p:nvPr>
              </p:nvGraphicFramePr>
              <p:xfrm>
                <a:off x="1296713" y="4895615"/>
                <a:ext cx="1657352" cy="148336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gridCol w="414338">
                        <a:extLst>
                          <a:ext uri="{9D8B030D-6E8A-4147-A177-3AD203B41FA5}">
                            <a16:colId xmlns:a16="http://schemas.microsoft.com/office/drawing/2014/main" val="2403868722"/>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70446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ela 11">
                  <a:extLst>
                    <a:ext uri="{FF2B5EF4-FFF2-40B4-BE49-F238E27FC236}">
                      <a16:creationId xmlns:a16="http://schemas.microsoft.com/office/drawing/2014/main" id="{CD001AA0-1745-4C53-D7BF-262224FE3939}"/>
                    </a:ext>
                  </a:extLst>
                </p:cNvPr>
                <p:cNvGraphicFramePr>
                  <a:graphicFrameLocks/>
                </p:cNvGraphicFramePr>
                <p:nvPr>
                  <p:extLst>
                    <p:ext uri="{D42A27DB-BD31-4B8C-83A1-F6EECF244321}">
                      <p14:modId xmlns:p14="http://schemas.microsoft.com/office/powerpoint/2010/main" val="3009131330"/>
                    </p:ext>
                  </p:extLst>
                </p:nvPr>
              </p:nvGraphicFramePr>
              <p:xfrm>
                <a:off x="3564541" y="303540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12" name="Tabela 11">
                  <a:extLst>
                    <a:ext uri="{FF2B5EF4-FFF2-40B4-BE49-F238E27FC236}">
                      <a16:creationId xmlns:a16="http://schemas.microsoft.com/office/drawing/2014/main" id="{CD001AA0-1745-4C53-D7BF-262224FE3939}"/>
                    </a:ext>
                  </a:extLst>
                </p:cNvPr>
                <p:cNvGraphicFramePr>
                  <a:graphicFrameLocks/>
                </p:cNvGraphicFramePr>
                <p:nvPr>
                  <p:extLst>
                    <p:ext uri="{D42A27DB-BD31-4B8C-83A1-F6EECF244321}">
                      <p14:modId xmlns:p14="http://schemas.microsoft.com/office/powerpoint/2010/main" val="3009131330"/>
                    </p:ext>
                  </p:extLst>
                </p:nvPr>
              </p:nvGraphicFramePr>
              <p:xfrm>
                <a:off x="3564541" y="3035409"/>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3" name="CaixaDeTexto 12">
                  <a:extLst>
                    <a:ext uri="{FF2B5EF4-FFF2-40B4-BE49-F238E27FC236}">
                      <a16:creationId xmlns:a16="http://schemas.microsoft.com/office/drawing/2014/main" id="{98DC7BD1-F6EF-AF80-1AB1-73D6EA8B91A8}"/>
                    </a:ext>
                  </a:extLst>
                </p:cNvPr>
                <p:cNvSpPr txBox="1"/>
                <p:nvPr/>
              </p:nvSpPr>
              <p:spPr>
                <a:xfrm>
                  <a:off x="2962385" y="3146908"/>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3" name="CaixaDeTexto 12">
                  <a:extLst>
                    <a:ext uri="{FF2B5EF4-FFF2-40B4-BE49-F238E27FC236}">
                      <a16:creationId xmlns:a16="http://schemas.microsoft.com/office/drawing/2014/main" id="{98DC7BD1-F6EF-AF80-1AB1-73D6EA8B91A8}"/>
                    </a:ext>
                  </a:extLst>
                </p:cNvPr>
                <p:cNvSpPr txBox="1">
                  <a:spLocks noRot="1" noChangeAspect="1" noMove="1" noResize="1" noEditPoints="1" noAdjustHandles="1" noChangeArrowheads="1" noChangeShapeType="1" noTextEdit="1"/>
                </p:cNvSpPr>
                <p:nvPr/>
              </p:nvSpPr>
              <p:spPr>
                <a:xfrm>
                  <a:off x="2962385" y="3146908"/>
                  <a:ext cx="578069" cy="461665"/>
                </a:xfrm>
                <a:prstGeom prst="rect">
                  <a:avLst/>
                </a:prstGeom>
                <a:blipFill>
                  <a:blip r:embed="rId3"/>
                  <a:stretch>
                    <a:fillRect b="-9211"/>
                  </a:stretch>
                </a:blipFill>
              </p:spPr>
              <p:txBody>
                <a:bodyPr/>
                <a:lstStyle/>
                <a:p>
                  <a:r>
                    <a:rPr lang="pt-BR">
                      <a:noFill/>
                    </a:rPr>
                    <a:t> </a:t>
                  </a:r>
                </a:p>
              </p:txBody>
            </p:sp>
          </mc:Fallback>
        </mc:AlternateContent>
        <p:sp>
          <p:nvSpPr>
            <p:cNvPr id="14" name="CaixaDeTexto 13">
              <a:extLst>
                <a:ext uri="{FF2B5EF4-FFF2-40B4-BE49-F238E27FC236}">
                  <a16:creationId xmlns:a16="http://schemas.microsoft.com/office/drawing/2014/main" id="{1BD8FF47-23D0-F9E2-6127-EFCC96747C8E}"/>
                </a:ext>
              </a:extLst>
            </p:cNvPr>
            <p:cNvSpPr txBox="1"/>
            <p:nvPr/>
          </p:nvSpPr>
          <p:spPr>
            <a:xfrm>
              <a:off x="3576364" y="2650418"/>
              <a:ext cx="858783"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graphicFrame>
              <p:nvGraphicFramePr>
                <p:cNvPr id="15" name="Tabela 14">
                  <a:extLst>
                    <a:ext uri="{FF2B5EF4-FFF2-40B4-BE49-F238E27FC236}">
                      <a16:creationId xmlns:a16="http://schemas.microsoft.com/office/drawing/2014/main" id="{5D949D9E-F8BE-00AB-C505-24E0215F8F39}"/>
                    </a:ext>
                  </a:extLst>
                </p:cNvPr>
                <p:cNvGraphicFramePr>
                  <a:graphicFrameLocks/>
                </p:cNvGraphicFramePr>
                <p:nvPr>
                  <p:extLst>
                    <p:ext uri="{D42A27DB-BD31-4B8C-83A1-F6EECF244321}">
                      <p14:modId xmlns:p14="http://schemas.microsoft.com/office/powerpoint/2010/main" val="539605555"/>
                    </p:ext>
                  </p:extLst>
                </p:nvPr>
              </p:nvGraphicFramePr>
              <p:xfrm>
                <a:off x="3564541" y="528067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15" name="Tabela 14">
                  <a:extLst>
                    <a:ext uri="{FF2B5EF4-FFF2-40B4-BE49-F238E27FC236}">
                      <a16:creationId xmlns:a16="http://schemas.microsoft.com/office/drawing/2014/main" id="{5D949D9E-F8BE-00AB-C505-24E0215F8F39}"/>
                    </a:ext>
                  </a:extLst>
                </p:cNvPr>
                <p:cNvGraphicFramePr>
                  <a:graphicFrameLocks/>
                </p:cNvGraphicFramePr>
                <p:nvPr>
                  <p:extLst>
                    <p:ext uri="{D42A27DB-BD31-4B8C-83A1-F6EECF244321}">
                      <p14:modId xmlns:p14="http://schemas.microsoft.com/office/powerpoint/2010/main" val="539605555"/>
                    </p:ext>
                  </p:extLst>
                </p:nvPr>
              </p:nvGraphicFramePr>
              <p:xfrm>
                <a:off x="3564541" y="528067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2AA7FAF1-BAD7-577C-EB24-FC0671D271D4}"/>
                    </a:ext>
                  </a:extLst>
                </p:cNvPr>
                <p:cNvSpPr txBox="1"/>
                <p:nvPr/>
              </p:nvSpPr>
              <p:spPr>
                <a:xfrm>
                  <a:off x="2962385" y="5392177"/>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16" name="CaixaDeTexto 15">
                  <a:extLst>
                    <a:ext uri="{FF2B5EF4-FFF2-40B4-BE49-F238E27FC236}">
                      <a16:creationId xmlns:a16="http://schemas.microsoft.com/office/drawing/2014/main" id="{2AA7FAF1-BAD7-577C-EB24-FC0671D271D4}"/>
                    </a:ext>
                  </a:extLst>
                </p:cNvPr>
                <p:cNvSpPr txBox="1">
                  <a:spLocks noRot="1" noChangeAspect="1" noMove="1" noResize="1" noEditPoints="1" noAdjustHandles="1" noChangeArrowheads="1" noChangeShapeType="1" noTextEdit="1"/>
                </p:cNvSpPr>
                <p:nvPr/>
              </p:nvSpPr>
              <p:spPr>
                <a:xfrm>
                  <a:off x="2962385" y="5392177"/>
                  <a:ext cx="578069" cy="461665"/>
                </a:xfrm>
                <a:prstGeom prst="rect">
                  <a:avLst/>
                </a:prstGeom>
                <a:blipFill>
                  <a:blip r:embed="rId4"/>
                  <a:stretch>
                    <a:fillRect b="-10667"/>
                  </a:stretch>
                </a:blipFill>
              </p:spPr>
              <p:txBody>
                <a:bodyPr/>
                <a:lstStyle/>
                <a:p>
                  <a:r>
                    <a:rPr lang="pt-BR">
                      <a:noFill/>
                    </a:rPr>
                    <a:t> </a:t>
                  </a:r>
                </a:p>
              </p:txBody>
            </p:sp>
          </mc:Fallback>
        </mc:AlternateContent>
        <p:sp>
          <p:nvSpPr>
            <p:cNvPr id="17" name="CaixaDeTexto 16">
              <a:extLst>
                <a:ext uri="{FF2B5EF4-FFF2-40B4-BE49-F238E27FC236}">
                  <a16:creationId xmlns:a16="http://schemas.microsoft.com/office/drawing/2014/main" id="{3E5D60CE-5411-4079-DB44-A87268EBBC49}"/>
                </a:ext>
              </a:extLst>
            </p:cNvPr>
            <p:cNvSpPr txBox="1"/>
            <p:nvPr/>
          </p:nvSpPr>
          <p:spPr>
            <a:xfrm>
              <a:off x="3576364" y="4895687"/>
              <a:ext cx="858783" cy="369332"/>
            </a:xfrm>
            <a:prstGeom prst="rect">
              <a:avLst/>
            </a:prstGeom>
            <a:noFill/>
          </p:spPr>
          <p:txBody>
            <a:bodyPr wrap="square" rtlCol="0">
              <a:spAutoFit/>
            </a:bodyPr>
            <a:lstStyle/>
            <a:p>
              <a:pPr algn="ctr"/>
              <a:r>
                <a:rPr lang="pt-BR" dirty="0"/>
                <a:t>Kernel</a:t>
              </a:r>
            </a:p>
          </p:txBody>
        </p:sp>
        <p:sp>
          <p:nvSpPr>
            <p:cNvPr id="18" name="CaixaDeTexto 17">
              <a:extLst>
                <a:ext uri="{FF2B5EF4-FFF2-40B4-BE49-F238E27FC236}">
                  <a16:creationId xmlns:a16="http://schemas.microsoft.com/office/drawing/2014/main" id="{222B8B47-A17C-A100-60A3-3A41326FDBFE}"/>
                </a:ext>
              </a:extLst>
            </p:cNvPr>
            <p:cNvSpPr txBox="1"/>
            <p:nvPr/>
          </p:nvSpPr>
          <p:spPr>
            <a:xfrm>
              <a:off x="1296713" y="2281792"/>
              <a:ext cx="1657352"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C939B888-B31C-7C03-C007-B8A7B62631D8}"/>
                    </a:ext>
                  </a:extLst>
                </p:cNvPr>
                <p:cNvSpPr txBox="1"/>
                <p:nvPr/>
              </p:nvSpPr>
              <p:spPr>
                <a:xfrm>
                  <a:off x="4419382" y="902325"/>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419382" y="902325"/>
                  <a:ext cx="578069"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2817244650"/>
                    </p:ext>
                  </p:extLst>
                </p:nvPr>
              </p:nvGraphicFramePr>
              <p:xfrm>
                <a:off x="5045624" y="85238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2817244650"/>
                    </p:ext>
                  </p:extLst>
                </p:nvPr>
              </p:nvGraphicFramePr>
              <p:xfrm>
                <a:off x="5045624" y="85238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id="{5D29E7EF-21DC-CA63-209C-4A573A902511}"/>
                </a:ext>
              </a:extLst>
            </p:cNvPr>
            <p:cNvSpPr txBox="1"/>
            <p:nvPr/>
          </p:nvSpPr>
          <p:spPr>
            <a:xfrm>
              <a:off x="5045623" y="467390"/>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sp>
              <p:nvSpPr>
                <p:cNvPr id="22" name="CaixaDeTexto 21">
                  <a:extLst>
                    <a:ext uri="{FF2B5EF4-FFF2-40B4-BE49-F238E27FC236}">
                      <a16:creationId xmlns:a16="http://schemas.microsoft.com/office/drawing/2014/main" id="{A0F14A40-A001-5B2A-3C53-11A2954A6F2D}"/>
                    </a:ext>
                  </a:extLst>
                </p:cNvPr>
                <p:cNvSpPr txBox="1"/>
                <p:nvPr/>
              </p:nvSpPr>
              <p:spPr>
                <a:xfrm>
                  <a:off x="4419381" y="3115062"/>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22" name="CaixaDeTexto 21">
                  <a:extLst>
                    <a:ext uri="{FF2B5EF4-FFF2-40B4-BE49-F238E27FC236}">
                      <a16:creationId xmlns:a16="http://schemas.microsoft.com/office/drawing/2014/main" id="{A0F14A40-A001-5B2A-3C53-11A2954A6F2D}"/>
                    </a:ext>
                  </a:extLst>
                </p:cNvPr>
                <p:cNvSpPr txBox="1">
                  <a:spLocks noRot="1" noChangeAspect="1" noMove="1" noResize="1" noEditPoints="1" noAdjustHandles="1" noChangeArrowheads="1" noChangeShapeType="1" noTextEdit="1"/>
                </p:cNvSpPr>
                <p:nvPr/>
              </p:nvSpPr>
              <p:spPr>
                <a:xfrm>
                  <a:off x="4419381" y="3115062"/>
                  <a:ext cx="578069" cy="523220"/>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3" name="Tabela 4">
                  <a:extLst>
                    <a:ext uri="{FF2B5EF4-FFF2-40B4-BE49-F238E27FC236}">
                      <a16:creationId xmlns:a16="http://schemas.microsoft.com/office/drawing/2014/main" id="{3DD5A588-7FB3-CF7D-BD89-877C69008564}"/>
                    </a:ext>
                  </a:extLst>
                </p:cNvPr>
                <p:cNvGraphicFramePr>
                  <a:graphicFrameLocks/>
                </p:cNvGraphicFramePr>
                <p:nvPr>
                  <p:extLst>
                    <p:ext uri="{D42A27DB-BD31-4B8C-83A1-F6EECF244321}">
                      <p14:modId xmlns:p14="http://schemas.microsoft.com/office/powerpoint/2010/main" val="1435460298"/>
                    </p:ext>
                  </p:extLst>
                </p:nvPr>
              </p:nvGraphicFramePr>
              <p:xfrm>
                <a:off x="5045623" y="306511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23" name="Tabela 4">
                  <a:extLst>
                    <a:ext uri="{FF2B5EF4-FFF2-40B4-BE49-F238E27FC236}">
                      <a16:creationId xmlns:a16="http://schemas.microsoft.com/office/drawing/2014/main" id="{3DD5A588-7FB3-CF7D-BD89-877C69008564}"/>
                    </a:ext>
                  </a:extLst>
                </p:cNvPr>
                <p:cNvGraphicFramePr>
                  <a:graphicFrameLocks/>
                </p:cNvGraphicFramePr>
                <p:nvPr>
                  <p:extLst>
                    <p:ext uri="{D42A27DB-BD31-4B8C-83A1-F6EECF244321}">
                      <p14:modId xmlns:p14="http://schemas.microsoft.com/office/powerpoint/2010/main" val="1435460298"/>
                    </p:ext>
                  </p:extLst>
                </p:nvPr>
              </p:nvGraphicFramePr>
              <p:xfrm>
                <a:off x="5045623" y="3065118"/>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4" name="CaixaDeTexto 23">
              <a:extLst>
                <a:ext uri="{FF2B5EF4-FFF2-40B4-BE49-F238E27FC236}">
                  <a16:creationId xmlns:a16="http://schemas.microsoft.com/office/drawing/2014/main" id="{4C880960-A047-F50E-D355-8A2786955E8B}"/>
                </a:ext>
              </a:extLst>
            </p:cNvPr>
            <p:cNvSpPr txBox="1"/>
            <p:nvPr/>
          </p:nvSpPr>
          <p:spPr>
            <a:xfrm>
              <a:off x="5045622" y="2680127"/>
              <a:ext cx="870606" cy="369332"/>
            </a:xfrm>
            <a:prstGeom prst="rect">
              <a:avLst/>
            </a:prstGeom>
            <a:noFill/>
          </p:spPr>
          <p:txBody>
            <a:bodyPr wrap="square" rtlCol="0">
              <a:spAutoFit/>
            </a:bodyPr>
            <a:lstStyle/>
            <a:p>
              <a:pPr algn="ctr"/>
              <a:r>
                <a:rPr lang="pt-BR" dirty="0"/>
                <a:t>Output</a:t>
              </a:r>
            </a:p>
          </p:txBody>
        </p:sp>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3C7D3423-06C3-901D-A9E0-00C2F55C6C70}"/>
                    </a:ext>
                  </a:extLst>
                </p:cNvPr>
                <p:cNvSpPr txBox="1"/>
                <p:nvPr/>
              </p:nvSpPr>
              <p:spPr>
                <a:xfrm>
                  <a:off x="4419380" y="5356261"/>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25" name="CaixaDeTexto 24">
                  <a:extLst>
                    <a:ext uri="{FF2B5EF4-FFF2-40B4-BE49-F238E27FC236}">
                      <a16:creationId xmlns:a16="http://schemas.microsoft.com/office/drawing/2014/main" id="{3C7D3423-06C3-901D-A9E0-00C2F55C6C70}"/>
                    </a:ext>
                  </a:extLst>
                </p:cNvPr>
                <p:cNvSpPr txBox="1">
                  <a:spLocks noRot="1" noChangeAspect="1" noMove="1" noResize="1" noEditPoints="1" noAdjustHandles="1" noChangeArrowheads="1" noChangeShapeType="1" noTextEdit="1"/>
                </p:cNvSpPr>
                <p:nvPr/>
              </p:nvSpPr>
              <p:spPr>
                <a:xfrm>
                  <a:off x="4419380" y="5356261"/>
                  <a:ext cx="578069" cy="52322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6" name="Tabela 4">
                  <a:extLst>
                    <a:ext uri="{FF2B5EF4-FFF2-40B4-BE49-F238E27FC236}">
                      <a16:creationId xmlns:a16="http://schemas.microsoft.com/office/drawing/2014/main" id="{151DFBB2-EF9C-90CA-2CC0-A48170E71137}"/>
                    </a:ext>
                  </a:extLst>
                </p:cNvPr>
                <p:cNvGraphicFramePr>
                  <a:graphicFrameLocks/>
                </p:cNvGraphicFramePr>
                <p:nvPr>
                  <p:extLst>
                    <p:ext uri="{D42A27DB-BD31-4B8C-83A1-F6EECF244321}">
                      <p14:modId xmlns:p14="http://schemas.microsoft.com/office/powerpoint/2010/main" val="3142053723"/>
                    </p:ext>
                  </p:extLst>
                </p:nvPr>
              </p:nvGraphicFramePr>
              <p:xfrm>
                <a:off x="5045622" y="530631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26" name="Tabela 4">
                  <a:extLst>
                    <a:ext uri="{FF2B5EF4-FFF2-40B4-BE49-F238E27FC236}">
                      <a16:creationId xmlns:a16="http://schemas.microsoft.com/office/drawing/2014/main" id="{151DFBB2-EF9C-90CA-2CC0-A48170E71137}"/>
                    </a:ext>
                  </a:extLst>
                </p:cNvPr>
                <p:cNvGraphicFramePr>
                  <a:graphicFrameLocks/>
                </p:cNvGraphicFramePr>
                <p:nvPr>
                  <p:extLst>
                    <p:ext uri="{D42A27DB-BD31-4B8C-83A1-F6EECF244321}">
                      <p14:modId xmlns:p14="http://schemas.microsoft.com/office/powerpoint/2010/main" val="3142053723"/>
                    </p:ext>
                  </p:extLst>
                </p:nvPr>
              </p:nvGraphicFramePr>
              <p:xfrm>
                <a:off x="5045622" y="5306317"/>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7" name="CaixaDeTexto 26">
              <a:extLst>
                <a:ext uri="{FF2B5EF4-FFF2-40B4-BE49-F238E27FC236}">
                  <a16:creationId xmlns:a16="http://schemas.microsoft.com/office/drawing/2014/main" id="{FD243296-8FA3-2FF3-C7E0-09DD055D6E57}"/>
                </a:ext>
              </a:extLst>
            </p:cNvPr>
            <p:cNvSpPr txBox="1"/>
            <p:nvPr/>
          </p:nvSpPr>
          <p:spPr>
            <a:xfrm>
              <a:off x="5045621" y="4921326"/>
              <a:ext cx="870606" cy="369332"/>
            </a:xfrm>
            <a:prstGeom prst="rect">
              <a:avLst/>
            </a:prstGeom>
            <a:noFill/>
          </p:spPr>
          <p:txBody>
            <a:bodyPr wrap="square" rtlCol="0">
              <a:spAutoFit/>
            </a:bodyPr>
            <a:lstStyle/>
            <a:p>
              <a:pPr algn="ctr"/>
              <a:r>
                <a:rPr lang="pt-BR" dirty="0"/>
                <a:t>Output</a:t>
              </a:r>
            </a:p>
          </p:txBody>
        </p:sp>
        <p:sp>
          <p:nvSpPr>
            <p:cNvPr id="28" name="Seta: para a Direita 27">
              <a:extLst>
                <a:ext uri="{FF2B5EF4-FFF2-40B4-BE49-F238E27FC236}">
                  <a16:creationId xmlns:a16="http://schemas.microsoft.com/office/drawing/2014/main" id="{2B5E4F88-7C95-E8B9-4506-61ECCE8FE71C}"/>
                </a:ext>
              </a:extLst>
            </p:cNvPr>
            <p:cNvSpPr/>
            <p:nvPr/>
          </p:nvSpPr>
          <p:spPr>
            <a:xfrm rot="5400000">
              <a:off x="3642453" y="2041842"/>
              <a:ext cx="305455" cy="408291"/>
            </a:xfrm>
            <a:prstGeom prst="righ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29" name="Seta: para a Direita 28">
              <a:extLst>
                <a:ext uri="{FF2B5EF4-FFF2-40B4-BE49-F238E27FC236}">
                  <a16:creationId xmlns:a16="http://schemas.microsoft.com/office/drawing/2014/main" id="{E8349426-7287-7D6C-3BE4-34C67AF1CBD6}"/>
                </a:ext>
              </a:extLst>
            </p:cNvPr>
            <p:cNvSpPr/>
            <p:nvPr/>
          </p:nvSpPr>
          <p:spPr>
            <a:xfrm rot="5400000">
              <a:off x="3648882" y="4235466"/>
              <a:ext cx="305455" cy="408291"/>
            </a:xfrm>
            <a:prstGeom prst="rightArrow">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40176229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Agrupar 53">
            <a:extLst>
              <a:ext uri="{FF2B5EF4-FFF2-40B4-BE49-F238E27FC236}">
                <a16:creationId xmlns:a16="http://schemas.microsoft.com/office/drawing/2014/main" id="{B852FB9C-6431-A8BA-1EEB-AD6AC2EE1D7F}"/>
              </a:ext>
            </a:extLst>
          </p:cNvPr>
          <p:cNvGrpSpPr/>
          <p:nvPr/>
        </p:nvGrpSpPr>
        <p:grpSpPr>
          <a:xfrm>
            <a:off x="990729" y="1681050"/>
            <a:ext cx="7978978" cy="4250552"/>
            <a:chOff x="990729" y="1681050"/>
            <a:chExt cx="7978978" cy="4250552"/>
          </a:xfrm>
        </p:grpSpPr>
        <p:grpSp>
          <p:nvGrpSpPr>
            <p:cNvPr id="53" name="Agrupar 52">
              <a:extLst>
                <a:ext uri="{FF2B5EF4-FFF2-40B4-BE49-F238E27FC236}">
                  <a16:creationId xmlns:a16="http://schemas.microsoft.com/office/drawing/2014/main" id="{ABCDAC50-1159-41CA-5DAC-B1BF550E4078}"/>
                </a:ext>
              </a:extLst>
            </p:cNvPr>
            <p:cNvGrpSpPr/>
            <p:nvPr/>
          </p:nvGrpSpPr>
          <p:grpSpPr>
            <a:xfrm>
              <a:off x="991915" y="1681050"/>
              <a:ext cx="7961097" cy="4250552"/>
              <a:chOff x="991915" y="1681050"/>
              <a:chExt cx="7961097"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97833593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97833593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482886799"/>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482886799"/>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460367381"/>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460367381"/>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874099308"/>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874099308"/>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85696978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85696978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2613255268"/>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2613255268"/>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3977964058"/>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3977964058"/>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981471261"/>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981471261"/>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3934252241"/>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3934252241"/>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3326379338"/>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3326379338"/>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769381372"/>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769381372"/>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576135963"/>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576135963"/>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3301185566"/>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3301185566"/>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gr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E502B310-A508-B8BB-5FE9-081AA6343B71}"/>
                    </a:ext>
                  </a:extLst>
                </p:cNvPr>
                <p:cNvSpPr txBox="1"/>
                <p:nvPr/>
              </p:nvSpPr>
              <p:spPr>
                <a:xfrm>
                  <a:off x="8099101"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099101"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33103281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Agrupar 8">
            <a:extLst>
              <a:ext uri="{FF2B5EF4-FFF2-40B4-BE49-F238E27FC236}">
                <a16:creationId xmlns:a16="http://schemas.microsoft.com/office/drawing/2014/main" id="{CF2BC960-C732-DE9A-4C42-83C203EE1EE1}"/>
              </a:ext>
            </a:extLst>
          </p:cNvPr>
          <p:cNvGrpSpPr/>
          <p:nvPr/>
        </p:nvGrpSpPr>
        <p:grpSpPr>
          <a:xfrm>
            <a:off x="990729" y="1681050"/>
            <a:ext cx="7978978" cy="4250552"/>
            <a:chOff x="990729" y="1681050"/>
            <a:chExt cx="7978978"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80545566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805455660"/>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4136631534"/>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4136631534"/>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1140630855"/>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1140630855"/>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4044064367"/>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4044064367"/>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209333597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209333597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163184752"/>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163184752"/>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3568571525"/>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3568571525"/>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24187240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24187240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3382237516"/>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3382237516"/>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2584591626"/>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2584591626"/>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240823566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240823566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2997975939"/>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2997975939"/>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3201600385"/>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3201600385"/>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E502B310-A508-B8BB-5FE9-081AA6343B71}"/>
                    </a:ext>
                  </a:extLst>
                </p:cNvPr>
                <p:cNvSpPr txBox="1"/>
                <p:nvPr/>
              </p:nvSpPr>
              <p:spPr>
                <a:xfrm>
                  <a:off x="8099101"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099101"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8970166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Agrupar 9">
            <a:extLst>
              <a:ext uri="{FF2B5EF4-FFF2-40B4-BE49-F238E27FC236}">
                <a16:creationId xmlns:a16="http://schemas.microsoft.com/office/drawing/2014/main" id="{2CB9575F-57C6-8038-26C6-0AFED3A1B57F}"/>
              </a:ext>
            </a:extLst>
          </p:cNvPr>
          <p:cNvGrpSpPr/>
          <p:nvPr/>
        </p:nvGrpSpPr>
        <p:grpSpPr>
          <a:xfrm>
            <a:off x="990729" y="1681050"/>
            <a:ext cx="7978978" cy="4250552"/>
            <a:chOff x="990729" y="1681050"/>
            <a:chExt cx="7978978"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1313034814"/>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1313034814"/>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1300052530"/>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1300052530"/>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3241290506"/>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3241290506"/>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3940279896"/>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3940279896"/>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60328828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603288288"/>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724797774"/>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724797774"/>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2215063193"/>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2215063193"/>
                    </p:ext>
                  </p:extLst>
                </p:nvPr>
              </p:nvGraphicFramePr>
              <p:xfrm>
                <a:off x="8082406" y="3678470"/>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endParaRPr lang="pt-BR"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2278147743"/>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2278147743"/>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1568658690"/>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1568658690"/>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3060610719"/>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3060610719"/>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1615579303"/>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1615579303"/>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1291485641"/>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1291485641"/>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26864083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26864083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E502B310-A508-B8BB-5FE9-081AA6343B71}"/>
                    </a:ext>
                  </a:extLst>
                </p:cNvPr>
                <p:cNvSpPr txBox="1"/>
                <p:nvPr/>
              </p:nvSpPr>
              <p:spPr>
                <a:xfrm>
                  <a:off x="8099101"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099101"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2691523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Agrupar 8">
            <a:extLst>
              <a:ext uri="{FF2B5EF4-FFF2-40B4-BE49-F238E27FC236}">
                <a16:creationId xmlns:a16="http://schemas.microsoft.com/office/drawing/2014/main" id="{1D71BDE5-600D-5EB4-6E57-2C26BB4FD8E5}"/>
              </a:ext>
            </a:extLst>
          </p:cNvPr>
          <p:cNvGrpSpPr/>
          <p:nvPr/>
        </p:nvGrpSpPr>
        <p:grpSpPr>
          <a:xfrm>
            <a:off x="990729" y="1681050"/>
            <a:ext cx="8212520" cy="4250552"/>
            <a:chOff x="990729" y="1681050"/>
            <a:chExt cx="8212520" cy="4250552"/>
          </a:xfrm>
        </p:grpSpPr>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4113124509"/>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4113124509"/>
                    </p:ext>
                  </p:extLst>
                </p:nvPr>
              </p:nvGraphicFramePr>
              <p:xfrm>
                <a:off x="3518729" y="343316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3383989985"/>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3383989985"/>
                    </p:ext>
                  </p:extLst>
                </p:nvPr>
              </p:nvGraphicFramePr>
              <p:xfrm>
                <a:off x="3332034" y="3616661"/>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3136936553"/>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3136936553"/>
                    </p:ext>
                  </p:extLst>
                </p:nvPr>
              </p:nvGraphicFramePr>
              <p:xfrm>
                <a:off x="1370287" y="331008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2462528071"/>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2462528071"/>
                    </p:ext>
                  </p:extLst>
                </p:nvPr>
              </p:nvGraphicFramePr>
              <p:xfrm>
                <a:off x="1181101" y="348797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id="{C10D9D7E-21EA-C2D8-5761-4F6786036D00}"/>
                </a:ext>
              </a:extLst>
            </p:cNvPr>
            <p:cNvSpPr txBox="1"/>
            <p:nvPr/>
          </p:nvSpPr>
          <p:spPr>
            <a:xfrm>
              <a:off x="991916" y="1685990"/>
              <a:ext cx="1601134"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28994469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3289944691"/>
                    </p:ext>
                  </p:extLst>
                </p:nvPr>
              </p:nvGraphicFramePr>
              <p:xfrm>
                <a:off x="991915" y="3665856"/>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920481600"/>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1920481600"/>
                    </p:ext>
                  </p:extLst>
                </p:nvPr>
              </p:nvGraphicFramePr>
              <p:xfrm>
                <a:off x="3180866" y="37712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F95B3DA-B65D-197D-DA2B-E33A2B91AF70}"/>
                    </a:ext>
                  </a:extLst>
                </p:cNvPr>
                <p:cNvSpPr txBox="1"/>
                <p:nvPr/>
              </p:nvSpPr>
              <p:spPr>
                <a:xfrm>
                  <a:off x="2593049" y="3760451"/>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2593049" y="3760451"/>
                  <a:ext cx="578069" cy="461665"/>
                </a:xfrm>
                <a:prstGeom prst="rect">
                  <a:avLst/>
                </a:prstGeom>
                <a:blipFill>
                  <a:blip r:embed="rId2"/>
                  <a:stretch>
                    <a:fillRect b="-9211"/>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A352DED4-AC8A-2504-0A48-2A08B9F1ECAA}"/>
                </a:ext>
              </a:extLst>
            </p:cNvPr>
            <p:cNvSpPr txBox="1"/>
            <p:nvPr/>
          </p:nvSpPr>
          <p:spPr>
            <a:xfrm>
              <a:off x="3180866" y="1685990"/>
              <a:ext cx="1196647" cy="369332"/>
            </a:xfrm>
            <a:prstGeom prst="rect">
              <a:avLst/>
            </a:prstGeom>
            <a:noFill/>
          </p:spPr>
          <p:txBody>
            <a:bodyPr wrap="square" rtlCol="0">
              <a:spAutoFit/>
            </a:bodyPr>
            <a:lstStyle/>
            <a:p>
              <a:pPr algn="ctr"/>
              <a:r>
                <a:rPr lang="pt-BR" dirty="0"/>
                <a:t>Kernel</a:t>
              </a:r>
            </a:p>
          </p:txBody>
        </p: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C939B888-B31C-7C03-C007-B8A7B62631D8}"/>
                    </a:ext>
                  </a:extLst>
                </p:cNvPr>
                <p:cNvSpPr txBox="1"/>
                <p:nvPr/>
              </p:nvSpPr>
              <p:spPr>
                <a:xfrm>
                  <a:off x="4342253" y="3729631"/>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19" name="CaixaDeTexto 18">
                  <a:extLst>
                    <a:ext uri="{FF2B5EF4-FFF2-40B4-BE49-F238E27FC236}">
                      <a16:creationId xmlns:a16="http://schemas.microsoft.com/office/drawing/2014/main" id="{C939B888-B31C-7C03-C007-B8A7B62631D8}"/>
                    </a:ext>
                  </a:extLst>
                </p:cNvPr>
                <p:cNvSpPr txBox="1">
                  <a:spLocks noRot="1" noChangeAspect="1" noMove="1" noResize="1" noEditPoints="1" noAdjustHandles="1" noChangeArrowheads="1" noChangeShapeType="1" noTextEdit="1"/>
                </p:cNvSpPr>
                <p:nvPr/>
              </p:nvSpPr>
              <p:spPr>
                <a:xfrm>
                  <a:off x="4342253" y="3729631"/>
                  <a:ext cx="578069" cy="523220"/>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711511094"/>
                    </p:ext>
                  </p:extLst>
                </p:nvPr>
              </p:nvGraphicFramePr>
              <p:xfrm>
                <a:off x="8082405" y="3616661"/>
                <a:ext cx="1120844" cy="803490"/>
              </p:xfrm>
              <a:graphic>
                <a:graphicData uri="http://schemas.openxmlformats.org/drawingml/2006/table">
                  <a:tbl>
                    <a:tblPr firstRow="1" bandRow="1">
                      <a:tableStyleId>{5C22544A-7EE6-4342-B048-85BDC9FD1C3A}</a:tableStyleId>
                    </a:tblPr>
                    <a:tblGrid>
                      <a:gridCol w="560422">
                        <a:extLst>
                          <a:ext uri="{9D8B030D-6E8A-4147-A177-3AD203B41FA5}">
                            <a16:colId xmlns:a16="http://schemas.microsoft.com/office/drawing/2014/main" val="3650072185"/>
                          </a:ext>
                        </a:extLst>
                      </a:gridCol>
                      <a:gridCol w="560422">
                        <a:extLst>
                          <a:ext uri="{9D8B030D-6E8A-4147-A177-3AD203B41FA5}">
                            <a16:colId xmlns:a16="http://schemas.microsoft.com/office/drawing/2014/main" val="1992468736"/>
                          </a:ext>
                        </a:extLst>
                      </a:gridCol>
                    </a:tblGrid>
                    <a:tr h="401745">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401745">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20" name="Tabela 4">
                  <a:extLst>
                    <a:ext uri="{FF2B5EF4-FFF2-40B4-BE49-F238E27FC236}">
                      <a16:creationId xmlns:a16="http://schemas.microsoft.com/office/drawing/2014/main" id="{D77B0A95-15D4-FBA2-9E53-248747A96951}"/>
                    </a:ext>
                  </a:extLst>
                </p:cNvPr>
                <p:cNvGraphicFramePr>
                  <a:graphicFrameLocks/>
                </p:cNvGraphicFramePr>
                <p:nvPr>
                  <p:extLst>
                    <p:ext uri="{D42A27DB-BD31-4B8C-83A1-F6EECF244321}">
                      <p14:modId xmlns:p14="http://schemas.microsoft.com/office/powerpoint/2010/main" val="711511094"/>
                    </p:ext>
                  </p:extLst>
                </p:nvPr>
              </p:nvGraphicFramePr>
              <p:xfrm>
                <a:off x="8082405" y="3616661"/>
                <a:ext cx="1120844" cy="803490"/>
              </p:xfrm>
              <a:graphic>
                <a:graphicData uri="http://schemas.openxmlformats.org/drawingml/2006/table">
                  <a:tbl>
                    <a:tblPr firstRow="1" bandRow="1">
                      <a:tableStyleId>{5C22544A-7EE6-4342-B048-85BDC9FD1C3A}</a:tableStyleId>
                    </a:tblPr>
                    <a:tblGrid>
                      <a:gridCol w="560422">
                        <a:extLst>
                          <a:ext uri="{9D8B030D-6E8A-4147-A177-3AD203B41FA5}">
                            <a16:colId xmlns:a16="http://schemas.microsoft.com/office/drawing/2014/main" val="3650072185"/>
                          </a:ext>
                        </a:extLst>
                      </a:gridCol>
                      <a:gridCol w="560422">
                        <a:extLst>
                          <a:ext uri="{9D8B030D-6E8A-4147-A177-3AD203B41FA5}">
                            <a16:colId xmlns:a16="http://schemas.microsoft.com/office/drawing/2014/main" val="1992468736"/>
                          </a:ext>
                        </a:extLst>
                      </a:gridCol>
                    </a:tblGrid>
                    <a:tr h="401745">
                      <a:tc>
                        <a:txBody>
                          <a:bodyPr/>
                          <a:lstStyle/>
                          <a:p>
                            <a:pPr algn="ctr"/>
                            <a:r>
                              <a:rPr lang="pt-BR" b="0" dirty="0">
                                <a:solidFill>
                                  <a:schemeClr val="tx1"/>
                                </a:solidFill>
                              </a:rPr>
                              <a:t>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85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3648222"/>
                        </a:ext>
                      </a:extLst>
                    </a:tr>
                    <a:tr h="401745">
                      <a:tc>
                        <a:txBody>
                          <a:bodyPr/>
                          <a:lstStyle/>
                          <a:p>
                            <a:pPr algn="ctr"/>
                            <a:r>
                              <a:rPr lang="pt-BR" b="0" dirty="0">
                                <a:solidFill>
                                  <a:schemeClr val="tx1"/>
                                </a:solidFill>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p:sp>
          <p:nvSpPr>
            <p:cNvPr id="21" name="CaixaDeTexto 20">
              <a:extLst>
                <a:ext uri="{FF2B5EF4-FFF2-40B4-BE49-F238E27FC236}">
                  <a16:creationId xmlns:a16="http://schemas.microsoft.com/office/drawing/2014/main" id="{5D29E7EF-21DC-CA63-209C-4A573A902511}"/>
                </a:ext>
              </a:extLst>
            </p:cNvPr>
            <p:cNvSpPr txBox="1"/>
            <p:nvPr/>
          </p:nvSpPr>
          <p:spPr>
            <a:xfrm>
              <a:off x="5106526" y="1685990"/>
              <a:ext cx="870606" cy="369332"/>
            </a:xfrm>
            <a:prstGeom prst="rect">
              <a:avLst/>
            </a:prstGeom>
            <a:noFill/>
          </p:spPr>
          <p:txBody>
            <a:bodyPr wrap="square" rtlCol="0">
              <a:spAutoFit/>
            </a:bodyPr>
            <a:lstStyle/>
            <a:p>
              <a:pPr algn="ctr"/>
              <a:r>
                <a:rPr lang="pt-BR" dirty="0"/>
                <a:t>Input</a:t>
              </a:r>
            </a:p>
          </p:txBody>
        </p:sp>
        <mc:AlternateContent xmlns:mc="http://schemas.openxmlformats.org/markup-compatibility/2006" xmlns:a14="http://schemas.microsoft.com/office/drawing/2010/main">
          <mc:Choice Requires="a14">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10121995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3" name="Tabela 4">
                  <a:extLst>
                    <a:ext uri="{FF2B5EF4-FFF2-40B4-BE49-F238E27FC236}">
                      <a16:creationId xmlns:a16="http://schemas.microsoft.com/office/drawing/2014/main" id="{C3BFA42E-33D9-0D1D-1D8B-AE6FB9900463}"/>
                    </a:ext>
                  </a:extLst>
                </p:cNvPr>
                <p:cNvGraphicFramePr>
                  <a:graphicFrameLocks/>
                </p:cNvGraphicFramePr>
                <p:nvPr>
                  <p:extLst>
                    <p:ext uri="{D42A27DB-BD31-4B8C-83A1-F6EECF244321}">
                      <p14:modId xmlns:p14="http://schemas.microsoft.com/office/powerpoint/2010/main" val="1012199514"/>
                    </p:ext>
                  </p:extLst>
                </p:nvPr>
              </p:nvGraphicFramePr>
              <p:xfrm>
                <a:off x="4920322" y="2067220"/>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825410649"/>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4" name="Tabela 4">
                  <a:extLst>
                    <a:ext uri="{FF2B5EF4-FFF2-40B4-BE49-F238E27FC236}">
                      <a16:creationId xmlns:a16="http://schemas.microsoft.com/office/drawing/2014/main" id="{85DB3302-AF25-3250-97E6-1E43A0400605}"/>
                    </a:ext>
                  </a:extLst>
                </p:cNvPr>
                <p:cNvGraphicFramePr>
                  <a:graphicFrameLocks/>
                </p:cNvGraphicFramePr>
                <p:nvPr>
                  <p:extLst>
                    <p:ext uri="{D42A27DB-BD31-4B8C-83A1-F6EECF244321}">
                      <p14:modId xmlns:p14="http://schemas.microsoft.com/office/powerpoint/2010/main" val="825410649"/>
                    </p:ext>
                  </p:extLst>
                </p:nvPr>
              </p:nvGraphicFramePr>
              <p:xfrm>
                <a:off x="4920322" y="3443151"/>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757539565"/>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5" name="Tabela 4">
                  <a:extLst>
                    <a:ext uri="{FF2B5EF4-FFF2-40B4-BE49-F238E27FC236}">
                      <a16:creationId xmlns:a16="http://schemas.microsoft.com/office/drawing/2014/main" id="{FE40C774-FBE8-41AB-59B7-7FD4CE57331B}"/>
                    </a:ext>
                  </a:extLst>
                </p:cNvPr>
                <p:cNvGraphicFramePr>
                  <a:graphicFrameLocks/>
                </p:cNvGraphicFramePr>
                <p:nvPr>
                  <p:extLst>
                    <p:ext uri="{D42A27DB-BD31-4B8C-83A1-F6EECF244321}">
                      <p14:modId xmlns:p14="http://schemas.microsoft.com/office/powerpoint/2010/main" val="757539565"/>
                    </p:ext>
                  </p:extLst>
                </p:nvPr>
              </p:nvGraphicFramePr>
              <p:xfrm>
                <a:off x="4920322" y="481908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141189294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6" name="Tabela 35">
                  <a:extLst>
                    <a:ext uri="{FF2B5EF4-FFF2-40B4-BE49-F238E27FC236}">
                      <a16:creationId xmlns:a16="http://schemas.microsoft.com/office/drawing/2014/main" id="{9A1F4462-B7AA-6A33-EC8A-B252AB9FC141}"/>
                    </a:ext>
                  </a:extLst>
                </p:cNvPr>
                <p:cNvGraphicFramePr>
                  <a:graphicFrameLocks/>
                </p:cNvGraphicFramePr>
                <p:nvPr>
                  <p:extLst>
                    <p:ext uri="{D42A27DB-BD31-4B8C-83A1-F6EECF244321}">
                      <p14:modId xmlns:p14="http://schemas.microsoft.com/office/powerpoint/2010/main" val="1411892949"/>
                    </p:ext>
                  </p:extLst>
                </p:nvPr>
              </p:nvGraphicFramePr>
              <p:xfrm>
                <a:off x="6677676" y="227102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1124320732"/>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7" name="Tabela 36">
                  <a:extLst>
                    <a:ext uri="{FF2B5EF4-FFF2-40B4-BE49-F238E27FC236}">
                      <a16:creationId xmlns:a16="http://schemas.microsoft.com/office/drawing/2014/main" id="{EF5FE9EB-D1E0-4699-3454-A270D4048AC0}"/>
                    </a:ext>
                  </a:extLst>
                </p:cNvPr>
                <p:cNvGraphicFramePr>
                  <a:graphicFrameLocks/>
                </p:cNvGraphicFramePr>
                <p:nvPr>
                  <p:extLst>
                    <p:ext uri="{D42A27DB-BD31-4B8C-83A1-F6EECF244321}">
                      <p14:modId xmlns:p14="http://schemas.microsoft.com/office/powerpoint/2010/main" val="1124320732"/>
                    </p:ext>
                  </p:extLst>
                </p:nvPr>
              </p:nvGraphicFramePr>
              <p:xfrm>
                <a:off x="6677676" y="3678470"/>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19472039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38" name="Tabela 37">
                  <a:extLst>
                    <a:ext uri="{FF2B5EF4-FFF2-40B4-BE49-F238E27FC236}">
                      <a16:creationId xmlns:a16="http://schemas.microsoft.com/office/drawing/2014/main" id="{935049B8-6BC8-4B94-508A-E4E830B007C3}"/>
                    </a:ext>
                  </a:extLst>
                </p:cNvPr>
                <p:cNvGraphicFramePr>
                  <a:graphicFrameLocks/>
                </p:cNvGraphicFramePr>
                <p:nvPr>
                  <p:extLst>
                    <p:ext uri="{D42A27DB-BD31-4B8C-83A1-F6EECF244321}">
                      <p14:modId xmlns:p14="http://schemas.microsoft.com/office/powerpoint/2010/main" val="1947203953"/>
                    </p:ext>
                  </p:extLst>
                </p:nvPr>
              </p:nvGraphicFramePr>
              <p:xfrm>
                <a:off x="6677676" y="500958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ADCA8886-9326-60B6-AD0F-784DDDA17982}"/>
                    </a:ext>
                  </a:extLst>
                </p:cNvPr>
                <p:cNvSpPr txBox="1"/>
                <p:nvPr/>
              </p:nvSpPr>
              <p:spPr>
                <a:xfrm>
                  <a:off x="6128462" y="2381894"/>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9" name="CaixaDeTexto 38">
                  <a:extLst>
                    <a:ext uri="{FF2B5EF4-FFF2-40B4-BE49-F238E27FC236}">
                      <a16:creationId xmlns:a16="http://schemas.microsoft.com/office/drawing/2014/main" id="{ADCA8886-9326-60B6-AD0F-784DDDA17982}"/>
                    </a:ext>
                  </a:extLst>
                </p:cNvPr>
                <p:cNvSpPr txBox="1">
                  <a:spLocks noRot="1" noChangeAspect="1" noMove="1" noResize="1" noEditPoints="1" noAdjustHandles="1" noChangeArrowheads="1" noChangeShapeType="1" noTextEdit="1"/>
                </p:cNvSpPr>
                <p:nvPr/>
              </p:nvSpPr>
              <p:spPr>
                <a:xfrm>
                  <a:off x="6128462" y="2381894"/>
                  <a:ext cx="578069" cy="461665"/>
                </a:xfrm>
                <a:prstGeom prst="rect">
                  <a:avLst/>
                </a:prstGeom>
                <a:blipFill>
                  <a:blip r:embed="rId4"/>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5B985AE4-6A29-0737-F218-4FFA24F547B1}"/>
                    </a:ext>
                  </a:extLst>
                </p:cNvPr>
                <p:cNvSpPr txBox="1"/>
                <p:nvPr/>
              </p:nvSpPr>
              <p:spPr>
                <a:xfrm>
                  <a:off x="6136742" y="3795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0" name="CaixaDeTexto 39">
                  <a:extLst>
                    <a:ext uri="{FF2B5EF4-FFF2-40B4-BE49-F238E27FC236}">
                      <a16:creationId xmlns:a16="http://schemas.microsoft.com/office/drawing/2014/main" id="{5B985AE4-6A29-0737-F218-4FFA24F547B1}"/>
                    </a:ext>
                  </a:extLst>
                </p:cNvPr>
                <p:cNvSpPr txBox="1">
                  <a:spLocks noRot="1" noChangeAspect="1" noMove="1" noResize="1" noEditPoints="1" noAdjustHandles="1" noChangeArrowheads="1" noChangeShapeType="1" noTextEdit="1"/>
                </p:cNvSpPr>
                <p:nvPr/>
              </p:nvSpPr>
              <p:spPr>
                <a:xfrm>
                  <a:off x="6136742" y="3795509"/>
                  <a:ext cx="578069" cy="461665"/>
                </a:xfrm>
                <a:prstGeom prst="rect">
                  <a:avLst/>
                </a:prstGeom>
                <a:blipFill>
                  <a:blip r:embed="rId5"/>
                  <a:stretch>
                    <a:fillRect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1559FE9B-65AA-3BAA-3DAE-62E4C5417647}"/>
                    </a:ext>
                  </a:extLst>
                </p:cNvPr>
                <p:cNvSpPr txBox="1"/>
                <p:nvPr/>
              </p:nvSpPr>
              <p:spPr>
                <a:xfrm>
                  <a:off x="6128461" y="5144509"/>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41" name="CaixaDeTexto 40">
                  <a:extLst>
                    <a:ext uri="{FF2B5EF4-FFF2-40B4-BE49-F238E27FC236}">
                      <a16:creationId xmlns:a16="http://schemas.microsoft.com/office/drawing/2014/main" id="{1559FE9B-65AA-3BAA-3DAE-62E4C5417647}"/>
                    </a:ext>
                  </a:extLst>
                </p:cNvPr>
                <p:cNvSpPr txBox="1">
                  <a:spLocks noRot="1" noChangeAspect="1" noMove="1" noResize="1" noEditPoints="1" noAdjustHandles="1" noChangeArrowheads="1" noChangeShapeType="1" noTextEdit="1"/>
                </p:cNvSpPr>
                <p:nvPr/>
              </p:nvSpPr>
              <p:spPr>
                <a:xfrm>
                  <a:off x="6128461" y="5144509"/>
                  <a:ext cx="578069" cy="461665"/>
                </a:xfrm>
                <a:prstGeom prst="rect">
                  <a:avLst/>
                </a:prstGeom>
                <a:blipFill>
                  <a:blip r:embed="rId6"/>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CaixaDeTexto 41">
                  <a:extLst>
                    <a:ext uri="{FF2B5EF4-FFF2-40B4-BE49-F238E27FC236}">
                      <a16:creationId xmlns:a16="http://schemas.microsoft.com/office/drawing/2014/main" id="{4EF73DA9-EC25-D209-515D-B655C2B79626}"/>
                    </a:ext>
                  </a:extLst>
                </p:cNvPr>
                <p:cNvSpPr txBox="1"/>
                <p:nvPr/>
              </p:nvSpPr>
              <p:spPr>
                <a:xfrm>
                  <a:off x="7504337" y="3726072"/>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42" name="CaixaDeTexto 41">
                  <a:extLst>
                    <a:ext uri="{FF2B5EF4-FFF2-40B4-BE49-F238E27FC236}">
                      <a16:creationId xmlns:a16="http://schemas.microsoft.com/office/drawing/2014/main" id="{4EF73DA9-EC25-D209-515D-B655C2B79626}"/>
                    </a:ext>
                  </a:extLst>
                </p:cNvPr>
                <p:cNvSpPr txBox="1">
                  <a:spLocks noRot="1" noChangeAspect="1" noMove="1" noResize="1" noEditPoints="1" noAdjustHandles="1" noChangeArrowheads="1" noChangeShapeType="1" noTextEdit="1"/>
                </p:cNvSpPr>
                <p:nvPr/>
              </p:nvSpPr>
              <p:spPr>
                <a:xfrm>
                  <a:off x="7504337" y="3726072"/>
                  <a:ext cx="578069" cy="523220"/>
                </a:xfrm>
                <a:prstGeom prst="rect">
                  <a:avLst/>
                </a:prstGeom>
                <a:blipFill>
                  <a:blip r:embed="rId7"/>
                  <a:stretch>
                    <a:fillRect/>
                  </a:stretch>
                </a:blipFill>
              </p:spPr>
              <p:txBody>
                <a:bodyPr/>
                <a:lstStyle/>
                <a:p>
                  <a:r>
                    <a:rPr lang="pt-BR">
                      <a:noFill/>
                    </a:rPr>
                    <a:t> </a:t>
                  </a:r>
                </a:p>
              </p:txBody>
            </p:sp>
          </mc:Fallback>
        </mc:AlternateContent>
        <p:sp>
          <p:nvSpPr>
            <p:cNvPr id="43" name="CaixaDeTexto 42">
              <a:extLst>
                <a:ext uri="{FF2B5EF4-FFF2-40B4-BE49-F238E27FC236}">
                  <a16:creationId xmlns:a16="http://schemas.microsoft.com/office/drawing/2014/main" id="{015D1AB5-CE41-FC4A-B444-1A433ADAEC37}"/>
                </a:ext>
              </a:extLst>
            </p:cNvPr>
            <p:cNvSpPr txBox="1"/>
            <p:nvPr/>
          </p:nvSpPr>
          <p:spPr>
            <a:xfrm>
              <a:off x="8082406" y="1681050"/>
              <a:ext cx="870606" cy="369332"/>
            </a:xfrm>
            <a:prstGeom prst="rect">
              <a:avLst/>
            </a:prstGeom>
            <a:noFill/>
          </p:spPr>
          <p:txBody>
            <a:bodyPr wrap="square" rtlCol="0">
              <a:spAutoFit/>
            </a:bodyPr>
            <a:lstStyle/>
            <a:p>
              <a:pPr algn="ctr"/>
              <a:r>
                <a:rPr lang="pt-BR" dirty="0"/>
                <a:t>Output</a:t>
              </a:r>
            </a:p>
          </p:txBody>
        </p:sp>
        <p:sp>
          <p:nvSpPr>
            <p:cNvPr id="44" name="CaixaDeTexto 43">
              <a:extLst>
                <a:ext uri="{FF2B5EF4-FFF2-40B4-BE49-F238E27FC236}">
                  <a16:creationId xmlns:a16="http://schemas.microsoft.com/office/drawing/2014/main" id="{05C00E29-1787-385A-91BB-0BA8D07E0063}"/>
                </a:ext>
              </a:extLst>
            </p:cNvPr>
            <p:cNvSpPr txBox="1"/>
            <p:nvPr/>
          </p:nvSpPr>
          <p:spPr>
            <a:xfrm>
              <a:off x="6677676" y="1681050"/>
              <a:ext cx="858784" cy="369332"/>
            </a:xfrm>
            <a:prstGeom prst="rect">
              <a:avLst/>
            </a:prstGeom>
            <a:noFill/>
          </p:spPr>
          <p:txBody>
            <a:bodyPr wrap="square" rtlCol="0">
              <a:spAutoFit/>
            </a:bodyPr>
            <a:lstStyle/>
            <a:p>
              <a:pPr algn="ctr"/>
              <a:r>
                <a:rPr lang="pt-BR" dirty="0"/>
                <a:t>Kernel</a:t>
              </a:r>
            </a:p>
          </p:txBody>
        </p:sp>
        <p:sp>
          <p:nvSpPr>
            <p:cNvPr id="47" name="Sinal de Adição 46">
              <a:extLst>
                <a:ext uri="{FF2B5EF4-FFF2-40B4-BE49-F238E27FC236}">
                  <a16:creationId xmlns:a16="http://schemas.microsoft.com/office/drawing/2014/main" id="{C4209092-C8B1-15DC-F864-DF3CED4ACFC4}"/>
                </a:ext>
              </a:extLst>
            </p:cNvPr>
            <p:cNvSpPr/>
            <p:nvPr/>
          </p:nvSpPr>
          <p:spPr>
            <a:xfrm>
              <a:off x="6963068" y="3165890"/>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p:sp>
          <p:nvSpPr>
            <p:cNvPr id="48" name="Sinal de Adição 47">
              <a:extLst>
                <a:ext uri="{FF2B5EF4-FFF2-40B4-BE49-F238E27FC236}">
                  <a16:creationId xmlns:a16="http://schemas.microsoft.com/office/drawing/2014/main" id="{48B30B19-762F-DFCC-F08D-25A1D8450882}"/>
                </a:ext>
              </a:extLst>
            </p:cNvPr>
            <p:cNvSpPr/>
            <p:nvPr/>
          </p:nvSpPr>
          <p:spPr>
            <a:xfrm>
              <a:off x="6963068" y="4572054"/>
              <a:ext cx="288000" cy="288000"/>
            </a:xfrm>
            <a:prstGeom prst="mathPlus">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E6BBB756-AAFD-BC7A-7E31-93B4B96F4064}"/>
                    </a:ext>
                  </a:extLst>
                </p:cNvPr>
                <p:cNvSpPr txBox="1"/>
                <p:nvPr/>
              </p:nvSpPr>
              <p:spPr>
                <a:xfrm>
                  <a:off x="990729" y="487208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990729" y="4872088"/>
                  <a:ext cx="1243014"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7B3BDFFA-4C6C-70AE-257A-677E686A755F}"/>
                    </a:ext>
                  </a:extLst>
                </p:cNvPr>
                <p:cNvSpPr txBox="1"/>
                <p:nvPr/>
              </p:nvSpPr>
              <p:spPr>
                <a:xfrm>
                  <a:off x="2988751" y="4575148"/>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2988751" y="4575148"/>
                  <a:ext cx="1243014"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E502B310-A508-B8BB-5FE9-081AA6343B71}"/>
                    </a:ext>
                  </a:extLst>
                </p:cNvPr>
                <p:cNvSpPr txBox="1"/>
                <p:nvPr/>
              </p:nvSpPr>
              <p:spPr>
                <a:xfrm>
                  <a:off x="8224240" y="4502756"/>
                  <a:ext cx="870606"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oMath>
                    </m:oMathPara>
                  </a14:m>
                  <a:endParaRPr lang="pt-BR" dirty="0"/>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224240" y="4502756"/>
                  <a:ext cx="870606" cy="369332"/>
                </a:xfrm>
                <a:prstGeom prst="rect">
                  <a:avLst/>
                </a:prstGeom>
                <a:blipFill>
                  <a:blip r:embed="rId1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22048174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Agrupar 28">
            <a:extLst>
              <a:ext uri="{FF2B5EF4-FFF2-40B4-BE49-F238E27FC236}">
                <a16:creationId xmlns:a16="http://schemas.microsoft.com/office/drawing/2014/main" id="{4BB876CA-A8C2-72B7-27CC-77BA7ADBD1DA}"/>
              </a:ext>
            </a:extLst>
          </p:cNvPr>
          <p:cNvGrpSpPr/>
          <p:nvPr/>
        </p:nvGrpSpPr>
        <p:grpSpPr>
          <a:xfrm>
            <a:off x="2178507" y="923406"/>
            <a:ext cx="7487082" cy="5105556"/>
            <a:chOff x="2178507" y="923406"/>
            <a:chExt cx="7487082" cy="5105556"/>
          </a:xfrm>
        </p:grpSpPr>
        <mc:AlternateContent xmlns:mc="http://schemas.openxmlformats.org/markup-compatibility/2006" xmlns:a14="http://schemas.microsoft.com/office/drawing/2010/main">
          <mc:Choice Requires="a14">
            <p:graphicFrame>
              <p:nvGraphicFramePr>
                <p:cNvPr id="83" name="Tabela 4">
                  <a:extLst>
                    <a:ext uri="{FF2B5EF4-FFF2-40B4-BE49-F238E27FC236}">
                      <a16:creationId xmlns:a16="http://schemas.microsoft.com/office/drawing/2014/main" id="{832D0791-B3A2-B520-E5EB-A3B29FA99E5C}"/>
                    </a:ext>
                  </a:extLst>
                </p:cNvPr>
                <p:cNvGraphicFramePr>
                  <a:graphicFrameLocks/>
                </p:cNvGraphicFramePr>
                <p:nvPr>
                  <p:extLst>
                    <p:ext uri="{D42A27DB-BD31-4B8C-83A1-F6EECF244321}">
                      <p14:modId xmlns:p14="http://schemas.microsoft.com/office/powerpoint/2010/main" val="1006995446"/>
                    </p:ext>
                  </p:extLst>
                </p:nvPr>
              </p:nvGraphicFramePr>
              <p:xfrm>
                <a:off x="8794983" y="268993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83" name="Tabela 4">
                  <a:extLst>
                    <a:ext uri="{FF2B5EF4-FFF2-40B4-BE49-F238E27FC236}">
                      <a16:creationId xmlns:a16="http://schemas.microsoft.com/office/drawing/2014/main" id="{832D0791-B3A2-B520-E5EB-A3B29FA99E5C}"/>
                    </a:ext>
                  </a:extLst>
                </p:cNvPr>
                <p:cNvGraphicFramePr>
                  <a:graphicFrameLocks/>
                </p:cNvGraphicFramePr>
                <p:nvPr>
                  <p:extLst>
                    <p:ext uri="{D42A27DB-BD31-4B8C-83A1-F6EECF244321}">
                      <p14:modId xmlns:p14="http://schemas.microsoft.com/office/powerpoint/2010/main" val="1006995446"/>
                    </p:ext>
                  </p:extLst>
                </p:nvPr>
              </p:nvGraphicFramePr>
              <p:xfrm>
                <a:off x="8794983" y="2689931"/>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2177195770"/>
                    </p:ext>
                  </p:extLst>
                </p:nvPr>
              </p:nvGraphicFramePr>
              <p:xfrm>
                <a:off x="4989705" y="190475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2" name="Tabela 31">
                  <a:extLst>
                    <a:ext uri="{FF2B5EF4-FFF2-40B4-BE49-F238E27FC236}">
                      <a16:creationId xmlns:a16="http://schemas.microsoft.com/office/drawing/2014/main" id="{2F9A2461-BB38-98A3-9217-822694E3F2B2}"/>
                    </a:ext>
                  </a:extLst>
                </p:cNvPr>
                <p:cNvGraphicFramePr>
                  <a:graphicFrameLocks/>
                </p:cNvGraphicFramePr>
                <p:nvPr>
                  <p:extLst>
                    <p:ext uri="{D42A27DB-BD31-4B8C-83A1-F6EECF244321}">
                      <p14:modId xmlns:p14="http://schemas.microsoft.com/office/powerpoint/2010/main" val="2177195770"/>
                    </p:ext>
                  </p:extLst>
                </p:nvPr>
              </p:nvGraphicFramePr>
              <p:xfrm>
                <a:off x="4989705" y="190475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3560625199"/>
                    </p:ext>
                  </p:extLst>
                </p:nvPr>
              </p:nvGraphicFramePr>
              <p:xfrm>
                <a:off x="4803010" y="2088249"/>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1" name="Tabela 30">
                  <a:extLst>
                    <a:ext uri="{FF2B5EF4-FFF2-40B4-BE49-F238E27FC236}">
                      <a16:creationId xmlns:a16="http://schemas.microsoft.com/office/drawing/2014/main" id="{FADB2249-E063-C463-8822-4F21596A7971}"/>
                    </a:ext>
                  </a:extLst>
                </p:cNvPr>
                <p:cNvGraphicFramePr>
                  <a:graphicFrameLocks/>
                </p:cNvGraphicFramePr>
                <p:nvPr>
                  <p:extLst>
                    <p:ext uri="{D42A27DB-BD31-4B8C-83A1-F6EECF244321}">
                      <p14:modId xmlns:p14="http://schemas.microsoft.com/office/powerpoint/2010/main" val="3560625199"/>
                    </p:ext>
                  </p:extLst>
                </p:nvPr>
              </p:nvGraphicFramePr>
              <p:xfrm>
                <a:off x="4803010" y="2088249"/>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531628469"/>
                    </p:ext>
                  </p:extLst>
                </p:nvPr>
              </p:nvGraphicFramePr>
              <p:xfrm>
                <a:off x="2558065" y="178167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3" name="Tabela 4">
                  <a:extLst>
                    <a:ext uri="{FF2B5EF4-FFF2-40B4-BE49-F238E27FC236}">
                      <a16:creationId xmlns:a16="http://schemas.microsoft.com/office/drawing/2014/main" id="{9941D272-0AFC-301C-EC99-4892310F8E6A}"/>
                    </a:ext>
                  </a:extLst>
                </p:cNvPr>
                <p:cNvGraphicFramePr>
                  <a:graphicFrameLocks/>
                </p:cNvGraphicFramePr>
                <p:nvPr>
                  <p:extLst>
                    <p:ext uri="{D42A27DB-BD31-4B8C-83A1-F6EECF244321}">
                      <p14:modId xmlns:p14="http://schemas.microsoft.com/office/powerpoint/2010/main" val="531628469"/>
                    </p:ext>
                  </p:extLst>
                </p:nvPr>
              </p:nvGraphicFramePr>
              <p:xfrm>
                <a:off x="2558065" y="1781672"/>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1330003502"/>
                    </p:ext>
                  </p:extLst>
                </p:nvPr>
              </p:nvGraphicFramePr>
              <p:xfrm>
                <a:off x="2368879" y="1959558"/>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2" name="Tabela 4">
                  <a:extLst>
                    <a:ext uri="{FF2B5EF4-FFF2-40B4-BE49-F238E27FC236}">
                      <a16:creationId xmlns:a16="http://schemas.microsoft.com/office/drawing/2014/main" id="{19F7ED3C-53B7-4FEA-18ED-F42CDFE05109}"/>
                    </a:ext>
                  </a:extLst>
                </p:cNvPr>
                <p:cNvGraphicFramePr>
                  <a:graphicFrameLocks/>
                </p:cNvGraphicFramePr>
                <p:nvPr>
                  <p:extLst>
                    <p:ext uri="{D42A27DB-BD31-4B8C-83A1-F6EECF244321}">
                      <p14:modId xmlns:p14="http://schemas.microsoft.com/office/powerpoint/2010/main" val="1330003502"/>
                    </p:ext>
                  </p:extLst>
                </p:nvPr>
              </p:nvGraphicFramePr>
              <p:xfrm>
                <a:off x="2368879" y="1959558"/>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p:sp>
          <p:nvSpPr>
            <p:cNvPr id="7" name="CaixaDeTexto 6">
              <a:extLst>
                <a:ext uri="{FF2B5EF4-FFF2-40B4-BE49-F238E27FC236}">
                  <a16:creationId xmlns:a16="http://schemas.microsoft.com/office/drawing/2014/main" id="{C10D9D7E-21EA-C2D8-5761-4F6786036D00}"/>
                </a:ext>
              </a:extLst>
            </p:cNvPr>
            <p:cNvSpPr txBox="1"/>
            <p:nvPr/>
          </p:nvSpPr>
          <p:spPr>
            <a:xfrm>
              <a:off x="2361400" y="939299"/>
              <a:ext cx="1601134" cy="369332"/>
            </a:xfrm>
            <a:prstGeom prst="rect">
              <a:avLst/>
            </a:prstGeom>
            <a:noFill/>
          </p:spPr>
          <p:txBody>
            <a:bodyPr wrap="square" rtlCol="0">
              <a:spAutoFit/>
            </a:bodyPr>
            <a:lstStyle/>
            <a:p>
              <a:pPr algn="ctr"/>
              <a:r>
                <a:rPr lang="pt-BR" b="1" dirty="0"/>
                <a:t>Input</a:t>
              </a:r>
            </a:p>
          </p:txBody>
        </p:sp>
        <mc:AlternateContent xmlns:mc="http://schemas.openxmlformats.org/markup-compatibility/2006" xmlns:a14="http://schemas.microsoft.com/office/drawing/2010/main">
          <mc:Choice Requires="a14">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1495473524"/>
                    </p:ext>
                  </p:extLst>
                </p:nvPr>
              </p:nvGraphicFramePr>
              <p:xfrm>
                <a:off x="2179693" y="213744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4" name="Tabela 4">
                  <a:extLst>
                    <a:ext uri="{FF2B5EF4-FFF2-40B4-BE49-F238E27FC236}">
                      <a16:creationId xmlns:a16="http://schemas.microsoft.com/office/drawing/2014/main" id="{7ECEAD7E-13C4-930B-CF59-043497D0AE4A}"/>
                    </a:ext>
                  </a:extLst>
                </p:cNvPr>
                <p:cNvGraphicFramePr>
                  <a:graphicFrameLocks/>
                </p:cNvGraphicFramePr>
                <p:nvPr>
                  <p:extLst>
                    <p:ext uri="{D42A27DB-BD31-4B8C-83A1-F6EECF244321}">
                      <p14:modId xmlns:p14="http://schemas.microsoft.com/office/powerpoint/2010/main" val="1495473524"/>
                    </p:ext>
                  </p:extLst>
                </p:nvPr>
              </p:nvGraphicFramePr>
              <p:xfrm>
                <a:off x="2179693" y="2137444"/>
                <a:ext cx="1243014" cy="1112520"/>
              </p:xfrm>
              <a:graphic>
                <a:graphicData uri="http://schemas.openxmlformats.org/drawingml/2006/table">
                  <a:tbl>
                    <a:tblPr firstRow="1" bandRow="1">
                      <a:tableStyleId>{5C22544A-7EE6-4342-B048-85BDC9FD1C3A}</a:tableStyleId>
                    </a:tblPr>
                    <a:tblGrid>
                      <a:gridCol w="414338">
                        <a:extLst>
                          <a:ext uri="{9D8B030D-6E8A-4147-A177-3AD203B41FA5}">
                            <a16:colId xmlns:a16="http://schemas.microsoft.com/office/drawing/2014/main" val="3650072185"/>
                          </a:ext>
                        </a:extLst>
                      </a:gridCol>
                      <a:gridCol w="414338">
                        <a:extLst>
                          <a:ext uri="{9D8B030D-6E8A-4147-A177-3AD203B41FA5}">
                            <a16:colId xmlns:a16="http://schemas.microsoft.com/office/drawing/2014/main" val="3646872024"/>
                          </a:ext>
                        </a:extLst>
                      </a:gridCol>
                      <a:gridCol w="414338">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7601981"/>
                        </a:ext>
                      </a:extLst>
                    </a:tr>
                    <a:tr h="370840">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2799221797"/>
                    </p:ext>
                  </p:extLst>
                </p:nvPr>
              </p:nvGraphicFramePr>
              <p:xfrm>
                <a:off x="4651842" y="224281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5" name="Tabela 4">
                  <a:extLst>
                    <a:ext uri="{FF2B5EF4-FFF2-40B4-BE49-F238E27FC236}">
                      <a16:creationId xmlns:a16="http://schemas.microsoft.com/office/drawing/2014/main" id="{D035F2CA-FB18-FF07-F121-82526F894200}"/>
                    </a:ext>
                  </a:extLst>
                </p:cNvPr>
                <p:cNvGraphicFramePr>
                  <a:graphicFrameLocks/>
                </p:cNvGraphicFramePr>
                <p:nvPr>
                  <p:extLst>
                    <p:ext uri="{D42A27DB-BD31-4B8C-83A1-F6EECF244321}">
                      <p14:modId xmlns:p14="http://schemas.microsoft.com/office/powerpoint/2010/main" val="2799221797"/>
                    </p:ext>
                  </p:extLst>
                </p:nvPr>
              </p:nvGraphicFramePr>
              <p:xfrm>
                <a:off x="4651842" y="2242812"/>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F95B3DA-B65D-197D-DA2B-E33A2B91AF70}"/>
                    </a:ext>
                  </a:extLst>
                </p:cNvPr>
                <p:cNvSpPr txBox="1"/>
                <p:nvPr/>
              </p:nvSpPr>
              <p:spPr>
                <a:xfrm>
                  <a:off x="4116404" y="2295824"/>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 name="CaixaDeTexto 5">
                  <a:extLst>
                    <a:ext uri="{FF2B5EF4-FFF2-40B4-BE49-F238E27FC236}">
                      <a16:creationId xmlns:a16="http://schemas.microsoft.com/office/drawing/2014/main" id="{1F95B3DA-B65D-197D-DA2B-E33A2B91AF70}"/>
                    </a:ext>
                  </a:extLst>
                </p:cNvPr>
                <p:cNvSpPr txBox="1">
                  <a:spLocks noRot="1" noChangeAspect="1" noMove="1" noResize="1" noEditPoints="1" noAdjustHandles="1" noChangeArrowheads="1" noChangeShapeType="1" noTextEdit="1"/>
                </p:cNvSpPr>
                <p:nvPr/>
              </p:nvSpPr>
              <p:spPr>
                <a:xfrm>
                  <a:off x="4116404" y="2295824"/>
                  <a:ext cx="578069" cy="461665"/>
                </a:xfrm>
                <a:prstGeom prst="rect">
                  <a:avLst/>
                </a:prstGeom>
                <a:blipFill>
                  <a:blip r:embed="rId2"/>
                  <a:stretch>
                    <a:fillRect b="-10667"/>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A352DED4-AC8A-2504-0A48-2A08B9F1ECAA}"/>
                </a:ext>
              </a:extLst>
            </p:cNvPr>
            <p:cNvSpPr txBox="1"/>
            <p:nvPr/>
          </p:nvSpPr>
          <p:spPr>
            <a:xfrm>
              <a:off x="4691096" y="923406"/>
              <a:ext cx="1157394" cy="381130"/>
            </a:xfrm>
            <a:prstGeom prst="rect">
              <a:avLst/>
            </a:prstGeom>
            <a:noFill/>
          </p:spPr>
          <p:txBody>
            <a:bodyPr wrap="square" rtlCol="0">
              <a:spAutoFit/>
            </a:bodyPr>
            <a:lstStyle/>
            <a:p>
              <a:pPr algn="ctr"/>
              <a:r>
                <a:rPr lang="pt-BR" b="1" dirty="0"/>
                <a:t>Kernels</a:t>
              </a:r>
            </a:p>
          </p:txBody>
        </p:sp>
        <p:sp>
          <p:nvSpPr>
            <p:cNvPr id="43" name="CaixaDeTexto 42">
              <a:extLst>
                <a:ext uri="{FF2B5EF4-FFF2-40B4-BE49-F238E27FC236}">
                  <a16:creationId xmlns:a16="http://schemas.microsoft.com/office/drawing/2014/main" id="{015D1AB5-CE41-FC4A-B444-1A433ADAEC37}"/>
                </a:ext>
              </a:extLst>
            </p:cNvPr>
            <p:cNvSpPr txBox="1"/>
            <p:nvPr/>
          </p:nvSpPr>
          <p:spPr>
            <a:xfrm>
              <a:off x="8766679" y="939299"/>
              <a:ext cx="870606" cy="369332"/>
            </a:xfrm>
            <a:prstGeom prst="rect">
              <a:avLst/>
            </a:prstGeom>
            <a:noFill/>
          </p:spPr>
          <p:txBody>
            <a:bodyPr wrap="square" rtlCol="0">
              <a:spAutoFit/>
            </a:bodyPr>
            <a:lstStyle/>
            <a:p>
              <a:pPr algn="ctr"/>
              <a:r>
                <a:rPr lang="pt-BR" b="1" dirty="0"/>
                <a:t>Output</a:t>
              </a:r>
            </a:p>
          </p:txBody>
        </p: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E6BBB756-AAFD-BC7A-7E31-93B4B96F4064}"/>
                    </a:ext>
                  </a:extLst>
                </p:cNvPr>
                <p:cNvSpPr txBox="1"/>
                <p:nvPr/>
              </p:nvSpPr>
              <p:spPr>
                <a:xfrm>
                  <a:off x="2178507" y="3343676"/>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×3×3</m:t>
                        </m:r>
                      </m:oMath>
                    </m:oMathPara>
                  </a14:m>
                  <a:endParaRPr lang="pt-BR" dirty="0"/>
                </a:p>
              </p:txBody>
            </p:sp>
          </mc:Choice>
          <mc:Fallback xmlns="">
            <p:sp>
              <p:nvSpPr>
                <p:cNvPr id="50" name="CaixaDeTexto 49">
                  <a:extLst>
                    <a:ext uri="{FF2B5EF4-FFF2-40B4-BE49-F238E27FC236}">
                      <a16:creationId xmlns:a16="http://schemas.microsoft.com/office/drawing/2014/main" id="{E6BBB756-AAFD-BC7A-7E31-93B4B96F4064}"/>
                    </a:ext>
                  </a:extLst>
                </p:cNvPr>
                <p:cNvSpPr txBox="1">
                  <a:spLocks noRot="1" noChangeAspect="1" noMove="1" noResize="1" noEditPoints="1" noAdjustHandles="1" noChangeArrowheads="1" noChangeShapeType="1" noTextEdit="1"/>
                </p:cNvSpPr>
                <p:nvPr/>
              </p:nvSpPr>
              <p:spPr>
                <a:xfrm>
                  <a:off x="2178507" y="3343676"/>
                  <a:ext cx="1243014" cy="369332"/>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7B3BDFFA-4C6C-70AE-257A-677E686A755F}"/>
                    </a:ext>
                  </a:extLst>
                </p:cNvPr>
                <p:cNvSpPr txBox="1"/>
                <p:nvPr/>
              </p:nvSpPr>
              <p:spPr>
                <a:xfrm>
                  <a:off x="4459727" y="3046736"/>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51" name="CaixaDeTexto 50">
                  <a:extLst>
                    <a:ext uri="{FF2B5EF4-FFF2-40B4-BE49-F238E27FC236}">
                      <a16:creationId xmlns:a16="http://schemas.microsoft.com/office/drawing/2014/main" id="{7B3BDFFA-4C6C-70AE-257A-677E686A755F}"/>
                    </a:ext>
                  </a:extLst>
                </p:cNvPr>
                <p:cNvSpPr txBox="1">
                  <a:spLocks noRot="1" noChangeAspect="1" noMove="1" noResize="1" noEditPoints="1" noAdjustHandles="1" noChangeArrowheads="1" noChangeShapeType="1" noTextEdit="1"/>
                </p:cNvSpPr>
                <p:nvPr/>
              </p:nvSpPr>
              <p:spPr>
                <a:xfrm>
                  <a:off x="4459727" y="3046736"/>
                  <a:ext cx="1243014" cy="369332"/>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E502B310-A508-B8BB-5FE9-081AA6343B71}"/>
                    </a:ext>
                  </a:extLst>
                </p:cNvPr>
                <p:cNvSpPr txBox="1"/>
                <p:nvPr/>
              </p:nvSpPr>
              <p:spPr>
                <a:xfrm>
                  <a:off x="8605108" y="3650178"/>
                  <a:ext cx="1060481" cy="369332"/>
                </a:xfrm>
                <a:prstGeom prst="rect">
                  <a:avLst/>
                </a:prstGeom>
                <a:noFill/>
              </p:spPr>
              <p:txBody>
                <a:bodyPr wrap="square" rtlCol="0">
                  <a:spAutoFit/>
                </a:bodyPr>
                <a:lstStyle/>
                <a:p>
                  <a14:m>
                    <m:oMath xmlns:m="http://schemas.openxmlformats.org/officeDocument/2006/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m:t>
                      </m:r>
                      <m:r>
                        <a:rPr lang="pt-BR" i="1">
                          <a:latin typeface="Cambria Math" panose="02040503050406030204" pitchFamily="18" charset="0"/>
                          <a:ea typeface="Cambria Math" panose="02040503050406030204" pitchFamily="18" charset="0"/>
                        </a:rPr>
                        <m:t>×</m:t>
                      </m:r>
                    </m:oMath>
                  </a14:m>
                  <a:r>
                    <a:rPr lang="pt-BR" dirty="0"/>
                    <a:t>2</a:t>
                  </a:r>
                </a:p>
              </p:txBody>
            </p:sp>
          </mc:Choice>
          <mc:Fallback xmlns="">
            <p:sp>
              <p:nvSpPr>
                <p:cNvPr id="52" name="CaixaDeTexto 51">
                  <a:extLst>
                    <a:ext uri="{FF2B5EF4-FFF2-40B4-BE49-F238E27FC236}">
                      <a16:creationId xmlns:a16="http://schemas.microsoft.com/office/drawing/2014/main" id="{E502B310-A508-B8BB-5FE9-081AA6343B71}"/>
                    </a:ext>
                  </a:extLst>
                </p:cNvPr>
                <p:cNvSpPr txBox="1">
                  <a:spLocks noRot="1" noChangeAspect="1" noMove="1" noResize="1" noEditPoints="1" noAdjustHandles="1" noChangeArrowheads="1" noChangeShapeType="1" noTextEdit="1"/>
                </p:cNvSpPr>
                <p:nvPr/>
              </p:nvSpPr>
              <p:spPr>
                <a:xfrm>
                  <a:off x="8605108" y="3650178"/>
                  <a:ext cx="1060481" cy="369332"/>
                </a:xfrm>
                <a:prstGeom prst="rect">
                  <a:avLst/>
                </a:prstGeom>
                <a:blipFill>
                  <a:blip r:embed="rId5"/>
                  <a:stretch>
                    <a:fillRect t="-10000" r="-1724" b="-2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14" name="Tabela 13">
                  <a:extLst>
                    <a:ext uri="{FF2B5EF4-FFF2-40B4-BE49-F238E27FC236}">
                      <a16:creationId xmlns:a16="http://schemas.microsoft.com/office/drawing/2014/main" id="{30DDB50C-ACE5-B0EC-CD12-B5EA191DB103}"/>
                    </a:ext>
                  </a:extLst>
                </p:cNvPr>
                <p:cNvGraphicFramePr>
                  <a:graphicFrameLocks/>
                </p:cNvGraphicFramePr>
                <p:nvPr>
                  <p:extLst>
                    <p:ext uri="{D42A27DB-BD31-4B8C-83A1-F6EECF244321}">
                      <p14:modId xmlns:p14="http://schemas.microsoft.com/office/powerpoint/2010/main" val="512641684"/>
                    </p:ext>
                  </p:extLst>
                </p:nvPr>
              </p:nvGraphicFramePr>
              <p:xfrm>
                <a:off x="4989705" y="393448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14" name="Tabela 13">
                  <a:extLst>
                    <a:ext uri="{FF2B5EF4-FFF2-40B4-BE49-F238E27FC236}">
                      <a16:creationId xmlns:a16="http://schemas.microsoft.com/office/drawing/2014/main" id="{30DDB50C-ACE5-B0EC-CD12-B5EA191DB103}"/>
                    </a:ext>
                  </a:extLst>
                </p:cNvPr>
                <p:cNvGraphicFramePr>
                  <a:graphicFrameLocks/>
                </p:cNvGraphicFramePr>
                <p:nvPr>
                  <p:extLst>
                    <p:ext uri="{D42A27DB-BD31-4B8C-83A1-F6EECF244321}">
                      <p14:modId xmlns:p14="http://schemas.microsoft.com/office/powerpoint/2010/main" val="512641684"/>
                    </p:ext>
                  </p:extLst>
                </p:nvPr>
              </p:nvGraphicFramePr>
              <p:xfrm>
                <a:off x="4989705" y="393448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ela 14">
                  <a:extLst>
                    <a:ext uri="{FF2B5EF4-FFF2-40B4-BE49-F238E27FC236}">
                      <a16:creationId xmlns:a16="http://schemas.microsoft.com/office/drawing/2014/main" id="{5CE01A46-AB76-0705-9DF2-299967F3AAD7}"/>
                    </a:ext>
                  </a:extLst>
                </p:cNvPr>
                <p:cNvGraphicFramePr>
                  <a:graphicFrameLocks/>
                </p:cNvGraphicFramePr>
                <p:nvPr>
                  <p:extLst>
                    <p:ext uri="{D42A27DB-BD31-4B8C-83A1-F6EECF244321}">
                      <p14:modId xmlns:p14="http://schemas.microsoft.com/office/powerpoint/2010/main" val="1015092618"/>
                    </p:ext>
                  </p:extLst>
                </p:nvPr>
              </p:nvGraphicFramePr>
              <p:xfrm>
                <a:off x="4803010" y="4117985"/>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15" name="Tabela 14">
                  <a:extLst>
                    <a:ext uri="{FF2B5EF4-FFF2-40B4-BE49-F238E27FC236}">
                      <a16:creationId xmlns:a16="http://schemas.microsoft.com/office/drawing/2014/main" id="{5CE01A46-AB76-0705-9DF2-299967F3AAD7}"/>
                    </a:ext>
                  </a:extLst>
                </p:cNvPr>
                <p:cNvGraphicFramePr>
                  <a:graphicFrameLocks/>
                </p:cNvGraphicFramePr>
                <p:nvPr>
                  <p:extLst>
                    <p:ext uri="{D42A27DB-BD31-4B8C-83A1-F6EECF244321}">
                      <p14:modId xmlns:p14="http://schemas.microsoft.com/office/powerpoint/2010/main" val="1015092618"/>
                    </p:ext>
                  </p:extLst>
                </p:nvPr>
              </p:nvGraphicFramePr>
              <p:xfrm>
                <a:off x="4803010" y="4117985"/>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Tabela 15">
                  <a:extLst>
                    <a:ext uri="{FF2B5EF4-FFF2-40B4-BE49-F238E27FC236}">
                      <a16:creationId xmlns:a16="http://schemas.microsoft.com/office/drawing/2014/main" id="{D9565C8B-9A17-050F-8C1E-F93EC8F879B4}"/>
                    </a:ext>
                  </a:extLst>
                </p:cNvPr>
                <p:cNvGraphicFramePr>
                  <a:graphicFrameLocks/>
                </p:cNvGraphicFramePr>
                <p:nvPr>
                  <p:extLst>
                    <p:ext uri="{D42A27DB-BD31-4B8C-83A1-F6EECF244321}">
                      <p14:modId xmlns:p14="http://schemas.microsoft.com/office/powerpoint/2010/main" val="971188768"/>
                    </p:ext>
                  </p:extLst>
                </p:nvPr>
              </p:nvGraphicFramePr>
              <p:xfrm>
                <a:off x="4651842" y="427254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16" name="Tabela 15">
                  <a:extLst>
                    <a:ext uri="{FF2B5EF4-FFF2-40B4-BE49-F238E27FC236}">
                      <a16:creationId xmlns:a16="http://schemas.microsoft.com/office/drawing/2014/main" id="{D9565C8B-9A17-050F-8C1E-F93EC8F879B4}"/>
                    </a:ext>
                  </a:extLst>
                </p:cNvPr>
                <p:cNvGraphicFramePr>
                  <a:graphicFrameLocks/>
                </p:cNvGraphicFramePr>
                <p:nvPr>
                  <p:extLst>
                    <p:ext uri="{D42A27DB-BD31-4B8C-83A1-F6EECF244321}">
                      <p14:modId xmlns:p14="http://schemas.microsoft.com/office/powerpoint/2010/main" val="971188768"/>
                    </p:ext>
                  </p:extLst>
                </p:nvPr>
              </p:nvGraphicFramePr>
              <p:xfrm>
                <a:off x="4651842" y="4272548"/>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2B2DB4DE-79DC-6F8A-8711-A3267AED798B}"/>
                    </a:ext>
                  </a:extLst>
                </p:cNvPr>
                <p:cNvSpPr txBox="1"/>
                <p:nvPr/>
              </p:nvSpPr>
              <p:spPr>
                <a:xfrm>
                  <a:off x="4459727" y="5076472"/>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rPr>
                          <m:t>2</m:t>
                        </m:r>
                        <m:r>
                          <a:rPr lang="pt-BR" b="0" i="1" smtClean="0">
                            <a:latin typeface="Cambria Math" panose="02040503050406030204" pitchFamily="18" charset="0"/>
                            <a:ea typeface="Cambria Math" panose="02040503050406030204" pitchFamily="18" charset="0"/>
                          </a:rPr>
                          <m:t>×2×3</m:t>
                        </m:r>
                      </m:oMath>
                    </m:oMathPara>
                  </a14:m>
                  <a:endParaRPr lang="pt-BR" dirty="0"/>
                </a:p>
              </p:txBody>
            </p:sp>
          </mc:Choice>
          <mc:Fallback xmlns="">
            <p:sp>
              <p:nvSpPr>
                <p:cNvPr id="17" name="CaixaDeTexto 16">
                  <a:extLst>
                    <a:ext uri="{FF2B5EF4-FFF2-40B4-BE49-F238E27FC236}">
                      <a16:creationId xmlns:a16="http://schemas.microsoft.com/office/drawing/2014/main" id="{2B2DB4DE-79DC-6F8A-8711-A3267AED798B}"/>
                    </a:ext>
                  </a:extLst>
                </p:cNvPr>
                <p:cNvSpPr txBox="1">
                  <a:spLocks noRot="1" noChangeAspect="1" noMove="1" noResize="1" noEditPoints="1" noAdjustHandles="1" noChangeArrowheads="1" noChangeShapeType="1" noTextEdit="1"/>
                </p:cNvSpPr>
                <p:nvPr/>
              </p:nvSpPr>
              <p:spPr>
                <a:xfrm>
                  <a:off x="4459727" y="5076472"/>
                  <a:ext cx="1243014" cy="369332"/>
                </a:xfrm>
                <a:prstGeom prst="rect">
                  <a:avLst/>
                </a:prstGeom>
                <a:blipFill>
                  <a:blip r:embed="rId6"/>
                  <a:stretch>
                    <a:fillRect/>
                  </a:stretch>
                </a:blipFill>
              </p:spPr>
              <p:txBody>
                <a:bodyPr/>
                <a:lstStyle/>
                <a:p>
                  <a:r>
                    <a:rPr lang="pt-BR">
                      <a:noFill/>
                    </a:rPr>
                    <a:t> </a:t>
                  </a:r>
                </a:p>
              </p:txBody>
            </p:sp>
          </mc:Fallback>
        </mc:AlternateContent>
        <p:cxnSp>
          <p:nvCxnSpPr>
            <p:cNvPr id="22" name="Conector de Seta Reta 21">
              <a:extLst>
                <a:ext uri="{FF2B5EF4-FFF2-40B4-BE49-F238E27FC236}">
                  <a16:creationId xmlns:a16="http://schemas.microsoft.com/office/drawing/2014/main" id="{C9C3AC78-6C2B-8674-15BC-1911C674104C}"/>
                </a:ext>
              </a:extLst>
            </p:cNvPr>
            <p:cNvCxnSpPr>
              <a:cxnSpLocks/>
            </p:cNvCxnSpPr>
            <p:nvPr/>
          </p:nvCxnSpPr>
          <p:spPr>
            <a:xfrm flipV="1">
              <a:off x="3844003" y="2515818"/>
              <a:ext cx="418583" cy="8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Curvo 25">
              <a:extLst>
                <a:ext uri="{FF2B5EF4-FFF2-40B4-BE49-F238E27FC236}">
                  <a16:creationId xmlns:a16="http://schemas.microsoft.com/office/drawing/2014/main" id="{2611A343-BFE4-6A9A-3F08-7F12DB7C3987}"/>
                </a:ext>
              </a:extLst>
            </p:cNvPr>
            <p:cNvCxnSpPr>
              <a:cxnSpLocks/>
              <a:endCxn id="60" idx="1"/>
            </p:cNvCxnSpPr>
            <p:nvPr/>
          </p:nvCxnSpPr>
          <p:spPr>
            <a:xfrm rot="16200000" flipH="1">
              <a:off x="3082591" y="3303749"/>
              <a:ext cx="1959323" cy="400668"/>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Retângulo 59">
              <a:extLst>
                <a:ext uri="{FF2B5EF4-FFF2-40B4-BE49-F238E27FC236}">
                  <a16:creationId xmlns:a16="http://schemas.microsoft.com/office/drawing/2014/main" id="{C6F515CB-ED45-529B-79F1-41B9F156C22F}"/>
                </a:ext>
              </a:extLst>
            </p:cNvPr>
            <p:cNvSpPr/>
            <p:nvPr/>
          </p:nvSpPr>
          <p:spPr>
            <a:xfrm>
              <a:off x="4262586" y="4403718"/>
              <a:ext cx="221789" cy="1600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43FD9ED7-312C-0EAC-FF3E-E4D0F31ED361}"/>
                    </a:ext>
                  </a:extLst>
                </p:cNvPr>
                <p:cNvSpPr txBox="1"/>
                <p:nvPr/>
              </p:nvSpPr>
              <p:spPr>
                <a:xfrm>
                  <a:off x="4169328" y="4252911"/>
                  <a:ext cx="398631" cy="461665"/>
                </a:xfrm>
                <a:prstGeom prst="rect">
                  <a:avLst/>
                </a:prstGeom>
                <a:noFill/>
              </p:spPr>
              <p:txBody>
                <a:bodyPr wrap="square">
                  <a:spAutoFit/>
                </a:bodyPr>
                <a:lstStyle/>
                <a:p>
                  <a:pPr/>
                  <a14:m>
                    <m:oMathPara xmlns:m="http://schemas.openxmlformats.org/officeDocument/2006/math">
                      <m:oMathParaPr>
                        <m:jc m:val="left"/>
                      </m:oMathParaPr>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69" name="CaixaDeTexto 68">
                  <a:extLst>
                    <a:ext uri="{FF2B5EF4-FFF2-40B4-BE49-F238E27FC236}">
                      <a16:creationId xmlns:a16="http://schemas.microsoft.com/office/drawing/2014/main" id="{43FD9ED7-312C-0EAC-FF3E-E4D0F31ED361}"/>
                    </a:ext>
                  </a:extLst>
                </p:cNvPr>
                <p:cNvSpPr txBox="1">
                  <a:spLocks noRot="1" noChangeAspect="1" noMove="1" noResize="1" noEditPoints="1" noAdjustHandles="1" noChangeArrowheads="1" noChangeShapeType="1" noTextEdit="1"/>
                </p:cNvSpPr>
                <p:nvPr/>
              </p:nvSpPr>
              <p:spPr>
                <a:xfrm>
                  <a:off x="4169328" y="4252911"/>
                  <a:ext cx="398631" cy="461665"/>
                </a:xfrm>
                <a:prstGeom prst="rect">
                  <a:avLst/>
                </a:prstGeom>
                <a:blipFill>
                  <a:blip r:embed="rId7"/>
                  <a:stretch>
                    <a:fillRect l="-10769" r="-32308" b="-10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72" name="Tabela 4">
                  <a:extLst>
                    <a:ext uri="{FF2B5EF4-FFF2-40B4-BE49-F238E27FC236}">
                      <a16:creationId xmlns:a16="http://schemas.microsoft.com/office/drawing/2014/main" id="{5B74D404-9ECB-3EF8-4A02-FC73F8FD954E}"/>
                    </a:ext>
                  </a:extLst>
                </p:cNvPr>
                <p:cNvGraphicFramePr>
                  <a:graphicFrameLocks/>
                </p:cNvGraphicFramePr>
                <p:nvPr>
                  <p:extLst>
                    <p:ext uri="{D42A27DB-BD31-4B8C-83A1-F6EECF244321}">
                      <p14:modId xmlns:p14="http://schemas.microsoft.com/office/powerpoint/2010/main" val="4107563717"/>
                    </p:ext>
                  </p:extLst>
                </p:nvPr>
              </p:nvGraphicFramePr>
              <p:xfrm>
                <a:off x="8649235" y="2845424"/>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Choice>
          <mc:Fallback xmlns="">
            <p:graphicFrame>
              <p:nvGraphicFramePr>
                <p:cNvPr id="72" name="Tabela 4">
                  <a:extLst>
                    <a:ext uri="{FF2B5EF4-FFF2-40B4-BE49-F238E27FC236}">
                      <a16:creationId xmlns:a16="http://schemas.microsoft.com/office/drawing/2014/main" id="{5B74D404-9ECB-3EF8-4A02-FC73F8FD954E}"/>
                    </a:ext>
                  </a:extLst>
                </p:cNvPr>
                <p:cNvGraphicFramePr>
                  <a:graphicFrameLocks/>
                </p:cNvGraphicFramePr>
                <p:nvPr>
                  <p:extLst>
                    <p:ext uri="{D42A27DB-BD31-4B8C-83A1-F6EECF244321}">
                      <p14:modId xmlns:p14="http://schemas.microsoft.com/office/powerpoint/2010/main" val="4107563717"/>
                    </p:ext>
                  </p:extLst>
                </p:nvPr>
              </p:nvGraphicFramePr>
              <p:xfrm>
                <a:off x="8649235" y="2845424"/>
                <a:ext cx="870606" cy="741680"/>
              </p:xfrm>
              <a:graphic>
                <a:graphicData uri="http://schemas.openxmlformats.org/drawingml/2006/table">
                  <a:tbl>
                    <a:tblPr firstRow="1" bandRow="1">
                      <a:tableStyleId>{5C22544A-7EE6-4342-B048-85BDC9FD1C3A}</a:tableStyleId>
                    </a:tblPr>
                    <a:tblGrid>
                      <a:gridCol w="435303">
                        <a:extLst>
                          <a:ext uri="{9D8B030D-6E8A-4147-A177-3AD203B41FA5}">
                            <a16:colId xmlns:a16="http://schemas.microsoft.com/office/drawing/2014/main" val="3650072185"/>
                          </a:ext>
                        </a:extLst>
                      </a:gridCol>
                      <a:gridCol w="435303">
                        <a:extLst>
                          <a:ext uri="{9D8B030D-6E8A-4147-A177-3AD203B41FA5}">
                            <a16:colId xmlns:a16="http://schemas.microsoft.com/office/drawing/2014/main" val="1992468736"/>
                          </a:ext>
                        </a:extLst>
                      </a:gridCol>
                    </a:tblGrid>
                    <a:tr h="370840">
                      <a:tc>
                        <a:txBody>
                          <a:bodyPr/>
                          <a:lstStyle/>
                          <a:p>
                            <a:pPr algn="ctr"/>
                            <a:r>
                              <a:rPr lang="pt-BR" b="0" dirty="0">
                                <a:solidFill>
                                  <a:schemeClr val="tx1"/>
                                </a:solidFill>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370840">
                      <a:tc>
                        <a:txBody>
                          <a:bodyPr/>
                          <a:lstStyle/>
                          <a:p>
                            <a:pPr algn="ctr"/>
                            <a:r>
                              <a:rPr lang="pt-BR" b="0" dirty="0">
                                <a:solidFill>
                                  <a:schemeClr val="tx1"/>
                                </a:solidFill>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id="{37E5B023-0434-2C4B-1C72-2D959BE060D2}"/>
                    </a:ext>
                  </a:extLst>
                </p:cNvPr>
                <p:cNvSpPr txBox="1"/>
                <p:nvPr/>
              </p:nvSpPr>
              <p:spPr>
                <a:xfrm>
                  <a:off x="6194291" y="2072879"/>
                  <a:ext cx="2007207" cy="404983"/>
                </a:xfrm>
                <a:prstGeom prst="rect">
                  <a:avLst/>
                </a:prstGeom>
                <a:noFill/>
              </p:spPr>
              <p:txBody>
                <a:bodyPr wrap="square" rtlCol="0">
                  <a:spAutoFit/>
                </a:bodyPr>
                <a:lstStyle/>
                <a:p>
                  <a:pPr/>
                  <a14:m>
                    <m:oMathPara xmlns:m="http://schemas.openxmlformats.org/officeDocument/2006/math">
                      <m:oMath>
                        <m:r>
                          <a:rPr lang="pt-BR" b="0" i="1" smtClean="0">
                            <a:latin typeface="Cambria Math" panose="02040503050406030204" pitchFamily="18" charset="0"/>
                          </a:rPr>
                          <m:t>𝑓</m:t>
                        </m:r>
                        <m:d>
                          <m:dPr>
                            <m:ctrlPr>
                              <a:rPr lang="pt-BR" b="1" i="1">
                                <a:latin typeface="Cambria Math" panose="02040503050406030204" pitchFamily="18" charset="0"/>
                              </a:rPr>
                            </m:ctrlPr>
                          </m:dPr>
                          <m:e>
                            <m:sSup>
                              <m:sSupPr>
                                <m:ctrlPr>
                                  <a:rPr lang="pt-BR" b="1" i="1">
                                    <a:latin typeface="Cambria Math" panose="02040503050406030204" pitchFamily="18" charset="0"/>
                                  </a:rPr>
                                </m:ctrlPr>
                              </m:sSupPr>
                              <m:e>
                                <m:r>
                                  <a:rPr lang="pt-BR" b="1" i="1">
                                    <a:latin typeface="Cambria Math" panose="02040503050406030204" pitchFamily="18" charset="0"/>
                                  </a:rPr>
                                  <m:t>𝑾</m:t>
                                </m:r>
                              </m:e>
                              <m:sup>
                                <m:r>
                                  <a:rPr lang="pt-BR" i="1">
                                    <a:latin typeface="Cambria Math" panose="02040503050406030204" pitchFamily="18" charset="0"/>
                                  </a:rPr>
                                  <m:t>[1]</m:t>
                                </m:r>
                              </m:sup>
                            </m:sSup>
                            <m:r>
                              <a:rPr lang="pt-BR" i="1">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rPr>
                              <m:t>𝐼</m:t>
                            </m:r>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𝑏</m:t>
                                </m:r>
                              </m:e>
                              <m:sub>
                                <m:r>
                                  <a:rPr lang="pt-BR" i="1">
                                    <a:latin typeface="Cambria Math" panose="02040503050406030204" pitchFamily="18" charset="0"/>
                                  </a:rPr>
                                  <m:t>1</m:t>
                                </m:r>
                              </m:sub>
                            </m:sSub>
                          </m:e>
                        </m:d>
                      </m:oMath>
                    </m:oMathPara>
                  </a14:m>
                  <a:endParaRPr lang="pt-BR" sz="600" dirty="0"/>
                </a:p>
              </p:txBody>
            </p:sp>
          </mc:Choice>
          <mc:Fallback xmlns="">
            <p:sp>
              <p:nvSpPr>
                <p:cNvPr id="74" name="CaixaDeTexto 73">
                  <a:extLst>
                    <a:ext uri="{FF2B5EF4-FFF2-40B4-BE49-F238E27FC236}">
                      <a16:creationId xmlns:a16="http://schemas.microsoft.com/office/drawing/2014/main" id="{37E5B023-0434-2C4B-1C72-2D959BE060D2}"/>
                    </a:ext>
                  </a:extLst>
                </p:cNvPr>
                <p:cNvSpPr txBox="1">
                  <a:spLocks noRot="1" noChangeAspect="1" noMove="1" noResize="1" noEditPoints="1" noAdjustHandles="1" noChangeArrowheads="1" noChangeShapeType="1" noTextEdit="1"/>
                </p:cNvSpPr>
                <p:nvPr/>
              </p:nvSpPr>
              <p:spPr>
                <a:xfrm>
                  <a:off x="6194291" y="2072879"/>
                  <a:ext cx="2007207" cy="404983"/>
                </a:xfrm>
                <a:prstGeom prst="rect">
                  <a:avLst/>
                </a:prstGeom>
                <a:blipFill>
                  <a:blip r:embed="rId8"/>
                  <a:stretch>
                    <a:fillRect b="-1060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6" name="CaixaDeTexto 75">
                  <a:extLst>
                    <a:ext uri="{FF2B5EF4-FFF2-40B4-BE49-F238E27FC236}">
                      <a16:creationId xmlns:a16="http://schemas.microsoft.com/office/drawing/2014/main" id="{FB9696D7-CB73-02AF-F6F4-A1FB74EC2CD7}"/>
                    </a:ext>
                  </a:extLst>
                </p:cNvPr>
                <p:cNvSpPr txBox="1"/>
                <p:nvPr/>
              </p:nvSpPr>
              <p:spPr>
                <a:xfrm>
                  <a:off x="4720958" y="1472425"/>
                  <a:ext cx="1375042" cy="381130"/>
                </a:xfrm>
                <a:prstGeom prst="rect">
                  <a:avLst/>
                </a:prstGeom>
                <a:noFill/>
              </p:spPr>
              <p:txBody>
                <a:bodyPr wrap="square" rtlCol="0">
                  <a:spAutoFit/>
                </a:bodyPr>
                <a:lstStyle/>
                <a:p>
                  <a:r>
                    <a:rPr lang="pt-BR" b="0" dirty="0"/>
                    <a:t>Kernel,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𝑾</m:t>
                          </m:r>
                        </m:e>
                        <m:sup>
                          <m:r>
                            <a:rPr lang="pt-BR" b="0" i="1" smtClean="0">
                              <a:latin typeface="Cambria Math" panose="02040503050406030204" pitchFamily="18" charset="0"/>
                            </a:rPr>
                            <m:t>[1]</m:t>
                          </m:r>
                        </m:sup>
                      </m:sSup>
                    </m:oMath>
                  </a14:m>
                  <a:endParaRPr lang="pt-BR" dirty="0"/>
                </a:p>
              </p:txBody>
            </p:sp>
          </mc:Choice>
          <mc:Fallback xmlns="">
            <p:sp>
              <p:nvSpPr>
                <p:cNvPr id="76" name="CaixaDeTexto 75">
                  <a:extLst>
                    <a:ext uri="{FF2B5EF4-FFF2-40B4-BE49-F238E27FC236}">
                      <a16:creationId xmlns:a16="http://schemas.microsoft.com/office/drawing/2014/main" id="{FB9696D7-CB73-02AF-F6F4-A1FB74EC2CD7}"/>
                    </a:ext>
                  </a:extLst>
                </p:cNvPr>
                <p:cNvSpPr txBox="1">
                  <a:spLocks noRot="1" noChangeAspect="1" noMove="1" noResize="1" noEditPoints="1" noAdjustHandles="1" noChangeArrowheads="1" noChangeShapeType="1" noTextEdit="1"/>
                </p:cNvSpPr>
                <p:nvPr/>
              </p:nvSpPr>
              <p:spPr>
                <a:xfrm>
                  <a:off x="4720958" y="1472425"/>
                  <a:ext cx="1375042" cy="381130"/>
                </a:xfrm>
                <a:prstGeom prst="rect">
                  <a:avLst/>
                </a:prstGeom>
                <a:blipFill>
                  <a:blip r:embed="rId9"/>
                  <a:stretch>
                    <a:fillRect l="-3540" t="-6452" b="-2580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7" name="CaixaDeTexto 76">
                  <a:extLst>
                    <a:ext uri="{FF2B5EF4-FFF2-40B4-BE49-F238E27FC236}">
                      <a16:creationId xmlns:a16="http://schemas.microsoft.com/office/drawing/2014/main" id="{08A9FEAF-4185-28FE-34E6-CF9EAA61BB4D}"/>
                    </a:ext>
                  </a:extLst>
                </p:cNvPr>
                <p:cNvSpPr txBox="1"/>
                <p:nvPr/>
              </p:nvSpPr>
              <p:spPr>
                <a:xfrm>
                  <a:off x="4691096" y="3562243"/>
                  <a:ext cx="1375042" cy="381130"/>
                </a:xfrm>
                <a:prstGeom prst="rect">
                  <a:avLst/>
                </a:prstGeom>
                <a:noFill/>
              </p:spPr>
              <p:txBody>
                <a:bodyPr wrap="square" rtlCol="0">
                  <a:spAutoFit/>
                </a:bodyPr>
                <a:lstStyle/>
                <a:p>
                  <a:r>
                    <a:rPr lang="pt-BR" b="0" dirty="0"/>
                    <a:t>Kernel, </a:t>
                  </a:r>
                  <a14:m>
                    <m:oMath xmlns:m="http://schemas.openxmlformats.org/officeDocument/2006/math">
                      <m:sSup>
                        <m:sSupPr>
                          <m:ctrlPr>
                            <a:rPr lang="pt-BR" b="1" i="1" smtClean="0">
                              <a:latin typeface="Cambria Math" panose="02040503050406030204" pitchFamily="18" charset="0"/>
                            </a:rPr>
                          </m:ctrlPr>
                        </m:sSupPr>
                        <m:e>
                          <m:r>
                            <a:rPr lang="pt-BR" b="1" i="1" smtClean="0">
                              <a:latin typeface="Cambria Math" panose="02040503050406030204" pitchFamily="18" charset="0"/>
                            </a:rPr>
                            <m:t>𝑾</m:t>
                          </m:r>
                        </m:e>
                        <m:sup>
                          <m:r>
                            <a:rPr lang="pt-BR" b="0" i="1" smtClean="0">
                              <a:latin typeface="Cambria Math" panose="02040503050406030204" pitchFamily="18" charset="0"/>
                            </a:rPr>
                            <m:t>[2]</m:t>
                          </m:r>
                        </m:sup>
                      </m:sSup>
                    </m:oMath>
                  </a14:m>
                  <a:endParaRPr lang="pt-BR" dirty="0"/>
                </a:p>
              </p:txBody>
            </p:sp>
          </mc:Choice>
          <mc:Fallback xmlns="">
            <p:sp>
              <p:nvSpPr>
                <p:cNvPr id="77" name="CaixaDeTexto 76">
                  <a:extLst>
                    <a:ext uri="{FF2B5EF4-FFF2-40B4-BE49-F238E27FC236}">
                      <a16:creationId xmlns:a16="http://schemas.microsoft.com/office/drawing/2014/main" id="{08A9FEAF-4185-28FE-34E6-CF9EAA61BB4D}"/>
                    </a:ext>
                  </a:extLst>
                </p:cNvPr>
                <p:cNvSpPr txBox="1">
                  <a:spLocks noRot="1" noChangeAspect="1" noMove="1" noResize="1" noEditPoints="1" noAdjustHandles="1" noChangeArrowheads="1" noChangeShapeType="1" noTextEdit="1"/>
                </p:cNvSpPr>
                <p:nvPr/>
              </p:nvSpPr>
              <p:spPr>
                <a:xfrm>
                  <a:off x="4691096" y="3562243"/>
                  <a:ext cx="1375042" cy="381130"/>
                </a:xfrm>
                <a:prstGeom prst="rect">
                  <a:avLst/>
                </a:prstGeom>
                <a:blipFill>
                  <a:blip r:embed="rId10"/>
                  <a:stretch>
                    <a:fillRect l="-4000" t="-4762" b="-23810"/>
                  </a:stretch>
                </a:blipFill>
              </p:spPr>
              <p:txBody>
                <a:bodyPr/>
                <a:lstStyle/>
                <a:p>
                  <a:r>
                    <a:rPr lang="pt-BR">
                      <a:noFill/>
                    </a:rPr>
                    <a:t> </a:t>
                  </a:r>
                </a:p>
              </p:txBody>
            </p:sp>
          </mc:Fallback>
        </mc:AlternateContent>
        <p:cxnSp>
          <p:nvCxnSpPr>
            <p:cNvPr id="80" name="Conector de Seta Reta 79">
              <a:extLst>
                <a:ext uri="{FF2B5EF4-FFF2-40B4-BE49-F238E27FC236}">
                  <a16:creationId xmlns:a16="http://schemas.microsoft.com/office/drawing/2014/main" id="{1A821719-F16B-1896-93AD-59036D6AB144}"/>
                </a:ext>
              </a:extLst>
            </p:cNvPr>
            <p:cNvCxnSpPr/>
            <p:nvPr/>
          </p:nvCxnSpPr>
          <p:spPr>
            <a:xfrm>
              <a:off x="5889436" y="2295824"/>
              <a:ext cx="36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CaixaDeTexto 80">
                  <a:extLst>
                    <a:ext uri="{FF2B5EF4-FFF2-40B4-BE49-F238E27FC236}">
                      <a16:creationId xmlns:a16="http://schemas.microsoft.com/office/drawing/2014/main" id="{CD9BFF37-3A3A-53FB-CA5E-BE463FA8AA19}"/>
                    </a:ext>
                  </a:extLst>
                </p:cNvPr>
                <p:cNvSpPr txBox="1"/>
                <p:nvPr/>
              </p:nvSpPr>
              <p:spPr>
                <a:xfrm>
                  <a:off x="6259098" y="4100982"/>
                  <a:ext cx="1942400" cy="404983"/>
                </a:xfrm>
                <a:prstGeom prst="rect">
                  <a:avLst/>
                </a:prstGeom>
                <a:noFill/>
              </p:spPr>
              <p:txBody>
                <a:bodyPr wrap="square" rtlCol="0">
                  <a:spAutoFit/>
                </a:bodyPr>
                <a:lstStyle/>
                <a:p>
                  <a:pPr/>
                  <a14:m>
                    <m:oMathPara xmlns:m="http://schemas.openxmlformats.org/officeDocument/2006/math">
                      <m:oMath>
                        <m:r>
                          <a:rPr lang="pt-BR" b="0" i="1" smtClean="0">
                            <a:latin typeface="Cambria Math" panose="02040503050406030204" pitchFamily="18" charset="0"/>
                          </a:rPr>
                          <m:t>𝑓</m:t>
                        </m:r>
                        <m:d>
                          <m:dPr>
                            <m:ctrlPr>
                              <a:rPr lang="pt-BR" b="1" i="1">
                                <a:latin typeface="Cambria Math" panose="02040503050406030204" pitchFamily="18" charset="0"/>
                              </a:rPr>
                            </m:ctrlPr>
                          </m:dPr>
                          <m:e>
                            <m:sSup>
                              <m:sSupPr>
                                <m:ctrlPr>
                                  <a:rPr lang="pt-BR" b="1" i="1">
                                    <a:latin typeface="Cambria Math" panose="02040503050406030204" pitchFamily="18" charset="0"/>
                                  </a:rPr>
                                </m:ctrlPr>
                              </m:sSupPr>
                              <m:e>
                                <m:r>
                                  <a:rPr lang="pt-BR" b="1" i="1">
                                    <a:latin typeface="Cambria Math" panose="02040503050406030204" pitchFamily="18" charset="0"/>
                                  </a:rPr>
                                  <m:t>𝑾</m:t>
                                </m:r>
                              </m:e>
                              <m:sup>
                                <m:r>
                                  <a:rPr lang="pt-BR" i="1">
                                    <a:latin typeface="Cambria Math" panose="02040503050406030204" pitchFamily="18" charset="0"/>
                                  </a:rPr>
                                  <m:t>[</m:t>
                                </m:r>
                                <m:r>
                                  <a:rPr lang="pt-BR" b="0" i="1" smtClean="0">
                                    <a:latin typeface="Cambria Math" panose="02040503050406030204" pitchFamily="18" charset="0"/>
                                  </a:rPr>
                                  <m:t>2</m:t>
                                </m:r>
                                <m:r>
                                  <a:rPr lang="pt-BR" i="1">
                                    <a:latin typeface="Cambria Math" panose="02040503050406030204" pitchFamily="18" charset="0"/>
                                  </a:rPr>
                                  <m:t>]</m:t>
                                </m:r>
                              </m:sup>
                            </m:sSup>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𝐼</m:t>
                            </m:r>
                            <m:r>
                              <a:rPr lang="pt-BR" i="1">
                                <a:latin typeface="Cambria Math" panose="02040503050406030204" pitchFamily="18" charset="0"/>
                              </a:rPr>
                              <m:t>+ </m:t>
                            </m:r>
                            <m:sSub>
                              <m:sSubPr>
                                <m:ctrlPr>
                                  <a:rPr lang="pt-BR" i="1">
                                    <a:latin typeface="Cambria Math" panose="02040503050406030204" pitchFamily="18" charset="0"/>
                                  </a:rPr>
                                </m:ctrlPr>
                              </m:sSubPr>
                              <m:e>
                                <m:r>
                                  <a:rPr lang="pt-BR" i="1">
                                    <a:latin typeface="Cambria Math" panose="02040503050406030204" pitchFamily="18" charset="0"/>
                                  </a:rPr>
                                  <m:t>𝑏</m:t>
                                </m:r>
                              </m:e>
                              <m:sub>
                                <m:r>
                                  <a:rPr lang="pt-BR" b="0" i="1" smtClean="0">
                                    <a:latin typeface="Cambria Math" panose="02040503050406030204" pitchFamily="18" charset="0"/>
                                  </a:rPr>
                                  <m:t>2</m:t>
                                </m:r>
                              </m:sub>
                            </m:sSub>
                          </m:e>
                        </m:d>
                      </m:oMath>
                    </m:oMathPara>
                  </a14:m>
                  <a:endParaRPr lang="pt-BR" sz="600" dirty="0"/>
                </a:p>
              </p:txBody>
            </p:sp>
          </mc:Choice>
          <mc:Fallback xmlns="">
            <p:sp>
              <p:nvSpPr>
                <p:cNvPr id="81" name="CaixaDeTexto 80">
                  <a:extLst>
                    <a:ext uri="{FF2B5EF4-FFF2-40B4-BE49-F238E27FC236}">
                      <a16:creationId xmlns:a16="http://schemas.microsoft.com/office/drawing/2014/main" id="{CD9BFF37-3A3A-53FB-CA5E-BE463FA8AA19}"/>
                    </a:ext>
                  </a:extLst>
                </p:cNvPr>
                <p:cNvSpPr txBox="1">
                  <a:spLocks noRot="1" noChangeAspect="1" noMove="1" noResize="1" noEditPoints="1" noAdjustHandles="1" noChangeArrowheads="1" noChangeShapeType="1" noTextEdit="1"/>
                </p:cNvSpPr>
                <p:nvPr/>
              </p:nvSpPr>
              <p:spPr>
                <a:xfrm>
                  <a:off x="6259098" y="4100982"/>
                  <a:ext cx="1942400" cy="404983"/>
                </a:xfrm>
                <a:prstGeom prst="rect">
                  <a:avLst/>
                </a:prstGeom>
                <a:blipFill>
                  <a:blip r:embed="rId11"/>
                  <a:stretch>
                    <a:fillRect l="-943" b="-9091"/>
                  </a:stretch>
                </a:blipFill>
              </p:spPr>
              <p:txBody>
                <a:bodyPr/>
                <a:lstStyle/>
                <a:p>
                  <a:r>
                    <a:rPr lang="pt-BR">
                      <a:noFill/>
                    </a:rPr>
                    <a:t> </a:t>
                  </a:r>
                </a:p>
              </p:txBody>
            </p:sp>
          </mc:Fallback>
        </mc:AlternateContent>
        <p:cxnSp>
          <p:nvCxnSpPr>
            <p:cNvPr id="82" name="Conector de Seta Reta 81">
              <a:extLst>
                <a:ext uri="{FF2B5EF4-FFF2-40B4-BE49-F238E27FC236}">
                  <a16:creationId xmlns:a16="http://schemas.microsoft.com/office/drawing/2014/main" id="{917EE828-FD80-CB2D-CB5B-9B6B12D1922A}"/>
                </a:ext>
              </a:extLst>
            </p:cNvPr>
            <p:cNvCxnSpPr/>
            <p:nvPr/>
          </p:nvCxnSpPr>
          <p:spPr>
            <a:xfrm>
              <a:off x="5914301" y="4300547"/>
              <a:ext cx="3633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Conector de Seta Reta 84">
              <a:extLst>
                <a:ext uri="{FF2B5EF4-FFF2-40B4-BE49-F238E27FC236}">
                  <a16:creationId xmlns:a16="http://schemas.microsoft.com/office/drawing/2014/main" id="{8BE373A1-2B3C-98A4-42E2-6748AB67B83D}"/>
                </a:ext>
              </a:extLst>
            </p:cNvPr>
            <p:cNvCxnSpPr>
              <a:cxnSpLocks/>
            </p:cNvCxnSpPr>
            <p:nvPr/>
          </p:nvCxnSpPr>
          <p:spPr>
            <a:xfrm>
              <a:off x="8108749" y="2295824"/>
              <a:ext cx="456146" cy="678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ector de Seta Reta 87">
              <a:extLst>
                <a:ext uri="{FF2B5EF4-FFF2-40B4-BE49-F238E27FC236}">
                  <a16:creationId xmlns:a16="http://schemas.microsoft.com/office/drawing/2014/main" id="{738F7DF5-88B4-A509-DB0D-73391DC1F199}"/>
                </a:ext>
              </a:extLst>
            </p:cNvPr>
            <p:cNvCxnSpPr>
              <a:cxnSpLocks/>
            </p:cNvCxnSpPr>
            <p:nvPr/>
          </p:nvCxnSpPr>
          <p:spPr>
            <a:xfrm flipV="1">
              <a:off x="8108749" y="3480379"/>
              <a:ext cx="456146" cy="678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2" name="Chave Esquerda 91">
              <a:extLst>
                <a:ext uri="{FF2B5EF4-FFF2-40B4-BE49-F238E27FC236}">
                  <a16:creationId xmlns:a16="http://schemas.microsoft.com/office/drawing/2014/main" id="{C7615704-18B1-D104-90C3-FC4DC2335236}"/>
                </a:ext>
              </a:extLst>
            </p:cNvPr>
            <p:cNvSpPr/>
            <p:nvPr/>
          </p:nvSpPr>
          <p:spPr>
            <a:xfrm rot="16200000">
              <a:off x="5929027" y="3787773"/>
              <a:ext cx="180976" cy="351385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93" name="CaixaDeTexto 92">
              <a:extLst>
                <a:ext uri="{FF2B5EF4-FFF2-40B4-BE49-F238E27FC236}">
                  <a16:creationId xmlns:a16="http://schemas.microsoft.com/office/drawing/2014/main" id="{F93805F0-9070-B21D-D67D-6B439931B9EA}"/>
                </a:ext>
              </a:extLst>
            </p:cNvPr>
            <p:cNvSpPr txBox="1"/>
            <p:nvPr/>
          </p:nvSpPr>
          <p:spPr>
            <a:xfrm>
              <a:off x="4262586" y="5659630"/>
              <a:ext cx="3513858" cy="369332"/>
            </a:xfrm>
            <a:prstGeom prst="rect">
              <a:avLst/>
            </a:prstGeom>
            <a:noFill/>
          </p:spPr>
          <p:txBody>
            <a:bodyPr wrap="square" rtlCol="0">
              <a:spAutoFit/>
            </a:bodyPr>
            <a:lstStyle/>
            <a:p>
              <a:pPr algn="ctr"/>
              <a:r>
                <a:rPr lang="pt-BR" dirty="0"/>
                <a:t>Camada convolucional</a:t>
              </a:r>
            </a:p>
          </p:txBody>
        </p:sp>
      </p:grpSp>
    </p:spTree>
    <p:extLst>
      <p:ext uri="{BB962C8B-B14F-4D97-AF65-F5344CB8AC3E}">
        <p14:creationId xmlns:p14="http://schemas.microsoft.com/office/powerpoint/2010/main" val="25336440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Agrupar 25">
            <a:extLst>
              <a:ext uri="{FF2B5EF4-FFF2-40B4-BE49-F238E27FC236}">
                <a16:creationId xmlns:a16="http://schemas.microsoft.com/office/drawing/2014/main" id="{19C8ABF4-4D85-27D4-276F-C42B4846AD3C}"/>
              </a:ext>
            </a:extLst>
          </p:cNvPr>
          <p:cNvGrpSpPr/>
          <p:nvPr/>
        </p:nvGrpSpPr>
        <p:grpSpPr>
          <a:xfrm>
            <a:off x="1087164" y="638829"/>
            <a:ext cx="4474554" cy="2174220"/>
            <a:chOff x="1087164" y="638829"/>
            <a:chExt cx="4474554" cy="2174220"/>
          </a:xfrm>
        </p:grpSpPr>
        <p:graphicFrame>
          <p:nvGraphicFramePr>
            <p:cNvPr id="6" name="Tabela 4">
              <a:extLst>
                <a:ext uri="{FF2B5EF4-FFF2-40B4-BE49-F238E27FC236}">
                  <a16:creationId xmlns:a16="http://schemas.microsoft.com/office/drawing/2014/main" id="{77D8061D-CE9F-586A-3FEF-FB80125A5387}"/>
                </a:ext>
              </a:extLst>
            </p:cNvPr>
            <p:cNvGraphicFramePr>
              <a:graphicFrameLocks/>
            </p:cNvGraphicFramePr>
            <p:nvPr>
              <p:extLst>
                <p:ext uri="{D42A27DB-BD31-4B8C-83A1-F6EECF244321}">
                  <p14:modId xmlns:p14="http://schemas.microsoft.com/office/powerpoint/2010/main" val="1376476921"/>
                </p:ext>
              </p:extLst>
            </p:nvPr>
          </p:nvGraphicFramePr>
          <p:xfrm>
            <a:off x="1087164" y="1162049"/>
            <a:ext cx="1656036" cy="1651000"/>
          </p:xfrm>
          <a:graphic>
            <a:graphicData uri="http://schemas.openxmlformats.org/drawingml/2006/table">
              <a:tbl>
                <a:tblPr firstRow="1" bandRow="1">
                  <a:tableStyleId>{5C22544A-7EE6-4342-B048-85BDC9FD1C3A}</a:tableStyleId>
                </a:tblPr>
                <a:tblGrid>
                  <a:gridCol w="414009">
                    <a:extLst>
                      <a:ext uri="{9D8B030D-6E8A-4147-A177-3AD203B41FA5}">
                        <a16:colId xmlns:a16="http://schemas.microsoft.com/office/drawing/2014/main" val="3650072185"/>
                      </a:ext>
                    </a:extLst>
                  </a:gridCol>
                  <a:gridCol w="414009">
                    <a:extLst>
                      <a:ext uri="{9D8B030D-6E8A-4147-A177-3AD203B41FA5}">
                        <a16:colId xmlns:a16="http://schemas.microsoft.com/office/drawing/2014/main" val="3646872024"/>
                      </a:ext>
                    </a:extLst>
                  </a:gridCol>
                  <a:gridCol w="414009">
                    <a:extLst>
                      <a:ext uri="{9D8B030D-6E8A-4147-A177-3AD203B41FA5}">
                        <a16:colId xmlns:a16="http://schemas.microsoft.com/office/drawing/2014/main" val="1992468736"/>
                      </a:ext>
                    </a:extLst>
                  </a:gridCol>
                  <a:gridCol w="414009">
                    <a:extLst>
                      <a:ext uri="{9D8B030D-6E8A-4147-A177-3AD203B41FA5}">
                        <a16:colId xmlns:a16="http://schemas.microsoft.com/office/drawing/2014/main" val="2543788704"/>
                      </a:ext>
                    </a:extLst>
                  </a:gridCol>
                </a:tblGrid>
                <a:tr h="412750">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2687601981"/>
                    </a:ext>
                  </a:extLst>
                </a:tr>
                <a:tr h="412750">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823648222"/>
                    </a:ext>
                  </a:extLst>
                </a:tr>
                <a:tr h="412750">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4122169473"/>
                    </a:ext>
                  </a:extLst>
                </a:tr>
                <a:tr h="41275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505587699"/>
                    </a:ext>
                  </a:extLst>
                </a:tr>
              </a:tbl>
            </a:graphicData>
          </a:graphic>
        </p:graphicFrame>
        <p:graphicFrame>
          <p:nvGraphicFramePr>
            <p:cNvPr id="7" name="Tabela 6">
              <a:extLst>
                <a:ext uri="{FF2B5EF4-FFF2-40B4-BE49-F238E27FC236}">
                  <a16:creationId xmlns:a16="http://schemas.microsoft.com/office/drawing/2014/main" id="{3D7922F3-96D0-B17B-80B7-E7B27A555517}"/>
                </a:ext>
              </a:extLst>
            </p:cNvPr>
            <p:cNvGraphicFramePr>
              <a:graphicFrameLocks/>
            </p:cNvGraphicFramePr>
            <p:nvPr>
              <p:extLst>
                <p:ext uri="{D42A27DB-BD31-4B8C-83A1-F6EECF244321}">
                  <p14:modId xmlns:p14="http://schemas.microsoft.com/office/powerpoint/2010/main" val="137210383"/>
                </p:ext>
              </p:extLst>
            </p:nvPr>
          </p:nvGraphicFramePr>
          <p:xfrm>
            <a:off x="4702934" y="1621789"/>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60000"/>
                          <a:lumOff val="40000"/>
                        </a:schemeClr>
                      </a:solidFill>
                    </a:tcPr>
                  </a:tc>
                  <a:extLst>
                    <a:ext uri="{0D108BD9-81ED-4DB2-BD59-A6C34878D82A}">
                      <a16:rowId xmlns:a16="http://schemas.microsoft.com/office/drawing/2014/main" val="505587699"/>
                    </a:ext>
                  </a:extLst>
                </a:tr>
              </a:tbl>
            </a:graphicData>
          </a:graphic>
        </p:graphicFrame>
        <p:sp>
          <p:nvSpPr>
            <p:cNvPr id="11" name="CaixaDeTexto 10">
              <a:extLst>
                <a:ext uri="{FF2B5EF4-FFF2-40B4-BE49-F238E27FC236}">
                  <a16:creationId xmlns:a16="http://schemas.microsoft.com/office/drawing/2014/main" id="{DE737436-CBEC-EC49-4E3B-0AFD4CA5FFB9}"/>
                </a:ext>
              </a:extLst>
            </p:cNvPr>
            <p:cNvSpPr txBox="1"/>
            <p:nvPr/>
          </p:nvSpPr>
          <p:spPr>
            <a:xfrm>
              <a:off x="1087164" y="638829"/>
              <a:ext cx="4474554" cy="369332"/>
            </a:xfrm>
            <a:prstGeom prst="rect">
              <a:avLst/>
            </a:prstGeom>
            <a:noFill/>
          </p:spPr>
          <p:txBody>
            <a:bodyPr wrap="square" rtlCol="0">
              <a:spAutoFit/>
            </a:bodyPr>
            <a:lstStyle/>
            <a:p>
              <a:pPr algn="ctr"/>
              <a:r>
                <a:rPr lang="pt-BR" b="1" dirty="0"/>
                <a:t>Max Pooling</a:t>
              </a:r>
            </a:p>
          </p:txBody>
        </p:sp>
        <p:sp>
          <p:nvSpPr>
            <p:cNvPr id="23" name="CaixaDeTexto 22">
              <a:extLst>
                <a:ext uri="{FF2B5EF4-FFF2-40B4-BE49-F238E27FC236}">
                  <a16:creationId xmlns:a16="http://schemas.microsoft.com/office/drawing/2014/main" id="{A2276082-EB3C-8A54-52D4-7A63DBAA90F8}"/>
                </a:ext>
              </a:extLst>
            </p:cNvPr>
            <p:cNvSpPr txBox="1"/>
            <p:nvPr/>
          </p:nvSpPr>
          <p:spPr>
            <a:xfrm>
              <a:off x="2743200" y="1464329"/>
              <a:ext cx="1905000" cy="523220"/>
            </a:xfrm>
            <a:prstGeom prst="rect">
              <a:avLst/>
            </a:prstGeom>
            <a:noFill/>
          </p:spPr>
          <p:txBody>
            <a:bodyPr wrap="square" rtlCol="0">
              <a:spAutoFit/>
            </a:bodyPr>
            <a:lstStyle/>
            <a:p>
              <a:r>
                <a:rPr lang="pt-BR" sz="1400" dirty="0"/>
                <a:t>Tamanho do </a:t>
              </a:r>
              <a:r>
                <a:rPr lang="pt-BR" sz="1400" i="1" dirty="0"/>
                <a:t>pool</a:t>
              </a:r>
              <a:r>
                <a:rPr lang="pt-BR" sz="1400" dirty="0"/>
                <a:t>: 2x2</a:t>
              </a:r>
            </a:p>
            <a:p>
              <a:r>
                <a:rPr lang="pt-BR" sz="1400" i="1" dirty="0"/>
                <a:t>Stride</a:t>
              </a:r>
              <a:r>
                <a:rPr lang="pt-BR" sz="1400" dirty="0"/>
                <a:t>: 2</a:t>
              </a:r>
            </a:p>
          </p:txBody>
        </p:sp>
        <p:cxnSp>
          <p:nvCxnSpPr>
            <p:cNvPr id="24" name="Conector de Seta Reta 23">
              <a:extLst>
                <a:ext uri="{FF2B5EF4-FFF2-40B4-BE49-F238E27FC236}">
                  <a16:creationId xmlns:a16="http://schemas.microsoft.com/office/drawing/2014/main" id="{98DF511F-DB2C-AF55-37BF-A9A2D56CF13D}"/>
                </a:ext>
              </a:extLst>
            </p:cNvPr>
            <p:cNvCxnSpPr>
              <a:cxnSpLocks/>
            </p:cNvCxnSpPr>
            <p:nvPr/>
          </p:nvCxnSpPr>
          <p:spPr>
            <a:xfrm>
              <a:off x="2805554" y="1996658"/>
              <a:ext cx="18502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9" name="Agrupar 38">
            <a:extLst>
              <a:ext uri="{FF2B5EF4-FFF2-40B4-BE49-F238E27FC236}">
                <a16:creationId xmlns:a16="http://schemas.microsoft.com/office/drawing/2014/main" id="{205131EE-85AA-FCA3-FD1B-178C2DFF4F83}"/>
              </a:ext>
            </a:extLst>
          </p:cNvPr>
          <p:cNvGrpSpPr/>
          <p:nvPr/>
        </p:nvGrpSpPr>
        <p:grpSpPr>
          <a:xfrm>
            <a:off x="3084120" y="3465022"/>
            <a:ext cx="6092269" cy="2976915"/>
            <a:chOff x="3084120" y="3465022"/>
            <a:chExt cx="6092269" cy="2976915"/>
          </a:xfrm>
        </p:grpSpPr>
        <mc:AlternateContent xmlns:mc="http://schemas.openxmlformats.org/markup-compatibility/2006" xmlns:a14="http://schemas.microsoft.com/office/drawing/2010/main">
          <mc:Choice Requires="a14">
            <p:graphicFrame>
              <p:nvGraphicFramePr>
                <p:cNvPr id="27" name="Tabela 4">
                  <a:extLst>
                    <a:ext uri="{FF2B5EF4-FFF2-40B4-BE49-F238E27FC236}">
                      <a16:creationId xmlns:a16="http://schemas.microsoft.com/office/drawing/2014/main" id="{E59D7380-256A-CF5D-BA19-92C1700894B7}"/>
                    </a:ext>
                  </a:extLst>
                </p:cNvPr>
                <p:cNvGraphicFramePr>
                  <a:graphicFrameLocks/>
                </p:cNvGraphicFramePr>
                <p:nvPr>
                  <p:extLst>
                    <p:ext uri="{D42A27DB-BD31-4B8C-83A1-F6EECF244321}">
                      <p14:modId xmlns:p14="http://schemas.microsoft.com/office/powerpoint/2010/main" val="3457506987"/>
                    </p:ext>
                  </p:extLst>
                </p:nvPr>
              </p:nvGraphicFramePr>
              <p:xfrm>
                <a:off x="3084120" y="3845997"/>
                <a:ext cx="2064665" cy="2063750"/>
              </p:xfrm>
              <a:graphic>
                <a:graphicData uri="http://schemas.openxmlformats.org/drawingml/2006/table">
                  <a:tbl>
                    <a:tblPr firstRow="1" bandRow="1">
                      <a:tableStyleId>{5C22544A-7EE6-4342-B048-85BDC9FD1C3A}</a:tableStyleId>
                    </a:tblPr>
                    <a:tblGrid>
                      <a:gridCol w="412933">
                        <a:extLst>
                          <a:ext uri="{9D8B030D-6E8A-4147-A177-3AD203B41FA5}">
                            <a16:colId xmlns:a16="http://schemas.microsoft.com/office/drawing/2014/main" val="1166939837"/>
                          </a:ext>
                        </a:extLst>
                      </a:gridCol>
                      <a:gridCol w="412933">
                        <a:extLst>
                          <a:ext uri="{9D8B030D-6E8A-4147-A177-3AD203B41FA5}">
                            <a16:colId xmlns:a16="http://schemas.microsoft.com/office/drawing/2014/main" val="3650072185"/>
                          </a:ext>
                        </a:extLst>
                      </a:gridCol>
                      <a:gridCol w="412933">
                        <a:extLst>
                          <a:ext uri="{9D8B030D-6E8A-4147-A177-3AD203B41FA5}">
                            <a16:colId xmlns:a16="http://schemas.microsoft.com/office/drawing/2014/main" val="3646872024"/>
                          </a:ext>
                        </a:extLst>
                      </a:gridCol>
                      <a:gridCol w="412933">
                        <a:extLst>
                          <a:ext uri="{9D8B030D-6E8A-4147-A177-3AD203B41FA5}">
                            <a16:colId xmlns:a16="http://schemas.microsoft.com/office/drawing/2014/main" val="1992468736"/>
                          </a:ext>
                        </a:extLst>
                      </a:gridCol>
                      <a:gridCol w="412933">
                        <a:extLst>
                          <a:ext uri="{9D8B030D-6E8A-4147-A177-3AD203B41FA5}">
                            <a16:colId xmlns:a16="http://schemas.microsoft.com/office/drawing/2014/main"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96312944"/>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23648222"/>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22169473"/>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05587699"/>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253280064"/>
                        </a:ext>
                      </a:extLst>
                    </a:tr>
                  </a:tbl>
                </a:graphicData>
              </a:graphic>
            </p:graphicFrame>
          </mc:Choice>
          <mc:Fallback xmlns="">
            <p:graphicFrame>
              <p:nvGraphicFramePr>
                <p:cNvPr id="27" name="Tabela 4">
                  <a:extLst>
                    <a:ext uri="{FF2B5EF4-FFF2-40B4-BE49-F238E27FC236}">
                      <a16:creationId xmlns:a16="http://schemas.microsoft.com/office/drawing/2014/main" id="{E59D7380-256A-CF5D-BA19-92C1700894B7}"/>
                    </a:ext>
                  </a:extLst>
                </p:cNvPr>
                <p:cNvGraphicFramePr>
                  <a:graphicFrameLocks/>
                </p:cNvGraphicFramePr>
                <p:nvPr>
                  <p:extLst>
                    <p:ext uri="{D42A27DB-BD31-4B8C-83A1-F6EECF244321}">
                      <p14:modId xmlns:p14="http://schemas.microsoft.com/office/powerpoint/2010/main" val="3457506987"/>
                    </p:ext>
                  </p:extLst>
                </p:nvPr>
              </p:nvGraphicFramePr>
              <p:xfrm>
                <a:off x="3084120" y="3845997"/>
                <a:ext cx="2064665" cy="2063750"/>
              </p:xfrm>
              <a:graphic>
                <a:graphicData uri="http://schemas.openxmlformats.org/drawingml/2006/table">
                  <a:tbl>
                    <a:tblPr firstRow="1" bandRow="1">
                      <a:tableStyleId>{5C22544A-7EE6-4342-B048-85BDC9FD1C3A}</a:tableStyleId>
                    </a:tblPr>
                    <a:tblGrid>
                      <a:gridCol w="412933">
                        <a:extLst>
                          <a:ext uri="{9D8B030D-6E8A-4147-A177-3AD203B41FA5}">
                            <a16:colId xmlns:a16="http://schemas.microsoft.com/office/drawing/2014/main" val="1166939837"/>
                          </a:ext>
                        </a:extLst>
                      </a:gridCol>
                      <a:gridCol w="412933">
                        <a:extLst>
                          <a:ext uri="{9D8B030D-6E8A-4147-A177-3AD203B41FA5}">
                            <a16:colId xmlns:a16="http://schemas.microsoft.com/office/drawing/2014/main" val="3650072185"/>
                          </a:ext>
                        </a:extLst>
                      </a:gridCol>
                      <a:gridCol w="412933">
                        <a:extLst>
                          <a:ext uri="{9D8B030D-6E8A-4147-A177-3AD203B41FA5}">
                            <a16:colId xmlns:a16="http://schemas.microsoft.com/office/drawing/2014/main" val="3646872024"/>
                          </a:ext>
                        </a:extLst>
                      </a:gridCol>
                      <a:gridCol w="412933">
                        <a:extLst>
                          <a:ext uri="{9D8B030D-6E8A-4147-A177-3AD203B41FA5}">
                            <a16:colId xmlns:a16="http://schemas.microsoft.com/office/drawing/2014/main" val="1992468736"/>
                          </a:ext>
                        </a:extLst>
                      </a:gridCol>
                      <a:gridCol w="412933">
                        <a:extLst>
                          <a:ext uri="{9D8B030D-6E8A-4147-A177-3AD203B41FA5}">
                            <a16:colId xmlns:a16="http://schemas.microsoft.com/office/drawing/2014/main"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496312944"/>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23648222"/>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22169473"/>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505587699"/>
                        </a:ext>
                      </a:extLst>
                    </a:tr>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253280064"/>
                        </a:ext>
                      </a:extLst>
                    </a:tr>
                  </a:tbl>
                </a:graphicData>
              </a:graphic>
            </p:graphicFrame>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2EED2461-2706-7478-1493-A36EC44E1C8E}"/>
                    </a:ext>
                  </a:extLst>
                </p:cNvPr>
                <p:cNvSpPr txBox="1"/>
                <p:nvPr/>
              </p:nvSpPr>
              <p:spPr>
                <a:xfrm>
                  <a:off x="3494945" y="6072605"/>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i="1" smtClean="0">
                            <a:latin typeface="Cambria Math" panose="02040503050406030204" pitchFamily="18" charset="0"/>
                            <a:ea typeface="Cambria Math" panose="02040503050406030204" pitchFamily="18" charset="0"/>
                          </a:rPr>
                          <m:t>3</m:t>
                        </m:r>
                        <m:r>
                          <a:rPr lang="pt-BR" b="0" i="1" smtClean="0">
                            <a:latin typeface="Cambria Math" panose="02040503050406030204" pitchFamily="18" charset="0"/>
                            <a:ea typeface="Cambria Math" panose="02040503050406030204" pitchFamily="18" charset="0"/>
                          </a:rPr>
                          <m:t>×3</m:t>
                        </m:r>
                      </m:oMath>
                    </m:oMathPara>
                  </a14:m>
                  <a:endParaRPr lang="pt-BR" dirty="0"/>
                </a:p>
              </p:txBody>
            </p:sp>
          </mc:Choice>
          <mc:Fallback xmlns="">
            <p:sp>
              <p:nvSpPr>
                <p:cNvPr id="28" name="CaixaDeTexto 27">
                  <a:extLst>
                    <a:ext uri="{FF2B5EF4-FFF2-40B4-BE49-F238E27FC236}">
                      <a16:creationId xmlns:a16="http://schemas.microsoft.com/office/drawing/2014/main" id="{2EED2461-2706-7478-1493-A36EC44E1C8E}"/>
                    </a:ext>
                  </a:extLst>
                </p:cNvPr>
                <p:cNvSpPr txBox="1">
                  <a:spLocks noRot="1" noChangeAspect="1" noMove="1" noResize="1" noEditPoints="1" noAdjustHandles="1" noChangeArrowheads="1" noChangeShapeType="1" noTextEdit="1"/>
                </p:cNvSpPr>
                <p:nvPr/>
              </p:nvSpPr>
              <p:spPr>
                <a:xfrm>
                  <a:off x="3494945" y="6072605"/>
                  <a:ext cx="1243014" cy="369332"/>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29" name="Tabela 28">
                  <a:extLst>
                    <a:ext uri="{FF2B5EF4-FFF2-40B4-BE49-F238E27FC236}">
                      <a16:creationId xmlns:a16="http://schemas.microsoft.com/office/drawing/2014/main" id="{F23B1003-5480-53BF-CB34-07F06893CA32}"/>
                    </a:ext>
                  </a:extLst>
                </p:cNvPr>
                <p:cNvGraphicFramePr>
                  <a:graphicFrameLocks/>
                </p:cNvGraphicFramePr>
                <p:nvPr>
                  <p:extLst>
                    <p:ext uri="{D42A27DB-BD31-4B8C-83A1-F6EECF244321}">
                      <p14:modId xmlns:p14="http://schemas.microsoft.com/office/powerpoint/2010/main" val="1811789852"/>
                    </p:ext>
                  </p:extLst>
                </p:nvPr>
              </p:nvGraphicFramePr>
              <p:xfrm>
                <a:off x="5972256" y="448765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Choice>
          <mc:Fallback xmlns="">
            <p:graphicFrame>
              <p:nvGraphicFramePr>
                <p:cNvPr id="29" name="Tabela 28">
                  <a:extLst>
                    <a:ext uri="{FF2B5EF4-FFF2-40B4-BE49-F238E27FC236}">
                      <a16:creationId xmlns:a16="http://schemas.microsoft.com/office/drawing/2014/main" id="{F23B1003-5480-53BF-CB34-07F06893CA32}"/>
                    </a:ext>
                  </a:extLst>
                </p:cNvPr>
                <p:cNvGraphicFramePr>
                  <a:graphicFrameLocks/>
                </p:cNvGraphicFramePr>
                <p:nvPr>
                  <p:extLst>
                    <p:ext uri="{D42A27DB-BD31-4B8C-83A1-F6EECF244321}">
                      <p14:modId xmlns:p14="http://schemas.microsoft.com/office/powerpoint/2010/main" val="1811789852"/>
                    </p:ext>
                  </p:extLst>
                </p:nvPr>
              </p:nvGraphicFramePr>
              <p:xfrm>
                <a:off x="5972256" y="4487654"/>
                <a:ext cx="858784" cy="731520"/>
              </p:xfrm>
              <a:graphic>
                <a:graphicData uri="http://schemas.openxmlformats.org/drawingml/2006/table">
                  <a:tbl>
                    <a:tblPr firstRow="1" bandRow="1">
                      <a:tableStyleId>{5C22544A-7EE6-4342-B048-85BDC9FD1C3A}</a:tableStyleId>
                    </a:tblPr>
                    <a:tblGrid>
                      <a:gridCol w="429392">
                        <a:extLst>
                          <a:ext uri="{9D8B030D-6E8A-4147-A177-3AD203B41FA5}">
                            <a16:colId xmlns:a16="http://schemas.microsoft.com/office/drawing/2014/main" val="3650072185"/>
                          </a:ext>
                        </a:extLst>
                      </a:gridCol>
                      <a:gridCol w="429392">
                        <a:extLst>
                          <a:ext uri="{9D8B030D-6E8A-4147-A177-3AD203B41FA5}">
                            <a16:colId xmlns:a16="http://schemas.microsoft.com/office/drawing/2014/main" val="1992468736"/>
                          </a:ext>
                        </a:extLst>
                      </a:gridCol>
                    </a:tblGrid>
                    <a:tr h="354318">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823648222"/>
                        </a:ext>
                      </a:extLst>
                    </a:tr>
                    <a:tr h="354318">
                      <a:tc>
                        <a:txBody>
                          <a:bodyPr/>
                          <a:lstStyle/>
                          <a:p>
                            <a:pPr algn="ctr"/>
                            <a:r>
                              <a:rPr lang="pt-BR"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505587699"/>
                        </a:ext>
                      </a:extLst>
                    </a:tr>
                  </a:tbl>
                </a:graphicData>
              </a:graphic>
            </p:graphicFrame>
          </mc:Fallback>
        </mc:AlternateContent>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B848831A-1711-DBF3-556A-22043D3CACA0}"/>
                    </a:ext>
                  </a:extLst>
                </p:cNvPr>
                <p:cNvSpPr txBox="1"/>
                <p:nvPr/>
              </p:nvSpPr>
              <p:spPr>
                <a:xfrm>
                  <a:off x="5263085" y="4622582"/>
                  <a:ext cx="578069" cy="461665"/>
                </a:xfrm>
                <a:prstGeom prst="rect">
                  <a:avLst/>
                </a:prstGeom>
                <a:noFill/>
              </p:spPr>
              <p:txBody>
                <a:bodyPr wrap="square">
                  <a:spAutoFit/>
                </a:bodyPr>
                <a:lstStyle/>
                <a:p>
                  <a:pPr/>
                  <a14:m>
                    <m:oMathPara xmlns:m="http://schemas.openxmlformats.org/officeDocument/2006/math">
                      <m:oMath>
                        <m:r>
                          <a:rPr lang="pt-BR" sz="2400" i="1" smtClean="0">
                            <a:latin typeface="Cambria Math" panose="02040503050406030204" pitchFamily="18" charset="0"/>
                            <a:ea typeface="Cambria Math" panose="02040503050406030204" pitchFamily="18" charset="0"/>
                          </a:rPr>
                          <m:t>⊛</m:t>
                        </m:r>
                      </m:oMath>
                    </m:oMathPara>
                  </a14:m>
                  <a:endParaRPr lang="pt-BR" sz="2400" dirty="0"/>
                </a:p>
              </p:txBody>
            </p:sp>
          </mc:Choice>
          <mc:Fallback xmlns="">
            <p:sp>
              <p:nvSpPr>
                <p:cNvPr id="31" name="CaixaDeTexto 30">
                  <a:extLst>
                    <a:ext uri="{FF2B5EF4-FFF2-40B4-BE49-F238E27FC236}">
                      <a16:creationId xmlns:a16="http://schemas.microsoft.com/office/drawing/2014/main" id="{B848831A-1711-DBF3-556A-22043D3CACA0}"/>
                    </a:ext>
                  </a:extLst>
                </p:cNvPr>
                <p:cNvSpPr txBox="1">
                  <a:spLocks noRot="1" noChangeAspect="1" noMove="1" noResize="1" noEditPoints="1" noAdjustHandles="1" noChangeArrowheads="1" noChangeShapeType="1" noTextEdit="1"/>
                </p:cNvSpPr>
                <p:nvPr/>
              </p:nvSpPr>
              <p:spPr>
                <a:xfrm>
                  <a:off x="5263085" y="4622582"/>
                  <a:ext cx="578069" cy="461665"/>
                </a:xfrm>
                <a:prstGeom prst="rect">
                  <a:avLst/>
                </a:prstGeom>
                <a:blipFill>
                  <a:blip r:embed="rId3"/>
                  <a:stretch>
                    <a:fillRect b="-921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graphicFrame>
              <p:nvGraphicFramePr>
                <p:cNvPr id="32" name="Tabela 4">
                  <a:extLst>
                    <a:ext uri="{FF2B5EF4-FFF2-40B4-BE49-F238E27FC236}">
                      <a16:creationId xmlns:a16="http://schemas.microsoft.com/office/drawing/2014/main" id="{78BC4BC6-6BCB-6168-D704-3B1DD7FCDA2D}"/>
                    </a:ext>
                  </a:extLst>
                </p:cNvPr>
                <p:cNvGraphicFramePr>
                  <a:graphicFrameLocks/>
                </p:cNvGraphicFramePr>
                <p:nvPr>
                  <p:extLst>
                    <p:ext uri="{D42A27DB-BD31-4B8C-83A1-F6EECF244321}">
                      <p14:modId xmlns:p14="http://schemas.microsoft.com/office/powerpoint/2010/main" val="3597541921"/>
                    </p:ext>
                  </p:extLst>
                </p:nvPr>
              </p:nvGraphicFramePr>
              <p:xfrm>
                <a:off x="7409109" y="4052372"/>
                <a:ext cx="1767280" cy="1651000"/>
              </p:xfrm>
              <a:graphic>
                <a:graphicData uri="http://schemas.openxmlformats.org/drawingml/2006/table">
                  <a:tbl>
                    <a:tblPr firstRow="1" bandRow="1">
                      <a:tableStyleId>{5C22544A-7EE6-4342-B048-85BDC9FD1C3A}</a:tableStyleId>
                    </a:tblPr>
                    <a:tblGrid>
                      <a:gridCol w="441820">
                        <a:extLst>
                          <a:ext uri="{9D8B030D-6E8A-4147-A177-3AD203B41FA5}">
                            <a16:colId xmlns:a16="http://schemas.microsoft.com/office/drawing/2014/main" val="1166939837"/>
                          </a:ext>
                        </a:extLst>
                      </a:gridCol>
                      <a:gridCol w="441820">
                        <a:extLst>
                          <a:ext uri="{9D8B030D-6E8A-4147-A177-3AD203B41FA5}">
                            <a16:colId xmlns:a16="http://schemas.microsoft.com/office/drawing/2014/main" val="3650072185"/>
                          </a:ext>
                        </a:extLst>
                      </a:gridCol>
                      <a:gridCol w="441820">
                        <a:extLst>
                          <a:ext uri="{9D8B030D-6E8A-4147-A177-3AD203B41FA5}">
                            <a16:colId xmlns:a16="http://schemas.microsoft.com/office/drawing/2014/main" val="3646872024"/>
                          </a:ext>
                        </a:extLst>
                      </a:gridCol>
                      <a:gridCol w="441820">
                        <a:extLst>
                          <a:ext uri="{9D8B030D-6E8A-4147-A177-3AD203B41FA5}">
                            <a16:colId xmlns:a16="http://schemas.microsoft.com/office/drawing/2014/main"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312944"/>
                        </a:ext>
                      </a:extLst>
                    </a:tr>
                    <a:tr h="41275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412750">
                      <a:tc>
                        <a:txBody>
                          <a:bodyPr/>
                          <a:lstStyle/>
                          <a:p>
                            <a:pPr algn="ctr"/>
                            <a:r>
                              <a:rPr lang="pt-BR" b="0" dirty="0">
                                <a:solidFill>
                                  <a:schemeClr val="tx1"/>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169473"/>
                        </a:ext>
                      </a:extLst>
                    </a:tr>
                    <a:tr h="41275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3280064"/>
                        </a:ext>
                      </a:extLst>
                    </a:tr>
                  </a:tbl>
                </a:graphicData>
              </a:graphic>
            </p:graphicFrame>
          </mc:Choice>
          <mc:Fallback xmlns="">
            <p:graphicFrame>
              <p:nvGraphicFramePr>
                <p:cNvPr id="32" name="Tabela 4">
                  <a:extLst>
                    <a:ext uri="{FF2B5EF4-FFF2-40B4-BE49-F238E27FC236}">
                      <a16:creationId xmlns:a16="http://schemas.microsoft.com/office/drawing/2014/main" id="{78BC4BC6-6BCB-6168-D704-3B1DD7FCDA2D}"/>
                    </a:ext>
                  </a:extLst>
                </p:cNvPr>
                <p:cNvGraphicFramePr>
                  <a:graphicFrameLocks/>
                </p:cNvGraphicFramePr>
                <p:nvPr>
                  <p:extLst>
                    <p:ext uri="{D42A27DB-BD31-4B8C-83A1-F6EECF244321}">
                      <p14:modId xmlns:p14="http://schemas.microsoft.com/office/powerpoint/2010/main" val="3597541921"/>
                    </p:ext>
                  </p:extLst>
                </p:nvPr>
              </p:nvGraphicFramePr>
              <p:xfrm>
                <a:off x="7409109" y="4052372"/>
                <a:ext cx="1767280" cy="1651000"/>
              </p:xfrm>
              <a:graphic>
                <a:graphicData uri="http://schemas.openxmlformats.org/drawingml/2006/table">
                  <a:tbl>
                    <a:tblPr firstRow="1" bandRow="1">
                      <a:tableStyleId>{5C22544A-7EE6-4342-B048-85BDC9FD1C3A}</a:tableStyleId>
                    </a:tblPr>
                    <a:tblGrid>
                      <a:gridCol w="441820">
                        <a:extLst>
                          <a:ext uri="{9D8B030D-6E8A-4147-A177-3AD203B41FA5}">
                            <a16:colId xmlns:a16="http://schemas.microsoft.com/office/drawing/2014/main" val="1166939837"/>
                          </a:ext>
                        </a:extLst>
                      </a:gridCol>
                      <a:gridCol w="441820">
                        <a:extLst>
                          <a:ext uri="{9D8B030D-6E8A-4147-A177-3AD203B41FA5}">
                            <a16:colId xmlns:a16="http://schemas.microsoft.com/office/drawing/2014/main" val="3650072185"/>
                          </a:ext>
                        </a:extLst>
                      </a:gridCol>
                      <a:gridCol w="441820">
                        <a:extLst>
                          <a:ext uri="{9D8B030D-6E8A-4147-A177-3AD203B41FA5}">
                            <a16:colId xmlns:a16="http://schemas.microsoft.com/office/drawing/2014/main" val="3646872024"/>
                          </a:ext>
                        </a:extLst>
                      </a:gridCol>
                      <a:gridCol w="441820">
                        <a:extLst>
                          <a:ext uri="{9D8B030D-6E8A-4147-A177-3AD203B41FA5}">
                            <a16:colId xmlns:a16="http://schemas.microsoft.com/office/drawing/2014/main" val="3619575913"/>
                          </a:ext>
                        </a:extLst>
                      </a:gridCol>
                    </a:tblGrid>
                    <a:tr h="412750">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312944"/>
                        </a:ext>
                      </a:extLst>
                    </a:tr>
                    <a:tr h="412750">
                      <a:tc>
                        <a:txBody>
                          <a:bodyPr/>
                          <a:lstStyle/>
                          <a:p>
                            <a:pPr algn="ctr"/>
                            <a:r>
                              <a:rPr lang="pt-BR" b="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3648222"/>
                        </a:ext>
                      </a:extLst>
                    </a:tr>
                    <a:tr h="412750">
                      <a:tc>
                        <a:txBody>
                          <a:bodyPr/>
                          <a:lstStyle/>
                          <a:p>
                            <a:pPr algn="ctr"/>
                            <a:r>
                              <a:rPr lang="pt-BR" b="0" dirty="0">
                                <a:solidFill>
                                  <a:schemeClr val="tx1"/>
                                </a:solidFill>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43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22169473"/>
                        </a:ext>
                      </a:extLst>
                    </a:tr>
                    <a:tr h="412750">
                      <a:tc>
                        <a:txBody>
                          <a:bodyPr/>
                          <a:lstStyle/>
                          <a:p>
                            <a:pPr algn="ctr"/>
                            <a:r>
                              <a:rPr lang="pt-BR"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pt-BR" b="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53280064"/>
                        </a:ext>
                      </a:extLst>
                    </a:tr>
                  </a:tbl>
                </a:graphicData>
              </a:graphic>
            </p:graphicFrame>
          </mc:Fallback>
        </mc:AlternateContent>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267F1B03-A25D-0156-1A7A-08B9540093D5}"/>
                    </a:ext>
                  </a:extLst>
                </p:cNvPr>
                <p:cNvSpPr txBox="1"/>
                <p:nvPr/>
              </p:nvSpPr>
              <p:spPr>
                <a:xfrm>
                  <a:off x="6831040" y="4622582"/>
                  <a:ext cx="578069" cy="523220"/>
                </a:xfrm>
                <a:prstGeom prst="rect">
                  <a:avLst/>
                </a:prstGeom>
                <a:noFill/>
              </p:spPr>
              <p:txBody>
                <a:bodyPr wrap="square">
                  <a:spAutoFit/>
                </a:bodyPr>
                <a:lstStyle/>
                <a:p>
                  <a:pPr/>
                  <a14:m>
                    <m:oMathPara xmlns:m="http://schemas.openxmlformats.org/officeDocument/2006/math">
                      <m:oMath>
                        <m:r>
                          <a:rPr lang="pt-BR" sz="2800" b="0" i="1" smtClean="0">
                            <a:latin typeface="Cambria Math" panose="02040503050406030204" pitchFamily="18" charset="0"/>
                            <a:ea typeface="Cambria Math" panose="02040503050406030204" pitchFamily="18" charset="0"/>
                          </a:rPr>
                          <m:t>=</m:t>
                        </m:r>
                      </m:oMath>
                    </m:oMathPara>
                  </a14:m>
                  <a:endParaRPr lang="pt-BR" sz="2800" dirty="0"/>
                </a:p>
              </p:txBody>
            </p:sp>
          </mc:Choice>
          <mc:Fallback xmlns="">
            <p:sp>
              <p:nvSpPr>
                <p:cNvPr id="33" name="CaixaDeTexto 32">
                  <a:extLst>
                    <a:ext uri="{FF2B5EF4-FFF2-40B4-BE49-F238E27FC236}">
                      <a16:creationId xmlns:a16="http://schemas.microsoft.com/office/drawing/2014/main" id="{267F1B03-A25D-0156-1A7A-08B9540093D5}"/>
                    </a:ext>
                  </a:extLst>
                </p:cNvPr>
                <p:cNvSpPr txBox="1">
                  <a:spLocks noRot="1" noChangeAspect="1" noMove="1" noResize="1" noEditPoints="1" noAdjustHandles="1" noChangeArrowheads="1" noChangeShapeType="1" noTextEdit="1"/>
                </p:cNvSpPr>
                <p:nvPr/>
              </p:nvSpPr>
              <p:spPr>
                <a:xfrm>
                  <a:off x="6831040" y="4622582"/>
                  <a:ext cx="578069" cy="523220"/>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CA1D3E5B-A8ED-B630-15C5-683930E325B2}"/>
                    </a:ext>
                  </a:extLst>
                </p:cNvPr>
                <p:cNvSpPr txBox="1"/>
                <p:nvPr/>
              </p:nvSpPr>
              <p:spPr>
                <a:xfrm>
                  <a:off x="5780141" y="5326788"/>
                  <a:ext cx="1243014" cy="646331"/>
                </a:xfrm>
                <a:prstGeom prst="rect">
                  <a:avLst/>
                </a:prstGeom>
                <a:noFill/>
              </p:spPr>
              <p:txBody>
                <a:bodyPr wrap="square" rtlCol="0">
                  <a:spAutoFit/>
                </a:bodyPr>
                <a:lstStyle/>
                <a:p>
                  <a:pPr algn="ctr"/>
                  <a14:m>
                    <m:oMathPara xmlns:m="http://schemas.openxmlformats.org/officeDocument/2006/math">
                      <m:oMathParaPr>
                        <m:jc m:val="center"/>
                      </m:oMathParaPr>
                      <m:oMath>
                        <m:r>
                          <a:rPr lang="pt-BR" b="0" i="1" smtClean="0">
                            <a:latin typeface="Cambria Math" panose="02040503050406030204" pitchFamily="18" charset="0"/>
                            <a:ea typeface="Cambria Math" panose="02040503050406030204" pitchFamily="18" charset="0"/>
                          </a:rPr>
                          <m:t>2×2</m:t>
                        </m:r>
                      </m:oMath>
                    </m:oMathPara>
                  </a14:m>
                  <a:endParaRPr lang="pt-BR" dirty="0"/>
                </a:p>
                <a:p>
                  <a:pPr algn="ctr"/>
                  <a:r>
                    <a:rPr lang="pt-BR" i="1" dirty="0"/>
                    <a:t>stride</a:t>
                  </a:r>
                  <a:r>
                    <a:rPr lang="pt-BR" dirty="0"/>
                    <a:t> = 1</a:t>
                  </a:r>
                </a:p>
              </p:txBody>
            </p:sp>
          </mc:Choice>
          <mc:Fallback xmlns="">
            <p:sp>
              <p:nvSpPr>
                <p:cNvPr id="34" name="CaixaDeTexto 33">
                  <a:extLst>
                    <a:ext uri="{FF2B5EF4-FFF2-40B4-BE49-F238E27FC236}">
                      <a16:creationId xmlns:a16="http://schemas.microsoft.com/office/drawing/2014/main" id="{CA1D3E5B-A8ED-B630-15C5-683930E325B2}"/>
                    </a:ext>
                  </a:extLst>
                </p:cNvPr>
                <p:cNvSpPr txBox="1">
                  <a:spLocks noRot="1" noChangeAspect="1" noMove="1" noResize="1" noEditPoints="1" noAdjustHandles="1" noChangeArrowheads="1" noChangeShapeType="1" noTextEdit="1"/>
                </p:cNvSpPr>
                <p:nvPr/>
              </p:nvSpPr>
              <p:spPr>
                <a:xfrm>
                  <a:off x="5780141" y="5326788"/>
                  <a:ext cx="1243014" cy="646331"/>
                </a:xfrm>
                <a:prstGeom prst="rect">
                  <a:avLst/>
                </a:prstGeom>
                <a:blipFill>
                  <a:blip r:embed="rId5"/>
                  <a:stretch>
                    <a:fillRect b="-1415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3723775D-3345-AD3C-8DDB-DB4456ED92AA}"/>
                    </a:ext>
                  </a:extLst>
                </p:cNvPr>
                <p:cNvSpPr txBox="1"/>
                <p:nvPr/>
              </p:nvSpPr>
              <p:spPr>
                <a:xfrm>
                  <a:off x="7671242" y="5887939"/>
                  <a:ext cx="1243014" cy="369332"/>
                </a:xfrm>
                <a:prstGeom prst="rect">
                  <a:avLst/>
                </a:prstGeom>
                <a:noFill/>
              </p:spPr>
              <p:txBody>
                <a:bodyPr wrap="square" rtlCol="0">
                  <a:spAutoFit/>
                </a:bodyPr>
                <a:lstStyle/>
                <a:p>
                  <a:pPr/>
                  <a14:m>
                    <m:oMathPara xmlns:m="http://schemas.openxmlformats.org/officeDocument/2006/math">
                      <m:oMathParaPr>
                        <m:jc m:val="center"/>
                      </m:oMathParaPr>
                      <m:oMath>
                        <m:r>
                          <a:rPr lang="pt-BR" b="0" i="1" smtClean="0">
                            <a:latin typeface="Cambria Math" panose="02040503050406030204" pitchFamily="18" charset="0"/>
                            <a:ea typeface="Cambria Math" panose="02040503050406030204" pitchFamily="18" charset="0"/>
                          </a:rPr>
                          <m:t>4×4</m:t>
                        </m:r>
                      </m:oMath>
                    </m:oMathPara>
                  </a14:m>
                  <a:endParaRPr lang="pt-BR" dirty="0"/>
                </a:p>
              </p:txBody>
            </p:sp>
          </mc:Choice>
          <mc:Fallback xmlns="">
            <p:sp>
              <p:nvSpPr>
                <p:cNvPr id="35" name="CaixaDeTexto 34">
                  <a:extLst>
                    <a:ext uri="{FF2B5EF4-FFF2-40B4-BE49-F238E27FC236}">
                      <a16:creationId xmlns:a16="http://schemas.microsoft.com/office/drawing/2014/main" id="{3723775D-3345-AD3C-8DDB-DB4456ED92AA}"/>
                    </a:ext>
                  </a:extLst>
                </p:cNvPr>
                <p:cNvSpPr txBox="1">
                  <a:spLocks noRot="1" noChangeAspect="1" noMove="1" noResize="1" noEditPoints="1" noAdjustHandles="1" noChangeArrowheads="1" noChangeShapeType="1" noTextEdit="1"/>
                </p:cNvSpPr>
                <p:nvPr/>
              </p:nvSpPr>
              <p:spPr>
                <a:xfrm>
                  <a:off x="7671242" y="5887939"/>
                  <a:ext cx="1243014" cy="369332"/>
                </a:xfrm>
                <a:prstGeom prst="rect">
                  <a:avLst/>
                </a:prstGeom>
                <a:blipFill>
                  <a:blip r:embed="rId6"/>
                  <a:stretch>
                    <a:fillRect/>
                  </a:stretch>
                </a:blipFill>
              </p:spPr>
              <p:txBody>
                <a:bodyPr/>
                <a:lstStyle/>
                <a:p>
                  <a:r>
                    <a:rPr lang="pt-BR">
                      <a:noFill/>
                    </a:rPr>
                    <a:t> </a:t>
                  </a:r>
                </a:p>
              </p:txBody>
            </p:sp>
          </mc:Fallback>
        </mc:AlternateContent>
        <p:sp>
          <p:nvSpPr>
            <p:cNvPr id="36" name="CaixaDeTexto 35">
              <a:extLst>
                <a:ext uri="{FF2B5EF4-FFF2-40B4-BE49-F238E27FC236}">
                  <a16:creationId xmlns:a16="http://schemas.microsoft.com/office/drawing/2014/main" id="{8761D55B-1299-D1C9-5A57-06AB21771704}"/>
                </a:ext>
              </a:extLst>
            </p:cNvPr>
            <p:cNvSpPr txBox="1"/>
            <p:nvPr/>
          </p:nvSpPr>
          <p:spPr>
            <a:xfrm>
              <a:off x="3084120" y="3465022"/>
              <a:ext cx="2064665" cy="369332"/>
            </a:xfrm>
            <a:prstGeom prst="rect">
              <a:avLst/>
            </a:prstGeom>
            <a:noFill/>
          </p:spPr>
          <p:txBody>
            <a:bodyPr wrap="square" rtlCol="0">
              <a:spAutoFit/>
            </a:bodyPr>
            <a:lstStyle/>
            <a:p>
              <a:pPr algn="ctr"/>
              <a:r>
                <a:rPr lang="pt-BR" dirty="0"/>
                <a:t>Input</a:t>
              </a:r>
            </a:p>
          </p:txBody>
        </p:sp>
        <p:sp>
          <p:nvSpPr>
            <p:cNvPr id="37" name="CaixaDeTexto 36">
              <a:extLst>
                <a:ext uri="{FF2B5EF4-FFF2-40B4-BE49-F238E27FC236}">
                  <a16:creationId xmlns:a16="http://schemas.microsoft.com/office/drawing/2014/main" id="{0B61D4FE-F4F5-6FE7-AFC7-7D15F8311F97}"/>
                </a:ext>
              </a:extLst>
            </p:cNvPr>
            <p:cNvSpPr txBox="1"/>
            <p:nvPr/>
          </p:nvSpPr>
          <p:spPr>
            <a:xfrm>
              <a:off x="5773932" y="3476665"/>
              <a:ext cx="1196647" cy="369332"/>
            </a:xfrm>
            <a:prstGeom prst="rect">
              <a:avLst/>
            </a:prstGeom>
            <a:noFill/>
          </p:spPr>
          <p:txBody>
            <a:bodyPr wrap="square" rtlCol="0">
              <a:spAutoFit/>
            </a:bodyPr>
            <a:lstStyle/>
            <a:p>
              <a:pPr algn="ctr"/>
              <a:r>
                <a:rPr lang="pt-BR" dirty="0"/>
                <a:t>Kernel</a:t>
              </a:r>
            </a:p>
          </p:txBody>
        </p:sp>
        <p:sp>
          <p:nvSpPr>
            <p:cNvPr id="38" name="CaixaDeTexto 37">
              <a:extLst>
                <a:ext uri="{FF2B5EF4-FFF2-40B4-BE49-F238E27FC236}">
                  <a16:creationId xmlns:a16="http://schemas.microsoft.com/office/drawing/2014/main" id="{75878AAC-FDB8-E5C2-0FBB-866FC4234616}"/>
                </a:ext>
              </a:extLst>
            </p:cNvPr>
            <p:cNvSpPr txBox="1"/>
            <p:nvPr/>
          </p:nvSpPr>
          <p:spPr>
            <a:xfrm>
              <a:off x="7409109" y="3465022"/>
              <a:ext cx="1767280" cy="369332"/>
            </a:xfrm>
            <a:prstGeom prst="rect">
              <a:avLst/>
            </a:prstGeom>
            <a:noFill/>
          </p:spPr>
          <p:txBody>
            <a:bodyPr wrap="square" rtlCol="0">
              <a:spAutoFit/>
            </a:bodyPr>
            <a:lstStyle/>
            <a:p>
              <a:pPr algn="ctr"/>
              <a:r>
                <a:rPr lang="pt-BR" dirty="0"/>
                <a:t>Output</a:t>
              </a:r>
            </a:p>
          </p:txBody>
        </p:sp>
      </p:grpSp>
    </p:spTree>
    <p:extLst>
      <p:ext uri="{BB962C8B-B14F-4D97-AF65-F5344CB8AC3E}">
        <p14:creationId xmlns:p14="http://schemas.microsoft.com/office/powerpoint/2010/main" val="284763974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Agrupar 10">
            <a:extLst>
              <a:ext uri="{FF2B5EF4-FFF2-40B4-BE49-F238E27FC236}">
                <a16:creationId xmlns:a16="http://schemas.microsoft.com/office/drawing/2014/main" id="{48DD0C27-AC65-5F17-6083-15899F9E466F}"/>
              </a:ext>
            </a:extLst>
          </p:cNvPr>
          <p:cNvGrpSpPr/>
          <p:nvPr/>
        </p:nvGrpSpPr>
        <p:grpSpPr>
          <a:xfrm>
            <a:off x="1214765" y="1566807"/>
            <a:ext cx="10336094" cy="2276986"/>
            <a:chOff x="1214765" y="1566807"/>
            <a:chExt cx="10336094" cy="2276986"/>
          </a:xfrm>
        </p:grpSpPr>
        <p:pic>
          <p:nvPicPr>
            <p:cNvPr id="4" name="Imagem 3">
              <a:extLst>
                <a:ext uri="{FF2B5EF4-FFF2-40B4-BE49-F238E27FC236}">
                  <a16:creationId xmlns:a16="http://schemas.microsoft.com/office/drawing/2014/main" id="{12F01B1C-DE92-266A-A9F6-6A6A66790B44}"/>
                </a:ext>
              </a:extLst>
            </p:cNvPr>
            <p:cNvPicPr>
              <a:picLocks/>
            </p:cNvPicPr>
            <p:nvPr/>
          </p:nvPicPr>
          <p:blipFill>
            <a:blip r:embed="rId2"/>
            <a:stretch>
              <a:fillRect/>
            </a:stretch>
          </p:blipFill>
          <p:spPr>
            <a:xfrm>
              <a:off x="1214765" y="1569375"/>
              <a:ext cx="2276986" cy="2252613"/>
            </a:xfrm>
            <a:prstGeom prst="rect">
              <a:avLst/>
            </a:prstGeom>
          </p:spPr>
        </p:pic>
        <p:pic>
          <p:nvPicPr>
            <p:cNvPr id="5" name="Imagem 4">
              <a:extLst>
                <a:ext uri="{FF2B5EF4-FFF2-40B4-BE49-F238E27FC236}">
                  <a16:creationId xmlns:a16="http://schemas.microsoft.com/office/drawing/2014/main" id="{13BEDA39-0610-2EB1-C797-AE621BAD9C03}"/>
                </a:ext>
              </a:extLst>
            </p:cNvPr>
            <p:cNvPicPr>
              <a:picLocks noChangeAspect="1"/>
            </p:cNvPicPr>
            <p:nvPr/>
          </p:nvPicPr>
          <p:blipFill>
            <a:blip r:embed="rId3"/>
            <a:stretch>
              <a:fillRect/>
            </a:stretch>
          </p:blipFill>
          <p:spPr>
            <a:xfrm>
              <a:off x="4347118" y="1566807"/>
              <a:ext cx="2276986" cy="2276986"/>
            </a:xfrm>
            <a:prstGeom prst="rect">
              <a:avLst/>
            </a:prstGeom>
          </p:spPr>
        </p:pic>
        <p:pic>
          <p:nvPicPr>
            <p:cNvPr id="6" name="Imagem 5">
              <a:extLst>
                <a:ext uri="{FF2B5EF4-FFF2-40B4-BE49-F238E27FC236}">
                  <a16:creationId xmlns:a16="http://schemas.microsoft.com/office/drawing/2014/main" id="{8B217398-AC93-993B-F8E9-D5C7378E02D3}"/>
                </a:ext>
              </a:extLst>
            </p:cNvPr>
            <p:cNvPicPr>
              <a:picLocks/>
            </p:cNvPicPr>
            <p:nvPr/>
          </p:nvPicPr>
          <p:blipFill>
            <a:blip r:embed="rId4"/>
            <a:stretch>
              <a:fillRect/>
            </a:stretch>
          </p:blipFill>
          <p:spPr>
            <a:xfrm>
              <a:off x="7627304" y="1569375"/>
              <a:ext cx="2276986" cy="2252613"/>
            </a:xfrm>
            <a:prstGeom prst="rect">
              <a:avLst/>
            </a:prstGeom>
          </p:spPr>
        </p:pic>
        <p:sp>
          <p:nvSpPr>
            <p:cNvPr id="7" name="Sinal de Adição 6">
              <a:extLst>
                <a:ext uri="{FF2B5EF4-FFF2-40B4-BE49-F238E27FC236}">
                  <a16:creationId xmlns:a16="http://schemas.microsoft.com/office/drawing/2014/main" id="{6E756E8E-AFAF-CB82-5A00-121B4571DB78}"/>
                </a:ext>
              </a:extLst>
            </p:cNvPr>
            <p:cNvSpPr/>
            <p:nvPr/>
          </p:nvSpPr>
          <p:spPr>
            <a:xfrm>
              <a:off x="3692525" y="2495335"/>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Sinal de Adição 7">
              <a:extLst>
                <a:ext uri="{FF2B5EF4-FFF2-40B4-BE49-F238E27FC236}">
                  <a16:creationId xmlns:a16="http://schemas.microsoft.com/office/drawing/2014/main" id="{6EA8C6B8-0AB5-CDD1-C74C-71D8176CFDDC}"/>
                </a:ext>
              </a:extLst>
            </p:cNvPr>
            <p:cNvSpPr/>
            <p:nvPr/>
          </p:nvSpPr>
          <p:spPr>
            <a:xfrm>
              <a:off x="6930495" y="2504954"/>
              <a:ext cx="390417" cy="400692"/>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Igual a 8">
              <a:extLst>
                <a:ext uri="{FF2B5EF4-FFF2-40B4-BE49-F238E27FC236}">
                  <a16:creationId xmlns:a16="http://schemas.microsoft.com/office/drawing/2014/main" id="{4C5374E4-751A-AD8F-E774-2811EC1BFCF1}"/>
                </a:ext>
              </a:extLst>
            </p:cNvPr>
            <p:cNvSpPr/>
            <p:nvPr/>
          </p:nvSpPr>
          <p:spPr>
            <a:xfrm>
              <a:off x="10042291" y="2546168"/>
              <a:ext cx="400692" cy="284814"/>
            </a:xfrm>
            <a:prstGeom prst="math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 name="CaixaDeTexto 9">
              <a:extLst>
                <a:ext uri="{FF2B5EF4-FFF2-40B4-BE49-F238E27FC236}">
                  <a16:creationId xmlns:a16="http://schemas.microsoft.com/office/drawing/2014/main" id="{F8A6FEC9-4B86-D050-ABD4-9E742F9CC91D}"/>
                </a:ext>
              </a:extLst>
            </p:cNvPr>
            <p:cNvSpPr txBox="1"/>
            <p:nvPr/>
          </p:nvSpPr>
          <p:spPr>
            <a:xfrm>
              <a:off x="10442983" y="2495335"/>
              <a:ext cx="1107876" cy="369332"/>
            </a:xfrm>
            <a:prstGeom prst="rect">
              <a:avLst/>
            </a:prstGeom>
            <a:noFill/>
          </p:spPr>
          <p:txBody>
            <a:bodyPr wrap="square" rtlCol="0">
              <a:spAutoFit/>
            </a:bodyPr>
            <a:lstStyle/>
            <a:p>
              <a:pPr algn="ctr"/>
              <a:r>
                <a:rPr lang="pt-BR" b="1" dirty="0"/>
                <a:t>Humano</a:t>
              </a:r>
            </a:p>
          </p:txBody>
        </p:sp>
      </p:grpSp>
    </p:spTree>
    <p:extLst>
      <p:ext uri="{BB962C8B-B14F-4D97-AF65-F5344CB8AC3E}">
        <p14:creationId xmlns:p14="http://schemas.microsoft.com/office/powerpoint/2010/main" val="7480710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1" name="Agrupar 170">
            <a:extLst>
              <a:ext uri="{FF2B5EF4-FFF2-40B4-BE49-F238E27FC236}">
                <a16:creationId xmlns:a16="http://schemas.microsoft.com/office/drawing/2014/main" id="{39495C9F-10F4-5151-CC62-C58925FE8054}"/>
              </a:ext>
            </a:extLst>
          </p:cNvPr>
          <p:cNvGrpSpPr/>
          <p:nvPr/>
        </p:nvGrpSpPr>
        <p:grpSpPr>
          <a:xfrm>
            <a:off x="889000" y="1500990"/>
            <a:ext cx="10695283" cy="4850739"/>
            <a:chOff x="889000" y="1500990"/>
            <a:chExt cx="10695283" cy="4850739"/>
          </a:xfrm>
        </p:grpSpPr>
        <p:sp>
          <p:nvSpPr>
            <p:cNvPr id="4" name="Elipse 3">
              <a:extLst>
                <a:ext uri="{FF2B5EF4-FFF2-40B4-BE49-F238E27FC236}">
                  <a16:creationId xmlns:a16="http://schemas.microsoft.com/office/drawing/2014/main" id="{3CC2AD3C-5109-EAF7-B113-EE79136C4F4E}"/>
                </a:ext>
              </a:extLst>
            </p:cNvPr>
            <p:cNvSpPr>
              <a:spLocks noChangeAspect="1"/>
            </p:cNvSpPr>
            <p:nvPr/>
          </p:nvSpPr>
          <p:spPr>
            <a:xfrm>
              <a:off x="2348948" y="3028122"/>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a:extLst>
                <a:ext uri="{FF2B5EF4-FFF2-40B4-BE49-F238E27FC236}">
                  <a16:creationId xmlns:a16="http://schemas.microsoft.com/office/drawing/2014/main" id="{6790AF7C-5EFE-12F2-A670-61E2AB90F18D}"/>
                </a:ext>
              </a:extLst>
            </p:cNvPr>
            <p:cNvSpPr>
              <a:spLocks noChangeAspect="1"/>
            </p:cNvSpPr>
            <p:nvPr/>
          </p:nvSpPr>
          <p:spPr>
            <a:xfrm>
              <a:off x="2348948"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a:extLst>
                <a:ext uri="{FF2B5EF4-FFF2-40B4-BE49-F238E27FC236}">
                  <a16:creationId xmlns:a16="http://schemas.microsoft.com/office/drawing/2014/main" id="{CCA025DF-B6B7-748F-59E2-AD71D0DBE80F}"/>
                </a:ext>
              </a:extLst>
            </p:cNvPr>
            <p:cNvSpPr>
              <a:spLocks noChangeAspect="1"/>
            </p:cNvSpPr>
            <p:nvPr/>
          </p:nvSpPr>
          <p:spPr>
            <a:xfrm>
              <a:off x="3707296"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a:extLst>
                <a:ext uri="{FF2B5EF4-FFF2-40B4-BE49-F238E27FC236}">
                  <a16:creationId xmlns:a16="http://schemas.microsoft.com/office/drawing/2014/main" id="{47AFCD59-5350-44C4-04DA-23C96F5A0A13}"/>
                </a:ext>
              </a:extLst>
            </p:cNvPr>
            <p:cNvSpPr>
              <a:spLocks noChangeAspect="1"/>
            </p:cNvSpPr>
            <p:nvPr/>
          </p:nvSpPr>
          <p:spPr>
            <a:xfrm>
              <a:off x="990600"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a:extLst>
                <a:ext uri="{FF2B5EF4-FFF2-40B4-BE49-F238E27FC236}">
                  <a16:creationId xmlns:a16="http://schemas.microsoft.com/office/drawing/2014/main" id="{5ACE6149-2CEA-97EC-5A9A-5CCEBFF47ECD}"/>
                </a:ext>
              </a:extLst>
            </p:cNvPr>
            <p:cNvSpPr>
              <a:spLocks noChangeAspect="1"/>
            </p:cNvSpPr>
            <p:nvPr/>
          </p:nvSpPr>
          <p:spPr>
            <a:xfrm>
              <a:off x="3028122" y="4614940"/>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Elipse 13">
              <a:extLst>
                <a:ext uri="{FF2B5EF4-FFF2-40B4-BE49-F238E27FC236}">
                  <a16:creationId xmlns:a16="http://schemas.microsoft.com/office/drawing/2014/main" id="{EA551C41-2D3E-9253-4FA3-17B184187F48}"/>
                </a:ext>
              </a:extLst>
            </p:cNvPr>
            <p:cNvSpPr>
              <a:spLocks noChangeAspect="1"/>
            </p:cNvSpPr>
            <p:nvPr/>
          </p:nvSpPr>
          <p:spPr>
            <a:xfrm>
              <a:off x="990600" y="4614940"/>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Elipse 14">
              <a:extLst>
                <a:ext uri="{FF2B5EF4-FFF2-40B4-BE49-F238E27FC236}">
                  <a16:creationId xmlns:a16="http://schemas.microsoft.com/office/drawing/2014/main" id="{6DB04CC9-3792-FBA2-F507-91EFDEEC1EF8}"/>
                </a:ext>
              </a:extLst>
            </p:cNvPr>
            <p:cNvSpPr>
              <a:spLocks noChangeAspect="1"/>
            </p:cNvSpPr>
            <p:nvPr/>
          </p:nvSpPr>
          <p:spPr>
            <a:xfrm>
              <a:off x="2348948"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Elipse 16">
              <a:extLst>
                <a:ext uri="{FF2B5EF4-FFF2-40B4-BE49-F238E27FC236}">
                  <a16:creationId xmlns:a16="http://schemas.microsoft.com/office/drawing/2014/main" id="{FCC2B3D8-98CF-DCD9-F12B-9FFCBF38B74E}"/>
                </a:ext>
              </a:extLst>
            </p:cNvPr>
            <p:cNvSpPr>
              <a:spLocks noChangeAspect="1"/>
            </p:cNvSpPr>
            <p:nvPr/>
          </p:nvSpPr>
          <p:spPr>
            <a:xfrm>
              <a:off x="3707296"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Elipse 18">
              <a:extLst>
                <a:ext uri="{FF2B5EF4-FFF2-40B4-BE49-F238E27FC236}">
                  <a16:creationId xmlns:a16="http://schemas.microsoft.com/office/drawing/2014/main" id="{2C041BEA-18A6-A325-0C77-245E6C58CF2A}"/>
                </a:ext>
              </a:extLst>
            </p:cNvPr>
            <p:cNvSpPr>
              <a:spLocks noChangeAspect="1"/>
            </p:cNvSpPr>
            <p:nvPr/>
          </p:nvSpPr>
          <p:spPr>
            <a:xfrm>
              <a:off x="990600"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2" name="Conector de Seta Reta 21">
              <a:extLst>
                <a:ext uri="{FF2B5EF4-FFF2-40B4-BE49-F238E27FC236}">
                  <a16:creationId xmlns:a16="http://schemas.microsoft.com/office/drawing/2014/main" id="{7EFFB4F5-3E7E-FCF2-1FB6-071CCD6D9A11}"/>
                </a:ext>
              </a:extLst>
            </p:cNvPr>
            <p:cNvCxnSpPr>
              <a:stCxn id="9" idx="0"/>
              <a:endCxn id="4" idx="4"/>
            </p:cNvCxnSpPr>
            <p:nvPr/>
          </p:nvCxnSpPr>
          <p:spPr>
            <a:xfrm flipV="1">
              <a:off x="1224600" y="3496122"/>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37F93FD8-9116-0BE4-07AF-371F040CE90D}"/>
                </a:ext>
              </a:extLst>
            </p:cNvPr>
            <p:cNvCxnSpPr>
              <a:stCxn id="5" idx="0"/>
              <a:endCxn id="4" idx="4"/>
            </p:cNvCxnSpPr>
            <p:nvPr/>
          </p:nvCxnSpPr>
          <p:spPr>
            <a:xfrm flipV="1">
              <a:off x="2582948" y="3496122"/>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ector de Seta Reta 29">
              <a:extLst>
                <a:ext uri="{FF2B5EF4-FFF2-40B4-BE49-F238E27FC236}">
                  <a16:creationId xmlns:a16="http://schemas.microsoft.com/office/drawing/2014/main" id="{D8BCF74D-0E61-2793-048A-0070BFEB7834}"/>
                </a:ext>
              </a:extLst>
            </p:cNvPr>
            <p:cNvCxnSpPr>
              <a:stCxn id="7" idx="0"/>
              <a:endCxn id="4" idx="4"/>
            </p:cNvCxnSpPr>
            <p:nvPr/>
          </p:nvCxnSpPr>
          <p:spPr>
            <a:xfrm flipH="1" flipV="1">
              <a:off x="2582948" y="3496122"/>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800565D8-8E98-BF9B-234B-E01A463B9451}"/>
                </a:ext>
              </a:extLst>
            </p:cNvPr>
            <p:cNvSpPr>
              <a:spLocks noChangeAspect="1"/>
            </p:cNvSpPr>
            <p:nvPr/>
          </p:nvSpPr>
          <p:spPr>
            <a:xfrm>
              <a:off x="6327406" y="3028122"/>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Elipse 31">
              <a:extLst>
                <a:ext uri="{FF2B5EF4-FFF2-40B4-BE49-F238E27FC236}">
                  <a16:creationId xmlns:a16="http://schemas.microsoft.com/office/drawing/2014/main" id="{5814F227-C384-E5C7-636D-3B120A193071}"/>
                </a:ext>
              </a:extLst>
            </p:cNvPr>
            <p:cNvSpPr>
              <a:spLocks noChangeAspect="1"/>
            </p:cNvSpPr>
            <p:nvPr/>
          </p:nvSpPr>
          <p:spPr>
            <a:xfrm>
              <a:off x="6327406"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Elipse 32">
              <a:extLst>
                <a:ext uri="{FF2B5EF4-FFF2-40B4-BE49-F238E27FC236}">
                  <a16:creationId xmlns:a16="http://schemas.microsoft.com/office/drawing/2014/main" id="{3327BCB1-221B-3691-2E88-F62DEDBB63EE}"/>
                </a:ext>
              </a:extLst>
            </p:cNvPr>
            <p:cNvSpPr>
              <a:spLocks noChangeAspect="1"/>
            </p:cNvSpPr>
            <p:nvPr/>
          </p:nvSpPr>
          <p:spPr>
            <a:xfrm>
              <a:off x="7006580"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Elipse 34">
              <a:extLst>
                <a:ext uri="{FF2B5EF4-FFF2-40B4-BE49-F238E27FC236}">
                  <a16:creationId xmlns:a16="http://schemas.microsoft.com/office/drawing/2014/main" id="{C8CB6B76-EC59-6394-0200-AC8684A8E003}"/>
                </a:ext>
              </a:extLst>
            </p:cNvPr>
            <p:cNvSpPr>
              <a:spLocks noChangeAspect="1"/>
            </p:cNvSpPr>
            <p:nvPr/>
          </p:nvSpPr>
          <p:spPr>
            <a:xfrm>
              <a:off x="5648232"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Elipse 36">
              <a:extLst>
                <a:ext uri="{FF2B5EF4-FFF2-40B4-BE49-F238E27FC236}">
                  <a16:creationId xmlns:a16="http://schemas.microsoft.com/office/drawing/2014/main" id="{503E792A-02EB-E2DB-5438-23A24B28EAE1}"/>
                </a:ext>
              </a:extLst>
            </p:cNvPr>
            <p:cNvSpPr>
              <a:spLocks noChangeAspect="1"/>
            </p:cNvSpPr>
            <p:nvPr/>
          </p:nvSpPr>
          <p:spPr>
            <a:xfrm>
              <a:off x="6327406" y="4614940"/>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Elipse 37">
              <a:extLst>
                <a:ext uri="{FF2B5EF4-FFF2-40B4-BE49-F238E27FC236}">
                  <a16:creationId xmlns:a16="http://schemas.microsoft.com/office/drawing/2014/main" id="{A045EEE3-E5E8-34DF-6414-2C3A5A70900A}"/>
                </a:ext>
              </a:extLst>
            </p:cNvPr>
            <p:cNvSpPr>
              <a:spLocks noChangeAspect="1"/>
            </p:cNvSpPr>
            <p:nvPr/>
          </p:nvSpPr>
          <p:spPr>
            <a:xfrm>
              <a:off x="7006580" y="4614940"/>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Elipse 39">
              <a:extLst>
                <a:ext uri="{FF2B5EF4-FFF2-40B4-BE49-F238E27FC236}">
                  <a16:creationId xmlns:a16="http://schemas.microsoft.com/office/drawing/2014/main" id="{B9386D83-9489-041C-1C8B-2F78AD6EBDC3}"/>
                </a:ext>
              </a:extLst>
            </p:cNvPr>
            <p:cNvSpPr>
              <a:spLocks noChangeAspect="1"/>
            </p:cNvSpPr>
            <p:nvPr/>
          </p:nvSpPr>
          <p:spPr>
            <a:xfrm>
              <a:off x="5648232" y="4614940"/>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Elipse 42">
              <a:extLst>
                <a:ext uri="{FF2B5EF4-FFF2-40B4-BE49-F238E27FC236}">
                  <a16:creationId xmlns:a16="http://schemas.microsoft.com/office/drawing/2014/main" id="{D5A9411D-C6B6-4731-1280-B83FC0BB507A}"/>
                </a:ext>
              </a:extLst>
            </p:cNvPr>
            <p:cNvSpPr>
              <a:spLocks noChangeAspect="1"/>
            </p:cNvSpPr>
            <p:nvPr/>
          </p:nvSpPr>
          <p:spPr>
            <a:xfrm>
              <a:off x="7006580"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Elipse 44">
              <a:extLst>
                <a:ext uri="{FF2B5EF4-FFF2-40B4-BE49-F238E27FC236}">
                  <a16:creationId xmlns:a16="http://schemas.microsoft.com/office/drawing/2014/main" id="{EEE394F0-B7AE-C57E-7AAC-C48CEC182A6B}"/>
                </a:ext>
              </a:extLst>
            </p:cNvPr>
            <p:cNvSpPr>
              <a:spLocks noChangeAspect="1"/>
            </p:cNvSpPr>
            <p:nvPr/>
          </p:nvSpPr>
          <p:spPr>
            <a:xfrm>
              <a:off x="5648232"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Elipse 45">
              <a:extLst>
                <a:ext uri="{FF2B5EF4-FFF2-40B4-BE49-F238E27FC236}">
                  <a16:creationId xmlns:a16="http://schemas.microsoft.com/office/drawing/2014/main" id="{2DA439C3-0F45-5253-9459-4F2FAB8D0F13}"/>
                </a:ext>
              </a:extLst>
            </p:cNvPr>
            <p:cNvSpPr>
              <a:spLocks noChangeAspect="1"/>
            </p:cNvSpPr>
            <p:nvPr/>
          </p:nvSpPr>
          <p:spPr>
            <a:xfrm>
              <a:off x="4969058"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8" name="Conector de Seta Reta 47">
              <a:extLst>
                <a:ext uri="{FF2B5EF4-FFF2-40B4-BE49-F238E27FC236}">
                  <a16:creationId xmlns:a16="http://schemas.microsoft.com/office/drawing/2014/main" id="{20EF2998-1F08-A1E4-312C-5002463C33BD}"/>
                </a:ext>
              </a:extLst>
            </p:cNvPr>
            <p:cNvCxnSpPr>
              <a:stCxn id="35" idx="0"/>
              <a:endCxn id="31" idx="4"/>
            </p:cNvCxnSpPr>
            <p:nvPr/>
          </p:nvCxnSpPr>
          <p:spPr>
            <a:xfrm flipV="1">
              <a:off x="5882232" y="3496122"/>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9974CA39-25EF-D2B9-E8EB-D702DFA54444}"/>
                </a:ext>
              </a:extLst>
            </p:cNvPr>
            <p:cNvCxnSpPr>
              <a:stCxn id="32" idx="0"/>
              <a:endCxn id="31" idx="4"/>
            </p:cNvCxnSpPr>
            <p:nvPr/>
          </p:nvCxnSpPr>
          <p:spPr>
            <a:xfrm flipV="1">
              <a:off x="6561406" y="3496122"/>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ector de Seta Reta 49">
              <a:extLst>
                <a:ext uri="{FF2B5EF4-FFF2-40B4-BE49-F238E27FC236}">
                  <a16:creationId xmlns:a16="http://schemas.microsoft.com/office/drawing/2014/main" id="{2F758995-4AC8-E5F1-2450-F9B4751CC744}"/>
                </a:ext>
              </a:extLst>
            </p:cNvPr>
            <p:cNvCxnSpPr>
              <a:stCxn id="33" idx="0"/>
              <a:endCxn id="31" idx="4"/>
            </p:cNvCxnSpPr>
            <p:nvPr/>
          </p:nvCxnSpPr>
          <p:spPr>
            <a:xfrm flipH="1" flipV="1">
              <a:off x="6561406" y="3496122"/>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Elipse 51">
              <a:extLst>
                <a:ext uri="{FF2B5EF4-FFF2-40B4-BE49-F238E27FC236}">
                  <a16:creationId xmlns:a16="http://schemas.microsoft.com/office/drawing/2014/main" id="{4EFFAC1A-A88F-19F4-6467-37334EAE569E}"/>
                </a:ext>
              </a:extLst>
            </p:cNvPr>
            <p:cNvSpPr>
              <a:spLocks noChangeAspect="1"/>
            </p:cNvSpPr>
            <p:nvPr/>
          </p:nvSpPr>
          <p:spPr>
            <a:xfrm>
              <a:off x="9637018" y="3028122"/>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Elipse 53">
              <a:extLst>
                <a:ext uri="{FF2B5EF4-FFF2-40B4-BE49-F238E27FC236}">
                  <a16:creationId xmlns:a16="http://schemas.microsoft.com/office/drawing/2014/main" id="{F91B14F0-B7AE-7893-6ADD-760734EFB739}"/>
                </a:ext>
              </a:extLst>
            </p:cNvPr>
            <p:cNvSpPr>
              <a:spLocks noChangeAspect="1"/>
            </p:cNvSpPr>
            <p:nvPr/>
          </p:nvSpPr>
          <p:spPr>
            <a:xfrm>
              <a:off x="10316192"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Elipse 55">
              <a:extLst>
                <a:ext uri="{FF2B5EF4-FFF2-40B4-BE49-F238E27FC236}">
                  <a16:creationId xmlns:a16="http://schemas.microsoft.com/office/drawing/2014/main" id="{1F038DE7-9C62-1062-EC52-FF4D09D4BACD}"/>
                </a:ext>
              </a:extLst>
            </p:cNvPr>
            <p:cNvSpPr>
              <a:spLocks noChangeAspect="1"/>
            </p:cNvSpPr>
            <p:nvPr/>
          </p:nvSpPr>
          <p:spPr>
            <a:xfrm>
              <a:off x="8957844" y="3821531"/>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Elipse 59">
              <a:extLst>
                <a:ext uri="{FF2B5EF4-FFF2-40B4-BE49-F238E27FC236}">
                  <a16:creationId xmlns:a16="http://schemas.microsoft.com/office/drawing/2014/main" id="{61CA499F-F517-4857-724C-1CF1D9662018}"/>
                </a:ext>
              </a:extLst>
            </p:cNvPr>
            <p:cNvSpPr>
              <a:spLocks noChangeAspect="1"/>
            </p:cNvSpPr>
            <p:nvPr/>
          </p:nvSpPr>
          <p:spPr>
            <a:xfrm>
              <a:off x="10995366" y="4614940"/>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Elipse 61">
              <a:extLst>
                <a:ext uri="{FF2B5EF4-FFF2-40B4-BE49-F238E27FC236}">
                  <a16:creationId xmlns:a16="http://schemas.microsoft.com/office/drawing/2014/main" id="{4E4FFE0E-8159-9554-BDFE-55980FEF8DF9}"/>
                </a:ext>
              </a:extLst>
            </p:cNvPr>
            <p:cNvSpPr>
              <a:spLocks noChangeAspect="1"/>
            </p:cNvSpPr>
            <p:nvPr/>
          </p:nvSpPr>
          <p:spPr>
            <a:xfrm>
              <a:off x="8278670" y="4614940"/>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Elipse 63">
              <a:extLst>
                <a:ext uri="{FF2B5EF4-FFF2-40B4-BE49-F238E27FC236}">
                  <a16:creationId xmlns:a16="http://schemas.microsoft.com/office/drawing/2014/main" id="{0CDCE280-F157-58D5-249F-F2CA9B06AB15}"/>
                </a:ext>
              </a:extLst>
            </p:cNvPr>
            <p:cNvSpPr>
              <a:spLocks noChangeAspect="1"/>
            </p:cNvSpPr>
            <p:nvPr/>
          </p:nvSpPr>
          <p:spPr>
            <a:xfrm>
              <a:off x="10316192"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5" name="Elipse 64">
              <a:extLst>
                <a:ext uri="{FF2B5EF4-FFF2-40B4-BE49-F238E27FC236}">
                  <a16:creationId xmlns:a16="http://schemas.microsoft.com/office/drawing/2014/main" id="{E88A1087-CC42-0A89-5DB1-C8F681F3B4B8}"/>
                </a:ext>
              </a:extLst>
            </p:cNvPr>
            <p:cNvSpPr>
              <a:spLocks noChangeAspect="1"/>
            </p:cNvSpPr>
            <p:nvPr/>
          </p:nvSpPr>
          <p:spPr>
            <a:xfrm>
              <a:off x="10995366"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6" name="Elipse 65">
              <a:extLst>
                <a:ext uri="{FF2B5EF4-FFF2-40B4-BE49-F238E27FC236}">
                  <a16:creationId xmlns:a16="http://schemas.microsoft.com/office/drawing/2014/main" id="{DAAFF9B1-1490-6181-A00D-29FE802DF7F6}"/>
                </a:ext>
              </a:extLst>
            </p:cNvPr>
            <p:cNvSpPr>
              <a:spLocks noChangeAspect="1"/>
            </p:cNvSpPr>
            <p:nvPr/>
          </p:nvSpPr>
          <p:spPr>
            <a:xfrm>
              <a:off x="8957844" y="5408349"/>
              <a:ext cx="468000" cy="468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9" name="Conector de Seta Reta 68">
              <a:extLst>
                <a:ext uri="{FF2B5EF4-FFF2-40B4-BE49-F238E27FC236}">
                  <a16:creationId xmlns:a16="http://schemas.microsoft.com/office/drawing/2014/main" id="{779A7903-A5C8-31EE-0AD1-7B61D996BCF2}"/>
                </a:ext>
              </a:extLst>
            </p:cNvPr>
            <p:cNvCxnSpPr>
              <a:stCxn id="56" idx="0"/>
              <a:endCxn id="52" idx="4"/>
            </p:cNvCxnSpPr>
            <p:nvPr/>
          </p:nvCxnSpPr>
          <p:spPr>
            <a:xfrm flipV="1">
              <a:off x="9191844" y="3496122"/>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ector de Seta Reta 70">
              <a:extLst>
                <a:ext uri="{FF2B5EF4-FFF2-40B4-BE49-F238E27FC236}">
                  <a16:creationId xmlns:a16="http://schemas.microsoft.com/office/drawing/2014/main" id="{27059B76-D4E9-46D8-4878-3503DE196C39}"/>
                </a:ext>
              </a:extLst>
            </p:cNvPr>
            <p:cNvCxnSpPr>
              <a:stCxn id="54" idx="0"/>
              <a:endCxn id="52" idx="4"/>
            </p:cNvCxnSpPr>
            <p:nvPr/>
          </p:nvCxnSpPr>
          <p:spPr>
            <a:xfrm flipH="1" flipV="1">
              <a:off x="9871018" y="3496122"/>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ector de Seta Reta 73">
              <a:extLst>
                <a:ext uri="{FF2B5EF4-FFF2-40B4-BE49-F238E27FC236}">
                  <a16:creationId xmlns:a16="http://schemas.microsoft.com/office/drawing/2014/main" id="{A1B12BB4-FFF5-D507-D410-EA56E2CE2FD3}"/>
                </a:ext>
              </a:extLst>
            </p:cNvPr>
            <p:cNvCxnSpPr>
              <a:stCxn id="62" idx="0"/>
              <a:endCxn id="56" idx="4"/>
            </p:cNvCxnSpPr>
            <p:nvPr/>
          </p:nvCxnSpPr>
          <p:spPr>
            <a:xfrm flipV="1">
              <a:off x="8512670"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ector de Seta Reta 75">
              <a:extLst>
                <a:ext uri="{FF2B5EF4-FFF2-40B4-BE49-F238E27FC236}">
                  <a16:creationId xmlns:a16="http://schemas.microsoft.com/office/drawing/2014/main" id="{823C2D81-0609-736C-A04E-1A94C94FF386}"/>
                </a:ext>
              </a:extLst>
            </p:cNvPr>
            <p:cNvCxnSpPr>
              <a:stCxn id="62" idx="0"/>
              <a:endCxn id="54" idx="4"/>
            </p:cNvCxnSpPr>
            <p:nvPr/>
          </p:nvCxnSpPr>
          <p:spPr>
            <a:xfrm flipV="1">
              <a:off x="8512670" y="4289531"/>
              <a:ext cx="2037522"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77">
              <a:extLst>
                <a:ext uri="{FF2B5EF4-FFF2-40B4-BE49-F238E27FC236}">
                  <a16:creationId xmlns:a16="http://schemas.microsoft.com/office/drawing/2014/main" id="{3384D60A-7C35-1D84-84CF-F4A4A03ED684}"/>
                </a:ext>
              </a:extLst>
            </p:cNvPr>
            <p:cNvCxnSpPr>
              <a:stCxn id="60" idx="0"/>
              <a:endCxn id="54" idx="4"/>
            </p:cNvCxnSpPr>
            <p:nvPr/>
          </p:nvCxnSpPr>
          <p:spPr>
            <a:xfrm flipH="1" flipV="1">
              <a:off x="10550192"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Conector de Seta Reta 79">
              <a:extLst>
                <a:ext uri="{FF2B5EF4-FFF2-40B4-BE49-F238E27FC236}">
                  <a16:creationId xmlns:a16="http://schemas.microsoft.com/office/drawing/2014/main" id="{12159D3B-8F70-D92B-28C0-C7817BF2D01A}"/>
                </a:ext>
              </a:extLst>
            </p:cNvPr>
            <p:cNvCxnSpPr>
              <a:stCxn id="60" idx="0"/>
              <a:endCxn id="56" idx="4"/>
            </p:cNvCxnSpPr>
            <p:nvPr/>
          </p:nvCxnSpPr>
          <p:spPr>
            <a:xfrm flipH="1" flipV="1">
              <a:off x="9191844" y="4289531"/>
              <a:ext cx="2037522"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2" name="Conector de Seta Reta 81">
              <a:extLst>
                <a:ext uri="{FF2B5EF4-FFF2-40B4-BE49-F238E27FC236}">
                  <a16:creationId xmlns:a16="http://schemas.microsoft.com/office/drawing/2014/main" id="{7979FBA4-3FB3-011B-5589-363A801534A9}"/>
                </a:ext>
              </a:extLst>
            </p:cNvPr>
            <p:cNvCxnSpPr>
              <a:stCxn id="66" idx="0"/>
              <a:endCxn id="62" idx="4"/>
            </p:cNvCxnSpPr>
            <p:nvPr/>
          </p:nvCxnSpPr>
          <p:spPr>
            <a:xfrm flipH="1" flipV="1">
              <a:off x="8512670" y="5082940"/>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Conector de Seta Reta 83">
              <a:extLst>
                <a:ext uri="{FF2B5EF4-FFF2-40B4-BE49-F238E27FC236}">
                  <a16:creationId xmlns:a16="http://schemas.microsoft.com/office/drawing/2014/main" id="{9FC733C0-A2AB-0A37-75F8-7660C6C67E2D}"/>
                </a:ext>
              </a:extLst>
            </p:cNvPr>
            <p:cNvCxnSpPr>
              <a:stCxn id="66" idx="0"/>
              <a:endCxn id="60" idx="4"/>
            </p:cNvCxnSpPr>
            <p:nvPr/>
          </p:nvCxnSpPr>
          <p:spPr>
            <a:xfrm flipV="1">
              <a:off x="9191844" y="5082940"/>
              <a:ext cx="2037522"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6" name="Conector de Seta Reta 85">
              <a:extLst>
                <a:ext uri="{FF2B5EF4-FFF2-40B4-BE49-F238E27FC236}">
                  <a16:creationId xmlns:a16="http://schemas.microsoft.com/office/drawing/2014/main" id="{9DEE774C-4B21-AAB2-DCE6-2C5CC690ADC5}"/>
                </a:ext>
              </a:extLst>
            </p:cNvPr>
            <p:cNvCxnSpPr>
              <a:stCxn id="64" idx="0"/>
              <a:endCxn id="62" idx="4"/>
            </p:cNvCxnSpPr>
            <p:nvPr/>
          </p:nvCxnSpPr>
          <p:spPr>
            <a:xfrm flipH="1" flipV="1">
              <a:off x="8512670" y="5082940"/>
              <a:ext cx="2037522"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8" name="Conector de Seta Reta 87">
              <a:extLst>
                <a:ext uri="{FF2B5EF4-FFF2-40B4-BE49-F238E27FC236}">
                  <a16:creationId xmlns:a16="http://schemas.microsoft.com/office/drawing/2014/main" id="{5938E2E1-6128-2611-E93E-36AE1204B299}"/>
                </a:ext>
              </a:extLst>
            </p:cNvPr>
            <p:cNvCxnSpPr>
              <a:stCxn id="65" idx="0"/>
              <a:endCxn id="62" idx="4"/>
            </p:cNvCxnSpPr>
            <p:nvPr/>
          </p:nvCxnSpPr>
          <p:spPr>
            <a:xfrm flipH="1" flipV="1">
              <a:off x="8512670" y="5082940"/>
              <a:ext cx="2716696"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Conector de Seta Reta 89">
              <a:extLst>
                <a:ext uri="{FF2B5EF4-FFF2-40B4-BE49-F238E27FC236}">
                  <a16:creationId xmlns:a16="http://schemas.microsoft.com/office/drawing/2014/main" id="{9F38DDED-B129-BB29-0D37-0082A285EF84}"/>
                </a:ext>
              </a:extLst>
            </p:cNvPr>
            <p:cNvCxnSpPr>
              <a:stCxn id="64" idx="0"/>
              <a:endCxn id="60" idx="4"/>
            </p:cNvCxnSpPr>
            <p:nvPr/>
          </p:nvCxnSpPr>
          <p:spPr>
            <a:xfrm flipV="1">
              <a:off x="10550192" y="5082940"/>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Conector de Seta Reta 91">
              <a:extLst>
                <a:ext uri="{FF2B5EF4-FFF2-40B4-BE49-F238E27FC236}">
                  <a16:creationId xmlns:a16="http://schemas.microsoft.com/office/drawing/2014/main" id="{81F04F96-1DD3-232B-AC6A-6F00C1E49F79}"/>
                </a:ext>
              </a:extLst>
            </p:cNvPr>
            <p:cNvCxnSpPr>
              <a:stCxn id="65" idx="0"/>
              <a:endCxn id="60" idx="4"/>
            </p:cNvCxnSpPr>
            <p:nvPr/>
          </p:nvCxnSpPr>
          <p:spPr>
            <a:xfrm flipV="1">
              <a:off x="11229366" y="5082940"/>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Conector de Seta Reta 93">
              <a:extLst>
                <a:ext uri="{FF2B5EF4-FFF2-40B4-BE49-F238E27FC236}">
                  <a16:creationId xmlns:a16="http://schemas.microsoft.com/office/drawing/2014/main" id="{2E09FD3C-9589-7D34-46F1-414CF96E76A8}"/>
                </a:ext>
              </a:extLst>
            </p:cNvPr>
            <p:cNvCxnSpPr>
              <a:stCxn id="38" idx="0"/>
              <a:endCxn id="33" idx="4"/>
            </p:cNvCxnSpPr>
            <p:nvPr/>
          </p:nvCxnSpPr>
          <p:spPr>
            <a:xfrm flipV="1">
              <a:off x="7240580" y="4289531"/>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Conector de Seta Reta 95">
              <a:extLst>
                <a:ext uri="{FF2B5EF4-FFF2-40B4-BE49-F238E27FC236}">
                  <a16:creationId xmlns:a16="http://schemas.microsoft.com/office/drawing/2014/main" id="{C82A9315-37FF-D6D1-F12F-E7B4DF1746F9}"/>
                </a:ext>
              </a:extLst>
            </p:cNvPr>
            <p:cNvCxnSpPr>
              <a:stCxn id="38" idx="0"/>
              <a:endCxn id="32" idx="4"/>
            </p:cNvCxnSpPr>
            <p:nvPr/>
          </p:nvCxnSpPr>
          <p:spPr>
            <a:xfrm flipH="1" flipV="1">
              <a:off x="6561406"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Conector de Seta Reta 97">
              <a:extLst>
                <a:ext uri="{FF2B5EF4-FFF2-40B4-BE49-F238E27FC236}">
                  <a16:creationId xmlns:a16="http://schemas.microsoft.com/office/drawing/2014/main" id="{6A04CDFB-AE62-076A-346A-C80140911823}"/>
                </a:ext>
              </a:extLst>
            </p:cNvPr>
            <p:cNvCxnSpPr>
              <a:stCxn id="38" idx="0"/>
              <a:endCxn id="35" idx="4"/>
            </p:cNvCxnSpPr>
            <p:nvPr/>
          </p:nvCxnSpPr>
          <p:spPr>
            <a:xfrm flipH="1" flipV="1">
              <a:off x="5882232" y="4289531"/>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0" name="Conector de Seta Reta 99">
              <a:extLst>
                <a:ext uri="{FF2B5EF4-FFF2-40B4-BE49-F238E27FC236}">
                  <a16:creationId xmlns:a16="http://schemas.microsoft.com/office/drawing/2014/main" id="{65439BA2-E0D6-EF52-05E9-53213A036D9D}"/>
                </a:ext>
              </a:extLst>
            </p:cNvPr>
            <p:cNvCxnSpPr>
              <a:stCxn id="37" idx="0"/>
              <a:endCxn id="32" idx="4"/>
            </p:cNvCxnSpPr>
            <p:nvPr/>
          </p:nvCxnSpPr>
          <p:spPr>
            <a:xfrm flipV="1">
              <a:off x="6561406" y="4289531"/>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2" name="Conector de Seta Reta 101">
              <a:extLst>
                <a:ext uri="{FF2B5EF4-FFF2-40B4-BE49-F238E27FC236}">
                  <a16:creationId xmlns:a16="http://schemas.microsoft.com/office/drawing/2014/main" id="{57A492CA-0B9F-E9C2-B7F9-9D25171C66AC}"/>
                </a:ext>
              </a:extLst>
            </p:cNvPr>
            <p:cNvCxnSpPr>
              <a:stCxn id="40" idx="0"/>
              <a:endCxn id="35" idx="4"/>
            </p:cNvCxnSpPr>
            <p:nvPr/>
          </p:nvCxnSpPr>
          <p:spPr>
            <a:xfrm flipV="1">
              <a:off x="5882232" y="4289531"/>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Conector de Seta Reta 103">
              <a:extLst>
                <a:ext uri="{FF2B5EF4-FFF2-40B4-BE49-F238E27FC236}">
                  <a16:creationId xmlns:a16="http://schemas.microsoft.com/office/drawing/2014/main" id="{8F26BF93-C9C7-475E-9052-22B3865E22C5}"/>
                </a:ext>
              </a:extLst>
            </p:cNvPr>
            <p:cNvCxnSpPr>
              <a:stCxn id="40" idx="0"/>
              <a:endCxn id="32" idx="4"/>
            </p:cNvCxnSpPr>
            <p:nvPr/>
          </p:nvCxnSpPr>
          <p:spPr>
            <a:xfrm flipV="1">
              <a:off x="5882232"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105">
              <a:extLst>
                <a:ext uri="{FF2B5EF4-FFF2-40B4-BE49-F238E27FC236}">
                  <a16:creationId xmlns:a16="http://schemas.microsoft.com/office/drawing/2014/main" id="{633B6AB4-26F0-BD04-BB4B-453F295F722D}"/>
                </a:ext>
              </a:extLst>
            </p:cNvPr>
            <p:cNvCxnSpPr>
              <a:stCxn id="37" idx="0"/>
              <a:endCxn id="33" idx="4"/>
            </p:cNvCxnSpPr>
            <p:nvPr/>
          </p:nvCxnSpPr>
          <p:spPr>
            <a:xfrm flipV="1">
              <a:off x="6561406"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Conector de Seta Reta 107">
              <a:extLst>
                <a:ext uri="{FF2B5EF4-FFF2-40B4-BE49-F238E27FC236}">
                  <a16:creationId xmlns:a16="http://schemas.microsoft.com/office/drawing/2014/main" id="{9E200312-574D-5283-0BE1-8D915F6F97BF}"/>
                </a:ext>
              </a:extLst>
            </p:cNvPr>
            <p:cNvCxnSpPr>
              <a:stCxn id="40" idx="0"/>
              <a:endCxn id="33" idx="4"/>
            </p:cNvCxnSpPr>
            <p:nvPr/>
          </p:nvCxnSpPr>
          <p:spPr>
            <a:xfrm flipV="1">
              <a:off x="5882232" y="4289531"/>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Conector de Seta Reta 109">
              <a:extLst>
                <a:ext uri="{FF2B5EF4-FFF2-40B4-BE49-F238E27FC236}">
                  <a16:creationId xmlns:a16="http://schemas.microsoft.com/office/drawing/2014/main" id="{2B50AC90-93AA-5ABE-3157-6DC0DDF06A46}"/>
                </a:ext>
              </a:extLst>
            </p:cNvPr>
            <p:cNvCxnSpPr>
              <a:stCxn id="37" idx="0"/>
              <a:endCxn id="35" idx="4"/>
            </p:cNvCxnSpPr>
            <p:nvPr/>
          </p:nvCxnSpPr>
          <p:spPr>
            <a:xfrm flipH="1" flipV="1">
              <a:off x="5882232"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Conector de Seta Reta 111">
              <a:extLst>
                <a:ext uri="{FF2B5EF4-FFF2-40B4-BE49-F238E27FC236}">
                  <a16:creationId xmlns:a16="http://schemas.microsoft.com/office/drawing/2014/main" id="{48725744-A929-ACE8-AB39-7C140F9E8B81}"/>
                </a:ext>
              </a:extLst>
            </p:cNvPr>
            <p:cNvCxnSpPr>
              <a:stCxn id="45" idx="0"/>
              <a:endCxn id="40" idx="4"/>
            </p:cNvCxnSpPr>
            <p:nvPr/>
          </p:nvCxnSpPr>
          <p:spPr>
            <a:xfrm flipV="1">
              <a:off x="5882232" y="5082940"/>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Conector de Seta Reta 113">
              <a:extLst>
                <a:ext uri="{FF2B5EF4-FFF2-40B4-BE49-F238E27FC236}">
                  <a16:creationId xmlns:a16="http://schemas.microsoft.com/office/drawing/2014/main" id="{2A90340C-7332-D857-4B7D-8173567379E4}"/>
                </a:ext>
              </a:extLst>
            </p:cNvPr>
            <p:cNvCxnSpPr>
              <a:stCxn id="45" idx="0"/>
              <a:endCxn id="37" idx="4"/>
            </p:cNvCxnSpPr>
            <p:nvPr/>
          </p:nvCxnSpPr>
          <p:spPr>
            <a:xfrm flipV="1">
              <a:off x="5882232" y="5082940"/>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Conector de Seta Reta 115">
              <a:extLst>
                <a:ext uri="{FF2B5EF4-FFF2-40B4-BE49-F238E27FC236}">
                  <a16:creationId xmlns:a16="http://schemas.microsoft.com/office/drawing/2014/main" id="{9A0434B2-F955-0087-541E-4E51BB6538A9}"/>
                </a:ext>
              </a:extLst>
            </p:cNvPr>
            <p:cNvCxnSpPr>
              <a:stCxn id="45" idx="0"/>
              <a:endCxn id="38" idx="4"/>
            </p:cNvCxnSpPr>
            <p:nvPr/>
          </p:nvCxnSpPr>
          <p:spPr>
            <a:xfrm flipV="1">
              <a:off x="5882232" y="5082940"/>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Conector de Seta Reta 117">
              <a:extLst>
                <a:ext uri="{FF2B5EF4-FFF2-40B4-BE49-F238E27FC236}">
                  <a16:creationId xmlns:a16="http://schemas.microsoft.com/office/drawing/2014/main" id="{D041AFA2-E2E6-4E2B-F5EF-92F119C8D247}"/>
                </a:ext>
              </a:extLst>
            </p:cNvPr>
            <p:cNvCxnSpPr>
              <a:stCxn id="43" idx="0"/>
              <a:endCxn id="38" idx="4"/>
            </p:cNvCxnSpPr>
            <p:nvPr/>
          </p:nvCxnSpPr>
          <p:spPr>
            <a:xfrm flipV="1">
              <a:off x="7240580" y="5082940"/>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0" name="Conector de Seta Reta 119">
              <a:extLst>
                <a:ext uri="{FF2B5EF4-FFF2-40B4-BE49-F238E27FC236}">
                  <a16:creationId xmlns:a16="http://schemas.microsoft.com/office/drawing/2014/main" id="{FE9F6DB3-F9C9-91FD-9B49-1DE6AB4ADFAE}"/>
                </a:ext>
              </a:extLst>
            </p:cNvPr>
            <p:cNvCxnSpPr>
              <a:stCxn id="43" idx="0"/>
              <a:endCxn id="37" idx="4"/>
            </p:cNvCxnSpPr>
            <p:nvPr/>
          </p:nvCxnSpPr>
          <p:spPr>
            <a:xfrm flipH="1" flipV="1">
              <a:off x="6561406" y="5082940"/>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Conector de Seta Reta 121">
              <a:extLst>
                <a:ext uri="{FF2B5EF4-FFF2-40B4-BE49-F238E27FC236}">
                  <a16:creationId xmlns:a16="http://schemas.microsoft.com/office/drawing/2014/main" id="{F83E00F1-A4F1-E55A-5E09-FE3B54FE1E0A}"/>
                </a:ext>
              </a:extLst>
            </p:cNvPr>
            <p:cNvCxnSpPr>
              <a:stCxn id="43" idx="0"/>
              <a:endCxn id="40" idx="4"/>
            </p:cNvCxnSpPr>
            <p:nvPr/>
          </p:nvCxnSpPr>
          <p:spPr>
            <a:xfrm flipH="1" flipV="1">
              <a:off x="5882232" y="5082940"/>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4" name="Conector de Seta Reta 123">
              <a:extLst>
                <a:ext uri="{FF2B5EF4-FFF2-40B4-BE49-F238E27FC236}">
                  <a16:creationId xmlns:a16="http://schemas.microsoft.com/office/drawing/2014/main" id="{13ACDAF3-D8D5-5CA3-A6F7-3E41A193C048}"/>
                </a:ext>
              </a:extLst>
            </p:cNvPr>
            <p:cNvCxnSpPr>
              <a:stCxn id="46" idx="0"/>
              <a:endCxn id="40" idx="4"/>
            </p:cNvCxnSpPr>
            <p:nvPr/>
          </p:nvCxnSpPr>
          <p:spPr>
            <a:xfrm flipV="1">
              <a:off x="5203058" y="5082940"/>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Conector de Seta Reta 125">
              <a:extLst>
                <a:ext uri="{FF2B5EF4-FFF2-40B4-BE49-F238E27FC236}">
                  <a16:creationId xmlns:a16="http://schemas.microsoft.com/office/drawing/2014/main" id="{2DFB416D-3AA0-F7B7-5B0D-E38802BE1639}"/>
                </a:ext>
              </a:extLst>
            </p:cNvPr>
            <p:cNvCxnSpPr>
              <a:stCxn id="46" idx="0"/>
              <a:endCxn id="37" idx="4"/>
            </p:cNvCxnSpPr>
            <p:nvPr/>
          </p:nvCxnSpPr>
          <p:spPr>
            <a:xfrm flipV="1">
              <a:off x="5203058" y="5082940"/>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Conector de Seta Reta 127">
              <a:extLst>
                <a:ext uri="{FF2B5EF4-FFF2-40B4-BE49-F238E27FC236}">
                  <a16:creationId xmlns:a16="http://schemas.microsoft.com/office/drawing/2014/main" id="{59CC8EC1-A270-FBC1-D5CC-2290FEFCACC7}"/>
                </a:ext>
              </a:extLst>
            </p:cNvPr>
            <p:cNvCxnSpPr>
              <a:stCxn id="46" idx="0"/>
              <a:endCxn id="38" idx="4"/>
            </p:cNvCxnSpPr>
            <p:nvPr/>
          </p:nvCxnSpPr>
          <p:spPr>
            <a:xfrm flipV="1">
              <a:off x="5203058" y="5082940"/>
              <a:ext cx="2037522"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Conector de Seta Reta 129">
              <a:extLst>
                <a:ext uri="{FF2B5EF4-FFF2-40B4-BE49-F238E27FC236}">
                  <a16:creationId xmlns:a16="http://schemas.microsoft.com/office/drawing/2014/main" id="{A3D07F7B-2731-294E-9709-928D94ADAF16}"/>
                </a:ext>
              </a:extLst>
            </p:cNvPr>
            <p:cNvCxnSpPr>
              <a:stCxn id="14" idx="0"/>
              <a:endCxn id="9" idx="4"/>
            </p:cNvCxnSpPr>
            <p:nvPr/>
          </p:nvCxnSpPr>
          <p:spPr>
            <a:xfrm flipV="1">
              <a:off x="1224600" y="4289531"/>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Conector de Seta Reta 131">
              <a:extLst>
                <a:ext uri="{FF2B5EF4-FFF2-40B4-BE49-F238E27FC236}">
                  <a16:creationId xmlns:a16="http://schemas.microsoft.com/office/drawing/2014/main" id="{493466DE-524C-7579-A2A4-12B3944916D9}"/>
                </a:ext>
              </a:extLst>
            </p:cNvPr>
            <p:cNvCxnSpPr>
              <a:stCxn id="14" idx="0"/>
              <a:endCxn id="5" idx="4"/>
            </p:cNvCxnSpPr>
            <p:nvPr/>
          </p:nvCxnSpPr>
          <p:spPr>
            <a:xfrm flipV="1">
              <a:off x="1224600" y="4289531"/>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Conector de Seta Reta 133">
              <a:extLst>
                <a:ext uri="{FF2B5EF4-FFF2-40B4-BE49-F238E27FC236}">
                  <a16:creationId xmlns:a16="http://schemas.microsoft.com/office/drawing/2014/main" id="{CFD2E61F-A0A1-8536-BC0A-B665144BCAF9}"/>
                </a:ext>
              </a:extLst>
            </p:cNvPr>
            <p:cNvCxnSpPr>
              <a:stCxn id="14" idx="0"/>
              <a:endCxn id="7" idx="4"/>
            </p:cNvCxnSpPr>
            <p:nvPr/>
          </p:nvCxnSpPr>
          <p:spPr>
            <a:xfrm flipV="1">
              <a:off x="1224600" y="4289531"/>
              <a:ext cx="2716696"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Conector de Seta Reta 135">
              <a:extLst>
                <a:ext uri="{FF2B5EF4-FFF2-40B4-BE49-F238E27FC236}">
                  <a16:creationId xmlns:a16="http://schemas.microsoft.com/office/drawing/2014/main" id="{DEE2D568-A267-A171-25DF-3EA2187AA3F5}"/>
                </a:ext>
              </a:extLst>
            </p:cNvPr>
            <p:cNvCxnSpPr>
              <a:stCxn id="11" idx="0"/>
              <a:endCxn id="7" idx="4"/>
            </p:cNvCxnSpPr>
            <p:nvPr/>
          </p:nvCxnSpPr>
          <p:spPr>
            <a:xfrm flipV="1">
              <a:off x="3262122"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Conector de Seta Reta 137">
              <a:extLst>
                <a:ext uri="{FF2B5EF4-FFF2-40B4-BE49-F238E27FC236}">
                  <a16:creationId xmlns:a16="http://schemas.microsoft.com/office/drawing/2014/main" id="{9692D7FF-2EC9-D7C9-60E2-9366C15444B1}"/>
                </a:ext>
              </a:extLst>
            </p:cNvPr>
            <p:cNvCxnSpPr>
              <a:stCxn id="11" idx="0"/>
              <a:endCxn id="5" idx="4"/>
            </p:cNvCxnSpPr>
            <p:nvPr/>
          </p:nvCxnSpPr>
          <p:spPr>
            <a:xfrm flipH="1" flipV="1">
              <a:off x="2582948" y="4289531"/>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Conector de Seta Reta 139">
              <a:extLst>
                <a:ext uri="{FF2B5EF4-FFF2-40B4-BE49-F238E27FC236}">
                  <a16:creationId xmlns:a16="http://schemas.microsoft.com/office/drawing/2014/main" id="{5E02C6A9-3C75-60BC-AB46-47C77557BD68}"/>
                </a:ext>
              </a:extLst>
            </p:cNvPr>
            <p:cNvCxnSpPr>
              <a:stCxn id="11" idx="0"/>
              <a:endCxn id="9" idx="4"/>
            </p:cNvCxnSpPr>
            <p:nvPr/>
          </p:nvCxnSpPr>
          <p:spPr>
            <a:xfrm flipH="1" flipV="1">
              <a:off x="1224600" y="4289531"/>
              <a:ext cx="2037522"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Conector de Seta Reta 141">
              <a:extLst>
                <a:ext uri="{FF2B5EF4-FFF2-40B4-BE49-F238E27FC236}">
                  <a16:creationId xmlns:a16="http://schemas.microsoft.com/office/drawing/2014/main" id="{DCCB342D-10C1-7883-27B9-534E3841293B}"/>
                </a:ext>
              </a:extLst>
            </p:cNvPr>
            <p:cNvCxnSpPr>
              <a:stCxn id="19" idx="0"/>
              <a:endCxn id="14" idx="4"/>
            </p:cNvCxnSpPr>
            <p:nvPr/>
          </p:nvCxnSpPr>
          <p:spPr>
            <a:xfrm flipV="1">
              <a:off x="1224600" y="5082940"/>
              <a:ext cx="0"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Conector de Seta Reta 143">
              <a:extLst>
                <a:ext uri="{FF2B5EF4-FFF2-40B4-BE49-F238E27FC236}">
                  <a16:creationId xmlns:a16="http://schemas.microsoft.com/office/drawing/2014/main" id="{FD362A28-70DE-1D6E-6331-BE9047A9EC69}"/>
                </a:ext>
              </a:extLst>
            </p:cNvPr>
            <p:cNvCxnSpPr>
              <a:stCxn id="19" idx="0"/>
              <a:endCxn id="11" idx="5"/>
            </p:cNvCxnSpPr>
            <p:nvPr/>
          </p:nvCxnSpPr>
          <p:spPr>
            <a:xfrm flipV="1">
              <a:off x="1224600" y="5082940"/>
              <a:ext cx="2037522"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Conector de Seta Reta 145">
              <a:extLst>
                <a:ext uri="{FF2B5EF4-FFF2-40B4-BE49-F238E27FC236}">
                  <a16:creationId xmlns:a16="http://schemas.microsoft.com/office/drawing/2014/main" id="{237A5702-8867-BD51-9C6A-AF28D7766E1A}"/>
                </a:ext>
              </a:extLst>
            </p:cNvPr>
            <p:cNvCxnSpPr>
              <a:stCxn id="15" idx="0"/>
              <a:endCxn id="14" idx="4"/>
            </p:cNvCxnSpPr>
            <p:nvPr/>
          </p:nvCxnSpPr>
          <p:spPr>
            <a:xfrm flipH="1" flipV="1">
              <a:off x="1224600" y="5082940"/>
              <a:ext cx="1358348"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Conector de Seta Reta 147">
              <a:extLst>
                <a:ext uri="{FF2B5EF4-FFF2-40B4-BE49-F238E27FC236}">
                  <a16:creationId xmlns:a16="http://schemas.microsoft.com/office/drawing/2014/main" id="{C3FAEDA7-3E5D-0C5D-39ED-3E3269A26732}"/>
                </a:ext>
              </a:extLst>
            </p:cNvPr>
            <p:cNvCxnSpPr>
              <a:stCxn id="15" idx="0"/>
              <a:endCxn id="11" idx="4"/>
            </p:cNvCxnSpPr>
            <p:nvPr/>
          </p:nvCxnSpPr>
          <p:spPr>
            <a:xfrm flipV="1">
              <a:off x="2582948" y="5082940"/>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0" name="Conector de Seta Reta 149">
              <a:extLst>
                <a:ext uri="{FF2B5EF4-FFF2-40B4-BE49-F238E27FC236}">
                  <a16:creationId xmlns:a16="http://schemas.microsoft.com/office/drawing/2014/main" id="{49A4BE0E-35F6-93ED-F52F-823D406DA987}"/>
                </a:ext>
              </a:extLst>
            </p:cNvPr>
            <p:cNvCxnSpPr>
              <a:stCxn id="17" idx="0"/>
              <a:endCxn id="11" idx="4"/>
            </p:cNvCxnSpPr>
            <p:nvPr/>
          </p:nvCxnSpPr>
          <p:spPr>
            <a:xfrm flipH="1" flipV="1">
              <a:off x="3262122" y="5082940"/>
              <a:ext cx="679174"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2" name="Conector de Seta Reta 151">
              <a:extLst>
                <a:ext uri="{FF2B5EF4-FFF2-40B4-BE49-F238E27FC236}">
                  <a16:creationId xmlns:a16="http://schemas.microsoft.com/office/drawing/2014/main" id="{13C3874B-574A-F778-F8BF-83C284634E42}"/>
                </a:ext>
              </a:extLst>
            </p:cNvPr>
            <p:cNvCxnSpPr>
              <a:stCxn id="17" idx="0"/>
              <a:endCxn id="14" idx="4"/>
            </p:cNvCxnSpPr>
            <p:nvPr/>
          </p:nvCxnSpPr>
          <p:spPr>
            <a:xfrm flipH="1" flipV="1">
              <a:off x="1224600" y="5082940"/>
              <a:ext cx="2716696" cy="325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3" name="Retângulo 152">
              <a:extLst>
                <a:ext uri="{FF2B5EF4-FFF2-40B4-BE49-F238E27FC236}">
                  <a16:creationId xmlns:a16="http://schemas.microsoft.com/office/drawing/2014/main" id="{4D30F145-6832-6A26-72C0-C04F0445808B}"/>
                </a:ext>
              </a:extLst>
            </p:cNvPr>
            <p:cNvSpPr/>
            <p:nvPr/>
          </p:nvSpPr>
          <p:spPr>
            <a:xfrm>
              <a:off x="4995993" y="1879182"/>
              <a:ext cx="3130826" cy="6196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Ponderação</a:t>
              </a:r>
            </a:p>
            <a:p>
              <a:pPr algn="ctr"/>
              <a:r>
                <a:rPr lang="pt-BR" sz="1400" dirty="0"/>
                <a:t>(média implícita)</a:t>
              </a:r>
              <a:endParaRPr lang="pt-BR" dirty="0"/>
            </a:p>
          </p:txBody>
        </p:sp>
        <p:cxnSp>
          <p:nvCxnSpPr>
            <p:cNvPr id="155" name="Conector de Seta Reta 154">
              <a:extLst>
                <a:ext uri="{FF2B5EF4-FFF2-40B4-BE49-F238E27FC236}">
                  <a16:creationId xmlns:a16="http://schemas.microsoft.com/office/drawing/2014/main" id="{104D7F60-DA84-0E59-C324-355F5502CEA9}"/>
                </a:ext>
              </a:extLst>
            </p:cNvPr>
            <p:cNvCxnSpPr>
              <a:stCxn id="31" idx="0"/>
              <a:endCxn id="153" idx="2"/>
            </p:cNvCxnSpPr>
            <p:nvPr/>
          </p:nvCxnSpPr>
          <p:spPr>
            <a:xfrm flipV="1">
              <a:off x="6561406" y="2498843"/>
              <a:ext cx="0" cy="529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8" name="Conector de Seta Reta 157">
              <a:extLst>
                <a:ext uri="{FF2B5EF4-FFF2-40B4-BE49-F238E27FC236}">
                  <a16:creationId xmlns:a16="http://schemas.microsoft.com/office/drawing/2014/main" id="{EB8000C1-13E6-25E8-786C-5B9520FC2F8A}"/>
                </a:ext>
              </a:extLst>
            </p:cNvPr>
            <p:cNvCxnSpPr>
              <a:stCxn id="52" idx="0"/>
              <a:endCxn id="153" idx="2"/>
            </p:cNvCxnSpPr>
            <p:nvPr/>
          </p:nvCxnSpPr>
          <p:spPr>
            <a:xfrm flipH="1" flipV="1">
              <a:off x="6561406" y="2498843"/>
              <a:ext cx="3309612" cy="529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0" name="Conector de Seta Reta 159">
              <a:extLst>
                <a:ext uri="{FF2B5EF4-FFF2-40B4-BE49-F238E27FC236}">
                  <a16:creationId xmlns:a16="http://schemas.microsoft.com/office/drawing/2014/main" id="{08E4EADD-BCCA-8FE1-6850-5044D0770F22}"/>
                </a:ext>
              </a:extLst>
            </p:cNvPr>
            <p:cNvCxnSpPr>
              <a:stCxn id="4" idx="0"/>
              <a:endCxn id="153" idx="2"/>
            </p:cNvCxnSpPr>
            <p:nvPr/>
          </p:nvCxnSpPr>
          <p:spPr>
            <a:xfrm flipV="1">
              <a:off x="2582948" y="2498843"/>
              <a:ext cx="3978458" cy="5292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1" name="Conector de Seta Reta 160">
              <a:extLst>
                <a:ext uri="{FF2B5EF4-FFF2-40B4-BE49-F238E27FC236}">
                  <a16:creationId xmlns:a16="http://schemas.microsoft.com/office/drawing/2014/main" id="{1201605E-DCB7-9F32-1AB0-F6CE6C9B85F9}"/>
                </a:ext>
              </a:extLst>
            </p:cNvPr>
            <p:cNvCxnSpPr>
              <a:cxnSpLocks/>
            </p:cNvCxnSpPr>
            <p:nvPr/>
          </p:nvCxnSpPr>
          <p:spPr>
            <a:xfrm flipV="1">
              <a:off x="6561406" y="1562100"/>
              <a:ext cx="0" cy="317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3" name="CaixaDeTexto 162">
              <a:extLst>
                <a:ext uri="{FF2B5EF4-FFF2-40B4-BE49-F238E27FC236}">
                  <a16:creationId xmlns:a16="http://schemas.microsoft.com/office/drawing/2014/main" id="{F7577701-F6AC-3B96-38AC-795366668ED2}"/>
                </a:ext>
              </a:extLst>
            </p:cNvPr>
            <p:cNvSpPr txBox="1"/>
            <p:nvPr/>
          </p:nvSpPr>
          <p:spPr>
            <a:xfrm>
              <a:off x="6561406" y="1500990"/>
              <a:ext cx="1218288" cy="276999"/>
            </a:xfrm>
            <a:prstGeom prst="rect">
              <a:avLst/>
            </a:prstGeom>
            <a:noFill/>
          </p:spPr>
          <p:txBody>
            <a:bodyPr wrap="square" rtlCol="0">
              <a:spAutoFit/>
            </a:bodyPr>
            <a:lstStyle/>
            <a:p>
              <a:pPr algn="ctr"/>
              <a:r>
                <a:rPr lang="pt-BR" sz="1200" dirty="0"/>
                <a:t>Resultado final</a:t>
              </a:r>
            </a:p>
          </p:txBody>
        </p:sp>
        <p:sp>
          <p:nvSpPr>
            <p:cNvPr id="164" name="Retângulo 163">
              <a:extLst>
                <a:ext uri="{FF2B5EF4-FFF2-40B4-BE49-F238E27FC236}">
                  <a16:creationId xmlns:a16="http://schemas.microsoft.com/office/drawing/2014/main" id="{5F388A5D-4EFF-F172-9EF2-A74090DF1E4D}"/>
                </a:ext>
              </a:extLst>
            </p:cNvPr>
            <p:cNvSpPr/>
            <p:nvPr/>
          </p:nvSpPr>
          <p:spPr>
            <a:xfrm>
              <a:off x="889000" y="2857500"/>
              <a:ext cx="3400883" cy="314960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6" name="Retângulo 165">
              <a:extLst>
                <a:ext uri="{FF2B5EF4-FFF2-40B4-BE49-F238E27FC236}">
                  <a16:creationId xmlns:a16="http://schemas.microsoft.com/office/drawing/2014/main" id="{C0898C22-E57B-0764-848B-AAA575F0B8EF}"/>
                </a:ext>
              </a:extLst>
            </p:cNvPr>
            <p:cNvSpPr/>
            <p:nvPr/>
          </p:nvSpPr>
          <p:spPr>
            <a:xfrm>
              <a:off x="4571343" y="2857500"/>
              <a:ext cx="3400883" cy="314960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7" name="Retângulo 166">
              <a:extLst>
                <a:ext uri="{FF2B5EF4-FFF2-40B4-BE49-F238E27FC236}">
                  <a16:creationId xmlns:a16="http://schemas.microsoft.com/office/drawing/2014/main" id="{13255979-D5F1-9AED-E032-703C8C54CC96}"/>
                </a:ext>
              </a:extLst>
            </p:cNvPr>
            <p:cNvSpPr/>
            <p:nvPr/>
          </p:nvSpPr>
          <p:spPr>
            <a:xfrm>
              <a:off x="8183400" y="2857500"/>
              <a:ext cx="3400883" cy="314960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8" name="CaixaDeTexto 167">
              <a:extLst>
                <a:ext uri="{FF2B5EF4-FFF2-40B4-BE49-F238E27FC236}">
                  <a16:creationId xmlns:a16="http://schemas.microsoft.com/office/drawing/2014/main" id="{1F3A7A23-B898-D2AB-D071-5525D2F08835}"/>
                </a:ext>
              </a:extLst>
            </p:cNvPr>
            <p:cNvSpPr txBox="1"/>
            <p:nvPr/>
          </p:nvSpPr>
          <p:spPr>
            <a:xfrm>
              <a:off x="889001" y="6013175"/>
              <a:ext cx="3400882" cy="338554"/>
            </a:xfrm>
            <a:prstGeom prst="rect">
              <a:avLst/>
            </a:prstGeom>
            <a:noFill/>
          </p:spPr>
          <p:txBody>
            <a:bodyPr wrap="square" rtlCol="0">
              <a:spAutoFit/>
            </a:bodyPr>
            <a:lstStyle/>
            <a:p>
              <a:pPr algn="ctr"/>
              <a:r>
                <a:rPr lang="pt-BR" sz="1600" dirty="0"/>
                <a:t>Rede treinamento #1</a:t>
              </a:r>
            </a:p>
          </p:txBody>
        </p:sp>
        <p:sp>
          <p:nvSpPr>
            <p:cNvPr id="169" name="CaixaDeTexto 168">
              <a:extLst>
                <a:ext uri="{FF2B5EF4-FFF2-40B4-BE49-F238E27FC236}">
                  <a16:creationId xmlns:a16="http://schemas.microsoft.com/office/drawing/2014/main" id="{3927B2ED-777D-3988-391E-806B8B26E5E1}"/>
                </a:ext>
              </a:extLst>
            </p:cNvPr>
            <p:cNvSpPr txBox="1"/>
            <p:nvPr/>
          </p:nvSpPr>
          <p:spPr>
            <a:xfrm>
              <a:off x="4588770" y="6013175"/>
              <a:ext cx="3400882" cy="338554"/>
            </a:xfrm>
            <a:prstGeom prst="rect">
              <a:avLst/>
            </a:prstGeom>
            <a:noFill/>
          </p:spPr>
          <p:txBody>
            <a:bodyPr wrap="square" rtlCol="0">
              <a:spAutoFit/>
            </a:bodyPr>
            <a:lstStyle/>
            <a:p>
              <a:pPr algn="ctr"/>
              <a:r>
                <a:rPr lang="pt-BR" sz="1600" dirty="0"/>
                <a:t>Rede treinamento #2</a:t>
              </a:r>
            </a:p>
          </p:txBody>
        </p:sp>
        <p:sp>
          <p:nvSpPr>
            <p:cNvPr id="170" name="CaixaDeTexto 169">
              <a:extLst>
                <a:ext uri="{FF2B5EF4-FFF2-40B4-BE49-F238E27FC236}">
                  <a16:creationId xmlns:a16="http://schemas.microsoft.com/office/drawing/2014/main" id="{DC156082-98FE-BAAE-57BC-98D4C346CFF7}"/>
                </a:ext>
              </a:extLst>
            </p:cNvPr>
            <p:cNvSpPr txBox="1"/>
            <p:nvPr/>
          </p:nvSpPr>
          <p:spPr>
            <a:xfrm>
              <a:off x="8165974" y="6007100"/>
              <a:ext cx="3400882" cy="338554"/>
            </a:xfrm>
            <a:prstGeom prst="rect">
              <a:avLst/>
            </a:prstGeom>
            <a:noFill/>
          </p:spPr>
          <p:txBody>
            <a:bodyPr wrap="square" rtlCol="0">
              <a:spAutoFit/>
            </a:bodyPr>
            <a:lstStyle/>
            <a:p>
              <a:pPr algn="ctr"/>
              <a:r>
                <a:rPr lang="pt-BR" sz="1600" dirty="0"/>
                <a:t>Rede treinamento #N</a:t>
              </a:r>
            </a:p>
          </p:txBody>
        </p:sp>
      </p:grpSp>
    </p:spTree>
    <p:extLst>
      <p:ext uri="{BB962C8B-B14F-4D97-AF65-F5344CB8AC3E}">
        <p14:creationId xmlns:p14="http://schemas.microsoft.com/office/powerpoint/2010/main" val="3170807552"/>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17585</TotalTime>
  <Words>10546</Words>
  <Application>Microsoft Office PowerPoint</Application>
  <PresentationFormat>Widescreen</PresentationFormat>
  <Paragraphs>1676</Paragraphs>
  <Slides>104</Slides>
  <Notes>52</Notes>
  <HiddenSlides>0</HiddenSlides>
  <MMClips>0</MMClips>
  <ScaleCrop>false</ScaleCrop>
  <HeadingPairs>
    <vt:vector size="6" baseType="variant">
      <vt:variant>
        <vt:lpstr>Fontes usadas</vt:lpstr>
      </vt:variant>
      <vt:variant>
        <vt:i4>12</vt:i4>
      </vt:variant>
      <vt:variant>
        <vt:lpstr>Tema</vt:lpstr>
      </vt:variant>
      <vt:variant>
        <vt:i4>1</vt:i4>
      </vt:variant>
      <vt:variant>
        <vt:lpstr>Títulos de slides</vt:lpstr>
      </vt:variant>
      <vt:variant>
        <vt:i4>104</vt:i4>
      </vt:variant>
    </vt:vector>
  </HeadingPairs>
  <TitlesOfParts>
    <vt:vector size="117" baseType="lpstr">
      <vt:lpstr>-apple-system</vt:lpstr>
      <vt:lpstr>Arial</vt:lpstr>
      <vt:lpstr>Calibri</vt:lpstr>
      <vt:lpstr>Calibri Light</vt:lpstr>
      <vt:lpstr>Cambria Math</vt:lpstr>
      <vt:lpstr>Courier New</vt:lpstr>
      <vt:lpstr>DeepSeek-CJK-patch</vt:lpstr>
      <vt:lpstr>Google Sans</vt:lpstr>
      <vt:lpstr>Roboto</vt:lpstr>
      <vt:lpstr>Söhne</vt:lpstr>
      <vt:lpstr>Trebuchet MS</vt:lpstr>
      <vt:lpstr>Wingdings</vt:lpstr>
      <vt:lpstr>Tema do Office</vt:lpstr>
      <vt:lpstr>C24 – Inteligência Artificial: Redes Neurais Convolucionais</vt:lpstr>
      <vt:lpstr>Apresentação do PowerPoint</vt:lpstr>
      <vt:lpstr>DNNs versus CNNs</vt:lpstr>
      <vt:lpstr>O que vamos ver?</vt:lpstr>
      <vt:lpstr>Apresentação do PowerPoint</vt:lpstr>
      <vt:lpstr>Dados tabulares </vt:lpstr>
      <vt:lpstr>Localidade espacial</vt:lpstr>
      <vt:lpstr>Localidade espacial</vt:lpstr>
      <vt:lpstr>Localidade espacial</vt:lpstr>
      <vt:lpstr>DNNs e imagens</vt:lpstr>
      <vt:lpstr>DNNs e imagens</vt:lpstr>
      <vt:lpstr>DNNs e imagens</vt:lpstr>
      <vt:lpstr>Apresentação do PowerPoint</vt:lpstr>
      <vt:lpstr>Redes neurais convolucionais</vt:lpstr>
      <vt:lpstr>Localidade espacial</vt:lpstr>
      <vt:lpstr>Localidade espacial</vt:lpstr>
      <vt:lpstr>Estacionariedade</vt:lpstr>
      <vt:lpstr>Estacionariedade</vt:lpstr>
      <vt:lpstr>Composição hierárquica de padrões</vt:lpstr>
      <vt:lpstr>Apresentação do PowerPoint</vt:lpstr>
      <vt:lpstr>Arquitetura geral de uma CNN</vt:lpstr>
      <vt:lpstr>Apresentação do PowerPoint</vt:lpstr>
      <vt:lpstr>Imagens</vt:lpstr>
      <vt:lpstr>Camada de convolução</vt:lpstr>
      <vt:lpstr>Camada de convolução</vt:lpstr>
      <vt:lpstr>Filtros de convolução ou kernels</vt:lpstr>
      <vt:lpstr>Neurônios do córtex visual</vt:lpstr>
      <vt:lpstr>Neurônios do córtex visual</vt:lpstr>
      <vt:lpstr>Filtros de convolução ou kernels</vt:lpstr>
      <vt:lpstr>Filtros de convolução ou kernels</vt:lpstr>
      <vt:lpstr>Operação de convolução com kernel 2D</vt:lpstr>
      <vt:lpstr>Operação de convolução com kernel 2D</vt:lpstr>
      <vt:lpstr>Operação de convolução com kernel 2D</vt:lpstr>
      <vt:lpstr>Operação de convolução com kernel 2D</vt:lpstr>
      <vt:lpstr>Operação de convolução com kernel 2D</vt:lpstr>
      <vt:lpstr>Mapa de características</vt:lpstr>
      <vt:lpstr>Stride</vt:lpstr>
      <vt:lpstr>Stride</vt:lpstr>
      <vt:lpstr>Apresentação do PowerPoint</vt:lpstr>
      <vt:lpstr>Filtros detectam padrões</vt:lpstr>
      <vt:lpstr>Aplicando kernels a imagens</vt:lpstr>
      <vt:lpstr>Aplicando kernels a imagens</vt:lpstr>
      <vt:lpstr>Operação de convolução com kernel 3D</vt:lpstr>
      <vt:lpstr>Operação de convolução com kernel 3D</vt:lpstr>
      <vt:lpstr>Operação de convolução com kernel 3D</vt:lpstr>
      <vt:lpstr>Operação de convolução com kernel 3D</vt:lpstr>
      <vt:lpstr>Kernels diferentes para características diferentes</vt:lpstr>
      <vt:lpstr>Função de ativação</vt:lpstr>
      <vt:lpstr>Camada de Pooling (ou subamostragem)</vt:lpstr>
      <vt:lpstr>Camada de Pooling (ou subamostragem)</vt:lpstr>
      <vt:lpstr>Camada de Pooling (ou subamostragem)</vt:lpstr>
      <vt:lpstr>Max pooling</vt:lpstr>
      <vt:lpstr>Max pooling</vt:lpstr>
      <vt:lpstr>Bloco de convolução</vt:lpstr>
      <vt:lpstr>Neurônio</vt:lpstr>
      <vt:lpstr>Padding ou preenchimento</vt:lpstr>
      <vt:lpstr>Padding ou preenchimento</vt:lpstr>
      <vt:lpstr>Padding ou preenchimento</vt:lpstr>
      <vt:lpstr>Padding ou preenchimento</vt:lpstr>
      <vt:lpstr>Camada de flatten</vt:lpstr>
      <vt:lpstr>Camadas densas</vt:lpstr>
      <vt:lpstr>Camadas densas</vt:lpstr>
      <vt:lpstr>Camadas densas</vt:lpstr>
      <vt:lpstr>Treinamento de CNNs</vt:lpstr>
      <vt:lpstr>Apresentação do PowerPoint</vt:lpstr>
      <vt:lpstr>Como evitar o sobreajuste</vt:lpstr>
      <vt:lpstr>Dropout</vt:lpstr>
      <vt:lpstr>Dropout</vt:lpstr>
      <vt:lpstr>Dropout</vt:lpstr>
      <vt:lpstr>Dropout</vt:lpstr>
      <vt:lpstr>Data augmentation</vt:lpstr>
      <vt:lpstr>Data augmentation</vt:lpstr>
      <vt:lpstr>Data augmentation</vt:lpstr>
      <vt:lpstr>Transfer learning</vt:lpstr>
      <vt:lpstr>Transfer learning</vt:lpstr>
      <vt:lpstr>Transfer learning</vt:lpstr>
      <vt:lpstr>Transfer learning</vt:lpstr>
      <vt:lpstr>Transfer learning</vt:lpstr>
      <vt:lpstr>Transfer learning</vt:lpstr>
      <vt:lpstr>Exemplo</vt:lpstr>
      <vt:lpstr>Lista de exercícios</vt:lpstr>
      <vt:lpstr>Apresentação do PowerPoint</vt:lpstr>
      <vt:lpstr>Apresentação do PowerPoint</vt:lpstr>
      <vt:lpstr>Apresentação do PowerPoint</vt:lpstr>
      <vt:lpstr>Exemplo de classificação de imagens</vt:lpstr>
      <vt:lpstr>Exemplo de classificação de imagens</vt:lpstr>
      <vt:lpstr>Exemplo de classificação de imagens</vt:lpstr>
      <vt:lpstr>Exemplo de classificação de imagens</vt:lpstr>
      <vt:lpstr>Exemplo de classificação de imagens</vt:lpstr>
      <vt:lpstr>Exemplo de classificação de imagens</vt:lpstr>
      <vt:lpstr>Observação</vt:lpstr>
      <vt:lpstr>Apresentação do PowerPoint</vt:lpstr>
      <vt:lpstr>Características imperceptíveis</vt:lpstr>
      <vt:lpstr>Explorando CNNs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3022</cp:revision>
  <dcterms:created xsi:type="dcterms:W3CDTF">2020-01-20T13:50:05Z</dcterms:created>
  <dcterms:modified xsi:type="dcterms:W3CDTF">2026-10-14T20:13:50Z</dcterms:modified>
</cp:coreProperties>
</file>