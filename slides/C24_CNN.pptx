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4"/>
  </p:notesMasterIdLst>
  <p:handoutMasterIdLst>
    <p:handoutMasterId r:id="rId105"/>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431" r:id="rId23"/>
    <p:sldId id="514" r:id="rId24"/>
    <p:sldId id="532" r:id="rId25"/>
    <p:sldId id="487" r:id="rId26"/>
    <p:sldId id="456" r:id="rId27"/>
    <p:sldId id="457" r:id="rId28"/>
    <p:sldId id="451" r:id="rId29"/>
    <p:sldId id="454" r:id="rId30"/>
    <p:sldId id="429" r:id="rId31"/>
    <p:sldId id="435" r:id="rId32"/>
    <p:sldId id="432" r:id="rId33"/>
    <p:sldId id="433" r:id="rId34"/>
    <p:sldId id="434" r:id="rId35"/>
    <p:sldId id="453" r:id="rId36"/>
    <p:sldId id="436" r:id="rId37"/>
    <p:sldId id="590" r:id="rId38"/>
    <p:sldId id="488" r:id="rId39"/>
    <p:sldId id="464" r:id="rId40"/>
    <p:sldId id="465" r:id="rId41"/>
    <p:sldId id="437" r:id="rId42"/>
    <p:sldId id="445" r:id="rId43"/>
    <p:sldId id="449" r:id="rId44"/>
    <p:sldId id="450" r:id="rId45"/>
    <p:sldId id="452" r:id="rId46"/>
    <p:sldId id="511" r:id="rId47"/>
    <p:sldId id="455" r:id="rId48"/>
    <p:sldId id="533" r:id="rId49"/>
    <p:sldId id="591" r:id="rId50"/>
    <p:sldId id="460" r:id="rId51"/>
    <p:sldId id="467" r:id="rId52"/>
    <p:sldId id="530" r:id="rId53"/>
    <p:sldId id="531" r:id="rId54"/>
    <p:sldId id="461" r:id="rId55"/>
    <p:sldId id="493" r:id="rId56"/>
    <p:sldId id="462" r:id="rId57"/>
    <p:sldId id="592" r:id="rId58"/>
    <p:sldId id="466" r:id="rId59"/>
    <p:sldId id="512" r:id="rId60"/>
    <p:sldId id="538" r:id="rId61"/>
    <p:sldId id="539" r:id="rId62"/>
    <p:sldId id="536" r:id="rId63"/>
    <p:sldId id="558" r:id="rId64"/>
    <p:sldId id="541" r:id="rId65"/>
    <p:sldId id="440" r:id="rId66"/>
    <p:sldId id="542" r:id="rId67"/>
    <p:sldId id="554" r:id="rId68"/>
    <p:sldId id="543" r:id="rId69"/>
    <p:sldId id="544" r:id="rId70"/>
    <p:sldId id="545" r:id="rId71"/>
    <p:sldId id="593" r:id="rId72"/>
    <p:sldId id="547" r:id="rId73"/>
    <p:sldId id="548" r:id="rId74"/>
    <p:sldId id="549" r:id="rId75"/>
    <p:sldId id="550" r:id="rId76"/>
    <p:sldId id="551" r:id="rId77"/>
    <p:sldId id="552" r:id="rId78"/>
    <p:sldId id="588" r:id="rId79"/>
    <p:sldId id="589" r:id="rId80"/>
    <p:sldId id="293" r:id="rId81"/>
    <p:sldId id="306" r:id="rId82"/>
    <p:sldId id="491" r:id="rId83"/>
    <p:sldId id="441" r:id="rId84"/>
    <p:sldId id="469" r:id="rId85"/>
    <p:sldId id="470" r:id="rId86"/>
    <p:sldId id="471" r:id="rId87"/>
    <p:sldId id="472" r:id="rId88"/>
    <p:sldId id="475" r:id="rId89"/>
    <p:sldId id="474" r:id="rId90"/>
    <p:sldId id="540" r:id="rId91"/>
    <p:sldId id="478" r:id="rId92"/>
    <p:sldId id="477" r:id="rId93"/>
    <p:sldId id="490" r:id="rId94"/>
    <p:sldId id="438" r:id="rId95"/>
    <p:sldId id="443" r:id="rId96"/>
    <p:sldId id="446" r:id="rId97"/>
    <p:sldId id="447" r:id="rId98"/>
    <p:sldId id="448" r:id="rId99"/>
    <p:sldId id="458" r:id="rId100"/>
    <p:sldId id="459" r:id="rId101"/>
    <p:sldId id="479" r:id="rId102"/>
    <p:sldId id="556" r:id="rId10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79417" autoAdjust="0"/>
  </p:normalViewPr>
  <p:slideViewPr>
    <p:cSldViewPr snapToGrid="0">
      <p:cViewPr varScale="1">
        <p:scale>
          <a:sx n="58" d="100"/>
          <a:sy n="58" d="100"/>
        </p:scale>
        <p:origin x="1452"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viewProps" Target="view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5/10/2026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05/10/2026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xmlns=""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xmlns=""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xmlns=""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As camadas densas transformam as características extraídas pelas camadas </a:t>
            </a:r>
            <a:r>
              <a:rPr lang="pt-BR" dirty="0" err="1" smtClean="0"/>
              <a:t>convolucionais</a:t>
            </a:r>
            <a:r>
              <a:rPr lang="pt-BR" dirty="0" smtClean="0"/>
              <a:t> em uma decisão,</a:t>
            </a:r>
            <a:r>
              <a:rPr lang="pt-BR" baseline="0" dirty="0" smtClean="0"/>
              <a:t> ou seja, em uma classe.</a:t>
            </a:r>
          </a:p>
          <a:p>
            <a:endParaRPr lang="pt-BR" baseline="0" dirty="0" smtClean="0"/>
          </a:p>
          <a:p>
            <a:r>
              <a:rPr lang="pt-BR" baseline="0" dirty="0" smtClean="0"/>
              <a:t>Combina as características detectadas e </a:t>
            </a:r>
            <a:r>
              <a:rPr lang="pt-BR" dirty="0" smtClean="0"/>
              <a:t>as combina para produzir a saída final.</a:t>
            </a:r>
          </a:p>
          <a:p>
            <a:endParaRPr lang="pt-BR" dirty="0" smtClean="0"/>
          </a:p>
          <a:p>
            <a:r>
              <a:rPr lang="pt-BR" dirty="0" smtClean="0"/>
              <a:t>Combina as características de alto</a:t>
            </a:r>
            <a:r>
              <a:rPr lang="pt-BR" baseline="0" dirty="0" smtClean="0"/>
              <a:t> nível detectadas para produzir uma decisão. Na entrada das camadas densas temos informação semântica e não mais espacial.</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xmlns="" id="{FF9DFED9-07CB-1299-72FB-DFEA3B5A5C43}"/>
              </a:ext>
            </a:extLst>
          </p:cNvPr>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9996389E-F565-0B86-9A11-118EBD8E4A43}"/>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xmlns="" id="{DBBFC574-80DD-409E-6478-9B71625A3477}"/>
              </a:ext>
            </a:extLst>
          </p:cNvPr>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CAD84C08-D064-60EA-22BD-EEB30E2E1E9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DDE78CB7-3392-2A06-B81B-EA555296BB6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3.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xmlns=""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a:t>
            </a:r>
            <a:r>
              <a:rPr lang="pt-BR" dirty="0" smtClean="0"/>
              <a:t>lugar de uma imagem,</a:t>
            </a:r>
            <a:r>
              <a:rPr lang="pt-BR" b="1" dirty="0" smtClean="0">
                <a:solidFill>
                  <a:srgbClr val="00B050"/>
                </a:solidFill>
              </a:rPr>
              <a:t> </a:t>
            </a:r>
            <a:r>
              <a:rPr lang="pt-BR" b="1" dirty="0">
                <a:solidFill>
                  <a:srgbClr val="00B050"/>
                </a:solidFill>
              </a:rPr>
              <a:t>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xmlns=""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a:t>
            </a:r>
            <a:r>
              <a:rPr lang="pt-BR" sz="6000" dirty="0" smtClean="0"/>
              <a:t>redes densas (</a:t>
            </a:r>
            <a:r>
              <a:rPr lang="pt-BR" sz="6000" dirty="0" err="1" smtClean="0"/>
              <a:t>DNNs</a:t>
            </a:r>
            <a:r>
              <a:rPr lang="pt-BR" sz="6000" dirty="0" smtClean="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xmlns=""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xmlns=""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xmlns=""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xmlns=""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xmlns=""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xmlns=""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xmlns=""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xmlns=""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xmlns=""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xmlns=""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xmlns=""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xmlns=""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xmlns=""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xmlns=""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xmlns=""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xmlns=""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xmlns=""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xmlns=""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xmlns=""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xmlns=""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xmlns=""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xmlns=""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a:t>
            </a:r>
            <a:r>
              <a:rPr lang="pt-BR" b="1" dirty="0" smtClean="0">
                <a:solidFill>
                  <a:schemeClr val="accent2"/>
                </a:solidFill>
              </a:rPr>
              <a:t>texturas, formas, partes de objetos e objetos inteiros</a:t>
            </a:r>
            <a:r>
              <a:rPr lang="pt-BR" dirty="0" smtClean="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xmlns=""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xmlns=""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xmlns=""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xmlns=""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a:t>
            </a:r>
            <a:r>
              <a:rPr lang="pt-BR" noProof="0" dirty="0" smtClean="0"/>
              <a:t>para ter desempenho similar, </a:t>
            </a:r>
            <a:r>
              <a:rPr lang="pt-BR" noProof="0" dirty="0" err="1" smtClean="0"/>
              <a:t>DNNs</a:t>
            </a:r>
            <a:r>
              <a:rPr lang="pt-BR" noProof="0" dirty="0" smtClean="0"/>
              <a:t> </a:t>
            </a:r>
            <a:r>
              <a:rPr lang="pt-BR" noProof="0" dirty="0"/>
              <a:t>precisam ser maiores do que CNNs, pois precisam de mais </a:t>
            </a:r>
            <a:r>
              <a:rPr lang="pt-BR" noProof="0" dirty="0" smtClean="0"/>
              <a:t>nós para </a:t>
            </a:r>
            <a:r>
              <a:rPr lang="pt-BR" noProof="0" dirty="0"/>
              <a:t>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496373" y="1690688"/>
            <a:ext cx="6695627" cy="5167311"/>
          </a:xfrm>
        </p:spPr>
        <p:txBody>
          <a:bodyPr>
            <a:normAutofit/>
          </a:bodyPr>
          <a:lstStyle/>
          <a:p>
            <a:r>
              <a:rPr lang="pt-BR" dirty="0"/>
              <a:t>Assim, a </a:t>
            </a:r>
            <a:r>
              <a:rPr lang="pt-BR" b="1" dirty="0">
                <a:solidFill>
                  <a:schemeClr val="accent2"/>
                </a:solidFill>
              </a:rPr>
              <a:t>conectividade total dos </a:t>
            </a:r>
            <a:r>
              <a:rPr lang="pt-BR" b="1" dirty="0" smtClean="0">
                <a:solidFill>
                  <a:schemeClr val="accent2"/>
                </a:solidFill>
              </a:rPr>
              <a:t>nós </a:t>
            </a:r>
            <a:r>
              <a:rPr lang="pt-BR" b="1" dirty="0" smtClean="0">
                <a:solidFill>
                  <a:srgbClr val="00B050"/>
                </a:solidFill>
              </a:rPr>
              <a:t>em </a:t>
            </a:r>
            <a:r>
              <a:rPr lang="pt-BR" b="1" dirty="0">
                <a:solidFill>
                  <a:srgbClr val="00B050"/>
                </a:solidFill>
              </a:rPr>
              <a:t>uma DNN é um </a:t>
            </a:r>
            <a:r>
              <a:rPr lang="pt-BR" b="1" dirty="0">
                <a:solidFill>
                  <a:srgbClr val="7030A0"/>
                </a:solidFill>
              </a:rPr>
              <a:t>desperdício</a:t>
            </a:r>
            <a:r>
              <a:rPr lang="pt-BR" b="1" dirty="0">
                <a:solidFill>
                  <a:srgbClr val="00B050"/>
                </a:solidFill>
              </a:rPr>
              <a:t> </a:t>
            </a:r>
            <a:r>
              <a:rPr lang="pt-BR" dirty="0"/>
              <a:t>para </a:t>
            </a:r>
            <a:r>
              <a:rPr lang="pt-BR" dirty="0" smtClean="0"/>
              <a:t>tarefas de </a:t>
            </a:r>
            <a:r>
              <a:rPr lang="pt-BR" b="1" dirty="0">
                <a:solidFill>
                  <a:srgbClr val="0070C0"/>
                </a:solidFill>
              </a:rPr>
              <a:t>processamento de imagens</a:t>
            </a:r>
            <a:r>
              <a:rPr lang="pt-BR" dirty="0"/>
              <a:t>, </a:t>
            </a:r>
            <a:r>
              <a:rPr lang="pt-BR" dirty="0" smtClean="0"/>
              <a:t>as </a:t>
            </a:r>
            <a:r>
              <a:rPr lang="pt-BR" dirty="0"/>
              <a:t>quais são</a:t>
            </a:r>
          </a:p>
          <a:p>
            <a:pPr lvl="1">
              <a:buFont typeface="Wingdings" panose="05000000000000000000" pitchFamily="2" charset="2"/>
              <a:buChar char="§"/>
            </a:pPr>
            <a:r>
              <a:rPr lang="pt-BR" b="1" dirty="0" smtClean="0">
                <a:solidFill>
                  <a:srgbClr val="7030A0"/>
                </a:solidFill>
              </a:rPr>
              <a:t>dominadas </a:t>
            </a:r>
            <a:r>
              <a:rPr lang="pt-BR" b="1" dirty="0">
                <a:solidFill>
                  <a:srgbClr val="7030A0"/>
                </a:solidFill>
              </a:rPr>
              <a:t>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xmlns=""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xmlns=""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xmlns=""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xmlns=""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xmlns=""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xmlns=""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xmlns=""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xmlns=""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xmlns=""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988818" y="1825624"/>
            <a:ext cx="6203182" cy="5032375"/>
          </a:xfrm>
        </p:spPr>
        <p:txBody>
          <a:bodyPr>
            <a:normAutofit/>
          </a:bodyPr>
          <a:lstStyle/>
          <a:p>
            <a:r>
              <a:rPr lang="pt-BR" dirty="0" smtClean="0"/>
              <a:t>A propriedade da </a:t>
            </a:r>
            <a:r>
              <a:rPr lang="pt-BR" b="1" dirty="0" smtClean="0">
                <a:solidFill>
                  <a:srgbClr val="7030A0"/>
                </a:solidFill>
              </a:rPr>
              <a:t>localidade espacial</a:t>
            </a:r>
            <a:r>
              <a:rPr lang="pt-BR" dirty="0" smtClean="0"/>
              <a:t> diz que </a:t>
            </a:r>
            <a:r>
              <a:rPr lang="pt-BR" i="1" dirty="0" smtClean="0"/>
              <a:t>pixels</a:t>
            </a:r>
            <a:r>
              <a:rPr lang="pt-BR" dirty="0" smtClean="0"/>
              <a:t> próximos tendem a ser </a:t>
            </a:r>
            <a:r>
              <a:rPr lang="pt-BR" b="1" dirty="0" smtClean="0">
                <a:solidFill>
                  <a:schemeClr val="accent2"/>
                </a:solidFill>
              </a:rPr>
              <a:t>correlacionados</a:t>
            </a:r>
            <a:r>
              <a:rPr lang="pt-BR" dirty="0" smtClean="0"/>
              <a:t>.</a:t>
            </a:r>
          </a:p>
          <a:p>
            <a:r>
              <a:rPr lang="pt-BR" dirty="0" smtClean="0"/>
              <a:t>Por exemplo, os </a:t>
            </a:r>
            <a:r>
              <a:rPr lang="pt-BR" i="1" dirty="0" smtClean="0"/>
              <a:t>pixels</a:t>
            </a:r>
            <a:r>
              <a:rPr lang="pt-BR" dirty="0" smtClean="0"/>
              <a:t> dos olhos do gato.</a:t>
            </a:r>
          </a:p>
          <a:p>
            <a:r>
              <a:rPr lang="pt-BR" dirty="0" smtClean="0"/>
              <a:t>Ou seja, a </a:t>
            </a:r>
            <a:r>
              <a:rPr lang="pt-BR" b="1" dirty="0" smtClean="0">
                <a:solidFill>
                  <a:schemeClr val="accent2"/>
                </a:solidFill>
              </a:rPr>
              <a:t>maior parte da informação visual</a:t>
            </a:r>
            <a:r>
              <a:rPr lang="pt-BR" dirty="0" smtClean="0"/>
              <a:t> está em </a:t>
            </a:r>
            <a:r>
              <a:rPr lang="pt-BR" b="1" dirty="0" smtClean="0">
                <a:solidFill>
                  <a:srgbClr val="00B050"/>
                </a:solidFill>
              </a:rPr>
              <a:t>pequenas regiões da imagem</a:t>
            </a:r>
            <a:r>
              <a:rPr lang="pt-BR" dirty="0" smtClean="0"/>
              <a:t>. </a:t>
            </a:r>
          </a:p>
          <a:p>
            <a:r>
              <a:rPr lang="pt-BR" dirty="0" smtClean="0"/>
              <a:t>Como as CNNs exploram isso?</a:t>
            </a:r>
            <a:endParaRPr lang="pt-BR" dirty="0"/>
          </a:p>
        </p:txBody>
      </p:sp>
      <p:pic>
        <p:nvPicPr>
          <p:cNvPr id="4" name="Imagem 14">
            <a:extLst>
              <a:ext uri="{FF2B5EF4-FFF2-40B4-BE49-F238E27FC236}">
                <a16:creationId xmlns:a16="http://schemas.microsoft.com/office/drawing/2014/main" xmlns=""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a:t>
            </a:r>
            <a:r>
              <a:rPr lang="pt-BR" noProof="0" dirty="0" smtClean="0"/>
              <a:t>“olha” </a:t>
            </a:r>
            <a:r>
              <a:rPr lang="pt-BR" noProof="0" dirty="0"/>
              <a:t>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xmlns=""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xmlns=""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xmlns=""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xmlns=""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a:t>
            </a:r>
            <a:r>
              <a:rPr lang="pt-BR" noProof="0" dirty="0" smtClean="0"/>
              <a:t>cabeça, corpo, rabo</a:t>
            </a:r>
            <a:endParaRPr lang="pt-BR" noProof="0" dirty="0"/>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xmlns=""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noProof="0" dirty="0"/>
              <a:t>Operações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xmlns=""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096000" y="1825624"/>
            <a:ext cx="6095999"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são matrizes 2D ou 3D.</a:t>
            </a:r>
          </a:p>
          <a:p>
            <a:r>
              <a:rPr lang="pt-BR" dirty="0"/>
              <a:t>Esse filtro:</a:t>
            </a:r>
          </a:p>
          <a:p>
            <a:pPr lvl="1">
              <a:buFont typeface="Wingdings" panose="05000000000000000000" pitchFamily="2" charset="2"/>
              <a:buChar char="§"/>
            </a:pPr>
            <a:r>
              <a:rPr lang="pt-BR" sz="2800" dirty="0"/>
              <a:t>é multiplicado elemento a elemento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xmlns=""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xmlns=""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 não linear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752492" y="1825624"/>
                <a:ext cx="5439508" cy="5032375"/>
              </a:xfrm>
              <a:blipFill>
                <a:blip r:embed="rId2"/>
                <a:stretch>
                  <a:fillRect l="-2018" t="-1937" r="-3363"/>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xmlns=""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xmlns="" id="{578D2855-A5E4-EF62-5C7F-F340FE14C7B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xmlns=""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xmlns=""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xmlns=""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xmlns=""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xmlns=""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xmlns=""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xmlns=""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xmlns=""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xmlns=""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4" name="Tabela 4">
              <a:extLst>
                <a:ext uri="{FF2B5EF4-FFF2-40B4-BE49-F238E27FC236}">
                  <a16:creationId xmlns:a16="http://schemas.microsoft.com/office/drawing/2014/main" xmlns=""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5" name="CaixaDeTexto 4">
              <a:extLst>
                <a:ext uri="{FF2B5EF4-FFF2-40B4-BE49-F238E27FC236}">
                  <a16:creationId xmlns:a16="http://schemas.microsoft.com/office/drawing/2014/main" xmlns=""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xmlns=""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9" name="CaixaDeTexto 8">
              <a:extLst>
                <a:ext uri="{FF2B5EF4-FFF2-40B4-BE49-F238E27FC236}">
                  <a16:creationId xmlns:a16="http://schemas.microsoft.com/office/drawing/2014/main" xmlns=""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determinadas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xmlns=""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xmlns=""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2" name="Tabela 4">
              <a:extLst>
                <a:ext uri="{FF2B5EF4-FFF2-40B4-BE49-F238E27FC236}">
                  <a16:creationId xmlns:a16="http://schemas.microsoft.com/office/drawing/2014/main" xmlns=""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3" name="Tabela 4">
              <a:extLst>
                <a:ext uri="{FF2B5EF4-FFF2-40B4-BE49-F238E27FC236}">
                  <a16:creationId xmlns:a16="http://schemas.microsoft.com/office/drawing/2014/main" xmlns=""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4" name="CaixaDeTexto 13">
              <a:extLst>
                <a:ext uri="{FF2B5EF4-FFF2-40B4-BE49-F238E27FC236}">
                  <a16:creationId xmlns:a16="http://schemas.microsoft.com/office/drawing/2014/main" xmlns=""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xmlns=""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6" name="CaixaDeTexto 15">
              <a:extLst>
                <a:ext uri="{FF2B5EF4-FFF2-40B4-BE49-F238E27FC236}">
                  <a16:creationId xmlns:a16="http://schemas.microsoft.com/office/drawing/2014/main" xmlns=""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243144" y="1825624"/>
                <a:ext cx="5948855" cy="5032375"/>
              </a:xfrm>
            </p:spPr>
            <p:txBody>
              <a:bodyPr>
                <a:normAutofit/>
              </a:bodyPr>
              <a:lstStyle/>
              <a:p>
                <a:r>
                  <a:rPr lang="pt-BR" dirty="0"/>
                  <a:t>Vamos ignorar múltiplos canais por enquanto e entender como uma operação de convolução funciona com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xmlns=""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xmlns="" id="{25236317-8512-751D-DD1D-20B071AC5DE9}"/>
                  </a:ext>
                </a:extLst>
              </p:cNvPr>
              <p:cNvSpPr txBox="1"/>
              <p:nvPr/>
            </p:nvSpPr>
            <p:spPr>
              <a:xfrm>
                <a:off x="130183" y="5652796"/>
                <a:ext cx="6536624" cy="1200329"/>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a:p>
                <a14:m>
                  <m:oMath xmlns:m="http://schemas.openxmlformats.org/officeDocument/2006/math">
                    <m:r>
                      <m:rPr>
                        <m:brk m:alnAt="7"/>
                      </m:rPr>
                      <a:rPr lang="pt-BR" i="1">
                        <a:latin typeface="Cambria Math" panose="02040503050406030204" pitchFamily="18" charset="0"/>
                        <a:ea typeface="Cambria Math" panose="02040503050406030204" pitchFamily="18" charset="0"/>
                      </a:rPr>
                      <m:t>𝑚</m:t>
                    </m:r>
                  </m:oMath>
                </a14:m>
                <a:r>
                  <a:rPr lang="pt-BR" dirty="0"/>
                  <a:t>, </a:t>
                </a:r>
                <a14:m>
                  <m:oMath xmlns:m="http://schemas.openxmlformats.org/officeDocument/2006/math">
                    <m:r>
                      <m:rPr>
                        <m:brk m:alnAt="7"/>
                      </m:rPr>
                      <a:rPr lang="pt-BR" i="1">
                        <a:latin typeface="Cambria Math" panose="02040503050406030204" pitchFamily="18" charset="0"/>
                        <a:ea typeface="Cambria Math" panose="02040503050406030204" pitchFamily="18" charset="0"/>
                      </a:rPr>
                      <m:t>𝑛</m:t>
                    </m:r>
                  </m:oMath>
                </a14:m>
                <a:r>
                  <a:rPr lang="pt-BR" dirty="0"/>
                  <a:t>: índices da linha e da </a:t>
                </a:r>
                <a:r>
                  <a:rPr lang="pt-BR" dirty="0" smtClean="0"/>
                  <a:t>coluna da imagem, </a:t>
                </a:r>
                <a:r>
                  <a:rPr lang="pt-BR" dirty="0"/>
                  <a:t>respectivamente</a:t>
                </a:r>
              </a:p>
            </p:txBody>
          </p:sp>
        </mc:Choice>
        <mc:Fallback>
          <p:sp>
            <p:nvSpPr>
              <p:cNvPr id="4" name="CaixaDeTexto 3">
                <a:extLst>
                  <a:ext uri="{FF2B5EF4-FFF2-40B4-BE49-F238E27FC236}">
                    <a16:creationId xmlns:a16="http://schemas.microsoft.com/office/drawing/2014/main" xmlns:a14="http://schemas.microsoft.com/office/drawing/2010/main" xmlns="" id="{25236317-8512-751D-DD1D-20B071AC5DE9}"/>
                  </a:ext>
                </a:extLst>
              </p:cNvPr>
              <p:cNvSpPr txBox="1">
                <a:spLocks noRot="1" noChangeAspect="1" noMove="1" noResize="1" noEditPoints="1" noAdjustHandles="1" noChangeArrowheads="1" noChangeShapeType="1" noTextEdit="1"/>
              </p:cNvSpPr>
              <p:nvPr/>
            </p:nvSpPr>
            <p:spPr>
              <a:xfrm>
                <a:off x="130183" y="5652796"/>
                <a:ext cx="6536624" cy="1200329"/>
              </a:xfrm>
              <a:prstGeom prst="rect">
                <a:avLst/>
              </a:prstGeom>
              <a:blipFill rotWithShape="0">
                <a:blip r:embed="rId7"/>
                <a:stretch>
                  <a:fillRect t="-3046" b="-7107"/>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xmlns=""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xmlns=""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a:t>
            </a:r>
            <a:r>
              <a:rPr lang="pt-BR" b="1" dirty="0">
                <a:solidFill>
                  <a:schemeClr val="accent2"/>
                </a:solidFill>
              </a:rPr>
              <a:t>janela de convolução</a:t>
            </a:r>
            <a:r>
              <a:rPr lang="pt-BR" b="1" dirty="0"/>
              <a:t> (</a:t>
            </a:r>
            <a:r>
              <a:rPr lang="pt-BR" b="1" dirty="0">
                <a:solidFill>
                  <a:srgbClr val="7030A0"/>
                </a:solidFill>
              </a:rPr>
              <a:t>ou campo receptivo</a:t>
            </a:r>
            <a:r>
              <a:rPr lang="pt-BR" b="1" dirty="0"/>
              <a:t>) </a:t>
            </a:r>
            <a:r>
              <a:rPr lang="pt-BR" dirty="0"/>
              <a:t>no </a:t>
            </a:r>
            <a:r>
              <a:rPr lang="pt-BR" b="1" dirty="0"/>
              <a:t>canto superior esquerdo</a:t>
            </a:r>
            <a:r>
              <a:rPr lang="pt-BR" dirty="0"/>
              <a:t> do tensor de entrada (e.g., uma imagem).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xmlns=""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xmlns=""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xmlns=""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xmlns=""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838200" y="1825624"/>
            <a:ext cx="11353800" cy="5032375"/>
          </a:xfrm>
        </p:spPr>
        <p:txBody>
          <a:bodyPr>
            <a:normAutofit/>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err="1"/>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a:t>
            </a:r>
          </a:p>
          <a:p>
            <a:pPr lvl="2">
              <a:buFont typeface="Courier New" panose="02070309020205020404" pitchFamily="49" charset="0"/>
              <a:buChar char="o"/>
            </a:pPr>
            <a:r>
              <a:rPr lang="pt-BR" i="1" noProof="0" dirty="0"/>
              <a:t>Stride</a:t>
            </a:r>
            <a:r>
              <a:rPr lang="pt-BR" noProof="0" dirty="0"/>
              <a:t> pequeno captura detalhes menores: detecta padrões finos.</a:t>
            </a:r>
          </a:p>
          <a:p>
            <a:pPr lvl="3">
              <a:buFont typeface="Wingdings" panose="05000000000000000000" pitchFamily="2" charset="2"/>
              <a:buChar char="ü"/>
            </a:pPr>
            <a:r>
              <a:rPr lang="pt-BR" noProof="0" dirty="0"/>
              <a:t>Porém, é mais caro computacionalmente.</a:t>
            </a:r>
          </a:p>
          <a:p>
            <a:pPr lvl="2">
              <a:buFont typeface="Courier New" panose="02070309020205020404" pitchFamily="49" charset="0"/>
              <a:buChar char="o"/>
            </a:pPr>
            <a:r>
              <a:rPr lang="pt-BR" i="1" noProof="0" dirty="0"/>
              <a:t>Stride</a:t>
            </a:r>
            <a:r>
              <a:rPr lang="pt-BR" noProof="0" dirty="0"/>
              <a:t> grande captura detalhes maiores: detecta padrões mais globais.</a:t>
            </a:r>
          </a:p>
        </p:txBody>
      </p:sp>
    </p:spTree>
    <p:extLst>
      <p:ext uri="{BB962C8B-B14F-4D97-AF65-F5344CB8AC3E}">
        <p14:creationId xmlns:p14="http://schemas.microsoft.com/office/powerpoint/2010/main" val="10410995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xmlns=""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i="1" dirty="0"/>
                  <a:t>Downsampling</a:t>
                </a:r>
                <a:r>
                  <a:rPr lang="pt-BR" dirty="0"/>
                  <a:t>: </a:t>
                </a:r>
                <a14:m>
                  <m:oMath xmlns:m="http://schemas.openxmlformats.org/officeDocument/2006/math">
                    <m:r>
                      <a:rPr lang="pt-BR" b="0" i="1" smtClean="0">
                        <a:latin typeface="Cambria Math" panose="02040503050406030204" pitchFamily="18" charset="0"/>
                      </a:rPr>
                      <m:t>4</m:t>
                    </m:r>
                    <m:r>
                      <a:rPr lang="pt-BR" b="0" i="1" smtClean="0">
                        <a:latin typeface="Cambria Math" panose="02040503050406030204" pitchFamily="18" charset="0"/>
                        <a:ea typeface="Cambria Math" panose="02040503050406030204" pitchFamily="18" charset="0"/>
                      </a:rPr>
                      <m:t>×4</m:t>
                    </m:r>
                  </m:oMath>
                </a14:m>
                <a:r>
                  <a:rPr lang="pt-BR" dirty="0"/>
                  <a:t> para </a:t>
                </a:r>
                <a14:m>
                  <m:oMath xmlns:m="http://schemas.openxmlformats.org/officeDocument/2006/math">
                    <m:r>
                      <a:rPr lang="pt-BR" b="0" i="0"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2</m:t>
                    </m:r>
                  </m:oMath>
                </a14:m>
                <a:endParaRPr lang="pt-BR" dirty="0"/>
              </a:p>
              <a:p>
                <a:r>
                  <a:rPr lang="pt-BR" dirty="0"/>
                  <a:t>Porém, ele pode ser diferente para deslocamentos ao longo das linhas e colunas.</a:t>
                </a:r>
              </a:p>
            </p:txBody>
          </p:sp>
        </mc:Choice>
        <mc:Fallback xmlns="">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xmlns=""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xmlns=""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xmlns=""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xmlns=""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xmlns=""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xmlns=""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xmlns=""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xmlns=""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xmlns=""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xmlns=""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xmlns=""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pic>
        <p:nvPicPr>
          <p:cNvPr id="3074" name="Picture 2">
            <a:extLst>
              <a:ext uri="{FF2B5EF4-FFF2-40B4-BE49-F238E27FC236}">
                <a16:creationId xmlns:a16="http://schemas.microsoft.com/office/drawing/2014/main" xmlns=""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xmlns=""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xmlns=""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xmlns=""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xmlns=""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xmlns=""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xmlns=""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xmlns=""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xmlns=""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xmlns=""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xmlns=""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xmlns=""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xmlns=""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xmlns=""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(matriz) e </a:t>
                </a:r>
                <a:r>
                  <a:rPr lang="pt-BR" b="1" dirty="0">
                    <a:solidFill>
                      <a:schemeClr val="accent1"/>
                    </a:solidFill>
                  </a:rPr>
                  <a:t>resume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rotWithShape="0">
                <a:blip r:embed="rId3"/>
                <a:stretch>
                  <a:fillRect l="-1671" t="-1937" r="-157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xmlns=""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xmlns=""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xmlns=""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b="1" dirty="0" err="1">
                <a:solidFill>
                  <a:srgbClr val="00B050"/>
                </a:solidFill>
              </a:rPr>
              <a:t>diminui</a:t>
            </a:r>
            <a:r>
              <a:rPr lang="en-US" b="1" dirty="0">
                <a:solidFill>
                  <a:srgbClr val="00B050"/>
                </a:solidFill>
              </a:rPr>
              <a:t> a </a:t>
            </a:r>
            <a:r>
              <a:rPr lang="en-US" b="1" dirty="0" err="1">
                <a:solidFill>
                  <a:srgbClr val="00B050"/>
                </a:solidFill>
              </a:rPr>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xmlns=""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xmlns=""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xmlns=""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xmlns=""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xmlns=""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xmlns=""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xmlns=""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xmlns=""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xmlns=""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xmlns=""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xmlns=""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de forma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xmlns=""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de </a:t>
            </a:r>
            <a:r>
              <a:rPr lang="en-US" dirty="0" err="1"/>
              <a:t>uma</a:t>
            </a:r>
            <a:r>
              <a:rPr lang="en-US" dirty="0"/>
              <a:t> </a:t>
            </a:r>
            <a:r>
              <a:rPr lang="en-US" dirty="0" err="1"/>
              <a:t>cena</a:t>
            </a:r>
            <a:r>
              <a:rPr lang="en-US" dirty="0"/>
              <a:t>, etc.</a:t>
            </a:r>
          </a:p>
        </p:txBody>
      </p:sp>
      <p:pic>
        <p:nvPicPr>
          <p:cNvPr id="6" name="Imagem 5">
            <a:extLst>
              <a:ext uri="{FF2B5EF4-FFF2-40B4-BE49-F238E27FC236}">
                <a16:creationId xmlns:a16="http://schemas.microsoft.com/office/drawing/2014/main" xmlns=""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xmlns=""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contêm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err="1"/>
              <a:t>softmax</a:t>
            </a:r>
            <a:r>
              <a:rPr lang="pt-BR" dirty="0"/>
              <a:t>), </a:t>
            </a:r>
            <a:r>
              <a:rPr lang="pt-BR" dirty="0" err="1"/>
              <a:t>grando</a:t>
            </a:r>
            <a:r>
              <a:rPr lang="pt-BR" dirty="0"/>
              <a:t>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xmlns=""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a:t>DNNs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camadas densas ocultas,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xmlns=""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xmlns=""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xmlns=""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xmlns=""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xmlns=""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xmlns=""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xmlns=""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xmlns=""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xmlns=""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xmlns=""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xmlns=""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xmlns=""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xmlns=""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xmlns=""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xmlns=""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xmlns=""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xmlns=""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xmlns=""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xmlns=""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xmlns=""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xmlns=""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xmlns=""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xmlns=""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xmlns=""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xmlns=""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xmlns=""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xmlns=""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xmlns=""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xmlns=""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xmlns=""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xmlns=""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xmlns=""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xmlns=""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xmlns=""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xmlns=""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xmlns=""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xmlns=""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xmlns=""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xmlns=""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xmlns="" val="3650072185"/>
                          </a:ext>
                        </a:extLst>
                      </a:gridCol>
                      <a:gridCol w="560422">
                        <a:extLst>
                          <a:ext uri="{9D8B030D-6E8A-4147-A177-3AD203B41FA5}">
                            <a16:colId xmlns:a16="http://schemas.microsoft.com/office/drawing/2014/main" xmlns=""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xmlns=""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xmlns=""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xmlns=""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xmlns=""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xmlns=""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xmlns=""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xmlns=""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xmlns=""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xmlns=""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xmlns=""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xmlns=""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xmlns=""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xmlns=""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xmlns=""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xmlns="" val="3650072185"/>
                      </a:ext>
                    </a:extLst>
                  </a:gridCol>
                  <a:gridCol w="414009">
                    <a:extLst>
                      <a:ext uri="{9D8B030D-6E8A-4147-A177-3AD203B41FA5}">
                        <a16:colId xmlns:a16="http://schemas.microsoft.com/office/drawing/2014/main" xmlns="" val="3646872024"/>
                      </a:ext>
                    </a:extLst>
                  </a:gridCol>
                  <a:gridCol w="414009">
                    <a:extLst>
                      <a:ext uri="{9D8B030D-6E8A-4147-A177-3AD203B41FA5}">
                        <a16:colId xmlns:a16="http://schemas.microsoft.com/office/drawing/2014/main" xmlns="" val="1992468736"/>
                      </a:ext>
                    </a:extLst>
                  </a:gridCol>
                  <a:gridCol w="414009">
                    <a:extLst>
                      <a:ext uri="{9D8B030D-6E8A-4147-A177-3AD203B41FA5}">
                        <a16:colId xmlns:a16="http://schemas.microsoft.com/office/drawing/2014/main" xmlns=""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graphicFrame>
          <p:nvGraphicFramePr>
            <p:cNvPr id="7" name="Tabela 6">
              <a:extLst>
                <a:ext uri="{FF2B5EF4-FFF2-40B4-BE49-F238E27FC236}">
                  <a16:creationId xmlns:a16="http://schemas.microsoft.com/office/drawing/2014/main" xmlns=""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xmlns=""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xmlns=""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xmlns=""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xmlns=""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xmlns="" val="1166939837"/>
                          </a:ext>
                        </a:extLst>
                      </a:gridCol>
                      <a:gridCol w="412933">
                        <a:extLst>
                          <a:ext uri="{9D8B030D-6E8A-4147-A177-3AD203B41FA5}">
                            <a16:colId xmlns:a16="http://schemas.microsoft.com/office/drawing/2014/main" xmlns="" val="3650072185"/>
                          </a:ext>
                        </a:extLst>
                      </a:gridCol>
                      <a:gridCol w="412933">
                        <a:extLst>
                          <a:ext uri="{9D8B030D-6E8A-4147-A177-3AD203B41FA5}">
                            <a16:colId xmlns:a16="http://schemas.microsoft.com/office/drawing/2014/main" xmlns="" val="3646872024"/>
                          </a:ext>
                        </a:extLst>
                      </a:gridCol>
                      <a:gridCol w="412933">
                        <a:extLst>
                          <a:ext uri="{9D8B030D-6E8A-4147-A177-3AD203B41FA5}">
                            <a16:colId xmlns:a16="http://schemas.microsoft.com/office/drawing/2014/main" xmlns="" val="1992468736"/>
                          </a:ext>
                        </a:extLst>
                      </a:gridCol>
                      <a:gridCol w="412933">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xmlns=""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xmlns=""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xmlns="" val="1166939837"/>
                          </a:ext>
                        </a:extLst>
                      </a:gridCol>
                      <a:gridCol w="441820">
                        <a:extLst>
                          <a:ext uri="{9D8B030D-6E8A-4147-A177-3AD203B41FA5}">
                            <a16:colId xmlns:a16="http://schemas.microsoft.com/office/drawing/2014/main" xmlns="" val="3650072185"/>
                          </a:ext>
                        </a:extLst>
                      </a:gridCol>
                      <a:gridCol w="441820">
                        <a:extLst>
                          <a:ext uri="{9D8B030D-6E8A-4147-A177-3AD203B41FA5}">
                            <a16:colId xmlns:a16="http://schemas.microsoft.com/office/drawing/2014/main" xmlns="" val="3646872024"/>
                          </a:ext>
                        </a:extLst>
                      </a:gridCol>
                      <a:gridCol w="441820">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xmlns=""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xmlns=""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xmlns=""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xmlns=""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xmlns=""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xmlns=""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xmlns=""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xmlns=""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xmlns=""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xmlns=""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xmlns=""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xmlns=""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xmlns=""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xmlns=""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xmlns=""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xmlns=""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xmlns=""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xmlns=""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xmlns=""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xmlns=""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xmlns=""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xmlns=""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xmlns=""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xmlns=""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xmlns=""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xmlns=""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xmlns=""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xmlns=""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xmlns=""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xmlns=""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xmlns=""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xmlns=""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xmlns=""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xmlns=""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xmlns=""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xmlns=""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xmlns=""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xmlns=""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xmlns=""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xmlns=""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xmlns=""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xmlns=""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xmlns=""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xmlns=""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xmlns=""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xmlns=""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xmlns=""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xmlns=""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xmlns=""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xmlns=""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xmlns=""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xmlns=""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xmlns=""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xmlns=""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xmlns=""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xmlns=""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xmlns=""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xmlns=""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xmlns=""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xmlns=""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xmlns=""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xmlns=""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xmlns=""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xmlns=""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xmlns=""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xmlns=""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xmlns=""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xmlns=""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xmlns=""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xmlns=""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xmlns=""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xmlns=""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xmlns=""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xmlns=""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xmlns=""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xmlns=""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xmlns=""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xmlns=""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xmlns=""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xmlns=""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xmlns=""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xmlns=""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xmlns=""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17250</TotalTime>
  <Words>8403</Words>
  <Application>Microsoft Office PowerPoint</Application>
  <PresentationFormat>Widescreen</PresentationFormat>
  <Paragraphs>1627</Paragraphs>
  <Slides>102</Slides>
  <Notes>48</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102</vt:i4>
      </vt:variant>
    </vt:vector>
  </HeadingPairs>
  <TitlesOfParts>
    <vt:vector size="11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2936</cp:revision>
  <dcterms:created xsi:type="dcterms:W3CDTF">2020-01-20T13:50:05Z</dcterms:created>
  <dcterms:modified xsi:type="dcterms:W3CDTF">2026-10-05T22:03:34Z</dcterms:modified>
</cp:coreProperties>
</file>