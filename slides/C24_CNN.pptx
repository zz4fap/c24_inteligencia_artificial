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2"/>
  </p:notesMasterIdLst>
  <p:handoutMasterIdLst>
    <p:handoutMasterId r:id="rId103"/>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590" r:id="rId39"/>
    <p:sldId id="488" r:id="rId40"/>
    <p:sldId id="464" r:id="rId41"/>
    <p:sldId id="465" r:id="rId42"/>
    <p:sldId id="437" r:id="rId43"/>
    <p:sldId id="445" r:id="rId44"/>
    <p:sldId id="449" r:id="rId45"/>
    <p:sldId id="450" r:id="rId46"/>
    <p:sldId id="511" r:id="rId47"/>
    <p:sldId id="452" r:id="rId48"/>
    <p:sldId id="455" r:id="rId49"/>
    <p:sldId id="533" r:id="rId50"/>
    <p:sldId id="460" r:id="rId51"/>
    <p:sldId id="467" r:id="rId52"/>
    <p:sldId id="530" r:id="rId53"/>
    <p:sldId id="531" r:id="rId54"/>
    <p:sldId id="461" r:id="rId55"/>
    <p:sldId id="493" r:id="rId56"/>
    <p:sldId id="462" r:id="rId57"/>
    <p:sldId id="466" r:id="rId58"/>
    <p:sldId id="512" r:id="rId59"/>
    <p:sldId id="538" r:id="rId60"/>
    <p:sldId id="539" r:id="rId61"/>
    <p:sldId id="536" r:id="rId62"/>
    <p:sldId id="558" r:id="rId63"/>
    <p:sldId id="541" r:id="rId64"/>
    <p:sldId id="440" r:id="rId65"/>
    <p:sldId id="542" r:id="rId66"/>
    <p:sldId id="554" r:id="rId67"/>
    <p:sldId id="543" r:id="rId68"/>
    <p:sldId id="544" r:id="rId69"/>
    <p:sldId id="545" r:id="rId70"/>
    <p:sldId id="547" r:id="rId71"/>
    <p:sldId id="548" r:id="rId72"/>
    <p:sldId id="549" r:id="rId73"/>
    <p:sldId id="550" r:id="rId74"/>
    <p:sldId id="551" r:id="rId75"/>
    <p:sldId id="552" r:id="rId76"/>
    <p:sldId id="588" r:id="rId77"/>
    <p:sldId id="589" r:id="rId78"/>
    <p:sldId id="293" r:id="rId79"/>
    <p:sldId id="306" r:id="rId80"/>
    <p:sldId id="491" r:id="rId81"/>
    <p:sldId id="441" r:id="rId82"/>
    <p:sldId id="469" r:id="rId83"/>
    <p:sldId id="470" r:id="rId84"/>
    <p:sldId id="471" r:id="rId85"/>
    <p:sldId id="472" r:id="rId86"/>
    <p:sldId id="475" r:id="rId87"/>
    <p:sldId id="474" r:id="rId88"/>
    <p:sldId id="540" r:id="rId89"/>
    <p:sldId id="478" r:id="rId90"/>
    <p:sldId id="477" r:id="rId91"/>
    <p:sldId id="490" r:id="rId92"/>
    <p:sldId id="438" r:id="rId93"/>
    <p:sldId id="443" r:id="rId94"/>
    <p:sldId id="446" r:id="rId95"/>
    <p:sldId id="447" r:id="rId96"/>
    <p:sldId id="448" r:id="rId97"/>
    <p:sldId id="458" r:id="rId98"/>
    <p:sldId id="459" r:id="rId99"/>
    <p:sldId id="479" r:id="rId100"/>
    <p:sldId id="556" r:id="rId101"/>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85817" autoAdjust="0"/>
  </p:normalViewPr>
  <p:slideViewPr>
    <p:cSldViewPr snapToGrid="0">
      <p:cViewPr varScale="1">
        <p:scale>
          <a:sx n="95" d="100"/>
          <a:sy n="95" d="100"/>
        </p:scale>
        <p:origin x="151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handoutMaster" Target="handoutMasters/handoutMaster1.xml"/><Relationship Id="rId108" Type="http://schemas.microsoft.com/office/2016/11/relationships/changesInfo" Target="changesInfos/changesInfo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microsoft.com/office/2015/10/relationships/revisionInfo" Target="revisionInfo.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27/04/2026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27/04/2026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86E25-C733-F00E-2902-83B5D6D6AAB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F273BE8-B07A-317C-4EAC-657A5DFD4A94}"/>
              </a:ext>
            </a:extLst>
          </p:cNvPr>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id="{FF9DFED9-07CB-1299-72FB-DFEA3B5A5C43}"/>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Cada neurônio calcula:</a:t>
            </a:r>
          </a:p>
          <a:p>
            <a:r>
              <a:rPr lang="pt-BR" sz="1200" b="0" i="0" kern="1200" dirty="0">
                <a:solidFill>
                  <a:schemeClr val="tx1"/>
                </a:solidFill>
                <a:effectLst/>
                <a:latin typeface="+mn-lt"/>
                <a:ea typeface="+mn-ea"/>
                <a:cs typeface="+mn-cs"/>
              </a:rPr>
              <a:t>Saída = σ(∑(Região da Entrada × Filtro) + Bias)</a:t>
            </a:r>
          </a:p>
          <a:p>
            <a:r>
              <a:rPr lang="pt-BR" sz="1200" b="0" i="0" kern="1200" dirty="0">
                <a:solidFill>
                  <a:schemeClr val="tx1"/>
                </a:solidFill>
                <a:effectLst/>
                <a:latin typeface="+mn-lt"/>
                <a:ea typeface="+mn-ea"/>
                <a:cs typeface="+mn-cs"/>
              </a:rPr>
              <a:t>onde </a:t>
            </a:r>
            <a:r>
              <a:rPr lang="pt-BR" sz="1200" b="0" i="1" kern="1200" dirty="0">
                <a:solidFill>
                  <a:schemeClr val="tx1"/>
                </a:solidFill>
                <a:effectLst/>
                <a:latin typeface="+mn-lt"/>
                <a:ea typeface="+mn-ea"/>
                <a:cs typeface="+mn-cs"/>
              </a:rPr>
              <a:t>σ</a:t>
            </a:r>
            <a:r>
              <a:rPr lang="pt-BR" sz="1200" b="0" i="0" kern="1200" dirty="0">
                <a:solidFill>
                  <a:schemeClr val="tx1"/>
                </a:solidFill>
                <a:effectLst/>
                <a:latin typeface="+mn-lt"/>
                <a:ea typeface="+mn-ea"/>
                <a:cs typeface="+mn-cs"/>
              </a:rPr>
              <a:t> é a função de ativação (</a:t>
            </a:r>
            <a:r>
              <a:rPr lang="pt-BR" sz="1200" b="0" i="0" kern="1200" dirty="0" err="1">
                <a:solidFill>
                  <a:schemeClr val="tx1"/>
                </a:solidFill>
                <a:effectLst/>
                <a:latin typeface="+mn-lt"/>
                <a:ea typeface="+mn-ea"/>
                <a:cs typeface="+mn-cs"/>
              </a:rPr>
              <a:t>ex</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77</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27/04/2026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5.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77.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8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3.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4.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5.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98.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9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solidFill>
                  <a:schemeClr val="accent2"/>
                </a:solidFill>
              </a:rPr>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7319" y="1825624"/>
            <a:ext cx="6420896"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dirty="0">
                <a:effectLst/>
              </a:rPr>
              <a:t>,</a:t>
            </a:r>
            <a:r>
              <a:rPr lang="pt-BR" b="1" dirty="0">
                <a:solidFill>
                  <a:srgbClr val="7030A0"/>
                </a:solidFill>
                <a:effectLst/>
              </a:rPr>
              <a:t> mas sem presumir uma estrutura espacial </a:t>
            </a:r>
            <a:r>
              <a:rPr lang="pt-BR" b="0" dirty="0">
                <a:effectLst/>
              </a:rPr>
              <a:t>entre eles.</a:t>
            </a:r>
          </a:p>
          <a:p>
            <a:r>
              <a:rPr lang="pt-BR" dirty="0"/>
              <a:t>Elas </a:t>
            </a:r>
            <a:r>
              <a:rPr lang="pt-BR" b="1" dirty="0">
                <a:solidFill>
                  <a:schemeClr val="accent2"/>
                </a:solidFill>
              </a:rPr>
              <a:t>não consideram a estrutura espacial </a:t>
            </a:r>
            <a:r>
              <a:rPr lang="pt-BR" b="1" dirty="0">
                <a:solidFill>
                  <a:srgbClr val="7030A0"/>
                </a:solidFill>
              </a:rPr>
              <a:t>dos dados</a:t>
            </a:r>
            <a:r>
              <a:rPr lang="pt-BR" dirty="0"/>
              <a:t>.</a:t>
            </a:r>
          </a:p>
          <a:p>
            <a:pPr lvl="1">
              <a:buFont typeface="Wingdings" panose="05000000000000000000" pitchFamily="2" charset="2"/>
              <a:buChar char="§"/>
            </a:pPr>
            <a:r>
              <a:rPr lang="pt-BR" dirty="0"/>
              <a:t>Ou seja, a posição espacial não influencia no resultado.</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203925" y="1690688"/>
            <a:ext cx="5988075"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a:t>
            </a:r>
            <a:r>
              <a:rPr lang="pt-BR" b="1" dirty="0">
                <a:solidFill>
                  <a:schemeClr val="accent2"/>
                </a:solidFill>
              </a:rPr>
              <a:t>padrões globais</a:t>
            </a:r>
            <a:r>
              <a:rPr lang="pt-BR" dirty="0"/>
              <a:t>.</a:t>
            </a:r>
          </a:p>
          <a:p>
            <a:r>
              <a:rPr lang="pt-BR" dirty="0"/>
              <a:t>Elas </a:t>
            </a:r>
            <a:r>
              <a:rPr lang="pt-BR" b="1" dirty="0">
                <a:solidFill>
                  <a:srgbClr val="FF0000"/>
                </a:solidFill>
              </a:rPr>
              <a:t>ignoram</a:t>
            </a:r>
            <a:r>
              <a:rPr lang="pt-BR" b="1" dirty="0">
                <a:solidFill>
                  <a:srgbClr val="00B050"/>
                </a:solidFill>
              </a:rPr>
              <a:t> </a:t>
            </a:r>
            <a:r>
              <a:rPr lang="pt-BR" dirty="0"/>
              <a:t>a</a:t>
            </a:r>
            <a:r>
              <a:rPr lang="pt-BR" b="1" dirty="0">
                <a:solidFill>
                  <a:srgbClr val="00B050"/>
                </a:solidFill>
              </a:rPr>
              <a:t> </a:t>
            </a:r>
            <a:r>
              <a:rPr lang="pt-BR" b="1" dirty="0">
                <a:solidFill>
                  <a:srgbClr val="7030A0"/>
                </a:solidFill>
              </a:rPr>
              <a:t>localidade de referência ou espacial</a:t>
            </a:r>
            <a:r>
              <a:rPr lang="pt-BR" b="1" dirty="0">
                <a:solidFill>
                  <a:srgbClr val="00B050"/>
                </a:solidFill>
              </a:rPr>
              <a:t> </a:t>
            </a:r>
            <a:r>
              <a:rPr lang="pt-BR" dirty="0"/>
              <a:t>em dados com topologia de grade (e.g., imagens).</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a:p>
            <a:r>
              <a:rPr lang="pt-BR" dirty="0"/>
              <a:t>São ineficientes computacionalmente e semanticamente (significado de cada região).</a:t>
            </a:r>
            <a:endParaRPr lang="pt-BR" b="0" dirty="0">
              <a:effectLst/>
            </a:endParaRP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171370" y="5794599"/>
            <a:ext cx="2686049" cy="584775"/>
          </a:xfrm>
          <a:prstGeom prst="rect">
            <a:avLst/>
          </a:prstGeom>
          <a:noFill/>
        </p:spPr>
        <p:txBody>
          <a:bodyPr wrap="square">
            <a:spAutoFit/>
          </a:bodyPr>
          <a:lstStyle/>
          <a:p>
            <a:pPr algn="ctr"/>
            <a:r>
              <a:rPr lang="pt-BR" sz="1600" dirty="0"/>
              <a:t>CNN: neurônios recebem apenas uma parte dos </a:t>
            </a:r>
            <a:r>
              <a:rPr lang="pt-BR" sz="1600" i="1" dirty="0"/>
              <a:t>pixels</a:t>
            </a:r>
            <a:r>
              <a:rPr lang="pt-BR" sz="1600" dirty="0"/>
              <a:t>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925405" y="1825624"/>
            <a:ext cx="6172809"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dirty="0"/>
              <a:t>Em uma imagem, </a:t>
            </a:r>
            <a:r>
              <a:rPr lang="pt-BR" i="1" dirty="0"/>
              <a:t>pixels</a:t>
            </a:r>
            <a:r>
              <a:rPr lang="pt-BR" dirty="0"/>
              <a:t> </a:t>
            </a:r>
            <a:r>
              <a:rPr lang="pt-BR" b="1" dirty="0">
                <a:solidFill>
                  <a:schemeClr val="accent5"/>
                </a:solidFill>
              </a:rPr>
              <a:t>vizinhos</a:t>
            </a:r>
            <a:r>
              <a:rPr lang="pt-BR" dirty="0"/>
              <a:t> tendem a conter informações </a:t>
            </a:r>
            <a:r>
              <a:rPr lang="pt-BR" b="1" dirty="0">
                <a:solidFill>
                  <a:schemeClr val="accent5"/>
                </a:solidFill>
              </a:rPr>
              <a:t>relacionadas</a:t>
            </a:r>
            <a:r>
              <a:rPr lang="pt-BR" dirty="0"/>
              <a:t>.</a:t>
            </a:r>
          </a:p>
          <a:p>
            <a:pPr lvl="1">
              <a:buFont typeface="Wingdings" panose="05000000000000000000" pitchFamily="2" charset="2"/>
              <a:buChar char="§"/>
            </a:pPr>
            <a:r>
              <a:rPr lang="en-US" dirty="0" err="1"/>
              <a:t>Existem</a:t>
            </a:r>
            <a:r>
              <a:rPr lang="en-US" dirty="0"/>
              <a:t> </a:t>
            </a:r>
            <a:r>
              <a:rPr lang="en-US" dirty="0" err="1"/>
              <a:t>correlações</a:t>
            </a:r>
            <a:r>
              <a:rPr lang="en-US" dirty="0"/>
              <a:t> </a:t>
            </a:r>
            <a:r>
              <a:rPr lang="en-US" dirty="0" err="1"/>
              <a:t>locais</a:t>
            </a:r>
            <a:r>
              <a:rPr lang="en-US" dirty="0"/>
              <a:t> entre </a:t>
            </a:r>
            <a:r>
              <a:rPr lang="en-US" i="1" dirty="0"/>
              <a:t>pixels </a:t>
            </a:r>
            <a:r>
              <a:rPr lang="en-US" dirty="0"/>
              <a:t>dos </a:t>
            </a:r>
            <a:r>
              <a:rPr lang="en-US" dirty="0" err="1"/>
              <a:t>olhos</a:t>
            </a:r>
            <a:r>
              <a:rPr lang="en-US" dirty="0"/>
              <a:t>, </a:t>
            </a:r>
            <a:r>
              <a:rPr lang="en-US" dirty="0" err="1"/>
              <a:t>nariz</a:t>
            </a:r>
            <a:r>
              <a:rPr lang="en-US" dirty="0"/>
              <a:t>, boca do gato, </a:t>
            </a:r>
            <a:r>
              <a:rPr lang="en-US" dirty="0" err="1"/>
              <a:t>por</a:t>
            </a:r>
            <a:r>
              <a:rPr lang="en-US" dirty="0"/>
              <a:t> </a:t>
            </a:r>
            <a:r>
              <a:rPr lang="en-US" dirty="0" err="1"/>
              <a:t>exemplo</a:t>
            </a:r>
            <a:r>
              <a:rPr lang="en-US" dirty="0"/>
              <a:t>.</a:t>
            </a:r>
          </a:p>
          <a:p>
            <a:pPr marL="0" indent="0">
              <a:buNone/>
            </a:pPr>
            <a:endParaRPr lang="pt-BR" dirty="0"/>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925406" y="1690688"/>
            <a:ext cx="6147944" cy="5167311"/>
          </a:xfrm>
        </p:spPr>
        <p:txBody>
          <a:bodyPr>
            <a:normAutofit/>
          </a:bodyPr>
          <a:lstStyle/>
          <a:p>
            <a:r>
              <a:rPr lang="pt-BR" b="1" dirty="0">
                <a:solidFill>
                  <a:srgbClr val="00B050"/>
                </a:solidFill>
              </a:rPr>
              <a:t>Estruturas</a:t>
            </a:r>
            <a:r>
              <a:rPr lang="pt-BR" dirty="0"/>
              <a:t> importantes como </a:t>
            </a:r>
            <a:r>
              <a:rPr lang="pt-BR" b="1" dirty="0">
                <a:solidFill>
                  <a:schemeClr val="accent2"/>
                </a:solidFill>
              </a:rPr>
              <a:t>bordas, formas e texturas</a:t>
            </a:r>
            <a:r>
              <a:rPr lang="pt-BR" dirty="0"/>
              <a:t> </a:t>
            </a:r>
            <a:r>
              <a:rPr lang="pt-BR" b="1" dirty="0">
                <a:solidFill>
                  <a:srgbClr val="00B050"/>
                </a:solidFill>
              </a:rPr>
              <a:t>dependem da organização espacial</a:t>
            </a:r>
            <a:r>
              <a:rPr lang="pt-BR" dirty="0"/>
              <a:t>.</a:t>
            </a:r>
          </a:p>
          <a:p>
            <a:r>
              <a:rPr lang="pt-BR" dirty="0"/>
              <a:t>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 (estruturas)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983420" y="1690688"/>
            <a:ext cx="6124844"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a:t>
            </a:r>
            <a:r>
              <a:rPr lang="pt-BR" b="1" dirty="0">
                <a:solidFill>
                  <a:schemeClr val="accent2"/>
                </a:solidFill>
              </a:rPr>
              <a:t>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a:t>
            </a:r>
            <a:r>
              <a:rPr lang="pt-BR" b="1" dirty="0">
                <a:solidFill>
                  <a:schemeClr val="accent2"/>
                </a:solidFill>
              </a:rPr>
              <a:t>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4" name="Group 3">
            <a:extLst>
              <a:ext uri="{FF2B5EF4-FFF2-40B4-BE49-F238E27FC236}">
                <a16:creationId xmlns:a16="http://schemas.microsoft.com/office/drawing/2014/main" id="{D5E5F40D-51E8-3014-9EC4-9F68A8D8BD84}"/>
              </a:ext>
            </a:extLst>
          </p:cNvPr>
          <p:cNvGrpSpPr/>
          <p:nvPr/>
        </p:nvGrpSpPr>
        <p:grpSpPr>
          <a:xfrm>
            <a:off x="3060842" y="2133029"/>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58AFD030-5968-E8A1-3E81-3D7B16105BD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7" name="Retângulo 16">
              <a:extLst>
                <a:ext uri="{FF2B5EF4-FFF2-40B4-BE49-F238E27FC236}">
                  <a16:creationId xmlns:a16="http://schemas.microsoft.com/office/drawing/2014/main" id="{B15BAFE9-F471-253B-09B8-CE36202ED4E7}"/>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id="{7CA29319-D26D-269F-5C30-F578039395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id="{6DD679FD-30B1-5436-B5AE-33CD4A998DCE}"/>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id="{BB47D621-1FAD-80E5-242A-6D983469A976}"/>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id="{C832C39F-0B50-9943-5322-0D0EEA9FFBC9}"/>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id="{79A5C516-E131-BE6A-1390-B87D679AB43D}"/>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id="{F50C12DE-415F-75BC-E2B0-2C57E84417F5}"/>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id="{931E193F-817D-D065-170D-365B02E98D9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id="{041FE2D5-92C6-007F-7DEA-15D396A80542}"/>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26" name="Group 4">
            <a:extLst>
              <a:ext uri="{FF2B5EF4-FFF2-40B4-BE49-F238E27FC236}">
                <a16:creationId xmlns:a16="http://schemas.microsoft.com/office/drawing/2014/main" id="{6472B185-0700-60A5-4F15-EEFDA934E737}"/>
              </a:ext>
            </a:extLst>
          </p:cNvPr>
          <p:cNvGrpSpPr/>
          <p:nvPr/>
        </p:nvGrpSpPr>
        <p:grpSpPr>
          <a:xfrm>
            <a:off x="160539" y="2133029"/>
            <a:ext cx="2686050" cy="3504075"/>
            <a:chOff x="1407560" y="2002399"/>
            <a:chExt cx="2686050" cy="3504075"/>
          </a:xfrm>
        </p:grpSpPr>
        <p:pic>
          <p:nvPicPr>
            <p:cNvPr id="27" name="Picture 8" descr="Cat Sounds:Amazon.com.br:Appstore for Android">
              <a:extLst>
                <a:ext uri="{FF2B5EF4-FFF2-40B4-BE49-F238E27FC236}">
                  <a16:creationId xmlns:a16="http://schemas.microsoft.com/office/drawing/2014/main" id="{4CD00A1D-4ED1-2AAB-BFFF-37E35567C84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28" name="Retângulo 5">
              <a:extLst>
                <a:ext uri="{FF2B5EF4-FFF2-40B4-BE49-F238E27FC236}">
                  <a16:creationId xmlns:a16="http://schemas.microsoft.com/office/drawing/2014/main" id="{CB4C84A5-115C-5F5B-B9F5-EB0EB4E299C9}"/>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6096000" y="1825624"/>
            <a:ext cx="6012263" cy="5032375"/>
          </a:xfrm>
        </p:spPr>
        <p:txBody>
          <a:bodyPr>
            <a:normAutofit/>
          </a:bodyPr>
          <a:lstStyle/>
          <a:p>
            <a:r>
              <a:rPr lang="pt-BR" dirty="0"/>
              <a:t>Redes totalmente conectadas conectam cada </a:t>
            </a:r>
            <a:r>
              <a:rPr lang="pt-BR" i="1" dirty="0"/>
              <a:t>pixel</a:t>
            </a:r>
            <a:r>
              <a:rPr lang="pt-BR" dirty="0"/>
              <a:t> a todos os nós da próxima camada,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838200" y="1825624"/>
            <a:ext cx="11270064" cy="5032375"/>
          </a:xfrm>
        </p:spPr>
        <p:txBody>
          <a:bodyPr>
            <a:normAutofit/>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a:t>
            </a:r>
            <a:r>
              <a:rPr lang="pt-BR" b="1" dirty="0">
                <a:solidFill>
                  <a:schemeClr val="accent2"/>
                </a:solidFill>
              </a:rPr>
              <a:t>desconsiderarem a estrutura espacial</a:t>
            </a:r>
            <a:r>
              <a:rPr lang="pt-BR" dirty="0"/>
              <a:t> dos </a:t>
            </a:r>
            <a:r>
              <a:rPr lang="pt-BR" i="1" dirty="0"/>
              <a:t>pixels</a:t>
            </a:r>
            <a:r>
              <a:rPr lang="pt-BR" dirty="0"/>
              <a:t>, seriam necessárias </a:t>
            </a:r>
            <a:r>
              <a:rPr lang="pt-BR" b="1" dirty="0">
                <a:solidFill>
                  <a:schemeClr val="accent2"/>
                </a:solidFill>
              </a:rPr>
              <a:t>redes e </a:t>
            </a:r>
            <a:r>
              <a:rPr lang="pt-BR" b="1" i="1" dirty="0" err="1">
                <a:solidFill>
                  <a:schemeClr val="accent2"/>
                </a:solidFill>
              </a:rPr>
              <a:t>datasets</a:t>
            </a:r>
            <a:r>
              <a:rPr lang="pt-BR" b="1" dirty="0">
                <a:solidFill>
                  <a:schemeClr val="accent2"/>
                </a:solidFill>
              </a:rPr>
              <a:t> extremamente grandes</a:t>
            </a:r>
            <a:r>
              <a:rPr lang="pt-BR" dirty="0"/>
              <a:t> para funcionarem com </a:t>
            </a:r>
            <a:r>
              <a:rPr lang="pt-BR" b="1" dirty="0">
                <a:solidFill>
                  <a:srgbClr val="00B050"/>
                </a:solidFill>
              </a:rPr>
              <a:t>problemas de detecção e localização de objetos</a:t>
            </a:r>
            <a:r>
              <a:rPr lang="pt-BR" dirty="0"/>
              <a:t>, os quais se </a:t>
            </a:r>
            <a:r>
              <a:rPr lang="pt-BR" b="1" dirty="0">
                <a:solidFill>
                  <a:srgbClr val="0070C0"/>
                </a:solidFill>
              </a:rPr>
              <a:t>baseiam na localização dos </a:t>
            </a:r>
            <a:r>
              <a:rPr lang="pt-BR" b="1" i="1" dirty="0">
                <a:solidFill>
                  <a:srgbClr val="0070C0"/>
                </a:solidFill>
              </a:rPr>
              <a:t>pixels</a:t>
            </a:r>
            <a:r>
              <a:rPr lang="pt-BR" dirty="0"/>
              <a:t>.</a:t>
            </a:r>
            <a:endParaRPr lang="en-US" dirty="0"/>
          </a:p>
        </p:txBody>
      </p:sp>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e cantos formam contornos e texturas, que formam partes do objeto e que por sua vez formam o objeto completo.</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CNN</a:t>
            </a:r>
            <a:r>
              <a:rPr lang="pt-BR" sz="6000" dirty="0" err="1"/>
              <a:t>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 espacial</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311297" y="1825624"/>
            <a:ext cx="6880705" cy="5032376"/>
          </a:xfrm>
        </p:spPr>
        <p:txBody>
          <a:bodyPr>
            <a:normAutofit/>
          </a:bodyPr>
          <a:lstStyle/>
          <a:p>
            <a:r>
              <a:rPr lang="pt-BR" dirty="0"/>
              <a:t>Em vez de </a:t>
            </a:r>
            <a:r>
              <a:rPr lang="pt-BR" b="1" dirty="0">
                <a:solidFill>
                  <a:srgbClr val="00B050"/>
                </a:solidFill>
              </a:rPr>
              <a:t>conectar cada neurônio da CNN a todos os </a:t>
            </a:r>
            <a:r>
              <a:rPr lang="pt-BR" b="1" i="1" dirty="0">
                <a:solidFill>
                  <a:srgbClr val="00B050"/>
                </a:solidFill>
              </a:rPr>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a:t>
            </a:r>
            <a:r>
              <a:rPr lang="pt-BR" dirty="0"/>
              <a:t>.</a:t>
            </a:r>
          </a:p>
          <a:p>
            <a:r>
              <a:rPr lang="pt-BR" dirty="0"/>
              <a:t>O tamanho do campo receptivo é definido por uma matriz (2D ou 3D) chamada de </a:t>
            </a:r>
            <a:r>
              <a:rPr lang="pt-BR" b="1" dirty="0">
                <a:solidFill>
                  <a:srgbClr val="7030A0"/>
                </a:solidFill>
              </a:rPr>
              <a:t>filtro de convolução</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a:p>
            <a:pPr lvl="1">
              <a:buFont typeface="Wingdings" panose="05000000000000000000" pitchFamily="2" charset="2"/>
              <a:buChar char="§"/>
            </a:pPr>
            <a:r>
              <a:rPr lang="pt-BR" dirty="0"/>
              <a:t>cores</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err="1">
                <a:solidFill>
                  <a:srgbClr val="00B050"/>
                </a:solidFill>
              </a:rPr>
              <a:t>CNNs</a:t>
            </a:r>
            <a:r>
              <a:rPr lang="pt-BR" b="1" dirty="0">
                <a:solidFill>
                  <a:srgbClr val="00B050"/>
                </a:solidFill>
              </a:rPr>
              <a:t> compartilham os pesos</a:t>
            </a:r>
            <a:r>
              <a:rPr lang="pt-BR" dirty="0"/>
              <a:t>: 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Ou seja, um filtro que detecta bordas é o mesmo para todas as posições.</a:t>
            </a:r>
          </a:p>
          <a:p>
            <a:r>
              <a:rPr lang="pt-BR" dirty="0"/>
              <a:t>Isso traz duas </a:t>
            </a:r>
            <a:r>
              <a:rPr lang="pt-BR" b="1" dirty="0">
                <a:solidFill>
                  <a:srgbClr val="00B050"/>
                </a:solidFill>
              </a:rPr>
              <a:t>vantagens</a:t>
            </a:r>
            <a:r>
              <a:rPr lang="pt-BR" dirty="0"/>
              <a:t>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084465" y="1825624"/>
            <a:ext cx="7107535" cy="5032375"/>
          </a:xfrm>
        </p:spPr>
        <p:txBody>
          <a:bodyPr>
            <a:normAutofit lnSpcReduction="10000"/>
          </a:bodyPr>
          <a:lstStyle/>
          <a:p>
            <a:r>
              <a:rPr lang="pt-BR" dirty="0"/>
              <a:t>Imagens possuem uma </a:t>
            </a:r>
            <a:r>
              <a:rPr lang="pt-BR" b="1" dirty="0">
                <a:solidFill>
                  <a:schemeClr val="accent2"/>
                </a:solidFill>
              </a:rPr>
              <a:t>estrutura</a:t>
            </a:r>
            <a:r>
              <a:rPr lang="pt-BR" dirty="0">
                <a:solidFill>
                  <a:schemeClr val="accent2"/>
                </a:solidFill>
              </a:rPr>
              <a:t> </a:t>
            </a:r>
            <a:r>
              <a:rPr lang="pt-BR" b="1" dirty="0">
                <a:solidFill>
                  <a:schemeClr val="accent2"/>
                </a:solidFill>
              </a:rPr>
              <a:t>hierárquica</a:t>
            </a:r>
            <a:r>
              <a:rPr lang="pt-BR" dirty="0"/>
              <a:t>.</a:t>
            </a:r>
          </a:p>
          <a:p>
            <a:r>
              <a:rPr lang="pt-BR" dirty="0"/>
              <a:t>Padrões simples formam padrões mais complexos:</a:t>
            </a:r>
          </a:p>
          <a:p>
            <a:pPr lvl="1">
              <a:buFont typeface="Wingdings" panose="05000000000000000000" pitchFamily="2" charset="2"/>
              <a:buChar char="§"/>
            </a:pPr>
            <a:r>
              <a:rPr lang="en-US" b="1" dirty="0"/>
              <a:t>Simples</a:t>
            </a:r>
            <a:r>
              <a:rPr lang="en-US" dirty="0"/>
              <a:t>: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b="1" dirty="0" err="1"/>
              <a:t>Intermediários</a:t>
            </a:r>
            <a:r>
              <a:rPr lang="en-US" dirty="0"/>
              <a:t>: </a:t>
            </a:r>
            <a:r>
              <a:rPr lang="pt-BR" dirty="0"/>
              <a:t>curva da orelha, forma triangular do nariz</a:t>
            </a:r>
          </a:p>
          <a:p>
            <a:pPr lvl="1">
              <a:buFont typeface="Wingdings" panose="05000000000000000000" pitchFamily="2" charset="2"/>
              <a:buChar char="§"/>
            </a:pPr>
            <a:r>
              <a:rPr lang="en-US" b="1" dirty="0"/>
              <a:t>Partes </a:t>
            </a:r>
            <a:r>
              <a:rPr lang="en-US" b="1"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b="1" dirty="0"/>
              <a:t>Partes </a:t>
            </a:r>
            <a:r>
              <a:rPr lang="en-US" b="1"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b="1" dirty="0" err="1"/>
              <a:t>Objeto</a:t>
            </a:r>
            <a:r>
              <a:rPr lang="en-US" b="1" dirty="0"/>
              <a:t> </a:t>
            </a:r>
            <a:r>
              <a:rPr lang="en-US" b="1" dirty="0" err="1"/>
              <a:t>completo</a:t>
            </a:r>
            <a:endParaRPr lang="pt-BR" dirty="0"/>
          </a:p>
          <a:p>
            <a:r>
              <a:rPr lang="pt-BR" dirty="0"/>
              <a:t>As </a:t>
            </a:r>
            <a:r>
              <a:rPr lang="pt-BR" b="1" dirty="0">
                <a:solidFill>
                  <a:srgbClr val="00B050"/>
                </a:solidFill>
              </a:rPr>
              <a:t>camadas</a:t>
            </a:r>
            <a:r>
              <a:rPr lang="pt-BR" dirty="0"/>
              <a:t> de uma CNN </a:t>
            </a:r>
            <a:r>
              <a:rPr lang="pt-BR" b="1" dirty="0">
                <a:solidFill>
                  <a:srgbClr val="00B050"/>
                </a:solidFill>
              </a:rPr>
              <a:t>aprendem a hierarquia</a:t>
            </a:r>
            <a:r>
              <a:rPr lang="pt-BR" dirty="0"/>
              <a:t> de padrões da imagem.</a:t>
            </a:r>
          </a:p>
          <a:p>
            <a:pPr lvl="1">
              <a:buFont typeface="Wingdings" panose="05000000000000000000" pitchFamily="2" charset="2"/>
              <a:buChar char="§"/>
            </a:pPr>
            <a:r>
              <a:rPr lang="pt-BR" dirty="0"/>
              <a:t>bordas → contornos → partes → objeto</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en-US" dirty="0"/>
              <a:t>Uma CNN para </a:t>
            </a:r>
            <a:r>
              <a:rPr lang="en-US" dirty="0" err="1"/>
              <a:t>classificação</a:t>
            </a:r>
            <a:r>
              <a:rPr lang="en-US" dirty="0"/>
              <a:t> de imagens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a:t>Uma entrada (</a:t>
            </a:r>
            <a:r>
              <a:rPr lang="en-US" dirty="0" err="1"/>
              <a:t>imagem</a:t>
            </a:r>
            <a:r>
              <a:rPr lang="en-US" dirty="0"/>
              <a:t>)</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541478" y="1825624"/>
            <a:ext cx="5650521"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filtros</a:t>
            </a:r>
            <a:r>
              <a:rPr lang="pt-BR" dirty="0"/>
              <a:t> sobre a imagem.</a:t>
            </a:r>
          </a:p>
          <a:p>
            <a:pPr lvl="1">
              <a:buFont typeface="Wingdings" panose="05000000000000000000" pitchFamily="2" charset="2"/>
              <a:buChar char="§"/>
            </a:pPr>
            <a:r>
              <a:rPr lang="pt-BR" b="1" dirty="0"/>
              <a:t>Filtros</a:t>
            </a:r>
            <a:r>
              <a:rPr lang="pt-BR" dirty="0"/>
              <a:t>: matrizes 2D ou 3D.</a:t>
            </a:r>
          </a:p>
          <a:p>
            <a:r>
              <a:rPr lang="pt-BR" dirty="0"/>
              <a:t>Esse filtro:</a:t>
            </a:r>
          </a:p>
          <a:p>
            <a:pPr lvl="1">
              <a:buFont typeface="Wingdings" panose="05000000000000000000" pitchFamily="2" charset="2"/>
              <a:buChar char="§"/>
            </a:pPr>
            <a:r>
              <a:rPr lang="pt-BR" sz="2800" dirty="0"/>
              <a:t>é multiplicado com valores locais da imagem (campo receptivo)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5" name="Group 4">
            <a:extLst>
              <a:ext uri="{FF2B5EF4-FFF2-40B4-BE49-F238E27FC236}">
                <a16:creationId xmlns:a16="http://schemas.microsoft.com/office/drawing/2014/main" id="{674323C5-E1CA-52A1-66C4-ABEDCED3482B}"/>
              </a:ext>
            </a:extLst>
          </p:cNvPr>
          <p:cNvGrpSpPr/>
          <p:nvPr/>
        </p:nvGrpSpPr>
        <p:grpSpPr>
          <a:xfrm>
            <a:off x="130556" y="2351313"/>
            <a:ext cx="6320490" cy="3235569"/>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a:t>
            </a:r>
            <a:r>
              <a:rPr lang="pt-BR" b="1" dirty="0">
                <a:solidFill>
                  <a:schemeClr val="accent2"/>
                </a:solidFill>
              </a:rPr>
              <a:t>função de ativação</a:t>
            </a:r>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de padrões detectados.</a:t>
            </a:r>
          </a:p>
        </p:txBody>
      </p:sp>
      <p:grpSp>
        <p:nvGrpSpPr>
          <p:cNvPr id="6" name="Group 5">
            <a:extLst>
              <a:ext uri="{FF2B5EF4-FFF2-40B4-BE49-F238E27FC236}">
                <a16:creationId xmlns:a16="http://schemas.microsoft.com/office/drawing/2014/main"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fazem um </a:t>
            </a:r>
            <a:r>
              <a:rPr lang="pt-BR" b="1" dirty="0">
                <a:solidFill>
                  <a:srgbClr val="00B050"/>
                </a:solidFill>
              </a:rPr>
              <a:t>objeto ser diferente de outro</a:t>
            </a:r>
            <a:r>
              <a:rPr lang="pt-BR" dirty="0"/>
              <a:t> é </a:t>
            </a:r>
            <a:r>
              <a:rPr lang="pt-BR" b="1" dirty="0">
                <a:solidFill>
                  <a:srgbClr val="00B050"/>
                </a:solidFill>
              </a:rPr>
              <a:t>baseada</a:t>
            </a:r>
            <a:r>
              <a:rPr lang="pt-BR" dirty="0"/>
              <a:t> em como os neurônios do </a:t>
            </a:r>
            <a:r>
              <a:rPr lang="pt-BR" b="1" dirty="0">
                <a:solidFill>
                  <a:srgbClr val="7030A0"/>
                </a:solidFill>
              </a:rPr>
              <a:t>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biológicos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têm </a:t>
            </a:r>
            <a:r>
              <a:rPr lang="pt-BR" b="1" dirty="0">
                <a:solidFill>
                  <a:srgbClr val="00B050"/>
                </a:solidFill>
              </a:rPr>
              <a:t>campos receptivos maiores </a:t>
            </a:r>
            <a:r>
              <a:rPr lang="pt-BR" dirty="0"/>
              <a:t>e 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76835" y="1825624"/>
            <a:ext cx="6615165"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 matriz</a:t>
            </a:r>
            <a:r>
              <a:rPr lang="pt-BR" b="0" dirty="0">
                <a:effectLst/>
              </a:rPr>
              <a:t>, necessários para </a:t>
            </a:r>
            <a:r>
              <a:rPr lang="pt-BR" b="1" dirty="0">
                <a:effectLst/>
              </a:rPr>
              <a:t>detectar uma determinada característica</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um </a:t>
                </a:r>
                <a:r>
                  <a:rPr lang="pt-BR" b="1" dirty="0">
                    <a:solidFill>
                      <a:srgbClr val="7030A0"/>
                    </a:solidFill>
                  </a:rPr>
                  <a:t>mapa de características.</a:t>
                </a:r>
                <a:endParaRPr lang="pt-BR" dirty="0"/>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580993" cy="5032375"/>
          </a:xfrm>
        </p:spPr>
        <p:txBody>
          <a:bodyPr>
            <a:normAutofit/>
          </a:bodyPr>
          <a:lstStyle/>
          <a:p>
            <a:r>
              <a:rPr lang="pt-BR" dirty="0"/>
              <a:t>Ao calcular a convolução, começamos com a</a:t>
            </a:r>
            <a:r>
              <a:rPr lang="pt-BR" b="1" dirty="0"/>
              <a:t> janela de convolução </a:t>
            </a:r>
            <a:r>
              <a:rPr lang="pt-BR" dirty="0"/>
              <a:t>no </a:t>
            </a:r>
            <a:r>
              <a:rPr lang="pt-BR" b="1" dirty="0"/>
              <a:t>canto superior esquerdo</a:t>
            </a:r>
            <a:r>
              <a:rPr lang="pt-BR" dirty="0"/>
              <a:t>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veremos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385916" y="1825624"/>
            <a:ext cx="6806084"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a:t>
            </a:r>
            <a:r>
              <a:rPr lang="pt-BR" b="1" dirty="0">
                <a:solidFill>
                  <a:srgbClr val="0070C0"/>
                </a:solidFill>
              </a:rPr>
              <a:t>ou</a:t>
            </a:r>
            <a:r>
              <a:rPr lang="pt-BR" b="1" dirty="0">
                <a:solidFill>
                  <a:srgbClr val="7030A0"/>
                </a:solidFill>
              </a:rPr>
              <a:t> </a:t>
            </a:r>
            <a:r>
              <a:rPr lang="pt-BR" b="1" dirty="0">
                <a:solidFill>
                  <a:srgbClr val="0070C0"/>
                </a:solidFill>
              </a:rPr>
              <a:t>identificar</a:t>
            </a:r>
            <a:r>
              <a:rPr lang="pt-BR" b="1" dirty="0">
                <a:solidFill>
                  <a:srgbClr val="7030A0"/>
                </a:solidFill>
              </a:rPr>
              <a:t>)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de ativação</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desse filtro em cada posição espacial</a:t>
            </a:r>
            <a:r>
              <a:rPr lang="pt-BR" dirty="0"/>
              <a:t> do tensor (imagem).</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mc:Choice xmlns:a14="http://schemas.microsoft.com/office/drawing/2010/main"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Choice>
          <mc:Fallback>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mc:Choice xmlns:a14="http://schemas.microsoft.com/office/drawing/2010/main"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mc:Choice xmlns:a14="http://schemas.microsoft.com/office/drawing/2010/main"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838200" y="1825624"/>
            <a:ext cx="11353800" cy="5032375"/>
          </a:xfrm>
        </p:spPr>
        <p:txBody>
          <a:bodyPr>
            <a:normAutofit/>
          </a:bodyPr>
          <a:lstStyle/>
          <a:p>
            <a:r>
              <a:rPr lang="pt-BR" dirty="0"/>
              <a:t>O </a:t>
            </a:r>
            <a:r>
              <a:rPr lang="pt-BR" b="1" i="1" dirty="0">
                <a:solidFill>
                  <a:srgbClr val="0070C0"/>
                </a:solidFill>
              </a:rPr>
              <a:t>stride</a:t>
            </a:r>
            <a:r>
              <a:rPr lang="pt-BR" dirty="0"/>
              <a:t> controla o deslizamento do </a:t>
            </a:r>
            <a:r>
              <a:rPr lang="pt-BR" i="1" dirty="0"/>
              <a:t>kernel</a:t>
            </a:r>
            <a:r>
              <a:rPr lang="pt-BR" dirty="0"/>
              <a:t> sobre o tensor. </a:t>
            </a:r>
          </a:p>
          <a:p>
            <a:r>
              <a:rPr lang="pt-BR" dirty="0"/>
              <a:t>É o número de </a:t>
            </a:r>
            <a:r>
              <a:rPr lang="pt-BR" i="1" dirty="0"/>
              <a:t>pixels</a:t>
            </a:r>
            <a:r>
              <a:rPr lang="pt-BR" dirty="0"/>
              <a:t> que o </a:t>
            </a:r>
            <a:r>
              <a:rPr lang="pt-BR" i="1" dirty="0"/>
              <a:t>kernel</a:t>
            </a:r>
            <a:r>
              <a:rPr lang="pt-BR" dirty="0"/>
              <a:t> avança a cada aplicação da convolução.</a:t>
            </a:r>
          </a:p>
          <a:p>
            <a:r>
              <a:rPr lang="pt-BR" dirty="0"/>
              <a:t>No exemplo anterior, o </a:t>
            </a:r>
            <a:r>
              <a:rPr lang="pt-BR" b="1" i="1" dirty="0">
                <a:solidFill>
                  <a:srgbClr val="0070C0"/>
                </a:solidFill>
              </a:rPr>
              <a:t>stride</a:t>
            </a:r>
            <a:r>
              <a:rPr lang="pt-BR" dirty="0"/>
              <a:t> era de 1 </a:t>
            </a:r>
            <a:r>
              <a:rPr lang="pt-BR" i="1" dirty="0"/>
              <a:t>pixel</a:t>
            </a:r>
            <a:r>
              <a:rPr lang="pt-BR" dirty="0"/>
              <a:t>.</a:t>
            </a:r>
          </a:p>
          <a:p>
            <a:r>
              <a:rPr lang="pt-BR" dirty="0"/>
              <a:t>Para que serve sua variação?</a:t>
            </a:r>
          </a:p>
          <a:p>
            <a:pPr lvl="1">
              <a:buFont typeface="Wingdings" panose="05000000000000000000" pitchFamily="2" charset="2"/>
              <a:buChar char="§"/>
            </a:pPr>
            <a:r>
              <a:rPr lang="pt-BR" dirty="0"/>
              <a:t>Reduzir o tamanho da </a:t>
            </a:r>
            <a:r>
              <a:rPr lang="pt-BR" i="1" dirty="0"/>
              <a:t>feature </a:t>
            </a:r>
            <a:r>
              <a:rPr lang="pt-BR" i="1" dirty="0" err="1"/>
              <a:t>map</a:t>
            </a:r>
            <a:r>
              <a:rPr lang="pt-BR" dirty="0"/>
              <a:t> (</a:t>
            </a:r>
            <a:r>
              <a:rPr lang="pt-BR" i="1" dirty="0" err="1"/>
              <a:t>downsampling</a:t>
            </a:r>
            <a:r>
              <a:rPr lang="pt-BR" dirty="0"/>
              <a:t>)</a:t>
            </a:r>
          </a:p>
          <a:p>
            <a:pPr lvl="2">
              <a:buFont typeface="Courier New" panose="02070309020205020404" pitchFamily="49" charset="0"/>
              <a:buChar char="o"/>
            </a:pPr>
            <a:r>
              <a:rPr lang="pt-BR" dirty="0"/>
              <a:t>Aumentar o </a:t>
            </a:r>
            <a:r>
              <a:rPr lang="pt-BR" i="1" dirty="0"/>
              <a:t>stride</a:t>
            </a:r>
            <a:r>
              <a:rPr lang="pt-BR" dirty="0"/>
              <a:t> </a:t>
            </a:r>
            <a:r>
              <a:rPr lang="pt-BR" b="1" dirty="0"/>
              <a:t>reduz a resolução da saída.</a:t>
            </a:r>
            <a:endParaRPr lang="pt-BR" dirty="0"/>
          </a:p>
          <a:p>
            <a:pPr lvl="1">
              <a:buFont typeface="Wingdings" panose="05000000000000000000" pitchFamily="2" charset="2"/>
              <a:buChar char="§"/>
            </a:pPr>
            <a:r>
              <a:rPr lang="en-US" dirty="0" err="1"/>
              <a:t>Reduzir</a:t>
            </a:r>
            <a:r>
              <a:rPr lang="en-US" dirty="0"/>
              <a:t> o </a:t>
            </a:r>
            <a:r>
              <a:rPr lang="en-US" dirty="0" err="1"/>
              <a:t>custo</a:t>
            </a:r>
            <a:r>
              <a:rPr lang="en-US" dirty="0"/>
              <a:t> </a:t>
            </a:r>
            <a:r>
              <a:rPr lang="en-US" dirty="0" err="1"/>
              <a:t>computacional</a:t>
            </a:r>
            <a:r>
              <a:rPr lang="en-US" dirty="0"/>
              <a:t>.</a:t>
            </a:r>
          </a:p>
          <a:p>
            <a:pPr lvl="2">
              <a:buFont typeface="Courier New" panose="02070309020205020404" pitchFamily="49" charset="0"/>
              <a:buChar char="o"/>
            </a:pPr>
            <a:r>
              <a:rPr lang="en-US" dirty="0"/>
              <a:t>Aumentar o </a:t>
            </a:r>
            <a:r>
              <a:rPr lang="en-US" i="1" dirty="0"/>
              <a:t>stride</a:t>
            </a:r>
            <a:r>
              <a:rPr lang="en-US" dirty="0"/>
              <a:t> </a:t>
            </a:r>
            <a:r>
              <a:rPr lang="en-US" b="1" dirty="0" err="1"/>
              <a:t>reduz</a:t>
            </a:r>
            <a:r>
              <a:rPr lang="en-US" b="1" dirty="0"/>
              <a:t> a </a:t>
            </a:r>
            <a:r>
              <a:rPr lang="en-US" b="1" dirty="0" err="1"/>
              <a:t>quantidade</a:t>
            </a:r>
            <a:r>
              <a:rPr lang="en-US" b="1" dirty="0"/>
              <a:t> de </a:t>
            </a:r>
            <a:r>
              <a:rPr lang="en-US" b="1" dirty="0" err="1"/>
              <a:t>cálculos</a:t>
            </a:r>
            <a:r>
              <a:rPr lang="en-US" b="1" dirty="0"/>
              <a:t>.</a:t>
            </a:r>
          </a:p>
          <a:p>
            <a:pPr lvl="1">
              <a:buFont typeface="Wingdings" panose="05000000000000000000" pitchFamily="2" charset="2"/>
              <a:buChar char="§"/>
            </a:pPr>
            <a:r>
              <a:rPr lang="pt-BR" dirty="0"/>
              <a:t>Controlar o nível de detalhe.</a:t>
            </a:r>
          </a:p>
          <a:p>
            <a:pPr lvl="2">
              <a:buFont typeface="Courier New" panose="02070309020205020404" pitchFamily="49" charset="0"/>
              <a:buChar char="o"/>
            </a:pPr>
            <a:r>
              <a:rPr lang="pt-BR" i="1" dirty="0"/>
              <a:t>Stride</a:t>
            </a:r>
            <a:r>
              <a:rPr lang="pt-BR" dirty="0"/>
              <a:t> pequeno captura detalhes menores: </a:t>
            </a:r>
            <a:r>
              <a:rPr lang="en-US" dirty="0" err="1"/>
              <a:t>detecta</a:t>
            </a:r>
            <a:r>
              <a:rPr lang="en-US" dirty="0"/>
              <a:t> </a:t>
            </a:r>
            <a:r>
              <a:rPr lang="en-US" dirty="0" err="1"/>
              <a:t>padrões</a:t>
            </a:r>
            <a:r>
              <a:rPr lang="en-US" dirty="0"/>
              <a:t> </a:t>
            </a:r>
            <a:r>
              <a:rPr lang="en-US" dirty="0" err="1"/>
              <a:t>finos</a:t>
            </a:r>
            <a:r>
              <a:rPr lang="pt-BR" dirty="0"/>
              <a:t>.</a:t>
            </a:r>
          </a:p>
          <a:p>
            <a:pPr lvl="3">
              <a:buFont typeface="Wingdings" panose="05000000000000000000" pitchFamily="2" charset="2"/>
              <a:buChar char="ü"/>
            </a:pPr>
            <a:r>
              <a:rPr lang="en-US" dirty="0" err="1"/>
              <a:t>Porém</a:t>
            </a:r>
            <a:r>
              <a:rPr lang="en-US" dirty="0"/>
              <a:t>, é </a:t>
            </a:r>
            <a:r>
              <a:rPr lang="en-US" dirty="0" err="1"/>
              <a:t>mais</a:t>
            </a:r>
            <a:r>
              <a:rPr lang="en-US" dirty="0"/>
              <a:t> </a:t>
            </a:r>
            <a:r>
              <a:rPr lang="en-US" dirty="0" err="1"/>
              <a:t>caro</a:t>
            </a:r>
            <a:r>
              <a:rPr lang="en-US" dirty="0"/>
              <a:t> </a:t>
            </a:r>
            <a:r>
              <a:rPr lang="en-US" dirty="0" err="1"/>
              <a:t>computacionalmente</a:t>
            </a:r>
            <a:r>
              <a:rPr lang="en-US" dirty="0"/>
              <a:t>.</a:t>
            </a:r>
            <a:endParaRPr lang="pt-BR" dirty="0"/>
          </a:p>
          <a:p>
            <a:pPr lvl="2">
              <a:buFont typeface="Courier New" panose="02070309020205020404" pitchFamily="49" charset="0"/>
              <a:buChar char="o"/>
            </a:pPr>
            <a:r>
              <a:rPr lang="pt-BR" i="1" dirty="0"/>
              <a:t>Stride</a:t>
            </a:r>
            <a:r>
              <a:rPr lang="pt-BR" dirty="0"/>
              <a:t> grande captura detalhes maiores: detecta </a:t>
            </a:r>
            <a:r>
              <a:rPr lang="en-US" dirty="0" err="1"/>
              <a:t>padrões</a:t>
            </a:r>
            <a:r>
              <a:rPr lang="en-US" dirty="0"/>
              <a:t> </a:t>
            </a:r>
            <a:r>
              <a:rPr lang="en-US" dirty="0" err="1"/>
              <a:t>mais</a:t>
            </a:r>
            <a:r>
              <a:rPr lang="en-US" dirty="0"/>
              <a:t> </a:t>
            </a:r>
            <a:r>
              <a:rPr lang="en-US" dirty="0" err="1"/>
              <a:t>globais</a:t>
            </a:r>
            <a:r>
              <a:rPr lang="pt-BR" dirty="0"/>
              <a:t>.</a:t>
            </a:r>
          </a:p>
        </p:txBody>
      </p:sp>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BE4B1-97D7-A915-F657-F34845A7038C}"/>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08C86F11-4D94-E07B-050B-BAFEC1DDF558}"/>
              </a:ext>
            </a:extLst>
          </p:cNvPr>
          <p:cNvSpPr>
            <a:spLocks noGrp="1"/>
          </p:cNvSpPr>
          <p:nvPr>
            <p:ph idx="1"/>
          </p:nvPr>
        </p:nvSpPr>
        <p:spPr>
          <a:xfrm>
            <a:off x="5647174" y="1825624"/>
            <a:ext cx="6544826" cy="5032375"/>
          </a:xfrm>
        </p:spPr>
        <p:txBody>
          <a:bodyPr>
            <a:normAutofit/>
          </a:bodyPr>
          <a:lstStyle/>
          <a:p>
            <a:r>
              <a:rPr lang="pt-BR" dirty="0"/>
              <a:t>Portanto, o </a:t>
            </a:r>
            <a:r>
              <a:rPr lang="pt-BR" i="1" dirty="0"/>
              <a:t>stride</a:t>
            </a:r>
            <a:r>
              <a:rPr lang="pt-BR" dirty="0"/>
              <a:t> controla o equilíbrio entre </a:t>
            </a:r>
            <a:r>
              <a:rPr lang="pt-BR" b="1" dirty="0"/>
              <a:t>precisão vs. eficiência.</a:t>
            </a:r>
            <a:endParaRPr lang="pt-BR" dirty="0"/>
          </a:p>
          <a:p>
            <a:r>
              <a:rPr lang="pt-BR" dirty="0"/>
              <a:t>No exemplo ao lado, o </a:t>
            </a:r>
            <a:r>
              <a:rPr lang="pt-BR" i="1" dirty="0"/>
              <a:t>stride</a:t>
            </a:r>
            <a:r>
              <a:rPr lang="pt-BR" dirty="0"/>
              <a:t> é de 2 para deslizamentos ao longo das colunas e linhas.</a:t>
            </a:r>
          </a:p>
          <a:p>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2E7D9F4F-1DB2-E99B-33C5-E46912A66C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353801" cy="2057563"/>
          </a:xfrm>
        </p:spPr>
        <p:txBody>
          <a:bodyPr/>
          <a:lstStyle/>
          <a:p>
            <a:r>
              <a:rPr lang="pt-BR" dirty="0"/>
              <a:t>Na figura, a imagem de entrada apresenta alguns padrões lineares (bordas).</a:t>
            </a:r>
          </a:p>
          <a:p>
            <a:r>
              <a:rPr lang="pt-BR" dirty="0"/>
              <a:t>Temos uma camada convolucional com três filtros.</a:t>
            </a:r>
          </a:p>
          <a:p>
            <a:r>
              <a:rPr lang="pt-BR" b="0" i="0" dirty="0">
                <a:effectLst/>
              </a:rPr>
              <a:t>Cada filtro aprende a detectar diferentes padrões: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509866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6507460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29384888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440680" y="1825624"/>
            <a:ext cx="6751320" cy="5032375"/>
          </a:xfrm>
        </p:spPr>
        <p:txBody>
          <a:bodyPr>
            <a:normAutofit/>
          </a:bodyPr>
          <a:lstStyle/>
          <a:p>
            <a:r>
              <a:rPr lang="pt-BR" noProof="0" dirty="0"/>
              <a:t>A função de ativação introduz não linearidade.</a:t>
            </a:r>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noProof="0" dirty="0"/>
              <a:t>Isso significa que cada valor do mapa é transformado individualmente pela função de ativação.</a:t>
            </a:r>
          </a:p>
          <a:p>
            <a:r>
              <a:rPr lang="pt-BR" noProof="0" dirty="0"/>
              <a:t>Em geral, para evitar o desaparecimento do gradiente,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965314865"/>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447654273"/>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754624"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uma característica diferente</a:t>
                </a:r>
                <a:r>
                  <a:rPr lang="pt-BR" dirty="0"/>
                  <a:t>.</a:t>
                </a:r>
              </a:p>
              <a:p>
                <a:r>
                  <a:rPr lang="pt-BR" dirty="0"/>
                  <a:t>O resultado da convolução com cada </a:t>
                </a:r>
                <a:r>
                  <a:rPr lang="pt-BR" i="1" dirty="0"/>
                  <a:t>kernel</a:t>
                </a:r>
                <a:r>
                  <a:rPr lang="pt-BR" dirty="0"/>
                  <a:t> tem um valor de </a:t>
                </a:r>
                <a:r>
                  <a:rPr lang="pt-BR" i="1" dirty="0"/>
                  <a:t>bias</a:t>
                </a:r>
                <a:r>
                  <a:rPr lang="pt-BR" dirty="0"/>
                  <a:t> somado a ele e o resultado é passado pela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754624" cy="5032375"/>
              </a:xfrm>
              <a:blipFill>
                <a:blip r:embed="rId3"/>
                <a:stretch>
                  <a:fillRect l="-1907" t="-1937" r="-2648"/>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reduz o tamanho espacial do mapa de características.</a:t>
            </a:r>
          </a:p>
          <a:p>
            <a:r>
              <a:rPr lang="pt-BR" dirty="0"/>
              <a:t>O </a:t>
            </a:r>
            <a:r>
              <a:rPr lang="pt-BR" b="1" dirty="0">
                <a:solidFill>
                  <a:srgbClr val="7030A0"/>
                </a:solidFill>
              </a:rPr>
              <a:t>objetivo</a:t>
            </a:r>
            <a:r>
              <a:rPr lang="pt-BR" dirty="0"/>
              <a:t> da subamostragem é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r>
              <a:rPr lang="pt-BR" dirty="0"/>
              <a:t> </a:t>
            </a:r>
          </a:p>
          <a:p>
            <a:pPr lvl="1">
              <a:buFont typeface="Wingdings" panose="05000000000000000000" pitchFamily="2" charset="2"/>
              <a:buChar char="§"/>
            </a:pPr>
            <a:r>
              <a:rPr lang="pt-BR" dirty="0"/>
              <a:t>e o </a:t>
            </a:r>
            <a:r>
              <a:rPr lang="pt-BR" b="1" dirty="0">
                <a:solidFill>
                  <a:srgbClr val="7030A0"/>
                </a:solidFill>
              </a:rPr>
              <a:t>número de parâmetros.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385916" y="1825624"/>
            <a:ext cx="6806084" cy="5032375"/>
          </a:xfrm>
        </p:spPr>
        <p:txBody>
          <a:bodyPr>
            <a:normAutofit lnSpcReduction="10000"/>
          </a:bodyPr>
          <a:lstStyle/>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pequenas mudanças na posição</a:t>
            </a:r>
            <a:r>
              <a:rPr lang="pt-BR" b="1" dirty="0">
                <a:solidFill>
                  <a:srgbClr val="00B050"/>
                </a:solidFill>
                <a:effectLst/>
              </a:rPr>
              <a:t> das características</a:t>
            </a:r>
            <a:r>
              <a:rPr lang="pt-BR" dirty="0">
                <a:solidFill>
                  <a:srgbClr val="00B050"/>
                </a:solidFill>
              </a:rPr>
              <a:t>.</a:t>
            </a:r>
            <a:endParaRPr lang="pt-BR" b="0" dirty="0">
              <a:effectLst/>
            </a:endParaRPr>
          </a:p>
          <a:p>
            <a:r>
              <a:rPr lang="pt-BR" dirty="0"/>
              <a:t>Ela cria invariância local.</a:t>
            </a:r>
          </a:p>
          <a:p>
            <a:pPr lvl="1">
              <a:buFont typeface="Wingdings" panose="05000000000000000000" pitchFamily="2" charset="2"/>
              <a:buChar char="§"/>
            </a:pPr>
            <a:r>
              <a:rPr lang="pt-BR" dirty="0"/>
              <a:t>Pequenos deslocamentos das características não afetam muito o resultado.</a:t>
            </a:r>
          </a:p>
          <a:p>
            <a:pPr lvl="1">
              <a:buFont typeface="Wingdings" panose="05000000000000000000" pitchFamily="2" charset="2"/>
              <a:buChar char="§"/>
            </a:pPr>
            <a:r>
              <a:rPr lang="pt-BR" dirty="0"/>
              <a:t>Foca na presença do padrão, não na localização.</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p:txBody>
      </p:sp>
      <p:pic>
        <p:nvPicPr>
          <p:cNvPr id="6" name="Imagem 5">
            <a:extLst>
              <a:ext uri="{FF2B5EF4-FFF2-40B4-BE49-F238E27FC236}">
                <a16:creationId xmlns:a16="http://schemas.microsoft.com/office/drawing/2014/main" id="{3DB01BC1-4467-03CF-D13E-083A408077B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767754" y="1825624"/>
                <a:ext cx="6424246"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em cada campo receptivo</a:t>
                </a:r>
                <a:r>
                  <a:rPr lang="pt-BR" dirty="0"/>
                  <a:t> do </a:t>
                </a:r>
                <a:r>
                  <a:rPr lang="pt-BR" i="1" dirty="0"/>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ao mesmo tempo que </a:t>
                </a:r>
                <a:r>
                  <a:rPr lang="pt-BR" b="1" dirty="0">
                    <a:solidFill>
                      <a:srgbClr val="7030A0"/>
                    </a:solidFill>
                  </a:rPr>
                  <a:t>descarta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767754" y="1825624"/>
                <a:ext cx="6424246" cy="5032375"/>
              </a:xfrm>
              <a:blipFill>
                <a:blip r:embed="rId3"/>
                <a:stretch>
                  <a:fillRect l="-1708" t="-1937" r="-1233" b="-1816"/>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dirty="0" err="1"/>
              <a:t>diminui</a:t>
            </a:r>
            <a:r>
              <a:rPr lang="en-US" dirty="0"/>
              <a:t> a </a:t>
            </a:r>
            <a:r>
              <a:rPr lang="en-US" dirty="0" err="1"/>
              <a:t>resolução</a:t>
            </a:r>
            <a:r>
              <a:rPr lang="en-US" dirty="0"/>
              <a:t>, </a:t>
            </a:r>
            <a:r>
              <a:rPr lang="en-US" dirty="0" err="1"/>
              <a:t>deixa</a:t>
            </a:r>
            <a:r>
              <a:rPr lang="en-US" dirty="0"/>
              <a:t> as </a:t>
            </a:r>
            <a:r>
              <a:rPr lang="en-US" dirty="0" err="1"/>
              <a:t>bordas</a:t>
            </a:r>
            <a:r>
              <a:rPr lang="en-US" dirty="0"/>
              <a:t> do </a:t>
            </a:r>
            <a:r>
              <a:rPr lang="en-US" dirty="0" err="1"/>
              <a:t>cérebro</a:t>
            </a:r>
            <a:r>
              <a:rPr lang="en-US" dirty="0"/>
              <a:t> </a:t>
            </a:r>
            <a:r>
              <a:rPr lang="en-US" dirty="0" err="1"/>
              <a:t>bem</a:t>
            </a:r>
            <a:r>
              <a:rPr lang="en-US" dirty="0"/>
              <a:t> </a:t>
            </a:r>
            <a:r>
              <a:rPr lang="en-US" dirty="0" err="1"/>
              <a:t>destacadas</a:t>
            </a:r>
            <a:r>
              <a:rPr lang="en-US" dirty="0"/>
              <a:t> e </a:t>
            </a:r>
            <a:r>
              <a:rPr lang="en-US" dirty="0" err="1"/>
              <a:t>descarta</a:t>
            </a:r>
            <a:r>
              <a:rPr lang="en-US" dirty="0"/>
              <a:t> </a:t>
            </a:r>
            <a:r>
              <a:rPr lang="en-US" dirty="0" err="1"/>
              <a:t>detalhes</a:t>
            </a:r>
            <a:r>
              <a:rPr lang="en-US" dirty="0"/>
              <a:t> </a:t>
            </a:r>
            <a:r>
              <a:rPr lang="en-US" dirty="0" err="1"/>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2D0234DE-08A3-7411-B22B-AD80F8134335}"/>
              </a:ext>
            </a:extLst>
          </p:cNvPr>
          <p:cNvSpPr txBox="1"/>
          <p:nvPr/>
        </p:nvSpPr>
        <p:spPr>
          <a:xfrm>
            <a:off x="10342684" y="5657671"/>
            <a:ext cx="1738784" cy="1200329"/>
          </a:xfrm>
          <a:prstGeom prst="rect">
            <a:avLst/>
          </a:prstGeom>
          <a:noFill/>
        </p:spPr>
        <p:txBody>
          <a:bodyPr wrap="square">
            <a:spAutoFit/>
          </a:bodyPr>
          <a:lstStyle/>
          <a:p>
            <a:pPr algn="ctr"/>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23683858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convoluções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interessante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participam de menos convoluções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contribuam mais igualitária 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95966" y="1825624"/>
            <a:ext cx="6722346"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bordas da imagem</a:t>
            </a:r>
            <a:r>
              <a:rPr lang="pt-BR" b="0" dirty="0">
                <a:effectLst/>
              </a:rPr>
              <a:t>,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a:t>
            </a:r>
            <a:r>
              <a:rPr lang="pt-BR" b="1" dirty="0">
                <a:solidFill>
                  <a:srgbClr val="7030A0"/>
                </a:solidFill>
                <a:effectLst/>
              </a:rPr>
              <a:t>são feitos iguais a zero</a:t>
            </a:r>
            <a:r>
              <a:rPr lang="pt-BR" b="0" dirty="0">
                <a:effectLst/>
              </a:rPr>
              <a:t>.</a:t>
            </a:r>
          </a:p>
          <a:p>
            <a:r>
              <a:rPr lang="pt-BR" b="0" dirty="0">
                <a:effectLst/>
              </a:rPr>
              <a:t>É comum aplicar </a:t>
            </a:r>
            <a:r>
              <a:rPr lang="pt-BR" b="0" i="1" dirty="0">
                <a:effectLst/>
              </a:rPr>
              <a:t>padding</a:t>
            </a:r>
            <a:r>
              <a:rPr lang="pt-BR" b="0" dirty="0">
                <a:effectLst/>
              </a:rPr>
              <a:t> nas </a:t>
            </a:r>
            <a:r>
              <a:rPr lang="pt-BR" b="1" dirty="0">
                <a:solidFill>
                  <a:srgbClr val="00B050"/>
                </a:solidFill>
                <a:effectLst/>
              </a:rPr>
              <a:t>camadas iniciais para </a:t>
            </a:r>
            <a:r>
              <a:rPr lang="pt-BR" b="1" dirty="0">
                <a:solidFill>
                  <a:srgbClr val="7030A0"/>
                </a:solidFill>
                <a:effectLst/>
              </a:rPr>
              <a:t>preservar informações da borda</a:t>
            </a:r>
            <a:r>
              <a:rPr lang="pt-BR" b="0" dirty="0">
                <a:effectLst/>
              </a:rPr>
              <a:t>, enquanto </a:t>
            </a:r>
            <a:r>
              <a:rPr lang="pt-BR" b="1" dirty="0">
                <a:solidFill>
                  <a:srgbClr val="00B050"/>
                </a:solidFill>
                <a:effectLst/>
              </a:rPr>
              <a:t>camadas finais não o aplicam</a:t>
            </a:r>
            <a:r>
              <a:rPr lang="pt-BR" b="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etapa de extração de características temos vários mapas de características, formando um volume 3D de dados.</a:t>
            </a:r>
          </a:p>
          <a:p>
            <a:r>
              <a:rPr lang="pt-BR" dirty="0"/>
              <a:t>Porém, as </a:t>
            </a:r>
            <a:r>
              <a:rPr lang="pt-BR" b="1" dirty="0"/>
              <a:t>camadas densas </a:t>
            </a:r>
            <a:r>
              <a:rPr lang="pt-BR" dirty="0"/>
              <a:t>trabalham com </a:t>
            </a:r>
            <a:r>
              <a:rPr lang="pt-BR" b="1" dirty="0"/>
              <a:t>vetores 1D</a:t>
            </a:r>
            <a:r>
              <a:rPr lang="pt-BR" dirty="0"/>
              <a:t>.</a:t>
            </a:r>
          </a:p>
          <a:p>
            <a:r>
              <a:rPr lang="pt-BR" dirty="0"/>
              <a:t>Assim, precisamos transformar os mapas de características em vetores 1D.</a:t>
            </a:r>
          </a:p>
          <a:p>
            <a:r>
              <a:rPr lang="pt-BR" dirty="0"/>
              <a:t>Ela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CNN apresentam uma DNN, com uma ou mais camadas densas.</a:t>
            </a:r>
          </a:p>
          <a:p>
            <a:r>
              <a:rPr lang="pt-BR" dirty="0"/>
              <a:t>Elas recebem o vetor 1D de características extraídas pelas camadas convolucionais e as transformam em uma predição final (seja para tarefas de classificação ou de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817996" y="1825624"/>
            <a:ext cx="6280219" cy="5032375"/>
          </a:xfrm>
        </p:spPr>
        <p:txBody>
          <a:bodyPr>
            <a:normAutofit/>
          </a:bodyPr>
          <a:lstStyle/>
          <a:p>
            <a:r>
              <a:rPr lang="pt-BR"/>
              <a:t>Em </a:t>
            </a:r>
            <a:r>
              <a:rPr lang="pt-BR" dirty="0"/>
              <a:t>classificação, elas usam as características para decidir </a:t>
            </a:r>
            <a:r>
              <a:rPr lang="pt-BR"/>
              <a:t>a classe.</a:t>
            </a:r>
            <a:endParaRPr lang="pt-BR" dirty="0"/>
          </a:p>
          <a:p>
            <a:r>
              <a:rPr lang="pt-BR" dirty="0"/>
              <a:t>Por exemplo, se as características de um gato aparecem juntas → é um gato.</a:t>
            </a:r>
          </a:p>
          <a:p>
            <a:r>
              <a:rPr lang="pt-BR" dirty="0"/>
              <a:t>Ou seja, ela aprende </a:t>
            </a:r>
            <a:r>
              <a:rPr lang="pt-BR" b="1" dirty="0"/>
              <a:t>relações entre características</a:t>
            </a:r>
            <a:r>
              <a:rPr lang="pt-BR" dirty="0"/>
              <a:t>.</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 camada densa de saída mais usadas são:</a:t>
            </a:r>
          </a:p>
          <a:p>
            <a:pPr lvl="1"/>
            <a:r>
              <a:rPr lang="pt-BR" i="1" dirty="0"/>
              <a:t>Softmax</a:t>
            </a:r>
            <a:r>
              <a:rPr lang="pt-BR" dirty="0"/>
              <a:t>, para classificação multiclasses.</a:t>
            </a:r>
          </a:p>
          <a:p>
            <a:pPr lvl="1"/>
            <a:r>
              <a:rPr lang="pt-BR" dirty="0"/>
              <a:t>Logística, para classificação binária e </a:t>
            </a:r>
            <a:r>
              <a:rPr lang="pt-BR" dirty="0" err="1"/>
              <a:t>multi-rótulo</a:t>
            </a:r>
            <a:r>
              <a:rPr lang="pt-BR" dirty="0"/>
              <a:t>.</a:t>
            </a:r>
          </a:p>
          <a:p>
            <a:pPr lvl="1"/>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usando-se o algoritmo da retropropagação do erro.</a:t>
            </a:r>
          </a:p>
          <a:p>
            <a:r>
              <a:rPr lang="pt-BR" dirty="0"/>
              <a:t>O objetivo é aprender os pesos dos filtros e das camadas densas.</a:t>
            </a:r>
          </a:p>
          <a:p>
            <a:r>
              <a:rPr lang="pt-BR" dirty="0"/>
              <a:t>Os gradientes são calculados para os:</a:t>
            </a:r>
          </a:p>
          <a:p>
            <a:pPr lvl="1">
              <a:buFont typeface="Wingdings" panose="05000000000000000000" pitchFamily="2" charset="2"/>
              <a:buChar char="§"/>
            </a:pPr>
            <a:r>
              <a:rPr lang="pt-BR" dirty="0"/>
              <a:t>pesos dos filtros</a:t>
            </a:r>
          </a:p>
          <a:p>
            <a:pPr lvl="1">
              <a:buFont typeface="Wingdings" panose="05000000000000000000" pitchFamily="2" charset="2"/>
              <a:buChar char="§"/>
            </a:pPr>
            <a:r>
              <a:rPr lang="pt-BR" dirty="0"/>
              <a:t>pesos das camadas densas</a:t>
            </a:r>
          </a:p>
          <a:p>
            <a:r>
              <a:rPr lang="pt-BR" dirty="0"/>
              <a:t>As funções de erro mais usadas são o EQM, para tarefas de regressão, e a entropia-cruzada, para tarefas de classificação.</a:t>
            </a:r>
          </a:p>
          <a:p>
            <a:endParaRPr lang="en-US" dirty="0"/>
          </a:p>
        </p:txBody>
      </p:sp>
    </p:spTree>
    <p:extLst>
      <p:ext uri="{BB962C8B-B14F-4D97-AF65-F5344CB8AC3E}">
        <p14:creationId xmlns:p14="http://schemas.microsoft.com/office/powerpoint/2010/main" val="4233521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838200" y="2145785"/>
            <a:ext cx="10515600" cy="2566430"/>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9" y="1825624"/>
            <a:ext cx="11139436" cy="5032375"/>
          </a:xfrm>
        </p:spPr>
        <p:txBody>
          <a:bodyPr/>
          <a:lstStyle/>
          <a:p>
            <a:r>
              <a:rPr lang="pt-BR" dirty="0"/>
              <a:t>Além de aumentar o </a:t>
            </a:r>
            <a:r>
              <a:rPr lang="pt-BR" i="1" dirty="0"/>
              <a:t>dataset</a:t>
            </a:r>
            <a:r>
              <a:rPr lang="pt-BR" dirty="0"/>
              <a:t>, reduzir a complexidade do modelo e aplicar técnicas de regularização como </a:t>
            </a:r>
            <a:r>
              <a:rPr lang="pt-BR" i="1" dirty="0"/>
              <a:t>early-stopping</a:t>
            </a:r>
            <a:r>
              <a:rPr lang="pt-BR" dirty="0"/>
              <a:t>, podemos usar três outras técnicas para evitar o </a:t>
            </a:r>
            <a:r>
              <a:rPr lang="pt-BR" i="1" dirty="0" err="1"/>
              <a:t>overfitting</a:t>
            </a:r>
            <a:r>
              <a:rPr lang="pt-BR" i="1" dirty="0"/>
              <a:t>:</a:t>
            </a:r>
          </a:p>
          <a:p>
            <a:pPr lvl="1">
              <a:buFont typeface="Wingdings" panose="05000000000000000000" pitchFamily="2" charset="2"/>
              <a:buChar char="§"/>
            </a:pPr>
            <a:r>
              <a:rPr lang="pt-BR" i="1" dirty="0"/>
              <a:t>Dropout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i="1" dirty="0" err="1"/>
              <a:t>Transfer</a:t>
            </a:r>
            <a:r>
              <a:rPr lang="pt-BR" i="1" dirty="0"/>
              <a:t> learning</a:t>
            </a:r>
            <a:endParaRPr lang="pt-BR" dirty="0"/>
          </a:p>
          <a:p>
            <a:r>
              <a:rPr lang="pt-BR" dirty="0"/>
              <a:t>Essas técnicas se aplicam a qualquer tipo de rede neural.</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rgbClr val="00B050"/>
                </a:solidFill>
              </a:rPr>
              <a:t>“</a:t>
            </a:r>
            <a:r>
              <a:rPr lang="pt-BR" b="1" dirty="0">
                <a:solidFill>
                  <a:srgbClr val="00B050"/>
                </a:solidFill>
                <a:effectLst/>
              </a:rPr>
              <a:t>desligar</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de uma camada</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neurônios não contribuirão para o cálculo das saídas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aprender de forma mais </a:t>
            </a:r>
            <a:r>
              <a:rPr lang="pt-BR" b="1" dirty="0"/>
              <a:t>robusta</a:t>
            </a:r>
            <a:endParaRPr lang="pt-BR" dirty="0"/>
          </a:p>
          <a:p>
            <a:pPr lvl="1">
              <a:buFont typeface="Wingdings" panose="05000000000000000000" pitchFamily="2" charset="2"/>
              <a:buChar char="§"/>
            </a:pPr>
            <a:r>
              <a:rPr lang="pt-BR" dirty="0"/>
              <a:t>A rede não pode depender de combinações fixas</a:t>
            </a:r>
          </a:p>
          <a:p>
            <a:r>
              <a:rPr lang="pt-BR" dirty="0"/>
              <a:t>Um neurônio precisa funcionar bem mesmo se outros neurônios desaparecerem.</a:t>
            </a:r>
          </a:p>
          <a:p>
            <a:r>
              <a:rPr lang="pt-BR" dirty="0"/>
              <a:t>Isso força a rede a aprender </a:t>
            </a:r>
            <a:r>
              <a:rPr lang="pt-BR" b="1" dirty="0"/>
              <a:t>representações mais generalizáveis.</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generalizando melhor.</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aumentar artificialmente os dados.</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variedade</a:t>
            </a:r>
            <a:r>
              <a:rPr lang="pt-BR" b="0" dirty="0">
                <a:effectLst/>
              </a:rPr>
              <a:t> e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096000" y="1825624"/>
            <a:ext cx="5986410"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r>
              <a:rPr lang="pt-BR" b="1" dirty="0">
                <a:solidFill>
                  <a:srgbClr val="00B050"/>
                </a:solidFill>
                <a:effectLst/>
              </a:rPr>
              <a:t>rotação</a:t>
            </a:r>
            <a:r>
              <a:rPr lang="pt-BR" b="0" dirty="0">
                <a:effectLst/>
              </a:rPr>
              <a:t>, </a:t>
            </a:r>
            <a:r>
              <a:rPr lang="pt-BR" b="1" dirty="0">
                <a:solidFill>
                  <a:srgbClr val="00B050"/>
                </a:solidFill>
                <a:effectLst/>
              </a:rPr>
              <a:t>espelhamento</a:t>
            </a:r>
            <a:r>
              <a:rPr lang="pt-BR" b="0" dirty="0">
                <a:effectLst/>
              </a:rPr>
              <a:t> e </a:t>
            </a:r>
            <a:r>
              <a:rPr lang="pt-BR" b="1" dirty="0">
                <a:solidFill>
                  <a:srgbClr val="00B050"/>
                </a:solidFill>
                <a:effectLst/>
              </a:rPr>
              <a:t>corte</a:t>
            </a:r>
            <a:r>
              <a:rPr lang="pt-BR" b="0" dirty="0">
                <a:effectLst/>
              </a:rPr>
              <a:t>, modificação do </a:t>
            </a:r>
            <a:r>
              <a:rPr lang="pt-BR" b="1" dirty="0">
                <a:solidFill>
                  <a:srgbClr val="00B050"/>
                </a:solidFill>
                <a:effectLst/>
              </a:rPr>
              <a:t>brilho</a:t>
            </a:r>
            <a:r>
              <a:rPr lang="pt-BR" b="0" dirty="0">
                <a:effectLst/>
              </a:rPr>
              <a:t>, adição de </a:t>
            </a:r>
            <a:r>
              <a:rPr lang="pt-BR" b="1" dirty="0">
                <a:solidFill>
                  <a:srgbClr val="00B050"/>
                </a:solidFill>
                <a:effectLst/>
              </a:rPr>
              <a:t>ruído</a:t>
            </a:r>
            <a:r>
              <a:rPr lang="pt-BR" b="0" dirty="0">
                <a:effectLst/>
              </a:rPr>
              <a:t>, </a:t>
            </a:r>
            <a:r>
              <a:rPr lang="pt-BR" b="1" dirty="0">
                <a:solidFill>
                  <a:srgbClr val="00B050"/>
                </a:solidFill>
                <a:effectLst/>
              </a:rPr>
              <a:t>desfoque</a:t>
            </a:r>
            <a:r>
              <a:rPr lang="pt-BR" b="0" dirty="0">
                <a:effectLst/>
              </a:rPr>
              <a:t>, etc.</a:t>
            </a:r>
          </a:p>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a:t>
            </a:r>
            <a:r>
              <a:rPr lang="pt-BR" b="1" dirty="0" err="1">
                <a:solidFill>
                  <a:srgbClr val="00B050"/>
                </a:solidFill>
              </a:rPr>
              <a:t>CNNs</a:t>
            </a:r>
            <a:r>
              <a:rPr lang="pt-BR" b="1" dirty="0">
                <a:solidFill>
                  <a:srgbClr val="00B050"/>
                </a:solidFill>
              </a:rPr>
              <a:t> </a:t>
            </a:r>
            <a:r>
              <a:rPr lang="pt-BR" b="1" dirty="0">
                <a:solidFill>
                  <a:srgbClr val="7030A0"/>
                </a:solidFill>
              </a:rPr>
              <a:t>robustas à rotação das imagens</a:t>
            </a:r>
            <a:r>
              <a:rPr lang="pt-BR" dirty="0"/>
              <a:t>, pois a rede é treinada com a </a:t>
            </a:r>
            <a:r>
              <a:rPr lang="pt-BR" b="1" dirty="0"/>
              <a:t>mesma imagem com diferentes rotações</a:t>
            </a:r>
            <a:r>
              <a:rPr lang="pt-BR" dirty="0"/>
              <a:t>.</a:t>
            </a:r>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da orientação</a:t>
            </a:r>
            <a:r>
              <a:rPr lang="pt-BR" b="0" dirty="0">
                <a:effectLst/>
              </a:rPr>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95775"/>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67789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domínio) relacionada </a:t>
            </a:r>
            <a:r>
              <a:rPr lang="pt-BR" b="1" dirty="0">
                <a:solidFill>
                  <a:srgbClr val="00B050"/>
                </a:solidFill>
                <a:effectLst/>
              </a:rPr>
              <a:t>como ponto de partida para uma nova tarefa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298696"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em 100 categorias diferentes,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reutilizar partes da primeira rede</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91226"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876925" y="1825624"/>
            <a:ext cx="6210301"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Além de requerer menos dados, o </a:t>
            </a:r>
            <a:r>
              <a:rPr lang="pt-BR" b="0" i="1" dirty="0" err="1">
                <a:effectLst/>
              </a:rPr>
              <a:t>transfer</a:t>
            </a:r>
            <a:r>
              <a:rPr lang="pt-BR" b="0" i="1" dirty="0">
                <a:effectLst/>
              </a:rPr>
              <a:t> learning</a:t>
            </a:r>
            <a:r>
              <a:rPr lang="pt-BR" b="0" dirty="0">
                <a:effectLst/>
              </a:rPr>
              <a:t> </a:t>
            </a:r>
            <a:r>
              <a:rPr lang="pt-BR" b="1" dirty="0">
                <a:solidFill>
                  <a:srgbClr val="00B050"/>
                </a:solidFill>
                <a:effectLst/>
              </a:rPr>
              <a:t>acelera consideravelmente o treinamento</a:t>
            </a:r>
            <a:r>
              <a:rPr lang="pt-BR" b="0" dirty="0">
                <a:effectLst/>
              </a:rPr>
              <a:t>.</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16601</TotalTime>
  <Words>9024</Words>
  <Application>Microsoft Office PowerPoint</Application>
  <PresentationFormat>Widescreen</PresentationFormat>
  <Paragraphs>1530</Paragraphs>
  <Slides>100</Slides>
  <Notes>45</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100</vt:i4>
      </vt:variant>
    </vt:vector>
  </HeadingPairs>
  <TitlesOfParts>
    <vt:vector size="113"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Função de ativação</vt:lpstr>
      <vt:lpstr>Kernels diferentes para características diferentes</vt:lpstr>
      <vt:lpstr>Camada de Pooling (ou subamostragem)</vt:lpstr>
      <vt:lpstr>Camada de Pooling (ou subamostragem)</vt:lpstr>
      <vt:lpstr>Max pooling</vt:lpstr>
      <vt:lpstr>Max pooling</vt:lpstr>
      <vt:lpstr>Bloco de convolução</vt:lpstr>
      <vt:lpstr>Bloco de convolução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2776</cp:revision>
  <dcterms:created xsi:type="dcterms:W3CDTF">2020-01-20T13:50:05Z</dcterms:created>
  <dcterms:modified xsi:type="dcterms:W3CDTF">2026-04-27T20:34:21Z</dcterms:modified>
</cp:coreProperties>
</file>