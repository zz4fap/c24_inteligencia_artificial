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9"/>
  </p:notesMasterIdLst>
  <p:handoutMasterIdLst>
    <p:handoutMasterId r:id="rId90"/>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526" r:id="rId48"/>
    <p:sldId id="524" r:id="rId49"/>
    <p:sldId id="525" r:id="rId50"/>
    <p:sldId id="527" r:id="rId51"/>
    <p:sldId id="455" r:id="rId52"/>
    <p:sldId id="533" r:id="rId53"/>
    <p:sldId id="460" r:id="rId54"/>
    <p:sldId id="467" r:id="rId55"/>
    <p:sldId id="529" r:id="rId56"/>
    <p:sldId id="530" r:id="rId57"/>
    <p:sldId id="531" r:id="rId58"/>
    <p:sldId id="528" r:id="rId59"/>
    <p:sldId id="461" r:id="rId60"/>
    <p:sldId id="493" r:id="rId61"/>
    <p:sldId id="462" r:id="rId62"/>
    <p:sldId id="466" r:id="rId63"/>
    <p:sldId id="512" r:id="rId64"/>
    <p:sldId id="468" r:id="rId65"/>
    <p:sldId id="508" r:id="rId66"/>
    <p:sldId id="477" r:id="rId67"/>
    <p:sldId id="405" r:id="rId68"/>
    <p:sldId id="293" r:id="rId69"/>
    <p:sldId id="306" r:id="rId70"/>
    <p:sldId id="491" r:id="rId71"/>
    <p:sldId id="441" r:id="rId72"/>
    <p:sldId id="469" r:id="rId73"/>
    <p:sldId id="470" r:id="rId74"/>
    <p:sldId id="471" r:id="rId75"/>
    <p:sldId id="472" r:id="rId76"/>
    <p:sldId id="475" r:id="rId77"/>
    <p:sldId id="474" r:id="rId78"/>
    <p:sldId id="478" r:id="rId79"/>
    <p:sldId id="490" r:id="rId80"/>
    <p:sldId id="438" r:id="rId81"/>
    <p:sldId id="443" r:id="rId82"/>
    <p:sldId id="446" r:id="rId83"/>
    <p:sldId id="447" r:id="rId84"/>
    <p:sldId id="448" r:id="rId85"/>
    <p:sldId id="458" r:id="rId86"/>
    <p:sldId id="459" r:id="rId87"/>
    <p:sldId id="479" r:id="rId8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handoutMaster" Target="handoutMasters/handoutMaster1.xml"/><Relationship Id="rId95" Type="http://schemas.microsoft.com/office/2016/11/relationships/changesInfo" Target="changesInfos/changesInfo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9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18/03/2026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18/03/2026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18/03/2026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60.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6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7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8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8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86.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8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mc:Choice xmlns:a14="http://schemas.microsoft.com/office/drawing/2010/main"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mc:Choice xmlns:a14="http://schemas.microsoft.com/office/drawing/2010/main"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mc:Choice xmlns:a14="http://schemas.microsoft.com/office/drawing/2010/main"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66AF9-CC12-4FC5-AC80-618F4E96B93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3521C84-CA1C-E345-3ECA-E2E9BD9AB2C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90637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B82D7-1DC4-AF8C-4F37-8CF5D6CA87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BC96E84-1F80-FA6B-314B-55B42B8BD7BE}"/>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395528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3E730-3112-18B8-8358-8A8632529E5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03BB281-AAA1-9E89-5C66-93103507E6D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040743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0933A-0DDD-9A14-D8B8-A5CEA9A18E3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41C1B0A-CA1D-61C1-2F34-1D26CB3C12B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099419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26100" y="1825624"/>
                <a:ext cx="6452019" cy="5032375"/>
              </a:xfrm>
            </p:spPr>
            <p:txBody>
              <a:bodyPr>
                <a:normAutofit/>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r>
                  <a:rPr lang="pt-BR" dirty="0"/>
                  <a:t>Pequenos deslocamentos na imagem não afetam muito o resultado</a:t>
                </a:r>
              </a:p>
              <a:p>
                <a:r>
                  <a:rPr lang="pt-BR" dirty="0"/>
                  <a:t>A maneira </a:t>
                </a:r>
                <a:r>
                  <a:rPr lang="pt-BR" b="1" dirty="0">
                    <a:solidFill>
                      <a:srgbClr val="00B050"/>
                    </a:solidFill>
                  </a:rPr>
                  <a:t>mais comum </a:t>
                </a:r>
                <a:r>
                  <a:rPr lang="pt-BR" dirty="0"/>
                  <a:t>de subamostrar é aplicar uma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ao resultado de cada </a:t>
                </a:r>
                <a:r>
                  <a:rPr lang="pt-BR" i="1" dirty="0"/>
                  <a:t>kernel</a:t>
                </a:r>
                <a:r>
                  <a:rPr lang="pt-BR" dirty="0"/>
                  <a:t>.</a:t>
                </a:r>
              </a:p>
            </p:txBody>
          </p:sp>
        </mc:Choice>
        <mc:Fallback>
          <p:sp>
            <p:nvSpPr>
              <p:cNvPr id="3" name="Espaço Reservado para Conteúdo 2">
                <a:extLst>
                  <a:ext uri="{FF2B5EF4-FFF2-40B4-BE49-F238E27FC236}">
                    <a16:creationId xmlns:a16="http://schemas.microsoft.com/office/drawing/2014/main" id="{4085D248-6DE1-3B0A-052A-EF2322A01601}"/>
                  </a:ext>
                </a:extLst>
              </p:cNvPr>
              <p:cNvSpPr>
                <a:spLocks noGrp="1" noRot="1" noChangeAspect="1" noMove="1" noResize="1" noEditPoints="1" noAdjustHandles="1" noChangeArrowheads="1" noChangeShapeType="1" noTextEdit="1"/>
              </p:cNvSpPr>
              <p:nvPr>
                <p:ph idx="1"/>
              </p:nvPr>
            </p:nvSpPr>
            <p:spPr>
              <a:xfrm>
                <a:off x="5626100" y="1825624"/>
                <a:ext cx="6452019" cy="5032375"/>
              </a:xfrm>
              <a:blipFill>
                <a:blip r:embed="rId3"/>
                <a:stretch>
                  <a:fillRect l="-1701" t="-1937" r="-3214"/>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756400" cy="5032375"/>
          </a:xfrm>
        </p:spPr>
        <p:txBody>
          <a:bodyPr>
            <a:normAutofit fontScale="92500" lnSpcReduction="10000"/>
          </a:bodyPr>
          <a:lstStyle/>
          <a:p>
            <a:r>
              <a:rPr lang="pt-BR" dirty="0"/>
              <a:t>Com o </a:t>
            </a:r>
            <a:r>
              <a:rPr lang="pt-BR" i="1" dirty="0" err="1"/>
              <a:t>max</a:t>
            </a:r>
            <a:r>
              <a:rPr lang="pt-BR" i="1" dirty="0"/>
              <a:t> </a:t>
            </a:r>
            <a:r>
              <a:rPr lang="pt-BR" i="1" dirty="0" err="1"/>
              <a:t>pooling</a:t>
            </a:r>
            <a:r>
              <a:rPr lang="pt-BR" dirty="0"/>
              <a:t>, somente o </a:t>
            </a:r>
            <a:r>
              <a:rPr lang="pt-BR" b="1" dirty="0">
                <a:solidFill>
                  <a:srgbClr val="00B050"/>
                </a:solidFill>
              </a:rPr>
              <a:t>valor máximo em cada campo receptivo</a:t>
            </a:r>
            <a:r>
              <a:rPr lang="pt-BR" dirty="0"/>
              <a:t> do </a:t>
            </a:r>
            <a:r>
              <a:rPr lang="pt-BR" i="1" dirty="0" err="1"/>
              <a:t>pooling</a:t>
            </a:r>
            <a:r>
              <a:rPr lang="pt-BR" dirty="0"/>
              <a:t> </a:t>
            </a:r>
            <a:r>
              <a:rPr lang="pt-BR" b="1" dirty="0">
                <a:solidFill>
                  <a:srgbClr val="00B050"/>
                </a:solidFill>
              </a:rPr>
              <a:t>passa para a próxima camada</a:t>
            </a:r>
            <a:r>
              <a:rPr lang="pt-BR" dirty="0"/>
              <a:t>, enquanto as </a:t>
            </a:r>
            <a:r>
              <a:rPr lang="pt-BR" b="1" dirty="0">
                <a:solidFill>
                  <a:srgbClr val="00B050"/>
                </a:solidFill>
              </a:rPr>
              <a:t>outras entradas são descartadas</a:t>
            </a:r>
            <a:r>
              <a:rPr lang="pt-BR" dirty="0"/>
              <a:t>.</a:t>
            </a:r>
          </a:p>
          <a:p>
            <a:r>
              <a:rPr lang="pt-BR" dirty="0"/>
              <a:t>Ele mantém apenas as </a:t>
            </a:r>
            <a:r>
              <a:rPr lang="pt-BR" b="1" dirty="0">
                <a:solidFill>
                  <a:srgbClr val="00B050"/>
                </a:solidFill>
              </a:rPr>
              <a:t>características</a:t>
            </a:r>
            <a:r>
              <a:rPr lang="pt-BR" dirty="0"/>
              <a:t> mais importantes (mais fortes).</a:t>
            </a:r>
          </a:p>
          <a:p>
            <a:r>
              <a:rPr lang="pt-BR" sz="4000" dirty="0">
                <a:solidFill>
                  <a:srgbClr val="FF0000"/>
                </a:solidFill>
              </a:rPr>
              <a:t>O </a:t>
            </a:r>
            <a:r>
              <a:rPr lang="pt-BR" sz="4000" i="1" dirty="0">
                <a:solidFill>
                  <a:srgbClr val="FF0000"/>
                </a:solidFill>
              </a:rPr>
              <a:t>pooling</a:t>
            </a:r>
            <a:r>
              <a:rPr lang="pt-BR" sz="4000" dirty="0">
                <a:solidFill>
                  <a:srgbClr val="FF0000"/>
                </a:solidFill>
              </a:rPr>
              <a:t> é </a:t>
            </a:r>
            <a:r>
              <a:rPr lang="pt-BR" sz="4000" b="1" dirty="0">
                <a:solidFill>
                  <a:srgbClr val="FF0000"/>
                </a:solidFill>
              </a:rPr>
              <a:t>normalmente aplicado a cada canal de entrada de forma independente</a:t>
            </a:r>
            <a:r>
              <a:rPr lang="pt-BR" sz="4000" dirty="0">
                <a:solidFill>
                  <a:srgbClr val="FF0000"/>
                </a:solidFill>
              </a:rPr>
              <a:t>, de forma que a </a:t>
            </a:r>
            <a:r>
              <a:rPr lang="pt-BR" sz="4000" b="1" dirty="0">
                <a:solidFill>
                  <a:srgbClr val="FF0000"/>
                </a:solidFill>
              </a:rPr>
              <a:t>profundidade de saída seja igual a de entrada</a:t>
            </a:r>
            <a:r>
              <a:rPr lang="pt-BR" sz="4000" dirty="0">
                <a:solidFill>
                  <a:srgbClr val="FF0000"/>
                </a:solidFill>
              </a:rPr>
              <a:t>.</a:t>
            </a:r>
          </a:p>
        </p:txBody>
      </p:sp>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pooling ajudam a </a:t>
            </a:r>
            <a:r>
              <a:rPr lang="pt-BR" b="1" dirty="0">
                <a:solidFill>
                  <a:srgbClr val="00B050"/>
                </a:solidFill>
              </a:rPr>
              <a:t>capturar e reter as características mais importantes</a:t>
            </a:r>
            <a:r>
              <a:rPr lang="pt-BR" dirty="0"/>
              <a:t>, ao mesmo tempo que </a:t>
            </a:r>
            <a:r>
              <a:rPr lang="pt-BR" b="1" dirty="0">
                <a:solidFill>
                  <a:srgbClr val="7030A0"/>
                </a:solidFill>
              </a:rPr>
              <a:t>descartam informações menos relevantes ou ruidosas</a:t>
            </a:r>
            <a:r>
              <a:rPr lang="pt-BR" dirty="0"/>
              <a:t>.</a:t>
            </a:r>
          </a:p>
          <a:p>
            <a:r>
              <a:rPr lang="pt-BR" dirty="0"/>
              <a:t>Portanto, elas </a:t>
            </a:r>
            <a:r>
              <a:rPr lang="pt-BR" b="1" dirty="0">
                <a:solidFill>
                  <a:srgbClr val="00B050"/>
                </a:solidFill>
              </a:rPr>
              <a:t>compactam</a:t>
            </a:r>
            <a:r>
              <a:rPr lang="pt-BR" dirty="0"/>
              <a:t> os dados </a:t>
            </a:r>
            <a:r>
              <a:rPr lang="pt-BR" b="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FC913-FD41-D2A2-CD16-E7B7DF90EC9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12A1DA-1BD2-8ED9-E936-FEC24422048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542211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30E3B-F9B4-EA0C-9FBD-AE581E35FA1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E770460-8046-341C-FF4A-AE40E1E89B1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7799513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lnSpcReduction="200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a:p>
            <a:r>
              <a:rPr lang="pt-BR" sz="3900" b="1" dirty="0">
                <a:solidFill>
                  <a:srgbClr val="FF0000"/>
                </a:solidFill>
              </a:rPr>
              <a:t>Essas camadas combinam as características para decidir a saída final.</a:t>
            </a:r>
            <a:endParaRPr lang="pt-BR" sz="3900" b="1" i="0" dirty="0">
              <a:solidFill>
                <a:srgbClr val="FF0000"/>
              </a:solidFill>
              <a:effectLst/>
            </a:endParaRP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16192</TotalTime>
  <Words>7050</Words>
  <Application>Microsoft Office PowerPoint</Application>
  <PresentationFormat>Widescreen</PresentationFormat>
  <Paragraphs>1377</Paragraphs>
  <Slides>87</Slides>
  <Notes>38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87</vt:i4>
      </vt:variant>
    </vt:vector>
  </HeadingPairs>
  <TitlesOfParts>
    <vt:vector size="100"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PowerPoint Presentation</vt:lpstr>
      <vt:lpstr>PowerPoint Presentation</vt:lpstr>
      <vt:lpstr>PowerPoint Presentation</vt:lpstr>
      <vt:lpstr>PowerPoint Presentation</vt:lpstr>
      <vt:lpstr>Camada de Pooling (ou subamostragem)</vt:lpstr>
      <vt:lpstr>Camada de Pooling (ou subamostragem)</vt:lpstr>
      <vt:lpstr>Max Pooling</vt:lpstr>
      <vt:lpstr>Camada de Pooling (ou subamostragem)</vt:lpstr>
      <vt:lpstr>PowerPoint Presentation</vt:lpstr>
      <vt:lpstr>Bloco de convolução</vt:lpstr>
      <vt:lpstr>Bloco de convolução</vt:lpstr>
      <vt:lpstr>PowerPoint Presentation</vt:lpstr>
      <vt:lpstr>Padding ou preenchimento</vt:lpstr>
      <vt:lpstr>Padding ou preenchimento</vt:lpstr>
      <vt:lpstr>Padding ou preenchimento</vt:lpstr>
      <vt:lpstr>Camada de flatten</vt:lpstr>
      <vt:lpstr>Camadas densas</vt:lpstr>
      <vt:lpstr>Os filtros são aprendidos!</vt:lpstr>
      <vt:lpstr>PowerPoint Presentation</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2657</cp:revision>
  <dcterms:created xsi:type="dcterms:W3CDTF">2020-01-20T13:50:05Z</dcterms:created>
  <dcterms:modified xsi:type="dcterms:W3CDTF">2026-03-18T15:14:35Z</dcterms:modified>
</cp:coreProperties>
</file>