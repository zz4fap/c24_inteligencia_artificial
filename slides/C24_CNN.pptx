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3"/>
  </p:notesMasterIdLst>
  <p:handoutMasterIdLst>
    <p:handoutMasterId r:id="rId104"/>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488" r:id="rId39"/>
    <p:sldId id="464" r:id="rId40"/>
    <p:sldId id="465" r:id="rId41"/>
    <p:sldId id="437" r:id="rId42"/>
    <p:sldId id="445" r:id="rId43"/>
    <p:sldId id="449" r:id="rId44"/>
    <p:sldId id="450" r:id="rId45"/>
    <p:sldId id="511" r:id="rId46"/>
    <p:sldId id="452" r:id="rId47"/>
    <p:sldId id="455" r:id="rId48"/>
    <p:sldId id="533" r:id="rId49"/>
    <p:sldId id="460" r:id="rId50"/>
    <p:sldId id="467" r:id="rId51"/>
    <p:sldId id="530" r:id="rId52"/>
    <p:sldId id="531" r:id="rId53"/>
    <p:sldId id="461" r:id="rId54"/>
    <p:sldId id="493" r:id="rId55"/>
    <p:sldId id="462" r:id="rId56"/>
    <p:sldId id="466" r:id="rId57"/>
    <p:sldId id="512" r:id="rId58"/>
    <p:sldId id="537" r:id="rId59"/>
    <p:sldId id="538" r:id="rId60"/>
    <p:sldId id="539" r:id="rId61"/>
    <p:sldId id="536" r:id="rId62"/>
    <p:sldId id="541" r:id="rId63"/>
    <p:sldId id="440" r:id="rId64"/>
    <p:sldId id="542" r:id="rId65"/>
    <p:sldId id="554" r:id="rId66"/>
    <p:sldId id="543" r:id="rId67"/>
    <p:sldId id="555" r:id="rId68"/>
    <p:sldId id="544" r:id="rId69"/>
    <p:sldId id="545" r:id="rId70"/>
    <p:sldId id="547" r:id="rId71"/>
    <p:sldId id="548" r:id="rId72"/>
    <p:sldId id="549" r:id="rId73"/>
    <p:sldId id="550" r:id="rId74"/>
    <p:sldId id="551" r:id="rId75"/>
    <p:sldId id="552" r:id="rId76"/>
    <p:sldId id="524" r:id="rId77"/>
    <p:sldId id="508" r:id="rId78"/>
    <p:sldId id="405" r:id="rId79"/>
    <p:sldId id="293" r:id="rId80"/>
    <p:sldId id="306" r:id="rId81"/>
    <p:sldId id="491" r:id="rId82"/>
    <p:sldId id="441" r:id="rId83"/>
    <p:sldId id="469" r:id="rId84"/>
    <p:sldId id="470" r:id="rId85"/>
    <p:sldId id="471" r:id="rId86"/>
    <p:sldId id="472" r:id="rId87"/>
    <p:sldId id="475" r:id="rId88"/>
    <p:sldId id="474" r:id="rId89"/>
    <p:sldId id="540" r:id="rId90"/>
    <p:sldId id="478" r:id="rId91"/>
    <p:sldId id="477" r:id="rId92"/>
    <p:sldId id="490" r:id="rId93"/>
    <p:sldId id="438" r:id="rId94"/>
    <p:sldId id="443" r:id="rId95"/>
    <p:sldId id="446" r:id="rId96"/>
    <p:sldId id="447" r:id="rId97"/>
    <p:sldId id="448" r:id="rId98"/>
    <p:sldId id="458" r:id="rId99"/>
    <p:sldId id="459" r:id="rId100"/>
    <p:sldId id="479" r:id="rId101"/>
    <p:sldId id="556" r:id="rId10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108"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6/11/relationships/changesInfo" Target="changesInfos/changesInfo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18/03/2026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18/03/2026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EF415-FB87-44DC-31B3-F4E08CC453F3}"/>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9F46834-384C-CBB9-288F-0F8D3AC016F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70B5873-1848-020B-576B-6A207B137C6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A274C9D1-40F3-6DDF-AB45-50EF79E2E2EA}"/>
              </a:ext>
            </a:extLst>
          </p:cNvPr>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4641317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png"/><Relationship Id="rId4" Type="http://schemas.openxmlformats.org/officeDocument/2006/relationships/image" Target="../media/image511.png"/><Relationship Id="rId9" Type="http://schemas.openxmlformats.org/officeDocument/2006/relationships/image" Target="../media/image56.png"/></Relationships>
</file>

<file path=ppt/slides/_rels/slide99.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a:t>Elas não</a:t>
            </a:r>
            <a:r>
              <a:rPr lang="pt-BR" b="1" dirty="0">
                <a:solidFill>
                  <a:srgbClr val="7030A0"/>
                </a:solidFill>
              </a:rPr>
              <a:t> consideram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492278" y="1690688"/>
            <a:ext cx="5699721"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padrões globais</a:t>
            </a:r>
            <a:r>
              <a:rPr lang="pt-BR" dirty="0"/>
              <a:t>.</a:t>
            </a:r>
          </a:p>
          <a:p>
            <a:r>
              <a:rPr lang="pt-BR" dirty="0"/>
              <a:t>Elas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60344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recém todos os pixels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603440" y="5794599"/>
            <a:ext cx="2686049" cy="584775"/>
          </a:xfrm>
          <a:prstGeom prst="rect">
            <a:avLst/>
          </a:prstGeom>
          <a:noFill/>
        </p:spPr>
        <p:txBody>
          <a:bodyPr wrap="square">
            <a:spAutoFit/>
          </a:bodyPr>
          <a:lstStyle/>
          <a:p>
            <a:pPr algn="ctr"/>
            <a:r>
              <a:rPr lang="pt-BR" sz="1600" dirty="0"/>
              <a:t>CNN: neurônios recebem apenas uma parte dos pixels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do gato, </a:t>
            </a:r>
            <a:r>
              <a:rPr lang="en-US" dirty="0" err="1"/>
              <a:t>por</a:t>
            </a:r>
            <a:r>
              <a:rPr lang="en-US" dirty="0"/>
              <a:t> </a:t>
            </a:r>
            <a:r>
              <a:rPr lang="en-US" dirty="0" err="1"/>
              <a:t>exemplo</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a:t>
            </a:r>
            <a:r>
              <a:rPr lang="pt-BR" sz="6000" dirty="0" err="1"/>
              <a:t>NNs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a:t>
            </a:r>
            <a:r>
              <a:rPr lang="pt-BR" i="1" dirty="0"/>
              <a:t>pixels</a:t>
            </a:r>
            <a:r>
              <a:rPr lang="pt-BR" dirty="0"/>
              <a:t> próximos tendem a estar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conectar cada neurônio da CNN a todos os </a:t>
            </a:r>
            <a:r>
              <a:rPr lang="pt-BR" i="1" dirty="0"/>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 </a:t>
            </a:r>
            <a:r>
              <a:rPr lang="pt-BR" dirty="0"/>
              <a:t>(</a:t>
            </a:r>
            <a:r>
              <a:rPr lang="pt-BR" i="1" dirty="0" err="1"/>
              <a:t>receptive</a:t>
            </a:r>
            <a:r>
              <a:rPr lang="pt-BR" i="1" dirty="0"/>
              <a:t> </a:t>
            </a:r>
            <a:r>
              <a:rPr lang="pt-BR" i="1" dirty="0" err="1"/>
              <a:t>field</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mesmo padrão pode aparecer em qualquer posição da imagem.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pPr lvl="1">
              <a:buFont typeface="Wingdings" panose="05000000000000000000" pitchFamily="2" charset="2"/>
              <a:buChar char="§"/>
            </a:pPr>
            <a:r>
              <a:rPr lang="pt-BR" dirty="0"/>
              <a:t>uma roda pode aparecer em qualquer posição do carro</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dirty="0" err="1"/>
              <a:t>CNNs</a:t>
            </a:r>
            <a:r>
              <a:rPr lang="pt-BR" dirty="0"/>
              <a:t> compartilham os pesos: o mesmo filtro é aplicado em toda a imagem.</a:t>
            </a:r>
          </a:p>
          <a:p>
            <a:r>
              <a:rPr lang="pt-BR" dirty="0"/>
              <a:t>Ou seja, um filtro que detecta bordas é o mesmo para todas as posições.</a:t>
            </a:r>
          </a:p>
          <a:p>
            <a:r>
              <a:rPr lang="pt-BR" dirty="0"/>
              <a:t>Isso traz duas vantagens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205046" y="1825624"/>
            <a:ext cx="6986954" cy="5032375"/>
          </a:xfrm>
        </p:spPr>
        <p:txBody>
          <a:bodyPr>
            <a:normAutofit lnSpcReduction="100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dirty="0" err="1"/>
              <a:t>Intermediários</a:t>
            </a:r>
            <a:r>
              <a:rPr lang="en-US" dirty="0"/>
              <a:t>: </a:t>
            </a:r>
            <a:r>
              <a:rPr lang="pt-BR" dirty="0"/>
              <a:t>curva da orelha, forma triangular do nariz</a:t>
            </a:r>
          </a:p>
          <a:p>
            <a:pPr lvl="1">
              <a:buFont typeface="Wingdings" panose="05000000000000000000" pitchFamily="2" charset="2"/>
              <a:buChar char="§"/>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dirty="0" err="1"/>
              <a:t>Objeto</a:t>
            </a:r>
            <a:r>
              <a:rPr lang="en-US" dirty="0"/>
              <a:t> </a:t>
            </a:r>
            <a:r>
              <a:rPr lang="en-US" dirty="0" err="1"/>
              <a:t>completo</a:t>
            </a:r>
            <a:r>
              <a:rPr lang="en-US" dirty="0"/>
              <a:t>: </a:t>
            </a:r>
            <a:r>
              <a:rPr lang="pt-BR" dirty="0"/>
              <a:t>bordas → texturas → partes → cabeça/corpo → gato</a:t>
            </a:r>
          </a:p>
          <a:p>
            <a:r>
              <a:rPr lang="pt-BR" dirty="0"/>
              <a:t>As camadas de uma CNN aprendem a </a:t>
            </a:r>
            <a:r>
              <a:rPr lang="pt-BR" dirty="0" err="1"/>
              <a:t>hierárquia</a:t>
            </a:r>
            <a:r>
              <a:rPr lang="pt-BR" dirty="0"/>
              <a:t> de padrões da imagem.</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Qual é a arquitetura de uma</a:t>
            </a:r>
            <a:r>
              <a:rPr lang="pt-BR" sz="6600" dirty="0"/>
              <a:t> C</a:t>
            </a:r>
            <a:r>
              <a:rPr lang="pt-BR" sz="6000" dirty="0"/>
              <a:t>NN?</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a:bodyPr>
          <a:lstStyle/>
          <a:p>
            <a:r>
              <a:rPr lang="en-US" dirty="0"/>
              <a:t>Uma CNN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812782" y="1825624"/>
            <a:ext cx="5379217" cy="5032375"/>
          </a:xfrm>
        </p:spPr>
        <p:txBody>
          <a:bodyPr>
            <a:noAutofit/>
          </a:bodyPr>
          <a:lstStyle/>
          <a:p>
            <a:r>
              <a:rPr lang="pt-BR" dirty="0"/>
              <a:t>A camada de convolução é responsável por extrair características da imagem.</a:t>
            </a:r>
          </a:p>
          <a:p>
            <a:r>
              <a:rPr lang="pt-BR" dirty="0"/>
              <a:t>Ela faz isso aplicando filtros sobre a imagem.</a:t>
            </a:r>
          </a:p>
          <a:p>
            <a:r>
              <a:rPr lang="pt-BR" dirty="0"/>
              <a:t>Esse filtro:</a:t>
            </a:r>
          </a:p>
          <a:p>
            <a:pPr lvl="1">
              <a:buFont typeface="Wingdings" panose="05000000000000000000" pitchFamily="2" charset="2"/>
              <a:buChar char="§"/>
            </a:pPr>
            <a:r>
              <a:rPr lang="pt-BR" sz="2800" dirty="0"/>
              <a:t>multiplica valores locais da imagem</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220988"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função de ativação.</a:t>
            </a:r>
          </a:p>
          <a:p>
            <a:r>
              <a:rPr lang="pt-BR" dirty="0"/>
              <a:t>Esse processo é repetido por toda a imagem.</a:t>
            </a:r>
          </a:p>
          <a:p>
            <a:r>
              <a:rPr lang="pt-BR" dirty="0"/>
              <a:t>O resultado é um mapa de características (</a:t>
            </a:r>
            <a:r>
              <a:rPr lang="pt-BR" i="1" dirty="0"/>
              <a:t>feature </a:t>
            </a:r>
            <a:r>
              <a:rPr lang="pt-BR" i="1" dirty="0" err="1"/>
              <a:t>map</a:t>
            </a:r>
            <a:r>
              <a:rPr lang="pt-BR" dirty="0"/>
              <a:t>) detectados.</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lnSpcReduction="10000"/>
          </a:bodyPr>
          <a:lstStyle/>
          <a:p>
            <a:r>
              <a:rPr lang="pt-BR" dirty="0"/>
              <a:t>Alguns </a:t>
            </a:r>
            <a:r>
              <a:rPr lang="pt-BR" b="1" dirty="0">
                <a:solidFill>
                  <a:srgbClr val="00B050"/>
                </a:solidFill>
              </a:rPr>
              <a:t>neurônios biológicos reagem</a:t>
            </a:r>
            <a:r>
              <a:rPr lang="pt-BR" dirty="0"/>
              <a:t> apenas a imagens de </a:t>
            </a:r>
            <a:r>
              <a:rPr lang="pt-BR" b="1" dirty="0">
                <a:solidFill>
                  <a:srgbClr val="00B050"/>
                </a:solidFill>
              </a:rPr>
              <a:t>linhas horizontais</a:t>
            </a:r>
            <a:r>
              <a:rPr lang="pt-BR" dirty="0"/>
              <a:t>, enquanto </a:t>
            </a:r>
            <a:r>
              <a:rPr lang="pt-BR" b="1" dirty="0">
                <a:solidFill>
                  <a:srgbClr val="00B050"/>
                </a:solidFill>
              </a:rPr>
              <a:t>outros, reagem </a:t>
            </a:r>
            <a:r>
              <a:rPr lang="pt-BR" dirty="0"/>
              <a:t>apenas 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7" y="1825624"/>
            <a:ext cx="6412117" cy="5032375"/>
          </a:xfrm>
        </p:spPr>
        <p:txBody>
          <a:bodyPr>
            <a:normAutofit/>
          </a:bodyPr>
          <a:lstStyle/>
          <a:p>
            <a:r>
              <a:rPr lang="pt-BR" dirty="0"/>
              <a:t>Um </a:t>
            </a:r>
            <a:r>
              <a:rPr lang="pt-BR" b="1" i="1" dirty="0">
                <a:solidFill>
                  <a:srgbClr val="7030A0"/>
                </a:solidFill>
                <a:effectLst/>
              </a:rPr>
              <a:t>kernel</a:t>
            </a:r>
            <a:r>
              <a:rPr lang="pt-BR" b="0" dirty="0">
                <a:effectLst/>
              </a:rPr>
              <a:t> é um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coloridas, eles têm 3 dimensões e 2 dimensões para imagens em tons de cinza.</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dirty="0">
                <a:effectLst/>
              </a:rPr>
              <a:t>Cada </a:t>
            </a:r>
            <a:r>
              <a:rPr lang="pt-BR" b="1" i="1" dirty="0">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effectLst/>
              </a:rPr>
              <a:t>kernels</a:t>
            </a:r>
            <a:r>
              <a:rPr lang="pt-BR" b="0" dirty="0">
                <a:effectLst/>
              </a:rPr>
              <a:t> </a:t>
            </a:r>
            <a:r>
              <a:rPr lang="pt-BR" b="1" dirty="0">
                <a:solidFill>
                  <a:srgbClr val="7030A0"/>
                </a:solidFill>
                <a:effectLst/>
              </a:rPr>
              <a:t>aprendem</a:t>
            </a:r>
            <a:r>
              <a:rPr lang="pt-BR" b="0" dirty="0">
                <a:effectLst/>
              </a:rPr>
              <a:t> a </a:t>
            </a:r>
            <a:r>
              <a:rPr lang="pt-BR" b="1" dirty="0">
                <a:solidFill>
                  <a:srgbClr val="00B050"/>
                </a:solidFill>
                <a:effectLst/>
              </a:rPr>
              <a:t>detectar</a:t>
            </a:r>
            <a:r>
              <a:rPr lang="pt-BR" b="0" dirty="0">
                <a:effectLst/>
              </a:rPr>
              <a:t> as características mais relevantes para a tarefa específica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do tensor</a:t>
            </a:r>
            <a:r>
              <a:rPr lang="pt-BR" b="0" dirty="0">
                <a:effectLst/>
              </a:rPr>
              <a:t>, necessários para </a:t>
            </a:r>
            <a:r>
              <a:rPr lang="pt-BR" b="1" dirty="0">
                <a:effectLst/>
              </a:rPr>
              <a:t>detectar um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a:t>
            </a:r>
            <a:r>
              <a:rPr lang="pt-BR" b="1" dirty="0"/>
              <a:t> janela de convolução </a:t>
            </a:r>
            <a:r>
              <a:rPr lang="pt-BR" dirty="0"/>
              <a:t>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ou de ativação.</a:t>
            </a:r>
            <a:endParaRPr lang="pt-BR" dirty="0"/>
          </a:p>
          <a:p>
            <a:r>
              <a:rPr lang="pt-BR" dirty="0"/>
              <a:t>É chamado assim, pois </a:t>
            </a:r>
            <a:r>
              <a:rPr lang="pt-BR" b="1" dirty="0">
                <a:solidFill>
                  <a:srgbClr val="00B050"/>
                </a:solidFill>
              </a:rPr>
              <a:t>fornece as respostas/ativações desse filtro em cada posição espacial</a:t>
            </a:r>
            <a:r>
              <a:rPr lang="pt-BR" dirty="0"/>
              <a:t> da imagem.</a:t>
            </a:r>
          </a:p>
          <a:p>
            <a:r>
              <a:rPr lang="pt-BR" dirty="0"/>
              <a:t>Ele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dirty="0">
                <a:solidFill>
                  <a:srgbClr val="00B050"/>
                </a:solidFill>
              </a:rPr>
              <a:t>eficiência computacional</a:t>
            </a:r>
            <a:r>
              <a:rPr lang="pt-BR" dirty="0"/>
              <a:t> ou porque desejamos </a:t>
            </a:r>
            <a:r>
              <a:rPr lang="pt-BR" b="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353801" cy="2057563"/>
          </a:xfrm>
        </p:spPr>
        <p:txBody>
          <a:bodyPr/>
          <a:lstStyle/>
          <a:p>
            <a:r>
              <a:rPr lang="pt-BR" dirty="0"/>
              <a:t>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linhas verticais e escurece todo o resto</a:t>
            </a:r>
            <a:r>
              <a:rPr lang="pt-BR" dirty="0"/>
              <a:t>.</a:t>
            </a:r>
          </a:p>
          <a:p>
            <a:r>
              <a:rPr lang="pt-BR" dirty="0"/>
              <a:t>Portanto, podemos considerar este kernel como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processo é chamado de </a:t>
            </a:r>
            <a:r>
              <a:rPr lang="pt-BR" b="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é aplicada diretamente ao mapa de características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suas variantes.</a:t>
            </a:r>
          </a:p>
          <a:p>
            <a:endParaRPr lang="pt-BR" dirty="0"/>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30BB7-43B5-71FE-661B-7C28C5A1DF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AC29898-8F9C-BBC4-F010-C6A4DBE05CD6}"/>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BB48BE2A-D0E8-4D54-70AD-E9819D248211}"/>
              </a:ext>
            </a:extLst>
          </p:cNvPr>
          <p:cNvSpPr>
            <a:spLocks noGrp="1"/>
          </p:cNvSpPr>
          <p:nvPr>
            <p:ph idx="1"/>
          </p:nvPr>
        </p:nvSpPr>
        <p:spPr>
          <a:xfrm>
            <a:off x="5817996" y="1825624"/>
            <a:ext cx="6374004" cy="5032375"/>
          </a:xfrm>
        </p:spPr>
        <p:txBody>
          <a:bodyPr>
            <a:normAutofit lnSpcReduction="10000"/>
          </a:bodyPr>
          <a:lstStyle/>
          <a:p>
            <a:r>
              <a:rPr lang="pt-BR" dirty="0"/>
              <a:t>Por exemplo, em classificação, elas usam as características para decidir:</a:t>
            </a:r>
          </a:p>
          <a:p>
            <a:pPr lvl="1">
              <a:buFont typeface="Wingdings" panose="05000000000000000000" pitchFamily="2" charset="2"/>
              <a:buChar char="§"/>
            </a:pPr>
            <a:r>
              <a:rPr lang="pt-BR" dirty="0"/>
              <a:t>“isso é um gato”</a:t>
            </a:r>
          </a:p>
          <a:p>
            <a:pPr lvl="1">
              <a:buFont typeface="Wingdings" panose="05000000000000000000" pitchFamily="2" charset="2"/>
              <a:buChar char="§"/>
            </a:pPr>
            <a:r>
              <a:rPr lang="pt-BR" dirty="0"/>
              <a:t>“isso é um cachorro”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a:p>
            <a:r>
              <a:rPr lang="pt-BR" dirty="0"/>
              <a:t>Por exemplo, se as características de um gato aparecem juntas → é um gato.</a:t>
            </a:r>
          </a:p>
          <a:p>
            <a:r>
              <a:rPr lang="pt-BR" dirty="0"/>
              <a:t>Ou seja, ela aprende </a:t>
            </a:r>
            <a:r>
              <a:rPr lang="pt-BR" b="1" dirty="0"/>
              <a:t>relações entre características</a:t>
            </a:r>
            <a:r>
              <a:rPr lang="pt-BR" dirty="0"/>
              <a:t>.</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D1F1326C-9F39-3934-3BA0-ED01722C11B9}"/>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98713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280219" cy="5032375"/>
          </a:xfrm>
        </p:spPr>
        <p:txBody>
          <a:bodyPr>
            <a:normAutofit/>
          </a:bodyPr>
          <a:lstStyle/>
          <a:p>
            <a:r>
              <a:rPr lang="pt-BR" dirty="0"/>
              <a:t>Por exemplo, em classificação, elas usam as características para decidir a classe.</a:t>
            </a:r>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601766" y="1825625"/>
            <a:ext cx="5590234" cy="4351338"/>
          </a:xfrm>
        </p:spPr>
        <p:txBody>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a:t>Isso força a rede a aprender </a:t>
            </a:r>
            <a:r>
              <a:rPr lang="pt-BR" b="1" dirty="0"/>
              <a:t>representações mais generalizáveis</a:t>
            </a:r>
            <a:endParaRPr lang="pt-BR" dirty="0"/>
          </a:p>
          <a:p>
            <a:endParaRPr lang="en-US"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959626"/>
            <a:ext cx="11213387" cy="1898373"/>
          </a:xfrm>
        </p:spPr>
        <p:txBody>
          <a:bodyPr>
            <a:normAutofit fontScale="92500" lnSpcReduction="2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4" name="Imagem 3">
            <a:extLst>
              <a:ext uri="{FF2B5EF4-FFF2-40B4-BE49-F238E27FC236}">
                <a16:creationId xmlns:a16="http://schemas.microsoft.com/office/drawing/2014/main" id="{06C3870D-9BAA-F061-0440-28DA0A1FF2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4472" y="1434786"/>
            <a:ext cx="7640776" cy="3524840"/>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24ADF-F713-3EA7-8EFE-9113745A305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08D99CF-133F-ED48-F15D-A9FE8247441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031258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dirty="0">
                <a:solidFill>
                  <a:srgbClr val="00B050"/>
                </a:solidFill>
              </a:rPr>
              <a:t>data a</a:t>
            </a:r>
            <a:r>
              <a:rPr lang="pt-BR" b="1" dirty="0">
                <a:solidFill>
                  <a:srgbClr val="00B050"/>
                </a:solidFill>
                <a:effectLst/>
              </a:rPr>
              <a:t>ugmentation</a:t>
            </a:r>
            <a:r>
              <a:rPr lang="pt-BR" b="1" dirty="0">
                <a:solidFill>
                  <a:srgbClr val="00B050"/>
                </a:solidFill>
              </a:rPr>
              <a:t> 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i="1" dirty="0">
                <a:solidFill>
                  <a:srgbClr val="7030A0"/>
                </a:solidFill>
              </a:rPr>
              <a:t>transferência de aprendizado</a:t>
            </a:r>
            <a:r>
              <a:rPr lang="pt-BR" dirty="0"/>
              <a:t> é</a:t>
            </a:r>
            <a:r>
              <a:rPr lang="pt-BR" b="0" i="0" dirty="0">
                <a:effectLst/>
              </a:rPr>
              <a:t> uma abordagem que envolve o uso de um </a:t>
            </a:r>
            <a:r>
              <a:rPr lang="pt-BR" b="1" i="1" dirty="0">
                <a:solidFill>
                  <a:srgbClr val="00B050"/>
                </a:solidFill>
                <a:effectLst/>
              </a:rPr>
              <a:t>modelo </a:t>
            </a:r>
            <a:r>
              <a:rPr lang="pt-BR" b="1" i="1" dirty="0">
                <a:solidFill>
                  <a:srgbClr val="0070C0"/>
                </a:solidFill>
                <a:effectLst/>
              </a:rPr>
              <a:t>pré-treinado</a:t>
            </a:r>
            <a:r>
              <a:rPr lang="pt-BR" b="1" i="1" dirty="0">
                <a:solidFill>
                  <a:srgbClr val="00B050"/>
                </a:solidFill>
                <a:effectLst/>
              </a:rPr>
              <a:t> em uma tarefa </a:t>
            </a:r>
            <a:r>
              <a:rPr lang="pt-BR" b="0" i="0" dirty="0">
                <a:effectLst/>
              </a:rPr>
              <a:t>(ou domínio) relacionada </a:t>
            </a:r>
            <a:r>
              <a:rPr lang="pt-BR" b="1" i="1" dirty="0">
                <a:solidFill>
                  <a:srgbClr val="00B050"/>
                </a:solidFill>
                <a:effectLst/>
              </a:rPr>
              <a:t>como ponto de partida para uma nova tarefa</a:t>
            </a:r>
            <a:r>
              <a:rPr lang="pt-BR" b="0" i="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i="0" dirty="0">
                <a:effectLst/>
              </a:rPr>
              <a:t>Usamos o </a:t>
            </a:r>
            <a:r>
              <a:rPr lang="pt-BR" b="1" i="1" dirty="0">
                <a:solidFill>
                  <a:srgbClr val="7030A0"/>
                </a:solidFill>
                <a:effectLst/>
              </a:rPr>
              <a:t>conhecimento adquirido </a:t>
            </a:r>
            <a:r>
              <a:rPr lang="pt-BR" b="0" i="0" dirty="0">
                <a:effectLst/>
              </a:rPr>
              <a:t>por um </a:t>
            </a:r>
            <a:r>
              <a:rPr lang="pt-BR" b="1" i="1" dirty="0">
                <a:solidFill>
                  <a:srgbClr val="7030A0"/>
                </a:solidFill>
                <a:effectLst/>
              </a:rPr>
              <a:t>modelo treinando em uma grande base de dados </a:t>
            </a:r>
            <a:r>
              <a:rPr lang="pt-BR" b="0" i="0" dirty="0">
                <a:effectLst/>
              </a:rPr>
              <a:t>como </a:t>
            </a:r>
            <a:r>
              <a:rPr lang="pt-BR" b="1" i="1" dirty="0">
                <a:solidFill>
                  <a:srgbClr val="00B050"/>
                </a:solidFill>
                <a:effectLst/>
              </a:rPr>
              <a:t>ponto de partida </a:t>
            </a:r>
            <a:r>
              <a:rPr lang="pt-BR" b="0" i="0" dirty="0">
                <a:effectLst/>
              </a:rPr>
              <a:t>para treinar um modelo com uma </a:t>
            </a:r>
            <a:r>
              <a:rPr lang="pt-BR" b="1" i="1" dirty="0">
                <a:solidFill>
                  <a:srgbClr val="00B050"/>
                </a:solidFill>
                <a:effectLst/>
              </a:rPr>
              <a:t>base de treinamento menor</a:t>
            </a:r>
            <a:r>
              <a:rPr lang="pt-BR" b="0" i="0" dirty="0">
                <a:effectLst/>
              </a:rPr>
              <a:t>, </a:t>
            </a:r>
            <a:r>
              <a:rPr lang="pt-BR" b="1" i="1" dirty="0">
                <a:solidFill>
                  <a:srgbClr val="00B050"/>
                </a:solidFill>
                <a:effectLst/>
              </a:rPr>
              <a:t>mas que seja </a:t>
            </a:r>
            <a:r>
              <a:rPr lang="pt-BR" b="1" i="1" dirty="0">
                <a:solidFill>
                  <a:srgbClr val="0070C0"/>
                </a:solidFill>
                <a:effectLst/>
              </a:rPr>
              <a:t>relacionada</a:t>
            </a:r>
            <a:r>
              <a:rPr lang="pt-BR" b="1" i="1" dirty="0">
                <a:solidFill>
                  <a:srgbClr val="00B050"/>
                </a:solidFill>
                <a:effectLst/>
              </a:rPr>
              <a:t> à primeira</a:t>
            </a:r>
            <a:r>
              <a:rPr lang="pt-BR" b="0" i="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i="0" dirty="0">
                <a:effectLst/>
              </a:rPr>
              <a:t>Suponham que temos uma </a:t>
            </a:r>
            <a:r>
              <a:rPr lang="pt-BR" b="1" i="1" dirty="0">
                <a:solidFill>
                  <a:srgbClr val="00B050"/>
                </a:solidFill>
                <a:effectLst/>
              </a:rPr>
              <a:t>rede </a:t>
            </a:r>
            <a:r>
              <a:rPr lang="pt-BR" b="1" i="1" dirty="0" err="1">
                <a:solidFill>
                  <a:srgbClr val="00B050"/>
                </a:solidFill>
                <a:effectLst/>
              </a:rPr>
              <a:t>pré</a:t>
            </a:r>
            <a:r>
              <a:rPr lang="pt-BR" b="1" i="1" dirty="0">
                <a:solidFill>
                  <a:srgbClr val="00B050"/>
                </a:solidFill>
                <a:effectLst/>
              </a:rPr>
              <a:t>-treinada</a:t>
            </a:r>
            <a:r>
              <a:rPr lang="pt-BR" b="0" i="0" dirty="0">
                <a:effectLst/>
              </a:rPr>
              <a:t> para classificar imagens em 100 categorias diferentes, incluindo </a:t>
            </a:r>
            <a:r>
              <a:rPr lang="pt-BR" b="1" i="1" dirty="0">
                <a:solidFill>
                  <a:srgbClr val="00B050"/>
                </a:solidFill>
                <a:effectLst/>
              </a:rPr>
              <a:t>animais</a:t>
            </a:r>
            <a:r>
              <a:rPr lang="pt-BR" b="0" i="0" dirty="0">
                <a:effectLst/>
              </a:rPr>
              <a:t>, </a:t>
            </a:r>
            <a:r>
              <a:rPr lang="pt-BR" b="1" i="1" dirty="0">
                <a:solidFill>
                  <a:srgbClr val="00B050"/>
                </a:solidFill>
                <a:effectLst/>
              </a:rPr>
              <a:t>plantas</a:t>
            </a:r>
            <a:r>
              <a:rPr lang="pt-BR" b="0" i="0" dirty="0">
                <a:effectLst/>
              </a:rPr>
              <a:t>, </a:t>
            </a:r>
            <a:r>
              <a:rPr lang="pt-BR" b="1" i="1" dirty="0">
                <a:solidFill>
                  <a:srgbClr val="00B050"/>
                </a:solidFill>
                <a:effectLst/>
              </a:rPr>
              <a:t>veículos</a:t>
            </a:r>
            <a:r>
              <a:rPr lang="pt-BR" dirty="0"/>
              <a:t>, etc. e </a:t>
            </a:r>
            <a:r>
              <a:rPr lang="pt-BR" b="0" i="0" dirty="0">
                <a:effectLst/>
              </a:rPr>
              <a:t>queremos treinar uma </a:t>
            </a:r>
            <a:r>
              <a:rPr lang="pt-BR" b="1" i="1" dirty="0">
                <a:solidFill>
                  <a:srgbClr val="7030A0"/>
                </a:solidFill>
                <a:effectLst/>
              </a:rPr>
              <a:t>nova rede para classificar </a:t>
            </a:r>
            <a:r>
              <a:rPr lang="pt-BR" b="1" i="1" dirty="0">
                <a:solidFill>
                  <a:srgbClr val="0070C0"/>
                </a:solidFill>
                <a:effectLst/>
              </a:rPr>
              <a:t>tipos específicos de veículos</a:t>
            </a:r>
            <a:r>
              <a:rPr lang="pt-BR" b="0" i="0" dirty="0">
                <a:effectLst/>
              </a:rPr>
              <a:t>. </a:t>
            </a:r>
          </a:p>
          <a:p>
            <a:r>
              <a:rPr lang="pt-BR" dirty="0"/>
              <a:t>Por e</a:t>
            </a:r>
            <a:r>
              <a:rPr lang="pt-BR" b="0" i="0" dirty="0">
                <a:effectLst/>
              </a:rPr>
              <a:t>ssas tarefas serem semelhantes, </a:t>
            </a:r>
            <a:r>
              <a:rPr lang="pt-BR" b="1" i="1" dirty="0">
                <a:solidFill>
                  <a:srgbClr val="00B050"/>
                </a:solidFill>
                <a:effectLst/>
              </a:rPr>
              <a:t>podemos reutilizar partes da primeira rede</a:t>
            </a:r>
            <a:r>
              <a:rPr lang="pt-BR" b="0" i="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i="0" dirty="0">
                <a:effectLst/>
              </a:rPr>
              <a:t>Modelos pré-treinados em grandes conjuntos de dados </a:t>
            </a:r>
            <a:r>
              <a:rPr lang="pt-BR" b="1" i="1" dirty="0">
                <a:solidFill>
                  <a:srgbClr val="00B050"/>
                </a:solidFill>
                <a:effectLst/>
              </a:rPr>
              <a:t>extraem características relevantes dos dados</a:t>
            </a:r>
            <a:r>
              <a:rPr lang="pt-BR" b="0" i="0" dirty="0">
                <a:effectLst/>
              </a:rPr>
              <a:t>. </a:t>
            </a:r>
          </a:p>
          <a:p>
            <a:r>
              <a:rPr lang="pt-BR" b="0" i="0" dirty="0">
                <a:effectLst/>
              </a:rPr>
              <a:t>Essas </a:t>
            </a:r>
            <a:r>
              <a:rPr lang="pt-BR" b="1" i="1" dirty="0">
                <a:solidFill>
                  <a:srgbClr val="00B050"/>
                </a:solidFill>
                <a:effectLst/>
              </a:rPr>
              <a:t>características são transferidas para o novo modelo</a:t>
            </a:r>
            <a:r>
              <a:rPr lang="pt-BR" b="0" i="0" dirty="0">
                <a:effectLst/>
              </a:rPr>
              <a:t>, que pode se beneficiar de uma </a:t>
            </a:r>
            <a:r>
              <a:rPr lang="pt-BR" b="1" i="1" dirty="0">
                <a:solidFill>
                  <a:srgbClr val="7030A0"/>
                </a:solidFill>
                <a:effectLst/>
              </a:rPr>
              <a:t>inicialização mais informada</a:t>
            </a:r>
            <a:r>
              <a:rPr lang="pt-BR" b="0" i="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91226" cy="5032375"/>
          </a:xfrm>
        </p:spPr>
        <p:txBody>
          <a:bodyPr>
            <a:normAutofit/>
          </a:bodyPr>
          <a:lstStyle/>
          <a:p>
            <a:r>
              <a:rPr lang="pt-BR" b="0" i="0" dirty="0">
                <a:effectLst/>
              </a:rPr>
              <a:t>O </a:t>
            </a:r>
            <a:r>
              <a:rPr lang="pt-BR" b="0" i="1" dirty="0" err="1">
                <a:effectLst/>
              </a:rPr>
              <a:t>transfer</a:t>
            </a:r>
            <a:r>
              <a:rPr lang="pt-BR" b="0" i="1" dirty="0">
                <a:effectLst/>
              </a:rPr>
              <a:t> learning </a:t>
            </a:r>
            <a:r>
              <a:rPr lang="pt-BR" b="1" i="1" dirty="0">
                <a:solidFill>
                  <a:srgbClr val="00B050"/>
                </a:solidFill>
                <a:effectLst/>
              </a:rPr>
              <a:t>pode evitar </a:t>
            </a:r>
            <a:r>
              <a:rPr lang="pt-BR" b="0" i="0" dirty="0">
                <a:effectLst/>
              </a:rPr>
              <a:t>que o </a:t>
            </a:r>
            <a:r>
              <a:rPr lang="pt-BR" b="1" i="1" dirty="0">
                <a:solidFill>
                  <a:srgbClr val="00B050"/>
                </a:solidFill>
                <a:effectLst/>
              </a:rPr>
              <a:t>novo modelo sobreajuste</a:t>
            </a:r>
            <a:r>
              <a:rPr lang="pt-BR" b="0" i="0" dirty="0">
                <a:effectLst/>
              </a:rPr>
              <a:t>, pois ele </a:t>
            </a:r>
            <a:r>
              <a:rPr lang="pt-BR" b="1" i="1" dirty="0">
                <a:solidFill>
                  <a:srgbClr val="7030A0"/>
                </a:solidFill>
                <a:effectLst/>
              </a:rPr>
              <a:t>já começa com características relevantes</a:t>
            </a:r>
            <a:r>
              <a:rPr lang="pt-BR" b="0" i="0" dirty="0">
                <a:effectLst/>
              </a:rPr>
              <a:t>.</a:t>
            </a:r>
          </a:p>
          <a:p>
            <a:r>
              <a:rPr lang="pt-BR" b="0" i="0" dirty="0">
                <a:effectLst/>
              </a:rPr>
              <a:t>Como o </a:t>
            </a:r>
            <a:r>
              <a:rPr lang="pt-BR" b="1" i="1" dirty="0">
                <a:solidFill>
                  <a:srgbClr val="00B050"/>
                </a:solidFill>
                <a:effectLst/>
              </a:rPr>
              <a:t>modelo pré-treinado já adquiriu um bom entendimento de características genéricas </a:t>
            </a:r>
            <a:r>
              <a:rPr lang="pt-BR" b="0" i="0" dirty="0">
                <a:effectLst/>
              </a:rPr>
              <a:t>em uma tarefa relacionada, o </a:t>
            </a:r>
            <a:r>
              <a:rPr lang="pt-BR" b="1" i="1" dirty="0">
                <a:solidFill>
                  <a:srgbClr val="7030A0"/>
                </a:solidFill>
                <a:effectLst/>
              </a:rPr>
              <a:t>treinamento do novo modelo pode exigir menos dados </a:t>
            </a:r>
            <a:r>
              <a:rPr lang="pt-BR" b="0" i="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876925" y="1825624"/>
            <a:ext cx="6210301" cy="5032375"/>
          </a:xfrm>
        </p:spPr>
        <p:txBody>
          <a:bodyPr>
            <a:normAutofit/>
          </a:bodyPr>
          <a:lstStyle/>
          <a:p>
            <a:r>
              <a:rPr lang="pt-BR" b="0" i="0" dirty="0">
                <a:effectLst/>
              </a:rPr>
              <a:t>O </a:t>
            </a:r>
            <a:r>
              <a:rPr lang="pt-BR" b="0" i="1" dirty="0" err="1">
                <a:effectLst/>
              </a:rPr>
              <a:t>transfer</a:t>
            </a:r>
            <a:r>
              <a:rPr lang="pt-BR" b="0" i="1" dirty="0">
                <a:effectLst/>
              </a:rPr>
              <a:t> learning </a:t>
            </a:r>
            <a:r>
              <a:rPr lang="pt-BR" b="0" i="0" dirty="0">
                <a:effectLst/>
              </a:rPr>
              <a:t>é particularmente </a:t>
            </a:r>
            <a:r>
              <a:rPr lang="pt-BR" b="1" i="1" dirty="0">
                <a:solidFill>
                  <a:srgbClr val="00B050"/>
                </a:solidFill>
                <a:effectLst/>
              </a:rPr>
              <a:t>útil</a:t>
            </a:r>
            <a:r>
              <a:rPr lang="pt-BR" b="0" i="0" dirty="0">
                <a:effectLst/>
              </a:rPr>
              <a:t> </a:t>
            </a:r>
            <a:r>
              <a:rPr lang="pt-BR" b="1" i="1" dirty="0">
                <a:solidFill>
                  <a:srgbClr val="00B050"/>
                </a:solidFill>
                <a:effectLst/>
              </a:rPr>
              <a:t>quando os dados de treinamento são escassos</a:t>
            </a:r>
            <a:r>
              <a:rPr lang="pt-BR" b="0" i="0" dirty="0">
                <a:effectLst/>
              </a:rPr>
              <a:t>, o que é uma situação </a:t>
            </a:r>
            <a:r>
              <a:rPr lang="pt-BR" b="1" i="1" dirty="0">
                <a:solidFill>
                  <a:srgbClr val="7030A0"/>
                </a:solidFill>
                <a:effectLst/>
              </a:rPr>
              <a:t>propensa ao sobreajuste</a:t>
            </a:r>
            <a:r>
              <a:rPr lang="pt-BR" b="0" i="0" dirty="0">
                <a:effectLst/>
              </a:rPr>
              <a:t>.</a:t>
            </a:r>
          </a:p>
          <a:p>
            <a:r>
              <a:rPr lang="pt-BR" b="0" i="0" dirty="0">
                <a:effectLst/>
              </a:rPr>
              <a:t>Além de requerer menos dados, o </a:t>
            </a:r>
            <a:r>
              <a:rPr lang="pt-BR" b="0" i="1" dirty="0" err="1">
                <a:effectLst/>
              </a:rPr>
              <a:t>transfer</a:t>
            </a:r>
            <a:r>
              <a:rPr lang="pt-BR" b="0" i="1" dirty="0">
                <a:effectLst/>
              </a:rPr>
              <a:t> learning</a:t>
            </a:r>
            <a:r>
              <a:rPr lang="pt-BR" b="0" i="0" dirty="0">
                <a:effectLst/>
              </a:rPr>
              <a:t> </a:t>
            </a:r>
            <a:r>
              <a:rPr lang="pt-BR" b="1" i="1" dirty="0">
                <a:solidFill>
                  <a:srgbClr val="00B050"/>
                </a:solidFill>
                <a:effectLst/>
              </a:rPr>
              <a:t>acelera consideravelmente o treinamento</a:t>
            </a:r>
            <a:r>
              <a:rPr lang="pt-BR" b="0" i="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B82D7-1DC4-AF8C-4F37-8CF5D6CA87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BC96E84-1F80-FA6B-314B-55B42B8BD7BE}"/>
              </a:ext>
            </a:extLst>
          </p:cNvPr>
          <p:cNvSpPr>
            <a:spLocks noGrp="1"/>
          </p:cNvSpPr>
          <p:nvPr>
            <p:ph idx="1"/>
          </p:nvPr>
        </p:nvSpPr>
        <p:spPr/>
        <p:txBody>
          <a:bodyPr>
            <a:normAutofit/>
          </a:bodyPr>
          <a:lstStyle/>
          <a:p>
            <a:r>
              <a:rPr lang="pt-BR" sz="4800" b="1" dirty="0">
                <a:solidFill>
                  <a:srgbClr val="FF0000"/>
                </a:solidFill>
              </a:rPr>
              <a:t>PAREI AQUI!!!!</a:t>
            </a:r>
            <a:endParaRPr lang="en-US" sz="4800" b="1" dirty="0">
              <a:solidFill>
                <a:srgbClr val="FF0000"/>
              </a:solidFill>
            </a:endParaRPr>
          </a:p>
        </p:txBody>
      </p:sp>
    </p:spTree>
    <p:extLst>
      <p:ext uri="{BB962C8B-B14F-4D97-AF65-F5344CB8AC3E}">
        <p14:creationId xmlns:p14="http://schemas.microsoft.com/office/powerpoint/2010/main" val="395528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16363</TotalTime>
  <Words>9031</Words>
  <Application>Microsoft Office PowerPoint</Application>
  <PresentationFormat>Widescreen</PresentationFormat>
  <Paragraphs>1519</Paragraphs>
  <Slides>101</Slides>
  <Notes>44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101</vt:i4>
      </vt:variant>
    </vt:vector>
  </HeadingPairs>
  <TitlesOfParts>
    <vt:vector size="114"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DNNs versus CNNs</vt:lpstr>
      <vt:lpstr>O que vamos ver?</vt:lpstr>
      <vt:lpstr>PowerPoint Presentation</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PowerPoint Presentation</vt:lpstr>
      <vt:lpstr>Redes neurais convolucionais</vt:lpstr>
      <vt:lpstr>Localidade</vt:lpstr>
      <vt:lpstr>Localidade</vt:lpstr>
      <vt:lpstr>Estacionariedade</vt:lpstr>
      <vt:lpstr>Estacionariedade</vt:lpstr>
      <vt:lpstr>Composição hierárquica de padrões</vt:lpstr>
      <vt:lpstr>PowerPoint Presentation</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Camadas densas</vt:lpstr>
      <vt:lpstr>Treinamento de CNNs</vt:lpstr>
      <vt:lpstr>Como evitar o sobreajuste</vt:lpstr>
      <vt:lpstr>Dropout</vt:lpstr>
      <vt:lpstr>Dropout</vt:lpstr>
      <vt:lpstr>Dropout</vt:lpstr>
      <vt:lpstr>Dropout</vt:lpstr>
      <vt:lpstr>PowerPoint Presentation</vt:lpstr>
      <vt:lpstr>Data augmentation</vt:lpstr>
      <vt:lpstr>Data augmentation</vt:lpstr>
      <vt:lpstr>Transfer learning</vt:lpstr>
      <vt:lpstr>Transfer learning</vt:lpstr>
      <vt:lpstr>Transfer learning</vt:lpstr>
      <vt:lpstr>Transfer learning</vt:lpstr>
      <vt:lpstr>Transfer learning</vt:lpstr>
      <vt:lpstr>Transfer learning</vt:lpstr>
      <vt:lpstr>PowerPoint Presentation</vt:lpstr>
      <vt:lpstr>PowerPoint Presentation</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PowerPoint Presentation</vt:lpstr>
      <vt:lpstr>Características imperceptíveis</vt:lpstr>
      <vt:lpstr>Explorando CNNs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2691</cp:revision>
  <dcterms:created xsi:type="dcterms:W3CDTF">2020-01-20T13:50:05Z</dcterms:created>
  <dcterms:modified xsi:type="dcterms:W3CDTF">2026-03-18T20:01:03Z</dcterms:modified>
</cp:coreProperties>
</file>