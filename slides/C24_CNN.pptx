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7"/>
  </p:notesMasterIdLst>
  <p:handoutMasterIdLst>
    <p:handoutMasterId r:id="rId108"/>
  </p:handoutMasterIdLst>
  <p:sldIdLst>
    <p:sldId id="494" r:id="rId2"/>
    <p:sldId id="495" r:id="rId3"/>
    <p:sldId id="406" r:id="rId4"/>
    <p:sldId id="496" r:id="rId5"/>
    <p:sldId id="520" r:id="rId6"/>
    <p:sldId id="442" r:id="rId7"/>
    <p:sldId id="484" r:id="rId8"/>
    <p:sldId id="498" r:id="rId9"/>
    <p:sldId id="492" r:id="rId10"/>
    <p:sldId id="497" r:id="rId11"/>
    <p:sldId id="503" r:id="rId12"/>
    <p:sldId id="485" r:id="rId13"/>
    <p:sldId id="522" r:id="rId14"/>
    <p:sldId id="505" r:id="rId15"/>
    <p:sldId id="507" r:id="rId16"/>
    <p:sldId id="516" r:id="rId17"/>
    <p:sldId id="513" r:id="rId18"/>
    <p:sldId id="517" r:id="rId19"/>
    <p:sldId id="515" r:id="rId20"/>
    <p:sldId id="523" r:id="rId21"/>
    <p:sldId id="509" r:id="rId22"/>
    <p:sldId id="594"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590" r:id="rId39"/>
    <p:sldId id="595" r:id="rId40"/>
    <p:sldId id="488" r:id="rId41"/>
    <p:sldId id="464" r:id="rId42"/>
    <p:sldId id="465" r:id="rId43"/>
    <p:sldId id="437" r:id="rId44"/>
    <p:sldId id="445" r:id="rId45"/>
    <p:sldId id="449" r:id="rId46"/>
    <p:sldId id="450" r:id="rId47"/>
    <p:sldId id="452" r:id="rId48"/>
    <p:sldId id="511" r:id="rId49"/>
    <p:sldId id="455" r:id="rId50"/>
    <p:sldId id="533" r:id="rId51"/>
    <p:sldId id="591" r:id="rId52"/>
    <p:sldId id="460" r:id="rId53"/>
    <p:sldId id="467" r:id="rId54"/>
    <p:sldId id="530" r:id="rId55"/>
    <p:sldId id="531" r:id="rId56"/>
    <p:sldId id="461" r:id="rId57"/>
    <p:sldId id="493" r:id="rId58"/>
    <p:sldId id="462" r:id="rId59"/>
    <p:sldId id="466" r:id="rId60"/>
    <p:sldId id="512" r:id="rId61"/>
    <p:sldId id="538" r:id="rId62"/>
    <p:sldId id="539" r:id="rId63"/>
    <p:sldId id="536" r:id="rId64"/>
    <p:sldId id="558" r:id="rId65"/>
    <p:sldId id="597" r:id="rId66"/>
    <p:sldId id="541" r:id="rId67"/>
    <p:sldId id="440" r:id="rId68"/>
    <p:sldId id="542" r:id="rId69"/>
    <p:sldId id="554" r:id="rId70"/>
    <p:sldId id="543" r:id="rId71"/>
    <p:sldId id="544" r:id="rId72"/>
    <p:sldId id="545" r:id="rId73"/>
    <p:sldId id="593" r:id="rId74"/>
    <p:sldId id="588" r:id="rId75"/>
    <p:sldId id="589" r:id="rId76"/>
    <p:sldId id="293" r:id="rId77"/>
    <p:sldId id="306" r:id="rId78"/>
    <p:sldId id="491" r:id="rId79"/>
    <p:sldId id="547" r:id="rId80"/>
    <p:sldId id="548" r:id="rId81"/>
    <p:sldId id="549" r:id="rId82"/>
    <p:sldId id="550" r:id="rId83"/>
    <p:sldId id="551" r:id="rId84"/>
    <p:sldId id="552" r:id="rId85"/>
    <p:sldId id="599" r:id="rId86"/>
    <p:sldId id="441" r:id="rId87"/>
    <p:sldId id="469" r:id="rId88"/>
    <p:sldId id="470" r:id="rId89"/>
    <p:sldId id="471" r:id="rId90"/>
    <p:sldId id="472" r:id="rId91"/>
    <p:sldId id="475" r:id="rId92"/>
    <p:sldId id="474" r:id="rId93"/>
    <p:sldId id="540" r:id="rId94"/>
    <p:sldId id="478" r:id="rId95"/>
    <p:sldId id="477" r:id="rId96"/>
    <p:sldId id="490" r:id="rId97"/>
    <p:sldId id="438" r:id="rId98"/>
    <p:sldId id="443" r:id="rId99"/>
    <p:sldId id="446" r:id="rId100"/>
    <p:sldId id="447" r:id="rId101"/>
    <p:sldId id="448" r:id="rId102"/>
    <p:sldId id="458" r:id="rId103"/>
    <p:sldId id="459" r:id="rId104"/>
    <p:sldId id="479" r:id="rId105"/>
    <p:sldId id="556" r:id="rId10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79782" autoAdjust="0"/>
  </p:normalViewPr>
  <p:slideViewPr>
    <p:cSldViewPr snapToGrid="0">
      <p:cViewPr varScale="1">
        <p:scale>
          <a:sx n="88" d="100"/>
          <a:sy n="88" d="100"/>
        </p:scale>
        <p:origin x="1794" y="9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ableStyles" Target="tableStyles.xml"/><Relationship Id="rId16" Type="http://schemas.openxmlformats.org/officeDocument/2006/relationships/slide" Target="slides/slide15.xml"/><Relationship Id="rId107" Type="http://schemas.openxmlformats.org/officeDocument/2006/relationships/notesMaster" Target="notesMasters/notesMaster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microsoft.com/office/2016/11/relationships/changesInfo" Target="changesInfos/changesInfo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handoutMaster" Target="handoutMasters/handout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presProps" Target="presProp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15/10/2026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15/10/2026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7319019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partes e objetos completos.</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MLPs </a:t>
            </a:r>
            <a:r>
              <a:rPr lang="en-US" b="1" dirty="0" err="1"/>
              <a:t>não</a:t>
            </a:r>
            <a:r>
              <a:rPr lang="en-US" b="1" dirty="0"/>
              <a:t> </a:t>
            </a:r>
            <a:r>
              <a:rPr lang="en-US" b="1" dirty="0" err="1"/>
              <a:t>exploram</a:t>
            </a:r>
            <a:r>
              <a:rPr lang="en-US" b="1" dirty="0"/>
              <a:t> </a:t>
            </a:r>
            <a:r>
              <a:rPr lang="en-US" b="1" dirty="0" err="1"/>
              <a:t>explicitamente</a:t>
            </a:r>
            <a:r>
              <a:rPr lang="en-US" b="1" dirty="0"/>
              <a:t> à </a:t>
            </a:r>
            <a:r>
              <a:rPr lang="en-US" b="1" dirty="0" err="1"/>
              <a:t>estrutura</a:t>
            </a:r>
            <a:r>
              <a:rPr lang="en-US" b="1" dirty="0"/>
              <a:t> </a:t>
            </a:r>
            <a:r>
              <a:rPr lang="en-US" b="1" dirty="0" err="1"/>
              <a:t>espacial</a:t>
            </a:r>
            <a:r>
              <a:rPr lang="en-US" dirty="0"/>
              <a:t> da </a:t>
            </a:r>
            <a:r>
              <a:rPr lang="en-US" dirty="0" err="1"/>
              <a:t>imagem</a:t>
            </a:r>
            <a:r>
              <a:rPr lang="en-US" dirty="0"/>
              <a:t>.</a:t>
            </a:r>
          </a:p>
          <a:p>
            <a:endParaRPr lang="en-US" dirty="0"/>
          </a:p>
          <a:p>
            <a:r>
              <a:rPr lang="en-US" b="1" dirty="0"/>
              <a:t>MLPs </a:t>
            </a:r>
            <a:r>
              <a:rPr lang="en-US" b="1" dirty="0" err="1"/>
              <a:t>não</a:t>
            </a:r>
            <a:r>
              <a:rPr lang="en-US" b="1" dirty="0"/>
              <a:t> </a:t>
            </a:r>
            <a:r>
              <a:rPr lang="en-US" b="1" dirty="0" err="1"/>
              <a:t>impõe</a:t>
            </a:r>
            <a:r>
              <a:rPr lang="en-US" b="1" dirty="0"/>
              <a:t> </a:t>
            </a:r>
            <a:r>
              <a:rPr lang="en-US" b="1" dirty="0" err="1"/>
              <a:t>que</a:t>
            </a:r>
            <a:r>
              <a:rPr lang="en-US" b="1" dirty="0"/>
              <a:t> pixels </a:t>
            </a:r>
            <a:r>
              <a:rPr lang="en-US" b="1" dirty="0" err="1"/>
              <a:t>próximos</a:t>
            </a:r>
            <a:r>
              <a:rPr lang="en-US" b="1" dirty="0"/>
              <a:t> </a:t>
            </a:r>
            <a:r>
              <a:rPr lang="en-US" b="1" dirty="0" err="1"/>
              <a:t>estejam</a:t>
            </a:r>
            <a:r>
              <a:rPr lang="en-US" b="1" dirty="0"/>
              <a:t> </a:t>
            </a:r>
            <a:r>
              <a:rPr lang="en-US" b="1" dirty="0" err="1"/>
              <a:t>relacionados</a:t>
            </a:r>
            <a:r>
              <a:rPr lang="en-US" b="1" dirty="0"/>
              <a:t> nem </a:t>
            </a:r>
            <a:r>
              <a:rPr lang="en-US" b="1" dirty="0" err="1"/>
              <a:t>que</a:t>
            </a:r>
            <a:r>
              <a:rPr lang="en-US" b="1" dirty="0"/>
              <a:t> o </a:t>
            </a:r>
            <a:r>
              <a:rPr lang="en-US" b="1" dirty="0" err="1"/>
              <a:t>mesmo</a:t>
            </a:r>
            <a:r>
              <a:rPr lang="en-US" b="1" dirty="0"/>
              <a:t> </a:t>
            </a:r>
            <a:r>
              <a:rPr lang="en-US" b="1" dirty="0" err="1"/>
              <a:t>padrão</a:t>
            </a:r>
            <a:r>
              <a:rPr lang="en-US" b="1" dirty="0"/>
              <a:t> </a:t>
            </a:r>
            <a:r>
              <a:rPr lang="en-US" b="1" dirty="0" err="1"/>
              <a:t>seja</a:t>
            </a:r>
            <a:r>
              <a:rPr lang="en-US" b="1" dirty="0"/>
              <a:t> </a:t>
            </a:r>
            <a:r>
              <a:rPr lang="en-US" b="1" dirty="0" err="1"/>
              <a:t>detectado</a:t>
            </a:r>
            <a:r>
              <a:rPr lang="en-US" b="1" dirty="0"/>
              <a:t> </a:t>
            </a:r>
            <a:r>
              <a:rPr lang="en-US" b="1" dirty="0" err="1"/>
              <a:t>independentemente</a:t>
            </a:r>
            <a:r>
              <a:rPr lang="en-US" b="1" dirty="0"/>
              <a:t> da </a:t>
            </a:r>
            <a:r>
              <a:rPr lang="en-US" b="1" dirty="0" err="1"/>
              <a:t>posição</a:t>
            </a:r>
            <a:r>
              <a:rPr lang="en-US" dirty="0"/>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informações próximas umas das outras estão relacionadas. </a:t>
            </a:r>
            <a:endParaRPr lang="pt-BR" b="0" i="0" dirty="0">
              <a:solidFill>
                <a:srgbClr val="404040"/>
              </a:solidFill>
              <a:effectLst/>
              <a:latin typeface="DeepSeek-CJK-patch"/>
            </a:endParaRPr>
          </a:p>
          <a:p>
            <a:endParaRPr lang="pt-BR" b="0" i="0" dirty="0">
              <a:solidFill>
                <a:srgbClr val="404040"/>
              </a:solidFill>
              <a:effectLst/>
              <a:latin typeface="DeepSeek-CJK-patch"/>
            </a:endParaRPr>
          </a:p>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DNNs,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Uma MLP </a:t>
            </a:r>
            <a:r>
              <a:rPr lang="en-US" dirty="0" err="1"/>
              <a:t>que</a:t>
            </a:r>
            <a:r>
              <a:rPr lang="en-US" dirty="0"/>
              <a:t> </a:t>
            </a:r>
            <a:r>
              <a:rPr lang="en-US" dirty="0" err="1"/>
              <a:t>aprendeu</a:t>
            </a:r>
            <a:r>
              <a:rPr lang="en-US" dirty="0"/>
              <a:t> a </a:t>
            </a:r>
            <a:r>
              <a:rPr lang="en-US" dirty="0" err="1"/>
              <a:t>reconhecer</a:t>
            </a:r>
            <a:r>
              <a:rPr lang="en-US" dirty="0"/>
              <a:t> um </a:t>
            </a:r>
            <a:r>
              <a:rPr lang="en-US" dirty="0" err="1"/>
              <a:t>olho</a:t>
            </a:r>
            <a:r>
              <a:rPr lang="en-US" dirty="0"/>
              <a:t> no canto superior </a:t>
            </a:r>
            <a:r>
              <a:rPr lang="en-US" dirty="0" err="1"/>
              <a:t>esquerdo</a:t>
            </a:r>
            <a:r>
              <a:rPr lang="en-US" dirty="0"/>
              <a:t> </a:t>
            </a:r>
            <a:r>
              <a:rPr lang="en-US" dirty="0" err="1"/>
              <a:t>precisa</a:t>
            </a:r>
            <a:r>
              <a:rPr lang="en-US" dirty="0"/>
              <a:t> </a:t>
            </a:r>
            <a:r>
              <a:rPr lang="en-US" dirty="0" err="1"/>
              <a:t>reaprender</a:t>
            </a:r>
            <a:r>
              <a:rPr lang="en-US" dirty="0"/>
              <a:t> o </a:t>
            </a:r>
            <a:r>
              <a:rPr lang="en-US" dirty="0" err="1"/>
              <a:t>mesmo</a:t>
            </a:r>
            <a:r>
              <a:rPr lang="en-US" dirty="0"/>
              <a:t> </a:t>
            </a:r>
            <a:r>
              <a:rPr lang="en-US" dirty="0" err="1"/>
              <a:t>padrão</a:t>
            </a:r>
            <a:r>
              <a:rPr lang="en-US" dirty="0"/>
              <a:t> </a:t>
            </a:r>
            <a:r>
              <a:rPr lang="en-US" dirty="0" err="1"/>
              <a:t>em</a:t>
            </a:r>
            <a:r>
              <a:rPr lang="en-US" dirty="0"/>
              <a:t> </a:t>
            </a:r>
            <a:r>
              <a:rPr lang="en-US" dirty="0" err="1"/>
              <a:t>cada</a:t>
            </a:r>
            <a:r>
              <a:rPr lang="en-US" dirty="0"/>
              <a:t> </a:t>
            </a:r>
            <a:r>
              <a:rPr lang="en-US" dirty="0" err="1"/>
              <a:t>posição</a:t>
            </a:r>
            <a:r>
              <a:rPr lang="en-US" dirty="0"/>
              <a:t>.</a:t>
            </a:r>
          </a:p>
          <a:p>
            <a:endParaRPr lang="en-US" dirty="0"/>
          </a:p>
          <a:p>
            <a:r>
              <a:rPr lang="en-US" dirty="0"/>
              <a:t>A MLP </a:t>
            </a:r>
            <a:r>
              <a:rPr lang="en-US" dirty="0" err="1"/>
              <a:t>precisa</a:t>
            </a:r>
            <a:r>
              <a:rPr lang="en-US" dirty="0"/>
              <a:t> de </a:t>
            </a:r>
            <a:r>
              <a:rPr lang="en-US" dirty="0" err="1"/>
              <a:t>capacidade</a:t>
            </a:r>
            <a:r>
              <a:rPr lang="en-US" dirty="0"/>
              <a:t> extra para </a:t>
            </a:r>
            <a:r>
              <a:rPr lang="en-US" dirty="0" err="1"/>
              <a:t>compensar</a:t>
            </a:r>
            <a:r>
              <a:rPr lang="en-US" dirty="0"/>
              <a:t> o </a:t>
            </a:r>
            <a:r>
              <a:rPr lang="en-US" dirty="0" err="1"/>
              <a:t>que</a:t>
            </a:r>
            <a:r>
              <a:rPr lang="en-US" dirty="0"/>
              <a:t> a CNN </a:t>
            </a:r>
            <a:r>
              <a:rPr lang="en-US" dirty="0" err="1"/>
              <a:t>já</a:t>
            </a:r>
            <a:r>
              <a:rPr lang="en-US" dirty="0"/>
              <a:t> </a:t>
            </a:r>
            <a:r>
              <a:rPr lang="en-US" dirty="0" err="1"/>
              <a:t>tem</a:t>
            </a:r>
            <a:r>
              <a:rPr lang="en-US" dirty="0"/>
              <a:t> </a:t>
            </a:r>
            <a:r>
              <a:rPr lang="en-US" dirty="0" err="1"/>
              <a:t>embutido</a:t>
            </a:r>
            <a:r>
              <a:rPr lang="en-US" dirty="0"/>
              <a:t>: se um </a:t>
            </a:r>
            <a:r>
              <a:rPr lang="en-US" dirty="0" err="1"/>
              <a:t>padrão</a:t>
            </a:r>
            <a:r>
              <a:rPr lang="en-US" dirty="0"/>
              <a:t> </a:t>
            </a:r>
            <a:r>
              <a:rPr lang="en-US" dirty="0" err="1"/>
              <a:t>pode</a:t>
            </a:r>
            <a:r>
              <a:rPr lang="en-US" dirty="0"/>
              <a:t> </a:t>
            </a:r>
            <a:r>
              <a:rPr lang="en-US" dirty="0" err="1"/>
              <a:t>aparecer</a:t>
            </a:r>
            <a:r>
              <a:rPr lang="en-US" dirty="0"/>
              <a:t> </a:t>
            </a:r>
            <a:r>
              <a:rPr lang="en-US" dirty="0" err="1"/>
              <a:t>em</a:t>
            </a:r>
            <a:r>
              <a:rPr lang="en-US" dirty="0"/>
              <a:t> </a:t>
            </a:r>
            <a:r>
              <a:rPr lang="en-US" dirty="0" err="1"/>
              <a:t>várias</a:t>
            </a:r>
            <a:r>
              <a:rPr lang="en-US" dirty="0"/>
              <a:t> </a:t>
            </a:r>
            <a:r>
              <a:rPr lang="en-US" dirty="0" err="1"/>
              <a:t>posições</a:t>
            </a:r>
            <a:r>
              <a:rPr lang="en-US" dirty="0"/>
              <a:t>, a MLP </a:t>
            </a:r>
            <a:r>
              <a:rPr lang="en-US" dirty="0" err="1"/>
              <a:t>precisa</a:t>
            </a:r>
            <a:r>
              <a:rPr lang="en-US" dirty="0"/>
              <a:t> de </a:t>
            </a:r>
            <a:r>
              <a:rPr lang="en-US" dirty="0" err="1"/>
              <a:t>neurônios</a:t>
            </a:r>
            <a:r>
              <a:rPr lang="en-US" dirty="0"/>
              <a:t> </a:t>
            </a:r>
            <a:r>
              <a:rPr lang="en-US" dirty="0" err="1"/>
              <a:t>dedicados</a:t>
            </a:r>
            <a:r>
              <a:rPr lang="en-US" dirty="0"/>
              <a:t> a </a:t>
            </a:r>
            <a:r>
              <a:rPr lang="en-US" dirty="0" err="1"/>
              <a:t>detectá</a:t>
            </a:r>
            <a:r>
              <a:rPr lang="en-US" dirty="0"/>
              <a:t>-lo </a:t>
            </a:r>
            <a:r>
              <a:rPr lang="en-US" dirty="0" err="1"/>
              <a:t>em</a:t>
            </a:r>
            <a:r>
              <a:rPr lang="en-US" dirty="0"/>
              <a:t> </a:t>
            </a:r>
            <a:r>
              <a:rPr lang="en-US" dirty="0" err="1"/>
              <a:t>cada</a:t>
            </a:r>
            <a:r>
              <a:rPr lang="en-US" dirty="0"/>
              <a:t> </a:t>
            </a:r>
            <a:r>
              <a:rPr lang="en-US" dirty="0" err="1"/>
              <a:t>uma</a:t>
            </a:r>
            <a:r>
              <a:rPr lang="en-US" dirty="0"/>
              <a:t> delas.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8748644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buFont typeface="Courier New" panose="02070309020205020404" pitchFamily="49" charset="0"/>
              <a:buNone/>
            </a:pPr>
            <a:r>
              <a:rPr lang="pt-BR" dirty="0"/>
              <a:t>Características simples se unem para criar características mais complexas.</a:t>
            </a:r>
          </a:p>
          <a:p>
            <a:pPr lvl="0">
              <a:buFont typeface="Courier New" panose="02070309020205020404" pitchFamily="49" charset="0"/>
              <a:buNone/>
            </a:pPr>
            <a:r>
              <a:rPr lang="pt-BR" dirty="0"/>
              <a:t>Por exemplo, bordas, linhas e cantos formam contornos e texturas, que formam partes elementares de objetos e, que por sua vez, formam objetos completos.</a:t>
            </a:r>
          </a:p>
          <a:p>
            <a:pPr lvl="0">
              <a:buFont typeface="Courier New" panose="02070309020205020404" pitchFamily="49" charset="0"/>
              <a:buNone/>
            </a:pP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171450" lvl="0" indent="-171450">
              <a:buFont typeface="Arial" panose="020B0604020202020204" pitchFamily="34" charset="0"/>
              <a:buChar char="•"/>
            </a:pPr>
            <a:r>
              <a:rPr lang="pt-BR" b="0" dirty="0"/>
              <a:t>Localidade espacial: pixels próximos são correlacionados</a:t>
            </a:r>
          </a:p>
          <a:p>
            <a:pPr marL="171450" lvl="0" indent="-171450">
              <a:buFont typeface="Arial" panose="020B0604020202020204" pitchFamily="34" charset="0"/>
              <a:buChar char="•"/>
            </a:pPr>
            <a:r>
              <a:rPr lang="pt-BR" b="0" dirty="0" err="1"/>
              <a:t>Estacionariedade</a:t>
            </a:r>
            <a:r>
              <a:rPr lang="pt-BR" b="0" dirty="0"/>
              <a:t>: o mesmo padrão pode se repetir em outras posições da imagem</a:t>
            </a:r>
          </a:p>
          <a:p>
            <a:pPr marL="171450" lvl="0" indent="-171450">
              <a:buFont typeface="Arial" panose="020B0604020202020204" pitchFamily="34" charset="0"/>
              <a:buChar char="•"/>
            </a:pPr>
            <a:r>
              <a:rPr lang="pt-BR" b="0" dirty="0"/>
              <a:t>Composição hierárquica de padrões: </a:t>
            </a:r>
            <a:r>
              <a:rPr lang="pt-BR" dirty="0"/>
              <a:t>Padrões simples formam padrões mais complexos</a:t>
            </a:r>
          </a:p>
          <a:p>
            <a:pPr marL="171450" lvl="0" indent="-171450">
              <a:buFont typeface="Arial" panose="020B0604020202020204" pitchFamily="34" charset="0"/>
              <a:buChar char="•"/>
            </a:pPr>
            <a:endParaRPr lang="pt-BR" b="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err="1"/>
              <a:t>Eficiência</a:t>
            </a:r>
            <a:r>
              <a:rPr lang="en-US" b="1" dirty="0"/>
              <a:t> de </a:t>
            </a:r>
            <a:r>
              <a:rPr lang="en-US" b="1" dirty="0" err="1"/>
              <a:t>parâmetros</a:t>
            </a:r>
            <a:r>
              <a:rPr lang="en-US" b="1" dirty="0"/>
              <a:t>:</a:t>
            </a:r>
            <a:r>
              <a:rPr lang="en-US" dirty="0"/>
              <a:t> </a:t>
            </a:r>
            <a:r>
              <a:rPr lang="en-US" dirty="0" err="1"/>
              <a:t>uma</a:t>
            </a:r>
            <a:r>
              <a:rPr lang="en-US" dirty="0"/>
              <a:t> </a:t>
            </a:r>
            <a:r>
              <a:rPr lang="en-US" dirty="0" err="1"/>
              <a:t>camada</a:t>
            </a:r>
            <a:r>
              <a:rPr lang="en-US" dirty="0"/>
              <a:t> </a:t>
            </a:r>
            <a:r>
              <a:rPr lang="en-US" dirty="0" err="1"/>
              <a:t>convolucional</a:t>
            </a:r>
            <a:r>
              <a:rPr lang="en-US" dirty="0"/>
              <a:t> </a:t>
            </a:r>
            <a:r>
              <a:rPr lang="en-US" dirty="0" err="1"/>
              <a:t>tem</a:t>
            </a:r>
            <a:r>
              <a:rPr lang="en-US" dirty="0"/>
              <a:t> </a:t>
            </a:r>
            <a:r>
              <a:rPr lang="en-US" dirty="0" err="1"/>
              <a:t>muito</a:t>
            </a:r>
            <a:r>
              <a:rPr lang="en-US" dirty="0"/>
              <a:t> </a:t>
            </a:r>
            <a:r>
              <a:rPr lang="en-US" dirty="0" err="1"/>
              <a:t>menos</a:t>
            </a:r>
            <a:r>
              <a:rPr lang="en-US" dirty="0"/>
              <a:t> pesos </a:t>
            </a:r>
            <a:r>
              <a:rPr lang="en-US" dirty="0" err="1"/>
              <a:t>que</a:t>
            </a:r>
            <a:r>
              <a:rPr lang="en-US" dirty="0"/>
              <a:t> </a:t>
            </a:r>
            <a:r>
              <a:rPr lang="en-US" dirty="0" err="1"/>
              <a:t>uma</a:t>
            </a:r>
            <a:r>
              <a:rPr lang="en-US" dirty="0"/>
              <a:t> </a:t>
            </a:r>
            <a:r>
              <a:rPr lang="en-US" dirty="0" err="1"/>
              <a:t>densa</a:t>
            </a:r>
            <a:r>
              <a:rPr lang="en-US" dirty="0"/>
              <a:t> </a:t>
            </a:r>
            <a:r>
              <a:rPr lang="en-US" dirty="0" err="1"/>
              <a:t>equivalente</a:t>
            </a:r>
            <a:r>
              <a:rPr lang="en-US" dirty="0"/>
              <a:t>.</a:t>
            </a:r>
            <a:endParaRPr lang="pt-BR" dirty="0"/>
          </a:p>
          <a:p>
            <a:pPr marL="0" lvl="0" indent="0">
              <a:buFont typeface="Arial" panose="020B0604020202020204" pitchFamily="34" charset="0"/>
              <a:buNone/>
            </a:pPr>
            <a:endParaRPr lang="pt-BR" b="0"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Eficiência</a:t>
            </a:r>
            <a:r>
              <a:rPr lang="en-US" b="1" dirty="0"/>
              <a:t> de </a:t>
            </a:r>
            <a:r>
              <a:rPr lang="en-US" b="1" dirty="0" err="1"/>
              <a:t>parâmetros</a:t>
            </a:r>
            <a:r>
              <a:rPr lang="en-US" b="1" dirty="0"/>
              <a:t>:</a:t>
            </a:r>
            <a:r>
              <a:rPr lang="en-US" dirty="0"/>
              <a:t> </a:t>
            </a:r>
            <a:r>
              <a:rPr lang="en-US" dirty="0" err="1"/>
              <a:t>uma</a:t>
            </a:r>
            <a:r>
              <a:rPr lang="en-US" dirty="0"/>
              <a:t> </a:t>
            </a:r>
            <a:r>
              <a:rPr lang="en-US" dirty="0" err="1"/>
              <a:t>camada</a:t>
            </a:r>
            <a:r>
              <a:rPr lang="en-US" dirty="0"/>
              <a:t> </a:t>
            </a:r>
            <a:r>
              <a:rPr lang="en-US" dirty="0" err="1"/>
              <a:t>convolucional</a:t>
            </a:r>
            <a:r>
              <a:rPr lang="en-US" dirty="0"/>
              <a:t> </a:t>
            </a:r>
            <a:r>
              <a:rPr lang="en-US" dirty="0" err="1"/>
              <a:t>tem</a:t>
            </a:r>
            <a:r>
              <a:rPr lang="en-US" dirty="0"/>
              <a:t> </a:t>
            </a:r>
            <a:r>
              <a:rPr lang="en-US" dirty="0" err="1"/>
              <a:t>muito</a:t>
            </a:r>
            <a:r>
              <a:rPr lang="en-US" dirty="0"/>
              <a:t> </a:t>
            </a:r>
            <a:r>
              <a:rPr lang="en-US" dirty="0" err="1"/>
              <a:t>menos</a:t>
            </a:r>
            <a:r>
              <a:rPr lang="en-US" dirty="0"/>
              <a:t> pesos </a:t>
            </a:r>
            <a:r>
              <a:rPr lang="en-US" dirty="0" err="1"/>
              <a:t>que</a:t>
            </a:r>
            <a:r>
              <a:rPr lang="en-US" dirty="0"/>
              <a:t> </a:t>
            </a:r>
            <a:r>
              <a:rPr lang="en-US" dirty="0" err="1"/>
              <a:t>uma</a:t>
            </a:r>
            <a:r>
              <a:rPr lang="en-US" dirty="0"/>
              <a:t> </a:t>
            </a:r>
            <a:r>
              <a:rPr lang="en-US" dirty="0" err="1"/>
              <a:t>densa</a:t>
            </a:r>
            <a:r>
              <a:rPr lang="en-US" dirty="0"/>
              <a:t> </a:t>
            </a:r>
            <a:r>
              <a:rPr lang="en-US" dirty="0" err="1"/>
              <a:t>equivalente</a:t>
            </a:r>
            <a:r>
              <a:rPr lang="en-US" dirty="0"/>
              <a:t>.</a:t>
            </a:r>
            <a:endParaRPr lang="pt-BR"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3118636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noProof="0" dirty="0"/>
              <a:t>As camadas densas c</a:t>
            </a:r>
            <a:r>
              <a:rPr lang="pt-BR" baseline="0" noProof="0" dirty="0"/>
              <a:t>ombinam as características de alto nível detectadas </a:t>
            </a:r>
            <a:r>
              <a:rPr lang="pt-BR" noProof="0" dirty="0"/>
              <a:t>para produzir a saída final,</a:t>
            </a:r>
            <a:r>
              <a:rPr lang="pt-BR" baseline="0" noProof="0" dirty="0"/>
              <a:t> ou seja, em uma classe a que pertence uma imagem de entrada.</a:t>
            </a:r>
            <a:endParaRPr lang="pt-BR" noProof="0" dirty="0"/>
          </a:p>
          <a:p>
            <a:endParaRPr lang="pt-BR" baseline="0" noProof="0" dirty="0"/>
          </a:p>
          <a:p>
            <a:r>
              <a:rPr lang="pt-BR" baseline="0" noProof="0" dirty="0"/>
              <a:t>Na entrada das camadas densas temos informação semântica e não mais espacial.</a:t>
            </a:r>
          </a:p>
          <a:p>
            <a:endParaRPr lang="pt-BR" baseline="0" noProof="0" dirty="0"/>
          </a:p>
          <a:p>
            <a:r>
              <a:rPr lang="pt-BR" noProof="0" dirty="0"/>
              <a:t>A pergunta que os mapas de características na entrada das camadas densas respondem deixa de ser "onde há uma borda?" e passa a ser "o que há na imagem?".</a:t>
            </a:r>
          </a:p>
          <a:p>
            <a:endParaRPr lang="pt-BR" noProof="0" dirty="0"/>
          </a:p>
          <a:p>
            <a:r>
              <a:rPr lang="pt-BR" noProof="0" dirty="0"/>
              <a:t>As camadas densas só precisam combinar as características ("tem pelo, tem focinho, tem orelha pontuda → gato"), e isso é um problema de combinação de atributos, não de geometria.</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5125763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32498784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u="none" strike="noStrike" kern="1200" dirty="0">
                <a:solidFill>
                  <a:schemeClr val="tx1"/>
                </a:solidFill>
                <a:effectLst/>
                <a:latin typeface="+mn-lt"/>
                <a:ea typeface="+mn-ea"/>
                <a:cs typeface="+mn-cs"/>
              </a:rPr>
              <a:t>O </a:t>
            </a:r>
            <a:r>
              <a:rPr lang="en-US" sz="1200" b="0" u="none" strike="noStrike" kern="1200" dirty="0" err="1">
                <a:solidFill>
                  <a:schemeClr val="tx1"/>
                </a:solidFill>
                <a:effectLst/>
                <a:latin typeface="+mn-lt"/>
                <a:ea typeface="+mn-ea"/>
                <a:cs typeface="+mn-cs"/>
              </a:rPr>
              <a:t>córtex</a:t>
            </a:r>
            <a:r>
              <a:rPr lang="en-US" sz="1200" b="0" u="none" strike="noStrike" kern="1200" dirty="0">
                <a:solidFill>
                  <a:schemeClr val="tx1"/>
                </a:solidFill>
                <a:effectLst/>
                <a:latin typeface="+mn-lt"/>
                <a:ea typeface="+mn-ea"/>
                <a:cs typeface="+mn-cs"/>
              </a:rPr>
              <a:t> cerebral </a:t>
            </a:r>
            <a:r>
              <a:rPr lang="en-US" dirty="0"/>
              <a:t>é a </a:t>
            </a:r>
            <a:r>
              <a:rPr lang="en-US" dirty="0" err="1"/>
              <a:t>camada</a:t>
            </a:r>
            <a:r>
              <a:rPr lang="en-US" dirty="0"/>
              <a:t> </a:t>
            </a:r>
            <a:r>
              <a:rPr lang="en-US" dirty="0" err="1"/>
              <a:t>mais</a:t>
            </a:r>
            <a:r>
              <a:rPr lang="en-US" dirty="0"/>
              <a:t> externa do </a:t>
            </a:r>
            <a:r>
              <a:rPr lang="en-US" dirty="0" err="1"/>
              <a:t>cérebro</a:t>
            </a:r>
            <a:endParaRPr lang="pt-BR" b="0" i="0" dirty="0">
              <a:solidFill>
                <a:srgbClr val="BDC1C6"/>
              </a:solidFill>
              <a:effectLst/>
              <a:latin typeface="Google Sans"/>
            </a:endParaRP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1584955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informação ao longo das camadas do córtex deixa de ser “onde está tal padrão” (informação espacial) para “o que está contido” (informação semântica) no que é visto.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CNNs,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1" dirty="0"/>
              <a:t>i </a:t>
            </a:r>
            <a:r>
              <a:rPr lang="en-US" dirty="0" err="1"/>
              <a:t>Índice</a:t>
            </a:r>
            <a:r>
              <a:rPr lang="en-US" dirty="0"/>
              <a:t> da </a:t>
            </a:r>
            <a:r>
              <a:rPr lang="en-US" b="1" dirty="0" err="1"/>
              <a:t>linha</a:t>
            </a:r>
            <a:r>
              <a:rPr lang="en-US" dirty="0"/>
              <a:t> </a:t>
            </a:r>
            <a:r>
              <a:rPr lang="en-US" dirty="0" err="1"/>
              <a:t>na</a:t>
            </a:r>
            <a:r>
              <a:rPr lang="en-US" dirty="0"/>
              <a:t> </a:t>
            </a:r>
            <a:r>
              <a:rPr lang="en-US" dirty="0" err="1"/>
              <a:t>saída</a:t>
            </a:r>
            <a:r>
              <a:rPr lang="en-US" dirty="0"/>
              <a:t> (e </a:t>
            </a:r>
            <a:r>
              <a:rPr lang="en-US" dirty="0" err="1"/>
              <a:t>posição</a:t>
            </a:r>
            <a:r>
              <a:rPr lang="en-US" dirty="0"/>
              <a:t> vertical </a:t>
            </a:r>
            <a:r>
              <a:rPr lang="en-US" dirty="0" err="1"/>
              <a:t>inicial</a:t>
            </a:r>
            <a:r>
              <a:rPr lang="en-US" dirty="0"/>
              <a:t> da </a:t>
            </a:r>
            <a:r>
              <a:rPr lang="en-US" dirty="0" err="1"/>
              <a:t>janela</a:t>
            </a:r>
            <a:r>
              <a:rPr lang="en-US" dirty="0"/>
              <a:t> </a:t>
            </a:r>
            <a:r>
              <a:rPr lang="en-US" dirty="0" err="1"/>
              <a:t>na</a:t>
            </a:r>
            <a:r>
              <a:rPr lang="en-US" dirty="0"/>
              <a:t> entrada)</a:t>
            </a:r>
          </a:p>
          <a:p>
            <a:r>
              <a:rPr lang="en-US" b="1" dirty="0"/>
              <a:t>j </a:t>
            </a:r>
            <a:r>
              <a:rPr lang="en-US" dirty="0" err="1"/>
              <a:t>Índice</a:t>
            </a:r>
            <a:r>
              <a:rPr lang="en-US" dirty="0"/>
              <a:t> da </a:t>
            </a:r>
            <a:r>
              <a:rPr lang="en-US" b="1" dirty="0" err="1"/>
              <a:t>coluna</a:t>
            </a:r>
            <a:r>
              <a:rPr lang="en-US" dirty="0"/>
              <a:t> </a:t>
            </a:r>
            <a:r>
              <a:rPr lang="en-US" dirty="0" err="1"/>
              <a:t>na</a:t>
            </a:r>
            <a:r>
              <a:rPr lang="en-US" dirty="0"/>
              <a:t> </a:t>
            </a:r>
            <a:r>
              <a:rPr lang="en-US" dirty="0" err="1"/>
              <a:t>saída</a:t>
            </a:r>
            <a:r>
              <a:rPr lang="en-US" dirty="0"/>
              <a:t> (e </a:t>
            </a:r>
            <a:r>
              <a:rPr lang="en-US" dirty="0" err="1"/>
              <a:t>posição</a:t>
            </a:r>
            <a:r>
              <a:rPr lang="en-US" dirty="0"/>
              <a:t> horizontal </a:t>
            </a:r>
            <a:r>
              <a:rPr lang="en-US" dirty="0" err="1"/>
              <a:t>inicial</a:t>
            </a:r>
            <a:r>
              <a:rPr lang="en-US" dirty="0"/>
              <a:t> da </a:t>
            </a:r>
            <a:r>
              <a:rPr lang="en-US" dirty="0" err="1"/>
              <a:t>janela</a:t>
            </a:r>
            <a:r>
              <a:rPr lang="en-US" dirty="0"/>
              <a:t> </a:t>
            </a:r>
            <a:r>
              <a:rPr lang="en-US" dirty="0" err="1"/>
              <a:t>na</a:t>
            </a:r>
            <a:r>
              <a:rPr lang="en-US" dirty="0"/>
              <a:t> entrada)</a:t>
            </a:r>
          </a:p>
          <a:p>
            <a:r>
              <a:rPr lang="en-US" b="1" dirty="0"/>
              <a:t>m </a:t>
            </a:r>
            <a:r>
              <a:rPr lang="en-US" dirty="0" err="1"/>
              <a:t>Índice</a:t>
            </a:r>
            <a:r>
              <a:rPr lang="en-US" dirty="0"/>
              <a:t> da </a:t>
            </a:r>
            <a:r>
              <a:rPr lang="en-US" b="1" dirty="0" err="1"/>
              <a:t>linha</a:t>
            </a:r>
            <a:r>
              <a:rPr lang="en-US" b="1" dirty="0"/>
              <a:t> </a:t>
            </a:r>
            <a:r>
              <a:rPr lang="en-US" b="1" dirty="0" err="1"/>
              <a:t>dentro</a:t>
            </a:r>
            <a:r>
              <a:rPr lang="en-US" b="1" dirty="0"/>
              <a:t> do kernel</a:t>
            </a:r>
            <a:r>
              <a:rPr lang="en-US" dirty="0"/>
              <a:t> (</a:t>
            </a:r>
            <a:r>
              <a:rPr lang="en-US" dirty="0" err="1"/>
              <a:t>deslocamento</a:t>
            </a:r>
            <a:r>
              <a:rPr lang="en-US" dirty="0"/>
              <a:t> vertical a </a:t>
            </a:r>
            <a:r>
              <a:rPr lang="en-US" dirty="0" err="1"/>
              <a:t>partir</a:t>
            </a:r>
            <a:r>
              <a:rPr lang="en-US" dirty="0"/>
              <a:t> de </a:t>
            </a:r>
            <a:r>
              <a:rPr lang="en-US" dirty="0" err="1"/>
              <a:t>i</a:t>
            </a:r>
            <a:r>
              <a:rPr lang="en-US" dirty="0"/>
              <a:t>)</a:t>
            </a:r>
          </a:p>
          <a:p>
            <a:r>
              <a:rPr lang="en-US" b="1" dirty="0"/>
              <a:t>n </a:t>
            </a:r>
            <a:r>
              <a:rPr lang="en-US" dirty="0" err="1"/>
              <a:t>Índice</a:t>
            </a:r>
            <a:r>
              <a:rPr lang="en-US" dirty="0"/>
              <a:t> da </a:t>
            </a:r>
            <a:r>
              <a:rPr lang="en-US" b="1" dirty="0" err="1"/>
              <a:t>coluna</a:t>
            </a:r>
            <a:r>
              <a:rPr lang="en-US" b="1" dirty="0"/>
              <a:t> </a:t>
            </a:r>
            <a:r>
              <a:rPr lang="en-US" b="1" dirty="0" err="1"/>
              <a:t>dentro</a:t>
            </a:r>
            <a:r>
              <a:rPr lang="en-US" b="1" dirty="0"/>
              <a:t> do kernel</a:t>
            </a:r>
            <a:r>
              <a:rPr lang="en-US" dirty="0"/>
              <a:t> (</a:t>
            </a:r>
            <a:r>
              <a:rPr lang="en-US" dirty="0" err="1"/>
              <a:t>deslocamento</a:t>
            </a:r>
            <a:r>
              <a:rPr lang="en-US" dirty="0"/>
              <a:t> horizontal a </a:t>
            </a:r>
            <a:r>
              <a:rPr lang="en-US" dirty="0" err="1"/>
              <a:t>partir</a:t>
            </a:r>
            <a:r>
              <a:rPr lang="en-US" dirty="0"/>
              <a:t> de j)</a:t>
            </a:r>
          </a:p>
          <a:p>
            <a:pPr rtl="0"/>
            <a:endParaRPr lang="en-US" b="1" dirty="0"/>
          </a:p>
          <a:p>
            <a:pPr rtl="0"/>
            <a:endParaRPr lang="en-US" b="1" dirty="0"/>
          </a:p>
          <a:p>
            <a:pPr rtl="0"/>
            <a:r>
              <a:rPr lang="en-US" b="1" dirty="0"/>
              <a:t>Como </a:t>
            </a:r>
            <a:r>
              <a:rPr lang="en-US" b="1" dirty="0" err="1"/>
              <a:t>os</a:t>
            </a:r>
            <a:r>
              <a:rPr lang="en-US" b="1" dirty="0"/>
              <a:t> </a:t>
            </a:r>
            <a:r>
              <a:rPr lang="en-US" b="1" dirty="0" err="1"/>
              <a:t>índices</a:t>
            </a:r>
            <a:r>
              <a:rPr lang="en-US" b="1" dirty="0"/>
              <a:t> se </a:t>
            </a:r>
            <a:r>
              <a:rPr lang="en-US" b="1" dirty="0" err="1"/>
              <a:t>relacionam</a:t>
            </a:r>
            <a:endParaRPr lang="en-US" b="1" dirty="0"/>
          </a:p>
          <a:p>
            <a:pPr lvl="0" rtl="0"/>
            <a:r>
              <a:rPr lang="en-US" b="1" dirty="0"/>
              <a:t>O par (</a:t>
            </a:r>
            <a:r>
              <a:rPr lang="en-US" b="1" dirty="0" err="1"/>
              <a:t>i</a:t>
            </a:r>
            <a:r>
              <a:rPr lang="en-US" b="1" dirty="0"/>
              <a:t>, j)</a:t>
            </a:r>
            <a:r>
              <a:rPr lang="en-US" dirty="0"/>
              <a:t> </a:t>
            </a:r>
            <a:r>
              <a:rPr lang="en-US" dirty="0" err="1"/>
              <a:t>diz</a:t>
            </a:r>
            <a:r>
              <a:rPr lang="en-US" dirty="0"/>
              <a:t> </a:t>
            </a:r>
            <a:r>
              <a:rPr lang="en-US" i="1" dirty="0" err="1"/>
              <a:t>onde</a:t>
            </a:r>
            <a:r>
              <a:rPr lang="en-US" dirty="0"/>
              <a:t> a </a:t>
            </a:r>
            <a:r>
              <a:rPr lang="en-US" dirty="0" err="1"/>
              <a:t>janela</a:t>
            </a:r>
            <a:r>
              <a:rPr lang="en-US" dirty="0"/>
              <a:t> </a:t>
            </a:r>
            <a:r>
              <a:rPr lang="en-US" dirty="0" err="1"/>
              <a:t>está</a:t>
            </a:r>
            <a:r>
              <a:rPr lang="en-US" dirty="0"/>
              <a:t> </a:t>
            </a:r>
            <a:r>
              <a:rPr lang="en-US" dirty="0" err="1"/>
              <a:t>posicionada</a:t>
            </a:r>
            <a:r>
              <a:rPr lang="en-US" dirty="0"/>
              <a:t> </a:t>
            </a:r>
            <a:r>
              <a:rPr lang="en-US" dirty="0" err="1"/>
              <a:t>na</a:t>
            </a:r>
            <a:r>
              <a:rPr lang="en-US" dirty="0"/>
              <a:t> entrada, e </a:t>
            </a:r>
            <a:r>
              <a:rPr lang="en-US" dirty="0" err="1"/>
              <a:t>também</a:t>
            </a:r>
            <a:r>
              <a:rPr lang="en-US" dirty="0"/>
              <a:t> </a:t>
            </a:r>
            <a:r>
              <a:rPr lang="en-US" i="1" dirty="0" err="1"/>
              <a:t>onde</a:t>
            </a:r>
            <a:r>
              <a:rPr lang="en-US" dirty="0"/>
              <a:t> o </a:t>
            </a:r>
            <a:r>
              <a:rPr lang="en-US" dirty="0" err="1"/>
              <a:t>resultado</a:t>
            </a:r>
            <a:r>
              <a:rPr lang="en-US" dirty="0"/>
              <a:t> </a:t>
            </a:r>
            <a:r>
              <a:rPr lang="en-US" dirty="0" err="1"/>
              <a:t>será</a:t>
            </a:r>
            <a:r>
              <a:rPr lang="en-US" dirty="0"/>
              <a:t> </a:t>
            </a:r>
            <a:r>
              <a:rPr lang="en-US" dirty="0" err="1"/>
              <a:t>armazenado</a:t>
            </a:r>
            <a:r>
              <a:rPr lang="en-US" dirty="0"/>
              <a:t> </a:t>
            </a:r>
            <a:r>
              <a:rPr lang="en-US" dirty="0" err="1"/>
              <a:t>na</a:t>
            </a:r>
            <a:r>
              <a:rPr lang="en-US" dirty="0"/>
              <a:t> </a:t>
            </a:r>
            <a:r>
              <a:rPr lang="en-US" dirty="0" err="1"/>
              <a:t>saída</a:t>
            </a:r>
            <a:r>
              <a:rPr lang="en-US" dirty="0"/>
              <a:t>.</a:t>
            </a:r>
          </a:p>
          <a:p>
            <a:pPr lvl="0" rtl="0"/>
            <a:r>
              <a:rPr lang="en-US" b="1" dirty="0"/>
              <a:t>O par (m, n)</a:t>
            </a:r>
            <a:r>
              <a:rPr lang="en-US" dirty="0"/>
              <a:t> </a:t>
            </a:r>
            <a:r>
              <a:rPr lang="en-US" dirty="0" err="1"/>
              <a:t>percorre</a:t>
            </a:r>
            <a:r>
              <a:rPr lang="en-US" dirty="0"/>
              <a:t> </a:t>
            </a:r>
            <a:r>
              <a:rPr lang="en-US" i="1" dirty="0" err="1"/>
              <a:t>dentro</a:t>
            </a:r>
            <a:r>
              <a:rPr lang="en-US" dirty="0"/>
              <a:t> do kernel. Para o kernel 2×2 do </a:t>
            </a:r>
            <a:r>
              <a:rPr lang="en-US" dirty="0" err="1"/>
              <a:t>exemplo</a:t>
            </a:r>
            <a:r>
              <a:rPr lang="en-US" dirty="0"/>
              <a:t>, m ∈ {0, 1} e n ∈ {0, 1}.</a:t>
            </a:r>
          </a:p>
          <a:p>
            <a:pPr lvl="0" rtl="0"/>
            <a:r>
              <a:rPr lang="en-US" b="1" dirty="0"/>
              <a:t>I(</a:t>
            </a:r>
            <a:r>
              <a:rPr lang="en-US" b="1" dirty="0" err="1"/>
              <a:t>i+m</a:t>
            </a:r>
            <a:r>
              <a:rPr lang="en-US" b="1" dirty="0"/>
              <a:t>, </a:t>
            </a:r>
            <a:r>
              <a:rPr lang="en-US" b="1" dirty="0" err="1"/>
              <a:t>j+n</a:t>
            </a:r>
            <a:r>
              <a:rPr lang="en-US" b="1" dirty="0"/>
              <a:t>)</a:t>
            </a:r>
            <a:r>
              <a:rPr lang="en-US" dirty="0"/>
              <a:t> é, </a:t>
            </a:r>
            <a:r>
              <a:rPr lang="en-US" dirty="0" err="1"/>
              <a:t>portanto</a:t>
            </a:r>
            <a:r>
              <a:rPr lang="en-US" dirty="0"/>
              <a:t>, o pixel da entrada </a:t>
            </a:r>
            <a:r>
              <a:rPr lang="en-US" dirty="0" err="1"/>
              <a:t>que</a:t>
            </a:r>
            <a:r>
              <a:rPr lang="en-US" dirty="0"/>
              <a:t> </a:t>
            </a:r>
            <a:r>
              <a:rPr lang="en-US" dirty="0" err="1"/>
              <a:t>fica</a:t>
            </a:r>
            <a:r>
              <a:rPr lang="en-US" dirty="0"/>
              <a:t> sob a </a:t>
            </a:r>
            <a:r>
              <a:rPr lang="en-US" dirty="0" err="1"/>
              <a:t>posição</a:t>
            </a:r>
            <a:r>
              <a:rPr lang="en-US" dirty="0"/>
              <a:t> (m, n) do kernel </a:t>
            </a:r>
            <a:r>
              <a:rPr lang="en-US" dirty="0" err="1"/>
              <a:t>quando</a:t>
            </a:r>
            <a:r>
              <a:rPr lang="en-US" dirty="0"/>
              <a:t> a </a:t>
            </a:r>
            <a:r>
              <a:rPr lang="en-US" dirty="0" err="1"/>
              <a:t>janela</a:t>
            </a:r>
            <a:r>
              <a:rPr lang="en-US" dirty="0"/>
              <a:t> </a:t>
            </a:r>
            <a:r>
              <a:rPr lang="en-US" dirty="0" err="1"/>
              <a:t>está</a:t>
            </a:r>
            <a:r>
              <a:rPr lang="en-US" dirty="0"/>
              <a:t> </a:t>
            </a:r>
            <a:r>
              <a:rPr lang="en-US" dirty="0" err="1"/>
              <a:t>em</a:t>
            </a:r>
            <a:r>
              <a:rPr lang="en-US" dirty="0"/>
              <a:t> (</a:t>
            </a:r>
            <a:r>
              <a:rPr lang="en-US" dirty="0" err="1"/>
              <a:t>i</a:t>
            </a:r>
            <a:r>
              <a:rPr lang="en-US" dirty="0"/>
              <a:t>, j).</a:t>
            </a:r>
          </a:p>
          <a:p>
            <a:endParaRPr lang="pt-BR" dirty="0"/>
          </a:p>
          <a:p>
            <a:endParaRPr lang="pt-BR" dirty="0"/>
          </a:p>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000000"/>
                </a:solidFill>
                <a:effectLst/>
                <a:latin typeface="Roboto" panose="02000000000000000000" pitchFamily="2" charset="0"/>
              </a:rPr>
              <a:t>Uma ativação alta significa que uma determinada característica foi encontrada.</a:t>
            </a:r>
            <a:endParaRPr lang="en-US" b="0" i="0" dirty="0">
              <a:solidFill>
                <a:srgbClr val="000000"/>
              </a:solidFill>
              <a:effectLst/>
              <a:latin typeface="Roboto" panose="02000000000000000000" pitchFamily="2" charset="0"/>
            </a:endParaRPr>
          </a:p>
          <a:p>
            <a:endParaRPr lang="en-US" b="0" i="0" dirty="0">
              <a:solidFill>
                <a:srgbClr val="000000"/>
              </a:solidFill>
              <a:effectLst/>
              <a:latin typeface="Roboto" panose="02000000000000000000" pitchFamily="2" charset="0"/>
            </a:endParaRPr>
          </a:p>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rtl="0"/>
            <a:r>
              <a:rPr lang="en-US" b="1" dirty="0"/>
              <a:t>Stride </a:t>
            </a:r>
            <a:r>
              <a:rPr lang="en-US" b="1" dirty="0" err="1"/>
              <a:t>pequeno</a:t>
            </a:r>
            <a:r>
              <a:rPr lang="en-US" b="1" dirty="0"/>
              <a:t>:</a:t>
            </a:r>
            <a:r>
              <a:rPr lang="en-US" dirty="0"/>
              <a:t> o kernel é </a:t>
            </a:r>
            <a:r>
              <a:rPr lang="en-US" dirty="0" err="1"/>
              <a:t>avaliado</a:t>
            </a:r>
            <a:r>
              <a:rPr lang="en-US" dirty="0"/>
              <a:t> </a:t>
            </a:r>
            <a:r>
              <a:rPr lang="en-US" dirty="0" err="1"/>
              <a:t>em</a:t>
            </a:r>
            <a:r>
              <a:rPr lang="en-US" dirty="0"/>
              <a:t> </a:t>
            </a:r>
            <a:r>
              <a:rPr lang="en-US" dirty="0" err="1"/>
              <a:t>muitas</a:t>
            </a:r>
            <a:r>
              <a:rPr lang="en-US" dirty="0"/>
              <a:t> </a:t>
            </a:r>
            <a:r>
              <a:rPr lang="en-US" dirty="0" err="1"/>
              <a:t>posições</a:t>
            </a:r>
            <a:r>
              <a:rPr lang="en-US" dirty="0"/>
              <a:t>, com grande </a:t>
            </a:r>
            <a:r>
              <a:rPr lang="en-US" dirty="0" err="1"/>
              <a:t>sobreposição</a:t>
            </a:r>
            <a:r>
              <a:rPr lang="en-US" dirty="0"/>
              <a:t> entre </a:t>
            </a:r>
            <a:r>
              <a:rPr lang="en-US" dirty="0" err="1"/>
              <a:t>janelas</a:t>
            </a:r>
            <a:r>
              <a:rPr lang="en-US" dirty="0"/>
              <a:t>. A </a:t>
            </a:r>
            <a:r>
              <a:rPr lang="en-US" dirty="0" err="1"/>
              <a:t>saída</a:t>
            </a:r>
            <a:r>
              <a:rPr lang="en-US" dirty="0"/>
              <a:t> </a:t>
            </a:r>
            <a:r>
              <a:rPr lang="en-US" dirty="0" err="1"/>
              <a:t>preserva</a:t>
            </a:r>
            <a:r>
              <a:rPr lang="en-US" dirty="0"/>
              <a:t> </a:t>
            </a:r>
            <a:r>
              <a:rPr lang="en-US" dirty="0" err="1"/>
              <a:t>mais</a:t>
            </a:r>
            <a:r>
              <a:rPr lang="en-US" dirty="0"/>
              <a:t> </a:t>
            </a:r>
            <a:r>
              <a:rPr lang="en-US" dirty="0" err="1"/>
              <a:t>resolução</a:t>
            </a:r>
            <a:r>
              <a:rPr lang="en-US" dirty="0"/>
              <a:t> </a:t>
            </a:r>
            <a:r>
              <a:rPr lang="en-US" dirty="0" err="1"/>
              <a:t>espacial</a:t>
            </a:r>
            <a:r>
              <a:rPr lang="en-US" dirty="0"/>
              <a:t> e </a:t>
            </a:r>
            <a:r>
              <a:rPr lang="en-US" dirty="0" err="1"/>
              <a:t>informação</a:t>
            </a:r>
            <a:r>
              <a:rPr lang="en-US" dirty="0"/>
              <a:t> de </a:t>
            </a:r>
            <a:r>
              <a:rPr lang="en-US" dirty="0" err="1"/>
              <a:t>localização</a:t>
            </a:r>
            <a:r>
              <a:rPr lang="en-US" dirty="0"/>
              <a:t>.</a:t>
            </a:r>
          </a:p>
          <a:p>
            <a:pPr lvl="0" rtl="0"/>
            <a:r>
              <a:rPr lang="en-US" b="1" dirty="0"/>
              <a:t>Stride grande:</a:t>
            </a:r>
            <a:r>
              <a:rPr lang="en-US" dirty="0"/>
              <a:t> o kernel pula </a:t>
            </a:r>
            <a:r>
              <a:rPr lang="en-US" dirty="0" err="1"/>
              <a:t>posições</a:t>
            </a:r>
            <a:r>
              <a:rPr lang="en-US" dirty="0"/>
              <a:t>, e a </a:t>
            </a:r>
            <a:r>
              <a:rPr lang="en-US" dirty="0" err="1"/>
              <a:t>saída</a:t>
            </a:r>
            <a:r>
              <a:rPr lang="en-US" dirty="0"/>
              <a:t> é </a:t>
            </a:r>
            <a:r>
              <a:rPr lang="en-US" dirty="0" err="1"/>
              <a:t>mais</a:t>
            </a:r>
            <a:r>
              <a:rPr lang="en-US" dirty="0"/>
              <a:t> </a:t>
            </a:r>
            <a:r>
              <a:rPr lang="en-US" dirty="0" err="1"/>
              <a:t>grosseira</a:t>
            </a:r>
            <a:r>
              <a:rPr lang="en-US" dirty="0"/>
              <a:t>. </a:t>
            </a:r>
            <a:r>
              <a:rPr lang="en-US" dirty="0" err="1"/>
              <a:t>Detalhes</a:t>
            </a:r>
            <a:r>
              <a:rPr lang="en-US" dirty="0"/>
              <a:t> </a:t>
            </a:r>
            <a:r>
              <a:rPr lang="en-US" dirty="0" err="1"/>
              <a:t>finos</a:t>
            </a:r>
            <a:r>
              <a:rPr lang="en-US" dirty="0"/>
              <a:t> </a:t>
            </a:r>
            <a:r>
              <a:rPr lang="en-US" dirty="0" err="1"/>
              <a:t>podem</a:t>
            </a:r>
            <a:r>
              <a:rPr lang="en-US" dirty="0"/>
              <a:t> ser </a:t>
            </a:r>
            <a:r>
              <a:rPr lang="en-US" dirty="0" err="1"/>
              <a:t>perdidos</a:t>
            </a:r>
            <a:r>
              <a:rPr lang="en-US" dirty="0"/>
              <a:t> (</a:t>
            </a:r>
            <a:r>
              <a:rPr lang="en-US" dirty="0" err="1"/>
              <a:t>efeito</a:t>
            </a:r>
            <a:r>
              <a:rPr lang="en-US" dirty="0"/>
              <a:t> de </a:t>
            </a:r>
            <a:r>
              <a:rPr lang="en-US" i="1" dirty="0"/>
              <a:t>aliasing</a:t>
            </a:r>
            <a:r>
              <a:rPr lang="en-US" dirty="0"/>
              <a:t>), e a </a:t>
            </a:r>
            <a:r>
              <a:rPr lang="en-US" dirty="0" err="1"/>
              <a:t>localização</a:t>
            </a:r>
            <a:r>
              <a:rPr lang="en-US" dirty="0"/>
              <a:t> </a:t>
            </a:r>
            <a:r>
              <a:rPr lang="en-US" dirty="0" err="1"/>
              <a:t>fica</a:t>
            </a:r>
            <a:r>
              <a:rPr lang="en-US" dirty="0"/>
              <a:t> </a:t>
            </a:r>
            <a:r>
              <a:rPr lang="en-US" dirty="0" err="1"/>
              <a:t>menos</a:t>
            </a:r>
            <a:r>
              <a:rPr lang="en-US" dirty="0"/>
              <a:t> </a:t>
            </a:r>
            <a:r>
              <a:rPr lang="en-US" dirty="0" err="1"/>
              <a:t>precisa</a:t>
            </a:r>
            <a:r>
              <a:rPr lang="en-US" dirty="0"/>
              <a:t>.</a:t>
            </a:r>
          </a:p>
          <a:p>
            <a:pPr lvl="0" rtl="0"/>
            <a:endParaRPr lang="en-US" dirty="0"/>
          </a:p>
          <a:p>
            <a:pPr lvl="0" rtl="0"/>
            <a:r>
              <a:rPr lang="pt-BR" sz="1600" b="1" noProof="0" dirty="0"/>
              <a:t>Quanto maior o stride, menor o nível de detalhe</a:t>
            </a:r>
            <a:endParaRPr lang="en-US" sz="1600" b="1" dirty="0"/>
          </a:p>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1B86E25-C733-F00E-2902-83B5D6D6AABB}"/>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3F273BE8-B07A-317C-4EAC-657A5DFD4A94}"/>
              </a:ext>
            </a:extLst>
          </p:cNvPr>
          <p:cNvSpPr>
            <a:spLocks noGrp="1"/>
          </p:cNvSpPr>
          <p:nvPr>
            <p:ph type="body" idx="1"/>
          </p:nvPr>
        </p:nvSpPr>
        <p:spPr/>
        <p:txBody>
          <a:bodyPr/>
          <a:lstStyle/>
          <a:p>
            <a:r>
              <a:rPr lang="en-US" dirty="0"/>
              <a:t>O stride </a:t>
            </a:r>
            <a:r>
              <a:rPr lang="en-US" dirty="0" err="1"/>
              <a:t>controla</a:t>
            </a:r>
            <a:r>
              <a:rPr lang="en-US" dirty="0"/>
              <a:t> a </a:t>
            </a:r>
            <a:r>
              <a:rPr lang="en-US" b="1" dirty="0" err="1"/>
              <a:t>resolução</a:t>
            </a:r>
            <a:r>
              <a:rPr lang="en-US" b="1" dirty="0"/>
              <a:t> </a:t>
            </a:r>
            <a:r>
              <a:rPr lang="en-US" b="1" dirty="0" err="1"/>
              <a:t>espacial</a:t>
            </a:r>
            <a:r>
              <a:rPr lang="en-US" dirty="0"/>
              <a:t> (e a </a:t>
            </a:r>
            <a:r>
              <a:rPr lang="en-US" dirty="0" err="1"/>
              <a:t>quantidade</a:t>
            </a:r>
            <a:r>
              <a:rPr lang="en-US" dirty="0"/>
              <a:t> de </a:t>
            </a:r>
            <a:r>
              <a:rPr lang="en-US" dirty="0" err="1"/>
              <a:t>detalhe</a:t>
            </a:r>
            <a:r>
              <a:rPr lang="en-US" dirty="0"/>
              <a:t> </a:t>
            </a:r>
            <a:r>
              <a:rPr lang="en-US" dirty="0" err="1"/>
              <a:t>preservado</a:t>
            </a:r>
            <a:r>
              <a:rPr lang="en-US" dirty="0"/>
              <a:t>) </a:t>
            </a:r>
            <a:r>
              <a:rPr lang="en-US" dirty="0" err="1"/>
              <a:t>em</a:t>
            </a:r>
            <a:r>
              <a:rPr lang="en-US" dirty="0"/>
              <a:t> </a:t>
            </a:r>
            <a:r>
              <a:rPr lang="en-US" dirty="0" err="1"/>
              <a:t>troca</a:t>
            </a:r>
            <a:r>
              <a:rPr lang="en-US" dirty="0"/>
              <a:t> de </a:t>
            </a:r>
            <a:r>
              <a:rPr lang="en-US" dirty="0" err="1"/>
              <a:t>custo</a:t>
            </a:r>
            <a:r>
              <a:rPr lang="en-US" dirty="0"/>
              <a:t> </a:t>
            </a:r>
            <a:r>
              <a:rPr lang="en-US" dirty="0" err="1"/>
              <a:t>computacional</a:t>
            </a:r>
            <a:r>
              <a:rPr lang="en-US" dirty="0"/>
              <a:t>.</a:t>
            </a:r>
            <a:endParaRPr lang="pt-BR" dirty="0"/>
          </a:p>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id="{FF9DFED9-07CB-1299-72FB-DFEA3B5A5C43}"/>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 CNN:</a:t>
            </a:r>
          </a:p>
          <a:p>
            <a:r>
              <a:rPr lang="pt-BR" dirty="0"/>
              <a:t>cada filtro aprende um padrão específico </a:t>
            </a:r>
          </a:p>
          <a:p>
            <a:r>
              <a:rPr lang="pt-BR" dirty="0"/>
              <a:t>incluindo </a:t>
            </a:r>
            <a:r>
              <a:rPr lang="pt-BR" b="1" dirty="0"/>
              <a:t>orientação</a:t>
            </a:r>
            <a:r>
              <a:rPr lang="pt-BR" dirty="0"/>
              <a:t> </a:t>
            </a:r>
          </a:p>
          <a:p>
            <a:r>
              <a:rPr lang="pt-BR" dirty="0"/>
              <a:t>📌 Resultado:</a:t>
            </a:r>
          </a:p>
          <a:p>
            <a:r>
              <a:rPr lang="pt-BR" dirty="0"/>
              <a:t>um filtro que detecta uma borda vertical não detecta a mesma borda rotacionada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noProof="0" dirty="0">
                <a:effectLst/>
                <a:latin typeface="Roboto" panose="02000000000000000000" pitchFamily="2" charset="0"/>
              </a:rPr>
              <a:t>As regiões do mapa de características com linhas verticais ficam altamente ativadas, ao contrário de outras regiões.</a:t>
            </a:r>
          </a:p>
          <a:p>
            <a:endParaRPr lang="pt-BR" b="0" i="0" noProof="0" dirty="0">
              <a:effectLst/>
              <a:latin typeface="Roboto" panose="02000000000000000000" pitchFamily="2" charset="0"/>
            </a:endParaRPr>
          </a:p>
          <a:p>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convolutional</a:t>
            </a:r>
            <a:r>
              <a:rPr lang="pt-BR" b="0" i="0" noProof="0" dirty="0">
                <a:effectLst/>
                <a:latin typeface="Roboto" panose="02000000000000000000" pitchFamily="2" charset="0"/>
              </a:rPr>
              <a:t>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output </a:t>
            </a:r>
            <a:r>
              <a:rPr lang="pt-BR" b="0" i="0" noProof="0" dirty="0" err="1">
                <a:effectLst/>
                <a:latin typeface="Roboto" panose="02000000000000000000" pitchFamily="2" charset="0"/>
              </a:rPr>
              <a:t>is</a:t>
            </a:r>
            <a:r>
              <a:rPr lang="pt-BR" b="0" i="0" noProof="0" dirty="0">
                <a:effectLst/>
                <a:latin typeface="Roboto" panose="02000000000000000000" pitchFamily="2" charset="0"/>
              </a:rPr>
              <a:t> </a:t>
            </a:r>
            <a:r>
              <a:rPr lang="pt-BR" b="0" i="0" noProof="0" dirty="0" err="1">
                <a:effectLst/>
                <a:latin typeface="Roboto" panose="02000000000000000000" pitchFamily="2" charset="0"/>
              </a:rPr>
              <a:t>sometimes</a:t>
            </a:r>
            <a:r>
              <a:rPr lang="pt-BR" b="0" i="0" noProof="0" dirty="0">
                <a:effectLst/>
                <a:latin typeface="Roboto" panose="02000000000000000000" pitchFamily="2" charset="0"/>
              </a:rPr>
              <a:t> </a:t>
            </a:r>
            <a:r>
              <a:rPr lang="pt-BR" b="0" i="0" noProof="0" dirty="0" err="1">
                <a:effectLst/>
                <a:latin typeface="Roboto" panose="02000000000000000000" pitchFamily="2" charset="0"/>
              </a:rPr>
              <a:t>called</a:t>
            </a:r>
            <a:r>
              <a:rPr lang="pt-BR" b="0" i="0" noProof="0" dirty="0">
                <a:effectLst/>
                <a:latin typeface="Roboto" panose="02000000000000000000" pitchFamily="2" charset="0"/>
              </a:rPr>
              <a:t> a </a:t>
            </a:r>
            <a:r>
              <a:rPr lang="pt-BR" b="0" i="1" noProof="0" dirty="0">
                <a:effectLst/>
                <a:latin typeface="Roboto" panose="02000000000000000000" pitchFamily="2" charset="0"/>
              </a:rPr>
              <a:t>feature </a:t>
            </a:r>
            <a:r>
              <a:rPr lang="pt-BR" b="0" i="1" noProof="0" dirty="0" err="1">
                <a:effectLst/>
                <a:latin typeface="Roboto" panose="02000000000000000000" pitchFamily="2" charset="0"/>
              </a:rPr>
              <a:t>map</a:t>
            </a:r>
            <a:r>
              <a:rPr lang="pt-BR" b="0" i="0" noProof="0" dirty="0">
                <a:effectLst/>
                <a:latin typeface="Roboto" panose="02000000000000000000" pitchFamily="2" charset="0"/>
              </a:rPr>
              <a:t>, as it </a:t>
            </a:r>
            <a:r>
              <a:rPr lang="pt-BR" b="0" i="0" noProof="0" dirty="0" err="1">
                <a:effectLst/>
                <a:latin typeface="Roboto" panose="02000000000000000000" pitchFamily="2" charset="0"/>
              </a:rPr>
              <a:t>can</a:t>
            </a:r>
            <a:r>
              <a:rPr lang="pt-BR" b="0" i="0" noProof="0" dirty="0">
                <a:effectLst/>
                <a:latin typeface="Roboto" panose="02000000000000000000" pitchFamily="2" charset="0"/>
              </a:rPr>
              <a:t> </a:t>
            </a:r>
            <a:r>
              <a:rPr lang="pt-BR" b="0" i="0" noProof="0" dirty="0" err="1">
                <a:effectLst/>
                <a:latin typeface="Roboto" panose="02000000000000000000" pitchFamily="2" charset="0"/>
              </a:rPr>
              <a:t>be</a:t>
            </a:r>
            <a:r>
              <a:rPr lang="pt-BR" b="0" i="0" noProof="0" dirty="0">
                <a:effectLst/>
                <a:latin typeface="Roboto" panose="02000000000000000000" pitchFamily="2" charset="0"/>
              </a:rPr>
              <a:t> </a:t>
            </a:r>
            <a:r>
              <a:rPr lang="pt-BR" b="0" i="0" noProof="0" dirty="0" err="1">
                <a:effectLst/>
                <a:latin typeface="Roboto" panose="02000000000000000000" pitchFamily="2" charset="0"/>
              </a:rPr>
              <a:t>regarded</a:t>
            </a:r>
            <a:r>
              <a:rPr lang="pt-BR" b="0" i="0" noProof="0" dirty="0">
                <a:effectLst/>
                <a:latin typeface="Roboto" panose="02000000000000000000" pitchFamily="2" charset="0"/>
              </a:rPr>
              <a:t> as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learned</a:t>
            </a:r>
            <a:r>
              <a:rPr lang="pt-BR" b="0" i="0" noProof="0" dirty="0">
                <a:effectLst/>
                <a:latin typeface="Roboto" panose="02000000000000000000" pitchFamily="2" charset="0"/>
              </a:rPr>
              <a:t> </a:t>
            </a:r>
            <a:r>
              <a:rPr lang="pt-BR" b="0" i="0" noProof="0" dirty="0" err="1">
                <a:effectLst/>
                <a:latin typeface="Roboto" panose="02000000000000000000" pitchFamily="2" charset="0"/>
              </a:rPr>
              <a:t>representations</a:t>
            </a:r>
            <a:r>
              <a:rPr lang="pt-BR" b="0" i="0" noProof="0" dirty="0">
                <a:effectLst/>
                <a:latin typeface="Roboto" panose="02000000000000000000" pitchFamily="2" charset="0"/>
              </a:rPr>
              <a:t> (features) in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spatial</a:t>
            </a:r>
            <a:r>
              <a:rPr lang="pt-BR" b="0" i="0" noProof="0" dirty="0">
                <a:effectLst/>
                <a:latin typeface="Roboto" panose="02000000000000000000" pitchFamily="2" charset="0"/>
              </a:rPr>
              <a:t> </a:t>
            </a:r>
            <a:r>
              <a:rPr lang="pt-BR" b="0" i="0" noProof="0" dirty="0" err="1">
                <a:effectLst/>
                <a:latin typeface="Roboto" panose="02000000000000000000" pitchFamily="2" charset="0"/>
              </a:rPr>
              <a:t>dimensions</a:t>
            </a:r>
            <a:r>
              <a:rPr lang="pt-BR" b="0" i="0" noProof="0" dirty="0">
                <a:effectLst/>
                <a:latin typeface="Roboto" panose="02000000000000000000" pitchFamily="2" charset="0"/>
              </a:rPr>
              <a:t> (e.g., </a:t>
            </a:r>
            <a:r>
              <a:rPr lang="pt-BR" b="0" i="0" noProof="0" dirty="0" err="1">
                <a:effectLst/>
                <a:latin typeface="Roboto" panose="02000000000000000000" pitchFamily="2" charset="0"/>
              </a:rPr>
              <a:t>width</a:t>
            </a:r>
            <a:r>
              <a:rPr lang="pt-BR" b="0" i="0" noProof="0" dirty="0">
                <a:effectLst/>
                <a:latin typeface="Roboto" panose="02000000000000000000" pitchFamily="2" charset="0"/>
              </a:rPr>
              <a:t> </a:t>
            </a:r>
            <a:r>
              <a:rPr lang="pt-BR" b="0" i="0" noProof="0" dirty="0" err="1">
                <a:effectLst/>
                <a:latin typeface="Roboto" panose="02000000000000000000" pitchFamily="2" charset="0"/>
              </a:rPr>
              <a:t>and</a:t>
            </a:r>
            <a:r>
              <a:rPr lang="pt-BR" b="0" i="0" noProof="0" dirty="0">
                <a:effectLst/>
                <a:latin typeface="Roboto" panose="02000000000000000000" pitchFamily="2" charset="0"/>
              </a:rPr>
              <a:t> </a:t>
            </a:r>
            <a:r>
              <a:rPr lang="pt-BR" b="0" i="0" noProof="0" dirty="0" err="1">
                <a:effectLst/>
                <a:latin typeface="Roboto" panose="02000000000000000000" pitchFamily="2" charset="0"/>
              </a:rPr>
              <a:t>height</a:t>
            </a:r>
            <a:r>
              <a:rPr lang="pt-BR" b="0" i="0" noProof="0" dirty="0">
                <a:effectLst/>
                <a:latin typeface="Roboto" panose="02000000000000000000" pitchFamily="2" charset="0"/>
              </a:rPr>
              <a:t>) </a:t>
            </a:r>
            <a:r>
              <a:rPr lang="pt-BR" b="0" i="0" noProof="0" dirty="0" err="1">
                <a:effectLst/>
                <a:latin typeface="Roboto" panose="02000000000000000000" pitchFamily="2" charset="0"/>
              </a:rPr>
              <a:t>to</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subsequent</a:t>
            </a:r>
            <a:r>
              <a:rPr lang="pt-BR" b="0" i="0" noProof="0" dirty="0">
                <a:effectLst/>
                <a:latin typeface="Roboto" panose="02000000000000000000" pitchFamily="2" charset="0"/>
              </a:rPr>
              <a:t>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In CNNs, for </a:t>
            </a:r>
            <a:r>
              <a:rPr lang="pt-BR" b="0" i="0" noProof="0" dirty="0" err="1">
                <a:effectLst/>
                <a:latin typeface="Roboto" panose="02000000000000000000" pitchFamily="2" charset="0"/>
              </a:rPr>
              <a:t>any</a:t>
            </a:r>
            <a:r>
              <a:rPr lang="pt-BR" b="0" i="0" noProof="0" dirty="0">
                <a:effectLst/>
                <a:latin typeface="Roboto" panose="02000000000000000000" pitchFamily="2" charset="0"/>
              </a:rPr>
              <a:t> </a:t>
            </a:r>
            <a:r>
              <a:rPr lang="pt-BR" b="0" i="0" noProof="0" dirty="0" err="1">
                <a:effectLst/>
                <a:latin typeface="Roboto" panose="02000000000000000000" pitchFamily="2" charset="0"/>
              </a:rPr>
              <a:t>element</a:t>
            </a:r>
            <a:r>
              <a:rPr lang="pt-BR" b="0" i="0" noProof="0" dirty="0">
                <a:effectLst/>
                <a:latin typeface="Roboto" panose="02000000000000000000" pitchFamily="2" charset="0"/>
              </a:rPr>
              <a:t> x </a:t>
            </a:r>
            <a:r>
              <a:rPr lang="pt-BR" b="0" i="0" noProof="0" dirty="0" err="1">
                <a:effectLst/>
                <a:latin typeface="Roboto" panose="02000000000000000000" pitchFamily="2" charset="0"/>
              </a:rPr>
              <a:t>of</a:t>
            </a:r>
            <a:r>
              <a:rPr lang="pt-BR" b="0" i="0" noProof="0" dirty="0">
                <a:effectLst/>
                <a:latin typeface="Roboto" panose="02000000000000000000" pitchFamily="2" charset="0"/>
              </a:rPr>
              <a:t> some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its </a:t>
            </a:r>
            <a:r>
              <a:rPr lang="pt-BR" b="0" i="1" noProof="0" dirty="0" err="1">
                <a:effectLst/>
                <a:latin typeface="Roboto" panose="02000000000000000000" pitchFamily="2" charset="0"/>
              </a:rPr>
              <a:t>receptive</a:t>
            </a:r>
            <a:r>
              <a:rPr lang="pt-BR" b="0" i="1" noProof="0" dirty="0">
                <a:effectLst/>
                <a:latin typeface="Roboto" panose="02000000000000000000" pitchFamily="2" charset="0"/>
              </a:rPr>
              <a:t> </a:t>
            </a:r>
            <a:r>
              <a:rPr lang="pt-BR" b="0" i="1" noProof="0" dirty="0" err="1">
                <a:effectLst/>
                <a:latin typeface="Roboto" panose="02000000000000000000" pitchFamily="2" charset="0"/>
              </a:rPr>
              <a:t>field</a:t>
            </a:r>
            <a:r>
              <a:rPr lang="pt-BR" b="0" i="0" noProof="0" dirty="0">
                <a:effectLst/>
                <a:latin typeface="Roboto" panose="02000000000000000000" pitchFamily="2" charset="0"/>
              </a:rPr>
              <a:t> </a:t>
            </a:r>
            <a:r>
              <a:rPr lang="pt-BR" b="0" i="0" noProof="0" dirty="0" err="1">
                <a:effectLst/>
                <a:latin typeface="Roboto" panose="02000000000000000000" pitchFamily="2" charset="0"/>
              </a:rPr>
              <a:t>refers</a:t>
            </a:r>
            <a:r>
              <a:rPr lang="pt-BR" b="0" i="0" noProof="0" dirty="0">
                <a:effectLst/>
                <a:latin typeface="Roboto" panose="02000000000000000000" pitchFamily="2" charset="0"/>
              </a:rPr>
              <a:t> </a:t>
            </a:r>
            <a:r>
              <a:rPr lang="pt-BR" b="0" i="0" noProof="0" dirty="0" err="1">
                <a:effectLst/>
                <a:latin typeface="Roboto" panose="02000000000000000000" pitchFamily="2" charset="0"/>
              </a:rPr>
              <a:t>to</a:t>
            </a:r>
            <a:r>
              <a:rPr lang="pt-BR" b="0" i="0" noProof="0" dirty="0">
                <a:effectLst/>
                <a:latin typeface="Roboto" panose="02000000000000000000" pitchFamily="2" charset="0"/>
              </a:rPr>
              <a:t> </a:t>
            </a:r>
            <a:r>
              <a:rPr lang="pt-BR" b="0" i="0" noProof="0" dirty="0" err="1">
                <a:effectLst/>
                <a:latin typeface="Roboto" panose="02000000000000000000" pitchFamily="2" charset="0"/>
              </a:rPr>
              <a:t>all</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elements</a:t>
            </a:r>
            <a:r>
              <a:rPr lang="pt-BR" b="0" i="0" noProof="0" dirty="0">
                <a:effectLst/>
                <a:latin typeface="Roboto" panose="02000000000000000000" pitchFamily="2" charset="0"/>
              </a:rPr>
              <a:t> (</a:t>
            </a:r>
            <a:r>
              <a:rPr lang="pt-BR" b="0" i="0" noProof="0" dirty="0" err="1">
                <a:effectLst/>
                <a:latin typeface="Roboto" panose="02000000000000000000" pitchFamily="2" charset="0"/>
              </a:rPr>
              <a:t>from</a:t>
            </a:r>
            <a:r>
              <a:rPr lang="pt-BR" b="0" i="0" noProof="0" dirty="0">
                <a:effectLst/>
                <a:latin typeface="Roboto" panose="02000000000000000000" pitchFamily="2" charset="0"/>
              </a:rPr>
              <a:t> </a:t>
            </a:r>
            <a:r>
              <a:rPr lang="pt-BR" b="0" i="0" noProof="0" dirty="0" err="1">
                <a:effectLst/>
                <a:latin typeface="Roboto" panose="02000000000000000000" pitchFamily="2" charset="0"/>
              </a:rPr>
              <a:t>all</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previous</a:t>
            </a:r>
            <a:r>
              <a:rPr lang="pt-BR" b="0" i="0" noProof="0" dirty="0">
                <a:effectLst/>
                <a:latin typeface="Roboto" panose="02000000000000000000" pitchFamily="2" charset="0"/>
              </a:rPr>
              <a:t> </a:t>
            </a:r>
            <a:r>
              <a:rPr lang="pt-BR" b="0" i="0" noProof="0" dirty="0" err="1">
                <a:effectLst/>
                <a:latin typeface="Roboto" panose="02000000000000000000" pitchFamily="2" charset="0"/>
              </a:rPr>
              <a:t>layers</a:t>
            </a:r>
            <a:r>
              <a:rPr lang="pt-BR" b="0" i="0" noProof="0" dirty="0">
                <a:effectLst/>
                <a:latin typeface="Roboto" panose="02000000000000000000" pitchFamily="2" charset="0"/>
              </a:rPr>
              <a:t>) </a:t>
            </a:r>
            <a:r>
              <a:rPr lang="pt-BR" b="0" i="0" noProof="0" dirty="0" err="1">
                <a:effectLst/>
                <a:latin typeface="Roboto" panose="02000000000000000000" pitchFamily="2" charset="0"/>
              </a:rPr>
              <a:t>that</a:t>
            </a:r>
            <a:r>
              <a:rPr lang="pt-BR" b="0" i="0" noProof="0" dirty="0">
                <a:effectLst/>
                <a:latin typeface="Roboto" panose="02000000000000000000" pitchFamily="2" charset="0"/>
              </a:rPr>
              <a:t> </a:t>
            </a:r>
            <a:r>
              <a:rPr lang="pt-BR" b="0" i="0" noProof="0" dirty="0" err="1">
                <a:effectLst/>
                <a:latin typeface="Roboto" panose="02000000000000000000" pitchFamily="2" charset="0"/>
              </a:rPr>
              <a:t>may</a:t>
            </a:r>
            <a:r>
              <a:rPr lang="pt-BR" b="0" i="0" noProof="0" dirty="0">
                <a:effectLst/>
                <a:latin typeface="Roboto" panose="02000000000000000000" pitchFamily="2" charset="0"/>
              </a:rPr>
              <a:t> </a:t>
            </a:r>
            <a:r>
              <a:rPr lang="pt-BR" b="0" i="0" noProof="0" dirty="0" err="1">
                <a:effectLst/>
                <a:latin typeface="Roboto" panose="02000000000000000000" pitchFamily="2" charset="0"/>
              </a:rPr>
              <a:t>affect</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calculation</a:t>
            </a:r>
            <a:r>
              <a:rPr lang="pt-BR" b="0" i="0" noProof="0" dirty="0">
                <a:effectLst/>
                <a:latin typeface="Roboto" panose="02000000000000000000" pitchFamily="2" charset="0"/>
              </a:rPr>
              <a:t> </a:t>
            </a:r>
            <a:r>
              <a:rPr lang="pt-BR" b="0" i="0" noProof="0" dirty="0" err="1">
                <a:effectLst/>
                <a:latin typeface="Roboto" panose="02000000000000000000" pitchFamily="2" charset="0"/>
              </a:rPr>
              <a:t>of</a:t>
            </a:r>
            <a:r>
              <a:rPr lang="pt-BR" b="0" i="0" noProof="0" dirty="0">
                <a:effectLst/>
                <a:latin typeface="Roboto" panose="02000000000000000000" pitchFamily="2" charset="0"/>
              </a:rPr>
              <a:t> x </a:t>
            </a:r>
            <a:r>
              <a:rPr lang="pt-BR" b="0" i="0" noProof="0" dirty="0" err="1">
                <a:effectLst/>
                <a:latin typeface="Roboto" panose="02000000000000000000" pitchFamily="2" charset="0"/>
              </a:rPr>
              <a:t>during</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forward</a:t>
            </a:r>
            <a:r>
              <a:rPr lang="pt-BR" b="0" i="0" noProof="0" dirty="0">
                <a:effectLst/>
                <a:latin typeface="Roboto" panose="02000000000000000000" pitchFamily="2" charset="0"/>
              </a:rPr>
              <a:t> </a:t>
            </a:r>
            <a:r>
              <a:rPr lang="pt-BR" b="0" i="0" noProof="0" dirty="0" err="1">
                <a:effectLst/>
                <a:latin typeface="Roboto" panose="02000000000000000000" pitchFamily="2" charset="0"/>
              </a:rPr>
              <a:t>propagation</a:t>
            </a:r>
            <a:r>
              <a:rPr lang="pt-BR" b="0" i="0" noProof="0" dirty="0">
                <a:effectLst/>
                <a:latin typeface="Roboto" panose="02000000000000000000" pitchFamily="2" charset="0"/>
              </a:rPr>
              <a:t>.</a:t>
            </a:r>
            <a:endParaRPr lang="pt-BR" noProof="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Empilhamento ou concatenação dos mapas de ativação de todos os kernels da camada</a:t>
            </a:r>
          </a:p>
          <a:p>
            <a:endParaRPr lang="pt-BR" dirty="0"/>
          </a:p>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dirty="0" err="1"/>
              <a:t>pooling</a:t>
            </a:r>
            <a:r>
              <a:rPr lang="pt-BR" dirty="0"/>
              <a:t> NÃO torna a rede invariante à rotação.</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DDD92-4A56-B373-7E56-5DFA5F1F4CB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CE21C55-9883-C91A-ED04-C20DA8056AF5}"/>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1C79975A-1861-16A8-B741-A6657BACD1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noProof="0" dirty="0">
                <a:effectLst/>
              </a:rPr>
              <a:t>Além disso, ela </a:t>
            </a:r>
            <a:r>
              <a:rPr lang="pt-BR" b="1" noProof="0" dirty="0">
                <a:solidFill>
                  <a:srgbClr val="00B050"/>
                </a:solidFill>
                <a:effectLst/>
              </a:rPr>
              <a:t>ajuda a tornar a rede </a:t>
            </a:r>
            <a:r>
              <a:rPr lang="pt-BR" b="1" noProof="0" dirty="0">
                <a:solidFill>
                  <a:schemeClr val="accent2"/>
                </a:solidFill>
                <a:effectLst/>
              </a:rPr>
              <a:t>mais robusta a </a:t>
            </a:r>
            <a:r>
              <a:rPr lang="pt-BR" b="1" noProof="0" dirty="0">
                <a:solidFill>
                  <a:schemeClr val="accent1"/>
                </a:solidFill>
                <a:effectLst/>
              </a:rPr>
              <a:t>pequenas</a:t>
            </a:r>
            <a:r>
              <a:rPr lang="pt-BR" b="1" noProof="0" dirty="0">
                <a:solidFill>
                  <a:schemeClr val="accent2"/>
                </a:solidFill>
                <a:effectLst/>
              </a:rPr>
              <a:t> mudanças na posição</a:t>
            </a:r>
            <a:r>
              <a:rPr lang="pt-BR" b="1" noProof="0" dirty="0">
                <a:solidFill>
                  <a:srgbClr val="00B050"/>
                </a:solidFill>
                <a:effectLst/>
              </a:rPr>
              <a:t> das características</a:t>
            </a:r>
            <a:r>
              <a:rPr lang="pt-BR" noProof="0" dirty="0">
                <a:solidFill>
                  <a:srgbClr val="00B050"/>
                </a:solidFill>
              </a:rPr>
              <a:t>.</a:t>
            </a:r>
            <a:endParaRPr lang="pt-BR" b="0" noProof="0" dirty="0">
              <a:effectLst/>
            </a:endParaRPr>
          </a:p>
          <a:p>
            <a:endParaRPr lang="pt-BR" b="1" dirty="0"/>
          </a:p>
          <a:p>
            <a:r>
              <a:rPr lang="en-US" dirty="0"/>
              <a:t>A rede </a:t>
            </a:r>
            <a:r>
              <a:rPr lang="en-US" dirty="0" err="1"/>
              <a:t>fica</a:t>
            </a:r>
            <a:r>
              <a:rPr lang="en-US" dirty="0"/>
              <a:t> </a:t>
            </a:r>
            <a:r>
              <a:rPr lang="en-US" dirty="0" err="1"/>
              <a:t>menos</a:t>
            </a:r>
            <a:r>
              <a:rPr lang="en-US" dirty="0"/>
              <a:t> </a:t>
            </a:r>
            <a:r>
              <a:rPr lang="en-US" dirty="0" err="1"/>
              <a:t>sensível</a:t>
            </a:r>
            <a:r>
              <a:rPr lang="en-US" dirty="0"/>
              <a:t> à </a:t>
            </a:r>
            <a:r>
              <a:rPr lang="en-US" dirty="0" err="1"/>
              <a:t>posição</a:t>
            </a:r>
            <a:r>
              <a:rPr lang="en-US" dirty="0"/>
              <a:t> </a:t>
            </a:r>
            <a:r>
              <a:rPr lang="en-US" dirty="0" err="1"/>
              <a:t>exata</a:t>
            </a:r>
            <a:r>
              <a:rPr lang="en-US" dirty="0"/>
              <a:t> do </a:t>
            </a:r>
            <a:r>
              <a:rPr lang="en-US" dirty="0" err="1"/>
              <a:t>padrão</a:t>
            </a:r>
            <a:r>
              <a:rPr lang="en-US" dirty="0"/>
              <a:t>.</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9996389E-F565-0B86-9A11-118EBD8E4A43}"/>
              </a:ext>
            </a:extLst>
          </p:cNvPr>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9406060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r>
              <a:rPr lang="pt-BR" dirty="0"/>
              <a:t>Ele </a:t>
            </a:r>
            <a:r>
              <a:rPr lang="en-US" dirty="0" err="1"/>
              <a:t>preserva</a:t>
            </a:r>
            <a:r>
              <a:rPr lang="en-US" dirty="0"/>
              <a:t> a </a:t>
            </a:r>
            <a:r>
              <a:rPr lang="en-US" dirty="0" err="1"/>
              <a:t>ativação</a:t>
            </a:r>
            <a:r>
              <a:rPr lang="en-US" dirty="0"/>
              <a:t> </a:t>
            </a:r>
            <a:r>
              <a:rPr lang="en-US" dirty="0" err="1"/>
              <a:t>mais</a:t>
            </a:r>
            <a:r>
              <a:rPr lang="en-US" dirty="0"/>
              <a:t> forte, </a:t>
            </a:r>
            <a:r>
              <a:rPr lang="en-US" dirty="0" err="1"/>
              <a:t>ou</a:t>
            </a:r>
            <a:r>
              <a:rPr lang="en-US" dirty="0"/>
              <a:t> </a:t>
            </a:r>
            <a:r>
              <a:rPr lang="en-US" dirty="0" err="1"/>
              <a:t>seja</a:t>
            </a:r>
            <a:r>
              <a:rPr lang="en-US" dirty="0"/>
              <a:t>, "o </a:t>
            </a:r>
            <a:r>
              <a:rPr lang="en-US" dirty="0" err="1"/>
              <a:t>padrão</a:t>
            </a:r>
            <a:r>
              <a:rPr lang="en-US" dirty="0"/>
              <a:t> </a:t>
            </a:r>
            <a:r>
              <a:rPr lang="en-US" dirty="0" err="1"/>
              <a:t>apareceu</a:t>
            </a:r>
            <a:r>
              <a:rPr lang="en-US" dirty="0"/>
              <a:t> </a:t>
            </a:r>
            <a:r>
              <a:rPr lang="en-US" dirty="0" err="1"/>
              <a:t>nesta</a:t>
            </a:r>
            <a:r>
              <a:rPr lang="en-US" dirty="0"/>
              <a:t> </a:t>
            </a:r>
            <a:r>
              <a:rPr lang="en-US" dirty="0" err="1"/>
              <a:t>janela</a:t>
            </a:r>
            <a:r>
              <a:rPr lang="en-US" dirty="0"/>
              <a:t>“, mas </a:t>
            </a:r>
            <a:r>
              <a:rPr lang="en-US" dirty="0" err="1"/>
              <a:t>não</a:t>
            </a:r>
            <a:r>
              <a:rPr lang="en-US" dirty="0"/>
              <a:t> </a:t>
            </a:r>
            <a:r>
              <a:rPr lang="en-US" dirty="0" err="1"/>
              <a:t>preserva</a:t>
            </a:r>
            <a:r>
              <a:rPr lang="en-US" dirty="0"/>
              <a:t> a </a:t>
            </a:r>
            <a:r>
              <a:rPr lang="en-US" dirty="0" err="1"/>
              <a:t>informação</a:t>
            </a:r>
            <a:r>
              <a:rPr lang="en-US" dirty="0"/>
              <a:t> da </a:t>
            </a:r>
            <a:r>
              <a:rPr lang="en-US" dirty="0" err="1"/>
              <a:t>localização</a:t>
            </a:r>
            <a:r>
              <a:rPr lang="en-US" dirty="0"/>
              <a:t>.</a:t>
            </a:r>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rtl="0"/>
            <a:r>
              <a:rPr lang="en-US" b="0" dirty="0"/>
              <a:t>A </a:t>
            </a:r>
            <a:r>
              <a:rPr lang="en-US" b="0" dirty="0" err="1"/>
              <a:t>imagem</a:t>
            </a:r>
            <a:r>
              <a:rPr lang="en-US" b="0" dirty="0"/>
              <a:t> de entrada é um </a:t>
            </a:r>
            <a:r>
              <a:rPr lang="en-US" b="0" dirty="0" err="1"/>
              <a:t>mapa</a:t>
            </a:r>
            <a:r>
              <a:rPr lang="en-US" b="0" dirty="0"/>
              <a:t> de </a:t>
            </a:r>
            <a:r>
              <a:rPr lang="en-US" b="0" dirty="0" err="1"/>
              <a:t>ativações</a:t>
            </a:r>
            <a:r>
              <a:rPr lang="en-US" b="0" dirty="0"/>
              <a:t> </a:t>
            </a:r>
            <a:r>
              <a:rPr lang="en-US" b="0" dirty="0" err="1"/>
              <a:t>resultado</a:t>
            </a:r>
            <a:r>
              <a:rPr lang="en-US" b="0" dirty="0"/>
              <a:t> da </a:t>
            </a:r>
            <a:r>
              <a:rPr lang="en-US" b="0" dirty="0" err="1"/>
              <a:t>aplicação</a:t>
            </a:r>
            <a:r>
              <a:rPr lang="en-US" b="0" dirty="0"/>
              <a:t> de um kernel detector de </a:t>
            </a:r>
            <a:r>
              <a:rPr lang="en-US" b="0" dirty="0" err="1"/>
              <a:t>bordas</a:t>
            </a:r>
            <a:r>
              <a:rPr lang="en-US" b="0" dirty="0"/>
              <a:t>.</a:t>
            </a:r>
          </a:p>
          <a:p>
            <a:pPr lvl="0" rtl="0"/>
            <a:endParaRPr lang="en-US" b="0" dirty="0"/>
          </a:p>
          <a:p>
            <a:pPr lvl="0" rtl="0"/>
            <a:r>
              <a:rPr lang="en-US" b="0" dirty="0" err="1"/>
              <a:t>Preserva</a:t>
            </a:r>
            <a:r>
              <a:rPr lang="en-US" b="0" dirty="0"/>
              <a:t> as </a:t>
            </a:r>
            <a:r>
              <a:rPr lang="en-US" b="0" dirty="0" err="1"/>
              <a:t>respostas</a:t>
            </a:r>
            <a:r>
              <a:rPr lang="en-US" b="0" dirty="0"/>
              <a:t> </a:t>
            </a:r>
            <a:r>
              <a:rPr lang="en-US" b="0" dirty="0" err="1"/>
              <a:t>mais</a:t>
            </a:r>
            <a:r>
              <a:rPr lang="en-US" b="0" dirty="0"/>
              <a:t> fortes: as </a:t>
            </a:r>
            <a:r>
              <a:rPr lang="en-US" b="0" dirty="0" err="1"/>
              <a:t>bordas</a:t>
            </a:r>
            <a:r>
              <a:rPr lang="en-US" b="0" dirty="0"/>
              <a:t> do </a:t>
            </a:r>
            <a:r>
              <a:rPr lang="en-US" b="0" dirty="0" err="1"/>
              <a:t>cérebro</a:t>
            </a:r>
            <a:r>
              <a:rPr lang="en-US" b="0" dirty="0"/>
              <a:t> </a:t>
            </a:r>
            <a:r>
              <a:rPr lang="en-US" b="0" dirty="0" err="1"/>
              <a:t>permanecem</a:t>
            </a:r>
            <a:r>
              <a:rPr lang="en-US" b="0" dirty="0"/>
              <a:t> </a:t>
            </a:r>
            <a:r>
              <a:rPr lang="en-US" b="0" dirty="0" err="1"/>
              <a:t>bem</a:t>
            </a:r>
            <a:r>
              <a:rPr lang="en-US" b="0" dirty="0"/>
              <a:t> </a:t>
            </a:r>
            <a:r>
              <a:rPr lang="en-US" b="0" dirty="0" err="1"/>
              <a:t>visíveis</a:t>
            </a:r>
            <a:r>
              <a:rPr lang="en-US" b="0" dirty="0"/>
              <a:t>.</a:t>
            </a:r>
          </a:p>
          <a:p>
            <a:pPr lvl="0" rtl="0"/>
            <a:r>
              <a:rPr lang="en-US" b="0" dirty="0" err="1"/>
              <a:t>Descarta</a:t>
            </a:r>
            <a:r>
              <a:rPr lang="en-US" b="0" dirty="0"/>
              <a:t> as </a:t>
            </a:r>
            <a:r>
              <a:rPr lang="en-US" b="0" dirty="0" err="1"/>
              <a:t>ativações</a:t>
            </a:r>
            <a:r>
              <a:rPr lang="en-US" b="0" dirty="0"/>
              <a:t> </a:t>
            </a:r>
            <a:r>
              <a:rPr lang="en-US" b="0" dirty="0" err="1"/>
              <a:t>que</a:t>
            </a:r>
            <a:r>
              <a:rPr lang="en-US" b="0" dirty="0"/>
              <a:t> </a:t>
            </a:r>
            <a:r>
              <a:rPr lang="en-US" b="0" dirty="0" err="1"/>
              <a:t>têm</a:t>
            </a:r>
            <a:r>
              <a:rPr lang="en-US" b="0" dirty="0"/>
              <a:t> </a:t>
            </a:r>
            <a:r>
              <a:rPr lang="en-US" b="0" dirty="0" err="1"/>
              <a:t>baixa</a:t>
            </a:r>
            <a:r>
              <a:rPr lang="en-US" b="0" dirty="0"/>
              <a:t> </a:t>
            </a:r>
            <a:r>
              <a:rPr lang="en-US" b="0" dirty="0" err="1"/>
              <a:t>intensidade</a:t>
            </a:r>
            <a:r>
              <a:rPr lang="en-US" b="0" dirty="0"/>
              <a:t> e a </a:t>
            </a:r>
            <a:r>
              <a:rPr lang="en-US" b="0" dirty="0" err="1"/>
              <a:t>posição</a:t>
            </a:r>
            <a:r>
              <a:rPr lang="en-US" b="0" dirty="0"/>
              <a:t> </a:t>
            </a:r>
            <a:r>
              <a:rPr lang="en-US" b="0" dirty="0" err="1"/>
              <a:t>exata</a:t>
            </a:r>
            <a:r>
              <a:rPr lang="en-US" b="0" dirty="0"/>
              <a:t> </a:t>
            </a:r>
            <a:r>
              <a:rPr lang="en-US" b="0" dirty="0" err="1"/>
              <a:t>dentro</a:t>
            </a:r>
            <a:r>
              <a:rPr lang="en-US" b="0" dirty="0"/>
              <a:t> de </a:t>
            </a:r>
            <a:r>
              <a:rPr lang="en-US" b="0" dirty="0" err="1"/>
              <a:t>cada</a:t>
            </a:r>
            <a:r>
              <a:rPr lang="en-US" b="0" dirty="0"/>
              <a:t> </a:t>
            </a:r>
            <a:r>
              <a:rPr lang="en-US" b="0" dirty="0" err="1"/>
              <a:t>janela</a:t>
            </a:r>
            <a:r>
              <a:rPr lang="en-US" b="0" dirty="0"/>
              <a:t>.</a:t>
            </a:r>
          </a:p>
          <a:p>
            <a:endParaRPr lang="pt-BR" dirty="0"/>
          </a:p>
          <a:p>
            <a:endParaRPr lang="pt-BR" dirty="0"/>
          </a:p>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Temos a entrada do bloco, que pode ser uma imagem ou a saída de outra camada, os kernels, os pesos de bias de cada kernel, as funções de ativação e a camada de </a:t>
            </a:r>
            <a:r>
              <a:rPr lang="pt-BR" sz="1200" b="1" dirty="0" err="1"/>
              <a:t>pooling</a:t>
            </a:r>
            <a:endParaRPr lang="pt-BR" sz="1200"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 padding pode ser adicionado à entrada do bloco.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rtl="0"/>
            <a:r>
              <a:rPr lang="en-US" dirty="0"/>
              <a:t>O </a:t>
            </a:r>
            <a:r>
              <a:rPr lang="en-US" i="1" dirty="0"/>
              <a:t>padding</a:t>
            </a:r>
            <a:r>
              <a:rPr lang="en-US" dirty="0"/>
              <a:t> </a:t>
            </a:r>
            <a:r>
              <a:rPr lang="en-US" dirty="0" err="1"/>
              <a:t>adiciona</a:t>
            </a:r>
            <a:r>
              <a:rPr lang="en-US" dirty="0"/>
              <a:t> </a:t>
            </a:r>
            <a:r>
              <a:rPr lang="en-US" dirty="0" err="1"/>
              <a:t>camadas</a:t>
            </a:r>
            <a:r>
              <a:rPr lang="en-US" dirty="0"/>
              <a:t> de </a:t>
            </a:r>
            <a:r>
              <a:rPr lang="en-US" dirty="0" err="1"/>
              <a:t>valores</a:t>
            </a:r>
            <a:r>
              <a:rPr lang="en-US" dirty="0"/>
              <a:t> (</a:t>
            </a:r>
            <a:r>
              <a:rPr lang="en-US" dirty="0" err="1"/>
              <a:t>geralmente</a:t>
            </a:r>
            <a:r>
              <a:rPr lang="en-US" dirty="0"/>
              <a:t> zeros) </a:t>
            </a:r>
            <a:r>
              <a:rPr lang="en-US" dirty="0" err="1"/>
              <a:t>ao</a:t>
            </a:r>
            <a:r>
              <a:rPr lang="en-US" dirty="0"/>
              <a:t> </a:t>
            </a:r>
            <a:r>
              <a:rPr lang="en-US" dirty="0" err="1"/>
              <a:t>redor</a:t>
            </a:r>
            <a:r>
              <a:rPr lang="en-US" dirty="0"/>
              <a:t> da entrada, o </a:t>
            </a:r>
            <a:r>
              <a:rPr lang="en-US" dirty="0" err="1"/>
              <a:t>que</a:t>
            </a:r>
            <a:r>
              <a:rPr lang="en-US" dirty="0"/>
              <a:t>: </a:t>
            </a:r>
            <a:r>
              <a:rPr lang="en-US" b="1" dirty="0" err="1"/>
              <a:t>preserva</a:t>
            </a:r>
            <a:r>
              <a:rPr lang="en-US" b="1" dirty="0"/>
              <a:t> a </a:t>
            </a:r>
            <a:r>
              <a:rPr lang="en-US" b="1" dirty="0" err="1"/>
              <a:t>dimensão</a:t>
            </a:r>
            <a:r>
              <a:rPr lang="en-US" dirty="0"/>
              <a:t> da </a:t>
            </a:r>
            <a:r>
              <a:rPr lang="en-US" dirty="0" err="1"/>
              <a:t>saída</a:t>
            </a:r>
            <a:r>
              <a:rPr lang="en-US" dirty="0"/>
              <a:t>, </a:t>
            </a:r>
            <a:r>
              <a:rPr lang="en-US" dirty="0" err="1"/>
              <a:t>quando</a:t>
            </a:r>
            <a:r>
              <a:rPr lang="en-US" dirty="0"/>
              <a:t> </a:t>
            </a:r>
            <a:r>
              <a:rPr lang="en-US" dirty="0" err="1"/>
              <a:t>desejado</a:t>
            </a:r>
            <a:r>
              <a:rPr lang="en-US" dirty="0"/>
              <a:t>;</a:t>
            </a:r>
          </a:p>
          <a:p>
            <a:pPr lvl="0" rtl="0"/>
            <a:r>
              <a:rPr lang="en-US" dirty="0" err="1"/>
              <a:t>faz</a:t>
            </a:r>
            <a:r>
              <a:rPr lang="en-US" dirty="0"/>
              <a:t> </a:t>
            </a:r>
            <a:r>
              <a:rPr lang="en-US" dirty="0" err="1"/>
              <a:t>os</a:t>
            </a:r>
            <a:r>
              <a:rPr lang="en-US" dirty="0"/>
              <a:t> </a:t>
            </a:r>
            <a:r>
              <a:rPr lang="en-US" i="1" dirty="0"/>
              <a:t>pixels</a:t>
            </a:r>
            <a:r>
              <a:rPr lang="en-US" dirty="0"/>
              <a:t> das </a:t>
            </a:r>
            <a:r>
              <a:rPr lang="en-US" dirty="0" err="1"/>
              <a:t>bordas</a:t>
            </a:r>
            <a:r>
              <a:rPr lang="en-US" dirty="0"/>
              <a:t> </a:t>
            </a:r>
            <a:r>
              <a:rPr lang="en-US" dirty="0" err="1"/>
              <a:t>contribuírem</a:t>
            </a:r>
            <a:r>
              <a:rPr lang="en-US" dirty="0"/>
              <a:t> </a:t>
            </a:r>
            <a:r>
              <a:rPr lang="en-US" b="1" dirty="0"/>
              <a:t>de forma </a:t>
            </a:r>
            <a:r>
              <a:rPr lang="en-US" b="1" dirty="0" err="1"/>
              <a:t>mais</a:t>
            </a:r>
            <a:r>
              <a:rPr lang="en-US" b="1" dirty="0"/>
              <a:t> </a:t>
            </a:r>
            <a:r>
              <a:rPr lang="en-US" b="1" dirty="0" err="1"/>
              <a:t>equilibrada</a:t>
            </a:r>
            <a:r>
              <a:rPr lang="en-US" dirty="0"/>
              <a:t> para a </a:t>
            </a:r>
            <a:r>
              <a:rPr lang="en-US" dirty="0" err="1"/>
              <a:t>extração</a:t>
            </a:r>
            <a:r>
              <a:rPr lang="en-US" dirty="0"/>
              <a:t> de </a:t>
            </a:r>
            <a:r>
              <a:rPr lang="en-US" dirty="0" err="1"/>
              <a:t>características</a:t>
            </a:r>
            <a:r>
              <a:rPr lang="en-US" dirty="0"/>
              <a:t>.</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404063796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en-US" i="1" dirty="0"/>
              <a:t>Transfer learning</a:t>
            </a:r>
            <a:r>
              <a:rPr lang="en-US" dirty="0"/>
              <a:t>, </a:t>
            </a:r>
            <a:r>
              <a:rPr lang="en-US" dirty="0" err="1"/>
              <a:t>ou</a:t>
            </a:r>
            <a:r>
              <a:rPr lang="en-US" dirty="0"/>
              <a:t> </a:t>
            </a:r>
            <a:r>
              <a:rPr lang="en-US" dirty="0" err="1"/>
              <a:t>transferência</a:t>
            </a:r>
            <a:r>
              <a:rPr lang="en-US" dirty="0"/>
              <a:t> de </a:t>
            </a:r>
            <a:r>
              <a:rPr lang="en-US" dirty="0" err="1"/>
              <a:t>aprendizado</a:t>
            </a:r>
            <a:r>
              <a:rPr lang="en-US" dirty="0"/>
              <a:t>, é </a:t>
            </a:r>
            <a:r>
              <a:rPr lang="en-US" dirty="0" err="1"/>
              <a:t>reaproveitar</a:t>
            </a:r>
            <a:r>
              <a:rPr lang="en-US" dirty="0"/>
              <a:t> </a:t>
            </a:r>
            <a:r>
              <a:rPr lang="en-US" dirty="0" err="1"/>
              <a:t>uma</a:t>
            </a:r>
            <a:r>
              <a:rPr lang="en-US" dirty="0"/>
              <a:t> rede neural </a:t>
            </a:r>
            <a:r>
              <a:rPr lang="en-US" dirty="0" err="1"/>
              <a:t>que</a:t>
            </a:r>
            <a:r>
              <a:rPr lang="en-US" dirty="0"/>
              <a:t> </a:t>
            </a:r>
            <a:r>
              <a:rPr lang="en-US" dirty="0" err="1"/>
              <a:t>já</a:t>
            </a:r>
            <a:r>
              <a:rPr lang="en-US" dirty="0"/>
              <a:t> </a:t>
            </a:r>
            <a:r>
              <a:rPr lang="en-US" dirty="0" err="1"/>
              <a:t>foi</a:t>
            </a:r>
            <a:r>
              <a:rPr lang="en-US" dirty="0"/>
              <a:t> </a:t>
            </a:r>
            <a:r>
              <a:rPr lang="en-US" dirty="0" err="1"/>
              <a:t>treinada</a:t>
            </a:r>
            <a:r>
              <a:rPr lang="en-US" dirty="0"/>
              <a:t> </a:t>
            </a:r>
            <a:r>
              <a:rPr lang="en-US" dirty="0" err="1"/>
              <a:t>em</a:t>
            </a:r>
            <a:r>
              <a:rPr lang="en-US" dirty="0"/>
              <a:t> </a:t>
            </a:r>
            <a:r>
              <a:rPr lang="en-US" dirty="0" err="1"/>
              <a:t>uma</a:t>
            </a:r>
            <a:r>
              <a:rPr lang="en-US" dirty="0"/>
              <a:t> grande base de dados para resolver </a:t>
            </a:r>
            <a:r>
              <a:rPr lang="en-US" dirty="0" err="1"/>
              <a:t>uma</a:t>
            </a:r>
            <a:r>
              <a:rPr lang="en-US" dirty="0"/>
              <a:t> </a:t>
            </a:r>
            <a:r>
              <a:rPr lang="en-US" dirty="0" err="1"/>
              <a:t>tarefa</a:t>
            </a:r>
            <a:r>
              <a:rPr lang="en-US" dirty="0"/>
              <a:t> nova e </a:t>
            </a:r>
            <a:r>
              <a:rPr lang="en-US" dirty="0" err="1"/>
              <a:t>parecida</a:t>
            </a:r>
            <a:r>
              <a:rPr lang="en-US" dirty="0"/>
              <a:t>, </a:t>
            </a:r>
            <a:r>
              <a:rPr lang="en-US" dirty="0" err="1"/>
              <a:t>em</a:t>
            </a:r>
            <a:r>
              <a:rPr lang="en-US" dirty="0"/>
              <a:t> </a:t>
            </a:r>
            <a:r>
              <a:rPr lang="en-US" dirty="0" err="1"/>
              <a:t>vez</a:t>
            </a:r>
            <a:r>
              <a:rPr lang="en-US" dirty="0"/>
              <a:t> de </a:t>
            </a:r>
            <a:r>
              <a:rPr lang="en-US" dirty="0" err="1"/>
              <a:t>treinar</a:t>
            </a:r>
            <a:r>
              <a:rPr lang="en-US" dirty="0"/>
              <a:t> do zero.</a:t>
            </a:r>
          </a:p>
          <a:p>
            <a:pPr rtl="0"/>
            <a:endParaRPr lang="en-US" dirty="0"/>
          </a:p>
          <a:p>
            <a:pPr rtl="0"/>
            <a:r>
              <a:rPr lang="en-US" dirty="0" err="1"/>
              <a:t>Treinar</a:t>
            </a:r>
            <a:r>
              <a:rPr lang="en-US" dirty="0"/>
              <a:t> </a:t>
            </a:r>
            <a:r>
              <a:rPr lang="en-US" dirty="0" err="1"/>
              <a:t>uma</a:t>
            </a:r>
            <a:r>
              <a:rPr lang="en-US" dirty="0"/>
              <a:t> rede profunda do zero </a:t>
            </a:r>
            <a:r>
              <a:rPr lang="en-US" dirty="0" err="1"/>
              <a:t>exige</a:t>
            </a:r>
            <a:r>
              <a:rPr lang="en-US" dirty="0"/>
              <a:t> </a:t>
            </a:r>
            <a:r>
              <a:rPr lang="en-US" dirty="0" err="1"/>
              <a:t>muitos</a:t>
            </a:r>
            <a:r>
              <a:rPr lang="en-US" dirty="0"/>
              <a:t> dados e </a:t>
            </a:r>
            <a:r>
              <a:rPr lang="en-US" dirty="0" err="1"/>
              <a:t>muito</a:t>
            </a:r>
            <a:r>
              <a:rPr lang="en-US" dirty="0"/>
              <a:t> </a:t>
            </a:r>
            <a:r>
              <a:rPr lang="en-US" dirty="0" err="1"/>
              <a:t>poder</a:t>
            </a:r>
            <a:r>
              <a:rPr lang="en-US" dirty="0"/>
              <a:t> </a:t>
            </a:r>
            <a:r>
              <a:rPr lang="en-US" dirty="0" err="1"/>
              <a:t>computacional</a:t>
            </a:r>
            <a:r>
              <a:rPr lang="en-US" dirty="0"/>
              <a:t>. </a:t>
            </a:r>
          </a:p>
          <a:p>
            <a:pPr rtl="0"/>
            <a:endParaRPr lang="en-US" dirty="0"/>
          </a:p>
          <a:p>
            <a:pPr rtl="0"/>
            <a:r>
              <a:rPr lang="en-US" dirty="0"/>
              <a:t>Mas as </a:t>
            </a:r>
            <a:r>
              <a:rPr lang="en-US" dirty="0" err="1"/>
              <a:t>camadas</a:t>
            </a:r>
            <a:r>
              <a:rPr lang="en-US" dirty="0"/>
              <a:t> </a:t>
            </a:r>
            <a:r>
              <a:rPr lang="en-US" dirty="0" err="1"/>
              <a:t>iniciais</a:t>
            </a:r>
            <a:r>
              <a:rPr lang="en-US" dirty="0"/>
              <a:t> de </a:t>
            </a:r>
            <a:r>
              <a:rPr lang="en-US" dirty="0" err="1"/>
              <a:t>uma</a:t>
            </a:r>
            <a:r>
              <a:rPr lang="en-US" dirty="0"/>
              <a:t> CNN </a:t>
            </a:r>
            <a:r>
              <a:rPr lang="en-US" dirty="0" err="1"/>
              <a:t>aprendem</a:t>
            </a:r>
            <a:r>
              <a:rPr lang="en-US" dirty="0"/>
              <a:t> </a:t>
            </a:r>
            <a:r>
              <a:rPr lang="en-US" dirty="0" err="1"/>
              <a:t>padrões</a:t>
            </a:r>
            <a:r>
              <a:rPr lang="en-US" dirty="0"/>
              <a:t> </a:t>
            </a:r>
            <a:r>
              <a:rPr lang="en-US" dirty="0" err="1"/>
              <a:t>genéricos</a:t>
            </a:r>
            <a:r>
              <a:rPr lang="en-US" dirty="0"/>
              <a:t>, </a:t>
            </a:r>
            <a:r>
              <a:rPr lang="en-US" dirty="0" err="1"/>
              <a:t>como</a:t>
            </a:r>
            <a:r>
              <a:rPr lang="en-US" dirty="0"/>
              <a:t> </a:t>
            </a:r>
            <a:r>
              <a:rPr lang="en-US" dirty="0" err="1"/>
              <a:t>bordas</a:t>
            </a:r>
            <a:r>
              <a:rPr lang="en-US" dirty="0"/>
              <a:t>, cores e </a:t>
            </a:r>
            <a:r>
              <a:rPr lang="en-US" dirty="0" err="1"/>
              <a:t>texturas</a:t>
            </a:r>
            <a:r>
              <a:rPr lang="en-US" dirty="0"/>
              <a:t>, </a:t>
            </a:r>
            <a:r>
              <a:rPr lang="en-US" dirty="0" err="1"/>
              <a:t>que</a:t>
            </a:r>
            <a:r>
              <a:rPr lang="en-US" dirty="0"/>
              <a:t> </a:t>
            </a:r>
            <a:r>
              <a:rPr lang="en-US" dirty="0" err="1"/>
              <a:t>servem</a:t>
            </a:r>
            <a:r>
              <a:rPr lang="en-US" dirty="0"/>
              <a:t> para </a:t>
            </a:r>
            <a:r>
              <a:rPr lang="en-US" dirty="0" err="1"/>
              <a:t>quase</a:t>
            </a:r>
            <a:r>
              <a:rPr lang="en-US" dirty="0"/>
              <a:t> </a:t>
            </a:r>
            <a:r>
              <a:rPr lang="en-US" dirty="0" err="1"/>
              <a:t>qualquer</a:t>
            </a:r>
            <a:r>
              <a:rPr lang="en-US" dirty="0"/>
              <a:t> </a:t>
            </a:r>
            <a:r>
              <a:rPr lang="en-US" dirty="0" err="1"/>
              <a:t>problema</a:t>
            </a:r>
            <a:r>
              <a:rPr lang="en-US" dirty="0"/>
              <a:t> de </a:t>
            </a:r>
            <a:r>
              <a:rPr lang="en-US" dirty="0" err="1"/>
              <a:t>imagem</a:t>
            </a:r>
            <a:r>
              <a:rPr lang="en-US" dirty="0"/>
              <a:t>. </a:t>
            </a:r>
            <a:r>
              <a:rPr lang="en-US" dirty="0" err="1"/>
              <a:t>Então</a:t>
            </a:r>
            <a:r>
              <a:rPr lang="en-US" dirty="0"/>
              <a:t> </a:t>
            </a:r>
            <a:r>
              <a:rPr lang="en-US" dirty="0" err="1"/>
              <a:t>pegamos</a:t>
            </a:r>
            <a:r>
              <a:rPr lang="en-US" dirty="0"/>
              <a:t> </a:t>
            </a:r>
            <a:r>
              <a:rPr lang="en-US" dirty="0" err="1"/>
              <a:t>uma</a:t>
            </a:r>
            <a:r>
              <a:rPr lang="en-US" dirty="0"/>
              <a:t> rede </a:t>
            </a:r>
            <a:r>
              <a:rPr lang="en-US" dirty="0" err="1"/>
              <a:t>já</a:t>
            </a:r>
            <a:r>
              <a:rPr lang="en-US" dirty="0"/>
              <a:t> </a:t>
            </a:r>
            <a:r>
              <a:rPr lang="en-US" dirty="0" err="1"/>
              <a:t>treinada</a:t>
            </a:r>
            <a:r>
              <a:rPr lang="en-US" dirty="0"/>
              <a:t>, </a:t>
            </a:r>
            <a:r>
              <a:rPr lang="en-US" dirty="0" err="1"/>
              <a:t>mantemos</a:t>
            </a:r>
            <a:r>
              <a:rPr lang="en-US" dirty="0"/>
              <a:t> as </a:t>
            </a:r>
            <a:r>
              <a:rPr lang="en-US" dirty="0" err="1"/>
              <a:t>camadas</a:t>
            </a:r>
            <a:r>
              <a:rPr lang="en-US" dirty="0"/>
              <a:t> </a:t>
            </a:r>
            <a:r>
              <a:rPr lang="en-US" dirty="0" err="1"/>
              <a:t>iniciais</a:t>
            </a:r>
            <a:r>
              <a:rPr lang="en-US" dirty="0"/>
              <a:t> e </a:t>
            </a:r>
            <a:r>
              <a:rPr lang="en-US" dirty="0" err="1"/>
              <a:t>trocamos</a:t>
            </a:r>
            <a:r>
              <a:rPr lang="en-US" dirty="0"/>
              <a:t> </a:t>
            </a:r>
            <a:r>
              <a:rPr lang="en-US" dirty="0" err="1"/>
              <a:t>só</a:t>
            </a:r>
            <a:r>
              <a:rPr lang="en-US" dirty="0"/>
              <a:t> a </a:t>
            </a:r>
            <a:r>
              <a:rPr lang="en-US" dirty="0" err="1"/>
              <a:t>parte</a:t>
            </a:r>
            <a:r>
              <a:rPr lang="en-US" dirty="0"/>
              <a:t> final para a </a:t>
            </a:r>
            <a:r>
              <a:rPr lang="en-US" dirty="0" err="1"/>
              <a:t>nossa</a:t>
            </a:r>
            <a:r>
              <a:rPr lang="en-US" dirty="0"/>
              <a:t> </a:t>
            </a:r>
            <a:r>
              <a:rPr lang="en-US" dirty="0" err="1"/>
              <a:t>tarefa</a:t>
            </a:r>
            <a:r>
              <a:rPr lang="en-US" dirty="0"/>
              <a:t>, </a:t>
            </a:r>
            <a:r>
              <a:rPr lang="en-US" dirty="0" err="1"/>
              <a:t>treinando</a:t>
            </a:r>
            <a:r>
              <a:rPr lang="en-US" dirty="0"/>
              <a:t> com </a:t>
            </a:r>
            <a:r>
              <a:rPr lang="en-US" dirty="0" err="1"/>
              <a:t>os</a:t>
            </a:r>
            <a:r>
              <a:rPr lang="en-US" dirty="0"/>
              <a:t> </a:t>
            </a:r>
            <a:r>
              <a:rPr lang="en-US" dirty="0" err="1"/>
              <a:t>nossos</a:t>
            </a:r>
            <a:r>
              <a:rPr lang="en-US" dirty="0"/>
              <a:t> dados, </a:t>
            </a:r>
            <a:r>
              <a:rPr lang="en-US" dirty="0" err="1"/>
              <a:t>que</a:t>
            </a:r>
            <a:r>
              <a:rPr lang="en-US" dirty="0"/>
              <a:t> </a:t>
            </a:r>
            <a:r>
              <a:rPr lang="en-US" dirty="0" err="1"/>
              <a:t>podem</a:t>
            </a:r>
            <a:r>
              <a:rPr lang="en-US" dirty="0"/>
              <a:t> ser </a:t>
            </a:r>
            <a:r>
              <a:rPr lang="en-US" dirty="0" err="1"/>
              <a:t>poucos</a:t>
            </a:r>
            <a:r>
              <a:rPr lang="en-US" dirty="0"/>
              <a:t>.</a:t>
            </a:r>
          </a:p>
          <a:p>
            <a:pPr rtl="0"/>
            <a:r>
              <a:rPr lang="en-US" dirty="0" err="1"/>
              <a:t>Isso</a:t>
            </a:r>
            <a:r>
              <a:rPr lang="en-US" dirty="0"/>
              <a:t> </a:t>
            </a:r>
            <a:r>
              <a:rPr lang="en-US" dirty="0" err="1"/>
              <a:t>ajuda</a:t>
            </a:r>
            <a:r>
              <a:rPr lang="en-US" dirty="0"/>
              <a:t> a </a:t>
            </a:r>
            <a:r>
              <a:rPr lang="en-US" dirty="0" err="1"/>
              <a:t>evitar</a:t>
            </a:r>
            <a:r>
              <a:rPr lang="en-US" dirty="0"/>
              <a:t> o sobreajuste, </a:t>
            </a:r>
            <a:r>
              <a:rPr lang="en-US" dirty="0" err="1"/>
              <a:t>porque</a:t>
            </a:r>
            <a:r>
              <a:rPr lang="en-US" dirty="0"/>
              <a:t> a rede </a:t>
            </a:r>
            <a:r>
              <a:rPr lang="en-US" dirty="0" err="1"/>
              <a:t>não</a:t>
            </a:r>
            <a:r>
              <a:rPr lang="en-US" dirty="0"/>
              <a:t> </a:t>
            </a:r>
            <a:r>
              <a:rPr lang="en-US" dirty="0" err="1"/>
              <a:t>começa</a:t>
            </a:r>
            <a:r>
              <a:rPr lang="en-US" dirty="0"/>
              <a:t> com pesos </a:t>
            </a:r>
            <a:r>
              <a:rPr lang="en-US" dirty="0" err="1"/>
              <a:t>aleatórios</a:t>
            </a:r>
            <a:r>
              <a:rPr lang="en-US" dirty="0"/>
              <a:t>. Ela </a:t>
            </a:r>
            <a:r>
              <a:rPr lang="en-US" dirty="0" err="1"/>
              <a:t>já</a:t>
            </a:r>
            <a:r>
              <a:rPr lang="en-US" dirty="0"/>
              <a:t> </a:t>
            </a:r>
            <a:r>
              <a:rPr lang="en-US" dirty="0" err="1"/>
              <a:t>começa</a:t>
            </a:r>
            <a:r>
              <a:rPr lang="en-US" dirty="0"/>
              <a:t> </a:t>
            </a:r>
            <a:r>
              <a:rPr lang="en-US" dirty="0" err="1"/>
              <a:t>sabendo</a:t>
            </a:r>
            <a:r>
              <a:rPr lang="en-US" dirty="0"/>
              <a:t> </a:t>
            </a:r>
            <a:r>
              <a:rPr lang="en-US" dirty="0" err="1"/>
              <a:t>sabendo</a:t>
            </a:r>
            <a:r>
              <a:rPr lang="en-US" dirty="0"/>
              <a:t> </a:t>
            </a:r>
            <a:r>
              <a:rPr lang="en-US" dirty="0" err="1"/>
              <a:t>reconhecer</a:t>
            </a:r>
            <a:r>
              <a:rPr lang="en-US" dirty="0"/>
              <a:t> </a:t>
            </a:r>
            <a:r>
              <a:rPr lang="en-US" dirty="0" err="1"/>
              <a:t>alguns</a:t>
            </a:r>
            <a:r>
              <a:rPr lang="en-US" dirty="0"/>
              <a:t> </a:t>
            </a:r>
            <a:r>
              <a:rPr lang="en-US" dirty="0" err="1"/>
              <a:t>padrões</a:t>
            </a:r>
            <a:r>
              <a:rPr lang="en-US" dirty="0"/>
              <a:t>, e </a:t>
            </a:r>
            <a:r>
              <a:rPr lang="en-US" dirty="0" err="1"/>
              <a:t>só</a:t>
            </a:r>
            <a:r>
              <a:rPr lang="en-US" dirty="0"/>
              <a:t> </a:t>
            </a:r>
            <a:r>
              <a:rPr lang="en-US" dirty="0" err="1"/>
              <a:t>precisa</a:t>
            </a:r>
            <a:r>
              <a:rPr lang="en-US" dirty="0"/>
              <a:t> </a:t>
            </a:r>
            <a:r>
              <a:rPr lang="en-US" dirty="0" err="1"/>
              <a:t>aprender</a:t>
            </a:r>
            <a:r>
              <a:rPr lang="en-US" dirty="0"/>
              <a:t> o </a:t>
            </a:r>
            <a:r>
              <a:rPr lang="en-US" dirty="0" err="1"/>
              <a:t>que</a:t>
            </a:r>
            <a:r>
              <a:rPr lang="en-US" dirty="0"/>
              <a:t> é </a:t>
            </a:r>
            <a:r>
              <a:rPr lang="en-US" dirty="0" err="1"/>
              <a:t>específico</a:t>
            </a:r>
            <a:r>
              <a:rPr lang="en-US" dirty="0"/>
              <a:t> do novo </a:t>
            </a:r>
            <a:r>
              <a:rPr lang="en-US" dirty="0" err="1"/>
              <a:t>problema</a:t>
            </a:r>
            <a:r>
              <a:rPr lang="en-US" dirty="0"/>
              <a:t>.</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61714048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a:t>
            </a:r>
            <a:r>
              <a:rPr lang="en-US" dirty="0" err="1"/>
              <a:t>cada</a:t>
            </a:r>
            <a:r>
              <a:rPr lang="en-US" dirty="0"/>
              <a:t> </a:t>
            </a:r>
            <a:r>
              <a:rPr lang="en-US" dirty="0" err="1"/>
              <a:t>iteração</a:t>
            </a:r>
            <a:r>
              <a:rPr lang="en-US" dirty="0"/>
              <a:t>, </a:t>
            </a:r>
            <a:r>
              <a:rPr lang="en-US" dirty="0" err="1"/>
              <a:t>apenas</a:t>
            </a:r>
            <a:r>
              <a:rPr lang="en-US" dirty="0"/>
              <a:t> um </a:t>
            </a:r>
            <a:r>
              <a:rPr lang="en-US" dirty="0" err="1"/>
              <a:t>subconjunto</a:t>
            </a:r>
            <a:r>
              <a:rPr lang="en-US" dirty="0"/>
              <a:t> </a:t>
            </a:r>
            <a:r>
              <a:rPr lang="en-US" dirty="0" err="1"/>
              <a:t>aleatório</a:t>
            </a:r>
            <a:r>
              <a:rPr lang="en-US" dirty="0"/>
              <a:t> de </a:t>
            </a:r>
            <a:r>
              <a:rPr lang="en-US" dirty="0" err="1"/>
              <a:t>neurônios</a:t>
            </a:r>
            <a:r>
              <a:rPr lang="en-US" dirty="0"/>
              <a:t> </a:t>
            </a:r>
            <a:r>
              <a:rPr lang="en-US" dirty="0" err="1"/>
              <a:t>fica</a:t>
            </a:r>
            <a:r>
              <a:rPr lang="en-US" dirty="0"/>
              <a:t> </a:t>
            </a:r>
            <a:r>
              <a:rPr lang="en-US" dirty="0" err="1"/>
              <a:t>ativo</a:t>
            </a:r>
            <a:r>
              <a:rPr lang="en-US" dirty="0"/>
              <a:t>, </a:t>
            </a:r>
            <a:r>
              <a:rPr lang="en-US" dirty="0" err="1"/>
              <a:t>formando</a:t>
            </a:r>
            <a:r>
              <a:rPr lang="en-US" dirty="0"/>
              <a:t> </a:t>
            </a:r>
            <a:r>
              <a:rPr lang="en-US" dirty="0" err="1"/>
              <a:t>uma</a:t>
            </a:r>
            <a:r>
              <a:rPr lang="en-US" dirty="0"/>
              <a:t> sub-rede </a:t>
            </a:r>
            <a:r>
              <a:rPr lang="en-US" dirty="0" err="1"/>
              <a:t>menor</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Como </a:t>
            </a:r>
            <a:r>
              <a:rPr lang="en-US" dirty="0" err="1"/>
              <a:t>os</a:t>
            </a:r>
            <a:r>
              <a:rPr lang="en-US" dirty="0"/>
              <a:t> </a:t>
            </a:r>
            <a:r>
              <a:rPr lang="en-US" dirty="0" err="1"/>
              <a:t>neurônios</a:t>
            </a:r>
            <a:r>
              <a:rPr lang="en-US" dirty="0"/>
              <a:t> </a:t>
            </a:r>
            <a:r>
              <a:rPr lang="en-US" dirty="0" err="1"/>
              <a:t>vizinhos</a:t>
            </a:r>
            <a:r>
              <a:rPr lang="en-US" dirty="0"/>
              <a:t> </a:t>
            </a:r>
            <a:r>
              <a:rPr lang="en-US" dirty="0" err="1"/>
              <a:t>podem</a:t>
            </a:r>
            <a:r>
              <a:rPr lang="en-US" dirty="0"/>
              <a:t> ser </a:t>
            </a:r>
            <a:r>
              <a:rPr lang="en-US" dirty="0" err="1"/>
              <a:t>desligados</a:t>
            </a:r>
            <a:r>
              <a:rPr lang="en-US" dirty="0"/>
              <a:t> a </a:t>
            </a:r>
            <a:r>
              <a:rPr lang="en-US" dirty="0" err="1"/>
              <a:t>qualquer</a:t>
            </a:r>
            <a:r>
              <a:rPr lang="en-US" dirty="0"/>
              <a:t> </a:t>
            </a:r>
            <a:r>
              <a:rPr lang="en-US" dirty="0" err="1"/>
              <a:t>momento</a:t>
            </a:r>
            <a:r>
              <a:rPr lang="en-US" dirty="0"/>
              <a:t>, </a:t>
            </a:r>
            <a:r>
              <a:rPr lang="en-US" dirty="0" err="1"/>
              <a:t>nenhum</a:t>
            </a:r>
            <a:r>
              <a:rPr lang="en-US" dirty="0"/>
              <a:t> </a:t>
            </a:r>
            <a:r>
              <a:rPr lang="en-US" dirty="0" err="1"/>
              <a:t>neurônio</a:t>
            </a:r>
            <a:r>
              <a:rPr lang="en-US" dirty="0"/>
              <a:t> </a:t>
            </a:r>
            <a:r>
              <a:rPr lang="en-US" dirty="0" err="1"/>
              <a:t>pode</a:t>
            </a:r>
            <a:r>
              <a:rPr lang="en-US" dirty="0"/>
              <a:t> </a:t>
            </a:r>
            <a:r>
              <a:rPr lang="en-US" dirty="0" err="1"/>
              <a:t>depender</a:t>
            </a:r>
            <a:r>
              <a:rPr lang="en-US" dirty="0"/>
              <a:t> de outro </a:t>
            </a:r>
            <a:r>
              <a:rPr lang="en-US" dirty="0" err="1"/>
              <a:t>específico</a:t>
            </a:r>
            <a:r>
              <a:rPr lang="en-US" dirty="0"/>
              <a:t> para </a:t>
            </a:r>
            <a:r>
              <a:rPr lang="en-US" dirty="0" err="1"/>
              <a:t>corrigir</a:t>
            </a:r>
            <a:r>
              <a:rPr lang="en-US" dirty="0"/>
              <a:t> </a:t>
            </a:r>
            <a:r>
              <a:rPr lang="en-US" dirty="0" err="1"/>
              <a:t>seus</a:t>
            </a:r>
            <a:r>
              <a:rPr lang="en-US" dirty="0"/>
              <a:t> </a:t>
            </a:r>
            <a:r>
              <a:rPr lang="en-US" dirty="0" err="1"/>
              <a:t>erros</a:t>
            </a:r>
            <a:r>
              <a:rPr lang="en-US" dirty="0"/>
              <a:t>. </a:t>
            </a:r>
            <a:r>
              <a:rPr lang="en-US" dirty="0" err="1"/>
              <a:t>Isso</a:t>
            </a:r>
            <a:r>
              <a:rPr lang="en-US" dirty="0"/>
              <a:t> </a:t>
            </a:r>
            <a:r>
              <a:rPr lang="en-US" dirty="0" err="1"/>
              <a:t>evita</a:t>
            </a:r>
            <a:r>
              <a:rPr lang="en-US" dirty="0"/>
              <a:t> a </a:t>
            </a:r>
            <a:r>
              <a:rPr lang="en-US" dirty="0" err="1"/>
              <a:t>chamada</a:t>
            </a:r>
            <a:r>
              <a:rPr lang="en-US" dirty="0"/>
              <a:t> </a:t>
            </a:r>
            <a:r>
              <a:rPr lang="en-US" i="1" dirty="0"/>
              <a:t>co-</a:t>
            </a:r>
            <a:r>
              <a:rPr lang="en-US" i="1" dirty="0" err="1"/>
              <a:t>adaptação</a:t>
            </a:r>
            <a:r>
              <a:rPr lang="en-US" dirty="0"/>
              <a:t> e </a:t>
            </a:r>
            <a:r>
              <a:rPr lang="en-US" dirty="0" err="1"/>
              <a:t>força</a:t>
            </a:r>
            <a:r>
              <a:rPr lang="en-US" dirty="0"/>
              <a:t> </a:t>
            </a:r>
            <a:r>
              <a:rPr lang="en-US" dirty="0" err="1"/>
              <a:t>cada</a:t>
            </a:r>
            <a:r>
              <a:rPr lang="en-US" dirty="0"/>
              <a:t> </a:t>
            </a:r>
            <a:r>
              <a:rPr lang="en-US" dirty="0" err="1"/>
              <a:t>neurônio</a:t>
            </a:r>
            <a:r>
              <a:rPr lang="en-US" dirty="0"/>
              <a:t> a </a:t>
            </a:r>
            <a:r>
              <a:rPr lang="en-US" dirty="0" err="1"/>
              <a:t>aprender</a:t>
            </a:r>
            <a:r>
              <a:rPr lang="en-US" dirty="0"/>
              <a:t> </a:t>
            </a:r>
            <a:r>
              <a:rPr lang="en-US" dirty="0" err="1"/>
              <a:t>características</a:t>
            </a:r>
            <a:r>
              <a:rPr lang="en-US" dirty="0"/>
              <a:t> </a:t>
            </a:r>
            <a:r>
              <a:rPr lang="en-US" dirty="0" err="1"/>
              <a:t>úteis</a:t>
            </a:r>
            <a:r>
              <a:rPr lang="en-US" dirty="0"/>
              <a:t> </a:t>
            </a:r>
            <a:r>
              <a:rPr lang="en-US" dirty="0" err="1"/>
              <a:t>por</a:t>
            </a:r>
            <a:r>
              <a:rPr lang="en-US" dirty="0"/>
              <a:t> </a:t>
            </a:r>
            <a:r>
              <a:rPr lang="en-US" dirty="0" err="1"/>
              <a:t>si</a:t>
            </a:r>
            <a:r>
              <a:rPr lang="en-US" dirty="0"/>
              <a:t> </a:t>
            </a:r>
            <a:r>
              <a:rPr lang="en-US" dirty="0" err="1"/>
              <a:t>só</a:t>
            </a:r>
            <a:r>
              <a:rPr lang="en-US" dirty="0"/>
              <a:t>, o </a:t>
            </a:r>
            <a:r>
              <a:rPr lang="en-US" dirty="0" err="1"/>
              <a:t>que</a:t>
            </a:r>
            <a:r>
              <a:rPr lang="en-US" dirty="0"/>
              <a:t> </a:t>
            </a:r>
            <a:r>
              <a:rPr lang="en-US" dirty="0" err="1"/>
              <a:t>reduz</a:t>
            </a:r>
            <a:r>
              <a:rPr lang="en-US" dirty="0"/>
              <a:t> as chances de sobreajuste.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rtl="0"/>
            <a:r>
              <a:rPr lang="en-US" b="1" dirty="0"/>
              <a:t>Uma analogia</a:t>
            </a:r>
            <a:endParaRPr lang="en-US" dirty="0"/>
          </a:p>
          <a:p>
            <a:pPr rtl="0"/>
            <a:r>
              <a:rPr lang="en-US" dirty="0"/>
              <a:t>Imagine </a:t>
            </a:r>
            <a:r>
              <a:rPr lang="en-US" dirty="0" err="1"/>
              <a:t>uma</a:t>
            </a:r>
            <a:r>
              <a:rPr lang="en-US" dirty="0"/>
              <a:t> equipe </a:t>
            </a:r>
            <a:r>
              <a:rPr lang="en-US" dirty="0" err="1"/>
              <a:t>em</a:t>
            </a:r>
            <a:r>
              <a:rPr lang="en-US" dirty="0"/>
              <a:t> </a:t>
            </a:r>
            <a:r>
              <a:rPr lang="en-US" dirty="0" err="1"/>
              <a:t>que</a:t>
            </a:r>
            <a:r>
              <a:rPr lang="en-US" dirty="0"/>
              <a:t> </a:t>
            </a:r>
            <a:r>
              <a:rPr lang="en-US" dirty="0" err="1"/>
              <a:t>cada</a:t>
            </a:r>
            <a:r>
              <a:rPr lang="en-US" dirty="0"/>
              <a:t> </a:t>
            </a:r>
            <a:r>
              <a:rPr lang="en-US" dirty="0" err="1"/>
              <a:t>pessoa</a:t>
            </a:r>
            <a:r>
              <a:rPr lang="en-US" dirty="0"/>
              <a:t> se </a:t>
            </a:r>
            <a:r>
              <a:rPr lang="en-US" dirty="0" err="1"/>
              <a:t>acostuma</a:t>
            </a:r>
            <a:r>
              <a:rPr lang="en-US" dirty="0"/>
              <a:t> a </a:t>
            </a:r>
            <a:r>
              <a:rPr lang="en-US" dirty="0" err="1"/>
              <a:t>contar</a:t>
            </a:r>
            <a:r>
              <a:rPr lang="en-US" dirty="0"/>
              <a:t> com um </a:t>
            </a:r>
            <a:r>
              <a:rPr lang="en-US" dirty="0" err="1"/>
              <a:t>colega</a:t>
            </a:r>
            <a:r>
              <a:rPr lang="en-US" dirty="0"/>
              <a:t> </a:t>
            </a:r>
            <a:r>
              <a:rPr lang="en-US" dirty="0" err="1"/>
              <a:t>específico</a:t>
            </a:r>
            <a:r>
              <a:rPr lang="en-US" dirty="0"/>
              <a:t> para </a:t>
            </a:r>
            <a:r>
              <a:rPr lang="en-US" dirty="0" err="1"/>
              <a:t>cobrir</a:t>
            </a:r>
            <a:r>
              <a:rPr lang="en-US" dirty="0"/>
              <a:t> </a:t>
            </a:r>
            <a:r>
              <a:rPr lang="en-US" dirty="0" err="1"/>
              <a:t>suas</a:t>
            </a:r>
            <a:r>
              <a:rPr lang="en-US" dirty="0"/>
              <a:t> </a:t>
            </a:r>
            <a:r>
              <a:rPr lang="en-US" dirty="0" err="1"/>
              <a:t>falhas</a:t>
            </a:r>
            <a:r>
              <a:rPr lang="en-US" dirty="0"/>
              <a:t>. </a:t>
            </a:r>
            <a:r>
              <a:rPr lang="en-US" dirty="0" err="1"/>
              <a:t>Enquanto</a:t>
            </a:r>
            <a:r>
              <a:rPr lang="en-US" dirty="0"/>
              <a:t> </a:t>
            </a:r>
            <a:r>
              <a:rPr lang="en-US" dirty="0" err="1"/>
              <a:t>todos</a:t>
            </a:r>
            <a:r>
              <a:rPr lang="en-US" dirty="0"/>
              <a:t> </a:t>
            </a:r>
            <a:r>
              <a:rPr lang="en-US" dirty="0" err="1"/>
              <a:t>estão</a:t>
            </a:r>
            <a:r>
              <a:rPr lang="en-US" dirty="0"/>
              <a:t> </a:t>
            </a:r>
            <a:r>
              <a:rPr lang="en-US" dirty="0" err="1"/>
              <a:t>presentes</a:t>
            </a:r>
            <a:r>
              <a:rPr lang="en-US" dirty="0"/>
              <a:t>, o </a:t>
            </a:r>
            <a:r>
              <a:rPr lang="en-US" dirty="0" err="1"/>
              <a:t>trabalho</a:t>
            </a:r>
            <a:r>
              <a:rPr lang="en-US" dirty="0"/>
              <a:t> </a:t>
            </a:r>
            <a:r>
              <a:rPr lang="en-US" dirty="0" err="1"/>
              <a:t>sai</a:t>
            </a:r>
            <a:r>
              <a:rPr lang="en-US" dirty="0"/>
              <a:t> </a:t>
            </a:r>
            <a:r>
              <a:rPr lang="en-US" dirty="0" err="1"/>
              <a:t>bem</a:t>
            </a:r>
            <a:r>
              <a:rPr lang="en-US" dirty="0"/>
              <a:t>. Se um </a:t>
            </a:r>
            <a:r>
              <a:rPr lang="en-US" dirty="0" err="1"/>
              <a:t>colega</a:t>
            </a:r>
            <a:r>
              <a:rPr lang="en-US" dirty="0"/>
              <a:t> </a:t>
            </a:r>
            <a:r>
              <a:rPr lang="en-US" dirty="0" err="1"/>
              <a:t>faltar</a:t>
            </a:r>
            <a:r>
              <a:rPr lang="en-US" dirty="0"/>
              <a:t>, </a:t>
            </a:r>
            <a:r>
              <a:rPr lang="en-US" dirty="0" err="1"/>
              <a:t>tudo</a:t>
            </a:r>
            <a:r>
              <a:rPr lang="en-US" dirty="0"/>
              <a:t> </a:t>
            </a:r>
            <a:r>
              <a:rPr lang="en-US" dirty="0" err="1"/>
              <a:t>desmorona</a:t>
            </a:r>
            <a:r>
              <a:rPr lang="en-US" dirty="0"/>
              <a:t>. Agora imagine </a:t>
            </a:r>
            <a:r>
              <a:rPr lang="en-US" dirty="0" err="1"/>
              <a:t>que</a:t>
            </a:r>
            <a:r>
              <a:rPr lang="en-US" dirty="0"/>
              <a:t>, </a:t>
            </a:r>
            <a:r>
              <a:rPr lang="en-US" dirty="0" err="1"/>
              <a:t>todo</a:t>
            </a:r>
            <a:r>
              <a:rPr lang="en-US" dirty="0"/>
              <a:t> </a:t>
            </a:r>
            <a:r>
              <a:rPr lang="en-US" dirty="0" err="1"/>
              <a:t>dia</a:t>
            </a:r>
            <a:r>
              <a:rPr lang="en-US" dirty="0"/>
              <a:t>, </a:t>
            </a:r>
            <a:r>
              <a:rPr lang="en-US" dirty="0" err="1"/>
              <a:t>algumas</a:t>
            </a:r>
            <a:r>
              <a:rPr lang="en-US" dirty="0"/>
              <a:t> </a:t>
            </a:r>
            <a:r>
              <a:rPr lang="en-US" dirty="0" err="1"/>
              <a:t>pessoas</a:t>
            </a:r>
            <a:r>
              <a:rPr lang="en-US" dirty="0"/>
              <a:t> </a:t>
            </a:r>
            <a:r>
              <a:rPr lang="en-US" dirty="0" err="1"/>
              <a:t>escolhidas</a:t>
            </a:r>
            <a:r>
              <a:rPr lang="en-US" dirty="0"/>
              <a:t> </a:t>
            </a:r>
            <a:r>
              <a:rPr lang="en-US" dirty="0" err="1"/>
              <a:t>ao</a:t>
            </a:r>
            <a:r>
              <a:rPr lang="en-US" dirty="0"/>
              <a:t> </a:t>
            </a:r>
            <a:r>
              <a:rPr lang="en-US" dirty="0" err="1"/>
              <a:t>acaso</a:t>
            </a:r>
            <a:r>
              <a:rPr lang="en-US" dirty="0"/>
              <a:t> </a:t>
            </a:r>
            <a:r>
              <a:rPr lang="en-US" dirty="0" err="1"/>
              <a:t>faltam</a:t>
            </a:r>
            <a:r>
              <a:rPr lang="en-US" dirty="0"/>
              <a:t>. Com o tempo, </a:t>
            </a:r>
            <a:r>
              <a:rPr lang="en-US" dirty="0" err="1"/>
              <a:t>cada</a:t>
            </a:r>
            <a:r>
              <a:rPr lang="en-US" dirty="0"/>
              <a:t> </a:t>
            </a:r>
            <a:r>
              <a:rPr lang="en-US" dirty="0" err="1"/>
              <a:t>pessoa</a:t>
            </a:r>
            <a:r>
              <a:rPr lang="en-US" dirty="0"/>
              <a:t> </a:t>
            </a:r>
            <a:r>
              <a:rPr lang="en-US" dirty="0" err="1"/>
              <a:t>precisa</a:t>
            </a:r>
            <a:r>
              <a:rPr lang="en-US" dirty="0"/>
              <a:t> se </a:t>
            </a:r>
            <a:r>
              <a:rPr lang="en-US" dirty="0" err="1"/>
              <a:t>tornar</a:t>
            </a:r>
            <a:r>
              <a:rPr lang="en-US" dirty="0"/>
              <a:t> </a:t>
            </a:r>
            <a:r>
              <a:rPr lang="en-US" dirty="0" err="1"/>
              <a:t>competente</a:t>
            </a:r>
            <a:r>
              <a:rPr lang="en-US" dirty="0"/>
              <a:t> </a:t>
            </a:r>
            <a:r>
              <a:rPr lang="en-US" dirty="0" err="1"/>
              <a:t>por</a:t>
            </a:r>
            <a:r>
              <a:rPr lang="en-US" dirty="0"/>
              <a:t> </a:t>
            </a:r>
            <a:r>
              <a:rPr lang="en-US" dirty="0" err="1"/>
              <a:t>si</a:t>
            </a:r>
            <a:r>
              <a:rPr lang="en-US" dirty="0"/>
              <a:t> </a:t>
            </a:r>
            <a:r>
              <a:rPr lang="en-US" dirty="0" err="1"/>
              <a:t>mesma</a:t>
            </a:r>
            <a:r>
              <a:rPr lang="en-US" dirty="0"/>
              <a:t>, </a:t>
            </a:r>
            <a:r>
              <a:rPr lang="en-US" dirty="0" err="1"/>
              <a:t>porque</a:t>
            </a:r>
            <a:r>
              <a:rPr lang="en-US" dirty="0"/>
              <a:t> </a:t>
            </a:r>
            <a:r>
              <a:rPr lang="en-US" dirty="0" err="1"/>
              <a:t>não</a:t>
            </a:r>
            <a:r>
              <a:rPr lang="en-US" dirty="0"/>
              <a:t> sabe quem </a:t>
            </a:r>
            <a:r>
              <a:rPr lang="en-US" dirty="0" err="1"/>
              <a:t>estará</a:t>
            </a:r>
            <a:r>
              <a:rPr lang="en-US" dirty="0"/>
              <a:t> </a:t>
            </a:r>
            <a:r>
              <a:rPr lang="en-US" dirty="0" err="1"/>
              <a:t>presente</a:t>
            </a:r>
            <a:r>
              <a:rPr lang="en-US" dirty="0"/>
              <a:t>.</a:t>
            </a:r>
          </a:p>
          <a:p>
            <a:pPr rtl="0"/>
            <a:r>
              <a:rPr lang="en-US" dirty="0"/>
              <a:t>O </a:t>
            </a:r>
            <a:r>
              <a:rPr lang="en-US" i="1" dirty="0"/>
              <a:t>dropout</a:t>
            </a:r>
            <a:r>
              <a:rPr lang="en-US" dirty="0"/>
              <a:t> </a:t>
            </a:r>
            <a:r>
              <a:rPr lang="en-US" dirty="0" err="1"/>
              <a:t>faz</a:t>
            </a:r>
            <a:r>
              <a:rPr lang="en-US" dirty="0"/>
              <a:t> </a:t>
            </a:r>
            <a:r>
              <a:rPr lang="en-US" dirty="0" err="1"/>
              <a:t>exatamente</a:t>
            </a:r>
            <a:r>
              <a:rPr lang="en-US" dirty="0"/>
              <a:t> </a:t>
            </a:r>
            <a:r>
              <a:rPr lang="en-US" dirty="0" err="1"/>
              <a:t>isso</a:t>
            </a:r>
            <a:r>
              <a:rPr lang="en-US" dirty="0"/>
              <a:t> com </a:t>
            </a:r>
            <a:r>
              <a:rPr lang="en-US" dirty="0" err="1"/>
              <a:t>os</a:t>
            </a:r>
            <a:r>
              <a:rPr lang="en-US" dirty="0"/>
              <a:t> </a:t>
            </a:r>
            <a:r>
              <a:rPr lang="en-US" dirty="0" err="1"/>
              <a:t>neurônios</a:t>
            </a:r>
            <a:r>
              <a:rPr lang="en-US" dirty="0"/>
              <a:t>. Como </a:t>
            </a:r>
            <a:r>
              <a:rPr lang="en-US" dirty="0" err="1"/>
              <a:t>os</a:t>
            </a:r>
            <a:r>
              <a:rPr lang="en-US" dirty="0"/>
              <a:t> </a:t>
            </a:r>
            <a:r>
              <a:rPr lang="en-US" dirty="0" err="1"/>
              <a:t>vizinhos</a:t>
            </a:r>
            <a:r>
              <a:rPr lang="en-US" dirty="0"/>
              <a:t> de um </a:t>
            </a:r>
            <a:r>
              <a:rPr lang="en-US" dirty="0" err="1"/>
              <a:t>neurônio</a:t>
            </a:r>
            <a:r>
              <a:rPr lang="en-US" dirty="0"/>
              <a:t> </a:t>
            </a:r>
            <a:r>
              <a:rPr lang="en-US" dirty="0" err="1"/>
              <a:t>são</a:t>
            </a:r>
            <a:r>
              <a:rPr lang="en-US" dirty="0"/>
              <a:t> </a:t>
            </a:r>
            <a:r>
              <a:rPr lang="en-US" dirty="0" err="1"/>
              <a:t>desligados</a:t>
            </a:r>
            <a:r>
              <a:rPr lang="en-US" dirty="0"/>
              <a:t> </a:t>
            </a:r>
            <a:r>
              <a:rPr lang="en-US" dirty="0" err="1"/>
              <a:t>aleatoriamente</a:t>
            </a:r>
            <a:r>
              <a:rPr lang="en-US" dirty="0"/>
              <a:t> a </a:t>
            </a:r>
            <a:r>
              <a:rPr lang="en-US" dirty="0" err="1"/>
              <a:t>cada</a:t>
            </a:r>
            <a:r>
              <a:rPr lang="en-US" dirty="0"/>
              <a:t> </a:t>
            </a:r>
            <a:r>
              <a:rPr lang="en-US" dirty="0" err="1"/>
              <a:t>iteração</a:t>
            </a:r>
            <a:r>
              <a:rPr lang="en-US" dirty="0"/>
              <a:t>, </a:t>
            </a:r>
            <a:r>
              <a:rPr lang="en-US" dirty="0" err="1"/>
              <a:t>ele</a:t>
            </a:r>
            <a:r>
              <a:rPr lang="en-US" dirty="0"/>
              <a:t> </a:t>
            </a:r>
            <a:r>
              <a:rPr lang="en-US" dirty="0" err="1"/>
              <a:t>não</a:t>
            </a:r>
            <a:r>
              <a:rPr lang="en-US" dirty="0"/>
              <a:t> </a:t>
            </a:r>
            <a:r>
              <a:rPr lang="en-US" dirty="0" err="1"/>
              <a:t>pode</a:t>
            </a:r>
            <a:r>
              <a:rPr lang="en-US" dirty="0"/>
              <a:t> </a:t>
            </a:r>
            <a:r>
              <a:rPr lang="en-US" dirty="0" err="1"/>
              <a:t>apostar</a:t>
            </a:r>
            <a:r>
              <a:rPr lang="en-US" dirty="0"/>
              <a:t> </a:t>
            </a:r>
            <a:r>
              <a:rPr lang="en-US" dirty="0" err="1"/>
              <a:t>que</a:t>
            </a:r>
            <a:r>
              <a:rPr lang="en-US" dirty="0"/>
              <a:t> um </a:t>
            </a:r>
            <a:r>
              <a:rPr lang="en-US" dirty="0" err="1"/>
              <a:t>neurônio</a:t>
            </a:r>
            <a:r>
              <a:rPr lang="en-US" dirty="0"/>
              <a:t> </a:t>
            </a:r>
            <a:r>
              <a:rPr lang="en-US" dirty="0" err="1"/>
              <a:t>específico</a:t>
            </a:r>
            <a:r>
              <a:rPr lang="en-US" dirty="0"/>
              <a:t> </a:t>
            </a:r>
            <a:r>
              <a:rPr lang="en-US" dirty="0" err="1"/>
              <a:t>estará</a:t>
            </a:r>
            <a:r>
              <a:rPr lang="en-US" dirty="0"/>
              <a:t> </a:t>
            </a:r>
            <a:r>
              <a:rPr lang="en-US" dirty="0" err="1"/>
              <a:t>lá</a:t>
            </a:r>
            <a:r>
              <a:rPr lang="en-US" dirty="0"/>
              <a:t> para </a:t>
            </a:r>
            <a:r>
              <a:rPr lang="en-US" dirty="0" err="1"/>
              <a:t>compensá</a:t>
            </a:r>
            <a:r>
              <a:rPr lang="en-US" dirty="0"/>
              <a:t>-lo. Cada um é </a:t>
            </a:r>
            <a:r>
              <a:rPr lang="en-US" dirty="0" err="1"/>
              <a:t>forçado</a:t>
            </a:r>
            <a:r>
              <a:rPr lang="en-US" dirty="0"/>
              <a:t> a </a:t>
            </a:r>
            <a:r>
              <a:rPr lang="en-US" dirty="0" err="1"/>
              <a:t>aprender</a:t>
            </a:r>
            <a:r>
              <a:rPr lang="en-US" dirty="0"/>
              <a:t> </a:t>
            </a:r>
            <a:r>
              <a:rPr lang="en-US" dirty="0" err="1"/>
              <a:t>características</a:t>
            </a:r>
            <a:r>
              <a:rPr lang="en-US" dirty="0"/>
              <a:t> </a:t>
            </a:r>
            <a:r>
              <a:rPr lang="en-US" dirty="0" err="1"/>
              <a:t>que</a:t>
            </a:r>
            <a:r>
              <a:rPr lang="en-US" dirty="0"/>
              <a:t> </a:t>
            </a:r>
            <a:r>
              <a:rPr lang="en-US" dirty="0" err="1"/>
              <a:t>sejam</a:t>
            </a:r>
            <a:r>
              <a:rPr lang="en-US" dirty="0"/>
              <a:t> </a:t>
            </a:r>
            <a:r>
              <a:rPr lang="en-US" dirty="0" err="1"/>
              <a:t>úteis</a:t>
            </a:r>
            <a:r>
              <a:rPr lang="en-US" dirty="0"/>
              <a:t> de forma </a:t>
            </a:r>
            <a:r>
              <a:rPr lang="en-US" dirty="0" err="1"/>
              <a:t>mais</a:t>
            </a:r>
            <a:r>
              <a:rPr lang="en-US" dirty="0"/>
              <a:t> </a:t>
            </a:r>
            <a:r>
              <a:rPr lang="en-US" dirty="0" err="1"/>
              <a:t>independente</a:t>
            </a:r>
            <a:r>
              <a:rPr lang="en-US" dirty="0"/>
              <a:t> e robusta.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dropout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dropout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dropout" é definido antes do treinamento. Essa taxa determina a probabilidade de um neurônio ser desligado durante cada iteração. Por exemplo, uma taxa de dropout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dropout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dropout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dropout seja uma técnica eficaz de regularização, é importante ajustar a taxa de dropout adequadamente, pois uma taxa muito alta pode prejudicar o aprendizado, enquanto uma taxa muito baixa pode não fornecer os benefícios desejados. A taxa de dropout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Treinar</a:t>
            </a:r>
            <a:r>
              <a:rPr lang="en-US" dirty="0"/>
              <a:t> com </a:t>
            </a:r>
            <a:r>
              <a:rPr lang="en-US" i="1" dirty="0"/>
              <a:t>dropout</a:t>
            </a:r>
            <a:r>
              <a:rPr lang="en-US" dirty="0"/>
              <a:t> é </a:t>
            </a:r>
            <a:r>
              <a:rPr lang="en-US" dirty="0" err="1"/>
              <a:t>como</a:t>
            </a:r>
            <a:r>
              <a:rPr lang="en-US" dirty="0"/>
              <a:t> </a:t>
            </a:r>
            <a:r>
              <a:rPr lang="en-US" dirty="0" err="1"/>
              <a:t>treinar</a:t>
            </a:r>
            <a:r>
              <a:rPr lang="en-US" dirty="0"/>
              <a:t> </a:t>
            </a:r>
            <a:r>
              <a:rPr lang="en-US" dirty="0" err="1"/>
              <a:t>várias</a:t>
            </a:r>
            <a:r>
              <a:rPr lang="en-US" dirty="0"/>
              <a:t> redes </a:t>
            </a:r>
            <a:r>
              <a:rPr lang="en-US" dirty="0" err="1"/>
              <a:t>neurais</a:t>
            </a:r>
            <a:r>
              <a:rPr lang="en-US" dirty="0"/>
              <a:t> </a:t>
            </a:r>
            <a:r>
              <a:rPr lang="en-US" dirty="0" err="1"/>
              <a:t>diferentes</a:t>
            </a:r>
            <a:r>
              <a:rPr lang="en-US" dirty="0"/>
              <a:t>, </a:t>
            </a:r>
            <a:r>
              <a:rPr lang="en-US" dirty="0" err="1"/>
              <a:t>que</a:t>
            </a:r>
            <a:r>
              <a:rPr lang="en-US" dirty="0"/>
              <a:t> </a:t>
            </a:r>
            <a:r>
              <a:rPr lang="en-US" dirty="0" err="1"/>
              <a:t>compartilham</a:t>
            </a:r>
            <a:r>
              <a:rPr lang="en-US" dirty="0"/>
              <a:t> pesos entre </a:t>
            </a:r>
            <a:r>
              <a:rPr lang="en-US" dirty="0" err="1"/>
              <a:t>si</a:t>
            </a:r>
            <a:r>
              <a:rPr lang="en-US" dirty="0"/>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dropout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dropout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dropout" é definido antes do treinamento. Essa taxa determina a probabilidade de um neurônio ser desligado durante cada iteração. Por exemplo, uma taxa de dropout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dropout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dropout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dropout seja uma técnica eficaz de regularização, é importante ajustar a taxa de dropout adequadamente, pois uma taxa muito alta pode prejudicar o aprendizado, enquanto uma taxa muito baixa pode não fornecer os benefícios desejados. A taxa de dropout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71</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74</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15/10/2026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15/10/2026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15/10/2026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15/10/2026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15/10/2026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15/10/2026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15/10/2026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15/10/2026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15/10/2026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15/10/2026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15/10/2026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15/10/2026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24.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2.gif"/></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6.png"/></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6.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jpeg"/><Relationship Id="rId4" Type="http://schemas.openxmlformats.org/officeDocument/2006/relationships/image" Target="../media/image51.png"/></Relationships>
</file>

<file path=ppt/slides/_rels/slide75.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9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9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100.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101.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102.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0.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103.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10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são a base das </a:t>
            </a:r>
            <a:r>
              <a:rPr lang="pt-BR" sz="2800" i="1" dirty="0" err="1"/>
              <a:t>Convolutional</a:t>
            </a:r>
            <a:r>
              <a:rPr lang="pt-BR" sz="2800" i="1" dirty="0"/>
              <a:t> Neural Networks </a:t>
            </a:r>
            <a:r>
              <a:rPr lang="pt-BR" sz="2800" dirty="0"/>
              <a:t>(CNNs).</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DNNs versus CNNs</a:t>
            </a:r>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fontScale="92500" lnSpcReduction="10000"/>
          </a:bodyPr>
          <a:lstStyle/>
          <a:p>
            <a:r>
              <a:rPr lang="pt-BR" dirty="0"/>
              <a:t>A </a:t>
            </a:r>
            <a:r>
              <a:rPr lang="pt-BR" b="1" dirty="0">
                <a:solidFill>
                  <a:srgbClr val="00B050"/>
                </a:solidFill>
              </a:rPr>
              <a:t>principal diferença</a:t>
            </a:r>
            <a:r>
              <a:rPr lang="pt-BR" dirty="0"/>
              <a:t> para uma rede densa (DNN) é que ao invés de </a:t>
            </a:r>
            <a:r>
              <a:rPr lang="pt-BR" b="1" dirty="0">
                <a:solidFill>
                  <a:srgbClr val="00B050"/>
                </a:solidFill>
              </a:rPr>
              <a:t>aprender </a:t>
            </a:r>
            <a:r>
              <a:rPr lang="pt-BR" b="1" dirty="0">
                <a:solidFill>
                  <a:srgbClr val="7030A0"/>
                </a:solidFill>
              </a:rPr>
              <a:t>relações globais </a:t>
            </a:r>
            <a:r>
              <a:rPr lang="pt-BR" b="1" dirty="0">
                <a:solidFill>
                  <a:srgbClr val="00B050"/>
                </a:solidFill>
              </a:rPr>
              <a:t>entre os atributos</a:t>
            </a:r>
            <a:r>
              <a:rPr lang="pt-BR" dirty="0"/>
              <a:t>, uma </a:t>
            </a:r>
            <a:r>
              <a:rPr lang="pt-BR" b="1" dirty="0">
                <a:solidFill>
                  <a:srgbClr val="00B050"/>
                </a:solidFill>
              </a:rPr>
              <a:t>CNN aprende </a:t>
            </a:r>
            <a:r>
              <a:rPr lang="pt-BR" b="1" dirty="0">
                <a:solidFill>
                  <a:srgbClr val="7030A0"/>
                </a:solidFill>
              </a:rPr>
              <a:t>relações (padrões) locais,</a:t>
            </a:r>
            <a:r>
              <a:rPr lang="pt-BR" dirty="0"/>
              <a:t> que podem aparecer em qualquer lugar de uma imagem,</a:t>
            </a:r>
            <a:r>
              <a:rPr lang="pt-BR" b="1" dirty="0">
                <a:solidFill>
                  <a:srgbClr val="00B050"/>
                </a:solidFill>
              </a:rPr>
              <a:t> através de filtros de convolução </a:t>
            </a:r>
            <a:r>
              <a:rPr lang="pt-BR" dirty="0"/>
              <a:t>(ou </a:t>
            </a:r>
            <a:r>
              <a:rPr lang="pt-BR" b="1" i="1" dirty="0">
                <a:solidFill>
                  <a:schemeClr val="accent2"/>
                </a:solidFill>
              </a:rPr>
              <a:t>kernels</a:t>
            </a:r>
            <a:r>
              <a:rPr lang="pt-BR" dirty="0"/>
              <a:t>).</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a:t>Em geral, CNNs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09625" y="2414587"/>
            <a:ext cx="10515600" cy="1985963"/>
          </a:xfrm>
        </p:spPr>
        <p:txBody>
          <a:bodyPr>
            <a:normAutofit/>
          </a:bodyPr>
          <a:lstStyle/>
          <a:p>
            <a:pPr marL="0" indent="0" algn="ctr">
              <a:buNone/>
            </a:pPr>
            <a:r>
              <a:rPr lang="pt-BR" sz="6000" dirty="0"/>
              <a:t>Por que </a:t>
            </a:r>
            <a:r>
              <a:rPr lang="pt-BR" sz="6600" dirty="0"/>
              <a:t>não</a:t>
            </a:r>
            <a:r>
              <a:rPr lang="pt-BR" sz="6000" dirty="0"/>
              <a:t> usamos redes densas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40" y="1825624"/>
            <a:ext cx="6695660" cy="5032375"/>
          </a:xfrm>
        </p:spPr>
        <p:txBody>
          <a:bodyPr>
            <a:normAutofit/>
          </a:bodyPr>
          <a:lstStyle/>
          <a:p>
            <a:r>
              <a:rPr lang="pt-BR" b="0" noProof="0" dirty="0">
                <a:effectLst/>
              </a:rPr>
              <a:t>DNNs são </a:t>
            </a:r>
            <a:r>
              <a:rPr lang="pt-BR" b="1" noProof="0" dirty="0">
                <a:solidFill>
                  <a:srgbClr val="00B050"/>
                </a:solidFill>
                <a:effectLst/>
              </a:rPr>
              <a:t>adequadas para dados </a:t>
            </a:r>
            <a:r>
              <a:rPr lang="pt-BR" b="1" noProof="0" dirty="0">
                <a:solidFill>
                  <a:schemeClr val="accent2"/>
                </a:solidFill>
                <a:effectLst/>
              </a:rPr>
              <a:t>tabulares</a:t>
            </a:r>
            <a:r>
              <a:rPr lang="pt-BR" b="0" noProof="0" dirty="0">
                <a:effectLst/>
              </a:rPr>
              <a:t>, onde os </a:t>
            </a:r>
            <a:r>
              <a:rPr lang="pt-BR" b="1" noProof="0" dirty="0">
                <a:solidFill>
                  <a:srgbClr val="00B050"/>
                </a:solidFill>
                <a:effectLst/>
              </a:rPr>
              <a:t>exemplos são representados por linhas e os atributos por colunas</a:t>
            </a:r>
            <a:r>
              <a:rPr lang="pt-BR" b="0" noProof="0" dirty="0">
                <a:effectLst/>
              </a:rPr>
              <a:t>.</a:t>
            </a:r>
          </a:p>
          <a:p>
            <a:r>
              <a:rPr lang="pt-BR" noProof="0" dirty="0"/>
              <a:t>O objetivo de uma MLP é </a:t>
            </a:r>
            <a:r>
              <a:rPr lang="pt-BR" b="1" noProof="0" dirty="0"/>
              <a:t>aprender </a:t>
            </a:r>
            <a:r>
              <a:rPr lang="pt-BR" b="1" noProof="0" dirty="0">
                <a:solidFill>
                  <a:srgbClr val="0070C0"/>
                </a:solidFill>
              </a:rPr>
              <a:t>relações globais</a:t>
            </a:r>
            <a:r>
              <a:rPr lang="pt-BR" b="1" noProof="0" dirty="0"/>
              <a:t> entre os atributos</a:t>
            </a:r>
            <a:r>
              <a:rPr lang="pt-BR" noProof="0" dirty="0"/>
              <a:t>, sem </a:t>
            </a:r>
            <a:r>
              <a:rPr lang="pt-BR" b="1" noProof="0" dirty="0">
                <a:solidFill>
                  <a:srgbClr val="00B0F0"/>
                </a:solidFill>
              </a:rPr>
              <a:t>considerar uma estrutura espacial ou de vizinhança </a:t>
            </a:r>
            <a:r>
              <a:rPr lang="pt-BR" noProof="0" dirty="0"/>
              <a:t>entre eles.</a:t>
            </a:r>
          </a:p>
          <a:p>
            <a:r>
              <a:rPr lang="pt-BR" noProof="0" dirty="0"/>
              <a:t>DNNs </a:t>
            </a:r>
            <a:r>
              <a:rPr lang="pt-BR" b="1" noProof="0" dirty="0">
                <a:solidFill>
                  <a:srgbClr val="7030A0"/>
                </a:solidFill>
              </a:rPr>
              <a:t>não possuem</a:t>
            </a:r>
            <a:r>
              <a:rPr lang="pt-BR" noProof="0" dirty="0"/>
              <a:t>, por construção, </a:t>
            </a:r>
            <a:r>
              <a:rPr lang="pt-BR" b="1" noProof="0" dirty="0">
                <a:solidFill>
                  <a:srgbClr val="7030A0"/>
                </a:solidFill>
              </a:rPr>
              <a:t>conhecimento de que </a:t>
            </a:r>
            <a:r>
              <a:rPr lang="pt-BR" b="1" i="1" noProof="0" dirty="0">
                <a:solidFill>
                  <a:srgbClr val="7030A0"/>
                </a:solidFill>
              </a:rPr>
              <a:t>pixels</a:t>
            </a:r>
            <a:r>
              <a:rPr lang="pt-BR" b="1" noProof="0" dirty="0">
                <a:solidFill>
                  <a:srgbClr val="7030A0"/>
                </a:solidFill>
              </a:rPr>
              <a:t> próximos formam uma estrutura espacial (i.e., estão relacionados)</a:t>
            </a:r>
            <a:r>
              <a:rPr lang="pt-BR" noProof="0" dirty="0"/>
              <a:t>.</a:t>
            </a:r>
            <a:endParaRPr lang="pt-BR" b="0" noProof="0" dirty="0">
              <a:effectLst/>
            </a:endParaRP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387886" y="1725546"/>
            <a:ext cx="4588632" cy="3834362"/>
          </a:xfrm>
          <a:prstGeom prst="rect">
            <a:avLst/>
          </a:prstGeom>
        </p:spPr>
      </p:pic>
      <p:sp>
        <p:nvSpPr>
          <p:cNvPr id="4" name="CaixaDeTexto 3">
            <a:extLst>
              <a:ext uri="{FF2B5EF4-FFF2-40B4-BE49-F238E27FC236}">
                <a16:creationId xmlns:a16="http://schemas.microsoft.com/office/drawing/2014/main" id="{95FA7017-2A82-FBFD-66BC-D195F1B43CB2}"/>
              </a:ext>
            </a:extLst>
          </p:cNvPr>
          <p:cNvSpPr txBox="1"/>
          <p:nvPr/>
        </p:nvSpPr>
        <p:spPr>
          <a:xfrm>
            <a:off x="387886" y="6169709"/>
            <a:ext cx="4423144" cy="646331"/>
          </a:xfrm>
          <a:prstGeom prst="rect">
            <a:avLst/>
          </a:prstGeom>
          <a:noFill/>
        </p:spPr>
        <p:txBody>
          <a:bodyPr wrap="square" rtlCol="0">
            <a:spAutoFit/>
          </a:bodyPr>
          <a:lstStyle/>
          <a:p>
            <a:pPr algn="ctr"/>
            <a:r>
              <a:rPr lang="pt-BR" dirty="0"/>
              <a:t>A MLP aprende o que é um 7 </a:t>
            </a:r>
            <a:r>
              <a:rPr lang="pt-BR" b="1" dirty="0">
                <a:solidFill>
                  <a:schemeClr val="accent2"/>
                </a:solidFill>
              </a:rPr>
              <a:t>relacionando todos</a:t>
            </a:r>
            <a:r>
              <a:rPr lang="pt-BR" dirty="0"/>
              <a:t> os 784 </a:t>
            </a:r>
            <a:r>
              <a:rPr lang="pt-BR" i="1" dirty="0"/>
              <a:t>pixels</a:t>
            </a:r>
            <a:r>
              <a:rPr lang="pt-BR" dirty="0"/>
              <a:t>.</a:t>
            </a:r>
            <a:endParaRPr lang="en-US" dirty="0"/>
          </a:p>
        </p:txBody>
      </p:sp>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0EB66EDE-4FEF-7030-6EF2-A0CBD51FAE51}"/>
                  </a:ext>
                </a:extLst>
              </p:cNvPr>
              <p:cNvSpPr txBox="1"/>
              <p:nvPr/>
            </p:nvSpPr>
            <p:spPr>
              <a:xfrm>
                <a:off x="377573" y="5744794"/>
                <a:ext cx="450734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𝑁</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i="1">
                              <a:latin typeface="Cambria Math" panose="02040503050406030204" pitchFamily="18" charset="0"/>
                            </a:rPr>
                            <m:t>1</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784</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784</m:t>
                          </m:r>
                        </m:sub>
                      </m:sSub>
                    </m:oMath>
                  </m:oMathPara>
                </a14:m>
                <a:endParaRPr lang="en-US" dirty="0"/>
              </a:p>
            </p:txBody>
          </p:sp>
        </mc:Choice>
        <mc:Fallback xmlns="">
          <p:sp>
            <p:nvSpPr>
              <p:cNvPr id="7" name="CaixaDeTexto 6">
                <a:extLst>
                  <a:ext uri="{FF2B5EF4-FFF2-40B4-BE49-F238E27FC236}">
                    <a16:creationId xmlns:a16="http://schemas.microsoft.com/office/drawing/2014/main" id="{0EB66EDE-4FEF-7030-6EF2-A0CBD51FAE51}"/>
                  </a:ext>
                </a:extLst>
              </p:cNvPr>
              <p:cNvSpPr txBox="1">
                <a:spLocks noRot="1" noChangeAspect="1" noMove="1" noResize="1" noEditPoints="1" noAdjustHandles="1" noChangeArrowheads="1" noChangeShapeType="1" noTextEdit="1"/>
              </p:cNvSpPr>
              <p:nvPr/>
            </p:nvSpPr>
            <p:spPr>
              <a:xfrm>
                <a:off x="377573" y="5744794"/>
                <a:ext cx="4507345" cy="369332"/>
              </a:xfrm>
              <a:prstGeom prst="rect">
                <a:avLst/>
              </a:prstGeom>
              <a:blipFill>
                <a:blip r:embed="rId4"/>
                <a:stretch>
                  <a:fillRect b="-6557"/>
                </a:stretch>
              </a:blipFill>
            </p:spPr>
            <p:txBody>
              <a:bodyPr/>
              <a:lstStyle/>
              <a:p>
                <a:r>
                  <a:rPr lang="en-US">
                    <a:noFill/>
                  </a:rPr>
                  <a:t> </a:t>
                </a:r>
              </a:p>
            </p:txBody>
          </p:sp>
        </mc:Fallback>
      </mc:AlternateContent>
      <p:cxnSp>
        <p:nvCxnSpPr>
          <p:cNvPr id="9" name="Conector de Seta Reta 8">
            <a:extLst>
              <a:ext uri="{FF2B5EF4-FFF2-40B4-BE49-F238E27FC236}">
                <a16:creationId xmlns:a16="http://schemas.microsoft.com/office/drawing/2014/main" id="{4A778D9C-8279-D912-26AC-933241651C0D}"/>
              </a:ext>
            </a:extLst>
          </p:cNvPr>
          <p:cNvCxnSpPr>
            <a:stCxn id="7" idx="0"/>
          </p:cNvCxnSpPr>
          <p:nvPr/>
        </p:nvCxnSpPr>
        <p:spPr>
          <a:xfrm flipV="1">
            <a:off x="2631246" y="5486400"/>
            <a:ext cx="1091009" cy="2583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228896" y="1690688"/>
            <a:ext cx="5963104" cy="5167311"/>
          </a:xfrm>
        </p:spPr>
        <p:txBody>
          <a:bodyPr>
            <a:normAutofit/>
          </a:bodyPr>
          <a:lstStyle/>
          <a:p>
            <a:r>
              <a:rPr lang="pt-BR" noProof="0" dirty="0"/>
              <a:t>DNNs </a:t>
            </a:r>
            <a:r>
              <a:rPr lang="pt-BR" b="1" noProof="0" dirty="0">
                <a:solidFill>
                  <a:srgbClr val="00B050"/>
                </a:solidFill>
              </a:rPr>
              <a:t>aprendem</a:t>
            </a:r>
            <a:r>
              <a:rPr lang="pt-BR" b="1" noProof="0" dirty="0">
                <a:solidFill>
                  <a:srgbClr val="7030A0"/>
                </a:solidFill>
              </a:rPr>
              <a:t> </a:t>
            </a:r>
            <a:r>
              <a:rPr lang="pt-BR" b="1" noProof="0" dirty="0">
                <a:solidFill>
                  <a:schemeClr val="accent2"/>
                </a:solidFill>
              </a:rPr>
              <a:t>padrões globais</a:t>
            </a:r>
            <a:r>
              <a:rPr lang="pt-BR" noProof="0" dirty="0"/>
              <a:t>.</a:t>
            </a:r>
          </a:p>
          <a:p>
            <a:r>
              <a:rPr lang="pt-BR" noProof="0" dirty="0"/>
              <a:t>Elas </a:t>
            </a:r>
            <a:r>
              <a:rPr lang="pt-BR" b="1" noProof="0" dirty="0">
                <a:solidFill>
                  <a:srgbClr val="FF0000"/>
                </a:solidFill>
              </a:rPr>
              <a:t>não incorporam explicitamente</a:t>
            </a:r>
            <a:r>
              <a:rPr lang="pt-BR" b="1" noProof="0" dirty="0">
                <a:solidFill>
                  <a:srgbClr val="00B050"/>
                </a:solidFill>
              </a:rPr>
              <a:t> </a:t>
            </a:r>
            <a:r>
              <a:rPr lang="pt-BR" noProof="0" dirty="0"/>
              <a:t>a</a:t>
            </a:r>
            <a:r>
              <a:rPr lang="pt-BR" b="1" noProof="0" dirty="0">
                <a:solidFill>
                  <a:srgbClr val="00B050"/>
                </a:solidFill>
              </a:rPr>
              <a:t> </a:t>
            </a:r>
            <a:r>
              <a:rPr lang="pt-BR" b="1" noProof="0" dirty="0">
                <a:solidFill>
                  <a:srgbClr val="7030A0"/>
                </a:solidFill>
              </a:rPr>
              <a:t>localidade espacial</a:t>
            </a:r>
            <a:r>
              <a:rPr lang="pt-BR" b="1" noProof="0" dirty="0">
                <a:solidFill>
                  <a:srgbClr val="00B050"/>
                </a:solidFill>
              </a:rPr>
              <a:t> </a:t>
            </a:r>
            <a:r>
              <a:rPr lang="pt-BR" noProof="0" dirty="0"/>
              <a:t>em dados com topologia de grade (e.g., imagens).</a:t>
            </a:r>
          </a:p>
          <a:p>
            <a:pPr lvl="1">
              <a:buFont typeface="Wingdings" panose="05000000000000000000" pitchFamily="2" charset="2"/>
              <a:buChar char="§"/>
            </a:pPr>
            <a:r>
              <a:rPr lang="pt-BR" b="1" noProof="0" dirty="0">
                <a:solidFill>
                  <a:srgbClr val="7030A0"/>
                </a:solidFill>
              </a:rPr>
              <a:t>Localidade espacial</a:t>
            </a:r>
            <a:r>
              <a:rPr lang="pt-BR" b="0" noProof="0" dirty="0">
                <a:effectLst/>
              </a:rPr>
              <a:t>: </a:t>
            </a:r>
            <a:r>
              <a:rPr lang="pt-BR" b="1" noProof="0" dirty="0">
                <a:solidFill>
                  <a:schemeClr val="accent2"/>
                </a:solidFill>
                <a:effectLst/>
              </a:rPr>
              <a:t>região</a:t>
            </a:r>
            <a:r>
              <a:rPr lang="pt-BR" b="0" noProof="0" dirty="0">
                <a:effectLst/>
              </a:rPr>
              <a:t> onde </a:t>
            </a:r>
            <a:r>
              <a:rPr lang="pt-BR" b="1" noProof="0" dirty="0">
                <a:solidFill>
                  <a:srgbClr val="00B050"/>
                </a:solidFill>
                <a:effectLst/>
              </a:rPr>
              <a:t>informações próximas </a:t>
            </a:r>
            <a:r>
              <a:rPr lang="pt-BR" b="0" noProof="0" dirty="0">
                <a:effectLst/>
              </a:rPr>
              <a:t>umas das outras </a:t>
            </a:r>
            <a:r>
              <a:rPr lang="pt-BR" b="1" noProof="0" dirty="0">
                <a:solidFill>
                  <a:srgbClr val="00B050"/>
                </a:solidFill>
                <a:effectLst/>
              </a:rPr>
              <a:t>estão relacionadas</a:t>
            </a:r>
            <a:r>
              <a:rPr lang="pt-BR" b="0" noProof="0" dirty="0">
                <a:effectLst/>
              </a:rPr>
              <a:t>.</a:t>
            </a:r>
          </a:p>
          <a:p>
            <a:pPr lvl="1">
              <a:buFont typeface="Wingdings" panose="05000000000000000000" pitchFamily="2" charset="2"/>
              <a:buChar char="§"/>
            </a:pPr>
            <a:r>
              <a:rPr lang="pt-BR" b="1" dirty="0">
                <a:solidFill>
                  <a:schemeClr val="accent1"/>
                </a:solidFill>
              </a:rPr>
              <a:t>Topologia em grade</a:t>
            </a:r>
            <a:r>
              <a:rPr lang="pt-BR" dirty="0"/>
              <a:t>: cada elemento possui uma posição e uma vizinhança espacial bem definida.</a:t>
            </a:r>
            <a:endParaRPr lang="pt-BR" b="0" noProof="0" dirty="0">
              <a:effectLst/>
            </a:endParaRP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171370" y="5794599"/>
            <a:ext cx="2686049" cy="830997"/>
          </a:xfrm>
          <a:prstGeom prst="rect">
            <a:avLst/>
          </a:prstGeom>
          <a:noFill/>
        </p:spPr>
        <p:txBody>
          <a:bodyPr wrap="square">
            <a:spAutoFit/>
          </a:bodyPr>
          <a:lstStyle/>
          <a:p>
            <a:pPr algn="ctr"/>
            <a:r>
              <a:rPr lang="pt-BR" sz="1600" dirty="0"/>
              <a:t>CNN: neurônios recebem (olham) apenas uma parte dos </a:t>
            </a:r>
            <a:r>
              <a:rPr lang="pt-BR" sz="1600" i="1" dirty="0"/>
              <a:t>pixels</a:t>
            </a:r>
            <a:r>
              <a:rPr lang="pt-BR" sz="1600" dirty="0"/>
              <a:t> da imagem</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679931" y="1825624"/>
            <a:ext cx="6418283" cy="5032375"/>
          </a:xfrm>
        </p:spPr>
        <p:txBody>
          <a:bodyPr>
            <a:normAutofit/>
          </a:bodyPr>
          <a:lstStyle/>
          <a:p>
            <a:r>
              <a:rPr lang="pt-BR" b="1" noProof="0" dirty="0">
                <a:solidFill>
                  <a:srgbClr val="7030A0"/>
                </a:solidFill>
              </a:rPr>
              <a:t>I</a:t>
            </a:r>
            <a:r>
              <a:rPr lang="pt-BR" b="1" noProof="0" dirty="0">
                <a:solidFill>
                  <a:srgbClr val="7030A0"/>
                </a:solidFill>
                <a:effectLst/>
              </a:rPr>
              <a:t>magens têm uma estrutura espacial</a:t>
            </a:r>
            <a:r>
              <a:rPr lang="pt-BR" b="0" noProof="0" dirty="0">
                <a:effectLst/>
              </a:rPr>
              <a:t> que pode ser explorada por CNNs.</a:t>
            </a:r>
            <a:endParaRPr lang="pt-BR" noProof="0" dirty="0"/>
          </a:p>
          <a:p>
            <a:r>
              <a:rPr lang="pt-BR" noProof="0" dirty="0"/>
              <a:t>Os </a:t>
            </a:r>
            <a:r>
              <a:rPr lang="pt-BR" i="1" noProof="0" dirty="0"/>
              <a:t>pixels</a:t>
            </a:r>
            <a:r>
              <a:rPr lang="pt-BR" noProof="0" dirty="0"/>
              <a:t> possuem </a:t>
            </a:r>
            <a:r>
              <a:rPr lang="pt-BR" b="1" noProof="0" dirty="0">
                <a:solidFill>
                  <a:schemeClr val="accent5"/>
                </a:solidFill>
              </a:rPr>
              <a:t>posição no espaço</a:t>
            </a:r>
            <a:r>
              <a:rPr lang="pt-BR" noProof="0" dirty="0"/>
              <a:t>.</a:t>
            </a:r>
          </a:p>
          <a:p>
            <a:r>
              <a:rPr lang="pt-BR" noProof="0" dirty="0"/>
              <a:t>Em uma imagem, </a:t>
            </a:r>
            <a:r>
              <a:rPr lang="pt-BR" i="1" noProof="0" dirty="0"/>
              <a:t>pixels</a:t>
            </a:r>
            <a:r>
              <a:rPr lang="pt-BR" noProof="0" dirty="0"/>
              <a:t> </a:t>
            </a:r>
            <a:r>
              <a:rPr lang="pt-BR" b="1" noProof="0" dirty="0">
                <a:solidFill>
                  <a:schemeClr val="accent5"/>
                </a:solidFill>
              </a:rPr>
              <a:t>vizinhos</a:t>
            </a:r>
            <a:r>
              <a:rPr lang="pt-BR" noProof="0" dirty="0"/>
              <a:t> tendem a conter informações </a:t>
            </a:r>
            <a:r>
              <a:rPr lang="pt-BR" b="1" noProof="0" dirty="0">
                <a:solidFill>
                  <a:schemeClr val="accent5"/>
                </a:solidFill>
              </a:rPr>
              <a:t>relacionadas</a:t>
            </a:r>
            <a:r>
              <a:rPr lang="pt-BR" noProof="0" dirty="0"/>
              <a:t>.</a:t>
            </a:r>
          </a:p>
          <a:p>
            <a:r>
              <a:rPr lang="pt-BR" noProof="0" dirty="0"/>
              <a:t>Por exemplo, no caso do gato ao lado, existem </a:t>
            </a:r>
            <a:r>
              <a:rPr lang="pt-BR" b="1" noProof="0" dirty="0">
                <a:solidFill>
                  <a:schemeClr val="accent2"/>
                </a:solidFill>
              </a:rPr>
              <a:t>correlações locais </a:t>
            </a:r>
            <a:r>
              <a:rPr lang="pt-BR" noProof="0" dirty="0"/>
              <a:t>entre os </a:t>
            </a:r>
            <a:r>
              <a:rPr lang="pt-BR" i="1" noProof="0" dirty="0"/>
              <a:t>pixels </a:t>
            </a:r>
            <a:r>
              <a:rPr lang="pt-BR" noProof="0" dirty="0"/>
              <a:t>dos olhos, nariz, boca, etc.</a:t>
            </a:r>
          </a:p>
          <a:p>
            <a:pPr marL="0" indent="0">
              <a:buNone/>
            </a:pPr>
            <a:endParaRPr lang="pt-BR" noProof="0" dirty="0"/>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925406" y="1690688"/>
            <a:ext cx="6266594" cy="5167311"/>
          </a:xfrm>
        </p:spPr>
        <p:txBody>
          <a:bodyPr>
            <a:normAutofit/>
          </a:bodyPr>
          <a:lstStyle/>
          <a:p>
            <a:r>
              <a:rPr lang="pt-BR" b="1" dirty="0">
                <a:solidFill>
                  <a:srgbClr val="00B050"/>
                </a:solidFill>
              </a:rPr>
              <a:t>Estruturas</a:t>
            </a:r>
            <a:r>
              <a:rPr lang="pt-BR" dirty="0"/>
              <a:t> (ou </a:t>
            </a:r>
            <a:r>
              <a:rPr lang="pt-BR" b="1" dirty="0">
                <a:solidFill>
                  <a:srgbClr val="0070C0"/>
                </a:solidFill>
              </a:rPr>
              <a:t>padrões</a:t>
            </a:r>
            <a:r>
              <a:rPr lang="pt-BR" dirty="0"/>
              <a:t>) importantes como </a:t>
            </a:r>
            <a:r>
              <a:rPr lang="pt-BR" b="1" dirty="0">
                <a:solidFill>
                  <a:schemeClr val="accent2"/>
                </a:solidFill>
              </a:rPr>
              <a:t>bordas, contornos, texturas, formas, partes de objetos e objetos inteiros</a:t>
            </a:r>
            <a:r>
              <a:rPr lang="pt-BR" dirty="0"/>
              <a:t> </a:t>
            </a:r>
            <a:r>
              <a:rPr lang="pt-BR" b="1" dirty="0">
                <a:solidFill>
                  <a:srgbClr val="00B050"/>
                </a:solidFill>
              </a:rPr>
              <a:t>dependem da organização espacial</a:t>
            </a:r>
            <a:r>
              <a:rPr lang="pt-BR" dirty="0"/>
              <a:t>.</a:t>
            </a:r>
          </a:p>
          <a:p>
            <a:r>
              <a:rPr lang="pt-BR" dirty="0"/>
              <a:t>Portanto, 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a:p>
            <a:r>
              <a:rPr lang="pt-BR" dirty="0"/>
              <a:t>As CNNs exploram a localidade espacial usando filtros que percorrem a imagem em busca de padrões.</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5791200" y="1825624"/>
            <a:ext cx="6400800" cy="5032375"/>
          </a:xfrm>
        </p:spPr>
        <p:txBody>
          <a:bodyPr>
            <a:normAutofit lnSpcReduction="10000"/>
          </a:bodyPr>
          <a:lstStyle/>
          <a:p>
            <a:r>
              <a:rPr lang="pt-BR" dirty="0"/>
              <a:t>DNNs são </a:t>
            </a:r>
            <a:r>
              <a:rPr lang="pt-BR" b="1" dirty="0">
                <a:solidFill>
                  <a:srgbClr val="0070C0"/>
                </a:solidFill>
              </a:rPr>
              <a:t>computacionalmente ineficientes </a:t>
            </a:r>
            <a:r>
              <a:rPr lang="pt-BR" dirty="0"/>
              <a:t>para processamento de imagens.</a:t>
            </a:r>
          </a:p>
          <a:p>
            <a:r>
              <a:rPr lang="pt-BR" dirty="0"/>
              <a:t>Redes densas </a:t>
            </a:r>
            <a:r>
              <a:rPr lang="pt-BR" b="1" dirty="0">
                <a:solidFill>
                  <a:srgbClr val="00B050"/>
                </a:solidFill>
              </a:rPr>
              <a:t>conectam cada </a:t>
            </a:r>
            <a:r>
              <a:rPr lang="pt-BR" b="1" i="1" dirty="0">
                <a:solidFill>
                  <a:srgbClr val="00B050"/>
                </a:solidFill>
              </a:rPr>
              <a:t>pixel</a:t>
            </a:r>
            <a:r>
              <a:rPr lang="pt-BR" b="1" dirty="0">
                <a:solidFill>
                  <a:srgbClr val="00B050"/>
                </a:solidFill>
              </a:rPr>
              <a:t> a todos os nós de uma camada</a:t>
            </a:r>
            <a:r>
              <a:rPr lang="pt-BR" dirty="0"/>
              <a:t>,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239148" y="2068946"/>
            <a:ext cx="5095217" cy="4257675"/>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838200" y="1825624"/>
            <a:ext cx="11353800" cy="5032375"/>
          </a:xfrm>
        </p:spPr>
        <p:txBody>
          <a:bodyPr>
            <a:normAutofit lnSpcReduction="10000"/>
          </a:bodyPr>
          <a:lstStyle/>
          <a:p>
            <a:r>
              <a:rPr lang="pt-BR" noProof="0" dirty="0"/>
              <a:t>Em uma DNN, o </a:t>
            </a:r>
            <a:r>
              <a:rPr lang="pt-BR" b="1" noProof="0" dirty="0">
                <a:solidFill>
                  <a:srgbClr val="7030A0"/>
                </a:solidFill>
              </a:rPr>
              <a:t>número de pesos cresce com a resolução da imagem</a:t>
            </a:r>
            <a:r>
              <a:rPr lang="pt-BR" noProof="0" dirty="0"/>
              <a:t>.</a:t>
            </a:r>
          </a:p>
          <a:p>
            <a:r>
              <a:rPr lang="pt-BR" noProof="0" dirty="0"/>
              <a:t>Problemas causados por um modelo grande</a:t>
            </a:r>
          </a:p>
          <a:p>
            <a:pPr lvl="1">
              <a:buFont typeface="Wingdings" panose="05000000000000000000" pitchFamily="2" charset="2"/>
              <a:buChar char="§"/>
            </a:pPr>
            <a:r>
              <a:rPr lang="pt-BR" noProof="0" dirty="0"/>
              <a:t>alto custo computacional</a:t>
            </a:r>
          </a:p>
          <a:p>
            <a:pPr lvl="2">
              <a:buFont typeface="Courier New" panose="02070309020205020404" pitchFamily="49" charset="0"/>
              <a:buChar char="o"/>
            </a:pPr>
            <a:r>
              <a:rPr lang="pt-BR" noProof="0" dirty="0"/>
              <a:t>treinamento mais lento</a:t>
            </a:r>
          </a:p>
          <a:p>
            <a:pPr lvl="2">
              <a:buFont typeface="Courier New" panose="02070309020205020404" pitchFamily="49" charset="0"/>
              <a:buChar char="o"/>
            </a:pPr>
            <a:r>
              <a:rPr lang="pt-BR" noProof="0" dirty="0"/>
              <a:t>maior consumo de memória</a:t>
            </a:r>
          </a:p>
          <a:p>
            <a:pPr lvl="1">
              <a:buFont typeface="Wingdings" panose="05000000000000000000" pitchFamily="2" charset="2"/>
              <a:buChar char="§"/>
            </a:pPr>
            <a:r>
              <a:rPr lang="pt-BR" noProof="0" dirty="0"/>
              <a:t>maior risco de </a:t>
            </a:r>
            <a:r>
              <a:rPr lang="pt-BR" i="1" noProof="0" dirty="0" err="1"/>
              <a:t>overfitting</a:t>
            </a:r>
            <a:endParaRPr lang="pt-BR" noProof="0" dirty="0"/>
          </a:p>
          <a:p>
            <a:r>
              <a:rPr lang="pt-BR" noProof="0" dirty="0"/>
              <a:t>Em geral, para ter desempenho similar, </a:t>
            </a:r>
            <a:r>
              <a:rPr lang="pt-BR" noProof="0" dirty="0" err="1"/>
              <a:t>DNNs</a:t>
            </a:r>
            <a:r>
              <a:rPr lang="pt-BR" noProof="0" dirty="0"/>
              <a:t> precisam ser maiores do que CNNs, pois precisam de mais nós para apreender o mesmo padrão em diferentes posições.</a:t>
            </a:r>
          </a:p>
          <a:p>
            <a:r>
              <a:rPr lang="pt-BR" noProof="0" dirty="0"/>
              <a:t>Além disso, por </a:t>
            </a:r>
            <a:r>
              <a:rPr lang="pt-BR" b="1" noProof="0" dirty="0">
                <a:solidFill>
                  <a:schemeClr val="accent2"/>
                </a:solidFill>
              </a:rPr>
              <a:t>desconsiderarem a estrutura espacial</a:t>
            </a:r>
            <a:r>
              <a:rPr lang="pt-BR" noProof="0" dirty="0"/>
              <a:t> dos </a:t>
            </a:r>
            <a:r>
              <a:rPr lang="pt-BR" i="1" noProof="0" dirty="0"/>
              <a:t>pixels</a:t>
            </a:r>
            <a:r>
              <a:rPr lang="pt-BR" noProof="0" dirty="0"/>
              <a:t>, seriam necessárias </a:t>
            </a:r>
            <a:r>
              <a:rPr lang="pt-BR" b="1" noProof="0" dirty="0">
                <a:solidFill>
                  <a:schemeClr val="accent2"/>
                </a:solidFill>
              </a:rPr>
              <a:t>redes e </a:t>
            </a:r>
            <a:r>
              <a:rPr lang="pt-BR" b="1" i="1" noProof="0" dirty="0" err="1">
                <a:solidFill>
                  <a:schemeClr val="accent2"/>
                </a:solidFill>
              </a:rPr>
              <a:t>datasets</a:t>
            </a:r>
            <a:r>
              <a:rPr lang="pt-BR" b="1" noProof="0" dirty="0">
                <a:solidFill>
                  <a:schemeClr val="accent2"/>
                </a:solidFill>
              </a:rPr>
              <a:t> extremamente grandes</a:t>
            </a:r>
            <a:r>
              <a:rPr lang="pt-BR" noProof="0" dirty="0"/>
              <a:t> para funcionarem bem com </a:t>
            </a:r>
            <a:r>
              <a:rPr lang="pt-BR" b="1" noProof="0" dirty="0">
                <a:solidFill>
                  <a:srgbClr val="00B050"/>
                </a:solidFill>
              </a:rPr>
              <a:t>problemas de detecção e segmentação de objetos</a:t>
            </a:r>
            <a:r>
              <a:rPr lang="pt-BR" noProof="0" dirty="0"/>
              <a:t>, os quais se </a:t>
            </a:r>
            <a:r>
              <a:rPr lang="pt-BR" b="1" noProof="0" dirty="0">
                <a:solidFill>
                  <a:srgbClr val="0070C0"/>
                </a:solidFill>
              </a:rPr>
              <a:t>baseiam na localização dos objetos</a:t>
            </a:r>
            <a:r>
              <a:rPr lang="pt-BR" noProof="0" dirty="0"/>
              <a:t>.</a:t>
            </a:r>
          </a:p>
        </p:txBody>
      </p:sp>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DNNs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184635" y="1690688"/>
            <a:ext cx="7007365" cy="5167311"/>
          </a:xfrm>
        </p:spPr>
        <p:txBody>
          <a:bodyPr>
            <a:normAutofit/>
          </a:bodyPr>
          <a:lstStyle/>
          <a:p>
            <a:r>
              <a:rPr lang="pt-BR" dirty="0"/>
              <a:t>Portanto, a </a:t>
            </a:r>
            <a:r>
              <a:rPr lang="pt-BR" b="1" dirty="0">
                <a:solidFill>
                  <a:schemeClr val="accent2"/>
                </a:solidFill>
              </a:rPr>
              <a:t>conectividade total dos nós </a:t>
            </a:r>
            <a:r>
              <a:rPr lang="pt-BR" b="1" dirty="0">
                <a:solidFill>
                  <a:srgbClr val="00B050"/>
                </a:solidFill>
              </a:rPr>
              <a:t>em uma DNN é um </a:t>
            </a:r>
            <a:r>
              <a:rPr lang="pt-BR" b="1" dirty="0">
                <a:solidFill>
                  <a:srgbClr val="7030A0"/>
                </a:solidFill>
              </a:rPr>
              <a:t>desperdício</a:t>
            </a:r>
            <a:r>
              <a:rPr lang="pt-BR" b="1" dirty="0">
                <a:solidFill>
                  <a:srgbClr val="00B050"/>
                </a:solidFill>
              </a:rPr>
              <a:t> </a:t>
            </a:r>
            <a:r>
              <a:rPr lang="pt-BR" dirty="0"/>
              <a:t>para tarefas de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linhas e cantos formam contornos e texturas, que formam partes elementares de objetos e, que por sua vez, formam objetos completos.</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5" name="Retângulo 4">
            <a:extLst>
              <a:ext uri="{FF2B5EF4-FFF2-40B4-BE49-F238E27FC236}">
                <a16:creationId xmlns:a16="http://schemas.microsoft.com/office/drawing/2014/main" id="{8D29EB07-1347-746F-6BE8-B358BCF1DA57}"/>
              </a:ext>
            </a:extLst>
          </p:cNvPr>
          <p:cNvSpPr/>
          <p:nvPr/>
        </p:nvSpPr>
        <p:spPr>
          <a:xfrm>
            <a:off x="3282180" y="6057892"/>
            <a:ext cx="18668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bordas, linhas e cantos</a:t>
            </a:r>
            <a:endParaRPr lang="en-US" dirty="0">
              <a:solidFill>
                <a:schemeClr val="tx1"/>
              </a:solidFill>
            </a:endParaRPr>
          </a:p>
        </p:txBody>
      </p:sp>
      <p:sp>
        <p:nvSpPr>
          <p:cNvPr id="18" name="Retângulo 17">
            <a:extLst>
              <a:ext uri="{FF2B5EF4-FFF2-40B4-BE49-F238E27FC236}">
                <a16:creationId xmlns:a16="http://schemas.microsoft.com/office/drawing/2014/main" id="{22ABE9CA-18E7-1C2F-0CC4-443BD3549CDF}"/>
              </a:ext>
            </a:extLst>
          </p:cNvPr>
          <p:cNvSpPr/>
          <p:nvPr/>
        </p:nvSpPr>
        <p:spPr>
          <a:xfrm>
            <a:off x="5483770" y="6057894"/>
            <a:ext cx="17906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contornos e texturas</a:t>
            </a:r>
            <a:endParaRPr lang="en-US" dirty="0">
              <a:solidFill>
                <a:schemeClr val="tx1"/>
              </a:solidFill>
            </a:endParaRPr>
          </a:p>
        </p:txBody>
      </p:sp>
      <p:sp>
        <p:nvSpPr>
          <p:cNvPr id="20" name="Retângulo 19">
            <a:extLst>
              <a:ext uri="{FF2B5EF4-FFF2-40B4-BE49-F238E27FC236}">
                <a16:creationId xmlns:a16="http://schemas.microsoft.com/office/drawing/2014/main" id="{4F6BF176-12C3-8061-9D69-084617A773C1}"/>
              </a:ext>
            </a:extLst>
          </p:cNvPr>
          <p:cNvSpPr/>
          <p:nvPr/>
        </p:nvSpPr>
        <p:spPr>
          <a:xfrm>
            <a:off x="7609160" y="6057893"/>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partes elementares de objetos</a:t>
            </a:r>
            <a:endParaRPr lang="en-US" dirty="0">
              <a:solidFill>
                <a:schemeClr val="tx1"/>
              </a:solidFill>
            </a:endParaRPr>
          </a:p>
        </p:txBody>
      </p:sp>
      <p:sp>
        <p:nvSpPr>
          <p:cNvPr id="22" name="Retângulo 21">
            <a:extLst>
              <a:ext uri="{FF2B5EF4-FFF2-40B4-BE49-F238E27FC236}">
                <a16:creationId xmlns:a16="http://schemas.microsoft.com/office/drawing/2014/main" id="{483991D4-367A-11C1-ADEB-64FCDF31F186}"/>
              </a:ext>
            </a:extLst>
          </p:cNvPr>
          <p:cNvSpPr/>
          <p:nvPr/>
        </p:nvSpPr>
        <p:spPr>
          <a:xfrm>
            <a:off x="9934575" y="6057898"/>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objetos inteiros</a:t>
            </a:r>
            <a:endParaRPr lang="en-US" dirty="0">
              <a:solidFill>
                <a:schemeClr val="tx1"/>
              </a:solidFill>
            </a:endParaRPr>
          </a:p>
        </p:txBody>
      </p:sp>
      <p:cxnSp>
        <p:nvCxnSpPr>
          <p:cNvPr id="24" name="Conector de Seta Reta 23">
            <a:extLst>
              <a:ext uri="{FF2B5EF4-FFF2-40B4-BE49-F238E27FC236}">
                <a16:creationId xmlns:a16="http://schemas.microsoft.com/office/drawing/2014/main" id="{E6C823D7-1AE5-0431-C884-A93340BD14C6}"/>
              </a:ext>
            </a:extLst>
          </p:cNvPr>
          <p:cNvCxnSpPr>
            <a:stCxn id="5" idx="3"/>
            <a:endCxn id="18" idx="1"/>
          </p:cNvCxnSpPr>
          <p:nvPr/>
        </p:nvCxnSpPr>
        <p:spPr>
          <a:xfrm>
            <a:off x="5149045" y="6339667"/>
            <a:ext cx="334725" cy="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508F072-E631-E6F4-44C1-4824CD18124E}"/>
              </a:ext>
            </a:extLst>
          </p:cNvPr>
          <p:cNvCxnSpPr>
            <a:stCxn id="18" idx="3"/>
            <a:endCxn id="20" idx="1"/>
          </p:cNvCxnSpPr>
          <p:nvPr/>
        </p:nvCxnSpPr>
        <p:spPr>
          <a:xfrm flipV="1">
            <a:off x="7274435" y="6339668"/>
            <a:ext cx="334725"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27">
            <a:extLst>
              <a:ext uri="{FF2B5EF4-FFF2-40B4-BE49-F238E27FC236}">
                <a16:creationId xmlns:a16="http://schemas.microsoft.com/office/drawing/2014/main" id="{4B18ECCD-F744-CBED-6BE7-E7BD26B2A124}"/>
              </a:ext>
            </a:extLst>
          </p:cNvPr>
          <p:cNvCxnSpPr>
            <a:stCxn id="20" idx="3"/>
            <a:endCxn id="22" idx="1"/>
          </p:cNvCxnSpPr>
          <p:nvPr/>
        </p:nvCxnSpPr>
        <p:spPr>
          <a:xfrm>
            <a:off x="9599850" y="6339668"/>
            <a:ext cx="334725" cy="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CNN</a:t>
            </a:r>
            <a:r>
              <a:rPr lang="pt-BR" sz="6000" dirty="0"/>
              <a:t>s?</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257925" y="1825624"/>
            <a:ext cx="5934075" cy="5032375"/>
          </a:xfrm>
        </p:spPr>
        <p:txBody>
          <a:bodyPr>
            <a:normAutofit/>
          </a:bodyPr>
          <a:lstStyle/>
          <a:p>
            <a:r>
              <a:rPr lang="pt-BR" noProof="0" dirty="0"/>
              <a:t>CNNs são </a:t>
            </a:r>
            <a:r>
              <a:rPr lang="pt-BR" b="1" noProof="0" dirty="0">
                <a:solidFill>
                  <a:schemeClr val="accent2"/>
                </a:solidFill>
              </a:rPr>
              <a:t>mais eficientes que redes densas</a:t>
            </a:r>
            <a:r>
              <a:rPr lang="pt-BR" noProof="0" dirty="0"/>
              <a:t>: o </a:t>
            </a:r>
            <a:r>
              <a:rPr lang="pt-BR" b="1" noProof="0" dirty="0">
                <a:solidFill>
                  <a:srgbClr val="00B050"/>
                </a:solidFill>
              </a:rPr>
              <a:t>número de pesos depende do tamanho e da quantidade de filtros</a:t>
            </a:r>
            <a:r>
              <a:rPr lang="pt-BR" noProof="0" dirty="0"/>
              <a:t>, não da resolução da imagem.</a:t>
            </a:r>
          </a:p>
          <a:p>
            <a:r>
              <a:rPr lang="pt-BR" noProof="0" dirty="0"/>
              <a:t>CNNs exploram as propriedades naturais das imagens:</a:t>
            </a:r>
          </a:p>
          <a:p>
            <a:pPr lvl="1">
              <a:buFont typeface="Wingdings" panose="05000000000000000000" pitchFamily="2" charset="2"/>
              <a:buChar char="§"/>
            </a:pPr>
            <a:r>
              <a:rPr lang="pt-BR" b="1" noProof="0" dirty="0"/>
              <a:t>Localidade espacial</a:t>
            </a:r>
          </a:p>
          <a:p>
            <a:pPr lvl="1">
              <a:buFont typeface="Wingdings" panose="05000000000000000000" pitchFamily="2" charset="2"/>
              <a:buChar char="§"/>
            </a:pPr>
            <a:r>
              <a:rPr lang="pt-BR" b="1" noProof="0" dirty="0" err="1"/>
              <a:t>Estacionariedade</a:t>
            </a:r>
            <a:endParaRPr lang="pt-BR" noProof="0" dirty="0"/>
          </a:p>
          <a:p>
            <a:pPr lvl="1">
              <a:buFont typeface="Wingdings" panose="05000000000000000000" pitchFamily="2" charset="2"/>
              <a:buChar char="§"/>
            </a:pPr>
            <a:r>
              <a:rPr lang="pt-BR" b="1" noProof="0" dirty="0"/>
              <a:t>Composição hierárquica de padrões</a:t>
            </a:r>
            <a:endParaRPr lang="pt-BR" noProof="0"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CNNs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pt-BR" i="1" dirty="0"/>
              <a:t>pixels</a:t>
            </a:r>
            <a:r>
              <a:rPr lang="pt-BR" dirty="0"/>
              <a:t> dos olhos do gato.</a:t>
            </a:r>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CNNs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135541" y="1825624"/>
            <a:ext cx="7056462" cy="5032376"/>
          </a:xfrm>
        </p:spPr>
        <p:txBody>
          <a:bodyPr>
            <a:normAutofit/>
          </a:bodyPr>
          <a:lstStyle/>
          <a:p>
            <a:r>
              <a:rPr lang="pt-BR" noProof="0" dirty="0"/>
              <a:t>Em vez de </a:t>
            </a:r>
            <a:r>
              <a:rPr lang="pt-BR" b="1" noProof="0" dirty="0">
                <a:solidFill>
                  <a:srgbClr val="00B050"/>
                </a:solidFill>
              </a:rPr>
              <a:t>conectar cada neurônio da CNN a todos os </a:t>
            </a:r>
            <a:r>
              <a:rPr lang="pt-BR" b="1" i="1" noProof="0" dirty="0">
                <a:solidFill>
                  <a:srgbClr val="00B050"/>
                </a:solidFill>
              </a:rPr>
              <a:t>pixels</a:t>
            </a:r>
            <a:r>
              <a:rPr lang="pt-BR" noProof="0" dirty="0"/>
              <a:t> da imagem, cada neurônio “olha” apenas para uma </a:t>
            </a:r>
            <a:r>
              <a:rPr lang="pt-BR" b="1" noProof="0" dirty="0">
                <a:solidFill>
                  <a:schemeClr val="accent2"/>
                </a:solidFill>
              </a:rPr>
              <a:t>pequena região</a:t>
            </a:r>
            <a:r>
              <a:rPr lang="pt-BR" noProof="0" dirty="0"/>
              <a:t>, chamada de </a:t>
            </a:r>
            <a:r>
              <a:rPr lang="pt-BR" b="1" noProof="0" dirty="0">
                <a:solidFill>
                  <a:schemeClr val="accent2"/>
                </a:solidFill>
              </a:rPr>
              <a:t>campo receptivo</a:t>
            </a:r>
            <a:r>
              <a:rPr lang="pt-BR" noProof="0" dirty="0"/>
              <a:t>.</a:t>
            </a:r>
          </a:p>
          <a:p>
            <a:r>
              <a:rPr lang="pt-BR" noProof="0" dirty="0"/>
              <a:t>O tamanho do campo receptivo é definido por uma matriz (2D ou 3D) chamada de </a:t>
            </a:r>
            <a:r>
              <a:rPr lang="pt-BR" b="1" noProof="0" dirty="0">
                <a:solidFill>
                  <a:srgbClr val="7030A0"/>
                </a:solidFill>
              </a:rPr>
              <a:t>filtro (de convolução)</a:t>
            </a:r>
            <a:r>
              <a:rPr lang="pt-BR" noProof="0" dirty="0"/>
              <a:t> ou </a:t>
            </a:r>
            <a:r>
              <a:rPr lang="pt-BR" b="1" i="1" noProof="0" dirty="0">
                <a:solidFill>
                  <a:srgbClr val="7030A0"/>
                </a:solidFill>
              </a:rPr>
              <a:t>kernel</a:t>
            </a:r>
            <a:r>
              <a:rPr lang="pt-BR" noProof="0" dirty="0"/>
              <a:t>.</a:t>
            </a:r>
          </a:p>
          <a:p>
            <a:r>
              <a:rPr lang="pt-BR" noProof="0" dirty="0"/>
              <a:t>Isso permite detectar </a:t>
            </a:r>
            <a:r>
              <a:rPr lang="pt-BR" b="1" noProof="0" dirty="0"/>
              <a:t>padrões locais </a:t>
            </a:r>
            <a:r>
              <a:rPr lang="pt-BR" noProof="0" dirty="0"/>
              <a:t>como:</a:t>
            </a:r>
          </a:p>
          <a:p>
            <a:pPr lvl="1">
              <a:buFont typeface="Wingdings" panose="05000000000000000000" pitchFamily="2" charset="2"/>
              <a:buChar char="§"/>
            </a:pPr>
            <a:r>
              <a:rPr lang="pt-BR" noProof="0" dirty="0"/>
              <a:t>bordas, linhas, cantos, cor</a:t>
            </a:r>
          </a:p>
          <a:p>
            <a:pPr lvl="1">
              <a:buFont typeface="Wingdings" panose="05000000000000000000" pitchFamily="2" charset="2"/>
              <a:buChar char="§"/>
            </a:pPr>
            <a:r>
              <a:rPr lang="pt-BR" noProof="0" dirty="0"/>
              <a:t>texturas, partes elementares de objetos</a:t>
            </a:r>
          </a:p>
          <a:p>
            <a:pPr lvl="1">
              <a:buFont typeface="Wingdings" panose="05000000000000000000" pitchFamily="2" charset="2"/>
              <a:buChar char="§"/>
            </a:pPr>
            <a:r>
              <a:rPr lang="pt-BR" noProof="0" dirty="0"/>
              <a:t>partes reconhecíveis de objetos: olhos ou orelhas</a:t>
            </a:r>
          </a:p>
          <a:p>
            <a:pPr lvl="1">
              <a:buFont typeface="Wingdings" panose="05000000000000000000" pitchFamily="2" charset="2"/>
              <a:buChar char="§"/>
            </a:pPr>
            <a:r>
              <a:rPr lang="pt-BR" noProof="0" dirty="0"/>
              <a:t>objeto inteiro: gato</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82836" y="1942916"/>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r>
              <a:rPr lang="pt-BR" dirty="0"/>
              <a:t>Como as CNNs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a:solidFill>
                  <a:srgbClr val="00B050"/>
                </a:solidFill>
              </a:rPr>
              <a:t>CNNs compartilham os pesos</a:t>
            </a:r>
            <a:r>
              <a:rPr lang="pt-BR" dirty="0"/>
              <a:t>.</a:t>
            </a:r>
          </a:p>
          <a:p>
            <a:pPr lvl="1">
              <a:buFont typeface="Wingdings" panose="05000000000000000000" pitchFamily="2" charset="2"/>
              <a:buChar char="§"/>
            </a:pPr>
            <a:r>
              <a:rPr lang="pt-BR" dirty="0"/>
              <a:t>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Por exemplo, um filtro que detecta bordas é o mesmo para todas as posições.</a:t>
            </a:r>
          </a:p>
          <a:p>
            <a:r>
              <a:rPr lang="pt-BR" dirty="0"/>
              <a:t>Isso traz grandes </a:t>
            </a:r>
            <a:r>
              <a:rPr lang="pt-BR" b="1" dirty="0">
                <a:solidFill>
                  <a:srgbClr val="00B050"/>
                </a:solidFill>
              </a:rPr>
              <a:t>vantagens</a:t>
            </a:r>
            <a:r>
              <a:rPr lang="pt-BR" dirty="0"/>
              <a:t>:</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 da imagem</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3"/>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084465" y="1825624"/>
            <a:ext cx="7107535" cy="5032375"/>
          </a:xfrm>
        </p:spPr>
        <p:txBody>
          <a:bodyPr>
            <a:normAutofit lnSpcReduction="10000"/>
          </a:bodyPr>
          <a:lstStyle/>
          <a:p>
            <a:r>
              <a:rPr lang="pt-BR" noProof="0" dirty="0"/>
              <a:t>Imagens possuem uma </a:t>
            </a:r>
            <a:r>
              <a:rPr lang="pt-BR" b="1" noProof="0" dirty="0">
                <a:solidFill>
                  <a:schemeClr val="accent2"/>
                </a:solidFill>
              </a:rPr>
              <a:t>estrutura</a:t>
            </a:r>
            <a:r>
              <a:rPr lang="pt-BR" noProof="0" dirty="0">
                <a:solidFill>
                  <a:schemeClr val="accent2"/>
                </a:solidFill>
              </a:rPr>
              <a:t> </a:t>
            </a:r>
            <a:r>
              <a:rPr lang="pt-BR" b="1" noProof="0" dirty="0">
                <a:solidFill>
                  <a:schemeClr val="accent2"/>
                </a:solidFill>
              </a:rPr>
              <a:t>hierárquica</a:t>
            </a:r>
            <a:r>
              <a:rPr lang="pt-BR" noProof="0" dirty="0"/>
              <a:t>.</a:t>
            </a:r>
          </a:p>
          <a:p>
            <a:r>
              <a:rPr lang="pt-BR" noProof="0" dirty="0"/>
              <a:t>Padrões simples formam padrões mais complexos:</a:t>
            </a:r>
          </a:p>
          <a:p>
            <a:pPr lvl="1">
              <a:buFont typeface="Wingdings" panose="05000000000000000000" pitchFamily="2" charset="2"/>
              <a:buChar char="§"/>
            </a:pPr>
            <a:r>
              <a:rPr lang="pt-BR" b="1" noProof="0" dirty="0"/>
              <a:t>Simples</a:t>
            </a:r>
            <a:r>
              <a:rPr lang="pt-BR" noProof="0" dirty="0"/>
              <a:t>: contorno da orelha, borda do nariz e do olho</a:t>
            </a:r>
          </a:p>
          <a:p>
            <a:pPr lvl="1">
              <a:buFont typeface="Wingdings" panose="05000000000000000000" pitchFamily="2" charset="2"/>
              <a:buChar char="§"/>
            </a:pPr>
            <a:r>
              <a:rPr lang="pt-BR" b="1" noProof="0" dirty="0"/>
              <a:t>Intermediários</a:t>
            </a:r>
            <a:r>
              <a:rPr lang="pt-BR" noProof="0" dirty="0"/>
              <a:t>: curvatura da orelha, forma triangular do nariz</a:t>
            </a:r>
          </a:p>
          <a:p>
            <a:pPr lvl="1">
              <a:buFont typeface="Wingdings" panose="05000000000000000000" pitchFamily="2" charset="2"/>
              <a:buChar char="§"/>
            </a:pPr>
            <a:r>
              <a:rPr lang="pt-BR" b="1" noProof="0" dirty="0"/>
              <a:t>Partes menores</a:t>
            </a:r>
            <a:r>
              <a:rPr lang="pt-BR" noProof="0" dirty="0"/>
              <a:t>: olho, nariz, bigode, boca</a:t>
            </a:r>
          </a:p>
          <a:p>
            <a:pPr lvl="1">
              <a:buFont typeface="Wingdings" panose="05000000000000000000" pitchFamily="2" charset="2"/>
              <a:buChar char="§"/>
            </a:pPr>
            <a:r>
              <a:rPr lang="pt-BR" b="1" noProof="0" dirty="0"/>
              <a:t>Partes maiores</a:t>
            </a:r>
            <a:r>
              <a:rPr lang="pt-BR" noProof="0" dirty="0"/>
              <a:t>: face, cabeça, corpo, rabo</a:t>
            </a:r>
          </a:p>
          <a:p>
            <a:pPr lvl="1">
              <a:buFont typeface="Wingdings" panose="05000000000000000000" pitchFamily="2" charset="2"/>
              <a:buChar char="§"/>
            </a:pPr>
            <a:r>
              <a:rPr lang="pt-BR" b="1" noProof="0" dirty="0"/>
              <a:t>Objeto completo</a:t>
            </a:r>
            <a:r>
              <a:rPr lang="pt-BR" dirty="0"/>
              <a:t>: gato</a:t>
            </a:r>
            <a:endParaRPr lang="pt-BR" noProof="0" dirty="0"/>
          </a:p>
          <a:p>
            <a:r>
              <a:rPr lang="pt-BR" noProof="0" dirty="0"/>
              <a:t>As </a:t>
            </a:r>
            <a:r>
              <a:rPr lang="pt-BR" b="1" noProof="0" dirty="0">
                <a:solidFill>
                  <a:srgbClr val="00B050"/>
                </a:solidFill>
              </a:rPr>
              <a:t>camadas</a:t>
            </a:r>
            <a:r>
              <a:rPr lang="pt-BR" noProof="0" dirty="0"/>
              <a:t> de uma CNN </a:t>
            </a:r>
            <a:r>
              <a:rPr lang="pt-BR" b="1" noProof="0" dirty="0">
                <a:solidFill>
                  <a:srgbClr val="00B050"/>
                </a:solidFill>
              </a:rPr>
              <a:t>aprendem a hierarquia</a:t>
            </a:r>
            <a:r>
              <a:rPr lang="pt-BR" noProof="0" dirty="0"/>
              <a:t> de padrões da imagem.</a:t>
            </a:r>
          </a:p>
          <a:p>
            <a:pPr lvl="1">
              <a:buFont typeface="Wingdings" panose="05000000000000000000" pitchFamily="2" charset="2"/>
              <a:buChar char="§"/>
            </a:pPr>
            <a:r>
              <a:rPr lang="pt-BR" noProof="0" dirty="0"/>
              <a:t>bordas → contornos → partes → objeto</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pt-BR" noProof="0" dirty="0"/>
              <a:t>Uma </a:t>
            </a:r>
            <a:r>
              <a:rPr lang="pt-BR" b="1" noProof="0" dirty="0">
                <a:solidFill>
                  <a:schemeClr val="accent1"/>
                </a:solidFill>
              </a:rPr>
              <a:t>CNN para classificação de imagens </a:t>
            </a:r>
            <a:r>
              <a:rPr lang="pt-BR" noProof="0" dirty="0"/>
              <a:t>é composta por:</a:t>
            </a:r>
          </a:p>
          <a:p>
            <a:pPr lvl="1">
              <a:buFont typeface="Wingdings" panose="05000000000000000000" pitchFamily="2" charset="2"/>
              <a:buChar char="§"/>
            </a:pPr>
            <a:r>
              <a:rPr lang="pt-BR" noProof="0" dirty="0"/>
              <a:t>Uma entrada (imagem)</a:t>
            </a:r>
          </a:p>
          <a:p>
            <a:pPr lvl="1">
              <a:buFont typeface="Wingdings" panose="05000000000000000000" pitchFamily="2" charset="2"/>
              <a:buChar char="§"/>
            </a:pPr>
            <a:r>
              <a:rPr lang="pt-BR" noProof="0" dirty="0"/>
              <a:t>Um ou mais grupos de</a:t>
            </a:r>
          </a:p>
          <a:p>
            <a:pPr lvl="2">
              <a:buFont typeface="Courier New" panose="02070309020205020404" pitchFamily="49" charset="0"/>
              <a:buChar char="o"/>
            </a:pPr>
            <a:r>
              <a:rPr lang="pt-BR" noProof="0" dirty="0"/>
              <a:t>Camadas de convolução</a:t>
            </a:r>
          </a:p>
          <a:p>
            <a:pPr lvl="3">
              <a:buFont typeface="Wingdings" panose="05000000000000000000" pitchFamily="2" charset="2"/>
              <a:buChar char="ü"/>
            </a:pPr>
            <a:r>
              <a:rPr lang="pt-BR" dirty="0"/>
              <a:t>F</a:t>
            </a:r>
            <a:r>
              <a:rPr lang="pt-BR" noProof="0" dirty="0" err="1"/>
              <a:t>iltros</a:t>
            </a:r>
            <a:r>
              <a:rPr lang="pt-BR" noProof="0" dirty="0"/>
              <a:t> de convolução</a:t>
            </a:r>
          </a:p>
          <a:p>
            <a:pPr lvl="3">
              <a:buFont typeface="Wingdings" panose="05000000000000000000" pitchFamily="2" charset="2"/>
              <a:buChar char="ü"/>
            </a:pPr>
            <a:r>
              <a:rPr lang="pt-BR" noProof="0" dirty="0"/>
              <a:t>Funções de ativação</a:t>
            </a:r>
          </a:p>
          <a:p>
            <a:pPr lvl="2">
              <a:buFont typeface="Courier New" panose="02070309020205020404" pitchFamily="49" charset="0"/>
              <a:buChar char="o"/>
            </a:pPr>
            <a:r>
              <a:rPr lang="pt-BR" noProof="0" dirty="0"/>
              <a:t>Camadas de </a:t>
            </a:r>
            <a:r>
              <a:rPr lang="pt-BR" i="1" noProof="0" dirty="0" err="1"/>
              <a:t>pooling</a:t>
            </a:r>
            <a:endParaRPr lang="pt-BR" i="1" noProof="0" dirty="0"/>
          </a:p>
          <a:p>
            <a:pPr lvl="1">
              <a:buFont typeface="Wingdings" panose="05000000000000000000" pitchFamily="2" charset="2"/>
              <a:buChar char="§"/>
            </a:pPr>
            <a:r>
              <a:rPr lang="pt-BR" noProof="0" dirty="0"/>
              <a:t>Uma camada </a:t>
            </a:r>
            <a:r>
              <a:rPr lang="pt-BR" i="1" noProof="0" dirty="0" err="1"/>
              <a:t>flatten</a:t>
            </a:r>
            <a:endParaRPr lang="pt-BR" i="1" noProof="0" dirty="0"/>
          </a:p>
          <a:p>
            <a:pPr lvl="1">
              <a:buFont typeface="Wingdings" panose="05000000000000000000" pitchFamily="2" charset="2"/>
              <a:buChar char="§"/>
            </a:pPr>
            <a:r>
              <a:rPr lang="pt-BR" noProof="0" dirty="0"/>
              <a:t>Uma ou mais camadas totalmente conectadas</a:t>
            </a:r>
          </a:p>
          <a:p>
            <a:pPr lvl="1">
              <a:buFont typeface="Wingdings" panose="05000000000000000000" pitchFamily="2" charset="2"/>
              <a:buChar char="§"/>
            </a:pPr>
            <a:r>
              <a:rPr lang="pt-BR" noProof="0" dirty="0"/>
              <a:t>Uma função de ativação </a:t>
            </a:r>
            <a:r>
              <a:rPr lang="pt-BR" i="1" noProof="0" dirty="0"/>
              <a:t>softmax </a:t>
            </a:r>
            <a:r>
              <a:rPr lang="pt-BR" noProof="0" dirty="0"/>
              <a:t>para gerar as probabilidades de saída</a:t>
            </a:r>
          </a:p>
        </p:txBody>
      </p:sp>
      <p:pic>
        <p:nvPicPr>
          <p:cNvPr id="1026" name="Picture 2" descr="Convolutional Neural Network | Deep Learning | Developers Breach"/>
          <p:cNvPicPr>
            <a:picLocks noChangeAspect="1" noChangeArrowheads="1"/>
          </p:cNvPicPr>
          <p:nvPr/>
        </p:nvPicPr>
        <p:blipFill rotWithShape="1">
          <a:blip r:embed="rId3">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FEEAC-EB1A-3B91-5B2B-DD4D165B0DD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4008826-7C42-4F6F-9B58-7B6580B7F6E0}"/>
              </a:ext>
            </a:extLst>
          </p:cNvPr>
          <p:cNvSpPr>
            <a:spLocks noGrp="1"/>
          </p:cNvSpPr>
          <p:nvPr>
            <p:ph idx="1"/>
          </p:nvPr>
        </p:nvSpPr>
        <p:spPr>
          <a:xfrm>
            <a:off x="506186" y="2453703"/>
            <a:ext cx="11179628" cy="1950594"/>
          </a:xfrm>
        </p:spPr>
        <p:txBody>
          <a:bodyPr>
            <a:normAutofit fontScale="92500"/>
          </a:bodyPr>
          <a:lstStyle/>
          <a:p>
            <a:pPr marL="0" indent="0" algn="ctr">
              <a:buNone/>
            </a:pPr>
            <a:r>
              <a:rPr lang="pt-BR" sz="6000" dirty="0"/>
              <a:t>Vamos entender um pouco mais sobre cada uma das partes das CNNs</a:t>
            </a:r>
            <a:endParaRPr lang="en-US" sz="6000" dirty="0"/>
          </a:p>
        </p:txBody>
      </p:sp>
    </p:spTree>
    <p:extLst>
      <p:ext uri="{BB962C8B-B14F-4D97-AF65-F5344CB8AC3E}">
        <p14:creationId xmlns:p14="http://schemas.microsoft.com/office/powerpoint/2010/main" val="3145566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 de cores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5923722" y="1825624"/>
            <a:ext cx="6268277"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os filtros de convolução</a:t>
            </a:r>
            <a:r>
              <a:rPr lang="pt-BR" dirty="0"/>
              <a:t> sobre a imagem.</a:t>
            </a:r>
          </a:p>
          <a:p>
            <a:r>
              <a:rPr lang="pt-BR" dirty="0"/>
              <a:t>O filtro:</a:t>
            </a:r>
          </a:p>
          <a:p>
            <a:pPr lvl="1">
              <a:buFont typeface="Wingdings" panose="05000000000000000000" pitchFamily="2" charset="2"/>
              <a:buChar char="§"/>
            </a:pPr>
            <a:r>
              <a:rPr lang="pt-BR" sz="2800" dirty="0"/>
              <a:t>tem seus elementos multiplicados com os valores locais da imagem (campo receptivo)</a:t>
            </a:r>
          </a:p>
          <a:p>
            <a:pPr lvl="2">
              <a:buFont typeface="Courier New" panose="02070309020205020404" pitchFamily="49" charset="0"/>
              <a:buChar char="o"/>
            </a:pPr>
            <a:r>
              <a:rPr lang="pt-BR" sz="2400" dirty="0"/>
              <a:t>A multiplicação é elemento a elemento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7" name="Agrupar 6">
            <a:extLst>
              <a:ext uri="{FF2B5EF4-FFF2-40B4-BE49-F238E27FC236}">
                <a16:creationId xmlns:a16="http://schemas.microsoft.com/office/drawing/2014/main" id="{06EA1970-25B8-52B6-C19C-299E17415B1D}"/>
              </a:ext>
            </a:extLst>
          </p:cNvPr>
          <p:cNvGrpSpPr/>
          <p:nvPr/>
        </p:nvGrpSpPr>
        <p:grpSpPr>
          <a:xfrm>
            <a:off x="108784" y="2574235"/>
            <a:ext cx="5793166" cy="3012647"/>
            <a:chOff x="130556" y="2574235"/>
            <a:chExt cx="5793166" cy="3012647"/>
          </a:xfrm>
        </p:grpSpPr>
        <p:grpSp>
          <p:nvGrpSpPr>
            <p:cNvPr id="5" name="Group 4">
              <a:extLst>
                <a:ext uri="{FF2B5EF4-FFF2-40B4-BE49-F238E27FC236}">
                  <a16:creationId xmlns:a16="http://schemas.microsoft.com/office/drawing/2014/main" id="{674323C5-E1CA-52A1-66C4-ABEDCED3482B}"/>
                </a:ext>
              </a:extLst>
            </p:cNvPr>
            <p:cNvGrpSpPr/>
            <p:nvPr/>
          </p:nvGrpSpPr>
          <p:grpSpPr>
            <a:xfrm>
              <a:off x="130556" y="2574235"/>
              <a:ext cx="5793166" cy="3012647"/>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
          <p:nvSpPr>
            <p:cNvPr id="6" name="CaixaDeTexto 5">
              <a:extLst>
                <a:ext uri="{FF2B5EF4-FFF2-40B4-BE49-F238E27FC236}">
                  <a16:creationId xmlns:a16="http://schemas.microsoft.com/office/drawing/2014/main" id="{C4E72025-95A7-49B9-1526-4EA3C5BC6D37}"/>
                </a:ext>
              </a:extLst>
            </p:cNvPr>
            <p:cNvSpPr txBox="1"/>
            <p:nvPr/>
          </p:nvSpPr>
          <p:spPr>
            <a:xfrm>
              <a:off x="605097" y="4928232"/>
              <a:ext cx="708848" cy="276999"/>
            </a:xfrm>
            <a:prstGeom prst="rect">
              <a:avLst/>
            </a:prstGeom>
            <a:noFill/>
          </p:spPr>
          <p:txBody>
            <a:bodyPr wrap="none" rtlCol="0">
              <a:spAutoFit/>
            </a:bodyPr>
            <a:lstStyle/>
            <a:p>
              <a:r>
                <a:rPr lang="pt-BR" sz="1200" b="1" i="1" dirty="0"/>
                <a:t>imagem</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convolução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570541" y="1825624"/>
                <a:ext cx="5621459" cy="5032375"/>
              </a:xfrm>
            </p:spPr>
            <p:txBody>
              <a:bodyPr>
                <a:noAutofit/>
              </a:bodyPr>
              <a:lstStyle/>
              <a:p>
                <a:r>
                  <a:rPr lang="pt-BR" dirty="0"/>
                  <a:t>Após o filtro, aplica-se uma </a:t>
                </a:r>
                <a:r>
                  <a:rPr lang="pt-BR" b="1" dirty="0">
                    <a:solidFill>
                      <a:schemeClr val="accent2"/>
                    </a:solidFill>
                  </a:rPr>
                  <a:t>função de ativação não linear ao escalar</a:t>
                </a:r>
                <a:r>
                  <a:rPr lang="pt-BR" dirty="0"/>
                  <a:t>.</a:t>
                </a:r>
              </a:p>
              <a:p>
                <a:pPr lvl="1">
                  <a:buFont typeface="Wingdings" panose="05000000000000000000" pitchFamily="2" charset="2"/>
                  <a:buChar char="§"/>
                </a:pPr>
                <a:r>
                  <a:rPr lang="pt-BR" dirty="0"/>
                  <a:t>Em geral, usa-se a função </a:t>
                </a:r>
                <a:r>
                  <a:rPr lang="pt-BR" i="1" dirty="0" err="1"/>
                  <a:t>rectified</a:t>
                </a:r>
                <a:r>
                  <a:rPr lang="pt-BR" i="1" dirty="0"/>
                  <a:t> linear </a:t>
                </a:r>
                <a:r>
                  <a:rPr lang="pt-BR" i="1" dirty="0" err="1"/>
                  <a:t>unit</a:t>
                </a:r>
                <a:r>
                  <a:rPr lang="pt-BR" i="1" dirty="0"/>
                  <a:t> </a:t>
                </a:r>
                <a:r>
                  <a:rPr lang="pt-BR" dirty="0"/>
                  <a:t>(</a:t>
                </a:r>
                <a:r>
                  <a:rPr lang="pt-BR" dirty="0" err="1"/>
                  <a:t>ReLU</a:t>
                </a:r>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uma </a:t>
                </a:r>
                <a:r>
                  <a:rPr lang="pt-BR" b="1" dirty="0">
                    <a:solidFill>
                      <a:schemeClr val="accent1"/>
                    </a:solidFill>
                  </a:rPr>
                  <a:t>mapa de padrões detectados</a:t>
                </a:r>
                <a:r>
                  <a:rPr lang="pt-BR" dirty="0"/>
                  <a:t>.</a:t>
                </a:r>
              </a:p>
            </p:txBody>
          </p:sp>
        </mc:Choice>
        <mc:Fallback xmlns="">
          <p:sp>
            <p:nvSpPr>
              <p:cNvPr id="3" name="Espaço Reservado para Conteúdo 2">
                <a:extLst>
                  <a:ext uri="{FF2B5EF4-FFF2-40B4-BE49-F238E27FC236}">
                    <a16:creationId xmlns:a16="http://schemas.microsoft.com/office/drawing/2014/main" id="{B49B87AE-AA0F-2A43-6D68-AF9FA330C9D9}"/>
                  </a:ext>
                </a:extLst>
              </p:cNvPr>
              <p:cNvSpPr>
                <a:spLocks noGrp="1" noRot="1" noChangeAspect="1" noMove="1" noResize="1" noEditPoints="1" noAdjustHandles="1" noChangeArrowheads="1" noChangeShapeType="1" noTextEdit="1"/>
              </p:cNvSpPr>
              <p:nvPr>
                <p:ph idx="1"/>
              </p:nvPr>
            </p:nvSpPr>
            <p:spPr>
              <a:xfrm>
                <a:off x="6570541" y="1825624"/>
                <a:ext cx="5621459" cy="5032375"/>
              </a:xfrm>
              <a:blipFill>
                <a:blip r:embed="rId3"/>
                <a:stretch>
                  <a:fillRect l="-1952" t="-1937" r="-2386"/>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00D74A89-1397-8D50-7FB3-174767E51FF8}"/>
              </a:ext>
            </a:extLst>
          </p:cNvPr>
          <p:cNvGrpSpPr/>
          <p:nvPr/>
        </p:nvGrpSpPr>
        <p:grpSpPr>
          <a:xfrm>
            <a:off x="302834" y="2432720"/>
            <a:ext cx="5793166" cy="3012647"/>
            <a:chOff x="130556" y="2574235"/>
            <a:chExt cx="5793166" cy="3012647"/>
          </a:xfrm>
        </p:grpSpPr>
        <p:grpSp>
          <p:nvGrpSpPr>
            <p:cNvPr id="5" name="Group 4">
              <a:extLst>
                <a:ext uri="{FF2B5EF4-FFF2-40B4-BE49-F238E27FC236}">
                  <a16:creationId xmlns:a16="http://schemas.microsoft.com/office/drawing/2014/main" id="{65697BCF-6AED-8258-C323-65DC61C3C995}"/>
                </a:ext>
              </a:extLst>
            </p:cNvPr>
            <p:cNvGrpSpPr/>
            <p:nvPr/>
          </p:nvGrpSpPr>
          <p:grpSpPr>
            <a:xfrm>
              <a:off x="130556" y="2574235"/>
              <a:ext cx="5793166" cy="3012647"/>
              <a:chOff x="291326" y="2823587"/>
              <a:chExt cx="4917071" cy="2543852"/>
            </a:xfrm>
          </p:grpSpPr>
          <p:pic>
            <p:nvPicPr>
              <p:cNvPr id="10" name="Picture 4">
                <a:extLst>
                  <a:ext uri="{FF2B5EF4-FFF2-40B4-BE49-F238E27FC236}">
                    <a16:creationId xmlns:a16="http://schemas.microsoft.com/office/drawing/2014/main" id="{AB9336D8-2FF2-896E-C6BD-54D7CE668F9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3">
                <a:extLst>
                  <a:ext uri="{FF2B5EF4-FFF2-40B4-BE49-F238E27FC236}">
                    <a16:creationId xmlns:a16="http://schemas.microsoft.com/office/drawing/2014/main" id="{15CD9111-6F54-803D-AFCD-BFE9FA775AC4}"/>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
          <p:nvSpPr>
            <p:cNvPr id="9" name="CaixaDeTexto 8">
              <a:extLst>
                <a:ext uri="{FF2B5EF4-FFF2-40B4-BE49-F238E27FC236}">
                  <a16:creationId xmlns:a16="http://schemas.microsoft.com/office/drawing/2014/main" id="{E2DB97D1-751C-E7DE-E2C6-6E9FEF94B900}"/>
                </a:ext>
              </a:extLst>
            </p:cNvPr>
            <p:cNvSpPr txBox="1"/>
            <p:nvPr/>
          </p:nvSpPr>
          <p:spPr>
            <a:xfrm>
              <a:off x="605097" y="4928232"/>
              <a:ext cx="708848" cy="276999"/>
            </a:xfrm>
            <a:prstGeom prst="rect">
              <a:avLst/>
            </a:prstGeom>
            <a:noFill/>
          </p:spPr>
          <p:txBody>
            <a:bodyPr wrap="none" rtlCol="0">
              <a:spAutoFit/>
            </a:bodyPr>
            <a:lstStyle/>
            <a:p>
              <a:r>
                <a:rPr lang="pt-BR" sz="1200" b="1" i="1" dirty="0"/>
                <a:t>imagem</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666903" y="1825624"/>
            <a:ext cx="6525098"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 </a:t>
            </a:r>
            <a:r>
              <a:rPr lang="pt-BR" b="1" dirty="0">
                <a:solidFill>
                  <a:srgbClr val="00B050"/>
                </a:solidFill>
              </a:rPr>
              <a:t>presentes nas imagens</a:t>
            </a:r>
            <a:r>
              <a:rPr lang="pt-BR" dirty="0"/>
              <a:t>.</a:t>
            </a:r>
          </a:p>
          <a:p>
            <a:pPr lvl="1">
              <a:buFont typeface="Wingdings" panose="05000000000000000000" pitchFamily="2" charset="2"/>
              <a:buChar char="§"/>
            </a:pPr>
            <a:r>
              <a:rPr lang="pt-BR" dirty="0"/>
              <a:t>Os filtros têm </a:t>
            </a:r>
            <a:r>
              <a:rPr lang="pt-BR" b="1" dirty="0">
                <a:solidFill>
                  <a:srgbClr val="7030A0"/>
                </a:solidFill>
              </a:rPr>
              <a:t>pesos que são aprendidos</a:t>
            </a:r>
            <a:r>
              <a:rPr lang="pt-BR" dirty="0"/>
              <a:t>.</a:t>
            </a:r>
          </a:p>
          <a:p>
            <a:r>
              <a:rPr lang="pt-BR" dirty="0"/>
              <a:t>Essa ideia de usar </a:t>
            </a:r>
            <a:r>
              <a:rPr lang="pt-BR" b="1" dirty="0">
                <a:solidFill>
                  <a:srgbClr val="00B050"/>
                </a:solidFill>
              </a:rPr>
              <a:t>filtros</a:t>
            </a:r>
            <a:r>
              <a:rPr lang="pt-BR" dirty="0"/>
              <a:t> para </a:t>
            </a:r>
            <a:r>
              <a:rPr lang="pt-BR" b="1" dirty="0">
                <a:solidFill>
                  <a:srgbClr val="00B050"/>
                </a:solidFill>
              </a:rPr>
              <a:t>detectar padrões</a:t>
            </a:r>
            <a:r>
              <a:rPr lang="pt-BR" dirty="0"/>
              <a:t> é </a:t>
            </a:r>
            <a:r>
              <a:rPr lang="pt-BR" b="1" dirty="0">
                <a:solidFill>
                  <a:srgbClr val="00B050"/>
                </a:solidFill>
              </a:rPr>
              <a:t>baseada</a:t>
            </a:r>
            <a:r>
              <a:rPr lang="pt-BR" dirty="0"/>
              <a:t> em como os </a:t>
            </a:r>
            <a:r>
              <a:rPr lang="pt-BR" b="1" dirty="0">
                <a:solidFill>
                  <a:srgbClr val="7030A0"/>
                </a:solidFill>
              </a:rPr>
              <a:t>neurônios biológicos do 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a:bodyPr>
          <a:lstStyle/>
          <a:p>
            <a:r>
              <a:rPr lang="pt-BR" dirty="0"/>
              <a:t>Os </a:t>
            </a:r>
            <a:r>
              <a:rPr lang="pt-BR" b="1" dirty="0">
                <a:solidFill>
                  <a:srgbClr val="00B050"/>
                </a:solidFill>
              </a:rPr>
              <a:t>neurônios</a:t>
            </a:r>
            <a:r>
              <a:rPr lang="pt-BR" dirty="0"/>
              <a:t> do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F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com campos receptivos pequenos reagem</a:t>
            </a:r>
            <a:r>
              <a:rPr lang="pt-BR" dirty="0"/>
              <a:t> 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com </a:t>
            </a:r>
            <a:r>
              <a:rPr lang="pt-BR" b="1" dirty="0">
                <a:solidFill>
                  <a:srgbClr val="00B050"/>
                </a:solidFill>
              </a:rPr>
              <a:t>campos receptivos maiores </a:t>
            </a:r>
            <a:r>
              <a:rPr lang="pt-BR" dirty="0"/>
              <a:t>reagem 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486401" y="1825624"/>
            <a:ext cx="6705600"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de convolução</a:t>
            </a:r>
            <a:r>
              <a:rPr lang="pt-BR" b="0" dirty="0">
                <a:effectLst/>
              </a:rPr>
              <a:t> entre seus elementos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partes específicas de objetos e objetos inteiros.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solidFill>
                  <a:srgbClr val="00B0F0"/>
                </a:solidFill>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das matrizes</a:t>
            </a:r>
            <a:r>
              <a:rPr lang="pt-BR" b="0" dirty="0">
                <a:effectLst/>
              </a:rPr>
              <a:t> necessários para </a:t>
            </a:r>
            <a:r>
              <a:rPr lang="pt-BR" b="1" dirty="0">
                <a:effectLst/>
              </a:rPr>
              <a:t>detectar as características que identificam, por exemplo, um gato</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4" y="1825624"/>
                <a:ext cx="5948855" cy="5032375"/>
              </a:xfrm>
            </p:spPr>
            <p:txBody>
              <a:bodyPr>
                <a:normAutofit/>
              </a:bodyPr>
              <a:lstStyle/>
              <a:p>
                <a:r>
                  <a:rPr lang="pt-BR" dirty="0"/>
                  <a:t>Para entendermos como a operação de convolução funciona, vamos considerar, inicialmente, imagens bidimensionais (e.g., imagens em tons de cinza).</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4" y="1825624"/>
                <a:ext cx="5948855" cy="5032375"/>
              </a:xfrm>
              <a:blipFill>
                <a:blip r:embed="rId3"/>
                <a:stretch>
                  <a:fillRect l="-1844" t="-1937" r="-30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0" y="5534780"/>
                <a:ext cx="7032617" cy="1323439"/>
              </a:xfrm>
              <a:prstGeom prst="rect">
                <a:avLst/>
              </a:prstGeom>
              <a:noFill/>
            </p:spPr>
            <p:txBody>
              <a:bodyPr wrap="square" rtlCol="0">
                <a:spAutoFit/>
              </a:bodyPr>
              <a:lstStyle/>
              <a:p>
                <a14:m>
                  <m:oMath xmlns:m="http://schemas.openxmlformats.org/officeDocument/2006/math">
                    <m:r>
                      <a:rPr lang="pt-BR" sz="1600" i="1" smtClean="0">
                        <a:latin typeface="Cambria Math" panose="02040503050406030204" pitchFamily="18" charset="0"/>
                        <a:ea typeface="Cambria Math" panose="02040503050406030204" pitchFamily="18" charset="0"/>
                      </a:rPr>
                      <m:t>𝐼</m:t>
                    </m:r>
                  </m:oMath>
                </a14:m>
                <a:r>
                  <a:rPr lang="pt-BR" sz="1600" dirty="0">
                    <a:latin typeface="Cambria Math" panose="02040503050406030204" pitchFamily="18" charset="0"/>
                    <a:ea typeface="Cambria Math" panose="02040503050406030204" pitchFamily="18" charset="0"/>
                  </a:rPr>
                  <a:t> : entrada </a:t>
                </a:r>
                <a:r>
                  <a:rPr lang="pt-BR" sz="1600" dirty="0"/>
                  <a:t>(e.g., uma imagem ou o </a:t>
                </a:r>
                <a:r>
                  <a:rPr lang="en-US" sz="1600" dirty="0" err="1"/>
                  <a:t>mapa</a:t>
                </a:r>
                <a:r>
                  <a:rPr lang="en-US" sz="1600" dirty="0"/>
                  <a:t> da </a:t>
                </a:r>
                <a:r>
                  <a:rPr lang="en-US" sz="1600" dirty="0" err="1"/>
                  <a:t>camada</a:t>
                </a:r>
                <a:r>
                  <a:rPr lang="en-US" sz="1600" dirty="0"/>
                  <a:t> anterior</a:t>
                </a:r>
                <a:r>
                  <a:rPr lang="pt-BR" sz="1600" dirty="0"/>
                  <a:t>)</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𝐾</m:t>
                    </m:r>
                  </m:oMath>
                </a14:m>
                <a:r>
                  <a:rPr lang="pt-BR" sz="1600" b="0" dirty="0">
                    <a:latin typeface="Cambria Math" panose="02040503050406030204" pitchFamily="18" charset="0"/>
                    <a:ea typeface="Cambria Math" panose="02040503050406030204" pitchFamily="18" charset="0"/>
                  </a:rPr>
                  <a:t>: </a:t>
                </a:r>
                <a:r>
                  <a:rPr lang="pt-BR" sz="1600" b="0" i="1" dirty="0">
                    <a:latin typeface="Cambria Math" panose="02040503050406030204" pitchFamily="18" charset="0"/>
                    <a:ea typeface="Cambria Math" panose="02040503050406030204" pitchFamily="18" charset="0"/>
                  </a:rPr>
                  <a:t>kernel</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𝑂</m:t>
                    </m:r>
                  </m:oMath>
                </a14:m>
                <a:r>
                  <a:rPr lang="pt-BR" sz="1600" dirty="0"/>
                  <a:t>: saída da convolução</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𝑖</m:t>
                    </m:r>
                  </m:oMath>
                </a14:m>
                <a:r>
                  <a:rPr lang="pt-BR" sz="1600" dirty="0"/>
                  <a:t>, </a:t>
                </a:r>
                <a14:m>
                  <m:oMath xmlns:m="http://schemas.openxmlformats.org/officeDocument/2006/math">
                    <m:r>
                      <a:rPr lang="pt-BR" sz="1600" b="0" i="1" smtClean="0">
                        <a:latin typeface="Cambria Math" panose="02040503050406030204" pitchFamily="18" charset="0"/>
                        <a:ea typeface="Cambria Math" panose="02040503050406030204" pitchFamily="18" charset="0"/>
                      </a:rPr>
                      <m:t>𝑗</m:t>
                    </m:r>
                  </m:oMath>
                </a14:m>
                <a:r>
                  <a:rPr lang="pt-BR" sz="1600" dirty="0"/>
                  <a:t>: índices da linha e da coluna na saída e no campo receptivo de entrada</a:t>
                </a:r>
              </a:p>
              <a:p>
                <a14:m>
                  <m:oMath xmlns:m="http://schemas.openxmlformats.org/officeDocument/2006/math">
                    <m:r>
                      <m:rPr>
                        <m:brk m:alnAt="7"/>
                      </m:rPr>
                      <a:rPr lang="pt-BR" sz="1600" i="1">
                        <a:latin typeface="Cambria Math" panose="02040503050406030204" pitchFamily="18" charset="0"/>
                        <a:ea typeface="Cambria Math" panose="02040503050406030204" pitchFamily="18" charset="0"/>
                      </a:rPr>
                      <m:t>𝑚</m:t>
                    </m:r>
                  </m:oMath>
                </a14:m>
                <a:r>
                  <a:rPr lang="pt-BR" sz="1600" dirty="0"/>
                  <a:t>, </a:t>
                </a:r>
                <a14:m>
                  <m:oMath xmlns:m="http://schemas.openxmlformats.org/officeDocument/2006/math">
                    <m:r>
                      <m:rPr>
                        <m:brk m:alnAt="7"/>
                      </m:rPr>
                      <a:rPr lang="pt-BR" sz="1600" i="1">
                        <a:latin typeface="Cambria Math" panose="02040503050406030204" pitchFamily="18" charset="0"/>
                        <a:ea typeface="Cambria Math" panose="02040503050406030204" pitchFamily="18" charset="0"/>
                      </a:rPr>
                      <m:t>𝑛</m:t>
                    </m:r>
                  </m:oMath>
                </a14:m>
                <a:r>
                  <a:rPr lang="pt-BR" sz="1600" dirty="0"/>
                  <a:t>: índices da linha e da coluna do kernel, respectivamente</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0" y="5534780"/>
                <a:ext cx="7032617" cy="1323439"/>
              </a:xfrm>
              <a:prstGeom prst="rect">
                <a:avLst/>
              </a:prstGeom>
              <a:blipFill>
                <a:blip r:embed="rId7"/>
                <a:stretch>
                  <a:fillRect t="-2304" b="-5069"/>
                </a:stretch>
              </a:blipFill>
            </p:spPr>
            <p:txBody>
              <a:bodyPr/>
              <a:lstStyle/>
              <a:p>
                <a:r>
                  <a:rPr lang="en-US">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580993" cy="5032375"/>
          </a:xfrm>
        </p:spPr>
        <p:txBody>
          <a:bodyPr>
            <a:normAutofit/>
          </a:bodyPr>
          <a:lstStyle/>
          <a:p>
            <a:r>
              <a:rPr lang="pt-BR" noProof="0" dirty="0"/>
              <a:t>Ao calcular a convolução, começamos com a</a:t>
            </a:r>
            <a:r>
              <a:rPr lang="pt-BR" b="1" noProof="0" dirty="0"/>
              <a:t> </a:t>
            </a:r>
            <a:r>
              <a:rPr lang="pt-BR" b="1" noProof="0" dirty="0">
                <a:solidFill>
                  <a:schemeClr val="accent2"/>
                </a:solidFill>
              </a:rPr>
              <a:t>janela de convolução</a:t>
            </a:r>
            <a:r>
              <a:rPr lang="pt-BR" b="1" noProof="0" dirty="0"/>
              <a:t> (</a:t>
            </a:r>
            <a:r>
              <a:rPr lang="pt-BR" b="1" noProof="0" dirty="0">
                <a:solidFill>
                  <a:srgbClr val="7030A0"/>
                </a:solidFill>
              </a:rPr>
              <a:t>ou campo receptivo</a:t>
            </a:r>
            <a:r>
              <a:rPr lang="pt-BR" b="1" noProof="0" dirty="0"/>
              <a:t>) </a:t>
            </a:r>
            <a:r>
              <a:rPr lang="pt-BR" noProof="0" dirty="0"/>
              <a:t>no </a:t>
            </a:r>
            <a:r>
              <a:rPr lang="pt-BR" b="1" noProof="0" dirty="0"/>
              <a:t>canto superior esquerdo</a:t>
            </a:r>
            <a:r>
              <a:rPr lang="pt-BR" noProof="0" dirty="0"/>
              <a:t> do </a:t>
            </a:r>
            <a:r>
              <a:rPr lang="pt-BR" b="1" noProof="0" dirty="0">
                <a:solidFill>
                  <a:srgbClr val="00B050"/>
                </a:solidFill>
              </a:rPr>
              <a:t>tensor de entrada </a:t>
            </a:r>
            <a:r>
              <a:rPr lang="pt-BR" noProof="0" dirty="0"/>
              <a:t>(e.g., uma imagem ou saída da camada anterior).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a:t>
            </a:r>
            <a:r>
              <a:rPr lang="pt-BR" sz="1200" b="1" dirty="0">
                <a:solidFill>
                  <a:schemeClr val="accent2"/>
                </a:solidFill>
              </a:rPr>
              <a:t>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discutiremos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229225" y="1825624"/>
            <a:ext cx="6962775"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0070C0"/>
                </a:solidFill>
              </a:rPr>
              <a:t>identificar</a:t>
            </a:r>
            <a:r>
              <a:rPr lang="pt-BR" b="1" dirty="0">
                <a:solidFill>
                  <a:srgbClr val="7030A0"/>
                </a:solidFill>
              </a:rPr>
              <a:t> características na entrada</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mapa de ativações</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 um filtro ao longo de cada posição espacial</a:t>
            </a:r>
            <a:r>
              <a:rPr lang="pt-BR" dirty="0"/>
              <a:t> do tensor de entrada.</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838200" y="1825624"/>
            <a:ext cx="11353800" cy="5032375"/>
          </a:xfrm>
        </p:spPr>
        <p:txBody>
          <a:bodyPr>
            <a:normAutofit lnSpcReduction="10000"/>
          </a:bodyPr>
          <a:lstStyle/>
          <a:p>
            <a:r>
              <a:rPr lang="pt-BR" noProof="0" dirty="0"/>
              <a:t>O </a:t>
            </a:r>
            <a:r>
              <a:rPr lang="pt-BR" b="1" i="1" noProof="0" dirty="0">
                <a:solidFill>
                  <a:srgbClr val="0070C0"/>
                </a:solidFill>
              </a:rPr>
              <a:t>stride</a:t>
            </a:r>
            <a:r>
              <a:rPr lang="pt-BR" noProof="0" dirty="0"/>
              <a:t> controla o deslizamento do </a:t>
            </a:r>
            <a:r>
              <a:rPr lang="pt-BR" i="1" noProof="0" dirty="0"/>
              <a:t>kernel</a:t>
            </a:r>
            <a:r>
              <a:rPr lang="pt-BR" noProof="0" dirty="0"/>
              <a:t> sobre o tensor</a:t>
            </a:r>
            <a:r>
              <a:rPr lang="pt-BR" dirty="0"/>
              <a:t> de entrada</a:t>
            </a:r>
            <a:r>
              <a:rPr lang="pt-BR" noProof="0" dirty="0"/>
              <a:t>. </a:t>
            </a:r>
          </a:p>
          <a:p>
            <a:r>
              <a:rPr lang="pt-BR" noProof="0" dirty="0"/>
              <a:t>É o número de </a:t>
            </a:r>
            <a:r>
              <a:rPr lang="pt-BR" i="1" noProof="0" dirty="0"/>
              <a:t>pixels</a:t>
            </a:r>
            <a:r>
              <a:rPr lang="pt-BR" noProof="0" dirty="0"/>
              <a:t> que o </a:t>
            </a:r>
            <a:r>
              <a:rPr lang="pt-BR" i="1" noProof="0" dirty="0"/>
              <a:t>kernel</a:t>
            </a:r>
            <a:r>
              <a:rPr lang="pt-BR" noProof="0" dirty="0"/>
              <a:t> avança a cada aplicação da convolução.</a:t>
            </a:r>
          </a:p>
          <a:p>
            <a:r>
              <a:rPr lang="pt-BR" noProof="0" dirty="0"/>
              <a:t>No exemplo anterior, o </a:t>
            </a:r>
            <a:r>
              <a:rPr lang="pt-BR" b="1" i="1" noProof="0" dirty="0">
                <a:solidFill>
                  <a:srgbClr val="0070C0"/>
                </a:solidFill>
              </a:rPr>
              <a:t>stride</a:t>
            </a:r>
            <a:r>
              <a:rPr lang="pt-BR" noProof="0" dirty="0"/>
              <a:t> era de 1 </a:t>
            </a:r>
            <a:r>
              <a:rPr lang="pt-BR" i="1" noProof="0" dirty="0"/>
              <a:t>pixel</a:t>
            </a:r>
            <a:r>
              <a:rPr lang="pt-BR" noProof="0" dirty="0"/>
              <a:t> para a direita e para baixo.</a:t>
            </a:r>
          </a:p>
          <a:p>
            <a:r>
              <a:rPr lang="pt-BR" noProof="0" dirty="0"/>
              <a:t>Para que serve sua variação?</a:t>
            </a:r>
          </a:p>
          <a:p>
            <a:pPr lvl="1">
              <a:buFont typeface="Wingdings" panose="05000000000000000000" pitchFamily="2" charset="2"/>
              <a:buChar char="§"/>
            </a:pPr>
            <a:r>
              <a:rPr lang="pt-BR" noProof="0" dirty="0"/>
              <a:t>Reduzir o tamanho do mapa de características (</a:t>
            </a:r>
            <a:r>
              <a:rPr lang="pt-BR" i="1" noProof="0" dirty="0"/>
              <a:t>downsampling</a:t>
            </a:r>
            <a:r>
              <a:rPr lang="pt-BR" noProof="0" dirty="0"/>
              <a:t>)</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resolução da saída.</a:t>
            </a:r>
            <a:endParaRPr lang="pt-BR" noProof="0" dirty="0"/>
          </a:p>
          <a:p>
            <a:pPr lvl="1">
              <a:buFont typeface="Wingdings" panose="05000000000000000000" pitchFamily="2" charset="2"/>
              <a:buChar char="§"/>
            </a:pPr>
            <a:r>
              <a:rPr lang="pt-BR" noProof="0" dirty="0"/>
              <a:t>Reduzir o custo computacional.</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quantidade de cálculos.</a:t>
            </a:r>
          </a:p>
          <a:p>
            <a:pPr lvl="1">
              <a:buFont typeface="Wingdings" panose="05000000000000000000" pitchFamily="2" charset="2"/>
              <a:buChar char="§"/>
            </a:pPr>
            <a:r>
              <a:rPr lang="pt-BR" noProof="0" dirty="0"/>
              <a:t>Controlar o nível de detalhe preservado.</a:t>
            </a:r>
          </a:p>
          <a:p>
            <a:pPr lvl="2">
              <a:buFont typeface="Courier New" panose="02070309020205020404" pitchFamily="49" charset="0"/>
              <a:buChar char="o"/>
            </a:pPr>
            <a:r>
              <a:rPr lang="pt-BR" i="1" noProof="0" dirty="0"/>
              <a:t>Stride</a:t>
            </a:r>
            <a:r>
              <a:rPr lang="pt-BR" noProof="0" dirty="0"/>
              <a:t> pequeno:</a:t>
            </a:r>
            <a:r>
              <a:rPr lang="pt-BR" dirty="0"/>
              <a:t> maior sobreposição entre janelas, o que preserva mais resolução espacial e informação de localização na saída, porém, tem custo computacional maior.</a:t>
            </a:r>
            <a:endParaRPr lang="pt-BR" noProof="0" dirty="0"/>
          </a:p>
          <a:p>
            <a:pPr lvl="2">
              <a:buFont typeface="Courier New" panose="02070309020205020404" pitchFamily="49" charset="0"/>
              <a:buChar char="o"/>
            </a:pPr>
            <a:r>
              <a:rPr lang="pt-BR" i="1" noProof="0" dirty="0"/>
              <a:t>Stride</a:t>
            </a:r>
            <a:r>
              <a:rPr lang="pt-BR" noProof="0" dirty="0"/>
              <a:t> grande: </a:t>
            </a:r>
            <a:r>
              <a:rPr lang="pt-BR" dirty="0"/>
              <a:t>saída de menor resolução, menor custo computacional, mas com risco de perder detalhes finos (o </a:t>
            </a:r>
            <a:r>
              <a:rPr lang="pt-BR" i="1" dirty="0"/>
              <a:t>kernel</a:t>
            </a:r>
            <a:r>
              <a:rPr lang="pt-BR" dirty="0"/>
              <a:t> pula posições) e a localização fica menos precisa.</a:t>
            </a:r>
          </a:p>
        </p:txBody>
      </p:sp>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BE4B1-97D7-A915-F657-F34845A7038C}"/>
              </a:ext>
            </a:extLst>
          </p:cNvPr>
          <p:cNvSpPr>
            <a:spLocks noGrp="1"/>
          </p:cNvSpPr>
          <p:nvPr>
            <p:ph type="title"/>
          </p:nvPr>
        </p:nvSpPr>
        <p:spPr/>
        <p:txBody>
          <a:bodyPr/>
          <a:lstStyle/>
          <a:p>
            <a:r>
              <a:rPr lang="pt-BR" i="1" dirty="0"/>
              <a:t>Stride</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08C86F11-4D94-E07B-050B-BAFEC1DDF558}"/>
                  </a:ext>
                </a:extLst>
              </p:cNvPr>
              <p:cNvSpPr>
                <a:spLocks noGrp="1"/>
              </p:cNvSpPr>
              <p:nvPr>
                <p:ph idx="1"/>
              </p:nvPr>
            </p:nvSpPr>
            <p:spPr>
              <a:xfrm>
                <a:off x="5647174" y="1825624"/>
                <a:ext cx="6544826" cy="5032375"/>
              </a:xfrm>
            </p:spPr>
            <p:txBody>
              <a:bodyPr>
                <a:normAutofit/>
              </a:bodyPr>
              <a:lstStyle/>
              <a:p>
                <a:r>
                  <a:rPr lang="pt-BR" noProof="0" dirty="0"/>
                  <a:t>Portanto, o </a:t>
                </a:r>
                <a:r>
                  <a:rPr lang="pt-BR" i="1" noProof="0" dirty="0"/>
                  <a:t>stride</a:t>
                </a:r>
                <a:r>
                  <a:rPr lang="pt-BR" noProof="0" dirty="0"/>
                  <a:t> controla o equilíbrio entre </a:t>
                </a:r>
                <a:r>
                  <a:rPr lang="pt-BR" b="1" noProof="0" dirty="0"/>
                  <a:t>resolução espacial vs. eficiência.</a:t>
                </a:r>
                <a:endParaRPr lang="pt-BR" noProof="0" dirty="0"/>
              </a:p>
              <a:p>
                <a:r>
                  <a:rPr lang="pt-BR" noProof="0" dirty="0"/>
                  <a:t>No exemplo ao lado, o </a:t>
                </a:r>
                <a:r>
                  <a:rPr lang="pt-BR" i="1" noProof="0" dirty="0"/>
                  <a:t>stride</a:t>
                </a:r>
                <a:r>
                  <a:rPr lang="pt-BR" noProof="0" dirty="0"/>
                  <a:t> é de 2 para deslizamentos ao longo das colunas e linhas.</a:t>
                </a:r>
              </a:p>
              <a:p>
                <a:pPr lvl="1">
                  <a:buFont typeface="Wingdings" panose="05000000000000000000" pitchFamily="2" charset="2"/>
                  <a:buChar char="§"/>
                </a:pPr>
                <a:r>
                  <a:rPr lang="pt-BR" i="1" noProof="0" dirty="0"/>
                  <a:t>Downsampling</a:t>
                </a:r>
                <a:r>
                  <a:rPr lang="pt-BR" noProof="0" dirty="0"/>
                  <a:t>: Entrada </a:t>
                </a:r>
                <a14:m>
                  <m:oMath xmlns:m="http://schemas.openxmlformats.org/officeDocument/2006/math">
                    <m:r>
                      <a:rPr lang="pt-BR" b="0" i="1" noProof="0" smtClean="0">
                        <a:latin typeface="Cambria Math" panose="02040503050406030204" pitchFamily="18" charset="0"/>
                      </a:rPr>
                      <m:t>4</m:t>
                    </m:r>
                    <m:r>
                      <a:rPr lang="pt-BR" b="0" i="1" noProof="0" smtClean="0">
                        <a:latin typeface="Cambria Math" panose="02040503050406030204" pitchFamily="18" charset="0"/>
                        <a:ea typeface="Cambria Math" panose="02040503050406030204" pitchFamily="18" charset="0"/>
                      </a:rPr>
                      <m:t>×4</m:t>
                    </m:r>
                  </m:oMath>
                </a14:m>
                <a:r>
                  <a:rPr lang="pt-BR" noProof="0" dirty="0"/>
                  <a:t> tem como saída um mapa de </a:t>
                </a:r>
                <a14:m>
                  <m:oMath xmlns:m="http://schemas.openxmlformats.org/officeDocument/2006/math">
                    <m:r>
                      <a:rPr lang="pt-BR" b="0" i="0" noProof="0" smtClean="0">
                        <a:latin typeface="Cambria Math" panose="02040503050406030204" pitchFamily="18" charset="0"/>
                        <a:ea typeface="Cambria Math" panose="02040503050406030204" pitchFamily="18" charset="0"/>
                      </a:rPr>
                      <m:t>2</m:t>
                    </m:r>
                    <m:r>
                      <a:rPr lang="pt-BR" i="1" noProof="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2</m:t>
                    </m:r>
                  </m:oMath>
                </a14:m>
                <a:endParaRPr lang="pt-BR" noProof="0" dirty="0"/>
              </a:p>
              <a:p>
                <a:r>
                  <a:rPr lang="pt-BR" noProof="0" dirty="0"/>
                  <a:t>Porém, ele pode ser diferente para deslocamentos ao longo das linhas e colunas.</a:t>
                </a:r>
              </a:p>
            </p:txBody>
          </p:sp>
        </mc:Choice>
        <mc:Fallback xmlns="">
          <p:sp>
            <p:nvSpPr>
              <p:cNvPr id="6" name="Espaço Reservado para Conteúdo 5">
                <a:extLst>
                  <a:ext uri="{FF2B5EF4-FFF2-40B4-BE49-F238E27FC236}">
                    <a16:creationId xmlns:a16="http://schemas.microsoft.com/office/drawing/2014/main" id="{08C86F11-4D94-E07B-050B-BAFEC1DDF558}"/>
                  </a:ext>
                </a:extLst>
              </p:cNvPr>
              <p:cNvSpPr>
                <a:spLocks noGrp="1" noRot="1" noChangeAspect="1" noMove="1" noResize="1" noEditPoints="1" noAdjustHandles="1" noChangeArrowheads="1" noChangeShapeType="1" noTextEdit="1"/>
              </p:cNvSpPr>
              <p:nvPr>
                <p:ph idx="1"/>
              </p:nvPr>
            </p:nvSpPr>
            <p:spPr>
              <a:xfrm>
                <a:off x="5647174" y="1825624"/>
                <a:ext cx="6544826" cy="5032375"/>
              </a:xfrm>
              <a:blipFill>
                <a:blip r:embed="rId3"/>
                <a:stretch>
                  <a:fillRect l="-1676" t="-1937"/>
                </a:stretch>
              </a:blipFill>
            </p:spPr>
            <p:txBody>
              <a:bodyPr/>
              <a:lstStyle/>
              <a:p>
                <a:r>
                  <a:rPr lang="en-US">
                    <a:noFill/>
                  </a:rPr>
                  <a:t> </a:t>
                </a:r>
              </a:p>
            </p:txBody>
          </p:sp>
        </mc:Fallback>
      </mc:AlternateContent>
      <p:pic>
        <p:nvPicPr>
          <p:cNvPr id="9" name="Imagem 8">
            <a:extLst>
              <a:ext uri="{FF2B5EF4-FFF2-40B4-BE49-F238E27FC236}">
                <a16:creationId xmlns:a16="http://schemas.microsoft.com/office/drawing/2014/main" id="{2E7D9F4F-1DB2-E99B-33C5-E46912A66CA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C30E0-8081-B0A7-573B-8D5BAFB388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4ED3848-5F72-8F8E-2C64-8BA12C5D5C5F}"/>
              </a:ext>
            </a:extLst>
          </p:cNvPr>
          <p:cNvSpPr>
            <a:spLocks noGrp="1"/>
          </p:cNvSpPr>
          <p:nvPr>
            <p:ph idx="1"/>
          </p:nvPr>
        </p:nvSpPr>
        <p:spPr>
          <a:xfrm>
            <a:off x="506186" y="2941351"/>
            <a:ext cx="11179628" cy="975297"/>
          </a:xfrm>
        </p:spPr>
        <p:txBody>
          <a:bodyPr>
            <a:normAutofit/>
          </a:bodyPr>
          <a:lstStyle/>
          <a:p>
            <a:pPr marL="0" indent="0" algn="ctr">
              <a:buNone/>
            </a:pPr>
            <a:r>
              <a:rPr lang="pt-BR" sz="6000" dirty="0"/>
              <a:t>Filtros detectam padrões</a:t>
            </a:r>
            <a:endParaRPr lang="en-US" sz="6000" dirty="0"/>
          </a:p>
        </p:txBody>
      </p:sp>
    </p:spTree>
    <p:extLst>
      <p:ext uri="{BB962C8B-B14F-4D97-AF65-F5344CB8AC3E}">
        <p14:creationId xmlns:p14="http://schemas.microsoft.com/office/powerpoint/2010/main" val="37305855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id="{D872F4FC-2FC8-BB6E-9E93-AE1ED29B9AA3}"/>
              </a:ext>
            </a:extLst>
          </p:cNvPr>
          <p:cNvGrpSpPr/>
          <p:nvPr/>
        </p:nvGrpSpPr>
        <p:grpSpPr>
          <a:xfrm>
            <a:off x="1717729" y="1312121"/>
            <a:ext cx="9092325" cy="3008673"/>
            <a:chOff x="2534852" y="1688232"/>
            <a:chExt cx="9092325" cy="3008673"/>
          </a:xfrm>
        </p:grpSpPr>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419600"/>
            <a:ext cx="11353801" cy="2438400"/>
          </a:xfrm>
        </p:spPr>
        <p:txBody>
          <a:bodyPr>
            <a:normAutofit/>
          </a:bodyPr>
          <a:lstStyle/>
          <a:p>
            <a:r>
              <a:rPr lang="pt-BR" dirty="0"/>
              <a:t>Na figura, a imagem de entrada apresenta três padrões lineares (linhas).</a:t>
            </a:r>
          </a:p>
          <a:p>
            <a:r>
              <a:rPr lang="pt-BR" dirty="0"/>
              <a:t>Temos uma camada convolucional com três filtros.</a:t>
            </a:r>
          </a:p>
          <a:p>
            <a:r>
              <a:rPr lang="pt-BR" b="0" i="0" dirty="0">
                <a:effectLst/>
              </a:rPr>
              <a:t>Cada </a:t>
            </a:r>
            <a:r>
              <a:rPr lang="pt-BR" b="1" i="0" dirty="0">
                <a:solidFill>
                  <a:srgbClr val="7030A0"/>
                </a:solidFill>
                <a:effectLst/>
              </a:rPr>
              <a:t>filtro</a:t>
            </a:r>
            <a:r>
              <a:rPr lang="pt-BR" b="0" i="0" dirty="0">
                <a:effectLst/>
              </a:rPr>
              <a:t> </a:t>
            </a:r>
            <a:r>
              <a:rPr lang="pt-BR" b="1" i="0" dirty="0">
                <a:solidFill>
                  <a:srgbClr val="00B050"/>
                </a:solidFill>
                <a:effectLst/>
              </a:rPr>
              <a:t>aprende</a:t>
            </a:r>
            <a:r>
              <a:rPr lang="pt-BR" b="0" i="0" dirty="0">
                <a:effectLst/>
              </a:rPr>
              <a:t> a </a:t>
            </a:r>
            <a:r>
              <a:rPr lang="pt-BR" b="1" i="0" dirty="0">
                <a:solidFill>
                  <a:srgbClr val="7030A0"/>
                </a:solidFill>
                <a:effectLst/>
              </a:rPr>
              <a:t>detectar </a:t>
            </a:r>
            <a:r>
              <a:rPr lang="pt-BR" b="1" i="0" dirty="0">
                <a:solidFill>
                  <a:schemeClr val="accent2"/>
                </a:solidFill>
                <a:effectLst/>
              </a:rPr>
              <a:t>um</a:t>
            </a:r>
            <a:r>
              <a:rPr lang="pt-BR" b="1" i="0" dirty="0">
                <a:solidFill>
                  <a:srgbClr val="7030A0"/>
                </a:solidFill>
                <a:effectLst/>
              </a:rPr>
              <a:t> padrão específico</a:t>
            </a:r>
            <a:r>
              <a:rPr lang="pt-BR" b="0" i="0" dirty="0">
                <a:effectLst/>
              </a:rPr>
              <a:t>: linhas horizontais, linhas verticais e linhas diagonais.</a:t>
            </a:r>
          </a:p>
          <a:p>
            <a:r>
              <a:rPr lang="pt-BR" b="1" dirty="0">
                <a:solidFill>
                  <a:schemeClr val="accent2"/>
                </a:solidFill>
              </a:rPr>
              <a:t>Cada filtro gera um mapa de características diferente</a:t>
            </a:r>
            <a:r>
              <a:rPr lang="pt-BR" dirty="0"/>
              <a:t>.</a:t>
            </a:r>
          </a:p>
        </p:txBody>
      </p:sp>
    </p:spTree>
    <p:extLst>
      <p:ext uri="{BB962C8B-B14F-4D97-AF65-F5344CB8AC3E}">
        <p14:creationId xmlns:p14="http://schemas.microsoft.com/office/powerpoint/2010/main" val="16509866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Ao aplicarmos o </a:t>
            </a:r>
            <a:r>
              <a:rPr lang="pt-BR" i="1" dirty="0"/>
              <a:t>kernel</a:t>
            </a:r>
            <a:r>
              <a:rPr lang="pt-BR" dirty="0"/>
              <a:t> mostrado, obtemos o resultado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a:t>
            </a:r>
            <a:r>
              <a:rPr lang="pt-BR" b="1" dirty="0">
                <a:solidFill>
                  <a:schemeClr val="accent2"/>
                </a:solidFill>
              </a:rPr>
              <a:t>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5" name="CaixaDeTexto 4">
            <a:extLst>
              <a:ext uri="{FF2B5EF4-FFF2-40B4-BE49-F238E27FC236}">
                <a16:creationId xmlns:a16="http://schemas.microsoft.com/office/drawing/2014/main" id="{3AC81DFC-312F-0685-AA08-805C8A79BA72}"/>
              </a:ext>
            </a:extLst>
          </p:cNvPr>
          <p:cNvSpPr txBox="1"/>
          <p:nvPr/>
        </p:nvSpPr>
        <p:spPr>
          <a:xfrm>
            <a:off x="5762010" y="3628130"/>
            <a:ext cx="953979" cy="307777"/>
          </a:xfrm>
          <a:prstGeom prst="rect">
            <a:avLst/>
          </a:prstGeom>
          <a:noFill/>
        </p:spPr>
        <p:txBody>
          <a:bodyPr wrap="none" rtlCol="0">
            <a:spAutoFit/>
          </a:bodyPr>
          <a:lstStyle/>
          <a:p>
            <a:r>
              <a:rPr lang="pt-BR" sz="1400" i="1" dirty="0" err="1"/>
              <a:t>right</a:t>
            </a:r>
            <a:r>
              <a:rPr lang="pt-BR" sz="1400" i="1" dirty="0"/>
              <a:t> </a:t>
            </a:r>
            <a:r>
              <a:rPr lang="pt-BR" sz="1400" i="1" dirty="0" err="1"/>
              <a:t>sobel</a:t>
            </a:r>
            <a:endParaRPr lang="en-US" sz="1400" i="1" dirty="0"/>
          </a:p>
        </p:txBody>
      </p:sp>
      <p:sp>
        <p:nvSpPr>
          <p:cNvPr id="7" name="CaixaDeTexto 6">
            <a:extLst>
              <a:ext uri="{FF2B5EF4-FFF2-40B4-BE49-F238E27FC236}">
                <a16:creationId xmlns:a16="http://schemas.microsoft.com/office/drawing/2014/main" id="{FA5CCBA6-6983-1B34-087A-290B3BA47357}"/>
              </a:ext>
            </a:extLst>
          </p:cNvPr>
          <p:cNvSpPr txBox="1"/>
          <p:nvPr/>
        </p:nvSpPr>
        <p:spPr>
          <a:xfrm>
            <a:off x="9349483" y="4277114"/>
            <a:ext cx="2533427" cy="646331"/>
          </a:xfrm>
          <a:prstGeom prst="rect">
            <a:avLst/>
          </a:prstGeom>
          <a:noFill/>
        </p:spPr>
        <p:txBody>
          <a:bodyPr wrap="square" rtlCol="0">
            <a:spAutoFit/>
          </a:bodyPr>
          <a:lstStyle/>
          <a:p>
            <a:pPr algn="ctr"/>
            <a:r>
              <a:rPr lang="pt-BR" sz="1200" dirty="0"/>
              <a:t>OBS.: após a aplicação do filtro, a imagem da direita tem resolução menor do que a da esquerda</a:t>
            </a:r>
            <a:endParaRPr lang="en-US" sz="1200" dirty="0"/>
          </a:p>
        </p:txBody>
      </p:sp>
    </p:spTree>
    <p:extLst>
      <p:ext uri="{BB962C8B-B14F-4D97-AF65-F5344CB8AC3E}">
        <p14:creationId xmlns:p14="http://schemas.microsoft.com/office/powerpoint/2010/main" val="36507460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39855"/>
            <a:ext cx="11353799" cy="2518146"/>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a:t>
            </a:r>
            <a:r>
              <a:rPr lang="pt-BR" b="1" dirty="0">
                <a:solidFill>
                  <a:schemeClr val="accent2"/>
                </a:solidFill>
              </a:rPr>
              <a:t>escurecendo</a:t>
            </a:r>
            <a:r>
              <a:rPr lang="pt-BR" dirty="0"/>
              <a:t> quase tudo na imagem que não seja uma linha horizontal.</a:t>
            </a:r>
          </a:p>
          <a:p>
            <a:r>
              <a:rPr lang="pt-BR" dirty="0"/>
              <a:t>Ao aplicar </a:t>
            </a:r>
            <a:r>
              <a:rPr lang="pt-BR" i="1" dirty="0"/>
              <a:t>kernels</a:t>
            </a:r>
            <a:r>
              <a:rPr lang="pt-BR" dirty="0"/>
              <a:t> como esses, </a:t>
            </a:r>
            <a:r>
              <a:rPr lang="pt-BR" b="1" dirty="0">
                <a:solidFill>
                  <a:srgbClr val="00B050"/>
                </a:solidFill>
              </a:rPr>
              <a:t>removemos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 para um </a:t>
            </a:r>
            <a:r>
              <a:rPr lang="pt-BR" i="1" dirty="0"/>
              <a:t>kernel</a:t>
            </a:r>
            <a:r>
              <a:rPr lang="pt-BR" dirty="0"/>
              <a:t>.</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4" name="CaixaDeTexto 3">
            <a:extLst>
              <a:ext uri="{FF2B5EF4-FFF2-40B4-BE49-F238E27FC236}">
                <a16:creationId xmlns:a16="http://schemas.microsoft.com/office/drawing/2014/main" id="{8742060B-3607-8D76-F390-2FF75A80EDC6}"/>
              </a:ext>
            </a:extLst>
          </p:cNvPr>
          <p:cNvSpPr txBox="1"/>
          <p:nvPr/>
        </p:nvSpPr>
        <p:spPr>
          <a:xfrm>
            <a:off x="5685266" y="3638831"/>
            <a:ext cx="1142813" cy="307777"/>
          </a:xfrm>
          <a:prstGeom prst="rect">
            <a:avLst/>
          </a:prstGeom>
          <a:noFill/>
        </p:spPr>
        <p:txBody>
          <a:bodyPr wrap="none" rtlCol="0">
            <a:spAutoFit/>
          </a:bodyPr>
          <a:lstStyle/>
          <a:p>
            <a:r>
              <a:rPr lang="pt-BR" sz="1400" i="1" dirty="0" err="1"/>
              <a:t>bottom</a:t>
            </a:r>
            <a:r>
              <a:rPr lang="pt-BR" sz="1400" i="1" dirty="0"/>
              <a:t> </a:t>
            </a:r>
            <a:r>
              <a:rPr lang="pt-BR" sz="1400" i="1" dirty="0" err="1"/>
              <a:t>sobel</a:t>
            </a:r>
            <a:endParaRPr lang="en-US" sz="1400" i="1" dirty="0"/>
          </a:p>
        </p:txBody>
      </p:sp>
    </p:spTree>
    <p:extLst>
      <p:ext uri="{BB962C8B-B14F-4D97-AF65-F5344CB8AC3E}">
        <p14:creationId xmlns:p14="http://schemas.microsoft.com/office/powerpoint/2010/main" val="29384888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570381" y="1825624"/>
            <a:ext cx="4621619" cy="5032375"/>
          </a:xfrm>
        </p:spPr>
        <p:txBody>
          <a:bodyPr>
            <a:normAutofit lnSpcReduction="10000"/>
          </a:bodyPr>
          <a:lstStyle/>
          <a:p>
            <a:r>
              <a:rPr lang="pt-BR" dirty="0"/>
              <a:t>Em geral, se a imagem tem 3 dimensões, o </a:t>
            </a:r>
            <a:r>
              <a:rPr lang="pt-BR" b="1" i="1" dirty="0"/>
              <a:t>kernel</a:t>
            </a:r>
            <a:r>
              <a:rPr lang="pt-BR" dirty="0"/>
              <a:t> também terá 3 dimensões.</a:t>
            </a:r>
          </a:p>
          <a:p>
            <a:r>
              <a:rPr lang="pt-BR" dirty="0"/>
              <a:t>Nesse caso, a </a:t>
            </a:r>
            <a:r>
              <a:rPr lang="pt-BR" b="1" dirty="0">
                <a:solidFill>
                  <a:srgbClr val="00B0F0"/>
                </a:solidFill>
              </a:rPr>
              <a:t>convolução é aplicada por canal</a:t>
            </a:r>
            <a:r>
              <a:rPr lang="pt-BR" dirty="0"/>
              <a:t>.</a:t>
            </a:r>
          </a:p>
          <a:p>
            <a:r>
              <a:rPr lang="pt-BR" dirty="0"/>
              <a:t>Ou seja, realiza-se</a:t>
            </a:r>
            <a:r>
              <a:rPr lang="pt-BR" b="1" dirty="0">
                <a:solidFill>
                  <a:srgbClr val="00B050"/>
                </a:solidFill>
              </a:rPr>
              <a:t> 3 operações de convolução separadas </a:t>
            </a:r>
            <a:r>
              <a:rPr lang="pt-BR" dirty="0"/>
              <a:t>que têm seus </a:t>
            </a:r>
            <a:r>
              <a:rPr lang="pt-BR" b="1" dirty="0">
                <a:solidFill>
                  <a:schemeClr val="accent2"/>
                </a:solidFill>
              </a:rPr>
              <a:t>resultados somados ao final</a:t>
            </a:r>
            <a:r>
              <a:rPr lang="pt-BR" dirty="0"/>
              <a:t> para gerar </a:t>
            </a:r>
            <a:r>
              <a:rPr lang="pt-BR" b="1" dirty="0">
                <a:solidFill>
                  <a:srgbClr val="7030A0"/>
                </a:solidFill>
              </a:rPr>
              <a:t>uma saída escalar</a:t>
            </a:r>
            <a:r>
              <a:rPr lang="pt-BR" dirty="0"/>
              <a:t>.</a:t>
            </a:r>
          </a:p>
          <a:p>
            <a:r>
              <a:rPr lang="pt-BR" dirty="0"/>
              <a:t>No exemplo, usamos </a:t>
            </a:r>
            <a:r>
              <a:rPr lang="pt-BR" i="1" dirty="0"/>
              <a:t>stride</a:t>
            </a:r>
            <a:r>
              <a:rPr lang="pt-BR" dirty="0"/>
              <a:t> = 1.</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9D73C8F-DA5E-B25C-664A-DD35CA4402F9}"/>
              </a:ext>
            </a:extLst>
          </p:cNvPr>
          <p:cNvSpPr>
            <a:spLocks noGrp="1"/>
          </p:cNvSpPr>
          <p:nvPr>
            <p:ph idx="1"/>
          </p:nvPr>
        </p:nvSpPr>
        <p:spPr>
          <a:xfrm>
            <a:off x="7644810" y="1825624"/>
            <a:ext cx="4547190" cy="5032375"/>
          </a:xfrm>
        </p:spPr>
        <p:txBody>
          <a:bodyPr>
            <a:normAutofit/>
          </a:bodyPr>
          <a:lstStyle/>
          <a:p>
            <a:r>
              <a:rPr lang="pt-BR" dirty="0"/>
              <a:t>A seguir, move-se a janela de convolução 1 elemento para a direita e calcula-se as 3 convoluções.</a:t>
            </a:r>
          </a:p>
          <a:p>
            <a:r>
              <a:rPr lang="pt-BR" dirty="0"/>
              <a:t>Ao final, soma-se os 3 escalares resultantes das 3 convoluções para gerar o elemento do mapa de ativações.</a:t>
            </a:r>
          </a:p>
        </p:txBody>
      </p:sp>
    </p:spTree>
    <p:extLst>
      <p:ext uri="{BB962C8B-B14F-4D97-AF65-F5344CB8AC3E}">
        <p14:creationId xmlns:p14="http://schemas.microsoft.com/office/powerpoint/2010/main" val="744138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8759458-B897-4B64-C83F-764BD728F86B}"/>
              </a:ext>
            </a:extLst>
          </p:cNvPr>
          <p:cNvSpPr>
            <a:spLocks noGrp="1"/>
          </p:cNvSpPr>
          <p:nvPr>
            <p:ph idx="1"/>
          </p:nvPr>
        </p:nvSpPr>
        <p:spPr>
          <a:xfrm>
            <a:off x="7756634" y="1825624"/>
            <a:ext cx="4435365" cy="5032375"/>
          </a:xfrm>
        </p:spPr>
        <p:txBody>
          <a:bodyPr>
            <a:normAutofit/>
          </a:bodyPr>
          <a:lstStyle/>
          <a:p>
            <a:r>
              <a:rPr lang="pt-BR" dirty="0"/>
              <a:t>Move-se a janela e repete-se as convoluções até que toda a entrada seja processada.</a:t>
            </a:r>
          </a:p>
          <a:p>
            <a:r>
              <a:rPr lang="pt-BR" dirty="0"/>
              <a:t>Ao final temos </a:t>
            </a:r>
            <a:r>
              <a:rPr lang="pt-BR" b="1" dirty="0">
                <a:solidFill>
                  <a:srgbClr val="7030A0"/>
                </a:solidFill>
              </a:rPr>
              <a:t>apenas um </a:t>
            </a:r>
            <a:r>
              <a:rPr lang="pt-BR" b="1" dirty="0">
                <a:solidFill>
                  <a:schemeClr val="accent2"/>
                </a:solidFill>
              </a:rPr>
              <a:t>mapa de características</a:t>
            </a:r>
            <a:r>
              <a:rPr lang="pt-BR" dirty="0"/>
              <a:t>.</a:t>
            </a:r>
          </a:p>
        </p:txBody>
      </p:sp>
    </p:spTree>
    <p:extLst>
      <p:ext uri="{BB962C8B-B14F-4D97-AF65-F5344CB8AC3E}">
        <p14:creationId xmlns:p14="http://schemas.microsoft.com/office/powerpoint/2010/main" val="19840035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85860" y="1825624"/>
                <a:ext cx="5706140" cy="5032375"/>
              </a:xfrm>
            </p:spPr>
            <p:txBody>
              <a:bodyPr>
                <a:normAutofit lnSpcReduction="10000"/>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a:t>
                </a:r>
                <a:r>
                  <a:rPr lang="pt-BR" b="1" dirty="0">
                    <a:solidFill>
                      <a:schemeClr val="accent2"/>
                    </a:solidFill>
                  </a:rPr>
                  <a:t>uma característica diferente</a:t>
                </a:r>
                <a:r>
                  <a:rPr lang="pt-BR" dirty="0"/>
                  <a:t>.</a:t>
                </a:r>
              </a:p>
              <a:p>
                <a:r>
                  <a:rPr lang="pt-BR" dirty="0"/>
                  <a:t>O resultado da </a:t>
                </a:r>
                <a:r>
                  <a:rPr lang="pt-BR" b="1" dirty="0">
                    <a:solidFill>
                      <a:schemeClr val="accent1"/>
                    </a:solidFill>
                  </a:rPr>
                  <a:t>convolução com cada </a:t>
                </a:r>
                <a:r>
                  <a:rPr lang="pt-BR" b="1" i="1" dirty="0">
                    <a:solidFill>
                      <a:schemeClr val="accent1"/>
                    </a:solidFill>
                  </a:rPr>
                  <a:t>kernel</a:t>
                </a:r>
                <a:r>
                  <a:rPr lang="pt-BR" b="1" dirty="0">
                    <a:solidFill>
                      <a:schemeClr val="accent1"/>
                    </a:solidFill>
                  </a:rPr>
                  <a:t> tem um valor de </a:t>
                </a:r>
                <a:r>
                  <a:rPr lang="pt-BR" b="1" i="1" dirty="0">
                    <a:solidFill>
                      <a:schemeClr val="accent1"/>
                    </a:solidFill>
                  </a:rPr>
                  <a:t>bias</a:t>
                </a:r>
                <a:r>
                  <a:rPr lang="pt-BR" b="1" dirty="0">
                    <a:solidFill>
                      <a:schemeClr val="accent1"/>
                    </a:solidFill>
                  </a:rPr>
                  <a:t> somado</a:t>
                </a:r>
                <a:r>
                  <a:rPr lang="pt-BR" dirty="0"/>
                  <a:t>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a:t>
                </a:r>
                <a:r>
                  <a:rPr lang="pt-BR" dirty="0"/>
                  <a:t>dos mapas de características de todos os </a:t>
                </a:r>
                <a:r>
                  <a:rPr lang="pt-BR" i="1" dirty="0"/>
                  <a:t>kernels</a:t>
                </a:r>
                <a:r>
                  <a:rPr lang="pt-BR" dirty="0"/>
                  <a:t> da camada.</a:t>
                </a:r>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85860" y="1825624"/>
                <a:ext cx="5706140" cy="5032375"/>
              </a:xfrm>
              <a:blipFill>
                <a:blip r:embed="rId3"/>
                <a:stretch>
                  <a:fillRect l="-1923" t="-2663" r="-1175" b="-1211"/>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084"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064368" y="1825624"/>
            <a:ext cx="7127631" cy="5032375"/>
          </a:xfrm>
        </p:spPr>
        <p:txBody>
          <a:bodyPr>
            <a:normAutofit/>
          </a:bodyPr>
          <a:lstStyle/>
          <a:p>
            <a:r>
              <a:rPr lang="pt-BR" noProof="0" dirty="0"/>
              <a:t>A função de ativação introduz não linearidade.</a:t>
            </a:r>
          </a:p>
          <a:p>
            <a:pPr lvl="1">
              <a:buFont typeface="Wingdings" panose="05000000000000000000" pitchFamily="2" charset="2"/>
              <a:buChar char="§"/>
            </a:pPr>
            <a:r>
              <a:rPr lang="pt-BR" dirty="0"/>
              <a:t>Com ela, a rede aprende </a:t>
            </a:r>
            <a:r>
              <a:rPr lang="pt-BR" b="1" dirty="0">
                <a:solidFill>
                  <a:srgbClr val="00B0F0"/>
                </a:solidFill>
              </a:rPr>
              <a:t>relações complexas e não lineares entre as características</a:t>
            </a:r>
            <a:r>
              <a:rPr lang="pt-BR" dirty="0"/>
              <a:t>.</a:t>
            </a:r>
            <a:endParaRPr lang="pt-BR" noProof="0" dirty="0"/>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dirty="0"/>
              <a:t>Ou seja,</a:t>
            </a:r>
            <a:r>
              <a:rPr lang="pt-BR" noProof="0" dirty="0"/>
              <a:t> cada valor do mapa é transformado individualmente pela função de ativação.</a:t>
            </a:r>
          </a:p>
          <a:p>
            <a:r>
              <a:rPr lang="pt-BR" noProof="0" dirty="0"/>
              <a:t>Em geral, como </a:t>
            </a:r>
            <a:r>
              <a:rPr lang="pt-BR" b="1" noProof="0" dirty="0">
                <a:solidFill>
                  <a:srgbClr val="7030A0"/>
                </a:solidFill>
              </a:rPr>
              <a:t>CNNs tendem a ter muitas camadas</a:t>
            </a:r>
            <a:r>
              <a:rPr lang="pt-BR" noProof="0" dirty="0"/>
              <a:t>, para evitar o </a:t>
            </a:r>
            <a:r>
              <a:rPr lang="pt-BR" b="1" noProof="0" dirty="0">
                <a:solidFill>
                  <a:srgbClr val="0070C0"/>
                </a:solidFill>
              </a:rPr>
              <a:t>desaparecimento do gradiente</a:t>
            </a:r>
            <a:r>
              <a:rPr lang="pt-BR" noProof="0" dirty="0"/>
              <a:t>,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209953" y="1825624"/>
                <a:ext cx="6982047"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a:t>
                </a:r>
                <a:r>
                  <a:rPr lang="pt-BR" b="1" dirty="0">
                    <a:solidFill>
                      <a:schemeClr val="accent2"/>
                    </a:solidFill>
                  </a:rPr>
                  <a:t>reduz o tamanho espacial</a:t>
                </a:r>
                <a:r>
                  <a:rPr lang="pt-BR" dirty="0"/>
                  <a:t> dos mapas de características.</a:t>
                </a:r>
              </a:p>
              <a:p>
                <a:r>
                  <a:rPr lang="pt-BR" dirty="0"/>
                  <a:t>A operação de </a:t>
                </a:r>
                <a:r>
                  <a:rPr lang="pt-BR" i="1" dirty="0" err="1"/>
                  <a:t>pooling</a:t>
                </a:r>
                <a:r>
                  <a:rPr lang="pt-BR" dirty="0"/>
                  <a:t> </a:t>
                </a:r>
                <a:r>
                  <a:rPr lang="pt-BR" b="1" dirty="0">
                    <a:solidFill>
                      <a:srgbClr val="7030A0"/>
                    </a:solidFill>
                  </a:rPr>
                  <a:t>varre o mapa de características</a:t>
                </a:r>
                <a:r>
                  <a:rPr lang="pt-BR" dirty="0"/>
                  <a:t> em </a:t>
                </a:r>
                <a:r>
                  <a:rPr lang="pt-BR" b="1" dirty="0">
                    <a:solidFill>
                      <a:srgbClr val="00B050"/>
                    </a:solidFill>
                  </a:rPr>
                  <a:t>pequenas regiões </a:t>
                </a:r>
                <a:r>
                  <a:rPr lang="pt-BR" dirty="0"/>
                  <a:t>(janelas) e </a:t>
                </a:r>
                <a:r>
                  <a:rPr lang="pt-BR" b="1" dirty="0">
                    <a:solidFill>
                      <a:srgbClr val="00B0F0"/>
                    </a:solidFill>
                  </a:rPr>
                  <a:t>resume</a:t>
                </a:r>
                <a:r>
                  <a:rPr lang="pt-BR" b="1" dirty="0">
                    <a:solidFill>
                      <a:schemeClr val="accent1"/>
                    </a:solidFill>
                  </a:rPr>
                  <a:t> cada região a um único valor</a:t>
                </a:r>
                <a:r>
                  <a:rPr lang="pt-BR" dirty="0"/>
                  <a:t>.</a:t>
                </a:r>
              </a:p>
              <a:p>
                <a:r>
                  <a:rPr lang="pt-BR" dirty="0"/>
                  <a:t>O exemplo ao lado usa uma janela de </a:t>
                </a:r>
                <a:r>
                  <a:rPr lang="pt-BR" i="1" dirty="0" err="1"/>
                  <a:t>pooling</a:t>
                </a:r>
                <a:r>
                  <a:rPr lang="pt-BR" dirty="0"/>
                  <a:t> </a:t>
                </a:r>
                <a14:m>
                  <m:oMath xmlns:m="http://schemas.openxmlformats.org/officeDocument/2006/math">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a14:m>
                <a:r>
                  <a:rPr lang="pt-BR" dirty="0"/>
                  <a:t>, um </a:t>
                </a:r>
                <a:r>
                  <a:rPr lang="pt-BR" i="1" dirty="0"/>
                  <a:t>stride</a:t>
                </a:r>
                <a:r>
                  <a:rPr lang="pt-BR" dirty="0"/>
                  <a:t> de </a:t>
                </a:r>
                <a14:m>
                  <m:oMath xmlns:m="http://schemas.openxmlformats.org/officeDocument/2006/math">
                    <m:r>
                      <a:rPr lang="pt-BR" b="0" i="1" smtClean="0">
                        <a:latin typeface="Cambria Math" panose="02040503050406030204" pitchFamily="18" charset="0"/>
                      </a:rPr>
                      <m:t>2</m:t>
                    </m:r>
                  </m:oMath>
                </a14:m>
                <a:r>
                  <a:rPr lang="pt-BR" dirty="0"/>
                  <a:t> elementos e seleciona o </a:t>
                </a:r>
                <a:r>
                  <a:rPr lang="pt-BR" b="1" dirty="0">
                    <a:solidFill>
                      <a:srgbClr val="00B0F0"/>
                    </a:solidFill>
                  </a:rPr>
                  <a:t>maior valor da janela</a:t>
                </a:r>
                <a:r>
                  <a:rPr lang="pt-BR" dirty="0"/>
                  <a:t> (</a:t>
                </a:r>
                <a:r>
                  <a:rPr lang="pt-BR" i="1" dirty="0" err="1"/>
                  <a:t>max</a:t>
                </a:r>
                <a:r>
                  <a:rPr lang="pt-BR" i="1" dirty="0"/>
                  <a:t> </a:t>
                </a:r>
                <a:r>
                  <a:rPr lang="pt-BR" i="1" dirty="0" err="1"/>
                  <a:t>pooling</a:t>
                </a:r>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209953" y="1825624"/>
                <a:ext cx="6982047" cy="5032375"/>
              </a:xfrm>
              <a:blipFill>
                <a:blip r:embed="rId3"/>
                <a:stretch>
                  <a:fillRect l="-1572" t="-1937" r="-139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06105" y="2662962"/>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709684" y="1825624"/>
            <a:ext cx="6482318" cy="5032375"/>
          </a:xfrm>
        </p:spPr>
        <p:txBody>
          <a:bodyPr>
            <a:normAutofit/>
          </a:bodyPr>
          <a:lstStyle/>
          <a:p>
            <a:r>
              <a:rPr lang="pt-BR" noProof="0" dirty="0"/>
              <a:t>O </a:t>
            </a:r>
            <a:r>
              <a:rPr lang="pt-BR" i="1" noProof="0" dirty="0" err="1"/>
              <a:t>pooling</a:t>
            </a:r>
            <a:r>
              <a:rPr lang="pt-BR" noProof="0" dirty="0"/>
              <a:t> </a:t>
            </a:r>
            <a:r>
              <a:rPr lang="pt-BR" b="1" noProof="0" dirty="0">
                <a:solidFill>
                  <a:schemeClr val="accent2"/>
                </a:solidFill>
              </a:rPr>
              <a:t>diminui custo computacional e a quantidade de memória usada</a:t>
            </a:r>
            <a:r>
              <a:rPr lang="pt-BR" noProof="0" dirty="0"/>
              <a:t>, assim como o </a:t>
            </a:r>
            <a:r>
              <a:rPr lang="pt-BR" i="1" noProof="0" dirty="0"/>
              <a:t>stride</a:t>
            </a:r>
            <a:r>
              <a:rPr lang="pt-BR" noProof="0" dirty="0"/>
              <a:t> que vimos antes.</a:t>
            </a:r>
            <a:endParaRPr lang="pt-BR" dirty="0"/>
          </a:p>
          <a:p>
            <a:r>
              <a:rPr lang="pt-BR" dirty="0"/>
              <a:t>A redução das dimensões </a:t>
            </a:r>
            <a:r>
              <a:rPr lang="pt-BR" b="1" dirty="0">
                <a:solidFill>
                  <a:srgbClr val="00B050"/>
                </a:solidFill>
              </a:rPr>
              <a:t>ajuda a controlar o </a:t>
            </a:r>
            <a:r>
              <a:rPr lang="pt-BR" b="1" i="1" dirty="0" err="1">
                <a:solidFill>
                  <a:srgbClr val="00B050"/>
                </a:solidFill>
              </a:rPr>
              <a:t>overfitting</a:t>
            </a:r>
            <a:r>
              <a:rPr lang="pt-BR" i="1" dirty="0"/>
              <a:t>.</a:t>
            </a:r>
            <a:endParaRPr lang="pt-BR" i="1" noProof="0" dirty="0"/>
          </a:p>
          <a:p>
            <a:r>
              <a:rPr lang="pt-BR" b="1" dirty="0">
                <a:solidFill>
                  <a:srgbClr val="7030A0"/>
                </a:solidFill>
              </a:rPr>
              <a:t>Campo receptivo maior</a:t>
            </a:r>
            <a:r>
              <a:rPr lang="pt-BR" dirty="0"/>
              <a:t>: com mapas menores, os </a:t>
            </a:r>
            <a:r>
              <a:rPr lang="pt-BR" i="1" dirty="0"/>
              <a:t>kernels</a:t>
            </a:r>
            <a:r>
              <a:rPr lang="pt-BR" dirty="0"/>
              <a:t> das camadas seguintes </a:t>
            </a:r>
            <a:r>
              <a:rPr lang="pt-BR" b="1" dirty="0">
                <a:solidFill>
                  <a:srgbClr val="00B0F0"/>
                </a:solidFill>
              </a:rPr>
              <a:t>cobrem uma área maior da imagem original</a:t>
            </a:r>
            <a:r>
              <a:rPr lang="pt-BR" dirty="0"/>
              <a:t>, o que ajuda a capturar padrões mais globais.</a:t>
            </a:r>
            <a:endParaRPr lang="pt-BR" b="0" noProof="0" dirty="0">
              <a:effectLst/>
            </a:endParaRPr>
          </a:p>
        </p:txBody>
      </p:sp>
      <p:pic>
        <p:nvPicPr>
          <p:cNvPr id="4" name="Imagem 3">
            <a:extLst>
              <a:ext uri="{FF2B5EF4-FFF2-40B4-BE49-F238E27FC236}">
                <a16:creationId xmlns:a16="http://schemas.microsoft.com/office/drawing/2014/main" id="{FE4DC580-96F7-B48F-0B6E-21B8032CEF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3434" y="2614590"/>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ED98-DB5A-DFD7-9EC9-8804D9CEA7C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59E375A-06BD-F918-D9A2-BB252D81D217}"/>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1439CFAB-0A76-A38D-426B-FE600E870631}"/>
              </a:ext>
            </a:extLst>
          </p:cNvPr>
          <p:cNvSpPr>
            <a:spLocks noGrp="1"/>
          </p:cNvSpPr>
          <p:nvPr>
            <p:ph idx="1"/>
          </p:nvPr>
        </p:nvSpPr>
        <p:spPr>
          <a:xfrm>
            <a:off x="4937760" y="1825624"/>
            <a:ext cx="7254240" cy="5032375"/>
          </a:xfrm>
        </p:spPr>
        <p:txBody>
          <a:bodyPr>
            <a:normAutofit lnSpcReduction="10000"/>
          </a:bodyPr>
          <a:lstStyle/>
          <a:p>
            <a:r>
              <a:rPr lang="pt-BR" dirty="0"/>
              <a:t>A operação de </a:t>
            </a:r>
            <a:r>
              <a:rPr lang="pt-BR" i="1" dirty="0" err="1"/>
              <a:t>pooling</a:t>
            </a:r>
            <a:r>
              <a:rPr lang="pt-BR" dirty="0"/>
              <a:t> cria </a:t>
            </a:r>
            <a:r>
              <a:rPr lang="pt-BR" b="1" dirty="0">
                <a:solidFill>
                  <a:srgbClr val="7030A0"/>
                </a:solidFill>
              </a:rPr>
              <a:t>invariância local:</a:t>
            </a:r>
            <a:endParaRPr lang="pt-BR" dirty="0"/>
          </a:p>
          <a:p>
            <a:pPr lvl="1">
              <a:buFont typeface="Wingdings" panose="05000000000000000000" pitchFamily="2" charset="2"/>
              <a:buChar char="§"/>
            </a:pPr>
            <a:r>
              <a:rPr lang="pt-BR" b="1" dirty="0">
                <a:solidFill>
                  <a:schemeClr val="accent1"/>
                </a:solidFill>
              </a:rPr>
              <a:t>Pequenos deslocamentos </a:t>
            </a:r>
            <a:r>
              <a:rPr lang="pt-BR" dirty="0"/>
              <a:t>dos padrões não afetam muito o resultado.</a:t>
            </a:r>
          </a:p>
          <a:p>
            <a:pPr lvl="1">
              <a:buFont typeface="Wingdings" panose="05000000000000000000" pitchFamily="2" charset="2"/>
              <a:buChar char="§"/>
            </a:pPr>
            <a:r>
              <a:rPr lang="pt-BR" b="1" dirty="0">
                <a:solidFill>
                  <a:srgbClr val="FF0000"/>
                </a:solidFill>
              </a:rPr>
              <a:t>Faz com que a rede foque na presença de um padrão</a:t>
            </a:r>
            <a:r>
              <a:rPr lang="pt-BR" dirty="0"/>
              <a:t>, </a:t>
            </a:r>
            <a:r>
              <a:rPr lang="pt-BR" b="1" dirty="0">
                <a:solidFill>
                  <a:srgbClr val="00B0F0"/>
                </a:solidFill>
              </a:rPr>
              <a:t>e não na sua localização</a:t>
            </a:r>
            <a:r>
              <a:rPr lang="pt-BR" dirty="0"/>
              <a:t>.</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a:p>
            <a:r>
              <a:rPr lang="pt-BR" dirty="0"/>
              <a:t>O </a:t>
            </a:r>
            <a:r>
              <a:rPr lang="pt-BR" i="1" dirty="0" err="1"/>
              <a:t>pooling</a:t>
            </a:r>
            <a:r>
              <a:rPr lang="pt-BR" dirty="0"/>
              <a:t> contribui para que a CNN </a:t>
            </a:r>
            <a:r>
              <a:rPr lang="pt-BR" b="1" dirty="0">
                <a:solidFill>
                  <a:schemeClr val="accent2"/>
                </a:solidFill>
              </a:rPr>
              <a:t>perca informação espacial</a:t>
            </a:r>
            <a:r>
              <a:rPr lang="pt-BR" dirty="0"/>
              <a:t> e ganhe </a:t>
            </a:r>
            <a:r>
              <a:rPr lang="pt-BR" b="1" dirty="0">
                <a:solidFill>
                  <a:srgbClr val="00B050"/>
                </a:solidFill>
              </a:rPr>
              <a:t>informação semântica</a:t>
            </a:r>
            <a:r>
              <a:rPr lang="pt-BR" dirty="0"/>
              <a:t>.</a:t>
            </a:r>
          </a:p>
        </p:txBody>
      </p:sp>
      <p:pic>
        <p:nvPicPr>
          <p:cNvPr id="6" name="Imagem 5">
            <a:extLst>
              <a:ext uri="{FF2B5EF4-FFF2-40B4-BE49-F238E27FC236}">
                <a16:creationId xmlns:a16="http://schemas.microsoft.com/office/drawing/2014/main" id="{2C2791B8-13A1-E6BD-29A6-9B75EF7FD2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10066253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17029" y="1825624"/>
                <a:ext cx="6574971"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de cada </a:t>
                </a:r>
                <a:r>
                  <a:rPr lang="pt-BR" b="1" dirty="0">
                    <a:solidFill>
                      <a:schemeClr val="accent2"/>
                    </a:solidFill>
                  </a:rPr>
                  <a:t>janela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t>
                </a:r>
                <a:r>
                  <a:rPr lang="pt-BR" b="1" dirty="0">
                    <a:solidFill>
                      <a:srgbClr val="7030A0"/>
                    </a:solidFill>
                  </a:rPr>
                  <a:t>descartando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17029" y="1825624"/>
                <a:ext cx="6574971" cy="5032375"/>
              </a:xfrm>
              <a:blipFill>
                <a:blip r:embed="rId3"/>
                <a:stretch>
                  <a:fillRect l="-1668"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353801" cy="1424459"/>
          </a:xfrm>
        </p:spPr>
        <p:txBody>
          <a:bodyPr>
            <a:normAutofit/>
          </a:bodyPr>
          <a:lstStyle/>
          <a:p>
            <a:r>
              <a:rPr lang="pt-BR" noProof="0" dirty="0"/>
              <a:t>Na figura, o </a:t>
            </a:r>
            <a:r>
              <a:rPr lang="pt-BR" i="1" noProof="0" dirty="0" err="1"/>
              <a:t>max</a:t>
            </a:r>
            <a:r>
              <a:rPr lang="pt-BR" i="1" noProof="0" dirty="0"/>
              <a:t> </a:t>
            </a:r>
            <a:r>
              <a:rPr lang="pt-BR" i="1" noProof="0" dirty="0" err="1"/>
              <a:t>pooling</a:t>
            </a:r>
            <a:r>
              <a:rPr lang="pt-BR" noProof="0" dirty="0"/>
              <a:t> </a:t>
            </a:r>
            <a:r>
              <a:rPr lang="pt-BR" b="1" noProof="0" dirty="0">
                <a:solidFill>
                  <a:srgbClr val="00B050"/>
                </a:solidFill>
              </a:rPr>
              <a:t>diminui a resolução</a:t>
            </a:r>
            <a:r>
              <a:rPr lang="pt-BR" noProof="0" dirty="0">
                <a:solidFill>
                  <a:srgbClr val="00B050"/>
                </a:solidFill>
              </a:rPr>
              <a:t> </a:t>
            </a:r>
            <a:r>
              <a:rPr lang="pt-BR" noProof="0" dirty="0"/>
              <a:t>da imagem, </a:t>
            </a:r>
            <a:r>
              <a:rPr lang="pt-BR" b="1" noProof="0" dirty="0">
                <a:solidFill>
                  <a:srgbClr val="7030A0"/>
                </a:solidFill>
              </a:rPr>
              <a:t>preserva as ativações mais fortes</a:t>
            </a:r>
            <a:r>
              <a:rPr lang="pt-BR" noProof="0" dirty="0"/>
              <a:t>, como as </a:t>
            </a:r>
            <a:r>
              <a:rPr lang="pt-BR" b="1" noProof="0" dirty="0"/>
              <a:t>bordas do cérebro</a:t>
            </a:r>
            <a:r>
              <a:rPr lang="pt-BR" noProof="0" dirty="0"/>
              <a:t>, e </a:t>
            </a:r>
            <a:r>
              <a:rPr lang="pt-BR" b="1" noProof="0" dirty="0">
                <a:solidFill>
                  <a:schemeClr val="accent2"/>
                </a:solidFill>
              </a:rPr>
              <a:t>descarta os detalhes de baixa intensidade e a posição exata </a:t>
            </a:r>
            <a:r>
              <a:rPr lang="pt-BR" noProof="0" dirty="0"/>
              <a:t>dentro de cada janela de </a:t>
            </a:r>
            <a:r>
              <a:rPr lang="pt-BR" i="1" noProof="0" dirty="0" err="1"/>
              <a:t>pooling</a:t>
            </a:r>
            <a:r>
              <a:rPr lang="pt-BR" noProof="0" dirty="0"/>
              <a:t>.</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pic>
        <p:nvPicPr>
          <p:cNvPr id="3" name="Imagem 2" descr="A Gentle Introduction to the Rectified Linear Unit (ReLU) -  MachineLearningMastery.com">
            <a:extLst>
              <a:ext uri="{FF2B5EF4-FFF2-40B4-BE49-F238E27FC236}">
                <a16:creationId xmlns:a16="http://schemas.microsoft.com/office/drawing/2014/main" id="{F9CB12DE-0072-D818-D69B-957218B9DB9B}"/>
              </a:ext>
            </a:extLst>
          </p:cNvPr>
          <p:cNvPicPr>
            <a:picLocks noChangeAspect="1"/>
          </p:cNvPicPr>
          <p:nvPr/>
        </p:nvPicPr>
        <p:blipFill>
          <a:blip r:embed="rId4"/>
          <a:srcRect l="9147" t="11242" r="9612" b="5452"/>
          <a:stretch>
            <a:fillRect/>
          </a:stretch>
        </p:blipFill>
        <p:spPr>
          <a:xfrm>
            <a:off x="5231219" y="3586678"/>
            <a:ext cx="1116417" cy="858606"/>
          </a:xfrm>
          <a:prstGeom prst="rect">
            <a:avLst/>
          </a:prstGeom>
        </p:spPr>
      </p:pic>
    </p:spTree>
    <p:extLst>
      <p:ext uri="{BB962C8B-B14F-4D97-AF65-F5344CB8AC3E}">
        <p14:creationId xmlns:p14="http://schemas.microsoft.com/office/powerpoint/2010/main" val="236838588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O neurônio de uma CNN</a:t>
            </a:r>
            <a:endParaRPr lang="en-US" dirty="0"/>
          </a:p>
        </p:txBody>
      </p:sp>
      <p:grpSp>
        <p:nvGrpSpPr>
          <p:cNvPr id="11" name="Agrupar 10">
            <a:extLst>
              <a:ext uri="{FF2B5EF4-FFF2-40B4-BE49-F238E27FC236}">
                <a16:creationId xmlns:a16="http://schemas.microsoft.com/office/drawing/2014/main" id="{CD19948C-0A02-6B73-F0FE-3E1389167F6C}"/>
              </a:ext>
            </a:extLst>
          </p:cNvPr>
          <p:cNvGrpSpPr/>
          <p:nvPr/>
        </p:nvGrpSpPr>
        <p:grpSpPr>
          <a:xfrm>
            <a:off x="121406" y="1435457"/>
            <a:ext cx="9229621" cy="5422543"/>
            <a:chOff x="1291002" y="1435457"/>
            <a:chExt cx="9229621" cy="5422543"/>
          </a:xfrm>
        </p:grpSpPr>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pic>
          <p:nvPicPr>
            <p:cNvPr id="6" name="Imagem 5" descr="A Gentle Introduction to the Rectified Linear Unit (ReLU) -  MachineLearningMastery.com">
              <a:extLst>
                <a:ext uri="{FF2B5EF4-FFF2-40B4-BE49-F238E27FC236}">
                  <a16:creationId xmlns:a16="http://schemas.microsoft.com/office/drawing/2014/main" id="{20FF5D93-1676-2045-B8D5-69E6CB496CD7}"/>
                </a:ext>
              </a:extLst>
            </p:cNvPr>
            <p:cNvPicPr>
              <a:picLocks noChangeAspect="1"/>
            </p:cNvPicPr>
            <p:nvPr/>
          </p:nvPicPr>
          <p:blipFill>
            <a:blip r:embed="rId4"/>
            <a:srcRect l="9147" t="11242" r="9612" b="5452"/>
            <a:stretch>
              <a:fillRect/>
            </a:stretch>
          </p:blipFill>
          <p:spPr>
            <a:xfrm>
              <a:off x="5231219" y="3586678"/>
              <a:ext cx="1116417" cy="858606"/>
            </a:xfrm>
            <a:prstGeom prst="rect">
              <a:avLst/>
            </a:prstGeom>
          </p:spPr>
        </p:pic>
      </p:grpSp>
      <p:sp>
        <p:nvSpPr>
          <p:cNvPr id="9" name="CaixaDeTexto 8">
            <a:extLst>
              <a:ext uri="{FF2B5EF4-FFF2-40B4-BE49-F238E27FC236}">
                <a16:creationId xmlns:a16="http://schemas.microsoft.com/office/drawing/2014/main" id="{E9A59A16-E64A-0AB6-EFED-20F2361DB45A}"/>
              </a:ext>
            </a:extLst>
          </p:cNvPr>
          <p:cNvSpPr txBox="1"/>
          <p:nvPr/>
        </p:nvSpPr>
        <p:spPr>
          <a:xfrm>
            <a:off x="8421739" y="4272677"/>
            <a:ext cx="3770261" cy="2585323"/>
          </a:xfrm>
          <a:prstGeom prst="rect">
            <a:avLst/>
          </a:prstGeom>
          <a:noFill/>
        </p:spPr>
        <p:txBody>
          <a:bodyPr wrap="square" rtlCol="0">
            <a:spAutoFit/>
          </a:bodyPr>
          <a:lstStyle/>
          <a:p>
            <a:pPr algn="ctr"/>
            <a:r>
              <a:rPr lang="pt-BR" dirty="0"/>
              <a:t>O neurônio é composto pelo campo receptivo, pelo </a:t>
            </a:r>
            <a:r>
              <a:rPr lang="pt-BR" i="1" dirty="0"/>
              <a:t>kernel</a:t>
            </a:r>
            <a:r>
              <a:rPr lang="pt-BR" dirty="0"/>
              <a:t>, pelo peso de </a:t>
            </a:r>
            <a:r>
              <a:rPr lang="pt-BR" i="1" dirty="0"/>
              <a:t>bias</a:t>
            </a:r>
            <a:r>
              <a:rPr lang="pt-BR" dirty="0"/>
              <a:t> e pela função de ativação.</a:t>
            </a:r>
          </a:p>
          <a:p>
            <a:pPr algn="ctr"/>
            <a:endParaRPr lang="pt-BR" dirty="0"/>
          </a:p>
          <a:p>
            <a:pPr algn="ctr"/>
            <a:r>
              <a:rPr lang="pt-BR" dirty="0"/>
              <a:t>Cada posição do mapa de ativações corresponde à saída de um neurônio.</a:t>
            </a:r>
          </a:p>
          <a:p>
            <a:pPr algn="ctr"/>
            <a:endParaRPr lang="pt-BR" dirty="0"/>
          </a:p>
          <a:p>
            <a:pPr algn="ctr"/>
            <a:r>
              <a:rPr lang="pt-BR" dirty="0"/>
              <a:t>Todos os neurônios que geram um mesmo mapa usam o mesmo </a:t>
            </a:r>
            <a:r>
              <a:rPr lang="pt-BR" i="1" dirty="0"/>
              <a:t>kernel</a:t>
            </a:r>
            <a:r>
              <a:rPr lang="pt-BR" dirty="0"/>
              <a:t>.</a:t>
            </a:r>
            <a:endParaRPr lang="en-US" dirty="0"/>
          </a:p>
        </p:txBody>
      </p:sp>
    </p:spTree>
    <p:extLst>
      <p:ext uri="{BB962C8B-B14F-4D97-AF65-F5344CB8AC3E}">
        <p14:creationId xmlns:p14="http://schemas.microsoft.com/office/powerpoint/2010/main" val="37568381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Após a</a:t>
                </a:r>
                <a:r>
                  <a:rPr lang="pt-BR" b="1" dirty="0">
                    <a:solidFill>
                      <a:srgbClr val="00B050"/>
                    </a:solidFill>
                    <a:effectLst/>
                  </a:rPr>
                  <a:t> aplicação de muitas </a:t>
                </a:r>
                <a:r>
                  <a:rPr lang="pt-BR" b="1" dirty="0">
                    <a:solidFill>
                      <a:schemeClr val="accent2"/>
                    </a:solidFill>
                    <a:effectLst/>
                  </a:rPr>
                  <a:t>convoluções</a:t>
                </a:r>
                <a:r>
                  <a:rPr lang="pt-BR" b="1" dirty="0">
                    <a:solidFill>
                      <a:srgbClr val="00B050"/>
                    </a:solidFill>
                    <a:effectLst/>
                  </a:rPr>
                  <a:t>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a:stretch>
              </a:blipFill>
            </p:spPr>
            <p:txBody>
              <a:bodyPr/>
              <a:lstStyle/>
              <a:p>
                <a:r>
                  <a:rPr lang="en-US">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776457720"/>
              </p:ext>
            </p:extLst>
          </p:nvPr>
        </p:nvGraphicFramePr>
        <p:xfrm>
          <a:off x="678712" y="3301831"/>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192299275"/>
              </p:ext>
            </p:extLst>
          </p:nvPr>
        </p:nvGraphicFramePr>
        <p:xfrm>
          <a:off x="2574954" y="348725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1972798" y="3598750"/>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1972798" y="3598750"/>
                <a:ext cx="578069" cy="461665"/>
              </a:xfrm>
              <a:prstGeom prst="rect">
                <a:avLst/>
              </a:prstGeom>
              <a:blipFill>
                <a:blip r:embed="rId4"/>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493732" y="3537195"/>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493732" y="3537195"/>
                <a:ext cx="578069" cy="523220"/>
              </a:xfrm>
              <a:prstGeom prst="rect">
                <a:avLst/>
              </a:prstGeom>
              <a:blipFill>
                <a:blip r:embed="rId5"/>
                <a:stretch>
                  <a:fillRect/>
                </a:stretch>
              </a:blipFill>
            </p:spPr>
            <p:txBody>
              <a:bodyPr/>
              <a:lstStyle/>
              <a:p>
                <a:r>
                  <a:rPr lang="en-US">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3317573849"/>
              </p:ext>
            </p:extLst>
          </p:nvPr>
        </p:nvGraphicFramePr>
        <p:xfrm>
          <a:off x="4119974" y="348725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678712" y="2932499"/>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586777" y="3102260"/>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119973" y="310226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704247" y="4470524"/>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704247" y="4470524"/>
                <a:ext cx="12430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430790" y="4290471"/>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430790" y="4290471"/>
                <a:ext cx="124301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3974878" y="428922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3974878" y="4289222"/>
                <a:ext cx="1243014" cy="369332"/>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901070" y="1825624"/>
            <a:ext cx="6290930" cy="5032375"/>
          </a:xfrm>
        </p:spPr>
        <p:txBody>
          <a:bodyPr>
            <a:normAutofit/>
          </a:bodyPr>
          <a:lstStyle/>
          <a:p>
            <a:r>
              <a:rPr lang="pt-BR" noProof="0" dirty="0"/>
              <a:t>A convolução </a:t>
            </a:r>
            <a:r>
              <a:rPr lang="pt-BR" b="1" noProof="0" dirty="0">
                <a:solidFill>
                  <a:schemeClr val="accent2"/>
                </a:solidFill>
              </a:rPr>
              <a:t>reduz o tamanho do mapa de características </a:t>
            </a:r>
            <a:r>
              <a:rPr lang="pt-BR" noProof="0" dirty="0"/>
              <a:t>e faz com que os </a:t>
            </a:r>
            <a:r>
              <a:rPr lang="pt-BR" i="1" noProof="0" dirty="0"/>
              <a:t>pixels</a:t>
            </a:r>
            <a:r>
              <a:rPr lang="pt-BR" noProof="0" dirty="0"/>
              <a:t> das </a:t>
            </a:r>
            <a:r>
              <a:rPr lang="pt-BR" b="1" noProof="0" dirty="0">
                <a:solidFill>
                  <a:srgbClr val="00B050"/>
                </a:solidFill>
              </a:rPr>
              <a:t>bordas participem de menos convoluções que os centrais </a:t>
            </a:r>
            <a:r>
              <a:rPr lang="pt-BR" noProof="0" dirty="0"/>
              <a:t>(subutilização), podendo perder informações nas bordas.</a:t>
            </a:r>
          </a:p>
          <a:p>
            <a:r>
              <a:rPr lang="pt-BR" b="1" dirty="0">
                <a:solidFill>
                  <a:srgbClr val="00B050"/>
                </a:solidFill>
              </a:rPr>
              <a:t>O </a:t>
            </a:r>
            <a:r>
              <a:rPr lang="pt-BR" b="1" i="1" dirty="0">
                <a:solidFill>
                  <a:srgbClr val="00B050"/>
                </a:solidFill>
              </a:rPr>
              <a:t>padding</a:t>
            </a:r>
            <a:r>
              <a:rPr lang="pt-BR" b="1" dirty="0">
                <a:solidFill>
                  <a:srgbClr val="00B050"/>
                </a:solidFill>
              </a:rPr>
              <a:t> adiciona </a:t>
            </a:r>
            <a:r>
              <a:rPr lang="pt-BR" b="1" i="1" dirty="0">
                <a:solidFill>
                  <a:srgbClr val="00B050"/>
                </a:solidFill>
              </a:rPr>
              <a:t>pixels </a:t>
            </a:r>
            <a:r>
              <a:rPr lang="pt-BR" b="1" dirty="0">
                <a:solidFill>
                  <a:srgbClr val="00B050"/>
                </a:solidFill>
              </a:rPr>
              <a:t>de preenchimento </a:t>
            </a:r>
            <a:r>
              <a:rPr lang="pt-BR" dirty="0"/>
              <a:t>às</a:t>
            </a:r>
            <a:r>
              <a:rPr lang="pt-BR" b="1" dirty="0">
                <a:solidFill>
                  <a:srgbClr val="00B050"/>
                </a:solidFill>
              </a:rPr>
              <a:t> </a:t>
            </a:r>
            <a:r>
              <a:rPr lang="pt-BR" b="1" dirty="0">
                <a:solidFill>
                  <a:schemeClr val="accent2"/>
                </a:solidFill>
              </a:rPr>
              <a:t>bordas</a:t>
            </a:r>
            <a:r>
              <a:rPr lang="pt-BR" b="1" dirty="0">
                <a:solidFill>
                  <a:srgbClr val="00B050"/>
                </a:solidFill>
              </a:rPr>
              <a:t> </a:t>
            </a:r>
            <a:r>
              <a:rPr lang="pt-BR" b="1" dirty="0">
                <a:solidFill>
                  <a:srgbClr val="0070C0"/>
                </a:solidFill>
              </a:rPr>
              <a:t>da entrada</a:t>
            </a:r>
            <a:r>
              <a:rPr lang="pt-BR" dirty="0"/>
              <a:t>, </a:t>
            </a:r>
            <a:r>
              <a:rPr lang="pt-BR" b="1" dirty="0">
                <a:solidFill>
                  <a:srgbClr val="7030A0"/>
                </a:solidFill>
              </a:rPr>
              <a:t>controlando</a:t>
            </a:r>
            <a:r>
              <a:rPr lang="pt-BR" dirty="0"/>
              <a:t> assim o </a:t>
            </a:r>
            <a:r>
              <a:rPr lang="pt-BR" b="1" dirty="0">
                <a:solidFill>
                  <a:srgbClr val="7030A0"/>
                </a:solidFill>
              </a:rPr>
              <a:t>tamanho dos mapas de características de saída </a:t>
            </a:r>
            <a:r>
              <a:rPr lang="pt-BR" dirty="0"/>
              <a:t>de uma camada convolucional.</a:t>
            </a:r>
          </a:p>
        </p:txBody>
      </p:sp>
      <p:pic>
        <p:nvPicPr>
          <p:cNvPr id="9" name="Imagem 8">
            <a:extLst>
              <a:ext uri="{FF2B5EF4-FFF2-40B4-BE49-F238E27FC236}">
                <a16:creationId xmlns:a16="http://schemas.microsoft.com/office/drawing/2014/main" id="{8F61EECE-DACB-9B39-439D-8BEA9FE222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0411" y="2672722"/>
            <a:ext cx="5148385" cy="2526371"/>
          </a:xfrm>
          <a:prstGeom prst="rect">
            <a:avLst/>
          </a:prstGeom>
        </p:spPr>
      </p:pic>
    </p:spTree>
    <p:extLst>
      <p:ext uri="{BB962C8B-B14F-4D97-AF65-F5344CB8AC3E}">
        <p14:creationId xmlns:p14="http://schemas.microsoft.com/office/powerpoint/2010/main" val="30022239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6096000" y="1825624"/>
            <a:ext cx="6096000" cy="5032375"/>
          </a:xfrm>
        </p:spPr>
        <p:txBody>
          <a:bodyPr>
            <a:normAutofit/>
          </a:bodyPr>
          <a:lstStyle/>
          <a:p>
            <a:r>
              <a:rPr lang="pt-BR" noProof="0" dirty="0"/>
              <a:t>Em geral, os </a:t>
            </a:r>
            <a:r>
              <a:rPr lang="pt-BR" b="1" i="1" noProof="0" dirty="0">
                <a:solidFill>
                  <a:srgbClr val="7030A0"/>
                </a:solidFill>
              </a:rPr>
              <a:t>pixels </a:t>
            </a:r>
            <a:r>
              <a:rPr lang="pt-BR" b="1" noProof="0" dirty="0">
                <a:solidFill>
                  <a:srgbClr val="7030A0"/>
                </a:solidFill>
              </a:rPr>
              <a:t>de</a:t>
            </a:r>
            <a:r>
              <a:rPr lang="pt-BR" b="1" i="1" noProof="0" dirty="0">
                <a:solidFill>
                  <a:srgbClr val="7030A0"/>
                </a:solidFill>
              </a:rPr>
              <a:t> padding </a:t>
            </a:r>
            <a:r>
              <a:rPr lang="pt-BR" b="1" noProof="0" dirty="0">
                <a:solidFill>
                  <a:srgbClr val="7030A0"/>
                </a:solidFill>
              </a:rPr>
              <a:t>são feitos iguais a zero</a:t>
            </a:r>
            <a:r>
              <a:rPr lang="pt-BR" noProof="0" dirty="0"/>
              <a:t>.</a:t>
            </a:r>
          </a:p>
          <a:p>
            <a:r>
              <a:rPr lang="pt-BR" noProof="0" dirty="0"/>
              <a:t>O </a:t>
            </a:r>
            <a:r>
              <a:rPr lang="pt-BR" i="1" noProof="0" dirty="0"/>
              <a:t>padding</a:t>
            </a:r>
            <a:r>
              <a:rPr lang="pt-BR" noProof="0" dirty="0"/>
              <a:t> garante que todos os </a:t>
            </a:r>
            <a:r>
              <a:rPr lang="pt-BR" i="1" noProof="0" dirty="0"/>
              <a:t>pixels</a:t>
            </a:r>
            <a:r>
              <a:rPr lang="pt-BR" noProof="0" dirty="0"/>
              <a:t> </a:t>
            </a:r>
            <a:r>
              <a:rPr lang="pt-BR" b="1" noProof="0" dirty="0">
                <a:solidFill>
                  <a:srgbClr val="00B050"/>
                </a:solidFill>
              </a:rPr>
              <a:t>contribuam de forma mais igualitária </a:t>
            </a:r>
            <a:r>
              <a:rPr lang="pt-BR" noProof="0" dirty="0"/>
              <a:t>para a extração de características.</a:t>
            </a:r>
          </a:p>
          <a:p>
            <a:r>
              <a:rPr lang="pt-BR" noProof="0" dirty="0"/>
              <a:t>A equação ao lado dá o </a:t>
            </a:r>
            <a:r>
              <a:rPr lang="pt-BR" b="1" noProof="0" dirty="0"/>
              <a:t>tamanho da saída de uma camada convolucional</a:t>
            </a:r>
            <a:r>
              <a:rPr lang="pt-BR" b="1" dirty="0"/>
              <a:t> </a:t>
            </a:r>
            <a:r>
              <a:rPr lang="pt-BR" noProof="0" dirty="0"/>
              <a:t>ao longo de </a:t>
            </a:r>
            <a:r>
              <a:rPr lang="pt-BR" b="1" noProof="0" dirty="0"/>
              <a:t>uma dimensão</a:t>
            </a:r>
            <a:r>
              <a:rPr lang="pt-BR" noProof="0" dirty="0"/>
              <a:t> (altura ou largura).</a:t>
            </a:r>
            <a:endParaRPr lang="pt-BR" b="0" i="0" noProof="0" dirty="0">
              <a:effectLst/>
            </a:endParaRPr>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73695" y="1811485"/>
            <a:ext cx="5148385" cy="2526371"/>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84AFB6D4-6631-419D-E379-8BB1CB10A50B}"/>
                  </a:ext>
                </a:extLst>
              </p:cNvPr>
              <p:cNvSpPr txBox="1"/>
              <p:nvPr/>
            </p:nvSpPr>
            <p:spPr>
              <a:xfrm>
                <a:off x="762286" y="4650043"/>
                <a:ext cx="4771204" cy="2069797"/>
              </a:xfrm>
              <a:prstGeom prst="rect">
                <a:avLst/>
              </a:prstGeom>
              <a:noFill/>
            </p:spPr>
            <p:txBody>
              <a:bodyPr wrap="square" rtlCol="0">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b="0" i="1" smtClean="0">
                              <a:latin typeface="Cambria Math" panose="02040503050406030204" pitchFamily="18" charset="0"/>
                            </a:rPr>
                          </m:ctrlPr>
                        </m:dPr>
                        <m:e>
                          <m:f>
                            <m:fPr>
                              <m:ctrlPr>
                                <a:rPr lang="pt-BR" sz="2000" b="0" i="1" smtClean="0">
                                  <a:latin typeface="Cambria Math" panose="02040503050406030204" pitchFamily="18" charset="0"/>
                                </a:rPr>
                              </m:ctrlPr>
                            </m:fPr>
                            <m:num>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b="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5" name="CaixaDeTexto 4">
                <a:extLst>
                  <a:ext uri="{FF2B5EF4-FFF2-40B4-BE49-F238E27FC236}">
                    <a16:creationId xmlns:a16="http://schemas.microsoft.com/office/drawing/2014/main" id="{84AFB6D4-6631-419D-E379-8BB1CB10A50B}"/>
                  </a:ext>
                </a:extLst>
              </p:cNvPr>
              <p:cNvSpPr txBox="1">
                <a:spLocks noRot="1" noChangeAspect="1" noMove="1" noResize="1" noEditPoints="1" noAdjustHandles="1" noChangeArrowheads="1" noChangeShapeType="1" noTextEdit="1"/>
              </p:cNvSpPr>
              <p:nvPr/>
            </p:nvSpPr>
            <p:spPr>
              <a:xfrm>
                <a:off x="762286" y="4650043"/>
                <a:ext cx="4771204" cy="2069797"/>
              </a:xfrm>
              <a:prstGeom prst="rect">
                <a:avLst/>
              </a:prstGeom>
              <a:blipFill>
                <a:blip r:embed="rId4"/>
                <a:stretch>
                  <a:fillRect b="-2360"/>
                </a:stretch>
              </a:blipFill>
            </p:spPr>
            <p:txBody>
              <a:bodyPr/>
              <a:lstStyle/>
              <a:p>
                <a:r>
                  <a:rPr lang="en-US">
                    <a:noFill/>
                  </a:rPr>
                  <a:t> </a:t>
                </a:r>
              </a:p>
            </p:txBody>
          </p:sp>
        </mc:Fallback>
      </mc:AlternateContent>
    </p:spTree>
    <p:extLst>
      <p:ext uri="{BB962C8B-B14F-4D97-AF65-F5344CB8AC3E}">
        <p14:creationId xmlns:p14="http://schemas.microsoft.com/office/powerpoint/2010/main" val="23376255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a:t>
            </a:r>
            <a:r>
              <a:rPr lang="pt-BR" b="1" dirty="0">
                <a:solidFill>
                  <a:schemeClr val="accent2"/>
                </a:solidFill>
              </a:rPr>
              <a:t>etapa de extração de características</a:t>
            </a:r>
            <a:r>
              <a:rPr lang="pt-BR" dirty="0"/>
              <a:t> temos </a:t>
            </a:r>
            <a:r>
              <a:rPr lang="pt-BR" b="1" dirty="0">
                <a:solidFill>
                  <a:srgbClr val="00B050"/>
                </a:solidFill>
              </a:rPr>
              <a:t>vários mapas de características</a:t>
            </a:r>
            <a:r>
              <a:rPr lang="pt-BR" dirty="0"/>
              <a:t>, formando um </a:t>
            </a:r>
            <a:r>
              <a:rPr lang="pt-BR" b="1" dirty="0">
                <a:solidFill>
                  <a:srgbClr val="0070C0"/>
                </a:solidFill>
              </a:rPr>
              <a:t>volume 3D</a:t>
            </a:r>
            <a:r>
              <a:rPr lang="pt-BR" dirty="0"/>
              <a:t> de dados.</a:t>
            </a:r>
          </a:p>
          <a:p>
            <a:r>
              <a:rPr lang="pt-BR" dirty="0"/>
              <a:t>Porém, as </a:t>
            </a:r>
            <a:r>
              <a:rPr lang="pt-BR" b="1" dirty="0"/>
              <a:t>camadas densas </a:t>
            </a:r>
            <a:r>
              <a:rPr lang="pt-BR" dirty="0"/>
              <a:t>esperam </a:t>
            </a:r>
            <a:r>
              <a:rPr lang="pt-BR" b="1" dirty="0"/>
              <a:t>vetores 1D como entrada</a:t>
            </a:r>
            <a:r>
              <a:rPr lang="pt-BR" dirty="0"/>
              <a:t>.</a:t>
            </a:r>
          </a:p>
          <a:p>
            <a:r>
              <a:rPr lang="pt-BR" dirty="0"/>
              <a:t>Assim, a camada de achatamento transforma os mapas de características em vetores 1D.</a:t>
            </a:r>
          </a:p>
          <a:p>
            <a:r>
              <a:rPr lang="pt-BR" dirty="0"/>
              <a:t>Essa camada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e de achatamento, as </a:t>
            </a:r>
            <a:r>
              <a:rPr lang="pt-BR" b="1" dirty="0">
                <a:solidFill>
                  <a:schemeClr val="accent2"/>
                </a:solidFill>
                <a:effectLst/>
              </a:rPr>
              <a:t>CNNs têm </a:t>
            </a:r>
            <a:r>
              <a:rPr lang="pt-BR" b="1" dirty="0">
                <a:solidFill>
                  <a:srgbClr val="00B050"/>
                </a:solidFill>
                <a:effectLst/>
              </a:rPr>
              <a:t>uma ou mais camadas densas</a:t>
            </a:r>
            <a:r>
              <a:rPr lang="pt-BR" dirty="0">
                <a:effectLst/>
              </a:rPr>
              <a:t>.</a:t>
            </a:r>
          </a:p>
          <a:p>
            <a:r>
              <a:rPr lang="pt-BR" dirty="0"/>
              <a:t>As camadas densas</a:t>
            </a:r>
          </a:p>
          <a:p>
            <a:pPr lvl="1">
              <a:buFont typeface="Wingdings" panose="05000000000000000000" pitchFamily="2" charset="2"/>
              <a:buChar char="§"/>
            </a:pPr>
            <a:r>
              <a:rPr lang="pt-BR" dirty="0"/>
              <a:t>recebem o vetor 1D com </a:t>
            </a:r>
            <a:r>
              <a:rPr lang="pt-BR" b="1" dirty="0">
                <a:solidFill>
                  <a:srgbClr val="7030A0"/>
                </a:solidFill>
              </a:rPr>
              <a:t>todas as características extraídas</a:t>
            </a:r>
            <a:r>
              <a:rPr lang="pt-BR" dirty="0"/>
              <a:t> pela rede,</a:t>
            </a:r>
          </a:p>
          <a:p>
            <a:pPr lvl="1">
              <a:buFont typeface="Wingdings" panose="05000000000000000000" pitchFamily="2" charset="2"/>
              <a:buChar char="§"/>
            </a:pPr>
            <a:r>
              <a:rPr lang="pt-BR" b="1" dirty="0">
                <a:solidFill>
                  <a:schemeClr val="accent2"/>
                </a:solidFill>
              </a:rPr>
              <a:t>combinam todas as características</a:t>
            </a:r>
            <a:r>
              <a:rPr lang="pt-BR" dirty="0"/>
              <a:t> </a:t>
            </a:r>
            <a:r>
              <a:rPr lang="pt-BR" b="1" dirty="0">
                <a:solidFill>
                  <a:srgbClr val="00B0F0"/>
                </a:solidFill>
              </a:rPr>
              <a:t>extraídas</a:t>
            </a:r>
            <a:r>
              <a:rPr lang="pt-BR" dirty="0"/>
              <a:t>,</a:t>
            </a:r>
          </a:p>
          <a:p>
            <a:pPr lvl="1">
              <a:buFont typeface="Wingdings" panose="05000000000000000000" pitchFamily="2" charset="2"/>
              <a:buChar char="§"/>
            </a:pPr>
            <a:r>
              <a:rPr lang="pt-BR" dirty="0"/>
              <a:t>geram </a:t>
            </a:r>
            <a:r>
              <a:rPr lang="pt-BR" b="1" dirty="0">
                <a:solidFill>
                  <a:schemeClr val="accent1"/>
                </a:solidFill>
              </a:rPr>
              <a:t>pontuações</a:t>
            </a:r>
            <a:r>
              <a:rPr lang="pt-BR" dirty="0"/>
              <a:t> para cada classe</a:t>
            </a:r>
          </a:p>
          <a:p>
            <a:pPr lvl="1">
              <a:buFont typeface="Wingdings" panose="05000000000000000000" pitchFamily="2" charset="2"/>
              <a:buChar char="§"/>
            </a:pPr>
            <a:r>
              <a:rPr lang="pt-BR" dirty="0"/>
              <a:t>e as </a:t>
            </a:r>
            <a:r>
              <a:rPr lang="pt-BR" b="1" dirty="0">
                <a:solidFill>
                  <a:schemeClr val="accent6"/>
                </a:solidFill>
              </a:rPr>
              <a:t>normalizam</a:t>
            </a:r>
            <a:r>
              <a:rPr lang="pt-BR" dirty="0"/>
              <a:t>, usando a função </a:t>
            </a:r>
            <a:r>
              <a:rPr lang="pt-BR" i="1" dirty="0"/>
              <a:t>softmax</a:t>
            </a:r>
            <a:r>
              <a:rPr lang="pt-BR" dirty="0"/>
              <a:t>, gerando uma predição final (probabilidades).</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699051" y="1825624"/>
            <a:ext cx="6492949" cy="5032375"/>
          </a:xfrm>
        </p:spPr>
        <p:txBody>
          <a:bodyPr>
            <a:normAutofit lnSpcReduction="10000"/>
          </a:bodyPr>
          <a:lstStyle/>
          <a:p>
            <a:r>
              <a:rPr lang="pt-BR" noProof="0" dirty="0"/>
              <a:t>Em outras palavras, elas </a:t>
            </a:r>
            <a:r>
              <a:rPr lang="pt-BR" b="1" noProof="0" dirty="0">
                <a:solidFill>
                  <a:srgbClr val="7030A0"/>
                </a:solidFill>
              </a:rPr>
              <a:t>usam as características detectadas para decidir a classe</a:t>
            </a:r>
            <a:r>
              <a:rPr lang="pt-BR" noProof="0" dirty="0"/>
              <a:t>.</a:t>
            </a:r>
          </a:p>
          <a:p>
            <a:r>
              <a:rPr lang="pt-BR" noProof="0" dirty="0"/>
              <a:t>Por exemplo, se as características de um gato são ativadas, a rede dá uma alta probabilidade para a classe gato.</a:t>
            </a:r>
          </a:p>
          <a:p>
            <a:r>
              <a:rPr lang="pt-BR" noProof="0" dirty="0"/>
              <a:t>Por que usar camadas densas no final?</a:t>
            </a:r>
          </a:p>
          <a:p>
            <a:pPr lvl="1">
              <a:buFont typeface="Wingdings" panose="05000000000000000000" pitchFamily="2" charset="2"/>
              <a:buChar char="§"/>
            </a:pPr>
            <a:r>
              <a:rPr lang="pt-BR" noProof="0" dirty="0"/>
              <a:t>Convoluções são locais (olham pedaços da imagem).</a:t>
            </a:r>
          </a:p>
          <a:p>
            <a:pPr lvl="1">
              <a:buFont typeface="Wingdings" panose="05000000000000000000" pitchFamily="2" charset="2"/>
              <a:buChar char="§"/>
            </a:pPr>
            <a:r>
              <a:rPr lang="pt-BR" noProof="0" dirty="0"/>
              <a:t>As camadas densas olham tudo ao mesmo tempo.</a:t>
            </a:r>
          </a:p>
          <a:p>
            <a:r>
              <a:rPr lang="pt-BR" noProof="0" dirty="0"/>
              <a:t>Ou seja, </a:t>
            </a:r>
            <a:r>
              <a:rPr lang="pt-BR" dirty="0"/>
              <a:t>as camadas densas </a:t>
            </a:r>
            <a:r>
              <a:rPr lang="pt-BR" noProof="0" dirty="0"/>
              <a:t>aprendem </a:t>
            </a:r>
            <a:r>
              <a:rPr lang="pt-BR" b="1" noProof="0" dirty="0">
                <a:solidFill>
                  <a:schemeClr val="accent2"/>
                </a:solidFill>
              </a:rPr>
              <a:t>relações globais entre características</a:t>
            </a:r>
            <a:r>
              <a:rPr lang="pt-BR" noProof="0" dirty="0"/>
              <a:t>.</a:t>
            </a:r>
          </a:p>
          <a:p>
            <a:pPr>
              <a:buFont typeface="Wingdings" panose="05000000000000000000" pitchFamily="2" charset="2"/>
              <a:buChar char="§"/>
            </a:pPr>
            <a:endParaRPr lang="pt-BR" noProof="0" dirty="0"/>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95693" y="2743667"/>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374004" cy="5032375"/>
          </a:xfrm>
        </p:spPr>
        <p:txBody>
          <a:bodyPr>
            <a:normAutofit/>
          </a:bodyPr>
          <a:lstStyle/>
          <a:p>
            <a:r>
              <a:rPr lang="pt-BR" dirty="0"/>
              <a:t>As funções de ativação das camadas densas, com exceção da última, em geral, são </a:t>
            </a:r>
            <a:r>
              <a:rPr lang="pt-BR" dirty="0" err="1"/>
              <a:t>ReLU</a:t>
            </a:r>
            <a:r>
              <a:rPr lang="pt-BR" dirty="0"/>
              <a:t> ou suas variantes.</a:t>
            </a:r>
          </a:p>
          <a:p>
            <a:r>
              <a:rPr lang="pt-BR" dirty="0"/>
              <a:t>A camada densa de saída usa funções de ativação:</a:t>
            </a:r>
          </a:p>
          <a:p>
            <a:pPr lvl="1">
              <a:buFont typeface="Wingdings" panose="05000000000000000000" pitchFamily="2" charset="2"/>
              <a:buChar char="§"/>
            </a:pPr>
            <a:r>
              <a:rPr lang="pt-BR" i="1" dirty="0"/>
              <a:t>Softmax</a:t>
            </a:r>
            <a:r>
              <a:rPr lang="pt-BR" dirty="0"/>
              <a:t>, para classificação multiclasses.</a:t>
            </a:r>
          </a:p>
          <a:p>
            <a:pPr lvl="1">
              <a:buFont typeface="Wingdings" panose="05000000000000000000" pitchFamily="2" charset="2"/>
              <a:buChar char="§"/>
            </a:pPr>
            <a:r>
              <a:rPr lang="pt-BR" dirty="0"/>
              <a:t>Logística, para classificação binária e </a:t>
            </a:r>
            <a:r>
              <a:rPr lang="pt-BR" dirty="0" err="1"/>
              <a:t>multi-rótulo</a:t>
            </a:r>
            <a:r>
              <a:rPr lang="pt-BR" dirty="0"/>
              <a:t>.</a:t>
            </a:r>
          </a:p>
          <a:p>
            <a:pPr lvl="1">
              <a:buFont typeface="Wingdings" panose="05000000000000000000" pitchFamily="2" charset="2"/>
              <a:buChar char="§"/>
            </a:pPr>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pt-BR" noProof="0" dirty="0"/>
              <a:t>Treinamento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353800" cy="5032375"/>
          </a:xfrm>
        </p:spPr>
        <p:txBody>
          <a:bodyPr/>
          <a:lstStyle/>
          <a:p>
            <a:r>
              <a:rPr lang="pt-BR" dirty="0"/>
              <a:t>Assim como outras redes neurais, as CNNs são treinadas </a:t>
            </a:r>
            <a:r>
              <a:rPr lang="pt-BR" b="1" dirty="0">
                <a:solidFill>
                  <a:srgbClr val="7030A0"/>
                </a:solidFill>
              </a:rPr>
              <a:t>usando-se o algoritmo da retropropagação do erro</a:t>
            </a:r>
            <a:r>
              <a:rPr lang="pt-BR" dirty="0"/>
              <a:t>.</a:t>
            </a:r>
          </a:p>
          <a:p>
            <a:r>
              <a:rPr lang="pt-BR" dirty="0"/>
              <a:t>O objetivo é </a:t>
            </a:r>
            <a:r>
              <a:rPr lang="pt-BR" b="1" dirty="0">
                <a:solidFill>
                  <a:schemeClr val="accent2"/>
                </a:solidFill>
              </a:rPr>
              <a:t>aprender os pesos dos filtros, os de </a:t>
            </a:r>
            <a:r>
              <a:rPr lang="pt-BR" b="1" i="1" dirty="0">
                <a:solidFill>
                  <a:schemeClr val="accent2"/>
                </a:solidFill>
              </a:rPr>
              <a:t>bias</a:t>
            </a:r>
            <a:r>
              <a:rPr lang="pt-BR" b="1" dirty="0">
                <a:solidFill>
                  <a:schemeClr val="accent2"/>
                </a:solidFill>
              </a:rPr>
              <a:t> e das camadas densas</a:t>
            </a:r>
            <a:r>
              <a:rPr lang="pt-BR" dirty="0"/>
              <a:t>.</a:t>
            </a:r>
          </a:p>
          <a:p>
            <a:r>
              <a:rPr lang="pt-BR" dirty="0"/>
              <a:t>Em geral, usa-se o </a:t>
            </a:r>
            <a:r>
              <a:rPr lang="pt-BR" b="1" dirty="0">
                <a:solidFill>
                  <a:srgbClr val="00B050"/>
                </a:solidFill>
              </a:rPr>
              <a:t>gradiente descendente em </a:t>
            </a:r>
            <a:r>
              <a:rPr lang="pt-BR" b="1" i="1" dirty="0" err="1">
                <a:solidFill>
                  <a:srgbClr val="00B050"/>
                </a:solidFill>
              </a:rPr>
              <a:t>mini-batches</a:t>
            </a:r>
            <a:r>
              <a:rPr lang="pt-BR" b="1" dirty="0">
                <a:solidFill>
                  <a:srgbClr val="00B050"/>
                </a:solidFill>
              </a:rPr>
              <a:t> </a:t>
            </a:r>
            <a:r>
              <a:rPr lang="pt-BR" dirty="0"/>
              <a:t>para a atualização dos pesos, pois com ele, podemos variar a complexidade computacional.</a:t>
            </a:r>
          </a:p>
          <a:p>
            <a:r>
              <a:rPr lang="pt-BR" dirty="0"/>
              <a:t>As funções de erro mais usadas são o EQM, para tarefas de regressão, e a entropia-cruzada, para tarefas de classificação.</a:t>
            </a:r>
          </a:p>
        </p:txBody>
      </p:sp>
    </p:spTree>
    <p:extLst>
      <p:ext uri="{BB962C8B-B14F-4D97-AF65-F5344CB8AC3E}">
        <p14:creationId xmlns:p14="http://schemas.microsoft.com/office/powerpoint/2010/main" val="423352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418681" y="1672579"/>
            <a:ext cx="11354637" cy="3512841"/>
          </a:xfrm>
        </p:spPr>
        <p:txBody>
          <a:bodyPr>
            <a:normAutofit/>
          </a:bodyPr>
          <a:lstStyle/>
          <a:p>
            <a:pPr marL="0" indent="0" algn="ctr">
              <a:buNone/>
            </a:pPr>
            <a:r>
              <a:rPr lang="pt-BR" sz="6000" dirty="0"/>
              <a:t>Devido a sua alta capacidade, redes profundas (</a:t>
            </a:r>
            <a:r>
              <a:rPr lang="pt-BR" sz="6000" dirty="0" err="1"/>
              <a:t>MLPs</a:t>
            </a:r>
            <a:r>
              <a:rPr lang="pt-BR" sz="6000" dirty="0"/>
              <a:t>, CNNs, e outras) podem facilmente se </a:t>
            </a:r>
            <a:r>
              <a:rPr lang="pt-BR" sz="6000" b="1" dirty="0">
                <a:solidFill>
                  <a:schemeClr val="accent2"/>
                </a:solidFill>
              </a:rPr>
              <a:t>sobreajustar</a:t>
            </a:r>
            <a:r>
              <a:rPr lang="pt-BR" sz="6000" dirty="0"/>
              <a:t> aos dados de treinamento</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A5910-1D79-DF66-33A5-C111CE76D1D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44F6FC6-2A40-5565-2D7A-A0B147241C67}"/>
              </a:ext>
            </a:extLst>
          </p:cNvPr>
          <p:cNvSpPr>
            <a:spLocks noGrp="1"/>
          </p:cNvSpPr>
          <p:nvPr>
            <p:ph idx="1"/>
          </p:nvPr>
        </p:nvSpPr>
        <p:spPr>
          <a:xfrm>
            <a:off x="418681" y="1946868"/>
            <a:ext cx="11354637" cy="2964263"/>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37222407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8" y="1825624"/>
            <a:ext cx="11268077" cy="5032375"/>
          </a:xfrm>
        </p:spPr>
        <p:txBody>
          <a:bodyPr/>
          <a:lstStyle/>
          <a:p>
            <a:r>
              <a:rPr lang="pt-BR" dirty="0"/>
              <a:t>Além das abordagens que já discutimos, como</a:t>
            </a:r>
          </a:p>
          <a:p>
            <a:pPr lvl="1">
              <a:buFont typeface="Wingdings" panose="05000000000000000000" pitchFamily="2" charset="2"/>
              <a:buChar char="§"/>
            </a:pPr>
            <a:r>
              <a:rPr lang="pt-BR" b="1" dirty="0">
                <a:solidFill>
                  <a:schemeClr val="accent2"/>
                </a:solidFill>
              </a:rPr>
              <a:t>aumentar o </a:t>
            </a:r>
            <a:r>
              <a:rPr lang="pt-BR" b="1" i="1" dirty="0">
                <a:solidFill>
                  <a:schemeClr val="accent2"/>
                </a:solidFill>
              </a:rPr>
              <a:t>dataset</a:t>
            </a:r>
            <a:r>
              <a:rPr lang="pt-BR" dirty="0"/>
              <a:t>, </a:t>
            </a:r>
          </a:p>
          <a:p>
            <a:pPr lvl="1">
              <a:buFont typeface="Wingdings" panose="05000000000000000000" pitchFamily="2" charset="2"/>
              <a:buChar char="§"/>
            </a:pPr>
            <a:r>
              <a:rPr lang="pt-BR" b="1" dirty="0">
                <a:solidFill>
                  <a:schemeClr val="accent5"/>
                </a:solidFill>
              </a:rPr>
              <a:t>reduzir a complexidade</a:t>
            </a:r>
            <a:r>
              <a:rPr lang="pt-BR" dirty="0"/>
              <a:t> (i.e., tamanho) do modelo</a:t>
            </a:r>
          </a:p>
          <a:p>
            <a:pPr lvl="1">
              <a:buFont typeface="Wingdings" panose="05000000000000000000" pitchFamily="2" charset="2"/>
              <a:buChar char="§"/>
            </a:pPr>
            <a:r>
              <a:rPr lang="pt-BR" dirty="0"/>
              <a:t>e </a:t>
            </a:r>
            <a:r>
              <a:rPr lang="pt-BR" b="1" dirty="0">
                <a:solidFill>
                  <a:srgbClr val="00B050"/>
                </a:solidFill>
              </a:rPr>
              <a:t>aplicar técnicas de regularização</a:t>
            </a:r>
            <a:r>
              <a:rPr lang="pt-BR" dirty="0"/>
              <a:t> como penalizações L1/L2 e </a:t>
            </a:r>
            <a:r>
              <a:rPr lang="pt-BR" i="1" dirty="0"/>
              <a:t>early-stopping</a:t>
            </a:r>
            <a:r>
              <a:rPr lang="pt-BR" dirty="0"/>
              <a:t>, </a:t>
            </a:r>
          </a:p>
          <a:p>
            <a:pPr marL="0" indent="0">
              <a:buNone/>
            </a:pPr>
            <a:r>
              <a:rPr lang="pt-BR" dirty="0"/>
              <a:t>podemos usar três outras técnicas para evitar o </a:t>
            </a:r>
            <a:r>
              <a:rPr lang="pt-BR" i="1" dirty="0" err="1"/>
              <a:t>overfitting</a:t>
            </a:r>
            <a:r>
              <a:rPr lang="pt-BR" i="1" dirty="0"/>
              <a:t>:</a:t>
            </a:r>
          </a:p>
          <a:p>
            <a:pPr lvl="1">
              <a:buFont typeface="Wingdings" panose="05000000000000000000" pitchFamily="2" charset="2"/>
              <a:buChar char="§"/>
            </a:pPr>
            <a:r>
              <a:rPr lang="pt-BR" i="1" dirty="0"/>
              <a:t>dropout,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dirty="0"/>
              <a:t>e </a:t>
            </a:r>
            <a:r>
              <a:rPr lang="pt-BR" i="1" dirty="0" err="1"/>
              <a:t>transfer</a:t>
            </a:r>
            <a:r>
              <a:rPr lang="pt-BR" i="1" dirty="0"/>
              <a:t> learning </a:t>
            </a:r>
            <a:r>
              <a:rPr lang="pt-BR" dirty="0"/>
              <a:t>(Anexo I)</a:t>
            </a:r>
          </a:p>
          <a:p>
            <a:r>
              <a:rPr lang="pt-BR" dirty="0"/>
              <a:t>Essas </a:t>
            </a:r>
            <a:r>
              <a:rPr lang="pt-BR" b="1" dirty="0">
                <a:solidFill>
                  <a:srgbClr val="7030A0"/>
                </a:solidFill>
              </a:rPr>
              <a:t>técnicas se aplicam a qualquer tipo de rede neural, não apenas a CNNs</a:t>
            </a:r>
            <a:r>
              <a:rPr lang="pt-BR" dirty="0"/>
              <a:t>.</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lnSpcReduction="10000"/>
          </a:bodyPr>
          <a:lstStyle/>
          <a:p>
            <a:r>
              <a:rPr lang="pt-BR" b="0" noProof="0" dirty="0">
                <a:effectLst/>
              </a:rPr>
              <a:t>O </a:t>
            </a:r>
            <a:r>
              <a:rPr lang="pt-BR" b="1" i="1" noProof="0" dirty="0">
                <a:solidFill>
                  <a:srgbClr val="00B050"/>
                </a:solidFill>
                <a:effectLst/>
              </a:rPr>
              <a:t>dropout</a:t>
            </a:r>
            <a:r>
              <a:rPr lang="pt-BR" b="0" noProof="0" dirty="0">
                <a:effectLst/>
              </a:rPr>
              <a:t> é uma técnica de regularização.</a:t>
            </a:r>
          </a:p>
          <a:p>
            <a:pPr lvl="0"/>
            <a:r>
              <a:rPr lang="pt-BR" noProof="0" dirty="0"/>
              <a:t>Envolve "</a:t>
            </a:r>
            <a:r>
              <a:rPr lang="pt-BR" b="1" noProof="0" dirty="0">
                <a:solidFill>
                  <a:schemeClr val="accent2"/>
                </a:solidFill>
              </a:rPr>
              <a:t>desligar</a:t>
            </a:r>
            <a:r>
              <a:rPr lang="pt-BR" noProof="0" dirty="0"/>
              <a:t>" </a:t>
            </a:r>
            <a:r>
              <a:rPr lang="pt-BR" b="1" noProof="0" dirty="0">
                <a:solidFill>
                  <a:srgbClr val="00B050"/>
                </a:solidFill>
              </a:rPr>
              <a:t>aleatoriamente</a:t>
            </a:r>
            <a:r>
              <a:rPr lang="pt-BR" noProof="0" dirty="0"/>
              <a:t> os nós das camadas </a:t>
            </a:r>
            <a:r>
              <a:rPr lang="pt-BR" b="1" noProof="0" dirty="0">
                <a:solidFill>
                  <a:srgbClr val="7030A0"/>
                </a:solidFill>
              </a:rPr>
              <a:t>durante o treinamento</a:t>
            </a:r>
            <a:r>
              <a:rPr lang="pt-BR" noProof="0" dirty="0"/>
              <a:t>, cada um com probabilidade </a:t>
            </a:r>
            <a:r>
              <a:rPr lang="pt-BR" i="1" noProof="0" dirty="0"/>
              <a:t>p</a:t>
            </a:r>
            <a:r>
              <a:rPr lang="pt-BR" noProof="0" dirty="0"/>
              <a:t> (um hiperparâmetro).</a:t>
            </a:r>
          </a:p>
          <a:p>
            <a:pPr lvl="0"/>
            <a:r>
              <a:rPr lang="pt-BR" noProof="0" dirty="0"/>
              <a:t>Os nós desligados </a:t>
            </a:r>
            <a:r>
              <a:rPr lang="pt-BR" b="1" noProof="0" dirty="0">
                <a:solidFill>
                  <a:srgbClr val="00B0F0"/>
                </a:solidFill>
              </a:rPr>
              <a:t>não contribuem para a saída</a:t>
            </a:r>
            <a:r>
              <a:rPr lang="pt-BR" noProof="0" dirty="0"/>
              <a:t> da </a:t>
            </a:r>
            <a:r>
              <a:rPr lang="pt-BR" b="1" noProof="0" dirty="0">
                <a:solidFill>
                  <a:schemeClr val="accent2"/>
                </a:solidFill>
              </a:rPr>
              <a:t>rede nem têm seus pesos atualizados</a:t>
            </a:r>
            <a:r>
              <a:rPr lang="pt-BR" noProof="0" dirty="0"/>
              <a:t> naquela iteração de treinamento.</a:t>
            </a:r>
          </a:p>
          <a:p>
            <a:pPr lvl="0"/>
            <a:r>
              <a:rPr lang="pt-BR" noProof="0" dirty="0"/>
              <a:t>Assim, a </a:t>
            </a:r>
            <a:r>
              <a:rPr lang="pt-BR" b="1" noProof="0" dirty="0">
                <a:solidFill>
                  <a:srgbClr val="7030A0"/>
                </a:solidFill>
              </a:rPr>
              <a:t>cada iteração treina-se uma </a:t>
            </a:r>
            <a:r>
              <a:rPr lang="pt-BR" b="1" noProof="0" dirty="0" err="1">
                <a:solidFill>
                  <a:srgbClr val="7030A0"/>
                </a:solidFill>
              </a:rPr>
              <a:t>sub-rede</a:t>
            </a:r>
            <a:r>
              <a:rPr lang="pt-BR" b="1" noProof="0" dirty="0">
                <a:solidFill>
                  <a:srgbClr val="7030A0"/>
                </a:solidFill>
              </a:rPr>
              <a:t> menor</a:t>
            </a:r>
            <a:r>
              <a:rPr lang="pt-BR" noProof="0" dirty="0"/>
              <a:t>, o que </a:t>
            </a:r>
            <a:r>
              <a:rPr lang="pt-BR" b="1" noProof="0" dirty="0">
                <a:solidFill>
                  <a:srgbClr val="00B050"/>
                </a:solidFill>
              </a:rPr>
              <a:t>reduz a dependência excessiva entre nós</a:t>
            </a:r>
            <a:r>
              <a:rPr lang="pt-BR" dirty="0"/>
              <a:t> e a chance de sobreajuste.</a:t>
            </a:r>
            <a:endParaRPr lang="pt-BR" noProof="0" dirty="0"/>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normAutofit/>
          </a:bodyPr>
          <a:lstStyle/>
          <a:p>
            <a:r>
              <a:rPr lang="pt-BR" noProof="0" dirty="0"/>
              <a:t>A cada </a:t>
            </a:r>
            <a:r>
              <a:rPr lang="pt-BR" b="1" noProof="0" dirty="0">
                <a:solidFill>
                  <a:schemeClr val="accent2"/>
                </a:solidFill>
              </a:rPr>
              <a:t>iteração de treinamento</a:t>
            </a:r>
            <a:r>
              <a:rPr lang="pt-BR" noProof="0" dirty="0"/>
              <a:t> o </a:t>
            </a:r>
            <a:r>
              <a:rPr lang="pt-BR" b="1" noProof="0" dirty="0">
                <a:solidFill>
                  <a:schemeClr val="accent1"/>
                </a:solidFill>
              </a:rPr>
              <a:t>subconjunto de nós desligados muda</a:t>
            </a:r>
            <a:r>
              <a:rPr lang="pt-BR" noProof="0" dirty="0"/>
              <a:t>, e por isso é </a:t>
            </a:r>
            <a:r>
              <a:rPr lang="pt-BR" b="1" noProof="0" dirty="0">
                <a:solidFill>
                  <a:srgbClr val="00B050"/>
                </a:solidFill>
              </a:rPr>
              <a:t>como se uma rede diferente fosse treinada a cada vez</a:t>
            </a:r>
            <a:r>
              <a:rPr lang="pt-BR" noProof="0" dirty="0"/>
              <a:t>.</a:t>
            </a:r>
          </a:p>
        </p:txBody>
      </p:sp>
      <p:pic>
        <p:nvPicPr>
          <p:cNvPr id="8" name="Imagem 7">
            <a:extLst>
              <a:ext uri="{FF2B5EF4-FFF2-40B4-BE49-F238E27FC236}">
                <a16:creationId xmlns:a16="http://schemas.microsoft.com/office/drawing/2014/main" id="{E498046A-6BE4-CA45-FBAD-7CDA509576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03700" y="1470642"/>
            <a:ext cx="8784600" cy="391671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noProof="0" dirty="0"/>
              <a:t>Com o </a:t>
            </a:r>
            <a:r>
              <a:rPr lang="pt-BR" i="1" noProof="0" dirty="0"/>
              <a:t>dropout</a:t>
            </a:r>
            <a:r>
              <a:rPr lang="pt-BR" noProof="0" dirty="0"/>
              <a:t>:</a:t>
            </a:r>
          </a:p>
          <a:p>
            <a:pPr lvl="1">
              <a:buFont typeface="Wingdings" panose="05000000000000000000" pitchFamily="2" charset="2"/>
              <a:buChar char="§"/>
            </a:pPr>
            <a:r>
              <a:rPr lang="pt-BR" noProof="0" dirty="0"/>
              <a:t>os nós não conseguem depender uns dos outros de forma excessiva </a:t>
            </a:r>
          </a:p>
          <a:p>
            <a:pPr lvl="1">
              <a:buFont typeface="Wingdings" panose="05000000000000000000" pitchFamily="2" charset="2"/>
              <a:buChar char="§"/>
            </a:pPr>
            <a:r>
              <a:rPr lang="pt-BR" noProof="0" dirty="0"/>
              <a:t>cada nó é forçado a aprender características úteis por si só.</a:t>
            </a:r>
          </a:p>
          <a:p>
            <a:r>
              <a:rPr lang="pt-BR" noProof="0" dirty="0"/>
              <a:t>Ou seja, o </a:t>
            </a:r>
            <a:r>
              <a:rPr lang="pt-BR" i="1" noProof="0" dirty="0"/>
              <a:t>dropout</a:t>
            </a:r>
            <a:r>
              <a:rPr lang="pt-BR" noProof="0" dirty="0"/>
              <a:t> força os nós a funcionarem bem mesmo se outros nós desaparecerem.</a:t>
            </a:r>
          </a:p>
          <a:p>
            <a:r>
              <a:rPr lang="pt-BR" noProof="0" dirty="0"/>
              <a:t>Isso força a rede a </a:t>
            </a:r>
            <a:r>
              <a:rPr lang="pt-BR" b="1" noProof="0" dirty="0">
                <a:solidFill>
                  <a:srgbClr val="7030A0"/>
                </a:solidFill>
              </a:rPr>
              <a:t>aprender</a:t>
            </a:r>
            <a:r>
              <a:rPr lang="pt-BR" noProof="0" dirty="0">
                <a:solidFill>
                  <a:srgbClr val="7030A0"/>
                </a:solidFill>
              </a:rPr>
              <a:t> </a:t>
            </a:r>
            <a:r>
              <a:rPr lang="pt-BR" b="1" noProof="0" dirty="0">
                <a:solidFill>
                  <a:srgbClr val="7030A0"/>
                </a:solidFill>
              </a:rPr>
              <a:t>representações mais generalizáveis</a:t>
            </a:r>
            <a:r>
              <a:rPr lang="pt-BR" b="1" noProof="0" dirty="0"/>
              <a:t>.</a:t>
            </a:r>
            <a:endParaRPr lang="pt-BR" noProof="0"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495800"/>
            <a:ext cx="11213387" cy="2362200"/>
          </a:xfrm>
        </p:spPr>
        <p:txBody>
          <a:bodyPr>
            <a:normAutofit/>
          </a:bodyPr>
          <a:lstStyle/>
          <a:p>
            <a:r>
              <a:rPr lang="pt-BR" noProof="0" dirty="0"/>
              <a:t>D</a:t>
            </a:r>
            <a:r>
              <a:rPr lang="pt-BR" b="0" noProof="0" dirty="0">
                <a:effectLst/>
              </a:rPr>
              <a:t>urante a </a:t>
            </a:r>
            <a:r>
              <a:rPr lang="pt-BR" b="1" noProof="0" dirty="0">
                <a:solidFill>
                  <a:srgbClr val="7030A0"/>
                </a:solidFill>
                <a:effectLst/>
              </a:rPr>
              <a:t>inferência</a:t>
            </a:r>
            <a:r>
              <a:rPr lang="pt-BR" b="0" noProof="0" dirty="0">
                <a:effectLst/>
              </a:rPr>
              <a:t>, o </a:t>
            </a:r>
            <a:r>
              <a:rPr lang="pt-BR" b="0" i="1" noProof="0" dirty="0">
                <a:effectLst/>
              </a:rPr>
              <a:t>dropout</a:t>
            </a:r>
            <a:r>
              <a:rPr lang="pt-BR" b="0" noProof="0" dirty="0">
                <a:effectLst/>
              </a:rPr>
              <a:t> não é aplicado (todos os nós são usados).</a:t>
            </a:r>
            <a:endParaRPr lang="pt-BR" noProof="0" dirty="0">
              <a:effectLst/>
            </a:endParaRPr>
          </a:p>
          <a:p>
            <a:pPr lvl="0"/>
            <a:r>
              <a:rPr lang="pt-BR" noProof="0" dirty="0"/>
              <a:t>Durante a </a:t>
            </a:r>
            <a:r>
              <a:rPr lang="pt-BR" b="1" noProof="0" dirty="0">
                <a:solidFill>
                  <a:srgbClr val="7030A0"/>
                </a:solidFill>
              </a:rPr>
              <a:t>inferência</a:t>
            </a:r>
            <a:r>
              <a:rPr lang="pt-BR" noProof="0" dirty="0"/>
              <a:t>, a rede completa </a:t>
            </a:r>
            <a:r>
              <a:rPr lang="pt-BR" b="1" noProof="0" dirty="0">
                <a:solidFill>
                  <a:schemeClr val="accent2"/>
                </a:solidFill>
              </a:rPr>
              <a:t>aproxima a média das predições de muitas </a:t>
            </a:r>
            <a:r>
              <a:rPr lang="pt-BR" b="1" noProof="0" dirty="0" err="1">
                <a:solidFill>
                  <a:schemeClr val="accent2"/>
                </a:solidFill>
              </a:rPr>
              <a:t>sub-redes</a:t>
            </a:r>
            <a:r>
              <a:rPr lang="pt-BR" noProof="0" dirty="0"/>
              <a:t> treinadas com </a:t>
            </a:r>
            <a:r>
              <a:rPr lang="pt-BR" i="1" noProof="0" dirty="0"/>
              <a:t>dropout</a:t>
            </a:r>
            <a:r>
              <a:rPr lang="pt-BR" noProof="0" dirty="0"/>
              <a:t>.</a:t>
            </a:r>
          </a:p>
          <a:p>
            <a:pPr lvl="0"/>
            <a:r>
              <a:rPr lang="pt-BR" noProof="0" dirty="0"/>
              <a:t>Essa </a:t>
            </a:r>
            <a:r>
              <a:rPr lang="pt-BR" b="1" noProof="0" dirty="0">
                <a:solidFill>
                  <a:schemeClr val="accent1"/>
                </a:solidFill>
              </a:rPr>
              <a:t>combinação implícita reduz o efeito do sobreajuste</a:t>
            </a:r>
            <a:r>
              <a:rPr lang="pt-BR" noProof="0" dirty="0"/>
              <a:t>, fazendo com que a rede generalize melhor.</a:t>
            </a:r>
          </a:p>
        </p:txBody>
      </p:sp>
      <p:pic>
        <p:nvPicPr>
          <p:cNvPr id="6" name="Imagem 5">
            <a:extLst>
              <a:ext uri="{FF2B5EF4-FFF2-40B4-BE49-F238E27FC236}">
                <a16:creationId xmlns:a16="http://schemas.microsoft.com/office/drawing/2014/main" id="{A2DC4670-F0F3-9359-B68D-4A4055D90B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13307" y="1282360"/>
            <a:ext cx="6765386" cy="3016425"/>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t>
            </a:r>
            <a:r>
              <a:rPr lang="pt-BR" b="1" dirty="0">
                <a:solidFill>
                  <a:schemeClr val="accent2"/>
                </a:solidFill>
                <a:effectLst/>
              </a:rPr>
              <a:t>aumentar artificialmente os dados</a:t>
            </a:r>
            <a:r>
              <a:rPr lang="pt-BR" dirty="0">
                <a:effectLst/>
              </a:rPr>
              <a:t>.</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diversidade</a:t>
            </a:r>
            <a:r>
              <a:rPr lang="pt-BR" b="0" dirty="0">
                <a:effectLst/>
              </a:rPr>
              <a:t> dos dados de </a:t>
            </a:r>
            <a:r>
              <a:rPr lang="pt-BR" b="1" dirty="0">
                <a:solidFill>
                  <a:srgbClr val="FF0000"/>
                </a:solidFill>
                <a:effectLst/>
              </a:rPr>
              <a:t>treinamento</a:t>
            </a:r>
            <a:r>
              <a:rPr lang="pt-BR" b="0" dirty="0">
                <a:effectLst/>
              </a:rPr>
              <a:t> </a:t>
            </a:r>
            <a:r>
              <a:rPr lang="pt-BR" b="1" dirty="0">
                <a:solidFill>
                  <a:srgbClr val="7030A0"/>
                </a:solidFill>
                <a:effectLst/>
              </a:rPr>
              <a:t>criando novos exemplos a </a:t>
            </a:r>
            <a:r>
              <a:rPr lang="pt-BR" b="1" dirty="0">
                <a:solidFill>
                  <a:schemeClr val="accent1"/>
                </a:solidFill>
                <a:effectLst/>
              </a:rPr>
              <a:t>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757706" y="1825624"/>
            <a:ext cx="6434294"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p>
          <a:p>
            <a:pPr lvl="1">
              <a:buFont typeface="Wingdings" panose="05000000000000000000" pitchFamily="2" charset="2"/>
              <a:buChar char="§"/>
            </a:pPr>
            <a:r>
              <a:rPr lang="pt-BR" b="1" dirty="0">
                <a:solidFill>
                  <a:srgbClr val="00B050"/>
                </a:solidFill>
                <a:effectLst/>
              </a:rPr>
              <a:t>rotação</a:t>
            </a:r>
            <a:r>
              <a:rPr lang="pt-BR" b="0" dirty="0">
                <a:effectLst/>
              </a:rPr>
              <a:t>, </a:t>
            </a:r>
          </a:p>
          <a:p>
            <a:pPr lvl="1">
              <a:buFont typeface="Wingdings" panose="05000000000000000000" pitchFamily="2" charset="2"/>
              <a:buChar char="§"/>
            </a:pPr>
            <a:r>
              <a:rPr lang="pt-BR" b="1" dirty="0">
                <a:solidFill>
                  <a:srgbClr val="00B050"/>
                </a:solidFill>
              </a:rPr>
              <a:t>e</a:t>
            </a:r>
            <a:r>
              <a:rPr lang="pt-BR" b="1" dirty="0">
                <a:solidFill>
                  <a:srgbClr val="00B050"/>
                </a:solidFill>
                <a:effectLst/>
              </a:rPr>
              <a:t>spelhamento</a:t>
            </a:r>
            <a:endParaRPr lang="pt-BR" dirty="0">
              <a:solidFill>
                <a:srgbClr val="00B050"/>
              </a:solidFill>
            </a:endParaRPr>
          </a:p>
          <a:p>
            <a:pPr lvl="1">
              <a:buFont typeface="Wingdings" panose="05000000000000000000" pitchFamily="2" charset="2"/>
              <a:buChar char="§"/>
            </a:pPr>
            <a:r>
              <a:rPr lang="pt-BR" b="1" dirty="0">
                <a:solidFill>
                  <a:srgbClr val="00B050"/>
                </a:solidFill>
                <a:effectLst/>
              </a:rPr>
              <a:t>corte</a:t>
            </a:r>
            <a:r>
              <a:rPr lang="pt-BR" b="0" dirty="0">
                <a:effectLst/>
              </a:rPr>
              <a:t>, </a:t>
            </a:r>
          </a:p>
          <a:p>
            <a:pPr lvl="1">
              <a:buFont typeface="Wingdings" panose="05000000000000000000" pitchFamily="2" charset="2"/>
              <a:buChar char="§"/>
            </a:pPr>
            <a:r>
              <a:rPr lang="pt-BR" b="0" dirty="0">
                <a:effectLst/>
              </a:rPr>
              <a:t>modificação do </a:t>
            </a:r>
            <a:r>
              <a:rPr lang="pt-BR" b="1" dirty="0">
                <a:solidFill>
                  <a:srgbClr val="00B050"/>
                </a:solidFill>
                <a:effectLst/>
              </a:rPr>
              <a:t>brilho</a:t>
            </a:r>
            <a:r>
              <a:rPr lang="pt-BR" b="0" dirty="0">
                <a:effectLst/>
              </a:rPr>
              <a:t>, </a:t>
            </a:r>
          </a:p>
          <a:p>
            <a:pPr lvl="1">
              <a:buFont typeface="Wingdings" panose="05000000000000000000" pitchFamily="2" charset="2"/>
              <a:buChar char="§"/>
            </a:pPr>
            <a:r>
              <a:rPr lang="pt-BR" b="0" dirty="0">
                <a:effectLst/>
              </a:rPr>
              <a:t>adição de </a:t>
            </a:r>
            <a:r>
              <a:rPr lang="pt-BR" b="1" dirty="0">
                <a:solidFill>
                  <a:srgbClr val="00B050"/>
                </a:solidFill>
                <a:effectLst/>
              </a:rPr>
              <a:t>ruído</a:t>
            </a:r>
            <a:r>
              <a:rPr lang="pt-BR" b="0" dirty="0">
                <a:effectLst/>
              </a:rPr>
              <a:t>, </a:t>
            </a:r>
          </a:p>
          <a:p>
            <a:pPr lvl="1">
              <a:buFont typeface="Wingdings" panose="05000000000000000000" pitchFamily="2" charset="2"/>
              <a:buChar char="§"/>
            </a:pPr>
            <a:r>
              <a:rPr lang="pt-BR" b="1" dirty="0">
                <a:solidFill>
                  <a:srgbClr val="00B050"/>
                </a:solidFill>
                <a:effectLst/>
              </a:rPr>
              <a:t>desfoque</a:t>
            </a:r>
            <a:r>
              <a:rPr lang="pt-BR" b="0" dirty="0">
                <a:effectLst/>
              </a:rPr>
              <a:t>,</a:t>
            </a:r>
          </a:p>
          <a:p>
            <a:pPr lvl="1">
              <a:buFont typeface="Wingdings" panose="05000000000000000000" pitchFamily="2" charset="2"/>
              <a:buChar char="§"/>
            </a:pPr>
            <a:r>
              <a:rPr lang="pt-BR" dirty="0"/>
              <a:t>transformação para </a:t>
            </a:r>
            <a:r>
              <a:rPr lang="pt-BR" b="1" dirty="0">
                <a:solidFill>
                  <a:srgbClr val="00B050"/>
                </a:solidFill>
              </a:rPr>
              <a:t>escala de cinza</a:t>
            </a:r>
            <a:r>
              <a:rPr lang="pt-BR" dirty="0"/>
              <a:t>,</a:t>
            </a:r>
            <a:endParaRPr lang="pt-BR" b="0" dirty="0">
              <a:effectLst/>
            </a:endParaRPr>
          </a:p>
          <a:p>
            <a:pPr lvl="1">
              <a:buFont typeface="Wingdings" panose="05000000000000000000" pitchFamily="2" charset="2"/>
              <a:buChar char="§"/>
            </a:pPr>
            <a:r>
              <a:rPr lang="pt-BR" b="0" dirty="0">
                <a:effectLst/>
              </a:rPr>
              <a:t>etc.</a:t>
            </a:r>
          </a:p>
          <a:p>
            <a:r>
              <a:rPr lang="pt-BR" dirty="0"/>
              <a:t>A rede é treinada com a </a:t>
            </a:r>
            <a:r>
              <a:rPr lang="pt-BR" b="1" dirty="0"/>
              <a:t>mesma imagem, mas com diferentes transformações</a:t>
            </a:r>
            <a:r>
              <a:rPr lang="pt-BR" dirty="0"/>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A965A-78A8-F9E6-C357-48218B967E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61B12-5587-E0AD-0C28-980251754268}"/>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7A4DB6AD-774F-EE4D-667C-372702738F63}"/>
              </a:ext>
            </a:extLst>
          </p:cNvPr>
          <p:cNvSpPr>
            <a:spLocks noGrp="1"/>
          </p:cNvSpPr>
          <p:nvPr>
            <p:ph idx="1"/>
          </p:nvPr>
        </p:nvSpPr>
        <p:spPr>
          <a:xfrm>
            <a:off x="5845629" y="1825624"/>
            <a:ext cx="6346371" cy="5032375"/>
          </a:xfrm>
        </p:spPr>
        <p:txBody>
          <a:bodyPr>
            <a:normAutofit lnSpcReduction="10000"/>
          </a:bodyPr>
          <a:lstStyle/>
          <a:p>
            <a:r>
              <a:rPr lang="pt-BR" noProof="0" dirty="0"/>
              <a:t>O </a:t>
            </a:r>
            <a:r>
              <a:rPr lang="pt-BR" b="1" i="1" noProof="0" dirty="0">
                <a:solidFill>
                  <a:srgbClr val="00B050"/>
                </a:solidFill>
              </a:rPr>
              <a:t>data a</a:t>
            </a:r>
            <a:r>
              <a:rPr lang="pt-BR" b="1" i="1" noProof="0" dirty="0">
                <a:solidFill>
                  <a:srgbClr val="00B050"/>
                </a:solidFill>
                <a:effectLst/>
              </a:rPr>
              <a:t>ugmentation</a:t>
            </a:r>
            <a:r>
              <a:rPr lang="pt-BR" b="1" i="1" noProof="0" dirty="0">
                <a:solidFill>
                  <a:srgbClr val="00B050"/>
                </a:solidFill>
              </a:rPr>
              <a:t> </a:t>
            </a:r>
            <a:r>
              <a:rPr lang="pt-BR" b="1" noProof="0" dirty="0">
                <a:solidFill>
                  <a:srgbClr val="00B050"/>
                </a:solidFill>
              </a:rPr>
              <a:t>torna as CNNs </a:t>
            </a:r>
            <a:r>
              <a:rPr lang="pt-BR" b="1" noProof="0" dirty="0">
                <a:solidFill>
                  <a:srgbClr val="7030A0"/>
                </a:solidFill>
              </a:rPr>
              <a:t>robustas a variações de</a:t>
            </a:r>
          </a:p>
          <a:p>
            <a:pPr lvl="1">
              <a:buFont typeface="Wingdings" panose="05000000000000000000" pitchFamily="2" charset="2"/>
              <a:buChar char="§"/>
            </a:pPr>
            <a:r>
              <a:rPr lang="pt-BR" noProof="0" dirty="0"/>
              <a:t>rotação,</a:t>
            </a:r>
          </a:p>
          <a:p>
            <a:pPr lvl="1">
              <a:buFont typeface="Wingdings" panose="05000000000000000000" pitchFamily="2" charset="2"/>
              <a:buChar char="§"/>
            </a:pPr>
            <a:r>
              <a:rPr lang="pt-BR" noProof="0" dirty="0"/>
              <a:t>qualidade,</a:t>
            </a:r>
          </a:p>
          <a:p>
            <a:pPr lvl="1">
              <a:buFont typeface="Wingdings" panose="05000000000000000000" pitchFamily="2" charset="2"/>
              <a:buChar char="§"/>
            </a:pPr>
            <a:r>
              <a:rPr lang="pt-BR" noProof="0" dirty="0"/>
              <a:t>luminosidade,</a:t>
            </a:r>
          </a:p>
          <a:p>
            <a:pPr lvl="1">
              <a:buFont typeface="Wingdings" panose="05000000000000000000" pitchFamily="2" charset="2"/>
              <a:buChar char="§"/>
            </a:pPr>
            <a:r>
              <a:rPr lang="pt-BR" noProof="0" dirty="0"/>
              <a:t>escala e posição dos objetos</a:t>
            </a:r>
            <a:br>
              <a:rPr lang="pt-BR" noProof="0" dirty="0"/>
            </a:br>
            <a:r>
              <a:rPr lang="pt-BR" noProof="0" dirty="0"/>
              <a:t>nas imagens.</a:t>
            </a:r>
          </a:p>
          <a:p>
            <a:pPr marL="0" indent="0">
              <a:buNone/>
            </a:pPr>
            <a:r>
              <a:rPr lang="pt-BR" b="1" noProof="0" dirty="0">
                <a:solidFill>
                  <a:srgbClr val="7030A0"/>
                </a:solidFill>
              </a:rPr>
              <a:t>das imagens.</a:t>
            </a:r>
            <a:endParaRPr lang="pt-BR" noProof="0" dirty="0"/>
          </a:p>
          <a:p>
            <a:r>
              <a:rPr lang="pt-BR" dirty="0"/>
              <a:t>Assim, a rede </a:t>
            </a:r>
            <a:r>
              <a:rPr lang="pt-BR" b="1" dirty="0">
                <a:solidFill>
                  <a:schemeClr val="accent2"/>
                </a:solidFill>
              </a:rPr>
              <a:t>aprende a reconhecer padrões de forma menos sensível a esses fatores</a:t>
            </a:r>
            <a:r>
              <a:rPr lang="pt-BR" dirty="0"/>
              <a:t>, desde que as variações estejam representadas nas transformações usadas.</a:t>
            </a:r>
            <a:endParaRPr lang="pt-BR" b="0" noProof="0" dirty="0">
              <a:effectLst/>
            </a:endParaRPr>
          </a:p>
        </p:txBody>
      </p:sp>
      <p:pic>
        <p:nvPicPr>
          <p:cNvPr id="4" name="Picture 2" descr="Data Augmentation for Computer Vision | by TagX | Medium">
            <a:extLst>
              <a:ext uri="{FF2B5EF4-FFF2-40B4-BE49-F238E27FC236}">
                <a16:creationId xmlns:a16="http://schemas.microsoft.com/office/drawing/2014/main" id="{F994AEE2-26F2-F8CE-748C-BE6C174137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637930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a:t>
            </a:r>
            <a:r>
              <a:rPr lang="pt-BR" sz="6600" i="1" dirty="0"/>
              <a:t>Transfer Learning</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73270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a:t>
            </a:r>
            <a:r>
              <a:rPr lang="pt-BR" b="1" dirty="0">
                <a:solidFill>
                  <a:schemeClr val="accent2"/>
                </a:solidFill>
                <a:effectLst/>
              </a:rPr>
              <a:t>domínio</a:t>
            </a:r>
            <a:r>
              <a:rPr lang="pt-BR" b="0" dirty="0">
                <a:effectLst/>
              </a:rPr>
              <a:t>) relacionada </a:t>
            </a:r>
            <a:r>
              <a:rPr lang="pt-BR" b="1" dirty="0">
                <a:solidFill>
                  <a:srgbClr val="00B050"/>
                </a:solidFill>
                <a:effectLst/>
              </a:rPr>
              <a:t>como ponto de partida para uma nova tarefa</a:t>
            </a:r>
            <a:r>
              <a:rPr lang="pt-BR" b="0" dirty="0">
                <a:effectLst/>
              </a:rPr>
              <a:t>.</a:t>
            </a:r>
          </a:p>
          <a:p>
            <a:r>
              <a:rPr lang="pt-BR" dirty="0"/>
              <a:t>Por exemplo, usar um </a:t>
            </a:r>
            <a:r>
              <a:rPr lang="pt-BR" b="1" dirty="0">
                <a:solidFill>
                  <a:schemeClr val="accent2"/>
                </a:solidFill>
              </a:rPr>
              <a:t>modelo </a:t>
            </a:r>
            <a:r>
              <a:rPr lang="pt-BR" b="1" dirty="0" err="1">
                <a:solidFill>
                  <a:schemeClr val="accent2"/>
                </a:solidFill>
              </a:rPr>
              <a:t>pré</a:t>
            </a:r>
            <a:r>
              <a:rPr lang="pt-BR" b="1" dirty="0">
                <a:solidFill>
                  <a:schemeClr val="accent2"/>
                </a:solidFill>
              </a:rPr>
              <a:t>-treinado em um grande conjunto de dados com diferentes tipos de plantas</a:t>
            </a:r>
            <a:r>
              <a:rPr lang="pt-BR" dirty="0"/>
              <a:t> e </a:t>
            </a:r>
            <a:r>
              <a:rPr lang="pt-BR" b="1" dirty="0">
                <a:solidFill>
                  <a:srgbClr val="00B050"/>
                </a:solidFill>
              </a:rPr>
              <a:t>ajustá-lo</a:t>
            </a:r>
            <a:r>
              <a:rPr lang="pt-BR" dirty="0"/>
              <a:t> para a </a:t>
            </a:r>
            <a:r>
              <a:rPr lang="pt-BR" b="1" dirty="0">
                <a:solidFill>
                  <a:srgbClr val="7030A0"/>
                </a:solidFill>
              </a:rPr>
              <a:t>classificação de doenças em pés de feijão</a:t>
            </a:r>
            <a:r>
              <a:rPr lang="pt-BR" dirty="0"/>
              <a:t>. </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305594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a:t>
            </a:r>
            <a:r>
              <a:rPr lang="pt-BR" b="1" dirty="0">
                <a:solidFill>
                  <a:schemeClr val="accent2"/>
                </a:solidFill>
                <a:effectLst/>
              </a:rPr>
              <a:t>em geral</a:t>
            </a:r>
            <a:r>
              <a:rPr lang="pt-BR" b="1" dirty="0">
                <a:solidFill>
                  <a:srgbClr val="00B050"/>
                </a:solidFill>
                <a:effectLst/>
              </a:rPr>
              <a:t>,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960938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99314" y="1825624"/>
            <a:ext cx="6792686" cy="5032375"/>
          </a:xfrm>
        </p:spPr>
        <p:txBody>
          <a:bodyPr>
            <a:normAutofit lnSpcReduction="10000"/>
          </a:bodyPr>
          <a:lstStyle/>
          <a:p>
            <a:r>
              <a:rPr lang="pt-BR" b="0" noProof="0">
                <a:effectLst/>
              </a:rPr>
              <a:t>Suponham que tenhamos uma </a:t>
            </a:r>
            <a:r>
              <a:rPr lang="pt-BR" b="1" noProof="0">
                <a:solidFill>
                  <a:srgbClr val="00B050"/>
                </a:solidFill>
                <a:effectLst/>
              </a:rPr>
              <a:t>rede </a:t>
            </a:r>
            <a:r>
              <a:rPr lang="pt-BR" b="1" noProof="0" dirty="0" err="1">
                <a:solidFill>
                  <a:srgbClr val="00B050"/>
                </a:solidFill>
                <a:effectLst/>
              </a:rPr>
              <a:t>pré</a:t>
            </a:r>
            <a:r>
              <a:rPr lang="pt-BR" b="1" noProof="0" dirty="0">
                <a:solidFill>
                  <a:srgbClr val="00B050"/>
                </a:solidFill>
                <a:effectLst/>
              </a:rPr>
              <a:t>-treinada</a:t>
            </a:r>
            <a:r>
              <a:rPr lang="pt-BR" b="0" noProof="0" dirty="0">
                <a:effectLst/>
              </a:rPr>
              <a:t> para classificar imagens de </a:t>
            </a:r>
            <a:r>
              <a:rPr lang="pt-BR" b="1" noProof="0" dirty="0">
                <a:solidFill>
                  <a:schemeClr val="accent2"/>
                </a:solidFill>
                <a:effectLst/>
              </a:rPr>
              <a:t>100 classes diferentes</a:t>
            </a:r>
            <a:r>
              <a:rPr lang="pt-BR" b="0" noProof="0" dirty="0">
                <a:effectLst/>
              </a:rPr>
              <a:t>, incluindo </a:t>
            </a:r>
            <a:r>
              <a:rPr lang="pt-BR" b="1" noProof="0" dirty="0">
                <a:solidFill>
                  <a:srgbClr val="00B050"/>
                </a:solidFill>
                <a:effectLst/>
              </a:rPr>
              <a:t>animais</a:t>
            </a:r>
            <a:r>
              <a:rPr lang="pt-BR" b="0" noProof="0" dirty="0">
                <a:effectLst/>
              </a:rPr>
              <a:t>, </a:t>
            </a:r>
            <a:r>
              <a:rPr lang="pt-BR" b="1" noProof="0" dirty="0">
                <a:solidFill>
                  <a:srgbClr val="00B050"/>
                </a:solidFill>
                <a:effectLst/>
              </a:rPr>
              <a:t>plantas</a:t>
            </a:r>
            <a:r>
              <a:rPr lang="pt-BR" b="0" noProof="0" dirty="0">
                <a:effectLst/>
              </a:rPr>
              <a:t>, </a:t>
            </a:r>
            <a:r>
              <a:rPr lang="pt-BR" b="1" noProof="0" dirty="0">
                <a:solidFill>
                  <a:srgbClr val="00B050"/>
                </a:solidFill>
                <a:effectLst/>
              </a:rPr>
              <a:t>veículos</a:t>
            </a:r>
            <a:r>
              <a:rPr lang="pt-BR" noProof="0" dirty="0"/>
              <a:t>, etc. e </a:t>
            </a:r>
            <a:r>
              <a:rPr lang="pt-BR" b="0" noProof="0" dirty="0">
                <a:effectLst/>
              </a:rPr>
              <a:t>queremos treinar uma </a:t>
            </a:r>
            <a:r>
              <a:rPr lang="pt-BR" b="1" noProof="0" dirty="0">
                <a:solidFill>
                  <a:srgbClr val="7030A0"/>
                </a:solidFill>
                <a:effectLst/>
              </a:rPr>
              <a:t>nova rede para classificar </a:t>
            </a:r>
            <a:r>
              <a:rPr lang="pt-BR" b="1" noProof="0" dirty="0">
                <a:solidFill>
                  <a:srgbClr val="0070C0"/>
                </a:solidFill>
                <a:effectLst/>
              </a:rPr>
              <a:t>tipos específicos de veículos</a:t>
            </a:r>
            <a:r>
              <a:rPr lang="pt-BR" b="0" noProof="0" dirty="0">
                <a:effectLst/>
              </a:rPr>
              <a:t>. </a:t>
            </a:r>
          </a:p>
          <a:p>
            <a:r>
              <a:rPr lang="pt-BR" noProof="0" dirty="0"/>
              <a:t>Por e</a:t>
            </a:r>
            <a:r>
              <a:rPr lang="pt-BR" b="0" noProof="0" dirty="0">
                <a:effectLst/>
              </a:rPr>
              <a:t>ssas tarefas serem semelhantes, </a:t>
            </a:r>
            <a:r>
              <a:rPr lang="pt-BR" b="1" noProof="0" dirty="0">
                <a:solidFill>
                  <a:srgbClr val="00B050"/>
                </a:solidFill>
                <a:effectLst/>
              </a:rPr>
              <a:t>podemos </a:t>
            </a:r>
            <a:r>
              <a:rPr lang="pt-BR" b="1" noProof="0" dirty="0">
                <a:solidFill>
                  <a:schemeClr val="accent2"/>
                </a:solidFill>
                <a:effectLst/>
              </a:rPr>
              <a:t>reutilizar partes </a:t>
            </a:r>
            <a:r>
              <a:rPr lang="pt-BR" b="1" noProof="0" dirty="0">
                <a:solidFill>
                  <a:srgbClr val="00B050"/>
                </a:solidFill>
                <a:effectLst/>
              </a:rPr>
              <a:t>da primeira rede</a:t>
            </a:r>
            <a:r>
              <a:rPr lang="pt-BR" b="0" noProof="0" dirty="0">
                <a:effectLst/>
              </a:rPr>
              <a:t>.</a:t>
            </a:r>
          </a:p>
          <a:p>
            <a:pPr lvl="1">
              <a:buFont typeface="Wingdings" panose="05000000000000000000" pitchFamily="2" charset="2"/>
              <a:buChar char="§"/>
            </a:pPr>
            <a:r>
              <a:rPr lang="pt-BR" noProof="0" dirty="0"/>
              <a:t>Reutilizamos as camadas iniciais, que detectam características genéricas.</a:t>
            </a:r>
          </a:p>
          <a:p>
            <a:pPr lvl="1">
              <a:buFont typeface="Wingdings" panose="05000000000000000000" pitchFamily="2" charset="2"/>
              <a:buChar char="§"/>
            </a:pPr>
            <a:r>
              <a:rPr lang="pt-BR" noProof="0" dirty="0"/>
              <a:t>Substituímos a camada final (classificadora) por uma nova, com saídas para as classes de veículos, e a treinamos com os novos dados.</a:t>
            </a:r>
            <a:endParaRPr lang="pt-BR" b="0" noProof="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570481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1825624"/>
            <a:ext cx="11215254" cy="5032375"/>
          </a:xfrm>
        </p:spPr>
        <p:txBody>
          <a:bodyPr>
            <a:normAutofit/>
          </a:bodyPr>
          <a:lstStyle/>
          <a:p>
            <a:r>
              <a:rPr lang="pt-BR" b="0" noProof="0" dirty="0">
                <a:effectLst/>
              </a:rPr>
              <a:t>Modelos </a:t>
            </a:r>
            <a:r>
              <a:rPr lang="pt-BR" b="0" noProof="0" dirty="0" err="1">
                <a:effectLst/>
              </a:rPr>
              <a:t>pré</a:t>
            </a:r>
            <a:r>
              <a:rPr lang="pt-BR" b="0" noProof="0" dirty="0">
                <a:effectLst/>
              </a:rPr>
              <a:t>-treinados em grandes conjuntos de dados aprendem a </a:t>
            </a:r>
            <a:r>
              <a:rPr lang="pt-BR" b="1" noProof="0" dirty="0">
                <a:solidFill>
                  <a:srgbClr val="00B050"/>
                </a:solidFill>
                <a:effectLst/>
              </a:rPr>
              <a:t>extrair características relevantes dos dados</a:t>
            </a:r>
            <a:r>
              <a:rPr lang="pt-BR" b="0" noProof="0" dirty="0">
                <a:effectLst/>
              </a:rPr>
              <a:t>. </a:t>
            </a:r>
          </a:p>
          <a:p>
            <a:r>
              <a:rPr lang="pt-BR" dirty="0"/>
              <a:t>Os </a:t>
            </a:r>
            <a:r>
              <a:rPr lang="pt-BR" b="1" dirty="0">
                <a:solidFill>
                  <a:schemeClr val="accent2"/>
                </a:solidFill>
              </a:rPr>
              <a:t>pesos que detectam essas características são transferidos </a:t>
            </a:r>
            <a:r>
              <a:rPr lang="pt-BR" dirty="0"/>
              <a:t>para o novo modelo, que se beneficia de uma </a:t>
            </a:r>
            <a:r>
              <a:rPr lang="pt-BR" b="1" dirty="0">
                <a:solidFill>
                  <a:srgbClr val="7030A0"/>
                </a:solidFill>
              </a:rPr>
              <a:t>inicialização mais informada</a:t>
            </a:r>
            <a:r>
              <a:rPr lang="pt-BR" dirty="0"/>
              <a:t>.</a:t>
            </a:r>
          </a:p>
          <a:p>
            <a:r>
              <a:rPr lang="pt-BR" dirty="0"/>
              <a:t>As camadas iniciais dos modelos </a:t>
            </a:r>
            <a:r>
              <a:rPr lang="pt-BR" dirty="0" err="1"/>
              <a:t>pré</a:t>
            </a:r>
            <a:r>
              <a:rPr lang="pt-BR" dirty="0"/>
              <a:t>-treinados detectam padrões básicos (bordas, cores, texturas). </a:t>
            </a:r>
          </a:p>
          <a:p>
            <a:r>
              <a:rPr lang="pt-BR" dirty="0"/>
              <a:t>As intermediárias detectam formas e partes de objetos. </a:t>
            </a:r>
          </a:p>
          <a:p>
            <a:r>
              <a:rPr lang="pt-BR" dirty="0"/>
              <a:t>As finais capturam características específicas da tarefa original, e por isso </a:t>
            </a:r>
            <a:r>
              <a:rPr lang="pt-BR" b="1" dirty="0">
                <a:solidFill>
                  <a:srgbClr val="00B0F0"/>
                </a:solidFill>
              </a:rPr>
              <a:t>reaproveitamos principalmente as iniciais</a:t>
            </a:r>
            <a:r>
              <a:rPr lang="pt-BR" dirty="0"/>
              <a:t>.</a:t>
            </a:r>
            <a:endParaRPr lang="pt-BR" b="0" noProof="0" dirty="0">
              <a:effectLst/>
            </a:endParaRPr>
          </a:p>
        </p:txBody>
      </p:sp>
    </p:spTree>
    <p:extLst>
      <p:ext uri="{BB962C8B-B14F-4D97-AF65-F5344CB8AC3E}">
        <p14:creationId xmlns:p14="http://schemas.microsoft.com/office/powerpoint/2010/main" val="361891801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682343" y="1825624"/>
            <a:ext cx="6404883" cy="5032375"/>
          </a:xfrm>
        </p:spPr>
        <p:txBody>
          <a:bodyPr>
            <a:normAutofit/>
          </a:bodyPr>
          <a:lstStyle/>
          <a:p>
            <a:r>
              <a:rPr lang="pt-BR" b="0" noProof="0">
                <a:effectLst/>
              </a:rPr>
              <a:t>O </a:t>
            </a:r>
            <a:r>
              <a:rPr lang="pt-BR" b="0" i="1" noProof="0" dirty="0" err="1">
                <a:effectLst/>
              </a:rPr>
              <a:t>transfer</a:t>
            </a:r>
            <a:r>
              <a:rPr lang="pt-BR" b="0" i="1" noProof="0" dirty="0">
                <a:effectLst/>
              </a:rPr>
              <a:t> learning</a:t>
            </a:r>
            <a:r>
              <a:rPr lang="pt-BR" b="0" noProof="0" dirty="0">
                <a:effectLst/>
              </a:rPr>
              <a:t> </a:t>
            </a:r>
            <a:r>
              <a:rPr lang="pt-BR" b="1" noProof="0" dirty="0">
                <a:solidFill>
                  <a:srgbClr val="00B050"/>
                </a:solidFill>
              </a:rPr>
              <a:t>pode</a:t>
            </a:r>
            <a:r>
              <a:rPr lang="pt-BR" b="0" noProof="0" dirty="0">
                <a:effectLst/>
              </a:rPr>
              <a:t> </a:t>
            </a:r>
            <a:r>
              <a:rPr lang="pt-BR" b="1" noProof="0" dirty="0">
                <a:solidFill>
                  <a:srgbClr val="00B050"/>
                </a:solidFill>
                <a:effectLst/>
              </a:rPr>
              <a:t>reduzir o risco de sobreajuste</a:t>
            </a:r>
            <a:r>
              <a:rPr lang="pt-BR" b="0" noProof="0" dirty="0">
                <a:effectLst/>
              </a:rPr>
              <a:t>, pois o novo modelo </a:t>
            </a:r>
            <a:r>
              <a:rPr lang="pt-BR" b="1" noProof="0" dirty="0">
                <a:solidFill>
                  <a:srgbClr val="7030A0"/>
                </a:solidFill>
                <a:effectLst/>
              </a:rPr>
              <a:t>já começa com características relevantes</a:t>
            </a:r>
            <a:r>
              <a:rPr lang="pt-BR" b="0" noProof="0" dirty="0">
                <a:effectLst/>
              </a:rPr>
              <a:t>, </a:t>
            </a:r>
            <a:r>
              <a:rPr lang="pt-BR" noProof="0" dirty="0"/>
              <a:t>em vez de pesos aleatórios.</a:t>
            </a:r>
            <a:endParaRPr lang="pt-BR" b="0" noProof="0" dirty="0">
              <a:effectLst/>
            </a:endParaRPr>
          </a:p>
          <a:p>
            <a:r>
              <a:rPr lang="pt-BR" b="0" noProof="0" dirty="0">
                <a:effectLst/>
              </a:rPr>
              <a:t>Como o </a:t>
            </a:r>
            <a:r>
              <a:rPr lang="pt-BR" b="1" noProof="0" dirty="0">
                <a:solidFill>
                  <a:srgbClr val="00B050"/>
                </a:solidFill>
                <a:effectLst/>
              </a:rPr>
              <a:t>modelo </a:t>
            </a:r>
            <a:r>
              <a:rPr lang="pt-BR" b="1" noProof="0" dirty="0" err="1">
                <a:solidFill>
                  <a:srgbClr val="00B050"/>
                </a:solidFill>
                <a:effectLst/>
              </a:rPr>
              <a:t>pré</a:t>
            </a:r>
            <a:r>
              <a:rPr lang="pt-BR" b="1" noProof="0" dirty="0">
                <a:solidFill>
                  <a:srgbClr val="00B050"/>
                </a:solidFill>
                <a:effectLst/>
              </a:rPr>
              <a:t>-treinado já adquiriu um bom entendimento de </a:t>
            </a:r>
            <a:r>
              <a:rPr lang="pt-BR" b="1" noProof="0" dirty="0">
                <a:solidFill>
                  <a:schemeClr val="accent2"/>
                </a:solidFill>
                <a:effectLst/>
              </a:rPr>
              <a:t>características genéricas </a:t>
            </a:r>
            <a:r>
              <a:rPr lang="pt-BR" b="0" noProof="0" dirty="0">
                <a:effectLst/>
              </a:rPr>
              <a:t>em uma tarefa relacionada, o </a:t>
            </a:r>
            <a:r>
              <a:rPr lang="pt-BR" b="1" noProof="0" dirty="0">
                <a:solidFill>
                  <a:srgbClr val="7030A0"/>
                </a:solidFill>
                <a:effectLst/>
              </a:rPr>
              <a:t>treinamento do novo modelo pode exigir menos dados </a:t>
            </a:r>
            <a:r>
              <a:rPr lang="pt-BR" b="0" noProof="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364864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584371" y="1825624"/>
            <a:ext cx="6607630" cy="5032375"/>
          </a:xfrm>
        </p:spPr>
        <p:txBody>
          <a:bodyPr>
            <a:normAutofit/>
          </a:bodyPr>
          <a:lstStyle/>
          <a:p>
            <a:r>
              <a:rPr lang="pt-BR" b="0" noProof="0">
                <a:effectLst/>
              </a:rPr>
              <a:t>O </a:t>
            </a:r>
            <a:r>
              <a:rPr lang="pt-BR" b="0" i="1" noProof="0" dirty="0" err="1">
                <a:effectLst/>
              </a:rPr>
              <a:t>transfer</a:t>
            </a:r>
            <a:r>
              <a:rPr lang="pt-BR" b="0" i="1" noProof="0" dirty="0">
                <a:effectLst/>
              </a:rPr>
              <a:t> learning</a:t>
            </a:r>
            <a:r>
              <a:rPr lang="pt-BR" b="0" noProof="0" dirty="0">
                <a:effectLst/>
              </a:rPr>
              <a:t> é particularmente </a:t>
            </a:r>
            <a:r>
              <a:rPr lang="pt-BR" b="1" noProof="0" dirty="0">
                <a:solidFill>
                  <a:srgbClr val="00B050"/>
                </a:solidFill>
                <a:effectLst/>
              </a:rPr>
              <a:t>útil</a:t>
            </a:r>
            <a:r>
              <a:rPr lang="pt-BR" b="0" noProof="0" dirty="0">
                <a:effectLst/>
              </a:rPr>
              <a:t> </a:t>
            </a:r>
            <a:r>
              <a:rPr lang="pt-BR" b="1" noProof="0" dirty="0">
                <a:solidFill>
                  <a:srgbClr val="00B050"/>
                </a:solidFill>
                <a:effectLst/>
              </a:rPr>
              <a:t>quando os dados de treinamento são escassos</a:t>
            </a:r>
            <a:r>
              <a:rPr lang="pt-BR" b="0" noProof="0" dirty="0">
                <a:effectLst/>
              </a:rPr>
              <a:t>, o que é uma situação </a:t>
            </a:r>
            <a:r>
              <a:rPr lang="pt-BR" b="1" noProof="0" dirty="0">
                <a:solidFill>
                  <a:srgbClr val="7030A0"/>
                </a:solidFill>
                <a:effectLst/>
              </a:rPr>
              <a:t>propensa ao sobreajuste</a:t>
            </a:r>
            <a:r>
              <a:rPr lang="pt-BR" b="0" noProof="0" dirty="0">
                <a:effectLst/>
              </a:rPr>
              <a:t>.</a:t>
            </a:r>
          </a:p>
          <a:p>
            <a:pPr lvl="0"/>
            <a:r>
              <a:rPr lang="pt-BR" noProof="0" dirty="0"/>
              <a:t>Por partir de pesos já treinados e exigir menos dados, o </a:t>
            </a:r>
            <a:r>
              <a:rPr lang="pt-BR" i="1" noProof="0" dirty="0" err="1"/>
              <a:t>transfer</a:t>
            </a:r>
            <a:r>
              <a:rPr lang="pt-BR" i="1" noProof="0" dirty="0"/>
              <a:t> learning</a:t>
            </a:r>
            <a:r>
              <a:rPr lang="pt-BR" noProof="0" dirty="0"/>
              <a:t>: </a:t>
            </a:r>
          </a:p>
          <a:p>
            <a:pPr lvl="1">
              <a:buFont typeface="Wingdings" panose="05000000000000000000" pitchFamily="2" charset="2"/>
              <a:buChar char="§"/>
            </a:pPr>
            <a:r>
              <a:rPr lang="pt-BR" noProof="0" dirty="0"/>
              <a:t>acelera a convergência do treinamento;</a:t>
            </a:r>
          </a:p>
          <a:p>
            <a:pPr lvl="1">
              <a:buFont typeface="Wingdings" panose="05000000000000000000" pitchFamily="2" charset="2"/>
              <a:buChar char="§"/>
            </a:pPr>
            <a:r>
              <a:rPr lang="pt-BR" noProof="0" dirty="0"/>
              <a:t>requer menor poder computacional (o custo do pré-treinamento já foi pago por quem treinou o modelo original).</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204654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08FB5-7BED-346C-BD88-372BC2770D66}"/>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1BC99157-AC74-7E1D-40F4-AAFD44CD362B}"/>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Exemplo de classificação de imagens </a:t>
            </a:r>
            <a:endParaRPr lang="pt-BR" sz="6600" b="1" i="1" dirty="0"/>
          </a:p>
        </p:txBody>
      </p:sp>
    </p:spTree>
    <p:extLst>
      <p:ext uri="{BB962C8B-B14F-4D97-AF65-F5344CB8AC3E}">
        <p14:creationId xmlns:p14="http://schemas.microsoft.com/office/powerpoint/2010/main" val="36618746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CNNs</a:t>
            </a:r>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Agrupar 5">
            <a:extLst>
              <a:ext uri="{FF2B5EF4-FFF2-40B4-BE49-F238E27FC236}">
                <a16:creationId xmlns:a16="http://schemas.microsoft.com/office/drawing/2014/main" id="{C886FB6C-EFE8-F6D5-ABB3-B44646B43845}"/>
              </a:ext>
            </a:extLst>
          </p:cNvPr>
          <p:cNvGrpSpPr/>
          <p:nvPr/>
        </p:nvGrpSpPr>
        <p:grpSpPr>
          <a:xfrm>
            <a:off x="563296" y="1207075"/>
            <a:ext cx="11065407" cy="4850739"/>
            <a:chOff x="366486" y="1370361"/>
            <a:chExt cx="11065407" cy="4850739"/>
          </a:xfrm>
        </p:grpSpPr>
        <p:grpSp>
          <p:nvGrpSpPr>
            <p:cNvPr id="3" name="Agrupar 2">
              <a:extLst>
                <a:ext uri="{FF2B5EF4-FFF2-40B4-BE49-F238E27FC236}">
                  <a16:creationId xmlns:a16="http://schemas.microsoft.com/office/drawing/2014/main" id="{B2828980-D45F-ABA3-75BE-F733F73073EB}"/>
                </a:ext>
              </a:extLst>
            </p:cNvPr>
            <p:cNvGrpSpPr/>
            <p:nvPr/>
          </p:nvGrpSpPr>
          <p:grpSpPr>
            <a:xfrm>
              <a:off x="366486" y="1370361"/>
              <a:ext cx="11065407" cy="4850739"/>
              <a:chOff x="366486" y="1370361"/>
              <a:chExt cx="11065407"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1826434" y="2897493"/>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1826434" y="369090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184782" y="369090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468086" y="369090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2505608" y="448431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468086" y="448431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1826434" y="527772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184782" y="527772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468086" y="527772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702086" y="3365493"/>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060434" y="3365493"/>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060434" y="3365493"/>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5804892" y="2897493"/>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5804892" y="369090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6484066" y="369090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125718" y="369090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5804892" y="448431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6484066" y="448431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125718" y="448431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6484066" y="527772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125718" y="527772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446544" y="527772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359718" y="3365493"/>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038892" y="3365493"/>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038892" y="3365493"/>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484628" y="2897493"/>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163802" y="369090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805454" y="369090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842976" y="448431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126280" y="448431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163802" y="527772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842976" y="527772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805454" y="527772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039454" y="3365493"/>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718628" y="3365493"/>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360280" y="415890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360280" y="4158902"/>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397802" y="415890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039454" y="4158902"/>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360280" y="495231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039454" y="495231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360280" y="495231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360280" y="495231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397802" y="495231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076976" y="495231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6718066" y="415890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038892" y="415890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359718" y="415890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038892" y="415890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359718" y="415890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359718" y="415890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038892" y="415890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359718" y="415890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359718" y="415890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359718" y="495231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359718" y="495231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359718" y="495231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6718066" y="495231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038892" y="495231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359718" y="495231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4680544" y="495231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4680544" y="495231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4680544" y="495231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702086" y="415890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702086" y="415890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702086" y="4158902"/>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2739608" y="415890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060434" y="415890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702086" y="4158902"/>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702086" y="495231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702086" y="495231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702086" y="495231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060434" y="495231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2739608" y="495231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702086" y="495231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473479" y="1748553"/>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038892" y="2368214"/>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038892" y="2368214"/>
                <a:ext cx="3679736"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060434" y="2368214"/>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038892" y="1431471"/>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038892" y="1370361"/>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366486" y="2726871"/>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048829" y="2726871"/>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031010" y="2726871"/>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366487" y="5882546"/>
                <a:ext cx="3400882" cy="338554"/>
              </a:xfrm>
              <a:prstGeom prst="rect">
                <a:avLst/>
              </a:prstGeom>
              <a:noFill/>
            </p:spPr>
            <p:txBody>
              <a:bodyPr wrap="square" rtlCol="0">
                <a:spAutoFit/>
              </a:bodyPr>
              <a:lstStyle/>
              <a:p>
                <a:pPr algn="ctr"/>
                <a:r>
                  <a:rPr lang="pt-BR" sz="1600" dirty="0"/>
                  <a:t>Rede iteração 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066256" y="5882546"/>
                <a:ext cx="3400882" cy="338554"/>
              </a:xfrm>
              <a:prstGeom prst="rect">
                <a:avLst/>
              </a:prstGeom>
              <a:noFill/>
            </p:spPr>
            <p:txBody>
              <a:bodyPr wrap="square" rtlCol="0">
                <a:spAutoFit/>
              </a:bodyPr>
              <a:lstStyle/>
              <a:p>
                <a:pPr algn="ctr"/>
                <a:r>
                  <a:rPr lang="pt-BR" sz="1600" dirty="0"/>
                  <a:t>Rede iteração 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013584" y="5876471"/>
                <a:ext cx="3400882" cy="338554"/>
              </a:xfrm>
              <a:prstGeom prst="rect">
                <a:avLst/>
              </a:prstGeom>
              <a:noFill/>
            </p:spPr>
            <p:txBody>
              <a:bodyPr wrap="square" rtlCol="0">
                <a:spAutoFit/>
              </a:bodyPr>
              <a:lstStyle/>
              <a:p>
                <a:pPr algn="ctr"/>
                <a:r>
                  <a:rPr lang="pt-BR" sz="1600" dirty="0"/>
                  <a:t>Rede iteração de treinamento #N</a:t>
                </a:r>
              </a:p>
            </p:txBody>
          </p:sp>
        </p:grpSp>
        <mc:AlternateContent xmlns:mc="http://schemas.openxmlformats.org/markup-compatibility/2006">
          <mc:Choice xmlns:a14="http://schemas.microsoft.com/office/drawing/2010/main" Requires="a14">
            <p:sp>
              <p:nvSpPr>
                <p:cNvPr id="2" name="CaixaDeTexto 1">
                  <a:extLst>
                    <a:ext uri="{FF2B5EF4-FFF2-40B4-BE49-F238E27FC236}">
                      <a16:creationId xmlns:a16="http://schemas.microsoft.com/office/drawing/2014/main" id="{AEC3333C-B92D-6468-19F3-B6D8C8EE5696}"/>
                    </a:ext>
                  </a:extLst>
                </p:cNvPr>
                <p:cNvSpPr txBox="1"/>
                <p:nvPr/>
              </p:nvSpPr>
              <p:spPr>
                <a:xfrm>
                  <a:off x="7485592" y="4136940"/>
                  <a:ext cx="434734" cy="369332"/>
                </a:xfrm>
                <a:prstGeom prst="rect">
                  <a:avLst/>
                </a:prstGeom>
                <a:noFill/>
              </p:spPr>
              <p:txBody>
                <a:bodyPr wrap="none" rtlCol="0">
                  <a:spAutoFit/>
                </a:bodyPr>
                <a:lstStyle/>
                <a:p>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p:sp>
              <p:nvSpPr>
                <p:cNvPr id="2" name="CaixaDeTexto 1">
                  <a:extLst>
                    <a:ext uri="{FF2B5EF4-FFF2-40B4-BE49-F238E27FC236}">
                      <a16:creationId xmlns:a16="http://schemas.microsoft.com/office/drawing/2014/main" id="{AEC3333C-B92D-6468-19F3-B6D8C8EE5696}"/>
                    </a:ext>
                  </a:extLst>
                </p:cNvPr>
                <p:cNvSpPr txBox="1">
                  <a:spLocks noRot="1" noChangeAspect="1" noMove="1" noResize="1" noEditPoints="1" noAdjustHandles="1" noChangeArrowheads="1" noChangeShapeType="1" noTextEdit="1"/>
                </p:cNvSpPr>
                <p:nvPr/>
              </p:nvSpPr>
              <p:spPr>
                <a:xfrm>
                  <a:off x="7485592" y="4136940"/>
                  <a:ext cx="434734" cy="369332"/>
                </a:xfrm>
                <a:prstGeom prst="rect">
                  <a:avLst/>
                </a:prstGeom>
                <a:blipFill>
                  <a:blip r:embed="rId2"/>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17782</TotalTime>
  <Words>11063</Words>
  <Application>Microsoft Office PowerPoint</Application>
  <PresentationFormat>Widescreen</PresentationFormat>
  <Paragraphs>1663</Paragraphs>
  <Slides>105</Slides>
  <Notes>53</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105</vt:i4>
      </vt:variant>
    </vt:vector>
  </HeadingPairs>
  <TitlesOfParts>
    <vt:vector size="118"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espacial</vt:lpstr>
      <vt:lpstr>Localidade espacial</vt:lpstr>
      <vt:lpstr>Localidade espacial</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Apresentação do PowerPoint</vt:lpstr>
      <vt:lpstr>Imagens</vt:lpstr>
      <vt:lpstr>Camada de convolução</vt:lpstr>
      <vt:lpstr>Camada de convolução</vt:lpstr>
      <vt:lpstr>Filtros de convolução ou kernels</vt:lpstr>
      <vt:lpstr>Neurônios do córtex visual</vt:lpstr>
      <vt:lpstr>Neurônios do córtex visual</vt:lpstr>
      <vt:lpstr>Filtros de convolução ou kernels</vt:lpstr>
      <vt:lpstr>Filtros de convolução ou kernels</vt:lpstr>
      <vt:lpstr>Operação de convolução com kernel 2D</vt:lpstr>
      <vt:lpstr>Operação de convolução com kernel 2D</vt:lpstr>
      <vt:lpstr>Operação de convolução com kernel 2D</vt:lpstr>
      <vt:lpstr>Operação de convolução com kernel 2D</vt:lpstr>
      <vt:lpstr>Operação de convolução com kernel 2D</vt:lpstr>
      <vt:lpstr>Mapa de características</vt:lpstr>
      <vt:lpstr>Stride</vt:lpstr>
      <vt:lpstr>Stride</vt:lpstr>
      <vt:lpstr>Apresentação do PowerPoint</vt:lpstr>
      <vt:lpstr>Filtros detectam padrões</vt:lpstr>
      <vt:lpstr>Aplicando kernels a imagens</vt:lpstr>
      <vt:lpstr>Aplicando kernels a imagens</vt:lpstr>
      <vt:lpstr>Operação de convolução com kernel 3D</vt:lpstr>
      <vt:lpstr>Operação de convolução com kernel 3D</vt:lpstr>
      <vt:lpstr>Operação de convolução com kernel 3D</vt:lpstr>
      <vt:lpstr>Operação de convolução com kernel 3D</vt:lpstr>
      <vt:lpstr>Kernels diferentes para características diferentes</vt:lpstr>
      <vt:lpstr>Função de ativação</vt:lpstr>
      <vt:lpstr>Camada de Pooling (ou subamostragem)</vt:lpstr>
      <vt:lpstr>Camada de Pooling (ou subamostragem)</vt:lpstr>
      <vt:lpstr>Camada de Pooling (ou subamostragem)</vt:lpstr>
      <vt:lpstr>Max pooling</vt:lpstr>
      <vt:lpstr>Max pooling</vt:lpstr>
      <vt:lpstr>Bloco de convolução</vt:lpstr>
      <vt:lpstr>O neurônio de uma CNN</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Apresentação do PowerPoint</vt:lpstr>
      <vt:lpstr>Como evitar o sobreajuste</vt:lpstr>
      <vt:lpstr>Dropout</vt:lpstr>
      <vt:lpstr>Dropout</vt:lpstr>
      <vt:lpstr>Dropout</vt:lpstr>
      <vt:lpstr>Dropout</vt:lpstr>
      <vt:lpstr>Data augmentation</vt:lpstr>
      <vt:lpstr>Data augmentation</vt:lpstr>
      <vt:lpstr>Data augmentation</vt:lpstr>
      <vt:lpstr>Exemplo</vt:lpstr>
      <vt:lpstr>Lista de exercícios</vt:lpstr>
      <vt:lpstr>Apresentação do PowerPoint</vt:lpstr>
      <vt:lpstr>Apresentação do PowerPoint</vt:lpstr>
      <vt:lpstr>Apresentação do PowerPoint</vt:lpstr>
      <vt:lpstr>Transfer learning</vt:lpstr>
      <vt:lpstr>Transfer learning</vt:lpstr>
      <vt:lpstr>Transfer learning</vt:lpstr>
      <vt:lpstr>Transfer learning</vt:lpstr>
      <vt:lpstr>Transfer learning</vt:lpstr>
      <vt:lpstr>Transfer learning</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3071</cp:revision>
  <dcterms:created xsi:type="dcterms:W3CDTF">2020-01-20T13:50:05Z</dcterms:created>
  <dcterms:modified xsi:type="dcterms:W3CDTF">2026-10-15T20:28:30Z</dcterms:modified>
</cp:coreProperties>
</file>