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handoutMasterIdLst>
    <p:handoutMasterId r:id="rId106"/>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488" r:id="rId40"/>
    <p:sldId id="464" r:id="rId41"/>
    <p:sldId id="465" r:id="rId42"/>
    <p:sldId id="437" r:id="rId43"/>
    <p:sldId id="445" r:id="rId44"/>
    <p:sldId id="449" r:id="rId45"/>
    <p:sldId id="450" r:id="rId46"/>
    <p:sldId id="452" r:id="rId47"/>
    <p:sldId id="511" r:id="rId48"/>
    <p:sldId id="455" r:id="rId49"/>
    <p:sldId id="533" r:id="rId50"/>
    <p:sldId id="591" r:id="rId51"/>
    <p:sldId id="460" r:id="rId52"/>
    <p:sldId id="467" r:id="rId53"/>
    <p:sldId id="530" r:id="rId54"/>
    <p:sldId id="531" r:id="rId55"/>
    <p:sldId id="461" r:id="rId56"/>
    <p:sldId id="493" r:id="rId57"/>
    <p:sldId id="462" r:id="rId58"/>
    <p:sldId id="592" r:id="rId59"/>
    <p:sldId id="466" r:id="rId60"/>
    <p:sldId id="512" r:id="rId61"/>
    <p:sldId id="538" r:id="rId62"/>
    <p:sldId id="539" r:id="rId63"/>
    <p:sldId id="536" r:id="rId64"/>
    <p:sldId id="558" r:id="rId65"/>
    <p:sldId id="541" r:id="rId66"/>
    <p:sldId id="440" r:id="rId67"/>
    <p:sldId id="542" r:id="rId68"/>
    <p:sldId id="554" r:id="rId69"/>
    <p:sldId id="543" r:id="rId70"/>
    <p:sldId id="544" r:id="rId71"/>
    <p:sldId id="545" r:id="rId72"/>
    <p:sldId id="593" r:id="rId73"/>
    <p:sldId id="547" r:id="rId74"/>
    <p:sldId id="548" r:id="rId75"/>
    <p:sldId id="549" r:id="rId76"/>
    <p:sldId id="550" r:id="rId77"/>
    <p:sldId id="551" r:id="rId78"/>
    <p:sldId id="552" r:id="rId79"/>
    <p:sldId id="588" r:id="rId80"/>
    <p:sldId id="589" r:id="rId81"/>
    <p:sldId id="293" r:id="rId82"/>
    <p:sldId id="306" r:id="rId83"/>
    <p:sldId id="491" r:id="rId84"/>
    <p:sldId id="441" r:id="rId85"/>
    <p:sldId id="469" r:id="rId86"/>
    <p:sldId id="470" r:id="rId87"/>
    <p:sldId id="471" r:id="rId88"/>
    <p:sldId id="472" r:id="rId89"/>
    <p:sldId id="475" r:id="rId90"/>
    <p:sldId id="474" r:id="rId91"/>
    <p:sldId id="540" r:id="rId92"/>
    <p:sldId id="478" r:id="rId93"/>
    <p:sldId id="477" r:id="rId94"/>
    <p:sldId id="490" r:id="rId95"/>
    <p:sldId id="438" r:id="rId96"/>
    <p:sldId id="443" r:id="rId97"/>
    <p:sldId id="446" r:id="rId98"/>
    <p:sldId id="447" r:id="rId99"/>
    <p:sldId id="448" r:id="rId100"/>
    <p:sldId id="458" r:id="rId101"/>
    <p:sldId id="459" r:id="rId102"/>
    <p:sldId id="479" r:id="rId103"/>
    <p:sldId id="556" r:id="rId10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5817" autoAdjust="0"/>
  </p:normalViewPr>
  <p:slideViewPr>
    <p:cSldViewPr snapToGrid="0">
      <p:cViewPr varScale="1">
        <p:scale>
          <a:sx n="95" d="100"/>
          <a:sy n="95" d="100"/>
        </p:scale>
        <p:origin x="15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4/05/2026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04/05/2026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80.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9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100.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1.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solidFill>
                  <a:schemeClr val="accent2"/>
                </a:solidFill>
              </a:rPr>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8" y="1825624"/>
            <a:ext cx="6514681"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dirty="0">
                <a:effectLst/>
              </a:rPr>
              <a:t>,</a:t>
            </a:r>
            <a:r>
              <a:rPr lang="pt-BR" b="1" dirty="0">
                <a:solidFill>
                  <a:srgbClr val="7030A0"/>
                </a:solidFill>
                <a:effectLst/>
              </a:rPr>
              <a:t> mas sem presumir uma estrutura espacial </a:t>
            </a:r>
            <a:r>
              <a:rPr lang="pt-BR" b="0" dirty="0">
                <a:effectLst/>
              </a:rPr>
              <a:t>entre eles.</a:t>
            </a:r>
          </a:p>
          <a:p>
            <a:r>
              <a:rPr lang="pt-BR" dirty="0"/>
              <a:t>Elas </a:t>
            </a:r>
            <a:r>
              <a:rPr lang="pt-BR" b="1" dirty="0">
                <a:solidFill>
                  <a:schemeClr val="accent2"/>
                </a:solidFill>
              </a:rPr>
              <a:t>não consideram a estrutura espacial </a:t>
            </a:r>
            <a:r>
              <a:rPr lang="pt-BR" b="1" dirty="0">
                <a:solidFill>
                  <a:srgbClr val="7030A0"/>
                </a:solidFill>
              </a:rPr>
              <a:t>dos dados</a:t>
            </a:r>
            <a:r>
              <a:rPr lang="pt-BR" dirty="0"/>
              <a:t>.</a:t>
            </a:r>
          </a:p>
          <a:p>
            <a:pPr lvl="1">
              <a:buFont typeface="Wingdings" panose="05000000000000000000" pitchFamily="2" charset="2"/>
              <a:buChar char="§"/>
            </a:pPr>
            <a:r>
              <a:rPr lang="pt-BR" dirty="0"/>
              <a:t>Ou seja, a </a:t>
            </a:r>
            <a:r>
              <a:rPr lang="pt-BR" b="1" dirty="0">
                <a:solidFill>
                  <a:srgbClr val="0070C0"/>
                </a:solidFill>
              </a:rPr>
              <a:t>posição espacial não influencia no resultado</a:t>
            </a:r>
            <a:r>
              <a:rPr lang="pt-BR" dirty="0"/>
              <a:t>.</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03925" y="1690688"/>
            <a:ext cx="5988075"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a:t>
            </a:r>
            <a:r>
              <a:rPr lang="pt-BR" b="1" dirty="0">
                <a:solidFill>
                  <a:schemeClr val="accent2"/>
                </a:solidFill>
              </a:rPr>
              <a:t>padrões globais</a:t>
            </a:r>
            <a:r>
              <a:rPr lang="pt-BR" dirty="0"/>
              <a:t>.</a:t>
            </a:r>
          </a:p>
          <a:p>
            <a:r>
              <a:rPr lang="pt-BR" dirty="0"/>
              <a:t>Elas </a:t>
            </a:r>
            <a:r>
              <a:rPr lang="pt-BR" b="1" dirty="0">
                <a:solidFill>
                  <a:srgbClr val="FF0000"/>
                </a:solidFill>
              </a:rPr>
              <a:t>ignoram</a:t>
            </a:r>
            <a:r>
              <a:rPr lang="pt-BR" b="1" dirty="0">
                <a:solidFill>
                  <a:srgbClr val="00B050"/>
                </a:solidFill>
              </a:rPr>
              <a:t> </a:t>
            </a:r>
            <a:r>
              <a:rPr lang="pt-BR" dirty="0"/>
              <a:t>a</a:t>
            </a:r>
            <a:r>
              <a:rPr lang="pt-BR" b="1" dirty="0">
                <a:solidFill>
                  <a:srgbClr val="00B050"/>
                </a:solidFill>
              </a:rPr>
              <a:t> </a:t>
            </a:r>
            <a:r>
              <a:rPr lang="pt-BR" b="1" dirty="0">
                <a:solidFill>
                  <a:srgbClr val="7030A0"/>
                </a:solidFill>
              </a:rPr>
              <a:t>localidade espacial</a:t>
            </a:r>
            <a:r>
              <a:rPr lang="pt-BR" b="1" dirty="0">
                <a:solidFill>
                  <a:srgbClr val="00B050"/>
                </a:solidFill>
              </a:rPr>
              <a:t> </a:t>
            </a:r>
            <a:r>
              <a:rPr lang="pt-BR" dirty="0"/>
              <a:t>em dados com topologia de grade (e.g., imagens).</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a:p>
            <a:r>
              <a:rPr lang="pt-BR" dirty="0"/>
              <a:t>São ineficientes computacionalmente e semanticamente (significado de cada região).</a:t>
            </a:r>
            <a:endParaRPr lang="pt-BR" b="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584775"/>
          </a:xfrm>
          <a:prstGeom prst="rect">
            <a:avLst/>
          </a:prstGeom>
          <a:noFill/>
        </p:spPr>
        <p:txBody>
          <a:bodyPr wrap="square">
            <a:spAutoFit/>
          </a:bodyPr>
          <a:lstStyle/>
          <a:p>
            <a:pPr algn="ctr"/>
            <a:r>
              <a:rPr lang="pt-BR" sz="1600" dirty="0"/>
              <a:t>CNN: neurônios recebem apenas uma parte dos </a:t>
            </a:r>
            <a:r>
              <a:rPr lang="pt-BR" sz="1600" i="1" dirty="0"/>
              <a:t>pixels</a:t>
            </a:r>
            <a:r>
              <a:rPr lang="pt-BR" sz="1600" dirty="0"/>
              <a:t>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dirty="0"/>
              <a:t>Em uma imagem, </a:t>
            </a:r>
            <a:r>
              <a:rPr lang="pt-BR" i="1" dirty="0"/>
              <a:t>pixels</a:t>
            </a:r>
            <a:r>
              <a:rPr lang="pt-BR" dirty="0"/>
              <a:t> </a:t>
            </a:r>
            <a:r>
              <a:rPr lang="pt-BR" b="1" dirty="0">
                <a:solidFill>
                  <a:schemeClr val="accent5"/>
                </a:solidFill>
              </a:rPr>
              <a:t>vizinhos</a:t>
            </a:r>
            <a:r>
              <a:rPr lang="pt-BR" dirty="0"/>
              <a:t> tendem a conter informações </a:t>
            </a:r>
            <a:r>
              <a:rPr lang="pt-BR" b="1" dirty="0">
                <a:solidFill>
                  <a:schemeClr val="accent5"/>
                </a:solidFill>
              </a:rPr>
              <a:t>relacionadas</a:t>
            </a:r>
            <a:r>
              <a:rPr lang="pt-BR" dirty="0"/>
              <a:t>.</a:t>
            </a:r>
          </a:p>
          <a:p>
            <a:pPr lvl="1">
              <a:buFont typeface="Wingdings" panose="05000000000000000000" pitchFamily="2" charset="2"/>
              <a:buChar char="§"/>
            </a:pPr>
            <a:r>
              <a:rPr lang="en-US" dirty="0" err="1"/>
              <a:t>Existem</a:t>
            </a:r>
            <a:r>
              <a:rPr lang="en-US" dirty="0"/>
              <a:t> </a:t>
            </a:r>
            <a:r>
              <a:rPr lang="en-US" b="1" dirty="0" err="1">
                <a:solidFill>
                  <a:schemeClr val="accent2"/>
                </a:solidFill>
              </a:rPr>
              <a:t>correlações</a:t>
            </a:r>
            <a:r>
              <a:rPr lang="en-US" b="1" dirty="0">
                <a:solidFill>
                  <a:schemeClr val="accent2"/>
                </a:solidFill>
              </a:rPr>
              <a:t> </a:t>
            </a:r>
            <a:r>
              <a:rPr lang="en-US" b="1" dirty="0" err="1">
                <a:solidFill>
                  <a:schemeClr val="accent2"/>
                </a:solidFill>
              </a:rPr>
              <a:t>locais</a:t>
            </a:r>
            <a:r>
              <a:rPr lang="en-US" b="1" dirty="0">
                <a:solidFill>
                  <a:schemeClr val="accent2"/>
                </a:solidFill>
              </a:rPr>
              <a:t> </a:t>
            </a:r>
            <a:r>
              <a:rPr lang="en-US" dirty="0"/>
              <a:t>entre </a:t>
            </a:r>
            <a:r>
              <a:rPr lang="en-US" i="1" dirty="0"/>
              <a:t>pixels </a:t>
            </a:r>
            <a:r>
              <a:rPr lang="en-US" dirty="0"/>
              <a:t>dos </a:t>
            </a:r>
            <a:r>
              <a:rPr lang="en-US" dirty="0" err="1"/>
              <a:t>olhos</a:t>
            </a:r>
            <a:r>
              <a:rPr lang="en-US" dirty="0"/>
              <a:t>, </a:t>
            </a:r>
            <a:r>
              <a:rPr lang="en-US" dirty="0" err="1"/>
              <a:t>nariz</a:t>
            </a:r>
            <a:r>
              <a:rPr lang="en-US" dirty="0"/>
              <a:t>, boca do gato, </a:t>
            </a:r>
            <a:r>
              <a:rPr lang="en-US" dirty="0" err="1"/>
              <a:t>por</a:t>
            </a:r>
            <a:r>
              <a:rPr lang="en-US" dirty="0"/>
              <a:t> </a:t>
            </a:r>
            <a:r>
              <a:rPr lang="en-US" dirty="0" err="1"/>
              <a:t>exemplo</a:t>
            </a:r>
            <a:r>
              <a:rPr lang="en-US" dirty="0"/>
              <a:t>.</a:t>
            </a:r>
          </a:p>
          <a:p>
            <a:pPr marL="0" indent="0">
              <a:buNone/>
            </a:pPr>
            <a:endParaRPr lang="pt-BR"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importantes como </a:t>
            </a:r>
            <a:r>
              <a:rPr lang="pt-BR" b="1" dirty="0">
                <a:solidFill>
                  <a:schemeClr val="accent2"/>
                </a:solidFill>
              </a:rPr>
              <a:t>bordas, contornos, formas e texturas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 (estruturas)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983420" y="1690688"/>
            <a:ext cx="6124844"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a:t>
            </a:r>
            <a:r>
              <a:rPr lang="pt-BR" b="1" dirty="0">
                <a:solidFill>
                  <a:schemeClr val="accent2"/>
                </a:solidFill>
              </a:rPr>
              <a:t>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a:t>
            </a:r>
            <a:r>
              <a:rPr lang="pt-BR" b="1" dirty="0">
                <a:solidFill>
                  <a:schemeClr val="accent2"/>
                </a:solidFill>
              </a:rPr>
              <a:t>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4" name="Group 3">
            <a:extLst>
              <a:ext uri="{FF2B5EF4-FFF2-40B4-BE49-F238E27FC236}">
                <a16:creationId xmlns:a16="http://schemas.microsoft.com/office/drawing/2014/main" id="{D5E5F40D-51E8-3014-9EC4-9F68A8D8BD84}"/>
              </a:ext>
            </a:extLst>
          </p:cNvPr>
          <p:cNvGrpSpPr/>
          <p:nvPr/>
        </p:nvGrpSpPr>
        <p:grpSpPr>
          <a:xfrm>
            <a:off x="3060842" y="2133029"/>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58AFD030-5968-E8A1-3E81-3D7B16105BD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7" name="Retângulo 16">
              <a:extLst>
                <a:ext uri="{FF2B5EF4-FFF2-40B4-BE49-F238E27FC236}">
                  <a16:creationId xmlns:a16="http://schemas.microsoft.com/office/drawing/2014/main" id="{B15BAFE9-F471-253B-09B8-CE36202ED4E7}"/>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CA29319-D26D-269F-5C30-F578039395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6DD679FD-30B1-5436-B5AE-33CD4A998DCE}"/>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BB47D621-1FAD-80E5-242A-6D983469A976}"/>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C832C39F-0B50-9943-5322-0D0EEA9FFBC9}"/>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9A5C516-E131-BE6A-1390-B87D679AB43D}"/>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F50C12DE-415F-75BC-E2B0-2C57E84417F5}"/>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931E193F-817D-D065-170D-365B02E98D9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041FE2D5-92C6-007F-7DEA-15D396A80542}"/>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26" name="Group 4">
            <a:extLst>
              <a:ext uri="{FF2B5EF4-FFF2-40B4-BE49-F238E27FC236}">
                <a16:creationId xmlns:a16="http://schemas.microsoft.com/office/drawing/2014/main" id="{6472B185-0700-60A5-4F15-EEFDA934E737}"/>
              </a:ext>
            </a:extLst>
          </p:cNvPr>
          <p:cNvGrpSpPr/>
          <p:nvPr/>
        </p:nvGrpSpPr>
        <p:grpSpPr>
          <a:xfrm>
            <a:off x="160539" y="2133029"/>
            <a:ext cx="2686050" cy="3504075"/>
            <a:chOff x="1407560" y="2002399"/>
            <a:chExt cx="2686050" cy="3504075"/>
          </a:xfrm>
        </p:grpSpPr>
        <p:pic>
          <p:nvPicPr>
            <p:cNvPr id="27" name="Picture 8" descr="Cat Sounds:Amazon.com.br:Appstore for Android">
              <a:extLst>
                <a:ext uri="{FF2B5EF4-FFF2-40B4-BE49-F238E27FC236}">
                  <a16:creationId xmlns:a16="http://schemas.microsoft.com/office/drawing/2014/main" id="{4CD00A1D-4ED1-2AAB-BFFF-37E35567C84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28" name="Retângulo 5">
              <a:extLst>
                <a:ext uri="{FF2B5EF4-FFF2-40B4-BE49-F238E27FC236}">
                  <a16:creationId xmlns:a16="http://schemas.microsoft.com/office/drawing/2014/main" id="{CB4C84A5-115C-5F5B-B9F5-EB0EB4E299C9}"/>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96000" cy="5032375"/>
          </a:xfrm>
        </p:spPr>
        <p:txBody>
          <a:bodyPr>
            <a:normAutofit/>
          </a:bodyPr>
          <a:lstStyle/>
          <a:p>
            <a:r>
              <a:rPr lang="pt-BR" dirty="0"/>
              <a:t>Redes totalmente conectadas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da próxima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a:t>
            </a:r>
            <a:r>
              <a:rPr lang="pt-BR" b="1" dirty="0">
                <a:solidFill>
                  <a:schemeClr val="accent2"/>
                </a:solidFill>
              </a:rPr>
              <a:t>desconsiderarem a estrutura espacial</a:t>
            </a:r>
            <a:r>
              <a:rPr lang="pt-BR" dirty="0"/>
              <a:t> dos </a:t>
            </a:r>
            <a:r>
              <a:rPr lang="pt-BR" i="1" dirty="0"/>
              <a:t>pixels</a:t>
            </a:r>
            <a:r>
              <a:rPr lang="pt-BR" dirty="0"/>
              <a:t>, seriam necessárias </a:t>
            </a:r>
            <a:r>
              <a:rPr lang="pt-BR" b="1" dirty="0">
                <a:solidFill>
                  <a:schemeClr val="accent2"/>
                </a:solidFill>
              </a:rPr>
              <a:t>redes e </a:t>
            </a:r>
            <a:r>
              <a:rPr lang="pt-BR" b="1" i="1" dirty="0" err="1">
                <a:solidFill>
                  <a:schemeClr val="accent2"/>
                </a:solidFill>
              </a:rPr>
              <a:t>datasets</a:t>
            </a:r>
            <a:r>
              <a:rPr lang="pt-BR" b="1" dirty="0">
                <a:solidFill>
                  <a:schemeClr val="accent2"/>
                </a:solidFill>
              </a:rPr>
              <a:t> extremamente grandes</a:t>
            </a:r>
            <a:r>
              <a:rPr lang="pt-BR" dirty="0"/>
              <a:t> para funcionarem com </a:t>
            </a:r>
            <a:r>
              <a:rPr lang="pt-BR" b="1" dirty="0">
                <a:solidFill>
                  <a:srgbClr val="00B050"/>
                </a:solidFill>
              </a:rPr>
              <a:t>problemas de detecção e segmentação de objetos</a:t>
            </a:r>
            <a:r>
              <a:rPr lang="pt-BR" dirty="0"/>
              <a:t>, os quais se </a:t>
            </a:r>
            <a:r>
              <a:rPr lang="pt-BR" b="1" dirty="0">
                <a:solidFill>
                  <a:srgbClr val="0070C0"/>
                </a:solidFill>
              </a:rPr>
              <a:t>baseiam na localização dos </a:t>
            </a:r>
            <a:r>
              <a:rPr lang="pt-BR" b="1" i="1" dirty="0">
                <a:solidFill>
                  <a:srgbClr val="0070C0"/>
                </a:solidFill>
              </a:rPr>
              <a:t>pixels</a:t>
            </a:r>
            <a:r>
              <a:rPr lang="pt-BR" dirty="0"/>
              <a:t>.</a:t>
            </a:r>
            <a:endParaRPr lang="en-US" dirty="0"/>
          </a:p>
        </p:txBody>
      </p:sp>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e cantos formam contornos e texturas, que formam partes do objeto e que por sua vez formam o objeto completo.</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CNN</a:t>
            </a:r>
            <a:r>
              <a:rPr lang="pt-BR" sz="6000" dirty="0" err="1"/>
              <a:t>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 espacial</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a:t>
            </a:r>
            <a:r>
              <a:rPr lang="pt-BR" b="1" dirty="0">
                <a:solidFill>
                  <a:srgbClr val="00B050"/>
                </a:solidFill>
              </a:rPr>
              <a:t>conectar cada neurônio da CNN a todos os </a:t>
            </a:r>
            <a:r>
              <a:rPr lang="pt-BR" b="1" i="1" dirty="0">
                <a:solidFill>
                  <a:srgbClr val="00B050"/>
                </a:solidFill>
              </a:rPr>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a:t>
            </a:r>
            <a:r>
              <a:rPr lang="pt-BR" dirty="0"/>
              <a:t>.</a:t>
            </a:r>
          </a:p>
          <a:p>
            <a:r>
              <a:rPr lang="pt-BR" dirty="0"/>
              <a:t>O tamanho do campo receptivo é definido por uma matriz (2D ou 3D) chamada de </a:t>
            </a:r>
            <a:r>
              <a:rPr lang="pt-BR" b="1" dirty="0">
                <a:solidFill>
                  <a:srgbClr val="7030A0"/>
                </a:solidFill>
              </a:rPr>
              <a:t>filtro (de </a:t>
            </a:r>
            <a:r>
              <a:rPr lang="pt-BR" b="1" dirty="0" err="1">
                <a:solidFill>
                  <a:srgbClr val="7030A0"/>
                </a:solidFill>
              </a:rPr>
              <a:t>convolução</a:t>
            </a:r>
            <a:r>
              <a:rPr lang="pt-BR" b="1" dirty="0">
                <a:solidFill>
                  <a:srgbClr val="7030A0"/>
                </a:solidFill>
              </a:rPr>
              <a:t>)</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a:p>
            <a:pPr lvl="1">
              <a:buFont typeface="Wingdings" panose="05000000000000000000" pitchFamily="2" charset="2"/>
              <a:buChar char="§"/>
            </a:pPr>
            <a:r>
              <a:rPr lang="pt-BR" dirty="0"/>
              <a:t>cores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err="1">
                <a:solidFill>
                  <a:srgbClr val="00B050"/>
                </a:solidFill>
              </a:rPr>
              <a:t>CNNs</a:t>
            </a:r>
            <a:r>
              <a:rPr lang="pt-BR" b="1" dirty="0">
                <a:solidFill>
                  <a:srgbClr val="00B050"/>
                </a:solidFill>
              </a:rPr>
              <a:t>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Ou seja, um filtro que detecta bordas é o mesmo para todas as posições.</a:t>
            </a:r>
          </a:p>
          <a:p>
            <a:r>
              <a:rPr lang="pt-BR" dirty="0"/>
              <a:t>Isso traz duas </a:t>
            </a:r>
            <a:r>
              <a:rPr lang="pt-BR" b="1" dirty="0">
                <a:solidFill>
                  <a:srgbClr val="00B050"/>
                </a:solidFill>
              </a:rPr>
              <a:t>vantagens</a:t>
            </a:r>
            <a:r>
              <a:rPr lang="pt-BR" dirty="0"/>
              <a:t>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dirty="0"/>
              <a:t>Imagens possuem uma </a:t>
            </a:r>
            <a:r>
              <a:rPr lang="pt-BR" b="1" dirty="0">
                <a:solidFill>
                  <a:schemeClr val="accent2"/>
                </a:solidFill>
              </a:rPr>
              <a:t>estrutura</a:t>
            </a:r>
            <a:r>
              <a:rPr lang="pt-BR" dirty="0">
                <a:solidFill>
                  <a:schemeClr val="accent2"/>
                </a:solidFill>
              </a:rPr>
              <a:t> </a:t>
            </a:r>
            <a:r>
              <a:rPr lang="pt-BR" b="1" dirty="0">
                <a:solidFill>
                  <a:schemeClr val="accent2"/>
                </a:solidFill>
              </a:rPr>
              <a:t>hierárquica</a:t>
            </a:r>
            <a:r>
              <a:rPr lang="pt-BR" dirty="0"/>
              <a:t>.</a:t>
            </a:r>
          </a:p>
          <a:p>
            <a:r>
              <a:rPr lang="pt-BR" dirty="0"/>
              <a:t>Padrões simples formam padrões mais complexos:</a:t>
            </a:r>
          </a:p>
          <a:p>
            <a:pPr lvl="1">
              <a:buFont typeface="Wingdings" panose="05000000000000000000" pitchFamily="2" charset="2"/>
              <a:buChar char="§"/>
            </a:pPr>
            <a:r>
              <a:rPr lang="en-US" b="1" dirty="0"/>
              <a:t>Simples</a:t>
            </a:r>
            <a:r>
              <a:rPr lang="en-US" dirty="0"/>
              <a:t>: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b="1" dirty="0" err="1"/>
              <a:t>Intermediários</a:t>
            </a:r>
            <a:r>
              <a:rPr lang="en-US" dirty="0"/>
              <a:t>: </a:t>
            </a:r>
            <a:r>
              <a:rPr lang="pt-BR" dirty="0"/>
              <a:t>curva da orelha, forma triangular do nariz</a:t>
            </a:r>
          </a:p>
          <a:p>
            <a:pPr lvl="1">
              <a:buFont typeface="Wingdings" panose="05000000000000000000" pitchFamily="2" charset="2"/>
              <a:buChar char="§"/>
            </a:pPr>
            <a:r>
              <a:rPr lang="en-US" b="1" dirty="0"/>
              <a:t>Partes </a:t>
            </a:r>
            <a:r>
              <a:rPr lang="en-US" b="1"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b="1" dirty="0"/>
              <a:t>Partes </a:t>
            </a:r>
            <a:r>
              <a:rPr lang="en-US" b="1"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b="1" dirty="0" err="1"/>
              <a:t>Objeto</a:t>
            </a:r>
            <a:r>
              <a:rPr lang="en-US" b="1" dirty="0"/>
              <a:t> </a:t>
            </a:r>
            <a:r>
              <a:rPr lang="en-US" b="1" dirty="0" err="1"/>
              <a:t>completo</a:t>
            </a:r>
            <a:endParaRPr lang="pt-BR" dirty="0"/>
          </a:p>
          <a:p>
            <a:r>
              <a:rPr lang="pt-BR" dirty="0"/>
              <a:t>As </a:t>
            </a:r>
            <a:r>
              <a:rPr lang="pt-BR" b="1" dirty="0">
                <a:solidFill>
                  <a:srgbClr val="00B050"/>
                </a:solidFill>
              </a:rPr>
              <a:t>camadas</a:t>
            </a:r>
            <a:r>
              <a:rPr lang="pt-BR" dirty="0"/>
              <a:t> de uma CNN </a:t>
            </a:r>
            <a:r>
              <a:rPr lang="pt-BR" b="1" dirty="0">
                <a:solidFill>
                  <a:srgbClr val="00B050"/>
                </a:solidFill>
              </a:rPr>
              <a:t>aprendem a hierarquia</a:t>
            </a:r>
            <a:r>
              <a:rPr lang="pt-BR" dirty="0"/>
              <a:t> de padrões da imagem.</a:t>
            </a:r>
          </a:p>
          <a:p>
            <a:pPr lvl="1">
              <a:buFont typeface="Wingdings" panose="05000000000000000000" pitchFamily="2" charset="2"/>
              <a:buChar char="§"/>
            </a:pPr>
            <a:r>
              <a:rPr lang="pt-BR"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en-US" dirty="0"/>
              <a:t>Uma CNN para </a:t>
            </a:r>
            <a:r>
              <a:rPr lang="en-US" dirty="0" err="1"/>
              <a:t>classificação</a:t>
            </a:r>
            <a:r>
              <a:rPr lang="en-US" dirty="0"/>
              <a:t> de imagens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a:t>Uma entrada (</a:t>
            </a:r>
            <a:r>
              <a:rPr lang="en-US" dirty="0" err="1"/>
              <a:t>imagem</a:t>
            </a:r>
            <a:r>
              <a:rPr lang="en-US" dirty="0"/>
              <a:t>)</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541478" y="1825624"/>
            <a:ext cx="5650521"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filtros</a:t>
            </a:r>
            <a:r>
              <a:rPr lang="pt-BR" dirty="0"/>
              <a:t> sobre a imagem.</a:t>
            </a:r>
          </a:p>
          <a:p>
            <a:pPr lvl="1">
              <a:buFont typeface="Wingdings" panose="05000000000000000000" pitchFamily="2" charset="2"/>
              <a:buChar char="§"/>
            </a:pPr>
            <a:r>
              <a:rPr lang="pt-BR" b="1" dirty="0"/>
              <a:t>Filtros</a:t>
            </a:r>
            <a:r>
              <a:rPr lang="pt-BR" dirty="0"/>
              <a:t>: matrizes 2D ou 3D.</a:t>
            </a:r>
          </a:p>
          <a:p>
            <a:r>
              <a:rPr lang="pt-BR" dirty="0"/>
              <a:t>Esse filtro:</a:t>
            </a:r>
          </a:p>
          <a:p>
            <a:pPr lvl="1">
              <a:buFont typeface="Wingdings" panose="05000000000000000000" pitchFamily="2" charset="2"/>
              <a:buChar char="§"/>
            </a:pPr>
            <a:r>
              <a:rPr lang="pt-BR" sz="2800" dirty="0"/>
              <a:t>é multiplicado com valores locais da imagem (campo receptivo)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130556"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a:t>
            </a:r>
            <a:r>
              <a:rPr lang="pt-BR" b="1" dirty="0">
                <a:solidFill>
                  <a:schemeClr val="accent2"/>
                </a:solidFill>
              </a:rPr>
              <a:t>função de ativação</a:t>
            </a:r>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diferenciam um objeto de outro é </a:t>
            </a:r>
            <a:r>
              <a:rPr lang="pt-BR" b="1" dirty="0">
                <a:solidFill>
                  <a:srgbClr val="00B050"/>
                </a:solidFill>
              </a:rPr>
              <a:t>baseada</a:t>
            </a:r>
            <a:r>
              <a:rPr lang="pt-BR" dirty="0"/>
              <a:t> em como os </a:t>
            </a:r>
            <a:r>
              <a:rPr lang="pt-BR" b="1" dirty="0">
                <a:solidFill>
                  <a:srgbClr val="7030A0"/>
                </a:solidFill>
              </a:rPr>
              <a:t>neurônios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76835" y="1825624"/>
            <a:ext cx="6615165"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 matriz</a:t>
            </a:r>
            <a:r>
              <a:rPr lang="pt-BR" b="0" dirty="0">
                <a:effectLst/>
              </a:rPr>
              <a:t>, necessários para </a:t>
            </a:r>
            <a:r>
              <a:rPr lang="pt-BR" b="1" dirty="0">
                <a:effectLst/>
              </a:rPr>
              <a:t>detectar uma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xmlns:a14="http://schemas.microsoft.com/office/drawing/2010/main" xmlns=""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rotWithShape="0">
                <a:blip r:embed="rId3"/>
                <a:stretch>
                  <a:fillRect l="-1881" t="-1937" r="-2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dirty="0"/>
              <a:t>Ao calcular a convolução, começamos com a</a:t>
            </a:r>
            <a:r>
              <a:rPr lang="pt-BR" b="1" dirty="0"/>
              <a:t> janela de convolução </a:t>
            </a:r>
            <a:r>
              <a:rPr lang="pt-BR" dirty="0"/>
              <a:t>no </a:t>
            </a:r>
            <a:r>
              <a:rPr lang="pt-BR" b="1" dirty="0"/>
              <a:t>canto superior esquerdo</a:t>
            </a:r>
            <a:r>
              <a:rPr lang="pt-BR" dirty="0"/>
              <a:t>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veremos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385916" y="1825624"/>
            <a:ext cx="6806084"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a:t>
            </a:r>
            <a:r>
              <a:rPr lang="pt-BR" b="1" dirty="0">
                <a:solidFill>
                  <a:srgbClr val="0070C0"/>
                </a:solidFill>
              </a:rPr>
              <a:t>ou</a:t>
            </a:r>
            <a:r>
              <a:rPr lang="pt-BR" b="1" dirty="0">
                <a:solidFill>
                  <a:srgbClr val="7030A0"/>
                </a:solidFill>
              </a:rPr>
              <a:t> </a:t>
            </a:r>
            <a:r>
              <a:rPr lang="pt-BR" b="1" dirty="0">
                <a:solidFill>
                  <a:srgbClr val="0070C0"/>
                </a:solidFill>
              </a:rPr>
              <a:t>identificar</a:t>
            </a:r>
            <a:r>
              <a:rPr lang="pt-BR" b="1" dirty="0">
                <a:solidFill>
                  <a:srgbClr val="7030A0"/>
                </a:solidFill>
              </a:rPr>
              <a:t>)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de ativação</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desse filtro ao longo de cada posição espacial</a:t>
            </a:r>
            <a:r>
              <a:rPr lang="pt-BR" dirty="0"/>
              <a:t> do tensor (imagem).</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a:bodyPr>
          <a:lstStyle/>
          <a:p>
            <a:r>
              <a:rPr lang="pt-BR" dirty="0"/>
              <a:t>O </a:t>
            </a:r>
            <a:r>
              <a:rPr lang="pt-BR" b="1" i="1" dirty="0">
                <a:solidFill>
                  <a:srgbClr val="0070C0"/>
                </a:solidFill>
              </a:rPr>
              <a:t>stride</a:t>
            </a:r>
            <a:r>
              <a:rPr lang="pt-BR" dirty="0"/>
              <a:t> controla o deslizamento do </a:t>
            </a:r>
            <a:r>
              <a:rPr lang="pt-BR" i="1" dirty="0"/>
              <a:t>kernel</a:t>
            </a:r>
            <a:r>
              <a:rPr lang="pt-BR" dirty="0"/>
              <a:t> sobre o tensor. </a:t>
            </a:r>
          </a:p>
          <a:p>
            <a:r>
              <a:rPr lang="pt-BR" dirty="0"/>
              <a:t>É o número de </a:t>
            </a:r>
            <a:r>
              <a:rPr lang="pt-BR" i="1" dirty="0"/>
              <a:t>pixels</a:t>
            </a:r>
            <a:r>
              <a:rPr lang="pt-BR" dirty="0"/>
              <a:t> que o </a:t>
            </a:r>
            <a:r>
              <a:rPr lang="pt-BR" i="1" dirty="0"/>
              <a:t>kernel</a:t>
            </a:r>
            <a:r>
              <a:rPr lang="pt-BR" dirty="0"/>
              <a:t> avança a cada aplicação da convolução.</a:t>
            </a:r>
          </a:p>
          <a:p>
            <a:r>
              <a:rPr lang="pt-BR" dirty="0"/>
              <a:t>No exemplo anterior, o </a:t>
            </a:r>
            <a:r>
              <a:rPr lang="pt-BR" b="1" i="1" dirty="0">
                <a:solidFill>
                  <a:srgbClr val="0070C0"/>
                </a:solidFill>
              </a:rPr>
              <a:t>stride</a:t>
            </a:r>
            <a:r>
              <a:rPr lang="pt-BR" dirty="0"/>
              <a:t> era de 1 </a:t>
            </a:r>
            <a:r>
              <a:rPr lang="pt-BR" i="1" dirty="0"/>
              <a:t>pixel</a:t>
            </a:r>
            <a:r>
              <a:rPr lang="pt-BR" dirty="0"/>
              <a:t>.</a:t>
            </a:r>
          </a:p>
          <a:p>
            <a:r>
              <a:rPr lang="pt-BR" dirty="0"/>
              <a:t>Para que serve sua variação?</a:t>
            </a:r>
          </a:p>
          <a:p>
            <a:pPr lvl="1">
              <a:buFont typeface="Wingdings" panose="05000000000000000000" pitchFamily="2" charset="2"/>
              <a:buChar char="§"/>
            </a:pPr>
            <a:r>
              <a:rPr lang="pt-BR" dirty="0"/>
              <a:t>Reduzir o tamanho da </a:t>
            </a:r>
            <a:r>
              <a:rPr lang="pt-BR" i="1" dirty="0"/>
              <a:t>feature </a:t>
            </a:r>
            <a:r>
              <a:rPr lang="pt-BR" i="1" dirty="0" err="1"/>
              <a:t>map</a:t>
            </a:r>
            <a:r>
              <a:rPr lang="pt-BR" dirty="0"/>
              <a:t> (</a:t>
            </a:r>
            <a:r>
              <a:rPr lang="pt-BR" i="1" dirty="0" err="1"/>
              <a:t>downsampling</a:t>
            </a:r>
            <a:r>
              <a:rPr lang="pt-BR" dirty="0"/>
              <a:t>)</a:t>
            </a:r>
          </a:p>
          <a:p>
            <a:pPr lvl="2">
              <a:buFont typeface="Courier New" panose="02070309020205020404" pitchFamily="49" charset="0"/>
              <a:buChar char="o"/>
            </a:pPr>
            <a:r>
              <a:rPr lang="pt-BR" dirty="0"/>
              <a:t>Aumentar o </a:t>
            </a:r>
            <a:r>
              <a:rPr lang="pt-BR" i="1" dirty="0"/>
              <a:t>stride</a:t>
            </a:r>
            <a:r>
              <a:rPr lang="pt-BR" dirty="0"/>
              <a:t> </a:t>
            </a:r>
            <a:r>
              <a:rPr lang="pt-BR" b="1" dirty="0"/>
              <a:t>reduz a resolução da saída.</a:t>
            </a:r>
            <a:endParaRPr lang="pt-BR" dirty="0"/>
          </a:p>
          <a:p>
            <a:pPr lvl="1">
              <a:buFont typeface="Wingdings" panose="05000000000000000000" pitchFamily="2" charset="2"/>
              <a:buChar char="§"/>
            </a:pPr>
            <a:r>
              <a:rPr lang="en-US" dirty="0" err="1"/>
              <a:t>Reduzir</a:t>
            </a:r>
            <a:r>
              <a:rPr lang="en-US" dirty="0"/>
              <a:t> o </a:t>
            </a:r>
            <a:r>
              <a:rPr lang="en-US" dirty="0" err="1"/>
              <a:t>custo</a:t>
            </a:r>
            <a:r>
              <a:rPr lang="en-US" dirty="0"/>
              <a:t> </a:t>
            </a:r>
            <a:r>
              <a:rPr lang="en-US" dirty="0" err="1"/>
              <a:t>computacional</a:t>
            </a:r>
            <a:r>
              <a:rPr lang="en-US" dirty="0"/>
              <a:t>.</a:t>
            </a:r>
          </a:p>
          <a:p>
            <a:pPr lvl="2">
              <a:buFont typeface="Courier New" panose="02070309020205020404" pitchFamily="49" charset="0"/>
              <a:buChar char="o"/>
            </a:pPr>
            <a:r>
              <a:rPr lang="en-US" dirty="0"/>
              <a:t>Aumentar o </a:t>
            </a:r>
            <a:r>
              <a:rPr lang="en-US" i="1" dirty="0"/>
              <a:t>stride</a:t>
            </a:r>
            <a:r>
              <a:rPr lang="en-US" dirty="0"/>
              <a:t> </a:t>
            </a:r>
            <a:r>
              <a:rPr lang="en-US" b="1" dirty="0" err="1"/>
              <a:t>reduz</a:t>
            </a:r>
            <a:r>
              <a:rPr lang="en-US" b="1" dirty="0"/>
              <a:t> a </a:t>
            </a:r>
            <a:r>
              <a:rPr lang="en-US" b="1" dirty="0" err="1"/>
              <a:t>quantidade</a:t>
            </a:r>
            <a:r>
              <a:rPr lang="en-US" b="1" dirty="0"/>
              <a:t> de </a:t>
            </a:r>
            <a:r>
              <a:rPr lang="en-US" b="1" dirty="0" err="1"/>
              <a:t>cálculos</a:t>
            </a:r>
            <a:r>
              <a:rPr lang="en-US" b="1" dirty="0"/>
              <a:t>.</a:t>
            </a:r>
          </a:p>
          <a:p>
            <a:pPr lvl="1">
              <a:buFont typeface="Wingdings" panose="05000000000000000000" pitchFamily="2" charset="2"/>
              <a:buChar char="§"/>
            </a:pPr>
            <a:r>
              <a:rPr lang="pt-BR" dirty="0"/>
              <a:t>Controlar o nível de detalhe.</a:t>
            </a:r>
          </a:p>
          <a:p>
            <a:pPr lvl="2">
              <a:buFont typeface="Courier New" panose="02070309020205020404" pitchFamily="49" charset="0"/>
              <a:buChar char="o"/>
            </a:pPr>
            <a:r>
              <a:rPr lang="pt-BR" i="1" dirty="0"/>
              <a:t>Stride</a:t>
            </a:r>
            <a:r>
              <a:rPr lang="pt-BR" dirty="0"/>
              <a:t> pequeno captura detalhes menores: </a:t>
            </a:r>
            <a:r>
              <a:rPr lang="en-US" dirty="0" err="1"/>
              <a:t>detecta</a:t>
            </a:r>
            <a:r>
              <a:rPr lang="en-US" dirty="0"/>
              <a:t> </a:t>
            </a:r>
            <a:r>
              <a:rPr lang="en-US" dirty="0" err="1"/>
              <a:t>padrões</a:t>
            </a:r>
            <a:r>
              <a:rPr lang="en-US" dirty="0"/>
              <a:t> </a:t>
            </a:r>
            <a:r>
              <a:rPr lang="en-US" dirty="0" err="1"/>
              <a:t>finos</a:t>
            </a:r>
            <a:r>
              <a:rPr lang="pt-BR" dirty="0"/>
              <a:t>.</a:t>
            </a:r>
          </a:p>
          <a:p>
            <a:pPr lvl="3">
              <a:buFont typeface="Wingdings" panose="05000000000000000000" pitchFamily="2" charset="2"/>
              <a:buChar char="ü"/>
            </a:pPr>
            <a:r>
              <a:rPr lang="en-US" dirty="0" err="1"/>
              <a:t>Porém</a:t>
            </a:r>
            <a:r>
              <a:rPr lang="en-US" dirty="0"/>
              <a:t>, é </a:t>
            </a:r>
            <a:r>
              <a:rPr lang="en-US" dirty="0" err="1"/>
              <a:t>mais</a:t>
            </a:r>
            <a:r>
              <a:rPr lang="en-US" dirty="0"/>
              <a:t> </a:t>
            </a:r>
            <a:r>
              <a:rPr lang="en-US" dirty="0" err="1"/>
              <a:t>caro</a:t>
            </a:r>
            <a:r>
              <a:rPr lang="en-US" dirty="0"/>
              <a:t> </a:t>
            </a:r>
            <a:r>
              <a:rPr lang="en-US" dirty="0" err="1"/>
              <a:t>computacionalmente</a:t>
            </a:r>
            <a:r>
              <a:rPr lang="en-US" dirty="0"/>
              <a:t>.</a:t>
            </a:r>
            <a:endParaRPr lang="pt-BR" dirty="0"/>
          </a:p>
          <a:p>
            <a:pPr lvl="2">
              <a:buFont typeface="Courier New" panose="02070309020205020404" pitchFamily="49" charset="0"/>
              <a:buChar char="o"/>
            </a:pPr>
            <a:r>
              <a:rPr lang="pt-BR" i="1" dirty="0"/>
              <a:t>Stride</a:t>
            </a:r>
            <a:r>
              <a:rPr lang="pt-BR" dirty="0"/>
              <a:t> grande captura detalhes maiores: detecta </a:t>
            </a:r>
            <a:r>
              <a:rPr lang="en-US" dirty="0" err="1"/>
              <a:t>padrões</a:t>
            </a:r>
            <a:r>
              <a:rPr lang="en-US" dirty="0"/>
              <a:t> </a:t>
            </a:r>
            <a:r>
              <a:rPr lang="en-US" dirty="0" err="1"/>
              <a:t>mais</a:t>
            </a:r>
            <a:r>
              <a:rPr lang="en-US" dirty="0"/>
              <a:t> </a:t>
            </a:r>
            <a:r>
              <a:rPr lang="en-US" dirty="0" err="1"/>
              <a:t>globais</a:t>
            </a:r>
            <a:r>
              <a:rPr lang="pt-BR" dirty="0"/>
              <a:t>.</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dirty="0"/>
              <a:t>Portanto, o </a:t>
            </a:r>
            <a:r>
              <a:rPr lang="pt-BR" i="1" dirty="0"/>
              <a:t>stride</a:t>
            </a:r>
            <a:r>
              <a:rPr lang="pt-BR" dirty="0"/>
              <a:t> controla o equilíbrio entre </a:t>
            </a:r>
            <a:r>
              <a:rPr lang="pt-BR" b="1" dirty="0"/>
              <a:t>precisão vs. eficiência.</a:t>
            </a:r>
            <a:endParaRPr lang="pt-BR" dirty="0"/>
          </a:p>
          <a:p>
            <a:r>
              <a:rPr lang="pt-BR" dirty="0"/>
              <a:t>No exemplo ao lado, o </a:t>
            </a:r>
            <a:r>
              <a:rPr lang="pt-BR" i="1" dirty="0"/>
              <a:t>stride</a:t>
            </a:r>
            <a:r>
              <a:rPr lang="pt-BR" dirty="0"/>
              <a:t> é de 2 para deslizamentos ao longo das colunas e linhas.</a:t>
            </a:r>
          </a:p>
          <a:p>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190163"/>
            <a:ext cx="11353801" cy="2667837"/>
          </a:xfrm>
        </p:spPr>
        <p:txBody>
          <a:bodyPr>
            <a:normAutofit lnSpcReduction="10000"/>
          </a:bodyPr>
          <a:lstStyle/>
          <a:p>
            <a:r>
              <a:rPr lang="pt-BR" dirty="0"/>
              <a:t>Na figura, a imagem de entrada apresenta alguns padrões lineares (bordas).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aprende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a:t>
            </a:r>
            <a:r>
              <a:rPr lang="pt-BR" b="1" i="0" dirty="0">
                <a:solidFill>
                  <a:srgbClr val="7030A0"/>
                </a:solidFill>
                <a:effectLst/>
              </a:rPr>
              <a:t>incluindo a sua orientação</a:t>
            </a:r>
            <a:r>
              <a:rPr lang="pt-BR" b="0" i="0" dirty="0">
                <a:effectLst/>
              </a:rPr>
              <a:t>: linhas horizontais, linhas verticais e linhas diagonais.</a:t>
            </a:r>
          </a:p>
          <a:p>
            <a:pPr lvl="1">
              <a:buFont typeface="Wingdings" panose="05000000000000000000" pitchFamily="2" charset="2"/>
              <a:buChar char="§"/>
            </a:pPr>
            <a:r>
              <a:rPr lang="pt-BR" b="0" i="0" dirty="0">
                <a:effectLst/>
              </a:rPr>
              <a:t>Um </a:t>
            </a:r>
            <a:r>
              <a:rPr lang="pt-BR" dirty="0"/>
              <a:t>filtro que detecta uma linha vertical não detecta linhas horizontais ou diagonais.</a:t>
            </a:r>
            <a:endParaRPr lang="pt-BR" b="0" i="0" dirty="0">
              <a:effectLst/>
            </a:endParaRPr>
          </a:p>
          <a:p>
            <a:r>
              <a:rPr lang="pt-BR" b="1" dirty="0">
                <a:solidFill>
                  <a:schemeClr val="accent2"/>
                </a:solidFill>
              </a:rPr>
              <a:t>Cada filtro gera um mapa de característica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4" y="1825624"/>
            <a:ext cx="4435365"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solidFill>
                  <a:srgbClr val="00B050"/>
                </a:solidFill>
              </a:rPr>
              <a:t>dividi-la em 3 operações de convolução separadas </a:t>
            </a:r>
            <a:r>
              <a:rPr lang="pt-BR" dirty="0"/>
              <a:t>que têm seus </a:t>
            </a:r>
            <a:r>
              <a:rPr lang="pt-BR" b="1" dirty="0">
                <a:solidFill>
                  <a:schemeClr val="accent2"/>
                </a:solidFill>
              </a:rPr>
              <a:t>resultados somados ao final</a:t>
            </a:r>
            <a:r>
              <a:rPr lang="pt-BR" dirty="0"/>
              <a:t>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511332" y="1825624"/>
                <a:ext cx="5680668"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511332" y="1825624"/>
                <a:ext cx="5680668" cy="5032375"/>
              </a:xfrm>
              <a:blipFill>
                <a:blip r:embed="rId3"/>
                <a:stretch>
                  <a:fillRect l="-1931" t="-1937" r="-171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t>relações complexas e não lineares</a:t>
            </a:r>
            <a:r>
              <a:rPr lang="pt-BR" dirty="0"/>
              <a:t> (imagens, voz, linguagem, etc.).</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err="1">
                <a:solidFill>
                  <a:srgbClr val="7030A0"/>
                </a:solidFill>
              </a:rPr>
              <a:t>CNNs</a:t>
            </a:r>
            <a:r>
              <a:rPr lang="pt-BR" b="1" noProof="0" dirty="0">
                <a:solidFill>
                  <a:srgbClr val="7030A0"/>
                </a:solidFill>
              </a:rPr>
              <a:t>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 mapa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pequenas regiões (matriz) e </a:t>
                </a:r>
                <a:r>
                  <a:rPr lang="pt-BR" b="1" dirty="0">
                    <a:solidFill>
                      <a:schemeClr val="accent1"/>
                    </a:solidFill>
                  </a:rPr>
                  <a:t>resume cada região em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e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a:t>
                </a:r>
                <a:r>
                  <a:rPr lang="pt-BR" i="1" dirty="0"/>
                  <a:t>pixels</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26100" y="1825624"/>
                <a:ext cx="6565900" cy="5032375"/>
              </a:xfrm>
              <a:blipFill>
                <a:blip r:embed="rId3"/>
                <a:stretch>
                  <a:fillRect l="-1671"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657222" y="1825624"/>
            <a:ext cx="6534780" cy="5032375"/>
          </a:xfrm>
        </p:spPr>
        <p:txBody>
          <a:bodyPr>
            <a:normAutofit/>
          </a:bodyPr>
          <a:lstStyle/>
          <a:p>
            <a:r>
              <a:rPr lang="pt-BR" dirty="0"/>
              <a:t>Alguns dos </a:t>
            </a:r>
            <a:r>
              <a:rPr lang="pt-BR" b="1" dirty="0">
                <a:solidFill>
                  <a:srgbClr val="7030A0"/>
                </a:solidFill>
              </a:rPr>
              <a:t>objetivos</a:t>
            </a:r>
            <a:r>
              <a:rPr lang="pt-BR" dirty="0"/>
              <a:t> da </a:t>
            </a:r>
            <a:r>
              <a:rPr lang="pt-BR" dirty="0" err="1"/>
              <a:t>subamostragem</a:t>
            </a:r>
            <a:r>
              <a:rPr lang="pt-BR" dirty="0"/>
              <a:t> são: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endParaRPr lang="pt-BR" dirty="0"/>
          </a:p>
          <a:p>
            <a:pPr lvl="1">
              <a:buFont typeface="Wingdings" panose="05000000000000000000" pitchFamily="2" charset="2"/>
              <a:buChar char="§"/>
            </a:pPr>
            <a:r>
              <a:rPr lang="pt-BR" dirty="0"/>
              <a:t>e o </a:t>
            </a:r>
            <a:r>
              <a:rPr lang="pt-BR" b="1" dirty="0">
                <a:solidFill>
                  <a:srgbClr val="7030A0"/>
                </a:solidFill>
              </a:rPr>
              <a:t>número de pesos.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endParaRPr lang="pt-BR" b="0" dirty="0">
              <a:effectLst/>
            </a:endParaRPr>
          </a:p>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a:t>
            </a:r>
            <a:r>
              <a:rPr lang="pt-BR" b="1" dirty="0">
                <a:solidFill>
                  <a:schemeClr val="accent1"/>
                </a:solidFill>
                <a:effectLst/>
              </a:rPr>
              <a:t>pequenas</a:t>
            </a:r>
            <a:r>
              <a:rPr lang="pt-BR" b="1" dirty="0">
                <a:solidFill>
                  <a:schemeClr val="accent2"/>
                </a:solidFill>
                <a:effectLst/>
              </a:rPr>
              <a:t> mudanças na posição</a:t>
            </a:r>
            <a:r>
              <a:rPr lang="pt-BR" b="1" dirty="0">
                <a:solidFill>
                  <a:srgbClr val="00B050"/>
                </a:solidFill>
                <a:effectLst/>
              </a:rPr>
              <a:t> das características</a:t>
            </a:r>
            <a:r>
              <a:rPr lang="pt-BR" dirty="0">
                <a:solidFill>
                  <a:srgbClr val="00B050"/>
                </a:solidFill>
              </a:rPr>
              <a:t>.</a:t>
            </a:r>
            <a:endParaRPr lang="pt-BR" b="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5375868" y="1825624"/>
            <a:ext cx="6816132"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das características não afetam muito o resultado.</a:t>
            </a:r>
          </a:p>
          <a:p>
            <a:pPr lvl="1">
              <a:buFont typeface="Wingdings" panose="05000000000000000000" pitchFamily="2" charset="2"/>
              <a:buChar char="§"/>
            </a:pPr>
            <a:r>
              <a:rPr lang="pt-BR" b="1" dirty="0">
                <a:solidFill>
                  <a:srgbClr val="FF0000"/>
                </a:solidFill>
              </a:rPr>
              <a:t>Foca na presença do padrão</a:t>
            </a:r>
            <a:r>
              <a:rPr lang="pt-BR" dirty="0"/>
              <a:t>, </a:t>
            </a:r>
            <a:r>
              <a:rPr lang="pt-BR" b="1" dirty="0">
                <a:solidFill>
                  <a:srgbClr val="00B0F0"/>
                </a:solidFill>
              </a:rPr>
              <a:t>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faz com que se </a:t>
            </a:r>
            <a:r>
              <a:rPr lang="pt-BR" b="1" dirty="0">
                <a:solidFill>
                  <a:schemeClr val="accent2"/>
                </a:solidFill>
              </a:rPr>
              <a:t>perca informação espacial</a:t>
            </a:r>
            <a:r>
              <a:rPr lang="pt-BR" dirty="0"/>
              <a:t> e se </a:t>
            </a:r>
            <a:r>
              <a:rPr lang="pt-BR" b="1" dirty="0">
                <a:solidFill>
                  <a:srgbClr val="00B050"/>
                </a:solidFill>
              </a:rPr>
              <a:t>ganhe 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região do </a:t>
                </a:r>
                <a:r>
                  <a:rPr lang="pt-BR" b="1" i="1" dirty="0">
                    <a:solidFill>
                      <a:schemeClr val="accent2"/>
                    </a:solidFill>
                  </a:rPr>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b="1" dirty="0" err="1">
                <a:solidFill>
                  <a:srgbClr val="7030A0"/>
                </a:solidFill>
              </a:rPr>
              <a:t>bordas</a:t>
            </a:r>
            <a:r>
              <a:rPr lang="en-US" b="1" dirty="0">
                <a:solidFill>
                  <a:srgbClr val="7030A0"/>
                </a:solidFill>
              </a:rPr>
              <a:t> do </a:t>
            </a:r>
            <a:r>
              <a:rPr lang="en-US" b="1" dirty="0" err="1">
                <a:solidFill>
                  <a:srgbClr val="7030A0"/>
                </a:solidFill>
              </a:rPr>
              <a:t>cérebro</a:t>
            </a:r>
            <a:r>
              <a:rPr lang="en-US" b="1" dirty="0">
                <a:solidFill>
                  <a:srgbClr val="7030A0"/>
                </a:solidFill>
              </a:rPr>
              <a:t> </a:t>
            </a:r>
            <a:r>
              <a:rPr lang="en-US" b="1" dirty="0" err="1">
                <a:solidFill>
                  <a:srgbClr val="7030A0"/>
                </a:solidFill>
              </a:rPr>
              <a:t>bem</a:t>
            </a:r>
            <a:r>
              <a:rPr lang="en-US" b="1" dirty="0">
                <a:solidFill>
                  <a:srgbClr val="7030A0"/>
                </a:solidFill>
              </a:rPr>
              <a:t> </a:t>
            </a:r>
            <a:r>
              <a:rPr lang="en-US" b="1" dirty="0" err="1">
                <a:solidFill>
                  <a:srgbClr val="7030A0"/>
                </a:solidFill>
              </a:rPr>
              <a:t>destacadas</a:t>
            </a:r>
            <a:r>
              <a:rPr lang="en-US" dirty="0"/>
              <a:t> e </a:t>
            </a:r>
            <a:r>
              <a:rPr lang="en-US" b="1" dirty="0" err="1">
                <a:solidFill>
                  <a:schemeClr val="accent2"/>
                </a:solidFill>
              </a:rPr>
              <a:t>descarta</a:t>
            </a:r>
            <a:r>
              <a:rPr lang="en-US" b="1" dirty="0">
                <a:solidFill>
                  <a:schemeClr val="accent2"/>
                </a:solidFill>
              </a:rPr>
              <a:t> </a:t>
            </a:r>
            <a:r>
              <a:rPr lang="en-US" b="1" dirty="0" err="1">
                <a:solidFill>
                  <a:schemeClr val="accent2"/>
                </a:solidFill>
              </a:rPr>
              <a:t>detalhes</a:t>
            </a:r>
            <a:r>
              <a:rPr lang="en-US" b="1" dirty="0">
                <a:solidFill>
                  <a:schemeClr val="accent2"/>
                </a:solidFill>
              </a:rPr>
              <a:t> </a:t>
            </a:r>
            <a:r>
              <a:rPr lang="en-US" b="1" dirty="0" err="1">
                <a:solidFill>
                  <a:schemeClr val="accent2"/>
                </a:solidFill>
              </a:rPr>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83858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Neurônio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599" y="1825624"/>
            <a:ext cx="6388519"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importante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a:t>
            </a:r>
            <a:r>
              <a:rPr lang="pt-BR" b="1" dirty="0">
                <a:solidFill>
                  <a:srgbClr val="7030A0"/>
                </a:solidFill>
              </a:rPr>
              <a:t>participam de menos convoluções</a:t>
            </a:r>
            <a:r>
              <a:rPr lang="pt-BR" dirty="0"/>
              <a:t>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a:t>
            </a:r>
            <a:r>
              <a:rPr lang="pt-BR" b="1" dirty="0">
                <a:solidFill>
                  <a:srgbClr val="00B050"/>
                </a:solidFill>
              </a:rPr>
              <a:t>contribuam mais igualitária </a:t>
            </a:r>
            <a:r>
              <a:rPr lang="pt-BR" dirty="0"/>
              <a:t>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22312"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a:t>
            </a:r>
            <a:r>
              <a:rPr lang="pt-BR" b="1" dirty="0">
                <a:solidFill>
                  <a:schemeClr val="accent2"/>
                </a:solidFill>
                <a:effectLst/>
              </a:rPr>
              <a:t>bordas</a:t>
            </a:r>
            <a:r>
              <a:rPr lang="pt-BR" b="1" dirty="0">
                <a:solidFill>
                  <a:srgbClr val="00B050"/>
                </a:solidFill>
                <a:effectLst/>
              </a:rPr>
              <a:t> </a:t>
            </a:r>
            <a:r>
              <a:rPr lang="pt-BR" b="1" dirty="0">
                <a:solidFill>
                  <a:srgbClr val="0070C0"/>
                </a:solidFill>
                <a:effectLst/>
              </a:rPr>
              <a:t>da imagem ou aos mapas de características</a:t>
            </a:r>
            <a:r>
              <a:rPr lang="pt-BR" b="0" dirty="0">
                <a:effectLst/>
              </a:rPr>
              <a:t>, aumentando assim seu tamanho efetivo.</a:t>
            </a:r>
          </a:p>
          <a:p>
            <a:r>
              <a:rPr lang="pt-BR" b="0" i="0" dirty="0">
                <a:effectLst/>
              </a:rPr>
              <a:t>Em geral, os </a:t>
            </a:r>
            <a:r>
              <a:rPr lang="pt-BR" b="1" i="1" dirty="0">
                <a:solidFill>
                  <a:srgbClr val="7030A0"/>
                </a:solidFill>
                <a:effectLst/>
              </a:rPr>
              <a:t>pixels </a:t>
            </a:r>
            <a:r>
              <a:rPr lang="pt-BR" b="1" dirty="0">
                <a:solidFill>
                  <a:srgbClr val="7030A0"/>
                </a:solidFill>
                <a:effectLst/>
              </a:rPr>
              <a:t>de</a:t>
            </a:r>
            <a:r>
              <a:rPr lang="pt-BR" b="1" i="1" dirty="0">
                <a:solidFill>
                  <a:srgbClr val="7030A0"/>
                </a:solidFill>
                <a:effectLst/>
              </a:rPr>
              <a:t> padding </a:t>
            </a:r>
            <a:r>
              <a:rPr lang="pt-BR" b="1" dirty="0">
                <a:solidFill>
                  <a:srgbClr val="7030A0"/>
                </a:solidFill>
                <a:effectLst/>
              </a:rPr>
              <a:t>são feitos iguais a zero</a:t>
            </a:r>
            <a:r>
              <a:rPr lang="pt-BR" b="0" dirty="0">
                <a:effectLst/>
              </a:rPr>
              <a:t>.</a:t>
            </a: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E3418-1E40-8554-43E4-92F1E186EF4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2D5115-DC4C-8500-BD71-12FB6C49929F}"/>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03A801BA-DD64-6C21-825D-60819889B011}"/>
              </a:ext>
            </a:extLst>
          </p:cNvPr>
          <p:cNvSpPr>
            <a:spLocks noGrp="1"/>
          </p:cNvSpPr>
          <p:nvPr>
            <p:ph idx="1"/>
          </p:nvPr>
        </p:nvSpPr>
        <p:spPr>
          <a:xfrm>
            <a:off x="5787851" y="1825624"/>
            <a:ext cx="6330461" cy="5032375"/>
          </a:xfrm>
        </p:spPr>
        <p:txBody>
          <a:bodyPr>
            <a:normAutofit/>
          </a:bodyPr>
          <a:lstStyle/>
          <a:p>
            <a:r>
              <a:rPr lang="pt-BR" b="0" dirty="0">
                <a:effectLst/>
              </a:rPr>
              <a:t>É </a:t>
            </a:r>
            <a:r>
              <a:rPr lang="pt-BR" b="1" dirty="0">
                <a:solidFill>
                  <a:srgbClr val="00B050"/>
                </a:solidFill>
                <a:effectLst/>
              </a:rPr>
              <a:t>comum aplicar</a:t>
            </a:r>
            <a:r>
              <a:rPr lang="pt-BR" b="0" dirty="0">
                <a:solidFill>
                  <a:srgbClr val="00B050"/>
                </a:solidFill>
                <a:effectLst/>
              </a:rPr>
              <a:t> </a:t>
            </a:r>
            <a:r>
              <a:rPr lang="pt-BR" b="0" i="1" dirty="0">
                <a:effectLst/>
              </a:rPr>
              <a:t>padding</a:t>
            </a:r>
            <a:r>
              <a:rPr lang="pt-BR" b="0" dirty="0">
                <a:effectLst/>
              </a:rPr>
              <a:t> nas </a:t>
            </a:r>
            <a:r>
              <a:rPr lang="pt-BR" b="1" dirty="0">
                <a:solidFill>
                  <a:srgbClr val="00B050"/>
                </a:solidFill>
                <a:effectLst/>
              </a:rPr>
              <a:t>camadas iniciais para </a:t>
            </a:r>
          </a:p>
          <a:p>
            <a:pPr lvl="1">
              <a:buFont typeface="Wingdings" panose="05000000000000000000" pitchFamily="2" charset="2"/>
              <a:buChar char="§"/>
            </a:pPr>
            <a:r>
              <a:rPr lang="pt-BR" b="1" dirty="0">
                <a:solidFill>
                  <a:srgbClr val="7030A0"/>
                </a:solidFill>
                <a:effectLst/>
              </a:rPr>
              <a:t>preservar resolução espacial</a:t>
            </a:r>
            <a:endParaRPr lang="pt-BR" b="0" dirty="0">
              <a:effectLst/>
            </a:endParaRPr>
          </a:p>
          <a:p>
            <a:pPr lvl="1">
              <a:buFont typeface="Wingdings" panose="05000000000000000000" pitchFamily="2" charset="2"/>
              <a:buChar char="§"/>
            </a:pPr>
            <a:r>
              <a:rPr lang="pt-BR" dirty="0"/>
              <a:t>e </a:t>
            </a:r>
            <a:r>
              <a:rPr lang="pt-BR" b="1" dirty="0">
                <a:solidFill>
                  <a:srgbClr val="0070C0"/>
                </a:solidFill>
              </a:rPr>
              <a:t>não perder informação</a:t>
            </a:r>
            <a:r>
              <a:rPr lang="pt-BR" dirty="0"/>
              <a:t> </a:t>
            </a:r>
            <a:r>
              <a:rPr lang="pt-BR" b="1" dirty="0">
                <a:solidFill>
                  <a:srgbClr val="0070C0"/>
                </a:solidFill>
              </a:rPr>
              <a:t>nas bordas</a:t>
            </a:r>
            <a:r>
              <a:rPr lang="pt-BR" dirty="0"/>
              <a:t>.</a:t>
            </a:r>
          </a:p>
          <a:p>
            <a:r>
              <a:rPr lang="pt-BR" dirty="0"/>
              <a:t>Já as </a:t>
            </a:r>
            <a:r>
              <a:rPr lang="pt-BR" b="1" dirty="0">
                <a:solidFill>
                  <a:schemeClr val="accent2"/>
                </a:solidFill>
              </a:rPr>
              <a:t>c</a:t>
            </a:r>
            <a:r>
              <a:rPr lang="pt-BR" b="1" dirty="0">
                <a:solidFill>
                  <a:schemeClr val="accent2"/>
                </a:solidFill>
                <a:effectLst/>
              </a:rPr>
              <a:t>amadas finais não o aplicam</a:t>
            </a:r>
            <a:r>
              <a:rPr lang="pt-BR" dirty="0">
                <a:effectLst/>
              </a:rPr>
              <a:t> para </a:t>
            </a:r>
          </a:p>
          <a:p>
            <a:pPr lvl="1">
              <a:buFont typeface="Wingdings" panose="05000000000000000000" pitchFamily="2" charset="2"/>
              <a:buChar char="§"/>
            </a:pPr>
            <a:r>
              <a:rPr lang="pt-BR" b="0" dirty="0">
                <a:effectLst/>
              </a:rPr>
              <a:t>reduzir a dimensionalidade</a:t>
            </a:r>
          </a:p>
          <a:p>
            <a:pPr lvl="1">
              <a:buFont typeface="Wingdings" panose="05000000000000000000" pitchFamily="2" charset="2"/>
              <a:buChar char="§"/>
            </a:pPr>
            <a:r>
              <a:rPr lang="en-US" dirty="0"/>
              <a:t>e </a:t>
            </a:r>
            <a:r>
              <a:rPr lang="en-US" dirty="0" err="1"/>
              <a:t>extrair</a:t>
            </a:r>
            <a:r>
              <a:rPr lang="en-US" dirty="0"/>
              <a:t> </a:t>
            </a:r>
            <a:r>
              <a:rPr lang="en-US" dirty="0" err="1"/>
              <a:t>caracteristicas</a:t>
            </a:r>
            <a:r>
              <a:rPr lang="en-US" dirty="0"/>
              <a:t> </a:t>
            </a:r>
            <a:r>
              <a:rPr lang="en-US" dirty="0" err="1"/>
              <a:t>mais</a:t>
            </a:r>
            <a:r>
              <a:rPr lang="en-US" dirty="0"/>
              <a:t> </a:t>
            </a:r>
            <a:r>
              <a:rPr lang="en-US" dirty="0" err="1"/>
              <a:t>abstratas</a:t>
            </a:r>
            <a:r>
              <a:rPr lang="en-US" dirty="0"/>
              <a:t>.</a:t>
            </a:r>
            <a:endParaRPr lang="pt-BR" dirty="0"/>
          </a:p>
          <a:p>
            <a:r>
              <a:rPr lang="en-US" b="1" dirty="0" err="1"/>
              <a:t>Caracteristicas</a:t>
            </a:r>
            <a:r>
              <a:rPr lang="en-US" b="1" dirty="0"/>
              <a:t> </a:t>
            </a:r>
            <a:r>
              <a:rPr lang="en-US" b="1" dirty="0" err="1"/>
              <a:t>abstratas</a:t>
            </a:r>
            <a:r>
              <a:rPr lang="en-US" dirty="0"/>
              <a:t>: </a:t>
            </a:r>
            <a:r>
              <a:rPr lang="pt-BR" b="1" dirty="0">
                <a:solidFill>
                  <a:srgbClr val="00B050"/>
                </a:solidFill>
              </a:rPr>
              <a:t>capturam o significado da imagem</a:t>
            </a:r>
            <a:r>
              <a:rPr lang="pt-BR" dirty="0"/>
              <a:t> (</a:t>
            </a:r>
            <a:r>
              <a:rPr lang="pt-BR" b="1" dirty="0">
                <a:solidFill>
                  <a:schemeClr val="accent2"/>
                </a:solidFill>
              </a:rPr>
              <a:t>informação semântica</a:t>
            </a:r>
            <a:r>
              <a:rPr lang="pt-BR" dirty="0"/>
              <a:t>).</a:t>
            </a:r>
          </a:p>
          <a:p>
            <a:pPr lvl="1">
              <a:buFont typeface="Wingdings" panose="05000000000000000000" pitchFamily="2" charset="2"/>
              <a:buChar char="§"/>
            </a:pPr>
            <a:r>
              <a:rPr lang="pt-BR" dirty="0"/>
              <a:t>São as características complexas: objetos completos, </a:t>
            </a:r>
            <a:r>
              <a:rPr lang="en-US" dirty="0" err="1"/>
              <a:t>contexto</a:t>
            </a:r>
            <a:r>
              <a:rPr lang="en-US" dirty="0"/>
              <a:t> da </a:t>
            </a:r>
            <a:r>
              <a:rPr lang="en-US" dirty="0" err="1"/>
              <a:t>cena</a:t>
            </a:r>
            <a:r>
              <a:rPr lang="en-US" dirty="0"/>
              <a:t>, etc.</a:t>
            </a:r>
          </a:p>
        </p:txBody>
      </p:sp>
      <p:pic>
        <p:nvPicPr>
          <p:cNvPr id="6" name="Imagem 5">
            <a:extLst>
              <a:ext uri="{FF2B5EF4-FFF2-40B4-BE49-F238E27FC236}">
                <a16:creationId xmlns:a16="http://schemas.microsoft.com/office/drawing/2014/main" id="{43DFC1B5-93D0-8953-69C0-EC679B928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11615560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B050"/>
                </a:solidFill>
              </a:rPr>
              <a:t>volume 3D</a:t>
            </a:r>
            <a:r>
              <a:rPr lang="pt-BR" dirty="0"/>
              <a:t>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a:t>
            </a:r>
            <a:r>
              <a:rPr lang="pt-BR" b="1" dirty="0">
                <a:solidFill>
                  <a:schemeClr val="accent2"/>
                </a:solidFill>
                <a:effectLst/>
              </a:rPr>
              <a:t>CNN contém uma DNN</a:t>
            </a:r>
            <a:r>
              <a:rPr lang="pt-BR" dirty="0">
                <a:effectLst/>
              </a:rPr>
              <a:t>, com </a:t>
            </a:r>
            <a:r>
              <a:rPr lang="pt-BR" b="1" dirty="0">
                <a:solidFill>
                  <a:srgbClr val="00B050"/>
                </a:solidFill>
                <a:effectLst/>
              </a:rPr>
              <a:t>uma ou mais camadas densas</a:t>
            </a:r>
            <a:r>
              <a:rPr lang="pt-BR" dirty="0">
                <a:effectLst/>
              </a:rPr>
              <a:t>.</a:t>
            </a:r>
          </a:p>
          <a:p>
            <a:r>
              <a:rPr lang="pt-BR" dirty="0"/>
              <a:t>A DNN </a:t>
            </a:r>
          </a:p>
          <a:p>
            <a:pPr lvl="1">
              <a:buFont typeface="Wingdings" panose="05000000000000000000" pitchFamily="2" charset="2"/>
              <a:buChar char="§"/>
            </a:pPr>
            <a:r>
              <a:rPr lang="pt-BR" dirty="0"/>
              <a:t>recebe o vetor 1D com </a:t>
            </a:r>
            <a:r>
              <a:rPr lang="pt-BR" b="1" dirty="0">
                <a:solidFill>
                  <a:srgbClr val="7030A0"/>
                </a:solidFill>
              </a:rPr>
              <a:t>todas as características extraídas</a:t>
            </a:r>
            <a:r>
              <a:rPr lang="pt-BR" dirty="0"/>
              <a:t> pelas camadas convolucionais da rede,</a:t>
            </a:r>
          </a:p>
          <a:p>
            <a:pPr lvl="1">
              <a:buFont typeface="Wingdings" panose="05000000000000000000" pitchFamily="2" charset="2"/>
              <a:buChar char="§"/>
            </a:pPr>
            <a:r>
              <a:rPr lang="pt-BR" b="1" dirty="0">
                <a:solidFill>
                  <a:schemeClr val="accent2"/>
                </a:solidFill>
              </a:rPr>
              <a:t>combinam todas as características</a:t>
            </a:r>
            <a:r>
              <a:rPr lang="pt-BR" dirty="0"/>
              <a:t> extraídas,</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(função </a:t>
            </a:r>
            <a:r>
              <a:rPr lang="pt-BR" i="1" dirty="0"/>
              <a:t>softmax</a:t>
            </a:r>
            <a:r>
              <a:rPr lang="pt-BR" dirty="0"/>
              <a:t>) em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374004" cy="5032375"/>
          </a:xfrm>
        </p:spPr>
        <p:txBody>
          <a:bodyPr>
            <a:normAutofit/>
          </a:bodyPr>
          <a:lstStyle/>
          <a:p>
            <a:r>
              <a:rPr lang="pt-BR" dirty="0"/>
              <a:t>Em outras palavras, elas </a:t>
            </a:r>
            <a:r>
              <a:rPr lang="pt-BR" b="1" dirty="0">
                <a:solidFill>
                  <a:srgbClr val="7030A0"/>
                </a:solidFill>
              </a:rPr>
              <a:t>usam as características detectadas para decidir a classe</a:t>
            </a:r>
            <a:r>
              <a:rPr lang="pt-BR" dirty="0"/>
              <a:t>.</a:t>
            </a:r>
          </a:p>
          <a:p>
            <a:r>
              <a:rPr lang="pt-BR" dirty="0"/>
              <a:t>Por exemplo, se as características de um gato são ativadas → é um gato.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a:p>
            <a:r>
              <a:rPr lang="pt-BR" dirty="0"/>
              <a:t>Ou seja, a DNN aprende </a:t>
            </a:r>
            <a:r>
              <a:rPr lang="pt-BR" b="1" dirty="0">
                <a:solidFill>
                  <a:schemeClr val="accent2"/>
                </a:solidFill>
              </a:rPr>
              <a:t>relações globais entre características</a:t>
            </a:r>
            <a:r>
              <a:rPr lang="pt-BR" dirty="0"/>
              <a:t>.</a:t>
            </a:r>
          </a:p>
          <a:p>
            <a:pPr>
              <a:buFont typeface="Wingdings" panose="05000000000000000000" pitchFamily="2" charset="2"/>
              <a:buChar char="§"/>
            </a:pPr>
            <a:endParaRPr lang="pt-BR"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das camadas ocultas podem ser </a:t>
            </a:r>
            <a:r>
              <a:rPr lang="pt-BR" dirty="0" err="1"/>
              <a:t>logístiva</a:t>
            </a:r>
            <a:r>
              <a:rPr lang="pt-BR" dirty="0"/>
              <a:t> e </a:t>
            </a:r>
            <a:r>
              <a:rPr lang="pt-BR" dirty="0" err="1"/>
              <a:t>tanh</a:t>
            </a:r>
            <a:r>
              <a:rPr lang="pt-BR" dirty="0"/>
              <a:t> (se não forem muitas) e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mais pesos de </a:t>
            </a:r>
            <a:r>
              <a:rPr lang="pt-BR" i="1" dirty="0"/>
              <a:t>bias</a:t>
            </a:r>
          </a:p>
          <a:p>
            <a:pPr lvl="1">
              <a:buFont typeface="Wingdings" panose="05000000000000000000" pitchFamily="2" charset="2"/>
              <a:buChar char="§"/>
            </a:pPr>
            <a:r>
              <a:rPr lang="pt-BR" dirty="0"/>
              <a:t>e pesos das camadas densas</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neural</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b="1"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em </a:t>
            </a:r>
            <a:r>
              <a:rPr lang="pt-BR" b="1" dirty="0">
                <a:solidFill>
                  <a:schemeClr val="accent2"/>
                </a:solidFill>
                <a:effectLst/>
              </a:rPr>
              <a:t>100 categorias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Além de requerer menos dados, o </a:t>
            </a:r>
            <a:r>
              <a:rPr lang="pt-BR" b="0" i="1" dirty="0" err="1">
                <a:effectLst/>
              </a:rPr>
              <a:t>transfer</a:t>
            </a:r>
            <a:r>
              <a:rPr lang="pt-BR" b="0" i="1" dirty="0">
                <a:effectLst/>
              </a:rPr>
              <a:t> learning</a:t>
            </a:r>
            <a:r>
              <a:rPr lang="pt-BR" b="0" dirty="0">
                <a:effectLst/>
              </a:rPr>
              <a:t> </a:t>
            </a:r>
          </a:p>
          <a:p>
            <a:pPr lvl="1">
              <a:buFont typeface="Wingdings" panose="05000000000000000000" pitchFamily="2" charset="2"/>
              <a:buChar char="§"/>
            </a:pPr>
            <a:r>
              <a:rPr lang="pt-BR" b="1" dirty="0">
                <a:solidFill>
                  <a:srgbClr val="00B050"/>
                </a:solidFill>
                <a:effectLst/>
              </a:rPr>
              <a:t>acelera consideravelmente o treinamento</a:t>
            </a:r>
            <a:endParaRPr lang="pt-BR" dirty="0">
              <a:solidFill>
                <a:srgbClr val="00B050"/>
              </a:solidFill>
            </a:endParaRPr>
          </a:p>
          <a:p>
            <a:pPr lvl="1">
              <a:buFont typeface="Wingdings" panose="05000000000000000000" pitchFamily="2" charset="2"/>
              <a:buChar char="§"/>
            </a:pPr>
            <a:r>
              <a:rPr lang="pt-BR" b="1" dirty="0">
                <a:solidFill>
                  <a:schemeClr val="accent2"/>
                </a:solidFill>
              </a:rPr>
              <a:t>e</a:t>
            </a:r>
            <a:r>
              <a:rPr lang="pt-BR" b="1" dirty="0">
                <a:solidFill>
                  <a:schemeClr val="accent2"/>
                </a:solidFill>
                <a:effectLst/>
              </a:rPr>
              <a:t> 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16795</TotalTime>
  <Words>9507</Words>
  <Application>Microsoft Office PowerPoint</Application>
  <PresentationFormat>Widescreen</PresentationFormat>
  <Paragraphs>1604</Paragraphs>
  <Slides>103</Slides>
  <Notes>46</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103</vt:i4>
      </vt:variant>
    </vt:vector>
  </HeadingPairs>
  <TitlesOfParts>
    <vt:vector size="116"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Neurônio</vt:lpstr>
      <vt:lpstr>Padding ou preenchimento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2839</cp:revision>
  <dcterms:created xsi:type="dcterms:W3CDTF">2020-01-20T13:50:05Z</dcterms:created>
  <dcterms:modified xsi:type="dcterms:W3CDTF">2026-05-04T19:44:51Z</dcterms:modified>
</cp:coreProperties>
</file>