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4"/>
  </p:notesMasterIdLst>
  <p:handoutMasterIdLst>
    <p:handoutMasterId r:id="rId105"/>
  </p:handoutMasterIdLst>
  <p:sldIdLst>
    <p:sldId id="494" r:id="rId2"/>
    <p:sldId id="495" r:id="rId3"/>
    <p:sldId id="406" r:id="rId4"/>
    <p:sldId id="496" r:id="rId5"/>
    <p:sldId id="520" r:id="rId6"/>
    <p:sldId id="442" r:id="rId7"/>
    <p:sldId id="484" r:id="rId8"/>
    <p:sldId id="498" r:id="rId9"/>
    <p:sldId id="492" r:id="rId10"/>
    <p:sldId id="497" r:id="rId11"/>
    <p:sldId id="503" r:id="rId12"/>
    <p:sldId id="485" r:id="rId13"/>
    <p:sldId id="522" r:id="rId14"/>
    <p:sldId id="505" r:id="rId15"/>
    <p:sldId id="507" r:id="rId16"/>
    <p:sldId id="516" r:id="rId17"/>
    <p:sldId id="513" r:id="rId18"/>
    <p:sldId id="517" r:id="rId19"/>
    <p:sldId id="515" r:id="rId20"/>
    <p:sldId id="523" r:id="rId21"/>
    <p:sldId id="509" r:id="rId22"/>
    <p:sldId id="431" r:id="rId23"/>
    <p:sldId id="514" r:id="rId24"/>
    <p:sldId id="532" r:id="rId25"/>
    <p:sldId id="487" r:id="rId26"/>
    <p:sldId id="456" r:id="rId27"/>
    <p:sldId id="457" r:id="rId28"/>
    <p:sldId id="451" r:id="rId29"/>
    <p:sldId id="454" r:id="rId30"/>
    <p:sldId id="429" r:id="rId31"/>
    <p:sldId id="435" r:id="rId32"/>
    <p:sldId id="432" r:id="rId33"/>
    <p:sldId id="433" r:id="rId34"/>
    <p:sldId id="434" r:id="rId35"/>
    <p:sldId id="453" r:id="rId36"/>
    <p:sldId id="436" r:id="rId37"/>
    <p:sldId id="590" r:id="rId38"/>
    <p:sldId id="488" r:id="rId39"/>
    <p:sldId id="464" r:id="rId40"/>
    <p:sldId id="465" r:id="rId41"/>
    <p:sldId id="437" r:id="rId42"/>
    <p:sldId id="445" r:id="rId43"/>
    <p:sldId id="449" r:id="rId44"/>
    <p:sldId id="450" r:id="rId45"/>
    <p:sldId id="452" r:id="rId46"/>
    <p:sldId id="511" r:id="rId47"/>
    <p:sldId id="455" r:id="rId48"/>
    <p:sldId id="533" r:id="rId49"/>
    <p:sldId id="591" r:id="rId50"/>
    <p:sldId id="460" r:id="rId51"/>
    <p:sldId id="467" r:id="rId52"/>
    <p:sldId id="530" r:id="rId53"/>
    <p:sldId id="531" r:id="rId54"/>
    <p:sldId id="461" r:id="rId55"/>
    <p:sldId id="493" r:id="rId56"/>
    <p:sldId id="462" r:id="rId57"/>
    <p:sldId id="592" r:id="rId58"/>
    <p:sldId id="466" r:id="rId59"/>
    <p:sldId id="512" r:id="rId60"/>
    <p:sldId id="538" r:id="rId61"/>
    <p:sldId id="539" r:id="rId62"/>
    <p:sldId id="536" r:id="rId63"/>
    <p:sldId id="558" r:id="rId64"/>
    <p:sldId id="541" r:id="rId65"/>
    <p:sldId id="440" r:id="rId66"/>
    <p:sldId id="542" r:id="rId67"/>
    <p:sldId id="554" r:id="rId68"/>
    <p:sldId id="543" r:id="rId69"/>
    <p:sldId id="544" r:id="rId70"/>
    <p:sldId id="545" r:id="rId71"/>
    <p:sldId id="593" r:id="rId72"/>
    <p:sldId id="547" r:id="rId73"/>
    <p:sldId id="548" r:id="rId74"/>
    <p:sldId id="549" r:id="rId75"/>
    <p:sldId id="550" r:id="rId76"/>
    <p:sldId id="551" r:id="rId77"/>
    <p:sldId id="552" r:id="rId78"/>
    <p:sldId id="588" r:id="rId79"/>
    <p:sldId id="589" r:id="rId80"/>
    <p:sldId id="293" r:id="rId81"/>
    <p:sldId id="306" r:id="rId82"/>
    <p:sldId id="491" r:id="rId83"/>
    <p:sldId id="441" r:id="rId84"/>
    <p:sldId id="469" r:id="rId85"/>
    <p:sldId id="470" r:id="rId86"/>
    <p:sldId id="471" r:id="rId87"/>
    <p:sldId id="472" r:id="rId88"/>
    <p:sldId id="475" r:id="rId89"/>
    <p:sldId id="474" r:id="rId90"/>
    <p:sldId id="540" r:id="rId91"/>
    <p:sldId id="478" r:id="rId92"/>
    <p:sldId id="477" r:id="rId93"/>
    <p:sldId id="490" r:id="rId94"/>
    <p:sldId id="438" r:id="rId95"/>
    <p:sldId id="443" r:id="rId96"/>
    <p:sldId id="446" r:id="rId97"/>
    <p:sldId id="447" r:id="rId98"/>
    <p:sldId id="448" r:id="rId99"/>
    <p:sldId id="458" r:id="rId100"/>
    <p:sldId id="459" r:id="rId101"/>
    <p:sldId id="479" r:id="rId102"/>
    <p:sldId id="556" r:id="rId10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91041" autoAdjust="0"/>
  </p:normalViewPr>
  <p:slideViewPr>
    <p:cSldViewPr snapToGrid="0">
      <p:cViewPr varScale="1">
        <p:scale>
          <a:sx n="101" d="100"/>
          <a:sy n="101" d="100"/>
        </p:scale>
        <p:origin x="1314"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5/10/2026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05/10/2026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7319019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partes e objetos completos.</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MLPs </a:t>
            </a:r>
            <a:r>
              <a:rPr lang="en-US" b="1" dirty="0" err="1"/>
              <a:t>não</a:t>
            </a:r>
            <a:r>
              <a:rPr lang="en-US" b="1" dirty="0"/>
              <a:t> </a:t>
            </a:r>
            <a:r>
              <a:rPr lang="en-US" b="1" dirty="0" err="1"/>
              <a:t>exploram</a:t>
            </a:r>
            <a:r>
              <a:rPr lang="en-US" b="1" dirty="0"/>
              <a:t> </a:t>
            </a:r>
            <a:r>
              <a:rPr lang="en-US" b="1" dirty="0" err="1"/>
              <a:t>explicitamente</a:t>
            </a:r>
            <a:r>
              <a:rPr lang="en-US" b="1" dirty="0"/>
              <a:t> à </a:t>
            </a:r>
            <a:r>
              <a:rPr lang="en-US" b="1" dirty="0" err="1"/>
              <a:t>estrutura</a:t>
            </a:r>
            <a:r>
              <a:rPr lang="en-US" b="1" dirty="0"/>
              <a:t> </a:t>
            </a:r>
            <a:r>
              <a:rPr lang="en-US" b="1" dirty="0" err="1"/>
              <a:t>espacial</a:t>
            </a:r>
            <a:r>
              <a:rPr lang="en-US" dirty="0"/>
              <a:t> da </a:t>
            </a:r>
            <a:r>
              <a:rPr lang="en-US" dirty="0" err="1"/>
              <a:t>imagem</a:t>
            </a:r>
            <a:r>
              <a:rPr lang="en-US" dirty="0"/>
              <a:t>.</a:t>
            </a:r>
          </a:p>
          <a:p>
            <a:endParaRPr lang="en-US" dirty="0"/>
          </a:p>
          <a:p>
            <a:r>
              <a:rPr lang="en-US" b="1" dirty="0"/>
              <a:t>MLPs </a:t>
            </a:r>
            <a:r>
              <a:rPr lang="en-US" b="1" dirty="0" err="1"/>
              <a:t>não</a:t>
            </a:r>
            <a:r>
              <a:rPr lang="en-US" b="1" dirty="0"/>
              <a:t> </a:t>
            </a:r>
            <a:r>
              <a:rPr lang="en-US" b="1" dirty="0" err="1"/>
              <a:t>impõe</a:t>
            </a:r>
            <a:r>
              <a:rPr lang="en-US" b="1" dirty="0"/>
              <a:t> </a:t>
            </a:r>
            <a:r>
              <a:rPr lang="en-US" b="1" dirty="0" err="1"/>
              <a:t>que</a:t>
            </a:r>
            <a:r>
              <a:rPr lang="en-US" b="1" dirty="0"/>
              <a:t> pixels </a:t>
            </a:r>
            <a:r>
              <a:rPr lang="en-US" b="1" dirty="0" err="1"/>
              <a:t>próximos</a:t>
            </a:r>
            <a:r>
              <a:rPr lang="en-US" b="1" dirty="0"/>
              <a:t> </a:t>
            </a:r>
            <a:r>
              <a:rPr lang="en-US" b="1" dirty="0" err="1"/>
              <a:t>estejam</a:t>
            </a:r>
            <a:r>
              <a:rPr lang="en-US" b="1" dirty="0"/>
              <a:t> </a:t>
            </a:r>
            <a:r>
              <a:rPr lang="en-US" b="1" dirty="0" err="1"/>
              <a:t>relacionados</a:t>
            </a:r>
            <a:r>
              <a:rPr lang="en-US" b="1" dirty="0"/>
              <a:t> nem </a:t>
            </a:r>
            <a:r>
              <a:rPr lang="en-US" b="1" dirty="0" err="1"/>
              <a:t>que</a:t>
            </a:r>
            <a:r>
              <a:rPr lang="en-US" b="1" dirty="0"/>
              <a:t> o </a:t>
            </a:r>
            <a:r>
              <a:rPr lang="en-US" b="1" dirty="0" err="1"/>
              <a:t>mesmo</a:t>
            </a:r>
            <a:r>
              <a:rPr lang="en-US" b="1" dirty="0"/>
              <a:t> </a:t>
            </a:r>
            <a:r>
              <a:rPr lang="en-US" b="1" dirty="0" err="1"/>
              <a:t>padrão</a:t>
            </a:r>
            <a:r>
              <a:rPr lang="en-US" b="1" dirty="0"/>
              <a:t> </a:t>
            </a:r>
            <a:r>
              <a:rPr lang="en-US" b="1" dirty="0" err="1"/>
              <a:t>seja</a:t>
            </a:r>
            <a:r>
              <a:rPr lang="en-US" b="1" dirty="0"/>
              <a:t> </a:t>
            </a:r>
            <a:r>
              <a:rPr lang="en-US" b="1" dirty="0" err="1"/>
              <a:t>detectado</a:t>
            </a:r>
            <a:r>
              <a:rPr lang="en-US" b="1" dirty="0"/>
              <a:t> </a:t>
            </a:r>
            <a:r>
              <a:rPr lang="en-US" b="1" dirty="0" err="1"/>
              <a:t>independentemente</a:t>
            </a:r>
            <a:r>
              <a:rPr lang="en-US" b="1" dirty="0"/>
              <a:t> da </a:t>
            </a:r>
            <a:r>
              <a:rPr lang="en-US" b="1" dirty="0" err="1"/>
              <a:t>posição</a:t>
            </a:r>
            <a:r>
              <a:rPr lang="en-US" dirty="0"/>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informações próximas umas das outras estão relacionadas. </a:t>
            </a:r>
            <a:endParaRPr lang="pt-BR" b="0" i="0" dirty="0">
              <a:solidFill>
                <a:srgbClr val="404040"/>
              </a:solidFill>
              <a:effectLst/>
              <a:latin typeface="DeepSeek-CJK-patch"/>
            </a:endParaRPr>
          </a:p>
          <a:p>
            <a:endParaRPr lang="pt-BR" b="0" i="0" dirty="0">
              <a:solidFill>
                <a:srgbClr val="404040"/>
              </a:solidFill>
              <a:effectLst/>
              <a:latin typeface="DeepSeek-CJK-patch"/>
            </a:endParaRPr>
          </a:p>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DNNs,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Uma MLP </a:t>
            </a:r>
            <a:r>
              <a:rPr lang="en-US" dirty="0" err="1"/>
              <a:t>que</a:t>
            </a:r>
            <a:r>
              <a:rPr lang="en-US" dirty="0"/>
              <a:t> </a:t>
            </a:r>
            <a:r>
              <a:rPr lang="en-US" dirty="0" err="1"/>
              <a:t>aprendeu</a:t>
            </a:r>
            <a:r>
              <a:rPr lang="en-US" dirty="0"/>
              <a:t> a </a:t>
            </a:r>
            <a:r>
              <a:rPr lang="en-US" dirty="0" err="1"/>
              <a:t>reconhecer</a:t>
            </a:r>
            <a:r>
              <a:rPr lang="en-US" dirty="0"/>
              <a:t> um </a:t>
            </a:r>
            <a:r>
              <a:rPr lang="en-US" dirty="0" err="1"/>
              <a:t>olho</a:t>
            </a:r>
            <a:r>
              <a:rPr lang="en-US" dirty="0"/>
              <a:t> no canto superior </a:t>
            </a:r>
            <a:r>
              <a:rPr lang="en-US" dirty="0" err="1"/>
              <a:t>esquerdo</a:t>
            </a:r>
            <a:r>
              <a:rPr lang="en-US" dirty="0"/>
              <a:t> </a:t>
            </a:r>
            <a:r>
              <a:rPr lang="en-US" dirty="0" err="1"/>
              <a:t>precisa</a:t>
            </a:r>
            <a:r>
              <a:rPr lang="en-US" dirty="0"/>
              <a:t> </a:t>
            </a:r>
            <a:r>
              <a:rPr lang="en-US" dirty="0" err="1"/>
              <a:t>reaprender</a:t>
            </a:r>
            <a:r>
              <a:rPr lang="en-US" dirty="0"/>
              <a:t> o </a:t>
            </a:r>
            <a:r>
              <a:rPr lang="en-US" dirty="0" err="1"/>
              <a:t>mesmo</a:t>
            </a:r>
            <a:r>
              <a:rPr lang="en-US" dirty="0"/>
              <a:t> </a:t>
            </a:r>
            <a:r>
              <a:rPr lang="en-US" dirty="0" err="1"/>
              <a:t>padrão</a:t>
            </a:r>
            <a:r>
              <a:rPr lang="en-US" dirty="0"/>
              <a:t> </a:t>
            </a:r>
            <a:r>
              <a:rPr lang="en-US" dirty="0" err="1"/>
              <a:t>em</a:t>
            </a:r>
            <a:r>
              <a:rPr lang="en-US" dirty="0"/>
              <a:t> </a:t>
            </a:r>
            <a:r>
              <a:rPr lang="en-US" dirty="0" err="1"/>
              <a:t>cada</a:t>
            </a:r>
            <a:r>
              <a:rPr lang="en-US" dirty="0"/>
              <a:t> </a:t>
            </a:r>
            <a:r>
              <a:rPr lang="en-US" dirty="0" err="1"/>
              <a:t>posição</a:t>
            </a:r>
            <a:r>
              <a:rPr lang="en-US" dirty="0"/>
              <a:t>.</a:t>
            </a:r>
          </a:p>
          <a:p>
            <a:endParaRPr lang="en-US" dirty="0"/>
          </a:p>
          <a:p>
            <a:r>
              <a:rPr lang="en-US" dirty="0"/>
              <a:t>A MLP </a:t>
            </a:r>
            <a:r>
              <a:rPr lang="en-US" dirty="0" err="1"/>
              <a:t>precisa</a:t>
            </a:r>
            <a:r>
              <a:rPr lang="en-US" dirty="0"/>
              <a:t> de </a:t>
            </a:r>
            <a:r>
              <a:rPr lang="en-US" dirty="0" err="1"/>
              <a:t>capacidade</a:t>
            </a:r>
            <a:r>
              <a:rPr lang="en-US" dirty="0"/>
              <a:t> extra para </a:t>
            </a:r>
            <a:r>
              <a:rPr lang="en-US" dirty="0" err="1"/>
              <a:t>compensar</a:t>
            </a:r>
            <a:r>
              <a:rPr lang="en-US" dirty="0"/>
              <a:t> o </a:t>
            </a:r>
            <a:r>
              <a:rPr lang="en-US" dirty="0" err="1"/>
              <a:t>que</a:t>
            </a:r>
            <a:r>
              <a:rPr lang="en-US" dirty="0"/>
              <a:t> a CNN </a:t>
            </a:r>
            <a:r>
              <a:rPr lang="en-US" dirty="0" err="1"/>
              <a:t>já</a:t>
            </a:r>
            <a:r>
              <a:rPr lang="en-US" dirty="0"/>
              <a:t> </a:t>
            </a:r>
            <a:r>
              <a:rPr lang="en-US" dirty="0" err="1"/>
              <a:t>tem</a:t>
            </a:r>
            <a:r>
              <a:rPr lang="en-US" dirty="0"/>
              <a:t> </a:t>
            </a:r>
            <a:r>
              <a:rPr lang="en-US" dirty="0" err="1"/>
              <a:t>embutido</a:t>
            </a:r>
            <a:r>
              <a:rPr lang="en-US" dirty="0"/>
              <a:t>: se um </a:t>
            </a:r>
            <a:r>
              <a:rPr lang="en-US" dirty="0" err="1"/>
              <a:t>padrão</a:t>
            </a:r>
            <a:r>
              <a:rPr lang="en-US" dirty="0"/>
              <a:t> </a:t>
            </a:r>
            <a:r>
              <a:rPr lang="en-US" dirty="0" err="1"/>
              <a:t>pode</a:t>
            </a:r>
            <a:r>
              <a:rPr lang="en-US" dirty="0"/>
              <a:t> </a:t>
            </a:r>
            <a:r>
              <a:rPr lang="en-US" dirty="0" err="1"/>
              <a:t>aparecer</a:t>
            </a:r>
            <a:r>
              <a:rPr lang="en-US" dirty="0"/>
              <a:t> </a:t>
            </a:r>
            <a:r>
              <a:rPr lang="en-US" dirty="0" err="1"/>
              <a:t>em</a:t>
            </a:r>
            <a:r>
              <a:rPr lang="en-US" dirty="0"/>
              <a:t> </a:t>
            </a:r>
            <a:r>
              <a:rPr lang="en-US" dirty="0" err="1"/>
              <a:t>várias</a:t>
            </a:r>
            <a:r>
              <a:rPr lang="en-US" dirty="0"/>
              <a:t> </a:t>
            </a:r>
            <a:r>
              <a:rPr lang="en-US" dirty="0" err="1"/>
              <a:t>posições</a:t>
            </a:r>
            <a:r>
              <a:rPr lang="en-US" dirty="0"/>
              <a:t>, a MLP </a:t>
            </a:r>
            <a:r>
              <a:rPr lang="en-US" dirty="0" err="1"/>
              <a:t>precisa</a:t>
            </a:r>
            <a:r>
              <a:rPr lang="en-US" dirty="0"/>
              <a:t> de </a:t>
            </a:r>
            <a:r>
              <a:rPr lang="en-US" dirty="0" err="1"/>
              <a:t>neurônios</a:t>
            </a:r>
            <a:r>
              <a:rPr lang="en-US" dirty="0"/>
              <a:t> </a:t>
            </a:r>
            <a:r>
              <a:rPr lang="en-US" dirty="0" err="1"/>
              <a:t>dedicados</a:t>
            </a:r>
            <a:r>
              <a:rPr lang="en-US" dirty="0"/>
              <a:t> a </a:t>
            </a:r>
            <a:r>
              <a:rPr lang="en-US" dirty="0" err="1"/>
              <a:t>detectá</a:t>
            </a:r>
            <a:r>
              <a:rPr lang="en-US" dirty="0"/>
              <a:t>-lo </a:t>
            </a:r>
            <a:r>
              <a:rPr lang="en-US" dirty="0" err="1"/>
              <a:t>em</a:t>
            </a:r>
            <a:r>
              <a:rPr lang="en-US" dirty="0"/>
              <a:t> </a:t>
            </a:r>
            <a:r>
              <a:rPr lang="en-US" dirty="0" err="1"/>
              <a:t>cada</a:t>
            </a:r>
            <a:r>
              <a:rPr lang="en-US" dirty="0"/>
              <a:t> </a:t>
            </a:r>
            <a:r>
              <a:rPr lang="en-US" dirty="0" err="1"/>
              <a:t>uma</a:t>
            </a:r>
            <a:r>
              <a:rPr lang="en-US" dirty="0"/>
              <a:t> delas.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8748644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171450" lvl="0" indent="-171450">
              <a:buFont typeface="Arial" panose="020B0604020202020204" pitchFamily="34" charset="0"/>
              <a:buChar char="•"/>
            </a:pPr>
            <a:r>
              <a:rPr lang="pt-BR" b="0" dirty="0"/>
              <a:t>Localidade espacial: pixels próximos são correlacionados</a:t>
            </a:r>
          </a:p>
          <a:p>
            <a:pPr marL="171450" lvl="0" indent="-171450">
              <a:buFont typeface="Arial" panose="020B0604020202020204" pitchFamily="34" charset="0"/>
              <a:buChar char="•"/>
            </a:pPr>
            <a:r>
              <a:rPr lang="pt-BR" b="0" dirty="0" err="1"/>
              <a:t>Estacionariedade</a:t>
            </a:r>
            <a:r>
              <a:rPr lang="pt-BR" b="0" dirty="0"/>
              <a:t>: o mesmo padrão pode se repetir em outras posições da imagem</a:t>
            </a:r>
          </a:p>
          <a:p>
            <a:pPr marL="171450" lvl="0" indent="-171450">
              <a:buFont typeface="Arial" panose="020B0604020202020204" pitchFamily="34" charset="0"/>
              <a:buChar char="•"/>
            </a:pPr>
            <a:r>
              <a:rPr lang="pt-BR" b="0" dirty="0"/>
              <a:t>Composição hierárquica de padrões: </a:t>
            </a:r>
            <a:r>
              <a:rPr lang="pt-BR" dirty="0"/>
              <a:t>Padrões simples formam padrões mais complexos</a:t>
            </a:r>
            <a:endParaRPr lang="pt-BR" b="0"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CNNs,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1B86E25-C733-F00E-2902-83B5D6D6AABB}"/>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3F273BE8-B07A-317C-4EAC-657A5DFD4A94}"/>
              </a:ext>
            </a:extLst>
          </p:cNvPr>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id="{FF9DFED9-07CB-1299-72FB-DFEA3B5A5C43}"/>
              </a:ext>
            </a:extLst>
          </p:cNvPr>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 CNN:</a:t>
            </a:r>
          </a:p>
          <a:p>
            <a:r>
              <a:rPr lang="pt-BR" dirty="0"/>
              <a:t>cada filtro aprende um padrão específico </a:t>
            </a:r>
          </a:p>
          <a:p>
            <a:r>
              <a:rPr lang="pt-BR" dirty="0"/>
              <a:t>incluindo </a:t>
            </a:r>
            <a:r>
              <a:rPr lang="pt-BR" b="1" dirty="0"/>
              <a:t>orientação</a:t>
            </a:r>
            <a:r>
              <a:rPr lang="pt-BR" dirty="0"/>
              <a:t> </a:t>
            </a:r>
          </a:p>
          <a:p>
            <a:r>
              <a:rPr lang="pt-BR" dirty="0"/>
              <a:t>📌 Resultado:</a:t>
            </a:r>
          </a:p>
          <a:p>
            <a:r>
              <a:rPr lang="pt-BR" dirty="0"/>
              <a:t>um filtro que detecta uma borda vertical não detecta a mesma borda rotacionada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dirty="0" err="1"/>
              <a:t>pooling</a:t>
            </a:r>
            <a:r>
              <a:rPr lang="pt-BR" dirty="0"/>
              <a:t> NÃO torna a rede invariante à rotação.</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DDD92-4A56-B373-7E56-5DFA5F1F4CB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CE21C55-9883-C91A-ED04-C20DA8056AF5}"/>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1C79975A-1861-16A8-B741-A6657BACD12E}"/>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9996389E-F565-0B86-9A11-118EBD8E4A43}"/>
              </a:ext>
            </a:extLst>
          </p:cNvPr>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94060600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05/10/2026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23.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02.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46.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79.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9.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100.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são a base das </a:t>
            </a:r>
            <a:r>
              <a:rPr lang="pt-BR" sz="2800" i="1" dirty="0" err="1"/>
              <a:t>Convolutional</a:t>
            </a:r>
            <a:r>
              <a:rPr lang="pt-BR" sz="2800" i="1" dirty="0"/>
              <a:t> Neural Networks </a:t>
            </a:r>
            <a:r>
              <a:rPr lang="pt-BR" sz="2800" dirty="0"/>
              <a:t>(CNNs).</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DNNs versus CNNs</a:t>
            </a:r>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fontScale="92500" lnSpcReduction="10000"/>
          </a:bodyPr>
          <a:lstStyle/>
          <a:p>
            <a:r>
              <a:rPr lang="pt-BR" dirty="0"/>
              <a:t>A </a:t>
            </a:r>
            <a:r>
              <a:rPr lang="pt-BR" b="1" dirty="0">
                <a:solidFill>
                  <a:srgbClr val="00B050"/>
                </a:solidFill>
              </a:rPr>
              <a:t>principal diferença</a:t>
            </a:r>
            <a:r>
              <a:rPr lang="pt-BR" dirty="0"/>
              <a:t> para uma rede densa (DNN) é que ao invés de </a:t>
            </a:r>
            <a:r>
              <a:rPr lang="pt-BR" b="1" dirty="0">
                <a:solidFill>
                  <a:srgbClr val="00B050"/>
                </a:solidFill>
              </a:rPr>
              <a:t>aprender </a:t>
            </a:r>
            <a:r>
              <a:rPr lang="pt-BR" b="1" dirty="0">
                <a:solidFill>
                  <a:srgbClr val="7030A0"/>
                </a:solidFill>
              </a:rPr>
              <a:t>relações globais </a:t>
            </a:r>
            <a:r>
              <a:rPr lang="pt-BR" b="1" dirty="0">
                <a:solidFill>
                  <a:srgbClr val="00B050"/>
                </a:solidFill>
              </a:rPr>
              <a:t>entre os atributos</a:t>
            </a:r>
            <a:r>
              <a:rPr lang="pt-BR" dirty="0"/>
              <a:t>, uma </a:t>
            </a:r>
            <a:r>
              <a:rPr lang="pt-BR" b="1" dirty="0">
                <a:solidFill>
                  <a:srgbClr val="00B050"/>
                </a:solidFill>
              </a:rPr>
              <a:t>CNN aprende </a:t>
            </a:r>
            <a:r>
              <a:rPr lang="pt-BR" b="1" dirty="0">
                <a:solidFill>
                  <a:srgbClr val="7030A0"/>
                </a:solidFill>
              </a:rPr>
              <a:t>relações (padrões) locais,</a:t>
            </a:r>
            <a:r>
              <a:rPr lang="pt-BR" dirty="0"/>
              <a:t> que podem aparecer em qualquer lugar,</a:t>
            </a:r>
            <a:r>
              <a:rPr lang="pt-BR" b="1" dirty="0">
                <a:solidFill>
                  <a:srgbClr val="00B050"/>
                </a:solidFill>
              </a:rPr>
              <a:t> através de filtros de convolução </a:t>
            </a:r>
            <a:r>
              <a:rPr lang="pt-BR" dirty="0"/>
              <a:t>(ou </a:t>
            </a:r>
            <a:r>
              <a:rPr lang="pt-BR" b="1" i="1" dirty="0">
                <a:solidFill>
                  <a:schemeClr val="accent2"/>
                </a:solidFill>
              </a:rPr>
              <a:t>kernels</a:t>
            </a:r>
            <a:r>
              <a:rPr lang="pt-BR" dirty="0"/>
              <a:t>).</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a:t>Em geral, CNNs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DNNs?</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40" y="1825624"/>
            <a:ext cx="6695660" cy="5032375"/>
          </a:xfrm>
        </p:spPr>
        <p:txBody>
          <a:bodyPr>
            <a:normAutofit/>
          </a:bodyPr>
          <a:lstStyle/>
          <a:p>
            <a:r>
              <a:rPr lang="pt-BR" b="0" noProof="0" dirty="0">
                <a:effectLst/>
              </a:rPr>
              <a:t>DNNs são </a:t>
            </a:r>
            <a:r>
              <a:rPr lang="pt-BR" b="1" noProof="0" dirty="0">
                <a:solidFill>
                  <a:srgbClr val="00B050"/>
                </a:solidFill>
                <a:effectLst/>
              </a:rPr>
              <a:t>adequadas para dados </a:t>
            </a:r>
            <a:r>
              <a:rPr lang="pt-BR" b="1" noProof="0" dirty="0">
                <a:solidFill>
                  <a:schemeClr val="accent2"/>
                </a:solidFill>
                <a:effectLst/>
              </a:rPr>
              <a:t>tabulares</a:t>
            </a:r>
            <a:r>
              <a:rPr lang="pt-BR" b="0" noProof="0" dirty="0">
                <a:effectLst/>
              </a:rPr>
              <a:t>, onde os </a:t>
            </a:r>
            <a:r>
              <a:rPr lang="pt-BR" b="1" noProof="0" dirty="0">
                <a:solidFill>
                  <a:srgbClr val="00B050"/>
                </a:solidFill>
                <a:effectLst/>
              </a:rPr>
              <a:t>exemplos são representados por linhas e os atributos por colunas</a:t>
            </a:r>
            <a:r>
              <a:rPr lang="pt-BR" b="0" noProof="0" dirty="0">
                <a:effectLst/>
              </a:rPr>
              <a:t>.</a:t>
            </a:r>
          </a:p>
          <a:p>
            <a:r>
              <a:rPr lang="pt-BR" noProof="0" dirty="0"/>
              <a:t>O objetivo de uma MLP é </a:t>
            </a:r>
            <a:r>
              <a:rPr lang="pt-BR" b="1" noProof="0" dirty="0"/>
              <a:t>aprender </a:t>
            </a:r>
            <a:r>
              <a:rPr lang="pt-BR" b="1" noProof="0" dirty="0">
                <a:solidFill>
                  <a:srgbClr val="0070C0"/>
                </a:solidFill>
              </a:rPr>
              <a:t>relações globais</a:t>
            </a:r>
            <a:r>
              <a:rPr lang="pt-BR" b="1" noProof="0" dirty="0"/>
              <a:t> entre os atributos</a:t>
            </a:r>
            <a:r>
              <a:rPr lang="pt-BR" noProof="0" dirty="0"/>
              <a:t>, sem </a:t>
            </a:r>
            <a:r>
              <a:rPr lang="pt-BR" b="1" noProof="0" dirty="0">
                <a:solidFill>
                  <a:srgbClr val="00B0F0"/>
                </a:solidFill>
              </a:rPr>
              <a:t>considerar uma estrutura espacial ou de vizinhança </a:t>
            </a:r>
            <a:r>
              <a:rPr lang="pt-BR" noProof="0" dirty="0"/>
              <a:t>entre eles.</a:t>
            </a:r>
          </a:p>
          <a:p>
            <a:r>
              <a:rPr lang="pt-BR" noProof="0" dirty="0"/>
              <a:t>DNNs </a:t>
            </a:r>
            <a:r>
              <a:rPr lang="pt-BR" b="1" noProof="0" dirty="0">
                <a:solidFill>
                  <a:srgbClr val="7030A0"/>
                </a:solidFill>
              </a:rPr>
              <a:t>não possuem</a:t>
            </a:r>
            <a:r>
              <a:rPr lang="pt-BR" noProof="0" dirty="0"/>
              <a:t>, por construção, </a:t>
            </a:r>
            <a:r>
              <a:rPr lang="pt-BR" b="1" noProof="0" dirty="0">
                <a:solidFill>
                  <a:srgbClr val="7030A0"/>
                </a:solidFill>
              </a:rPr>
              <a:t>conhecimento de que </a:t>
            </a:r>
            <a:r>
              <a:rPr lang="pt-BR" b="1" i="1" noProof="0" dirty="0">
                <a:solidFill>
                  <a:srgbClr val="7030A0"/>
                </a:solidFill>
              </a:rPr>
              <a:t>pixels</a:t>
            </a:r>
            <a:r>
              <a:rPr lang="pt-BR" b="1" noProof="0" dirty="0">
                <a:solidFill>
                  <a:srgbClr val="7030A0"/>
                </a:solidFill>
              </a:rPr>
              <a:t> próximos formam uma estrutura espacial (i.e., estão relacionados)</a:t>
            </a:r>
            <a:r>
              <a:rPr lang="pt-BR" noProof="0" dirty="0"/>
              <a:t>.</a:t>
            </a:r>
            <a:endParaRPr lang="pt-BR" b="0" noProof="0" dirty="0">
              <a:effectLst/>
            </a:endParaRP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387886" y="1725546"/>
            <a:ext cx="4588632" cy="3834362"/>
          </a:xfrm>
          <a:prstGeom prst="rect">
            <a:avLst/>
          </a:prstGeom>
        </p:spPr>
      </p:pic>
      <p:sp>
        <p:nvSpPr>
          <p:cNvPr id="4" name="CaixaDeTexto 3">
            <a:extLst>
              <a:ext uri="{FF2B5EF4-FFF2-40B4-BE49-F238E27FC236}">
                <a16:creationId xmlns:a16="http://schemas.microsoft.com/office/drawing/2014/main" id="{95FA7017-2A82-FBFD-66BC-D195F1B43CB2}"/>
              </a:ext>
            </a:extLst>
          </p:cNvPr>
          <p:cNvSpPr txBox="1"/>
          <p:nvPr/>
        </p:nvSpPr>
        <p:spPr>
          <a:xfrm>
            <a:off x="387886" y="6169709"/>
            <a:ext cx="4423144" cy="646331"/>
          </a:xfrm>
          <a:prstGeom prst="rect">
            <a:avLst/>
          </a:prstGeom>
          <a:noFill/>
        </p:spPr>
        <p:txBody>
          <a:bodyPr wrap="square" rtlCol="0">
            <a:spAutoFit/>
          </a:bodyPr>
          <a:lstStyle/>
          <a:p>
            <a:pPr algn="ctr"/>
            <a:r>
              <a:rPr lang="pt-BR" dirty="0"/>
              <a:t>A MLP aprende o que é um 7 </a:t>
            </a:r>
            <a:r>
              <a:rPr lang="pt-BR" b="1" dirty="0">
                <a:solidFill>
                  <a:schemeClr val="accent2"/>
                </a:solidFill>
              </a:rPr>
              <a:t>relacionando todos</a:t>
            </a:r>
            <a:r>
              <a:rPr lang="pt-BR" dirty="0"/>
              <a:t> os 784 </a:t>
            </a:r>
            <a:r>
              <a:rPr lang="pt-BR" i="1" dirty="0"/>
              <a:t>pixels</a:t>
            </a:r>
            <a:r>
              <a:rPr lang="pt-BR" dirty="0"/>
              <a:t>.</a:t>
            </a:r>
            <a:endParaRPr lang="en-US" dirty="0"/>
          </a:p>
        </p:txBody>
      </p:sp>
      <mc:AlternateContent xmlns:mc="http://schemas.openxmlformats.org/markup-compatibility/2006">
        <mc:Choice xmlns:a14="http://schemas.microsoft.com/office/drawing/2010/main" Requires="a14">
          <p:sp>
            <p:nvSpPr>
              <p:cNvPr id="7" name="CaixaDeTexto 6">
                <a:extLst>
                  <a:ext uri="{FF2B5EF4-FFF2-40B4-BE49-F238E27FC236}">
                    <a16:creationId xmlns:a16="http://schemas.microsoft.com/office/drawing/2014/main" id="{0EB66EDE-4FEF-7030-6EF2-A0CBD51FAE51}"/>
                  </a:ext>
                </a:extLst>
              </p:cNvPr>
              <p:cNvSpPr txBox="1"/>
              <p:nvPr/>
            </p:nvSpPr>
            <p:spPr>
              <a:xfrm>
                <a:off x="377573" y="5744794"/>
                <a:ext cx="4507345" cy="369332"/>
              </a:xfrm>
              <a:prstGeom prst="rect">
                <a:avLst/>
              </a:prstGeom>
              <a:noFill/>
            </p:spPr>
            <p:txBody>
              <a:bodyPr wrap="square" rtlCol="0">
                <a:spAutoFit/>
              </a:bodyPr>
              <a:lstStyle/>
              <a:p>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𝑁</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i="1">
                              <a:latin typeface="Cambria Math" panose="02040503050406030204" pitchFamily="18" charset="0"/>
                            </a:rPr>
                            <m:t>1</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784</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784</m:t>
                          </m:r>
                        </m:sub>
                      </m:sSub>
                    </m:oMath>
                  </m:oMathPara>
                </a14:m>
                <a:endParaRPr lang="en-US" dirty="0"/>
              </a:p>
            </p:txBody>
          </p:sp>
        </mc:Choice>
        <mc:Fallback>
          <p:sp>
            <p:nvSpPr>
              <p:cNvPr id="7" name="CaixaDeTexto 6">
                <a:extLst>
                  <a:ext uri="{FF2B5EF4-FFF2-40B4-BE49-F238E27FC236}">
                    <a16:creationId xmlns:a16="http://schemas.microsoft.com/office/drawing/2014/main" id="{0EB66EDE-4FEF-7030-6EF2-A0CBD51FAE51}"/>
                  </a:ext>
                </a:extLst>
              </p:cNvPr>
              <p:cNvSpPr txBox="1">
                <a:spLocks noRot="1" noChangeAspect="1" noMove="1" noResize="1" noEditPoints="1" noAdjustHandles="1" noChangeArrowheads="1" noChangeShapeType="1" noTextEdit="1"/>
              </p:cNvSpPr>
              <p:nvPr/>
            </p:nvSpPr>
            <p:spPr>
              <a:xfrm>
                <a:off x="377573" y="5744794"/>
                <a:ext cx="4507345" cy="369332"/>
              </a:xfrm>
              <a:prstGeom prst="rect">
                <a:avLst/>
              </a:prstGeom>
              <a:blipFill>
                <a:blip r:embed="rId4"/>
                <a:stretch>
                  <a:fillRect b="-6557"/>
                </a:stretch>
              </a:blipFill>
            </p:spPr>
            <p:txBody>
              <a:bodyPr/>
              <a:lstStyle/>
              <a:p>
                <a:r>
                  <a:rPr lang="en-US">
                    <a:noFill/>
                  </a:rPr>
                  <a:t> </a:t>
                </a:r>
              </a:p>
            </p:txBody>
          </p:sp>
        </mc:Fallback>
      </mc:AlternateContent>
      <p:cxnSp>
        <p:nvCxnSpPr>
          <p:cNvPr id="9" name="Conector de Seta Reta 8">
            <a:extLst>
              <a:ext uri="{FF2B5EF4-FFF2-40B4-BE49-F238E27FC236}">
                <a16:creationId xmlns:a16="http://schemas.microsoft.com/office/drawing/2014/main" id="{4A778D9C-8279-D912-26AC-933241651C0D}"/>
              </a:ext>
            </a:extLst>
          </p:cNvPr>
          <p:cNvCxnSpPr>
            <a:stCxn id="7" idx="0"/>
          </p:cNvCxnSpPr>
          <p:nvPr/>
        </p:nvCxnSpPr>
        <p:spPr>
          <a:xfrm flipV="1">
            <a:off x="2631246" y="5486400"/>
            <a:ext cx="1091009" cy="2583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228896" y="1690688"/>
            <a:ext cx="5963104" cy="5167311"/>
          </a:xfrm>
        </p:spPr>
        <p:txBody>
          <a:bodyPr>
            <a:normAutofit/>
          </a:bodyPr>
          <a:lstStyle/>
          <a:p>
            <a:r>
              <a:rPr lang="pt-BR" noProof="0" dirty="0"/>
              <a:t>DNNs </a:t>
            </a:r>
            <a:r>
              <a:rPr lang="pt-BR" b="1" noProof="0" dirty="0">
                <a:solidFill>
                  <a:srgbClr val="00B050"/>
                </a:solidFill>
              </a:rPr>
              <a:t>aprendem</a:t>
            </a:r>
            <a:r>
              <a:rPr lang="pt-BR" b="1" noProof="0" dirty="0">
                <a:solidFill>
                  <a:srgbClr val="7030A0"/>
                </a:solidFill>
              </a:rPr>
              <a:t> </a:t>
            </a:r>
            <a:r>
              <a:rPr lang="pt-BR" b="1" noProof="0" dirty="0">
                <a:solidFill>
                  <a:schemeClr val="accent2"/>
                </a:solidFill>
              </a:rPr>
              <a:t>padrões globais</a:t>
            </a:r>
            <a:r>
              <a:rPr lang="pt-BR" noProof="0" dirty="0"/>
              <a:t>.</a:t>
            </a:r>
          </a:p>
          <a:p>
            <a:r>
              <a:rPr lang="pt-BR" noProof="0" dirty="0"/>
              <a:t>Elas </a:t>
            </a:r>
            <a:r>
              <a:rPr lang="pt-BR" b="1" noProof="0" dirty="0">
                <a:solidFill>
                  <a:srgbClr val="FF0000"/>
                </a:solidFill>
              </a:rPr>
              <a:t>não incorporam explicitamente</a:t>
            </a:r>
            <a:r>
              <a:rPr lang="pt-BR" b="1" noProof="0" dirty="0">
                <a:solidFill>
                  <a:srgbClr val="00B050"/>
                </a:solidFill>
              </a:rPr>
              <a:t> </a:t>
            </a:r>
            <a:r>
              <a:rPr lang="pt-BR" noProof="0" dirty="0"/>
              <a:t>a</a:t>
            </a:r>
            <a:r>
              <a:rPr lang="pt-BR" b="1" noProof="0" dirty="0">
                <a:solidFill>
                  <a:srgbClr val="00B050"/>
                </a:solidFill>
              </a:rPr>
              <a:t> </a:t>
            </a:r>
            <a:r>
              <a:rPr lang="pt-BR" b="1" noProof="0" dirty="0">
                <a:solidFill>
                  <a:srgbClr val="7030A0"/>
                </a:solidFill>
              </a:rPr>
              <a:t>localidade espacial</a:t>
            </a:r>
            <a:r>
              <a:rPr lang="pt-BR" b="1" noProof="0" dirty="0">
                <a:solidFill>
                  <a:srgbClr val="00B050"/>
                </a:solidFill>
              </a:rPr>
              <a:t> </a:t>
            </a:r>
            <a:r>
              <a:rPr lang="pt-BR" noProof="0" dirty="0"/>
              <a:t>em dados com topologia de grade (e.g., imagens).</a:t>
            </a:r>
          </a:p>
          <a:p>
            <a:pPr lvl="1">
              <a:buFont typeface="Wingdings" panose="05000000000000000000" pitchFamily="2" charset="2"/>
              <a:buChar char="§"/>
            </a:pPr>
            <a:r>
              <a:rPr lang="pt-BR" b="1" noProof="0" dirty="0">
                <a:solidFill>
                  <a:srgbClr val="7030A0"/>
                </a:solidFill>
              </a:rPr>
              <a:t>Localidade espacial</a:t>
            </a:r>
            <a:r>
              <a:rPr lang="pt-BR" b="0" noProof="0" dirty="0">
                <a:effectLst/>
              </a:rPr>
              <a:t>: </a:t>
            </a:r>
            <a:r>
              <a:rPr lang="pt-BR" b="1" noProof="0" dirty="0">
                <a:solidFill>
                  <a:schemeClr val="accent2"/>
                </a:solidFill>
                <a:effectLst/>
              </a:rPr>
              <a:t>região</a:t>
            </a:r>
            <a:r>
              <a:rPr lang="pt-BR" b="0" noProof="0" dirty="0">
                <a:effectLst/>
              </a:rPr>
              <a:t> onde </a:t>
            </a:r>
            <a:r>
              <a:rPr lang="pt-BR" b="1" noProof="0" dirty="0">
                <a:solidFill>
                  <a:srgbClr val="00B050"/>
                </a:solidFill>
                <a:effectLst/>
              </a:rPr>
              <a:t>informações próximas </a:t>
            </a:r>
            <a:r>
              <a:rPr lang="pt-BR" b="0" noProof="0" dirty="0">
                <a:effectLst/>
              </a:rPr>
              <a:t>umas das outras </a:t>
            </a:r>
            <a:r>
              <a:rPr lang="pt-BR" b="1" noProof="0" dirty="0">
                <a:solidFill>
                  <a:srgbClr val="00B050"/>
                </a:solidFill>
                <a:effectLst/>
              </a:rPr>
              <a:t>estão relacionadas</a:t>
            </a:r>
            <a:r>
              <a:rPr lang="pt-BR" b="0" noProof="0" dirty="0">
                <a:effectLst/>
              </a:rPr>
              <a:t>.</a:t>
            </a:r>
          </a:p>
          <a:p>
            <a:pPr lvl="1">
              <a:buFont typeface="Wingdings" panose="05000000000000000000" pitchFamily="2" charset="2"/>
              <a:buChar char="§"/>
            </a:pPr>
            <a:r>
              <a:rPr lang="pt-BR" b="1" dirty="0">
                <a:solidFill>
                  <a:schemeClr val="accent1"/>
                </a:solidFill>
              </a:rPr>
              <a:t>Topologia em grade</a:t>
            </a:r>
            <a:r>
              <a:rPr lang="pt-BR" dirty="0"/>
              <a:t>: cada elemento possui uma posição e uma vizinhança espacial bem definida.</a:t>
            </a:r>
            <a:endParaRPr lang="pt-BR" b="0" noProof="0" dirty="0">
              <a:effectLst/>
            </a:endParaRP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171370" y="5794599"/>
            <a:ext cx="2686049" cy="830997"/>
          </a:xfrm>
          <a:prstGeom prst="rect">
            <a:avLst/>
          </a:prstGeom>
          <a:noFill/>
        </p:spPr>
        <p:txBody>
          <a:bodyPr wrap="square">
            <a:spAutoFit/>
          </a:bodyPr>
          <a:lstStyle/>
          <a:p>
            <a:pPr algn="ctr"/>
            <a:r>
              <a:rPr lang="pt-BR" sz="1600" dirty="0"/>
              <a:t>CNN: neurônios recebem (olham) apenas uma parte dos </a:t>
            </a:r>
            <a:r>
              <a:rPr lang="pt-BR" sz="1600" i="1" dirty="0"/>
              <a:t>pixels</a:t>
            </a:r>
            <a:r>
              <a:rPr lang="pt-BR" sz="1600" dirty="0"/>
              <a:t> da imagem</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679931" y="1825624"/>
            <a:ext cx="6418283" cy="5032375"/>
          </a:xfrm>
        </p:spPr>
        <p:txBody>
          <a:bodyPr>
            <a:normAutofit/>
          </a:bodyPr>
          <a:lstStyle/>
          <a:p>
            <a:r>
              <a:rPr lang="pt-BR" b="1" noProof="0" dirty="0">
                <a:solidFill>
                  <a:srgbClr val="7030A0"/>
                </a:solidFill>
              </a:rPr>
              <a:t>I</a:t>
            </a:r>
            <a:r>
              <a:rPr lang="pt-BR" b="1" noProof="0" dirty="0">
                <a:solidFill>
                  <a:srgbClr val="7030A0"/>
                </a:solidFill>
                <a:effectLst/>
              </a:rPr>
              <a:t>magens têm uma estrutura espacial</a:t>
            </a:r>
            <a:r>
              <a:rPr lang="pt-BR" b="0" noProof="0" dirty="0">
                <a:effectLst/>
              </a:rPr>
              <a:t> que pode ser explorada por CNNs.</a:t>
            </a:r>
            <a:endParaRPr lang="pt-BR" noProof="0" dirty="0"/>
          </a:p>
          <a:p>
            <a:r>
              <a:rPr lang="pt-BR" noProof="0" dirty="0"/>
              <a:t>Os </a:t>
            </a:r>
            <a:r>
              <a:rPr lang="pt-BR" i="1" noProof="0" dirty="0"/>
              <a:t>pixels</a:t>
            </a:r>
            <a:r>
              <a:rPr lang="pt-BR" noProof="0" dirty="0"/>
              <a:t> possuem </a:t>
            </a:r>
            <a:r>
              <a:rPr lang="pt-BR" b="1" noProof="0" dirty="0">
                <a:solidFill>
                  <a:schemeClr val="accent5"/>
                </a:solidFill>
              </a:rPr>
              <a:t>posição no espaço</a:t>
            </a:r>
            <a:r>
              <a:rPr lang="pt-BR" noProof="0" dirty="0"/>
              <a:t>.</a:t>
            </a:r>
          </a:p>
          <a:p>
            <a:r>
              <a:rPr lang="pt-BR" noProof="0" dirty="0"/>
              <a:t>Em uma imagem, </a:t>
            </a:r>
            <a:r>
              <a:rPr lang="pt-BR" i="1" noProof="0" dirty="0"/>
              <a:t>pixels</a:t>
            </a:r>
            <a:r>
              <a:rPr lang="pt-BR" noProof="0" dirty="0"/>
              <a:t> </a:t>
            </a:r>
            <a:r>
              <a:rPr lang="pt-BR" b="1" noProof="0" dirty="0">
                <a:solidFill>
                  <a:schemeClr val="accent5"/>
                </a:solidFill>
              </a:rPr>
              <a:t>vizinhos</a:t>
            </a:r>
            <a:r>
              <a:rPr lang="pt-BR" noProof="0" dirty="0"/>
              <a:t> tendem a conter informações </a:t>
            </a:r>
            <a:r>
              <a:rPr lang="pt-BR" b="1" noProof="0" dirty="0">
                <a:solidFill>
                  <a:schemeClr val="accent5"/>
                </a:solidFill>
              </a:rPr>
              <a:t>relacionadas</a:t>
            </a:r>
            <a:r>
              <a:rPr lang="pt-BR" noProof="0" dirty="0"/>
              <a:t>.</a:t>
            </a:r>
          </a:p>
          <a:p>
            <a:r>
              <a:rPr lang="pt-BR" noProof="0" dirty="0"/>
              <a:t>Por exemplo, no caso do gato ao lado, existem </a:t>
            </a:r>
            <a:r>
              <a:rPr lang="pt-BR" b="1" noProof="0" dirty="0">
                <a:solidFill>
                  <a:schemeClr val="accent2"/>
                </a:solidFill>
              </a:rPr>
              <a:t>correlações locais </a:t>
            </a:r>
            <a:r>
              <a:rPr lang="pt-BR" noProof="0" dirty="0"/>
              <a:t>entre os </a:t>
            </a:r>
            <a:r>
              <a:rPr lang="pt-BR" i="1" noProof="0" dirty="0"/>
              <a:t>pixels </a:t>
            </a:r>
            <a:r>
              <a:rPr lang="pt-BR" noProof="0" dirty="0"/>
              <a:t>dos olhos, nariz, boca, etc.</a:t>
            </a:r>
          </a:p>
          <a:p>
            <a:pPr marL="0" indent="0">
              <a:buNone/>
            </a:pPr>
            <a:endParaRPr lang="pt-BR" noProof="0" dirty="0"/>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925406" y="1690688"/>
            <a:ext cx="6266594" cy="5167311"/>
          </a:xfrm>
        </p:spPr>
        <p:txBody>
          <a:bodyPr>
            <a:normAutofit/>
          </a:bodyPr>
          <a:lstStyle/>
          <a:p>
            <a:r>
              <a:rPr lang="pt-BR" b="1" dirty="0">
                <a:solidFill>
                  <a:srgbClr val="00B050"/>
                </a:solidFill>
              </a:rPr>
              <a:t>Estruturas</a:t>
            </a:r>
            <a:r>
              <a:rPr lang="pt-BR" dirty="0"/>
              <a:t> (ou </a:t>
            </a:r>
            <a:r>
              <a:rPr lang="pt-BR" b="1" dirty="0">
                <a:solidFill>
                  <a:srgbClr val="0070C0"/>
                </a:solidFill>
              </a:rPr>
              <a:t>padrões</a:t>
            </a:r>
            <a:r>
              <a:rPr lang="pt-BR" dirty="0"/>
              <a:t>) importantes como </a:t>
            </a:r>
            <a:r>
              <a:rPr lang="pt-BR" b="1" dirty="0">
                <a:solidFill>
                  <a:schemeClr val="accent2"/>
                </a:solidFill>
              </a:rPr>
              <a:t>bordas, contornos, texturas e formas</a:t>
            </a:r>
            <a:r>
              <a:rPr lang="pt-BR" dirty="0"/>
              <a:t> </a:t>
            </a:r>
            <a:r>
              <a:rPr lang="pt-BR" b="1" dirty="0">
                <a:solidFill>
                  <a:srgbClr val="00B050"/>
                </a:solidFill>
              </a:rPr>
              <a:t>dependem da organização espacial</a:t>
            </a:r>
            <a:r>
              <a:rPr lang="pt-BR" dirty="0"/>
              <a:t>.</a:t>
            </a:r>
          </a:p>
          <a:p>
            <a:r>
              <a:rPr lang="pt-BR" dirty="0"/>
              <a:t>Portanto, 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a:p>
            <a:r>
              <a:rPr lang="pt-BR" dirty="0"/>
              <a:t>As CNNs exploram a localidade espacial usando filtros que percorrem a imagem em busca de padrões.</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5791200" y="1825624"/>
            <a:ext cx="6400800" cy="5032375"/>
          </a:xfrm>
        </p:spPr>
        <p:txBody>
          <a:bodyPr>
            <a:normAutofit lnSpcReduction="10000"/>
          </a:bodyPr>
          <a:lstStyle/>
          <a:p>
            <a:r>
              <a:rPr lang="pt-BR" dirty="0"/>
              <a:t>DNNs são </a:t>
            </a:r>
            <a:r>
              <a:rPr lang="pt-BR" b="1" dirty="0">
                <a:solidFill>
                  <a:srgbClr val="0070C0"/>
                </a:solidFill>
              </a:rPr>
              <a:t>computacionalmente ineficientes </a:t>
            </a:r>
            <a:r>
              <a:rPr lang="pt-BR" dirty="0"/>
              <a:t>para processamento de imagens.</a:t>
            </a:r>
          </a:p>
          <a:p>
            <a:r>
              <a:rPr lang="pt-BR" dirty="0"/>
              <a:t>Redes densas </a:t>
            </a:r>
            <a:r>
              <a:rPr lang="pt-BR" b="1" dirty="0">
                <a:solidFill>
                  <a:srgbClr val="00B050"/>
                </a:solidFill>
              </a:rPr>
              <a:t>conectam cada </a:t>
            </a:r>
            <a:r>
              <a:rPr lang="pt-BR" b="1" i="1" dirty="0">
                <a:solidFill>
                  <a:srgbClr val="00B050"/>
                </a:solidFill>
              </a:rPr>
              <a:t>pixel</a:t>
            </a:r>
            <a:r>
              <a:rPr lang="pt-BR" b="1" dirty="0">
                <a:solidFill>
                  <a:srgbClr val="00B050"/>
                </a:solidFill>
              </a:rPr>
              <a:t> a todos os nós de uma camada</a:t>
            </a:r>
            <a:r>
              <a:rPr lang="pt-BR" dirty="0"/>
              <a:t>,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239148" y="2068946"/>
            <a:ext cx="5095217" cy="4257675"/>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838200" y="1825624"/>
            <a:ext cx="11353800" cy="5032375"/>
          </a:xfrm>
        </p:spPr>
        <p:txBody>
          <a:bodyPr>
            <a:normAutofit/>
          </a:bodyPr>
          <a:lstStyle/>
          <a:p>
            <a:r>
              <a:rPr lang="pt-BR" noProof="0" dirty="0"/>
              <a:t>Em uma DNN, o </a:t>
            </a:r>
            <a:r>
              <a:rPr lang="pt-BR" b="1" noProof="0" dirty="0">
                <a:solidFill>
                  <a:srgbClr val="7030A0"/>
                </a:solidFill>
              </a:rPr>
              <a:t>número de pesos cresce com a resolução da imagem</a:t>
            </a:r>
            <a:r>
              <a:rPr lang="pt-BR" noProof="0" dirty="0"/>
              <a:t>.</a:t>
            </a:r>
          </a:p>
          <a:p>
            <a:r>
              <a:rPr lang="pt-BR" noProof="0" dirty="0"/>
              <a:t>Problemas causados por um modelo grande</a:t>
            </a:r>
          </a:p>
          <a:p>
            <a:pPr lvl="1">
              <a:buFont typeface="Wingdings" panose="05000000000000000000" pitchFamily="2" charset="2"/>
              <a:buChar char="§"/>
            </a:pPr>
            <a:r>
              <a:rPr lang="pt-BR" noProof="0" dirty="0"/>
              <a:t>alto custo computacional</a:t>
            </a:r>
          </a:p>
          <a:p>
            <a:pPr lvl="2">
              <a:buFont typeface="Courier New" panose="02070309020205020404" pitchFamily="49" charset="0"/>
              <a:buChar char="o"/>
            </a:pPr>
            <a:r>
              <a:rPr lang="pt-BR" noProof="0" dirty="0"/>
              <a:t>treinamento mais lento</a:t>
            </a:r>
          </a:p>
          <a:p>
            <a:pPr lvl="2">
              <a:buFont typeface="Courier New" panose="02070309020205020404" pitchFamily="49" charset="0"/>
              <a:buChar char="o"/>
            </a:pPr>
            <a:r>
              <a:rPr lang="pt-BR" noProof="0" dirty="0"/>
              <a:t>maior consumo de memória</a:t>
            </a:r>
          </a:p>
          <a:p>
            <a:pPr lvl="1">
              <a:buFont typeface="Wingdings" panose="05000000000000000000" pitchFamily="2" charset="2"/>
              <a:buChar char="§"/>
            </a:pPr>
            <a:r>
              <a:rPr lang="pt-BR" noProof="0" dirty="0"/>
              <a:t>maior risco de </a:t>
            </a:r>
            <a:r>
              <a:rPr lang="pt-BR" i="1" noProof="0" dirty="0" err="1"/>
              <a:t>overfitting</a:t>
            </a:r>
            <a:endParaRPr lang="pt-BR" noProof="0" dirty="0"/>
          </a:p>
          <a:p>
            <a:r>
              <a:rPr lang="pt-BR" noProof="0" dirty="0"/>
              <a:t>Em geral, DNNs precisam ser maiores do que CNNs, pois precisam de mais pesos para apreender o mesmo padrão em diferentes posições.</a:t>
            </a:r>
          </a:p>
          <a:p>
            <a:r>
              <a:rPr lang="pt-BR" noProof="0" dirty="0"/>
              <a:t>Além disso, por </a:t>
            </a:r>
            <a:r>
              <a:rPr lang="pt-BR" b="1" noProof="0" dirty="0">
                <a:solidFill>
                  <a:schemeClr val="accent2"/>
                </a:solidFill>
              </a:rPr>
              <a:t>desconsiderarem a estrutura espacial</a:t>
            </a:r>
            <a:r>
              <a:rPr lang="pt-BR" noProof="0" dirty="0"/>
              <a:t> dos </a:t>
            </a:r>
            <a:r>
              <a:rPr lang="pt-BR" i="1" noProof="0" dirty="0"/>
              <a:t>pixels</a:t>
            </a:r>
            <a:r>
              <a:rPr lang="pt-BR" noProof="0" dirty="0"/>
              <a:t>, seriam necessárias </a:t>
            </a:r>
            <a:r>
              <a:rPr lang="pt-BR" b="1" noProof="0" dirty="0">
                <a:solidFill>
                  <a:schemeClr val="accent2"/>
                </a:solidFill>
              </a:rPr>
              <a:t>redes e </a:t>
            </a:r>
            <a:r>
              <a:rPr lang="pt-BR" b="1" i="1" noProof="0" dirty="0" err="1">
                <a:solidFill>
                  <a:schemeClr val="accent2"/>
                </a:solidFill>
              </a:rPr>
              <a:t>datasets</a:t>
            </a:r>
            <a:r>
              <a:rPr lang="pt-BR" b="1" noProof="0" dirty="0">
                <a:solidFill>
                  <a:schemeClr val="accent2"/>
                </a:solidFill>
              </a:rPr>
              <a:t> extremamente grandes</a:t>
            </a:r>
            <a:r>
              <a:rPr lang="pt-BR" noProof="0" dirty="0"/>
              <a:t> para funcionarem bem com </a:t>
            </a:r>
            <a:r>
              <a:rPr lang="pt-BR" b="1" noProof="0" dirty="0">
                <a:solidFill>
                  <a:srgbClr val="00B050"/>
                </a:solidFill>
              </a:rPr>
              <a:t>problemas de detecção e segmentação de objetos</a:t>
            </a:r>
            <a:r>
              <a:rPr lang="pt-BR" noProof="0" dirty="0"/>
              <a:t>, os quais se </a:t>
            </a:r>
            <a:r>
              <a:rPr lang="pt-BR" b="1" noProof="0" dirty="0">
                <a:solidFill>
                  <a:srgbClr val="0070C0"/>
                </a:solidFill>
              </a:rPr>
              <a:t>baseiam na localização dos objetos</a:t>
            </a:r>
            <a:r>
              <a:rPr lang="pt-BR" noProof="0" dirty="0"/>
              <a:t>.</a:t>
            </a:r>
          </a:p>
        </p:txBody>
      </p:sp>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DNNs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73" y="1690688"/>
            <a:ext cx="6695627"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linhas e cantos formam contornos e texturas, que formam partes elementares de objetos e, que por sua vez, formam objetos completos.</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5" name="Retângulo 4">
            <a:extLst>
              <a:ext uri="{FF2B5EF4-FFF2-40B4-BE49-F238E27FC236}">
                <a16:creationId xmlns:a16="http://schemas.microsoft.com/office/drawing/2014/main" id="{8D29EB07-1347-746F-6BE8-B358BCF1DA57}"/>
              </a:ext>
            </a:extLst>
          </p:cNvPr>
          <p:cNvSpPr/>
          <p:nvPr/>
        </p:nvSpPr>
        <p:spPr>
          <a:xfrm>
            <a:off x="3282180" y="6057892"/>
            <a:ext cx="18668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bordas, linhas e cantos</a:t>
            </a:r>
            <a:endParaRPr lang="en-US" dirty="0">
              <a:solidFill>
                <a:schemeClr val="tx1"/>
              </a:solidFill>
            </a:endParaRPr>
          </a:p>
        </p:txBody>
      </p:sp>
      <p:sp>
        <p:nvSpPr>
          <p:cNvPr id="18" name="Retângulo 17">
            <a:extLst>
              <a:ext uri="{FF2B5EF4-FFF2-40B4-BE49-F238E27FC236}">
                <a16:creationId xmlns:a16="http://schemas.microsoft.com/office/drawing/2014/main" id="{22ABE9CA-18E7-1C2F-0CC4-443BD3549CDF}"/>
              </a:ext>
            </a:extLst>
          </p:cNvPr>
          <p:cNvSpPr/>
          <p:nvPr/>
        </p:nvSpPr>
        <p:spPr>
          <a:xfrm>
            <a:off x="5483770" y="6057894"/>
            <a:ext cx="17906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contornos e texturas</a:t>
            </a:r>
            <a:endParaRPr lang="en-US" dirty="0">
              <a:solidFill>
                <a:schemeClr val="tx1"/>
              </a:solidFill>
            </a:endParaRPr>
          </a:p>
        </p:txBody>
      </p:sp>
      <p:sp>
        <p:nvSpPr>
          <p:cNvPr id="20" name="Retângulo 19">
            <a:extLst>
              <a:ext uri="{FF2B5EF4-FFF2-40B4-BE49-F238E27FC236}">
                <a16:creationId xmlns:a16="http://schemas.microsoft.com/office/drawing/2014/main" id="{4F6BF176-12C3-8061-9D69-084617A773C1}"/>
              </a:ext>
            </a:extLst>
          </p:cNvPr>
          <p:cNvSpPr/>
          <p:nvPr/>
        </p:nvSpPr>
        <p:spPr>
          <a:xfrm>
            <a:off x="7609160" y="6057893"/>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partes elementares de objetos</a:t>
            </a:r>
            <a:endParaRPr lang="en-US" dirty="0">
              <a:solidFill>
                <a:schemeClr val="tx1"/>
              </a:solidFill>
            </a:endParaRPr>
          </a:p>
        </p:txBody>
      </p:sp>
      <p:sp>
        <p:nvSpPr>
          <p:cNvPr id="22" name="Retângulo 21">
            <a:extLst>
              <a:ext uri="{FF2B5EF4-FFF2-40B4-BE49-F238E27FC236}">
                <a16:creationId xmlns:a16="http://schemas.microsoft.com/office/drawing/2014/main" id="{483991D4-367A-11C1-ADEB-64FCDF31F186}"/>
              </a:ext>
            </a:extLst>
          </p:cNvPr>
          <p:cNvSpPr/>
          <p:nvPr/>
        </p:nvSpPr>
        <p:spPr>
          <a:xfrm>
            <a:off x="9934575" y="6057898"/>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objetos inteiros</a:t>
            </a:r>
            <a:endParaRPr lang="en-US" dirty="0">
              <a:solidFill>
                <a:schemeClr val="tx1"/>
              </a:solidFill>
            </a:endParaRPr>
          </a:p>
        </p:txBody>
      </p:sp>
      <p:cxnSp>
        <p:nvCxnSpPr>
          <p:cNvPr id="24" name="Conector de Seta Reta 23">
            <a:extLst>
              <a:ext uri="{FF2B5EF4-FFF2-40B4-BE49-F238E27FC236}">
                <a16:creationId xmlns:a16="http://schemas.microsoft.com/office/drawing/2014/main" id="{E6C823D7-1AE5-0431-C884-A93340BD14C6}"/>
              </a:ext>
            </a:extLst>
          </p:cNvPr>
          <p:cNvCxnSpPr>
            <a:stCxn id="5" idx="3"/>
            <a:endCxn id="18" idx="1"/>
          </p:cNvCxnSpPr>
          <p:nvPr/>
        </p:nvCxnSpPr>
        <p:spPr>
          <a:xfrm>
            <a:off x="5149045" y="6339667"/>
            <a:ext cx="334725" cy="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508F072-E631-E6F4-44C1-4824CD18124E}"/>
              </a:ext>
            </a:extLst>
          </p:cNvPr>
          <p:cNvCxnSpPr>
            <a:stCxn id="18" idx="3"/>
            <a:endCxn id="20" idx="1"/>
          </p:cNvCxnSpPr>
          <p:nvPr/>
        </p:nvCxnSpPr>
        <p:spPr>
          <a:xfrm flipV="1">
            <a:off x="7274435" y="6339668"/>
            <a:ext cx="334725"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27">
            <a:extLst>
              <a:ext uri="{FF2B5EF4-FFF2-40B4-BE49-F238E27FC236}">
                <a16:creationId xmlns:a16="http://schemas.microsoft.com/office/drawing/2014/main" id="{4B18ECCD-F744-CBED-6BE7-E7BD26B2A124}"/>
              </a:ext>
            </a:extLst>
          </p:cNvPr>
          <p:cNvCxnSpPr>
            <a:stCxn id="20" idx="3"/>
            <a:endCxn id="22" idx="1"/>
          </p:cNvCxnSpPr>
          <p:nvPr/>
        </p:nvCxnSpPr>
        <p:spPr>
          <a:xfrm>
            <a:off x="9599850" y="6339668"/>
            <a:ext cx="334725" cy="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CNN</a:t>
            </a:r>
            <a:r>
              <a:rPr lang="pt-BR" sz="6000" dirty="0"/>
              <a:t>s?</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257925" y="1825624"/>
            <a:ext cx="5934075" cy="5032375"/>
          </a:xfrm>
        </p:spPr>
        <p:txBody>
          <a:bodyPr>
            <a:normAutofit/>
          </a:bodyPr>
          <a:lstStyle/>
          <a:p>
            <a:r>
              <a:rPr lang="pt-BR" noProof="0" dirty="0"/>
              <a:t>CNNs são </a:t>
            </a:r>
            <a:r>
              <a:rPr lang="pt-BR" b="1" noProof="0" dirty="0">
                <a:solidFill>
                  <a:schemeClr val="accent2"/>
                </a:solidFill>
              </a:rPr>
              <a:t>mais eficientes que redes densas</a:t>
            </a:r>
            <a:r>
              <a:rPr lang="pt-BR" noProof="0" dirty="0"/>
              <a:t>: o </a:t>
            </a:r>
            <a:r>
              <a:rPr lang="pt-BR" b="1" noProof="0" dirty="0">
                <a:solidFill>
                  <a:srgbClr val="00B050"/>
                </a:solidFill>
              </a:rPr>
              <a:t>número de pesos depende do tamanho e da quantidade de filtros</a:t>
            </a:r>
            <a:r>
              <a:rPr lang="pt-BR" noProof="0" dirty="0"/>
              <a:t>, não da resolução da imagem.</a:t>
            </a:r>
          </a:p>
          <a:p>
            <a:r>
              <a:rPr lang="pt-BR" noProof="0" dirty="0"/>
              <a:t>CNNs exploram as propriedades naturais das imagens:</a:t>
            </a:r>
          </a:p>
          <a:p>
            <a:pPr lvl="1">
              <a:buFont typeface="Wingdings" panose="05000000000000000000" pitchFamily="2" charset="2"/>
              <a:buChar char="§"/>
            </a:pPr>
            <a:r>
              <a:rPr lang="pt-BR" b="1" noProof="0" dirty="0"/>
              <a:t>Localidade espacial</a:t>
            </a:r>
          </a:p>
          <a:p>
            <a:pPr lvl="1">
              <a:buFont typeface="Wingdings" panose="05000000000000000000" pitchFamily="2" charset="2"/>
              <a:buChar char="§"/>
            </a:pPr>
            <a:r>
              <a:rPr lang="pt-BR" b="1" noProof="0" dirty="0" err="1"/>
              <a:t>Estacionariedade</a:t>
            </a:r>
            <a:endParaRPr lang="pt-BR" noProof="0" dirty="0"/>
          </a:p>
          <a:p>
            <a:pPr lvl="1">
              <a:buFont typeface="Wingdings" panose="05000000000000000000" pitchFamily="2" charset="2"/>
              <a:buChar char="§"/>
            </a:pPr>
            <a:r>
              <a:rPr lang="pt-BR" b="1" noProof="0" dirty="0"/>
              <a:t>Composição hierárquica de padrões</a:t>
            </a:r>
            <a:endParaRPr lang="pt-BR" noProof="0"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CNNs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CNNs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135541" y="1825624"/>
            <a:ext cx="7056462" cy="5032376"/>
          </a:xfrm>
        </p:spPr>
        <p:txBody>
          <a:bodyPr>
            <a:normAutofit/>
          </a:bodyPr>
          <a:lstStyle/>
          <a:p>
            <a:r>
              <a:rPr lang="pt-BR" noProof="0" dirty="0"/>
              <a:t>Em vez de </a:t>
            </a:r>
            <a:r>
              <a:rPr lang="pt-BR" b="1" noProof="0" dirty="0">
                <a:solidFill>
                  <a:srgbClr val="00B050"/>
                </a:solidFill>
              </a:rPr>
              <a:t>conectar cada neurônio da CNN a todos os </a:t>
            </a:r>
            <a:r>
              <a:rPr lang="pt-BR" b="1" i="1" noProof="0" dirty="0">
                <a:solidFill>
                  <a:srgbClr val="00B050"/>
                </a:solidFill>
              </a:rPr>
              <a:t>pixels</a:t>
            </a:r>
            <a:r>
              <a:rPr lang="pt-BR" noProof="0" dirty="0"/>
              <a:t> da imagem, cada neurônio olha apenas para uma </a:t>
            </a:r>
            <a:r>
              <a:rPr lang="pt-BR" b="1" noProof="0" dirty="0">
                <a:solidFill>
                  <a:schemeClr val="accent2"/>
                </a:solidFill>
              </a:rPr>
              <a:t>pequena região</a:t>
            </a:r>
            <a:r>
              <a:rPr lang="pt-BR" noProof="0" dirty="0"/>
              <a:t>, chamada de </a:t>
            </a:r>
            <a:r>
              <a:rPr lang="pt-BR" b="1" noProof="0" dirty="0">
                <a:solidFill>
                  <a:schemeClr val="accent2"/>
                </a:solidFill>
              </a:rPr>
              <a:t>campo receptivo</a:t>
            </a:r>
            <a:r>
              <a:rPr lang="pt-BR" noProof="0" dirty="0"/>
              <a:t>.</a:t>
            </a:r>
          </a:p>
          <a:p>
            <a:r>
              <a:rPr lang="pt-BR" noProof="0" dirty="0"/>
              <a:t>O tamanho do campo receptivo é definido por uma matriz (2D ou 3D) chamada de </a:t>
            </a:r>
            <a:r>
              <a:rPr lang="pt-BR" b="1" noProof="0" dirty="0">
                <a:solidFill>
                  <a:srgbClr val="7030A0"/>
                </a:solidFill>
              </a:rPr>
              <a:t>filtro (de convolução)</a:t>
            </a:r>
            <a:r>
              <a:rPr lang="pt-BR" noProof="0" dirty="0"/>
              <a:t> ou </a:t>
            </a:r>
            <a:r>
              <a:rPr lang="pt-BR" b="1" i="1" noProof="0" dirty="0">
                <a:solidFill>
                  <a:srgbClr val="7030A0"/>
                </a:solidFill>
              </a:rPr>
              <a:t>kernel</a:t>
            </a:r>
            <a:r>
              <a:rPr lang="pt-BR" noProof="0" dirty="0"/>
              <a:t>.</a:t>
            </a:r>
          </a:p>
          <a:p>
            <a:r>
              <a:rPr lang="pt-BR" noProof="0" dirty="0"/>
              <a:t>Isso permite detectar </a:t>
            </a:r>
            <a:r>
              <a:rPr lang="pt-BR" b="1" noProof="0" dirty="0"/>
              <a:t>padrões locais </a:t>
            </a:r>
            <a:r>
              <a:rPr lang="pt-BR" noProof="0" dirty="0"/>
              <a:t>como:</a:t>
            </a:r>
          </a:p>
          <a:p>
            <a:pPr lvl="1">
              <a:buFont typeface="Wingdings" panose="05000000000000000000" pitchFamily="2" charset="2"/>
              <a:buChar char="§"/>
            </a:pPr>
            <a:r>
              <a:rPr lang="pt-BR" noProof="0" dirty="0"/>
              <a:t>bordas, linhas, cantos, cor</a:t>
            </a:r>
          </a:p>
          <a:p>
            <a:pPr lvl="1">
              <a:buFont typeface="Wingdings" panose="05000000000000000000" pitchFamily="2" charset="2"/>
              <a:buChar char="§"/>
            </a:pPr>
            <a:r>
              <a:rPr lang="pt-BR" noProof="0" dirty="0"/>
              <a:t>texturas, partes elementares de objetos</a:t>
            </a:r>
          </a:p>
          <a:p>
            <a:pPr lvl="1">
              <a:buFont typeface="Wingdings" panose="05000000000000000000" pitchFamily="2" charset="2"/>
              <a:buChar char="§"/>
            </a:pPr>
            <a:r>
              <a:rPr lang="pt-BR" noProof="0" dirty="0"/>
              <a:t>partes reconhecíveis de objetos: olhos ou orelhas</a:t>
            </a:r>
          </a:p>
          <a:p>
            <a:pPr lvl="1">
              <a:buFont typeface="Wingdings" panose="05000000000000000000" pitchFamily="2" charset="2"/>
              <a:buChar char="§"/>
            </a:pPr>
            <a:r>
              <a:rPr lang="pt-BR" noProof="0" dirty="0"/>
              <a:t>objeto inteiro: gato</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82836" y="1942916"/>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r>
              <a:rPr lang="pt-BR" dirty="0"/>
              <a:t>Como as CNNs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a:solidFill>
                  <a:srgbClr val="00B050"/>
                </a:solidFill>
              </a:rPr>
              <a:t>CNNs compartilham os pesos</a:t>
            </a:r>
            <a:r>
              <a:rPr lang="pt-BR" dirty="0"/>
              <a:t>.</a:t>
            </a:r>
          </a:p>
          <a:p>
            <a:pPr lvl="1">
              <a:buFont typeface="Wingdings" panose="05000000000000000000" pitchFamily="2" charset="2"/>
              <a:buChar char="§"/>
            </a:pPr>
            <a:r>
              <a:rPr lang="pt-BR" dirty="0"/>
              <a:t>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Por exemplo, um filtro que detecta bordas é o mesmo para todas as posições.</a:t>
            </a:r>
          </a:p>
          <a:p>
            <a:r>
              <a:rPr lang="pt-BR" dirty="0"/>
              <a:t>Isso traz grandes </a:t>
            </a:r>
            <a:r>
              <a:rPr lang="pt-BR" b="1" dirty="0">
                <a:solidFill>
                  <a:srgbClr val="00B050"/>
                </a:solidFill>
              </a:rPr>
              <a:t>vantagens</a:t>
            </a:r>
            <a:r>
              <a:rPr lang="pt-BR" dirty="0"/>
              <a:t>:</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084465" y="1825624"/>
            <a:ext cx="7107535" cy="5032375"/>
          </a:xfrm>
        </p:spPr>
        <p:txBody>
          <a:bodyPr>
            <a:normAutofit lnSpcReduction="10000"/>
          </a:bodyPr>
          <a:lstStyle/>
          <a:p>
            <a:r>
              <a:rPr lang="pt-BR" noProof="0" dirty="0"/>
              <a:t>Imagens possuem uma </a:t>
            </a:r>
            <a:r>
              <a:rPr lang="pt-BR" b="1" noProof="0" dirty="0">
                <a:solidFill>
                  <a:schemeClr val="accent2"/>
                </a:solidFill>
              </a:rPr>
              <a:t>estrutura</a:t>
            </a:r>
            <a:r>
              <a:rPr lang="pt-BR" noProof="0" dirty="0">
                <a:solidFill>
                  <a:schemeClr val="accent2"/>
                </a:solidFill>
              </a:rPr>
              <a:t> </a:t>
            </a:r>
            <a:r>
              <a:rPr lang="pt-BR" b="1" noProof="0" dirty="0">
                <a:solidFill>
                  <a:schemeClr val="accent2"/>
                </a:solidFill>
              </a:rPr>
              <a:t>hierárquica</a:t>
            </a:r>
            <a:r>
              <a:rPr lang="pt-BR" noProof="0" dirty="0"/>
              <a:t>.</a:t>
            </a:r>
          </a:p>
          <a:p>
            <a:r>
              <a:rPr lang="pt-BR" noProof="0" dirty="0"/>
              <a:t>Padrões simples formam padrões mais complexos:</a:t>
            </a:r>
          </a:p>
          <a:p>
            <a:pPr lvl="1">
              <a:buFont typeface="Wingdings" panose="05000000000000000000" pitchFamily="2" charset="2"/>
              <a:buChar char="§"/>
            </a:pPr>
            <a:r>
              <a:rPr lang="pt-BR" b="1" noProof="0" dirty="0"/>
              <a:t>Simples</a:t>
            </a:r>
            <a:r>
              <a:rPr lang="pt-BR" noProof="0" dirty="0"/>
              <a:t>: contorno da orelha, borda do nariz e do olho</a:t>
            </a:r>
          </a:p>
          <a:p>
            <a:pPr lvl="1">
              <a:buFont typeface="Wingdings" panose="05000000000000000000" pitchFamily="2" charset="2"/>
              <a:buChar char="§"/>
            </a:pPr>
            <a:r>
              <a:rPr lang="pt-BR" b="1" noProof="0" dirty="0"/>
              <a:t>Intermediários</a:t>
            </a:r>
            <a:r>
              <a:rPr lang="pt-BR" noProof="0" dirty="0"/>
              <a:t>: curvatura da orelha, forma triangular do nariz</a:t>
            </a:r>
          </a:p>
          <a:p>
            <a:pPr lvl="1">
              <a:buFont typeface="Wingdings" panose="05000000000000000000" pitchFamily="2" charset="2"/>
              <a:buChar char="§"/>
            </a:pPr>
            <a:r>
              <a:rPr lang="pt-BR" b="1" noProof="0" dirty="0"/>
              <a:t>Partes menores</a:t>
            </a:r>
            <a:r>
              <a:rPr lang="pt-BR" noProof="0" dirty="0"/>
              <a:t>: olho, nariz, bigode, boca</a:t>
            </a:r>
          </a:p>
          <a:p>
            <a:pPr lvl="1">
              <a:buFont typeface="Wingdings" panose="05000000000000000000" pitchFamily="2" charset="2"/>
              <a:buChar char="§"/>
            </a:pPr>
            <a:r>
              <a:rPr lang="pt-BR" b="1" noProof="0" dirty="0"/>
              <a:t>Partes maiores</a:t>
            </a:r>
            <a:r>
              <a:rPr lang="pt-BR" noProof="0" dirty="0"/>
              <a:t>: face, cabeça</a:t>
            </a:r>
          </a:p>
          <a:p>
            <a:pPr lvl="1">
              <a:buFont typeface="Wingdings" panose="05000000000000000000" pitchFamily="2" charset="2"/>
              <a:buChar char="§"/>
            </a:pPr>
            <a:r>
              <a:rPr lang="pt-BR" b="1" noProof="0" dirty="0"/>
              <a:t>Objeto completo</a:t>
            </a:r>
            <a:r>
              <a:rPr lang="pt-BR" dirty="0"/>
              <a:t>: gato</a:t>
            </a:r>
            <a:endParaRPr lang="pt-BR" noProof="0" dirty="0"/>
          </a:p>
          <a:p>
            <a:r>
              <a:rPr lang="pt-BR" noProof="0" dirty="0"/>
              <a:t>As </a:t>
            </a:r>
            <a:r>
              <a:rPr lang="pt-BR" b="1" noProof="0" dirty="0">
                <a:solidFill>
                  <a:srgbClr val="00B050"/>
                </a:solidFill>
              </a:rPr>
              <a:t>camadas</a:t>
            </a:r>
            <a:r>
              <a:rPr lang="pt-BR" noProof="0" dirty="0"/>
              <a:t> de uma CNN </a:t>
            </a:r>
            <a:r>
              <a:rPr lang="pt-BR" b="1" noProof="0" dirty="0">
                <a:solidFill>
                  <a:srgbClr val="00B050"/>
                </a:solidFill>
              </a:rPr>
              <a:t>aprendem a hierarquia</a:t>
            </a:r>
            <a:r>
              <a:rPr lang="pt-BR" noProof="0" dirty="0"/>
              <a:t> de padrões da imagem.</a:t>
            </a:r>
          </a:p>
          <a:p>
            <a:pPr lvl="1">
              <a:buFont typeface="Wingdings" panose="05000000000000000000" pitchFamily="2" charset="2"/>
              <a:buChar char="§"/>
            </a:pPr>
            <a:r>
              <a:rPr lang="pt-BR" noProof="0" dirty="0"/>
              <a:t>bordas → contornos → partes → objeto</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pt-BR" noProof="0" dirty="0"/>
              <a:t>Uma </a:t>
            </a:r>
            <a:r>
              <a:rPr lang="pt-BR" b="1" noProof="0" dirty="0">
                <a:solidFill>
                  <a:schemeClr val="accent1"/>
                </a:solidFill>
              </a:rPr>
              <a:t>CNN para classificação de imagens </a:t>
            </a:r>
            <a:r>
              <a:rPr lang="pt-BR" noProof="0" dirty="0"/>
              <a:t>é composta por:</a:t>
            </a:r>
          </a:p>
          <a:p>
            <a:pPr lvl="1">
              <a:buFont typeface="Wingdings" panose="05000000000000000000" pitchFamily="2" charset="2"/>
              <a:buChar char="§"/>
            </a:pPr>
            <a:r>
              <a:rPr lang="pt-BR" noProof="0" dirty="0"/>
              <a:t>Uma entrada (imagem)</a:t>
            </a:r>
          </a:p>
          <a:p>
            <a:pPr lvl="1">
              <a:buFont typeface="Wingdings" panose="05000000000000000000" pitchFamily="2" charset="2"/>
              <a:buChar char="§"/>
            </a:pPr>
            <a:r>
              <a:rPr lang="pt-BR" noProof="0" dirty="0"/>
              <a:t>Um ou mais grupos de</a:t>
            </a:r>
          </a:p>
          <a:p>
            <a:pPr lvl="2">
              <a:buFont typeface="Courier New" panose="02070309020205020404" pitchFamily="49" charset="0"/>
              <a:buChar char="o"/>
            </a:pPr>
            <a:r>
              <a:rPr lang="pt-BR" noProof="0" dirty="0"/>
              <a:t>Camadas de convolução</a:t>
            </a:r>
          </a:p>
          <a:p>
            <a:pPr lvl="3">
              <a:buFont typeface="Wingdings" panose="05000000000000000000" pitchFamily="2" charset="2"/>
              <a:buChar char="ü"/>
            </a:pPr>
            <a:r>
              <a:rPr lang="pt-BR" noProof="0" dirty="0"/>
              <a:t>Operações de convolução</a:t>
            </a:r>
          </a:p>
          <a:p>
            <a:pPr lvl="3">
              <a:buFont typeface="Wingdings" panose="05000000000000000000" pitchFamily="2" charset="2"/>
              <a:buChar char="ü"/>
            </a:pPr>
            <a:r>
              <a:rPr lang="pt-BR" noProof="0" dirty="0"/>
              <a:t>Funções de ativação</a:t>
            </a:r>
          </a:p>
          <a:p>
            <a:pPr lvl="2">
              <a:buFont typeface="Courier New" panose="02070309020205020404" pitchFamily="49" charset="0"/>
              <a:buChar char="o"/>
            </a:pPr>
            <a:r>
              <a:rPr lang="pt-BR" noProof="0" dirty="0"/>
              <a:t>Camadas de </a:t>
            </a:r>
            <a:r>
              <a:rPr lang="pt-BR" i="1" noProof="0" dirty="0" err="1"/>
              <a:t>pooling</a:t>
            </a:r>
            <a:endParaRPr lang="pt-BR" i="1" noProof="0" dirty="0"/>
          </a:p>
          <a:p>
            <a:pPr lvl="1">
              <a:buFont typeface="Wingdings" panose="05000000000000000000" pitchFamily="2" charset="2"/>
              <a:buChar char="§"/>
            </a:pPr>
            <a:r>
              <a:rPr lang="pt-BR" noProof="0" dirty="0"/>
              <a:t>Uma camada </a:t>
            </a:r>
            <a:r>
              <a:rPr lang="pt-BR" i="1" noProof="0" dirty="0" err="1"/>
              <a:t>flatten</a:t>
            </a:r>
            <a:endParaRPr lang="pt-BR" i="1" noProof="0" dirty="0"/>
          </a:p>
          <a:p>
            <a:pPr lvl="1">
              <a:buFont typeface="Wingdings" panose="05000000000000000000" pitchFamily="2" charset="2"/>
              <a:buChar char="§"/>
            </a:pPr>
            <a:r>
              <a:rPr lang="pt-BR" noProof="0" dirty="0"/>
              <a:t>Uma ou mais camadas totalmente conectadas</a:t>
            </a:r>
          </a:p>
          <a:p>
            <a:pPr lvl="1">
              <a:buFont typeface="Wingdings" panose="05000000000000000000" pitchFamily="2" charset="2"/>
              <a:buChar char="§"/>
            </a:pPr>
            <a:r>
              <a:rPr lang="pt-BR" noProof="0" dirty="0"/>
              <a:t>Uma função de ativação </a:t>
            </a:r>
            <a:r>
              <a:rPr lang="pt-BR" i="1" noProof="0" dirty="0"/>
              <a:t>softmax</a:t>
            </a:r>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 de cores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096000" y="1825624"/>
            <a:ext cx="6095999"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filtros</a:t>
            </a:r>
            <a:r>
              <a:rPr lang="pt-BR" dirty="0"/>
              <a:t> sobre a imagem.</a:t>
            </a:r>
          </a:p>
          <a:p>
            <a:pPr lvl="1">
              <a:buFont typeface="Wingdings" panose="05000000000000000000" pitchFamily="2" charset="2"/>
              <a:buChar char="§"/>
            </a:pPr>
            <a:r>
              <a:rPr lang="pt-BR" b="1" dirty="0"/>
              <a:t>Filtros</a:t>
            </a:r>
            <a:r>
              <a:rPr lang="pt-BR" dirty="0"/>
              <a:t>: são matrizes 2D ou 3D.</a:t>
            </a:r>
          </a:p>
          <a:p>
            <a:r>
              <a:rPr lang="pt-BR" dirty="0"/>
              <a:t>Esse filtro:</a:t>
            </a:r>
          </a:p>
          <a:p>
            <a:pPr lvl="1">
              <a:buFont typeface="Wingdings" panose="05000000000000000000" pitchFamily="2" charset="2"/>
              <a:buChar char="§"/>
            </a:pPr>
            <a:r>
              <a:rPr lang="pt-BR" sz="2800" dirty="0"/>
              <a:t>é multiplicado elemento a elemento com valores locais da imagem (campo receptivo)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5" name="Group 4">
            <a:extLst>
              <a:ext uri="{FF2B5EF4-FFF2-40B4-BE49-F238E27FC236}">
                <a16:creationId xmlns:a16="http://schemas.microsoft.com/office/drawing/2014/main" id="{674323C5-E1CA-52A1-66C4-ABEDCED3482B}"/>
              </a:ext>
            </a:extLst>
          </p:cNvPr>
          <p:cNvGrpSpPr/>
          <p:nvPr/>
        </p:nvGrpSpPr>
        <p:grpSpPr>
          <a:xfrm>
            <a:off x="130556" y="2574235"/>
            <a:ext cx="5793166" cy="3012647"/>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convolução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a:t>
                </a:r>
                <a:r>
                  <a:rPr lang="pt-BR" b="1" dirty="0">
                    <a:solidFill>
                      <a:schemeClr val="accent2"/>
                    </a:solidFill>
                  </a:rPr>
                  <a:t>função de ativação não linear</a:t>
                </a:r>
                <a:r>
                  <a:rPr lang="pt-BR" dirty="0"/>
                  <a:t>.</a:t>
                </a:r>
              </a:p>
              <a:p>
                <a:pPr lvl="1">
                  <a:buFont typeface="Wingdings" panose="05000000000000000000" pitchFamily="2" charset="2"/>
                  <a:buChar char="§"/>
                </a:pPr>
                <a:r>
                  <a:rPr lang="pt-BR" dirty="0"/>
                  <a:t>Em geral, usa-se a função </a:t>
                </a:r>
                <a:r>
                  <a:rPr lang="pt-BR" i="1" dirty="0" err="1"/>
                  <a:t>rectified</a:t>
                </a:r>
                <a:r>
                  <a:rPr lang="pt-BR" i="1" dirty="0"/>
                  <a:t> linear </a:t>
                </a:r>
                <a:r>
                  <a:rPr lang="pt-BR" i="1" dirty="0" err="1"/>
                  <a:t>unit</a:t>
                </a:r>
                <a:r>
                  <a:rPr lang="pt-BR" i="1" dirty="0"/>
                  <a:t> </a:t>
                </a:r>
                <a:r>
                  <a:rPr lang="pt-BR" dirty="0"/>
                  <a:t>(</a:t>
                </a:r>
                <a:r>
                  <a:rPr lang="pt-BR" dirty="0" err="1"/>
                  <a:t>ReLU</a:t>
                </a:r>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uma </a:t>
                </a:r>
                <a:r>
                  <a:rPr lang="pt-BR" b="1" dirty="0">
                    <a:solidFill>
                      <a:schemeClr val="accent1"/>
                    </a:solidFill>
                  </a:rPr>
                  <a:t>mapa de padrões detectados</a:t>
                </a:r>
                <a:r>
                  <a:rPr lang="pt-BR" dirty="0"/>
                  <a:t>.</a:t>
                </a:r>
              </a:p>
            </p:txBody>
          </p:sp>
        </mc:Choice>
        <mc:Fallback xmlns="">
          <p:sp>
            <p:nvSpPr>
              <p:cNvPr id="3" name="Espaço Reservado para Conteúdo 2">
                <a:extLst>
                  <a:ext uri="{FF2B5EF4-FFF2-40B4-BE49-F238E27FC236}">
                    <a16:creationId xmlns:a16="http://schemas.microsoft.com/office/drawing/2014/main" id="{B49B87AE-AA0F-2A43-6D68-AF9FA330C9D9}"/>
                  </a:ext>
                </a:extLst>
              </p:cNvPr>
              <p:cNvSpPr>
                <a:spLocks noGrp="1" noRot="1" noChangeAspect="1" noMove="1" noResize="1" noEditPoints="1" noAdjustHandles="1" noChangeArrowheads="1" noChangeShapeType="1" noTextEdit="1"/>
              </p:cNvSpPr>
              <p:nvPr>
                <p:ph idx="1"/>
              </p:nvPr>
            </p:nvSpPr>
            <p:spPr>
              <a:xfrm>
                <a:off x="6752492" y="1825624"/>
                <a:ext cx="5439508" cy="5032375"/>
              </a:xfrm>
              <a:blipFill>
                <a:blip r:embed="rId2"/>
                <a:stretch>
                  <a:fillRect l="-2018" t="-1937" r="-3363"/>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id="{578D2855-A5E4-EF62-5C7F-F340FE14C7B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666903" y="1825624"/>
            <a:ext cx="6525098"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 </a:t>
            </a:r>
            <a:r>
              <a:rPr lang="pt-BR" b="1" dirty="0">
                <a:solidFill>
                  <a:srgbClr val="00B050"/>
                </a:solidFill>
              </a:rPr>
              <a:t>presentes nas imagens</a:t>
            </a:r>
            <a:r>
              <a:rPr lang="pt-BR" dirty="0"/>
              <a:t>.</a:t>
            </a:r>
          </a:p>
          <a:p>
            <a:pPr lvl="1">
              <a:buFont typeface="Wingdings" panose="05000000000000000000" pitchFamily="2" charset="2"/>
              <a:buChar char="§"/>
            </a:pPr>
            <a:r>
              <a:rPr lang="pt-BR" dirty="0"/>
              <a:t>Os filtros têm </a:t>
            </a:r>
            <a:r>
              <a:rPr lang="pt-BR" b="1" dirty="0">
                <a:solidFill>
                  <a:srgbClr val="7030A0"/>
                </a:solidFill>
              </a:rPr>
              <a:t>pesos que são aprendidos</a:t>
            </a:r>
            <a:r>
              <a:rPr lang="pt-BR" dirty="0"/>
              <a:t>.</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características/padrões</a:t>
            </a:r>
            <a:r>
              <a:rPr lang="pt-BR" dirty="0"/>
              <a:t> é </a:t>
            </a:r>
            <a:r>
              <a:rPr lang="pt-BR" b="1" dirty="0">
                <a:solidFill>
                  <a:srgbClr val="00B050"/>
                </a:solidFill>
              </a:rPr>
              <a:t>baseada</a:t>
            </a:r>
            <a:r>
              <a:rPr lang="pt-BR" dirty="0"/>
              <a:t> em como os </a:t>
            </a:r>
            <a:r>
              <a:rPr lang="pt-BR" b="1" dirty="0">
                <a:solidFill>
                  <a:srgbClr val="7030A0"/>
                </a:solidFill>
              </a:rPr>
              <a:t>neurônios biológicos do 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a:bodyPr>
          <a:lstStyle/>
          <a:p>
            <a:r>
              <a:rPr lang="pt-BR" dirty="0"/>
              <a:t>Os </a:t>
            </a:r>
            <a:r>
              <a:rPr lang="pt-BR" b="1" dirty="0">
                <a:solidFill>
                  <a:srgbClr val="00B050"/>
                </a:solidFill>
              </a:rPr>
              <a:t>neurônios</a:t>
            </a:r>
            <a:r>
              <a:rPr lang="pt-BR" dirty="0"/>
              <a:t> do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F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com campos receptivos pequenos reagem</a:t>
            </a:r>
            <a:r>
              <a:rPr lang="pt-BR" dirty="0"/>
              <a:t> 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com </a:t>
            </a:r>
            <a:r>
              <a:rPr lang="pt-BR" b="1" dirty="0">
                <a:solidFill>
                  <a:srgbClr val="00B050"/>
                </a:solidFill>
              </a:rPr>
              <a:t>campos receptivos maiores </a:t>
            </a:r>
            <a:r>
              <a:rPr lang="pt-BR" dirty="0"/>
              <a:t>reagem 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76835" y="1825624"/>
            <a:ext cx="6615165"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partes específicas de objetos e objetos inteiros.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solidFill>
                  <a:srgbClr val="00B0F0"/>
                </a:solidFill>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das matrizes</a:t>
            </a:r>
            <a:r>
              <a:rPr lang="pt-BR" b="0" dirty="0">
                <a:effectLst/>
              </a:rPr>
              <a:t>, necessários para </a:t>
            </a:r>
            <a:r>
              <a:rPr lang="pt-BR" b="1" dirty="0">
                <a:effectLst/>
              </a:rPr>
              <a:t>detectar determinadas características que identificam, por exemplo, um gato</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mc:AlternateContent xmlns:mc="http://schemas.openxmlformats.org/markup-compatibility/2006">
        <mc:Choice xmlns:a14="http://schemas.microsoft.com/office/drawing/2010/main"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4" y="1825624"/>
                <a:ext cx="5948855" cy="5032375"/>
              </a:xfrm>
            </p:spPr>
            <p:txBody>
              <a:bodyPr>
                <a:normAutofit/>
              </a:bodyPr>
              <a:lstStyle/>
              <a:p>
                <a:r>
                  <a:rPr lang="pt-BR" dirty="0"/>
                  <a:t>Vamos ignorar múltiplos canais por enquanto e entender como uma operação de convolução funciona com imagens bidimensionais (e.g., imagens em tons de cinza).</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O operação é representada pela equação ao lado.</a:t>
                </a:r>
              </a:p>
            </p:txBody>
          </p:sp>
        </mc:Choice>
        <mc:Fallback>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4" y="1825624"/>
                <a:ext cx="5948855" cy="5032375"/>
              </a:xfrm>
              <a:blipFill>
                <a:blip r:embed="rId3"/>
                <a:stretch>
                  <a:fillRect l="-1844" t="-1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mc:Choice xmlns:a14="http://schemas.microsoft.com/office/drawing/2010/main" Requires="a14">
          <p:sp>
            <p:nvSpPr>
              <p:cNvPr id="4" name="CaixaDeTexto 3">
                <a:extLst>
                  <a:ext uri="{FF2B5EF4-FFF2-40B4-BE49-F238E27FC236}">
                    <a16:creationId xmlns:a16="http://schemas.microsoft.com/office/drawing/2014/main" id="{25236317-8512-751D-DD1D-20B071AC5DE9}"/>
                  </a:ext>
                </a:extLst>
              </p:cNvPr>
              <p:cNvSpPr txBox="1"/>
              <p:nvPr/>
            </p:nvSpPr>
            <p:spPr>
              <a:xfrm>
                <a:off x="130183" y="5652796"/>
                <a:ext cx="5127617" cy="1200329"/>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a:p>
                <a14:m>
                  <m:oMath xmlns:m="http://schemas.openxmlformats.org/officeDocument/2006/math">
                    <m:r>
                      <m:rPr>
                        <m:brk m:alnAt="7"/>
                      </m:rPr>
                      <a:rPr lang="pt-BR" i="1">
                        <a:latin typeface="Cambria Math" panose="02040503050406030204" pitchFamily="18" charset="0"/>
                        <a:ea typeface="Cambria Math" panose="02040503050406030204" pitchFamily="18" charset="0"/>
                      </a:rPr>
                      <m:t>𝑚</m:t>
                    </m:r>
                  </m:oMath>
                </a14:m>
                <a:r>
                  <a:rPr lang="pt-BR" dirty="0"/>
                  <a:t>, </a:t>
                </a:r>
                <a14:m>
                  <m:oMath xmlns:m="http://schemas.openxmlformats.org/officeDocument/2006/math">
                    <m:r>
                      <m:rPr>
                        <m:brk m:alnAt="7"/>
                      </m:rPr>
                      <a:rPr lang="pt-BR" i="1">
                        <a:latin typeface="Cambria Math" panose="02040503050406030204" pitchFamily="18" charset="0"/>
                        <a:ea typeface="Cambria Math" panose="02040503050406030204" pitchFamily="18" charset="0"/>
                      </a:rPr>
                      <m:t>𝑛</m:t>
                    </m:r>
                  </m:oMath>
                </a14:m>
                <a:r>
                  <a:rPr lang="pt-BR" dirty="0"/>
                  <a:t>: índices da linha e da coluna, respectivamente</a:t>
                </a:r>
              </a:p>
            </p:txBody>
          </p:sp>
        </mc:Choice>
        <mc:Fallback>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30183" y="5652796"/>
                <a:ext cx="5127617" cy="1200329"/>
              </a:xfrm>
              <a:prstGeom prst="rect">
                <a:avLst/>
              </a:prstGeom>
              <a:blipFill>
                <a:blip r:embed="rId7"/>
                <a:stretch>
                  <a:fillRect t="-3046" b="-7107"/>
                </a:stretch>
              </a:blipFill>
            </p:spPr>
            <p:txBody>
              <a:bodyPr/>
              <a:lstStyle/>
              <a:p>
                <a:r>
                  <a:rPr lang="en-US">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580993" cy="5032375"/>
          </a:xfrm>
        </p:spPr>
        <p:txBody>
          <a:bodyPr>
            <a:normAutofit/>
          </a:bodyPr>
          <a:lstStyle/>
          <a:p>
            <a:r>
              <a:rPr lang="pt-BR" dirty="0"/>
              <a:t>Ao calcular a convolução, começamos com a</a:t>
            </a:r>
            <a:r>
              <a:rPr lang="pt-BR" b="1" dirty="0"/>
              <a:t> </a:t>
            </a:r>
            <a:r>
              <a:rPr lang="pt-BR" b="1" dirty="0">
                <a:solidFill>
                  <a:schemeClr val="accent2"/>
                </a:solidFill>
              </a:rPr>
              <a:t>janela de convolução</a:t>
            </a:r>
            <a:r>
              <a:rPr lang="pt-BR" b="1" dirty="0"/>
              <a:t> (</a:t>
            </a:r>
            <a:r>
              <a:rPr lang="pt-BR" b="1" dirty="0">
                <a:solidFill>
                  <a:srgbClr val="7030A0"/>
                </a:solidFill>
              </a:rPr>
              <a:t>ou campo receptivo</a:t>
            </a:r>
            <a:r>
              <a:rPr lang="pt-BR" b="1" dirty="0"/>
              <a:t>) </a:t>
            </a:r>
            <a:r>
              <a:rPr lang="pt-BR" dirty="0"/>
              <a:t>no </a:t>
            </a:r>
            <a:r>
              <a:rPr lang="pt-BR" b="1" dirty="0"/>
              <a:t>canto superior esquerdo</a:t>
            </a:r>
            <a:r>
              <a:rPr lang="pt-BR" dirty="0"/>
              <a:t> do tensor de entrada (e.g., uma imagem).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a:t>
            </a:r>
            <a:r>
              <a:rPr lang="pt-BR" sz="1200" b="1" dirty="0">
                <a:solidFill>
                  <a:schemeClr val="accent2"/>
                </a:solidFill>
              </a:rPr>
              <a:t>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discutiremos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229225" y="1825624"/>
            <a:ext cx="6962775"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a:t>
            </a:r>
            <a:r>
              <a:rPr lang="pt-BR" b="1" dirty="0">
                <a:solidFill>
                  <a:srgbClr val="0070C0"/>
                </a:solidFill>
              </a:rPr>
              <a:t>ou</a:t>
            </a:r>
            <a:r>
              <a:rPr lang="pt-BR" b="1" dirty="0">
                <a:solidFill>
                  <a:srgbClr val="7030A0"/>
                </a:solidFill>
              </a:rPr>
              <a:t> </a:t>
            </a:r>
            <a:r>
              <a:rPr lang="pt-BR" b="1" dirty="0">
                <a:solidFill>
                  <a:srgbClr val="0070C0"/>
                </a:solidFill>
              </a:rPr>
              <a:t>identificar</a:t>
            </a:r>
            <a:r>
              <a:rPr lang="pt-BR" b="1" dirty="0">
                <a:solidFill>
                  <a:srgbClr val="7030A0"/>
                </a:solidFill>
              </a:rPr>
              <a:t>)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de ativação</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desse filtro ao longo de cada posição espacial</a:t>
            </a:r>
            <a:r>
              <a:rPr lang="pt-BR" dirty="0"/>
              <a:t> do tensor (imagem).</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838200" y="1825624"/>
            <a:ext cx="11353800" cy="5032375"/>
          </a:xfrm>
        </p:spPr>
        <p:txBody>
          <a:bodyPr>
            <a:normAutofit/>
          </a:bodyPr>
          <a:lstStyle/>
          <a:p>
            <a:r>
              <a:rPr lang="pt-BR" noProof="0" dirty="0"/>
              <a:t>O </a:t>
            </a:r>
            <a:r>
              <a:rPr lang="pt-BR" b="1" i="1" noProof="0" dirty="0">
                <a:solidFill>
                  <a:srgbClr val="0070C0"/>
                </a:solidFill>
              </a:rPr>
              <a:t>stride</a:t>
            </a:r>
            <a:r>
              <a:rPr lang="pt-BR" noProof="0" dirty="0"/>
              <a:t> controla o deslizamento do </a:t>
            </a:r>
            <a:r>
              <a:rPr lang="pt-BR" i="1" noProof="0" dirty="0"/>
              <a:t>kernel</a:t>
            </a:r>
            <a:r>
              <a:rPr lang="pt-BR" noProof="0" dirty="0"/>
              <a:t> sobre o tensor. </a:t>
            </a:r>
          </a:p>
          <a:p>
            <a:r>
              <a:rPr lang="pt-BR" noProof="0" dirty="0"/>
              <a:t>É o número de </a:t>
            </a:r>
            <a:r>
              <a:rPr lang="pt-BR" i="1" noProof="0" dirty="0"/>
              <a:t>pixels</a:t>
            </a:r>
            <a:r>
              <a:rPr lang="pt-BR" noProof="0" dirty="0"/>
              <a:t> que o </a:t>
            </a:r>
            <a:r>
              <a:rPr lang="pt-BR" i="1" noProof="0" dirty="0"/>
              <a:t>kernel</a:t>
            </a:r>
            <a:r>
              <a:rPr lang="pt-BR" noProof="0" dirty="0"/>
              <a:t> avança a cada aplicação da convolução.</a:t>
            </a:r>
          </a:p>
          <a:p>
            <a:r>
              <a:rPr lang="pt-BR" noProof="0" dirty="0"/>
              <a:t>No exemplo anterior, o </a:t>
            </a:r>
            <a:r>
              <a:rPr lang="pt-BR" b="1" i="1" noProof="0" dirty="0">
                <a:solidFill>
                  <a:srgbClr val="0070C0"/>
                </a:solidFill>
              </a:rPr>
              <a:t>stride</a:t>
            </a:r>
            <a:r>
              <a:rPr lang="pt-BR" noProof="0" dirty="0"/>
              <a:t> era de 1 </a:t>
            </a:r>
            <a:r>
              <a:rPr lang="pt-BR" i="1" noProof="0" dirty="0"/>
              <a:t>pixel</a:t>
            </a:r>
            <a:r>
              <a:rPr lang="pt-BR" noProof="0" dirty="0"/>
              <a:t> para a direita e para baixo.</a:t>
            </a:r>
          </a:p>
          <a:p>
            <a:r>
              <a:rPr lang="pt-BR" noProof="0" dirty="0"/>
              <a:t>Para que serve sua variação?</a:t>
            </a:r>
          </a:p>
          <a:p>
            <a:pPr lvl="1">
              <a:buFont typeface="Wingdings" panose="05000000000000000000" pitchFamily="2" charset="2"/>
              <a:buChar char="§"/>
            </a:pPr>
            <a:r>
              <a:rPr lang="pt-BR" noProof="0" dirty="0"/>
              <a:t>Reduzir o tamanho do mapa de características (</a:t>
            </a:r>
            <a:r>
              <a:rPr lang="pt-BR" i="1" noProof="0" dirty="0" err="1"/>
              <a:t>downsampling</a:t>
            </a:r>
            <a:r>
              <a:rPr lang="pt-BR" noProof="0" dirty="0"/>
              <a:t>)</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resolução da saída.</a:t>
            </a:r>
            <a:endParaRPr lang="pt-BR" noProof="0" dirty="0"/>
          </a:p>
          <a:p>
            <a:pPr lvl="1">
              <a:buFont typeface="Wingdings" panose="05000000000000000000" pitchFamily="2" charset="2"/>
              <a:buChar char="§"/>
            </a:pPr>
            <a:r>
              <a:rPr lang="pt-BR" noProof="0" dirty="0"/>
              <a:t>Reduzir o custo computacional.</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quantidade de cálculos.</a:t>
            </a:r>
          </a:p>
          <a:p>
            <a:pPr lvl="1">
              <a:buFont typeface="Wingdings" panose="05000000000000000000" pitchFamily="2" charset="2"/>
              <a:buChar char="§"/>
            </a:pPr>
            <a:r>
              <a:rPr lang="pt-BR" noProof="0" dirty="0"/>
              <a:t>Controlar o nível de detalhe.</a:t>
            </a:r>
          </a:p>
          <a:p>
            <a:pPr lvl="2">
              <a:buFont typeface="Courier New" panose="02070309020205020404" pitchFamily="49" charset="0"/>
              <a:buChar char="o"/>
            </a:pPr>
            <a:r>
              <a:rPr lang="pt-BR" i="1" noProof="0" dirty="0"/>
              <a:t>Stride</a:t>
            </a:r>
            <a:r>
              <a:rPr lang="pt-BR" noProof="0" dirty="0"/>
              <a:t> pequeno captura detalhes menores: detecta padrões finos.</a:t>
            </a:r>
          </a:p>
          <a:p>
            <a:pPr lvl="3">
              <a:buFont typeface="Wingdings" panose="05000000000000000000" pitchFamily="2" charset="2"/>
              <a:buChar char="ü"/>
            </a:pPr>
            <a:r>
              <a:rPr lang="pt-BR" noProof="0" dirty="0"/>
              <a:t>Porém, é mais caro computacionalmente.</a:t>
            </a:r>
          </a:p>
          <a:p>
            <a:pPr lvl="2">
              <a:buFont typeface="Courier New" panose="02070309020205020404" pitchFamily="49" charset="0"/>
              <a:buChar char="o"/>
            </a:pPr>
            <a:r>
              <a:rPr lang="pt-BR" i="1" noProof="0" dirty="0"/>
              <a:t>Stride</a:t>
            </a:r>
            <a:r>
              <a:rPr lang="pt-BR" noProof="0" dirty="0"/>
              <a:t> grande captura detalhes maiores: detecta padrões mais globais.</a:t>
            </a:r>
          </a:p>
        </p:txBody>
      </p:sp>
    </p:spTree>
    <p:extLst>
      <p:ext uri="{BB962C8B-B14F-4D97-AF65-F5344CB8AC3E}">
        <p14:creationId xmlns:p14="http://schemas.microsoft.com/office/powerpoint/2010/main" val="10410995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BE4B1-97D7-A915-F657-F34845A7038C}"/>
              </a:ext>
            </a:extLst>
          </p:cNvPr>
          <p:cNvSpPr>
            <a:spLocks noGrp="1"/>
          </p:cNvSpPr>
          <p:nvPr>
            <p:ph type="title"/>
          </p:nvPr>
        </p:nvSpPr>
        <p:spPr/>
        <p:txBody>
          <a:bodyPr/>
          <a:lstStyle/>
          <a:p>
            <a:r>
              <a:rPr lang="pt-BR" i="1" dirty="0"/>
              <a:t>Stride</a:t>
            </a:r>
          </a:p>
        </p:txBody>
      </p:sp>
      <mc:AlternateContent xmlns:mc="http://schemas.openxmlformats.org/markup-compatibility/2006">
        <mc:Choice xmlns:a14="http://schemas.microsoft.com/office/drawing/2010/main" Requires="a14">
          <p:sp>
            <p:nvSpPr>
              <p:cNvPr id="6" name="Espaço Reservado para Conteúdo 5">
                <a:extLst>
                  <a:ext uri="{FF2B5EF4-FFF2-40B4-BE49-F238E27FC236}">
                    <a16:creationId xmlns:a16="http://schemas.microsoft.com/office/drawing/2014/main" id="{08C86F11-4D94-E07B-050B-BAFEC1DDF558}"/>
                  </a:ext>
                </a:extLst>
              </p:cNvPr>
              <p:cNvSpPr>
                <a:spLocks noGrp="1"/>
              </p:cNvSpPr>
              <p:nvPr>
                <p:ph idx="1"/>
              </p:nvPr>
            </p:nvSpPr>
            <p:spPr>
              <a:xfrm>
                <a:off x="5647174" y="1825624"/>
                <a:ext cx="6544826" cy="5032375"/>
              </a:xfrm>
            </p:spPr>
            <p:txBody>
              <a:bodyPr>
                <a:normAutofit/>
              </a:bodyPr>
              <a:lstStyle/>
              <a:p>
                <a:r>
                  <a:rPr lang="pt-BR" dirty="0"/>
                  <a:t>Portanto, o </a:t>
                </a:r>
                <a:r>
                  <a:rPr lang="pt-BR" i="1" dirty="0"/>
                  <a:t>stride</a:t>
                </a:r>
                <a:r>
                  <a:rPr lang="pt-BR" dirty="0"/>
                  <a:t> controla o equilíbrio entre </a:t>
                </a:r>
                <a:r>
                  <a:rPr lang="pt-BR" b="1" dirty="0"/>
                  <a:t>precisão vs. eficiência.</a:t>
                </a:r>
                <a:endParaRPr lang="pt-BR" dirty="0"/>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i="1" dirty="0"/>
                  <a:t>Downsampling</a:t>
                </a:r>
                <a:r>
                  <a:rPr lang="pt-BR" dirty="0"/>
                  <a:t>: </a:t>
                </a:r>
                <a14:m>
                  <m:oMath xmlns:m="http://schemas.openxmlformats.org/officeDocument/2006/math">
                    <m:r>
                      <a:rPr lang="pt-BR" b="0" i="1" smtClean="0">
                        <a:latin typeface="Cambria Math" panose="02040503050406030204" pitchFamily="18" charset="0"/>
                      </a:rPr>
                      <m:t>4</m:t>
                    </m:r>
                    <m:r>
                      <a:rPr lang="pt-BR" b="0" i="1" smtClean="0">
                        <a:latin typeface="Cambria Math" panose="02040503050406030204" pitchFamily="18" charset="0"/>
                        <a:ea typeface="Cambria Math" panose="02040503050406030204" pitchFamily="18" charset="0"/>
                      </a:rPr>
                      <m:t>×4</m:t>
                    </m:r>
                  </m:oMath>
                </a14:m>
                <a:r>
                  <a:rPr lang="pt-BR" dirty="0"/>
                  <a:t> para </a:t>
                </a:r>
                <a14:m>
                  <m:oMath xmlns:m="http://schemas.openxmlformats.org/officeDocument/2006/math">
                    <m:r>
                      <a:rPr lang="pt-BR" b="0" i="0"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2</m:t>
                    </m:r>
                  </m:oMath>
                </a14:m>
                <a:endParaRPr lang="pt-BR" dirty="0"/>
              </a:p>
              <a:p>
                <a:r>
                  <a:rPr lang="pt-BR" dirty="0"/>
                  <a:t>Porém, ele pode ser diferente para deslocamentos ao longo das linhas e colunas.</a:t>
                </a:r>
              </a:p>
            </p:txBody>
          </p:sp>
        </mc:Choice>
        <mc:Fallback>
          <p:sp>
            <p:nvSpPr>
              <p:cNvPr id="6" name="Espaço Reservado para Conteúdo 5">
                <a:extLst>
                  <a:ext uri="{FF2B5EF4-FFF2-40B4-BE49-F238E27FC236}">
                    <a16:creationId xmlns:a16="http://schemas.microsoft.com/office/drawing/2014/main" id="{08C86F11-4D94-E07B-050B-BAFEC1DDF558}"/>
                  </a:ext>
                </a:extLst>
              </p:cNvPr>
              <p:cNvSpPr>
                <a:spLocks noGrp="1" noRot="1" noChangeAspect="1" noMove="1" noResize="1" noEditPoints="1" noAdjustHandles="1" noChangeArrowheads="1" noChangeShapeType="1" noTextEdit="1"/>
              </p:cNvSpPr>
              <p:nvPr>
                <p:ph idx="1"/>
              </p:nvPr>
            </p:nvSpPr>
            <p:spPr>
              <a:xfrm>
                <a:off x="5647174" y="1825624"/>
                <a:ext cx="6544826" cy="5032375"/>
              </a:xfrm>
              <a:blipFill>
                <a:blip r:embed="rId3"/>
                <a:stretch>
                  <a:fillRect l="-1676" t="-1937"/>
                </a:stretch>
              </a:blipFill>
            </p:spPr>
            <p:txBody>
              <a:bodyPr/>
              <a:lstStyle/>
              <a:p>
                <a:r>
                  <a:rPr lang="en-US">
                    <a:noFill/>
                  </a:rPr>
                  <a:t> </a:t>
                </a:r>
              </a:p>
            </p:txBody>
          </p:sp>
        </mc:Fallback>
      </mc:AlternateContent>
      <p:pic>
        <p:nvPicPr>
          <p:cNvPr id="9" name="Imagem 8">
            <a:extLst>
              <a:ext uri="{FF2B5EF4-FFF2-40B4-BE49-F238E27FC236}">
                <a16:creationId xmlns:a16="http://schemas.microsoft.com/office/drawing/2014/main" id="{2E7D9F4F-1DB2-E99B-33C5-E46912A66CA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id="{D872F4FC-2FC8-BB6E-9E93-AE1ED29B9AA3}"/>
              </a:ext>
            </a:extLst>
          </p:cNvPr>
          <p:cNvGrpSpPr/>
          <p:nvPr/>
        </p:nvGrpSpPr>
        <p:grpSpPr>
          <a:xfrm>
            <a:off x="1717729" y="1312121"/>
            <a:ext cx="9092325" cy="3008673"/>
            <a:chOff x="2534852" y="1688232"/>
            <a:chExt cx="9092325" cy="3008673"/>
          </a:xfrm>
        </p:grpSpPr>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419600"/>
            <a:ext cx="11353801" cy="2438400"/>
          </a:xfrm>
        </p:spPr>
        <p:txBody>
          <a:bodyPr>
            <a:normAutofit/>
          </a:bodyPr>
          <a:lstStyle/>
          <a:p>
            <a:r>
              <a:rPr lang="pt-BR" dirty="0"/>
              <a:t>Na figura, a imagem de entrada apresenta três padrões lineares (linhas).</a:t>
            </a:r>
          </a:p>
          <a:p>
            <a:r>
              <a:rPr lang="pt-BR" dirty="0"/>
              <a:t>Temos uma camada convolucional com três filtros.</a:t>
            </a:r>
          </a:p>
          <a:p>
            <a:r>
              <a:rPr lang="pt-BR" b="0" i="0" dirty="0">
                <a:effectLst/>
              </a:rPr>
              <a:t>Cada </a:t>
            </a:r>
            <a:r>
              <a:rPr lang="pt-BR" b="1" i="0" dirty="0">
                <a:solidFill>
                  <a:srgbClr val="7030A0"/>
                </a:solidFill>
                <a:effectLst/>
              </a:rPr>
              <a:t>filtro</a:t>
            </a:r>
            <a:r>
              <a:rPr lang="pt-BR" b="0" i="0" dirty="0">
                <a:effectLst/>
              </a:rPr>
              <a:t> </a:t>
            </a:r>
            <a:r>
              <a:rPr lang="pt-BR" b="1" i="0" dirty="0">
                <a:solidFill>
                  <a:srgbClr val="00B050"/>
                </a:solidFill>
                <a:effectLst/>
              </a:rPr>
              <a:t>aprende</a:t>
            </a:r>
            <a:r>
              <a:rPr lang="pt-BR" b="0" i="0" dirty="0">
                <a:effectLst/>
              </a:rPr>
              <a:t> a </a:t>
            </a:r>
            <a:r>
              <a:rPr lang="pt-BR" b="1" i="0" dirty="0">
                <a:solidFill>
                  <a:srgbClr val="7030A0"/>
                </a:solidFill>
                <a:effectLst/>
              </a:rPr>
              <a:t>detectar </a:t>
            </a:r>
            <a:r>
              <a:rPr lang="pt-BR" b="1" i="0" dirty="0">
                <a:solidFill>
                  <a:schemeClr val="accent2"/>
                </a:solidFill>
                <a:effectLst/>
              </a:rPr>
              <a:t>um</a:t>
            </a:r>
            <a:r>
              <a:rPr lang="pt-BR" b="1" i="0" dirty="0">
                <a:solidFill>
                  <a:srgbClr val="7030A0"/>
                </a:solidFill>
                <a:effectLst/>
              </a:rPr>
              <a:t> padrão específico</a:t>
            </a:r>
            <a:r>
              <a:rPr lang="pt-BR" b="0" i="0" dirty="0">
                <a:effectLst/>
              </a:rPr>
              <a:t>: linhas horizontais, linhas verticais e linhas diagonais.</a:t>
            </a:r>
          </a:p>
          <a:p>
            <a:r>
              <a:rPr lang="pt-BR" b="1" dirty="0">
                <a:solidFill>
                  <a:schemeClr val="accent2"/>
                </a:solidFill>
              </a:rPr>
              <a:t>Cada filtro gera um mapa de características diferente</a:t>
            </a:r>
            <a:r>
              <a:rPr lang="pt-BR" dirty="0"/>
              <a:t>.</a:t>
            </a:r>
          </a:p>
        </p:txBody>
      </p:sp>
    </p:spTree>
    <p:extLst>
      <p:ext uri="{BB962C8B-B14F-4D97-AF65-F5344CB8AC3E}">
        <p14:creationId xmlns:p14="http://schemas.microsoft.com/office/powerpoint/2010/main" val="16509866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a:t>
            </a:r>
            <a:r>
              <a:rPr lang="pt-BR" b="1" dirty="0">
                <a:solidFill>
                  <a:schemeClr val="accent2"/>
                </a:solidFill>
              </a:rPr>
              <a:t>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5" name="CaixaDeTexto 4">
            <a:extLst>
              <a:ext uri="{FF2B5EF4-FFF2-40B4-BE49-F238E27FC236}">
                <a16:creationId xmlns:a16="http://schemas.microsoft.com/office/drawing/2014/main" id="{3AC81DFC-312F-0685-AA08-805C8A79BA72}"/>
              </a:ext>
            </a:extLst>
          </p:cNvPr>
          <p:cNvSpPr txBox="1"/>
          <p:nvPr/>
        </p:nvSpPr>
        <p:spPr>
          <a:xfrm>
            <a:off x="5762010" y="3628130"/>
            <a:ext cx="953979" cy="307777"/>
          </a:xfrm>
          <a:prstGeom prst="rect">
            <a:avLst/>
          </a:prstGeom>
          <a:noFill/>
        </p:spPr>
        <p:txBody>
          <a:bodyPr wrap="none" rtlCol="0">
            <a:spAutoFit/>
          </a:bodyPr>
          <a:lstStyle/>
          <a:p>
            <a:r>
              <a:rPr lang="pt-BR" sz="1400" i="1" dirty="0" err="1"/>
              <a:t>right</a:t>
            </a:r>
            <a:r>
              <a:rPr lang="pt-BR" sz="1400" i="1" dirty="0"/>
              <a:t> </a:t>
            </a:r>
            <a:r>
              <a:rPr lang="pt-BR" sz="1400" i="1" dirty="0" err="1"/>
              <a:t>sobel</a:t>
            </a:r>
            <a:endParaRPr lang="en-US" sz="1400" i="1" dirty="0"/>
          </a:p>
        </p:txBody>
      </p:sp>
      <p:sp>
        <p:nvSpPr>
          <p:cNvPr id="7" name="CaixaDeTexto 6">
            <a:extLst>
              <a:ext uri="{FF2B5EF4-FFF2-40B4-BE49-F238E27FC236}">
                <a16:creationId xmlns:a16="http://schemas.microsoft.com/office/drawing/2014/main" id="{FA5CCBA6-6983-1B34-087A-290B3BA47357}"/>
              </a:ext>
            </a:extLst>
          </p:cNvPr>
          <p:cNvSpPr txBox="1"/>
          <p:nvPr/>
        </p:nvSpPr>
        <p:spPr>
          <a:xfrm>
            <a:off x="9349483" y="4277114"/>
            <a:ext cx="2533427" cy="646331"/>
          </a:xfrm>
          <a:prstGeom prst="rect">
            <a:avLst/>
          </a:prstGeom>
          <a:noFill/>
        </p:spPr>
        <p:txBody>
          <a:bodyPr wrap="square" rtlCol="0">
            <a:spAutoFit/>
          </a:bodyPr>
          <a:lstStyle/>
          <a:p>
            <a:pPr algn="ctr"/>
            <a:r>
              <a:rPr lang="pt-BR" sz="1200" dirty="0"/>
              <a:t>OBS.: após a aplicação do filtro, a imagem da direita tem resolução menor do que a da esquerda</a:t>
            </a:r>
            <a:endParaRPr lang="en-US" sz="1200" dirty="0"/>
          </a:p>
        </p:txBody>
      </p:sp>
    </p:spTree>
    <p:extLst>
      <p:ext uri="{BB962C8B-B14F-4D97-AF65-F5344CB8AC3E}">
        <p14:creationId xmlns:p14="http://schemas.microsoft.com/office/powerpoint/2010/main" val="3650746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a:t>
            </a:r>
            <a:r>
              <a:rPr lang="pt-BR" b="1" dirty="0">
                <a:solidFill>
                  <a:schemeClr val="accent2"/>
                </a:solidFill>
              </a:rPr>
              <a:t>escurecendo</a:t>
            </a:r>
            <a:r>
              <a:rPr lang="pt-BR" dirty="0"/>
              <a:t>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4" name="CaixaDeTexto 3">
            <a:extLst>
              <a:ext uri="{FF2B5EF4-FFF2-40B4-BE49-F238E27FC236}">
                <a16:creationId xmlns:a16="http://schemas.microsoft.com/office/drawing/2014/main" id="{8742060B-3607-8D76-F390-2FF75A80EDC6}"/>
              </a:ext>
            </a:extLst>
          </p:cNvPr>
          <p:cNvSpPr txBox="1"/>
          <p:nvPr/>
        </p:nvSpPr>
        <p:spPr>
          <a:xfrm>
            <a:off x="5685266" y="3638831"/>
            <a:ext cx="1142813" cy="307777"/>
          </a:xfrm>
          <a:prstGeom prst="rect">
            <a:avLst/>
          </a:prstGeom>
          <a:noFill/>
        </p:spPr>
        <p:txBody>
          <a:bodyPr wrap="none" rtlCol="0">
            <a:spAutoFit/>
          </a:bodyPr>
          <a:lstStyle/>
          <a:p>
            <a:r>
              <a:rPr lang="pt-BR" sz="1400" i="1" dirty="0" err="1"/>
              <a:t>bottom</a:t>
            </a:r>
            <a:r>
              <a:rPr lang="pt-BR" sz="1400" i="1" dirty="0"/>
              <a:t> </a:t>
            </a:r>
            <a:r>
              <a:rPr lang="pt-BR" sz="1400" i="1" dirty="0" err="1"/>
              <a:t>sobel</a:t>
            </a:r>
            <a:endParaRPr lang="en-US" sz="1400" i="1" dirty="0"/>
          </a:p>
        </p:txBody>
      </p:sp>
    </p:spTree>
    <p:extLst>
      <p:ext uri="{BB962C8B-B14F-4D97-AF65-F5344CB8AC3E}">
        <p14:creationId xmlns:p14="http://schemas.microsoft.com/office/powerpoint/2010/main" val="29384888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4" y="1825624"/>
            <a:ext cx="4435365"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solidFill>
                  <a:srgbClr val="00B050"/>
                </a:solidFill>
              </a:rPr>
              <a:t>dividi-la em 3 operações de convolução separadas </a:t>
            </a:r>
            <a:r>
              <a:rPr lang="pt-BR" dirty="0"/>
              <a:t>que têm seus </a:t>
            </a:r>
            <a:r>
              <a:rPr lang="pt-BR" b="1" dirty="0">
                <a:solidFill>
                  <a:schemeClr val="accent2"/>
                </a:solidFill>
              </a:rPr>
              <a:t>resultados somados ao final</a:t>
            </a:r>
            <a:r>
              <a:rPr lang="pt-BR" dirty="0"/>
              <a:t>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8759458-B897-4B64-C83F-764BD728F86B}"/>
              </a:ext>
            </a:extLst>
          </p:cNvPr>
          <p:cNvSpPr>
            <a:spLocks noGrp="1"/>
          </p:cNvSpPr>
          <p:nvPr>
            <p:ph idx="1"/>
          </p:nvPr>
        </p:nvSpPr>
        <p:spPr>
          <a:xfrm>
            <a:off x="7756634" y="1825624"/>
            <a:ext cx="4435365" cy="5032375"/>
          </a:xfrm>
        </p:spPr>
        <p:txBody>
          <a:bodyPr>
            <a:normAutofit/>
          </a:bodyPr>
          <a:lstStyle/>
          <a:p>
            <a:r>
              <a:rPr lang="pt-BR" dirty="0"/>
              <a:t>Ao final temos </a:t>
            </a:r>
            <a:r>
              <a:rPr lang="pt-BR" b="1" dirty="0">
                <a:solidFill>
                  <a:srgbClr val="7030A0"/>
                </a:solidFill>
              </a:rPr>
              <a:t>apenas um </a:t>
            </a:r>
            <a:r>
              <a:rPr lang="pt-BR" b="1" dirty="0">
                <a:solidFill>
                  <a:schemeClr val="accent2"/>
                </a:solidFill>
              </a:rPr>
              <a:t>mapa de características</a:t>
            </a:r>
            <a:r>
              <a:rPr lang="pt-BR" dirty="0"/>
              <a:t>.</a:t>
            </a:r>
          </a:p>
        </p:txBody>
      </p:sp>
    </p:spTree>
    <p:extLst>
      <p:ext uri="{BB962C8B-B14F-4D97-AF65-F5344CB8AC3E}">
        <p14:creationId xmlns:p14="http://schemas.microsoft.com/office/powerpoint/2010/main" val="19840035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511332" y="1825624"/>
                <a:ext cx="5680668"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a:t>
                </a:r>
                <a:r>
                  <a:rPr lang="pt-BR" b="1" dirty="0">
                    <a:solidFill>
                      <a:schemeClr val="accent2"/>
                    </a:solidFill>
                  </a:rPr>
                  <a:t>uma característica diferente</a:t>
                </a:r>
                <a:r>
                  <a:rPr lang="pt-BR" dirty="0"/>
                  <a:t>.</a:t>
                </a:r>
              </a:p>
              <a:p>
                <a:r>
                  <a:rPr lang="pt-BR" dirty="0"/>
                  <a:t>O resultado da </a:t>
                </a:r>
                <a:r>
                  <a:rPr lang="pt-BR" b="1" dirty="0">
                    <a:solidFill>
                      <a:schemeClr val="accent1"/>
                    </a:solidFill>
                  </a:rPr>
                  <a:t>convolução com cada </a:t>
                </a:r>
                <a:r>
                  <a:rPr lang="pt-BR" b="1" i="1" dirty="0">
                    <a:solidFill>
                      <a:schemeClr val="accent1"/>
                    </a:solidFill>
                  </a:rPr>
                  <a:t>kernel</a:t>
                </a:r>
                <a:r>
                  <a:rPr lang="pt-BR" b="1" dirty="0">
                    <a:solidFill>
                      <a:schemeClr val="accent1"/>
                    </a:solidFill>
                  </a:rPr>
                  <a:t> tem um valor de </a:t>
                </a:r>
                <a:r>
                  <a:rPr lang="pt-BR" b="1" i="1" dirty="0">
                    <a:solidFill>
                      <a:schemeClr val="accent1"/>
                    </a:solidFill>
                  </a:rPr>
                  <a:t>bias</a:t>
                </a:r>
                <a:r>
                  <a:rPr lang="pt-BR" b="1" dirty="0">
                    <a:solidFill>
                      <a:schemeClr val="accent1"/>
                    </a:solidFill>
                  </a:rPr>
                  <a:t> somado</a:t>
                </a:r>
                <a:r>
                  <a:rPr lang="pt-BR" dirty="0"/>
                  <a:t>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511332" y="1825624"/>
                <a:ext cx="5680668" cy="5032375"/>
              </a:xfrm>
              <a:blipFill>
                <a:blip r:embed="rId3"/>
                <a:stretch>
                  <a:fillRect l="-1931" t="-1937" r="-171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064368" y="1825624"/>
            <a:ext cx="7127631" cy="5032375"/>
          </a:xfrm>
        </p:spPr>
        <p:txBody>
          <a:bodyPr>
            <a:normAutofit/>
          </a:bodyPr>
          <a:lstStyle/>
          <a:p>
            <a:r>
              <a:rPr lang="pt-BR" noProof="0" dirty="0"/>
              <a:t>A função de ativação introduz não linearidade.</a:t>
            </a:r>
          </a:p>
          <a:p>
            <a:pPr lvl="1">
              <a:buFont typeface="Wingdings" panose="05000000000000000000" pitchFamily="2" charset="2"/>
              <a:buChar char="§"/>
            </a:pPr>
            <a:r>
              <a:rPr lang="pt-BR" dirty="0"/>
              <a:t>Com ela, a rede aprende </a:t>
            </a:r>
            <a:r>
              <a:rPr lang="pt-BR" b="1" dirty="0">
                <a:solidFill>
                  <a:srgbClr val="00B0F0"/>
                </a:solidFill>
              </a:rPr>
              <a:t>relações complexas e não lineares entre as características</a:t>
            </a:r>
            <a:r>
              <a:rPr lang="pt-BR" dirty="0"/>
              <a:t>.</a:t>
            </a:r>
            <a:endParaRPr lang="pt-BR" noProof="0" dirty="0"/>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dirty="0"/>
              <a:t>Ou seja,</a:t>
            </a:r>
            <a:r>
              <a:rPr lang="pt-BR" noProof="0" dirty="0"/>
              <a:t> cada valor do mapa é transformado individualmente pela função de ativação.</a:t>
            </a:r>
          </a:p>
          <a:p>
            <a:r>
              <a:rPr lang="pt-BR" noProof="0" dirty="0"/>
              <a:t>Em geral, como </a:t>
            </a:r>
            <a:r>
              <a:rPr lang="pt-BR" b="1" noProof="0" dirty="0">
                <a:solidFill>
                  <a:srgbClr val="7030A0"/>
                </a:solidFill>
              </a:rPr>
              <a:t>CNNs tendem a ter muitas camadas</a:t>
            </a:r>
            <a:r>
              <a:rPr lang="pt-BR" noProof="0" dirty="0"/>
              <a:t>, para evitar o </a:t>
            </a:r>
            <a:r>
              <a:rPr lang="pt-BR" b="1" noProof="0" dirty="0">
                <a:solidFill>
                  <a:srgbClr val="0070C0"/>
                </a:solidFill>
              </a:rPr>
              <a:t>desaparecimento do gradiente</a:t>
            </a:r>
            <a:r>
              <a:rPr lang="pt-BR" noProof="0" dirty="0"/>
              <a:t>,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a:t>
                </a:r>
                <a:r>
                  <a:rPr lang="pt-BR" b="1" dirty="0">
                    <a:solidFill>
                      <a:schemeClr val="accent2"/>
                    </a:solidFill>
                  </a:rPr>
                  <a:t>reduz o tamanho espacial</a:t>
                </a:r>
                <a:r>
                  <a:rPr lang="pt-BR" dirty="0"/>
                  <a:t> do mapa de características.</a:t>
                </a:r>
              </a:p>
              <a:p>
                <a:r>
                  <a:rPr lang="pt-BR" dirty="0"/>
                  <a:t>A operação de </a:t>
                </a:r>
                <a:r>
                  <a:rPr lang="pt-BR" i="1" dirty="0" err="1"/>
                  <a:t>pooling</a:t>
                </a:r>
                <a:r>
                  <a:rPr lang="pt-BR" dirty="0"/>
                  <a:t> </a:t>
                </a:r>
                <a:r>
                  <a:rPr lang="pt-BR" b="1" dirty="0">
                    <a:solidFill>
                      <a:srgbClr val="7030A0"/>
                    </a:solidFill>
                  </a:rPr>
                  <a:t>varre o mapa de características</a:t>
                </a:r>
                <a:r>
                  <a:rPr lang="pt-BR" dirty="0"/>
                  <a:t> em </a:t>
                </a:r>
                <a:r>
                  <a:rPr lang="pt-BR" b="1" dirty="0">
                    <a:solidFill>
                      <a:srgbClr val="00B050"/>
                    </a:solidFill>
                  </a:rPr>
                  <a:t>pequenas regiões </a:t>
                </a:r>
                <a:r>
                  <a:rPr lang="pt-BR" dirty="0"/>
                  <a:t>(matriz) e </a:t>
                </a:r>
                <a:r>
                  <a:rPr lang="pt-BR" b="1" dirty="0">
                    <a:solidFill>
                      <a:schemeClr val="accent1"/>
                    </a:solidFill>
                  </a:rPr>
                  <a:t>resume cada região a um único valor</a:t>
                </a:r>
                <a:r>
                  <a:rPr lang="pt-BR" dirty="0"/>
                  <a:t>.</a:t>
                </a:r>
              </a:p>
              <a:p>
                <a:r>
                  <a:rPr lang="pt-BR" dirty="0"/>
                  <a:t>O exemplo ao lado usa uma janela de </a:t>
                </a:r>
                <a:r>
                  <a:rPr lang="pt-BR" i="1" dirty="0" err="1"/>
                  <a:t>pooling</a:t>
                </a:r>
                <a:r>
                  <a:rPr lang="pt-BR" dirty="0"/>
                  <a:t> </a:t>
                </a:r>
                <a14:m>
                  <m:oMath xmlns:m="http://schemas.openxmlformats.org/officeDocument/2006/math">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a14:m>
                <a:r>
                  <a:rPr lang="pt-BR" dirty="0"/>
                  <a:t> e </a:t>
                </a:r>
                <a:r>
                  <a:rPr lang="pt-BR" i="1" dirty="0"/>
                  <a:t>stride</a:t>
                </a:r>
                <a:r>
                  <a:rPr lang="pt-BR" dirty="0"/>
                  <a:t> de </a:t>
                </a:r>
                <a14:m>
                  <m:oMath xmlns:m="http://schemas.openxmlformats.org/officeDocument/2006/math">
                    <m:r>
                      <a:rPr lang="pt-BR" b="0" i="1" smtClean="0">
                        <a:latin typeface="Cambria Math" panose="02040503050406030204" pitchFamily="18" charset="0"/>
                      </a:rPr>
                      <m:t>2</m:t>
                    </m:r>
                  </m:oMath>
                </a14:m>
                <a:r>
                  <a:rPr lang="pt-BR" dirty="0"/>
                  <a:t> </a:t>
                </a:r>
                <a:r>
                  <a:rPr lang="pt-BR" i="1" dirty="0"/>
                  <a:t>pixels</a:t>
                </a:r>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0757EF79-7D6D-120A-5FF5-D61E8B4B343B}"/>
                  </a:ext>
                </a:extLst>
              </p:cNvPr>
              <p:cNvSpPr>
                <a:spLocks noGrp="1" noRot="1" noChangeAspect="1" noMove="1" noResize="1" noEditPoints="1" noAdjustHandles="1" noChangeArrowheads="1" noChangeShapeType="1" noTextEdit="1"/>
              </p:cNvSpPr>
              <p:nvPr>
                <p:ph idx="1"/>
              </p:nvPr>
            </p:nvSpPr>
            <p:spPr>
              <a:xfrm>
                <a:off x="5626100" y="1825624"/>
                <a:ext cx="6565900" cy="5032375"/>
              </a:xfrm>
              <a:blipFill rotWithShape="0">
                <a:blip r:embed="rId3"/>
                <a:stretch>
                  <a:fillRect l="-1671" t="-1937" r="-157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657222" y="1825624"/>
            <a:ext cx="6534780" cy="5032375"/>
          </a:xfrm>
        </p:spPr>
        <p:txBody>
          <a:bodyPr>
            <a:normAutofit/>
          </a:bodyPr>
          <a:lstStyle/>
          <a:p>
            <a:r>
              <a:rPr lang="pt-BR" dirty="0"/>
              <a:t>Alguns dos </a:t>
            </a:r>
            <a:r>
              <a:rPr lang="pt-BR" b="1" dirty="0">
                <a:solidFill>
                  <a:srgbClr val="7030A0"/>
                </a:solidFill>
              </a:rPr>
              <a:t>objetivos</a:t>
            </a:r>
            <a:r>
              <a:rPr lang="pt-BR" dirty="0"/>
              <a:t> da </a:t>
            </a:r>
            <a:r>
              <a:rPr lang="pt-BR" dirty="0" err="1"/>
              <a:t>subamostragem</a:t>
            </a:r>
            <a:r>
              <a:rPr lang="pt-BR" dirty="0"/>
              <a:t> são: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endParaRPr lang="pt-BR" dirty="0"/>
          </a:p>
          <a:p>
            <a:pPr lvl="1">
              <a:buFont typeface="Wingdings" panose="05000000000000000000" pitchFamily="2" charset="2"/>
              <a:buChar char="§"/>
            </a:pPr>
            <a:r>
              <a:rPr lang="pt-BR" dirty="0"/>
              <a:t>e o </a:t>
            </a:r>
            <a:r>
              <a:rPr lang="pt-BR" b="1" dirty="0">
                <a:solidFill>
                  <a:srgbClr val="7030A0"/>
                </a:solidFill>
              </a:rPr>
              <a:t>número de pesos.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endParaRPr lang="pt-BR" b="0" dirty="0">
              <a:effectLst/>
            </a:endParaRPr>
          </a:p>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a:t>
            </a:r>
            <a:r>
              <a:rPr lang="pt-BR" b="1" dirty="0">
                <a:solidFill>
                  <a:schemeClr val="accent1"/>
                </a:solidFill>
                <a:effectLst/>
              </a:rPr>
              <a:t>pequenas</a:t>
            </a:r>
            <a:r>
              <a:rPr lang="pt-BR" b="1" dirty="0">
                <a:solidFill>
                  <a:schemeClr val="accent2"/>
                </a:solidFill>
                <a:effectLst/>
              </a:rPr>
              <a:t> mudanças na posição</a:t>
            </a:r>
            <a:r>
              <a:rPr lang="pt-BR" b="1" dirty="0">
                <a:solidFill>
                  <a:srgbClr val="00B050"/>
                </a:solidFill>
                <a:effectLst/>
              </a:rPr>
              <a:t> das características</a:t>
            </a:r>
            <a:r>
              <a:rPr lang="pt-BR" dirty="0">
                <a:solidFill>
                  <a:srgbClr val="00B050"/>
                </a:solidFill>
              </a:rPr>
              <a:t>.</a:t>
            </a:r>
            <a:endParaRPr lang="pt-BR" b="0" dirty="0">
              <a:effectLst/>
            </a:endParaRPr>
          </a:p>
        </p:txBody>
      </p:sp>
      <p:pic>
        <p:nvPicPr>
          <p:cNvPr id="4" name="Imagem 3">
            <a:extLst>
              <a:ext uri="{FF2B5EF4-FFF2-40B4-BE49-F238E27FC236}">
                <a16:creationId xmlns:a16="http://schemas.microsoft.com/office/drawing/2014/main" id="{FE4DC580-96F7-B48F-0B6E-21B8032CEF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ED98-DB5A-DFD7-9EC9-8804D9CEA7C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59E375A-06BD-F918-D9A2-BB252D81D217}"/>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1439CFAB-0A76-A38D-426B-FE600E870631}"/>
              </a:ext>
            </a:extLst>
          </p:cNvPr>
          <p:cNvSpPr>
            <a:spLocks noGrp="1"/>
          </p:cNvSpPr>
          <p:nvPr>
            <p:ph idx="1"/>
          </p:nvPr>
        </p:nvSpPr>
        <p:spPr>
          <a:xfrm>
            <a:off x="4937760" y="1825624"/>
            <a:ext cx="7254240" cy="5032375"/>
          </a:xfrm>
        </p:spPr>
        <p:txBody>
          <a:bodyPr>
            <a:normAutofit lnSpcReduction="10000"/>
          </a:bodyPr>
          <a:lstStyle/>
          <a:p>
            <a:r>
              <a:rPr lang="pt-BR" dirty="0"/>
              <a:t>A operação de </a:t>
            </a:r>
            <a:r>
              <a:rPr lang="pt-BR" i="1" dirty="0" err="1"/>
              <a:t>pooling</a:t>
            </a:r>
            <a:r>
              <a:rPr lang="pt-BR" dirty="0"/>
              <a:t> cria </a:t>
            </a:r>
            <a:r>
              <a:rPr lang="pt-BR" b="1" dirty="0">
                <a:solidFill>
                  <a:srgbClr val="7030A0"/>
                </a:solidFill>
              </a:rPr>
              <a:t>invariância local:</a:t>
            </a:r>
            <a:endParaRPr lang="pt-BR" dirty="0"/>
          </a:p>
          <a:p>
            <a:pPr lvl="1">
              <a:buFont typeface="Wingdings" panose="05000000000000000000" pitchFamily="2" charset="2"/>
              <a:buChar char="§"/>
            </a:pPr>
            <a:r>
              <a:rPr lang="pt-BR" b="1" dirty="0">
                <a:solidFill>
                  <a:schemeClr val="accent1"/>
                </a:solidFill>
              </a:rPr>
              <a:t>Pequenos deslocamentos </a:t>
            </a:r>
            <a:r>
              <a:rPr lang="pt-BR" dirty="0"/>
              <a:t>das características não afetam muito o resultado.</a:t>
            </a:r>
          </a:p>
          <a:p>
            <a:pPr lvl="1">
              <a:buFont typeface="Wingdings" panose="05000000000000000000" pitchFamily="2" charset="2"/>
              <a:buChar char="§"/>
            </a:pPr>
            <a:r>
              <a:rPr lang="pt-BR" b="1" dirty="0">
                <a:solidFill>
                  <a:srgbClr val="FF0000"/>
                </a:solidFill>
              </a:rPr>
              <a:t>Foca na presença do padrão</a:t>
            </a:r>
            <a:r>
              <a:rPr lang="pt-BR" dirty="0"/>
              <a:t>, </a:t>
            </a:r>
            <a:r>
              <a:rPr lang="pt-BR" b="1" dirty="0">
                <a:solidFill>
                  <a:srgbClr val="00B0F0"/>
                </a:solidFill>
              </a:rPr>
              <a:t>não na sua localização</a:t>
            </a:r>
            <a:r>
              <a:rPr lang="pt-BR" dirty="0"/>
              <a:t>.</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a:p>
            <a:r>
              <a:rPr lang="pt-BR" dirty="0"/>
              <a:t>O </a:t>
            </a:r>
            <a:r>
              <a:rPr lang="pt-BR" i="1" dirty="0" err="1"/>
              <a:t>pooling</a:t>
            </a:r>
            <a:r>
              <a:rPr lang="pt-BR" dirty="0"/>
              <a:t> contribui para que a CNN </a:t>
            </a:r>
            <a:r>
              <a:rPr lang="pt-BR" b="1" dirty="0">
                <a:solidFill>
                  <a:schemeClr val="accent2"/>
                </a:solidFill>
              </a:rPr>
              <a:t>perca informação espacial</a:t>
            </a:r>
            <a:r>
              <a:rPr lang="pt-BR" dirty="0"/>
              <a:t> e ganhe </a:t>
            </a:r>
            <a:r>
              <a:rPr lang="pt-BR" b="1" dirty="0">
                <a:solidFill>
                  <a:srgbClr val="00B050"/>
                </a:solidFill>
              </a:rPr>
              <a:t>informação semântica</a:t>
            </a:r>
            <a:r>
              <a:rPr lang="pt-BR" dirty="0"/>
              <a:t>.</a:t>
            </a:r>
          </a:p>
        </p:txBody>
      </p:sp>
      <p:pic>
        <p:nvPicPr>
          <p:cNvPr id="6" name="Imagem 5">
            <a:extLst>
              <a:ext uri="{FF2B5EF4-FFF2-40B4-BE49-F238E27FC236}">
                <a16:creationId xmlns:a16="http://schemas.microsoft.com/office/drawing/2014/main" id="{2C2791B8-13A1-E6BD-29A6-9B75EF7FD2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10066253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17029" y="1825624"/>
                <a:ext cx="6574971"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de cada </a:t>
                </a:r>
                <a:r>
                  <a:rPr lang="pt-BR" b="1" dirty="0">
                    <a:solidFill>
                      <a:schemeClr val="accent2"/>
                    </a:solidFill>
                  </a:rPr>
                  <a:t>região do </a:t>
                </a:r>
                <a:r>
                  <a:rPr lang="pt-BR" b="1" i="1" dirty="0">
                    <a:solidFill>
                      <a:schemeClr val="accent2"/>
                    </a:solidFill>
                  </a:rPr>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t>
                </a:r>
                <a:r>
                  <a:rPr lang="pt-BR" b="1" dirty="0">
                    <a:solidFill>
                      <a:srgbClr val="7030A0"/>
                    </a:solidFill>
                  </a:rPr>
                  <a:t>descartando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17029" y="1825624"/>
                <a:ext cx="6574971" cy="5032375"/>
              </a:xfrm>
              <a:blipFill>
                <a:blip r:embed="rId3"/>
                <a:stretch>
                  <a:fillRect l="-1668"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b="1" dirty="0" err="1">
                <a:solidFill>
                  <a:srgbClr val="00B050"/>
                </a:solidFill>
              </a:rPr>
              <a:t>diminui</a:t>
            </a:r>
            <a:r>
              <a:rPr lang="en-US" b="1" dirty="0">
                <a:solidFill>
                  <a:srgbClr val="00B050"/>
                </a:solidFill>
              </a:rPr>
              <a:t> a </a:t>
            </a:r>
            <a:r>
              <a:rPr lang="en-US" b="1" dirty="0" err="1">
                <a:solidFill>
                  <a:srgbClr val="00B050"/>
                </a:solidFill>
              </a:rPr>
              <a:t>resolução</a:t>
            </a:r>
            <a:r>
              <a:rPr lang="en-US" dirty="0"/>
              <a:t>, </a:t>
            </a:r>
            <a:r>
              <a:rPr lang="en-US" dirty="0" err="1"/>
              <a:t>deixa</a:t>
            </a:r>
            <a:r>
              <a:rPr lang="en-US" dirty="0"/>
              <a:t> as </a:t>
            </a:r>
            <a:r>
              <a:rPr lang="en-US" b="1" dirty="0" err="1">
                <a:solidFill>
                  <a:srgbClr val="7030A0"/>
                </a:solidFill>
              </a:rPr>
              <a:t>bordas</a:t>
            </a:r>
            <a:r>
              <a:rPr lang="en-US" b="1" dirty="0">
                <a:solidFill>
                  <a:srgbClr val="7030A0"/>
                </a:solidFill>
              </a:rPr>
              <a:t> do </a:t>
            </a:r>
            <a:r>
              <a:rPr lang="en-US" b="1" dirty="0" err="1">
                <a:solidFill>
                  <a:srgbClr val="7030A0"/>
                </a:solidFill>
              </a:rPr>
              <a:t>cérebro</a:t>
            </a:r>
            <a:r>
              <a:rPr lang="en-US" b="1" dirty="0">
                <a:solidFill>
                  <a:srgbClr val="7030A0"/>
                </a:solidFill>
              </a:rPr>
              <a:t> </a:t>
            </a:r>
            <a:r>
              <a:rPr lang="en-US" b="1" dirty="0" err="1">
                <a:solidFill>
                  <a:srgbClr val="7030A0"/>
                </a:solidFill>
              </a:rPr>
              <a:t>bem</a:t>
            </a:r>
            <a:r>
              <a:rPr lang="en-US" b="1" dirty="0">
                <a:solidFill>
                  <a:srgbClr val="7030A0"/>
                </a:solidFill>
              </a:rPr>
              <a:t> </a:t>
            </a:r>
            <a:r>
              <a:rPr lang="en-US" b="1" dirty="0" err="1">
                <a:solidFill>
                  <a:srgbClr val="7030A0"/>
                </a:solidFill>
              </a:rPr>
              <a:t>destacadas</a:t>
            </a:r>
            <a:r>
              <a:rPr lang="en-US" dirty="0"/>
              <a:t> e </a:t>
            </a:r>
            <a:r>
              <a:rPr lang="en-US" b="1" dirty="0" err="1">
                <a:solidFill>
                  <a:schemeClr val="accent2"/>
                </a:solidFill>
              </a:rPr>
              <a:t>descarta</a:t>
            </a:r>
            <a:r>
              <a:rPr lang="en-US" b="1" dirty="0">
                <a:solidFill>
                  <a:schemeClr val="accent2"/>
                </a:solidFill>
              </a:rPr>
              <a:t> </a:t>
            </a:r>
            <a:r>
              <a:rPr lang="en-US" b="1" dirty="0" err="1">
                <a:solidFill>
                  <a:schemeClr val="accent2"/>
                </a:solidFill>
              </a:rPr>
              <a:t>detalhes</a:t>
            </a:r>
            <a:r>
              <a:rPr lang="en-US" b="1" dirty="0">
                <a:solidFill>
                  <a:schemeClr val="accent2"/>
                </a:solidFill>
              </a:rPr>
              <a:t> </a:t>
            </a:r>
            <a:r>
              <a:rPr lang="en-US" b="1" dirty="0" err="1">
                <a:solidFill>
                  <a:schemeClr val="accent2"/>
                </a:solidFill>
              </a:rPr>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83858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Neurônio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a:t>
                </a:r>
                <a:r>
                  <a:rPr lang="pt-BR" b="1" dirty="0">
                    <a:solidFill>
                      <a:schemeClr val="accent2"/>
                    </a:solidFill>
                    <a:effectLst/>
                  </a:rPr>
                  <a:t>convoluções</a:t>
                </a:r>
                <a:r>
                  <a:rPr lang="pt-BR" b="1" dirty="0">
                    <a:solidFill>
                      <a:srgbClr val="00B050"/>
                    </a:solidFill>
                    <a:effectLst/>
                  </a:rPr>
                  <a:t>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b="0" i="1" smtClean="0">
                                  <a:latin typeface="Cambria Math" panose="02040503050406030204" pitchFamily="18" charset="0"/>
                                </a:rPr>
                              </m:ctrlPr>
                            </m:fPr>
                            <m:num>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b="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599" y="1825624"/>
            <a:ext cx="6388519"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importante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a:t>
            </a:r>
            <a:r>
              <a:rPr lang="pt-BR" b="1" dirty="0">
                <a:solidFill>
                  <a:srgbClr val="7030A0"/>
                </a:solidFill>
              </a:rPr>
              <a:t>participam de menos convoluções</a:t>
            </a:r>
            <a:r>
              <a:rPr lang="pt-BR" dirty="0"/>
              <a:t>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a:t>
            </a:r>
            <a:r>
              <a:rPr lang="pt-BR" b="1" dirty="0">
                <a:solidFill>
                  <a:srgbClr val="00B050"/>
                </a:solidFill>
              </a:rPr>
              <a:t>contribuam de forma mais igualitária </a:t>
            </a:r>
            <a:r>
              <a:rPr lang="pt-BR" dirty="0"/>
              <a:t>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b="0" i="1" smtClean="0">
                                  <a:latin typeface="Cambria Math" panose="02040503050406030204" pitchFamily="18" charset="0"/>
                                </a:rPr>
                              </m:ctrlPr>
                            </m:fPr>
                            <m:num>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b="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6096000" y="1825624"/>
            <a:ext cx="6022312"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a:t>
            </a:r>
            <a:r>
              <a:rPr lang="pt-BR" b="1" dirty="0">
                <a:solidFill>
                  <a:schemeClr val="accent2"/>
                </a:solidFill>
                <a:effectLst/>
              </a:rPr>
              <a:t>bordas</a:t>
            </a:r>
            <a:r>
              <a:rPr lang="pt-BR" b="1" dirty="0">
                <a:solidFill>
                  <a:srgbClr val="00B050"/>
                </a:solidFill>
                <a:effectLst/>
              </a:rPr>
              <a:t> </a:t>
            </a:r>
            <a:r>
              <a:rPr lang="pt-BR" b="1" dirty="0">
                <a:solidFill>
                  <a:srgbClr val="0070C0"/>
                </a:solidFill>
                <a:effectLst/>
              </a:rPr>
              <a:t>da imagem ou aos mapas de características</a:t>
            </a:r>
            <a:r>
              <a:rPr lang="pt-BR" b="0" dirty="0">
                <a:effectLst/>
              </a:rPr>
              <a:t>, aumentando assim seu tamanho efetivo.</a:t>
            </a:r>
          </a:p>
          <a:p>
            <a:r>
              <a:rPr lang="pt-BR" b="0" i="0" dirty="0">
                <a:effectLst/>
              </a:rPr>
              <a:t>Em geral, os </a:t>
            </a:r>
            <a:r>
              <a:rPr lang="pt-BR" b="1" i="1" dirty="0">
                <a:solidFill>
                  <a:srgbClr val="7030A0"/>
                </a:solidFill>
                <a:effectLst/>
              </a:rPr>
              <a:t>pixels </a:t>
            </a:r>
            <a:r>
              <a:rPr lang="pt-BR" b="1" dirty="0">
                <a:solidFill>
                  <a:srgbClr val="7030A0"/>
                </a:solidFill>
                <a:effectLst/>
              </a:rPr>
              <a:t>de</a:t>
            </a:r>
            <a:r>
              <a:rPr lang="pt-BR" b="1" i="1" dirty="0">
                <a:solidFill>
                  <a:srgbClr val="7030A0"/>
                </a:solidFill>
                <a:effectLst/>
              </a:rPr>
              <a:t> padding </a:t>
            </a:r>
            <a:r>
              <a:rPr lang="pt-BR" b="1" dirty="0">
                <a:solidFill>
                  <a:srgbClr val="7030A0"/>
                </a:solidFill>
                <a:effectLst/>
              </a:rPr>
              <a:t>são feitos iguais a zero</a:t>
            </a:r>
            <a:r>
              <a:rPr lang="pt-BR" b="0" dirty="0">
                <a:effectLst/>
              </a:rPr>
              <a:t>.</a:t>
            </a:r>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E3418-1E40-8554-43E4-92F1E186EF4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2D5115-DC4C-8500-BD71-12FB6C49929F}"/>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03A801BA-DD64-6C21-825D-60819889B011}"/>
              </a:ext>
            </a:extLst>
          </p:cNvPr>
          <p:cNvSpPr>
            <a:spLocks noGrp="1"/>
          </p:cNvSpPr>
          <p:nvPr>
            <p:ph idx="1"/>
          </p:nvPr>
        </p:nvSpPr>
        <p:spPr>
          <a:xfrm>
            <a:off x="5787851" y="1825624"/>
            <a:ext cx="6330461" cy="5032375"/>
          </a:xfrm>
        </p:spPr>
        <p:txBody>
          <a:bodyPr>
            <a:normAutofit/>
          </a:bodyPr>
          <a:lstStyle/>
          <a:p>
            <a:r>
              <a:rPr lang="pt-BR" b="0" dirty="0">
                <a:effectLst/>
              </a:rPr>
              <a:t>É </a:t>
            </a:r>
            <a:r>
              <a:rPr lang="pt-BR" b="1" dirty="0">
                <a:solidFill>
                  <a:srgbClr val="00B050"/>
                </a:solidFill>
                <a:effectLst/>
              </a:rPr>
              <a:t>comum aplicar</a:t>
            </a:r>
            <a:r>
              <a:rPr lang="pt-BR" b="0" dirty="0">
                <a:solidFill>
                  <a:srgbClr val="00B050"/>
                </a:solidFill>
                <a:effectLst/>
              </a:rPr>
              <a:t> </a:t>
            </a:r>
            <a:r>
              <a:rPr lang="pt-BR" b="0" i="1" dirty="0">
                <a:effectLst/>
              </a:rPr>
              <a:t>padding</a:t>
            </a:r>
            <a:r>
              <a:rPr lang="pt-BR" b="0" dirty="0">
                <a:effectLst/>
              </a:rPr>
              <a:t> nas </a:t>
            </a:r>
            <a:r>
              <a:rPr lang="pt-BR" b="1" dirty="0">
                <a:solidFill>
                  <a:srgbClr val="00B050"/>
                </a:solidFill>
                <a:effectLst/>
              </a:rPr>
              <a:t>camadas iniciais para </a:t>
            </a:r>
          </a:p>
          <a:p>
            <a:pPr lvl="1">
              <a:buFont typeface="Wingdings" panose="05000000000000000000" pitchFamily="2" charset="2"/>
              <a:buChar char="§"/>
            </a:pPr>
            <a:r>
              <a:rPr lang="pt-BR" b="1" dirty="0">
                <a:solidFill>
                  <a:srgbClr val="7030A0"/>
                </a:solidFill>
                <a:effectLst/>
              </a:rPr>
              <a:t>preservar resolução espacial</a:t>
            </a:r>
            <a:endParaRPr lang="pt-BR" b="0" dirty="0">
              <a:effectLst/>
            </a:endParaRPr>
          </a:p>
          <a:p>
            <a:pPr lvl="1">
              <a:buFont typeface="Wingdings" panose="05000000000000000000" pitchFamily="2" charset="2"/>
              <a:buChar char="§"/>
            </a:pPr>
            <a:r>
              <a:rPr lang="pt-BR" dirty="0"/>
              <a:t>e </a:t>
            </a:r>
            <a:r>
              <a:rPr lang="pt-BR" b="1" dirty="0">
                <a:solidFill>
                  <a:srgbClr val="0070C0"/>
                </a:solidFill>
              </a:rPr>
              <a:t>não perder informação</a:t>
            </a:r>
            <a:r>
              <a:rPr lang="pt-BR" dirty="0"/>
              <a:t> </a:t>
            </a:r>
            <a:r>
              <a:rPr lang="pt-BR" b="1" dirty="0">
                <a:solidFill>
                  <a:srgbClr val="0070C0"/>
                </a:solidFill>
              </a:rPr>
              <a:t>nas bordas</a:t>
            </a:r>
            <a:r>
              <a:rPr lang="pt-BR" dirty="0"/>
              <a:t>.</a:t>
            </a:r>
          </a:p>
          <a:p>
            <a:r>
              <a:rPr lang="pt-BR" dirty="0"/>
              <a:t>Já as </a:t>
            </a:r>
            <a:r>
              <a:rPr lang="pt-BR" b="1" dirty="0">
                <a:solidFill>
                  <a:schemeClr val="accent2"/>
                </a:solidFill>
              </a:rPr>
              <a:t>c</a:t>
            </a:r>
            <a:r>
              <a:rPr lang="pt-BR" b="1" dirty="0">
                <a:solidFill>
                  <a:schemeClr val="accent2"/>
                </a:solidFill>
                <a:effectLst/>
              </a:rPr>
              <a:t>amadas finais não o aplicam</a:t>
            </a:r>
            <a:r>
              <a:rPr lang="pt-BR" dirty="0">
                <a:effectLst/>
              </a:rPr>
              <a:t> para </a:t>
            </a:r>
          </a:p>
          <a:p>
            <a:pPr lvl="1">
              <a:buFont typeface="Wingdings" panose="05000000000000000000" pitchFamily="2" charset="2"/>
              <a:buChar char="§"/>
            </a:pPr>
            <a:r>
              <a:rPr lang="pt-BR" b="0" dirty="0">
                <a:effectLst/>
              </a:rPr>
              <a:t>reduzir a dimensionalidade</a:t>
            </a:r>
          </a:p>
          <a:p>
            <a:pPr lvl="1">
              <a:buFont typeface="Wingdings" panose="05000000000000000000" pitchFamily="2" charset="2"/>
              <a:buChar char="§"/>
            </a:pPr>
            <a:r>
              <a:rPr lang="en-US" dirty="0"/>
              <a:t>e </a:t>
            </a:r>
            <a:r>
              <a:rPr lang="en-US" dirty="0" err="1"/>
              <a:t>extrair</a:t>
            </a:r>
            <a:r>
              <a:rPr lang="en-US" dirty="0"/>
              <a:t> </a:t>
            </a:r>
            <a:r>
              <a:rPr lang="en-US" dirty="0" err="1"/>
              <a:t>caracteristicas</a:t>
            </a:r>
            <a:r>
              <a:rPr lang="en-US" dirty="0"/>
              <a:t> </a:t>
            </a:r>
            <a:r>
              <a:rPr lang="en-US" dirty="0" err="1"/>
              <a:t>mais</a:t>
            </a:r>
            <a:r>
              <a:rPr lang="en-US" dirty="0"/>
              <a:t> </a:t>
            </a:r>
            <a:r>
              <a:rPr lang="en-US" dirty="0" err="1"/>
              <a:t>abstratas</a:t>
            </a:r>
            <a:r>
              <a:rPr lang="en-US" dirty="0"/>
              <a:t>.</a:t>
            </a:r>
            <a:endParaRPr lang="pt-BR" dirty="0"/>
          </a:p>
          <a:p>
            <a:r>
              <a:rPr lang="en-US" b="1" dirty="0" err="1"/>
              <a:t>Caracteristicas</a:t>
            </a:r>
            <a:r>
              <a:rPr lang="en-US" b="1" dirty="0"/>
              <a:t> </a:t>
            </a:r>
            <a:r>
              <a:rPr lang="en-US" b="1" dirty="0" err="1"/>
              <a:t>abstratas</a:t>
            </a:r>
            <a:r>
              <a:rPr lang="en-US" dirty="0"/>
              <a:t>: </a:t>
            </a:r>
            <a:r>
              <a:rPr lang="pt-BR" b="1" dirty="0">
                <a:solidFill>
                  <a:srgbClr val="00B050"/>
                </a:solidFill>
              </a:rPr>
              <a:t>capturam o significado da imagem</a:t>
            </a:r>
            <a:r>
              <a:rPr lang="pt-BR" dirty="0"/>
              <a:t> (</a:t>
            </a:r>
            <a:r>
              <a:rPr lang="pt-BR" b="1" dirty="0">
                <a:solidFill>
                  <a:schemeClr val="accent2"/>
                </a:solidFill>
              </a:rPr>
              <a:t>informação semântica</a:t>
            </a:r>
            <a:r>
              <a:rPr lang="pt-BR" dirty="0"/>
              <a:t>).</a:t>
            </a:r>
          </a:p>
          <a:p>
            <a:pPr lvl="1">
              <a:buFont typeface="Wingdings" panose="05000000000000000000" pitchFamily="2" charset="2"/>
              <a:buChar char="§"/>
            </a:pPr>
            <a:r>
              <a:rPr lang="pt-BR" dirty="0"/>
              <a:t>São as características complexas: objetos completos, </a:t>
            </a:r>
            <a:r>
              <a:rPr lang="en-US" dirty="0" err="1"/>
              <a:t>contexto</a:t>
            </a:r>
            <a:r>
              <a:rPr lang="en-US" dirty="0"/>
              <a:t> de </a:t>
            </a:r>
            <a:r>
              <a:rPr lang="en-US" dirty="0" err="1"/>
              <a:t>uma</a:t>
            </a:r>
            <a:r>
              <a:rPr lang="en-US" dirty="0"/>
              <a:t> </a:t>
            </a:r>
            <a:r>
              <a:rPr lang="en-US" dirty="0" err="1"/>
              <a:t>cena</a:t>
            </a:r>
            <a:r>
              <a:rPr lang="en-US" dirty="0"/>
              <a:t>, etc.</a:t>
            </a:r>
          </a:p>
        </p:txBody>
      </p:sp>
      <p:pic>
        <p:nvPicPr>
          <p:cNvPr id="6" name="Imagem 5">
            <a:extLst>
              <a:ext uri="{FF2B5EF4-FFF2-40B4-BE49-F238E27FC236}">
                <a16:creationId xmlns:a16="http://schemas.microsoft.com/office/drawing/2014/main" id="{43DFC1B5-93D0-8953-69C0-EC679B9288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11615560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a:t>
            </a:r>
            <a:r>
              <a:rPr lang="pt-BR" b="1" dirty="0">
                <a:solidFill>
                  <a:schemeClr val="accent2"/>
                </a:solidFill>
              </a:rPr>
              <a:t>etapa de extração de características</a:t>
            </a:r>
            <a:r>
              <a:rPr lang="pt-BR" dirty="0"/>
              <a:t> temos </a:t>
            </a:r>
            <a:r>
              <a:rPr lang="pt-BR" b="1" dirty="0">
                <a:solidFill>
                  <a:srgbClr val="00B050"/>
                </a:solidFill>
              </a:rPr>
              <a:t>vários mapas de características</a:t>
            </a:r>
            <a:r>
              <a:rPr lang="pt-BR" dirty="0"/>
              <a:t>, formando um </a:t>
            </a:r>
            <a:r>
              <a:rPr lang="pt-BR" b="1" dirty="0">
                <a:solidFill>
                  <a:srgbClr val="0070C0"/>
                </a:solidFill>
              </a:rPr>
              <a:t>volume 3D</a:t>
            </a:r>
            <a:r>
              <a:rPr lang="pt-BR" dirty="0"/>
              <a:t> de dados.</a:t>
            </a:r>
          </a:p>
          <a:p>
            <a:r>
              <a:rPr lang="pt-BR" dirty="0"/>
              <a:t>Porém, as </a:t>
            </a:r>
            <a:r>
              <a:rPr lang="pt-BR" b="1" dirty="0"/>
              <a:t>camadas densas </a:t>
            </a:r>
            <a:r>
              <a:rPr lang="pt-BR" dirty="0"/>
              <a:t>trabalham com </a:t>
            </a:r>
            <a:r>
              <a:rPr lang="pt-BR" b="1" dirty="0"/>
              <a:t>vetores 1D</a:t>
            </a:r>
            <a:r>
              <a:rPr lang="pt-BR" dirty="0"/>
              <a:t>.</a:t>
            </a:r>
          </a:p>
          <a:p>
            <a:r>
              <a:rPr lang="pt-BR" dirty="0"/>
              <a:t>Assim, transforma-se os mapas de características em vetores 1D.</a:t>
            </a:r>
          </a:p>
          <a:p>
            <a:r>
              <a:rPr lang="pt-BR" dirty="0"/>
              <a:t>Essa camada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a:t>
            </a:r>
            <a:r>
              <a:rPr lang="pt-BR" b="1" dirty="0">
                <a:solidFill>
                  <a:schemeClr val="accent2"/>
                </a:solidFill>
                <a:effectLst/>
              </a:rPr>
              <a:t>CNN contêm uma DNN</a:t>
            </a:r>
            <a:r>
              <a:rPr lang="pt-BR" dirty="0">
                <a:effectLst/>
              </a:rPr>
              <a:t>, com </a:t>
            </a:r>
            <a:r>
              <a:rPr lang="pt-BR" b="1" dirty="0">
                <a:solidFill>
                  <a:srgbClr val="00B050"/>
                </a:solidFill>
                <a:effectLst/>
              </a:rPr>
              <a:t>uma ou mais camadas densas</a:t>
            </a:r>
            <a:r>
              <a:rPr lang="pt-BR" dirty="0">
                <a:effectLst/>
              </a:rPr>
              <a:t>.</a:t>
            </a:r>
          </a:p>
          <a:p>
            <a:r>
              <a:rPr lang="pt-BR" dirty="0"/>
              <a:t>A DNN </a:t>
            </a:r>
          </a:p>
          <a:p>
            <a:pPr lvl="1">
              <a:buFont typeface="Wingdings" panose="05000000000000000000" pitchFamily="2" charset="2"/>
              <a:buChar char="§"/>
            </a:pPr>
            <a:r>
              <a:rPr lang="pt-BR" dirty="0"/>
              <a:t>recebe o vetor 1D com </a:t>
            </a:r>
            <a:r>
              <a:rPr lang="pt-BR" b="1" dirty="0">
                <a:solidFill>
                  <a:srgbClr val="7030A0"/>
                </a:solidFill>
              </a:rPr>
              <a:t>todas as características extraídas</a:t>
            </a:r>
            <a:r>
              <a:rPr lang="pt-BR" dirty="0"/>
              <a:t> pelas camadas convolucionais da rede,</a:t>
            </a:r>
          </a:p>
          <a:p>
            <a:pPr lvl="1">
              <a:buFont typeface="Wingdings" panose="05000000000000000000" pitchFamily="2" charset="2"/>
              <a:buChar char="§"/>
            </a:pPr>
            <a:r>
              <a:rPr lang="pt-BR" b="1" dirty="0">
                <a:solidFill>
                  <a:schemeClr val="accent2"/>
                </a:solidFill>
              </a:rPr>
              <a:t>combinam todas as características</a:t>
            </a:r>
            <a:r>
              <a:rPr lang="pt-BR" dirty="0"/>
              <a:t> extraídas,</a:t>
            </a:r>
          </a:p>
          <a:p>
            <a:pPr lvl="1">
              <a:buFont typeface="Wingdings" panose="05000000000000000000" pitchFamily="2" charset="2"/>
              <a:buChar char="§"/>
            </a:pPr>
            <a:r>
              <a:rPr lang="pt-BR" dirty="0"/>
              <a:t>geram </a:t>
            </a:r>
            <a:r>
              <a:rPr lang="pt-BR" b="1" dirty="0">
                <a:solidFill>
                  <a:schemeClr val="accent1"/>
                </a:solidFill>
              </a:rPr>
              <a:t>pontuações</a:t>
            </a:r>
            <a:r>
              <a:rPr lang="pt-BR" dirty="0"/>
              <a:t> para cada classe</a:t>
            </a:r>
          </a:p>
          <a:p>
            <a:pPr lvl="1">
              <a:buFont typeface="Wingdings" panose="05000000000000000000" pitchFamily="2" charset="2"/>
              <a:buChar char="§"/>
            </a:pPr>
            <a:r>
              <a:rPr lang="pt-BR" dirty="0"/>
              <a:t>e as </a:t>
            </a:r>
            <a:r>
              <a:rPr lang="pt-BR" b="1" dirty="0">
                <a:solidFill>
                  <a:schemeClr val="accent6"/>
                </a:solidFill>
              </a:rPr>
              <a:t>normalizam</a:t>
            </a:r>
            <a:r>
              <a:rPr lang="pt-BR" dirty="0"/>
              <a:t> (função </a:t>
            </a:r>
            <a:r>
              <a:rPr lang="pt-BR" i="1" dirty="0" err="1"/>
              <a:t>softmax</a:t>
            </a:r>
            <a:r>
              <a:rPr lang="pt-BR" dirty="0"/>
              <a:t>), </a:t>
            </a:r>
            <a:r>
              <a:rPr lang="pt-BR" dirty="0" err="1"/>
              <a:t>grando</a:t>
            </a:r>
            <a:r>
              <a:rPr lang="pt-BR" dirty="0"/>
              <a:t> uma predição final (probabilidades).</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374004" cy="5032375"/>
          </a:xfrm>
        </p:spPr>
        <p:txBody>
          <a:bodyPr>
            <a:normAutofit/>
          </a:bodyPr>
          <a:lstStyle/>
          <a:p>
            <a:r>
              <a:rPr lang="pt-BR" dirty="0"/>
              <a:t>Em outras palavras, elas </a:t>
            </a:r>
            <a:r>
              <a:rPr lang="pt-BR" b="1" dirty="0">
                <a:solidFill>
                  <a:srgbClr val="7030A0"/>
                </a:solidFill>
              </a:rPr>
              <a:t>usam as características detectadas para decidir a classe</a:t>
            </a:r>
            <a:r>
              <a:rPr lang="pt-BR" dirty="0"/>
              <a:t>.</a:t>
            </a:r>
          </a:p>
          <a:p>
            <a:r>
              <a:rPr lang="pt-BR" dirty="0"/>
              <a:t>Por exemplo, se as características de um gato são ativadas → é um gato.</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a:t>DNNs olham tudo ao mesmo tempo.</a:t>
            </a:r>
          </a:p>
          <a:p>
            <a:r>
              <a:rPr lang="pt-BR" dirty="0"/>
              <a:t>Ou seja, a DNN aprende </a:t>
            </a:r>
            <a:r>
              <a:rPr lang="pt-BR" b="1" dirty="0">
                <a:solidFill>
                  <a:schemeClr val="accent2"/>
                </a:solidFill>
              </a:rPr>
              <a:t>relações globais entre características</a:t>
            </a:r>
            <a:r>
              <a:rPr lang="pt-BR" dirty="0"/>
              <a:t>.</a:t>
            </a:r>
          </a:p>
          <a:p>
            <a:pPr>
              <a:buFont typeface="Wingdings" panose="05000000000000000000" pitchFamily="2" charset="2"/>
              <a:buChar char="§"/>
            </a:pPr>
            <a:endParaRPr lang="pt-BR" dirty="0"/>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das camadas densas ocultas, em geral, são </a:t>
            </a:r>
            <a:r>
              <a:rPr lang="pt-BR" dirty="0" err="1"/>
              <a:t>ReLU</a:t>
            </a:r>
            <a:r>
              <a:rPr lang="pt-BR" dirty="0"/>
              <a:t> ou suas variantes.</a:t>
            </a:r>
          </a:p>
          <a:p>
            <a:r>
              <a:rPr lang="pt-BR" dirty="0"/>
              <a:t>A camada densa de saída usa funções de ativação:</a:t>
            </a:r>
          </a:p>
          <a:p>
            <a:pPr lvl="1">
              <a:buFont typeface="Wingdings" panose="05000000000000000000" pitchFamily="2" charset="2"/>
              <a:buChar char="§"/>
            </a:pPr>
            <a:r>
              <a:rPr lang="pt-BR" i="1" dirty="0"/>
              <a:t>Softmax</a:t>
            </a:r>
            <a:r>
              <a:rPr lang="pt-BR" dirty="0"/>
              <a:t>, para classificação multiclasses.</a:t>
            </a:r>
          </a:p>
          <a:p>
            <a:pPr lvl="1">
              <a:buFont typeface="Wingdings" panose="05000000000000000000" pitchFamily="2" charset="2"/>
              <a:buChar char="§"/>
            </a:pPr>
            <a:r>
              <a:rPr lang="pt-BR" dirty="0"/>
              <a:t>Logística, para classificação binária e </a:t>
            </a:r>
            <a:r>
              <a:rPr lang="pt-BR" dirty="0" err="1"/>
              <a:t>multi-rótulo</a:t>
            </a:r>
            <a:r>
              <a:rPr lang="pt-BR" dirty="0"/>
              <a:t>.</a:t>
            </a:r>
          </a:p>
          <a:p>
            <a:pPr lvl="1">
              <a:buFont typeface="Wingdings" panose="05000000000000000000" pitchFamily="2" charset="2"/>
              <a:buChar char="§"/>
            </a:pPr>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CNNs são treinadas </a:t>
            </a:r>
            <a:r>
              <a:rPr lang="pt-BR" b="1" dirty="0">
                <a:solidFill>
                  <a:srgbClr val="7030A0"/>
                </a:solidFill>
              </a:rPr>
              <a:t>usando-se o algoritmo da retropropagação do erro</a:t>
            </a:r>
            <a:r>
              <a:rPr lang="pt-BR" dirty="0"/>
              <a:t>.</a:t>
            </a:r>
          </a:p>
          <a:p>
            <a:r>
              <a:rPr lang="pt-BR" dirty="0"/>
              <a:t>O objetivo é </a:t>
            </a:r>
            <a:r>
              <a:rPr lang="pt-BR" b="1" dirty="0">
                <a:solidFill>
                  <a:schemeClr val="accent2"/>
                </a:solidFill>
              </a:rPr>
              <a:t>aprender os pesos dos filtros e das camadas densas</a:t>
            </a:r>
            <a:r>
              <a:rPr lang="pt-BR" dirty="0"/>
              <a:t>.</a:t>
            </a:r>
          </a:p>
          <a:p>
            <a:r>
              <a:rPr lang="pt-BR" dirty="0"/>
              <a:t>Os gradientes são calculados para os:</a:t>
            </a:r>
          </a:p>
          <a:p>
            <a:pPr lvl="1">
              <a:buFont typeface="Wingdings" panose="05000000000000000000" pitchFamily="2" charset="2"/>
              <a:buChar char="§"/>
            </a:pPr>
            <a:r>
              <a:rPr lang="pt-BR" dirty="0"/>
              <a:t>pesos dos filtros mais os pesos de </a:t>
            </a:r>
            <a:r>
              <a:rPr lang="pt-BR" i="1" dirty="0"/>
              <a:t>bias</a:t>
            </a:r>
          </a:p>
          <a:p>
            <a:pPr lvl="1">
              <a:buFont typeface="Wingdings" panose="05000000000000000000" pitchFamily="2" charset="2"/>
              <a:buChar char="§"/>
            </a:pPr>
            <a:r>
              <a:rPr lang="pt-BR" dirty="0"/>
              <a:t>e pesos das camadas densas.</a:t>
            </a:r>
          </a:p>
          <a:p>
            <a:r>
              <a:rPr lang="pt-BR" dirty="0"/>
              <a:t>As funções de erro mais usadas são o EQM, para tarefas de regressão, e a entropia-cruzada, para tarefas de classificação.</a:t>
            </a:r>
          </a:p>
        </p:txBody>
      </p:sp>
    </p:spTree>
    <p:extLst>
      <p:ext uri="{BB962C8B-B14F-4D97-AF65-F5344CB8AC3E}">
        <p14:creationId xmlns:p14="http://schemas.microsoft.com/office/powerpoint/2010/main" val="423352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418681" y="1946868"/>
            <a:ext cx="11354637" cy="2964263"/>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8" y="1825624"/>
            <a:ext cx="11186161" cy="5032375"/>
          </a:xfrm>
        </p:spPr>
        <p:txBody>
          <a:bodyPr/>
          <a:lstStyle/>
          <a:p>
            <a:r>
              <a:rPr lang="pt-BR" dirty="0"/>
              <a:t>Além de </a:t>
            </a:r>
          </a:p>
          <a:p>
            <a:pPr lvl="1">
              <a:buFont typeface="Wingdings" panose="05000000000000000000" pitchFamily="2" charset="2"/>
              <a:buChar char="§"/>
            </a:pPr>
            <a:r>
              <a:rPr lang="pt-BR" b="1" dirty="0">
                <a:solidFill>
                  <a:schemeClr val="accent2"/>
                </a:solidFill>
              </a:rPr>
              <a:t>aumentar o </a:t>
            </a:r>
            <a:r>
              <a:rPr lang="pt-BR" b="1" i="1" dirty="0">
                <a:solidFill>
                  <a:schemeClr val="accent2"/>
                </a:solidFill>
              </a:rPr>
              <a:t>dataset</a:t>
            </a:r>
            <a:r>
              <a:rPr lang="pt-BR" dirty="0"/>
              <a:t>, </a:t>
            </a:r>
          </a:p>
          <a:p>
            <a:pPr lvl="1">
              <a:buFont typeface="Wingdings" panose="05000000000000000000" pitchFamily="2" charset="2"/>
              <a:buChar char="§"/>
            </a:pPr>
            <a:r>
              <a:rPr lang="pt-BR" b="1" dirty="0">
                <a:solidFill>
                  <a:schemeClr val="accent5"/>
                </a:solidFill>
              </a:rPr>
              <a:t>reduzir a complexidade</a:t>
            </a:r>
            <a:r>
              <a:rPr lang="pt-BR" dirty="0"/>
              <a:t> do modelo</a:t>
            </a:r>
          </a:p>
          <a:p>
            <a:pPr lvl="1">
              <a:buFont typeface="Wingdings" panose="05000000000000000000" pitchFamily="2" charset="2"/>
              <a:buChar char="§"/>
            </a:pPr>
            <a:r>
              <a:rPr lang="pt-BR" dirty="0"/>
              <a:t>e </a:t>
            </a:r>
            <a:r>
              <a:rPr lang="pt-BR" b="1" dirty="0">
                <a:solidFill>
                  <a:srgbClr val="00B050"/>
                </a:solidFill>
              </a:rPr>
              <a:t>aplicar técnicas de regularização</a:t>
            </a:r>
            <a:r>
              <a:rPr lang="pt-BR" dirty="0"/>
              <a:t> como penalizações L1/L2 e </a:t>
            </a:r>
            <a:r>
              <a:rPr lang="pt-BR" i="1" dirty="0"/>
              <a:t>early-stopping</a:t>
            </a:r>
            <a:r>
              <a:rPr lang="pt-BR" dirty="0"/>
              <a:t>, </a:t>
            </a:r>
          </a:p>
          <a:p>
            <a:pPr marL="0" indent="0">
              <a:buNone/>
            </a:pPr>
            <a:r>
              <a:rPr lang="pt-BR" dirty="0"/>
              <a:t>podemos usar três outras técnicas para evitar o </a:t>
            </a:r>
            <a:r>
              <a:rPr lang="pt-BR" i="1" dirty="0" err="1"/>
              <a:t>overfitting</a:t>
            </a:r>
            <a:r>
              <a:rPr lang="pt-BR" i="1" dirty="0"/>
              <a:t>:</a:t>
            </a:r>
          </a:p>
          <a:p>
            <a:pPr lvl="1">
              <a:buFont typeface="Wingdings" panose="05000000000000000000" pitchFamily="2" charset="2"/>
              <a:buChar char="§"/>
            </a:pPr>
            <a:r>
              <a:rPr lang="pt-BR" i="1" dirty="0" err="1"/>
              <a:t>dropout</a:t>
            </a:r>
            <a:r>
              <a:rPr lang="pt-BR" i="1" dirty="0"/>
              <a: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dirty="0"/>
              <a:t>e </a:t>
            </a:r>
            <a:r>
              <a:rPr lang="pt-BR" i="1" dirty="0" err="1"/>
              <a:t>transfer</a:t>
            </a:r>
            <a:r>
              <a:rPr lang="pt-BR" i="1" dirty="0"/>
              <a:t> learning</a:t>
            </a:r>
            <a:endParaRPr lang="pt-BR" dirty="0"/>
          </a:p>
          <a:p>
            <a:r>
              <a:rPr lang="pt-BR" dirty="0"/>
              <a:t>Essas </a:t>
            </a:r>
            <a:r>
              <a:rPr lang="pt-BR" b="1" dirty="0">
                <a:solidFill>
                  <a:srgbClr val="7030A0"/>
                </a:solidFill>
              </a:rPr>
              <a:t>técnicas se aplicam a qualquer tipo de rede neural, não apenas a CNNs</a:t>
            </a:r>
            <a:r>
              <a:rPr lang="pt-BR" dirty="0"/>
              <a:t>.</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chemeClr val="accent2"/>
                </a:solidFill>
              </a:rPr>
              <a:t>“</a:t>
            </a:r>
            <a:r>
              <a:rPr lang="pt-BR" b="1" dirty="0">
                <a:solidFill>
                  <a:schemeClr val="accent2"/>
                </a:solidFill>
                <a:effectLst/>
              </a:rPr>
              <a:t>desligar</a:t>
            </a:r>
            <a:r>
              <a:rPr lang="pt-BR" b="1" dirty="0">
                <a:solidFill>
                  <a:schemeClr val="accent2"/>
                </a:solidFill>
              </a:rPr>
              <a:t>”</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das camadas</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a:t>
            </a:r>
            <a:r>
              <a:rPr lang="pt-BR" b="1" i="0" dirty="0">
                <a:solidFill>
                  <a:schemeClr val="accent2"/>
                </a:solidFill>
                <a:effectLst/>
              </a:rPr>
              <a:t>neurônios não contribuirão para o cálculo das saídas</a:t>
            </a:r>
            <a:r>
              <a:rPr lang="pt-BR" b="0" i="0" dirty="0">
                <a:effectLst/>
              </a:rPr>
              <a:t>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t>
            </a:r>
            <a:r>
              <a:rPr lang="pt-BR" b="1" dirty="0">
                <a:solidFill>
                  <a:schemeClr val="accent2"/>
                </a:solidFill>
              </a:rPr>
              <a:t>aprender de forma mais robusta.</a:t>
            </a:r>
          </a:p>
          <a:p>
            <a:pPr lvl="1">
              <a:buFont typeface="Wingdings" panose="05000000000000000000" pitchFamily="2" charset="2"/>
              <a:buChar char="§"/>
            </a:pPr>
            <a:r>
              <a:rPr lang="pt-BR" dirty="0"/>
              <a:t>A rede </a:t>
            </a:r>
            <a:r>
              <a:rPr lang="pt-BR" b="1" dirty="0">
                <a:solidFill>
                  <a:srgbClr val="00B050"/>
                </a:solidFill>
              </a:rPr>
              <a:t>não pode depender de combinações fixas</a:t>
            </a:r>
            <a:r>
              <a:rPr lang="pt-BR" dirty="0"/>
              <a:t> de neurônios.</a:t>
            </a:r>
          </a:p>
          <a:p>
            <a:r>
              <a:rPr lang="pt-BR" dirty="0"/>
              <a:t>Um neurônio precisa funcionar bem mesmo se outros neurônios desaparecerem.</a:t>
            </a:r>
          </a:p>
          <a:p>
            <a:r>
              <a:rPr lang="pt-BR" dirty="0"/>
              <a:t>Isso força a rede a </a:t>
            </a:r>
            <a:r>
              <a:rPr lang="pt-BR" b="1" dirty="0">
                <a:solidFill>
                  <a:srgbClr val="7030A0"/>
                </a:solidFill>
              </a:rPr>
              <a:t>aprender</a:t>
            </a:r>
            <a:r>
              <a:rPr lang="pt-BR" dirty="0">
                <a:solidFill>
                  <a:srgbClr val="7030A0"/>
                </a:solidFill>
              </a:rPr>
              <a:t> </a:t>
            </a:r>
            <a:r>
              <a:rPr lang="pt-BR" b="1" dirty="0">
                <a:solidFill>
                  <a:srgbClr val="7030A0"/>
                </a:solidFill>
              </a:rPr>
              <a:t>representações mais generalizáveis</a:t>
            </a:r>
            <a:r>
              <a:rPr lang="pt-BR" b="1" dirty="0"/>
              <a:t>.</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a:t>
            </a:r>
            <a:r>
              <a:rPr lang="pt-BR" b="1" dirty="0">
                <a:solidFill>
                  <a:schemeClr val="accent1"/>
                </a:solidFill>
              </a:rPr>
              <a:t>generalizando melhor</a:t>
            </a:r>
            <a:r>
              <a:rPr lang="pt-BR" dirty="0"/>
              <a:t>.</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t>
            </a:r>
            <a:r>
              <a:rPr lang="pt-BR" b="1" dirty="0">
                <a:solidFill>
                  <a:schemeClr val="accent2"/>
                </a:solidFill>
                <a:effectLst/>
              </a:rPr>
              <a:t>aumentar artificialmente os dados</a:t>
            </a:r>
            <a:r>
              <a:rPr lang="pt-BR" dirty="0">
                <a:effectLst/>
              </a:rPr>
              <a:t>.</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a:t>
            </a:r>
            <a:r>
              <a:rPr lang="pt-BR" b="1" dirty="0">
                <a:solidFill>
                  <a:schemeClr val="accent1"/>
                </a:solidFill>
                <a:effectLst/>
              </a:rPr>
              <a:t>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757706" y="1825624"/>
            <a:ext cx="6434294"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p>
          <a:p>
            <a:pPr lvl="1">
              <a:buFont typeface="Wingdings" panose="05000000000000000000" pitchFamily="2" charset="2"/>
              <a:buChar char="§"/>
            </a:pPr>
            <a:r>
              <a:rPr lang="pt-BR" b="1" dirty="0">
                <a:solidFill>
                  <a:srgbClr val="00B050"/>
                </a:solidFill>
                <a:effectLst/>
              </a:rPr>
              <a:t>rotação</a:t>
            </a:r>
            <a:r>
              <a:rPr lang="pt-BR" b="0" dirty="0">
                <a:effectLst/>
              </a:rPr>
              <a:t>, </a:t>
            </a:r>
          </a:p>
          <a:p>
            <a:pPr lvl="1">
              <a:buFont typeface="Wingdings" panose="05000000000000000000" pitchFamily="2" charset="2"/>
              <a:buChar char="§"/>
            </a:pPr>
            <a:r>
              <a:rPr lang="pt-BR" b="1" dirty="0">
                <a:solidFill>
                  <a:srgbClr val="00B050"/>
                </a:solidFill>
              </a:rPr>
              <a:t>e</a:t>
            </a:r>
            <a:r>
              <a:rPr lang="pt-BR" b="1" dirty="0">
                <a:solidFill>
                  <a:srgbClr val="00B050"/>
                </a:solidFill>
                <a:effectLst/>
              </a:rPr>
              <a:t>spelhamento</a:t>
            </a:r>
            <a:endParaRPr lang="pt-BR" dirty="0">
              <a:solidFill>
                <a:srgbClr val="00B050"/>
              </a:solidFill>
            </a:endParaRPr>
          </a:p>
          <a:p>
            <a:pPr lvl="1">
              <a:buFont typeface="Wingdings" panose="05000000000000000000" pitchFamily="2" charset="2"/>
              <a:buChar char="§"/>
            </a:pPr>
            <a:r>
              <a:rPr lang="pt-BR" b="1" dirty="0">
                <a:solidFill>
                  <a:srgbClr val="00B050"/>
                </a:solidFill>
                <a:effectLst/>
              </a:rPr>
              <a:t>corte</a:t>
            </a:r>
            <a:r>
              <a:rPr lang="pt-BR" b="0" dirty="0">
                <a:effectLst/>
              </a:rPr>
              <a:t>, </a:t>
            </a:r>
          </a:p>
          <a:p>
            <a:pPr lvl="1">
              <a:buFont typeface="Wingdings" panose="05000000000000000000" pitchFamily="2" charset="2"/>
              <a:buChar char="§"/>
            </a:pPr>
            <a:r>
              <a:rPr lang="pt-BR" b="0" dirty="0">
                <a:effectLst/>
              </a:rPr>
              <a:t>modificação do </a:t>
            </a:r>
            <a:r>
              <a:rPr lang="pt-BR" b="1" dirty="0">
                <a:solidFill>
                  <a:srgbClr val="00B050"/>
                </a:solidFill>
                <a:effectLst/>
              </a:rPr>
              <a:t>brilho</a:t>
            </a:r>
            <a:r>
              <a:rPr lang="pt-BR" b="0" dirty="0">
                <a:effectLst/>
              </a:rPr>
              <a:t>, </a:t>
            </a:r>
          </a:p>
          <a:p>
            <a:pPr lvl="1">
              <a:buFont typeface="Wingdings" panose="05000000000000000000" pitchFamily="2" charset="2"/>
              <a:buChar char="§"/>
            </a:pPr>
            <a:r>
              <a:rPr lang="pt-BR" b="0" dirty="0">
                <a:effectLst/>
              </a:rPr>
              <a:t>adição de </a:t>
            </a:r>
            <a:r>
              <a:rPr lang="pt-BR" b="1" dirty="0">
                <a:solidFill>
                  <a:srgbClr val="00B050"/>
                </a:solidFill>
                <a:effectLst/>
              </a:rPr>
              <a:t>ruído</a:t>
            </a:r>
            <a:r>
              <a:rPr lang="pt-BR" b="0" dirty="0">
                <a:effectLst/>
              </a:rPr>
              <a:t>, </a:t>
            </a:r>
          </a:p>
          <a:p>
            <a:pPr lvl="1">
              <a:buFont typeface="Wingdings" panose="05000000000000000000" pitchFamily="2" charset="2"/>
              <a:buChar char="§"/>
            </a:pPr>
            <a:r>
              <a:rPr lang="pt-BR" b="1" dirty="0">
                <a:solidFill>
                  <a:srgbClr val="00B050"/>
                </a:solidFill>
                <a:effectLst/>
              </a:rPr>
              <a:t>desfoque</a:t>
            </a:r>
            <a:r>
              <a:rPr lang="pt-BR" b="0" dirty="0">
                <a:effectLst/>
              </a:rPr>
              <a:t>,</a:t>
            </a:r>
          </a:p>
          <a:p>
            <a:pPr lvl="1">
              <a:buFont typeface="Wingdings" panose="05000000000000000000" pitchFamily="2" charset="2"/>
              <a:buChar char="§"/>
            </a:pPr>
            <a:r>
              <a:rPr lang="pt-BR" dirty="0"/>
              <a:t>transformação para </a:t>
            </a:r>
            <a:r>
              <a:rPr lang="pt-BR" b="1" dirty="0">
                <a:solidFill>
                  <a:srgbClr val="00B050"/>
                </a:solidFill>
              </a:rPr>
              <a:t>escala de cinza</a:t>
            </a:r>
            <a:r>
              <a:rPr lang="pt-BR" dirty="0"/>
              <a:t>,</a:t>
            </a:r>
            <a:endParaRPr lang="pt-BR" b="0" dirty="0">
              <a:effectLst/>
            </a:endParaRPr>
          </a:p>
          <a:p>
            <a:pPr lvl="1">
              <a:buFont typeface="Wingdings" panose="05000000000000000000" pitchFamily="2" charset="2"/>
              <a:buChar char="§"/>
            </a:pPr>
            <a:r>
              <a:rPr lang="pt-BR" b="0" dirty="0">
                <a:effectLst/>
              </a:rPr>
              <a:t>etc.</a:t>
            </a:r>
          </a:p>
          <a:p>
            <a:r>
              <a:rPr lang="pt-BR" dirty="0"/>
              <a:t>A rede é treinada com a </a:t>
            </a:r>
            <a:r>
              <a:rPr lang="pt-BR" b="1" dirty="0"/>
              <a:t>mesma imagem, mas com diferentes transformações</a:t>
            </a:r>
            <a:r>
              <a:rPr lang="pt-BR" dirty="0"/>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A965A-78A8-F9E6-C357-48218B967E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61B12-5587-E0AD-0C28-980251754268}"/>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7A4DB6AD-774F-EE4D-667C-372702738F63}"/>
              </a:ext>
            </a:extLst>
          </p:cNvPr>
          <p:cNvSpPr>
            <a:spLocks noGrp="1"/>
          </p:cNvSpPr>
          <p:nvPr>
            <p:ph idx="1"/>
          </p:nvPr>
        </p:nvSpPr>
        <p:spPr>
          <a:xfrm>
            <a:off x="6096000" y="1825624"/>
            <a:ext cx="5986410" cy="5032375"/>
          </a:xfrm>
        </p:spPr>
        <p:txBody>
          <a:bodyPr>
            <a:normAutofit/>
          </a:bodyPr>
          <a:lstStyle/>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CNNs </a:t>
            </a:r>
            <a:r>
              <a:rPr lang="pt-BR" b="1" dirty="0">
                <a:solidFill>
                  <a:srgbClr val="7030A0"/>
                </a:solidFill>
              </a:rPr>
              <a:t>robustas à </a:t>
            </a:r>
          </a:p>
          <a:p>
            <a:pPr lvl="1">
              <a:buFont typeface="Wingdings" panose="05000000000000000000" pitchFamily="2" charset="2"/>
              <a:buChar char="§"/>
            </a:pPr>
            <a:r>
              <a:rPr lang="pt-BR" dirty="0"/>
              <a:t>rotação,</a:t>
            </a:r>
          </a:p>
          <a:p>
            <a:pPr lvl="1">
              <a:buFont typeface="Wingdings" panose="05000000000000000000" pitchFamily="2" charset="2"/>
              <a:buChar char="§"/>
            </a:pPr>
            <a:r>
              <a:rPr lang="pt-BR" dirty="0"/>
              <a:t>qualidade,</a:t>
            </a:r>
          </a:p>
          <a:p>
            <a:pPr lvl="1">
              <a:buFont typeface="Wingdings" panose="05000000000000000000" pitchFamily="2" charset="2"/>
              <a:buChar char="§"/>
            </a:pPr>
            <a:r>
              <a:rPr lang="pt-BR" dirty="0"/>
              <a:t>luminosidade,</a:t>
            </a:r>
          </a:p>
          <a:p>
            <a:pPr lvl="1">
              <a:buFont typeface="Wingdings" panose="05000000000000000000" pitchFamily="2" charset="2"/>
              <a:buChar char="§"/>
            </a:pPr>
            <a:r>
              <a:rPr lang="pt-BR" dirty="0"/>
              <a:t>e escala dos objetos</a:t>
            </a:r>
          </a:p>
          <a:p>
            <a:pPr marL="0" indent="0">
              <a:buNone/>
            </a:pPr>
            <a:r>
              <a:rPr lang="pt-BR" b="1" dirty="0">
                <a:solidFill>
                  <a:srgbClr val="7030A0"/>
                </a:solidFill>
              </a:rPr>
              <a:t>das imagens.</a:t>
            </a:r>
            <a:endParaRPr lang="pt-BR" dirty="0"/>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dos fatores acima</a:t>
            </a:r>
            <a:r>
              <a:rPr lang="pt-BR" b="0" dirty="0">
                <a:effectLst/>
              </a:rPr>
              <a:t>.</a:t>
            </a:r>
          </a:p>
        </p:txBody>
      </p:sp>
      <p:pic>
        <p:nvPicPr>
          <p:cNvPr id="4" name="Picture 2" descr="Data Augmentation for Computer Vision | by TagX | Medium">
            <a:extLst>
              <a:ext uri="{FF2B5EF4-FFF2-40B4-BE49-F238E27FC236}">
                <a16:creationId xmlns:a16="http://schemas.microsoft.com/office/drawing/2014/main" id="{F994AEE2-26F2-F8CE-748C-BE6C174137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637930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73270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a:t>
            </a:r>
            <a:r>
              <a:rPr lang="pt-BR" b="1" dirty="0">
                <a:solidFill>
                  <a:schemeClr val="accent2"/>
                </a:solidFill>
                <a:effectLst/>
              </a:rPr>
              <a:t>domínio</a:t>
            </a:r>
            <a:r>
              <a:rPr lang="pt-BR" b="0" dirty="0">
                <a:effectLst/>
              </a:rPr>
              <a:t>) relacionada </a:t>
            </a:r>
            <a:r>
              <a:rPr lang="pt-BR" b="1" dirty="0">
                <a:solidFill>
                  <a:srgbClr val="00B050"/>
                </a:solidFill>
                <a:effectLst/>
              </a:rPr>
              <a:t>como ponto de partida para uma nova tarefa</a:t>
            </a:r>
            <a:r>
              <a:rPr lang="pt-BR" b="0" dirty="0">
                <a:effectLst/>
              </a:rPr>
              <a:t>.</a:t>
            </a:r>
          </a:p>
          <a:p>
            <a:r>
              <a:rPr lang="pt-BR" dirty="0"/>
              <a:t>Por exemplo, usar um </a:t>
            </a:r>
            <a:r>
              <a:rPr lang="pt-BR" b="1" dirty="0">
                <a:solidFill>
                  <a:schemeClr val="accent2"/>
                </a:solidFill>
              </a:rPr>
              <a:t>modelo </a:t>
            </a:r>
            <a:r>
              <a:rPr lang="pt-BR" b="1" dirty="0" err="1">
                <a:solidFill>
                  <a:schemeClr val="accent2"/>
                </a:solidFill>
              </a:rPr>
              <a:t>pré</a:t>
            </a:r>
            <a:r>
              <a:rPr lang="pt-BR" b="1" dirty="0">
                <a:solidFill>
                  <a:schemeClr val="accent2"/>
                </a:solidFill>
              </a:rPr>
              <a:t>-treinado em um grande conjunto de dados com diferentes tipos de plantas</a:t>
            </a:r>
            <a:r>
              <a:rPr lang="pt-BR" dirty="0"/>
              <a:t> e </a:t>
            </a:r>
            <a:r>
              <a:rPr lang="pt-BR" b="1" dirty="0">
                <a:solidFill>
                  <a:srgbClr val="00B050"/>
                </a:solidFill>
              </a:rPr>
              <a:t>ajustá-lo</a:t>
            </a:r>
            <a:r>
              <a:rPr lang="pt-BR" dirty="0"/>
              <a:t> para a </a:t>
            </a:r>
            <a:r>
              <a:rPr lang="pt-BR" b="1" dirty="0">
                <a:solidFill>
                  <a:srgbClr val="7030A0"/>
                </a:solidFill>
              </a:rPr>
              <a:t>classificação de doenças em pés de feijão</a:t>
            </a:r>
            <a:r>
              <a:rPr lang="pt-BR" dirty="0"/>
              <a:t>. </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a:t>
            </a:r>
            <a:r>
              <a:rPr lang="pt-BR" b="1" dirty="0">
                <a:solidFill>
                  <a:schemeClr val="accent2"/>
                </a:solidFill>
                <a:effectLst/>
              </a:rPr>
              <a:t>em geral</a:t>
            </a:r>
            <a:r>
              <a:rPr lang="pt-BR" b="1" dirty="0">
                <a:solidFill>
                  <a:srgbClr val="00B050"/>
                </a:solidFill>
                <a:effectLst/>
              </a:rPr>
              <a:t>,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437242"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pertencentes a </a:t>
            </a:r>
            <a:r>
              <a:rPr lang="pt-BR" b="1" dirty="0">
                <a:solidFill>
                  <a:schemeClr val="accent2"/>
                </a:solidFill>
                <a:effectLst/>
              </a:rPr>
              <a:t>100 classes diferentes</a:t>
            </a:r>
            <a:r>
              <a:rPr lang="pt-BR" b="0" dirty="0">
                <a:effectLst/>
              </a:rPr>
              <a:t>,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a:t>
            </a:r>
            <a:r>
              <a:rPr lang="pt-BR" b="1" dirty="0">
                <a:solidFill>
                  <a:schemeClr val="accent2"/>
                </a:solidFill>
                <a:effectLst/>
              </a:rPr>
              <a:t>reutilizar partes </a:t>
            </a:r>
            <a:r>
              <a:rPr lang="pt-BR" b="1" dirty="0">
                <a:solidFill>
                  <a:srgbClr val="00B050"/>
                </a:solidFill>
                <a:effectLst/>
              </a:rPr>
              <a:t>da primeira rede</a:t>
            </a:r>
            <a:r>
              <a:rPr lang="pt-BR" b="0" dirty="0">
                <a:effectLst/>
              </a:rPr>
              <a:t>.</a:t>
            </a:r>
          </a:p>
          <a:p>
            <a:pPr lvl="1">
              <a:buFont typeface="Wingdings" panose="05000000000000000000" pitchFamily="2" charset="2"/>
              <a:buChar char="§"/>
            </a:pPr>
            <a:r>
              <a:rPr lang="pt-BR" dirty="0"/>
              <a:t>Reutilizamos as camadas inicias.</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a:p>
            <a:r>
              <a:rPr lang="pt-BR" b="0" dirty="0">
                <a:effectLst/>
              </a:rPr>
              <a:t>Os modelos </a:t>
            </a:r>
            <a:r>
              <a:rPr lang="pt-BR" b="1" dirty="0" err="1">
                <a:solidFill>
                  <a:schemeClr val="accent2"/>
                </a:solidFill>
                <a:effectLst/>
              </a:rPr>
              <a:t>pré</a:t>
            </a:r>
            <a:r>
              <a:rPr lang="pt-BR" b="1" dirty="0">
                <a:solidFill>
                  <a:schemeClr val="accent2"/>
                </a:solidFill>
                <a:effectLst/>
              </a:rPr>
              <a:t>-treinados já aprenderam a</a:t>
            </a:r>
            <a:r>
              <a:rPr lang="en-US" b="1" dirty="0">
                <a:solidFill>
                  <a:schemeClr val="accent2"/>
                </a:solidFill>
              </a:rPr>
              <a:t> </a:t>
            </a:r>
            <a:r>
              <a:rPr lang="en-US" b="1" dirty="0" err="1">
                <a:solidFill>
                  <a:schemeClr val="accent2"/>
                </a:solidFill>
              </a:rPr>
              <a:t>detectar</a:t>
            </a:r>
            <a:r>
              <a:rPr lang="en-US" b="1" dirty="0">
                <a:solidFill>
                  <a:schemeClr val="accent2"/>
                </a:solidFill>
              </a:rPr>
              <a:t> </a:t>
            </a:r>
            <a:r>
              <a:rPr lang="en-US" b="1" dirty="0" err="1">
                <a:solidFill>
                  <a:schemeClr val="accent2"/>
                </a:solidFill>
              </a:rPr>
              <a:t>padrões</a:t>
            </a:r>
            <a:r>
              <a:rPr lang="en-US" b="1" dirty="0">
                <a:solidFill>
                  <a:schemeClr val="accent2"/>
                </a:solidFill>
              </a:rPr>
              <a:t> </a:t>
            </a:r>
            <a:r>
              <a:rPr lang="en-US" b="1" dirty="0" err="1">
                <a:solidFill>
                  <a:schemeClr val="accent2"/>
                </a:solidFill>
              </a:rPr>
              <a:t>básicos</a:t>
            </a:r>
            <a:r>
              <a:rPr lang="en-US" dirty="0"/>
              <a:t>: </a:t>
            </a:r>
            <a:r>
              <a:rPr lang="en-US" dirty="0" err="1"/>
              <a:t>bordas</a:t>
            </a:r>
            <a:r>
              <a:rPr lang="en-US" dirty="0"/>
              <a:t>, </a:t>
            </a:r>
            <a:r>
              <a:rPr lang="en-US" dirty="0" err="1"/>
              <a:t>texturas</a:t>
            </a:r>
            <a:r>
              <a:rPr lang="en-US" dirty="0"/>
              <a:t>, formas e </a:t>
            </a:r>
            <a:r>
              <a:rPr lang="en-US" dirty="0" err="1"/>
              <a:t>objetos</a:t>
            </a:r>
            <a:r>
              <a:rPr lang="en-US" dirty="0"/>
              <a:t>.</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978769" y="1825624"/>
            <a:ext cx="6108457"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a:t>
            </a:r>
            <a:r>
              <a:rPr lang="pt-BR" b="1" dirty="0">
                <a:solidFill>
                  <a:schemeClr val="accent2"/>
                </a:solidFill>
                <a:effectLst/>
              </a:rPr>
              <a:t>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77803" y="1825624"/>
            <a:ext cx="6414198"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Por requerer menos dados, o </a:t>
            </a:r>
            <a:r>
              <a:rPr lang="pt-BR" b="0" i="1" dirty="0" err="1">
                <a:effectLst/>
              </a:rPr>
              <a:t>transfer</a:t>
            </a:r>
            <a:r>
              <a:rPr lang="pt-BR" b="0" i="1" dirty="0">
                <a:effectLst/>
              </a:rPr>
              <a:t> </a:t>
            </a:r>
            <a:r>
              <a:rPr lang="pt-BR" b="0" i="1" dirty="0" err="1">
                <a:effectLst/>
              </a:rPr>
              <a:t>learning</a:t>
            </a:r>
            <a:r>
              <a:rPr lang="pt-BR" b="0" dirty="0">
                <a:effectLst/>
              </a:rPr>
              <a:t>:</a:t>
            </a:r>
          </a:p>
          <a:p>
            <a:pPr lvl="1">
              <a:buFont typeface="Wingdings" panose="05000000000000000000" pitchFamily="2" charset="2"/>
              <a:buChar char="§"/>
            </a:pPr>
            <a:r>
              <a:rPr lang="pt-BR" b="1">
                <a:solidFill>
                  <a:srgbClr val="00B050"/>
                </a:solidFill>
                <a:effectLst/>
              </a:rPr>
              <a:t>acelera o </a:t>
            </a:r>
            <a:r>
              <a:rPr lang="pt-BR" b="1" dirty="0">
                <a:solidFill>
                  <a:srgbClr val="00B050"/>
                </a:solidFill>
                <a:effectLst/>
              </a:rPr>
              <a:t>treinamento</a:t>
            </a:r>
            <a:endParaRPr lang="pt-BR" dirty="0">
              <a:solidFill>
                <a:srgbClr val="00B050"/>
              </a:solidFill>
            </a:endParaRPr>
          </a:p>
          <a:p>
            <a:pPr lvl="1">
              <a:buFont typeface="Wingdings" panose="05000000000000000000" pitchFamily="2" charset="2"/>
              <a:buChar char="§"/>
            </a:pPr>
            <a:r>
              <a:rPr lang="pt-BR" b="1" dirty="0">
                <a:solidFill>
                  <a:schemeClr val="accent2"/>
                </a:solidFill>
              </a:rPr>
              <a:t>e</a:t>
            </a:r>
            <a:r>
              <a:rPr lang="pt-BR" b="1" dirty="0">
                <a:solidFill>
                  <a:schemeClr val="accent2"/>
                </a:solidFill>
                <a:effectLst/>
              </a:rPr>
              <a:t> requer </a:t>
            </a:r>
            <a:r>
              <a:rPr lang="en-US" b="1" dirty="0" err="1">
                <a:solidFill>
                  <a:schemeClr val="accent2"/>
                </a:solidFill>
              </a:rPr>
              <a:t>menor</a:t>
            </a:r>
            <a:r>
              <a:rPr lang="en-US" b="1" dirty="0">
                <a:solidFill>
                  <a:schemeClr val="accent2"/>
                </a:solidFill>
              </a:rPr>
              <a:t> </a:t>
            </a:r>
            <a:r>
              <a:rPr lang="en-US" b="1" dirty="0" err="1">
                <a:solidFill>
                  <a:schemeClr val="accent2"/>
                </a:solidFill>
              </a:rPr>
              <a:t>poder</a:t>
            </a:r>
            <a:r>
              <a:rPr lang="en-US" b="1" dirty="0">
                <a:solidFill>
                  <a:schemeClr val="accent2"/>
                </a:solidFill>
              </a:rPr>
              <a:t> </a:t>
            </a:r>
            <a:r>
              <a:rPr lang="en-US" b="1" dirty="0" err="1">
                <a:solidFill>
                  <a:schemeClr val="accent2"/>
                </a:solidFill>
              </a:rPr>
              <a:t>computacional</a:t>
            </a:r>
            <a:r>
              <a:rPr lang="en-US" b="1" dirty="0">
                <a:solidFill>
                  <a:schemeClr val="accent2"/>
                </a:solidFill>
              </a:rPr>
              <a:t>.</a:t>
            </a:r>
            <a:endParaRPr lang="pt-BR" b="1" dirty="0">
              <a:solidFill>
                <a:schemeClr val="accent2"/>
              </a:solidFill>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CNNs</a:t>
            </a:r>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17206</TotalTime>
  <Words>9734</Words>
  <Application>Microsoft Office PowerPoint</Application>
  <PresentationFormat>Widescreen</PresentationFormat>
  <Paragraphs>1621</Paragraphs>
  <Slides>102</Slides>
  <Notes>47</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102</vt:i4>
      </vt:variant>
    </vt:vector>
  </HeadingPairs>
  <TitlesOfParts>
    <vt:vector size="115"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espacial</vt:lpstr>
      <vt:lpstr>Localidade espacial</vt:lpstr>
      <vt:lpstr>Localidade espacial</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Imagens</vt:lpstr>
      <vt:lpstr>Camada de convolução</vt:lpstr>
      <vt:lpstr>Camada de convolução</vt:lpstr>
      <vt:lpstr>Filtros de convolução ou kernels</vt:lpstr>
      <vt:lpstr>Neurônios do córtex visual</vt:lpstr>
      <vt:lpstr>Neurônios do córtex visual</vt:lpstr>
      <vt:lpstr>Filtros de convolução ou kernels</vt:lpstr>
      <vt:lpstr>Filtros de convolução ou kernels</vt:lpstr>
      <vt:lpstr>Operação de convolução com kernel 2D</vt:lpstr>
      <vt:lpstr>Operação de convolução com kernel 2D</vt:lpstr>
      <vt:lpstr>Operação de convolução com kernel 2D</vt:lpstr>
      <vt:lpstr>Operação de convolução com kernel 2D</vt:lpstr>
      <vt:lpstr>Operação de convolução com kernel 2D</vt:lpstr>
      <vt:lpstr>Mapa de características</vt:lpstr>
      <vt:lpstr>Stride</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Função de ativação</vt:lpstr>
      <vt:lpstr>Camada de Pooling (ou subamostragem)</vt:lpstr>
      <vt:lpstr>Camada de Pooling (ou subamostragem)</vt:lpstr>
      <vt:lpstr>Camada de Pooling (ou subamostragem)</vt:lpstr>
      <vt:lpstr>Max pooling</vt:lpstr>
      <vt:lpstr>Max pooling</vt:lpstr>
      <vt:lpstr>Bloco de convolução</vt:lpstr>
      <vt:lpstr>Neurônio</vt:lpstr>
      <vt:lpstr>Padding ou preenchimento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2923</cp:revision>
  <dcterms:created xsi:type="dcterms:W3CDTF">2020-01-20T13:50:05Z</dcterms:created>
  <dcterms:modified xsi:type="dcterms:W3CDTF">2026-10-05T20:05:07Z</dcterms:modified>
</cp:coreProperties>
</file>