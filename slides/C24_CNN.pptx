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494" r:id="rId2"/>
    <p:sldId id="495" r:id="rId3"/>
    <p:sldId id="406" r:id="rId4"/>
    <p:sldId id="496" r:id="rId5"/>
    <p:sldId id="442" r:id="rId6"/>
    <p:sldId id="484" r:id="rId7"/>
    <p:sldId id="498" r:id="rId8"/>
    <p:sldId id="492" r:id="rId9"/>
    <p:sldId id="483" r:id="rId10"/>
    <p:sldId id="497" r:id="rId11"/>
    <p:sldId id="503" r:id="rId12"/>
    <p:sldId id="485" r:id="rId13"/>
    <p:sldId id="505" r:id="rId14"/>
    <p:sldId id="507" r:id="rId15"/>
    <p:sldId id="516" r:id="rId16"/>
    <p:sldId id="513" r:id="rId17"/>
    <p:sldId id="517" r:id="rId18"/>
    <p:sldId id="515" r:id="rId19"/>
    <p:sldId id="501" r:id="rId20"/>
    <p:sldId id="502" r:id="rId21"/>
    <p:sldId id="499" r:id="rId22"/>
    <p:sldId id="504" r:id="rId23"/>
    <p:sldId id="487" r:id="rId24"/>
    <p:sldId id="456" r:id="rId25"/>
    <p:sldId id="457" r:id="rId26"/>
    <p:sldId id="480" r:id="rId27"/>
    <p:sldId id="481" r:id="rId28"/>
    <p:sldId id="482" r:id="rId29"/>
    <p:sldId id="510" r:id="rId30"/>
    <p:sldId id="509" r:id="rId31"/>
    <p:sldId id="431" r:id="rId32"/>
    <p:sldId id="514" r:id="rId33"/>
    <p:sldId id="451" r:id="rId34"/>
    <p:sldId id="454" r:id="rId35"/>
    <p:sldId id="429" r:id="rId36"/>
    <p:sldId id="435" r:id="rId37"/>
    <p:sldId id="432" r:id="rId38"/>
    <p:sldId id="433" r:id="rId39"/>
    <p:sldId id="434" r:id="rId40"/>
    <p:sldId id="453" r:id="rId41"/>
    <p:sldId id="436" r:id="rId42"/>
    <p:sldId id="440" r:id="rId43"/>
    <p:sldId id="437" r:id="rId44"/>
    <p:sldId id="445" r:id="rId45"/>
    <p:sldId id="449" r:id="rId46"/>
    <p:sldId id="450" r:id="rId47"/>
    <p:sldId id="452" r:id="rId48"/>
    <p:sldId id="486" r:id="rId49"/>
    <p:sldId id="488" r:id="rId50"/>
    <p:sldId id="464" r:id="rId51"/>
    <p:sldId id="465" r:id="rId52"/>
    <p:sldId id="511" r:id="rId53"/>
    <p:sldId id="518" r:id="rId54"/>
    <p:sldId id="455" r:id="rId55"/>
    <p:sldId id="460" r:id="rId56"/>
    <p:sldId id="467" r:id="rId57"/>
    <p:sldId id="461" r:id="rId58"/>
    <p:sldId id="493" r:id="rId59"/>
    <p:sldId id="462" r:id="rId60"/>
    <p:sldId id="466" r:id="rId61"/>
    <p:sldId id="512" r:id="rId62"/>
    <p:sldId id="468" r:id="rId63"/>
    <p:sldId id="508" r:id="rId64"/>
    <p:sldId id="477" r:id="rId65"/>
    <p:sldId id="405" r:id="rId66"/>
    <p:sldId id="293" r:id="rId67"/>
    <p:sldId id="306" r:id="rId68"/>
    <p:sldId id="491" r:id="rId69"/>
    <p:sldId id="441" r:id="rId70"/>
    <p:sldId id="469" r:id="rId71"/>
    <p:sldId id="470" r:id="rId72"/>
    <p:sldId id="471" r:id="rId73"/>
    <p:sldId id="472" r:id="rId74"/>
    <p:sldId id="475" r:id="rId75"/>
    <p:sldId id="474" r:id="rId76"/>
    <p:sldId id="478" r:id="rId77"/>
    <p:sldId id="490" r:id="rId78"/>
    <p:sldId id="438" r:id="rId79"/>
    <p:sldId id="443" r:id="rId80"/>
    <p:sldId id="446" r:id="rId81"/>
    <p:sldId id="447" r:id="rId82"/>
    <p:sldId id="448" r:id="rId83"/>
    <p:sldId id="458" r:id="rId84"/>
    <p:sldId id="459" r:id="rId85"/>
    <p:sldId id="479" r:id="rId86"/>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5817" autoAdjust="0"/>
  </p:normalViewPr>
  <p:slideViewPr>
    <p:cSldViewPr snapToGrid="0">
      <p:cViewPr varScale="1">
        <p:scale>
          <a:sx n="95" d="100"/>
          <a:sy n="95" d="100"/>
        </p:scale>
        <p:origin x="1518" y="4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17/03/2026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17/03/2026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Essas redes aprenderam representações hierárquicas de padrões como bordas, texturas e objetos.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6712605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Uma rede DNN aprende o padrão completo da imagem, global.</a:t>
            </a:r>
          </a:p>
          <a:p>
            <a:r>
              <a:rPr lang="pt-BR" dirty="0"/>
              <a:t>Tanto é, que embaralharmos os pixels, ela vai aprender o número da mesma forma.</a:t>
            </a:r>
          </a:p>
          <a:p>
            <a:r>
              <a:rPr lang="pt-BR" dirty="0"/>
              <a:t>Ela olha a relação global entre os atributos.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8142523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https://ai.stackexchange.com/questions/21999/do-convolutional-neural-networks-perform-convolution-or-cross-correlation</a:t>
            </a:r>
          </a:p>
          <a:p>
            <a:r>
              <a:rPr lang="pt-BR" dirty="0"/>
              <a:t>[2] https://datascience.stackexchange.com/questions/40533/convolution-and-cross-correlation-in-cnn</a:t>
            </a:r>
          </a:p>
          <a:p>
            <a:r>
              <a:rPr lang="pt-BR" dirty="0"/>
              <a:t>[3] https://glassboxmedicine.com/2019/07/26/convolution-vs-cross-correlation/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411809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4512243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11772475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8151236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1919700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106215335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https://colab.research.google.com/github/zz4fap/tp557-iot-ml/blob/master/exercises/Exercicio_sobre_redes_neurais_convolucionais.ipynb</a:t>
            </a:r>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4247922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17/03/2026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32.xml.rels><?xml version="1.0" encoding="UTF-8" standalone="yes"?>
<Relationships xmlns="http://schemas.openxmlformats.org/package/2006/relationships"><Relationship Id="rId2" Type="http://schemas.openxmlformats.org/officeDocument/2006/relationships/image" Target="../media/image14.gif"/><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20.png"/><Relationship Id="rId7"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4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4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3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7.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8.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icio_sobre_redes_neurais_convolucionais.ipynb"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7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7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79.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80.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81.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82.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83.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3.png"/><Relationship Id="rId11" Type="http://schemas.openxmlformats.org/officeDocument/2006/relationships/image" Target="../media/image58.png"/><Relationship Id="rId5" Type="http://schemas.openxmlformats.org/officeDocument/2006/relationships/image" Target="../media/image52.png"/><Relationship Id="rId10" Type="http://schemas.openxmlformats.org/officeDocument/2006/relationships/image" Target="../media/image57.png"/><Relationship Id="rId4" Type="http://schemas.openxmlformats.org/officeDocument/2006/relationships/image" Target="../media/image51.png"/><Relationship Id="rId9" Type="http://schemas.openxmlformats.org/officeDocument/2006/relationships/image" Target="../media/image56.png"/></Relationships>
</file>

<file path=ppt/slides/_rels/slide84.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8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camadas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aprende </a:t>
            </a:r>
            <a:r>
              <a:rPr lang="pt-BR" dirty="0"/>
              <a:t>os valores de </a:t>
            </a:r>
            <a:r>
              <a:rPr lang="pt-BR" b="1" dirty="0">
                <a:solidFill>
                  <a:srgbClr val="00B050"/>
                </a:solidFill>
              </a:rPr>
              <a:t>filtros </a:t>
            </a:r>
            <a:r>
              <a:rPr lang="pt-BR" dirty="0"/>
              <a:t>(ou </a:t>
            </a:r>
            <a:r>
              <a:rPr lang="pt-BR" b="1" i="1" dirty="0" err="1"/>
              <a:t>kernels</a:t>
            </a:r>
            <a:r>
              <a:rPr lang="pt-BR" dirty="0"/>
              <a:t>) que “compreendem” o conteúdo de imagens.</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7319" y="1825624"/>
            <a:ext cx="6420896"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b="1" dirty="0">
                <a:solidFill>
                  <a:srgbClr val="7030A0"/>
                </a:solidFill>
                <a:effectLst/>
              </a:rPr>
              <a:t>, mas sem presumir uma estrutura espacial </a:t>
            </a:r>
            <a:r>
              <a:rPr lang="pt-BR" b="0" dirty="0">
                <a:effectLst/>
              </a:rPr>
              <a:t>entre eles.</a:t>
            </a:r>
          </a:p>
          <a:p>
            <a:r>
              <a:rPr lang="pt-BR" dirty="0" err="1"/>
              <a:t>DNNs</a:t>
            </a:r>
            <a:r>
              <a:rPr lang="pt-BR" dirty="0"/>
              <a:t> </a:t>
            </a:r>
            <a:r>
              <a:rPr lang="pt-BR" b="1" dirty="0">
                <a:solidFill>
                  <a:srgbClr val="7030A0"/>
                </a:solidFill>
              </a:rPr>
              <a:t>não levam em consideração a estrutura espacial dos dados</a:t>
            </a:r>
            <a:r>
              <a:rPr lang="pt-BR" dirty="0"/>
              <a:t>.</a:t>
            </a:r>
          </a:p>
          <a:p>
            <a:pPr lvl="1">
              <a:buFont typeface="Wingdings" panose="05000000000000000000" pitchFamily="2" charset="2"/>
              <a:buChar char="§"/>
            </a:pPr>
            <a:r>
              <a:rPr lang="pt-BR" dirty="0"/>
              <a:t>Ou seja, a posição espacial não influencia no resultado.</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73" y="1690688"/>
            <a:ext cx="6576977" cy="5167311"/>
          </a:xfrm>
        </p:spPr>
        <p:txBody>
          <a:bodyPr>
            <a:normAutofit/>
          </a:bodyPr>
          <a:lstStyle/>
          <a:p>
            <a:r>
              <a:rPr lang="pt-BR" dirty="0" err="1"/>
              <a:t>DNNs</a:t>
            </a:r>
            <a:r>
              <a:rPr lang="pt-BR" dirty="0"/>
              <a:t> </a:t>
            </a:r>
            <a:r>
              <a:rPr lang="pt-BR" b="1" dirty="0">
                <a:solidFill>
                  <a:srgbClr val="00B050"/>
                </a:solidFill>
              </a:rPr>
              <a:t>ignoram a </a:t>
            </a:r>
            <a:r>
              <a:rPr lang="pt-BR" b="1" dirty="0">
                <a:solidFill>
                  <a:srgbClr val="7030A0"/>
                </a:solidFill>
              </a:rPr>
              <a:t>localidade de referência ou espacial</a:t>
            </a:r>
            <a:r>
              <a:rPr lang="pt-BR" b="1" dirty="0">
                <a:solidFill>
                  <a:srgbClr val="00B050"/>
                </a:solidFill>
              </a:rPr>
              <a:t> </a:t>
            </a:r>
            <a:r>
              <a:rPr lang="pt-BR" dirty="0"/>
              <a:t>em dados com topologia de grade (e.g., imagens), tanto computacional (eficiência) quanto semanticamente (significado de cada região).</a:t>
            </a:r>
          </a:p>
          <a:p>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p:txBody>
      </p:sp>
      <p:grpSp>
        <p:nvGrpSpPr>
          <p:cNvPr id="4" name="Group 3">
            <a:extLst>
              <a:ext uri="{FF2B5EF4-FFF2-40B4-BE49-F238E27FC236}">
                <a16:creationId xmlns:a16="http://schemas.microsoft.com/office/drawing/2014/main" id="{2E07E23F-787D-05CE-1936-A9E05A759478}"/>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4210333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475891" y="1825624"/>
            <a:ext cx="6622324"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i="1" dirty="0"/>
              <a:t>Pixels</a:t>
            </a:r>
            <a:r>
              <a:rPr lang="pt-BR" dirty="0"/>
              <a:t> </a:t>
            </a:r>
            <a:r>
              <a:rPr lang="pt-BR" b="1" dirty="0">
                <a:solidFill>
                  <a:schemeClr val="accent5"/>
                </a:solidFill>
              </a:rPr>
              <a:t>vizinhos</a:t>
            </a:r>
            <a:r>
              <a:rPr lang="pt-BR" dirty="0"/>
              <a:t> costumam estar </a:t>
            </a:r>
            <a:r>
              <a:rPr lang="pt-BR" b="1" dirty="0">
                <a:solidFill>
                  <a:schemeClr val="accent5"/>
                </a:solidFill>
              </a:rPr>
              <a:t>relacionados</a:t>
            </a:r>
            <a:r>
              <a:rPr lang="pt-BR" dirty="0"/>
              <a:t>.</a:t>
            </a:r>
          </a:p>
          <a:p>
            <a:pPr lvl="1">
              <a:buFont typeface="Wingdings" panose="05000000000000000000" pitchFamily="2" charset="2"/>
              <a:buChar char="§"/>
            </a:pPr>
            <a:r>
              <a:rPr lang="en-US" dirty="0" err="1"/>
              <a:t>Correlações</a:t>
            </a:r>
            <a:r>
              <a:rPr lang="en-US" dirty="0"/>
              <a:t> </a:t>
            </a:r>
            <a:r>
              <a:rPr lang="en-US" dirty="0" err="1"/>
              <a:t>locais</a:t>
            </a:r>
            <a:r>
              <a:rPr lang="en-US" dirty="0"/>
              <a:t> entre </a:t>
            </a:r>
            <a:r>
              <a:rPr lang="en-US" i="1" dirty="0"/>
              <a:t>pixels</a:t>
            </a:r>
            <a:r>
              <a:rPr lang="en-US" dirty="0"/>
              <a:t>.</a:t>
            </a:r>
            <a:endParaRPr lang="pt-BR" dirty="0"/>
          </a:p>
          <a:p>
            <a:r>
              <a:rPr lang="pt-BR" b="1" dirty="0">
                <a:solidFill>
                  <a:srgbClr val="00B050"/>
                </a:solidFill>
              </a:rPr>
              <a:t>Estruturas</a:t>
            </a:r>
            <a:r>
              <a:rPr lang="pt-BR" dirty="0"/>
              <a:t> importantes (bordas, formas, texturas) </a:t>
            </a:r>
            <a:r>
              <a:rPr lang="pt-BR" b="1" dirty="0">
                <a:solidFill>
                  <a:srgbClr val="00B050"/>
                </a:solidFill>
              </a:rPr>
              <a:t>dependem da organização espacial</a:t>
            </a:r>
            <a:r>
              <a:rPr lang="pt-BR" dirty="0"/>
              <a:t>.</a:t>
            </a:r>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707464" y="1690688"/>
            <a:ext cx="6400800"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5" name="Group 4">
            <a:extLst>
              <a:ext uri="{FF2B5EF4-FFF2-40B4-BE49-F238E27FC236}">
                <a16:creationId xmlns:a16="http://schemas.microsoft.com/office/drawing/2014/main" id="{B7E3E808-52AE-9C0E-36A6-2DB4791C4614}"/>
              </a:ext>
            </a:extLst>
          </p:cNvPr>
          <p:cNvGrpSpPr/>
          <p:nvPr/>
        </p:nvGrpSpPr>
        <p:grpSpPr>
          <a:xfrm>
            <a:off x="1407560" y="2002400"/>
            <a:ext cx="2686050" cy="3504074"/>
            <a:chOff x="1407560" y="2002400"/>
            <a:chExt cx="2686050" cy="3504074"/>
          </a:xfrm>
        </p:grpSpPr>
        <p:pic>
          <p:nvPicPr>
            <p:cNvPr id="7" name="Picture 8" descr="Cat Sounds:Amazon.com.br:Appstore for Android">
              <a:extLst>
                <a:ext uri="{FF2B5EF4-FFF2-40B4-BE49-F238E27FC236}">
                  <a16:creationId xmlns:a16="http://schemas.microsoft.com/office/drawing/2014/main" id="{943E223C-F49E-12BC-9C8E-5E904D3936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5">
              <a:extLst>
                <a:ext uri="{FF2B5EF4-FFF2-40B4-BE49-F238E27FC236}">
                  <a16:creationId xmlns:a16="http://schemas.microsoft.com/office/drawing/2014/main" id="{7AA40447-115F-1143-F533-F683AF83631C}"/>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6">
              <a:extLst>
                <a:ext uri="{FF2B5EF4-FFF2-40B4-BE49-F238E27FC236}">
                  <a16:creationId xmlns:a16="http://schemas.microsoft.com/office/drawing/2014/main" id="{DEFFAED5-A04B-6B2F-21E1-4879F3D8F032}"/>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7">
              <a:extLst>
                <a:ext uri="{FF2B5EF4-FFF2-40B4-BE49-F238E27FC236}">
                  <a16:creationId xmlns:a16="http://schemas.microsoft.com/office/drawing/2014/main" id="{5486C873-9E67-BAF5-4B89-1331BC2AD862}"/>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8">
              <a:extLst>
                <a:ext uri="{FF2B5EF4-FFF2-40B4-BE49-F238E27FC236}">
                  <a16:creationId xmlns:a16="http://schemas.microsoft.com/office/drawing/2014/main" id="{418AF835-ADA5-D096-C115-6B18A1C8D7AC}"/>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9">
              <a:extLst>
                <a:ext uri="{FF2B5EF4-FFF2-40B4-BE49-F238E27FC236}">
                  <a16:creationId xmlns:a16="http://schemas.microsoft.com/office/drawing/2014/main" id="{C0805275-667B-0456-1299-57301EF33D85}"/>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0">
              <a:extLst>
                <a:ext uri="{FF2B5EF4-FFF2-40B4-BE49-F238E27FC236}">
                  <a16:creationId xmlns:a16="http://schemas.microsoft.com/office/drawing/2014/main" id="{B7A75D6E-2782-933F-FC71-33FEE8D879F1}"/>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1">
              <a:extLst>
                <a:ext uri="{FF2B5EF4-FFF2-40B4-BE49-F238E27FC236}">
                  <a16:creationId xmlns:a16="http://schemas.microsoft.com/office/drawing/2014/main" id="{0B70E87D-1B37-41C4-44E2-83EAAB81C958}"/>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2">
              <a:extLst>
                <a:ext uri="{FF2B5EF4-FFF2-40B4-BE49-F238E27FC236}">
                  <a16:creationId xmlns:a16="http://schemas.microsoft.com/office/drawing/2014/main" id="{D78C42D0-E3BC-561D-DEE0-89F93EF940A3}"/>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3">
              <a:extLst>
                <a:ext uri="{FF2B5EF4-FFF2-40B4-BE49-F238E27FC236}">
                  <a16:creationId xmlns:a16="http://schemas.microsoft.com/office/drawing/2014/main" id="{012EA829-93C0-C607-0B26-A67A598E5C2F}"/>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6096000" y="1825624"/>
            <a:ext cx="6012263" cy="5032375"/>
          </a:xfrm>
        </p:spPr>
        <p:txBody>
          <a:bodyPr>
            <a:normAutofit/>
          </a:bodyPr>
          <a:lstStyle/>
          <a:p>
            <a:r>
              <a:rPr lang="pt-BR" dirty="0"/>
              <a:t>Redes totalmente conectadas conectam cada </a:t>
            </a:r>
            <a:r>
              <a:rPr lang="pt-BR" i="1" dirty="0"/>
              <a:t>pixel</a:t>
            </a:r>
            <a:r>
              <a:rPr lang="pt-BR" dirty="0"/>
              <a:t> a todos os nós da próxima camada, gerando um número enorme de pesos, o que resulta em uma rede muito grande.</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5928526" y="1825624"/>
            <a:ext cx="6179737" cy="5032375"/>
          </a:xfrm>
        </p:spPr>
        <p:txBody>
          <a:bodyPr>
            <a:normAutofit lnSpcReduction="10000"/>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desconsiderarem a estrutura espacial dos </a:t>
            </a:r>
            <a:r>
              <a:rPr lang="pt-BR" i="1" dirty="0"/>
              <a:t>pixels</a:t>
            </a:r>
            <a:r>
              <a:rPr lang="pt-BR" dirty="0"/>
              <a:t>, seriam necessárias redes e </a:t>
            </a:r>
            <a:r>
              <a:rPr lang="pt-BR" i="1" dirty="0" err="1"/>
              <a:t>datasets</a:t>
            </a:r>
            <a:r>
              <a:rPr lang="pt-BR" dirty="0"/>
              <a:t> extremamente grandes para funcionarem com problemas de detecção e localização de objetos, que se baseiam na localização dos </a:t>
            </a:r>
            <a:r>
              <a:rPr lang="pt-BR" i="1" dirty="0"/>
              <a:t>pixels</a:t>
            </a:r>
            <a:r>
              <a:rPr lang="pt-BR" dirty="0"/>
              <a:t>.</a:t>
            </a:r>
            <a:endParaRPr lang="en-US" dirty="0"/>
          </a:p>
        </p:txBody>
      </p:sp>
      <p:pic>
        <p:nvPicPr>
          <p:cNvPr id="4" name="Imagem 4">
            <a:extLst>
              <a:ext uri="{FF2B5EF4-FFF2-40B4-BE49-F238E27FC236}">
                <a16:creationId xmlns:a16="http://schemas.microsoft.com/office/drawing/2014/main" id="{2F296B63-FE07-C05A-4D3A-1916F52AC196}"/>
              </a:ext>
            </a:extLst>
          </p:cNvPr>
          <p:cNvPicPr>
            <a:picLocks noChangeAspect="1"/>
          </p:cNvPicPr>
          <p:nvPr/>
        </p:nvPicPr>
        <p:blipFill rotWithShape="1">
          <a:blip r:embed="rId2"/>
          <a:srcRect l="3436" t="2799"/>
          <a:stretch/>
        </p:blipFill>
        <p:spPr>
          <a:xfrm>
            <a:off x="244163" y="1980005"/>
            <a:ext cx="5310874" cy="4437883"/>
          </a:xfrm>
          <a:prstGeom prst="rect">
            <a:avLst/>
          </a:prstGeom>
        </p:spPr>
      </p:pic>
    </p:spTree>
    <p:extLst>
      <p:ext uri="{BB962C8B-B14F-4D97-AF65-F5344CB8AC3E}">
        <p14:creationId xmlns:p14="http://schemas.microsoft.com/office/powerpoint/2010/main" val="2689438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processamento de </a:t>
            </a:r>
            <a:r>
              <a:rPr lang="pt-BR" b="1" dirty="0">
                <a:solidFill>
                  <a:srgbClr val="00B050"/>
                </a:solidFill>
              </a:rPr>
              <a:t>imagens</a:t>
            </a:r>
            <a:r>
              <a:rPr lang="pt-BR" dirty="0"/>
              <a:t>, as quais são </a:t>
            </a:r>
            <a:r>
              <a:rPr lang="pt-BR" b="1" dirty="0">
                <a:solidFill>
                  <a:srgbClr val="00B050"/>
                </a:solidFill>
              </a:rPr>
              <a:t>dominadas</a:t>
            </a:r>
            <a:r>
              <a:rPr lang="pt-BR" dirty="0"/>
              <a:t> por </a:t>
            </a:r>
            <a:r>
              <a:rPr lang="pt-BR" b="1" dirty="0">
                <a:solidFill>
                  <a:srgbClr val="7030A0"/>
                </a:solidFill>
              </a:rPr>
              <a:t>padrões espacialmente locais e contêm hierarquias</a:t>
            </a:r>
            <a:r>
              <a:rPr lang="pt-BR" dirty="0"/>
              <a:t>.</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Tree>
    <p:extLst>
      <p:ext uri="{BB962C8B-B14F-4D97-AF65-F5344CB8AC3E}">
        <p14:creationId xmlns:p14="http://schemas.microsoft.com/office/powerpoint/2010/main" val="23894056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de localidade diz que </a:t>
            </a:r>
            <a:r>
              <a:rPr lang="pt-BR" i="1" dirty="0"/>
              <a:t>pixels</a:t>
            </a:r>
            <a:r>
              <a:rPr lang="pt-BR" dirty="0"/>
              <a:t> próximos tendem a estar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maior parte da informação visual está em pequenas regiões da imagem.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311297" y="1825624"/>
            <a:ext cx="6880705" cy="5032376"/>
          </a:xfrm>
        </p:spPr>
        <p:txBody>
          <a:bodyPr>
            <a:normAutofit/>
          </a:bodyPr>
          <a:lstStyle/>
          <a:p>
            <a:r>
              <a:rPr lang="pt-BR" dirty="0"/>
              <a:t>Em vez de conectar cada neurônio da CNN a todos os </a:t>
            </a:r>
            <a:r>
              <a:rPr lang="pt-BR" i="1" dirty="0"/>
              <a:t>pixels</a:t>
            </a:r>
            <a:r>
              <a:rPr lang="pt-BR" dirty="0"/>
              <a:t> da imagem, cada neurônio olha apenas para uma </a:t>
            </a:r>
            <a:r>
              <a:rPr lang="pt-BR" b="1" dirty="0">
                <a:solidFill>
                  <a:schemeClr val="accent2"/>
                </a:solidFill>
              </a:rPr>
              <a:t>pequena região</a:t>
            </a:r>
            <a:r>
              <a:rPr lang="pt-BR" dirty="0"/>
              <a:t>, chamada de </a:t>
            </a:r>
            <a:r>
              <a:rPr lang="pt-BR" b="1" dirty="0">
                <a:solidFill>
                  <a:schemeClr val="accent2"/>
                </a:solidFill>
              </a:rPr>
              <a:t>campo receptivo </a:t>
            </a:r>
            <a:r>
              <a:rPr lang="pt-BR" dirty="0"/>
              <a:t>(</a:t>
            </a:r>
            <a:r>
              <a:rPr lang="pt-BR" i="1" dirty="0" err="1"/>
              <a:t>receptive</a:t>
            </a:r>
            <a:r>
              <a:rPr lang="pt-BR" i="1" dirty="0"/>
              <a:t> </a:t>
            </a:r>
            <a:r>
              <a:rPr lang="pt-BR" i="1" dirty="0" err="1"/>
              <a:t>field</a:t>
            </a:r>
            <a:r>
              <a:rPr lang="pt-BR" dirty="0"/>
              <a:t>).</a:t>
            </a:r>
          </a:p>
          <a:p>
            <a:r>
              <a:rPr lang="pt-BR" dirty="0"/>
              <a:t>O tamanho do campo receptivo é definido por uma matriz quadrada chamada de filtro ou </a:t>
            </a:r>
            <a:r>
              <a:rPr lang="pt-BR" i="1" dirty="0"/>
              <a:t>kernel</a:t>
            </a:r>
            <a:r>
              <a:rPr lang="pt-BR" dirty="0"/>
              <a:t>.</a:t>
            </a:r>
          </a:p>
          <a:p>
            <a:r>
              <a:rPr lang="pt-BR" dirty="0"/>
              <a:t>Isso permite detectar </a:t>
            </a:r>
            <a:r>
              <a:rPr lang="pt-BR" b="1" dirty="0"/>
              <a:t>padrões locais </a:t>
            </a:r>
            <a:r>
              <a:rPr lang="pt-BR" dirty="0"/>
              <a:t>como:</a:t>
            </a:r>
          </a:p>
          <a:p>
            <a:pPr lvl="1">
              <a:buFont typeface="Wingdings" panose="05000000000000000000" pitchFamily="2" charset="2"/>
              <a:buChar char="§"/>
            </a:pPr>
            <a:r>
              <a:rPr lang="pt-BR" dirty="0"/>
              <a:t>bordas</a:t>
            </a:r>
          </a:p>
          <a:p>
            <a:pPr lvl="1">
              <a:buFont typeface="Wingdings" panose="05000000000000000000" pitchFamily="2" charset="2"/>
              <a:buChar char="§"/>
            </a:pPr>
            <a:r>
              <a:rPr lang="pt-BR" dirty="0"/>
              <a:t>cantos</a:t>
            </a:r>
          </a:p>
          <a:p>
            <a:pPr lvl="1">
              <a:buFont typeface="Wingdings" panose="05000000000000000000" pitchFamily="2" charset="2"/>
              <a:buChar char="§"/>
            </a:pPr>
            <a:r>
              <a:rPr lang="pt-BR" dirty="0"/>
              <a:t>texturas</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241862" y="1952855"/>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mesmo padrão pode aparecer em qualquer posição da imagem.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pPr lvl="1">
              <a:buFont typeface="Wingdings" panose="05000000000000000000" pitchFamily="2" charset="2"/>
              <a:buChar char="§"/>
            </a:pPr>
            <a:r>
              <a:rPr lang="pt-BR" dirty="0"/>
              <a:t>uma borda pode aparecer em qualquer lugar</a:t>
            </a:r>
          </a:p>
          <a:p>
            <a:pPr lvl="1">
              <a:buFont typeface="Wingdings" panose="05000000000000000000" pitchFamily="2" charset="2"/>
              <a:buChar char="§"/>
            </a:pPr>
            <a:r>
              <a:rPr lang="pt-BR" dirty="0"/>
              <a:t>uma roda pode aparecer em qualquer posição do carro</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dirty="0" err="1"/>
              <a:t>CNNs</a:t>
            </a:r>
            <a:r>
              <a:rPr lang="pt-BR" dirty="0"/>
              <a:t> compartilham os pesos: o mesmo filtro é aplicado em toda a imagem.</a:t>
            </a:r>
          </a:p>
          <a:p>
            <a:r>
              <a:rPr lang="pt-BR" dirty="0"/>
              <a:t>Ou seja, um filtro que detecta bordas é o mesmo para todas as posições.</a:t>
            </a:r>
          </a:p>
          <a:p>
            <a:r>
              <a:rPr lang="pt-BR" dirty="0"/>
              <a:t>Isso traz duas vantagens enormes:</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205046" y="1825624"/>
            <a:ext cx="6986954" cy="5032375"/>
          </a:xfrm>
        </p:spPr>
        <p:txBody>
          <a:bodyPr>
            <a:normAutofit lnSpcReduction="10000"/>
          </a:bodyPr>
          <a:lstStyle/>
          <a:p>
            <a:r>
              <a:rPr lang="pt-BR" dirty="0"/>
              <a:t>Imagens possuem uma estrutura </a:t>
            </a:r>
            <a:r>
              <a:rPr lang="pt-BR" b="1" dirty="0"/>
              <a:t>hierárquica</a:t>
            </a:r>
            <a:r>
              <a:rPr lang="pt-BR" dirty="0"/>
              <a:t>.</a:t>
            </a:r>
          </a:p>
          <a:p>
            <a:r>
              <a:rPr lang="pt-BR" dirty="0"/>
              <a:t>Padrões simples formam padrões mais complexos:</a:t>
            </a:r>
          </a:p>
          <a:p>
            <a:pPr lvl="1">
              <a:buFont typeface="Wingdings" panose="05000000000000000000" pitchFamily="2" charset="2"/>
              <a:buChar char="§"/>
            </a:pPr>
            <a:r>
              <a:rPr lang="en-US" dirty="0"/>
              <a:t>Simples: contorno da </a:t>
            </a:r>
            <a:r>
              <a:rPr lang="en-US" dirty="0" err="1"/>
              <a:t>orelha</a:t>
            </a:r>
            <a:r>
              <a:rPr lang="en-US" dirty="0"/>
              <a:t>, </a:t>
            </a:r>
            <a:r>
              <a:rPr lang="en-US" dirty="0" err="1"/>
              <a:t>borda</a:t>
            </a:r>
            <a:r>
              <a:rPr lang="en-US" dirty="0"/>
              <a:t> do </a:t>
            </a:r>
            <a:r>
              <a:rPr lang="en-US" dirty="0" err="1"/>
              <a:t>nariz</a:t>
            </a:r>
            <a:r>
              <a:rPr lang="en-US" dirty="0"/>
              <a:t> e do </a:t>
            </a:r>
            <a:r>
              <a:rPr lang="en-US" dirty="0" err="1"/>
              <a:t>olho</a:t>
            </a:r>
            <a:endParaRPr lang="en-US" dirty="0"/>
          </a:p>
          <a:p>
            <a:pPr lvl="1">
              <a:buFont typeface="Wingdings" panose="05000000000000000000" pitchFamily="2" charset="2"/>
              <a:buChar char="§"/>
            </a:pPr>
            <a:r>
              <a:rPr lang="en-US" dirty="0" err="1"/>
              <a:t>Intermediários</a:t>
            </a:r>
            <a:r>
              <a:rPr lang="en-US" dirty="0"/>
              <a:t>: </a:t>
            </a:r>
            <a:r>
              <a:rPr lang="pt-BR" dirty="0"/>
              <a:t>curva da orelha, forma triangular do nariz</a:t>
            </a:r>
          </a:p>
          <a:p>
            <a:pPr lvl="1">
              <a:buFont typeface="Wingdings" panose="05000000000000000000" pitchFamily="2" charset="2"/>
              <a:buChar char="§"/>
            </a:pPr>
            <a:r>
              <a:rPr lang="en-US" dirty="0"/>
              <a:t>Partes </a:t>
            </a:r>
            <a:r>
              <a:rPr lang="en-US"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1">
              <a:buFont typeface="Wingdings" panose="05000000000000000000" pitchFamily="2" charset="2"/>
              <a:buChar char="§"/>
            </a:pPr>
            <a:r>
              <a:rPr lang="en-US" dirty="0"/>
              <a:t>Partes </a:t>
            </a:r>
            <a:r>
              <a:rPr lang="en-US"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1">
              <a:buFont typeface="Wingdings" panose="05000000000000000000" pitchFamily="2" charset="2"/>
              <a:buChar char="§"/>
            </a:pPr>
            <a:r>
              <a:rPr lang="en-US" dirty="0" err="1"/>
              <a:t>Objeto</a:t>
            </a:r>
            <a:r>
              <a:rPr lang="en-US" dirty="0"/>
              <a:t> </a:t>
            </a:r>
            <a:r>
              <a:rPr lang="en-US" dirty="0" err="1"/>
              <a:t>completo</a:t>
            </a:r>
            <a:r>
              <a:rPr lang="en-US" dirty="0"/>
              <a:t>: </a:t>
            </a:r>
            <a:r>
              <a:rPr lang="pt-BR" dirty="0"/>
              <a:t>bordas → texturas → partes → cabeça/corpo → gato</a:t>
            </a:r>
          </a:p>
          <a:p>
            <a:r>
              <a:rPr lang="pt-BR" dirty="0"/>
              <a:t>As camadas de uma CNN aprendem a </a:t>
            </a:r>
            <a:r>
              <a:rPr lang="pt-BR" dirty="0" err="1"/>
              <a:t>hierárquia</a:t>
            </a:r>
            <a:r>
              <a:rPr lang="pt-BR" dirty="0"/>
              <a:t> de padrões da imagem.</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61475" y="2110152"/>
            <a:ext cx="4922990" cy="4148935"/>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629C7-67C9-8174-8129-0BBA674327C3}"/>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3FEE3B61-3623-02AB-736C-65EA98218560}"/>
              </a:ext>
            </a:extLst>
          </p:cNvPr>
          <p:cNvSpPr>
            <a:spLocks noGrp="1"/>
          </p:cNvSpPr>
          <p:nvPr>
            <p:ph idx="1"/>
          </p:nvPr>
        </p:nvSpPr>
        <p:spPr/>
        <p:txBody>
          <a:bodyPr>
            <a:normAutofit/>
          </a:bodyPr>
          <a:lstStyle/>
          <a:p>
            <a:r>
              <a:rPr lang="pt-BR" sz="7200" b="1" dirty="0">
                <a:solidFill>
                  <a:srgbClr val="FF0000"/>
                </a:solidFill>
              </a:rPr>
              <a:t>PAREI AQUI!!!!!</a:t>
            </a:r>
            <a:endParaRPr lang="en-US" sz="7200" b="1" dirty="0">
              <a:solidFill>
                <a:srgbClr val="FF0000"/>
              </a:solidFill>
            </a:endParaRPr>
          </a:p>
        </p:txBody>
      </p:sp>
    </p:spTree>
    <p:extLst>
      <p:ext uri="{BB962C8B-B14F-4D97-AF65-F5344CB8AC3E}">
        <p14:creationId xmlns:p14="http://schemas.microsoft.com/office/powerpoint/2010/main" val="20694799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CA522-CA71-CBFD-EC99-4725C4DD3D1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B79F787-5315-FBF6-A0E4-34883636131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6358032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5A6D1-BBED-5F7A-9226-B0448DACB95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14885D2-AE8E-18D1-4A2B-7D6007931A11}"/>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127038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74D49-B499-19F5-FE0F-B9039404F76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253A8F1-D6F8-F152-1E7E-04AE245609D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164238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a:t>
            </a:r>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Usar </a:t>
            </a:r>
            <a:r>
              <a:rPr lang="pt-BR" b="1" dirty="0"/>
              <a:t>filtros de convolução</a:t>
            </a:r>
            <a:r>
              <a:rPr lang="pt-BR" dirty="0"/>
              <a:t> pode nos ajudar a </a:t>
            </a:r>
            <a:r>
              <a:rPr lang="pt-BR" dirty="0">
                <a:highlight>
                  <a:srgbClr val="FFFF00"/>
                </a:highlight>
              </a:rPr>
              <a:t>resolver esse problema. QUE PROBLE? REESCREVER!!!!!!</a:t>
            </a:r>
          </a:p>
          <a:p>
            <a:r>
              <a:rPr lang="pt-BR" dirty="0"/>
              <a:t>Os </a:t>
            </a:r>
            <a:r>
              <a:rPr lang="pt-BR" b="1" dirty="0"/>
              <a:t>filtros</a:t>
            </a:r>
            <a:r>
              <a:rPr lang="pt-BR" dirty="0"/>
              <a:t> são </a:t>
            </a:r>
            <a:r>
              <a:rPr lang="pt-BR" b="1" dirty="0">
                <a:solidFill>
                  <a:srgbClr val="00B050"/>
                </a:solidFill>
              </a:rPr>
              <a:t>treinados para detectar características locais </a:t>
            </a:r>
            <a:r>
              <a:rPr lang="pt-BR" dirty="0"/>
              <a:t>que </a:t>
            </a:r>
            <a:r>
              <a:rPr lang="pt-BR" b="1" dirty="0">
                <a:solidFill>
                  <a:srgbClr val="7030A0"/>
                </a:solidFill>
              </a:rPr>
              <a:t>diferenciam pessoas de cavalos</a:t>
            </a:r>
            <a:r>
              <a:rPr lang="pt-BR" dirty="0"/>
              <a:t>.</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fazem um </a:t>
            </a:r>
            <a:r>
              <a:rPr lang="pt-BR" b="1" dirty="0">
                <a:solidFill>
                  <a:srgbClr val="00B050"/>
                </a:solidFill>
              </a:rPr>
              <a:t>objeto ser diferente de outro</a:t>
            </a:r>
            <a:r>
              <a:rPr lang="pt-BR" dirty="0"/>
              <a:t> é </a:t>
            </a:r>
            <a:r>
              <a:rPr lang="pt-BR" b="1" dirty="0">
                <a:solidFill>
                  <a:srgbClr val="00B050"/>
                </a:solidFill>
              </a:rPr>
              <a:t>baseada</a:t>
            </a:r>
            <a:r>
              <a:rPr lang="pt-BR" dirty="0"/>
              <a:t> em como os neurônios do </a:t>
            </a:r>
            <a:r>
              <a:rPr lang="pt-BR" b="1" dirty="0">
                <a:solidFill>
                  <a:srgbClr val="7030A0"/>
                </a:solidFill>
              </a:rPr>
              <a:t>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521297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i="1" dirty="0">
                <a:solidFill>
                  <a:srgbClr val="00B050"/>
                </a:solidFill>
              </a:rPr>
              <a:t>neurônios</a:t>
            </a:r>
            <a:r>
              <a:rPr lang="pt-BR" dirty="0"/>
              <a:t> biológicos no córtex visual </a:t>
            </a:r>
            <a:r>
              <a:rPr lang="pt-BR" b="1" i="1" dirty="0">
                <a:solidFill>
                  <a:schemeClr val="accent2"/>
                </a:solidFill>
              </a:rPr>
              <a:t>respondem a padrões específicos</a:t>
            </a:r>
            <a:r>
              <a:rPr lang="pt-BR" b="1" i="1" dirty="0">
                <a:solidFill>
                  <a:srgbClr val="00B050"/>
                </a:solidFill>
              </a:rPr>
              <a:t> </a:t>
            </a:r>
            <a:r>
              <a:rPr lang="pt-BR" dirty="0"/>
              <a:t>em</a:t>
            </a:r>
            <a:r>
              <a:rPr lang="pt-BR" b="1" i="1" dirty="0"/>
              <a:t> </a:t>
            </a:r>
            <a:r>
              <a:rPr lang="pt-BR" b="1" i="1" dirty="0">
                <a:solidFill>
                  <a:srgbClr val="0070C0"/>
                </a:solidFill>
              </a:rPr>
              <a:t>pequenas</a:t>
            </a:r>
            <a:r>
              <a:rPr lang="pt-BR" b="1" i="1" dirty="0">
                <a:solidFill>
                  <a:srgbClr val="00B050"/>
                </a:solidFill>
              </a:rPr>
              <a:t> regiões do campo visual</a:t>
            </a:r>
            <a:r>
              <a:rPr lang="pt-BR" dirty="0">
                <a:solidFill>
                  <a:srgbClr val="00B050"/>
                </a:solidFill>
              </a:rPr>
              <a:t> </a:t>
            </a:r>
            <a:r>
              <a:rPr lang="pt-BR" dirty="0"/>
              <a:t>chamadas </a:t>
            </a:r>
            <a:r>
              <a:rPr lang="pt-BR" b="1" i="1" dirty="0">
                <a:solidFill>
                  <a:srgbClr val="00B050"/>
                </a:solidFill>
              </a:rPr>
              <a:t>campos receptivos</a:t>
            </a:r>
            <a:r>
              <a:rPr lang="pt-BR" dirty="0"/>
              <a:t>.</a:t>
            </a:r>
          </a:p>
          <a:p>
            <a:r>
              <a:rPr lang="pt-BR" dirty="0"/>
              <a:t>À medida que o sinal visual percorre as camadas do cérebro, os </a:t>
            </a:r>
            <a:r>
              <a:rPr lang="pt-BR" b="1" i="1" dirty="0">
                <a:solidFill>
                  <a:srgbClr val="00B050"/>
                </a:solidFill>
              </a:rPr>
              <a:t>neurônios respondem </a:t>
            </a:r>
            <a:r>
              <a:rPr lang="pt-BR" dirty="0"/>
              <a:t>a</a:t>
            </a:r>
            <a:r>
              <a:rPr lang="pt-BR" b="1" i="1" dirty="0">
                <a:solidFill>
                  <a:srgbClr val="00B050"/>
                </a:solidFill>
              </a:rPr>
              <a:t> </a:t>
            </a:r>
            <a:r>
              <a:rPr lang="pt-BR" b="1" i="1" dirty="0">
                <a:solidFill>
                  <a:srgbClr val="7030A0"/>
                </a:solidFill>
              </a:rPr>
              <a:t>padrões mais complexos </a:t>
            </a:r>
            <a:r>
              <a:rPr lang="pt-BR" b="1" i="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13041111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838200" y="4726111"/>
            <a:ext cx="11210925" cy="2131887"/>
          </a:xfrm>
        </p:spPr>
        <p:txBody>
          <a:bodyPr>
            <a:normAutofit lnSpcReduction="10000"/>
          </a:bodyPr>
          <a:lstStyle/>
          <a:p>
            <a:r>
              <a:rPr lang="pt-BR" dirty="0"/>
              <a:t>Alguns </a:t>
            </a:r>
            <a:r>
              <a:rPr lang="pt-BR" b="1" i="1" dirty="0">
                <a:solidFill>
                  <a:srgbClr val="00B050"/>
                </a:solidFill>
              </a:rPr>
              <a:t>neurônios reagem</a:t>
            </a:r>
            <a:r>
              <a:rPr lang="pt-BR" dirty="0"/>
              <a:t> apenas a imagens de </a:t>
            </a:r>
            <a:r>
              <a:rPr lang="pt-BR" b="1" i="1" dirty="0">
                <a:solidFill>
                  <a:srgbClr val="00B050"/>
                </a:solidFill>
              </a:rPr>
              <a:t>linhas horizontais</a:t>
            </a:r>
            <a:r>
              <a:rPr lang="pt-BR" dirty="0"/>
              <a:t>, enquanto </a:t>
            </a:r>
            <a:r>
              <a:rPr lang="pt-BR" b="1" i="1" dirty="0">
                <a:solidFill>
                  <a:srgbClr val="00B050"/>
                </a:solidFill>
              </a:rPr>
              <a:t>outros reagem </a:t>
            </a:r>
            <a:r>
              <a:rPr lang="pt-BR" dirty="0"/>
              <a:t>apenas a </a:t>
            </a:r>
            <a:r>
              <a:rPr lang="pt-BR" b="1" i="1" dirty="0">
                <a:solidFill>
                  <a:srgbClr val="00B050"/>
                </a:solidFill>
              </a:rPr>
              <a:t>linhas com orientações diferentes</a:t>
            </a:r>
            <a:r>
              <a:rPr lang="pt-BR" dirty="0"/>
              <a:t>.</a:t>
            </a:r>
          </a:p>
          <a:p>
            <a:r>
              <a:rPr lang="pt-BR" dirty="0"/>
              <a:t>Outros neurônios têm </a:t>
            </a:r>
            <a:r>
              <a:rPr lang="pt-BR" b="1" i="1" dirty="0">
                <a:solidFill>
                  <a:srgbClr val="00B050"/>
                </a:solidFill>
              </a:rPr>
              <a:t>campos receptivos maiores </a:t>
            </a:r>
            <a:r>
              <a:rPr lang="pt-BR" dirty="0"/>
              <a:t>e reagem a </a:t>
            </a:r>
            <a:r>
              <a:rPr lang="pt-BR" b="1" i="1" dirty="0">
                <a:solidFill>
                  <a:srgbClr val="00B050"/>
                </a:solidFill>
              </a:rPr>
              <a:t>padrões mais complexos</a:t>
            </a:r>
            <a:r>
              <a:rPr lang="pt-BR" dirty="0"/>
              <a:t> que são </a:t>
            </a:r>
            <a:r>
              <a:rPr lang="pt-BR" b="1" i="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12448915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732980" y="1825624"/>
            <a:ext cx="6308331" cy="5032375"/>
          </a:xfrm>
        </p:spPr>
        <p:txBody>
          <a:bodyPr>
            <a:normAutofit/>
          </a:bodyPr>
          <a:lstStyle/>
          <a:p>
            <a:r>
              <a:rPr lang="pt-BR" dirty="0"/>
              <a:t>Qual a </a:t>
            </a:r>
            <a:r>
              <a:rPr lang="pt-BR" b="1" i="1" dirty="0">
                <a:solidFill>
                  <a:srgbClr val="7030A0"/>
                </a:solidFill>
              </a:rPr>
              <a:t>diferença</a:t>
            </a:r>
            <a:r>
              <a:rPr lang="pt-BR" dirty="0"/>
              <a:t> </a:t>
            </a:r>
            <a:r>
              <a:rPr lang="pt-BR" b="1" i="1" dirty="0">
                <a:solidFill>
                  <a:srgbClr val="7030A0"/>
                </a:solidFill>
              </a:rPr>
              <a:t>fundamental</a:t>
            </a:r>
            <a:r>
              <a:rPr lang="pt-BR" dirty="0"/>
              <a:t> entre uma camada</a:t>
            </a:r>
            <a:r>
              <a:rPr lang="pt-BR" b="1" i="1" dirty="0">
                <a:solidFill>
                  <a:srgbClr val="00B050"/>
                </a:solidFill>
              </a:rPr>
              <a:t> densamente conectada</a:t>
            </a:r>
            <a:r>
              <a:rPr lang="pt-BR" dirty="0"/>
              <a:t> e uma de </a:t>
            </a:r>
            <a:r>
              <a:rPr lang="pt-BR" b="1" i="1" dirty="0">
                <a:solidFill>
                  <a:srgbClr val="00B050"/>
                </a:solidFill>
              </a:rPr>
              <a:t>convolução</a:t>
            </a:r>
            <a:r>
              <a:rPr lang="pt-BR" dirty="0"/>
              <a:t>?</a:t>
            </a:r>
          </a:p>
          <a:p>
            <a:r>
              <a:rPr lang="pt-BR" dirty="0"/>
              <a:t>As </a:t>
            </a:r>
            <a:r>
              <a:rPr lang="pt-BR" b="1" i="1" dirty="0">
                <a:solidFill>
                  <a:srgbClr val="00B050"/>
                </a:solidFill>
              </a:rPr>
              <a:t>camadas densas aprendem</a:t>
            </a:r>
            <a:r>
              <a:rPr lang="pt-BR" b="1" i="1" dirty="0">
                <a:solidFill>
                  <a:srgbClr val="7030A0"/>
                </a:solidFill>
              </a:rPr>
              <a:t> padrões globais</a:t>
            </a:r>
            <a:r>
              <a:rPr lang="pt-BR" dirty="0"/>
              <a:t> em seu espaço de atributos.</a:t>
            </a:r>
          </a:p>
          <a:p>
            <a:r>
              <a:rPr lang="pt-BR" dirty="0"/>
              <a:t>Por exemplo, para um dígito da base de dados MNIST, as </a:t>
            </a:r>
            <a:r>
              <a:rPr lang="pt-BR" b="1" i="1" dirty="0">
                <a:solidFill>
                  <a:srgbClr val="7030A0"/>
                </a:solidFill>
              </a:rPr>
              <a:t>camadas densas </a:t>
            </a:r>
            <a:r>
              <a:rPr lang="pt-BR" b="1" i="1" dirty="0">
                <a:solidFill>
                  <a:srgbClr val="00B050"/>
                </a:solidFill>
              </a:rPr>
              <a:t>aprendem</a:t>
            </a:r>
            <a:r>
              <a:rPr lang="pt-BR" dirty="0"/>
              <a:t> </a:t>
            </a:r>
            <a:r>
              <a:rPr lang="pt-BR" b="1" i="1" dirty="0">
                <a:solidFill>
                  <a:srgbClr val="00B050"/>
                </a:solidFill>
              </a:rPr>
              <a:t>padrões envolvendo todos os pixels</a:t>
            </a:r>
            <a:r>
              <a:rPr lang="pt-BR" dirty="0"/>
              <a:t>.</a:t>
            </a:r>
          </a:p>
        </p:txBody>
      </p:sp>
      <p:pic>
        <p:nvPicPr>
          <p:cNvPr id="1028" name="Picture 4" descr="Digit recognizer using CNN. I build a simple Convolutional Neural… | by  Nischal Madiraju | Towards Data Science">
            <a:extLst>
              <a:ext uri="{FF2B5EF4-FFF2-40B4-BE49-F238E27FC236}">
                <a16:creationId xmlns:a16="http://schemas.microsoft.com/office/drawing/2014/main" id="{E4AD2FFB-8BF6-432A-092D-D05582B6AB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4738" y="2453811"/>
            <a:ext cx="2943225" cy="28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68877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948738" y="1825624"/>
            <a:ext cx="6041204" cy="5032375"/>
          </a:xfrm>
        </p:spPr>
        <p:txBody>
          <a:bodyPr>
            <a:normAutofit/>
          </a:bodyPr>
          <a:lstStyle/>
          <a:p>
            <a:r>
              <a:rPr lang="pt-BR" dirty="0"/>
              <a:t>As camadas de convolução </a:t>
            </a:r>
            <a:r>
              <a:rPr lang="pt-BR" b="1" i="1" dirty="0">
                <a:solidFill>
                  <a:srgbClr val="00B050"/>
                </a:solidFill>
              </a:rPr>
              <a:t>aprendem padrões locais</a:t>
            </a:r>
            <a:r>
              <a:rPr lang="pt-BR" dirty="0"/>
              <a:t>.</a:t>
            </a:r>
          </a:p>
          <a:p>
            <a:r>
              <a:rPr lang="pt-BR" dirty="0"/>
              <a:t>No caso de imagens, as camadas de convolução </a:t>
            </a:r>
            <a:r>
              <a:rPr lang="pt-BR" b="1" i="1" dirty="0"/>
              <a:t>aprendem padrões encontrados em </a:t>
            </a:r>
            <a:r>
              <a:rPr lang="pt-BR" b="1" i="1" dirty="0">
                <a:solidFill>
                  <a:srgbClr val="7030A0"/>
                </a:solidFill>
              </a:rPr>
              <a:t>pequenas janelas</a:t>
            </a:r>
            <a:r>
              <a:rPr lang="pt-BR" b="1" i="1" dirty="0"/>
              <a:t> </a:t>
            </a:r>
            <a:r>
              <a:rPr lang="pt-BR" dirty="0"/>
              <a:t>(i.e., </a:t>
            </a:r>
            <a:r>
              <a:rPr lang="pt-BR" b="1" i="1" dirty="0">
                <a:solidFill>
                  <a:srgbClr val="00B050"/>
                </a:solidFill>
              </a:rPr>
              <a:t>campos receptivos</a:t>
            </a:r>
            <a:r>
              <a:rPr lang="pt-BR" dirty="0"/>
              <a:t>)</a:t>
            </a:r>
            <a:r>
              <a:rPr lang="pt-BR" b="1" i="1" dirty="0">
                <a:solidFill>
                  <a:srgbClr val="00B050"/>
                </a:solidFill>
              </a:rPr>
              <a:t> </a:t>
            </a:r>
            <a:r>
              <a:rPr lang="pt-BR" dirty="0"/>
              <a:t>das entradas.</a:t>
            </a:r>
          </a:p>
          <a:p>
            <a:r>
              <a:rPr lang="pt-BR" dirty="0"/>
              <a:t>Para aprender esses padrões, as camadas utilizam </a:t>
            </a:r>
            <a:r>
              <a:rPr lang="pt-BR" b="1" i="1" dirty="0">
                <a:solidFill>
                  <a:srgbClr val="00B050"/>
                </a:solidFill>
              </a:rPr>
              <a:t>filtros de convolução</a:t>
            </a:r>
            <a:r>
              <a:rPr lang="pt-BR" dirty="0"/>
              <a:t>, também chamados de </a:t>
            </a:r>
            <a:r>
              <a:rPr lang="pt-BR" b="1" i="1" dirty="0">
                <a:solidFill>
                  <a:srgbClr val="7030A0"/>
                </a:solidFill>
              </a:rPr>
              <a:t>kernels</a:t>
            </a:r>
            <a:r>
              <a:rPr lang="pt-BR" dirty="0"/>
              <a:t>.</a:t>
            </a:r>
          </a:p>
        </p:txBody>
      </p:sp>
      <p:pic>
        <p:nvPicPr>
          <p:cNvPr id="5" name="Imagem 4">
            <a:extLst>
              <a:ext uri="{FF2B5EF4-FFF2-40B4-BE49-F238E27FC236}">
                <a16:creationId xmlns:a16="http://schemas.microsoft.com/office/drawing/2014/main" id="{48F30D9B-83CA-7490-DDC0-65E59B6DB614}"/>
              </a:ext>
            </a:extLst>
          </p:cNvPr>
          <p:cNvPicPr>
            <a:picLocks noChangeAspect="1"/>
          </p:cNvPicPr>
          <p:nvPr/>
        </p:nvPicPr>
        <p:blipFill>
          <a:blip r:embed="rId2"/>
          <a:stretch>
            <a:fillRect/>
          </a:stretch>
        </p:blipFill>
        <p:spPr>
          <a:xfrm>
            <a:off x="1917841" y="2304081"/>
            <a:ext cx="2387030" cy="3062229"/>
          </a:xfrm>
          <a:prstGeom prst="rect">
            <a:avLst/>
          </a:prstGeom>
        </p:spPr>
      </p:pic>
    </p:spTree>
    <p:extLst>
      <p:ext uri="{BB962C8B-B14F-4D97-AF65-F5344CB8AC3E}">
        <p14:creationId xmlns:p14="http://schemas.microsoft.com/office/powerpoint/2010/main" val="34072932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691882" y="1825624"/>
            <a:ext cx="6298059" cy="5032375"/>
          </a:xfrm>
        </p:spPr>
        <p:txBody>
          <a:bodyPr>
            <a:normAutofit/>
          </a:bodyPr>
          <a:lstStyle/>
          <a:p>
            <a:r>
              <a:rPr lang="pt-BR" dirty="0"/>
              <a:t>Camadas convolucionais aprendem </a:t>
            </a:r>
            <a:r>
              <a:rPr lang="pt-BR" b="1" i="1" dirty="0">
                <a:solidFill>
                  <a:srgbClr val="00B050"/>
                </a:solidFill>
              </a:rPr>
              <a:t>hierarquias espaciais </a:t>
            </a:r>
            <a:r>
              <a:rPr lang="pt-BR" dirty="0"/>
              <a:t>de padrões. </a:t>
            </a:r>
          </a:p>
          <a:p>
            <a:r>
              <a:rPr lang="pt-BR" dirty="0"/>
              <a:t>Uma </a:t>
            </a:r>
            <a:r>
              <a:rPr lang="pt-BR" b="1" i="1" dirty="0">
                <a:solidFill>
                  <a:srgbClr val="00B050"/>
                </a:solidFill>
              </a:rPr>
              <a:t>primeira camada </a:t>
            </a:r>
            <a:r>
              <a:rPr lang="pt-BR" dirty="0"/>
              <a:t>de convolução aprenderá </a:t>
            </a:r>
            <a:r>
              <a:rPr lang="pt-BR" b="1" i="1" dirty="0">
                <a:solidFill>
                  <a:srgbClr val="00B050"/>
                </a:solidFill>
              </a:rPr>
              <a:t>pequenos padrões locais</a:t>
            </a:r>
            <a:r>
              <a:rPr lang="pt-BR" dirty="0"/>
              <a:t>, como bordas, uma </a:t>
            </a:r>
            <a:r>
              <a:rPr lang="pt-BR" b="1" i="1" dirty="0">
                <a:solidFill>
                  <a:srgbClr val="00B050"/>
                </a:solidFill>
              </a:rPr>
              <a:t>segunda camada </a:t>
            </a:r>
            <a:r>
              <a:rPr lang="pt-BR" dirty="0"/>
              <a:t>de convolução aprenderá </a:t>
            </a:r>
            <a:r>
              <a:rPr lang="pt-BR" b="1" i="1" dirty="0">
                <a:solidFill>
                  <a:srgbClr val="00B050"/>
                </a:solidFill>
              </a:rPr>
              <a:t>padrões maiores criados a partir da combinação das características das primeiras camadas </a:t>
            </a:r>
            <a:r>
              <a:rPr lang="pt-BR" dirty="0"/>
              <a:t>e assim por diante.</a:t>
            </a:r>
          </a:p>
        </p:txBody>
      </p:sp>
      <p:pic>
        <p:nvPicPr>
          <p:cNvPr id="7" name="Imagem 6">
            <a:extLst>
              <a:ext uri="{FF2B5EF4-FFF2-40B4-BE49-F238E27FC236}">
                <a16:creationId xmlns:a16="http://schemas.microsoft.com/office/drawing/2014/main" id="{691CAD4C-7731-F201-4777-F4C7E861E3EA}"/>
              </a:ext>
            </a:extLst>
          </p:cNvPr>
          <p:cNvPicPr>
            <a:picLocks noChangeAspect="1"/>
          </p:cNvPicPr>
          <p:nvPr/>
        </p:nvPicPr>
        <p:blipFill>
          <a:blip r:embed="rId2"/>
          <a:stretch>
            <a:fillRect/>
          </a:stretch>
        </p:blipFill>
        <p:spPr>
          <a:xfrm>
            <a:off x="617180" y="2045424"/>
            <a:ext cx="4351151" cy="3667007"/>
          </a:xfrm>
          <a:prstGeom prst="rect">
            <a:avLst/>
          </a:prstGeom>
        </p:spPr>
      </p:pic>
    </p:spTree>
    <p:extLst>
      <p:ext uri="{BB962C8B-B14F-4D97-AF65-F5344CB8AC3E}">
        <p14:creationId xmlns:p14="http://schemas.microsoft.com/office/powerpoint/2010/main" val="38018395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endParaRPr lang="pt-BR"/>
          </a:p>
        </p:txBody>
      </p:sp>
      <p:sp>
        <p:nvSpPr>
          <p:cNvPr id="3" name="Espaço Reservado para Conteúdo 2"/>
          <p:cNvSpPr>
            <a:spLocks noGrp="1"/>
          </p:cNvSpPr>
          <p:nvPr>
            <p:ph idx="1"/>
          </p:nvPr>
        </p:nvSpPr>
        <p:spPr/>
        <p:txBody>
          <a:bodyPr/>
          <a:lstStyle/>
          <a:p>
            <a:endParaRPr lang="pt-BR"/>
          </a:p>
        </p:txBody>
      </p:sp>
    </p:spTree>
    <p:extLst>
      <p:ext uri="{BB962C8B-B14F-4D97-AF65-F5344CB8AC3E}">
        <p14:creationId xmlns:p14="http://schemas.microsoft.com/office/powerpoint/2010/main" val="13126058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8077200" y="1825624"/>
            <a:ext cx="4114800" cy="5032375"/>
          </a:xfrm>
        </p:spPr>
        <p:txBody>
          <a:bodyPr>
            <a:normAutofit/>
          </a:bodyPr>
          <a:lstStyle/>
          <a:p>
            <a:r>
              <a:rPr lang="en-US" dirty="0"/>
              <a:t>Uma CNN </a:t>
            </a:r>
            <a:r>
              <a:rPr lang="en-US" dirty="0" err="1"/>
              <a:t>em</a:t>
            </a:r>
            <a:r>
              <a:rPr lang="en-US" dirty="0"/>
              <a:t> </a:t>
            </a:r>
            <a:r>
              <a:rPr lang="en-US" dirty="0" err="1"/>
              <a:t>geral</a:t>
            </a:r>
            <a:r>
              <a:rPr lang="en-US" dirty="0"/>
              <a:t> </a:t>
            </a:r>
            <a:r>
              <a:rPr lang="en-US" dirty="0" err="1"/>
              <a:t>tem</a:t>
            </a:r>
            <a:r>
              <a:rPr lang="en-US" dirty="0"/>
              <a:t>:</a:t>
            </a:r>
          </a:p>
          <a:p>
            <a:pPr lvl="1">
              <a:buFont typeface="Wingdings" panose="05000000000000000000" pitchFamily="2" charset="2"/>
              <a:buChar char="§"/>
            </a:pPr>
            <a:r>
              <a:rPr lang="en-US" dirty="0" err="1"/>
              <a:t>Imagem</a:t>
            </a:r>
            <a:r>
              <a:rPr lang="en-US" dirty="0"/>
              <a:t> de entrada</a:t>
            </a:r>
          </a:p>
          <a:p>
            <a:pPr lvl="1">
              <a:buFont typeface="Wingdings" panose="05000000000000000000" pitchFamily="2" charset="2"/>
              <a:buChar char="§"/>
            </a:pPr>
            <a:r>
              <a:rPr lang="en-US" dirty="0"/>
              <a:t>Um </a:t>
            </a:r>
            <a:r>
              <a:rPr lang="en-US" dirty="0" err="1"/>
              <a:t>ou</a:t>
            </a:r>
            <a:r>
              <a:rPr lang="en-US" dirty="0"/>
              <a:t> </a:t>
            </a:r>
            <a:r>
              <a:rPr lang="en-US" dirty="0" err="1"/>
              <a:t>mais</a:t>
            </a:r>
            <a:r>
              <a:rPr lang="en-US" dirty="0"/>
              <a:t> </a:t>
            </a:r>
            <a:r>
              <a:rPr lang="en-US" dirty="0" err="1"/>
              <a:t>grupos</a:t>
            </a:r>
            <a:r>
              <a:rPr lang="en-US" dirty="0"/>
              <a:t> de</a:t>
            </a:r>
          </a:p>
          <a:p>
            <a:pPr lvl="2">
              <a:buFont typeface="Courier New" panose="02070309020205020404" pitchFamily="49" charset="0"/>
              <a:buChar char="o"/>
            </a:pPr>
            <a:r>
              <a:rPr lang="en-US" dirty="0" err="1"/>
              <a:t>Camadas</a:t>
            </a:r>
            <a:r>
              <a:rPr lang="en-US" dirty="0"/>
              <a:t> de </a:t>
            </a:r>
            <a:r>
              <a:rPr lang="en-US" dirty="0" err="1"/>
              <a:t>convolução</a:t>
            </a:r>
            <a:endParaRPr lang="en-US" dirty="0"/>
          </a:p>
          <a:p>
            <a:pPr lvl="2">
              <a:buFont typeface="Courier New" panose="02070309020205020404" pitchFamily="49" charset="0"/>
              <a:buChar char="o"/>
            </a:pPr>
            <a:r>
              <a:rPr lang="en-US" dirty="0" err="1"/>
              <a:t>Funções</a:t>
            </a:r>
            <a:r>
              <a:rPr lang="en-US" dirty="0"/>
              <a:t> de </a:t>
            </a:r>
            <a:r>
              <a:rPr lang="en-US" dirty="0" err="1"/>
              <a:t>ativação</a:t>
            </a:r>
            <a:endParaRPr lang="en-US" dirty="0"/>
          </a:p>
          <a:p>
            <a:pPr lvl="2">
              <a:buFont typeface="Courier New" panose="02070309020205020404" pitchFamily="49" charset="0"/>
              <a:buChar char="o"/>
            </a:pPr>
            <a:r>
              <a:rPr lang="en-US" dirty="0" err="1"/>
              <a:t>Camadas</a:t>
            </a:r>
            <a:r>
              <a:rPr lang="en-US" dirty="0"/>
              <a:t> de </a:t>
            </a:r>
            <a:r>
              <a:rPr lang="en-US" i="1" dirty="0"/>
              <a:t>pooling</a:t>
            </a:r>
            <a:endParaRPr lang="pt-BR" i="1" dirty="0"/>
          </a:p>
          <a:p>
            <a:pPr lvl="1">
              <a:buFont typeface="Wingdings" panose="05000000000000000000" pitchFamily="2" charset="2"/>
              <a:buChar char="§"/>
            </a:pPr>
            <a:r>
              <a:rPr lang="pt-BR" dirty="0"/>
              <a:t>Uma camada </a:t>
            </a:r>
            <a:r>
              <a:rPr lang="pt-BR" i="1" dirty="0" err="1"/>
              <a:t>flatten</a:t>
            </a:r>
            <a:endParaRPr lang="pt-BR" i="1" dirty="0"/>
          </a:p>
          <a:p>
            <a:pPr lvl="1">
              <a:buFont typeface="Wingdings" panose="05000000000000000000" pitchFamily="2" charset="2"/>
              <a:buChar char="§"/>
            </a:pPr>
            <a:r>
              <a:rPr lang="pt-BR" dirty="0"/>
              <a:t>Uma ou mais camadas totalmente conectadas</a:t>
            </a:r>
          </a:p>
          <a:p>
            <a:pPr lvl="1">
              <a:buFont typeface="Wingdings" panose="05000000000000000000" pitchFamily="2" charset="2"/>
              <a:buChar char="§"/>
            </a:pPr>
            <a:r>
              <a:rPr lang="pt-BR" dirty="0"/>
              <a:t>Uma função de ativação </a:t>
            </a:r>
            <a:r>
              <a:rPr lang="pt-BR" i="1" dirty="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48459"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253377" cy="5032375"/>
          </a:xfrm>
        </p:spPr>
        <p:txBody>
          <a:bodyPr>
            <a:normAutofit/>
          </a:bodyPr>
          <a:lstStyle/>
          <a:p>
            <a:r>
              <a:rPr lang="pt-BR" dirty="0"/>
              <a:t>Podemos agrupar as imagens em dois tipos: coloridas e em tons de cinza.</a:t>
            </a:r>
          </a:p>
          <a:p>
            <a:r>
              <a:rPr lang="pt-BR" dirty="0"/>
              <a:t>Em imagens coloridas, cada </a:t>
            </a:r>
            <a:r>
              <a:rPr lang="pt-BR" i="1" dirty="0"/>
              <a:t>pixel</a:t>
            </a:r>
            <a:r>
              <a:rPr lang="pt-BR" dirty="0"/>
              <a:t> possui três valores: vermelho (R), verde (G) e azul (B).</a:t>
            </a:r>
          </a:p>
          <a:p>
            <a:r>
              <a:rPr lang="pt-BR" dirty="0"/>
              <a:t>Elas possuem 3 dimensões:</a:t>
            </a:r>
          </a:p>
          <a:p>
            <a:pPr lvl="1">
              <a:buFont typeface="Wingdings" panose="05000000000000000000" pitchFamily="2" charset="2"/>
              <a:buChar char="§"/>
            </a:pPr>
            <a:r>
              <a:rPr lang="pt-BR" dirty="0"/>
              <a:t>altura × largura × 3 canais</a:t>
            </a:r>
          </a:p>
          <a:p>
            <a:pPr lvl="1">
              <a:buFont typeface="Wingdings" panose="05000000000000000000" pitchFamily="2" charset="2"/>
              <a:buChar char="§"/>
            </a:pPr>
            <a:r>
              <a:rPr lang="pt-BR" dirty="0"/>
              <a:t>Cada canal indicada a quantidade de cada cor.</a:t>
            </a:r>
          </a:p>
          <a:p>
            <a:r>
              <a:rPr lang="pt-BR" dirty="0"/>
              <a:t>Imagens em tons de cinza são bidimensionais:</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5824770" y="1825624"/>
            <a:ext cx="6367230" cy="5032375"/>
          </a:xfrm>
        </p:spPr>
        <p:txBody>
          <a:bodyPr>
            <a:normAutofit fontScale="92500" lnSpcReduction="20000"/>
          </a:bodyPr>
          <a:lstStyle/>
          <a:p>
            <a:r>
              <a:rPr lang="pt-BR" b="1" dirty="0">
                <a:solidFill>
                  <a:srgbClr val="FF0000"/>
                </a:solidFill>
              </a:rPr>
              <a:t>A camada de convolução é responsável por extrair características da entrada (imagem, áudio, etc.)</a:t>
            </a:r>
          </a:p>
          <a:p>
            <a:r>
              <a:rPr lang="pt-BR" b="1" dirty="0">
                <a:solidFill>
                  <a:srgbClr val="FF0000"/>
                </a:solidFill>
              </a:rPr>
              <a:t>Ela faz isso aplicando filtros (</a:t>
            </a:r>
            <a:r>
              <a:rPr lang="pt-BR" b="1" i="1" dirty="0">
                <a:solidFill>
                  <a:srgbClr val="FF0000"/>
                </a:solidFill>
              </a:rPr>
              <a:t>kernels</a:t>
            </a:r>
            <a:r>
              <a:rPr lang="pt-BR" b="1" dirty="0">
                <a:solidFill>
                  <a:srgbClr val="FF0000"/>
                </a:solidFill>
              </a:rPr>
              <a:t>) sobre os dados de entrada.</a:t>
            </a:r>
          </a:p>
          <a:p>
            <a:r>
              <a:rPr lang="pt-BR" b="1" dirty="0">
                <a:solidFill>
                  <a:srgbClr val="FF0000"/>
                </a:solidFill>
              </a:rPr>
              <a:t>Esse filtro:</a:t>
            </a:r>
          </a:p>
          <a:p>
            <a:r>
              <a:rPr lang="pt-BR" b="1" dirty="0">
                <a:solidFill>
                  <a:srgbClr val="FF0000"/>
                </a:solidFill>
              </a:rPr>
              <a:t>percorre a imagem</a:t>
            </a:r>
          </a:p>
          <a:p>
            <a:r>
              <a:rPr lang="pt-BR" b="1" dirty="0">
                <a:solidFill>
                  <a:srgbClr val="FF0000"/>
                </a:solidFill>
              </a:rPr>
              <a:t>multiplica valores locais</a:t>
            </a:r>
          </a:p>
          <a:p>
            <a:r>
              <a:rPr lang="pt-BR" b="1" dirty="0">
                <a:solidFill>
                  <a:srgbClr val="FF0000"/>
                </a:solidFill>
              </a:rPr>
              <a:t>soma os resultados</a:t>
            </a:r>
          </a:p>
          <a:p>
            <a:r>
              <a:rPr lang="pt-BR" b="1" dirty="0">
                <a:solidFill>
                  <a:srgbClr val="FF0000"/>
                </a:solidFill>
              </a:rPr>
              <a:t>gera um novo valor</a:t>
            </a:r>
          </a:p>
          <a:p>
            <a:r>
              <a:rPr lang="pt-BR" b="1" dirty="0">
                <a:solidFill>
                  <a:srgbClr val="FF0000"/>
                </a:solidFill>
              </a:rPr>
              <a:t>Esse processo é repetido por toda a imagem.</a:t>
            </a:r>
          </a:p>
          <a:p>
            <a:r>
              <a:rPr lang="pt-BR" b="1" dirty="0">
                <a:solidFill>
                  <a:srgbClr val="FF0000"/>
                </a:solidFill>
              </a:rPr>
              <a:t>👉 O resultado é um mapa de características (feature </a:t>
            </a:r>
            <a:r>
              <a:rPr lang="pt-BR" b="1" dirty="0" err="1">
                <a:solidFill>
                  <a:srgbClr val="FF0000"/>
                </a:solidFill>
              </a:rPr>
              <a:t>map</a:t>
            </a:r>
            <a:r>
              <a:rPr lang="pt-BR" b="1" dirty="0">
                <a:solidFill>
                  <a:srgbClr val="FF0000"/>
                </a:solidFill>
              </a:rPr>
              <a:t>).</a:t>
            </a:r>
          </a:p>
          <a:p>
            <a:endParaRPr lang="pt-BR" b="1" dirty="0">
              <a:solidFill>
                <a:srgbClr val="FF0000"/>
              </a:solidFill>
            </a:endParaRPr>
          </a:p>
        </p:txBody>
      </p:sp>
      <p:grpSp>
        <p:nvGrpSpPr>
          <p:cNvPr id="5" name="Group 4">
            <a:extLst>
              <a:ext uri="{FF2B5EF4-FFF2-40B4-BE49-F238E27FC236}">
                <a16:creationId xmlns:a16="http://schemas.microsoft.com/office/drawing/2014/main" id="{674323C5-E1CA-52A1-66C4-ABEDCED3482B}"/>
              </a:ext>
            </a:extLst>
          </p:cNvPr>
          <p:cNvGrpSpPr/>
          <p:nvPr/>
        </p:nvGrpSpPr>
        <p:grpSpPr>
          <a:xfrm>
            <a:off x="180794" y="2823587"/>
            <a:ext cx="4917071" cy="2568023"/>
            <a:chOff x="291326" y="2823587"/>
            <a:chExt cx="4917071" cy="2568023"/>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23587" y="5114611"/>
              <a:ext cx="579454" cy="276999"/>
            </a:xfrm>
            <a:prstGeom prst="rect">
              <a:avLst/>
            </a:prstGeom>
            <a:noFill/>
          </p:spPr>
          <p:txBody>
            <a:bodyPr wrap="none" rtlCol="0">
              <a:spAutoFit/>
            </a:bodyPr>
            <a:lstStyle/>
            <a:p>
              <a:r>
                <a:rPr lang="pt-BR" sz="1200" b="1" i="1" dirty="0"/>
                <a:t>kernel</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686098" y="1825624"/>
            <a:ext cx="6295696" cy="5032375"/>
          </a:xfrm>
        </p:spPr>
        <p:txBody>
          <a:bodyPr>
            <a:normAutofit/>
          </a:bodyPr>
          <a:lstStyle/>
          <a:p>
            <a:r>
              <a:rPr lang="pt-BR" dirty="0"/>
              <a:t>Um </a:t>
            </a:r>
            <a:r>
              <a:rPr lang="pt-BR" b="1" i="1" dirty="0">
                <a:solidFill>
                  <a:srgbClr val="7030A0"/>
                </a:solidFill>
                <a:effectLst/>
              </a:rPr>
              <a:t>kernel</a:t>
            </a:r>
            <a:r>
              <a:rPr lang="pt-BR" b="0" i="0" dirty="0">
                <a:effectLst/>
              </a:rPr>
              <a:t> é um tensor (em geral em 3D) responsável por </a:t>
            </a:r>
            <a:r>
              <a:rPr lang="pt-BR" b="1" i="1" dirty="0">
                <a:solidFill>
                  <a:srgbClr val="00B050"/>
                </a:solidFill>
                <a:effectLst/>
              </a:rPr>
              <a:t>detectar características específicas em uma imagem</a:t>
            </a:r>
            <a:r>
              <a:rPr lang="pt-BR" b="0" i="0" dirty="0">
                <a:effectLst/>
              </a:rPr>
              <a:t>.</a:t>
            </a:r>
          </a:p>
          <a:p>
            <a:r>
              <a:rPr lang="pt-BR" dirty="0"/>
              <a:t>Ele </a:t>
            </a:r>
            <a:r>
              <a:rPr lang="pt-BR" b="0" i="0" dirty="0">
                <a:effectLst/>
              </a:rPr>
              <a:t>percorre </a:t>
            </a:r>
            <a:r>
              <a:rPr lang="pt-BR" dirty="0"/>
              <a:t>uma</a:t>
            </a:r>
            <a:r>
              <a:rPr lang="pt-BR" b="0" i="0" dirty="0">
                <a:effectLst/>
              </a:rPr>
              <a:t> imagem e realiza </a:t>
            </a:r>
            <a:r>
              <a:rPr lang="pt-BR" b="1" i="1" dirty="0">
                <a:solidFill>
                  <a:srgbClr val="00B050"/>
                </a:solidFill>
                <a:effectLst/>
              </a:rPr>
              <a:t>operações convolução</a:t>
            </a:r>
            <a:r>
              <a:rPr lang="pt-BR" b="0" i="0" dirty="0">
                <a:effectLst/>
              </a:rPr>
              <a:t> entre seus valores e os dos </a:t>
            </a:r>
            <a:r>
              <a:rPr lang="pt-BR" b="0" i="1" dirty="0">
                <a:effectLst/>
              </a:rPr>
              <a:t>pixels</a:t>
            </a:r>
            <a:r>
              <a:rPr lang="pt-BR" b="0" i="0" dirty="0">
                <a:effectLst/>
              </a:rPr>
              <a:t> na região da imagem correspondente ao seu</a:t>
            </a:r>
            <a:r>
              <a:rPr lang="pt-BR" dirty="0"/>
              <a:t> </a:t>
            </a:r>
            <a:r>
              <a:rPr lang="pt-BR" b="1" i="1" dirty="0">
                <a:solidFill>
                  <a:srgbClr val="00B050"/>
                </a:solidFill>
                <a:effectLst/>
              </a:rPr>
              <a:t>campo receptivo</a:t>
            </a:r>
            <a:r>
              <a:rPr lang="pt-BR" b="0" i="0" dirty="0">
                <a:effectLst/>
              </a:rPr>
              <a:t>.</a:t>
            </a: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801710" y="1825624"/>
            <a:ext cx="6180083" cy="5032375"/>
          </a:xfrm>
        </p:spPr>
        <p:txBody>
          <a:bodyPr>
            <a:normAutofit/>
          </a:bodyPr>
          <a:lstStyle/>
          <a:p>
            <a:r>
              <a:rPr lang="pt-BR" b="0" i="0" dirty="0">
                <a:effectLst/>
              </a:rPr>
              <a:t>Cada </a:t>
            </a:r>
            <a:r>
              <a:rPr lang="pt-BR" b="1" i="1" dirty="0">
                <a:effectLst/>
              </a:rPr>
              <a:t>kernel</a:t>
            </a:r>
            <a:r>
              <a:rPr lang="pt-BR" b="0" i="0" dirty="0">
                <a:effectLst/>
              </a:rPr>
              <a:t> </a:t>
            </a:r>
            <a:r>
              <a:rPr lang="pt-BR" b="1" i="1" dirty="0">
                <a:solidFill>
                  <a:srgbClr val="00B050"/>
                </a:solidFill>
                <a:effectLst/>
              </a:rPr>
              <a:t>detecta um tipo particular de característica</a:t>
            </a:r>
            <a:r>
              <a:rPr lang="pt-BR" b="0" i="0" dirty="0">
                <a:effectLst/>
              </a:rPr>
              <a:t>, como bordas, texturas, padrões ou partes específicas de objetos. </a:t>
            </a:r>
          </a:p>
          <a:p>
            <a:r>
              <a:rPr lang="pt-BR" b="0" i="0" dirty="0">
                <a:effectLst/>
              </a:rPr>
              <a:t>Os </a:t>
            </a:r>
            <a:r>
              <a:rPr lang="pt-BR" b="1" i="1" dirty="0">
                <a:effectLst/>
              </a:rPr>
              <a:t>kernels</a:t>
            </a:r>
            <a:r>
              <a:rPr lang="pt-BR" b="0" i="0" dirty="0">
                <a:effectLst/>
              </a:rPr>
              <a:t> </a:t>
            </a:r>
            <a:r>
              <a:rPr lang="pt-BR" b="1" i="1" dirty="0">
                <a:solidFill>
                  <a:srgbClr val="7030A0"/>
                </a:solidFill>
                <a:effectLst/>
              </a:rPr>
              <a:t>aprendem</a:t>
            </a:r>
            <a:r>
              <a:rPr lang="pt-BR" b="0" i="0" dirty="0">
                <a:effectLst/>
              </a:rPr>
              <a:t> a </a:t>
            </a:r>
            <a:r>
              <a:rPr lang="pt-BR" b="1" i="1" dirty="0">
                <a:solidFill>
                  <a:srgbClr val="00B050"/>
                </a:solidFill>
                <a:effectLst/>
              </a:rPr>
              <a:t>detectar</a:t>
            </a:r>
            <a:r>
              <a:rPr lang="pt-BR" b="0" i="0" dirty="0">
                <a:effectLst/>
              </a:rPr>
              <a:t> as características mais relevantes para a tarefa específica em mãos.</a:t>
            </a:r>
          </a:p>
          <a:p>
            <a:pPr lvl="1">
              <a:buFont typeface="Wingdings" panose="05000000000000000000" pitchFamily="2" charset="2"/>
              <a:buChar char="§"/>
            </a:pPr>
            <a:r>
              <a:rPr lang="pt-BR" b="0" i="0" dirty="0">
                <a:effectLst/>
              </a:rPr>
              <a:t>Eles </a:t>
            </a:r>
            <a:r>
              <a:rPr lang="pt-BR" b="1" i="1" dirty="0">
                <a:effectLst/>
              </a:rPr>
              <a:t>aprendem</a:t>
            </a:r>
            <a:r>
              <a:rPr lang="pt-BR" b="0" i="0" dirty="0">
                <a:effectLst/>
              </a:rPr>
              <a:t>, a partir do </a:t>
            </a:r>
            <a:r>
              <a:rPr lang="pt-BR" b="1" i="1" dirty="0">
                <a:effectLst/>
              </a:rPr>
              <a:t>conjunto de treinamento</a:t>
            </a:r>
            <a:r>
              <a:rPr lang="pt-BR" b="0" i="0" dirty="0">
                <a:effectLst/>
              </a:rPr>
              <a:t>, os valores dos </a:t>
            </a:r>
            <a:r>
              <a:rPr lang="pt-BR" b="1" i="1" dirty="0">
                <a:effectLst/>
              </a:rPr>
              <a:t>elementos do tensor</a:t>
            </a:r>
            <a:r>
              <a:rPr lang="pt-BR" b="0" i="0" dirty="0">
                <a:effectLst/>
              </a:rPr>
              <a:t>, necessários para </a:t>
            </a:r>
            <a:r>
              <a:rPr lang="pt-BR" b="1" i="1" dirty="0">
                <a:effectLst/>
              </a:rPr>
              <a:t>detectar um determinada característica</a:t>
            </a:r>
            <a:r>
              <a:rPr lang="pt-BR" b="0" i="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chamada de </a:t>
                </a:r>
                <a:r>
                  <a:rPr lang="pt-BR" b="1" i="1" dirty="0">
                    <a:solidFill>
                      <a:srgbClr val="7030A0"/>
                    </a:solidFill>
                  </a:rPr>
                  <a:t>feature </a:t>
                </a:r>
                <a:r>
                  <a:rPr lang="pt-BR" b="1" i="1" dirty="0" err="1">
                    <a:solidFill>
                      <a:srgbClr val="7030A0"/>
                    </a:solidFill>
                  </a:rPr>
                  <a:t>map</a:t>
                </a:r>
                <a:r>
                  <a:rPr lang="pt-BR" b="1" i="1" dirty="0"/>
                  <a:t> </a:t>
                </a:r>
                <a:r>
                  <a:rPr lang="pt-BR" dirty="0"/>
                  <a:t>ou </a:t>
                </a:r>
                <a:r>
                  <a:rPr lang="pt-BR" b="1" i="1" dirty="0">
                    <a:solidFill>
                      <a:srgbClr val="7030A0"/>
                    </a:solidFill>
                  </a:rPr>
                  <a:t>mapa de características</a:t>
                </a:r>
                <a:r>
                  <a:rPr lang="pt-BR" i="1" dirty="0"/>
                  <a:t>.</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 </a:t>
            </a:r>
            <a:r>
              <a:rPr lang="pt-BR" b="1" i="1" dirty="0"/>
              <a:t>janela de convolução</a:t>
            </a:r>
            <a:r>
              <a:rPr lang="pt-BR" dirty="0"/>
              <a:t> 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i="1" dirty="0">
                <a:solidFill>
                  <a:srgbClr val="7030A0"/>
                </a:solidFill>
              </a:rPr>
              <a:t>objetivo</a:t>
            </a:r>
            <a:r>
              <a:rPr lang="pt-BR" dirty="0"/>
              <a:t> dos </a:t>
            </a:r>
            <a:r>
              <a:rPr lang="pt-BR" b="1" i="1" dirty="0">
                <a:solidFill>
                  <a:srgbClr val="00B050"/>
                </a:solidFill>
              </a:rPr>
              <a:t>kernels</a:t>
            </a:r>
            <a:r>
              <a:rPr lang="pt-BR" dirty="0"/>
              <a:t> é </a:t>
            </a:r>
            <a:r>
              <a:rPr lang="pt-BR" b="1" i="1" dirty="0">
                <a:solidFill>
                  <a:srgbClr val="7030A0"/>
                </a:solidFill>
              </a:rPr>
              <a:t>extrair características</a:t>
            </a:r>
            <a:r>
              <a:rPr lang="pt-BR" dirty="0"/>
              <a:t>.</a:t>
            </a:r>
          </a:p>
          <a:p>
            <a:r>
              <a:rPr lang="pt-BR" dirty="0"/>
              <a:t>Portanto, o resultado da operação de convolução é chamado de </a:t>
            </a:r>
            <a:r>
              <a:rPr lang="pt-BR" b="1" i="1" dirty="0">
                <a:solidFill>
                  <a:schemeClr val="accent2"/>
                </a:solidFill>
              </a:rPr>
              <a:t>mapa de características</a:t>
            </a:r>
            <a:r>
              <a:rPr lang="pt-BR" b="1" i="1" dirty="0"/>
              <a:t> ou de ativação.</a:t>
            </a:r>
            <a:endParaRPr lang="pt-BR" dirty="0"/>
          </a:p>
          <a:p>
            <a:r>
              <a:rPr lang="pt-BR" dirty="0"/>
              <a:t>É chamado assim, pois </a:t>
            </a:r>
            <a:r>
              <a:rPr lang="pt-BR" b="1" i="1" dirty="0">
                <a:solidFill>
                  <a:srgbClr val="00B050"/>
                </a:solidFill>
              </a:rPr>
              <a:t>fornece as respostas/ativações desse filtro em cada posição espacial</a:t>
            </a:r>
            <a:r>
              <a:rPr lang="pt-BR" dirty="0"/>
              <a:t> da imagem.</a:t>
            </a:r>
          </a:p>
          <a:p>
            <a:r>
              <a:rPr lang="pt-BR" dirty="0"/>
              <a:t>Ele mostra </a:t>
            </a:r>
            <a:r>
              <a:rPr lang="pt-BR" b="1" i="1" dirty="0">
                <a:solidFill>
                  <a:schemeClr val="accent2"/>
                </a:solidFill>
              </a:rPr>
              <a:t>onde</a:t>
            </a:r>
            <a:r>
              <a:rPr lang="pt-BR" dirty="0"/>
              <a:t> e com que </a:t>
            </a:r>
            <a:r>
              <a:rPr lang="pt-BR" b="1" i="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i="1" dirty="0">
                <a:solidFill>
                  <a:srgbClr val="00B050"/>
                </a:solidFill>
              </a:rPr>
              <a:t>eficiência computacional</a:t>
            </a:r>
            <a:r>
              <a:rPr lang="pt-BR" dirty="0"/>
              <a:t> ou porque desejamos </a:t>
            </a:r>
            <a:r>
              <a:rPr lang="pt-BR" b="1" i="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F93526-2643-38B3-0F79-2A58A0F30784}"/>
              </a:ext>
            </a:extLst>
          </p:cNvPr>
          <p:cNvSpPr>
            <a:spLocks noGrp="1"/>
          </p:cNvSpPr>
          <p:nvPr>
            <p:ph type="title"/>
          </p:nvPr>
        </p:nvSpPr>
        <p:spPr/>
        <p:txBody>
          <a:bodyPr/>
          <a:lstStyle/>
          <a:p>
            <a:r>
              <a:rPr lang="pt-BR" dirty="0"/>
              <a:t>Convolução ou correlação cruzada?</a:t>
            </a:r>
          </a:p>
        </p:txBody>
      </p:sp>
      <p:sp>
        <p:nvSpPr>
          <p:cNvPr id="3" name="Espaço Reservado para Conteúdo 2">
            <a:extLst>
              <a:ext uri="{FF2B5EF4-FFF2-40B4-BE49-F238E27FC236}">
                <a16:creationId xmlns:a16="http://schemas.microsoft.com/office/drawing/2014/main" id="{F2D259D8-2FCF-3974-1561-D1364A9EC8C6}"/>
              </a:ext>
            </a:extLst>
          </p:cNvPr>
          <p:cNvSpPr>
            <a:spLocks noGrp="1"/>
          </p:cNvSpPr>
          <p:nvPr>
            <p:ph idx="1"/>
          </p:nvPr>
        </p:nvSpPr>
        <p:spPr>
          <a:xfrm>
            <a:off x="5485461" y="1825624"/>
            <a:ext cx="6556345" cy="5032375"/>
          </a:xfrm>
        </p:spPr>
        <p:txBody>
          <a:bodyPr>
            <a:normAutofit lnSpcReduction="10000"/>
          </a:bodyPr>
          <a:lstStyle/>
          <a:p>
            <a:r>
              <a:rPr lang="pt-BR" b="0" i="0" dirty="0">
                <a:effectLst/>
              </a:rPr>
              <a:t>As operações em uma CNN, embora sejam chamadas de convoluções, são implementadas como </a:t>
            </a:r>
            <a:r>
              <a:rPr lang="pt-BR" b="1" i="1" dirty="0">
                <a:solidFill>
                  <a:srgbClr val="00B050"/>
                </a:solidFill>
                <a:effectLst/>
              </a:rPr>
              <a:t>correlações cruzadas</a:t>
            </a:r>
            <a:r>
              <a:rPr lang="pt-BR" b="0" i="0" dirty="0">
                <a:effectLst/>
              </a:rPr>
              <a:t> na maioria das bibliotecas.</a:t>
            </a:r>
          </a:p>
          <a:p>
            <a:pPr lvl="1">
              <a:buFont typeface="Wingdings" panose="05000000000000000000" pitchFamily="2" charset="2"/>
              <a:buChar char="§"/>
            </a:pPr>
            <a:r>
              <a:rPr lang="pt-BR" b="0" i="0" dirty="0">
                <a:effectLst/>
              </a:rPr>
              <a:t>Correlações</a:t>
            </a:r>
            <a:r>
              <a:rPr lang="pt-BR" dirty="0"/>
              <a:t> são</a:t>
            </a:r>
            <a:r>
              <a:rPr lang="pt-BR" b="0" i="0" dirty="0">
                <a:effectLst/>
              </a:rPr>
              <a:t> mais </a:t>
            </a:r>
            <a:r>
              <a:rPr lang="pt-BR" b="1" i="1" dirty="0">
                <a:solidFill>
                  <a:srgbClr val="00B050"/>
                </a:solidFill>
                <a:effectLst/>
              </a:rPr>
              <a:t>eficientes</a:t>
            </a:r>
            <a:r>
              <a:rPr lang="pt-BR" b="0" i="0" dirty="0">
                <a:effectLst/>
              </a:rPr>
              <a:t> (sem inversã</a:t>
            </a:r>
            <a:r>
              <a:rPr lang="pt-BR" dirty="0"/>
              <a:t>o) </a:t>
            </a:r>
            <a:r>
              <a:rPr lang="pt-BR" b="1" i="1" dirty="0">
                <a:solidFill>
                  <a:srgbClr val="00B050"/>
                </a:solidFill>
                <a:effectLst/>
              </a:rPr>
              <a:t>e simples de serem implementadas</a:t>
            </a:r>
            <a:r>
              <a:rPr lang="pt-BR" b="0" i="0" dirty="0">
                <a:effectLst/>
              </a:rPr>
              <a:t>.</a:t>
            </a:r>
          </a:p>
          <a:p>
            <a:r>
              <a:rPr lang="pt-BR" b="0" i="0" dirty="0">
                <a:effectLst/>
              </a:rPr>
              <a:t>Ao contrário da operação de convolução, as </a:t>
            </a:r>
            <a:r>
              <a:rPr lang="pt-BR" b="0" i="0" dirty="0" err="1">
                <a:effectLst/>
              </a:rPr>
              <a:t>CNNs</a:t>
            </a:r>
            <a:r>
              <a:rPr lang="pt-BR" b="0" i="0" dirty="0">
                <a:effectLst/>
              </a:rPr>
              <a:t> </a:t>
            </a:r>
            <a:r>
              <a:rPr lang="pt-BR" b="1" i="1" dirty="0">
                <a:solidFill>
                  <a:srgbClr val="00B050"/>
                </a:solidFill>
                <a:effectLst/>
              </a:rPr>
              <a:t>não invertem o kernel </a:t>
            </a:r>
            <a:r>
              <a:rPr lang="pt-BR" dirty="0">
                <a:effectLst/>
              </a:rPr>
              <a:t>(ou o sinal de entrada)</a:t>
            </a:r>
            <a:r>
              <a:rPr lang="pt-BR" b="0" i="0" dirty="0">
                <a:effectLst/>
              </a:rPr>
              <a:t>.</a:t>
            </a:r>
          </a:p>
          <a:p>
            <a:r>
              <a:rPr lang="pt-BR" dirty="0"/>
              <a:t>Porém</a:t>
            </a:r>
            <a:r>
              <a:rPr lang="pt-BR" b="0" i="0" dirty="0">
                <a:effectLst/>
              </a:rPr>
              <a:t>, </a:t>
            </a:r>
            <a:r>
              <a:rPr lang="pt-BR" b="1" i="1" dirty="0">
                <a:solidFill>
                  <a:srgbClr val="00B050"/>
                </a:solidFill>
                <a:effectLst/>
              </a:rPr>
              <a:t>isso não importa</a:t>
            </a:r>
            <a:r>
              <a:rPr lang="pt-BR" b="0" i="0" dirty="0">
                <a:effectLst/>
              </a:rPr>
              <a:t>, pois os </a:t>
            </a:r>
            <a:r>
              <a:rPr lang="pt-BR" b="1" i="1" dirty="0">
                <a:solidFill>
                  <a:srgbClr val="7030A0"/>
                </a:solidFill>
                <a:effectLst/>
              </a:rPr>
              <a:t>kernels</a:t>
            </a:r>
            <a:r>
              <a:rPr lang="pt-BR" b="0" i="0" dirty="0">
                <a:effectLst/>
              </a:rPr>
              <a:t> são </a:t>
            </a:r>
            <a:r>
              <a:rPr lang="pt-BR" b="1" i="1" dirty="0">
                <a:solidFill>
                  <a:srgbClr val="00B050"/>
                </a:solidFill>
                <a:effectLst/>
              </a:rPr>
              <a:t>aprendidos</a:t>
            </a:r>
            <a:r>
              <a:rPr lang="pt-BR" b="0" i="0" dirty="0">
                <a:effectLst/>
              </a:rPr>
              <a:t> e podem se adaptar tanto à correlação cruzada quanto à convolução</a:t>
            </a:r>
            <a:r>
              <a:rPr lang="pt-BR" dirty="0"/>
              <a:t>.</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DB03602D-C752-319A-4E0C-B2FB849B25E9}"/>
                  </a:ext>
                </a:extLst>
              </p:cNvPr>
              <p:cNvSpPr txBox="1"/>
              <p:nvPr/>
            </p:nvSpPr>
            <p:spPr>
              <a:xfrm>
                <a:off x="273481" y="4341811"/>
                <a:ext cx="6095998" cy="155882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m:rPr>
                          <m:sty m:val="p"/>
                        </m:rPr>
                        <a:rPr lang="pt-BR" sz="2800" b="0" i="0" smtClean="0">
                          <a:latin typeface="Cambria Math" panose="02040503050406030204" pitchFamily="18" charset="0"/>
                        </a:rPr>
                        <m:t>O</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b="0" i="1" smtClean="0">
                          <a:latin typeface="Cambria Math" panose="02040503050406030204" pitchFamily="18" charset="0"/>
                        </a:rPr>
                        <m:t>  </m:t>
                      </m:r>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5" name="CaixaDeTexto 4">
                <a:extLst>
                  <a:ext uri="{FF2B5EF4-FFF2-40B4-BE49-F238E27FC236}">
                    <a16:creationId xmlns:a16="http://schemas.microsoft.com/office/drawing/2014/main" id="{DB03602D-C752-319A-4E0C-B2FB849B25E9}"/>
                  </a:ext>
                </a:extLst>
              </p:cNvPr>
              <p:cNvSpPr txBox="1">
                <a:spLocks noRot="1" noChangeAspect="1" noMove="1" noResize="1" noEditPoints="1" noAdjustHandles="1" noChangeArrowheads="1" noChangeShapeType="1" noTextEdit="1"/>
              </p:cNvSpPr>
              <p:nvPr/>
            </p:nvSpPr>
            <p:spPr>
              <a:xfrm>
                <a:off x="273481" y="4341811"/>
                <a:ext cx="6095998" cy="1558825"/>
              </a:xfrm>
              <a:prstGeom prst="rect">
                <a:avLst/>
              </a:prstGeom>
              <a:blipFill>
                <a:blip r:embed="rId3"/>
                <a:stretch>
                  <a:fillRect l="-5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7F322521-45CB-3869-26AB-BCD9F5D5693B}"/>
                  </a:ext>
                </a:extLst>
              </p:cNvPr>
              <p:cNvSpPr txBox="1"/>
              <p:nvPr/>
            </p:nvSpPr>
            <p:spPr>
              <a:xfrm>
                <a:off x="391722" y="1943160"/>
                <a:ext cx="6095999" cy="1558825"/>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r>
                        <a:rPr lang="pt-BR" sz="2800" i="1">
                          <a:latin typeface="Cambria Math" panose="02040503050406030204" pitchFamily="18" charset="0"/>
                        </a:rPr>
                        <m:t>𝐾</m:t>
                      </m:r>
                      <m:d>
                        <m:dPr>
                          <m:ctrlPr>
                            <a:rPr lang="pt-BR" sz="2800" i="1">
                              <a:latin typeface="Cambria Math" panose="02040503050406030204" pitchFamily="18" charset="0"/>
                            </a:rPr>
                          </m:ctrlPr>
                        </m:dPr>
                        <m:e>
                          <m:r>
                            <a:rPr lang="pt-BR" sz="2800" i="1">
                              <a:latin typeface="Cambria Math" panose="02040503050406030204" pitchFamily="18" charset="0"/>
                            </a:rPr>
                            <m:t>𝑖</m:t>
                          </m:r>
                        </m:e>
                      </m:d>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𝐼</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𝑗</m:t>
                          </m:r>
                        </m:e>
                      </m:d>
                      <m:r>
                        <a:rPr lang="pt-BR" sz="2800" i="1">
                          <a:latin typeface="Cambria Math" panose="02040503050406030204" pitchFamily="18" charset="0"/>
                          <a:ea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9" name="CaixaDeTexto 8">
                <a:extLst>
                  <a:ext uri="{FF2B5EF4-FFF2-40B4-BE49-F238E27FC236}">
                    <a16:creationId xmlns:a16="http://schemas.microsoft.com/office/drawing/2014/main" id="{7F322521-45CB-3869-26AB-BCD9F5D5693B}"/>
                  </a:ext>
                </a:extLst>
              </p:cNvPr>
              <p:cNvSpPr txBox="1">
                <a:spLocks noRot="1" noChangeAspect="1" noMove="1" noResize="1" noEditPoints="1" noAdjustHandles="1" noChangeArrowheads="1" noChangeShapeType="1" noTextEdit="1"/>
              </p:cNvSpPr>
              <p:nvPr/>
            </p:nvSpPr>
            <p:spPr>
              <a:xfrm>
                <a:off x="391722" y="1943160"/>
                <a:ext cx="6095999" cy="1558825"/>
              </a:xfrm>
              <a:prstGeom prst="rect">
                <a:avLst/>
              </a:prstGeom>
              <a:blipFill>
                <a:blip r:embed="rId4"/>
                <a:stretch>
                  <a:fillRect l="-500"/>
                </a:stretch>
              </a:blipFill>
            </p:spPr>
            <p:txBody>
              <a:bodyPr/>
              <a:lstStyle/>
              <a:p>
                <a:r>
                  <a:rPr lang="pt-BR">
                    <a:noFill/>
                  </a:rPr>
                  <a:t> </a:t>
                </a:r>
              </a:p>
            </p:txBody>
          </p:sp>
        </mc:Fallback>
      </mc:AlternateContent>
      <p:sp>
        <p:nvSpPr>
          <p:cNvPr id="4" name="Chave Esquerda 3">
            <a:extLst>
              <a:ext uri="{FF2B5EF4-FFF2-40B4-BE49-F238E27FC236}">
                <a16:creationId xmlns:a16="http://schemas.microsoft.com/office/drawing/2014/main" id="{BDAD0916-6546-14FF-9C8D-5390D356A83F}"/>
              </a:ext>
            </a:extLst>
          </p:cNvPr>
          <p:cNvSpPr/>
          <p:nvPr/>
        </p:nvSpPr>
        <p:spPr>
          <a:xfrm rot="16200000">
            <a:off x="2672103" y="1212215"/>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a16="http://schemas.microsoft.com/office/drawing/2014/main" id="{9E0047B6-B460-555E-A0C6-4578190E1737}"/>
              </a:ext>
            </a:extLst>
          </p:cNvPr>
          <p:cNvSpPr txBox="1"/>
          <p:nvPr/>
        </p:nvSpPr>
        <p:spPr>
          <a:xfrm>
            <a:off x="391722" y="3768746"/>
            <a:ext cx="4929356" cy="369332"/>
          </a:xfrm>
          <a:prstGeom prst="rect">
            <a:avLst/>
          </a:prstGeom>
          <a:noFill/>
        </p:spPr>
        <p:txBody>
          <a:bodyPr wrap="square" rtlCol="0">
            <a:spAutoFit/>
          </a:bodyPr>
          <a:lstStyle/>
          <a:p>
            <a:pPr algn="ctr"/>
            <a:r>
              <a:rPr lang="pt-BR" b="1" dirty="0">
                <a:solidFill>
                  <a:schemeClr val="accent2"/>
                </a:solidFill>
              </a:rPr>
              <a:t>Convolução</a:t>
            </a:r>
          </a:p>
        </p:txBody>
      </p:sp>
      <p:sp>
        <p:nvSpPr>
          <p:cNvPr id="7" name="Chave Esquerda 6">
            <a:extLst>
              <a:ext uri="{FF2B5EF4-FFF2-40B4-BE49-F238E27FC236}">
                <a16:creationId xmlns:a16="http://schemas.microsoft.com/office/drawing/2014/main" id="{41252DA0-FF01-2733-F699-602C97C6C0A4}"/>
              </a:ext>
            </a:extLst>
          </p:cNvPr>
          <p:cNvSpPr/>
          <p:nvPr/>
        </p:nvSpPr>
        <p:spPr>
          <a:xfrm rot="16200000">
            <a:off x="2553862" y="3640060"/>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8" name="CaixaDeTexto 7">
            <a:extLst>
              <a:ext uri="{FF2B5EF4-FFF2-40B4-BE49-F238E27FC236}">
                <a16:creationId xmlns:a16="http://schemas.microsoft.com/office/drawing/2014/main" id="{1ABE3302-5259-399A-0E22-12ACD8479E69}"/>
              </a:ext>
            </a:extLst>
          </p:cNvPr>
          <p:cNvSpPr txBox="1"/>
          <p:nvPr/>
        </p:nvSpPr>
        <p:spPr>
          <a:xfrm>
            <a:off x="273481" y="6196591"/>
            <a:ext cx="4929356" cy="369332"/>
          </a:xfrm>
          <a:prstGeom prst="rect">
            <a:avLst/>
          </a:prstGeom>
          <a:noFill/>
        </p:spPr>
        <p:txBody>
          <a:bodyPr wrap="square" rtlCol="0">
            <a:spAutoFit/>
          </a:bodyPr>
          <a:lstStyle/>
          <a:p>
            <a:pPr algn="ctr"/>
            <a:r>
              <a:rPr lang="pt-BR" b="1" dirty="0">
                <a:solidFill>
                  <a:schemeClr val="accent2"/>
                </a:solidFill>
              </a:rPr>
              <a:t>Correlação cruzada</a:t>
            </a:r>
          </a:p>
        </p:txBody>
      </p:sp>
    </p:spTree>
    <p:extLst>
      <p:ext uri="{BB962C8B-B14F-4D97-AF65-F5344CB8AC3E}">
        <p14:creationId xmlns:p14="http://schemas.microsoft.com/office/powerpoint/2010/main" val="5099937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i="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37376" y="1825624"/>
                <a:ext cx="5659375" cy="5032375"/>
              </a:xfrm>
            </p:spPr>
            <p:txBody>
              <a:bodyPr>
                <a:normAutofit/>
              </a:bodyPr>
              <a:lstStyle/>
              <a:p>
                <a:r>
                  <a:rPr lang="pt-BR" dirty="0"/>
                  <a:t>Em geral, cada </a:t>
                </a:r>
                <a:r>
                  <a:rPr lang="pt-BR" b="1" i="1" dirty="0">
                    <a:solidFill>
                      <a:srgbClr val="00B050"/>
                    </a:solidFill>
                  </a:rPr>
                  <a:t>camada convolucional possui </a:t>
                </a:r>
                <a:r>
                  <a:rPr lang="pt-BR" b="1" i="1" dirty="0">
                    <a:solidFill>
                      <a:srgbClr val="7030A0"/>
                    </a:solidFill>
                  </a:rPr>
                  <a:t>vários</a:t>
                </a:r>
                <a:r>
                  <a:rPr lang="pt-BR" b="1" i="1" dirty="0">
                    <a:solidFill>
                      <a:srgbClr val="00B050"/>
                    </a:solidFill>
                  </a:rPr>
                  <a:t> kernels</a:t>
                </a:r>
                <a:r>
                  <a:rPr lang="pt-BR" dirty="0"/>
                  <a:t>.</a:t>
                </a:r>
              </a:p>
              <a:p>
                <a:r>
                  <a:rPr lang="pt-BR" dirty="0"/>
                  <a:t>Cada </a:t>
                </a:r>
                <a:r>
                  <a:rPr lang="pt-BR" b="1" dirty="0">
                    <a:solidFill>
                      <a:srgbClr val="7030A0"/>
                    </a:solidFill>
                  </a:rPr>
                  <a:t>kernel detecta uma característica diferente</a:t>
                </a:r>
                <a:r>
                  <a:rPr lang="pt-BR" dirty="0"/>
                  <a:t>.</a:t>
                </a:r>
              </a:p>
              <a:p>
                <a:r>
                  <a:rPr lang="pt-BR" dirty="0"/>
                  <a:t>O resultado da convolução tem um valor de </a:t>
                </a:r>
                <a:r>
                  <a:rPr lang="pt-BR" i="1" dirty="0"/>
                  <a:t>bias</a:t>
                </a:r>
                <a:r>
                  <a:rPr lang="pt-BR" dirty="0"/>
                  <a:t> somado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(e.g., ReLU).</a:t>
                </a:r>
              </a:p>
              <a:p>
                <a:r>
                  <a:rPr lang="pt-BR" dirty="0"/>
                  <a:t>A saída da camada é o resultado do </a:t>
                </a:r>
                <a:r>
                  <a:rPr lang="pt-BR" b="1" i="1" dirty="0">
                    <a:solidFill>
                      <a:schemeClr val="accent2"/>
                    </a:solidFill>
                  </a:rPr>
                  <a:t>empilhamento</a:t>
                </a:r>
                <a:r>
                  <a:rPr lang="pt-BR" b="1" i="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659375" cy="5032375"/>
              </a:xfrm>
              <a:blipFill rotWithShape="0">
                <a:blip r:embed="rId3"/>
                <a:stretch>
                  <a:fillRect l="-1940" t="-1937" r="-1724"/>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829425" y="1825624"/>
            <a:ext cx="5267326" cy="5032375"/>
          </a:xfrm>
        </p:spPr>
        <p:txBody>
          <a:bodyPr>
            <a:normAutofit/>
          </a:bodyPr>
          <a:lstStyle/>
          <a:p>
            <a:r>
              <a:rPr lang="pt-BR" dirty="0"/>
              <a:t>A saída de uma camada de convolução é chamada de </a:t>
            </a:r>
            <a:r>
              <a:rPr lang="pt-BR" b="1" i="1" dirty="0">
                <a:solidFill>
                  <a:srgbClr val="00B050"/>
                </a:solidFill>
              </a:rPr>
              <a:t>mapa de características (ou ativações)</a:t>
            </a:r>
            <a:r>
              <a:rPr lang="pt-BR" dirty="0"/>
              <a:t>.</a:t>
            </a:r>
          </a:p>
          <a:p>
            <a:r>
              <a:rPr lang="pt-BR" dirty="0"/>
              <a:t>Ele é o resultado da aplicação das operações</a:t>
            </a:r>
            <a:r>
              <a:rPr lang="pt-BR" b="0" i="0" dirty="0">
                <a:effectLst/>
              </a:rPr>
              <a:t> de </a:t>
            </a:r>
            <a:r>
              <a:rPr lang="pt-BR" b="0" i="0" dirty="0" err="1">
                <a:effectLst/>
              </a:rPr>
              <a:t>convolução</a:t>
            </a:r>
            <a:r>
              <a:rPr lang="pt-BR" b="0" i="0" dirty="0">
                <a:effectLst/>
              </a:rPr>
              <a:t> e ativação </a:t>
            </a:r>
            <a:r>
              <a:rPr lang="pt-BR" b="1" i="1" dirty="0">
                <a:solidFill>
                  <a:srgbClr val="00B050"/>
                </a:solidFill>
              </a:rPr>
              <a:t>a</a:t>
            </a:r>
            <a:r>
              <a:rPr lang="pt-BR" b="1" i="1" dirty="0">
                <a:solidFill>
                  <a:srgbClr val="00B050"/>
                </a:solidFill>
                <a:effectLst/>
              </a:rPr>
              <a:t> cada trecho da entrada da camada</a:t>
            </a:r>
            <a:r>
              <a:rPr lang="pt-BR" dirty="0">
                <a:effectLst/>
              </a:rPr>
              <a:t> (e.g., imagem)</a:t>
            </a:r>
            <a:r>
              <a:rPr lang="pt-BR" b="0" i="0" dirty="0">
                <a:effectLst/>
              </a:rPr>
              <a:t>.</a:t>
            </a:r>
          </a:p>
          <a:p>
            <a:r>
              <a:rPr lang="pt-BR" dirty="0"/>
              <a:t>A saída do bloco é obtida aplicando-se uma operação de </a:t>
            </a:r>
            <a:r>
              <a:rPr lang="pt-BR" b="1" i="1" dirty="0" err="1">
                <a:solidFill>
                  <a:schemeClr val="accent2"/>
                </a:solidFill>
              </a:rPr>
              <a:t>subamostragem</a:t>
            </a:r>
            <a:r>
              <a:rPr lang="pt-BR" dirty="0">
                <a:solidFill>
                  <a:schemeClr val="accent2"/>
                </a:solidFill>
              </a:rPr>
              <a:t> </a:t>
            </a:r>
            <a:r>
              <a:rPr lang="pt-BR" dirty="0"/>
              <a:t>ao mapa de características</a:t>
            </a:r>
            <a:r>
              <a:rPr lang="pt-BR" b="0" i="0" dirty="0">
                <a:effectLst/>
              </a:rPr>
              <a:t>.</a:t>
            </a:r>
          </a:p>
        </p:txBody>
      </p:sp>
      <p:pic>
        <p:nvPicPr>
          <p:cNvPr id="1026" name="Picture 2" descr="Understanding Convolutional Neural Network: A Complete Guide">
            <a:extLst>
              <a:ext uri="{FF2B5EF4-FFF2-40B4-BE49-F238E27FC236}">
                <a16:creationId xmlns:a16="http://schemas.microsoft.com/office/drawing/2014/main" id="{AED33207-2232-940E-DDB5-348407D736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249" y="2190776"/>
            <a:ext cx="6605514" cy="388084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487AA1AB-3093-B696-86D4-1C0FF423C66E}"/>
              </a:ext>
            </a:extLst>
          </p:cNvPr>
          <p:cNvSpPr txBox="1"/>
          <p:nvPr/>
        </p:nvSpPr>
        <p:spPr>
          <a:xfrm>
            <a:off x="0" y="6396335"/>
            <a:ext cx="4458878" cy="461665"/>
          </a:xfrm>
          <a:prstGeom prst="rect">
            <a:avLst/>
          </a:prstGeom>
          <a:noFill/>
        </p:spPr>
        <p:txBody>
          <a:bodyPr wrap="square">
            <a:spAutoFit/>
          </a:bodyPr>
          <a:lstStyle/>
          <a:p>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9733910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aprendem a detectar estruturas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800436"/>
            <a:ext cx="11133841" cy="2057563"/>
          </a:xfrm>
        </p:spPr>
        <p:txBody>
          <a:bodyPr/>
          <a:lstStyle/>
          <a:p>
            <a:r>
              <a:rPr lang="pt-BR" dirty="0"/>
              <a:t>A imagem de entrada apresenta vários componentes lineares (bordas).</a:t>
            </a:r>
          </a:p>
          <a:p>
            <a:r>
              <a:rPr lang="pt-BR" dirty="0"/>
              <a:t>Temos uma camada convolucional com três filtros.</a:t>
            </a:r>
          </a:p>
          <a:p>
            <a:r>
              <a:rPr lang="pt-BR" b="0" i="0" dirty="0">
                <a:effectLst/>
              </a:rPr>
              <a:t>Cada filtro aprende a detectar diferentes elementos estruturais (</a:t>
            </a:r>
            <a:r>
              <a:rPr lang="pt-BR" dirty="0"/>
              <a:t>i.e.</a:t>
            </a:r>
            <a:r>
              <a:rPr lang="pt-BR" b="0" i="0" dirty="0">
                <a:effectLst/>
              </a:rPr>
              <a:t>,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72267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à esquerda.</a:t>
            </a:r>
          </a:p>
          <a:p>
            <a:r>
              <a:rPr lang="pt-BR" dirty="0"/>
              <a:t>Se aplicarmos o </a:t>
            </a:r>
            <a:r>
              <a:rPr lang="pt-BR" i="1" dirty="0"/>
              <a:t>kernel</a:t>
            </a:r>
            <a:r>
              <a:rPr lang="pt-BR" dirty="0"/>
              <a:t> mostrado, obteremos os resultados à direita.</a:t>
            </a:r>
          </a:p>
          <a:p>
            <a:r>
              <a:rPr lang="pt-BR" dirty="0"/>
              <a:t>Ele </a:t>
            </a:r>
            <a:r>
              <a:rPr lang="pt-BR" b="1" i="1" dirty="0">
                <a:solidFill>
                  <a:srgbClr val="00B050"/>
                </a:solidFill>
              </a:rPr>
              <a:t>realça muito as linhas verticais e escurece todo o resto</a:t>
            </a:r>
            <a:r>
              <a:rPr lang="pt-BR" dirty="0"/>
              <a:t>.</a:t>
            </a:r>
          </a:p>
          <a:p>
            <a:r>
              <a:rPr lang="pt-BR" dirty="0"/>
              <a:t>Portanto, podemos considerar este </a:t>
            </a:r>
            <a:r>
              <a:rPr lang="pt-BR" i="1" dirty="0"/>
              <a:t>kernel</a:t>
            </a:r>
            <a:r>
              <a:rPr lang="pt-BR" dirty="0"/>
              <a:t> como um </a:t>
            </a:r>
            <a:r>
              <a:rPr lang="pt-BR" b="1" i="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extLst>
              <p:ext uri="{D42A27DB-BD31-4B8C-83A1-F6EECF244321}">
                <p14:modId xmlns:p14="http://schemas.microsoft.com/office/powerpoint/2010/main" val="2409938428"/>
              </p:ext>
            </p:extLst>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5798475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375909"/>
            <a:ext cx="11176000" cy="2482091"/>
          </a:xfrm>
        </p:spPr>
        <p:txBody>
          <a:bodyPr>
            <a:normAutofit lnSpcReduction="10000"/>
          </a:bodyPr>
          <a:lstStyle/>
          <a:p>
            <a:r>
              <a:rPr lang="pt-BR" dirty="0"/>
              <a:t>De forma similar, este outro </a:t>
            </a:r>
            <a:r>
              <a:rPr lang="pt-BR" i="1" dirty="0"/>
              <a:t>kernel</a:t>
            </a:r>
            <a:r>
              <a:rPr lang="pt-BR" dirty="0"/>
              <a:t> pode </a:t>
            </a:r>
            <a:r>
              <a:rPr lang="pt-BR" b="1" i="1" dirty="0">
                <a:solidFill>
                  <a:srgbClr val="00B050"/>
                </a:solidFill>
              </a:rPr>
              <a:t>detectar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i="1" dirty="0">
                <a:solidFill>
                  <a:srgbClr val="00B050"/>
                </a:solidFill>
              </a:rPr>
              <a:t>remover quase tudo</a:t>
            </a:r>
            <a:r>
              <a:rPr lang="pt-BR" dirty="0"/>
              <a:t>, </a:t>
            </a:r>
            <a:r>
              <a:rPr lang="pt-BR" b="1" i="1" dirty="0">
                <a:solidFill>
                  <a:srgbClr val="00B050"/>
                </a:solidFill>
              </a:rPr>
              <a:t>exceto uma característica distinta</a:t>
            </a:r>
            <a:r>
              <a:rPr lang="pt-BR" dirty="0"/>
              <a:t>.</a:t>
            </a:r>
          </a:p>
          <a:p>
            <a:r>
              <a:rPr lang="pt-BR" dirty="0"/>
              <a:t>Esse processo é chamado de </a:t>
            </a:r>
            <a:r>
              <a:rPr lang="pt-BR" b="1" i="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extLst>
              <p:ext uri="{D42A27DB-BD31-4B8C-83A1-F6EECF244321}">
                <p14:modId xmlns:p14="http://schemas.microsoft.com/office/powerpoint/2010/main" val="40405313"/>
              </p:ext>
            </p:extLst>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1579917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440680" y="1825624"/>
            <a:ext cx="6751320" cy="5032375"/>
          </a:xfrm>
        </p:spPr>
        <p:txBody>
          <a:bodyPr>
            <a:normAutofit/>
          </a:bodyPr>
          <a:lstStyle/>
          <a:p>
            <a:r>
              <a:rPr lang="pt-BR" dirty="0"/>
              <a:t>A função de ativação é aplicada diretamente ao mapa de características (</a:t>
            </a:r>
            <a:r>
              <a:rPr lang="pt-BR" i="1" dirty="0" err="1"/>
              <a:t>feature</a:t>
            </a:r>
            <a:r>
              <a:rPr lang="pt-BR" i="1" dirty="0"/>
              <a:t> </a:t>
            </a:r>
            <a:r>
              <a:rPr lang="pt-BR" i="1" dirty="0" err="1"/>
              <a:t>map</a:t>
            </a:r>
            <a:r>
              <a:rPr lang="pt-BR" dirty="0"/>
              <a:t>) de forma elemento a elemento.</a:t>
            </a:r>
          </a:p>
          <a:p>
            <a:r>
              <a:rPr lang="pt-BR" dirty="0"/>
              <a:t>Isso significa que cada valor do mapa é transformado individualmente pela função de ativação.</a:t>
            </a:r>
          </a:p>
          <a:p>
            <a:r>
              <a:rPr lang="pt-BR" dirty="0"/>
              <a:t>Em geral, para evitar o desaparecimento do gradiente, se usa funções de ativação do tipo </a:t>
            </a:r>
            <a:r>
              <a:rPr lang="pt-BR" dirty="0" err="1"/>
              <a:t>ReLU</a:t>
            </a:r>
            <a:r>
              <a:rPr lang="pt-BR" dirty="0"/>
              <a:t> ou uma de suas variantes.</a:t>
            </a:r>
          </a:p>
          <a:p>
            <a:endParaRPr lang="pt-BR" dirty="0"/>
          </a:p>
        </p:txBody>
      </p:sp>
      <p:grpSp>
        <p:nvGrpSpPr>
          <p:cNvPr id="10" name="Grupo 9"/>
          <p:cNvGrpSpPr/>
          <p:nvPr/>
        </p:nvGrpSpPr>
        <p:grpSpPr>
          <a:xfrm>
            <a:off x="1537189" y="2119470"/>
            <a:ext cx="1590244" cy="3716340"/>
            <a:chOff x="1552429" y="1936590"/>
            <a:chExt cx="1590244" cy="3716340"/>
          </a:xfrm>
        </p:grpSpPr>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p:cNvSpPr txBox="1"/>
            <p:nvPr/>
          </p:nvSpPr>
          <p:spPr>
            <a:xfrm>
              <a:off x="1552429" y="1936590"/>
              <a:ext cx="1590244" cy="369332"/>
            </a:xfrm>
            <a:prstGeom prst="rect">
              <a:avLst/>
            </a:prstGeom>
            <a:noFill/>
          </p:spPr>
          <p:txBody>
            <a:bodyPr wrap="none" rtlCol="0">
              <a:spAutoFit/>
            </a:bodyPr>
            <a:lstStyle/>
            <a:p>
              <a:r>
                <a:rPr lang="pt-BR" i="1" dirty="0" err="1"/>
                <a:t>Feature</a:t>
              </a:r>
              <a:r>
                <a:rPr lang="pt-BR" i="1" dirty="0"/>
                <a:t> </a:t>
              </a:r>
              <a:r>
                <a:rPr lang="pt-BR" i="1" dirty="0" err="1"/>
                <a:t>map</a:t>
              </a:r>
              <a:r>
                <a:rPr lang="pt-BR" i="1" dirty="0"/>
                <a:t>, </a:t>
              </a:r>
              <a:r>
                <a:rPr lang="pt-BR" dirty="0"/>
                <a:t>F</a:t>
              </a:r>
            </a:p>
          </p:txBody>
        </p:sp>
        <p:sp>
          <p:nvSpPr>
            <p:cNvPr id="6" name="CaixaDeTexto 5"/>
            <p:cNvSpPr txBox="1"/>
            <p:nvPr/>
          </p:nvSpPr>
          <p:spPr>
            <a:xfrm>
              <a:off x="1821862" y="3794760"/>
              <a:ext cx="1051378" cy="369332"/>
            </a:xfrm>
            <a:prstGeom prst="rect">
              <a:avLst/>
            </a:prstGeom>
            <a:noFill/>
          </p:spPr>
          <p:txBody>
            <a:bodyPr wrap="none" rtlCol="0">
              <a:spAutoFit/>
            </a:bodyPr>
            <a:lstStyle/>
            <a:p>
              <a:r>
                <a:rPr lang="pt-BR" dirty="0" err="1"/>
                <a:t>max</a:t>
              </a:r>
              <a:r>
                <a:rPr lang="pt-BR" dirty="0"/>
                <a:t>(0, F)</a:t>
              </a:r>
            </a:p>
          </p:txBody>
        </p:sp>
        <p:sp>
          <p:nvSpPr>
            <p:cNvPr id="7" name="Seta para a direita 6"/>
            <p:cNvSpPr/>
            <p:nvPr/>
          </p:nvSpPr>
          <p:spPr>
            <a:xfrm rot="5400000">
              <a:off x="2187531" y="3497580"/>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B09402-66CD-3715-2158-3B0843D775EF}"/>
              </a:ext>
            </a:extLst>
          </p:cNvPr>
          <p:cNvSpPr>
            <a:spLocks noGrp="1"/>
          </p:cNvSpPr>
          <p:nvPr>
            <p:ph type="title"/>
          </p:nvPr>
        </p:nvSpPr>
        <p:spPr/>
        <p:txBody>
          <a:bodyPr/>
          <a:lstStyle/>
          <a:p>
            <a:r>
              <a:rPr lang="pt-BR" dirty="0"/>
              <a:t>Camada de </a:t>
            </a:r>
            <a:r>
              <a:rPr lang="pt-BR" i="1" dirty="0" err="1"/>
              <a:t>Pooling</a:t>
            </a:r>
            <a:r>
              <a:rPr lang="pt-BR" dirty="0"/>
              <a:t> (ou </a:t>
            </a:r>
            <a:r>
              <a:rPr lang="pt-BR" dirty="0" err="1"/>
              <a:t>subamostragem</a:t>
            </a:r>
            <a:r>
              <a:rPr lang="pt-BR" dirty="0"/>
              <a:t>)</a:t>
            </a:r>
            <a:endParaRPr lang="en-US" dirty="0"/>
          </a:p>
        </p:txBody>
      </p:sp>
      <p:sp>
        <p:nvSpPr>
          <p:cNvPr id="3" name="Content Placeholder 2">
            <a:extLst>
              <a:ext uri="{FF2B5EF4-FFF2-40B4-BE49-F238E27FC236}">
                <a16:creationId xmlns:a16="http://schemas.microsoft.com/office/drawing/2014/main" id="{FEE4C47C-5545-1281-114A-D78B7C51ECB7}"/>
              </a:ext>
            </a:extLst>
          </p:cNvPr>
          <p:cNvSpPr>
            <a:spLocks noGrp="1"/>
          </p:cNvSpPr>
          <p:nvPr>
            <p:ph idx="1"/>
          </p:nvPr>
        </p:nvSpPr>
        <p:spPr/>
        <p:txBody>
          <a:bodyPr/>
          <a:lstStyle/>
          <a:p>
            <a:r>
              <a:rPr lang="pt-BR" sz="4000" b="1" dirty="0">
                <a:solidFill>
                  <a:srgbClr val="FF0000"/>
                </a:solidFill>
              </a:rPr>
              <a:t>O </a:t>
            </a:r>
            <a:r>
              <a:rPr lang="pt-BR" sz="4000" b="1" dirty="0" err="1">
                <a:solidFill>
                  <a:srgbClr val="FF0000"/>
                </a:solidFill>
              </a:rPr>
              <a:t>pooling</a:t>
            </a:r>
            <a:r>
              <a:rPr lang="pt-BR" sz="4000" b="1" dirty="0">
                <a:solidFill>
                  <a:srgbClr val="FF0000"/>
                </a:solidFill>
              </a:rPr>
              <a:t>:</a:t>
            </a:r>
          </a:p>
          <a:p>
            <a:r>
              <a:rPr lang="pt-BR" sz="4000" b="1" dirty="0">
                <a:solidFill>
                  <a:srgbClr val="FF0000"/>
                </a:solidFill>
              </a:rPr>
              <a:t>reduz o tamanho espacial do mapa de características</a:t>
            </a:r>
          </a:p>
          <a:p>
            <a:r>
              <a:rPr lang="pt-BR" sz="4000" b="1" dirty="0">
                <a:solidFill>
                  <a:srgbClr val="FF0000"/>
                </a:solidFill>
              </a:rPr>
              <a:t>mantém apenas as informações mais importantes</a:t>
            </a:r>
          </a:p>
          <a:p>
            <a:r>
              <a:rPr lang="pt-BR" sz="4000" b="1" dirty="0">
                <a:solidFill>
                  <a:srgbClr val="FF0000"/>
                </a:solidFill>
              </a:rPr>
              <a:t>reduz custo computacional</a:t>
            </a:r>
          </a:p>
          <a:p>
            <a:endParaRPr lang="en-US" dirty="0"/>
          </a:p>
        </p:txBody>
      </p:sp>
    </p:spTree>
    <p:extLst>
      <p:ext uri="{BB962C8B-B14F-4D97-AF65-F5344CB8AC3E}">
        <p14:creationId xmlns:p14="http://schemas.microsoft.com/office/powerpoint/2010/main" val="35136824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356351" cy="5032375"/>
          </a:xfrm>
        </p:spPr>
        <p:txBody>
          <a:bodyPr>
            <a:normAutofit fontScale="92500" lnSpcReduction="20000"/>
          </a:bodyPr>
          <a:lstStyle/>
          <a:p>
            <a:r>
              <a:rPr lang="pt-BR" dirty="0"/>
              <a:t>Aplicada, em geral, </a:t>
            </a:r>
            <a:r>
              <a:rPr lang="pt-BR" b="1" i="1" dirty="0">
                <a:solidFill>
                  <a:srgbClr val="00B050"/>
                </a:solidFill>
              </a:rPr>
              <a:t>após uma camada de convolução</a:t>
            </a:r>
            <a:r>
              <a:rPr lang="pt-BR" dirty="0"/>
              <a:t>.</a:t>
            </a:r>
          </a:p>
          <a:p>
            <a:r>
              <a:rPr lang="pt-BR" dirty="0"/>
              <a:t>Ela </a:t>
            </a:r>
            <a:r>
              <a:rPr lang="pt-BR" b="1" i="1" dirty="0">
                <a:solidFill>
                  <a:srgbClr val="00B050"/>
                </a:solidFill>
              </a:rPr>
              <a:t>subamostra</a:t>
            </a:r>
            <a:r>
              <a:rPr lang="pt-BR" dirty="0"/>
              <a:t> sua entrada: reduz o tamanho espacial do mapa de características.</a:t>
            </a:r>
          </a:p>
          <a:p>
            <a:r>
              <a:rPr lang="pt-BR" dirty="0"/>
              <a:t>O </a:t>
            </a:r>
            <a:r>
              <a:rPr lang="pt-BR" b="1" i="1" dirty="0">
                <a:solidFill>
                  <a:srgbClr val="7030A0"/>
                </a:solidFill>
              </a:rPr>
              <a:t>objetivo</a:t>
            </a:r>
            <a:r>
              <a:rPr lang="pt-BR" dirty="0"/>
              <a:t> da subamostragem é </a:t>
            </a:r>
            <a:r>
              <a:rPr lang="pt-BR" b="1" i="1" dirty="0">
                <a:solidFill>
                  <a:srgbClr val="7030A0"/>
                </a:solidFill>
              </a:rPr>
              <a:t>reduzir a carga computacional</a:t>
            </a:r>
            <a:r>
              <a:rPr lang="pt-BR" dirty="0"/>
              <a:t>, o </a:t>
            </a:r>
            <a:r>
              <a:rPr lang="pt-BR" b="1" i="1" dirty="0">
                <a:solidFill>
                  <a:srgbClr val="7030A0"/>
                </a:solidFill>
              </a:rPr>
              <a:t>uso de memória</a:t>
            </a:r>
            <a:r>
              <a:rPr lang="pt-BR" dirty="0"/>
              <a:t> e o </a:t>
            </a:r>
            <a:r>
              <a:rPr lang="pt-BR" b="1" i="1" dirty="0">
                <a:solidFill>
                  <a:srgbClr val="7030A0"/>
                </a:solidFill>
              </a:rPr>
              <a:t>número de parâmetros </a:t>
            </a:r>
            <a:r>
              <a:rPr lang="pt-BR" dirty="0"/>
              <a:t>(limitando assim o risco de </a:t>
            </a:r>
            <a:r>
              <a:rPr lang="pt-BR" b="1" i="1" dirty="0">
                <a:solidFill>
                  <a:srgbClr val="00B050"/>
                </a:solidFill>
              </a:rPr>
              <a:t>sobreajuste</a:t>
            </a:r>
            <a:r>
              <a:rPr lang="pt-BR" dirty="0"/>
              <a:t>).</a:t>
            </a:r>
          </a:p>
          <a:p>
            <a:r>
              <a:rPr lang="pt-BR" b="0" i="0" dirty="0">
                <a:effectLst/>
              </a:rPr>
              <a:t>Além disso, ela </a:t>
            </a:r>
            <a:r>
              <a:rPr lang="pt-BR" b="1" i="1" dirty="0">
                <a:solidFill>
                  <a:srgbClr val="00B050"/>
                </a:solidFill>
                <a:effectLst/>
              </a:rPr>
              <a:t>ajuda a tornar a rede </a:t>
            </a:r>
            <a:r>
              <a:rPr lang="pt-BR" b="1" i="1" dirty="0">
                <a:solidFill>
                  <a:schemeClr val="accent2"/>
                </a:solidFill>
                <a:effectLst/>
              </a:rPr>
              <a:t>mais robusta a pequenas mudanças na posição</a:t>
            </a:r>
            <a:r>
              <a:rPr lang="pt-BR" b="1" i="1" dirty="0">
                <a:solidFill>
                  <a:srgbClr val="00B050"/>
                </a:solidFill>
                <a:effectLst/>
              </a:rPr>
              <a:t> das características</a:t>
            </a:r>
            <a:r>
              <a:rPr lang="pt-BR" b="0" i="0" dirty="0">
                <a:effectLst/>
              </a:rPr>
              <a:t>, o que é útil em tarefas de reconhecimento de objetos.</a:t>
            </a:r>
          </a:p>
          <a:p>
            <a:r>
              <a:rPr lang="pt-BR" dirty="0"/>
              <a:t>Ela mantém apenas as informações mais importante</a:t>
            </a:r>
          </a:p>
        </p:txBody>
      </p:sp>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435600" y="1825624"/>
                <a:ext cx="6546851" cy="5032375"/>
              </a:xfrm>
            </p:spPr>
            <p:txBody>
              <a:bodyPr>
                <a:normAutofit/>
              </a:bodyPr>
              <a:lstStyle/>
              <a:p>
                <a:r>
                  <a:rPr lang="pt-BR" dirty="0"/>
                  <a:t>A maneira </a:t>
                </a:r>
                <a:r>
                  <a:rPr lang="pt-BR" b="1" i="1" dirty="0">
                    <a:solidFill>
                      <a:srgbClr val="00B050"/>
                    </a:solidFill>
                  </a:rPr>
                  <a:t>mais comum </a:t>
                </a:r>
                <a:r>
                  <a:rPr lang="pt-BR" dirty="0"/>
                  <a:t>de subamostrar é aplicar uma </a:t>
                </a:r>
                <a:r>
                  <a:rPr lang="pt-BR" b="1" i="1" dirty="0">
                    <a:solidFill>
                      <a:srgbClr val="00B050"/>
                    </a:solidFill>
                  </a:rPr>
                  <a:t>operação </a:t>
                </a:r>
                <a14:m>
                  <m:oMath xmlns:m="http://schemas.openxmlformats.org/officeDocument/2006/math">
                    <m:r>
                      <a:rPr lang="pt-BR" b="1" i="0" smtClean="0">
                        <a:solidFill>
                          <a:srgbClr val="00B050"/>
                        </a:solidFill>
                        <a:latin typeface="Cambria Math" panose="02040503050406030204" pitchFamily="18" charset="0"/>
                      </a:rPr>
                      <m:t>𝐦𝐚𝐱</m:t>
                    </m:r>
                    <m:r>
                      <a:rPr lang="pt-BR" b="1" i="1" smtClean="0">
                        <a:solidFill>
                          <a:srgbClr val="00B050"/>
                        </a:solidFill>
                        <a:latin typeface="Cambria Math" panose="02040503050406030204" pitchFamily="18" charset="0"/>
                      </a:rPr>
                      <m:t>(.)</m:t>
                    </m:r>
                  </m:oMath>
                </a14:m>
                <a:r>
                  <a:rPr lang="pt-BR" b="1" i="1" dirty="0">
                    <a:solidFill>
                      <a:srgbClr val="00B050"/>
                    </a:solidFill>
                  </a:rPr>
                  <a:t> </a:t>
                </a:r>
                <a:r>
                  <a:rPr lang="pt-BR" dirty="0"/>
                  <a:t>ao resultado de cada </a:t>
                </a:r>
                <a:r>
                  <a:rPr lang="pt-BR" i="1" dirty="0"/>
                  <a:t>kernel</a:t>
                </a:r>
                <a:r>
                  <a:rPr lang="pt-BR" dirty="0"/>
                  <a:t>.</a:t>
                </a:r>
              </a:p>
              <a:p>
                <a:r>
                  <a:rPr lang="pt-BR" dirty="0"/>
                  <a:t>Somente o </a:t>
                </a:r>
                <a:r>
                  <a:rPr lang="pt-BR" b="1" i="1" dirty="0">
                    <a:solidFill>
                      <a:srgbClr val="00B050"/>
                    </a:solidFill>
                  </a:rPr>
                  <a:t>valor máximo de entrada em cada campo receptivo</a:t>
                </a:r>
                <a:r>
                  <a:rPr lang="pt-BR" dirty="0"/>
                  <a:t> da camada de </a:t>
                </a:r>
                <a:r>
                  <a:rPr lang="pt-BR" i="1" dirty="0"/>
                  <a:t>pooling</a:t>
                </a:r>
                <a:r>
                  <a:rPr lang="pt-BR" dirty="0"/>
                  <a:t> </a:t>
                </a:r>
                <a:r>
                  <a:rPr lang="pt-BR" b="1" i="1" dirty="0">
                    <a:solidFill>
                      <a:srgbClr val="00B050"/>
                    </a:solidFill>
                  </a:rPr>
                  <a:t>passa para a próxima camada</a:t>
                </a:r>
                <a:r>
                  <a:rPr lang="pt-BR" dirty="0"/>
                  <a:t>, enquanto as </a:t>
                </a:r>
                <a:r>
                  <a:rPr lang="pt-BR" b="1" i="1" dirty="0">
                    <a:solidFill>
                      <a:srgbClr val="00B050"/>
                    </a:solidFill>
                  </a:rPr>
                  <a:t>outras entradas são descartadas</a:t>
                </a:r>
                <a:r>
                  <a:rPr lang="pt-BR" dirty="0"/>
                  <a:t>.</a:t>
                </a:r>
              </a:p>
              <a:p>
                <a:r>
                  <a:rPr lang="pt-BR" dirty="0"/>
                  <a:t>O </a:t>
                </a:r>
                <a:r>
                  <a:rPr lang="pt-BR" i="1" dirty="0"/>
                  <a:t>pooling</a:t>
                </a:r>
                <a:r>
                  <a:rPr lang="pt-BR" dirty="0"/>
                  <a:t> é </a:t>
                </a:r>
                <a:r>
                  <a:rPr lang="pt-BR" b="1" i="1" dirty="0">
                    <a:solidFill>
                      <a:srgbClr val="00B050"/>
                    </a:solidFill>
                  </a:rPr>
                  <a:t>normalmente aplicado a cada canal de entrada de forma independente</a:t>
                </a:r>
                <a:r>
                  <a:rPr lang="pt-BR" dirty="0"/>
                  <a:t>, de forma que a </a:t>
                </a:r>
                <a:r>
                  <a:rPr lang="pt-BR" b="1" i="1" dirty="0">
                    <a:solidFill>
                      <a:srgbClr val="00B050"/>
                    </a:solidFill>
                  </a:rPr>
                  <a:t>profundidade de saída seja igual a de entrada</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435600" y="1825624"/>
                <a:ext cx="6546851" cy="5032375"/>
              </a:xfrm>
              <a:blipFill>
                <a:blip r:embed="rId3"/>
                <a:stretch>
                  <a:fillRect l="-1676" t="-1937" r="-2886" b="-1816"/>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4777483"/>
            <a:ext cx="11182565" cy="2080517"/>
          </a:xfrm>
        </p:spPr>
        <p:txBody>
          <a:bodyPr>
            <a:normAutofit lnSpcReduction="10000"/>
          </a:bodyPr>
          <a:lstStyle/>
          <a:p>
            <a:r>
              <a:rPr lang="pt-BR" dirty="0"/>
              <a:t>Adicionalmente, as camadas de </a:t>
            </a:r>
            <a:r>
              <a:rPr lang="pt-BR" i="1" dirty="0"/>
              <a:t>pooling</a:t>
            </a:r>
            <a:r>
              <a:rPr lang="pt-BR" dirty="0"/>
              <a:t> ajudam a </a:t>
            </a:r>
            <a:r>
              <a:rPr lang="pt-BR" b="1" i="1" dirty="0">
                <a:solidFill>
                  <a:srgbClr val="00B050"/>
                </a:solidFill>
              </a:rPr>
              <a:t>capturar e reter as características mais importantes</a:t>
            </a:r>
            <a:r>
              <a:rPr lang="pt-BR" dirty="0"/>
              <a:t>, ao mesmo tempo que </a:t>
            </a:r>
            <a:r>
              <a:rPr lang="pt-BR" b="1" i="1" dirty="0">
                <a:solidFill>
                  <a:srgbClr val="7030A0"/>
                </a:solidFill>
              </a:rPr>
              <a:t>descartam informações menos relevantes ou ruidosas</a:t>
            </a:r>
            <a:r>
              <a:rPr lang="pt-BR" dirty="0"/>
              <a:t>.</a:t>
            </a:r>
          </a:p>
          <a:p>
            <a:r>
              <a:rPr lang="pt-BR" dirty="0"/>
              <a:t>Portanto, elas </a:t>
            </a:r>
            <a:r>
              <a:rPr lang="pt-BR" b="1" i="1" dirty="0">
                <a:solidFill>
                  <a:srgbClr val="00B050"/>
                </a:solidFill>
              </a:rPr>
              <a:t>compactam</a:t>
            </a:r>
            <a:r>
              <a:rPr lang="pt-BR" dirty="0"/>
              <a:t> os dados </a:t>
            </a:r>
            <a:r>
              <a:rPr lang="pt-BR" b="1" i="1" dirty="0">
                <a:solidFill>
                  <a:srgbClr val="00B050"/>
                </a:solidFill>
              </a:rPr>
              <a:t>sem perder as características importantes</a:t>
            </a:r>
            <a:r>
              <a:rPr lang="pt-BR" dirty="0"/>
              <a:t>.</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2066065" y="1690688"/>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b="1" i="1" dirty="0">
                    <a:solidFill>
                      <a:srgbClr val="00B050"/>
                    </a:solidFill>
                  </a:rPr>
                  <a:t>D</a:t>
                </a:r>
                <a:r>
                  <a:rPr lang="pt-BR" b="1" i="1" dirty="0">
                    <a:solidFill>
                      <a:srgbClr val="00B050"/>
                    </a:solidFill>
                    <a:effectLst/>
                  </a:rPr>
                  <a:t>epois de aplicar muitas convoluções </a:t>
                </a:r>
                <a:r>
                  <a:rPr lang="pt-BR" b="0" i="0" dirty="0">
                    <a:solidFill>
                      <a:schemeClr val="tx1"/>
                    </a:solidFill>
                    <a:effectLst/>
                  </a:rPr>
                  <a:t>sucessivas, </a:t>
                </a:r>
                <a:r>
                  <a:rPr lang="pt-BR" dirty="0"/>
                  <a:t>as </a:t>
                </a:r>
                <a:r>
                  <a:rPr lang="pt-BR" b="1" i="1" dirty="0">
                    <a:solidFill>
                      <a:srgbClr val="00B050"/>
                    </a:solidFill>
                  </a:rPr>
                  <a:t>imagens </a:t>
                </a:r>
                <a:r>
                  <a:rPr lang="pt-BR" b="1" i="1" dirty="0">
                    <a:solidFill>
                      <a:srgbClr val="00B050"/>
                    </a:solidFill>
                    <a:effectLst/>
                  </a:rPr>
                  <a:t>tendem </a:t>
                </a:r>
                <a:r>
                  <a:rPr lang="pt-BR" b="0" i="0" dirty="0">
                    <a:solidFill>
                      <a:schemeClr val="tx1"/>
                    </a:solidFill>
                    <a:effectLst/>
                  </a:rPr>
                  <a:t>a se </a:t>
                </a:r>
                <a:r>
                  <a:rPr lang="pt-BR" b="1" i="1" dirty="0">
                    <a:solidFill>
                      <a:srgbClr val="00B050"/>
                    </a:solidFill>
                    <a:effectLst/>
                  </a:rPr>
                  <a:t>tornarem</a:t>
                </a:r>
                <a:r>
                  <a:rPr lang="pt-BR" b="0" i="0" dirty="0">
                    <a:solidFill>
                      <a:schemeClr val="tx1"/>
                    </a:solidFill>
                    <a:effectLst/>
                  </a:rPr>
                  <a:t> consideravelmente </a:t>
                </a:r>
                <a:r>
                  <a:rPr lang="pt-BR" b="1" i="1" dirty="0">
                    <a:solidFill>
                      <a:srgbClr val="00B050"/>
                    </a:solidFill>
                    <a:effectLst/>
                  </a:rPr>
                  <a:t>menores</a:t>
                </a:r>
                <a:r>
                  <a:rPr lang="pt-BR" b="0" i="0" dirty="0">
                    <a:solidFill>
                      <a:schemeClr val="tx1"/>
                    </a:solidFill>
                    <a:effectLst/>
                  </a:rPr>
                  <a:t> do que as da entrada.</a:t>
                </a:r>
              </a:p>
              <a:p>
                <a:r>
                  <a:rPr lang="pt-BR" b="0" i="0" dirty="0">
                    <a:solidFill>
                      <a:schemeClr val="tx1"/>
                    </a:solidFill>
                    <a:effectLst/>
                  </a:rPr>
                  <a:t>Se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337300" cy="5032375"/>
              </a:xfrm>
              <a:blipFill rotWithShape="0">
                <a:blip r:embed="rId3"/>
                <a:stretch>
                  <a:fillRect l="-1731" t="-193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a:t>
            </a:r>
            <a:r>
              <a:rPr lang="pt-BR" dirty="0" err="1"/>
              <a:t>convolução</a:t>
            </a:r>
            <a:r>
              <a:rPr lang="pt-BR" dirty="0"/>
              <a:t> </a:t>
            </a:r>
            <a:r>
              <a:rPr lang="pt-BR" b="0" i="0" dirty="0">
                <a:solidFill>
                  <a:schemeClr val="tx1"/>
                </a:solidFill>
                <a:effectLst/>
              </a:rPr>
              <a:t>faz com que qualquer </a:t>
            </a:r>
            <a:r>
              <a:rPr lang="pt-BR" b="1" i="1" dirty="0">
                <a:solidFill>
                  <a:srgbClr val="00B050"/>
                </a:solidFill>
                <a:effectLst/>
              </a:rPr>
              <a:t>informação interessante nas bordas da entrada (e.g., imagem) seja subutilizada</a:t>
            </a:r>
            <a:r>
              <a:rPr lang="pt-BR" b="0" i="0" dirty="0">
                <a:solidFill>
                  <a:schemeClr val="tx1"/>
                </a:solidFill>
                <a:effectLst/>
              </a:rPr>
              <a:t>. </a:t>
            </a:r>
          </a:p>
          <a:p>
            <a:r>
              <a:rPr lang="pt-BR" dirty="0"/>
              <a:t>Os </a:t>
            </a:r>
            <a:r>
              <a:rPr lang="pt-BR" i="1" dirty="0"/>
              <a:t>pixels</a:t>
            </a:r>
            <a:r>
              <a:rPr lang="pt-BR" dirty="0"/>
              <a:t> das bordas da entrada de uma camada são </a:t>
            </a:r>
            <a:r>
              <a:rPr lang="pt-BR" b="1" i="1" dirty="0">
                <a:solidFill>
                  <a:schemeClr val="accent2"/>
                </a:solidFill>
              </a:rPr>
              <a:t>subutilizados</a:t>
            </a:r>
            <a:r>
              <a:rPr lang="pt-BR" dirty="0"/>
              <a:t>, i.e., participam de menos </a:t>
            </a:r>
            <a:r>
              <a:rPr lang="pt-BR" dirty="0" err="1"/>
              <a:t>convoluções</a:t>
            </a:r>
            <a:r>
              <a:rPr lang="pt-BR" dirty="0"/>
              <a:t> que os pixels centrais.</a:t>
            </a:r>
          </a:p>
          <a:p>
            <a:r>
              <a:rPr lang="pt-BR" dirty="0"/>
              <a:t>O </a:t>
            </a:r>
            <a:r>
              <a:rPr lang="pt-BR" i="1" dirty="0" err="1"/>
              <a:t>padding</a:t>
            </a:r>
            <a:r>
              <a:rPr lang="pt-BR" dirty="0"/>
              <a:t> garante que todos os pixels contribuam igualmente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308600" y="1825624"/>
            <a:ext cx="6718300" cy="5032375"/>
          </a:xfrm>
        </p:spPr>
        <p:txBody>
          <a:bodyPr>
            <a:normAutofit lnSpcReduction="10000"/>
          </a:bodyPr>
          <a:lstStyle/>
          <a:p>
            <a:r>
              <a:rPr lang="pt-BR" b="0" i="0" dirty="0">
                <a:effectLst/>
              </a:rPr>
              <a:t>O </a:t>
            </a:r>
            <a:r>
              <a:rPr lang="pt-BR" b="1" i="1" dirty="0">
                <a:effectLst/>
              </a:rPr>
              <a:t>padding</a:t>
            </a:r>
            <a:r>
              <a:rPr lang="pt-BR" b="0" i="0" dirty="0">
                <a:effectLst/>
              </a:rPr>
              <a:t> </a:t>
            </a:r>
            <a:r>
              <a:rPr lang="pt-BR" dirty="0"/>
              <a:t>é usado </a:t>
            </a:r>
            <a:r>
              <a:rPr lang="pt-BR" b="0" i="0" dirty="0">
                <a:effectLst/>
              </a:rPr>
              <a:t>para </a:t>
            </a:r>
            <a:r>
              <a:rPr lang="pt-BR" b="1" i="1" dirty="0">
                <a:solidFill>
                  <a:srgbClr val="00B050"/>
                </a:solidFill>
                <a:effectLst/>
              </a:rPr>
              <a:t>controlar o tamanho dos mapas de características </a:t>
            </a:r>
            <a:r>
              <a:rPr lang="pt-BR" b="0" i="0" dirty="0">
                <a:effectLst/>
              </a:rPr>
              <a:t>após uma camada convolucional</a:t>
            </a:r>
            <a:r>
              <a:rPr lang="pt-BR" dirty="0"/>
              <a:t>.</a:t>
            </a:r>
            <a:endParaRPr lang="pt-BR" b="0" i="0" dirty="0">
              <a:effectLst/>
            </a:endParaRPr>
          </a:p>
          <a:p>
            <a:r>
              <a:rPr lang="pt-BR" b="1" i="1" dirty="0">
                <a:solidFill>
                  <a:srgbClr val="00B050"/>
                </a:solidFill>
                <a:effectLst/>
              </a:rPr>
              <a:t>Pixels de preenchimento são adicionados ao redor da borda da imagem </a:t>
            </a:r>
            <a:r>
              <a:rPr lang="pt-BR" b="0" i="0" dirty="0">
                <a:effectLst/>
              </a:rPr>
              <a:t>de entrada,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são feitos iguais a zero</a:t>
            </a:r>
            <a:r>
              <a:rPr lang="pt-BR" b="0" i="0" dirty="0">
                <a:effectLst/>
              </a:rPr>
              <a:t>.</a:t>
            </a:r>
          </a:p>
          <a:p>
            <a:r>
              <a:rPr lang="pt-BR" b="0" i="0" dirty="0">
                <a:effectLst/>
              </a:rPr>
              <a:t>Em tarefas de </a:t>
            </a:r>
            <a:r>
              <a:rPr lang="pt-BR" b="1" i="1" dirty="0">
                <a:solidFill>
                  <a:srgbClr val="00B050"/>
                </a:solidFill>
                <a:effectLst/>
              </a:rPr>
              <a:t>classificação de imagens</a:t>
            </a:r>
            <a:r>
              <a:rPr lang="pt-BR" b="0" i="0" dirty="0">
                <a:effectLst/>
              </a:rPr>
              <a:t>, é comum aplicar </a:t>
            </a:r>
            <a:r>
              <a:rPr lang="pt-BR" b="0" i="1" dirty="0">
                <a:effectLst/>
              </a:rPr>
              <a:t>padding</a:t>
            </a:r>
            <a:r>
              <a:rPr lang="pt-BR" b="0" i="0" dirty="0">
                <a:effectLst/>
              </a:rPr>
              <a:t> nas </a:t>
            </a:r>
            <a:r>
              <a:rPr lang="pt-BR" b="1" i="1" dirty="0">
                <a:solidFill>
                  <a:srgbClr val="00B050"/>
                </a:solidFill>
                <a:effectLst/>
              </a:rPr>
              <a:t>camadas iniciais para </a:t>
            </a:r>
            <a:r>
              <a:rPr lang="pt-BR" b="1" i="1" dirty="0">
                <a:solidFill>
                  <a:srgbClr val="7030A0"/>
                </a:solidFill>
                <a:effectLst/>
              </a:rPr>
              <a:t>preservar informações de borda</a:t>
            </a:r>
            <a:r>
              <a:rPr lang="pt-BR" b="0" i="0" dirty="0">
                <a:effectLst/>
              </a:rPr>
              <a:t>, enquanto </a:t>
            </a:r>
            <a:r>
              <a:rPr lang="pt-BR" b="1" i="1" dirty="0">
                <a:solidFill>
                  <a:srgbClr val="00B050"/>
                </a:solidFill>
                <a:effectLst/>
              </a:rPr>
              <a:t>camadas finais não o aplicam</a:t>
            </a:r>
            <a:r>
              <a:rPr lang="pt-BR" b="0" i="0" dirty="0">
                <a:effectLst/>
              </a:rPr>
              <a:t> para reduzir a dimensionalidade.</a:t>
            </a:r>
            <a:endParaRPr lang="pt-BR" dirty="0"/>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7000" y="2768600"/>
            <a:ext cx="5154070" cy="252916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etapa de extração de características temos vários mapas de características , formando um volume 3D de dados.</a:t>
            </a:r>
          </a:p>
          <a:p>
            <a:r>
              <a:rPr lang="pt-BR" dirty="0"/>
              <a:t>Porém, as </a:t>
            </a:r>
            <a:r>
              <a:rPr lang="pt-BR" b="1" dirty="0"/>
              <a:t>camadas densas </a:t>
            </a:r>
            <a:r>
              <a:rPr lang="pt-BR" dirty="0"/>
              <a:t>trabalham com </a:t>
            </a:r>
            <a:r>
              <a:rPr lang="pt-BR" b="1" dirty="0"/>
              <a:t>vetores 1D</a:t>
            </a:r>
            <a:r>
              <a:rPr lang="pt-BR" dirty="0"/>
              <a:t>.</a:t>
            </a:r>
          </a:p>
          <a:p>
            <a:r>
              <a:rPr lang="pt-BR" dirty="0"/>
              <a:t>Assim, precisamos transformar os mapas de características em vetores 1D.</a:t>
            </a:r>
          </a:p>
          <a:p>
            <a:r>
              <a:rPr lang="pt-BR" dirty="0"/>
              <a:t>Ela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605848" cy="5032375"/>
          </a:xfrm>
        </p:spPr>
        <p:txBody>
          <a:bodyPr>
            <a:normAutofit fontScale="92500" lnSpcReduction="20000"/>
          </a:bodyPr>
          <a:lstStyle/>
          <a:p>
            <a:r>
              <a:rPr lang="pt-BR" b="0" i="0" dirty="0">
                <a:effectLst/>
              </a:rPr>
              <a:t>Depois das camadas convolucionais, as CNN podem apresentar </a:t>
            </a:r>
            <a:r>
              <a:rPr lang="pt-BR" b="1" i="1" dirty="0">
                <a:solidFill>
                  <a:srgbClr val="00B050"/>
                </a:solidFill>
                <a:effectLst/>
              </a:rPr>
              <a:t>algumas camadas densas</a:t>
            </a:r>
            <a:r>
              <a:rPr lang="pt-BR" b="0" i="0" dirty="0">
                <a:effectLst/>
              </a:rPr>
              <a:t>.</a:t>
            </a:r>
          </a:p>
          <a:p>
            <a:r>
              <a:rPr lang="pt-BR" b="0" i="0" dirty="0">
                <a:effectLst/>
              </a:rPr>
              <a:t>Elas são responsáveis por </a:t>
            </a:r>
            <a:r>
              <a:rPr lang="pt-BR" b="1" i="1" dirty="0">
                <a:solidFill>
                  <a:srgbClr val="00B050"/>
                </a:solidFill>
                <a:effectLst/>
              </a:rPr>
              <a:t>realizar a classificação (ou regressã</a:t>
            </a:r>
            <a:r>
              <a:rPr lang="pt-BR" b="1" i="1" dirty="0">
                <a:solidFill>
                  <a:srgbClr val="00B050"/>
                </a:solidFill>
              </a:rPr>
              <a:t>o) </a:t>
            </a:r>
            <a:r>
              <a:rPr lang="pt-BR" b="0" i="0" dirty="0">
                <a:effectLst/>
              </a:rPr>
              <a:t>propriamente dita.</a:t>
            </a:r>
          </a:p>
          <a:p>
            <a:r>
              <a:rPr lang="pt-BR" b="0" i="0" dirty="0">
                <a:effectLst/>
              </a:rPr>
              <a:t>As camadas densas </a:t>
            </a:r>
            <a:r>
              <a:rPr lang="pt-BR" b="1" i="1" dirty="0">
                <a:solidFill>
                  <a:srgbClr val="00B050"/>
                </a:solidFill>
                <a:effectLst/>
              </a:rPr>
              <a:t>recebem as características extraídas pelas camadas convolucionais e </a:t>
            </a:r>
            <a:r>
              <a:rPr lang="pt-BR" b="1" i="1" dirty="0">
                <a:solidFill>
                  <a:srgbClr val="7030A0"/>
                </a:solidFill>
                <a:effectLst/>
              </a:rPr>
              <a:t>combinam essas informações para aprender padrões</a:t>
            </a:r>
            <a:r>
              <a:rPr lang="pt-BR" b="0" i="0" dirty="0">
                <a:solidFill>
                  <a:srgbClr val="7030A0"/>
                </a:solidFill>
                <a:effectLst/>
              </a:rPr>
              <a:t> </a:t>
            </a:r>
            <a:r>
              <a:rPr lang="pt-BR" b="0" i="0" dirty="0">
                <a:effectLst/>
              </a:rPr>
              <a:t>complexos e realizar a tarefa de classificação ou regressão.</a:t>
            </a:r>
          </a:p>
          <a:p>
            <a:r>
              <a:rPr lang="pt-BR" sz="3900" b="1" dirty="0">
                <a:solidFill>
                  <a:srgbClr val="FF0000"/>
                </a:solidFill>
              </a:rPr>
              <a:t>Essas camadas combinam as características para decidir a saída final.</a:t>
            </a:r>
            <a:endParaRPr lang="pt-BR" sz="3900" b="1" i="0" dirty="0">
              <a:solidFill>
                <a:srgbClr val="FF0000"/>
              </a:solidFill>
              <a:effectLst/>
            </a:endParaRP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Os filtros são aprendidos!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841822"/>
            <a:ext cx="11176000" cy="2016177"/>
          </a:xfrm>
        </p:spPr>
        <p:txBody>
          <a:bodyPr>
            <a:normAutofit/>
          </a:bodyPr>
          <a:lstStyle/>
          <a:p>
            <a:r>
              <a:rPr lang="pt-BR" dirty="0"/>
              <a:t>Nós não precisamos definir os filtros manualmente. </a:t>
            </a:r>
          </a:p>
          <a:p>
            <a:r>
              <a:rPr lang="pt-BR" dirty="0"/>
              <a:t>Em vez disso, durante o </a:t>
            </a:r>
            <a:r>
              <a:rPr lang="pt-BR" b="1" i="1" dirty="0">
                <a:solidFill>
                  <a:srgbClr val="00B050"/>
                </a:solidFill>
              </a:rPr>
              <a:t>treinamento</a:t>
            </a:r>
            <a:r>
              <a:rPr lang="pt-BR" dirty="0"/>
              <a:t>, as </a:t>
            </a:r>
            <a:r>
              <a:rPr lang="pt-BR" b="1" i="1" dirty="0">
                <a:solidFill>
                  <a:srgbClr val="00B050"/>
                </a:solidFill>
              </a:rPr>
              <a:t>camadas convolucionais aprenderão automaticamente</a:t>
            </a:r>
            <a:r>
              <a:rPr lang="pt-BR" b="1" i="1" dirty="0"/>
              <a:t> </a:t>
            </a:r>
            <a:r>
              <a:rPr lang="pt-BR" dirty="0"/>
              <a:t>os </a:t>
            </a:r>
            <a:r>
              <a:rPr lang="pt-BR" b="1" i="1" dirty="0">
                <a:solidFill>
                  <a:srgbClr val="7030A0"/>
                </a:solidFill>
              </a:rPr>
              <a:t>kernels</a:t>
            </a:r>
            <a:r>
              <a:rPr lang="pt-BR" dirty="0"/>
              <a:t> mais úteis para sua tarefa, e as camadas densas aprenderão a combiná-los em padrões mais complexos.</a:t>
            </a:r>
          </a:p>
        </p:txBody>
      </p:sp>
      <p:pic>
        <p:nvPicPr>
          <p:cNvPr id="4" name="Picture 2" descr="Convolutional Neural Network | Deep Learning | Developers Breach">
            <a:extLst>
              <a:ext uri="{FF2B5EF4-FFF2-40B4-BE49-F238E27FC236}">
                <a16:creationId xmlns:a16="http://schemas.microsoft.com/office/drawing/2014/main" id="{2FFBC0E7-4DB0-5196-082A-77A36C9045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74160" y="1567398"/>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E513F9B7-5E9E-B422-D6B4-AFA521A8DE64}"/>
              </a:ext>
            </a:extLst>
          </p:cNvPr>
          <p:cNvSpPr/>
          <p:nvPr/>
        </p:nvSpPr>
        <p:spPr>
          <a:xfrm>
            <a:off x="3043239" y="4034934"/>
            <a:ext cx="382463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EC6DB7A4-20CE-0C35-A356-99094F500E4B}"/>
              </a:ext>
            </a:extLst>
          </p:cNvPr>
          <p:cNvSpPr/>
          <p:nvPr/>
        </p:nvSpPr>
        <p:spPr>
          <a:xfrm>
            <a:off x="6910492" y="4034934"/>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59677179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60EEA7-7203-637B-9D13-46FBD95E984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E9B77B5-AA0C-F60F-BD25-ED72B0F18989}"/>
              </a:ext>
            </a:extLst>
          </p:cNvPr>
          <p:cNvSpPr>
            <a:spLocks noGrp="1"/>
          </p:cNvSpPr>
          <p:nvPr>
            <p:ph idx="1"/>
          </p:nvPr>
        </p:nvSpPr>
        <p:spPr/>
        <p:txBody>
          <a:bodyPr>
            <a:normAutofit/>
          </a:bodyPr>
          <a:lstStyle/>
          <a:p>
            <a:r>
              <a:rPr lang="pt-BR" sz="6000" dirty="0">
                <a:solidFill>
                  <a:srgbClr val="FF0000"/>
                </a:solidFill>
              </a:rPr>
              <a:t>COMO EVITAR SOBREAJUSTE?</a:t>
            </a:r>
          </a:p>
          <a:p>
            <a:pPr lvl="1"/>
            <a:r>
              <a:rPr lang="pt-BR" sz="5400" dirty="0">
                <a:solidFill>
                  <a:srgbClr val="FF0000"/>
                </a:solidFill>
              </a:rPr>
              <a:t>DROPOUT!!!</a:t>
            </a:r>
            <a:endParaRPr lang="en-US" sz="5400" dirty="0">
              <a:solidFill>
                <a:srgbClr val="FF0000"/>
              </a:solidFill>
            </a:endParaRPr>
          </a:p>
        </p:txBody>
      </p:sp>
    </p:spTree>
    <p:extLst>
      <p:ext uri="{BB962C8B-B14F-4D97-AF65-F5344CB8AC3E}">
        <p14:creationId xmlns:p14="http://schemas.microsoft.com/office/powerpoint/2010/main" val="221280743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9175077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id="{DE398648-3AD3-9986-3010-6210876DC9B1}"/>
              </a:ext>
            </a:extLst>
          </p:cNvPr>
          <p:cNvSpPr>
            <a:spLocks noGrp="1"/>
          </p:cNvSpPr>
          <p:nvPr>
            <p:ph idx="1"/>
          </p:nvPr>
        </p:nvSpPr>
        <p:spPr>
          <a:xfrm>
            <a:off x="838200" y="1825625"/>
            <a:ext cx="10849304" cy="4351338"/>
          </a:xfrm>
        </p:spPr>
        <p:txBody>
          <a:bodyPr/>
          <a:lstStyle/>
          <a:p>
            <a:r>
              <a:rPr lang="pt-BR" dirty="0">
                <a:hlinkClick r:id="rId3"/>
              </a:rPr>
              <a:t>Exercício: Redes neurais convolucionais</a:t>
            </a:r>
            <a:endParaRPr lang="pt-BR" dirty="0"/>
          </a:p>
        </p:txBody>
      </p:sp>
    </p:spTree>
    <p:extLst>
      <p:ext uri="{BB962C8B-B14F-4D97-AF65-F5344CB8AC3E}">
        <p14:creationId xmlns:p14="http://schemas.microsoft.com/office/powerpoint/2010/main" val="291852029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i="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i="1" dirty="0">
                <a:solidFill>
                  <a:srgbClr val="00B050"/>
                </a:solidFill>
              </a:rPr>
              <a:t>filtro ou um conjunto de filtros </a:t>
            </a:r>
            <a:r>
              <a:rPr lang="pt-BR" dirty="0"/>
              <a:t>que ao serem passados sobre a imagem </a:t>
            </a:r>
            <a:r>
              <a:rPr lang="pt-BR" b="1" i="1" dirty="0">
                <a:solidFill>
                  <a:srgbClr val="00B050"/>
                </a:solidFill>
              </a:rPr>
              <a:t>extraem as características</a:t>
            </a:r>
            <a:r>
              <a:rPr lang="pt-BR" b="1" i="1" dirty="0"/>
              <a:t> </a:t>
            </a:r>
            <a:r>
              <a:rPr lang="pt-BR" dirty="0"/>
              <a:t>mostradas ao lado. </a:t>
            </a:r>
          </a:p>
          <a:p>
            <a:r>
              <a:rPr lang="pt-BR" dirty="0"/>
              <a:t>Como podemos ver, </a:t>
            </a:r>
            <a:r>
              <a:rPr lang="pt-BR" b="1" i="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i="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i="1" dirty="0">
                <a:solidFill>
                  <a:srgbClr val="00B050"/>
                </a:solidFill>
              </a:rPr>
              <a:t>cérebro vê isso </a:t>
            </a:r>
            <a:r>
              <a:rPr lang="pt-BR" dirty="0"/>
              <a:t>e </a:t>
            </a:r>
            <a:r>
              <a:rPr lang="pt-BR" b="1" i="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i="1" dirty="0">
                <a:solidFill>
                  <a:srgbClr val="00B050"/>
                </a:solidFill>
              </a:rPr>
              <a:t>outros filtros extraem um círculo com outros dois círculos menores, uma saliência e algumas formas paralelas</a:t>
            </a:r>
            <a:r>
              <a:rPr lang="pt-BR" dirty="0"/>
              <a:t>.</a:t>
            </a:r>
          </a:p>
          <a:p>
            <a:r>
              <a:rPr lang="pt-BR" dirty="0"/>
              <a:t>Nosso cérebro reconhece esse conjunto de </a:t>
            </a:r>
            <a:r>
              <a:rPr lang="pt-BR" i="1" dirty="0"/>
              <a:t>pixels</a:t>
            </a:r>
            <a:r>
              <a:rPr lang="pt-BR" dirty="0"/>
              <a:t> como um rosto com olhos, boca e nariz.</a:t>
            </a:r>
          </a:p>
          <a:p>
            <a:r>
              <a:rPr lang="pt-BR" dirty="0"/>
              <a:t>Mas, novamente, o modelo não tem contexto para decidir o que esses </a:t>
            </a:r>
            <a:r>
              <a:rPr lang="pt-BR" i="1" dirty="0"/>
              <a:t>pixels</a:t>
            </a:r>
            <a:r>
              <a:rPr lang="pt-BR" dirty="0"/>
              <a:t>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i="0" dirty="0">
                <a:effectLst/>
              </a:rPr>
              <a:t>Quando essas </a:t>
            </a:r>
            <a:r>
              <a:rPr lang="pt-BR" b="1" i="1" dirty="0">
                <a:solidFill>
                  <a:srgbClr val="00B050"/>
                </a:solidFill>
                <a:effectLst/>
              </a:rPr>
              <a:t>características estão presentes em uma imagem rotulada como humana</a:t>
            </a:r>
            <a:r>
              <a:rPr lang="pt-BR" b="0" i="0" dirty="0">
                <a:effectLst/>
              </a:rPr>
              <a:t>, a rede neural pode ser </a:t>
            </a:r>
            <a:r>
              <a:rPr lang="pt-BR" b="1" i="1" dirty="0">
                <a:solidFill>
                  <a:srgbClr val="00B050"/>
                </a:solidFill>
                <a:effectLst/>
              </a:rPr>
              <a:t>treinada para aprender filtros que extraem essas informações</a:t>
            </a:r>
            <a:r>
              <a:rPr lang="pt-BR" b="0" i="0" dirty="0">
                <a:effectLst/>
              </a:rPr>
              <a:t>. </a:t>
            </a:r>
          </a:p>
          <a:p>
            <a:r>
              <a:rPr lang="pt-BR" dirty="0"/>
              <a:t>A rede </a:t>
            </a:r>
            <a:r>
              <a:rPr lang="pt-BR" b="1" i="1" dirty="0">
                <a:solidFill>
                  <a:srgbClr val="00B050"/>
                </a:solidFill>
              </a:rPr>
              <a:t>pode combinar as características extraídas pelos três filtros </a:t>
            </a:r>
            <a:r>
              <a:rPr lang="pt-BR" dirty="0"/>
              <a:t>(i.e., pernas, mãos e face) para detectar seres humanos </a:t>
            </a:r>
            <a:r>
              <a:rPr lang="pt-BR" b="0" i="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i="1" dirty="0">
                <a:solidFill>
                  <a:srgbClr val="00B050"/>
                </a:solidFill>
              </a:rPr>
              <a:t>mesma rede pode ser treinada para identificar </a:t>
            </a:r>
            <a:r>
              <a:rPr lang="pt-BR" dirty="0"/>
              <a:t>diferentes </a:t>
            </a:r>
            <a:r>
              <a:rPr lang="pt-BR" b="1" i="1" dirty="0">
                <a:solidFill>
                  <a:srgbClr val="00B050"/>
                </a:solidFill>
              </a:rPr>
              <a:t>características</a:t>
            </a:r>
            <a:r>
              <a:rPr lang="pt-BR" dirty="0"/>
              <a:t> presentes nas imagens de </a:t>
            </a:r>
            <a:r>
              <a:rPr lang="pt-BR" b="1" i="1" dirty="0">
                <a:solidFill>
                  <a:srgbClr val="00B050"/>
                </a:solidFill>
              </a:rPr>
              <a:t>cavalos</a:t>
            </a:r>
            <a:r>
              <a:rPr lang="pt-BR" dirty="0"/>
              <a:t>. </a:t>
            </a:r>
          </a:p>
          <a:p>
            <a:r>
              <a:rPr lang="pt-BR" dirty="0"/>
              <a:t>Assim, ao </a:t>
            </a:r>
            <a:r>
              <a:rPr lang="pt-BR" b="1" i="1" dirty="0">
                <a:solidFill>
                  <a:srgbClr val="00B050"/>
                </a:solidFill>
              </a:rPr>
              <a:t>aprender conjuntos de filtros que podem detectar humanos ou cavalos</a:t>
            </a:r>
            <a:r>
              <a:rPr lang="pt-BR" dirty="0"/>
              <a:t>, temos um </a:t>
            </a:r>
            <a:r>
              <a:rPr lang="pt-BR" b="1" i="1" dirty="0">
                <a:solidFill>
                  <a:srgbClr val="00B050"/>
                </a:solidFill>
              </a:rPr>
              <a:t>modelo de visão computacional</a:t>
            </a:r>
            <a:r>
              <a:rPr lang="pt-BR" dirty="0"/>
              <a:t> que pode </a:t>
            </a:r>
            <a:r>
              <a:rPr lang="pt-BR" b="1" i="1" dirty="0">
                <a:solidFill>
                  <a:srgbClr val="00B050"/>
                </a:solidFill>
              </a:rPr>
              <a:t>lidar</a:t>
            </a:r>
            <a:r>
              <a:rPr lang="pt-BR" dirty="0"/>
              <a:t> com </a:t>
            </a:r>
            <a:r>
              <a:rPr lang="pt-BR" b="1" i="1" dirty="0">
                <a:solidFill>
                  <a:srgbClr val="00B050"/>
                </a:solidFill>
              </a:rPr>
              <a:t>imagens complexas</a:t>
            </a:r>
            <a:r>
              <a:rPr lang="pt-BR" dirty="0"/>
              <a:t> e </a:t>
            </a:r>
            <a:r>
              <a:rPr lang="pt-BR" b="1" i="1" dirty="0">
                <a:solidFill>
                  <a:srgbClr val="00B050"/>
                </a:solidFill>
              </a:rPr>
              <a:t>predizer</a:t>
            </a:r>
            <a:r>
              <a:rPr lang="pt-BR" dirty="0"/>
              <a:t> </a:t>
            </a:r>
            <a:r>
              <a:rPr lang="pt-BR" b="1" i="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i="1" dirty="0"/>
              <a:t>aprenderão características imperceptíveis</a:t>
            </a:r>
            <a:r>
              <a:rPr lang="pt-BR" dirty="0"/>
              <a:t> a nós humanos.</a:t>
            </a:r>
            <a:endParaRPr lang="pt-BR" b="0" i="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i="0" dirty="0">
                <a:effectLst/>
              </a:rPr>
              <a:t>No entanto, </a:t>
            </a:r>
            <a:r>
              <a:rPr lang="pt-BR" b="1" i="1" dirty="0">
                <a:solidFill>
                  <a:srgbClr val="00B050"/>
                </a:solidFill>
                <a:effectLst/>
              </a:rPr>
              <a:t>quando filtros são treinados </a:t>
            </a:r>
            <a:r>
              <a:rPr lang="pt-BR" b="0" i="0" dirty="0">
                <a:effectLst/>
              </a:rPr>
              <a:t>para detectar características em imagens, </a:t>
            </a:r>
            <a:r>
              <a:rPr lang="pt-BR" b="1" i="1" dirty="0">
                <a:solidFill>
                  <a:srgbClr val="00B050"/>
                </a:solidFill>
                <a:effectLst/>
              </a:rPr>
              <a:t>eles podem identificar coisas que são imperceptíveis para os seres humanos</a:t>
            </a:r>
            <a:r>
              <a:rPr lang="pt-BR" b="0" i="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15965</TotalTime>
  <Words>7222</Words>
  <Application>Microsoft Office PowerPoint</Application>
  <PresentationFormat>Widescreen</PresentationFormat>
  <Paragraphs>1369</Paragraphs>
  <Slides>85</Slides>
  <Notes>38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85</vt:i4>
      </vt:variant>
    </vt:vector>
  </HeadingPairs>
  <TitlesOfParts>
    <vt:vector size="98"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PowerPoint Presentation</vt:lpstr>
      <vt:lpstr>DNNs versus CNNs</vt:lpstr>
      <vt:lpstr>O que vamos ver?</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Redes neurais convolucionais</vt:lpstr>
      <vt:lpstr>Localidade</vt:lpstr>
      <vt:lpstr>Localidade</vt:lpstr>
      <vt:lpstr>Estacionariedade</vt:lpstr>
      <vt:lpstr>Estacionariedade</vt:lpstr>
      <vt:lpstr>Composição hierárquica de padrões</vt:lpstr>
      <vt:lpstr>PowerPoint Presentation</vt:lpstr>
      <vt:lpstr>PowerPoint Presentation</vt:lpstr>
      <vt:lpstr>PowerPoint Presentation</vt:lpstr>
      <vt:lpstr>PowerPoint Presentation</vt:lpstr>
      <vt:lpstr>Filtros de convolução</vt:lpstr>
      <vt:lpstr>Neurônios biológicos</vt:lpstr>
      <vt:lpstr>Neurônios biológicos</vt:lpstr>
      <vt:lpstr>Diferença entre camadas densas e convolucionais</vt:lpstr>
      <vt:lpstr>Diferença entre camadas densas e convolucionais</vt:lpstr>
      <vt:lpstr>Diferença entre camadas densas e convolucionais</vt:lpstr>
      <vt:lpstr>PowerPoint Presentation</vt:lpstr>
      <vt:lpstr>Arquitetura geral de uma CNN</vt:lpstr>
      <vt:lpstr>Imagens</vt:lpstr>
      <vt:lpstr>Camada de convolução</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Convolução ou correlação cruzada?</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Kernels diferentes para características diferentes</vt:lpstr>
      <vt:lpstr>Filtros aprendem a detectar estruturas</vt:lpstr>
      <vt:lpstr>Aplicando kernels a imagens</vt:lpstr>
      <vt:lpstr>Aplicando kernels a imagens</vt:lpstr>
      <vt:lpstr>Função de ativação</vt:lpstr>
      <vt:lpstr>Camada de Pooling (ou subamostragem)</vt:lpstr>
      <vt:lpstr>Camada de Pooling (ou subamostragem)</vt:lpstr>
      <vt:lpstr>Camada de Pooling (ou subamostragem)</vt:lpstr>
      <vt:lpstr>Camada de Pooling (ou subamostragem)</vt:lpstr>
      <vt:lpstr>Padding ou preenchimento</vt:lpstr>
      <vt:lpstr>Padding ou preenchimento</vt:lpstr>
      <vt:lpstr>Padding ou preenchimento</vt:lpstr>
      <vt:lpstr>Camada de flatten</vt:lpstr>
      <vt:lpstr>Camadas densas</vt:lpstr>
      <vt:lpstr>Os filtros são aprendidos!</vt:lpstr>
      <vt:lpstr>PowerPoint Presentation</vt:lpstr>
      <vt:lpstr>Explorando CNNs</vt:lpstr>
      <vt:lpstr>Atividades</vt:lpstr>
      <vt:lpstr>PowerPoint Presentation</vt:lpstr>
      <vt:lpstr>PowerPoint Presentation</vt:lpstr>
      <vt:lpstr>PowerPoint Presentation</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Características imperceptíveis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2629</cp:revision>
  <dcterms:created xsi:type="dcterms:W3CDTF">2020-01-20T13:50:05Z</dcterms:created>
  <dcterms:modified xsi:type="dcterms:W3CDTF">2026-03-17T19:59:50Z</dcterms:modified>
</cp:coreProperties>
</file>