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4"/>
  </p:notesMasterIdLst>
  <p:handoutMasterIdLst>
    <p:handoutMasterId r:id="rId85"/>
  </p:handoutMasterIdLst>
  <p:sldIdLst>
    <p:sldId id="494" r:id="rId2"/>
    <p:sldId id="495" r:id="rId3"/>
    <p:sldId id="406" r:id="rId4"/>
    <p:sldId id="496" r:id="rId5"/>
    <p:sldId id="442" r:id="rId6"/>
    <p:sldId id="484" r:id="rId7"/>
    <p:sldId id="498" r:id="rId8"/>
    <p:sldId id="492" r:id="rId9"/>
    <p:sldId id="483" r:id="rId10"/>
    <p:sldId id="497" r:id="rId11"/>
    <p:sldId id="503" r:id="rId12"/>
    <p:sldId id="485" r:id="rId13"/>
    <p:sldId id="505" r:id="rId14"/>
    <p:sldId id="501" r:id="rId15"/>
    <p:sldId id="507" r:id="rId16"/>
    <p:sldId id="513" r:id="rId17"/>
    <p:sldId id="506" r:id="rId18"/>
    <p:sldId id="502" r:id="rId19"/>
    <p:sldId id="499" r:id="rId20"/>
    <p:sldId id="504" r:id="rId21"/>
    <p:sldId id="487" r:id="rId22"/>
    <p:sldId id="456" r:id="rId23"/>
    <p:sldId id="457" r:id="rId24"/>
    <p:sldId id="480" r:id="rId25"/>
    <p:sldId id="481" r:id="rId26"/>
    <p:sldId id="482" r:id="rId27"/>
    <p:sldId id="510" r:id="rId28"/>
    <p:sldId id="509" r:id="rId29"/>
    <p:sldId id="431" r:id="rId30"/>
    <p:sldId id="514" r:id="rId31"/>
    <p:sldId id="451" r:id="rId32"/>
    <p:sldId id="454" r:id="rId33"/>
    <p:sldId id="429" r:id="rId34"/>
    <p:sldId id="435" r:id="rId35"/>
    <p:sldId id="432" r:id="rId36"/>
    <p:sldId id="433" r:id="rId37"/>
    <p:sldId id="434" r:id="rId38"/>
    <p:sldId id="453" r:id="rId39"/>
    <p:sldId id="436" r:id="rId40"/>
    <p:sldId id="440" r:id="rId41"/>
    <p:sldId id="437" r:id="rId42"/>
    <p:sldId id="445" r:id="rId43"/>
    <p:sldId id="449" r:id="rId44"/>
    <p:sldId id="450" r:id="rId45"/>
    <p:sldId id="452" r:id="rId46"/>
    <p:sldId id="486" r:id="rId47"/>
    <p:sldId id="488" r:id="rId48"/>
    <p:sldId id="464" r:id="rId49"/>
    <p:sldId id="465" r:id="rId50"/>
    <p:sldId id="511" r:id="rId51"/>
    <p:sldId id="455" r:id="rId52"/>
    <p:sldId id="460" r:id="rId53"/>
    <p:sldId id="467" r:id="rId54"/>
    <p:sldId id="461" r:id="rId55"/>
    <p:sldId id="493" r:id="rId56"/>
    <p:sldId id="462" r:id="rId57"/>
    <p:sldId id="466" r:id="rId58"/>
    <p:sldId id="512" r:id="rId59"/>
    <p:sldId id="468" r:id="rId60"/>
    <p:sldId id="508" r:id="rId61"/>
    <p:sldId id="477" r:id="rId62"/>
    <p:sldId id="405" r:id="rId63"/>
    <p:sldId id="293" r:id="rId64"/>
    <p:sldId id="306" r:id="rId65"/>
    <p:sldId id="491" r:id="rId66"/>
    <p:sldId id="441" r:id="rId67"/>
    <p:sldId id="469" r:id="rId68"/>
    <p:sldId id="470" r:id="rId69"/>
    <p:sldId id="471" r:id="rId70"/>
    <p:sldId id="472" r:id="rId71"/>
    <p:sldId id="475" r:id="rId72"/>
    <p:sldId id="474" r:id="rId73"/>
    <p:sldId id="478" r:id="rId74"/>
    <p:sldId id="490" r:id="rId75"/>
    <p:sldId id="438" r:id="rId76"/>
    <p:sldId id="443" r:id="rId77"/>
    <p:sldId id="446" r:id="rId78"/>
    <p:sldId id="447" r:id="rId79"/>
    <p:sldId id="448" r:id="rId80"/>
    <p:sldId id="458" r:id="rId81"/>
    <p:sldId id="459" r:id="rId82"/>
    <p:sldId id="479" r:id="rId8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63" d="100"/>
          <a:sy n="63" d="100"/>
        </p:scale>
        <p:origin x="124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notesMaster" Target="notesMasters/notesMaster1.xml"/><Relationship Id="rId89"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9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15/03/2026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15/03/2026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Essas redes aprenderam representações hierárquicas de padrões como bordas, texturas e objetos. </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11772475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7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7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80.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81.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8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ECB3FED-5D1A-7084-5333-A3B2FA75F608}"/>
              </a:ext>
            </a:extLst>
          </p:cNvPr>
          <p:cNvSpPr>
            <a:spLocks noGrp="1"/>
          </p:cNvSpPr>
          <p:nvPr>
            <p:ph type="title"/>
          </p:nvPr>
        </p:nvSpPr>
        <p:spPr/>
        <p:txBody>
          <a:bodyPr/>
          <a:lstStyle/>
          <a:p>
            <a:r>
              <a:rPr lang="pt-BR" dirty="0" err="1" smtClean="0"/>
              <a:t>DNNs</a:t>
            </a:r>
            <a:r>
              <a:rPr lang="pt-BR" dirty="0" smtClean="0"/>
              <a:t> versus </a:t>
            </a:r>
            <a:r>
              <a:rPr lang="pt-BR" dirty="0" err="1" smtClean="0"/>
              <a:t>CNNs</a:t>
            </a:r>
            <a:endParaRPr lang="pt-BR" dirty="0"/>
          </a:p>
        </p:txBody>
      </p:sp>
      <p:sp>
        <p:nvSpPr>
          <p:cNvPr id="3" name="Espaço Reservado para Conteúdo 2">
            <a:extLst>
              <a:ext uri="{FF2B5EF4-FFF2-40B4-BE49-F238E27FC236}">
                <a16:creationId xmlns=""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aprende </a:t>
            </a:r>
            <a:r>
              <a:rPr lang="pt-BR" dirty="0"/>
              <a:t>os valores de </a:t>
            </a:r>
            <a:r>
              <a:rPr lang="pt-BR" b="1" dirty="0">
                <a:solidFill>
                  <a:srgbClr val="00B050"/>
                </a:solidFill>
              </a:rPr>
              <a:t>filtros </a:t>
            </a:r>
            <a:r>
              <a:rPr lang="pt-BR" dirty="0" smtClean="0"/>
              <a:t>(ou </a:t>
            </a:r>
            <a:r>
              <a:rPr lang="pt-BR" b="1" i="1" dirty="0" err="1"/>
              <a:t>kernels</a:t>
            </a:r>
            <a:r>
              <a:rPr lang="pt-BR" dirty="0" smtClean="0"/>
              <a:t>) que “compreendem” </a:t>
            </a:r>
            <a:r>
              <a:rPr lang="pt-BR" dirty="0"/>
              <a:t>o conteúdo de imagens.</a:t>
            </a:r>
          </a:p>
        </p:txBody>
      </p:sp>
      <p:pic>
        <p:nvPicPr>
          <p:cNvPr id="1026" name="Picture 2" descr="Convolutional Neural Network | Deep Learning | Developers Breach">
            <a:extLst>
              <a:ext uri="{FF2B5EF4-FFF2-40B4-BE49-F238E27FC236}">
                <a16:creationId xmlns=""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err="1"/>
              <a:t>DNNs</a:t>
            </a:r>
            <a:r>
              <a:rPr lang="pt-BR" dirty="0"/>
              <a:t> </a:t>
            </a:r>
            <a:r>
              <a:rPr lang="pt-BR" b="1" dirty="0">
                <a:solidFill>
                  <a:srgbClr val="7030A0"/>
                </a:solidFill>
              </a:rPr>
              <a:t>não levam em consideração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 xmlns:a16="http://schemas.microsoft.com/office/drawing/2014/main" id="{2E07E23F-787D-05CE-1936-A9E05A759478}"/>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421033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Correlações</a:t>
            </a:r>
            <a:r>
              <a:rPr lang="en-US" dirty="0"/>
              <a:t> </a:t>
            </a:r>
            <a:r>
              <a:rPr lang="en-US" dirty="0" err="1"/>
              <a:t>locais</a:t>
            </a:r>
            <a:r>
              <a:rPr lang="en-US" dirty="0"/>
              <a:t> entre </a:t>
            </a:r>
            <a:r>
              <a:rPr lang="en-US" i="1" dirty="0"/>
              <a:t>pixels</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dirty="0" smtClean="0"/>
              <a:t>processamento de </a:t>
            </a:r>
            <a:r>
              <a:rPr lang="pt-BR" b="1" dirty="0" smtClean="0">
                <a:solidFill>
                  <a:srgbClr val="00B050"/>
                </a:solidFill>
              </a:rPr>
              <a:t>imagens</a:t>
            </a:r>
            <a:r>
              <a:rPr lang="pt-BR" dirty="0" smtClean="0"/>
              <a:t>, as quais </a:t>
            </a:r>
            <a:r>
              <a:rPr lang="pt-BR" dirty="0"/>
              <a:t>são </a:t>
            </a:r>
            <a:r>
              <a:rPr lang="pt-BR" b="1" dirty="0" smtClean="0">
                <a:solidFill>
                  <a:srgbClr val="00B050"/>
                </a:solidFill>
              </a:rPr>
              <a:t>dominadas</a:t>
            </a:r>
            <a:r>
              <a:rPr lang="pt-BR" dirty="0" smtClean="0"/>
              <a:t> </a:t>
            </a:r>
            <a:r>
              <a:rPr lang="pt-BR" dirty="0"/>
              <a:t>por </a:t>
            </a:r>
            <a:r>
              <a:rPr lang="pt-BR" b="1" dirty="0">
                <a:solidFill>
                  <a:srgbClr val="7030A0"/>
                </a:solidFill>
              </a:rPr>
              <a:t>padrões espacialmente </a:t>
            </a:r>
            <a:r>
              <a:rPr lang="pt-BR" b="1" dirty="0" smtClean="0">
                <a:solidFill>
                  <a:srgbClr val="7030A0"/>
                </a:solidFill>
              </a:rPr>
              <a:t>locais e contêm hierarquias</a:t>
            </a:r>
            <a:r>
              <a:rPr lang="pt-BR" dirty="0" smtClean="0"/>
              <a:t>.</a:t>
            </a:r>
            <a:endParaRPr lang="pt-BR" dirty="0"/>
          </a:p>
        </p:txBody>
      </p:sp>
      <p:grpSp>
        <p:nvGrpSpPr>
          <p:cNvPr id="4" name="Agrupar 3">
            <a:extLst>
              <a:ext uri="{FF2B5EF4-FFF2-40B4-BE49-F238E27FC236}">
                <a16:creationId xmlns=""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 xmlns:a16="http://schemas.microsoft.com/office/drawing/2014/main" id="{05AB3C9B-6CE5-71CF-7815-F1230EEA02DF}"/>
              </a:ext>
            </a:extLst>
          </p:cNvPr>
          <p:cNvSpPr>
            <a:spLocks noGrp="1"/>
          </p:cNvSpPr>
          <p:nvPr>
            <p:ph idx="1"/>
          </p:nvPr>
        </p:nvSpPr>
        <p:spPr>
          <a:xfrm>
            <a:off x="4678679" y="1825624"/>
            <a:ext cx="7513321" cy="5032375"/>
          </a:xfrm>
        </p:spPr>
        <p:txBody>
          <a:bodyPr>
            <a:normAutofit lnSpcReduction="10000"/>
          </a:bodyPr>
          <a:lstStyle/>
          <a:p>
            <a:r>
              <a:rPr lang="pt-BR" dirty="0" err="1" smtClean="0"/>
              <a:t>CNNs</a:t>
            </a:r>
            <a:r>
              <a:rPr lang="pt-BR" dirty="0" smtClean="0"/>
              <a:t> são mais eficientes e exploram </a:t>
            </a:r>
            <a:r>
              <a:rPr lang="pt-BR" dirty="0"/>
              <a:t>as propriedades naturais das imagens:</a:t>
            </a:r>
          </a:p>
          <a:p>
            <a:pPr lvl="1">
              <a:buFont typeface="Wingdings" panose="05000000000000000000" pitchFamily="2" charset="2"/>
              <a:buChar char="§"/>
            </a:pPr>
            <a:r>
              <a:rPr lang="pt-BR" b="1" dirty="0"/>
              <a:t>Localidade: </a:t>
            </a:r>
            <a:r>
              <a:rPr lang="en-US" i="1" dirty="0"/>
              <a:t>pixels</a:t>
            </a:r>
            <a:r>
              <a:rPr lang="en-US" dirty="0"/>
              <a:t> </a:t>
            </a:r>
            <a:r>
              <a:rPr lang="en-US" dirty="0" err="1"/>
              <a:t>próximos</a:t>
            </a:r>
            <a:r>
              <a:rPr lang="en-US" dirty="0"/>
              <a:t> </a:t>
            </a:r>
            <a:r>
              <a:rPr lang="en-US" dirty="0" err="1"/>
              <a:t>são</a:t>
            </a:r>
            <a:r>
              <a:rPr lang="en-US" dirty="0"/>
              <a:t> </a:t>
            </a:r>
            <a:r>
              <a:rPr lang="en-US" dirty="0" err="1"/>
              <a:t>relacionados</a:t>
            </a:r>
            <a:r>
              <a:rPr lang="en-US" dirty="0"/>
              <a:t>.</a:t>
            </a:r>
          </a:p>
          <a:p>
            <a:pPr lvl="2">
              <a:buFont typeface="Wingdings" panose="05000000000000000000" pitchFamily="2" charset="2"/>
              <a:buChar char="§"/>
            </a:pPr>
            <a:r>
              <a:rPr lang="en-US" i="1" dirty="0"/>
              <a:t>pixels</a:t>
            </a:r>
            <a:r>
              <a:rPr lang="en-US" dirty="0"/>
              <a:t> dos </a:t>
            </a:r>
            <a:r>
              <a:rPr lang="en-US" dirty="0" err="1"/>
              <a:t>olhos</a:t>
            </a:r>
            <a:r>
              <a:rPr lang="en-US" dirty="0"/>
              <a:t>.</a:t>
            </a:r>
            <a:endParaRPr lang="pt-BR" dirty="0"/>
          </a:p>
          <a:p>
            <a:pPr lvl="1">
              <a:buFont typeface="Wingdings" panose="05000000000000000000" pitchFamily="2" charset="2"/>
              <a:buChar char="§"/>
            </a:pPr>
            <a:r>
              <a:rPr lang="pt-BR" b="1" dirty="0" err="1"/>
              <a:t>Estacionariedade</a:t>
            </a:r>
            <a:r>
              <a:rPr lang="pt-BR" b="1" dirty="0"/>
              <a:t>:</a:t>
            </a:r>
            <a:r>
              <a:rPr lang="pt-BR" dirty="0"/>
              <a:t> o mesmo padrão pode aparecer em qualquer posição da imagem.</a:t>
            </a:r>
          </a:p>
          <a:p>
            <a:pPr lvl="2">
              <a:buFont typeface="Wingdings" panose="05000000000000000000" pitchFamily="2" charset="2"/>
              <a:buChar char="§"/>
            </a:pPr>
            <a:r>
              <a:rPr lang="pt-BR" dirty="0"/>
              <a:t>olhos, orelhas e patas.</a:t>
            </a:r>
          </a:p>
          <a:p>
            <a:pPr lvl="1">
              <a:buFont typeface="Wingdings" panose="05000000000000000000" pitchFamily="2" charset="2"/>
              <a:buChar char="§"/>
            </a:pPr>
            <a:r>
              <a:rPr lang="pt-BR" b="1" dirty="0"/>
              <a:t>Composição hierárquica de padrões: </a:t>
            </a:r>
            <a:r>
              <a:rPr lang="pt-BR" dirty="0"/>
              <a:t>padrões simples formam padrões complexos.</a:t>
            </a:r>
          </a:p>
          <a:p>
            <a:pPr lvl="2">
              <a:buFont typeface="Courier New" panose="02070309020205020404" pitchFamily="49" charset="0"/>
              <a:buChar char="o"/>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a:t>
            </a:r>
            <a:r>
              <a:rPr lang="en-US" dirty="0" err="1"/>
              <a:t>borda</a:t>
            </a:r>
            <a:r>
              <a:rPr lang="en-US" dirty="0"/>
              <a:t> do </a:t>
            </a:r>
            <a:r>
              <a:rPr lang="en-US" dirty="0" err="1"/>
              <a:t>olho</a:t>
            </a:r>
            <a:endParaRPr lang="en-US" dirty="0"/>
          </a:p>
          <a:p>
            <a:pPr lvl="2">
              <a:buFont typeface="Courier New" panose="02070309020205020404" pitchFamily="49" charset="0"/>
              <a:buChar char="o"/>
            </a:pPr>
            <a:r>
              <a:rPr lang="en-US" dirty="0" err="1"/>
              <a:t>Intermediários</a:t>
            </a:r>
            <a:r>
              <a:rPr lang="en-US" dirty="0"/>
              <a:t>: </a:t>
            </a:r>
            <a:r>
              <a:rPr lang="pt-BR" dirty="0"/>
              <a:t>curva da orelha, forma triangular do nariz</a:t>
            </a:r>
          </a:p>
          <a:p>
            <a:pPr lvl="2">
              <a:buFont typeface="Courier New" panose="02070309020205020404" pitchFamily="49" charset="0"/>
              <a:buChar char="o"/>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2">
              <a:buFont typeface="Courier New" panose="02070309020205020404" pitchFamily="49" charset="0"/>
              <a:buChar char="o"/>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2">
              <a:buFont typeface="Courier New" panose="02070309020205020404" pitchFamily="49" charset="0"/>
              <a:buChar char="o"/>
            </a:pPr>
            <a:r>
              <a:rPr lang="en-US" dirty="0" err="1"/>
              <a:t>Objeto</a:t>
            </a:r>
            <a:r>
              <a:rPr lang="en-US" dirty="0"/>
              <a:t> </a:t>
            </a:r>
            <a:r>
              <a:rPr lang="en-US" dirty="0" err="1"/>
              <a:t>completo</a:t>
            </a:r>
            <a:r>
              <a:rPr lang="en-US" dirty="0"/>
              <a:t>: </a:t>
            </a:r>
            <a:r>
              <a:rPr lang="pt-BR" dirty="0"/>
              <a:t>bordas → texturas → partes → cabeça/corpo → gato</a:t>
            </a:r>
          </a:p>
        </p:txBody>
      </p:sp>
      <p:pic>
        <p:nvPicPr>
          <p:cNvPr id="15" name="Imagem 14">
            <a:extLst>
              <a:ext uri="{FF2B5EF4-FFF2-40B4-BE49-F238E27FC236}">
                <a16:creationId xmlns="" xmlns:a16="http://schemas.microsoft.com/office/drawing/2014/main" id="{691CAD4C-7731-F201-4777-F4C7E861E3EA}"/>
              </a:ext>
            </a:extLst>
          </p:cNvPr>
          <p:cNvPicPr>
            <a:picLocks noChangeAspect="1"/>
          </p:cNvPicPr>
          <p:nvPr/>
        </p:nvPicPr>
        <p:blipFill>
          <a:blip r:embed="rId3"/>
          <a:stretch>
            <a:fillRect/>
          </a:stretch>
        </p:blipFill>
        <p:spPr>
          <a:xfrm>
            <a:off x="187314" y="2316480"/>
            <a:ext cx="4430405" cy="3733800"/>
          </a:xfrm>
          <a:prstGeom prst="rect">
            <a:avLst/>
          </a:prstGeom>
        </p:spPr>
      </p:pic>
    </p:spTree>
    <p:extLst>
      <p:ext uri="{BB962C8B-B14F-4D97-AF65-F5344CB8AC3E}">
        <p14:creationId xmlns:p14="http://schemas.microsoft.com/office/powerpoint/2010/main" val="23894056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A9629C7-67C9-8174-8129-0BBA674327C3}"/>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 xmlns:a16="http://schemas.microsoft.com/office/drawing/2014/main" id="{3FEE3B61-3623-02AB-736C-65EA98218560}"/>
              </a:ext>
            </a:extLst>
          </p:cNvPr>
          <p:cNvSpPr>
            <a:spLocks noGrp="1"/>
          </p:cNvSpPr>
          <p:nvPr>
            <p:ph idx="1"/>
          </p:nvPr>
        </p:nvSpPr>
        <p:spPr/>
        <p:txBody>
          <a:bodyPr>
            <a:normAutofit/>
          </a:bodyPr>
          <a:lstStyle/>
          <a:p>
            <a:r>
              <a:rPr lang="pt-BR" sz="7200" b="1" dirty="0">
                <a:solidFill>
                  <a:srgbClr val="FF0000"/>
                </a:solidFill>
              </a:rPr>
              <a:t>PAREI AQUI!!!!!</a:t>
            </a:r>
            <a:endParaRPr lang="en-US" sz="7200" b="1" dirty="0">
              <a:solidFill>
                <a:srgbClr val="FF0000"/>
              </a:solidFill>
            </a:endParaRPr>
          </a:p>
        </p:txBody>
      </p:sp>
    </p:spTree>
    <p:extLst>
      <p:ext uri="{BB962C8B-B14F-4D97-AF65-F5344CB8AC3E}">
        <p14:creationId xmlns:p14="http://schemas.microsoft.com/office/powerpoint/2010/main" val="2069479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77D2E06-5B04-2482-2E52-A4EB66B8E248}"/>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25E157A4-7B6B-8A25-98BF-83553C2E31FA}"/>
              </a:ext>
            </a:extLst>
          </p:cNvPr>
          <p:cNvSpPr>
            <a:spLocks noGrp="1"/>
          </p:cNvSpPr>
          <p:nvPr>
            <p:ph idx="1"/>
          </p:nvPr>
        </p:nvSpPr>
        <p:spPr>
          <a:xfrm>
            <a:off x="838200" y="1825624"/>
            <a:ext cx="11216640" cy="5032375"/>
          </a:xfrm>
        </p:spPr>
        <p:txBody>
          <a:bodyPr>
            <a:normAutofit fontScale="62500" lnSpcReduction="20000"/>
          </a:bodyPr>
          <a:lstStyle/>
          <a:p>
            <a:r>
              <a:rPr lang="pt-BR" b="1" dirty="0"/>
              <a:t>1️⃣ Localidade (</a:t>
            </a:r>
            <a:r>
              <a:rPr lang="pt-BR" b="1" dirty="0" err="1"/>
              <a:t>Locality</a:t>
            </a:r>
            <a:r>
              <a:rPr lang="pt-BR" b="1" dirty="0"/>
              <a:t>)</a:t>
            </a:r>
          </a:p>
          <a:p>
            <a:r>
              <a:rPr lang="pt-BR" dirty="0"/>
              <a:t>A propriedade de </a:t>
            </a:r>
            <a:r>
              <a:rPr lang="pt-BR" b="1" dirty="0"/>
              <a:t>localidade</a:t>
            </a:r>
            <a:r>
              <a:rPr lang="pt-BR" dirty="0"/>
              <a:t> diz que:</a:t>
            </a:r>
          </a:p>
          <a:p>
            <a:r>
              <a:rPr lang="pt-BR" b="1" dirty="0"/>
              <a:t>pixels próximos em uma imagem tendem a estar correlacionados.</a:t>
            </a:r>
            <a:endParaRPr lang="pt-BR" dirty="0"/>
          </a:p>
          <a:p>
            <a:r>
              <a:rPr lang="pt-BR" dirty="0"/>
              <a:t>Por exemplo:</a:t>
            </a:r>
          </a:p>
          <a:p>
            <a:r>
              <a:rPr lang="pt-BR" dirty="0"/>
              <a:t>pixels vizinhos em uma região de céu têm cores parecidas</a:t>
            </a:r>
          </a:p>
          <a:p>
            <a:r>
              <a:rPr lang="pt-BR" dirty="0"/>
              <a:t>pixels de uma borda formam um </a:t>
            </a:r>
            <a:r>
              <a:rPr lang="pt-BR" b="1" dirty="0"/>
              <a:t>padrão local</a:t>
            </a:r>
            <a:endParaRPr lang="pt-BR" dirty="0"/>
          </a:p>
          <a:p>
            <a:r>
              <a:rPr lang="pt-BR" dirty="0"/>
              <a:t>Ou seja, </a:t>
            </a:r>
            <a:r>
              <a:rPr lang="pt-BR" b="1" dirty="0"/>
              <a:t>a maior parte da informação visual está em pequenas regiões da imagem</a:t>
            </a:r>
            <a:r>
              <a:rPr lang="pt-BR" dirty="0"/>
              <a:t>. </a:t>
            </a:r>
          </a:p>
          <a:p>
            <a:r>
              <a:rPr lang="pt-BR" b="1" dirty="0"/>
              <a:t>Como as </a:t>
            </a:r>
            <a:r>
              <a:rPr lang="pt-BR" b="1" dirty="0" err="1"/>
              <a:t>CNNs</a:t>
            </a:r>
            <a:r>
              <a:rPr lang="pt-BR" b="1" dirty="0"/>
              <a:t> exploram isso</a:t>
            </a:r>
          </a:p>
          <a:p>
            <a:r>
              <a:rPr lang="pt-BR" dirty="0"/>
              <a:t>Em vez de conectar cada neurônio a </a:t>
            </a:r>
            <a:r>
              <a:rPr lang="pt-BR" b="1" dirty="0"/>
              <a:t>todos os pixels</a:t>
            </a:r>
            <a:r>
              <a:rPr lang="pt-BR" dirty="0"/>
              <a:t>, as </a:t>
            </a:r>
            <a:r>
              <a:rPr lang="pt-BR" dirty="0" err="1"/>
              <a:t>CNNs</a:t>
            </a:r>
            <a:r>
              <a:rPr lang="pt-BR" dirty="0"/>
              <a:t> usam </a:t>
            </a:r>
            <a:r>
              <a:rPr lang="pt-BR" b="1" dirty="0"/>
              <a:t>filtros pequenos</a:t>
            </a:r>
            <a:r>
              <a:rPr lang="pt-BR" dirty="0"/>
              <a:t> (por exemplo 3×3 ou 5×5).</a:t>
            </a:r>
          </a:p>
          <a:p>
            <a:r>
              <a:rPr lang="pt-BR" dirty="0"/>
              <a:t>Cada neurônio olha apenas para uma </a:t>
            </a:r>
            <a:r>
              <a:rPr lang="pt-BR" b="1" dirty="0"/>
              <a:t>pequena região da imagem</a:t>
            </a:r>
            <a:r>
              <a:rPr lang="pt-BR" dirty="0"/>
              <a:t>, chamada:</a:t>
            </a:r>
          </a:p>
          <a:p>
            <a:r>
              <a:rPr lang="pt-BR" b="1" dirty="0"/>
              <a:t>campo receptivo (</a:t>
            </a:r>
            <a:r>
              <a:rPr lang="pt-BR" b="1" dirty="0" err="1"/>
              <a:t>receptive</a:t>
            </a:r>
            <a:r>
              <a:rPr lang="pt-BR" b="1" dirty="0"/>
              <a:t> </a:t>
            </a:r>
            <a:r>
              <a:rPr lang="pt-BR" b="1" dirty="0" err="1"/>
              <a:t>field</a:t>
            </a:r>
            <a:r>
              <a:rPr lang="pt-BR" b="1" dirty="0"/>
              <a:t>)</a:t>
            </a:r>
            <a:r>
              <a:rPr lang="pt-BR" dirty="0"/>
              <a:t>.</a:t>
            </a:r>
          </a:p>
          <a:p>
            <a:r>
              <a:rPr lang="pt-BR" dirty="0"/>
              <a:t>Isso permite detectar padrões locais como:</a:t>
            </a:r>
          </a:p>
          <a:p>
            <a:r>
              <a:rPr lang="pt-BR" dirty="0"/>
              <a:t>bordas</a:t>
            </a:r>
          </a:p>
          <a:p>
            <a:r>
              <a:rPr lang="pt-BR" dirty="0"/>
              <a:t>cantos</a:t>
            </a:r>
          </a:p>
          <a:p>
            <a:r>
              <a:rPr lang="pt-BR" dirty="0" smtClean="0"/>
              <a:t>texturas</a:t>
            </a:r>
            <a:endParaRPr lang="pt-BR" dirty="0"/>
          </a:p>
        </p:txBody>
      </p:sp>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77D2E06-5B04-2482-2E52-A4EB66B8E248}"/>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25E157A4-7B6B-8A25-98BF-83553C2E31FA}"/>
              </a:ext>
            </a:extLst>
          </p:cNvPr>
          <p:cNvSpPr>
            <a:spLocks noGrp="1"/>
          </p:cNvSpPr>
          <p:nvPr>
            <p:ph idx="1"/>
          </p:nvPr>
        </p:nvSpPr>
        <p:spPr>
          <a:xfrm>
            <a:off x="838200" y="1825624"/>
            <a:ext cx="11155680" cy="5032375"/>
          </a:xfrm>
        </p:spPr>
        <p:txBody>
          <a:bodyPr>
            <a:normAutofit fontScale="70000" lnSpcReduction="20000"/>
          </a:bodyPr>
          <a:lstStyle/>
          <a:p>
            <a:r>
              <a:rPr lang="pt-BR" b="1" dirty="0" smtClean="0"/>
              <a:t>2</a:t>
            </a:r>
            <a:r>
              <a:rPr lang="pt-BR" b="1" dirty="0"/>
              <a:t>️⃣ </a:t>
            </a:r>
            <a:r>
              <a:rPr lang="pt-BR" b="1" dirty="0" err="1"/>
              <a:t>Estacionariedade</a:t>
            </a:r>
            <a:r>
              <a:rPr lang="pt-BR" b="1" dirty="0"/>
              <a:t> (</a:t>
            </a:r>
            <a:r>
              <a:rPr lang="pt-BR" b="1" dirty="0" err="1"/>
              <a:t>Stationarity</a:t>
            </a:r>
            <a:r>
              <a:rPr lang="pt-BR" b="1" dirty="0"/>
              <a:t>)</a:t>
            </a:r>
          </a:p>
          <a:p>
            <a:r>
              <a:rPr lang="pt-BR" dirty="0"/>
              <a:t>A </a:t>
            </a:r>
            <a:r>
              <a:rPr lang="pt-BR" b="1" dirty="0" err="1"/>
              <a:t>estacionariedade</a:t>
            </a:r>
            <a:r>
              <a:rPr lang="pt-BR" dirty="0"/>
              <a:t> significa que:</a:t>
            </a:r>
          </a:p>
          <a:p>
            <a:r>
              <a:rPr lang="pt-BR" b="1" dirty="0"/>
              <a:t>o mesmo padrão pode aparecer em qualquer posição da imagem</a:t>
            </a:r>
            <a:r>
              <a:rPr lang="pt-BR" dirty="0"/>
              <a:t>. </a:t>
            </a:r>
          </a:p>
          <a:p>
            <a:r>
              <a:rPr lang="pt-BR" dirty="0"/>
              <a:t>Por exemplo:</a:t>
            </a:r>
          </a:p>
          <a:p>
            <a:r>
              <a:rPr lang="pt-BR" dirty="0"/>
              <a:t>uma borda pode aparecer </a:t>
            </a:r>
            <a:r>
              <a:rPr lang="pt-BR" b="1" dirty="0"/>
              <a:t>em qualquer lugar</a:t>
            </a:r>
            <a:endParaRPr lang="pt-BR" dirty="0"/>
          </a:p>
          <a:p>
            <a:r>
              <a:rPr lang="pt-BR" dirty="0"/>
              <a:t>um olho pode aparecer </a:t>
            </a:r>
            <a:r>
              <a:rPr lang="pt-BR" b="1" dirty="0"/>
              <a:t>em diferentes regiões da imagem</a:t>
            </a:r>
            <a:endParaRPr lang="pt-BR" dirty="0"/>
          </a:p>
          <a:p>
            <a:r>
              <a:rPr lang="pt-BR" dirty="0"/>
              <a:t>uma roda pode aparecer </a:t>
            </a:r>
            <a:r>
              <a:rPr lang="pt-BR" b="1" dirty="0"/>
              <a:t>em qualquer posição do carro</a:t>
            </a:r>
            <a:endParaRPr lang="pt-BR" dirty="0"/>
          </a:p>
          <a:p>
            <a:r>
              <a:rPr lang="pt-BR" b="1" dirty="0"/>
              <a:t>Como as </a:t>
            </a:r>
            <a:r>
              <a:rPr lang="pt-BR" b="1" dirty="0" err="1"/>
              <a:t>CNNs</a:t>
            </a:r>
            <a:r>
              <a:rPr lang="pt-BR" b="1" dirty="0"/>
              <a:t> exploram isso</a:t>
            </a:r>
          </a:p>
          <a:p>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r>
              <a:rPr lang="pt-BR" dirty="0"/>
              <a:t>o </a:t>
            </a:r>
            <a:r>
              <a:rPr lang="pt-BR" b="1" dirty="0"/>
              <a:t>mesmo filtro</a:t>
            </a:r>
            <a:r>
              <a:rPr lang="pt-BR" dirty="0"/>
              <a:t> é aplicado em toda a imagem.</a:t>
            </a:r>
          </a:p>
          <a:p>
            <a:r>
              <a:rPr lang="pt-BR" dirty="0"/>
              <a:t>Ou seja:</a:t>
            </a:r>
          </a:p>
          <a:p>
            <a:r>
              <a:rPr lang="pt-BR" dirty="0"/>
              <a:t>o detector de borda é </a:t>
            </a:r>
            <a:r>
              <a:rPr lang="pt-BR" b="1" dirty="0"/>
              <a:t>o mesmo para todas as posições</a:t>
            </a:r>
            <a:r>
              <a:rPr lang="pt-BR" dirty="0"/>
              <a:t>.</a:t>
            </a:r>
          </a:p>
          <a:p>
            <a:r>
              <a:rPr lang="pt-BR" dirty="0"/>
              <a:t>Isso traz duas vantagens enormes:</a:t>
            </a:r>
          </a:p>
          <a:p>
            <a:r>
              <a:rPr lang="pt-BR" dirty="0"/>
              <a:t>1️⃣ muito menos parâmetros</a:t>
            </a:r>
            <a:br>
              <a:rPr lang="pt-BR" dirty="0"/>
            </a:br>
            <a:r>
              <a:rPr lang="pt-BR" dirty="0"/>
              <a:t>2️⃣ capacidade de detectar o mesmo padrão em qualquer posição</a:t>
            </a:r>
          </a:p>
          <a:p>
            <a:endParaRPr lang="en-US" dirty="0"/>
          </a:p>
        </p:txBody>
      </p:sp>
    </p:spTree>
    <p:extLst>
      <p:ext uri="{BB962C8B-B14F-4D97-AF65-F5344CB8AC3E}">
        <p14:creationId xmlns:p14="http://schemas.microsoft.com/office/powerpoint/2010/main" val="3551567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970EDBC-3389-9641-AF93-3E83AD2C0949}"/>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5B92E380-6459-8F71-599A-5F1F961A772D}"/>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 xmlns:a16="http://schemas.microsoft.com/office/drawing/2014/main" id="{46B5E3F6-4362-8A30-2057-BAADED436B46}"/>
              </a:ext>
            </a:extLst>
          </p:cNvPr>
          <p:cNvSpPr>
            <a:spLocks noGrp="1"/>
          </p:cNvSpPr>
          <p:nvPr>
            <p:ph idx="1"/>
          </p:nvPr>
        </p:nvSpPr>
        <p:spPr>
          <a:xfrm>
            <a:off x="838200" y="1825624"/>
            <a:ext cx="11353800" cy="5032375"/>
          </a:xfrm>
        </p:spPr>
        <p:txBody>
          <a:bodyPr/>
          <a:lstStyle/>
          <a:p>
            <a:r>
              <a:rPr lang="pt-BR" dirty="0" err="1"/>
              <a:t>CNNs</a:t>
            </a:r>
            <a:r>
              <a:rPr lang="pt-BR" dirty="0"/>
              <a:t> aprendem representações hierárquicas dos padrões da imagem.</a:t>
            </a:r>
          </a:p>
          <a:p>
            <a:r>
              <a:rPr lang="pt-BR" dirty="0"/>
              <a:t>Além disso, existe o </a:t>
            </a:r>
            <a:r>
              <a:rPr lang="en-US" dirty="0" err="1"/>
              <a:t>compartilhamento</a:t>
            </a:r>
            <a:r>
              <a:rPr lang="en-US" dirty="0"/>
              <a:t> de pesos, </a:t>
            </a:r>
            <a:r>
              <a:rPr lang="en-US" dirty="0" err="1"/>
              <a:t>que</a:t>
            </a:r>
            <a:r>
              <a:rPr lang="en-US" dirty="0"/>
              <a:t> </a:t>
            </a:r>
            <a:r>
              <a:rPr lang="pt-BR" dirty="0"/>
              <a:t>reduz drasticamente o número de pesos e melhora a generalização (modelo menor, menos risco de </a:t>
            </a:r>
            <a:r>
              <a:rPr lang="pt-BR" i="1" dirty="0" err="1"/>
              <a:t>overfitting</a:t>
            </a:r>
            <a:r>
              <a:rPr lang="pt-BR" dirty="0"/>
              <a:t>).</a:t>
            </a:r>
          </a:p>
          <a:p>
            <a:pPr lvl="1"/>
            <a:r>
              <a:rPr lang="pt-BR" b="1" dirty="0"/>
              <a:t>Como as </a:t>
            </a:r>
            <a:r>
              <a:rPr lang="pt-BR" b="1" dirty="0" err="1"/>
              <a:t>CNNs</a:t>
            </a:r>
            <a:r>
              <a:rPr lang="pt-BR" b="1" dirty="0"/>
              <a:t> exploram isso</a:t>
            </a:r>
          </a:p>
          <a:p>
            <a:pPr lvl="1"/>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pPr lvl="1"/>
            <a:r>
              <a:rPr lang="pt-BR" dirty="0"/>
              <a:t>o </a:t>
            </a:r>
            <a:r>
              <a:rPr lang="pt-BR" b="1" dirty="0"/>
              <a:t>mesmo filtro</a:t>
            </a:r>
            <a:r>
              <a:rPr lang="pt-BR" dirty="0"/>
              <a:t> é aplicado em toda a imagem.</a:t>
            </a:r>
          </a:p>
          <a:p>
            <a:endParaRPr lang="pt-BR" dirty="0"/>
          </a:p>
          <a:p>
            <a:endParaRPr lang="en-US" dirty="0"/>
          </a:p>
        </p:txBody>
      </p:sp>
    </p:spTree>
    <p:extLst>
      <p:ext uri="{BB962C8B-B14F-4D97-AF65-F5344CB8AC3E}">
        <p14:creationId xmlns:p14="http://schemas.microsoft.com/office/powerpoint/2010/main" val="15177953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54CA522-CA71-CBFD-EC99-4725C4DD3D10}"/>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CB79F787-5315-FBF6-A0E4-34883636131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358032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495A6D1-BBED-5F7A-9226-B0448DACB95F}"/>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414885D2-AE8E-18D1-4A2B-7D6007931A1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127038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C274D49-B499-19F5-FE0F-B9039404F76D}"/>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0253A8F1-D6F8-F152-1E7E-04AE245609D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164238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2A951B7-26D0-12FA-7AE3-4CD59110067D}"/>
              </a:ext>
            </a:extLst>
          </p:cNvPr>
          <p:cNvSpPr>
            <a:spLocks noGrp="1"/>
          </p:cNvSpPr>
          <p:nvPr>
            <p:ph type="title"/>
          </p:nvPr>
        </p:nvSpPr>
        <p:spPr/>
        <p:txBody>
          <a:bodyPr/>
          <a:lstStyle/>
          <a:p>
            <a:r>
              <a:rPr lang="pt-BR" dirty="0"/>
              <a:t>Filtros de convolução</a:t>
            </a:r>
          </a:p>
        </p:txBody>
      </p:sp>
      <p:sp>
        <p:nvSpPr>
          <p:cNvPr id="3" name="Espaço Reservado para Conteúdo 2">
            <a:extLst>
              <a:ext uri="{FF2B5EF4-FFF2-40B4-BE49-F238E27FC236}">
                <a16:creationId xmlns=""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dirty="0"/>
              <a:t>filtros de convolução</a:t>
            </a:r>
            <a:r>
              <a:rPr lang="pt-BR" dirty="0"/>
              <a:t> pode nos ajudar a </a:t>
            </a:r>
            <a:r>
              <a:rPr lang="pt-BR" dirty="0">
                <a:highlight>
                  <a:srgbClr val="FFFF00"/>
                </a:highlight>
              </a:rPr>
              <a:t>resolver esse problema. QUE PROBLE? REESCREVER!!!!!!</a:t>
            </a:r>
          </a:p>
          <a:p>
            <a:r>
              <a:rPr lang="pt-BR" dirty="0"/>
              <a:t>Os </a:t>
            </a:r>
            <a:r>
              <a:rPr lang="pt-BR" b="1" dirty="0"/>
              <a:t>filtros</a:t>
            </a:r>
            <a:r>
              <a:rPr lang="pt-BR" dirty="0"/>
              <a:t> podem ser </a:t>
            </a:r>
            <a:r>
              <a:rPr lang="pt-BR" b="1" dirty="0">
                <a:solidFill>
                  <a:srgbClr val="00B050"/>
                </a:solidFill>
              </a:rPr>
              <a:t>treinados para detectar características locais </a:t>
            </a:r>
            <a:r>
              <a:rPr lang="pt-BR" dirty="0"/>
              <a:t>que </a:t>
            </a:r>
            <a:r>
              <a:rPr lang="pt-BR" b="1" dirty="0">
                <a:solidFill>
                  <a:srgbClr val="7030A0"/>
                </a:solidFill>
              </a:rPr>
              <a:t>diferenciam pessoas de cavalos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13126058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Arquitetura geral </a:t>
            </a:r>
            <a:r>
              <a:rPr lang="pt-BR" dirty="0"/>
              <a:t>de uma CNN</a:t>
            </a:r>
          </a:p>
        </p:txBody>
      </p:sp>
      <p:sp>
        <p:nvSpPr>
          <p:cNvPr id="3" name="Espaço Reservado para Conteúdo 2"/>
          <p:cNvSpPr>
            <a:spLocks noGrp="1"/>
          </p:cNvSpPr>
          <p:nvPr>
            <p:ph idx="1"/>
          </p:nvPr>
        </p:nvSpPr>
        <p:spPr>
          <a:xfrm>
            <a:off x="8077200" y="1825624"/>
            <a:ext cx="4114800" cy="5032375"/>
          </a:xfrm>
        </p:spPr>
        <p:txBody>
          <a:bodyPr>
            <a:normAutofit/>
          </a:bodyPr>
          <a:lstStyle/>
          <a:p>
            <a:r>
              <a:rPr lang="en-US" dirty="0"/>
              <a:t>Uma CNN </a:t>
            </a:r>
            <a:r>
              <a:rPr lang="en-US" dirty="0" err="1"/>
              <a:t>geralmente</a:t>
            </a:r>
            <a:r>
              <a:rPr lang="en-US" dirty="0"/>
              <a:t> </a:t>
            </a:r>
            <a:r>
              <a:rPr lang="en-US" dirty="0" err="1"/>
              <a:t>possui</a:t>
            </a:r>
            <a:r>
              <a:rPr lang="en-US" dirty="0"/>
              <a:t>:</a:t>
            </a:r>
          </a:p>
          <a:p>
            <a:pPr lvl="1">
              <a:buFont typeface="Wingdings" panose="05000000000000000000" pitchFamily="2" charset="2"/>
              <a:buChar char="§"/>
            </a:pPr>
            <a:r>
              <a:rPr lang="en-US" dirty="0" err="1" smtClean="0"/>
              <a:t>Imagem</a:t>
            </a:r>
            <a:r>
              <a:rPr lang="en-US" dirty="0" smtClean="0"/>
              <a:t> de </a:t>
            </a:r>
            <a:r>
              <a:rPr lang="en-US" dirty="0" smtClean="0"/>
              <a:t>entrada</a:t>
            </a:r>
          </a:p>
          <a:p>
            <a:pPr lvl="1">
              <a:buFont typeface="Wingdings" panose="05000000000000000000" pitchFamily="2" charset="2"/>
              <a:buChar char="§"/>
            </a:pPr>
            <a:r>
              <a:rPr lang="en-US" dirty="0" smtClean="0"/>
              <a:t>Um </a:t>
            </a:r>
            <a:r>
              <a:rPr lang="en-US" dirty="0" err="1" smtClean="0"/>
              <a:t>ou</a:t>
            </a:r>
            <a:r>
              <a:rPr lang="en-US" dirty="0" smtClean="0"/>
              <a:t> </a:t>
            </a:r>
            <a:r>
              <a:rPr lang="en-US" dirty="0" err="1" smtClean="0"/>
              <a:t>mais</a:t>
            </a:r>
            <a:r>
              <a:rPr lang="en-US" dirty="0" smtClean="0"/>
              <a:t> </a:t>
            </a:r>
            <a:r>
              <a:rPr lang="en-US" dirty="0" err="1" smtClean="0"/>
              <a:t>grupos</a:t>
            </a:r>
            <a:r>
              <a:rPr lang="en-US" dirty="0" smtClean="0"/>
              <a:t> de</a:t>
            </a:r>
            <a:endParaRPr lang="en-US" dirty="0" smtClean="0"/>
          </a:p>
          <a:p>
            <a:pPr lvl="2">
              <a:buFont typeface="Courier New" panose="02070309020205020404" pitchFamily="49" charset="0"/>
              <a:buChar char="o"/>
            </a:pPr>
            <a:r>
              <a:rPr lang="en-US" dirty="0" err="1" smtClean="0"/>
              <a:t>Camadas</a:t>
            </a:r>
            <a:r>
              <a:rPr lang="en-US" dirty="0" smtClean="0"/>
              <a:t> de </a:t>
            </a:r>
            <a:r>
              <a:rPr lang="en-US" dirty="0" err="1" smtClean="0"/>
              <a:t>convolução</a:t>
            </a:r>
            <a:endParaRPr lang="en-US" dirty="0"/>
          </a:p>
          <a:p>
            <a:pPr lvl="2">
              <a:buFont typeface="Courier New" panose="02070309020205020404" pitchFamily="49" charset="0"/>
              <a:buChar char="o"/>
            </a:pPr>
            <a:r>
              <a:rPr lang="en-US" dirty="0" err="1" smtClean="0"/>
              <a:t>Funções</a:t>
            </a:r>
            <a:r>
              <a:rPr lang="en-US" dirty="0" smtClean="0"/>
              <a:t> de </a:t>
            </a:r>
            <a:r>
              <a:rPr lang="en-US" dirty="0" err="1" smtClean="0"/>
              <a:t>ativação</a:t>
            </a:r>
            <a:endParaRPr lang="en-US" dirty="0"/>
          </a:p>
          <a:p>
            <a:pPr lvl="2">
              <a:buFont typeface="Courier New" panose="02070309020205020404" pitchFamily="49" charset="0"/>
              <a:buChar char="o"/>
            </a:pPr>
            <a:r>
              <a:rPr lang="en-US" dirty="0" err="1" smtClean="0"/>
              <a:t>Camadas</a:t>
            </a:r>
            <a:r>
              <a:rPr lang="en-US" dirty="0" smtClean="0"/>
              <a:t> de </a:t>
            </a:r>
            <a:r>
              <a:rPr lang="en-US" i="1" dirty="0" smtClean="0"/>
              <a:t>pooling</a:t>
            </a:r>
            <a:endParaRPr lang="pt-BR" i="1" dirty="0" smtClean="0"/>
          </a:p>
          <a:p>
            <a:pPr lvl="1">
              <a:buFont typeface="Wingdings" panose="05000000000000000000" pitchFamily="2" charset="2"/>
              <a:buChar char="§"/>
            </a:pPr>
            <a:r>
              <a:rPr lang="pt-BR" dirty="0" smtClean="0"/>
              <a:t>Camada </a:t>
            </a:r>
            <a:r>
              <a:rPr lang="pt-BR" i="1" dirty="0" err="1" smtClean="0"/>
              <a:t>flatten</a:t>
            </a:r>
            <a:endParaRPr lang="pt-BR" i="1" dirty="0" smtClean="0"/>
          </a:p>
          <a:p>
            <a:pPr lvl="1">
              <a:buFont typeface="Wingdings" panose="05000000000000000000" pitchFamily="2" charset="2"/>
              <a:buChar char="§"/>
            </a:pPr>
            <a:r>
              <a:rPr lang="pt-BR" dirty="0" smtClean="0"/>
              <a:t>Uma ou mais c</a:t>
            </a:r>
            <a:r>
              <a:rPr lang="pt-BR" dirty="0" smtClean="0"/>
              <a:t>amadas </a:t>
            </a:r>
            <a:r>
              <a:rPr lang="pt-BR" dirty="0" smtClean="0"/>
              <a:t>totalmente conectadas</a:t>
            </a:r>
          </a:p>
          <a:p>
            <a:pPr lvl="1">
              <a:buFont typeface="Wingdings" panose="05000000000000000000" pitchFamily="2" charset="2"/>
              <a:buChar char="§"/>
            </a:pPr>
            <a:r>
              <a:rPr lang="pt-BR" dirty="0" smtClean="0"/>
              <a:t>Função de ativação </a:t>
            </a:r>
            <a:r>
              <a:rPr lang="pt-BR" i="1" dirty="0" err="1" smtClean="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48459"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8AE4793-151C-2CA5-C485-E1D4FC40C3DE}"/>
              </a:ext>
            </a:extLst>
          </p:cNvPr>
          <p:cNvSpPr>
            <a:spLocks noGrp="1"/>
          </p:cNvSpPr>
          <p:nvPr>
            <p:ph type="title"/>
          </p:nvPr>
        </p:nvSpPr>
        <p:spPr/>
        <p:txBody>
          <a:bodyPr/>
          <a:lstStyle/>
          <a:p>
            <a:r>
              <a:rPr lang="pt-BR" dirty="0" smtClean="0"/>
              <a:t>Imagens</a:t>
            </a:r>
            <a:endParaRPr lang="pt-BR" dirty="0"/>
          </a:p>
        </p:txBody>
      </p:sp>
      <p:sp>
        <p:nvSpPr>
          <p:cNvPr id="3" name="Espaço Reservado para Conteúdo 2">
            <a:extLst>
              <a:ext uri="{FF2B5EF4-FFF2-40B4-BE49-F238E27FC236}">
                <a16:creationId xmlns=""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smtClean="0"/>
              <a:t>Podemos agrupar as imagens em dois tipos: coloridas e em tons de cinza.</a:t>
            </a:r>
          </a:p>
          <a:p>
            <a:r>
              <a:rPr lang="pt-BR" dirty="0" smtClean="0"/>
              <a:t>Em imagens coloridas, cada </a:t>
            </a:r>
            <a:r>
              <a:rPr lang="pt-BR" i="1" dirty="0"/>
              <a:t>pixel</a:t>
            </a:r>
            <a:r>
              <a:rPr lang="pt-BR" dirty="0"/>
              <a:t> possui três valores: vermelho (R), verde (G) e azul (B).</a:t>
            </a:r>
          </a:p>
          <a:p>
            <a:r>
              <a:rPr lang="pt-BR" dirty="0" smtClean="0"/>
              <a:t>Elas possuem 3 dimensões:</a:t>
            </a:r>
          </a:p>
          <a:p>
            <a:pPr lvl="1">
              <a:buFont typeface="Wingdings" panose="05000000000000000000" pitchFamily="2" charset="2"/>
              <a:buChar char="§"/>
            </a:pPr>
            <a:r>
              <a:rPr lang="pt-BR" dirty="0"/>
              <a:t>altura × largura </a:t>
            </a:r>
            <a:r>
              <a:rPr lang="pt-BR" dirty="0" smtClean="0"/>
              <a:t>× 3 canais</a:t>
            </a:r>
          </a:p>
          <a:p>
            <a:pPr lvl="1">
              <a:buFont typeface="Wingdings" panose="05000000000000000000" pitchFamily="2" charset="2"/>
              <a:buChar char="§"/>
            </a:pPr>
            <a:r>
              <a:rPr lang="pt-BR" dirty="0" smtClean="0"/>
              <a:t>Cada canal indicada a quantidade de cada cor.</a:t>
            </a:r>
            <a:endParaRPr lang="pt-BR" dirty="0"/>
          </a:p>
          <a:p>
            <a:r>
              <a:rPr lang="pt-BR" dirty="0" smtClean="0"/>
              <a:t>Imagens em tons de cinza são bidimensionais:</a:t>
            </a:r>
          </a:p>
          <a:p>
            <a:pPr lvl="1">
              <a:buFont typeface="Wingdings" panose="05000000000000000000" pitchFamily="2" charset="2"/>
              <a:buChar char="§"/>
            </a:pPr>
            <a:r>
              <a:rPr lang="pt-BR" dirty="0"/>
              <a:t>altura × </a:t>
            </a:r>
            <a:r>
              <a:rPr lang="pt-BR" dirty="0" smtClean="0"/>
              <a:t>largura</a:t>
            </a:r>
          </a:p>
          <a:p>
            <a:pPr lvl="1">
              <a:buFont typeface="Wingdings" panose="05000000000000000000" pitchFamily="2" charset="2"/>
              <a:buChar char="§"/>
            </a:pPr>
            <a:r>
              <a:rPr lang="pt-BR" dirty="0" smtClean="0"/>
              <a:t>Cada </a:t>
            </a:r>
            <a:r>
              <a:rPr lang="pt-BR" i="1" dirty="0" smtClean="0"/>
              <a:t>pixel</a:t>
            </a:r>
            <a:r>
              <a:rPr lang="pt-BR" dirty="0" smtClean="0"/>
              <a:t> carrega apenas </a:t>
            </a:r>
            <a:r>
              <a:rPr lang="pt-BR" dirty="0"/>
              <a:t>informação de intensidade luminosa</a:t>
            </a:r>
            <a:endParaRPr lang="pt-BR" dirty="0" smtClean="0"/>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Camada de </a:t>
            </a:r>
            <a:r>
              <a:rPr lang="pt-BR" dirty="0" err="1" smtClean="0"/>
              <a:t>convolução</a:t>
            </a:r>
            <a:endParaRPr lang="pt-BR" dirty="0"/>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2676945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graphicFrame>
          <p:nvGraphicFramePr>
            <p:cNvPr id="7" name="Tabela 4">
              <a:extLst>
                <a:ext uri="{FF2B5EF4-FFF2-40B4-BE49-F238E27FC236}">
                  <a16:creationId xmlns=""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graphicFrame>
          <p:nvGraphicFramePr>
            <p:cNvPr id="4" name="Tabela 4">
              <a:extLst>
                <a:ext uri="{FF2B5EF4-FFF2-40B4-BE49-F238E27FC236}">
                  <a16:creationId xmlns=""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p:sp>
          <p:nvSpPr>
            <p:cNvPr id="5" name="CaixaDeTexto 4">
              <a:extLst>
                <a:ext uri="{FF2B5EF4-FFF2-40B4-BE49-F238E27FC236}">
                  <a16:creationId xmlns=""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sp>
          <p:nvSpPr>
            <p:cNvPr id="9" name="CaixaDeTexto 8">
              <a:extLst>
                <a:ext uri="{FF2B5EF4-FFF2-40B4-BE49-F238E27FC236}">
                  <a16:creationId xmlns=""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graphicFrame>
          <p:nvGraphicFramePr>
            <p:cNvPr id="12" name="Tabela 4">
              <a:extLst>
                <a:ext uri="{FF2B5EF4-FFF2-40B4-BE49-F238E27FC236}">
                  <a16:creationId xmlns=""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graphicFrame>
          <p:nvGraphicFramePr>
            <p:cNvPr id="13" name="Tabela 4">
              <a:extLst>
                <a:ext uri="{FF2B5EF4-FFF2-40B4-BE49-F238E27FC236}">
                  <a16:creationId xmlns=""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p:sp>
          <p:nvSpPr>
            <p:cNvPr id="14" name="CaixaDeTexto 13">
              <a:extLst>
                <a:ext uri="{FF2B5EF4-FFF2-40B4-BE49-F238E27FC236}">
                  <a16:creationId xmlns=""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sp>
          <p:nvSpPr>
            <p:cNvPr id="16" name="CaixaDeTexto 15">
              <a:extLst>
                <a:ext uri="{FF2B5EF4-FFF2-40B4-BE49-F238E27FC236}">
                  <a16:creationId xmlns=""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907704462"/>
                  </a:ext>
                </a:extLst>
              </a:tr>
            </a:tbl>
          </a:graphicData>
        </a:graphic>
      </p:graphicFrame>
      <p:graphicFrame>
        <p:nvGraphicFramePr>
          <p:cNvPr id="8" name="Tabela 4">
            <a:extLst>
              <a:ext uri="{FF2B5EF4-FFF2-40B4-BE49-F238E27FC236}">
                <a16:creationId xmlns=""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p:sp>
        <p:nvSpPr>
          <p:cNvPr id="15" name="CaixaDeTexto 14">
            <a:extLst>
              <a:ext uri="{FF2B5EF4-FFF2-40B4-BE49-F238E27FC236}">
                <a16:creationId xmlns=""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907704462"/>
                  </a:ext>
                </a:extLst>
              </a:tr>
            </a:tbl>
          </a:graphicData>
        </a:graphic>
      </p:graphicFrame>
      <p:graphicFrame>
        <p:nvGraphicFramePr>
          <p:cNvPr id="8" name="Tabela 4">
            <a:extLst>
              <a:ext uri="{FF2B5EF4-FFF2-40B4-BE49-F238E27FC236}">
                <a16:creationId xmlns=""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p:sp>
        <p:nvSpPr>
          <p:cNvPr id="15" name="CaixaDeTexto 14">
            <a:extLst>
              <a:ext uri="{FF2B5EF4-FFF2-40B4-BE49-F238E27FC236}">
                <a16:creationId xmlns=""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907704462"/>
                  </a:ext>
                </a:extLst>
              </a:tr>
            </a:tbl>
          </a:graphicData>
        </a:graphic>
      </p:graphicFrame>
      <p:graphicFrame>
        <p:nvGraphicFramePr>
          <p:cNvPr id="8" name="Tabela 4">
            <a:extLst>
              <a:ext uri="{FF2B5EF4-FFF2-40B4-BE49-F238E27FC236}">
                <a16:creationId xmlns=""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p:sp>
        <p:nvSpPr>
          <p:cNvPr id="15" name="CaixaDeTexto 14">
            <a:extLst>
              <a:ext uri="{FF2B5EF4-FFF2-40B4-BE49-F238E27FC236}">
                <a16:creationId xmlns=""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907704462"/>
                  </a:ext>
                </a:extLst>
              </a:tr>
            </a:tbl>
          </a:graphicData>
        </a:graphic>
      </p:graphicFrame>
      <p:graphicFrame>
        <p:nvGraphicFramePr>
          <p:cNvPr id="8" name="Tabela 4">
            <a:extLst>
              <a:ext uri="{FF2B5EF4-FFF2-40B4-BE49-F238E27FC236}">
                <a16:creationId xmlns=""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p:sp>
        <p:nvSpPr>
          <p:cNvPr id="15" name="CaixaDeTexto 14">
            <a:extLst>
              <a:ext uri="{FF2B5EF4-FFF2-40B4-BE49-F238E27FC236}">
                <a16:creationId xmlns=""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 xmlns:a16="http://schemas.microsoft.com/office/drawing/2014/main" id="{F2D259D8-2FCF-3974-1561-D1364A9EC8C6}"/>
              </a:ext>
            </a:extLst>
          </p:cNvPr>
          <p:cNvSpPr>
            <a:spLocks noGrp="1"/>
          </p:cNvSpPr>
          <p:nvPr>
            <p:ph idx="1"/>
          </p:nvPr>
        </p:nvSpPr>
        <p:spPr>
          <a:xfrm>
            <a:off x="5485461" y="1825624"/>
            <a:ext cx="6556345" cy="5032375"/>
          </a:xfrm>
        </p:spPr>
        <p:txBody>
          <a:bodyPr>
            <a:normAutofit/>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solidFill>
                      <a:schemeClr val="accent2"/>
                    </a:solidFill>
                  </a:rPr>
                  <a:t>empilhamento</a:t>
                </a:r>
                <a:r>
                  <a:rPr lang="pt-BR" b="1" i="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rotWithShape="0">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a:t>
            </a:r>
            <a:r>
              <a:rPr lang="pt-BR" b="0" i="0" dirty="0" err="1">
                <a:effectLst/>
              </a:rPr>
              <a:t>convolução</a:t>
            </a:r>
            <a:r>
              <a:rPr lang="pt-BR" b="0" i="0" dirty="0">
                <a:effectLst/>
              </a:rPr>
              <a:t> e ativação </a:t>
            </a:r>
            <a:r>
              <a:rPr lang="pt-BR" b="1" i="1" dirty="0">
                <a:solidFill>
                  <a:srgbClr val="00B050"/>
                </a:solidFill>
              </a:rPr>
              <a:t>a</a:t>
            </a:r>
            <a:r>
              <a:rPr lang="pt-BR" b="1" i="1" dirty="0">
                <a:solidFill>
                  <a:srgbClr val="00B050"/>
                </a:solidFill>
                <a:effectLst/>
              </a:rPr>
              <a:t> cada trecho da entrada da camada</a:t>
            </a:r>
            <a:r>
              <a:rPr lang="pt-BR" dirty="0">
                <a:effectLst/>
              </a:rPr>
              <a:t> (e.g., imagem)</a:t>
            </a:r>
            <a:r>
              <a:rPr lang="pt-BR" b="0" i="0" dirty="0">
                <a:effectLst/>
              </a:rPr>
              <a:t>.</a:t>
            </a:r>
          </a:p>
          <a:p>
            <a:r>
              <a:rPr lang="pt-BR" dirty="0"/>
              <a:t>A saída do bloco é obtida aplicando-se uma operação de </a:t>
            </a:r>
            <a:r>
              <a:rPr lang="pt-BR" b="1" i="1" dirty="0" err="1">
                <a:solidFill>
                  <a:schemeClr val="accent2"/>
                </a:solidFill>
              </a:rPr>
              <a:t>subamostragem</a:t>
            </a:r>
            <a:r>
              <a:rPr lang="pt-BR" dirty="0">
                <a:solidFill>
                  <a:schemeClr val="accent2"/>
                </a:solidFill>
              </a:rPr>
              <a:t> </a:t>
            </a:r>
            <a:r>
              <a:rPr lang="pt-BR" dirty="0"/>
              <a:t>ao mapa de características</a:t>
            </a:r>
            <a:r>
              <a:rPr lang="pt-BR" b="0" i="0" dirty="0">
                <a:effectLst/>
              </a:rPr>
              <a:t>.</a:t>
            </a:r>
          </a:p>
        </p:txBody>
      </p:sp>
      <p:pic>
        <p:nvPicPr>
          <p:cNvPr id="1026" name="Picture 2" descr="Understanding Convolutional Neural Network: A Complete Guide">
            <a:extLst>
              <a:ext uri="{FF2B5EF4-FFF2-40B4-BE49-F238E27FC236}">
                <a16:creationId xmlns=""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a:t>
            </a:r>
            <a:r>
              <a:rPr lang="pt-BR" dirty="0"/>
              <a:t>i.e.</a:t>
            </a:r>
            <a:r>
              <a:rPr lang="pt-BR" b="0" i="0" dirty="0">
                <a:effectLst/>
              </a:rPr>
              <a:t>, linhas horizontais, linhas verticais e linhas diagonais). </a:t>
            </a:r>
            <a:endParaRPr lang="pt-BR" dirty="0"/>
          </a:p>
        </p:txBody>
      </p:sp>
      <p:pic>
        <p:nvPicPr>
          <p:cNvPr id="1026" name="Picture 2" descr="Convolutional layer with three filters.">
            <a:extLst>
              <a:ext uri="{FF2B5EF4-FFF2-40B4-BE49-F238E27FC236}">
                <a16:creationId xmlns=""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sp>
        <p:nvSpPr>
          <p:cNvPr id="11" name="Seta: para a Direita 10">
            <a:extLst>
              <a:ext uri="{FF2B5EF4-FFF2-40B4-BE49-F238E27FC236}">
                <a16:creationId xmlns=""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pic>
        <p:nvPicPr>
          <p:cNvPr id="3074" name="Picture 2">
            <a:extLst>
              <a:ext uri="{FF2B5EF4-FFF2-40B4-BE49-F238E27FC236}">
                <a16:creationId xmlns=""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Função de ativação</a:t>
            </a:r>
            <a:endParaRPr lang="pt-BR" dirty="0"/>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smtClean="0"/>
              <a:t>A função </a:t>
            </a:r>
            <a:r>
              <a:rPr lang="pt-BR" dirty="0"/>
              <a:t>de ativação é aplicada diretamente ao mapa de características (</a:t>
            </a:r>
            <a:r>
              <a:rPr lang="pt-BR" i="1" dirty="0" err="1"/>
              <a:t>feature</a:t>
            </a:r>
            <a:r>
              <a:rPr lang="pt-BR" i="1" dirty="0"/>
              <a:t> </a:t>
            </a:r>
            <a:r>
              <a:rPr lang="pt-BR" i="1" dirty="0" err="1"/>
              <a:t>map</a:t>
            </a:r>
            <a:r>
              <a:rPr lang="pt-BR" dirty="0"/>
              <a:t>) de forma elemento a </a:t>
            </a:r>
            <a:r>
              <a:rPr lang="pt-BR" dirty="0" smtClean="0"/>
              <a:t>elemento.</a:t>
            </a:r>
          </a:p>
          <a:p>
            <a:r>
              <a:rPr lang="pt-BR" dirty="0" smtClean="0"/>
              <a:t>Isso </a:t>
            </a:r>
            <a:r>
              <a:rPr lang="pt-BR" dirty="0"/>
              <a:t>significa que cada valor do mapa é transformado individualmente pela função de ativação</a:t>
            </a:r>
            <a:r>
              <a:rPr lang="pt-BR" dirty="0" smtClean="0"/>
              <a:t>.</a:t>
            </a:r>
          </a:p>
          <a:p>
            <a:r>
              <a:rPr lang="pt-BR" dirty="0" smtClean="0"/>
              <a:t>Em geral, para evitar o desaparecimento do gradiente, se </a:t>
            </a:r>
            <a:r>
              <a:rPr lang="pt-BR" dirty="0"/>
              <a:t>usa </a:t>
            </a:r>
            <a:r>
              <a:rPr lang="pt-BR" dirty="0" smtClean="0"/>
              <a:t>funções </a:t>
            </a:r>
            <a:r>
              <a:rPr lang="pt-BR" dirty="0"/>
              <a:t>de </a:t>
            </a:r>
            <a:r>
              <a:rPr lang="pt-BR" dirty="0" smtClean="0"/>
              <a:t>ativação do tipo </a:t>
            </a:r>
            <a:r>
              <a:rPr lang="pt-BR" dirty="0" err="1"/>
              <a:t>ReLU</a:t>
            </a:r>
            <a:r>
              <a:rPr lang="pt-BR" dirty="0"/>
              <a:t> ou uma de suas variantes.</a:t>
            </a:r>
          </a:p>
          <a:p>
            <a:endParaRPr lang="pt-BR" dirty="0"/>
          </a:p>
        </p:txBody>
      </p:sp>
      <p:grpSp>
        <p:nvGrpSpPr>
          <p:cNvPr id="10" name="Grupo 9"/>
          <p:cNvGrpSpPr/>
          <p:nvPr/>
        </p:nvGrpSpPr>
        <p:grpSpPr>
          <a:xfrm>
            <a:off x="1537189" y="2119470"/>
            <a:ext cx="1590244" cy="3716340"/>
            <a:chOff x="1552429" y="1936590"/>
            <a:chExt cx="1590244" cy="3716340"/>
          </a:xfrm>
        </p:grpSpPr>
        <p:graphicFrame>
          <p:nvGraphicFramePr>
            <p:cNvPr id="4" name="Tabela 4">
              <a:extLst>
                <a:ext uri="{FF2B5EF4-FFF2-40B4-BE49-F238E27FC236}">
                  <a16:creationId xmlns="" xmlns:mc="http://schemas.openxmlformats.org/markup-compatibility/2006" xmlns:a14="http://schemas.microsoft.com/office/drawing/2010/main"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 xmlns:mc="http://schemas.openxmlformats.org/markup-compatibility/2006" xmlns:a14="http://schemas.microsoft.com/office/drawing/2010/main" xmlns:a16="http://schemas.microsoft.com/office/drawing/2014/main" val="3650072185"/>
                      </a:ext>
                    </a:extLst>
                  </a:gridCol>
                  <a:gridCol w="685209">
                    <a:extLst>
                      <a:ext uri="{9D8B030D-6E8A-4147-A177-3AD203B41FA5}">
                        <a16:colId xmlns="" xmlns:mc="http://schemas.openxmlformats.org/markup-compatibility/2006" xmlns:a14="http://schemas.microsoft.com/office/drawing/2010/main" xmlns:a16="http://schemas.microsoft.com/office/drawing/2014/main" val="1992468736"/>
                      </a:ext>
                    </a:extLst>
                  </a:gridCol>
                </a:tblGrid>
                <a:tr h="498238">
                  <a:tc>
                    <a:txBody>
                      <a:bodyPr/>
                      <a:lstStyle/>
                      <a:p>
                        <a:pPr algn="ctr"/>
                        <a:r>
                          <a:rPr lang="pt-BR" b="0" dirty="0" smtClean="0">
                            <a:solidFill>
                              <a:schemeClr val="tx1"/>
                            </a:solidFill>
                          </a:rPr>
                          <a:t>-1.5</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10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mc="http://schemas.openxmlformats.org/markup-compatibility/2006" xmlns:a14="http://schemas.microsoft.com/office/drawing/2010/main"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-3.7</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mc="http://schemas.openxmlformats.org/markup-compatibility/2006" xmlns:a14="http://schemas.microsoft.com/office/drawing/2010/main" xmlns:a16="http://schemas.microsoft.com/office/drawing/2014/main" val="505587699"/>
                    </a:ext>
                  </a:extLst>
                </a:tr>
              </a:tbl>
            </a:graphicData>
          </a:graphic>
        </p:graphicFrame>
        <p:sp>
          <p:nvSpPr>
            <p:cNvPr id="5" name="CaixaDeTexto 4"/>
            <p:cNvSpPr txBox="1"/>
            <p:nvPr/>
          </p:nvSpPr>
          <p:spPr>
            <a:xfrm>
              <a:off x="1552429" y="1936590"/>
              <a:ext cx="1590244" cy="369332"/>
            </a:xfrm>
            <a:prstGeom prst="rect">
              <a:avLst/>
            </a:prstGeom>
            <a:noFill/>
          </p:spPr>
          <p:txBody>
            <a:bodyPr wrap="none" rtlCol="0">
              <a:spAutoFit/>
            </a:bodyPr>
            <a:lstStyle/>
            <a:p>
              <a:r>
                <a:rPr lang="pt-BR" i="1" dirty="0" err="1" smtClean="0"/>
                <a:t>Feature</a:t>
              </a:r>
              <a:r>
                <a:rPr lang="pt-BR" i="1" dirty="0" smtClean="0"/>
                <a:t> </a:t>
              </a:r>
              <a:r>
                <a:rPr lang="pt-BR" i="1" dirty="0" err="1" smtClean="0"/>
                <a:t>map</a:t>
              </a:r>
              <a:r>
                <a:rPr lang="pt-BR" i="1" dirty="0" smtClean="0"/>
                <a:t>, </a:t>
              </a:r>
              <a:r>
                <a:rPr lang="pt-BR" dirty="0" smtClean="0"/>
                <a:t>F</a:t>
              </a:r>
              <a:endParaRPr lang="pt-BR" dirty="0"/>
            </a:p>
          </p:txBody>
        </p:sp>
        <p:sp>
          <p:nvSpPr>
            <p:cNvPr id="6" name="CaixaDeTexto 5"/>
            <p:cNvSpPr txBox="1"/>
            <p:nvPr/>
          </p:nvSpPr>
          <p:spPr>
            <a:xfrm>
              <a:off x="1821862" y="3794760"/>
              <a:ext cx="1051378" cy="369332"/>
            </a:xfrm>
            <a:prstGeom prst="rect">
              <a:avLst/>
            </a:prstGeom>
            <a:noFill/>
          </p:spPr>
          <p:txBody>
            <a:bodyPr wrap="none" rtlCol="0">
              <a:spAutoFit/>
            </a:bodyPr>
            <a:lstStyle/>
            <a:p>
              <a:r>
                <a:rPr lang="pt-BR" dirty="0" err="1"/>
                <a:t>m</a:t>
              </a:r>
              <a:r>
                <a:rPr lang="pt-BR" dirty="0" err="1" smtClean="0"/>
                <a:t>ax</a:t>
              </a:r>
              <a:r>
                <a:rPr lang="pt-BR" dirty="0" smtClean="0"/>
                <a:t>(0, F)</a:t>
              </a:r>
              <a:endParaRPr lang="pt-BR" dirty="0"/>
            </a:p>
          </p:txBody>
        </p:sp>
        <p:sp>
          <p:nvSpPr>
            <p:cNvPr id="7" name="Seta para a direita 6"/>
            <p:cNvSpPr/>
            <p:nvPr/>
          </p:nvSpPr>
          <p:spPr>
            <a:xfrm rot="5400000">
              <a:off x="2187531" y="3497580"/>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aphicFrame>
          <p:nvGraphicFramePr>
            <p:cNvPr id="8" name="Tabela 4">
              <a:extLst>
                <a:ext uri="{FF2B5EF4-FFF2-40B4-BE49-F238E27FC236}">
                  <a16:creationId xmlns="" xmlns:mc="http://schemas.openxmlformats.org/markup-compatibility/2006" xmlns:a14="http://schemas.microsoft.com/office/drawing/2010/main"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 xmlns:mc="http://schemas.openxmlformats.org/markup-compatibility/2006" xmlns:a14="http://schemas.microsoft.com/office/drawing/2010/main" xmlns:a16="http://schemas.microsoft.com/office/drawing/2014/main" val="3650072185"/>
                      </a:ext>
                    </a:extLst>
                  </a:gridCol>
                  <a:gridCol w="685209">
                    <a:extLst>
                      <a:ext uri="{9D8B030D-6E8A-4147-A177-3AD203B41FA5}">
                        <a16:colId xmlns="" xmlns:mc="http://schemas.openxmlformats.org/markup-compatibility/2006" xmlns:a14="http://schemas.microsoft.com/office/drawing/2010/main" xmlns:a16="http://schemas.microsoft.com/office/drawing/2014/main" val="1992468736"/>
                      </a:ext>
                    </a:extLst>
                  </a:gridCol>
                </a:tblGrid>
                <a:tr h="498238">
                  <a:tc>
                    <a:txBody>
                      <a:bodyPr/>
                      <a:lstStyle/>
                      <a:p>
                        <a:pPr algn="ctr"/>
                        <a:r>
                          <a:rPr lang="pt-BR" b="0" dirty="0" smtClean="0">
                            <a:solidFill>
                              <a:schemeClr val="tx1"/>
                            </a:solidFill>
                          </a:rPr>
                          <a:t>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10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mc="http://schemas.openxmlformats.org/markup-compatibility/2006" xmlns:a14="http://schemas.microsoft.com/office/drawing/2010/main"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mc="http://schemas.openxmlformats.org/markup-compatibility/2006" xmlns:a14="http://schemas.microsoft.com/office/drawing/2010/main" xmlns:a16="http://schemas.microsoft.com/office/drawing/2014/main" val="505587699"/>
                    </a:ext>
                  </a:extLst>
                </a:tr>
              </a:tbl>
            </a:graphicData>
          </a:graphic>
        </p:graphicFrame>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 xmlns:a16="http://schemas.microsoft.com/office/drawing/2014/main" id="{0757EF79-7D6D-120A-5FF5-D61E8B4B343B}"/>
              </a:ext>
            </a:extLst>
          </p:cNvPr>
          <p:cNvSpPr>
            <a:spLocks noGrp="1"/>
          </p:cNvSpPr>
          <p:nvPr>
            <p:ph idx="1"/>
          </p:nvPr>
        </p:nvSpPr>
        <p:spPr>
          <a:xfrm>
            <a:off x="5626100" y="1825624"/>
            <a:ext cx="6356351" cy="5032375"/>
          </a:xfrm>
        </p:spPr>
        <p:txBody>
          <a:bodyPr>
            <a:normAutofit fontScale="92500" lnSpcReduction="2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a:t>
            </a:r>
            <a:r>
              <a:rPr lang="pt-BR" dirty="0" smtClean="0"/>
              <a:t>entrada</a:t>
            </a:r>
            <a:r>
              <a:rPr lang="pt-BR" dirty="0"/>
              <a:t>: </a:t>
            </a:r>
            <a:r>
              <a:rPr lang="pt-BR" dirty="0" smtClean="0"/>
              <a:t>reduz </a:t>
            </a:r>
            <a:r>
              <a:rPr lang="pt-BR" dirty="0"/>
              <a:t>o tamanho espacial do mapa de </a:t>
            </a:r>
            <a:r>
              <a:rPr lang="pt-BR" dirty="0" smtClean="0"/>
              <a:t>características.</a:t>
            </a:r>
            <a:endParaRPr lang="pt-BR" dirty="0"/>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a:t>
            </a:r>
            <a:r>
              <a:rPr lang="pt-BR" b="1" i="1" dirty="0">
                <a:solidFill>
                  <a:schemeClr val="accent2"/>
                </a:solidFill>
                <a:effectLst/>
              </a:rPr>
              <a:t>mais robusta a pequenas mudanças na posição</a:t>
            </a:r>
            <a:r>
              <a:rPr lang="pt-BR" b="1" i="1" dirty="0">
                <a:solidFill>
                  <a:srgbClr val="00B050"/>
                </a:solidFill>
                <a:effectLst/>
              </a:rPr>
              <a:t> das características</a:t>
            </a:r>
            <a:r>
              <a:rPr lang="pt-BR" b="0" i="0" dirty="0">
                <a:effectLst/>
              </a:rPr>
              <a:t>, o que é útil em tarefas de reconhecimento de objetos</a:t>
            </a:r>
            <a:r>
              <a:rPr lang="pt-BR" b="0" i="0" dirty="0" smtClean="0">
                <a:effectLst/>
              </a:rPr>
              <a:t>.</a:t>
            </a:r>
          </a:p>
          <a:p>
            <a:r>
              <a:rPr lang="pt-BR" dirty="0" smtClean="0"/>
              <a:t>Ela mantém </a:t>
            </a:r>
            <a:r>
              <a:rPr lang="pt-BR" dirty="0"/>
              <a:t>apenas as informações mais importante</a:t>
            </a:r>
          </a:p>
        </p:txBody>
      </p:sp>
      <p:pic>
        <p:nvPicPr>
          <p:cNvPr id="6" name="Imagem 5">
            <a:extLst>
              <a:ext uri="{FF2B5EF4-FFF2-40B4-BE49-F238E27FC236}">
                <a16:creationId xmlns=""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907704462"/>
                  </a:ext>
                </a:extLst>
              </a:tr>
            </a:tbl>
          </a:graphicData>
        </a:graphic>
      </p:graphicFrame>
      <p:graphicFrame>
        <p:nvGraphicFramePr>
          <p:cNvPr id="6" name="Tabela 4">
            <a:extLst>
              <a:ext uri="{FF2B5EF4-FFF2-40B4-BE49-F238E27FC236}">
                <a16:creationId xmlns=""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sp>
        <p:nvSpPr>
          <p:cNvPr id="11" name="CaixaDeTexto 10">
            <a:extLst>
              <a:ext uri="{FF2B5EF4-FFF2-40B4-BE49-F238E27FC236}">
                <a16:creationId xmlns=""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gridCol w="435303">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907704462"/>
                  </a:ext>
                </a:extLst>
              </a:tr>
            </a:tbl>
          </a:graphicData>
        </a:graphic>
      </p:graphicFrame>
      <p:graphicFrame>
        <p:nvGraphicFramePr>
          <p:cNvPr id="6" name="Tabela 4">
            <a:extLst>
              <a:ext uri="{FF2B5EF4-FFF2-40B4-BE49-F238E27FC236}">
                <a16:creationId xmlns=""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p:sp>
        <p:nvSpPr>
          <p:cNvPr id="11" name="CaixaDeTexto 10">
            <a:extLst>
              <a:ext uri="{FF2B5EF4-FFF2-40B4-BE49-F238E27FC236}">
                <a16:creationId xmlns=""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29867DE-93F9-6F75-29F2-7E94E1E64828}"/>
              </a:ext>
            </a:extLst>
          </p:cNvPr>
          <p:cNvSpPr>
            <a:spLocks noGrp="1"/>
          </p:cNvSpPr>
          <p:nvPr>
            <p:ph type="title"/>
          </p:nvPr>
        </p:nvSpPr>
        <p:spPr/>
        <p:txBody>
          <a:bodyPr/>
          <a:lstStyle/>
          <a:p>
            <a:r>
              <a:rPr lang="pt-BR" dirty="0" smtClean="0"/>
              <a:t>Camada de </a:t>
            </a:r>
            <a:r>
              <a:rPr lang="pt-BR" i="1" dirty="0" err="1" smtClean="0"/>
              <a:t>flatten</a:t>
            </a:r>
            <a:endParaRPr lang="pt-BR" i="1" dirty="0"/>
          </a:p>
        </p:txBody>
      </p:sp>
      <p:sp>
        <p:nvSpPr>
          <p:cNvPr id="3" name="Espaço Reservado para Conteúdo 2">
            <a:extLst>
              <a:ext uri="{FF2B5EF4-FFF2-40B4-BE49-F238E27FC236}">
                <a16:creationId xmlns=""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smtClean="0"/>
              <a:t>Na saída da etapa de extração de características temos vários mapas de </a:t>
            </a:r>
            <a:r>
              <a:rPr lang="pt-BR" dirty="0"/>
              <a:t>características </a:t>
            </a:r>
            <a:r>
              <a:rPr lang="pt-BR" dirty="0" smtClean="0"/>
              <a:t>, formando um volume 3D de dados.</a:t>
            </a:r>
            <a:endParaRPr lang="pt-BR" dirty="0" smtClean="0"/>
          </a:p>
          <a:p>
            <a:r>
              <a:rPr lang="pt-BR" dirty="0" smtClean="0"/>
              <a:t>Porém, as </a:t>
            </a:r>
            <a:r>
              <a:rPr lang="pt-BR" b="1" dirty="0"/>
              <a:t>camadas </a:t>
            </a:r>
            <a:r>
              <a:rPr lang="pt-BR" b="1" dirty="0" smtClean="0"/>
              <a:t>densas </a:t>
            </a:r>
            <a:r>
              <a:rPr lang="pt-BR" dirty="0" smtClean="0"/>
              <a:t>trabalham </a:t>
            </a:r>
            <a:r>
              <a:rPr lang="pt-BR" dirty="0"/>
              <a:t>com </a:t>
            </a:r>
            <a:r>
              <a:rPr lang="pt-BR" b="1" dirty="0"/>
              <a:t>vetores 1D</a:t>
            </a:r>
            <a:r>
              <a:rPr lang="pt-BR" dirty="0"/>
              <a:t>.</a:t>
            </a:r>
          </a:p>
          <a:p>
            <a:r>
              <a:rPr lang="pt-BR" dirty="0" smtClean="0"/>
              <a:t>Assim, </a:t>
            </a:r>
            <a:r>
              <a:rPr lang="pt-BR" dirty="0" smtClean="0"/>
              <a:t>precisamos transformar os mapas de características em </a:t>
            </a:r>
            <a:r>
              <a:rPr lang="pt-BR" dirty="0" smtClean="0"/>
              <a:t>vetores 1D.</a:t>
            </a:r>
          </a:p>
          <a:p>
            <a:r>
              <a:rPr lang="pt-BR" dirty="0" smtClean="0"/>
              <a:t>Ela não </a:t>
            </a:r>
            <a:r>
              <a:rPr lang="pt-BR" dirty="0"/>
              <a:t>possui parâmetros </a:t>
            </a:r>
            <a:r>
              <a:rPr lang="pt-BR" dirty="0" smtClean="0"/>
              <a:t>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 xmlns:a16="http://schemas.microsoft.com/office/drawing/2014/main" xmlns:a14="http://schemas.microsoft.com/office/drawing/2010/main" xmlns:mc="http://schemas.openxmlformats.org/markup-compatibility/2006"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xmlns:a14="http://schemas.microsoft.com/office/drawing/2010/main" xmlns:mc="http://schemas.openxmlformats.org/markup-compatibility/2006" val="3650072185"/>
                      </a:ext>
                    </a:extLst>
                  </a:gridCol>
                  <a:gridCol w="435303">
                    <a:extLst>
                      <a:ext uri="{9D8B030D-6E8A-4147-A177-3AD203B41FA5}">
                        <a16:colId xmlns="" xmlns:a16="http://schemas.microsoft.com/office/drawing/2014/main" xmlns:a14="http://schemas.microsoft.com/office/drawing/2010/main" xmlns:mc="http://schemas.openxmlformats.org/markup-compatibility/2006"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xmlns:a14="http://schemas.microsoft.com/office/drawing/2010/main" xmlns:mc="http://schemas.openxmlformats.org/markup-compatibility/2006"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xmlns:a14="http://schemas.microsoft.com/office/drawing/2010/main" xmlns:mc="http://schemas.openxmlformats.org/markup-compatibility/2006" val="505587699"/>
                    </a:ext>
                  </a:extLst>
                </a:tr>
              </a:tbl>
            </a:graphicData>
          </a:graphic>
        </p:graphicFrame>
        <p:graphicFrame>
          <p:nvGraphicFramePr>
            <p:cNvPr id="7" name="Tabela 4">
              <a:extLst>
                <a:ext uri="{FF2B5EF4-FFF2-40B4-BE49-F238E27FC236}">
                  <a16:creationId xmlns="" xmlns:a16="http://schemas.microsoft.com/office/drawing/2014/main" xmlns:a14="http://schemas.microsoft.com/office/drawing/2010/main" xmlns:mc="http://schemas.openxmlformats.org/markup-compatibility/2006"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xmlns:a14="http://schemas.microsoft.com/office/drawing/2010/main" xmlns:mc="http://schemas.openxmlformats.org/markup-compatibility/2006" val="3650072185"/>
                      </a:ext>
                    </a:extLst>
                  </a:gridCol>
                  <a:gridCol w="435303">
                    <a:extLst>
                      <a:ext uri="{9D8B030D-6E8A-4147-A177-3AD203B41FA5}">
                        <a16:colId xmlns="" xmlns:a16="http://schemas.microsoft.com/office/drawing/2014/main" xmlns:a14="http://schemas.microsoft.com/office/drawing/2010/main" xmlns:mc="http://schemas.openxmlformats.org/markup-compatibility/2006"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xmlns:a14="http://schemas.microsoft.com/office/drawing/2010/main" xmlns:mc="http://schemas.openxmlformats.org/markup-compatibility/2006"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xmlns:a14="http://schemas.microsoft.com/office/drawing/2010/main" xmlns:mc="http://schemas.openxmlformats.org/markup-compatibility/2006"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4283920600"/>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tblGrid>
              <a:tr h="254253">
                <a:tc>
                  <a:txBody>
                    <a:bodyPr/>
                    <a:lstStyle/>
                    <a:p>
                      <a:r>
                        <a:rPr lang="pt-BR" sz="1400" dirty="0" smtClean="0"/>
                        <a:t>13</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4253">
                <a:tc>
                  <a:txBody>
                    <a:bodyPr/>
                    <a:lstStyle/>
                    <a:p>
                      <a:r>
                        <a:rPr lang="pt-BR" sz="1400" dirty="0" smtClean="0"/>
                        <a:t>27</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4253">
                <a:tc>
                  <a:txBody>
                    <a:bodyPr/>
                    <a:lstStyle/>
                    <a:p>
                      <a:r>
                        <a:rPr lang="pt-BR" sz="1400" dirty="0" smtClean="0"/>
                        <a:t>34</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4253">
                <a:tc>
                  <a:txBody>
                    <a:bodyPr/>
                    <a:lstStyle/>
                    <a:p>
                      <a:r>
                        <a:rPr lang="pt-BR" sz="1400" dirty="0" smtClean="0"/>
                        <a:t>78</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4253">
                <a:tc>
                  <a:txBody>
                    <a:bodyPr/>
                    <a:lstStyle/>
                    <a:p>
                      <a:r>
                        <a:rPr lang="pt-BR" sz="1400" dirty="0" smtClean="0"/>
                        <a:t>12</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4253">
                <a:tc>
                  <a:txBody>
                    <a:bodyPr/>
                    <a:lstStyle/>
                    <a:p>
                      <a:r>
                        <a:rPr lang="pt-BR" sz="1400" dirty="0" smtClean="0"/>
                        <a:t>37</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4253">
                <a:tc>
                  <a:txBody>
                    <a:bodyPr/>
                    <a:lstStyle/>
                    <a:p>
                      <a:r>
                        <a:rPr lang="pt-BR" sz="1400" dirty="0" smtClean="0"/>
                        <a:t>56</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4253">
                <a:tc>
                  <a:txBody>
                    <a:bodyPr/>
                    <a:lstStyle/>
                    <a:p>
                      <a:r>
                        <a:rPr lang="pt-BR" sz="1400" dirty="0" smtClean="0"/>
                        <a:t>11</a:t>
                      </a:r>
                      <a:endParaRPr lang="pt-BR"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smtClean="0"/>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 xmlns:a16="http://schemas.microsoft.com/office/drawing/2014/main" id="{2DCB2729-0EA2-C0DE-BA82-4BE3E7D0CA05}"/>
              </a:ext>
            </a:extLst>
          </p:cNvPr>
          <p:cNvSpPr>
            <a:spLocks noGrp="1"/>
          </p:cNvSpPr>
          <p:nvPr>
            <p:ph idx="1"/>
          </p:nvPr>
        </p:nvSpPr>
        <p:spPr>
          <a:xfrm>
            <a:off x="6414916" y="1825624"/>
            <a:ext cx="5605848" cy="5032375"/>
          </a:xfrm>
        </p:spPr>
        <p:txBody>
          <a:bodyPr>
            <a:normAutofit fontScale="92500" lnSpcReduction="200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r>
              <a:rPr lang="pt-BR" b="0" i="0" dirty="0" smtClean="0">
                <a:effectLst/>
              </a:rPr>
              <a:t>.</a:t>
            </a:r>
          </a:p>
          <a:p>
            <a:r>
              <a:rPr lang="pt-BR" sz="3900" b="1" dirty="0">
                <a:solidFill>
                  <a:srgbClr val="FF0000"/>
                </a:solidFill>
              </a:rPr>
              <a:t>Essas camadas combinam as características para decidir a saída final.</a:t>
            </a:r>
            <a:endParaRPr lang="pt-BR" sz="3900" b="1" i="0" dirty="0">
              <a:solidFill>
                <a:srgbClr val="FF0000"/>
              </a:solidFill>
              <a:effectLst/>
            </a:endParaRPr>
          </a:p>
        </p:txBody>
      </p:sp>
      <p:pic>
        <p:nvPicPr>
          <p:cNvPr id="5122" name="Picture 2" descr="Convolutional Neural Network | Deep Learning | Developers Breach">
            <a:extLst>
              <a:ext uri="{FF2B5EF4-FFF2-40B4-BE49-F238E27FC236}">
                <a16:creationId xmlns=""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 xmlns:a16="http://schemas.microsoft.com/office/drawing/2014/main"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gridCol w="414338">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gridCol w="414338">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gridCol w="414338">
                        <a:extLst>
                          <a:ext uri="{9D8B030D-6E8A-4147-A177-3AD203B41FA5}">
                            <a16:colId xmlns=""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 xmlns:a16="http://schemas.microsoft.com/office/drawing/2014/main" val="3650072185"/>
                          </a:ext>
                        </a:extLst>
                      </a:gridCol>
                      <a:gridCol w="560422">
                        <a:extLst>
                          <a:ext uri="{9D8B030D-6E8A-4147-A177-3AD203B41FA5}">
                            <a16:colId xmlns=""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 xmlns:a16="http://schemas.microsoft.com/office/drawing/2014/main" val="3650072185"/>
                          </a:ext>
                        </a:extLst>
                      </a:gridCol>
                      <a:gridCol w="414338">
                        <a:extLst>
                          <a:ext uri="{9D8B030D-6E8A-4147-A177-3AD203B41FA5}">
                            <a16:colId xmlns="" xmlns:a16="http://schemas.microsoft.com/office/drawing/2014/main" val="3646872024"/>
                          </a:ext>
                        </a:extLst>
                      </a:gridCol>
                      <a:gridCol w="414338">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 xmlns:a16="http://schemas.microsoft.com/office/drawing/2014/main" val="3650072185"/>
                          </a:ext>
                        </a:extLst>
                      </a:gridCol>
                      <a:gridCol w="435303">
                        <a:extLst>
                          <a:ext uri="{9D8B030D-6E8A-4147-A177-3AD203B41FA5}">
                            <a16:colId xmlns=""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 xmlns:a16="http://schemas.microsoft.com/office/drawing/2014/main" val="3650072185"/>
                      </a:ext>
                    </a:extLst>
                  </a:gridCol>
                  <a:gridCol w="414009">
                    <a:extLst>
                      <a:ext uri="{9D8B030D-6E8A-4147-A177-3AD203B41FA5}">
                        <a16:colId xmlns="" xmlns:a16="http://schemas.microsoft.com/office/drawing/2014/main" val="3646872024"/>
                      </a:ext>
                    </a:extLst>
                  </a:gridCol>
                  <a:gridCol w="414009">
                    <a:extLst>
                      <a:ext uri="{9D8B030D-6E8A-4147-A177-3AD203B41FA5}">
                        <a16:colId xmlns="" xmlns:a16="http://schemas.microsoft.com/office/drawing/2014/main" val="1992468736"/>
                      </a:ext>
                    </a:extLst>
                  </a:gridCol>
                  <a:gridCol w="414009">
                    <a:extLst>
                      <a:ext uri="{9D8B030D-6E8A-4147-A177-3AD203B41FA5}">
                        <a16:colId xmlns=""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 xmlns:a16="http://schemas.microsoft.com/office/drawing/2014/main" val="505587699"/>
                    </a:ext>
                  </a:extLst>
                </a:tr>
              </a:tbl>
            </a:graphicData>
          </a:graphic>
        </p:graphicFrame>
        <p:graphicFrame>
          <p:nvGraphicFramePr>
            <p:cNvPr id="7" name="Tabela 6">
              <a:extLst>
                <a:ext uri="{FF2B5EF4-FFF2-40B4-BE49-F238E27FC236}">
                  <a16:creationId xmlns=""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 xmlns:a16="http://schemas.microsoft.com/office/drawing/2014/main" val="505587699"/>
                    </a:ext>
                  </a:extLst>
                </a:tr>
              </a:tbl>
            </a:graphicData>
          </a:graphic>
        </p:graphicFrame>
        <p:sp>
          <p:nvSpPr>
            <p:cNvPr id="11" name="CaixaDeTexto 10">
              <a:extLst>
                <a:ext uri="{FF2B5EF4-FFF2-40B4-BE49-F238E27FC236}">
                  <a16:creationId xmlns=""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 xmlns:a16="http://schemas.microsoft.com/office/drawing/2014/main" val="1166939837"/>
                          </a:ext>
                        </a:extLst>
                      </a:gridCol>
                      <a:gridCol w="412933">
                        <a:extLst>
                          <a:ext uri="{9D8B030D-6E8A-4147-A177-3AD203B41FA5}">
                            <a16:colId xmlns="" xmlns:a16="http://schemas.microsoft.com/office/drawing/2014/main" val="3650072185"/>
                          </a:ext>
                        </a:extLst>
                      </a:gridCol>
                      <a:gridCol w="412933">
                        <a:extLst>
                          <a:ext uri="{9D8B030D-6E8A-4147-A177-3AD203B41FA5}">
                            <a16:colId xmlns="" xmlns:a16="http://schemas.microsoft.com/office/drawing/2014/main" val="3646872024"/>
                          </a:ext>
                        </a:extLst>
                      </a:gridCol>
                      <a:gridCol w="412933">
                        <a:extLst>
                          <a:ext uri="{9D8B030D-6E8A-4147-A177-3AD203B41FA5}">
                            <a16:colId xmlns="" xmlns:a16="http://schemas.microsoft.com/office/drawing/2014/main" val="1992468736"/>
                          </a:ext>
                        </a:extLst>
                      </a:gridCol>
                      <a:gridCol w="412933">
                        <a:extLst>
                          <a:ext uri="{9D8B030D-6E8A-4147-A177-3AD203B41FA5}">
                            <a16:colId xmlns=""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 xmlns:a16="http://schemas.microsoft.com/office/drawing/2014/main" val="3650072185"/>
                          </a:ext>
                        </a:extLst>
                      </a:gridCol>
                      <a:gridCol w="429392">
                        <a:extLst>
                          <a:ext uri="{9D8B030D-6E8A-4147-A177-3AD203B41FA5}">
                            <a16:colId xmlns=""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 xmlns:a16="http://schemas.microsoft.com/office/drawing/2014/main" val="1166939837"/>
                          </a:ext>
                        </a:extLst>
                      </a:gridCol>
                      <a:gridCol w="441820">
                        <a:extLst>
                          <a:ext uri="{9D8B030D-6E8A-4147-A177-3AD203B41FA5}">
                            <a16:colId xmlns="" xmlns:a16="http://schemas.microsoft.com/office/drawing/2014/main" val="3650072185"/>
                          </a:ext>
                        </a:extLst>
                      </a:gridCol>
                      <a:gridCol w="441820">
                        <a:extLst>
                          <a:ext uri="{9D8B030D-6E8A-4147-A177-3AD203B41FA5}">
                            <a16:colId xmlns="" xmlns:a16="http://schemas.microsoft.com/office/drawing/2014/main" val="3646872024"/>
                          </a:ext>
                        </a:extLst>
                      </a:gridCol>
                      <a:gridCol w="441820">
                        <a:extLst>
                          <a:ext uri="{9D8B030D-6E8A-4147-A177-3AD203B41FA5}">
                            <a16:colId xmlns=""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15795</TotalTime>
  <Words>5790</Words>
  <Application>Microsoft Office PowerPoint</Application>
  <PresentationFormat>Widescreen</PresentationFormat>
  <Paragraphs>1359</Paragraphs>
  <Slides>82</Slides>
  <Notes>37</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82</vt:i4>
      </vt:variant>
    </vt:vector>
  </HeadingPairs>
  <TitlesOfParts>
    <vt:vector size="95"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Redes neurais convolucionais</vt:lpstr>
      <vt:lpstr>Apresentação do PowerPoint</vt:lpstr>
      <vt:lpstr>Apresentação do PowerPoint</vt:lpstr>
      <vt:lpstr>Apresentação do PowerPoint</vt:lpstr>
      <vt:lpstr>Redes neurais convolucionais</vt:lpstr>
      <vt:lpstr>Apresentação do PowerPoint</vt:lpstr>
      <vt:lpstr>Apresentação do PowerPoint</vt:lpstr>
      <vt:lpstr>Apresentação do PowerPoint</vt:lpstr>
      <vt:lpstr>Filtros de convolução</vt:lpstr>
      <vt:lpstr>Neurônios biológicos</vt:lpstr>
      <vt:lpstr>Neurônios biológicos</vt:lpstr>
      <vt:lpstr>Diferença entre camadas densas e convolucionais</vt:lpstr>
      <vt:lpstr>Diferença entre camadas densas e convolucionais</vt:lpstr>
      <vt:lpstr>Diferença entre camadas densas e convolucionais</vt:lpstr>
      <vt:lpstr>Apresentação do PowerPoint</vt:lpstr>
      <vt:lpstr>Arquitetura geral de uma CNN</vt:lpstr>
      <vt:lpstr>Imagens</vt:lpstr>
      <vt:lpstr>Camada de convolução</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Função de ativação</vt:lpstr>
      <vt:lpstr>Camada de Pooling (ou subamostragem)</vt:lpstr>
      <vt:lpstr>Camada de Pooling (ou subamostragem)</vt:lpstr>
      <vt:lpstr>Camada de Pooling (ou subamostragem)</vt:lpstr>
      <vt:lpstr>Padding ou preenchimento</vt:lpstr>
      <vt:lpstr>Padding ou preenchimento</vt:lpstr>
      <vt:lpstr>Padding ou preenchimento</vt:lpstr>
      <vt:lpstr>Camada de flatten</vt:lpstr>
      <vt:lpstr>Camadas densas</vt:lpstr>
      <vt:lpstr>Os filtros são aprendidos!</vt:lpstr>
      <vt:lpstr>Apresentação do PowerPoint</vt:lpstr>
      <vt:lpstr>Explorando CNNs</vt:lpstr>
      <vt:lpstr>Atividades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2618</cp:revision>
  <dcterms:created xsi:type="dcterms:W3CDTF">2020-01-20T13:50:05Z</dcterms:created>
  <dcterms:modified xsi:type="dcterms:W3CDTF">2026-03-15T21:38:02Z</dcterms:modified>
</cp:coreProperties>
</file>