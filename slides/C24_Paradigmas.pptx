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256" r:id="rId2"/>
    <p:sldId id="316" r:id="rId3"/>
    <p:sldId id="346" r:id="rId4"/>
    <p:sldId id="307" r:id="rId5"/>
    <p:sldId id="318" r:id="rId6"/>
    <p:sldId id="319" r:id="rId7"/>
    <p:sldId id="412" r:id="rId8"/>
    <p:sldId id="413" r:id="rId9"/>
    <p:sldId id="414" r:id="rId10"/>
    <p:sldId id="415" r:id="rId11"/>
    <p:sldId id="411" r:id="rId12"/>
    <p:sldId id="317" r:id="rId13"/>
    <p:sldId id="345" r:id="rId14"/>
    <p:sldId id="323" r:id="rId15"/>
    <p:sldId id="308" r:id="rId16"/>
    <p:sldId id="320" r:id="rId17"/>
    <p:sldId id="327" r:id="rId18"/>
    <p:sldId id="330" r:id="rId19"/>
    <p:sldId id="324" r:id="rId20"/>
    <p:sldId id="416" r:id="rId21"/>
    <p:sldId id="417" r:id="rId22"/>
    <p:sldId id="322" r:id="rId23"/>
    <p:sldId id="325" r:id="rId24"/>
    <p:sldId id="418" r:id="rId25"/>
    <p:sldId id="309" r:id="rId26"/>
    <p:sldId id="332" r:id="rId27"/>
    <p:sldId id="335" r:id="rId28"/>
    <p:sldId id="336" r:id="rId29"/>
    <p:sldId id="338" r:id="rId30"/>
    <p:sldId id="331" r:id="rId31"/>
    <p:sldId id="340" r:id="rId32"/>
    <p:sldId id="341" r:id="rId33"/>
    <p:sldId id="342" r:id="rId34"/>
    <p:sldId id="343" r:id="rId35"/>
    <p:sldId id="344" r:id="rId36"/>
    <p:sldId id="311" r:id="rId37"/>
    <p:sldId id="347" r:id="rId38"/>
    <p:sldId id="293" r:id="rId39"/>
    <p:sldId id="306" r:id="rId4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5230" autoAdjust="0"/>
  </p:normalViewPr>
  <p:slideViewPr>
    <p:cSldViewPr snapToGrid="0">
      <p:cViewPr varScale="1">
        <p:scale>
          <a:sx n="62" d="100"/>
          <a:sy n="62"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23/02/2026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23/02/2026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xmlns=""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98B8184E-EA97-01F9-DFFE-0A23F83AAEB4}"/>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6FF939DF-4841-2F83-5C41-AC1E6F21D4D6}"/>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779F760A-4758-3E08-F1FB-5890B36E22AD}"/>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B8800543-0C44-94C7-D881-581E2A942F56}"/>
              </a:ext>
            </a:extLst>
          </p:cNvPr>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03C1299E-42D9-80A9-8FCB-F3A0DA4AB819}"/>
              </a:ext>
            </a:extLst>
          </p:cNvPr>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xmlns="" id="{3F992D22-13DD-3212-862A-DA9610408D81}"/>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23/02/2026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jpe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7.jpeg"/><Relationship Id="rId4" Type="http://schemas.openxmlformats.org/officeDocument/2006/relationships/image" Target="../media/image26.jpe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3.jpeg"/><Relationship Id="rId4" Type="http://schemas.openxmlformats.org/officeDocument/2006/relationships/image" Target="../media/image42.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xmlns=""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xmlns=""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 O computador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Nós damos </a:t>
            </a:r>
            <a:r>
              <a:rPr lang="pt-BR" b="1" dirty="0"/>
              <a:t>dados</a:t>
            </a:r>
            <a:r>
              <a:rPr lang="pt-BR" dirty="0"/>
              <a:t> e os </a:t>
            </a:r>
            <a:r>
              <a:rPr lang="pt-BR" b="1" dirty="0"/>
              <a:t>resultados</a:t>
            </a:r>
            <a:r>
              <a:rPr lang="pt-BR" dirty="0"/>
              <a:t> → O computador </a:t>
            </a:r>
            <a:r>
              <a:rPr lang="pt-BR" b="1" dirty="0">
                <a:solidFill>
                  <a:srgbClr val="7030A0"/>
                </a:solidFill>
              </a:rPr>
              <a:t>descobre</a:t>
            </a:r>
            <a:r>
              <a:rPr lang="pt-BR" dirty="0"/>
              <a:t> 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O combustível do ML:</a:t>
            </a:r>
            <a:r>
              <a:rPr lang="pt-BR" dirty="0"/>
              <a:t> Dados (muitos dados!).</a:t>
            </a:r>
          </a:p>
          <a:p>
            <a:r>
              <a:rPr lang="pt-BR" b="1" dirty="0"/>
              <a:t>O objetivo:</a:t>
            </a:r>
            <a:r>
              <a:rPr lang="pt-BR" dirty="0"/>
              <a:t> </a:t>
            </a:r>
            <a:r>
              <a:rPr lang="pt-BR" dirty="0" smtClean="0"/>
              <a:t>Treinar um modelo que </a:t>
            </a:r>
            <a:r>
              <a:rPr lang="pt-BR" dirty="0" smtClean="0">
                <a:solidFill>
                  <a:srgbClr val="7030A0"/>
                </a:solidFill>
              </a:rPr>
              <a:t>g</a:t>
            </a:r>
            <a:r>
              <a:rPr lang="pt-BR" b="1" dirty="0" smtClean="0">
                <a:solidFill>
                  <a:srgbClr val="7030A0"/>
                </a:solidFill>
              </a:rPr>
              <a:t>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175463"/>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xmlns=""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entradas </a:t>
            </a:r>
            <a:r>
              <a:rPr lang="pt-BR" b="1" dirty="0">
                <a:solidFill>
                  <a:schemeClr val="accent1"/>
                </a:solidFill>
              </a:rPr>
              <a:t>não vistas 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A2B2465-4EC1-947F-2A6E-C72EC236E942}"/>
              </a:ext>
            </a:extLst>
          </p:cNvPr>
          <p:cNvSpPr>
            <a:spLocks noGrp="1"/>
          </p:cNvSpPr>
          <p:nvPr>
            <p:ph type="title"/>
          </p:nvPr>
        </p:nvSpPr>
        <p:spPr/>
        <p:txBody>
          <a:bodyPr/>
          <a:lstStyle/>
          <a:p>
            <a:r>
              <a:rPr lang="pt-BR" dirty="0"/>
              <a:t>Generalização</a:t>
            </a:r>
            <a:endParaRPr lang="en-US" dirty="0"/>
          </a:p>
        </p:txBody>
      </p:sp>
      <p:grpSp>
        <p:nvGrpSpPr>
          <p:cNvPr id="12" name="Group 11">
            <a:extLst>
              <a:ext uri="{FF2B5EF4-FFF2-40B4-BE49-F238E27FC236}">
                <a16:creationId xmlns:a16="http://schemas.microsoft.com/office/drawing/2014/main" xmlns="" id="{576172D2-AD61-2577-0108-AB71DABA33B8}"/>
              </a:ext>
            </a:extLst>
          </p:cNvPr>
          <p:cNvGrpSpPr/>
          <p:nvPr/>
        </p:nvGrpSpPr>
        <p:grpSpPr>
          <a:xfrm>
            <a:off x="849027" y="4267814"/>
            <a:ext cx="10453762" cy="2217402"/>
            <a:chOff x="772828" y="4191612"/>
            <a:chExt cx="10453762" cy="2217402"/>
          </a:xfrm>
        </p:grpSpPr>
        <p:pic>
          <p:nvPicPr>
            <p:cNvPr id="6" name="Picture 2">
              <a:extLst>
                <a:ext uri="{FF2B5EF4-FFF2-40B4-BE49-F238E27FC236}">
                  <a16:creationId xmlns:a16="http://schemas.microsoft.com/office/drawing/2014/main" xmlns=""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xmlns=""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xmlns=""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xmlns=""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xmlns=""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xmlns=""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9" name="Retângulo 5">
              <a:extLst>
                <a:ext uri="{FF2B5EF4-FFF2-40B4-BE49-F238E27FC236}">
                  <a16:creationId xmlns:a16="http://schemas.microsoft.com/office/drawing/2014/main" xmlns=""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21" name="Conector de seta reta 23">
              <a:extLst>
                <a:ext uri="{FF2B5EF4-FFF2-40B4-BE49-F238E27FC236}">
                  <a16:creationId xmlns:a16="http://schemas.microsoft.com/office/drawing/2014/main" xmlns="" id="{54CB7410-7A0B-50FD-1B9C-716EE4BEB120}"/>
                </a:ext>
              </a:extLst>
            </p:cNvPr>
            <p:cNvCxnSpPr>
              <a:stCxn id="27" idx="4"/>
              <a:endCxn id="19"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a:extLst>
                <a:ext uri="{FF2B5EF4-FFF2-40B4-BE49-F238E27FC236}">
                  <a16:creationId xmlns:a16="http://schemas.microsoft.com/office/drawing/2014/main" xmlns=""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7" name="Elipse 20">
              <a:extLst>
                <a:ext uri="{FF2B5EF4-FFF2-40B4-BE49-F238E27FC236}">
                  <a16:creationId xmlns:a16="http://schemas.microsoft.com/office/drawing/2014/main" xmlns=""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xmlns="" id="{1EE8BD47-74BF-4BDE-17AA-A5867E32AE3D}"/>
                  </a:ext>
                </a:extLst>
              </p:cNvPr>
              <p:cNvSpPr>
                <a:spLocks noGrp="1"/>
              </p:cNvSpPr>
              <p:nvPr>
                <p:ph idx="1"/>
              </p:nvPr>
            </p:nvSpPr>
            <p:spPr>
              <a:xfrm>
                <a:off x="838199" y="1825624"/>
                <a:ext cx="11219481" cy="2653459"/>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predizer a quantidade?</a:t>
                </a:r>
                <a:endParaRPr lang="pt-BR" dirty="0"/>
              </a:p>
              <a:p>
                <a:pPr lvl="1">
                  <a:buFont typeface="Wingdings" panose="05000000000000000000" pitchFamily="2" charset="2"/>
                  <a:buChar char="§"/>
                </a:pPr>
                <a:r>
                  <a:rPr lang="pt-BR" dirty="0" smtClean="0"/>
                  <a:t>Uma opção é anotar </a:t>
                </a:r>
                <a:r>
                  <a:rPr lang="pt-BR" dirty="0"/>
                  <a:t>as quantidades vendidas, as temperaturas médias e encontrar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r>
                  <a:rPr lang="pt-BR" dirty="0"/>
                  <a:t>.</a:t>
                </a:r>
                <a:endParaRPr lang="en-US" dirty="0"/>
              </a:p>
            </p:txBody>
          </p:sp>
        </mc:Choice>
        <mc:Fallback>
          <p:sp>
            <p:nvSpPr>
              <p:cNvPr id="4" name="Content Placeholder 3">
                <a:extLst>
                  <a:ext uri="{FF2B5EF4-FFF2-40B4-BE49-F238E27FC236}">
                    <a16:creationId xmlns:a16="http://schemas.microsoft.com/office/drawing/2014/main" xmlns:a14="http://schemas.microsoft.com/office/drawing/2010/main" xmlns="" id="{1EE8BD47-74BF-4BDE-17AA-A5867E32AE3D}"/>
                  </a:ext>
                </a:extLst>
              </p:cNvPr>
              <p:cNvSpPr>
                <a:spLocks noGrp="1" noRot="1" noChangeAspect="1" noMove="1" noResize="1" noEditPoints="1" noAdjustHandles="1" noChangeArrowheads="1" noChangeShapeType="1" noTextEdit="1"/>
              </p:cNvSpPr>
              <p:nvPr>
                <p:ph idx="1"/>
              </p:nvPr>
            </p:nvSpPr>
            <p:spPr>
              <a:xfrm>
                <a:off x="838199" y="1825624"/>
                <a:ext cx="11219481" cy="2653459"/>
              </a:xfrm>
              <a:blipFill rotWithShape="0">
                <a:blip r:embed="rId7"/>
                <a:stretch>
                  <a:fillRect l="-923" t="-3670" r="-435"/>
                </a:stretch>
              </a:blipFill>
            </p:spPr>
            <p:txBody>
              <a:bodyPr/>
              <a:lstStyle/>
              <a:p>
                <a:r>
                  <a:rPr lang="pt-BR">
                    <a:noFill/>
                  </a:rPr>
                  <a:t> </a:t>
                </a:r>
              </a:p>
            </p:txBody>
          </p:sp>
        </mc:Fallback>
      </mc:AlternateContent>
    </p:spTree>
    <p:extLst>
      <p:ext uri="{BB962C8B-B14F-4D97-AF65-F5344CB8AC3E}">
        <p14:creationId xmlns:p14="http://schemas.microsoft.com/office/powerpoint/2010/main" val="2280140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xmlns="" id="{C1F7B99B-805F-5153-8094-53157C98D7F1}"/>
                  </a:ext>
                </a:extLst>
              </p:cNvPr>
              <p:cNvSpPr>
                <a:spLocks noGrp="1"/>
              </p:cNvSpPr>
              <p:nvPr>
                <p:ph idx="1"/>
              </p:nvPr>
            </p:nvSpPr>
            <p:spPr>
              <a:xfrm>
                <a:off x="838200" y="1825624"/>
                <a:ext cx="11125200" cy="1435279"/>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en-US" dirty="0"/>
                  <a:t> e </a:t>
                </a:r>
                <a14:m>
                  <m:oMath xmlns:m="http://schemas.openxmlformats.org/officeDocument/2006/math">
                    <m:r>
                      <a:rPr lang="pt-BR" b="0" i="1" smtClean="0">
                        <a:latin typeface="Cambria Math" panose="02040503050406030204" pitchFamily="18" charset="0"/>
                      </a:rPr>
                      <m:t>𝑦</m:t>
                    </m:r>
                  </m:oMath>
                </a14:m>
                <a:r>
                  <a:rPr lang="en-US" dirty="0"/>
                  <a:t>.</a:t>
                </a:r>
              </a:p>
            </p:txBody>
          </p:sp>
        </mc:Choice>
        <mc:Fallback xmlns="">
          <p:sp>
            <p:nvSpPr>
              <p:cNvPr id="4" name="Content Placeholder 3">
                <a:extLst>
                  <a:ext uri="{FF2B5EF4-FFF2-40B4-BE49-F238E27FC236}">
                    <a16:creationId xmlns:a16="http://schemas.microsoft.com/office/drawing/2014/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125200" cy="1435279"/>
              </a:xfrm>
              <a:blipFill>
                <a:blip r:embed="rId3"/>
                <a:stretch>
                  <a:fillRect l="-986" t="-6780"/>
                </a:stretch>
              </a:blipFill>
            </p:spPr>
            <p:txBody>
              <a:bodyPr/>
              <a:lstStyle/>
              <a:p>
                <a:r>
                  <a:rPr lang="en-US">
                    <a:noFill/>
                  </a:rPr>
                  <a:t> </a:t>
                </a:r>
              </a:p>
            </p:txBody>
          </p:sp>
        </mc:Fallback>
      </mc:AlternateContent>
      <p:pic>
        <p:nvPicPr>
          <p:cNvPr id="5" name="Picture 2">
            <a:extLst>
              <a:ext uri="{FF2B5EF4-FFF2-40B4-BE49-F238E27FC236}">
                <a16:creationId xmlns:a16="http://schemas.microsoft.com/office/drawing/2014/main" xmlns=""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xmlns=""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xmlns=""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xmlns=""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xmlns=""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xmlns=""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xmlns=""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xmlns=""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1482482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6"/>
            <a:ext cx="11238824" cy="1505802"/>
          </a:xfrm>
        </p:spPr>
        <p:txBody>
          <a:bodyPr>
            <a:normAutofit/>
          </a:bodyPr>
          <a:lstStyle/>
          <a:p>
            <a:r>
              <a:rPr lang="pt-BR" dirty="0"/>
              <a:t>Agora, o proprietário pode usar o modelo aprendido (i.e., reta) para fazer inferências todas as manhãs.</a:t>
            </a:r>
          </a:p>
          <a:p>
            <a:r>
              <a:rPr lang="pt-BR" dirty="0"/>
              <a:t>Mas será que o modelo generaliza bem?</a:t>
            </a:r>
          </a:p>
        </p:txBody>
      </p:sp>
      <p:sp>
        <p:nvSpPr>
          <p:cNvPr id="4" name="Rectangle 12">
            <a:extLst>
              <a:ext uri="{FF2B5EF4-FFF2-40B4-BE49-F238E27FC236}">
                <a16:creationId xmlns:a16="http://schemas.microsoft.com/office/drawing/2014/main" xmlns=""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xmlns=""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xmlns=""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xmlns="" id="{9DFE0896-6E0A-A6DD-DBEE-BFD5AA462837}"/>
              </a:ext>
            </a:extLst>
          </p:cNvPr>
          <p:cNvSpPr txBox="1"/>
          <p:nvPr/>
        </p:nvSpPr>
        <p:spPr>
          <a:xfrm>
            <a:off x="3128239" y="4619831"/>
            <a:ext cx="999567" cy="646331"/>
          </a:xfrm>
          <a:prstGeom prst="rect">
            <a:avLst/>
          </a:prstGeom>
          <a:noFill/>
        </p:spPr>
        <p:txBody>
          <a:bodyPr wrap="square" rtlCol="0">
            <a:spAutoFit/>
          </a:bodyPr>
          <a:lstStyle/>
          <a:p>
            <a:pPr algn="ctr"/>
            <a:r>
              <a:rPr lang="pt-BR" dirty="0"/>
              <a:t>Entrada inédita</a:t>
            </a:r>
          </a:p>
        </p:txBody>
      </p:sp>
      <p:cxnSp>
        <p:nvCxnSpPr>
          <p:cNvPr id="14" name="Straight Arrow Connector 18">
            <a:extLst>
              <a:ext uri="{FF2B5EF4-FFF2-40B4-BE49-F238E27FC236}">
                <a16:creationId xmlns:a16="http://schemas.microsoft.com/office/drawing/2014/main" xmlns=""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xmlns=""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xmlns=""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xmlns=""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xmlns=""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xmlns=""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xmlns=""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xmlns=""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xmlns=""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xmlns=""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xmlns=""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xmlns=""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xmlns=""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xmlns=""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xmlns=""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xmlns=""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xmlns=""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xmlns=""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xmlns=""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xmlns=""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6096000" y="1825624"/>
            <a:ext cx="5940829" cy="5032375"/>
          </a:xfrm>
        </p:spPr>
        <p:txBody>
          <a:bodyPr>
            <a:normAutofit/>
          </a:bodyPr>
          <a:lstStyle/>
          <a:p>
            <a:r>
              <a:rPr lang="pt-BR" dirty="0"/>
              <a:t>Cada paradigma tem um </a:t>
            </a:r>
            <a:r>
              <a:rPr lang="pt-BR" b="1" dirty="0"/>
              <a:t>estilo de aprendizagem</a:t>
            </a:r>
            <a:r>
              <a:rPr lang="pt-BR" dirty="0"/>
              <a:t>: alguns gostam de </a:t>
            </a:r>
            <a:r>
              <a:rPr lang="pt-BR" b="1" dirty="0"/>
              <a:t>receber as respostas</a:t>
            </a:r>
            <a:r>
              <a:rPr lang="pt-BR" dirty="0"/>
              <a:t>, outros as </a:t>
            </a:r>
            <a:r>
              <a:rPr lang="pt-BR" b="1" dirty="0"/>
              <a:t>descobrem sozinhos </a:t>
            </a:r>
            <a:r>
              <a:rPr lang="pt-BR" dirty="0"/>
              <a:t>e alguns aprendem por </a:t>
            </a:r>
            <a:r>
              <a:rPr lang="pt-BR" b="1" dirty="0"/>
              <a:t>tentativa e erro</a:t>
            </a:r>
            <a:r>
              <a:rPr lang="pt-BR" dirty="0"/>
              <a:t>.</a:t>
            </a:r>
          </a:p>
          <a:p>
            <a:r>
              <a:rPr lang="pt-BR" dirty="0"/>
              <a:t>Eles têm vários algoritmos e aplicações.</a:t>
            </a:r>
          </a:p>
          <a:p>
            <a:r>
              <a:rPr lang="pt-BR" dirty="0"/>
              <a:t>Alguns podem ser </a:t>
            </a:r>
            <a:r>
              <a:rPr lang="pt-BR" b="1" dirty="0"/>
              <a:t>divididos em diferentes tarefas</a:t>
            </a:r>
            <a:r>
              <a:rPr lang="pt-BR" dirty="0"/>
              <a:t>, como regressão e classificação, no caso do aprendizado </a:t>
            </a:r>
            <a:r>
              <a:rPr lang="pt-BR" b="1" dirty="0"/>
              <a:t>supervisionado</a:t>
            </a:r>
            <a:r>
              <a:rPr lang="pt-BR" dirty="0"/>
              <a:t>.</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771" y="1863813"/>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724499" y="2974990"/>
            <a:ext cx="31924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rótulos</a:t>
            </a:r>
          </a:p>
        </p:txBody>
      </p:sp>
    </p:spTree>
    <p:extLst>
      <p:ext uri="{BB962C8B-B14F-4D97-AF65-F5344CB8AC3E}">
        <p14:creationId xmlns:p14="http://schemas.microsoft.com/office/powerpoint/2010/main" val="618641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resposta correta.</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saída esperada para poder prever respostas de </a:t>
                </a:r>
                <a:r>
                  <a:rPr lang="pt-BR" dirty="0" smtClean="0"/>
                  <a:t>entradas inéditas.</a:t>
                </a:r>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(Entrada/Atributos):</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(Saída/Rótulo):</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modelo):</a:t>
                </a:r>
                <a:r>
                  <a:rPr lang="pt-BR" dirty="0"/>
                  <a:t> O que a máquina precisa "aprender" para sempre acertar o alvo (i.e., generalizar).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tipo do rótulo.</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Previsão do preço de </a:t>
            </a:r>
            <a:r>
              <a:rPr lang="pt-BR" dirty="0" smtClean="0"/>
              <a:t>imóveis.</a:t>
            </a:r>
            <a:endParaRPr lang="pt-BR" dirty="0"/>
          </a:p>
          <a:p>
            <a:pPr lvl="1">
              <a:buFont typeface="Wingdings" panose="05000000000000000000" pitchFamily="2" charset="2"/>
              <a:buChar char="§"/>
            </a:pPr>
            <a:r>
              <a:rPr lang="pt-BR" dirty="0"/>
              <a:t>Previsão 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7" y="1825624"/>
            <a:ext cx="6118168"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do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xmlns=""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específica.</a:t>
            </a:r>
          </a:p>
        </p:txBody>
      </p:sp>
    </p:spTree>
    <p:extLst>
      <p:ext uri="{BB962C8B-B14F-4D97-AF65-F5344CB8AC3E}">
        <p14:creationId xmlns:p14="http://schemas.microsoft.com/office/powerpoint/2010/main" val="4237290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9AC0F0FB-86A6-1327-90D4-AAA53078838E}"/>
              </a:ext>
            </a:extLst>
          </p:cNvPr>
          <p:cNvSpPr/>
          <p:nvPr/>
        </p:nvSpPr>
        <p:spPr>
          <a:xfrm>
            <a:off x="7932964" y="2644170"/>
            <a:ext cx="3898868" cy="1569660"/>
          </a:xfrm>
          <a:prstGeom prst="rect">
            <a:avLst/>
          </a:prstGeom>
        </p:spPr>
        <p:txBody>
          <a:bodyPr wrap="square">
            <a:spAutoFit/>
          </a:bodyPr>
          <a:lstStyle/>
          <a:p>
            <a:pPr algn="ctr"/>
            <a:r>
              <a:rPr lang="pt-BR" sz="3200" b="1" dirty="0" smtClean="0"/>
              <a:t>A f</a:t>
            </a:r>
            <a:r>
              <a:rPr lang="pt-BR" sz="3200" b="1" dirty="0" smtClean="0"/>
              <a:t>alta </a:t>
            </a:r>
            <a:r>
              <a:rPr lang="pt-BR" sz="3200" b="1" dirty="0"/>
              <a:t>de dados de treinamento causa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xmlns=""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xmlns=""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kern="1200" dirty="0" smtClean="0">
                <a:solidFill>
                  <a:schemeClr val="tx1"/>
                </a:solidFill>
                <a:effectLst/>
                <a:latin typeface="+mn-lt"/>
                <a:ea typeface="+mn-ea"/>
                <a:cs typeface="+mn-cs"/>
              </a:rPr>
              <a:t>generalizasse,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deveria saber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448922" y="1690688"/>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b="1" dirty="0"/>
              <a:t>Ou seja, não existem rótulos.</a:t>
            </a:r>
          </a:p>
        </p:txBody>
      </p:sp>
    </p:spTree>
    <p:extLst>
      <p:ext uri="{BB962C8B-B14F-4D97-AF65-F5344CB8AC3E}">
        <p14:creationId xmlns:p14="http://schemas.microsoft.com/office/powerpoint/2010/main" val="3721361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rgbClr val="7030A0"/>
                </a:solidFill>
              </a:rPr>
              <a:t>não sei </a:t>
            </a:r>
            <a:r>
              <a:rPr lang="pt-BR" sz="3200" dirty="0"/>
              <a:t>o que </a:t>
            </a:r>
            <a:r>
              <a:rPr lang="pt-BR" sz="3200" dirty="0" smtClean="0"/>
              <a:t>são esses objetos</a:t>
            </a:r>
            <a:r>
              <a:rPr lang="pt-BR" sz="3200" dirty="0" smtClean="0"/>
              <a:t>,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Encontrar estruturas, semelhanças e grupos escondidos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xmlns="">
          <p:sp>
            <p:nvSpPr>
              <p:cNvPr id="3" name="Espaço Reservado para Conteúdo 2">
                <a:extLst>
                  <a:ext uri="{FF2B5EF4-FFF2-40B4-BE49-F238E27FC236}">
                    <a16:creationId xmlns:a16="http://schemas.microsoft.com/office/drawing/2014/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a:blip r:embed="rId3"/>
                <a:stretch>
                  <a:fillRect l="-1685" t="-1937" r="-1685"/>
                </a:stretch>
              </a:blipFill>
            </p:spPr>
            <p:txBody>
              <a:bodyPr/>
              <a:lstStyle/>
              <a:p>
                <a:r>
                  <a:rPr lang="en-US">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xmlns=""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xmlns=""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xmlns=""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xmlns=""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proximidade</a:t>
              </a:r>
            </a:p>
          </p:txBody>
        </p:sp>
        <p:sp>
          <p:nvSpPr>
            <p:cNvPr id="11" name="CaixaDeTexto 10">
              <a:extLst>
                <a:ext uri="{FF2B5EF4-FFF2-40B4-BE49-F238E27FC236}">
                  <a16:creationId xmlns:a16="http://schemas.microsoft.com/office/drawing/2014/main" xmlns=""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a16="http://schemas.microsoft.com/office/drawing/2014/main" xmlns=""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xmlns=""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a16="http://schemas.microsoft.com/office/drawing/2014/main" xmlns=""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xmlns=""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xmlns=""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xmlns=""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xmlns=""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xmlns=""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xmlns=""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xmlns=""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xmlns=""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xmlns=""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xmlns=""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xmlns=""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etc.)</a:t>
            </a:r>
          </a:p>
          <a:p>
            <a:pPr lvl="1">
              <a:buFont typeface="Wingdings" panose="05000000000000000000" pitchFamily="2" charset="2"/>
              <a:buChar char="§"/>
            </a:pPr>
            <a:r>
              <a:rPr lang="pt-BR" dirty="0"/>
              <a:t>Veículos autônomos (e.g., carros, drones, etc.): aprendem a acelerar, frear, desviar de obstáculos (inicialmente, </a:t>
            </a:r>
            <a:r>
              <a:rPr lang="en-US" dirty="0" err="1"/>
              <a:t>em</a:t>
            </a:r>
            <a:r>
              <a:rPr lang="en-US" dirty="0"/>
              <a:t> </a:t>
            </a:r>
            <a:r>
              <a:rPr lang="en-US" dirty="0" err="1"/>
              <a:t>simuladores</a:t>
            </a:r>
            <a:r>
              <a:rPr lang="en-US" dirty="0"/>
              <a:t>).</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xmlns=""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xmlns=""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xmlns=""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xmlns=""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8447</TotalTime>
  <Words>4826</Words>
  <Application>Microsoft Office PowerPoint</Application>
  <PresentationFormat>Widescreen</PresentationFormat>
  <Paragraphs>362</Paragraphs>
  <Slides>39</Slides>
  <Notes>25</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39</vt:i4>
      </vt:variant>
    </vt:vector>
  </HeadingPairs>
  <TitlesOfParts>
    <vt:vector size="46"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Paradigma do aprendizado de máquina</vt:lpstr>
      <vt:lpstr>Paradigma do aprendizado de máquina</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1888</cp:revision>
  <dcterms:created xsi:type="dcterms:W3CDTF">2020-01-20T13:50:05Z</dcterms:created>
  <dcterms:modified xsi:type="dcterms:W3CDTF">2026-02-23T20:55:44Z</dcterms:modified>
</cp:coreProperties>
</file>