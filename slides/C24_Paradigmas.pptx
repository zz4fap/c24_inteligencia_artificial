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316" r:id="rId3"/>
    <p:sldId id="346" r:id="rId4"/>
    <p:sldId id="307" r:id="rId5"/>
    <p:sldId id="419" r:id="rId6"/>
    <p:sldId id="318" r:id="rId7"/>
    <p:sldId id="319" r:id="rId8"/>
    <p:sldId id="412" r:id="rId9"/>
    <p:sldId id="413" r:id="rId10"/>
    <p:sldId id="422" r:id="rId11"/>
    <p:sldId id="414" r:id="rId12"/>
    <p:sldId id="415" r:id="rId13"/>
    <p:sldId id="411" r:id="rId14"/>
    <p:sldId id="317" r:id="rId15"/>
    <p:sldId id="345" r:id="rId16"/>
    <p:sldId id="323" r:id="rId17"/>
    <p:sldId id="308" r:id="rId18"/>
    <p:sldId id="320" r:id="rId19"/>
    <p:sldId id="327" r:id="rId20"/>
    <p:sldId id="330" r:id="rId21"/>
    <p:sldId id="324" r:id="rId22"/>
    <p:sldId id="416" r:id="rId23"/>
    <p:sldId id="417" r:id="rId24"/>
    <p:sldId id="322" r:id="rId25"/>
    <p:sldId id="423" r:id="rId26"/>
    <p:sldId id="325" r:id="rId27"/>
    <p:sldId id="418" r:id="rId28"/>
    <p:sldId id="309" r:id="rId29"/>
    <p:sldId id="332" r:id="rId30"/>
    <p:sldId id="335" r:id="rId31"/>
    <p:sldId id="336" r:id="rId32"/>
    <p:sldId id="338" r:id="rId33"/>
    <p:sldId id="331" r:id="rId34"/>
    <p:sldId id="340" r:id="rId35"/>
    <p:sldId id="341" r:id="rId36"/>
    <p:sldId id="342" r:id="rId37"/>
    <p:sldId id="343" r:id="rId38"/>
    <p:sldId id="344" r:id="rId39"/>
    <p:sldId id="311" r:id="rId40"/>
    <p:sldId id="347" r:id="rId41"/>
    <p:sldId id="293" r:id="rId42"/>
    <p:sldId id="306" r:id="rId4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7772" autoAdjust="0"/>
  </p:normalViewPr>
  <p:slideViewPr>
    <p:cSldViewPr snapToGrid="0">
      <p:cViewPr varScale="1">
        <p:scale>
          <a:sx n="97" d="100"/>
          <a:sy n="97" d="100"/>
        </p:scale>
        <p:origin x="1338"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03/08/2026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youtube.com/watch?v=V1eYniJ0Rnk"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08942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4016760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Manutenção preventiva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hlinkClick r:id="rId3"/>
              </a:rPr>
              <a:t>Exemplo de aplicação de RL: https://www.youtube.com/watch?v=V1eYniJ0Rnk</a:t>
            </a:r>
            <a:endParaRPr lang="pt-BR" sz="1200" dirty="0"/>
          </a:p>
          <a:p>
            <a:endParaRPr lang="pt-BR" dirty="0"/>
          </a:p>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41.jpeg"/><Relationship Id="rId4" Type="http://schemas.openxmlformats.org/officeDocument/2006/relationships/image" Target="../media/image40.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Paradigmas de aprendizado de máquina</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da programação tradicional</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a:solidFill>
                  <a:srgbClr val="7030A0"/>
                </a:solidFill>
              </a:rPr>
              <a:t>humanos criamos </a:t>
            </a:r>
            <a:r>
              <a:rPr lang="pt-BR" dirty="0"/>
              <a:t>as </a:t>
            </a:r>
            <a:r>
              <a:rPr lang="pt-BR" b="1" dirty="0"/>
              <a:t>regras</a:t>
            </a:r>
            <a:r>
              <a:rPr lang="pt-BR" dirty="0"/>
              <a:t> (i.e., o programa) e os </a:t>
            </a:r>
            <a:r>
              <a:rPr lang="pt-BR" b="1" dirty="0"/>
              <a:t>dados</a:t>
            </a:r>
            <a:r>
              <a:rPr lang="pt-BR" dirty="0"/>
              <a:t> 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a:t>No aprendizado de máquina, as máquinas </a:t>
            </a:r>
            <a:r>
              <a:rPr lang="pt-BR" sz="3600" b="1" dirty="0">
                <a:solidFill>
                  <a:schemeClr val="accent2"/>
                </a:solidFill>
              </a:rPr>
              <a:t>aprendem</a:t>
            </a:r>
            <a:r>
              <a:rPr lang="pt-BR" sz="3600" dirty="0"/>
              <a:t> </a:t>
            </a:r>
            <a:r>
              <a:rPr lang="pt-BR" sz="3600" b="1" dirty="0">
                <a:solidFill>
                  <a:schemeClr val="accent6"/>
                </a:solidFill>
              </a:rPr>
              <a:t>sem serem explicitamente programadas</a:t>
            </a:r>
            <a:r>
              <a:rPr lang="pt-BR" sz="3600" dirty="0"/>
              <a:t>.</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Nós </a:t>
            </a:r>
            <a:r>
              <a:rPr lang="pt-BR" b="1" dirty="0">
                <a:solidFill>
                  <a:schemeClr val="accent1"/>
                </a:solidFill>
              </a:rPr>
              <a:t>humanos</a:t>
            </a:r>
            <a:r>
              <a:rPr lang="pt-BR" dirty="0"/>
              <a:t> fornecemos os </a:t>
            </a:r>
            <a:r>
              <a:rPr lang="pt-BR" b="1" dirty="0"/>
              <a:t>dados</a:t>
            </a:r>
            <a:r>
              <a:rPr lang="pt-BR" dirty="0"/>
              <a:t> e os </a:t>
            </a:r>
            <a:r>
              <a:rPr lang="pt-BR" b="1" dirty="0"/>
              <a:t>resultados</a:t>
            </a:r>
            <a:r>
              <a:rPr lang="pt-BR" dirty="0"/>
              <a:t> e o </a:t>
            </a:r>
            <a:r>
              <a:rPr lang="pt-BR" b="1" dirty="0">
                <a:solidFill>
                  <a:schemeClr val="accent2"/>
                </a:solidFill>
              </a:rPr>
              <a:t>computador</a:t>
            </a:r>
            <a:r>
              <a:rPr lang="pt-BR" dirty="0"/>
              <a:t> </a:t>
            </a:r>
            <a:r>
              <a:rPr lang="pt-BR" b="1" dirty="0">
                <a:solidFill>
                  <a:srgbClr val="7030A0"/>
                </a:solidFill>
              </a:rPr>
              <a:t>descobre/aprende</a:t>
            </a:r>
            <a:r>
              <a:rPr lang="pt-BR" dirty="0"/>
              <a:t> 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ML</a:t>
            </a:r>
            <a:r>
              <a:rPr lang="pt-BR" dirty="0"/>
              <a:t> são o dados (muitos dados!).</a:t>
            </a:r>
          </a:p>
          <a:p>
            <a:r>
              <a:rPr lang="pt-BR" b="1" dirty="0"/>
              <a:t>O objetivo:</a:t>
            </a:r>
            <a:r>
              <a:rPr lang="pt-BR" dirty="0"/>
              <a:t> Treinar um modelo que </a:t>
            </a:r>
            <a:r>
              <a:rPr lang="pt-BR" b="1" dirty="0">
                <a:solidFill>
                  <a:srgbClr val="7030A0"/>
                </a:solidFill>
              </a:rPr>
              <a:t>generalize</a:t>
            </a:r>
            <a:r>
              <a:rPr lang="pt-BR" dirty="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dados de entrada </a:t>
            </a:r>
            <a:r>
              <a:rPr lang="pt-BR" b="1" dirty="0">
                <a:solidFill>
                  <a:schemeClr val="accent1"/>
                </a:solidFill>
              </a:rPr>
              <a:t>não vistos durante o treinamento</a:t>
            </a:r>
            <a:r>
              <a:rPr lang="pt-BR" dirty="0"/>
              <a:t>.</a:t>
            </a:r>
          </a:p>
          <a:p>
            <a:r>
              <a:rPr lang="pt-BR" dirty="0"/>
              <a:t>Vejamos o exemplo da </a:t>
            </a:r>
            <a:r>
              <a:rPr lang="pt-BR" dirty="0" err="1"/>
              <a:t>paleteria</a:t>
            </a:r>
            <a:r>
              <a:rPr lang="pt-BR" dirty="0"/>
              <a:t> mexicana para entender melhor o que é a generalização.</a:t>
            </a:r>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1EE8BD47-74BF-4BDE-17AA-A5867E32AE3D}"/>
                  </a:ext>
                </a:extLst>
              </p:cNvPr>
              <p:cNvSpPr>
                <a:spLocks noGrp="1"/>
              </p:cNvSpPr>
              <p:nvPr>
                <p:ph idx="1"/>
              </p:nvPr>
            </p:nvSpPr>
            <p:spPr>
              <a:xfrm>
                <a:off x="5289452" y="1825624"/>
                <a:ext cx="6766559" cy="5032376"/>
              </a:xfrm>
            </p:spPr>
            <p:txBody>
              <a:bodyPr>
                <a:normAutofit/>
              </a:bodyPr>
              <a:lstStyle/>
              <a:p>
                <a:r>
                  <a:rPr lang="pt-BR" dirty="0"/>
                  <a:t>Imaginem o dono de uma paleteria mexicana que quer </a:t>
                </a:r>
                <a:r>
                  <a:rPr lang="pt-BR" b="1" dirty="0"/>
                  <a:t>produzir a quantidade correta de paletas por dia </a:t>
                </a:r>
                <a:r>
                  <a:rPr lang="pt-BR" dirty="0"/>
                  <a:t>para manter o mínimo de estoque.</a:t>
                </a:r>
              </a:p>
              <a:p>
                <a:r>
                  <a:rPr lang="pt-BR" dirty="0"/>
                  <a:t>O que ele pode fazer para </a:t>
                </a:r>
                <a:r>
                  <a:rPr lang="pt-BR" b="1" dirty="0">
                    <a:solidFill>
                      <a:srgbClr val="00B050"/>
                    </a:solidFill>
                  </a:rPr>
                  <a:t>predizer</a:t>
                </a:r>
                <a:r>
                  <a:rPr lang="pt-BR" dirty="0">
                    <a:solidFill>
                      <a:srgbClr val="00B050"/>
                    </a:solidFill>
                  </a:rPr>
                  <a:t> </a:t>
                </a:r>
                <a:r>
                  <a:rPr lang="pt-BR" dirty="0"/>
                  <a:t>a quantidade?</a:t>
                </a:r>
              </a:p>
              <a:p>
                <a:r>
                  <a:rPr lang="pt-BR" dirty="0"/>
                  <a:t>Uma opção é anotar as quantidades vendidas, as temperaturas médias e </a:t>
                </a:r>
                <a:r>
                  <a:rPr lang="pt-BR" b="1" dirty="0">
                    <a:solidFill>
                      <a:schemeClr val="accent2"/>
                    </a:solidFill>
                  </a:rPr>
                  <a:t>encontrar</a:t>
                </a:r>
                <a:r>
                  <a:rPr lang="pt-BR" dirty="0"/>
                  <a:t>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paletas.</a:t>
                </a:r>
              </a:p>
            </p:txBody>
          </p:sp>
        </mc:Choice>
        <mc:Fallback xmlns="">
          <p:sp>
            <p:nvSpPr>
              <p:cNvPr id="4" name="Content Placeholder 3">
                <a:extLst>
                  <a:ext uri="{FF2B5EF4-FFF2-40B4-BE49-F238E27FC236}">
                    <a16:creationId xmlns:a16="http://schemas.microsoft.com/office/drawing/2014/main" xmlns="" xmlns:a14="http://schemas.microsoft.com/office/drawing/2010/main" id="{1EE8BD47-74BF-4BDE-17AA-A5867E32AE3D}"/>
                  </a:ext>
                </a:extLst>
              </p:cNvPr>
              <p:cNvSpPr>
                <a:spLocks noGrp="1" noRot="1" noChangeAspect="1" noMove="1" noResize="1" noEditPoints="1" noAdjustHandles="1" noChangeArrowheads="1" noChangeShapeType="1" noTextEdit="1"/>
              </p:cNvSpPr>
              <p:nvPr>
                <p:ph idx="1"/>
              </p:nvPr>
            </p:nvSpPr>
            <p:spPr>
              <a:xfrm>
                <a:off x="5289452" y="1825624"/>
                <a:ext cx="6766559" cy="5032376"/>
              </a:xfrm>
              <a:blipFill rotWithShape="0">
                <a:blip r:embed="rId3"/>
                <a:stretch>
                  <a:fillRect l="-1622" t="-1937" r="-1081"/>
                </a:stretch>
              </a:blipFill>
            </p:spPr>
            <p:txBody>
              <a:bodyPr/>
              <a:lstStyle/>
              <a:p>
                <a:r>
                  <a:rPr lang="pt-BR">
                    <a:noFill/>
                  </a:rPr>
                  <a:t> </a:t>
                </a:r>
              </a:p>
            </p:txBody>
          </p:sp>
        </mc:Fallback>
      </mc:AlternateContent>
      <p:pic>
        <p:nvPicPr>
          <p:cNvPr id="18" name="Picture 2">
            <a:extLst>
              <a:ext uri="{FF2B5EF4-FFF2-40B4-BE49-F238E27FC236}">
                <a16:creationId xmlns:a16="http://schemas.microsoft.com/office/drawing/2014/main" id="{8F8481C7-5EE4-D272-70B4-866D2F1B25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412926" y="2518589"/>
            <a:ext cx="4398223" cy="3093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sp>
        <p:nvSpPr>
          <p:cNvPr id="4" name="Content Placeholder 3">
            <a:extLst>
              <a:ext uri="{FF2B5EF4-FFF2-40B4-BE49-F238E27FC236}">
                <a16:creationId xmlns:a16="http://schemas.microsoft.com/office/drawing/2014/main" id="{1EE8BD47-74BF-4BDE-17AA-A5867E32AE3D}"/>
              </a:ext>
            </a:extLst>
          </p:cNvPr>
          <p:cNvSpPr>
            <a:spLocks noGrp="1"/>
          </p:cNvSpPr>
          <p:nvPr>
            <p:ph idx="1"/>
          </p:nvPr>
        </p:nvSpPr>
        <p:spPr>
          <a:xfrm>
            <a:off x="838200" y="1825624"/>
            <a:ext cx="11217811" cy="5032376"/>
          </a:xfrm>
        </p:spPr>
        <p:txBody>
          <a:bodyPr>
            <a:normAutofit/>
          </a:bodyPr>
          <a:lstStyle/>
          <a:p>
            <a:r>
              <a:rPr lang="pt-BR" dirty="0"/>
              <a:t>Para encontrar a função, ele poderia usar o </a:t>
            </a:r>
            <a:r>
              <a:rPr lang="pt-BR" b="1" dirty="0">
                <a:solidFill>
                  <a:srgbClr val="7030A0"/>
                </a:solidFill>
              </a:rPr>
              <a:t>paradigma do aprendizado de máquina</a:t>
            </a:r>
            <a:r>
              <a:rPr lang="pt-BR" dirty="0"/>
              <a:t> e passar ao algoritmo de treinamento o conjunto coletado de pares de temperatura e quantidade de paletas vendidas (i.e., </a:t>
            </a:r>
            <a:r>
              <a:rPr lang="pt-BR" i="1" dirty="0"/>
              <a:t>dataset</a:t>
            </a:r>
            <a:r>
              <a:rPr lang="pt-BR" dirty="0"/>
              <a:t>).</a:t>
            </a:r>
          </a:p>
          <a:p>
            <a:endParaRPr lang="en-US" dirty="0"/>
          </a:p>
        </p:txBody>
      </p:sp>
      <p:grpSp>
        <p:nvGrpSpPr>
          <p:cNvPr id="5" name="Group 11">
            <a:extLst>
              <a:ext uri="{FF2B5EF4-FFF2-40B4-BE49-F238E27FC236}">
                <a16:creationId xmlns:a16="http://schemas.microsoft.com/office/drawing/2014/main" id="{576172D2-AD61-2577-0108-AB71DABA33B8}"/>
              </a:ext>
            </a:extLst>
          </p:cNvPr>
          <p:cNvGrpSpPr/>
          <p:nvPr/>
        </p:nvGrpSpPr>
        <p:grpSpPr>
          <a:xfrm>
            <a:off x="838200" y="3662904"/>
            <a:ext cx="10453762" cy="2217402"/>
            <a:chOff x="772828" y="4191612"/>
            <a:chExt cx="10453762" cy="2217402"/>
          </a:xfrm>
        </p:grpSpPr>
        <p:pic>
          <p:nvPicPr>
            <p:cNvPr id="6" name="Picture 2">
              <a:extLst>
                <a:ext uri="{FF2B5EF4-FFF2-40B4-BE49-F238E27FC236}">
                  <a16:creationId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4">
                  <a:extLst>
                    <a:ext uri="{FF2B5EF4-FFF2-40B4-BE49-F238E27FC236}">
                      <a16:creationId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3" name="Straight Arrow Connector 15">
              <a:extLst>
                <a:ext uri="{FF2B5EF4-FFF2-40B4-BE49-F238E27FC236}">
                  <a16:creationId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6">
                  <a:extLst>
                    <a:ext uri="{FF2B5EF4-FFF2-40B4-BE49-F238E27FC236}">
                      <a16:creationId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5" name="Retângulo 5">
              <a:extLst>
                <a:ext uri="{FF2B5EF4-FFF2-40B4-BE49-F238E27FC236}">
                  <a16:creationId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16" name="Conector de seta reta 23">
              <a:extLst>
                <a:ext uri="{FF2B5EF4-FFF2-40B4-BE49-F238E27FC236}">
                  <a16:creationId xmlns:a16="http://schemas.microsoft.com/office/drawing/2014/main" id="{54CB7410-7A0B-50FD-1B9C-716EE4BEB120}"/>
                </a:ext>
              </a:extLst>
            </p:cNvPr>
            <p:cNvCxnSpPr>
              <a:stCxn id="19" idx="4"/>
              <a:endCxn id="15"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o explicativo retangular 16">
              <a:extLst>
                <a:ext uri="{FF2B5EF4-FFF2-40B4-BE49-F238E27FC236}">
                  <a16:creationId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19" name="Elipse 20">
              <a:extLst>
                <a:ext uri="{FF2B5EF4-FFF2-40B4-BE49-F238E27FC236}">
                  <a16:creationId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5235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C1F7B99B-805F-5153-8094-53157C98D7F1}"/>
                  </a:ext>
                </a:extLst>
              </p:cNvPr>
              <p:cNvSpPr>
                <a:spLocks noGrp="1"/>
              </p:cNvSpPr>
              <p:nvPr>
                <p:ph idx="1"/>
              </p:nvPr>
            </p:nvSpPr>
            <p:spPr>
              <a:xfrm>
                <a:off x="838200" y="1825624"/>
                <a:ext cx="11245948" cy="2283346"/>
              </a:xfrm>
            </p:spPr>
            <p:txBody>
              <a:bodyPr>
                <a:normAutofit/>
              </a:bodyPr>
              <a:lstStyle/>
              <a:p>
                <a:r>
                  <a:rPr lang="pt-BR" dirty="0"/>
                  <a:t>Após o treinamento com o conjunto de experiências prévias, i.e., o </a:t>
                </a:r>
                <a:r>
                  <a:rPr lang="pt-BR" i="1" dirty="0"/>
                  <a:t>dataset</a:t>
                </a:r>
                <a:r>
                  <a:rPr lang="pt-BR" dirty="0"/>
                  <a:t>, o algoritmo de ML </a:t>
                </a:r>
                <a:r>
                  <a:rPr lang="pt-BR" b="1" dirty="0"/>
                  <a:t>aprende</a:t>
                </a:r>
                <a:r>
                  <a:rPr lang="pt-BR" dirty="0"/>
                  <a:t> que uma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O algoritmo de ML </a:t>
                </a:r>
                <a:r>
                  <a:rPr lang="pt-BR" b="1" dirty="0">
                    <a:solidFill>
                      <a:srgbClr val="00B050"/>
                    </a:solidFill>
                  </a:rPr>
                  <a:t>encontra a melhor equação e os seus respectivos pesos</a:t>
                </a:r>
                <a:r>
                  <a:rPr lang="pt-BR" dirty="0"/>
                  <a:t>.</a:t>
                </a:r>
              </a:p>
            </p:txBody>
          </p:sp>
        </mc:Choice>
        <mc:Fallback>
          <p:sp>
            <p:nvSpPr>
              <p:cNvPr id="4" name="Content Placeholder 3">
                <a:extLst>
                  <a:ext uri="{FF2B5EF4-FFF2-40B4-BE49-F238E27FC236}">
                    <a16:creationId xmlns:a16="http://schemas.microsoft.com/office/drawing/2014/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245948" cy="2283346"/>
              </a:xfrm>
              <a:blipFill>
                <a:blip r:embed="rId3"/>
                <a:stretch>
                  <a:fillRect l="-976" t="-4267" b="-1067"/>
                </a:stretch>
              </a:blipFill>
            </p:spPr>
            <p:txBody>
              <a:bodyPr/>
              <a:lstStyle/>
              <a:p>
                <a:r>
                  <a:rPr lang="en-US">
                    <a:noFill/>
                  </a:rPr>
                  <a:t> </a:t>
                </a:r>
              </a:p>
            </p:txBody>
          </p:sp>
        </mc:Fallback>
      </mc:AlternateContent>
      <p:grpSp>
        <p:nvGrpSpPr>
          <p:cNvPr id="3" name="Grupo 2"/>
          <p:cNvGrpSpPr/>
          <p:nvPr/>
        </p:nvGrpSpPr>
        <p:grpSpPr>
          <a:xfrm>
            <a:off x="321991" y="4286267"/>
            <a:ext cx="11530497" cy="2095623"/>
            <a:chOff x="293855" y="4117451"/>
            <a:chExt cx="11530497" cy="2095623"/>
          </a:xfrm>
        </p:grpSpPr>
        <p:pic>
          <p:nvPicPr>
            <p:cNvPr id="5" name="Picture 2">
              <a:extLst>
                <a:ext uri="{FF2B5EF4-FFF2-40B4-BE49-F238E27FC236}">
                  <a16:creationId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48248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5"/>
            <a:ext cx="11274824" cy="2323495"/>
          </a:xfrm>
        </p:spPr>
        <p:txBody>
          <a:bodyPr>
            <a:normAutofit/>
          </a:bodyPr>
          <a:lstStyle/>
          <a:p>
            <a:r>
              <a:rPr lang="pt-BR" dirty="0"/>
              <a:t>Agora, o proprietário pode usar o modelo aprendido (i.e., a reta) para fazer </a:t>
            </a:r>
            <a:r>
              <a:rPr lang="pt-BR" b="1" dirty="0">
                <a:solidFill>
                  <a:schemeClr val="accent2"/>
                </a:solidFill>
              </a:rPr>
              <a:t>inferências</a:t>
            </a:r>
            <a:r>
              <a:rPr lang="pt-BR" dirty="0">
                <a:solidFill>
                  <a:schemeClr val="accent2"/>
                </a:solidFill>
              </a:rPr>
              <a:t> </a:t>
            </a:r>
            <a:r>
              <a:rPr lang="pt-BR" dirty="0"/>
              <a:t>todas as manhãs.</a:t>
            </a:r>
          </a:p>
          <a:p>
            <a:r>
              <a:rPr lang="pt-BR" dirty="0"/>
              <a:t>Mas será que o modelo generaliza bem?</a:t>
            </a:r>
          </a:p>
          <a:p>
            <a:pPr lvl="1">
              <a:buFont typeface="Wingdings" panose="05000000000000000000" pitchFamily="2" charset="2"/>
              <a:buChar char="§"/>
            </a:pPr>
            <a:r>
              <a:rPr lang="pt-BR" dirty="0"/>
              <a:t>Como verificamos se o modelo tem uma boa capacidade de generalização?</a:t>
            </a:r>
          </a:p>
        </p:txBody>
      </p:sp>
      <p:sp>
        <p:nvSpPr>
          <p:cNvPr id="4" name="Rectangle 12">
            <a:extLst>
              <a:ext uri="{FF2B5EF4-FFF2-40B4-BE49-F238E27FC236}">
                <a16:creationId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id="{9DFE0896-6E0A-A6DD-DBEE-BFD5AA462837}"/>
              </a:ext>
            </a:extLst>
          </p:cNvPr>
          <p:cNvSpPr txBox="1"/>
          <p:nvPr/>
        </p:nvSpPr>
        <p:spPr>
          <a:xfrm>
            <a:off x="3259988" y="4566034"/>
            <a:ext cx="999567" cy="646331"/>
          </a:xfrm>
          <a:prstGeom prst="rect">
            <a:avLst/>
          </a:prstGeom>
          <a:noFill/>
        </p:spPr>
        <p:txBody>
          <a:bodyPr wrap="square" rtlCol="0">
            <a:spAutoFit/>
          </a:bodyPr>
          <a:lstStyle/>
          <a:p>
            <a:pPr algn="ctr"/>
            <a:r>
              <a:rPr lang="pt-BR" b="1" dirty="0">
                <a:solidFill>
                  <a:srgbClr val="00B0F0"/>
                </a:solidFill>
              </a:rPr>
              <a:t>Entrada inédita</a:t>
            </a:r>
          </a:p>
        </p:txBody>
      </p:sp>
      <p:cxnSp>
        <p:nvCxnSpPr>
          <p:cNvPr id="14" name="Straight Arrow Connector 18">
            <a:extLst>
              <a:ext uri="{FF2B5EF4-FFF2-40B4-BE49-F238E27FC236}">
                <a16:creationId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5978769" y="1825625"/>
            <a:ext cx="6072127" cy="5032375"/>
          </a:xfrm>
        </p:spPr>
        <p:txBody>
          <a:bodyPr>
            <a:normAutofit/>
          </a:bodyPr>
          <a:lstStyle/>
          <a:p>
            <a:r>
              <a:rPr lang="pt-BR" dirty="0"/>
              <a:t>Cada paradigma tem um </a:t>
            </a:r>
            <a:r>
              <a:rPr lang="pt-BR" b="1" dirty="0"/>
              <a:t>estilo de aprendizagem</a:t>
            </a:r>
            <a:r>
              <a:rPr lang="pt-BR" dirty="0"/>
              <a:t>: </a:t>
            </a:r>
          </a:p>
          <a:p>
            <a:pPr lvl="1">
              <a:buFont typeface="Wingdings" panose="05000000000000000000" pitchFamily="2" charset="2"/>
              <a:buChar char="§"/>
            </a:pPr>
            <a:r>
              <a:rPr lang="pt-BR" dirty="0"/>
              <a:t>alguns </a:t>
            </a:r>
            <a:r>
              <a:rPr lang="pt-BR" b="1" dirty="0">
                <a:solidFill>
                  <a:srgbClr val="00B0F0"/>
                </a:solidFill>
              </a:rPr>
              <a:t>esperam respostas corretas</a:t>
            </a:r>
            <a:r>
              <a:rPr lang="pt-BR" dirty="0"/>
              <a:t>, </a:t>
            </a:r>
          </a:p>
          <a:p>
            <a:pPr lvl="1">
              <a:buFont typeface="Wingdings" panose="05000000000000000000" pitchFamily="2" charset="2"/>
              <a:buChar char="§"/>
            </a:pPr>
            <a:r>
              <a:rPr lang="pt-BR" dirty="0"/>
              <a:t>outros as </a:t>
            </a:r>
            <a:r>
              <a:rPr lang="pt-BR" b="1" dirty="0">
                <a:solidFill>
                  <a:schemeClr val="accent6"/>
                </a:solidFill>
              </a:rPr>
              <a:t>descobrem sozinhos </a:t>
            </a:r>
          </a:p>
          <a:p>
            <a:pPr lvl="1">
              <a:buFont typeface="Wingdings" panose="05000000000000000000" pitchFamily="2" charset="2"/>
              <a:buChar char="§"/>
            </a:pPr>
            <a:r>
              <a:rPr lang="pt-BR" dirty="0"/>
              <a:t>e alguns aprendem por </a:t>
            </a:r>
            <a:r>
              <a:rPr lang="pt-BR" b="1" dirty="0">
                <a:solidFill>
                  <a:schemeClr val="accent2"/>
                </a:solidFill>
              </a:rPr>
              <a:t>tentativa e erro</a:t>
            </a:r>
            <a:r>
              <a:rPr lang="pt-BR" dirty="0"/>
              <a:t>.</a:t>
            </a:r>
          </a:p>
          <a:p>
            <a:r>
              <a:rPr lang="pt-BR" dirty="0"/>
              <a:t>Cada paradigma têm vários algoritmos e aplicações.</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76355"/>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7080554" y="2989058"/>
            <a:ext cx="47359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a:t>
            </a:r>
            <a:r>
              <a:rPr lang="pt-BR" sz="3200" b="1" i="1" dirty="0"/>
              <a:t>dataset</a:t>
            </a:r>
            <a:r>
              <a:rPr lang="pt-BR" sz="3200" b="1" dirty="0"/>
              <a:t> </a:t>
            </a:r>
            <a:r>
              <a:rPr lang="pt-BR" sz="3200" b="1" dirty="0">
                <a:solidFill>
                  <a:schemeClr val="accent2"/>
                </a:solidFill>
              </a:rPr>
              <a:t>rotulado</a:t>
            </a:r>
          </a:p>
        </p:txBody>
      </p:sp>
    </p:spTree>
    <p:extLst>
      <p:ext uri="{BB962C8B-B14F-4D97-AF65-F5344CB8AC3E}">
        <p14:creationId xmlns:p14="http://schemas.microsoft.com/office/powerpoint/2010/main" val="618641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a:t>
                </a:r>
                <a:r>
                  <a:rPr lang="pt-BR" b="1" dirty="0">
                    <a:solidFill>
                      <a:schemeClr val="accent2"/>
                    </a:solidFill>
                  </a:rPr>
                  <a:t>resposta correta</a:t>
                </a:r>
                <a:r>
                  <a:rPr lang="pt-BR" dirty="0"/>
                  <a:t>.</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se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a:t>
                </a:r>
                <a:r>
                  <a:rPr lang="pt-BR" b="1" dirty="0">
                    <a:solidFill>
                      <a:schemeClr val="accent2"/>
                    </a:solidFill>
                  </a:rPr>
                  <a:t>saída esperada </a:t>
                </a:r>
                <a:r>
                  <a:rPr lang="pt-BR" dirty="0"/>
                  <a:t>para predizer as saídas de </a:t>
                </a:r>
                <a:r>
                  <a:rPr lang="pt-BR" b="1" dirty="0">
                    <a:solidFill>
                      <a:schemeClr val="accent2"/>
                    </a:solidFill>
                  </a:rPr>
                  <a:t>entradas inéditas</a:t>
                </a:r>
                <a:r>
                  <a:rPr lang="pt-BR" dirty="0"/>
                  <a:t> (i.e., generalizar).</a:t>
                </a:r>
              </a:p>
            </p:txBody>
          </p:sp>
        </mc:Choice>
        <mc:Fallback>
          <p:sp>
            <p:nvSpPr>
              <p:cNvPr id="3" name="Espaço Reservado para Conteúdo 2">
                <a:extLst>
                  <a:ext uri="{FF2B5EF4-FFF2-40B4-BE49-F238E27FC236}">
                    <a16:creationId xmlns:a16="http://schemas.microsoft.com/office/drawing/2014/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2"/>
                <a:stretch>
                  <a:fillRect l="-930" t="-1937" r="-1587"/>
                </a:stretch>
              </a:blipFill>
            </p:spPr>
            <p:txBody>
              <a:bodyPr/>
              <a:lstStyle/>
              <a:p>
                <a:r>
                  <a:rPr lang="en-US">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a:solidFill>
                      <a:srgbClr val="7030A0"/>
                    </a:solidFill>
                  </a:rPr>
                  <a:t>aprender</a:t>
                </a:r>
                <a:r>
                  <a:rPr lang="pt-BR" dirty="0"/>
                  <a:t> uma 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
                </a:r>
                <a:r>
                  <a:rPr lang="pt-BR" b="1" dirty="0">
                    <a:solidFill>
                      <a:schemeClr val="accent2"/>
                    </a:solidFill>
                  </a:rPr>
                  <a:t>Atributos</a:t>
                </a:r>
                <a:r>
                  <a:rPr lang="pt-BR" b="1" dirty="0"/>
                  <a:t>):</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a:t>
                </a:r>
                <a:r>
                  <a:rPr lang="pt-BR" b="1" dirty="0">
                    <a:solidFill>
                      <a:schemeClr val="accent6"/>
                    </a:solidFill>
                  </a:rPr>
                  <a:t>Rótulo</a:t>
                </a:r>
                <a:r>
                  <a:rPr lang="pt-BR" b="1" dirty="0"/>
                  <a:t>):</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a:t>
                </a:r>
                <a:r>
                  <a:rPr lang="pt-BR" b="1" dirty="0">
                    <a:solidFill>
                      <a:schemeClr val="accent5"/>
                    </a:solidFill>
                  </a:rPr>
                  <a:t>modelo</a:t>
                </a:r>
                <a:r>
                  <a:rPr lang="pt-BR" b="1" dirty="0"/>
                  <a:t>):</a:t>
                </a:r>
                <a:r>
                  <a:rPr lang="pt-BR" dirty="0"/>
                  <a:t> O que a máquina precisa "aprender".</a:t>
                </a:r>
              </a:p>
              <a:p>
                <a:r>
                  <a:rPr lang="pt-BR" dirty="0"/>
                  <a:t>O aprendizado supervisionado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a:t>
                </a:r>
                <a:r>
                  <a:rPr lang="pt-BR" b="1" dirty="0">
                    <a:solidFill>
                      <a:schemeClr val="accent1"/>
                    </a:solidFill>
                  </a:rPr>
                  <a:t>tipo do rótulo</a:t>
                </a:r>
                <a:r>
                  <a:rPr lang="pt-BR" dirty="0"/>
                  <a:t>.</a:t>
                </a:r>
              </a:p>
            </p:txBody>
          </p:sp>
        </mc:Choice>
        <mc:Fallback>
          <p:sp>
            <p:nvSpPr>
              <p:cNvPr id="3" name="Espaço Reservado para Conteúdo 2">
                <a:extLst>
                  <a:ext uri="{FF2B5EF4-FFF2-40B4-BE49-F238E27FC236}">
                    <a16:creationId xmlns:a16="http://schemas.microsoft.com/office/drawing/2014/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1095" t="-1937"/>
                </a:stretch>
              </a:blipFill>
            </p:spPr>
            <p:txBody>
              <a:bodyPr/>
              <a:lstStyle/>
              <a:p>
                <a:r>
                  <a:rPr lang="en-US">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Predição do preço de imóveis.</a:t>
            </a:r>
          </a:p>
          <a:p>
            <a:pPr lvl="1">
              <a:buFont typeface="Wingdings" panose="05000000000000000000" pitchFamily="2" charset="2"/>
              <a:buChar char="§"/>
            </a:pPr>
            <a:r>
              <a:rPr lang="pt-BR" dirty="0"/>
              <a:t>Predição da temperatura de amanhã.</a:t>
            </a:r>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6" y="1825624"/>
            <a:ext cx="6289963"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de um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a:t>apenas uma </a:t>
            </a:r>
            <a:r>
              <a:rPr lang="pt-BR" sz="2400" kern="1200" dirty="0">
                <a:solidFill>
                  <a:schemeClr val="tx1"/>
                </a:solidFill>
                <a:effectLst/>
                <a:latin typeface="+mn-lt"/>
                <a:ea typeface="+mn-ea"/>
                <a:cs typeface="+mn-cs"/>
              </a:rPr>
              <a:t>posição bem específica.</a:t>
            </a:r>
          </a:p>
        </p:txBody>
      </p:sp>
    </p:spTree>
    <p:extLst>
      <p:ext uri="{BB962C8B-B14F-4D97-AF65-F5344CB8AC3E}">
        <p14:creationId xmlns:p14="http://schemas.microsoft.com/office/powerpoint/2010/main" val="4237290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9AC0F0FB-86A6-1327-90D4-AAA53078838E}"/>
              </a:ext>
            </a:extLst>
          </p:cNvPr>
          <p:cNvSpPr/>
          <p:nvPr/>
        </p:nvSpPr>
        <p:spPr>
          <a:xfrm>
            <a:off x="8012974" y="2163528"/>
            <a:ext cx="3898868" cy="1569660"/>
          </a:xfrm>
          <a:prstGeom prst="rect">
            <a:avLst/>
          </a:prstGeom>
        </p:spPr>
        <p:txBody>
          <a:bodyPr wrap="square">
            <a:spAutoFit/>
          </a:bodyPr>
          <a:lstStyle/>
          <a:p>
            <a:pPr algn="ctr"/>
            <a:r>
              <a:rPr lang="pt-BR" sz="3200" b="1" dirty="0"/>
              <a:t>A falta de dados de treinamento pode causar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a:t>bebê "</a:t>
            </a:r>
            <a:r>
              <a:rPr lang="pt-BR" sz="2400" b="1" dirty="0">
                <a:solidFill>
                  <a:srgbClr val="7030A0"/>
                </a:solidFill>
              </a:rPr>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solidFill>
                  <a:srgbClr val="7030A0"/>
                </a:solidFill>
              </a:rPr>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Se o bebê </a:t>
            </a:r>
            <a:r>
              <a:rPr lang="pt-BR" sz="2400" b="1" kern="1200" dirty="0">
                <a:solidFill>
                  <a:srgbClr val="00B050"/>
                </a:solidFill>
                <a:effectLst/>
                <a:latin typeface="+mn-lt"/>
                <a:ea typeface="+mn-ea"/>
                <a:cs typeface="+mn-cs"/>
              </a:rPr>
              <a:t>generalizasse</a:t>
            </a:r>
            <a:r>
              <a:rPr lang="pt-BR" sz="2400" kern="1200" dirty="0">
                <a:solidFill>
                  <a:schemeClr val="tx1"/>
                </a:solidFill>
                <a:effectLst/>
                <a:latin typeface="+mn-lt"/>
                <a:ea typeface="+mn-ea"/>
                <a:cs typeface="+mn-cs"/>
              </a:rPr>
              <a:t>, ele reconheceria seu 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aprenderia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dirty="0"/>
              <a:t>Ou seja, </a:t>
            </a:r>
            <a:r>
              <a:rPr lang="pt-BR" sz="3200" b="1" dirty="0"/>
              <a:t>não existem rótulos.</a:t>
            </a:r>
          </a:p>
        </p:txBody>
      </p:sp>
    </p:spTree>
    <p:extLst>
      <p:ext uri="{BB962C8B-B14F-4D97-AF65-F5344CB8AC3E}">
        <p14:creationId xmlns:p14="http://schemas.microsoft.com/office/powerpoint/2010/main" val="1775774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241104" y="1856942"/>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772054" y="2496289"/>
            <a:ext cx="3841530" cy="2554545"/>
          </a:xfrm>
          <a:prstGeom prst="rect">
            <a:avLst/>
          </a:prstGeom>
        </p:spPr>
        <p:txBody>
          <a:bodyPr wrap="square">
            <a:spAutoFit/>
          </a:bodyPr>
          <a:lstStyle/>
          <a:p>
            <a:pPr algn="ctr"/>
            <a:r>
              <a:rPr lang="pt-BR" sz="3200" dirty="0"/>
              <a:t>O aprendizado ocorre identificando </a:t>
            </a:r>
            <a:r>
              <a:rPr lang="pt-BR" sz="3200" b="1" dirty="0">
                <a:solidFill>
                  <a:srgbClr val="00B050"/>
                </a:solidFill>
              </a:rPr>
              <a:t>similaridades e diferenças entre os dados</a:t>
            </a:r>
            <a:r>
              <a:rPr lang="pt-BR" sz="3200" dirty="0"/>
              <a:t>.</a:t>
            </a:r>
          </a:p>
        </p:txBody>
      </p:sp>
    </p:spTree>
    <p:extLst>
      <p:ext uri="{BB962C8B-B14F-4D97-AF65-F5344CB8AC3E}">
        <p14:creationId xmlns:p14="http://schemas.microsoft.com/office/powerpoint/2010/main" val="37213615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chemeClr val="accent2"/>
                </a:solidFill>
              </a:rPr>
              <a:t>não sei </a:t>
            </a:r>
            <a:r>
              <a:rPr lang="pt-BR" sz="3200" dirty="0"/>
              <a:t>o que são esses objetos, 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Descobrir </a:t>
                </a:r>
                <a:r>
                  <a:rPr lang="pt-BR" b="1" dirty="0">
                    <a:solidFill>
                      <a:schemeClr val="accent2"/>
                    </a:solidFill>
                  </a:rPr>
                  <a:t>padrões</a:t>
                </a:r>
                <a:r>
                  <a:rPr lang="pt-BR" dirty="0"/>
                  <a:t>, </a:t>
                </a:r>
                <a:r>
                  <a:rPr lang="pt-BR" b="1" dirty="0">
                    <a:solidFill>
                      <a:schemeClr val="accent5"/>
                    </a:solidFill>
                  </a:rPr>
                  <a:t>estruturas</a:t>
                </a:r>
                <a:r>
                  <a:rPr lang="pt-BR" dirty="0"/>
                  <a:t>, ou </a:t>
                </a:r>
                <a:r>
                  <a:rPr lang="pt-BR" b="1" dirty="0">
                    <a:solidFill>
                      <a:schemeClr val="accent6"/>
                    </a:solidFill>
                  </a:rPr>
                  <a:t>relacionamentos</a:t>
                </a:r>
                <a:r>
                  <a:rPr lang="pt-BR" dirty="0">
                    <a:solidFill>
                      <a:schemeClr val="accent6"/>
                    </a:solidFill>
                  </a:rPr>
                  <a:t> </a:t>
                </a:r>
                <a:r>
                  <a:rPr lang="pt-BR" dirty="0"/>
                  <a:t>presentes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parecidos/próximos </a:t>
                </a:r>
                <a:r>
                  <a:rPr lang="pt-BR" dirty="0"/>
                  <a:t>entre si e </a:t>
                </a:r>
                <a:r>
                  <a:rPr lang="pt-BR" b="1" dirty="0"/>
                  <a:t>diferentes/distantes</a:t>
                </a:r>
                <a:r>
                  <a:rPr lang="pt-BR" dirty="0"/>
                  <a:t> daqueles ali”.</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rotWithShape="0">
                <a:blip r:embed="rId3"/>
                <a:stretch>
                  <a:fillRect l="-1685" t="-1937" r="-3090"/>
                </a:stretch>
              </a:blipFill>
            </p:spPr>
            <p:txBody>
              <a:bodyPr/>
              <a:lstStyle/>
              <a:p>
                <a:r>
                  <a:rPr lang="pt-BR">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a:t>
              </a:r>
              <a:r>
                <a:rPr lang="pt-BR" b="1" dirty="0">
                  <a:solidFill>
                    <a:schemeClr val="accent2"/>
                  </a:solidFill>
                </a:rPr>
                <a:t>proximidade</a:t>
              </a:r>
            </a:p>
          </p:txBody>
        </p:sp>
        <p:sp>
          <p:nvSpPr>
            <p:cNvPr id="11" name="CaixaDeTexto 10">
              <a:extLst>
                <a:ext uri="{FF2B5EF4-FFF2-40B4-BE49-F238E27FC236}">
                  <a16:creationId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585954" y="1825624"/>
            <a:ext cx="6495210" cy="5032375"/>
          </a:xfrm>
        </p:spPr>
        <p:txBody>
          <a:bodyPr>
            <a:normAutofit lnSpcReduction="10000"/>
          </a:bodyPr>
          <a:lstStyle/>
          <a:p>
            <a:r>
              <a:rPr lang="pt-BR" b="1" i="1" dirty="0"/>
              <a:t>Clustering</a:t>
            </a:r>
            <a:r>
              <a:rPr lang="pt-BR" b="1" dirty="0"/>
              <a:t> (ou agrupamento):</a:t>
            </a:r>
            <a:r>
              <a:rPr lang="pt-BR" dirty="0"/>
              <a:t> serve para </a:t>
            </a:r>
            <a:r>
              <a:rPr lang="pt-BR" b="1" dirty="0">
                <a:solidFill>
                  <a:schemeClr val="accent2"/>
                </a:solidFill>
              </a:rPr>
              <a:t>encontrar grupos</a:t>
            </a:r>
            <a:r>
              <a:rPr lang="pt-BR" dirty="0"/>
              <a:t>, muitas vezes escondidos, presentes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Netflix, Spotify, etc. utilizam </a:t>
            </a:r>
            <a:r>
              <a:rPr lang="pt-BR" i="1" dirty="0"/>
              <a:t>clustering</a:t>
            </a:r>
            <a:r>
              <a:rPr lang="pt-BR" dirty="0"/>
              <a:t> para recomendar filmes e músicas baseando-se em grupos de usuários com </a:t>
            </a:r>
            <a:r>
              <a:rPr lang="pt-BR" b="1" dirty="0">
                <a:solidFill>
                  <a:srgbClr val="00B050"/>
                </a:solidFill>
              </a:rPr>
              <a:t>comportamentos e gostos similares </a:t>
            </a:r>
            <a:r>
              <a:rPr lang="pt-BR" dirty="0"/>
              <a:t>aos seus.</a:t>
            </a:r>
          </a:p>
          <a:p>
            <a:pPr lvl="1">
              <a:buFont typeface="Wingdings" panose="05000000000000000000" pitchFamily="2" charset="2"/>
              <a:buChar char="§"/>
            </a:pPr>
            <a:r>
              <a:rPr lang="pt-BR" dirty="0"/>
              <a:t>A </a:t>
            </a:r>
            <a:r>
              <a:rPr lang="pt-BR" dirty="0" err="1"/>
              <a:t>Amazon</a:t>
            </a:r>
            <a:r>
              <a:rPr lang="pt-BR" dirty="0"/>
              <a:t>, Mercado Livre, etc. agrupam clientes que compram </a:t>
            </a:r>
            <a:r>
              <a:rPr lang="pt-BR" b="1" dirty="0">
                <a:solidFill>
                  <a:schemeClr val="accent5"/>
                </a:solidFill>
              </a:rPr>
              <a:t>produtos parecidos </a:t>
            </a:r>
            <a:r>
              <a:rPr lang="pt-BR" dirty="0"/>
              <a:t>para recomendar outros produtos.</a:t>
            </a:r>
          </a:p>
        </p:txBody>
      </p:sp>
      <p:pic>
        <p:nvPicPr>
          <p:cNvPr id="4" name="Picture 2" descr="https://www.ecloudvalley.com/wp-content/uploads/2019/09/Unsupervised-learning.png">
            <a:extLst>
              <a:ext uri="{FF2B5EF4-FFF2-40B4-BE49-F238E27FC236}">
                <a16:creationId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12981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22A91D9-CA32-6007-7F08-7CA46B022D97}"/>
              </a:ext>
            </a:extLst>
          </p:cNvPr>
          <p:cNvSpPr txBox="1"/>
          <p:nvPr/>
        </p:nvSpPr>
        <p:spPr>
          <a:xfrm>
            <a:off x="129813" y="5266461"/>
            <a:ext cx="5317591" cy="584775"/>
          </a:xfrm>
          <a:prstGeom prst="rect">
            <a:avLst/>
          </a:prstGeom>
          <a:noFill/>
        </p:spPr>
        <p:txBody>
          <a:bodyPr wrap="square">
            <a:spAutoFit/>
          </a:bodyPr>
          <a:lstStyle/>
          <a:p>
            <a:pPr algn="ctr"/>
            <a:r>
              <a:rPr lang="pt-BR" sz="1600" baseline="0" dirty="0"/>
              <a:t>Agrupar clientes similares em termos de comportamento para</a:t>
            </a:r>
            <a:r>
              <a:rPr lang="pt-BR" sz="1600" dirty="0"/>
              <a:t> </a:t>
            </a:r>
            <a:r>
              <a:rPr lang="pt-BR" sz="1600" baseline="0" dirty="0"/>
              <a:t>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a:t>
            </a:r>
            <a:r>
              <a:rPr lang="pt-BR" b="1" dirty="0">
                <a:solidFill>
                  <a:schemeClr val="accent2"/>
                </a:solidFill>
              </a:rPr>
              <a:t>Simplifica dados complexos</a:t>
            </a:r>
            <a:r>
              <a:rPr lang="pt-BR" dirty="0"/>
              <a:t>, focando apenas no que importa (i.e., preserva a maior parte da informação).</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dados multidimensionais para processá-los mais rápido.</a:t>
            </a:r>
          </a:p>
          <a:p>
            <a:pPr lvl="1">
              <a:buFont typeface="Wingdings" panose="05000000000000000000" pitchFamily="2" charset="2"/>
              <a:buChar char="§"/>
            </a:pPr>
            <a:r>
              <a:rPr lang="pt-BR" dirty="0"/>
              <a:t>Transformar dados multidimensionais (&gt;3) em um gráfico 2D/3D que humanos consigam visualizar e interpretar.</a:t>
            </a:r>
          </a:p>
        </p:txBody>
      </p:sp>
      <p:grpSp>
        <p:nvGrpSpPr>
          <p:cNvPr id="8" name="Group 7">
            <a:extLst>
              <a:ext uri="{FF2B5EF4-FFF2-40B4-BE49-F238E27FC236}">
                <a16:creationId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a:t>
            </a:r>
            <a:r>
              <a:rPr lang="pt-BR" b="1" dirty="0">
                <a:solidFill>
                  <a:schemeClr val="accent2"/>
                </a:solidFill>
              </a:rPr>
              <a:t>identificar padrões que fogem completamente 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t>
            </a:r>
            <a:r>
              <a:rPr lang="pt-BR" b="1" dirty="0">
                <a:solidFill>
                  <a:schemeClr val="accent2"/>
                </a:solidFill>
              </a:rPr>
              <a:t>agente</a:t>
            </a:r>
            <a:r>
              <a:rPr lang="pt-BR" dirty="0"/>
              <a:t> (i.e., a máquina) aprende a tomar decisões em um </a:t>
            </a:r>
            <a:r>
              <a:rPr lang="pt-BR" b="1" dirty="0">
                <a:solidFill>
                  <a:schemeClr val="accent2"/>
                </a:solidFill>
              </a:rPr>
              <a:t>ambiente</a:t>
            </a:r>
            <a:r>
              <a:rPr lang="pt-BR" dirty="0"/>
              <a:t> através de </a:t>
            </a:r>
            <a:r>
              <a:rPr lang="pt-BR" b="1" dirty="0">
                <a:solidFill>
                  <a:srgbClr val="7030A0"/>
                </a:solidFill>
              </a:rPr>
              <a:t>recompensas ou punições</a:t>
            </a:r>
            <a:r>
              <a:rPr lang="pt-BR" dirty="0"/>
              <a:t>. </a:t>
            </a:r>
          </a:p>
          <a:p>
            <a:r>
              <a:rPr lang="pt-BR" b="1" dirty="0"/>
              <a:t>Objetivo</a:t>
            </a:r>
            <a:r>
              <a:rPr lang="pt-BR" dirty="0"/>
              <a:t>: maximizar as recompensas recebidas e evitar punições.</a:t>
            </a:r>
          </a:p>
          <a:p>
            <a:r>
              <a:rPr lang="pt-BR" dirty="0"/>
              <a:t>O </a:t>
            </a:r>
            <a:r>
              <a:rPr lang="pt-BR" b="1" dirty="0"/>
              <a:t>agente</a:t>
            </a:r>
            <a:r>
              <a:rPr lang="pt-BR" dirty="0"/>
              <a:t> observa o </a:t>
            </a:r>
            <a:r>
              <a:rPr lang="pt-BR" b="1" dirty="0">
                <a:solidFill>
                  <a:schemeClr val="accent2"/>
                </a:solidFill>
              </a:rPr>
              <a:t>estado do ambiente</a:t>
            </a:r>
            <a:r>
              <a:rPr lang="pt-BR" dirty="0"/>
              <a:t>, seleciona e executa uma </a:t>
            </a:r>
            <a:r>
              <a:rPr lang="pt-BR" b="1" dirty="0">
                <a:solidFill>
                  <a:schemeClr val="accent2"/>
                </a:solidFill>
              </a:rPr>
              <a:t>ação</a:t>
            </a:r>
            <a:r>
              <a:rPr lang="pt-BR" b="1" dirty="0"/>
              <a:t>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CE7F3ABE-51DE-7390-3323-29DE5DD50C10}"/>
              </a:ext>
            </a:extLst>
          </p:cNvPr>
          <p:cNvSpPr>
            <a:spLocks noGrp="1"/>
          </p:cNvSpPr>
          <p:nvPr>
            <p:ph idx="1"/>
          </p:nvPr>
        </p:nvSpPr>
        <p:spPr>
          <a:xfrm>
            <a:off x="4973782" y="1825624"/>
            <a:ext cx="7065818" cy="5032375"/>
          </a:xfrm>
        </p:spPr>
        <p:txBody>
          <a:bodyPr>
            <a:normAutofit/>
          </a:bodyPr>
          <a:lstStyle/>
          <a:p>
            <a:r>
              <a:rPr lang="pt-BR" dirty="0"/>
              <a:t>Por tentativa e erro, o agente aprende por si só qual a melhor </a:t>
            </a:r>
            <a:r>
              <a:rPr lang="pt-BR" b="1" dirty="0">
                <a:solidFill>
                  <a:schemeClr val="accent2"/>
                </a:solidFill>
              </a:rPr>
              <a:t>estratégia</a:t>
            </a:r>
            <a:r>
              <a:rPr lang="pt-BR" dirty="0"/>
              <a:t>, chamada de </a:t>
            </a:r>
            <a:r>
              <a:rPr lang="pt-BR" b="1" dirty="0">
                <a:solidFill>
                  <a:schemeClr val="accent2"/>
                </a:solidFill>
              </a:rPr>
              <a:t>política</a:t>
            </a:r>
            <a:r>
              <a:rPr lang="pt-BR" dirty="0"/>
              <a:t>, para obter a </a:t>
            </a:r>
            <a:r>
              <a:rPr lang="pt-BR" b="1" dirty="0"/>
              <a:t>maior quantidade possível de recompensas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a:t>
            </a:r>
            <a:r>
              <a:rPr lang="pt-BR" b="1" dirty="0">
                <a:solidFill>
                  <a:schemeClr val="accent2"/>
                </a:solidFill>
              </a:rPr>
              <a:t>função</a:t>
            </a:r>
            <a:r>
              <a:rPr lang="pt-BR" b="1" dirty="0"/>
              <a:t>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B45DADDE-244A-CD46-F7ED-BAF0F4421932}"/>
              </a:ext>
            </a:extLst>
          </p:cNvPr>
          <p:cNvSpPr>
            <a:spLocks noGrp="1"/>
          </p:cNvSpPr>
          <p:nvPr>
            <p:ph idx="1"/>
          </p:nvPr>
        </p:nvSpPr>
        <p:spPr>
          <a:xfrm>
            <a:off x="5519057" y="1825624"/>
            <a:ext cx="6584959"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Xadrez, etc.)</a:t>
            </a:r>
          </a:p>
          <a:p>
            <a:pPr lvl="1">
              <a:buFont typeface="Wingdings" panose="05000000000000000000" pitchFamily="2" charset="2"/>
              <a:buChar char="§"/>
            </a:pPr>
            <a:r>
              <a:rPr lang="pt-BR" dirty="0"/>
              <a:t>Veículos autônomos (e.g., carros, </a:t>
            </a:r>
            <a:r>
              <a:rPr lang="pt-BR" i="1" dirty="0"/>
              <a:t>drones</a:t>
            </a:r>
            <a:r>
              <a:rPr lang="pt-BR" dirty="0"/>
              <a:t>, etc.): aprendem a acelerar, frear, desviar de obstáculos (inicialmente, em simuladores).</a:t>
            </a:r>
          </a:p>
          <a:p>
            <a:pPr lvl="1">
              <a:buFont typeface="Wingdings" panose="05000000000000000000" pitchFamily="2" charset="2"/>
              <a:buChar char="§"/>
            </a:pPr>
            <a:r>
              <a:rPr lang="pt-BR" dirty="0"/>
              <a:t>Robôs de investimento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43183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logístico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seus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8627</TotalTime>
  <Words>5246</Words>
  <Application>Microsoft Office PowerPoint</Application>
  <PresentationFormat>Widescreen</PresentationFormat>
  <Paragraphs>378</Paragraphs>
  <Slides>42</Slides>
  <Notes>27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42</vt:i4>
      </vt:variant>
    </vt:vector>
  </HeadingPairs>
  <TitlesOfParts>
    <vt:vector size="49"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exercícios</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1966</cp:revision>
  <dcterms:created xsi:type="dcterms:W3CDTF">2020-01-20T13:50:05Z</dcterms:created>
  <dcterms:modified xsi:type="dcterms:W3CDTF">2026-08-03T18:28:56Z</dcterms:modified>
</cp:coreProperties>
</file>