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4"/>
  </p:notesMasterIdLst>
  <p:handoutMasterIdLst>
    <p:handoutMasterId r:id="rId45"/>
  </p:handoutMasterIdLst>
  <p:sldIdLst>
    <p:sldId id="256" r:id="rId2"/>
    <p:sldId id="316" r:id="rId3"/>
    <p:sldId id="346" r:id="rId4"/>
    <p:sldId id="307" r:id="rId5"/>
    <p:sldId id="419" r:id="rId6"/>
    <p:sldId id="318" r:id="rId7"/>
    <p:sldId id="319" r:id="rId8"/>
    <p:sldId id="412" r:id="rId9"/>
    <p:sldId id="413" r:id="rId10"/>
    <p:sldId id="422" r:id="rId11"/>
    <p:sldId id="414" r:id="rId12"/>
    <p:sldId id="415" r:id="rId13"/>
    <p:sldId id="411" r:id="rId14"/>
    <p:sldId id="317" r:id="rId15"/>
    <p:sldId id="345" r:id="rId16"/>
    <p:sldId id="323" r:id="rId17"/>
    <p:sldId id="308" r:id="rId18"/>
    <p:sldId id="320" r:id="rId19"/>
    <p:sldId id="327" r:id="rId20"/>
    <p:sldId id="330" r:id="rId21"/>
    <p:sldId id="324" r:id="rId22"/>
    <p:sldId id="416" r:id="rId23"/>
    <p:sldId id="417" r:id="rId24"/>
    <p:sldId id="322" r:id="rId25"/>
    <p:sldId id="423" r:id="rId26"/>
    <p:sldId id="325" r:id="rId27"/>
    <p:sldId id="418" r:id="rId28"/>
    <p:sldId id="309" r:id="rId29"/>
    <p:sldId id="332" r:id="rId30"/>
    <p:sldId id="335" r:id="rId31"/>
    <p:sldId id="336" r:id="rId32"/>
    <p:sldId id="338" r:id="rId33"/>
    <p:sldId id="331" r:id="rId34"/>
    <p:sldId id="340" r:id="rId35"/>
    <p:sldId id="341" r:id="rId36"/>
    <p:sldId id="342" r:id="rId37"/>
    <p:sldId id="343" r:id="rId38"/>
    <p:sldId id="344" r:id="rId39"/>
    <p:sldId id="311" r:id="rId40"/>
    <p:sldId id="347" r:id="rId41"/>
    <p:sldId id="293" r:id="rId42"/>
    <p:sldId id="306" r:id="rId43"/>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4353" autoAdjust="0"/>
  </p:normalViewPr>
  <p:slideViewPr>
    <p:cSldViewPr snapToGrid="0">
      <p:cViewPr varScale="1">
        <p:scale>
          <a:sx n="69" d="100"/>
          <a:sy n="69" d="100"/>
        </p:scale>
        <p:origin x="936"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50" Type="http://schemas.microsoft.com/office/2015/10/relationships/revisionInfo" Target="revisionInfo.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handoutMaster" Target="handoutMasters/handout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5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2/08/2026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02/08/2026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13649367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371A85A-6C43-1DD2-1616-904E991B340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9AD6B9C9-E6C8-2BAD-22CB-CDA89525F5F0}"/>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681121C7-46E2-E1A2-AC19-B63C65FD8DD4}"/>
              </a:ext>
            </a:extLst>
          </p:cNvPr>
          <p:cNvSpPr>
            <a:spLocks noGrp="1"/>
          </p:cNvSpPr>
          <p:nvPr>
            <p:ph type="body" idx="1"/>
          </p:nvPr>
        </p:nvSpPr>
        <p:spPr/>
        <p:txBody>
          <a:bodyPr/>
          <a:lstStyle/>
          <a:p>
            <a:r>
              <a:rPr lang="pt-BR" dirty="0"/>
              <a:t>Muita gente acha que IA é mágica, mas na verdade é puro aprendizado. Hoje, veremos como as máquinas aprendem.</a:t>
            </a:r>
          </a:p>
        </p:txBody>
      </p:sp>
      <p:sp>
        <p:nvSpPr>
          <p:cNvPr id="4" name="Espaço Reservado para Número de Slide 3">
            <a:extLst>
              <a:ext uri="{FF2B5EF4-FFF2-40B4-BE49-F238E27FC236}">
                <a16:creationId xmlns="" xmlns:a16="http://schemas.microsoft.com/office/drawing/2014/main" id="{6CFCA9CB-729E-B16E-09D6-24E6B67B3BCA}"/>
              </a:ext>
            </a:extLst>
          </p:cNvPr>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11849522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1040856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964337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A7D22946-F4D7-2916-9C7B-58F94A720FFC}"/>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76F277A3-7A93-5615-FAAF-77A7DB251106}"/>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C58B0B39-F6A7-0AA5-DEA6-D0A40B94AF6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98B8184E-EA97-01F9-DFFE-0A23F83AAEB4}"/>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22301684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8892728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E8D9D0C-5BF8-579E-34E6-BF8C92E9907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DDD80EC9-6551-DFE6-D71D-7FADD54047A1}"/>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33599FF6-E3A2-22C3-ADF6-375262BFC11F}"/>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6FF939DF-4841-2F83-5C41-AC1E6F21D4D6}"/>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089427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88D75E03-1B87-8F46-CF92-0513A330E41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C877F6BE-7812-35DB-2A73-86DE02D8CBED}"/>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727CFA46-860B-640C-A2AE-2615127599C8}"/>
              </a:ext>
            </a:extLst>
          </p:cNvPr>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a:extLst>
              <a:ext uri="{FF2B5EF4-FFF2-40B4-BE49-F238E27FC236}">
                <a16:creationId xmlns="" xmlns:a16="http://schemas.microsoft.com/office/drawing/2014/main" id="{779F760A-4758-3E08-F1FB-5890B36E22AD}"/>
              </a:ext>
            </a:extLst>
          </p:cNvPr>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29245213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23771633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t>
            </a:r>
          </a:p>
          <a:p>
            <a:r>
              <a:rPr lang="pt-BR" dirty="0"/>
              <a:t>Pergunta: </a:t>
            </a:r>
            <a:r>
              <a:rPr lang="pt-BR" b="1" dirty="0"/>
              <a:t>“Em qual classe isso pertence?”</a:t>
            </a:r>
            <a:endParaRPr lang="pt-BR"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7844758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04145153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56859064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1903120-0E81-9103-4A0B-BE81B8FD0CF0}"/>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75FE7B2B-D007-1D11-5414-85AD69B3A497}"/>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6C900594-BD46-6486-881E-2A1BE3C222A0}"/>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 xmlns:a16="http://schemas.microsoft.com/office/drawing/2014/main" id="{B8800543-0C44-94C7-D881-581E2A942F56}"/>
              </a:ext>
            </a:extLst>
          </p:cNvPr>
          <p:cNvSpPr>
            <a:spLocks noGrp="1"/>
          </p:cNvSpPr>
          <p:nvPr>
            <p:ph type="sldNum" sz="quarter" idx="10"/>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3687702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C65EA494-FABA-5D03-66A6-7DF0AA16644D}"/>
            </a:ext>
          </a:extLst>
        </p:cNvPr>
        <p:cNvGrpSpPr/>
        <p:nvPr/>
      </p:nvGrpSpPr>
      <p:grpSpPr>
        <a:xfrm>
          <a:off x="0" y="0"/>
          <a:ext cx="0" cy="0"/>
          <a:chOff x="0" y="0"/>
          <a:chExt cx="0" cy="0"/>
        </a:xfrm>
      </p:grpSpPr>
      <p:sp>
        <p:nvSpPr>
          <p:cNvPr id="2" name="Espaço Reservado para Imagem de Slide 1">
            <a:extLst>
              <a:ext uri="{FF2B5EF4-FFF2-40B4-BE49-F238E27FC236}">
                <a16:creationId xmlns="" xmlns:a16="http://schemas.microsoft.com/office/drawing/2014/main" id="{3BFB814E-1D74-4577-E0C9-3A5C0BE6B69E}"/>
              </a:ext>
            </a:extLst>
          </p:cNvPr>
          <p:cNvSpPr>
            <a:spLocks noGrp="1" noRot="1" noChangeAspect="1"/>
          </p:cNvSpPr>
          <p:nvPr>
            <p:ph type="sldImg"/>
          </p:nvPr>
        </p:nvSpPr>
        <p:spPr/>
      </p:sp>
      <p:sp>
        <p:nvSpPr>
          <p:cNvPr id="3" name="Espaço Reservado para Anotações 2">
            <a:extLst>
              <a:ext uri="{FF2B5EF4-FFF2-40B4-BE49-F238E27FC236}">
                <a16:creationId xmlns="" xmlns:a16="http://schemas.microsoft.com/office/drawing/2014/main" id="{32337C59-7F35-97DF-D17B-DCD1EC9E4CC4}"/>
              </a:ext>
            </a:extLst>
          </p:cNvPr>
          <p:cNvSpPr>
            <a:spLocks noGrp="1"/>
          </p:cNvSpPr>
          <p:nvPr>
            <p:ph type="body" idx="1"/>
          </p:nvPr>
        </p:nvSpPr>
        <p:spPr/>
        <p:txBody>
          <a:bodyPr/>
          <a:lstStyle/>
          <a:p>
            <a:pPr rtl="0"/>
            <a:r>
              <a:rPr lang="pt-BR" sz="1200" b="1" kern="1200" dirty="0">
                <a:solidFill>
                  <a:schemeClr val="tx1"/>
                </a:solidFill>
                <a:effectLst/>
                <a:latin typeface="+mn-lt"/>
                <a:ea typeface="+mn-ea"/>
                <a:cs typeface="+mn-cs"/>
              </a:rPr>
              <a:t>1. O Conceito de Rótulos (</a:t>
            </a:r>
            <a:r>
              <a:rPr lang="pt-BR" sz="1200" b="1" kern="1200" dirty="0" err="1">
                <a:solidFill>
                  <a:schemeClr val="tx1"/>
                </a:solidFill>
                <a:effectLst/>
                <a:latin typeface="+mn-lt"/>
                <a:ea typeface="+mn-ea"/>
                <a:cs typeface="+mn-cs"/>
              </a:rPr>
              <a:t>Labels</a:t>
            </a:r>
            <a:r>
              <a:rPr lang="pt-BR" sz="1200" b="1" kern="1200" dirty="0">
                <a:solidFill>
                  <a:schemeClr val="tx1"/>
                </a:solidFill>
                <a:effectLst/>
                <a:latin typeface="+mn-lt"/>
                <a:ea typeface="+mn-ea"/>
                <a:cs typeface="+mn-cs"/>
              </a:rPr>
              <a:t>)</a:t>
            </a:r>
          </a:p>
          <a:p>
            <a:pPr rtl="0"/>
            <a:r>
              <a:rPr lang="pt-BR" sz="1200" kern="1200" dirty="0">
                <a:solidFill>
                  <a:schemeClr val="tx1"/>
                </a:solidFill>
                <a:effectLst/>
                <a:latin typeface="+mn-lt"/>
                <a:ea typeface="+mn-ea"/>
                <a:cs typeface="+mn-cs"/>
              </a:rPr>
              <a:t>No aprendizado supervisionado, ensinamos o modelo através de exemplos rotulados. No caso do quadrinho:</a:t>
            </a:r>
          </a:p>
          <a:p>
            <a:pPr rtl="0"/>
            <a:r>
              <a:rPr lang="pt-BR" sz="1200" b="1" kern="1200" dirty="0">
                <a:solidFill>
                  <a:schemeClr val="tx1"/>
                </a:solidFill>
                <a:effectLst/>
                <a:latin typeface="+mn-lt"/>
                <a:ea typeface="+mn-ea"/>
                <a:cs typeface="+mn-cs"/>
              </a:rPr>
              <a:t>Dado de entrada:</a:t>
            </a:r>
            <a:r>
              <a:rPr lang="pt-BR" sz="1200" kern="1200" dirty="0">
                <a:solidFill>
                  <a:schemeClr val="tx1"/>
                </a:solidFill>
                <a:effectLst/>
                <a:latin typeface="+mn-lt"/>
                <a:ea typeface="+mn-ea"/>
                <a:cs typeface="+mn-cs"/>
              </a:rPr>
              <a:t> O pai do bebê (provavelmente em uma posição específica, como consertando algo).</a:t>
            </a:r>
          </a:p>
          <a:p>
            <a:pPr rtl="0"/>
            <a:r>
              <a:rPr lang="pt-BR" sz="1200" kern="1200" dirty="0">
                <a:solidFill>
                  <a:schemeClr val="tx1"/>
                </a:solidFill>
                <a:effectLst/>
                <a:latin typeface="+mn-lt"/>
                <a:ea typeface="+mn-ea"/>
                <a:cs typeface="+mn-cs"/>
              </a:rPr>
              <a:t>Rótulo (</a:t>
            </a:r>
            <a:r>
              <a:rPr lang="pt-BR" sz="1200" kern="1200" dirty="0" err="1">
                <a:solidFill>
                  <a:schemeClr val="tx1"/>
                </a:solidFill>
                <a:effectLst/>
                <a:latin typeface="+mn-lt"/>
                <a:ea typeface="+mn-ea"/>
                <a:cs typeface="+mn-cs"/>
              </a:rPr>
              <a:t>Label</a:t>
            </a:r>
            <a:r>
              <a:rPr lang="pt-BR" sz="1200" kern="1200" dirty="0">
                <a:solidFill>
                  <a:schemeClr val="tx1"/>
                </a:solidFill>
                <a:effectLst/>
                <a:latin typeface="+mn-lt"/>
                <a:ea typeface="+mn-ea"/>
                <a:cs typeface="+mn-cs"/>
              </a:rPr>
              <a:t>): "Papai" (Daddy).</a:t>
            </a:r>
          </a:p>
          <a:p>
            <a:pPr rtl="0"/>
            <a:r>
              <a:rPr lang="pt-BR" sz="1200" kern="1200" dirty="0">
                <a:solidFill>
                  <a:schemeClr val="tx1"/>
                </a:solidFill>
                <a:effectLst/>
                <a:latin typeface="+mn-lt"/>
                <a:ea typeface="+mn-ea"/>
                <a:cs typeface="+mn-cs"/>
              </a:rPr>
              <a:t>O bebê aprendeu que aquele padrão visual específico — dois círculos e uma fenda — corresponde ao rótulo "Papai".</a:t>
            </a:r>
          </a:p>
          <a:p>
            <a:pPr rtl="0"/>
            <a:r>
              <a:rPr lang="pt-BR" sz="1200" b="1" kern="1200" dirty="0">
                <a:solidFill>
                  <a:schemeClr val="tx1"/>
                </a:solidFill>
                <a:effectLst/>
                <a:latin typeface="+mn-lt"/>
                <a:ea typeface="+mn-ea"/>
                <a:cs typeface="+mn-cs"/>
              </a:rPr>
              <a:t>2. O Problema do </a:t>
            </a:r>
            <a:r>
              <a:rPr lang="pt-BR" sz="1200" b="1" kern="1200" dirty="0" err="1">
                <a:solidFill>
                  <a:schemeClr val="tx1"/>
                </a:solidFill>
                <a:effectLst/>
                <a:latin typeface="+mn-lt"/>
                <a:ea typeface="+mn-ea"/>
                <a:cs typeface="+mn-cs"/>
              </a:rPr>
              <a:t>Overfitting</a:t>
            </a:r>
            <a:r>
              <a:rPr lang="pt-BR" sz="1200" b="1" kern="1200" dirty="0">
                <a:solidFill>
                  <a:schemeClr val="tx1"/>
                </a:solidFill>
                <a:effectLst/>
                <a:latin typeface="+mn-lt"/>
                <a:ea typeface="+mn-ea"/>
                <a:cs typeface="+mn-cs"/>
              </a:rPr>
              <a:t> (Sobreajuste)</a:t>
            </a:r>
          </a:p>
          <a:p>
            <a:pPr rtl="0"/>
            <a:r>
              <a:rPr lang="pt-BR" sz="1200" kern="1200" dirty="0">
                <a:solidFill>
                  <a:schemeClr val="tx1"/>
                </a:solidFill>
                <a:effectLst/>
                <a:latin typeface="+mn-lt"/>
                <a:ea typeface="+mn-ea"/>
                <a:cs typeface="+mn-cs"/>
              </a:rPr>
              <a:t>O </a:t>
            </a:r>
            <a:r>
              <a:rPr lang="pt-BR" sz="1200" b="1" kern="1200" dirty="0" err="1">
                <a:solidFill>
                  <a:schemeClr val="tx1"/>
                </a:solidFill>
                <a:effectLst/>
                <a:latin typeface="+mn-lt"/>
                <a:ea typeface="+mn-ea"/>
                <a:cs typeface="+mn-cs"/>
              </a:rPr>
              <a:t>overfitting</a:t>
            </a:r>
            <a:r>
              <a:rPr lang="pt-BR" sz="1200" kern="1200" dirty="0">
                <a:solidFill>
                  <a:schemeClr val="tx1"/>
                </a:solidFill>
                <a:effectLst/>
                <a:latin typeface="+mn-lt"/>
                <a:ea typeface="+mn-ea"/>
                <a:cs typeface="+mn-cs"/>
              </a:rPr>
              <a:t> ocorre quando o modelo "decora" características muito específicas dos dados de treinamento em vez de aprender o conceito amplo.</a:t>
            </a:r>
          </a:p>
          <a:p>
            <a:pPr rtl="0"/>
            <a:r>
              <a:rPr lang="pt-BR" sz="1200" kern="1200" dirty="0">
                <a:solidFill>
                  <a:schemeClr val="tx1"/>
                </a:solidFill>
                <a:effectLst/>
                <a:latin typeface="+mn-lt"/>
                <a:ea typeface="+mn-ea"/>
                <a:cs typeface="+mn-cs"/>
              </a:rPr>
              <a:t>O bebê não aprendeu o conceito complexo de "pai" (um ser humano, rosto, voz, afeto).</a:t>
            </a:r>
          </a:p>
          <a:p>
            <a:pPr rtl="0"/>
            <a:r>
              <a:rPr lang="pt-BR" sz="1200" kern="1200" dirty="0">
                <a:solidFill>
                  <a:schemeClr val="tx1"/>
                </a:solidFill>
                <a:effectLst/>
                <a:latin typeface="+mn-lt"/>
                <a:ea typeface="+mn-ea"/>
                <a:cs typeface="+mn-cs"/>
              </a:rPr>
              <a:t>Ele aprendeu uma </a:t>
            </a:r>
            <a:r>
              <a:rPr lang="pt-BR" sz="1200" b="1" kern="1200" dirty="0" err="1">
                <a:solidFill>
                  <a:schemeClr val="tx1"/>
                </a:solidFill>
                <a:effectLst/>
                <a:latin typeface="+mn-lt"/>
                <a:ea typeface="+mn-ea"/>
                <a:cs typeface="+mn-cs"/>
              </a:rPr>
              <a:t>feature</a:t>
            </a:r>
            <a:r>
              <a:rPr lang="pt-BR" sz="1200" kern="1200" dirty="0">
                <a:solidFill>
                  <a:schemeClr val="tx1"/>
                </a:solidFill>
                <a:effectLst/>
                <a:latin typeface="+mn-lt"/>
                <a:ea typeface="+mn-ea"/>
                <a:cs typeface="+mn-cs"/>
              </a:rPr>
              <a:t> (característica) extremamente simplista e específica. Como resultado, qualquer coisa no "mundo real" que apresente essa característica geométrica é classificada incorretamente como "Papai".</a:t>
            </a:r>
          </a:p>
          <a:p>
            <a:pPr rtl="0"/>
            <a:r>
              <a:rPr lang="pt-BR" sz="1200" b="1" kern="1200" dirty="0">
                <a:solidFill>
                  <a:schemeClr val="tx1"/>
                </a:solidFill>
                <a:effectLst/>
                <a:latin typeface="+mn-lt"/>
                <a:ea typeface="+mn-ea"/>
                <a:cs typeface="+mn-cs"/>
              </a:rPr>
              <a:t>3. Falha na Generalização</a:t>
            </a:r>
          </a:p>
          <a:p>
            <a:pPr rtl="0"/>
            <a:r>
              <a:rPr lang="pt-BR" sz="1200" kern="1200" dirty="0">
                <a:solidFill>
                  <a:schemeClr val="tx1"/>
                </a:solidFill>
                <a:effectLst/>
                <a:latin typeface="+mn-lt"/>
                <a:ea typeface="+mn-ea"/>
                <a:cs typeface="+mn-cs"/>
              </a:rPr>
              <a:t>Um bom modelo supervisionado deve ser capaz de </a:t>
            </a:r>
            <a:r>
              <a:rPr lang="pt-BR" sz="1200" b="1" kern="1200" dirty="0">
                <a:solidFill>
                  <a:schemeClr val="tx1"/>
                </a:solidFill>
                <a:effectLst/>
                <a:latin typeface="+mn-lt"/>
                <a:ea typeface="+mn-ea"/>
                <a:cs typeface="+mn-cs"/>
              </a:rPr>
              <a:t>generalizar</a:t>
            </a:r>
            <a:r>
              <a:rPr lang="pt-BR" sz="1200" kern="1200" dirty="0">
                <a:solidFill>
                  <a:schemeClr val="tx1"/>
                </a:solidFill>
                <a:effectLst/>
                <a:latin typeface="+mn-lt"/>
                <a:ea typeface="+mn-ea"/>
                <a:cs typeface="+mn-cs"/>
              </a:rPr>
              <a:t>: reconhecer um pai mesmo que ele esteja de pé, de chapéu ou em uma foto diferente.</a:t>
            </a:r>
          </a:p>
          <a:p>
            <a:pPr rtl="0"/>
            <a:r>
              <a:rPr lang="pt-BR" sz="1200" kern="1200" dirty="0">
                <a:solidFill>
                  <a:schemeClr val="tx1"/>
                </a:solidFill>
                <a:effectLst/>
                <a:latin typeface="+mn-lt"/>
                <a:ea typeface="+mn-ea"/>
                <a:cs typeface="+mn-cs"/>
              </a:rPr>
              <a:t>Na imagem, vemos o oposto: o modelo tem um </a:t>
            </a:r>
            <a:r>
              <a:rPr lang="pt-BR" sz="1200" b="1" kern="1200" dirty="0">
                <a:solidFill>
                  <a:schemeClr val="tx1"/>
                </a:solidFill>
                <a:effectLst/>
                <a:latin typeface="+mn-lt"/>
                <a:ea typeface="+mn-ea"/>
                <a:cs typeface="+mn-cs"/>
              </a:rPr>
              <a:t>viés (bias)</a:t>
            </a:r>
            <a:r>
              <a:rPr lang="pt-BR" sz="1200" kern="1200" dirty="0">
                <a:solidFill>
                  <a:schemeClr val="tx1"/>
                </a:solidFill>
                <a:effectLst/>
                <a:latin typeface="+mn-lt"/>
                <a:ea typeface="+mn-ea"/>
                <a:cs typeface="+mn-cs"/>
              </a:rPr>
              <a:t> em relação a um padrão geométrico.</a:t>
            </a:r>
          </a:p>
          <a:p>
            <a:pPr rtl="0"/>
            <a:r>
              <a:rPr lang="pt-BR" sz="1200" kern="1200" dirty="0">
                <a:solidFill>
                  <a:schemeClr val="tx1"/>
                </a:solidFill>
                <a:effectLst/>
                <a:latin typeface="+mn-lt"/>
                <a:ea typeface="+mn-ea"/>
                <a:cs typeface="+mn-cs"/>
              </a:rPr>
              <a:t>Para o algoritmo (o bebê), pêssegos, balões e o decote da garçonete possuem as mesmas "coordenadas de pixels" que definiram o treinamento inicial, levando a um erro de classificação (Falso Positivo).</a:t>
            </a:r>
          </a:p>
          <a:p>
            <a:pPr rtl="0"/>
            <a:r>
              <a:rPr lang="pt-BR" sz="1200" b="1" kern="1200" dirty="0">
                <a:solidFill>
                  <a:schemeClr val="tx1"/>
                </a:solidFill>
                <a:effectLst/>
                <a:latin typeface="+mn-lt"/>
                <a:ea typeface="+mn-ea"/>
                <a:cs typeface="+mn-cs"/>
              </a:rPr>
              <a:t>4. A Importância da Diversidade nos Dados</a:t>
            </a:r>
          </a:p>
          <a:p>
            <a:pPr rtl="0"/>
            <a:r>
              <a:rPr lang="pt-BR" sz="1200" kern="1200" dirty="0">
                <a:solidFill>
                  <a:schemeClr val="tx1"/>
                </a:solidFill>
                <a:effectLst/>
                <a:latin typeface="+mn-lt"/>
                <a:ea typeface="+mn-ea"/>
                <a:cs typeface="+mn-cs"/>
              </a:rPr>
              <a:t>O quadrinho mostra o que acontece quando o </a:t>
            </a:r>
            <a:r>
              <a:rPr lang="pt-BR" sz="1200" b="1" kern="1200" dirty="0">
                <a:solidFill>
                  <a:schemeClr val="tx1"/>
                </a:solidFill>
                <a:effectLst/>
                <a:latin typeface="+mn-lt"/>
                <a:ea typeface="+mn-ea"/>
                <a:cs typeface="+mn-cs"/>
              </a:rPr>
              <a:t>conjunto de dados de treinamento (dataset)</a:t>
            </a:r>
            <a:r>
              <a:rPr lang="pt-BR" sz="1200" kern="1200" dirty="0">
                <a:solidFill>
                  <a:schemeClr val="tx1"/>
                </a:solidFill>
                <a:effectLst/>
                <a:latin typeface="+mn-lt"/>
                <a:ea typeface="+mn-ea"/>
                <a:cs typeface="+mn-cs"/>
              </a:rPr>
              <a:t> é pobre ou viciado:</a:t>
            </a:r>
          </a:p>
          <a:p>
            <a:pPr rtl="0"/>
            <a:r>
              <a:rPr lang="pt-BR" sz="1200" kern="1200" dirty="0">
                <a:solidFill>
                  <a:schemeClr val="tx1"/>
                </a:solidFill>
                <a:effectLst/>
                <a:latin typeface="+mn-lt"/>
                <a:ea typeface="+mn-ea"/>
                <a:cs typeface="+mn-cs"/>
              </a:rPr>
              <a:t>Se o bebê tivesse sido exposto a milhares de fotos do pai em diferentes ângulos, roupas e contextos, ele teria entendido que a "fenda" não é a característica determinante do rótulo "Papai".</a:t>
            </a:r>
          </a:p>
        </p:txBody>
      </p:sp>
      <p:sp>
        <p:nvSpPr>
          <p:cNvPr id="4" name="Espaço Reservado para Número de Slide 3">
            <a:extLst>
              <a:ext uri="{FF2B5EF4-FFF2-40B4-BE49-F238E27FC236}">
                <a16:creationId xmlns="" xmlns:a16="http://schemas.microsoft.com/office/drawing/2014/main" id="{03C1299E-42D9-80A9-8FCB-F3A0DA4AB819}"/>
              </a:ext>
            </a:extLst>
          </p:cNvPr>
          <p:cNvSpPr>
            <a:spLocks noGrp="1"/>
          </p:cNvSpPr>
          <p:nvPr>
            <p:ph type="sldNum" sz="quarter" idx="10"/>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065653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05144435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4016760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a:t>
            </a:r>
            <a:r>
              <a:rPr lang="pt-BR" dirty="0" err="1"/>
              <a:t>Netflix</a:t>
            </a:r>
            <a:r>
              <a:rPr lang="pt-BR" dirty="0"/>
              <a:t> usa isso o tempo todo. Ela não sabe exatamente 'por que' você gosta de um filme, mas ela percebeu que você e um grupo de 10 mil pessoas têm comportamentos idênticos. Se eles assistiram '</a:t>
            </a:r>
            <a:r>
              <a:rPr lang="pt-BR" dirty="0" err="1"/>
              <a:t>Stranger</a:t>
            </a:r>
            <a:r>
              <a:rPr lang="pt-BR" dirty="0"/>
              <a:t> </a:t>
            </a:r>
            <a:r>
              <a:rPr lang="pt-BR" dirty="0" err="1"/>
              <a:t>Things</a:t>
            </a:r>
            <a:r>
              <a:rPr lang="pt-BR" dirty="0"/>
              <a:t>' e você não, ela te recomenda, porque você faz parte daquele 'cluster' ou grupo de gostos similares.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5761813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2090003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0026759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32740001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CB396BC-6A51-22B6-EBEB-8BE4C879BE66}"/>
            </a:ext>
          </a:extLst>
        </p:cNvPr>
        <p:cNvGrpSpPr/>
        <p:nvPr/>
      </p:nvGrpSpPr>
      <p:grpSpPr>
        <a:xfrm>
          <a:off x="0" y="0"/>
          <a:ext cx="0" cy="0"/>
          <a:chOff x="0" y="0"/>
          <a:chExt cx="0" cy="0"/>
        </a:xfrm>
      </p:grpSpPr>
      <p:sp>
        <p:nvSpPr>
          <p:cNvPr id="2" name="Slide Image Placeholder 1">
            <a:extLst>
              <a:ext uri="{FF2B5EF4-FFF2-40B4-BE49-F238E27FC236}">
                <a16:creationId xmlns="" xmlns:a16="http://schemas.microsoft.com/office/drawing/2014/main" id="{7F9B1849-4B47-1AB0-9DAF-0293AF433E86}"/>
              </a:ext>
            </a:extLst>
          </p:cNvPr>
          <p:cNvSpPr>
            <a:spLocks noGrp="1" noRot="1" noChangeAspect="1"/>
          </p:cNvSpPr>
          <p:nvPr>
            <p:ph type="sldImg"/>
          </p:nvPr>
        </p:nvSpPr>
        <p:spPr/>
      </p:sp>
      <p:sp>
        <p:nvSpPr>
          <p:cNvPr id="3" name="Notes Placeholder 2">
            <a:extLst>
              <a:ext uri="{FF2B5EF4-FFF2-40B4-BE49-F238E27FC236}">
                <a16:creationId xmlns="" xmlns:a16="http://schemas.microsoft.com/office/drawing/2014/main" id="{9605A661-80C9-0B8E-CB81-41B762B33A82}"/>
              </a:ext>
            </a:extLst>
          </p:cNvPr>
          <p:cNvSpPr>
            <a:spLocks noGrp="1"/>
          </p:cNvSpPr>
          <p:nvPr>
            <p:ph type="body" idx="1"/>
          </p:nvPr>
        </p:nvSpPr>
        <p:spPr/>
        <p:txBody>
          <a:bodyPr/>
          <a:lstStyle/>
          <a:p>
            <a:r>
              <a:rPr lang="pt-BR" b="1" dirty="0"/>
              <a:t>Independência de Dados Prontos:</a:t>
            </a:r>
            <a:r>
              <a:rPr lang="pt-BR" dirty="0"/>
              <a:t> Diferente do aprendizado supervisionado e não supervisionado, que dependem de grandes volumes de dados externos (como "livros" para ler), o modelo de reforço "faz seus próprios livros".</a:t>
            </a:r>
          </a:p>
          <a:p>
            <a:endParaRPr lang="pt-BR" b="1" dirty="0"/>
          </a:p>
          <a:p>
            <a:r>
              <a:rPr lang="pt-BR" b="1" dirty="0"/>
              <a:t>Aprendizado por Experiência:</a:t>
            </a:r>
            <a:r>
              <a:rPr lang="pt-BR" dirty="0"/>
              <a:t> A frase "eu faço meus próprios livros" indica que o agente aprende através da interação direta com o ambiente, gerando seus próprios dados a partir de suas ações e resultados.</a:t>
            </a:r>
          </a:p>
          <a:p>
            <a:endParaRPr lang="pt-BR" b="1" dirty="0"/>
          </a:p>
          <a:p>
            <a:r>
              <a:rPr lang="pt-BR" b="1" dirty="0"/>
              <a:t>Foco na Exploração:</a:t>
            </a:r>
            <a:r>
              <a:rPr lang="pt-BR" dirty="0"/>
              <a:t> Enquanto os outros métodos processam informações fornecidas por humanos, o aprendizado por reforço baseia-se em tentativa e erro para descobrir quais comportamentos geram as maiores recompensas.</a:t>
            </a:r>
          </a:p>
          <a:p>
            <a:endParaRPr lang="pt-BR" dirty="0"/>
          </a:p>
          <a:p>
            <a:r>
              <a:rPr lang="pt-BR" dirty="0"/>
              <a:t>Em resumo, a imagem destaca que o aprendizado por reforço é </a:t>
            </a:r>
            <a:r>
              <a:rPr lang="pt-BR" b="1" dirty="0"/>
              <a:t>autônomo na criação de sua base de conhecimento</a:t>
            </a:r>
            <a:r>
              <a:rPr lang="pt-BR" dirty="0"/>
              <a:t>, não dependendo de um conjunto de dados estático pré-existente para começar a operar.</a:t>
            </a:r>
          </a:p>
          <a:p>
            <a:endParaRPr lang="en-US" dirty="0"/>
          </a:p>
        </p:txBody>
      </p:sp>
      <p:sp>
        <p:nvSpPr>
          <p:cNvPr id="4" name="Slide Number Placeholder 3">
            <a:extLst>
              <a:ext uri="{FF2B5EF4-FFF2-40B4-BE49-F238E27FC236}">
                <a16:creationId xmlns="" xmlns:a16="http://schemas.microsoft.com/office/drawing/2014/main" id="{3F992D22-13DD-3212-862A-DA9610408D81}"/>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56227007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48204763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pt-BR" sz="1200" b="0" i="0" dirty="0"/>
              <a:t>Aprendizado por reforço pode ser entendido como o problema em que um </a:t>
            </a:r>
            <a:r>
              <a:rPr lang="pt-BR" sz="1200" b="1" i="1" dirty="0"/>
              <a:t>agente</a:t>
            </a:r>
            <a:r>
              <a:rPr lang="pt-BR" sz="1200" b="0" i="0" dirty="0"/>
              <a:t> deve aprender como se comportar em um </a:t>
            </a:r>
            <a:r>
              <a:rPr lang="pt-BR" sz="1200" b="1" i="1" dirty="0"/>
              <a:t>ambiente</a:t>
            </a:r>
            <a:r>
              <a:rPr lang="pt-BR" sz="1200" b="0" i="0" dirty="0"/>
              <a:t> através de interações do tipo “tentativa e erro”.</a:t>
            </a:r>
          </a:p>
          <a:p>
            <a:pPr marL="171450" indent="-171450">
              <a:buFont typeface="Arial" panose="020B0604020202020204" pitchFamily="34" charset="0"/>
              <a:buChar char="•"/>
            </a:pPr>
            <a:r>
              <a:rPr lang="pt-BR" sz="1200" b="0" i="0" dirty="0"/>
              <a:t>O</a:t>
            </a:r>
            <a:r>
              <a:rPr lang="pt-BR" sz="1200" b="0" i="0" baseline="0" dirty="0"/>
              <a:t> </a:t>
            </a:r>
            <a:r>
              <a:rPr lang="pt-BR" sz="1200" b="1" i="1" baseline="0" dirty="0"/>
              <a:t>agente</a:t>
            </a:r>
            <a:r>
              <a:rPr lang="pt-BR" sz="1200" b="0" i="0" baseline="0" dirty="0"/>
              <a:t> tem como objetivo aprender/construir um modelo do ambiente em que está inserido através de interações do tipo “tentativa e erro”, ou seja, ele observa o ambiente, escolhe uma ação e aguarda o resultado da ação (reforço positivo ou negativo).</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pt-BR" sz="1200" dirty="0"/>
              <a:t>O algoritmo aprende a escolher </a:t>
            </a:r>
            <a:r>
              <a:rPr lang="pt-BR" sz="1200" b="1" i="1" dirty="0"/>
              <a:t>ações</a:t>
            </a:r>
            <a:r>
              <a:rPr lang="pt-BR" sz="1200" dirty="0"/>
              <a:t> apenas interagindo com o </a:t>
            </a:r>
            <a:r>
              <a:rPr lang="pt-BR" sz="1200" b="1" i="1" dirty="0"/>
              <a:t>ambiente</a:t>
            </a:r>
            <a:r>
              <a:rPr lang="pt-BR" sz="1200" dirty="0"/>
              <a:t>.</a:t>
            </a:r>
            <a:endParaRPr lang="pt-BR" sz="1200" b="0" i="0" baseline="0" dirty="0"/>
          </a:p>
          <a:p>
            <a:pPr marL="171450" indent="-171450">
              <a:buFont typeface="Arial" panose="020B0604020202020204" pitchFamily="34" charset="0"/>
              <a:buChar char="•"/>
            </a:pPr>
            <a:r>
              <a:rPr lang="pt-BR" sz="1200" b="1" i="0" dirty="0"/>
              <a:t>Problema da aprendizagem por reforço</a:t>
            </a:r>
            <a:r>
              <a:rPr lang="pt-BR" sz="1200" b="0" i="0" dirty="0"/>
              <a:t>:</a:t>
            </a:r>
            <a:r>
              <a:rPr lang="pt-BR" sz="1200" b="0" i="0" baseline="0" dirty="0"/>
              <a:t> </a:t>
            </a:r>
            <a:r>
              <a:rPr lang="pt-BR" sz="1200" b="0" i="0" dirty="0"/>
              <a:t>Como escolher uma </a:t>
            </a:r>
            <a:r>
              <a:rPr lang="pt-BR" sz="1200" b="1" i="1" dirty="0"/>
              <a:t>estratégia</a:t>
            </a:r>
            <a:r>
              <a:rPr lang="pt-BR" sz="1200" b="0" i="0" dirty="0"/>
              <a:t> (conhecida como </a:t>
            </a:r>
            <a:r>
              <a:rPr lang="pt-BR" sz="1200" b="1" i="1" dirty="0"/>
              <a:t>política)</a:t>
            </a:r>
            <a:r>
              <a:rPr lang="pt-BR" sz="1200" b="0" i="0" dirty="0"/>
              <a:t> de </a:t>
            </a:r>
            <a:r>
              <a:rPr lang="pt-BR" sz="1200" b="1" i="1" dirty="0"/>
              <a:t>ações</a:t>
            </a:r>
            <a:r>
              <a:rPr lang="pt-BR" sz="1200" b="0" i="0" dirty="0"/>
              <a:t> que maximize o</a:t>
            </a:r>
            <a:r>
              <a:rPr lang="pt-BR" sz="1200" b="0" i="0" baseline="0" dirty="0"/>
              <a:t> </a:t>
            </a:r>
            <a:r>
              <a:rPr lang="pt-BR" sz="1200" b="0" i="0" dirty="0"/>
              <a:t>total de </a:t>
            </a:r>
            <a:r>
              <a:rPr lang="pt-BR" sz="1200" b="1" i="1" dirty="0"/>
              <a:t>recompensas</a:t>
            </a:r>
            <a:r>
              <a:rPr lang="pt-BR" sz="1200" b="0" i="0" dirty="0"/>
              <a:t> recebidas pelo </a:t>
            </a:r>
            <a:r>
              <a:rPr lang="pt-BR" sz="1200" b="1" i="1" dirty="0"/>
              <a:t>agente</a:t>
            </a:r>
            <a:r>
              <a:rPr lang="pt-BR" sz="1200" b="0" i="0" dirty="0"/>
              <a:t>.</a:t>
            </a:r>
          </a:p>
          <a:p>
            <a:pPr marL="171450" indent="-171450">
              <a:buFont typeface="Arial" panose="020B0604020202020204" pitchFamily="34" charset="0"/>
              <a:buChar char="•"/>
            </a:pPr>
            <a:r>
              <a:rPr lang="pt-BR" sz="1200" b="0" i="0" dirty="0"/>
              <a:t>A </a:t>
            </a:r>
            <a:r>
              <a:rPr lang="pt-BR" sz="1200" b="1" i="0" dirty="0"/>
              <a:t>política</a:t>
            </a:r>
            <a:r>
              <a:rPr lang="pt-BR" sz="1200" b="0" i="0" dirty="0"/>
              <a:t> pode ser entendida como sendo</a:t>
            </a:r>
            <a:r>
              <a:rPr lang="pt-BR" sz="1200" b="0" i="0" baseline="0" dirty="0"/>
              <a:t> a função que mapeia os </a:t>
            </a:r>
            <a:r>
              <a:rPr lang="pt-BR" sz="1200" b="1" i="1" baseline="0" dirty="0"/>
              <a:t>estados</a:t>
            </a:r>
            <a:r>
              <a:rPr lang="pt-BR" sz="1200" b="0" i="0" baseline="0" dirty="0"/>
              <a:t> do </a:t>
            </a:r>
            <a:r>
              <a:rPr lang="pt-BR" sz="1200" b="1" i="1" baseline="0" dirty="0"/>
              <a:t>ambiente</a:t>
            </a:r>
            <a:r>
              <a:rPr lang="pt-BR" sz="1200" b="0" i="0" baseline="0" dirty="0"/>
              <a:t> em </a:t>
            </a:r>
            <a:r>
              <a:rPr lang="pt-BR" sz="1200" b="1" i="1" baseline="0" dirty="0"/>
              <a:t>ações</a:t>
            </a:r>
            <a:r>
              <a:rPr lang="pt-BR" sz="1200" b="0" i="0" baseline="0" dirty="0"/>
              <a:t> que o </a:t>
            </a:r>
            <a:r>
              <a:rPr lang="pt-BR" sz="1200" b="1" i="1" baseline="0" dirty="0"/>
              <a:t>agente</a:t>
            </a:r>
            <a:r>
              <a:rPr lang="pt-BR" sz="1200" b="0" i="0" baseline="0" dirty="0"/>
              <a:t> deve tomar: ∏(s) = a, de forma que o </a:t>
            </a:r>
            <a:r>
              <a:rPr lang="pt-BR" sz="1200" b="1" i="1" baseline="0" dirty="0"/>
              <a:t>total de recompensas</a:t>
            </a:r>
            <a:r>
              <a:rPr lang="pt-BR" sz="1200" b="0" i="0" baseline="0" dirty="0"/>
              <a:t> seja maximizado.</a:t>
            </a:r>
          </a:p>
          <a:p>
            <a:pPr marL="171450" indent="-171450">
              <a:buFont typeface="Arial" panose="020B0604020202020204" pitchFamily="34" charset="0"/>
              <a:buChar char="•"/>
            </a:pPr>
            <a:endParaRPr lang="pt-BR" sz="1200" b="0" i="0" baseline="0" dirty="0"/>
          </a:p>
          <a:p>
            <a:pPr marL="171450" indent="-171450">
              <a:buFont typeface="Arial" panose="020B0604020202020204" pitchFamily="34" charset="0"/>
              <a:buChar char="•"/>
            </a:pPr>
            <a:r>
              <a:rPr lang="pt-BR" sz="1200" b="1" dirty="0"/>
              <a:t>Exemplos</a:t>
            </a:r>
            <a:r>
              <a:rPr lang="pt-BR" sz="1200" dirty="0"/>
              <a:t>: </a:t>
            </a:r>
          </a:p>
          <a:p>
            <a:pPr marL="628650" lvl="1" indent="-171450">
              <a:buFont typeface="Arial" panose="020B0604020202020204" pitchFamily="34" charset="0"/>
              <a:buChar char="•"/>
            </a:pPr>
            <a:r>
              <a:rPr lang="pt-BR" sz="1200" dirty="0"/>
              <a:t>Algoritmo </a:t>
            </a:r>
            <a:r>
              <a:rPr lang="pt-BR" sz="1200" baseline="0" dirty="0"/>
              <a:t>muito utilizado em jogos.</a:t>
            </a:r>
          </a:p>
          <a:p>
            <a:pPr marL="1085850" lvl="2" indent="-171450">
              <a:buFont typeface="Arial" panose="020B0604020202020204" pitchFamily="34" charset="0"/>
              <a:buChar char="•"/>
            </a:pPr>
            <a:r>
              <a:rPr lang="pt-BR" sz="1200" dirty="0"/>
              <a:t>O programa </a:t>
            </a:r>
            <a:r>
              <a:rPr lang="pt-BR" sz="1200" dirty="0" err="1"/>
              <a:t>AlphaGo</a:t>
            </a:r>
            <a:r>
              <a:rPr lang="pt-BR" sz="1200" dirty="0"/>
              <a:t> da Google (</a:t>
            </a:r>
            <a:r>
              <a:rPr lang="pt-BR" sz="1200" dirty="0" err="1"/>
              <a:t>DeepMind</a:t>
            </a:r>
            <a:r>
              <a:rPr lang="pt-BR" sz="1200" dirty="0"/>
              <a:t>)</a:t>
            </a:r>
            <a:r>
              <a:rPr lang="pt-BR" sz="1200" baseline="0" dirty="0"/>
              <a:t> utilizou aprendizado por reforço (</a:t>
            </a:r>
            <a:r>
              <a:rPr lang="pt-BR" sz="1200" baseline="0" dirty="0" err="1"/>
              <a:t>Deep</a:t>
            </a:r>
            <a:r>
              <a:rPr lang="pt-BR" sz="1200" baseline="0" dirty="0"/>
              <a:t> </a:t>
            </a:r>
            <a:r>
              <a:rPr lang="pt-BR" sz="1200" baseline="0" dirty="0" err="1"/>
              <a:t>reinforcement</a:t>
            </a:r>
            <a:r>
              <a:rPr lang="pt-BR" sz="1200" baseline="0" dirty="0"/>
              <a:t> learning) para aprender a jogar Go e derrotar o campeão mundial de Go.</a:t>
            </a:r>
          </a:p>
          <a:p>
            <a:pPr marL="1085850" lvl="2" indent="-171450">
              <a:buFont typeface="Arial" panose="020B0604020202020204" pitchFamily="34" charset="0"/>
              <a:buChar char="•"/>
            </a:pPr>
            <a:r>
              <a:rPr lang="pt-BR" sz="1200" baseline="0" dirty="0"/>
              <a:t>Agente jogador de damas</a:t>
            </a:r>
          </a:p>
          <a:p>
            <a:pPr marL="1543050" lvl="3" indent="-171450">
              <a:buFont typeface="Arial" panose="020B0604020202020204" pitchFamily="34" charset="0"/>
              <a:buChar char="•"/>
            </a:pPr>
            <a:r>
              <a:rPr lang="pt-BR" sz="1200" b="1" baseline="0" dirty="0"/>
              <a:t>Estados</a:t>
            </a:r>
            <a:r>
              <a:rPr lang="pt-BR" sz="1200" baseline="0" dirty="0"/>
              <a:t>: as diferentes configurações do tabuleiro.</a:t>
            </a:r>
          </a:p>
          <a:p>
            <a:pPr marL="1543050" lvl="3" indent="-171450">
              <a:buFont typeface="Arial" panose="020B0604020202020204" pitchFamily="34" charset="0"/>
              <a:buChar char="•"/>
            </a:pPr>
            <a:r>
              <a:rPr lang="pt-BR" sz="1200" b="1" baseline="0" dirty="0"/>
              <a:t>Ações</a:t>
            </a:r>
            <a:r>
              <a:rPr lang="pt-BR" sz="1200" baseline="0" dirty="0"/>
              <a:t>: mover uma determinada peça.</a:t>
            </a:r>
          </a:p>
          <a:p>
            <a:pPr marL="1543050" lvl="3" indent="-171450">
              <a:buFont typeface="Arial" panose="020B0604020202020204" pitchFamily="34" charset="0"/>
              <a:buChar char="•"/>
            </a:pPr>
            <a:r>
              <a:rPr lang="pt-BR" sz="1200" b="1" baseline="0" dirty="0"/>
              <a:t>Recompensas</a:t>
            </a:r>
            <a:r>
              <a:rPr lang="pt-BR" sz="1200" baseline="0" dirty="0"/>
              <a:t>: número de capturas de peças vs. número de perdas.</a:t>
            </a:r>
          </a:p>
          <a:p>
            <a:pPr marL="628650" lvl="1" indent="-171450">
              <a:buFont typeface="Arial" panose="020B0604020202020204" pitchFamily="34" charset="0"/>
              <a:buChar char="•"/>
            </a:pPr>
            <a:r>
              <a:rPr lang="pt-BR" sz="1200" dirty="0"/>
              <a:t>Robô aspirador de pó que precisa aprender a limpar uma casa de forma ótima.</a:t>
            </a:r>
          </a:p>
          <a:p>
            <a:pPr marL="0" indent="0">
              <a:buFont typeface="Arial" panose="020B0604020202020204" pitchFamily="34" charset="0"/>
              <a:buNone/>
            </a:pPr>
            <a:endParaRPr lang="nl-BE" sz="1200" dirty="0"/>
          </a:p>
          <a:p>
            <a:pPr marL="171450" indent="-171450">
              <a:buFont typeface="Arial" panose="020B0604020202020204" pitchFamily="34" charset="0"/>
              <a:buChar char="•"/>
            </a:pPr>
            <a:r>
              <a:rPr lang="pt-BR" sz="1200" dirty="0"/>
              <a:t>Os algoritmos de aprendizado por reforço tentam encontrar a </a:t>
            </a:r>
            <a:r>
              <a:rPr lang="pt-BR" sz="1200" b="1" i="1" dirty="0"/>
              <a:t>política</a:t>
            </a:r>
            <a:r>
              <a:rPr lang="pt-BR" sz="1200" dirty="0"/>
              <a:t> que mapeia os </a:t>
            </a:r>
            <a:r>
              <a:rPr lang="pt-BR" sz="1200" b="1" i="1" dirty="0"/>
              <a:t>estados</a:t>
            </a:r>
            <a:r>
              <a:rPr lang="pt-BR" sz="1200" dirty="0"/>
              <a:t> do </a:t>
            </a:r>
            <a:r>
              <a:rPr lang="pt-BR" sz="1200" b="1" i="1" dirty="0"/>
              <a:t>ambiente</a:t>
            </a:r>
            <a:r>
              <a:rPr lang="pt-BR" sz="1200" dirty="0"/>
              <a:t> às </a:t>
            </a:r>
            <a:r>
              <a:rPr lang="pt-BR" sz="1200" b="1" i="1" dirty="0"/>
              <a:t>ações</a:t>
            </a:r>
            <a:r>
              <a:rPr lang="pt-BR" sz="1200" dirty="0"/>
              <a:t> que o </a:t>
            </a:r>
            <a:r>
              <a:rPr lang="pt-BR" sz="1200" b="1" i="1" dirty="0"/>
              <a:t>agente</a:t>
            </a:r>
            <a:r>
              <a:rPr lang="pt-BR" sz="1200" dirty="0"/>
              <a:t> deve tomar nesses </a:t>
            </a:r>
            <a:r>
              <a:rPr lang="pt-BR" sz="1200" b="1" i="1" dirty="0"/>
              <a:t>estados</a:t>
            </a:r>
            <a:r>
              <a:rPr lang="pt-BR" sz="1200" b="0" i="0" dirty="0"/>
              <a:t>.</a:t>
            </a:r>
          </a:p>
          <a:p>
            <a:pPr marL="171450" indent="-171450">
              <a:buFont typeface="Arial" panose="020B0604020202020204" pitchFamily="34" charset="0"/>
              <a:buChar char="•"/>
            </a:pPr>
            <a:r>
              <a:rPr lang="pt-BR" sz="1200" b="0" i="0" dirty="0"/>
              <a:t>Como um algoritmo de aprendizagem aprende a escolher ações apenas</a:t>
            </a:r>
            <a:r>
              <a:rPr lang="pt-BR" sz="1200" b="0" i="0" baseline="0" dirty="0"/>
              <a:t> </a:t>
            </a:r>
            <a:r>
              <a:rPr lang="pt-BR" sz="1200" b="0" i="0" dirty="0"/>
              <a:t>interagindo com o ambiente?</a:t>
            </a:r>
          </a:p>
          <a:p>
            <a:pPr marL="628650" lvl="1" indent="-171450">
              <a:buFont typeface="Arial" panose="020B0604020202020204" pitchFamily="34" charset="0"/>
              <a:buChar char="•"/>
            </a:pPr>
            <a:r>
              <a:rPr lang="pt-BR" sz="1200" b="0" i="0" dirty="0"/>
              <a:t>Muitas vezes, é impraticável o uso de aprendizage</a:t>
            </a:r>
            <a:r>
              <a:rPr lang="pt-BR" sz="1200" b="0" i="0" baseline="0" dirty="0"/>
              <a:t>m </a:t>
            </a:r>
            <a:r>
              <a:rPr lang="pt-BR" sz="1200" b="0" i="0" dirty="0"/>
              <a:t>supervisionada.</a:t>
            </a:r>
          </a:p>
          <a:p>
            <a:pPr marL="1085850" lvl="2" indent="-171450">
              <a:buFont typeface="Arial" panose="020B0604020202020204" pitchFamily="34" charset="0"/>
              <a:buChar char="•"/>
            </a:pPr>
            <a:r>
              <a:rPr lang="pt-BR" sz="1200" b="0" i="0" dirty="0"/>
              <a:t>Como obter exemplos do comportamento correto e</a:t>
            </a:r>
            <a:r>
              <a:rPr lang="pt-BR" sz="1200" b="0" i="0" baseline="0" dirty="0"/>
              <a:t> </a:t>
            </a:r>
            <a:r>
              <a:rPr lang="pt-BR" sz="1200" b="0" i="0" dirty="0"/>
              <a:t>representativo para qualquer situação?</a:t>
            </a:r>
          </a:p>
          <a:p>
            <a:pPr marL="1085850" lvl="2" indent="-171450">
              <a:buFont typeface="Arial" panose="020B0604020202020204" pitchFamily="34" charset="0"/>
              <a:buChar char="•"/>
            </a:pPr>
            <a:r>
              <a:rPr lang="pt-BR" sz="1200" b="0" i="0" dirty="0"/>
              <a:t>E se o agente for atuar em um ambiente desconhecido? </a:t>
            </a:r>
          </a:p>
          <a:p>
            <a:pPr marL="0" indent="0">
              <a:buFont typeface="Arial" panose="020B0604020202020204" pitchFamily="34" charset="0"/>
              <a:buNone/>
            </a:pPr>
            <a:endParaRPr lang="nl-BE" sz="1200"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252642041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jogos (Atari, Go), robótica, sistemas de recomendação com feedback.</a:t>
            </a:r>
          </a:p>
          <a:p>
            <a:r>
              <a:rPr lang="pt-BR" b="1" dirty="0"/>
              <a:t>Visual:</a:t>
            </a:r>
            <a:r>
              <a:rPr lang="pt-BR" dirty="0"/>
              <a:t> Imagem do </a:t>
            </a:r>
            <a:r>
              <a:rPr lang="pt-BR" dirty="0" err="1"/>
              <a:t>AlphaGo</a:t>
            </a:r>
            <a:r>
              <a:rPr lang="pt-BR" dirty="0"/>
              <a:t> ou de um carro autônomo da Tesla.</a:t>
            </a:r>
          </a:p>
          <a:p>
            <a:r>
              <a:rPr lang="pt-BR" b="1" dirty="0"/>
              <a:t>Aplicações:</a:t>
            </a:r>
            <a:endParaRPr lang="pt-BR" dirty="0"/>
          </a:p>
          <a:p>
            <a:r>
              <a:rPr lang="pt-BR" dirty="0"/>
              <a:t>IA que vence campeões mundiais de Xadrez e Go.</a:t>
            </a:r>
          </a:p>
          <a:p>
            <a:r>
              <a:rPr lang="pt-BR" dirty="0"/>
              <a:t>Drones aprendendo a voar sozinhos.</a:t>
            </a:r>
          </a:p>
          <a:p>
            <a:r>
              <a:rPr lang="pt-BR" dirty="0"/>
              <a:t>Otimização de rotas em tempo real.</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173070904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 supervisionado</a:t>
            </a:r>
          </a:p>
          <a:p>
            <a:r>
              <a:rPr lang="pt-BR" dirty="0"/>
              <a:t>B → reforço</a:t>
            </a:r>
          </a:p>
          <a:p>
            <a:r>
              <a:rPr lang="pt-BR" dirty="0"/>
              <a:t>C → não supervisionado (clustering)</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 →  não supervisionado (detecção de anomalias)</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42249565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02/08/2026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0.png"/><Relationship Id="rId4" Type="http://schemas.openxmlformats.org/officeDocument/2006/relationships/image" Target="../media/image7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eg"/></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5.jpeg"/><Relationship Id="rId4" Type="http://schemas.openxmlformats.org/officeDocument/2006/relationships/image" Target="../media/image24.jpe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3.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hyperlink" Target="https://www.youtube.com/watch?v=V1eYniJ0Rnk" TargetMode="External"/><Relationship Id="rId5" Type="http://schemas.openxmlformats.org/officeDocument/2006/relationships/image" Target="../media/image42.jpeg"/><Relationship Id="rId4" Type="http://schemas.openxmlformats.org/officeDocument/2006/relationships/image" Target="../media/image41.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2%20-%20Paradigmas%20do%20aprendizado%20de%20m%C3%A1quina.pdf" TargetMode="Externa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579368"/>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Paradigmas de </a:t>
            </a:r>
            <a:r>
              <a:rPr lang="pt-BR" sz="7200" b="1" i="1" dirty="0" smtClean="0"/>
              <a:t>aprendizado de máquina</a:t>
            </a:r>
            <a:endParaRPr lang="pt-BR" sz="7200" b="1" i="1" dirty="0"/>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tângulo 3"/>
          <p:cNvSpPr/>
          <p:nvPr/>
        </p:nvSpPr>
        <p:spPr>
          <a:xfrm>
            <a:off x="3111689" y="6081790"/>
            <a:ext cx="5968622" cy="646331"/>
          </a:xfrm>
          <a:prstGeom prst="rect">
            <a:avLst/>
          </a:prstGeom>
        </p:spPr>
        <p:txBody>
          <a:bodyPr wrap="none">
            <a:spAutoFit/>
          </a:bodyPr>
          <a:lstStyle/>
          <a:p>
            <a:pPr algn="ctr"/>
            <a:r>
              <a:rPr lang="pt-BR" sz="3600" dirty="0"/>
              <a:t>Como as máquinas aprendem?</a:t>
            </a:r>
          </a:p>
        </p:txBody>
      </p:sp>
      <p:pic>
        <p:nvPicPr>
          <p:cNvPr id="5" name="Imagem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7404" y="453044"/>
            <a:ext cx="10058400" cy="5486400"/>
          </a:xfrm>
          <a:prstGeom prst="rect">
            <a:avLst/>
          </a:prstGeom>
        </p:spPr>
      </p:pic>
    </p:spTree>
    <p:extLst>
      <p:ext uri="{BB962C8B-B14F-4D97-AF65-F5344CB8AC3E}">
        <p14:creationId xmlns:p14="http://schemas.microsoft.com/office/powerpoint/2010/main" val="9725519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72F6F8E7-B4A0-19D4-54F3-D87397978D6A}"/>
            </a:ext>
          </a:extLst>
        </p:cNvPr>
        <p:cNvGrpSpPr/>
        <p:nvPr/>
      </p:nvGrpSpPr>
      <p:grpSpPr>
        <a:xfrm>
          <a:off x="0" y="0"/>
          <a:ext cx="0" cy="0"/>
          <a:chOff x="0" y="0"/>
          <a:chExt cx="0" cy="0"/>
        </a:xfrm>
      </p:grpSpPr>
      <p:sp>
        <p:nvSpPr>
          <p:cNvPr id="4" name="Retângulo 3">
            <a:extLst>
              <a:ext uri="{FF2B5EF4-FFF2-40B4-BE49-F238E27FC236}">
                <a16:creationId xmlns="" xmlns:a16="http://schemas.microsoft.com/office/drawing/2014/main" id="{1D866E44-60CC-F92D-9D10-5A4ABCEF4765}"/>
              </a:ext>
            </a:extLst>
          </p:cNvPr>
          <p:cNvSpPr/>
          <p:nvPr/>
        </p:nvSpPr>
        <p:spPr>
          <a:xfrm>
            <a:off x="7903029" y="2151727"/>
            <a:ext cx="4103913" cy="2554545"/>
          </a:xfrm>
          <a:prstGeom prst="rect">
            <a:avLst/>
          </a:prstGeom>
        </p:spPr>
        <p:txBody>
          <a:bodyPr wrap="square">
            <a:spAutoFit/>
          </a:bodyPr>
          <a:lstStyle/>
          <a:p>
            <a:pPr algn="ctr"/>
            <a:r>
              <a:rPr lang="pt-BR" sz="3200" dirty="0"/>
              <a:t>Na aula de hoje discutiremos os principais </a:t>
            </a:r>
            <a:r>
              <a:rPr lang="pt-BR" sz="3200" b="1" dirty="0"/>
              <a:t>paradigmas do aprendizado de máquina</a:t>
            </a:r>
          </a:p>
        </p:txBody>
      </p:sp>
      <p:pic>
        <p:nvPicPr>
          <p:cNvPr id="3" name="Picture 2">
            <a:extLst>
              <a:ext uri="{FF2B5EF4-FFF2-40B4-BE49-F238E27FC236}">
                <a16:creationId xmlns="" xmlns:a16="http://schemas.microsoft.com/office/drawing/2014/main" id="{3E344BA1-CAAD-E8D9-88E6-6230994EEC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3027" y="1505197"/>
            <a:ext cx="7358742" cy="4013859"/>
          </a:xfrm>
          <a:prstGeom prst="rect">
            <a:avLst/>
          </a:prstGeom>
        </p:spPr>
      </p:pic>
    </p:spTree>
    <p:extLst>
      <p:ext uri="{BB962C8B-B14F-4D97-AF65-F5344CB8AC3E}">
        <p14:creationId xmlns:p14="http://schemas.microsoft.com/office/powerpoint/2010/main" val="40492515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F5FF925-67DE-CC62-E869-C6E3C1D771E6}"/>
              </a:ext>
            </a:extLst>
          </p:cNvPr>
          <p:cNvSpPr>
            <a:spLocks noGrp="1"/>
          </p:cNvSpPr>
          <p:nvPr>
            <p:ph type="title"/>
          </p:nvPr>
        </p:nvSpPr>
        <p:spPr/>
        <p:txBody>
          <a:bodyPr/>
          <a:lstStyle/>
          <a:p>
            <a:r>
              <a:rPr lang="pt-BR" dirty="0" smtClean="0"/>
              <a:t>Paradigma da programação </a:t>
            </a:r>
            <a:r>
              <a:rPr lang="pt-BR" dirty="0"/>
              <a:t>tradicional</a:t>
            </a:r>
          </a:p>
        </p:txBody>
      </p:sp>
      <p:sp>
        <p:nvSpPr>
          <p:cNvPr id="3" name="Espaço Reservado para Conteúdo 2">
            <a:extLst>
              <a:ext uri="{FF2B5EF4-FFF2-40B4-BE49-F238E27FC236}">
                <a16:creationId xmlns=""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Programação Tradicional:</a:t>
            </a:r>
            <a:r>
              <a:rPr lang="pt-BR" dirty="0"/>
              <a:t> Nós </a:t>
            </a:r>
            <a:r>
              <a:rPr lang="pt-BR" b="1" dirty="0" smtClean="0">
                <a:solidFill>
                  <a:srgbClr val="7030A0"/>
                </a:solidFill>
              </a:rPr>
              <a:t>humanos criamos </a:t>
            </a:r>
            <a:r>
              <a:rPr lang="pt-BR" dirty="0" smtClean="0"/>
              <a:t>as </a:t>
            </a:r>
            <a:r>
              <a:rPr lang="pt-BR" b="1" dirty="0"/>
              <a:t>regras</a:t>
            </a:r>
            <a:r>
              <a:rPr lang="pt-BR" dirty="0"/>
              <a:t> (i.e., o programa) e os </a:t>
            </a:r>
            <a:r>
              <a:rPr lang="pt-BR" b="1" dirty="0"/>
              <a:t>dados</a:t>
            </a:r>
            <a:r>
              <a:rPr lang="pt-BR" dirty="0"/>
              <a:t> </a:t>
            </a:r>
            <a:r>
              <a:rPr lang="pt-BR" dirty="0" smtClean="0"/>
              <a:t>e o </a:t>
            </a:r>
            <a:r>
              <a:rPr lang="pt-BR" b="1" dirty="0">
                <a:solidFill>
                  <a:schemeClr val="accent2"/>
                </a:solidFill>
              </a:rPr>
              <a:t>computador</a:t>
            </a:r>
            <a:r>
              <a:rPr lang="pt-BR" dirty="0"/>
              <a:t> gera o </a:t>
            </a:r>
            <a:r>
              <a:rPr lang="pt-BR" b="1" dirty="0"/>
              <a:t>resultado</a:t>
            </a:r>
            <a:r>
              <a:rPr lang="pt-BR" dirty="0"/>
              <a:t>.</a:t>
            </a:r>
          </a:p>
          <a:p>
            <a:pPr lvl="1">
              <a:buFont typeface="Wingdings" panose="05000000000000000000" pitchFamily="2" charset="2"/>
              <a:buChar char="§"/>
            </a:pPr>
            <a:r>
              <a:rPr lang="pt-BR" dirty="0"/>
              <a:t>Exemplo</a:t>
            </a:r>
            <a:r>
              <a:rPr lang="pt-BR" i="1" dirty="0"/>
              <a:t>:</a:t>
            </a:r>
            <a:r>
              <a:rPr lang="pt-BR" dirty="0"/>
              <a:t> "Se o e-mail tiver a palavra 'PROMOÇÃO', mova para o lixo."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6" name="Conector de seta reta 5"/>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Conector de seta reta 9"/>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1" name="Conector de seta reta 10"/>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 name="Retângulo 4"/>
          <p:cNvSpPr/>
          <p:nvPr/>
        </p:nvSpPr>
        <p:spPr>
          <a:xfrm>
            <a:off x="2227964" y="4014449"/>
            <a:ext cx="1235788" cy="738664"/>
          </a:xfrm>
          <a:prstGeom prst="rect">
            <a:avLst/>
          </a:prstGeom>
        </p:spPr>
        <p:txBody>
          <a:bodyPr wrap="none">
            <a:spAutoFit/>
          </a:bodyPr>
          <a:lstStyle/>
          <a:p>
            <a:pPr algn="ctr"/>
            <a:r>
              <a:rPr lang="pt-BR" sz="2400" b="1" dirty="0"/>
              <a:t>regras</a:t>
            </a:r>
          </a:p>
          <a:p>
            <a:pPr algn="ctr"/>
            <a:r>
              <a:rPr lang="pt-BR" dirty="0"/>
              <a:t>(programa)</a:t>
            </a:r>
            <a:endParaRPr lang="pt-BR" sz="2000" dirty="0"/>
          </a:p>
        </p:txBody>
      </p:sp>
      <p:sp>
        <p:nvSpPr>
          <p:cNvPr id="9" name="Retângulo 8"/>
          <p:cNvSpPr/>
          <p:nvPr/>
        </p:nvSpPr>
        <p:spPr>
          <a:xfrm>
            <a:off x="2272848" y="4820581"/>
            <a:ext cx="1146019"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12" name="Retângulo 11"/>
          <p:cNvSpPr/>
          <p:nvPr/>
        </p:nvSpPr>
        <p:spPr>
          <a:xfrm>
            <a:off x="9132193" y="4435424"/>
            <a:ext cx="1519903" cy="738664"/>
          </a:xfrm>
          <a:prstGeom prst="rect">
            <a:avLst/>
          </a:prstGeom>
        </p:spPr>
        <p:txBody>
          <a:bodyPr wrap="none">
            <a:spAutoFit/>
          </a:bodyPr>
          <a:lstStyle/>
          <a:p>
            <a:r>
              <a:rPr lang="pt-BR" sz="2400" b="1" dirty="0"/>
              <a:t>resultados</a:t>
            </a:r>
          </a:p>
          <a:p>
            <a:pPr algn="ctr"/>
            <a:r>
              <a:rPr lang="pt-BR" dirty="0"/>
              <a:t>(saídas)</a:t>
            </a:r>
          </a:p>
        </p:txBody>
      </p:sp>
    </p:spTree>
    <p:extLst>
      <p:ext uri="{BB962C8B-B14F-4D97-AF65-F5344CB8AC3E}">
        <p14:creationId xmlns:p14="http://schemas.microsoft.com/office/powerpoint/2010/main" val="3641182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83680" y="2219521"/>
            <a:ext cx="5289452" cy="2858917"/>
          </a:xfrm>
        </p:spPr>
        <p:txBody>
          <a:bodyPr>
            <a:normAutofit/>
          </a:bodyPr>
          <a:lstStyle/>
          <a:p>
            <a:pPr marL="0" indent="0" algn="ctr">
              <a:buNone/>
            </a:pPr>
            <a:r>
              <a:rPr lang="pt-BR" sz="3600" dirty="0" smtClean="0"/>
              <a:t>No aprendizado de máquina, as máquinas aprendem sem serem explicitamente programadas.</a:t>
            </a:r>
            <a:endParaRPr lang="pt-BR" sz="3600" dirty="0"/>
          </a:p>
        </p:txBody>
      </p:sp>
      <p:pic>
        <p:nvPicPr>
          <p:cNvPr id="4" name="Imagem 3"/>
          <p:cNvPicPr>
            <a:picLocks noChangeAspect="1"/>
          </p:cNvPicPr>
          <p:nvPr/>
        </p:nvPicPr>
        <p:blipFill rotWithShape="1">
          <a:blip r:embed="rId2">
            <a:extLst>
              <a:ext uri="{28A0092B-C50C-407E-A947-70E740481C1C}">
                <a14:useLocalDpi xmlns:a14="http://schemas.microsoft.com/office/drawing/2010/main" val="0"/>
              </a:ext>
            </a:extLst>
          </a:blip>
          <a:srcRect l="19061" t="5035" r="5134" b="5175"/>
          <a:stretch/>
        </p:blipFill>
        <p:spPr>
          <a:xfrm>
            <a:off x="301470" y="1026943"/>
            <a:ext cx="6074810" cy="4797082"/>
          </a:xfrm>
          <a:prstGeom prst="rect">
            <a:avLst/>
          </a:prstGeom>
        </p:spPr>
      </p:pic>
    </p:spTree>
    <p:extLst>
      <p:ext uri="{BB962C8B-B14F-4D97-AF65-F5344CB8AC3E}">
        <p14:creationId xmlns:p14="http://schemas.microsoft.com/office/powerpoint/2010/main" val="1409582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i="1" dirty="0"/>
              <a:t>Machine Learning</a:t>
            </a:r>
            <a:r>
              <a:rPr lang="pt-BR" b="1" dirty="0"/>
              <a:t> (ML):</a:t>
            </a:r>
            <a:r>
              <a:rPr lang="pt-BR" dirty="0"/>
              <a:t> </a:t>
            </a:r>
            <a:r>
              <a:rPr lang="pt-BR" dirty="0" smtClean="0"/>
              <a:t>Nós </a:t>
            </a:r>
            <a:r>
              <a:rPr lang="pt-BR" b="1" dirty="0" smtClean="0">
                <a:solidFill>
                  <a:schemeClr val="accent1"/>
                </a:solidFill>
              </a:rPr>
              <a:t>humanos</a:t>
            </a:r>
            <a:r>
              <a:rPr lang="pt-BR" dirty="0" smtClean="0"/>
              <a:t> fornecemos os </a:t>
            </a:r>
            <a:r>
              <a:rPr lang="pt-BR" b="1" dirty="0" smtClean="0"/>
              <a:t>dados</a:t>
            </a:r>
            <a:r>
              <a:rPr lang="pt-BR" dirty="0" smtClean="0"/>
              <a:t> </a:t>
            </a:r>
            <a:r>
              <a:rPr lang="pt-BR" dirty="0"/>
              <a:t>e os </a:t>
            </a:r>
            <a:r>
              <a:rPr lang="pt-BR" b="1" dirty="0"/>
              <a:t>resultados</a:t>
            </a:r>
            <a:r>
              <a:rPr lang="pt-BR" dirty="0"/>
              <a:t> </a:t>
            </a:r>
            <a:r>
              <a:rPr lang="pt-BR" dirty="0" smtClean="0"/>
              <a:t>e o </a:t>
            </a:r>
            <a:r>
              <a:rPr lang="pt-BR" b="1" dirty="0">
                <a:solidFill>
                  <a:schemeClr val="accent2"/>
                </a:solidFill>
              </a:rPr>
              <a:t>computador</a:t>
            </a:r>
            <a:r>
              <a:rPr lang="pt-BR" dirty="0"/>
              <a:t> </a:t>
            </a:r>
            <a:r>
              <a:rPr lang="pt-BR" b="1" dirty="0" smtClean="0">
                <a:solidFill>
                  <a:srgbClr val="7030A0"/>
                </a:solidFill>
              </a:rPr>
              <a:t>descobre/aprende</a:t>
            </a:r>
            <a:r>
              <a:rPr lang="pt-BR" dirty="0" smtClean="0"/>
              <a:t> </a:t>
            </a:r>
            <a:r>
              <a:rPr lang="pt-BR" dirty="0"/>
              <a:t>as </a:t>
            </a:r>
            <a:r>
              <a:rPr lang="pt-BR" b="1" dirty="0"/>
              <a:t>regras</a:t>
            </a:r>
            <a:r>
              <a:rPr lang="pt-BR" dirty="0"/>
              <a:t>.</a:t>
            </a:r>
          </a:p>
          <a:p>
            <a:pPr lvl="1">
              <a:buFont typeface="Wingdings" panose="05000000000000000000" pitchFamily="2" charset="2"/>
              <a:buChar char="§"/>
            </a:pPr>
            <a:r>
              <a:rPr lang="pt-BR" dirty="0"/>
              <a:t>Exemplo</a:t>
            </a:r>
            <a:r>
              <a:rPr lang="pt-BR" i="1" dirty="0"/>
              <a:t>:</a:t>
            </a:r>
            <a:r>
              <a:rPr lang="pt-BR" dirty="0"/>
              <a:t> "Aqui estão 1.000 e-mails que são </a:t>
            </a:r>
            <a:r>
              <a:rPr lang="pt-BR" i="1" dirty="0"/>
              <a:t>spam</a:t>
            </a:r>
            <a:r>
              <a:rPr lang="pt-BR" dirty="0"/>
              <a:t> e 1.000 que não são. Descubra o padrão sozinho."</a:t>
            </a:r>
          </a:p>
        </p:txBody>
      </p:sp>
      <p:sp>
        <p:nvSpPr>
          <p:cNvPr id="4" name="Retângulo 3"/>
          <p:cNvSpPr/>
          <p:nvPr/>
        </p:nvSpPr>
        <p:spPr>
          <a:xfrm>
            <a:off x="4621876" y="4073236"/>
            <a:ext cx="3192088" cy="146304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3200" b="1" dirty="0"/>
              <a:t>Computador</a:t>
            </a:r>
          </a:p>
        </p:txBody>
      </p:sp>
      <p:cxnSp>
        <p:nvCxnSpPr>
          <p:cNvPr id="5" name="Conector de seta reta 4"/>
          <p:cNvCxnSpPr/>
          <p:nvPr/>
        </p:nvCxnSpPr>
        <p:spPr>
          <a:xfrm>
            <a:off x="3361876" y="4389120"/>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6" name="Conector de seta reta 5"/>
          <p:cNvCxnSpPr/>
          <p:nvPr/>
        </p:nvCxnSpPr>
        <p:spPr>
          <a:xfrm>
            <a:off x="3361876" y="5189913"/>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p:cNvCxnSpPr/>
          <p:nvPr/>
        </p:nvCxnSpPr>
        <p:spPr>
          <a:xfrm>
            <a:off x="7813964" y="4810299"/>
            <a:ext cx="1260000"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2157029" y="4014449"/>
            <a:ext cx="1146018" cy="738664"/>
          </a:xfrm>
          <a:prstGeom prst="rect">
            <a:avLst/>
          </a:prstGeom>
        </p:spPr>
        <p:txBody>
          <a:bodyPr wrap="none">
            <a:spAutoFit/>
          </a:bodyPr>
          <a:lstStyle/>
          <a:p>
            <a:pPr algn="ctr"/>
            <a:r>
              <a:rPr lang="pt-BR" sz="2400" b="1" dirty="0"/>
              <a:t>dados</a:t>
            </a:r>
          </a:p>
          <a:p>
            <a:pPr algn="ctr"/>
            <a:r>
              <a:rPr lang="pt-BR" dirty="0"/>
              <a:t>(entradas)</a:t>
            </a:r>
            <a:endParaRPr lang="pt-BR" sz="2800" dirty="0"/>
          </a:p>
        </p:txBody>
      </p:sp>
      <p:sp>
        <p:nvSpPr>
          <p:cNvPr id="9" name="Retângulo 8"/>
          <p:cNvSpPr/>
          <p:nvPr/>
        </p:nvSpPr>
        <p:spPr>
          <a:xfrm>
            <a:off x="1841973" y="4784177"/>
            <a:ext cx="1519903" cy="738664"/>
          </a:xfrm>
          <a:prstGeom prst="rect">
            <a:avLst/>
          </a:prstGeom>
        </p:spPr>
        <p:txBody>
          <a:bodyPr wrap="none">
            <a:spAutoFit/>
          </a:bodyPr>
          <a:lstStyle/>
          <a:p>
            <a:pPr algn="ctr"/>
            <a:r>
              <a:rPr lang="pt-BR" sz="2400" b="1" dirty="0"/>
              <a:t>resultados</a:t>
            </a:r>
          </a:p>
          <a:p>
            <a:pPr algn="ctr"/>
            <a:r>
              <a:rPr lang="pt-BR" dirty="0"/>
              <a:t>(rótulos)</a:t>
            </a:r>
            <a:endParaRPr lang="pt-BR" sz="2800" dirty="0"/>
          </a:p>
        </p:txBody>
      </p:sp>
      <p:sp>
        <p:nvSpPr>
          <p:cNvPr id="10" name="Retângulo 9"/>
          <p:cNvSpPr/>
          <p:nvPr/>
        </p:nvSpPr>
        <p:spPr>
          <a:xfrm>
            <a:off x="9073964" y="4414845"/>
            <a:ext cx="1043876" cy="738664"/>
          </a:xfrm>
          <a:prstGeom prst="rect">
            <a:avLst/>
          </a:prstGeom>
        </p:spPr>
        <p:txBody>
          <a:bodyPr wrap="none">
            <a:spAutoFit/>
          </a:bodyPr>
          <a:lstStyle/>
          <a:p>
            <a:pPr algn="ctr"/>
            <a:r>
              <a:rPr lang="pt-BR" sz="2400" b="1" dirty="0"/>
              <a:t>regras</a:t>
            </a:r>
          </a:p>
          <a:p>
            <a:pPr algn="ctr"/>
            <a:r>
              <a:rPr lang="pt-BR" dirty="0"/>
              <a:t>(modelo)</a:t>
            </a:r>
            <a:endParaRPr lang="pt-BR" sz="2800" dirty="0"/>
          </a:p>
        </p:txBody>
      </p:sp>
      <p:sp>
        <p:nvSpPr>
          <p:cNvPr id="12" name="Retângulo 11"/>
          <p:cNvSpPr/>
          <p:nvPr/>
        </p:nvSpPr>
        <p:spPr>
          <a:xfrm>
            <a:off x="2730038" y="5990706"/>
            <a:ext cx="7337714" cy="461665"/>
          </a:xfrm>
          <a:prstGeom prst="rect">
            <a:avLst/>
          </a:prstGeom>
        </p:spPr>
        <p:txBody>
          <a:bodyPr wrap="none">
            <a:spAutoFit/>
          </a:bodyPr>
          <a:lstStyle/>
          <a:p>
            <a:r>
              <a:rPr lang="pt-BR" sz="2400" dirty="0"/>
              <a:t>A máquina </a:t>
            </a:r>
            <a:r>
              <a:rPr lang="pt-BR" sz="2400" b="1" dirty="0">
                <a:solidFill>
                  <a:srgbClr val="00B050"/>
                </a:solidFill>
              </a:rPr>
              <a:t>cria suas próprias regras </a:t>
            </a:r>
            <a:r>
              <a:rPr lang="pt-BR" sz="2400" dirty="0"/>
              <a:t>baseadas nos </a:t>
            </a:r>
            <a:r>
              <a:rPr lang="pt-BR" sz="2400" b="1" dirty="0">
                <a:solidFill>
                  <a:srgbClr val="00B050"/>
                </a:solidFill>
              </a:rPr>
              <a:t>dados</a:t>
            </a:r>
            <a:r>
              <a:rPr lang="pt-BR" sz="2400" dirty="0"/>
              <a:t>.</a:t>
            </a:r>
          </a:p>
        </p:txBody>
      </p:sp>
    </p:spTree>
    <p:extLst>
      <p:ext uri="{BB962C8B-B14F-4D97-AF65-F5344CB8AC3E}">
        <p14:creationId xmlns:p14="http://schemas.microsoft.com/office/powerpoint/2010/main" val="8853699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F5FF925-67DE-CC62-E869-C6E3C1D771E6}"/>
              </a:ext>
            </a:extLst>
          </p:cNvPr>
          <p:cNvSpPr>
            <a:spLocks noGrp="1"/>
          </p:cNvSpPr>
          <p:nvPr>
            <p:ph type="title"/>
          </p:nvPr>
        </p:nvSpPr>
        <p:spPr/>
        <p:txBody>
          <a:bodyPr/>
          <a:lstStyle/>
          <a:p>
            <a:r>
              <a:rPr lang="pt-BR" dirty="0"/>
              <a:t>Paradigma do aprendizado de máquina</a:t>
            </a:r>
          </a:p>
        </p:txBody>
      </p:sp>
      <p:sp>
        <p:nvSpPr>
          <p:cNvPr id="3" name="Espaço Reservado para Conteúdo 2">
            <a:extLst>
              <a:ext uri="{FF2B5EF4-FFF2-40B4-BE49-F238E27FC236}">
                <a16:creationId xmlns="" xmlns:a16="http://schemas.microsoft.com/office/drawing/2014/main" id="{7DA84068-671A-9D40-4F76-2C57E4F720C2}"/>
              </a:ext>
            </a:extLst>
          </p:cNvPr>
          <p:cNvSpPr>
            <a:spLocks noGrp="1"/>
          </p:cNvSpPr>
          <p:nvPr>
            <p:ph idx="1"/>
          </p:nvPr>
        </p:nvSpPr>
        <p:spPr>
          <a:xfrm>
            <a:off x="838199" y="1825624"/>
            <a:ext cx="11132127" cy="5032375"/>
          </a:xfrm>
        </p:spPr>
        <p:txBody>
          <a:bodyPr/>
          <a:lstStyle/>
          <a:p>
            <a:r>
              <a:rPr lang="pt-BR" b="1" dirty="0"/>
              <a:t>O combustível do </a:t>
            </a:r>
            <a:r>
              <a:rPr lang="pt-BR" b="1" dirty="0" smtClean="0"/>
              <a:t>ML</a:t>
            </a:r>
            <a:r>
              <a:rPr lang="pt-BR" dirty="0" smtClean="0"/>
              <a:t> são o dados </a:t>
            </a:r>
            <a:r>
              <a:rPr lang="pt-BR" dirty="0"/>
              <a:t>(muitos dados!).</a:t>
            </a:r>
          </a:p>
          <a:p>
            <a:r>
              <a:rPr lang="pt-BR" b="1" dirty="0"/>
              <a:t>O objetivo:</a:t>
            </a:r>
            <a:r>
              <a:rPr lang="pt-BR" dirty="0"/>
              <a:t> </a:t>
            </a:r>
            <a:r>
              <a:rPr lang="pt-BR" dirty="0" smtClean="0"/>
              <a:t>Treinar um modelo que </a:t>
            </a:r>
            <a:r>
              <a:rPr lang="pt-BR" b="1" dirty="0" smtClean="0">
                <a:solidFill>
                  <a:srgbClr val="7030A0"/>
                </a:solidFill>
              </a:rPr>
              <a:t>generalize</a:t>
            </a:r>
            <a:r>
              <a:rPr lang="pt-BR" dirty="0" smtClean="0">
                <a:solidFill>
                  <a:srgbClr val="7030A0"/>
                </a:solidFill>
              </a:rPr>
              <a:t> </a:t>
            </a:r>
            <a:r>
              <a:rPr lang="pt-BR" dirty="0"/>
              <a:t>o conhecimento para tomar </a:t>
            </a:r>
            <a:r>
              <a:rPr lang="pt-BR" b="1" dirty="0">
                <a:solidFill>
                  <a:srgbClr val="7030A0"/>
                </a:solidFill>
              </a:rPr>
              <a:t>decisões</a:t>
            </a:r>
            <a:r>
              <a:rPr lang="pt-BR" dirty="0"/>
              <a:t> sobre algo que a </a:t>
            </a:r>
            <a:r>
              <a:rPr lang="pt-BR" b="1" dirty="0">
                <a:solidFill>
                  <a:srgbClr val="7030A0"/>
                </a:solidFill>
              </a:rPr>
              <a:t>máquina nunca viu antes</a:t>
            </a:r>
            <a:r>
              <a:rPr lang="pt-BR" dirty="0"/>
              <a:t>.</a:t>
            </a:r>
          </a:p>
        </p:txBody>
      </p:sp>
      <p:pic>
        <p:nvPicPr>
          <p:cNvPr id="11" name="Imagem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42261" y="3231735"/>
            <a:ext cx="6507477" cy="3549534"/>
          </a:xfrm>
          <a:prstGeom prst="rect">
            <a:avLst/>
          </a:prstGeom>
        </p:spPr>
      </p:pic>
    </p:spTree>
    <p:extLst>
      <p:ext uri="{BB962C8B-B14F-4D97-AF65-F5344CB8AC3E}">
        <p14:creationId xmlns:p14="http://schemas.microsoft.com/office/powerpoint/2010/main" val="82688148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E95DEED5-0625-1165-C136-EA6183F1292D}"/>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FD938784-97FD-B138-C139-EC311A5F3805}"/>
              </a:ext>
            </a:extLst>
          </p:cNvPr>
          <p:cNvSpPr>
            <a:spLocks noGrp="1"/>
          </p:cNvSpPr>
          <p:nvPr>
            <p:ph type="title"/>
          </p:nvPr>
        </p:nvSpPr>
        <p:spPr/>
        <p:txBody>
          <a:bodyPr/>
          <a:lstStyle/>
          <a:p>
            <a:r>
              <a:rPr lang="pt-BR" dirty="0"/>
              <a:t>Generalização</a:t>
            </a:r>
            <a:endParaRPr lang="en-US" dirty="0"/>
          </a:p>
        </p:txBody>
      </p:sp>
      <p:sp>
        <p:nvSpPr>
          <p:cNvPr id="30" name="Espaço Reservado para Conteúdo 2">
            <a:extLst>
              <a:ext uri="{FF2B5EF4-FFF2-40B4-BE49-F238E27FC236}">
                <a16:creationId xmlns="" xmlns:a16="http://schemas.microsoft.com/office/drawing/2014/main" id="{DAE70008-B8DD-B1D6-E796-45C087B71ED7}"/>
              </a:ext>
            </a:extLst>
          </p:cNvPr>
          <p:cNvSpPr>
            <a:spLocks noGrp="1"/>
          </p:cNvSpPr>
          <p:nvPr>
            <p:ph idx="1"/>
          </p:nvPr>
        </p:nvSpPr>
        <p:spPr>
          <a:xfrm>
            <a:off x="838200" y="1825625"/>
            <a:ext cx="11238824" cy="5032375"/>
          </a:xfrm>
        </p:spPr>
        <p:txBody>
          <a:bodyPr>
            <a:normAutofit/>
          </a:bodyPr>
          <a:lstStyle/>
          <a:p>
            <a:r>
              <a:rPr lang="pt-BR" dirty="0"/>
              <a:t>Não basta que o algoritmo de ML aprenda um </a:t>
            </a:r>
            <a:r>
              <a:rPr lang="pt-BR" b="1" dirty="0"/>
              <a:t>modelo</a:t>
            </a:r>
            <a:r>
              <a:rPr lang="pt-BR" dirty="0"/>
              <a:t> que faça um bom mapeamento </a:t>
            </a:r>
            <a:r>
              <a:rPr lang="pt-BR" b="1" dirty="0">
                <a:solidFill>
                  <a:schemeClr val="accent2"/>
                </a:solidFill>
              </a:rPr>
              <a:t>apenas para os dados do conjunto de treinamento</a:t>
            </a:r>
            <a:r>
              <a:rPr lang="pt-BR" dirty="0"/>
              <a:t>.</a:t>
            </a:r>
          </a:p>
          <a:p>
            <a:r>
              <a:rPr lang="pt-BR" dirty="0"/>
              <a:t>O algoritmo de ML deve </a:t>
            </a:r>
            <a:r>
              <a:rPr lang="pt-BR" b="1" dirty="0"/>
              <a:t>treinar</a:t>
            </a:r>
            <a:r>
              <a:rPr lang="pt-BR" dirty="0"/>
              <a:t> um </a:t>
            </a:r>
            <a:r>
              <a:rPr lang="pt-BR" b="1" dirty="0"/>
              <a:t>modelo</a:t>
            </a:r>
            <a:r>
              <a:rPr lang="pt-BR" dirty="0"/>
              <a:t> que </a:t>
            </a:r>
            <a:r>
              <a:rPr lang="pt-BR" b="1" dirty="0"/>
              <a:t>aprenda</a:t>
            </a:r>
            <a:r>
              <a:rPr lang="pt-BR" dirty="0"/>
              <a:t> a </a:t>
            </a:r>
            <a:r>
              <a:rPr lang="pt-BR" b="1" dirty="0">
                <a:solidFill>
                  <a:srgbClr val="7030A0"/>
                </a:solidFill>
              </a:rPr>
              <a:t>solução geral</a:t>
            </a:r>
            <a:r>
              <a:rPr lang="pt-BR" dirty="0"/>
              <a:t>, i.e., um modelo que </a:t>
            </a:r>
            <a:r>
              <a:rPr lang="pt-BR" b="1" dirty="0">
                <a:solidFill>
                  <a:srgbClr val="00B050"/>
                </a:solidFill>
              </a:rPr>
              <a:t>generalize para </a:t>
            </a:r>
            <a:r>
              <a:rPr lang="pt-BR" b="1" dirty="0" smtClean="0">
                <a:solidFill>
                  <a:srgbClr val="00B050"/>
                </a:solidFill>
              </a:rPr>
              <a:t>dados de entrada </a:t>
            </a:r>
            <a:r>
              <a:rPr lang="pt-BR" b="1" dirty="0">
                <a:solidFill>
                  <a:schemeClr val="accent1"/>
                </a:solidFill>
              </a:rPr>
              <a:t>não </a:t>
            </a:r>
            <a:r>
              <a:rPr lang="pt-BR" b="1" dirty="0" smtClean="0">
                <a:solidFill>
                  <a:schemeClr val="accent1"/>
                </a:solidFill>
              </a:rPr>
              <a:t>vistos </a:t>
            </a:r>
            <a:r>
              <a:rPr lang="pt-BR" b="1" dirty="0">
                <a:solidFill>
                  <a:schemeClr val="accent1"/>
                </a:solidFill>
              </a:rPr>
              <a:t>durante o treinamento</a:t>
            </a:r>
            <a:r>
              <a:rPr lang="pt-BR" dirty="0"/>
              <a:t>.</a:t>
            </a:r>
          </a:p>
          <a:p>
            <a:r>
              <a:rPr lang="pt-BR" dirty="0"/>
              <a:t>Vejamos o exemplo da </a:t>
            </a:r>
            <a:r>
              <a:rPr lang="pt-BR" dirty="0" err="1"/>
              <a:t>paleteria</a:t>
            </a:r>
            <a:r>
              <a:rPr lang="pt-BR" dirty="0"/>
              <a:t> </a:t>
            </a:r>
            <a:r>
              <a:rPr lang="pt-BR" dirty="0" smtClean="0"/>
              <a:t>mexicana para entender melhor o que é a generalização.</a:t>
            </a:r>
            <a:endParaRPr lang="pt-BR" dirty="0"/>
          </a:p>
        </p:txBody>
      </p:sp>
    </p:spTree>
    <p:extLst>
      <p:ext uri="{BB962C8B-B14F-4D97-AF65-F5344CB8AC3E}">
        <p14:creationId xmlns:p14="http://schemas.microsoft.com/office/powerpoint/2010/main" val="10079047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 xmlns:a16="http://schemas.microsoft.com/office/drawing/2014/main" id="{1EE8BD47-74BF-4BDE-17AA-A5867E32AE3D}"/>
                  </a:ext>
                </a:extLst>
              </p:cNvPr>
              <p:cNvSpPr>
                <a:spLocks noGrp="1"/>
              </p:cNvSpPr>
              <p:nvPr>
                <p:ph idx="1"/>
              </p:nvPr>
            </p:nvSpPr>
            <p:spPr>
              <a:xfrm>
                <a:off x="5289452" y="1825624"/>
                <a:ext cx="6766559" cy="5032376"/>
              </a:xfrm>
            </p:spPr>
            <p:txBody>
              <a:bodyPr>
                <a:normAutofit/>
              </a:bodyPr>
              <a:lstStyle/>
              <a:p>
                <a:r>
                  <a:rPr lang="pt-BR" dirty="0"/>
                  <a:t>Imaginem o dono de uma paleteria mexicana que </a:t>
                </a:r>
                <a:r>
                  <a:rPr lang="pt-BR" dirty="0" smtClean="0"/>
                  <a:t>quer </a:t>
                </a:r>
                <a:r>
                  <a:rPr lang="pt-BR" b="1" dirty="0" smtClean="0"/>
                  <a:t>produzir a quantidade correta de paletas por dia </a:t>
                </a:r>
                <a:r>
                  <a:rPr lang="pt-BR" dirty="0" smtClean="0"/>
                  <a:t>para manter o mínimo de estoque.</a:t>
                </a:r>
                <a:endParaRPr lang="pt-BR" dirty="0"/>
              </a:p>
              <a:p>
                <a:r>
                  <a:rPr lang="pt-BR" dirty="0"/>
                  <a:t>O que ele pode </a:t>
                </a:r>
                <a:r>
                  <a:rPr lang="pt-BR" dirty="0" smtClean="0"/>
                  <a:t>fazer para </a:t>
                </a:r>
                <a:r>
                  <a:rPr lang="pt-BR" b="1" dirty="0" smtClean="0">
                    <a:solidFill>
                      <a:srgbClr val="00B050"/>
                    </a:solidFill>
                  </a:rPr>
                  <a:t>predizer</a:t>
                </a:r>
                <a:r>
                  <a:rPr lang="pt-BR" dirty="0" smtClean="0">
                    <a:solidFill>
                      <a:srgbClr val="00B050"/>
                    </a:solidFill>
                  </a:rPr>
                  <a:t> </a:t>
                </a:r>
                <a:r>
                  <a:rPr lang="pt-BR" dirty="0" smtClean="0"/>
                  <a:t>a quantidade?</a:t>
                </a:r>
                <a:endParaRPr lang="pt-BR" dirty="0"/>
              </a:p>
              <a:p>
                <a:r>
                  <a:rPr lang="pt-BR" dirty="0" smtClean="0"/>
                  <a:t>Uma opção é anotar </a:t>
                </a:r>
                <a:r>
                  <a:rPr lang="pt-BR" dirty="0"/>
                  <a:t>as quantidades vendidas, as temperaturas médias e </a:t>
                </a:r>
                <a:r>
                  <a:rPr lang="pt-BR" b="1" dirty="0">
                    <a:solidFill>
                      <a:schemeClr val="accent2"/>
                    </a:solidFill>
                  </a:rPr>
                  <a:t>encontrar</a:t>
                </a:r>
                <a:r>
                  <a:rPr lang="pt-BR" dirty="0"/>
                  <a:t> uma função,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𝑥</m:t>
                        </m:r>
                      </m:e>
                    </m:d>
                  </m:oMath>
                </a14:m>
                <a:r>
                  <a:rPr lang="pt-BR" dirty="0"/>
                  <a:t>, que mapeie a temperatura na quantidade de </a:t>
                </a:r>
                <a:r>
                  <a:rPr lang="pt-BR" dirty="0" smtClean="0"/>
                  <a:t>paletas.</a:t>
                </a:r>
                <a:endParaRPr lang="pt-BR" dirty="0"/>
              </a:p>
            </p:txBody>
          </p:sp>
        </mc:Choice>
        <mc:Fallback xmlns="">
          <p:sp>
            <p:nvSpPr>
              <p:cNvPr id="4" name="Content Placeholder 3">
                <a:extLst>
                  <a:ext uri="{FF2B5EF4-FFF2-40B4-BE49-F238E27FC236}">
                    <a16:creationId xmlns:a16="http://schemas.microsoft.com/office/drawing/2014/main" xmlns="" xmlns:a14="http://schemas.microsoft.com/office/drawing/2010/main" id="{1EE8BD47-74BF-4BDE-17AA-A5867E32AE3D}"/>
                  </a:ext>
                </a:extLst>
              </p:cNvPr>
              <p:cNvSpPr>
                <a:spLocks noGrp="1" noRot="1" noChangeAspect="1" noMove="1" noResize="1" noEditPoints="1" noAdjustHandles="1" noChangeArrowheads="1" noChangeShapeType="1" noTextEdit="1"/>
              </p:cNvSpPr>
              <p:nvPr>
                <p:ph idx="1"/>
              </p:nvPr>
            </p:nvSpPr>
            <p:spPr>
              <a:xfrm>
                <a:off x="5289452" y="1825624"/>
                <a:ext cx="6766559" cy="5032376"/>
              </a:xfrm>
              <a:blipFill rotWithShape="0">
                <a:blip r:embed="rId3"/>
                <a:stretch>
                  <a:fillRect l="-1622" t="-1937" r="-1081"/>
                </a:stretch>
              </a:blipFill>
            </p:spPr>
            <p:txBody>
              <a:bodyPr/>
              <a:lstStyle/>
              <a:p>
                <a:r>
                  <a:rPr lang="pt-BR">
                    <a:noFill/>
                  </a:rPr>
                  <a:t> </a:t>
                </a:r>
              </a:p>
            </p:txBody>
          </p:sp>
        </mc:Fallback>
      </mc:AlternateContent>
      <p:pic>
        <p:nvPicPr>
          <p:cNvPr id="18" name="Picture 2">
            <a:extLst>
              <a:ext uri="{FF2B5EF4-FFF2-40B4-BE49-F238E27FC236}">
                <a16:creationId xmlns="" xmlns:a16="http://schemas.microsoft.com/office/drawing/2014/main" id="{8F8481C7-5EE4-D272-70B4-866D2F1B25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412926" y="2518589"/>
            <a:ext cx="4398223" cy="30937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80140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D5C22040-B02E-C550-7FD9-84D3D027BD45}"/>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CA2B2465-4EC1-947F-2A6E-C72EC236E942}"/>
              </a:ext>
            </a:extLst>
          </p:cNvPr>
          <p:cNvSpPr>
            <a:spLocks noGrp="1"/>
          </p:cNvSpPr>
          <p:nvPr>
            <p:ph type="title"/>
          </p:nvPr>
        </p:nvSpPr>
        <p:spPr/>
        <p:txBody>
          <a:bodyPr/>
          <a:lstStyle/>
          <a:p>
            <a:r>
              <a:rPr lang="pt-BR" dirty="0"/>
              <a:t>Generalização</a:t>
            </a:r>
            <a:endParaRPr lang="en-US" dirty="0"/>
          </a:p>
        </p:txBody>
      </p:sp>
      <p:sp>
        <p:nvSpPr>
          <p:cNvPr id="4" name="Content Placeholder 3">
            <a:extLst>
              <a:ext uri="{FF2B5EF4-FFF2-40B4-BE49-F238E27FC236}">
                <a16:creationId xmlns:mc="http://schemas.openxmlformats.org/markup-compatibility/2006" xmlns:a14="http://schemas.microsoft.com/office/drawing/2010/main" xmlns="" xmlns:a16="http://schemas.microsoft.com/office/drawing/2014/main" id="{1EE8BD47-74BF-4BDE-17AA-A5867E32AE3D}"/>
              </a:ext>
            </a:extLst>
          </p:cNvPr>
          <p:cNvSpPr>
            <a:spLocks noGrp="1"/>
          </p:cNvSpPr>
          <p:nvPr>
            <p:ph idx="1"/>
          </p:nvPr>
        </p:nvSpPr>
        <p:spPr>
          <a:xfrm>
            <a:off x="838200" y="1825624"/>
            <a:ext cx="11217811" cy="5032376"/>
          </a:xfrm>
        </p:spPr>
        <p:txBody>
          <a:bodyPr>
            <a:normAutofit/>
          </a:bodyPr>
          <a:lstStyle/>
          <a:p>
            <a:r>
              <a:rPr lang="pt-BR" dirty="0" smtClean="0"/>
              <a:t>Para encontrar a função, ele poderia usar o </a:t>
            </a:r>
            <a:r>
              <a:rPr lang="pt-BR" b="1" dirty="0" smtClean="0">
                <a:solidFill>
                  <a:srgbClr val="7030A0"/>
                </a:solidFill>
              </a:rPr>
              <a:t>paradigma do aprendizado de máquina</a:t>
            </a:r>
            <a:r>
              <a:rPr lang="pt-BR" dirty="0" smtClean="0"/>
              <a:t> e passar ao algoritmo de treinamento o conjunto coletado de pares de temperatura e quantidade de paletas vendidas (i.e., </a:t>
            </a:r>
            <a:r>
              <a:rPr lang="pt-BR" i="1" dirty="0" smtClean="0"/>
              <a:t>dataset</a:t>
            </a:r>
            <a:r>
              <a:rPr lang="pt-BR" dirty="0" smtClean="0"/>
              <a:t>).</a:t>
            </a:r>
          </a:p>
          <a:p>
            <a:endParaRPr lang="en-US" dirty="0"/>
          </a:p>
        </p:txBody>
      </p:sp>
      <p:grpSp>
        <p:nvGrpSpPr>
          <p:cNvPr id="5" name="Group 11">
            <a:extLst>
              <a:ext uri="{FF2B5EF4-FFF2-40B4-BE49-F238E27FC236}">
                <a16:creationId xmlns="" xmlns:a16="http://schemas.microsoft.com/office/drawing/2014/main" id="{576172D2-AD61-2577-0108-AB71DABA33B8}"/>
              </a:ext>
            </a:extLst>
          </p:cNvPr>
          <p:cNvGrpSpPr/>
          <p:nvPr/>
        </p:nvGrpSpPr>
        <p:grpSpPr>
          <a:xfrm>
            <a:off x="838200" y="3662904"/>
            <a:ext cx="10453762" cy="2217402"/>
            <a:chOff x="772828" y="4191612"/>
            <a:chExt cx="10453762" cy="2217402"/>
          </a:xfrm>
        </p:grpSpPr>
        <p:pic>
          <p:nvPicPr>
            <p:cNvPr id="6" name="Picture 2">
              <a:extLst>
                <a:ext uri="{FF2B5EF4-FFF2-40B4-BE49-F238E27FC236}">
                  <a16:creationId xmlns="" xmlns:a16="http://schemas.microsoft.com/office/drawing/2014/main" id="{8F8481C7-5EE4-D272-70B4-866D2F1B250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16" r="1714"/>
            <a:stretch/>
          </p:blipFill>
          <p:spPr bwMode="auto">
            <a:xfrm>
              <a:off x="772828" y="431339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7" name="Rectangle 6">
              <a:extLst>
                <a:ext uri="{FF2B5EF4-FFF2-40B4-BE49-F238E27FC236}">
                  <a16:creationId xmlns="" xmlns:a16="http://schemas.microsoft.com/office/drawing/2014/main" id="{CC9FE1EA-AA5B-A97C-D1DC-3A3E3903FA90}"/>
                </a:ext>
              </a:extLst>
            </p:cNvPr>
            <p:cNvSpPr/>
            <p:nvPr/>
          </p:nvSpPr>
          <p:spPr>
            <a:xfrm>
              <a:off x="5788138" y="48487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8" name="TextBox 7">
              <a:extLst>
                <a:ext uri="{FF2B5EF4-FFF2-40B4-BE49-F238E27FC236}">
                  <a16:creationId xmlns="" xmlns:a16="http://schemas.microsoft.com/office/drawing/2014/main" id="{FAEE6C09-ADD0-1D99-BBFA-A1B24371111E}"/>
                </a:ext>
              </a:extLst>
            </p:cNvPr>
            <p:cNvSpPr txBox="1"/>
            <p:nvPr/>
          </p:nvSpPr>
          <p:spPr>
            <a:xfrm>
              <a:off x="4960139" y="4317141"/>
              <a:ext cx="3524518" cy="461665"/>
            </a:xfrm>
            <a:prstGeom prst="rect">
              <a:avLst/>
            </a:prstGeom>
            <a:noFill/>
          </p:spPr>
          <p:txBody>
            <a:bodyPr wrap="square" rtlCol="0">
              <a:spAutoFit/>
            </a:bodyPr>
            <a:lstStyle/>
            <a:p>
              <a:pPr algn="ctr"/>
              <a:r>
                <a:rPr lang="pt-BR" sz="2400" b="1" dirty="0"/>
                <a:t>Aprendizado de Máquina</a:t>
              </a:r>
            </a:p>
          </p:txBody>
        </p:sp>
        <p:cxnSp>
          <p:nvCxnSpPr>
            <p:cNvPr id="9" name="Straight Arrow Connector 8">
              <a:extLst>
                <a:ext uri="{FF2B5EF4-FFF2-40B4-BE49-F238E27FC236}">
                  <a16:creationId xmlns="" xmlns:a16="http://schemas.microsoft.com/office/drawing/2014/main" id="{01A771EF-81C9-72AC-63BD-521251B9EC6B}"/>
                </a:ext>
              </a:extLst>
            </p:cNvPr>
            <p:cNvCxnSpPr>
              <a:cxnSpLocks/>
            </p:cNvCxnSpPr>
            <p:nvPr/>
          </p:nvCxnSpPr>
          <p:spPr>
            <a:xfrm>
              <a:off x="4960138" y="50283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 xmlns:a16="http://schemas.microsoft.com/office/drawing/2014/main" id="{A432D9D5-4C8A-7202-301F-3C2603460771}"/>
                </a:ext>
              </a:extLst>
            </p:cNvPr>
            <p:cNvCxnSpPr>
              <a:cxnSpLocks/>
            </p:cNvCxnSpPr>
            <p:nvPr/>
          </p:nvCxnSpPr>
          <p:spPr>
            <a:xfrm>
              <a:off x="4960138" y="5523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 xmlns:a16="http://schemas.microsoft.com/office/drawing/2014/main" id="{2CAAF65C-3BE5-E3AF-9A18-2C340BA1DB74}"/>
                    </a:ext>
                  </a:extLst>
                </p:cNvPr>
                <p:cNvSpPr txBox="1"/>
                <p:nvPr/>
              </p:nvSpPr>
              <p:spPr>
                <a:xfrm>
                  <a:off x="3920552" y="472945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11" name="TextBox 10">
                  <a:extLst>
                    <a:ext uri="{FF2B5EF4-FFF2-40B4-BE49-F238E27FC236}">
                      <a16:creationId xmlns:a16="http://schemas.microsoft.com/office/drawing/2014/main" id="{2CAAF65C-3BE5-E3AF-9A18-2C340BA1DB74}"/>
                    </a:ext>
                  </a:extLst>
                </p:cNvPr>
                <p:cNvSpPr txBox="1">
                  <a:spLocks noRot="1" noChangeAspect="1" noMove="1" noResize="1" noEditPoints="1" noAdjustHandles="1" noChangeArrowheads="1" noChangeShapeType="1" noTextEdit="1"/>
                </p:cNvSpPr>
                <p:nvPr/>
              </p:nvSpPr>
              <p:spPr>
                <a:xfrm>
                  <a:off x="3920552" y="4729452"/>
                  <a:ext cx="1039586" cy="615553"/>
                </a:xfrm>
                <a:prstGeom prst="rect">
                  <a:avLst/>
                </a:prstGeom>
                <a:blipFill>
                  <a:blip r:embed="rId4"/>
                  <a:stretch>
                    <a:fillRect l="-4118" t="-4950"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4">
                  <a:extLst>
                    <a:ext uri="{FF2B5EF4-FFF2-40B4-BE49-F238E27FC236}">
                      <a16:creationId xmlns="" xmlns:a16="http://schemas.microsoft.com/office/drawing/2014/main" id="{5FA620AE-3F5E-7F3D-E6BA-99842CAD4D42}"/>
                    </a:ext>
                  </a:extLst>
                </p:cNvPr>
                <p:cNvSpPr txBox="1"/>
                <p:nvPr/>
              </p:nvSpPr>
              <p:spPr>
                <a:xfrm>
                  <a:off x="3649847" y="523036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15" name="TextBox 14">
                  <a:extLst>
                    <a:ext uri="{FF2B5EF4-FFF2-40B4-BE49-F238E27FC236}">
                      <a16:creationId xmlns:a16="http://schemas.microsoft.com/office/drawing/2014/main" id="{5FA620AE-3F5E-7F3D-E6BA-99842CAD4D42}"/>
                    </a:ext>
                  </a:extLst>
                </p:cNvPr>
                <p:cNvSpPr txBox="1">
                  <a:spLocks noRot="1" noChangeAspect="1" noMove="1" noResize="1" noEditPoints="1" noAdjustHandles="1" noChangeArrowheads="1" noChangeShapeType="1" noTextEdit="1"/>
                </p:cNvSpPr>
                <p:nvPr/>
              </p:nvSpPr>
              <p:spPr>
                <a:xfrm>
                  <a:off x="3649847" y="5230362"/>
                  <a:ext cx="1512176" cy="923330"/>
                </a:xfrm>
                <a:prstGeom prst="rect">
                  <a:avLst/>
                </a:prstGeom>
                <a:blipFill>
                  <a:blip r:embed="rId5"/>
                  <a:stretch>
                    <a:fillRect t="-3289" b="-3947"/>
                  </a:stretch>
                </a:blipFill>
              </p:spPr>
              <p:txBody>
                <a:bodyPr/>
                <a:lstStyle/>
                <a:p>
                  <a:r>
                    <a:rPr lang="en-US">
                      <a:noFill/>
                    </a:rPr>
                    <a:t> </a:t>
                  </a:r>
                </a:p>
              </p:txBody>
            </p:sp>
          </mc:Fallback>
        </mc:AlternateContent>
        <p:cxnSp>
          <p:nvCxnSpPr>
            <p:cNvPr id="13" name="Straight Arrow Connector 15">
              <a:extLst>
                <a:ext uri="{FF2B5EF4-FFF2-40B4-BE49-F238E27FC236}">
                  <a16:creationId xmlns="" xmlns:a16="http://schemas.microsoft.com/office/drawing/2014/main" id="{1FFAEBE3-095C-C9CA-8A09-E9236203DB21}"/>
                </a:ext>
              </a:extLst>
            </p:cNvPr>
            <p:cNvCxnSpPr>
              <a:cxnSpLocks/>
            </p:cNvCxnSpPr>
            <p:nvPr/>
          </p:nvCxnSpPr>
          <p:spPr>
            <a:xfrm>
              <a:off x="7698581" y="52732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TextBox 16">
                  <a:extLst>
                    <a:ext uri="{FF2B5EF4-FFF2-40B4-BE49-F238E27FC236}">
                      <a16:creationId xmlns="" xmlns:a16="http://schemas.microsoft.com/office/drawing/2014/main" id="{43799622-705D-5F9F-9D0D-7AE90AE81773}"/>
                    </a:ext>
                  </a:extLst>
                </p:cNvPr>
                <p:cNvSpPr txBox="1"/>
                <p:nvPr/>
              </p:nvSpPr>
              <p:spPr>
                <a:xfrm>
                  <a:off x="8514180" y="4825525"/>
                  <a:ext cx="2712410" cy="861774"/>
                </a:xfrm>
                <a:prstGeom prst="rect">
                  <a:avLst/>
                </a:prstGeom>
                <a:noFill/>
              </p:spPr>
              <p:txBody>
                <a:bodyPr wrap="square" rtlCol="0">
                  <a:spAutoFit/>
                </a:bodyPr>
                <a:lstStyle/>
                <a:p>
                  <a:pPr algn="ctr"/>
                  <a:r>
                    <a:rPr lang="pt-BR" dirty="0"/>
                    <a:t>Programa = </a:t>
                  </a:r>
                  <a:r>
                    <a:rPr lang="pt-BR" b="1" dirty="0">
                      <a:solidFill>
                        <a:srgbClr val="FF0000"/>
                      </a:solidFill>
                    </a:rPr>
                    <a:t>Modelo de Aprendizado de Máquina</a:t>
                  </a:r>
                </a:p>
                <a:p>
                  <a:pPr algn="ctr"/>
                  <a:r>
                    <a:rPr lang="pt-BR" sz="1400" dirty="0" err="1"/>
                    <a:t>e.</a:t>
                  </a:r>
                  <a:r>
                    <a:rPr lang="pt-BR" sz="1400" dirty="0"/>
                    <a:t>g., </a:t>
                  </a:r>
                  <a14:m>
                    <m:oMath xmlns:m="http://schemas.openxmlformats.org/officeDocument/2006/math">
                      <m:r>
                        <a:rPr lang="pt-BR" sz="1400" b="0" i="1" smtClean="0">
                          <a:latin typeface="Cambria Math" panose="02040503050406030204" pitchFamily="18" charset="0"/>
                        </a:rPr>
                        <m:t>𝑦</m:t>
                      </m:r>
                      <m:r>
                        <a:rPr lang="pt-BR" sz="1400" b="0" i="0" smtClean="0">
                          <a:latin typeface="Cambria Math" panose="02040503050406030204" pitchFamily="18" charset="0"/>
                        </a:rPr>
                        <m:t>=</m:t>
                      </m:r>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oMath>
                  </a14:m>
                  <a:endParaRPr lang="pt-BR" sz="1400" dirty="0"/>
                </a:p>
              </p:txBody>
            </p:sp>
          </mc:Choice>
          <mc:Fallback xmlns="">
            <p:sp>
              <p:nvSpPr>
                <p:cNvPr id="17" name="TextBox 16">
                  <a:extLst>
                    <a:ext uri="{FF2B5EF4-FFF2-40B4-BE49-F238E27FC236}">
                      <a16:creationId xmlns:a16="http://schemas.microsoft.com/office/drawing/2014/main" id="{43799622-705D-5F9F-9D0D-7AE90AE81773}"/>
                    </a:ext>
                  </a:extLst>
                </p:cNvPr>
                <p:cNvSpPr txBox="1">
                  <a:spLocks noRot="1" noChangeAspect="1" noMove="1" noResize="1" noEditPoints="1" noAdjustHandles="1" noChangeArrowheads="1" noChangeShapeType="1" noTextEdit="1"/>
                </p:cNvSpPr>
                <p:nvPr/>
              </p:nvSpPr>
              <p:spPr>
                <a:xfrm>
                  <a:off x="8514180" y="4825525"/>
                  <a:ext cx="2712410" cy="861774"/>
                </a:xfrm>
                <a:prstGeom prst="rect">
                  <a:avLst/>
                </a:prstGeom>
                <a:blipFill>
                  <a:blip r:embed="rId6"/>
                  <a:stretch>
                    <a:fillRect t="-3546" b="-7092"/>
                  </a:stretch>
                </a:blipFill>
              </p:spPr>
              <p:txBody>
                <a:bodyPr/>
                <a:lstStyle/>
                <a:p>
                  <a:r>
                    <a:rPr lang="en-US">
                      <a:noFill/>
                    </a:rPr>
                    <a:t> </a:t>
                  </a:r>
                </a:p>
              </p:txBody>
            </p:sp>
          </mc:Fallback>
        </mc:AlternateContent>
        <p:sp>
          <p:nvSpPr>
            <p:cNvPr id="15" name="Retângulo 5">
              <a:extLst>
                <a:ext uri="{FF2B5EF4-FFF2-40B4-BE49-F238E27FC236}">
                  <a16:creationId xmlns="" xmlns:a16="http://schemas.microsoft.com/office/drawing/2014/main" id="{98B45B54-7500-13E7-270D-43FF6F0C2A0E}"/>
                </a:ext>
              </a:extLst>
            </p:cNvPr>
            <p:cNvSpPr/>
            <p:nvPr/>
          </p:nvSpPr>
          <p:spPr>
            <a:xfrm>
              <a:off x="5250429" y="6039682"/>
              <a:ext cx="5720990" cy="369332"/>
            </a:xfrm>
            <a:prstGeom prst="rect">
              <a:avLst/>
            </a:prstGeom>
          </p:spPr>
          <p:txBody>
            <a:bodyPr wrap="square">
              <a:spAutoFit/>
            </a:bodyPr>
            <a:lstStyle/>
            <a:p>
              <a:r>
                <a:rPr lang="pt-BR" b="1" dirty="0"/>
                <a:t>Conjunto de dados de treinamento = experiências prévias.</a:t>
              </a:r>
              <a:endParaRPr lang="en-US" b="1" dirty="0"/>
            </a:p>
          </p:txBody>
        </p:sp>
        <p:cxnSp>
          <p:nvCxnSpPr>
            <p:cNvPr id="16" name="Conector de seta reta 23">
              <a:extLst>
                <a:ext uri="{FF2B5EF4-FFF2-40B4-BE49-F238E27FC236}">
                  <a16:creationId xmlns="" xmlns:a16="http://schemas.microsoft.com/office/drawing/2014/main" id="{54CB7410-7A0B-50FD-1B9C-716EE4BEB120}"/>
                </a:ext>
              </a:extLst>
            </p:cNvPr>
            <p:cNvCxnSpPr>
              <a:stCxn id="19" idx="4"/>
              <a:endCxn id="15" idx="1"/>
            </p:cNvCxnSpPr>
            <p:nvPr/>
          </p:nvCxnSpPr>
          <p:spPr>
            <a:xfrm>
              <a:off x="4416473" y="6126550"/>
              <a:ext cx="833956" cy="9779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7" name="Texto explicativo retangular 16">
              <a:extLst>
                <a:ext uri="{FF2B5EF4-FFF2-40B4-BE49-F238E27FC236}">
                  <a16:creationId xmlns="" xmlns:a16="http://schemas.microsoft.com/office/drawing/2014/main" id="{8B70E4A1-46BB-CABD-8BDA-7B2784ECACE2}"/>
                </a:ext>
              </a:extLst>
            </p:cNvPr>
            <p:cNvSpPr/>
            <p:nvPr/>
          </p:nvSpPr>
          <p:spPr>
            <a:xfrm>
              <a:off x="9185121" y="4191612"/>
              <a:ext cx="1169418" cy="422029"/>
            </a:xfrm>
            <a:prstGeom prst="wedgeRectCallout">
              <a:avLst>
                <a:gd name="adj1" fmla="val -44165"/>
                <a:gd name="adj2" fmla="val 111702"/>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sz="1400" dirty="0">
                  <a:solidFill>
                    <a:schemeClr val="tx1"/>
                  </a:solidFill>
                </a:rPr>
                <a:t>Resultado do treinamento</a:t>
              </a:r>
              <a:endParaRPr lang="en-US" sz="1400" dirty="0">
                <a:solidFill>
                  <a:schemeClr val="tx1"/>
                </a:solidFill>
              </a:endParaRPr>
            </a:p>
          </p:txBody>
        </p:sp>
        <p:sp>
          <p:nvSpPr>
            <p:cNvPr id="19" name="Elipse 20">
              <a:extLst>
                <a:ext uri="{FF2B5EF4-FFF2-40B4-BE49-F238E27FC236}">
                  <a16:creationId xmlns="" xmlns:a16="http://schemas.microsoft.com/office/drawing/2014/main" id="{AF1688CE-E051-1B2F-F3DC-5691CDD19335}"/>
                </a:ext>
              </a:extLst>
            </p:cNvPr>
            <p:cNvSpPr/>
            <p:nvPr/>
          </p:nvSpPr>
          <p:spPr>
            <a:xfrm>
              <a:off x="3385440" y="4691272"/>
              <a:ext cx="2062066" cy="1435278"/>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523532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78E668DB-0465-1705-FB10-8262E62B0103}"/>
              </a:ext>
            </a:extLst>
          </p:cNvPr>
          <p:cNvSpPr>
            <a:spLocks noGrp="1"/>
          </p:cNvSpPr>
          <p:nvPr>
            <p:ph idx="1"/>
          </p:nvPr>
        </p:nvSpPr>
        <p:spPr>
          <a:xfrm>
            <a:off x="838200" y="2567441"/>
            <a:ext cx="10515600" cy="1723118"/>
          </a:xfrm>
        </p:spPr>
        <p:txBody>
          <a:bodyPr>
            <a:normAutofit/>
          </a:bodyPr>
          <a:lstStyle/>
          <a:p>
            <a:pPr marL="0" indent="0" algn="ctr">
              <a:buNone/>
            </a:pPr>
            <a:r>
              <a:rPr lang="pt-BR" sz="5400" i="1" dirty="0"/>
              <a:t>Qual função o algoritmo de ML </a:t>
            </a:r>
            <a:r>
              <a:rPr lang="pt-BR" sz="5400" i="1" dirty="0" smtClean="0"/>
              <a:t>aprenderia?</a:t>
            </a:r>
            <a:endParaRPr lang="en-US" sz="5400" i="1" dirty="0"/>
          </a:p>
        </p:txBody>
      </p:sp>
    </p:spTree>
    <p:extLst>
      <p:ext uri="{BB962C8B-B14F-4D97-AF65-F5344CB8AC3E}">
        <p14:creationId xmlns:p14="http://schemas.microsoft.com/office/powerpoint/2010/main" val="12446442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40007D5F-2B79-7F28-78EB-768CF7DED4A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49BFDADB-F975-06A9-BAD0-DFA20713AEED}"/>
              </a:ext>
            </a:extLst>
          </p:cNvPr>
          <p:cNvSpPr>
            <a:spLocks noGrp="1"/>
          </p:cNvSpPr>
          <p:nvPr>
            <p:ph type="title"/>
          </p:nvPr>
        </p:nvSpPr>
        <p:spPr/>
        <p:txBody>
          <a:bodyPr/>
          <a:lstStyle/>
          <a:p>
            <a:r>
              <a:rPr lang="pt-BR" dirty="0"/>
              <a:t>Generalização</a:t>
            </a:r>
            <a:endParaRPr lang="en-US"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 xmlns:a16="http://schemas.microsoft.com/office/drawing/2014/main" id="{C1F7B99B-805F-5153-8094-53157C98D7F1}"/>
                  </a:ext>
                </a:extLst>
              </p:cNvPr>
              <p:cNvSpPr>
                <a:spLocks noGrp="1"/>
              </p:cNvSpPr>
              <p:nvPr>
                <p:ph idx="1"/>
              </p:nvPr>
            </p:nvSpPr>
            <p:spPr>
              <a:xfrm>
                <a:off x="838200" y="1825624"/>
                <a:ext cx="11245948" cy="2283346"/>
              </a:xfrm>
            </p:spPr>
            <p:txBody>
              <a:bodyPr>
                <a:normAutofit/>
              </a:bodyPr>
              <a:lstStyle/>
              <a:p>
                <a:r>
                  <a:rPr lang="pt-BR" dirty="0" smtClean="0"/>
                  <a:t>Após o treinamento com o conjunto de experiências prévias, i.e., o </a:t>
                </a:r>
                <a:r>
                  <a:rPr lang="pt-BR" i="1" dirty="0"/>
                  <a:t>dataset</a:t>
                </a:r>
                <a:r>
                  <a:rPr lang="pt-BR" dirty="0"/>
                  <a:t>, o algoritmo de ML </a:t>
                </a:r>
                <a:r>
                  <a:rPr lang="pt-BR" b="1" dirty="0"/>
                  <a:t>aprende</a:t>
                </a:r>
                <a:r>
                  <a:rPr lang="pt-BR" dirty="0"/>
                  <a:t> que um </a:t>
                </a:r>
                <a:r>
                  <a:rPr lang="pt-BR" b="1" dirty="0">
                    <a:solidFill>
                      <a:srgbClr val="7030A0"/>
                    </a:solidFill>
                  </a:rPr>
                  <a:t>reta</a:t>
                </a:r>
                <a:r>
                  <a:rPr lang="pt-BR" dirty="0"/>
                  <a:t> </a:t>
                </a:r>
                <a:r>
                  <a:rPr lang="pt-BR" b="1" dirty="0"/>
                  <a:t>captura o comportamento geral</a:t>
                </a:r>
                <a:r>
                  <a:rPr lang="pt-BR" dirty="0"/>
                  <a:t>, fazendo um bom mapeamento entre </a:t>
                </a:r>
                <a14:m>
                  <m:oMath xmlns:m="http://schemas.openxmlformats.org/officeDocument/2006/math">
                    <m:r>
                      <a:rPr lang="pt-BR" b="0" i="1" smtClean="0">
                        <a:latin typeface="Cambria Math" panose="02040503050406030204" pitchFamily="18" charset="0"/>
                      </a:rPr>
                      <m:t>𝑥</m:t>
                    </m:r>
                  </m:oMath>
                </a14:m>
                <a:r>
                  <a:rPr lang="pt-BR" dirty="0"/>
                  <a:t> e </a:t>
                </a:r>
                <a14:m>
                  <m:oMath xmlns:m="http://schemas.openxmlformats.org/officeDocument/2006/math">
                    <m:r>
                      <a:rPr lang="pt-BR" b="0" i="1" smtClean="0">
                        <a:latin typeface="Cambria Math" panose="02040503050406030204" pitchFamily="18" charset="0"/>
                      </a:rPr>
                      <m:t>𝑦</m:t>
                    </m:r>
                  </m:oMath>
                </a14:m>
                <a:r>
                  <a:rPr lang="pt-BR" dirty="0" smtClean="0"/>
                  <a:t>.</a:t>
                </a:r>
              </a:p>
              <a:p>
                <a:r>
                  <a:rPr lang="pt-BR" dirty="0" smtClean="0"/>
                  <a:t>O algoritmo de ML </a:t>
                </a:r>
                <a:r>
                  <a:rPr lang="pt-BR" b="1" dirty="0" smtClean="0">
                    <a:solidFill>
                      <a:srgbClr val="00B050"/>
                    </a:solidFill>
                  </a:rPr>
                  <a:t>encontra a melhor equação e os seus respectivos pesos</a:t>
                </a:r>
                <a:r>
                  <a:rPr lang="pt-BR" dirty="0" smtClean="0"/>
                  <a:t>.</a:t>
                </a:r>
                <a:endParaRPr lang="pt-BR" dirty="0"/>
              </a:p>
            </p:txBody>
          </p:sp>
        </mc:Choice>
        <mc:Fallback xmlns="">
          <p:sp>
            <p:nvSpPr>
              <p:cNvPr id="4" name="Content Placeholder 3">
                <a:extLst>
                  <a:ext uri="{FF2B5EF4-FFF2-40B4-BE49-F238E27FC236}">
                    <a16:creationId xmlns:a16="http://schemas.microsoft.com/office/drawing/2014/main" xmlns="" xmlns:a14="http://schemas.microsoft.com/office/drawing/2010/main" id="{C1F7B99B-805F-5153-8094-53157C98D7F1}"/>
                  </a:ext>
                </a:extLst>
              </p:cNvPr>
              <p:cNvSpPr>
                <a:spLocks noGrp="1" noRot="1" noChangeAspect="1" noMove="1" noResize="1" noEditPoints="1" noAdjustHandles="1" noChangeArrowheads="1" noChangeShapeType="1" noTextEdit="1"/>
              </p:cNvSpPr>
              <p:nvPr>
                <p:ph idx="1"/>
              </p:nvPr>
            </p:nvSpPr>
            <p:spPr>
              <a:xfrm>
                <a:off x="838200" y="1825624"/>
                <a:ext cx="11245948" cy="2283346"/>
              </a:xfrm>
              <a:blipFill rotWithShape="0">
                <a:blip r:embed="rId3"/>
                <a:stretch>
                  <a:fillRect l="-976" t="-4267" b="-1067"/>
                </a:stretch>
              </a:blipFill>
            </p:spPr>
            <p:txBody>
              <a:bodyPr/>
              <a:lstStyle/>
              <a:p>
                <a:r>
                  <a:rPr lang="pt-BR">
                    <a:noFill/>
                  </a:rPr>
                  <a:t> </a:t>
                </a:r>
              </a:p>
            </p:txBody>
          </p:sp>
        </mc:Fallback>
      </mc:AlternateContent>
      <p:grpSp>
        <p:nvGrpSpPr>
          <p:cNvPr id="3" name="Grupo 2"/>
          <p:cNvGrpSpPr/>
          <p:nvPr/>
        </p:nvGrpSpPr>
        <p:grpSpPr>
          <a:xfrm>
            <a:off x="321991" y="4286267"/>
            <a:ext cx="11530497" cy="2095623"/>
            <a:chOff x="293855" y="4117451"/>
            <a:chExt cx="11530497" cy="2095623"/>
          </a:xfrm>
        </p:grpSpPr>
        <p:pic>
          <p:nvPicPr>
            <p:cNvPr id="5" name="Picture 2">
              <a:extLst>
                <a:ext uri="{FF2B5EF4-FFF2-40B4-BE49-F238E27FC236}">
                  <a16:creationId xmlns="" xmlns:a16="http://schemas.microsoft.com/office/drawing/2014/main" id="{B96E9496-5DA4-8C14-5412-43E174C0B68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293855" y="4117451"/>
              <a:ext cx="2979222" cy="2095623"/>
            </a:xfrm>
            <a:prstGeom prst="rect">
              <a:avLst/>
            </a:prstGeom>
            <a:noFill/>
            <a:extLst>
              <a:ext uri="{909E8E84-426E-40DD-AFC4-6F175D3DCCD1}">
                <a14:hiddenFill xmlns:a14="http://schemas.microsoft.com/office/drawing/2010/main">
                  <a:solidFill>
                    <a:srgbClr val="FFFFFF"/>
                  </a:solidFill>
                </a14:hiddenFill>
              </a:ext>
            </a:extLst>
          </p:spPr>
        </p:pic>
        <p:sp>
          <p:nvSpPr>
            <p:cNvPr id="13" name="Rectangle 12">
              <a:extLst>
                <a:ext uri="{FF2B5EF4-FFF2-40B4-BE49-F238E27FC236}">
                  <a16:creationId xmlns="" xmlns:a16="http://schemas.microsoft.com/office/drawing/2014/main" id="{08C3E2DB-4B3C-3D41-88C2-06BC96F102D7}"/>
                </a:ext>
              </a:extLst>
            </p:cNvPr>
            <p:cNvSpPr/>
            <p:nvPr/>
          </p:nvSpPr>
          <p:spPr>
            <a:xfrm>
              <a:off x="5309165" y="465278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14" name="TextBox 13">
              <a:extLst>
                <a:ext uri="{FF2B5EF4-FFF2-40B4-BE49-F238E27FC236}">
                  <a16:creationId xmlns="" xmlns:a16="http://schemas.microsoft.com/office/drawing/2014/main" id="{C7DC48CB-1632-94C8-DADF-CCE2294CF433}"/>
                </a:ext>
              </a:extLst>
            </p:cNvPr>
            <p:cNvSpPr txBox="1"/>
            <p:nvPr/>
          </p:nvSpPr>
          <p:spPr>
            <a:xfrm>
              <a:off x="4481166" y="4121201"/>
              <a:ext cx="3524518" cy="461665"/>
            </a:xfrm>
            <a:prstGeom prst="rect">
              <a:avLst/>
            </a:prstGeom>
            <a:noFill/>
          </p:spPr>
          <p:txBody>
            <a:bodyPr wrap="square" rtlCol="0">
              <a:spAutoFit/>
            </a:bodyPr>
            <a:lstStyle/>
            <a:p>
              <a:pPr algn="ctr"/>
              <a:r>
                <a:rPr lang="pt-BR" sz="2400" b="1" dirty="0"/>
                <a:t>Aprendizado de Máquina</a:t>
              </a:r>
            </a:p>
          </p:txBody>
        </p:sp>
        <p:cxnSp>
          <p:nvCxnSpPr>
            <p:cNvPr id="18" name="Straight Arrow Connector 17">
              <a:extLst>
                <a:ext uri="{FF2B5EF4-FFF2-40B4-BE49-F238E27FC236}">
                  <a16:creationId xmlns="" xmlns:a16="http://schemas.microsoft.com/office/drawing/2014/main" id="{9779BBCC-1B7B-FBBE-C3F8-3B284F666F1E}"/>
                </a:ext>
              </a:extLst>
            </p:cNvPr>
            <p:cNvCxnSpPr>
              <a:cxnSpLocks/>
            </p:cNvCxnSpPr>
            <p:nvPr/>
          </p:nvCxnSpPr>
          <p:spPr>
            <a:xfrm>
              <a:off x="4481165" y="48324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 xmlns:a16="http://schemas.microsoft.com/office/drawing/2014/main" id="{D05E51F5-A5EC-B79B-EEEE-F7A236B624A1}"/>
                </a:ext>
              </a:extLst>
            </p:cNvPr>
            <p:cNvCxnSpPr>
              <a:cxnSpLocks/>
            </p:cNvCxnSpPr>
            <p:nvPr/>
          </p:nvCxnSpPr>
          <p:spPr>
            <a:xfrm>
              <a:off x="4481165" y="532770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 xmlns:a16="http://schemas.microsoft.com/office/drawing/2014/main" id="{41E1F7CC-C3A8-0FEE-1271-9F6CD6071EB6}"/>
                    </a:ext>
                  </a:extLst>
                </p:cNvPr>
                <p:cNvSpPr txBox="1"/>
                <p:nvPr/>
              </p:nvSpPr>
              <p:spPr>
                <a:xfrm>
                  <a:off x="3441579" y="4533512"/>
                  <a:ext cx="1039586" cy="615553"/>
                </a:xfrm>
                <a:prstGeom prst="rect">
                  <a:avLst/>
                </a:prstGeom>
                <a:noFill/>
              </p:spPr>
              <p:txBody>
                <a:bodyPr wrap="square" rtlCol="0">
                  <a:spAutoFit/>
                </a:bodyPr>
                <a:lstStyle/>
                <a:p>
                  <a:pPr algn="ctr"/>
                  <a:r>
                    <a:rPr lang="pt-BR" dirty="0"/>
                    <a:t>Entradas</a:t>
                  </a:r>
                </a:p>
                <a:p>
                  <a:pPr algn="ctr"/>
                  <a:r>
                    <a:rPr lang="pt-BR" sz="1600" dirty="0"/>
                    <a:t>(i.e., </a:t>
                  </a:r>
                  <a14:m>
                    <m:oMath xmlns:m="http://schemas.openxmlformats.org/officeDocument/2006/math">
                      <m:r>
                        <a:rPr lang="pt-BR" sz="1600" i="1">
                          <a:latin typeface="Cambria Math" panose="02040503050406030204" pitchFamily="18" charset="0"/>
                        </a:rPr>
                        <m:t>𝑥</m:t>
                      </m:r>
                    </m:oMath>
                  </a14:m>
                  <a:r>
                    <a:rPr lang="pt-BR" sz="1600" dirty="0"/>
                    <a:t>)</a:t>
                  </a:r>
                </a:p>
              </p:txBody>
            </p:sp>
          </mc:Choice>
          <mc:Fallback xmlns="">
            <p:sp>
              <p:nvSpPr>
                <p:cNvPr id="23" name="TextBox 22">
                  <a:extLst>
                    <a:ext uri="{FF2B5EF4-FFF2-40B4-BE49-F238E27FC236}">
                      <a16:creationId xmlns:a16="http://schemas.microsoft.com/office/drawing/2014/main" id="{41E1F7CC-C3A8-0FEE-1271-9F6CD6071EB6}"/>
                    </a:ext>
                  </a:extLst>
                </p:cNvPr>
                <p:cNvSpPr txBox="1">
                  <a:spLocks noRot="1" noChangeAspect="1" noMove="1" noResize="1" noEditPoints="1" noAdjustHandles="1" noChangeArrowheads="1" noChangeShapeType="1" noTextEdit="1"/>
                </p:cNvSpPr>
                <p:nvPr/>
              </p:nvSpPr>
              <p:spPr>
                <a:xfrm>
                  <a:off x="3441579" y="4533512"/>
                  <a:ext cx="1039586" cy="615553"/>
                </a:xfrm>
                <a:prstGeom prst="rect">
                  <a:avLst/>
                </a:prstGeom>
                <a:blipFill>
                  <a:blip r:embed="rId5"/>
                  <a:stretch>
                    <a:fillRect l="-4118" t="-5941" r="-2941" b="-118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 xmlns:a16="http://schemas.microsoft.com/office/drawing/2014/main" id="{037802A4-329E-9EC8-B4BC-08F95E28DD6B}"/>
                    </a:ext>
                  </a:extLst>
                </p:cNvPr>
                <p:cNvSpPr txBox="1"/>
                <p:nvPr/>
              </p:nvSpPr>
              <p:spPr>
                <a:xfrm>
                  <a:off x="3170874" y="5034422"/>
                  <a:ext cx="1512176" cy="923330"/>
                </a:xfrm>
                <a:prstGeom prst="rect">
                  <a:avLst/>
                </a:prstGeom>
                <a:noFill/>
              </p:spPr>
              <p:txBody>
                <a:bodyPr wrap="square" rtlCol="0">
                  <a:spAutoFit/>
                </a:bodyPr>
                <a:lstStyle/>
                <a:p>
                  <a:pPr algn="ctr"/>
                  <a:r>
                    <a:rPr lang="pt-BR" dirty="0"/>
                    <a:t>Resultados esperados</a:t>
                  </a:r>
                </a:p>
                <a:p>
                  <a:pPr algn="ctr"/>
                  <a:r>
                    <a:rPr lang="pt-BR" sz="1600" dirty="0"/>
                    <a:t>(i.e., </a:t>
                  </a:r>
                  <a14:m>
                    <m:oMath xmlns:m="http://schemas.openxmlformats.org/officeDocument/2006/math">
                      <m:r>
                        <a:rPr lang="pt-BR" sz="1600" i="1">
                          <a:latin typeface="Cambria Math" panose="02040503050406030204" pitchFamily="18" charset="0"/>
                        </a:rPr>
                        <m:t>𝑦</m:t>
                      </m:r>
                    </m:oMath>
                  </a14:m>
                  <a:r>
                    <a:rPr lang="pt-BR" sz="1600" dirty="0"/>
                    <a:t>)</a:t>
                  </a:r>
                </a:p>
              </p:txBody>
            </p:sp>
          </mc:Choice>
          <mc:Fallback xmlns="">
            <p:sp>
              <p:nvSpPr>
                <p:cNvPr id="24" name="TextBox 23">
                  <a:extLst>
                    <a:ext uri="{FF2B5EF4-FFF2-40B4-BE49-F238E27FC236}">
                      <a16:creationId xmlns:a16="http://schemas.microsoft.com/office/drawing/2014/main" id="{037802A4-329E-9EC8-B4BC-08F95E28DD6B}"/>
                    </a:ext>
                  </a:extLst>
                </p:cNvPr>
                <p:cNvSpPr txBox="1">
                  <a:spLocks noRot="1" noChangeAspect="1" noMove="1" noResize="1" noEditPoints="1" noAdjustHandles="1" noChangeArrowheads="1" noChangeShapeType="1" noTextEdit="1"/>
                </p:cNvSpPr>
                <p:nvPr/>
              </p:nvSpPr>
              <p:spPr>
                <a:xfrm>
                  <a:off x="3170874" y="5034422"/>
                  <a:ext cx="1512176" cy="923330"/>
                </a:xfrm>
                <a:prstGeom prst="rect">
                  <a:avLst/>
                </a:prstGeom>
                <a:blipFill>
                  <a:blip r:embed="rId6"/>
                  <a:stretch>
                    <a:fillRect t="-3974" b="-4636"/>
                  </a:stretch>
                </a:blipFill>
              </p:spPr>
              <p:txBody>
                <a:bodyPr/>
                <a:lstStyle/>
                <a:p>
                  <a:r>
                    <a:rPr lang="en-US">
                      <a:noFill/>
                    </a:rPr>
                    <a:t> </a:t>
                  </a:r>
                </a:p>
              </p:txBody>
            </p:sp>
          </mc:Fallback>
        </mc:AlternateContent>
        <p:cxnSp>
          <p:nvCxnSpPr>
            <p:cNvPr id="25" name="Straight Arrow Connector 24">
              <a:extLst>
                <a:ext uri="{FF2B5EF4-FFF2-40B4-BE49-F238E27FC236}">
                  <a16:creationId xmlns="" xmlns:a16="http://schemas.microsoft.com/office/drawing/2014/main" id="{50F82B10-8FBD-15EB-B02C-EC682537B458}"/>
                </a:ext>
              </a:extLst>
            </p:cNvPr>
            <p:cNvCxnSpPr>
              <a:cxnSpLocks/>
            </p:cNvCxnSpPr>
            <p:nvPr/>
          </p:nvCxnSpPr>
          <p:spPr>
            <a:xfrm>
              <a:off x="7219608" y="507733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 xmlns:a16="http://schemas.microsoft.com/office/drawing/2014/main" id="{8EA56A83-63F2-A4C2-2C85-96ABBA97CCF0}"/>
                    </a:ext>
                  </a:extLst>
                </p:cNvPr>
                <p:cNvSpPr txBox="1"/>
                <p:nvPr/>
              </p:nvSpPr>
              <p:spPr>
                <a:xfrm>
                  <a:off x="7237811" y="5077330"/>
                  <a:ext cx="1619593" cy="584775"/>
                </a:xfrm>
                <a:prstGeom prst="rect">
                  <a:avLst/>
                </a:prstGeom>
                <a:noFill/>
              </p:spPr>
              <p:txBody>
                <a:bodyPr wrap="square" rtlCol="0">
                  <a:spAutoFit/>
                </a:bodyPr>
                <a:lstStyle/>
                <a:p>
                  <a:pPr algn="ctr"/>
                  <a:r>
                    <a:rPr lang="pt-BR" b="1" dirty="0">
                      <a:solidFill>
                        <a:srgbClr val="FF0000"/>
                      </a:solidFill>
                    </a:rPr>
                    <a:t>Modelo de ML</a:t>
                  </a:r>
                </a:p>
                <a:p>
                  <a:pPr algn="ctr"/>
                  <a:r>
                    <a:rPr lang="pt-BR" sz="1400" dirty="0"/>
                    <a:t>i.e., </a:t>
                  </a:r>
                  <a14:m>
                    <m:oMath xmlns:m="http://schemas.openxmlformats.org/officeDocument/2006/math">
                      <m:r>
                        <a:rPr lang="pt-BR" sz="1400" i="1">
                          <a:latin typeface="Cambria Math" panose="02040503050406030204" pitchFamily="18" charset="0"/>
                        </a:rPr>
                        <m:t>𝑓</m:t>
                      </m:r>
                      <m:d>
                        <m:dPr>
                          <m:ctrlPr>
                            <a:rPr lang="pt-BR" sz="1400" i="1">
                              <a:latin typeface="Cambria Math" panose="02040503050406030204" pitchFamily="18" charset="0"/>
                            </a:rPr>
                          </m:ctrlPr>
                        </m:dPr>
                        <m:e>
                          <m:r>
                            <a:rPr lang="pt-BR" sz="1400" i="1">
                              <a:latin typeface="Cambria Math" panose="02040503050406030204" pitchFamily="18" charset="0"/>
                            </a:rPr>
                            <m:t>𝑥</m:t>
                          </m:r>
                        </m:e>
                      </m:d>
                      <m:r>
                        <a:rPr lang="pt-BR" sz="1400" b="0" i="1" smtClean="0">
                          <a:latin typeface="Cambria Math" panose="02040503050406030204" pitchFamily="18" charset="0"/>
                        </a:rPr>
                        <m:t>=</m:t>
                      </m:r>
                      <m:r>
                        <a:rPr lang="pt-BR" sz="1400" b="0" i="1" smtClean="0">
                          <a:latin typeface="Cambria Math" panose="02040503050406030204" pitchFamily="18" charset="0"/>
                        </a:rPr>
                        <m:t>𝑎𝑥</m:t>
                      </m:r>
                      <m:r>
                        <a:rPr lang="pt-BR" sz="1400" b="0" i="1" smtClean="0">
                          <a:latin typeface="Cambria Math" panose="02040503050406030204" pitchFamily="18" charset="0"/>
                        </a:rPr>
                        <m:t>+</m:t>
                      </m:r>
                      <m:r>
                        <a:rPr lang="pt-BR" sz="1400" b="0" i="1" smtClean="0">
                          <a:latin typeface="Cambria Math" panose="02040503050406030204" pitchFamily="18" charset="0"/>
                        </a:rPr>
                        <m:t>𝑏</m:t>
                      </m:r>
                    </m:oMath>
                  </a14:m>
                  <a:endParaRPr lang="pt-BR" sz="1400" dirty="0"/>
                </a:p>
              </p:txBody>
            </p:sp>
          </mc:Choice>
          <mc:Fallback xmlns="">
            <p:sp>
              <p:nvSpPr>
                <p:cNvPr id="26" name="TextBox 25">
                  <a:extLst>
                    <a:ext uri="{FF2B5EF4-FFF2-40B4-BE49-F238E27FC236}">
                      <a16:creationId xmlns:a16="http://schemas.microsoft.com/office/drawing/2014/main" id="{8EA56A83-63F2-A4C2-2C85-96ABBA97CCF0}"/>
                    </a:ext>
                  </a:extLst>
                </p:cNvPr>
                <p:cNvSpPr txBox="1">
                  <a:spLocks noRot="1" noChangeAspect="1" noMove="1" noResize="1" noEditPoints="1" noAdjustHandles="1" noChangeArrowheads="1" noChangeShapeType="1" noTextEdit="1"/>
                </p:cNvSpPr>
                <p:nvPr/>
              </p:nvSpPr>
              <p:spPr>
                <a:xfrm>
                  <a:off x="7237811" y="5077330"/>
                  <a:ext cx="1619593" cy="584775"/>
                </a:xfrm>
                <a:prstGeom prst="rect">
                  <a:avLst/>
                </a:prstGeom>
                <a:blipFill>
                  <a:blip r:embed="rId7"/>
                  <a:stretch>
                    <a:fillRect l="-1128" t="-6250" r="-1504" b="-9375"/>
                  </a:stretch>
                </a:blipFill>
              </p:spPr>
              <p:txBody>
                <a:bodyPr/>
                <a:lstStyle/>
                <a:p>
                  <a:r>
                    <a:rPr lang="en-US">
                      <a:noFill/>
                    </a:rPr>
                    <a:t> </a:t>
                  </a:r>
                </a:p>
              </p:txBody>
            </p:sp>
          </mc:Fallback>
        </mc:AlternateContent>
        <p:pic>
          <p:nvPicPr>
            <p:cNvPr id="37" name="Imagem 6">
              <a:extLst>
                <a:ext uri="{FF2B5EF4-FFF2-40B4-BE49-F238E27FC236}">
                  <a16:creationId xmlns="" xmlns:a16="http://schemas.microsoft.com/office/drawing/2014/main" id="{856E9CAF-429A-E7D4-7767-18A21E043561}"/>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3463" t="9957" r="8514"/>
            <a:stretch/>
          </p:blipFill>
          <p:spPr>
            <a:xfrm>
              <a:off x="8875607" y="4202127"/>
              <a:ext cx="2948745" cy="2010947"/>
            </a:xfrm>
            <a:prstGeom prst="rect">
              <a:avLst/>
            </a:prstGeom>
          </p:spPr>
        </p:pic>
        <p:cxnSp>
          <p:nvCxnSpPr>
            <p:cNvPr id="41" name="Straight Arrow Connector 40">
              <a:extLst>
                <a:ext uri="{FF2B5EF4-FFF2-40B4-BE49-F238E27FC236}">
                  <a16:creationId xmlns="" xmlns:a16="http://schemas.microsoft.com/office/drawing/2014/main" id="{DF7D440B-1ED1-E64C-F1E7-94ADF8A26873}"/>
                </a:ext>
              </a:extLst>
            </p:cNvPr>
            <p:cNvCxnSpPr>
              <a:cxnSpLocks/>
            </p:cNvCxnSpPr>
            <p:nvPr/>
          </p:nvCxnSpPr>
          <p:spPr>
            <a:xfrm flipV="1">
              <a:off x="8763000" y="5327702"/>
              <a:ext cx="1306286" cy="174171"/>
            </a:xfrm>
            <a:prstGeom prst="straightConnector1">
              <a:avLst/>
            </a:prstGeom>
            <a:ln w="19050">
              <a:solidFill>
                <a:srgbClr val="FF0000"/>
              </a:solidFill>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1148248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200" y="1825625"/>
            <a:ext cx="11274824" cy="2323495"/>
          </a:xfrm>
        </p:spPr>
        <p:txBody>
          <a:bodyPr>
            <a:normAutofit/>
          </a:bodyPr>
          <a:lstStyle/>
          <a:p>
            <a:r>
              <a:rPr lang="pt-BR" dirty="0"/>
              <a:t>Agora, o proprietário pode usar o modelo aprendido (i.e., </a:t>
            </a:r>
            <a:r>
              <a:rPr lang="pt-BR" dirty="0" smtClean="0"/>
              <a:t>a reta</a:t>
            </a:r>
            <a:r>
              <a:rPr lang="pt-BR" dirty="0"/>
              <a:t>) para fazer </a:t>
            </a:r>
            <a:r>
              <a:rPr lang="pt-BR" b="1" dirty="0">
                <a:solidFill>
                  <a:schemeClr val="accent2"/>
                </a:solidFill>
              </a:rPr>
              <a:t>inferências</a:t>
            </a:r>
            <a:r>
              <a:rPr lang="pt-BR" dirty="0">
                <a:solidFill>
                  <a:schemeClr val="accent2"/>
                </a:solidFill>
              </a:rPr>
              <a:t> </a:t>
            </a:r>
            <a:r>
              <a:rPr lang="pt-BR" dirty="0"/>
              <a:t>todas as manhãs.</a:t>
            </a:r>
          </a:p>
          <a:p>
            <a:r>
              <a:rPr lang="pt-BR" dirty="0"/>
              <a:t>Mas será que o modelo generaliza bem</a:t>
            </a:r>
            <a:r>
              <a:rPr lang="pt-BR" dirty="0" smtClean="0"/>
              <a:t>?</a:t>
            </a:r>
          </a:p>
          <a:p>
            <a:pPr lvl="1">
              <a:buFont typeface="Wingdings" panose="05000000000000000000" pitchFamily="2" charset="2"/>
              <a:buChar char="§"/>
            </a:pPr>
            <a:r>
              <a:rPr lang="pt-BR" dirty="0" smtClean="0"/>
              <a:t>Como verificamos se o modelo tem uma boa capacidade de generalização?</a:t>
            </a:r>
            <a:endParaRPr lang="pt-BR" dirty="0"/>
          </a:p>
        </p:txBody>
      </p:sp>
      <p:sp>
        <p:nvSpPr>
          <p:cNvPr id="4" name="Rectangle 12">
            <a:extLst>
              <a:ext uri="{FF2B5EF4-FFF2-40B4-BE49-F238E27FC236}">
                <a16:creationId xmlns="" xmlns:a16="http://schemas.microsoft.com/office/drawing/2014/main" id="{A64DCE33-7BD5-8002-FA2A-E2672FBE8BCB}"/>
              </a:ext>
            </a:extLst>
          </p:cNvPr>
          <p:cNvSpPr/>
          <p:nvPr/>
        </p:nvSpPr>
        <p:spPr>
          <a:xfrm>
            <a:off x="4915988" y="4518454"/>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 </a:t>
            </a:r>
            <a:r>
              <a:rPr lang="pt-BR" b="1" dirty="0">
                <a:solidFill>
                  <a:srgbClr val="00B0F0"/>
                </a:solidFill>
              </a:rPr>
              <a:t>treinado</a:t>
            </a:r>
          </a:p>
          <a:p>
            <a:pPr algn="ctr"/>
            <a:r>
              <a:rPr lang="pt-BR" sz="1400" b="1" dirty="0">
                <a:solidFill>
                  <a:srgbClr val="7030A0"/>
                </a:solidFill>
              </a:rPr>
              <a:t>(reta)</a:t>
            </a:r>
            <a:endParaRPr lang="pt-BR" b="1" dirty="0">
              <a:solidFill>
                <a:srgbClr val="7030A0"/>
              </a:solidFill>
            </a:endParaRPr>
          </a:p>
        </p:txBody>
      </p:sp>
      <p:sp>
        <p:nvSpPr>
          <p:cNvPr id="5" name="TextBox 13">
            <a:extLst>
              <a:ext uri="{FF2B5EF4-FFF2-40B4-BE49-F238E27FC236}">
                <a16:creationId xmlns="" xmlns:a16="http://schemas.microsoft.com/office/drawing/2014/main" id="{FAA24FCF-A5AE-CF14-18FE-0E930B6C1248}"/>
              </a:ext>
            </a:extLst>
          </p:cNvPr>
          <p:cNvSpPr txBox="1"/>
          <p:nvPr/>
        </p:nvSpPr>
        <p:spPr>
          <a:xfrm>
            <a:off x="4087989" y="3986868"/>
            <a:ext cx="3524518" cy="461665"/>
          </a:xfrm>
          <a:prstGeom prst="rect">
            <a:avLst/>
          </a:prstGeom>
          <a:noFill/>
        </p:spPr>
        <p:txBody>
          <a:bodyPr wrap="square" rtlCol="0">
            <a:spAutoFit/>
          </a:bodyPr>
          <a:lstStyle/>
          <a:p>
            <a:pPr algn="ctr"/>
            <a:r>
              <a:rPr lang="pt-BR" sz="2400" b="1" dirty="0"/>
              <a:t>Aprendizado de Máquina</a:t>
            </a:r>
          </a:p>
        </p:txBody>
      </p:sp>
      <p:cxnSp>
        <p:nvCxnSpPr>
          <p:cNvPr id="12" name="Straight Arrow Connector 14">
            <a:extLst>
              <a:ext uri="{FF2B5EF4-FFF2-40B4-BE49-F238E27FC236}">
                <a16:creationId xmlns="" xmlns:a16="http://schemas.microsoft.com/office/drawing/2014/main" id="{8C4B33E8-FD22-BFDB-81FC-955194D0CA37}"/>
              </a:ext>
            </a:extLst>
          </p:cNvPr>
          <p:cNvCxnSpPr/>
          <p:nvPr/>
        </p:nvCxnSpPr>
        <p:spPr>
          <a:xfrm>
            <a:off x="4087988"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 name="TextBox 16">
            <a:extLst>
              <a:ext uri="{FF2B5EF4-FFF2-40B4-BE49-F238E27FC236}">
                <a16:creationId xmlns="" xmlns:a16="http://schemas.microsoft.com/office/drawing/2014/main" id="{9DFE0896-6E0A-A6DD-DBEE-BFD5AA462837}"/>
              </a:ext>
            </a:extLst>
          </p:cNvPr>
          <p:cNvSpPr txBox="1"/>
          <p:nvPr/>
        </p:nvSpPr>
        <p:spPr>
          <a:xfrm>
            <a:off x="3259988" y="4566034"/>
            <a:ext cx="999567" cy="646331"/>
          </a:xfrm>
          <a:prstGeom prst="rect">
            <a:avLst/>
          </a:prstGeom>
          <a:noFill/>
        </p:spPr>
        <p:txBody>
          <a:bodyPr wrap="square" rtlCol="0">
            <a:spAutoFit/>
          </a:bodyPr>
          <a:lstStyle/>
          <a:p>
            <a:pPr algn="ctr"/>
            <a:r>
              <a:rPr lang="pt-BR" b="1" dirty="0">
                <a:solidFill>
                  <a:srgbClr val="00B0F0"/>
                </a:solidFill>
              </a:rPr>
              <a:t>Entrada inédita</a:t>
            </a:r>
          </a:p>
        </p:txBody>
      </p:sp>
      <p:cxnSp>
        <p:nvCxnSpPr>
          <p:cNvPr id="14" name="Straight Arrow Connector 18">
            <a:extLst>
              <a:ext uri="{FF2B5EF4-FFF2-40B4-BE49-F238E27FC236}">
                <a16:creationId xmlns="" xmlns:a16="http://schemas.microsoft.com/office/drawing/2014/main" id="{CD1E3A80-E741-2677-57DC-CEEB750650FE}"/>
              </a:ext>
            </a:extLst>
          </p:cNvPr>
          <p:cNvCxnSpPr/>
          <p:nvPr/>
        </p:nvCxnSpPr>
        <p:spPr>
          <a:xfrm>
            <a:off x="6826431" y="4942997"/>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8" name="TextBox 19">
            <a:extLst>
              <a:ext uri="{FF2B5EF4-FFF2-40B4-BE49-F238E27FC236}">
                <a16:creationId xmlns="" xmlns:a16="http://schemas.microsoft.com/office/drawing/2014/main" id="{92B71455-10B8-EA6E-7462-7FD104D78F77}"/>
              </a:ext>
            </a:extLst>
          </p:cNvPr>
          <p:cNvSpPr txBox="1"/>
          <p:nvPr/>
        </p:nvSpPr>
        <p:spPr>
          <a:xfrm>
            <a:off x="7544999" y="4727244"/>
            <a:ext cx="1226725" cy="369332"/>
          </a:xfrm>
          <a:prstGeom prst="rect">
            <a:avLst/>
          </a:prstGeom>
          <a:noFill/>
        </p:spPr>
        <p:txBody>
          <a:bodyPr wrap="square" rtlCol="0">
            <a:spAutoFit/>
          </a:bodyPr>
          <a:lstStyle/>
          <a:p>
            <a:pPr algn="ctr"/>
            <a:r>
              <a:rPr lang="pt-BR" dirty="0"/>
              <a:t>Inferência</a:t>
            </a:r>
            <a:endParaRPr lang="pt-BR" b="1" dirty="0">
              <a:solidFill>
                <a:srgbClr val="FF0000"/>
              </a:solidFill>
            </a:endParaRPr>
          </a:p>
        </p:txBody>
      </p:sp>
      <mc:AlternateContent xmlns:mc="http://schemas.openxmlformats.org/markup-compatibility/2006" xmlns:a14="http://schemas.microsoft.com/office/drawing/2010/main">
        <mc:Choice Requires="a14">
          <p:sp>
            <p:nvSpPr>
              <p:cNvPr id="20" name="CaixaDeTexto 26">
                <a:extLst>
                  <a:ext uri="{FF2B5EF4-FFF2-40B4-BE49-F238E27FC236}">
                    <a16:creationId xmlns="" xmlns:a16="http://schemas.microsoft.com/office/drawing/2014/main" id="{B26DCBB7-69BF-587F-D189-8C0F327FF069}"/>
                  </a:ext>
                </a:extLst>
              </p:cNvPr>
              <p:cNvSpPr txBox="1"/>
              <p:nvPr/>
            </p:nvSpPr>
            <p:spPr>
              <a:xfrm>
                <a:off x="173850" y="6005023"/>
                <a:ext cx="3304095" cy="738664"/>
              </a:xfrm>
              <a:prstGeom prst="rect">
                <a:avLst/>
              </a:prstGeom>
              <a:noFill/>
            </p:spPr>
            <p:txBody>
              <a:bodyPr wrap="square" rtlCol="0">
                <a:spAutoFit/>
              </a:bodyPr>
              <a:lstStyle/>
              <a:p>
                <a:pPr algn="ctr"/>
                <a:r>
                  <a:rPr lang="pt-BR" sz="1400" b="1" dirty="0">
                    <a:solidFill>
                      <a:srgbClr val="00B050"/>
                    </a:solidFill>
                  </a:rPr>
                  <a:t>Qual é a estimativa de paletas vendidas quando a temperatura é de </a:t>
                </a:r>
                <a14:m>
                  <m:oMath xmlns:m="http://schemas.openxmlformats.org/officeDocument/2006/math">
                    <m:r>
                      <a:rPr lang="pt-BR" sz="1400" b="1" i="0" smtClean="0">
                        <a:solidFill>
                          <a:srgbClr val="00B050"/>
                        </a:solidFill>
                        <a:latin typeface="Cambria Math" panose="02040503050406030204" pitchFamily="18" charset="0"/>
                        <a:ea typeface="Cambria Math" panose="02040503050406030204" pitchFamily="18" charset="0"/>
                      </a:rPr>
                      <m:t>≈</m:t>
                    </m:r>
                  </m:oMath>
                </a14:m>
                <a:r>
                  <a:rPr lang="pt-BR" sz="1400" b="1" dirty="0">
                    <a:solidFill>
                      <a:srgbClr val="00B050"/>
                    </a:solidFill>
                  </a:rPr>
                  <a:t> 6 graus </a:t>
                </a:r>
                <a:r>
                  <a:rPr lang="pt-BR" sz="1400" b="1" dirty="0">
                    <a:solidFill>
                      <a:schemeClr val="accent2"/>
                    </a:solidFill>
                  </a:rPr>
                  <a:t>(valor não visto durante o treinamento)</a:t>
                </a:r>
                <a:r>
                  <a:rPr lang="pt-BR" sz="1400" b="1" dirty="0">
                    <a:solidFill>
                      <a:srgbClr val="00B050"/>
                    </a:solidFill>
                  </a:rPr>
                  <a:t>?</a:t>
                </a:r>
              </a:p>
            </p:txBody>
          </p:sp>
        </mc:Choice>
        <mc:Fallback xmlns="">
          <p:sp>
            <p:nvSpPr>
              <p:cNvPr id="20" name="CaixaDeTexto 26">
                <a:extLst>
                  <a:ext uri="{FF2B5EF4-FFF2-40B4-BE49-F238E27FC236}">
                    <a16:creationId xmlns:a16="http://schemas.microsoft.com/office/drawing/2014/main" id="{B26DCBB7-69BF-587F-D189-8C0F327FF069}"/>
                  </a:ext>
                </a:extLst>
              </p:cNvPr>
              <p:cNvSpPr txBox="1">
                <a:spLocks noRot="1" noChangeAspect="1" noMove="1" noResize="1" noEditPoints="1" noAdjustHandles="1" noChangeArrowheads="1" noChangeShapeType="1" noTextEdit="1"/>
              </p:cNvSpPr>
              <p:nvPr/>
            </p:nvSpPr>
            <p:spPr>
              <a:xfrm>
                <a:off x="173850" y="6005023"/>
                <a:ext cx="3304095" cy="738664"/>
              </a:xfrm>
              <a:prstGeom prst="rect">
                <a:avLst/>
              </a:prstGeom>
              <a:blipFill>
                <a:blip r:embed="rId3"/>
                <a:stretch>
                  <a:fillRect t="-1653" b="-8264"/>
                </a:stretch>
              </a:blipFill>
            </p:spPr>
            <p:txBody>
              <a:bodyPr/>
              <a:lstStyle/>
              <a:p>
                <a:r>
                  <a:rPr lang="en-US">
                    <a:noFill/>
                  </a:rPr>
                  <a:t> </a:t>
                </a:r>
              </a:p>
            </p:txBody>
          </p:sp>
        </mc:Fallback>
      </mc:AlternateContent>
      <p:sp>
        <p:nvSpPr>
          <p:cNvPr id="23" name="CaixaDeTexto 28">
            <a:extLst>
              <a:ext uri="{FF2B5EF4-FFF2-40B4-BE49-F238E27FC236}">
                <a16:creationId xmlns="" xmlns:a16="http://schemas.microsoft.com/office/drawing/2014/main" id="{2FAF0970-8C9D-5310-F32C-938BE32A864D}"/>
              </a:ext>
            </a:extLst>
          </p:cNvPr>
          <p:cNvSpPr txBox="1"/>
          <p:nvPr/>
        </p:nvSpPr>
        <p:spPr>
          <a:xfrm>
            <a:off x="4087988" y="4566034"/>
            <a:ext cx="827999" cy="369332"/>
          </a:xfrm>
          <a:prstGeom prst="rect">
            <a:avLst/>
          </a:prstGeom>
          <a:noFill/>
        </p:spPr>
        <p:txBody>
          <a:bodyPr wrap="square">
            <a:spAutoFit/>
          </a:bodyPr>
          <a:lstStyle/>
          <a:p>
            <a:pPr algn="ctr"/>
            <a:r>
              <a:rPr lang="pt-BR" sz="1800" dirty="0">
                <a:solidFill>
                  <a:srgbClr val="FF0000"/>
                </a:solidFill>
              </a:rPr>
              <a:t>6</a:t>
            </a:r>
            <a:endParaRPr lang="pt-BR" dirty="0">
              <a:solidFill>
                <a:srgbClr val="FF0000"/>
              </a:solidFill>
            </a:endParaRPr>
          </a:p>
        </p:txBody>
      </p:sp>
      <p:sp>
        <p:nvSpPr>
          <p:cNvPr id="24" name="CaixaDeTexto 29">
            <a:extLst>
              <a:ext uri="{FF2B5EF4-FFF2-40B4-BE49-F238E27FC236}">
                <a16:creationId xmlns="" xmlns:a16="http://schemas.microsoft.com/office/drawing/2014/main" id="{879CA349-72B6-FA4E-F6C2-AA784127E39F}"/>
              </a:ext>
            </a:extLst>
          </p:cNvPr>
          <p:cNvSpPr txBox="1"/>
          <p:nvPr/>
        </p:nvSpPr>
        <p:spPr>
          <a:xfrm>
            <a:off x="6826430" y="4573664"/>
            <a:ext cx="828001" cy="369332"/>
          </a:xfrm>
          <a:prstGeom prst="rect">
            <a:avLst/>
          </a:prstGeom>
          <a:noFill/>
        </p:spPr>
        <p:txBody>
          <a:bodyPr wrap="square">
            <a:spAutoFit/>
          </a:bodyPr>
          <a:lstStyle/>
          <a:p>
            <a:pPr algn="ctr"/>
            <a:r>
              <a:rPr lang="pt-BR" dirty="0">
                <a:solidFill>
                  <a:srgbClr val="FF0000"/>
                </a:solidFill>
              </a:rPr>
              <a:t>23</a:t>
            </a:r>
          </a:p>
        </p:txBody>
      </p:sp>
      <p:grpSp>
        <p:nvGrpSpPr>
          <p:cNvPr id="25" name="Agrupar 35">
            <a:extLst>
              <a:ext uri="{FF2B5EF4-FFF2-40B4-BE49-F238E27FC236}">
                <a16:creationId xmlns="" xmlns:a16="http://schemas.microsoft.com/office/drawing/2014/main" id="{0EE203B6-1CB7-5294-D183-73271B2F1F88}"/>
              </a:ext>
            </a:extLst>
          </p:cNvPr>
          <p:cNvGrpSpPr/>
          <p:nvPr/>
        </p:nvGrpSpPr>
        <p:grpSpPr>
          <a:xfrm>
            <a:off x="230337" y="4031043"/>
            <a:ext cx="2861802" cy="2013028"/>
            <a:chOff x="126016" y="4182282"/>
            <a:chExt cx="2861802" cy="2013028"/>
          </a:xfrm>
        </p:grpSpPr>
        <p:pic>
          <p:nvPicPr>
            <p:cNvPr id="26" name="Picture 2">
              <a:extLst>
                <a:ext uri="{FF2B5EF4-FFF2-40B4-BE49-F238E27FC236}">
                  <a16:creationId xmlns="" xmlns:a16="http://schemas.microsoft.com/office/drawing/2014/main" id="{52FB9E87-1782-E378-7B03-FD4ABC3136A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16" r="1714"/>
            <a:stretch/>
          </p:blipFill>
          <p:spPr bwMode="auto">
            <a:xfrm>
              <a:off x="126016" y="4182282"/>
              <a:ext cx="2861802" cy="2013028"/>
            </a:xfrm>
            <a:prstGeom prst="rect">
              <a:avLst/>
            </a:prstGeom>
            <a:noFill/>
            <a:extLst>
              <a:ext uri="{909E8E84-426E-40DD-AFC4-6F175D3DCCD1}">
                <a14:hiddenFill xmlns:a14="http://schemas.microsoft.com/office/drawing/2010/main">
                  <a:solidFill>
                    <a:srgbClr val="FFFFFF"/>
                  </a:solidFill>
                </a14:hiddenFill>
              </a:ext>
            </a:extLst>
          </p:spPr>
        </p:pic>
        <p:cxnSp>
          <p:nvCxnSpPr>
            <p:cNvPr id="28" name="Conector reto 8">
              <a:extLst>
                <a:ext uri="{FF2B5EF4-FFF2-40B4-BE49-F238E27FC236}">
                  <a16:creationId xmlns="" xmlns:a16="http://schemas.microsoft.com/office/drawing/2014/main" id="{FF671E21-D3F9-EBF9-816E-882A0ED78247}"/>
                </a:ext>
              </a:extLst>
            </p:cNvPr>
            <p:cNvCxnSpPr>
              <a:cxnSpLocks/>
            </p:cNvCxnSpPr>
            <p:nvPr/>
          </p:nvCxnSpPr>
          <p:spPr>
            <a:xfrm>
              <a:off x="921532" y="4434654"/>
              <a:ext cx="0" cy="1476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32" name="CaixaDeTexto 30">
              <a:extLst>
                <a:ext uri="{FF2B5EF4-FFF2-40B4-BE49-F238E27FC236}">
                  <a16:creationId xmlns="" xmlns:a16="http://schemas.microsoft.com/office/drawing/2014/main" id="{D4D7DF61-A03A-DB85-ECC9-D7390AD933D2}"/>
                </a:ext>
              </a:extLst>
            </p:cNvPr>
            <p:cNvSpPr txBox="1"/>
            <p:nvPr/>
          </p:nvSpPr>
          <p:spPr>
            <a:xfrm>
              <a:off x="814753" y="5869491"/>
              <a:ext cx="213557" cy="261610"/>
            </a:xfrm>
            <a:prstGeom prst="rect">
              <a:avLst/>
            </a:prstGeom>
            <a:noFill/>
          </p:spPr>
          <p:txBody>
            <a:bodyPr wrap="square">
              <a:spAutoFit/>
            </a:bodyPr>
            <a:lstStyle/>
            <a:p>
              <a:pPr algn="ctr"/>
              <a:r>
                <a:rPr lang="pt-BR" sz="1050" dirty="0">
                  <a:solidFill>
                    <a:srgbClr val="FF0000"/>
                  </a:solidFill>
                </a:rPr>
                <a:t>6</a:t>
              </a:r>
            </a:p>
          </p:txBody>
        </p:sp>
      </p:grpSp>
      <p:sp>
        <p:nvSpPr>
          <p:cNvPr id="38" name="CaixaDeTexto 58">
            <a:extLst>
              <a:ext uri="{FF2B5EF4-FFF2-40B4-BE49-F238E27FC236}">
                <a16:creationId xmlns="" xmlns:a16="http://schemas.microsoft.com/office/drawing/2014/main" id="{5AC83E0B-B11B-9C06-F572-4761A1C66B6D}"/>
              </a:ext>
            </a:extLst>
          </p:cNvPr>
          <p:cNvSpPr txBox="1"/>
          <p:nvPr/>
        </p:nvSpPr>
        <p:spPr>
          <a:xfrm>
            <a:off x="8319332" y="6008261"/>
            <a:ext cx="3793692" cy="738664"/>
          </a:xfrm>
          <a:prstGeom prst="rect">
            <a:avLst/>
          </a:prstGeom>
          <a:noFill/>
        </p:spPr>
        <p:txBody>
          <a:bodyPr wrap="square" rtlCol="0">
            <a:spAutoFit/>
          </a:bodyPr>
          <a:lstStyle/>
          <a:p>
            <a:pPr algn="ctr"/>
            <a:r>
              <a:rPr lang="pt-BR" sz="1400" b="1" dirty="0">
                <a:solidFill>
                  <a:srgbClr val="00B050"/>
                </a:solidFill>
              </a:rPr>
              <a:t>A partir do mapeamento aprendido (i.e., </a:t>
            </a:r>
            <a:r>
              <a:rPr lang="pt-BR" sz="1400" b="1" dirty="0">
                <a:solidFill>
                  <a:schemeClr val="accent2"/>
                </a:solidFill>
              </a:rPr>
              <a:t>reta</a:t>
            </a:r>
            <a:r>
              <a:rPr lang="pt-BR" sz="1400" b="1" dirty="0">
                <a:solidFill>
                  <a:srgbClr val="00B050"/>
                </a:solidFill>
              </a:rPr>
              <a:t>), o modelo gera como saída o valor 23, que é </a:t>
            </a:r>
            <a:r>
              <a:rPr lang="pt-BR" sz="1400" b="1" dirty="0">
                <a:solidFill>
                  <a:srgbClr val="7030A0"/>
                </a:solidFill>
              </a:rPr>
              <a:t>coerente</a:t>
            </a:r>
            <a:r>
              <a:rPr lang="pt-BR" sz="1400" b="1" dirty="0">
                <a:solidFill>
                  <a:srgbClr val="00B050"/>
                </a:solidFill>
              </a:rPr>
              <a:t> com o restante dos dados.</a:t>
            </a:r>
          </a:p>
        </p:txBody>
      </p:sp>
      <p:grpSp>
        <p:nvGrpSpPr>
          <p:cNvPr id="39" name="Agrupar 10">
            <a:extLst>
              <a:ext uri="{FF2B5EF4-FFF2-40B4-BE49-F238E27FC236}">
                <a16:creationId xmlns="" xmlns:a16="http://schemas.microsoft.com/office/drawing/2014/main" id="{BFCDBB1C-C7BF-92D0-E1B2-460E88192732}"/>
              </a:ext>
            </a:extLst>
          </p:cNvPr>
          <p:cNvGrpSpPr/>
          <p:nvPr/>
        </p:nvGrpSpPr>
        <p:grpSpPr>
          <a:xfrm>
            <a:off x="8662291" y="4015941"/>
            <a:ext cx="2948745" cy="2010947"/>
            <a:chOff x="8950873" y="2545355"/>
            <a:chExt cx="2948745" cy="2010947"/>
          </a:xfrm>
        </p:grpSpPr>
        <p:grpSp>
          <p:nvGrpSpPr>
            <p:cNvPr id="40" name="Agrupar 5">
              <a:extLst>
                <a:ext uri="{FF2B5EF4-FFF2-40B4-BE49-F238E27FC236}">
                  <a16:creationId xmlns="" xmlns:a16="http://schemas.microsoft.com/office/drawing/2014/main" id="{EE2EC19C-841D-6B9B-0AD4-6636000E41BF}"/>
                </a:ext>
              </a:extLst>
            </p:cNvPr>
            <p:cNvGrpSpPr/>
            <p:nvPr/>
          </p:nvGrpSpPr>
          <p:grpSpPr>
            <a:xfrm>
              <a:off x="8950873" y="2545355"/>
              <a:ext cx="2948745" cy="2010947"/>
              <a:chOff x="8367252" y="3883682"/>
              <a:chExt cx="2948745" cy="2010947"/>
            </a:xfrm>
          </p:grpSpPr>
          <p:pic>
            <p:nvPicPr>
              <p:cNvPr id="44" name="Imagem 6">
                <a:extLst>
                  <a:ext uri="{FF2B5EF4-FFF2-40B4-BE49-F238E27FC236}">
                    <a16:creationId xmlns="" xmlns:a16="http://schemas.microsoft.com/office/drawing/2014/main" id="{7C1087D0-F9C5-D469-F0E4-294FA68830B7}"/>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463" t="9957" r="8514"/>
              <a:stretch/>
            </p:blipFill>
            <p:spPr>
              <a:xfrm>
                <a:off x="8367252" y="3883682"/>
                <a:ext cx="2948745" cy="2010947"/>
              </a:xfrm>
              <a:prstGeom prst="rect">
                <a:avLst/>
              </a:prstGeom>
            </p:spPr>
          </p:pic>
          <p:cxnSp>
            <p:nvCxnSpPr>
              <p:cNvPr id="45" name="Conector reto 7">
                <a:extLst>
                  <a:ext uri="{FF2B5EF4-FFF2-40B4-BE49-F238E27FC236}">
                    <a16:creationId xmlns="" xmlns:a16="http://schemas.microsoft.com/office/drawing/2014/main" id="{7831B743-7739-E47F-B2B7-358FB5C8BAC0}"/>
                  </a:ext>
                </a:extLst>
              </p:cNvPr>
              <p:cNvCxnSpPr>
                <a:cxnSpLocks/>
              </p:cNvCxnSpPr>
              <p:nvPr/>
            </p:nvCxnSpPr>
            <p:spPr>
              <a:xfrm>
                <a:off x="9162852" y="5293244"/>
                <a:ext cx="0" cy="360000"/>
              </a:xfrm>
              <a:prstGeom prst="line">
                <a:avLst/>
              </a:prstGeom>
              <a:ln w="12700">
                <a:solidFill>
                  <a:srgbClr val="FF0000"/>
                </a:solidFill>
                <a:prstDash val="sysDash"/>
              </a:ln>
            </p:spPr>
            <p:style>
              <a:lnRef idx="1">
                <a:schemeClr val="accent1"/>
              </a:lnRef>
              <a:fillRef idx="0">
                <a:schemeClr val="accent1"/>
              </a:fillRef>
              <a:effectRef idx="0">
                <a:schemeClr val="accent1"/>
              </a:effectRef>
              <a:fontRef idx="minor">
                <a:schemeClr val="tx1"/>
              </a:fontRef>
            </p:style>
          </p:cxnSp>
          <p:sp>
            <p:nvSpPr>
              <p:cNvPr id="46" name="CaixaDeTexto 9">
                <a:extLst>
                  <a:ext uri="{FF2B5EF4-FFF2-40B4-BE49-F238E27FC236}">
                    <a16:creationId xmlns="" xmlns:a16="http://schemas.microsoft.com/office/drawing/2014/main" id="{A66B5280-D6F8-C8F8-C908-645BABD9295B}"/>
                  </a:ext>
                </a:extLst>
              </p:cNvPr>
              <p:cNvSpPr txBox="1"/>
              <p:nvPr/>
            </p:nvSpPr>
            <p:spPr>
              <a:xfrm>
                <a:off x="9056073" y="5606014"/>
                <a:ext cx="213557" cy="261610"/>
              </a:xfrm>
              <a:prstGeom prst="rect">
                <a:avLst/>
              </a:prstGeom>
              <a:noFill/>
            </p:spPr>
            <p:txBody>
              <a:bodyPr wrap="square">
                <a:spAutoFit/>
              </a:bodyPr>
              <a:lstStyle/>
              <a:p>
                <a:pPr algn="ctr"/>
                <a:r>
                  <a:rPr lang="pt-BR" sz="1050" dirty="0">
                    <a:solidFill>
                      <a:srgbClr val="FF0000"/>
                    </a:solidFill>
                  </a:rPr>
                  <a:t>6</a:t>
                </a:r>
              </a:p>
            </p:txBody>
          </p:sp>
        </p:grpSp>
        <p:grpSp>
          <p:nvGrpSpPr>
            <p:cNvPr id="41" name="Agrupar 54">
              <a:extLst>
                <a:ext uri="{FF2B5EF4-FFF2-40B4-BE49-F238E27FC236}">
                  <a16:creationId xmlns="" xmlns:a16="http://schemas.microsoft.com/office/drawing/2014/main" id="{E47B5808-2CF0-1564-F054-43D15DCA9C7F}"/>
                </a:ext>
              </a:extLst>
            </p:cNvPr>
            <p:cNvGrpSpPr>
              <a:grpSpLocks noChangeAspect="1"/>
            </p:cNvGrpSpPr>
            <p:nvPr/>
          </p:nvGrpSpPr>
          <p:grpSpPr>
            <a:xfrm>
              <a:off x="9729806" y="3933640"/>
              <a:ext cx="36000" cy="36000"/>
              <a:chOff x="11557842" y="4567654"/>
              <a:chExt cx="280014" cy="280014"/>
            </a:xfrm>
          </p:grpSpPr>
          <p:cxnSp>
            <p:nvCxnSpPr>
              <p:cNvPr id="42" name="Conector reto 46">
                <a:extLst>
                  <a:ext uri="{FF2B5EF4-FFF2-40B4-BE49-F238E27FC236}">
                    <a16:creationId xmlns="" xmlns:a16="http://schemas.microsoft.com/office/drawing/2014/main" id="{EE964F89-5F20-32FE-CD7F-F3B836F9B985}"/>
                  </a:ext>
                </a:extLst>
              </p:cNvPr>
              <p:cNvCxnSpPr>
                <a:cxnSpLocks/>
              </p:cNvCxnSpPr>
              <p:nvPr/>
            </p:nvCxnSpPr>
            <p:spPr>
              <a:xfrm>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Conector reto 53">
                <a:extLst>
                  <a:ext uri="{FF2B5EF4-FFF2-40B4-BE49-F238E27FC236}">
                    <a16:creationId xmlns="" xmlns:a16="http://schemas.microsoft.com/office/drawing/2014/main" id="{00A73DD8-CD2C-633B-446F-DC8134FA2D69}"/>
                  </a:ext>
                </a:extLst>
              </p:cNvPr>
              <p:cNvCxnSpPr>
                <a:cxnSpLocks/>
              </p:cNvCxnSpPr>
              <p:nvPr/>
            </p:nvCxnSpPr>
            <p:spPr>
              <a:xfrm flipH="1">
                <a:off x="11557842" y="4567654"/>
                <a:ext cx="280014" cy="280014"/>
              </a:xfrm>
              <a:prstGeom prst="line">
                <a:avLst/>
              </a:prstGeom>
              <a:ln w="12700">
                <a:solidFill>
                  <a:srgbClr val="FF0000"/>
                </a:solidFill>
              </a:ln>
            </p:spPr>
            <p:style>
              <a:lnRef idx="1">
                <a:schemeClr val="accent1"/>
              </a:lnRef>
              <a:fillRef idx="0">
                <a:schemeClr val="accent1"/>
              </a:fillRef>
              <a:effectRef idx="0">
                <a:schemeClr val="accent1"/>
              </a:effectRef>
              <a:fontRef idx="minor">
                <a:schemeClr val="tx1"/>
              </a:fontRef>
            </p:style>
          </p:cxnSp>
        </p:grpSp>
      </p:grpSp>
      <p:cxnSp>
        <p:nvCxnSpPr>
          <p:cNvPr id="48" name="Conector de Seta Reta 32">
            <a:extLst>
              <a:ext uri="{FF2B5EF4-FFF2-40B4-BE49-F238E27FC236}">
                <a16:creationId xmlns="" xmlns:a16="http://schemas.microsoft.com/office/drawing/2014/main" id="{3DF850AE-F282-ABB2-C3A3-A91ADBFE2445}"/>
              </a:ext>
            </a:extLst>
          </p:cNvPr>
          <p:cNvCxnSpPr>
            <a:cxnSpLocks/>
          </p:cNvCxnSpPr>
          <p:nvPr/>
        </p:nvCxnSpPr>
        <p:spPr>
          <a:xfrm>
            <a:off x="7296150" y="4980787"/>
            <a:ext cx="2046365" cy="42262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84214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pic>
        <p:nvPicPr>
          <p:cNvPr id="6" name="Picture 2" descr="The main types of machine learning. Main approaches include... | Download  Scientific Diagram">
            <a:extLst>
              <a:ext uri="{FF2B5EF4-FFF2-40B4-BE49-F238E27FC236}">
                <a16:creationId xmlns="" xmlns:a16="http://schemas.microsoft.com/office/drawing/2014/main" id="{9D118E81-68AB-1DF6-BE2D-8D720E05C23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95" t="2002" r="2829" b="3093"/>
          <a:stretch/>
        </p:blipFill>
        <p:spPr bwMode="auto">
          <a:xfrm>
            <a:off x="130632" y="2242458"/>
            <a:ext cx="6712059" cy="364081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 xmlns:a16="http://schemas.microsoft.com/office/drawing/2014/main" id="{8E4DBA39-5379-9FDE-BDF3-4F9CE2154529}"/>
              </a:ext>
            </a:extLst>
          </p:cNvPr>
          <p:cNvSpPr txBox="1"/>
          <p:nvPr/>
        </p:nvSpPr>
        <p:spPr>
          <a:xfrm>
            <a:off x="6934200" y="2763522"/>
            <a:ext cx="5257800" cy="2246769"/>
          </a:xfrm>
          <a:prstGeom prst="rect">
            <a:avLst/>
          </a:prstGeom>
          <a:noFill/>
        </p:spPr>
        <p:txBody>
          <a:bodyPr wrap="square">
            <a:spAutoFit/>
          </a:bodyPr>
          <a:lstStyle/>
          <a:p>
            <a:r>
              <a:rPr lang="pt-BR" sz="2800" dirty="0"/>
              <a:t>Em ML temos três paradigmas principais:</a:t>
            </a:r>
          </a:p>
          <a:p>
            <a:pPr marL="285750" indent="-285750">
              <a:buFont typeface="Arial" panose="020B0604020202020204" pitchFamily="34" charset="0"/>
              <a:buChar char="•"/>
            </a:pPr>
            <a:r>
              <a:rPr lang="pt-BR" sz="2800" dirty="0"/>
              <a:t>Aprendizado supervisionado</a:t>
            </a:r>
          </a:p>
          <a:p>
            <a:pPr marL="285750" indent="-285750">
              <a:buFont typeface="Arial" panose="020B0604020202020204" pitchFamily="34" charset="0"/>
              <a:buChar char="•"/>
            </a:pPr>
            <a:r>
              <a:rPr lang="pt-BR" sz="2800" dirty="0"/>
              <a:t>Aprendizado não-supervisionado</a:t>
            </a:r>
          </a:p>
          <a:p>
            <a:pPr marL="285750" indent="-285750">
              <a:buFont typeface="Arial" panose="020B0604020202020204" pitchFamily="34" charset="0"/>
              <a:buChar char="•"/>
            </a:pPr>
            <a:r>
              <a:rPr lang="pt-BR" sz="2800" dirty="0"/>
              <a:t>Aprendizado por reforço</a:t>
            </a:r>
          </a:p>
        </p:txBody>
      </p:sp>
    </p:spTree>
    <p:extLst>
      <p:ext uri="{BB962C8B-B14F-4D97-AF65-F5344CB8AC3E}">
        <p14:creationId xmlns:p14="http://schemas.microsoft.com/office/powerpoint/2010/main" val="11670009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Os paradigmas de aprendizado</a:t>
            </a:r>
          </a:p>
        </p:txBody>
      </p:sp>
      <p:sp>
        <p:nvSpPr>
          <p:cNvPr id="3" name="Espaço Reservado para Conteúdo 2"/>
          <p:cNvSpPr>
            <a:spLocks noGrp="1"/>
          </p:cNvSpPr>
          <p:nvPr>
            <p:ph idx="1"/>
          </p:nvPr>
        </p:nvSpPr>
        <p:spPr>
          <a:xfrm>
            <a:off x="5978769" y="1825625"/>
            <a:ext cx="6072127" cy="5032375"/>
          </a:xfrm>
        </p:spPr>
        <p:txBody>
          <a:bodyPr>
            <a:normAutofit/>
          </a:bodyPr>
          <a:lstStyle/>
          <a:p>
            <a:r>
              <a:rPr lang="pt-BR" dirty="0"/>
              <a:t>Cada paradigma tem um </a:t>
            </a:r>
            <a:r>
              <a:rPr lang="pt-BR" b="1" dirty="0"/>
              <a:t>estilo de aprendizagem</a:t>
            </a:r>
            <a:r>
              <a:rPr lang="pt-BR" dirty="0"/>
              <a:t>: </a:t>
            </a:r>
            <a:endParaRPr lang="pt-BR" dirty="0" smtClean="0"/>
          </a:p>
          <a:p>
            <a:pPr lvl="1">
              <a:buFont typeface="Wingdings" panose="05000000000000000000" pitchFamily="2" charset="2"/>
              <a:buChar char="§"/>
            </a:pPr>
            <a:r>
              <a:rPr lang="pt-BR" dirty="0" smtClean="0"/>
              <a:t>alguns </a:t>
            </a:r>
            <a:r>
              <a:rPr lang="pt-BR" b="1" dirty="0" smtClean="0">
                <a:solidFill>
                  <a:srgbClr val="00B0F0"/>
                </a:solidFill>
              </a:rPr>
              <a:t>esperam respostas corretas</a:t>
            </a:r>
            <a:r>
              <a:rPr lang="pt-BR" dirty="0" smtClean="0"/>
              <a:t>, </a:t>
            </a:r>
          </a:p>
          <a:p>
            <a:pPr lvl="1">
              <a:buFont typeface="Wingdings" panose="05000000000000000000" pitchFamily="2" charset="2"/>
              <a:buChar char="§"/>
            </a:pPr>
            <a:r>
              <a:rPr lang="pt-BR" dirty="0" smtClean="0"/>
              <a:t>outros </a:t>
            </a:r>
            <a:r>
              <a:rPr lang="pt-BR" dirty="0"/>
              <a:t>as </a:t>
            </a:r>
            <a:r>
              <a:rPr lang="pt-BR" b="1" dirty="0">
                <a:solidFill>
                  <a:schemeClr val="accent6"/>
                </a:solidFill>
              </a:rPr>
              <a:t>descobrem sozinhos </a:t>
            </a:r>
            <a:endParaRPr lang="pt-BR" b="1" dirty="0" smtClean="0">
              <a:solidFill>
                <a:schemeClr val="accent6"/>
              </a:solidFill>
            </a:endParaRPr>
          </a:p>
          <a:p>
            <a:pPr lvl="1">
              <a:buFont typeface="Wingdings" panose="05000000000000000000" pitchFamily="2" charset="2"/>
              <a:buChar char="§"/>
            </a:pPr>
            <a:r>
              <a:rPr lang="pt-BR" dirty="0" smtClean="0"/>
              <a:t>e </a:t>
            </a:r>
            <a:r>
              <a:rPr lang="pt-BR" dirty="0"/>
              <a:t>alguns aprendem por </a:t>
            </a:r>
            <a:r>
              <a:rPr lang="pt-BR" b="1" dirty="0">
                <a:solidFill>
                  <a:schemeClr val="accent2"/>
                </a:solidFill>
              </a:rPr>
              <a:t>tentativa e erro</a:t>
            </a:r>
            <a:r>
              <a:rPr lang="pt-BR" dirty="0"/>
              <a:t>.</a:t>
            </a:r>
          </a:p>
          <a:p>
            <a:r>
              <a:rPr lang="pt-BR" dirty="0" smtClean="0"/>
              <a:t>Cada paradigma têm </a:t>
            </a:r>
            <a:r>
              <a:rPr lang="pt-BR" dirty="0"/>
              <a:t>vários algoritmos e aplicações</a:t>
            </a:r>
            <a:r>
              <a:rPr lang="pt-BR" dirty="0" smtClean="0"/>
              <a:t>.</a:t>
            </a:r>
            <a:endParaRPr lang="pt-BR" dirty="0"/>
          </a:p>
        </p:txBody>
      </p:sp>
      <p:pic>
        <p:nvPicPr>
          <p:cNvPr id="1026" name="Picture 2" descr="Image"/>
          <p:cNvPicPr>
            <a:picLocks noChangeAspect="1" noChangeArrowheads="1"/>
          </p:cNvPicPr>
          <p:nvPr/>
        </p:nvPicPr>
        <p:blipFill rotWithShape="1">
          <a:blip r:embed="rId2">
            <a:extLst>
              <a:ext uri="{28A0092B-C50C-407E-A947-70E740481C1C}">
                <a14:useLocalDpi xmlns:a14="http://schemas.microsoft.com/office/drawing/2010/main" val="0"/>
              </a:ext>
            </a:extLst>
          </a:blip>
          <a:srcRect t="23092" b="5293"/>
          <a:stretch/>
        </p:blipFill>
        <p:spPr bwMode="auto">
          <a:xfrm>
            <a:off x="297682" y="2223260"/>
            <a:ext cx="5398943" cy="38664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594264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pic>
        <p:nvPicPr>
          <p:cNvPr id="7170" name="Picture 2" descr="Supervised Learning | What is, Types, Applications and Example | Edurek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1976355"/>
            <a:ext cx="5796338" cy="4304212"/>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7080554" y="2989058"/>
            <a:ext cx="4735976" cy="1569660"/>
          </a:xfrm>
          <a:prstGeom prst="rect">
            <a:avLst/>
          </a:prstGeom>
        </p:spPr>
        <p:txBody>
          <a:bodyPr wrap="none">
            <a:spAutoFit/>
          </a:bodyPr>
          <a:lstStyle/>
          <a:p>
            <a:pPr algn="ctr"/>
            <a:r>
              <a:rPr lang="pt-BR" sz="3200" b="1" dirty="0"/>
              <a:t>Aluno e professor</a:t>
            </a:r>
          </a:p>
          <a:p>
            <a:pPr algn="ctr"/>
            <a:r>
              <a:rPr lang="pt-BR" sz="3200" b="1" dirty="0"/>
              <a:t>=</a:t>
            </a:r>
          </a:p>
          <a:p>
            <a:pPr algn="ctr"/>
            <a:r>
              <a:rPr lang="pt-BR" sz="3200" b="1" dirty="0"/>
              <a:t>Modelo e </a:t>
            </a:r>
            <a:r>
              <a:rPr lang="pt-BR" sz="3200" b="1" i="1" dirty="0" smtClean="0"/>
              <a:t>dataset</a:t>
            </a:r>
            <a:r>
              <a:rPr lang="pt-BR" sz="3200" b="1" dirty="0" smtClean="0"/>
              <a:t> rotulado</a:t>
            </a:r>
            <a:endParaRPr lang="pt-BR" sz="3200" b="1" dirty="0"/>
          </a:p>
        </p:txBody>
      </p:sp>
    </p:spTree>
    <p:extLst>
      <p:ext uri="{BB962C8B-B14F-4D97-AF65-F5344CB8AC3E}">
        <p14:creationId xmlns:p14="http://schemas.microsoft.com/office/powerpoint/2010/main" val="618641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r>
                  <a:rPr lang="pt-BR" dirty="0"/>
                  <a:t>Este é o método mais comum de ensinar uma máquina. </a:t>
                </a:r>
              </a:p>
              <a:p>
                <a:r>
                  <a:rPr lang="pt-BR" dirty="0"/>
                  <a:t>Ele depende de </a:t>
                </a:r>
                <a:r>
                  <a:rPr lang="pt-BR" b="1" dirty="0"/>
                  <a:t>dados rotulados</a:t>
                </a:r>
                <a:r>
                  <a:rPr lang="pt-BR" dirty="0"/>
                  <a:t>, ou seja, exemplos que contêm a </a:t>
                </a:r>
                <a:r>
                  <a:rPr lang="pt-BR" b="1" dirty="0">
                    <a:solidFill>
                      <a:schemeClr val="accent2"/>
                    </a:solidFill>
                  </a:rPr>
                  <a:t>resposta correta</a:t>
                </a:r>
                <a:r>
                  <a:rPr lang="pt-BR" dirty="0"/>
                  <a:t>.</a:t>
                </a:r>
              </a:p>
              <a:p>
                <a:r>
                  <a:rPr lang="pt-BR" b="1" dirty="0"/>
                  <a:t>Como funciona:</a:t>
                </a:r>
                <a:r>
                  <a:rPr lang="pt-BR" dirty="0"/>
                  <a:t> O modelo recebe entradas, </a:t>
                </a:r>
                <a14:m>
                  <m:oMath xmlns:m="http://schemas.openxmlformats.org/officeDocument/2006/math">
                    <m:r>
                      <a:rPr lang="pt-BR" b="0" i="1" smtClean="0">
                        <a:latin typeface="Cambria Math" panose="02040503050406030204" pitchFamily="18" charset="0"/>
                      </a:rPr>
                      <m:t>𝑥</m:t>
                    </m:r>
                  </m:oMath>
                </a14:m>
                <a:r>
                  <a:rPr lang="pt-BR" dirty="0"/>
                  <a:t>, e as respostas corretas, </a:t>
                </a:r>
                <a14:m>
                  <m:oMath xmlns:m="http://schemas.openxmlformats.org/officeDocument/2006/math">
                    <m:r>
                      <a:rPr lang="pt-BR" b="0" i="1" smtClean="0">
                        <a:latin typeface="Cambria Math" panose="02040503050406030204" pitchFamily="18" charset="0"/>
                      </a:rPr>
                      <m:t>𝑦</m:t>
                    </m:r>
                  </m:oMath>
                </a14:m>
                <a:r>
                  <a:rPr lang="pt-BR" dirty="0"/>
                  <a:t>.</a:t>
                </a:r>
              </a:p>
              <a:p>
                <a:r>
                  <a:rPr lang="pt-BR" b="1" dirty="0"/>
                  <a:t>O professor:</a:t>
                </a:r>
                <a:r>
                  <a:rPr lang="pt-BR" dirty="0"/>
                  <a:t> É o conjunto de </a:t>
                </a:r>
                <a:r>
                  <a:rPr lang="pt-BR" b="1" dirty="0"/>
                  <a:t>dados rotulados </a:t>
                </a:r>
                <a:r>
                  <a:rPr lang="pt-BR" dirty="0"/>
                  <a:t>que "diz" à máquina se ela acertou ou errou durante o treinamento.</a:t>
                </a:r>
              </a:p>
              <a:p>
                <a:r>
                  <a:rPr lang="pt-BR" b="1" dirty="0"/>
                  <a:t>O aluno</a:t>
                </a:r>
                <a:r>
                  <a:rPr lang="pt-BR" dirty="0"/>
                  <a:t>: É o modelo que deve ser </a:t>
                </a:r>
                <a:r>
                  <a:rPr lang="pt-BR" b="1" dirty="0"/>
                  <a:t>ajustado</a:t>
                </a:r>
                <a:r>
                  <a:rPr lang="pt-BR" dirty="0"/>
                  <a:t> para </a:t>
                </a:r>
                <a:r>
                  <a:rPr lang="pt-BR" b="1" dirty="0"/>
                  <a:t>mapear</a:t>
                </a:r>
                <a:r>
                  <a:rPr lang="pt-BR" dirty="0"/>
                  <a:t> </a:t>
                </a:r>
                <a14:m>
                  <m:oMath xmlns:m="http://schemas.openxmlformats.org/officeDocument/2006/math">
                    <m:r>
                      <a:rPr lang="pt-BR" i="1">
                        <a:latin typeface="Cambria Math" panose="02040503050406030204" pitchFamily="18" charset="0"/>
                      </a:rPr>
                      <m:t>𝑥</m:t>
                    </m:r>
                  </m:oMath>
                </a14:m>
                <a:r>
                  <a:rPr lang="pt-BR" dirty="0"/>
                  <a:t> em </a:t>
                </a:r>
                <a14:m>
                  <m:oMath xmlns:m="http://schemas.openxmlformats.org/officeDocument/2006/math">
                    <m:r>
                      <a:rPr lang="pt-BR" b="0" i="1" smtClean="0">
                        <a:latin typeface="Cambria Math" panose="02040503050406030204" pitchFamily="18" charset="0"/>
                      </a:rPr>
                      <m:t>𝑦</m:t>
                    </m:r>
                  </m:oMath>
                </a14:m>
                <a:r>
                  <a:rPr lang="pt-BR" dirty="0" smtClean="0"/>
                  <a:t>.</a:t>
                </a:r>
              </a:p>
              <a:p>
                <a:r>
                  <a:rPr lang="pt-BR" b="1" dirty="0" smtClean="0"/>
                  <a:t>O objetivo:</a:t>
                </a:r>
                <a:r>
                  <a:rPr lang="pt-BR" dirty="0" smtClean="0"/>
                  <a:t> Aprender a mapear a entrada na </a:t>
                </a:r>
                <a:r>
                  <a:rPr lang="pt-BR" b="1" dirty="0" smtClean="0">
                    <a:solidFill>
                      <a:schemeClr val="accent2"/>
                    </a:solidFill>
                  </a:rPr>
                  <a:t>saída esperada </a:t>
                </a:r>
                <a:r>
                  <a:rPr lang="pt-BR" dirty="0" smtClean="0"/>
                  <a:t>para predizer as saídas de </a:t>
                </a:r>
                <a:r>
                  <a:rPr lang="pt-BR" b="1" dirty="0" smtClean="0">
                    <a:solidFill>
                      <a:schemeClr val="accent2"/>
                    </a:solidFill>
                  </a:rPr>
                  <a:t>entradas inéditas</a:t>
                </a:r>
                <a:r>
                  <a:rPr lang="pt-BR" dirty="0" smtClean="0"/>
                  <a:t> (i.e., generalizar).</a:t>
                </a:r>
                <a:endParaRPr lang="pt-BR" dirty="0"/>
              </a:p>
            </p:txBody>
          </p:sp>
        </mc:Choice>
        <mc:Fallback>
          <p:sp>
            <p:nvSpPr>
              <p:cNvPr id="3" name="Espaço Reservado para Conteúdo 2">
                <a:extLst>
                  <a:ext uri="{FF2B5EF4-FFF2-40B4-BE49-F238E27FC236}">
                    <a16:creationId xmlns="" xmlns:a16="http://schemas.microsoft.com/office/drawing/2014/main" xmlns:a14="http://schemas.microsoft.com/office/drawing/2010/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2"/>
                <a:stretch>
                  <a:fillRect l="-930" t="-1937" r="-1587"/>
                </a:stretch>
              </a:blipFill>
            </p:spPr>
            <p:txBody>
              <a:bodyPr/>
              <a:lstStyle/>
              <a:p>
                <a:r>
                  <a:rPr lang="pt-BR">
                    <a:noFill/>
                  </a:rPr>
                  <a:t> </a:t>
                </a:r>
              </a:p>
            </p:txBody>
          </p:sp>
        </mc:Fallback>
      </mc:AlternateContent>
    </p:spTree>
    <p:extLst>
      <p:ext uri="{BB962C8B-B14F-4D97-AF65-F5344CB8AC3E}">
        <p14:creationId xmlns:p14="http://schemas.microsoft.com/office/powerpoint/2010/main" val="31870715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Aprendizado 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a:xfrm>
                <a:off x="838199" y="1825624"/>
                <a:ext cx="11132127" cy="5032375"/>
              </a:xfrm>
            </p:spPr>
            <p:txBody>
              <a:bodyPr>
                <a:normAutofit/>
              </a:bodyPr>
              <a:lstStyle/>
              <a:p>
                <a:pPr marL="0" indent="0">
                  <a:buNone/>
                </a:pPr>
                <a:r>
                  <a:rPr lang="pt-BR" b="1" dirty="0"/>
                  <a:t>A lógica por trás:</a:t>
                </a:r>
              </a:p>
              <a:p>
                <a:r>
                  <a:rPr lang="pt-BR" dirty="0"/>
                  <a:t>No fundo, a máquina está tentando </a:t>
                </a:r>
                <a:r>
                  <a:rPr lang="pt-BR" b="1" dirty="0" smtClean="0">
                    <a:solidFill>
                      <a:srgbClr val="7030A0"/>
                    </a:solidFill>
                  </a:rPr>
                  <a:t>aprender</a:t>
                </a:r>
                <a:r>
                  <a:rPr lang="pt-BR" dirty="0" smtClean="0"/>
                  <a:t> uma </a:t>
                </a:r>
                <a:r>
                  <a:rPr lang="pt-BR" dirty="0"/>
                  <a:t>equação matemática:</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m:oMathPara>
                </a14:m>
                <a:endParaRPr lang="pt-BR" dirty="0"/>
              </a:p>
              <a:p>
                <a14:m>
                  <m:oMath xmlns:m="http://schemas.openxmlformats.org/officeDocument/2006/math">
                    <m:r>
                      <a:rPr lang="pt-BR" b="0" i="1" smtClean="0">
                        <a:latin typeface="Cambria Math" panose="02040503050406030204" pitchFamily="18" charset="0"/>
                      </a:rPr>
                      <m:t>𝑥</m:t>
                    </m:r>
                  </m:oMath>
                </a14:m>
                <a:r>
                  <a:rPr lang="pt-BR" b="1" dirty="0"/>
                  <a:t> (Entrada/</a:t>
                </a:r>
                <a:r>
                  <a:rPr lang="pt-BR" b="1" dirty="0">
                    <a:solidFill>
                      <a:schemeClr val="accent2"/>
                    </a:solidFill>
                  </a:rPr>
                  <a:t>Atributos</a:t>
                </a:r>
                <a:r>
                  <a:rPr lang="pt-BR" b="1" dirty="0"/>
                  <a:t>):</a:t>
                </a:r>
                <a:r>
                  <a:rPr lang="pt-BR" dirty="0"/>
                  <a:t> As características (e.g., temperatura média).</a:t>
                </a:r>
              </a:p>
              <a:p>
                <a14:m>
                  <m:oMath xmlns:m="http://schemas.openxmlformats.org/officeDocument/2006/math">
                    <m:r>
                      <a:rPr lang="pt-BR" i="1">
                        <a:latin typeface="Cambria Math" panose="02040503050406030204" pitchFamily="18" charset="0"/>
                      </a:rPr>
                      <m:t>𝑦</m:t>
                    </m:r>
                  </m:oMath>
                </a14:m>
                <a:r>
                  <a:rPr lang="pt-BR" b="1" dirty="0"/>
                  <a:t> (Saída/</a:t>
                </a:r>
                <a:r>
                  <a:rPr lang="pt-BR" b="1" dirty="0">
                    <a:solidFill>
                      <a:schemeClr val="accent6"/>
                    </a:solidFill>
                  </a:rPr>
                  <a:t>Rótulo</a:t>
                </a:r>
                <a:r>
                  <a:rPr lang="pt-BR" b="1" dirty="0"/>
                  <a:t>):</a:t>
                </a:r>
                <a:r>
                  <a:rPr lang="pt-BR" dirty="0"/>
                  <a:t> A resposta esperada (e.g., quantidade de paletas).</a:t>
                </a:r>
              </a:p>
              <a:p>
                <a14:m>
                  <m:oMath xmlns:m="http://schemas.openxmlformats.org/officeDocument/2006/math">
                    <m:r>
                      <a:rPr lang="pt-BR" b="0" i="1">
                        <a:latin typeface="Cambria Math" panose="02040503050406030204" pitchFamily="18" charset="0"/>
                      </a:rPr>
                      <m:t>𝑓</m:t>
                    </m:r>
                  </m:oMath>
                </a14:m>
                <a:r>
                  <a:rPr lang="pt-BR" dirty="0"/>
                  <a:t>(.)</a:t>
                </a:r>
                <a:r>
                  <a:rPr lang="pt-BR" b="1" dirty="0"/>
                  <a:t> (a função ou </a:t>
                </a:r>
                <a:r>
                  <a:rPr lang="pt-BR" b="1" dirty="0">
                    <a:solidFill>
                      <a:schemeClr val="accent5"/>
                    </a:solidFill>
                  </a:rPr>
                  <a:t>modelo</a:t>
                </a:r>
                <a:r>
                  <a:rPr lang="pt-BR" b="1" dirty="0"/>
                  <a:t>):</a:t>
                </a:r>
                <a:r>
                  <a:rPr lang="pt-BR" dirty="0"/>
                  <a:t> O que a máquina precisa "aprender</a:t>
                </a:r>
                <a:r>
                  <a:rPr lang="pt-BR" dirty="0" smtClean="0"/>
                  <a:t>".</a:t>
                </a:r>
                <a:endParaRPr lang="pt-BR" dirty="0"/>
              </a:p>
              <a:p>
                <a:r>
                  <a:rPr lang="pt-BR" dirty="0"/>
                  <a:t>Esse tipo de aprendizado é dividido em </a:t>
                </a:r>
                <a:r>
                  <a:rPr lang="pt-BR" b="1" dirty="0"/>
                  <a:t>tarefas </a:t>
                </a:r>
                <a:r>
                  <a:rPr lang="pt-BR" dirty="0"/>
                  <a:t>de </a:t>
                </a:r>
                <a:r>
                  <a:rPr lang="pt-BR" b="1" dirty="0">
                    <a:solidFill>
                      <a:srgbClr val="7030A0"/>
                    </a:solidFill>
                  </a:rPr>
                  <a:t>regressão</a:t>
                </a:r>
                <a:r>
                  <a:rPr lang="pt-BR" b="1" dirty="0"/>
                  <a:t> </a:t>
                </a:r>
                <a:r>
                  <a:rPr lang="pt-BR" dirty="0"/>
                  <a:t>e </a:t>
                </a:r>
                <a:r>
                  <a:rPr lang="pt-BR" b="1" dirty="0">
                    <a:solidFill>
                      <a:srgbClr val="7030A0"/>
                    </a:solidFill>
                  </a:rPr>
                  <a:t>classificação</a:t>
                </a:r>
                <a:r>
                  <a:rPr lang="pt-BR" dirty="0"/>
                  <a:t> dependendo do </a:t>
                </a:r>
                <a:r>
                  <a:rPr lang="pt-BR" b="1" dirty="0">
                    <a:solidFill>
                      <a:schemeClr val="accent1"/>
                    </a:solidFill>
                  </a:rPr>
                  <a:t>tipo do rótulo</a:t>
                </a:r>
                <a:r>
                  <a:rPr lang="pt-BR" dirty="0"/>
                  <a:t>.</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F7E2B09C-6D56-4C9F-A364-B904CCE2F1A0}"/>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rotWithShape="0">
                <a:blip r:embed="rId3"/>
                <a:stretch>
                  <a:fillRect l="-1095" t="-1937"/>
                </a:stretch>
              </a:blipFill>
            </p:spPr>
            <p:txBody>
              <a:bodyPr/>
              <a:lstStyle/>
              <a:p>
                <a:r>
                  <a:rPr lang="pt-BR">
                    <a:noFill/>
                  </a:rPr>
                  <a:t> </a:t>
                </a:r>
              </a:p>
            </p:txBody>
          </p:sp>
        </mc:Fallback>
      </mc:AlternateContent>
    </p:spTree>
    <p:extLst>
      <p:ext uri="{BB962C8B-B14F-4D97-AF65-F5344CB8AC3E}">
        <p14:creationId xmlns:p14="http://schemas.microsoft.com/office/powerpoint/2010/main" val="15240408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569526" y="1825624"/>
            <a:ext cx="6450677" cy="5032375"/>
          </a:xfrm>
        </p:spPr>
        <p:txBody>
          <a:bodyPr>
            <a:normAutofit/>
          </a:bodyPr>
          <a:lstStyle/>
          <a:p>
            <a:r>
              <a:rPr lang="pt-BR" b="1" dirty="0"/>
              <a:t>Regressão</a:t>
            </a:r>
            <a:r>
              <a:rPr lang="pt-BR" dirty="0"/>
              <a:t>: Os rótulos pertencem a um </a:t>
            </a:r>
            <a:r>
              <a:rPr lang="pt-BR" b="1" dirty="0"/>
              <a:t>conjunto infinito </a:t>
            </a:r>
            <a:r>
              <a:rPr lang="pt-BR" dirty="0"/>
              <a:t>de valores, i.e., são números reais.</a:t>
            </a:r>
          </a:p>
          <a:p>
            <a:r>
              <a:rPr lang="pt-BR" dirty="0"/>
              <a:t>Aplicações:</a:t>
            </a:r>
          </a:p>
          <a:p>
            <a:pPr lvl="1">
              <a:buFont typeface="Wingdings" panose="05000000000000000000" pitchFamily="2" charset="2"/>
              <a:buChar char="§"/>
            </a:pPr>
            <a:r>
              <a:rPr lang="pt-BR" dirty="0" smtClean="0"/>
              <a:t>Predição </a:t>
            </a:r>
            <a:r>
              <a:rPr lang="pt-BR" dirty="0"/>
              <a:t>do preço de </a:t>
            </a:r>
            <a:r>
              <a:rPr lang="pt-BR" dirty="0" smtClean="0"/>
              <a:t>imóveis.</a:t>
            </a:r>
            <a:endParaRPr lang="pt-BR" dirty="0"/>
          </a:p>
          <a:p>
            <a:pPr lvl="1">
              <a:buFont typeface="Wingdings" panose="05000000000000000000" pitchFamily="2" charset="2"/>
              <a:buChar char="§"/>
            </a:pPr>
            <a:r>
              <a:rPr lang="pt-BR" dirty="0" smtClean="0"/>
              <a:t>Predição </a:t>
            </a:r>
            <a:r>
              <a:rPr lang="pt-BR" dirty="0"/>
              <a:t>da temperatura de </a:t>
            </a:r>
            <a:r>
              <a:rPr lang="pt-BR" dirty="0" smtClean="0"/>
              <a:t>amanhã.</a:t>
            </a:r>
            <a:endParaRPr lang="pt-BR" dirty="0"/>
          </a:p>
          <a:p>
            <a:pPr lvl="1">
              <a:buFont typeface="Wingdings" panose="05000000000000000000" pitchFamily="2" charset="2"/>
              <a:buChar char="§"/>
            </a:pPr>
            <a:r>
              <a:rPr lang="pt-BR" dirty="0"/>
              <a:t>Estimativa do tempo de entrega de um pedido.</a:t>
            </a:r>
          </a:p>
          <a:p>
            <a:pPr lvl="1">
              <a:buFont typeface="Wingdings" panose="05000000000000000000" pitchFamily="2" charset="2"/>
              <a:buChar char="§"/>
            </a:pPr>
            <a:endParaRPr lang="pt-BR" dirty="0"/>
          </a:p>
        </p:txBody>
      </p:sp>
      <p:pic>
        <p:nvPicPr>
          <p:cNvPr id="4" name="Picture 10" descr="Investir em imóveis: como identificar oportunidades de valorização no  mercado"/>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4006" y="1690688"/>
            <a:ext cx="2751827" cy="183544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Weather forecast: 410 mil imagens, fotos e ilustrações stock livres de  direitos | Shutterstock"/>
          <p:cNvPicPr>
            <a:picLocks noChangeAspect="1" noChangeArrowheads="1"/>
          </p:cNvPicPr>
          <p:nvPr/>
        </p:nvPicPr>
        <p:blipFill rotWithShape="1">
          <a:blip r:embed="rId4">
            <a:extLst>
              <a:ext uri="{28A0092B-C50C-407E-A947-70E740481C1C}">
                <a14:useLocalDpi xmlns:a14="http://schemas.microsoft.com/office/drawing/2010/main" val="0"/>
              </a:ext>
            </a:extLst>
          </a:blip>
          <a:srcRect b="9634"/>
          <a:stretch/>
        </p:blipFill>
        <p:spPr bwMode="auto">
          <a:xfrm>
            <a:off x="1206733" y="3752893"/>
            <a:ext cx="2935778" cy="19046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How to Display Estimated Delivery Date and Time in Shopif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47555" y="5296246"/>
            <a:ext cx="2776449" cy="15617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345008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supervisionado</a:t>
            </a:r>
          </a:p>
        </p:txBody>
      </p:sp>
      <p:sp>
        <p:nvSpPr>
          <p:cNvPr id="3" name="Espaço Reservado para Conteúdo 2"/>
          <p:cNvSpPr>
            <a:spLocks noGrp="1"/>
          </p:cNvSpPr>
          <p:nvPr>
            <p:ph idx="1"/>
          </p:nvPr>
        </p:nvSpPr>
        <p:spPr>
          <a:xfrm>
            <a:off x="5902036" y="1825624"/>
            <a:ext cx="6289963" cy="5032375"/>
          </a:xfrm>
        </p:spPr>
        <p:txBody>
          <a:bodyPr>
            <a:normAutofit/>
          </a:bodyPr>
          <a:lstStyle/>
          <a:p>
            <a:r>
              <a:rPr lang="pt-BR" b="1" dirty="0"/>
              <a:t>Classificação</a:t>
            </a:r>
            <a:r>
              <a:rPr lang="pt-BR" dirty="0"/>
              <a:t>: Os rótulos pertencem a um </a:t>
            </a:r>
            <a:r>
              <a:rPr lang="pt-BR" b="1" dirty="0"/>
              <a:t>conjunto finito e discreto</a:t>
            </a:r>
            <a:r>
              <a:rPr lang="pt-BR" dirty="0"/>
              <a:t> de valores, i.e., pertencem a categorias (ou classes).</a:t>
            </a:r>
          </a:p>
          <a:p>
            <a:r>
              <a:rPr lang="pt-BR" dirty="0"/>
              <a:t>Aplicações: </a:t>
            </a:r>
          </a:p>
          <a:p>
            <a:pPr lvl="1">
              <a:buFont typeface="Wingdings" panose="05000000000000000000" pitchFamily="2" charset="2"/>
              <a:buChar char="§"/>
            </a:pPr>
            <a:r>
              <a:rPr lang="pt-BR" dirty="0"/>
              <a:t>Filtro de Spam: “spam” ou “não-spam”</a:t>
            </a:r>
          </a:p>
          <a:p>
            <a:pPr lvl="1">
              <a:buFont typeface="Wingdings" panose="05000000000000000000" pitchFamily="2" charset="2"/>
              <a:buChar char="§"/>
            </a:pPr>
            <a:r>
              <a:rPr lang="pt-BR" dirty="0"/>
              <a:t>Diagnóstico médico: “saudável” ou “doente”</a:t>
            </a:r>
          </a:p>
          <a:p>
            <a:pPr lvl="1">
              <a:buFont typeface="Wingdings" panose="05000000000000000000" pitchFamily="2" charset="2"/>
              <a:buChar char="§"/>
            </a:pPr>
            <a:r>
              <a:rPr lang="pt-BR" dirty="0"/>
              <a:t>Reconhecimento facial: “dono” e “não-dono” </a:t>
            </a:r>
            <a:r>
              <a:rPr lang="pt-BR" dirty="0" smtClean="0"/>
              <a:t>de um aparelho </a:t>
            </a:r>
            <a:r>
              <a:rPr lang="pt-BR" dirty="0"/>
              <a:t>celular.</a:t>
            </a:r>
          </a:p>
          <a:p>
            <a:pPr lvl="1">
              <a:buFont typeface="Wingdings" panose="05000000000000000000" pitchFamily="2" charset="2"/>
              <a:buChar char="§"/>
            </a:pPr>
            <a:r>
              <a:rPr lang="pt-BR" dirty="0"/>
              <a:t>Classificação de animais em imagens: gato, cachorro ou pássaro</a:t>
            </a:r>
          </a:p>
        </p:txBody>
      </p:sp>
      <p:pic>
        <p:nvPicPr>
          <p:cNvPr id="4" name="Picture 2" descr="💌 Email Spam Classification With Accuracy &gt; 98%🔰"/>
          <p:cNvPicPr>
            <a:picLocks noChangeAspect="1" noChangeArrowheads="1"/>
          </p:cNvPicPr>
          <p:nvPr/>
        </p:nvPicPr>
        <p:blipFill rotWithShape="1">
          <a:blip r:embed="rId3">
            <a:extLst>
              <a:ext uri="{28A0092B-C50C-407E-A947-70E740481C1C}">
                <a14:useLocalDpi xmlns:a14="http://schemas.microsoft.com/office/drawing/2010/main" val="0"/>
              </a:ext>
            </a:extLst>
          </a:blip>
          <a:srcRect l="8273" r="14503"/>
          <a:stretch/>
        </p:blipFill>
        <p:spPr bwMode="auto">
          <a:xfrm>
            <a:off x="199505" y="1461567"/>
            <a:ext cx="2826327" cy="1696887"/>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5 vantagens do reconhecimento facial no pagamento - Varejo S.A"/>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4503" y="5266166"/>
            <a:ext cx="2567534" cy="154587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Diagnóstico IA: limites e potencial da inteligência artificial na medicina"/>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34931" y="3378562"/>
            <a:ext cx="2629003" cy="17526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484006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a:xfrm>
            <a:off x="838200" y="365125"/>
            <a:ext cx="11050782" cy="1325563"/>
          </a:xfrm>
        </p:spPr>
        <p:txBody>
          <a:bodyPr/>
          <a:lstStyle/>
          <a:p>
            <a:r>
              <a:rPr lang="pt-BR" dirty="0"/>
              <a:t>Alguns problemas do aprendizado supervisionado</a:t>
            </a:r>
          </a:p>
        </p:txBody>
      </p:sp>
      <p:sp>
        <p:nvSpPr>
          <p:cNvPr id="4" name="Retângulo 3"/>
          <p:cNvSpPr/>
          <p:nvPr/>
        </p:nvSpPr>
        <p:spPr>
          <a:xfrm>
            <a:off x="7990114" y="3032983"/>
            <a:ext cx="3898868" cy="1077218"/>
          </a:xfrm>
          <a:prstGeom prst="rect">
            <a:avLst/>
          </a:prstGeom>
        </p:spPr>
        <p:txBody>
          <a:bodyPr wrap="square">
            <a:spAutoFit/>
          </a:bodyPr>
          <a:lstStyle/>
          <a:p>
            <a:pPr algn="ctr"/>
            <a:r>
              <a:rPr lang="pt-BR" sz="3200" b="1" dirty="0"/>
              <a:t>Falta de dados de treinamento</a:t>
            </a:r>
          </a:p>
        </p:txBody>
      </p:sp>
      <p:pic>
        <p:nvPicPr>
          <p:cNvPr id="8196" name="Picture 4" descr="Supervised machine learning : r/ProgrammerHumo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2D3DEF00-33DF-2EE5-2E59-089B3EDDB4BF}"/>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 xmlns:a16="http://schemas.microsoft.com/office/drawing/2014/main" id="{8A0828A3-A905-2F67-2810-D518A797B031}"/>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 xmlns:a16="http://schemas.microsoft.com/office/drawing/2014/main" id="{CE66D74E-DF26-B796-7F03-85239531317B}"/>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 xmlns:a16="http://schemas.microsoft.com/office/drawing/2014/main" id="{A113C324-9DF5-F869-C4B8-2C92BCF896FA}"/>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9" name="TextBox 8">
            <a:extLst>
              <a:ext uri="{FF2B5EF4-FFF2-40B4-BE49-F238E27FC236}">
                <a16:creationId xmlns="" xmlns:a16="http://schemas.microsoft.com/office/drawing/2014/main" id="{3BC6319B-2436-D3A4-22BA-498B9F37F06D}"/>
              </a:ext>
            </a:extLst>
          </p:cNvPr>
          <p:cNvSpPr txBox="1"/>
          <p:nvPr/>
        </p:nvSpPr>
        <p:spPr>
          <a:xfrm>
            <a:off x="8179328" y="4390695"/>
            <a:ext cx="3520440" cy="1569660"/>
          </a:xfrm>
          <a:prstGeom prst="rect">
            <a:avLst/>
          </a:prstGeom>
          <a:noFill/>
        </p:spPr>
        <p:txBody>
          <a:bodyPr wrap="square">
            <a:spAutoFit/>
          </a:bodyPr>
          <a:lstStyle/>
          <a:p>
            <a:pPr algn="ctr" rtl="0"/>
            <a:r>
              <a:rPr lang="pt-BR" sz="2400" kern="1200" dirty="0">
                <a:solidFill>
                  <a:schemeClr val="tx1"/>
                </a:solidFill>
                <a:effectLst/>
                <a:latin typeface="+mn-lt"/>
                <a:ea typeface="+mn-ea"/>
                <a:cs typeface="+mn-cs"/>
              </a:rPr>
              <a:t>O bebê aprende quem é seu pai </a:t>
            </a:r>
            <a:r>
              <a:rPr lang="pt-BR" sz="2400" dirty="0"/>
              <a:t>o observando de </a:t>
            </a:r>
            <a:r>
              <a:rPr lang="pt-BR" sz="2400" b="1" dirty="0" smtClean="0"/>
              <a:t>apenas uma </a:t>
            </a:r>
            <a:r>
              <a:rPr lang="pt-BR" sz="2400" kern="1200" dirty="0">
                <a:solidFill>
                  <a:schemeClr val="tx1"/>
                </a:solidFill>
                <a:effectLst/>
                <a:latin typeface="+mn-lt"/>
                <a:ea typeface="+mn-ea"/>
                <a:cs typeface="+mn-cs"/>
              </a:rPr>
              <a:t>posição </a:t>
            </a:r>
            <a:r>
              <a:rPr lang="pt-BR" sz="2400" kern="1200" dirty="0" smtClean="0">
                <a:solidFill>
                  <a:schemeClr val="tx1"/>
                </a:solidFill>
                <a:effectLst/>
                <a:latin typeface="+mn-lt"/>
                <a:ea typeface="+mn-ea"/>
                <a:cs typeface="+mn-cs"/>
              </a:rPr>
              <a:t>bem específica</a:t>
            </a:r>
            <a:r>
              <a:rPr lang="pt-BR" sz="2400" kern="1200" dirty="0">
                <a:solidFill>
                  <a:schemeClr val="tx1"/>
                </a:solidFill>
                <a:effectLst/>
                <a:latin typeface="+mn-lt"/>
                <a:ea typeface="+mn-ea"/>
                <a:cs typeface="+mn-cs"/>
              </a:rPr>
              <a:t>.</a:t>
            </a:r>
          </a:p>
        </p:txBody>
      </p:sp>
    </p:spTree>
    <p:extLst>
      <p:ext uri="{BB962C8B-B14F-4D97-AF65-F5344CB8AC3E}">
        <p14:creationId xmlns:p14="http://schemas.microsoft.com/office/powerpoint/2010/main" val="4237290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1EDB1A1F-3A92-A4D5-30C5-0A2F37C6E95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118E843B-FF95-CC81-50C0-D29F09673D0C}"/>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 xmlns:a16="http://schemas.microsoft.com/office/drawing/2014/main" id="{9AC0F0FB-86A6-1327-90D4-AAA53078838E}"/>
              </a:ext>
            </a:extLst>
          </p:cNvPr>
          <p:cNvSpPr/>
          <p:nvPr/>
        </p:nvSpPr>
        <p:spPr>
          <a:xfrm>
            <a:off x="8012974" y="2163528"/>
            <a:ext cx="3898868" cy="1569660"/>
          </a:xfrm>
          <a:prstGeom prst="rect">
            <a:avLst/>
          </a:prstGeom>
        </p:spPr>
        <p:txBody>
          <a:bodyPr wrap="square">
            <a:spAutoFit/>
          </a:bodyPr>
          <a:lstStyle/>
          <a:p>
            <a:pPr algn="ctr"/>
            <a:r>
              <a:rPr lang="pt-BR" sz="3200" b="1" dirty="0" smtClean="0"/>
              <a:t>A falta </a:t>
            </a:r>
            <a:r>
              <a:rPr lang="pt-BR" sz="3200" b="1" dirty="0"/>
              <a:t>de dados de treinamento </a:t>
            </a:r>
            <a:r>
              <a:rPr lang="pt-BR" sz="3200" b="1" dirty="0" smtClean="0"/>
              <a:t>pod</a:t>
            </a:r>
            <a:r>
              <a:rPr lang="pt-BR" sz="3200" b="1" dirty="0" smtClean="0"/>
              <a:t>e </a:t>
            </a:r>
            <a:r>
              <a:rPr lang="pt-BR" sz="3200" b="1" dirty="0" smtClean="0"/>
              <a:t>causar </a:t>
            </a:r>
            <a:r>
              <a:rPr lang="pt-BR" sz="3200" b="1" dirty="0">
                <a:solidFill>
                  <a:srgbClr val="7030A0"/>
                </a:solidFill>
              </a:rPr>
              <a:t>sobreajuste</a:t>
            </a:r>
          </a:p>
        </p:txBody>
      </p:sp>
      <p:pic>
        <p:nvPicPr>
          <p:cNvPr id="8196" name="Picture 4" descr="Supervised machine learning : r/ProgrammerHumor">
            <a:extLst>
              <a:ext uri="{FF2B5EF4-FFF2-40B4-BE49-F238E27FC236}">
                <a16:creationId xmlns="" xmlns:a16="http://schemas.microsoft.com/office/drawing/2014/main" id="{FDC7A532-D603-2988-28DC-2C80760B657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576751"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6AF85D3C-E67E-4B71-2EAB-69BA01E312DC}"/>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 xmlns:a16="http://schemas.microsoft.com/office/drawing/2014/main" id="{14FF5DC3-30B3-CB68-A2C8-11C3C97E5FBA}"/>
              </a:ext>
            </a:extLst>
          </p:cNvPr>
          <p:cNvSpPr txBox="1"/>
          <p:nvPr/>
        </p:nvSpPr>
        <p:spPr>
          <a:xfrm>
            <a:off x="5275709"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 xmlns:a16="http://schemas.microsoft.com/office/drawing/2014/main" id="{4F43D926-53BD-1955-FB6C-17AE6223AAC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 xmlns:a16="http://schemas.microsoft.com/office/drawing/2014/main" id="{4CAB0EB4-B1BF-56FC-C5E3-FB55CE671799}"/>
              </a:ext>
            </a:extLst>
          </p:cNvPr>
          <p:cNvSpPr txBox="1"/>
          <p:nvPr/>
        </p:nvSpPr>
        <p:spPr>
          <a:xfrm>
            <a:off x="5050971" y="4206029"/>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 xmlns:a16="http://schemas.microsoft.com/office/drawing/2014/main" id="{B8F3D006-C8F1-A5D7-9F1B-45BDE05787EB}"/>
              </a:ext>
            </a:extLst>
          </p:cNvPr>
          <p:cNvSpPr txBox="1"/>
          <p:nvPr/>
        </p:nvSpPr>
        <p:spPr>
          <a:xfrm>
            <a:off x="8202188" y="4390695"/>
            <a:ext cx="3520440" cy="1938992"/>
          </a:xfrm>
          <a:prstGeom prst="rect">
            <a:avLst/>
          </a:prstGeom>
          <a:noFill/>
        </p:spPr>
        <p:txBody>
          <a:bodyPr wrap="square">
            <a:spAutoFit/>
          </a:bodyPr>
          <a:lstStyle/>
          <a:p>
            <a:pPr algn="ctr"/>
            <a:r>
              <a:rPr lang="pt-BR" sz="2400" kern="1200" dirty="0">
                <a:solidFill>
                  <a:schemeClr val="tx1"/>
                </a:solidFill>
                <a:effectLst/>
                <a:latin typeface="+mn-lt"/>
                <a:ea typeface="+mn-ea"/>
                <a:cs typeface="+mn-cs"/>
              </a:rPr>
              <a:t>Por não ter muitos exemplos, o </a:t>
            </a:r>
            <a:r>
              <a:rPr lang="pt-BR" sz="2400" dirty="0" smtClean="0"/>
              <a:t>bebê "</a:t>
            </a:r>
            <a:r>
              <a:rPr lang="pt-BR" sz="2400" b="1" dirty="0" smtClean="0">
                <a:solidFill>
                  <a:srgbClr val="7030A0"/>
                </a:solidFill>
              </a:rPr>
              <a:t>decora</a:t>
            </a:r>
            <a:r>
              <a:rPr lang="pt-BR" sz="2400" dirty="0"/>
              <a:t>" características muito específicas dos dados de </a:t>
            </a:r>
            <a:r>
              <a:rPr lang="pt-BR" sz="2400" b="1" dirty="0"/>
              <a:t>treinamento</a:t>
            </a:r>
            <a:r>
              <a:rPr lang="pt-BR" sz="2400" dirty="0"/>
              <a:t>. </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2093144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9FD08DC0-6222-9B76-41EF-5AD5C40F8D30}"/>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D8AE3A1-B727-6EBE-3422-D88B7FE38009}"/>
              </a:ext>
            </a:extLst>
          </p:cNvPr>
          <p:cNvSpPr>
            <a:spLocks noGrp="1"/>
          </p:cNvSpPr>
          <p:nvPr>
            <p:ph type="title"/>
          </p:nvPr>
        </p:nvSpPr>
        <p:spPr/>
        <p:txBody>
          <a:bodyPr/>
          <a:lstStyle/>
          <a:p>
            <a:r>
              <a:rPr lang="pt-BR" dirty="0"/>
              <a:t>Alguns problemas do aprendizado supervisionado</a:t>
            </a:r>
          </a:p>
        </p:txBody>
      </p:sp>
      <p:sp>
        <p:nvSpPr>
          <p:cNvPr id="4" name="Retângulo 3">
            <a:extLst>
              <a:ext uri="{FF2B5EF4-FFF2-40B4-BE49-F238E27FC236}">
                <a16:creationId xmlns="" xmlns:a16="http://schemas.microsoft.com/office/drawing/2014/main" id="{504C956C-20D8-281F-D56E-19E190FDD24B}"/>
              </a:ext>
            </a:extLst>
          </p:cNvPr>
          <p:cNvSpPr/>
          <p:nvPr/>
        </p:nvSpPr>
        <p:spPr>
          <a:xfrm>
            <a:off x="7875814" y="2151727"/>
            <a:ext cx="3898868" cy="2062103"/>
          </a:xfrm>
          <a:prstGeom prst="rect">
            <a:avLst/>
          </a:prstGeom>
        </p:spPr>
        <p:txBody>
          <a:bodyPr wrap="square">
            <a:spAutoFit/>
          </a:bodyPr>
          <a:lstStyle/>
          <a:p>
            <a:pPr algn="ctr"/>
            <a:r>
              <a:rPr lang="pt-BR" sz="3200" dirty="0"/>
              <a:t>Um modelo que se </a:t>
            </a:r>
            <a:r>
              <a:rPr lang="pt-BR" sz="3200" b="1" dirty="0"/>
              <a:t>sobreajuste</a:t>
            </a:r>
            <a:r>
              <a:rPr lang="pt-BR" sz="3200" dirty="0"/>
              <a:t> ao dados de treinamento, </a:t>
            </a:r>
            <a:r>
              <a:rPr lang="pt-BR" sz="3200" b="1" dirty="0">
                <a:solidFill>
                  <a:srgbClr val="7030A0"/>
                </a:solidFill>
              </a:rPr>
              <a:t>não generaliza</a:t>
            </a:r>
            <a:r>
              <a:rPr lang="pt-BR" sz="3200" dirty="0"/>
              <a:t>.</a:t>
            </a:r>
          </a:p>
        </p:txBody>
      </p:sp>
      <p:pic>
        <p:nvPicPr>
          <p:cNvPr id="8196" name="Picture 4" descr="Supervised machine learning : r/ProgrammerHumor">
            <a:extLst>
              <a:ext uri="{FF2B5EF4-FFF2-40B4-BE49-F238E27FC236}">
                <a16:creationId xmlns="" xmlns:a16="http://schemas.microsoft.com/office/drawing/2014/main" id="{EEFC10BD-A52F-B234-44BF-210FBBE981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4876"/>
          <a:stretch/>
        </p:blipFill>
        <p:spPr bwMode="auto">
          <a:xfrm>
            <a:off x="2483763" y="1690688"/>
            <a:ext cx="4948440" cy="50306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A3CB9FFA-823B-ACB9-E4D3-638825D5ACEE}"/>
              </a:ext>
            </a:extLst>
          </p:cNvPr>
          <p:cNvSpPr txBox="1"/>
          <p:nvPr/>
        </p:nvSpPr>
        <p:spPr>
          <a:xfrm>
            <a:off x="2656113" y="1690688"/>
            <a:ext cx="1654629" cy="369332"/>
          </a:xfrm>
          <a:prstGeom prst="rect">
            <a:avLst/>
          </a:prstGeom>
          <a:noFill/>
        </p:spPr>
        <p:txBody>
          <a:bodyPr wrap="square" rtlCol="0">
            <a:spAutoFit/>
          </a:bodyPr>
          <a:lstStyle/>
          <a:p>
            <a:r>
              <a:rPr lang="pt-BR" b="1" dirty="0"/>
              <a:t>Treinamento</a:t>
            </a:r>
            <a:endParaRPr lang="en-US" b="1" dirty="0"/>
          </a:p>
        </p:txBody>
      </p:sp>
      <p:sp>
        <p:nvSpPr>
          <p:cNvPr id="5" name="TextBox 4">
            <a:extLst>
              <a:ext uri="{FF2B5EF4-FFF2-40B4-BE49-F238E27FC236}">
                <a16:creationId xmlns="" xmlns:a16="http://schemas.microsoft.com/office/drawing/2014/main" id="{D21CF58E-C23F-F4B2-B5D2-14B751507E90}"/>
              </a:ext>
            </a:extLst>
          </p:cNvPr>
          <p:cNvSpPr txBox="1"/>
          <p:nvPr/>
        </p:nvSpPr>
        <p:spPr>
          <a:xfrm>
            <a:off x="5058737" y="1690688"/>
            <a:ext cx="1654629" cy="369332"/>
          </a:xfrm>
          <a:prstGeom prst="rect">
            <a:avLst/>
          </a:prstGeom>
          <a:noFill/>
        </p:spPr>
        <p:txBody>
          <a:bodyPr wrap="square" rtlCol="0">
            <a:spAutoFit/>
          </a:bodyPr>
          <a:lstStyle/>
          <a:p>
            <a:r>
              <a:rPr lang="pt-BR" b="1" dirty="0"/>
              <a:t>Inferência</a:t>
            </a:r>
            <a:endParaRPr lang="en-US" b="1" dirty="0"/>
          </a:p>
        </p:txBody>
      </p:sp>
      <p:sp>
        <p:nvSpPr>
          <p:cNvPr id="6" name="TextBox 5">
            <a:extLst>
              <a:ext uri="{FF2B5EF4-FFF2-40B4-BE49-F238E27FC236}">
                <a16:creationId xmlns="" xmlns:a16="http://schemas.microsoft.com/office/drawing/2014/main" id="{2386A6AA-43F6-BFD8-22F2-EC1474CB4007}"/>
              </a:ext>
            </a:extLst>
          </p:cNvPr>
          <p:cNvSpPr txBox="1"/>
          <p:nvPr/>
        </p:nvSpPr>
        <p:spPr>
          <a:xfrm>
            <a:off x="2576751" y="4206029"/>
            <a:ext cx="1654629" cy="369332"/>
          </a:xfrm>
          <a:prstGeom prst="rect">
            <a:avLst/>
          </a:prstGeom>
          <a:noFill/>
        </p:spPr>
        <p:txBody>
          <a:bodyPr wrap="square" rtlCol="0">
            <a:spAutoFit/>
          </a:bodyPr>
          <a:lstStyle/>
          <a:p>
            <a:r>
              <a:rPr lang="pt-BR" b="1" dirty="0"/>
              <a:t>Inferência</a:t>
            </a:r>
            <a:endParaRPr lang="en-US" b="1" dirty="0"/>
          </a:p>
        </p:txBody>
      </p:sp>
      <p:sp>
        <p:nvSpPr>
          <p:cNvPr id="7" name="TextBox 6">
            <a:extLst>
              <a:ext uri="{FF2B5EF4-FFF2-40B4-BE49-F238E27FC236}">
                <a16:creationId xmlns="" xmlns:a16="http://schemas.microsoft.com/office/drawing/2014/main" id="{33A29B42-78F6-E405-5B9E-3070A46287B8}"/>
              </a:ext>
            </a:extLst>
          </p:cNvPr>
          <p:cNvSpPr txBox="1"/>
          <p:nvPr/>
        </p:nvSpPr>
        <p:spPr>
          <a:xfrm>
            <a:off x="5004477" y="4175033"/>
            <a:ext cx="1654629" cy="369332"/>
          </a:xfrm>
          <a:prstGeom prst="rect">
            <a:avLst/>
          </a:prstGeom>
          <a:noFill/>
        </p:spPr>
        <p:txBody>
          <a:bodyPr wrap="square" rtlCol="0">
            <a:spAutoFit/>
          </a:bodyPr>
          <a:lstStyle/>
          <a:p>
            <a:r>
              <a:rPr lang="pt-BR" b="1" dirty="0"/>
              <a:t>Inferência</a:t>
            </a:r>
            <a:endParaRPr lang="en-US" b="1" dirty="0"/>
          </a:p>
        </p:txBody>
      </p:sp>
      <p:sp>
        <p:nvSpPr>
          <p:cNvPr id="8" name="TextBox 7">
            <a:extLst>
              <a:ext uri="{FF2B5EF4-FFF2-40B4-BE49-F238E27FC236}">
                <a16:creationId xmlns="" xmlns:a16="http://schemas.microsoft.com/office/drawing/2014/main" id="{124C20D5-A6A6-96E0-3C12-7A857A36A489}"/>
              </a:ext>
            </a:extLst>
          </p:cNvPr>
          <p:cNvSpPr txBox="1"/>
          <p:nvPr/>
        </p:nvSpPr>
        <p:spPr>
          <a:xfrm>
            <a:off x="7525191" y="4390695"/>
            <a:ext cx="4535837" cy="2246769"/>
          </a:xfrm>
          <a:prstGeom prst="rect">
            <a:avLst/>
          </a:prstGeom>
          <a:noFill/>
        </p:spPr>
        <p:txBody>
          <a:bodyPr wrap="square">
            <a:spAutoFit/>
          </a:bodyPr>
          <a:lstStyle/>
          <a:p>
            <a:pPr algn="ctr"/>
            <a:r>
              <a:rPr lang="pt-BR" sz="2400" kern="1200" dirty="0" smtClean="0">
                <a:solidFill>
                  <a:schemeClr val="tx1"/>
                </a:solidFill>
                <a:effectLst/>
                <a:latin typeface="+mn-lt"/>
                <a:ea typeface="+mn-ea"/>
                <a:cs typeface="+mn-cs"/>
              </a:rPr>
              <a:t>Se o </a:t>
            </a:r>
            <a:r>
              <a:rPr lang="pt-BR" sz="2400" kern="1200" dirty="0">
                <a:solidFill>
                  <a:schemeClr val="tx1"/>
                </a:solidFill>
                <a:effectLst/>
                <a:latin typeface="+mn-lt"/>
                <a:ea typeface="+mn-ea"/>
                <a:cs typeface="+mn-cs"/>
              </a:rPr>
              <a:t>bebê </a:t>
            </a:r>
            <a:r>
              <a:rPr lang="pt-BR" sz="2400" b="1" kern="1200" dirty="0" smtClean="0">
                <a:solidFill>
                  <a:srgbClr val="00B050"/>
                </a:solidFill>
                <a:effectLst/>
                <a:latin typeface="+mn-lt"/>
                <a:ea typeface="+mn-ea"/>
                <a:cs typeface="+mn-cs"/>
              </a:rPr>
              <a:t>generalizasse</a:t>
            </a:r>
            <a:r>
              <a:rPr lang="pt-BR" sz="2400" kern="1200" dirty="0" smtClean="0">
                <a:solidFill>
                  <a:schemeClr val="tx1"/>
                </a:solidFill>
                <a:effectLst/>
                <a:latin typeface="+mn-lt"/>
                <a:ea typeface="+mn-ea"/>
                <a:cs typeface="+mn-cs"/>
              </a:rPr>
              <a:t>, ele reconheceria seu </a:t>
            </a:r>
            <a:r>
              <a:rPr lang="pt-BR" sz="2400" kern="1200" dirty="0">
                <a:solidFill>
                  <a:schemeClr val="tx1"/>
                </a:solidFill>
                <a:effectLst/>
                <a:latin typeface="+mn-lt"/>
                <a:ea typeface="+mn-ea"/>
                <a:cs typeface="+mn-cs"/>
              </a:rPr>
              <a:t>pai mesmo ele estando de pé, de chapéu, etc.</a:t>
            </a:r>
          </a:p>
          <a:p>
            <a:pPr algn="ctr"/>
            <a:endParaRPr lang="pt-BR" sz="2000" kern="1200" dirty="0">
              <a:solidFill>
                <a:schemeClr val="tx1"/>
              </a:solidFill>
              <a:effectLst/>
              <a:latin typeface="+mn-lt"/>
              <a:ea typeface="+mn-ea"/>
              <a:cs typeface="+mn-cs"/>
            </a:endParaRPr>
          </a:p>
          <a:p>
            <a:pPr algn="ctr"/>
            <a:r>
              <a:rPr lang="pt-BR" sz="2400" dirty="0"/>
              <a:t>Ele também </a:t>
            </a:r>
            <a:r>
              <a:rPr lang="pt-BR" sz="2400" dirty="0" smtClean="0"/>
              <a:t>aprenderia o </a:t>
            </a:r>
            <a:r>
              <a:rPr lang="pt-BR" sz="2400" dirty="0"/>
              <a:t>que não é seu pai.</a:t>
            </a:r>
            <a:endParaRPr lang="pt-BR" sz="2400" kern="1200" dirty="0">
              <a:solidFill>
                <a:schemeClr val="tx1"/>
              </a:solidFill>
              <a:effectLst/>
              <a:latin typeface="+mn-lt"/>
              <a:ea typeface="+mn-ea"/>
              <a:cs typeface="+mn-cs"/>
            </a:endParaRPr>
          </a:p>
        </p:txBody>
      </p:sp>
    </p:spTree>
    <p:extLst>
      <p:ext uri="{BB962C8B-B14F-4D97-AF65-F5344CB8AC3E}">
        <p14:creationId xmlns:p14="http://schemas.microsoft.com/office/powerpoint/2010/main" val="12553975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863842" y="2800858"/>
            <a:ext cx="3895898" cy="2062103"/>
          </a:xfrm>
          <a:prstGeom prst="rect">
            <a:avLst/>
          </a:prstGeom>
        </p:spPr>
        <p:txBody>
          <a:bodyPr wrap="square">
            <a:spAutoFit/>
          </a:bodyPr>
          <a:lstStyle/>
          <a:p>
            <a:pPr algn="ctr"/>
            <a:r>
              <a:rPr lang="pt-BR" sz="3200" dirty="0"/>
              <a:t>Diferente do paradigma anterior, aqui </a:t>
            </a:r>
            <a:r>
              <a:rPr lang="pt-BR" sz="3200" b="1" dirty="0"/>
              <a:t>não existe um tutor (i.e., professor)</a:t>
            </a:r>
            <a:r>
              <a:rPr lang="pt-BR" sz="3200" dirty="0"/>
              <a:t> </a:t>
            </a:r>
            <a:endParaRPr lang="pt-BR" sz="3200" b="1" dirty="0"/>
          </a:p>
        </p:txBody>
      </p:sp>
    </p:spTree>
    <p:extLst>
      <p:ext uri="{BB962C8B-B14F-4D97-AF65-F5344CB8AC3E}">
        <p14:creationId xmlns:p14="http://schemas.microsoft.com/office/powerpoint/2010/main" val="1177588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3080" name="Picture 8" descr="trying to show your a &quot;qualified Developper in 2024&quot; but your using Qwik  Framework / city 😎 currently working on: 👇 &quot;what could be a e-commerce  platform&quot; https://lnkd.in/eUS3tZfp of course… | Jean-Philippe"/>
          <p:cNvPicPr>
            <a:picLocks noChangeAspect="1" noChangeArrowheads="1"/>
          </p:cNvPicPr>
          <p:nvPr/>
        </p:nvPicPr>
        <p:blipFill rotWithShape="1">
          <a:blip r:embed="rId3">
            <a:extLst>
              <a:ext uri="{28A0092B-C50C-407E-A947-70E740481C1C}">
                <a14:useLocalDpi xmlns:a14="http://schemas.microsoft.com/office/drawing/2010/main" val="0"/>
              </a:ext>
            </a:extLst>
          </a:blip>
          <a:srcRect l="2814" t="22215" r="2227" b="4038"/>
          <a:stretch/>
        </p:blipFill>
        <p:spPr bwMode="auto">
          <a:xfrm>
            <a:off x="838200" y="2161307"/>
            <a:ext cx="6817423" cy="3657602"/>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p:cNvSpPr/>
          <p:nvPr/>
        </p:nvSpPr>
        <p:spPr>
          <a:xfrm>
            <a:off x="7869036" y="3005028"/>
            <a:ext cx="3841530" cy="1077218"/>
          </a:xfrm>
          <a:prstGeom prst="rect">
            <a:avLst/>
          </a:prstGeom>
        </p:spPr>
        <p:txBody>
          <a:bodyPr wrap="square">
            <a:spAutoFit/>
          </a:bodyPr>
          <a:lstStyle/>
          <a:p>
            <a:pPr algn="ctr"/>
            <a:r>
              <a:rPr lang="pt-BR" sz="3200" dirty="0"/>
              <a:t>Ou seja, </a:t>
            </a:r>
            <a:r>
              <a:rPr lang="pt-BR" sz="3200" b="1" dirty="0"/>
              <a:t>não existem rótulos.</a:t>
            </a:r>
          </a:p>
        </p:txBody>
      </p:sp>
    </p:spTree>
    <p:extLst>
      <p:ext uri="{BB962C8B-B14F-4D97-AF65-F5344CB8AC3E}">
        <p14:creationId xmlns:p14="http://schemas.microsoft.com/office/powerpoint/2010/main" val="17757746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2050" name="Picture 2" descr="The difference between supervised and unsupervised learning, illustrated by  @Ciaraioch #supervisedlearning #unsupervisedlearning #machinelearning  #dataanalytics #BigData #Analytics #DataScience #Statistics #DataScientists  #StatisticalLiteracy"/>
          <p:cNvPicPr>
            <a:picLocks noChangeAspect="1" noChangeArrowheads="1"/>
          </p:cNvPicPr>
          <p:nvPr/>
        </p:nvPicPr>
        <p:blipFill rotWithShape="1">
          <a:blip r:embed="rId2">
            <a:extLst>
              <a:ext uri="{28A0092B-C50C-407E-A947-70E740481C1C}">
                <a14:useLocalDpi xmlns:a14="http://schemas.microsoft.com/office/drawing/2010/main" val="0"/>
              </a:ext>
            </a:extLst>
          </a:blip>
          <a:srcRect l="50714"/>
          <a:stretch/>
        </p:blipFill>
        <p:spPr bwMode="auto">
          <a:xfrm>
            <a:off x="1241104" y="1856942"/>
            <a:ext cx="6038493" cy="4553673"/>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772054" y="2496289"/>
            <a:ext cx="3841530" cy="2554545"/>
          </a:xfrm>
          <a:prstGeom prst="rect">
            <a:avLst/>
          </a:prstGeom>
        </p:spPr>
        <p:txBody>
          <a:bodyPr wrap="square">
            <a:spAutoFit/>
          </a:bodyPr>
          <a:lstStyle/>
          <a:p>
            <a:pPr algn="ctr"/>
            <a:r>
              <a:rPr lang="pt-BR" sz="3200" dirty="0" smtClean="0"/>
              <a:t>O aprendizado ocorre identificando </a:t>
            </a:r>
            <a:r>
              <a:rPr lang="pt-BR" sz="3200" b="1" dirty="0" smtClean="0">
                <a:solidFill>
                  <a:srgbClr val="00B050"/>
                </a:solidFill>
              </a:rPr>
              <a:t>similaridades e diferenças entre os dados</a:t>
            </a:r>
            <a:r>
              <a:rPr lang="pt-BR" sz="3200" dirty="0"/>
              <a:t>.</a:t>
            </a:r>
            <a:endParaRPr lang="pt-BR" sz="3200" dirty="0"/>
          </a:p>
        </p:txBody>
      </p:sp>
    </p:spTree>
    <p:extLst>
      <p:ext uri="{BB962C8B-B14F-4D97-AF65-F5344CB8AC3E}">
        <p14:creationId xmlns:p14="http://schemas.microsoft.com/office/powerpoint/2010/main" val="37213615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pic>
        <p:nvPicPr>
          <p:cNvPr id="1026" name="Picture 2" descr="Clustering: From Fruits to Finance, Unraveling Data Mysterie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3032" y="2203530"/>
            <a:ext cx="6524195" cy="4345115"/>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p:cNvSpPr/>
          <p:nvPr/>
        </p:nvSpPr>
        <p:spPr>
          <a:xfrm>
            <a:off x="7408190" y="3123116"/>
            <a:ext cx="4583362" cy="2062103"/>
          </a:xfrm>
          <a:prstGeom prst="rect">
            <a:avLst/>
          </a:prstGeom>
        </p:spPr>
        <p:txBody>
          <a:bodyPr wrap="square">
            <a:spAutoFit/>
          </a:bodyPr>
          <a:lstStyle/>
          <a:p>
            <a:pPr algn="ctr"/>
            <a:r>
              <a:rPr lang="pt-BR" sz="3200" dirty="0"/>
              <a:t>Eu </a:t>
            </a:r>
            <a:r>
              <a:rPr lang="pt-BR" sz="3200" b="1" dirty="0">
                <a:solidFill>
                  <a:schemeClr val="accent2"/>
                </a:solidFill>
              </a:rPr>
              <a:t>não sei </a:t>
            </a:r>
            <a:r>
              <a:rPr lang="pt-BR" sz="3200" dirty="0"/>
              <a:t>o que </a:t>
            </a:r>
            <a:r>
              <a:rPr lang="pt-BR" sz="3200" dirty="0" smtClean="0"/>
              <a:t>são esses objetos, </a:t>
            </a:r>
            <a:r>
              <a:rPr lang="pt-BR" sz="3200" dirty="0"/>
              <a:t>mas esses aqui se </a:t>
            </a:r>
            <a:r>
              <a:rPr lang="pt-BR" sz="3200" b="1" dirty="0">
                <a:solidFill>
                  <a:srgbClr val="7030A0"/>
                </a:solidFill>
              </a:rPr>
              <a:t>parecem e esses são diferentes</a:t>
            </a:r>
            <a:r>
              <a:rPr lang="pt-BR" sz="3200" dirty="0"/>
              <a:t>!</a:t>
            </a:r>
          </a:p>
        </p:txBody>
      </p:sp>
    </p:spTree>
    <p:extLst>
      <p:ext uri="{BB962C8B-B14F-4D97-AF65-F5344CB8AC3E}">
        <p14:creationId xmlns:p14="http://schemas.microsoft.com/office/powerpoint/2010/main" val="208474524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083FFF02-0FC8-9F0B-AAB0-565FC99EA70D}"/>
              </a:ext>
            </a:extLst>
          </p:cNvPr>
          <p:cNvSpPr>
            <a:spLocks noGrp="1"/>
          </p:cNvSpPr>
          <p:nvPr>
            <p:ph type="title"/>
          </p:nvPr>
        </p:nvSpPr>
        <p:spPr/>
        <p:txBody>
          <a:bodyPr/>
          <a:lstStyle/>
          <a:p>
            <a:r>
              <a:rPr lang="pt-BR" dirty="0"/>
              <a:t>Aprendizado não-supervisionado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 xmlns:a16="http://schemas.microsoft.com/office/drawing/2014/main" id="{8C5488AE-34B4-EF1D-F674-507FF2FCD122}"/>
                  </a:ext>
                </a:extLst>
              </p:cNvPr>
              <p:cNvSpPr>
                <a:spLocks noGrp="1"/>
              </p:cNvSpPr>
              <p:nvPr>
                <p:ph idx="1"/>
              </p:nvPr>
            </p:nvSpPr>
            <p:spPr>
              <a:xfrm>
                <a:off x="5540285" y="1825624"/>
                <a:ext cx="6513169" cy="5032375"/>
              </a:xfrm>
            </p:spPr>
            <p:txBody>
              <a:bodyPr>
                <a:normAutofit/>
              </a:bodyPr>
              <a:lstStyle/>
              <a:p>
                <a:r>
                  <a:rPr lang="pt-BR" b="1" dirty="0"/>
                  <a:t>Como funciona:</a:t>
                </a:r>
                <a:r>
                  <a:rPr lang="pt-BR" dirty="0"/>
                  <a:t> O modelo recebe apenas a entrada, </a:t>
                </a:r>
                <a14:m>
                  <m:oMath xmlns:m="http://schemas.openxmlformats.org/officeDocument/2006/math">
                    <m:r>
                      <a:rPr lang="pt-BR" b="0" i="1" smtClean="0">
                        <a:latin typeface="Cambria Math" panose="02040503050406030204" pitchFamily="18" charset="0"/>
                      </a:rPr>
                      <m:t>𝑥</m:t>
                    </m:r>
                  </m:oMath>
                </a14:m>
                <a:r>
                  <a:rPr lang="pt-BR" dirty="0"/>
                  <a:t>. </a:t>
                </a:r>
              </a:p>
              <a:p>
                <a:pPr lvl="1">
                  <a:buFont typeface="Wingdings" panose="05000000000000000000" pitchFamily="2" charset="2"/>
                  <a:buChar char="§"/>
                </a:pPr>
                <a:r>
                  <a:rPr lang="pt-BR" b="1" dirty="0"/>
                  <a:t>Não há um rótulo</a:t>
                </a:r>
                <a:r>
                  <a:rPr lang="pt-BR" dirty="0"/>
                  <a:t>, </a:t>
                </a:r>
                <a14:m>
                  <m:oMath xmlns:m="http://schemas.openxmlformats.org/officeDocument/2006/math">
                    <m:r>
                      <a:rPr lang="pt-BR" b="0" i="1" smtClean="0">
                        <a:latin typeface="Cambria Math" panose="02040503050406030204" pitchFamily="18" charset="0"/>
                      </a:rPr>
                      <m:t>𝑦</m:t>
                    </m:r>
                  </m:oMath>
                </a14:m>
                <a:r>
                  <a:rPr lang="pt-BR" dirty="0"/>
                  <a:t>, dizendo o que é o quê.</a:t>
                </a:r>
              </a:p>
              <a:p>
                <a:r>
                  <a:rPr lang="pt-BR" b="1" dirty="0"/>
                  <a:t>O objetivo:</a:t>
                </a:r>
                <a:r>
                  <a:rPr lang="pt-BR" dirty="0"/>
                  <a:t> </a:t>
                </a:r>
                <a:r>
                  <a:rPr lang="pt-BR"/>
                  <a:t>Encontrar </a:t>
                </a:r>
                <a:r>
                  <a:rPr lang="pt-BR" b="1" smtClean="0">
                    <a:solidFill>
                      <a:schemeClr val="accent2"/>
                    </a:solidFill>
                  </a:rPr>
                  <a:t>padrões</a:t>
                </a:r>
                <a:r>
                  <a:rPr lang="pt-BR" smtClean="0"/>
                  <a:t>, </a:t>
                </a:r>
                <a:r>
                  <a:rPr lang="pt-BR" dirty="0" smtClean="0"/>
                  <a:t>muitas vezes, escondidos, </a:t>
                </a:r>
                <a:r>
                  <a:rPr lang="pt-BR" dirty="0"/>
                  <a:t>nos dados.</a:t>
                </a:r>
              </a:p>
              <a:p>
                <a:r>
                  <a:rPr lang="pt-BR" b="1" dirty="0"/>
                  <a:t>O “</a:t>
                </a:r>
                <a:r>
                  <a:rPr lang="pt-BR" b="1" i="1" dirty="0"/>
                  <a:t>insight</a:t>
                </a:r>
                <a:r>
                  <a:rPr lang="pt-BR" b="1" dirty="0"/>
                  <a:t>":</a:t>
                </a:r>
                <a:r>
                  <a:rPr lang="pt-BR" dirty="0"/>
                  <a:t> A máquina </a:t>
                </a:r>
                <a:r>
                  <a:rPr lang="pt-BR" b="1" dirty="0"/>
                  <a:t>não sabe o que encontrou</a:t>
                </a:r>
                <a:r>
                  <a:rPr lang="pt-BR" dirty="0"/>
                  <a:t>, mas sabe que "estes itens aqui são </a:t>
                </a:r>
                <a:r>
                  <a:rPr lang="pt-BR" b="1" dirty="0"/>
                  <a:t>parecidos/similares </a:t>
                </a:r>
                <a:r>
                  <a:rPr lang="pt-BR" dirty="0"/>
                  <a:t>entre si e </a:t>
                </a:r>
                <a:r>
                  <a:rPr lang="pt-BR" b="1" dirty="0"/>
                  <a:t>diferentes</a:t>
                </a:r>
                <a:r>
                  <a:rPr lang="pt-BR" dirty="0"/>
                  <a:t> daqueles ali”.</a:t>
                </a:r>
              </a:p>
            </p:txBody>
          </p:sp>
        </mc:Choice>
        <mc:Fallback>
          <p:sp>
            <p:nvSpPr>
              <p:cNvPr id="3" name="Espaço Reservado para Conteúdo 2">
                <a:extLst>
                  <a:ext uri="{FF2B5EF4-FFF2-40B4-BE49-F238E27FC236}">
                    <a16:creationId xmlns="" xmlns:a16="http://schemas.microsoft.com/office/drawing/2014/main" xmlns:a14="http://schemas.microsoft.com/office/drawing/2010/main" id="{8C5488AE-34B4-EF1D-F674-507FF2FCD122}"/>
                  </a:ext>
                </a:extLst>
              </p:cNvPr>
              <p:cNvSpPr>
                <a:spLocks noGrp="1" noRot="1" noChangeAspect="1" noMove="1" noResize="1" noEditPoints="1" noAdjustHandles="1" noChangeArrowheads="1" noChangeShapeType="1" noTextEdit="1"/>
              </p:cNvSpPr>
              <p:nvPr>
                <p:ph idx="1"/>
              </p:nvPr>
            </p:nvSpPr>
            <p:spPr>
              <a:xfrm>
                <a:off x="5540285" y="1825624"/>
                <a:ext cx="6513169" cy="5032375"/>
              </a:xfrm>
              <a:blipFill rotWithShape="0">
                <a:blip r:embed="rId3"/>
                <a:stretch>
                  <a:fillRect l="-1685" t="-1937" r="-1685"/>
                </a:stretch>
              </a:blipFill>
            </p:spPr>
            <p:txBody>
              <a:bodyPr/>
              <a:lstStyle/>
              <a:p>
                <a:r>
                  <a:rPr lang="pt-BR">
                    <a:noFill/>
                  </a:rPr>
                  <a:t> </a:t>
                </a:r>
              </a:p>
            </p:txBody>
          </p:sp>
        </mc:Fallback>
      </mc:AlternateContent>
      <p:grpSp>
        <p:nvGrpSpPr>
          <p:cNvPr id="5" name="Grupo 4"/>
          <p:cNvGrpSpPr/>
          <p:nvPr/>
        </p:nvGrpSpPr>
        <p:grpSpPr>
          <a:xfrm>
            <a:off x="-12216" y="1634257"/>
            <a:ext cx="5552502" cy="5014422"/>
            <a:chOff x="187286" y="1634257"/>
            <a:chExt cx="5552502" cy="5014422"/>
          </a:xfrm>
        </p:grpSpPr>
        <p:pic>
          <p:nvPicPr>
            <p:cNvPr id="6" name="Picture 2" descr="K-means: A Complete Introduction. K-means is an unsupervised clustering… |  by Alan Jeffares | Towards Data Science">
              <a:extLst>
                <a:ext uri="{FF2B5EF4-FFF2-40B4-BE49-F238E27FC236}">
                  <a16:creationId xmlns="" xmlns:a16="http://schemas.microsoft.com/office/drawing/2014/main" id="{E01884DA-152B-FB68-C204-EDCDD46E5B4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391" t="11502" r="54947" b="10772"/>
            <a:stretch/>
          </p:blipFill>
          <p:spPr bwMode="auto">
            <a:xfrm>
              <a:off x="1797441" y="1634257"/>
              <a:ext cx="2918634" cy="216481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descr="Diagrama">
              <a:extLst>
                <a:ext uri="{FF2B5EF4-FFF2-40B4-BE49-F238E27FC236}">
                  <a16:creationId xmlns="" xmlns:a16="http://schemas.microsoft.com/office/drawing/2014/main" id="{8B9A1E77-24B1-7DF5-03C9-94E6E4C7F3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249" t="10730" b="10771"/>
            <a:stretch/>
          </p:blipFill>
          <p:spPr bwMode="auto">
            <a:xfrm>
              <a:off x="1797441" y="4466752"/>
              <a:ext cx="2918634" cy="2181927"/>
            </a:xfrm>
            <a:prstGeom prst="rect">
              <a:avLst/>
            </a:prstGeom>
            <a:noFill/>
            <a:extLst>
              <a:ext uri="{909E8E84-426E-40DD-AFC4-6F175D3DCCD1}">
                <a14:hiddenFill xmlns:a14="http://schemas.microsoft.com/office/drawing/2010/main">
                  <a:solidFill>
                    <a:srgbClr val="FFFFFF"/>
                  </a:solidFill>
                </a14:hiddenFill>
              </a:ext>
            </a:extLst>
          </p:spPr>
        </p:pic>
        <p:sp>
          <p:nvSpPr>
            <p:cNvPr id="8" name="Seta: para Baixo 4">
              <a:extLst>
                <a:ext uri="{FF2B5EF4-FFF2-40B4-BE49-F238E27FC236}">
                  <a16:creationId xmlns="" xmlns:a16="http://schemas.microsoft.com/office/drawing/2014/main" id="{9E19AC8B-C706-78C1-076D-5A1287FC616E}"/>
                </a:ext>
              </a:extLst>
            </p:cNvPr>
            <p:cNvSpPr/>
            <p:nvPr/>
          </p:nvSpPr>
          <p:spPr>
            <a:xfrm>
              <a:off x="3108030" y="3893589"/>
              <a:ext cx="297455" cy="47864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CaixaDeTexto 8">
              <a:extLst>
                <a:ext uri="{FF2B5EF4-FFF2-40B4-BE49-F238E27FC236}">
                  <a16:creationId xmlns="" xmlns:a16="http://schemas.microsoft.com/office/drawing/2014/main" id="{1F4FDDD9-F55E-36C2-19FF-7B20360E355B}"/>
                </a:ext>
              </a:extLst>
            </p:cNvPr>
            <p:cNvSpPr txBox="1"/>
            <p:nvPr/>
          </p:nvSpPr>
          <p:spPr>
            <a:xfrm>
              <a:off x="574569" y="2311840"/>
              <a:ext cx="1222872" cy="646331"/>
            </a:xfrm>
            <a:prstGeom prst="rect">
              <a:avLst/>
            </a:prstGeom>
            <a:noFill/>
          </p:spPr>
          <p:txBody>
            <a:bodyPr wrap="square" rtlCol="0">
              <a:spAutoFit/>
            </a:bodyPr>
            <a:lstStyle/>
            <a:p>
              <a:pPr algn="ctr"/>
              <a:r>
                <a:rPr lang="pt-BR" b="1" dirty="0"/>
                <a:t>Dados não rotulados</a:t>
              </a:r>
            </a:p>
          </p:txBody>
        </p:sp>
        <p:sp>
          <p:nvSpPr>
            <p:cNvPr id="10" name="CaixaDeTexto 9">
              <a:extLst>
                <a:ext uri="{FF2B5EF4-FFF2-40B4-BE49-F238E27FC236}">
                  <a16:creationId xmlns="" xmlns:a16="http://schemas.microsoft.com/office/drawing/2014/main" id="{2733FB70-7468-6FEE-704E-38F210F09CBE}"/>
                </a:ext>
              </a:extLst>
            </p:cNvPr>
            <p:cNvSpPr txBox="1"/>
            <p:nvPr/>
          </p:nvSpPr>
          <p:spPr>
            <a:xfrm>
              <a:off x="187286" y="5096050"/>
              <a:ext cx="1610155" cy="923330"/>
            </a:xfrm>
            <a:prstGeom prst="rect">
              <a:avLst/>
            </a:prstGeom>
            <a:noFill/>
          </p:spPr>
          <p:txBody>
            <a:bodyPr wrap="square" rtlCol="0">
              <a:spAutoFit/>
            </a:bodyPr>
            <a:lstStyle/>
            <a:p>
              <a:pPr algn="ctr"/>
              <a:r>
                <a:rPr lang="pt-BR" b="1" dirty="0"/>
                <a:t>Dados agrupados por </a:t>
              </a:r>
              <a:r>
                <a:rPr lang="pt-BR" b="1" dirty="0">
                  <a:solidFill>
                    <a:schemeClr val="accent2"/>
                  </a:solidFill>
                </a:rPr>
                <a:t>proximidade</a:t>
              </a:r>
            </a:p>
          </p:txBody>
        </p:sp>
        <p:sp>
          <p:nvSpPr>
            <p:cNvPr id="11" name="CaixaDeTexto 10">
              <a:extLst>
                <a:ext uri="{FF2B5EF4-FFF2-40B4-BE49-F238E27FC236}">
                  <a16:creationId xmlns="" xmlns:a16="http://schemas.microsoft.com/office/drawing/2014/main" id="{2150A039-C911-B65B-8594-4F8B7895B339}"/>
                </a:ext>
              </a:extLst>
            </p:cNvPr>
            <p:cNvSpPr txBox="1"/>
            <p:nvPr/>
          </p:nvSpPr>
          <p:spPr>
            <a:xfrm>
              <a:off x="3317350" y="3840524"/>
              <a:ext cx="2422438" cy="584775"/>
            </a:xfrm>
            <a:prstGeom prst="rect">
              <a:avLst/>
            </a:prstGeom>
            <a:noFill/>
          </p:spPr>
          <p:txBody>
            <a:bodyPr wrap="square">
              <a:spAutoFit/>
            </a:bodyPr>
            <a:lstStyle/>
            <a:p>
              <a:pPr algn="ctr"/>
              <a:r>
                <a:rPr lang="pt-BR" sz="1600" dirty="0"/>
                <a:t>Algoritmo de aprendizado não-supervisionado</a:t>
              </a:r>
            </a:p>
          </p:txBody>
        </p:sp>
      </p:grpSp>
    </p:spTree>
    <p:extLst>
      <p:ext uri="{BB962C8B-B14F-4D97-AF65-F5344CB8AC3E}">
        <p14:creationId xmlns:p14="http://schemas.microsoft.com/office/powerpoint/2010/main" val="154725955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838201" y="1825624"/>
            <a:ext cx="11098876" cy="5032375"/>
          </a:xfrm>
        </p:spPr>
        <p:txBody>
          <a:bodyPr>
            <a:normAutofit/>
          </a:bodyPr>
          <a:lstStyle/>
          <a:p>
            <a:r>
              <a:rPr lang="pt-BR" dirty="0"/>
              <a:t>Algoritmos não-supervisionados tratam problemas de </a:t>
            </a:r>
          </a:p>
          <a:p>
            <a:pPr lvl="1">
              <a:buFont typeface="Wingdings" panose="05000000000000000000" pitchFamily="2" charset="2"/>
              <a:buChar char="§"/>
            </a:pPr>
            <a:r>
              <a:rPr lang="pt-BR" b="1" dirty="0"/>
              <a:t>clusterização, </a:t>
            </a:r>
          </a:p>
          <a:p>
            <a:pPr lvl="1">
              <a:buFont typeface="Wingdings" panose="05000000000000000000" pitchFamily="2" charset="2"/>
              <a:buChar char="§"/>
            </a:pPr>
            <a:r>
              <a:rPr lang="pt-BR" b="1" dirty="0"/>
              <a:t>detecção de anomalias (</a:t>
            </a:r>
            <a:r>
              <a:rPr lang="pt-BR" b="1" i="1" dirty="0" err="1"/>
              <a:t>outliers</a:t>
            </a:r>
            <a:r>
              <a:rPr lang="pt-BR" b="1" dirty="0"/>
              <a:t>), </a:t>
            </a:r>
          </a:p>
          <a:p>
            <a:pPr lvl="1">
              <a:buFont typeface="Wingdings" panose="05000000000000000000" pitchFamily="2" charset="2"/>
              <a:buChar char="§"/>
            </a:pPr>
            <a:r>
              <a:rPr lang="pt-BR" b="1" dirty="0"/>
              <a:t>redução de dimensionalidade.</a:t>
            </a:r>
          </a:p>
        </p:txBody>
      </p:sp>
    </p:spTree>
    <p:extLst>
      <p:ext uri="{BB962C8B-B14F-4D97-AF65-F5344CB8AC3E}">
        <p14:creationId xmlns:p14="http://schemas.microsoft.com/office/powerpoint/2010/main" val="21637442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02086" y="1825624"/>
            <a:ext cx="6251369" cy="5032375"/>
          </a:xfrm>
        </p:spPr>
        <p:txBody>
          <a:bodyPr>
            <a:normAutofit lnSpcReduction="10000"/>
          </a:bodyPr>
          <a:lstStyle/>
          <a:p>
            <a:r>
              <a:rPr lang="pt-BR" b="1" i="1" dirty="0"/>
              <a:t>Clustering</a:t>
            </a:r>
            <a:r>
              <a:rPr lang="pt-BR" b="1" dirty="0"/>
              <a:t> (ou agrupamento):</a:t>
            </a:r>
            <a:r>
              <a:rPr lang="pt-BR" dirty="0"/>
              <a:t> serve para </a:t>
            </a:r>
            <a:r>
              <a:rPr lang="pt-BR" b="1" dirty="0"/>
              <a:t>encontrar grupos</a:t>
            </a:r>
            <a:r>
              <a:rPr lang="pt-BR" dirty="0"/>
              <a:t>, muitas vezes escondidos (i.e., latentes), nos dados.</a:t>
            </a:r>
          </a:p>
          <a:p>
            <a:r>
              <a:rPr lang="pt-BR" b="1" dirty="0"/>
              <a:t>Exemplos:</a:t>
            </a:r>
            <a:r>
              <a:rPr lang="pt-BR" dirty="0"/>
              <a:t> "Quem viu, ouviu ou comprou isso, também viu, ouviu ou comprou aquilo".</a:t>
            </a:r>
          </a:p>
          <a:p>
            <a:pPr lvl="1">
              <a:buFont typeface="Wingdings" panose="05000000000000000000" pitchFamily="2" charset="2"/>
              <a:buChar char="§"/>
            </a:pPr>
            <a:r>
              <a:rPr lang="pt-BR" dirty="0"/>
              <a:t>A </a:t>
            </a:r>
            <a:r>
              <a:rPr lang="pt-BR" dirty="0" err="1"/>
              <a:t>Netflix</a:t>
            </a:r>
            <a:r>
              <a:rPr lang="pt-BR" dirty="0"/>
              <a:t>, </a:t>
            </a:r>
            <a:r>
              <a:rPr lang="pt-BR" dirty="0" err="1"/>
              <a:t>Spotify</a:t>
            </a:r>
            <a:r>
              <a:rPr lang="pt-BR" dirty="0"/>
              <a:t>, etc. utilizam </a:t>
            </a:r>
            <a:r>
              <a:rPr lang="pt-BR" i="1" dirty="0"/>
              <a:t>clustering</a:t>
            </a:r>
            <a:r>
              <a:rPr lang="pt-BR" dirty="0"/>
              <a:t> para recomendar filmes e músicas baseando-se em grupos de usuários com comportamentos e gostos similares aos seus.</a:t>
            </a:r>
          </a:p>
          <a:p>
            <a:pPr lvl="1">
              <a:buFont typeface="Wingdings" panose="05000000000000000000" pitchFamily="2" charset="2"/>
              <a:buChar char="§"/>
            </a:pPr>
            <a:r>
              <a:rPr lang="pt-BR" dirty="0"/>
              <a:t>A </a:t>
            </a:r>
            <a:r>
              <a:rPr lang="pt-BR" dirty="0" err="1"/>
              <a:t>Amazon</a:t>
            </a:r>
            <a:r>
              <a:rPr lang="pt-BR" dirty="0"/>
              <a:t>, Mercado Livre, etc. agrupam clientes que compram coisas parecidas para recomendar produtos.</a:t>
            </a:r>
          </a:p>
        </p:txBody>
      </p:sp>
      <p:pic>
        <p:nvPicPr>
          <p:cNvPr id="4" name="Picture 2" descr="https://www.ecloudvalley.com/wp-content/uploads/2019/09/Unsupervised-learning.png">
            <a:extLst>
              <a:ext uri="{FF2B5EF4-FFF2-40B4-BE49-F238E27FC236}">
                <a16:creationId xmlns="" xmlns:a16="http://schemas.microsoft.com/office/drawing/2014/main" id="{D5263760-ABE7-908A-A483-E7B4239BF93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3667" t="10299" r="3988" b="11337"/>
          <a:stretch/>
        </p:blipFill>
        <p:spPr bwMode="auto">
          <a:xfrm>
            <a:off x="268363" y="2864556"/>
            <a:ext cx="5317591" cy="226696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 xmlns:a16="http://schemas.microsoft.com/office/drawing/2014/main" id="{022A91D9-CA32-6007-7F08-7CA46B022D97}"/>
              </a:ext>
            </a:extLst>
          </p:cNvPr>
          <p:cNvSpPr txBox="1"/>
          <p:nvPr/>
        </p:nvSpPr>
        <p:spPr>
          <a:xfrm>
            <a:off x="179911" y="5266461"/>
            <a:ext cx="5406043" cy="584775"/>
          </a:xfrm>
          <a:prstGeom prst="rect">
            <a:avLst/>
          </a:prstGeom>
          <a:noFill/>
        </p:spPr>
        <p:txBody>
          <a:bodyPr wrap="square">
            <a:spAutoFit/>
          </a:bodyPr>
          <a:lstStyle/>
          <a:p>
            <a:pPr algn="ctr"/>
            <a:r>
              <a:rPr lang="pt-BR" sz="1600" baseline="0" dirty="0"/>
              <a:t>Agrupar clientes similares em termos de comportamento para envio de propaganda personalizada.</a:t>
            </a:r>
          </a:p>
        </p:txBody>
      </p:sp>
    </p:spTree>
    <p:extLst>
      <p:ext uri="{BB962C8B-B14F-4D97-AF65-F5344CB8AC3E}">
        <p14:creationId xmlns:p14="http://schemas.microsoft.com/office/powerpoint/2010/main" val="27652900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858325" y="1825624"/>
            <a:ext cx="6195129" cy="5032375"/>
          </a:xfrm>
        </p:spPr>
        <p:txBody>
          <a:bodyPr>
            <a:normAutofit/>
          </a:bodyPr>
          <a:lstStyle/>
          <a:p>
            <a:r>
              <a:rPr lang="pt-BR" b="1" dirty="0"/>
              <a:t>Redução de dimensionalidade:</a:t>
            </a:r>
            <a:r>
              <a:rPr lang="pt-BR" dirty="0"/>
              <a:t> Serve para </a:t>
            </a:r>
            <a:r>
              <a:rPr lang="pt-BR" b="1" dirty="0"/>
              <a:t>simplificar dados complexos</a:t>
            </a:r>
            <a:r>
              <a:rPr lang="pt-BR" dirty="0"/>
              <a:t>, focando apenas no que importa.</a:t>
            </a:r>
          </a:p>
          <a:p>
            <a:r>
              <a:rPr lang="pt-BR" b="1" dirty="0"/>
              <a:t>Exemplos:</a:t>
            </a:r>
            <a:r>
              <a:rPr lang="pt-BR" dirty="0"/>
              <a:t> </a:t>
            </a:r>
          </a:p>
          <a:p>
            <a:pPr lvl="1">
              <a:buFont typeface="Wingdings" panose="05000000000000000000" pitchFamily="2" charset="2"/>
              <a:buChar char="§"/>
            </a:pPr>
            <a:r>
              <a:rPr lang="pt-BR" dirty="0"/>
              <a:t>Comprimir uma imagem mantendo uma boa qualidade. </a:t>
            </a:r>
          </a:p>
          <a:p>
            <a:pPr lvl="1">
              <a:buFont typeface="Wingdings" panose="05000000000000000000" pitchFamily="2" charset="2"/>
              <a:buChar char="§"/>
            </a:pPr>
            <a:r>
              <a:rPr lang="pt-BR" dirty="0"/>
              <a:t>Remover informações inúteis de um banco de dados ou imagens gigantes para processá-los mais rápido.</a:t>
            </a:r>
          </a:p>
          <a:p>
            <a:pPr lvl="1">
              <a:buFont typeface="Wingdings" panose="05000000000000000000" pitchFamily="2" charset="2"/>
              <a:buChar char="§"/>
            </a:pPr>
            <a:r>
              <a:rPr lang="pt-BR" dirty="0"/>
              <a:t>Transformar tabelas com 100 colunas em um gráfico 2D/3D que humanos consigam visualizar e interpretar.</a:t>
            </a:r>
          </a:p>
        </p:txBody>
      </p:sp>
      <p:grpSp>
        <p:nvGrpSpPr>
          <p:cNvPr id="8" name="Group 7">
            <a:extLst>
              <a:ext uri="{FF2B5EF4-FFF2-40B4-BE49-F238E27FC236}">
                <a16:creationId xmlns="" xmlns:a16="http://schemas.microsoft.com/office/drawing/2014/main" id="{3EE784E4-0432-EEC2-8AA3-C27FB900767E}"/>
              </a:ext>
            </a:extLst>
          </p:cNvPr>
          <p:cNvGrpSpPr/>
          <p:nvPr/>
        </p:nvGrpSpPr>
        <p:grpSpPr>
          <a:xfrm>
            <a:off x="10886" y="2808514"/>
            <a:ext cx="5858325" cy="2187247"/>
            <a:chOff x="0" y="3222171"/>
            <a:chExt cx="5858325" cy="2187247"/>
          </a:xfrm>
        </p:grpSpPr>
        <p:pic>
          <p:nvPicPr>
            <p:cNvPr id="1026" name="Picture 2" descr="What is Dimensionality Reduction? A Guide.">
              <a:extLst>
                <a:ext uri="{FF2B5EF4-FFF2-40B4-BE49-F238E27FC236}">
                  <a16:creationId xmlns="" xmlns:a16="http://schemas.microsoft.com/office/drawing/2014/main" id="{751C1A17-3E7B-7C53-9D9F-A6DFBA8EFA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3328"/>
            <a:stretch>
              <a:fillRect/>
            </a:stretch>
          </p:blipFill>
          <p:spPr bwMode="auto">
            <a:xfrm>
              <a:off x="0" y="3222171"/>
              <a:ext cx="5858325" cy="164578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 xmlns:a16="http://schemas.microsoft.com/office/drawing/2014/main" id="{2660F266-864D-5E91-3AE9-A08790411A54}"/>
                </a:ext>
              </a:extLst>
            </p:cNvPr>
            <p:cNvSpPr txBox="1"/>
            <p:nvPr/>
          </p:nvSpPr>
          <p:spPr>
            <a:xfrm>
              <a:off x="653143" y="5040086"/>
              <a:ext cx="444352" cy="369332"/>
            </a:xfrm>
            <a:prstGeom prst="rect">
              <a:avLst/>
            </a:prstGeom>
            <a:noFill/>
          </p:spPr>
          <p:txBody>
            <a:bodyPr wrap="none" rtlCol="0">
              <a:spAutoFit/>
            </a:bodyPr>
            <a:lstStyle/>
            <a:p>
              <a:r>
                <a:rPr lang="pt-BR" dirty="0"/>
                <a:t>3D</a:t>
              </a:r>
              <a:endParaRPr lang="en-US" dirty="0"/>
            </a:p>
          </p:txBody>
        </p:sp>
        <p:sp>
          <p:nvSpPr>
            <p:cNvPr id="6" name="TextBox 5">
              <a:extLst>
                <a:ext uri="{FF2B5EF4-FFF2-40B4-BE49-F238E27FC236}">
                  <a16:creationId xmlns="" xmlns:a16="http://schemas.microsoft.com/office/drawing/2014/main" id="{6AFF691B-67D6-AC9A-C3BB-D85E4B569AAE}"/>
                </a:ext>
              </a:extLst>
            </p:cNvPr>
            <p:cNvSpPr txBox="1"/>
            <p:nvPr/>
          </p:nvSpPr>
          <p:spPr>
            <a:xfrm>
              <a:off x="2787648" y="5040086"/>
              <a:ext cx="444352" cy="369332"/>
            </a:xfrm>
            <a:prstGeom prst="rect">
              <a:avLst/>
            </a:prstGeom>
            <a:noFill/>
          </p:spPr>
          <p:txBody>
            <a:bodyPr wrap="none" rtlCol="0">
              <a:spAutoFit/>
            </a:bodyPr>
            <a:lstStyle/>
            <a:p>
              <a:r>
                <a:rPr lang="pt-BR" dirty="0"/>
                <a:t>2D</a:t>
              </a:r>
              <a:endParaRPr lang="en-US" dirty="0"/>
            </a:p>
          </p:txBody>
        </p:sp>
        <p:sp>
          <p:nvSpPr>
            <p:cNvPr id="7" name="TextBox 6">
              <a:extLst>
                <a:ext uri="{FF2B5EF4-FFF2-40B4-BE49-F238E27FC236}">
                  <a16:creationId xmlns="" xmlns:a16="http://schemas.microsoft.com/office/drawing/2014/main" id="{E711F437-6F5C-15ED-E872-0F4EA536DFF3}"/>
                </a:ext>
              </a:extLst>
            </p:cNvPr>
            <p:cNvSpPr txBox="1"/>
            <p:nvPr/>
          </p:nvSpPr>
          <p:spPr>
            <a:xfrm>
              <a:off x="4922153" y="5040086"/>
              <a:ext cx="444352" cy="369332"/>
            </a:xfrm>
            <a:prstGeom prst="rect">
              <a:avLst/>
            </a:prstGeom>
            <a:noFill/>
          </p:spPr>
          <p:txBody>
            <a:bodyPr wrap="none" rtlCol="0">
              <a:spAutoFit/>
            </a:bodyPr>
            <a:lstStyle/>
            <a:p>
              <a:r>
                <a:rPr lang="pt-BR" dirty="0"/>
                <a:t>1D</a:t>
              </a:r>
              <a:endParaRPr lang="en-US" dirty="0"/>
            </a:p>
          </p:txBody>
        </p:sp>
      </p:grpSp>
    </p:spTree>
    <p:extLst>
      <p:ext uri="{BB962C8B-B14F-4D97-AF65-F5344CB8AC3E}">
        <p14:creationId xmlns:p14="http://schemas.microsoft.com/office/powerpoint/2010/main" val="8017936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não-supervisionado</a:t>
            </a:r>
          </a:p>
        </p:txBody>
      </p:sp>
      <p:sp>
        <p:nvSpPr>
          <p:cNvPr id="3" name="Espaço Reservado para Conteúdo 2"/>
          <p:cNvSpPr>
            <a:spLocks noGrp="1"/>
          </p:cNvSpPr>
          <p:nvPr>
            <p:ph idx="1"/>
          </p:nvPr>
        </p:nvSpPr>
        <p:spPr>
          <a:xfrm>
            <a:off x="5660571" y="1825624"/>
            <a:ext cx="6392883" cy="5032375"/>
          </a:xfrm>
        </p:spPr>
        <p:txBody>
          <a:bodyPr>
            <a:normAutofit/>
          </a:bodyPr>
          <a:lstStyle/>
          <a:p>
            <a:r>
              <a:rPr lang="pt-BR" b="1" dirty="0"/>
              <a:t>Detecção de anomalias ou </a:t>
            </a:r>
            <a:r>
              <a:rPr lang="pt-BR" b="1" i="1" dirty="0"/>
              <a:t>outliers</a:t>
            </a:r>
            <a:r>
              <a:rPr lang="pt-BR" b="1" dirty="0"/>
              <a:t>:</a:t>
            </a:r>
            <a:r>
              <a:rPr lang="pt-BR" dirty="0"/>
              <a:t> Serve para identificar padrões que </a:t>
            </a:r>
            <a:r>
              <a:rPr lang="pt-BR" b="1" dirty="0"/>
              <a:t>fogem</a:t>
            </a:r>
            <a:r>
              <a:rPr lang="pt-BR" dirty="0"/>
              <a:t> completamente </a:t>
            </a:r>
            <a:r>
              <a:rPr lang="pt-BR" b="1" dirty="0"/>
              <a:t>do normal</a:t>
            </a:r>
            <a:r>
              <a:rPr lang="pt-BR" dirty="0"/>
              <a:t>.</a:t>
            </a:r>
          </a:p>
          <a:p>
            <a:r>
              <a:rPr lang="pt-BR" b="1" dirty="0"/>
              <a:t>Exemplos:</a:t>
            </a:r>
            <a:r>
              <a:rPr lang="pt-BR" dirty="0"/>
              <a:t> </a:t>
            </a:r>
          </a:p>
          <a:p>
            <a:pPr lvl="1">
              <a:buFont typeface="Wingdings" panose="05000000000000000000" pitchFamily="2" charset="2"/>
              <a:buChar char="§"/>
            </a:pPr>
            <a:r>
              <a:rPr lang="pt-BR" dirty="0"/>
              <a:t>Detectar compras suspeitas no seu cartão de crédito por não condizerem com seus hábitos de compra.</a:t>
            </a:r>
          </a:p>
          <a:p>
            <a:pPr lvl="1">
              <a:buFont typeface="Wingdings" panose="05000000000000000000" pitchFamily="2" charset="2"/>
              <a:buChar char="§"/>
            </a:pPr>
            <a:r>
              <a:rPr lang="pt-BR" dirty="0"/>
              <a:t>Identificar acessos incomuns em uma rede que podem indicar a presença de um </a:t>
            </a:r>
            <a:r>
              <a:rPr lang="pt-BR" i="1" dirty="0"/>
              <a:t>hacker</a:t>
            </a:r>
            <a:r>
              <a:rPr lang="pt-BR" dirty="0"/>
              <a:t>.</a:t>
            </a:r>
          </a:p>
          <a:p>
            <a:pPr lvl="1">
              <a:buFont typeface="Wingdings" panose="05000000000000000000" pitchFamily="2" charset="2"/>
              <a:buChar char="§"/>
            </a:pPr>
            <a:r>
              <a:rPr lang="pt-BR" dirty="0"/>
              <a:t>Detectar vibrações ou ruídos estranhos em motores de aviões ou máquinas industriais antes que elas quebrem.</a:t>
            </a:r>
            <a:endParaRPr lang="en-US" dirty="0"/>
          </a:p>
        </p:txBody>
      </p:sp>
      <p:pic>
        <p:nvPicPr>
          <p:cNvPr id="2050" name="Picture 2" descr="Anomaly Detection cheat sheet | Towards Data Science">
            <a:extLst>
              <a:ext uri="{FF2B5EF4-FFF2-40B4-BE49-F238E27FC236}">
                <a16:creationId xmlns="" xmlns:a16="http://schemas.microsoft.com/office/drawing/2014/main" id="{9805FBE7-0000-2800-22C2-692FE1A528F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4915" y="1690688"/>
            <a:ext cx="4533650" cy="2210324"/>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Univariate Anomaly Detection | Anomaly Detection Algorithms">
            <a:extLst>
              <a:ext uri="{FF2B5EF4-FFF2-40B4-BE49-F238E27FC236}">
                <a16:creationId xmlns="" xmlns:a16="http://schemas.microsoft.com/office/drawing/2014/main" id="{4BBEA88B-BFF4-E843-D88E-56AF9B6D8B4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870" t="3007" r="2623"/>
          <a:stretch>
            <a:fillRect/>
          </a:stretch>
        </p:blipFill>
        <p:spPr bwMode="auto">
          <a:xfrm>
            <a:off x="1295399" y="4373913"/>
            <a:ext cx="3204699" cy="2484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31511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Aprendizado por reforço</a:t>
            </a:r>
          </a:p>
        </p:txBody>
      </p:sp>
      <p:pic>
        <p:nvPicPr>
          <p:cNvPr id="3074" name="Picture 2" descr="a meme about types of machine learning training.">
            <a:extLst>
              <a:ext uri="{FF2B5EF4-FFF2-40B4-BE49-F238E27FC236}">
                <a16:creationId xmlns="" xmlns:a16="http://schemas.microsoft.com/office/drawing/2014/main" id="{87B80028-672E-A4F8-8FCA-899F5EDE831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254" t="9930" r="8414" b="18413"/>
          <a:stretch>
            <a:fillRect/>
          </a:stretch>
        </p:blipFill>
        <p:spPr bwMode="auto">
          <a:xfrm>
            <a:off x="1001485" y="1690687"/>
            <a:ext cx="5758544" cy="4951663"/>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4">
            <a:extLst>
              <a:ext uri="{FF2B5EF4-FFF2-40B4-BE49-F238E27FC236}">
                <a16:creationId xmlns="" xmlns:a16="http://schemas.microsoft.com/office/drawing/2014/main" id="{2A422EC3-388D-F3A0-AED4-DB3FF0CF5ADA}"/>
              </a:ext>
            </a:extLst>
          </p:cNvPr>
          <p:cNvSpPr/>
          <p:nvPr/>
        </p:nvSpPr>
        <p:spPr>
          <a:xfrm>
            <a:off x="7162800" y="2889246"/>
            <a:ext cx="4680857" cy="2554545"/>
          </a:xfrm>
          <a:prstGeom prst="rect">
            <a:avLst/>
          </a:prstGeom>
        </p:spPr>
        <p:txBody>
          <a:bodyPr wrap="square">
            <a:spAutoFit/>
          </a:bodyPr>
          <a:lstStyle/>
          <a:p>
            <a:pPr algn="ctr"/>
            <a:r>
              <a:rPr lang="pt-BR" sz="3200" dirty="0"/>
              <a:t>Diferente dos paradigmas anteriores, aqui </a:t>
            </a:r>
            <a:r>
              <a:rPr lang="pt-BR" sz="3200" b="1" dirty="0"/>
              <a:t>não existe nenhum tipo de dado para treinamento, sejam eles rotulados ou não</a:t>
            </a:r>
          </a:p>
        </p:txBody>
      </p:sp>
    </p:spTree>
    <p:extLst>
      <p:ext uri="{BB962C8B-B14F-4D97-AF65-F5344CB8AC3E}">
        <p14:creationId xmlns:p14="http://schemas.microsoft.com/office/powerpoint/2010/main" val="426836061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2EEA04B5-A809-75EC-C12D-9BECB2144E9A}"/>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ED1DC7EF-44FB-EC55-3791-69D1AE99D78C}"/>
              </a:ext>
            </a:extLst>
          </p:cNvPr>
          <p:cNvSpPr>
            <a:spLocks noGrp="1"/>
          </p:cNvSpPr>
          <p:nvPr>
            <p:ph type="title"/>
          </p:nvPr>
        </p:nvSpPr>
        <p:spPr/>
        <p:txBody>
          <a:bodyPr/>
          <a:lstStyle/>
          <a:p>
            <a:r>
              <a:rPr lang="pt-BR" dirty="0"/>
              <a:t>Aprendizado por reforço</a:t>
            </a:r>
          </a:p>
        </p:txBody>
      </p:sp>
      <p:sp>
        <p:nvSpPr>
          <p:cNvPr id="4" name="Retângulo 4">
            <a:extLst>
              <a:ext uri="{FF2B5EF4-FFF2-40B4-BE49-F238E27FC236}">
                <a16:creationId xmlns="" xmlns:a16="http://schemas.microsoft.com/office/drawing/2014/main" id="{2473F592-518F-18B8-A819-E8C34622396F}"/>
              </a:ext>
            </a:extLst>
          </p:cNvPr>
          <p:cNvSpPr/>
          <p:nvPr/>
        </p:nvSpPr>
        <p:spPr>
          <a:xfrm>
            <a:off x="7801887" y="3429000"/>
            <a:ext cx="4030885" cy="1077218"/>
          </a:xfrm>
          <a:prstGeom prst="rect">
            <a:avLst/>
          </a:prstGeom>
        </p:spPr>
        <p:txBody>
          <a:bodyPr wrap="square">
            <a:spAutoFit/>
          </a:bodyPr>
          <a:lstStyle/>
          <a:p>
            <a:pPr algn="ctr"/>
            <a:r>
              <a:rPr lang="pt-BR" sz="3200" dirty="0"/>
              <a:t>A máquina aprende por </a:t>
            </a:r>
            <a:r>
              <a:rPr lang="pt-BR" sz="3200" b="1" dirty="0"/>
              <a:t>tentativa e erro</a:t>
            </a:r>
          </a:p>
        </p:txBody>
      </p:sp>
      <p:pic>
        <p:nvPicPr>
          <p:cNvPr id="4098" name="Picture 2" descr="Aprendizado por Reforço - Robô Empilhando Blocos">
            <a:extLst>
              <a:ext uri="{FF2B5EF4-FFF2-40B4-BE49-F238E27FC236}">
                <a16:creationId xmlns="" xmlns:a16="http://schemas.microsoft.com/office/drawing/2014/main" id="{81311FD4-B76E-4AAE-0265-373566E02DB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9228" y="1933896"/>
            <a:ext cx="7282542" cy="40651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5495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BE6ABBE-EEAC-89C8-4C61-9F87B4D5EF0C}"/>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 xmlns:a16="http://schemas.microsoft.com/office/drawing/2014/main" id="{0B782CB8-3144-9339-DCFD-E69C7F9FD6FD}"/>
              </a:ext>
            </a:extLst>
          </p:cNvPr>
          <p:cNvSpPr>
            <a:spLocks noGrp="1"/>
          </p:cNvSpPr>
          <p:nvPr>
            <p:ph idx="1"/>
          </p:nvPr>
        </p:nvSpPr>
        <p:spPr>
          <a:xfrm>
            <a:off x="5588000" y="1825624"/>
            <a:ext cx="6451600" cy="5032375"/>
          </a:xfrm>
        </p:spPr>
        <p:txBody>
          <a:bodyPr/>
          <a:lstStyle/>
          <a:p>
            <a:r>
              <a:rPr lang="pt-BR" b="1" dirty="0"/>
              <a:t>Como funciona</a:t>
            </a:r>
            <a:r>
              <a:rPr lang="pt-BR" dirty="0"/>
              <a:t>: é um processo de tentativa e erro onde um agente (i.e., a máquina) aprende a tomar decisões em um ambiente através de </a:t>
            </a:r>
            <a:r>
              <a:rPr lang="pt-BR" b="1" dirty="0"/>
              <a:t>recompensas ou punições</a:t>
            </a:r>
            <a:r>
              <a:rPr lang="pt-BR" dirty="0"/>
              <a:t>. </a:t>
            </a:r>
          </a:p>
          <a:p>
            <a:r>
              <a:rPr lang="pt-BR" b="1" dirty="0"/>
              <a:t>Objetivo</a:t>
            </a:r>
            <a:r>
              <a:rPr lang="pt-BR" dirty="0"/>
              <a:t>: maximizar as recompensas e evitar punições.</a:t>
            </a:r>
          </a:p>
          <a:p>
            <a:r>
              <a:rPr lang="pt-BR" dirty="0"/>
              <a:t>O </a:t>
            </a:r>
            <a:r>
              <a:rPr lang="pt-BR" b="1" dirty="0"/>
              <a:t>agente</a:t>
            </a:r>
            <a:r>
              <a:rPr lang="pt-BR" dirty="0"/>
              <a:t> observa o </a:t>
            </a:r>
            <a:r>
              <a:rPr lang="pt-BR" b="1" dirty="0"/>
              <a:t>estado</a:t>
            </a:r>
            <a:r>
              <a:rPr lang="pt-BR" dirty="0"/>
              <a:t> do </a:t>
            </a:r>
            <a:r>
              <a:rPr lang="pt-BR" b="1" dirty="0"/>
              <a:t>ambiente</a:t>
            </a:r>
            <a:r>
              <a:rPr lang="pt-BR" dirty="0"/>
              <a:t>, seleciona e executa uma </a:t>
            </a:r>
            <a:r>
              <a:rPr lang="pt-BR" b="1" dirty="0"/>
              <a:t>ação </a:t>
            </a:r>
            <a:r>
              <a:rPr lang="pt-BR" dirty="0"/>
              <a:t>e recebe um </a:t>
            </a:r>
            <a:r>
              <a:rPr lang="pt-BR" b="1" dirty="0"/>
              <a:t>reforço positivo ou negativo</a:t>
            </a:r>
            <a:r>
              <a:rPr lang="pt-BR" dirty="0"/>
              <a:t> em consequência da </a:t>
            </a:r>
            <a:r>
              <a:rPr lang="pt-BR" b="1" dirty="0"/>
              <a:t>ação</a:t>
            </a:r>
            <a:r>
              <a:rPr lang="pt-BR" dirty="0"/>
              <a:t> tomada.</a:t>
            </a:r>
          </a:p>
        </p:txBody>
      </p:sp>
      <p:pic>
        <p:nvPicPr>
          <p:cNvPr id="5124" name="Picture 4" descr="A Beginner's Guide to Reinforcement Learning and its Basic Implementation  from Scratch | by Tanvi Penumudy | Analytics Vidhya | Medium">
            <a:extLst>
              <a:ext uri="{FF2B5EF4-FFF2-40B4-BE49-F238E27FC236}">
                <a16:creationId xmlns="" xmlns:a16="http://schemas.microsoft.com/office/drawing/2014/main" id="{4AD15FF8-FD85-831A-EC64-25388445D7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2437369"/>
            <a:ext cx="5344886" cy="26872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0140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0BCC5691-CEC7-1961-035F-C7A540CA18A3}"/>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 xmlns:a16="http://schemas.microsoft.com/office/drawing/2014/main" id="{CE7F3ABE-51DE-7390-3323-29DE5DD50C10}"/>
              </a:ext>
            </a:extLst>
          </p:cNvPr>
          <p:cNvSpPr>
            <a:spLocks noGrp="1"/>
          </p:cNvSpPr>
          <p:nvPr>
            <p:ph idx="1"/>
          </p:nvPr>
        </p:nvSpPr>
        <p:spPr>
          <a:xfrm>
            <a:off x="4996543" y="1825624"/>
            <a:ext cx="7043057" cy="5032375"/>
          </a:xfrm>
        </p:spPr>
        <p:txBody>
          <a:bodyPr>
            <a:normAutofit/>
          </a:bodyPr>
          <a:lstStyle/>
          <a:p>
            <a:r>
              <a:rPr lang="pt-BR" dirty="0"/>
              <a:t>Por tentativa e erro, o agente aprende por si só qual a melhor </a:t>
            </a:r>
            <a:r>
              <a:rPr lang="pt-BR" b="1" dirty="0"/>
              <a:t>estratégia</a:t>
            </a:r>
            <a:r>
              <a:rPr lang="pt-BR" dirty="0"/>
              <a:t>, chamada de </a:t>
            </a:r>
            <a:r>
              <a:rPr lang="pt-BR" b="1" dirty="0"/>
              <a:t>política</a:t>
            </a:r>
            <a:r>
              <a:rPr lang="pt-BR" dirty="0"/>
              <a:t>, para obter a </a:t>
            </a:r>
            <a:r>
              <a:rPr lang="pt-BR" b="1" dirty="0"/>
              <a:t>maior recompensa possível ao longo do tempo</a:t>
            </a:r>
            <a:r>
              <a:rPr lang="pt-BR" dirty="0"/>
              <a:t>.</a:t>
            </a:r>
          </a:p>
          <a:p>
            <a:r>
              <a:rPr lang="pt-BR" dirty="0"/>
              <a:t>Uma </a:t>
            </a:r>
            <a:r>
              <a:rPr lang="pt-BR" b="1" dirty="0"/>
              <a:t>política</a:t>
            </a:r>
            <a:r>
              <a:rPr lang="pt-BR" dirty="0"/>
              <a:t> define qual </a:t>
            </a:r>
            <a:r>
              <a:rPr lang="pt-BR" b="1" dirty="0"/>
              <a:t>ação</a:t>
            </a:r>
            <a:r>
              <a:rPr lang="pt-BR" dirty="0"/>
              <a:t> o </a:t>
            </a:r>
            <a:r>
              <a:rPr lang="pt-BR" b="1" dirty="0"/>
              <a:t>agente</a:t>
            </a:r>
            <a:r>
              <a:rPr lang="pt-BR" dirty="0"/>
              <a:t> deve escolher quando o </a:t>
            </a:r>
            <a:r>
              <a:rPr lang="pt-BR" b="1" dirty="0"/>
              <a:t>ambiente</a:t>
            </a:r>
            <a:r>
              <a:rPr lang="pt-BR" dirty="0"/>
              <a:t> estiver em um determinado </a:t>
            </a:r>
            <a:r>
              <a:rPr lang="pt-BR" b="1" dirty="0"/>
              <a:t>estado</a:t>
            </a:r>
            <a:r>
              <a:rPr lang="pt-BR" dirty="0"/>
              <a:t>.</a:t>
            </a:r>
          </a:p>
          <a:p>
            <a:r>
              <a:rPr lang="pt-BR" dirty="0"/>
              <a:t>Portanto, a </a:t>
            </a:r>
            <a:r>
              <a:rPr lang="pt-BR" b="1" dirty="0"/>
              <a:t>política</a:t>
            </a:r>
            <a:r>
              <a:rPr lang="pt-BR" dirty="0"/>
              <a:t> é uma</a:t>
            </a:r>
            <a:r>
              <a:rPr lang="pt-BR" b="1" dirty="0"/>
              <a:t> função que mapeia os estados do ambiente em ações </a:t>
            </a:r>
            <a:r>
              <a:rPr lang="pt-BR" dirty="0"/>
              <a:t>que o </a:t>
            </a:r>
            <a:r>
              <a:rPr lang="pt-BR" b="1" dirty="0"/>
              <a:t>agente</a:t>
            </a:r>
            <a:r>
              <a:rPr lang="pt-BR" dirty="0"/>
              <a:t> deve tomar para </a:t>
            </a:r>
            <a:r>
              <a:rPr lang="pt-BR" b="1" dirty="0"/>
              <a:t>maximizar as recompensas</a:t>
            </a:r>
            <a:r>
              <a:rPr lang="pt-BR" dirty="0"/>
              <a:t>.</a:t>
            </a:r>
            <a:endParaRPr lang="en-US" dirty="0"/>
          </a:p>
        </p:txBody>
      </p:sp>
      <p:pic>
        <p:nvPicPr>
          <p:cNvPr id="4" name="Imagem 16">
            <a:extLst>
              <a:ext uri="{FF2B5EF4-FFF2-40B4-BE49-F238E27FC236}">
                <a16:creationId xmlns="" xmlns:a16="http://schemas.microsoft.com/office/drawing/2014/main" id="{DBF5DA34-1AFA-91BB-3A5B-17C30434F4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8000" y="1177900"/>
            <a:ext cx="1865294" cy="5814060"/>
          </a:xfrm>
          <a:prstGeom prst="rect">
            <a:avLst/>
          </a:prstGeom>
        </p:spPr>
      </p:pic>
    </p:spTree>
    <p:extLst>
      <p:ext uri="{BB962C8B-B14F-4D97-AF65-F5344CB8AC3E}">
        <p14:creationId xmlns:p14="http://schemas.microsoft.com/office/powerpoint/2010/main" val="406394666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B14FA7E6-7BA0-FE65-126F-8F1D373F1630}"/>
              </a:ext>
            </a:extLst>
          </p:cNvPr>
          <p:cNvSpPr>
            <a:spLocks noGrp="1"/>
          </p:cNvSpPr>
          <p:nvPr>
            <p:ph type="title"/>
          </p:nvPr>
        </p:nvSpPr>
        <p:spPr/>
        <p:txBody>
          <a:bodyPr/>
          <a:lstStyle/>
          <a:p>
            <a:r>
              <a:rPr lang="pt-BR" dirty="0"/>
              <a:t>Aprendizado por reforço</a:t>
            </a:r>
            <a:endParaRPr lang="en-US" dirty="0"/>
          </a:p>
        </p:txBody>
      </p:sp>
      <p:sp>
        <p:nvSpPr>
          <p:cNvPr id="3" name="Content Placeholder 2">
            <a:extLst>
              <a:ext uri="{FF2B5EF4-FFF2-40B4-BE49-F238E27FC236}">
                <a16:creationId xmlns="" xmlns:a16="http://schemas.microsoft.com/office/drawing/2014/main" id="{B45DADDE-244A-CD46-F7ED-BAF0F4421932}"/>
              </a:ext>
            </a:extLst>
          </p:cNvPr>
          <p:cNvSpPr>
            <a:spLocks noGrp="1"/>
          </p:cNvSpPr>
          <p:nvPr>
            <p:ph idx="1"/>
          </p:nvPr>
        </p:nvSpPr>
        <p:spPr>
          <a:xfrm>
            <a:off x="5519057" y="1825624"/>
            <a:ext cx="6509657" cy="5032375"/>
          </a:xfrm>
        </p:spPr>
        <p:txBody>
          <a:bodyPr>
            <a:normAutofit/>
          </a:bodyPr>
          <a:lstStyle/>
          <a:p>
            <a:r>
              <a:rPr lang="pt-BR" dirty="0" smtClean="0"/>
              <a:t>Aplicações:</a:t>
            </a:r>
          </a:p>
          <a:p>
            <a:pPr lvl="1">
              <a:buFont typeface="Wingdings" panose="05000000000000000000" pitchFamily="2" charset="2"/>
              <a:buChar char="§"/>
            </a:pPr>
            <a:r>
              <a:rPr lang="pt-BR" dirty="0" smtClean="0"/>
              <a:t>Agentes que aprendem a jogar jogos (e.g., Dota, Go, etc.)</a:t>
            </a:r>
          </a:p>
          <a:p>
            <a:pPr lvl="1">
              <a:buFont typeface="Wingdings" panose="05000000000000000000" pitchFamily="2" charset="2"/>
              <a:buChar char="§"/>
            </a:pPr>
            <a:r>
              <a:rPr lang="pt-BR" dirty="0" smtClean="0"/>
              <a:t>Veículos autônomos (e.g., carros, </a:t>
            </a:r>
            <a:r>
              <a:rPr lang="pt-BR" i="1" dirty="0" smtClean="0"/>
              <a:t>drones</a:t>
            </a:r>
            <a:r>
              <a:rPr lang="pt-BR" dirty="0" smtClean="0"/>
              <a:t>, etc.): aprendem a acelerar, frear, desviar de obstáculos (inicialmente, em simuladores).</a:t>
            </a:r>
          </a:p>
          <a:p>
            <a:pPr lvl="1">
              <a:buFont typeface="Wingdings" panose="05000000000000000000" pitchFamily="2" charset="2"/>
              <a:buChar char="§"/>
            </a:pPr>
            <a:r>
              <a:rPr lang="pt-BR" dirty="0" smtClean="0"/>
              <a:t>Robôs investidores que aprendem o melhor momento para comprar ou vender ações na bolsa para maximizar o lucro a longo prazo.</a:t>
            </a:r>
            <a:endParaRPr lang="pt-BR" dirty="0"/>
          </a:p>
        </p:txBody>
      </p:sp>
      <p:pic>
        <p:nvPicPr>
          <p:cNvPr id="6146" name="Picture 2" descr="Artificial intelligence: Google's AlphaGo beats Go master Lee Se-dol - BBC  News">
            <a:extLst>
              <a:ext uri="{FF2B5EF4-FFF2-40B4-BE49-F238E27FC236}">
                <a16:creationId xmlns="" xmlns:a16="http://schemas.microsoft.com/office/drawing/2014/main" id="{A616A1B8-25C6-0F11-E031-08AA5F368E2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5362" y="1655985"/>
            <a:ext cx="2725057" cy="1532845"/>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Automated Vehicles – How to Keep Humans in Control? – SINTEF Blog">
            <a:extLst>
              <a:ext uri="{FF2B5EF4-FFF2-40B4-BE49-F238E27FC236}">
                <a16:creationId xmlns="" xmlns:a16="http://schemas.microsoft.com/office/drawing/2014/main" id="{918211D7-A16E-FF10-3ECF-FFAD1A9593D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464128" y="3337488"/>
            <a:ext cx="2820610" cy="1752486"/>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Insiders Discuss How to Invest in AI: 5 Key Takeaways | Worth">
            <a:extLst>
              <a:ext uri="{FF2B5EF4-FFF2-40B4-BE49-F238E27FC236}">
                <a16:creationId xmlns="" xmlns:a16="http://schemas.microsoft.com/office/drawing/2014/main" id="{71174079-7777-DA29-7216-9995A66D5AEA}"/>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30152" y="5238633"/>
            <a:ext cx="2888905" cy="1619367"/>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p:cNvSpPr/>
          <p:nvPr/>
        </p:nvSpPr>
        <p:spPr>
          <a:xfrm>
            <a:off x="8380892" y="6550223"/>
            <a:ext cx="3811108" cy="307777"/>
          </a:xfrm>
          <a:prstGeom prst="rect">
            <a:avLst/>
          </a:prstGeom>
        </p:spPr>
        <p:txBody>
          <a:bodyPr wrap="none">
            <a:spAutoFit/>
          </a:bodyPr>
          <a:lstStyle/>
          <a:p>
            <a:r>
              <a:rPr lang="pt-BR" sz="1400" dirty="0">
                <a:hlinkClick r:id="rId6"/>
              </a:rPr>
              <a:t>https://www.youtube.com/watch?v=V1eYniJ0Rnk</a:t>
            </a:r>
            <a:endParaRPr lang="pt-BR" sz="1400" dirty="0"/>
          </a:p>
        </p:txBody>
      </p:sp>
    </p:spTree>
    <p:extLst>
      <p:ext uri="{BB962C8B-B14F-4D97-AF65-F5344CB8AC3E}">
        <p14:creationId xmlns:p14="http://schemas.microsoft.com/office/powerpoint/2010/main" val="191431834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 xmlns:a16="http://schemas.microsoft.com/office/drawing/2014/main" id="{D6B8C9E1-3C59-54BF-2715-C15C57327877}"/>
              </a:ext>
            </a:extLst>
          </p:cNvPr>
          <p:cNvSpPr>
            <a:spLocks noGrp="1"/>
          </p:cNvSpPr>
          <p:nvPr>
            <p:ph idx="1"/>
          </p:nvPr>
        </p:nvSpPr>
        <p:spPr>
          <a:xfrm>
            <a:off x="838200" y="2823255"/>
            <a:ext cx="10515600" cy="1211489"/>
          </a:xfrm>
        </p:spPr>
        <p:txBody>
          <a:bodyPr>
            <a:normAutofit/>
          </a:bodyPr>
          <a:lstStyle/>
          <a:p>
            <a:pPr marL="0" indent="0" algn="ctr">
              <a:buNone/>
            </a:pPr>
            <a:r>
              <a:rPr lang="pt-BR" sz="8000" dirty="0"/>
              <a:t>Quiz</a:t>
            </a:r>
            <a:endParaRPr lang="en-US" sz="8000" dirty="0"/>
          </a:p>
        </p:txBody>
      </p:sp>
    </p:spTree>
    <p:extLst>
      <p:ext uri="{BB962C8B-B14F-4D97-AF65-F5344CB8AC3E}">
        <p14:creationId xmlns:p14="http://schemas.microsoft.com/office/powerpoint/2010/main" val="172872954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B28A9759-CA4F-DA4F-85C2-F6E51DCED2D9}"/>
            </a:ext>
          </a:extLst>
        </p:cNvPr>
        <p:cNvGrpSpPr/>
        <p:nvPr/>
      </p:nvGrpSpPr>
      <p:grpSpPr>
        <a:xfrm>
          <a:off x="0" y="0"/>
          <a:ext cx="0" cy="0"/>
          <a:chOff x="0" y="0"/>
          <a:chExt cx="0" cy="0"/>
        </a:xfrm>
      </p:grpSpPr>
      <p:sp>
        <p:nvSpPr>
          <p:cNvPr id="2" name="Título 1">
            <a:extLst>
              <a:ext uri="{FF2B5EF4-FFF2-40B4-BE49-F238E27FC236}">
                <a16:creationId xmlns="" xmlns:a16="http://schemas.microsoft.com/office/drawing/2014/main" id="{072F732D-34CE-6153-324F-D7F6821577F0}"/>
              </a:ext>
            </a:extLst>
          </p:cNvPr>
          <p:cNvSpPr>
            <a:spLocks noGrp="1"/>
          </p:cNvSpPr>
          <p:nvPr>
            <p:ph type="title"/>
          </p:nvPr>
        </p:nvSpPr>
        <p:spPr/>
        <p:txBody>
          <a:bodyPr/>
          <a:lstStyle/>
          <a:p>
            <a:r>
              <a:rPr lang="pt-BR" dirty="0"/>
              <a:t>Qual paradigma usar?</a:t>
            </a:r>
          </a:p>
        </p:txBody>
      </p:sp>
      <p:sp>
        <p:nvSpPr>
          <p:cNvPr id="3" name="Espaço Reservado para Conteúdo 2">
            <a:extLst>
              <a:ext uri="{FF2B5EF4-FFF2-40B4-BE49-F238E27FC236}">
                <a16:creationId xmlns="" xmlns:a16="http://schemas.microsoft.com/office/drawing/2014/main" id="{62A55622-8E11-E5D7-8EAF-7AE2CCAA3321}"/>
              </a:ext>
            </a:extLst>
          </p:cNvPr>
          <p:cNvSpPr>
            <a:spLocks noGrp="1"/>
          </p:cNvSpPr>
          <p:nvPr>
            <p:ph idx="1"/>
          </p:nvPr>
        </p:nvSpPr>
        <p:spPr>
          <a:xfrm>
            <a:off x="838199" y="1825625"/>
            <a:ext cx="11146971" cy="5032376"/>
          </a:xfrm>
        </p:spPr>
        <p:txBody>
          <a:bodyPr>
            <a:normAutofit/>
          </a:bodyPr>
          <a:lstStyle/>
          <a:p>
            <a:r>
              <a:rPr lang="pt-BR" b="1" dirty="0"/>
              <a:t>Caso A</a:t>
            </a:r>
            <a:r>
              <a:rPr lang="pt-BR" dirty="0"/>
              <a:t>: 50k imagens com peças danificadas, todas rotuladas. </a:t>
            </a:r>
          </a:p>
          <a:p>
            <a:pPr lvl="1">
              <a:buFont typeface="Wingdings" panose="05000000000000000000" pitchFamily="2" charset="2"/>
              <a:buChar char="§"/>
            </a:pPr>
            <a:r>
              <a:rPr lang="pt-BR" b="1" dirty="0"/>
              <a:t>Objetivo</a:t>
            </a:r>
            <a:r>
              <a:rPr lang="pt-BR" dirty="0"/>
              <a:t>: identificar defeitos em peças.</a:t>
            </a:r>
          </a:p>
          <a:p>
            <a:r>
              <a:rPr lang="pt-BR" b="1" dirty="0"/>
              <a:t>Caso B</a:t>
            </a:r>
            <a:r>
              <a:rPr lang="pt-BR" dirty="0"/>
              <a:t>: robô recém implantado em um armazém desconhecido e superlotado para coletar e armazenar caixas.</a:t>
            </a:r>
          </a:p>
          <a:p>
            <a:pPr lvl="1">
              <a:buFont typeface="Wingdings" panose="05000000000000000000" pitchFamily="2" charset="2"/>
              <a:buChar char="§"/>
            </a:pPr>
            <a:r>
              <a:rPr lang="pt-BR" b="1" dirty="0"/>
              <a:t>Objetivo</a:t>
            </a:r>
            <a:r>
              <a:rPr lang="pt-BR" dirty="0"/>
              <a:t>: decidir rotas mais rápidas e seguras para coletar e armazenar as caixas.</a:t>
            </a:r>
          </a:p>
          <a:p>
            <a:r>
              <a:rPr lang="pt-BR" b="1" dirty="0"/>
              <a:t>Caso C</a:t>
            </a:r>
            <a:r>
              <a:rPr lang="pt-BR" dirty="0"/>
              <a:t>: conjunto de textos da internet sem rótulos.</a:t>
            </a:r>
          </a:p>
          <a:p>
            <a:pPr lvl="1">
              <a:buFont typeface="Wingdings" panose="05000000000000000000" pitchFamily="2" charset="2"/>
              <a:buChar char="§"/>
            </a:pPr>
            <a:r>
              <a:rPr lang="pt-BR" b="1" dirty="0"/>
              <a:t>Objetivo</a:t>
            </a:r>
            <a:r>
              <a:rPr lang="pt-BR" dirty="0"/>
              <a:t>: agrupar textos e descobrir tópicos.</a:t>
            </a:r>
          </a:p>
          <a:p>
            <a:r>
              <a:rPr lang="pt-BR" b="1" dirty="0"/>
              <a:t>Caso D</a:t>
            </a:r>
            <a:r>
              <a:rPr lang="pt-BR" dirty="0"/>
              <a:t>: um sistema que observa o fluxo normal de gastos de um cliente e detecta uma compra de alto valor em um país distante.</a:t>
            </a:r>
          </a:p>
          <a:p>
            <a:pPr lvl="1">
              <a:buFont typeface="Wingdings" panose="05000000000000000000" pitchFamily="2" charset="2"/>
              <a:buChar char="§"/>
            </a:pPr>
            <a:r>
              <a:rPr lang="pt-BR" b="1" dirty="0"/>
              <a:t>Objetivo:</a:t>
            </a:r>
            <a:r>
              <a:rPr lang="pt-BR" dirty="0"/>
              <a:t> identificar padrões que fogem completamente do normal para bloquear possíveis fraudes.</a:t>
            </a:r>
          </a:p>
        </p:txBody>
      </p:sp>
    </p:spTree>
    <p:extLst>
      <p:ext uri="{BB962C8B-B14F-4D97-AF65-F5344CB8AC3E}">
        <p14:creationId xmlns:p14="http://schemas.microsoft.com/office/powerpoint/2010/main" val="152181125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E8FD0E11-3B37-4336-5BF0-C8C033354AF6}"/>
              </a:ext>
            </a:extLst>
          </p:cNvPr>
          <p:cNvSpPr>
            <a:spLocks noGrp="1"/>
          </p:cNvSpPr>
          <p:nvPr>
            <p:ph type="title"/>
          </p:nvPr>
        </p:nvSpPr>
        <p:spPr/>
        <p:txBody>
          <a:bodyPr/>
          <a:lstStyle/>
          <a:p>
            <a:r>
              <a:rPr lang="pt-BR" dirty="0"/>
              <a:t>Lista de </a:t>
            </a:r>
            <a:r>
              <a:rPr lang="pt-BR" dirty="0" err="1"/>
              <a:t>exrcícios</a:t>
            </a:r>
            <a:endParaRPr lang="en-US" dirty="0"/>
          </a:p>
        </p:txBody>
      </p:sp>
      <p:sp>
        <p:nvSpPr>
          <p:cNvPr id="3" name="Content Placeholder 2">
            <a:extLst>
              <a:ext uri="{FF2B5EF4-FFF2-40B4-BE49-F238E27FC236}">
                <a16:creationId xmlns=""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2"/>
              </a:rPr>
              <a:t>Lista #2 - Paradigmas</a:t>
            </a:r>
            <a:endParaRPr lang="en-US" dirty="0"/>
          </a:p>
        </p:txBody>
      </p:sp>
    </p:spTree>
    <p:extLst>
      <p:ext uri="{BB962C8B-B14F-4D97-AF65-F5344CB8AC3E}">
        <p14:creationId xmlns:p14="http://schemas.microsoft.com/office/powerpoint/2010/main" val="420935604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8543</TotalTime>
  <Words>5130</Words>
  <Application>Microsoft Office PowerPoint</Application>
  <PresentationFormat>Widescreen</PresentationFormat>
  <Paragraphs>376</Paragraphs>
  <Slides>42</Slides>
  <Notes>27</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42</vt:i4>
      </vt:variant>
    </vt:vector>
  </HeadingPairs>
  <TitlesOfParts>
    <vt:vector size="49" baseType="lpstr">
      <vt:lpstr>Arial</vt:lpstr>
      <vt:lpstr>Calibri</vt:lpstr>
      <vt:lpstr>Calibri Light</vt:lpstr>
      <vt:lpstr>Cambria Math</vt:lpstr>
      <vt:lpstr>Söhne</vt:lpstr>
      <vt:lpstr>Wingdings</vt:lpstr>
      <vt:lpstr>Tema do Office</vt:lpstr>
      <vt:lpstr>C24 – Inteligência Artificial: Paradigmas de aprendizado de máquina</vt:lpstr>
      <vt:lpstr>Apresentação do PowerPoint</vt:lpstr>
      <vt:lpstr>Apresentação do PowerPoint</vt:lpstr>
      <vt:lpstr>Paradigma da programação tradicional</vt:lpstr>
      <vt:lpstr>Apresentação do PowerPoint</vt:lpstr>
      <vt:lpstr>Paradigma do aprendizado de máquina</vt:lpstr>
      <vt:lpstr>Paradigma do aprendizado de máquina</vt:lpstr>
      <vt:lpstr>Generalização</vt:lpstr>
      <vt:lpstr>Generalização</vt:lpstr>
      <vt:lpstr>Generalização</vt:lpstr>
      <vt:lpstr>Apresentação do PowerPoint</vt:lpstr>
      <vt:lpstr>Generalização</vt:lpstr>
      <vt:lpstr>Generalização</vt:lpstr>
      <vt:lpstr>Os paradigmas de aprendizado</vt:lpstr>
      <vt:lpstr>Os paradigmas de aprendizado</vt:lpstr>
      <vt:lpstr>Aprendizado supervisionado</vt:lpstr>
      <vt:lpstr>Aprendizado supervisionado</vt:lpstr>
      <vt:lpstr>Aprendizado supervisionado</vt:lpstr>
      <vt:lpstr>Aprendizado supervisionado</vt:lpstr>
      <vt:lpstr>Aprendizado supervisionado</vt:lpstr>
      <vt:lpstr>Alguns problemas do aprendizado supervisionado</vt:lpstr>
      <vt:lpstr>Alguns problemas do aprendizado supervisionado</vt:lpstr>
      <vt:lpstr>Alguns problemas do aprendizado 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não-supervisionado</vt:lpstr>
      <vt:lpstr>Aprendizado por reforço</vt:lpstr>
      <vt:lpstr>Aprendizado por reforço</vt:lpstr>
      <vt:lpstr>Aprendizado por reforço</vt:lpstr>
      <vt:lpstr>Aprendizado por reforço</vt:lpstr>
      <vt:lpstr>Aprendizado por reforço</vt:lpstr>
      <vt:lpstr>Apresentação do PowerPoint</vt:lpstr>
      <vt:lpstr>Qual paradigma usar?</vt:lpstr>
      <vt:lpstr>Lista de exrcícios</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1936</cp:revision>
  <dcterms:created xsi:type="dcterms:W3CDTF">2020-01-20T13:50:05Z</dcterms:created>
  <dcterms:modified xsi:type="dcterms:W3CDTF">2026-08-03T01:12:24Z</dcterms:modified>
</cp:coreProperties>
</file>