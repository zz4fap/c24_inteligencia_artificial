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316" r:id="rId3"/>
    <p:sldId id="346" r:id="rId4"/>
    <p:sldId id="307" r:id="rId5"/>
    <p:sldId id="419" r:id="rId6"/>
    <p:sldId id="318" r:id="rId7"/>
    <p:sldId id="319" r:id="rId8"/>
    <p:sldId id="412" r:id="rId9"/>
    <p:sldId id="413" r:id="rId10"/>
    <p:sldId id="422" r:id="rId11"/>
    <p:sldId id="414" r:id="rId12"/>
    <p:sldId id="415" r:id="rId13"/>
    <p:sldId id="411" r:id="rId14"/>
    <p:sldId id="317" r:id="rId15"/>
    <p:sldId id="345" r:id="rId16"/>
    <p:sldId id="323" r:id="rId17"/>
    <p:sldId id="308" r:id="rId18"/>
    <p:sldId id="320" r:id="rId19"/>
    <p:sldId id="327" r:id="rId20"/>
    <p:sldId id="330" r:id="rId21"/>
    <p:sldId id="324" r:id="rId22"/>
    <p:sldId id="416" r:id="rId23"/>
    <p:sldId id="417" r:id="rId24"/>
    <p:sldId id="322" r:id="rId25"/>
    <p:sldId id="423" r:id="rId26"/>
    <p:sldId id="325" r:id="rId27"/>
    <p:sldId id="418" r:id="rId28"/>
    <p:sldId id="309" r:id="rId29"/>
    <p:sldId id="332" r:id="rId30"/>
    <p:sldId id="335" r:id="rId31"/>
    <p:sldId id="336" r:id="rId32"/>
    <p:sldId id="338" r:id="rId33"/>
    <p:sldId id="331" r:id="rId34"/>
    <p:sldId id="340" r:id="rId35"/>
    <p:sldId id="341" r:id="rId36"/>
    <p:sldId id="342" r:id="rId37"/>
    <p:sldId id="343" r:id="rId38"/>
    <p:sldId id="344" r:id="rId39"/>
    <p:sldId id="311" r:id="rId40"/>
    <p:sldId id="347" r:id="rId41"/>
    <p:sldId id="293" r:id="rId42"/>
    <p:sldId id="306" r:id="rId4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2878" autoAdjust="0"/>
  </p:normalViewPr>
  <p:slideViewPr>
    <p:cSldViewPr snapToGrid="0">
      <p:cViewPr varScale="1">
        <p:scale>
          <a:sx n="61" d="100"/>
          <a:sy n="61" d="100"/>
        </p:scale>
        <p:origin x="1260" y="5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 xmlns:a16="http://schemas.microsoft.com/office/drawing/2014/main"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98B8184E-EA97-01F9-DFFE-0A23F83AAEB4}"/>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08942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779F760A-4758-3E08-F1FB-5890B36E22AD}"/>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 xmlns:a16="http://schemas.microsoft.com/office/drawing/2014/main" id="{B8800543-0C44-94C7-D881-581E2A942F56}"/>
              </a:ext>
            </a:extLst>
          </p:cNvPr>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 xmlns:a16="http://schemas.microsoft.com/office/drawing/2014/main" id="{03C1299E-42D9-80A9-8FCB-F3A0DA4AB819}"/>
              </a:ext>
            </a:extLst>
          </p:cNvPr>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4016760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F9B1849-4B47-1AB0-9DAF-0293AF433E86}"/>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 xmlns:a16="http://schemas.microsoft.com/office/drawing/2014/main" id="{3F992D22-13DD-3212-862A-DA9610408D81}"/>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jpe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jpe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www.youtube.com/watch?v=V1eYniJ0Rnk" TargetMode="External"/><Relationship Id="rId5" Type="http://schemas.openxmlformats.org/officeDocument/2006/relationships/image" Target="../media/image40.jpeg"/><Relationship Id="rId4" Type="http://schemas.openxmlformats.org/officeDocument/2006/relationships/image" Target="../media/image39.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Paradigmas de </a:t>
            </a:r>
            <a:r>
              <a:rPr lang="pt-BR" sz="7200" b="1" i="1" dirty="0" smtClean="0"/>
              <a:t>aprendizado de máquina</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2F6F8E7-B4A0-19D4-54F3-D87397978D6A}"/>
            </a:ext>
          </a:extLst>
        </p:cNvPr>
        <p:cNvGrpSpPr/>
        <p:nvPr/>
      </p:nvGrpSpPr>
      <p:grpSpPr>
        <a:xfrm>
          <a:off x="0" y="0"/>
          <a:ext cx="0" cy="0"/>
          <a:chOff x="0" y="0"/>
          <a:chExt cx="0" cy="0"/>
        </a:xfrm>
      </p:grpSpPr>
      <p:sp>
        <p:nvSpPr>
          <p:cNvPr id="4" name="Retângulo 3">
            <a:extLst>
              <a:ext uri="{FF2B5EF4-FFF2-40B4-BE49-F238E27FC236}">
                <a16:creationId xmlns="" xmlns:a16="http://schemas.microsoft.com/office/drawing/2014/main"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 xmlns:a16="http://schemas.microsoft.com/office/drawing/2014/main"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smtClean="0"/>
              <a:t>Paradigma da programação </a:t>
            </a:r>
            <a:r>
              <a:rPr lang="pt-BR" dirty="0"/>
              <a:t>tradicional</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smtClean="0">
                <a:solidFill>
                  <a:srgbClr val="7030A0"/>
                </a:solidFill>
              </a:rPr>
              <a:t>humanos criamos </a:t>
            </a:r>
            <a:r>
              <a:rPr lang="pt-BR" dirty="0" smtClean="0"/>
              <a:t>as </a:t>
            </a:r>
            <a:r>
              <a:rPr lang="pt-BR" b="1" dirty="0"/>
              <a:t>regras</a:t>
            </a:r>
            <a:r>
              <a:rPr lang="pt-BR" dirty="0"/>
              <a:t> (i.e., o programa) e os </a:t>
            </a:r>
            <a:r>
              <a:rPr lang="pt-BR" b="1" dirty="0"/>
              <a:t>dados</a:t>
            </a:r>
            <a:r>
              <a:rPr lang="pt-BR" dirty="0"/>
              <a:t> </a:t>
            </a:r>
            <a:r>
              <a:rPr lang="pt-BR" dirty="0" smtClean="0"/>
              <a:t>e o </a:t>
            </a:r>
            <a:r>
              <a:rPr lang="pt-BR" b="1" dirty="0">
                <a:solidFill>
                  <a:schemeClr val="accent2"/>
                </a:solidFill>
              </a:rPr>
              <a:t>computador</a:t>
            </a:r>
            <a:r>
              <a:rPr lang="pt-BR" dirty="0"/>
              <a:t>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83680" y="2219521"/>
            <a:ext cx="5289452" cy="2858917"/>
          </a:xfrm>
        </p:spPr>
        <p:txBody>
          <a:bodyPr>
            <a:normAutofit/>
          </a:bodyPr>
          <a:lstStyle/>
          <a:p>
            <a:pPr marL="0" indent="0" algn="ctr">
              <a:buNone/>
            </a:pPr>
            <a:r>
              <a:rPr lang="pt-BR" sz="3600" dirty="0" smtClean="0"/>
              <a:t>No aprendizado de máquina, as máquinas aprendem sem serem explicitamente programadas.</a:t>
            </a:r>
            <a:endParaRPr lang="pt-BR" sz="3600" dirty="0"/>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l="19061" t="5035" r="5134" b="5175"/>
          <a:stretch/>
        </p:blipFill>
        <p:spPr>
          <a:xfrm>
            <a:off x="301470" y="1026943"/>
            <a:ext cx="6074810" cy="4797082"/>
          </a:xfrm>
          <a:prstGeom prst="rect">
            <a:avLst/>
          </a:prstGeom>
        </p:spPr>
      </p:pic>
    </p:spTree>
    <p:extLst>
      <p:ext uri="{BB962C8B-B14F-4D97-AF65-F5344CB8AC3E}">
        <p14:creationId xmlns:p14="http://schemas.microsoft.com/office/powerpoint/2010/main" val="140958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a:t>
            </a:r>
            <a:r>
              <a:rPr lang="pt-BR" dirty="0" smtClean="0"/>
              <a:t>Nós </a:t>
            </a:r>
            <a:r>
              <a:rPr lang="pt-BR" b="1" dirty="0" smtClean="0">
                <a:solidFill>
                  <a:schemeClr val="accent1"/>
                </a:solidFill>
              </a:rPr>
              <a:t>humanos</a:t>
            </a:r>
            <a:r>
              <a:rPr lang="pt-BR" dirty="0" smtClean="0"/>
              <a:t> fornecemos os </a:t>
            </a:r>
            <a:r>
              <a:rPr lang="pt-BR" b="1" dirty="0" smtClean="0"/>
              <a:t>dados</a:t>
            </a:r>
            <a:r>
              <a:rPr lang="pt-BR" dirty="0" smtClean="0"/>
              <a:t> </a:t>
            </a:r>
            <a:r>
              <a:rPr lang="pt-BR" dirty="0"/>
              <a:t>e os </a:t>
            </a:r>
            <a:r>
              <a:rPr lang="pt-BR" b="1" dirty="0"/>
              <a:t>resultados</a:t>
            </a:r>
            <a:r>
              <a:rPr lang="pt-BR" dirty="0"/>
              <a:t> </a:t>
            </a:r>
            <a:r>
              <a:rPr lang="pt-BR" dirty="0" smtClean="0"/>
              <a:t>e o </a:t>
            </a:r>
            <a:r>
              <a:rPr lang="pt-BR" b="1" dirty="0">
                <a:solidFill>
                  <a:schemeClr val="accent2"/>
                </a:solidFill>
              </a:rPr>
              <a:t>computador</a:t>
            </a:r>
            <a:r>
              <a:rPr lang="pt-BR" dirty="0"/>
              <a:t> </a:t>
            </a:r>
            <a:r>
              <a:rPr lang="pt-BR" b="1" dirty="0" smtClean="0">
                <a:solidFill>
                  <a:srgbClr val="7030A0"/>
                </a:solidFill>
              </a:rPr>
              <a:t>descobre/aprende</a:t>
            </a:r>
            <a:r>
              <a:rPr lang="pt-BR" dirty="0" smtClean="0"/>
              <a:t> </a:t>
            </a:r>
            <a:r>
              <a:rPr lang="pt-BR" dirty="0"/>
              <a:t>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O combustível do </a:t>
            </a:r>
            <a:r>
              <a:rPr lang="pt-BR" b="1" dirty="0" smtClean="0"/>
              <a:t>ML</a:t>
            </a:r>
            <a:r>
              <a:rPr lang="pt-BR" dirty="0" smtClean="0"/>
              <a:t> são o dados </a:t>
            </a:r>
            <a:r>
              <a:rPr lang="pt-BR" dirty="0"/>
              <a:t>(muitos dados!).</a:t>
            </a:r>
          </a:p>
          <a:p>
            <a:r>
              <a:rPr lang="pt-BR" b="1" dirty="0"/>
              <a:t>O objetivo:</a:t>
            </a:r>
            <a:r>
              <a:rPr lang="pt-BR" dirty="0"/>
              <a:t> </a:t>
            </a:r>
            <a:r>
              <a:rPr lang="pt-BR" dirty="0" smtClean="0"/>
              <a:t>Treinar um modelo que </a:t>
            </a:r>
            <a:r>
              <a:rPr lang="pt-BR" b="1" dirty="0" smtClean="0">
                <a:solidFill>
                  <a:srgbClr val="7030A0"/>
                </a:solidFill>
              </a:rPr>
              <a:t>generalize</a:t>
            </a:r>
            <a:r>
              <a:rPr lang="pt-BR" dirty="0" smtClean="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231735"/>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95DEED5-0625-1165-C136-EA6183F1292D}"/>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 xmlns:a16="http://schemas.microsoft.com/office/drawing/2014/main"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a:t>
            </a:r>
            <a:r>
              <a:rPr lang="pt-BR" b="1" dirty="0" smtClean="0">
                <a:solidFill>
                  <a:srgbClr val="00B050"/>
                </a:solidFill>
              </a:rPr>
              <a:t>dados de entrada </a:t>
            </a:r>
            <a:r>
              <a:rPr lang="pt-BR" b="1" dirty="0">
                <a:solidFill>
                  <a:schemeClr val="accent1"/>
                </a:solidFill>
              </a:rPr>
              <a:t>não </a:t>
            </a:r>
            <a:r>
              <a:rPr lang="pt-BR" b="1" dirty="0" smtClean="0">
                <a:solidFill>
                  <a:schemeClr val="accent1"/>
                </a:solidFill>
              </a:rPr>
              <a:t>vistos </a:t>
            </a:r>
            <a:r>
              <a:rPr lang="pt-BR" b="1" dirty="0">
                <a:solidFill>
                  <a:schemeClr val="accent1"/>
                </a:solidFill>
              </a:rPr>
              <a:t>durante o treinamento</a:t>
            </a:r>
            <a:r>
              <a:rPr lang="pt-BR" dirty="0"/>
              <a:t>.</a:t>
            </a:r>
          </a:p>
          <a:p>
            <a:r>
              <a:rPr lang="pt-BR" dirty="0"/>
              <a:t>Vejamos o exemplo da </a:t>
            </a:r>
            <a:r>
              <a:rPr lang="pt-BR" dirty="0" err="1"/>
              <a:t>paleteria</a:t>
            </a:r>
            <a:r>
              <a:rPr lang="pt-BR" dirty="0"/>
              <a:t> </a:t>
            </a:r>
            <a:r>
              <a:rPr lang="pt-BR" dirty="0" smtClean="0"/>
              <a:t>mexicana para entender melhor o que é a generalização.</a:t>
            </a:r>
            <a:endParaRPr lang="pt-BR" dirty="0"/>
          </a:p>
        </p:txBody>
      </p:sp>
    </p:spTree>
    <p:extLst>
      <p:ext uri="{BB962C8B-B14F-4D97-AF65-F5344CB8AC3E}">
        <p14:creationId xmlns:p14="http://schemas.microsoft.com/office/powerpoint/2010/main" val="10079047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 xmlns:a16="http://schemas.microsoft.com/office/drawing/2014/main" id="{1EE8BD47-74BF-4BDE-17AA-A5867E32AE3D}"/>
                  </a:ext>
                </a:extLst>
              </p:cNvPr>
              <p:cNvSpPr>
                <a:spLocks noGrp="1"/>
              </p:cNvSpPr>
              <p:nvPr>
                <p:ph idx="1"/>
              </p:nvPr>
            </p:nvSpPr>
            <p:spPr>
              <a:xfrm>
                <a:off x="5289452" y="1825624"/>
                <a:ext cx="6766559" cy="5032376"/>
              </a:xfrm>
            </p:spPr>
            <p:txBody>
              <a:bodyPr>
                <a:normAutofit/>
              </a:bodyPr>
              <a:lstStyle/>
              <a:p>
                <a:r>
                  <a:rPr lang="pt-BR" dirty="0"/>
                  <a:t>Imaginem o dono de uma paleteria mexicana que </a:t>
                </a:r>
                <a:r>
                  <a:rPr lang="pt-BR" dirty="0" smtClean="0"/>
                  <a:t>quer </a:t>
                </a:r>
                <a:r>
                  <a:rPr lang="pt-BR" b="1" dirty="0" smtClean="0"/>
                  <a:t>produzir a quantidade correta de paletas por dia </a:t>
                </a:r>
                <a:r>
                  <a:rPr lang="pt-BR" dirty="0" smtClean="0"/>
                  <a:t>para manter o mínimo de estoque.</a:t>
                </a:r>
                <a:endParaRPr lang="pt-BR" dirty="0"/>
              </a:p>
              <a:p>
                <a:r>
                  <a:rPr lang="pt-BR" dirty="0"/>
                  <a:t>O que ele pode </a:t>
                </a:r>
                <a:r>
                  <a:rPr lang="pt-BR" dirty="0" smtClean="0"/>
                  <a:t>fazer para </a:t>
                </a:r>
                <a:r>
                  <a:rPr lang="pt-BR" b="1" dirty="0" smtClean="0">
                    <a:solidFill>
                      <a:srgbClr val="00B050"/>
                    </a:solidFill>
                  </a:rPr>
                  <a:t>predizer</a:t>
                </a:r>
                <a:r>
                  <a:rPr lang="pt-BR" dirty="0" smtClean="0">
                    <a:solidFill>
                      <a:srgbClr val="00B050"/>
                    </a:solidFill>
                  </a:rPr>
                  <a:t> </a:t>
                </a:r>
                <a:r>
                  <a:rPr lang="pt-BR" dirty="0" smtClean="0"/>
                  <a:t>a quantidade?</a:t>
                </a:r>
                <a:endParaRPr lang="pt-BR" dirty="0"/>
              </a:p>
              <a:p>
                <a:r>
                  <a:rPr lang="pt-BR" dirty="0" smtClean="0"/>
                  <a:t>Uma opção é anotar </a:t>
                </a:r>
                <a:r>
                  <a:rPr lang="pt-BR" dirty="0"/>
                  <a:t>as quantidades vendidas, as temperaturas médias e </a:t>
                </a:r>
                <a:r>
                  <a:rPr lang="pt-BR" b="1" dirty="0">
                    <a:solidFill>
                      <a:schemeClr val="accent2"/>
                    </a:solidFill>
                  </a:rPr>
                  <a:t>encontrar</a:t>
                </a:r>
                <a:r>
                  <a:rPr lang="pt-BR" dirty="0"/>
                  <a:t>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a:t>
                </a:r>
                <a:r>
                  <a:rPr lang="pt-BR" dirty="0" smtClean="0"/>
                  <a:t>paletas.</a:t>
                </a:r>
                <a:endParaRPr lang="pt-BR" dirty="0"/>
              </a:p>
            </p:txBody>
          </p:sp>
        </mc:Choice>
        <mc:Fallback xmlns="">
          <p:sp>
            <p:nvSpPr>
              <p:cNvPr id="4" name="Content Placeholder 3">
                <a:extLst>
                  <a:ext uri="{FF2B5EF4-FFF2-40B4-BE49-F238E27FC236}">
                    <a16:creationId xmlns:a16="http://schemas.microsoft.com/office/drawing/2014/main" xmlns="" xmlns:a14="http://schemas.microsoft.com/office/drawing/2010/main" id="{1EE8BD47-74BF-4BDE-17AA-A5867E32AE3D}"/>
                  </a:ext>
                </a:extLst>
              </p:cNvPr>
              <p:cNvSpPr>
                <a:spLocks noGrp="1" noRot="1" noChangeAspect="1" noMove="1" noResize="1" noEditPoints="1" noAdjustHandles="1" noChangeArrowheads="1" noChangeShapeType="1" noTextEdit="1"/>
              </p:cNvSpPr>
              <p:nvPr>
                <p:ph idx="1"/>
              </p:nvPr>
            </p:nvSpPr>
            <p:spPr>
              <a:xfrm>
                <a:off x="5289452" y="1825624"/>
                <a:ext cx="6766559" cy="5032376"/>
              </a:xfrm>
              <a:blipFill rotWithShape="0">
                <a:blip r:embed="rId3"/>
                <a:stretch>
                  <a:fillRect l="-1622" t="-1937" r="-1081"/>
                </a:stretch>
              </a:blipFill>
            </p:spPr>
            <p:txBody>
              <a:bodyPr/>
              <a:lstStyle/>
              <a:p>
                <a:r>
                  <a:rPr lang="pt-BR">
                    <a:noFill/>
                  </a:rPr>
                  <a:t> </a:t>
                </a:r>
              </a:p>
            </p:txBody>
          </p:sp>
        </mc:Fallback>
      </mc:AlternateContent>
      <p:pic>
        <p:nvPicPr>
          <p:cNvPr id="18" name="Picture 2">
            <a:extLst>
              <a:ext uri="{FF2B5EF4-FFF2-40B4-BE49-F238E27FC236}">
                <a16:creationId xmlns="" xmlns:a16="http://schemas.microsoft.com/office/drawing/2014/main" id="{8F8481C7-5EE4-D272-70B4-866D2F1B25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412926" y="2518589"/>
            <a:ext cx="4398223" cy="30937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0140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p:sp>
        <p:nvSpPr>
          <p:cNvPr id="4" name="Content Placeholder 3">
            <a:extLst>
              <a:ext uri="{FF2B5EF4-FFF2-40B4-BE49-F238E27FC236}">
                <a16:creationId xmlns:mc="http://schemas.openxmlformats.org/markup-compatibility/2006" xmlns:a14="http://schemas.microsoft.com/office/drawing/2010/main" xmlns="" xmlns:a16="http://schemas.microsoft.com/office/drawing/2014/main" id="{1EE8BD47-74BF-4BDE-17AA-A5867E32AE3D}"/>
              </a:ext>
            </a:extLst>
          </p:cNvPr>
          <p:cNvSpPr>
            <a:spLocks noGrp="1"/>
          </p:cNvSpPr>
          <p:nvPr>
            <p:ph idx="1"/>
          </p:nvPr>
        </p:nvSpPr>
        <p:spPr>
          <a:xfrm>
            <a:off x="838200" y="1825624"/>
            <a:ext cx="11217811" cy="5032376"/>
          </a:xfrm>
        </p:spPr>
        <p:txBody>
          <a:bodyPr>
            <a:normAutofit/>
          </a:bodyPr>
          <a:lstStyle/>
          <a:p>
            <a:r>
              <a:rPr lang="pt-BR" dirty="0" smtClean="0"/>
              <a:t>Para encontrar a função, ele poderia usar o </a:t>
            </a:r>
            <a:r>
              <a:rPr lang="pt-BR" b="1" dirty="0" smtClean="0">
                <a:solidFill>
                  <a:srgbClr val="7030A0"/>
                </a:solidFill>
              </a:rPr>
              <a:t>paradigma do aprendizado de máquina</a:t>
            </a:r>
            <a:r>
              <a:rPr lang="pt-BR" dirty="0" smtClean="0"/>
              <a:t> e passar ao algoritmo de treinamento o conjunto coletado de pares de temperatura e quantidade de paletas vendidas (i.e., </a:t>
            </a:r>
            <a:r>
              <a:rPr lang="pt-BR" i="1" dirty="0" smtClean="0"/>
              <a:t>dataset</a:t>
            </a:r>
            <a:r>
              <a:rPr lang="pt-BR" dirty="0" smtClean="0"/>
              <a:t>).</a:t>
            </a:r>
          </a:p>
          <a:p>
            <a:endParaRPr lang="en-US" dirty="0"/>
          </a:p>
        </p:txBody>
      </p:sp>
      <p:grpSp>
        <p:nvGrpSpPr>
          <p:cNvPr id="5" name="Group 11">
            <a:extLst>
              <a:ext uri="{FF2B5EF4-FFF2-40B4-BE49-F238E27FC236}">
                <a16:creationId xmlns="" xmlns:a16="http://schemas.microsoft.com/office/drawing/2014/main" id="{576172D2-AD61-2577-0108-AB71DABA33B8}"/>
              </a:ext>
            </a:extLst>
          </p:cNvPr>
          <p:cNvGrpSpPr/>
          <p:nvPr/>
        </p:nvGrpSpPr>
        <p:grpSpPr>
          <a:xfrm>
            <a:off x="838200" y="3662904"/>
            <a:ext cx="10453762" cy="2217402"/>
            <a:chOff x="772828" y="4191612"/>
            <a:chExt cx="10453762" cy="2217402"/>
          </a:xfrm>
        </p:grpSpPr>
        <p:pic>
          <p:nvPicPr>
            <p:cNvPr id="6" name="Picture 2">
              <a:extLst>
                <a:ext uri="{FF2B5EF4-FFF2-40B4-BE49-F238E27FC236}">
                  <a16:creationId xmlns="" xmlns:a16="http://schemas.microsoft.com/office/drawing/2014/main"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 xmlns:a16="http://schemas.microsoft.com/office/drawing/2014/main"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 xmlns:a16="http://schemas.microsoft.com/office/drawing/2014/main"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 xmlns:a16="http://schemas.microsoft.com/office/drawing/2014/main"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 xmlns:a16="http://schemas.microsoft.com/office/drawing/2014/main"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 xmlns:a16="http://schemas.microsoft.com/office/drawing/2014/main"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4">
                  <a:extLst>
                    <a:ext uri="{FF2B5EF4-FFF2-40B4-BE49-F238E27FC236}">
                      <a16:creationId xmlns="" xmlns:a16="http://schemas.microsoft.com/office/drawing/2014/main"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3" name="Straight Arrow Connector 15">
              <a:extLst>
                <a:ext uri="{FF2B5EF4-FFF2-40B4-BE49-F238E27FC236}">
                  <a16:creationId xmlns="" xmlns:a16="http://schemas.microsoft.com/office/drawing/2014/main"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6">
                  <a:extLst>
                    <a:ext uri="{FF2B5EF4-FFF2-40B4-BE49-F238E27FC236}">
                      <a16:creationId xmlns="" xmlns:a16="http://schemas.microsoft.com/office/drawing/2014/main"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5" name="Retângulo 5">
              <a:extLst>
                <a:ext uri="{FF2B5EF4-FFF2-40B4-BE49-F238E27FC236}">
                  <a16:creationId xmlns="" xmlns:a16="http://schemas.microsoft.com/office/drawing/2014/main"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16" name="Conector de seta reta 23">
              <a:extLst>
                <a:ext uri="{FF2B5EF4-FFF2-40B4-BE49-F238E27FC236}">
                  <a16:creationId xmlns="" xmlns:a16="http://schemas.microsoft.com/office/drawing/2014/main" id="{54CB7410-7A0B-50FD-1B9C-716EE4BEB120}"/>
                </a:ext>
              </a:extLst>
            </p:cNvPr>
            <p:cNvCxnSpPr>
              <a:stCxn id="19" idx="4"/>
              <a:endCxn id="15"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o explicativo retangular 16">
              <a:extLst>
                <a:ext uri="{FF2B5EF4-FFF2-40B4-BE49-F238E27FC236}">
                  <a16:creationId xmlns="" xmlns:a16="http://schemas.microsoft.com/office/drawing/2014/main"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19" name="Elipse 20">
              <a:extLst>
                <a:ext uri="{FF2B5EF4-FFF2-40B4-BE49-F238E27FC236}">
                  <a16:creationId xmlns="" xmlns:a16="http://schemas.microsoft.com/office/drawing/2014/main"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52353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t>
            </a:r>
            <a:r>
              <a:rPr lang="pt-BR" sz="5400" i="1" dirty="0" smtClean="0"/>
              <a:t>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007D5F-2B79-7F28-78EB-768CF7DED4A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 xmlns:a16="http://schemas.microsoft.com/office/drawing/2014/main" id="{C1F7B99B-805F-5153-8094-53157C98D7F1}"/>
                  </a:ext>
                </a:extLst>
              </p:cNvPr>
              <p:cNvSpPr>
                <a:spLocks noGrp="1"/>
              </p:cNvSpPr>
              <p:nvPr>
                <p:ph idx="1"/>
              </p:nvPr>
            </p:nvSpPr>
            <p:spPr>
              <a:xfrm>
                <a:off x="838200" y="1825624"/>
                <a:ext cx="11245948" cy="2283346"/>
              </a:xfrm>
            </p:spPr>
            <p:txBody>
              <a:bodyPr>
                <a:normAutofit/>
              </a:bodyPr>
              <a:lstStyle/>
              <a:p>
                <a:r>
                  <a:rPr lang="pt-BR" dirty="0" smtClean="0"/>
                  <a:t>Após o treinamento com o conjunto de experiências prévias, i.e., o </a:t>
                </a:r>
                <a:r>
                  <a:rPr lang="pt-BR" i="1" dirty="0"/>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pt-BR" dirty="0"/>
                  <a:t> e </a:t>
                </a:r>
                <a14:m>
                  <m:oMath xmlns:m="http://schemas.openxmlformats.org/officeDocument/2006/math">
                    <m:r>
                      <a:rPr lang="pt-BR" b="0" i="1" smtClean="0">
                        <a:latin typeface="Cambria Math" panose="02040503050406030204" pitchFamily="18" charset="0"/>
                      </a:rPr>
                      <m:t>𝑦</m:t>
                    </m:r>
                  </m:oMath>
                </a14:m>
                <a:r>
                  <a:rPr lang="pt-BR" dirty="0" smtClean="0"/>
                  <a:t>.</a:t>
                </a:r>
              </a:p>
              <a:p>
                <a:r>
                  <a:rPr lang="pt-BR" dirty="0" smtClean="0"/>
                  <a:t>O algoritmo de ML </a:t>
                </a:r>
                <a:r>
                  <a:rPr lang="pt-BR" b="1" dirty="0" smtClean="0">
                    <a:solidFill>
                      <a:srgbClr val="00B050"/>
                    </a:solidFill>
                  </a:rPr>
                  <a:t>encontra a melhor equação e os seus respectivos pesos</a:t>
                </a:r>
                <a:r>
                  <a:rPr lang="pt-BR" dirty="0" smtClean="0"/>
                  <a:t>.</a:t>
                </a:r>
                <a:endParaRPr lang="pt-BR" dirty="0"/>
              </a:p>
            </p:txBody>
          </p:sp>
        </mc:Choice>
        <mc:Fallback xmlns="">
          <p:sp>
            <p:nvSpPr>
              <p:cNvPr id="4" name="Content Placeholder 3">
                <a:extLst>
                  <a:ext uri="{FF2B5EF4-FFF2-40B4-BE49-F238E27FC236}">
                    <a16:creationId xmlns:a16="http://schemas.microsoft.com/office/drawing/2014/main" xmlns="" xmlns:a14="http://schemas.microsoft.com/office/drawing/2010/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245948" cy="2283346"/>
              </a:xfrm>
              <a:blipFill rotWithShape="0">
                <a:blip r:embed="rId3"/>
                <a:stretch>
                  <a:fillRect l="-976" t="-4267" b="-1067"/>
                </a:stretch>
              </a:blipFill>
            </p:spPr>
            <p:txBody>
              <a:bodyPr/>
              <a:lstStyle/>
              <a:p>
                <a:r>
                  <a:rPr lang="pt-BR">
                    <a:noFill/>
                  </a:rPr>
                  <a:t> </a:t>
                </a:r>
              </a:p>
            </p:txBody>
          </p:sp>
        </mc:Fallback>
      </mc:AlternateContent>
      <p:grpSp>
        <p:nvGrpSpPr>
          <p:cNvPr id="3" name="Grupo 2"/>
          <p:cNvGrpSpPr/>
          <p:nvPr/>
        </p:nvGrpSpPr>
        <p:grpSpPr>
          <a:xfrm>
            <a:off x="321991" y="4286267"/>
            <a:ext cx="11530497" cy="2095623"/>
            <a:chOff x="293855" y="4117451"/>
            <a:chExt cx="11530497" cy="2095623"/>
          </a:xfrm>
        </p:grpSpPr>
        <p:pic>
          <p:nvPicPr>
            <p:cNvPr id="5" name="Picture 2">
              <a:extLst>
                <a:ext uri="{FF2B5EF4-FFF2-40B4-BE49-F238E27FC236}">
                  <a16:creationId xmlns="" xmlns:a16="http://schemas.microsoft.com/office/drawing/2014/main"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 xmlns:a16="http://schemas.microsoft.com/office/drawing/2014/main"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 xmlns:a16="http://schemas.microsoft.com/office/drawing/2014/main"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 xmlns:a16="http://schemas.microsoft.com/office/drawing/2014/main"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 xmlns:a16="http://schemas.microsoft.com/office/drawing/2014/main"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 xmlns:a16="http://schemas.microsoft.com/office/drawing/2014/main"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 xmlns:a16="http://schemas.microsoft.com/office/drawing/2014/main"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 xmlns:a16="http://schemas.microsoft.com/office/drawing/2014/main"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1148248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5"/>
            <a:ext cx="11274824" cy="2323495"/>
          </a:xfrm>
        </p:spPr>
        <p:txBody>
          <a:bodyPr>
            <a:normAutofit/>
          </a:bodyPr>
          <a:lstStyle/>
          <a:p>
            <a:r>
              <a:rPr lang="pt-BR" dirty="0"/>
              <a:t>Agora, o proprietário pode usar o modelo aprendido (i.e., </a:t>
            </a:r>
            <a:r>
              <a:rPr lang="pt-BR" dirty="0" smtClean="0"/>
              <a:t>a reta</a:t>
            </a:r>
            <a:r>
              <a:rPr lang="pt-BR" dirty="0"/>
              <a:t>) para fazer </a:t>
            </a:r>
            <a:r>
              <a:rPr lang="pt-BR" b="1" dirty="0">
                <a:solidFill>
                  <a:schemeClr val="accent2"/>
                </a:solidFill>
              </a:rPr>
              <a:t>inferências</a:t>
            </a:r>
            <a:r>
              <a:rPr lang="pt-BR" dirty="0">
                <a:solidFill>
                  <a:schemeClr val="accent2"/>
                </a:solidFill>
              </a:rPr>
              <a:t> </a:t>
            </a:r>
            <a:r>
              <a:rPr lang="pt-BR" dirty="0"/>
              <a:t>todas as manhãs.</a:t>
            </a:r>
          </a:p>
          <a:p>
            <a:r>
              <a:rPr lang="pt-BR" dirty="0"/>
              <a:t>Mas será que o modelo generaliza bem</a:t>
            </a:r>
            <a:r>
              <a:rPr lang="pt-BR" dirty="0" smtClean="0"/>
              <a:t>?</a:t>
            </a:r>
          </a:p>
          <a:p>
            <a:pPr lvl="1">
              <a:buFont typeface="Wingdings" panose="05000000000000000000" pitchFamily="2" charset="2"/>
              <a:buChar char="§"/>
            </a:pPr>
            <a:r>
              <a:rPr lang="pt-BR" dirty="0" smtClean="0"/>
              <a:t>Como verificamos se o modelo tem uma boa capacidade de generalização?</a:t>
            </a:r>
            <a:endParaRPr lang="pt-BR" dirty="0"/>
          </a:p>
        </p:txBody>
      </p:sp>
      <p:sp>
        <p:nvSpPr>
          <p:cNvPr id="4" name="Rectangle 12">
            <a:extLst>
              <a:ext uri="{FF2B5EF4-FFF2-40B4-BE49-F238E27FC236}">
                <a16:creationId xmlns="" xmlns:a16="http://schemas.microsoft.com/office/drawing/2014/main"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 xmlns:a16="http://schemas.microsoft.com/office/drawing/2014/main"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 xmlns:a16="http://schemas.microsoft.com/office/drawing/2014/main"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 xmlns:a16="http://schemas.microsoft.com/office/drawing/2014/main" id="{9DFE0896-6E0A-A6DD-DBEE-BFD5AA462837}"/>
              </a:ext>
            </a:extLst>
          </p:cNvPr>
          <p:cNvSpPr txBox="1"/>
          <p:nvPr/>
        </p:nvSpPr>
        <p:spPr>
          <a:xfrm>
            <a:off x="3259988" y="4566034"/>
            <a:ext cx="999567" cy="646331"/>
          </a:xfrm>
          <a:prstGeom prst="rect">
            <a:avLst/>
          </a:prstGeom>
          <a:noFill/>
        </p:spPr>
        <p:txBody>
          <a:bodyPr wrap="square" rtlCol="0">
            <a:spAutoFit/>
          </a:bodyPr>
          <a:lstStyle/>
          <a:p>
            <a:pPr algn="ctr"/>
            <a:r>
              <a:rPr lang="pt-BR" b="1" dirty="0">
                <a:solidFill>
                  <a:srgbClr val="00B0F0"/>
                </a:solidFill>
              </a:rPr>
              <a:t>Entrada inédita</a:t>
            </a:r>
          </a:p>
        </p:txBody>
      </p:sp>
      <p:cxnSp>
        <p:nvCxnSpPr>
          <p:cNvPr id="14" name="Straight Arrow Connector 18">
            <a:extLst>
              <a:ext uri="{FF2B5EF4-FFF2-40B4-BE49-F238E27FC236}">
                <a16:creationId xmlns="" xmlns:a16="http://schemas.microsoft.com/office/drawing/2014/main"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 xmlns:a16="http://schemas.microsoft.com/office/drawing/2014/main"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 xmlns:a16="http://schemas.microsoft.com/office/drawing/2014/main"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 xmlns:a16="http://schemas.microsoft.com/office/drawing/2014/main"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 xmlns:a16="http://schemas.microsoft.com/office/drawing/2014/main"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 xmlns:a16="http://schemas.microsoft.com/office/drawing/2014/main"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 xmlns:a16="http://schemas.microsoft.com/office/drawing/2014/main"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 xmlns:a16="http://schemas.microsoft.com/office/drawing/2014/main"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 xmlns:a16="http://schemas.microsoft.com/office/drawing/2014/main"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 xmlns:a16="http://schemas.microsoft.com/office/drawing/2014/main"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 xmlns:a16="http://schemas.microsoft.com/office/drawing/2014/main"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 xmlns:a16="http://schemas.microsoft.com/office/drawing/2014/main"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 xmlns:a16="http://schemas.microsoft.com/office/drawing/2014/main"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 xmlns:a16="http://schemas.microsoft.com/office/drawing/2014/main"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 xmlns:a16="http://schemas.microsoft.com/office/drawing/2014/main"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 xmlns:a16="http://schemas.microsoft.com/office/drawing/2014/main"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 xmlns:a16="http://schemas.microsoft.com/office/drawing/2014/main"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 xmlns:a16="http://schemas.microsoft.com/office/drawing/2014/main"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 xmlns:a16="http://schemas.microsoft.com/office/drawing/2014/main"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 xmlns:a16="http://schemas.microsoft.com/office/drawing/2014/main"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 xmlns:a16="http://schemas.microsoft.com/office/drawing/2014/main"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5978769" y="1825625"/>
            <a:ext cx="6072127" cy="5032375"/>
          </a:xfrm>
        </p:spPr>
        <p:txBody>
          <a:bodyPr>
            <a:normAutofit/>
          </a:bodyPr>
          <a:lstStyle/>
          <a:p>
            <a:r>
              <a:rPr lang="pt-BR" dirty="0"/>
              <a:t>Cada paradigma tem um </a:t>
            </a:r>
            <a:r>
              <a:rPr lang="pt-BR" b="1" dirty="0"/>
              <a:t>estilo de aprendizagem</a:t>
            </a:r>
            <a:r>
              <a:rPr lang="pt-BR" dirty="0"/>
              <a:t>: </a:t>
            </a:r>
            <a:endParaRPr lang="pt-BR" dirty="0" smtClean="0"/>
          </a:p>
          <a:p>
            <a:pPr lvl="1">
              <a:buFont typeface="Wingdings" panose="05000000000000000000" pitchFamily="2" charset="2"/>
              <a:buChar char="§"/>
            </a:pPr>
            <a:r>
              <a:rPr lang="pt-BR" dirty="0" smtClean="0"/>
              <a:t>alguns </a:t>
            </a:r>
            <a:r>
              <a:rPr lang="pt-BR" b="1" dirty="0" smtClean="0">
                <a:solidFill>
                  <a:srgbClr val="00B0F0"/>
                </a:solidFill>
              </a:rPr>
              <a:t>esperam respostas corretas</a:t>
            </a:r>
            <a:r>
              <a:rPr lang="pt-BR" dirty="0" smtClean="0"/>
              <a:t>, </a:t>
            </a:r>
          </a:p>
          <a:p>
            <a:pPr lvl="1">
              <a:buFont typeface="Wingdings" panose="05000000000000000000" pitchFamily="2" charset="2"/>
              <a:buChar char="§"/>
            </a:pPr>
            <a:r>
              <a:rPr lang="pt-BR" dirty="0" smtClean="0"/>
              <a:t>outros </a:t>
            </a:r>
            <a:r>
              <a:rPr lang="pt-BR" dirty="0"/>
              <a:t>as </a:t>
            </a:r>
            <a:r>
              <a:rPr lang="pt-BR" b="1" dirty="0">
                <a:solidFill>
                  <a:schemeClr val="accent6"/>
                </a:solidFill>
              </a:rPr>
              <a:t>descobrem sozinhos </a:t>
            </a:r>
            <a:endParaRPr lang="pt-BR" b="1" dirty="0" smtClean="0">
              <a:solidFill>
                <a:schemeClr val="accent6"/>
              </a:solidFill>
            </a:endParaRPr>
          </a:p>
          <a:p>
            <a:pPr lvl="1">
              <a:buFont typeface="Wingdings" panose="05000000000000000000" pitchFamily="2" charset="2"/>
              <a:buChar char="§"/>
            </a:pPr>
            <a:r>
              <a:rPr lang="pt-BR" dirty="0" smtClean="0"/>
              <a:t>e </a:t>
            </a:r>
            <a:r>
              <a:rPr lang="pt-BR" dirty="0"/>
              <a:t>alguns aprendem por </a:t>
            </a:r>
            <a:r>
              <a:rPr lang="pt-BR" b="1" dirty="0">
                <a:solidFill>
                  <a:schemeClr val="accent2"/>
                </a:solidFill>
              </a:rPr>
              <a:t>tentativa e erro</a:t>
            </a:r>
            <a:r>
              <a:rPr lang="pt-BR" dirty="0"/>
              <a:t>.</a:t>
            </a:r>
          </a:p>
          <a:p>
            <a:r>
              <a:rPr lang="pt-BR" dirty="0" smtClean="0"/>
              <a:t>Cada paradigma têm </a:t>
            </a:r>
            <a:r>
              <a:rPr lang="pt-BR" dirty="0"/>
              <a:t>vários algoritmos e aplicações</a:t>
            </a:r>
            <a:r>
              <a:rPr lang="pt-BR" dirty="0" smtClean="0"/>
              <a:t>.</a:t>
            </a:r>
            <a:endParaRPr lang="pt-BR" dirty="0"/>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976355"/>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7080554" y="2989058"/>
            <a:ext cx="47359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a:t>
            </a:r>
            <a:r>
              <a:rPr lang="pt-BR" sz="3200" b="1" i="1" dirty="0" smtClean="0"/>
              <a:t>dataset</a:t>
            </a:r>
            <a:r>
              <a:rPr lang="pt-BR" sz="3200" b="1" dirty="0" smtClean="0"/>
              <a:t> rotulado</a:t>
            </a:r>
            <a:endParaRPr lang="pt-BR" sz="3200" b="1" dirty="0"/>
          </a:p>
        </p:txBody>
      </p:sp>
    </p:spTree>
    <p:extLst>
      <p:ext uri="{BB962C8B-B14F-4D97-AF65-F5344CB8AC3E}">
        <p14:creationId xmlns:p14="http://schemas.microsoft.com/office/powerpoint/2010/main" val="618641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a:t>
                </a:r>
                <a:r>
                  <a:rPr lang="pt-BR" b="1" dirty="0">
                    <a:solidFill>
                      <a:schemeClr val="accent2"/>
                    </a:solidFill>
                  </a:rPr>
                  <a:t>resposta correta</a:t>
                </a:r>
                <a:r>
                  <a:rPr lang="pt-BR" dirty="0"/>
                  <a:t>.</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smtClean="0"/>
                  <a:t>.</a:t>
                </a:r>
              </a:p>
              <a:p>
                <a:r>
                  <a:rPr lang="pt-BR" b="1" dirty="0" smtClean="0"/>
                  <a:t>O objetivo:</a:t>
                </a:r>
                <a:r>
                  <a:rPr lang="pt-BR" dirty="0" smtClean="0"/>
                  <a:t> Aprender a mapear a entrada na </a:t>
                </a:r>
                <a:r>
                  <a:rPr lang="pt-BR" b="1" dirty="0" smtClean="0">
                    <a:solidFill>
                      <a:schemeClr val="accent2"/>
                    </a:solidFill>
                  </a:rPr>
                  <a:t>saída esperada </a:t>
                </a:r>
                <a:r>
                  <a:rPr lang="pt-BR" dirty="0" smtClean="0"/>
                  <a:t>para predizer as saídas de </a:t>
                </a:r>
                <a:r>
                  <a:rPr lang="pt-BR" b="1" dirty="0" smtClean="0">
                    <a:solidFill>
                      <a:schemeClr val="accent2"/>
                    </a:solidFill>
                  </a:rPr>
                  <a:t>entradas inéditas</a:t>
                </a:r>
                <a:r>
                  <a:rPr lang="pt-BR" dirty="0" smtClean="0"/>
                  <a:t> (i.e., generalizar).</a:t>
                </a: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2"/>
                <a:stretch>
                  <a:fillRect l="-930" t="-1937" r="-1587"/>
                </a:stretch>
              </a:blipFill>
            </p:spPr>
            <p:txBody>
              <a:bodyPr/>
              <a:lstStyle/>
              <a:p>
                <a:r>
                  <a:rPr lang="pt-BR">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smtClean="0">
                    <a:solidFill>
                      <a:srgbClr val="7030A0"/>
                    </a:solidFill>
                  </a:rPr>
                  <a:t>aprender</a:t>
                </a:r>
                <a:r>
                  <a:rPr lang="pt-BR" dirty="0" smtClean="0"/>
                  <a:t> uma </a:t>
                </a:r>
                <a:r>
                  <a:rPr lang="pt-BR" dirty="0"/>
                  <a:t>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
                </a:r>
                <a:r>
                  <a:rPr lang="pt-BR" b="1" dirty="0">
                    <a:solidFill>
                      <a:schemeClr val="accent2"/>
                    </a:solidFill>
                  </a:rPr>
                  <a:t>Atributos</a:t>
                </a:r>
                <a:r>
                  <a:rPr lang="pt-BR" b="1" dirty="0"/>
                  <a:t>):</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a:t>
                </a:r>
                <a:r>
                  <a:rPr lang="pt-BR" b="1" dirty="0">
                    <a:solidFill>
                      <a:schemeClr val="accent6"/>
                    </a:solidFill>
                  </a:rPr>
                  <a:t>Rótulo</a:t>
                </a:r>
                <a:r>
                  <a:rPr lang="pt-BR" b="1" dirty="0"/>
                  <a:t>):</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a:t>
                </a:r>
                <a:r>
                  <a:rPr lang="pt-BR" b="1" dirty="0">
                    <a:solidFill>
                      <a:schemeClr val="accent5"/>
                    </a:solidFill>
                  </a:rPr>
                  <a:t>modelo</a:t>
                </a:r>
                <a:r>
                  <a:rPr lang="pt-BR" b="1" dirty="0"/>
                  <a:t>):</a:t>
                </a:r>
                <a:r>
                  <a:rPr lang="pt-BR" dirty="0"/>
                  <a:t> O que a máquina precisa "aprender</a:t>
                </a:r>
                <a:r>
                  <a:rPr lang="pt-BR" dirty="0" smtClean="0"/>
                  <a:t>".</a:t>
                </a:r>
                <a:endParaRPr lang="pt-BR" dirty="0"/>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a:t>
                </a:r>
                <a:r>
                  <a:rPr lang="pt-BR" b="1" dirty="0">
                    <a:solidFill>
                      <a:schemeClr val="accent1"/>
                    </a:solidFill>
                  </a:rPr>
                  <a:t>tipo do rótulo</a:t>
                </a:r>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3"/>
                <a:stretch>
                  <a:fillRect l="-1095" t="-1937"/>
                </a:stretch>
              </a:blipFill>
            </p:spPr>
            <p:txBody>
              <a:bodyPr/>
              <a:lstStyle/>
              <a:p>
                <a:r>
                  <a:rPr lang="pt-BR">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smtClean="0"/>
              <a:t>Predição </a:t>
            </a:r>
            <a:r>
              <a:rPr lang="pt-BR" dirty="0"/>
              <a:t>do preço de </a:t>
            </a:r>
            <a:r>
              <a:rPr lang="pt-BR" dirty="0" smtClean="0"/>
              <a:t>imóveis.</a:t>
            </a:r>
            <a:endParaRPr lang="pt-BR" dirty="0"/>
          </a:p>
          <a:p>
            <a:pPr lvl="1">
              <a:buFont typeface="Wingdings" panose="05000000000000000000" pitchFamily="2" charset="2"/>
              <a:buChar char="§"/>
            </a:pPr>
            <a:r>
              <a:rPr lang="pt-BR" dirty="0" smtClean="0"/>
              <a:t>Predição </a:t>
            </a:r>
            <a:r>
              <a:rPr lang="pt-BR" dirty="0"/>
              <a:t>da temperatura de </a:t>
            </a:r>
            <a:r>
              <a:rPr lang="pt-BR" dirty="0" smtClean="0"/>
              <a:t>amanhã.</a:t>
            </a:r>
            <a:endParaRPr lang="pt-BR" dirty="0"/>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6" y="1825624"/>
            <a:ext cx="6289963"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a:t>
            </a:r>
            <a:r>
              <a:rPr lang="pt-BR" dirty="0" smtClean="0"/>
              <a:t>de um aparelho </a:t>
            </a:r>
            <a:r>
              <a:rPr lang="pt-BR" dirty="0"/>
              <a:t>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 xmlns:a16="http://schemas.microsoft.com/office/drawing/2014/main"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smtClean="0"/>
              <a:t>apenas uma </a:t>
            </a:r>
            <a:r>
              <a:rPr lang="pt-BR" sz="2400" kern="1200" dirty="0">
                <a:solidFill>
                  <a:schemeClr val="tx1"/>
                </a:solidFill>
                <a:effectLst/>
                <a:latin typeface="+mn-lt"/>
                <a:ea typeface="+mn-ea"/>
                <a:cs typeface="+mn-cs"/>
              </a:rPr>
              <a:t>posição </a:t>
            </a:r>
            <a:r>
              <a:rPr lang="pt-BR" sz="2400" kern="1200" dirty="0" smtClean="0">
                <a:solidFill>
                  <a:schemeClr val="tx1"/>
                </a:solidFill>
                <a:effectLst/>
                <a:latin typeface="+mn-lt"/>
                <a:ea typeface="+mn-ea"/>
                <a:cs typeface="+mn-cs"/>
              </a:rPr>
              <a:t>bem específica</a:t>
            </a:r>
            <a:r>
              <a:rPr lang="pt-BR" sz="2400"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4237290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EDB1A1F-3A92-A4D5-30C5-0A2F37C6E95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 xmlns:a16="http://schemas.microsoft.com/office/drawing/2014/main" id="{9AC0F0FB-86A6-1327-90D4-AAA53078838E}"/>
              </a:ext>
            </a:extLst>
          </p:cNvPr>
          <p:cNvSpPr/>
          <p:nvPr/>
        </p:nvSpPr>
        <p:spPr>
          <a:xfrm>
            <a:off x="8012974" y="2163528"/>
            <a:ext cx="3898868" cy="1569660"/>
          </a:xfrm>
          <a:prstGeom prst="rect">
            <a:avLst/>
          </a:prstGeom>
        </p:spPr>
        <p:txBody>
          <a:bodyPr wrap="square">
            <a:spAutoFit/>
          </a:bodyPr>
          <a:lstStyle/>
          <a:p>
            <a:pPr algn="ctr"/>
            <a:r>
              <a:rPr lang="pt-BR" sz="3200" b="1" dirty="0" smtClean="0"/>
              <a:t>A falta </a:t>
            </a:r>
            <a:r>
              <a:rPr lang="pt-BR" sz="3200" b="1" dirty="0"/>
              <a:t>de dados de treinamento </a:t>
            </a:r>
            <a:r>
              <a:rPr lang="pt-BR" sz="3200" b="1" dirty="0" smtClean="0"/>
              <a:t>pode causar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 xmlns:a16="http://schemas.microsoft.com/office/drawing/2014/main"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 xmlns:a16="http://schemas.microsoft.com/office/drawing/2014/main"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smtClean="0"/>
              <a:t>bebê "</a:t>
            </a:r>
            <a:r>
              <a:rPr lang="pt-BR" sz="2400" b="1" dirty="0" smtClean="0">
                <a:solidFill>
                  <a:srgbClr val="7030A0"/>
                </a:solidFill>
              </a:rPr>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FD08DC0-6222-9B76-41EF-5AD5C40F8D3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 xmlns:a16="http://schemas.microsoft.com/office/drawing/2014/main"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solidFill>
                  <a:srgbClr val="7030A0"/>
                </a:solidFill>
              </a:rPr>
              <a:t>não generaliza</a:t>
            </a:r>
            <a:r>
              <a:rPr lang="pt-BR" sz="3200" dirty="0"/>
              <a:t>.</a:t>
            </a:r>
          </a:p>
        </p:txBody>
      </p:sp>
      <p:pic>
        <p:nvPicPr>
          <p:cNvPr id="8196" name="Picture 4" descr="Supervised machine learning : r/ProgrammerHumor">
            <a:extLst>
              <a:ext uri="{FF2B5EF4-FFF2-40B4-BE49-F238E27FC236}">
                <a16:creationId xmlns="" xmlns:a16="http://schemas.microsoft.com/office/drawing/2014/main"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 xmlns:a16="http://schemas.microsoft.com/office/drawing/2014/main"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smtClean="0">
                <a:solidFill>
                  <a:schemeClr val="tx1"/>
                </a:solidFill>
                <a:effectLst/>
                <a:latin typeface="+mn-lt"/>
                <a:ea typeface="+mn-ea"/>
                <a:cs typeface="+mn-cs"/>
              </a:rPr>
              <a:t>Se o </a:t>
            </a:r>
            <a:r>
              <a:rPr lang="pt-BR" sz="2400" kern="1200" dirty="0">
                <a:solidFill>
                  <a:schemeClr val="tx1"/>
                </a:solidFill>
                <a:effectLst/>
                <a:latin typeface="+mn-lt"/>
                <a:ea typeface="+mn-ea"/>
                <a:cs typeface="+mn-cs"/>
              </a:rPr>
              <a:t>bebê </a:t>
            </a:r>
            <a:r>
              <a:rPr lang="pt-BR" sz="2400" b="1" kern="1200" dirty="0" smtClean="0">
                <a:solidFill>
                  <a:srgbClr val="00B050"/>
                </a:solidFill>
                <a:effectLst/>
                <a:latin typeface="+mn-lt"/>
                <a:ea typeface="+mn-ea"/>
                <a:cs typeface="+mn-cs"/>
              </a:rPr>
              <a:t>generalizasse</a:t>
            </a:r>
            <a:r>
              <a:rPr lang="pt-BR" sz="2400" kern="1200" dirty="0" smtClean="0">
                <a:solidFill>
                  <a:schemeClr val="tx1"/>
                </a:solidFill>
                <a:effectLst/>
                <a:latin typeface="+mn-lt"/>
                <a:ea typeface="+mn-ea"/>
                <a:cs typeface="+mn-cs"/>
              </a:rPr>
              <a:t>, ele reconheceria seu </a:t>
            </a:r>
            <a:r>
              <a:rPr lang="pt-BR" sz="2400" kern="1200" dirty="0">
                <a:solidFill>
                  <a:schemeClr val="tx1"/>
                </a:solidFill>
                <a:effectLst/>
                <a:latin typeface="+mn-lt"/>
                <a:ea typeface="+mn-ea"/>
                <a:cs typeface="+mn-cs"/>
              </a:rPr>
              <a:t>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a:t>
            </a:r>
            <a:r>
              <a:rPr lang="pt-BR" sz="2400" dirty="0" smtClean="0"/>
              <a:t>aprenderia o </a:t>
            </a:r>
            <a:r>
              <a:rPr lang="pt-BR" sz="2400" dirty="0"/>
              <a:t>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dirty="0"/>
              <a:t>Ou seja, </a:t>
            </a:r>
            <a:r>
              <a:rPr lang="pt-BR" sz="3200" b="1" dirty="0"/>
              <a:t>não existem rótulos.</a:t>
            </a:r>
          </a:p>
        </p:txBody>
      </p:sp>
    </p:spTree>
    <p:extLst>
      <p:ext uri="{BB962C8B-B14F-4D97-AF65-F5344CB8AC3E}">
        <p14:creationId xmlns:p14="http://schemas.microsoft.com/office/powerpoint/2010/main" val="1775774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241104" y="1856942"/>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772054" y="2496289"/>
            <a:ext cx="3841530" cy="2554545"/>
          </a:xfrm>
          <a:prstGeom prst="rect">
            <a:avLst/>
          </a:prstGeom>
        </p:spPr>
        <p:txBody>
          <a:bodyPr wrap="square">
            <a:spAutoFit/>
          </a:bodyPr>
          <a:lstStyle/>
          <a:p>
            <a:pPr algn="ctr"/>
            <a:r>
              <a:rPr lang="pt-BR" sz="3200" dirty="0" smtClean="0"/>
              <a:t>O aprendizado ocorre identificando </a:t>
            </a:r>
            <a:r>
              <a:rPr lang="pt-BR" sz="3200" b="1" dirty="0" smtClean="0">
                <a:solidFill>
                  <a:srgbClr val="00B050"/>
                </a:solidFill>
              </a:rPr>
              <a:t>similaridades e diferenças entre os dados</a:t>
            </a:r>
            <a:r>
              <a:rPr lang="pt-BR" sz="3200" dirty="0"/>
              <a:t>.</a:t>
            </a:r>
          </a:p>
        </p:txBody>
      </p:sp>
    </p:spTree>
    <p:extLst>
      <p:ext uri="{BB962C8B-B14F-4D97-AF65-F5344CB8AC3E}">
        <p14:creationId xmlns:p14="http://schemas.microsoft.com/office/powerpoint/2010/main" val="37213615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chemeClr val="accent2"/>
                </a:solidFill>
              </a:rPr>
              <a:t>não sei </a:t>
            </a:r>
            <a:r>
              <a:rPr lang="pt-BR" sz="3200" dirty="0"/>
              <a:t>o que </a:t>
            </a:r>
            <a:r>
              <a:rPr lang="pt-BR" sz="3200" dirty="0" smtClean="0"/>
              <a:t>são esses objetos, </a:t>
            </a:r>
            <a:r>
              <a:rPr lang="pt-BR" sz="3200" dirty="0"/>
              <a:t>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a:t>
                </a:r>
                <a:r>
                  <a:rPr lang="pt-BR" dirty="0" smtClean="0"/>
                  <a:t>Descobrir </a:t>
                </a:r>
                <a:r>
                  <a:rPr lang="pt-BR" b="1" dirty="0" smtClean="0">
                    <a:solidFill>
                      <a:schemeClr val="accent2"/>
                    </a:solidFill>
                  </a:rPr>
                  <a:t>padrões</a:t>
                </a:r>
                <a:r>
                  <a:rPr lang="pt-BR" dirty="0" smtClean="0"/>
                  <a:t>, </a:t>
                </a:r>
                <a:r>
                  <a:rPr lang="pt-BR" b="1" dirty="0" smtClean="0">
                    <a:solidFill>
                      <a:schemeClr val="accent5"/>
                    </a:solidFill>
                  </a:rPr>
                  <a:t>estruturas</a:t>
                </a:r>
                <a:r>
                  <a:rPr lang="pt-BR" dirty="0" smtClean="0"/>
                  <a:t>, ou </a:t>
                </a:r>
                <a:r>
                  <a:rPr lang="pt-BR" b="1" dirty="0" smtClean="0">
                    <a:solidFill>
                      <a:schemeClr val="accent6"/>
                    </a:solidFill>
                  </a:rPr>
                  <a:t>relacionamentos</a:t>
                </a:r>
                <a:r>
                  <a:rPr lang="pt-BR" dirty="0" smtClean="0">
                    <a:solidFill>
                      <a:schemeClr val="accent6"/>
                    </a:solidFill>
                  </a:rPr>
                  <a:t> </a:t>
                </a:r>
                <a:r>
                  <a:rPr lang="pt-BR" dirty="0" smtClean="0"/>
                  <a:t>presentes nos </a:t>
                </a:r>
                <a:r>
                  <a:rPr lang="pt-BR" dirty="0"/>
                  <a:t>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smtClean="0"/>
                  <a:t>parecidos/próximos </a:t>
                </a:r>
                <a:r>
                  <a:rPr lang="pt-BR" dirty="0"/>
                  <a:t>entre si e </a:t>
                </a:r>
                <a:r>
                  <a:rPr lang="pt-BR" b="1" dirty="0" smtClean="0"/>
                  <a:t>diferentes/distantes</a:t>
                </a:r>
                <a:r>
                  <a:rPr lang="pt-BR" dirty="0" smtClean="0"/>
                  <a:t> </a:t>
                </a:r>
                <a:r>
                  <a:rPr lang="pt-BR" dirty="0"/>
                  <a:t>daqueles ali”.</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rotWithShape="0">
                <a:blip r:embed="rId3"/>
                <a:stretch>
                  <a:fillRect l="-1685" t="-1937" r="-3090"/>
                </a:stretch>
              </a:blipFill>
            </p:spPr>
            <p:txBody>
              <a:bodyPr/>
              <a:lstStyle/>
              <a:p>
                <a:r>
                  <a:rPr lang="pt-BR">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 xmlns:a16="http://schemas.microsoft.com/office/drawing/2014/main"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 xmlns:a16="http://schemas.microsoft.com/office/drawing/2014/main"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a:t>
              </a:r>
              <a:r>
                <a:rPr lang="pt-BR" b="1" dirty="0">
                  <a:solidFill>
                    <a:schemeClr val="accent2"/>
                  </a:solidFill>
                </a:rPr>
                <a:t>proximidade</a:t>
              </a:r>
            </a:p>
          </p:txBody>
        </p:sp>
        <p:sp>
          <p:nvSpPr>
            <p:cNvPr id="11" name="CaixaDeTexto 10">
              <a:extLst>
                <a:ext uri="{FF2B5EF4-FFF2-40B4-BE49-F238E27FC236}">
                  <a16:creationId xmlns=""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585954" y="1825624"/>
            <a:ext cx="6495210"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a:t>
            </a:r>
            <a:r>
              <a:rPr lang="pt-BR" dirty="0" smtClean="0"/>
              <a:t>escondidos, presentes nos </a:t>
            </a:r>
            <a:r>
              <a:rPr lang="pt-BR" dirty="0"/>
              <a:t>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a:t>
            </a:r>
            <a:r>
              <a:rPr lang="pt-BR" b="1" dirty="0">
                <a:solidFill>
                  <a:srgbClr val="00B050"/>
                </a:solidFill>
              </a:rPr>
              <a:t>comportamentos e gostos similares </a:t>
            </a:r>
            <a:r>
              <a:rPr lang="pt-BR" dirty="0"/>
              <a:t>aos seus.</a:t>
            </a:r>
          </a:p>
          <a:p>
            <a:pPr lvl="1">
              <a:buFont typeface="Wingdings" panose="05000000000000000000" pitchFamily="2" charset="2"/>
              <a:buChar char="§"/>
            </a:pPr>
            <a:r>
              <a:rPr lang="pt-BR" dirty="0"/>
              <a:t>A </a:t>
            </a:r>
            <a:r>
              <a:rPr lang="pt-BR" dirty="0" err="1"/>
              <a:t>Amazon</a:t>
            </a:r>
            <a:r>
              <a:rPr lang="pt-BR" dirty="0"/>
              <a:t>, Mercado Livre, etc. agrupam clientes que compram </a:t>
            </a:r>
            <a:r>
              <a:rPr lang="pt-BR" b="1" dirty="0" smtClean="0">
                <a:solidFill>
                  <a:schemeClr val="accent5"/>
                </a:solidFill>
              </a:rPr>
              <a:t>produtos parecidos </a:t>
            </a:r>
            <a:r>
              <a:rPr lang="pt-BR" dirty="0"/>
              <a:t>para recomendar produtos.</a:t>
            </a:r>
          </a:p>
        </p:txBody>
      </p:sp>
      <p:pic>
        <p:nvPicPr>
          <p:cNvPr id="4" name="Picture 2" descr="https://www.ecloudvalley.com/wp-content/uploads/2019/09/Unsupervised-learning.png">
            <a:extLst>
              <a:ext uri="{FF2B5EF4-FFF2-40B4-BE49-F238E27FC236}">
                <a16:creationId xmlns="" xmlns:a16="http://schemas.microsoft.com/office/drawing/2014/main"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12981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 xmlns:a16="http://schemas.microsoft.com/office/drawing/2014/main" id="{022A91D9-CA32-6007-7F08-7CA46B022D97}"/>
              </a:ext>
            </a:extLst>
          </p:cNvPr>
          <p:cNvSpPr txBox="1"/>
          <p:nvPr/>
        </p:nvSpPr>
        <p:spPr>
          <a:xfrm>
            <a:off x="129813" y="5266461"/>
            <a:ext cx="5317591" cy="584775"/>
          </a:xfrm>
          <a:prstGeom prst="rect">
            <a:avLst/>
          </a:prstGeom>
          <a:noFill/>
        </p:spPr>
        <p:txBody>
          <a:bodyPr wrap="square">
            <a:spAutoFit/>
          </a:bodyPr>
          <a:lstStyle/>
          <a:p>
            <a:pPr algn="ctr"/>
            <a:r>
              <a:rPr lang="pt-BR" sz="1600" baseline="0" dirty="0"/>
              <a:t>Agrupar clientes similares em termos de comportamento </a:t>
            </a:r>
            <a:r>
              <a:rPr lang="pt-BR" sz="1600" baseline="0" dirty="0" smtClean="0"/>
              <a:t>para</a:t>
            </a:r>
            <a:r>
              <a:rPr lang="pt-BR" sz="1600" dirty="0" smtClean="0"/>
              <a:t> </a:t>
            </a:r>
            <a:r>
              <a:rPr lang="pt-BR" sz="1600" baseline="0" dirty="0" smtClean="0"/>
              <a:t>envio </a:t>
            </a:r>
            <a:r>
              <a:rPr lang="pt-BR" sz="1600" baseline="0" dirty="0"/>
              <a:t>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a:t>
            </a:r>
            <a:r>
              <a:rPr lang="pt-BR" b="1" dirty="0" smtClean="0"/>
              <a:t>dimensionalidade:</a:t>
            </a:r>
            <a:r>
              <a:rPr lang="pt-BR" dirty="0"/>
              <a:t> </a:t>
            </a:r>
            <a:r>
              <a:rPr lang="pt-BR" b="1" dirty="0" smtClean="0"/>
              <a:t>Simplifica </a:t>
            </a:r>
            <a:r>
              <a:rPr lang="pt-BR" b="1" dirty="0"/>
              <a:t>dados complexos</a:t>
            </a:r>
            <a:r>
              <a:rPr lang="pt-BR" dirty="0"/>
              <a:t>, focando apenas no que </a:t>
            </a:r>
            <a:r>
              <a:rPr lang="pt-BR" dirty="0" smtClean="0"/>
              <a:t>importa (i.e., preserva a maior parte da informação).</a:t>
            </a:r>
            <a:endParaRPr lang="pt-BR" dirty="0"/>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a:t>
            </a:r>
            <a:r>
              <a:rPr lang="pt-BR" dirty="0" smtClean="0"/>
              <a:t>de imagens </a:t>
            </a:r>
            <a:r>
              <a:rPr lang="pt-BR" dirty="0"/>
              <a:t>gigantes para </a:t>
            </a:r>
            <a:r>
              <a:rPr lang="pt-BR" dirty="0" smtClean="0"/>
              <a:t>processá-las </a:t>
            </a:r>
            <a:r>
              <a:rPr lang="pt-BR" dirty="0"/>
              <a:t>mais rápido.</a:t>
            </a:r>
          </a:p>
          <a:p>
            <a:pPr lvl="1">
              <a:buFont typeface="Wingdings" panose="05000000000000000000" pitchFamily="2" charset="2"/>
              <a:buChar char="§"/>
            </a:pPr>
            <a:r>
              <a:rPr lang="pt-BR" dirty="0"/>
              <a:t>Transformar tabelas com </a:t>
            </a:r>
            <a:r>
              <a:rPr lang="pt-BR" dirty="0" smtClean="0"/>
              <a:t>muitas colunas (&gt;3) </a:t>
            </a:r>
            <a:r>
              <a:rPr lang="pt-BR" dirty="0"/>
              <a:t>em um gráfico 2D/3D que humanos consigam visualizar e interpretar.</a:t>
            </a:r>
          </a:p>
        </p:txBody>
      </p:sp>
      <p:grpSp>
        <p:nvGrpSpPr>
          <p:cNvPr id="8" name="Group 7">
            <a:extLst>
              <a:ext uri="{FF2B5EF4-FFF2-40B4-BE49-F238E27FC236}">
                <a16:creationId xmlns="" xmlns:a16="http://schemas.microsoft.com/office/drawing/2014/main"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 xmlns:a16="http://schemas.microsoft.com/office/drawing/2014/main"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 xmlns:a16="http://schemas.microsoft.com/office/drawing/2014/main"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 xmlns:a16="http://schemas.microsoft.com/office/drawing/2014/main"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a:t>
            </a:r>
            <a:r>
              <a:rPr lang="pt-BR" dirty="0" smtClean="0"/>
              <a:t>no seu </a:t>
            </a:r>
            <a:r>
              <a:rPr lang="pt-BR" dirty="0"/>
              <a:t>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 xmlns:a16="http://schemas.microsoft.com/office/drawing/2014/main"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 xmlns:a16="http://schemas.microsoft.com/office/drawing/2014/main"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 xmlns:a16="http://schemas.microsoft.com/office/drawing/2014/main"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 xmlns:a16="http://schemas.microsoft.com/office/drawing/2014/main"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EEA04B5-A809-75EC-C12D-9BECB2144E9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 xmlns:a16="http://schemas.microsoft.com/office/drawing/2014/main"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 xmlns:a16="http://schemas.microsoft.com/office/drawing/2014/main"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t>
            </a:r>
            <a:r>
              <a:rPr lang="pt-BR" b="1" dirty="0">
                <a:solidFill>
                  <a:schemeClr val="accent2"/>
                </a:solidFill>
              </a:rPr>
              <a:t>agente</a:t>
            </a:r>
            <a:r>
              <a:rPr lang="pt-BR" dirty="0"/>
              <a:t> (i.e., a máquina) aprende a tomar decisões em um ambiente através de </a:t>
            </a:r>
            <a:r>
              <a:rPr lang="pt-BR" b="1" dirty="0"/>
              <a:t>recompensas ou punições</a:t>
            </a:r>
            <a:r>
              <a:rPr lang="pt-BR" dirty="0"/>
              <a:t>.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 xmlns:a16="http://schemas.microsoft.com/office/drawing/2014/main"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CE7F3ABE-51DE-7390-3323-29DE5DD50C10}"/>
              </a:ext>
            </a:extLst>
          </p:cNvPr>
          <p:cNvSpPr>
            <a:spLocks noGrp="1"/>
          </p:cNvSpPr>
          <p:nvPr>
            <p:ph idx="1"/>
          </p:nvPr>
        </p:nvSpPr>
        <p:spPr>
          <a:xfrm>
            <a:off x="4973782" y="1825624"/>
            <a:ext cx="7065818"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a:t>
            </a:r>
            <a:r>
              <a:rPr lang="pt-BR" b="1" dirty="0"/>
              <a:t>quantidade possível </a:t>
            </a:r>
            <a:r>
              <a:rPr lang="pt-BR" b="1" dirty="0" smtClean="0"/>
              <a:t>de recompensas </a:t>
            </a:r>
            <a:r>
              <a:rPr lang="pt-BR" b="1" dirty="0"/>
              <a:t>ao </a:t>
            </a:r>
            <a:r>
              <a:rPr lang="pt-BR" b="1" dirty="0"/>
              <a:t>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 xmlns:a16="http://schemas.microsoft.com/office/drawing/2014/main"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B45DADDE-244A-CD46-F7ED-BAF0F4421932}"/>
              </a:ext>
            </a:extLst>
          </p:cNvPr>
          <p:cNvSpPr>
            <a:spLocks noGrp="1"/>
          </p:cNvSpPr>
          <p:nvPr>
            <p:ph idx="1"/>
          </p:nvPr>
        </p:nvSpPr>
        <p:spPr>
          <a:xfrm>
            <a:off x="5519057" y="1825624"/>
            <a:ext cx="6509657" cy="5032375"/>
          </a:xfrm>
        </p:spPr>
        <p:txBody>
          <a:bodyPr>
            <a:normAutofit/>
          </a:bodyPr>
          <a:lstStyle/>
          <a:p>
            <a:r>
              <a:rPr lang="pt-BR" dirty="0" smtClean="0"/>
              <a:t>Aplicações:</a:t>
            </a:r>
          </a:p>
          <a:p>
            <a:pPr lvl="1">
              <a:buFont typeface="Wingdings" panose="05000000000000000000" pitchFamily="2" charset="2"/>
              <a:buChar char="§"/>
            </a:pPr>
            <a:r>
              <a:rPr lang="pt-BR" dirty="0" smtClean="0"/>
              <a:t>Agentes que aprendem a jogar jogos (e.g., Dota, Go, </a:t>
            </a:r>
            <a:r>
              <a:rPr lang="pt-BR" dirty="0" smtClean="0"/>
              <a:t>Xadrez, etc</a:t>
            </a:r>
            <a:r>
              <a:rPr lang="pt-BR" dirty="0" smtClean="0"/>
              <a:t>.)</a:t>
            </a:r>
          </a:p>
          <a:p>
            <a:pPr lvl="1">
              <a:buFont typeface="Wingdings" panose="05000000000000000000" pitchFamily="2" charset="2"/>
              <a:buChar char="§"/>
            </a:pPr>
            <a:r>
              <a:rPr lang="pt-BR" dirty="0" smtClean="0"/>
              <a:t>Veículos autônomos (e.g., carros, </a:t>
            </a:r>
            <a:r>
              <a:rPr lang="pt-BR" i="1" dirty="0" smtClean="0"/>
              <a:t>drones</a:t>
            </a:r>
            <a:r>
              <a:rPr lang="pt-BR" dirty="0" smtClean="0"/>
              <a:t>, etc.): aprendem a acelerar, frear, desviar de obstáculos (inicialmente, em simuladores).</a:t>
            </a:r>
          </a:p>
          <a:p>
            <a:pPr lvl="1">
              <a:buFont typeface="Wingdings" panose="05000000000000000000" pitchFamily="2" charset="2"/>
              <a:buChar char="§"/>
            </a:pPr>
            <a:r>
              <a:rPr lang="pt-BR" dirty="0" smtClean="0"/>
              <a:t>Robôs investidores que aprendem o melhor momento para comprar ou vender ações na bolsa para maximizar o lucro a longo prazo.</a:t>
            </a:r>
            <a:endParaRPr lang="pt-BR" dirty="0"/>
          </a:p>
        </p:txBody>
      </p:sp>
      <p:pic>
        <p:nvPicPr>
          <p:cNvPr id="6146" name="Picture 2" descr="Artificial intelligence: Google's AlphaGo beats Go master Lee Se-dol - BBC  News">
            <a:extLst>
              <a:ext uri="{FF2B5EF4-FFF2-40B4-BE49-F238E27FC236}">
                <a16:creationId xmlns="" xmlns:a16="http://schemas.microsoft.com/office/drawing/2014/main"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 xmlns:a16="http://schemas.microsoft.com/office/drawing/2014/main"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 xmlns:a16="http://schemas.microsoft.com/office/drawing/2014/main"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380892" y="6550223"/>
            <a:ext cx="3811108" cy="307777"/>
          </a:xfrm>
          <a:prstGeom prst="rect">
            <a:avLst/>
          </a:prstGeom>
        </p:spPr>
        <p:txBody>
          <a:bodyPr wrap="none">
            <a:spAutoFit/>
          </a:bodyPr>
          <a:lstStyle/>
          <a:p>
            <a:r>
              <a:rPr lang="pt-BR" sz="1400" dirty="0">
                <a:hlinkClick r:id="rId6"/>
              </a:rPr>
              <a:t>https://www.youtube.com/watch?v=V1eYniJ0Rnk</a:t>
            </a:r>
            <a:endParaRPr lang="pt-BR" sz="1400" dirty="0"/>
          </a:p>
        </p:txBody>
      </p:sp>
    </p:spTree>
    <p:extLst>
      <p:ext uri="{BB962C8B-B14F-4D97-AF65-F5344CB8AC3E}">
        <p14:creationId xmlns:p14="http://schemas.microsoft.com/office/powerpoint/2010/main" val="191431834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28A9759-CA4F-DA4F-85C2-F6E51DCED2D9}"/>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 xmlns:a16="http://schemas.microsoft.com/office/drawing/2014/main"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t>
            </a:r>
            <a:r>
              <a:rPr lang="pt-BR"/>
              <a:t>armazém </a:t>
            </a:r>
            <a:r>
              <a:rPr lang="pt-BR" smtClean="0"/>
              <a:t>logístico desconhecido </a:t>
            </a:r>
            <a:r>
              <a:rPr lang="pt-BR" dirty="0"/>
              <a:t>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FD0E11-3B37-4336-5BF0-C8C033354AF6}"/>
              </a:ext>
            </a:extLst>
          </p:cNvPr>
          <p:cNvSpPr>
            <a:spLocks noGrp="1"/>
          </p:cNvSpPr>
          <p:nvPr>
            <p:ph type="title"/>
          </p:nvPr>
        </p:nvSpPr>
        <p:spPr/>
        <p:txBody>
          <a:bodyPr/>
          <a:lstStyle/>
          <a:p>
            <a:r>
              <a:rPr lang="pt-BR" dirty="0"/>
              <a:t>Lista de </a:t>
            </a:r>
            <a:r>
              <a:rPr lang="pt-BR" dirty="0" smtClean="0"/>
              <a:t>exercícios</a:t>
            </a:r>
            <a:endParaRPr lang="en-US" dirty="0"/>
          </a:p>
        </p:txBody>
      </p:sp>
      <p:sp>
        <p:nvSpPr>
          <p:cNvPr id="3" name="Content Placeholder 2">
            <a:extLst>
              <a:ext uri="{FF2B5EF4-FFF2-40B4-BE49-F238E27FC236}">
                <a16:creationId xmlns=""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8567</TotalTime>
  <Words>5143</Words>
  <Application>Microsoft Office PowerPoint</Application>
  <PresentationFormat>Widescreen</PresentationFormat>
  <Paragraphs>376</Paragraphs>
  <Slides>42</Slides>
  <Notes>27</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42</vt:i4>
      </vt:variant>
    </vt:vector>
  </HeadingPairs>
  <TitlesOfParts>
    <vt:vector size="49"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Apresentação do PowerPoint</vt:lpstr>
      <vt:lpstr>Paradigma do aprendizado de máquina</vt:lpstr>
      <vt:lpstr>Paradigma do aprendizado de máquina</vt:lpstr>
      <vt:lpstr>Generalização</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exercícios</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1949</cp:revision>
  <dcterms:created xsi:type="dcterms:W3CDTF">2020-01-20T13:50:05Z</dcterms:created>
  <dcterms:modified xsi:type="dcterms:W3CDTF">2026-08-03T02:13:31Z</dcterms:modified>
</cp:coreProperties>
</file>